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818" r:id="rId2"/>
    <p:sldId id="817" r:id="rId3"/>
    <p:sldId id="821" r:id="rId4"/>
    <p:sldId id="820" r:id="rId5"/>
    <p:sldId id="822" r:id="rId6"/>
    <p:sldId id="823" r:id="rId7"/>
    <p:sldId id="824" r:id="rId8"/>
    <p:sldId id="826" r:id="rId9"/>
    <p:sldId id="827" r:id="rId10"/>
    <p:sldId id="828" r:id="rId11"/>
    <p:sldId id="825" r:id="rId12"/>
    <p:sldId id="829" r:id="rId13"/>
    <p:sldId id="830" r:id="rId14"/>
    <p:sldId id="831" r:id="rId15"/>
    <p:sldId id="835" r:id="rId16"/>
    <p:sldId id="833" r:id="rId17"/>
    <p:sldId id="836" r:id="rId18"/>
    <p:sldId id="834" r:id="rId19"/>
    <p:sldId id="838" r:id="rId20"/>
    <p:sldId id="839"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5680"/>
  </p:normalViewPr>
  <p:slideViewPr>
    <p:cSldViewPr snapToGrid="0">
      <p:cViewPr varScale="1">
        <p:scale>
          <a:sx n="98" d="100"/>
          <a:sy n="98" d="100"/>
        </p:scale>
        <p:origin x="10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3.xml.rels><?xml version="1.0" encoding="UTF-8" standalone="yes"?>
<Relationships xmlns="http://schemas.openxmlformats.org/package/2006/relationships"><Relationship Id="rId1" Type="http://schemas.openxmlformats.org/officeDocument/2006/relationships/image" Target="../media/image6.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6.jpeg"/></Relationships>
</file>

<file path=ppt/diagrams/colors1.xml><?xml version="1.0" encoding="utf-8"?>
<dgm:colorsDef xmlns:dgm="http://schemas.openxmlformats.org/drawingml/2006/diagram" xmlns:a="http://schemas.openxmlformats.org/drawingml/2006/main" uniqueId="urn:microsoft.com/office/officeart/2005/8/colors/colorful1#9">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10">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7CF620-754C-42AA-B6D7-6E532B46496D}" type="doc">
      <dgm:prSet loTypeId="urn:microsoft.com/office/officeart/2005/8/layout/list1" loCatId="list" qsTypeId="urn:microsoft.com/office/officeart/2005/8/quickstyle/simple1" qsCatId="simple" csTypeId="urn:microsoft.com/office/officeart/2005/8/colors/colorful1#9" csCatId="colorful" phldr="1"/>
      <dgm:spPr/>
      <dgm:t>
        <a:bodyPr/>
        <a:lstStyle/>
        <a:p>
          <a:endParaRPr lang="zh-CN" altLang="en-US"/>
        </a:p>
      </dgm:t>
    </dgm:pt>
    <dgm:pt modelId="{E2D531EB-AB54-494E-9C1E-4C30D2113C22}">
      <dgm:prSet phldrT="[文本]" custT="1"/>
      <dgm:spPr/>
      <dgm:t>
        <a:bodyPr/>
        <a:lstStyle/>
        <a:p>
          <a:r>
            <a:rPr lang="en-US" altLang="en-US" sz="1800" b="1" dirty="0">
              <a:solidFill>
                <a:schemeClr val="bg1"/>
              </a:solidFill>
              <a:latin typeface="微软雅黑" panose="020B0503020204020204" pitchFamily="34" charset="-122"/>
              <a:ea typeface="微软雅黑" panose="020B0503020204020204" pitchFamily="34" charset="-122"/>
            </a:rPr>
            <a:t>SDN</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BE246D6D-5FC4-4574-ADA4-F9DF70A01C22}" type="parTrans" cxnId="{3D990FE7-B784-4266-9459-DD4F755F3900}">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56EA74CD-3BAB-4DA8-B288-8D367F33563E}" type="sibTrans" cxnId="{3D990FE7-B784-4266-9459-DD4F755F3900}">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BCEA250F-A938-4832-8A35-1F6531FC8D25}">
      <dgm:prSet phldrT="[文本]" custT="1"/>
      <dgm:spPr/>
      <dgm:t>
        <a:bodyPr/>
        <a:lstStyle/>
        <a:p>
          <a:pPr>
            <a:spcAft>
              <a:spcPts val="0"/>
            </a:spcAft>
          </a:pPr>
          <a:r>
            <a:rPr lang="zh-CN" altLang="en-US" sz="1400" b="1" dirty="0">
              <a:latin typeface="微软雅黑" panose="020B0503020204020204" pitchFamily="34" charset="-122"/>
              <a:ea typeface="微软雅黑" panose="020B0503020204020204" pitchFamily="34" charset="-122"/>
            </a:rPr>
            <a:t>是一个</a:t>
          </a:r>
          <a:r>
            <a:rPr lang="zh-CN" altLang="en-US" sz="1400" b="1" dirty="0">
              <a:solidFill>
                <a:srgbClr val="C00000"/>
              </a:solidFill>
              <a:latin typeface="微软雅黑" panose="020B0503020204020204" pitchFamily="34" charset="-122"/>
              <a:ea typeface="微软雅黑" panose="020B0503020204020204" pitchFamily="34" charset="-122"/>
            </a:rPr>
            <a:t>体系结构，</a:t>
          </a:r>
          <a:r>
            <a:rPr lang="zh-CN" altLang="en-US" sz="1400" b="1" dirty="0">
              <a:latin typeface="微软雅黑" panose="020B0503020204020204" pitchFamily="34" charset="-122"/>
              <a:ea typeface="微软雅黑" panose="020B0503020204020204" pitchFamily="34" charset="-122"/>
            </a:rPr>
            <a:t>是一种设计、构建和管理网络的新方法或新概念。</a:t>
          </a:r>
        </a:p>
      </dgm:t>
    </dgm:pt>
    <dgm:pt modelId="{855D1AA7-0014-42D1-AB55-0512522635CF}" type="parTrans" cxnId="{F51027CC-FC97-496C-82EF-F10BDC823C37}">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1F3824E0-260D-44AF-A6A0-AF20B4EAB600}" type="sibTrans" cxnId="{F51027CC-FC97-496C-82EF-F10BDC823C37}">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93C5C89E-14AA-4071-98C1-AD449E0D1A5F}">
      <dgm:prSet phldrT="[文本]" custT="1"/>
      <dgm:spPr/>
      <dgm:t>
        <a:bodyPr/>
        <a:lstStyle/>
        <a:p>
          <a:pPr>
            <a:spcAft>
              <a:spcPts val="0"/>
            </a:spcAft>
          </a:pPr>
          <a:r>
            <a:rPr lang="zh-CN" altLang="en-US" sz="1400" b="1" dirty="0">
              <a:solidFill>
                <a:schemeClr val="tx1"/>
              </a:solidFill>
              <a:latin typeface="微软雅黑" panose="020B0503020204020204" pitchFamily="34" charset="-122"/>
              <a:ea typeface="微软雅黑" panose="020B0503020204020204" pitchFamily="34" charset="-122"/>
            </a:rPr>
            <a:t>把</a:t>
          </a:r>
          <a:r>
            <a:rPr lang="zh-CN" altLang="en-US" sz="1400" b="1" dirty="0">
              <a:solidFill>
                <a:srgbClr val="0000FF"/>
              </a:solidFill>
              <a:latin typeface="微软雅黑" panose="020B0503020204020204" pitchFamily="34" charset="-122"/>
              <a:ea typeface="微软雅黑" panose="020B0503020204020204" pitchFamily="34" charset="-122"/>
            </a:rPr>
            <a:t>控制层面</a:t>
          </a:r>
          <a:r>
            <a:rPr lang="zh-CN" altLang="en-US" sz="1400" b="1" dirty="0">
              <a:solidFill>
                <a:schemeClr val="tx1"/>
              </a:solidFill>
              <a:latin typeface="微软雅黑" panose="020B0503020204020204" pitchFamily="34" charset="-122"/>
              <a:ea typeface="微软雅黑" panose="020B0503020204020204" pitchFamily="34" charset="-122"/>
            </a:rPr>
            <a:t>和</a:t>
          </a:r>
          <a:r>
            <a:rPr lang="zh-CN" altLang="en-US" sz="1400" b="1" dirty="0">
              <a:solidFill>
                <a:srgbClr val="0000FF"/>
              </a:solidFill>
              <a:latin typeface="微软雅黑" panose="020B0503020204020204" pitchFamily="34" charset="-122"/>
              <a:ea typeface="微软雅黑" panose="020B0503020204020204" pitchFamily="34" charset="-122"/>
            </a:rPr>
            <a:t>数据层面</a:t>
          </a:r>
          <a:r>
            <a:rPr lang="zh-CN" altLang="en-US" sz="1400" b="1" dirty="0">
              <a:solidFill>
                <a:srgbClr val="C00000"/>
              </a:solidFill>
              <a:latin typeface="微软雅黑" panose="020B0503020204020204" pitchFamily="34" charset="-122"/>
              <a:ea typeface="微软雅黑" panose="020B0503020204020204" pitchFamily="34" charset="-122"/>
            </a:rPr>
            <a:t>分离，</a:t>
          </a:r>
          <a:r>
            <a:rPr lang="zh-CN" altLang="en-US" sz="1400" b="1" dirty="0">
              <a:latin typeface="微软雅黑" panose="020B0503020204020204" pitchFamily="34" charset="-122"/>
              <a:ea typeface="微软雅黑" panose="020B0503020204020204" pitchFamily="34" charset="-122"/>
            </a:rPr>
            <a:t>而让控制层面</a:t>
          </a:r>
          <a:r>
            <a:rPr lang="zh-CN" altLang="en-US" sz="1400" b="1" dirty="0">
              <a:solidFill>
                <a:srgbClr val="C00000"/>
              </a:solidFill>
              <a:latin typeface="微软雅黑" panose="020B0503020204020204" pitchFamily="34" charset="-122"/>
              <a:ea typeface="微软雅黑" panose="020B0503020204020204" pitchFamily="34" charset="-122"/>
            </a:rPr>
            <a:t>利用软件</a:t>
          </a:r>
          <a:r>
            <a:rPr lang="zh-CN" altLang="en-US" sz="1400" b="1" dirty="0">
              <a:solidFill>
                <a:srgbClr val="0000FF"/>
              </a:solidFill>
              <a:latin typeface="微软雅黑" panose="020B0503020204020204" pitchFamily="34" charset="-122"/>
              <a:ea typeface="微软雅黑" panose="020B0503020204020204" pitchFamily="34" charset="-122"/>
            </a:rPr>
            <a:t>控制</a:t>
          </a:r>
          <a:r>
            <a:rPr lang="zh-CN" altLang="en-US" sz="1400" b="1" dirty="0">
              <a:latin typeface="微软雅黑" panose="020B0503020204020204" pitchFamily="34" charset="-122"/>
              <a:ea typeface="微软雅黑" panose="020B0503020204020204" pitchFamily="34" charset="-122"/>
            </a:rPr>
            <a:t>数据层面中的许多设备。</a:t>
          </a:r>
        </a:p>
      </dgm:t>
    </dgm:pt>
    <dgm:pt modelId="{391EB9A4-3860-4C75-B5FA-C5A625F7D484}" type="parTrans" cxnId="{46A21861-9C4D-4EBB-BE53-C88A9997E30D}">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22B8AFC6-C448-4A2D-8799-F021A978A537}" type="sibTrans" cxnId="{46A21861-9C4D-4EBB-BE53-C88A9997E30D}">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DAA16250-CD1E-4D72-BB65-F717DC30B48F}">
      <dgm:prSet phldrT="[文本]" custT="1"/>
      <dgm:spPr/>
      <dgm:t>
        <a:bodyPr/>
        <a:lstStyle/>
        <a:p>
          <a:r>
            <a:rPr lang="en-US" altLang="zh-CN" sz="1800" b="1" dirty="0" err="1">
              <a:solidFill>
                <a:srgbClr val="0000CC"/>
              </a:solidFill>
              <a:latin typeface="微软雅黑" panose="020B0503020204020204" pitchFamily="34" charset="-122"/>
              <a:ea typeface="微软雅黑" panose="020B0503020204020204" pitchFamily="34" charset="-122"/>
            </a:rPr>
            <a:t>OpenFlow</a:t>
          </a:r>
          <a:endParaRPr lang="zh-CN" altLang="en-US" sz="1800" b="1" dirty="0">
            <a:solidFill>
              <a:srgbClr val="0000CC"/>
            </a:solidFill>
            <a:latin typeface="微软雅黑" panose="020B0503020204020204" pitchFamily="34" charset="-122"/>
            <a:ea typeface="微软雅黑" panose="020B0503020204020204" pitchFamily="34" charset="-122"/>
          </a:endParaRPr>
        </a:p>
      </dgm:t>
    </dgm:pt>
    <dgm:pt modelId="{EC3331E7-A551-4472-847B-BA00CA0EB852}" type="parTrans" cxnId="{8E2021C0-CD78-4050-9460-52A1436A3A4F}">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E10F3F05-CD84-4A1B-BDC4-701D75C6400A}" type="sibTrans" cxnId="{8E2021C0-CD78-4050-9460-52A1436A3A4F}">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C64E32E3-7489-4BE5-BE96-0A66B49F7C7C}">
      <dgm:prSet phldrT="[文本]" custT="1"/>
      <dgm:spPr/>
      <dgm:t>
        <a:bodyPr/>
        <a:lstStyle/>
        <a:p>
          <a:pPr>
            <a:spcAft>
              <a:spcPts val="0"/>
            </a:spcAft>
          </a:pPr>
          <a:r>
            <a:rPr lang="en-US" altLang="en-US" sz="1400" b="1" dirty="0">
              <a:latin typeface="微软雅黑" panose="020B0503020204020204" pitchFamily="34" charset="-122"/>
              <a:ea typeface="微软雅黑" panose="020B0503020204020204" pitchFamily="34" charset="-122"/>
            </a:rPr>
            <a:t>SDN </a:t>
          </a:r>
          <a:r>
            <a:rPr lang="zh-CN" altLang="en-US" sz="1400" b="1" dirty="0">
              <a:latin typeface="微软雅黑" panose="020B0503020204020204" pitchFamily="34" charset="-122"/>
              <a:ea typeface="微软雅黑" panose="020B0503020204020204" pitchFamily="34" charset="-122"/>
            </a:rPr>
            <a:t>体系结构中控制层面和数据层面之间的</a:t>
          </a:r>
          <a:r>
            <a:rPr lang="zh-CN" altLang="en-US" sz="1400" b="1" dirty="0">
              <a:solidFill>
                <a:srgbClr val="C00000"/>
              </a:solidFill>
              <a:latin typeface="微软雅黑" panose="020B0503020204020204" pitchFamily="34" charset="-122"/>
              <a:ea typeface="微软雅黑" panose="020B0503020204020204" pitchFamily="34" charset="-122"/>
            </a:rPr>
            <a:t>通信接口。</a:t>
          </a:r>
        </a:p>
      </dgm:t>
    </dgm:pt>
    <dgm:pt modelId="{14A66DC3-6A24-4808-9C58-6D992E1C3957}" type="parTrans" cxnId="{03DB05EC-4D94-4E20-A89D-485856CEDD61}">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70CEC0CF-DDBB-4731-8B03-66D0B2C76B1F}" type="sibTrans" cxnId="{03DB05EC-4D94-4E20-A89D-485856CEDD61}">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BAE228D1-650D-492F-9CFA-149583110835}">
      <dgm:prSet custT="1"/>
      <dgm:spPr/>
      <dgm:t>
        <a:bodyPr/>
        <a:lstStyle/>
        <a:p>
          <a:pPr>
            <a:spcAft>
              <a:spcPts val="0"/>
            </a:spcAft>
          </a:pPr>
          <a:r>
            <a:rPr lang="zh-CN" altLang="en-US" sz="1400" b="1" dirty="0">
              <a:latin typeface="微软雅黑" panose="020B0503020204020204" pitchFamily="34" charset="-122"/>
              <a:ea typeface="微软雅黑" panose="020B0503020204020204" pitchFamily="34" charset="-122"/>
            </a:rPr>
            <a:t>使控制层面的控制器可以对数据层面中的物理或虚拟设备进行</a:t>
          </a:r>
          <a:r>
            <a:rPr lang="zh-CN" altLang="en-US" sz="1400" b="1" dirty="0">
              <a:solidFill>
                <a:srgbClr val="C00000"/>
              </a:solidFill>
              <a:latin typeface="微软雅黑" panose="020B0503020204020204" pitchFamily="34" charset="-122"/>
              <a:ea typeface="微软雅黑" panose="020B0503020204020204" pitchFamily="34" charset="-122"/>
            </a:rPr>
            <a:t>直接</a:t>
          </a:r>
          <a:r>
            <a:rPr lang="zh-CN" altLang="en-US" sz="1400" b="1" dirty="0">
              <a:latin typeface="微软雅黑" panose="020B0503020204020204" pitchFamily="34" charset="-122"/>
              <a:ea typeface="微软雅黑" panose="020B0503020204020204" pitchFamily="34" charset="-122"/>
            </a:rPr>
            <a:t>访问和操纵。</a:t>
          </a:r>
        </a:p>
      </dgm:t>
    </dgm:pt>
    <dgm:pt modelId="{830A9A1B-188D-4195-805A-CA5EDEE1088D}" type="parTrans" cxnId="{E5EB32B7-1F72-49E1-BD4C-A7A32B148827}">
      <dgm:prSet/>
      <dgm:spPr/>
      <dgm:t>
        <a:bodyPr/>
        <a:lstStyle/>
        <a:p>
          <a:endParaRPr lang="zh-CN" altLang="en-US" sz="1400"/>
        </a:p>
      </dgm:t>
    </dgm:pt>
    <dgm:pt modelId="{D02ACEFA-FB25-4555-9831-CFBE994CDECF}" type="sibTrans" cxnId="{E5EB32B7-1F72-49E1-BD4C-A7A32B148827}">
      <dgm:prSet/>
      <dgm:spPr/>
      <dgm:t>
        <a:bodyPr/>
        <a:lstStyle/>
        <a:p>
          <a:endParaRPr lang="zh-CN" altLang="en-US" sz="1400"/>
        </a:p>
      </dgm:t>
    </dgm:pt>
    <dgm:pt modelId="{F3B5F212-4DC3-49A6-A050-132FF7B50466}">
      <dgm:prSet custT="1"/>
      <dgm:spPr/>
      <dgm:t>
        <a:bodyPr/>
        <a:lstStyle/>
        <a:p>
          <a:pPr>
            <a:spcAft>
              <a:spcPts val="0"/>
            </a:spcAft>
          </a:pPr>
          <a:r>
            <a:rPr lang="zh-CN" altLang="en-US" sz="1400" b="1" dirty="0">
              <a:latin typeface="微软雅黑" panose="020B0503020204020204" pitchFamily="34" charset="-122"/>
              <a:ea typeface="微软雅黑" panose="020B0503020204020204" pitchFamily="34" charset="-122"/>
            </a:rPr>
            <a:t>在逻辑上是</a:t>
          </a:r>
          <a:r>
            <a:rPr lang="zh-CN" altLang="en-US" sz="1400" b="1" dirty="0">
              <a:solidFill>
                <a:srgbClr val="C00000"/>
              </a:solidFill>
              <a:latin typeface="微软雅黑" panose="020B0503020204020204" pitchFamily="34" charset="-122"/>
              <a:ea typeface="微软雅黑" panose="020B0503020204020204" pitchFamily="34" charset="-122"/>
            </a:rPr>
            <a:t>集中式</a:t>
          </a:r>
          <a:r>
            <a:rPr lang="zh-CN" altLang="en-US" sz="1400" b="1" dirty="0">
              <a:latin typeface="微软雅黑" panose="020B0503020204020204" pitchFamily="34" charset="-122"/>
              <a:ea typeface="微软雅黑" panose="020B0503020204020204" pitchFamily="34" charset="-122"/>
            </a:rPr>
            <a:t>的、</a:t>
          </a:r>
          <a:r>
            <a:rPr lang="zh-CN" altLang="en-US" sz="1400" b="1" dirty="0">
              <a:solidFill>
                <a:srgbClr val="C00000"/>
              </a:solidFill>
              <a:latin typeface="微软雅黑" panose="020B0503020204020204" pitchFamily="34" charset="-122"/>
              <a:ea typeface="微软雅黑" panose="020B0503020204020204" pitchFamily="34" charset="-122"/>
            </a:rPr>
            <a:t>基于流</a:t>
          </a:r>
          <a:r>
            <a:rPr lang="zh-CN" altLang="en-US" sz="1400" b="1" dirty="0">
              <a:latin typeface="微软雅黑" panose="020B0503020204020204" pitchFamily="34" charset="-122"/>
              <a:ea typeface="微软雅黑" panose="020B0503020204020204" pitchFamily="34" charset="-122"/>
            </a:rPr>
            <a:t>的。</a:t>
          </a:r>
        </a:p>
      </dgm:t>
    </dgm:pt>
    <dgm:pt modelId="{91B47B97-5167-4999-902E-79E2079E222C}" type="parTrans" cxnId="{B9E6440F-B9D8-497D-A6B6-C2745C1ED892}">
      <dgm:prSet/>
      <dgm:spPr/>
      <dgm:t>
        <a:bodyPr/>
        <a:lstStyle/>
        <a:p>
          <a:endParaRPr lang="zh-CN" altLang="en-US" sz="1400"/>
        </a:p>
      </dgm:t>
    </dgm:pt>
    <dgm:pt modelId="{EA26118C-98CD-4C73-BAEF-CB97F2569B5E}" type="sibTrans" cxnId="{B9E6440F-B9D8-497D-A6B6-C2745C1ED892}">
      <dgm:prSet/>
      <dgm:spPr/>
      <dgm:t>
        <a:bodyPr/>
        <a:lstStyle/>
        <a:p>
          <a:endParaRPr lang="zh-CN" altLang="en-US" sz="1400"/>
        </a:p>
      </dgm:t>
    </dgm:pt>
    <dgm:pt modelId="{AFB7E455-428C-4A0F-992C-629F9DA528A4}" type="pres">
      <dgm:prSet presAssocID="{507CF620-754C-42AA-B6D7-6E532B46496D}" presName="linear" presStyleCnt="0">
        <dgm:presLayoutVars>
          <dgm:dir/>
          <dgm:animLvl val="lvl"/>
          <dgm:resizeHandles val="exact"/>
        </dgm:presLayoutVars>
      </dgm:prSet>
      <dgm:spPr/>
    </dgm:pt>
    <dgm:pt modelId="{21C46C9B-7934-49C2-90CF-686CD588AD24}" type="pres">
      <dgm:prSet presAssocID="{E2D531EB-AB54-494E-9C1E-4C30D2113C22}" presName="parentLin" presStyleCnt="0"/>
      <dgm:spPr/>
    </dgm:pt>
    <dgm:pt modelId="{3532B21B-9813-41B4-9683-FF842EF22363}" type="pres">
      <dgm:prSet presAssocID="{E2D531EB-AB54-494E-9C1E-4C30D2113C22}" presName="parentLeftMargin" presStyleLbl="node1" presStyleIdx="0" presStyleCnt="2"/>
      <dgm:spPr/>
    </dgm:pt>
    <dgm:pt modelId="{08B5982C-5C29-4138-B12D-B1193F279CC1}" type="pres">
      <dgm:prSet presAssocID="{E2D531EB-AB54-494E-9C1E-4C30D2113C22}" presName="parentText" presStyleLbl="node1" presStyleIdx="0" presStyleCnt="2">
        <dgm:presLayoutVars>
          <dgm:chMax val="0"/>
          <dgm:bulletEnabled val="1"/>
        </dgm:presLayoutVars>
      </dgm:prSet>
      <dgm:spPr/>
    </dgm:pt>
    <dgm:pt modelId="{D4FE3960-E739-4C8C-BB91-934C55FB02C1}" type="pres">
      <dgm:prSet presAssocID="{E2D531EB-AB54-494E-9C1E-4C30D2113C22}" presName="negativeSpace" presStyleCnt="0"/>
      <dgm:spPr/>
    </dgm:pt>
    <dgm:pt modelId="{59A3D657-23B2-4553-AB55-365AF4AD92FC}" type="pres">
      <dgm:prSet presAssocID="{E2D531EB-AB54-494E-9C1E-4C30D2113C22}" presName="childText" presStyleLbl="conFgAcc1" presStyleIdx="0" presStyleCnt="2">
        <dgm:presLayoutVars>
          <dgm:bulletEnabled val="1"/>
        </dgm:presLayoutVars>
      </dgm:prSet>
      <dgm:spPr/>
    </dgm:pt>
    <dgm:pt modelId="{BF6BEC27-1E1E-441A-86C6-71C70AD619AE}" type="pres">
      <dgm:prSet presAssocID="{56EA74CD-3BAB-4DA8-B288-8D367F33563E}" presName="spaceBetweenRectangles" presStyleCnt="0"/>
      <dgm:spPr/>
    </dgm:pt>
    <dgm:pt modelId="{44061F98-C3D6-44C6-91CD-5583301AB560}" type="pres">
      <dgm:prSet presAssocID="{DAA16250-CD1E-4D72-BB65-F717DC30B48F}" presName="parentLin" presStyleCnt="0"/>
      <dgm:spPr/>
    </dgm:pt>
    <dgm:pt modelId="{5E0995F6-5D0E-466D-8876-7344AA812E34}" type="pres">
      <dgm:prSet presAssocID="{DAA16250-CD1E-4D72-BB65-F717DC30B48F}" presName="parentLeftMargin" presStyleLbl="node1" presStyleIdx="0" presStyleCnt="2"/>
      <dgm:spPr/>
    </dgm:pt>
    <dgm:pt modelId="{35AC4BD2-1828-4C40-9426-ADEA8908391D}" type="pres">
      <dgm:prSet presAssocID="{DAA16250-CD1E-4D72-BB65-F717DC30B48F}" presName="parentText" presStyleLbl="node1" presStyleIdx="1" presStyleCnt="2">
        <dgm:presLayoutVars>
          <dgm:chMax val="0"/>
          <dgm:bulletEnabled val="1"/>
        </dgm:presLayoutVars>
      </dgm:prSet>
      <dgm:spPr/>
    </dgm:pt>
    <dgm:pt modelId="{C5104255-B2A2-46DD-9C0E-385FD72891D3}" type="pres">
      <dgm:prSet presAssocID="{DAA16250-CD1E-4D72-BB65-F717DC30B48F}" presName="negativeSpace" presStyleCnt="0"/>
      <dgm:spPr/>
    </dgm:pt>
    <dgm:pt modelId="{6DBB5C1B-B5D3-489B-9520-25CF774BF611}" type="pres">
      <dgm:prSet presAssocID="{DAA16250-CD1E-4D72-BB65-F717DC30B48F}" presName="childText" presStyleLbl="conFgAcc1" presStyleIdx="1" presStyleCnt="2">
        <dgm:presLayoutVars>
          <dgm:bulletEnabled val="1"/>
        </dgm:presLayoutVars>
      </dgm:prSet>
      <dgm:spPr/>
    </dgm:pt>
  </dgm:ptLst>
  <dgm:cxnLst>
    <dgm:cxn modelId="{9D6B860D-0E14-4CC8-A428-362BB1799C68}" type="presOf" srcId="{DAA16250-CD1E-4D72-BB65-F717DC30B48F}" destId="{5E0995F6-5D0E-466D-8876-7344AA812E34}" srcOrd="0" destOrd="0" presId="urn:microsoft.com/office/officeart/2005/8/layout/list1"/>
    <dgm:cxn modelId="{B9E6440F-B9D8-497D-A6B6-C2745C1ED892}" srcId="{DAA16250-CD1E-4D72-BB65-F717DC30B48F}" destId="{F3B5F212-4DC3-49A6-A050-132FF7B50466}" srcOrd="2" destOrd="0" parTransId="{91B47B97-5167-4999-902E-79E2079E222C}" sibTransId="{EA26118C-98CD-4C73-BAEF-CB97F2569B5E}"/>
    <dgm:cxn modelId="{42BBB35B-3932-4FBA-9751-F9F466C19E30}" type="presOf" srcId="{93C5C89E-14AA-4071-98C1-AD449E0D1A5F}" destId="{59A3D657-23B2-4553-AB55-365AF4AD92FC}" srcOrd="0" destOrd="1" presId="urn:microsoft.com/office/officeart/2005/8/layout/list1"/>
    <dgm:cxn modelId="{95112D60-FCEF-4A6B-898C-81DF670D99D3}" type="presOf" srcId="{C64E32E3-7489-4BE5-BE96-0A66B49F7C7C}" destId="{6DBB5C1B-B5D3-489B-9520-25CF774BF611}" srcOrd="0" destOrd="0" presId="urn:microsoft.com/office/officeart/2005/8/layout/list1"/>
    <dgm:cxn modelId="{46A21861-9C4D-4EBB-BE53-C88A9997E30D}" srcId="{E2D531EB-AB54-494E-9C1E-4C30D2113C22}" destId="{93C5C89E-14AA-4071-98C1-AD449E0D1A5F}" srcOrd="1" destOrd="0" parTransId="{391EB9A4-3860-4C75-B5FA-C5A625F7D484}" sibTransId="{22B8AFC6-C448-4A2D-8799-F021A978A537}"/>
    <dgm:cxn modelId="{6A825066-EC95-48B5-93E0-4891291DE14F}" type="presOf" srcId="{DAA16250-CD1E-4D72-BB65-F717DC30B48F}" destId="{35AC4BD2-1828-4C40-9426-ADEA8908391D}" srcOrd="1" destOrd="0" presId="urn:microsoft.com/office/officeart/2005/8/layout/list1"/>
    <dgm:cxn modelId="{5F9A4C67-D08B-4F85-810B-EB9EEE0D0BC2}" type="presOf" srcId="{E2D531EB-AB54-494E-9C1E-4C30D2113C22}" destId="{08B5982C-5C29-4138-B12D-B1193F279CC1}" srcOrd="1" destOrd="0" presId="urn:microsoft.com/office/officeart/2005/8/layout/list1"/>
    <dgm:cxn modelId="{C5CFE188-6DB5-480D-A87D-9D9FF73C082C}" type="presOf" srcId="{BAE228D1-650D-492F-9CFA-149583110835}" destId="{6DBB5C1B-B5D3-489B-9520-25CF774BF611}" srcOrd="0" destOrd="1" presId="urn:microsoft.com/office/officeart/2005/8/layout/list1"/>
    <dgm:cxn modelId="{AF2C3A8A-234A-4580-A3A4-B75A436B1397}" type="presOf" srcId="{E2D531EB-AB54-494E-9C1E-4C30D2113C22}" destId="{3532B21B-9813-41B4-9683-FF842EF22363}" srcOrd="0" destOrd="0" presId="urn:microsoft.com/office/officeart/2005/8/layout/list1"/>
    <dgm:cxn modelId="{D466629A-CCF5-40B6-905B-D359772974E3}" type="presOf" srcId="{BCEA250F-A938-4832-8A35-1F6531FC8D25}" destId="{59A3D657-23B2-4553-AB55-365AF4AD92FC}" srcOrd="0" destOrd="0" presId="urn:microsoft.com/office/officeart/2005/8/layout/list1"/>
    <dgm:cxn modelId="{E5EB32B7-1F72-49E1-BD4C-A7A32B148827}" srcId="{DAA16250-CD1E-4D72-BB65-F717DC30B48F}" destId="{BAE228D1-650D-492F-9CFA-149583110835}" srcOrd="1" destOrd="0" parTransId="{830A9A1B-188D-4195-805A-CA5EDEE1088D}" sibTransId="{D02ACEFA-FB25-4555-9831-CFBE994CDECF}"/>
    <dgm:cxn modelId="{8E2021C0-CD78-4050-9460-52A1436A3A4F}" srcId="{507CF620-754C-42AA-B6D7-6E532B46496D}" destId="{DAA16250-CD1E-4D72-BB65-F717DC30B48F}" srcOrd="1" destOrd="0" parTransId="{EC3331E7-A551-4472-847B-BA00CA0EB852}" sibTransId="{E10F3F05-CD84-4A1B-BDC4-701D75C6400A}"/>
    <dgm:cxn modelId="{7EEB46C1-0061-467B-B4CB-0A4B7385BC8B}" type="presOf" srcId="{507CF620-754C-42AA-B6D7-6E532B46496D}" destId="{AFB7E455-428C-4A0F-992C-629F9DA528A4}" srcOrd="0" destOrd="0" presId="urn:microsoft.com/office/officeart/2005/8/layout/list1"/>
    <dgm:cxn modelId="{F51027CC-FC97-496C-82EF-F10BDC823C37}" srcId="{E2D531EB-AB54-494E-9C1E-4C30D2113C22}" destId="{BCEA250F-A938-4832-8A35-1F6531FC8D25}" srcOrd="0" destOrd="0" parTransId="{855D1AA7-0014-42D1-AB55-0512522635CF}" sibTransId="{1F3824E0-260D-44AF-A6A0-AF20B4EAB600}"/>
    <dgm:cxn modelId="{3D990FE7-B784-4266-9459-DD4F755F3900}" srcId="{507CF620-754C-42AA-B6D7-6E532B46496D}" destId="{E2D531EB-AB54-494E-9C1E-4C30D2113C22}" srcOrd="0" destOrd="0" parTransId="{BE246D6D-5FC4-4574-ADA4-F9DF70A01C22}" sibTransId="{56EA74CD-3BAB-4DA8-B288-8D367F33563E}"/>
    <dgm:cxn modelId="{03DB05EC-4D94-4E20-A89D-485856CEDD61}" srcId="{DAA16250-CD1E-4D72-BB65-F717DC30B48F}" destId="{C64E32E3-7489-4BE5-BE96-0A66B49F7C7C}" srcOrd="0" destOrd="0" parTransId="{14A66DC3-6A24-4808-9C58-6D992E1C3957}" sibTransId="{70CEC0CF-DDBB-4731-8B03-66D0B2C76B1F}"/>
    <dgm:cxn modelId="{0B0DA9FC-0CD9-4A96-A10A-EAEF241801FE}" type="presOf" srcId="{F3B5F212-4DC3-49A6-A050-132FF7B50466}" destId="{6DBB5C1B-B5D3-489B-9520-25CF774BF611}" srcOrd="0" destOrd="2" presId="urn:microsoft.com/office/officeart/2005/8/layout/list1"/>
    <dgm:cxn modelId="{18915AF6-5909-4B39-8CC5-C52925E71747}" type="presParOf" srcId="{AFB7E455-428C-4A0F-992C-629F9DA528A4}" destId="{21C46C9B-7934-49C2-90CF-686CD588AD24}" srcOrd="0" destOrd="0" presId="urn:microsoft.com/office/officeart/2005/8/layout/list1"/>
    <dgm:cxn modelId="{DA1C6F3D-61E4-4AC2-8C31-F64605F21A9F}" type="presParOf" srcId="{21C46C9B-7934-49C2-90CF-686CD588AD24}" destId="{3532B21B-9813-41B4-9683-FF842EF22363}" srcOrd="0" destOrd="0" presId="urn:microsoft.com/office/officeart/2005/8/layout/list1"/>
    <dgm:cxn modelId="{69926C88-43C4-48E7-9B1F-325DED9CEE3D}" type="presParOf" srcId="{21C46C9B-7934-49C2-90CF-686CD588AD24}" destId="{08B5982C-5C29-4138-B12D-B1193F279CC1}" srcOrd="1" destOrd="0" presId="urn:microsoft.com/office/officeart/2005/8/layout/list1"/>
    <dgm:cxn modelId="{332E3102-8DC4-48E3-9BDC-E3C4E4B64F57}" type="presParOf" srcId="{AFB7E455-428C-4A0F-992C-629F9DA528A4}" destId="{D4FE3960-E739-4C8C-BB91-934C55FB02C1}" srcOrd="1" destOrd="0" presId="urn:microsoft.com/office/officeart/2005/8/layout/list1"/>
    <dgm:cxn modelId="{4E18FB82-A1FF-4B7A-81D3-6908B63D0AC9}" type="presParOf" srcId="{AFB7E455-428C-4A0F-992C-629F9DA528A4}" destId="{59A3D657-23B2-4553-AB55-365AF4AD92FC}" srcOrd="2" destOrd="0" presId="urn:microsoft.com/office/officeart/2005/8/layout/list1"/>
    <dgm:cxn modelId="{682F0B1C-40EB-45F7-8322-E9E4C9C2072E}" type="presParOf" srcId="{AFB7E455-428C-4A0F-992C-629F9DA528A4}" destId="{BF6BEC27-1E1E-441A-86C6-71C70AD619AE}" srcOrd="3" destOrd="0" presId="urn:microsoft.com/office/officeart/2005/8/layout/list1"/>
    <dgm:cxn modelId="{396F96E6-F99C-4923-83B3-D5B412B2A49E}" type="presParOf" srcId="{AFB7E455-428C-4A0F-992C-629F9DA528A4}" destId="{44061F98-C3D6-44C6-91CD-5583301AB560}" srcOrd="4" destOrd="0" presId="urn:microsoft.com/office/officeart/2005/8/layout/list1"/>
    <dgm:cxn modelId="{439A51C0-DFF6-48D9-8B9A-D40B233796A6}" type="presParOf" srcId="{44061F98-C3D6-44C6-91CD-5583301AB560}" destId="{5E0995F6-5D0E-466D-8876-7344AA812E34}" srcOrd="0" destOrd="0" presId="urn:microsoft.com/office/officeart/2005/8/layout/list1"/>
    <dgm:cxn modelId="{905D11AA-77C5-42B8-9E27-B47DF10C6DBC}" type="presParOf" srcId="{44061F98-C3D6-44C6-91CD-5583301AB560}" destId="{35AC4BD2-1828-4C40-9426-ADEA8908391D}" srcOrd="1" destOrd="0" presId="urn:microsoft.com/office/officeart/2005/8/layout/list1"/>
    <dgm:cxn modelId="{B5828484-1869-45BA-955A-A4A7404C55DD}" type="presParOf" srcId="{AFB7E455-428C-4A0F-992C-629F9DA528A4}" destId="{C5104255-B2A2-46DD-9C0E-385FD72891D3}" srcOrd="5" destOrd="0" presId="urn:microsoft.com/office/officeart/2005/8/layout/list1"/>
    <dgm:cxn modelId="{67A98BC3-5602-40F9-A63A-D27FAE7828F0}" type="presParOf" srcId="{AFB7E455-428C-4A0F-992C-629F9DA528A4}" destId="{6DBB5C1B-B5D3-489B-9520-25CF774BF611}"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B93B06-6FD2-4B33-9D0D-3A99261537A6}"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zh-CN" altLang="en-US"/>
        </a:p>
      </dgm:t>
    </dgm:pt>
    <dgm:pt modelId="{6E06AD22-4C8D-4CB3-AA89-5B194887A2E6}">
      <dgm:prSet phldrT="[文本]" custT="1"/>
      <dgm:spPr/>
      <dgm:t>
        <a:bodyPr/>
        <a:lstStyle/>
        <a:p>
          <a:r>
            <a:rPr lang="zh-CN" altLang="en-US" sz="1800" b="1" dirty="0">
              <a:latin typeface="微软雅黑" panose="020B0503020204020204" pitchFamily="34" charset="-122"/>
              <a:ea typeface="微软雅黑" panose="020B0503020204020204" pitchFamily="34" charset="-122"/>
            </a:rPr>
            <a:t>匹配</a:t>
          </a:r>
        </a:p>
      </dgm:t>
    </dgm:pt>
    <dgm:pt modelId="{76EEBCFE-ED00-427F-9D64-B873BA8C0EC4}" type="parTrans" cxnId="{5D1C0801-E352-4131-A654-83CCB5B845D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0BACEE0-57B3-43FE-BD93-19F1FB98E9AF}" type="sibTrans" cxnId="{5D1C0801-E352-4131-A654-83CCB5B845D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3735250-1FB8-4F83-9321-87458A83816A}">
      <dgm:prSet phldrT="[文本]" custT="1"/>
      <dgm:spPr/>
      <dgm:t>
        <a:bodyPr/>
        <a:lstStyle/>
        <a:p>
          <a:r>
            <a:rPr lang="zh-CN" altLang="en-US" sz="1800" b="1" dirty="0">
              <a:latin typeface="微软雅黑" panose="020B0503020204020204" pitchFamily="34" charset="-122"/>
              <a:ea typeface="微软雅黑" panose="020B0503020204020204" pitchFamily="34" charset="-122"/>
            </a:rPr>
            <a:t>对不同层次（链路层，网络层，运输层）首部中的字段进行匹配。</a:t>
          </a:r>
        </a:p>
      </dgm:t>
    </dgm:pt>
    <dgm:pt modelId="{5D9A2FA1-FA1E-4090-B9C7-F5FE30AF6F8C}" type="parTrans" cxnId="{D3BDEEF3-C692-4D62-87A4-33A1D1ECB6C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FFF994D-E500-4611-B007-00D542FE762F}" type="sibTrans" cxnId="{D3BDEEF3-C692-4D62-87A4-33A1D1ECB6C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1F7889E-B267-4726-A1BB-5917C3D2F3EA}">
      <dgm:prSet phldrT="[文本]" custT="1"/>
      <dgm:spPr/>
      <dgm:t>
        <a:bodyPr/>
        <a:lstStyle/>
        <a:p>
          <a:r>
            <a:rPr lang="zh-CN" altLang="en-US" sz="1800" b="1" dirty="0">
              <a:latin typeface="微软雅黑" panose="020B0503020204020204" pitchFamily="34" charset="-122"/>
              <a:ea typeface="微软雅黑" panose="020B0503020204020204" pitchFamily="34" charset="-122"/>
            </a:rPr>
            <a:t>动作</a:t>
          </a:r>
        </a:p>
      </dgm:t>
    </dgm:pt>
    <dgm:pt modelId="{0571A803-B5C4-4762-B149-F36F05BA60D7}" type="parTrans" cxnId="{74AB1341-F1DF-4039-8819-93C7ADCD0632}">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3EBB5A0-6545-4D9A-9C00-C9E735DCB6C9}" type="sibTrans" cxnId="{74AB1341-F1DF-4039-8819-93C7ADCD0632}">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F9DF20F-55E8-4A04-B97F-BD8540614AE9}">
      <dgm:prSet phldrT="[文本]" custT="1"/>
      <dgm:spPr/>
      <dgm:t>
        <a:bodyPr/>
        <a:lstStyle/>
        <a:p>
          <a:r>
            <a:rPr lang="zh-CN" altLang="en-US" sz="1800" b="1" dirty="0">
              <a:latin typeface="微软雅黑" panose="020B0503020204020204" pitchFamily="34" charset="-122"/>
              <a:ea typeface="微软雅黑" panose="020B0503020204020204" pitchFamily="34" charset="-122"/>
            </a:rPr>
            <a:t>转发，重写，丢弃等。</a:t>
          </a:r>
        </a:p>
      </dgm:t>
    </dgm:pt>
    <dgm:pt modelId="{C942B6B5-56C6-4869-B070-D5F0AF276F2E}" type="parTrans" cxnId="{2CD33E40-0691-4C75-AE8B-095E9CCA4A5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51AB59C-A897-423C-93E1-9A28099EB7D5}" type="sibTrans" cxnId="{2CD33E40-0691-4C75-AE8B-095E9CCA4A5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6F57A2E-550A-48E0-A04E-70B017ECCFE4}" type="pres">
      <dgm:prSet presAssocID="{27B93B06-6FD2-4B33-9D0D-3A99261537A6}" presName="linear" presStyleCnt="0">
        <dgm:presLayoutVars>
          <dgm:animLvl val="lvl"/>
          <dgm:resizeHandles val="exact"/>
        </dgm:presLayoutVars>
      </dgm:prSet>
      <dgm:spPr/>
    </dgm:pt>
    <dgm:pt modelId="{ED99FAF8-43A3-495E-9177-C621EED0FF9E}" type="pres">
      <dgm:prSet presAssocID="{6E06AD22-4C8D-4CB3-AA89-5B194887A2E6}" presName="parentText" presStyleLbl="node1" presStyleIdx="0" presStyleCnt="2" custScaleY="82418">
        <dgm:presLayoutVars>
          <dgm:chMax val="0"/>
          <dgm:bulletEnabled val="1"/>
        </dgm:presLayoutVars>
      </dgm:prSet>
      <dgm:spPr/>
    </dgm:pt>
    <dgm:pt modelId="{A97FE5EF-81FF-4D48-A0DE-B85FB67024E8}" type="pres">
      <dgm:prSet presAssocID="{6E06AD22-4C8D-4CB3-AA89-5B194887A2E6}" presName="childText" presStyleLbl="revTx" presStyleIdx="0" presStyleCnt="2">
        <dgm:presLayoutVars>
          <dgm:bulletEnabled val="1"/>
        </dgm:presLayoutVars>
      </dgm:prSet>
      <dgm:spPr/>
    </dgm:pt>
    <dgm:pt modelId="{6973BEF8-C407-4DCC-B203-97EAB17968C8}" type="pres">
      <dgm:prSet presAssocID="{C1F7889E-B267-4726-A1BB-5917C3D2F3EA}" presName="parentText" presStyleLbl="node1" presStyleIdx="1" presStyleCnt="2" custScaleY="82418">
        <dgm:presLayoutVars>
          <dgm:chMax val="0"/>
          <dgm:bulletEnabled val="1"/>
        </dgm:presLayoutVars>
      </dgm:prSet>
      <dgm:spPr/>
    </dgm:pt>
    <dgm:pt modelId="{08081AE3-063A-43D5-96F4-62EC961A3E6F}" type="pres">
      <dgm:prSet presAssocID="{C1F7889E-B267-4726-A1BB-5917C3D2F3EA}" presName="childText" presStyleLbl="revTx" presStyleIdx="1" presStyleCnt="2">
        <dgm:presLayoutVars>
          <dgm:bulletEnabled val="1"/>
        </dgm:presLayoutVars>
      </dgm:prSet>
      <dgm:spPr/>
    </dgm:pt>
  </dgm:ptLst>
  <dgm:cxnLst>
    <dgm:cxn modelId="{5D1C0801-E352-4131-A654-83CCB5B845DA}" srcId="{27B93B06-6FD2-4B33-9D0D-3A99261537A6}" destId="{6E06AD22-4C8D-4CB3-AA89-5B194887A2E6}" srcOrd="0" destOrd="0" parTransId="{76EEBCFE-ED00-427F-9D64-B873BA8C0EC4}" sibTransId="{20BACEE0-57B3-43FE-BD93-19F1FB98E9AF}"/>
    <dgm:cxn modelId="{2CD33E40-0691-4C75-AE8B-095E9CCA4A59}" srcId="{C1F7889E-B267-4726-A1BB-5917C3D2F3EA}" destId="{5F9DF20F-55E8-4A04-B97F-BD8540614AE9}" srcOrd="0" destOrd="0" parTransId="{C942B6B5-56C6-4869-B070-D5F0AF276F2E}" sibTransId="{351AB59C-A897-423C-93E1-9A28099EB7D5}"/>
    <dgm:cxn modelId="{74AB1341-F1DF-4039-8819-93C7ADCD0632}" srcId="{27B93B06-6FD2-4B33-9D0D-3A99261537A6}" destId="{C1F7889E-B267-4726-A1BB-5917C3D2F3EA}" srcOrd="1" destOrd="0" parTransId="{0571A803-B5C4-4762-B149-F36F05BA60D7}" sibTransId="{53EBB5A0-6545-4D9A-9C00-C9E735DCB6C9}"/>
    <dgm:cxn modelId="{D8D51270-48E2-433A-AFA9-310E989252A9}" type="presOf" srcId="{6E06AD22-4C8D-4CB3-AA89-5B194887A2E6}" destId="{ED99FAF8-43A3-495E-9177-C621EED0FF9E}" srcOrd="0" destOrd="0" presId="urn:microsoft.com/office/officeart/2005/8/layout/vList2"/>
    <dgm:cxn modelId="{207FD68F-D728-46EA-B3AD-395401E9B5A6}" type="presOf" srcId="{C1F7889E-B267-4726-A1BB-5917C3D2F3EA}" destId="{6973BEF8-C407-4DCC-B203-97EAB17968C8}" srcOrd="0" destOrd="0" presId="urn:microsoft.com/office/officeart/2005/8/layout/vList2"/>
    <dgm:cxn modelId="{C1D030C2-258C-4946-BEEE-81387A4EC37F}" type="presOf" srcId="{53735250-1FB8-4F83-9321-87458A83816A}" destId="{A97FE5EF-81FF-4D48-A0DE-B85FB67024E8}" srcOrd="0" destOrd="0" presId="urn:microsoft.com/office/officeart/2005/8/layout/vList2"/>
    <dgm:cxn modelId="{5FC8ADD3-06BF-4667-9061-F41D27FDC82A}" type="presOf" srcId="{5F9DF20F-55E8-4A04-B97F-BD8540614AE9}" destId="{08081AE3-063A-43D5-96F4-62EC961A3E6F}" srcOrd="0" destOrd="0" presId="urn:microsoft.com/office/officeart/2005/8/layout/vList2"/>
    <dgm:cxn modelId="{E55AA9D8-31F0-4492-9CFA-01ADBC340033}" type="presOf" srcId="{27B93B06-6FD2-4B33-9D0D-3A99261537A6}" destId="{56F57A2E-550A-48E0-A04E-70B017ECCFE4}" srcOrd="0" destOrd="0" presId="urn:microsoft.com/office/officeart/2005/8/layout/vList2"/>
    <dgm:cxn modelId="{D3BDEEF3-C692-4D62-87A4-33A1D1ECB6C7}" srcId="{6E06AD22-4C8D-4CB3-AA89-5B194887A2E6}" destId="{53735250-1FB8-4F83-9321-87458A83816A}" srcOrd="0" destOrd="0" parTransId="{5D9A2FA1-FA1E-4090-B9C7-F5FE30AF6F8C}" sibTransId="{0FFF994D-E500-4611-B007-00D542FE762F}"/>
    <dgm:cxn modelId="{9F418324-5C9E-4D17-A885-76FCF4A31D1E}" type="presParOf" srcId="{56F57A2E-550A-48E0-A04E-70B017ECCFE4}" destId="{ED99FAF8-43A3-495E-9177-C621EED0FF9E}" srcOrd="0" destOrd="0" presId="urn:microsoft.com/office/officeart/2005/8/layout/vList2"/>
    <dgm:cxn modelId="{E4EFAFE4-5C86-4466-9A5A-33900DD0A1A7}" type="presParOf" srcId="{56F57A2E-550A-48E0-A04E-70B017ECCFE4}" destId="{A97FE5EF-81FF-4D48-A0DE-B85FB67024E8}" srcOrd="1" destOrd="0" presId="urn:microsoft.com/office/officeart/2005/8/layout/vList2"/>
    <dgm:cxn modelId="{84A2C61D-C83F-47D7-8FFA-AE17B7DEB529}" type="presParOf" srcId="{56F57A2E-550A-48E0-A04E-70B017ECCFE4}" destId="{6973BEF8-C407-4DCC-B203-97EAB17968C8}" srcOrd="2" destOrd="0" presId="urn:microsoft.com/office/officeart/2005/8/layout/vList2"/>
    <dgm:cxn modelId="{4BC2539D-A50E-4F5E-A050-288888839FE7}" type="presParOf" srcId="{56F57A2E-550A-48E0-A04E-70B017ECCFE4}" destId="{08081AE3-063A-43D5-96F4-62EC961A3E6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C5DE803-CAA9-4D5F-AEE5-F9AF215821D3}" type="doc">
      <dgm:prSet loTypeId="urn:microsoft.com/office/officeart/2008/layout/VerticalCurvedList" loCatId="list" qsTypeId="urn:microsoft.com/office/officeart/2005/8/quickstyle/simple3" qsCatId="simple" csTypeId="urn:microsoft.com/office/officeart/2005/8/colors/colorful5" csCatId="colorful" phldr="1"/>
      <dgm:spPr/>
      <dgm:t>
        <a:bodyPr/>
        <a:lstStyle/>
        <a:p>
          <a:endParaRPr lang="zh-CN" altLang="en-US"/>
        </a:p>
      </dgm:t>
    </dgm:pt>
    <dgm:pt modelId="{6123DA5E-4CB5-4CD5-ACB7-992D49046590}">
      <dgm:prSet phldrT="[文本]" custT="1"/>
      <dgm:spPr/>
      <dgm:t>
        <a:bodyPr/>
        <a:lstStyle/>
        <a:p>
          <a:r>
            <a:rPr lang="zh-CN" altLang="en-US" sz="1800" b="1" dirty="0">
              <a:latin typeface="微软雅黑" panose="020B0503020204020204" pitchFamily="34" charset="-122"/>
              <a:ea typeface="微软雅黑" panose="020B0503020204020204" pitchFamily="34" charset="-122"/>
            </a:rPr>
            <a:t>基于流的转发。流表规定转发规则。</a:t>
          </a:r>
        </a:p>
      </dgm:t>
    </dgm:pt>
    <dgm:pt modelId="{6CE172C9-9B24-43F7-9C0B-4D632E4522C8}" type="parTrans" cxnId="{032543A3-5345-4B90-B288-2E58AA3ACFA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597E6D3-74F3-4847-B5CE-BA23F7D2E699}" type="sibTrans" cxnId="{032543A3-5345-4B90-B288-2E58AA3ACFA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C65F29AA-013A-4BC2-BE7C-71498B676318}">
      <dgm:prSet phldrT="[文本]" custT="1"/>
      <dgm:spPr/>
      <dgm:t>
        <a:bodyPr/>
        <a:lstStyle/>
        <a:p>
          <a:r>
            <a:rPr lang="zh-CN" altLang="en-US" sz="1800" b="1" dirty="0">
              <a:latin typeface="微软雅黑" panose="020B0503020204020204" pitchFamily="34" charset="-122"/>
              <a:ea typeface="微软雅黑" panose="020B0503020204020204" pitchFamily="34" charset="-122"/>
            </a:rPr>
            <a:t>数据层面与控制层面分离。二者不在同一个设备中。</a:t>
          </a:r>
        </a:p>
      </dgm:t>
    </dgm:pt>
    <dgm:pt modelId="{DB3F4A5C-F70A-44C3-B32F-AB78CEAB21B7}" type="parTrans" cxnId="{288FFE22-3DB2-435B-8E99-C384685ABCE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0507C28-B4D6-4D36-9957-A956330DF920}" type="sibTrans" cxnId="{288FFE22-3DB2-435B-8E99-C384685ABCE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A65616D-E3DD-41E5-99BE-605144920596}">
      <dgm:prSet phldrT="[文本]" custT="1"/>
      <dgm:spPr/>
      <dgm:t>
        <a:bodyPr/>
        <a:lstStyle/>
        <a:p>
          <a:r>
            <a:rPr lang="zh-CN" altLang="en-US" sz="1800" b="1" dirty="0">
              <a:latin typeface="微软雅黑" panose="020B0503020204020204" pitchFamily="34" charset="-122"/>
              <a:ea typeface="微软雅黑" panose="020B0503020204020204" pitchFamily="34" charset="-122"/>
            </a:rPr>
            <a:t>网络控制功能位于数据层面交换机之外，用软件实现。</a:t>
          </a:r>
        </a:p>
      </dgm:t>
    </dgm:pt>
    <dgm:pt modelId="{4B020BB7-A13F-4E37-BED2-6CCAA4A2D58F}" type="parTrans" cxnId="{FE80CC53-738E-4B62-9539-4B07E227CE1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E6E51CB-D032-49AD-941A-DA0D26EB5B39}" type="sibTrans" cxnId="{FE80CC53-738E-4B62-9539-4B07E227CE1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37D2B-536A-4EE6-B7CE-84C53B52301D}">
      <dgm:prSet phldrT="[文本]" custT="1"/>
      <dgm:spPr/>
      <dgm:t>
        <a:bodyPr/>
        <a:lstStyle/>
        <a:p>
          <a:r>
            <a:rPr lang="zh-CN" altLang="en-US" sz="1800" b="1" dirty="0">
              <a:latin typeface="微软雅黑" panose="020B0503020204020204" pitchFamily="34" charset="-122"/>
              <a:ea typeface="微软雅黑" panose="020B0503020204020204" pitchFamily="34" charset="-122"/>
            </a:rPr>
            <a:t>可编程的网络。</a:t>
          </a:r>
        </a:p>
      </dgm:t>
    </dgm:pt>
    <dgm:pt modelId="{A60F3012-47AD-4476-AE0F-0CC50CFA37F8}" type="parTrans" cxnId="{F0FDE1B1-4A67-45D8-B043-924EF6F8653F}">
      <dgm:prSet/>
      <dgm:spPr/>
      <dgm:t>
        <a:bodyPr/>
        <a:lstStyle/>
        <a:p>
          <a:endParaRPr lang="zh-CN" altLang="en-US"/>
        </a:p>
      </dgm:t>
    </dgm:pt>
    <dgm:pt modelId="{2976B025-A9BA-4A82-8665-CDE503C5ECC6}" type="sibTrans" cxnId="{F0FDE1B1-4A67-45D8-B043-924EF6F8653F}">
      <dgm:prSet/>
      <dgm:spPr/>
      <dgm:t>
        <a:bodyPr/>
        <a:lstStyle/>
        <a:p>
          <a:endParaRPr lang="zh-CN" altLang="en-US"/>
        </a:p>
      </dgm:t>
    </dgm:pt>
    <dgm:pt modelId="{1E608E95-33A3-4F7B-8D0A-EAD16C077CBB}" type="pres">
      <dgm:prSet presAssocID="{5C5DE803-CAA9-4D5F-AEE5-F9AF215821D3}" presName="Name0" presStyleCnt="0">
        <dgm:presLayoutVars>
          <dgm:chMax val="7"/>
          <dgm:chPref val="7"/>
          <dgm:dir/>
        </dgm:presLayoutVars>
      </dgm:prSet>
      <dgm:spPr/>
    </dgm:pt>
    <dgm:pt modelId="{C02CDC2A-B911-4EC1-AEE9-7B2CCF3A733A}" type="pres">
      <dgm:prSet presAssocID="{5C5DE803-CAA9-4D5F-AEE5-F9AF215821D3}" presName="Name1" presStyleCnt="0"/>
      <dgm:spPr/>
    </dgm:pt>
    <dgm:pt modelId="{EFA93ACA-B74D-4531-B043-94FBF4B7F1B6}" type="pres">
      <dgm:prSet presAssocID="{5C5DE803-CAA9-4D5F-AEE5-F9AF215821D3}" presName="cycle" presStyleCnt="0"/>
      <dgm:spPr/>
    </dgm:pt>
    <dgm:pt modelId="{5ED3F379-7863-4C21-B064-971B73F272EC}" type="pres">
      <dgm:prSet presAssocID="{5C5DE803-CAA9-4D5F-AEE5-F9AF215821D3}" presName="srcNode" presStyleLbl="node1" presStyleIdx="0" presStyleCnt="4"/>
      <dgm:spPr/>
    </dgm:pt>
    <dgm:pt modelId="{69B0D5C1-FC08-4682-A068-87E58ADD3967}" type="pres">
      <dgm:prSet presAssocID="{5C5DE803-CAA9-4D5F-AEE5-F9AF215821D3}" presName="conn" presStyleLbl="parChTrans1D2" presStyleIdx="0" presStyleCnt="1"/>
      <dgm:spPr/>
    </dgm:pt>
    <dgm:pt modelId="{90453F25-A84C-4968-A8FB-6E5ACC8D68BD}" type="pres">
      <dgm:prSet presAssocID="{5C5DE803-CAA9-4D5F-AEE5-F9AF215821D3}" presName="extraNode" presStyleLbl="node1" presStyleIdx="0" presStyleCnt="4"/>
      <dgm:spPr/>
    </dgm:pt>
    <dgm:pt modelId="{AD1E8A44-308F-451C-B4E7-59FF88CB7A46}" type="pres">
      <dgm:prSet presAssocID="{5C5DE803-CAA9-4D5F-AEE5-F9AF215821D3}" presName="dstNode" presStyleLbl="node1" presStyleIdx="0" presStyleCnt="4"/>
      <dgm:spPr/>
    </dgm:pt>
    <dgm:pt modelId="{4A029A32-0911-4750-B9B4-49D271EFA4E0}" type="pres">
      <dgm:prSet presAssocID="{6123DA5E-4CB5-4CD5-ACB7-992D49046590}" presName="text_1" presStyleLbl="node1" presStyleIdx="0" presStyleCnt="4">
        <dgm:presLayoutVars>
          <dgm:bulletEnabled val="1"/>
        </dgm:presLayoutVars>
      </dgm:prSet>
      <dgm:spPr/>
    </dgm:pt>
    <dgm:pt modelId="{5B578E24-2ACC-475C-96B0-8C0203EE80B1}" type="pres">
      <dgm:prSet presAssocID="{6123DA5E-4CB5-4CD5-ACB7-992D49046590}" presName="accent_1" presStyleCnt="0"/>
      <dgm:spPr/>
    </dgm:pt>
    <dgm:pt modelId="{C2D66341-6C1E-4BCC-8C84-A646950EFF77}" type="pres">
      <dgm:prSet presAssocID="{6123DA5E-4CB5-4CD5-ACB7-992D49046590}" presName="accentRepeatNode" presStyleLbl="solidFgAcc1" presStyleIdx="0" presStyleCnt="4"/>
      <dgm:spPr>
        <a:blipFill dpi="0" rotWithShape="0">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F5F98171-0BBC-44BA-A385-25C4F93E716D}" type="pres">
      <dgm:prSet presAssocID="{C65F29AA-013A-4BC2-BE7C-71498B676318}" presName="text_2" presStyleLbl="node1" presStyleIdx="1" presStyleCnt="4">
        <dgm:presLayoutVars>
          <dgm:bulletEnabled val="1"/>
        </dgm:presLayoutVars>
      </dgm:prSet>
      <dgm:spPr/>
    </dgm:pt>
    <dgm:pt modelId="{E4EA13F8-30A9-4839-8224-F3FF5CDAB0E7}" type="pres">
      <dgm:prSet presAssocID="{C65F29AA-013A-4BC2-BE7C-71498B676318}" presName="accent_2" presStyleCnt="0"/>
      <dgm:spPr/>
    </dgm:pt>
    <dgm:pt modelId="{6BA4FFC2-2FE1-4DE8-AFAD-430C985B0E85}" type="pres">
      <dgm:prSet presAssocID="{C65F29AA-013A-4BC2-BE7C-71498B676318}" presName="accentRepeatNode" presStyleLbl="solidFgAcc1" presStyleIdx="1" presStyleCnt="4"/>
      <dgm:spPr>
        <a:blipFill dpi="0" rotWithShape="0">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CD11EB12-0408-40BE-A5E0-D1CFC22DFC2E}" type="pres">
      <dgm:prSet presAssocID="{9A65616D-E3DD-41E5-99BE-605144920596}" presName="text_3" presStyleLbl="node1" presStyleIdx="2" presStyleCnt="4">
        <dgm:presLayoutVars>
          <dgm:bulletEnabled val="1"/>
        </dgm:presLayoutVars>
      </dgm:prSet>
      <dgm:spPr/>
    </dgm:pt>
    <dgm:pt modelId="{99B5A6F6-D82D-4782-AAA5-78FBF2EE0209}" type="pres">
      <dgm:prSet presAssocID="{9A65616D-E3DD-41E5-99BE-605144920596}" presName="accent_3" presStyleCnt="0"/>
      <dgm:spPr/>
    </dgm:pt>
    <dgm:pt modelId="{AA66A021-7549-4FCB-AE4D-4B546BB936CD}" type="pres">
      <dgm:prSet presAssocID="{9A65616D-E3DD-41E5-99BE-605144920596}" presName="accentRepeatNode" presStyleLbl="solidFgAcc1" presStyleIdx="2" presStyleCnt="4"/>
      <dgm:spPr>
        <a:blipFill dpi="0" rotWithShape="0">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2B5470FC-E1D3-437D-A66F-B24660D1DB5E}" type="pres">
      <dgm:prSet presAssocID="{B7337D2B-536A-4EE6-B7CE-84C53B52301D}" presName="text_4" presStyleLbl="node1" presStyleIdx="3" presStyleCnt="4">
        <dgm:presLayoutVars>
          <dgm:bulletEnabled val="1"/>
        </dgm:presLayoutVars>
      </dgm:prSet>
      <dgm:spPr/>
    </dgm:pt>
    <dgm:pt modelId="{20484678-A99D-4ED1-93DB-56062813EC2E}" type="pres">
      <dgm:prSet presAssocID="{B7337D2B-536A-4EE6-B7CE-84C53B52301D}" presName="accent_4" presStyleCnt="0"/>
      <dgm:spPr/>
    </dgm:pt>
    <dgm:pt modelId="{3445C45D-2AA7-4DBC-A20C-73321A134B77}" type="pres">
      <dgm:prSet presAssocID="{B7337D2B-536A-4EE6-B7CE-84C53B52301D}" presName="accentRepeatNode" presStyleLbl="solidFgAcc1" presStyleIdx="3" presStyleCnt="4"/>
      <dgm:spPr>
        <a:blipFill dpi="0" rotWithShape="0">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Lst>
  <dgm:cxnLst>
    <dgm:cxn modelId="{288FFE22-3DB2-435B-8E99-C384685ABCE3}" srcId="{5C5DE803-CAA9-4D5F-AEE5-F9AF215821D3}" destId="{C65F29AA-013A-4BC2-BE7C-71498B676318}" srcOrd="1" destOrd="0" parTransId="{DB3F4A5C-F70A-44C3-B32F-AB78CEAB21B7}" sibTransId="{30507C28-B4D6-4D36-9957-A956330DF920}"/>
    <dgm:cxn modelId="{59444C32-66B7-46EB-AB13-2956F0B780D8}" type="presOf" srcId="{9A65616D-E3DD-41E5-99BE-605144920596}" destId="{CD11EB12-0408-40BE-A5E0-D1CFC22DFC2E}" srcOrd="0" destOrd="0" presId="urn:microsoft.com/office/officeart/2008/layout/VerticalCurvedList"/>
    <dgm:cxn modelId="{6ACF774D-F406-4245-8F3C-19CC8A9A2173}" type="presOf" srcId="{C65F29AA-013A-4BC2-BE7C-71498B676318}" destId="{F5F98171-0BBC-44BA-A385-25C4F93E716D}" srcOrd="0" destOrd="0" presId="urn:microsoft.com/office/officeart/2008/layout/VerticalCurvedList"/>
    <dgm:cxn modelId="{FE80CC53-738E-4B62-9539-4B07E227CE19}" srcId="{5C5DE803-CAA9-4D5F-AEE5-F9AF215821D3}" destId="{9A65616D-E3DD-41E5-99BE-605144920596}" srcOrd="2" destOrd="0" parTransId="{4B020BB7-A13F-4E37-BED2-6CCAA4A2D58F}" sibTransId="{5E6E51CB-D032-49AD-941A-DA0D26EB5B39}"/>
    <dgm:cxn modelId="{B3080F7A-5576-4E40-98EE-01C9AA648E93}" type="presOf" srcId="{B7337D2B-536A-4EE6-B7CE-84C53B52301D}" destId="{2B5470FC-E1D3-437D-A66F-B24660D1DB5E}" srcOrd="0" destOrd="0" presId="urn:microsoft.com/office/officeart/2008/layout/VerticalCurvedList"/>
    <dgm:cxn modelId="{FC132387-288F-4493-B572-0A792E45BFCE}" type="presOf" srcId="{5C5DE803-CAA9-4D5F-AEE5-F9AF215821D3}" destId="{1E608E95-33A3-4F7B-8D0A-EAD16C077CBB}" srcOrd="0" destOrd="0" presId="urn:microsoft.com/office/officeart/2008/layout/VerticalCurvedList"/>
    <dgm:cxn modelId="{032543A3-5345-4B90-B288-2E58AA3ACFA6}" srcId="{5C5DE803-CAA9-4D5F-AEE5-F9AF215821D3}" destId="{6123DA5E-4CB5-4CD5-ACB7-992D49046590}" srcOrd="0" destOrd="0" parTransId="{6CE172C9-9B24-43F7-9C0B-4D632E4522C8}" sibTransId="{A597E6D3-74F3-4847-B5CE-BA23F7D2E699}"/>
    <dgm:cxn modelId="{F0FDE1B1-4A67-45D8-B043-924EF6F8653F}" srcId="{5C5DE803-CAA9-4D5F-AEE5-F9AF215821D3}" destId="{B7337D2B-536A-4EE6-B7CE-84C53B52301D}" srcOrd="3" destOrd="0" parTransId="{A60F3012-47AD-4476-AE0F-0CC50CFA37F8}" sibTransId="{2976B025-A9BA-4A82-8665-CDE503C5ECC6}"/>
    <dgm:cxn modelId="{F2A66EBE-DCB2-4AA1-8337-923791308915}" type="presOf" srcId="{6123DA5E-4CB5-4CD5-ACB7-992D49046590}" destId="{4A029A32-0911-4750-B9B4-49D271EFA4E0}" srcOrd="0" destOrd="0" presId="urn:microsoft.com/office/officeart/2008/layout/VerticalCurvedList"/>
    <dgm:cxn modelId="{0443FAFB-1879-4632-8EE1-4FDED9088899}" type="presOf" srcId="{A597E6D3-74F3-4847-B5CE-BA23F7D2E699}" destId="{69B0D5C1-FC08-4682-A068-87E58ADD3967}" srcOrd="0" destOrd="0" presId="urn:microsoft.com/office/officeart/2008/layout/VerticalCurvedList"/>
    <dgm:cxn modelId="{1F742EC7-AB8C-4040-B571-C6E7EB018A5B}" type="presParOf" srcId="{1E608E95-33A3-4F7B-8D0A-EAD16C077CBB}" destId="{C02CDC2A-B911-4EC1-AEE9-7B2CCF3A733A}" srcOrd="0" destOrd="0" presId="urn:microsoft.com/office/officeart/2008/layout/VerticalCurvedList"/>
    <dgm:cxn modelId="{5DC1C32A-3058-4B2F-9380-5D49C8F83B5F}" type="presParOf" srcId="{C02CDC2A-B911-4EC1-AEE9-7B2CCF3A733A}" destId="{EFA93ACA-B74D-4531-B043-94FBF4B7F1B6}" srcOrd="0" destOrd="0" presId="urn:microsoft.com/office/officeart/2008/layout/VerticalCurvedList"/>
    <dgm:cxn modelId="{C0595C36-C164-4688-94C4-32E140B8711D}" type="presParOf" srcId="{EFA93ACA-B74D-4531-B043-94FBF4B7F1B6}" destId="{5ED3F379-7863-4C21-B064-971B73F272EC}" srcOrd="0" destOrd="0" presId="urn:microsoft.com/office/officeart/2008/layout/VerticalCurvedList"/>
    <dgm:cxn modelId="{E45E8CCA-F630-48E0-AF78-58AE45E7E317}" type="presParOf" srcId="{EFA93ACA-B74D-4531-B043-94FBF4B7F1B6}" destId="{69B0D5C1-FC08-4682-A068-87E58ADD3967}" srcOrd="1" destOrd="0" presId="urn:microsoft.com/office/officeart/2008/layout/VerticalCurvedList"/>
    <dgm:cxn modelId="{B1DF779C-8143-4B31-AC06-726AB15CE215}" type="presParOf" srcId="{EFA93ACA-B74D-4531-B043-94FBF4B7F1B6}" destId="{90453F25-A84C-4968-A8FB-6E5ACC8D68BD}" srcOrd="2" destOrd="0" presId="urn:microsoft.com/office/officeart/2008/layout/VerticalCurvedList"/>
    <dgm:cxn modelId="{0A6D522B-3433-439E-ADEF-69F548437F8C}" type="presParOf" srcId="{EFA93ACA-B74D-4531-B043-94FBF4B7F1B6}" destId="{AD1E8A44-308F-451C-B4E7-59FF88CB7A46}" srcOrd="3" destOrd="0" presId="urn:microsoft.com/office/officeart/2008/layout/VerticalCurvedList"/>
    <dgm:cxn modelId="{52D64DE7-F297-484A-A52F-1A5784D21497}" type="presParOf" srcId="{C02CDC2A-B911-4EC1-AEE9-7B2CCF3A733A}" destId="{4A029A32-0911-4750-B9B4-49D271EFA4E0}" srcOrd="1" destOrd="0" presId="urn:microsoft.com/office/officeart/2008/layout/VerticalCurvedList"/>
    <dgm:cxn modelId="{5D7A792C-71AA-4690-A242-0C6D13C7BEBC}" type="presParOf" srcId="{C02CDC2A-B911-4EC1-AEE9-7B2CCF3A733A}" destId="{5B578E24-2ACC-475C-96B0-8C0203EE80B1}" srcOrd="2" destOrd="0" presId="urn:microsoft.com/office/officeart/2008/layout/VerticalCurvedList"/>
    <dgm:cxn modelId="{AEECE7AA-1212-4474-83DC-DC34DC6F32F2}" type="presParOf" srcId="{5B578E24-2ACC-475C-96B0-8C0203EE80B1}" destId="{C2D66341-6C1E-4BCC-8C84-A646950EFF77}" srcOrd="0" destOrd="0" presId="urn:microsoft.com/office/officeart/2008/layout/VerticalCurvedList"/>
    <dgm:cxn modelId="{3A163285-ED1E-4CC1-BA1D-B1E52F3C4B96}" type="presParOf" srcId="{C02CDC2A-B911-4EC1-AEE9-7B2CCF3A733A}" destId="{F5F98171-0BBC-44BA-A385-25C4F93E716D}" srcOrd="3" destOrd="0" presId="urn:microsoft.com/office/officeart/2008/layout/VerticalCurvedList"/>
    <dgm:cxn modelId="{D3DF5174-11AB-4B29-80FE-7E446204ECC1}" type="presParOf" srcId="{C02CDC2A-B911-4EC1-AEE9-7B2CCF3A733A}" destId="{E4EA13F8-30A9-4839-8224-F3FF5CDAB0E7}" srcOrd="4" destOrd="0" presId="urn:microsoft.com/office/officeart/2008/layout/VerticalCurvedList"/>
    <dgm:cxn modelId="{F13E9A65-7B37-4915-82A9-50A56A4466D5}" type="presParOf" srcId="{E4EA13F8-30A9-4839-8224-F3FF5CDAB0E7}" destId="{6BA4FFC2-2FE1-4DE8-AFAD-430C985B0E85}" srcOrd="0" destOrd="0" presId="urn:microsoft.com/office/officeart/2008/layout/VerticalCurvedList"/>
    <dgm:cxn modelId="{5CE7359A-853B-4FF2-A1A4-B82DEECA542A}" type="presParOf" srcId="{C02CDC2A-B911-4EC1-AEE9-7B2CCF3A733A}" destId="{CD11EB12-0408-40BE-A5E0-D1CFC22DFC2E}" srcOrd="5" destOrd="0" presId="urn:microsoft.com/office/officeart/2008/layout/VerticalCurvedList"/>
    <dgm:cxn modelId="{F19BE40A-DFE4-443F-868E-E2244E89FCAE}" type="presParOf" srcId="{C02CDC2A-B911-4EC1-AEE9-7B2CCF3A733A}" destId="{99B5A6F6-D82D-4782-AAA5-78FBF2EE0209}" srcOrd="6" destOrd="0" presId="urn:microsoft.com/office/officeart/2008/layout/VerticalCurvedList"/>
    <dgm:cxn modelId="{E3D83F82-D637-4E2C-8E38-ADF72F6AE401}" type="presParOf" srcId="{99B5A6F6-D82D-4782-AAA5-78FBF2EE0209}" destId="{AA66A021-7549-4FCB-AE4D-4B546BB936CD}" srcOrd="0" destOrd="0" presId="urn:microsoft.com/office/officeart/2008/layout/VerticalCurvedList"/>
    <dgm:cxn modelId="{20EBA661-4AEB-416D-99AA-0EF6C4D82B56}" type="presParOf" srcId="{C02CDC2A-B911-4EC1-AEE9-7B2CCF3A733A}" destId="{2B5470FC-E1D3-437D-A66F-B24660D1DB5E}" srcOrd="7" destOrd="0" presId="urn:microsoft.com/office/officeart/2008/layout/VerticalCurvedList"/>
    <dgm:cxn modelId="{78960E1D-B8C3-4D43-A983-59483B584228}" type="presParOf" srcId="{C02CDC2A-B911-4EC1-AEE9-7B2CCF3A733A}" destId="{20484678-A99D-4ED1-93DB-56062813EC2E}" srcOrd="8" destOrd="0" presId="urn:microsoft.com/office/officeart/2008/layout/VerticalCurvedList"/>
    <dgm:cxn modelId="{CD17E837-69DC-4F7E-968F-B68645EF8156}" type="presParOf" srcId="{20484678-A99D-4ED1-93DB-56062813EC2E}" destId="{3445C45D-2AA7-4DBC-A20C-73321A134B77}"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19A35B-6F76-4F5B-9866-62BEE8E1B43C}" type="doc">
      <dgm:prSet loTypeId="urn:microsoft.com/office/officeart/2005/8/layout/hList1" loCatId="list" qsTypeId="urn:microsoft.com/office/officeart/2005/8/quickstyle/simple1" qsCatId="simple" csTypeId="urn:microsoft.com/office/officeart/2005/8/colors/colorful1#10" csCatId="colorful" phldr="1"/>
      <dgm:spPr/>
      <dgm:t>
        <a:bodyPr/>
        <a:lstStyle/>
        <a:p>
          <a:endParaRPr lang="zh-CN" altLang="en-US"/>
        </a:p>
      </dgm:t>
    </dgm:pt>
    <dgm:pt modelId="{4A5FAA12-B526-40D6-A585-8F25D8E3B5CF}">
      <dgm:prSet phldrT="[文本]" custT="1"/>
      <dgm:spPr/>
      <dgm:t>
        <a:bodyPr/>
        <a:lstStyle/>
        <a:p>
          <a:pPr>
            <a:lnSpc>
              <a:spcPts val="2200"/>
            </a:lnSpc>
            <a:spcBef>
              <a:spcPts val="0"/>
            </a:spcBef>
            <a:spcAft>
              <a:spcPts val="0"/>
            </a:spcAft>
          </a:pPr>
          <a:r>
            <a:rPr lang="en-US" altLang="zh-CN" sz="1800" b="1" dirty="0">
              <a:latin typeface="微软雅黑" panose="020B0503020204020204" pitchFamily="34" charset="-122"/>
              <a:ea typeface="微软雅黑" panose="020B0503020204020204" pitchFamily="34" charset="-122"/>
            </a:rPr>
            <a:t>SDN</a:t>
          </a:r>
          <a:endParaRPr lang="zh-CN" altLang="en-US" sz="1800" b="1" dirty="0">
            <a:latin typeface="微软雅黑" panose="020B0503020204020204" pitchFamily="34" charset="-122"/>
            <a:ea typeface="微软雅黑" panose="020B0503020204020204" pitchFamily="34" charset="-122"/>
          </a:endParaRPr>
        </a:p>
      </dgm:t>
    </dgm:pt>
    <dgm:pt modelId="{BA4ABDAD-0A84-478F-BEF5-D89876B2358C}" type="parTrans" cxnId="{48ED03E9-295B-4B0B-AAEF-E2CD78821D49}">
      <dgm:prSet/>
      <dgm:spPr/>
      <dgm:t>
        <a:bodyPr/>
        <a:lstStyle/>
        <a:p>
          <a:pPr>
            <a:lnSpc>
              <a:spcPts val="22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A0348CB2-E5AF-4DF4-82BC-60A5461B27CB}" type="sibTrans" cxnId="{48ED03E9-295B-4B0B-AAEF-E2CD78821D49}">
      <dgm:prSet/>
      <dgm:spPr/>
      <dgm:t>
        <a:bodyPr/>
        <a:lstStyle/>
        <a:p>
          <a:pPr>
            <a:lnSpc>
              <a:spcPts val="22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C9BCE8A9-D041-4DBC-8845-482A3A7A396F}">
      <dgm:prSet phldrT="[文本]" custT="1"/>
      <dgm:spPr/>
      <dgm:t>
        <a:bodyPr/>
        <a:lstStyle/>
        <a:p>
          <a:pPr>
            <a:lnSpc>
              <a:spcPts val="3000"/>
            </a:lnSpc>
            <a:spcBef>
              <a:spcPts val="0"/>
            </a:spcBef>
            <a:spcAft>
              <a:spcPts val="0"/>
            </a:spcAft>
          </a:pPr>
          <a:r>
            <a:rPr lang="zh-CN" altLang="en-US" sz="1800" b="1" dirty="0">
              <a:solidFill>
                <a:srgbClr val="0000CC"/>
              </a:solidFill>
              <a:latin typeface="微软雅黑" panose="020B0503020204020204" pitchFamily="34" charset="-122"/>
              <a:ea typeface="微软雅黑" panose="020B0503020204020204" pitchFamily="34" charset="-122"/>
            </a:rPr>
            <a:t>传统网络</a:t>
          </a:r>
        </a:p>
      </dgm:t>
    </dgm:pt>
    <dgm:pt modelId="{75079E22-3A7E-434C-9C6F-14CEDBD0380B}" type="parTrans" cxnId="{294E84FE-1056-409C-8AD4-E0DD366816F1}">
      <dgm:prSet/>
      <dgm:spPr/>
      <dgm:t>
        <a:bodyPr/>
        <a:lstStyle/>
        <a:p>
          <a:pPr>
            <a:lnSpc>
              <a:spcPts val="22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B0BC9EB0-9E94-476B-A8E0-C9226E36D271}" type="sibTrans" cxnId="{294E84FE-1056-409C-8AD4-E0DD366816F1}">
      <dgm:prSet/>
      <dgm:spPr/>
      <dgm:t>
        <a:bodyPr/>
        <a:lstStyle/>
        <a:p>
          <a:pPr>
            <a:lnSpc>
              <a:spcPts val="22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25DC11C9-1070-46F3-B350-64BDA7654B0D}">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功能分散。交换机、</a:t>
          </a:r>
          <a:r>
            <a:rPr lang="en-US" altLang="en-US" sz="1800" b="1" dirty="0">
              <a:latin typeface="微软雅黑" panose="020B0503020204020204" pitchFamily="34" charset="-122"/>
              <a:ea typeface="微软雅黑" panose="020B0503020204020204" pitchFamily="34" charset="-122"/>
            </a:rPr>
            <a:t>SDN </a:t>
          </a:r>
          <a:r>
            <a:rPr lang="zh-CN" altLang="en-US" sz="1800" b="1" dirty="0">
              <a:latin typeface="微软雅黑" panose="020B0503020204020204" pitchFamily="34" charset="-122"/>
              <a:ea typeface="微软雅黑" panose="020B0503020204020204" pitchFamily="34" charset="-122"/>
            </a:rPr>
            <a:t>控制器、网络控制应用程序都是可以分开的实体。</a:t>
          </a:r>
        </a:p>
      </dgm:t>
    </dgm:pt>
    <dgm:pt modelId="{7C5E2CCC-FBB6-425F-A045-D5C8158DA352}" type="parTrans" cxnId="{6FED0BF3-2FB3-4A16-AC44-6DAA0B4E657B}">
      <dgm:prSet/>
      <dgm:spPr/>
      <dgm:t>
        <a:bodyPr/>
        <a:lstStyle/>
        <a:p>
          <a:pPr>
            <a:lnSpc>
              <a:spcPts val="22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2612D70B-DEDE-49B9-BD1E-9FFB595FDC9C}" type="sibTrans" cxnId="{6FED0BF3-2FB3-4A16-AC44-6DAA0B4E657B}">
      <dgm:prSet/>
      <dgm:spPr/>
      <dgm:t>
        <a:bodyPr/>
        <a:lstStyle/>
        <a:p>
          <a:pPr>
            <a:lnSpc>
              <a:spcPts val="22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8EECE90E-A4C1-468D-A54F-862B71E4AE7A}">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控制层面、数据层面、协议的实现都垂直集成在一个机器里。</a:t>
          </a:r>
        </a:p>
      </dgm:t>
    </dgm:pt>
    <dgm:pt modelId="{8420BA46-EAF0-453F-80DA-728C83A553A1}" type="parTrans" cxnId="{F368FFDA-F651-4BAF-9C1C-C2BDACD705E3}">
      <dgm:prSet/>
      <dgm:spPr/>
      <dgm:t>
        <a:bodyPr/>
        <a:lstStyle/>
        <a:p>
          <a:pPr>
            <a:lnSpc>
              <a:spcPts val="22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2422BFC9-7AEE-4057-8A48-6FA836731397}" type="sibTrans" cxnId="{F368FFDA-F651-4BAF-9C1C-C2BDACD705E3}">
      <dgm:prSet/>
      <dgm:spPr/>
      <dgm:t>
        <a:bodyPr/>
        <a:lstStyle/>
        <a:p>
          <a:pPr>
            <a:lnSpc>
              <a:spcPts val="22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677AFE12-F6B5-41EE-82A2-0A5381CBB9FC}">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由单独的厂商提供。</a:t>
          </a:r>
        </a:p>
      </dgm:t>
    </dgm:pt>
    <dgm:pt modelId="{54FC2272-A771-46A9-B03B-FD4BB75D0955}" type="parTrans" cxnId="{F2270C93-4F27-4E3F-A0E2-D2F288985849}">
      <dgm:prSet/>
      <dgm:spPr/>
      <dgm:t>
        <a:bodyPr/>
        <a:lstStyle/>
        <a:p>
          <a:pPr>
            <a:lnSpc>
              <a:spcPts val="2200"/>
            </a:lnSpc>
            <a:spcBef>
              <a:spcPts val="0"/>
            </a:spcBef>
            <a:spcAft>
              <a:spcPts val="0"/>
            </a:spcAft>
          </a:pPr>
          <a:endParaRPr lang="zh-CN" altLang="en-US"/>
        </a:p>
      </dgm:t>
    </dgm:pt>
    <dgm:pt modelId="{6A251A62-7170-4B78-8FCC-1920BEA35D59}" type="sibTrans" cxnId="{F2270C93-4F27-4E3F-A0E2-D2F288985849}">
      <dgm:prSet/>
      <dgm:spPr/>
      <dgm:t>
        <a:bodyPr/>
        <a:lstStyle/>
        <a:p>
          <a:pPr>
            <a:lnSpc>
              <a:spcPts val="2200"/>
            </a:lnSpc>
            <a:spcBef>
              <a:spcPts val="0"/>
            </a:spcBef>
            <a:spcAft>
              <a:spcPts val="0"/>
            </a:spcAft>
          </a:pPr>
          <a:endParaRPr lang="zh-CN" altLang="en-US"/>
        </a:p>
      </dgm:t>
    </dgm:pt>
    <dgm:pt modelId="{12F350A1-BAB6-49E7-A675-F34567C93BB3}">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可以由不同的厂商和机构来提供。</a:t>
          </a:r>
        </a:p>
      </dgm:t>
    </dgm:pt>
    <dgm:pt modelId="{A7B5A7E3-3C11-449F-8CAA-FEAA6559AD5C}" type="parTrans" cxnId="{0822A5D8-2704-4CC0-B9A8-A9B7BC1EF476}">
      <dgm:prSet/>
      <dgm:spPr/>
      <dgm:t>
        <a:bodyPr/>
        <a:lstStyle/>
        <a:p>
          <a:endParaRPr lang="zh-CN" altLang="en-US"/>
        </a:p>
      </dgm:t>
    </dgm:pt>
    <dgm:pt modelId="{2A814F3F-3BA8-42F7-8CA4-83FA04B7958B}" type="sibTrans" cxnId="{0822A5D8-2704-4CC0-B9A8-A9B7BC1EF476}">
      <dgm:prSet/>
      <dgm:spPr/>
      <dgm:t>
        <a:bodyPr/>
        <a:lstStyle/>
        <a:p>
          <a:endParaRPr lang="zh-CN" altLang="en-US"/>
        </a:p>
      </dgm:t>
    </dgm:pt>
    <dgm:pt modelId="{30969CD7-3CFD-4F4F-B564-8B7800529F16}" type="pres">
      <dgm:prSet presAssocID="{E619A35B-6F76-4F5B-9866-62BEE8E1B43C}" presName="Name0" presStyleCnt="0">
        <dgm:presLayoutVars>
          <dgm:dir/>
          <dgm:animLvl val="lvl"/>
          <dgm:resizeHandles val="exact"/>
        </dgm:presLayoutVars>
      </dgm:prSet>
      <dgm:spPr/>
    </dgm:pt>
    <dgm:pt modelId="{4B8CD339-4E78-4F6E-A0BF-974C4D6D4379}" type="pres">
      <dgm:prSet presAssocID="{4A5FAA12-B526-40D6-A585-8F25D8E3B5CF}" presName="composite" presStyleCnt="0"/>
      <dgm:spPr/>
    </dgm:pt>
    <dgm:pt modelId="{3519B39F-12B2-486D-92CD-79CCEF8A02D7}" type="pres">
      <dgm:prSet presAssocID="{4A5FAA12-B526-40D6-A585-8F25D8E3B5CF}" presName="parTx" presStyleLbl="alignNode1" presStyleIdx="0" presStyleCnt="2">
        <dgm:presLayoutVars>
          <dgm:chMax val="0"/>
          <dgm:chPref val="0"/>
          <dgm:bulletEnabled val="1"/>
        </dgm:presLayoutVars>
      </dgm:prSet>
      <dgm:spPr/>
    </dgm:pt>
    <dgm:pt modelId="{B896A519-3F35-4F76-BF45-313B4F09EBD3}" type="pres">
      <dgm:prSet presAssocID="{4A5FAA12-B526-40D6-A585-8F25D8E3B5CF}" presName="desTx" presStyleLbl="alignAccFollowNode1" presStyleIdx="0" presStyleCnt="2">
        <dgm:presLayoutVars>
          <dgm:bulletEnabled val="1"/>
        </dgm:presLayoutVars>
      </dgm:prSet>
      <dgm:spPr/>
    </dgm:pt>
    <dgm:pt modelId="{8B47AD68-727B-44C0-988D-4CD4C0258498}" type="pres">
      <dgm:prSet presAssocID="{A0348CB2-E5AF-4DF4-82BC-60A5461B27CB}" presName="space" presStyleCnt="0"/>
      <dgm:spPr/>
    </dgm:pt>
    <dgm:pt modelId="{336363FB-3CEF-426F-BE0A-60B5B48CDB7D}" type="pres">
      <dgm:prSet presAssocID="{C9BCE8A9-D041-4DBC-8845-482A3A7A396F}" presName="composite" presStyleCnt="0"/>
      <dgm:spPr/>
    </dgm:pt>
    <dgm:pt modelId="{2B37959A-E5FF-440C-9E9A-2AB5F0A6CAC6}" type="pres">
      <dgm:prSet presAssocID="{C9BCE8A9-D041-4DBC-8845-482A3A7A396F}" presName="parTx" presStyleLbl="alignNode1" presStyleIdx="1" presStyleCnt="2">
        <dgm:presLayoutVars>
          <dgm:chMax val="0"/>
          <dgm:chPref val="0"/>
          <dgm:bulletEnabled val="1"/>
        </dgm:presLayoutVars>
      </dgm:prSet>
      <dgm:spPr/>
    </dgm:pt>
    <dgm:pt modelId="{BB2710DA-629D-4E22-B2D2-AE96858090DD}" type="pres">
      <dgm:prSet presAssocID="{C9BCE8A9-D041-4DBC-8845-482A3A7A396F}" presName="desTx" presStyleLbl="alignAccFollowNode1" presStyleIdx="1" presStyleCnt="2">
        <dgm:presLayoutVars>
          <dgm:bulletEnabled val="1"/>
        </dgm:presLayoutVars>
      </dgm:prSet>
      <dgm:spPr/>
    </dgm:pt>
  </dgm:ptLst>
  <dgm:cxnLst>
    <dgm:cxn modelId="{09C48031-F32A-41AA-945B-53E3EA558246}" type="presOf" srcId="{12F350A1-BAB6-49E7-A675-F34567C93BB3}" destId="{B896A519-3F35-4F76-BF45-313B4F09EBD3}" srcOrd="0" destOrd="1" presId="urn:microsoft.com/office/officeart/2005/8/layout/hList1"/>
    <dgm:cxn modelId="{7862F34B-5480-4452-92E7-545087459F78}" type="presOf" srcId="{C9BCE8A9-D041-4DBC-8845-482A3A7A396F}" destId="{2B37959A-E5FF-440C-9E9A-2AB5F0A6CAC6}" srcOrd="0" destOrd="0" presId="urn:microsoft.com/office/officeart/2005/8/layout/hList1"/>
    <dgm:cxn modelId="{225E8865-646D-48FC-9B4C-841B6A568C22}" type="presOf" srcId="{E619A35B-6F76-4F5B-9866-62BEE8E1B43C}" destId="{30969CD7-3CFD-4F4F-B564-8B7800529F16}" srcOrd="0" destOrd="0" presId="urn:microsoft.com/office/officeart/2005/8/layout/hList1"/>
    <dgm:cxn modelId="{45EC468C-A451-486B-BF68-B6D0C92F0FC7}" type="presOf" srcId="{677AFE12-F6B5-41EE-82A2-0A5381CBB9FC}" destId="{BB2710DA-629D-4E22-B2D2-AE96858090DD}" srcOrd="0" destOrd="1" presId="urn:microsoft.com/office/officeart/2005/8/layout/hList1"/>
    <dgm:cxn modelId="{F2270C93-4F27-4E3F-A0E2-D2F288985849}" srcId="{C9BCE8A9-D041-4DBC-8845-482A3A7A396F}" destId="{677AFE12-F6B5-41EE-82A2-0A5381CBB9FC}" srcOrd="1" destOrd="0" parTransId="{54FC2272-A771-46A9-B03B-FD4BB75D0955}" sibTransId="{6A251A62-7170-4B78-8FCC-1920BEA35D59}"/>
    <dgm:cxn modelId="{7107CEBF-8819-45DA-BDD1-EBF80C60B67E}" type="presOf" srcId="{25DC11C9-1070-46F3-B350-64BDA7654B0D}" destId="{B896A519-3F35-4F76-BF45-313B4F09EBD3}" srcOrd="0" destOrd="0" presId="urn:microsoft.com/office/officeart/2005/8/layout/hList1"/>
    <dgm:cxn modelId="{0822A5D8-2704-4CC0-B9A8-A9B7BC1EF476}" srcId="{4A5FAA12-B526-40D6-A585-8F25D8E3B5CF}" destId="{12F350A1-BAB6-49E7-A675-F34567C93BB3}" srcOrd="1" destOrd="0" parTransId="{A7B5A7E3-3C11-449F-8CAA-FEAA6559AD5C}" sibTransId="{2A814F3F-3BA8-42F7-8CA4-83FA04B7958B}"/>
    <dgm:cxn modelId="{F368FFDA-F651-4BAF-9C1C-C2BDACD705E3}" srcId="{C9BCE8A9-D041-4DBC-8845-482A3A7A396F}" destId="{8EECE90E-A4C1-468D-A54F-862B71E4AE7A}" srcOrd="0" destOrd="0" parTransId="{8420BA46-EAF0-453F-80DA-728C83A553A1}" sibTransId="{2422BFC9-7AEE-4057-8A48-6FA836731397}"/>
    <dgm:cxn modelId="{B85657DE-96B6-41D9-B582-9304609C78D8}" type="presOf" srcId="{8EECE90E-A4C1-468D-A54F-862B71E4AE7A}" destId="{BB2710DA-629D-4E22-B2D2-AE96858090DD}" srcOrd="0" destOrd="0" presId="urn:microsoft.com/office/officeart/2005/8/layout/hList1"/>
    <dgm:cxn modelId="{AFAF82E4-9537-4799-97DF-952BDFCFEEAE}" type="presOf" srcId="{4A5FAA12-B526-40D6-A585-8F25D8E3B5CF}" destId="{3519B39F-12B2-486D-92CD-79CCEF8A02D7}" srcOrd="0" destOrd="0" presId="urn:microsoft.com/office/officeart/2005/8/layout/hList1"/>
    <dgm:cxn modelId="{48ED03E9-295B-4B0B-AAEF-E2CD78821D49}" srcId="{E619A35B-6F76-4F5B-9866-62BEE8E1B43C}" destId="{4A5FAA12-B526-40D6-A585-8F25D8E3B5CF}" srcOrd="0" destOrd="0" parTransId="{BA4ABDAD-0A84-478F-BEF5-D89876B2358C}" sibTransId="{A0348CB2-E5AF-4DF4-82BC-60A5461B27CB}"/>
    <dgm:cxn modelId="{6FED0BF3-2FB3-4A16-AC44-6DAA0B4E657B}" srcId="{4A5FAA12-B526-40D6-A585-8F25D8E3B5CF}" destId="{25DC11C9-1070-46F3-B350-64BDA7654B0D}" srcOrd="0" destOrd="0" parTransId="{7C5E2CCC-FBB6-425F-A045-D5C8158DA352}" sibTransId="{2612D70B-DEDE-49B9-BD1E-9FFB595FDC9C}"/>
    <dgm:cxn modelId="{294E84FE-1056-409C-8AD4-E0DD366816F1}" srcId="{E619A35B-6F76-4F5B-9866-62BEE8E1B43C}" destId="{C9BCE8A9-D041-4DBC-8845-482A3A7A396F}" srcOrd="1" destOrd="0" parTransId="{75079E22-3A7E-434C-9C6F-14CEDBD0380B}" sibTransId="{B0BC9EB0-9E94-476B-A8E0-C9226E36D271}"/>
    <dgm:cxn modelId="{1954D097-64AE-4427-AA43-71B2A982D57C}" type="presParOf" srcId="{30969CD7-3CFD-4F4F-B564-8B7800529F16}" destId="{4B8CD339-4E78-4F6E-A0BF-974C4D6D4379}" srcOrd="0" destOrd="0" presId="urn:microsoft.com/office/officeart/2005/8/layout/hList1"/>
    <dgm:cxn modelId="{CE01587A-847F-4F7B-A956-ABDC8396BFDE}" type="presParOf" srcId="{4B8CD339-4E78-4F6E-A0BF-974C4D6D4379}" destId="{3519B39F-12B2-486D-92CD-79CCEF8A02D7}" srcOrd="0" destOrd="0" presId="urn:microsoft.com/office/officeart/2005/8/layout/hList1"/>
    <dgm:cxn modelId="{DC9BF2D9-0C57-47D6-9255-63326D8A169D}" type="presParOf" srcId="{4B8CD339-4E78-4F6E-A0BF-974C4D6D4379}" destId="{B896A519-3F35-4F76-BF45-313B4F09EBD3}" srcOrd="1" destOrd="0" presId="urn:microsoft.com/office/officeart/2005/8/layout/hList1"/>
    <dgm:cxn modelId="{42A04382-E7DA-4171-9384-D7A7E80DFC8B}" type="presParOf" srcId="{30969CD7-3CFD-4F4F-B564-8B7800529F16}" destId="{8B47AD68-727B-44C0-988D-4CD4C0258498}" srcOrd="1" destOrd="0" presId="urn:microsoft.com/office/officeart/2005/8/layout/hList1"/>
    <dgm:cxn modelId="{03F4CD9A-D774-41E6-A65D-490AC687C0B6}" type="presParOf" srcId="{30969CD7-3CFD-4F4F-B564-8B7800529F16}" destId="{336363FB-3CEF-426F-BE0A-60B5B48CDB7D}" srcOrd="2" destOrd="0" presId="urn:microsoft.com/office/officeart/2005/8/layout/hList1"/>
    <dgm:cxn modelId="{24A251D5-9055-437E-A1F4-6113C4FAC564}" type="presParOf" srcId="{336363FB-3CEF-426F-BE0A-60B5B48CDB7D}" destId="{2B37959A-E5FF-440C-9E9A-2AB5F0A6CAC6}" srcOrd="0" destOrd="0" presId="urn:microsoft.com/office/officeart/2005/8/layout/hList1"/>
    <dgm:cxn modelId="{64854043-3AEF-4930-ABFB-C13EE168AA45}" type="presParOf" srcId="{336363FB-3CEF-426F-BE0A-60B5B48CDB7D}" destId="{BB2710DA-629D-4E22-B2D2-AE96858090D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A3D657-23B2-4553-AB55-365AF4AD92FC}">
      <dsp:nvSpPr>
        <dsp:cNvPr id="0" name=""/>
        <dsp:cNvSpPr/>
      </dsp:nvSpPr>
      <dsp:spPr>
        <a:xfrm>
          <a:off x="0" y="244479"/>
          <a:ext cx="5105643" cy="15120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6255" tIns="312420" rIns="396255" bIns="99568" numCol="1" spcCol="1270" anchor="t" anchorCtr="0">
          <a:noAutofit/>
        </a:bodyPr>
        <a:lstStyle/>
        <a:p>
          <a:pPr marL="114300" lvl="1" indent="-114300" algn="l" defTabSz="622300">
            <a:lnSpc>
              <a:spcPct val="900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是一个</a:t>
          </a:r>
          <a:r>
            <a:rPr lang="zh-CN" altLang="en-US" sz="1400" b="1" kern="1200" dirty="0">
              <a:solidFill>
                <a:srgbClr val="C00000"/>
              </a:solidFill>
              <a:latin typeface="微软雅黑" panose="020B0503020204020204" pitchFamily="34" charset="-122"/>
              <a:ea typeface="微软雅黑" panose="020B0503020204020204" pitchFamily="34" charset="-122"/>
            </a:rPr>
            <a:t>体系结构，</a:t>
          </a:r>
          <a:r>
            <a:rPr lang="zh-CN" altLang="en-US" sz="1400" b="1" kern="1200" dirty="0">
              <a:latin typeface="微软雅黑" panose="020B0503020204020204" pitchFamily="34" charset="-122"/>
              <a:ea typeface="微软雅黑" panose="020B0503020204020204" pitchFamily="34" charset="-122"/>
            </a:rPr>
            <a:t>是一种设计、构建和管理网络的新方法或新概念。</a:t>
          </a:r>
        </a:p>
        <a:p>
          <a:pPr marL="114300" lvl="1" indent="-114300" algn="l" defTabSz="622300">
            <a:lnSpc>
              <a:spcPct val="90000"/>
            </a:lnSpc>
            <a:spcBef>
              <a:spcPct val="0"/>
            </a:spcBef>
            <a:spcAft>
              <a:spcPts val="0"/>
            </a:spcAft>
            <a:buChar char="•"/>
          </a:pPr>
          <a:r>
            <a:rPr lang="zh-CN" altLang="en-US" sz="1400" b="1" kern="1200" dirty="0">
              <a:solidFill>
                <a:schemeClr val="tx1"/>
              </a:solidFill>
              <a:latin typeface="微软雅黑" panose="020B0503020204020204" pitchFamily="34" charset="-122"/>
              <a:ea typeface="微软雅黑" panose="020B0503020204020204" pitchFamily="34" charset="-122"/>
            </a:rPr>
            <a:t>把</a:t>
          </a:r>
          <a:r>
            <a:rPr lang="zh-CN" altLang="en-US" sz="1400" b="1" kern="1200" dirty="0">
              <a:solidFill>
                <a:srgbClr val="0000FF"/>
              </a:solidFill>
              <a:latin typeface="微软雅黑" panose="020B0503020204020204" pitchFamily="34" charset="-122"/>
              <a:ea typeface="微软雅黑" panose="020B0503020204020204" pitchFamily="34" charset="-122"/>
            </a:rPr>
            <a:t>控制层面</a:t>
          </a:r>
          <a:r>
            <a:rPr lang="zh-CN" altLang="en-US" sz="1400" b="1" kern="1200" dirty="0">
              <a:solidFill>
                <a:schemeClr val="tx1"/>
              </a:solidFill>
              <a:latin typeface="微软雅黑" panose="020B0503020204020204" pitchFamily="34" charset="-122"/>
              <a:ea typeface="微软雅黑" panose="020B0503020204020204" pitchFamily="34" charset="-122"/>
            </a:rPr>
            <a:t>和</a:t>
          </a:r>
          <a:r>
            <a:rPr lang="zh-CN" altLang="en-US" sz="1400" b="1" kern="1200" dirty="0">
              <a:solidFill>
                <a:srgbClr val="0000FF"/>
              </a:solidFill>
              <a:latin typeface="微软雅黑" panose="020B0503020204020204" pitchFamily="34" charset="-122"/>
              <a:ea typeface="微软雅黑" panose="020B0503020204020204" pitchFamily="34" charset="-122"/>
            </a:rPr>
            <a:t>数据层面</a:t>
          </a:r>
          <a:r>
            <a:rPr lang="zh-CN" altLang="en-US" sz="1400" b="1" kern="1200" dirty="0">
              <a:solidFill>
                <a:srgbClr val="C00000"/>
              </a:solidFill>
              <a:latin typeface="微软雅黑" panose="020B0503020204020204" pitchFamily="34" charset="-122"/>
              <a:ea typeface="微软雅黑" panose="020B0503020204020204" pitchFamily="34" charset="-122"/>
            </a:rPr>
            <a:t>分离，</a:t>
          </a:r>
          <a:r>
            <a:rPr lang="zh-CN" altLang="en-US" sz="1400" b="1" kern="1200" dirty="0">
              <a:latin typeface="微软雅黑" panose="020B0503020204020204" pitchFamily="34" charset="-122"/>
              <a:ea typeface="微软雅黑" panose="020B0503020204020204" pitchFamily="34" charset="-122"/>
            </a:rPr>
            <a:t>而让控制层面</a:t>
          </a:r>
          <a:r>
            <a:rPr lang="zh-CN" altLang="en-US" sz="1400" b="1" kern="1200" dirty="0">
              <a:solidFill>
                <a:srgbClr val="C00000"/>
              </a:solidFill>
              <a:latin typeface="微软雅黑" panose="020B0503020204020204" pitchFamily="34" charset="-122"/>
              <a:ea typeface="微软雅黑" panose="020B0503020204020204" pitchFamily="34" charset="-122"/>
            </a:rPr>
            <a:t>利用软件</a:t>
          </a:r>
          <a:r>
            <a:rPr lang="zh-CN" altLang="en-US" sz="1400" b="1" kern="1200" dirty="0">
              <a:solidFill>
                <a:srgbClr val="0000FF"/>
              </a:solidFill>
              <a:latin typeface="微软雅黑" panose="020B0503020204020204" pitchFamily="34" charset="-122"/>
              <a:ea typeface="微软雅黑" panose="020B0503020204020204" pitchFamily="34" charset="-122"/>
            </a:rPr>
            <a:t>控制</a:t>
          </a:r>
          <a:r>
            <a:rPr lang="zh-CN" altLang="en-US" sz="1400" b="1" kern="1200" dirty="0">
              <a:latin typeface="微软雅黑" panose="020B0503020204020204" pitchFamily="34" charset="-122"/>
              <a:ea typeface="微软雅黑" panose="020B0503020204020204" pitchFamily="34" charset="-122"/>
            </a:rPr>
            <a:t>数据层面中的许多设备。</a:t>
          </a:r>
        </a:p>
      </dsp:txBody>
      <dsp:txXfrm>
        <a:off x="0" y="244479"/>
        <a:ext cx="5105643" cy="1512000"/>
      </dsp:txXfrm>
    </dsp:sp>
    <dsp:sp modelId="{08B5982C-5C29-4138-B12D-B1193F279CC1}">
      <dsp:nvSpPr>
        <dsp:cNvPr id="0" name=""/>
        <dsp:cNvSpPr/>
      </dsp:nvSpPr>
      <dsp:spPr>
        <a:xfrm>
          <a:off x="255282" y="23079"/>
          <a:ext cx="3573950" cy="4428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087" tIns="0" rIns="135087" bIns="0" numCol="1" spcCol="1270" anchor="ctr" anchorCtr="0">
          <a:noAutofit/>
        </a:bodyPr>
        <a:lstStyle/>
        <a:p>
          <a:pPr marL="0" lvl="0" indent="0" algn="l" defTabSz="800100">
            <a:lnSpc>
              <a:spcPct val="90000"/>
            </a:lnSpc>
            <a:spcBef>
              <a:spcPct val="0"/>
            </a:spcBef>
            <a:spcAft>
              <a:spcPct val="35000"/>
            </a:spcAft>
            <a:buNone/>
          </a:pPr>
          <a:r>
            <a:rPr lang="en-US" altLang="en-US" sz="1800" b="1" kern="1200" dirty="0">
              <a:solidFill>
                <a:schemeClr val="bg1"/>
              </a:solidFill>
              <a:latin typeface="微软雅黑" panose="020B0503020204020204" pitchFamily="34" charset="-122"/>
              <a:ea typeface="微软雅黑" panose="020B0503020204020204" pitchFamily="34" charset="-122"/>
            </a:rPr>
            <a:t>SDN</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a:off x="276898" y="44695"/>
        <a:ext cx="3530718" cy="399568"/>
      </dsp:txXfrm>
    </dsp:sp>
    <dsp:sp modelId="{6DBB5C1B-B5D3-489B-9520-25CF774BF611}">
      <dsp:nvSpPr>
        <dsp:cNvPr id="0" name=""/>
        <dsp:cNvSpPr/>
      </dsp:nvSpPr>
      <dsp:spPr>
        <a:xfrm>
          <a:off x="0" y="2058879"/>
          <a:ext cx="5105643" cy="15120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6255" tIns="312420" rIns="396255" bIns="99568" numCol="1" spcCol="1270" anchor="t" anchorCtr="0">
          <a:noAutofit/>
        </a:bodyPr>
        <a:lstStyle/>
        <a:p>
          <a:pPr marL="114300" lvl="1" indent="-114300" algn="l" defTabSz="622300">
            <a:lnSpc>
              <a:spcPct val="90000"/>
            </a:lnSpc>
            <a:spcBef>
              <a:spcPct val="0"/>
            </a:spcBef>
            <a:spcAft>
              <a:spcPts val="0"/>
            </a:spcAft>
            <a:buChar char="•"/>
          </a:pPr>
          <a:r>
            <a:rPr lang="en-US" altLang="en-US" sz="1400" b="1" kern="1200" dirty="0">
              <a:latin typeface="微软雅黑" panose="020B0503020204020204" pitchFamily="34" charset="-122"/>
              <a:ea typeface="微软雅黑" panose="020B0503020204020204" pitchFamily="34" charset="-122"/>
            </a:rPr>
            <a:t>SDN </a:t>
          </a:r>
          <a:r>
            <a:rPr lang="zh-CN" altLang="en-US" sz="1400" b="1" kern="1200" dirty="0">
              <a:latin typeface="微软雅黑" panose="020B0503020204020204" pitchFamily="34" charset="-122"/>
              <a:ea typeface="微软雅黑" panose="020B0503020204020204" pitchFamily="34" charset="-122"/>
            </a:rPr>
            <a:t>体系结构中控制层面和数据层面之间的</a:t>
          </a:r>
          <a:r>
            <a:rPr lang="zh-CN" altLang="en-US" sz="1400" b="1" kern="1200" dirty="0">
              <a:solidFill>
                <a:srgbClr val="C00000"/>
              </a:solidFill>
              <a:latin typeface="微软雅黑" panose="020B0503020204020204" pitchFamily="34" charset="-122"/>
              <a:ea typeface="微软雅黑" panose="020B0503020204020204" pitchFamily="34" charset="-122"/>
            </a:rPr>
            <a:t>通信接口。</a:t>
          </a:r>
        </a:p>
        <a:p>
          <a:pPr marL="114300" lvl="1" indent="-114300" algn="l" defTabSz="622300">
            <a:lnSpc>
              <a:spcPct val="900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使控制层面的控制器可以对数据层面中的物理或虚拟设备进行</a:t>
          </a:r>
          <a:r>
            <a:rPr lang="zh-CN" altLang="en-US" sz="1400" b="1" kern="1200" dirty="0">
              <a:solidFill>
                <a:srgbClr val="C00000"/>
              </a:solidFill>
              <a:latin typeface="微软雅黑" panose="020B0503020204020204" pitchFamily="34" charset="-122"/>
              <a:ea typeface="微软雅黑" panose="020B0503020204020204" pitchFamily="34" charset="-122"/>
            </a:rPr>
            <a:t>直接</a:t>
          </a:r>
          <a:r>
            <a:rPr lang="zh-CN" altLang="en-US" sz="1400" b="1" kern="1200" dirty="0">
              <a:latin typeface="微软雅黑" panose="020B0503020204020204" pitchFamily="34" charset="-122"/>
              <a:ea typeface="微软雅黑" panose="020B0503020204020204" pitchFamily="34" charset="-122"/>
            </a:rPr>
            <a:t>访问和操纵。</a:t>
          </a:r>
        </a:p>
        <a:p>
          <a:pPr marL="114300" lvl="1" indent="-114300" algn="l" defTabSz="622300">
            <a:lnSpc>
              <a:spcPct val="900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在逻辑上是</a:t>
          </a:r>
          <a:r>
            <a:rPr lang="zh-CN" altLang="en-US" sz="1400" b="1" kern="1200" dirty="0">
              <a:solidFill>
                <a:srgbClr val="C00000"/>
              </a:solidFill>
              <a:latin typeface="微软雅黑" panose="020B0503020204020204" pitchFamily="34" charset="-122"/>
              <a:ea typeface="微软雅黑" panose="020B0503020204020204" pitchFamily="34" charset="-122"/>
            </a:rPr>
            <a:t>集中式</a:t>
          </a:r>
          <a:r>
            <a:rPr lang="zh-CN" altLang="en-US" sz="1400" b="1" kern="1200" dirty="0">
              <a:latin typeface="微软雅黑" panose="020B0503020204020204" pitchFamily="34" charset="-122"/>
              <a:ea typeface="微软雅黑" panose="020B0503020204020204" pitchFamily="34" charset="-122"/>
            </a:rPr>
            <a:t>的、</a:t>
          </a:r>
          <a:r>
            <a:rPr lang="zh-CN" altLang="en-US" sz="1400" b="1" kern="1200" dirty="0">
              <a:solidFill>
                <a:srgbClr val="C00000"/>
              </a:solidFill>
              <a:latin typeface="微软雅黑" panose="020B0503020204020204" pitchFamily="34" charset="-122"/>
              <a:ea typeface="微软雅黑" panose="020B0503020204020204" pitchFamily="34" charset="-122"/>
            </a:rPr>
            <a:t>基于流</a:t>
          </a:r>
          <a:r>
            <a:rPr lang="zh-CN" altLang="en-US" sz="1400" b="1" kern="1200" dirty="0">
              <a:latin typeface="微软雅黑" panose="020B0503020204020204" pitchFamily="34" charset="-122"/>
              <a:ea typeface="微软雅黑" panose="020B0503020204020204" pitchFamily="34" charset="-122"/>
            </a:rPr>
            <a:t>的。</a:t>
          </a:r>
        </a:p>
      </dsp:txBody>
      <dsp:txXfrm>
        <a:off x="0" y="2058879"/>
        <a:ext cx="5105643" cy="1512000"/>
      </dsp:txXfrm>
    </dsp:sp>
    <dsp:sp modelId="{35AC4BD2-1828-4C40-9426-ADEA8908391D}">
      <dsp:nvSpPr>
        <dsp:cNvPr id="0" name=""/>
        <dsp:cNvSpPr/>
      </dsp:nvSpPr>
      <dsp:spPr>
        <a:xfrm>
          <a:off x="255282" y="1837479"/>
          <a:ext cx="3573950" cy="44280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087" tIns="0" rIns="135087" bIns="0" numCol="1" spcCol="1270" anchor="ctr" anchorCtr="0">
          <a:noAutofit/>
        </a:bodyPr>
        <a:lstStyle/>
        <a:p>
          <a:pPr marL="0" lvl="0" indent="0" algn="l" defTabSz="800100">
            <a:lnSpc>
              <a:spcPct val="90000"/>
            </a:lnSpc>
            <a:spcBef>
              <a:spcPct val="0"/>
            </a:spcBef>
            <a:spcAft>
              <a:spcPct val="35000"/>
            </a:spcAft>
            <a:buNone/>
          </a:pPr>
          <a:r>
            <a:rPr lang="en-US" altLang="zh-CN" sz="1800" b="1" kern="1200" dirty="0" err="1">
              <a:solidFill>
                <a:srgbClr val="0000CC"/>
              </a:solidFill>
              <a:latin typeface="微软雅黑" panose="020B0503020204020204" pitchFamily="34" charset="-122"/>
              <a:ea typeface="微软雅黑" panose="020B0503020204020204" pitchFamily="34" charset="-122"/>
            </a:rPr>
            <a:t>OpenFlow</a:t>
          </a:r>
          <a:endParaRPr lang="zh-CN" altLang="en-US" sz="1800" b="1" kern="1200" dirty="0">
            <a:solidFill>
              <a:srgbClr val="0000CC"/>
            </a:solidFill>
            <a:latin typeface="微软雅黑" panose="020B0503020204020204" pitchFamily="34" charset="-122"/>
            <a:ea typeface="微软雅黑" panose="020B0503020204020204" pitchFamily="34" charset="-122"/>
          </a:endParaRPr>
        </a:p>
      </dsp:txBody>
      <dsp:txXfrm>
        <a:off x="276898" y="1859095"/>
        <a:ext cx="3530718" cy="3995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99FAF8-43A3-495E-9177-C621EED0FF9E}">
      <dsp:nvSpPr>
        <dsp:cNvPr id="0" name=""/>
        <dsp:cNvSpPr/>
      </dsp:nvSpPr>
      <dsp:spPr>
        <a:xfrm>
          <a:off x="0" y="21494"/>
          <a:ext cx="5066923" cy="540002"/>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匹配</a:t>
          </a:r>
        </a:p>
      </dsp:txBody>
      <dsp:txXfrm>
        <a:off x="26361" y="47855"/>
        <a:ext cx="5014201" cy="487280"/>
      </dsp:txXfrm>
    </dsp:sp>
    <dsp:sp modelId="{A97FE5EF-81FF-4D48-A0DE-B85FB67024E8}">
      <dsp:nvSpPr>
        <dsp:cNvPr id="0" name=""/>
        <dsp:cNvSpPr/>
      </dsp:nvSpPr>
      <dsp:spPr>
        <a:xfrm>
          <a:off x="0" y="561497"/>
          <a:ext cx="5066923" cy="760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875"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en-US" sz="1800" b="1" kern="1200" dirty="0">
              <a:latin typeface="微软雅黑" panose="020B0503020204020204" pitchFamily="34" charset="-122"/>
              <a:ea typeface="微软雅黑" panose="020B0503020204020204" pitchFamily="34" charset="-122"/>
            </a:rPr>
            <a:t>对不同层次（链路层，网络层，运输层）首部中的字段进行匹配。</a:t>
          </a:r>
        </a:p>
      </dsp:txBody>
      <dsp:txXfrm>
        <a:off x="0" y="561497"/>
        <a:ext cx="5066923" cy="760724"/>
      </dsp:txXfrm>
    </dsp:sp>
    <dsp:sp modelId="{6973BEF8-C407-4DCC-B203-97EAB17968C8}">
      <dsp:nvSpPr>
        <dsp:cNvPr id="0" name=""/>
        <dsp:cNvSpPr/>
      </dsp:nvSpPr>
      <dsp:spPr>
        <a:xfrm>
          <a:off x="0" y="1322222"/>
          <a:ext cx="5066923" cy="540002"/>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动作</a:t>
          </a:r>
        </a:p>
      </dsp:txBody>
      <dsp:txXfrm>
        <a:off x="26361" y="1348583"/>
        <a:ext cx="5014201" cy="487280"/>
      </dsp:txXfrm>
    </dsp:sp>
    <dsp:sp modelId="{08081AE3-063A-43D5-96F4-62EC961A3E6F}">
      <dsp:nvSpPr>
        <dsp:cNvPr id="0" name=""/>
        <dsp:cNvSpPr/>
      </dsp:nvSpPr>
      <dsp:spPr>
        <a:xfrm>
          <a:off x="0" y="1862225"/>
          <a:ext cx="5066923" cy="57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875"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en-US" sz="1800" b="1" kern="1200" dirty="0">
              <a:latin typeface="微软雅黑" panose="020B0503020204020204" pitchFamily="34" charset="-122"/>
              <a:ea typeface="微软雅黑" panose="020B0503020204020204" pitchFamily="34" charset="-122"/>
            </a:rPr>
            <a:t>转发，重写，丢弃等。</a:t>
          </a:r>
        </a:p>
      </dsp:txBody>
      <dsp:txXfrm>
        <a:off x="0" y="1862225"/>
        <a:ext cx="5066923" cy="5796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B0D5C1-FC08-4682-A068-87E58ADD3967}">
      <dsp:nvSpPr>
        <dsp:cNvPr id="0" name=""/>
        <dsp:cNvSpPr/>
      </dsp:nvSpPr>
      <dsp:spPr>
        <a:xfrm>
          <a:off x="-3623671" y="-556841"/>
          <a:ext cx="4319736" cy="4319736"/>
        </a:xfrm>
        <a:prstGeom prst="blockArc">
          <a:avLst>
            <a:gd name="adj1" fmla="val 18900000"/>
            <a:gd name="adj2" fmla="val 2700000"/>
            <a:gd name="adj3" fmla="val 500"/>
          </a:avLst>
        </a:pr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029A32-0911-4750-B9B4-49D271EFA4E0}">
      <dsp:nvSpPr>
        <dsp:cNvPr id="0" name=""/>
        <dsp:cNvSpPr/>
      </dsp:nvSpPr>
      <dsp:spPr>
        <a:xfrm>
          <a:off x="364891" y="246481"/>
          <a:ext cx="6357688" cy="49321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91493" tIns="45720" rIns="45720" bIns="4572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基于流的转发。流表规定转发规则。</a:t>
          </a:r>
        </a:p>
      </dsp:txBody>
      <dsp:txXfrm>
        <a:off x="364891" y="246481"/>
        <a:ext cx="6357688" cy="493219"/>
      </dsp:txXfrm>
    </dsp:sp>
    <dsp:sp modelId="{C2D66341-6C1E-4BCC-8C84-A646950EFF77}">
      <dsp:nvSpPr>
        <dsp:cNvPr id="0" name=""/>
        <dsp:cNvSpPr/>
      </dsp:nvSpPr>
      <dsp:spPr>
        <a:xfrm>
          <a:off x="56629" y="184829"/>
          <a:ext cx="616524" cy="616524"/>
        </a:xfrm>
        <a:prstGeom prst="ellipse">
          <a:avLst/>
        </a:prstGeom>
        <a:blipFill dpi="0" rotWithShape="0">
          <a:blip xmlns:r="http://schemas.openxmlformats.org/officeDocument/2006/relationships" r:embed="rId1">
            <a:extLst>
              <a:ext uri="{28A0092B-C50C-407E-A947-70E740481C1C}">
                <a14:useLocalDpi xmlns:a14="http://schemas.microsoft.com/office/drawing/2010/main" val="0"/>
              </a:ext>
            </a:extLst>
          </a:blip>
          <a:srcRect/>
          <a:stretch>
            <a:fillRect/>
          </a:stretch>
        </a:blip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0">
          <a:scrgbClr r="0" g="0" b="0"/>
        </a:effectRef>
        <a:fontRef idx="minor"/>
      </dsp:style>
    </dsp:sp>
    <dsp:sp modelId="{F5F98171-0BBC-44BA-A385-25C4F93E716D}">
      <dsp:nvSpPr>
        <dsp:cNvPr id="0" name=""/>
        <dsp:cNvSpPr/>
      </dsp:nvSpPr>
      <dsp:spPr>
        <a:xfrm>
          <a:off x="647665" y="986438"/>
          <a:ext cx="6074914" cy="493219"/>
        </a:xfrm>
        <a:prstGeom prst="rect">
          <a:avLst/>
        </a:prstGeom>
        <a:gradFill rotWithShape="0">
          <a:gsLst>
            <a:gs pos="0">
              <a:schemeClr val="accent5">
                <a:hueOff val="-2252848"/>
                <a:satOff val="-5806"/>
                <a:lumOff val="-3922"/>
                <a:alphaOff val="0"/>
                <a:lumMod val="110000"/>
                <a:satMod val="105000"/>
                <a:tint val="67000"/>
              </a:schemeClr>
            </a:gs>
            <a:gs pos="50000">
              <a:schemeClr val="accent5">
                <a:hueOff val="-2252848"/>
                <a:satOff val="-5806"/>
                <a:lumOff val="-3922"/>
                <a:alphaOff val="0"/>
                <a:lumMod val="105000"/>
                <a:satMod val="103000"/>
                <a:tint val="73000"/>
              </a:schemeClr>
            </a:gs>
            <a:gs pos="100000">
              <a:schemeClr val="accent5">
                <a:hueOff val="-2252848"/>
                <a:satOff val="-5806"/>
                <a:lumOff val="-392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91493" tIns="45720" rIns="45720" bIns="4572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数据层面与控制层面分离。二者不在同一个设备中。</a:t>
          </a:r>
        </a:p>
      </dsp:txBody>
      <dsp:txXfrm>
        <a:off x="647665" y="986438"/>
        <a:ext cx="6074914" cy="493219"/>
      </dsp:txXfrm>
    </dsp:sp>
    <dsp:sp modelId="{6BA4FFC2-2FE1-4DE8-AFAD-430C985B0E85}">
      <dsp:nvSpPr>
        <dsp:cNvPr id="0" name=""/>
        <dsp:cNvSpPr/>
      </dsp:nvSpPr>
      <dsp:spPr>
        <a:xfrm>
          <a:off x="339403" y="924786"/>
          <a:ext cx="616524" cy="616524"/>
        </a:xfrm>
        <a:prstGeom prst="ellipse">
          <a:avLst/>
        </a:prstGeom>
        <a:blipFill dpi="0" rotWithShape="0">
          <a:blip xmlns:r="http://schemas.openxmlformats.org/officeDocument/2006/relationships" r:embed="rId1">
            <a:extLst>
              <a:ext uri="{28A0092B-C50C-407E-A947-70E740481C1C}">
                <a14:useLocalDpi xmlns:a14="http://schemas.microsoft.com/office/drawing/2010/main" val="0"/>
              </a:ext>
            </a:extLst>
          </a:blip>
          <a:srcRect/>
          <a:stretch>
            <a:fillRect/>
          </a:stretch>
        </a:blipFill>
        <a:ln w="6350" cap="flat" cmpd="sng" algn="ctr">
          <a:solidFill>
            <a:schemeClr val="accent5">
              <a:hueOff val="-2252848"/>
              <a:satOff val="-5806"/>
              <a:lumOff val="-3922"/>
              <a:alphaOff val="0"/>
            </a:schemeClr>
          </a:solidFill>
          <a:prstDash val="solid"/>
          <a:miter lim="800000"/>
        </a:ln>
        <a:effectLst/>
      </dsp:spPr>
      <dsp:style>
        <a:lnRef idx="1">
          <a:scrgbClr r="0" g="0" b="0"/>
        </a:lnRef>
        <a:fillRef idx="2">
          <a:scrgbClr r="0" g="0" b="0"/>
        </a:fillRef>
        <a:effectRef idx="0">
          <a:scrgbClr r="0" g="0" b="0"/>
        </a:effectRef>
        <a:fontRef idx="minor"/>
      </dsp:style>
    </dsp:sp>
    <dsp:sp modelId="{CD11EB12-0408-40BE-A5E0-D1CFC22DFC2E}">
      <dsp:nvSpPr>
        <dsp:cNvPr id="0" name=""/>
        <dsp:cNvSpPr/>
      </dsp:nvSpPr>
      <dsp:spPr>
        <a:xfrm>
          <a:off x="647665" y="1726395"/>
          <a:ext cx="6074914" cy="493219"/>
        </a:xfrm>
        <a:prstGeom prst="rect">
          <a:avLst/>
        </a:prstGeom>
        <a:gradFill rotWithShape="0">
          <a:gsLst>
            <a:gs pos="0">
              <a:schemeClr val="accent5">
                <a:hueOff val="-4505695"/>
                <a:satOff val="-11613"/>
                <a:lumOff val="-7843"/>
                <a:alphaOff val="0"/>
                <a:lumMod val="110000"/>
                <a:satMod val="105000"/>
                <a:tint val="67000"/>
              </a:schemeClr>
            </a:gs>
            <a:gs pos="50000">
              <a:schemeClr val="accent5">
                <a:hueOff val="-4505695"/>
                <a:satOff val="-11613"/>
                <a:lumOff val="-7843"/>
                <a:alphaOff val="0"/>
                <a:lumMod val="105000"/>
                <a:satMod val="103000"/>
                <a:tint val="73000"/>
              </a:schemeClr>
            </a:gs>
            <a:gs pos="100000">
              <a:schemeClr val="accent5">
                <a:hueOff val="-4505695"/>
                <a:satOff val="-11613"/>
                <a:lumOff val="-784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91493" tIns="45720" rIns="45720" bIns="4572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网络控制功能位于数据层面交换机之外，用软件实现。</a:t>
          </a:r>
        </a:p>
      </dsp:txBody>
      <dsp:txXfrm>
        <a:off x="647665" y="1726395"/>
        <a:ext cx="6074914" cy="493219"/>
      </dsp:txXfrm>
    </dsp:sp>
    <dsp:sp modelId="{AA66A021-7549-4FCB-AE4D-4B546BB936CD}">
      <dsp:nvSpPr>
        <dsp:cNvPr id="0" name=""/>
        <dsp:cNvSpPr/>
      </dsp:nvSpPr>
      <dsp:spPr>
        <a:xfrm>
          <a:off x="339403" y="1664743"/>
          <a:ext cx="616524" cy="616524"/>
        </a:xfrm>
        <a:prstGeom prst="ellipse">
          <a:avLst/>
        </a:prstGeom>
        <a:blipFill dpi="0" rotWithShape="0">
          <a:blip xmlns:r="http://schemas.openxmlformats.org/officeDocument/2006/relationships" r:embed="rId1">
            <a:extLst>
              <a:ext uri="{28A0092B-C50C-407E-A947-70E740481C1C}">
                <a14:useLocalDpi xmlns:a14="http://schemas.microsoft.com/office/drawing/2010/main" val="0"/>
              </a:ext>
            </a:extLst>
          </a:blip>
          <a:srcRect/>
          <a:stretch>
            <a:fillRect/>
          </a:stretch>
        </a:blipFill>
        <a:ln w="6350" cap="flat" cmpd="sng" algn="ctr">
          <a:solidFill>
            <a:schemeClr val="accent5">
              <a:hueOff val="-4505695"/>
              <a:satOff val="-11613"/>
              <a:lumOff val="-7843"/>
              <a:alphaOff val="0"/>
            </a:schemeClr>
          </a:solidFill>
          <a:prstDash val="solid"/>
          <a:miter lim="800000"/>
        </a:ln>
        <a:effectLst/>
      </dsp:spPr>
      <dsp:style>
        <a:lnRef idx="1">
          <a:scrgbClr r="0" g="0" b="0"/>
        </a:lnRef>
        <a:fillRef idx="2">
          <a:scrgbClr r="0" g="0" b="0"/>
        </a:fillRef>
        <a:effectRef idx="0">
          <a:scrgbClr r="0" g="0" b="0"/>
        </a:effectRef>
        <a:fontRef idx="minor"/>
      </dsp:style>
    </dsp:sp>
    <dsp:sp modelId="{2B5470FC-E1D3-437D-A66F-B24660D1DB5E}">
      <dsp:nvSpPr>
        <dsp:cNvPr id="0" name=""/>
        <dsp:cNvSpPr/>
      </dsp:nvSpPr>
      <dsp:spPr>
        <a:xfrm>
          <a:off x="364891" y="2466353"/>
          <a:ext cx="6357688" cy="49321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91493" tIns="45720" rIns="45720" bIns="4572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可编程的网络。</a:t>
          </a:r>
        </a:p>
      </dsp:txBody>
      <dsp:txXfrm>
        <a:off x="364891" y="2466353"/>
        <a:ext cx="6357688" cy="493219"/>
      </dsp:txXfrm>
    </dsp:sp>
    <dsp:sp modelId="{3445C45D-2AA7-4DBC-A20C-73321A134B77}">
      <dsp:nvSpPr>
        <dsp:cNvPr id="0" name=""/>
        <dsp:cNvSpPr/>
      </dsp:nvSpPr>
      <dsp:spPr>
        <a:xfrm>
          <a:off x="56629" y="2404700"/>
          <a:ext cx="616524" cy="616524"/>
        </a:xfrm>
        <a:prstGeom prst="ellipse">
          <a:avLst/>
        </a:prstGeom>
        <a:blipFill dpi="0" rotWithShape="0">
          <a:blip xmlns:r="http://schemas.openxmlformats.org/officeDocument/2006/relationships" r:embed="rId1">
            <a:extLst>
              <a:ext uri="{28A0092B-C50C-407E-A947-70E740481C1C}">
                <a14:useLocalDpi xmlns:a14="http://schemas.microsoft.com/office/drawing/2010/main" val="0"/>
              </a:ext>
            </a:extLst>
          </a:blip>
          <a:srcRect/>
          <a:stretch>
            <a:fillRect/>
          </a:stretch>
        </a:blip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19B39F-12B2-486D-92CD-79CCEF8A02D7}">
      <dsp:nvSpPr>
        <dsp:cNvPr id="0" name=""/>
        <dsp:cNvSpPr/>
      </dsp:nvSpPr>
      <dsp:spPr>
        <a:xfrm>
          <a:off x="32" y="6555"/>
          <a:ext cx="3103308" cy="8064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ts val="2200"/>
            </a:lnSpc>
            <a:spcBef>
              <a:spcPct val="0"/>
            </a:spcBef>
            <a:spcAft>
              <a:spcPts val="0"/>
            </a:spcAft>
            <a:buNone/>
          </a:pPr>
          <a:r>
            <a:rPr lang="en-US" altLang="zh-CN" sz="1800" b="1" kern="1200" dirty="0">
              <a:latin typeface="微软雅黑" panose="020B0503020204020204" pitchFamily="34" charset="-122"/>
              <a:ea typeface="微软雅黑" panose="020B0503020204020204" pitchFamily="34" charset="-122"/>
            </a:rPr>
            <a:t>SDN</a:t>
          </a:r>
          <a:endParaRPr lang="zh-CN" altLang="en-US" sz="1800" b="1" kern="1200" dirty="0">
            <a:latin typeface="微软雅黑" panose="020B0503020204020204" pitchFamily="34" charset="-122"/>
            <a:ea typeface="微软雅黑" panose="020B0503020204020204" pitchFamily="34" charset="-122"/>
          </a:endParaRPr>
        </a:p>
      </dsp:txBody>
      <dsp:txXfrm>
        <a:off x="32" y="6555"/>
        <a:ext cx="3103308" cy="806400"/>
      </dsp:txXfrm>
    </dsp:sp>
    <dsp:sp modelId="{B896A519-3F35-4F76-BF45-313B4F09EBD3}">
      <dsp:nvSpPr>
        <dsp:cNvPr id="0" name=""/>
        <dsp:cNvSpPr/>
      </dsp:nvSpPr>
      <dsp:spPr>
        <a:xfrm>
          <a:off x="32" y="812955"/>
          <a:ext cx="3103308" cy="2152079"/>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功能分散。交换机、</a:t>
          </a:r>
          <a:r>
            <a:rPr lang="en-US" altLang="en-US" sz="1800" b="1" kern="1200" dirty="0">
              <a:latin typeface="微软雅黑" panose="020B0503020204020204" pitchFamily="34" charset="-122"/>
              <a:ea typeface="微软雅黑" panose="020B0503020204020204" pitchFamily="34" charset="-122"/>
            </a:rPr>
            <a:t>SDN </a:t>
          </a:r>
          <a:r>
            <a:rPr lang="zh-CN" altLang="en-US" sz="1800" b="1" kern="1200" dirty="0">
              <a:latin typeface="微软雅黑" panose="020B0503020204020204" pitchFamily="34" charset="-122"/>
              <a:ea typeface="微软雅黑" panose="020B0503020204020204" pitchFamily="34" charset="-122"/>
            </a:rPr>
            <a:t>控制器、网络控制应用程序都是可以分开的实体。</a:t>
          </a:r>
        </a:p>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可以由不同的厂商和机构来提供。</a:t>
          </a:r>
        </a:p>
      </dsp:txBody>
      <dsp:txXfrm>
        <a:off x="32" y="812955"/>
        <a:ext cx="3103308" cy="2152079"/>
      </dsp:txXfrm>
    </dsp:sp>
    <dsp:sp modelId="{2B37959A-E5FF-440C-9E9A-2AB5F0A6CAC6}">
      <dsp:nvSpPr>
        <dsp:cNvPr id="0" name=""/>
        <dsp:cNvSpPr/>
      </dsp:nvSpPr>
      <dsp:spPr>
        <a:xfrm>
          <a:off x="3537804" y="6555"/>
          <a:ext cx="3103308" cy="80640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ts val="3000"/>
            </a:lnSpc>
            <a:spcBef>
              <a:spcPct val="0"/>
            </a:spcBef>
            <a:spcAft>
              <a:spcPts val="0"/>
            </a:spcAft>
            <a:buNone/>
          </a:pPr>
          <a:r>
            <a:rPr lang="zh-CN" altLang="en-US" sz="1800" b="1" kern="1200" dirty="0">
              <a:solidFill>
                <a:srgbClr val="0000CC"/>
              </a:solidFill>
              <a:latin typeface="微软雅黑" panose="020B0503020204020204" pitchFamily="34" charset="-122"/>
              <a:ea typeface="微软雅黑" panose="020B0503020204020204" pitchFamily="34" charset="-122"/>
            </a:rPr>
            <a:t>传统网络</a:t>
          </a:r>
        </a:p>
      </dsp:txBody>
      <dsp:txXfrm>
        <a:off x="3537804" y="6555"/>
        <a:ext cx="3103308" cy="806400"/>
      </dsp:txXfrm>
    </dsp:sp>
    <dsp:sp modelId="{BB2710DA-629D-4E22-B2D2-AE96858090DD}">
      <dsp:nvSpPr>
        <dsp:cNvPr id="0" name=""/>
        <dsp:cNvSpPr/>
      </dsp:nvSpPr>
      <dsp:spPr>
        <a:xfrm>
          <a:off x="3537804" y="812955"/>
          <a:ext cx="3103308" cy="2152079"/>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控制层面、数据层面、协议的实现都垂直集成在一个机器里。</a:t>
          </a:r>
        </a:p>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由单独的厂商提供。</a:t>
          </a:r>
        </a:p>
      </dsp:txBody>
      <dsp:txXfrm>
        <a:off x="3537804" y="812955"/>
        <a:ext cx="3103308" cy="215207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11AC6A-58CC-8B46-9152-9377E3F7C6CF}" type="datetimeFigureOut">
              <a:rPr kumimoji="1" lang="zh-CN" altLang="en-US" smtClean="0"/>
              <a:t>2024/11/27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5B2BAD-939D-AB4E-8099-7A4B4A4C45F2}" type="slidenum">
              <a:rPr kumimoji="1" lang="zh-CN" altLang="en-US" smtClean="0"/>
              <a:t>‹#›</a:t>
            </a:fld>
            <a:endParaRPr kumimoji="1" lang="zh-CN" altLang="en-US"/>
          </a:p>
        </p:txBody>
      </p:sp>
    </p:spTree>
    <p:extLst>
      <p:ext uri="{BB962C8B-B14F-4D97-AF65-F5344CB8AC3E}">
        <p14:creationId xmlns:p14="http://schemas.microsoft.com/office/powerpoint/2010/main" val="1472014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15</a:t>
            </a:fld>
            <a:endParaRPr lang="zh-CN" altLang="en-US"/>
          </a:p>
        </p:txBody>
      </p:sp>
    </p:spTree>
    <p:extLst>
      <p:ext uri="{BB962C8B-B14F-4D97-AF65-F5344CB8AC3E}">
        <p14:creationId xmlns:p14="http://schemas.microsoft.com/office/powerpoint/2010/main" val="2952612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17</a:t>
            </a:fld>
            <a:endParaRPr lang="zh-CN" altLang="en-US"/>
          </a:p>
        </p:txBody>
      </p:sp>
    </p:spTree>
    <p:extLst>
      <p:ext uri="{BB962C8B-B14F-4D97-AF65-F5344CB8AC3E}">
        <p14:creationId xmlns:p14="http://schemas.microsoft.com/office/powerpoint/2010/main" val="630903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18</a:t>
            </a:fld>
            <a:endParaRPr lang="zh-CN" altLang="en-US"/>
          </a:p>
        </p:txBody>
      </p:sp>
    </p:spTree>
    <p:extLst>
      <p:ext uri="{BB962C8B-B14F-4D97-AF65-F5344CB8AC3E}">
        <p14:creationId xmlns:p14="http://schemas.microsoft.com/office/powerpoint/2010/main" val="1798724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19</a:t>
            </a:fld>
            <a:endParaRPr lang="zh-CN" altLang="en-US"/>
          </a:p>
        </p:txBody>
      </p:sp>
    </p:spTree>
    <p:extLst>
      <p:ext uri="{BB962C8B-B14F-4D97-AF65-F5344CB8AC3E}">
        <p14:creationId xmlns:p14="http://schemas.microsoft.com/office/powerpoint/2010/main" val="3951002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20</a:t>
            </a:fld>
            <a:endParaRPr lang="zh-CN" altLang="en-US"/>
          </a:p>
        </p:txBody>
      </p:sp>
    </p:spTree>
    <p:extLst>
      <p:ext uri="{BB962C8B-B14F-4D97-AF65-F5344CB8AC3E}">
        <p14:creationId xmlns:p14="http://schemas.microsoft.com/office/powerpoint/2010/main" val="1935506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CA8170-307C-D78E-0CF1-D4F1F1E630A1}"/>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2B8FD549-5B25-1882-5566-16328D8F99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79A766C5-B7C0-8FFF-4307-240118C5C3B6}"/>
              </a:ext>
            </a:extLst>
          </p:cNvPr>
          <p:cNvSpPr>
            <a:spLocks noGrp="1"/>
          </p:cNvSpPr>
          <p:nvPr>
            <p:ph type="dt" sz="half" idx="10"/>
          </p:nvPr>
        </p:nvSpPr>
        <p:spPr/>
        <p:txBody>
          <a:bodyPr/>
          <a:lstStyle/>
          <a:p>
            <a:fld id="{F52C39ED-0716-264E-AD63-A247ACC00E97}" type="datetimeFigureOut">
              <a:rPr kumimoji="1" lang="zh-CN" altLang="en-US" smtClean="0"/>
              <a:t>2024/11/27</a:t>
            </a:fld>
            <a:endParaRPr kumimoji="1" lang="zh-CN" altLang="en-US"/>
          </a:p>
        </p:txBody>
      </p:sp>
      <p:sp>
        <p:nvSpPr>
          <p:cNvPr id="5" name="页脚占位符 4">
            <a:extLst>
              <a:ext uri="{FF2B5EF4-FFF2-40B4-BE49-F238E27FC236}">
                <a16:creationId xmlns:a16="http://schemas.microsoft.com/office/drawing/2014/main" id="{B2D1C57A-CF6B-EF58-0C45-2C8CED09615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6CA672C-F1F3-AAFA-BE21-85443C40D534}"/>
              </a:ext>
            </a:extLst>
          </p:cNvPr>
          <p:cNvSpPr>
            <a:spLocks noGrp="1"/>
          </p:cNvSpPr>
          <p:nvPr>
            <p:ph type="sldNum" sz="quarter" idx="12"/>
          </p:nvPr>
        </p:nvSpPr>
        <p:spPr/>
        <p:txBody>
          <a:bodyPr/>
          <a:lstStyle/>
          <a:p>
            <a:fld id="{F301E06B-71EB-2D49-85E3-A997B3072A7D}" type="slidenum">
              <a:rPr kumimoji="1" lang="zh-CN" altLang="en-US" smtClean="0"/>
              <a:t>‹#›</a:t>
            </a:fld>
            <a:endParaRPr kumimoji="1" lang="zh-CN" altLang="en-US"/>
          </a:p>
        </p:txBody>
      </p:sp>
    </p:spTree>
    <p:extLst>
      <p:ext uri="{BB962C8B-B14F-4D97-AF65-F5344CB8AC3E}">
        <p14:creationId xmlns:p14="http://schemas.microsoft.com/office/powerpoint/2010/main" val="4266038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616BD4-FF23-4F65-E38E-17FA1263E07B}"/>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0000198-BB5B-FF90-D26C-CBA31F8337ED}"/>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2047012-EDAA-358C-B85E-E74AE228D30F}"/>
              </a:ext>
            </a:extLst>
          </p:cNvPr>
          <p:cNvSpPr>
            <a:spLocks noGrp="1"/>
          </p:cNvSpPr>
          <p:nvPr>
            <p:ph type="dt" sz="half" idx="10"/>
          </p:nvPr>
        </p:nvSpPr>
        <p:spPr/>
        <p:txBody>
          <a:bodyPr/>
          <a:lstStyle/>
          <a:p>
            <a:fld id="{F52C39ED-0716-264E-AD63-A247ACC00E97}" type="datetimeFigureOut">
              <a:rPr kumimoji="1" lang="zh-CN" altLang="en-US" smtClean="0"/>
              <a:t>2024/11/27</a:t>
            </a:fld>
            <a:endParaRPr kumimoji="1" lang="zh-CN" altLang="en-US"/>
          </a:p>
        </p:txBody>
      </p:sp>
      <p:sp>
        <p:nvSpPr>
          <p:cNvPr id="5" name="页脚占位符 4">
            <a:extLst>
              <a:ext uri="{FF2B5EF4-FFF2-40B4-BE49-F238E27FC236}">
                <a16:creationId xmlns:a16="http://schemas.microsoft.com/office/drawing/2014/main" id="{F0160ABB-9FB8-0BD0-FCF6-3879A04E0D4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49E7B09-238A-BB76-15E2-E77ED96D7A6F}"/>
              </a:ext>
            </a:extLst>
          </p:cNvPr>
          <p:cNvSpPr>
            <a:spLocks noGrp="1"/>
          </p:cNvSpPr>
          <p:nvPr>
            <p:ph type="sldNum" sz="quarter" idx="12"/>
          </p:nvPr>
        </p:nvSpPr>
        <p:spPr/>
        <p:txBody>
          <a:bodyPr/>
          <a:lstStyle/>
          <a:p>
            <a:fld id="{F301E06B-71EB-2D49-85E3-A997B3072A7D}" type="slidenum">
              <a:rPr kumimoji="1" lang="zh-CN" altLang="en-US" smtClean="0"/>
              <a:t>‹#›</a:t>
            </a:fld>
            <a:endParaRPr kumimoji="1" lang="zh-CN" altLang="en-US"/>
          </a:p>
        </p:txBody>
      </p:sp>
    </p:spTree>
    <p:extLst>
      <p:ext uri="{BB962C8B-B14F-4D97-AF65-F5344CB8AC3E}">
        <p14:creationId xmlns:p14="http://schemas.microsoft.com/office/powerpoint/2010/main" val="3066939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C297F1-9B96-D7EE-9420-5284782EF759}"/>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251EB0DD-D116-88BB-5388-20F81BEF88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1B4823D3-6438-0F54-317E-DFD1961D3A1C}"/>
              </a:ext>
            </a:extLst>
          </p:cNvPr>
          <p:cNvSpPr>
            <a:spLocks noGrp="1"/>
          </p:cNvSpPr>
          <p:nvPr>
            <p:ph type="dt" sz="half" idx="10"/>
          </p:nvPr>
        </p:nvSpPr>
        <p:spPr/>
        <p:txBody>
          <a:bodyPr/>
          <a:lstStyle/>
          <a:p>
            <a:fld id="{F52C39ED-0716-264E-AD63-A247ACC00E97}" type="datetimeFigureOut">
              <a:rPr kumimoji="1" lang="zh-CN" altLang="en-US" smtClean="0"/>
              <a:t>2024/11/27</a:t>
            </a:fld>
            <a:endParaRPr kumimoji="1" lang="zh-CN" altLang="en-US"/>
          </a:p>
        </p:txBody>
      </p:sp>
      <p:sp>
        <p:nvSpPr>
          <p:cNvPr id="5" name="页脚占位符 4">
            <a:extLst>
              <a:ext uri="{FF2B5EF4-FFF2-40B4-BE49-F238E27FC236}">
                <a16:creationId xmlns:a16="http://schemas.microsoft.com/office/drawing/2014/main" id="{36B1E26D-1A8A-1718-7E06-E2BC38E4878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7717F23-F0C5-C7C9-3999-2607236A81DA}"/>
              </a:ext>
            </a:extLst>
          </p:cNvPr>
          <p:cNvSpPr>
            <a:spLocks noGrp="1"/>
          </p:cNvSpPr>
          <p:nvPr>
            <p:ph type="sldNum" sz="quarter" idx="12"/>
          </p:nvPr>
        </p:nvSpPr>
        <p:spPr/>
        <p:txBody>
          <a:bodyPr/>
          <a:lstStyle/>
          <a:p>
            <a:fld id="{F301E06B-71EB-2D49-85E3-A997B3072A7D}" type="slidenum">
              <a:rPr kumimoji="1" lang="zh-CN" altLang="en-US" smtClean="0"/>
              <a:t>‹#›</a:t>
            </a:fld>
            <a:endParaRPr kumimoji="1" lang="zh-CN" altLang="en-US"/>
          </a:p>
        </p:txBody>
      </p:sp>
    </p:spTree>
    <p:extLst>
      <p:ext uri="{BB962C8B-B14F-4D97-AF65-F5344CB8AC3E}">
        <p14:creationId xmlns:p14="http://schemas.microsoft.com/office/powerpoint/2010/main" val="3481490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CADC7A-4B2F-B0C4-EEFF-7181F71BBF6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34B1CA2D-E3A3-DCC5-284C-0D8B8C48230D}"/>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07506CD8-E481-FDEA-602F-BE198FF5F381}"/>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E0380578-CF47-582C-7F11-F076E60E9FAE}"/>
              </a:ext>
            </a:extLst>
          </p:cNvPr>
          <p:cNvSpPr>
            <a:spLocks noGrp="1"/>
          </p:cNvSpPr>
          <p:nvPr>
            <p:ph type="dt" sz="half" idx="10"/>
          </p:nvPr>
        </p:nvSpPr>
        <p:spPr/>
        <p:txBody>
          <a:bodyPr/>
          <a:lstStyle/>
          <a:p>
            <a:fld id="{F52C39ED-0716-264E-AD63-A247ACC00E97}" type="datetimeFigureOut">
              <a:rPr kumimoji="1" lang="zh-CN" altLang="en-US" smtClean="0"/>
              <a:t>2024/11/27</a:t>
            </a:fld>
            <a:endParaRPr kumimoji="1" lang="zh-CN" altLang="en-US"/>
          </a:p>
        </p:txBody>
      </p:sp>
      <p:sp>
        <p:nvSpPr>
          <p:cNvPr id="6" name="页脚占位符 5">
            <a:extLst>
              <a:ext uri="{FF2B5EF4-FFF2-40B4-BE49-F238E27FC236}">
                <a16:creationId xmlns:a16="http://schemas.microsoft.com/office/drawing/2014/main" id="{DE9F8DC3-1E3F-AA9E-CF69-134D31F2753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88A182C-C109-A2C0-20A1-8A678331673A}"/>
              </a:ext>
            </a:extLst>
          </p:cNvPr>
          <p:cNvSpPr>
            <a:spLocks noGrp="1"/>
          </p:cNvSpPr>
          <p:nvPr>
            <p:ph type="sldNum" sz="quarter" idx="12"/>
          </p:nvPr>
        </p:nvSpPr>
        <p:spPr/>
        <p:txBody>
          <a:bodyPr/>
          <a:lstStyle/>
          <a:p>
            <a:fld id="{F301E06B-71EB-2D49-85E3-A997B3072A7D}" type="slidenum">
              <a:rPr kumimoji="1" lang="zh-CN" altLang="en-US" smtClean="0"/>
              <a:t>‹#›</a:t>
            </a:fld>
            <a:endParaRPr kumimoji="1" lang="zh-CN" altLang="en-US"/>
          </a:p>
        </p:txBody>
      </p:sp>
    </p:spTree>
    <p:extLst>
      <p:ext uri="{BB962C8B-B14F-4D97-AF65-F5344CB8AC3E}">
        <p14:creationId xmlns:p14="http://schemas.microsoft.com/office/powerpoint/2010/main" val="3859243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37EE6B-1A41-1108-927D-9DA0EA71CFD5}"/>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51863BE-ADA5-AB91-3C0F-A24ABD1F7D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BC70C7F0-DA88-A80E-D2CF-9C0A5A713660}"/>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25052C7F-1499-5303-4FD3-2E0D51339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858B3A84-C6F8-F720-8CC0-5BB03A320BD9}"/>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9165E701-9D88-02F5-7BF8-DCAA7D4E1DF5}"/>
              </a:ext>
            </a:extLst>
          </p:cNvPr>
          <p:cNvSpPr>
            <a:spLocks noGrp="1"/>
          </p:cNvSpPr>
          <p:nvPr>
            <p:ph type="dt" sz="half" idx="10"/>
          </p:nvPr>
        </p:nvSpPr>
        <p:spPr/>
        <p:txBody>
          <a:bodyPr/>
          <a:lstStyle/>
          <a:p>
            <a:fld id="{F52C39ED-0716-264E-AD63-A247ACC00E97}" type="datetimeFigureOut">
              <a:rPr kumimoji="1" lang="zh-CN" altLang="en-US" smtClean="0"/>
              <a:t>2024/11/27</a:t>
            </a:fld>
            <a:endParaRPr kumimoji="1" lang="zh-CN" altLang="en-US"/>
          </a:p>
        </p:txBody>
      </p:sp>
      <p:sp>
        <p:nvSpPr>
          <p:cNvPr id="8" name="页脚占位符 7">
            <a:extLst>
              <a:ext uri="{FF2B5EF4-FFF2-40B4-BE49-F238E27FC236}">
                <a16:creationId xmlns:a16="http://schemas.microsoft.com/office/drawing/2014/main" id="{8099EB3A-61CD-3AFD-EB50-48BA58A3897E}"/>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10BA67D2-9FB3-43E0-99F4-A9D1CD9590E0}"/>
              </a:ext>
            </a:extLst>
          </p:cNvPr>
          <p:cNvSpPr>
            <a:spLocks noGrp="1"/>
          </p:cNvSpPr>
          <p:nvPr>
            <p:ph type="sldNum" sz="quarter" idx="12"/>
          </p:nvPr>
        </p:nvSpPr>
        <p:spPr/>
        <p:txBody>
          <a:bodyPr/>
          <a:lstStyle/>
          <a:p>
            <a:fld id="{F301E06B-71EB-2D49-85E3-A997B3072A7D}" type="slidenum">
              <a:rPr kumimoji="1" lang="zh-CN" altLang="en-US" smtClean="0"/>
              <a:t>‹#›</a:t>
            </a:fld>
            <a:endParaRPr kumimoji="1" lang="zh-CN" altLang="en-US"/>
          </a:p>
        </p:txBody>
      </p:sp>
    </p:spTree>
    <p:extLst>
      <p:ext uri="{BB962C8B-B14F-4D97-AF65-F5344CB8AC3E}">
        <p14:creationId xmlns:p14="http://schemas.microsoft.com/office/powerpoint/2010/main" val="322947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3A50D1-E63B-8A1A-B56F-79D419F3E8C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82FF90D2-62FC-EE96-CF2D-7D4EBFA593E3}"/>
              </a:ext>
            </a:extLst>
          </p:cNvPr>
          <p:cNvSpPr>
            <a:spLocks noGrp="1"/>
          </p:cNvSpPr>
          <p:nvPr>
            <p:ph type="dt" sz="half" idx="10"/>
          </p:nvPr>
        </p:nvSpPr>
        <p:spPr/>
        <p:txBody>
          <a:bodyPr/>
          <a:lstStyle/>
          <a:p>
            <a:fld id="{F52C39ED-0716-264E-AD63-A247ACC00E97}" type="datetimeFigureOut">
              <a:rPr kumimoji="1" lang="zh-CN" altLang="en-US" smtClean="0"/>
              <a:t>2024/11/27</a:t>
            </a:fld>
            <a:endParaRPr kumimoji="1" lang="zh-CN" altLang="en-US"/>
          </a:p>
        </p:txBody>
      </p:sp>
      <p:sp>
        <p:nvSpPr>
          <p:cNvPr id="4" name="页脚占位符 3">
            <a:extLst>
              <a:ext uri="{FF2B5EF4-FFF2-40B4-BE49-F238E27FC236}">
                <a16:creationId xmlns:a16="http://schemas.microsoft.com/office/drawing/2014/main" id="{42E68E2B-5A72-1519-70CA-5724835D666E}"/>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C7ED09C7-6FB8-79D0-0804-18B0A3EB4BB5}"/>
              </a:ext>
            </a:extLst>
          </p:cNvPr>
          <p:cNvSpPr>
            <a:spLocks noGrp="1"/>
          </p:cNvSpPr>
          <p:nvPr>
            <p:ph type="sldNum" sz="quarter" idx="12"/>
          </p:nvPr>
        </p:nvSpPr>
        <p:spPr/>
        <p:txBody>
          <a:bodyPr/>
          <a:lstStyle/>
          <a:p>
            <a:fld id="{F301E06B-71EB-2D49-85E3-A997B3072A7D}" type="slidenum">
              <a:rPr kumimoji="1" lang="zh-CN" altLang="en-US" smtClean="0"/>
              <a:t>‹#›</a:t>
            </a:fld>
            <a:endParaRPr kumimoji="1" lang="zh-CN" altLang="en-US"/>
          </a:p>
        </p:txBody>
      </p:sp>
    </p:spTree>
    <p:extLst>
      <p:ext uri="{BB962C8B-B14F-4D97-AF65-F5344CB8AC3E}">
        <p14:creationId xmlns:p14="http://schemas.microsoft.com/office/powerpoint/2010/main" val="3790804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AB726CF-00FD-F6A5-32E6-344B7A5B40DC}"/>
              </a:ext>
            </a:extLst>
          </p:cNvPr>
          <p:cNvSpPr>
            <a:spLocks noGrp="1"/>
          </p:cNvSpPr>
          <p:nvPr>
            <p:ph type="dt" sz="half" idx="10"/>
          </p:nvPr>
        </p:nvSpPr>
        <p:spPr/>
        <p:txBody>
          <a:bodyPr/>
          <a:lstStyle/>
          <a:p>
            <a:fld id="{F52C39ED-0716-264E-AD63-A247ACC00E97}" type="datetimeFigureOut">
              <a:rPr kumimoji="1" lang="zh-CN" altLang="en-US" smtClean="0"/>
              <a:t>2024/11/27</a:t>
            </a:fld>
            <a:endParaRPr kumimoji="1" lang="zh-CN" altLang="en-US"/>
          </a:p>
        </p:txBody>
      </p:sp>
      <p:sp>
        <p:nvSpPr>
          <p:cNvPr id="3" name="页脚占位符 2">
            <a:extLst>
              <a:ext uri="{FF2B5EF4-FFF2-40B4-BE49-F238E27FC236}">
                <a16:creationId xmlns:a16="http://schemas.microsoft.com/office/drawing/2014/main" id="{0E9E9DEE-6E62-2416-EC73-797C43684A60}"/>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D6EDF800-20F0-ED29-5467-5D576E2D83B8}"/>
              </a:ext>
            </a:extLst>
          </p:cNvPr>
          <p:cNvSpPr>
            <a:spLocks noGrp="1"/>
          </p:cNvSpPr>
          <p:nvPr>
            <p:ph type="sldNum" sz="quarter" idx="12"/>
          </p:nvPr>
        </p:nvSpPr>
        <p:spPr/>
        <p:txBody>
          <a:bodyPr/>
          <a:lstStyle/>
          <a:p>
            <a:fld id="{F301E06B-71EB-2D49-85E3-A997B3072A7D}" type="slidenum">
              <a:rPr kumimoji="1" lang="zh-CN" altLang="en-US" smtClean="0"/>
              <a:t>‹#›</a:t>
            </a:fld>
            <a:endParaRPr kumimoji="1" lang="zh-CN" altLang="en-US"/>
          </a:p>
        </p:txBody>
      </p:sp>
    </p:spTree>
    <p:extLst>
      <p:ext uri="{BB962C8B-B14F-4D97-AF65-F5344CB8AC3E}">
        <p14:creationId xmlns:p14="http://schemas.microsoft.com/office/powerpoint/2010/main" val="3685290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A3DB67-F0B2-2E46-ACEE-22EF40DC98FD}"/>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A53BBE2E-84FC-E1E6-12A5-CFE68755AF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D3CE42B6-2E90-FB4D-29BB-6C44F66F15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50352FB-1C47-6DCD-BD5E-7FEA754697EA}"/>
              </a:ext>
            </a:extLst>
          </p:cNvPr>
          <p:cNvSpPr>
            <a:spLocks noGrp="1"/>
          </p:cNvSpPr>
          <p:nvPr>
            <p:ph type="dt" sz="half" idx="10"/>
          </p:nvPr>
        </p:nvSpPr>
        <p:spPr/>
        <p:txBody>
          <a:bodyPr/>
          <a:lstStyle/>
          <a:p>
            <a:fld id="{F52C39ED-0716-264E-AD63-A247ACC00E97}" type="datetimeFigureOut">
              <a:rPr kumimoji="1" lang="zh-CN" altLang="en-US" smtClean="0"/>
              <a:t>2024/11/27</a:t>
            </a:fld>
            <a:endParaRPr kumimoji="1" lang="zh-CN" altLang="en-US"/>
          </a:p>
        </p:txBody>
      </p:sp>
      <p:sp>
        <p:nvSpPr>
          <p:cNvPr id="6" name="页脚占位符 5">
            <a:extLst>
              <a:ext uri="{FF2B5EF4-FFF2-40B4-BE49-F238E27FC236}">
                <a16:creationId xmlns:a16="http://schemas.microsoft.com/office/drawing/2014/main" id="{CCBC79B2-D009-4DB4-6C4F-B1F4DD33470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4513F20-CC31-40FD-6075-292567812115}"/>
              </a:ext>
            </a:extLst>
          </p:cNvPr>
          <p:cNvSpPr>
            <a:spLocks noGrp="1"/>
          </p:cNvSpPr>
          <p:nvPr>
            <p:ph type="sldNum" sz="quarter" idx="12"/>
          </p:nvPr>
        </p:nvSpPr>
        <p:spPr/>
        <p:txBody>
          <a:bodyPr/>
          <a:lstStyle/>
          <a:p>
            <a:fld id="{F301E06B-71EB-2D49-85E3-A997B3072A7D}" type="slidenum">
              <a:rPr kumimoji="1" lang="zh-CN" altLang="en-US" smtClean="0"/>
              <a:t>‹#›</a:t>
            </a:fld>
            <a:endParaRPr kumimoji="1" lang="zh-CN" altLang="en-US"/>
          </a:p>
        </p:txBody>
      </p:sp>
    </p:spTree>
    <p:extLst>
      <p:ext uri="{BB962C8B-B14F-4D97-AF65-F5344CB8AC3E}">
        <p14:creationId xmlns:p14="http://schemas.microsoft.com/office/powerpoint/2010/main" val="2275265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39D1A1-0FB4-A4CE-EB4E-628AFF20F12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1ADB95AF-3318-688D-1F15-F2732C118D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7529509F-1E7E-50E0-F262-1F2FF68290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AD6C66A-568F-06C3-23CC-85B1860BA8EB}"/>
              </a:ext>
            </a:extLst>
          </p:cNvPr>
          <p:cNvSpPr>
            <a:spLocks noGrp="1"/>
          </p:cNvSpPr>
          <p:nvPr>
            <p:ph type="dt" sz="half" idx="10"/>
          </p:nvPr>
        </p:nvSpPr>
        <p:spPr/>
        <p:txBody>
          <a:bodyPr/>
          <a:lstStyle/>
          <a:p>
            <a:fld id="{F52C39ED-0716-264E-AD63-A247ACC00E97}" type="datetimeFigureOut">
              <a:rPr kumimoji="1" lang="zh-CN" altLang="en-US" smtClean="0"/>
              <a:t>2024/11/27</a:t>
            </a:fld>
            <a:endParaRPr kumimoji="1" lang="zh-CN" altLang="en-US"/>
          </a:p>
        </p:txBody>
      </p:sp>
      <p:sp>
        <p:nvSpPr>
          <p:cNvPr id="6" name="页脚占位符 5">
            <a:extLst>
              <a:ext uri="{FF2B5EF4-FFF2-40B4-BE49-F238E27FC236}">
                <a16:creationId xmlns:a16="http://schemas.microsoft.com/office/drawing/2014/main" id="{BB0B1DA4-40B9-C45E-5586-895C55C77FB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DAD01B7-9C26-6D08-39BA-0B57EFCE26A1}"/>
              </a:ext>
            </a:extLst>
          </p:cNvPr>
          <p:cNvSpPr>
            <a:spLocks noGrp="1"/>
          </p:cNvSpPr>
          <p:nvPr>
            <p:ph type="sldNum" sz="quarter" idx="12"/>
          </p:nvPr>
        </p:nvSpPr>
        <p:spPr/>
        <p:txBody>
          <a:bodyPr/>
          <a:lstStyle/>
          <a:p>
            <a:fld id="{F301E06B-71EB-2D49-85E3-A997B3072A7D}" type="slidenum">
              <a:rPr kumimoji="1" lang="zh-CN" altLang="en-US" smtClean="0"/>
              <a:t>‹#›</a:t>
            </a:fld>
            <a:endParaRPr kumimoji="1" lang="zh-CN" altLang="en-US"/>
          </a:p>
        </p:txBody>
      </p:sp>
    </p:spTree>
    <p:extLst>
      <p:ext uri="{BB962C8B-B14F-4D97-AF65-F5344CB8AC3E}">
        <p14:creationId xmlns:p14="http://schemas.microsoft.com/office/powerpoint/2010/main" val="1259244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454FA4-863E-0F63-D3C7-96DF79B3B503}"/>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3AA75A9-B881-6707-C576-3F4EA9B29020}"/>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7F31DC3-2B28-B1E9-17C4-CF6934CB3C7E}"/>
              </a:ext>
            </a:extLst>
          </p:cNvPr>
          <p:cNvSpPr>
            <a:spLocks noGrp="1"/>
          </p:cNvSpPr>
          <p:nvPr>
            <p:ph type="dt" sz="half" idx="10"/>
          </p:nvPr>
        </p:nvSpPr>
        <p:spPr/>
        <p:txBody>
          <a:bodyPr/>
          <a:lstStyle/>
          <a:p>
            <a:fld id="{F52C39ED-0716-264E-AD63-A247ACC00E97}" type="datetimeFigureOut">
              <a:rPr kumimoji="1" lang="zh-CN" altLang="en-US" smtClean="0"/>
              <a:t>2024/11/27</a:t>
            </a:fld>
            <a:endParaRPr kumimoji="1" lang="zh-CN" altLang="en-US"/>
          </a:p>
        </p:txBody>
      </p:sp>
      <p:sp>
        <p:nvSpPr>
          <p:cNvPr id="5" name="页脚占位符 4">
            <a:extLst>
              <a:ext uri="{FF2B5EF4-FFF2-40B4-BE49-F238E27FC236}">
                <a16:creationId xmlns:a16="http://schemas.microsoft.com/office/drawing/2014/main" id="{D044B21C-F7EF-E481-56C7-1182D357503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53F84A4-E197-E40D-ECC7-8BA75A5630D1}"/>
              </a:ext>
            </a:extLst>
          </p:cNvPr>
          <p:cNvSpPr>
            <a:spLocks noGrp="1"/>
          </p:cNvSpPr>
          <p:nvPr>
            <p:ph type="sldNum" sz="quarter" idx="12"/>
          </p:nvPr>
        </p:nvSpPr>
        <p:spPr/>
        <p:txBody>
          <a:bodyPr/>
          <a:lstStyle/>
          <a:p>
            <a:fld id="{F301E06B-71EB-2D49-85E3-A997B3072A7D}" type="slidenum">
              <a:rPr kumimoji="1" lang="zh-CN" altLang="en-US" smtClean="0"/>
              <a:t>‹#›</a:t>
            </a:fld>
            <a:endParaRPr kumimoji="1" lang="zh-CN" altLang="en-US"/>
          </a:p>
        </p:txBody>
      </p:sp>
    </p:spTree>
    <p:extLst>
      <p:ext uri="{BB962C8B-B14F-4D97-AF65-F5344CB8AC3E}">
        <p14:creationId xmlns:p14="http://schemas.microsoft.com/office/powerpoint/2010/main" val="2007873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D393410-F2F6-F992-A95E-E640031EEDA6}"/>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AAE3A63-4E83-B4C4-DA42-E2FC4E595AEC}"/>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7657BB6-138C-0A37-9F47-1065F35E1125}"/>
              </a:ext>
            </a:extLst>
          </p:cNvPr>
          <p:cNvSpPr>
            <a:spLocks noGrp="1"/>
          </p:cNvSpPr>
          <p:nvPr>
            <p:ph type="dt" sz="half" idx="10"/>
          </p:nvPr>
        </p:nvSpPr>
        <p:spPr/>
        <p:txBody>
          <a:bodyPr/>
          <a:lstStyle/>
          <a:p>
            <a:fld id="{F52C39ED-0716-264E-AD63-A247ACC00E97}" type="datetimeFigureOut">
              <a:rPr kumimoji="1" lang="zh-CN" altLang="en-US" smtClean="0"/>
              <a:t>2024/11/27</a:t>
            </a:fld>
            <a:endParaRPr kumimoji="1" lang="zh-CN" altLang="en-US"/>
          </a:p>
        </p:txBody>
      </p:sp>
      <p:sp>
        <p:nvSpPr>
          <p:cNvPr id="5" name="页脚占位符 4">
            <a:extLst>
              <a:ext uri="{FF2B5EF4-FFF2-40B4-BE49-F238E27FC236}">
                <a16:creationId xmlns:a16="http://schemas.microsoft.com/office/drawing/2014/main" id="{C11ECFE4-60B6-0A89-045A-E9BC558F0ED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535330D-5DD0-6BE4-5B88-B77738E640D4}"/>
              </a:ext>
            </a:extLst>
          </p:cNvPr>
          <p:cNvSpPr>
            <a:spLocks noGrp="1"/>
          </p:cNvSpPr>
          <p:nvPr>
            <p:ph type="sldNum" sz="quarter" idx="12"/>
          </p:nvPr>
        </p:nvSpPr>
        <p:spPr/>
        <p:txBody>
          <a:bodyPr/>
          <a:lstStyle/>
          <a:p>
            <a:fld id="{F301E06B-71EB-2D49-85E3-A997B3072A7D}" type="slidenum">
              <a:rPr kumimoji="1" lang="zh-CN" altLang="en-US" smtClean="0"/>
              <a:t>‹#›</a:t>
            </a:fld>
            <a:endParaRPr kumimoji="1" lang="zh-CN" altLang="en-US"/>
          </a:p>
        </p:txBody>
      </p:sp>
    </p:spTree>
    <p:extLst>
      <p:ext uri="{BB962C8B-B14F-4D97-AF65-F5344CB8AC3E}">
        <p14:creationId xmlns:p14="http://schemas.microsoft.com/office/powerpoint/2010/main" val="39567183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21299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9888C92-075A-3258-901E-2F0A744B78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EDF9933-4381-B09D-F751-26E3B3F535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4624139-CA0B-278F-88F0-4F2D3B7A66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2C39ED-0716-264E-AD63-A247ACC00E97}" type="datetimeFigureOut">
              <a:rPr kumimoji="1" lang="zh-CN" altLang="en-US" smtClean="0"/>
              <a:t>2024/11/27</a:t>
            </a:fld>
            <a:endParaRPr kumimoji="1" lang="zh-CN" altLang="en-US"/>
          </a:p>
        </p:txBody>
      </p:sp>
      <p:sp>
        <p:nvSpPr>
          <p:cNvPr id="5" name="页脚占位符 4">
            <a:extLst>
              <a:ext uri="{FF2B5EF4-FFF2-40B4-BE49-F238E27FC236}">
                <a16:creationId xmlns:a16="http://schemas.microsoft.com/office/drawing/2014/main" id="{F35F186D-FF45-65E4-EEE3-C84AD821ED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E49DE036-0334-D29E-B033-99CB1D356D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01E06B-71EB-2D49-85E3-A997B3072A7D}" type="slidenum">
              <a:rPr kumimoji="1" lang="zh-CN" altLang="en-US" smtClean="0"/>
              <a:t>‹#›</a:t>
            </a:fld>
            <a:endParaRPr kumimoji="1" lang="zh-CN" altLang="en-US"/>
          </a:p>
        </p:txBody>
      </p:sp>
    </p:spTree>
    <p:extLst>
      <p:ext uri="{BB962C8B-B14F-4D97-AF65-F5344CB8AC3E}">
        <p14:creationId xmlns:p14="http://schemas.microsoft.com/office/powerpoint/2010/main" val="5056058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12.xml"/><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12.xml"/><Relationship Id="rId4" Type="http://schemas.openxmlformats.org/officeDocument/2006/relationships/image" Target="../media/image5.wmf"/></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12.xml"/><Relationship Id="rId4" Type="http://schemas.openxmlformats.org/officeDocument/2006/relationships/image" Target="../media/image5.wmf"/></Relationships>
</file>

<file path=ppt/slides/_rels/slide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12.xml"/><Relationship Id="rId4" Type="http://schemas.openxmlformats.org/officeDocument/2006/relationships/image" Target="../media/image5.wmf"/></Relationships>
</file>

<file path=ppt/slides/_rels/slide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5.wmf"/></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3071775" y="1786340"/>
            <a:ext cx="8252723" cy="440267"/>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sz="2400">
              <a:solidFill>
                <a:srgbClr val="FFFFFF"/>
              </a:solidFill>
              <a:latin typeface="宋体" charset="-122"/>
            </a:endParaRPr>
          </a:p>
        </p:txBody>
      </p:sp>
      <p:sp>
        <p:nvSpPr>
          <p:cNvPr id="3" name="Rectangle 10"/>
          <p:cNvSpPr>
            <a:spLocks noChangeArrowheads="1"/>
          </p:cNvSpPr>
          <p:nvPr/>
        </p:nvSpPr>
        <p:spPr bwMode="auto">
          <a:xfrm>
            <a:off x="3071775" y="2594907"/>
            <a:ext cx="8252723" cy="440267"/>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sz="2400">
              <a:solidFill>
                <a:srgbClr val="FFFFFF"/>
              </a:solidFill>
              <a:latin typeface="宋体" charset="-122"/>
            </a:endParaRPr>
          </a:p>
        </p:txBody>
      </p:sp>
      <p:sp>
        <p:nvSpPr>
          <p:cNvPr id="4" name="Rectangle 27"/>
          <p:cNvSpPr>
            <a:spLocks noChangeArrowheads="1"/>
          </p:cNvSpPr>
          <p:nvPr/>
        </p:nvSpPr>
        <p:spPr bwMode="auto">
          <a:xfrm>
            <a:off x="653688" y="1786341"/>
            <a:ext cx="2182053" cy="2413895"/>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sz="2400">
              <a:latin typeface="宋体" charset="-122"/>
            </a:endParaRPr>
          </a:p>
        </p:txBody>
      </p:sp>
      <p:sp>
        <p:nvSpPr>
          <p:cNvPr id="5" name="Rectangle 29"/>
          <p:cNvSpPr>
            <a:spLocks noChangeArrowheads="1"/>
          </p:cNvSpPr>
          <p:nvPr/>
        </p:nvSpPr>
        <p:spPr bwMode="auto">
          <a:xfrm>
            <a:off x="665541" y="1912916"/>
            <a:ext cx="2170201" cy="13236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667" b="1" dirty="0">
                <a:solidFill>
                  <a:srgbClr val="FFFF00"/>
                </a:solidFill>
                <a:latin typeface="微软雅黑" pitchFamily="34" charset="-122"/>
                <a:ea typeface="微软雅黑" pitchFamily="34" charset="-122"/>
              </a:rPr>
              <a:t>4.10</a:t>
            </a:r>
          </a:p>
          <a:p>
            <a:r>
              <a:rPr lang="zh-CN" altLang="en-US" sz="2667" b="1" dirty="0">
                <a:solidFill>
                  <a:schemeClr val="bg1"/>
                </a:solidFill>
                <a:latin typeface="微软雅黑" pitchFamily="34" charset="-122"/>
                <a:ea typeface="微软雅黑" pitchFamily="34" charset="-122"/>
              </a:rPr>
              <a:t>软件定义网络 </a:t>
            </a:r>
            <a:r>
              <a:rPr lang="en-US" altLang="zh-CN" sz="2667" b="1" dirty="0">
                <a:solidFill>
                  <a:schemeClr val="bg1"/>
                </a:solidFill>
                <a:latin typeface="微软雅黑" pitchFamily="34" charset="-122"/>
                <a:ea typeface="微软雅黑" pitchFamily="34" charset="-122"/>
              </a:rPr>
              <a:t>SDN </a:t>
            </a:r>
            <a:r>
              <a:rPr lang="zh-CN" altLang="en-US" sz="2667" b="1" dirty="0">
                <a:solidFill>
                  <a:schemeClr val="bg1"/>
                </a:solidFill>
                <a:latin typeface="微软雅黑" pitchFamily="34" charset="-122"/>
                <a:ea typeface="微软雅黑" pitchFamily="34" charset="-122"/>
              </a:rPr>
              <a:t>简介</a:t>
            </a:r>
          </a:p>
        </p:txBody>
      </p:sp>
      <p:sp>
        <p:nvSpPr>
          <p:cNvPr id="8" name="Rectangle 9"/>
          <p:cNvSpPr>
            <a:spLocks noChangeArrowheads="1"/>
          </p:cNvSpPr>
          <p:nvPr/>
        </p:nvSpPr>
        <p:spPr bwMode="auto">
          <a:xfrm>
            <a:off x="3071775" y="3403473"/>
            <a:ext cx="8252723" cy="440267"/>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sz="2400">
              <a:solidFill>
                <a:srgbClr val="FFFFFF"/>
              </a:solidFill>
              <a:latin typeface="宋体" charset="-122"/>
            </a:endParaRPr>
          </a:p>
        </p:txBody>
      </p:sp>
      <p:sp>
        <p:nvSpPr>
          <p:cNvPr id="7" name="Rectangle 8"/>
          <p:cNvSpPr>
            <a:spLocks noChangeArrowheads="1"/>
          </p:cNvSpPr>
          <p:nvPr/>
        </p:nvSpPr>
        <p:spPr bwMode="auto">
          <a:xfrm>
            <a:off x="3049799" y="1740282"/>
            <a:ext cx="8274699" cy="2144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667" b="1" dirty="0">
                <a:solidFill>
                  <a:schemeClr val="bg1"/>
                </a:solidFill>
                <a:latin typeface="微软雅黑" pitchFamily="34" charset="-122"/>
                <a:ea typeface="微软雅黑" pitchFamily="34" charset="-122"/>
              </a:rPr>
              <a:t>4.10.1                               SDN </a:t>
            </a:r>
            <a:r>
              <a:rPr lang="zh-CN" altLang="en-US" sz="2667" b="1" dirty="0">
                <a:solidFill>
                  <a:schemeClr val="bg1"/>
                </a:solidFill>
                <a:latin typeface="微软雅黑" pitchFamily="34" charset="-122"/>
                <a:ea typeface="微软雅黑" pitchFamily="34" charset="-122"/>
              </a:rPr>
              <a:t>与协议 </a:t>
            </a:r>
            <a:r>
              <a:rPr lang="en-US" altLang="zh-CN" sz="2667" b="1" dirty="0" err="1">
                <a:solidFill>
                  <a:schemeClr val="bg1"/>
                </a:solidFill>
                <a:latin typeface="微软雅黑" pitchFamily="34" charset="-122"/>
                <a:ea typeface="微软雅黑" pitchFamily="34" charset="-122"/>
              </a:rPr>
              <a:t>OpenFlow</a:t>
            </a:r>
            <a:endParaRPr lang="en-US" altLang="zh-CN" sz="2667" b="1" dirty="0">
              <a:solidFill>
                <a:schemeClr val="bg1"/>
              </a:solidFill>
              <a:latin typeface="微软雅黑" pitchFamily="34" charset="-122"/>
              <a:ea typeface="微软雅黑" pitchFamily="34" charset="-122"/>
            </a:endParaRPr>
          </a:p>
          <a:p>
            <a:endParaRPr lang="zh-CN" altLang="en-US" sz="2667" b="1" dirty="0">
              <a:solidFill>
                <a:schemeClr val="bg1"/>
              </a:solidFill>
              <a:latin typeface="微软雅黑" pitchFamily="34" charset="-122"/>
              <a:ea typeface="微软雅黑" pitchFamily="34" charset="-122"/>
            </a:endParaRPr>
          </a:p>
          <a:p>
            <a:r>
              <a:rPr lang="en-US" altLang="zh-CN" sz="2667" b="1" dirty="0">
                <a:solidFill>
                  <a:schemeClr val="bg1"/>
                </a:solidFill>
                <a:latin typeface="微软雅黑" pitchFamily="34" charset="-122"/>
                <a:ea typeface="微软雅黑" pitchFamily="34" charset="-122"/>
              </a:rPr>
              <a:t>4.10.2                                              SDN </a:t>
            </a:r>
            <a:r>
              <a:rPr lang="zh-CN" altLang="en-US" sz="2667" b="1" dirty="0">
                <a:solidFill>
                  <a:schemeClr val="bg1"/>
                </a:solidFill>
                <a:latin typeface="微软雅黑" pitchFamily="34" charset="-122"/>
                <a:ea typeface="微软雅黑" pitchFamily="34" charset="-122"/>
              </a:rPr>
              <a:t>体系结构</a:t>
            </a:r>
            <a:endParaRPr lang="en-US" altLang="zh-CN" sz="2667" b="1" dirty="0">
              <a:solidFill>
                <a:schemeClr val="bg1"/>
              </a:solidFill>
              <a:latin typeface="微软雅黑" pitchFamily="34" charset="-122"/>
              <a:ea typeface="微软雅黑" pitchFamily="34" charset="-122"/>
            </a:endParaRPr>
          </a:p>
          <a:p>
            <a:endParaRPr lang="en-US" altLang="zh-CN" sz="2667" b="1" dirty="0">
              <a:solidFill>
                <a:schemeClr val="bg1"/>
              </a:solidFill>
              <a:latin typeface="微软雅黑" pitchFamily="34" charset="-122"/>
              <a:ea typeface="微软雅黑" pitchFamily="34" charset="-122"/>
            </a:endParaRPr>
          </a:p>
          <a:p>
            <a:r>
              <a:rPr lang="en-US" altLang="zh-CN" sz="2667" b="1" dirty="0">
                <a:solidFill>
                  <a:schemeClr val="bg1"/>
                </a:solidFill>
                <a:latin typeface="微软雅黑" pitchFamily="34" charset="-122"/>
                <a:ea typeface="微软雅黑" pitchFamily="34" charset="-122"/>
              </a:rPr>
              <a:t>4.10.3                                                 SDN </a:t>
            </a:r>
            <a:r>
              <a:rPr lang="zh-CN" altLang="en-US" sz="2667" b="1" dirty="0">
                <a:solidFill>
                  <a:schemeClr val="bg1"/>
                </a:solidFill>
                <a:latin typeface="微软雅黑" pitchFamily="34" charset="-122"/>
                <a:ea typeface="微软雅黑" pitchFamily="34" charset="-122"/>
              </a:rPr>
              <a:t>控制器</a:t>
            </a:r>
            <a:endParaRPr lang="en-US" altLang="zh-CN" sz="2667" b="1" dirty="0">
              <a:solidFill>
                <a:schemeClr val="bg1"/>
              </a:solidFill>
              <a:latin typeface="微软雅黑" pitchFamily="34" charset="-122"/>
              <a:ea typeface="微软雅黑" pitchFamily="34" charset="-122"/>
            </a:endParaRPr>
          </a:p>
        </p:txBody>
      </p:sp>
      <p:sp>
        <p:nvSpPr>
          <p:cNvPr id="6" name="Line 16"/>
          <p:cNvSpPr>
            <a:spLocks noChangeShapeType="1"/>
          </p:cNvSpPr>
          <p:nvPr/>
        </p:nvSpPr>
        <p:spPr bwMode="auto">
          <a:xfrm>
            <a:off x="4415859" y="1691091"/>
            <a:ext cx="0" cy="3044883"/>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Tree>
    <p:extLst>
      <p:ext uri="{BB962C8B-B14F-4D97-AF65-F5344CB8AC3E}">
        <p14:creationId xmlns:p14="http://schemas.microsoft.com/office/powerpoint/2010/main" val="13547837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726859" y="815309"/>
            <a:ext cx="10738283" cy="518295"/>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sz="2400">
              <a:latin typeface="宋体" charset="-122"/>
            </a:endParaRPr>
          </a:p>
        </p:txBody>
      </p:sp>
      <p:sp>
        <p:nvSpPr>
          <p:cNvPr id="6" name="Rectangle 6"/>
          <p:cNvSpPr>
            <a:spLocks noChangeArrowheads="1"/>
          </p:cNvSpPr>
          <p:nvPr/>
        </p:nvSpPr>
        <p:spPr bwMode="auto">
          <a:xfrm>
            <a:off x="2875964" y="782392"/>
            <a:ext cx="644389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3200" b="1" dirty="0">
                <a:solidFill>
                  <a:srgbClr val="FFFF00"/>
                </a:solidFill>
                <a:latin typeface="微软雅黑" pitchFamily="34" charset="-122"/>
                <a:ea typeface="微软雅黑" pitchFamily="34" charset="-122"/>
              </a:rPr>
              <a:t>4.10   </a:t>
            </a:r>
            <a:r>
              <a:rPr lang="zh-CN" altLang="en-US" sz="3200" b="1" dirty="0">
                <a:solidFill>
                  <a:schemeClr val="bg1"/>
                </a:solidFill>
                <a:latin typeface="微软雅黑" pitchFamily="34" charset="-122"/>
                <a:ea typeface="微软雅黑" pitchFamily="34" charset="-122"/>
              </a:rPr>
              <a:t>软件定义网络 </a:t>
            </a:r>
            <a:r>
              <a:rPr lang="en-US" altLang="zh-CN" sz="3200" b="1" dirty="0">
                <a:solidFill>
                  <a:schemeClr val="bg1"/>
                </a:solidFill>
                <a:latin typeface="微软雅黑" pitchFamily="34" charset="-122"/>
                <a:ea typeface="微软雅黑" pitchFamily="34" charset="-122"/>
              </a:rPr>
              <a:t>SDN </a:t>
            </a:r>
            <a:r>
              <a:rPr lang="zh-CN" altLang="en-US" sz="3200" b="1" dirty="0">
                <a:solidFill>
                  <a:schemeClr val="bg1"/>
                </a:solidFill>
                <a:latin typeface="微软雅黑" pitchFamily="34" charset="-122"/>
                <a:ea typeface="微软雅黑" pitchFamily="34" charset="-122"/>
              </a:rPr>
              <a:t>简介</a:t>
            </a:r>
          </a:p>
        </p:txBody>
      </p:sp>
      <p:sp>
        <p:nvSpPr>
          <p:cNvPr id="4" name="Rectangle 8"/>
          <p:cNvSpPr>
            <a:spLocks noChangeArrowheads="1"/>
          </p:cNvSpPr>
          <p:nvPr/>
        </p:nvSpPr>
        <p:spPr bwMode="auto">
          <a:xfrm>
            <a:off x="726858" y="1345884"/>
            <a:ext cx="10946076" cy="4447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80990" indent="-380990">
              <a:lnSpc>
                <a:spcPts val="4267"/>
              </a:lnSpc>
              <a:buClr>
                <a:srgbClr val="0070C0"/>
              </a:buClr>
              <a:buFont typeface="Wingdings" pitchFamily="2" charset="2"/>
              <a:buChar char="l"/>
            </a:pPr>
            <a:r>
              <a:rPr lang="zh-CN" altLang="en-US" sz="2667" b="1" dirty="0">
                <a:latin typeface="微软雅黑" pitchFamily="34" charset="-122"/>
                <a:ea typeface="微软雅黑" pitchFamily="34" charset="-122"/>
              </a:rPr>
              <a:t>软件定义网络 </a:t>
            </a:r>
            <a:r>
              <a:rPr lang="en-US" altLang="zh-CN" sz="2667" b="1" dirty="0">
                <a:latin typeface="微软雅黑" pitchFamily="34" charset="-122"/>
                <a:ea typeface="微软雅黑" pitchFamily="34" charset="-122"/>
              </a:rPr>
              <a:t>SDN</a:t>
            </a:r>
            <a:r>
              <a:rPr lang="zh-CN" altLang="en-US" sz="2667" b="1" dirty="0">
                <a:latin typeface="微软雅黑" pitchFamily="34" charset="-122"/>
                <a:ea typeface="微软雅黑" pitchFamily="34" charset="-122"/>
              </a:rPr>
              <a:t>（</a:t>
            </a:r>
            <a:r>
              <a:rPr lang="en-US" altLang="zh-CN" sz="2667" b="1" dirty="0">
                <a:latin typeface="微软雅黑" pitchFamily="34" charset="-122"/>
                <a:ea typeface="微软雅黑" pitchFamily="34" charset="-122"/>
              </a:rPr>
              <a:t>Software Defined Network</a:t>
            </a:r>
            <a:r>
              <a:rPr lang="zh-CN" altLang="en-US" sz="2667" b="1" dirty="0">
                <a:latin typeface="微软雅黑" pitchFamily="34" charset="-122"/>
                <a:ea typeface="微软雅黑" pitchFamily="34" charset="-122"/>
              </a:rPr>
              <a:t>）由斯坦福大学</a:t>
            </a:r>
            <a:r>
              <a:rPr lang="en-US" altLang="zh-CN" sz="2667" b="1" dirty="0">
                <a:latin typeface="微软雅黑" pitchFamily="34" charset="-122"/>
                <a:ea typeface="微软雅黑" pitchFamily="34" charset="-122"/>
              </a:rPr>
              <a:t>N. </a:t>
            </a:r>
            <a:r>
              <a:rPr lang="en-US" altLang="zh-CN" sz="2667" b="1" dirty="0" err="1">
                <a:latin typeface="微软雅黑" pitchFamily="34" charset="-122"/>
                <a:ea typeface="微软雅黑" pitchFamily="34" charset="-122"/>
              </a:rPr>
              <a:t>McKeown</a:t>
            </a:r>
            <a:r>
              <a:rPr lang="en-US" altLang="zh-CN" sz="2667" b="1" dirty="0">
                <a:latin typeface="微软雅黑" pitchFamily="34" charset="-122"/>
                <a:ea typeface="微软雅黑" pitchFamily="34" charset="-122"/>
              </a:rPr>
              <a:t> </a:t>
            </a:r>
            <a:r>
              <a:rPr lang="zh-CN" altLang="en-US" sz="2667" b="1" dirty="0">
                <a:latin typeface="微软雅黑" pitchFamily="34" charset="-122"/>
                <a:ea typeface="微软雅黑" pitchFamily="34" charset="-122"/>
              </a:rPr>
              <a:t>于 </a:t>
            </a:r>
            <a:r>
              <a:rPr lang="en-US" altLang="zh-CN" sz="2667" b="1" dirty="0">
                <a:latin typeface="微软雅黑" pitchFamily="34" charset="-122"/>
                <a:ea typeface="微软雅黑" pitchFamily="34" charset="-122"/>
              </a:rPr>
              <a:t>2009 </a:t>
            </a:r>
            <a:r>
              <a:rPr lang="zh-CN" altLang="en-US" sz="2667" b="1" dirty="0">
                <a:latin typeface="微软雅黑" pitchFamily="34" charset="-122"/>
                <a:ea typeface="微软雅黑" pitchFamily="34" charset="-122"/>
              </a:rPr>
              <a:t>年首先提出。</a:t>
            </a:r>
            <a:endParaRPr lang="en-US" altLang="zh-CN" sz="2667" b="1" dirty="0">
              <a:latin typeface="微软雅黑" pitchFamily="34" charset="-122"/>
              <a:ea typeface="微软雅黑" pitchFamily="34" charset="-122"/>
            </a:endParaRPr>
          </a:p>
          <a:p>
            <a:pPr marL="380990" indent="-380990">
              <a:lnSpc>
                <a:spcPts val="4267"/>
              </a:lnSpc>
              <a:buClr>
                <a:srgbClr val="0070C0"/>
              </a:buClr>
              <a:buFont typeface="Wingdings" pitchFamily="2" charset="2"/>
              <a:buChar char="l"/>
            </a:pPr>
            <a:r>
              <a:rPr lang="zh-CN" altLang="en-US" sz="2667" b="1" dirty="0">
                <a:latin typeface="微软雅黑" pitchFamily="34" charset="-122"/>
                <a:ea typeface="微软雅黑" pitchFamily="34" charset="-122"/>
              </a:rPr>
              <a:t>谷歌于 </a:t>
            </a:r>
            <a:r>
              <a:rPr lang="en-US" altLang="zh-CN" sz="2667" b="1" dirty="0">
                <a:latin typeface="微软雅黑" pitchFamily="34" charset="-122"/>
                <a:ea typeface="微软雅黑" pitchFamily="34" charset="-122"/>
              </a:rPr>
              <a:t>2010 ~ 2012 </a:t>
            </a:r>
            <a:r>
              <a:rPr lang="zh-CN" altLang="en-US" sz="2667" b="1" dirty="0">
                <a:latin typeface="微软雅黑" pitchFamily="34" charset="-122"/>
                <a:ea typeface="微软雅黑" pitchFamily="34" charset="-122"/>
              </a:rPr>
              <a:t>年的数据中心网络 </a:t>
            </a:r>
            <a:r>
              <a:rPr lang="en-US" altLang="zh-CN" sz="2667" b="1" dirty="0">
                <a:latin typeface="微软雅黑" pitchFamily="34" charset="-122"/>
                <a:ea typeface="微软雅黑" pitchFamily="34" charset="-122"/>
              </a:rPr>
              <a:t>B4 </a:t>
            </a:r>
            <a:r>
              <a:rPr lang="zh-CN" altLang="en-US" sz="2667" b="1" dirty="0">
                <a:latin typeface="微软雅黑" pitchFamily="34" charset="-122"/>
                <a:ea typeface="微软雅黑" pitchFamily="34" charset="-122"/>
              </a:rPr>
              <a:t>进行了运行验证。</a:t>
            </a:r>
            <a:endParaRPr lang="en-US" altLang="zh-CN" sz="2667" b="1" dirty="0">
              <a:latin typeface="微软雅黑" pitchFamily="34" charset="-122"/>
              <a:ea typeface="微软雅黑" pitchFamily="34" charset="-122"/>
            </a:endParaRPr>
          </a:p>
          <a:p>
            <a:pPr marL="380990" indent="-380990">
              <a:lnSpc>
                <a:spcPts val="4267"/>
              </a:lnSpc>
              <a:buClr>
                <a:srgbClr val="0070C0"/>
              </a:buClr>
              <a:buFont typeface="Wingdings" pitchFamily="2" charset="2"/>
              <a:buChar char="l"/>
            </a:pPr>
            <a:r>
              <a:rPr lang="zh-CN" altLang="en-US" sz="2667" b="1" dirty="0">
                <a:solidFill>
                  <a:srgbClr val="C00000"/>
                </a:solidFill>
                <a:latin typeface="微软雅黑" pitchFamily="34" charset="-122"/>
                <a:ea typeface="微软雅黑" pitchFamily="34" charset="-122"/>
              </a:rPr>
              <a:t>优点：</a:t>
            </a:r>
            <a:endParaRPr lang="en-US" altLang="zh-CN" sz="2667" b="1" dirty="0">
              <a:solidFill>
                <a:srgbClr val="C00000"/>
              </a:solidFill>
              <a:latin typeface="微软雅黑" pitchFamily="34" charset="-122"/>
              <a:ea typeface="微软雅黑" pitchFamily="34" charset="-122"/>
            </a:endParaRPr>
          </a:p>
          <a:p>
            <a:pPr marL="833946" lvl="1" indent="-380990">
              <a:lnSpc>
                <a:spcPts val="4267"/>
              </a:lnSpc>
              <a:buClr>
                <a:srgbClr val="990099"/>
              </a:buClr>
              <a:buSzPct val="85000"/>
              <a:buFont typeface="Wingdings" panose="05000000000000000000" pitchFamily="2" charset="2"/>
              <a:buChar char="u"/>
            </a:pPr>
            <a:r>
              <a:rPr lang="zh-CN" altLang="en-US" sz="2667" b="1" dirty="0">
                <a:latin typeface="微软雅黑" pitchFamily="34" charset="-122"/>
                <a:ea typeface="微软雅黑" pitchFamily="34" charset="-122"/>
              </a:rPr>
              <a:t>提高网络带宽利用率；</a:t>
            </a:r>
            <a:endParaRPr lang="en-US" altLang="zh-CN" sz="2667" b="1" dirty="0">
              <a:latin typeface="微软雅黑" pitchFamily="34" charset="-122"/>
              <a:ea typeface="微软雅黑" pitchFamily="34" charset="-122"/>
            </a:endParaRPr>
          </a:p>
          <a:p>
            <a:pPr marL="833946" lvl="1" indent="-380990">
              <a:lnSpc>
                <a:spcPts val="4267"/>
              </a:lnSpc>
              <a:buClr>
                <a:srgbClr val="990099"/>
              </a:buClr>
              <a:buSzPct val="85000"/>
              <a:buFont typeface="Wingdings" panose="05000000000000000000" pitchFamily="2" charset="2"/>
              <a:buChar char="u"/>
            </a:pPr>
            <a:r>
              <a:rPr lang="zh-CN" altLang="en-US" sz="2667" b="1" dirty="0">
                <a:latin typeface="微软雅黑" pitchFamily="34" charset="-122"/>
                <a:ea typeface="微软雅黑" pitchFamily="34" charset="-122"/>
              </a:rPr>
              <a:t>网络运行更加稳定；</a:t>
            </a:r>
            <a:endParaRPr lang="en-US" altLang="zh-CN" sz="2667" b="1" dirty="0">
              <a:latin typeface="微软雅黑" pitchFamily="34" charset="-122"/>
              <a:ea typeface="微软雅黑" pitchFamily="34" charset="-122"/>
            </a:endParaRPr>
          </a:p>
          <a:p>
            <a:pPr marL="833946" lvl="1" indent="-380990">
              <a:lnSpc>
                <a:spcPts val="4267"/>
              </a:lnSpc>
              <a:buClr>
                <a:srgbClr val="990099"/>
              </a:buClr>
              <a:buSzPct val="85000"/>
              <a:buFont typeface="Wingdings" panose="05000000000000000000" pitchFamily="2" charset="2"/>
              <a:buChar char="u"/>
            </a:pPr>
            <a:r>
              <a:rPr lang="zh-CN" altLang="en-US" sz="2667" b="1" dirty="0">
                <a:latin typeface="微软雅黑" pitchFamily="34" charset="-122"/>
                <a:ea typeface="微软雅黑" pitchFamily="34" charset="-122"/>
              </a:rPr>
              <a:t>管理更加高效简化；</a:t>
            </a:r>
            <a:endParaRPr lang="en-US" altLang="zh-CN" sz="2667" b="1" dirty="0">
              <a:latin typeface="微软雅黑" pitchFamily="34" charset="-122"/>
              <a:ea typeface="微软雅黑" pitchFamily="34" charset="-122"/>
            </a:endParaRPr>
          </a:p>
          <a:p>
            <a:pPr marL="833946" lvl="1" indent="-380990">
              <a:lnSpc>
                <a:spcPts val="4267"/>
              </a:lnSpc>
              <a:buClr>
                <a:srgbClr val="990099"/>
              </a:buClr>
              <a:buSzPct val="85000"/>
              <a:buFont typeface="Wingdings" panose="05000000000000000000" pitchFamily="2" charset="2"/>
              <a:buChar char="u"/>
            </a:pPr>
            <a:r>
              <a:rPr lang="zh-CN" altLang="en-US" sz="2667" b="1" dirty="0">
                <a:latin typeface="微软雅黑" pitchFamily="34" charset="-122"/>
                <a:ea typeface="微软雅黑" pitchFamily="34" charset="-122"/>
              </a:rPr>
              <a:t>运行费用明显降低。</a:t>
            </a:r>
            <a:endParaRPr lang="en-US" altLang="zh-CN" sz="2667" b="1" dirty="0">
              <a:latin typeface="微软雅黑" pitchFamily="34" charset="-122"/>
              <a:ea typeface="微软雅黑" pitchFamily="34" charset="-122"/>
            </a:endParaRPr>
          </a:p>
        </p:txBody>
      </p:sp>
    </p:spTree>
    <p:extLst>
      <p:ext uri="{BB962C8B-B14F-4D97-AF65-F5344CB8AC3E}">
        <p14:creationId xmlns:p14="http://schemas.microsoft.com/office/powerpoint/2010/main" val="40407096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示 8"/>
          <p:cNvGraphicFramePr/>
          <p:nvPr/>
        </p:nvGraphicFramePr>
        <p:xfrm>
          <a:off x="737639" y="1364412"/>
          <a:ext cx="6807524" cy="47919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矩形 1"/>
          <p:cNvSpPr/>
          <p:nvPr/>
        </p:nvSpPr>
        <p:spPr>
          <a:xfrm>
            <a:off x="7724218" y="4226182"/>
            <a:ext cx="3569588" cy="1447769"/>
          </a:xfrm>
          <a:prstGeom prst="rect">
            <a:avLst/>
          </a:prstGeom>
          <a:solidFill>
            <a:schemeClr val="accent6">
              <a:lumMod val="60000"/>
              <a:lumOff val="40000"/>
            </a:schemeClr>
          </a:solidFill>
        </p:spPr>
        <p:txBody>
          <a:bodyPr wrap="square">
            <a:spAutoFit/>
          </a:bodyPr>
          <a:lstStyle/>
          <a:p>
            <a:pPr>
              <a:lnSpc>
                <a:spcPts val="2667"/>
              </a:lnSpc>
            </a:pPr>
            <a:r>
              <a:rPr lang="zh-CN" altLang="en-US" sz="1867" b="1" dirty="0">
                <a:solidFill>
                  <a:srgbClr val="0000FF"/>
                </a:solidFill>
                <a:latin typeface="微软雅黑" panose="020B0503020204020204" pitchFamily="34" charset="-122"/>
                <a:ea typeface="微软雅黑" panose="020B0503020204020204" pitchFamily="34" charset="-122"/>
              </a:rPr>
              <a:t>注意：</a:t>
            </a:r>
            <a:endParaRPr lang="en-US" altLang="zh-CN" sz="1867" b="1" dirty="0">
              <a:solidFill>
                <a:srgbClr val="0000FF"/>
              </a:solidFill>
              <a:latin typeface="微软雅黑" panose="020B0503020204020204" pitchFamily="34" charset="-122"/>
              <a:ea typeface="微软雅黑" panose="020B0503020204020204" pitchFamily="34" charset="-122"/>
            </a:endParaRPr>
          </a:p>
          <a:p>
            <a:pPr marL="380990" indent="-380990">
              <a:lnSpc>
                <a:spcPts val="2667"/>
              </a:lnSpc>
              <a:buFont typeface="Wingdings" panose="05000000000000000000" pitchFamily="2" charset="2"/>
              <a:buChar char="l"/>
            </a:pPr>
            <a:r>
              <a:rPr lang="en-US" altLang="zh-CN" sz="1867" b="1" dirty="0">
                <a:latin typeface="微软雅黑" panose="020B0503020204020204" pitchFamily="34" charset="-122"/>
                <a:ea typeface="微软雅黑" panose="020B0503020204020204" pitchFamily="34" charset="-122"/>
              </a:rPr>
              <a:t>SDN </a:t>
            </a:r>
            <a:r>
              <a:rPr lang="zh-CN" altLang="en-US" sz="1867" b="1" dirty="0">
                <a:latin typeface="微软雅黑" panose="020B0503020204020204" pitchFamily="34" charset="-122"/>
                <a:ea typeface="微软雅黑" panose="020B0503020204020204" pitchFamily="34" charset="-122"/>
              </a:rPr>
              <a:t>不是 </a:t>
            </a:r>
            <a:r>
              <a:rPr lang="en-US" altLang="zh-CN" sz="1867" b="1" dirty="0" err="1">
                <a:latin typeface="微软雅黑" panose="020B0503020204020204" pitchFamily="34" charset="-122"/>
                <a:ea typeface="微软雅黑" panose="020B0503020204020204" pitchFamily="34" charset="-122"/>
              </a:rPr>
              <a:t>OpenFlow</a:t>
            </a:r>
            <a:r>
              <a:rPr lang="zh-CN" altLang="en-US" sz="1867" b="1" dirty="0">
                <a:latin typeface="微软雅黑" panose="020B0503020204020204" pitchFamily="34" charset="-122"/>
                <a:ea typeface="微软雅黑" panose="020B0503020204020204" pitchFamily="34" charset="-122"/>
              </a:rPr>
              <a:t>。</a:t>
            </a:r>
            <a:endParaRPr lang="en-US" altLang="zh-CN" sz="1867" b="1" dirty="0">
              <a:latin typeface="微软雅黑" panose="020B0503020204020204" pitchFamily="34" charset="-122"/>
              <a:ea typeface="微软雅黑" panose="020B0503020204020204" pitchFamily="34" charset="-122"/>
            </a:endParaRPr>
          </a:p>
          <a:p>
            <a:pPr marL="380990" indent="-380990">
              <a:lnSpc>
                <a:spcPts val="2667"/>
              </a:lnSpc>
              <a:buFont typeface="Wingdings" panose="05000000000000000000" pitchFamily="2" charset="2"/>
              <a:buChar char="l"/>
            </a:pPr>
            <a:r>
              <a:rPr lang="en-US" altLang="zh-CN" sz="1867" b="1" dirty="0">
                <a:latin typeface="微软雅黑" panose="020B0503020204020204" pitchFamily="34" charset="-122"/>
                <a:ea typeface="微软雅黑" panose="020B0503020204020204" pitchFamily="34" charset="-122"/>
              </a:rPr>
              <a:t>SDN </a:t>
            </a:r>
            <a:r>
              <a:rPr lang="zh-CN" altLang="en-US" sz="1867" b="1" dirty="0">
                <a:latin typeface="微软雅黑" panose="020B0503020204020204" pitchFamily="34" charset="-122"/>
                <a:ea typeface="微软雅黑" panose="020B0503020204020204" pitchFamily="34" charset="-122"/>
              </a:rPr>
              <a:t>未规定必须使用 </a:t>
            </a:r>
            <a:r>
              <a:rPr lang="en-US" altLang="zh-CN" sz="1867" b="1" dirty="0" err="1">
                <a:latin typeface="微软雅黑" panose="020B0503020204020204" pitchFamily="34" charset="-122"/>
                <a:ea typeface="微软雅黑" panose="020B0503020204020204" pitchFamily="34" charset="-122"/>
              </a:rPr>
              <a:t>OpenFlow</a:t>
            </a:r>
            <a:r>
              <a:rPr lang="zh-CN" altLang="en-US" sz="1867" b="1" dirty="0">
                <a:latin typeface="微软雅黑" panose="020B0503020204020204" pitchFamily="34" charset="-122"/>
                <a:ea typeface="微软雅黑" panose="020B0503020204020204" pitchFamily="34" charset="-122"/>
              </a:rPr>
              <a:t>。</a:t>
            </a:r>
          </a:p>
        </p:txBody>
      </p:sp>
      <p:sp>
        <p:nvSpPr>
          <p:cNvPr id="15" name="AutoShape 5"/>
          <p:cNvSpPr>
            <a:spLocks noChangeArrowheads="1"/>
          </p:cNvSpPr>
          <p:nvPr/>
        </p:nvSpPr>
        <p:spPr bwMode="auto">
          <a:xfrm>
            <a:off x="726859" y="823346"/>
            <a:ext cx="10738283" cy="518295"/>
          </a:xfrm>
          <a:prstGeom prst="roundRect">
            <a:avLst>
              <a:gd name="adj" fmla="val 16667"/>
            </a:avLst>
          </a:prstGeom>
          <a:solidFill>
            <a:srgbClr val="0089FA"/>
          </a:solidFill>
          <a:ln>
            <a:noFill/>
          </a:ln>
          <a:effectLst/>
        </p:spPr>
        <p:txBody>
          <a:bodyPr wrap="none" anchor="ctr"/>
          <a:lstStyle/>
          <a:p>
            <a:endParaRPr lang="zh-CN" altLang="en-US" sz="2400"/>
          </a:p>
        </p:txBody>
      </p:sp>
      <p:sp>
        <p:nvSpPr>
          <p:cNvPr id="16" name="Rectangle 6"/>
          <p:cNvSpPr>
            <a:spLocks noChangeArrowheads="1"/>
          </p:cNvSpPr>
          <p:nvPr/>
        </p:nvSpPr>
        <p:spPr bwMode="auto">
          <a:xfrm>
            <a:off x="2957168" y="768862"/>
            <a:ext cx="62776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3200" b="1" dirty="0">
                <a:solidFill>
                  <a:schemeClr val="bg1"/>
                </a:solidFill>
                <a:latin typeface="微软雅黑" pitchFamily="34" charset="-122"/>
                <a:ea typeface="微软雅黑" pitchFamily="34" charset="-122"/>
              </a:rPr>
              <a:t>4.10.1  SDN </a:t>
            </a:r>
            <a:r>
              <a:rPr lang="zh-CN" altLang="en-US" sz="3200" b="1" dirty="0">
                <a:solidFill>
                  <a:schemeClr val="bg1"/>
                </a:solidFill>
                <a:latin typeface="微软雅黑" pitchFamily="34" charset="-122"/>
                <a:ea typeface="微软雅黑" pitchFamily="34" charset="-122"/>
              </a:rPr>
              <a:t>与 协议 </a:t>
            </a:r>
            <a:r>
              <a:rPr lang="en-US" altLang="zh-CN" sz="3200" b="1" dirty="0" err="1">
                <a:solidFill>
                  <a:schemeClr val="bg1"/>
                </a:solidFill>
                <a:latin typeface="微软雅黑" pitchFamily="34" charset="-122"/>
                <a:ea typeface="微软雅黑" pitchFamily="34" charset="-122"/>
              </a:rPr>
              <a:t>OpenFlow</a:t>
            </a:r>
            <a:endParaRPr lang="zh-CN" altLang="en-US" sz="3200" b="1" dirty="0">
              <a:solidFill>
                <a:schemeClr val="bg1"/>
              </a:solidFill>
              <a:latin typeface="微软雅黑" pitchFamily="34" charset="-122"/>
              <a:ea typeface="微软雅黑" pitchFamily="34" charset="-122"/>
            </a:endParaRPr>
          </a:p>
        </p:txBody>
      </p:sp>
      <p:grpSp>
        <p:nvGrpSpPr>
          <p:cNvPr id="17" name="组合 16"/>
          <p:cNvGrpSpPr/>
          <p:nvPr/>
        </p:nvGrpSpPr>
        <p:grpSpPr>
          <a:xfrm>
            <a:off x="7688006" y="1774477"/>
            <a:ext cx="4291260" cy="2152027"/>
            <a:chOff x="5766004" y="1330858"/>
            <a:chExt cx="3218445" cy="1614020"/>
          </a:xfrm>
        </p:grpSpPr>
        <p:grpSp>
          <p:nvGrpSpPr>
            <p:cNvPr id="7" name="组合 6"/>
            <p:cNvGrpSpPr/>
            <p:nvPr/>
          </p:nvGrpSpPr>
          <p:grpSpPr>
            <a:xfrm>
              <a:off x="5766004" y="1330858"/>
              <a:ext cx="2646029" cy="1614020"/>
              <a:chOff x="5423026" y="1627121"/>
              <a:chExt cx="3740678" cy="1728192"/>
            </a:xfrm>
          </p:grpSpPr>
          <p:sp>
            <p:nvSpPr>
              <p:cNvPr id="8" name="圆角矩形 7"/>
              <p:cNvSpPr/>
              <p:nvPr/>
            </p:nvSpPr>
            <p:spPr>
              <a:xfrm>
                <a:off x="5423026" y="2995273"/>
                <a:ext cx="3456384" cy="360040"/>
              </a:xfrm>
              <a:prstGeom prst="roundRect">
                <a:avLst/>
              </a:prstGeom>
              <a:solidFill>
                <a:srgbClr val="33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67" b="1" dirty="0">
                    <a:solidFill>
                      <a:schemeClr val="tx1"/>
                    </a:solidFill>
                    <a:latin typeface="微软雅黑" panose="020B0503020204020204" pitchFamily="34" charset="-122"/>
                    <a:ea typeface="微软雅黑" panose="020B0503020204020204" pitchFamily="34" charset="-122"/>
                  </a:rPr>
                  <a:t>数据层面</a:t>
                </a:r>
              </a:p>
            </p:txBody>
          </p:sp>
          <p:sp>
            <p:nvSpPr>
              <p:cNvPr id="10" name="圆角矩形 9"/>
              <p:cNvSpPr/>
              <p:nvPr/>
            </p:nvSpPr>
            <p:spPr>
              <a:xfrm>
                <a:off x="5423026" y="2131177"/>
                <a:ext cx="3456384" cy="360040"/>
              </a:xfrm>
              <a:prstGeom prst="roundRect">
                <a:avLst/>
              </a:prstGeom>
              <a:solidFill>
                <a:srgbClr val="66FF3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67" b="1" dirty="0">
                    <a:solidFill>
                      <a:schemeClr val="tx1"/>
                    </a:solidFill>
                    <a:latin typeface="微软雅黑" panose="020B0503020204020204" pitchFamily="34" charset="-122"/>
                    <a:ea typeface="微软雅黑" panose="020B0503020204020204" pitchFamily="34" charset="-122"/>
                  </a:rPr>
                  <a:t>控制层面（网络操作系统）</a:t>
                </a:r>
              </a:p>
            </p:txBody>
          </p:sp>
          <p:cxnSp>
            <p:nvCxnSpPr>
              <p:cNvPr id="11" name="直接箭头连接符 10"/>
              <p:cNvCxnSpPr>
                <a:stCxn id="10" idx="2"/>
                <a:endCxn id="8" idx="0"/>
              </p:cNvCxnSpPr>
              <p:nvPr/>
            </p:nvCxnSpPr>
            <p:spPr>
              <a:xfrm>
                <a:off x="7151218" y="2491217"/>
                <a:ext cx="0" cy="504056"/>
              </a:xfrm>
              <a:prstGeom prst="straightConnector1">
                <a:avLst/>
              </a:prstGeom>
              <a:ln w="28575">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TextBox 8"/>
              <p:cNvSpPr txBox="1"/>
              <p:nvPr/>
            </p:nvSpPr>
            <p:spPr>
              <a:xfrm>
                <a:off x="7100027" y="2572919"/>
                <a:ext cx="2063677" cy="304884"/>
              </a:xfrm>
              <a:prstGeom prst="rect">
                <a:avLst/>
              </a:prstGeom>
              <a:noFill/>
            </p:spPr>
            <p:txBody>
              <a:bodyPr wrap="none" rtlCol="0">
                <a:spAutoFit/>
              </a:bodyPr>
              <a:lstStyle/>
              <a:p>
                <a:r>
                  <a:rPr lang="zh-CN" altLang="en-US" sz="1867" b="1" dirty="0">
                    <a:solidFill>
                      <a:srgbClr val="C00000"/>
                    </a:solidFill>
                    <a:latin typeface="微软雅黑" panose="020B0503020204020204" pitchFamily="34" charset="-122"/>
                    <a:ea typeface="微软雅黑" panose="020B0503020204020204" pitchFamily="34" charset="-122"/>
                    <a:cs typeface="Times New Roman" pitchFamily="18" charset="0"/>
                  </a:rPr>
                  <a:t>协议 </a:t>
                </a:r>
                <a:r>
                  <a:rPr lang="en-US" altLang="zh-CN" sz="1867" b="1" dirty="0" err="1">
                    <a:solidFill>
                      <a:srgbClr val="C00000"/>
                    </a:solidFill>
                    <a:latin typeface="微软雅黑" panose="020B0503020204020204" pitchFamily="34" charset="-122"/>
                    <a:ea typeface="微软雅黑" panose="020B0503020204020204" pitchFamily="34" charset="-122"/>
                    <a:cs typeface="Times New Roman" pitchFamily="18" charset="0"/>
                  </a:rPr>
                  <a:t>OpenFlow</a:t>
                </a:r>
                <a:endParaRPr lang="zh-CN" altLang="en-US" sz="1867" b="1" dirty="0">
                  <a:solidFill>
                    <a:srgbClr val="C00000"/>
                  </a:solidFill>
                  <a:latin typeface="微软雅黑" panose="020B0503020204020204" pitchFamily="34" charset="-122"/>
                  <a:ea typeface="微软雅黑" panose="020B0503020204020204" pitchFamily="34" charset="-122"/>
                  <a:cs typeface="Times New Roman" pitchFamily="18" charset="0"/>
                </a:endParaRPr>
              </a:p>
            </p:txBody>
          </p:sp>
          <p:sp>
            <p:nvSpPr>
              <p:cNvPr id="13" name="圆角矩形 12"/>
              <p:cNvSpPr/>
              <p:nvPr/>
            </p:nvSpPr>
            <p:spPr>
              <a:xfrm>
                <a:off x="6143106" y="1627121"/>
                <a:ext cx="864096" cy="360040"/>
              </a:xfrm>
              <a:prstGeom prst="roundRect">
                <a:avLst/>
              </a:prstGeom>
              <a:solidFill>
                <a:srgbClr val="FFC000"/>
              </a:solidFill>
              <a:ln w="1905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67" b="1" dirty="0">
                    <a:solidFill>
                      <a:schemeClr val="tx1"/>
                    </a:solidFill>
                    <a:latin typeface="微软雅黑" panose="020B0503020204020204" pitchFamily="34" charset="-122"/>
                    <a:ea typeface="微软雅黑" panose="020B0503020204020204" pitchFamily="34" charset="-122"/>
                    <a:cs typeface="Times New Roman" pitchFamily="18" charset="0"/>
                  </a:rPr>
                  <a:t>AP</a:t>
                </a:r>
                <a:r>
                  <a:rPr lang="en-US" altLang="zh-CN" sz="1867" b="1" baseline="-25000" dirty="0">
                    <a:solidFill>
                      <a:schemeClr val="tx1"/>
                    </a:solidFill>
                    <a:latin typeface="微软雅黑" panose="020B0503020204020204" pitchFamily="34" charset="-122"/>
                    <a:ea typeface="微软雅黑" panose="020B0503020204020204" pitchFamily="34" charset="-122"/>
                    <a:cs typeface="Times New Roman" pitchFamily="18" charset="0"/>
                  </a:rPr>
                  <a:t>1</a:t>
                </a:r>
                <a:endParaRPr lang="zh-CN" altLang="en-US" sz="1867" b="1" baseline="-25000"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14" name="圆角矩形 13"/>
              <p:cNvSpPr/>
              <p:nvPr/>
            </p:nvSpPr>
            <p:spPr>
              <a:xfrm>
                <a:off x="7295234" y="1627121"/>
                <a:ext cx="864096" cy="360040"/>
              </a:xfrm>
              <a:prstGeom prst="roundRect">
                <a:avLst/>
              </a:prstGeom>
              <a:solidFill>
                <a:srgbClr val="FFC000"/>
              </a:solidFill>
              <a:ln w="1905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67" b="1" dirty="0">
                    <a:solidFill>
                      <a:schemeClr val="tx1"/>
                    </a:solidFill>
                    <a:latin typeface="微软雅黑" panose="020B0503020204020204" pitchFamily="34" charset="-122"/>
                    <a:ea typeface="微软雅黑" panose="020B0503020204020204" pitchFamily="34" charset="-122"/>
                    <a:cs typeface="Times New Roman" pitchFamily="18" charset="0"/>
                  </a:rPr>
                  <a:t>AP</a:t>
                </a:r>
                <a:r>
                  <a:rPr lang="en-US" altLang="zh-CN" sz="1867" b="1" baseline="-25000" dirty="0">
                    <a:solidFill>
                      <a:schemeClr val="tx1"/>
                    </a:solidFill>
                    <a:latin typeface="微软雅黑" panose="020B0503020204020204" pitchFamily="34" charset="-122"/>
                    <a:ea typeface="微软雅黑" panose="020B0503020204020204" pitchFamily="34" charset="-122"/>
                    <a:cs typeface="Times New Roman" pitchFamily="18" charset="0"/>
                  </a:rPr>
                  <a:t>2</a:t>
                </a:r>
                <a:endParaRPr lang="zh-CN" altLang="en-US" sz="1867" b="1" baseline="-25000"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grpSp>
        <p:sp>
          <p:nvSpPr>
            <p:cNvPr id="3" name="右大括号 2"/>
            <p:cNvSpPr/>
            <p:nvPr/>
          </p:nvSpPr>
          <p:spPr>
            <a:xfrm>
              <a:off x="8361044" y="1330858"/>
              <a:ext cx="137776" cy="1614020"/>
            </a:xfrm>
            <a:prstGeom prst="rightBrace">
              <a:avLst>
                <a:gd name="adj1" fmla="val 47251"/>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4" name="矩形 3"/>
            <p:cNvSpPr/>
            <p:nvPr/>
          </p:nvSpPr>
          <p:spPr>
            <a:xfrm>
              <a:off x="8443195" y="1989414"/>
              <a:ext cx="541254" cy="284742"/>
            </a:xfrm>
            <a:prstGeom prst="rect">
              <a:avLst/>
            </a:prstGeom>
          </p:spPr>
          <p:txBody>
            <a:bodyPr wrap="none">
              <a:spAutoFit/>
            </a:bodyPr>
            <a:lstStyle/>
            <a:p>
              <a:pPr lvl="0"/>
              <a:r>
                <a:rPr lang="en-US" altLang="en-US" sz="1867" b="1" dirty="0">
                  <a:latin typeface="微软雅黑" panose="020B0503020204020204" pitchFamily="34" charset="-122"/>
                  <a:ea typeface="微软雅黑" panose="020B0503020204020204" pitchFamily="34" charset="-122"/>
                </a:rPr>
                <a:t>SDN</a:t>
              </a:r>
              <a:endParaRPr lang="zh-CN" altLang="en-US" sz="1867" dirty="0"/>
            </a:p>
          </p:txBody>
        </p:sp>
      </p:grpSp>
    </p:spTree>
    <p:extLst>
      <p:ext uri="{BB962C8B-B14F-4D97-AF65-F5344CB8AC3E}">
        <p14:creationId xmlns:p14="http://schemas.microsoft.com/office/powerpoint/2010/main" val="39912420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726860" y="818859"/>
            <a:ext cx="10738281" cy="471907"/>
          </a:xfrm>
          <a:prstGeom prst="roundRect">
            <a:avLst>
              <a:gd name="adj" fmla="val 16667"/>
            </a:avLst>
          </a:prstGeom>
          <a:solidFill>
            <a:srgbClr val="00B050"/>
          </a:solidFill>
          <a:ln>
            <a:noFill/>
          </a:ln>
          <a:effectLst/>
        </p:spPr>
        <p:txBody>
          <a:bodyPr wrap="none" anchor="ctr"/>
          <a:lstStyle/>
          <a:p>
            <a:endParaRPr lang="zh-CN" altLang="en-US" sz="2400"/>
          </a:p>
        </p:txBody>
      </p:sp>
      <p:sp>
        <p:nvSpPr>
          <p:cNvPr id="6" name="Rectangle 6"/>
          <p:cNvSpPr>
            <a:spLocks noChangeArrowheads="1"/>
          </p:cNvSpPr>
          <p:nvPr/>
        </p:nvSpPr>
        <p:spPr bwMode="auto">
          <a:xfrm>
            <a:off x="2589291" y="774577"/>
            <a:ext cx="7013419" cy="502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667" b="1" dirty="0">
                <a:solidFill>
                  <a:schemeClr val="bg1"/>
                </a:solidFill>
                <a:latin typeface="微软雅黑" pitchFamily="34" charset="-122"/>
                <a:ea typeface="微软雅黑" pitchFamily="34" charset="-122"/>
              </a:rPr>
              <a:t>协议 </a:t>
            </a:r>
            <a:r>
              <a:rPr lang="en-US" altLang="zh-CN" sz="2667" b="1" dirty="0" err="1">
                <a:solidFill>
                  <a:schemeClr val="bg1"/>
                </a:solidFill>
                <a:latin typeface="微软雅黑" pitchFamily="34" charset="-122"/>
                <a:ea typeface="微软雅黑" pitchFamily="34" charset="-122"/>
              </a:rPr>
              <a:t>OpenFlow</a:t>
            </a:r>
            <a:endParaRPr lang="zh-CN" altLang="en-US" sz="2667" b="1" dirty="0">
              <a:solidFill>
                <a:schemeClr val="bg1"/>
              </a:solidFill>
              <a:latin typeface="微软雅黑" pitchFamily="34" charset="-122"/>
              <a:ea typeface="微软雅黑" pitchFamily="34" charset="-122"/>
            </a:endParaRPr>
          </a:p>
        </p:txBody>
      </p:sp>
      <p:grpSp>
        <p:nvGrpSpPr>
          <p:cNvPr id="3" name="组合 2"/>
          <p:cNvGrpSpPr/>
          <p:nvPr/>
        </p:nvGrpSpPr>
        <p:grpSpPr>
          <a:xfrm>
            <a:off x="796715" y="1569267"/>
            <a:ext cx="10465796" cy="2909180"/>
            <a:chOff x="414667" y="1233660"/>
            <a:chExt cx="8294767" cy="2270031"/>
          </a:xfrm>
        </p:grpSpPr>
        <p:sp>
          <p:nvSpPr>
            <p:cNvPr id="4" name="燕尾形箭头 3"/>
            <p:cNvSpPr/>
            <p:nvPr/>
          </p:nvSpPr>
          <p:spPr>
            <a:xfrm>
              <a:off x="616716" y="1879360"/>
              <a:ext cx="8092718" cy="860934"/>
            </a:xfrm>
            <a:prstGeom prst="notchedRightArrow">
              <a:avLst/>
            </a:prstGeom>
          </p:spPr>
          <p:style>
            <a:lnRef idx="0">
              <a:schemeClr val="dk1">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15" name="任意多边形 14"/>
            <p:cNvSpPr/>
            <p:nvPr/>
          </p:nvSpPr>
          <p:spPr>
            <a:xfrm>
              <a:off x="414667" y="1233660"/>
              <a:ext cx="1565781" cy="860934"/>
            </a:xfrm>
            <a:custGeom>
              <a:avLst/>
              <a:gdLst>
                <a:gd name="connsiteX0" fmla="*/ 0 w 1144364"/>
                <a:gd name="connsiteY0" fmla="*/ 0 h 860934"/>
                <a:gd name="connsiteX1" fmla="*/ 1144364 w 1144364"/>
                <a:gd name="connsiteY1" fmla="*/ 0 h 860934"/>
                <a:gd name="connsiteX2" fmla="*/ 1144364 w 1144364"/>
                <a:gd name="connsiteY2" fmla="*/ 860934 h 860934"/>
                <a:gd name="connsiteX3" fmla="*/ 0 w 1144364"/>
                <a:gd name="connsiteY3" fmla="*/ 860934 h 860934"/>
                <a:gd name="connsiteX4" fmla="*/ 0 w 1144364"/>
                <a:gd name="connsiteY4" fmla="*/ 0 h 86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364" h="860934">
                  <a:moveTo>
                    <a:pt x="0" y="0"/>
                  </a:moveTo>
                  <a:lnTo>
                    <a:pt x="1144364" y="0"/>
                  </a:lnTo>
                  <a:lnTo>
                    <a:pt x="1144364" y="860934"/>
                  </a:lnTo>
                  <a:lnTo>
                    <a:pt x="0" y="860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4309" tIns="104309" rIns="104309" bIns="104309" numCol="1" spcCol="1270" anchor="b" anchorCtr="0">
              <a:noAutofit/>
            </a:bodyPr>
            <a:lstStyle/>
            <a:p>
              <a:pPr algn="ctr" defTabSz="651917">
                <a:lnSpc>
                  <a:spcPts val="2667"/>
                </a:lnSpc>
                <a:spcBef>
                  <a:spcPct val="0"/>
                </a:spcBef>
              </a:pPr>
              <a:r>
                <a:rPr lang="en-US" altLang="en-US" sz="1867" b="1" dirty="0" err="1">
                  <a:latin typeface="微软雅黑" panose="020B0503020204020204" pitchFamily="34" charset="-122"/>
                  <a:ea typeface="微软雅黑" panose="020B0503020204020204" pitchFamily="34" charset="-122"/>
                </a:rPr>
                <a:t>OpenFlow</a:t>
              </a:r>
              <a:r>
                <a:rPr lang="en-US" altLang="en-US" sz="1867" b="1" dirty="0">
                  <a:latin typeface="微软雅黑" panose="020B0503020204020204" pitchFamily="34" charset="-122"/>
                  <a:ea typeface="微软雅黑" panose="020B0503020204020204" pitchFamily="34" charset="-122"/>
                </a:rPr>
                <a:t> 1.0 </a:t>
              </a:r>
            </a:p>
            <a:p>
              <a:pPr algn="ctr" defTabSz="651917">
                <a:lnSpc>
                  <a:spcPts val="2667"/>
                </a:lnSpc>
                <a:spcBef>
                  <a:spcPct val="0"/>
                </a:spcBef>
              </a:pPr>
              <a:r>
                <a:rPr lang="en-US" altLang="en-US" sz="1867" b="1" dirty="0">
                  <a:latin typeface="微软雅黑" panose="020B0503020204020204" pitchFamily="34" charset="-122"/>
                  <a:ea typeface="微软雅黑" panose="020B0503020204020204" pitchFamily="34" charset="-122"/>
                </a:rPr>
                <a:t>2009</a:t>
              </a:r>
              <a:endParaRPr lang="zh-CN" altLang="en-US" sz="1867" b="1" dirty="0">
                <a:latin typeface="微软雅黑" panose="020B0503020204020204" pitchFamily="34" charset="-122"/>
                <a:ea typeface="微软雅黑" panose="020B0503020204020204" pitchFamily="34" charset="-122"/>
              </a:endParaRPr>
            </a:p>
          </p:txBody>
        </p:sp>
        <p:sp>
          <p:nvSpPr>
            <p:cNvPr id="16" name="椭圆 15"/>
            <p:cNvSpPr/>
            <p:nvPr/>
          </p:nvSpPr>
          <p:spPr>
            <a:xfrm>
              <a:off x="1086351" y="2202210"/>
              <a:ext cx="215233" cy="215233"/>
            </a:xfrm>
            <a:prstGeom prst="ellipse">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17" name="任意多边形 16"/>
            <p:cNvSpPr/>
            <p:nvPr/>
          </p:nvSpPr>
          <p:spPr>
            <a:xfrm>
              <a:off x="1558551" y="2525062"/>
              <a:ext cx="2164906" cy="978629"/>
            </a:xfrm>
            <a:custGeom>
              <a:avLst/>
              <a:gdLst>
                <a:gd name="connsiteX0" fmla="*/ 0 w 1506485"/>
                <a:gd name="connsiteY0" fmla="*/ 0 h 860934"/>
                <a:gd name="connsiteX1" fmla="*/ 1506485 w 1506485"/>
                <a:gd name="connsiteY1" fmla="*/ 0 h 860934"/>
                <a:gd name="connsiteX2" fmla="*/ 1506485 w 1506485"/>
                <a:gd name="connsiteY2" fmla="*/ 860934 h 860934"/>
                <a:gd name="connsiteX3" fmla="*/ 0 w 1506485"/>
                <a:gd name="connsiteY3" fmla="*/ 860934 h 860934"/>
                <a:gd name="connsiteX4" fmla="*/ 0 w 1506485"/>
                <a:gd name="connsiteY4" fmla="*/ 0 h 86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6485" h="860934">
                  <a:moveTo>
                    <a:pt x="0" y="0"/>
                  </a:moveTo>
                  <a:lnTo>
                    <a:pt x="1506485" y="0"/>
                  </a:lnTo>
                  <a:lnTo>
                    <a:pt x="1506485" y="860934"/>
                  </a:lnTo>
                  <a:lnTo>
                    <a:pt x="0" y="860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4309" tIns="104309" rIns="104309" bIns="104309" numCol="1" spcCol="1270" anchor="t" anchorCtr="0">
              <a:noAutofit/>
            </a:bodyPr>
            <a:lstStyle/>
            <a:p>
              <a:pPr algn="ctr" defTabSz="651917">
                <a:lnSpc>
                  <a:spcPts val="2667"/>
                </a:lnSpc>
                <a:spcBef>
                  <a:spcPct val="0"/>
                </a:spcBef>
              </a:pPr>
              <a:r>
                <a:rPr lang="en-US" altLang="en-US" sz="1867" b="1" dirty="0" err="1">
                  <a:latin typeface="微软雅黑" panose="020B0503020204020204" pitchFamily="34" charset="-122"/>
                  <a:ea typeface="微软雅黑" panose="020B0503020204020204" pitchFamily="34" charset="-122"/>
                </a:rPr>
                <a:t>OpenFlow</a:t>
              </a:r>
              <a:r>
                <a:rPr lang="en-US" altLang="en-US" sz="1867" b="1" dirty="0">
                  <a:latin typeface="微软雅黑" panose="020B0503020204020204" pitchFamily="34" charset="-122"/>
                  <a:ea typeface="微软雅黑" panose="020B0503020204020204" pitchFamily="34" charset="-122"/>
                </a:rPr>
                <a:t> 1.</a:t>
              </a:r>
              <a:r>
                <a:rPr lang="en-US" altLang="zh-CN" sz="1867" b="1" dirty="0">
                  <a:latin typeface="微软雅黑" panose="020B0503020204020204" pitchFamily="34" charset="-122"/>
                  <a:ea typeface="微软雅黑" panose="020B0503020204020204" pitchFamily="34" charset="-122"/>
                </a:rPr>
                <a:t>2 </a:t>
              </a:r>
            </a:p>
            <a:p>
              <a:pPr algn="ctr" defTabSz="651917">
                <a:lnSpc>
                  <a:spcPts val="2667"/>
                </a:lnSpc>
                <a:spcBef>
                  <a:spcPct val="0"/>
                </a:spcBef>
              </a:pPr>
              <a:r>
                <a:rPr lang="en-US" altLang="zh-CN" sz="1867" b="1" dirty="0">
                  <a:latin typeface="微软雅黑" panose="020B0503020204020204" pitchFamily="34" charset="-122"/>
                  <a:ea typeface="微软雅黑" panose="020B0503020204020204" pitchFamily="34" charset="-122"/>
                </a:rPr>
                <a:t>2011-12 </a:t>
              </a:r>
            </a:p>
            <a:p>
              <a:pPr algn="ctr" defTabSz="651917">
                <a:lnSpc>
                  <a:spcPts val="2667"/>
                </a:lnSpc>
                <a:spcBef>
                  <a:spcPct val="0"/>
                </a:spcBef>
              </a:pPr>
              <a:r>
                <a:rPr lang="zh-CN" altLang="en-US" sz="1867" b="1" dirty="0">
                  <a:latin typeface="微软雅黑" panose="020B0503020204020204" pitchFamily="34" charset="-122"/>
                  <a:ea typeface="微软雅黑" panose="020B0503020204020204" pitchFamily="34" charset="-122"/>
                </a:rPr>
                <a:t>开放网络基金会 </a:t>
              </a:r>
              <a:r>
                <a:rPr lang="en-US" altLang="en-US" sz="1867" b="1" dirty="0">
                  <a:latin typeface="微软雅黑" panose="020B0503020204020204" pitchFamily="34" charset="-122"/>
                  <a:ea typeface="微软雅黑" panose="020B0503020204020204" pitchFamily="34" charset="-122"/>
                </a:rPr>
                <a:t>ONF</a:t>
              </a:r>
              <a:r>
                <a:rPr lang="zh-CN" altLang="en-US" sz="1867" b="1" dirty="0">
                  <a:latin typeface="微软雅黑" panose="020B0503020204020204" pitchFamily="34" charset="-122"/>
                  <a:ea typeface="微软雅黑" panose="020B0503020204020204" pitchFamily="34" charset="-122"/>
                </a:rPr>
                <a:t>（</a:t>
              </a:r>
              <a:r>
                <a:rPr lang="en-US" altLang="en-US" sz="1867" b="1" dirty="0">
                  <a:latin typeface="微软雅黑" panose="020B0503020204020204" pitchFamily="34" charset="-122"/>
                  <a:ea typeface="微软雅黑" panose="020B0503020204020204" pitchFamily="34" charset="-122"/>
                </a:rPr>
                <a:t>Open Networking Foundation</a:t>
              </a:r>
              <a:r>
                <a:rPr lang="zh-CN" altLang="en-US" sz="1867" b="1" dirty="0">
                  <a:latin typeface="微软雅黑" panose="020B0503020204020204" pitchFamily="34" charset="-122"/>
                  <a:ea typeface="微软雅黑" panose="020B0503020204020204" pitchFamily="34" charset="-122"/>
                </a:rPr>
                <a:t>）发布</a:t>
              </a:r>
            </a:p>
          </p:txBody>
        </p:sp>
        <p:sp>
          <p:nvSpPr>
            <p:cNvPr id="18" name="椭圆 17"/>
            <p:cNvSpPr/>
            <p:nvPr/>
          </p:nvSpPr>
          <p:spPr>
            <a:xfrm>
              <a:off x="2460142" y="2202210"/>
              <a:ext cx="215233" cy="215233"/>
            </a:xfrm>
            <a:prstGeom prst="ellipse">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9" name="任意多边形 18"/>
            <p:cNvSpPr/>
            <p:nvPr/>
          </p:nvSpPr>
          <p:spPr>
            <a:xfrm>
              <a:off x="3245000" y="1233660"/>
              <a:ext cx="1696146" cy="860934"/>
            </a:xfrm>
            <a:custGeom>
              <a:avLst/>
              <a:gdLst>
                <a:gd name="connsiteX0" fmla="*/ 0 w 1420885"/>
                <a:gd name="connsiteY0" fmla="*/ 0 h 860934"/>
                <a:gd name="connsiteX1" fmla="*/ 1420885 w 1420885"/>
                <a:gd name="connsiteY1" fmla="*/ 0 h 860934"/>
                <a:gd name="connsiteX2" fmla="*/ 1420885 w 1420885"/>
                <a:gd name="connsiteY2" fmla="*/ 860934 h 860934"/>
                <a:gd name="connsiteX3" fmla="*/ 0 w 1420885"/>
                <a:gd name="connsiteY3" fmla="*/ 860934 h 860934"/>
                <a:gd name="connsiteX4" fmla="*/ 0 w 1420885"/>
                <a:gd name="connsiteY4" fmla="*/ 0 h 86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0885" h="860934">
                  <a:moveTo>
                    <a:pt x="0" y="0"/>
                  </a:moveTo>
                  <a:lnTo>
                    <a:pt x="1420885" y="0"/>
                  </a:lnTo>
                  <a:lnTo>
                    <a:pt x="1420885" y="860934"/>
                  </a:lnTo>
                  <a:lnTo>
                    <a:pt x="0" y="860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4309" tIns="104309" rIns="104309" bIns="104309" numCol="1" spcCol="1270" anchor="b" anchorCtr="0">
              <a:noAutofit/>
            </a:bodyPr>
            <a:lstStyle/>
            <a:p>
              <a:pPr algn="ctr" defTabSz="651917">
                <a:lnSpc>
                  <a:spcPts val="2667"/>
                </a:lnSpc>
                <a:spcBef>
                  <a:spcPct val="0"/>
                </a:spcBef>
              </a:pPr>
              <a:r>
                <a:rPr lang="en-US" altLang="en-US" sz="1867" b="1" dirty="0" err="1">
                  <a:latin typeface="微软雅黑" panose="020B0503020204020204" pitchFamily="34" charset="-122"/>
                  <a:ea typeface="微软雅黑" panose="020B0503020204020204" pitchFamily="34" charset="-122"/>
                </a:rPr>
                <a:t>OpenFlow</a:t>
              </a:r>
              <a:r>
                <a:rPr lang="en-US" altLang="en-US" sz="1867" b="1" dirty="0">
                  <a:latin typeface="微软雅黑" panose="020B0503020204020204" pitchFamily="34" charset="-122"/>
                  <a:ea typeface="微软雅黑" panose="020B0503020204020204" pitchFamily="34" charset="-122"/>
                </a:rPr>
                <a:t> 1.</a:t>
              </a:r>
              <a:r>
                <a:rPr lang="en-US" altLang="zh-CN" sz="1867" b="1" dirty="0">
                  <a:latin typeface="微软雅黑" panose="020B0503020204020204" pitchFamily="34" charset="-122"/>
                  <a:ea typeface="微软雅黑" panose="020B0503020204020204" pitchFamily="34" charset="-122"/>
                </a:rPr>
                <a:t>3</a:t>
              </a:r>
              <a:r>
                <a:rPr lang="en-US" altLang="en-US" sz="1867" b="1" dirty="0">
                  <a:latin typeface="微软雅黑" panose="020B0503020204020204" pitchFamily="34" charset="-122"/>
                  <a:ea typeface="微软雅黑" panose="020B0503020204020204" pitchFamily="34" charset="-122"/>
                </a:rPr>
                <a:t>.</a:t>
              </a:r>
              <a:r>
                <a:rPr lang="en-US" altLang="zh-CN" sz="1867" b="1" dirty="0">
                  <a:latin typeface="微软雅黑" panose="020B0503020204020204" pitchFamily="34" charset="-122"/>
                  <a:ea typeface="微软雅黑" panose="020B0503020204020204" pitchFamily="34" charset="-122"/>
                </a:rPr>
                <a:t>x</a:t>
              </a:r>
              <a:r>
                <a:rPr lang="en-US" altLang="en-US" sz="1867" b="1" dirty="0">
                  <a:latin typeface="微软雅黑" panose="020B0503020204020204" pitchFamily="34" charset="-122"/>
                  <a:ea typeface="微软雅黑" panose="020B0503020204020204" pitchFamily="34" charset="-122"/>
                </a:rPr>
                <a:t> </a:t>
              </a:r>
            </a:p>
            <a:p>
              <a:pPr algn="ctr" defTabSz="651917">
                <a:lnSpc>
                  <a:spcPts val="2667"/>
                </a:lnSpc>
                <a:spcBef>
                  <a:spcPct val="0"/>
                </a:spcBef>
              </a:pPr>
              <a:r>
                <a:rPr lang="en-US" altLang="en-US" sz="1867" b="1" dirty="0">
                  <a:latin typeface="微软雅黑" panose="020B0503020204020204" pitchFamily="34" charset="-122"/>
                  <a:ea typeface="微软雅黑" panose="020B0503020204020204" pitchFamily="34" charset="-122"/>
                </a:rPr>
                <a:t>201</a:t>
              </a:r>
              <a:r>
                <a:rPr lang="en-US" altLang="zh-CN" sz="1867" b="1" dirty="0">
                  <a:latin typeface="微软雅黑" panose="020B0503020204020204" pitchFamily="34" charset="-122"/>
                  <a:ea typeface="微软雅黑" panose="020B0503020204020204" pitchFamily="34" charset="-122"/>
                </a:rPr>
                <a:t>2</a:t>
              </a:r>
              <a:r>
                <a:rPr lang="en-US" altLang="en-US" sz="1867" b="1" dirty="0">
                  <a:latin typeface="微软雅黑" panose="020B0503020204020204" pitchFamily="34" charset="-122"/>
                  <a:ea typeface="微软雅黑" panose="020B0503020204020204" pitchFamily="34" charset="-122"/>
                </a:rPr>
                <a:t>-0</a:t>
              </a:r>
              <a:r>
                <a:rPr lang="en-US" altLang="zh-CN" sz="1867" b="1" dirty="0">
                  <a:latin typeface="微软雅黑" panose="020B0503020204020204" pitchFamily="34" charset="-122"/>
                  <a:ea typeface="微软雅黑" panose="020B0503020204020204" pitchFamily="34" charset="-122"/>
                </a:rPr>
                <a:t>4</a:t>
              </a:r>
              <a:endParaRPr lang="zh-CN" altLang="en-US" sz="1867" b="1" dirty="0">
                <a:latin typeface="微软雅黑" panose="020B0503020204020204" pitchFamily="34" charset="-122"/>
                <a:ea typeface="微软雅黑" panose="020B0503020204020204" pitchFamily="34" charset="-122"/>
              </a:endParaRPr>
            </a:p>
          </p:txBody>
        </p:sp>
        <p:sp>
          <p:nvSpPr>
            <p:cNvPr id="20" name="椭圆 19"/>
            <p:cNvSpPr/>
            <p:nvPr/>
          </p:nvSpPr>
          <p:spPr>
            <a:xfrm>
              <a:off x="3972194" y="2202210"/>
              <a:ext cx="215233" cy="215233"/>
            </a:xfrm>
            <a:prstGeom prst="ellipse">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21" name="任意多边形 20"/>
            <p:cNvSpPr/>
            <p:nvPr/>
          </p:nvSpPr>
          <p:spPr>
            <a:xfrm>
              <a:off x="4695119" y="2525062"/>
              <a:ext cx="1708624" cy="860934"/>
            </a:xfrm>
            <a:custGeom>
              <a:avLst/>
              <a:gdLst>
                <a:gd name="connsiteX0" fmla="*/ 0 w 1421921"/>
                <a:gd name="connsiteY0" fmla="*/ 0 h 860934"/>
                <a:gd name="connsiteX1" fmla="*/ 1421921 w 1421921"/>
                <a:gd name="connsiteY1" fmla="*/ 0 h 860934"/>
                <a:gd name="connsiteX2" fmla="*/ 1421921 w 1421921"/>
                <a:gd name="connsiteY2" fmla="*/ 860934 h 860934"/>
                <a:gd name="connsiteX3" fmla="*/ 0 w 1421921"/>
                <a:gd name="connsiteY3" fmla="*/ 860934 h 860934"/>
                <a:gd name="connsiteX4" fmla="*/ 0 w 1421921"/>
                <a:gd name="connsiteY4" fmla="*/ 0 h 86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1921" h="860934">
                  <a:moveTo>
                    <a:pt x="0" y="0"/>
                  </a:moveTo>
                  <a:lnTo>
                    <a:pt x="1421921" y="0"/>
                  </a:lnTo>
                  <a:lnTo>
                    <a:pt x="1421921" y="860934"/>
                  </a:lnTo>
                  <a:lnTo>
                    <a:pt x="0" y="860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4309" tIns="104309" rIns="104309" bIns="104309" numCol="1" spcCol="1270" anchor="t" anchorCtr="0">
              <a:noAutofit/>
            </a:bodyPr>
            <a:lstStyle/>
            <a:p>
              <a:pPr algn="ctr" defTabSz="651917">
                <a:lnSpc>
                  <a:spcPts val="2667"/>
                </a:lnSpc>
                <a:spcBef>
                  <a:spcPct val="0"/>
                </a:spcBef>
              </a:pPr>
              <a:r>
                <a:rPr lang="en-US" altLang="en-US" sz="1867" b="1" dirty="0" err="1">
                  <a:latin typeface="微软雅黑" panose="020B0503020204020204" pitchFamily="34" charset="-122"/>
                  <a:ea typeface="微软雅黑" panose="020B0503020204020204" pitchFamily="34" charset="-122"/>
                </a:rPr>
                <a:t>OpenFlow</a:t>
              </a:r>
              <a:r>
                <a:rPr lang="en-US" altLang="en-US" sz="1867" b="1" dirty="0">
                  <a:latin typeface="微软雅黑" panose="020B0503020204020204" pitchFamily="34" charset="-122"/>
                  <a:ea typeface="微软雅黑" panose="020B0503020204020204" pitchFamily="34" charset="-122"/>
                </a:rPr>
                <a:t> 1.</a:t>
              </a:r>
              <a:r>
                <a:rPr lang="en-US" altLang="zh-CN" sz="1867" b="1" dirty="0">
                  <a:latin typeface="微软雅黑" panose="020B0503020204020204" pitchFamily="34" charset="-122"/>
                  <a:ea typeface="微软雅黑" panose="020B0503020204020204" pitchFamily="34" charset="-122"/>
                </a:rPr>
                <a:t>4</a:t>
              </a:r>
              <a:r>
                <a:rPr lang="en-US" altLang="en-US" sz="1867" b="1" dirty="0">
                  <a:latin typeface="微软雅黑" panose="020B0503020204020204" pitchFamily="34" charset="-122"/>
                  <a:ea typeface="微软雅黑" panose="020B0503020204020204" pitchFamily="34" charset="-122"/>
                </a:rPr>
                <a:t> </a:t>
              </a:r>
            </a:p>
            <a:p>
              <a:pPr algn="ctr" defTabSz="651917">
                <a:lnSpc>
                  <a:spcPts val="2667"/>
                </a:lnSpc>
                <a:spcBef>
                  <a:spcPct val="0"/>
                </a:spcBef>
              </a:pPr>
              <a:r>
                <a:rPr lang="en-US" altLang="en-US" sz="1867" b="1" dirty="0">
                  <a:latin typeface="微软雅黑" panose="020B0503020204020204" pitchFamily="34" charset="-122"/>
                  <a:ea typeface="微软雅黑" panose="020B0503020204020204" pitchFamily="34" charset="-122"/>
                </a:rPr>
                <a:t>201</a:t>
              </a:r>
              <a:r>
                <a:rPr lang="en-US" altLang="zh-CN" sz="1867" b="1" dirty="0">
                  <a:latin typeface="微软雅黑" panose="020B0503020204020204" pitchFamily="34" charset="-122"/>
                  <a:ea typeface="微软雅黑" panose="020B0503020204020204" pitchFamily="34" charset="-122"/>
                </a:rPr>
                <a:t>3</a:t>
              </a:r>
              <a:r>
                <a:rPr lang="en-US" altLang="en-US" sz="1867" b="1" dirty="0">
                  <a:latin typeface="微软雅黑" panose="020B0503020204020204" pitchFamily="34" charset="-122"/>
                  <a:ea typeface="微软雅黑" panose="020B0503020204020204" pitchFamily="34" charset="-122"/>
                </a:rPr>
                <a:t>-0</a:t>
              </a:r>
              <a:r>
                <a:rPr lang="en-US" altLang="zh-CN" sz="1867" b="1" dirty="0">
                  <a:latin typeface="微软雅黑" panose="020B0503020204020204" pitchFamily="34" charset="-122"/>
                  <a:ea typeface="微软雅黑" panose="020B0503020204020204" pitchFamily="34" charset="-122"/>
                </a:rPr>
                <a:t>8</a:t>
              </a:r>
              <a:endParaRPr lang="zh-CN" altLang="en-US" sz="1867" b="1" dirty="0">
                <a:latin typeface="微软雅黑" panose="020B0503020204020204" pitchFamily="34" charset="-122"/>
                <a:ea typeface="微软雅黑" panose="020B0503020204020204" pitchFamily="34" charset="-122"/>
              </a:endParaRPr>
            </a:p>
          </p:txBody>
        </p:sp>
        <p:sp>
          <p:nvSpPr>
            <p:cNvPr id="22" name="椭圆 21"/>
            <p:cNvSpPr/>
            <p:nvPr/>
          </p:nvSpPr>
          <p:spPr>
            <a:xfrm>
              <a:off x="5441964" y="2202210"/>
              <a:ext cx="215233" cy="215233"/>
            </a:xfrm>
            <a:prstGeom prst="ellipse">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23" name="任意多边形 22"/>
            <p:cNvSpPr/>
            <p:nvPr/>
          </p:nvSpPr>
          <p:spPr>
            <a:xfrm>
              <a:off x="6184541" y="1233660"/>
              <a:ext cx="1893465" cy="860934"/>
            </a:xfrm>
            <a:custGeom>
              <a:avLst/>
              <a:gdLst>
                <a:gd name="connsiteX0" fmla="*/ 0 w 1586183"/>
                <a:gd name="connsiteY0" fmla="*/ 0 h 860934"/>
                <a:gd name="connsiteX1" fmla="*/ 1586183 w 1586183"/>
                <a:gd name="connsiteY1" fmla="*/ 0 h 860934"/>
                <a:gd name="connsiteX2" fmla="*/ 1586183 w 1586183"/>
                <a:gd name="connsiteY2" fmla="*/ 860934 h 860934"/>
                <a:gd name="connsiteX3" fmla="*/ 0 w 1586183"/>
                <a:gd name="connsiteY3" fmla="*/ 860934 h 860934"/>
                <a:gd name="connsiteX4" fmla="*/ 0 w 1586183"/>
                <a:gd name="connsiteY4" fmla="*/ 0 h 86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183" h="860934">
                  <a:moveTo>
                    <a:pt x="0" y="0"/>
                  </a:moveTo>
                  <a:lnTo>
                    <a:pt x="1586183" y="0"/>
                  </a:lnTo>
                  <a:lnTo>
                    <a:pt x="1586183" y="860934"/>
                  </a:lnTo>
                  <a:lnTo>
                    <a:pt x="0" y="860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4309" tIns="104309" rIns="104309" bIns="104309" numCol="1" spcCol="1270" anchor="b" anchorCtr="0">
              <a:noAutofit/>
            </a:bodyPr>
            <a:lstStyle/>
            <a:p>
              <a:pPr algn="ctr" defTabSz="651917">
                <a:lnSpc>
                  <a:spcPts val="2667"/>
                </a:lnSpc>
                <a:spcBef>
                  <a:spcPct val="0"/>
                </a:spcBef>
              </a:pPr>
              <a:r>
                <a:rPr lang="en-US" altLang="en-US" sz="1867" b="1" dirty="0" err="1">
                  <a:latin typeface="微软雅黑" panose="020B0503020204020204" pitchFamily="34" charset="-122"/>
                  <a:ea typeface="微软雅黑" panose="020B0503020204020204" pitchFamily="34" charset="-122"/>
                </a:rPr>
                <a:t>OpenFlow</a:t>
              </a:r>
              <a:r>
                <a:rPr lang="en-US" altLang="en-US" sz="1867" b="1" dirty="0">
                  <a:latin typeface="微软雅黑" panose="020B0503020204020204" pitchFamily="34" charset="-122"/>
                  <a:ea typeface="微软雅黑" panose="020B0503020204020204" pitchFamily="34" charset="-122"/>
                </a:rPr>
                <a:t> 1.5.1 </a:t>
              </a:r>
            </a:p>
            <a:p>
              <a:pPr algn="ctr" defTabSz="651917">
                <a:lnSpc>
                  <a:spcPts val="2667"/>
                </a:lnSpc>
                <a:spcBef>
                  <a:spcPct val="0"/>
                </a:spcBef>
              </a:pPr>
              <a:r>
                <a:rPr lang="en-US" altLang="en-US" sz="1867" b="1" dirty="0">
                  <a:latin typeface="微软雅黑" panose="020B0503020204020204" pitchFamily="34" charset="-122"/>
                  <a:ea typeface="微软雅黑" panose="020B0503020204020204" pitchFamily="34" charset="-122"/>
                </a:rPr>
                <a:t>2015</a:t>
              </a:r>
              <a:r>
                <a:rPr lang="en-US" altLang="zh-CN" sz="1867" b="1" dirty="0">
                  <a:latin typeface="微软雅黑" panose="020B0503020204020204" pitchFamily="34" charset="-122"/>
                  <a:ea typeface="微软雅黑" panose="020B0503020204020204" pitchFamily="34" charset="-122"/>
                </a:rPr>
                <a:t>-03</a:t>
              </a:r>
              <a:endParaRPr lang="zh-CN" altLang="en-US" sz="1867" b="1" dirty="0">
                <a:latin typeface="微软雅黑" panose="020B0503020204020204" pitchFamily="34" charset="-122"/>
                <a:ea typeface="微软雅黑" panose="020B0503020204020204" pitchFamily="34" charset="-122"/>
              </a:endParaRPr>
            </a:p>
          </p:txBody>
        </p:sp>
        <p:sp>
          <p:nvSpPr>
            <p:cNvPr id="24" name="椭圆 23"/>
            <p:cNvSpPr/>
            <p:nvPr/>
          </p:nvSpPr>
          <p:spPr>
            <a:xfrm>
              <a:off x="6994383" y="2202210"/>
              <a:ext cx="215233" cy="215233"/>
            </a:xfrm>
            <a:prstGeom prst="ellipse">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grpSp>
    </p:spTree>
    <p:extLst>
      <p:ext uri="{BB962C8B-B14F-4D97-AF65-F5344CB8AC3E}">
        <p14:creationId xmlns:p14="http://schemas.microsoft.com/office/powerpoint/2010/main" val="59377957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726860" y="818859"/>
            <a:ext cx="10738281" cy="471907"/>
          </a:xfrm>
          <a:prstGeom prst="roundRect">
            <a:avLst>
              <a:gd name="adj" fmla="val 16667"/>
            </a:avLst>
          </a:prstGeom>
          <a:solidFill>
            <a:srgbClr val="00B050"/>
          </a:solidFill>
          <a:ln>
            <a:noFill/>
          </a:ln>
          <a:effectLst/>
        </p:spPr>
        <p:txBody>
          <a:bodyPr wrap="none" anchor="ctr"/>
          <a:lstStyle/>
          <a:p>
            <a:endParaRPr lang="zh-CN" altLang="en-US" sz="2400"/>
          </a:p>
        </p:txBody>
      </p:sp>
      <p:sp>
        <p:nvSpPr>
          <p:cNvPr id="6" name="Rectangle 6"/>
          <p:cNvSpPr>
            <a:spLocks noChangeArrowheads="1"/>
          </p:cNvSpPr>
          <p:nvPr/>
        </p:nvSpPr>
        <p:spPr bwMode="auto">
          <a:xfrm>
            <a:off x="2589291" y="774578"/>
            <a:ext cx="7013419" cy="502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667" b="1" dirty="0" err="1">
                <a:solidFill>
                  <a:schemeClr val="bg1"/>
                </a:solidFill>
                <a:latin typeface="微软雅黑" pitchFamily="34" charset="-122"/>
                <a:ea typeface="微软雅黑" pitchFamily="34" charset="-122"/>
              </a:rPr>
              <a:t>OpenFlow</a:t>
            </a:r>
            <a:r>
              <a:rPr lang="en-US" altLang="zh-CN" sz="2667" b="1" dirty="0">
                <a:solidFill>
                  <a:schemeClr val="bg1"/>
                </a:solidFill>
                <a:latin typeface="微软雅黑" pitchFamily="34" charset="-122"/>
                <a:ea typeface="微软雅黑" pitchFamily="34" charset="-122"/>
              </a:rPr>
              <a:t> </a:t>
            </a:r>
            <a:r>
              <a:rPr lang="zh-CN" altLang="en-US" sz="2667" b="1" dirty="0">
                <a:solidFill>
                  <a:schemeClr val="bg1"/>
                </a:solidFill>
                <a:latin typeface="微软雅黑" pitchFamily="34" charset="-122"/>
                <a:ea typeface="微软雅黑" pitchFamily="34" charset="-122"/>
              </a:rPr>
              <a:t>数据层面：匹配 </a:t>
            </a:r>
            <a:r>
              <a:rPr lang="en-US" altLang="zh-CN" sz="2667" b="1" dirty="0">
                <a:solidFill>
                  <a:schemeClr val="bg1"/>
                </a:solidFill>
                <a:latin typeface="微软雅黑" pitchFamily="34" charset="-122"/>
                <a:ea typeface="微软雅黑" pitchFamily="34" charset="-122"/>
              </a:rPr>
              <a:t>+ </a:t>
            </a:r>
            <a:r>
              <a:rPr lang="zh-CN" altLang="en-US" sz="2667" b="1" dirty="0">
                <a:solidFill>
                  <a:schemeClr val="bg1"/>
                </a:solidFill>
                <a:latin typeface="微软雅黑" pitchFamily="34" charset="-122"/>
                <a:ea typeface="微软雅黑" pitchFamily="34" charset="-122"/>
              </a:rPr>
              <a:t>动作</a:t>
            </a:r>
          </a:p>
        </p:txBody>
      </p:sp>
      <p:sp>
        <p:nvSpPr>
          <p:cNvPr id="25" name="Rectangle 8"/>
          <p:cNvSpPr>
            <a:spLocks noChangeArrowheads="1"/>
          </p:cNvSpPr>
          <p:nvPr/>
        </p:nvSpPr>
        <p:spPr bwMode="auto">
          <a:xfrm>
            <a:off x="726859" y="1309673"/>
            <a:ext cx="10738283" cy="1138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80990" indent="-380990">
              <a:lnSpc>
                <a:spcPts val="4267"/>
              </a:lnSpc>
              <a:buClr>
                <a:srgbClr val="0070C0"/>
              </a:buClr>
              <a:buFont typeface="Wingdings" pitchFamily="2" charset="2"/>
              <a:buChar char="l"/>
            </a:pPr>
            <a:r>
              <a:rPr lang="zh-CN" altLang="en-US" sz="2667" b="1" dirty="0">
                <a:latin typeface="微软雅黑" pitchFamily="34" charset="-122"/>
                <a:ea typeface="微软雅黑" pitchFamily="34" charset="-122"/>
              </a:rPr>
              <a:t>数据层面的</a:t>
            </a:r>
            <a:r>
              <a:rPr lang="zh-CN" altLang="en-US" sz="2667" b="1" dirty="0">
                <a:solidFill>
                  <a:srgbClr val="C00000"/>
                </a:solidFill>
                <a:latin typeface="微软雅黑" pitchFamily="34" charset="-122"/>
                <a:ea typeface="微软雅黑" pitchFamily="34" charset="-122"/>
              </a:rPr>
              <a:t>分组交换机</a:t>
            </a:r>
            <a:r>
              <a:rPr lang="zh-CN" altLang="en-US" sz="2667" b="1" dirty="0">
                <a:latin typeface="微软雅黑" pitchFamily="34" charset="-122"/>
                <a:ea typeface="微软雅黑" pitchFamily="34" charset="-122"/>
              </a:rPr>
              <a:t>或 </a:t>
            </a:r>
            <a:r>
              <a:rPr lang="en-US" altLang="zh-CN" sz="2667" b="1" dirty="0" err="1">
                <a:solidFill>
                  <a:srgbClr val="C00000"/>
                </a:solidFill>
                <a:latin typeface="微软雅黑" pitchFamily="34" charset="-122"/>
                <a:ea typeface="微软雅黑" pitchFamily="34" charset="-122"/>
              </a:rPr>
              <a:t>OpenFlow</a:t>
            </a:r>
            <a:r>
              <a:rPr lang="en-US" altLang="zh-CN" sz="2667" b="1" dirty="0">
                <a:solidFill>
                  <a:srgbClr val="C00000"/>
                </a:solidFill>
                <a:latin typeface="微软雅黑" pitchFamily="34" charset="-122"/>
                <a:ea typeface="微软雅黑" pitchFamily="34" charset="-122"/>
              </a:rPr>
              <a:t> </a:t>
            </a:r>
            <a:r>
              <a:rPr lang="zh-CN" altLang="en-US" sz="2667" b="1" dirty="0">
                <a:solidFill>
                  <a:srgbClr val="C00000"/>
                </a:solidFill>
                <a:latin typeface="微软雅黑" pitchFamily="34" charset="-122"/>
                <a:ea typeface="微软雅黑" pitchFamily="34" charset="-122"/>
              </a:rPr>
              <a:t>交换机</a:t>
            </a:r>
            <a:r>
              <a:rPr lang="zh-CN" altLang="en-US" sz="2667" b="1" dirty="0">
                <a:latin typeface="微软雅黑" pitchFamily="34" charset="-122"/>
                <a:ea typeface="微软雅黑" pitchFamily="34" charset="-122"/>
              </a:rPr>
              <a:t>完成“</a:t>
            </a:r>
            <a:r>
              <a:rPr lang="zh-CN" altLang="en-US" sz="2667" b="1" dirty="0">
                <a:solidFill>
                  <a:srgbClr val="0000FF"/>
                </a:solidFill>
                <a:latin typeface="微软雅黑" pitchFamily="34" charset="-122"/>
                <a:ea typeface="微软雅黑" pitchFamily="34" charset="-122"/>
              </a:rPr>
              <a:t>匹配 </a:t>
            </a:r>
            <a:r>
              <a:rPr lang="en-US" altLang="zh-CN" sz="2667" b="1" dirty="0">
                <a:solidFill>
                  <a:srgbClr val="0000FF"/>
                </a:solidFill>
                <a:latin typeface="微软雅黑" pitchFamily="34" charset="-122"/>
                <a:ea typeface="微软雅黑" pitchFamily="34" charset="-122"/>
              </a:rPr>
              <a:t>+ </a:t>
            </a:r>
            <a:r>
              <a:rPr lang="zh-CN" altLang="en-US" sz="2667" b="1" dirty="0">
                <a:solidFill>
                  <a:srgbClr val="0000FF"/>
                </a:solidFill>
                <a:latin typeface="微软雅黑" pitchFamily="34" charset="-122"/>
                <a:ea typeface="微软雅黑" pitchFamily="34" charset="-122"/>
              </a:rPr>
              <a:t>动作</a:t>
            </a:r>
            <a:r>
              <a:rPr lang="zh-CN" altLang="en-US" sz="2667" b="1" dirty="0">
                <a:latin typeface="微软雅黑" pitchFamily="34" charset="-122"/>
                <a:ea typeface="微软雅黑" pitchFamily="34" charset="-122"/>
              </a:rPr>
              <a:t>”。</a:t>
            </a:r>
            <a:endParaRPr lang="en-US" altLang="zh-CN" sz="2667" b="1" dirty="0">
              <a:latin typeface="微软雅黑" pitchFamily="34" charset="-122"/>
              <a:ea typeface="微软雅黑" pitchFamily="34" charset="-122"/>
            </a:endParaRPr>
          </a:p>
          <a:p>
            <a:pPr marL="380990" indent="-380990">
              <a:lnSpc>
                <a:spcPts val="4267"/>
              </a:lnSpc>
              <a:buClr>
                <a:srgbClr val="0070C0"/>
              </a:buClr>
              <a:buFont typeface="Wingdings" pitchFamily="2" charset="2"/>
              <a:buChar char="l"/>
            </a:pPr>
            <a:r>
              <a:rPr lang="zh-CN" altLang="en-US" sz="2667" b="1" dirty="0">
                <a:latin typeface="微软雅黑" pitchFamily="34" charset="-122"/>
                <a:ea typeface="微软雅黑" pitchFamily="34" charset="-122"/>
              </a:rPr>
              <a:t>称为</a:t>
            </a:r>
            <a:r>
              <a:rPr lang="zh-CN" altLang="en-US" sz="2667" b="1" dirty="0">
                <a:solidFill>
                  <a:srgbClr val="0000FF"/>
                </a:solidFill>
                <a:latin typeface="微软雅黑" pitchFamily="34" charset="-122"/>
                <a:ea typeface="微软雅黑" pitchFamily="34" charset="-122"/>
              </a:rPr>
              <a:t>广义转发。</a:t>
            </a:r>
            <a:endParaRPr lang="en-US" altLang="zh-CN" sz="2667" b="1" dirty="0">
              <a:solidFill>
                <a:srgbClr val="0000FF"/>
              </a:solidFill>
              <a:latin typeface="微软雅黑" pitchFamily="34" charset="-122"/>
              <a:ea typeface="微软雅黑" pitchFamily="34" charset="-122"/>
            </a:endParaRPr>
          </a:p>
        </p:txBody>
      </p:sp>
      <p:graphicFrame>
        <p:nvGraphicFramePr>
          <p:cNvPr id="2" name="图示 1"/>
          <p:cNvGraphicFramePr/>
          <p:nvPr/>
        </p:nvGraphicFramePr>
        <p:xfrm>
          <a:off x="2718050" y="2546005"/>
          <a:ext cx="6755897" cy="32844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33900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726860" y="818859"/>
            <a:ext cx="10738281" cy="471907"/>
          </a:xfrm>
          <a:prstGeom prst="roundRect">
            <a:avLst>
              <a:gd name="adj" fmla="val 16667"/>
            </a:avLst>
          </a:prstGeom>
          <a:solidFill>
            <a:srgbClr val="00B050"/>
          </a:solidFill>
          <a:ln>
            <a:noFill/>
          </a:ln>
          <a:effectLst/>
        </p:spPr>
        <p:txBody>
          <a:bodyPr wrap="none" anchor="ctr"/>
          <a:lstStyle/>
          <a:p>
            <a:endParaRPr lang="zh-CN" altLang="en-US" sz="2400"/>
          </a:p>
        </p:txBody>
      </p:sp>
      <p:sp>
        <p:nvSpPr>
          <p:cNvPr id="6" name="Rectangle 6"/>
          <p:cNvSpPr>
            <a:spLocks noChangeArrowheads="1"/>
          </p:cNvSpPr>
          <p:nvPr/>
        </p:nvSpPr>
        <p:spPr bwMode="auto">
          <a:xfrm>
            <a:off x="2589291" y="774577"/>
            <a:ext cx="7013419" cy="502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667" b="1" dirty="0" err="1">
                <a:solidFill>
                  <a:schemeClr val="bg1"/>
                </a:solidFill>
                <a:latin typeface="微软雅黑" pitchFamily="34" charset="-122"/>
                <a:ea typeface="微软雅黑" pitchFamily="34" charset="-122"/>
              </a:rPr>
              <a:t>OpenFlow</a:t>
            </a:r>
            <a:r>
              <a:rPr lang="en-US" altLang="zh-CN" sz="2667" b="1" dirty="0">
                <a:solidFill>
                  <a:schemeClr val="bg1"/>
                </a:solidFill>
                <a:latin typeface="微软雅黑" pitchFamily="34" charset="-122"/>
                <a:ea typeface="微软雅黑" pitchFamily="34" charset="-122"/>
              </a:rPr>
              <a:t> </a:t>
            </a:r>
            <a:r>
              <a:rPr lang="zh-CN" altLang="en-US" sz="2667" b="1" dirty="0">
                <a:solidFill>
                  <a:schemeClr val="bg1"/>
                </a:solidFill>
                <a:latin typeface="微软雅黑" pitchFamily="34" charset="-122"/>
                <a:ea typeface="微软雅黑" pitchFamily="34" charset="-122"/>
              </a:rPr>
              <a:t>数据层面：流表</a:t>
            </a:r>
          </a:p>
        </p:txBody>
      </p:sp>
      <p:sp>
        <p:nvSpPr>
          <p:cNvPr id="4" name="Rectangle 8"/>
          <p:cNvSpPr>
            <a:spLocks noChangeArrowheads="1"/>
          </p:cNvSpPr>
          <p:nvPr/>
        </p:nvSpPr>
        <p:spPr bwMode="auto">
          <a:xfrm>
            <a:off x="726859" y="1309673"/>
            <a:ext cx="10738283" cy="1690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80990" indent="-380990">
              <a:lnSpc>
                <a:spcPts val="4267"/>
              </a:lnSpc>
              <a:buClr>
                <a:srgbClr val="0070C0"/>
              </a:buClr>
              <a:buFont typeface="Wingdings" pitchFamily="2" charset="2"/>
              <a:buChar char="l"/>
            </a:pPr>
            <a:r>
              <a:rPr lang="zh-CN" altLang="en-US" sz="2667" b="1" dirty="0">
                <a:solidFill>
                  <a:srgbClr val="C00000"/>
                </a:solidFill>
                <a:latin typeface="微软雅黑" pitchFamily="34" charset="-122"/>
                <a:ea typeface="微软雅黑" pitchFamily="34" charset="-122"/>
              </a:rPr>
              <a:t>流表 </a:t>
            </a:r>
            <a:r>
              <a:rPr lang="en-US" altLang="zh-CN" sz="2667" b="1" dirty="0">
                <a:solidFill>
                  <a:srgbClr val="C00000"/>
                </a:solidFill>
                <a:latin typeface="微软雅黑" pitchFamily="34" charset="-122"/>
                <a:ea typeface="微软雅黑" pitchFamily="34" charset="-122"/>
              </a:rPr>
              <a:t>(flow table)</a:t>
            </a:r>
            <a:r>
              <a:rPr lang="zh-CN" altLang="en-US" sz="2667" b="1" dirty="0">
                <a:solidFill>
                  <a:srgbClr val="C00000"/>
                </a:solidFill>
                <a:latin typeface="微软雅黑" pitchFamily="34" charset="-122"/>
                <a:ea typeface="微软雅黑" pitchFamily="34" charset="-122"/>
              </a:rPr>
              <a:t>：</a:t>
            </a:r>
            <a:r>
              <a:rPr lang="zh-CN" altLang="en-US" sz="2667" b="1" dirty="0">
                <a:latin typeface="微软雅黑" pitchFamily="34" charset="-122"/>
                <a:ea typeface="微软雅黑" pitchFamily="34" charset="-122"/>
              </a:rPr>
              <a:t>规定“匹配 </a:t>
            </a:r>
            <a:r>
              <a:rPr lang="en-US" altLang="zh-CN" sz="2667" b="1" dirty="0">
                <a:latin typeface="微软雅黑" pitchFamily="34" charset="-122"/>
                <a:ea typeface="微软雅黑" pitchFamily="34" charset="-122"/>
              </a:rPr>
              <a:t>+ </a:t>
            </a:r>
            <a:r>
              <a:rPr lang="zh-CN" altLang="en-US" sz="2667" b="1" dirty="0">
                <a:latin typeface="微软雅黑" pitchFamily="34" charset="-122"/>
                <a:ea typeface="微软雅黑" pitchFamily="34" charset="-122"/>
              </a:rPr>
              <a:t>动作”。</a:t>
            </a:r>
            <a:endParaRPr lang="en-US" altLang="zh-CN" sz="2667" b="1" dirty="0">
              <a:latin typeface="微软雅黑" pitchFamily="34" charset="-122"/>
              <a:ea typeface="微软雅黑" pitchFamily="34" charset="-122"/>
            </a:endParaRPr>
          </a:p>
          <a:p>
            <a:pPr marL="380990" indent="-380990">
              <a:lnSpc>
                <a:spcPts val="4267"/>
              </a:lnSpc>
              <a:buClr>
                <a:srgbClr val="0070C0"/>
              </a:buClr>
              <a:buFont typeface="Wingdings" pitchFamily="2" charset="2"/>
              <a:buChar char="l"/>
            </a:pPr>
            <a:r>
              <a:rPr lang="zh-CN" altLang="en-US" sz="2667" b="1" dirty="0">
                <a:solidFill>
                  <a:srgbClr val="C00000"/>
                </a:solidFill>
                <a:latin typeface="微软雅黑" pitchFamily="34" charset="-122"/>
                <a:ea typeface="微软雅黑" pitchFamily="34" charset="-122"/>
              </a:rPr>
              <a:t>流：</a:t>
            </a:r>
            <a:r>
              <a:rPr lang="zh-CN" altLang="en-US" sz="2667" b="1" dirty="0">
                <a:latin typeface="微软雅黑" pitchFamily="34" charset="-122"/>
                <a:ea typeface="微软雅黑" pitchFamily="34" charset="-122"/>
              </a:rPr>
              <a:t>穿过网络的一种分组序列，而在此序列中的分组都共享分组首部某些字段的值。</a:t>
            </a:r>
            <a:endParaRPr lang="en-US" altLang="zh-CN" sz="2667" b="1" dirty="0">
              <a:latin typeface="微软雅黑" pitchFamily="34" charset="-122"/>
              <a:ea typeface="微软雅黑" pitchFamily="34" charset="-122"/>
            </a:endParaRPr>
          </a:p>
        </p:txBody>
      </p:sp>
      <p:grpSp>
        <p:nvGrpSpPr>
          <p:cNvPr id="90" name="组合 89"/>
          <p:cNvGrpSpPr/>
          <p:nvPr/>
        </p:nvGrpSpPr>
        <p:grpSpPr>
          <a:xfrm>
            <a:off x="1515271" y="3173743"/>
            <a:ext cx="6174464" cy="2250055"/>
            <a:chOff x="1136453" y="2380307"/>
            <a:chExt cx="4630848" cy="1687541"/>
          </a:xfrm>
        </p:grpSpPr>
        <p:sp>
          <p:nvSpPr>
            <p:cNvPr id="16" name="矩形 15"/>
            <p:cNvSpPr/>
            <p:nvPr/>
          </p:nvSpPr>
          <p:spPr>
            <a:xfrm>
              <a:off x="1136453" y="2813010"/>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333" b="1" dirty="0">
                  <a:solidFill>
                    <a:schemeClr val="tx1"/>
                  </a:solidFill>
                  <a:latin typeface="微软雅黑" panose="020B0503020204020204" pitchFamily="34" charset="-122"/>
                  <a:ea typeface="微软雅黑" panose="020B0503020204020204" pitchFamily="34" charset="-122"/>
                </a:rPr>
                <a:t>端口 </a:t>
              </a:r>
              <a:r>
                <a:rPr lang="en-US" altLang="zh-CN" sz="1333" b="1" dirty="0">
                  <a:solidFill>
                    <a:schemeClr val="tx1"/>
                  </a:solidFill>
                  <a:latin typeface="微软雅黑" panose="020B0503020204020204" pitchFamily="34" charset="-122"/>
                  <a:ea typeface="微软雅黑" panose="020B0503020204020204" pitchFamily="34" charset="-122"/>
                </a:rPr>
                <a:t>1</a:t>
              </a:r>
              <a:endParaRPr lang="zh-CN" altLang="en-US" sz="1333" b="1" dirty="0">
                <a:solidFill>
                  <a:schemeClr val="tx1"/>
                </a:solidFill>
                <a:latin typeface="微软雅黑" panose="020B0503020204020204" pitchFamily="34" charset="-122"/>
                <a:ea typeface="微软雅黑" panose="020B0503020204020204" pitchFamily="34" charset="-122"/>
              </a:endParaRPr>
            </a:p>
          </p:txBody>
        </p:sp>
        <p:sp>
          <p:nvSpPr>
            <p:cNvPr id="17" name="矩形 16"/>
            <p:cNvSpPr/>
            <p:nvPr/>
          </p:nvSpPr>
          <p:spPr>
            <a:xfrm>
              <a:off x="1136453" y="3068779"/>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333" b="1" dirty="0">
                  <a:solidFill>
                    <a:schemeClr val="tx1"/>
                  </a:solidFill>
                  <a:latin typeface="微软雅黑" panose="020B0503020204020204" pitchFamily="34" charset="-122"/>
                  <a:ea typeface="微软雅黑" panose="020B0503020204020204" pitchFamily="34" charset="-122"/>
                </a:rPr>
                <a:t>端口 </a:t>
              </a:r>
              <a:r>
                <a:rPr lang="en-US" altLang="zh-CN" sz="1333" b="1" dirty="0">
                  <a:solidFill>
                    <a:schemeClr val="tx1"/>
                  </a:solidFill>
                  <a:latin typeface="微软雅黑" panose="020B0503020204020204" pitchFamily="34" charset="-122"/>
                  <a:ea typeface="微软雅黑" panose="020B0503020204020204" pitchFamily="34" charset="-122"/>
                </a:rPr>
                <a:t>2</a:t>
              </a:r>
              <a:endParaRPr lang="zh-CN" altLang="en-US" sz="1333" b="1" dirty="0">
                <a:solidFill>
                  <a:schemeClr val="tx1"/>
                </a:solidFill>
                <a:latin typeface="微软雅黑" panose="020B0503020204020204" pitchFamily="34" charset="-122"/>
                <a:ea typeface="微软雅黑" panose="020B0503020204020204" pitchFamily="34" charset="-122"/>
              </a:endParaRPr>
            </a:p>
          </p:txBody>
        </p:sp>
        <p:sp>
          <p:nvSpPr>
            <p:cNvPr id="18" name="矩形 17"/>
            <p:cNvSpPr/>
            <p:nvPr/>
          </p:nvSpPr>
          <p:spPr>
            <a:xfrm>
              <a:off x="1136453" y="3313897"/>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333" b="1" dirty="0">
                  <a:solidFill>
                    <a:schemeClr val="tx1"/>
                  </a:solidFill>
                  <a:latin typeface="微软雅黑" panose="020B0503020204020204" pitchFamily="34" charset="-122"/>
                  <a:ea typeface="微软雅黑" panose="020B0503020204020204" pitchFamily="34" charset="-122"/>
                </a:rPr>
                <a:t>端口 </a:t>
              </a:r>
              <a:r>
                <a:rPr lang="en-US" altLang="zh-CN" sz="1333" b="1" dirty="0">
                  <a:solidFill>
                    <a:schemeClr val="tx1"/>
                  </a:solidFill>
                  <a:latin typeface="微软雅黑" panose="020B0503020204020204" pitchFamily="34" charset="-122"/>
                  <a:ea typeface="微软雅黑" panose="020B0503020204020204" pitchFamily="34" charset="-122"/>
                </a:rPr>
                <a:t>3</a:t>
              </a:r>
              <a:endParaRPr lang="zh-CN" altLang="en-US" sz="1333" b="1" dirty="0">
                <a:solidFill>
                  <a:schemeClr val="tx1"/>
                </a:solidFill>
                <a:latin typeface="微软雅黑" panose="020B0503020204020204" pitchFamily="34" charset="-122"/>
                <a:ea typeface="微软雅黑" panose="020B0503020204020204" pitchFamily="34" charset="-122"/>
              </a:endParaRPr>
            </a:p>
          </p:txBody>
        </p:sp>
        <p:sp>
          <p:nvSpPr>
            <p:cNvPr id="19" name="矩形 18"/>
            <p:cNvSpPr/>
            <p:nvPr/>
          </p:nvSpPr>
          <p:spPr>
            <a:xfrm>
              <a:off x="1136453" y="3732620"/>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333" b="1" dirty="0">
                  <a:solidFill>
                    <a:schemeClr val="tx1"/>
                  </a:solidFill>
                  <a:latin typeface="微软雅黑" panose="020B0503020204020204" pitchFamily="34" charset="-122"/>
                  <a:ea typeface="微软雅黑" panose="020B0503020204020204" pitchFamily="34" charset="-122"/>
                </a:rPr>
                <a:t>端口 </a:t>
              </a:r>
              <a:r>
                <a:rPr lang="en-US" altLang="zh-CN" sz="1333" b="1" dirty="0">
                  <a:solidFill>
                    <a:schemeClr val="tx1"/>
                  </a:solidFill>
                  <a:latin typeface="微软雅黑" panose="020B0503020204020204" pitchFamily="34" charset="-122"/>
                  <a:ea typeface="微软雅黑" panose="020B0503020204020204" pitchFamily="34" charset="-122"/>
                </a:rPr>
                <a:t>N</a:t>
              </a:r>
              <a:endParaRPr lang="zh-CN" altLang="en-US" sz="1333" b="1" dirty="0">
                <a:solidFill>
                  <a:schemeClr val="tx1"/>
                </a:solidFill>
                <a:latin typeface="微软雅黑" panose="020B0503020204020204" pitchFamily="34" charset="-122"/>
                <a:ea typeface="微软雅黑" panose="020B0503020204020204" pitchFamily="34" charset="-122"/>
              </a:endParaRPr>
            </a:p>
          </p:txBody>
        </p:sp>
        <p:sp>
          <p:nvSpPr>
            <p:cNvPr id="20" name="矩形 19"/>
            <p:cNvSpPr/>
            <p:nvPr/>
          </p:nvSpPr>
          <p:spPr>
            <a:xfrm>
              <a:off x="5183600" y="2813010"/>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333" b="1" dirty="0">
                  <a:solidFill>
                    <a:schemeClr val="tx1"/>
                  </a:solidFill>
                  <a:latin typeface="微软雅黑" panose="020B0503020204020204" pitchFamily="34" charset="-122"/>
                  <a:ea typeface="微软雅黑" panose="020B0503020204020204" pitchFamily="34" charset="-122"/>
                </a:rPr>
                <a:t>端口 </a:t>
              </a:r>
              <a:r>
                <a:rPr lang="en-US" altLang="zh-CN" sz="1333" b="1" dirty="0">
                  <a:solidFill>
                    <a:schemeClr val="tx1"/>
                  </a:solidFill>
                  <a:latin typeface="微软雅黑" panose="020B0503020204020204" pitchFamily="34" charset="-122"/>
                  <a:ea typeface="微软雅黑" panose="020B0503020204020204" pitchFamily="34" charset="-122"/>
                </a:rPr>
                <a:t>1</a:t>
              </a:r>
              <a:endParaRPr lang="zh-CN" altLang="en-US" sz="1333" b="1" dirty="0">
                <a:solidFill>
                  <a:schemeClr val="tx1"/>
                </a:solidFill>
                <a:latin typeface="微软雅黑" panose="020B0503020204020204" pitchFamily="34" charset="-122"/>
                <a:ea typeface="微软雅黑" panose="020B0503020204020204" pitchFamily="34" charset="-122"/>
              </a:endParaRPr>
            </a:p>
          </p:txBody>
        </p:sp>
        <p:sp>
          <p:nvSpPr>
            <p:cNvPr id="21" name="矩形 20"/>
            <p:cNvSpPr/>
            <p:nvPr/>
          </p:nvSpPr>
          <p:spPr>
            <a:xfrm>
              <a:off x="5183600" y="3068779"/>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333" b="1" dirty="0">
                  <a:solidFill>
                    <a:schemeClr val="tx1"/>
                  </a:solidFill>
                  <a:latin typeface="微软雅黑" panose="020B0503020204020204" pitchFamily="34" charset="-122"/>
                  <a:ea typeface="微软雅黑" panose="020B0503020204020204" pitchFamily="34" charset="-122"/>
                </a:rPr>
                <a:t>端口 </a:t>
              </a:r>
              <a:r>
                <a:rPr lang="en-US" altLang="zh-CN" sz="1333" b="1" dirty="0">
                  <a:solidFill>
                    <a:schemeClr val="tx1"/>
                  </a:solidFill>
                  <a:latin typeface="微软雅黑" panose="020B0503020204020204" pitchFamily="34" charset="-122"/>
                  <a:ea typeface="微软雅黑" panose="020B0503020204020204" pitchFamily="34" charset="-122"/>
                </a:rPr>
                <a:t>2</a:t>
              </a:r>
              <a:endParaRPr lang="zh-CN" altLang="en-US" sz="1333" b="1" dirty="0">
                <a:solidFill>
                  <a:schemeClr val="tx1"/>
                </a:solidFill>
                <a:latin typeface="微软雅黑" panose="020B0503020204020204" pitchFamily="34" charset="-122"/>
                <a:ea typeface="微软雅黑" panose="020B0503020204020204" pitchFamily="34" charset="-122"/>
              </a:endParaRPr>
            </a:p>
          </p:txBody>
        </p:sp>
        <p:sp>
          <p:nvSpPr>
            <p:cNvPr id="22" name="矩形 21"/>
            <p:cNvSpPr/>
            <p:nvPr/>
          </p:nvSpPr>
          <p:spPr>
            <a:xfrm>
              <a:off x="5183600" y="3313897"/>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333" b="1" dirty="0">
                  <a:solidFill>
                    <a:schemeClr val="tx1"/>
                  </a:solidFill>
                  <a:latin typeface="微软雅黑" panose="020B0503020204020204" pitchFamily="34" charset="-122"/>
                  <a:ea typeface="微软雅黑" panose="020B0503020204020204" pitchFamily="34" charset="-122"/>
                </a:rPr>
                <a:t>端口 </a:t>
              </a:r>
              <a:r>
                <a:rPr lang="en-US" altLang="zh-CN" sz="1333" b="1" dirty="0">
                  <a:solidFill>
                    <a:schemeClr val="tx1"/>
                  </a:solidFill>
                  <a:latin typeface="微软雅黑" panose="020B0503020204020204" pitchFamily="34" charset="-122"/>
                  <a:ea typeface="微软雅黑" panose="020B0503020204020204" pitchFamily="34" charset="-122"/>
                </a:rPr>
                <a:t>3</a:t>
              </a:r>
              <a:endParaRPr lang="zh-CN" altLang="en-US" sz="1333" b="1" dirty="0">
                <a:solidFill>
                  <a:schemeClr val="tx1"/>
                </a:solidFill>
                <a:latin typeface="微软雅黑" panose="020B0503020204020204" pitchFamily="34" charset="-122"/>
                <a:ea typeface="微软雅黑" panose="020B0503020204020204" pitchFamily="34" charset="-122"/>
              </a:endParaRPr>
            </a:p>
          </p:txBody>
        </p:sp>
        <p:sp>
          <p:nvSpPr>
            <p:cNvPr id="23" name="矩形 22"/>
            <p:cNvSpPr/>
            <p:nvPr/>
          </p:nvSpPr>
          <p:spPr>
            <a:xfrm>
              <a:off x="5183600" y="3732620"/>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333" b="1" dirty="0">
                  <a:solidFill>
                    <a:schemeClr val="tx1"/>
                  </a:solidFill>
                  <a:latin typeface="微软雅黑" panose="020B0503020204020204" pitchFamily="34" charset="-122"/>
                  <a:ea typeface="微软雅黑" panose="020B0503020204020204" pitchFamily="34" charset="-122"/>
                </a:rPr>
                <a:t>端口 </a:t>
              </a:r>
              <a:r>
                <a:rPr lang="en-US" altLang="zh-CN" sz="1333" b="1" dirty="0">
                  <a:solidFill>
                    <a:schemeClr val="tx1"/>
                  </a:solidFill>
                  <a:latin typeface="微软雅黑" panose="020B0503020204020204" pitchFamily="34" charset="-122"/>
                  <a:ea typeface="微软雅黑" panose="020B0503020204020204" pitchFamily="34" charset="-122"/>
                </a:rPr>
                <a:t>N</a:t>
              </a:r>
              <a:endParaRPr lang="zh-CN" altLang="en-US" sz="1333" b="1" dirty="0">
                <a:solidFill>
                  <a:schemeClr val="tx1"/>
                </a:solidFill>
                <a:latin typeface="微软雅黑" panose="020B0503020204020204" pitchFamily="34" charset="-122"/>
                <a:ea typeface="微软雅黑" panose="020B0503020204020204" pitchFamily="34" charset="-122"/>
              </a:endParaRPr>
            </a:p>
          </p:txBody>
        </p:sp>
        <p:sp>
          <p:nvSpPr>
            <p:cNvPr id="2" name="矩形 1"/>
            <p:cNvSpPr/>
            <p:nvPr/>
          </p:nvSpPr>
          <p:spPr>
            <a:xfrm>
              <a:off x="1665837" y="2402010"/>
              <a:ext cx="3603280" cy="1665838"/>
            </a:xfrm>
            <a:prstGeom prst="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矩形 2"/>
            <p:cNvSpPr/>
            <p:nvPr/>
          </p:nvSpPr>
          <p:spPr>
            <a:xfrm>
              <a:off x="2416786" y="2380307"/>
              <a:ext cx="2071721" cy="346249"/>
            </a:xfrm>
            <a:prstGeom prst="rect">
              <a:avLst/>
            </a:prstGeom>
          </p:spPr>
          <p:txBody>
            <a:bodyPr wrap="none">
              <a:spAutoFit/>
            </a:bodyPr>
            <a:lstStyle/>
            <a:p>
              <a:r>
                <a:rPr lang="en-US" altLang="zh-CN" sz="2400" b="1" dirty="0" err="1">
                  <a:solidFill>
                    <a:srgbClr val="000066"/>
                  </a:solidFill>
                  <a:latin typeface="微软雅黑" pitchFamily="34" charset="-122"/>
                  <a:ea typeface="微软雅黑" pitchFamily="34" charset="-122"/>
                </a:rPr>
                <a:t>OpenFlow</a:t>
              </a:r>
              <a:r>
                <a:rPr lang="en-US" altLang="zh-CN" sz="2400" b="1" dirty="0">
                  <a:solidFill>
                    <a:srgbClr val="000066"/>
                  </a:solidFill>
                  <a:latin typeface="微软雅黑" pitchFamily="34" charset="-122"/>
                  <a:ea typeface="微软雅黑" pitchFamily="34" charset="-122"/>
                </a:rPr>
                <a:t> </a:t>
              </a:r>
              <a:r>
                <a:rPr lang="zh-CN" altLang="en-US" sz="2400" b="1" dirty="0">
                  <a:solidFill>
                    <a:srgbClr val="000066"/>
                  </a:solidFill>
                  <a:latin typeface="微软雅黑" pitchFamily="34" charset="-122"/>
                  <a:ea typeface="微软雅黑" pitchFamily="34" charset="-122"/>
                </a:rPr>
                <a:t>交换机</a:t>
              </a:r>
              <a:endParaRPr lang="zh-CN" altLang="en-US" sz="2400" dirty="0">
                <a:solidFill>
                  <a:srgbClr val="000066"/>
                </a:solidFill>
              </a:endParaRPr>
            </a:p>
          </p:txBody>
        </p:sp>
        <p:sp>
          <p:nvSpPr>
            <p:cNvPr id="7" name="矩形 6"/>
            <p:cNvSpPr/>
            <p:nvPr/>
          </p:nvSpPr>
          <p:spPr>
            <a:xfrm>
              <a:off x="1783534" y="2727935"/>
              <a:ext cx="3349782" cy="1240324"/>
            </a:xfrm>
            <a:prstGeom prst="rect">
              <a:avLst/>
            </a:prstGeom>
            <a:solidFill>
              <a:schemeClr val="tx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4" name="文本框 23"/>
            <p:cNvSpPr txBox="1"/>
            <p:nvPr/>
          </p:nvSpPr>
          <p:spPr>
            <a:xfrm>
              <a:off x="1204985" y="3372576"/>
              <a:ext cx="380246" cy="346249"/>
            </a:xfrm>
            <a:prstGeom prst="rect">
              <a:avLst/>
            </a:prstGeom>
            <a:noFill/>
            <a:ln w="9525">
              <a:noFill/>
            </a:ln>
          </p:spPr>
          <p:txBody>
            <a:bodyPr wrap="square" rtlCol="0">
              <a:spAutoFit/>
            </a:bodyPr>
            <a:lstStyle/>
            <a:p>
              <a:r>
                <a:rPr lang="en-US" altLang="zh-CN" sz="2400" b="1" dirty="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5285327" y="3372576"/>
              <a:ext cx="380246" cy="346249"/>
            </a:xfrm>
            <a:prstGeom prst="rect">
              <a:avLst/>
            </a:prstGeom>
            <a:noFill/>
            <a:ln w="9525">
              <a:noFill/>
            </a:ln>
          </p:spPr>
          <p:txBody>
            <a:bodyPr wrap="square" rtlCol="0">
              <a:spAutoFit/>
            </a:bodyPr>
            <a:lstStyle/>
            <a:p>
              <a:r>
                <a:rPr lang="en-US" altLang="zh-CN" sz="2400" b="1" dirty="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grpSp>
          <p:nvGrpSpPr>
            <p:cNvPr id="85" name="组合 84"/>
            <p:cNvGrpSpPr/>
            <p:nvPr/>
          </p:nvGrpSpPr>
          <p:grpSpPr>
            <a:xfrm>
              <a:off x="2201693" y="2811687"/>
              <a:ext cx="2548801" cy="957158"/>
              <a:chOff x="3469178" y="2781685"/>
              <a:chExt cx="2548801" cy="957158"/>
            </a:xfrm>
          </p:grpSpPr>
          <p:sp>
            <p:nvSpPr>
              <p:cNvPr id="26" name="文本框 25"/>
              <p:cNvSpPr txBox="1"/>
              <p:nvPr/>
            </p:nvSpPr>
            <p:spPr>
              <a:xfrm>
                <a:off x="5144460" y="2781685"/>
                <a:ext cx="786779" cy="230833"/>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rPr>
                  <a:t>流表 </a:t>
                </a:r>
                <a:r>
                  <a:rPr lang="en-US" altLang="zh-CN" sz="1400" b="1" dirty="0">
                    <a:latin typeface="微软雅黑" panose="020B0503020204020204" pitchFamily="34" charset="-122"/>
                    <a:ea typeface="微软雅黑" panose="020B0503020204020204" pitchFamily="34" charset="-122"/>
                  </a:rPr>
                  <a:t>M</a:t>
                </a:r>
                <a:endParaRPr lang="zh-CN" altLang="en-US" sz="1400" b="1" dirty="0">
                  <a:latin typeface="微软雅黑" panose="020B0503020204020204" pitchFamily="34" charset="-122"/>
                  <a:ea typeface="微软雅黑" panose="020B0503020204020204" pitchFamily="34" charset="-122"/>
                </a:endParaRPr>
              </a:p>
            </p:txBody>
          </p:sp>
          <p:sp>
            <p:nvSpPr>
              <p:cNvPr id="27" name="文本框 26"/>
              <p:cNvSpPr txBox="1"/>
              <p:nvPr/>
            </p:nvSpPr>
            <p:spPr>
              <a:xfrm>
                <a:off x="4310468" y="2880609"/>
                <a:ext cx="786779" cy="230833"/>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rPr>
                  <a:t>流表 </a:t>
                </a:r>
                <a:r>
                  <a:rPr lang="en-US" altLang="zh-CN" sz="1400" b="1" dirty="0">
                    <a:latin typeface="微软雅黑" panose="020B0503020204020204" pitchFamily="34" charset="-122"/>
                    <a:ea typeface="微软雅黑" panose="020B0503020204020204" pitchFamily="34" charset="-122"/>
                  </a:rPr>
                  <a:t>2</a:t>
                </a:r>
                <a:endParaRPr lang="zh-CN" altLang="en-US" sz="1400" b="1" dirty="0">
                  <a:latin typeface="微软雅黑" panose="020B0503020204020204" pitchFamily="34" charset="-122"/>
                  <a:ea typeface="微软雅黑" panose="020B0503020204020204" pitchFamily="34" charset="-122"/>
                </a:endParaRPr>
              </a:p>
            </p:txBody>
          </p:sp>
          <p:sp>
            <p:nvSpPr>
              <p:cNvPr id="28" name="文本框 27"/>
              <p:cNvSpPr txBox="1"/>
              <p:nvPr/>
            </p:nvSpPr>
            <p:spPr>
              <a:xfrm>
                <a:off x="3528272" y="2980374"/>
                <a:ext cx="786779" cy="230833"/>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rPr>
                  <a:t>流表 </a:t>
                </a:r>
                <a:r>
                  <a:rPr lang="en-US" altLang="zh-CN" sz="1400" b="1" dirty="0">
                    <a:latin typeface="微软雅黑" panose="020B0503020204020204" pitchFamily="34" charset="-122"/>
                    <a:ea typeface="微软雅黑" panose="020B0503020204020204" pitchFamily="34" charset="-122"/>
                  </a:rPr>
                  <a:t>1</a:t>
                </a:r>
                <a:endParaRPr lang="zh-CN" altLang="en-US" sz="1400" b="1" dirty="0">
                  <a:latin typeface="微软雅黑" panose="020B0503020204020204" pitchFamily="34" charset="-122"/>
                  <a:ea typeface="微软雅黑" panose="020B0503020204020204" pitchFamily="34" charset="-122"/>
                </a:endParaRPr>
              </a:p>
            </p:txBody>
          </p:sp>
          <p:grpSp>
            <p:nvGrpSpPr>
              <p:cNvPr id="41" name="组合 40"/>
              <p:cNvGrpSpPr/>
              <p:nvPr/>
            </p:nvGrpSpPr>
            <p:grpSpPr>
              <a:xfrm>
                <a:off x="5081576" y="2975406"/>
                <a:ext cx="936403" cy="553846"/>
                <a:chOff x="1035978" y="3132726"/>
                <a:chExt cx="936403" cy="553846"/>
              </a:xfrm>
              <a:solidFill>
                <a:schemeClr val="bg1"/>
              </a:solidFill>
            </p:grpSpPr>
            <p:sp>
              <p:nvSpPr>
                <p:cNvPr id="8" name="矩形 7"/>
                <p:cNvSpPr/>
                <p:nvPr/>
              </p:nvSpPr>
              <p:spPr>
                <a:xfrm>
                  <a:off x="1035978" y="3132726"/>
                  <a:ext cx="936403" cy="553846"/>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30" name="直接连接符 29"/>
                <p:cNvCxnSpPr/>
                <p:nvPr/>
              </p:nvCxnSpPr>
              <p:spPr>
                <a:xfrm>
                  <a:off x="1035978" y="3279203"/>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32" name="直接连接符 31"/>
                <p:cNvCxnSpPr/>
                <p:nvPr/>
              </p:nvCxnSpPr>
              <p:spPr>
                <a:xfrm>
                  <a:off x="1035978" y="3409649"/>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33" name="直接连接符 32"/>
                <p:cNvCxnSpPr/>
                <p:nvPr/>
              </p:nvCxnSpPr>
              <p:spPr>
                <a:xfrm>
                  <a:off x="1035978" y="3550303"/>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34" name="直接连接符 33"/>
                <p:cNvCxnSpPr/>
                <p:nvPr/>
              </p:nvCxnSpPr>
              <p:spPr>
                <a:xfrm>
                  <a:off x="1239689"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39" name="直接连接符 38"/>
                <p:cNvCxnSpPr/>
                <p:nvPr/>
              </p:nvCxnSpPr>
              <p:spPr>
                <a:xfrm>
                  <a:off x="1455468"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40" name="直接连接符 39"/>
                <p:cNvCxnSpPr/>
                <p:nvPr/>
              </p:nvCxnSpPr>
              <p:spPr>
                <a:xfrm>
                  <a:off x="1671246"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grpSp>
          <p:grpSp>
            <p:nvGrpSpPr>
              <p:cNvPr id="51" name="组合 50"/>
              <p:cNvGrpSpPr/>
              <p:nvPr/>
            </p:nvGrpSpPr>
            <p:grpSpPr>
              <a:xfrm>
                <a:off x="4257707" y="3082248"/>
                <a:ext cx="936403" cy="553846"/>
                <a:chOff x="1035978" y="3132726"/>
                <a:chExt cx="936403" cy="553846"/>
              </a:xfrm>
              <a:solidFill>
                <a:schemeClr val="bg1"/>
              </a:solidFill>
            </p:grpSpPr>
            <p:sp>
              <p:nvSpPr>
                <p:cNvPr id="52" name="矩形 51"/>
                <p:cNvSpPr/>
                <p:nvPr/>
              </p:nvSpPr>
              <p:spPr>
                <a:xfrm>
                  <a:off x="1035978" y="3132726"/>
                  <a:ext cx="936403" cy="553846"/>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53" name="直接连接符 52"/>
                <p:cNvCxnSpPr/>
                <p:nvPr/>
              </p:nvCxnSpPr>
              <p:spPr>
                <a:xfrm>
                  <a:off x="1035978" y="3279203"/>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54" name="直接连接符 53"/>
                <p:cNvCxnSpPr/>
                <p:nvPr/>
              </p:nvCxnSpPr>
              <p:spPr>
                <a:xfrm>
                  <a:off x="1035978" y="3409649"/>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55" name="直接连接符 54"/>
                <p:cNvCxnSpPr/>
                <p:nvPr/>
              </p:nvCxnSpPr>
              <p:spPr>
                <a:xfrm>
                  <a:off x="1035978" y="3550303"/>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56" name="直接连接符 55"/>
                <p:cNvCxnSpPr/>
                <p:nvPr/>
              </p:nvCxnSpPr>
              <p:spPr>
                <a:xfrm>
                  <a:off x="1239689"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57" name="直接连接符 56"/>
                <p:cNvCxnSpPr/>
                <p:nvPr/>
              </p:nvCxnSpPr>
              <p:spPr>
                <a:xfrm>
                  <a:off x="1455468"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58" name="直接连接符 57"/>
                <p:cNvCxnSpPr/>
                <p:nvPr/>
              </p:nvCxnSpPr>
              <p:spPr>
                <a:xfrm>
                  <a:off x="1671246"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grpSp>
          <p:grpSp>
            <p:nvGrpSpPr>
              <p:cNvPr id="77" name="组合 76"/>
              <p:cNvGrpSpPr/>
              <p:nvPr/>
            </p:nvGrpSpPr>
            <p:grpSpPr>
              <a:xfrm>
                <a:off x="3469178" y="3184997"/>
                <a:ext cx="936403" cy="553846"/>
                <a:chOff x="1035978" y="3132726"/>
                <a:chExt cx="936403" cy="553846"/>
              </a:xfrm>
              <a:solidFill>
                <a:schemeClr val="bg1"/>
              </a:solidFill>
            </p:grpSpPr>
            <p:sp>
              <p:nvSpPr>
                <p:cNvPr id="78" name="矩形 77"/>
                <p:cNvSpPr/>
                <p:nvPr/>
              </p:nvSpPr>
              <p:spPr>
                <a:xfrm>
                  <a:off x="1035978" y="3132726"/>
                  <a:ext cx="936403" cy="553846"/>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79" name="直接连接符 78"/>
                <p:cNvCxnSpPr/>
                <p:nvPr/>
              </p:nvCxnSpPr>
              <p:spPr>
                <a:xfrm>
                  <a:off x="1035978" y="3279203"/>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80" name="直接连接符 79"/>
                <p:cNvCxnSpPr/>
                <p:nvPr/>
              </p:nvCxnSpPr>
              <p:spPr>
                <a:xfrm>
                  <a:off x="1035978" y="3409649"/>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81" name="直接连接符 80"/>
                <p:cNvCxnSpPr/>
                <p:nvPr/>
              </p:nvCxnSpPr>
              <p:spPr>
                <a:xfrm>
                  <a:off x="1035978" y="3550303"/>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82" name="直接连接符 81"/>
                <p:cNvCxnSpPr/>
                <p:nvPr/>
              </p:nvCxnSpPr>
              <p:spPr>
                <a:xfrm>
                  <a:off x="1239689"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1455468"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84" name="直接连接符 83"/>
                <p:cNvCxnSpPr/>
                <p:nvPr/>
              </p:nvCxnSpPr>
              <p:spPr>
                <a:xfrm>
                  <a:off x="1671246"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grpSp>
        </p:grpSp>
      </p:grpSp>
      <p:sp>
        <p:nvSpPr>
          <p:cNvPr id="88" name="线形标注 1 87"/>
          <p:cNvSpPr/>
          <p:nvPr/>
        </p:nvSpPr>
        <p:spPr>
          <a:xfrm>
            <a:off x="7875278" y="2880857"/>
            <a:ext cx="3145807" cy="785328"/>
          </a:xfrm>
          <a:prstGeom prst="borderCallout1">
            <a:avLst>
              <a:gd name="adj1" fmla="val 30697"/>
              <a:gd name="adj2" fmla="val -156"/>
              <a:gd name="adj3" fmla="val 126334"/>
              <a:gd name="adj4" fmla="val -41727"/>
            </a:avLst>
          </a:prstGeom>
          <a:solidFill>
            <a:srgbClr val="33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67" b="1" dirty="0">
                <a:solidFill>
                  <a:schemeClr val="tx1"/>
                </a:solidFill>
                <a:latin typeface="微软雅黑" panose="020B0503020204020204" pitchFamily="34" charset="-122"/>
                <a:ea typeface="微软雅黑" panose="020B0503020204020204" pitchFamily="34" charset="-122"/>
              </a:rPr>
              <a:t>每个 </a:t>
            </a:r>
            <a:r>
              <a:rPr lang="en-US" altLang="zh-CN" sz="1867" b="1" dirty="0" err="1">
                <a:solidFill>
                  <a:schemeClr val="tx1"/>
                </a:solidFill>
                <a:latin typeface="微软雅黑" panose="020B0503020204020204" pitchFamily="34" charset="-122"/>
                <a:ea typeface="微软雅黑" panose="020B0503020204020204" pitchFamily="34" charset="-122"/>
              </a:rPr>
              <a:t>OpenFlow</a:t>
            </a:r>
            <a:r>
              <a:rPr lang="en-US" altLang="zh-CN" sz="1867" b="1" dirty="0">
                <a:solidFill>
                  <a:schemeClr val="tx1"/>
                </a:solidFill>
                <a:latin typeface="微软雅黑" panose="020B0503020204020204" pitchFamily="34" charset="-122"/>
                <a:ea typeface="微软雅黑" panose="020B0503020204020204" pitchFamily="34" charset="-122"/>
              </a:rPr>
              <a:t> </a:t>
            </a:r>
            <a:r>
              <a:rPr lang="zh-CN" altLang="en-US" sz="1867" b="1" dirty="0">
                <a:solidFill>
                  <a:schemeClr val="tx1"/>
                </a:solidFill>
                <a:latin typeface="微软雅黑" panose="020B0503020204020204" pitchFamily="34" charset="-122"/>
                <a:ea typeface="微软雅黑" panose="020B0503020204020204" pitchFamily="34" charset="-122"/>
              </a:rPr>
              <a:t>交换机有一个或一个以上的流表。</a:t>
            </a:r>
          </a:p>
        </p:txBody>
      </p:sp>
      <p:sp>
        <p:nvSpPr>
          <p:cNvPr id="89" name="线形标注 1 88"/>
          <p:cNvSpPr/>
          <p:nvPr/>
        </p:nvSpPr>
        <p:spPr>
          <a:xfrm>
            <a:off x="7875278" y="3952815"/>
            <a:ext cx="3145807" cy="785328"/>
          </a:xfrm>
          <a:prstGeom prst="borderCallout1">
            <a:avLst>
              <a:gd name="adj1" fmla="val 30697"/>
              <a:gd name="adj2" fmla="val -156"/>
              <a:gd name="adj3" fmla="val 64850"/>
              <a:gd name="adj4" fmla="val -55157"/>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67" b="1" dirty="0">
                <a:solidFill>
                  <a:schemeClr val="tx1"/>
                </a:solidFill>
                <a:latin typeface="微软雅黑" panose="020B0503020204020204" pitchFamily="34" charset="-122"/>
                <a:ea typeface="微软雅黑" panose="020B0503020204020204" pitchFamily="34" charset="-122"/>
              </a:rPr>
              <a:t>每个流表可以包括多个流表项 </a:t>
            </a:r>
            <a:r>
              <a:rPr lang="en-US" altLang="zh-CN" sz="1867" b="1" dirty="0">
                <a:solidFill>
                  <a:schemeClr val="tx1"/>
                </a:solidFill>
                <a:latin typeface="微软雅黑" panose="020B0503020204020204" pitchFamily="34" charset="-122"/>
                <a:ea typeface="微软雅黑" panose="020B0503020204020204" pitchFamily="34" charset="-122"/>
              </a:rPr>
              <a:t>(flow entry)</a:t>
            </a:r>
            <a:r>
              <a:rPr lang="zh-CN" altLang="en-US" sz="1867" b="1" dirty="0">
                <a:solidFill>
                  <a:schemeClr val="tx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86977943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726860" y="1356749"/>
            <a:ext cx="10738281" cy="352005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5" name="AutoShape 5"/>
          <p:cNvSpPr>
            <a:spLocks noChangeArrowheads="1"/>
          </p:cNvSpPr>
          <p:nvPr/>
        </p:nvSpPr>
        <p:spPr bwMode="auto">
          <a:xfrm>
            <a:off x="726860" y="818859"/>
            <a:ext cx="10738281" cy="471907"/>
          </a:xfrm>
          <a:prstGeom prst="roundRect">
            <a:avLst>
              <a:gd name="adj" fmla="val 16667"/>
            </a:avLst>
          </a:prstGeom>
          <a:solidFill>
            <a:srgbClr val="00B050"/>
          </a:solidFill>
          <a:ln>
            <a:noFill/>
          </a:ln>
          <a:effectLst/>
        </p:spPr>
        <p:txBody>
          <a:bodyPr wrap="none" anchor="ctr"/>
          <a:lstStyle/>
          <a:p>
            <a:endParaRPr lang="zh-CN" altLang="en-US" sz="2400"/>
          </a:p>
        </p:txBody>
      </p:sp>
      <p:sp>
        <p:nvSpPr>
          <p:cNvPr id="6" name="Rectangle 6"/>
          <p:cNvSpPr>
            <a:spLocks noChangeArrowheads="1"/>
          </p:cNvSpPr>
          <p:nvPr/>
        </p:nvSpPr>
        <p:spPr bwMode="auto">
          <a:xfrm>
            <a:off x="2589291" y="774577"/>
            <a:ext cx="7013419" cy="502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667" b="1" dirty="0">
                <a:solidFill>
                  <a:schemeClr val="bg1"/>
                </a:solidFill>
                <a:latin typeface="微软雅黑" pitchFamily="34" charset="-122"/>
                <a:ea typeface="微软雅黑" pitchFamily="34" charset="-122"/>
              </a:rPr>
              <a:t>流表由远程控制器管理</a:t>
            </a:r>
          </a:p>
        </p:txBody>
      </p:sp>
      <p:sp>
        <p:nvSpPr>
          <p:cNvPr id="2" name="矩形 1"/>
          <p:cNvSpPr/>
          <p:nvPr/>
        </p:nvSpPr>
        <p:spPr>
          <a:xfrm>
            <a:off x="2437699" y="4929779"/>
            <a:ext cx="7702183" cy="951030"/>
          </a:xfrm>
          <a:prstGeom prst="rect">
            <a:avLst/>
          </a:prstGeom>
          <a:solidFill>
            <a:srgbClr val="000066"/>
          </a:solidFill>
        </p:spPr>
        <p:txBody>
          <a:bodyPr wrap="square">
            <a:spAutoFit/>
          </a:bodyPr>
          <a:lstStyle/>
          <a:p>
            <a:pPr>
              <a:lnSpc>
                <a:spcPts val="3467"/>
              </a:lnSpc>
            </a:pPr>
            <a:r>
              <a:rPr lang="en-US" altLang="zh-CN" sz="2400" b="1" kern="5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SDN </a:t>
            </a:r>
            <a:r>
              <a:rPr lang="zh-CN" altLang="zh-CN" sz="2400" b="1" kern="5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远程控制器通过一个</a:t>
            </a:r>
            <a:r>
              <a:rPr lang="zh-CN" altLang="zh-CN" sz="2400" b="1" kern="500" dirty="0">
                <a:solidFill>
                  <a:srgbClr val="FFC000"/>
                </a:solidFill>
                <a:latin typeface="微软雅黑" panose="020B0503020204020204" pitchFamily="34" charset="-122"/>
                <a:ea typeface="微软雅黑" panose="020B0503020204020204" pitchFamily="34" charset="-122"/>
                <a:cs typeface="Times New Roman" panose="02020603050405020304" pitchFamily="18" charset="0"/>
              </a:rPr>
              <a:t>安全信道，</a:t>
            </a:r>
            <a:r>
              <a:rPr lang="zh-CN" altLang="zh-CN" sz="2400" b="1" kern="5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2400" b="1" kern="5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b="1" kern="500" dirty="0" err="1">
                <a:solidFill>
                  <a:schemeClr val="bg1"/>
                </a:solidFill>
                <a:latin typeface="微软雅黑" panose="020B0503020204020204" pitchFamily="34" charset="-122"/>
                <a:ea typeface="微软雅黑" panose="020B0503020204020204" pitchFamily="34" charset="-122"/>
              </a:rPr>
              <a:t>OpenFlow</a:t>
            </a:r>
            <a:r>
              <a:rPr lang="en-US" altLang="zh-CN" sz="2400" b="1" kern="500" dirty="0">
                <a:solidFill>
                  <a:schemeClr val="bg1"/>
                </a:solidFill>
                <a:latin typeface="微软雅黑" panose="020B0503020204020204" pitchFamily="34" charset="-122"/>
                <a:ea typeface="微软雅黑" panose="020B0503020204020204" pitchFamily="34" charset="-122"/>
              </a:rPr>
              <a:t> </a:t>
            </a:r>
            <a:r>
              <a:rPr lang="zh-CN" altLang="zh-CN" sz="2400" b="1" kern="5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协议来管理</a:t>
            </a:r>
            <a:r>
              <a:rPr lang="en-US" altLang="zh-CN" sz="2400" b="1" kern="5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b="1" kern="500" dirty="0" err="1">
                <a:solidFill>
                  <a:schemeClr val="bg1"/>
                </a:solidFill>
                <a:latin typeface="微软雅黑" panose="020B0503020204020204" pitchFamily="34" charset="-122"/>
                <a:ea typeface="微软雅黑" panose="020B0503020204020204" pitchFamily="34" charset="-122"/>
              </a:rPr>
              <a:t>OpenFlow</a:t>
            </a:r>
            <a:r>
              <a:rPr lang="en-US" altLang="zh-CN" sz="2400" b="1" kern="500" dirty="0">
                <a:solidFill>
                  <a:schemeClr val="bg1"/>
                </a:solidFill>
                <a:latin typeface="微软雅黑" panose="020B0503020204020204" pitchFamily="34" charset="-122"/>
                <a:ea typeface="微软雅黑" panose="020B0503020204020204" pitchFamily="34" charset="-122"/>
              </a:rPr>
              <a:t> </a:t>
            </a:r>
            <a:r>
              <a:rPr lang="zh-CN" altLang="zh-CN" sz="2400" b="1" kern="5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交换机中的流表。</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cxnSp>
        <p:nvCxnSpPr>
          <p:cNvPr id="22" name="直接连接符 21"/>
          <p:cNvCxnSpPr/>
          <p:nvPr/>
        </p:nvCxnSpPr>
        <p:spPr>
          <a:xfrm flipV="1">
            <a:off x="3235106" y="3639346"/>
            <a:ext cx="1026140" cy="73046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4254038" y="3693247"/>
            <a:ext cx="320721" cy="664212"/>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flipV="1">
            <a:off x="5308945" y="3599101"/>
            <a:ext cx="1043985" cy="770704"/>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flipV="1">
            <a:off x="5039462" y="3693247"/>
            <a:ext cx="323937" cy="649855"/>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18"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47781" y="4157353"/>
            <a:ext cx="490415" cy="49041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93622" y="4157353"/>
            <a:ext cx="490415" cy="49041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39463" y="4157353"/>
            <a:ext cx="490415" cy="49041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85303" y="4157353"/>
            <a:ext cx="490415" cy="49041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180"/>
          <p:cNvSpPr txBox="1"/>
          <p:nvPr/>
        </p:nvSpPr>
        <p:spPr>
          <a:xfrm>
            <a:off x="3554102" y="1477909"/>
            <a:ext cx="2476960" cy="420564"/>
          </a:xfrm>
          <a:prstGeom prst="rect">
            <a:avLst/>
          </a:prstGeom>
          <a:noFill/>
        </p:spPr>
        <p:txBody>
          <a:bodyPr wrap="none" rtlCol="0">
            <a:spAutoFit/>
          </a:bodyPr>
          <a:lstStyle/>
          <a:p>
            <a:pPr algn="ctr"/>
            <a:r>
              <a:rPr lang="en-US" altLang="zh-CN" sz="2133" b="1" dirty="0" err="1">
                <a:latin typeface="微软雅黑" panose="020B0503020204020204" pitchFamily="34" charset="-122"/>
                <a:ea typeface="微软雅黑" panose="020B0503020204020204" pitchFamily="34" charset="-122"/>
                <a:cs typeface="Times New Roman" pitchFamily="18" charset="0"/>
              </a:rPr>
              <a:t>OpenFlow</a:t>
            </a:r>
            <a:r>
              <a:rPr lang="en-US" altLang="zh-CN" sz="2133" b="1" dirty="0">
                <a:latin typeface="微软雅黑" panose="020B0503020204020204" pitchFamily="34" charset="-122"/>
                <a:ea typeface="微软雅黑" panose="020B0503020204020204" pitchFamily="34" charset="-122"/>
                <a:cs typeface="Times New Roman" pitchFamily="18" charset="0"/>
              </a:rPr>
              <a:t> </a:t>
            </a:r>
            <a:r>
              <a:rPr lang="zh-CN" altLang="en-US" sz="2133" b="1" dirty="0">
                <a:latin typeface="微软雅黑" panose="020B0503020204020204" pitchFamily="34" charset="-122"/>
                <a:ea typeface="微软雅黑" panose="020B0503020204020204" pitchFamily="34" charset="-122"/>
              </a:rPr>
              <a:t>交换机</a:t>
            </a:r>
          </a:p>
        </p:txBody>
      </p:sp>
      <p:pic>
        <p:nvPicPr>
          <p:cNvPr id="9" name="Picture 21"/>
          <p:cNvPicPr>
            <a:picLocks noChangeArrowheads="1"/>
          </p:cNvPicPr>
          <p:nvPr/>
        </p:nvPicPr>
        <p:blipFill>
          <a:blip r:embed="rId3" cstate="print"/>
          <a:srcRect/>
          <a:stretch>
            <a:fillRect/>
          </a:stretch>
        </p:blipFill>
        <p:spPr bwMode="auto">
          <a:xfrm>
            <a:off x="7828989" y="1839664"/>
            <a:ext cx="463985" cy="1091771"/>
          </a:xfrm>
          <a:prstGeom prst="rect">
            <a:avLst/>
          </a:prstGeom>
          <a:noFill/>
          <a:ln w="12699">
            <a:noFill/>
            <a:miter lim="800000"/>
            <a:headEnd/>
            <a:tailEnd/>
          </a:ln>
          <a:effectLst/>
        </p:spPr>
      </p:pic>
      <p:sp>
        <p:nvSpPr>
          <p:cNvPr id="10" name="圆柱形 9"/>
          <p:cNvSpPr/>
          <p:nvPr/>
        </p:nvSpPr>
        <p:spPr>
          <a:xfrm>
            <a:off x="3964420" y="1875318"/>
            <a:ext cx="1632181" cy="1920213"/>
          </a:xfrm>
          <a:prstGeom prst="can">
            <a:avLst/>
          </a:prstGeo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0" scaled="1"/>
            <a:tileRect/>
          </a:gra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4156441" y="2931435"/>
            <a:ext cx="1248139"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4110022" y="2371768"/>
            <a:ext cx="1344149" cy="3840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33" b="1" dirty="0">
                <a:solidFill>
                  <a:schemeClr val="tx1"/>
                </a:solidFill>
                <a:latin typeface="微软雅黑" panose="020B0503020204020204" pitchFamily="34" charset="-122"/>
                <a:ea typeface="微软雅黑" panose="020B0503020204020204" pitchFamily="34" charset="-122"/>
              </a:rPr>
              <a:t>安全信道</a:t>
            </a:r>
          </a:p>
        </p:txBody>
      </p:sp>
      <p:sp>
        <p:nvSpPr>
          <p:cNvPr id="13" name="矩形 12"/>
          <p:cNvSpPr/>
          <p:nvPr/>
        </p:nvSpPr>
        <p:spPr>
          <a:xfrm>
            <a:off x="4254038" y="3123456"/>
            <a:ext cx="1056117" cy="3840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33" b="1" dirty="0">
                <a:solidFill>
                  <a:schemeClr val="tx1"/>
                </a:solidFill>
                <a:latin typeface="微软雅黑" panose="020B0503020204020204" pitchFamily="34" charset="-122"/>
                <a:ea typeface="微软雅黑" panose="020B0503020204020204" pitchFamily="34" charset="-122"/>
              </a:rPr>
              <a:t>流表</a:t>
            </a:r>
          </a:p>
        </p:txBody>
      </p:sp>
      <p:sp>
        <p:nvSpPr>
          <p:cNvPr id="14" name="TextBox 73"/>
          <p:cNvSpPr txBox="1"/>
          <p:nvPr/>
        </p:nvSpPr>
        <p:spPr>
          <a:xfrm>
            <a:off x="7177837" y="2925627"/>
            <a:ext cx="1766287" cy="748795"/>
          </a:xfrm>
          <a:prstGeom prst="rect">
            <a:avLst/>
          </a:prstGeom>
          <a:noFill/>
        </p:spPr>
        <p:txBody>
          <a:bodyPr wrap="square" rtlCol="0">
            <a:spAutoFit/>
          </a:bodyPr>
          <a:lstStyle/>
          <a:p>
            <a:pPr algn="ctr"/>
            <a:r>
              <a:rPr lang="en-US" altLang="zh-CN" sz="2133" b="1" dirty="0">
                <a:latin typeface="微软雅黑" panose="020B0503020204020204" pitchFamily="34" charset="-122"/>
                <a:ea typeface="微软雅黑" panose="020B0503020204020204" pitchFamily="34" charset="-122"/>
                <a:cs typeface="Times New Roman" pitchFamily="18" charset="0"/>
              </a:rPr>
              <a:t>SDN</a:t>
            </a:r>
            <a:r>
              <a:rPr lang="en-US" altLang="zh-CN" sz="2133" b="1" dirty="0">
                <a:latin typeface="微软雅黑" panose="020B0503020204020204" pitchFamily="34" charset="-122"/>
                <a:ea typeface="微软雅黑" panose="020B0503020204020204" pitchFamily="34" charset="-122"/>
              </a:rPr>
              <a:t> </a:t>
            </a:r>
            <a:r>
              <a:rPr lang="zh-CN" altLang="en-US" sz="2133" b="1" dirty="0">
                <a:latin typeface="微软雅黑" panose="020B0503020204020204" pitchFamily="34" charset="-122"/>
                <a:ea typeface="微软雅黑" panose="020B0503020204020204" pitchFamily="34" charset="-122"/>
              </a:rPr>
              <a:t>远程</a:t>
            </a:r>
            <a:endParaRPr lang="en-US" altLang="zh-CN" sz="2133" b="1" dirty="0">
              <a:latin typeface="微软雅黑" panose="020B0503020204020204" pitchFamily="34" charset="-122"/>
              <a:ea typeface="微软雅黑" panose="020B0503020204020204" pitchFamily="34" charset="-122"/>
            </a:endParaRPr>
          </a:p>
          <a:p>
            <a:pPr algn="ctr"/>
            <a:r>
              <a:rPr lang="zh-CN" altLang="en-US" sz="2133" b="1" dirty="0">
                <a:latin typeface="微软雅黑" panose="020B0503020204020204" pitchFamily="34" charset="-122"/>
                <a:ea typeface="微软雅黑" panose="020B0503020204020204" pitchFamily="34" charset="-122"/>
              </a:rPr>
              <a:t>控制器</a:t>
            </a:r>
          </a:p>
        </p:txBody>
      </p:sp>
      <p:sp>
        <p:nvSpPr>
          <p:cNvPr id="15" name="TextBox 85"/>
          <p:cNvSpPr txBox="1"/>
          <p:nvPr/>
        </p:nvSpPr>
        <p:spPr>
          <a:xfrm rot="21129718">
            <a:off x="5599159" y="2016989"/>
            <a:ext cx="2202846" cy="420564"/>
          </a:xfrm>
          <a:prstGeom prst="rect">
            <a:avLst/>
          </a:prstGeom>
          <a:noFill/>
        </p:spPr>
        <p:txBody>
          <a:bodyPr wrap="none" rtlCol="0">
            <a:spAutoFit/>
          </a:bodyPr>
          <a:lstStyle/>
          <a:p>
            <a:pPr algn="ctr"/>
            <a:r>
              <a:rPr lang="en-US" altLang="zh-CN" sz="2133" b="1" dirty="0" err="1">
                <a:latin typeface="微软雅黑" panose="020B0503020204020204" pitchFamily="34" charset="-122"/>
                <a:ea typeface="微软雅黑" panose="020B0503020204020204" pitchFamily="34" charset="-122"/>
                <a:cs typeface="Times New Roman" pitchFamily="18" charset="0"/>
              </a:rPr>
              <a:t>OpenFlow</a:t>
            </a:r>
            <a:r>
              <a:rPr lang="en-US" altLang="zh-CN" sz="2133" b="1" dirty="0">
                <a:latin typeface="微软雅黑" panose="020B0503020204020204" pitchFamily="34" charset="-122"/>
                <a:ea typeface="微软雅黑" panose="020B0503020204020204" pitchFamily="34" charset="-122"/>
                <a:cs typeface="Times New Roman" pitchFamily="18" charset="0"/>
              </a:rPr>
              <a:t> </a:t>
            </a:r>
            <a:r>
              <a:rPr lang="zh-CN" altLang="en-US" sz="2133" b="1" dirty="0">
                <a:latin typeface="微软雅黑" panose="020B0503020204020204" pitchFamily="34" charset="-122"/>
                <a:ea typeface="微软雅黑" panose="020B0503020204020204" pitchFamily="34" charset="-122"/>
                <a:cs typeface="Times New Roman" pitchFamily="18" charset="0"/>
              </a:rPr>
              <a:t>协议</a:t>
            </a:r>
            <a:endParaRPr lang="zh-CN" altLang="en-US" sz="2133" b="1" dirty="0">
              <a:latin typeface="微软雅黑" panose="020B0503020204020204" pitchFamily="34" charset="-122"/>
              <a:ea typeface="微软雅黑" panose="020B0503020204020204" pitchFamily="34" charset="-122"/>
            </a:endParaRPr>
          </a:p>
        </p:txBody>
      </p:sp>
      <p:sp>
        <p:nvSpPr>
          <p:cNvPr id="7" name="Line 107"/>
          <p:cNvSpPr>
            <a:spLocks noChangeShapeType="1"/>
          </p:cNvSpPr>
          <p:nvPr/>
        </p:nvSpPr>
        <p:spPr bwMode="auto">
          <a:xfrm flipH="1">
            <a:off x="5454170" y="2244021"/>
            <a:ext cx="2394631" cy="335204"/>
          </a:xfrm>
          <a:prstGeom prst="line">
            <a:avLst/>
          </a:prstGeom>
          <a:noFill/>
          <a:ln w="9525">
            <a:solidFill>
              <a:schemeClr val="tx1"/>
            </a:solidFill>
            <a:round/>
            <a:headEnd type="triangle" w="sm" len="lg"/>
            <a:tailEnd type="triangle" w="sm" len="lg"/>
          </a:ln>
        </p:spPr>
        <p:txBody>
          <a:bodyPr/>
          <a:lstStyle/>
          <a:p>
            <a:endParaRPr lang="zh-CN" altLang="en-US" sz="2400" b="1">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204582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圆角矩形 52"/>
          <p:cNvSpPr/>
          <p:nvPr/>
        </p:nvSpPr>
        <p:spPr>
          <a:xfrm>
            <a:off x="726860" y="1356749"/>
            <a:ext cx="10738281" cy="353212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5" name="AutoShape 5"/>
          <p:cNvSpPr>
            <a:spLocks noChangeArrowheads="1"/>
          </p:cNvSpPr>
          <p:nvPr/>
        </p:nvSpPr>
        <p:spPr bwMode="auto">
          <a:xfrm>
            <a:off x="726860" y="818859"/>
            <a:ext cx="10738281" cy="471907"/>
          </a:xfrm>
          <a:prstGeom prst="roundRect">
            <a:avLst>
              <a:gd name="adj" fmla="val 16667"/>
            </a:avLst>
          </a:prstGeom>
          <a:solidFill>
            <a:srgbClr val="00B050"/>
          </a:solidFill>
          <a:ln>
            <a:noFill/>
          </a:ln>
          <a:effectLst/>
        </p:spPr>
        <p:txBody>
          <a:bodyPr wrap="none" anchor="ctr"/>
          <a:lstStyle/>
          <a:p>
            <a:endParaRPr lang="zh-CN" altLang="en-US" sz="1600"/>
          </a:p>
        </p:txBody>
      </p:sp>
      <p:sp>
        <p:nvSpPr>
          <p:cNvPr id="6" name="Rectangle 6"/>
          <p:cNvSpPr>
            <a:spLocks noChangeArrowheads="1"/>
          </p:cNvSpPr>
          <p:nvPr/>
        </p:nvSpPr>
        <p:spPr bwMode="auto">
          <a:xfrm>
            <a:off x="2589291" y="774577"/>
            <a:ext cx="7013419" cy="502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667" b="1" dirty="0">
                <a:solidFill>
                  <a:schemeClr val="bg1"/>
                </a:solidFill>
                <a:latin typeface="微软雅黑" pitchFamily="34" charset="-122"/>
                <a:ea typeface="微软雅黑" pitchFamily="34" charset="-122"/>
              </a:rPr>
              <a:t>流表结构</a:t>
            </a:r>
          </a:p>
        </p:txBody>
      </p:sp>
      <p:cxnSp>
        <p:nvCxnSpPr>
          <p:cNvPr id="16" name="直接箭头连接符 15"/>
          <p:cNvCxnSpPr/>
          <p:nvPr/>
        </p:nvCxnSpPr>
        <p:spPr>
          <a:xfrm flipV="1">
            <a:off x="1951627" y="4609601"/>
            <a:ext cx="3768179" cy="1944"/>
          </a:xfrm>
          <a:prstGeom prst="straightConnector1">
            <a:avLst/>
          </a:prstGeom>
          <a:ln w="19050">
            <a:solidFill>
              <a:srgbClr val="000066"/>
            </a:solidFill>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5727842" y="4609601"/>
            <a:ext cx="3590333" cy="7528"/>
          </a:xfrm>
          <a:prstGeom prst="straightConnector1">
            <a:avLst/>
          </a:prstGeom>
          <a:ln w="19050">
            <a:solidFill>
              <a:srgbClr val="C00000"/>
            </a:solidFill>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9311913" y="4609602"/>
            <a:ext cx="1902311" cy="2021"/>
          </a:xfrm>
          <a:prstGeom prst="straightConnector1">
            <a:avLst/>
          </a:prstGeom>
          <a:ln w="19050">
            <a:solidFill>
              <a:srgbClr val="660066"/>
            </a:solidFill>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977736" y="3551058"/>
            <a:ext cx="0" cy="7939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9" idx="3"/>
          </p:cNvCxnSpPr>
          <p:nvPr/>
        </p:nvCxnSpPr>
        <p:spPr>
          <a:xfrm>
            <a:off x="1985753" y="3940309"/>
            <a:ext cx="9212139" cy="7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12"/>
          <p:cNvSpPr txBox="1"/>
          <p:nvPr/>
        </p:nvSpPr>
        <p:spPr>
          <a:xfrm>
            <a:off x="2776344" y="3585726"/>
            <a:ext cx="8025274" cy="338554"/>
          </a:xfrm>
          <a:prstGeom prst="rect">
            <a:avLst/>
          </a:prstGeom>
          <a:noFill/>
        </p:spPr>
        <p:txBody>
          <a:bodyPr wrap="none" rtlCol="0">
            <a:spAutoFit/>
          </a:bodyPr>
          <a:lstStyle/>
          <a:p>
            <a:r>
              <a:rPr lang="zh-CN" altLang="en-US" sz="1600" b="1" dirty="0">
                <a:solidFill>
                  <a:srgbClr val="000066"/>
                </a:solidFill>
                <a:latin typeface="微软雅黑" panose="020B0503020204020204" pitchFamily="34" charset="-122"/>
                <a:ea typeface="微软雅黑" panose="020B0503020204020204" pitchFamily="34" charset="-122"/>
                <a:cs typeface="Times New Roman" pitchFamily="18" charset="0"/>
              </a:rPr>
              <a:t>以太网                     </a:t>
            </a:r>
            <a:r>
              <a:rPr lang="en-US" altLang="zh-CN" sz="1600" b="1" dirty="0">
                <a:solidFill>
                  <a:srgbClr val="000066"/>
                </a:solidFill>
                <a:latin typeface="微软雅黑" panose="020B0503020204020204" pitchFamily="34" charset="-122"/>
                <a:ea typeface="微软雅黑" panose="020B0503020204020204" pitchFamily="34" charset="-122"/>
                <a:cs typeface="Times New Roman" pitchFamily="18" charset="0"/>
              </a:rPr>
              <a:t>VLAN </a:t>
            </a:r>
            <a:r>
              <a:rPr lang="en-US" altLang="zh-CN" sz="1600" b="1" dirty="0">
                <a:latin typeface="微软雅黑" panose="020B0503020204020204" pitchFamily="34" charset="-122"/>
                <a:ea typeface="微软雅黑" panose="020B0503020204020204" pitchFamily="34" charset="-122"/>
                <a:cs typeface="Times New Roman" pitchFamily="18" charset="0"/>
              </a:rPr>
              <a:t>                                  </a:t>
            </a:r>
            <a:r>
              <a:rPr lang="en-US" altLang="zh-CN" sz="1600" b="1" dirty="0">
                <a:solidFill>
                  <a:srgbClr val="C00000"/>
                </a:solidFill>
                <a:latin typeface="微软雅黑" panose="020B0503020204020204" pitchFamily="34" charset="-122"/>
                <a:ea typeface="微软雅黑" panose="020B0503020204020204" pitchFamily="34" charset="-122"/>
                <a:cs typeface="Times New Roman" pitchFamily="18" charset="0"/>
              </a:rPr>
              <a:t>IP</a:t>
            </a:r>
            <a:r>
              <a:rPr lang="en-US" altLang="zh-CN" sz="1600" b="1" dirty="0">
                <a:latin typeface="微软雅黑" panose="020B0503020204020204" pitchFamily="34" charset="-122"/>
                <a:ea typeface="微软雅黑" panose="020B0503020204020204" pitchFamily="34" charset="-122"/>
                <a:cs typeface="Times New Roman" pitchFamily="18" charset="0"/>
              </a:rPr>
              <a:t>                                  </a:t>
            </a:r>
            <a:r>
              <a:rPr lang="en-US" altLang="zh-CN" sz="1600" b="1" dirty="0">
                <a:solidFill>
                  <a:srgbClr val="660066"/>
                </a:solidFill>
                <a:latin typeface="微软雅黑" panose="020B0503020204020204" pitchFamily="34" charset="-122"/>
                <a:ea typeface="微软雅黑" panose="020B0503020204020204" pitchFamily="34" charset="-122"/>
                <a:cs typeface="Times New Roman" pitchFamily="18" charset="0"/>
              </a:rPr>
              <a:t>TCP/UDP</a:t>
            </a:r>
            <a:endParaRPr lang="zh-CN" altLang="en-US" sz="1600" b="1" dirty="0">
              <a:solidFill>
                <a:srgbClr val="660066"/>
              </a:solidFill>
              <a:latin typeface="微软雅黑" panose="020B0503020204020204" pitchFamily="34" charset="-122"/>
              <a:ea typeface="微软雅黑" panose="020B0503020204020204" pitchFamily="34" charset="-122"/>
              <a:cs typeface="Times New Roman" pitchFamily="18" charset="0"/>
            </a:endParaRPr>
          </a:p>
        </p:txBody>
      </p:sp>
      <p:sp>
        <p:nvSpPr>
          <p:cNvPr id="23" name="TextBox 14"/>
          <p:cNvSpPr txBox="1"/>
          <p:nvPr/>
        </p:nvSpPr>
        <p:spPr>
          <a:xfrm>
            <a:off x="1138453" y="3779039"/>
            <a:ext cx="800219" cy="338554"/>
          </a:xfrm>
          <a:prstGeom prst="rect">
            <a:avLst/>
          </a:prstGeom>
          <a:no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cs typeface="Times New Roman" pitchFamily="18" charset="0"/>
              </a:rPr>
              <a:t>入端口</a:t>
            </a:r>
          </a:p>
        </p:txBody>
      </p:sp>
      <p:sp>
        <p:nvSpPr>
          <p:cNvPr id="24" name="TextBox 10"/>
          <p:cNvSpPr txBox="1"/>
          <p:nvPr/>
        </p:nvSpPr>
        <p:spPr>
          <a:xfrm>
            <a:off x="2000851" y="3977076"/>
            <a:ext cx="9235220" cy="338554"/>
          </a:xfrm>
          <a:prstGeom prst="rect">
            <a:avLst/>
          </a:prstGeom>
          <a:noFill/>
        </p:spPr>
        <p:txBody>
          <a:bodyPr wrap="none" rtlCol="0">
            <a:spAutoFit/>
          </a:bodyPr>
          <a:lstStyle/>
          <a:p>
            <a:r>
              <a:rPr lang="zh-CN" altLang="en-US" sz="1600" b="1" dirty="0">
                <a:solidFill>
                  <a:srgbClr val="000066"/>
                </a:solidFill>
                <a:latin typeface="微软雅黑" panose="020B0503020204020204" pitchFamily="34" charset="-122"/>
                <a:ea typeface="微软雅黑" panose="020B0503020204020204" pitchFamily="34" charset="-122"/>
                <a:cs typeface="Times New Roman" pitchFamily="18" charset="0"/>
              </a:rPr>
              <a:t>源地址   目的地址    类型   </a:t>
            </a:r>
            <a:r>
              <a:rPr lang="en-US" altLang="zh-CN" sz="1600" b="1" dirty="0">
                <a:solidFill>
                  <a:srgbClr val="000066"/>
                </a:solidFill>
                <a:latin typeface="微软雅黑" panose="020B0503020204020204" pitchFamily="34" charset="-122"/>
                <a:ea typeface="微软雅黑" panose="020B0503020204020204" pitchFamily="34" charset="-122"/>
                <a:cs typeface="Times New Roman" pitchFamily="18" charset="0"/>
              </a:rPr>
              <a:t>ID    </a:t>
            </a:r>
            <a:r>
              <a:rPr lang="zh-CN" altLang="en-US" sz="1600" b="1" dirty="0">
                <a:solidFill>
                  <a:srgbClr val="000066"/>
                </a:solidFill>
                <a:latin typeface="微软雅黑" panose="020B0503020204020204" pitchFamily="34" charset="-122"/>
                <a:ea typeface="微软雅黑" panose="020B0503020204020204" pitchFamily="34" charset="-122"/>
                <a:cs typeface="Times New Roman" pitchFamily="18" charset="0"/>
              </a:rPr>
              <a:t>优先级 </a:t>
            </a:r>
            <a:r>
              <a:rPr lang="zh-CN" altLang="en-US" sz="1600" b="1" dirty="0">
                <a:latin typeface="微软雅黑" panose="020B0503020204020204" pitchFamily="34" charset="-122"/>
                <a:ea typeface="微软雅黑" panose="020B0503020204020204" pitchFamily="34" charset="-122"/>
                <a:cs typeface="Times New Roman" pitchFamily="18" charset="0"/>
              </a:rPr>
              <a:t>   </a:t>
            </a:r>
            <a:r>
              <a:rPr lang="zh-CN" altLang="en-US" sz="1600" b="1" dirty="0">
                <a:solidFill>
                  <a:srgbClr val="C00000"/>
                </a:solidFill>
                <a:latin typeface="微软雅黑" panose="020B0503020204020204" pitchFamily="34" charset="-122"/>
                <a:ea typeface="微软雅黑" panose="020B0503020204020204" pitchFamily="34" charset="-122"/>
                <a:cs typeface="Times New Roman" pitchFamily="18" charset="0"/>
              </a:rPr>
              <a:t>源地址    目的地址    协议   服务类型</a:t>
            </a:r>
            <a:r>
              <a:rPr lang="zh-CN" altLang="en-US" sz="1600" b="1" dirty="0">
                <a:latin typeface="微软雅黑" panose="020B0503020204020204" pitchFamily="34" charset="-122"/>
                <a:ea typeface="微软雅黑" panose="020B0503020204020204" pitchFamily="34" charset="-122"/>
                <a:cs typeface="Times New Roman" pitchFamily="18" charset="0"/>
              </a:rPr>
              <a:t>    </a:t>
            </a:r>
            <a:r>
              <a:rPr lang="zh-CN" altLang="en-US" sz="1600" b="1" dirty="0">
                <a:solidFill>
                  <a:srgbClr val="660066"/>
                </a:solidFill>
                <a:latin typeface="微软雅黑" panose="020B0503020204020204" pitchFamily="34" charset="-122"/>
                <a:ea typeface="微软雅黑" panose="020B0503020204020204" pitchFamily="34" charset="-122"/>
                <a:cs typeface="Times New Roman" pitchFamily="18" charset="0"/>
              </a:rPr>
              <a:t>源端口    目的端口</a:t>
            </a:r>
          </a:p>
        </p:txBody>
      </p:sp>
      <p:cxnSp>
        <p:nvCxnSpPr>
          <p:cNvPr id="25" name="直接连接符 24"/>
          <p:cNvCxnSpPr/>
          <p:nvPr/>
        </p:nvCxnSpPr>
        <p:spPr>
          <a:xfrm>
            <a:off x="4493863" y="3551058"/>
            <a:ext cx="0" cy="7939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5716267" y="3562726"/>
            <a:ext cx="0" cy="7939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9319804" y="3547321"/>
            <a:ext cx="0" cy="7939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2786493" y="3928640"/>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0178749" y="3940982"/>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8270193" y="3946420"/>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3877237" y="3950259"/>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7677838" y="3942750"/>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624163" y="3953020"/>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4904838" y="3932175"/>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54"/>
          <p:cNvSpPr txBox="1"/>
          <p:nvPr/>
        </p:nvSpPr>
        <p:spPr>
          <a:xfrm>
            <a:off x="3434037" y="4416766"/>
            <a:ext cx="800219" cy="338554"/>
          </a:xfrm>
          <a:prstGeom prst="rect">
            <a:avLst/>
          </a:prstGeom>
          <a:solidFill>
            <a:srgbClr val="C3E3F9"/>
          </a:solid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cs typeface="Times New Roman" pitchFamily="18" charset="0"/>
              </a:rPr>
              <a:t>链路层</a:t>
            </a:r>
          </a:p>
        </p:txBody>
      </p:sp>
      <p:sp>
        <p:nvSpPr>
          <p:cNvPr id="36" name="TextBox 55"/>
          <p:cNvSpPr txBox="1"/>
          <p:nvPr/>
        </p:nvSpPr>
        <p:spPr>
          <a:xfrm>
            <a:off x="7071773" y="4416763"/>
            <a:ext cx="800219" cy="338554"/>
          </a:xfrm>
          <a:prstGeom prst="rect">
            <a:avLst/>
          </a:prstGeom>
          <a:solidFill>
            <a:srgbClr val="C3E3F9"/>
          </a:solid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cs typeface="Times New Roman" pitchFamily="18" charset="0"/>
              </a:rPr>
              <a:t>网络层</a:t>
            </a:r>
          </a:p>
        </p:txBody>
      </p:sp>
      <p:sp>
        <p:nvSpPr>
          <p:cNvPr id="37" name="TextBox 56"/>
          <p:cNvSpPr txBox="1"/>
          <p:nvPr/>
        </p:nvSpPr>
        <p:spPr>
          <a:xfrm>
            <a:off x="9758210" y="4416763"/>
            <a:ext cx="800219" cy="338554"/>
          </a:xfrm>
          <a:prstGeom prst="rect">
            <a:avLst/>
          </a:prstGeom>
          <a:solidFill>
            <a:srgbClr val="C3E3F9"/>
          </a:solid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cs typeface="Times New Roman" pitchFamily="18" charset="0"/>
              </a:rPr>
              <a:t>运输层</a:t>
            </a:r>
          </a:p>
        </p:txBody>
      </p:sp>
      <p:sp>
        <p:nvSpPr>
          <p:cNvPr id="38" name="TextBox 57"/>
          <p:cNvSpPr txBox="1"/>
          <p:nvPr/>
        </p:nvSpPr>
        <p:spPr>
          <a:xfrm>
            <a:off x="2931893" y="1474023"/>
            <a:ext cx="3638839" cy="1349793"/>
          </a:xfrm>
          <a:prstGeom prst="rect">
            <a:avLst/>
          </a:prstGeom>
          <a:noFill/>
        </p:spPr>
        <p:txBody>
          <a:bodyPr wrap="square" rtlCol="0">
            <a:spAutoFit/>
          </a:bodyPr>
          <a:lstStyle/>
          <a:p>
            <a:pPr>
              <a:lnSpc>
                <a:spcPts val="2267"/>
              </a:lnSpc>
              <a:spcAft>
                <a:spcPts val="800"/>
              </a:spcAft>
            </a:pPr>
            <a:r>
              <a:rPr lang="zh-CN" altLang="en-US" sz="1600" b="1" dirty="0">
                <a:latin typeface="微软雅黑" panose="020B0503020204020204" pitchFamily="34" charset="-122"/>
                <a:ea typeface="微软雅黑" panose="020B0503020204020204" pitchFamily="34" charset="-122"/>
                <a:cs typeface="Times New Roman" pitchFamily="18" charset="0"/>
              </a:rPr>
              <a:t>首部字段值        计数器           动作</a:t>
            </a: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nSpc>
                <a:spcPts val="2267"/>
              </a:lnSpc>
            </a:pPr>
            <a:r>
              <a:rPr lang="zh-CN" altLang="en-US" sz="1600" b="1" dirty="0">
                <a:latin typeface="微软雅黑" panose="020B0503020204020204" pitchFamily="34" charset="-122"/>
                <a:ea typeface="微软雅黑" panose="020B0503020204020204" pitchFamily="34" charset="-122"/>
                <a:cs typeface="Times New Roman" pitchFamily="18" charset="0"/>
              </a:rPr>
              <a:t>首部字段值        计数器           动作</a:t>
            </a: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nSpc>
                <a:spcPts val="2267"/>
              </a:lnSpc>
            </a:pP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nSpc>
                <a:spcPts val="2267"/>
              </a:lnSpc>
              <a:spcAft>
                <a:spcPts val="1600"/>
              </a:spcAft>
            </a:pPr>
            <a:r>
              <a:rPr lang="zh-CN" altLang="en-US" sz="1600" b="1" dirty="0">
                <a:latin typeface="微软雅黑" panose="020B0503020204020204" pitchFamily="34" charset="-122"/>
                <a:ea typeface="微软雅黑" panose="020B0503020204020204" pitchFamily="34" charset="-122"/>
                <a:cs typeface="Times New Roman" pitchFamily="18" charset="0"/>
              </a:rPr>
              <a:t>首部字段值        计数器           动作</a:t>
            </a:r>
            <a:endParaRPr lang="en-US" altLang="zh-CN" sz="1600" b="1" dirty="0">
              <a:latin typeface="微软雅黑" panose="020B0503020204020204" pitchFamily="34" charset="-122"/>
              <a:ea typeface="微软雅黑" panose="020B0503020204020204" pitchFamily="34" charset="-122"/>
              <a:cs typeface="Times New Roman" pitchFamily="18" charset="0"/>
            </a:endParaRPr>
          </a:p>
        </p:txBody>
      </p:sp>
      <p:grpSp>
        <p:nvGrpSpPr>
          <p:cNvPr id="40" name="组合 39"/>
          <p:cNvGrpSpPr/>
          <p:nvPr/>
        </p:nvGrpSpPr>
        <p:grpSpPr>
          <a:xfrm>
            <a:off x="2879660" y="1864002"/>
            <a:ext cx="3796581" cy="612180"/>
            <a:chOff x="3185906" y="1442434"/>
            <a:chExt cx="2405342" cy="499726"/>
          </a:xfrm>
        </p:grpSpPr>
        <p:cxnSp>
          <p:nvCxnSpPr>
            <p:cNvPr id="41" name="直接连接符 40"/>
            <p:cNvCxnSpPr/>
            <p:nvPr/>
          </p:nvCxnSpPr>
          <p:spPr>
            <a:xfrm>
              <a:off x="3214984" y="1442434"/>
              <a:ext cx="23762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3185906" y="1727714"/>
              <a:ext cx="23762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3204215" y="1942160"/>
              <a:ext cx="23762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 name="直接连接符 43"/>
          <p:cNvCxnSpPr/>
          <p:nvPr/>
        </p:nvCxnSpPr>
        <p:spPr>
          <a:xfrm>
            <a:off x="5508038" y="1469576"/>
            <a:ext cx="1" cy="13568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4298193" y="1466932"/>
            <a:ext cx="1" cy="13568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任意多边形 48"/>
          <p:cNvSpPr/>
          <p:nvPr/>
        </p:nvSpPr>
        <p:spPr>
          <a:xfrm>
            <a:off x="1170086" y="2835183"/>
            <a:ext cx="10034767" cy="714432"/>
          </a:xfrm>
          <a:custGeom>
            <a:avLst/>
            <a:gdLst>
              <a:gd name="connsiteX0" fmla="*/ 2182305 w 8041064"/>
              <a:gd name="connsiteY0" fmla="*/ 0 h 763571"/>
              <a:gd name="connsiteX1" fmla="*/ 3299382 w 8041064"/>
              <a:gd name="connsiteY1" fmla="*/ 0 h 763571"/>
              <a:gd name="connsiteX2" fmla="*/ 8041064 w 8041064"/>
              <a:gd name="connsiteY2" fmla="*/ 749431 h 763571"/>
              <a:gd name="connsiteX3" fmla="*/ 0 w 8041064"/>
              <a:gd name="connsiteY3" fmla="*/ 763571 h 763571"/>
              <a:gd name="connsiteX4" fmla="*/ 2182305 w 8041064"/>
              <a:gd name="connsiteY4" fmla="*/ 0 h 763571"/>
              <a:gd name="connsiteX0" fmla="*/ 1389122 w 8041064"/>
              <a:gd name="connsiteY0" fmla="*/ 0 h 776694"/>
              <a:gd name="connsiteX1" fmla="*/ 3299382 w 8041064"/>
              <a:gd name="connsiteY1" fmla="*/ 13123 h 776694"/>
              <a:gd name="connsiteX2" fmla="*/ 8041064 w 8041064"/>
              <a:gd name="connsiteY2" fmla="*/ 762554 h 776694"/>
              <a:gd name="connsiteX3" fmla="*/ 0 w 8041064"/>
              <a:gd name="connsiteY3" fmla="*/ 776694 h 776694"/>
              <a:gd name="connsiteX4" fmla="*/ 1389122 w 8041064"/>
              <a:gd name="connsiteY4" fmla="*/ 0 h 776694"/>
              <a:gd name="connsiteX0" fmla="*/ 1389122 w 8041064"/>
              <a:gd name="connsiteY0" fmla="*/ 0 h 776694"/>
              <a:gd name="connsiteX1" fmla="*/ 2535219 w 8041064"/>
              <a:gd name="connsiteY1" fmla="*/ 0 h 776694"/>
              <a:gd name="connsiteX2" fmla="*/ 8041064 w 8041064"/>
              <a:gd name="connsiteY2" fmla="*/ 762554 h 776694"/>
              <a:gd name="connsiteX3" fmla="*/ 0 w 8041064"/>
              <a:gd name="connsiteY3" fmla="*/ 776694 h 776694"/>
              <a:gd name="connsiteX4" fmla="*/ 1389122 w 8041064"/>
              <a:gd name="connsiteY4" fmla="*/ 0 h 776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1064" h="776694">
                <a:moveTo>
                  <a:pt x="1389122" y="0"/>
                </a:moveTo>
                <a:lnTo>
                  <a:pt x="2535219" y="0"/>
                </a:lnTo>
                <a:lnTo>
                  <a:pt x="8041064" y="762554"/>
                </a:lnTo>
                <a:lnTo>
                  <a:pt x="0" y="776694"/>
                </a:lnTo>
                <a:lnTo>
                  <a:pt x="1389122" y="0"/>
                </a:lnTo>
                <a:close/>
              </a:path>
            </a:pathLst>
          </a:cu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50" name="TextBox 77"/>
          <p:cNvSpPr txBox="1"/>
          <p:nvPr/>
        </p:nvSpPr>
        <p:spPr>
          <a:xfrm>
            <a:off x="1930011" y="1964833"/>
            <a:ext cx="732893" cy="420564"/>
          </a:xfrm>
          <a:prstGeom prst="rect">
            <a:avLst/>
          </a:prstGeom>
          <a:noFill/>
        </p:spPr>
        <p:txBody>
          <a:bodyPr wrap="none" rtlCol="0">
            <a:spAutoFit/>
          </a:bodyPr>
          <a:lstStyle/>
          <a:p>
            <a:r>
              <a:rPr lang="zh-CN" altLang="en-US" sz="2133" b="1" dirty="0">
                <a:latin typeface="微软雅黑" panose="020B0503020204020204" pitchFamily="34" charset="-122"/>
                <a:ea typeface="微软雅黑" panose="020B0503020204020204" pitchFamily="34" charset="-122"/>
                <a:cs typeface="Times New Roman" pitchFamily="18" charset="0"/>
              </a:rPr>
              <a:t>流表</a:t>
            </a:r>
          </a:p>
        </p:txBody>
      </p:sp>
      <p:sp>
        <p:nvSpPr>
          <p:cNvPr id="51" name="TextBox 78"/>
          <p:cNvSpPr txBox="1"/>
          <p:nvPr/>
        </p:nvSpPr>
        <p:spPr>
          <a:xfrm>
            <a:off x="456769" y="3581572"/>
            <a:ext cx="732893" cy="748795"/>
          </a:xfrm>
          <a:prstGeom prst="rect">
            <a:avLst/>
          </a:prstGeom>
          <a:noFill/>
        </p:spPr>
        <p:txBody>
          <a:bodyPr wrap="none" rtlCol="0">
            <a:spAutoFit/>
          </a:bodyPr>
          <a:lstStyle/>
          <a:p>
            <a:r>
              <a:rPr lang="zh-CN" altLang="en-US" sz="2133" b="1" dirty="0">
                <a:latin typeface="微软雅黑" panose="020B0503020204020204" pitchFamily="34" charset="-122"/>
                <a:ea typeface="微软雅黑" panose="020B0503020204020204" pitchFamily="34" charset="-122"/>
                <a:cs typeface="Times New Roman" pitchFamily="18" charset="0"/>
              </a:rPr>
              <a:t>匹配</a:t>
            </a:r>
            <a:endParaRPr lang="en-US" altLang="zh-CN" sz="2133" b="1" dirty="0">
              <a:latin typeface="微软雅黑" panose="020B0503020204020204" pitchFamily="34" charset="-122"/>
              <a:ea typeface="微软雅黑" panose="020B0503020204020204" pitchFamily="34" charset="-122"/>
              <a:cs typeface="Times New Roman" pitchFamily="18" charset="0"/>
            </a:endParaRPr>
          </a:p>
          <a:p>
            <a:r>
              <a:rPr lang="zh-CN" altLang="en-US" sz="2133" b="1" dirty="0">
                <a:latin typeface="微软雅黑" panose="020B0503020204020204" pitchFamily="34" charset="-122"/>
                <a:ea typeface="微软雅黑" panose="020B0503020204020204" pitchFamily="34" charset="-122"/>
                <a:cs typeface="Times New Roman" pitchFamily="18" charset="0"/>
              </a:rPr>
              <a:t>字段</a:t>
            </a:r>
          </a:p>
        </p:txBody>
      </p:sp>
      <p:sp>
        <p:nvSpPr>
          <p:cNvPr id="52" name="左大括号 51"/>
          <p:cNvSpPr/>
          <p:nvPr/>
        </p:nvSpPr>
        <p:spPr>
          <a:xfrm>
            <a:off x="2653115" y="1494049"/>
            <a:ext cx="179724" cy="1303952"/>
          </a:xfrm>
          <a:prstGeom prst="leftBrace">
            <a:avLst>
              <a:gd name="adj1" fmla="val 93733"/>
              <a:gd name="adj2" fmla="val 5185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39" name="矩形 38"/>
          <p:cNvSpPr/>
          <p:nvPr/>
        </p:nvSpPr>
        <p:spPr>
          <a:xfrm>
            <a:off x="2902051" y="1474821"/>
            <a:ext cx="3774191" cy="135946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19" name="矩形 18"/>
          <p:cNvSpPr/>
          <p:nvPr/>
        </p:nvSpPr>
        <p:spPr>
          <a:xfrm>
            <a:off x="1168982" y="3551058"/>
            <a:ext cx="10028911" cy="79390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a:xfrm>
            <a:off x="977776" y="4888852"/>
            <a:ext cx="10695160" cy="906145"/>
          </a:xfrm>
          <a:prstGeom prst="rect">
            <a:avLst/>
          </a:prstGeom>
        </p:spPr>
        <p:txBody>
          <a:bodyPr wrap="square">
            <a:spAutoFit/>
          </a:bodyPr>
          <a:lstStyle/>
          <a:p>
            <a:pPr>
              <a:lnSpc>
                <a:spcPts val="3333"/>
              </a:lnSpc>
            </a:pPr>
            <a:r>
              <a:rPr lang="en-US" altLang="zh-CN" sz="2400" b="1" dirty="0">
                <a:solidFill>
                  <a:srgbClr val="000099"/>
                </a:solidFill>
                <a:latin typeface="微软雅黑" pitchFamily="34" charset="-122"/>
                <a:ea typeface="微软雅黑" pitchFamily="34" charset="-122"/>
              </a:rPr>
              <a:t>(1) </a:t>
            </a:r>
            <a:r>
              <a:rPr lang="zh-CN" altLang="en-US" sz="2400" b="1" dirty="0">
                <a:solidFill>
                  <a:srgbClr val="000099"/>
                </a:solidFill>
                <a:latin typeface="微软雅黑" pitchFamily="34" charset="-122"/>
                <a:ea typeface="微软雅黑" pitchFamily="34" charset="-122"/>
              </a:rPr>
              <a:t>首部字段值：一组字段（</a:t>
            </a:r>
            <a:r>
              <a:rPr lang="en-US" altLang="zh-CN" sz="2400" b="1" dirty="0">
                <a:solidFill>
                  <a:srgbClr val="000099"/>
                </a:solidFill>
                <a:latin typeface="微软雅黑" pitchFamily="34" charset="-122"/>
                <a:ea typeface="微软雅黑" pitchFamily="34" charset="-122"/>
              </a:rPr>
              <a:t>12 </a:t>
            </a:r>
            <a:r>
              <a:rPr lang="zh-CN" altLang="en-US" sz="2400" b="1" dirty="0">
                <a:solidFill>
                  <a:srgbClr val="000099"/>
                </a:solidFill>
                <a:latin typeface="微软雅黑" pitchFamily="34" charset="-122"/>
                <a:ea typeface="微软雅黑" pitchFamily="34" charset="-122"/>
              </a:rPr>
              <a:t>个），用来使入分组的对应首部与之相匹配。匹配不上的分组被</a:t>
            </a:r>
            <a:r>
              <a:rPr lang="zh-CN" altLang="en-US" sz="2400" b="1" dirty="0">
                <a:solidFill>
                  <a:srgbClr val="C00000"/>
                </a:solidFill>
                <a:latin typeface="微软雅黑" pitchFamily="34" charset="-122"/>
                <a:ea typeface="微软雅黑" pitchFamily="34" charset="-122"/>
              </a:rPr>
              <a:t>丢弃</a:t>
            </a:r>
            <a:r>
              <a:rPr lang="zh-CN" altLang="en-US" sz="2400" b="1" dirty="0">
                <a:solidFill>
                  <a:srgbClr val="000099"/>
                </a:solidFill>
                <a:latin typeface="微软雅黑" pitchFamily="34" charset="-122"/>
                <a:ea typeface="微软雅黑" pitchFamily="34" charset="-122"/>
              </a:rPr>
              <a:t>，或</a:t>
            </a:r>
            <a:r>
              <a:rPr lang="zh-CN" altLang="en-US" sz="2400" b="1" dirty="0">
                <a:solidFill>
                  <a:srgbClr val="C00000"/>
                </a:solidFill>
                <a:latin typeface="微软雅黑" pitchFamily="34" charset="-122"/>
                <a:ea typeface="微软雅黑" pitchFamily="34" charset="-122"/>
              </a:rPr>
              <a:t>发送到远程控制器</a:t>
            </a:r>
            <a:r>
              <a:rPr lang="zh-CN" altLang="en-US" sz="2400" b="1" dirty="0">
                <a:solidFill>
                  <a:srgbClr val="000099"/>
                </a:solidFill>
                <a:latin typeface="微软雅黑" pitchFamily="34" charset="-122"/>
                <a:ea typeface="微软雅黑" pitchFamily="34" charset="-122"/>
              </a:rPr>
              <a:t>做更多的处理。</a:t>
            </a:r>
          </a:p>
        </p:txBody>
      </p:sp>
      <p:sp>
        <p:nvSpPr>
          <p:cNvPr id="4" name="矩形 3"/>
          <p:cNvSpPr/>
          <p:nvPr/>
        </p:nvSpPr>
        <p:spPr>
          <a:xfrm>
            <a:off x="6978867" y="1459162"/>
            <a:ext cx="3333051" cy="1447769"/>
          </a:xfrm>
          <a:prstGeom prst="rect">
            <a:avLst/>
          </a:prstGeom>
          <a:solidFill>
            <a:schemeClr val="bg1"/>
          </a:solidFill>
        </p:spPr>
        <p:txBody>
          <a:bodyPr wrap="square">
            <a:spAutoFit/>
          </a:bodyPr>
          <a:lstStyle/>
          <a:p>
            <a:pPr>
              <a:lnSpc>
                <a:spcPts val="2667"/>
              </a:lnSpc>
            </a:pPr>
            <a:r>
              <a:rPr lang="zh-CN" altLang="zh-CN" sz="1867" b="1" kern="500" dirty="0">
                <a:latin typeface="微软雅黑" panose="020B0503020204020204" pitchFamily="34" charset="-122"/>
                <a:ea typeface="微软雅黑" panose="020B0503020204020204" pitchFamily="34" charset="-122"/>
                <a:cs typeface="Times New Roman" panose="02020603050405020304" pitchFamily="18" charset="0"/>
              </a:rPr>
              <a:t>三个字段</a:t>
            </a:r>
            <a:r>
              <a:rPr lang="zh-CN" altLang="en-US" sz="1867" b="1" kern="5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67" b="1" kern="500" dirty="0">
              <a:latin typeface="微软雅黑" panose="020B0503020204020204" pitchFamily="34" charset="-122"/>
              <a:ea typeface="微软雅黑" panose="020B0503020204020204" pitchFamily="34" charset="-122"/>
              <a:cs typeface="Times New Roman" panose="02020603050405020304" pitchFamily="18" charset="0"/>
            </a:endParaRPr>
          </a:p>
          <a:p>
            <a:pPr marL="380990" indent="-380990">
              <a:lnSpc>
                <a:spcPts val="2667"/>
              </a:lnSpc>
              <a:buFont typeface="Wingdings" panose="05000000000000000000" pitchFamily="2" charset="2"/>
              <a:buChar char="l"/>
            </a:pPr>
            <a:r>
              <a:rPr lang="zh-CN" altLang="zh-CN" sz="1867" b="1" kern="500" dirty="0">
                <a:latin typeface="微软雅黑" panose="020B0503020204020204" pitchFamily="34" charset="-122"/>
                <a:ea typeface="微软雅黑" panose="020B0503020204020204" pitchFamily="34" charset="-122"/>
                <a:cs typeface="Times New Roman" panose="02020603050405020304" pitchFamily="18" charset="0"/>
              </a:rPr>
              <a:t>首部字段值（匹配字段）</a:t>
            </a:r>
            <a:endParaRPr lang="en-US" altLang="zh-CN" sz="1867" b="1" kern="500" dirty="0">
              <a:latin typeface="微软雅黑" panose="020B0503020204020204" pitchFamily="34" charset="-122"/>
              <a:ea typeface="微软雅黑" panose="020B0503020204020204" pitchFamily="34" charset="-122"/>
              <a:cs typeface="Times New Roman" panose="02020603050405020304" pitchFamily="18" charset="0"/>
            </a:endParaRPr>
          </a:p>
          <a:p>
            <a:pPr marL="380990" indent="-380990">
              <a:lnSpc>
                <a:spcPts val="2667"/>
              </a:lnSpc>
              <a:buFont typeface="Wingdings" panose="05000000000000000000" pitchFamily="2" charset="2"/>
              <a:buChar char="l"/>
            </a:pPr>
            <a:r>
              <a:rPr lang="zh-CN" altLang="zh-CN" sz="1867" b="1" kern="500" dirty="0">
                <a:latin typeface="微软雅黑" panose="020B0503020204020204" pitchFamily="34" charset="-122"/>
                <a:ea typeface="微软雅黑" panose="020B0503020204020204" pitchFamily="34" charset="-122"/>
                <a:cs typeface="Times New Roman" panose="02020603050405020304" pitchFamily="18" charset="0"/>
              </a:rPr>
              <a:t>计数器</a:t>
            </a:r>
            <a:endParaRPr lang="en-US" altLang="zh-CN" sz="1867" b="1" kern="500" dirty="0">
              <a:latin typeface="微软雅黑" panose="020B0503020204020204" pitchFamily="34" charset="-122"/>
              <a:ea typeface="微软雅黑" panose="020B0503020204020204" pitchFamily="34" charset="-122"/>
              <a:cs typeface="Times New Roman" panose="02020603050405020304" pitchFamily="18" charset="0"/>
            </a:endParaRPr>
          </a:p>
          <a:p>
            <a:pPr marL="380990" indent="-380990">
              <a:lnSpc>
                <a:spcPts val="2667"/>
              </a:lnSpc>
              <a:buFont typeface="Wingdings" panose="05000000000000000000" pitchFamily="2" charset="2"/>
              <a:buChar char="l"/>
            </a:pPr>
            <a:r>
              <a:rPr lang="zh-CN" altLang="zh-CN" sz="1867" b="1" kern="500" dirty="0">
                <a:latin typeface="微软雅黑" panose="020B0503020204020204" pitchFamily="34" charset="-122"/>
                <a:ea typeface="微软雅黑" panose="020B0503020204020204" pitchFamily="34" charset="-122"/>
                <a:cs typeface="Times New Roman" panose="02020603050405020304" pitchFamily="18" charset="0"/>
              </a:rPr>
              <a:t>动作</a:t>
            </a:r>
            <a:endParaRPr lang="zh-CN" altLang="en-US" sz="1867" b="1" dirty="0">
              <a:latin typeface="微软雅黑" panose="020B0503020204020204" pitchFamily="34" charset="-122"/>
              <a:ea typeface="微软雅黑" panose="020B0503020204020204" pitchFamily="34" charset="-122"/>
            </a:endParaRPr>
          </a:p>
        </p:txBody>
      </p:sp>
      <p:sp>
        <p:nvSpPr>
          <p:cNvPr id="55" name="文本框 54"/>
          <p:cNvSpPr txBox="1"/>
          <p:nvPr/>
        </p:nvSpPr>
        <p:spPr>
          <a:xfrm>
            <a:off x="3301857" y="2124996"/>
            <a:ext cx="688739" cy="338554"/>
          </a:xfrm>
          <a:prstGeom prst="rect">
            <a:avLst/>
          </a:prstGeom>
          <a:noFill/>
        </p:spPr>
        <p:txBody>
          <a:bodyPr wrap="square" rtlCol="0">
            <a:spAutoFit/>
          </a:bodyPr>
          <a:lstStyle/>
          <a:p>
            <a:r>
              <a:rPr lang="en-US" altLang="zh-CN" sz="1600" b="1" dirty="0">
                <a:latin typeface="微软雅黑" panose="020B0503020204020204" pitchFamily="34" charset="-122"/>
                <a:ea typeface="微软雅黑" panose="020B0503020204020204" pitchFamily="34" charset="-122"/>
              </a:rPr>
              <a:t>. . . </a:t>
            </a:r>
            <a:endParaRPr lang="zh-CN" altLang="en-US" sz="1600" b="1" dirty="0">
              <a:latin typeface="微软雅黑" panose="020B0503020204020204" pitchFamily="34" charset="-122"/>
              <a:ea typeface="微软雅黑" panose="020B0503020204020204" pitchFamily="34" charset="-122"/>
            </a:endParaRPr>
          </a:p>
        </p:txBody>
      </p:sp>
      <p:sp>
        <p:nvSpPr>
          <p:cNvPr id="56" name="文本框 55"/>
          <p:cNvSpPr txBox="1"/>
          <p:nvPr/>
        </p:nvSpPr>
        <p:spPr>
          <a:xfrm>
            <a:off x="4594072" y="2124996"/>
            <a:ext cx="688739" cy="338554"/>
          </a:xfrm>
          <a:prstGeom prst="rect">
            <a:avLst/>
          </a:prstGeom>
          <a:noFill/>
        </p:spPr>
        <p:txBody>
          <a:bodyPr wrap="square" rtlCol="0">
            <a:spAutoFit/>
          </a:bodyPr>
          <a:lstStyle/>
          <a:p>
            <a:r>
              <a:rPr lang="en-US" altLang="zh-CN" sz="1600" b="1" dirty="0">
                <a:latin typeface="微软雅黑" panose="020B0503020204020204" pitchFamily="34" charset="-122"/>
                <a:ea typeface="微软雅黑" panose="020B0503020204020204" pitchFamily="34" charset="-122"/>
              </a:rPr>
              <a:t>. . . </a:t>
            </a:r>
            <a:endParaRPr lang="zh-CN" altLang="en-US" sz="1600" b="1" dirty="0">
              <a:latin typeface="微软雅黑" panose="020B0503020204020204" pitchFamily="34" charset="-122"/>
              <a:ea typeface="微软雅黑" panose="020B0503020204020204" pitchFamily="34" charset="-122"/>
            </a:endParaRPr>
          </a:p>
        </p:txBody>
      </p:sp>
      <p:sp>
        <p:nvSpPr>
          <p:cNvPr id="57" name="文本框 56"/>
          <p:cNvSpPr txBox="1"/>
          <p:nvPr/>
        </p:nvSpPr>
        <p:spPr>
          <a:xfrm>
            <a:off x="5751036" y="2124996"/>
            <a:ext cx="688739" cy="338554"/>
          </a:xfrm>
          <a:prstGeom prst="rect">
            <a:avLst/>
          </a:prstGeom>
          <a:noFill/>
        </p:spPr>
        <p:txBody>
          <a:bodyPr wrap="square" rtlCol="0">
            <a:spAutoFit/>
          </a:bodyPr>
          <a:lstStyle/>
          <a:p>
            <a:r>
              <a:rPr lang="en-US" altLang="zh-CN" sz="1600" b="1" dirty="0">
                <a:latin typeface="微软雅黑" panose="020B0503020204020204" pitchFamily="34" charset="-122"/>
                <a:ea typeface="微软雅黑" panose="020B0503020204020204" pitchFamily="34" charset="-122"/>
              </a:rPr>
              <a:t>. . . </a:t>
            </a: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180261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圆角矩形 52"/>
          <p:cNvSpPr/>
          <p:nvPr/>
        </p:nvSpPr>
        <p:spPr>
          <a:xfrm>
            <a:off x="726860" y="1356749"/>
            <a:ext cx="10738281" cy="353212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5" name="AutoShape 5"/>
          <p:cNvSpPr>
            <a:spLocks noChangeArrowheads="1"/>
          </p:cNvSpPr>
          <p:nvPr/>
        </p:nvSpPr>
        <p:spPr bwMode="auto">
          <a:xfrm>
            <a:off x="726860" y="818859"/>
            <a:ext cx="10738281" cy="471907"/>
          </a:xfrm>
          <a:prstGeom prst="roundRect">
            <a:avLst>
              <a:gd name="adj" fmla="val 16667"/>
            </a:avLst>
          </a:prstGeom>
          <a:solidFill>
            <a:srgbClr val="00B050"/>
          </a:solidFill>
          <a:ln>
            <a:noFill/>
          </a:ln>
          <a:effectLst/>
        </p:spPr>
        <p:txBody>
          <a:bodyPr wrap="none" anchor="ctr"/>
          <a:lstStyle/>
          <a:p>
            <a:endParaRPr lang="zh-CN" altLang="en-US" sz="1600"/>
          </a:p>
        </p:txBody>
      </p:sp>
      <p:sp>
        <p:nvSpPr>
          <p:cNvPr id="6" name="Rectangle 6"/>
          <p:cNvSpPr>
            <a:spLocks noChangeArrowheads="1"/>
          </p:cNvSpPr>
          <p:nvPr/>
        </p:nvSpPr>
        <p:spPr bwMode="auto">
          <a:xfrm>
            <a:off x="2589291" y="774577"/>
            <a:ext cx="7013419" cy="502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667" b="1" dirty="0">
                <a:solidFill>
                  <a:schemeClr val="bg1"/>
                </a:solidFill>
                <a:latin typeface="微软雅黑" pitchFamily="34" charset="-122"/>
                <a:ea typeface="微软雅黑" pitchFamily="34" charset="-122"/>
              </a:rPr>
              <a:t>流表结构</a:t>
            </a:r>
          </a:p>
        </p:txBody>
      </p:sp>
      <p:cxnSp>
        <p:nvCxnSpPr>
          <p:cNvPr id="16" name="直接箭头连接符 15"/>
          <p:cNvCxnSpPr/>
          <p:nvPr/>
        </p:nvCxnSpPr>
        <p:spPr>
          <a:xfrm flipV="1">
            <a:off x="1951627" y="4609601"/>
            <a:ext cx="3768179" cy="1944"/>
          </a:xfrm>
          <a:prstGeom prst="straightConnector1">
            <a:avLst/>
          </a:prstGeom>
          <a:ln w="19050">
            <a:solidFill>
              <a:srgbClr val="000066"/>
            </a:solidFill>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5727842" y="4609601"/>
            <a:ext cx="3590333" cy="7528"/>
          </a:xfrm>
          <a:prstGeom prst="straightConnector1">
            <a:avLst/>
          </a:prstGeom>
          <a:ln w="19050">
            <a:solidFill>
              <a:srgbClr val="C00000"/>
            </a:solidFill>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9311913" y="4609602"/>
            <a:ext cx="1902311" cy="2021"/>
          </a:xfrm>
          <a:prstGeom prst="straightConnector1">
            <a:avLst/>
          </a:prstGeom>
          <a:ln w="19050">
            <a:solidFill>
              <a:srgbClr val="660066"/>
            </a:solidFill>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977736" y="3551058"/>
            <a:ext cx="0" cy="7939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9" idx="3"/>
          </p:cNvCxnSpPr>
          <p:nvPr/>
        </p:nvCxnSpPr>
        <p:spPr>
          <a:xfrm>
            <a:off x="1985753" y="3940309"/>
            <a:ext cx="9212139" cy="7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12"/>
          <p:cNvSpPr txBox="1"/>
          <p:nvPr/>
        </p:nvSpPr>
        <p:spPr>
          <a:xfrm>
            <a:off x="2776344" y="3585726"/>
            <a:ext cx="8025274" cy="338554"/>
          </a:xfrm>
          <a:prstGeom prst="rect">
            <a:avLst/>
          </a:prstGeom>
          <a:noFill/>
        </p:spPr>
        <p:txBody>
          <a:bodyPr wrap="none" rtlCol="0">
            <a:spAutoFit/>
          </a:bodyPr>
          <a:lstStyle/>
          <a:p>
            <a:r>
              <a:rPr lang="zh-CN" altLang="en-US" sz="1600" b="1" dirty="0">
                <a:solidFill>
                  <a:srgbClr val="000066"/>
                </a:solidFill>
                <a:latin typeface="微软雅黑" panose="020B0503020204020204" pitchFamily="34" charset="-122"/>
                <a:ea typeface="微软雅黑" panose="020B0503020204020204" pitchFamily="34" charset="-122"/>
                <a:cs typeface="Times New Roman" pitchFamily="18" charset="0"/>
              </a:rPr>
              <a:t>以太网                     </a:t>
            </a:r>
            <a:r>
              <a:rPr lang="en-US" altLang="zh-CN" sz="1600" b="1" dirty="0">
                <a:solidFill>
                  <a:srgbClr val="000066"/>
                </a:solidFill>
                <a:latin typeface="微软雅黑" panose="020B0503020204020204" pitchFamily="34" charset="-122"/>
                <a:ea typeface="微软雅黑" panose="020B0503020204020204" pitchFamily="34" charset="-122"/>
                <a:cs typeface="Times New Roman" pitchFamily="18" charset="0"/>
              </a:rPr>
              <a:t>VLAN </a:t>
            </a:r>
            <a:r>
              <a:rPr lang="en-US" altLang="zh-CN" sz="1600" b="1" dirty="0">
                <a:latin typeface="微软雅黑" panose="020B0503020204020204" pitchFamily="34" charset="-122"/>
                <a:ea typeface="微软雅黑" panose="020B0503020204020204" pitchFamily="34" charset="-122"/>
                <a:cs typeface="Times New Roman" pitchFamily="18" charset="0"/>
              </a:rPr>
              <a:t>                                  </a:t>
            </a:r>
            <a:r>
              <a:rPr lang="en-US" altLang="zh-CN" sz="1600" b="1" dirty="0">
                <a:solidFill>
                  <a:srgbClr val="C00000"/>
                </a:solidFill>
                <a:latin typeface="微软雅黑" panose="020B0503020204020204" pitchFamily="34" charset="-122"/>
                <a:ea typeface="微软雅黑" panose="020B0503020204020204" pitchFamily="34" charset="-122"/>
                <a:cs typeface="Times New Roman" pitchFamily="18" charset="0"/>
              </a:rPr>
              <a:t>IP</a:t>
            </a:r>
            <a:r>
              <a:rPr lang="en-US" altLang="zh-CN" sz="1600" b="1" dirty="0">
                <a:latin typeface="微软雅黑" panose="020B0503020204020204" pitchFamily="34" charset="-122"/>
                <a:ea typeface="微软雅黑" panose="020B0503020204020204" pitchFamily="34" charset="-122"/>
                <a:cs typeface="Times New Roman" pitchFamily="18" charset="0"/>
              </a:rPr>
              <a:t>                                  </a:t>
            </a:r>
            <a:r>
              <a:rPr lang="en-US" altLang="zh-CN" sz="1600" b="1" dirty="0">
                <a:solidFill>
                  <a:srgbClr val="660066"/>
                </a:solidFill>
                <a:latin typeface="微软雅黑" panose="020B0503020204020204" pitchFamily="34" charset="-122"/>
                <a:ea typeface="微软雅黑" panose="020B0503020204020204" pitchFamily="34" charset="-122"/>
                <a:cs typeface="Times New Roman" pitchFamily="18" charset="0"/>
              </a:rPr>
              <a:t>TCP/UDP</a:t>
            </a:r>
            <a:endParaRPr lang="zh-CN" altLang="en-US" sz="1600" b="1" dirty="0">
              <a:solidFill>
                <a:srgbClr val="660066"/>
              </a:solidFill>
              <a:latin typeface="微软雅黑" panose="020B0503020204020204" pitchFamily="34" charset="-122"/>
              <a:ea typeface="微软雅黑" panose="020B0503020204020204" pitchFamily="34" charset="-122"/>
              <a:cs typeface="Times New Roman" pitchFamily="18" charset="0"/>
            </a:endParaRPr>
          </a:p>
        </p:txBody>
      </p:sp>
      <p:sp>
        <p:nvSpPr>
          <p:cNvPr id="23" name="TextBox 14"/>
          <p:cNvSpPr txBox="1"/>
          <p:nvPr/>
        </p:nvSpPr>
        <p:spPr>
          <a:xfrm>
            <a:off x="1138453" y="3779039"/>
            <a:ext cx="800219" cy="338554"/>
          </a:xfrm>
          <a:prstGeom prst="rect">
            <a:avLst/>
          </a:prstGeom>
          <a:no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cs typeface="Times New Roman" pitchFamily="18" charset="0"/>
              </a:rPr>
              <a:t>入端口</a:t>
            </a:r>
          </a:p>
        </p:txBody>
      </p:sp>
      <p:sp>
        <p:nvSpPr>
          <p:cNvPr id="24" name="TextBox 10"/>
          <p:cNvSpPr txBox="1"/>
          <p:nvPr/>
        </p:nvSpPr>
        <p:spPr>
          <a:xfrm>
            <a:off x="2000851" y="3977076"/>
            <a:ext cx="9235220" cy="338554"/>
          </a:xfrm>
          <a:prstGeom prst="rect">
            <a:avLst/>
          </a:prstGeom>
          <a:noFill/>
        </p:spPr>
        <p:txBody>
          <a:bodyPr wrap="none" rtlCol="0">
            <a:spAutoFit/>
          </a:bodyPr>
          <a:lstStyle/>
          <a:p>
            <a:r>
              <a:rPr lang="zh-CN" altLang="en-US" sz="1600" b="1" dirty="0">
                <a:solidFill>
                  <a:srgbClr val="000066"/>
                </a:solidFill>
                <a:latin typeface="微软雅黑" panose="020B0503020204020204" pitchFamily="34" charset="-122"/>
                <a:ea typeface="微软雅黑" panose="020B0503020204020204" pitchFamily="34" charset="-122"/>
                <a:cs typeface="Times New Roman" pitchFamily="18" charset="0"/>
              </a:rPr>
              <a:t>源地址   目的地址    类型   </a:t>
            </a:r>
            <a:r>
              <a:rPr lang="en-US" altLang="zh-CN" sz="1600" b="1" dirty="0">
                <a:solidFill>
                  <a:srgbClr val="000066"/>
                </a:solidFill>
                <a:latin typeface="微软雅黑" panose="020B0503020204020204" pitchFamily="34" charset="-122"/>
                <a:ea typeface="微软雅黑" panose="020B0503020204020204" pitchFamily="34" charset="-122"/>
                <a:cs typeface="Times New Roman" pitchFamily="18" charset="0"/>
              </a:rPr>
              <a:t>ID    </a:t>
            </a:r>
            <a:r>
              <a:rPr lang="zh-CN" altLang="en-US" sz="1600" b="1" dirty="0">
                <a:solidFill>
                  <a:srgbClr val="000066"/>
                </a:solidFill>
                <a:latin typeface="微软雅黑" panose="020B0503020204020204" pitchFamily="34" charset="-122"/>
                <a:ea typeface="微软雅黑" panose="020B0503020204020204" pitchFamily="34" charset="-122"/>
                <a:cs typeface="Times New Roman" pitchFamily="18" charset="0"/>
              </a:rPr>
              <a:t>优先级 </a:t>
            </a:r>
            <a:r>
              <a:rPr lang="zh-CN" altLang="en-US" sz="1600" b="1" dirty="0">
                <a:latin typeface="微软雅黑" panose="020B0503020204020204" pitchFamily="34" charset="-122"/>
                <a:ea typeface="微软雅黑" panose="020B0503020204020204" pitchFamily="34" charset="-122"/>
                <a:cs typeface="Times New Roman" pitchFamily="18" charset="0"/>
              </a:rPr>
              <a:t>   </a:t>
            </a:r>
            <a:r>
              <a:rPr lang="zh-CN" altLang="en-US" sz="1600" b="1" dirty="0">
                <a:solidFill>
                  <a:srgbClr val="C00000"/>
                </a:solidFill>
                <a:latin typeface="微软雅黑" panose="020B0503020204020204" pitchFamily="34" charset="-122"/>
                <a:ea typeface="微软雅黑" panose="020B0503020204020204" pitchFamily="34" charset="-122"/>
                <a:cs typeface="Times New Roman" pitchFamily="18" charset="0"/>
              </a:rPr>
              <a:t>源地址    目的地址    协议   服务类型</a:t>
            </a:r>
            <a:r>
              <a:rPr lang="zh-CN" altLang="en-US" sz="1600" b="1" dirty="0">
                <a:latin typeface="微软雅黑" panose="020B0503020204020204" pitchFamily="34" charset="-122"/>
                <a:ea typeface="微软雅黑" panose="020B0503020204020204" pitchFamily="34" charset="-122"/>
                <a:cs typeface="Times New Roman" pitchFamily="18" charset="0"/>
              </a:rPr>
              <a:t>    </a:t>
            </a:r>
            <a:r>
              <a:rPr lang="zh-CN" altLang="en-US" sz="1600" b="1" dirty="0">
                <a:solidFill>
                  <a:srgbClr val="660066"/>
                </a:solidFill>
                <a:latin typeface="微软雅黑" panose="020B0503020204020204" pitchFamily="34" charset="-122"/>
                <a:ea typeface="微软雅黑" panose="020B0503020204020204" pitchFamily="34" charset="-122"/>
                <a:cs typeface="Times New Roman" pitchFamily="18" charset="0"/>
              </a:rPr>
              <a:t>源端口    目的端口</a:t>
            </a:r>
          </a:p>
        </p:txBody>
      </p:sp>
      <p:cxnSp>
        <p:nvCxnSpPr>
          <p:cNvPr id="25" name="直接连接符 24"/>
          <p:cNvCxnSpPr/>
          <p:nvPr/>
        </p:nvCxnSpPr>
        <p:spPr>
          <a:xfrm>
            <a:off x="4493863" y="3551058"/>
            <a:ext cx="0" cy="7939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5716267" y="3562726"/>
            <a:ext cx="0" cy="7939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9319804" y="3547321"/>
            <a:ext cx="0" cy="7939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2786493" y="3928640"/>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0178749" y="3940982"/>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8270193" y="3946420"/>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3877237" y="3950259"/>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7677838" y="3942750"/>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624163" y="3953020"/>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4904838" y="3932175"/>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54"/>
          <p:cNvSpPr txBox="1"/>
          <p:nvPr/>
        </p:nvSpPr>
        <p:spPr>
          <a:xfrm>
            <a:off x="3434037" y="4416766"/>
            <a:ext cx="800219" cy="338554"/>
          </a:xfrm>
          <a:prstGeom prst="rect">
            <a:avLst/>
          </a:prstGeom>
          <a:solidFill>
            <a:srgbClr val="C3E3F9"/>
          </a:solid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cs typeface="Times New Roman" pitchFamily="18" charset="0"/>
              </a:rPr>
              <a:t>链路层</a:t>
            </a:r>
          </a:p>
        </p:txBody>
      </p:sp>
      <p:sp>
        <p:nvSpPr>
          <p:cNvPr id="36" name="TextBox 55"/>
          <p:cNvSpPr txBox="1"/>
          <p:nvPr/>
        </p:nvSpPr>
        <p:spPr>
          <a:xfrm>
            <a:off x="7071773" y="4416763"/>
            <a:ext cx="800219" cy="338554"/>
          </a:xfrm>
          <a:prstGeom prst="rect">
            <a:avLst/>
          </a:prstGeom>
          <a:solidFill>
            <a:srgbClr val="C3E3F9"/>
          </a:solid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cs typeface="Times New Roman" pitchFamily="18" charset="0"/>
              </a:rPr>
              <a:t>网络层</a:t>
            </a:r>
          </a:p>
        </p:txBody>
      </p:sp>
      <p:sp>
        <p:nvSpPr>
          <p:cNvPr id="37" name="TextBox 56"/>
          <p:cNvSpPr txBox="1"/>
          <p:nvPr/>
        </p:nvSpPr>
        <p:spPr>
          <a:xfrm>
            <a:off x="9758210" y="4416763"/>
            <a:ext cx="800219" cy="338554"/>
          </a:xfrm>
          <a:prstGeom prst="rect">
            <a:avLst/>
          </a:prstGeom>
          <a:solidFill>
            <a:srgbClr val="C3E3F9"/>
          </a:solid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cs typeface="Times New Roman" pitchFamily="18" charset="0"/>
              </a:rPr>
              <a:t>运输层</a:t>
            </a:r>
          </a:p>
        </p:txBody>
      </p:sp>
      <p:sp>
        <p:nvSpPr>
          <p:cNvPr id="38" name="TextBox 57"/>
          <p:cNvSpPr txBox="1"/>
          <p:nvPr/>
        </p:nvSpPr>
        <p:spPr>
          <a:xfrm>
            <a:off x="2931893" y="1474023"/>
            <a:ext cx="3638839" cy="1349793"/>
          </a:xfrm>
          <a:prstGeom prst="rect">
            <a:avLst/>
          </a:prstGeom>
          <a:noFill/>
        </p:spPr>
        <p:txBody>
          <a:bodyPr wrap="square" rtlCol="0">
            <a:spAutoFit/>
          </a:bodyPr>
          <a:lstStyle/>
          <a:p>
            <a:pPr>
              <a:lnSpc>
                <a:spcPts val="2267"/>
              </a:lnSpc>
              <a:spcAft>
                <a:spcPts val="800"/>
              </a:spcAft>
            </a:pPr>
            <a:r>
              <a:rPr lang="zh-CN" altLang="en-US" sz="1600" b="1" dirty="0">
                <a:latin typeface="微软雅黑" panose="020B0503020204020204" pitchFamily="34" charset="-122"/>
                <a:ea typeface="微软雅黑" panose="020B0503020204020204" pitchFamily="34" charset="-122"/>
                <a:cs typeface="Times New Roman" pitchFamily="18" charset="0"/>
              </a:rPr>
              <a:t>首部字段值        计数器           动作</a:t>
            </a: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nSpc>
                <a:spcPts val="2267"/>
              </a:lnSpc>
            </a:pPr>
            <a:r>
              <a:rPr lang="zh-CN" altLang="en-US" sz="1600" b="1" dirty="0">
                <a:latin typeface="微软雅黑" panose="020B0503020204020204" pitchFamily="34" charset="-122"/>
                <a:ea typeface="微软雅黑" panose="020B0503020204020204" pitchFamily="34" charset="-122"/>
                <a:cs typeface="Times New Roman" pitchFamily="18" charset="0"/>
              </a:rPr>
              <a:t>首部字段值        计数器           动作</a:t>
            </a: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nSpc>
                <a:spcPts val="2267"/>
              </a:lnSpc>
            </a:pP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nSpc>
                <a:spcPts val="2267"/>
              </a:lnSpc>
              <a:spcAft>
                <a:spcPts val="1600"/>
              </a:spcAft>
            </a:pPr>
            <a:r>
              <a:rPr lang="zh-CN" altLang="en-US" sz="1600" b="1" dirty="0">
                <a:latin typeface="微软雅黑" panose="020B0503020204020204" pitchFamily="34" charset="-122"/>
                <a:ea typeface="微软雅黑" panose="020B0503020204020204" pitchFamily="34" charset="-122"/>
                <a:cs typeface="Times New Roman" pitchFamily="18" charset="0"/>
              </a:rPr>
              <a:t>首部字段值        计数器           动作</a:t>
            </a:r>
            <a:endParaRPr lang="en-US" altLang="zh-CN" sz="1600" b="1" dirty="0">
              <a:latin typeface="微软雅黑" panose="020B0503020204020204" pitchFamily="34" charset="-122"/>
              <a:ea typeface="微软雅黑" panose="020B0503020204020204" pitchFamily="34" charset="-122"/>
              <a:cs typeface="Times New Roman" pitchFamily="18" charset="0"/>
            </a:endParaRPr>
          </a:p>
        </p:txBody>
      </p:sp>
      <p:grpSp>
        <p:nvGrpSpPr>
          <p:cNvPr id="40" name="组合 39"/>
          <p:cNvGrpSpPr/>
          <p:nvPr/>
        </p:nvGrpSpPr>
        <p:grpSpPr>
          <a:xfrm>
            <a:off x="2879660" y="1864002"/>
            <a:ext cx="3796581" cy="612180"/>
            <a:chOff x="3185906" y="1442434"/>
            <a:chExt cx="2405342" cy="499726"/>
          </a:xfrm>
        </p:grpSpPr>
        <p:cxnSp>
          <p:nvCxnSpPr>
            <p:cNvPr id="41" name="直接连接符 40"/>
            <p:cNvCxnSpPr/>
            <p:nvPr/>
          </p:nvCxnSpPr>
          <p:spPr>
            <a:xfrm>
              <a:off x="3214984" y="1442434"/>
              <a:ext cx="23762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3185906" y="1727714"/>
              <a:ext cx="23762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3204215" y="1942160"/>
              <a:ext cx="23762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 name="直接连接符 43"/>
          <p:cNvCxnSpPr/>
          <p:nvPr/>
        </p:nvCxnSpPr>
        <p:spPr>
          <a:xfrm>
            <a:off x="5508038" y="1469576"/>
            <a:ext cx="1" cy="13568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4298193" y="1466932"/>
            <a:ext cx="1" cy="13568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任意多边形 48"/>
          <p:cNvSpPr/>
          <p:nvPr/>
        </p:nvSpPr>
        <p:spPr>
          <a:xfrm>
            <a:off x="1170086" y="2835183"/>
            <a:ext cx="10034767" cy="714432"/>
          </a:xfrm>
          <a:custGeom>
            <a:avLst/>
            <a:gdLst>
              <a:gd name="connsiteX0" fmla="*/ 2182305 w 8041064"/>
              <a:gd name="connsiteY0" fmla="*/ 0 h 763571"/>
              <a:gd name="connsiteX1" fmla="*/ 3299382 w 8041064"/>
              <a:gd name="connsiteY1" fmla="*/ 0 h 763571"/>
              <a:gd name="connsiteX2" fmla="*/ 8041064 w 8041064"/>
              <a:gd name="connsiteY2" fmla="*/ 749431 h 763571"/>
              <a:gd name="connsiteX3" fmla="*/ 0 w 8041064"/>
              <a:gd name="connsiteY3" fmla="*/ 763571 h 763571"/>
              <a:gd name="connsiteX4" fmla="*/ 2182305 w 8041064"/>
              <a:gd name="connsiteY4" fmla="*/ 0 h 763571"/>
              <a:gd name="connsiteX0" fmla="*/ 1389122 w 8041064"/>
              <a:gd name="connsiteY0" fmla="*/ 0 h 776694"/>
              <a:gd name="connsiteX1" fmla="*/ 3299382 w 8041064"/>
              <a:gd name="connsiteY1" fmla="*/ 13123 h 776694"/>
              <a:gd name="connsiteX2" fmla="*/ 8041064 w 8041064"/>
              <a:gd name="connsiteY2" fmla="*/ 762554 h 776694"/>
              <a:gd name="connsiteX3" fmla="*/ 0 w 8041064"/>
              <a:gd name="connsiteY3" fmla="*/ 776694 h 776694"/>
              <a:gd name="connsiteX4" fmla="*/ 1389122 w 8041064"/>
              <a:gd name="connsiteY4" fmla="*/ 0 h 776694"/>
              <a:gd name="connsiteX0" fmla="*/ 1389122 w 8041064"/>
              <a:gd name="connsiteY0" fmla="*/ 0 h 776694"/>
              <a:gd name="connsiteX1" fmla="*/ 2535219 w 8041064"/>
              <a:gd name="connsiteY1" fmla="*/ 0 h 776694"/>
              <a:gd name="connsiteX2" fmla="*/ 8041064 w 8041064"/>
              <a:gd name="connsiteY2" fmla="*/ 762554 h 776694"/>
              <a:gd name="connsiteX3" fmla="*/ 0 w 8041064"/>
              <a:gd name="connsiteY3" fmla="*/ 776694 h 776694"/>
              <a:gd name="connsiteX4" fmla="*/ 1389122 w 8041064"/>
              <a:gd name="connsiteY4" fmla="*/ 0 h 776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1064" h="776694">
                <a:moveTo>
                  <a:pt x="1389122" y="0"/>
                </a:moveTo>
                <a:lnTo>
                  <a:pt x="2535219" y="0"/>
                </a:lnTo>
                <a:lnTo>
                  <a:pt x="8041064" y="762554"/>
                </a:lnTo>
                <a:lnTo>
                  <a:pt x="0" y="776694"/>
                </a:lnTo>
                <a:lnTo>
                  <a:pt x="1389122" y="0"/>
                </a:lnTo>
                <a:close/>
              </a:path>
            </a:pathLst>
          </a:cu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50" name="TextBox 77"/>
          <p:cNvSpPr txBox="1"/>
          <p:nvPr/>
        </p:nvSpPr>
        <p:spPr>
          <a:xfrm>
            <a:off x="1930011" y="1964833"/>
            <a:ext cx="732893" cy="420564"/>
          </a:xfrm>
          <a:prstGeom prst="rect">
            <a:avLst/>
          </a:prstGeom>
          <a:noFill/>
        </p:spPr>
        <p:txBody>
          <a:bodyPr wrap="none" rtlCol="0">
            <a:spAutoFit/>
          </a:bodyPr>
          <a:lstStyle/>
          <a:p>
            <a:r>
              <a:rPr lang="zh-CN" altLang="en-US" sz="2133" b="1" dirty="0">
                <a:latin typeface="微软雅黑" panose="020B0503020204020204" pitchFamily="34" charset="-122"/>
                <a:ea typeface="微软雅黑" panose="020B0503020204020204" pitchFamily="34" charset="-122"/>
                <a:cs typeface="Times New Roman" pitchFamily="18" charset="0"/>
              </a:rPr>
              <a:t>流表</a:t>
            </a:r>
          </a:p>
        </p:txBody>
      </p:sp>
      <p:sp>
        <p:nvSpPr>
          <p:cNvPr id="51" name="TextBox 78"/>
          <p:cNvSpPr txBox="1"/>
          <p:nvPr/>
        </p:nvSpPr>
        <p:spPr>
          <a:xfrm>
            <a:off x="456769" y="3581572"/>
            <a:ext cx="732893" cy="748795"/>
          </a:xfrm>
          <a:prstGeom prst="rect">
            <a:avLst/>
          </a:prstGeom>
          <a:noFill/>
        </p:spPr>
        <p:txBody>
          <a:bodyPr wrap="none" rtlCol="0">
            <a:spAutoFit/>
          </a:bodyPr>
          <a:lstStyle/>
          <a:p>
            <a:r>
              <a:rPr lang="zh-CN" altLang="en-US" sz="2133" b="1" dirty="0">
                <a:latin typeface="微软雅黑" panose="020B0503020204020204" pitchFamily="34" charset="-122"/>
                <a:ea typeface="微软雅黑" panose="020B0503020204020204" pitchFamily="34" charset="-122"/>
                <a:cs typeface="Times New Roman" pitchFamily="18" charset="0"/>
              </a:rPr>
              <a:t>匹配</a:t>
            </a:r>
            <a:endParaRPr lang="en-US" altLang="zh-CN" sz="2133" b="1" dirty="0">
              <a:latin typeface="微软雅黑" panose="020B0503020204020204" pitchFamily="34" charset="-122"/>
              <a:ea typeface="微软雅黑" panose="020B0503020204020204" pitchFamily="34" charset="-122"/>
              <a:cs typeface="Times New Roman" pitchFamily="18" charset="0"/>
            </a:endParaRPr>
          </a:p>
          <a:p>
            <a:r>
              <a:rPr lang="zh-CN" altLang="en-US" sz="2133" b="1" dirty="0">
                <a:latin typeface="微软雅黑" panose="020B0503020204020204" pitchFamily="34" charset="-122"/>
                <a:ea typeface="微软雅黑" panose="020B0503020204020204" pitchFamily="34" charset="-122"/>
                <a:cs typeface="Times New Roman" pitchFamily="18" charset="0"/>
              </a:rPr>
              <a:t>字段</a:t>
            </a:r>
          </a:p>
        </p:txBody>
      </p:sp>
      <p:sp>
        <p:nvSpPr>
          <p:cNvPr id="52" name="左大括号 51"/>
          <p:cNvSpPr/>
          <p:nvPr/>
        </p:nvSpPr>
        <p:spPr>
          <a:xfrm>
            <a:off x="2653115" y="1494049"/>
            <a:ext cx="179724" cy="1303952"/>
          </a:xfrm>
          <a:prstGeom prst="leftBrace">
            <a:avLst>
              <a:gd name="adj1" fmla="val 93733"/>
              <a:gd name="adj2" fmla="val 5185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39" name="矩形 38"/>
          <p:cNvSpPr/>
          <p:nvPr/>
        </p:nvSpPr>
        <p:spPr>
          <a:xfrm>
            <a:off x="2902051" y="1474821"/>
            <a:ext cx="3774191" cy="135946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19" name="矩形 18"/>
          <p:cNvSpPr/>
          <p:nvPr/>
        </p:nvSpPr>
        <p:spPr>
          <a:xfrm>
            <a:off x="1168982" y="3551058"/>
            <a:ext cx="10028911" cy="79390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a:xfrm>
            <a:off x="977776" y="4888853"/>
            <a:ext cx="10695160" cy="906145"/>
          </a:xfrm>
          <a:prstGeom prst="rect">
            <a:avLst/>
          </a:prstGeom>
        </p:spPr>
        <p:txBody>
          <a:bodyPr wrap="square">
            <a:spAutoFit/>
          </a:bodyPr>
          <a:lstStyle/>
          <a:p>
            <a:pPr>
              <a:lnSpc>
                <a:spcPts val="3333"/>
              </a:lnSpc>
            </a:pPr>
            <a:r>
              <a:rPr lang="en-US" altLang="zh-CN" sz="2400" b="1" dirty="0">
                <a:solidFill>
                  <a:srgbClr val="000099"/>
                </a:solidFill>
                <a:latin typeface="微软雅黑" pitchFamily="34" charset="-122"/>
                <a:ea typeface="微软雅黑" pitchFamily="34" charset="-122"/>
              </a:rPr>
              <a:t>(2) </a:t>
            </a:r>
            <a:r>
              <a:rPr lang="zh-CN" altLang="en-US" sz="2400" b="1" dirty="0">
                <a:solidFill>
                  <a:srgbClr val="000099"/>
                </a:solidFill>
                <a:latin typeface="微软雅黑" pitchFamily="34" charset="-122"/>
                <a:ea typeface="微软雅黑" pitchFamily="34" charset="-122"/>
              </a:rPr>
              <a:t>计数器：一组计数器，可包括已经与该表项匹配的分组数量，以及从该表项上次更新到现在经历的时间。</a:t>
            </a:r>
          </a:p>
        </p:txBody>
      </p:sp>
      <p:sp>
        <p:nvSpPr>
          <p:cNvPr id="4" name="矩形 3"/>
          <p:cNvSpPr/>
          <p:nvPr/>
        </p:nvSpPr>
        <p:spPr>
          <a:xfrm>
            <a:off x="6978867" y="1459162"/>
            <a:ext cx="3333051" cy="1447769"/>
          </a:xfrm>
          <a:prstGeom prst="rect">
            <a:avLst/>
          </a:prstGeom>
          <a:solidFill>
            <a:schemeClr val="bg1"/>
          </a:solidFill>
        </p:spPr>
        <p:txBody>
          <a:bodyPr wrap="square">
            <a:spAutoFit/>
          </a:bodyPr>
          <a:lstStyle/>
          <a:p>
            <a:pPr>
              <a:lnSpc>
                <a:spcPts val="2667"/>
              </a:lnSpc>
            </a:pPr>
            <a:r>
              <a:rPr lang="zh-CN" altLang="zh-CN" sz="1867" b="1" kern="500" dirty="0">
                <a:latin typeface="微软雅黑" panose="020B0503020204020204" pitchFamily="34" charset="-122"/>
                <a:ea typeface="微软雅黑" panose="020B0503020204020204" pitchFamily="34" charset="-122"/>
                <a:cs typeface="Times New Roman" panose="02020603050405020304" pitchFamily="18" charset="0"/>
              </a:rPr>
              <a:t>三个字段</a:t>
            </a:r>
            <a:r>
              <a:rPr lang="zh-CN" altLang="en-US" sz="1867" b="1" kern="5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67" b="1" kern="500" dirty="0">
              <a:latin typeface="微软雅黑" panose="020B0503020204020204" pitchFamily="34" charset="-122"/>
              <a:ea typeface="微软雅黑" panose="020B0503020204020204" pitchFamily="34" charset="-122"/>
              <a:cs typeface="Times New Roman" panose="02020603050405020304" pitchFamily="18" charset="0"/>
            </a:endParaRPr>
          </a:p>
          <a:p>
            <a:pPr marL="380990" indent="-380990">
              <a:lnSpc>
                <a:spcPts val="2667"/>
              </a:lnSpc>
              <a:buFont typeface="Wingdings" panose="05000000000000000000" pitchFamily="2" charset="2"/>
              <a:buChar char="l"/>
            </a:pPr>
            <a:r>
              <a:rPr lang="zh-CN" altLang="zh-CN" sz="1867" b="1" kern="500" dirty="0">
                <a:latin typeface="微软雅黑" panose="020B0503020204020204" pitchFamily="34" charset="-122"/>
                <a:ea typeface="微软雅黑" panose="020B0503020204020204" pitchFamily="34" charset="-122"/>
                <a:cs typeface="Times New Roman" panose="02020603050405020304" pitchFamily="18" charset="0"/>
              </a:rPr>
              <a:t>首部字段值（匹配字段）</a:t>
            </a:r>
            <a:endParaRPr lang="en-US" altLang="zh-CN" sz="1867" b="1" kern="500" dirty="0">
              <a:latin typeface="微软雅黑" panose="020B0503020204020204" pitchFamily="34" charset="-122"/>
              <a:ea typeface="微软雅黑" panose="020B0503020204020204" pitchFamily="34" charset="-122"/>
              <a:cs typeface="Times New Roman" panose="02020603050405020304" pitchFamily="18" charset="0"/>
            </a:endParaRPr>
          </a:p>
          <a:p>
            <a:pPr marL="380990" indent="-380990">
              <a:lnSpc>
                <a:spcPts val="2667"/>
              </a:lnSpc>
              <a:buFont typeface="Wingdings" panose="05000000000000000000" pitchFamily="2" charset="2"/>
              <a:buChar char="l"/>
            </a:pPr>
            <a:r>
              <a:rPr lang="zh-CN" altLang="zh-CN" sz="1867" b="1" kern="500" dirty="0">
                <a:latin typeface="微软雅黑" panose="020B0503020204020204" pitchFamily="34" charset="-122"/>
                <a:ea typeface="微软雅黑" panose="020B0503020204020204" pitchFamily="34" charset="-122"/>
                <a:cs typeface="Times New Roman" panose="02020603050405020304" pitchFamily="18" charset="0"/>
              </a:rPr>
              <a:t>计数器</a:t>
            </a:r>
            <a:endParaRPr lang="en-US" altLang="zh-CN" sz="1867" b="1" kern="500" dirty="0">
              <a:latin typeface="微软雅黑" panose="020B0503020204020204" pitchFamily="34" charset="-122"/>
              <a:ea typeface="微软雅黑" panose="020B0503020204020204" pitchFamily="34" charset="-122"/>
              <a:cs typeface="Times New Roman" panose="02020603050405020304" pitchFamily="18" charset="0"/>
            </a:endParaRPr>
          </a:p>
          <a:p>
            <a:pPr marL="380990" indent="-380990">
              <a:lnSpc>
                <a:spcPts val="2667"/>
              </a:lnSpc>
              <a:buFont typeface="Wingdings" panose="05000000000000000000" pitchFamily="2" charset="2"/>
              <a:buChar char="l"/>
            </a:pPr>
            <a:r>
              <a:rPr lang="zh-CN" altLang="zh-CN" sz="1867" b="1" kern="500" dirty="0">
                <a:latin typeface="微软雅黑" panose="020B0503020204020204" pitchFamily="34" charset="-122"/>
                <a:ea typeface="微软雅黑" panose="020B0503020204020204" pitchFamily="34" charset="-122"/>
                <a:cs typeface="Times New Roman" panose="02020603050405020304" pitchFamily="18" charset="0"/>
              </a:rPr>
              <a:t>动作</a:t>
            </a:r>
            <a:endParaRPr lang="zh-CN" altLang="en-US" sz="1867" b="1" dirty="0">
              <a:latin typeface="微软雅黑" panose="020B0503020204020204" pitchFamily="34" charset="-122"/>
              <a:ea typeface="微软雅黑" panose="020B0503020204020204" pitchFamily="34" charset="-122"/>
            </a:endParaRPr>
          </a:p>
        </p:txBody>
      </p:sp>
      <p:sp>
        <p:nvSpPr>
          <p:cNvPr id="55" name="文本框 54"/>
          <p:cNvSpPr txBox="1"/>
          <p:nvPr/>
        </p:nvSpPr>
        <p:spPr>
          <a:xfrm>
            <a:off x="3301857" y="2124996"/>
            <a:ext cx="688739" cy="338554"/>
          </a:xfrm>
          <a:prstGeom prst="rect">
            <a:avLst/>
          </a:prstGeom>
          <a:noFill/>
        </p:spPr>
        <p:txBody>
          <a:bodyPr wrap="square" rtlCol="0">
            <a:spAutoFit/>
          </a:bodyPr>
          <a:lstStyle/>
          <a:p>
            <a:r>
              <a:rPr lang="en-US" altLang="zh-CN" sz="1600" b="1" dirty="0">
                <a:latin typeface="微软雅黑" panose="020B0503020204020204" pitchFamily="34" charset="-122"/>
                <a:ea typeface="微软雅黑" panose="020B0503020204020204" pitchFamily="34" charset="-122"/>
              </a:rPr>
              <a:t>. . . </a:t>
            </a:r>
            <a:endParaRPr lang="zh-CN" altLang="en-US" sz="1600" b="1" dirty="0">
              <a:latin typeface="微软雅黑" panose="020B0503020204020204" pitchFamily="34" charset="-122"/>
              <a:ea typeface="微软雅黑" panose="020B0503020204020204" pitchFamily="34" charset="-122"/>
            </a:endParaRPr>
          </a:p>
        </p:txBody>
      </p:sp>
      <p:sp>
        <p:nvSpPr>
          <p:cNvPr id="56" name="文本框 55"/>
          <p:cNvSpPr txBox="1"/>
          <p:nvPr/>
        </p:nvSpPr>
        <p:spPr>
          <a:xfrm>
            <a:off x="4594072" y="2124996"/>
            <a:ext cx="688739" cy="338554"/>
          </a:xfrm>
          <a:prstGeom prst="rect">
            <a:avLst/>
          </a:prstGeom>
          <a:noFill/>
        </p:spPr>
        <p:txBody>
          <a:bodyPr wrap="square" rtlCol="0">
            <a:spAutoFit/>
          </a:bodyPr>
          <a:lstStyle/>
          <a:p>
            <a:r>
              <a:rPr lang="en-US" altLang="zh-CN" sz="1600" b="1" dirty="0">
                <a:latin typeface="微软雅黑" panose="020B0503020204020204" pitchFamily="34" charset="-122"/>
                <a:ea typeface="微软雅黑" panose="020B0503020204020204" pitchFamily="34" charset="-122"/>
              </a:rPr>
              <a:t>. . . </a:t>
            </a:r>
            <a:endParaRPr lang="zh-CN" altLang="en-US" sz="1600" b="1" dirty="0">
              <a:latin typeface="微软雅黑" panose="020B0503020204020204" pitchFamily="34" charset="-122"/>
              <a:ea typeface="微软雅黑" panose="020B0503020204020204" pitchFamily="34" charset="-122"/>
            </a:endParaRPr>
          </a:p>
        </p:txBody>
      </p:sp>
      <p:sp>
        <p:nvSpPr>
          <p:cNvPr id="57" name="文本框 56"/>
          <p:cNvSpPr txBox="1"/>
          <p:nvPr/>
        </p:nvSpPr>
        <p:spPr>
          <a:xfrm>
            <a:off x="5751036" y="2124996"/>
            <a:ext cx="688739" cy="338554"/>
          </a:xfrm>
          <a:prstGeom prst="rect">
            <a:avLst/>
          </a:prstGeom>
          <a:noFill/>
        </p:spPr>
        <p:txBody>
          <a:bodyPr wrap="square" rtlCol="0">
            <a:spAutoFit/>
          </a:bodyPr>
          <a:lstStyle/>
          <a:p>
            <a:r>
              <a:rPr lang="en-US" altLang="zh-CN" sz="1600" b="1" dirty="0">
                <a:latin typeface="微软雅黑" panose="020B0503020204020204" pitchFamily="34" charset="-122"/>
                <a:ea typeface="微软雅黑" panose="020B0503020204020204" pitchFamily="34" charset="-122"/>
              </a:rPr>
              <a:t>. . . </a:t>
            </a: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064566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圆角矩形 52"/>
          <p:cNvSpPr/>
          <p:nvPr/>
        </p:nvSpPr>
        <p:spPr>
          <a:xfrm>
            <a:off x="726860" y="1356749"/>
            <a:ext cx="10738281" cy="353212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5" name="AutoShape 5"/>
          <p:cNvSpPr>
            <a:spLocks noChangeArrowheads="1"/>
          </p:cNvSpPr>
          <p:nvPr/>
        </p:nvSpPr>
        <p:spPr bwMode="auto">
          <a:xfrm>
            <a:off x="726860" y="818859"/>
            <a:ext cx="10738281" cy="471907"/>
          </a:xfrm>
          <a:prstGeom prst="roundRect">
            <a:avLst>
              <a:gd name="adj" fmla="val 16667"/>
            </a:avLst>
          </a:prstGeom>
          <a:solidFill>
            <a:srgbClr val="00B050"/>
          </a:solidFill>
          <a:ln>
            <a:noFill/>
          </a:ln>
          <a:effectLst/>
        </p:spPr>
        <p:txBody>
          <a:bodyPr wrap="none" anchor="ctr"/>
          <a:lstStyle/>
          <a:p>
            <a:endParaRPr lang="zh-CN" altLang="en-US" sz="1600"/>
          </a:p>
        </p:txBody>
      </p:sp>
      <p:sp>
        <p:nvSpPr>
          <p:cNvPr id="6" name="Rectangle 6"/>
          <p:cNvSpPr>
            <a:spLocks noChangeArrowheads="1"/>
          </p:cNvSpPr>
          <p:nvPr/>
        </p:nvSpPr>
        <p:spPr bwMode="auto">
          <a:xfrm>
            <a:off x="2589291" y="774577"/>
            <a:ext cx="7013419" cy="502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667" b="1" dirty="0">
                <a:solidFill>
                  <a:schemeClr val="bg1"/>
                </a:solidFill>
                <a:latin typeface="微软雅黑" pitchFamily="34" charset="-122"/>
                <a:ea typeface="微软雅黑" pitchFamily="34" charset="-122"/>
              </a:rPr>
              <a:t>流表结构</a:t>
            </a:r>
          </a:p>
        </p:txBody>
      </p:sp>
      <p:cxnSp>
        <p:nvCxnSpPr>
          <p:cNvPr id="16" name="直接箭头连接符 15"/>
          <p:cNvCxnSpPr/>
          <p:nvPr/>
        </p:nvCxnSpPr>
        <p:spPr>
          <a:xfrm flipV="1">
            <a:off x="1951627" y="4609601"/>
            <a:ext cx="3768179" cy="1944"/>
          </a:xfrm>
          <a:prstGeom prst="straightConnector1">
            <a:avLst/>
          </a:prstGeom>
          <a:ln w="19050">
            <a:solidFill>
              <a:srgbClr val="000066"/>
            </a:solidFill>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5727842" y="4609601"/>
            <a:ext cx="3590333" cy="7528"/>
          </a:xfrm>
          <a:prstGeom prst="straightConnector1">
            <a:avLst/>
          </a:prstGeom>
          <a:ln w="19050">
            <a:solidFill>
              <a:srgbClr val="C00000"/>
            </a:solidFill>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9311913" y="4609602"/>
            <a:ext cx="1902311" cy="2021"/>
          </a:xfrm>
          <a:prstGeom prst="straightConnector1">
            <a:avLst/>
          </a:prstGeom>
          <a:ln w="19050">
            <a:solidFill>
              <a:srgbClr val="660066"/>
            </a:solidFill>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977736" y="3551058"/>
            <a:ext cx="0" cy="7939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9" idx="3"/>
          </p:cNvCxnSpPr>
          <p:nvPr/>
        </p:nvCxnSpPr>
        <p:spPr>
          <a:xfrm>
            <a:off x="1985753" y="3940309"/>
            <a:ext cx="9212139" cy="7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12"/>
          <p:cNvSpPr txBox="1"/>
          <p:nvPr/>
        </p:nvSpPr>
        <p:spPr>
          <a:xfrm>
            <a:off x="2776344" y="3585726"/>
            <a:ext cx="8025274" cy="338554"/>
          </a:xfrm>
          <a:prstGeom prst="rect">
            <a:avLst/>
          </a:prstGeom>
          <a:noFill/>
        </p:spPr>
        <p:txBody>
          <a:bodyPr wrap="none" rtlCol="0">
            <a:spAutoFit/>
          </a:bodyPr>
          <a:lstStyle/>
          <a:p>
            <a:r>
              <a:rPr lang="zh-CN" altLang="en-US" sz="1600" b="1" dirty="0">
                <a:solidFill>
                  <a:srgbClr val="000066"/>
                </a:solidFill>
                <a:latin typeface="微软雅黑" panose="020B0503020204020204" pitchFamily="34" charset="-122"/>
                <a:ea typeface="微软雅黑" panose="020B0503020204020204" pitchFamily="34" charset="-122"/>
                <a:cs typeface="Times New Roman" pitchFamily="18" charset="0"/>
              </a:rPr>
              <a:t>以太网                     </a:t>
            </a:r>
            <a:r>
              <a:rPr lang="en-US" altLang="zh-CN" sz="1600" b="1" dirty="0">
                <a:solidFill>
                  <a:srgbClr val="000066"/>
                </a:solidFill>
                <a:latin typeface="微软雅黑" panose="020B0503020204020204" pitchFamily="34" charset="-122"/>
                <a:ea typeface="微软雅黑" panose="020B0503020204020204" pitchFamily="34" charset="-122"/>
                <a:cs typeface="Times New Roman" pitchFamily="18" charset="0"/>
              </a:rPr>
              <a:t>VLAN </a:t>
            </a:r>
            <a:r>
              <a:rPr lang="en-US" altLang="zh-CN" sz="1600" b="1" dirty="0">
                <a:latin typeface="微软雅黑" panose="020B0503020204020204" pitchFamily="34" charset="-122"/>
                <a:ea typeface="微软雅黑" panose="020B0503020204020204" pitchFamily="34" charset="-122"/>
                <a:cs typeface="Times New Roman" pitchFamily="18" charset="0"/>
              </a:rPr>
              <a:t>                                  </a:t>
            </a:r>
            <a:r>
              <a:rPr lang="en-US" altLang="zh-CN" sz="1600" b="1" dirty="0">
                <a:solidFill>
                  <a:srgbClr val="C00000"/>
                </a:solidFill>
                <a:latin typeface="微软雅黑" panose="020B0503020204020204" pitchFamily="34" charset="-122"/>
                <a:ea typeface="微软雅黑" panose="020B0503020204020204" pitchFamily="34" charset="-122"/>
                <a:cs typeface="Times New Roman" pitchFamily="18" charset="0"/>
              </a:rPr>
              <a:t>IP</a:t>
            </a:r>
            <a:r>
              <a:rPr lang="en-US" altLang="zh-CN" sz="1600" b="1" dirty="0">
                <a:latin typeface="微软雅黑" panose="020B0503020204020204" pitchFamily="34" charset="-122"/>
                <a:ea typeface="微软雅黑" panose="020B0503020204020204" pitchFamily="34" charset="-122"/>
                <a:cs typeface="Times New Roman" pitchFamily="18" charset="0"/>
              </a:rPr>
              <a:t>                                  </a:t>
            </a:r>
            <a:r>
              <a:rPr lang="en-US" altLang="zh-CN" sz="1600" b="1" dirty="0">
                <a:solidFill>
                  <a:srgbClr val="660066"/>
                </a:solidFill>
                <a:latin typeface="微软雅黑" panose="020B0503020204020204" pitchFamily="34" charset="-122"/>
                <a:ea typeface="微软雅黑" panose="020B0503020204020204" pitchFamily="34" charset="-122"/>
                <a:cs typeface="Times New Roman" pitchFamily="18" charset="0"/>
              </a:rPr>
              <a:t>TCP/UDP</a:t>
            </a:r>
            <a:endParaRPr lang="zh-CN" altLang="en-US" sz="1600" b="1" dirty="0">
              <a:solidFill>
                <a:srgbClr val="660066"/>
              </a:solidFill>
              <a:latin typeface="微软雅黑" panose="020B0503020204020204" pitchFamily="34" charset="-122"/>
              <a:ea typeface="微软雅黑" panose="020B0503020204020204" pitchFamily="34" charset="-122"/>
              <a:cs typeface="Times New Roman" pitchFamily="18" charset="0"/>
            </a:endParaRPr>
          </a:p>
        </p:txBody>
      </p:sp>
      <p:sp>
        <p:nvSpPr>
          <p:cNvPr id="23" name="TextBox 14"/>
          <p:cNvSpPr txBox="1"/>
          <p:nvPr/>
        </p:nvSpPr>
        <p:spPr>
          <a:xfrm>
            <a:off x="1138453" y="3779039"/>
            <a:ext cx="800219" cy="338554"/>
          </a:xfrm>
          <a:prstGeom prst="rect">
            <a:avLst/>
          </a:prstGeom>
          <a:no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cs typeface="Times New Roman" pitchFamily="18" charset="0"/>
              </a:rPr>
              <a:t>入端口</a:t>
            </a:r>
          </a:p>
        </p:txBody>
      </p:sp>
      <p:sp>
        <p:nvSpPr>
          <p:cNvPr id="24" name="TextBox 10"/>
          <p:cNvSpPr txBox="1"/>
          <p:nvPr/>
        </p:nvSpPr>
        <p:spPr>
          <a:xfrm>
            <a:off x="2000851" y="3977076"/>
            <a:ext cx="9235220" cy="338554"/>
          </a:xfrm>
          <a:prstGeom prst="rect">
            <a:avLst/>
          </a:prstGeom>
          <a:noFill/>
        </p:spPr>
        <p:txBody>
          <a:bodyPr wrap="none" rtlCol="0">
            <a:spAutoFit/>
          </a:bodyPr>
          <a:lstStyle/>
          <a:p>
            <a:r>
              <a:rPr lang="zh-CN" altLang="en-US" sz="1600" b="1" dirty="0">
                <a:solidFill>
                  <a:srgbClr val="000066"/>
                </a:solidFill>
                <a:latin typeface="微软雅黑" panose="020B0503020204020204" pitchFamily="34" charset="-122"/>
                <a:ea typeface="微软雅黑" panose="020B0503020204020204" pitchFamily="34" charset="-122"/>
                <a:cs typeface="Times New Roman" pitchFamily="18" charset="0"/>
              </a:rPr>
              <a:t>源地址   目的地址    类型   </a:t>
            </a:r>
            <a:r>
              <a:rPr lang="en-US" altLang="zh-CN" sz="1600" b="1" dirty="0">
                <a:solidFill>
                  <a:srgbClr val="000066"/>
                </a:solidFill>
                <a:latin typeface="微软雅黑" panose="020B0503020204020204" pitchFamily="34" charset="-122"/>
                <a:ea typeface="微软雅黑" panose="020B0503020204020204" pitchFamily="34" charset="-122"/>
                <a:cs typeface="Times New Roman" pitchFamily="18" charset="0"/>
              </a:rPr>
              <a:t>ID    </a:t>
            </a:r>
            <a:r>
              <a:rPr lang="zh-CN" altLang="en-US" sz="1600" b="1" dirty="0">
                <a:solidFill>
                  <a:srgbClr val="000066"/>
                </a:solidFill>
                <a:latin typeface="微软雅黑" panose="020B0503020204020204" pitchFamily="34" charset="-122"/>
                <a:ea typeface="微软雅黑" panose="020B0503020204020204" pitchFamily="34" charset="-122"/>
                <a:cs typeface="Times New Roman" pitchFamily="18" charset="0"/>
              </a:rPr>
              <a:t>优先级 </a:t>
            </a:r>
            <a:r>
              <a:rPr lang="zh-CN" altLang="en-US" sz="1600" b="1" dirty="0">
                <a:latin typeface="微软雅黑" panose="020B0503020204020204" pitchFamily="34" charset="-122"/>
                <a:ea typeface="微软雅黑" panose="020B0503020204020204" pitchFamily="34" charset="-122"/>
                <a:cs typeface="Times New Roman" pitchFamily="18" charset="0"/>
              </a:rPr>
              <a:t>   </a:t>
            </a:r>
            <a:r>
              <a:rPr lang="zh-CN" altLang="en-US" sz="1600" b="1" dirty="0">
                <a:solidFill>
                  <a:srgbClr val="C00000"/>
                </a:solidFill>
                <a:latin typeface="微软雅黑" panose="020B0503020204020204" pitchFamily="34" charset="-122"/>
                <a:ea typeface="微软雅黑" panose="020B0503020204020204" pitchFamily="34" charset="-122"/>
                <a:cs typeface="Times New Roman" pitchFamily="18" charset="0"/>
              </a:rPr>
              <a:t>源地址    目的地址    协议   服务类型</a:t>
            </a:r>
            <a:r>
              <a:rPr lang="zh-CN" altLang="en-US" sz="1600" b="1" dirty="0">
                <a:latin typeface="微软雅黑" panose="020B0503020204020204" pitchFamily="34" charset="-122"/>
                <a:ea typeface="微软雅黑" panose="020B0503020204020204" pitchFamily="34" charset="-122"/>
                <a:cs typeface="Times New Roman" pitchFamily="18" charset="0"/>
              </a:rPr>
              <a:t>    </a:t>
            </a:r>
            <a:r>
              <a:rPr lang="zh-CN" altLang="en-US" sz="1600" b="1" dirty="0">
                <a:solidFill>
                  <a:srgbClr val="660066"/>
                </a:solidFill>
                <a:latin typeface="微软雅黑" panose="020B0503020204020204" pitchFamily="34" charset="-122"/>
                <a:ea typeface="微软雅黑" panose="020B0503020204020204" pitchFamily="34" charset="-122"/>
                <a:cs typeface="Times New Roman" pitchFamily="18" charset="0"/>
              </a:rPr>
              <a:t>源端口    目的端口</a:t>
            </a:r>
          </a:p>
        </p:txBody>
      </p:sp>
      <p:cxnSp>
        <p:nvCxnSpPr>
          <p:cNvPr id="25" name="直接连接符 24"/>
          <p:cNvCxnSpPr/>
          <p:nvPr/>
        </p:nvCxnSpPr>
        <p:spPr>
          <a:xfrm>
            <a:off x="4493863" y="3551058"/>
            <a:ext cx="0" cy="7939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5716267" y="3562726"/>
            <a:ext cx="0" cy="7939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9319804" y="3547321"/>
            <a:ext cx="0" cy="7939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2786493" y="3928640"/>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0178749" y="3940982"/>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8270193" y="3946420"/>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3877237" y="3950259"/>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7677838" y="3942750"/>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6624163" y="3953020"/>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4904838" y="3932175"/>
            <a:ext cx="7551" cy="416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54"/>
          <p:cNvSpPr txBox="1"/>
          <p:nvPr/>
        </p:nvSpPr>
        <p:spPr>
          <a:xfrm>
            <a:off x="3434037" y="4416766"/>
            <a:ext cx="800219" cy="338554"/>
          </a:xfrm>
          <a:prstGeom prst="rect">
            <a:avLst/>
          </a:prstGeom>
          <a:solidFill>
            <a:srgbClr val="C3E3F9"/>
          </a:solid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cs typeface="Times New Roman" pitchFamily="18" charset="0"/>
              </a:rPr>
              <a:t>链路层</a:t>
            </a:r>
          </a:p>
        </p:txBody>
      </p:sp>
      <p:sp>
        <p:nvSpPr>
          <p:cNvPr id="36" name="TextBox 55"/>
          <p:cNvSpPr txBox="1"/>
          <p:nvPr/>
        </p:nvSpPr>
        <p:spPr>
          <a:xfrm>
            <a:off x="7071773" y="4416763"/>
            <a:ext cx="800219" cy="338554"/>
          </a:xfrm>
          <a:prstGeom prst="rect">
            <a:avLst/>
          </a:prstGeom>
          <a:solidFill>
            <a:srgbClr val="C3E3F9"/>
          </a:solid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cs typeface="Times New Roman" pitchFamily="18" charset="0"/>
              </a:rPr>
              <a:t>网络层</a:t>
            </a:r>
          </a:p>
        </p:txBody>
      </p:sp>
      <p:sp>
        <p:nvSpPr>
          <p:cNvPr id="37" name="TextBox 56"/>
          <p:cNvSpPr txBox="1"/>
          <p:nvPr/>
        </p:nvSpPr>
        <p:spPr>
          <a:xfrm>
            <a:off x="9758210" y="4416763"/>
            <a:ext cx="800219" cy="338554"/>
          </a:xfrm>
          <a:prstGeom prst="rect">
            <a:avLst/>
          </a:prstGeom>
          <a:solidFill>
            <a:srgbClr val="C3E3F9"/>
          </a:solid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cs typeface="Times New Roman" pitchFamily="18" charset="0"/>
              </a:rPr>
              <a:t>运输层</a:t>
            </a:r>
          </a:p>
        </p:txBody>
      </p:sp>
      <p:sp>
        <p:nvSpPr>
          <p:cNvPr id="38" name="TextBox 57"/>
          <p:cNvSpPr txBox="1"/>
          <p:nvPr/>
        </p:nvSpPr>
        <p:spPr>
          <a:xfrm>
            <a:off x="2931893" y="1474023"/>
            <a:ext cx="3638839" cy="1349793"/>
          </a:xfrm>
          <a:prstGeom prst="rect">
            <a:avLst/>
          </a:prstGeom>
          <a:noFill/>
        </p:spPr>
        <p:txBody>
          <a:bodyPr wrap="square" rtlCol="0">
            <a:spAutoFit/>
          </a:bodyPr>
          <a:lstStyle/>
          <a:p>
            <a:pPr>
              <a:lnSpc>
                <a:spcPts val="2267"/>
              </a:lnSpc>
              <a:spcAft>
                <a:spcPts val="800"/>
              </a:spcAft>
            </a:pPr>
            <a:r>
              <a:rPr lang="zh-CN" altLang="en-US" sz="1600" b="1" dirty="0">
                <a:latin typeface="微软雅黑" panose="020B0503020204020204" pitchFamily="34" charset="-122"/>
                <a:ea typeface="微软雅黑" panose="020B0503020204020204" pitchFamily="34" charset="-122"/>
                <a:cs typeface="Times New Roman" pitchFamily="18" charset="0"/>
              </a:rPr>
              <a:t>首部字段值        计数器           动作</a:t>
            </a: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nSpc>
                <a:spcPts val="2267"/>
              </a:lnSpc>
            </a:pPr>
            <a:r>
              <a:rPr lang="zh-CN" altLang="en-US" sz="1600" b="1" dirty="0">
                <a:latin typeface="微软雅黑" panose="020B0503020204020204" pitchFamily="34" charset="-122"/>
                <a:ea typeface="微软雅黑" panose="020B0503020204020204" pitchFamily="34" charset="-122"/>
                <a:cs typeface="Times New Roman" pitchFamily="18" charset="0"/>
              </a:rPr>
              <a:t>首部字段值        计数器           动作</a:t>
            </a: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nSpc>
                <a:spcPts val="2267"/>
              </a:lnSpc>
            </a:pP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nSpc>
                <a:spcPts val="2267"/>
              </a:lnSpc>
              <a:spcAft>
                <a:spcPts val="1600"/>
              </a:spcAft>
            </a:pPr>
            <a:r>
              <a:rPr lang="zh-CN" altLang="en-US" sz="1600" b="1" dirty="0">
                <a:latin typeface="微软雅黑" panose="020B0503020204020204" pitchFamily="34" charset="-122"/>
                <a:ea typeface="微软雅黑" panose="020B0503020204020204" pitchFamily="34" charset="-122"/>
                <a:cs typeface="Times New Roman" pitchFamily="18" charset="0"/>
              </a:rPr>
              <a:t>首部字段值        计数器           动作</a:t>
            </a:r>
            <a:endParaRPr lang="en-US" altLang="zh-CN" sz="1600" b="1" dirty="0">
              <a:latin typeface="微软雅黑" panose="020B0503020204020204" pitchFamily="34" charset="-122"/>
              <a:ea typeface="微软雅黑" panose="020B0503020204020204" pitchFamily="34" charset="-122"/>
              <a:cs typeface="Times New Roman" pitchFamily="18" charset="0"/>
            </a:endParaRPr>
          </a:p>
        </p:txBody>
      </p:sp>
      <p:grpSp>
        <p:nvGrpSpPr>
          <p:cNvPr id="40" name="组合 39"/>
          <p:cNvGrpSpPr/>
          <p:nvPr/>
        </p:nvGrpSpPr>
        <p:grpSpPr>
          <a:xfrm>
            <a:off x="2879660" y="1864002"/>
            <a:ext cx="3796581" cy="612180"/>
            <a:chOff x="3185906" y="1442434"/>
            <a:chExt cx="2405342" cy="499726"/>
          </a:xfrm>
        </p:grpSpPr>
        <p:cxnSp>
          <p:nvCxnSpPr>
            <p:cNvPr id="41" name="直接连接符 40"/>
            <p:cNvCxnSpPr/>
            <p:nvPr/>
          </p:nvCxnSpPr>
          <p:spPr>
            <a:xfrm>
              <a:off x="3214984" y="1442434"/>
              <a:ext cx="23762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3185906" y="1727714"/>
              <a:ext cx="23762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3204215" y="1942160"/>
              <a:ext cx="23762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 name="直接连接符 43"/>
          <p:cNvCxnSpPr/>
          <p:nvPr/>
        </p:nvCxnSpPr>
        <p:spPr>
          <a:xfrm>
            <a:off x="5508038" y="1469576"/>
            <a:ext cx="1" cy="13568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4298193" y="1466932"/>
            <a:ext cx="1" cy="13568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任意多边形 48"/>
          <p:cNvSpPr/>
          <p:nvPr/>
        </p:nvSpPr>
        <p:spPr>
          <a:xfrm>
            <a:off x="1170086" y="2835183"/>
            <a:ext cx="10034767" cy="714432"/>
          </a:xfrm>
          <a:custGeom>
            <a:avLst/>
            <a:gdLst>
              <a:gd name="connsiteX0" fmla="*/ 2182305 w 8041064"/>
              <a:gd name="connsiteY0" fmla="*/ 0 h 763571"/>
              <a:gd name="connsiteX1" fmla="*/ 3299382 w 8041064"/>
              <a:gd name="connsiteY1" fmla="*/ 0 h 763571"/>
              <a:gd name="connsiteX2" fmla="*/ 8041064 w 8041064"/>
              <a:gd name="connsiteY2" fmla="*/ 749431 h 763571"/>
              <a:gd name="connsiteX3" fmla="*/ 0 w 8041064"/>
              <a:gd name="connsiteY3" fmla="*/ 763571 h 763571"/>
              <a:gd name="connsiteX4" fmla="*/ 2182305 w 8041064"/>
              <a:gd name="connsiteY4" fmla="*/ 0 h 763571"/>
              <a:gd name="connsiteX0" fmla="*/ 1389122 w 8041064"/>
              <a:gd name="connsiteY0" fmla="*/ 0 h 776694"/>
              <a:gd name="connsiteX1" fmla="*/ 3299382 w 8041064"/>
              <a:gd name="connsiteY1" fmla="*/ 13123 h 776694"/>
              <a:gd name="connsiteX2" fmla="*/ 8041064 w 8041064"/>
              <a:gd name="connsiteY2" fmla="*/ 762554 h 776694"/>
              <a:gd name="connsiteX3" fmla="*/ 0 w 8041064"/>
              <a:gd name="connsiteY3" fmla="*/ 776694 h 776694"/>
              <a:gd name="connsiteX4" fmla="*/ 1389122 w 8041064"/>
              <a:gd name="connsiteY4" fmla="*/ 0 h 776694"/>
              <a:gd name="connsiteX0" fmla="*/ 1389122 w 8041064"/>
              <a:gd name="connsiteY0" fmla="*/ 0 h 776694"/>
              <a:gd name="connsiteX1" fmla="*/ 2535219 w 8041064"/>
              <a:gd name="connsiteY1" fmla="*/ 0 h 776694"/>
              <a:gd name="connsiteX2" fmla="*/ 8041064 w 8041064"/>
              <a:gd name="connsiteY2" fmla="*/ 762554 h 776694"/>
              <a:gd name="connsiteX3" fmla="*/ 0 w 8041064"/>
              <a:gd name="connsiteY3" fmla="*/ 776694 h 776694"/>
              <a:gd name="connsiteX4" fmla="*/ 1389122 w 8041064"/>
              <a:gd name="connsiteY4" fmla="*/ 0 h 776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1064" h="776694">
                <a:moveTo>
                  <a:pt x="1389122" y="0"/>
                </a:moveTo>
                <a:lnTo>
                  <a:pt x="2535219" y="0"/>
                </a:lnTo>
                <a:lnTo>
                  <a:pt x="8041064" y="762554"/>
                </a:lnTo>
                <a:lnTo>
                  <a:pt x="0" y="776694"/>
                </a:lnTo>
                <a:lnTo>
                  <a:pt x="1389122" y="0"/>
                </a:lnTo>
                <a:close/>
              </a:path>
            </a:pathLst>
          </a:cu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50" name="TextBox 77"/>
          <p:cNvSpPr txBox="1"/>
          <p:nvPr/>
        </p:nvSpPr>
        <p:spPr>
          <a:xfrm>
            <a:off x="1930011" y="1964833"/>
            <a:ext cx="732893" cy="420564"/>
          </a:xfrm>
          <a:prstGeom prst="rect">
            <a:avLst/>
          </a:prstGeom>
          <a:noFill/>
        </p:spPr>
        <p:txBody>
          <a:bodyPr wrap="none" rtlCol="0">
            <a:spAutoFit/>
          </a:bodyPr>
          <a:lstStyle/>
          <a:p>
            <a:r>
              <a:rPr lang="zh-CN" altLang="en-US" sz="2133" b="1" dirty="0">
                <a:latin typeface="微软雅黑" panose="020B0503020204020204" pitchFamily="34" charset="-122"/>
                <a:ea typeface="微软雅黑" panose="020B0503020204020204" pitchFamily="34" charset="-122"/>
                <a:cs typeface="Times New Roman" pitchFamily="18" charset="0"/>
              </a:rPr>
              <a:t>流表</a:t>
            </a:r>
          </a:p>
        </p:txBody>
      </p:sp>
      <p:sp>
        <p:nvSpPr>
          <p:cNvPr id="51" name="TextBox 78"/>
          <p:cNvSpPr txBox="1"/>
          <p:nvPr/>
        </p:nvSpPr>
        <p:spPr>
          <a:xfrm>
            <a:off x="456769" y="3581572"/>
            <a:ext cx="732893" cy="748795"/>
          </a:xfrm>
          <a:prstGeom prst="rect">
            <a:avLst/>
          </a:prstGeom>
          <a:noFill/>
        </p:spPr>
        <p:txBody>
          <a:bodyPr wrap="none" rtlCol="0">
            <a:spAutoFit/>
          </a:bodyPr>
          <a:lstStyle/>
          <a:p>
            <a:r>
              <a:rPr lang="zh-CN" altLang="en-US" sz="2133" b="1" dirty="0">
                <a:latin typeface="微软雅黑" panose="020B0503020204020204" pitchFamily="34" charset="-122"/>
                <a:ea typeface="微软雅黑" panose="020B0503020204020204" pitchFamily="34" charset="-122"/>
                <a:cs typeface="Times New Roman" pitchFamily="18" charset="0"/>
              </a:rPr>
              <a:t>匹配</a:t>
            </a:r>
            <a:endParaRPr lang="en-US" altLang="zh-CN" sz="2133" b="1" dirty="0">
              <a:latin typeface="微软雅黑" panose="020B0503020204020204" pitchFamily="34" charset="-122"/>
              <a:ea typeface="微软雅黑" panose="020B0503020204020204" pitchFamily="34" charset="-122"/>
              <a:cs typeface="Times New Roman" pitchFamily="18" charset="0"/>
            </a:endParaRPr>
          </a:p>
          <a:p>
            <a:r>
              <a:rPr lang="zh-CN" altLang="en-US" sz="2133" b="1" dirty="0">
                <a:latin typeface="微软雅黑" panose="020B0503020204020204" pitchFamily="34" charset="-122"/>
                <a:ea typeface="微软雅黑" panose="020B0503020204020204" pitchFamily="34" charset="-122"/>
                <a:cs typeface="Times New Roman" pitchFamily="18" charset="0"/>
              </a:rPr>
              <a:t>字段</a:t>
            </a:r>
          </a:p>
        </p:txBody>
      </p:sp>
      <p:sp>
        <p:nvSpPr>
          <p:cNvPr id="52" name="左大括号 51"/>
          <p:cNvSpPr/>
          <p:nvPr/>
        </p:nvSpPr>
        <p:spPr>
          <a:xfrm>
            <a:off x="2653115" y="1494049"/>
            <a:ext cx="179724" cy="1303952"/>
          </a:xfrm>
          <a:prstGeom prst="leftBrace">
            <a:avLst>
              <a:gd name="adj1" fmla="val 93733"/>
              <a:gd name="adj2" fmla="val 5185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39" name="矩形 38"/>
          <p:cNvSpPr/>
          <p:nvPr/>
        </p:nvSpPr>
        <p:spPr>
          <a:xfrm>
            <a:off x="2902051" y="1474821"/>
            <a:ext cx="3774191" cy="135946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19" name="矩形 18"/>
          <p:cNvSpPr/>
          <p:nvPr/>
        </p:nvSpPr>
        <p:spPr>
          <a:xfrm>
            <a:off x="1168982" y="3551058"/>
            <a:ext cx="10028911" cy="79390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a:xfrm>
            <a:off x="977776" y="4888853"/>
            <a:ext cx="10695160" cy="1329338"/>
          </a:xfrm>
          <a:prstGeom prst="rect">
            <a:avLst/>
          </a:prstGeom>
        </p:spPr>
        <p:txBody>
          <a:bodyPr wrap="square">
            <a:spAutoFit/>
          </a:bodyPr>
          <a:lstStyle/>
          <a:p>
            <a:pPr>
              <a:lnSpc>
                <a:spcPts val="3333"/>
              </a:lnSpc>
            </a:pPr>
            <a:r>
              <a:rPr lang="en-US" altLang="zh-CN" sz="2400" b="1" dirty="0">
                <a:solidFill>
                  <a:srgbClr val="000099"/>
                </a:solidFill>
                <a:latin typeface="微软雅黑" pitchFamily="34" charset="-122"/>
                <a:ea typeface="微软雅黑" pitchFamily="34" charset="-122"/>
              </a:rPr>
              <a:t>(3) </a:t>
            </a:r>
            <a:r>
              <a:rPr lang="zh-CN" altLang="en-US" sz="2400" b="1" dirty="0">
                <a:solidFill>
                  <a:srgbClr val="000099"/>
                </a:solidFill>
                <a:latin typeface="微软雅黑" pitchFamily="34" charset="-122"/>
                <a:ea typeface="微软雅黑" pitchFamily="34" charset="-122"/>
              </a:rPr>
              <a:t>动作：一组动作。当分组匹配某个流表项时，把分组</a:t>
            </a:r>
            <a:r>
              <a:rPr lang="zh-CN" altLang="en-US" sz="2400" b="1" dirty="0">
                <a:solidFill>
                  <a:srgbClr val="C00000"/>
                </a:solidFill>
                <a:latin typeface="微软雅黑" pitchFamily="34" charset="-122"/>
                <a:ea typeface="微软雅黑" pitchFamily="34" charset="-122"/>
              </a:rPr>
              <a:t>转发</a:t>
            </a:r>
            <a:r>
              <a:rPr lang="zh-CN" altLang="en-US" sz="2400" b="1" dirty="0">
                <a:solidFill>
                  <a:srgbClr val="000099"/>
                </a:solidFill>
                <a:latin typeface="微软雅黑" pitchFamily="34" charset="-122"/>
                <a:ea typeface="微软雅黑" pitchFamily="34" charset="-122"/>
              </a:rPr>
              <a:t>到指明的端口，或</a:t>
            </a:r>
            <a:r>
              <a:rPr lang="zh-CN" altLang="en-US" sz="2400" b="1" dirty="0">
                <a:solidFill>
                  <a:srgbClr val="C00000"/>
                </a:solidFill>
                <a:latin typeface="微软雅黑" pitchFamily="34" charset="-122"/>
                <a:ea typeface="微软雅黑" pitchFamily="34" charset="-122"/>
              </a:rPr>
              <a:t>丢弃</a:t>
            </a:r>
            <a:r>
              <a:rPr lang="zh-CN" altLang="en-US" sz="2400" b="1" dirty="0">
                <a:solidFill>
                  <a:srgbClr val="000099"/>
                </a:solidFill>
                <a:latin typeface="微软雅黑" pitchFamily="34" charset="-122"/>
                <a:ea typeface="微软雅黑" pitchFamily="34" charset="-122"/>
              </a:rPr>
              <a:t>该分组，或把分组进行</a:t>
            </a:r>
            <a:r>
              <a:rPr lang="zh-CN" altLang="en-US" sz="2400" b="1" dirty="0">
                <a:solidFill>
                  <a:srgbClr val="C00000"/>
                </a:solidFill>
                <a:latin typeface="微软雅黑" pitchFamily="34" charset="-122"/>
                <a:ea typeface="微软雅黑" pitchFamily="34" charset="-122"/>
              </a:rPr>
              <a:t>复制后</a:t>
            </a:r>
            <a:r>
              <a:rPr lang="zh-CN" altLang="en-US" sz="2400" b="1" dirty="0">
                <a:solidFill>
                  <a:srgbClr val="000099"/>
                </a:solidFill>
                <a:latin typeface="微软雅黑" pitchFamily="34" charset="-122"/>
                <a:ea typeface="微软雅黑" pitchFamily="34" charset="-122"/>
              </a:rPr>
              <a:t>再从多个</a:t>
            </a:r>
            <a:r>
              <a:rPr lang="zh-CN" altLang="en-US" sz="2400" b="1" dirty="0">
                <a:solidFill>
                  <a:srgbClr val="C00000"/>
                </a:solidFill>
                <a:latin typeface="微软雅黑" pitchFamily="34" charset="-122"/>
                <a:ea typeface="微软雅黑" pitchFamily="34" charset="-122"/>
              </a:rPr>
              <a:t>端口</a:t>
            </a:r>
            <a:r>
              <a:rPr lang="zh-CN" altLang="en-US" sz="2400" b="1" dirty="0">
                <a:solidFill>
                  <a:srgbClr val="000099"/>
                </a:solidFill>
                <a:latin typeface="微软雅黑" pitchFamily="34" charset="-122"/>
                <a:ea typeface="微软雅黑" pitchFamily="34" charset="-122"/>
              </a:rPr>
              <a:t>转发出去，或</a:t>
            </a:r>
            <a:r>
              <a:rPr lang="zh-CN" altLang="en-US" sz="2400" b="1" dirty="0">
                <a:solidFill>
                  <a:srgbClr val="C00000"/>
                </a:solidFill>
                <a:latin typeface="微软雅黑" pitchFamily="34" charset="-122"/>
                <a:ea typeface="微软雅黑" pitchFamily="34" charset="-122"/>
              </a:rPr>
              <a:t>重写</a:t>
            </a:r>
            <a:r>
              <a:rPr lang="zh-CN" altLang="en-US" sz="2400" b="1" dirty="0">
                <a:solidFill>
                  <a:srgbClr val="000099"/>
                </a:solidFill>
                <a:latin typeface="微软雅黑" pitchFamily="34" charset="-122"/>
                <a:ea typeface="微软雅黑" pitchFamily="34" charset="-122"/>
              </a:rPr>
              <a:t>分组的首部字段（第二、三和四层的首部字段）等。</a:t>
            </a:r>
          </a:p>
        </p:txBody>
      </p:sp>
      <p:sp>
        <p:nvSpPr>
          <p:cNvPr id="4" name="矩形 3"/>
          <p:cNvSpPr/>
          <p:nvPr/>
        </p:nvSpPr>
        <p:spPr>
          <a:xfrm>
            <a:off x="6978867" y="1459162"/>
            <a:ext cx="3333051" cy="1447769"/>
          </a:xfrm>
          <a:prstGeom prst="rect">
            <a:avLst/>
          </a:prstGeom>
          <a:solidFill>
            <a:schemeClr val="bg1"/>
          </a:solidFill>
        </p:spPr>
        <p:txBody>
          <a:bodyPr wrap="square">
            <a:spAutoFit/>
          </a:bodyPr>
          <a:lstStyle/>
          <a:p>
            <a:pPr>
              <a:lnSpc>
                <a:spcPts val="2667"/>
              </a:lnSpc>
            </a:pPr>
            <a:r>
              <a:rPr lang="zh-CN" altLang="zh-CN" sz="1867" b="1" kern="500" dirty="0">
                <a:latin typeface="微软雅黑" panose="020B0503020204020204" pitchFamily="34" charset="-122"/>
                <a:ea typeface="微软雅黑" panose="020B0503020204020204" pitchFamily="34" charset="-122"/>
                <a:cs typeface="Times New Roman" panose="02020603050405020304" pitchFamily="18" charset="0"/>
              </a:rPr>
              <a:t>三个字段</a:t>
            </a:r>
            <a:r>
              <a:rPr lang="zh-CN" altLang="en-US" sz="1867" b="1" kern="5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67" b="1" kern="500" dirty="0">
              <a:latin typeface="微软雅黑" panose="020B0503020204020204" pitchFamily="34" charset="-122"/>
              <a:ea typeface="微软雅黑" panose="020B0503020204020204" pitchFamily="34" charset="-122"/>
              <a:cs typeface="Times New Roman" panose="02020603050405020304" pitchFamily="18" charset="0"/>
            </a:endParaRPr>
          </a:p>
          <a:p>
            <a:pPr marL="380990" indent="-380990">
              <a:lnSpc>
                <a:spcPts val="2667"/>
              </a:lnSpc>
              <a:buFont typeface="Wingdings" panose="05000000000000000000" pitchFamily="2" charset="2"/>
              <a:buChar char="l"/>
            </a:pPr>
            <a:r>
              <a:rPr lang="zh-CN" altLang="zh-CN" sz="1867" b="1" kern="500" dirty="0">
                <a:latin typeface="微软雅黑" panose="020B0503020204020204" pitchFamily="34" charset="-122"/>
                <a:ea typeface="微软雅黑" panose="020B0503020204020204" pitchFamily="34" charset="-122"/>
                <a:cs typeface="Times New Roman" panose="02020603050405020304" pitchFamily="18" charset="0"/>
              </a:rPr>
              <a:t>首部字段值（匹配字段）</a:t>
            </a:r>
            <a:endParaRPr lang="en-US" altLang="zh-CN" sz="1867" b="1" kern="500" dirty="0">
              <a:latin typeface="微软雅黑" panose="020B0503020204020204" pitchFamily="34" charset="-122"/>
              <a:ea typeface="微软雅黑" panose="020B0503020204020204" pitchFamily="34" charset="-122"/>
              <a:cs typeface="Times New Roman" panose="02020603050405020304" pitchFamily="18" charset="0"/>
            </a:endParaRPr>
          </a:p>
          <a:p>
            <a:pPr marL="380990" indent="-380990">
              <a:lnSpc>
                <a:spcPts val="2667"/>
              </a:lnSpc>
              <a:buFont typeface="Wingdings" panose="05000000000000000000" pitchFamily="2" charset="2"/>
              <a:buChar char="l"/>
            </a:pPr>
            <a:r>
              <a:rPr lang="zh-CN" altLang="zh-CN" sz="1867" b="1" kern="500" dirty="0">
                <a:latin typeface="微软雅黑" panose="020B0503020204020204" pitchFamily="34" charset="-122"/>
                <a:ea typeface="微软雅黑" panose="020B0503020204020204" pitchFamily="34" charset="-122"/>
                <a:cs typeface="Times New Roman" panose="02020603050405020304" pitchFamily="18" charset="0"/>
              </a:rPr>
              <a:t>计数器</a:t>
            </a:r>
            <a:endParaRPr lang="en-US" altLang="zh-CN" sz="1867" b="1" kern="500" dirty="0">
              <a:latin typeface="微软雅黑" panose="020B0503020204020204" pitchFamily="34" charset="-122"/>
              <a:ea typeface="微软雅黑" panose="020B0503020204020204" pitchFamily="34" charset="-122"/>
              <a:cs typeface="Times New Roman" panose="02020603050405020304" pitchFamily="18" charset="0"/>
            </a:endParaRPr>
          </a:p>
          <a:p>
            <a:pPr marL="380990" indent="-380990">
              <a:lnSpc>
                <a:spcPts val="2667"/>
              </a:lnSpc>
              <a:buFont typeface="Wingdings" panose="05000000000000000000" pitchFamily="2" charset="2"/>
              <a:buChar char="l"/>
            </a:pPr>
            <a:r>
              <a:rPr lang="zh-CN" altLang="zh-CN" sz="1867" b="1" kern="500" dirty="0">
                <a:latin typeface="微软雅黑" panose="020B0503020204020204" pitchFamily="34" charset="-122"/>
                <a:ea typeface="微软雅黑" panose="020B0503020204020204" pitchFamily="34" charset="-122"/>
                <a:cs typeface="Times New Roman" panose="02020603050405020304" pitchFamily="18" charset="0"/>
              </a:rPr>
              <a:t>动作</a:t>
            </a:r>
            <a:endParaRPr lang="zh-CN" altLang="en-US" sz="1867" b="1" dirty="0">
              <a:latin typeface="微软雅黑" panose="020B0503020204020204" pitchFamily="34" charset="-122"/>
              <a:ea typeface="微软雅黑" panose="020B0503020204020204" pitchFamily="34" charset="-122"/>
            </a:endParaRPr>
          </a:p>
        </p:txBody>
      </p:sp>
      <p:sp>
        <p:nvSpPr>
          <p:cNvPr id="55" name="文本框 54"/>
          <p:cNvSpPr txBox="1"/>
          <p:nvPr/>
        </p:nvSpPr>
        <p:spPr>
          <a:xfrm>
            <a:off x="3301857" y="2124996"/>
            <a:ext cx="688739" cy="338554"/>
          </a:xfrm>
          <a:prstGeom prst="rect">
            <a:avLst/>
          </a:prstGeom>
          <a:noFill/>
        </p:spPr>
        <p:txBody>
          <a:bodyPr wrap="square" rtlCol="0">
            <a:spAutoFit/>
          </a:bodyPr>
          <a:lstStyle/>
          <a:p>
            <a:r>
              <a:rPr lang="en-US" altLang="zh-CN" sz="1600" b="1" dirty="0">
                <a:latin typeface="微软雅黑" panose="020B0503020204020204" pitchFamily="34" charset="-122"/>
                <a:ea typeface="微软雅黑" panose="020B0503020204020204" pitchFamily="34" charset="-122"/>
              </a:rPr>
              <a:t>. . . </a:t>
            </a:r>
            <a:endParaRPr lang="zh-CN" altLang="en-US" sz="1600" b="1" dirty="0">
              <a:latin typeface="微软雅黑" panose="020B0503020204020204" pitchFamily="34" charset="-122"/>
              <a:ea typeface="微软雅黑" panose="020B0503020204020204" pitchFamily="34" charset="-122"/>
            </a:endParaRPr>
          </a:p>
        </p:txBody>
      </p:sp>
      <p:sp>
        <p:nvSpPr>
          <p:cNvPr id="56" name="文本框 55"/>
          <p:cNvSpPr txBox="1"/>
          <p:nvPr/>
        </p:nvSpPr>
        <p:spPr>
          <a:xfrm>
            <a:off x="4594072" y="2124996"/>
            <a:ext cx="688739" cy="338554"/>
          </a:xfrm>
          <a:prstGeom prst="rect">
            <a:avLst/>
          </a:prstGeom>
          <a:noFill/>
        </p:spPr>
        <p:txBody>
          <a:bodyPr wrap="square" rtlCol="0">
            <a:spAutoFit/>
          </a:bodyPr>
          <a:lstStyle/>
          <a:p>
            <a:r>
              <a:rPr lang="en-US" altLang="zh-CN" sz="1600" b="1" dirty="0">
                <a:latin typeface="微软雅黑" panose="020B0503020204020204" pitchFamily="34" charset="-122"/>
                <a:ea typeface="微软雅黑" panose="020B0503020204020204" pitchFamily="34" charset="-122"/>
              </a:rPr>
              <a:t>. . . </a:t>
            </a:r>
            <a:endParaRPr lang="zh-CN" altLang="en-US" sz="1600" b="1" dirty="0">
              <a:latin typeface="微软雅黑" panose="020B0503020204020204" pitchFamily="34" charset="-122"/>
              <a:ea typeface="微软雅黑" panose="020B0503020204020204" pitchFamily="34" charset="-122"/>
            </a:endParaRPr>
          </a:p>
        </p:txBody>
      </p:sp>
      <p:sp>
        <p:nvSpPr>
          <p:cNvPr id="57" name="文本框 56"/>
          <p:cNvSpPr txBox="1"/>
          <p:nvPr/>
        </p:nvSpPr>
        <p:spPr>
          <a:xfrm>
            <a:off x="5751036" y="2124996"/>
            <a:ext cx="688739" cy="338554"/>
          </a:xfrm>
          <a:prstGeom prst="rect">
            <a:avLst/>
          </a:prstGeom>
          <a:noFill/>
        </p:spPr>
        <p:txBody>
          <a:bodyPr wrap="square" rtlCol="0">
            <a:spAutoFit/>
          </a:bodyPr>
          <a:lstStyle/>
          <a:p>
            <a:r>
              <a:rPr lang="en-US" altLang="zh-CN" sz="1600" b="1" dirty="0">
                <a:latin typeface="微软雅黑" panose="020B0503020204020204" pitchFamily="34" charset="-122"/>
                <a:ea typeface="微软雅黑" panose="020B0503020204020204" pitchFamily="34" charset="-122"/>
              </a:rPr>
              <a:t>. . . </a:t>
            </a: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224937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圆角矩形 64"/>
          <p:cNvSpPr/>
          <p:nvPr/>
        </p:nvSpPr>
        <p:spPr>
          <a:xfrm>
            <a:off x="726860" y="1296395"/>
            <a:ext cx="10738281" cy="443746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7" name="AutoShape 5"/>
          <p:cNvSpPr>
            <a:spLocks noChangeArrowheads="1"/>
          </p:cNvSpPr>
          <p:nvPr/>
        </p:nvSpPr>
        <p:spPr bwMode="auto">
          <a:xfrm>
            <a:off x="726859" y="821297"/>
            <a:ext cx="10738283" cy="41191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8" name="矩形 7"/>
          <p:cNvSpPr/>
          <p:nvPr/>
        </p:nvSpPr>
        <p:spPr>
          <a:xfrm>
            <a:off x="821447" y="742939"/>
            <a:ext cx="867545" cy="502766"/>
          </a:xfrm>
          <a:prstGeom prst="rect">
            <a:avLst/>
          </a:prstGeom>
        </p:spPr>
        <p:txBody>
          <a:bodyPr wrap="none">
            <a:spAutoFit/>
          </a:bodyPr>
          <a:lstStyle/>
          <a:p>
            <a:r>
              <a:rPr lang="zh-CN" altLang="en-US" sz="2667" b="1" dirty="0">
                <a:latin typeface="微软雅黑" pitchFamily="34" charset="-122"/>
                <a:ea typeface="微软雅黑" pitchFamily="34" charset="-122"/>
              </a:rPr>
              <a:t>例子</a:t>
            </a:r>
          </a:p>
        </p:txBody>
      </p:sp>
      <p:sp>
        <p:nvSpPr>
          <p:cNvPr id="9" name="Line 23"/>
          <p:cNvSpPr>
            <a:spLocks noChangeShapeType="1"/>
          </p:cNvSpPr>
          <p:nvPr/>
        </p:nvSpPr>
        <p:spPr bwMode="auto">
          <a:xfrm flipV="1">
            <a:off x="3225449" y="3575552"/>
            <a:ext cx="1217083" cy="8673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67" b="1">
              <a:latin typeface="微软雅黑" panose="020B0503020204020204" pitchFamily="34" charset="-122"/>
              <a:ea typeface="微软雅黑" panose="020B0503020204020204" pitchFamily="34" charset="-122"/>
            </a:endParaRPr>
          </a:p>
        </p:txBody>
      </p:sp>
      <p:sp>
        <p:nvSpPr>
          <p:cNvPr id="11" name="Line 25"/>
          <p:cNvSpPr>
            <a:spLocks noChangeShapeType="1"/>
          </p:cNvSpPr>
          <p:nvPr/>
        </p:nvSpPr>
        <p:spPr bwMode="auto">
          <a:xfrm flipV="1">
            <a:off x="4802365" y="3469101"/>
            <a:ext cx="1841500" cy="592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67" b="1">
              <a:latin typeface="微软雅黑" panose="020B0503020204020204" pitchFamily="34" charset="-122"/>
              <a:ea typeface="微软雅黑" panose="020B0503020204020204" pitchFamily="34" charset="-122"/>
            </a:endParaRPr>
          </a:p>
        </p:txBody>
      </p:sp>
      <p:sp>
        <p:nvSpPr>
          <p:cNvPr id="12" name="Line 26"/>
          <p:cNvSpPr>
            <a:spLocks noChangeShapeType="1"/>
          </p:cNvSpPr>
          <p:nvPr/>
        </p:nvSpPr>
        <p:spPr bwMode="auto">
          <a:xfrm flipV="1">
            <a:off x="6950781" y="3177002"/>
            <a:ext cx="1242483" cy="3280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67" b="1">
              <a:latin typeface="微软雅黑" panose="020B0503020204020204" pitchFamily="34" charset="-122"/>
              <a:ea typeface="微软雅黑" panose="020B0503020204020204" pitchFamily="34" charset="-122"/>
            </a:endParaRPr>
          </a:p>
        </p:txBody>
      </p:sp>
      <p:sp>
        <p:nvSpPr>
          <p:cNvPr id="13" name="Line 27"/>
          <p:cNvSpPr>
            <a:spLocks noChangeShapeType="1"/>
          </p:cNvSpPr>
          <p:nvPr/>
        </p:nvSpPr>
        <p:spPr bwMode="auto">
          <a:xfrm>
            <a:off x="4611865" y="3596101"/>
            <a:ext cx="1155700" cy="863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67" b="1">
              <a:latin typeface="微软雅黑" panose="020B0503020204020204" pitchFamily="34" charset="-122"/>
              <a:ea typeface="微软雅黑" panose="020B0503020204020204" pitchFamily="34" charset="-122"/>
            </a:endParaRPr>
          </a:p>
        </p:txBody>
      </p:sp>
      <p:sp>
        <p:nvSpPr>
          <p:cNvPr id="14" name="Line 30"/>
          <p:cNvSpPr>
            <a:spLocks noChangeShapeType="1"/>
          </p:cNvSpPr>
          <p:nvPr/>
        </p:nvSpPr>
        <p:spPr bwMode="auto">
          <a:xfrm flipV="1">
            <a:off x="5966531" y="3634201"/>
            <a:ext cx="829733" cy="7704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67" b="1">
              <a:latin typeface="微软雅黑" panose="020B0503020204020204" pitchFamily="34" charset="-122"/>
              <a:ea typeface="微软雅黑" panose="020B0503020204020204" pitchFamily="34" charset="-122"/>
            </a:endParaRPr>
          </a:p>
        </p:txBody>
      </p:sp>
      <p:sp>
        <p:nvSpPr>
          <p:cNvPr id="16" name="Text Box 69"/>
          <p:cNvSpPr txBox="1">
            <a:spLocks noChangeArrowheads="1"/>
          </p:cNvSpPr>
          <p:nvPr/>
        </p:nvSpPr>
        <p:spPr bwMode="auto">
          <a:xfrm>
            <a:off x="4494132" y="1289351"/>
            <a:ext cx="2476960"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133" b="1" dirty="0" err="1">
                <a:latin typeface="微软雅黑" panose="020B0503020204020204" pitchFamily="34" charset="-122"/>
                <a:ea typeface="微软雅黑" panose="020B0503020204020204" pitchFamily="34" charset="-122"/>
              </a:rPr>
              <a:t>OpenFlow</a:t>
            </a:r>
            <a:r>
              <a:rPr lang="en-US" altLang="zh-CN" sz="2133" b="1" dirty="0">
                <a:latin typeface="微软雅黑" panose="020B0503020204020204" pitchFamily="34" charset="-122"/>
                <a:ea typeface="微软雅黑" panose="020B0503020204020204" pitchFamily="34" charset="-122"/>
              </a:rPr>
              <a:t> </a:t>
            </a:r>
            <a:r>
              <a:rPr lang="zh-CN" altLang="en-US" sz="2133" b="1" dirty="0">
                <a:latin typeface="微软雅黑" panose="020B0503020204020204" pitchFamily="34" charset="-122"/>
                <a:ea typeface="微软雅黑" panose="020B0503020204020204" pitchFamily="34" charset="-122"/>
              </a:rPr>
              <a:t>控制器</a:t>
            </a:r>
            <a:endParaRPr lang="en-US" altLang="zh-CN" sz="2133" b="1" baseline="-25000" dirty="0">
              <a:latin typeface="微软雅黑" panose="020B0503020204020204" pitchFamily="34" charset="-122"/>
              <a:ea typeface="微软雅黑" panose="020B0503020204020204" pitchFamily="34" charset="-122"/>
            </a:endParaRPr>
          </a:p>
        </p:txBody>
      </p:sp>
      <p:sp>
        <p:nvSpPr>
          <p:cNvPr id="17" name="Text Box 65"/>
          <p:cNvSpPr txBox="1">
            <a:spLocks noChangeArrowheads="1"/>
          </p:cNvSpPr>
          <p:nvPr/>
        </p:nvSpPr>
        <p:spPr bwMode="auto">
          <a:xfrm>
            <a:off x="5723115" y="3913601"/>
            <a:ext cx="426720"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dirty="0">
                <a:solidFill>
                  <a:srgbClr val="000099"/>
                </a:solidFill>
                <a:latin typeface="微软雅黑" panose="020B0503020204020204" pitchFamily="34" charset="-122"/>
                <a:ea typeface="微软雅黑" panose="020B0503020204020204" pitchFamily="34" charset="-122"/>
              </a:rPr>
              <a:t>S</a:t>
            </a:r>
            <a:r>
              <a:rPr lang="en-US" altLang="zh-CN" sz="1867" b="1" baseline="-25000" dirty="0">
                <a:solidFill>
                  <a:srgbClr val="000099"/>
                </a:solidFill>
                <a:latin typeface="微软雅黑" panose="020B0503020204020204" pitchFamily="34" charset="-122"/>
                <a:ea typeface="微软雅黑" panose="020B0503020204020204" pitchFamily="34" charset="-122"/>
              </a:rPr>
              <a:t>1</a:t>
            </a:r>
          </a:p>
        </p:txBody>
      </p:sp>
      <p:sp>
        <p:nvSpPr>
          <p:cNvPr id="18" name="Text Box 65"/>
          <p:cNvSpPr txBox="1">
            <a:spLocks noChangeArrowheads="1"/>
          </p:cNvSpPr>
          <p:nvPr/>
        </p:nvSpPr>
        <p:spPr bwMode="auto">
          <a:xfrm>
            <a:off x="4379031" y="2952635"/>
            <a:ext cx="426720"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dirty="0">
                <a:solidFill>
                  <a:srgbClr val="000099"/>
                </a:solidFill>
                <a:latin typeface="微软雅黑" panose="020B0503020204020204" pitchFamily="34" charset="-122"/>
                <a:ea typeface="微软雅黑" panose="020B0503020204020204" pitchFamily="34" charset="-122"/>
              </a:rPr>
              <a:t>S</a:t>
            </a:r>
            <a:r>
              <a:rPr lang="en-US" altLang="zh-CN" sz="1867" b="1" baseline="-25000" dirty="0">
                <a:solidFill>
                  <a:srgbClr val="000099"/>
                </a:solidFill>
                <a:latin typeface="微软雅黑" panose="020B0503020204020204" pitchFamily="34" charset="-122"/>
                <a:ea typeface="微软雅黑" panose="020B0503020204020204" pitchFamily="34" charset="-122"/>
              </a:rPr>
              <a:t>3</a:t>
            </a:r>
          </a:p>
        </p:txBody>
      </p:sp>
      <p:sp>
        <p:nvSpPr>
          <p:cNvPr id="19" name="Text Box 65"/>
          <p:cNvSpPr txBox="1">
            <a:spLocks noChangeArrowheads="1"/>
          </p:cNvSpPr>
          <p:nvPr/>
        </p:nvSpPr>
        <p:spPr bwMode="auto">
          <a:xfrm>
            <a:off x="6586715" y="2952635"/>
            <a:ext cx="426720"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a:solidFill>
                  <a:srgbClr val="000099"/>
                </a:solidFill>
                <a:latin typeface="微软雅黑" panose="020B0503020204020204" pitchFamily="34" charset="-122"/>
                <a:ea typeface="微软雅黑" panose="020B0503020204020204" pitchFamily="34" charset="-122"/>
              </a:rPr>
              <a:t>S</a:t>
            </a:r>
            <a:r>
              <a:rPr lang="en-US" altLang="zh-CN" sz="1867" b="1" baseline="-25000">
                <a:solidFill>
                  <a:srgbClr val="000099"/>
                </a:solidFill>
                <a:latin typeface="微软雅黑" panose="020B0503020204020204" pitchFamily="34" charset="-122"/>
                <a:ea typeface="微软雅黑" panose="020B0503020204020204" pitchFamily="34" charset="-122"/>
              </a:rPr>
              <a:t>2</a:t>
            </a:r>
          </a:p>
        </p:txBody>
      </p:sp>
      <p:grpSp>
        <p:nvGrpSpPr>
          <p:cNvPr id="20" name="组合 89"/>
          <p:cNvGrpSpPr>
            <a:grpSpLocks/>
          </p:cNvGrpSpPr>
          <p:nvPr/>
        </p:nvGrpSpPr>
        <p:grpSpPr bwMode="auto">
          <a:xfrm>
            <a:off x="7835544" y="2906182"/>
            <a:ext cx="766233" cy="768351"/>
            <a:chOff x="5220072" y="3356992"/>
            <a:chExt cx="576064" cy="576064"/>
          </a:xfrm>
        </p:grpSpPr>
        <p:pic>
          <p:nvPicPr>
            <p:cNvPr id="21"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67"/>
            <p:cNvSpPr txBox="1">
              <a:spLocks noChangeArrowheads="1"/>
            </p:cNvSpPr>
            <p:nvPr/>
          </p:nvSpPr>
          <p:spPr bwMode="auto">
            <a:xfrm>
              <a:off x="5316116" y="3356992"/>
              <a:ext cx="360583" cy="28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a:latin typeface="微软雅黑" panose="020B0503020204020204" pitchFamily="34" charset="-122"/>
                  <a:ea typeface="微软雅黑" panose="020B0503020204020204" pitchFamily="34" charset="-122"/>
                </a:rPr>
                <a:t>H</a:t>
              </a:r>
              <a:r>
                <a:rPr lang="en-US" altLang="zh-CN" sz="1867" b="1" baseline="-25000">
                  <a:latin typeface="微软雅黑" panose="020B0503020204020204" pitchFamily="34" charset="-122"/>
                  <a:ea typeface="微软雅黑" panose="020B0503020204020204" pitchFamily="34" charset="-122"/>
                </a:rPr>
                <a:t>4</a:t>
              </a:r>
            </a:p>
          </p:txBody>
        </p:sp>
      </p:grpSp>
      <p:sp>
        <p:nvSpPr>
          <p:cNvPr id="23" name="Text Box 69"/>
          <p:cNvSpPr txBox="1">
            <a:spLocks noChangeArrowheads="1"/>
          </p:cNvSpPr>
          <p:nvPr/>
        </p:nvSpPr>
        <p:spPr bwMode="auto">
          <a:xfrm>
            <a:off x="8411282" y="3001432"/>
            <a:ext cx="1128835"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a:latin typeface="微软雅黑" panose="020B0503020204020204" pitchFamily="34" charset="-122"/>
                <a:ea typeface="微软雅黑" panose="020B0503020204020204" pitchFamily="34" charset="-122"/>
              </a:rPr>
              <a:t>10.2.0.4</a:t>
            </a:r>
            <a:endParaRPr lang="en-US" altLang="zh-CN" sz="1867" b="1" baseline="-25000">
              <a:latin typeface="微软雅黑" panose="020B0503020204020204" pitchFamily="34" charset="-122"/>
              <a:ea typeface="微软雅黑" panose="020B0503020204020204" pitchFamily="34" charset="-122"/>
            </a:endParaRPr>
          </a:p>
        </p:txBody>
      </p:sp>
      <p:sp>
        <p:nvSpPr>
          <p:cNvPr id="24" name="Text Box 69"/>
          <p:cNvSpPr txBox="1">
            <a:spLocks noChangeArrowheads="1"/>
          </p:cNvSpPr>
          <p:nvPr/>
        </p:nvSpPr>
        <p:spPr bwMode="auto">
          <a:xfrm>
            <a:off x="8411282" y="4155015"/>
            <a:ext cx="1128835"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a:latin typeface="微软雅黑" panose="020B0503020204020204" pitchFamily="34" charset="-122"/>
                <a:ea typeface="微软雅黑" panose="020B0503020204020204" pitchFamily="34" charset="-122"/>
              </a:rPr>
              <a:t>10.2.0.3</a:t>
            </a:r>
            <a:endParaRPr lang="en-US" altLang="zh-CN" sz="1867" b="1" baseline="-25000">
              <a:latin typeface="微软雅黑" panose="020B0503020204020204" pitchFamily="34" charset="-122"/>
              <a:ea typeface="微软雅黑" panose="020B0503020204020204" pitchFamily="34" charset="-122"/>
            </a:endParaRPr>
          </a:p>
        </p:txBody>
      </p:sp>
      <p:sp>
        <p:nvSpPr>
          <p:cNvPr id="25" name="Text Box 69"/>
          <p:cNvSpPr txBox="1">
            <a:spLocks noChangeArrowheads="1"/>
          </p:cNvSpPr>
          <p:nvPr/>
        </p:nvSpPr>
        <p:spPr bwMode="auto">
          <a:xfrm>
            <a:off x="3477104" y="4872452"/>
            <a:ext cx="1128835"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dirty="0">
                <a:latin typeface="微软雅黑" panose="020B0503020204020204" pitchFamily="34" charset="-122"/>
                <a:ea typeface="微软雅黑" panose="020B0503020204020204" pitchFamily="34" charset="-122"/>
              </a:rPr>
              <a:t>10.1.0.1</a:t>
            </a:r>
            <a:endParaRPr lang="en-US" altLang="zh-CN" sz="1867" b="1" baseline="-25000" dirty="0">
              <a:latin typeface="微软雅黑" panose="020B0503020204020204" pitchFamily="34" charset="-122"/>
              <a:ea typeface="微软雅黑" panose="020B0503020204020204" pitchFamily="34" charset="-122"/>
            </a:endParaRPr>
          </a:p>
        </p:txBody>
      </p:sp>
      <p:sp>
        <p:nvSpPr>
          <p:cNvPr id="26" name="Text Box 69"/>
          <p:cNvSpPr txBox="1">
            <a:spLocks noChangeArrowheads="1"/>
          </p:cNvSpPr>
          <p:nvPr/>
        </p:nvSpPr>
        <p:spPr bwMode="auto">
          <a:xfrm>
            <a:off x="7246429" y="4872452"/>
            <a:ext cx="1128835"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dirty="0">
                <a:latin typeface="微软雅黑" panose="020B0503020204020204" pitchFamily="34" charset="-122"/>
                <a:ea typeface="微软雅黑" panose="020B0503020204020204" pitchFamily="34" charset="-122"/>
              </a:rPr>
              <a:t>10.1.0.2</a:t>
            </a:r>
            <a:endParaRPr lang="en-US" altLang="zh-CN" sz="1867" b="1" baseline="-25000" dirty="0">
              <a:latin typeface="微软雅黑" panose="020B0503020204020204" pitchFamily="34" charset="-122"/>
              <a:ea typeface="微软雅黑" panose="020B0503020204020204" pitchFamily="34" charset="-122"/>
            </a:endParaRPr>
          </a:p>
        </p:txBody>
      </p:sp>
      <p:sp>
        <p:nvSpPr>
          <p:cNvPr id="27" name="Text Box 69"/>
          <p:cNvSpPr txBox="1">
            <a:spLocks noChangeArrowheads="1"/>
          </p:cNvSpPr>
          <p:nvPr/>
        </p:nvSpPr>
        <p:spPr bwMode="auto">
          <a:xfrm>
            <a:off x="1754365" y="3966632"/>
            <a:ext cx="1128835"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a:latin typeface="微软雅黑" panose="020B0503020204020204" pitchFamily="34" charset="-122"/>
                <a:ea typeface="微软雅黑" panose="020B0503020204020204" pitchFamily="34" charset="-122"/>
              </a:rPr>
              <a:t>10.3.0.5</a:t>
            </a:r>
            <a:endParaRPr lang="en-US" altLang="zh-CN" sz="1867" b="1" baseline="-25000">
              <a:latin typeface="微软雅黑" panose="020B0503020204020204" pitchFamily="34" charset="-122"/>
              <a:ea typeface="微软雅黑" panose="020B0503020204020204" pitchFamily="34" charset="-122"/>
            </a:endParaRPr>
          </a:p>
        </p:txBody>
      </p:sp>
      <p:sp>
        <p:nvSpPr>
          <p:cNvPr id="28" name="Text Box 69"/>
          <p:cNvSpPr txBox="1">
            <a:spLocks noChangeArrowheads="1"/>
          </p:cNvSpPr>
          <p:nvPr/>
        </p:nvSpPr>
        <p:spPr bwMode="auto">
          <a:xfrm>
            <a:off x="1743782" y="2982381"/>
            <a:ext cx="1128835"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a:latin typeface="微软雅黑" panose="020B0503020204020204" pitchFamily="34" charset="-122"/>
                <a:ea typeface="微软雅黑" panose="020B0503020204020204" pitchFamily="34" charset="-122"/>
              </a:rPr>
              <a:t>10.3.0.6</a:t>
            </a:r>
            <a:endParaRPr lang="en-US" altLang="zh-CN" sz="1867" b="1" baseline="-25000">
              <a:latin typeface="微软雅黑" panose="020B0503020204020204" pitchFamily="34" charset="-122"/>
              <a:ea typeface="微软雅黑" panose="020B0503020204020204" pitchFamily="34" charset="-122"/>
            </a:endParaRPr>
          </a:p>
        </p:txBody>
      </p:sp>
      <p:sp>
        <p:nvSpPr>
          <p:cNvPr id="29" name="Line 23"/>
          <p:cNvSpPr>
            <a:spLocks noChangeShapeType="1"/>
          </p:cNvSpPr>
          <p:nvPr/>
        </p:nvSpPr>
        <p:spPr bwMode="auto">
          <a:xfrm>
            <a:off x="3225448" y="3386666"/>
            <a:ext cx="1256027" cy="1400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67" b="1">
              <a:latin typeface="微软雅黑" panose="020B0503020204020204" pitchFamily="34" charset="-122"/>
              <a:ea typeface="微软雅黑" panose="020B0503020204020204" pitchFamily="34" charset="-122"/>
            </a:endParaRPr>
          </a:p>
        </p:txBody>
      </p:sp>
      <p:sp>
        <p:nvSpPr>
          <p:cNvPr id="30" name="Line 26"/>
          <p:cNvSpPr>
            <a:spLocks noChangeShapeType="1"/>
          </p:cNvSpPr>
          <p:nvPr/>
        </p:nvSpPr>
        <p:spPr bwMode="auto">
          <a:xfrm>
            <a:off x="6969832" y="3528368"/>
            <a:ext cx="1248833" cy="5757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67" b="1">
              <a:latin typeface="微软雅黑" panose="020B0503020204020204" pitchFamily="34" charset="-122"/>
              <a:ea typeface="微软雅黑" panose="020B0503020204020204" pitchFamily="34" charset="-122"/>
            </a:endParaRPr>
          </a:p>
        </p:txBody>
      </p:sp>
      <p:sp>
        <p:nvSpPr>
          <p:cNvPr id="31" name="Line 26"/>
          <p:cNvSpPr>
            <a:spLocks noChangeShapeType="1"/>
          </p:cNvSpPr>
          <p:nvPr/>
        </p:nvSpPr>
        <p:spPr bwMode="auto">
          <a:xfrm>
            <a:off x="5818365" y="4489335"/>
            <a:ext cx="1248833" cy="5757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67" b="1">
              <a:latin typeface="微软雅黑" panose="020B0503020204020204" pitchFamily="34" charset="-122"/>
              <a:ea typeface="微软雅黑" panose="020B0503020204020204" pitchFamily="34" charset="-122"/>
            </a:endParaRPr>
          </a:p>
        </p:txBody>
      </p:sp>
      <p:sp>
        <p:nvSpPr>
          <p:cNvPr id="32" name="Line 26"/>
          <p:cNvSpPr>
            <a:spLocks noChangeShapeType="1"/>
          </p:cNvSpPr>
          <p:nvPr/>
        </p:nvSpPr>
        <p:spPr bwMode="auto">
          <a:xfrm flipH="1">
            <a:off x="4954765" y="4489335"/>
            <a:ext cx="768351" cy="4804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67" b="1">
              <a:latin typeface="微软雅黑" panose="020B0503020204020204" pitchFamily="34" charset="-122"/>
              <a:ea typeface="微软雅黑" panose="020B0503020204020204" pitchFamily="34" charset="-122"/>
            </a:endParaRPr>
          </a:p>
        </p:txBody>
      </p:sp>
      <p:grpSp>
        <p:nvGrpSpPr>
          <p:cNvPr id="33" name="组合 76"/>
          <p:cNvGrpSpPr>
            <a:grpSpLocks/>
          </p:cNvGrpSpPr>
          <p:nvPr/>
        </p:nvGrpSpPr>
        <p:grpSpPr bwMode="auto">
          <a:xfrm>
            <a:off x="6681965" y="4777202"/>
            <a:ext cx="768351" cy="768351"/>
            <a:chOff x="5220072" y="3356992"/>
            <a:chExt cx="576064" cy="576064"/>
          </a:xfrm>
        </p:grpSpPr>
        <p:pic>
          <p:nvPicPr>
            <p:cNvPr id="34"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Box 67"/>
            <p:cNvSpPr txBox="1">
              <a:spLocks noChangeArrowheads="1"/>
            </p:cNvSpPr>
            <p:nvPr/>
          </p:nvSpPr>
          <p:spPr bwMode="auto">
            <a:xfrm>
              <a:off x="5316116" y="3356992"/>
              <a:ext cx="359589" cy="28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a:latin typeface="微软雅黑" panose="020B0503020204020204" pitchFamily="34" charset="-122"/>
                  <a:ea typeface="微软雅黑" panose="020B0503020204020204" pitchFamily="34" charset="-122"/>
                </a:rPr>
                <a:t>H</a:t>
              </a:r>
              <a:r>
                <a:rPr lang="en-US" altLang="zh-CN" sz="1867" b="1" baseline="-25000">
                  <a:latin typeface="微软雅黑" panose="020B0503020204020204" pitchFamily="34" charset="-122"/>
                  <a:ea typeface="微软雅黑" panose="020B0503020204020204" pitchFamily="34" charset="-122"/>
                </a:rPr>
                <a:t>2</a:t>
              </a:r>
            </a:p>
          </p:txBody>
        </p:sp>
      </p:grpSp>
      <p:grpSp>
        <p:nvGrpSpPr>
          <p:cNvPr id="36" name="组合 77"/>
          <p:cNvGrpSpPr>
            <a:grpSpLocks/>
          </p:cNvGrpSpPr>
          <p:nvPr/>
        </p:nvGrpSpPr>
        <p:grpSpPr bwMode="auto">
          <a:xfrm>
            <a:off x="4474282" y="4777202"/>
            <a:ext cx="768349" cy="768351"/>
            <a:chOff x="5220072" y="3356992"/>
            <a:chExt cx="576064" cy="576064"/>
          </a:xfrm>
        </p:grpSpPr>
        <p:pic>
          <p:nvPicPr>
            <p:cNvPr id="37"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 Box 67"/>
            <p:cNvSpPr txBox="1">
              <a:spLocks noChangeArrowheads="1"/>
            </p:cNvSpPr>
            <p:nvPr/>
          </p:nvSpPr>
          <p:spPr bwMode="auto">
            <a:xfrm>
              <a:off x="5316116" y="3356992"/>
              <a:ext cx="359590" cy="28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a:latin typeface="微软雅黑" panose="020B0503020204020204" pitchFamily="34" charset="-122"/>
                  <a:ea typeface="微软雅黑" panose="020B0503020204020204" pitchFamily="34" charset="-122"/>
                </a:rPr>
                <a:t>H</a:t>
              </a:r>
              <a:r>
                <a:rPr lang="en-US" altLang="zh-CN" sz="1867" b="1" baseline="-25000">
                  <a:latin typeface="微软雅黑" panose="020B0503020204020204" pitchFamily="34" charset="-122"/>
                  <a:ea typeface="微软雅黑" panose="020B0503020204020204" pitchFamily="34" charset="-122"/>
                </a:rPr>
                <a:t>1</a:t>
              </a:r>
            </a:p>
          </p:txBody>
        </p:sp>
      </p:grpSp>
      <p:grpSp>
        <p:nvGrpSpPr>
          <p:cNvPr id="39" name="组合 86"/>
          <p:cNvGrpSpPr>
            <a:grpSpLocks/>
          </p:cNvGrpSpPr>
          <p:nvPr/>
        </p:nvGrpSpPr>
        <p:grpSpPr bwMode="auto">
          <a:xfrm>
            <a:off x="7835544" y="4057649"/>
            <a:ext cx="766233" cy="768351"/>
            <a:chOff x="5220072" y="3356992"/>
            <a:chExt cx="576064" cy="576064"/>
          </a:xfrm>
        </p:grpSpPr>
        <p:pic>
          <p:nvPicPr>
            <p:cNvPr id="40"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 Box 67"/>
            <p:cNvSpPr txBox="1">
              <a:spLocks noChangeArrowheads="1"/>
            </p:cNvSpPr>
            <p:nvPr/>
          </p:nvSpPr>
          <p:spPr bwMode="auto">
            <a:xfrm>
              <a:off x="5316116" y="3356992"/>
              <a:ext cx="360583" cy="28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a:latin typeface="微软雅黑" panose="020B0503020204020204" pitchFamily="34" charset="-122"/>
                  <a:ea typeface="微软雅黑" panose="020B0503020204020204" pitchFamily="34" charset="-122"/>
                </a:rPr>
                <a:t>H</a:t>
              </a:r>
              <a:r>
                <a:rPr lang="en-US" altLang="zh-CN" sz="1867" b="1" baseline="-25000">
                  <a:latin typeface="微软雅黑" panose="020B0503020204020204" pitchFamily="34" charset="-122"/>
                  <a:ea typeface="微软雅黑" panose="020B0503020204020204" pitchFamily="34" charset="-122"/>
                </a:rPr>
                <a:t>3</a:t>
              </a:r>
            </a:p>
          </p:txBody>
        </p:sp>
      </p:grpSp>
      <p:grpSp>
        <p:nvGrpSpPr>
          <p:cNvPr id="42" name="组合 83"/>
          <p:cNvGrpSpPr>
            <a:grpSpLocks/>
          </p:cNvGrpSpPr>
          <p:nvPr/>
        </p:nvGrpSpPr>
        <p:grpSpPr bwMode="auto">
          <a:xfrm>
            <a:off x="2747078" y="2906182"/>
            <a:ext cx="766233" cy="768351"/>
            <a:chOff x="5220072" y="3356992"/>
            <a:chExt cx="576064" cy="576064"/>
          </a:xfrm>
        </p:grpSpPr>
        <p:pic>
          <p:nvPicPr>
            <p:cNvPr id="43"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Text Box 67"/>
            <p:cNvSpPr txBox="1">
              <a:spLocks noChangeArrowheads="1"/>
            </p:cNvSpPr>
            <p:nvPr/>
          </p:nvSpPr>
          <p:spPr bwMode="auto">
            <a:xfrm>
              <a:off x="5316116" y="3356992"/>
              <a:ext cx="360583" cy="28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a:latin typeface="微软雅黑" panose="020B0503020204020204" pitchFamily="34" charset="-122"/>
                  <a:ea typeface="微软雅黑" panose="020B0503020204020204" pitchFamily="34" charset="-122"/>
                </a:rPr>
                <a:t>H</a:t>
              </a:r>
              <a:r>
                <a:rPr lang="en-US" altLang="zh-CN" sz="1867" b="1" baseline="-25000">
                  <a:latin typeface="微软雅黑" panose="020B0503020204020204" pitchFamily="34" charset="-122"/>
                  <a:ea typeface="微软雅黑" panose="020B0503020204020204" pitchFamily="34" charset="-122"/>
                </a:rPr>
                <a:t>6</a:t>
              </a:r>
            </a:p>
          </p:txBody>
        </p:sp>
      </p:grpSp>
      <p:grpSp>
        <p:nvGrpSpPr>
          <p:cNvPr id="45" name="组合 80"/>
          <p:cNvGrpSpPr>
            <a:grpSpLocks/>
          </p:cNvGrpSpPr>
          <p:nvPr/>
        </p:nvGrpSpPr>
        <p:grpSpPr bwMode="auto">
          <a:xfrm>
            <a:off x="2747078" y="3962399"/>
            <a:ext cx="766233" cy="768349"/>
            <a:chOff x="5220072" y="3356992"/>
            <a:chExt cx="576064" cy="576064"/>
          </a:xfrm>
        </p:grpSpPr>
        <p:pic>
          <p:nvPicPr>
            <p:cNvPr id="46"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 Box 67"/>
            <p:cNvSpPr txBox="1">
              <a:spLocks noChangeArrowheads="1"/>
            </p:cNvSpPr>
            <p:nvPr/>
          </p:nvSpPr>
          <p:spPr bwMode="auto">
            <a:xfrm>
              <a:off x="5316116" y="3356992"/>
              <a:ext cx="360583" cy="28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a:latin typeface="微软雅黑" panose="020B0503020204020204" pitchFamily="34" charset="-122"/>
                  <a:ea typeface="微软雅黑" panose="020B0503020204020204" pitchFamily="34" charset="-122"/>
                </a:rPr>
                <a:t>H</a:t>
              </a:r>
              <a:r>
                <a:rPr lang="en-US" altLang="zh-CN" sz="1867" b="1" baseline="-25000">
                  <a:latin typeface="微软雅黑" panose="020B0503020204020204" pitchFamily="34" charset="-122"/>
                  <a:ea typeface="微软雅黑" panose="020B0503020204020204" pitchFamily="34" charset="-122"/>
                </a:rPr>
                <a:t>5</a:t>
              </a:r>
            </a:p>
          </p:txBody>
        </p:sp>
      </p:grpSp>
      <p:pic>
        <p:nvPicPr>
          <p:cNvPr id="48"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1665" y="3337868"/>
            <a:ext cx="673100" cy="383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49"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1464" y="3337868"/>
            <a:ext cx="670984" cy="383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50"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30497" y="4296720"/>
            <a:ext cx="670984" cy="385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51" name="Text Box 69"/>
          <p:cNvSpPr txBox="1">
            <a:spLocks noChangeArrowheads="1"/>
          </p:cNvSpPr>
          <p:nvPr/>
        </p:nvSpPr>
        <p:spPr bwMode="auto">
          <a:xfrm>
            <a:off x="4054840" y="3172028"/>
            <a:ext cx="282450" cy="28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baseline="-25000" dirty="0">
                <a:latin typeface="微软雅黑" panose="020B0503020204020204" pitchFamily="34" charset="-122"/>
                <a:ea typeface="微软雅黑" panose="020B0503020204020204" pitchFamily="34" charset="-122"/>
              </a:rPr>
              <a:t>1</a:t>
            </a:r>
          </a:p>
        </p:txBody>
      </p:sp>
      <p:sp>
        <p:nvSpPr>
          <p:cNvPr id="52" name="Text Box 69"/>
          <p:cNvSpPr txBox="1">
            <a:spLocks noChangeArrowheads="1"/>
          </p:cNvSpPr>
          <p:nvPr/>
        </p:nvSpPr>
        <p:spPr bwMode="auto">
          <a:xfrm>
            <a:off x="5242631" y="4104101"/>
            <a:ext cx="282450" cy="28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baseline="-25000">
                <a:latin typeface="微软雅黑" panose="020B0503020204020204" pitchFamily="34" charset="-122"/>
                <a:ea typeface="微软雅黑" panose="020B0503020204020204" pitchFamily="34" charset="-122"/>
              </a:rPr>
              <a:t>1</a:t>
            </a:r>
          </a:p>
        </p:txBody>
      </p:sp>
      <p:sp>
        <p:nvSpPr>
          <p:cNvPr id="53" name="Text Box 69"/>
          <p:cNvSpPr txBox="1">
            <a:spLocks noChangeArrowheads="1"/>
          </p:cNvSpPr>
          <p:nvPr/>
        </p:nvSpPr>
        <p:spPr bwMode="auto">
          <a:xfrm>
            <a:off x="6201481" y="3145252"/>
            <a:ext cx="282450" cy="28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baseline="-25000">
                <a:latin typeface="微软雅黑" panose="020B0503020204020204" pitchFamily="34" charset="-122"/>
                <a:ea typeface="微软雅黑" panose="020B0503020204020204" pitchFamily="34" charset="-122"/>
              </a:rPr>
              <a:t>1</a:t>
            </a:r>
          </a:p>
        </p:txBody>
      </p:sp>
      <p:sp>
        <p:nvSpPr>
          <p:cNvPr id="54" name="Text Box 69"/>
          <p:cNvSpPr txBox="1">
            <a:spLocks noChangeArrowheads="1"/>
          </p:cNvSpPr>
          <p:nvPr/>
        </p:nvSpPr>
        <p:spPr bwMode="auto">
          <a:xfrm>
            <a:off x="5435249" y="4531668"/>
            <a:ext cx="383116" cy="28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baseline="-25000">
                <a:latin typeface="微软雅黑" panose="020B0503020204020204" pitchFamily="34" charset="-122"/>
                <a:ea typeface="微软雅黑" panose="020B0503020204020204" pitchFamily="34" charset="-122"/>
              </a:rPr>
              <a:t>2</a:t>
            </a:r>
          </a:p>
        </p:txBody>
      </p:sp>
      <p:sp>
        <p:nvSpPr>
          <p:cNvPr id="55" name="Text Box 69"/>
          <p:cNvSpPr txBox="1">
            <a:spLocks noChangeArrowheads="1"/>
          </p:cNvSpPr>
          <p:nvPr/>
        </p:nvSpPr>
        <p:spPr bwMode="auto">
          <a:xfrm>
            <a:off x="4078464" y="3625735"/>
            <a:ext cx="282450" cy="28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baseline="-25000" dirty="0">
                <a:latin typeface="微软雅黑" panose="020B0503020204020204" pitchFamily="34" charset="-122"/>
                <a:ea typeface="微软雅黑" panose="020B0503020204020204" pitchFamily="34" charset="-122"/>
              </a:rPr>
              <a:t>2</a:t>
            </a:r>
          </a:p>
        </p:txBody>
      </p:sp>
      <p:sp>
        <p:nvSpPr>
          <p:cNvPr id="56" name="Text Box 69"/>
          <p:cNvSpPr txBox="1">
            <a:spLocks noChangeArrowheads="1"/>
          </p:cNvSpPr>
          <p:nvPr/>
        </p:nvSpPr>
        <p:spPr bwMode="auto">
          <a:xfrm>
            <a:off x="6298848" y="3528368"/>
            <a:ext cx="282450" cy="28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baseline="-25000">
                <a:latin typeface="微软雅黑" panose="020B0503020204020204" pitchFamily="34" charset="-122"/>
                <a:ea typeface="微软雅黑" panose="020B0503020204020204" pitchFamily="34" charset="-122"/>
              </a:rPr>
              <a:t>2</a:t>
            </a:r>
          </a:p>
        </p:txBody>
      </p:sp>
      <p:sp>
        <p:nvSpPr>
          <p:cNvPr id="57" name="Text Box 69"/>
          <p:cNvSpPr txBox="1">
            <a:spLocks noChangeArrowheads="1"/>
          </p:cNvSpPr>
          <p:nvPr/>
        </p:nvSpPr>
        <p:spPr bwMode="auto">
          <a:xfrm>
            <a:off x="7045697" y="3539335"/>
            <a:ext cx="282450" cy="28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baseline="-25000">
                <a:latin typeface="微软雅黑" panose="020B0503020204020204" pitchFamily="34" charset="-122"/>
                <a:ea typeface="微软雅黑" panose="020B0503020204020204" pitchFamily="34" charset="-122"/>
              </a:rPr>
              <a:t>3</a:t>
            </a:r>
          </a:p>
        </p:txBody>
      </p:sp>
      <p:sp>
        <p:nvSpPr>
          <p:cNvPr id="58" name="Text Box 69"/>
          <p:cNvSpPr txBox="1">
            <a:spLocks noChangeArrowheads="1"/>
          </p:cNvSpPr>
          <p:nvPr/>
        </p:nvSpPr>
        <p:spPr bwMode="auto">
          <a:xfrm>
            <a:off x="4616097" y="3625735"/>
            <a:ext cx="282450" cy="28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baseline="-25000">
                <a:latin typeface="微软雅黑" panose="020B0503020204020204" pitchFamily="34" charset="-122"/>
                <a:ea typeface="微软雅黑" panose="020B0503020204020204" pitchFamily="34" charset="-122"/>
              </a:rPr>
              <a:t>3</a:t>
            </a:r>
          </a:p>
        </p:txBody>
      </p:sp>
      <p:sp>
        <p:nvSpPr>
          <p:cNvPr id="59" name="Text Box 69"/>
          <p:cNvSpPr txBox="1">
            <a:spLocks noChangeArrowheads="1"/>
          </p:cNvSpPr>
          <p:nvPr/>
        </p:nvSpPr>
        <p:spPr bwMode="auto">
          <a:xfrm>
            <a:off x="5960181" y="4531668"/>
            <a:ext cx="282450" cy="28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baseline="-25000">
                <a:latin typeface="微软雅黑" panose="020B0503020204020204" pitchFamily="34" charset="-122"/>
                <a:ea typeface="微软雅黑" panose="020B0503020204020204" pitchFamily="34" charset="-122"/>
              </a:rPr>
              <a:t>3</a:t>
            </a:r>
          </a:p>
        </p:txBody>
      </p:sp>
      <p:sp>
        <p:nvSpPr>
          <p:cNvPr id="60" name="Text Box 69"/>
          <p:cNvSpPr txBox="1">
            <a:spLocks noChangeArrowheads="1"/>
          </p:cNvSpPr>
          <p:nvPr/>
        </p:nvSpPr>
        <p:spPr bwMode="auto">
          <a:xfrm>
            <a:off x="4857397" y="3145252"/>
            <a:ext cx="282450" cy="28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baseline="-25000">
                <a:latin typeface="微软雅黑" panose="020B0503020204020204" pitchFamily="34" charset="-122"/>
                <a:ea typeface="微软雅黑" panose="020B0503020204020204" pitchFamily="34" charset="-122"/>
              </a:rPr>
              <a:t>4</a:t>
            </a:r>
          </a:p>
        </p:txBody>
      </p:sp>
      <p:sp>
        <p:nvSpPr>
          <p:cNvPr id="61" name="Text Box 69"/>
          <p:cNvSpPr txBox="1">
            <a:spLocks noChangeArrowheads="1"/>
          </p:cNvSpPr>
          <p:nvPr/>
        </p:nvSpPr>
        <p:spPr bwMode="auto">
          <a:xfrm>
            <a:off x="6106231" y="4104101"/>
            <a:ext cx="282450" cy="28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baseline="-25000">
                <a:latin typeface="微软雅黑" panose="020B0503020204020204" pitchFamily="34" charset="-122"/>
                <a:ea typeface="微软雅黑" panose="020B0503020204020204" pitchFamily="34" charset="-122"/>
              </a:rPr>
              <a:t>4</a:t>
            </a:r>
          </a:p>
        </p:txBody>
      </p:sp>
      <p:sp>
        <p:nvSpPr>
          <p:cNvPr id="62" name="Text Box 69"/>
          <p:cNvSpPr txBox="1">
            <a:spLocks noChangeArrowheads="1"/>
          </p:cNvSpPr>
          <p:nvPr/>
        </p:nvSpPr>
        <p:spPr bwMode="auto">
          <a:xfrm>
            <a:off x="7046031" y="3098355"/>
            <a:ext cx="282450" cy="28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67" b="1" baseline="-25000" dirty="0">
                <a:latin typeface="微软雅黑" panose="020B0503020204020204" pitchFamily="34" charset="-122"/>
                <a:ea typeface="微软雅黑" panose="020B0503020204020204" pitchFamily="34" charset="-122"/>
              </a:rPr>
              <a:t>4</a:t>
            </a:r>
          </a:p>
        </p:txBody>
      </p:sp>
      <p:pic>
        <p:nvPicPr>
          <p:cNvPr id="15" name="Picture 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59390" y="1692548"/>
            <a:ext cx="410633" cy="994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cxnSp>
        <p:nvCxnSpPr>
          <p:cNvPr id="4" name="直接连接符 3"/>
          <p:cNvCxnSpPr/>
          <p:nvPr/>
        </p:nvCxnSpPr>
        <p:spPr>
          <a:xfrm>
            <a:off x="1520983" y="2783948"/>
            <a:ext cx="9644957" cy="0"/>
          </a:xfrm>
          <a:prstGeom prst="line">
            <a:avLst/>
          </a:prstGeom>
          <a:ln w="12700">
            <a:solidFill>
              <a:srgbClr val="000066"/>
            </a:solidFill>
            <a:prstDash val="sysDash"/>
          </a:ln>
        </p:spPr>
        <p:style>
          <a:lnRef idx="1">
            <a:schemeClr val="dk1"/>
          </a:lnRef>
          <a:fillRef idx="0">
            <a:schemeClr val="dk1"/>
          </a:fillRef>
          <a:effectRef idx="0">
            <a:schemeClr val="dk1"/>
          </a:effectRef>
          <a:fontRef idx="minor">
            <a:schemeClr val="tx1"/>
          </a:fontRef>
        </p:style>
      </p:cxnSp>
      <p:sp>
        <p:nvSpPr>
          <p:cNvPr id="6" name="矩形 5"/>
          <p:cNvSpPr/>
          <p:nvPr/>
        </p:nvSpPr>
        <p:spPr>
          <a:xfrm>
            <a:off x="9817288" y="2290552"/>
            <a:ext cx="1281120" cy="420564"/>
          </a:xfrm>
          <a:prstGeom prst="rect">
            <a:avLst/>
          </a:prstGeom>
        </p:spPr>
        <p:txBody>
          <a:bodyPr wrap="none">
            <a:spAutoFit/>
          </a:bodyPr>
          <a:lstStyle/>
          <a:p>
            <a:r>
              <a:rPr lang="zh-CN" altLang="en-US" sz="2133" b="1" dirty="0">
                <a:latin typeface="微软雅黑" panose="020B0503020204020204" pitchFamily="34" charset="-122"/>
                <a:ea typeface="微软雅黑" panose="020B0503020204020204" pitchFamily="34" charset="-122"/>
              </a:rPr>
              <a:t>控制层面</a:t>
            </a:r>
            <a:endParaRPr lang="zh-CN" altLang="en-US" sz="2133" dirty="0"/>
          </a:p>
        </p:txBody>
      </p:sp>
      <p:sp>
        <p:nvSpPr>
          <p:cNvPr id="66" name="矩形 65"/>
          <p:cNvSpPr/>
          <p:nvPr/>
        </p:nvSpPr>
        <p:spPr>
          <a:xfrm>
            <a:off x="9817288" y="2858004"/>
            <a:ext cx="1281120" cy="420564"/>
          </a:xfrm>
          <a:prstGeom prst="rect">
            <a:avLst/>
          </a:prstGeom>
        </p:spPr>
        <p:txBody>
          <a:bodyPr wrap="none">
            <a:spAutoFit/>
          </a:bodyPr>
          <a:lstStyle/>
          <a:p>
            <a:r>
              <a:rPr lang="zh-CN" altLang="en-US" sz="2133" b="1" dirty="0">
                <a:latin typeface="微软雅黑" panose="020B0503020204020204" pitchFamily="34" charset="-122"/>
                <a:ea typeface="微软雅黑" panose="020B0503020204020204" pitchFamily="34" charset="-122"/>
              </a:rPr>
              <a:t>数据层面</a:t>
            </a:r>
            <a:endParaRPr lang="zh-CN" altLang="en-US" sz="2133" dirty="0"/>
          </a:p>
        </p:txBody>
      </p:sp>
      <p:sp>
        <p:nvSpPr>
          <p:cNvPr id="10" name="Line 24"/>
          <p:cNvSpPr>
            <a:spLocks noChangeShapeType="1"/>
          </p:cNvSpPr>
          <p:nvPr/>
        </p:nvSpPr>
        <p:spPr bwMode="auto">
          <a:xfrm flipV="1">
            <a:off x="4797653" y="2664767"/>
            <a:ext cx="732843" cy="706967"/>
          </a:xfrm>
          <a:prstGeom prst="line">
            <a:avLst/>
          </a:prstGeom>
          <a:noFill/>
          <a:ln w="28575">
            <a:solidFill>
              <a:srgbClr val="9900CC"/>
            </a:solidFill>
            <a:prstDash val="sysDash"/>
            <a:round/>
            <a:headEnd type="triangle" w="med" len="lg"/>
            <a:tailEnd type="none" w="lg" len="lg"/>
          </a:ln>
          <a:extLst>
            <a:ext uri="{909E8E84-426E-40DD-AFC4-6F175D3DCCD1}">
              <a14:hiddenFill xmlns:a14="http://schemas.microsoft.com/office/drawing/2010/main">
                <a:noFill/>
              </a14:hiddenFill>
            </a:ext>
          </a:extLst>
        </p:spPr>
        <p:txBody>
          <a:bodyPr/>
          <a:lstStyle/>
          <a:p>
            <a:endParaRPr lang="zh-CN" altLang="en-US" sz="1867" b="1">
              <a:latin typeface="微软雅黑" panose="020B0503020204020204" pitchFamily="34" charset="-122"/>
              <a:ea typeface="微软雅黑" panose="020B0503020204020204" pitchFamily="34" charset="-122"/>
            </a:endParaRPr>
          </a:p>
        </p:txBody>
      </p:sp>
      <p:sp>
        <p:nvSpPr>
          <p:cNvPr id="63" name="Line 24"/>
          <p:cNvSpPr>
            <a:spLocks noChangeShapeType="1"/>
          </p:cNvSpPr>
          <p:nvPr/>
        </p:nvSpPr>
        <p:spPr bwMode="auto">
          <a:xfrm flipH="1" flipV="1">
            <a:off x="5670196" y="2594652"/>
            <a:ext cx="122768" cy="1687249"/>
          </a:xfrm>
          <a:prstGeom prst="line">
            <a:avLst/>
          </a:prstGeom>
          <a:noFill/>
          <a:ln w="28575">
            <a:solidFill>
              <a:srgbClr val="9900CC"/>
            </a:solidFill>
            <a:prstDash val="sysDash"/>
            <a:round/>
            <a:headEnd type="triangle" w="med" len="lg"/>
            <a:tailEnd type="none" w="lg" len="lg"/>
          </a:ln>
          <a:extLst>
            <a:ext uri="{909E8E84-426E-40DD-AFC4-6F175D3DCCD1}">
              <a14:hiddenFill xmlns:a14="http://schemas.microsoft.com/office/drawing/2010/main">
                <a:noFill/>
              </a14:hiddenFill>
            </a:ext>
          </a:extLst>
        </p:spPr>
        <p:txBody>
          <a:bodyPr/>
          <a:lstStyle/>
          <a:p>
            <a:endParaRPr lang="zh-CN" altLang="en-US" sz="1867" b="1">
              <a:latin typeface="微软雅黑" panose="020B0503020204020204" pitchFamily="34" charset="-122"/>
              <a:ea typeface="微软雅黑" panose="020B0503020204020204" pitchFamily="34" charset="-122"/>
            </a:endParaRPr>
          </a:p>
        </p:txBody>
      </p:sp>
      <p:sp>
        <p:nvSpPr>
          <p:cNvPr id="64" name="Line 24"/>
          <p:cNvSpPr>
            <a:spLocks noChangeShapeType="1"/>
          </p:cNvSpPr>
          <p:nvPr/>
        </p:nvSpPr>
        <p:spPr bwMode="auto">
          <a:xfrm flipH="1" flipV="1">
            <a:off x="5683718" y="2594653"/>
            <a:ext cx="998247" cy="743215"/>
          </a:xfrm>
          <a:prstGeom prst="line">
            <a:avLst/>
          </a:prstGeom>
          <a:noFill/>
          <a:ln w="28575">
            <a:solidFill>
              <a:srgbClr val="9900CC"/>
            </a:solidFill>
            <a:prstDash val="sysDash"/>
            <a:round/>
            <a:headEnd type="triangle" w="med" len="lg"/>
            <a:tailEnd type="none" w="lg" len="lg"/>
          </a:ln>
          <a:extLst>
            <a:ext uri="{909E8E84-426E-40DD-AFC4-6F175D3DCCD1}">
              <a14:hiddenFill xmlns:a14="http://schemas.microsoft.com/office/drawing/2010/main">
                <a:noFill/>
              </a14:hiddenFill>
            </a:ext>
          </a:extLst>
        </p:spPr>
        <p:txBody>
          <a:bodyPr/>
          <a:lstStyle/>
          <a:p>
            <a:endParaRPr lang="zh-CN" altLang="en-US" sz="1867" b="1">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580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圆角矩形 64"/>
          <p:cNvSpPr/>
          <p:nvPr/>
        </p:nvSpPr>
        <p:spPr>
          <a:xfrm>
            <a:off x="726860" y="1296395"/>
            <a:ext cx="10738281" cy="260263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7" name="AutoShape 5"/>
          <p:cNvSpPr>
            <a:spLocks noChangeArrowheads="1"/>
          </p:cNvSpPr>
          <p:nvPr/>
        </p:nvSpPr>
        <p:spPr bwMode="auto">
          <a:xfrm>
            <a:off x="726859" y="821297"/>
            <a:ext cx="10738283" cy="41191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8" name="矩形 7"/>
          <p:cNvSpPr/>
          <p:nvPr/>
        </p:nvSpPr>
        <p:spPr>
          <a:xfrm>
            <a:off x="821447" y="742939"/>
            <a:ext cx="2574744" cy="502766"/>
          </a:xfrm>
          <a:prstGeom prst="rect">
            <a:avLst/>
          </a:prstGeom>
        </p:spPr>
        <p:txBody>
          <a:bodyPr wrap="none">
            <a:spAutoFit/>
          </a:bodyPr>
          <a:lstStyle/>
          <a:p>
            <a:r>
              <a:rPr lang="zh-CN" altLang="en-US" sz="2667" b="1" dirty="0">
                <a:latin typeface="微软雅黑" pitchFamily="34" charset="-122"/>
                <a:ea typeface="微软雅黑" pitchFamily="34" charset="-122"/>
              </a:rPr>
              <a:t>例子：简单转发</a:t>
            </a:r>
          </a:p>
        </p:txBody>
      </p:sp>
      <p:grpSp>
        <p:nvGrpSpPr>
          <p:cNvPr id="2" name="组合 1"/>
          <p:cNvGrpSpPr/>
          <p:nvPr/>
        </p:nvGrpSpPr>
        <p:grpSpPr>
          <a:xfrm>
            <a:off x="959149" y="1339599"/>
            <a:ext cx="6174927" cy="2438715"/>
            <a:chOff x="1405863" y="952215"/>
            <a:chExt cx="6011606" cy="3206955"/>
          </a:xfrm>
        </p:grpSpPr>
        <p:sp>
          <p:nvSpPr>
            <p:cNvPr id="9" name="Line 23"/>
            <p:cNvSpPr>
              <a:spLocks noChangeShapeType="1"/>
            </p:cNvSpPr>
            <p:nvPr/>
          </p:nvSpPr>
          <p:spPr bwMode="auto">
            <a:xfrm flipV="1">
              <a:off x="2627313" y="2646276"/>
              <a:ext cx="936625"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0" name="Line 24"/>
            <p:cNvSpPr>
              <a:spLocks noChangeShapeType="1"/>
            </p:cNvSpPr>
            <p:nvPr/>
          </p:nvSpPr>
          <p:spPr bwMode="auto">
            <a:xfrm flipV="1">
              <a:off x="3806467" y="1998575"/>
              <a:ext cx="549632" cy="530225"/>
            </a:xfrm>
            <a:prstGeom prst="line">
              <a:avLst/>
            </a:prstGeom>
            <a:noFill/>
            <a:ln w="28575">
              <a:solidFill>
                <a:srgbClr val="9900CC"/>
              </a:solidFill>
              <a:prstDash val="sysDash"/>
              <a:round/>
              <a:headEnd type="triangle" w="med" len="lg"/>
              <a:tailEnd type="none" w="lg" len="lg"/>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1" name="Line 25"/>
            <p:cNvSpPr>
              <a:spLocks noChangeShapeType="1"/>
            </p:cNvSpPr>
            <p:nvPr/>
          </p:nvSpPr>
          <p:spPr bwMode="auto">
            <a:xfrm flipV="1">
              <a:off x="3810000" y="2601826"/>
              <a:ext cx="1381125" cy="44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2" name="Line 26"/>
            <p:cNvSpPr>
              <a:spLocks noChangeShapeType="1"/>
            </p:cNvSpPr>
            <p:nvPr/>
          </p:nvSpPr>
          <p:spPr bwMode="auto">
            <a:xfrm flipV="1">
              <a:off x="5421313" y="2382751"/>
              <a:ext cx="931862" cy="246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3" name="Line 27"/>
            <p:cNvSpPr>
              <a:spLocks noChangeShapeType="1"/>
            </p:cNvSpPr>
            <p:nvPr/>
          </p:nvSpPr>
          <p:spPr bwMode="auto">
            <a:xfrm>
              <a:off x="3667125" y="2697076"/>
              <a:ext cx="866775" cy="647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4" name="Line 30"/>
            <p:cNvSpPr>
              <a:spLocks noChangeShapeType="1"/>
            </p:cNvSpPr>
            <p:nvPr/>
          </p:nvSpPr>
          <p:spPr bwMode="auto">
            <a:xfrm flipV="1">
              <a:off x="4683125" y="2725651"/>
              <a:ext cx="622300" cy="577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6" name="Text Box 69"/>
            <p:cNvSpPr txBox="1">
              <a:spLocks noChangeArrowheads="1"/>
            </p:cNvSpPr>
            <p:nvPr/>
          </p:nvSpPr>
          <p:spPr bwMode="auto">
            <a:xfrm>
              <a:off x="3516638" y="952215"/>
              <a:ext cx="1852750" cy="445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err="1">
                  <a:latin typeface="微软雅黑" panose="020B0503020204020204" pitchFamily="34" charset="-122"/>
                  <a:ea typeface="微软雅黑" panose="020B0503020204020204" pitchFamily="34" charset="-122"/>
                </a:rPr>
                <a:t>OpenFlow</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控制器</a:t>
              </a:r>
              <a:endParaRPr lang="en-US" altLang="zh-CN" sz="1600" b="1" baseline="-25000" dirty="0">
                <a:latin typeface="微软雅黑" panose="020B0503020204020204" pitchFamily="34" charset="-122"/>
                <a:ea typeface="微软雅黑" panose="020B0503020204020204" pitchFamily="34" charset="-122"/>
              </a:endParaRPr>
            </a:p>
          </p:txBody>
        </p:sp>
        <p:sp>
          <p:nvSpPr>
            <p:cNvPr id="17" name="Text Box 65"/>
            <p:cNvSpPr txBox="1">
              <a:spLocks noChangeArrowheads="1"/>
            </p:cNvSpPr>
            <p:nvPr/>
          </p:nvSpPr>
          <p:spPr bwMode="auto">
            <a:xfrm>
              <a:off x="4488812" y="2825187"/>
              <a:ext cx="365494"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solidFill>
                    <a:srgbClr val="000099"/>
                  </a:solidFill>
                  <a:latin typeface="微软雅黑" panose="020B0503020204020204" pitchFamily="34" charset="-122"/>
                  <a:ea typeface="微软雅黑" panose="020B0503020204020204" pitchFamily="34" charset="-122"/>
                </a:rPr>
                <a:t>S</a:t>
              </a:r>
              <a:r>
                <a:rPr lang="en-US" altLang="zh-CN" sz="1467" b="1" baseline="-25000" dirty="0">
                  <a:solidFill>
                    <a:srgbClr val="000099"/>
                  </a:solidFill>
                  <a:latin typeface="微软雅黑" panose="020B0503020204020204" pitchFamily="34" charset="-122"/>
                  <a:ea typeface="微软雅黑" panose="020B0503020204020204" pitchFamily="34" charset="-122"/>
                </a:rPr>
                <a:t>1</a:t>
              </a:r>
            </a:p>
          </p:txBody>
        </p:sp>
        <p:sp>
          <p:nvSpPr>
            <p:cNvPr id="18" name="Text Box 65"/>
            <p:cNvSpPr txBox="1">
              <a:spLocks noChangeArrowheads="1"/>
            </p:cNvSpPr>
            <p:nvPr/>
          </p:nvSpPr>
          <p:spPr bwMode="auto">
            <a:xfrm>
              <a:off x="3492501" y="2131964"/>
              <a:ext cx="365494"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solidFill>
                    <a:srgbClr val="000099"/>
                  </a:solidFill>
                  <a:latin typeface="微软雅黑" panose="020B0503020204020204" pitchFamily="34" charset="-122"/>
                  <a:ea typeface="微软雅黑" panose="020B0503020204020204" pitchFamily="34" charset="-122"/>
                </a:rPr>
                <a:t>S</a:t>
              </a:r>
              <a:r>
                <a:rPr lang="en-US" altLang="zh-CN" sz="1467" b="1" baseline="-25000" dirty="0">
                  <a:solidFill>
                    <a:srgbClr val="000099"/>
                  </a:solidFill>
                  <a:latin typeface="微软雅黑" panose="020B0503020204020204" pitchFamily="34" charset="-122"/>
                  <a:ea typeface="微软雅黑" panose="020B0503020204020204" pitchFamily="34" charset="-122"/>
                </a:rPr>
                <a:t>3</a:t>
              </a:r>
            </a:p>
          </p:txBody>
        </p:sp>
        <p:sp>
          <p:nvSpPr>
            <p:cNvPr id="19" name="Text Box 65"/>
            <p:cNvSpPr txBox="1">
              <a:spLocks noChangeArrowheads="1"/>
            </p:cNvSpPr>
            <p:nvPr/>
          </p:nvSpPr>
          <p:spPr bwMode="auto">
            <a:xfrm>
              <a:off x="5148264" y="2131964"/>
              <a:ext cx="365494"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solidFill>
                    <a:srgbClr val="000099"/>
                  </a:solidFill>
                  <a:latin typeface="微软雅黑" panose="020B0503020204020204" pitchFamily="34" charset="-122"/>
                  <a:ea typeface="微软雅黑" panose="020B0503020204020204" pitchFamily="34" charset="-122"/>
                </a:rPr>
                <a:t>S</a:t>
              </a:r>
              <a:r>
                <a:rPr lang="en-US" altLang="zh-CN" sz="1467" b="1" baseline="-25000">
                  <a:solidFill>
                    <a:srgbClr val="000099"/>
                  </a:solidFill>
                  <a:latin typeface="微软雅黑" panose="020B0503020204020204" pitchFamily="34" charset="-122"/>
                  <a:ea typeface="微软雅黑" panose="020B0503020204020204" pitchFamily="34" charset="-122"/>
                </a:rPr>
                <a:t>2</a:t>
              </a:r>
            </a:p>
          </p:txBody>
        </p:sp>
        <p:grpSp>
          <p:nvGrpSpPr>
            <p:cNvPr id="20" name="组合 89"/>
            <p:cNvGrpSpPr>
              <a:grpSpLocks/>
            </p:cNvGrpSpPr>
            <p:nvPr/>
          </p:nvGrpSpPr>
          <p:grpSpPr bwMode="auto">
            <a:xfrm>
              <a:off x="6084888" y="1957326"/>
              <a:ext cx="574675" cy="617519"/>
              <a:chOff x="5220072" y="3315751"/>
              <a:chExt cx="576064" cy="617305"/>
            </a:xfrm>
          </p:grpSpPr>
          <p:pic>
            <p:nvPicPr>
              <p:cNvPr id="21"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67"/>
              <p:cNvSpPr txBox="1">
                <a:spLocks noChangeArrowheads="1"/>
              </p:cNvSpPr>
              <p:nvPr/>
            </p:nvSpPr>
            <p:spPr bwMode="auto">
              <a:xfrm>
                <a:off x="5294022" y="3315751"/>
                <a:ext cx="405486"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4</a:t>
                </a:r>
              </a:p>
            </p:txBody>
          </p:sp>
        </p:grpSp>
        <p:sp>
          <p:nvSpPr>
            <p:cNvPr id="23" name="Text Box 69"/>
            <p:cNvSpPr txBox="1">
              <a:spLocks noChangeArrowheads="1"/>
            </p:cNvSpPr>
            <p:nvPr/>
          </p:nvSpPr>
          <p:spPr bwMode="auto">
            <a:xfrm>
              <a:off x="6516688" y="2070014"/>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10.2.0.4</a:t>
              </a:r>
              <a:endParaRPr lang="en-US" altLang="zh-CN" sz="1467" b="1" baseline="-25000">
                <a:latin typeface="微软雅黑" panose="020B0503020204020204" pitchFamily="34" charset="-122"/>
                <a:ea typeface="微软雅黑" panose="020B0503020204020204" pitchFamily="34" charset="-122"/>
              </a:endParaRPr>
            </a:p>
          </p:txBody>
        </p:sp>
        <p:sp>
          <p:nvSpPr>
            <p:cNvPr id="24" name="Text Box 69"/>
            <p:cNvSpPr txBox="1">
              <a:spLocks noChangeArrowheads="1"/>
            </p:cNvSpPr>
            <p:nvPr/>
          </p:nvSpPr>
          <p:spPr bwMode="auto">
            <a:xfrm>
              <a:off x="6516688" y="2935203"/>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10.2.0.3</a:t>
              </a:r>
              <a:endParaRPr lang="en-US" altLang="zh-CN" sz="1467" b="1" baseline="-25000">
                <a:latin typeface="微软雅黑" panose="020B0503020204020204" pitchFamily="34" charset="-122"/>
                <a:ea typeface="微软雅黑" panose="020B0503020204020204" pitchFamily="34" charset="-122"/>
              </a:endParaRPr>
            </a:p>
          </p:txBody>
        </p:sp>
        <p:sp>
          <p:nvSpPr>
            <p:cNvPr id="25" name="Text Box 69"/>
            <p:cNvSpPr txBox="1">
              <a:spLocks noChangeArrowheads="1"/>
            </p:cNvSpPr>
            <p:nvPr/>
          </p:nvSpPr>
          <p:spPr bwMode="auto">
            <a:xfrm>
              <a:off x="2716871" y="3654340"/>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latin typeface="微软雅黑" panose="020B0503020204020204" pitchFamily="34" charset="-122"/>
                  <a:ea typeface="微软雅黑" panose="020B0503020204020204" pitchFamily="34" charset="-122"/>
                </a:rPr>
                <a:t>10.1.0.1</a:t>
              </a:r>
              <a:endParaRPr lang="en-US" altLang="zh-CN" sz="1467" b="1" baseline="-25000" dirty="0">
                <a:latin typeface="微软雅黑" panose="020B0503020204020204" pitchFamily="34" charset="-122"/>
                <a:ea typeface="微软雅黑" panose="020B0503020204020204" pitchFamily="34" charset="-122"/>
              </a:endParaRPr>
            </a:p>
          </p:txBody>
        </p:sp>
        <p:sp>
          <p:nvSpPr>
            <p:cNvPr id="26" name="Text Box 69"/>
            <p:cNvSpPr txBox="1">
              <a:spLocks noChangeArrowheads="1"/>
            </p:cNvSpPr>
            <p:nvPr/>
          </p:nvSpPr>
          <p:spPr bwMode="auto">
            <a:xfrm>
              <a:off x="5643048" y="3654340"/>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latin typeface="微软雅黑" panose="020B0503020204020204" pitchFamily="34" charset="-122"/>
                  <a:ea typeface="微软雅黑" panose="020B0503020204020204" pitchFamily="34" charset="-122"/>
                </a:rPr>
                <a:t>10.1.0.2</a:t>
              </a:r>
              <a:endParaRPr lang="en-US" altLang="zh-CN" sz="1467" b="1" baseline="-25000" dirty="0">
                <a:latin typeface="微软雅黑" panose="020B0503020204020204" pitchFamily="34" charset="-122"/>
                <a:ea typeface="微软雅黑" panose="020B0503020204020204" pitchFamily="34" charset="-122"/>
              </a:endParaRPr>
            </a:p>
          </p:txBody>
        </p:sp>
        <p:sp>
          <p:nvSpPr>
            <p:cNvPr id="27" name="Text Box 69"/>
            <p:cNvSpPr txBox="1">
              <a:spLocks noChangeArrowheads="1"/>
            </p:cNvSpPr>
            <p:nvPr/>
          </p:nvSpPr>
          <p:spPr bwMode="auto">
            <a:xfrm>
              <a:off x="1413799" y="2793914"/>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10.3.0.5</a:t>
              </a:r>
              <a:endParaRPr lang="en-US" altLang="zh-CN" sz="1467" b="1" baseline="-25000">
                <a:latin typeface="微软雅黑" panose="020B0503020204020204" pitchFamily="34" charset="-122"/>
                <a:ea typeface="微软雅黑" panose="020B0503020204020204" pitchFamily="34" charset="-122"/>
              </a:endParaRPr>
            </a:p>
          </p:txBody>
        </p:sp>
        <p:sp>
          <p:nvSpPr>
            <p:cNvPr id="28" name="Text Box 69"/>
            <p:cNvSpPr txBox="1">
              <a:spLocks noChangeArrowheads="1"/>
            </p:cNvSpPr>
            <p:nvPr/>
          </p:nvSpPr>
          <p:spPr bwMode="auto">
            <a:xfrm>
              <a:off x="1405863" y="2055726"/>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latin typeface="微软雅黑" panose="020B0503020204020204" pitchFamily="34" charset="-122"/>
                  <a:ea typeface="微软雅黑" panose="020B0503020204020204" pitchFamily="34" charset="-122"/>
                </a:rPr>
                <a:t>10.3.0.6</a:t>
              </a:r>
              <a:endParaRPr lang="en-US" altLang="zh-CN" sz="1467" b="1" baseline="-25000" dirty="0">
                <a:latin typeface="微软雅黑" panose="020B0503020204020204" pitchFamily="34" charset="-122"/>
                <a:ea typeface="微软雅黑" panose="020B0503020204020204" pitchFamily="34" charset="-122"/>
              </a:endParaRPr>
            </a:p>
          </p:txBody>
        </p:sp>
        <p:sp>
          <p:nvSpPr>
            <p:cNvPr id="29" name="Line 23"/>
            <p:cNvSpPr>
              <a:spLocks noChangeShapeType="1"/>
            </p:cNvSpPr>
            <p:nvPr/>
          </p:nvSpPr>
          <p:spPr bwMode="auto">
            <a:xfrm>
              <a:off x="2627313" y="2358939"/>
              <a:ext cx="936625" cy="287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30" name="Line 26"/>
            <p:cNvSpPr>
              <a:spLocks noChangeShapeType="1"/>
            </p:cNvSpPr>
            <p:nvPr/>
          </p:nvSpPr>
          <p:spPr bwMode="auto">
            <a:xfrm>
              <a:off x="5435600" y="2646276"/>
              <a:ext cx="936625"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31" name="Line 26"/>
            <p:cNvSpPr>
              <a:spLocks noChangeShapeType="1"/>
            </p:cNvSpPr>
            <p:nvPr/>
          </p:nvSpPr>
          <p:spPr bwMode="auto">
            <a:xfrm>
              <a:off x="4572000" y="3367001"/>
              <a:ext cx="936625"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32" name="Line 26"/>
            <p:cNvSpPr>
              <a:spLocks noChangeShapeType="1"/>
            </p:cNvSpPr>
            <p:nvPr/>
          </p:nvSpPr>
          <p:spPr bwMode="auto">
            <a:xfrm flipH="1">
              <a:off x="3924300" y="3367001"/>
              <a:ext cx="576263"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grpSp>
          <p:nvGrpSpPr>
            <p:cNvPr id="33" name="组合 76"/>
            <p:cNvGrpSpPr>
              <a:grpSpLocks/>
            </p:cNvGrpSpPr>
            <p:nvPr/>
          </p:nvGrpSpPr>
          <p:grpSpPr bwMode="auto">
            <a:xfrm>
              <a:off x="5219700" y="3541651"/>
              <a:ext cx="576263" cy="617519"/>
              <a:chOff x="5220072" y="3315751"/>
              <a:chExt cx="576064" cy="617305"/>
            </a:xfrm>
          </p:grpSpPr>
          <p:pic>
            <p:nvPicPr>
              <p:cNvPr id="34"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Box 67"/>
              <p:cNvSpPr txBox="1">
                <a:spLocks noChangeArrowheads="1"/>
              </p:cNvSpPr>
              <p:nvPr/>
            </p:nvSpPr>
            <p:spPr bwMode="auto">
              <a:xfrm>
                <a:off x="5294082" y="3315751"/>
                <a:ext cx="404369"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2</a:t>
                </a:r>
              </a:p>
            </p:txBody>
          </p:sp>
        </p:grpSp>
        <p:grpSp>
          <p:nvGrpSpPr>
            <p:cNvPr id="36" name="组合 77"/>
            <p:cNvGrpSpPr>
              <a:grpSpLocks/>
            </p:cNvGrpSpPr>
            <p:nvPr/>
          </p:nvGrpSpPr>
          <p:grpSpPr bwMode="auto">
            <a:xfrm>
              <a:off x="3563938" y="3541651"/>
              <a:ext cx="576262" cy="617519"/>
              <a:chOff x="5220072" y="3315751"/>
              <a:chExt cx="576064" cy="617305"/>
            </a:xfrm>
          </p:grpSpPr>
          <p:pic>
            <p:nvPicPr>
              <p:cNvPr id="37"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 Box 67"/>
              <p:cNvSpPr txBox="1">
                <a:spLocks noChangeArrowheads="1"/>
              </p:cNvSpPr>
              <p:nvPr/>
            </p:nvSpPr>
            <p:spPr bwMode="auto">
              <a:xfrm>
                <a:off x="5294083" y="3315751"/>
                <a:ext cx="404369"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1</a:t>
                </a:r>
              </a:p>
            </p:txBody>
          </p:sp>
        </p:grpSp>
        <p:grpSp>
          <p:nvGrpSpPr>
            <p:cNvPr id="39" name="组合 86"/>
            <p:cNvGrpSpPr>
              <a:grpSpLocks/>
            </p:cNvGrpSpPr>
            <p:nvPr/>
          </p:nvGrpSpPr>
          <p:grpSpPr bwMode="auto">
            <a:xfrm>
              <a:off x="6084888" y="2820926"/>
              <a:ext cx="574675" cy="617519"/>
              <a:chOff x="5220072" y="3315751"/>
              <a:chExt cx="576064" cy="617305"/>
            </a:xfrm>
          </p:grpSpPr>
          <p:pic>
            <p:nvPicPr>
              <p:cNvPr id="40"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 Box 67"/>
              <p:cNvSpPr txBox="1">
                <a:spLocks noChangeArrowheads="1"/>
              </p:cNvSpPr>
              <p:nvPr/>
            </p:nvSpPr>
            <p:spPr bwMode="auto">
              <a:xfrm>
                <a:off x="5294022" y="3315751"/>
                <a:ext cx="405486"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3</a:t>
                </a:r>
              </a:p>
            </p:txBody>
          </p:sp>
        </p:grpSp>
        <p:grpSp>
          <p:nvGrpSpPr>
            <p:cNvPr id="42" name="组合 83"/>
            <p:cNvGrpSpPr>
              <a:grpSpLocks/>
            </p:cNvGrpSpPr>
            <p:nvPr/>
          </p:nvGrpSpPr>
          <p:grpSpPr bwMode="auto">
            <a:xfrm>
              <a:off x="2268538" y="1957326"/>
              <a:ext cx="574675" cy="617519"/>
              <a:chOff x="5220072" y="3315751"/>
              <a:chExt cx="576064" cy="617305"/>
            </a:xfrm>
          </p:grpSpPr>
          <p:pic>
            <p:nvPicPr>
              <p:cNvPr id="43"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Text Box 67"/>
              <p:cNvSpPr txBox="1">
                <a:spLocks noChangeArrowheads="1"/>
              </p:cNvSpPr>
              <p:nvPr/>
            </p:nvSpPr>
            <p:spPr bwMode="auto">
              <a:xfrm>
                <a:off x="5294022" y="3315751"/>
                <a:ext cx="405486"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latin typeface="微软雅黑" panose="020B0503020204020204" pitchFamily="34" charset="-122"/>
                    <a:ea typeface="微软雅黑" panose="020B0503020204020204" pitchFamily="34" charset="-122"/>
                  </a:rPr>
                  <a:t>H</a:t>
                </a:r>
                <a:r>
                  <a:rPr lang="en-US" altLang="zh-CN" sz="1467" b="1" baseline="-25000" dirty="0">
                    <a:latin typeface="微软雅黑" panose="020B0503020204020204" pitchFamily="34" charset="-122"/>
                    <a:ea typeface="微软雅黑" panose="020B0503020204020204" pitchFamily="34" charset="-122"/>
                  </a:rPr>
                  <a:t>6</a:t>
                </a:r>
              </a:p>
            </p:txBody>
          </p:sp>
        </p:grpSp>
        <p:grpSp>
          <p:nvGrpSpPr>
            <p:cNvPr id="45" name="组合 80"/>
            <p:cNvGrpSpPr>
              <a:grpSpLocks/>
            </p:cNvGrpSpPr>
            <p:nvPr/>
          </p:nvGrpSpPr>
          <p:grpSpPr bwMode="auto">
            <a:xfrm>
              <a:off x="2268538" y="2749489"/>
              <a:ext cx="574675" cy="617518"/>
              <a:chOff x="5220072" y="3315751"/>
              <a:chExt cx="576064" cy="617305"/>
            </a:xfrm>
          </p:grpSpPr>
          <p:pic>
            <p:nvPicPr>
              <p:cNvPr id="46"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 Box 67"/>
              <p:cNvSpPr txBox="1">
                <a:spLocks noChangeArrowheads="1"/>
              </p:cNvSpPr>
              <p:nvPr/>
            </p:nvSpPr>
            <p:spPr bwMode="auto">
              <a:xfrm>
                <a:off x="5294022" y="3315751"/>
                <a:ext cx="405486" cy="41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5</a:t>
                </a:r>
              </a:p>
            </p:txBody>
          </p:sp>
        </p:grpSp>
        <p:pic>
          <p:nvPicPr>
            <p:cNvPr id="48"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19475" y="2503401"/>
              <a:ext cx="5048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49"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6825" y="2503401"/>
              <a:ext cx="5032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50"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56100" y="3222539"/>
              <a:ext cx="5032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51" name="Text Box 69"/>
            <p:cNvSpPr txBox="1">
              <a:spLocks noChangeArrowheads="1"/>
            </p:cNvSpPr>
            <p:nvPr/>
          </p:nvSpPr>
          <p:spPr bwMode="auto">
            <a:xfrm>
              <a:off x="3203576" y="2287500"/>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1</a:t>
              </a:r>
            </a:p>
          </p:txBody>
        </p:sp>
        <p:sp>
          <p:nvSpPr>
            <p:cNvPr id="52" name="Text Box 69"/>
            <p:cNvSpPr txBox="1">
              <a:spLocks noChangeArrowheads="1"/>
            </p:cNvSpPr>
            <p:nvPr/>
          </p:nvSpPr>
          <p:spPr bwMode="auto">
            <a:xfrm>
              <a:off x="4140200" y="3078076"/>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1</a:t>
              </a:r>
            </a:p>
          </p:txBody>
        </p:sp>
        <p:sp>
          <p:nvSpPr>
            <p:cNvPr id="53" name="Text Box 69"/>
            <p:cNvSpPr txBox="1">
              <a:spLocks noChangeArrowheads="1"/>
            </p:cNvSpPr>
            <p:nvPr/>
          </p:nvSpPr>
          <p:spPr bwMode="auto">
            <a:xfrm>
              <a:off x="4859339" y="2303932"/>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1</a:t>
              </a:r>
            </a:p>
          </p:txBody>
        </p:sp>
        <p:sp>
          <p:nvSpPr>
            <p:cNvPr id="54" name="Text Box 69"/>
            <p:cNvSpPr txBox="1">
              <a:spLocks noChangeArrowheads="1"/>
            </p:cNvSpPr>
            <p:nvPr/>
          </p:nvSpPr>
          <p:spPr bwMode="auto">
            <a:xfrm>
              <a:off x="4284662" y="3398753"/>
              <a:ext cx="287336"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2</a:t>
              </a:r>
            </a:p>
          </p:txBody>
        </p:sp>
        <p:sp>
          <p:nvSpPr>
            <p:cNvPr id="55" name="Text Box 69"/>
            <p:cNvSpPr txBox="1">
              <a:spLocks noChangeArrowheads="1"/>
            </p:cNvSpPr>
            <p:nvPr/>
          </p:nvSpPr>
          <p:spPr bwMode="auto">
            <a:xfrm>
              <a:off x="3092174" y="2533582"/>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2</a:t>
              </a:r>
            </a:p>
          </p:txBody>
        </p:sp>
        <p:sp>
          <p:nvSpPr>
            <p:cNvPr id="56" name="Text Box 69"/>
            <p:cNvSpPr txBox="1">
              <a:spLocks noChangeArrowheads="1"/>
            </p:cNvSpPr>
            <p:nvPr/>
          </p:nvSpPr>
          <p:spPr bwMode="auto">
            <a:xfrm>
              <a:off x="4910322" y="2618773"/>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2</a:t>
              </a:r>
            </a:p>
          </p:txBody>
        </p:sp>
        <p:sp>
          <p:nvSpPr>
            <p:cNvPr id="57" name="Text Box 69"/>
            <p:cNvSpPr txBox="1">
              <a:spLocks noChangeArrowheads="1"/>
            </p:cNvSpPr>
            <p:nvPr/>
          </p:nvSpPr>
          <p:spPr bwMode="auto">
            <a:xfrm>
              <a:off x="5424580" y="2618773"/>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3</a:t>
              </a:r>
            </a:p>
          </p:txBody>
        </p:sp>
        <p:sp>
          <p:nvSpPr>
            <p:cNvPr id="58" name="Text Box 69"/>
            <p:cNvSpPr txBox="1">
              <a:spLocks noChangeArrowheads="1"/>
            </p:cNvSpPr>
            <p:nvPr/>
          </p:nvSpPr>
          <p:spPr bwMode="auto">
            <a:xfrm>
              <a:off x="3670301" y="2719300"/>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3</a:t>
              </a:r>
            </a:p>
          </p:txBody>
        </p:sp>
        <p:sp>
          <p:nvSpPr>
            <p:cNvPr id="59" name="Text Box 69"/>
            <p:cNvSpPr txBox="1">
              <a:spLocks noChangeArrowheads="1"/>
            </p:cNvSpPr>
            <p:nvPr/>
          </p:nvSpPr>
          <p:spPr bwMode="auto">
            <a:xfrm>
              <a:off x="4678363" y="3398753"/>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3</a:t>
              </a:r>
            </a:p>
          </p:txBody>
        </p:sp>
        <p:sp>
          <p:nvSpPr>
            <p:cNvPr id="60" name="Text Box 69"/>
            <p:cNvSpPr txBox="1">
              <a:spLocks noChangeArrowheads="1"/>
            </p:cNvSpPr>
            <p:nvPr/>
          </p:nvSpPr>
          <p:spPr bwMode="auto">
            <a:xfrm>
              <a:off x="3851274" y="2331435"/>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4</a:t>
              </a:r>
            </a:p>
          </p:txBody>
        </p:sp>
        <p:sp>
          <p:nvSpPr>
            <p:cNvPr id="61" name="Text Box 69"/>
            <p:cNvSpPr txBox="1">
              <a:spLocks noChangeArrowheads="1"/>
            </p:cNvSpPr>
            <p:nvPr/>
          </p:nvSpPr>
          <p:spPr bwMode="auto">
            <a:xfrm>
              <a:off x="4787901" y="3078076"/>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4</a:t>
              </a:r>
            </a:p>
          </p:txBody>
        </p:sp>
        <p:sp>
          <p:nvSpPr>
            <p:cNvPr id="62" name="Text Box 69"/>
            <p:cNvSpPr txBox="1">
              <a:spLocks noChangeArrowheads="1"/>
            </p:cNvSpPr>
            <p:nvPr/>
          </p:nvSpPr>
          <p:spPr bwMode="auto">
            <a:xfrm>
              <a:off x="5508625" y="2287500"/>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4</a:t>
              </a:r>
            </a:p>
          </p:txBody>
        </p:sp>
        <p:sp>
          <p:nvSpPr>
            <p:cNvPr id="63" name="Line 24"/>
            <p:cNvSpPr>
              <a:spLocks noChangeShapeType="1"/>
            </p:cNvSpPr>
            <p:nvPr/>
          </p:nvSpPr>
          <p:spPr bwMode="auto">
            <a:xfrm flipH="1" flipV="1">
              <a:off x="4438650" y="2049376"/>
              <a:ext cx="114300" cy="1162050"/>
            </a:xfrm>
            <a:prstGeom prst="line">
              <a:avLst/>
            </a:prstGeom>
            <a:noFill/>
            <a:ln w="28575">
              <a:solidFill>
                <a:srgbClr val="9900CC"/>
              </a:solidFill>
              <a:prstDash val="sysDash"/>
              <a:round/>
              <a:headEnd type="triangle" w="med" len="lg"/>
              <a:tailEnd type="none" w="lg" len="lg"/>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64" name="Line 24"/>
            <p:cNvSpPr>
              <a:spLocks noChangeShapeType="1"/>
            </p:cNvSpPr>
            <p:nvPr/>
          </p:nvSpPr>
          <p:spPr bwMode="auto">
            <a:xfrm flipH="1" flipV="1">
              <a:off x="4572000" y="2070014"/>
              <a:ext cx="647700" cy="433387"/>
            </a:xfrm>
            <a:prstGeom prst="line">
              <a:avLst/>
            </a:prstGeom>
            <a:noFill/>
            <a:ln w="28575">
              <a:solidFill>
                <a:srgbClr val="9900CC"/>
              </a:solidFill>
              <a:prstDash val="sysDash"/>
              <a:round/>
              <a:headEnd type="triangle" w="med" len="lg"/>
              <a:tailEnd type="none" w="lg" len="lg"/>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pic>
          <p:nvPicPr>
            <p:cNvPr id="15" name="Picture 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84663" y="1350876"/>
              <a:ext cx="3079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3" name="矩形 2"/>
          <p:cNvSpPr/>
          <p:nvPr/>
        </p:nvSpPr>
        <p:spPr>
          <a:xfrm>
            <a:off x="7645807" y="1604782"/>
            <a:ext cx="3416941" cy="1551515"/>
          </a:xfrm>
          <a:prstGeom prst="rect">
            <a:avLst/>
          </a:prstGeom>
          <a:solidFill>
            <a:schemeClr val="bg1"/>
          </a:solidFill>
        </p:spPr>
        <p:txBody>
          <a:bodyPr wrap="square">
            <a:spAutoFit/>
          </a:bodyPr>
          <a:lstStyle/>
          <a:p>
            <a:pPr>
              <a:lnSpc>
                <a:spcPts val="2933"/>
              </a:lnSpc>
            </a:pPr>
            <a:r>
              <a:rPr lang="zh-CN" altLang="en-US" sz="2133" b="1" dirty="0">
                <a:solidFill>
                  <a:srgbClr val="0000FF"/>
                </a:solidFill>
                <a:latin typeface="微软雅黑" panose="020B0503020204020204" pitchFamily="34" charset="-122"/>
                <a:ea typeface="微软雅黑" panose="020B0503020204020204" pitchFamily="34" charset="-122"/>
              </a:rPr>
              <a:t>转发规则：</a:t>
            </a:r>
            <a:endParaRPr lang="en-US" altLang="zh-CN" sz="2133" b="1" dirty="0">
              <a:solidFill>
                <a:srgbClr val="0000FF"/>
              </a:solidFill>
              <a:latin typeface="微软雅黑" panose="020B0503020204020204" pitchFamily="34" charset="-122"/>
              <a:ea typeface="微软雅黑" panose="020B0503020204020204" pitchFamily="34" charset="-122"/>
            </a:endParaRPr>
          </a:p>
          <a:p>
            <a:pPr>
              <a:lnSpc>
                <a:spcPts val="2933"/>
              </a:lnSpc>
            </a:pPr>
            <a:r>
              <a:rPr lang="zh-CN" altLang="en-US" sz="2133" b="1" dirty="0">
                <a:latin typeface="微软雅黑" panose="020B0503020204020204" pitchFamily="34" charset="-122"/>
                <a:ea typeface="微软雅黑" panose="020B0503020204020204" pitchFamily="34" charset="-122"/>
              </a:rPr>
              <a:t>源：</a:t>
            </a:r>
            <a:r>
              <a:rPr lang="en-US" altLang="zh-CN" sz="2133" b="1" dirty="0">
                <a:latin typeface="微软雅黑" panose="020B0503020204020204" pitchFamily="34" charset="-122"/>
                <a:ea typeface="微软雅黑" panose="020B0503020204020204" pitchFamily="34" charset="-122"/>
              </a:rPr>
              <a:t>H</a:t>
            </a:r>
            <a:r>
              <a:rPr lang="en-US" altLang="zh-CN" sz="2133" b="1" baseline="-25000" dirty="0">
                <a:latin typeface="微软雅黑" panose="020B0503020204020204" pitchFamily="34" charset="-122"/>
                <a:ea typeface="微软雅黑" panose="020B0503020204020204" pitchFamily="34" charset="-122"/>
              </a:rPr>
              <a:t>5</a:t>
            </a:r>
            <a:r>
              <a:rPr lang="en-US" altLang="zh-CN" sz="2133" b="1" dirty="0">
                <a:latin typeface="微软雅黑" panose="020B0503020204020204" pitchFamily="34" charset="-122"/>
                <a:ea typeface="微软雅黑" panose="020B0503020204020204" pitchFamily="34" charset="-122"/>
              </a:rPr>
              <a:t> </a:t>
            </a:r>
            <a:r>
              <a:rPr lang="zh-CN" altLang="en-US" sz="2133" b="1" dirty="0">
                <a:latin typeface="微软雅黑" panose="020B0503020204020204" pitchFamily="34" charset="-122"/>
                <a:ea typeface="微软雅黑" panose="020B0503020204020204" pitchFamily="34" charset="-122"/>
              </a:rPr>
              <a:t>或 </a:t>
            </a:r>
            <a:r>
              <a:rPr lang="en-US" altLang="zh-CN" sz="2133" b="1" dirty="0">
                <a:latin typeface="微软雅黑" panose="020B0503020204020204" pitchFamily="34" charset="-122"/>
                <a:ea typeface="微软雅黑" panose="020B0503020204020204" pitchFamily="34" charset="-122"/>
              </a:rPr>
              <a:t>H</a:t>
            </a:r>
            <a:r>
              <a:rPr lang="en-US" altLang="zh-CN" sz="2133" b="1" baseline="-25000" dirty="0">
                <a:latin typeface="微软雅黑" panose="020B0503020204020204" pitchFamily="34" charset="-122"/>
                <a:ea typeface="微软雅黑" panose="020B0503020204020204" pitchFamily="34" charset="-122"/>
              </a:rPr>
              <a:t>6</a:t>
            </a:r>
            <a:r>
              <a:rPr lang="en-US" altLang="zh-CN" sz="2133" b="1" dirty="0">
                <a:latin typeface="微软雅黑" panose="020B0503020204020204" pitchFamily="34" charset="-122"/>
                <a:ea typeface="微软雅黑" panose="020B0503020204020204" pitchFamily="34" charset="-122"/>
              </a:rPr>
              <a:t> </a:t>
            </a:r>
          </a:p>
          <a:p>
            <a:pPr>
              <a:lnSpc>
                <a:spcPts val="2933"/>
              </a:lnSpc>
            </a:pPr>
            <a:r>
              <a:rPr lang="zh-CN" altLang="en-US" sz="2133" b="1" dirty="0">
                <a:latin typeface="微软雅黑" panose="020B0503020204020204" pitchFamily="34" charset="-122"/>
                <a:ea typeface="微软雅黑" panose="020B0503020204020204" pitchFamily="34" charset="-122"/>
              </a:rPr>
              <a:t>目的：</a:t>
            </a:r>
            <a:r>
              <a:rPr lang="en-US" altLang="zh-CN" sz="2133" b="1" dirty="0">
                <a:latin typeface="微软雅黑" panose="020B0503020204020204" pitchFamily="34" charset="-122"/>
                <a:ea typeface="微软雅黑" panose="020B0503020204020204" pitchFamily="34" charset="-122"/>
              </a:rPr>
              <a:t>H</a:t>
            </a:r>
            <a:r>
              <a:rPr lang="en-US" altLang="zh-CN" sz="2133" b="1" baseline="-25000" dirty="0">
                <a:latin typeface="微软雅黑" panose="020B0503020204020204" pitchFamily="34" charset="-122"/>
                <a:ea typeface="微软雅黑" panose="020B0503020204020204" pitchFamily="34" charset="-122"/>
              </a:rPr>
              <a:t>3</a:t>
            </a:r>
            <a:r>
              <a:rPr lang="en-US" altLang="zh-CN" sz="2133" b="1" dirty="0">
                <a:latin typeface="微软雅黑" panose="020B0503020204020204" pitchFamily="34" charset="-122"/>
                <a:ea typeface="微软雅黑" panose="020B0503020204020204" pitchFamily="34" charset="-122"/>
              </a:rPr>
              <a:t> </a:t>
            </a:r>
            <a:r>
              <a:rPr lang="zh-CN" altLang="en-US" sz="2133" b="1" dirty="0">
                <a:latin typeface="微软雅黑" panose="020B0503020204020204" pitchFamily="34" charset="-122"/>
                <a:ea typeface="微软雅黑" panose="020B0503020204020204" pitchFamily="34" charset="-122"/>
              </a:rPr>
              <a:t>或 </a:t>
            </a:r>
            <a:r>
              <a:rPr lang="en-US" altLang="zh-CN" sz="2133" b="1" dirty="0">
                <a:latin typeface="微软雅黑" panose="020B0503020204020204" pitchFamily="34" charset="-122"/>
                <a:ea typeface="微软雅黑" panose="020B0503020204020204" pitchFamily="34" charset="-122"/>
              </a:rPr>
              <a:t>H</a:t>
            </a:r>
            <a:r>
              <a:rPr lang="en-US" altLang="zh-CN" sz="2133" b="1" baseline="-25000" dirty="0">
                <a:latin typeface="微软雅黑" panose="020B0503020204020204" pitchFamily="34" charset="-122"/>
                <a:ea typeface="微软雅黑" panose="020B0503020204020204" pitchFamily="34" charset="-122"/>
              </a:rPr>
              <a:t>4</a:t>
            </a:r>
            <a:r>
              <a:rPr lang="en-US" altLang="zh-CN" sz="2133" b="1" dirty="0">
                <a:latin typeface="微软雅黑" panose="020B0503020204020204" pitchFamily="34" charset="-122"/>
                <a:ea typeface="微软雅黑" panose="020B0503020204020204" pitchFamily="34" charset="-122"/>
              </a:rPr>
              <a:t> </a:t>
            </a:r>
          </a:p>
          <a:p>
            <a:pPr>
              <a:lnSpc>
                <a:spcPts val="2933"/>
              </a:lnSpc>
            </a:pPr>
            <a:r>
              <a:rPr lang="zh-CN" altLang="en-US" sz="2133" b="1" dirty="0">
                <a:latin typeface="微软雅黑" panose="020B0503020204020204" pitchFamily="34" charset="-122"/>
                <a:ea typeface="微软雅黑" panose="020B0503020204020204" pitchFamily="34" charset="-122"/>
              </a:rPr>
              <a:t>路径：</a:t>
            </a:r>
            <a:r>
              <a:rPr lang="en-US" altLang="zh-CN" sz="2133" b="1" dirty="0">
                <a:latin typeface="微软雅黑" panose="020B0503020204020204" pitchFamily="34" charset="-122"/>
                <a:ea typeface="微软雅黑" panose="020B0503020204020204" pitchFamily="34" charset="-122"/>
              </a:rPr>
              <a:t>S</a:t>
            </a:r>
            <a:r>
              <a:rPr lang="en-US" altLang="zh-CN" sz="2133" b="1" baseline="-25000" dirty="0">
                <a:latin typeface="微软雅黑" panose="020B0503020204020204" pitchFamily="34" charset="-122"/>
                <a:ea typeface="微软雅黑" panose="020B0503020204020204" pitchFamily="34" charset="-122"/>
              </a:rPr>
              <a:t>3</a:t>
            </a:r>
            <a:r>
              <a:rPr lang="en-US" altLang="zh-CN" sz="2133" b="1" dirty="0">
                <a:latin typeface="微软雅黑" panose="020B0503020204020204" pitchFamily="34" charset="-122"/>
                <a:ea typeface="微软雅黑" panose="020B0503020204020204" pitchFamily="34" charset="-122"/>
              </a:rPr>
              <a:t> </a:t>
            </a:r>
            <a:r>
              <a:rPr lang="en-US" altLang="zh-CN" sz="2133" b="1" dirty="0">
                <a:latin typeface="微软雅黑" panose="020B0503020204020204" pitchFamily="34" charset="-122"/>
                <a:ea typeface="微软雅黑" panose="020B0503020204020204" pitchFamily="34" charset="-122"/>
                <a:sym typeface="Wingdings" panose="05000000000000000000" pitchFamily="2" charset="2"/>
              </a:rPr>
              <a:t> </a:t>
            </a:r>
            <a:r>
              <a:rPr lang="en-US" altLang="zh-CN" sz="2133" b="1" dirty="0">
                <a:latin typeface="微软雅黑" panose="020B0503020204020204" pitchFamily="34" charset="-122"/>
                <a:ea typeface="微软雅黑" panose="020B0503020204020204" pitchFamily="34" charset="-122"/>
              </a:rPr>
              <a:t>S</a:t>
            </a:r>
            <a:r>
              <a:rPr lang="en-US" altLang="zh-CN" sz="2133" b="1" baseline="-25000" dirty="0">
                <a:latin typeface="微软雅黑" panose="020B0503020204020204" pitchFamily="34" charset="-122"/>
                <a:ea typeface="微软雅黑" panose="020B0503020204020204" pitchFamily="34" charset="-122"/>
              </a:rPr>
              <a:t>1</a:t>
            </a:r>
            <a:r>
              <a:rPr lang="en-US" altLang="zh-CN" sz="2133" b="1" dirty="0">
                <a:latin typeface="微软雅黑" panose="020B0503020204020204" pitchFamily="34" charset="-122"/>
                <a:ea typeface="微软雅黑" panose="020B0503020204020204" pitchFamily="34" charset="-122"/>
              </a:rPr>
              <a:t> </a:t>
            </a:r>
            <a:r>
              <a:rPr lang="en-US" altLang="zh-CN" sz="2133" b="1" dirty="0">
                <a:latin typeface="微软雅黑" panose="020B0503020204020204" pitchFamily="34" charset="-122"/>
                <a:ea typeface="微软雅黑" panose="020B0503020204020204" pitchFamily="34" charset="-122"/>
                <a:sym typeface="Wingdings" panose="05000000000000000000" pitchFamily="2" charset="2"/>
              </a:rPr>
              <a:t> </a:t>
            </a:r>
            <a:r>
              <a:rPr lang="en-US" altLang="zh-CN" sz="2133" b="1" dirty="0">
                <a:latin typeface="微软雅黑" panose="020B0503020204020204" pitchFamily="34" charset="-122"/>
                <a:ea typeface="微软雅黑" panose="020B0503020204020204" pitchFamily="34" charset="-122"/>
              </a:rPr>
              <a:t>S</a:t>
            </a:r>
            <a:r>
              <a:rPr lang="en-US" altLang="zh-CN" sz="2133" b="1" baseline="-25000" dirty="0">
                <a:latin typeface="微软雅黑" panose="020B0503020204020204" pitchFamily="34" charset="-122"/>
                <a:ea typeface="微软雅黑" panose="020B0503020204020204" pitchFamily="34" charset="-122"/>
              </a:rPr>
              <a:t>2</a:t>
            </a:r>
            <a:r>
              <a:rPr lang="zh-CN" altLang="en-US" sz="2133" b="1" dirty="0">
                <a:latin typeface="微软雅黑" panose="020B0503020204020204" pitchFamily="34" charset="-122"/>
                <a:ea typeface="微软雅黑" panose="020B0503020204020204" pitchFamily="34" charset="-122"/>
              </a:rPr>
              <a:t>。</a:t>
            </a:r>
          </a:p>
        </p:txBody>
      </p:sp>
      <p:graphicFrame>
        <p:nvGraphicFramePr>
          <p:cNvPr id="5" name="表格 4"/>
          <p:cNvGraphicFramePr>
            <a:graphicFrameLocks noGrp="1"/>
          </p:cNvGraphicFramePr>
          <p:nvPr/>
        </p:nvGraphicFramePr>
        <p:xfrm>
          <a:off x="856398" y="4213017"/>
          <a:ext cx="5082676" cy="812800"/>
        </p:xfrm>
        <a:graphic>
          <a:graphicData uri="http://schemas.openxmlformats.org/drawingml/2006/table">
            <a:tbl>
              <a:tblPr firstRow="1" firstCol="1" bandRow="1"/>
              <a:tblGrid>
                <a:gridCol w="4165259">
                  <a:extLst>
                    <a:ext uri="{9D8B030D-6E8A-4147-A177-3AD203B41FA5}">
                      <a16:colId xmlns:a16="http://schemas.microsoft.com/office/drawing/2014/main" val="369496196"/>
                    </a:ext>
                  </a:extLst>
                </a:gridCol>
                <a:gridCol w="917417">
                  <a:extLst>
                    <a:ext uri="{9D8B030D-6E8A-4147-A177-3AD203B41FA5}">
                      <a16:colId xmlns:a16="http://schemas.microsoft.com/office/drawing/2014/main" val="3538432755"/>
                    </a:ext>
                  </a:extLst>
                </a:gridCol>
              </a:tblGrid>
              <a:tr h="247481">
                <a:tc>
                  <a:txBody>
                    <a:bodyPr/>
                    <a:lstStyle/>
                    <a:p>
                      <a:pPr marL="0" indent="0" algn="ctr" fontAlgn="base">
                        <a:lnSpc>
                          <a:spcPts val="1560"/>
                        </a:lnSpc>
                        <a:spcAft>
                          <a:spcPts val="0"/>
                        </a:spcAft>
                      </a:pPr>
                      <a:r>
                        <a:rPr lang="zh-CN" sz="1500" b="1" kern="500" dirty="0">
                          <a:effectLst/>
                          <a:latin typeface="微软雅黑" panose="020B0503020204020204" pitchFamily="34" charset="-122"/>
                          <a:ea typeface="微软雅黑" panose="020B0503020204020204" pitchFamily="34" charset="-122"/>
                        </a:rPr>
                        <a:t>匹配</a:t>
                      </a: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fontAlgn="base">
                        <a:lnSpc>
                          <a:spcPts val="1560"/>
                        </a:lnSpc>
                        <a:spcAft>
                          <a:spcPts val="0"/>
                        </a:spcAft>
                      </a:pPr>
                      <a:r>
                        <a:rPr lang="zh-CN" sz="1500" b="1" kern="500" dirty="0">
                          <a:effectLst/>
                          <a:latin typeface="微软雅黑" panose="020B0503020204020204" pitchFamily="34" charset="-122"/>
                          <a:ea typeface="微软雅黑" panose="020B0503020204020204" pitchFamily="34" charset="-122"/>
                        </a:rPr>
                        <a:t>动作</a:t>
                      </a: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5501919"/>
                  </a:ext>
                </a:extLst>
              </a:tr>
              <a:tr h="518415">
                <a:tc>
                  <a:txBody>
                    <a:bodyPr/>
                    <a:lstStyle/>
                    <a:p>
                      <a:pPr marL="0" indent="0" algn="just" fontAlgn="base">
                        <a:lnSpc>
                          <a:spcPts val="1560"/>
                        </a:lnSpc>
                        <a:spcAft>
                          <a:spcPts val="0"/>
                        </a:spcAft>
                      </a:pPr>
                      <a:r>
                        <a:rPr lang="en-US" sz="1500" b="1" kern="500" dirty="0">
                          <a:effectLst/>
                          <a:latin typeface="微软雅黑" panose="020B0503020204020204" pitchFamily="34" charset="-122"/>
                          <a:ea typeface="微软雅黑" panose="020B0503020204020204" pitchFamily="34" charset="-122"/>
                        </a:rPr>
                        <a:t>IP </a:t>
                      </a:r>
                      <a:r>
                        <a:rPr lang="zh-CN" sz="1500" b="1" kern="500" dirty="0">
                          <a:effectLst/>
                          <a:latin typeface="微软雅黑" panose="020B0503020204020204" pitchFamily="34" charset="-122"/>
                          <a:ea typeface="微软雅黑" panose="020B0503020204020204" pitchFamily="34" charset="-122"/>
                        </a:rPr>
                        <a:t>源地址</a:t>
                      </a:r>
                      <a:r>
                        <a:rPr lang="en-US" sz="1500" b="1" kern="500" dirty="0">
                          <a:effectLst/>
                          <a:latin typeface="微软雅黑" panose="020B0503020204020204" pitchFamily="34" charset="-122"/>
                          <a:ea typeface="微软雅黑" panose="020B0503020204020204" pitchFamily="34" charset="-122"/>
                        </a:rPr>
                        <a:t> = 10.3.*.*</a:t>
                      </a:r>
                      <a:r>
                        <a:rPr lang="zh-CN" sz="1500" b="1" kern="500" dirty="0">
                          <a:effectLst/>
                          <a:latin typeface="微软雅黑" panose="020B0503020204020204" pitchFamily="34" charset="-122"/>
                          <a:ea typeface="微软雅黑" panose="020B0503020204020204" pitchFamily="34" charset="-122"/>
                        </a:rPr>
                        <a:t>；</a:t>
                      </a:r>
                      <a:r>
                        <a:rPr lang="en-US" sz="1500" b="1" kern="500" dirty="0">
                          <a:effectLst/>
                          <a:latin typeface="微软雅黑" panose="020B0503020204020204" pitchFamily="34" charset="-122"/>
                          <a:ea typeface="微软雅黑" panose="020B0503020204020204" pitchFamily="34" charset="-122"/>
                        </a:rPr>
                        <a:t>IP </a:t>
                      </a:r>
                      <a:r>
                        <a:rPr lang="zh-CN" sz="1500" b="1" kern="500" dirty="0">
                          <a:effectLst/>
                          <a:latin typeface="微软雅黑" panose="020B0503020204020204" pitchFamily="34" charset="-122"/>
                          <a:ea typeface="微软雅黑" panose="020B0503020204020204" pitchFamily="34" charset="-122"/>
                        </a:rPr>
                        <a:t>目的地址</a:t>
                      </a:r>
                      <a:r>
                        <a:rPr lang="en-US" sz="1500" b="1" kern="500" dirty="0">
                          <a:effectLst/>
                          <a:latin typeface="微软雅黑" panose="020B0503020204020204" pitchFamily="34" charset="-122"/>
                          <a:ea typeface="微软雅黑" panose="020B0503020204020204" pitchFamily="34" charset="-122"/>
                        </a:rPr>
                        <a:t> = 10.2.*.*</a:t>
                      </a:r>
                      <a:endParaRPr lang="zh-CN" sz="1500" b="1" kern="500" dirty="0">
                        <a:effectLst/>
                        <a:latin typeface="微软雅黑" panose="020B0503020204020204" pitchFamily="34" charset="-122"/>
                        <a:ea typeface="微软雅黑" panose="020B0503020204020204" pitchFamily="34" charset="-122"/>
                      </a:endParaRPr>
                    </a:p>
                    <a:p>
                      <a:pPr marL="0" indent="0" algn="ctr" fontAlgn="base">
                        <a:lnSpc>
                          <a:spcPts val="1560"/>
                        </a:lnSpc>
                        <a:spcAft>
                          <a:spcPts val="0"/>
                        </a:spcAft>
                      </a:pPr>
                      <a:r>
                        <a:rPr lang="en-US" sz="1500" b="1" kern="500" dirty="0">
                          <a:effectLst/>
                          <a:latin typeface="微软雅黑" panose="020B0503020204020204" pitchFamily="34" charset="-122"/>
                          <a:ea typeface="微软雅黑" panose="020B0503020204020204" pitchFamily="34" charset="-122"/>
                        </a:rPr>
                        <a:t>······</a:t>
                      </a:r>
                      <a:endParaRPr lang="zh-CN" sz="1500" b="1" kern="500" dirty="0">
                        <a:effectLst/>
                        <a:latin typeface="微软雅黑" panose="020B0503020204020204" pitchFamily="34" charset="-122"/>
                        <a:ea typeface="微软雅黑" panose="020B0503020204020204" pitchFamily="34" charset="-122"/>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fontAlgn="base">
                        <a:lnSpc>
                          <a:spcPts val="1560"/>
                        </a:lnSpc>
                        <a:spcAft>
                          <a:spcPts val="0"/>
                        </a:spcAft>
                      </a:pPr>
                      <a:r>
                        <a:rPr lang="zh-CN" sz="1500" b="1" kern="500" dirty="0">
                          <a:effectLst/>
                          <a:latin typeface="微软雅黑" panose="020B0503020204020204" pitchFamily="34" charset="-122"/>
                          <a:ea typeface="微软雅黑" panose="020B0503020204020204" pitchFamily="34" charset="-122"/>
                        </a:rPr>
                        <a:t>转发</a:t>
                      </a:r>
                      <a:r>
                        <a:rPr lang="en-US" sz="1500" b="1" kern="500" dirty="0">
                          <a:effectLst/>
                          <a:latin typeface="微软雅黑" panose="020B0503020204020204" pitchFamily="34" charset="-122"/>
                          <a:ea typeface="微软雅黑" panose="020B0503020204020204" pitchFamily="34" charset="-122"/>
                        </a:rPr>
                        <a:t>(3)</a:t>
                      </a:r>
                      <a:endParaRPr lang="zh-CN" sz="1500" b="1" kern="500" dirty="0">
                        <a:effectLst/>
                        <a:latin typeface="微软雅黑" panose="020B0503020204020204" pitchFamily="34" charset="-122"/>
                        <a:ea typeface="微软雅黑" panose="020B0503020204020204" pitchFamily="34" charset="-122"/>
                      </a:endParaRPr>
                    </a:p>
                    <a:p>
                      <a:pPr marL="0" indent="0" algn="ctr" fontAlgn="base">
                        <a:lnSpc>
                          <a:spcPts val="1560"/>
                        </a:lnSpc>
                        <a:spcAft>
                          <a:spcPts val="0"/>
                        </a:spcAft>
                      </a:pPr>
                      <a:r>
                        <a:rPr lang="en-US" sz="1500" b="1" kern="500" dirty="0">
                          <a:effectLst/>
                          <a:latin typeface="微软雅黑" panose="020B0503020204020204" pitchFamily="34" charset="-122"/>
                          <a:ea typeface="微软雅黑" panose="020B0503020204020204" pitchFamily="34" charset="-122"/>
                        </a:rPr>
                        <a:t>······</a:t>
                      </a:r>
                      <a:endParaRPr lang="zh-CN" sz="1500" b="1" kern="500" dirty="0">
                        <a:effectLst/>
                        <a:latin typeface="微软雅黑" panose="020B0503020204020204" pitchFamily="34" charset="-122"/>
                        <a:ea typeface="微软雅黑" panose="020B0503020204020204" pitchFamily="34" charset="-122"/>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1699035"/>
                  </a:ext>
                </a:extLst>
              </a:tr>
            </a:tbl>
          </a:graphicData>
        </a:graphic>
      </p:graphicFrame>
      <p:graphicFrame>
        <p:nvGraphicFramePr>
          <p:cNvPr id="6" name="表格 5"/>
          <p:cNvGraphicFramePr>
            <a:graphicFrameLocks noGrp="1"/>
          </p:cNvGraphicFramePr>
          <p:nvPr/>
        </p:nvGraphicFramePr>
        <p:xfrm>
          <a:off x="875899" y="5364440"/>
          <a:ext cx="6403087" cy="812800"/>
        </p:xfrm>
        <a:graphic>
          <a:graphicData uri="http://schemas.openxmlformats.org/drawingml/2006/table">
            <a:tbl>
              <a:tblPr firstRow="1" firstCol="1" bandRow="1"/>
              <a:tblGrid>
                <a:gridCol w="5352885">
                  <a:extLst>
                    <a:ext uri="{9D8B030D-6E8A-4147-A177-3AD203B41FA5}">
                      <a16:colId xmlns:a16="http://schemas.microsoft.com/office/drawing/2014/main" val="2854143695"/>
                    </a:ext>
                  </a:extLst>
                </a:gridCol>
                <a:gridCol w="1050201">
                  <a:extLst>
                    <a:ext uri="{9D8B030D-6E8A-4147-A177-3AD203B41FA5}">
                      <a16:colId xmlns:a16="http://schemas.microsoft.com/office/drawing/2014/main" val="1097916237"/>
                    </a:ext>
                  </a:extLst>
                </a:gridCol>
              </a:tblGrid>
              <a:tr h="247481">
                <a:tc>
                  <a:txBody>
                    <a:bodyPr/>
                    <a:lstStyle/>
                    <a:p>
                      <a:pPr marL="0" indent="0" algn="ctr" fontAlgn="base">
                        <a:lnSpc>
                          <a:spcPts val="1560"/>
                        </a:lnSpc>
                        <a:spcAft>
                          <a:spcPts val="0"/>
                        </a:spcAft>
                      </a:pPr>
                      <a:r>
                        <a:rPr lang="zh-CN" sz="1500" b="1" kern="500" dirty="0">
                          <a:solidFill>
                            <a:schemeClr val="tx1"/>
                          </a:solidFill>
                          <a:effectLst/>
                          <a:latin typeface="微软雅黑" panose="020B0503020204020204" pitchFamily="34" charset="-122"/>
                          <a:ea typeface="微软雅黑" panose="020B0503020204020204" pitchFamily="34" charset="-122"/>
                          <a:cs typeface="+mn-cs"/>
                        </a:rPr>
                        <a:t>匹配</a:t>
                      </a: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fontAlgn="base">
                        <a:lnSpc>
                          <a:spcPts val="1560"/>
                        </a:lnSpc>
                        <a:spcAft>
                          <a:spcPts val="0"/>
                        </a:spcAft>
                      </a:pPr>
                      <a:r>
                        <a:rPr lang="zh-CN" sz="1500" b="1" kern="500" dirty="0">
                          <a:solidFill>
                            <a:schemeClr val="tx1"/>
                          </a:solidFill>
                          <a:effectLst/>
                          <a:latin typeface="微软雅黑" panose="020B0503020204020204" pitchFamily="34" charset="-122"/>
                          <a:ea typeface="微软雅黑" panose="020B0503020204020204" pitchFamily="34" charset="-122"/>
                          <a:cs typeface="+mn-cs"/>
                        </a:rPr>
                        <a:t>动作</a:t>
                      </a: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085059"/>
                  </a:ext>
                </a:extLst>
              </a:tr>
              <a:tr h="518415">
                <a:tc>
                  <a:txBody>
                    <a:bodyPr/>
                    <a:lstStyle/>
                    <a:p>
                      <a:pPr marL="0" indent="0" algn="l" defTabSz="914400" rtl="0" eaLnBrk="1" fontAlgn="base" latinLnBrk="0" hangingPunct="1">
                        <a:lnSpc>
                          <a:spcPts val="1560"/>
                        </a:lnSpc>
                        <a:spcAft>
                          <a:spcPts val="0"/>
                        </a:spcAft>
                      </a:pPr>
                      <a:r>
                        <a:rPr lang="zh-CN" sz="1500" b="1" kern="500" dirty="0">
                          <a:solidFill>
                            <a:schemeClr val="tx1"/>
                          </a:solidFill>
                          <a:effectLst/>
                          <a:latin typeface="微软雅黑" panose="020B0503020204020204" pitchFamily="34" charset="-122"/>
                          <a:ea typeface="微软雅黑" panose="020B0503020204020204" pitchFamily="34" charset="-122"/>
                          <a:cs typeface="+mn-cs"/>
                        </a:rPr>
                        <a:t>入端口</a:t>
                      </a:r>
                      <a:r>
                        <a:rPr lang="en-US" sz="1500" b="1" kern="500" dirty="0">
                          <a:solidFill>
                            <a:schemeClr val="tx1"/>
                          </a:solidFill>
                          <a:effectLst/>
                          <a:latin typeface="微软雅黑" panose="020B0503020204020204" pitchFamily="34" charset="-122"/>
                          <a:ea typeface="微软雅黑" panose="020B0503020204020204" pitchFamily="34" charset="-122"/>
                          <a:cs typeface="+mn-cs"/>
                        </a:rPr>
                        <a:t> = 1</a:t>
                      </a:r>
                      <a:r>
                        <a:rPr lang="zh-CN" sz="1500" b="1" kern="500" dirty="0">
                          <a:solidFill>
                            <a:schemeClr val="tx1"/>
                          </a:solidFill>
                          <a:effectLst/>
                          <a:latin typeface="微软雅黑" panose="020B0503020204020204" pitchFamily="34" charset="-122"/>
                          <a:ea typeface="微软雅黑" panose="020B0503020204020204" pitchFamily="34" charset="-122"/>
                          <a:cs typeface="+mn-cs"/>
                        </a:rPr>
                        <a:t>；</a:t>
                      </a:r>
                      <a:r>
                        <a:rPr lang="en-US" sz="1500" b="1" kern="500" dirty="0">
                          <a:solidFill>
                            <a:schemeClr val="tx1"/>
                          </a:solidFill>
                          <a:effectLst/>
                          <a:latin typeface="微软雅黑" panose="020B0503020204020204" pitchFamily="34" charset="-122"/>
                          <a:ea typeface="微软雅黑" panose="020B0503020204020204" pitchFamily="34" charset="-122"/>
                          <a:cs typeface="+mn-cs"/>
                        </a:rPr>
                        <a:t>IP </a:t>
                      </a:r>
                      <a:r>
                        <a:rPr lang="zh-CN" sz="1500" b="1" kern="500" dirty="0">
                          <a:solidFill>
                            <a:schemeClr val="tx1"/>
                          </a:solidFill>
                          <a:effectLst/>
                          <a:latin typeface="微软雅黑" panose="020B0503020204020204" pitchFamily="34" charset="-122"/>
                          <a:ea typeface="微软雅黑" panose="020B0503020204020204" pitchFamily="34" charset="-122"/>
                          <a:cs typeface="+mn-cs"/>
                        </a:rPr>
                        <a:t>源地址</a:t>
                      </a:r>
                      <a:r>
                        <a:rPr lang="en-US" sz="1500" b="1" kern="500" dirty="0">
                          <a:solidFill>
                            <a:schemeClr val="tx1"/>
                          </a:solidFill>
                          <a:effectLst/>
                          <a:latin typeface="微软雅黑" panose="020B0503020204020204" pitchFamily="34" charset="-122"/>
                          <a:ea typeface="微软雅黑" panose="020B0503020204020204" pitchFamily="34" charset="-122"/>
                          <a:cs typeface="+mn-cs"/>
                        </a:rPr>
                        <a:t> = 10.3.*.*</a:t>
                      </a:r>
                      <a:r>
                        <a:rPr lang="zh-CN" sz="1500" b="1" kern="500" dirty="0">
                          <a:solidFill>
                            <a:schemeClr val="tx1"/>
                          </a:solidFill>
                          <a:effectLst/>
                          <a:latin typeface="微软雅黑" panose="020B0503020204020204" pitchFamily="34" charset="-122"/>
                          <a:ea typeface="微软雅黑" panose="020B0503020204020204" pitchFamily="34" charset="-122"/>
                          <a:cs typeface="+mn-cs"/>
                        </a:rPr>
                        <a:t>；</a:t>
                      </a:r>
                      <a:r>
                        <a:rPr lang="en-US" sz="1500" b="1" kern="500" dirty="0">
                          <a:solidFill>
                            <a:schemeClr val="tx1"/>
                          </a:solidFill>
                          <a:effectLst/>
                          <a:latin typeface="微软雅黑" panose="020B0503020204020204" pitchFamily="34" charset="-122"/>
                          <a:ea typeface="微软雅黑" panose="020B0503020204020204" pitchFamily="34" charset="-122"/>
                          <a:cs typeface="+mn-cs"/>
                        </a:rPr>
                        <a:t>IP </a:t>
                      </a:r>
                      <a:r>
                        <a:rPr lang="zh-CN" sz="1500" b="1" kern="500" dirty="0">
                          <a:solidFill>
                            <a:schemeClr val="tx1"/>
                          </a:solidFill>
                          <a:effectLst/>
                          <a:latin typeface="微软雅黑" panose="020B0503020204020204" pitchFamily="34" charset="-122"/>
                          <a:ea typeface="微软雅黑" panose="020B0503020204020204" pitchFamily="34" charset="-122"/>
                          <a:cs typeface="+mn-cs"/>
                        </a:rPr>
                        <a:t>目的地址</a:t>
                      </a:r>
                      <a:r>
                        <a:rPr lang="en-US" sz="1500" b="1" kern="500" dirty="0">
                          <a:solidFill>
                            <a:schemeClr val="tx1"/>
                          </a:solidFill>
                          <a:effectLst/>
                          <a:latin typeface="微软雅黑" panose="020B0503020204020204" pitchFamily="34" charset="-122"/>
                          <a:ea typeface="微软雅黑" panose="020B0503020204020204" pitchFamily="34" charset="-122"/>
                          <a:cs typeface="+mn-cs"/>
                        </a:rPr>
                        <a:t> = 10.2.*.*</a:t>
                      </a:r>
                      <a:endParaRPr lang="zh-CN" sz="1500" b="1" kern="500" dirty="0">
                        <a:solidFill>
                          <a:schemeClr val="tx1"/>
                        </a:solidFill>
                        <a:effectLst/>
                        <a:latin typeface="微软雅黑" panose="020B0503020204020204" pitchFamily="34" charset="-122"/>
                        <a:ea typeface="微软雅黑" panose="020B0503020204020204" pitchFamily="34" charset="-122"/>
                        <a:cs typeface="+mn-cs"/>
                      </a:endParaRPr>
                    </a:p>
                    <a:p>
                      <a:pPr marL="0" indent="0" algn="ctr" defTabSz="914400" rtl="0" eaLnBrk="1" fontAlgn="base" latinLnBrk="0" hangingPunct="1">
                        <a:lnSpc>
                          <a:spcPts val="1560"/>
                        </a:lnSpc>
                        <a:spcAft>
                          <a:spcPts val="0"/>
                        </a:spcAft>
                      </a:pPr>
                      <a:r>
                        <a:rPr lang="en-US" sz="1500" b="1" kern="500" dirty="0">
                          <a:solidFill>
                            <a:schemeClr val="tx1"/>
                          </a:solidFill>
                          <a:effectLst/>
                          <a:latin typeface="微软雅黑" panose="020B0503020204020204" pitchFamily="34" charset="-122"/>
                          <a:ea typeface="微软雅黑" panose="020B0503020204020204" pitchFamily="34" charset="-122"/>
                          <a:cs typeface="+mn-cs"/>
                        </a:rPr>
                        <a:t>······</a:t>
                      </a:r>
                      <a:endParaRPr lang="zh-CN" sz="1500" b="1" kern="500" dirty="0">
                        <a:solidFill>
                          <a:schemeClr val="tx1"/>
                        </a:solidFill>
                        <a:effectLst/>
                        <a:latin typeface="微软雅黑" panose="020B0503020204020204" pitchFamily="34" charset="-122"/>
                        <a:ea typeface="微软雅黑" panose="020B0503020204020204" pitchFamily="34" charset="-122"/>
                        <a:cs typeface="+mn-cs"/>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fontAlgn="base">
                        <a:lnSpc>
                          <a:spcPts val="1560"/>
                        </a:lnSpc>
                        <a:spcAft>
                          <a:spcPts val="0"/>
                        </a:spcAft>
                      </a:pPr>
                      <a:r>
                        <a:rPr lang="zh-CN" sz="1500" b="1" kern="500" dirty="0">
                          <a:solidFill>
                            <a:schemeClr val="tx1"/>
                          </a:solidFill>
                          <a:effectLst/>
                          <a:latin typeface="微软雅黑" panose="020B0503020204020204" pitchFamily="34" charset="-122"/>
                          <a:ea typeface="微软雅黑" panose="020B0503020204020204" pitchFamily="34" charset="-122"/>
                          <a:cs typeface="+mn-cs"/>
                        </a:rPr>
                        <a:t>转发</a:t>
                      </a:r>
                      <a:r>
                        <a:rPr lang="en-US" sz="1500" b="1" kern="500" dirty="0">
                          <a:solidFill>
                            <a:schemeClr val="tx1"/>
                          </a:solidFill>
                          <a:effectLst/>
                          <a:latin typeface="微软雅黑" panose="020B0503020204020204" pitchFamily="34" charset="-122"/>
                          <a:ea typeface="微软雅黑" panose="020B0503020204020204" pitchFamily="34" charset="-122"/>
                          <a:cs typeface="+mn-cs"/>
                        </a:rPr>
                        <a:t>(4)</a:t>
                      </a:r>
                      <a:endParaRPr lang="zh-CN" sz="1500" b="1" kern="500" dirty="0">
                        <a:solidFill>
                          <a:schemeClr val="tx1"/>
                        </a:solidFill>
                        <a:effectLst/>
                        <a:latin typeface="微软雅黑" panose="020B0503020204020204" pitchFamily="34" charset="-122"/>
                        <a:ea typeface="微软雅黑" panose="020B0503020204020204" pitchFamily="34" charset="-122"/>
                        <a:cs typeface="+mn-cs"/>
                      </a:endParaRPr>
                    </a:p>
                    <a:p>
                      <a:pPr marL="0" indent="0" algn="ctr" fontAlgn="base">
                        <a:lnSpc>
                          <a:spcPts val="1560"/>
                        </a:lnSpc>
                        <a:spcAft>
                          <a:spcPts val="0"/>
                        </a:spcAft>
                      </a:pPr>
                      <a:r>
                        <a:rPr lang="en-US" sz="1500" b="1" kern="500" dirty="0">
                          <a:solidFill>
                            <a:schemeClr val="tx1"/>
                          </a:solidFill>
                          <a:effectLst/>
                          <a:latin typeface="微软雅黑" panose="020B0503020204020204" pitchFamily="34" charset="-122"/>
                          <a:ea typeface="微软雅黑" panose="020B0503020204020204" pitchFamily="34" charset="-122"/>
                          <a:cs typeface="+mn-cs"/>
                        </a:rPr>
                        <a:t>······</a:t>
                      </a:r>
                      <a:endParaRPr lang="zh-CN" sz="1500" b="1" kern="500" dirty="0">
                        <a:solidFill>
                          <a:schemeClr val="tx1"/>
                        </a:solidFill>
                        <a:effectLst/>
                        <a:latin typeface="微软雅黑" panose="020B0503020204020204" pitchFamily="34" charset="-122"/>
                        <a:ea typeface="微软雅黑" panose="020B0503020204020204" pitchFamily="34" charset="-122"/>
                        <a:cs typeface="+mn-cs"/>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4572938"/>
                  </a:ext>
                </a:extLst>
              </a:tr>
            </a:tbl>
          </a:graphicData>
        </a:graphic>
      </p:graphicFrame>
      <p:graphicFrame>
        <p:nvGraphicFramePr>
          <p:cNvPr id="66" name="表格 65"/>
          <p:cNvGraphicFramePr>
            <a:graphicFrameLocks noGrp="1"/>
          </p:cNvGraphicFramePr>
          <p:nvPr/>
        </p:nvGraphicFramePr>
        <p:xfrm>
          <a:off x="6311354" y="4213018"/>
          <a:ext cx="5083967" cy="1083733"/>
        </p:xfrm>
        <a:graphic>
          <a:graphicData uri="http://schemas.openxmlformats.org/drawingml/2006/table">
            <a:tbl>
              <a:tblPr firstRow="1" firstCol="1" bandRow="1"/>
              <a:tblGrid>
                <a:gridCol w="4141736">
                  <a:extLst>
                    <a:ext uri="{9D8B030D-6E8A-4147-A177-3AD203B41FA5}">
                      <a16:colId xmlns:a16="http://schemas.microsoft.com/office/drawing/2014/main" val="3081916040"/>
                    </a:ext>
                  </a:extLst>
                </a:gridCol>
                <a:gridCol w="942231">
                  <a:extLst>
                    <a:ext uri="{9D8B030D-6E8A-4147-A177-3AD203B41FA5}">
                      <a16:colId xmlns:a16="http://schemas.microsoft.com/office/drawing/2014/main" val="1076454317"/>
                    </a:ext>
                  </a:extLst>
                </a:gridCol>
              </a:tblGrid>
              <a:tr h="247481">
                <a:tc>
                  <a:txBody>
                    <a:bodyPr/>
                    <a:lstStyle/>
                    <a:p>
                      <a:pPr marL="0" indent="0" algn="ctr" fontAlgn="base">
                        <a:lnSpc>
                          <a:spcPts val="1560"/>
                        </a:lnSpc>
                        <a:spcAft>
                          <a:spcPts val="0"/>
                        </a:spcAft>
                      </a:pPr>
                      <a:r>
                        <a:rPr lang="zh-CN" sz="1500" b="1" kern="500" dirty="0">
                          <a:solidFill>
                            <a:schemeClr val="tx1"/>
                          </a:solidFill>
                          <a:effectLst/>
                          <a:latin typeface="微软雅黑" panose="020B0503020204020204" pitchFamily="34" charset="-122"/>
                          <a:ea typeface="微软雅黑" panose="020B0503020204020204" pitchFamily="34" charset="-122"/>
                          <a:cs typeface="+mn-cs"/>
                        </a:rPr>
                        <a:t>匹配</a:t>
                      </a: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fontAlgn="base">
                        <a:lnSpc>
                          <a:spcPts val="1560"/>
                        </a:lnSpc>
                        <a:spcAft>
                          <a:spcPts val="0"/>
                        </a:spcAft>
                      </a:pPr>
                      <a:r>
                        <a:rPr lang="zh-CN" sz="1500" b="1" kern="500" dirty="0">
                          <a:solidFill>
                            <a:schemeClr val="tx1"/>
                          </a:solidFill>
                          <a:effectLst/>
                          <a:latin typeface="微软雅黑" panose="020B0503020204020204" pitchFamily="34" charset="-122"/>
                          <a:ea typeface="微软雅黑" panose="020B0503020204020204" pitchFamily="34" charset="-122"/>
                          <a:cs typeface="+mn-cs"/>
                        </a:rPr>
                        <a:t>动作</a:t>
                      </a: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4936622"/>
                  </a:ext>
                </a:extLst>
              </a:tr>
              <a:tr h="789348">
                <a:tc>
                  <a:txBody>
                    <a:bodyPr/>
                    <a:lstStyle/>
                    <a:p>
                      <a:pPr marL="0" indent="0" algn="just" fontAlgn="base">
                        <a:lnSpc>
                          <a:spcPts val="1560"/>
                        </a:lnSpc>
                        <a:spcAft>
                          <a:spcPts val="0"/>
                        </a:spcAft>
                      </a:pPr>
                      <a:r>
                        <a:rPr lang="en-US" sz="1500" b="1" kern="500" dirty="0">
                          <a:solidFill>
                            <a:schemeClr val="tx1"/>
                          </a:solidFill>
                          <a:effectLst/>
                          <a:latin typeface="微软雅黑" panose="020B0503020204020204" pitchFamily="34" charset="-122"/>
                          <a:ea typeface="微软雅黑" panose="020B0503020204020204" pitchFamily="34" charset="-122"/>
                          <a:cs typeface="+mn-cs"/>
                        </a:rPr>
                        <a:t>IP </a:t>
                      </a:r>
                      <a:r>
                        <a:rPr lang="zh-CN" sz="1500" b="1" kern="500" dirty="0">
                          <a:solidFill>
                            <a:schemeClr val="tx1"/>
                          </a:solidFill>
                          <a:effectLst/>
                          <a:latin typeface="微软雅黑" panose="020B0503020204020204" pitchFamily="34" charset="-122"/>
                          <a:ea typeface="微软雅黑" panose="020B0503020204020204" pitchFamily="34" charset="-122"/>
                          <a:cs typeface="+mn-cs"/>
                        </a:rPr>
                        <a:t>源地址</a:t>
                      </a:r>
                      <a:r>
                        <a:rPr lang="en-US" sz="1500" b="1" kern="500" dirty="0">
                          <a:solidFill>
                            <a:schemeClr val="tx1"/>
                          </a:solidFill>
                          <a:effectLst/>
                          <a:latin typeface="微软雅黑" panose="020B0503020204020204" pitchFamily="34" charset="-122"/>
                          <a:ea typeface="微软雅黑" panose="020B0503020204020204" pitchFamily="34" charset="-122"/>
                          <a:cs typeface="+mn-cs"/>
                        </a:rPr>
                        <a:t> = 10.3.*.*</a:t>
                      </a:r>
                      <a:r>
                        <a:rPr lang="zh-CN" sz="1500" b="1" kern="500" dirty="0">
                          <a:solidFill>
                            <a:schemeClr val="tx1"/>
                          </a:solidFill>
                          <a:effectLst/>
                          <a:latin typeface="微软雅黑" panose="020B0503020204020204" pitchFamily="34" charset="-122"/>
                          <a:ea typeface="微软雅黑" panose="020B0503020204020204" pitchFamily="34" charset="-122"/>
                          <a:cs typeface="+mn-cs"/>
                        </a:rPr>
                        <a:t>；</a:t>
                      </a:r>
                      <a:r>
                        <a:rPr lang="en-US" sz="1500" b="1" kern="500" dirty="0">
                          <a:solidFill>
                            <a:schemeClr val="tx1"/>
                          </a:solidFill>
                          <a:effectLst/>
                          <a:latin typeface="微软雅黑" panose="020B0503020204020204" pitchFamily="34" charset="-122"/>
                          <a:ea typeface="微软雅黑" panose="020B0503020204020204" pitchFamily="34" charset="-122"/>
                          <a:cs typeface="+mn-cs"/>
                        </a:rPr>
                        <a:t>IP </a:t>
                      </a:r>
                      <a:r>
                        <a:rPr lang="zh-CN" sz="1500" b="1" kern="500" dirty="0">
                          <a:solidFill>
                            <a:schemeClr val="tx1"/>
                          </a:solidFill>
                          <a:effectLst/>
                          <a:latin typeface="微软雅黑" panose="020B0503020204020204" pitchFamily="34" charset="-122"/>
                          <a:ea typeface="微软雅黑" panose="020B0503020204020204" pitchFamily="34" charset="-122"/>
                          <a:cs typeface="+mn-cs"/>
                        </a:rPr>
                        <a:t>目的地址</a:t>
                      </a:r>
                      <a:r>
                        <a:rPr lang="en-US" sz="1500" b="1" kern="500" dirty="0">
                          <a:solidFill>
                            <a:schemeClr val="tx1"/>
                          </a:solidFill>
                          <a:effectLst/>
                          <a:latin typeface="微软雅黑" panose="020B0503020204020204" pitchFamily="34" charset="-122"/>
                          <a:ea typeface="微软雅黑" panose="020B0503020204020204" pitchFamily="34" charset="-122"/>
                          <a:cs typeface="+mn-cs"/>
                        </a:rPr>
                        <a:t> = 10.2.0.3</a:t>
                      </a:r>
                      <a:endParaRPr lang="zh-CN" sz="1500" b="1" kern="500" dirty="0">
                        <a:solidFill>
                          <a:schemeClr val="tx1"/>
                        </a:solidFill>
                        <a:effectLst/>
                        <a:latin typeface="微软雅黑" panose="020B0503020204020204" pitchFamily="34" charset="-122"/>
                        <a:ea typeface="微软雅黑" panose="020B0503020204020204" pitchFamily="34" charset="-122"/>
                        <a:cs typeface="+mn-cs"/>
                      </a:endParaRPr>
                    </a:p>
                    <a:p>
                      <a:pPr marL="0" indent="0" algn="just" fontAlgn="base">
                        <a:lnSpc>
                          <a:spcPts val="1560"/>
                        </a:lnSpc>
                        <a:spcAft>
                          <a:spcPts val="0"/>
                        </a:spcAft>
                      </a:pPr>
                      <a:r>
                        <a:rPr lang="en-US" sz="1500" b="1" kern="500" dirty="0">
                          <a:solidFill>
                            <a:schemeClr val="tx1"/>
                          </a:solidFill>
                          <a:effectLst/>
                          <a:latin typeface="微软雅黑" panose="020B0503020204020204" pitchFamily="34" charset="-122"/>
                          <a:ea typeface="微软雅黑" panose="020B0503020204020204" pitchFamily="34" charset="-122"/>
                          <a:cs typeface="+mn-cs"/>
                        </a:rPr>
                        <a:t>IP </a:t>
                      </a:r>
                      <a:r>
                        <a:rPr lang="zh-CN" sz="1500" b="1" kern="500" dirty="0">
                          <a:solidFill>
                            <a:schemeClr val="tx1"/>
                          </a:solidFill>
                          <a:effectLst/>
                          <a:latin typeface="微软雅黑" panose="020B0503020204020204" pitchFamily="34" charset="-122"/>
                          <a:ea typeface="微软雅黑" panose="020B0503020204020204" pitchFamily="34" charset="-122"/>
                          <a:cs typeface="+mn-cs"/>
                        </a:rPr>
                        <a:t>源地址</a:t>
                      </a:r>
                      <a:r>
                        <a:rPr lang="en-US" sz="1500" b="1" kern="500" dirty="0">
                          <a:solidFill>
                            <a:schemeClr val="tx1"/>
                          </a:solidFill>
                          <a:effectLst/>
                          <a:latin typeface="微软雅黑" panose="020B0503020204020204" pitchFamily="34" charset="-122"/>
                          <a:ea typeface="微软雅黑" panose="020B0503020204020204" pitchFamily="34" charset="-122"/>
                          <a:cs typeface="+mn-cs"/>
                        </a:rPr>
                        <a:t> = 10.3.*.*</a:t>
                      </a:r>
                      <a:r>
                        <a:rPr lang="zh-CN" sz="1500" b="1" kern="500" dirty="0">
                          <a:solidFill>
                            <a:schemeClr val="tx1"/>
                          </a:solidFill>
                          <a:effectLst/>
                          <a:latin typeface="微软雅黑" panose="020B0503020204020204" pitchFamily="34" charset="-122"/>
                          <a:ea typeface="微软雅黑" panose="020B0503020204020204" pitchFamily="34" charset="-122"/>
                          <a:cs typeface="+mn-cs"/>
                        </a:rPr>
                        <a:t>；</a:t>
                      </a:r>
                      <a:r>
                        <a:rPr lang="en-US" sz="1500" b="1" kern="500" dirty="0">
                          <a:solidFill>
                            <a:schemeClr val="tx1"/>
                          </a:solidFill>
                          <a:effectLst/>
                          <a:latin typeface="微软雅黑" panose="020B0503020204020204" pitchFamily="34" charset="-122"/>
                          <a:ea typeface="微软雅黑" panose="020B0503020204020204" pitchFamily="34" charset="-122"/>
                          <a:cs typeface="+mn-cs"/>
                        </a:rPr>
                        <a:t>IP </a:t>
                      </a:r>
                      <a:r>
                        <a:rPr lang="zh-CN" sz="1500" b="1" kern="500" dirty="0">
                          <a:solidFill>
                            <a:schemeClr val="tx1"/>
                          </a:solidFill>
                          <a:effectLst/>
                          <a:latin typeface="微软雅黑" panose="020B0503020204020204" pitchFamily="34" charset="-122"/>
                          <a:ea typeface="微软雅黑" panose="020B0503020204020204" pitchFamily="34" charset="-122"/>
                          <a:cs typeface="+mn-cs"/>
                        </a:rPr>
                        <a:t>目的地址</a:t>
                      </a:r>
                      <a:r>
                        <a:rPr lang="en-US" sz="1500" b="1" kern="500" dirty="0">
                          <a:solidFill>
                            <a:schemeClr val="tx1"/>
                          </a:solidFill>
                          <a:effectLst/>
                          <a:latin typeface="微软雅黑" panose="020B0503020204020204" pitchFamily="34" charset="-122"/>
                          <a:ea typeface="微软雅黑" panose="020B0503020204020204" pitchFamily="34" charset="-122"/>
                          <a:cs typeface="+mn-cs"/>
                        </a:rPr>
                        <a:t> = 10.2.0.4</a:t>
                      </a:r>
                      <a:endParaRPr lang="zh-CN" sz="1500" b="1" kern="500" dirty="0">
                        <a:solidFill>
                          <a:schemeClr val="tx1"/>
                        </a:solidFill>
                        <a:effectLst/>
                        <a:latin typeface="微软雅黑" panose="020B0503020204020204" pitchFamily="34" charset="-122"/>
                        <a:ea typeface="微软雅黑" panose="020B0503020204020204" pitchFamily="34" charset="-122"/>
                        <a:cs typeface="+mn-cs"/>
                      </a:endParaRPr>
                    </a:p>
                    <a:p>
                      <a:pPr marL="0" indent="0" algn="ctr" fontAlgn="base">
                        <a:lnSpc>
                          <a:spcPts val="1560"/>
                        </a:lnSpc>
                        <a:spcAft>
                          <a:spcPts val="0"/>
                        </a:spcAft>
                      </a:pPr>
                      <a:r>
                        <a:rPr lang="en-US" sz="1500" b="1" kern="500" dirty="0">
                          <a:solidFill>
                            <a:schemeClr val="tx1"/>
                          </a:solidFill>
                          <a:effectLst/>
                          <a:latin typeface="微软雅黑" panose="020B0503020204020204" pitchFamily="34" charset="-122"/>
                          <a:ea typeface="微软雅黑" panose="020B0503020204020204" pitchFamily="34" charset="-122"/>
                          <a:cs typeface="+mn-cs"/>
                        </a:rPr>
                        <a:t>······</a:t>
                      </a:r>
                      <a:endParaRPr lang="zh-CN" sz="1500" b="1" kern="500" dirty="0">
                        <a:solidFill>
                          <a:schemeClr val="tx1"/>
                        </a:solidFill>
                        <a:effectLst/>
                        <a:latin typeface="微软雅黑" panose="020B0503020204020204" pitchFamily="34" charset="-122"/>
                        <a:ea typeface="微软雅黑" panose="020B0503020204020204" pitchFamily="34" charset="-122"/>
                        <a:cs typeface="+mn-cs"/>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fontAlgn="base">
                        <a:lnSpc>
                          <a:spcPts val="1560"/>
                        </a:lnSpc>
                        <a:spcAft>
                          <a:spcPts val="0"/>
                        </a:spcAft>
                      </a:pPr>
                      <a:r>
                        <a:rPr lang="zh-CN" sz="1500" b="1" kern="500" dirty="0">
                          <a:solidFill>
                            <a:schemeClr val="tx1"/>
                          </a:solidFill>
                          <a:effectLst/>
                          <a:latin typeface="微软雅黑" panose="020B0503020204020204" pitchFamily="34" charset="-122"/>
                          <a:ea typeface="微软雅黑" panose="020B0503020204020204" pitchFamily="34" charset="-122"/>
                          <a:cs typeface="+mn-cs"/>
                        </a:rPr>
                        <a:t>转发</a:t>
                      </a:r>
                      <a:r>
                        <a:rPr lang="en-US" sz="1500" b="1" kern="500" dirty="0">
                          <a:solidFill>
                            <a:schemeClr val="tx1"/>
                          </a:solidFill>
                          <a:effectLst/>
                          <a:latin typeface="微软雅黑" panose="020B0503020204020204" pitchFamily="34" charset="-122"/>
                          <a:ea typeface="微软雅黑" panose="020B0503020204020204" pitchFamily="34" charset="-122"/>
                          <a:cs typeface="+mn-cs"/>
                        </a:rPr>
                        <a:t>(3)</a:t>
                      </a:r>
                      <a:endParaRPr lang="zh-CN" sz="1500" b="1" kern="500" dirty="0">
                        <a:solidFill>
                          <a:schemeClr val="tx1"/>
                        </a:solidFill>
                        <a:effectLst/>
                        <a:latin typeface="微软雅黑" panose="020B0503020204020204" pitchFamily="34" charset="-122"/>
                        <a:ea typeface="微软雅黑" panose="020B0503020204020204" pitchFamily="34" charset="-122"/>
                        <a:cs typeface="+mn-cs"/>
                      </a:endParaRPr>
                    </a:p>
                    <a:p>
                      <a:pPr marL="0" indent="0" algn="ctr" fontAlgn="base">
                        <a:lnSpc>
                          <a:spcPts val="1560"/>
                        </a:lnSpc>
                        <a:spcAft>
                          <a:spcPts val="0"/>
                        </a:spcAft>
                      </a:pPr>
                      <a:r>
                        <a:rPr lang="zh-CN" sz="1500" b="1" kern="500" dirty="0">
                          <a:solidFill>
                            <a:schemeClr val="tx1"/>
                          </a:solidFill>
                          <a:effectLst/>
                          <a:latin typeface="微软雅黑" panose="020B0503020204020204" pitchFamily="34" charset="-122"/>
                          <a:ea typeface="微软雅黑" panose="020B0503020204020204" pitchFamily="34" charset="-122"/>
                          <a:cs typeface="+mn-cs"/>
                        </a:rPr>
                        <a:t>转发</a:t>
                      </a:r>
                      <a:r>
                        <a:rPr lang="en-US" sz="1500" b="1" kern="500" dirty="0">
                          <a:solidFill>
                            <a:schemeClr val="tx1"/>
                          </a:solidFill>
                          <a:effectLst/>
                          <a:latin typeface="微软雅黑" panose="020B0503020204020204" pitchFamily="34" charset="-122"/>
                          <a:ea typeface="微软雅黑" panose="020B0503020204020204" pitchFamily="34" charset="-122"/>
                          <a:cs typeface="+mn-cs"/>
                        </a:rPr>
                        <a:t>(4)</a:t>
                      </a:r>
                      <a:endParaRPr lang="zh-CN" sz="1500" b="1" kern="500" dirty="0">
                        <a:solidFill>
                          <a:schemeClr val="tx1"/>
                        </a:solidFill>
                        <a:effectLst/>
                        <a:latin typeface="微软雅黑" panose="020B0503020204020204" pitchFamily="34" charset="-122"/>
                        <a:ea typeface="微软雅黑" panose="020B0503020204020204" pitchFamily="34" charset="-122"/>
                        <a:cs typeface="+mn-cs"/>
                      </a:endParaRPr>
                    </a:p>
                    <a:p>
                      <a:pPr marL="0" indent="0" algn="ctr" fontAlgn="base">
                        <a:lnSpc>
                          <a:spcPts val="1560"/>
                        </a:lnSpc>
                        <a:spcAft>
                          <a:spcPts val="0"/>
                        </a:spcAft>
                      </a:pPr>
                      <a:r>
                        <a:rPr lang="en-US" sz="1500" b="1" kern="500" dirty="0">
                          <a:solidFill>
                            <a:schemeClr val="tx1"/>
                          </a:solidFill>
                          <a:effectLst/>
                          <a:latin typeface="微软雅黑" panose="020B0503020204020204" pitchFamily="34" charset="-122"/>
                          <a:ea typeface="微软雅黑" panose="020B0503020204020204" pitchFamily="34" charset="-122"/>
                          <a:cs typeface="+mn-cs"/>
                        </a:rPr>
                        <a:t>······</a:t>
                      </a:r>
                      <a:endParaRPr lang="zh-CN" sz="1500" b="1" kern="500" dirty="0">
                        <a:solidFill>
                          <a:schemeClr val="tx1"/>
                        </a:solidFill>
                        <a:effectLst/>
                        <a:latin typeface="微软雅黑" panose="020B0503020204020204" pitchFamily="34" charset="-122"/>
                        <a:ea typeface="微软雅黑" panose="020B0503020204020204" pitchFamily="34" charset="-122"/>
                        <a:cs typeface="+mn-cs"/>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2329798"/>
                  </a:ext>
                </a:extLst>
              </a:tr>
            </a:tbl>
          </a:graphicData>
        </a:graphic>
      </p:graphicFrame>
      <p:sp>
        <p:nvSpPr>
          <p:cNvPr id="67" name="矩形 66"/>
          <p:cNvSpPr/>
          <p:nvPr/>
        </p:nvSpPr>
        <p:spPr>
          <a:xfrm>
            <a:off x="2986083" y="3894295"/>
            <a:ext cx="864339" cy="338554"/>
          </a:xfrm>
          <a:prstGeom prst="rect">
            <a:avLst/>
          </a:prstGeom>
        </p:spPr>
        <p:txBody>
          <a:bodyPr wrap="none">
            <a:spAutoFit/>
          </a:bodyPr>
          <a:lstStyle/>
          <a:p>
            <a:r>
              <a:rPr lang="en-US" altLang="zh-CN" sz="1600" b="1" dirty="0">
                <a:solidFill>
                  <a:srgbClr val="000099"/>
                </a:solidFill>
                <a:latin typeface="微软雅黑" panose="020B0503020204020204" pitchFamily="34" charset="-122"/>
                <a:ea typeface="微软雅黑" panose="020B0503020204020204" pitchFamily="34" charset="-122"/>
              </a:rPr>
              <a:t>S</a:t>
            </a:r>
            <a:r>
              <a:rPr lang="en-US" altLang="zh-CN" sz="1600" b="1" baseline="-25000" dirty="0">
                <a:solidFill>
                  <a:srgbClr val="000099"/>
                </a:solidFill>
                <a:latin typeface="微软雅黑" panose="020B0503020204020204" pitchFamily="34" charset="-122"/>
                <a:ea typeface="微软雅黑" panose="020B0503020204020204" pitchFamily="34" charset="-122"/>
              </a:rPr>
              <a:t>3</a:t>
            </a:r>
            <a:r>
              <a:rPr lang="en-US" altLang="zh-CN" sz="1600" b="1" dirty="0">
                <a:solidFill>
                  <a:srgbClr val="000099"/>
                </a:solidFill>
                <a:latin typeface="微软雅黑" panose="020B0503020204020204" pitchFamily="34" charset="-122"/>
                <a:ea typeface="微软雅黑" panose="020B0503020204020204" pitchFamily="34" charset="-122"/>
              </a:rPr>
              <a:t> </a:t>
            </a:r>
            <a:r>
              <a:rPr lang="zh-CN" altLang="en-US" sz="1600" b="1" dirty="0">
                <a:solidFill>
                  <a:srgbClr val="000099"/>
                </a:solidFill>
                <a:latin typeface="微软雅黑" panose="020B0503020204020204" pitchFamily="34" charset="-122"/>
                <a:ea typeface="微软雅黑" panose="020B0503020204020204" pitchFamily="34" charset="-122"/>
              </a:rPr>
              <a:t>流表</a:t>
            </a:r>
          </a:p>
        </p:txBody>
      </p:sp>
      <p:sp>
        <p:nvSpPr>
          <p:cNvPr id="68" name="矩形 67"/>
          <p:cNvSpPr/>
          <p:nvPr/>
        </p:nvSpPr>
        <p:spPr>
          <a:xfrm>
            <a:off x="8397707" y="3894295"/>
            <a:ext cx="864339" cy="338554"/>
          </a:xfrm>
          <a:prstGeom prst="rect">
            <a:avLst/>
          </a:prstGeom>
        </p:spPr>
        <p:txBody>
          <a:bodyPr wrap="none">
            <a:spAutoFit/>
          </a:bodyPr>
          <a:lstStyle/>
          <a:p>
            <a:r>
              <a:rPr lang="en-US" altLang="zh-CN" sz="1600" b="1" dirty="0">
                <a:solidFill>
                  <a:srgbClr val="000099"/>
                </a:solidFill>
                <a:latin typeface="微软雅黑" panose="020B0503020204020204" pitchFamily="34" charset="-122"/>
                <a:ea typeface="微软雅黑" panose="020B0503020204020204" pitchFamily="34" charset="-122"/>
              </a:rPr>
              <a:t>S</a:t>
            </a:r>
            <a:r>
              <a:rPr lang="en-US" altLang="zh-CN" sz="1600" b="1" baseline="-25000" dirty="0">
                <a:solidFill>
                  <a:srgbClr val="000099"/>
                </a:solidFill>
                <a:latin typeface="微软雅黑" panose="020B0503020204020204" pitchFamily="34" charset="-122"/>
                <a:ea typeface="微软雅黑" panose="020B0503020204020204" pitchFamily="34" charset="-122"/>
              </a:rPr>
              <a:t>2</a:t>
            </a:r>
            <a:r>
              <a:rPr lang="en-US" altLang="zh-CN" sz="1600" b="1" dirty="0">
                <a:solidFill>
                  <a:srgbClr val="000099"/>
                </a:solidFill>
                <a:latin typeface="微软雅黑" panose="020B0503020204020204" pitchFamily="34" charset="-122"/>
                <a:ea typeface="微软雅黑" panose="020B0503020204020204" pitchFamily="34" charset="-122"/>
              </a:rPr>
              <a:t> </a:t>
            </a:r>
            <a:r>
              <a:rPr lang="zh-CN" altLang="en-US" sz="1600" b="1" dirty="0">
                <a:solidFill>
                  <a:srgbClr val="000099"/>
                </a:solidFill>
                <a:latin typeface="微软雅黑" panose="020B0503020204020204" pitchFamily="34" charset="-122"/>
                <a:ea typeface="微软雅黑" panose="020B0503020204020204" pitchFamily="34" charset="-122"/>
              </a:rPr>
              <a:t>流表</a:t>
            </a:r>
          </a:p>
        </p:txBody>
      </p:sp>
      <p:sp>
        <p:nvSpPr>
          <p:cNvPr id="69" name="矩形 68"/>
          <p:cNvSpPr/>
          <p:nvPr/>
        </p:nvSpPr>
        <p:spPr>
          <a:xfrm>
            <a:off x="2986083" y="5052422"/>
            <a:ext cx="864339" cy="338554"/>
          </a:xfrm>
          <a:prstGeom prst="rect">
            <a:avLst/>
          </a:prstGeom>
        </p:spPr>
        <p:txBody>
          <a:bodyPr wrap="none">
            <a:spAutoFit/>
          </a:bodyPr>
          <a:lstStyle/>
          <a:p>
            <a:r>
              <a:rPr lang="en-US" altLang="zh-CN" sz="1600" b="1" dirty="0">
                <a:solidFill>
                  <a:srgbClr val="000099"/>
                </a:solidFill>
                <a:latin typeface="微软雅黑" panose="020B0503020204020204" pitchFamily="34" charset="-122"/>
                <a:ea typeface="微软雅黑" panose="020B0503020204020204" pitchFamily="34" charset="-122"/>
              </a:rPr>
              <a:t>S</a:t>
            </a:r>
            <a:r>
              <a:rPr lang="en-US" altLang="zh-CN" sz="1600" b="1" baseline="-25000" dirty="0">
                <a:solidFill>
                  <a:srgbClr val="000099"/>
                </a:solidFill>
                <a:latin typeface="微软雅黑" panose="020B0503020204020204" pitchFamily="34" charset="-122"/>
                <a:ea typeface="微软雅黑" panose="020B0503020204020204" pitchFamily="34" charset="-122"/>
              </a:rPr>
              <a:t>1</a:t>
            </a:r>
            <a:r>
              <a:rPr lang="en-US" altLang="zh-CN" sz="1600" b="1" dirty="0">
                <a:solidFill>
                  <a:srgbClr val="000099"/>
                </a:solidFill>
                <a:latin typeface="微软雅黑" panose="020B0503020204020204" pitchFamily="34" charset="-122"/>
                <a:ea typeface="微软雅黑" panose="020B0503020204020204" pitchFamily="34" charset="-122"/>
              </a:rPr>
              <a:t> </a:t>
            </a:r>
            <a:r>
              <a:rPr lang="zh-CN" altLang="en-US" sz="1600" b="1" dirty="0">
                <a:solidFill>
                  <a:srgbClr val="000099"/>
                </a:solidFill>
                <a:latin typeface="微软雅黑" panose="020B0503020204020204" pitchFamily="34" charset="-122"/>
                <a:ea typeface="微软雅黑" panose="020B0503020204020204" pitchFamily="34" charset="-122"/>
              </a:rPr>
              <a:t>流表</a:t>
            </a:r>
          </a:p>
        </p:txBody>
      </p:sp>
    </p:spTree>
    <p:extLst>
      <p:ext uri="{BB962C8B-B14F-4D97-AF65-F5344CB8AC3E}">
        <p14:creationId xmlns:p14="http://schemas.microsoft.com/office/powerpoint/2010/main" val="252221938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up)">
                                      <p:cBhvr>
                                        <p:cTn id="7" dur="1000"/>
                                        <p:tgtEl>
                                          <p:spTgt spid="6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10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wipe(up)">
                                      <p:cBhvr>
                                        <p:cTn id="16" dur="1000"/>
                                        <p:tgtEl>
                                          <p:spTgt spid="69"/>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up)">
                                      <p:cBhvr>
                                        <p:cTn id="20" dur="1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68"/>
                                        </p:tgtEl>
                                        <p:attrNameLst>
                                          <p:attrName>style.visibility</p:attrName>
                                        </p:attrNameLst>
                                      </p:cBhvr>
                                      <p:to>
                                        <p:strVal val="visible"/>
                                      </p:to>
                                    </p:set>
                                    <p:animEffect transition="in" filter="wipe(up)">
                                      <p:cBhvr>
                                        <p:cTn id="25" dur="1000"/>
                                        <p:tgtEl>
                                          <p:spTgt spid="68"/>
                                        </p:tgtEl>
                                      </p:cBhvr>
                                    </p:animEffect>
                                  </p:childTnLst>
                                </p:cTn>
                              </p:par>
                            </p:childTnLst>
                          </p:cTn>
                        </p:par>
                        <p:par>
                          <p:cTn id="26" fill="hold">
                            <p:stCondLst>
                              <p:cond delay="1000"/>
                            </p:stCondLst>
                            <p:childTnLst>
                              <p:par>
                                <p:cTn id="27" presetID="22" presetClass="entr" presetSubtype="1" fill="hold" nodeType="afterEffect">
                                  <p:stCondLst>
                                    <p:cond delay="0"/>
                                  </p:stCondLst>
                                  <p:childTnLst>
                                    <p:set>
                                      <p:cBhvr>
                                        <p:cTn id="28" dur="1" fill="hold">
                                          <p:stCondLst>
                                            <p:cond delay="0"/>
                                          </p:stCondLst>
                                        </p:cTn>
                                        <p:tgtEl>
                                          <p:spTgt spid="66"/>
                                        </p:tgtEl>
                                        <p:attrNameLst>
                                          <p:attrName>style.visibility</p:attrName>
                                        </p:attrNameLst>
                                      </p:cBhvr>
                                      <p:to>
                                        <p:strVal val="visible"/>
                                      </p:to>
                                    </p:set>
                                    <p:animEffect transition="in" filter="wipe(up)">
                                      <p:cBhvr>
                                        <p:cTn id="29" dur="10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P spid="6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圆角矩形 64"/>
          <p:cNvSpPr/>
          <p:nvPr/>
        </p:nvSpPr>
        <p:spPr>
          <a:xfrm>
            <a:off x="726860" y="1296395"/>
            <a:ext cx="10738281" cy="260263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7" name="AutoShape 5"/>
          <p:cNvSpPr>
            <a:spLocks noChangeArrowheads="1"/>
          </p:cNvSpPr>
          <p:nvPr/>
        </p:nvSpPr>
        <p:spPr bwMode="auto">
          <a:xfrm>
            <a:off x="726859" y="821297"/>
            <a:ext cx="10738283" cy="41191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8" name="矩形 7"/>
          <p:cNvSpPr/>
          <p:nvPr/>
        </p:nvSpPr>
        <p:spPr>
          <a:xfrm>
            <a:off x="821447" y="742939"/>
            <a:ext cx="2574744" cy="502766"/>
          </a:xfrm>
          <a:prstGeom prst="rect">
            <a:avLst/>
          </a:prstGeom>
        </p:spPr>
        <p:txBody>
          <a:bodyPr wrap="none">
            <a:spAutoFit/>
          </a:bodyPr>
          <a:lstStyle/>
          <a:p>
            <a:r>
              <a:rPr lang="zh-CN" altLang="en-US" sz="2667" b="1" dirty="0">
                <a:latin typeface="微软雅黑" pitchFamily="34" charset="-122"/>
                <a:ea typeface="微软雅黑" pitchFamily="34" charset="-122"/>
              </a:rPr>
              <a:t>例子：负载均衡</a:t>
            </a:r>
          </a:p>
        </p:txBody>
      </p:sp>
      <p:grpSp>
        <p:nvGrpSpPr>
          <p:cNvPr id="2" name="组合 1"/>
          <p:cNvGrpSpPr/>
          <p:nvPr/>
        </p:nvGrpSpPr>
        <p:grpSpPr>
          <a:xfrm>
            <a:off x="959149" y="1339599"/>
            <a:ext cx="6174927" cy="2438715"/>
            <a:chOff x="1405863" y="952215"/>
            <a:chExt cx="6011606" cy="3206955"/>
          </a:xfrm>
        </p:grpSpPr>
        <p:sp>
          <p:nvSpPr>
            <p:cNvPr id="9" name="Line 23"/>
            <p:cNvSpPr>
              <a:spLocks noChangeShapeType="1"/>
            </p:cNvSpPr>
            <p:nvPr/>
          </p:nvSpPr>
          <p:spPr bwMode="auto">
            <a:xfrm flipV="1">
              <a:off x="2627313" y="2646276"/>
              <a:ext cx="936625"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0" name="Line 24"/>
            <p:cNvSpPr>
              <a:spLocks noChangeShapeType="1"/>
            </p:cNvSpPr>
            <p:nvPr/>
          </p:nvSpPr>
          <p:spPr bwMode="auto">
            <a:xfrm flipV="1">
              <a:off x="3806467" y="1998575"/>
              <a:ext cx="549632" cy="530225"/>
            </a:xfrm>
            <a:prstGeom prst="line">
              <a:avLst/>
            </a:prstGeom>
            <a:noFill/>
            <a:ln w="28575">
              <a:solidFill>
                <a:srgbClr val="9900CC"/>
              </a:solidFill>
              <a:prstDash val="sysDash"/>
              <a:round/>
              <a:headEnd type="triangle" w="med" len="lg"/>
              <a:tailEnd type="none" w="lg" len="lg"/>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1" name="Line 25"/>
            <p:cNvSpPr>
              <a:spLocks noChangeShapeType="1"/>
            </p:cNvSpPr>
            <p:nvPr/>
          </p:nvSpPr>
          <p:spPr bwMode="auto">
            <a:xfrm flipV="1">
              <a:off x="3810000" y="2601826"/>
              <a:ext cx="1381125" cy="44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2" name="Line 26"/>
            <p:cNvSpPr>
              <a:spLocks noChangeShapeType="1"/>
            </p:cNvSpPr>
            <p:nvPr/>
          </p:nvSpPr>
          <p:spPr bwMode="auto">
            <a:xfrm flipV="1">
              <a:off x="5421313" y="2382751"/>
              <a:ext cx="931862" cy="246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3" name="Line 27"/>
            <p:cNvSpPr>
              <a:spLocks noChangeShapeType="1"/>
            </p:cNvSpPr>
            <p:nvPr/>
          </p:nvSpPr>
          <p:spPr bwMode="auto">
            <a:xfrm>
              <a:off x="3667125" y="2697076"/>
              <a:ext cx="866775" cy="647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4" name="Line 30"/>
            <p:cNvSpPr>
              <a:spLocks noChangeShapeType="1"/>
            </p:cNvSpPr>
            <p:nvPr/>
          </p:nvSpPr>
          <p:spPr bwMode="auto">
            <a:xfrm flipV="1">
              <a:off x="4683125" y="2725651"/>
              <a:ext cx="622300" cy="577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6" name="Text Box 69"/>
            <p:cNvSpPr txBox="1">
              <a:spLocks noChangeArrowheads="1"/>
            </p:cNvSpPr>
            <p:nvPr/>
          </p:nvSpPr>
          <p:spPr bwMode="auto">
            <a:xfrm>
              <a:off x="3516638" y="952215"/>
              <a:ext cx="1852750" cy="445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err="1">
                  <a:latin typeface="微软雅黑" panose="020B0503020204020204" pitchFamily="34" charset="-122"/>
                  <a:ea typeface="微软雅黑" panose="020B0503020204020204" pitchFamily="34" charset="-122"/>
                </a:rPr>
                <a:t>OpenFlow</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控制器</a:t>
              </a:r>
              <a:endParaRPr lang="en-US" altLang="zh-CN" sz="1600" b="1" baseline="-25000" dirty="0">
                <a:latin typeface="微软雅黑" panose="020B0503020204020204" pitchFamily="34" charset="-122"/>
                <a:ea typeface="微软雅黑" panose="020B0503020204020204" pitchFamily="34" charset="-122"/>
              </a:endParaRPr>
            </a:p>
          </p:txBody>
        </p:sp>
        <p:sp>
          <p:nvSpPr>
            <p:cNvPr id="17" name="Text Box 65"/>
            <p:cNvSpPr txBox="1">
              <a:spLocks noChangeArrowheads="1"/>
            </p:cNvSpPr>
            <p:nvPr/>
          </p:nvSpPr>
          <p:spPr bwMode="auto">
            <a:xfrm>
              <a:off x="4488812" y="2825187"/>
              <a:ext cx="365494"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solidFill>
                    <a:srgbClr val="000099"/>
                  </a:solidFill>
                  <a:latin typeface="微软雅黑" panose="020B0503020204020204" pitchFamily="34" charset="-122"/>
                  <a:ea typeface="微软雅黑" panose="020B0503020204020204" pitchFamily="34" charset="-122"/>
                </a:rPr>
                <a:t>S</a:t>
              </a:r>
              <a:r>
                <a:rPr lang="en-US" altLang="zh-CN" sz="1467" b="1" baseline="-25000" dirty="0">
                  <a:solidFill>
                    <a:srgbClr val="000099"/>
                  </a:solidFill>
                  <a:latin typeface="微软雅黑" panose="020B0503020204020204" pitchFamily="34" charset="-122"/>
                  <a:ea typeface="微软雅黑" panose="020B0503020204020204" pitchFamily="34" charset="-122"/>
                </a:rPr>
                <a:t>1</a:t>
              </a:r>
            </a:p>
          </p:txBody>
        </p:sp>
        <p:sp>
          <p:nvSpPr>
            <p:cNvPr id="18" name="Text Box 65"/>
            <p:cNvSpPr txBox="1">
              <a:spLocks noChangeArrowheads="1"/>
            </p:cNvSpPr>
            <p:nvPr/>
          </p:nvSpPr>
          <p:spPr bwMode="auto">
            <a:xfrm>
              <a:off x="3492501" y="2131964"/>
              <a:ext cx="365494"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solidFill>
                    <a:srgbClr val="000099"/>
                  </a:solidFill>
                  <a:latin typeface="微软雅黑" panose="020B0503020204020204" pitchFamily="34" charset="-122"/>
                  <a:ea typeface="微软雅黑" panose="020B0503020204020204" pitchFamily="34" charset="-122"/>
                </a:rPr>
                <a:t>S</a:t>
              </a:r>
              <a:r>
                <a:rPr lang="en-US" altLang="zh-CN" sz="1467" b="1" baseline="-25000" dirty="0">
                  <a:solidFill>
                    <a:srgbClr val="000099"/>
                  </a:solidFill>
                  <a:latin typeface="微软雅黑" panose="020B0503020204020204" pitchFamily="34" charset="-122"/>
                  <a:ea typeface="微软雅黑" panose="020B0503020204020204" pitchFamily="34" charset="-122"/>
                </a:rPr>
                <a:t>3</a:t>
              </a:r>
            </a:p>
          </p:txBody>
        </p:sp>
        <p:sp>
          <p:nvSpPr>
            <p:cNvPr id="19" name="Text Box 65"/>
            <p:cNvSpPr txBox="1">
              <a:spLocks noChangeArrowheads="1"/>
            </p:cNvSpPr>
            <p:nvPr/>
          </p:nvSpPr>
          <p:spPr bwMode="auto">
            <a:xfrm>
              <a:off x="5148264" y="2131964"/>
              <a:ext cx="365494"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solidFill>
                    <a:srgbClr val="000099"/>
                  </a:solidFill>
                  <a:latin typeface="微软雅黑" panose="020B0503020204020204" pitchFamily="34" charset="-122"/>
                  <a:ea typeface="微软雅黑" panose="020B0503020204020204" pitchFamily="34" charset="-122"/>
                </a:rPr>
                <a:t>S</a:t>
              </a:r>
              <a:r>
                <a:rPr lang="en-US" altLang="zh-CN" sz="1467" b="1" baseline="-25000">
                  <a:solidFill>
                    <a:srgbClr val="000099"/>
                  </a:solidFill>
                  <a:latin typeface="微软雅黑" panose="020B0503020204020204" pitchFamily="34" charset="-122"/>
                  <a:ea typeface="微软雅黑" panose="020B0503020204020204" pitchFamily="34" charset="-122"/>
                </a:rPr>
                <a:t>2</a:t>
              </a:r>
            </a:p>
          </p:txBody>
        </p:sp>
        <p:grpSp>
          <p:nvGrpSpPr>
            <p:cNvPr id="20" name="组合 89"/>
            <p:cNvGrpSpPr>
              <a:grpSpLocks/>
            </p:cNvGrpSpPr>
            <p:nvPr/>
          </p:nvGrpSpPr>
          <p:grpSpPr bwMode="auto">
            <a:xfrm>
              <a:off x="6084888" y="1957326"/>
              <a:ext cx="574675" cy="617519"/>
              <a:chOff x="5220072" y="3315751"/>
              <a:chExt cx="576064" cy="617305"/>
            </a:xfrm>
          </p:grpSpPr>
          <p:pic>
            <p:nvPicPr>
              <p:cNvPr id="21"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67"/>
              <p:cNvSpPr txBox="1">
                <a:spLocks noChangeArrowheads="1"/>
              </p:cNvSpPr>
              <p:nvPr/>
            </p:nvSpPr>
            <p:spPr bwMode="auto">
              <a:xfrm>
                <a:off x="5294022" y="3315751"/>
                <a:ext cx="405486"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4</a:t>
                </a:r>
              </a:p>
            </p:txBody>
          </p:sp>
        </p:grpSp>
        <p:sp>
          <p:nvSpPr>
            <p:cNvPr id="23" name="Text Box 69"/>
            <p:cNvSpPr txBox="1">
              <a:spLocks noChangeArrowheads="1"/>
            </p:cNvSpPr>
            <p:nvPr/>
          </p:nvSpPr>
          <p:spPr bwMode="auto">
            <a:xfrm>
              <a:off x="6516688" y="2070014"/>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10.2.0.4</a:t>
              </a:r>
              <a:endParaRPr lang="en-US" altLang="zh-CN" sz="1467" b="1" baseline="-25000">
                <a:latin typeface="微软雅黑" panose="020B0503020204020204" pitchFamily="34" charset="-122"/>
                <a:ea typeface="微软雅黑" panose="020B0503020204020204" pitchFamily="34" charset="-122"/>
              </a:endParaRPr>
            </a:p>
          </p:txBody>
        </p:sp>
        <p:sp>
          <p:nvSpPr>
            <p:cNvPr id="24" name="Text Box 69"/>
            <p:cNvSpPr txBox="1">
              <a:spLocks noChangeArrowheads="1"/>
            </p:cNvSpPr>
            <p:nvPr/>
          </p:nvSpPr>
          <p:spPr bwMode="auto">
            <a:xfrm>
              <a:off x="6516688" y="2935203"/>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10.2.0.3</a:t>
              </a:r>
              <a:endParaRPr lang="en-US" altLang="zh-CN" sz="1467" b="1" baseline="-25000">
                <a:latin typeface="微软雅黑" panose="020B0503020204020204" pitchFamily="34" charset="-122"/>
                <a:ea typeface="微软雅黑" panose="020B0503020204020204" pitchFamily="34" charset="-122"/>
              </a:endParaRPr>
            </a:p>
          </p:txBody>
        </p:sp>
        <p:sp>
          <p:nvSpPr>
            <p:cNvPr id="25" name="Text Box 69"/>
            <p:cNvSpPr txBox="1">
              <a:spLocks noChangeArrowheads="1"/>
            </p:cNvSpPr>
            <p:nvPr/>
          </p:nvSpPr>
          <p:spPr bwMode="auto">
            <a:xfrm>
              <a:off x="2716871" y="3654340"/>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latin typeface="微软雅黑" panose="020B0503020204020204" pitchFamily="34" charset="-122"/>
                  <a:ea typeface="微软雅黑" panose="020B0503020204020204" pitchFamily="34" charset="-122"/>
                </a:rPr>
                <a:t>10.1.0.1</a:t>
              </a:r>
              <a:endParaRPr lang="en-US" altLang="zh-CN" sz="1467" b="1" baseline="-25000" dirty="0">
                <a:latin typeface="微软雅黑" panose="020B0503020204020204" pitchFamily="34" charset="-122"/>
                <a:ea typeface="微软雅黑" panose="020B0503020204020204" pitchFamily="34" charset="-122"/>
              </a:endParaRPr>
            </a:p>
          </p:txBody>
        </p:sp>
        <p:sp>
          <p:nvSpPr>
            <p:cNvPr id="26" name="Text Box 69"/>
            <p:cNvSpPr txBox="1">
              <a:spLocks noChangeArrowheads="1"/>
            </p:cNvSpPr>
            <p:nvPr/>
          </p:nvSpPr>
          <p:spPr bwMode="auto">
            <a:xfrm>
              <a:off x="5643048" y="3654340"/>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latin typeface="微软雅黑" panose="020B0503020204020204" pitchFamily="34" charset="-122"/>
                  <a:ea typeface="微软雅黑" panose="020B0503020204020204" pitchFamily="34" charset="-122"/>
                </a:rPr>
                <a:t>10.1.0.2</a:t>
              </a:r>
              <a:endParaRPr lang="en-US" altLang="zh-CN" sz="1467" b="1" baseline="-25000" dirty="0">
                <a:latin typeface="微软雅黑" panose="020B0503020204020204" pitchFamily="34" charset="-122"/>
                <a:ea typeface="微软雅黑" panose="020B0503020204020204" pitchFamily="34" charset="-122"/>
              </a:endParaRPr>
            </a:p>
          </p:txBody>
        </p:sp>
        <p:sp>
          <p:nvSpPr>
            <p:cNvPr id="27" name="Text Box 69"/>
            <p:cNvSpPr txBox="1">
              <a:spLocks noChangeArrowheads="1"/>
            </p:cNvSpPr>
            <p:nvPr/>
          </p:nvSpPr>
          <p:spPr bwMode="auto">
            <a:xfrm>
              <a:off x="1413799" y="2793914"/>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10.3.0.5</a:t>
              </a:r>
              <a:endParaRPr lang="en-US" altLang="zh-CN" sz="1467" b="1" baseline="-25000">
                <a:latin typeface="微软雅黑" panose="020B0503020204020204" pitchFamily="34" charset="-122"/>
                <a:ea typeface="微软雅黑" panose="020B0503020204020204" pitchFamily="34" charset="-122"/>
              </a:endParaRPr>
            </a:p>
          </p:txBody>
        </p:sp>
        <p:sp>
          <p:nvSpPr>
            <p:cNvPr id="28" name="Text Box 69"/>
            <p:cNvSpPr txBox="1">
              <a:spLocks noChangeArrowheads="1"/>
            </p:cNvSpPr>
            <p:nvPr/>
          </p:nvSpPr>
          <p:spPr bwMode="auto">
            <a:xfrm>
              <a:off x="1405863" y="2055726"/>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latin typeface="微软雅黑" panose="020B0503020204020204" pitchFamily="34" charset="-122"/>
                  <a:ea typeface="微软雅黑" panose="020B0503020204020204" pitchFamily="34" charset="-122"/>
                </a:rPr>
                <a:t>10.3.0.6</a:t>
              </a:r>
              <a:endParaRPr lang="en-US" altLang="zh-CN" sz="1467" b="1" baseline="-25000" dirty="0">
                <a:latin typeface="微软雅黑" panose="020B0503020204020204" pitchFamily="34" charset="-122"/>
                <a:ea typeface="微软雅黑" panose="020B0503020204020204" pitchFamily="34" charset="-122"/>
              </a:endParaRPr>
            </a:p>
          </p:txBody>
        </p:sp>
        <p:sp>
          <p:nvSpPr>
            <p:cNvPr id="29" name="Line 23"/>
            <p:cNvSpPr>
              <a:spLocks noChangeShapeType="1"/>
            </p:cNvSpPr>
            <p:nvPr/>
          </p:nvSpPr>
          <p:spPr bwMode="auto">
            <a:xfrm>
              <a:off x="2627313" y="2358939"/>
              <a:ext cx="936625" cy="287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30" name="Line 26"/>
            <p:cNvSpPr>
              <a:spLocks noChangeShapeType="1"/>
            </p:cNvSpPr>
            <p:nvPr/>
          </p:nvSpPr>
          <p:spPr bwMode="auto">
            <a:xfrm>
              <a:off x="5435600" y="2646276"/>
              <a:ext cx="936625"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31" name="Line 26"/>
            <p:cNvSpPr>
              <a:spLocks noChangeShapeType="1"/>
            </p:cNvSpPr>
            <p:nvPr/>
          </p:nvSpPr>
          <p:spPr bwMode="auto">
            <a:xfrm>
              <a:off x="4572000" y="3367001"/>
              <a:ext cx="936625"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32" name="Line 26"/>
            <p:cNvSpPr>
              <a:spLocks noChangeShapeType="1"/>
            </p:cNvSpPr>
            <p:nvPr/>
          </p:nvSpPr>
          <p:spPr bwMode="auto">
            <a:xfrm flipH="1">
              <a:off x="3924300" y="3367001"/>
              <a:ext cx="576263"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grpSp>
          <p:nvGrpSpPr>
            <p:cNvPr id="33" name="组合 76"/>
            <p:cNvGrpSpPr>
              <a:grpSpLocks/>
            </p:cNvGrpSpPr>
            <p:nvPr/>
          </p:nvGrpSpPr>
          <p:grpSpPr bwMode="auto">
            <a:xfrm>
              <a:off x="5219700" y="3541651"/>
              <a:ext cx="576263" cy="617519"/>
              <a:chOff x="5220072" y="3315751"/>
              <a:chExt cx="576064" cy="617305"/>
            </a:xfrm>
          </p:grpSpPr>
          <p:pic>
            <p:nvPicPr>
              <p:cNvPr id="34"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Box 67"/>
              <p:cNvSpPr txBox="1">
                <a:spLocks noChangeArrowheads="1"/>
              </p:cNvSpPr>
              <p:nvPr/>
            </p:nvSpPr>
            <p:spPr bwMode="auto">
              <a:xfrm>
                <a:off x="5294082" y="3315751"/>
                <a:ext cx="404369"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2</a:t>
                </a:r>
              </a:p>
            </p:txBody>
          </p:sp>
        </p:grpSp>
        <p:grpSp>
          <p:nvGrpSpPr>
            <p:cNvPr id="36" name="组合 77"/>
            <p:cNvGrpSpPr>
              <a:grpSpLocks/>
            </p:cNvGrpSpPr>
            <p:nvPr/>
          </p:nvGrpSpPr>
          <p:grpSpPr bwMode="auto">
            <a:xfrm>
              <a:off x="3563938" y="3541651"/>
              <a:ext cx="576262" cy="617519"/>
              <a:chOff x="5220072" y="3315751"/>
              <a:chExt cx="576064" cy="617305"/>
            </a:xfrm>
          </p:grpSpPr>
          <p:pic>
            <p:nvPicPr>
              <p:cNvPr id="37"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 Box 67"/>
              <p:cNvSpPr txBox="1">
                <a:spLocks noChangeArrowheads="1"/>
              </p:cNvSpPr>
              <p:nvPr/>
            </p:nvSpPr>
            <p:spPr bwMode="auto">
              <a:xfrm>
                <a:off x="5294083" y="3315751"/>
                <a:ext cx="404369"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1</a:t>
                </a:r>
              </a:p>
            </p:txBody>
          </p:sp>
        </p:grpSp>
        <p:grpSp>
          <p:nvGrpSpPr>
            <p:cNvPr id="39" name="组合 86"/>
            <p:cNvGrpSpPr>
              <a:grpSpLocks/>
            </p:cNvGrpSpPr>
            <p:nvPr/>
          </p:nvGrpSpPr>
          <p:grpSpPr bwMode="auto">
            <a:xfrm>
              <a:off x="6084888" y="2820926"/>
              <a:ext cx="574675" cy="617519"/>
              <a:chOff x="5220072" y="3315751"/>
              <a:chExt cx="576064" cy="617305"/>
            </a:xfrm>
          </p:grpSpPr>
          <p:pic>
            <p:nvPicPr>
              <p:cNvPr id="40"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 Box 67"/>
              <p:cNvSpPr txBox="1">
                <a:spLocks noChangeArrowheads="1"/>
              </p:cNvSpPr>
              <p:nvPr/>
            </p:nvSpPr>
            <p:spPr bwMode="auto">
              <a:xfrm>
                <a:off x="5294022" y="3315751"/>
                <a:ext cx="405486"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3</a:t>
                </a:r>
              </a:p>
            </p:txBody>
          </p:sp>
        </p:grpSp>
        <p:grpSp>
          <p:nvGrpSpPr>
            <p:cNvPr id="42" name="组合 83"/>
            <p:cNvGrpSpPr>
              <a:grpSpLocks/>
            </p:cNvGrpSpPr>
            <p:nvPr/>
          </p:nvGrpSpPr>
          <p:grpSpPr bwMode="auto">
            <a:xfrm>
              <a:off x="2268538" y="1957326"/>
              <a:ext cx="574675" cy="617519"/>
              <a:chOff x="5220072" y="3315751"/>
              <a:chExt cx="576064" cy="617305"/>
            </a:xfrm>
          </p:grpSpPr>
          <p:pic>
            <p:nvPicPr>
              <p:cNvPr id="43"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Text Box 67"/>
              <p:cNvSpPr txBox="1">
                <a:spLocks noChangeArrowheads="1"/>
              </p:cNvSpPr>
              <p:nvPr/>
            </p:nvSpPr>
            <p:spPr bwMode="auto">
              <a:xfrm>
                <a:off x="5294022" y="3315751"/>
                <a:ext cx="405486"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latin typeface="微软雅黑" panose="020B0503020204020204" pitchFamily="34" charset="-122"/>
                    <a:ea typeface="微软雅黑" panose="020B0503020204020204" pitchFamily="34" charset="-122"/>
                  </a:rPr>
                  <a:t>H</a:t>
                </a:r>
                <a:r>
                  <a:rPr lang="en-US" altLang="zh-CN" sz="1467" b="1" baseline="-25000" dirty="0">
                    <a:latin typeface="微软雅黑" panose="020B0503020204020204" pitchFamily="34" charset="-122"/>
                    <a:ea typeface="微软雅黑" panose="020B0503020204020204" pitchFamily="34" charset="-122"/>
                  </a:rPr>
                  <a:t>6</a:t>
                </a:r>
              </a:p>
            </p:txBody>
          </p:sp>
        </p:grpSp>
        <p:grpSp>
          <p:nvGrpSpPr>
            <p:cNvPr id="45" name="组合 80"/>
            <p:cNvGrpSpPr>
              <a:grpSpLocks/>
            </p:cNvGrpSpPr>
            <p:nvPr/>
          </p:nvGrpSpPr>
          <p:grpSpPr bwMode="auto">
            <a:xfrm>
              <a:off x="2268538" y="2749489"/>
              <a:ext cx="574675" cy="617518"/>
              <a:chOff x="5220072" y="3315751"/>
              <a:chExt cx="576064" cy="617305"/>
            </a:xfrm>
          </p:grpSpPr>
          <p:pic>
            <p:nvPicPr>
              <p:cNvPr id="46"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 Box 67"/>
              <p:cNvSpPr txBox="1">
                <a:spLocks noChangeArrowheads="1"/>
              </p:cNvSpPr>
              <p:nvPr/>
            </p:nvSpPr>
            <p:spPr bwMode="auto">
              <a:xfrm>
                <a:off x="5294022" y="3315751"/>
                <a:ext cx="405486" cy="41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5</a:t>
                </a:r>
              </a:p>
            </p:txBody>
          </p:sp>
        </p:grpSp>
        <p:pic>
          <p:nvPicPr>
            <p:cNvPr id="48"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19475" y="2503401"/>
              <a:ext cx="5048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49"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6825" y="2503401"/>
              <a:ext cx="5032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50"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56100" y="3222539"/>
              <a:ext cx="5032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51" name="Text Box 69"/>
            <p:cNvSpPr txBox="1">
              <a:spLocks noChangeArrowheads="1"/>
            </p:cNvSpPr>
            <p:nvPr/>
          </p:nvSpPr>
          <p:spPr bwMode="auto">
            <a:xfrm>
              <a:off x="3203576" y="2287500"/>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1</a:t>
              </a:r>
            </a:p>
          </p:txBody>
        </p:sp>
        <p:sp>
          <p:nvSpPr>
            <p:cNvPr id="52" name="Text Box 69"/>
            <p:cNvSpPr txBox="1">
              <a:spLocks noChangeArrowheads="1"/>
            </p:cNvSpPr>
            <p:nvPr/>
          </p:nvSpPr>
          <p:spPr bwMode="auto">
            <a:xfrm>
              <a:off x="4140200" y="3078076"/>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1</a:t>
              </a:r>
            </a:p>
          </p:txBody>
        </p:sp>
        <p:sp>
          <p:nvSpPr>
            <p:cNvPr id="53" name="Text Box 69"/>
            <p:cNvSpPr txBox="1">
              <a:spLocks noChangeArrowheads="1"/>
            </p:cNvSpPr>
            <p:nvPr/>
          </p:nvSpPr>
          <p:spPr bwMode="auto">
            <a:xfrm>
              <a:off x="4859339" y="2303932"/>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1</a:t>
              </a:r>
            </a:p>
          </p:txBody>
        </p:sp>
        <p:sp>
          <p:nvSpPr>
            <p:cNvPr id="54" name="Text Box 69"/>
            <p:cNvSpPr txBox="1">
              <a:spLocks noChangeArrowheads="1"/>
            </p:cNvSpPr>
            <p:nvPr/>
          </p:nvSpPr>
          <p:spPr bwMode="auto">
            <a:xfrm>
              <a:off x="4284662" y="3398753"/>
              <a:ext cx="287336"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2</a:t>
              </a:r>
            </a:p>
          </p:txBody>
        </p:sp>
        <p:sp>
          <p:nvSpPr>
            <p:cNvPr id="55" name="Text Box 69"/>
            <p:cNvSpPr txBox="1">
              <a:spLocks noChangeArrowheads="1"/>
            </p:cNvSpPr>
            <p:nvPr/>
          </p:nvSpPr>
          <p:spPr bwMode="auto">
            <a:xfrm>
              <a:off x="3092174" y="2533582"/>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2</a:t>
              </a:r>
            </a:p>
          </p:txBody>
        </p:sp>
        <p:sp>
          <p:nvSpPr>
            <p:cNvPr id="56" name="Text Box 69"/>
            <p:cNvSpPr txBox="1">
              <a:spLocks noChangeArrowheads="1"/>
            </p:cNvSpPr>
            <p:nvPr/>
          </p:nvSpPr>
          <p:spPr bwMode="auto">
            <a:xfrm>
              <a:off x="4910322" y="2618773"/>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2</a:t>
              </a:r>
            </a:p>
          </p:txBody>
        </p:sp>
        <p:sp>
          <p:nvSpPr>
            <p:cNvPr id="57" name="Text Box 69"/>
            <p:cNvSpPr txBox="1">
              <a:spLocks noChangeArrowheads="1"/>
            </p:cNvSpPr>
            <p:nvPr/>
          </p:nvSpPr>
          <p:spPr bwMode="auto">
            <a:xfrm>
              <a:off x="5424580" y="2618773"/>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3</a:t>
              </a:r>
            </a:p>
          </p:txBody>
        </p:sp>
        <p:sp>
          <p:nvSpPr>
            <p:cNvPr id="58" name="Text Box 69"/>
            <p:cNvSpPr txBox="1">
              <a:spLocks noChangeArrowheads="1"/>
            </p:cNvSpPr>
            <p:nvPr/>
          </p:nvSpPr>
          <p:spPr bwMode="auto">
            <a:xfrm>
              <a:off x="3670301" y="2719300"/>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3</a:t>
              </a:r>
            </a:p>
          </p:txBody>
        </p:sp>
        <p:sp>
          <p:nvSpPr>
            <p:cNvPr id="59" name="Text Box 69"/>
            <p:cNvSpPr txBox="1">
              <a:spLocks noChangeArrowheads="1"/>
            </p:cNvSpPr>
            <p:nvPr/>
          </p:nvSpPr>
          <p:spPr bwMode="auto">
            <a:xfrm>
              <a:off x="4678363" y="3398753"/>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3</a:t>
              </a:r>
            </a:p>
          </p:txBody>
        </p:sp>
        <p:sp>
          <p:nvSpPr>
            <p:cNvPr id="60" name="Text Box 69"/>
            <p:cNvSpPr txBox="1">
              <a:spLocks noChangeArrowheads="1"/>
            </p:cNvSpPr>
            <p:nvPr/>
          </p:nvSpPr>
          <p:spPr bwMode="auto">
            <a:xfrm>
              <a:off x="3851274" y="2331435"/>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4</a:t>
              </a:r>
            </a:p>
          </p:txBody>
        </p:sp>
        <p:sp>
          <p:nvSpPr>
            <p:cNvPr id="61" name="Text Box 69"/>
            <p:cNvSpPr txBox="1">
              <a:spLocks noChangeArrowheads="1"/>
            </p:cNvSpPr>
            <p:nvPr/>
          </p:nvSpPr>
          <p:spPr bwMode="auto">
            <a:xfrm>
              <a:off x="4787901" y="3078076"/>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4</a:t>
              </a:r>
            </a:p>
          </p:txBody>
        </p:sp>
        <p:sp>
          <p:nvSpPr>
            <p:cNvPr id="62" name="Text Box 69"/>
            <p:cNvSpPr txBox="1">
              <a:spLocks noChangeArrowheads="1"/>
            </p:cNvSpPr>
            <p:nvPr/>
          </p:nvSpPr>
          <p:spPr bwMode="auto">
            <a:xfrm>
              <a:off x="5508625" y="2287500"/>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4</a:t>
              </a:r>
            </a:p>
          </p:txBody>
        </p:sp>
        <p:sp>
          <p:nvSpPr>
            <p:cNvPr id="63" name="Line 24"/>
            <p:cNvSpPr>
              <a:spLocks noChangeShapeType="1"/>
            </p:cNvSpPr>
            <p:nvPr/>
          </p:nvSpPr>
          <p:spPr bwMode="auto">
            <a:xfrm flipH="1" flipV="1">
              <a:off x="4438650" y="2049376"/>
              <a:ext cx="114300" cy="1162050"/>
            </a:xfrm>
            <a:prstGeom prst="line">
              <a:avLst/>
            </a:prstGeom>
            <a:noFill/>
            <a:ln w="28575">
              <a:solidFill>
                <a:srgbClr val="9900CC"/>
              </a:solidFill>
              <a:prstDash val="sysDash"/>
              <a:round/>
              <a:headEnd type="triangle" w="med" len="lg"/>
              <a:tailEnd type="none" w="lg" len="lg"/>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64" name="Line 24"/>
            <p:cNvSpPr>
              <a:spLocks noChangeShapeType="1"/>
            </p:cNvSpPr>
            <p:nvPr/>
          </p:nvSpPr>
          <p:spPr bwMode="auto">
            <a:xfrm flipH="1" flipV="1">
              <a:off x="4572000" y="2070014"/>
              <a:ext cx="647700" cy="433387"/>
            </a:xfrm>
            <a:prstGeom prst="line">
              <a:avLst/>
            </a:prstGeom>
            <a:noFill/>
            <a:ln w="28575">
              <a:solidFill>
                <a:srgbClr val="9900CC"/>
              </a:solidFill>
              <a:prstDash val="sysDash"/>
              <a:round/>
              <a:headEnd type="triangle" w="med" len="lg"/>
              <a:tailEnd type="none" w="lg" len="lg"/>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pic>
          <p:nvPicPr>
            <p:cNvPr id="15" name="Picture 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84663" y="1350876"/>
              <a:ext cx="3079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3" name="矩形 2"/>
          <p:cNvSpPr/>
          <p:nvPr/>
        </p:nvSpPr>
        <p:spPr>
          <a:xfrm>
            <a:off x="7421800" y="1604941"/>
            <a:ext cx="3792425" cy="1915396"/>
          </a:xfrm>
          <a:prstGeom prst="rect">
            <a:avLst/>
          </a:prstGeom>
          <a:solidFill>
            <a:schemeClr val="bg1"/>
          </a:solidFill>
        </p:spPr>
        <p:txBody>
          <a:bodyPr wrap="square">
            <a:spAutoFit/>
          </a:bodyPr>
          <a:lstStyle/>
          <a:p>
            <a:pPr>
              <a:lnSpc>
                <a:spcPts val="2933"/>
              </a:lnSpc>
            </a:pPr>
            <a:r>
              <a:rPr lang="zh-CN" altLang="en-US" sz="1867" b="1" dirty="0">
                <a:solidFill>
                  <a:srgbClr val="0000FF"/>
                </a:solidFill>
                <a:latin typeface="微软雅黑" panose="020B0503020204020204" pitchFamily="34" charset="-122"/>
                <a:ea typeface="微软雅黑" panose="020B0503020204020204" pitchFamily="34" charset="-122"/>
              </a:rPr>
              <a:t>转发规则：</a:t>
            </a:r>
            <a:endParaRPr lang="en-US" altLang="zh-CN" sz="1867" b="1" dirty="0">
              <a:solidFill>
                <a:srgbClr val="0000FF"/>
              </a:solidFill>
              <a:latin typeface="微软雅黑" panose="020B0503020204020204" pitchFamily="34" charset="-122"/>
              <a:ea typeface="微软雅黑" panose="020B0503020204020204" pitchFamily="34" charset="-122"/>
            </a:endParaRPr>
          </a:p>
          <a:p>
            <a:pPr>
              <a:lnSpc>
                <a:spcPts val="2933"/>
              </a:lnSpc>
            </a:pPr>
            <a:r>
              <a:rPr lang="zh-CN" altLang="en-US" sz="1867" b="1" dirty="0">
                <a:latin typeface="微软雅黑" panose="020B0503020204020204" pitchFamily="34" charset="-122"/>
                <a:ea typeface="微软雅黑" panose="020B0503020204020204" pitchFamily="34" charset="-122"/>
              </a:rPr>
              <a:t>从 </a:t>
            </a:r>
            <a:r>
              <a:rPr lang="en-US" altLang="zh-CN" sz="1867" b="1" dirty="0">
                <a:latin typeface="微软雅黑" panose="020B0503020204020204" pitchFamily="34" charset="-122"/>
                <a:ea typeface="微软雅黑" panose="020B0503020204020204" pitchFamily="34" charset="-122"/>
              </a:rPr>
              <a:t>H</a:t>
            </a:r>
            <a:r>
              <a:rPr lang="en-US" altLang="zh-CN" sz="1867" b="1" baseline="-25000" dirty="0">
                <a:latin typeface="微软雅黑" panose="020B0503020204020204" pitchFamily="34" charset="-122"/>
                <a:ea typeface="微软雅黑" panose="020B0503020204020204" pitchFamily="34" charset="-122"/>
              </a:rPr>
              <a:t>3</a:t>
            </a:r>
            <a:r>
              <a:rPr lang="en-US" altLang="zh-CN" sz="1867" b="1" dirty="0">
                <a:latin typeface="微软雅黑" panose="020B0503020204020204" pitchFamily="34" charset="-122"/>
                <a:ea typeface="微软雅黑" panose="020B0503020204020204" pitchFamily="34" charset="-122"/>
              </a:rPr>
              <a:t> </a:t>
            </a:r>
            <a:r>
              <a:rPr lang="zh-CN" altLang="en-US" sz="1867" b="1" dirty="0">
                <a:latin typeface="微软雅黑" panose="020B0503020204020204" pitchFamily="34" charset="-122"/>
                <a:ea typeface="微软雅黑" panose="020B0503020204020204" pitchFamily="34" charset="-122"/>
              </a:rPr>
              <a:t>发往主机 </a:t>
            </a:r>
            <a:r>
              <a:rPr lang="en-US" altLang="zh-CN" sz="1867" b="1" dirty="0">
                <a:latin typeface="微软雅黑" panose="020B0503020204020204" pitchFamily="34" charset="-122"/>
                <a:ea typeface="微软雅黑" panose="020B0503020204020204" pitchFamily="34" charset="-122"/>
              </a:rPr>
              <a:t>10.1.*.* </a:t>
            </a:r>
            <a:r>
              <a:rPr lang="zh-CN" altLang="en-US" sz="1867" b="1" dirty="0">
                <a:latin typeface="微软雅黑" panose="020B0503020204020204" pitchFamily="34" charset="-122"/>
                <a:ea typeface="微软雅黑" panose="020B0503020204020204" pitchFamily="34" charset="-122"/>
              </a:rPr>
              <a:t>的分组，其转发路径为 </a:t>
            </a:r>
            <a:r>
              <a:rPr lang="en-US" altLang="zh-CN" sz="1867" b="1" dirty="0">
                <a:latin typeface="微软雅黑" panose="020B0503020204020204" pitchFamily="34" charset="-122"/>
                <a:ea typeface="微软雅黑" panose="020B0503020204020204" pitchFamily="34" charset="-122"/>
              </a:rPr>
              <a:t>S</a:t>
            </a:r>
            <a:r>
              <a:rPr lang="en-US" altLang="zh-CN" sz="1867" b="1" baseline="-25000" dirty="0">
                <a:latin typeface="微软雅黑" panose="020B0503020204020204" pitchFamily="34" charset="-122"/>
                <a:ea typeface="微软雅黑" panose="020B0503020204020204" pitchFamily="34" charset="-122"/>
              </a:rPr>
              <a:t>2</a:t>
            </a:r>
            <a:r>
              <a:rPr lang="en-US" altLang="zh-CN" sz="1867" b="1" dirty="0">
                <a:latin typeface="微软雅黑" panose="020B0503020204020204" pitchFamily="34" charset="-122"/>
                <a:ea typeface="微软雅黑" panose="020B0503020204020204" pitchFamily="34" charset="-122"/>
              </a:rPr>
              <a:t> </a:t>
            </a:r>
            <a:r>
              <a:rPr lang="en-US" altLang="zh-CN" sz="1867" b="1"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1867" b="1" dirty="0">
                <a:latin typeface="微软雅黑" panose="020B0503020204020204" pitchFamily="34" charset="-122"/>
                <a:ea typeface="微软雅黑" panose="020B0503020204020204" pitchFamily="34" charset="-122"/>
              </a:rPr>
              <a:t> S</a:t>
            </a:r>
            <a:r>
              <a:rPr lang="en-US" altLang="zh-CN" sz="1867" b="1" baseline="-25000" dirty="0">
                <a:latin typeface="微软雅黑" panose="020B0503020204020204" pitchFamily="34" charset="-122"/>
                <a:ea typeface="微软雅黑" panose="020B0503020204020204" pitchFamily="34" charset="-122"/>
              </a:rPr>
              <a:t>1</a:t>
            </a:r>
            <a:r>
              <a:rPr lang="en-US" altLang="zh-CN" sz="1867" b="1" dirty="0">
                <a:latin typeface="微软雅黑" panose="020B0503020204020204" pitchFamily="34" charset="-122"/>
                <a:ea typeface="微软雅黑" panose="020B0503020204020204" pitchFamily="34" charset="-122"/>
              </a:rPr>
              <a:t> </a:t>
            </a:r>
            <a:r>
              <a:rPr lang="zh-CN" altLang="en-US" sz="1867" b="1" dirty="0">
                <a:latin typeface="微软雅黑" panose="020B0503020204020204" pitchFamily="34" charset="-122"/>
                <a:ea typeface="微软雅黑" panose="020B0503020204020204" pitchFamily="34" charset="-122"/>
              </a:rPr>
              <a:t>。</a:t>
            </a:r>
            <a:endParaRPr lang="en-US" altLang="zh-CN" sz="1867" b="1" dirty="0">
              <a:latin typeface="微软雅黑" panose="020B0503020204020204" pitchFamily="34" charset="-122"/>
              <a:ea typeface="微软雅黑" panose="020B0503020204020204" pitchFamily="34" charset="-122"/>
            </a:endParaRPr>
          </a:p>
          <a:p>
            <a:pPr>
              <a:lnSpc>
                <a:spcPts val="2933"/>
              </a:lnSpc>
            </a:pPr>
            <a:r>
              <a:rPr lang="zh-CN" altLang="en-US" sz="1867" b="1" dirty="0">
                <a:latin typeface="微软雅黑" panose="020B0503020204020204" pitchFamily="34" charset="-122"/>
                <a:ea typeface="微软雅黑" panose="020B0503020204020204" pitchFamily="34" charset="-122"/>
              </a:rPr>
              <a:t>从 </a:t>
            </a:r>
            <a:r>
              <a:rPr lang="en-US" altLang="zh-CN" sz="1867" b="1" dirty="0">
                <a:latin typeface="微软雅黑" panose="020B0503020204020204" pitchFamily="34" charset="-122"/>
                <a:ea typeface="微软雅黑" panose="020B0503020204020204" pitchFamily="34" charset="-122"/>
              </a:rPr>
              <a:t>H</a:t>
            </a:r>
            <a:r>
              <a:rPr lang="en-US" altLang="zh-CN" sz="1867" b="1" baseline="-25000" dirty="0">
                <a:latin typeface="微软雅黑" panose="020B0503020204020204" pitchFamily="34" charset="-122"/>
                <a:ea typeface="微软雅黑" panose="020B0503020204020204" pitchFamily="34" charset="-122"/>
              </a:rPr>
              <a:t>4</a:t>
            </a:r>
            <a:r>
              <a:rPr lang="en-US" altLang="zh-CN" sz="1867" b="1" dirty="0">
                <a:latin typeface="微软雅黑" panose="020B0503020204020204" pitchFamily="34" charset="-122"/>
                <a:ea typeface="微软雅黑" panose="020B0503020204020204" pitchFamily="34" charset="-122"/>
              </a:rPr>
              <a:t> </a:t>
            </a:r>
            <a:r>
              <a:rPr lang="zh-CN" altLang="en-US" sz="1867" b="1" dirty="0">
                <a:latin typeface="微软雅黑" panose="020B0503020204020204" pitchFamily="34" charset="-122"/>
                <a:ea typeface="微软雅黑" panose="020B0503020204020204" pitchFamily="34" charset="-122"/>
              </a:rPr>
              <a:t>发往主机 </a:t>
            </a:r>
            <a:r>
              <a:rPr lang="en-US" altLang="zh-CN" sz="1867" b="1" dirty="0">
                <a:latin typeface="微软雅黑" panose="020B0503020204020204" pitchFamily="34" charset="-122"/>
                <a:ea typeface="微软雅黑" panose="020B0503020204020204" pitchFamily="34" charset="-122"/>
              </a:rPr>
              <a:t>10.1.*.* </a:t>
            </a:r>
            <a:r>
              <a:rPr lang="zh-CN" altLang="en-US" sz="1867" b="1" dirty="0">
                <a:latin typeface="微软雅黑" panose="020B0503020204020204" pitchFamily="34" charset="-122"/>
                <a:ea typeface="微软雅黑" panose="020B0503020204020204" pitchFamily="34" charset="-122"/>
              </a:rPr>
              <a:t>的分组，其转发路径为 </a:t>
            </a:r>
            <a:r>
              <a:rPr lang="en-US" altLang="zh-CN" sz="1867" b="1" dirty="0">
                <a:latin typeface="微软雅黑" panose="020B0503020204020204" pitchFamily="34" charset="-122"/>
                <a:ea typeface="微软雅黑" panose="020B0503020204020204" pitchFamily="34" charset="-122"/>
              </a:rPr>
              <a:t>S</a:t>
            </a:r>
            <a:r>
              <a:rPr lang="en-US" altLang="zh-CN" sz="1867" b="1" baseline="-25000" dirty="0">
                <a:latin typeface="微软雅黑" panose="020B0503020204020204" pitchFamily="34" charset="-122"/>
                <a:ea typeface="微软雅黑" panose="020B0503020204020204" pitchFamily="34" charset="-122"/>
              </a:rPr>
              <a:t>2</a:t>
            </a:r>
            <a:r>
              <a:rPr lang="en-US" altLang="zh-CN" sz="1867" b="1" dirty="0">
                <a:latin typeface="微软雅黑" panose="020B0503020204020204" pitchFamily="34" charset="-122"/>
                <a:ea typeface="微软雅黑" panose="020B0503020204020204" pitchFamily="34" charset="-122"/>
              </a:rPr>
              <a:t> </a:t>
            </a:r>
            <a:r>
              <a:rPr lang="en-US" altLang="zh-CN" sz="1867" b="1"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1867" b="1" dirty="0">
                <a:latin typeface="微软雅黑" panose="020B0503020204020204" pitchFamily="34" charset="-122"/>
                <a:ea typeface="微软雅黑" panose="020B0503020204020204" pitchFamily="34" charset="-122"/>
              </a:rPr>
              <a:t> S</a:t>
            </a:r>
            <a:r>
              <a:rPr lang="en-US" altLang="zh-CN" sz="1867" b="1" baseline="-25000" dirty="0">
                <a:latin typeface="微软雅黑" panose="020B0503020204020204" pitchFamily="34" charset="-122"/>
                <a:ea typeface="微软雅黑" panose="020B0503020204020204" pitchFamily="34" charset="-122"/>
              </a:rPr>
              <a:t>3</a:t>
            </a:r>
            <a:r>
              <a:rPr lang="en-US" altLang="zh-CN" sz="1867" b="1" dirty="0">
                <a:latin typeface="微软雅黑" panose="020B0503020204020204" pitchFamily="34" charset="-122"/>
                <a:ea typeface="微软雅黑" panose="020B0503020204020204" pitchFamily="34" charset="-122"/>
              </a:rPr>
              <a:t> </a:t>
            </a:r>
            <a:r>
              <a:rPr lang="en-US" altLang="zh-CN" sz="1867" b="1"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1867" b="1" dirty="0">
                <a:latin typeface="微软雅黑" panose="020B0503020204020204" pitchFamily="34" charset="-122"/>
                <a:ea typeface="微软雅黑" panose="020B0503020204020204" pitchFamily="34" charset="-122"/>
              </a:rPr>
              <a:t> S</a:t>
            </a:r>
            <a:r>
              <a:rPr lang="en-US" altLang="zh-CN" sz="1867" b="1" baseline="-25000" dirty="0">
                <a:latin typeface="微软雅黑" panose="020B0503020204020204" pitchFamily="34" charset="-122"/>
                <a:ea typeface="微软雅黑" panose="020B0503020204020204" pitchFamily="34" charset="-122"/>
              </a:rPr>
              <a:t>1</a:t>
            </a:r>
            <a:r>
              <a:rPr lang="en-US" altLang="zh-CN" sz="1867" b="1" dirty="0">
                <a:latin typeface="微软雅黑" panose="020B0503020204020204" pitchFamily="34" charset="-122"/>
                <a:ea typeface="微软雅黑" panose="020B0503020204020204" pitchFamily="34" charset="-122"/>
              </a:rPr>
              <a:t> </a:t>
            </a:r>
            <a:r>
              <a:rPr lang="zh-CN" altLang="en-US" sz="1867" b="1" dirty="0">
                <a:latin typeface="微软雅黑" panose="020B0503020204020204" pitchFamily="34" charset="-122"/>
                <a:ea typeface="微软雅黑" panose="020B0503020204020204" pitchFamily="34" charset="-122"/>
              </a:rPr>
              <a:t>。</a:t>
            </a:r>
          </a:p>
        </p:txBody>
      </p:sp>
      <p:graphicFrame>
        <p:nvGraphicFramePr>
          <p:cNvPr id="66" name="表格 65"/>
          <p:cNvGraphicFramePr>
            <a:graphicFrameLocks noGrp="1"/>
          </p:cNvGraphicFramePr>
          <p:nvPr/>
        </p:nvGraphicFramePr>
        <p:xfrm>
          <a:off x="3048187" y="4309495"/>
          <a:ext cx="5462071" cy="1083733"/>
        </p:xfrm>
        <a:graphic>
          <a:graphicData uri="http://schemas.openxmlformats.org/drawingml/2006/table">
            <a:tbl>
              <a:tblPr firstRow="1" firstCol="1" bandRow="1"/>
              <a:tblGrid>
                <a:gridCol w="4194585">
                  <a:extLst>
                    <a:ext uri="{9D8B030D-6E8A-4147-A177-3AD203B41FA5}">
                      <a16:colId xmlns:a16="http://schemas.microsoft.com/office/drawing/2014/main" val="3081916040"/>
                    </a:ext>
                  </a:extLst>
                </a:gridCol>
                <a:gridCol w="1267485">
                  <a:extLst>
                    <a:ext uri="{9D8B030D-6E8A-4147-A177-3AD203B41FA5}">
                      <a16:colId xmlns:a16="http://schemas.microsoft.com/office/drawing/2014/main" val="1076454317"/>
                    </a:ext>
                  </a:extLst>
                </a:gridCol>
              </a:tblGrid>
              <a:tr h="255703">
                <a:tc>
                  <a:txBody>
                    <a:bodyPr/>
                    <a:lstStyle/>
                    <a:p>
                      <a:pPr marL="0" indent="0" algn="ctr" fontAlgn="base">
                        <a:lnSpc>
                          <a:spcPts val="1560"/>
                        </a:lnSpc>
                        <a:spcAft>
                          <a:spcPts val="0"/>
                        </a:spcAft>
                      </a:pPr>
                      <a:r>
                        <a:rPr lang="zh-CN" sz="1600" b="1" kern="500" dirty="0">
                          <a:solidFill>
                            <a:schemeClr val="tx1"/>
                          </a:solidFill>
                          <a:effectLst/>
                          <a:latin typeface="微软雅黑" panose="020B0503020204020204" pitchFamily="34" charset="-122"/>
                          <a:ea typeface="微软雅黑" panose="020B0503020204020204" pitchFamily="34" charset="-122"/>
                          <a:cs typeface="+mn-cs"/>
                        </a:rPr>
                        <a:t>匹配</a:t>
                      </a: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fontAlgn="base">
                        <a:lnSpc>
                          <a:spcPts val="1560"/>
                        </a:lnSpc>
                        <a:spcAft>
                          <a:spcPts val="0"/>
                        </a:spcAft>
                      </a:pPr>
                      <a:r>
                        <a:rPr lang="zh-CN" sz="1600" b="1" kern="500" dirty="0">
                          <a:solidFill>
                            <a:schemeClr val="tx1"/>
                          </a:solidFill>
                          <a:effectLst/>
                          <a:latin typeface="微软雅黑" panose="020B0503020204020204" pitchFamily="34" charset="-122"/>
                          <a:ea typeface="微软雅黑" panose="020B0503020204020204" pitchFamily="34" charset="-122"/>
                          <a:cs typeface="+mn-cs"/>
                        </a:rPr>
                        <a:t>动作</a:t>
                      </a: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4936622"/>
                  </a:ext>
                </a:extLst>
              </a:tr>
              <a:tr h="806527">
                <a:tc>
                  <a:txBody>
                    <a:bodyPr/>
                    <a:lstStyle/>
                    <a:p>
                      <a:pPr marL="0" indent="0" algn="just" fontAlgn="base">
                        <a:lnSpc>
                          <a:spcPts val="1560"/>
                        </a:lnSpc>
                        <a:spcAft>
                          <a:spcPts val="0"/>
                        </a:spcAft>
                      </a:pPr>
                      <a:r>
                        <a:rPr lang="zh-CN" altLang="en-US" sz="1600" b="1" kern="500" dirty="0">
                          <a:solidFill>
                            <a:schemeClr val="tx1"/>
                          </a:solidFill>
                          <a:effectLst/>
                          <a:latin typeface="微软雅黑" panose="020B0503020204020204" pitchFamily="34" charset="-122"/>
                          <a:ea typeface="微软雅黑" panose="020B0503020204020204" pitchFamily="34" charset="-122"/>
                          <a:cs typeface="+mn-cs"/>
                        </a:rPr>
                        <a:t>入端口 </a:t>
                      </a: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 3</a:t>
                      </a:r>
                      <a:r>
                        <a:rPr lang="zh-CN" altLang="en-US" sz="1600" b="1" kern="500" dirty="0">
                          <a:solidFill>
                            <a:schemeClr val="tx1"/>
                          </a:solidFill>
                          <a:effectLst/>
                          <a:latin typeface="微软雅黑" panose="020B0503020204020204" pitchFamily="34" charset="-122"/>
                          <a:ea typeface="微软雅黑" panose="020B0503020204020204" pitchFamily="34" charset="-122"/>
                          <a:cs typeface="+mn-cs"/>
                        </a:rPr>
                        <a:t>；</a:t>
                      </a:r>
                      <a:r>
                        <a:rPr lang="en-US" sz="1600" b="1" kern="500" dirty="0">
                          <a:solidFill>
                            <a:schemeClr val="tx1"/>
                          </a:solidFill>
                          <a:effectLst/>
                          <a:latin typeface="微软雅黑" panose="020B0503020204020204" pitchFamily="34" charset="-122"/>
                          <a:ea typeface="微软雅黑" panose="020B0503020204020204" pitchFamily="34" charset="-122"/>
                          <a:cs typeface="+mn-cs"/>
                        </a:rPr>
                        <a:t>IP </a:t>
                      </a:r>
                      <a:r>
                        <a:rPr lang="zh-CN" altLang="en-US" sz="1600" b="1" kern="500" dirty="0">
                          <a:solidFill>
                            <a:schemeClr val="tx1"/>
                          </a:solidFill>
                          <a:effectLst/>
                          <a:latin typeface="微软雅黑" panose="020B0503020204020204" pitchFamily="34" charset="-122"/>
                          <a:ea typeface="微软雅黑" panose="020B0503020204020204" pitchFamily="34" charset="-122"/>
                          <a:cs typeface="+mn-cs"/>
                        </a:rPr>
                        <a:t>目的地址 </a:t>
                      </a: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 10.1.*.*</a:t>
                      </a:r>
                    </a:p>
                    <a:p>
                      <a:pPr marL="0" indent="0" algn="just" fontAlgn="base">
                        <a:lnSpc>
                          <a:spcPts val="1560"/>
                        </a:lnSpc>
                        <a:spcAft>
                          <a:spcPts val="0"/>
                        </a:spcAft>
                      </a:pPr>
                      <a:r>
                        <a:rPr lang="zh-CN" altLang="en-US" sz="1600" b="1" kern="500" dirty="0">
                          <a:solidFill>
                            <a:schemeClr val="tx1"/>
                          </a:solidFill>
                          <a:effectLst/>
                          <a:latin typeface="微软雅黑" panose="020B0503020204020204" pitchFamily="34" charset="-122"/>
                          <a:ea typeface="微软雅黑" panose="020B0503020204020204" pitchFamily="34" charset="-122"/>
                          <a:cs typeface="+mn-cs"/>
                        </a:rPr>
                        <a:t>入端口 </a:t>
                      </a: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 4</a:t>
                      </a:r>
                      <a:r>
                        <a:rPr lang="zh-CN" altLang="en-US" sz="1600" b="1" kern="500" dirty="0">
                          <a:solidFill>
                            <a:schemeClr val="tx1"/>
                          </a:solidFill>
                          <a:effectLst/>
                          <a:latin typeface="微软雅黑" panose="020B0503020204020204" pitchFamily="34" charset="-122"/>
                          <a:ea typeface="微软雅黑" panose="020B0503020204020204" pitchFamily="34" charset="-122"/>
                          <a:cs typeface="+mn-cs"/>
                        </a:rPr>
                        <a:t>；</a:t>
                      </a:r>
                      <a:r>
                        <a:rPr lang="en-US" sz="1600" b="1" kern="500" dirty="0">
                          <a:solidFill>
                            <a:schemeClr val="tx1"/>
                          </a:solidFill>
                          <a:effectLst/>
                          <a:latin typeface="微软雅黑" panose="020B0503020204020204" pitchFamily="34" charset="-122"/>
                          <a:ea typeface="微软雅黑" panose="020B0503020204020204" pitchFamily="34" charset="-122"/>
                          <a:cs typeface="+mn-cs"/>
                        </a:rPr>
                        <a:t>IP </a:t>
                      </a:r>
                      <a:r>
                        <a:rPr lang="zh-CN" altLang="en-US" sz="1600" b="1" kern="500" dirty="0">
                          <a:solidFill>
                            <a:schemeClr val="tx1"/>
                          </a:solidFill>
                          <a:effectLst/>
                          <a:latin typeface="微软雅黑" panose="020B0503020204020204" pitchFamily="34" charset="-122"/>
                          <a:ea typeface="微软雅黑" panose="020B0503020204020204" pitchFamily="34" charset="-122"/>
                          <a:cs typeface="+mn-cs"/>
                        </a:rPr>
                        <a:t>目的地址 </a:t>
                      </a: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 10.1.*.*</a:t>
                      </a:r>
                      <a:endParaRPr lang="en-US" sz="1600" b="1" kern="500" dirty="0">
                        <a:solidFill>
                          <a:schemeClr val="tx1"/>
                        </a:solidFill>
                        <a:effectLst/>
                        <a:latin typeface="微软雅黑" panose="020B0503020204020204" pitchFamily="34" charset="-122"/>
                        <a:ea typeface="微软雅黑" panose="020B0503020204020204" pitchFamily="34" charset="-122"/>
                        <a:cs typeface="+mn-cs"/>
                      </a:endParaRPr>
                    </a:p>
                    <a:p>
                      <a:pPr marL="0" indent="0" algn="ctr" fontAlgn="base">
                        <a:lnSpc>
                          <a:spcPts val="1560"/>
                        </a:lnSpc>
                        <a:spcAft>
                          <a:spcPts val="0"/>
                        </a:spcAft>
                      </a:pPr>
                      <a:r>
                        <a:rPr lang="en-US" sz="1600" b="1" kern="500" dirty="0">
                          <a:solidFill>
                            <a:schemeClr val="tx1"/>
                          </a:solidFill>
                          <a:effectLst/>
                          <a:latin typeface="微软雅黑" panose="020B0503020204020204" pitchFamily="34" charset="-122"/>
                          <a:ea typeface="微软雅黑" panose="020B0503020204020204" pitchFamily="34" charset="-122"/>
                          <a:cs typeface="+mn-cs"/>
                        </a:rPr>
                        <a:t>······</a:t>
                      </a:r>
                      <a:endParaRPr lang="zh-CN" sz="1600" b="1" kern="500" dirty="0">
                        <a:solidFill>
                          <a:schemeClr val="tx1"/>
                        </a:solidFill>
                        <a:effectLst/>
                        <a:latin typeface="微软雅黑" panose="020B0503020204020204" pitchFamily="34" charset="-122"/>
                        <a:ea typeface="微软雅黑" panose="020B0503020204020204" pitchFamily="34" charset="-122"/>
                        <a:cs typeface="+mn-cs"/>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fontAlgn="base">
                        <a:lnSpc>
                          <a:spcPts val="1560"/>
                        </a:lnSpc>
                        <a:spcAft>
                          <a:spcPts val="0"/>
                        </a:spcAft>
                      </a:pPr>
                      <a:r>
                        <a:rPr lang="zh-CN" sz="1600" b="1" kern="500" dirty="0">
                          <a:solidFill>
                            <a:schemeClr val="tx1"/>
                          </a:solidFill>
                          <a:effectLst/>
                          <a:latin typeface="微软雅黑" panose="020B0503020204020204" pitchFamily="34" charset="-122"/>
                          <a:ea typeface="微软雅黑" panose="020B0503020204020204" pitchFamily="34" charset="-122"/>
                          <a:cs typeface="+mn-cs"/>
                        </a:rPr>
                        <a:t>转发</a:t>
                      </a:r>
                      <a:r>
                        <a:rPr lang="en-US" sz="1600" b="1" kern="500" dirty="0">
                          <a:solidFill>
                            <a:schemeClr val="tx1"/>
                          </a:solidFill>
                          <a:effectLst/>
                          <a:latin typeface="微软雅黑" panose="020B0503020204020204" pitchFamily="34" charset="-122"/>
                          <a:ea typeface="微软雅黑" panose="020B0503020204020204" pitchFamily="34" charset="-122"/>
                          <a:cs typeface="+mn-cs"/>
                        </a:rPr>
                        <a:t>(</a:t>
                      </a: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2</a:t>
                      </a:r>
                      <a:r>
                        <a:rPr lang="en-US" sz="1600" b="1" kern="500" dirty="0">
                          <a:solidFill>
                            <a:schemeClr val="tx1"/>
                          </a:solidFill>
                          <a:effectLst/>
                          <a:latin typeface="微软雅黑" panose="020B0503020204020204" pitchFamily="34" charset="-122"/>
                          <a:ea typeface="微软雅黑" panose="020B0503020204020204" pitchFamily="34" charset="-122"/>
                          <a:cs typeface="+mn-cs"/>
                        </a:rPr>
                        <a:t>)</a:t>
                      </a:r>
                      <a:endParaRPr lang="zh-CN" sz="1600" b="1" kern="500" dirty="0">
                        <a:solidFill>
                          <a:schemeClr val="tx1"/>
                        </a:solidFill>
                        <a:effectLst/>
                        <a:latin typeface="微软雅黑" panose="020B0503020204020204" pitchFamily="34" charset="-122"/>
                        <a:ea typeface="微软雅黑" panose="020B0503020204020204" pitchFamily="34" charset="-122"/>
                        <a:cs typeface="+mn-cs"/>
                      </a:endParaRPr>
                    </a:p>
                    <a:p>
                      <a:pPr marL="0" indent="0" algn="ctr" fontAlgn="base">
                        <a:lnSpc>
                          <a:spcPts val="1560"/>
                        </a:lnSpc>
                        <a:spcAft>
                          <a:spcPts val="0"/>
                        </a:spcAft>
                      </a:pPr>
                      <a:r>
                        <a:rPr lang="zh-CN" sz="1600" b="1" kern="500" dirty="0">
                          <a:solidFill>
                            <a:schemeClr val="tx1"/>
                          </a:solidFill>
                          <a:effectLst/>
                          <a:latin typeface="微软雅黑" panose="020B0503020204020204" pitchFamily="34" charset="-122"/>
                          <a:ea typeface="微软雅黑" panose="020B0503020204020204" pitchFamily="34" charset="-122"/>
                          <a:cs typeface="+mn-cs"/>
                        </a:rPr>
                        <a:t>转发</a:t>
                      </a:r>
                      <a:r>
                        <a:rPr lang="en-US" sz="1600" b="1" kern="500" dirty="0">
                          <a:solidFill>
                            <a:schemeClr val="tx1"/>
                          </a:solidFill>
                          <a:effectLst/>
                          <a:latin typeface="微软雅黑" panose="020B0503020204020204" pitchFamily="34" charset="-122"/>
                          <a:ea typeface="微软雅黑" panose="020B0503020204020204" pitchFamily="34" charset="-122"/>
                          <a:cs typeface="+mn-cs"/>
                        </a:rPr>
                        <a:t>(</a:t>
                      </a: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1</a:t>
                      </a:r>
                      <a:r>
                        <a:rPr lang="en-US" sz="1600" b="1" kern="500" dirty="0">
                          <a:solidFill>
                            <a:schemeClr val="tx1"/>
                          </a:solidFill>
                          <a:effectLst/>
                          <a:latin typeface="微软雅黑" panose="020B0503020204020204" pitchFamily="34" charset="-122"/>
                          <a:ea typeface="微软雅黑" panose="020B0503020204020204" pitchFamily="34" charset="-122"/>
                          <a:cs typeface="+mn-cs"/>
                        </a:rPr>
                        <a:t>)</a:t>
                      </a:r>
                      <a:endParaRPr lang="zh-CN" sz="1600" b="1" kern="500" dirty="0">
                        <a:solidFill>
                          <a:schemeClr val="tx1"/>
                        </a:solidFill>
                        <a:effectLst/>
                        <a:latin typeface="微软雅黑" panose="020B0503020204020204" pitchFamily="34" charset="-122"/>
                        <a:ea typeface="微软雅黑" panose="020B0503020204020204" pitchFamily="34" charset="-122"/>
                        <a:cs typeface="+mn-cs"/>
                      </a:endParaRPr>
                    </a:p>
                    <a:p>
                      <a:pPr marL="0" indent="0" algn="ctr" fontAlgn="base">
                        <a:lnSpc>
                          <a:spcPts val="1560"/>
                        </a:lnSpc>
                        <a:spcAft>
                          <a:spcPts val="0"/>
                        </a:spcAft>
                      </a:pPr>
                      <a:r>
                        <a:rPr lang="en-US" sz="1600" b="1" kern="500" dirty="0">
                          <a:solidFill>
                            <a:schemeClr val="tx1"/>
                          </a:solidFill>
                          <a:effectLst/>
                          <a:latin typeface="微软雅黑" panose="020B0503020204020204" pitchFamily="34" charset="-122"/>
                          <a:ea typeface="微软雅黑" panose="020B0503020204020204" pitchFamily="34" charset="-122"/>
                          <a:cs typeface="+mn-cs"/>
                        </a:rPr>
                        <a:t>······</a:t>
                      </a:r>
                      <a:endParaRPr lang="zh-CN" sz="1600" b="1" kern="500" dirty="0">
                        <a:solidFill>
                          <a:schemeClr val="tx1"/>
                        </a:solidFill>
                        <a:effectLst/>
                        <a:latin typeface="微软雅黑" panose="020B0503020204020204" pitchFamily="34" charset="-122"/>
                        <a:ea typeface="微软雅黑" panose="020B0503020204020204" pitchFamily="34" charset="-122"/>
                        <a:cs typeface="+mn-cs"/>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2329798"/>
                  </a:ext>
                </a:extLst>
              </a:tr>
            </a:tbl>
          </a:graphicData>
        </a:graphic>
      </p:graphicFrame>
      <p:sp>
        <p:nvSpPr>
          <p:cNvPr id="68" name="矩形 67"/>
          <p:cNvSpPr/>
          <p:nvPr/>
        </p:nvSpPr>
        <p:spPr>
          <a:xfrm>
            <a:off x="5278146" y="3990772"/>
            <a:ext cx="864339" cy="338554"/>
          </a:xfrm>
          <a:prstGeom prst="rect">
            <a:avLst/>
          </a:prstGeom>
        </p:spPr>
        <p:txBody>
          <a:bodyPr wrap="none">
            <a:spAutoFit/>
          </a:bodyPr>
          <a:lstStyle/>
          <a:p>
            <a:r>
              <a:rPr lang="en-US" altLang="zh-CN" sz="1600" b="1" dirty="0">
                <a:solidFill>
                  <a:srgbClr val="000099"/>
                </a:solidFill>
                <a:latin typeface="微软雅黑" panose="020B0503020204020204" pitchFamily="34" charset="-122"/>
                <a:ea typeface="微软雅黑" panose="020B0503020204020204" pitchFamily="34" charset="-122"/>
              </a:rPr>
              <a:t>S</a:t>
            </a:r>
            <a:r>
              <a:rPr lang="en-US" altLang="zh-CN" sz="1600" b="1" baseline="-25000" dirty="0">
                <a:solidFill>
                  <a:srgbClr val="000099"/>
                </a:solidFill>
                <a:latin typeface="微软雅黑" panose="020B0503020204020204" pitchFamily="34" charset="-122"/>
                <a:ea typeface="微软雅黑" panose="020B0503020204020204" pitchFamily="34" charset="-122"/>
              </a:rPr>
              <a:t>2</a:t>
            </a:r>
            <a:r>
              <a:rPr lang="en-US" altLang="zh-CN" sz="1600" b="1" dirty="0">
                <a:solidFill>
                  <a:srgbClr val="000099"/>
                </a:solidFill>
                <a:latin typeface="微软雅黑" panose="020B0503020204020204" pitchFamily="34" charset="-122"/>
                <a:ea typeface="微软雅黑" panose="020B0503020204020204" pitchFamily="34" charset="-122"/>
              </a:rPr>
              <a:t> </a:t>
            </a:r>
            <a:r>
              <a:rPr lang="zh-CN" altLang="en-US" sz="1600" b="1" dirty="0">
                <a:solidFill>
                  <a:srgbClr val="000099"/>
                </a:solidFill>
                <a:latin typeface="微软雅黑" panose="020B0503020204020204" pitchFamily="34" charset="-122"/>
                <a:ea typeface="微软雅黑" panose="020B0503020204020204" pitchFamily="34" charset="-122"/>
              </a:rPr>
              <a:t>流表</a:t>
            </a:r>
          </a:p>
        </p:txBody>
      </p:sp>
    </p:spTree>
    <p:extLst>
      <p:ext uri="{BB962C8B-B14F-4D97-AF65-F5344CB8AC3E}">
        <p14:creationId xmlns:p14="http://schemas.microsoft.com/office/powerpoint/2010/main" val="2758982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up)">
                                      <p:cBhvr>
                                        <p:cTn id="7" dur="1000"/>
                                        <p:tgtEl>
                                          <p:spTgt spid="68"/>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wipe(up)">
                                      <p:cBhvr>
                                        <p:cTn id="11" dur="10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圆角矩形 64"/>
          <p:cNvSpPr/>
          <p:nvPr/>
        </p:nvSpPr>
        <p:spPr>
          <a:xfrm>
            <a:off x="726860" y="1296395"/>
            <a:ext cx="10738281" cy="260263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7" name="AutoShape 5"/>
          <p:cNvSpPr>
            <a:spLocks noChangeArrowheads="1"/>
          </p:cNvSpPr>
          <p:nvPr/>
        </p:nvSpPr>
        <p:spPr bwMode="auto">
          <a:xfrm>
            <a:off x="726859" y="821297"/>
            <a:ext cx="10738283" cy="41191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8" name="矩形 7"/>
          <p:cNvSpPr/>
          <p:nvPr/>
        </p:nvSpPr>
        <p:spPr>
          <a:xfrm>
            <a:off x="821447" y="742939"/>
            <a:ext cx="2233304" cy="502766"/>
          </a:xfrm>
          <a:prstGeom prst="rect">
            <a:avLst/>
          </a:prstGeom>
        </p:spPr>
        <p:txBody>
          <a:bodyPr wrap="none">
            <a:spAutoFit/>
          </a:bodyPr>
          <a:lstStyle/>
          <a:p>
            <a:r>
              <a:rPr lang="zh-CN" altLang="en-US" sz="2667" b="1" dirty="0">
                <a:latin typeface="微软雅黑" pitchFamily="34" charset="-122"/>
                <a:ea typeface="微软雅黑" pitchFamily="34" charset="-122"/>
              </a:rPr>
              <a:t>例子：防火墙</a:t>
            </a:r>
          </a:p>
        </p:txBody>
      </p:sp>
      <p:grpSp>
        <p:nvGrpSpPr>
          <p:cNvPr id="2" name="组合 1"/>
          <p:cNvGrpSpPr/>
          <p:nvPr/>
        </p:nvGrpSpPr>
        <p:grpSpPr>
          <a:xfrm>
            <a:off x="959149" y="1339599"/>
            <a:ext cx="6174927" cy="2438715"/>
            <a:chOff x="1405863" y="952215"/>
            <a:chExt cx="6011606" cy="3206955"/>
          </a:xfrm>
        </p:grpSpPr>
        <p:sp>
          <p:nvSpPr>
            <p:cNvPr id="9" name="Line 23"/>
            <p:cNvSpPr>
              <a:spLocks noChangeShapeType="1"/>
            </p:cNvSpPr>
            <p:nvPr/>
          </p:nvSpPr>
          <p:spPr bwMode="auto">
            <a:xfrm flipV="1">
              <a:off x="2627313" y="2646276"/>
              <a:ext cx="936625"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0" name="Line 24"/>
            <p:cNvSpPr>
              <a:spLocks noChangeShapeType="1"/>
            </p:cNvSpPr>
            <p:nvPr/>
          </p:nvSpPr>
          <p:spPr bwMode="auto">
            <a:xfrm flipV="1">
              <a:off x="3806467" y="1998575"/>
              <a:ext cx="549632" cy="530225"/>
            </a:xfrm>
            <a:prstGeom prst="line">
              <a:avLst/>
            </a:prstGeom>
            <a:noFill/>
            <a:ln w="28575">
              <a:solidFill>
                <a:srgbClr val="9900CC"/>
              </a:solidFill>
              <a:prstDash val="sysDash"/>
              <a:round/>
              <a:headEnd type="triangle" w="med" len="lg"/>
              <a:tailEnd type="none" w="lg" len="lg"/>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1" name="Line 25"/>
            <p:cNvSpPr>
              <a:spLocks noChangeShapeType="1"/>
            </p:cNvSpPr>
            <p:nvPr/>
          </p:nvSpPr>
          <p:spPr bwMode="auto">
            <a:xfrm flipV="1">
              <a:off x="3810000" y="2601826"/>
              <a:ext cx="1381125" cy="44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2" name="Line 26"/>
            <p:cNvSpPr>
              <a:spLocks noChangeShapeType="1"/>
            </p:cNvSpPr>
            <p:nvPr/>
          </p:nvSpPr>
          <p:spPr bwMode="auto">
            <a:xfrm flipV="1">
              <a:off x="5421313" y="2382751"/>
              <a:ext cx="931862" cy="246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3" name="Line 27"/>
            <p:cNvSpPr>
              <a:spLocks noChangeShapeType="1"/>
            </p:cNvSpPr>
            <p:nvPr/>
          </p:nvSpPr>
          <p:spPr bwMode="auto">
            <a:xfrm>
              <a:off x="3667125" y="2697076"/>
              <a:ext cx="866775" cy="647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4" name="Line 30"/>
            <p:cNvSpPr>
              <a:spLocks noChangeShapeType="1"/>
            </p:cNvSpPr>
            <p:nvPr/>
          </p:nvSpPr>
          <p:spPr bwMode="auto">
            <a:xfrm flipV="1">
              <a:off x="4683125" y="2725651"/>
              <a:ext cx="622300" cy="577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16" name="Text Box 69"/>
            <p:cNvSpPr txBox="1">
              <a:spLocks noChangeArrowheads="1"/>
            </p:cNvSpPr>
            <p:nvPr/>
          </p:nvSpPr>
          <p:spPr bwMode="auto">
            <a:xfrm>
              <a:off x="3516638" y="952215"/>
              <a:ext cx="1852750" cy="445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err="1">
                  <a:latin typeface="微软雅黑" panose="020B0503020204020204" pitchFamily="34" charset="-122"/>
                  <a:ea typeface="微软雅黑" panose="020B0503020204020204" pitchFamily="34" charset="-122"/>
                </a:rPr>
                <a:t>OpenFlow</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控制器</a:t>
              </a:r>
              <a:endParaRPr lang="en-US" altLang="zh-CN" sz="1600" b="1" baseline="-25000" dirty="0">
                <a:latin typeface="微软雅黑" panose="020B0503020204020204" pitchFamily="34" charset="-122"/>
                <a:ea typeface="微软雅黑" panose="020B0503020204020204" pitchFamily="34" charset="-122"/>
              </a:endParaRPr>
            </a:p>
          </p:txBody>
        </p:sp>
        <p:sp>
          <p:nvSpPr>
            <p:cNvPr id="17" name="Text Box 65"/>
            <p:cNvSpPr txBox="1">
              <a:spLocks noChangeArrowheads="1"/>
            </p:cNvSpPr>
            <p:nvPr/>
          </p:nvSpPr>
          <p:spPr bwMode="auto">
            <a:xfrm>
              <a:off x="4488812" y="2825187"/>
              <a:ext cx="365494"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solidFill>
                    <a:srgbClr val="000099"/>
                  </a:solidFill>
                  <a:latin typeface="微软雅黑" panose="020B0503020204020204" pitchFamily="34" charset="-122"/>
                  <a:ea typeface="微软雅黑" panose="020B0503020204020204" pitchFamily="34" charset="-122"/>
                </a:rPr>
                <a:t>S</a:t>
              </a:r>
              <a:r>
                <a:rPr lang="en-US" altLang="zh-CN" sz="1467" b="1" baseline="-25000" dirty="0">
                  <a:solidFill>
                    <a:srgbClr val="000099"/>
                  </a:solidFill>
                  <a:latin typeface="微软雅黑" panose="020B0503020204020204" pitchFamily="34" charset="-122"/>
                  <a:ea typeface="微软雅黑" panose="020B0503020204020204" pitchFamily="34" charset="-122"/>
                </a:rPr>
                <a:t>1</a:t>
              </a:r>
            </a:p>
          </p:txBody>
        </p:sp>
        <p:sp>
          <p:nvSpPr>
            <p:cNvPr id="18" name="Text Box 65"/>
            <p:cNvSpPr txBox="1">
              <a:spLocks noChangeArrowheads="1"/>
            </p:cNvSpPr>
            <p:nvPr/>
          </p:nvSpPr>
          <p:spPr bwMode="auto">
            <a:xfrm>
              <a:off x="3492501" y="2131964"/>
              <a:ext cx="365494"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solidFill>
                    <a:srgbClr val="000099"/>
                  </a:solidFill>
                  <a:latin typeface="微软雅黑" panose="020B0503020204020204" pitchFamily="34" charset="-122"/>
                  <a:ea typeface="微软雅黑" panose="020B0503020204020204" pitchFamily="34" charset="-122"/>
                </a:rPr>
                <a:t>S</a:t>
              </a:r>
              <a:r>
                <a:rPr lang="en-US" altLang="zh-CN" sz="1467" b="1" baseline="-25000" dirty="0">
                  <a:solidFill>
                    <a:srgbClr val="000099"/>
                  </a:solidFill>
                  <a:latin typeface="微软雅黑" panose="020B0503020204020204" pitchFamily="34" charset="-122"/>
                  <a:ea typeface="微软雅黑" panose="020B0503020204020204" pitchFamily="34" charset="-122"/>
                </a:rPr>
                <a:t>3</a:t>
              </a:r>
            </a:p>
          </p:txBody>
        </p:sp>
        <p:sp>
          <p:nvSpPr>
            <p:cNvPr id="19" name="Text Box 65"/>
            <p:cNvSpPr txBox="1">
              <a:spLocks noChangeArrowheads="1"/>
            </p:cNvSpPr>
            <p:nvPr/>
          </p:nvSpPr>
          <p:spPr bwMode="auto">
            <a:xfrm>
              <a:off x="5148264" y="2131964"/>
              <a:ext cx="365494"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solidFill>
                    <a:srgbClr val="000099"/>
                  </a:solidFill>
                  <a:latin typeface="微软雅黑" panose="020B0503020204020204" pitchFamily="34" charset="-122"/>
                  <a:ea typeface="微软雅黑" panose="020B0503020204020204" pitchFamily="34" charset="-122"/>
                </a:rPr>
                <a:t>S</a:t>
              </a:r>
              <a:r>
                <a:rPr lang="en-US" altLang="zh-CN" sz="1467" b="1" baseline="-25000">
                  <a:solidFill>
                    <a:srgbClr val="000099"/>
                  </a:solidFill>
                  <a:latin typeface="微软雅黑" panose="020B0503020204020204" pitchFamily="34" charset="-122"/>
                  <a:ea typeface="微软雅黑" panose="020B0503020204020204" pitchFamily="34" charset="-122"/>
                </a:rPr>
                <a:t>2</a:t>
              </a:r>
            </a:p>
          </p:txBody>
        </p:sp>
        <p:grpSp>
          <p:nvGrpSpPr>
            <p:cNvPr id="20" name="组合 89"/>
            <p:cNvGrpSpPr>
              <a:grpSpLocks/>
            </p:cNvGrpSpPr>
            <p:nvPr/>
          </p:nvGrpSpPr>
          <p:grpSpPr bwMode="auto">
            <a:xfrm>
              <a:off x="6084888" y="1957326"/>
              <a:ext cx="574675" cy="617519"/>
              <a:chOff x="5220072" y="3315751"/>
              <a:chExt cx="576064" cy="617305"/>
            </a:xfrm>
          </p:grpSpPr>
          <p:pic>
            <p:nvPicPr>
              <p:cNvPr id="21"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67"/>
              <p:cNvSpPr txBox="1">
                <a:spLocks noChangeArrowheads="1"/>
              </p:cNvSpPr>
              <p:nvPr/>
            </p:nvSpPr>
            <p:spPr bwMode="auto">
              <a:xfrm>
                <a:off x="5294022" y="3315751"/>
                <a:ext cx="405486"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4</a:t>
                </a:r>
              </a:p>
            </p:txBody>
          </p:sp>
        </p:grpSp>
        <p:sp>
          <p:nvSpPr>
            <p:cNvPr id="23" name="Text Box 69"/>
            <p:cNvSpPr txBox="1">
              <a:spLocks noChangeArrowheads="1"/>
            </p:cNvSpPr>
            <p:nvPr/>
          </p:nvSpPr>
          <p:spPr bwMode="auto">
            <a:xfrm>
              <a:off x="6516688" y="2070014"/>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10.2.0.4</a:t>
              </a:r>
              <a:endParaRPr lang="en-US" altLang="zh-CN" sz="1467" b="1" baseline="-25000">
                <a:latin typeface="微软雅黑" panose="020B0503020204020204" pitchFamily="34" charset="-122"/>
                <a:ea typeface="微软雅黑" panose="020B0503020204020204" pitchFamily="34" charset="-122"/>
              </a:endParaRPr>
            </a:p>
          </p:txBody>
        </p:sp>
        <p:sp>
          <p:nvSpPr>
            <p:cNvPr id="24" name="Text Box 69"/>
            <p:cNvSpPr txBox="1">
              <a:spLocks noChangeArrowheads="1"/>
            </p:cNvSpPr>
            <p:nvPr/>
          </p:nvSpPr>
          <p:spPr bwMode="auto">
            <a:xfrm>
              <a:off x="6516688" y="2935203"/>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10.2.0.3</a:t>
              </a:r>
              <a:endParaRPr lang="en-US" altLang="zh-CN" sz="1467" b="1" baseline="-25000">
                <a:latin typeface="微软雅黑" panose="020B0503020204020204" pitchFamily="34" charset="-122"/>
                <a:ea typeface="微软雅黑" panose="020B0503020204020204" pitchFamily="34" charset="-122"/>
              </a:endParaRPr>
            </a:p>
          </p:txBody>
        </p:sp>
        <p:sp>
          <p:nvSpPr>
            <p:cNvPr id="25" name="Text Box 69"/>
            <p:cNvSpPr txBox="1">
              <a:spLocks noChangeArrowheads="1"/>
            </p:cNvSpPr>
            <p:nvPr/>
          </p:nvSpPr>
          <p:spPr bwMode="auto">
            <a:xfrm>
              <a:off x="2716871" y="3654340"/>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latin typeface="微软雅黑" panose="020B0503020204020204" pitchFamily="34" charset="-122"/>
                  <a:ea typeface="微软雅黑" panose="020B0503020204020204" pitchFamily="34" charset="-122"/>
                </a:rPr>
                <a:t>10.1.0.1</a:t>
              </a:r>
              <a:endParaRPr lang="en-US" altLang="zh-CN" sz="1467" b="1" baseline="-25000" dirty="0">
                <a:latin typeface="微软雅黑" panose="020B0503020204020204" pitchFamily="34" charset="-122"/>
                <a:ea typeface="微软雅黑" panose="020B0503020204020204" pitchFamily="34" charset="-122"/>
              </a:endParaRPr>
            </a:p>
          </p:txBody>
        </p:sp>
        <p:sp>
          <p:nvSpPr>
            <p:cNvPr id="26" name="Text Box 69"/>
            <p:cNvSpPr txBox="1">
              <a:spLocks noChangeArrowheads="1"/>
            </p:cNvSpPr>
            <p:nvPr/>
          </p:nvSpPr>
          <p:spPr bwMode="auto">
            <a:xfrm>
              <a:off x="5643048" y="3654340"/>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latin typeface="微软雅黑" panose="020B0503020204020204" pitchFamily="34" charset="-122"/>
                  <a:ea typeface="微软雅黑" panose="020B0503020204020204" pitchFamily="34" charset="-122"/>
                </a:rPr>
                <a:t>10.1.0.2</a:t>
              </a:r>
              <a:endParaRPr lang="en-US" altLang="zh-CN" sz="1467" b="1" baseline="-25000" dirty="0">
                <a:latin typeface="微软雅黑" panose="020B0503020204020204" pitchFamily="34" charset="-122"/>
                <a:ea typeface="微软雅黑" panose="020B0503020204020204" pitchFamily="34" charset="-122"/>
              </a:endParaRPr>
            </a:p>
          </p:txBody>
        </p:sp>
        <p:sp>
          <p:nvSpPr>
            <p:cNvPr id="27" name="Text Box 69"/>
            <p:cNvSpPr txBox="1">
              <a:spLocks noChangeArrowheads="1"/>
            </p:cNvSpPr>
            <p:nvPr/>
          </p:nvSpPr>
          <p:spPr bwMode="auto">
            <a:xfrm>
              <a:off x="1413799" y="2793914"/>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10.3.0.5</a:t>
              </a:r>
              <a:endParaRPr lang="en-US" altLang="zh-CN" sz="1467" b="1" baseline="-25000">
                <a:latin typeface="微软雅黑" panose="020B0503020204020204" pitchFamily="34" charset="-122"/>
                <a:ea typeface="微软雅黑" panose="020B0503020204020204" pitchFamily="34" charset="-122"/>
              </a:endParaRPr>
            </a:p>
          </p:txBody>
        </p:sp>
        <p:sp>
          <p:nvSpPr>
            <p:cNvPr id="28" name="Text Box 69"/>
            <p:cNvSpPr txBox="1">
              <a:spLocks noChangeArrowheads="1"/>
            </p:cNvSpPr>
            <p:nvPr/>
          </p:nvSpPr>
          <p:spPr bwMode="auto">
            <a:xfrm>
              <a:off x="1405863" y="2055726"/>
              <a:ext cx="900781"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latin typeface="微软雅黑" panose="020B0503020204020204" pitchFamily="34" charset="-122"/>
                  <a:ea typeface="微软雅黑" panose="020B0503020204020204" pitchFamily="34" charset="-122"/>
                </a:rPr>
                <a:t>10.3.0.6</a:t>
              </a:r>
              <a:endParaRPr lang="en-US" altLang="zh-CN" sz="1467" b="1" baseline="-25000" dirty="0">
                <a:latin typeface="微软雅黑" panose="020B0503020204020204" pitchFamily="34" charset="-122"/>
                <a:ea typeface="微软雅黑" panose="020B0503020204020204" pitchFamily="34" charset="-122"/>
              </a:endParaRPr>
            </a:p>
          </p:txBody>
        </p:sp>
        <p:sp>
          <p:nvSpPr>
            <p:cNvPr id="29" name="Line 23"/>
            <p:cNvSpPr>
              <a:spLocks noChangeShapeType="1"/>
            </p:cNvSpPr>
            <p:nvPr/>
          </p:nvSpPr>
          <p:spPr bwMode="auto">
            <a:xfrm>
              <a:off x="2627313" y="2358939"/>
              <a:ext cx="936625" cy="287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30" name="Line 26"/>
            <p:cNvSpPr>
              <a:spLocks noChangeShapeType="1"/>
            </p:cNvSpPr>
            <p:nvPr/>
          </p:nvSpPr>
          <p:spPr bwMode="auto">
            <a:xfrm>
              <a:off x="5435600" y="2646276"/>
              <a:ext cx="936625"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31" name="Line 26"/>
            <p:cNvSpPr>
              <a:spLocks noChangeShapeType="1"/>
            </p:cNvSpPr>
            <p:nvPr/>
          </p:nvSpPr>
          <p:spPr bwMode="auto">
            <a:xfrm>
              <a:off x="4572000" y="3367001"/>
              <a:ext cx="936625"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32" name="Line 26"/>
            <p:cNvSpPr>
              <a:spLocks noChangeShapeType="1"/>
            </p:cNvSpPr>
            <p:nvPr/>
          </p:nvSpPr>
          <p:spPr bwMode="auto">
            <a:xfrm flipH="1">
              <a:off x="3924300" y="3367001"/>
              <a:ext cx="576263"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grpSp>
          <p:nvGrpSpPr>
            <p:cNvPr id="33" name="组合 76"/>
            <p:cNvGrpSpPr>
              <a:grpSpLocks/>
            </p:cNvGrpSpPr>
            <p:nvPr/>
          </p:nvGrpSpPr>
          <p:grpSpPr bwMode="auto">
            <a:xfrm>
              <a:off x="5219700" y="3541651"/>
              <a:ext cx="576263" cy="617519"/>
              <a:chOff x="5220072" y="3315751"/>
              <a:chExt cx="576064" cy="617305"/>
            </a:xfrm>
          </p:grpSpPr>
          <p:pic>
            <p:nvPicPr>
              <p:cNvPr id="34"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Box 67"/>
              <p:cNvSpPr txBox="1">
                <a:spLocks noChangeArrowheads="1"/>
              </p:cNvSpPr>
              <p:nvPr/>
            </p:nvSpPr>
            <p:spPr bwMode="auto">
              <a:xfrm>
                <a:off x="5294082" y="3315751"/>
                <a:ext cx="404369"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2</a:t>
                </a:r>
              </a:p>
            </p:txBody>
          </p:sp>
        </p:grpSp>
        <p:grpSp>
          <p:nvGrpSpPr>
            <p:cNvPr id="36" name="组合 77"/>
            <p:cNvGrpSpPr>
              <a:grpSpLocks/>
            </p:cNvGrpSpPr>
            <p:nvPr/>
          </p:nvGrpSpPr>
          <p:grpSpPr bwMode="auto">
            <a:xfrm>
              <a:off x="3563938" y="3541651"/>
              <a:ext cx="576262" cy="617519"/>
              <a:chOff x="5220072" y="3315751"/>
              <a:chExt cx="576064" cy="617305"/>
            </a:xfrm>
          </p:grpSpPr>
          <p:pic>
            <p:nvPicPr>
              <p:cNvPr id="37"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 Box 67"/>
              <p:cNvSpPr txBox="1">
                <a:spLocks noChangeArrowheads="1"/>
              </p:cNvSpPr>
              <p:nvPr/>
            </p:nvSpPr>
            <p:spPr bwMode="auto">
              <a:xfrm>
                <a:off x="5294083" y="3315751"/>
                <a:ext cx="404369"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1</a:t>
                </a:r>
              </a:p>
            </p:txBody>
          </p:sp>
        </p:grpSp>
        <p:grpSp>
          <p:nvGrpSpPr>
            <p:cNvPr id="39" name="组合 86"/>
            <p:cNvGrpSpPr>
              <a:grpSpLocks/>
            </p:cNvGrpSpPr>
            <p:nvPr/>
          </p:nvGrpSpPr>
          <p:grpSpPr bwMode="auto">
            <a:xfrm>
              <a:off x="6084888" y="2820926"/>
              <a:ext cx="574675" cy="617519"/>
              <a:chOff x="5220072" y="3315751"/>
              <a:chExt cx="576064" cy="617305"/>
            </a:xfrm>
          </p:grpSpPr>
          <p:pic>
            <p:nvPicPr>
              <p:cNvPr id="40"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 Box 67"/>
              <p:cNvSpPr txBox="1">
                <a:spLocks noChangeArrowheads="1"/>
              </p:cNvSpPr>
              <p:nvPr/>
            </p:nvSpPr>
            <p:spPr bwMode="auto">
              <a:xfrm>
                <a:off x="5294022" y="3315751"/>
                <a:ext cx="405486"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3</a:t>
                </a:r>
              </a:p>
            </p:txBody>
          </p:sp>
        </p:grpSp>
        <p:grpSp>
          <p:nvGrpSpPr>
            <p:cNvPr id="42" name="组合 83"/>
            <p:cNvGrpSpPr>
              <a:grpSpLocks/>
            </p:cNvGrpSpPr>
            <p:nvPr/>
          </p:nvGrpSpPr>
          <p:grpSpPr bwMode="auto">
            <a:xfrm>
              <a:off x="2268538" y="1957326"/>
              <a:ext cx="574675" cy="617519"/>
              <a:chOff x="5220072" y="3315751"/>
              <a:chExt cx="576064" cy="617305"/>
            </a:xfrm>
          </p:grpSpPr>
          <p:pic>
            <p:nvPicPr>
              <p:cNvPr id="43"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Text Box 67"/>
              <p:cNvSpPr txBox="1">
                <a:spLocks noChangeArrowheads="1"/>
              </p:cNvSpPr>
              <p:nvPr/>
            </p:nvSpPr>
            <p:spPr bwMode="auto">
              <a:xfrm>
                <a:off x="5294022" y="3315751"/>
                <a:ext cx="405486" cy="41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dirty="0">
                    <a:latin typeface="微软雅黑" panose="020B0503020204020204" pitchFamily="34" charset="-122"/>
                    <a:ea typeface="微软雅黑" panose="020B0503020204020204" pitchFamily="34" charset="-122"/>
                  </a:rPr>
                  <a:t>H</a:t>
                </a:r>
                <a:r>
                  <a:rPr lang="en-US" altLang="zh-CN" sz="1467" b="1" baseline="-25000" dirty="0">
                    <a:latin typeface="微软雅黑" panose="020B0503020204020204" pitchFamily="34" charset="-122"/>
                    <a:ea typeface="微软雅黑" panose="020B0503020204020204" pitchFamily="34" charset="-122"/>
                  </a:rPr>
                  <a:t>6</a:t>
                </a:r>
              </a:p>
            </p:txBody>
          </p:sp>
        </p:grpSp>
        <p:grpSp>
          <p:nvGrpSpPr>
            <p:cNvPr id="45" name="组合 80"/>
            <p:cNvGrpSpPr>
              <a:grpSpLocks/>
            </p:cNvGrpSpPr>
            <p:nvPr/>
          </p:nvGrpSpPr>
          <p:grpSpPr bwMode="auto">
            <a:xfrm>
              <a:off x="2268538" y="2749489"/>
              <a:ext cx="574675" cy="617518"/>
              <a:chOff x="5220072" y="3315751"/>
              <a:chExt cx="576064" cy="617305"/>
            </a:xfrm>
          </p:grpSpPr>
          <p:pic>
            <p:nvPicPr>
              <p:cNvPr id="46" name="Picture 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356992"/>
                <a:ext cx="5760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 Box 67"/>
              <p:cNvSpPr txBox="1">
                <a:spLocks noChangeArrowheads="1"/>
              </p:cNvSpPr>
              <p:nvPr/>
            </p:nvSpPr>
            <p:spPr bwMode="auto">
              <a:xfrm>
                <a:off x="5294022" y="3315751"/>
                <a:ext cx="405486" cy="41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a:latin typeface="微软雅黑" panose="020B0503020204020204" pitchFamily="34" charset="-122"/>
                    <a:ea typeface="微软雅黑" panose="020B0503020204020204" pitchFamily="34" charset="-122"/>
                  </a:rPr>
                  <a:t>H</a:t>
                </a:r>
                <a:r>
                  <a:rPr lang="en-US" altLang="zh-CN" sz="1467" b="1" baseline="-25000">
                    <a:latin typeface="微软雅黑" panose="020B0503020204020204" pitchFamily="34" charset="-122"/>
                    <a:ea typeface="微软雅黑" panose="020B0503020204020204" pitchFamily="34" charset="-122"/>
                  </a:rPr>
                  <a:t>5</a:t>
                </a:r>
              </a:p>
            </p:txBody>
          </p:sp>
        </p:grpSp>
        <p:pic>
          <p:nvPicPr>
            <p:cNvPr id="48"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19475" y="2503401"/>
              <a:ext cx="5048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49"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6825" y="2503401"/>
              <a:ext cx="5032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50"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56100" y="3222539"/>
              <a:ext cx="5032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51" name="Text Box 69"/>
            <p:cNvSpPr txBox="1">
              <a:spLocks noChangeArrowheads="1"/>
            </p:cNvSpPr>
            <p:nvPr/>
          </p:nvSpPr>
          <p:spPr bwMode="auto">
            <a:xfrm>
              <a:off x="3203576" y="2287500"/>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1</a:t>
              </a:r>
            </a:p>
          </p:txBody>
        </p:sp>
        <p:sp>
          <p:nvSpPr>
            <p:cNvPr id="52" name="Text Box 69"/>
            <p:cNvSpPr txBox="1">
              <a:spLocks noChangeArrowheads="1"/>
            </p:cNvSpPr>
            <p:nvPr/>
          </p:nvSpPr>
          <p:spPr bwMode="auto">
            <a:xfrm>
              <a:off x="4140200" y="3078076"/>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1</a:t>
              </a:r>
            </a:p>
          </p:txBody>
        </p:sp>
        <p:sp>
          <p:nvSpPr>
            <p:cNvPr id="53" name="Text Box 69"/>
            <p:cNvSpPr txBox="1">
              <a:spLocks noChangeArrowheads="1"/>
            </p:cNvSpPr>
            <p:nvPr/>
          </p:nvSpPr>
          <p:spPr bwMode="auto">
            <a:xfrm>
              <a:off x="4859339" y="2303932"/>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1</a:t>
              </a:r>
            </a:p>
          </p:txBody>
        </p:sp>
        <p:sp>
          <p:nvSpPr>
            <p:cNvPr id="54" name="Text Box 69"/>
            <p:cNvSpPr txBox="1">
              <a:spLocks noChangeArrowheads="1"/>
            </p:cNvSpPr>
            <p:nvPr/>
          </p:nvSpPr>
          <p:spPr bwMode="auto">
            <a:xfrm>
              <a:off x="4284662" y="3398753"/>
              <a:ext cx="287336"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2</a:t>
              </a:r>
            </a:p>
          </p:txBody>
        </p:sp>
        <p:sp>
          <p:nvSpPr>
            <p:cNvPr id="55" name="Text Box 69"/>
            <p:cNvSpPr txBox="1">
              <a:spLocks noChangeArrowheads="1"/>
            </p:cNvSpPr>
            <p:nvPr/>
          </p:nvSpPr>
          <p:spPr bwMode="auto">
            <a:xfrm>
              <a:off x="3092174" y="2533582"/>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2</a:t>
              </a:r>
            </a:p>
          </p:txBody>
        </p:sp>
        <p:sp>
          <p:nvSpPr>
            <p:cNvPr id="56" name="Text Box 69"/>
            <p:cNvSpPr txBox="1">
              <a:spLocks noChangeArrowheads="1"/>
            </p:cNvSpPr>
            <p:nvPr/>
          </p:nvSpPr>
          <p:spPr bwMode="auto">
            <a:xfrm>
              <a:off x="4910322" y="2618773"/>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2</a:t>
              </a:r>
            </a:p>
          </p:txBody>
        </p:sp>
        <p:sp>
          <p:nvSpPr>
            <p:cNvPr id="57" name="Text Box 69"/>
            <p:cNvSpPr txBox="1">
              <a:spLocks noChangeArrowheads="1"/>
            </p:cNvSpPr>
            <p:nvPr/>
          </p:nvSpPr>
          <p:spPr bwMode="auto">
            <a:xfrm>
              <a:off x="5424580" y="2618773"/>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3</a:t>
              </a:r>
            </a:p>
          </p:txBody>
        </p:sp>
        <p:sp>
          <p:nvSpPr>
            <p:cNvPr id="58" name="Text Box 69"/>
            <p:cNvSpPr txBox="1">
              <a:spLocks noChangeArrowheads="1"/>
            </p:cNvSpPr>
            <p:nvPr/>
          </p:nvSpPr>
          <p:spPr bwMode="auto">
            <a:xfrm>
              <a:off x="3670301" y="2719300"/>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3</a:t>
              </a:r>
            </a:p>
          </p:txBody>
        </p:sp>
        <p:sp>
          <p:nvSpPr>
            <p:cNvPr id="59" name="Text Box 69"/>
            <p:cNvSpPr txBox="1">
              <a:spLocks noChangeArrowheads="1"/>
            </p:cNvSpPr>
            <p:nvPr/>
          </p:nvSpPr>
          <p:spPr bwMode="auto">
            <a:xfrm>
              <a:off x="4678363" y="3398753"/>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3</a:t>
              </a:r>
            </a:p>
          </p:txBody>
        </p:sp>
        <p:sp>
          <p:nvSpPr>
            <p:cNvPr id="60" name="Text Box 69"/>
            <p:cNvSpPr txBox="1">
              <a:spLocks noChangeArrowheads="1"/>
            </p:cNvSpPr>
            <p:nvPr/>
          </p:nvSpPr>
          <p:spPr bwMode="auto">
            <a:xfrm>
              <a:off x="3851274" y="2331435"/>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4</a:t>
              </a:r>
            </a:p>
          </p:txBody>
        </p:sp>
        <p:sp>
          <p:nvSpPr>
            <p:cNvPr id="61" name="Text Box 69"/>
            <p:cNvSpPr txBox="1">
              <a:spLocks noChangeArrowheads="1"/>
            </p:cNvSpPr>
            <p:nvPr/>
          </p:nvSpPr>
          <p:spPr bwMode="auto">
            <a:xfrm>
              <a:off x="4787901" y="3078076"/>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a:latin typeface="微软雅黑" panose="020B0503020204020204" pitchFamily="34" charset="-122"/>
                  <a:ea typeface="微软雅黑" panose="020B0503020204020204" pitchFamily="34" charset="-122"/>
                </a:rPr>
                <a:t>4</a:t>
              </a:r>
            </a:p>
          </p:txBody>
        </p:sp>
        <p:sp>
          <p:nvSpPr>
            <p:cNvPr id="62" name="Text Box 69"/>
            <p:cNvSpPr txBox="1">
              <a:spLocks noChangeArrowheads="1"/>
            </p:cNvSpPr>
            <p:nvPr/>
          </p:nvSpPr>
          <p:spPr bwMode="auto">
            <a:xfrm>
              <a:off x="5508625" y="2287500"/>
              <a:ext cx="254691" cy="3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67" b="1" baseline="-25000" dirty="0">
                  <a:latin typeface="微软雅黑" panose="020B0503020204020204" pitchFamily="34" charset="-122"/>
                  <a:ea typeface="微软雅黑" panose="020B0503020204020204" pitchFamily="34" charset="-122"/>
                </a:rPr>
                <a:t>4</a:t>
              </a:r>
            </a:p>
          </p:txBody>
        </p:sp>
        <p:sp>
          <p:nvSpPr>
            <p:cNvPr id="63" name="Line 24"/>
            <p:cNvSpPr>
              <a:spLocks noChangeShapeType="1"/>
            </p:cNvSpPr>
            <p:nvPr/>
          </p:nvSpPr>
          <p:spPr bwMode="auto">
            <a:xfrm flipH="1" flipV="1">
              <a:off x="4438650" y="2049376"/>
              <a:ext cx="114300" cy="1162050"/>
            </a:xfrm>
            <a:prstGeom prst="line">
              <a:avLst/>
            </a:prstGeom>
            <a:noFill/>
            <a:ln w="28575">
              <a:solidFill>
                <a:srgbClr val="9900CC"/>
              </a:solidFill>
              <a:prstDash val="sysDash"/>
              <a:round/>
              <a:headEnd type="triangle" w="med" len="lg"/>
              <a:tailEnd type="none" w="lg" len="lg"/>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sp>
          <p:nvSpPr>
            <p:cNvPr id="64" name="Line 24"/>
            <p:cNvSpPr>
              <a:spLocks noChangeShapeType="1"/>
            </p:cNvSpPr>
            <p:nvPr/>
          </p:nvSpPr>
          <p:spPr bwMode="auto">
            <a:xfrm flipH="1" flipV="1">
              <a:off x="4572000" y="2070014"/>
              <a:ext cx="647700" cy="433387"/>
            </a:xfrm>
            <a:prstGeom prst="line">
              <a:avLst/>
            </a:prstGeom>
            <a:noFill/>
            <a:ln w="28575">
              <a:solidFill>
                <a:srgbClr val="9900CC"/>
              </a:solidFill>
              <a:prstDash val="sysDash"/>
              <a:round/>
              <a:headEnd type="triangle" w="med" len="lg"/>
              <a:tailEnd type="none" w="lg" len="lg"/>
            </a:ln>
            <a:extLst>
              <a:ext uri="{909E8E84-426E-40DD-AFC4-6F175D3DCCD1}">
                <a14:hiddenFill xmlns:a14="http://schemas.microsoft.com/office/drawing/2010/main">
                  <a:noFill/>
                </a14:hiddenFill>
              </a:ext>
            </a:extLst>
          </p:spPr>
          <p:txBody>
            <a:bodyPr/>
            <a:lstStyle/>
            <a:p>
              <a:endParaRPr lang="zh-CN" altLang="en-US" sz="1467" b="1">
                <a:latin typeface="微软雅黑" panose="020B0503020204020204" pitchFamily="34" charset="-122"/>
                <a:ea typeface="微软雅黑" panose="020B0503020204020204" pitchFamily="34" charset="-122"/>
              </a:endParaRPr>
            </a:p>
          </p:txBody>
        </p:sp>
        <p:pic>
          <p:nvPicPr>
            <p:cNvPr id="15" name="Picture 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84663" y="1350876"/>
              <a:ext cx="3079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3" name="矩形 2"/>
          <p:cNvSpPr/>
          <p:nvPr/>
        </p:nvSpPr>
        <p:spPr>
          <a:xfrm>
            <a:off x="7421800" y="1604942"/>
            <a:ext cx="3792425" cy="1543949"/>
          </a:xfrm>
          <a:prstGeom prst="rect">
            <a:avLst/>
          </a:prstGeom>
          <a:solidFill>
            <a:schemeClr val="bg1"/>
          </a:solidFill>
        </p:spPr>
        <p:txBody>
          <a:bodyPr wrap="square">
            <a:spAutoFit/>
          </a:bodyPr>
          <a:lstStyle/>
          <a:p>
            <a:pPr>
              <a:lnSpc>
                <a:spcPts val="2933"/>
              </a:lnSpc>
            </a:pPr>
            <a:r>
              <a:rPr lang="zh-CN" altLang="en-US" sz="1867" b="1" dirty="0">
                <a:solidFill>
                  <a:srgbClr val="0000FF"/>
                </a:solidFill>
                <a:latin typeface="微软雅黑" panose="020B0503020204020204" pitchFamily="34" charset="-122"/>
                <a:ea typeface="微软雅黑" panose="020B0503020204020204" pitchFamily="34" charset="-122"/>
              </a:rPr>
              <a:t>转发规则：</a:t>
            </a:r>
            <a:endParaRPr lang="en-US" altLang="zh-CN" sz="1867" b="1" dirty="0">
              <a:solidFill>
                <a:srgbClr val="0000FF"/>
              </a:solidFill>
              <a:latin typeface="微软雅黑" panose="020B0503020204020204" pitchFamily="34" charset="-122"/>
              <a:ea typeface="微软雅黑" panose="020B0503020204020204" pitchFamily="34" charset="-122"/>
            </a:endParaRPr>
          </a:p>
          <a:p>
            <a:pPr>
              <a:lnSpc>
                <a:spcPts val="2933"/>
              </a:lnSpc>
            </a:pPr>
            <a:r>
              <a:rPr lang="en-US" altLang="zh-CN" sz="1867" b="1" dirty="0">
                <a:latin typeface="微软雅黑" panose="020B0503020204020204" pitchFamily="34" charset="-122"/>
                <a:ea typeface="微软雅黑" panose="020B0503020204020204" pitchFamily="34" charset="-122"/>
              </a:rPr>
              <a:t>S</a:t>
            </a:r>
            <a:r>
              <a:rPr lang="en-US" altLang="zh-CN" sz="1867" b="1" baseline="-25000" dirty="0">
                <a:latin typeface="微软雅黑" panose="020B0503020204020204" pitchFamily="34" charset="-122"/>
                <a:ea typeface="微软雅黑" panose="020B0503020204020204" pitchFamily="34" charset="-122"/>
              </a:rPr>
              <a:t>2</a:t>
            </a:r>
            <a:r>
              <a:rPr lang="en-US" altLang="zh-CN" sz="1867" b="1" dirty="0">
                <a:latin typeface="微软雅黑" panose="020B0503020204020204" pitchFamily="34" charset="-122"/>
                <a:ea typeface="微软雅黑" panose="020B0503020204020204" pitchFamily="34" charset="-122"/>
              </a:rPr>
              <a:t> </a:t>
            </a:r>
            <a:r>
              <a:rPr lang="zh-CN" altLang="en-US" sz="1867" b="1" dirty="0">
                <a:latin typeface="微软雅黑" panose="020B0503020204020204" pitchFamily="34" charset="-122"/>
                <a:ea typeface="微软雅黑" panose="020B0503020204020204" pitchFamily="34" charset="-122"/>
              </a:rPr>
              <a:t>中设置了防火墙。</a:t>
            </a:r>
            <a:endParaRPr lang="en-US" altLang="zh-CN" sz="1867" b="1" dirty="0">
              <a:latin typeface="微软雅黑" panose="020B0503020204020204" pitchFamily="34" charset="-122"/>
              <a:ea typeface="微软雅黑" panose="020B0503020204020204" pitchFamily="34" charset="-122"/>
            </a:endParaRPr>
          </a:p>
          <a:p>
            <a:pPr>
              <a:lnSpc>
                <a:spcPts val="2933"/>
              </a:lnSpc>
            </a:pPr>
            <a:r>
              <a:rPr lang="zh-CN" altLang="en-US" sz="1867" b="1" dirty="0">
                <a:latin typeface="微软雅黑" panose="020B0503020204020204" pitchFamily="34" charset="-122"/>
                <a:ea typeface="微软雅黑" panose="020B0503020204020204" pitchFamily="34" charset="-122"/>
              </a:rPr>
              <a:t>此防火墙的作用是仅仅接收来自与 </a:t>
            </a:r>
            <a:r>
              <a:rPr lang="en-US" altLang="zh-CN" sz="1867" b="1" dirty="0">
                <a:latin typeface="微软雅黑" panose="020B0503020204020204" pitchFamily="34" charset="-122"/>
                <a:ea typeface="微软雅黑" panose="020B0503020204020204" pitchFamily="34" charset="-122"/>
              </a:rPr>
              <a:t>S</a:t>
            </a:r>
            <a:r>
              <a:rPr lang="en-US" altLang="zh-CN" sz="1867" b="1" baseline="-25000" dirty="0">
                <a:latin typeface="微软雅黑" panose="020B0503020204020204" pitchFamily="34" charset="-122"/>
                <a:ea typeface="微软雅黑" panose="020B0503020204020204" pitchFamily="34" charset="-122"/>
              </a:rPr>
              <a:t>3</a:t>
            </a:r>
            <a:r>
              <a:rPr lang="en-US" altLang="zh-CN" sz="1867" b="1" dirty="0">
                <a:latin typeface="微软雅黑" panose="020B0503020204020204" pitchFamily="34" charset="-122"/>
                <a:ea typeface="微软雅黑" panose="020B0503020204020204" pitchFamily="34" charset="-122"/>
              </a:rPr>
              <a:t> </a:t>
            </a:r>
            <a:r>
              <a:rPr lang="zh-CN" altLang="en-US" sz="1867" b="1" dirty="0">
                <a:latin typeface="微软雅黑" panose="020B0503020204020204" pitchFamily="34" charset="-122"/>
                <a:ea typeface="微软雅黑" panose="020B0503020204020204" pitchFamily="34" charset="-122"/>
              </a:rPr>
              <a:t>相连的主机所发送的分组。</a:t>
            </a:r>
          </a:p>
        </p:txBody>
      </p:sp>
      <p:graphicFrame>
        <p:nvGraphicFramePr>
          <p:cNvPr id="66" name="表格 65"/>
          <p:cNvGraphicFramePr>
            <a:graphicFrameLocks noGrp="1"/>
          </p:cNvGraphicFramePr>
          <p:nvPr/>
        </p:nvGraphicFramePr>
        <p:xfrm>
          <a:off x="3048187" y="4309495"/>
          <a:ext cx="6017349" cy="1083733"/>
        </p:xfrm>
        <a:graphic>
          <a:graphicData uri="http://schemas.openxmlformats.org/drawingml/2006/table">
            <a:tbl>
              <a:tblPr firstRow="1" firstCol="1" bandRow="1"/>
              <a:tblGrid>
                <a:gridCol w="4730968">
                  <a:extLst>
                    <a:ext uri="{9D8B030D-6E8A-4147-A177-3AD203B41FA5}">
                      <a16:colId xmlns:a16="http://schemas.microsoft.com/office/drawing/2014/main" val="3081916040"/>
                    </a:ext>
                  </a:extLst>
                </a:gridCol>
                <a:gridCol w="1286381">
                  <a:extLst>
                    <a:ext uri="{9D8B030D-6E8A-4147-A177-3AD203B41FA5}">
                      <a16:colId xmlns:a16="http://schemas.microsoft.com/office/drawing/2014/main" val="1076454317"/>
                    </a:ext>
                  </a:extLst>
                </a:gridCol>
              </a:tblGrid>
              <a:tr h="255703">
                <a:tc>
                  <a:txBody>
                    <a:bodyPr/>
                    <a:lstStyle/>
                    <a:p>
                      <a:pPr marL="0" indent="0" algn="ctr" fontAlgn="base">
                        <a:lnSpc>
                          <a:spcPts val="1560"/>
                        </a:lnSpc>
                        <a:spcAft>
                          <a:spcPts val="0"/>
                        </a:spcAft>
                      </a:pPr>
                      <a:r>
                        <a:rPr lang="zh-CN" sz="1600" b="1" kern="500" dirty="0">
                          <a:solidFill>
                            <a:schemeClr val="tx1"/>
                          </a:solidFill>
                          <a:effectLst/>
                          <a:latin typeface="微软雅黑" panose="020B0503020204020204" pitchFamily="34" charset="-122"/>
                          <a:ea typeface="微软雅黑" panose="020B0503020204020204" pitchFamily="34" charset="-122"/>
                          <a:cs typeface="+mn-cs"/>
                        </a:rPr>
                        <a:t>匹配</a:t>
                      </a: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fontAlgn="base">
                        <a:lnSpc>
                          <a:spcPts val="1560"/>
                        </a:lnSpc>
                        <a:spcAft>
                          <a:spcPts val="0"/>
                        </a:spcAft>
                      </a:pPr>
                      <a:r>
                        <a:rPr lang="zh-CN" sz="1600" b="1" kern="500" dirty="0">
                          <a:solidFill>
                            <a:schemeClr val="tx1"/>
                          </a:solidFill>
                          <a:effectLst/>
                          <a:latin typeface="微软雅黑" panose="020B0503020204020204" pitchFamily="34" charset="-122"/>
                          <a:ea typeface="微软雅黑" panose="020B0503020204020204" pitchFamily="34" charset="-122"/>
                          <a:cs typeface="+mn-cs"/>
                        </a:rPr>
                        <a:t>动作</a:t>
                      </a: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4936622"/>
                  </a:ext>
                </a:extLst>
              </a:tr>
              <a:tr h="806527">
                <a:tc>
                  <a:txBody>
                    <a:bodyPr/>
                    <a:lstStyle/>
                    <a:p>
                      <a:pPr marL="0" indent="0" algn="just" fontAlgn="base">
                        <a:lnSpc>
                          <a:spcPts val="1560"/>
                        </a:lnSpc>
                        <a:spcAft>
                          <a:spcPts val="0"/>
                        </a:spcAft>
                      </a:pP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IP </a:t>
                      </a:r>
                      <a:r>
                        <a:rPr lang="zh-CN" altLang="en-US" sz="1600" b="1" kern="500" dirty="0">
                          <a:solidFill>
                            <a:schemeClr val="tx1"/>
                          </a:solidFill>
                          <a:effectLst/>
                          <a:latin typeface="微软雅黑" panose="020B0503020204020204" pitchFamily="34" charset="-122"/>
                          <a:ea typeface="微软雅黑" panose="020B0503020204020204" pitchFamily="34" charset="-122"/>
                          <a:cs typeface="+mn-cs"/>
                        </a:rPr>
                        <a:t>源地址 </a:t>
                      </a: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 10.3.*.*</a:t>
                      </a:r>
                      <a:r>
                        <a:rPr lang="zh-CN" altLang="en-US" sz="1600" b="1" kern="500" dirty="0">
                          <a:solidFill>
                            <a:schemeClr val="tx1"/>
                          </a:solidFill>
                          <a:effectLst/>
                          <a:latin typeface="微软雅黑" panose="020B0503020204020204" pitchFamily="34" charset="-122"/>
                          <a:ea typeface="微软雅黑" panose="020B0503020204020204" pitchFamily="34" charset="-122"/>
                          <a:cs typeface="+mn-cs"/>
                        </a:rPr>
                        <a:t>；</a:t>
                      </a: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IP </a:t>
                      </a:r>
                      <a:r>
                        <a:rPr lang="zh-CN" altLang="en-US" sz="1600" b="1" kern="500" dirty="0">
                          <a:solidFill>
                            <a:schemeClr val="tx1"/>
                          </a:solidFill>
                          <a:effectLst/>
                          <a:latin typeface="微软雅黑" panose="020B0503020204020204" pitchFamily="34" charset="-122"/>
                          <a:ea typeface="微软雅黑" panose="020B0503020204020204" pitchFamily="34" charset="-122"/>
                          <a:cs typeface="+mn-cs"/>
                        </a:rPr>
                        <a:t>目的地址 </a:t>
                      </a: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 10.2.0.3</a:t>
                      </a:r>
                    </a:p>
                    <a:p>
                      <a:pPr marL="0" indent="0" algn="just" fontAlgn="base">
                        <a:lnSpc>
                          <a:spcPts val="1560"/>
                        </a:lnSpc>
                        <a:spcAft>
                          <a:spcPts val="0"/>
                        </a:spcAft>
                      </a:pP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IP </a:t>
                      </a:r>
                      <a:r>
                        <a:rPr lang="zh-CN" altLang="en-US" sz="1600" b="1" kern="500" dirty="0">
                          <a:solidFill>
                            <a:schemeClr val="tx1"/>
                          </a:solidFill>
                          <a:effectLst/>
                          <a:latin typeface="微软雅黑" panose="020B0503020204020204" pitchFamily="34" charset="-122"/>
                          <a:ea typeface="微软雅黑" panose="020B0503020204020204" pitchFamily="34" charset="-122"/>
                          <a:cs typeface="+mn-cs"/>
                        </a:rPr>
                        <a:t>源地址 </a:t>
                      </a: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 10.3.*.*</a:t>
                      </a:r>
                      <a:r>
                        <a:rPr lang="zh-CN" altLang="en-US" sz="1600" b="1" kern="500" dirty="0">
                          <a:solidFill>
                            <a:schemeClr val="tx1"/>
                          </a:solidFill>
                          <a:effectLst/>
                          <a:latin typeface="微软雅黑" panose="020B0503020204020204" pitchFamily="34" charset="-122"/>
                          <a:ea typeface="微软雅黑" panose="020B0503020204020204" pitchFamily="34" charset="-122"/>
                          <a:cs typeface="+mn-cs"/>
                        </a:rPr>
                        <a:t>；</a:t>
                      </a: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IP </a:t>
                      </a:r>
                      <a:r>
                        <a:rPr lang="zh-CN" altLang="en-US" sz="1600" b="1" kern="500" dirty="0">
                          <a:solidFill>
                            <a:schemeClr val="tx1"/>
                          </a:solidFill>
                          <a:effectLst/>
                          <a:latin typeface="微软雅黑" panose="020B0503020204020204" pitchFamily="34" charset="-122"/>
                          <a:ea typeface="微软雅黑" panose="020B0503020204020204" pitchFamily="34" charset="-122"/>
                          <a:cs typeface="+mn-cs"/>
                        </a:rPr>
                        <a:t>目的地址 </a:t>
                      </a: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 10.2.0.4</a:t>
                      </a:r>
                    </a:p>
                    <a:p>
                      <a:pPr marL="0" indent="0" algn="ctr" fontAlgn="base">
                        <a:lnSpc>
                          <a:spcPts val="1560"/>
                        </a:lnSpc>
                        <a:spcAft>
                          <a:spcPts val="0"/>
                        </a:spcAft>
                      </a:pPr>
                      <a:r>
                        <a:rPr lang="en-US" sz="1600" b="1" kern="500" dirty="0">
                          <a:solidFill>
                            <a:schemeClr val="tx1"/>
                          </a:solidFill>
                          <a:effectLst/>
                          <a:latin typeface="微软雅黑" panose="020B0503020204020204" pitchFamily="34" charset="-122"/>
                          <a:ea typeface="微软雅黑" panose="020B0503020204020204" pitchFamily="34" charset="-122"/>
                          <a:cs typeface="+mn-cs"/>
                        </a:rPr>
                        <a:t>······</a:t>
                      </a:r>
                      <a:endParaRPr lang="zh-CN" sz="1600" b="1" kern="500" dirty="0">
                        <a:solidFill>
                          <a:schemeClr val="tx1"/>
                        </a:solidFill>
                        <a:effectLst/>
                        <a:latin typeface="微软雅黑" panose="020B0503020204020204" pitchFamily="34" charset="-122"/>
                        <a:ea typeface="微软雅黑" panose="020B0503020204020204" pitchFamily="34" charset="-122"/>
                        <a:cs typeface="+mn-cs"/>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fontAlgn="base">
                        <a:lnSpc>
                          <a:spcPts val="1560"/>
                        </a:lnSpc>
                        <a:spcAft>
                          <a:spcPts val="0"/>
                        </a:spcAft>
                      </a:pPr>
                      <a:r>
                        <a:rPr lang="zh-CN" sz="1600" b="1" kern="500" dirty="0">
                          <a:solidFill>
                            <a:schemeClr val="tx1"/>
                          </a:solidFill>
                          <a:effectLst/>
                          <a:latin typeface="微软雅黑" panose="020B0503020204020204" pitchFamily="34" charset="-122"/>
                          <a:ea typeface="微软雅黑" panose="020B0503020204020204" pitchFamily="34" charset="-122"/>
                          <a:cs typeface="+mn-cs"/>
                        </a:rPr>
                        <a:t>转发</a:t>
                      </a:r>
                      <a:r>
                        <a:rPr lang="en-US" sz="1600" b="1" kern="500" dirty="0">
                          <a:solidFill>
                            <a:schemeClr val="tx1"/>
                          </a:solidFill>
                          <a:effectLst/>
                          <a:latin typeface="微软雅黑" panose="020B0503020204020204" pitchFamily="34" charset="-122"/>
                          <a:ea typeface="微软雅黑" panose="020B0503020204020204" pitchFamily="34" charset="-122"/>
                          <a:cs typeface="+mn-cs"/>
                        </a:rPr>
                        <a:t>(</a:t>
                      </a: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3</a:t>
                      </a:r>
                      <a:r>
                        <a:rPr lang="en-US" sz="1600" b="1" kern="500" dirty="0">
                          <a:solidFill>
                            <a:schemeClr val="tx1"/>
                          </a:solidFill>
                          <a:effectLst/>
                          <a:latin typeface="微软雅黑" panose="020B0503020204020204" pitchFamily="34" charset="-122"/>
                          <a:ea typeface="微软雅黑" panose="020B0503020204020204" pitchFamily="34" charset="-122"/>
                          <a:cs typeface="+mn-cs"/>
                        </a:rPr>
                        <a:t>)</a:t>
                      </a:r>
                      <a:endParaRPr lang="zh-CN" sz="1600" b="1" kern="500" dirty="0">
                        <a:solidFill>
                          <a:schemeClr val="tx1"/>
                        </a:solidFill>
                        <a:effectLst/>
                        <a:latin typeface="微软雅黑" panose="020B0503020204020204" pitchFamily="34" charset="-122"/>
                        <a:ea typeface="微软雅黑" panose="020B0503020204020204" pitchFamily="34" charset="-122"/>
                        <a:cs typeface="+mn-cs"/>
                      </a:endParaRPr>
                    </a:p>
                    <a:p>
                      <a:pPr marL="0" indent="0" algn="ctr" fontAlgn="base">
                        <a:lnSpc>
                          <a:spcPts val="1560"/>
                        </a:lnSpc>
                        <a:spcAft>
                          <a:spcPts val="0"/>
                        </a:spcAft>
                      </a:pPr>
                      <a:r>
                        <a:rPr lang="zh-CN" sz="1600" b="1" kern="500" dirty="0">
                          <a:solidFill>
                            <a:schemeClr val="tx1"/>
                          </a:solidFill>
                          <a:effectLst/>
                          <a:latin typeface="微软雅黑" panose="020B0503020204020204" pitchFamily="34" charset="-122"/>
                          <a:ea typeface="微软雅黑" panose="020B0503020204020204" pitchFamily="34" charset="-122"/>
                          <a:cs typeface="+mn-cs"/>
                        </a:rPr>
                        <a:t>转发</a:t>
                      </a:r>
                      <a:r>
                        <a:rPr lang="en-US" sz="1600" b="1" kern="500" dirty="0">
                          <a:solidFill>
                            <a:schemeClr val="tx1"/>
                          </a:solidFill>
                          <a:effectLst/>
                          <a:latin typeface="微软雅黑" panose="020B0503020204020204" pitchFamily="34" charset="-122"/>
                          <a:ea typeface="微软雅黑" panose="020B0503020204020204" pitchFamily="34" charset="-122"/>
                          <a:cs typeface="+mn-cs"/>
                        </a:rPr>
                        <a:t>(</a:t>
                      </a:r>
                      <a:r>
                        <a:rPr lang="en-US" altLang="zh-CN" sz="1600" b="1" kern="500" dirty="0">
                          <a:solidFill>
                            <a:schemeClr val="tx1"/>
                          </a:solidFill>
                          <a:effectLst/>
                          <a:latin typeface="微软雅黑" panose="020B0503020204020204" pitchFamily="34" charset="-122"/>
                          <a:ea typeface="微软雅黑" panose="020B0503020204020204" pitchFamily="34" charset="-122"/>
                          <a:cs typeface="+mn-cs"/>
                        </a:rPr>
                        <a:t>4</a:t>
                      </a:r>
                      <a:r>
                        <a:rPr lang="en-US" sz="1600" b="1" kern="500" dirty="0">
                          <a:solidFill>
                            <a:schemeClr val="tx1"/>
                          </a:solidFill>
                          <a:effectLst/>
                          <a:latin typeface="微软雅黑" panose="020B0503020204020204" pitchFamily="34" charset="-122"/>
                          <a:ea typeface="微软雅黑" panose="020B0503020204020204" pitchFamily="34" charset="-122"/>
                          <a:cs typeface="+mn-cs"/>
                        </a:rPr>
                        <a:t>)</a:t>
                      </a:r>
                      <a:endParaRPr lang="zh-CN" sz="1600" b="1" kern="500" dirty="0">
                        <a:solidFill>
                          <a:schemeClr val="tx1"/>
                        </a:solidFill>
                        <a:effectLst/>
                        <a:latin typeface="微软雅黑" panose="020B0503020204020204" pitchFamily="34" charset="-122"/>
                        <a:ea typeface="微软雅黑" panose="020B0503020204020204" pitchFamily="34" charset="-122"/>
                        <a:cs typeface="+mn-cs"/>
                      </a:endParaRPr>
                    </a:p>
                    <a:p>
                      <a:pPr marL="0" indent="0" algn="ctr" fontAlgn="base">
                        <a:lnSpc>
                          <a:spcPts val="1560"/>
                        </a:lnSpc>
                        <a:spcAft>
                          <a:spcPts val="0"/>
                        </a:spcAft>
                      </a:pPr>
                      <a:r>
                        <a:rPr lang="en-US" sz="1600" b="1" kern="500" dirty="0">
                          <a:solidFill>
                            <a:schemeClr val="tx1"/>
                          </a:solidFill>
                          <a:effectLst/>
                          <a:latin typeface="微软雅黑" panose="020B0503020204020204" pitchFamily="34" charset="-122"/>
                          <a:ea typeface="微软雅黑" panose="020B0503020204020204" pitchFamily="34" charset="-122"/>
                          <a:cs typeface="+mn-cs"/>
                        </a:rPr>
                        <a:t>······</a:t>
                      </a:r>
                      <a:endParaRPr lang="zh-CN" sz="1600" b="1" kern="500" dirty="0">
                        <a:solidFill>
                          <a:schemeClr val="tx1"/>
                        </a:solidFill>
                        <a:effectLst/>
                        <a:latin typeface="微软雅黑" panose="020B0503020204020204" pitchFamily="34" charset="-122"/>
                        <a:ea typeface="微软雅黑" panose="020B0503020204020204" pitchFamily="34" charset="-122"/>
                        <a:cs typeface="+mn-cs"/>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2329798"/>
                  </a:ext>
                </a:extLst>
              </a:tr>
            </a:tbl>
          </a:graphicData>
        </a:graphic>
      </p:graphicFrame>
      <p:sp>
        <p:nvSpPr>
          <p:cNvPr id="68" name="矩形 67"/>
          <p:cNvSpPr/>
          <p:nvPr/>
        </p:nvSpPr>
        <p:spPr>
          <a:xfrm>
            <a:off x="5579399" y="3990772"/>
            <a:ext cx="864339" cy="338554"/>
          </a:xfrm>
          <a:prstGeom prst="rect">
            <a:avLst/>
          </a:prstGeom>
        </p:spPr>
        <p:txBody>
          <a:bodyPr wrap="none">
            <a:spAutoFit/>
          </a:bodyPr>
          <a:lstStyle/>
          <a:p>
            <a:r>
              <a:rPr lang="en-US" altLang="zh-CN" sz="1600" b="1" dirty="0">
                <a:solidFill>
                  <a:srgbClr val="000099"/>
                </a:solidFill>
                <a:latin typeface="微软雅黑" panose="020B0503020204020204" pitchFamily="34" charset="-122"/>
                <a:ea typeface="微软雅黑" panose="020B0503020204020204" pitchFamily="34" charset="-122"/>
              </a:rPr>
              <a:t>S</a:t>
            </a:r>
            <a:r>
              <a:rPr lang="en-US" altLang="zh-CN" sz="1600" b="1" baseline="-25000" dirty="0">
                <a:solidFill>
                  <a:srgbClr val="000099"/>
                </a:solidFill>
                <a:latin typeface="微软雅黑" panose="020B0503020204020204" pitchFamily="34" charset="-122"/>
                <a:ea typeface="微软雅黑" panose="020B0503020204020204" pitchFamily="34" charset="-122"/>
              </a:rPr>
              <a:t>2</a:t>
            </a:r>
            <a:r>
              <a:rPr lang="en-US" altLang="zh-CN" sz="1600" b="1" dirty="0">
                <a:solidFill>
                  <a:srgbClr val="000099"/>
                </a:solidFill>
                <a:latin typeface="微软雅黑" panose="020B0503020204020204" pitchFamily="34" charset="-122"/>
                <a:ea typeface="微软雅黑" panose="020B0503020204020204" pitchFamily="34" charset="-122"/>
              </a:rPr>
              <a:t> </a:t>
            </a:r>
            <a:r>
              <a:rPr lang="zh-CN" altLang="en-US" sz="1600" b="1" dirty="0">
                <a:solidFill>
                  <a:srgbClr val="000099"/>
                </a:solidFill>
                <a:latin typeface="微软雅黑" panose="020B0503020204020204" pitchFamily="34" charset="-122"/>
                <a:ea typeface="微软雅黑" panose="020B0503020204020204" pitchFamily="34" charset="-122"/>
              </a:rPr>
              <a:t>流表</a:t>
            </a:r>
          </a:p>
        </p:txBody>
      </p:sp>
      <p:sp>
        <p:nvSpPr>
          <p:cNvPr id="4" name="矩形 3"/>
          <p:cNvSpPr/>
          <p:nvPr/>
        </p:nvSpPr>
        <p:spPr>
          <a:xfrm>
            <a:off x="1942752" y="5579174"/>
            <a:ext cx="8429853" cy="461665"/>
          </a:xfrm>
          <a:prstGeom prst="rect">
            <a:avLst/>
          </a:prstGeom>
          <a:solidFill>
            <a:srgbClr val="000099"/>
          </a:solidFill>
        </p:spPr>
        <p:txBody>
          <a:bodyPr wrap="squar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可见：广义转发具有多样性和灵活性。其优点是显而易见的。</a:t>
            </a:r>
          </a:p>
        </p:txBody>
      </p:sp>
    </p:spTree>
    <p:extLst>
      <p:ext uri="{BB962C8B-B14F-4D97-AF65-F5344CB8AC3E}">
        <p14:creationId xmlns:p14="http://schemas.microsoft.com/office/powerpoint/2010/main" val="68605281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up)">
                                      <p:cBhvr>
                                        <p:cTn id="7" dur="1000"/>
                                        <p:tgtEl>
                                          <p:spTgt spid="68"/>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wipe(up)">
                                      <p:cBhvr>
                                        <p:cTn id="11" dur="1000"/>
                                        <p:tgtEl>
                                          <p:spTgt spid="6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圆角矩形 71"/>
          <p:cNvSpPr/>
          <p:nvPr/>
        </p:nvSpPr>
        <p:spPr>
          <a:xfrm>
            <a:off x="726860" y="1441250"/>
            <a:ext cx="10738281" cy="4546109"/>
          </a:xfrm>
          <a:prstGeom prst="roundRect">
            <a:avLst>
              <a:gd name="adj" fmla="val 1162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7" name="AutoShape 5"/>
          <p:cNvSpPr>
            <a:spLocks noChangeArrowheads="1"/>
          </p:cNvSpPr>
          <p:nvPr/>
        </p:nvSpPr>
        <p:spPr bwMode="auto">
          <a:xfrm>
            <a:off x="726859" y="823346"/>
            <a:ext cx="10738283" cy="518295"/>
          </a:xfrm>
          <a:prstGeom prst="roundRect">
            <a:avLst>
              <a:gd name="adj" fmla="val 16667"/>
            </a:avLst>
          </a:prstGeom>
          <a:solidFill>
            <a:srgbClr val="0089FA"/>
          </a:solidFill>
          <a:ln>
            <a:noFill/>
          </a:ln>
          <a:effectLst/>
        </p:spPr>
        <p:txBody>
          <a:bodyPr wrap="none" anchor="ctr"/>
          <a:lstStyle/>
          <a:p>
            <a:endParaRPr lang="zh-CN" altLang="en-US" sz="2400"/>
          </a:p>
        </p:txBody>
      </p:sp>
      <p:sp>
        <p:nvSpPr>
          <p:cNvPr id="8" name="Rectangle 6"/>
          <p:cNvSpPr>
            <a:spLocks noChangeArrowheads="1"/>
          </p:cNvSpPr>
          <p:nvPr/>
        </p:nvSpPr>
        <p:spPr bwMode="auto">
          <a:xfrm>
            <a:off x="3916568" y="768862"/>
            <a:ext cx="43588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3200" b="1" dirty="0">
                <a:solidFill>
                  <a:schemeClr val="bg1"/>
                </a:solidFill>
                <a:latin typeface="微软雅黑" pitchFamily="34" charset="-122"/>
                <a:ea typeface="微软雅黑" pitchFamily="34" charset="-122"/>
              </a:rPr>
              <a:t>4.10.2  SDN </a:t>
            </a:r>
            <a:r>
              <a:rPr lang="zh-CN" altLang="en-US" sz="3200" b="1" dirty="0">
                <a:solidFill>
                  <a:schemeClr val="bg1"/>
                </a:solidFill>
                <a:latin typeface="微软雅黑" pitchFamily="34" charset="-122"/>
                <a:ea typeface="微软雅黑" pitchFamily="34" charset="-122"/>
              </a:rPr>
              <a:t>体系结构</a:t>
            </a:r>
          </a:p>
        </p:txBody>
      </p:sp>
      <p:grpSp>
        <p:nvGrpSpPr>
          <p:cNvPr id="10" name="Group 206"/>
          <p:cNvGrpSpPr>
            <a:grpSpLocks/>
          </p:cNvGrpSpPr>
          <p:nvPr/>
        </p:nvGrpSpPr>
        <p:grpSpPr bwMode="auto">
          <a:xfrm>
            <a:off x="4419687" y="4537798"/>
            <a:ext cx="3245652" cy="951177"/>
            <a:chOff x="912" y="768"/>
            <a:chExt cx="2400" cy="1584"/>
          </a:xfrm>
          <a:solidFill>
            <a:srgbClr val="00CCFF"/>
          </a:solidFill>
        </p:grpSpPr>
        <p:sp>
          <p:nvSpPr>
            <p:cNvPr id="23" name="Oval 207"/>
            <p:cNvSpPr>
              <a:spLocks noChangeArrowheads="1"/>
            </p:cNvSpPr>
            <p:nvPr/>
          </p:nvSpPr>
          <p:spPr bwMode="auto">
            <a:xfrm>
              <a:off x="1751" y="799"/>
              <a:ext cx="1026" cy="628"/>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4" name="Oval 208"/>
            <p:cNvSpPr>
              <a:spLocks noChangeArrowheads="1"/>
            </p:cNvSpPr>
            <p:nvPr/>
          </p:nvSpPr>
          <p:spPr bwMode="auto">
            <a:xfrm>
              <a:off x="1172" y="972"/>
              <a:ext cx="781" cy="627"/>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6" name="Oval 209"/>
            <p:cNvSpPr>
              <a:spLocks noChangeArrowheads="1"/>
            </p:cNvSpPr>
            <p:nvPr/>
          </p:nvSpPr>
          <p:spPr bwMode="auto">
            <a:xfrm>
              <a:off x="926" y="1364"/>
              <a:ext cx="521" cy="502"/>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7" name="Oval 210"/>
            <p:cNvSpPr>
              <a:spLocks noChangeArrowheads="1"/>
            </p:cNvSpPr>
            <p:nvPr/>
          </p:nvSpPr>
          <p:spPr bwMode="auto">
            <a:xfrm>
              <a:off x="1085" y="1599"/>
              <a:ext cx="796" cy="549"/>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8" name="Oval 211"/>
            <p:cNvSpPr>
              <a:spLocks noChangeArrowheads="1"/>
            </p:cNvSpPr>
            <p:nvPr/>
          </p:nvSpPr>
          <p:spPr bwMode="auto">
            <a:xfrm>
              <a:off x="1664" y="1693"/>
              <a:ext cx="1200" cy="659"/>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29" name="Oval 212"/>
            <p:cNvSpPr>
              <a:spLocks noChangeArrowheads="1"/>
            </p:cNvSpPr>
            <p:nvPr/>
          </p:nvSpPr>
          <p:spPr bwMode="auto">
            <a:xfrm>
              <a:off x="2445" y="988"/>
              <a:ext cx="751" cy="486"/>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0" name="Oval 213"/>
            <p:cNvSpPr>
              <a:spLocks noChangeArrowheads="1"/>
            </p:cNvSpPr>
            <p:nvPr/>
          </p:nvSpPr>
          <p:spPr bwMode="auto">
            <a:xfrm>
              <a:off x="2560" y="1317"/>
              <a:ext cx="752" cy="486"/>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1" name="Oval 214"/>
            <p:cNvSpPr>
              <a:spLocks noChangeArrowheads="1"/>
            </p:cNvSpPr>
            <p:nvPr/>
          </p:nvSpPr>
          <p:spPr bwMode="auto">
            <a:xfrm>
              <a:off x="2488" y="1427"/>
              <a:ext cx="752" cy="815"/>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2" name="Oval 215"/>
            <p:cNvSpPr>
              <a:spLocks noChangeArrowheads="1"/>
            </p:cNvSpPr>
            <p:nvPr/>
          </p:nvSpPr>
          <p:spPr bwMode="auto">
            <a:xfrm>
              <a:off x="1360" y="1176"/>
              <a:ext cx="1547" cy="815"/>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grpSp>
          <p:nvGrpSpPr>
            <p:cNvPr id="33" name="Group 216"/>
            <p:cNvGrpSpPr>
              <a:grpSpLocks/>
            </p:cNvGrpSpPr>
            <p:nvPr/>
          </p:nvGrpSpPr>
          <p:grpSpPr bwMode="auto">
            <a:xfrm>
              <a:off x="912" y="768"/>
              <a:ext cx="2386" cy="1553"/>
              <a:chOff x="912" y="768"/>
              <a:chExt cx="2386" cy="1553"/>
            </a:xfrm>
            <a:grpFill/>
          </p:grpSpPr>
          <p:sp>
            <p:nvSpPr>
              <p:cNvPr id="34" name="Oval 217"/>
              <p:cNvSpPr>
                <a:spLocks noChangeArrowheads="1"/>
              </p:cNvSpPr>
              <p:nvPr/>
            </p:nvSpPr>
            <p:spPr bwMode="auto">
              <a:xfrm>
                <a:off x="1736" y="768"/>
                <a:ext cx="1027" cy="627"/>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5" name="Oval 218"/>
              <p:cNvSpPr>
                <a:spLocks noChangeArrowheads="1"/>
              </p:cNvSpPr>
              <p:nvPr/>
            </p:nvSpPr>
            <p:spPr bwMode="auto">
              <a:xfrm>
                <a:off x="1158" y="941"/>
                <a:ext cx="781" cy="627"/>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6" name="Oval 219"/>
              <p:cNvSpPr>
                <a:spLocks noChangeArrowheads="1"/>
              </p:cNvSpPr>
              <p:nvPr/>
            </p:nvSpPr>
            <p:spPr bwMode="auto">
              <a:xfrm>
                <a:off x="912" y="1333"/>
                <a:ext cx="520" cy="501"/>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7" name="Oval 220"/>
              <p:cNvSpPr>
                <a:spLocks noChangeArrowheads="1"/>
              </p:cNvSpPr>
              <p:nvPr/>
            </p:nvSpPr>
            <p:spPr bwMode="auto">
              <a:xfrm>
                <a:off x="1071" y="1568"/>
                <a:ext cx="795" cy="549"/>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8" name="Oval 221"/>
              <p:cNvSpPr>
                <a:spLocks noChangeArrowheads="1"/>
              </p:cNvSpPr>
              <p:nvPr/>
            </p:nvSpPr>
            <p:spPr bwMode="auto">
              <a:xfrm>
                <a:off x="1649" y="1662"/>
                <a:ext cx="1200" cy="659"/>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9" name="Oval 222"/>
              <p:cNvSpPr>
                <a:spLocks noChangeArrowheads="1"/>
              </p:cNvSpPr>
              <p:nvPr/>
            </p:nvSpPr>
            <p:spPr bwMode="auto">
              <a:xfrm>
                <a:off x="2430" y="956"/>
                <a:ext cx="752" cy="486"/>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0" name="Oval 223"/>
              <p:cNvSpPr>
                <a:spLocks noChangeArrowheads="1"/>
              </p:cNvSpPr>
              <p:nvPr/>
            </p:nvSpPr>
            <p:spPr bwMode="auto">
              <a:xfrm>
                <a:off x="2546" y="1286"/>
                <a:ext cx="752" cy="486"/>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1" name="Oval 224"/>
              <p:cNvSpPr>
                <a:spLocks noChangeArrowheads="1"/>
              </p:cNvSpPr>
              <p:nvPr/>
            </p:nvSpPr>
            <p:spPr bwMode="auto">
              <a:xfrm>
                <a:off x="2473" y="1395"/>
                <a:ext cx="752" cy="816"/>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42" name="Oval 225"/>
              <p:cNvSpPr>
                <a:spLocks noChangeArrowheads="1"/>
              </p:cNvSpPr>
              <p:nvPr/>
            </p:nvSpPr>
            <p:spPr bwMode="auto">
              <a:xfrm>
                <a:off x="1346" y="1144"/>
                <a:ext cx="1547" cy="816"/>
              </a:xfrm>
              <a:prstGeom prst="ellipse">
                <a:avLst/>
              </a:prstGeom>
              <a:grpFill/>
              <a:ln w="9525">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grpSp>
      </p:grpSp>
      <p:sp>
        <p:nvSpPr>
          <p:cNvPr id="11" name="Line 151"/>
          <p:cNvSpPr>
            <a:spLocks noChangeShapeType="1"/>
          </p:cNvSpPr>
          <p:nvPr/>
        </p:nvSpPr>
        <p:spPr bwMode="auto">
          <a:xfrm>
            <a:off x="5744443" y="4738045"/>
            <a:ext cx="993567" cy="0"/>
          </a:xfrm>
          <a:prstGeom prst="line">
            <a:avLst/>
          </a:prstGeom>
          <a:solidFill>
            <a:srgbClr val="33CCFF"/>
          </a:solidFill>
          <a:ln w="1270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2" name="Line 99"/>
          <p:cNvSpPr>
            <a:spLocks noChangeShapeType="1"/>
          </p:cNvSpPr>
          <p:nvPr/>
        </p:nvSpPr>
        <p:spPr bwMode="auto">
          <a:xfrm>
            <a:off x="4750876" y="5038418"/>
            <a:ext cx="1192280" cy="300372"/>
          </a:xfrm>
          <a:prstGeom prst="line">
            <a:avLst/>
          </a:prstGeom>
          <a:solidFill>
            <a:srgbClr val="33CCFF"/>
          </a:solidFill>
          <a:ln w="1270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 name="Line 100"/>
          <p:cNvSpPr>
            <a:spLocks noChangeShapeType="1"/>
          </p:cNvSpPr>
          <p:nvPr/>
        </p:nvSpPr>
        <p:spPr bwMode="auto">
          <a:xfrm>
            <a:off x="4817389" y="5038778"/>
            <a:ext cx="2431841" cy="11193"/>
          </a:xfrm>
          <a:prstGeom prst="line">
            <a:avLst/>
          </a:prstGeom>
          <a:solidFill>
            <a:srgbClr val="33CCFF"/>
          </a:solidFill>
          <a:ln w="1270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 name="Line 101"/>
          <p:cNvSpPr>
            <a:spLocks noChangeShapeType="1"/>
          </p:cNvSpPr>
          <p:nvPr/>
        </p:nvSpPr>
        <p:spPr bwMode="auto">
          <a:xfrm>
            <a:off x="6671773" y="4738046"/>
            <a:ext cx="529903" cy="300372"/>
          </a:xfrm>
          <a:prstGeom prst="line">
            <a:avLst/>
          </a:prstGeom>
          <a:solidFill>
            <a:srgbClr val="33CCFF"/>
          </a:solidFill>
          <a:ln w="1270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5" name="Line 102"/>
          <p:cNvSpPr>
            <a:spLocks noChangeShapeType="1"/>
          </p:cNvSpPr>
          <p:nvPr/>
        </p:nvSpPr>
        <p:spPr bwMode="auto">
          <a:xfrm flipV="1">
            <a:off x="6141871" y="5138541"/>
            <a:ext cx="1192280" cy="200248"/>
          </a:xfrm>
          <a:prstGeom prst="line">
            <a:avLst/>
          </a:prstGeom>
          <a:solidFill>
            <a:srgbClr val="33CCFF"/>
          </a:solidFill>
          <a:ln w="1270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 name="Line 107"/>
          <p:cNvSpPr>
            <a:spLocks noChangeShapeType="1"/>
          </p:cNvSpPr>
          <p:nvPr/>
        </p:nvSpPr>
        <p:spPr bwMode="auto">
          <a:xfrm flipV="1">
            <a:off x="4817389" y="4738044"/>
            <a:ext cx="860817" cy="251067"/>
          </a:xfrm>
          <a:prstGeom prst="line">
            <a:avLst/>
          </a:prstGeom>
          <a:solidFill>
            <a:srgbClr val="33CCFF"/>
          </a:solidFill>
          <a:ln w="1270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 name="Line 108"/>
          <p:cNvSpPr>
            <a:spLocks noChangeShapeType="1"/>
          </p:cNvSpPr>
          <p:nvPr/>
        </p:nvSpPr>
        <p:spPr bwMode="auto">
          <a:xfrm>
            <a:off x="5678205" y="4738045"/>
            <a:ext cx="397427" cy="600744"/>
          </a:xfrm>
          <a:prstGeom prst="line">
            <a:avLst/>
          </a:prstGeom>
          <a:solidFill>
            <a:srgbClr val="33CCFF"/>
          </a:solidFill>
          <a:ln w="12700">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pic>
        <p:nvPicPr>
          <p:cNvPr id="18" name="Picture 109"/>
          <p:cNvPicPr>
            <a:picLocks noChangeArrowheads="1"/>
          </p:cNvPicPr>
          <p:nvPr/>
        </p:nvPicPr>
        <p:blipFill>
          <a:blip r:embed="rId3" cstate="print"/>
          <a:srcRect/>
          <a:stretch>
            <a:fillRect/>
          </a:stretch>
        </p:blipFill>
        <p:spPr bwMode="auto">
          <a:xfrm>
            <a:off x="4537013" y="4938346"/>
            <a:ext cx="478975" cy="199765"/>
          </a:xfrm>
          <a:prstGeom prst="rect">
            <a:avLst/>
          </a:prstGeom>
          <a:noFill/>
          <a:ln w="12699">
            <a:noFill/>
            <a:miter lim="800000"/>
            <a:headEnd/>
            <a:tailEnd/>
          </a:ln>
        </p:spPr>
      </p:pic>
      <p:pic>
        <p:nvPicPr>
          <p:cNvPr id="19" name="Picture 110"/>
          <p:cNvPicPr>
            <a:picLocks noChangeArrowheads="1"/>
          </p:cNvPicPr>
          <p:nvPr/>
        </p:nvPicPr>
        <p:blipFill>
          <a:blip r:embed="rId3" cstate="print"/>
          <a:srcRect/>
          <a:stretch>
            <a:fillRect/>
          </a:stretch>
        </p:blipFill>
        <p:spPr bwMode="auto">
          <a:xfrm>
            <a:off x="5479493" y="4637922"/>
            <a:ext cx="478975" cy="199765"/>
          </a:xfrm>
          <a:prstGeom prst="rect">
            <a:avLst/>
          </a:prstGeom>
          <a:noFill/>
          <a:ln w="12699">
            <a:noFill/>
            <a:miter lim="800000"/>
            <a:headEnd/>
            <a:tailEnd/>
          </a:ln>
        </p:spPr>
      </p:pic>
      <p:pic>
        <p:nvPicPr>
          <p:cNvPr id="20" name="Picture 111"/>
          <p:cNvPicPr>
            <a:picLocks noChangeArrowheads="1"/>
          </p:cNvPicPr>
          <p:nvPr/>
        </p:nvPicPr>
        <p:blipFill>
          <a:blip r:embed="rId3" cstate="print"/>
          <a:srcRect/>
          <a:stretch>
            <a:fillRect/>
          </a:stretch>
        </p:blipFill>
        <p:spPr bwMode="auto">
          <a:xfrm>
            <a:off x="5810681" y="5238666"/>
            <a:ext cx="478975" cy="199765"/>
          </a:xfrm>
          <a:prstGeom prst="rect">
            <a:avLst/>
          </a:prstGeom>
          <a:noFill/>
          <a:ln w="12699">
            <a:noFill/>
            <a:miter lim="800000"/>
            <a:headEnd/>
            <a:tailEnd/>
          </a:ln>
        </p:spPr>
      </p:pic>
      <p:pic>
        <p:nvPicPr>
          <p:cNvPr id="21" name="Picture 112"/>
          <p:cNvPicPr>
            <a:picLocks noChangeArrowheads="1"/>
          </p:cNvPicPr>
          <p:nvPr/>
        </p:nvPicPr>
        <p:blipFill>
          <a:blip r:embed="rId3" cstate="print"/>
          <a:srcRect/>
          <a:stretch>
            <a:fillRect/>
          </a:stretch>
        </p:blipFill>
        <p:spPr bwMode="auto">
          <a:xfrm>
            <a:off x="7069199" y="4988355"/>
            <a:ext cx="478975" cy="199765"/>
          </a:xfrm>
          <a:prstGeom prst="rect">
            <a:avLst/>
          </a:prstGeom>
          <a:noFill/>
          <a:ln w="12699">
            <a:noFill/>
            <a:miter lim="800000"/>
            <a:headEnd/>
            <a:tailEnd/>
          </a:ln>
        </p:spPr>
      </p:pic>
      <p:pic>
        <p:nvPicPr>
          <p:cNvPr id="22" name="Picture 113"/>
          <p:cNvPicPr>
            <a:picLocks noChangeArrowheads="1"/>
          </p:cNvPicPr>
          <p:nvPr/>
        </p:nvPicPr>
        <p:blipFill>
          <a:blip r:embed="rId3" cstate="print"/>
          <a:srcRect/>
          <a:stretch>
            <a:fillRect/>
          </a:stretch>
        </p:blipFill>
        <p:spPr bwMode="auto">
          <a:xfrm>
            <a:off x="6473059" y="4637922"/>
            <a:ext cx="478975" cy="199765"/>
          </a:xfrm>
          <a:prstGeom prst="rect">
            <a:avLst/>
          </a:prstGeom>
          <a:noFill/>
          <a:ln w="12699">
            <a:noFill/>
            <a:miter lim="800000"/>
            <a:headEnd/>
            <a:tailEnd/>
          </a:ln>
        </p:spPr>
      </p:pic>
      <p:sp>
        <p:nvSpPr>
          <p:cNvPr id="43" name="TextBox 175"/>
          <p:cNvSpPr txBox="1"/>
          <p:nvPr/>
        </p:nvSpPr>
        <p:spPr>
          <a:xfrm>
            <a:off x="4536273" y="1483752"/>
            <a:ext cx="2377574" cy="420564"/>
          </a:xfrm>
          <a:prstGeom prst="rect">
            <a:avLst/>
          </a:prstGeom>
          <a:noFill/>
        </p:spPr>
        <p:txBody>
          <a:bodyPr wrap="none" rtlCol="0">
            <a:spAutoFit/>
          </a:bodyPr>
          <a:lstStyle/>
          <a:p>
            <a:pPr algn="ctr"/>
            <a:r>
              <a:rPr lang="zh-CN" altLang="en-US" sz="2133" b="1" dirty="0">
                <a:solidFill>
                  <a:srgbClr val="CC00CC"/>
                </a:solidFill>
                <a:latin typeface="微软雅黑" panose="020B0503020204020204" pitchFamily="34" charset="-122"/>
                <a:ea typeface="微软雅黑" panose="020B0503020204020204" pitchFamily="34" charset="-122"/>
              </a:rPr>
              <a:t>网络控制应用程序</a:t>
            </a:r>
          </a:p>
        </p:txBody>
      </p:sp>
      <p:cxnSp>
        <p:nvCxnSpPr>
          <p:cNvPr id="44" name="直接箭头连接符 43"/>
          <p:cNvCxnSpPr/>
          <p:nvPr/>
        </p:nvCxnSpPr>
        <p:spPr>
          <a:xfrm>
            <a:off x="2638362" y="1976936"/>
            <a:ext cx="665775" cy="0"/>
          </a:xfrm>
          <a:prstGeom prst="straightConnector1">
            <a:avLst/>
          </a:prstGeom>
          <a:ln w="9525">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2388697" y="4391463"/>
            <a:ext cx="6108860" cy="0"/>
          </a:xfrm>
          <a:prstGeom prst="line">
            <a:avLst/>
          </a:prstGeom>
          <a:ln w="12700">
            <a:solidFill>
              <a:srgbClr val="000066"/>
            </a:solidFill>
            <a:prstDash val="dash"/>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4086799" y="3440285"/>
            <a:ext cx="3994648" cy="73167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rPr>
              <a:t>SDN </a:t>
            </a:r>
            <a:r>
              <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rPr>
              <a:t>控制器</a:t>
            </a: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r>
              <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rPr>
              <a:t>（网络操作系统）</a:t>
            </a:r>
          </a:p>
        </p:txBody>
      </p:sp>
      <p:sp>
        <p:nvSpPr>
          <p:cNvPr id="47" name="圆角矩形 46"/>
          <p:cNvSpPr/>
          <p:nvPr/>
        </p:nvSpPr>
        <p:spPr>
          <a:xfrm>
            <a:off x="3837133" y="2523991"/>
            <a:ext cx="1248328" cy="439005"/>
          </a:xfrm>
          <a:prstGeom prst="roundRect">
            <a:avLst>
              <a:gd name="adj" fmla="val 24226"/>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路由选择</a:t>
            </a:r>
          </a:p>
        </p:txBody>
      </p:sp>
      <p:sp>
        <p:nvSpPr>
          <p:cNvPr id="48" name="圆角矩形 47"/>
          <p:cNvSpPr/>
          <p:nvPr/>
        </p:nvSpPr>
        <p:spPr>
          <a:xfrm>
            <a:off x="5751236" y="2523991"/>
            <a:ext cx="1248328" cy="439005"/>
          </a:xfrm>
          <a:prstGeom prst="roundRect">
            <a:avLst>
              <a:gd name="adj" fmla="val 24226"/>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接入控制</a:t>
            </a:r>
          </a:p>
        </p:txBody>
      </p:sp>
      <p:sp>
        <p:nvSpPr>
          <p:cNvPr id="49" name="圆角矩形 48"/>
          <p:cNvSpPr/>
          <p:nvPr/>
        </p:nvSpPr>
        <p:spPr>
          <a:xfrm>
            <a:off x="7249229" y="2523991"/>
            <a:ext cx="1248328" cy="439005"/>
          </a:xfrm>
          <a:prstGeom prst="roundRect">
            <a:avLst>
              <a:gd name="adj" fmla="val 24226"/>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负载均衡</a:t>
            </a:r>
          </a:p>
        </p:txBody>
      </p:sp>
      <p:sp>
        <p:nvSpPr>
          <p:cNvPr id="50" name="TextBox 106"/>
          <p:cNvSpPr txBox="1"/>
          <p:nvPr/>
        </p:nvSpPr>
        <p:spPr>
          <a:xfrm>
            <a:off x="5159423" y="2489108"/>
            <a:ext cx="453970"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51" name="TextBox 109"/>
          <p:cNvSpPr txBox="1"/>
          <p:nvPr/>
        </p:nvSpPr>
        <p:spPr>
          <a:xfrm>
            <a:off x="8083569" y="4181215"/>
            <a:ext cx="2124099" cy="625877"/>
          </a:xfrm>
          <a:prstGeom prst="rect">
            <a:avLst/>
          </a:prstGeom>
          <a:noFill/>
        </p:spPr>
        <p:txBody>
          <a:bodyPr wrap="square" rtlCol="0">
            <a:spAutoFit/>
          </a:bodyPr>
          <a:lstStyle/>
          <a:p>
            <a:pPr algn="ctr"/>
            <a:r>
              <a:rPr lang="zh-CN" altLang="en-US" sz="1867" b="1" dirty="0">
                <a:solidFill>
                  <a:srgbClr val="0000FF"/>
                </a:solidFill>
                <a:latin typeface="微软雅黑" panose="020B0503020204020204" pitchFamily="34" charset="-122"/>
                <a:ea typeface="微软雅黑" panose="020B0503020204020204" pitchFamily="34" charset="-122"/>
              </a:rPr>
              <a:t>南向 </a:t>
            </a:r>
            <a:r>
              <a:rPr lang="en-US" altLang="zh-CN" sz="1867" b="1" dirty="0">
                <a:solidFill>
                  <a:srgbClr val="0000FF"/>
                </a:solidFill>
                <a:latin typeface="微软雅黑" panose="020B0503020204020204" pitchFamily="34" charset="-122"/>
                <a:ea typeface="微软雅黑" panose="020B0503020204020204" pitchFamily="34" charset="-122"/>
                <a:cs typeface="Times New Roman" pitchFamily="18" charset="0"/>
              </a:rPr>
              <a:t>API</a:t>
            </a:r>
          </a:p>
          <a:p>
            <a:pPr algn="ctr"/>
            <a:r>
              <a:rPr lang="zh-CN" altLang="en-US" sz="1600" b="1" dirty="0">
                <a:latin typeface="微软雅黑" panose="020B0503020204020204" pitchFamily="34" charset="-122"/>
                <a:ea typeface="微软雅黑" panose="020B0503020204020204" pitchFamily="34" charset="-122"/>
                <a:cs typeface="Times New Roman" pitchFamily="18" charset="0"/>
              </a:rPr>
              <a:t>（例如 </a:t>
            </a:r>
            <a:r>
              <a:rPr lang="en-US" altLang="zh-CN" sz="1600" b="1" dirty="0" err="1">
                <a:latin typeface="微软雅黑" panose="020B0503020204020204" pitchFamily="34" charset="-122"/>
                <a:ea typeface="微软雅黑" panose="020B0503020204020204" pitchFamily="34" charset="-122"/>
                <a:cs typeface="Times New Roman" pitchFamily="18" charset="0"/>
              </a:rPr>
              <a:t>OpenFlow</a:t>
            </a:r>
            <a:r>
              <a:rPr lang="zh-CN" altLang="en-US" sz="1600" b="1" dirty="0">
                <a:latin typeface="微软雅黑" panose="020B0503020204020204" pitchFamily="34" charset="-122"/>
                <a:ea typeface="微软雅黑" panose="020B0503020204020204" pitchFamily="34" charset="-122"/>
                <a:cs typeface="Times New Roman" pitchFamily="18" charset="0"/>
              </a:rPr>
              <a:t>）</a:t>
            </a:r>
          </a:p>
        </p:txBody>
      </p:sp>
      <p:cxnSp>
        <p:nvCxnSpPr>
          <p:cNvPr id="52" name="直接连接符 51"/>
          <p:cNvCxnSpPr/>
          <p:nvPr/>
        </p:nvCxnSpPr>
        <p:spPr>
          <a:xfrm>
            <a:off x="3587468" y="3169448"/>
            <a:ext cx="4910088" cy="0"/>
          </a:xfrm>
          <a:prstGeom prst="line">
            <a:avLst/>
          </a:prstGeom>
          <a:ln w="12700">
            <a:solidFill>
              <a:srgbClr val="000066"/>
            </a:solidFill>
            <a:prstDash val="dash"/>
          </a:ln>
        </p:spPr>
        <p:style>
          <a:lnRef idx="1">
            <a:schemeClr val="accent1"/>
          </a:lnRef>
          <a:fillRef idx="0">
            <a:schemeClr val="accent1"/>
          </a:fillRef>
          <a:effectRef idx="0">
            <a:schemeClr val="accent1"/>
          </a:effectRef>
          <a:fontRef idx="minor">
            <a:schemeClr val="tx1"/>
          </a:fontRef>
        </p:style>
      </p:cxnSp>
      <p:sp>
        <p:nvSpPr>
          <p:cNvPr id="53" name="TextBox 112"/>
          <p:cNvSpPr txBox="1"/>
          <p:nvPr/>
        </p:nvSpPr>
        <p:spPr>
          <a:xfrm>
            <a:off x="8168241" y="2958726"/>
            <a:ext cx="2027047" cy="872098"/>
          </a:xfrm>
          <a:prstGeom prst="rect">
            <a:avLst/>
          </a:prstGeom>
          <a:noFill/>
        </p:spPr>
        <p:txBody>
          <a:bodyPr wrap="square" rtlCol="0">
            <a:spAutoFit/>
          </a:bodyPr>
          <a:lstStyle/>
          <a:p>
            <a:pPr algn="ctr"/>
            <a:r>
              <a:rPr lang="zh-CN" altLang="en-US" sz="1867" b="1" dirty="0">
                <a:solidFill>
                  <a:srgbClr val="C00000"/>
                </a:solidFill>
                <a:latin typeface="微软雅黑" panose="020B0503020204020204" pitchFamily="34" charset="-122"/>
                <a:ea typeface="微软雅黑" panose="020B0503020204020204" pitchFamily="34" charset="-122"/>
              </a:rPr>
              <a:t>北向 </a:t>
            </a:r>
            <a:r>
              <a:rPr lang="en-US" altLang="zh-CN" sz="1867" b="1" dirty="0">
                <a:solidFill>
                  <a:srgbClr val="C00000"/>
                </a:solidFill>
                <a:latin typeface="微软雅黑" panose="020B0503020204020204" pitchFamily="34" charset="-122"/>
                <a:ea typeface="微软雅黑" panose="020B0503020204020204" pitchFamily="34" charset="-122"/>
                <a:cs typeface="Times New Roman" pitchFamily="18" charset="0"/>
              </a:rPr>
              <a:t>API</a:t>
            </a:r>
          </a:p>
          <a:p>
            <a:pPr algn="ctr"/>
            <a:r>
              <a:rPr lang="zh-CN" altLang="en-US" sz="1600" b="1" dirty="0">
                <a:latin typeface="微软雅黑" panose="020B0503020204020204" pitchFamily="34" charset="-122"/>
                <a:ea typeface="微软雅黑" panose="020B0503020204020204" pitchFamily="34" charset="-122"/>
                <a:cs typeface="Times New Roman" pitchFamily="18" charset="0"/>
              </a:rPr>
              <a:t>（例如 </a:t>
            </a:r>
            <a:r>
              <a:rPr lang="en-US" altLang="zh-CN" sz="1600" b="1" dirty="0">
                <a:latin typeface="微软雅黑" panose="020B0503020204020204" pitchFamily="34" charset="-122"/>
                <a:ea typeface="微软雅黑" panose="020B0503020204020204" pitchFamily="34" charset="-122"/>
                <a:cs typeface="Times New Roman" pitchFamily="18" charset="0"/>
              </a:rPr>
              <a:t>GUI</a:t>
            </a:r>
            <a:r>
              <a:rPr lang="zh-CN" altLang="en-US" sz="1600" b="1" dirty="0">
                <a:latin typeface="微软雅黑" panose="020B0503020204020204" pitchFamily="34" charset="-122"/>
                <a:ea typeface="微软雅黑" panose="020B0503020204020204" pitchFamily="34" charset="-122"/>
                <a:cs typeface="Times New Roman" pitchFamily="18" charset="0"/>
              </a:rPr>
              <a:t>，</a:t>
            </a:r>
            <a:r>
              <a:rPr lang="en-US" altLang="zh-CN" sz="1600" b="1" dirty="0">
                <a:latin typeface="微软雅黑" panose="020B0503020204020204" pitchFamily="34" charset="-122"/>
                <a:ea typeface="微软雅黑" panose="020B0503020204020204" pitchFamily="34" charset="-122"/>
                <a:cs typeface="Times New Roman" pitchFamily="18" charset="0"/>
              </a:rPr>
              <a:t>Java</a:t>
            </a:r>
            <a:r>
              <a:rPr lang="zh-CN" altLang="en-US" sz="1600" b="1" dirty="0">
                <a:latin typeface="微软雅黑" panose="020B0503020204020204" pitchFamily="34" charset="-122"/>
                <a:ea typeface="微软雅黑" panose="020B0503020204020204" pitchFamily="34" charset="-122"/>
                <a:cs typeface="Times New Roman" pitchFamily="18" charset="0"/>
              </a:rPr>
              <a:t>，</a:t>
            </a:r>
            <a:r>
              <a:rPr lang="en-US" altLang="zh-CN" sz="1600" b="1" dirty="0">
                <a:latin typeface="微软雅黑" panose="020B0503020204020204" pitchFamily="34" charset="-122"/>
                <a:ea typeface="微软雅黑" panose="020B0503020204020204" pitchFamily="34" charset="-122"/>
                <a:cs typeface="Times New Roman" pitchFamily="18" charset="0"/>
              </a:rPr>
              <a:t>Python</a:t>
            </a:r>
            <a:r>
              <a:rPr lang="zh-CN" altLang="en-US" sz="1600" b="1" dirty="0">
                <a:latin typeface="微软雅黑" panose="020B0503020204020204" pitchFamily="34" charset="-122"/>
                <a:ea typeface="微软雅黑" panose="020B0503020204020204" pitchFamily="34" charset="-122"/>
                <a:cs typeface="Times New Roman" pitchFamily="18" charset="0"/>
              </a:rPr>
              <a:t>，</a:t>
            </a:r>
            <a:r>
              <a:rPr lang="en-US" altLang="zh-CN" sz="1600" b="1" dirty="0">
                <a:latin typeface="微软雅黑" panose="020B0503020204020204" pitchFamily="34" charset="-122"/>
                <a:ea typeface="微软雅黑" panose="020B0503020204020204" pitchFamily="34" charset="-122"/>
                <a:cs typeface="Times New Roman" pitchFamily="18" charset="0"/>
              </a:rPr>
              <a:t>APP</a:t>
            </a:r>
            <a:r>
              <a:rPr lang="zh-CN" altLang="en-US" sz="1600" b="1" dirty="0">
                <a:latin typeface="微软雅黑" panose="020B0503020204020204" pitchFamily="34" charset="-122"/>
                <a:ea typeface="微软雅黑" panose="020B0503020204020204" pitchFamily="34" charset="-122"/>
                <a:cs typeface="Times New Roman" pitchFamily="18" charset="0"/>
              </a:rPr>
              <a:t>）</a:t>
            </a:r>
          </a:p>
        </p:txBody>
      </p:sp>
      <p:cxnSp>
        <p:nvCxnSpPr>
          <p:cNvPr id="54" name="直接连接符 53"/>
          <p:cNvCxnSpPr/>
          <p:nvPr/>
        </p:nvCxnSpPr>
        <p:spPr>
          <a:xfrm>
            <a:off x="7323215" y="4163442"/>
            <a:ext cx="8807" cy="822661"/>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6711151" y="4163441"/>
            <a:ext cx="2656" cy="481600"/>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6062996" y="4171184"/>
            <a:ext cx="865" cy="1053400"/>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4784709" y="4171185"/>
            <a:ext cx="2184" cy="786665"/>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5710730" y="4175057"/>
            <a:ext cx="5268" cy="478505"/>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59" name="Picture 21"/>
          <p:cNvPicPr>
            <a:picLocks noChangeArrowheads="1"/>
          </p:cNvPicPr>
          <p:nvPr/>
        </p:nvPicPr>
        <p:blipFill>
          <a:blip r:embed="rId4"/>
          <a:srcRect/>
          <a:stretch>
            <a:fillRect/>
          </a:stretch>
        </p:blipFill>
        <p:spPr bwMode="auto">
          <a:xfrm>
            <a:off x="3587469" y="1976937"/>
            <a:ext cx="332084" cy="612031"/>
          </a:xfrm>
          <a:prstGeom prst="rect">
            <a:avLst/>
          </a:prstGeom>
          <a:noFill/>
          <a:ln w="12699">
            <a:noFill/>
            <a:miter lim="800000"/>
            <a:headEnd/>
            <a:tailEnd/>
          </a:ln>
        </p:spPr>
      </p:pic>
      <p:pic>
        <p:nvPicPr>
          <p:cNvPr id="60" name="Picture 21"/>
          <p:cNvPicPr>
            <a:picLocks noChangeArrowheads="1"/>
          </p:cNvPicPr>
          <p:nvPr/>
        </p:nvPicPr>
        <p:blipFill>
          <a:blip r:embed="rId4"/>
          <a:srcRect/>
          <a:stretch>
            <a:fillRect/>
          </a:stretch>
        </p:blipFill>
        <p:spPr bwMode="auto">
          <a:xfrm>
            <a:off x="5584793" y="1976937"/>
            <a:ext cx="332084" cy="612031"/>
          </a:xfrm>
          <a:prstGeom prst="rect">
            <a:avLst/>
          </a:prstGeom>
          <a:noFill/>
          <a:ln w="12699">
            <a:noFill/>
            <a:miter lim="800000"/>
            <a:headEnd/>
            <a:tailEnd/>
          </a:ln>
        </p:spPr>
      </p:pic>
      <p:pic>
        <p:nvPicPr>
          <p:cNvPr id="61" name="Picture 21"/>
          <p:cNvPicPr>
            <a:picLocks noChangeArrowheads="1"/>
          </p:cNvPicPr>
          <p:nvPr/>
        </p:nvPicPr>
        <p:blipFill>
          <a:blip r:embed="rId4"/>
          <a:srcRect/>
          <a:stretch>
            <a:fillRect/>
          </a:stretch>
        </p:blipFill>
        <p:spPr bwMode="auto">
          <a:xfrm>
            <a:off x="7082786" y="1976937"/>
            <a:ext cx="332084" cy="612031"/>
          </a:xfrm>
          <a:prstGeom prst="rect">
            <a:avLst/>
          </a:prstGeom>
          <a:noFill/>
          <a:ln w="12699">
            <a:noFill/>
            <a:miter lim="800000"/>
            <a:headEnd/>
            <a:tailEnd/>
          </a:ln>
        </p:spPr>
      </p:pic>
      <p:pic>
        <p:nvPicPr>
          <p:cNvPr id="62" name="Picture 21"/>
          <p:cNvPicPr>
            <a:picLocks noChangeArrowheads="1"/>
          </p:cNvPicPr>
          <p:nvPr/>
        </p:nvPicPr>
        <p:blipFill>
          <a:blip r:embed="rId4"/>
          <a:srcRect/>
          <a:stretch>
            <a:fillRect/>
          </a:stretch>
        </p:blipFill>
        <p:spPr bwMode="auto">
          <a:xfrm>
            <a:off x="3837134" y="3220783"/>
            <a:ext cx="332084" cy="612031"/>
          </a:xfrm>
          <a:prstGeom prst="rect">
            <a:avLst/>
          </a:prstGeom>
          <a:noFill/>
          <a:ln w="12699">
            <a:noFill/>
            <a:miter lim="800000"/>
            <a:headEnd/>
            <a:tailEnd/>
          </a:ln>
        </p:spPr>
      </p:pic>
      <p:cxnSp>
        <p:nvCxnSpPr>
          <p:cNvPr id="63" name="直接连接符 62"/>
          <p:cNvCxnSpPr/>
          <p:nvPr/>
        </p:nvCxnSpPr>
        <p:spPr>
          <a:xfrm flipH="1">
            <a:off x="4423459" y="2966848"/>
            <a:ext cx="10763" cy="473312"/>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6371927" y="2966304"/>
            <a:ext cx="168" cy="482921"/>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49" idx="2"/>
          </p:cNvCxnSpPr>
          <p:nvPr/>
        </p:nvCxnSpPr>
        <p:spPr>
          <a:xfrm flipH="1">
            <a:off x="7867080" y="2962997"/>
            <a:ext cx="6313" cy="486228"/>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a:off x="2971248" y="1976937"/>
            <a:ext cx="0" cy="2414527"/>
          </a:xfrm>
          <a:prstGeom prst="straightConnector1">
            <a:avLst/>
          </a:prstGeom>
          <a:ln>
            <a:solidFill>
              <a:schemeClr val="tx1"/>
            </a:solidFill>
            <a:headEnd type="triangle" w="sm" len="lg"/>
            <a:tailEnd type="triangle" w="sm" len="lg"/>
          </a:ln>
        </p:spPr>
        <p:style>
          <a:lnRef idx="1">
            <a:schemeClr val="accent1"/>
          </a:lnRef>
          <a:fillRef idx="0">
            <a:schemeClr val="accent1"/>
          </a:fillRef>
          <a:effectRef idx="0">
            <a:schemeClr val="accent1"/>
          </a:effectRef>
          <a:fontRef idx="minor">
            <a:schemeClr val="tx1"/>
          </a:fontRef>
        </p:style>
      </p:cxnSp>
      <p:sp>
        <p:nvSpPr>
          <p:cNvPr id="67" name="TextBox 179"/>
          <p:cNvSpPr txBox="1"/>
          <p:nvPr/>
        </p:nvSpPr>
        <p:spPr>
          <a:xfrm>
            <a:off x="2388696" y="2949946"/>
            <a:ext cx="1212981" cy="379656"/>
          </a:xfrm>
          <a:prstGeom prst="rect">
            <a:avLst/>
          </a:prstGeom>
          <a:solidFill>
            <a:srgbClr val="C3E3F9"/>
          </a:solidFill>
        </p:spPr>
        <p:txBody>
          <a:bodyPr wrap="square" rtlCol="0">
            <a:spAutoFit/>
          </a:bodyPr>
          <a:lstStyle/>
          <a:p>
            <a:pPr algn="ctr"/>
            <a:r>
              <a:rPr lang="zh-CN" altLang="en-US" sz="1867" b="1" dirty="0">
                <a:latin typeface="微软雅黑" panose="020B0503020204020204" pitchFamily="34" charset="-122"/>
                <a:ea typeface="微软雅黑" panose="020B0503020204020204" pitchFamily="34" charset="-122"/>
              </a:rPr>
              <a:t>控制层面</a:t>
            </a:r>
          </a:p>
        </p:txBody>
      </p:sp>
      <p:cxnSp>
        <p:nvCxnSpPr>
          <p:cNvPr id="68" name="直接箭头连接符 67"/>
          <p:cNvCxnSpPr/>
          <p:nvPr/>
        </p:nvCxnSpPr>
        <p:spPr>
          <a:xfrm>
            <a:off x="2971248" y="4391463"/>
            <a:ext cx="0" cy="1243847"/>
          </a:xfrm>
          <a:prstGeom prst="straightConnector1">
            <a:avLst/>
          </a:prstGeom>
          <a:ln>
            <a:solidFill>
              <a:schemeClr val="tx1"/>
            </a:solidFill>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p:nvPr/>
        </p:nvCxnSpPr>
        <p:spPr>
          <a:xfrm>
            <a:off x="2638362" y="5635311"/>
            <a:ext cx="665775" cy="0"/>
          </a:xfrm>
          <a:prstGeom prst="straightConnector1">
            <a:avLst/>
          </a:prstGeom>
          <a:ln w="9525">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0" name="TextBox 180"/>
          <p:cNvSpPr txBox="1"/>
          <p:nvPr/>
        </p:nvSpPr>
        <p:spPr>
          <a:xfrm>
            <a:off x="2399656" y="4903636"/>
            <a:ext cx="1140056" cy="379656"/>
          </a:xfrm>
          <a:prstGeom prst="rect">
            <a:avLst/>
          </a:prstGeom>
          <a:solidFill>
            <a:srgbClr val="C3E3F9"/>
          </a:solidFill>
        </p:spPr>
        <p:txBody>
          <a:bodyPr wrap="none" rtlCol="0">
            <a:spAutoFit/>
          </a:bodyPr>
          <a:lstStyle/>
          <a:p>
            <a:pPr algn="ctr"/>
            <a:r>
              <a:rPr lang="zh-CN" altLang="en-US" sz="1867" b="1">
                <a:latin typeface="微软雅黑" panose="020B0503020204020204" pitchFamily="34" charset="-122"/>
                <a:ea typeface="微软雅黑" panose="020B0503020204020204" pitchFamily="34" charset="-122"/>
              </a:rPr>
              <a:t>数据层面</a:t>
            </a:r>
            <a:endParaRPr lang="zh-CN" altLang="en-US" sz="1867" b="1" dirty="0">
              <a:latin typeface="微软雅黑" panose="020B0503020204020204" pitchFamily="34" charset="-122"/>
              <a:ea typeface="微软雅黑" panose="020B0503020204020204" pitchFamily="34" charset="-122"/>
            </a:endParaRPr>
          </a:p>
        </p:txBody>
      </p:sp>
      <p:sp>
        <p:nvSpPr>
          <p:cNvPr id="71" name="TextBox 217"/>
          <p:cNvSpPr txBox="1"/>
          <p:nvPr/>
        </p:nvSpPr>
        <p:spPr>
          <a:xfrm>
            <a:off x="5085366" y="5462284"/>
            <a:ext cx="1936748" cy="338554"/>
          </a:xfrm>
          <a:prstGeom prst="rect">
            <a:avLst/>
          </a:prstGeom>
          <a:noFill/>
        </p:spPr>
        <p:txBody>
          <a:bodyPr wrap="none" rtlCol="0">
            <a:spAutoFit/>
          </a:bodyPr>
          <a:lstStyle/>
          <a:p>
            <a:pPr algn="ctr"/>
            <a:r>
              <a:rPr lang="en-US" altLang="zh-CN" sz="1600" b="1" dirty="0">
                <a:latin typeface="微软雅黑" panose="020B0503020204020204" pitchFamily="34" charset="-122"/>
                <a:ea typeface="微软雅黑" panose="020B0503020204020204" pitchFamily="34" charset="-122"/>
                <a:cs typeface="Times New Roman" pitchFamily="18" charset="0"/>
              </a:rPr>
              <a:t>SDN </a:t>
            </a:r>
            <a:r>
              <a:rPr lang="zh-CN" altLang="en-US" sz="1600" b="1" dirty="0">
                <a:latin typeface="微软雅黑" panose="020B0503020204020204" pitchFamily="34" charset="-122"/>
                <a:ea typeface="微软雅黑" panose="020B0503020204020204" pitchFamily="34" charset="-122"/>
                <a:cs typeface="Times New Roman" pitchFamily="18" charset="0"/>
              </a:rPr>
              <a:t>控制的交换机</a:t>
            </a:r>
          </a:p>
        </p:txBody>
      </p:sp>
    </p:spTree>
    <p:extLst>
      <p:ext uri="{BB962C8B-B14F-4D97-AF65-F5344CB8AC3E}">
        <p14:creationId xmlns:p14="http://schemas.microsoft.com/office/powerpoint/2010/main" val="41695968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726860" y="818859"/>
            <a:ext cx="10738281" cy="471907"/>
          </a:xfrm>
          <a:prstGeom prst="roundRect">
            <a:avLst>
              <a:gd name="adj" fmla="val 16667"/>
            </a:avLst>
          </a:prstGeom>
          <a:solidFill>
            <a:srgbClr val="00B050"/>
          </a:solidFill>
          <a:ln>
            <a:noFill/>
          </a:ln>
          <a:effectLst/>
        </p:spPr>
        <p:txBody>
          <a:bodyPr wrap="none" anchor="ctr"/>
          <a:lstStyle/>
          <a:p>
            <a:endParaRPr lang="zh-CN" altLang="en-US" sz="2400"/>
          </a:p>
        </p:txBody>
      </p:sp>
      <p:sp>
        <p:nvSpPr>
          <p:cNvPr id="6" name="Rectangle 6"/>
          <p:cNvSpPr>
            <a:spLocks noChangeArrowheads="1"/>
          </p:cNvSpPr>
          <p:nvPr/>
        </p:nvSpPr>
        <p:spPr bwMode="auto">
          <a:xfrm>
            <a:off x="2589291" y="774577"/>
            <a:ext cx="7013419" cy="502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667" b="1" dirty="0">
                <a:solidFill>
                  <a:schemeClr val="bg1"/>
                </a:solidFill>
                <a:latin typeface="微软雅黑" pitchFamily="34" charset="-122"/>
                <a:ea typeface="微软雅黑" pitchFamily="34" charset="-122"/>
              </a:rPr>
              <a:t>SDN </a:t>
            </a:r>
            <a:r>
              <a:rPr lang="zh-CN" altLang="en-US" sz="2667" b="1" dirty="0">
                <a:solidFill>
                  <a:schemeClr val="bg1"/>
                </a:solidFill>
                <a:latin typeface="微软雅黑" pitchFamily="34" charset="-122"/>
                <a:ea typeface="微软雅黑" pitchFamily="34" charset="-122"/>
              </a:rPr>
              <a:t>体系结构的四个关键特征</a:t>
            </a:r>
          </a:p>
        </p:txBody>
      </p:sp>
      <p:graphicFrame>
        <p:nvGraphicFramePr>
          <p:cNvPr id="3" name="图示 2"/>
          <p:cNvGraphicFramePr/>
          <p:nvPr/>
        </p:nvGraphicFramePr>
        <p:xfrm>
          <a:off x="1656861" y="1352339"/>
          <a:ext cx="9018955" cy="42747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688571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726860" y="818859"/>
            <a:ext cx="10738281" cy="471907"/>
          </a:xfrm>
          <a:prstGeom prst="roundRect">
            <a:avLst>
              <a:gd name="adj" fmla="val 16667"/>
            </a:avLst>
          </a:prstGeom>
          <a:solidFill>
            <a:srgbClr val="00B050"/>
          </a:solidFill>
          <a:ln>
            <a:noFill/>
          </a:ln>
          <a:effectLst/>
        </p:spPr>
        <p:txBody>
          <a:bodyPr wrap="none" anchor="ctr"/>
          <a:lstStyle/>
          <a:p>
            <a:endParaRPr lang="zh-CN" altLang="en-US" sz="2400"/>
          </a:p>
        </p:txBody>
      </p:sp>
      <p:sp>
        <p:nvSpPr>
          <p:cNvPr id="6" name="Rectangle 6"/>
          <p:cNvSpPr>
            <a:spLocks noChangeArrowheads="1"/>
          </p:cNvSpPr>
          <p:nvPr/>
        </p:nvSpPr>
        <p:spPr bwMode="auto">
          <a:xfrm>
            <a:off x="2589291" y="774577"/>
            <a:ext cx="7013419" cy="502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667" b="1" dirty="0">
                <a:solidFill>
                  <a:schemeClr val="bg1"/>
                </a:solidFill>
                <a:latin typeface="微软雅黑" pitchFamily="34" charset="-122"/>
                <a:ea typeface="微软雅黑" pitchFamily="34" charset="-122"/>
              </a:rPr>
              <a:t>SDN </a:t>
            </a:r>
            <a:r>
              <a:rPr lang="zh-CN" altLang="en-US" sz="2667" b="1" dirty="0">
                <a:solidFill>
                  <a:schemeClr val="bg1"/>
                </a:solidFill>
                <a:latin typeface="微软雅黑" pitchFamily="34" charset="-122"/>
                <a:ea typeface="微软雅黑" pitchFamily="34" charset="-122"/>
              </a:rPr>
              <a:t>与传统网络的差别</a:t>
            </a:r>
          </a:p>
        </p:txBody>
      </p:sp>
      <p:graphicFrame>
        <p:nvGraphicFramePr>
          <p:cNvPr id="2" name="图示 1"/>
          <p:cNvGraphicFramePr/>
          <p:nvPr/>
        </p:nvGraphicFramePr>
        <p:xfrm>
          <a:off x="1695910" y="1477388"/>
          <a:ext cx="8854860" cy="39621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97338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圆角矩形 40"/>
          <p:cNvSpPr/>
          <p:nvPr/>
        </p:nvSpPr>
        <p:spPr>
          <a:xfrm>
            <a:off x="726860" y="1441250"/>
            <a:ext cx="10738281" cy="4546109"/>
          </a:xfrm>
          <a:prstGeom prst="roundRect">
            <a:avLst>
              <a:gd name="adj" fmla="val 1162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7" name="AutoShape 5"/>
          <p:cNvSpPr>
            <a:spLocks noChangeArrowheads="1"/>
          </p:cNvSpPr>
          <p:nvPr/>
        </p:nvSpPr>
        <p:spPr bwMode="auto">
          <a:xfrm>
            <a:off x="726859" y="823346"/>
            <a:ext cx="10738283" cy="518295"/>
          </a:xfrm>
          <a:prstGeom prst="roundRect">
            <a:avLst>
              <a:gd name="adj" fmla="val 16667"/>
            </a:avLst>
          </a:prstGeom>
          <a:solidFill>
            <a:srgbClr val="0089FA"/>
          </a:solidFill>
          <a:ln>
            <a:noFill/>
          </a:ln>
          <a:effectLst/>
        </p:spPr>
        <p:txBody>
          <a:bodyPr wrap="none" anchor="ctr"/>
          <a:lstStyle/>
          <a:p>
            <a:endParaRPr lang="zh-CN" altLang="en-US" sz="2400"/>
          </a:p>
        </p:txBody>
      </p:sp>
      <p:sp>
        <p:nvSpPr>
          <p:cNvPr id="8" name="Rectangle 6"/>
          <p:cNvSpPr>
            <a:spLocks noChangeArrowheads="1"/>
          </p:cNvSpPr>
          <p:nvPr/>
        </p:nvSpPr>
        <p:spPr bwMode="auto">
          <a:xfrm>
            <a:off x="4121754" y="768862"/>
            <a:ext cx="39485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3200" b="1" dirty="0">
                <a:solidFill>
                  <a:schemeClr val="bg1"/>
                </a:solidFill>
                <a:latin typeface="微软雅黑" pitchFamily="34" charset="-122"/>
                <a:ea typeface="微软雅黑" pitchFamily="34" charset="-122"/>
              </a:rPr>
              <a:t>4.10.3  SDN </a:t>
            </a:r>
            <a:r>
              <a:rPr lang="zh-CN" altLang="en-US" sz="3200" b="1" dirty="0">
                <a:solidFill>
                  <a:schemeClr val="bg1"/>
                </a:solidFill>
                <a:latin typeface="微软雅黑" pitchFamily="34" charset="-122"/>
                <a:ea typeface="微软雅黑" pitchFamily="34" charset="-122"/>
              </a:rPr>
              <a:t>控制器</a:t>
            </a:r>
          </a:p>
        </p:txBody>
      </p:sp>
      <p:grpSp>
        <p:nvGrpSpPr>
          <p:cNvPr id="42" name="组合 41"/>
          <p:cNvGrpSpPr/>
          <p:nvPr/>
        </p:nvGrpSpPr>
        <p:grpSpPr>
          <a:xfrm>
            <a:off x="844062" y="1640584"/>
            <a:ext cx="8501276" cy="4017754"/>
            <a:chOff x="1359877" y="1230438"/>
            <a:chExt cx="6375957" cy="3013315"/>
          </a:xfrm>
        </p:grpSpPr>
        <p:cxnSp>
          <p:nvCxnSpPr>
            <p:cNvPr id="9" name="直接连接符 8"/>
            <p:cNvCxnSpPr/>
            <p:nvPr/>
          </p:nvCxnSpPr>
          <p:spPr>
            <a:xfrm>
              <a:off x="2742756" y="4082073"/>
              <a:ext cx="3798722" cy="0"/>
            </a:xfrm>
            <a:prstGeom prst="line">
              <a:avLst/>
            </a:prstGeom>
            <a:ln w="19050">
              <a:solidFill>
                <a:srgbClr val="000066"/>
              </a:solidFill>
              <a:prstDash val="sysDash"/>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2814445" y="3329144"/>
              <a:ext cx="3171219" cy="645607"/>
            </a:xfrm>
            <a:prstGeom prst="rect">
              <a:avLst/>
            </a:prstGeom>
            <a:solidFill>
              <a:srgbClr val="33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微软雅黑" panose="020B0503020204020204" pitchFamily="34" charset="-122"/>
                  <a:ea typeface="微软雅黑" panose="020B0503020204020204" pitchFamily="34" charset="-122"/>
                  <a:cs typeface="Times New Roman" pitchFamily="18" charset="0"/>
                </a:rPr>
                <a:t>与数据层面中</a:t>
              </a:r>
              <a:r>
                <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rPr>
                <a:t>受控设备的通信</a:t>
              </a: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11" name="TextBox 109"/>
            <p:cNvSpPr txBox="1"/>
            <p:nvPr/>
          </p:nvSpPr>
          <p:spPr>
            <a:xfrm>
              <a:off x="6576747" y="3927859"/>
              <a:ext cx="1159087" cy="315423"/>
            </a:xfrm>
            <a:prstGeom prst="rect">
              <a:avLst/>
            </a:prstGeom>
            <a:noFill/>
          </p:spPr>
          <p:txBody>
            <a:bodyPr wrap="square" rtlCol="0">
              <a:spAutoFit/>
            </a:bodyPr>
            <a:lstStyle/>
            <a:p>
              <a:pPr algn="ctr"/>
              <a:r>
                <a:rPr lang="zh-CN" altLang="en-US" sz="2133" b="1" dirty="0">
                  <a:solidFill>
                    <a:srgbClr val="0000FF"/>
                  </a:solidFill>
                  <a:latin typeface="微软雅黑" panose="020B0503020204020204" pitchFamily="34" charset="-122"/>
                  <a:ea typeface="微软雅黑" panose="020B0503020204020204" pitchFamily="34" charset="-122"/>
                </a:rPr>
                <a:t>南向 </a:t>
              </a:r>
              <a:r>
                <a:rPr lang="en-US" altLang="zh-CN" sz="2133" b="1" dirty="0">
                  <a:solidFill>
                    <a:srgbClr val="0000FF"/>
                  </a:solidFill>
                  <a:latin typeface="微软雅黑" panose="020B0503020204020204" pitchFamily="34" charset="-122"/>
                  <a:ea typeface="微软雅黑" panose="020B0503020204020204" pitchFamily="34" charset="-122"/>
                  <a:cs typeface="Times New Roman" pitchFamily="18" charset="0"/>
                </a:rPr>
                <a:t>API</a:t>
              </a:r>
              <a:endParaRPr lang="zh-CN" altLang="en-US" sz="2133" b="1" dirty="0">
                <a:solidFill>
                  <a:srgbClr val="0000FF"/>
                </a:solidFill>
                <a:latin typeface="微软雅黑" panose="020B0503020204020204" pitchFamily="34" charset="-122"/>
                <a:ea typeface="微软雅黑" panose="020B0503020204020204" pitchFamily="34" charset="-122"/>
                <a:cs typeface="Times New Roman" pitchFamily="18" charset="0"/>
              </a:endParaRPr>
            </a:p>
          </p:txBody>
        </p:sp>
        <p:cxnSp>
          <p:nvCxnSpPr>
            <p:cNvPr id="12" name="直接连接符 11"/>
            <p:cNvCxnSpPr/>
            <p:nvPr/>
          </p:nvCxnSpPr>
          <p:spPr>
            <a:xfrm>
              <a:off x="2751495" y="1406242"/>
              <a:ext cx="3789982" cy="0"/>
            </a:xfrm>
            <a:prstGeom prst="line">
              <a:avLst/>
            </a:prstGeom>
            <a:ln w="19050">
              <a:solidFill>
                <a:srgbClr val="000066"/>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12"/>
            <p:cNvSpPr txBox="1"/>
            <p:nvPr/>
          </p:nvSpPr>
          <p:spPr>
            <a:xfrm>
              <a:off x="6576743" y="1230438"/>
              <a:ext cx="1159088" cy="315423"/>
            </a:xfrm>
            <a:prstGeom prst="rect">
              <a:avLst/>
            </a:prstGeom>
            <a:noFill/>
          </p:spPr>
          <p:txBody>
            <a:bodyPr wrap="square" rtlCol="0">
              <a:spAutoFit/>
            </a:bodyPr>
            <a:lstStyle/>
            <a:p>
              <a:pPr algn="ctr"/>
              <a:r>
                <a:rPr lang="zh-CN" altLang="en-US" sz="2133" b="1" dirty="0">
                  <a:solidFill>
                    <a:srgbClr val="C00000"/>
                  </a:solidFill>
                  <a:latin typeface="微软雅黑" panose="020B0503020204020204" pitchFamily="34" charset="-122"/>
                  <a:ea typeface="微软雅黑" panose="020B0503020204020204" pitchFamily="34" charset="-122"/>
                </a:rPr>
                <a:t>北向 </a:t>
              </a:r>
              <a:r>
                <a:rPr lang="en-US" altLang="zh-CN" sz="2133" b="1" dirty="0">
                  <a:solidFill>
                    <a:srgbClr val="C00000"/>
                  </a:solidFill>
                  <a:latin typeface="微软雅黑" panose="020B0503020204020204" pitchFamily="34" charset="-122"/>
                  <a:ea typeface="微软雅黑" panose="020B0503020204020204" pitchFamily="34" charset="-122"/>
                  <a:cs typeface="Times New Roman" pitchFamily="18" charset="0"/>
                </a:rPr>
                <a:t>API</a:t>
              </a:r>
              <a:endParaRPr lang="zh-CN" altLang="en-US" sz="2133" b="1" dirty="0">
                <a:solidFill>
                  <a:srgbClr val="C00000"/>
                </a:solidFill>
                <a:latin typeface="微软雅黑" panose="020B0503020204020204" pitchFamily="34" charset="-122"/>
                <a:ea typeface="微软雅黑" panose="020B0503020204020204" pitchFamily="34" charset="-122"/>
                <a:cs typeface="Times New Roman" pitchFamily="18" charset="0"/>
              </a:endParaRPr>
            </a:p>
          </p:txBody>
        </p:sp>
        <p:cxnSp>
          <p:nvCxnSpPr>
            <p:cNvPr id="14" name="直接箭头连接符 13"/>
            <p:cNvCxnSpPr/>
            <p:nvPr/>
          </p:nvCxnSpPr>
          <p:spPr>
            <a:xfrm flipH="1">
              <a:off x="6402114" y="1446124"/>
              <a:ext cx="7669" cy="2607484"/>
            </a:xfrm>
            <a:prstGeom prst="straightConnector1">
              <a:avLst/>
            </a:prstGeom>
            <a:ln>
              <a:solidFill>
                <a:schemeClr val="tx1"/>
              </a:solidFill>
              <a:headEnd type="triangle" w="sm" len="lg"/>
              <a:tailEnd type="triangle" w="sm" len="lg"/>
            </a:ln>
          </p:spPr>
          <p:style>
            <a:lnRef idx="1">
              <a:schemeClr val="accent1"/>
            </a:lnRef>
            <a:fillRef idx="0">
              <a:schemeClr val="accent1"/>
            </a:fillRef>
            <a:effectRef idx="0">
              <a:schemeClr val="accent1"/>
            </a:effectRef>
            <a:fontRef idx="minor">
              <a:schemeClr val="tx1"/>
            </a:fontRef>
          </p:style>
        </p:cxnSp>
        <p:sp>
          <p:nvSpPr>
            <p:cNvPr id="15" name="TextBox 179"/>
            <p:cNvSpPr txBox="1"/>
            <p:nvPr/>
          </p:nvSpPr>
          <p:spPr>
            <a:xfrm>
              <a:off x="5971007" y="2515627"/>
              <a:ext cx="906761" cy="561596"/>
            </a:xfrm>
            <a:prstGeom prst="rect">
              <a:avLst/>
            </a:prstGeom>
            <a:solidFill>
              <a:srgbClr val="C3E3F9"/>
            </a:solidFill>
          </p:spPr>
          <p:txBody>
            <a:bodyPr wrap="square" rtlCol="0">
              <a:spAutoFit/>
            </a:bodyPr>
            <a:lstStyle/>
            <a:p>
              <a:pPr algn="ctr"/>
              <a:r>
                <a:rPr lang="en-US" altLang="zh-CN" sz="2133" b="1" dirty="0">
                  <a:latin typeface="微软雅黑" panose="020B0503020204020204" pitchFamily="34" charset="-122"/>
                  <a:ea typeface="微软雅黑" panose="020B0503020204020204" pitchFamily="34" charset="-122"/>
                  <a:cs typeface="Times New Roman" pitchFamily="18" charset="0"/>
                </a:rPr>
                <a:t>SDN</a:t>
              </a:r>
            </a:p>
            <a:p>
              <a:pPr algn="ctr"/>
              <a:r>
                <a:rPr lang="zh-CN" altLang="en-US" sz="2133" b="1" dirty="0">
                  <a:latin typeface="微软雅黑" panose="020B0503020204020204" pitchFamily="34" charset="-122"/>
                  <a:ea typeface="微软雅黑" panose="020B0503020204020204" pitchFamily="34" charset="-122"/>
                  <a:cs typeface="Times New Roman" pitchFamily="18" charset="0"/>
                </a:rPr>
                <a:t>控制器</a:t>
              </a:r>
            </a:p>
          </p:txBody>
        </p:sp>
        <p:sp>
          <p:nvSpPr>
            <p:cNvPr id="16" name="TextBox 63"/>
            <p:cNvSpPr txBox="1"/>
            <p:nvPr/>
          </p:nvSpPr>
          <p:spPr>
            <a:xfrm>
              <a:off x="3144781" y="3606691"/>
              <a:ext cx="1057072" cy="253915"/>
            </a:xfrm>
            <a:prstGeom prst="rect">
              <a:avLst/>
            </a:prstGeom>
            <a:solidFill>
              <a:schemeClr val="tx2">
                <a:lumMod val="20000"/>
                <a:lumOff val="80000"/>
              </a:schemeClr>
            </a:solidFill>
            <a:ln/>
            <a:scene3d>
              <a:camera prst="orthographicFront">
                <a:rot lat="0" lon="0" rev="0"/>
              </a:camera>
              <a:lightRig rig="threePt" dir="t">
                <a:rot lat="0" lon="0" rev="1200000"/>
              </a:lightRig>
            </a:scene3d>
            <a:sp3d>
              <a:bevelT w="25400" h="25400"/>
            </a:sp3d>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US" altLang="zh-CN" sz="1600" b="1" dirty="0" err="1">
                  <a:solidFill>
                    <a:schemeClr val="tx1"/>
                  </a:solidFill>
                  <a:latin typeface="微软雅黑" panose="020B0503020204020204" pitchFamily="34" charset="-122"/>
                  <a:ea typeface="微软雅黑" panose="020B0503020204020204" pitchFamily="34" charset="-122"/>
                  <a:cs typeface="Times New Roman" pitchFamily="18" charset="0"/>
                </a:rPr>
                <a:t>OpenFlow</a:t>
              </a:r>
              <a:endPar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17" name="TextBox 64"/>
            <p:cNvSpPr txBox="1"/>
            <p:nvPr/>
          </p:nvSpPr>
          <p:spPr>
            <a:xfrm>
              <a:off x="4730389" y="3598147"/>
              <a:ext cx="726739" cy="253915"/>
            </a:xfrm>
            <a:prstGeom prst="rect">
              <a:avLst/>
            </a:prstGeom>
            <a:solidFill>
              <a:schemeClr val="tx2">
                <a:lumMod val="20000"/>
                <a:lumOff val="80000"/>
              </a:schemeClr>
            </a:solidFill>
            <a:ln/>
            <a:scene3d>
              <a:camera prst="orthographicFront">
                <a:rot lat="0" lon="0" rev="0"/>
              </a:camera>
              <a:lightRig rig="threePt" dir="t">
                <a:rot lat="0" lon="0" rev="1200000"/>
              </a:lightRig>
            </a:scene3d>
            <a:sp3d>
              <a:bevelT w="25400" h="25400"/>
            </a:sp3d>
          </p:spPr>
          <p:style>
            <a:lnRef idx="0">
              <a:schemeClr val="accent1"/>
            </a:lnRef>
            <a:fillRef idx="3">
              <a:schemeClr val="accent1"/>
            </a:fillRef>
            <a:effectRef idx="3">
              <a:schemeClr val="accent1"/>
            </a:effectRef>
            <a:fontRef idx="minor">
              <a:schemeClr val="lt1"/>
            </a:fontRef>
          </p:style>
          <p:txBody>
            <a:bodyPr wrap="square" rtlCol="0">
              <a:spAutoFit/>
            </a:bodyPr>
            <a:lstStyle>
              <a:defPPr>
                <a:defRPr lang="zh-CN"/>
              </a:defPPr>
              <a:lvl1pPr algn="ctr">
                <a:defRPr sz="1200" b="1">
                  <a:solidFill>
                    <a:schemeClr val="lt1"/>
                  </a:solidFill>
                  <a:latin typeface="微软雅黑" panose="020B0503020204020204" pitchFamily="34" charset="-122"/>
                  <a:ea typeface="微软雅黑" panose="020B0503020204020204" pitchFamily="34" charset="-122"/>
                  <a:cs typeface="Times New Roman"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600" dirty="0">
                  <a:solidFill>
                    <a:schemeClr val="tx1"/>
                  </a:solidFill>
                </a:rPr>
                <a:t>SNMP</a:t>
              </a:r>
              <a:endParaRPr lang="zh-CN" altLang="en-US" sz="1600" dirty="0">
                <a:solidFill>
                  <a:schemeClr val="tx1"/>
                </a:solidFill>
              </a:endParaRPr>
            </a:p>
          </p:txBody>
        </p:sp>
        <p:sp>
          <p:nvSpPr>
            <p:cNvPr id="18" name="矩形 17"/>
            <p:cNvSpPr/>
            <p:nvPr/>
          </p:nvSpPr>
          <p:spPr>
            <a:xfrm>
              <a:off x="2814445" y="2199332"/>
              <a:ext cx="3171219" cy="107601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rPr>
                <a:t>网络范围分布式和健壮的状态管理</a:t>
              </a: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19" name="TextBox 15"/>
            <p:cNvSpPr txBox="1"/>
            <p:nvPr/>
          </p:nvSpPr>
          <p:spPr>
            <a:xfrm>
              <a:off x="4447071" y="2823453"/>
              <a:ext cx="792804" cy="377026"/>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交换机</a:t>
              </a: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信息</a:t>
              </a:r>
            </a:p>
          </p:txBody>
        </p:sp>
        <p:sp>
          <p:nvSpPr>
            <p:cNvPr id="20" name="TextBox 16"/>
            <p:cNvSpPr txBox="1"/>
            <p:nvPr/>
          </p:nvSpPr>
          <p:spPr>
            <a:xfrm>
              <a:off x="4122035" y="2483124"/>
              <a:ext cx="594604" cy="253915"/>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itchFamily="18" charset="0"/>
                </a:rPr>
                <a:t>流表</a:t>
              </a:r>
            </a:p>
          </p:txBody>
        </p:sp>
        <p:sp>
          <p:nvSpPr>
            <p:cNvPr id="21" name="TextBox 17"/>
            <p:cNvSpPr txBox="1"/>
            <p:nvPr/>
          </p:nvSpPr>
          <p:spPr>
            <a:xfrm>
              <a:off x="3808632" y="2823453"/>
              <a:ext cx="634454" cy="377026"/>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主机</a:t>
              </a: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信息</a:t>
              </a:r>
            </a:p>
          </p:txBody>
        </p:sp>
        <p:sp>
          <p:nvSpPr>
            <p:cNvPr id="22" name="TextBox 18"/>
            <p:cNvSpPr txBox="1"/>
            <p:nvPr/>
          </p:nvSpPr>
          <p:spPr>
            <a:xfrm>
              <a:off x="2880512" y="2823453"/>
              <a:ext cx="924939" cy="377026"/>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链路状态信息</a:t>
              </a:r>
            </a:p>
          </p:txBody>
        </p:sp>
        <p:sp>
          <p:nvSpPr>
            <p:cNvPr id="23" name="TextBox 19"/>
            <p:cNvSpPr txBox="1"/>
            <p:nvPr/>
          </p:nvSpPr>
          <p:spPr>
            <a:xfrm>
              <a:off x="3541182" y="2483124"/>
              <a:ext cx="594604" cy="253915"/>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itchFamily="18" charset="0"/>
                </a:rPr>
                <a:t>统计</a:t>
              </a:r>
            </a:p>
          </p:txBody>
        </p:sp>
        <p:sp>
          <p:nvSpPr>
            <p:cNvPr id="24" name="上下箭头 23"/>
            <p:cNvSpPr/>
            <p:nvPr/>
          </p:nvSpPr>
          <p:spPr>
            <a:xfrm>
              <a:off x="4333987" y="3920950"/>
              <a:ext cx="198201" cy="322803"/>
            </a:xfrm>
            <a:prstGeom prst="upDownArrow">
              <a:avLst/>
            </a:prstGeom>
            <a:solidFill>
              <a:srgbClr val="0000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26" name="矩形 25"/>
            <p:cNvSpPr/>
            <p:nvPr/>
          </p:nvSpPr>
          <p:spPr>
            <a:xfrm>
              <a:off x="2814445" y="1499925"/>
              <a:ext cx="3171219" cy="645607"/>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rPr>
                <a:t>与网络控制应用程序的通信</a:t>
              </a: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27" name="TextBox 24"/>
            <p:cNvSpPr txBox="1"/>
            <p:nvPr/>
          </p:nvSpPr>
          <p:spPr>
            <a:xfrm>
              <a:off x="4259400" y="3576019"/>
              <a:ext cx="340478" cy="253915"/>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28" name="TextBox 25"/>
            <p:cNvSpPr txBox="1"/>
            <p:nvPr/>
          </p:nvSpPr>
          <p:spPr>
            <a:xfrm>
              <a:off x="5250793" y="2859728"/>
              <a:ext cx="340478" cy="253915"/>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29" name="TextBox 26"/>
            <p:cNvSpPr txBox="1"/>
            <p:nvPr/>
          </p:nvSpPr>
          <p:spPr>
            <a:xfrm>
              <a:off x="4798442" y="1776878"/>
              <a:ext cx="340478" cy="253915"/>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30" name="TextBox 27"/>
            <p:cNvSpPr txBox="1"/>
            <p:nvPr/>
          </p:nvSpPr>
          <p:spPr>
            <a:xfrm>
              <a:off x="4722630" y="2453805"/>
              <a:ext cx="340478" cy="253915"/>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31" name="TextBox 28"/>
            <p:cNvSpPr txBox="1"/>
            <p:nvPr/>
          </p:nvSpPr>
          <p:spPr>
            <a:xfrm>
              <a:off x="5196705" y="1764296"/>
              <a:ext cx="745627" cy="253915"/>
            </a:xfrm>
            <a:prstGeom prst="rect">
              <a:avLst/>
            </a:prstGeom>
            <a:solidFill>
              <a:schemeClr val="accent6">
                <a:lumMod val="20000"/>
                <a:lumOff val="80000"/>
              </a:schemeClr>
            </a:solidFill>
            <a:ln>
              <a:noFill/>
            </a:ln>
            <a:scene3d>
              <a:camera prst="orthographicFront"/>
              <a:lightRig rig="threePt" dir="t"/>
            </a:scene3d>
            <a:sp3d>
              <a:bevelT w="25400" h="25400"/>
            </a:sp3d>
          </p:spPr>
          <p:txBody>
            <a:bodyPr wrap="square" rtlCol="0">
              <a:spAutoFit/>
            </a:bodyPr>
            <a:lstStyle/>
            <a:p>
              <a:pPr algn="ctr"/>
              <a:r>
                <a:rPr lang="en-US" altLang="zh-CN" sz="1600" b="1" dirty="0">
                  <a:latin typeface="微软雅黑" panose="020B0503020204020204" pitchFamily="34" charset="-122"/>
                  <a:ea typeface="微软雅黑" panose="020B0503020204020204" pitchFamily="34" charset="-122"/>
                  <a:cs typeface="Times New Roman" pitchFamily="18" charset="0"/>
                </a:rPr>
                <a:t>Intent</a:t>
              </a:r>
              <a:endParaRPr lang="zh-CN" altLang="en-US" sz="1600" b="1" dirty="0">
                <a:latin typeface="微软雅黑" panose="020B0503020204020204" pitchFamily="34" charset="-122"/>
                <a:ea typeface="微软雅黑" panose="020B0503020204020204" pitchFamily="34" charset="-122"/>
                <a:cs typeface="Times New Roman" pitchFamily="18" charset="0"/>
              </a:endParaRPr>
            </a:p>
          </p:txBody>
        </p:sp>
        <p:sp>
          <p:nvSpPr>
            <p:cNvPr id="32" name="TextBox 29"/>
            <p:cNvSpPr txBox="1"/>
            <p:nvPr/>
          </p:nvSpPr>
          <p:spPr>
            <a:xfrm>
              <a:off x="3748122" y="1766348"/>
              <a:ext cx="1057072" cy="346891"/>
            </a:xfrm>
            <a:prstGeom prst="rect">
              <a:avLst/>
            </a:prstGeom>
            <a:solidFill>
              <a:schemeClr val="accent6">
                <a:lumMod val="20000"/>
                <a:lumOff val="80000"/>
              </a:schemeClr>
            </a:solidFill>
            <a:ln>
              <a:noFill/>
            </a:ln>
            <a:scene3d>
              <a:camera prst="orthographicFront"/>
              <a:lightRig rig="threePt" dir="t"/>
            </a:scene3d>
            <a:sp3d>
              <a:bevelT w="25400" h="25400"/>
            </a:sp3d>
          </p:spPr>
          <p:txBody>
            <a:bodyPr wrap="square" tIns="62400" bIns="62400" rtlCol="0" anchor="ctr" anchorCtr="0">
              <a:spAutoFit/>
            </a:bodyPr>
            <a:lstStyle/>
            <a:p>
              <a:pPr algn="ctr">
                <a:lnSpc>
                  <a:spcPts val="1333"/>
                </a:lnSpc>
              </a:pPr>
              <a:r>
                <a:rPr lang="en-US" altLang="zh-CN" sz="1467" b="1" dirty="0">
                  <a:latin typeface="微软雅黑" panose="020B0503020204020204" pitchFamily="34" charset="-122"/>
                  <a:ea typeface="微软雅黑" panose="020B0503020204020204" pitchFamily="34" charset="-122"/>
                  <a:cs typeface="Times New Roman" pitchFamily="18" charset="0"/>
                </a:rPr>
                <a:t>REST</a:t>
              </a:r>
              <a:r>
                <a:rPr lang="zh-CN" altLang="en-US" sz="1467" b="1" dirty="0">
                  <a:latin typeface="微软雅黑" panose="020B0503020204020204" pitchFamily="34" charset="-122"/>
                  <a:ea typeface="微软雅黑" panose="020B0503020204020204" pitchFamily="34" charset="-122"/>
                  <a:cs typeface="Times New Roman" pitchFamily="18" charset="0"/>
                </a:rPr>
                <a:t>风格</a:t>
              </a:r>
              <a:endParaRPr lang="en-US" altLang="zh-CN" sz="1467" b="1" dirty="0">
                <a:latin typeface="微软雅黑" panose="020B0503020204020204" pitchFamily="34" charset="-122"/>
                <a:ea typeface="微软雅黑" panose="020B0503020204020204" pitchFamily="34" charset="-122"/>
                <a:cs typeface="Times New Roman" pitchFamily="18" charset="0"/>
              </a:endParaRPr>
            </a:p>
            <a:p>
              <a:pPr algn="ctr">
                <a:lnSpc>
                  <a:spcPts val="1333"/>
                </a:lnSpc>
              </a:pPr>
              <a:r>
                <a:rPr lang="zh-CN" altLang="en-US" sz="1467" b="1" dirty="0">
                  <a:latin typeface="微软雅黑" panose="020B0503020204020204" pitchFamily="34" charset="-122"/>
                  <a:ea typeface="微软雅黑" panose="020B0503020204020204" pitchFamily="34" charset="-122"/>
                  <a:cs typeface="Times New Roman" pitchFamily="18" charset="0"/>
                </a:rPr>
                <a:t>的</a:t>
              </a:r>
              <a:r>
                <a:rPr lang="en-US" altLang="zh-CN" sz="1467" b="1" dirty="0">
                  <a:latin typeface="微软雅黑" panose="020B0503020204020204" pitchFamily="34" charset="-122"/>
                  <a:ea typeface="微软雅黑" panose="020B0503020204020204" pitchFamily="34" charset="-122"/>
                  <a:cs typeface="Times New Roman" pitchFamily="18" charset="0"/>
                </a:rPr>
                <a:t>API</a:t>
              </a:r>
              <a:endParaRPr lang="zh-CN" altLang="en-US" sz="1467" b="1" dirty="0">
                <a:latin typeface="微软雅黑" panose="020B0503020204020204" pitchFamily="34" charset="-122"/>
                <a:ea typeface="微软雅黑" panose="020B0503020204020204" pitchFamily="34" charset="-122"/>
                <a:cs typeface="Times New Roman" pitchFamily="18" charset="0"/>
              </a:endParaRPr>
            </a:p>
          </p:txBody>
        </p:sp>
        <p:sp>
          <p:nvSpPr>
            <p:cNvPr id="33" name="TextBox 30"/>
            <p:cNvSpPr txBox="1"/>
            <p:nvPr/>
          </p:nvSpPr>
          <p:spPr>
            <a:xfrm>
              <a:off x="2900767" y="1764296"/>
              <a:ext cx="792804" cy="253915"/>
            </a:xfrm>
            <a:prstGeom prst="rect">
              <a:avLst/>
            </a:prstGeom>
            <a:solidFill>
              <a:schemeClr val="accent6">
                <a:lumMod val="20000"/>
                <a:lumOff val="80000"/>
              </a:schemeClr>
            </a:solidFill>
            <a:ln>
              <a:noFill/>
            </a:ln>
            <a:scene3d>
              <a:camera prst="orthographicFront"/>
              <a:lightRig rig="threePt" dir="t"/>
            </a:scene3d>
            <a:sp3d>
              <a:bevelT w="25400" h="25400"/>
            </a:sp3d>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itchFamily="18" charset="0"/>
                </a:rPr>
                <a:t>网络图</a:t>
              </a:r>
            </a:p>
          </p:txBody>
        </p:sp>
        <p:sp>
          <p:nvSpPr>
            <p:cNvPr id="34" name="上下箭头 33"/>
            <p:cNvSpPr/>
            <p:nvPr/>
          </p:nvSpPr>
          <p:spPr>
            <a:xfrm>
              <a:off x="4267920" y="1230922"/>
              <a:ext cx="198201" cy="322803"/>
            </a:xfrm>
            <a:prstGeom prst="upDownArrow">
              <a:avLst/>
            </a:prstGeom>
            <a:solidFill>
              <a:srgbClr val="0000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35" name="TextBox 32"/>
            <p:cNvSpPr txBox="1"/>
            <p:nvPr/>
          </p:nvSpPr>
          <p:spPr>
            <a:xfrm>
              <a:off x="1359877" y="2428033"/>
              <a:ext cx="1584461" cy="561596"/>
            </a:xfrm>
            <a:prstGeom prst="rect">
              <a:avLst/>
            </a:prstGeom>
            <a:noFill/>
          </p:spPr>
          <p:txBody>
            <a:bodyPr wrap="square" rtlCol="0">
              <a:spAutoFit/>
            </a:bodyPr>
            <a:lstStyle/>
            <a:p>
              <a:pPr algn="ctr"/>
              <a:r>
                <a:rPr lang="zh-CN" altLang="en-US" sz="2133" b="1" dirty="0">
                  <a:latin typeface="微软雅黑" panose="020B0503020204020204" pitchFamily="34" charset="-122"/>
                  <a:ea typeface="微软雅黑" panose="020B0503020204020204" pitchFamily="34" charset="-122"/>
                  <a:cs typeface="Times New Roman" pitchFamily="18" charset="0"/>
                </a:rPr>
                <a:t>网络范围的状态管理层</a:t>
              </a:r>
            </a:p>
          </p:txBody>
        </p:sp>
        <p:sp>
          <p:nvSpPr>
            <p:cNvPr id="36" name="TextBox 33"/>
            <p:cNvSpPr txBox="1"/>
            <p:nvPr/>
          </p:nvSpPr>
          <p:spPr>
            <a:xfrm>
              <a:off x="1359877" y="1464756"/>
              <a:ext cx="1584461" cy="715725"/>
            </a:xfrm>
            <a:prstGeom prst="rect">
              <a:avLst/>
            </a:prstGeom>
            <a:noFill/>
          </p:spPr>
          <p:txBody>
            <a:bodyPr wrap="square" rtlCol="0">
              <a:spAutoFit/>
            </a:bodyPr>
            <a:lstStyle/>
            <a:p>
              <a:pPr algn="ctr"/>
              <a:r>
                <a:rPr lang="zh-CN" altLang="en-US" sz="1867" b="1" dirty="0">
                  <a:latin typeface="微软雅黑" panose="020B0503020204020204" pitchFamily="34" charset="-122"/>
                  <a:ea typeface="微软雅黑" panose="020B0503020204020204" pitchFamily="34" charset="-122"/>
                  <a:cs typeface="Times New Roman" pitchFamily="18" charset="0"/>
                </a:rPr>
                <a:t>到网络控制</a:t>
              </a:r>
              <a:endParaRPr lang="en-US" altLang="zh-CN" sz="1867" b="1" dirty="0">
                <a:latin typeface="微软雅黑" panose="020B0503020204020204" pitchFamily="34" charset="-122"/>
                <a:ea typeface="微软雅黑" panose="020B0503020204020204" pitchFamily="34" charset="-122"/>
                <a:cs typeface="Times New Roman" pitchFamily="18" charset="0"/>
              </a:endParaRPr>
            </a:p>
            <a:p>
              <a:pPr algn="ctr"/>
              <a:r>
                <a:rPr lang="zh-CN" altLang="en-US" sz="1867" b="1" dirty="0">
                  <a:latin typeface="微软雅黑" panose="020B0503020204020204" pitchFamily="34" charset="-122"/>
                  <a:ea typeface="微软雅黑" panose="020B0503020204020204" pitchFamily="34" charset="-122"/>
                  <a:cs typeface="Times New Roman" pitchFamily="18" charset="0"/>
                </a:rPr>
                <a:t>应用程序层</a:t>
              </a:r>
              <a:endParaRPr lang="en-US" altLang="zh-CN" sz="1867" b="1" dirty="0">
                <a:latin typeface="微软雅黑" panose="020B0503020204020204" pitchFamily="34" charset="-122"/>
                <a:ea typeface="微软雅黑" panose="020B0503020204020204" pitchFamily="34" charset="-122"/>
                <a:cs typeface="Times New Roman" pitchFamily="18" charset="0"/>
              </a:endParaRPr>
            </a:p>
            <a:p>
              <a:pPr algn="ctr"/>
              <a:r>
                <a:rPr lang="zh-CN" altLang="en-US" sz="1867" b="1" dirty="0">
                  <a:latin typeface="微软雅黑" panose="020B0503020204020204" pitchFamily="34" charset="-122"/>
                  <a:ea typeface="微软雅黑" panose="020B0503020204020204" pitchFamily="34" charset="-122"/>
                  <a:cs typeface="Times New Roman" pitchFamily="18" charset="0"/>
                </a:rPr>
                <a:t>的接口</a:t>
              </a:r>
            </a:p>
          </p:txBody>
        </p:sp>
        <p:sp>
          <p:nvSpPr>
            <p:cNvPr id="37" name="TextBox 34"/>
            <p:cNvSpPr txBox="1"/>
            <p:nvPr/>
          </p:nvSpPr>
          <p:spPr>
            <a:xfrm>
              <a:off x="1359877" y="3497663"/>
              <a:ext cx="1584461" cy="315423"/>
            </a:xfrm>
            <a:prstGeom prst="rect">
              <a:avLst/>
            </a:prstGeom>
            <a:noFill/>
          </p:spPr>
          <p:txBody>
            <a:bodyPr wrap="square" rtlCol="0">
              <a:spAutoFit/>
            </a:bodyPr>
            <a:lstStyle/>
            <a:p>
              <a:pPr algn="ctr"/>
              <a:r>
                <a:rPr lang="zh-CN" altLang="en-US" sz="2133" b="1" dirty="0">
                  <a:latin typeface="微软雅黑" panose="020B0503020204020204" pitchFamily="34" charset="-122"/>
                  <a:ea typeface="微软雅黑" panose="020B0503020204020204" pitchFamily="34" charset="-122"/>
                  <a:cs typeface="Times New Roman" pitchFamily="18" charset="0"/>
                </a:rPr>
                <a:t>通信层</a:t>
              </a:r>
            </a:p>
          </p:txBody>
        </p:sp>
      </p:grpSp>
      <p:sp>
        <p:nvSpPr>
          <p:cNvPr id="43" name="线形标注 1 42"/>
          <p:cNvSpPr/>
          <p:nvPr/>
        </p:nvSpPr>
        <p:spPr>
          <a:xfrm>
            <a:off x="8180936" y="3354170"/>
            <a:ext cx="2997361" cy="1783189"/>
          </a:xfrm>
          <a:prstGeom prst="borderCallout1">
            <a:avLst>
              <a:gd name="adj1" fmla="val 65378"/>
              <a:gd name="adj2" fmla="val -486"/>
              <a:gd name="adj3" fmla="val 88938"/>
              <a:gd name="adj4" fmla="val -44830"/>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43411" indent="-243411">
              <a:lnSpc>
                <a:spcPts val="2667"/>
              </a:lnSpc>
              <a:buFont typeface="Wingdings" panose="05000000000000000000" pitchFamily="2" charset="2"/>
              <a:buChar char="l"/>
            </a:pPr>
            <a:r>
              <a:rPr lang="zh-CN" altLang="zh-CN" sz="1867" b="1" dirty="0">
                <a:solidFill>
                  <a:schemeClr val="tx1"/>
                </a:solidFill>
                <a:latin typeface="微软雅黑" panose="020B0503020204020204" pitchFamily="34" charset="-122"/>
                <a:ea typeface="微软雅黑" panose="020B0503020204020204" pitchFamily="34" charset="-122"/>
              </a:rPr>
              <a:t>完成</a:t>
            </a:r>
            <a:r>
              <a:rPr lang="en-US" altLang="zh-CN" sz="1867" b="1" dirty="0">
                <a:solidFill>
                  <a:schemeClr val="tx1"/>
                </a:solidFill>
                <a:latin typeface="微软雅黑" panose="020B0503020204020204" pitchFamily="34" charset="-122"/>
                <a:ea typeface="微软雅黑" panose="020B0503020204020204" pitchFamily="34" charset="-122"/>
              </a:rPr>
              <a:t> SDN </a:t>
            </a:r>
            <a:r>
              <a:rPr lang="zh-CN" altLang="zh-CN" sz="1867" b="1" dirty="0">
                <a:solidFill>
                  <a:schemeClr val="tx1"/>
                </a:solidFill>
                <a:latin typeface="微软雅黑" panose="020B0503020204020204" pitchFamily="34" charset="-122"/>
                <a:ea typeface="微软雅黑" panose="020B0503020204020204" pitchFamily="34" charset="-122"/>
              </a:rPr>
              <a:t>控制器与受控网络设备之间的通信。</a:t>
            </a:r>
            <a:endParaRPr lang="en-US" altLang="zh-CN" sz="1867" b="1" dirty="0">
              <a:solidFill>
                <a:schemeClr val="tx1"/>
              </a:solidFill>
              <a:latin typeface="微软雅黑" panose="020B0503020204020204" pitchFamily="34" charset="-122"/>
              <a:ea typeface="微软雅黑" panose="020B0503020204020204" pitchFamily="34" charset="-122"/>
            </a:endParaRPr>
          </a:p>
          <a:p>
            <a:pPr marL="243411" indent="-243411">
              <a:lnSpc>
                <a:spcPts val="2667"/>
              </a:lnSpc>
              <a:buFont typeface="Wingdings" panose="05000000000000000000" pitchFamily="2" charset="2"/>
              <a:buChar char="l"/>
            </a:pPr>
            <a:r>
              <a:rPr lang="zh-CN" altLang="en-US" sz="1867" b="1" dirty="0">
                <a:solidFill>
                  <a:schemeClr val="tx1"/>
                </a:solidFill>
                <a:latin typeface="微软雅黑" panose="020B0503020204020204" pitchFamily="34" charset="-122"/>
                <a:ea typeface="微软雅黑" panose="020B0503020204020204" pitchFamily="34" charset="-122"/>
              </a:rPr>
              <a:t>通信层与数据层面的接口叫做南向接口，基本上采用 </a:t>
            </a:r>
            <a:r>
              <a:rPr lang="en-US" altLang="zh-CN" sz="1867" b="1" dirty="0" err="1">
                <a:solidFill>
                  <a:schemeClr val="tx1"/>
                </a:solidFill>
                <a:latin typeface="微软雅黑" panose="020B0503020204020204" pitchFamily="34" charset="-122"/>
                <a:ea typeface="微软雅黑" panose="020B0503020204020204" pitchFamily="34" charset="-122"/>
              </a:rPr>
              <a:t>OpenFlow</a:t>
            </a:r>
            <a:r>
              <a:rPr lang="zh-CN" altLang="en-US" sz="1867" b="1" dirty="0">
                <a:solidFill>
                  <a:schemeClr val="tx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3859270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圆角矩形 40"/>
          <p:cNvSpPr/>
          <p:nvPr/>
        </p:nvSpPr>
        <p:spPr>
          <a:xfrm>
            <a:off x="726860" y="1441250"/>
            <a:ext cx="10738281" cy="4546109"/>
          </a:xfrm>
          <a:prstGeom prst="roundRect">
            <a:avLst>
              <a:gd name="adj" fmla="val 1162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7" name="AutoShape 5"/>
          <p:cNvSpPr>
            <a:spLocks noChangeArrowheads="1"/>
          </p:cNvSpPr>
          <p:nvPr/>
        </p:nvSpPr>
        <p:spPr bwMode="auto">
          <a:xfrm>
            <a:off x="726859" y="823346"/>
            <a:ext cx="10738283" cy="518295"/>
          </a:xfrm>
          <a:prstGeom prst="roundRect">
            <a:avLst>
              <a:gd name="adj" fmla="val 16667"/>
            </a:avLst>
          </a:prstGeom>
          <a:solidFill>
            <a:srgbClr val="0089FA"/>
          </a:solidFill>
          <a:ln>
            <a:noFill/>
          </a:ln>
          <a:effectLst/>
        </p:spPr>
        <p:txBody>
          <a:bodyPr wrap="none" anchor="ctr"/>
          <a:lstStyle/>
          <a:p>
            <a:endParaRPr lang="zh-CN" altLang="en-US" sz="2400"/>
          </a:p>
        </p:txBody>
      </p:sp>
      <p:sp>
        <p:nvSpPr>
          <p:cNvPr id="8" name="Rectangle 6"/>
          <p:cNvSpPr>
            <a:spLocks noChangeArrowheads="1"/>
          </p:cNvSpPr>
          <p:nvPr/>
        </p:nvSpPr>
        <p:spPr bwMode="auto">
          <a:xfrm>
            <a:off x="4121754" y="768862"/>
            <a:ext cx="39485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3200" b="1" dirty="0">
                <a:solidFill>
                  <a:schemeClr val="bg1"/>
                </a:solidFill>
                <a:latin typeface="微软雅黑" pitchFamily="34" charset="-122"/>
                <a:ea typeface="微软雅黑" pitchFamily="34" charset="-122"/>
              </a:rPr>
              <a:t>4.10.3  SDN </a:t>
            </a:r>
            <a:r>
              <a:rPr lang="zh-CN" altLang="en-US" sz="3200" b="1" dirty="0">
                <a:solidFill>
                  <a:schemeClr val="bg1"/>
                </a:solidFill>
                <a:latin typeface="微软雅黑" pitchFamily="34" charset="-122"/>
                <a:ea typeface="微软雅黑" pitchFamily="34" charset="-122"/>
              </a:rPr>
              <a:t>控制器</a:t>
            </a:r>
          </a:p>
        </p:txBody>
      </p:sp>
      <p:grpSp>
        <p:nvGrpSpPr>
          <p:cNvPr id="42" name="组合 41"/>
          <p:cNvGrpSpPr/>
          <p:nvPr/>
        </p:nvGrpSpPr>
        <p:grpSpPr>
          <a:xfrm>
            <a:off x="844062" y="1640584"/>
            <a:ext cx="8501276" cy="4017754"/>
            <a:chOff x="1359877" y="1230438"/>
            <a:chExt cx="6375957" cy="3013315"/>
          </a:xfrm>
        </p:grpSpPr>
        <p:cxnSp>
          <p:nvCxnSpPr>
            <p:cNvPr id="9" name="直接连接符 8"/>
            <p:cNvCxnSpPr/>
            <p:nvPr/>
          </p:nvCxnSpPr>
          <p:spPr>
            <a:xfrm>
              <a:off x="2742756" y="4082073"/>
              <a:ext cx="3798722" cy="0"/>
            </a:xfrm>
            <a:prstGeom prst="line">
              <a:avLst/>
            </a:prstGeom>
            <a:ln w="19050">
              <a:solidFill>
                <a:srgbClr val="000066"/>
              </a:solidFill>
              <a:prstDash val="sysDash"/>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2814445" y="3329144"/>
              <a:ext cx="3171219" cy="645607"/>
            </a:xfrm>
            <a:prstGeom prst="rect">
              <a:avLst/>
            </a:prstGeom>
            <a:solidFill>
              <a:srgbClr val="33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微软雅黑" panose="020B0503020204020204" pitchFamily="34" charset="-122"/>
                  <a:ea typeface="微软雅黑" panose="020B0503020204020204" pitchFamily="34" charset="-122"/>
                  <a:cs typeface="Times New Roman" pitchFamily="18" charset="0"/>
                </a:rPr>
                <a:t>与数据层面中</a:t>
              </a:r>
              <a:r>
                <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rPr>
                <a:t>受控设备的通信</a:t>
              </a: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11" name="TextBox 109"/>
            <p:cNvSpPr txBox="1"/>
            <p:nvPr/>
          </p:nvSpPr>
          <p:spPr>
            <a:xfrm>
              <a:off x="6576747" y="3927859"/>
              <a:ext cx="1159087" cy="315423"/>
            </a:xfrm>
            <a:prstGeom prst="rect">
              <a:avLst/>
            </a:prstGeom>
            <a:noFill/>
          </p:spPr>
          <p:txBody>
            <a:bodyPr wrap="square" rtlCol="0">
              <a:spAutoFit/>
            </a:bodyPr>
            <a:lstStyle/>
            <a:p>
              <a:pPr algn="ctr"/>
              <a:r>
                <a:rPr lang="zh-CN" altLang="en-US" sz="2133" b="1" dirty="0">
                  <a:solidFill>
                    <a:srgbClr val="0000FF"/>
                  </a:solidFill>
                  <a:latin typeface="微软雅黑" panose="020B0503020204020204" pitchFamily="34" charset="-122"/>
                  <a:ea typeface="微软雅黑" panose="020B0503020204020204" pitchFamily="34" charset="-122"/>
                </a:rPr>
                <a:t>南向 </a:t>
              </a:r>
              <a:r>
                <a:rPr lang="en-US" altLang="zh-CN" sz="2133" b="1" dirty="0">
                  <a:solidFill>
                    <a:srgbClr val="0000FF"/>
                  </a:solidFill>
                  <a:latin typeface="微软雅黑" panose="020B0503020204020204" pitchFamily="34" charset="-122"/>
                  <a:ea typeface="微软雅黑" panose="020B0503020204020204" pitchFamily="34" charset="-122"/>
                  <a:cs typeface="Times New Roman" pitchFamily="18" charset="0"/>
                </a:rPr>
                <a:t>API</a:t>
              </a:r>
              <a:endParaRPr lang="zh-CN" altLang="en-US" sz="2133" b="1" dirty="0">
                <a:solidFill>
                  <a:srgbClr val="0000FF"/>
                </a:solidFill>
                <a:latin typeface="微软雅黑" panose="020B0503020204020204" pitchFamily="34" charset="-122"/>
                <a:ea typeface="微软雅黑" panose="020B0503020204020204" pitchFamily="34" charset="-122"/>
                <a:cs typeface="Times New Roman" pitchFamily="18" charset="0"/>
              </a:endParaRPr>
            </a:p>
          </p:txBody>
        </p:sp>
        <p:cxnSp>
          <p:nvCxnSpPr>
            <p:cNvPr id="12" name="直接连接符 11"/>
            <p:cNvCxnSpPr/>
            <p:nvPr/>
          </p:nvCxnSpPr>
          <p:spPr>
            <a:xfrm>
              <a:off x="2751495" y="1406242"/>
              <a:ext cx="3789982" cy="0"/>
            </a:xfrm>
            <a:prstGeom prst="line">
              <a:avLst/>
            </a:prstGeom>
            <a:ln w="19050">
              <a:solidFill>
                <a:srgbClr val="000066"/>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12"/>
            <p:cNvSpPr txBox="1"/>
            <p:nvPr/>
          </p:nvSpPr>
          <p:spPr>
            <a:xfrm>
              <a:off x="6576743" y="1230438"/>
              <a:ext cx="1159088" cy="315423"/>
            </a:xfrm>
            <a:prstGeom prst="rect">
              <a:avLst/>
            </a:prstGeom>
            <a:noFill/>
          </p:spPr>
          <p:txBody>
            <a:bodyPr wrap="square" rtlCol="0">
              <a:spAutoFit/>
            </a:bodyPr>
            <a:lstStyle/>
            <a:p>
              <a:pPr algn="ctr"/>
              <a:r>
                <a:rPr lang="zh-CN" altLang="en-US" sz="2133" b="1" dirty="0">
                  <a:solidFill>
                    <a:srgbClr val="C00000"/>
                  </a:solidFill>
                  <a:latin typeface="微软雅黑" panose="020B0503020204020204" pitchFamily="34" charset="-122"/>
                  <a:ea typeface="微软雅黑" panose="020B0503020204020204" pitchFamily="34" charset="-122"/>
                </a:rPr>
                <a:t>北向 </a:t>
              </a:r>
              <a:r>
                <a:rPr lang="en-US" altLang="zh-CN" sz="2133" b="1" dirty="0">
                  <a:solidFill>
                    <a:srgbClr val="C00000"/>
                  </a:solidFill>
                  <a:latin typeface="微软雅黑" panose="020B0503020204020204" pitchFamily="34" charset="-122"/>
                  <a:ea typeface="微软雅黑" panose="020B0503020204020204" pitchFamily="34" charset="-122"/>
                  <a:cs typeface="Times New Roman" pitchFamily="18" charset="0"/>
                </a:rPr>
                <a:t>API</a:t>
              </a:r>
              <a:endParaRPr lang="zh-CN" altLang="en-US" sz="2133" b="1" dirty="0">
                <a:solidFill>
                  <a:srgbClr val="C00000"/>
                </a:solidFill>
                <a:latin typeface="微软雅黑" panose="020B0503020204020204" pitchFamily="34" charset="-122"/>
                <a:ea typeface="微软雅黑" panose="020B0503020204020204" pitchFamily="34" charset="-122"/>
                <a:cs typeface="Times New Roman" pitchFamily="18" charset="0"/>
              </a:endParaRPr>
            </a:p>
          </p:txBody>
        </p:sp>
        <p:cxnSp>
          <p:nvCxnSpPr>
            <p:cNvPr id="14" name="直接箭头连接符 13"/>
            <p:cNvCxnSpPr/>
            <p:nvPr/>
          </p:nvCxnSpPr>
          <p:spPr>
            <a:xfrm flipH="1">
              <a:off x="6402114" y="1446124"/>
              <a:ext cx="7669" cy="2607484"/>
            </a:xfrm>
            <a:prstGeom prst="straightConnector1">
              <a:avLst/>
            </a:prstGeom>
            <a:ln>
              <a:solidFill>
                <a:schemeClr val="tx1"/>
              </a:solidFill>
              <a:headEnd type="triangle" w="sm" len="lg"/>
              <a:tailEnd type="triangle" w="sm" len="lg"/>
            </a:ln>
          </p:spPr>
          <p:style>
            <a:lnRef idx="1">
              <a:schemeClr val="accent1"/>
            </a:lnRef>
            <a:fillRef idx="0">
              <a:schemeClr val="accent1"/>
            </a:fillRef>
            <a:effectRef idx="0">
              <a:schemeClr val="accent1"/>
            </a:effectRef>
            <a:fontRef idx="minor">
              <a:schemeClr val="tx1"/>
            </a:fontRef>
          </p:style>
        </p:cxnSp>
        <p:sp>
          <p:nvSpPr>
            <p:cNvPr id="15" name="TextBox 179"/>
            <p:cNvSpPr txBox="1"/>
            <p:nvPr/>
          </p:nvSpPr>
          <p:spPr>
            <a:xfrm>
              <a:off x="5971007" y="2515627"/>
              <a:ext cx="906761" cy="561596"/>
            </a:xfrm>
            <a:prstGeom prst="rect">
              <a:avLst/>
            </a:prstGeom>
            <a:solidFill>
              <a:srgbClr val="C3E3F9"/>
            </a:solidFill>
          </p:spPr>
          <p:txBody>
            <a:bodyPr wrap="square" rtlCol="0">
              <a:spAutoFit/>
            </a:bodyPr>
            <a:lstStyle/>
            <a:p>
              <a:pPr algn="ctr"/>
              <a:r>
                <a:rPr lang="en-US" altLang="zh-CN" sz="2133" b="1" dirty="0">
                  <a:latin typeface="微软雅黑" panose="020B0503020204020204" pitchFamily="34" charset="-122"/>
                  <a:ea typeface="微软雅黑" panose="020B0503020204020204" pitchFamily="34" charset="-122"/>
                  <a:cs typeface="Times New Roman" pitchFamily="18" charset="0"/>
                </a:rPr>
                <a:t>SDN</a:t>
              </a:r>
            </a:p>
            <a:p>
              <a:pPr algn="ctr"/>
              <a:r>
                <a:rPr lang="zh-CN" altLang="en-US" sz="2133" b="1" dirty="0">
                  <a:latin typeface="微软雅黑" panose="020B0503020204020204" pitchFamily="34" charset="-122"/>
                  <a:ea typeface="微软雅黑" panose="020B0503020204020204" pitchFamily="34" charset="-122"/>
                  <a:cs typeface="Times New Roman" pitchFamily="18" charset="0"/>
                </a:rPr>
                <a:t>控制器</a:t>
              </a:r>
            </a:p>
          </p:txBody>
        </p:sp>
        <p:sp>
          <p:nvSpPr>
            <p:cNvPr id="16" name="TextBox 63"/>
            <p:cNvSpPr txBox="1"/>
            <p:nvPr/>
          </p:nvSpPr>
          <p:spPr>
            <a:xfrm>
              <a:off x="3144781" y="3606691"/>
              <a:ext cx="1057072" cy="253915"/>
            </a:xfrm>
            <a:prstGeom prst="rect">
              <a:avLst/>
            </a:prstGeom>
            <a:solidFill>
              <a:schemeClr val="tx2">
                <a:lumMod val="20000"/>
                <a:lumOff val="80000"/>
              </a:schemeClr>
            </a:solidFill>
            <a:ln/>
            <a:scene3d>
              <a:camera prst="orthographicFront">
                <a:rot lat="0" lon="0" rev="0"/>
              </a:camera>
              <a:lightRig rig="threePt" dir="t">
                <a:rot lat="0" lon="0" rev="1200000"/>
              </a:lightRig>
            </a:scene3d>
            <a:sp3d>
              <a:bevelT w="25400" h="25400"/>
            </a:sp3d>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US" altLang="zh-CN" sz="1600" b="1" dirty="0" err="1">
                  <a:solidFill>
                    <a:schemeClr val="tx1"/>
                  </a:solidFill>
                  <a:latin typeface="微软雅黑" panose="020B0503020204020204" pitchFamily="34" charset="-122"/>
                  <a:ea typeface="微软雅黑" panose="020B0503020204020204" pitchFamily="34" charset="-122"/>
                  <a:cs typeface="Times New Roman" pitchFamily="18" charset="0"/>
                </a:rPr>
                <a:t>OpenFlow</a:t>
              </a:r>
              <a:endPar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17" name="TextBox 64"/>
            <p:cNvSpPr txBox="1"/>
            <p:nvPr/>
          </p:nvSpPr>
          <p:spPr>
            <a:xfrm>
              <a:off x="4730389" y="3598147"/>
              <a:ext cx="726739" cy="253915"/>
            </a:xfrm>
            <a:prstGeom prst="rect">
              <a:avLst/>
            </a:prstGeom>
            <a:solidFill>
              <a:schemeClr val="tx2">
                <a:lumMod val="20000"/>
                <a:lumOff val="80000"/>
              </a:schemeClr>
            </a:solidFill>
            <a:ln/>
            <a:scene3d>
              <a:camera prst="orthographicFront">
                <a:rot lat="0" lon="0" rev="0"/>
              </a:camera>
              <a:lightRig rig="threePt" dir="t">
                <a:rot lat="0" lon="0" rev="1200000"/>
              </a:lightRig>
            </a:scene3d>
            <a:sp3d>
              <a:bevelT w="25400" h="25400"/>
            </a:sp3d>
          </p:spPr>
          <p:style>
            <a:lnRef idx="0">
              <a:schemeClr val="accent1"/>
            </a:lnRef>
            <a:fillRef idx="3">
              <a:schemeClr val="accent1"/>
            </a:fillRef>
            <a:effectRef idx="3">
              <a:schemeClr val="accent1"/>
            </a:effectRef>
            <a:fontRef idx="minor">
              <a:schemeClr val="lt1"/>
            </a:fontRef>
          </p:style>
          <p:txBody>
            <a:bodyPr wrap="square" rtlCol="0">
              <a:spAutoFit/>
            </a:bodyPr>
            <a:lstStyle>
              <a:defPPr>
                <a:defRPr lang="zh-CN"/>
              </a:defPPr>
              <a:lvl1pPr algn="ctr">
                <a:defRPr sz="1200" b="1">
                  <a:solidFill>
                    <a:schemeClr val="lt1"/>
                  </a:solidFill>
                  <a:latin typeface="微软雅黑" panose="020B0503020204020204" pitchFamily="34" charset="-122"/>
                  <a:ea typeface="微软雅黑" panose="020B0503020204020204" pitchFamily="34" charset="-122"/>
                  <a:cs typeface="Times New Roman"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600" dirty="0">
                  <a:solidFill>
                    <a:schemeClr val="tx1"/>
                  </a:solidFill>
                </a:rPr>
                <a:t>SNMP</a:t>
              </a:r>
              <a:endParaRPr lang="zh-CN" altLang="en-US" sz="1600" dirty="0">
                <a:solidFill>
                  <a:schemeClr val="tx1"/>
                </a:solidFill>
              </a:endParaRPr>
            </a:p>
          </p:txBody>
        </p:sp>
        <p:sp>
          <p:nvSpPr>
            <p:cNvPr id="18" name="矩形 17"/>
            <p:cNvSpPr/>
            <p:nvPr/>
          </p:nvSpPr>
          <p:spPr>
            <a:xfrm>
              <a:off x="2814445" y="2199332"/>
              <a:ext cx="3171219" cy="107601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rPr>
                <a:t>网络范围分布式和健壮的状态管理</a:t>
              </a: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19" name="TextBox 15"/>
            <p:cNvSpPr txBox="1"/>
            <p:nvPr/>
          </p:nvSpPr>
          <p:spPr>
            <a:xfrm>
              <a:off x="4447071" y="2823453"/>
              <a:ext cx="792804" cy="377026"/>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交换机</a:t>
              </a: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信息</a:t>
              </a:r>
            </a:p>
          </p:txBody>
        </p:sp>
        <p:sp>
          <p:nvSpPr>
            <p:cNvPr id="20" name="TextBox 16"/>
            <p:cNvSpPr txBox="1"/>
            <p:nvPr/>
          </p:nvSpPr>
          <p:spPr>
            <a:xfrm>
              <a:off x="4122035" y="2483124"/>
              <a:ext cx="594604" cy="253915"/>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itchFamily="18" charset="0"/>
                </a:rPr>
                <a:t>流表</a:t>
              </a:r>
            </a:p>
          </p:txBody>
        </p:sp>
        <p:sp>
          <p:nvSpPr>
            <p:cNvPr id="21" name="TextBox 17"/>
            <p:cNvSpPr txBox="1"/>
            <p:nvPr/>
          </p:nvSpPr>
          <p:spPr>
            <a:xfrm>
              <a:off x="3808632" y="2823453"/>
              <a:ext cx="634454" cy="377026"/>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主机</a:t>
              </a: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信息</a:t>
              </a:r>
            </a:p>
          </p:txBody>
        </p:sp>
        <p:sp>
          <p:nvSpPr>
            <p:cNvPr id="22" name="TextBox 18"/>
            <p:cNvSpPr txBox="1"/>
            <p:nvPr/>
          </p:nvSpPr>
          <p:spPr>
            <a:xfrm>
              <a:off x="2880512" y="2823453"/>
              <a:ext cx="924939" cy="377026"/>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链路状态信息</a:t>
              </a:r>
            </a:p>
          </p:txBody>
        </p:sp>
        <p:sp>
          <p:nvSpPr>
            <p:cNvPr id="23" name="TextBox 19"/>
            <p:cNvSpPr txBox="1"/>
            <p:nvPr/>
          </p:nvSpPr>
          <p:spPr>
            <a:xfrm>
              <a:off x="3541182" y="2483124"/>
              <a:ext cx="594604" cy="253915"/>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itchFamily="18" charset="0"/>
                </a:rPr>
                <a:t>统计</a:t>
              </a:r>
            </a:p>
          </p:txBody>
        </p:sp>
        <p:sp>
          <p:nvSpPr>
            <p:cNvPr id="24" name="上下箭头 23"/>
            <p:cNvSpPr/>
            <p:nvPr/>
          </p:nvSpPr>
          <p:spPr>
            <a:xfrm>
              <a:off x="4333987" y="3920950"/>
              <a:ext cx="198201" cy="322803"/>
            </a:xfrm>
            <a:prstGeom prst="upDownArrow">
              <a:avLst/>
            </a:prstGeom>
            <a:solidFill>
              <a:srgbClr val="0000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26" name="矩形 25"/>
            <p:cNvSpPr/>
            <p:nvPr/>
          </p:nvSpPr>
          <p:spPr>
            <a:xfrm>
              <a:off x="2814445" y="1499925"/>
              <a:ext cx="3171219" cy="645607"/>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rPr>
                <a:t>与网络控制应用程序的通信</a:t>
              </a: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27" name="TextBox 24"/>
            <p:cNvSpPr txBox="1"/>
            <p:nvPr/>
          </p:nvSpPr>
          <p:spPr>
            <a:xfrm>
              <a:off x="4259400" y="3576019"/>
              <a:ext cx="340478" cy="253915"/>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28" name="TextBox 25"/>
            <p:cNvSpPr txBox="1"/>
            <p:nvPr/>
          </p:nvSpPr>
          <p:spPr>
            <a:xfrm>
              <a:off x="5250793" y="2859728"/>
              <a:ext cx="340478" cy="253915"/>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29" name="TextBox 26"/>
            <p:cNvSpPr txBox="1"/>
            <p:nvPr/>
          </p:nvSpPr>
          <p:spPr>
            <a:xfrm>
              <a:off x="4798442" y="1776878"/>
              <a:ext cx="340478" cy="253915"/>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30" name="TextBox 27"/>
            <p:cNvSpPr txBox="1"/>
            <p:nvPr/>
          </p:nvSpPr>
          <p:spPr>
            <a:xfrm>
              <a:off x="4722630" y="2453805"/>
              <a:ext cx="340478" cy="253915"/>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31" name="TextBox 28"/>
            <p:cNvSpPr txBox="1"/>
            <p:nvPr/>
          </p:nvSpPr>
          <p:spPr>
            <a:xfrm>
              <a:off x="5196705" y="1764296"/>
              <a:ext cx="745627" cy="253915"/>
            </a:xfrm>
            <a:prstGeom prst="rect">
              <a:avLst/>
            </a:prstGeom>
            <a:solidFill>
              <a:schemeClr val="accent6">
                <a:lumMod val="20000"/>
                <a:lumOff val="80000"/>
              </a:schemeClr>
            </a:solidFill>
            <a:ln>
              <a:noFill/>
            </a:ln>
            <a:scene3d>
              <a:camera prst="orthographicFront"/>
              <a:lightRig rig="threePt" dir="t"/>
            </a:scene3d>
            <a:sp3d>
              <a:bevelT w="25400" h="25400"/>
            </a:sp3d>
          </p:spPr>
          <p:txBody>
            <a:bodyPr wrap="square" rtlCol="0">
              <a:spAutoFit/>
            </a:bodyPr>
            <a:lstStyle/>
            <a:p>
              <a:pPr algn="ctr"/>
              <a:r>
                <a:rPr lang="en-US" altLang="zh-CN" sz="1600" b="1" dirty="0">
                  <a:latin typeface="微软雅黑" panose="020B0503020204020204" pitchFamily="34" charset="-122"/>
                  <a:ea typeface="微软雅黑" panose="020B0503020204020204" pitchFamily="34" charset="-122"/>
                  <a:cs typeface="Times New Roman" pitchFamily="18" charset="0"/>
                </a:rPr>
                <a:t>Intent</a:t>
              </a:r>
              <a:endParaRPr lang="zh-CN" altLang="en-US" sz="1600" b="1" dirty="0">
                <a:latin typeface="微软雅黑" panose="020B0503020204020204" pitchFamily="34" charset="-122"/>
                <a:ea typeface="微软雅黑" panose="020B0503020204020204" pitchFamily="34" charset="-122"/>
                <a:cs typeface="Times New Roman" pitchFamily="18" charset="0"/>
              </a:endParaRPr>
            </a:p>
          </p:txBody>
        </p:sp>
        <p:sp>
          <p:nvSpPr>
            <p:cNvPr id="32" name="TextBox 29"/>
            <p:cNvSpPr txBox="1"/>
            <p:nvPr/>
          </p:nvSpPr>
          <p:spPr>
            <a:xfrm>
              <a:off x="3748122" y="1766348"/>
              <a:ext cx="1057072" cy="346891"/>
            </a:xfrm>
            <a:prstGeom prst="rect">
              <a:avLst/>
            </a:prstGeom>
            <a:solidFill>
              <a:schemeClr val="accent6">
                <a:lumMod val="20000"/>
                <a:lumOff val="80000"/>
              </a:schemeClr>
            </a:solidFill>
            <a:ln>
              <a:noFill/>
            </a:ln>
            <a:scene3d>
              <a:camera prst="orthographicFront"/>
              <a:lightRig rig="threePt" dir="t"/>
            </a:scene3d>
            <a:sp3d>
              <a:bevelT w="25400" h="25400"/>
            </a:sp3d>
          </p:spPr>
          <p:txBody>
            <a:bodyPr wrap="square" tIns="62400" bIns="62400" rtlCol="0" anchor="ctr" anchorCtr="0">
              <a:spAutoFit/>
            </a:bodyPr>
            <a:lstStyle/>
            <a:p>
              <a:pPr algn="ctr">
                <a:lnSpc>
                  <a:spcPts val="1333"/>
                </a:lnSpc>
              </a:pPr>
              <a:r>
                <a:rPr lang="en-US" altLang="zh-CN" sz="1467" b="1" dirty="0">
                  <a:latin typeface="微软雅黑" panose="020B0503020204020204" pitchFamily="34" charset="-122"/>
                  <a:ea typeface="微软雅黑" panose="020B0503020204020204" pitchFamily="34" charset="-122"/>
                  <a:cs typeface="Times New Roman" pitchFamily="18" charset="0"/>
                </a:rPr>
                <a:t>REST</a:t>
              </a:r>
              <a:r>
                <a:rPr lang="zh-CN" altLang="en-US" sz="1467" b="1" dirty="0">
                  <a:latin typeface="微软雅黑" panose="020B0503020204020204" pitchFamily="34" charset="-122"/>
                  <a:ea typeface="微软雅黑" panose="020B0503020204020204" pitchFamily="34" charset="-122"/>
                  <a:cs typeface="Times New Roman" pitchFamily="18" charset="0"/>
                </a:rPr>
                <a:t>风格</a:t>
              </a:r>
              <a:endParaRPr lang="en-US" altLang="zh-CN" sz="1467" b="1" dirty="0">
                <a:latin typeface="微软雅黑" panose="020B0503020204020204" pitchFamily="34" charset="-122"/>
                <a:ea typeface="微软雅黑" panose="020B0503020204020204" pitchFamily="34" charset="-122"/>
                <a:cs typeface="Times New Roman" pitchFamily="18" charset="0"/>
              </a:endParaRPr>
            </a:p>
            <a:p>
              <a:pPr algn="ctr">
                <a:lnSpc>
                  <a:spcPts val="1333"/>
                </a:lnSpc>
              </a:pPr>
              <a:r>
                <a:rPr lang="zh-CN" altLang="en-US" sz="1467" b="1" dirty="0">
                  <a:latin typeface="微软雅黑" panose="020B0503020204020204" pitchFamily="34" charset="-122"/>
                  <a:ea typeface="微软雅黑" panose="020B0503020204020204" pitchFamily="34" charset="-122"/>
                  <a:cs typeface="Times New Roman" pitchFamily="18" charset="0"/>
                </a:rPr>
                <a:t>的</a:t>
              </a:r>
              <a:r>
                <a:rPr lang="en-US" altLang="zh-CN" sz="1467" b="1" dirty="0">
                  <a:latin typeface="微软雅黑" panose="020B0503020204020204" pitchFamily="34" charset="-122"/>
                  <a:ea typeface="微软雅黑" panose="020B0503020204020204" pitchFamily="34" charset="-122"/>
                  <a:cs typeface="Times New Roman" pitchFamily="18" charset="0"/>
                </a:rPr>
                <a:t>API</a:t>
              </a:r>
              <a:endParaRPr lang="zh-CN" altLang="en-US" sz="1467" b="1" dirty="0">
                <a:latin typeface="微软雅黑" panose="020B0503020204020204" pitchFamily="34" charset="-122"/>
                <a:ea typeface="微软雅黑" panose="020B0503020204020204" pitchFamily="34" charset="-122"/>
                <a:cs typeface="Times New Roman" pitchFamily="18" charset="0"/>
              </a:endParaRPr>
            </a:p>
          </p:txBody>
        </p:sp>
        <p:sp>
          <p:nvSpPr>
            <p:cNvPr id="33" name="TextBox 30"/>
            <p:cNvSpPr txBox="1"/>
            <p:nvPr/>
          </p:nvSpPr>
          <p:spPr>
            <a:xfrm>
              <a:off x="2900767" y="1764296"/>
              <a:ext cx="792804" cy="253915"/>
            </a:xfrm>
            <a:prstGeom prst="rect">
              <a:avLst/>
            </a:prstGeom>
            <a:solidFill>
              <a:schemeClr val="accent6">
                <a:lumMod val="20000"/>
                <a:lumOff val="80000"/>
              </a:schemeClr>
            </a:solidFill>
            <a:ln>
              <a:noFill/>
            </a:ln>
            <a:scene3d>
              <a:camera prst="orthographicFront"/>
              <a:lightRig rig="threePt" dir="t"/>
            </a:scene3d>
            <a:sp3d>
              <a:bevelT w="25400" h="25400"/>
            </a:sp3d>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itchFamily="18" charset="0"/>
                </a:rPr>
                <a:t>网络图</a:t>
              </a:r>
            </a:p>
          </p:txBody>
        </p:sp>
        <p:sp>
          <p:nvSpPr>
            <p:cNvPr id="34" name="上下箭头 33"/>
            <p:cNvSpPr/>
            <p:nvPr/>
          </p:nvSpPr>
          <p:spPr>
            <a:xfrm>
              <a:off x="4267920" y="1230922"/>
              <a:ext cx="198201" cy="322803"/>
            </a:xfrm>
            <a:prstGeom prst="upDownArrow">
              <a:avLst/>
            </a:prstGeom>
            <a:solidFill>
              <a:srgbClr val="0000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35" name="TextBox 32"/>
            <p:cNvSpPr txBox="1"/>
            <p:nvPr/>
          </p:nvSpPr>
          <p:spPr>
            <a:xfrm>
              <a:off x="1359877" y="2428033"/>
              <a:ext cx="1584461" cy="561596"/>
            </a:xfrm>
            <a:prstGeom prst="rect">
              <a:avLst/>
            </a:prstGeom>
            <a:noFill/>
          </p:spPr>
          <p:txBody>
            <a:bodyPr wrap="square" rtlCol="0">
              <a:spAutoFit/>
            </a:bodyPr>
            <a:lstStyle/>
            <a:p>
              <a:pPr algn="ctr"/>
              <a:r>
                <a:rPr lang="zh-CN" altLang="en-US" sz="2133" b="1" dirty="0">
                  <a:latin typeface="微软雅黑" panose="020B0503020204020204" pitchFamily="34" charset="-122"/>
                  <a:ea typeface="微软雅黑" panose="020B0503020204020204" pitchFamily="34" charset="-122"/>
                  <a:cs typeface="Times New Roman" pitchFamily="18" charset="0"/>
                </a:rPr>
                <a:t>网络范围的状态管理层</a:t>
              </a:r>
            </a:p>
          </p:txBody>
        </p:sp>
        <p:sp>
          <p:nvSpPr>
            <p:cNvPr id="36" name="TextBox 33"/>
            <p:cNvSpPr txBox="1"/>
            <p:nvPr/>
          </p:nvSpPr>
          <p:spPr>
            <a:xfrm>
              <a:off x="1359877" y="1464756"/>
              <a:ext cx="1584461" cy="715725"/>
            </a:xfrm>
            <a:prstGeom prst="rect">
              <a:avLst/>
            </a:prstGeom>
            <a:noFill/>
          </p:spPr>
          <p:txBody>
            <a:bodyPr wrap="square" rtlCol="0">
              <a:spAutoFit/>
            </a:bodyPr>
            <a:lstStyle/>
            <a:p>
              <a:pPr algn="ctr"/>
              <a:r>
                <a:rPr lang="zh-CN" altLang="en-US" sz="1867" b="1" dirty="0">
                  <a:latin typeface="微软雅黑" panose="020B0503020204020204" pitchFamily="34" charset="-122"/>
                  <a:ea typeface="微软雅黑" panose="020B0503020204020204" pitchFamily="34" charset="-122"/>
                  <a:cs typeface="Times New Roman" pitchFamily="18" charset="0"/>
                </a:rPr>
                <a:t>到网络控制</a:t>
              </a:r>
              <a:endParaRPr lang="en-US" altLang="zh-CN" sz="1867" b="1" dirty="0">
                <a:latin typeface="微软雅黑" panose="020B0503020204020204" pitchFamily="34" charset="-122"/>
                <a:ea typeface="微软雅黑" panose="020B0503020204020204" pitchFamily="34" charset="-122"/>
                <a:cs typeface="Times New Roman" pitchFamily="18" charset="0"/>
              </a:endParaRPr>
            </a:p>
            <a:p>
              <a:pPr algn="ctr"/>
              <a:r>
                <a:rPr lang="zh-CN" altLang="en-US" sz="1867" b="1" dirty="0">
                  <a:latin typeface="微软雅黑" panose="020B0503020204020204" pitchFamily="34" charset="-122"/>
                  <a:ea typeface="微软雅黑" panose="020B0503020204020204" pitchFamily="34" charset="-122"/>
                  <a:cs typeface="Times New Roman" pitchFamily="18" charset="0"/>
                </a:rPr>
                <a:t>应用程序层</a:t>
              </a:r>
              <a:endParaRPr lang="en-US" altLang="zh-CN" sz="1867" b="1" dirty="0">
                <a:latin typeface="微软雅黑" panose="020B0503020204020204" pitchFamily="34" charset="-122"/>
                <a:ea typeface="微软雅黑" panose="020B0503020204020204" pitchFamily="34" charset="-122"/>
                <a:cs typeface="Times New Roman" pitchFamily="18" charset="0"/>
              </a:endParaRPr>
            </a:p>
            <a:p>
              <a:pPr algn="ctr"/>
              <a:r>
                <a:rPr lang="zh-CN" altLang="en-US" sz="1867" b="1" dirty="0">
                  <a:latin typeface="微软雅黑" panose="020B0503020204020204" pitchFamily="34" charset="-122"/>
                  <a:ea typeface="微软雅黑" panose="020B0503020204020204" pitchFamily="34" charset="-122"/>
                  <a:cs typeface="Times New Roman" pitchFamily="18" charset="0"/>
                </a:rPr>
                <a:t>的接口</a:t>
              </a:r>
            </a:p>
          </p:txBody>
        </p:sp>
        <p:sp>
          <p:nvSpPr>
            <p:cNvPr id="37" name="TextBox 34"/>
            <p:cNvSpPr txBox="1"/>
            <p:nvPr/>
          </p:nvSpPr>
          <p:spPr>
            <a:xfrm>
              <a:off x="1359877" y="3497663"/>
              <a:ext cx="1584461" cy="315423"/>
            </a:xfrm>
            <a:prstGeom prst="rect">
              <a:avLst/>
            </a:prstGeom>
            <a:noFill/>
          </p:spPr>
          <p:txBody>
            <a:bodyPr wrap="square" rtlCol="0">
              <a:spAutoFit/>
            </a:bodyPr>
            <a:lstStyle/>
            <a:p>
              <a:pPr algn="ctr"/>
              <a:r>
                <a:rPr lang="zh-CN" altLang="en-US" sz="2133" b="1" dirty="0">
                  <a:latin typeface="微软雅黑" panose="020B0503020204020204" pitchFamily="34" charset="-122"/>
                  <a:ea typeface="微软雅黑" panose="020B0503020204020204" pitchFamily="34" charset="-122"/>
                  <a:cs typeface="Times New Roman" pitchFamily="18" charset="0"/>
                </a:rPr>
                <a:t>通信层</a:t>
              </a:r>
            </a:p>
          </p:txBody>
        </p:sp>
      </p:grpSp>
      <p:sp>
        <p:nvSpPr>
          <p:cNvPr id="43" name="线形标注 1 42"/>
          <p:cNvSpPr/>
          <p:nvPr/>
        </p:nvSpPr>
        <p:spPr>
          <a:xfrm>
            <a:off x="8180936" y="3354169"/>
            <a:ext cx="2997361" cy="1454752"/>
          </a:xfrm>
          <a:prstGeom prst="borderCallout1">
            <a:avLst>
              <a:gd name="adj1" fmla="val 78231"/>
              <a:gd name="adj2" fmla="val 599"/>
              <a:gd name="adj3" fmla="val 47524"/>
              <a:gd name="adj4" fmla="val -46457"/>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667"/>
              </a:lnSpc>
            </a:pPr>
            <a:r>
              <a:rPr lang="zh-CN" altLang="en-US" sz="1867" b="1" dirty="0">
                <a:solidFill>
                  <a:schemeClr val="tx1"/>
                </a:solidFill>
                <a:latin typeface="微软雅黑" panose="020B0503020204020204" pitchFamily="34" charset="-122"/>
                <a:ea typeface="微软雅黑" panose="020B0503020204020204" pitchFamily="34" charset="-122"/>
              </a:rPr>
              <a:t>完成核心功能。</a:t>
            </a:r>
            <a:endParaRPr lang="en-US" altLang="zh-CN" sz="1867" b="1" dirty="0">
              <a:solidFill>
                <a:schemeClr val="tx1"/>
              </a:solidFill>
              <a:latin typeface="微软雅黑" panose="020B0503020204020204" pitchFamily="34" charset="-122"/>
              <a:ea typeface="微软雅黑" panose="020B0503020204020204" pitchFamily="34" charset="-122"/>
            </a:endParaRPr>
          </a:p>
          <a:p>
            <a:pPr marL="234945" indent="-234945">
              <a:lnSpc>
                <a:spcPts val="2667"/>
              </a:lnSpc>
              <a:buFont typeface="Wingdings" panose="05000000000000000000" pitchFamily="2" charset="2"/>
              <a:buChar char="l"/>
            </a:pPr>
            <a:r>
              <a:rPr lang="zh-CN" altLang="en-US" sz="1867" b="1" dirty="0">
                <a:solidFill>
                  <a:schemeClr val="tx1"/>
                </a:solidFill>
                <a:latin typeface="微软雅黑" panose="020B0503020204020204" pitchFamily="34" charset="-122"/>
                <a:ea typeface="微软雅黑" panose="020B0503020204020204" pitchFamily="34" charset="-122"/>
              </a:rPr>
              <a:t>管理和维护链路、主机、交换机等网络状态；</a:t>
            </a:r>
            <a:endParaRPr lang="en-US" altLang="zh-CN" sz="1867" b="1" dirty="0">
              <a:solidFill>
                <a:schemeClr val="tx1"/>
              </a:solidFill>
              <a:latin typeface="微软雅黑" panose="020B0503020204020204" pitchFamily="34" charset="-122"/>
              <a:ea typeface="微软雅黑" panose="020B0503020204020204" pitchFamily="34" charset="-122"/>
            </a:endParaRPr>
          </a:p>
          <a:p>
            <a:pPr marL="234945" indent="-234945">
              <a:lnSpc>
                <a:spcPts val="2667"/>
              </a:lnSpc>
              <a:buFont typeface="Wingdings" panose="05000000000000000000" pitchFamily="2" charset="2"/>
              <a:buChar char="l"/>
            </a:pPr>
            <a:r>
              <a:rPr lang="zh-CN" altLang="en-US" sz="1867" b="1" dirty="0">
                <a:solidFill>
                  <a:schemeClr val="tx1"/>
                </a:solidFill>
                <a:latin typeface="微软雅黑" panose="020B0503020204020204" pitchFamily="34" charset="-122"/>
                <a:ea typeface="微软雅黑" panose="020B0503020204020204" pitchFamily="34" charset="-122"/>
              </a:rPr>
              <a:t>确定和维护流表等。</a:t>
            </a:r>
            <a:endParaRPr lang="en-US" altLang="zh-CN" sz="1867" b="1"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1268017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圆角矩形 40"/>
          <p:cNvSpPr/>
          <p:nvPr/>
        </p:nvSpPr>
        <p:spPr>
          <a:xfrm>
            <a:off x="726860" y="1441250"/>
            <a:ext cx="10738281" cy="4546109"/>
          </a:xfrm>
          <a:prstGeom prst="roundRect">
            <a:avLst>
              <a:gd name="adj" fmla="val 1162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ndParaRPr>
          </a:p>
        </p:txBody>
      </p:sp>
      <p:sp>
        <p:nvSpPr>
          <p:cNvPr id="7" name="AutoShape 5"/>
          <p:cNvSpPr>
            <a:spLocks noChangeArrowheads="1"/>
          </p:cNvSpPr>
          <p:nvPr/>
        </p:nvSpPr>
        <p:spPr bwMode="auto">
          <a:xfrm>
            <a:off x="726859" y="823346"/>
            <a:ext cx="10738283" cy="518295"/>
          </a:xfrm>
          <a:prstGeom prst="roundRect">
            <a:avLst>
              <a:gd name="adj" fmla="val 16667"/>
            </a:avLst>
          </a:prstGeom>
          <a:solidFill>
            <a:srgbClr val="0089FA"/>
          </a:solidFill>
          <a:ln>
            <a:noFill/>
          </a:ln>
          <a:effectLst/>
        </p:spPr>
        <p:txBody>
          <a:bodyPr wrap="none" anchor="ctr"/>
          <a:lstStyle/>
          <a:p>
            <a:endParaRPr lang="zh-CN" altLang="en-US" sz="2400"/>
          </a:p>
        </p:txBody>
      </p:sp>
      <p:sp>
        <p:nvSpPr>
          <p:cNvPr id="8" name="Rectangle 6"/>
          <p:cNvSpPr>
            <a:spLocks noChangeArrowheads="1"/>
          </p:cNvSpPr>
          <p:nvPr/>
        </p:nvSpPr>
        <p:spPr bwMode="auto">
          <a:xfrm>
            <a:off x="4121754" y="768862"/>
            <a:ext cx="39485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3200" b="1" dirty="0">
                <a:solidFill>
                  <a:schemeClr val="bg1"/>
                </a:solidFill>
                <a:latin typeface="微软雅黑" pitchFamily="34" charset="-122"/>
                <a:ea typeface="微软雅黑" pitchFamily="34" charset="-122"/>
              </a:rPr>
              <a:t>4.10.3  SDN </a:t>
            </a:r>
            <a:r>
              <a:rPr lang="zh-CN" altLang="en-US" sz="3200" b="1" dirty="0">
                <a:solidFill>
                  <a:schemeClr val="bg1"/>
                </a:solidFill>
                <a:latin typeface="微软雅黑" pitchFamily="34" charset="-122"/>
                <a:ea typeface="微软雅黑" pitchFamily="34" charset="-122"/>
              </a:rPr>
              <a:t>控制器</a:t>
            </a:r>
          </a:p>
        </p:txBody>
      </p:sp>
      <p:grpSp>
        <p:nvGrpSpPr>
          <p:cNvPr id="42" name="组合 41"/>
          <p:cNvGrpSpPr/>
          <p:nvPr/>
        </p:nvGrpSpPr>
        <p:grpSpPr>
          <a:xfrm>
            <a:off x="844062" y="1640584"/>
            <a:ext cx="8501276" cy="4017754"/>
            <a:chOff x="1359877" y="1230438"/>
            <a:chExt cx="6375957" cy="3013315"/>
          </a:xfrm>
        </p:grpSpPr>
        <p:cxnSp>
          <p:nvCxnSpPr>
            <p:cNvPr id="9" name="直接连接符 8"/>
            <p:cNvCxnSpPr/>
            <p:nvPr/>
          </p:nvCxnSpPr>
          <p:spPr>
            <a:xfrm>
              <a:off x="2742756" y="4082073"/>
              <a:ext cx="3798722" cy="0"/>
            </a:xfrm>
            <a:prstGeom prst="line">
              <a:avLst/>
            </a:prstGeom>
            <a:ln w="19050">
              <a:solidFill>
                <a:srgbClr val="000066"/>
              </a:solidFill>
              <a:prstDash val="sysDash"/>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2814445" y="3329144"/>
              <a:ext cx="3171219" cy="645607"/>
            </a:xfrm>
            <a:prstGeom prst="rect">
              <a:avLst/>
            </a:prstGeom>
            <a:solidFill>
              <a:srgbClr val="33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微软雅黑" panose="020B0503020204020204" pitchFamily="34" charset="-122"/>
                  <a:ea typeface="微软雅黑" panose="020B0503020204020204" pitchFamily="34" charset="-122"/>
                  <a:cs typeface="Times New Roman" pitchFamily="18" charset="0"/>
                </a:rPr>
                <a:t>与数据层面中</a:t>
              </a:r>
              <a:r>
                <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rPr>
                <a:t>受控设备的通信</a:t>
              </a: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11" name="TextBox 109"/>
            <p:cNvSpPr txBox="1"/>
            <p:nvPr/>
          </p:nvSpPr>
          <p:spPr>
            <a:xfrm>
              <a:off x="6576747" y="3927859"/>
              <a:ext cx="1159087" cy="315423"/>
            </a:xfrm>
            <a:prstGeom prst="rect">
              <a:avLst/>
            </a:prstGeom>
            <a:noFill/>
          </p:spPr>
          <p:txBody>
            <a:bodyPr wrap="square" rtlCol="0">
              <a:spAutoFit/>
            </a:bodyPr>
            <a:lstStyle/>
            <a:p>
              <a:pPr algn="ctr"/>
              <a:r>
                <a:rPr lang="zh-CN" altLang="en-US" sz="2133" b="1" dirty="0">
                  <a:solidFill>
                    <a:srgbClr val="0000FF"/>
                  </a:solidFill>
                  <a:latin typeface="微软雅黑" panose="020B0503020204020204" pitchFamily="34" charset="-122"/>
                  <a:ea typeface="微软雅黑" panose="020B0503020204020204" pitchFamily="34" charset="-122"/>
                </a:rPr>
                <a:t>南向 </a:t>
              </a:r>
              <a:r>
                <a:rPr lang="en-US" altLang="zh-CN" sz="2133" b="1" dirty="0">
                  <a:solidFill>
                    <a:srgbClr val="0000FF"/>
                  </a:solidFill>
                  <a:latin typeface="微软雅黑" panose="020B0503020204020204" pitchFamily="34" charset="-122"/>
                  <a:ea typeface="微软雅黑" panose="020B0503020204020204" pitchFamily="34" charset="-122"/>
                  <a:cs typeface="Times New Roman" pitchFamily="18" charset="0"/>
                </a:rPr>
                <a:t>API</a:t>
              </a:r>
              <a:endParaRPr lang="zh-CN" altLang="en-US" sz="2133" b="1" dirty="0">
                <a:solidFill>
                  <a:srgbClr val="0000FF"/>
                </a:solidFill>
                <a:latin typeface="微软雅黑" panose="020B0503020204020204" pitchFamily="34" charset="-122"/>
                <a:ea typeface="微软雅黑" panose="020B0503020204020204" pitchFamily="34" charset="-122"/>
                <a:cs typeface="Times New Roman" pitchFamily="18" charset="0"/>
              </a:endParaRPr>
            </a:p>
          </p:txBody>
        </p:sp>
        <p:cxnSp>
          <p:nvCxnSpPr>
            <p:cNvPr id="12" name="直接连接符 11"/>
            <p:cNvCxnSpPr/>
            <p:nvPr/>
          </p:nvCxnSpPr>
          <p:spPr>
            <a:xfrm>
              <a:off x="2751495" y="1406242"/>
              <a:ext cx="3789982" cy="0"/>
            </a:xfrm>
            <a:prstGeom prst="line">
              <a:avLst/>
            </a:prstGeom>
            <a:ln w="19050">
              <a:solidFill>
                <a:srgbClr val="000066"/>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12"/>
            <p:cNvSpPr txBox="1"/>
            <p:nvPr/>
          </p:nvSpPr>
          <p:spPr>
            <a:xfrm>
              <a:off x="6576743" y="1230438"/>
              <a:ext cx="1159088" cy="315423"/>
            </a:xfrm>
            <a:prstGeom prst="rect">
              <a:avLst/>
            </a:prstGeom>
            <a:noFill/>
          </p:spPr>
          <p:txBody>
            <a:bodyPr wrap="square" rtlCol="0">
              <a:spAutoFit/>
            </a:bodyPr>
            <a:lstStyle/>
            <a:p>
              <a:pPr algn="ctr"/>
              <a:r>
                <a:rPr lang="zh-CN" altLang="en-US" sz="2133" b="1" dirty="0">
                  <a:solidFill>
                    <a:srgbClr val="C00000"/>
                  </a:solidFill>
                  <a:latin typeface="微软雅黑" panose="020B0503020204020204" pitchFamily="34" charset="-122"/>
                  <a:ea typeface="微软雅黑" panose="020B0503020204020204" pitchFamily="34" charset="-122"/>
                </a:rPr>
                <a:t>北向 </a:t>
              </a:r>
              <a:r>
                <a:rPr lang="en-US" altLang="zh-CN" sz="2133" b="1" dirty="0">
                  <a:solidFill>
                    <a:srgbClr val="C00000"/>
                  </a:solidFill>
                  <a:latin typeface="微软雅黑" panose="020B0503020204020204" pitchFamily="34" charset="-122"/>
                  <a:ea typeface="微软雅黑" panose="020B0503020204020204" pitchFamily="34" charset="-122"/>
                  <a:cs typeface="Times New Roman" pitchFamily="18" charset="0"/>
                </a:rPr>
                <a:t>API</a:t>
              </a:r>
              <a:endParaRPr lang="zh-CN" altLang="en-US" sz="2133" b="1" dirty="0">
                <a:solidFill>
                  <a:srgbClr val="C00000"/>
                </a:solidFill>
                <a:latin typeface="微软雅黑" panose="020B0503020204020204" pitchFamily="34" charset="-122"/>
                <a:ea typeface="微软雅黑" panose="020B0503020204020204" pitchFamily="34" charset="-122"/>
                <a:cs typeface="Times New Roman" pitchFamily="18" charset="0"/>
              </a:endParaRPr>
            </a:p>
          </p:txBody>
        </p:sp>
        <p:cxnSp>
          <p:nvCxnSpPr>
            <p:cNvPr id="14" name="直接箭头连接符 13"/>
            <p:cNvCxnSpPr/>
            <p:nvPr/>
          </p:nvCxnSpPr>
          <p:spPr>
            <a:xfrm flipH="1">
              <a:off x="6402114" y="1446124"/>
              <a:ext cx="7669" cy="2607484"/>
            </a:xfrm>
            <a:prstGeom prst="straightConnector1">
              <a:avLst/>
            </a:prstGeom>
            <a:ln>
              <a:solidFill>
                <a:schemeClr val="tx1"/>
              </a:solidFill>
              <a:headEnd type="triangle" w="sm" len="lg"/>
              <a:tailEnd type="triangle" w="sm" len="lg"/>
            </a:ln>
          </p:spPr>
          <p:style>
            <a:lnRef idx="1">
              <a:schemeClr val="accent1"/>
            </a:lnRef>
            <a:fillRef idx="0">
              <a:schemeClr val="accent1"/>
            </a:fillRef>
            <a:effectRef idx="0">
              <a:schemeClr val="accent1"/>
            </a:effectRef>
            <a:fontRef idx="minor">
              <a:schemeClr val="tx1"/>
            </a:fontRef>
          </p:style>
        </p:cxnSp>
        <p:sp>
          <p:nvSpPr>
            <p:cNvPr id="15" name="TextBox 179"/>
            <p:cNvSpPr txBox="1"/>
            <p:nvPr/>
          </p:nvSpPr>
          <p:spPr>
            <a:xfrm>
              <a:off x="5971007" y="2515627"/>
              <a:ext cx="906761" cy="561596"/>
            </a:xfrm>
            <a:prstGeom prst="rect">
              <a:avLst/>
            </a:prstGeom>
            <a:solidFill>
              <a:srgbClr val="C3E3F9"/>
            </a:solidFill>
          </p:spPr>
          <p:txBody>
            <a:bodyPr wrap="square" rtlCol="0">
              <a:spAutoFit/>
            </a:bodyPr>
            <a:lstStyle/>
            <a:p>
              <a:pPr algn="ctr"/>
              <a:r>
                <a:rPr lang="en-US" altLang="zh-CN" sz="2133" b="1" dirty="0">
                  <a:latin typeface="微软雅黑" panose="020B0503020204020204" pitchFamily="34" charset="-122"/>
                  <a:ea typeface="微软雅黑" panose="020B0503020204020204" pitchFamily="34" charset="-122"/>
                  <a:cs typeface="Times New Roman" pitchFamily="18" charset="0"/>
                </a:rPr>
                <a:t>SDN</a:t>
              </a:r>
            </a:p>
            <a:p>
              <a:pPr algn="ctr"/>
              <a:r>
                <a:rPr lang="zh-CN" altLang="en-US" sz="2133" b="1" dirty="0">
                  <a:latin typeface="微软雅黑" panose="020B0503020204020204" pitchFamily="34" charset="-122"/>
                  <a:ea typeface="微软雅黑" panose="020B0503020204020204" pitchFamily="34" charset="-122"/>
                  <a:cs typeface="Times New Roman" pitchFamily="18" charset="0"/>
                </a:rPr>
                <a:t>控制器</a:t>
              </a:r>
            </a:p>
          </p:txBody>
        </p:sp>
        <p:sp>
          <p:nvSpPr>
            <p:cNvPr id="16" name="TextBox 63"/>
            <p:cNvSpPr txBox="1"/>
            <p:nvPr/>
          </p:nvSpPr>
          <p:spPr>
            <a:xfrm>
              <a:off x="3144781" y="3606691"/>
              <a:ext cx="1057072" cy="253915"/>
            </a:xfrm>
            <a:prstGeom prst="rect">
              <a:avLst/>
            </a:prstGeom>
            <a:solidFill>
              <a:schemeClr val="tx2">
                <a:lumMod val="20000"/>
                <a:lumOff val="80000"/>
              </a:schemeClr>
            </a:solidFill>
            <a:ln/>
            <a:scene3d>
              <a:camera prst="orthographicFront">
                <a:rot lat="0" lon="0" rev="0"/>
              </a:camera>
              <a:lightRig rig="threePt" dir="t">
                <a:rot lat="0" lon="0" rev="1200000"/>
              </a:lightRig>
            </a:scene3d>
            <a:sp3d>
              <a:bevelT w="25400" h="25400"/>
            </a:sp3d>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US" altLang="zh-CN" sz="1600" b="1" dirty="0" err="1">
                  <a:solidFill>
                    <a:schemeClr val="tx1"/>
                  </a:solidFill>
                  <a:latin typeface="微软雅黑" panose="020B0503020204020204" pitchFamily="34" charset="-122"/>
                  <a:ea typeface="微软雅黑" panose="020B0503020204020204" pitchFamily="34" charset="-122"/>
                  <a:cs typeface="Times New Roman" pitchFamily="18" charset="0"/>
                </a:rPr>
                <a:t>OpenFlow</a:t>
              </a:r>
              <a:endPar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17" name="TextBox 64"/>
            <p:cNvSpPr txBox="1"/>
            <p:nvPr/>
          </p:nvSpPr>
          <p:spPr>
            <a:xfrm>
              <a:off x="4730389" y="3598147"/>
              <a:ext cx="726739" cy="253915"/>
            </a:xfrm>
            <a:prstGeom prst="rect">
              <a:avLst/>
            </a:prstGeom>
            <a:solidFill>
              <a:schemeClr val="tx2">
                <a:lumMod val="20000"/>
                <a:lumOff val="80000"/>
              </a:schemeClr>
            </a:solidFill>
            <a:ln/>
            <a:scene3d>
              <a:camera prst="orthographicFront">
                <a:rot lat="0" lon="0" rev="0"/>
              </a:camera>
              <a:lightRig rig="threePt" dir="t">
                <a:rot lat="0" lon="0" rev="1200000"/>
              </a:lightRig>
            </a:scene3d>
            <a:sp3d>
              <a:bevelT w="25400" h="25400"/>
            </a:sp3d>
          </p:spPr>
          <p:style>
            <a:lnRef idx="0">
              <a:schemeClr val="accent1"/>
            </a:lnRef>
            <a:fillRef idx="3">
              <a:schemeClr val="accent1"/>
            </a:fillRef>
            <a:effectRef idx="3">
              <a:schemeClr val="accent1"/>
            </a:effectRef>
            <a:fontRef idx="minor">
              <a:schemeClr val="lt1"/>
            </a:fontRef>
          </p:style>
          <p:txBody>
            <a:bodyPr wrap="square" rtlCol="0">
              <a:spAutoFit/>
            </a:bodyPr>
            <a:lstStyle>
              <a:defPPr>
                <a:defRPr lang="zh-CN"/>
              </a:defPPr>
              <a:lvl1pPr algn="ctr">
                <a:defRPr sz="1200" b="1">
                  <a:solidFill>
                    <a:schemeClr val="lt1"/>
                  </a:solidFill>
                  <a:latin typeface="微软雅黑" panose="020B0503020204020204" pitchFamily="34" charset="-122"/>
                  <a:ea typeface="微软雅黑" panose="020B0503020204020204" pitchFamily="34" charset="-122"/>
                  <a:cs typeface="Times New Roman"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600" dirty="0">
                  <a:solidFill>
                    <a:schemeClr val="tx1"/>
                  </a:solidFill>
                </a:rPr>
                <a:t>SNMP</a:t>
              </a:r>
              <a:endParaRPr lang="zh-CN" altLang="en-US" sz="1600" dirty="0">
                <a:solidFill>
                  <a:schemeClr val="tx1"/>
                </a:solidFill>
              </a:endParaRPr>
            </a:p>
          </p:txBody>
        </p:sp>
        <p:sp>
          <p:nvSpPr>
            <p:cNvPr id="18" name="矩形 17"/>
            <p:cNvSpPr/>
            <p:nvPr/>
          </p:nvSpPr>
          <p:spPr>
            <a:xfrm>
              <a:off x="2814445" y="2199332"/>
              <a:ext cx="3171219" cy="107601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rPr>
                <a:t>网络范围分布式和健壮的状态管理</a:t>
              </a: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19" name="TextBox 15"/>
            <p:cNvSpPr txBox="1"/>
            <p:nvPr/>
          </p:nvSpPr>
          <p:spPr>
            <a:xfrm>
              <a:off x="4447071" y="2823453"/>
              <a:ext cx="792804" cy="377026"/>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交换机</a:t>
              </a: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信息</a:t>
              </a:r>
            </a:p>
          </p:txBody>
        </p:sp>
        <p:sp>
          <p:nvSpPr>
            <p:cNvPr id="20" name="TextBox 16"/>
            <p:cNvSpPr txBox="1"/>
            <p:nvPr/>
          </p:nvSpPr>
          <p:spPr>
            <a:xfrm>
              <a:off x="4122035" y="2483124"/>
              <a:ext cx="594604" cy="253915"/>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itchFamily="18" charset="0"/>
                </a:rPr>
                <a:t>流表</a:t>
              </a:r>
            </a:p>
          </p:txBody>
        </p:sp>
        <p:sp>
          <p:nvSpPr>
            <p:cNvPr id="21" name="TextBox 17"/>
            <p:cNvSpPr txBox="1"/>
            <p:nvPr/>
          </p:nvSpPr>
          <p:spPr>
            <a:xfrm>
              <a:off x="3808632" y="2823453"/>
              <a:ext cx="634454" cy="377026"/>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主机</a:t>
              </a:r>
              <a:endParaRPr lang="en-US" altLang="zh-CN" sz="1600" b="1" dirty="0">
                <a:latin typeface="微软雅黑" panose="020B0503020204020204" pitchFamily="34" charset="-122"/>
                <a:ea typeface="微软雅黑" panose="020B0503020204020204" pitchFamily="34" charset="-122"/>
                <a:cs typeface="Times New Roman" pitchFamily="18" charset="0"/>
              </a:endParaRPr>
            </a:p>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信息</a:t>
              </a:r>
            </a:p>
          </p:txBody>
        </p:sp>
        <p:sp>
          <p:nvSpPr>
            <p:cNvPr id="22" name="TextBox 18"/>
            <p:cNvSpPr txBox="1"/>
            <p:nvPr/>
          </p:nvSpPr>
          <p:spPr>
            <a:xfrm>
              <a:off x="2880512" y="2823453"/>
              <a:ext cx="924939" cy="377026"/>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lnSpc>
                  <a:spcPts val="1600"/>
                </a:lnSpc>
              </a:pPr>
              <a:r>
                <a:rPr lang="zh-CN" altLang="en-US" sz="1600" b="1" dirty="0">
                  <a:latin typeface="微软雅黑" panose="020B0503020204020204" pitchFamily="34" charset="-122"/>
                  <a:ea typeface="微软雅黑" panose="020B0503020204020204" pitchFamily="34" charset="-122"/>
                  <a:cs typeface="Times New Roman" pitchFamily="18" charset="0"/>
                </a:rPr>
                <a:t>链路状态信息</a:t>
              </a:r>
            </a:p>
          </p:txBody>
        </p:sp>
        <p:sp>
          <p:nvSpPr>
            <p:cNvPr id="23" name="TextBox 19"/>
            <p:cNvSpPr txBox="1"/>
            <p:nvPr/>
          </p:nvSpPr>
          <p:spPr>
            <a:xfrm>
              <a:off x="3541182" y="2483124"/>
              <a:ext cx="594604" cy="253915"/>
            </a:xfrm>
            <a:prstGeom prst="rect">
              <a:avLst/>
            </a:prstGeom>
            <a:solidFill>
              <a:srgbClr val="CCFF99"/>
            </a:solidFill>
            <a:ln>
              <a:noFill/>
            </a:ln>
            <a:scene3d>
              <a:camera prst="orthographicFront"/>
              <a:lightRig rig="threePt" dir="t"/>
            </a:scene3d>
            <a:sp3d>
              <a:bevelT w="25400" h="25400"/>
            </a:sp3d>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itchFamily="18" charset="0"/>
                </a:rPr>
                <a:t>统计</a:t>
              </a:r>
            </a:p>
          </p:txBody>
        </p:sp>
        <p:sp>
          <p:nvSpPr>
            <p:cNvPr id="24" name="上下箭头 23"/>
            <p:cNvSpPr/>
            <p:nvPr/>
          </p:nvSpPr>
          <p:spPr>
            <a:xfrm>
              <a:off x="4333987" y="3920950"/>
              <a:ext cx="198201" cy="322803"/>
            </a:xfrm>
            <a:prstGeom prst="upDownArrow">
              <a:avLst/>
            </a:prstGeom>
            <a:solidFill>
              <a:srgbClr val="0000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26" name="矩形 25"/>
            <p:cNvSpPr/>
            <p:nvPr/>
          </p:nvSpPr>
          <p:spPr>
            <a:xfrm>
              <a:off x="2814445" y="1499925"/>
              <a:ext cx="3171219" cy="645607"/>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rPr>
                <a:t>与网络控制应用程序的通信</a:t>
              </a: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en-US" altLang="zh-CN"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a:p>
              <a:pPr algn="ctr"/>
              <a:endParaRPr lang="zh-CN" altLang="en-US" sz="1600" b="1"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27" name="TextBox 24"/>
            <p:cNvSpPr txBox="1"/>
            <p:nvPr/>
          </p:nvSpPr>
          <p:spPr>
            <a:xfrm>
              <a:off x="4259400" y="3576019"/>
              <a:ext cx="340478" cy="253915"/>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28" name="TextBox 25"/>
            <p:cNvSpPr txBox="1"/>
            <p:nvPr/>
          </p:nvSpPr>
          <p:spPr>
            <a:xfrm>
              <a:off x="5250793" y="2859728"/>
              <a:ext cx="340478" cy="253915"/>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29" name="TextBox 26"/>
            <p:cNvSpPr txBox="1"/>
            <p:nvPr/>
          </p:nvSpPr>
          <p:spPr>
            <a:xfrm>
              <a:off x="4798442" y="1776878"/>
              <a:ext cx="340478" cy="253915"/>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30" name="TextBox 27"/>
            <p:cNvSpPr txBox="1"/>
            <p:nvPr/>
          </p:nvSpPr>
          <p:spPr>
            <a:xfrm>
              <a:off x="4722630" y="2453805"/>
              <a:ext cx="340478" cy="253915"/>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31" name="TextBox 28"/>
            <p:cNvSpPr txBox="1"/>
            <p:nvPr/>
          </p:nvSpPr>
          <p:spPr>
            <a:xfrm>
              <a:off x="5196705" y="1764296"/>
              <a:ext cx="745627" cy="253915"/>
            </a:xfrm>
            <a:prstGeom prst="rect">
              <a:avLst/>
            </a:prstGeom>
            <a:solidFill>
              <a:schemeClr val="accent6">
                <a:lumMod val="20000"/>
                <a:lumOff val="80000"/>
              </a:schemeClr>
            </a:solidFill>
            <a:ln>
              <a:noFill/>
            </a:ln>
            <a:scene3d>
              <a:camera prst="orthographicFront"/>
              <a:lightRig rig="threePt" dir="t"/>
            </a:scene3d>
            <a:sp3d>
              <a:bevelT w="25400" h="25400"/>
            </a:sp3d>
          </p:spPr>
          <p:txBody>
            <a:bodyPr wrap="square" rtlCol="0">
              <a:spAutoFit/>
            </a:bodyPr>
            <a:lstStyle/>
            <a:p>
              <a:pPr algn="ctr"/>
              <a:r>
                <a:rPr lang="en-US" altLang="zh-CN" sz="1600" b="1" dirty="0">
                  <a:latin typeface="微软雅黑" panose="020B0503020204020204" pitchFamily="34" charset="-122"/>
                  <a:ea typeface="微软雅黑" panose="020B0503020204020204" pitchFamily="34" charset="-122"/>
                  <a:cs typeface="Times New Roman" pitchFamily="18" charset="0"/>
                </a:rPr>
                <a:t>Intent</a:t>
              </a:r>
              <a:endParaRPr lang="zh-CN" altLang="en-US" sz="1600" b="1" dirty="0">
                <a:latin typeface="微软雅黑" panose="020B0503020204020204" pitchFamily="34" charset="-122"/>
                <a:ea typeface="微软雅黑" panose="020B0503020204020204" pitchFamily="34" charset="-122"/>
                <a:cs typeface="Times New Roman" pitchFamily="18" charset="0"/>
              </a:endParaRPr>
            </a:p>
          </p:txBody>
        </p:sp>
        <p:sp>
          <p:nvSpPr>
            <p:cNvPr id="32" name="TextBox 29"/>
            <p:cNvSpPr txBox="1"/>
            <p:nvPr/>
          </p:nvSpPr>
          <p:spPr>
            <a:xfrm>
              <a:off x="3748122" y="1766348"/>
              <a:ext cx="1057072" cy="346891"/>
            </a:xfrm>
            <a:prstGeom prst="rect">
              <a:avLst/>
            </a:prstGeom>
            <a:solidFill>
              <a:schemeClr val="accent6">
                <a:lumMod val="20000"/>
                <a:lumOff val="80000"/>
              </a:schemeClr>
            </a:solidFill>
            <a:ln>
              <a:noFill/>
            </a:ln>
            <a:scene3d>
              <a:camera prst="orthographicFront"/>
              <a:lightRig rig="threePt" dir="t"/>
            </a:scene3d>
            <a:sp3d>
              <a:bevelT w="25400" h="25400"/>
            </a:sp3d>
          </p:spPr>
          <p:txBody>
            <a:bodyPr wrap="square" tIns="62400" bIns="62400" rtlCol="0" anchor="ctr" anchorCtr="0">
              <a:spAutoFit/>
            </a:bodyPr>
            <a:lstStyle/>
            <a:p>
              <a:pPr algn="ctr">
                <a:lnSpc>
                  <a:spcPts val="1333"/>
                </a:lnSpc>
              </a:pPr>
              <a:r>
                <a:rPr lang="en-US" altLang="zh-CN" sz="1467" b="1" dirty="0">
                  <a:latin typeface="微软雅黑" panose="020B0503020204020204" pitchFamily="34" charset="-122"/>
                  <a:ea typeface="微软雅黑" panose="020B0503020204020204" pitchFamily="34" charset="-122"/>
                  <a:cs typeface="Times New Roman" pitchFamily="18" charset="0"/>
                </a:rPr>
                <a:t>REST</a:t>
              </a:r>
              <a:r>
                <a:rPr lang="zh-CN" altLang="en-US" sz="1467" b="1" dirty="0">
                  <a:latin typeface="微软雅黑" panose="020B0503020204020204" pitchFamily="34" charset="-122"/>
                  <a:ea typeface="微软雅黑" panose="020B0503020204020204" pitchFamily="34" charset="-122"/>
                  <a:cs typeface="Times New Roman" pitchFamily="18" charset="0"/>
                </a:rPr>
                <a:t>风格</a:t>
              </a:r>
              <a:endParaRPr lang="en-US" altLang="zh-CN" sz="1467" b="1" dirty="0">
                <a:latin typeface="微软雅黑" panose="020B0503020204020204" pitchFamily="34" charset="-122"/>
                <a:ea typeface="微软雅黑" panose="020B0503020204020204" pitchFamily="34" charset="-122"/>
                <a:cs typeface="Times New Roman" pitchFamily="18" charset="0"/>
              </a:endParaRPr>
            </a:p>
            <a:p>
              <a:pPr algn="ctr">
                <a:lnSpc>
                  <a:spcPts val="1333"/>
                </a:lnSpc>
              </a:pPr>
              <a:r>
                <a:rPr lang="zh-CN" altLang="en-US" sz="1467" b="1" dirty="0">
                  <a:latin typeface="微软雅黑" panose="020B0503020204020204" pitchFamily="34" charset="-122"/>
                  <a:ea typeface="微软雅黑" panose="020B0503020204020204" pitchFamily="34" charset="-122"/>
                  <a:cs typeface="Times New Roman" pitchFamily="18" charset="0"/>
                </a:rPr>
                <a:t>的</a:t>
              </a:r>
              <a:r>
                <a:rPr lang="en-US" altLang="zh-CN" sz="1467" b="1" dirty="0">
                  <a:latin typeface="微软雅黑" panose="020B0503020204020204" pitchFamily="34" charset="-122"/>
                  <a:ea typeface="微软雅黑" panose="020B0503020204020204" pitchFamily="34" charset="-122"/>
                  <a:cs typeface="Times New Roman" pitchFamily="18" charset="0"/>
                </a:rPr>
                <a:t>API</a:t>
              </a:r>
              <a:endParaRPr lang="zh-CN" altLang="en-US" sz="1467" b="1" dirty="0">
                <a:latin typeface="微软雅黑" panose="020B0503020204020204" pitchFamily="34" charset="-122"/>
                <a:ea typeface="微软雅黑" panose="020B0503020204020204" pitchFamily="34" charset="-122"/>
                <a:cs typeface="Times New Roman" pitchFamily="18" charset="0"/>
              </a:endParaRPr>
            </a:p>
          </p:txBody>
        </p:sp>
        <p:sp>
          <p:nvSpPr>
            <p:cNvPr id="33" name="TextBox 30"/>
            <p:cNvSpPr txBox="1"/>
            <p:nvPr/>
          </p:nvSpPr>
          <p:spPr>
            <a:xfrm>
              <a:off x="2900767" y="1764296"/>
              <a:ext cx="792804" cy="253915"/>
            </a:xfrm>
            <a:prstGeom prst="rect">
              <a:avLst/>
            </a:prstGeom>
            <a:solidFill>
              <a:schemeClr val="accent6">
                <a:lumMod val="20000"/>
                <a:lumOff val="80000"/>
              </a:schemeClr>
            </a:solidFill>
            <a:ln>
              <a:noFill/>
            </a:ln>
            <a:scene3d>
              <a:camera prst="orthographicFront"/>
              <a:lightRig rig="threePt" dir="t"/>
            </a:scene3d>
            <a:sp3d>
              <a:bevelT w="25400" h="25400"/>
            </a:sp3d>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cs typeface="Times New Roman" pitchFamily="18" charset="0"/>
                </a:rPr>
                <a:t>网络图</a:t>
              </a:r>
            </a:p>
          </p:txBody>
        </p:sp>
        <p:sp>
          <p:nvSpPr>
            <p:cNvPr id="34" name="上下箭头 33"/>
            <p:cNvSpPr/>
            <p:nvPr/>
          </p:nvSpPr>
          <p:spPr>
            <a:xfrm>
              <a:off x="4267920" y="1230922"/>
              <a:ext cx="198201" cy="322803"/>
            </a:xfrm>
            <a:prstGeom prst="upDownArrow">
              <a:avLst/>
            </a:prstGeom>
            <a:solidFill>
              <a:srgbClr val="0000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微软雅黑" panose="020B0503020204020204" pitchFamily="34" charset="-122"/>
                <a:ea typeface="微软雅黑" panose="020B0503020204020204" pitchFamily="34" charset="-122"/>
              </a:endParaRPr>
            </a:p>
          </p:txBody>
        </p:sp>
        <p:sp>
          <p:nvSpPr>
            <p:cNvPr id="35" name="TextBox 32"/>
            <p:cNvSpPr txBox="1"/>
            <p:nvPr/>
          </p:nvSpPr>
          <p:spPr>
            <a:xfrm>
              <a:off x="1359877" y="2428033"/>
              <a:ext cx="1584461" cy="561596"/>
            </a:xfrm>
            <a:prstGeom prst="rect">
              <a:avLst/>
            </a:prstGeom>
            <a:noFill/>
          </p:spPr>
          <p:txBody>
            <a:bodyPr wrap="square" rtlCol="0">
              <a:spAutoFit/>
            </a:bodyPr>
            <a:lstStyle/>
            <a:p>
              <a:pPr algn="ctr"/>
              <a:r>
                <a:rPr lang="zh-CN" altLang="en-US" sz="2133" b="1" dirty="0">
                  <a:latin typeface="微软雅黑" panose="020B0503020204020204" pitchFamily="34" charset="-122"/>
                  <a:ea typeface="微软雅黑" panose="020B0503020204020204" pitchFamily="34" charset="-122"/>
                  <a:cs typeface="Times New Roman" pitchFamily="18" charset="0"/>
                </a:rPr>
                <a:t>网络范围的状态管理层</a:t>
              </a:r>
            </a:p>
          </p:txBody>
        </p:sp>
        <p:sp>
          <p:nvSpPr>
            <p:cNvPr id="36" name="TextBox 33"/>
            <p:cNvSpPr txBox="1"/>
            <p:nvPr/>
          </p:nvSpPr>
          <p:spPr>
            <a:xfrm>
              <a:off x="1359877" y="1464756"/>
              <a:ext cx="1584461" cy="715725"/>
            </a:xfrm>
            <a:prstGeom prst="rect">
              <a:avLst/>
            </a:prstGeom>
            <a:noFill/>
          </p:spPr>
          <p:txBody>
            <a:bodyPr wrap="square" rtlCol="0">
              <a:spAutoFit/>
            </a:bodyPr>
            <a:lstStyle/>
            <a:p>
              <a:pPr algn="ctr"/>
              <a:r>
                <a:rPr lang="zh-CN" altLang="en-US" sz="1867" b="1" dirty="0">
                  <a:latin typeface="微软雅黑" panose="020B0503020204020204" pitchFamily="34" charset="-122"/>
                  <a:ea typeface="微软雅黑" panose="020B0503020204020204" pitchFamily="34" charset="-122"/>
                  <a:cs typeface="Times New Roman" pitchFamily="18" charset="0"/>
                </a:rPr>
                <a:t>到网络控制</a:t>
              </a:r>
              <a:endParaRPr lang="en-US" altLang="zh-CN" sz="1867" b="1" dirty="0">
                <a:latin typeface="微软雅黑" panose="020B0503020204020204" pitchFamily="34" charset="-122"/>
                <a:ea typeface="微软雅黑" panose="020B0503020204020204" pitchFamily="34" charset="-122"/>
                <a:cs typeface="Times New Roman" pitchFamily="18" charset="0"/>
              </a:endParaRPr>
            </a:p>
            <a:p>
              <a:pPr algn="ctr"/>
              <a:r>
                <a:rPr lang="zh-CN" altLang="en-US" sz="1867" b="1" dirty="0">
                  <a:latin typeface="微软雅黑" panose="020B0503020204020204" pitchFamily="34" charset="-122"/>
                  <a:ea typeface="微软雅黑" panose="020B0503020204020204" pitchFamily="34" charset="-122"/>
                  <a:cs typeface="Times New Roman" pitchFamily="18" charset="0"/>
                </a:rPr>
                <a:t>应用程序层</a:t>
              </a:r>
              <a:endParaRPr lang="en-US" altLang="zh-CN" sz="1867" b="1" dirty="0">
                <a:latin typeface="微软雅黑" panose="020B0503020204020204" pitchFamily="34" charset="-122"/>
                <a:ea typeface="微软雅黑" panose="020B0503020204020204" pitchFamily="34" charset="-122"/>
                <a:cs typeface="Times New Roman" pitchFamily="18" charset="0"/>
              </a:endParaRPr>
            </a:p>
            <a:p>
              <a:pPr algn="ctr"/>
              <a:r>
                <a:rPr lang="zh-CN" altLang="en-US" sz="1867" b="1" dirty="0">
                  <a:latin typeface="微软雅黑" panose="020B0503020204020204" pitchFamily="34" charset="-122"/>
                  <a:ea typeface="微软雅黑" panose="020B0503020204020204" pitchFamily="34" charset="-122"/>
                  <a:cs typeface="Times New Roman" pitchFamily="18" charset="0"/>
                </a:rPr>
                <a:t>的接口</a:t>
              </a:r>
            </a:p>
          </p:txBody>
        </p:sp>
        <p:sp>
          <p:nvSpPr>
            <p:cNvPr id="37" name="TextBox 34"/>
            <p:cNvSpPr txBox="1"/>
            <p:nvPr/>
          </p:nvSpPr>
          <p:spPr>
            <a:xfrm>
              <a:off x="1359877" y="3497663"/>
              <a:ext cx="1584461" cy="315423"/>
            </a:xfrm>
            <a:prstGeom prst="rect">
              <a:avLst/>
            </a:prstGeom>
            <a:noFill/>
          </p:spPr>
          <p:txBody>
            <a:bodyPr wrap="square" rtlCol="0">
              <a:spAutoFit/>
            </a:bodyPr>
            <a:lstStyle/>
            <a:p>
              <a:pPr algn="ctr"/>
              <a:r>
                <a:rPr lang="zh-CN" altLang="en-US" sz="2133" b="1" dirty="0">
                  <a:latin typeface="微软雅黑" panose="020B0503020204020204" pitchFamily="34" charset="-122"/>
                  <a:ea typeface="微软雅黑" panose="020B0503020204020204" pitchFamily="34" charset="-122"/>
                  <a:cs typeface="Times New Roman" pitchFamily="18" charset="0"/>
                </a:rPr>
                <a:t>通信层</a:t>
              </a:r>
            </a:p>
          </p:txBody>
        </p:sp>
      </p:grpSp>
      <p:sp>
        <p:nvSpPr>
          <p:cNvPr id="43" name="线形标注 1 42"/>
          <p:cNvSpPr/>
          <p:nvPr/>
        </p:nvSpPr>
        <p:spPr>
          <a:xfrm>
            <a:off x="8180936" y="2191599"/>
            <a:ext cx="2997361" cy="2471952"/>
          </a:xfrm>
          <a:prstGeom prst="borderCallout1">
            <a:avLst>
              <a:gd name="adj1" fmla="val 37959"/>
              <a:gd name="adj2" fmla="val 78"/>
              <a:gd name="adj3" fmla="val 23190"/>
              <a:gd name="adj4" fmla="val -41242"/>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34945" indent="-234945">
              <a:lnSpc>
                <a:spcPts val="2667"/>
              </a:lnSpc>
              <a:buFont typeface="Wingdings" panose="05000000000000000000" pitchFamily="2" charset="2"/>
              <a:buChar char="l"/>
            </a:pPr>
            <a:r>
              <a:rPr lang="en-US" altLang="zh-CN" sz="1867" b="1" dirty="0">
                <a:solidFill>
                  <a:schemeClr val="tx1"/>
                </a:solidFill>
                <a:latin typeface="微软雅黑" panose="020B0503020204020204" pitchFamily="34" charset="-122"/>
                <a:ea typeface="微软雅黑" panose="020B0503020204020204" pitchFamily="34" charset="-122"/>
              </a:rPr>
              <a:t>SDN </a:t>
            </a:r>
            <a:r>
              <a:rPr lang="zh-CN" altLang="en-US" sz="1867" b="1" dirty="0">
                <a:solidFill>
                  <a:schemeClr val="tx1"/>
                </a:solidFill>
                <a:latin typeface="微软雅黑" panose="020B0503020204020204" pitchFamily="34" charset="-122"/>
                <a:ea typeface="微软雅黑" panose="020B0503020204020204" pitchFamily="34" charset="-122"/>
              </a:rPr>
              <a:t>控制器与网络控制应用程序交互的接口称为北向接口。</a:t>
            </a:r>
            <a:endParaRPr lang="en-US" altLang="zh-CN" sz="1867" b="1" dirty="0">
              <a:solidFill>
                <a:schemeClr val="tx1"/>
              </a:solidFill>
              <a:latin typeface="微软雅黑" panose="020B0503020204020204" pitchFamily="34" charset="-122"/>
              <a:ea typeface="微软雅黑" panose="020B0503020204020204" pitchFamily="34" charset="-122"/>
            </a:endParaRPr>
          </a:p>
          <a:p>
            <a:pPr marL="234945" indent="-234945">
              <a:lnSpc>
                <a:spcPts val="2667"/>
              </a:lnSpc>
              <a:buFont typeface="Wingdings" panose="05000000000000000000" pitchFamily="2" charset="2"/>
              <a:buChar char="l"/>
            </a:pPr>
            <a:r>
              <a:rPr lang="zh-CN" altLang="en-US" sz="1867" b="1" dirty="0">
                <a:solidFill>
                  <a:schemeClr val="tx1"/>
                </a:solidFill>
                <a:latin typeface="微软雅黑" panose="020B0503020204020204" pitchFamily="34" charset="-122"/>
                <a:ea typeface="微软雅黑" panose="020B0503020204020204" pitchFamily="34" charset="-122"/>
              </a:rPr>
              <a:t>该 </a:t>
            </a:r>
            <a:r>
              <a:rPr lang="en-US" altLang="zh-CN" sz="1867" b="1" dirty="0">
                <a:solidFill>
                  <a:schemeClr val="tx1"/>
                </a:solidFill>
                <a:latin typeface="微软雅黑" panose="020B0503020204020204" pitchFamily="34" charset="-122"/>
                <a:ea typeface="微软雅黑" panose="020B0503020204020204" pitchFamily="34" charset="-122"/>
              </a:rPr>
              <a:t>API </a:t>
            </a:r>
            <a:r>
              <a:rPr lang="zh-CN" altLang="en-US" sz="1867" b="1" dirty="0">
                <a:solidFill>
                  <a:schemeClr val="tx1"/>
                </a:solidFill>
                <a:latin typeface="微软雅黑" panose="020B0503020204020204" pitchFamily="34" charset="-122"/>
                <a:ea typeface="微软雅黑" panose="020B0503020204020204" pitchFamily="34" charset="-122"/>
              </a:rPr>
              <a:t>接口允许网络控制应用程序对状态管理层里的网络状态和流表进行读写操作。</a:t>
            </a:r>
            <a:endParaRPr lang="en-US" altLang="zh-CN" sz="1867" b="1"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064479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1719</Words>
  <Application>Microsoft Macintosh PowerPoint</Application>
  <PresentationFormat>宽屏</PresentationFormat>
  <Paragraphs>449</Paragraphs>
  <Slides>20</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20</vt:i4>
      </vt:variant>
    </vt:vector>
  </HeadingPairs>
  <TitlesOfParts>
    <vt:vector size="27" baseType="lpstr">
      <vt:lpstr>等线 Light</vt:lpstr>
      <vt:lpstr>宋体</vt:lpstr>
      <vt:lpstr>等线</vt:lpstr>
      <vt:lpstr>微软雅黑</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Min Zhu</dc:creator>
  <cp:lastModifiedBy>Min Zhu</cp:lastModifiedBy>
  <cp:revision>1</cp:revision>
  <dcterms:created xsi:type="dcterms:W3CDTF">2024-11-27T05:19:18Z</dcterms:created>
  <dcterms:modified xsi:type="dcterms:W3CDTF">2024-11-27T05:19:58Z</dcterms:modified>
</cp:coreProperties>
</file>