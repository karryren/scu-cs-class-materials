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3.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p:sldMasterIdLst>
    <p:sldMasterId id="2147483648" r:id="rId1"/>
    <p:sldMasterId id="2147483661" r:id="rId2"/>
    <p:sldMasterId id="2147483674" r:id="rId3"/>
    <p:sldMasterId id="2147483686" r:id="rId4"/>
  </p:sldMasterIdLst>
  <p:notesMasterIdLst>
    <p:notesMasterId r:id="rId129"/>
  </p:notesMasterIdLst>
  <p:handoutMasterIdLst>
    <p:handoutMasterId r:id="rId130"/>
  </p:handoutMasterIdLst>
  <p:sldIdLst>
    <p:sldId id="3613" r:id="rId5"/>
    <p:sldId id="636" r:id="rId6"/>
    <p:sldId id="751" r:id="rId7"/>
    <p:sldId id="779" r:id="rId8"/>
    <p:sldId id="805" r:id="rId9"/>
    <p:sldId id="806" r:id="rId10"/>
    <p:sldId id="802" r:id="rId11"/>
    <p:sldId id="807" r:id="rId12"/>
    <p:sldId id="781" r:id="rId13"/>
    <p:sldId id="782" r:id="rId14"/>
    <p:sldId id="783" r:id="rId15"/>
    <p:sldId id="898" r:id="rId16"/>
    <p:sldId id="832" r:id="rId17"/>
    <p:sldId id="833" r:id="rId18"/>
    <p:sldId id="1698" r:id="rId19"/>
    <p:sldId id="1699" r:id="rId20"/>
    <p:sldId id="1700" r:id="rId21"/>
    <p:sldId id="1701" r:id="rId22"/>
    <p:sldId id="1702" r:id="rId23"/>
    <p:sldId id="1703" r:id="rId24"/>
    <p:sldId id="1705" r:id="rId25"/>
    <p:sldId id="3598" r:id="rId26"/>
    <p:sldId id="808" r:id="rId27"/>
    <p:sldId id="785" r:id="rId28"/>
    <p:sldId id="3602" r:id="rId29"/>
    <p:sldId id="786" r:id="rId30"/>
    <p:sldId id="3601" r:id="rId31"/>
    <p:sldId id="787" r:id="rId32"/>
    <p:sldId id="3603" r:id="rId33"/>
    <p:sldId id="788" r:id="rId34"/>
    <p:sldId id="3604" r:id="rId35"/>
    <p:sldId id="3605" r:id="rId36"/>
    <p:sldId id="3606" r:id="rId37"/>
    <p:sldId id="849" r:id="rId38"/>
    <p:sldId id="3607" r:id="rId39"/>
    <p:sldId id="3608" r:id="rId40"/>
    <p:sldId id="3609" r:id="rId41"/>
    <p:sldId id="3610" r:id="rId42"/>
    <p:sldId id="3611" r:id="rId43"/>
    <p:sldId id="789" r:id="rId44"/>
    <p:sldId id="790" r:id="rId45"/>
    <p:sldId id="809" r:id="rId46"/>
    <p:sldId id="792" r:id="rId47"/>
    <p:sldId id="3612" r:id="rId48"/>
    <p:sldId id="793" r:id="rId49"/>
    <p:sldId id="794" r:id="rId50"/>
    <p:sldId id="795" r:id="rId51"/>
    <p:sldId id="796" r:id="rId52"/>
    <p:sldId id="797" r:id="rId53"/>
    <p:sldId id="798" r:id="rId54"/>
    <p:sldId id="799" r:id="rId55"/>
    <p:sldId id="800" r:id="rId56"/>
    <p:sldId id="801" r:id="rId57"/>
    <p:sldId id="726" r:id="rId58"/>
    <p:sldId id="727" r:id="rId59"/>
    <p:sldId id="728" r:id="rId60"/>
    <p:sldId id="729" r:id="rId61"/>
    <p:sldId id="730" r:id="rId62"/>
    <p:sldId id="731" r:id="rId63"/>
    <p:sldId id="732" r:id="rId64"/>
    <p:sldId id="780" r:id="rId65"/>
    <p:sldId id="821" r:id="rId66"/>
    <p:sldId id="822" r:id="rId67"/>
    <p:sldId id="823" r:id="rId68"/>
    <p:sldId id="824" r:id="rId69"/>
    <p:sldId id="845" r:id="rId70"/>
    <p:sldId id="817" r:id="rId71"/>
    <p:sldId id="818" r:id="rId72"/>
    <p:sldId id="819" r:id="rId73"/>
    <p:sldId id="820" r:id="rId74"/>
    <p:sldId id="810" r:id="rId75"/>
    <p:sldId id="826" r:id="rId76"/>
    <p:sldId id="846" r:id="rId77"/>
    <p:sldId id="827" r:id="rId78"/>
    <p:sldId id="829" r:id="rId79"/>
    <p:sldId id="848" r:id="rId80"/>
    <p:sldId id="850" r:id="rId81"/>
    <p:sldId id="831" r:id="rId82"/>
    <p:sldId id="851" r:id="rId83"/>
    <p:sldId id="852" r:id="rId84"/>
    <p:sldId id="853" r:id="rId85"/>
    <p:sldId id="854" r:id="rId86"/>
    <p:sldId id="855" r:id="rId87"/>
    <p:sldId id="842" r:id="rId88"/>
    <p:sldId id="844" r:id="rId89"/>
    <p:sldId id="825" r:id="rId90"/>
    <p:sldId id="857" r:id="rId91"/>
    <p:sldId id="870" r:id="rId92"/>
    <p:sldId id="871" r:id="rId93"/>
    <p:sldId id="869" r:id="rId94"/>
    <p:sldId id="872" r:id="rId95"/>
    <p:sldId id="866" r:id="rId96"/>
    <p:sldId id="867" r:id="rId97"/>
    <p:sldId id="868" r:id="rId98"/>
    <p:sldId id="863" r:id="rId99"/>
    <p:sldId id="858" r:id="rId100"/>
    <p:sldId id="859" r:id="rId101"/>
    <p:sldId id="860" r:id="rId102"/>
    <p:sldId id="861" r:id="rId103"/>
    <p:sldId id="873" r:id="rId104"/>
    <p:sldId id="874" r:id="rId105"/>
    <p:sldId id="875" r:id="rId106"/>
    <p:sldId id="878" r:id="rId107"/>
    <p:sldId id="879" r:id="rId108"/>
    <p:sldId id="880" r:id="rId109"/>
    <p:sldId id="881" r:id="rId110"/>
    <p:sldId id="876" r:id="rId111"/>
    <p:sldId id="862" r:id="rId112"/>
    <p:sldId id="1497" r:id="rId113"/>
    <p:sldId id="1498" r:id="rId114"/>
    <p:sldId id="1499" r:id="rId115"/>
    <p:sldId id="1500" r:id="rId116"/>
    <p:sldId id="1501" r:id="rId117"/>
    <p:sldId id="1686" r:id="rId118"/>
    <p:sldId id="1503" r:id="rId119"/>
    <p:sldId id="345" r:id="rId120"/>
    <p:sldId id="694" r:id="rId121"/>
    <p:sldId id="882" r:id="rId122"/>
    <p:sldId id="883" r:id="rId123"/>
    <p:sldId id="884" r:id="rId124"/>
    <p:sldId id="894" r:id="rId125"/>
    <p:sldId id="895" r:id="rId126"/>
    <p:sldId id="896" r:id="rId127"/>
    <p:sldId id="897" r:id="rId128"/>
  </p:sldIdLst>
  <p:sldSz cx="9144000" cy="6858000" type="screen4x3"/>
  <p:notesSz cx="7315200" cy="9601200"/>
  <p:defaultTextStyle>
    <a:defPPr>
      <a:defRPr lang="en-US"/>
    </a:defPPr>
    <a:lvl1pPr algn="l" rtl="0" eaLnBrk="0" fontAlgn="base" hangingPunct="0">
      <a:spcBef>
        <a:spcPct val="0"/>
      </a:spcBef>
      <a:spcAft>
        <a:spcPct val="0"/>
      </a:spcAft>
      <a:defRPr kern="1200">
        <a:solidFill>
          <a:schemeClr val="tx1"/>
        </a:solidFill>
        <a:latin typeface="Arial" panose="020B0604020202090204" pitchFamily="34" charset="0"/>
        <a:ea typeface="MS PGothic" charset="0"/>
        <a:cs typeface="MS PGothic" charset="0"/>
      </a:defRPr>
    </a:lvl1pPr>
    <a:lvl2pPr marL="457200" algn="l" rtl="0" eaLnBrk="0" fontAlgn="base" hangingPunct="0">
      <a:spcBef>
        <a:spcPct val="0"/>
      </a:spcBef>
      <a:spcAft>
        <a:spcPct val="0"/>
      </a:spcAft>
      <a:defRPr kern="1200">
        <a:solidFill>
          <a:schemeClr val="tx1"/>
        </a:solidFill>
        <a:latin typeface="Arial" panose="020B0604020202090204" pitchFamily="34" charset="0"/>
        <a:ea typeface="MS PGothic" charset="0"/>
        <a:cs typeface="MS PGothic" charset="0"/>
      </a:defRPr>
    </a:lvl2pPr>
    <a:lvl3pPr marL="914400" algn="l" rtl="0" eaLnBrk="0" fontAlgn="base" hangingPunct="0">
      <a:spcBef>
        <a:spcPct val="0"/>
      </a:spcBef>
      <a:spcAft>
        <a:spcPct val="0"/>
      </a:spcAft>
      <a:defRPr kern="1200">
        <a:solidFill>
          <a:schemeClr val="tx1"/>
        </a:solidFill>
        <a:latin typeface="Arial" panose="020B0604020202090204" pitchFamily="34" charset="0"/>
        <a:ea typeface="MS PGothic" charset="0"/>
        <a:cs typeface="MS PGothic" charset="0"/>
      </a:defRPr>
    </a:lvl3pPr>
    <a:lvl4pPr marL="1371600" algn="l" rtl="0" eaLnBrk="0" fontAlgn="base" hangingPunct="0">
      <a:spcBef>
        <a:spcPct val="0"/>
      </a:spcBef>
      <a:spcAft>
        <a:spcPct val="0"/>
      </a:spcAft>
      <a:defRPr kern="1200">
        <a:solidFill>
          <a:schemeClr val="tx1"/>
        </a:solidFill>
        <a:latin typeface="Arial" panose="020B0604020202090204" pitchFamily="34" charset="0"/>
        <a:ea typeface="MS PGothic" charset="0"/>
        <a:cs typeface="MS PGothic" charset="0"/>
      </a:defRPr>
    </a:lvl4pPr>
    <a:lvl5pPr marL="1828800" algn="l" rtl="0" eaLnBrk="0" fontAlgn="base" hangingPunct="0">
      <a:spcBef>
        <a:spcPct val="0"/>
      </a:spcBef>
      <a:spcAft>
        <a:spcPct val="0"/>
      </a:spcAft>
      <a:defRPr kern="1200">
        <a:solidFill>
          <a:schemeClr val="tx1"/>
        </a:solidFill>
        <a:latin typeface="Arial" panose="020B0604020202090204" pitchFamily="34" charset="0"/>
        <a:ea typeface="MS PGothic" charset="0"/>
        <a:cs typeface="MS PGothic" charset="0"/>
      </a:defRPr>
    </a:lvl5pPr>
    <a:lvl6pPr marL="2286000" algn="l" defTabSz="457200" rtl="0" eaLnBrk="1" latinLnBrk="0" hangingPunct="1">
      <a:defRPr kern="1200">
        <a:solidFill>
          <a:schemeClr val="tx1"/>
        </a:solidFill>
        <a:latin typeface="Arial" panose="020B0604020202090204" pitchFamily="34" charset="0"/>
        <a:ea typeface="MS PGothic" charset="0"/>
        <a:cs typeface="MS PGothic" charset="0"/>
      </a:defRPr>
    </a:lvl6pPr>
    <a:lvl7pPr marL="2743200" algn="l" defTabSz="457200" rtl="0" eaLnBrk="1" latinLnBrk="0" hangingPunct="1">
      <a:defRPr kern="1200">
        <a:solidFill>
          <a:schemeClr val="tx1"/>
        </a:solidFill>
        <a:latin typeface="Arial" panose="020B0604020202090204" pitchFamily="34" charset="0"/>
        <a:ea typeface="MS PGothic" charset="0"/>
        <a:cs typeface="MS PGothic" charset="0"/>
      </a:defRPr>
    </a:lvl7pPr>
    <a:lvl8pPr marL="3200400" algn="l" defTabSz="457200" rtl="0" eaLnBrk="1" latinLnBrk="0" hangingPunct="1">
      <a:defRPr kern="1200">
        <a:solidFill>
          <a:schemeClr val="tx1"/>
        </a:solidFill>
        <a:latin typeface="Arial" panose="020B0604020202090204" pitchFamily="34" charset="0"/>
        <a:ea typeface="MS PGothic" charset="0"/>
        <a:cs typeface="MS PGothic" charset="0"/>
      </a:defRPr>
    </a:lvl8pPr>
    <a:lvl9pPr marL="3657600" algn="l" defTabSz="457200" rtl="0" eaLnBrk="1" latinLnBrk="0" hangingPunct="1">
      <a:defRPr kern="1200">
        <a:solidFill>
          <a:schemeClr val="tx1"/>
        </a:solidFill>
        <a:latin typeface="Arial" panose="020B0604020202090204" pitchFamily="34" charset="0"/>
        <a:ea typeface="MS PGothic" charset="0"/>
        <a:cs typeface="MS PGothic" charset="0"/>
      </a:defRPr>
    </a:lvl9pPr>
  </p:defaultTextStyle>
  <p:extLst>
    <p:ext uri="{EFAFB233-063F-42B5-8137-9DF3F51BA10A}">
      <p15:sldGuideLst xmlns:p15="http://schemas.microsoft.com/office/powerpoint/2012/main">
        <p15:guide id="1" orient="horz" pos="2078" userDrawn="1">
          <p15:clr>
            <a:srgbClr val="A4A3A4"/>
          </p15:clr>
        </p15:guide>
        <p15:guide id="2" pos="2863"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00000"/>
    <a:srgbClr val="008000"/>
    <a:srgbClr val="FFFF00"/>
    <a:srgbClr val="DDDDDD"/>
    <a:srgbClr val="FFCCFF"/>
    <a:srgbClr val="000099"/>
    <a:srgbClr val="FF0000"/>
    <a:srgbClr val="66CCFF"/>
    <a:srgbClr val="CC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8881" autoAdjust="0"/>
    <p:restoredTop sz="76480"/>
  </p:normalViewPr>
  <p:slideViewPr>
    <p:cSldViewPr snapToGrid="0" showGuides="1">
      <p:cViewPr varScale="1">
        <p:scale>
          <a:sx n="57" d="100"/>
          <a:sy n="57" d="100"/>
        </p:scale>
        <p:origin x="54" y="366"/>
      </p:cViewPr>
      <p:guideLst>
        <p:guide orient="horz" pos="2078"/>
        <p:guide pos="2863"/>
      </p:guideLst>
    </p:cSldViewPr>
  </p:slideViewPr>
  <p:notesTextViewPr>
    <p:cViewPr>
      <p:scale>
        <a:sx n="100" d="100"/>
        <a:sy n="100" d="100"/>
      </p:scale>
      <p:origin x="0" y="0"/>
    </p:cViewPr>
  </p:notesTextViewPr>
  <p:sorterViewPr>
    <p:cViewPr>
      <p:scale>
        <a:sx n="66" d="100"/>
        <a:sy n="66" d="100"/>
      </p:scale>
      <p:origin x="0" y="14322"/>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1" Type="http://schemas.openxmlformats.org/officeDocument/2006/relationships/slide" Target="slides/slide17.xml"/><Relationship Id="rId42" Type="http://schemas.openxmlformats.org/officeDocument/2006/relationships/slide" Target="slides/slide38.xml"/><Relationship Id="rId63" Type="http://schemas.openxmlformats.org/officeDocument/2006/relationships/slide" Target="slides/slide59.xml"/><Relationship Id="rId84" Type="http://schemas.openxmlformats.org/officeDocument/2006/relationships/slide" Target="slides/slide80.xml"/><Relationship Id="rId16" Type="http://schemas.openxmlformats.org/officeDocument/2006/relationships/slide" Target="slides/slide12.xml"/><Relationship Id="rId107" Type="http://schemas.openxmlformats.org/officeDocument/2006/relationships/slide" Target="slides/slide103.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28" Type="http://schemas.openxmlformats.org/officeDocument/2006/relationships/slide" Target="slides/slide124.xml"/><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slide" Target="slides/slide9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113" Type="http://schemas.openxmlformats.org/officeDocument/2006/relationships/slide" Target="slides/slide109.xml"/><Relationship Id="rId118" Type="http://schemas.openxmlformats.org/officeDocument/2006/relationships/slide" Target="slides/slide114.xml"/><Relationship Id="rId134" Type="http://schemas.openxmlformats.org/officeDocument/2006/relationships/tableStyles" Target="tableStyles.xml"/><Relationship Id="rId80" Type="http://schemas.openxmlformats.org/officeDocument/2006/relationships/slide" Target="slides/slide76.xml"/><Relationship Id="rId85" Type="http://schemas.openxmlformats.org/officeDocument/2006/relationships/slide" Target="slides/slide81.xml"/><Relationship Id="rId12" Type="http://schemas.openxmlformats.org/officeDocument/2006/relationships/slide" Target="slides/slide8.xml"/><Relationship Id="rId17" Type="http://schemas.openxmlformats.org/officeDocument/2006/relationships/slide" Target="slides/slide13.xml"/><Relationship Id="rId33" Type="http://schemas.openxmlformats.org/officeDocument/2006/relationships/slide" Target="slides/slide29.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08" Type="http://schemas.openxmlformats.org/officeDocument/2006/relationships/slide" Target="slides/slide104.xml"/><Relationship Id="rId124" Type="http://schemas.openxmlformats.org/officeDocument/2006/relationships/slide" Target="slides/slide120.xml"/><Relationship Id="rId129" Type="http://schemas.openxmlformats.org/officeDocument/2006/relationships/notesMaster" Target="notesMasters/notesMaster1.xml"/><Relationship Id="rId54" Type="http://schemas.openxmlformats.org/officeDocument/2006/relationships/slide" Target="slides/slide50.xml"/><Relationship Id="rId70" Type="http://schemas.openxmlformats.org/officeDocument/2006/relationships/slide" Target="slides/slide66.xml"/><Relationship Id="rId75" Type="http://schemas.openxmlformats.org/officeDocument/2006/relationships/slide" Target="slides/slide71.xml"/><Relationship Id="rId91" Type="http://schemas.openxmlformats.org/officeDocument/2006/relationships/slide" Target="slides/slide87.xml"/><Relationship Id="rId96" Type="http://schemas.openxmlformats.org/officeDocument/2006/relationships/slide" Target="slides/slide92.xml"/><Relationship Id="rId1" Type="http://schemas.openxmlformats.org/officeDocument/2006/relationships/slideMaster" Target="slideMasters/slideMaster1.xml"/><Relationship Id="rId6" Type="http://schemas.openxmlformats.org/officeDocument/2006/relationships/slide" Target="slides/slide2.xml"/><Relationship Id="rId23" Type="http://schemas.openxmlformats.org/officeDocument/2006/relationships/slide" Target="slides/slide19.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119" Type="http://schemas.openxmlformats.org/officeDocument/2006/relationships/slide" Target="slides/slide115.xml"/><Relationship Id="rId44" Type="http://schemas.openxmlformats.org/officeDocument/2006/relationships/slide" Target="slides/slide40.xml"/><Relationship Id="rId60" Type="http://schemas.openxmlformats.org/officeDocument/2006/relationships/slide" Target="slides/slide56.xml"/><Relationship Id="rId65" Type="http://schemas.openxmlformats.org/officeDocument/2006/relationships/slide" Target="slides/slide61.xml"/><Relationship Id="rId81" Type="http://schemas.openxmlformats.org/officeDocument/2006/relationships/slide" Target="slides/slide77.xml"/><Relationship Id="rId86" Type="http://schemas.openxmlformats.org/officeDocument/2006/relationships/slide" Target="slides/slide82.xml"/><Relationship Id="rId130" Type="http://schemas.openxmlformats.org/officeDocument/2006/relationships/handoutMaster" Target="handoutMasters/handoutMaster1.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109" Type="http://schemas.openxmlformats.org/officeDocument/2006/relationships/slide" Target="slides/slide10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slide" Target="slides/slide100.xml"/><Relationship Id="rId120" Type="http://schemas.openxmlformats.org/officeDocument/2006/relationships/slide" Target="slides/slide116.xml"/><Relationship Id="rId125" Type="http://schemas.openxmlformats.org/officeDocument/2006/relationships/slide" Target="slides/slide121.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slideMaster" Target="slideMasters/slideMaster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15" Type="http://schemas.openxmlformats.org/officeDocument/2006/relationships/slide" Target="slides/slide111.xml"/><Relationship Id="rId131" Type="http://schemas.openxmlformats.org/officeDocument/2006/relationships/presProps" Target="presProps.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slide" Target="slides/slide101.xml"/><Relationship Id="rId126" Type="http://schemas.openxmlformats.org/officeDocument/2006/relationships/slide" Target="slides/slide122.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slide" Target="slides/slide94.xml"/><Relationship Id="rId121" Type="http://schemas.openxmlformats.org/officeDocument/2006/relationships/slide" Target="slides/slide117.xml"/><Relationship Id="rId3" Type="http://schemas.openxmlformats.org/officeDocument/2006/relationships/slideMaster" Target="slideMasters/slideMaster3.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116" Type="http://schemas.openxmlformats.org/officeDocument/2006/relationships/slide" Target="slides/slide112.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88" Type="http://schemas.openxmlformats.org/officeDocument/2006/relationships/slide" Target="slides/slide84.xml"/><Relationship Id="rId111" Type="http://schemas.openxmlformats.org/officeDocument/2006/relationships/slide" Target="slides/slide107.xml"/><Relationship Id="rId132" Type="http://schemas.openxmlformats.org/officeDocument/2006/relationships/viewProps" Target="viewProps.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106" Type="http://schemas.openxmlformats.org/officeDocument/2006/relationships/slide" Target="slides/slide102.xml"/><Relationship Id="rId127" Type="http://schemas.openxmlformats.org/officeDocument/2006/relationships/slide" Target="slides/slide123.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78" Type="http://schemas.openxmlformats.org/officeDocument/2006/relationships/slide" Target="slides/slide74.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4" Type="http://schemas.openxmlformats.org/officeDocument/2006/relationships/slideMaster" Target="slideMasters/slideMaster4.xml"/><Relationship Id="rId9" Type="http://schemas.openxmlformats.org/officeDocument/2006/relationships/slide" Target="slides/slide5.xml"/><Relationship Id="rId26" Type="http://schemas.openxmlformats.org/officeDocument/2006/relationships/slide" Target="slides/slide22.xml"/><Relationship Id="rId47" Type="http://schemas.openxmlformats.org/officeDocument/2006/relationships/slide" Target="slides/slide43.xml"/><Relationship Id="rId68" Type="http://schemas.openxmlformats.org/officeDocument/2006/relationships/slide" Target="slides/slide64.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theme" Target="theme/theme1.xml"/></Relationships>
</file>

<file path=ppt/diagrams/colors1.xml><?xml version="1.0" encoding="utf-8"?>
<dgm:colorsDef xmlns:dgm="http://schemas.openxmlformats.org/drawingml/2006/diagram" xmlns:a="http://schemas.openxmlformats.org/drawingml/2006/main" uniqueId="urn:microsoft.com/office/officeart/2005/8/colors/colorful1#6">
  <dgm:title val=""/>
  <dgm:desc val=""/>
  <dgm:catLst>
    <dgm:cat type="colorful" pri="10100"/>
  </dgm:catLst>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colorsDef>
</file>

<file path=ppt/diagrams/data1.xml><?xml version="1.0" encoding="utf-8"?>
<dgm:dataModel xmlns:dgm="http://schemas.openxmlformats.org/drawingml/2006/diagram" xmlns:a="http://schemas.openxmlformats.org/drawingml/2006/main">
  <dgm:ptLst>
    <dgm:pt modelId="{4533357B-E680-4D30-8206-A709B50D7624}" type="doc">
      <dgm:prSet loTypeId="urn:microsoft.com/office/officeart/2005/8/layout/vList2#1" loCatId="list" qsTypeId="urn:microsoft.com/office/officeart/2005/8/quickstyle/simple4#1" qsCatId="simple" csTypeId="urn:microsoft.com/office/officeart/2005/8/colors/colorful1#6" csCatId="colorful" phldr="1"/>
      <dgm:spPr/>
      <dgm:t>
        <a:bodyPr/>
        <a:lstStyle/>
        <a:p>
          <a:endParaRPr lang="zh-CN" altLang="en-US"/>
        </a:p>
      </dgm:t>
    </dgm:pt>
    <dgm:pt modelId="{16518293-AEFA-448E-8DCB-4EA94D6D26E9}">
      <dgm:prSet phldrT="[文本]" custT="1"/>
      <dgm:spPr>
        <a:xfrm>
          <a:off x="0" y="4659"/>
          <a:ext cx="6520872" cy="484612"/>
        </a:xfrm>
        <a:prstGeom prst="roundRect">
          <a:avLst/>
        </a:prstGeom>
        <a:gradFill rotWithShape="0">
          <a:gsLst>
            <a:gs pos="0">
              <a:srgbClr val="C0504D">
                <a:hueOff val="0"/>
                <a:satOff val="0"/>
                <a:lumOff val="0"/>
                <a:alphaOff val="0"/>
                <a:shade val="51000"/>
                <a:satMod val="130000"/>
              </a:srgbClr>
            </a:gs>
            <a:gs pos="80000">
              <a:srgbClr val="C0504D">
                <a:hueOff val="0"/>
                <a:satOff val="0"/>
                <a:lumOff val="0"/>
                <a:alphaOff val="0"/>
                <a:shade val="93000"/>
                <a:satMod val="130000"/>
              </a:srgbClr>
            </a:gs>
            <a:gs pos="100000">
              <a:srgbClr val="C0504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dgm:spPr>
      <dgm:t>
        <a:bodyPr/>
        <a:lstStyle/>
        <a:p>
          <a:pPr>
            <a:buNone/>
          </a:pPr>
          <a:r>
            <a:rPr lang="zh-CN" altLang="en-US" sz="2000" b="1" dirty="0">
              <a:solidFill>
                <a:sysClr val="window" lastClr="FFFFFF"/>
              </a:solidFill>
              <a:latin typeface="微软雅黑" panose="020B0503020204020204" pitchFamily="34" charset="-122"/>
              <a:ea typeface="微软雅黑" panose="020B0503020204020204" pitchFamily="34" charset="-122"/>
              <a:cs typeface="+mn-cs"/>
            </a:rPr>
            <a:t>关于“最佳路由”</a:t>
          </a:r>
        </a:p>
      </dgm:t>
    </dgm:pt>
    <dgm:pt modelId="{8ED58918-7B83-421A-963D-28174E03A511}" type="parTrans" cxnId="{E79BBE40-20A4-41EE-AD80-DB60FF68BEC7}">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8748E35-BABA-4D79-9B11-5D2B51A27A71}" type="sibTrans" cxnId="{E79BBE40-20A4-41EE-AD80-DB60FF68BEC7}">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0BC86A4-9190-42EE-99B2-658A1A49036F}">
      <dgm:prSet phldrT="[文本]" phldr="0" custT="1"/>
      <dgm:spPr>
        <a:xfrm>
          <a:off x="0" y="489272"/>
          <a:ext cx="6520872" cy="1195424"/>
        </a:xfrm>
        <a:prstGeom prst="rect">
          <a:avLst/>
        </a:prstGeom>
        <a:noFill/>
        <a:ln>
          <a:noFill/>
        </a:ln>
        <a:effectLst/>
      </dgm:spPr>
      <dgm:t>
        <a:bodyPr vert="horz" wrap="square"/>
        <a:lstStyle/>
        <a:p>
          <a:pPr eaLnBrk="1" fontAlgn="auto" latinLnBrk="0" hangingPunct="1">
            <a:lnSpc>
              <a:spcPts val="3200"/>
            </a:lnSpc>
            <a:spcBef>
              <a:spcPct val="0"/>
            </a:spcBef>
            <a:spcAft>
              <a:spcPts val="600"/>
            </a:spcAft>
          </a:pPr>
          <a:r>
            <a:rPr lang="zh-CN" altLang="en-US" sz="2000" b="1"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不存在一种绝对的最佳路由算法。</a:t>
          </a:r>
        </a:p>
      </dgm:t>
    </dgm:pt>
    <dgm:pt modelId="{B6072E33-630B-42F5-8DAE-99755D96236B}" type="parTrans" cxnId="{AF44B577-D33F-403D-A533-E0ABDE0C8E6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1ABABF71-BE3E-4043-A613-94AC93A7F26B}" type="sibTrans" cxnId="{AF44B577-D33F-403D-A533-E0ABDE0C8E64}">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A6CA49F9-D42F-44FC-BF63-A788389B6C8D}">
      <dgm:prSet phldr="0" custT="1"/>
      <dgm:spPr/>
      <dgm:t>
        <a:bodyPr vert="horz" wrap="square"/>
        <a:lstStyle/>
        <a:p>
          <a:pPr eaLnBrk="1" fontAlgn="auto" latinLnBrk="0" hangingPunct="1">
            <a:lnSpc>
              <a:spcPts val="3200"/>
            </a:lnSpc>
            <a:spcBef>
              <a:spcPct val="0"/>
            </a:spcBef>
            <a:spcAft>
              <a:spcPts val="600"/>
            </a:spcAft>
          </a:pPr>
          <a:r>
            <a:rPr lang="zh-CN" altLang="en-US" sz="2000" b="1"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所谓“最佳”只能是相对于某一种特定要求下得出的较为合理的选择而已。</a:t>
          </a:r>
        </a:p>
      </dgm:t>
    </dgm:pt>
    <dgm:pt modelId="{CA888EC1-1E9A-4588-B5BD-3C159579CBA9}" type="parTrans" cxnId="{D58CBA15-C9F5-4C22-9961-BADC0A2CA659}">
      <dgm:prSet/>
      <dgm:spPr/>
    </dgm:pt>
    <dgm:pt modelId="{57CBD9C6-A13F-4F8C-B369-C989744D90E9}" type="sibTrans" cxnId="{D58CBA15-C9F5-4C22-9961-BADC0A2CA659}">
      <dgm:prSet/>
      <dgm:spPr/>
    </dgm:pt>
    <dgm:pt modelId="{F5730B7D-06C1-42C1-A476-C2FDE55A3E37}">
      <dgm:prSet phldr="0" custT="1"/>
      <dgm:spPr/>
      <dgm:t>
        <a:bodyPr vert="horz" wrap="square"/>
        <a:lstStyle/>
        <a:p>
          <a:pPr>
            <a:lnSpc>
              <a:spcPct val="100000"/>
            </a:lnSpc>
            <a:spcBef>
              <a:spcPct val="0"/>
            </a:spcBef>
            <a:spcAft>
              <a:spcPct val="20000"/>
            </a:spcAft>
          </a:pPr>
          <a:endParaRPr lang="zh-CN" altLang="en-US" sz="1800" b="1"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endParaRPr>
        </a:p>
      </dgm:t>
    </dgm:pt>
    <dgm:pt modelId="{6D04793E-DBF9-4999-855D-7E815CE13EC3}" type="parTrans" cxnId="{30B37CC0-F136-4A78-BF3A-0198505BADC7}">
      <dgm:prSet/>
      <dgm:spPr/>
    </dgm:pt>
    <dgm:pt modelId="{70B022C0-97BF-42D5-ACDA-16B07564D183}" type="sibTrans" cxnId="{30B37CC0-F136-4A78-BF3A-0198505BADC7}">
      <dgm:prSet/>
      <dgm:spPr/>
    </dgm:pt>
    <dgm:pt modelId="{89BDB0A5-F0F3-4706-9AFB-422B45FD153E}">
      <dgm:prSet phldrT="[文本]" custT="1"/>
      <dgm:spPr>
        <a:xfrm>
          <a:off x="0" y="1684697"/>
          <a:ext cx="6520872" cy="484612"/>
        </a:xfrm>
        <a:prstGeom prst="roundRect">
          <a:avLst/>
        </a:prstGeom>
        <a:gradFill rotWithShape="0">
          <a:gsLst>
            <a:gs pos="0">
              <a:srgbClr val="9BBB59">
                <a:hueOff val="0"/>
                <a:satOff val="0"/>
                <a:lumOff val="0"/>
                <a:alphaOff val="0"/>
                <a:shade val="51000"/>
                <a:satMod val="130000"/>
              </a:srgbClr>
            </a:gs>
            <a:gs pos="80000">
              <a:srgbClr val="9BBB59">
                <a:hueOff val="0"/>
                <a:satOff val="0"/>
                <a:lumOff val="0"/>
                <a:alphaOff val="0"/>
                <a:shade val="93000"/>
                <a:satMod val="130000"/>
              </a:srgbClr>
            </a:gs>
            <a:gs pos="100000">
              <a:srgbClr val="9BBB59">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dgm:spPr>
      <dgm:t>
        <a:bodyPr/>
        <a:lstStyle/>
        <a:p>
          <a:pPr>
            <a:buNone/>
          </a:pPr>
          <a:r>
            <a:rPr lang="zh-CN" altLang="en-US" sz="2000" b="1" dirty="0">
              <a:solidFill>
                <a:schemeClr val="bg1"/>
              </a:solidFill>
              <a:latin typeface="微软雅黑" panose="020B0503020204020204" pitchFamily="34" charset="-122"/>
              <a:ea typeface="微软雅黑" panose="020B0503020204020204" pitchFamily="34" charset="-122"/>
              <a:cs typeface="+mn-cs"/>
            </a:rPr>
            <a:t>路由选择非常复杂</a:t>
          </a:r>
        </a:p>
      </dgm:t>
    </dgm:pt>
    <dgm:pt modelId="{E2DBBCBF-1890-4F06-A86E-DCDA76FC258B}" type="parTrans" cxnId="{352292F5-FC39-45F2-BBD1-410CE53004B9}">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8F3E56C1-0952-4029-B826-24948108077B}" type="sibTrans" cxnId="{352292F5-FC39-45F2-BBD1-410CE53004B9}">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320C1749-000D-4777-85FF-5C0C6DCF8545}">
      <dgm:prSet phldrT="[文本]" phldr="0" custT="1"/>
      <dgm:spPr>
        <a:xfrm>
          <a:off x="0" y="2169309"/>
          <a:ext cx="6520872" cy="1304100"/>
        </a:xfrm>
        <a:prstGeom prst="rect">
          <a:avLst/>
        </a:prstGeom>
        <a:noFill/>
        <a:ln>
          <a:noFill/>
        </a:ln>
        <a:effectLst/>
      </dgm:spPr>
      <dgm:t>
        <a:bodyPr vert="horz" wrap="square"/>
        <a:lstStyle/>
        <a:p>
          <a:pPr eaLnBrk="1" fontAlgn="auto" latinLnBrk="0" hangingPunct="1">
            <a:lnSpc>
              <a:spcPts val="3000"/>
            </a:lnSpc>
            <a:spcBef>
              <a:spcPct val="0"/>
            </a:spcBef>
            <a:spcAft>
              <a:spcPts val="600"/>
            </a:spcAft>
          </a:pPr>
          <a:r>
            <a:rPr lang="zh-CN" altLang="en-US" sz="2000" b="1"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需要所有节点共同协调工作的。</a:t>
          </a:r>
        </a:p>
      </dgm:t>
    </dgm:pt>
    <dgm:pt modelId="{294E8973-375F-47DD-99FD-A3095944FF77}" type="parTrans" cxnId="{F3DA6E67-1026-4FCD-9316-2586539C814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5369DBC2-77C3-4BDD-A686-61AAFD126298}" type="sibTrans" cxnId="{F3DA6E67-1026-4FCD-9316-2586539C8145}">
      <dgm:prSet/>
      <dgm:spPr/>
      <dgm:t>
        <a:bodyPr/>
        <a:lstStyle/>
        <a:p>
          <a:endParaRPr lang="zh-CN" altLang="en-US" sz="2000" b="1">
            <a:latin typeface="微软雅黑" panose="020B0503020204020204" pitchFamily="34" charset="-122"/>
            <a:ea typeface="微软雅黑" panose="020B0503020204020204" pitchFamily="34" charset="-122"/>
          </a:endParaRPr>
        </a:p>
      </dgm:t>
    </dgm:pt>
    <dgm:pt modelId="{B1DBC392-568D-4F5E-9709-B680F3D2DE4C}">
      <dgm:prSet phldr="0" custT="1"/>
      <dgm:spPr/>
      <dgm:t>
        <a:bodyPr vert="horz" wrap="square"/>
        <a:lstStyle/>
        <a:p>
          <a:pPr eaLnBrk="1" fontAlgn="auto" latinLnBrk="0" hangingPunct="1">
            <a:lnSpc>
              <a:spcPts val="3000"/>
            </a:lnSpc>
            <a:spcBef>
              <a:spcPct val="0"/>
            </a:spcBef>
            <a:spcAft>
              <a:spcPts val="600"/>
            </a:spcAft>
          </a:pPr>
          <a:r>
            <a:rPr lang="zh-CN" altLang="en-US" sz="2000" b="1"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环境不断变化，而这种变化有时无法事先知道。</a:t>
          </a:r>
        </a:p>
      </dgm:t>
    </dgm:pt>
    <dgm:pt modelId="{004D5AA0-A5B7-4471-8A9E-EF866C2D3397}" type="parTrans" cxnId="{4C799931-1722-4C50-AF5E-0885B1E976AB}">
      <dgm:prSet/>
      <dgm:spPr/>
    </dgm:pt>
    <dgm:pt modelId="{6D401CA8-CFDF-420C-8BA4-4AC53AB56681}" type="sibTrans" cxnId="{4C799931-1722-4C50-AF5E-0885B1E976AB}">
      <dgm:prSet/>
      <dgm:spPr/>
    </dgm:pt>
    <dgm:pt modelId="{B26A9EC2-3E5C-46B1-B214-5FD27809B164}">
      <dgm:prSet phldr="0" custT="1"/>
      <dgm:spPr/>
      <dgm:t>
        <a:bodyPr vert="horz" wrap="square"/>
        <a:lstStyle/>
        <a:p>
          <a:pPr eaLnBrk="1" fontAlgn="auto" latinLnBrk="0" hangingPunct="1">
            <a:lnSpc>
              <a:spcPts val="3000"/>
            </a:lnSpc>
            <a:spcBef>
              <a:spcPct val="0"/>
            </a:spcBef>
            <a:spcAft>
              <a:spcPts val="600"/>
            </a:spcAft>
          </a:pPr>
          <a:r>
            <a:rPr lang="zh-CN" altLang="en-US" sz="2000" b="1"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当网络发生拥塞时，很难获得所需的路由选择信息。</a:t>
          </a:r>
          <a:endParaRPr sz="6300"/>
        </a:p>
      </dgm:t>
    </dgm:pt>
    <dgm:pt modelId="{DF02DB78-CA23-442A-9B2F-557820942CAF}" type="parTrans" cxnId="{8E34DCE8-0339-448D-BC40-BB265FA3DBAE}">
      <dgm:prSet/>
      <dgm:spPr/>
    </dgm:pt>
    <dgm:pt modelId="{1DB8C20A-F9BE-4C57-80A5-11FA378F0EA4}" type="sibTrans" cxnId="{8E34DCE8-0339-448D-BC40-BB265FA3DBAE}">
      <dgm:prSet/>
      <dgm:spPr/>
    </dgm:pt>
    <dgm:pt modelId="{BE7E2D9E-C291-4AD1-9C46-EBC6D82E26F0}" type="pres">
      <dgm:prSet presAssocID="{4533357B-E680-4D30-8206-A709B50D7624}" presName="linear" presStyleCnt="0">
        <dgm:presLayoutVars>
          <dgm:animLvl val="lvl"/>
          <dgm:resizeHandles val="exact"/>
        </dgm:presLayoutVars>
      </dgm:prSet>
      <dgm:spPr/>
    </dgm:pt>
    <dgm:pt modelId="{4B5FE49D-F768-452D-A9A2-52FCD77827E0}" type="pres">
      <dgm:prSet presAssocID="{16518293-AEFA-448E-8DCB-4EA94D6D26E9}" presName="parentText" presStyleLbl="node1" presStyleIdx="0" presStyleCnt="2" custScaleY="41196">
        <dgm:presLayoutVars>
          <dgm:chMax val="0"/>
          <dgm:bulletEnabled val="1"/>
        </dgm:presLayoutVars>
      </dgm:prSet>
      <dgm:spPr/>
    </dgm:pt>
    <dgm:pt modelId="{CCA9AB54-F7DF-42DA-BB14-49BA708108B7}" type="pres">
      <dgm:prSet presAssocID="{16518293-AEFA-448E-8DCB-4EA94D6D26E9}" presName="childText" presStyleLbl="revTx" presStyleIdx="0" presStyleCnt="2">
        <dgm:presLayoutVars>
          <dgm:bulletEnabled val="1"/>
        </dgm:presLayoutVars>
      </dgm:prSet>
      <dgm:spPr>
        <a:prstGeom prst="rect">
          <a:avLst/>
        </a:prstGeom>
      </dgm:spPr>
    </dgm:pt>
    <dgm:pt modelId="{EDCCA3B5-69A3-4D4F-933E-C980F139D5CE}" type="pres">
      <dgm:prSet presAssocID="{89BDB0A5-F0F3-4706-9AFB-422B45FD153E}" presName="parentText" presStyleLbl="node1" presStyleIdx="1" presStyleCnt="2" custScaleY="41196">
        <dgm:presLayoutVars>
          <dgm:chMax val="0"/>
          <dgm:bulletEnabled val="1"/>
        </dgm:presLayoutVars>
      </dgm:prSet>
      <dgm:spPr/>
    </dgm:pt>
    <dgm:pt modelId="{7CB622EB-CFF9-4CEF-9C62-0D3FB7B9D848}" type="pres">
      <dgm:prSet presAssocID="{89BDB0A5-F0F3-4706-9AFB-422B45FD153E}" presName="childText" presStyleLbl="revTx" presStyleIdx="1" presStyleCnt="2">
        <dgm:presLayoutVars>
          <dgm:bulletEnabled val="1"/>
        </dgm:presLayoutVars>
      </dgm:prSet>
      <dgm:spPr/>
    </dgm:pt>
  </dgm:ptLst>
  <dgm:cxnLst>
    <dgm:cxn modelId="{D58CBA15-C9F5-4C22-9961-BADC0A2CA659}" srcId="{16518293-AEFA-448E-8DCB-4EA94D6D26E9}" destId="{A6CA49F9-D42F-44FC-BF63-A788389B6C8D}" srcOrd="1" destOrd="0" parTransId="{CA888EC1-1E9A-4588-B5BD-3C159579CBA9}" sibTransId="{57CBD9C6-A13F-4F8C-B369-C989744D90E9}"/>
    <dgm:cxn modelId="{BF343F19-CCB1-476A-9BA1-C9AF9796B365}" type="presOf" srcId="{16518293-AEFA-448E-8DCB-4EA94D6D26E9}" destId="{4B5FE49D-F768-452D-A9A2-52FCD77827E0}" srcOrd="0" destOrd="0" presId="urn:microsoft.com/office/officeart/2005/8/layout/vList2#1"/>
    <dgm:cxn modelId="{DDD41A31-28B3-407D-9AC7-0B5F682ABD80}" type="presOf" srcId="{89BDB0A5-F0F3-4706-9AFB-422B45FD153E}" destId="{EDCCA3B5-69A3-4D4F-933E-C980F139D5CE}" srcOrd="0" destOrd="0" presId="urn:microsoft.com/office/officeart/2005/8/layout/vList2#1"/>
    <dgm:cxn modelId="{4C799931-1722-4C50-AF5E-0885B1E976AB}" srcId="{89BDB0A5-F0F3-4706-9AFB-422B45FD153E}" destId="{B1DBC392-568D-4F5E-9709-B680F3D2DE4C}" srcOrd="1" destOrd="0" parTransId="{004D5AA0-A5B7-4471-8A9E-EF866C2D3397}" sibTransId="{6D401CA8-CFDF-420C-8BA4-4AC53AB56681}"/>
    <dgm:cxn modelId="{E79BBE40-20A4-41EE-AD80-DB60FF68BEC7}" srcId="{4533357B-E680-4D30-8206-A709B50D7624}" destId="{16518293-AEFA-448E-8DCB-4EA94D6D26E9}" srcOrd="0" destOrd="0" parTransId="{8ED58918-7B83-421A-963D-28174E03A511}" sibTransId="{38748E35-BABA-4D79-9B11-5D2B51A27A71}"/>
    <dgm:cxn modelId="{F3DA6E67-1026-4FCD-9316-2586539C8145}" srcId="{89BDB0A5-F0F3-4706-9AFB-422B45FD153E}" destId="{320C1749-000D-4777-85FF-5C0C6DCF8545}" srcOrd="0" destOrd="0" parTransId="{294E8973-375F-47DD-99FD-A3095944FF77}" sibTransId="{5369DBC2-77C3-4BDD-A686-61AAFD126298}"/>
    <dgm:cxn modelId="{6E3F1472-702C-4DD5-BC13-F842FA851C95}" type="presOf" srcId="{F5730B7D-06C1-42C1-A476-C2FDE55A3E37}" destId="{CCA9AB54-F7DF-42DA-BB14-49BA708108B7}" srcOrd="0" destOrd="2" presId="urn:microsoft.com/office/officeart/2005/8/layout/vList2#1"/>
    <dgm:cxn modelId="{AF44B577-D33F-403D-A533-E0ABDE0C8E64}" srcId="{16518293-AEFA-448E-8DCB-4EA94D6D26E9}" destId="{30BC86A4-9190-42EE-99B2-658A1A49036F}" srcOrd="0" destOrd="0" parTransId="{B6072E33-630B-42F5-8DAE-99755D96236B}" sibTransId="{1ABABF71-BE3E-4043-A613-94AC93A7F26B}"/>
    <dgm:cxn modelId="{B051848E-4EE7-426A-9705-14ADEAEF39C3}" type="presOf" srcId="{4533357B-E680-4D30-8206-A709B50D7624}" destId="{BE7E2D9E-C291-4AD1-9C46-EBC6D82E26F0}" srcOrd="0" destOrd="0" presId="urn:microsoft.com/office/officeart/2005/8/layout/vList2#1"/>
    <dgm:cxn modelId="{904327AD-9D4E-4B17-9A9C-CD37C6D0B75F}" type="presOf" srcId="{A6CA49F9-D42F-44FC-BF63-A788389B6C8D}" destId="{CCA9AB54-F7DF-42DA-BB14-49BA708108B7}" srcOrd="0" destOrd="1" presId="urn:microsoft.com/office/officeart/2005/8/layout/vList2#1"/>
    <dgm:cxn modelId="{5A89B1BD-2E56-4C03-B21A-A269EEBBAD4E}" type="presOf" srcId="{B26A9EC2-3E5C-46B1-B214-5FD27809B164}" destId="{7CB622EB-CFF9-4CEF-9C62-0D3FB7B9D848}" srcOrd="0" destOrd="2" presId="urn:microsoft.com/office/officeart/2005/8/layout/vList2#1"/>
    <dgm:cxn modelId="{30B37CC0-F136-4A78-BF3A-0198505BADC7}" srcId="{16518293-AEFA-448E-8DCB-4EA94D6D26E9}" destId="{F5730B7D-06C1-42C1-A476-C2FDE55A3E37}" srcOrd="2" destOrd="0" parTransId="{6D04793E-DBF9-4999-855D-7E815CE13EC3}" sibTransId="{70B022C0-97BF-42D5-ACDA-16B07564D183}"/>
    <dgm:cxn modelId="{7FFFD2D3-735E-4AB9-8123-E206FD477595}" type="presOf" srcId="{30BC86A4-9190-42EE-99B2-658A1A49036F}" destId="{CCA9AB54-F7DF-42DA-BB14-49BA708108B7}" srcOrd="0" destOrd="0" presId="urn:microsoft.com/office/officeart/2005/8/layout/vList2#1"/>
    <dgm:cxn modelId="{720BF4E7-9A78-4D26-B5B4-0DD53F9CF009}" type="presOf" srcId="{B1DBC392-568D-4F5E-9709-B680F3D2DE4C}" destId="{7CB622EB-CFF9-4CEF-9C62-0D3FB7B9D848}" srcOrd="0" destOrd="1" presId="urn:microsoft.com/office/officeart/2005/8/layout/vList2#1"/>
    <dgm:cxn modelId="{8E34DCE8-0339-448D-BC40-BB265FA3DBAE}" srcId="{89BDB0A5-F0F3-4706-9AFB-422B45FD153E}" destId="{B26A9EC2-3E5C-46B1-B214-5FD27809B164}" srcOrd="2" destOrd="0" parTransId="{DF02DB78-CA23-442A-9B2F-557820942CAF}" sibTransId="{1DB8C20A-F9BE-4C57-80A5-11FA378F0EA4}"/>
    <dgm:cxn modelId="{541CDAF3-2A87-424D-B0AB-033018253FBB}" type="presOf" srcId="{320C1749-000D-4777-85FF-5C0C6DCF8545}" destId="{7CB622EB-CFF9-4CEF-9C62-0D3FB7B9D848}" srcOrd="0" destOrd="0" presId="urn:microsoft.com/office/officeart/2005/8/layout/vList2#1"/>
    <dgm:cxn modelId="{352292F5-FC39-45F2-BBD1-410CE53004B9}" srcId="{4533357B-E680-4D30-8206-A709B50D7624}" destId="{89BDB0A5-F0F3-4706-9AFB-422B45FD153E}" srcOrd="1" destOrd="0" parTransId="{E2DBBCBF-1890-4F06-A86E-DCDA76FC258B}" sibTransId="{8F3E56C1-0952-4029-B826-24948108077B}"/>
    <dgm:cxn modelId="{505BFCE6-4DF6-4A0A-BEC6-8670A5F9CCFB}" type="presParOf" srcId="{BE7E2D9E-C291-4AD1-9C46-EBC6D82E26F0}" destId="{4B5FE49D-F768-452D-A9A2-52FCD77827E0}" srcOrd="0" destOrd="0" presId="urn:microsoft.com/office/officeart/2005/8/layout/vList2#1"/>
    <dgm:cxn modelId="{E0FFACA8-E99B-46D2-99C4-649262BBDBBE}" type="presParOf" srcId="{BE7E2D9E-C291-4AD1-9C46-EBC6D82E26F0}" destId="{CCA9AB54-F7DF-42DA-BB14-49BA708108B7}" srcOrd="1" destOrd="0" presId="urn:microsoft.com/office/officeart/2005/8/layout/vList2#1"/>
    <dgm:cxn modelId="{1C3F3075-93BA-4A42-A65F-1687654CE4DB}" type="presParOf" srcId="{BE7E2D9E-C291-4AD1-9C46-EBC6D82E26F0}" destId="{EDCCA3B5-69A3-4D4F-933E-C980F139D5CE}" srcOrd="2" destOrd="0" presId="urn:microsoft.com/office/officeart/2005/8/layout/vList2#1"/>
    <dgm:cxn modelId="{79A4BCB4-EB86-429F-94B5-A07F5B66E577}" type="presParOf" srcId="{BE7E2D9E-C291-4AD1-9C46-EBC6D82E26F0}" destId="{7CB622EB-CFF9-4CEF-9C62-0D3FB7B9D848}" srcOrd="3" destOrd="0" presId="urn:microsoft.com/office/officeart/2005/8/layout/vList2#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B5FE49D-F768-452D-A9A2-52FCD77827E0}">
      <dsp:nvSpPr>
        <dsp:cNvPr id="0" name=""/>
        <dsp:cNvSpPr/>
      </dsp:nvSpPr>
      <dsp:spPr bwMode="white">
        <a:xfrm>
          <a:off x="0" y="134839"/>
          <a:ext cx="6981911" cy="501273"/>
        </a:xfrm>
        <a:prstGeom prst="roundRect">
          <a:avLst/>
        </a:prstGeom>
        <a:gradFill rotWithShape="0">
          <a:gsLst>
            <a:gs pos="0">
              <a:srgbClr val="C0504D">
                <a:hueOff val="0"/>
                <a:satOff val="0"/>
                <a:lumOff val="0"/>
                <a:alphaOff val="0"/>
                <a:shade val="51000"/>
                <a:satMod val="130000"/>
              </a:srgbClr>
            </a:gs>
            <a:gs pos="80000">
              <a:srgbClr val="C0504D">
                <a:hueOff val="0"/>
                <a:satOff val="0"/>
                <a:lumOff val="0"/>
                <a:alphaOff val="0"/>
                <a:shade val="93000"/>
                <a:satMod val="130000"/>
              </a:srgbClr>
            </a:gs>
            <a:gs pos="100000">
              <a:srgbClr val="C0504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dsp:spPr>
      <dsp:style>
        <a:lnRef idx="0">
          <a:schemeClr val="lt1"/>
        </a:lnRef>
        <a:fillRef idx="3">
          <a:schemeClr val="accent2"/>
        </a:fillRef>
        <a:effectRef idx="2">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zh-CN" altLang="en-US" sz="2000" b="1" kern="1200" dirty="0">
              <a:solidFill>
                <a:sysClr val="window" lastClr="FFFFFF"/>
              </a:solidFill>
              <a:latin typeface="微软雅黑" panose="020B0503020204020204" pitchFamily="34" charset="-122"/>
              <a:ea typeface="微软雅黑" panose="020B0503020204020204" pitchFamily="34" charset="-122"/>
              <a:cs typeface="+mn-cs"/>
            </a:rPr>
            <a:t>关于“最佳路由”</a:t>
          </a:r>
        </a:p>
      </dsp:txBody>
      <dsp:txXfrm>
        <a:off x="0" y="134839"/>
        <a:ext cx="6981911" cy="501273"/>
      </dsp:txXfrm>
    </dsp:sp>
    <dsp:sp modelId="{CCA9AB54-F7DF-42DA-BB14-49BA708108B7}">
      <dsp:nvSpPr>
        <dsp:cNvPr id="0" name=""/>
        <dsp:cNvSpPr/>
      </dsp:nvSpPr>
      <dsp:spPr bwMode="white">
        <a:xfrm>
          <a:off x="0" y="636111"/>
          <a:ext cx="6981911" cy="1697355"/>
        </a:xfrm>
        <a:prstGeom prst="rect">
          <a:avLst/>
        </a:prstGeom>
        <a:noFill/>
        <a:ln>
          <a:noFill/>
        </a:ln>
        <a:effectLst/>
      </dsp:spPr>
      <dsp:style>
        <a:lnRef idx="0">
          <a:schemeClr val="dk1">
            <a:alpha val="0"/>
          </a:schemeClr>
        </a:lnRef>
        <a:fillRef idx="0">
          <a:schemeClr val="lt1">
            <a:alpha val="0"/>
          </a:schemeClr>
        </a:fillRef>
        <a:effectRef idx="0">
          <a:scrgbClr r="0" g="0" b="0"/>
        </a:effectRef>
        <a:fontRef idx="minor"/>
      </dsp:style>
      <dsp:txBody>
        <a:bodyPr spcFirstLastPara="0" vert="horz" wrap="square" lIns="221675" tIns="25400" rIns="142240" bIns="25400" numCol="1" spcCol="1270" anchor="t" anchorCtr="0">
          <a:noAutofit/>
        </a:bodyPr>
        <a:lstStyle/>
        <a:p>
          <a:pPr marL="228600" lvl="1" indent="-228600" algn="l" defTabSz="889000" eaLnBrk="1" fontAlgn="auto" latinLnBrk="0" hangingPunct="1">
            <a:lnSpc>
              <a:spcPts val="3200"/>
            </a:lnSpc>
            <a:spcBef>
              <a:spcPct val="0"/>
            </a:spcBef>
            <a:spcAft>
              <a:spcPts val="600"/>
            </a:spcAft>
            <a:buChar char="•"/>
          </a:pPr>
          <a:r>
            <a:rPr lang="zh-CN" altLang="en-US" sz="2000" b="1" kern="1200"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不存在一种绝对的最佳路由算法。</a:t>
          </a:r>
        </a:p>
        <a:p>
          <a:pPr marL="228600" lvl="1" indent="-228600" algn="l" defTabSz="889000" eaLnBrk="1" fontAlgn="auto" latinLnBrk="0" hangingPunct="1">
            <a:lnSpc>
              <a:spcPts val="3200"/>
            </a:lnSpc>
            <a:spcBef>
              <a:spcPct val="0"/>
            </a:spcBef>
            <a:spcAft>
              <a:spcPts val="600"/>
            </a:spcAft>
            <a:buChar char="•"/>
          </a:pPr>
          <a:r>
            <a:rPr lang="zh-CN" altLang="en-US" sz="2000" b="1" kern="1200"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所谓“最佳”只能是相对于某一种特定要求下得出的较为合理的选择而已。</a:t>
          </a:r>
        </a:p>
        <a:p>
          <a:pPr marL="171450" lvl="1" indent="-171450" algn="l" defTabSz="800100">
            <a:lnSpc>
              <a:spcPct val="100000"/>
            </a:lnSpc>
            <a:spcBef>
              <a:spcPct val="0"/>
            </a:spcBef>
            <a:spcAft>
              <a:spcPct val="20000"/>
            </a:spcAft>
            <a:buChar char="•"/>
          </a:pPr>
          <a:endParaRPr lang="zh-CN" altLang="en-US" sz="1800" b="1" kern="1200"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endParaRPr>
        </a:p>
      </dsp:txBody>
      <dsp:txXfrm>
        <a:off x="0" y="636111"/>
        <a:ext cx="6981911" cy="1697355"/>
      </dsp:txXfrm>
    </dsp:sp>
    <dsp:sp modelId="{EDCCA3B5-69A3-4D4F-933E-C980F139D5CE}">
      <dsp:nvSpPr>
        <dsp:cNvPr id="0" name=""/>
        <dsp:cNvSpPr/>
      </dsp:nvSpPr>
      <dsp:spPr bwMode="white">
        <a:xfrm>
          <a:off x="0" y="2333467"/>
          <a:ext cx="6981911" cy="501273"/>
        </a:xfrm>
        <a:prstGeom prst="roundRect">
          <a:avLst/>
        </a:prstGeom>
        <a:gradFill rotWithShape="0">
          <a:gsLst>
            <a:gs pos="0">
              <a:srgbClr val="9BBB59">
                <a:hueOff val="0"/>
                <a:satOff val="0"/>
                <a:lumOff val="0"/>
                <a:alphaOff val="0"/>
                <a:shade val="51000"/>
                <a:satMod val="130000"/>
              </a:srgbClr>
            </a:gs>
            <a:gs pos="80000">
              <a:srgbClr val="9BBB59">
                <a:hueOff val="0"/>
                <a:satOff val="0"/>
                <a:lumOff val="0"/>
                <a:alphaOff val="0"/>
                <a:shade val="93000"/>
                <a:satMod val="130000"/>
              </a:srgbClr>
            </a:gs>
            <a:gs pos="100000">
              <a:srgbClr val="9BBB59">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dsp:spPr>
      <dsp:style>
        <a:lnRef idx="0">
          <a:schemeClr val="lt1"/>
        </a:lnRef>
        <a:fillRef idx="3">
          <a:schemeClr val="accent3"/>
        </a:fillRef>
        <a:effectRef idx="2">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zh-CN" altLang="en-US" sz="2000" b="1" kern="1200" dirty="0">
              <a:solidFill>
                <a:schemeClr val="bg1"/>
              </a:solidFill>
              <a:latin typeface="微软雅黑" panose="020B0503020204020204" pitchFamily="34" charset="-122"/>
              <a:ea typeface="微软雅黑" panose="020B0503020204020204" pitchFamily="34" charset="-122"/>
              <a:cs typeface="+mn-cs"/>
            </a:rPr>
            <a:t>路由选择非常复杂</a:t>
          </a:r>
        </a:p>
      </dsp:txBody>
      <dsp:txXfrm>
        <a:off x="0" y="2333467"/>
        <a:ext cx="6981911" cy="501273"/>
      </dsp:txXfrm>
    </dsp:sp>
    <dsp:sp modelId="{7CB622EB-CFF9-4CEF-9C62-0D3FB7B9D848}">
      <dsp:nvSpPr>
        <dsp:cNvPr id="0" name=""/>
        <dsp:cNvSpPr/>
      </dsp:nvSpPr>
      <dsp:spPr bwMode="white">
        <a:xfrm>
          <a:off x="0" y="2834739"/>
          <a:ext cx="6981911" cy="1346835"/>
        </a:xfrm>
        <a:prstGeom prst="rect">
          <a:avLst/>
        </a:prstGeom>
        <a:noFill/>
        <a:ln>
          <a:noFill/>
        </a:ln>
        <a:effectLst/>
      </dsp:spPr>
      <dsp:style>
        <a:lnRef idx="0">
          <a:schemeClr val="dk1">
            <a:alpha val="0"/>
          </a:schemeClr>
        </a:lnRef>
        <a:fillRef idx="0">
          <a:schemeClr val="lt1">
            <a:alpha val="0"/>
          </a:schemeClr>
        </a:fillRef>
        <a:effectRef idx="0">
          <a:scrgbClr r="0" g="0" b="0"/>
        </a:effectRef>
        <a:fontRef idx="minor"/>
      </dsp:style>
      <dsp:txBody>
        <a:bodyPr spcFirstLastPara="0" vert="horz" wrap="square" lIns="221675" tIns="25400" rIns="142240" bIns="25400" numCol="1" spcCol="1270" anchor="t" anchorCtr="0">
          <a:noAutofit/>
        </a:bodyPr>
        <a:lstStyle/>
        <a:p>
          <a:pPr marL="228600" lvl="1" indent="-228600" algn="l" defTabSz="889000" eaLnBrk="1" fontAlgn="auto" latinLnBrk="0" hangingPunct="1">
            <a:lnSpc>
              <a:spcPts val="3000"/>
            </a:lnSpc>
            <a:spcBef>
              <a:spcPct val="0"/>
            </a:spcBef>
            <a:spcAft>
              <a:spcPts val="600"/>
            </a:spcAft>
            <a:buChar char="•"/>
          </a:pPr>
          <a:r>
            <a:rPr lang="zh-CN" altLang="en-US" sz="2000" b="1" kern="1200"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需要所有节点共同协调工作的。</a:t>
          </a:r>
        </a:p>
        <a:p>
          <a:pPr marL="228600" lvl="1" indent="-228600" algn="l" defTabSz="889000" eaLnBrk="1" fontAlgn="auto" latinLnBrk="0" hangingPunct="1">
            <a:lnSpc>
              <a:spcPts val="3000"/>
            </a:lnSpc>
            <a:spcBef>
              <a:spcPct val="0"/>
            </a:spcBef>
            <a:spcAft>
              <a:spcPts val="600"/>
            </a:spcAft>
            <a:buChar char="•"/>
          </a:pPr>
          <a:r>
            <a:rPr lang="zh-CN" altLang="en-US" sz="2000" b="1" kern="1200"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环境不断变化，而这种变化有时无法事先知道。</a:t>
          </a:r>
        </a:p>
        <a:p>
          <a:pPr marL="228600" lvl="1" indent="-228600" algn="l" defTabSz="889000" eaLnBrk="1" fontAlgn="auto" latinLnBrk="0" hangingPunct="1">
            <a:lnSpc>
              <a:spcPts val="3000"/>
            </a:lnSpc>
            <a:spcBef>
              <a:spcPct val="0"/>
            </a:spcBef>
            <a:spcAft>
              <a:spcPts val="600"/>
            </a:spcAft>
            <a:buChar char="•"/>
          </a:pPr>
          <a:r>
            <a:rPr lang="zh-CN" altLang="en-US" sz="2000" b="1" kern="1200" dirty="0">
              <a:solidFill>
                <a:sysClr val="windowText" lastClr="000000">
                  <a:hueOff val="0"/>
                  <a:satOff val="0"/>
                  <a:lumOff val="0"/>
                  <a:alphaOff val="0"/>
                </a:sysClr>
              </a:solidFill>
              <a:latin typeface="微软雅黑" panose="020B0503020204020204" pitchFamily="34" charset="-122"/>
              <a:ea typeface="微软雅黑" panose="020B0503020204020204" pitchFamily="34" charset="-122"/>
              <a:cs typeface="+mn-cs"/>
            </a:rPr>
            <a:t>当网络发生拥塞时，很难获得所需的路由选择信息。</a:t>
          </a:r>
          <a:endParaRPr sz="6300" kern="1200"/>
        </a:p>
      </dsp:txBody>
      <dsp:txXfrm>
        <a:off x="0" y="2834739"/>
        <a:ext cx="6981911" cy="1346835"/>
      </dsp:txXfrm>
    </dsp:sp>
  </dsp:spTree>
</dsp:drawing>
</file>

<file path=ppt/diagrams/layout1.xml><?xml version="1.0" encoding="utf-8"?>
<dgm:layoutDef xmlns:dgm="http://schemas.openxmlformats.org/drawingml/2006/diagram" xmlns:a="http://schemas.openxmlformats.org/drawingml/2006/main" uniqueId="urn:microsoft.com/office/officeart/2005/8/layout/vList2#1">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rSet qsTypeId="urn:microsoft.com/office/officeart/2005/8/quickstyle/simple5"/>
        </dgm:pt>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lnSpAfChP" val="20"/>
              <dgm:param type="stBulletLvl" val="1"/>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4#1">
  <dgm:title val=""/>
  <dgm:desc val=""/>
  <dgm:catLst>
    <dgm:cat type="simple" pri="10400"/>
  </dgm:catLst>
  <dgm:scene3d>
    <a:camera prst="orthographicFront"/>
    <a:lightRig rig="threePt" dir="t"/>
  </dgm:scene3d>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22594" name="Rectangle 2"/>
          <p:cNvSpPr>
            <a:spLocks noGrp="1" noChangeArrowheads="1"/>
          </p:cNvSpPr>
          <p:nvPr>
            <p:ph type="hdr" sz="quarter"/>
          </p:nvPr>
        </p:nvSpPr>
        <p:spPr bwMode="auto">
          <a:xfrm>
            <a:off x="0" y="0"/>
            <a:ext cx="3170238" cy="479425"/>
          </a:xfrm>
          <a:prstGeom prst="rect">
            <a:avLst/>
          </a:prstGeom>
          <a:noFill/>
          <a:ln w="9525">
            <a:noFill/>
            <a:miter lim="800000"/>
          </a:ln>
          <a:effectLst/>
        </p:spPr>
        <p:txBody>
          <a:bodyPr vert="horz" wrap="square" lIns="96661" tIns="48331" rIns="96661" bIns="48331" numCol="1" anchor="t" anchorCtr="0" compatLnSpc="1"/>
          <a:lstStyle>
            <a:lvl1pPr defTabSz="967105">
              <a:defRPr sz="1300">
                <a:latin typeface="Times New Roman" panose="02020503050405090304" charset="0"/>
              </a:defRPr>
            </a:lvl1pPr>
          </a:lstStyle>
          <a:p>
            <a:pPr>
              <a:defRPr/>
            </a:pPr>
            <a:endParaRPr lang="en-US"/>
          </a:p>
        </p:txBody>
      </p:sp>
      <p:sp>
        <p:nvSpPr>
          <p:cNvPr id="622595" name="Rectangle 3"/>
          <p:cNvSpPr>
            <a:spLocks noGrp="1" noChangeArrowheads="1"/>
          </p:cNvSpPr>
          <p:nvPr>
            <p:ph type="dt" sz="quarter" idx="1"/>
          </p:nvPr>
        </p:nvSpPr>
        <p:spPr bwMode="auto">
          <a:xfrm>
            <a:off x="4143375" y="0"/>
            <a:ext cx="3170238" cy="479425"/>
          </a:xfrm>
          <a:prstGeom prst="rect">
            <a:avLst/>
          </a:prstGeom>
          <a:noFill/>
          <a:ln w="9525">
            <a:noFill/>
            <a:miter lim="800000"/>
          </a:ln>
          <a:effectLst/>
        </p:spPr>
        <p:txBody>
          <a:bodyPr vert="horz" wrap="square" lIns="96661" tIns="48331" rIns="96661" bIns="48331" numCol="1" anchor="t" anchorCtr="0" compatLnSpc="1"/>
          <a:lstStyle>
            <a:lvl1pPr algn="r" defTabSz="967105">
              <a:defRPr sz="1300">
                <a:latin typeface="Times New Roman" panose="02020503050405090304" charset="0"/>
              </a:defRPr>
            </a:lvl1pPr>
          </a:lstStyle>
          <a:p>
            <a:pPr>
              <a:defRPr/>
            </a:pPr>
            <a:endParaRPr lang="en-US"/>
          </a:p>
        </p:txBody>
      </p:sp>
      <p:sp>
        <p:nvSpPr>
          <p:cNvPr id="622596" name="Rectangle 4"/>
          <p:cNvSpPr>
            <a:spLocks noGrp="1" noChangeArrowheads="1"/>
          </p:cNvSpPr>
          <p:nvPr>
            <p:ph type="ftr" sz="quarter" idx="2"/>
          </p:nvPr>
        </p:nvSpPr>
        <p:spPr bwMode="auto">
          <a:xfrm>
            <a:off x="0" y="9120188"/>
            <a:ext cx="3170238" cy="479425"/>
          </a:xfrm>
          <a:prstGeom prst="rect">
            <a:avLst/>
          </a:prstGeom>
          <a:noFill/>
          <a:ln w="9525">
            <a:noFill/>
            <a:miter lim="800000"/>
          </a:ln>
          <a:effectLst/>
        </p:spPr>
        <p:txBody>
          <a:bodyPr vert="horz" wrap="square" lIns="96661" tIns="48331" rIns="96661" bIns="48331" numCol="1" anchor="b" anchorCtr="0" compatLnSpc="1"/>
          <a:lstStyle>
            <a:lvl1pPr defTabSz="967105">
              <a:defRPr sz="1300">
                <a:latin typeface="Times New Roman" panose="02020503050405090304" charset="0"/>
              </a:defRPr>
            </a:lvl1pPr>
          </a:lstStyle>
          <a:p>
            <a:pPr>
              <a:defRPr/>
            </a:pPr>
            <a:endParaRPr lang="en-US"/>
          </a:p>
        </p:txBody>
      </p:sp>
      <p:sp>
        <p:nvSpPr>
          <p:cNvPr id="622597" name="Rectangle 5"/>
          <p:cNvSpPr>
            <a:spLocks noGrp="1" noChangeArrowheads="1"/>
          </p:cNvSpPr>
          <p:nvPr>
            <p:ph type="sldNum" sz="quarter" idx="3"/>
          </p:nvPr>
        </p:nvSpPr>
        <p:spPr bwMode="auto">
          <a:xfrm>
            <a:off x="4143375" y="9120188"/>
            <a:ext cx="3170238" cy="479425"/>
          </a:xfrm>
          <a:prstGeom prst="rect">
            <a:avLst/>
          </a:prstGeom>
          <a:noFill/>
          <a:ln w="9525">
            <a:noFill/>
            <a:miter lim="800000"/>
          </a:ln>
          <a:effectLst/>
        </p:spPr>
        <p:txBody>
          <a:bodyPr vert="horz" wrap="square" lIns="96661" tIns="48331" rIns="96661" bIns="48331" numCol="1" anchor="b" anchorCtr="0" compatLnSpc="1"/>
          <a:lstStyle>
            <a:lvl1pPr algn="r" defTabSz="967105">
              <a:defRPr sz="1300">
                <a:latin typeface="Times New Roman" panose="02020503050405090304" charset="0"/>
              </a:defRPr>
            </a:lvl1pPr>
          </a:lstStyle>
          <a:p>
            <a:pPr>
              <a:defRPr/>
            </a:pPr>
            <a:fld id="{91292653-6D28-1A4E-9097-8CD0CA4FA95B}" type="slidenum">
              <a:rPr lang="en-US"/>
              <a:t>‹#›</a:t>
            </a:fld>
            <a:endParaRPr 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hdr" sz="quarter"/>
          </p:nvPr>
        </p:nvSpPr>
        <p:spPr bwMode="auto">
          <a:xfrm>
            <a:off x="0" y="0"/>
            <a:ext cx="3170238" cy="479425"/>
          </a:xfrm>
          <a:prstGeom prst="rect">
            <a:avLst/>
          </a:prstGeom>
          <a:noFill/>
          <a:ln w="9525">
            <a:noFill/>
            <a:miter lim="800000"/>
          </a:ln>
          <a:effectLst/>
        </p:spPr>
        <p:txBody>
          <a:bodyPr vert="horz" wrap="square" lIns="96661" tIns="48331" rIns="96661" bIns="48331" numCol="1" anchor="t" anchorCtr="0" compatLnSpc="1"/>
          <a:lstStyle>
            <a:lvl1pPr defTabSz="967105">
              <a:defRPr sz="1300">
                <a:latin typeface="Times New Roman" panose="02020503050405090304" charset="0"/>
              </a:defRPr>
            </a:lvl1pPr>
          </a:lstStyle>
          <a:p>
            <a:pPr>
              <a:defRPr/>
            </a:pPr>
            <a:endParaRPr lang="en-US"/>
          </a:p>
        </p:txBody>
      </p:sp>
      <p:sp>
        <p:nvSpPr>
          <p:cNvPr id="3075" name="Rectangle 3"/>
          <p:cNvSpPr>
            <a:spLocks noGrp="1" noChangeArrowheads="1"/>
          </p:cNvSpPr>
          <p:nvPr>
            <p:ph type="dt" idx="1"/>
          </p:nvPr>
        </p:nvSpPr>
        <p:spPr bwMode="auto">
          <a:xfrm>
            <a:off x="4144963" y="0"/>
            <a:ext cx="3170237" cy="479425"/>
          </a:xfrm>
          <a:prstGeom prst="rect">
            <a:avLst/>
          </a:prstGeom>
          <a:noFill/>
          <a:ln w="9525">
            <a:noFill/>
            <a:miter lim="800000"/>
          </a:ln>
          <a:effectLst/>
        </p:spPr>
        <p:txBody>
          <a:bodyPr vert="horz" wrap="square" lIns="96661" tIns="48331" rIns="96661" bIns="48331" numCol="1" anchor="t" anchorCtr="0" compatLnSpc="1"/>
          <a:lstStyle>
            <a:lvl1pPr algn="r" defTabSz="967105">
              <a:defRPr sz="1300">
                <a:latin typeface="Times New Roman" panose="02020503050405090304" charset="0"/>
              </a:defRPr>
            </a:lvl1pPr>
          </a:lstStyle>
          <a:p>
            <a:pPr>
              <a:defRPr/>
            </a:pPr>
            <a:endParaRPr lang="en-US"/>
          </a:p>
        </p:txBody>
      </p:sp>
      <p:sp>
        <p:nvSpPr>
          <p:cNvPr id="39940" name="Rectangle 4"/>
          <p:cNvSpPr>
            <a:spLocks noGrp="1" noRot="1" noChangeAspect="1" noChangeArrowheads="1" noTextEdit="1"/>
          </p:cNvSpPr>
          <p:nvPr>
            <p:ph type="sldImg" idx="2"/>
          </p:nvPr>
        </p:nvSpPr>
        <p:spPr bwMode="auto">
          <a:xfrm>
            <a:off x="1257300" y="720725"/>
            <a:ext cx="4800600" cy="3600450"/>
          </a:xfrm>
          <a:prstGeom prst="rect">
            <a:avLst/>
          </a:prstGeom>
          <a:noFill/>
          <a:ln w="9525">
            <a:solidFill>
              <a:srgbClr val="000000"/>
            </a:solidFill>
            <a:miter lim="800000"/>
          </a:ln>
        </p:spPr>
      </p:sp>
      <p:sp>
        <p:nvSpPr>
          <p:cNvPr id="3077" name="Rectangle 5"/>
          <p:cNvSpPr>
            <a:spLocks noGrp="1" noChangeArrowheads="1"/>
          </p:cNvSpPr>
          <p:nvPr>
            <p:ph type="body" sz="quarter" idx="3"/>
          </p:nvPr>
        </p:nvSpPr>
        <p:spPr bwMode="auto">
          <a:xfrm>
            <a:off x="974725" y="4560888"/>
            <a:ext cx="5365750" cy="4319587"/>
          </a:xfrm>
          <a:prstGeom prst="rect">
            <a:avLst/>
          </a:prstGeom>
          <a:noFill/>
          <a:ln w="9525">
            <a:noFill/>
            <a:miter lim="800000"/>
          </a:ln>
          <a:effectLst/>
        </p:spPr>
        <p:txBody>
          <a:bodyPr vert="horz" wrap="square" lIns="96661" tIns="48331" rIns="96661" bIns="48331" numCol="1" anchor="t" anchorCtr="0" compatLnSpc="1"/>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078" name="Rectangle 6"/>
          <p:cNvSpPr>
            <a:spLocks noGrp="1" noChangeArrowheads="1"/>
          </p:cNvSpPr>
          <p:nvPr>
            <p:ph type="ftr" sz="quarter" idx="4"/>
          </p:nvPr>
        </p:nvSpPr>
        <p:spPr bwMode="auto">
          <a:xfrm>
            <a:off x="0" y="9121775"/>
            <a:ext cx="3170238" cy="479425"/>
          </a:xfrm>
          <a:prstGeom prst="rect">
            <a:avLst/>
          </a:prstGeom>
          <a:noFill/>
          <a:ln w="9525">
            <a:noFill/>
            <a:miter lim="800000"/>
          </a:ln>
          <a:effectLst/>
        </p:spPr>
        <p:txBody>
          <a:bodyPr vert="horz" wrap="square" lIns="96661" tIns="48331" rIns="96661" bIns="48331" numCol="1" anchor="b" anchorCtr="0" compatLnSpc="1"/>
          <a:lstStyle>
            <a:lvl1pPr defTabSz="967105">
              <a:defRPr sz="1300">
                <a:latin typeface="Times New Roman" panose="02020503050405090304" charset="0"/>
              </a:defRPr>
            </a:lvl1pPr>
          </a:lstStyle>
          <a:p>
            <a:pPr>
              <a:defRPr/>
            </a:pPr>
            <a:endParaRPr lang="en-US"/>
          </a:p>
        </p:txBody>
      </p:sp>
      <p:sp>
        <p:nvSpPr>
          <p:cNvPr id="3079" name="Rectangle 7"/>
          <p:cNvSpPr>
            <a:spLocks noGrp="1" noChangeArrowheads="1"/>
          </p:cNvSpPr>
          <p:nvPr>
            <p:ph type="sldNum" sz="quarter" idx="5"/>
          </p:nvPr>
        </p:nvSpPr>
        <p:spPr bwMode="auto">
          <a:xfrm>
            <a:off x="4144963" y="9121775"/>
            <a:ext cx="3170237" cy="479425"/>
          </a:xfrm>
          <a:prstGeom prst="rect">
            <a:avLst/>
          </a:prstGeom>
          <a:noFill/>
          <a:ln w="9525">
            <a:noFill/>
            <a:miter lim="800000"/>
          </a:ln>
          <a:effectLst/>
        </p:spPr>
        <p:txBody>
          <a:bodyPr vert="horz" wrap="square" lIns="96661" tIns="48331" rIns="96661" bIns="48331" numCol="1" anchor="b" anchorCtr="0" compatLnSpc="1"/>
          <a:lstStyle>
            <a:lvl1pPr algn="r" defTabSz="967105">
              <a:defRPr sz="1300">
                <a:latin typeface="Times New Roman" panose="02020503050405090304" charset="0"/>
              </a:defRPr>
            </a:lvl1pPr>
          </a:lstStyle>
          <a:p>
            <a:pPr>
              <a:defRPr/>
            </a:pPr>
            <a:fld id="{ACCD5E27-021E-054B-84DE-C100B224ED65}" type="slidenum">
              <a:rPr lang="en-US"/>
              <a:t>‹#›</a:t>
            </a:fld>
            <a:endParaRPr 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anose="02020503050405090304" charset="0"/>
        <a:ea typeface="MS PGothic" charset="0"/>
        <a:cs typeface="MS PGothic" charset="0"/>
      </a:defRPr>
    </a:lvl1pPr>
    <a:lvl2pPr marL="457200" algn="l" rtl="0" eaLnBrk="0" fontAlgn="base" hangingPunct="0">
      <a:spcBef>
        <a:spcPct val="30000"/>
      </a:spcBef>
      <a:spcAft>
        <a:spcPct val="0"/>
      </a:spcAft>
      <a:defRPr sz="1200" kern="1200">
        <a:solidFill>
          <a:schemeClr val="tx1"/>
        </a:solidFill>
        <a:latin typeface="Times New Roman" panose="02020503050405090304" charset="0"/>
        <a:ea typeface="MS PGothic" charset="0"/>
        <a:cs typeface="+mn-cs"/>
      </a:defRPr>
    </a:lvl2pPr>
    <a:lvl3pPr marL="914400" algn="l" rtl="0" eaLnBrk="0" fontAlgn="base" hangingPunct="0">
      <a:spcBef>
        <a:spcPct val="30000"/>
      </a:spcBef>
      <a:spcAft>
        <a:spcPct val="0"/>
      </a:spcAft>
      <a:defRPr sz="1200" kern="1200">
        <a:solidFill>
          <a:schemeClr val="tx1"/>
        </a:solidFill>
        <a:latin typeface="Times New Roman" panose="02020503050405090304" charset="0"/>
        <a:ea typeface="MS PGothic" charset="0"/>
        <a:cs typeface="+mn-cs"/>
      </a:defRPr>
    </a:lvl3pPr>
    <a:lvl4pPr marL="1371600" algn="l" rtl="0" eaLnBrk="0" fontAlgn="base" hangingPunct="0">
      <a:spcBef>
        <a:spcPct val="30000"/>
      </a:spcBef>
      <a:spcAft>
        <a:spcPct val="0"/>
      </a:spcAft>
      <a:defRPr sz="1200" kern="1200">
        <a:solidFill>
          <a:schemeClr val="tx1"/>
        </a:solidFill>
        <a:latin typeface="Times New Roman" panose="02020503050405090304" charset="0"/>
        <a:ea typeface="MS PGothic" charset="0"/>
        <a:cs typeface="+mn-cs"/>
      </a:defRPr>
    </a:lvl4pPr>
    <a:lvl5pPr marL="1828800" algn="l" rtl="0" eaLnBrk="0" fontAlgn="base" hangingPunct="0">
      <a:spcBef>
        <a:spcPct val="30000"/>
      </a:spcBef>
      <a:spcAft>
        <a:spcPct val="0"/>
      </a:spcAft>
      <a:defRPr sz="1200" kern="1200">
        <a:solidFill>
          <a:schemeClr val="tx1"/>
        </a:solidFill>
        <a:latin typeface="Times New Roman" panose="02020503050405090304" charset="0"/>
        <a:ea typeface="MS PGothic" charset="0"/>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7"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7105">
              <a:defRPr>
                <a:solidFill>
                  <a:schemeClr val="tx1"/>
                </a:solidFill>
                <a:latin typeface="Comic Sans MS" panose="030F0902030302020204" pitchFamily="66" charset="0"/>
                <a:ea typeface="宋体" pitchFamily="2" charset="-122"/>
              </a:defRPr>
            </a:lvl1pPr>
            <a:lvl2pPr marL="742950" indent="-285750" defTabSz="967105">
              <a:defRPr>
                <a:solidFill>
                  <a:schemeClr val="tx1"/>
                </a:solidFill>
                <a:latin typeface="Comic Sans MS" panose="030F0902030302020204" pitchFamily="66" charset="0"/>
                <a:ea typeface="宋体" pitchFamily="2" charset="-122"/>
              </a:defRPr>
            </a:lvl2pPr>
            <a:lvl3pPr marL="1143000" indent="-228600" defTabSz="967105">
              <a:defRPr>
                <a:solidFill>
                  <a:schemeClr val="tx1"/>
                </a:solidFill>
                <a:latin typeface="Comic Sans MS" panose="030F0902030302020204" pitchFamily="66" charset="0"/>
                <a:ea typeface="宋体" pitchFamily="2" charset="-122"/>
              </a:defRPr>
            </a:lvl3pPr>
            <a:lvl4pPr marL="1600200" indent="-228600" defTabSz="967105">
              <a:defRPr>
                <a:solidFill>
                  <a:schemeClr val="tx1"/>
                </a:solidFill>
                <a:latin typeface="Comic Sans MS" panose="030F0902030302020204" pitchFamily="66" charset="0"/>
                <a:ea typeface="宋体" pitchFamily="2" charset="-122"/>
              </a:defRPr>
            </a:lvl4pPr>
            <a:lvl5pPr marL="2057400" indent="-228600" defTabSz="967105">
              <a:defRPr>
                <a:solidFill>
                  <a:schemeClr val="tx1"/>
                </a:solidFill>
                <a:latin typeface="Comic Sans MS" panose="030F0902030302020204" pitchFamily="66" charset="0"/>
                <a:ea typeface="宋体" pitchFamily="2" charset="-122"/>
              </a:defRPr>
            </a:lvl5pPr>
            <a:lvl6pPr marL="25146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r" defTabSz="967105" rtl="0" eaLnBrk="1" fontAlgn="base" latinLnBrk="0" hangingPunct="1">
              <a:lnSpc>
                <a:spcPct val="100000"/>
              </a:lnSpc>
              <a:spcBef>
                <a:spcPct val="0"/>
              </a:spcBef>
              <a:spcAft>
                <a:spcPct val="0"/>
              </a:spcAft>
              <a:buClrTx/>
              <a:buSzTx/>
              <a:buFontTx/>
              <a:buNone/>
              <a:defRPr/>
            </a:pPr>
            <a:fld id="{92B5E1A8-F916-C84E-99AC-3DC090B1938D}" type="slidenum">
              <a:rPr kumimoji="0" lang="en-US" altLang="zh-CN" sz="13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mn-cs"/>
              </a:rPr>
              <a:t>12</a:t>
            </a:fld>
            <a:endParaRPr kumimoji="0" lang="en-US" altLang="zh-CN" sz="13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mn-cs"/>
            </a:endParaRPr>
          </a:p>
        </p:txBody>
      </p:sp>
      <p:sp>
        <p:nvSpPr>
          <p:cNvPr id="265218" name="Rectangle 2"/>
          <p:cNvSpPr>
            <a:spLocks noGrp="1" noRot="1" noChangeAspect="1" noChangeArrowheads="1" noTextEdit="1"/>
          </p:cNvSpPr>
          <p:nvPr>
            <p:ph type="sldImg"/>
          </p:nvPr>
        </p:nvSpPr>
        <p:spPr/>
      </p:sp>
      <p:sp>
        <p:nvSpPr>
          <p:cNvPr id="265219"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itchFamily="2" charset="-122"/>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7105">
              <a:defRPr>
                <a:solidFill>
                  <a:schemeClr val="tx1"/>
                </a:solidFill>
                <a:latin typeface="Comic Sans MS" panose="030F0902030302020204" pitchFamily="66" charset="0"/>
                <a:ea typeface="宋体" pitchFamily="2" charset="-122"/>
              </a:defRPr>
            </a:lvl1pPr>
            <a:lvl2pPr marL="742950" indent="-285750" defTabSz="967105">
              <a:defRPr>
                <a:solidFill>
                  <a:schemeClr val="tx1"/>
                </a:solidFill>
                <a:latin typeface="Comic Sans MS" panose="030F0902030302020204" pitchFamily="66" charset="0"/>
                <a:ea typeface="宋体" pitchFamily="2" charset="-122"/>
              </a:defRPr>
            </a:lvl2pPr>
            <a:lvl3pPr marL="1143000" indent="-228600" defTabSz="967105">
              <a:defRPr>
                <a:solidFill>
                  <a:schemeClr val="tx1"/>
                </a:solidFill>
                <a:latin typeface="Comic Sans MS" panose="030F0902030302020204" pitchFamily="66" charset="0"/>
                <a:ea typeface="宋体" pitchFamily="2" charset="-122"/>
              </a:defRPr>
            </a:lvl3pPr>
            <a:lvl4pPr marL="1600200" indent="-228600" defTabSz="967105">
              <a:defRPr>
                <a:solidFill>
                  <a:schemeClr val="tx1"/>
                </a:solidFill>
                <a:latin typeface="Comic Sans MS" panose="030F0902030302020204" pitchFamily="66" charset="0"/>
                <a:ea typeface="宋体" pitchFamily="2" charset="-122"/>
              </a:defRPr>
            </a:lvl4pPr>
            <a:lvl5pPr marL="2057400" indent="-228600" defTabSz="967105">
              <a:defRPr>
                <a:solidFill>
                  <a:schemeClr val="tx1"/>
                </a:solidFill>
                <a:latin typeface="Comic Sans MS" panose="030F0902030302020204" pitchFamily="66" charset="0"/>
                <a:ea typeface="宋体" pitchFamily="2" charset="-122"/>
              </a:defRPr>
            </a:lvl5pPr>
            <a:lvl6pPr marL="25146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r" defTabSz="967105" rtl="0" eaLnBrk="1" fontAlgn="base" latinLnBrk="0" hangingPunct="1">
              <a:lnSpc>
                <a:spcPct val="100000"/>
              </a:lnSpc>
              <a:spcBef>
                <a:spcPct val="0"/>
              </a:spcBef>
              <a:spcAft>
                <a:spcPct val="0"/>
              </a:spcAft>
              <a:buClrTx/>
              <a:buSzTx/>
              <a:buFontTx/>
              <a:buNone/>
              <a:defRPr/>
            </a:pPr>
            <a:fld id="{B9C8580C-6BDA-784D-B4DB-80C0F049B29C}" type="slidenum">
              <a:rPr kumimoji="0" lang="en-US" altLang="zh-CN" sz="13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mn-cs"/>
              </a:rPr>
              <a:t>13</a:t>
            </a:fld>
            <a:endParaRPr kumimoji="0" lang="en-US" altLang="zh-CN" sz="13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mn-cs"/>
            </a:endParaRPr>
          </a:p>
        </p:txBody>
      </p:sp>
      <p:sp>
        <p:nvSpPr>
          <p:cNvPr id="267266" name="Rectangle 2"/>
          <p:cNvSpPr>
            <a:spLocks noGrp="1" noRot="1" noChangeAspect="1" noChangeArrowheads="1" noTextEdit="1"/>
          </p:cNvSpPr>
          <p:nvPr>
            <p:ph type="sldImg"/>
          </p:nvPr>
        </p:nvSpPr>
        <p:spPr/>
      </p:sp>
      <p:sp>
        <p:nvSpPr>
          <p:cNvPr id="267267"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itchFamily="2" charset="-122"/>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3"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7105">
              <a:defRPr>
                <a:solidFill>
                  <a:schemeClr val="tx1"/>
                </a:solidFill>
                <a:latin typeface="Comic Sans MS" panose="030F0902030302020204" pitchFamily="66" charset="0"/>
                <a:ea typeface="宋体" pitchFamily="2" charset="-122"/>
              </a:defRPr>
            </a:lvl1pPr>
            <a:lvl2pPr marL="742950" indent="-285750" defTabSz="967105">
              <a:defRPr>
                <a:solidFill>
                  <a:schemeClr val="tx1"/>
                </a:solidFill>
                <a:latin typeface="Comic Sans MS" panose="030F0902030302020204" pitchFamily="66" charset="0"/>
                <a:ea typeface="宋体" pitchFamily="2" charset="-122"/>
              </a:defRPr>
            </a:lvl2pPr>
            <a:lvl3pPr marL="1143000" indent="-228600" defTabSz="967105">
              <a:defRPr>
                <a:solidFill>
                  <a:schemeClr val="tx1"/>
                </a:solidFill>
                <a:latin typeface="Comic Sans MS" panose="030F0902030302020204" pitchFamily="66" charset="0"/>
                <a:ea typeface="宋体" pitchFamily="2" charset="-122"/>
              </a:defRPr>
            </a:lvl3pPr>
            <a:lvl4pPr marL="1600200" indent="-228600" defTabSz="967105">
              <a:defRPr>
                <a:solidFill>
                  <a:schemeClr val="tx1"/>
                </a:solidFill>
                <a:latin typeface="Comic Sans MS" panose="030F0902030302020204" pitchFamily="66" charset="0"/>
                <a:ea typeface="宋体" pitchFamily="2" charset="-122"/>
              </a:defRPr>
            </a:lvl4pPr>
            <a:lvl5pPr marL="2057400" indent="-228600" defTabSz="967105">
              <a:defRPr>
                <a:solidFill>
                  <a:schemeClr val="tx1"/>
                </a:solidFill>
                <a:latin typeface="Comic Sans MS" panose="030F0902030302020204" pitchFamily="66" charset="0"/>
                <a:ea typeface="宋体" pitchFamily="2" charset="-122"/>
              </a:defRPr>
            </a:lvl5pPr>
            <a:lvl6pPr marL="25146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r" defTabSz="967105" rtl="0" eaLnBrk="1" fontAlgn="base" latinLnBrk="0" hangingPunct="1">
              <a:lnSpc>
                <a:spcPct val="100000"/>
              </a:lnSpc>
              <a:spcBef>
                <a:spcPct val="0"/>
              </a:spcBef>
              <a:spcAft>
                <a:spcPct val="0"/>
              </a:spcAft>
              <a:buClrTx/>
              <a:buSzTx/>
              <a:buFontTx/>
              <a:buNone/>
              <a:defRPr/>
            </a:pPr>
            <a:fld id="{05A0C3BE-2558-D74D-B122-6C3F11A2A15D}" type="slidenum">
              <a:rPr kumimoji="0" lang="en-US" altLang="zh-CN" sz="13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mn-cs"/>
              </a:rPr>
              <a:t>14</a:t>
            </a:fld>
            <a:endParaRPr kumimoji="0" lang="en-US" altLang="zh-CN" sz="13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mn-cs"/>
            </a:endParaRPr>
          </a:p>
        </p:txBody>
      </p:sp>
      <p:sp>
        <p:nvSpPr>
          <p:cNvPr id="269314" name="Rectangle 2"/>
          <p:cNvSpPr>
            <a:spLocks noGrp="1" noRot="1" noChangeAspect="1" noChangeArrowheads="1" noTextEdit="1"/>
          </p:cNvSpPr>
          <p:nvPr>
            <p:ph type="sldImg"/>
          </p:nvPr>
        </p:nvSpPr>
        <p:spPr/>
      </p:sp>
      <p:sp>
        <p:nvSpPr>
          <p:cNvPr id="269315"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itchFamily="2" charset="-122"/>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1"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7105">
              <a:defRPr>
                <a:solidFill>
                  <a:schemeClr val="tx1"/>
                </a:solidFill>
                <a:latin typeface="Comic Sans MS" panose="030F0902030302020204" pitchFamily="66" charset="0"/>
                <a:ea typeface="宋体" pitchFamily="2" charset="-122"/>
              </a:defRPr>
            </a:lvl1pPr>
            <a:lvl2pPr marL="742950" indent="-285750" defTabSz="967105">
              <a:defRPr>
                <a:solidFill>
                  <a:schemeClr val="tx1"/>
                </a:solidFill>
                <a:latin typeface="Comic Sans MS" panose="030F0902030302020204" pitchFamily="66" charset="0"/>
                <a:ea typeface="宋体" pitchFamily="2" charset="-122"/>
              </a:defRPr>
            </a:lvl2pPr>
            <a:lvl3pPr marL="1143000" indent="-228600" defTabSz="967105">
              <a:defRPr>
                <a:solidFill>
                  <a:schemeClr val="tx1"/>
                </a:solidFill>
                <a:latin typeface="Comic Sans MS" panose="030F0902030302020204" pitchFamily="66" charset="0"/>
                <a:ea typeface="宋体" pitchFamily="2" charset="-122"/>
              </a:defRPr>
            </a:lvl3pPr>
            <a:lvl4pPr marL="1600200" indent="-228600" defTabSz="967105">
              <a:defRPr>
                <a:solidFill>
                  <a:schemeClr val="tx1"/>
                </a:solidFill>
                <a:latin typeface="Comic Sans MS" panose="030F0902030302020204" pitchFamily="66" charset="0"/>
                <a:ea typeface="宋体" pitchFamily="2" charset="-122"/>
              </a:defRPr>
            </a:lvl4pPr>
            <a:lvl5pPr marL="2057400" indent="-228600" defTabSz="967105">
              <a:defRPr>
                <a:solidFill>
                  <a:schemeClr val="tx1"/>
                </a:solidFill>
                <a:latin typeface="Comic Sans MS" panose="030F0902030302020204" pitchFamily="66" charset="0"/>
                <a:ea typeface="宋体" pitchFamily="2" charset="-122"/>
              </a:defRPr>
            </a:lvl5pPr>
            <a:lvl6pPr marL="25146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r" defTabSz="967105" rtl="0" eaLnBrk="1" fontAlgn="base" latinLnBrk="0" hangingPunct="1">
              <a:lnSpc>
                <a:spcPct val="100000"/>
              </a:lnSpc>
              <a:spcBef>
                <a:spcPct val="0"/>
              </a:spcBef>
              <a:spcAft>
                <a:spcPct val="0"/>
              </a:spcAft>
              <a:buClrTx/>
              <a:buSzTx/>
              <a:buFontTx/>
              <a:buNone/>
              <a:defRPr/>
            </a:pPr>
            <a:fld id="{20C83645-3749-BC43-A06E-F5E87D1B4514}" type="slidenum">
              <a:rPr kumimoji="0" lang="en-US" altLang="zh-CN" sz="13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mn-cs"/>
              </a:rPr>
              <a:t>15</a:t>
            </a:fld>
            <a:endParaRPr kumimoji="0" lang="en-US" altLang="zh-CN" sz="13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mn-cs"/>
            </a:endParaRPr>
          </a:p>
        </p:txBody>
      </p:sp>
      <p:sp>
        <p:nvSpPr>
          <p:cNvPr id="271362" name="Rectangle 2"/>
          <p:cNvSpPr>
            <a:spLocks noGrp="1" noRot="1" noChangeAspect="1" noChangeArrowheads="1" noTextEdit="1"/>
          </p:cNvSpPr>
          <p:nvPr>
            <p:ph type="sldImg"/>
          </p:nvPr>
        </p:nvSpPr>
        <p:spPr/>
      </p:sp>
      <p:sp>
        <p:nvSpPr>
          <p:cNvPr id="271363"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itchFamily="2" charset="-122"/>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09"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7105">
              <a:defRPr>
                <a:solidFill>
                  <a:schemeClr val="tx1"/>
                </a:solidFill>
                <a:latin typeface="Comic Sans MS" panose="030F0902030302020204" pitchFamily="66" charset="0"/>
                <a:ea typeface="宋体" pitchFamily="2" charset="-122"/>
              </a:defRPr>
            </a:lvl1pPr>
            <a:lvl2pPr marL="742950" indent="-285750" defTabSz="967105">
              <a:defRPr>
                <a:solidFill>
                  <a:schemeClr val="tx1"/>
                </a:solidFill>
                <a:latin typeface="Comic Sans MS" panose="030F0902030302020204" pitchFamily="66" charset="0"/>
                <a:ea typeface="宋体" pitchFamily="2" charset="-122"/>
              </a:defRPr>
            </a:lvl2pPr>
            <a:lvl3pPr marL="1143000" indent="-228600" defTabSz="967105">
              <a:defRPr>
                <a:solidFill>
                  <a:schemeClr val="tx1"/>
                </a:solidFill>
                <a:latin typeface="Comic Sans MS" panose="030F0902030302020204" pitchFamily="66" charset="0"/>
                <a:ea typeface="宋体" pitchFamily="2" charset="-122"/>
              </a:defRPr>
            </a:lvl3pPr>
            <a:lvl4pPr marL="1600200" indent="-228600" defTabSz="967105">
              <a:defRPr>
                <a:solidFill>
                  <a:schemeClr val="tx1"/>
                </a:solidFill>
                <a:latin typeface="Comic Sans MS" panose="030F0902030302020204" pitchFamily="66" charset="0"/>
                <a:ea typeface="宋体" pitchFamily="2" charset="-122"/>
              </a:defRPr>
            </a:lvl4pPr>
            <a:lvl5pPr marL="2057400" indent="-228600" defTabSz="967105">
              <a:defRPr>
                <a:solidFill>
                  <a:schemeClr val="tx1"/>
                </a:solidFill>
                <a:latin typeface="Comic Sans MS" panose="030F0902030302020204" pitchFamily="66" charset="0"/>
                <a:ea typeface="宋体" pitchFamily="2" charset="-122"/>
              </a:defRPr>
            </a:lvl5pPr>
            <a:lvl6pPr marL="25146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r" defTabSz="967105" rtl="0" eaLnBrk="1" fontAlgn="base" latinLnBrk="0" hangingPunct="1">
              <a:lnSpc>
                <a:spcPct val="100000"/>
              </a:lnSpc>
              <a:spcBef>
                <a:spcPct val="0"/>
              </a:spcBef>
              <a:spcAft>
                <a:spcPct val="0"/>
              </a:spcAft>
              <a:buClrTx/>
              <a:buSzTx/>
              <a:buFontTx/>
              <a:buNone/>
              <a:defRPr/>
            </a:pPr>
            <a:fld id="{F340D3E1-3B39-9B4B-B85A-F59A84AB5B6C}" type="slidenum">
              <a:rPr kumimoji="0" lang="en-US" altLang="zh-CN" sz="13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mn-cs"/>
              </a:rPr>
              <a:t>16</a:t>
            </a:fld>
            <a:endParaRPr kumimoji="0" lang="en-US" altLang="zh-CN" sz="13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mn-cs"/>
            </a:endParaRPr>
          </a:p>
        </p:txBody>
      </p:sp>
      <p:sp>
        <p:nvSpPr>
          <p:cNvPr id="273410" name="Rectangle 2"/>
          <p:cNvSpPr>
            <a:spLocks noGrp="1" noRot="1" noChangeAspect="1" noChangeArrowheads="1" noTextEdit="1"/>
          </p:cNvSpPr>
          <p:nvPr>
            <p:ph type="sldImg"/>
          </p:nvPr>
        </p:nvSpPr>
        <p:spPr/>
      </p:sp>
      <p:sp>
        <p:nvSpPr>
          <p:cNvPr id="273411"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itchFamily="2" charset="-122"/>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7"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7105">
              <a:defRPr>
                <a:solidFill>
                  <a:schemeClr val="tx1"/>
                </a:solidFill>
                <a:latin typeface="Comic Sans MS" panose="030F0902030302020204" pitchFamily="66" charset="0"/>
                <a:ea typeface="宋体" pitchFamily="2" charset="-122"/>
              </a:defRPr>
            </a:lvl1pPr>
            <a:lvl2pPr marL="742950" indent="-285750" defTabSz="967105">
              <a:defRPr>
                <a:solidFill>
                  <a:schemeClr val="tx1"/>
                </a:solidFill>
                <a:latin typeface="Comic Sans MS" panose="030F0902030302020204" pitchFamily="66" charset="0"/>
                <a:ea typeface="宋体" pitchFamily="2" charset="-122"/>
              </a:defRPr>
            </a:lvl2pPr>
            <a:lvl3pPr marL="1143000" indent="-228600" defTabSz="967105">
              <a:defRPr>
                <a:solidFill>
                  <a:schemeClr val="tx1"/>
                </a:solidFill>
                <a:latin typeface="Comic Sans MS" panose="030F0902030302020204" pitchFamily="66" charset="0"/>
                <a:ea typeface="宋体" pitchFamily="2" charset="-122"/>
              </a:defRPr>
            </a:lvl3pPr>
            <a:lvl4pPr marL="1600200" indent="-228600" defTabSz="967105">
              <a:defRPr>
                <a:solidFill>
                  <a:schemeClr val="tx1"/>
                </a:solidFill>
                <a:latin typeface="Comic Sans MS" panose="030F0902030302020204" pitchFamily="66" charset="0"/>
                <a:ea typeface="宋体" pitchFamily="2" charset="-122"/>
              </a:defRPr>
            </a:lvl4pPr>
            <a:lvl5pPr marL="2057400" indent="-228600" defTabSz="967105">
              <a:defRPr>
                <a:solidFill>
                  <a:schemeClr val="tx1"/>
                </a:solidFill>
                <a:latin typeface="Comic Sans MS" panose="030F0902030302020204" pitchFamily="66" charset="0"/>
                <a:ea typeface="宋体" pitchFamily="2" charset="-122"/>
              </a:defRPr>
            </a:lvl5pPr>
            <a:lvl6pPr marL="25146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r" defTabSz="967105" rtl="0" eaLnBrk="1" fontAlgn="base" latinLnBrk="0" hangingPunct="1">
              <a:lnSpc>
                <a:spcPct val="100000"/>
              </a:lnSpc>
              <a:spcBef>
                <a:spcPct val="0"/>
              </a:spcBef>
              <a:spcAft>
                <a:spcPct val="0"/>
              </a:spcAft>
              <a:buClrTx/>
              <a:buSzTx/>
              <a:buFontTx/>
              <a:buNone/>
              <a:defRPr/>
            </a:pPr>
            <a:fld id="{294A800A-DA5D-8D44-996B-D5833F7A91B9}" type="slidenum">
              <a:rPr kumimoji="0" lang="en-US" altLang="zh-CN" sz="13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mn-cs"/>
              </a:rPr>
              <a:t>17</a:t>
            </a:fld>
            <a:endParaRPr kumimoji="0" lang="en-US" altLang="zh-CN" sz="13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mn-cs"/>
            </a:endParaRPr>
          </a:p>
        </p:txBody>
      </p:sp>
      <p:sp>
        <p:nvSpPr>
          <p:cNvPr id="275458" name="Rectangle 2"/>
          <p:cNvSpPr>
            <a:spLocks noGrp="1" noRot="1" noChangeAspect="1" noChangeArrowheads="1" noTextEdit="1"/>
          </p:cNvSpPr>
          <p:nvPr>
            <p:ph type="sldImg"/>
          </p:nvPr>
        </p:nvSpPr>
        <p:spPr/>
      </p:sp>
      <p:sp>
        <p:nvSpPr>
          <p:cNvPr id="275459"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itchFamily="2" charset="-122"/>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5"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7105">
              <a:defRPr>
                <a:solidFill>
                  <a:schemeClr val="tx1"/>
                </a:solidFill>
                <a:latin typeface="Comic Sans MS" panose="030F0902030302020204" pitchFamily="66" charset="0"/>
                <a:ea typeface="宋体" pitchFamily="2" charset="-122"/>
              </a:defRPr>
            </a:lvl1pPr>
            <a:lvl2pPr marL="742950" indent="-285750" defTabSz="967105">
              <a:defRPr>
                <a:solidFill>
                  <a:schemeClr val="tx1"/>
                </a:solidFill>
                <a:latin typeface="Comic Sans MS" panose="030F0902030302020204" pitchFamily="66" charset="0"/>
                <a:ea typeface="宋体" pitchFamily="2" charset="-122"/>
              </a:defRPr>
            </a:lvl2pPr>
            <a:lvl3pPr marL="1143000" indent="-228600" defTabSz="967105">
              <a:defRPr>
                <a:solidFill>
                  <a:schemeClr val="tx1"/>
                </a:solidFill>
                <a:latin typeface="Comic Sans MS" panose="030F0902030302020204" pitchFamily="66" charset="0"/>
                <a:ea typeface="宋体" pitchFamily="2" charset="-122"/>
              </a:defRPr>
            </a:lvl3pPr>
            <a:lvl4pPr marL="1600200" indent="-228600" defTabSz="967105">
              <a:defRPr>
                <a:solidFill>
                  <a:schemeClr val="tx1"/>
                </a:solidFill>
                <a:latin typeface="Comic Sans MS" panose="030F0902030302020204" pitchFamily="66" charset="0"/>
                <a:ea typeface="宋体" pitchFamily="2" charset="-122"/>
              </a:defRPr>
            </a:lvl4pPr>
            <a:lvl5pPr marL="2057400" indent="-228600" defTabSz="967105">
              <a:defRPr>
                <a:solidFill>
                  <a:schemeClr val="tx1"/>
                </a:solidFill>
                <a:latin typeface="Comic Sans MS" panose="030F0902030302020204" pitchFamily="66" charset="0"/>
                <a:ea typeface="宋体" pitchFamily="2" charset="-122"/>
              </a:defRPr>
            </a:lvl5pPr>
            <a:lvl6pPr marL="25146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r" defTabSz="967105" rtl="0" eaLnBrk="1" fontAlgn="base" latinLnBrk="0" hangingPunct="1">
              <a:lnSpc>
                <a:spcPct val="100000"/>
              </a:lnSpc>
              <a:spcBef>
                <a:spcPct val="0"/>
              </a:spcBef>
              <a:spcAft>
                <a:spcPct val="0"/>
              </a:spcAft>
              <a:buClrTx/>
              <a:buSzTx/>
              <a:buFontTx/>
              <a:buNone/>
              <a:defRPr/>
            </a:pPr>
            <a:fld id="{D376D16A-DB6E-1F44-98E7-AA3E7486612D}" type="slidenum">
              <a:rPr kumimoji="0" lang="en-US" altLang="zh-CN" sz="13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mn-cs"/>
              </a:rPr>
              <a:t>18</a:t>
            </a:fld>
            <a:endParaRPr kumimoji="0" lang="en-US" altLang="zh-CN" sz="13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mn-cs"/>
            </a:endParaRPr>
          </a:p>
        </p:txBody>
      </p:sp>
      <p:sp>
        <p:nvSpPr>
          <p:cNvPr id="277506" name="Rectangle 2"/>
          <p:cNvSpPr>
            <a:spLocks noGrp="1" noRot="1" noChangeAspect="1" noChangeArrowheads="1" noTextEdit="1"/>
          </p:cNvSpPr>
          <p:nvPr>
            <p:ph type="sldImg"/>
          </p:nvPr>
        </p:nvSpPr>
        <p:spPr/>
      </p:sp>
      <p:sp>
        <p:nvSpPr>
          <p:cNvPr id="277507"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itchFamily="2" charset="-122"/>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3"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7105">
              <a:defRPr>
                <a:solidFill>
                  <a:schemeClr val="tx1"/>
                </a:solidFill>
                <a:latin typeface="Comic Sans MS" panose="030F0902030302020204" pitchFamily="66" charset="0"/>
                <a:ea typeface="宋体" pitchFamily="2" charset="-122"/>
              </a:defRPr>
            </a:lvl1pPr>
            <a:lvl2pPr marL="742950" indent="-285750" defTabSz="967105">
              <a:defRPr>
                <a:solidFill>
                  <a:schemeClr val="tx1"/>
                </a:solidFill>
                <a:latin typeface="Comic Sans MS" panose="030F0902030302020204" pitchFamily="66" charset="0"/>
                <a:ea typeface="宋体" pitchFamily="2" charset="-122"/>
              </a:defRPr>
            </a:lvl2pPr>
            <a:lvl3pPr marL="1143000" indent="-228600" defTabSz="967105">
              <a:defRPr>
                <a:solidFill>
                  <a:schemeClr val="tx1"/>
                </a:solidFill>
                <a:latin typeface="Comic Sans MS" panose="030F0902030302020204" pitchFamily="66" charset="0"/>
                <a:ea typeface="宋体" pitchFamily="2" charset="-122"/>
              </a:defRPr>
            </a:lvl3pPr>
            <a:lvl4pPr marL="1600200" indent="-228600" defTabSz="967105">
              <a:defRPr>
                <a:solidFill>
                  <a:schemeClr val="tx1"/>
                </a:solidFill>
                <a:latin typeface="Comic Sans MS" panose="030F0902030302020204" pitchFamily="66" charset="0"/>
                <a:ea typeface="宋体" pitchFamily="2" charset="-122"/>
              </a:defRPr>
            </a:lvl4pPr>
            <a:lvl5pPr marL="2057400" indent="-228600" defTabSz="967105">
              <a:defRPr>
                <a:solidFill>
                  <a:schemeClr val="tx1"/>
                </a:solidFill>
                <a:latin typeface="Comic Sans MS" panose="030F0902030302020204" pitchFamily="66" charset="0"/>
                <a:ea typeface="宋体" pitchFamily="2" charset="-122"/>
              </a:defRPr>
            </a:lvl5pPr>
            <a:lvl6pPr marL="25146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r" defTabSz="967105" rtl="0" eaLnBrk="1" fontAlgn="base" latinLnBrk="0" hangingPunct="1">
              <a:lnSpc>
                <a:spcPct val="100000"/>
              </a:lnSpc>
              <a:spcBef>
                <a:spcPct val="0"/>
              </a:spcBef>
              <a:spcAft>
                <a:spcPct val="0"/>
              </a:spcAft>
              <a:buClrTx/>
              <a:buSzTx/>
              <a:buFontTx/>
              <a:buNone/>
              <a:defRPr/>
            </a:pPr>
            <a:fld id="{1290126F-812A-1946-A89E-87F849532D76}" type="slidenum">
              <a:rPr kumimoji="0" lang="en-US" altLang="zh-CN" sz="13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mn-cs"/>
              </a:rPr>
              <a:t>19</a:t>
            </a:fld>
            <a:endParaRPr kumimoji="0" lang="en-US" altLang="zh-CN" sz="13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mn-cs"/>
            </a:endParaRPr>
          </a:p>
        </p:txBody>
      </p:sp>
      <p:sp>
        <p:nvSpPr>
          <p:cNvPr id="279554" name="Rectangle 2"/>
          <p:cNvSpPr>
            <a:spLocks noGrp="1" noRot="1" noChangeAspect="1" noChangeArrowheads="1" noTextEdit="1"/>
          </p:cNvSpPr>
          <p:nvPr>
            <p:ph type="sldImg"/>
          </p:nvPr>
        </p:nvSpPr>
        <p:spPr/>
      </p:sp>
      <p:sp>
        <p:nvSpPr>
          <p:cNvPr id="279555"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itchFamily="2" charset="-122"/>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1"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7105">
              <a:defRPr>
                <a:solidFill>
                  <a:schemeClr val="tx1"/>
                </a:solidFill>
                <a:latin typeface="Comic Sans MS" panose="030F0902030302020204" pitchFamily="66" charset="0"/>
                <a:ea typeface="宋体" pitchFamily="2" charset="-122"/>
              </a:defRPr>
            </a:lvl1pPr>
            <a:lvl2pPr marL="742950" indent="-285750" defTabSz="967105">
              <a:defRPr>
                <a:solidFill>
                  <a:schemeClr val="tx1"/>
                </a:solidFill>
                <a:latin typeface="Comic Sans MS" panose="030F0902030302020204" pitchFamily="66" charset="0"/>
                <a:ea typeface="宋体" pitchFamily="2" charset="-122"/>
              </a:defRPr>
            </a:lvl2pPr>
            <a:lvl3pPr marL="1143000" indent="-228600" defTabSz="967105">
              <a:defRPr>
                <a:solidFill>
                  <a:schemeClr val="tx1"/>
                </a:solidFill>
                <a:latin typeface="Comic Sans MS" panose="030F0902030302020204" pitchFamily="66" charset="0"/>
                <a:ea typeface="宋体" pitchFamily="2" charset="-122"/>
              </a:defRPr>
            </a:lvl3pPr>
            <a:lvl4pPr marL="1600200" indent="-228600" defTabSz="967105">
              <a:defRPr>
                <a:solidFill>
                  <a:schemeClr val="tx1"/>
                </a:solidFill>
                <a:latin typeface="Comic Sans MS" panose="030F0902030302020204" pitchFamily="66" charset="0"/>
                <a:ea typeface="宋体" pitchFamily="2" charset="-122"/>
              </a:defRPr>
            </a:lvl4pPr>
            <a:lvl5pPr marL="2057400" indent="-228600" defTabSz="967105">
              <a:defRPr>
                <a:solidFill>
                  <a:schemeClr val="tx1"/>
                </a:solidFill>
                <a:latin typeface="Comic Sans MS" panose="030F0902030302020204" pitchFamily="66" charset="0"/>
                <a:ea typeface="宋体" pitchFamily="2" charset="-122"/>
              </a:defRPr>
            </a:lvl5pPr>
            <a:lvl6pPr marL="25146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r" defTabSz="967105" rtl="0" eaLnBrk="1" fontAlgn="base" latinLnBrk="0" hangingPunct="1">
              <a:lnSpc>
                <a:spcPct val="100000"/>
              </a:lnSpc>
              <a:spcBef>
                <a:spcPct val="0"/>
              </a:spcBef>
              <a:spcAft>
                <a:spcPct val="0"/>
              </a:spcAft>
              <a:buClrTx/>
              <a:buSzTx/>
              <a:buFontTx/>
              <a:buNone/>
              <a:defRPr/>
            </a:pPr>
            <a:fld id="{8D3C5764-DBEB-FC48-B7B3-D4B4E9DFB50B}" type="slidenum">
              <a:rPr kumimoji="0" lang="en-US" altLang="zh-CN" sz="13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mn-cs"/>
              </a:rPr>
              <a:t>20</a:t>
            </a:fld>
            <a:endParaRPr kumimoji="0" lang="en-US" altLang="zh-CN" sz="13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mn-cs"/>
            </a:endParaRPr>
          </a:p>
        </p:txBody>
      </p:sp>
      <p:sp>
        <p:nvSpPr>
          <p:cNvPr id="281602" name="Rectangle 2"/>
          <p:cNvSpPr>
            <a:spLocks noGrp="1" noRot="1" noChangeAspect="1" noChangeArrowheads="1" noTextEdit="1"/>
          </p:cNvSpPr>
          <p:nvPr>
            <p:ph type="sldImg"/>
          </p:nvPr>
        </p:nvSpPr>
        <p:spPr/>
      </p:sp>
      <p:sp>
        <p:nvSpPr>
          <p:cNvPr id="281603"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ea typeface="宋体" pitchFamily="2" charset="-122"/>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49" name="幻灯片图像占位符 1"/>
          <p:cNvSpPr>
            <a:spLocks noGrp="1" noRot="1" noChangeAspect="1" noChangeArrowheads="1" noTextEdit="1"/>
          </p:cNvSpPr>
          <p:nvPr>
            <p:ph type="sldImg"/>
          </p:nvPr>
        </p:nvSpPr>
        <p:spPr/>
      </p:sp>
      <p:sp>
        <p:nvSpPr>
          <p:cNvPr id="283650" name="备注占位符 2"/>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ea typeface="宋体" pitchFamily="2" charset="-122"/>
            </a:endParaRPr>
          </a:p>
        </p:txBody>
      </p:sp>
      <p:sp>
        <p:nvSpPr>
          <p:cNvPr id="283651" name="灯片编号占位符 3"/>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7105">
              <a:defRPr>
                <a:solidFill>
                  <a:schemeClr val="tx1"/>
                </a:solidFill>
                <a:latin typeface="Comic Sans MS" panose="030F0902030302020204" pitchFamily="66" charset="0"/>
                <a:ea typeface="宋体" pitchFamily="2" charset="-122"/>
              </a:defRPr>
            </a:lvl1pPr>
            <a:lvl2pPr marL="742950" indent="-285750" defTabSz="967105">
              <a:defRPr>
                <a:solidFill>
                  <a:schemeClr val="tx1"/>
                </a:solidFill>
                <a:latin typeface="Comic Sans MS" panose="030F0902030302020204" pitchFamily="66" charset="0"/>
                <a:ea typeface="宋体" pitchFamily="2" charset="-122"/>
              </a:defRPr>
            </a:lvl2pPr>
            <a:lvl3pPr marL="1143000" indent="-228600" defTabSz="967105">
              <a:defRPr>
                <a:solidFill>
                  <a:schemeClr val="tx1"/>
                </a:solidFill>
                <a:latin typeface="Comic Sans MS" panose="030F0902030302020204" pitchFamily="66" charset="0"/>
                <a:ea typeface="宋体" pitchFamily="2" charset="-122"/>
              </a:defRPr>
            </a:lvl3pPr>
            <a:lvl4pPr marL="1600200" indent="-228600" defTabSz="967105">
              <a:defRPr>
                <a:solidFill>
                  <a:schemeClr val="tx1"/>
                </a:solidFill>
                <a:latin typeface="Comic Sans MS" panose="030F0902030302020204" pitchFamily="66" charset="0"/>
                <a:ea typeface="宋体" pitchFamily="2" charset="-122"/>
              </a:defRPr>
            </a:lvl4pPr>
            <a:lvl5pPr marL="2057400" indent="-228600" defTabSz="967105">
              <a:defRPr>
                <a:solidFill>
                  <a:schemeClr val="tx1"/>
                </a:solidFill>
                <a:latin typeface="Comic Sans MS" panose="030F0902030302020204" pitchFamily="66" charset="0"/>
                <a:ea typeface="宋体" pitchFamily="2" charset="-122"/>
              </a:defRPr>
            </a:lvl5pPr>
            <a:lvl6pPr marL="25146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967105"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r" defTabSz="967105" rtl="0" eaLnBrk="0" fontAlgn="base" latinLnBrk="0" hangingPunct="0">
              <a:lnSpc>
                <a:spcPct val="100000"/>
              </a:lnSpc>
              <a:spcBef>
                <a:spcPct val="0"/>
              </a:spcBef>
              <a:spcAft>
                <a:spcPct val="0"/>
              </a:spcAft>
              <a:buClrTx/>
              <a:buSzTx/>
              <a:buFontTx/>
              <a:buNone/>
              <a:defRPr/>
            </a:pPr>
            <a:fld id="{E43D3618-BCD6-DD4F-9D2C-1B66A372C5B5}" type="slidenum">
              <a:rPr kumimoji="0" lang="zh-CN" altLang="en-US" sz="1300" b="0" i="0" u="none" strike="noStrike" kern="1200" cap="none" spc="0" normalizeH="0" baseline="0" noProof="0" smtClean="0">
                <a:ln>
                  <a:noFill/>
                </a:ln>
                <a:solidFill>
                  <a:srgbClr val="000000"/>
                </a:solidFill>
                <a:effectLst/>
                <a:uLnTx/>
                <a:uFillTx/>
                <a:latin typeface="Times New Roman" panose="02020503050405090304" charset="0"/>
                <a:ea typeface="宋体" pitchFamily="2" charset="-122"/>
                <a:cs typeface="+mn-cs"/>
              </a:rPr>
              <a:t>21</a:t>
            </a:fld>
            <a:endParaRPr kumimoji="0" lang="zh-CN" altLang="en-US" sz="13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mn-cs"/>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kumimoji="1" lang="zh-CN" altLang="en-US" dirty="0"/>
          </a:p>
        </p:txBody>
      </p:sp>
      <p:sp>
        <p:nvSpPr>
          <p:cNvPr id="4" name="灯片编号占位符 3"/>
          <p:cNvSpPr>
            <a:spLocks noGrp="1"/>
          </p:cNvSpPr>
          <p:nvPr>
            <p:ph type="sldNum" sz="quarter" idx="5"/>
          </p:nvPr>
        </p:nvSpPr>
        <p:spPr/>
        <p:txBody>
          <a:bodyPr/>
          <a:lstStyle/>
          <a:p>
            <a:pPr>
              <a:defRPr/>
            </a:pPr>
            <a:fld id="{ACCD5E27-021E-054B-84DE-C100B224ED65}" type="slidenum">
              <a:rPr lang="en-US" smtClean="0"/>
              <a:t>24</a:t>
            </a:fld>
            <a:endParaRPr 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ACCD5E27-021E-054B-84DE-C100B224ED65}" type="slidenum">
              <a:rPr lang="en-US" smtClean="0"/>
              <a:t>77</a:t>
            </a:fld>
            <a:endParaRPr 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Slide Image Placeholder 1"/>
          <p:cNvSpPr>
            <a:spLocks noGrp="1" noRot="1" noChangeAspect="1"/>
          </p:cNvSpPr>
          <p:nvPr>
            <p:ph type="sldImg"/>
          </p:nvPr>
        </p:nvSpPr>
        <p:spPr/>
      </p:sp>
      <p:sp>
        <p:nvSpPr>
          <p:cNvPr id="46083" name="Notes Placeholder 2"/>
          <p:cNvSpPr>
            <a:spLocks noGrp="1"/>
          </p:cNvSpPr>
          <p:nvPr>
            <p:ph type="body" idx="1"/>
          </p:nvPr>
        </p:nvSpPr>
        <p:spPr>
          <a:noFill/>
        </p:spPr>
        <p:txBody>
          <a:bodyPr/>
          <a:lstStyle/>
          <a:p>
            <a:pPr eaLnBrk="1" hangingPunct="1">
              <a:spcBef>
                <a:spcPct val="0"/>
              </a:spcBef>
            </a:pPr>
            <a:endParaRPr lang="en-US">
              <a:latin typeface="Arial" panose="020B0604020202090204" pitchFamily="34" charset="0"/>
              <a:ea typeface="MS PGothic" charset="0"/>
              <a:cs typeface="MS PGothic" charset="0"/>
            </a:endParaRPr>
          </a:p>
        </p:txBody>
      </p:sp>
      <p:sp>
        <p:nvSpPr>
          <p:cNvPr id="46084" name="Slide Number Placeholder 3"/>
          <p:cNvSpPr>
            <a:spLocks noGrp="1"/>
          </p:cNvSpPr>
          <p:nvPr>
            <p:ph type="sldNum" sz="quarter" idx="5"/>
          </p:nvPr>
        </p:nvSpPr>
        <p:spPr>
          <a:noFill/>
        </p:spPr>
        <p:txBody>
          <a:bodyPr/>
          <a:lstStyle>
            <a:lvl1pPr defTabSz="956945" eaLnBrk="0" hangingPunct="0">
              <a:defRPr sz="2000" b="1">
                <a:solidFill>
                  <a:schemeClr val="tx1"/>
                </a:solidFill>
                <a:latin typeface="Helvetica" charset="0"/>
                <a:ea typeface="MS PGothic" charset="0"/>
                <a:cs typeface="MS PGothic" charset="0"/>
              </a:defRPr>
            </a:lvl1pPr>
            <a:lvl2pPr marL="37928550" indent="-37471350" defTabSz="956945" eaLnBrk="0" hangingPunct="0">
              <a:defRPr sz="2000" b="1">
                <a:solidFill>
                  <a:schemeClr val="tx1"/>
                </a:solidFill>
                <a:latin typeface="Helvetica" charset="0"/>
                <a:ea typeface="MS PGothic" charset="0"/>
              </a:defRPr>
            </a:lvl2pPr>
            <a:lvl3pPr eaLnBrk="0" hangingPunct="0">
              <a:defRPr sz="2000" b="1">
                <a:solidFill>
                  <a:schemeClr val="tx1"/>
                </a:solidFill>
                <a:latin typeface="Helvetica" charset="0"/>
                <a:ea typeface="MS PGothic" charset="0"/>
              </a:defRPr>
            </a:lvl3pPr>
            <a:lvl4pPr eaLnBrk="0" hangingPunct="0">
              <a:defRPr sz="2000" b="1">
                <a:solidFill>
                  <a:schemeClr val="tx1"/>
                </a:solidFill>
                <a:latin typeface="Helvetica" charset="0"/>
                <a:ea typeface="MS PGothic" charset="0"/>
              </a:defRPr>
            </a:lvl4pPr>
            <a:lvl5pPr eaLnBrk="0" hangingPunct="0">
              <a:defRPr sz="2000" b="1">
                <a:solidFill>
                  <a:schemeClr val="tx1"/>
                </a:solidFill>
                <a:latin typeface="Helvetica" charset="0"/>
                <a:ea typeface="MS PGothic" charset="0"/>
              </a:defRPr>
            </a:lvl5pPr>
            <a:lvl6pPr marL="457200" eaLnBrk="0" fontAlgn="base" hangingPunct="0">
              <a:spcBef>
                <a:spcPct val="0"/>
              </a:spcBef>
              <a:spcAft>
                <a:spcPct val="0"/>
              </a:spcAft>
              <a:defRPr sz="2000" b="1">
                <a:solidFill>
                  <a:schemeClr val="tx1"/>
                </a:solidFill>
                <a:latin typeface="Helvetica" charset="0"/>
                <a:ea typeface="MS PGothic" charset="0"/>
              </a:defRPr>
            </a:lvl6pPr>
            <a:lvl7pPr marL="914400" eaLnBrk="0" fontAlgn="base" hangingPunct="0">
              <a:spcBef>
                <a:spcPct val="0"/>
              </a:spcBef>
              <a:spcAft>
                <a:spcPct val="0"/>
              </a:spcAft>
              <a:defRPr sz="2000" b="1">
                <a:solidFill>
                  <a:schemeClr val="tx1"/>
                </a:solidFill>
                <a:latin typeface="Helvetica" charset="0"/>
                <a:ea typeface="MS PGothic" charset="0"/>
              </a:defRPr>
            </a:lvl7pPr>
            <a:lvl8pPr marL="1371600" eaLnBrk="0" fontAlgn="base" hangingPunct="0">
              <a:spcBef>
                <a:spcPct val="0"/>
              </a:spcBef>
              <a:spcAft>
                <a:spcPct val="0"/>
              </a:spcAft>
              <a:defRPr sz="2000" b="1">
                <a:solidFill>
                  <a:schemeClr val="tx1"/>
                </a:solidFill>
                <a:latin typeface="Helvetica" charset="0"/>
                <a:ea typeface="MS PGothic" charset="0"/>
              </a:defRPr>
            </a:lvl8pPr>
            <a:lvl9pPr marL="1828800" eaLnBrk="0" fontAlgn="base" hangingPunct="0">
              <a:spcBef>
                <a:spcPct val="0"/>
              </a:spcBef>
              <a:spcAft>
                <a:spcPct val="0"/>
              </a:spcAft>
              <a:defRPr sz="2000" b="1">
                <a:solidFill>
                  <a:schemeClr val="tx1"/>
                </a:solidFill>
                <a:latin typeface="Helvetica" charset="0"/>
                <a:ea typeface="MS PGothic" charset="0"/>
              </a:defRPr>
            </a:lvl9pPr>
          </a:lstStyle>
          <a:p>
            <a:pPr eaLnBrk="1" hangingPunct="1"/>
            <a:fld id="{CE294AAA-E8DC-2445-B69E-0E43F432FDC4}" type="slidenum">
              <a:rPr lang="en-US" sz="1300" b="0">
                <a:solidFill>
                  <a:prstClr val="black"/>
                </a:solidFill>
                <a:latin typeface="Arial" panose="020B0604020202090204" pitchFamily="34" charset="0"/>
              </a:rPr>
              <a:t>91</a:t>
            </a:fld>
            <a:endParaRPr lang="en-US" sz="1300" b="0">
              <a:solidFill>
                <a:prstClr val="black"/>
              </a:solidFill>
              <a:latin typeface="Arial" panose="020B0604020202090204" pitchFamily="34" charset="0"/>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Note: implicit assumption here:</a:t>
            </a:r>
            <a:r>
              <a:rPr lang="en-US" baseline="0" dirty="0"/>
              <a:t> </a:t>
            </a:r>
            <a:r>
              <a:rPr lang="en-US" dirty="0"/>
              <a:t>destination</a:t>
            </a:r>
            <a:r>
              <a:rPr lang="en-US" baseline="0" dirty="0"/>
              <a:t> based forwarding</a:t>
            </a:r>
            <a:endParaRPr lang="en-US" dirty="0"/>
          </a:p>
        </p:txBody>
      </p:sp>
      <p:sp>
        <p:nvSpPr>
          <p:cNvPr id="4" name="Slide Number Placeholder 3"/>
          <p:cNvSpPr>
            <a:spLocks noGrp="1"/>
          </p:cNvSpPr>
          <p:nvPr>
            <p:ph type="sldNum" sz="quarter" idx="10"/>
          </p:nvPr>
        </p:nvSpPr>
        <p:spPr/>
        <p:txBody>
          <a:bodyPr/>
          <a:lstStyle/>
          <a:p>
            <a:pPr>
              <a:defRPr/>
            </a:pPr>
            <a:fld id="{231296B1-910C-4044-A082-0309C11C1AF1}" type="slidenum">
              <a:rPr lang="en-US" smtClean="0"/>
              <a:t>92</a:t>
            </a:fld>
            <a:endParaRPr 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Note: implicit assumption here:</a:t>
            </a:r>
            <a:r>
              <a:rPr lang="en-US" baseline="0" dirty="0"/>
              <a:t> </a:t>
            </a:r>
            <a:r>
              <a:rPr lang="en-US" dirty="0"/>
              <a:t>destination</a:t>
            </a:r>
            <a:r>
              <a:rPr lang="en-US" baseline="0" dirty="0"/>
              <a:t> based forwarding</a:t>
            </a:r>
            <a:endParaRPr lang="en-US" dirty="0"/>
          </a:p>
        </p:txBody>
      </p:sp>
      <p:sp>
        <p:nvSpPr>
          <p:cNvPr id="4" name="Slide Number Placeholder 3"/>
          <p:cNvSpPr>
            <a:spLocks noGrp="1"/>
          </p:cNvSpPr>
          <p:nvPr>
            <p:ph type="sldNum" sz="quarter" idx="10"/>
          </p:nvPr>
        </p:nvSpPr>
        <p:spPr/>
        <p:txBody>
          <a:bodyPr/>
          <a:lstStyle/>
          <a:p>
            <a:pPr>
              <a:defRPr/>
            </a:pPr>
            <a:fld id="{231296B1-910C-4044-A082-0309C11C1AF1}" type="slidenum">
              <a:rPr lang="en-US" smtClean="0"/>
              <a:t>93</a:t>
            </a:fld>
            <a:endParaRPr 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Note: implicit assumption here:</a:t>
            </a:r>
            <a:r>
              <a:rPr lang="en-US" baseline="0" dirty="0"/>
              <a:t> </a:t>
            </a:r>
            <a:r>
              <a:rPr lang="en-US" dirty="0"/>
              <a:t>destination</a:t>
            </a:r>
            <a:r>
              <a:rPr lang="en-US" baseline="0" dirty="0"/>
              <a:t> based forwarding</a:t>
            </a:r>
            <a:endParaRPr lang="en-US" dirty="0"/>
          </a:p>
        </p:txBody>
      </p:sp>
      <p:sp>
        <p:nvSpPr>
          <p:cNvPr id="4" name="Slide Number Placeholder 3"/>
          <p:cNvSpPr>
            <a:spLocks noGrp="1"/>
          </p:cNvSpPr>
          <p:nvPr>
            <p:ph type="sldNum" sz="quarter" idx="10"/>
          </p:nvPr>
        </p:nvSpPr>
        <p:spPr/>
        <p:txBody>
          <a:bodyPr/>
          <a:lstStyle/>
          <a:p>
            <a:pPr>
              <a:defRPr/>
            </a:pPr>
            <a:fld id="{231296B1-910C-4044-A082-0309C11C1AF1}" type="slidenum">
              <a:rPr lang="en-US" smtClean="0"/>
              <a:t>94</a:t>
            </a:fld>
            <a:endParaRPr 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注：根据</a:t>
            </a:r>
            <a:r>
              <a:rPr lang="en-US" altLang="zh-CN" dirty="0"/>
              <a:t>RFC 6633</a:t>
            </a:r>
            <a:r>
              <a:rPr lang="zh-CN" altLang="en-US" dirty="0"/>
              <a:t>规定，已不再使用类型值为</a:t>
            </a:r>
            <a:r>
              <a:rPr lang="en-US" altLang="zh-CN" dirty="0"/>
              <a:t>4</a:t>
            </a:r>
            <a:r>
              <a:rPr lang="zh-CN" altLang="en-US" dirty="0"/>
              <a:t>、</a:t>
            </a:r>
            <a:r>
              <a:rPr lang="en-US" altLang="zh-CN" dirty="0"/>
              <a:t>10</a:t>
            </a:r>
            <a:r>
              <a:rPr lang="zh-CN" altLang="en-US" dirty="0"/>
              <a:t>或</a:t>
            </a:r>
            <a:r>
              <a:rPr lang="en-US" altLang="zh-CN" dirty="0"/>
              <a:t>9</a:t>
            </a:r>
            <a:r>
              <a:rPr lang="zh-CN" altLang="en-US" dirty="0"/>
              <a:t>、</a:t>
            </a:r>
            <a:r>
              <a:rPr lang="en-US" altLang="zh-CN" dirty="0"/>
              <a:t>15</a:t>
            </a:r>
            <a:r>
              <a:rPr lang="zh-CN" altLang="en-US" dirty="0"/>
              <a:t>或</a:t>
            </a:r>
            <a:r>
              <a:rPr lang="en-US" altLang="zh-CN" dirty="0"/>
              <a:t>16</a:t>
            </a:r>
            <a:r>
              <a:rPr lang="zh-CN" altLang="en-US" dirty="0"/>
              <a:t>、</a:t>
            </a:r>
            <a:r>
              <a:rPr lang="en-US" altLang="zh-CN" dirty="0"/>
              <a:t>17</a:t>
            </a:r>
            <a:r>
              <a:rPr lang="zh-CN" altLang="en-US" dirty="0"/>
              <a:t>或</a:t>
            </a:r>
            <a:r>
              <a:rPr lang="en-US" altLang="zh-CN" dirty="0"/>
              <a:t>18</a:t>
            </a:r>
            <a:r>
              <a:rPr lang="zh-CN" altLang="en-US" dirty="0"/>
              <a:t>的报文。</a:t>
            </a:r>
          </a:p>
          <a:p>
            <a:pPr marL="0" lvl="2">
              <a:lnSpc>
                <a:spcPct val="150000"/>
              </a:lnSpc>
              <a:buClr>
                <a:srgbClr val="0070C0"/>
              </a:buClr>
            </a:pPr>
            <a:r>
              <a:rPr lang="zh-CN" altLang="en-US" dirty="0"/>
              <a:t>目前在使用的差错报告报文：</a:t>
            </a:r>
            <a:r>
              <a:rPr lang="zh-CN" altLang="en-US" dirty="0">
                <a:latin typeface="+mn-ea"/>
              </a:rPr>
              <a:t>终点不可达、时间超过、参数问题、</a:t>
            </a:r>
            <a:r>
              <a:rPr lang="zh-CN" altLang="en-US" dirty="0"/>
              <a:t>改变路由（重定向 </a:t>
            </a:r>
            <a:r>
              <a:rPr lang="en-US" altLang="zh-CN" dirty="0"/>
              <a:t>Redirect) </a:t>
            </a:r>
          </a:p>
          <a:p>
            <a:pPr marL="174625" lvl="2" indent="-174625">
              <a:lnSpc>
                <a:spcPct val="150000"/>
              </a:lnSpc>
              <a:buClr>
                <a:srgbClr val="0070C0"/>
              </a:buClr>
            </a:pPr>
            <a:r>
              <a:rPr lang="zh-CN" altLang="en-US" dirty="0"/>
              <a:t>目前在使用的询问报文：</a:t>
            </a:r>
            <a:r>
              <a:rPr lang="zh-CN" altLang="en-US" dirty="0">
                <a:latin typeface="+mn-ea"/>
              </a:rPr>
              <a:t>回送请求和回答报文、时间戳请求和回答报文</a:t>
            </a:r>
            <a:endParaRPr lang="en-US" altLang="zh-CN" dirty="0">
              <a:latin typeface="+mn-ea"/>
            </a:endParaRPr>
          </a:p>
          <a:p>
            <a:pPr marL="174625" lvl="2" indent="-174625">
              <a:lnSpc>
                <a:spcPct val="150000"/>
              </a:lnSpc>
              <a:buClr>
                <a:srgbClr val="0070C0"/>
              </a:buClr>
            </a:pPr>
            <a:endParaRPr lang="en-US" altLang="zh-CN" dirty="0"/>
          </a:p>
          <a:p>
            <a:pPr marL="174625" lvl="2" indent="-174625">
              <a:lnSpc>
                <a:spcPct val="150000"/>
              </a:lnSpc>
              <a:buClr>
                <a:srgbClr val="0070C0"/>
              </a:buClr>
            </a:pPr>
            <a:endParaRPr lang="en-US" altLang="zh-CN" dirty="0"/>
          </a:p>
          <a:p>
            <a:endParaRPr lang="zh-CN" altLang="en-US" dirty="0"/>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defRPr/>
            </a:pPr>
            <a:fld id="{840B8802-914A-7C41-BC77-CC54DEE99EEF}" type="slidenum">
              <a:rPr kumimoji="1"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t>109</a:t>
            </a:fld>
            <a:endParaRPr kumimoji="1"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indent="0">
              <a:lnSpc>
                <a:spcPct val="120000"/>
              </a:lnSpc>
              <a:buNone/>
            </a:pPr>
            <a:r>
              <a:rPr lang="zh-CN" altLang="en-US" sz="1200" b="1" dirty="0">
                <a:latin typeface="微软雅黑" panose="020B0503020204020204" pitchFamily="34" charset="-122"/>
                <a:ea typeface="微软雅黑" panose="020B0503020204020204" pitchFamily="34" charset="-122"/>
              </a:rPr>
              <a:t>不发送 </a:t>
            </a:r>
            <a:r>
              <a:rPr lang="en-US" altLang="zh-CN" sz="1200" b="1" dirty="0">
                <a:latin typeface="微软雅黑" panose="020B0503020204020204" pitchFamily="34" charset="-122"/>
                <a:ea typeface="微软雅黑" panose="020B0503020204020204" pitchFamily="34" charset="-122"/>
              </a:rPr>
              <a:t>ICMP </a:t>
            </a:r>
            <a:r>
              <a:rPr lang="zh-CN" altLang="en-US" sz="1200" b="1" dirty="0">
                <a:latin typeface="微软雅黑" panose="020B0503020204020204" pitchFamily="34" charset="-122"/>
                <a:ea typeface="微软雅黑" panose="020B0503020204020204" pitchFamily="34" charset="-122"/>
              </a:rPr>
              <a:t>差错报告报文的几种情况：</a:t>
            </a:r>
            <a:endParaRPr lang="en-US" altLang="zh-CN" sz="1200" b="1" dirty="0">
              <a:latin typeface="微软雅黑" panose="020B0503020204020204" pitchFamily="34" charset="-122"/>
              <a:ea typeface="微软雅黑" panose="020B0503020204020204" pitchFamily="34" charset="-122"/>
            </a:endParaRPr>
          </a:p>
          <a:p>
            <a:pPr marL="457200" lvl="1" indent="0">
              <a:lnSpc>
                <a:spcPct val="120000"/>
              </a:lnSpc>
              <a:buClr>
                <a:srgbClr val="0070C0"/>
              </a:buClr>
              <a:buNone/>
            </a:pPr>
            <a:r>
              <a:rPr lang="zh-CN" altLang="en-US" sz="1200" dirty="0">
                <a:latin typeface="微软雅黑" panose="020B0503020204020204" pitchFamily="34" charset="-122"/>
                <a:ea typeface="微软雅黑" panose="020B0503020204020204" pitchFamily="34" charset="-122"/>
              </a:rPr>
              <a:t>对 </a:t>
            </a:r>
            <a:r>
              <a:rPr lang="en-US" altLang="zh-CN" sz="1200" dirty="0">
                <a:latin typeface="微软雅黑" panose="020B0503020204020204" pitchFamily="34" charset="-122"/>
                <a:ea typeface="微软雅黑" panose="020B0503020204020204" pitchFamily="34" charset="-122"/>
              </a:rPr>
              <a:t>ICMP </a:t>
            </a:r>
            <a:r>
              <a:rPr lang="zh-CN" altLang="en-US" sz="1200" dirty="0">
                <a:latin typeface="微软雅黑" panose="020B0503020204020204" pitchFamily="34" charset="-122"/>
                <a:ea typeface="微软雅黑" panose="020B0503020204020204" pitchFamily="34" charset="-122"/>
              </a:rPr>
              <a:t>差错报告报文不再发送 </a:t>
            </a:r>
            <a:r>
              <a:rPr lang="en-US" altLang="zh-CN" sz="1200" dirty="0">
                <a:latin typeface="微软雅黑" panose="020B0503020204020204" pitchFamily="34" charset="-122"/>
                <a:ea typeface="微软雅黑" panose="020B0503020204020204" pitchFamily="34" charset="-122"/>
              </a:rPr>
              <a:t>ICMP </a:t>
            </a:r>
            <a:r>
              <a:rPr lang="zh-CN" altLang="en-US" sz="1200" dirty="0">
                <a:latin typeface="微软雅黑" panose="020B0503020204020204" pitchFamily="34" charset="-122"/>
                <a:ea typeface="微软雅黑" panose="020B0503020204020204" pitchFamily="34" charset="-122"/>
              </a:rPr>
              <a:t>差错报告报文</a:t>
            </a:r>
          </a:p>
          <a:p>
            <a:pPr marL="457200" lvl="1" indent="0">
              <a:lnSpc>
                <a:spcPct val="120000"/>
              </a:lnSpc>
              <a:buClr>
                <a:srgbClr val="0070C0"/>
              </a:buClr>
              <a:buNone/>
            </a:pPr>
            <a:r>
              <a:rPr lang="zh-CN" altLang="en-US" sz="1200" dirty="0">
                <a:latin typeface="微软雅黑" panose="020B0503020204020204" pitchFamily="34" charset="-122"/>
                <a:ea typeface="微软雅黑" panose="020B0503020204020204" pitchFamily="34" charset="-122"/>
              </a:rPr>
              <a:t>对第一个分片的数据报片的所有后续数据报片都不发送 </a:t>
            </a:r>
            <a:r>
              <a:rPr lang="en-US" altLang="zh-CN" sz="1200" dirty="0">
                <a:latin typeface="微软雅黑" panose="020B0503020204020204" pitchFamily="34" charset="-122"/>
                <a:ea typeface="微软雅黑" panose="020B0503020204020204" pitchFamily="34" charset="-122"/>
              </a:rPr>
              <a:t>ICMP </a:t>
            </a:r>
            <a:r>
              <a:rPr lang="zh-CN" altLang="en-US" sz="1200" dirty="0">
                <a:latin typeface="微软雅黑" panose="020B0503020204020204" pitchFamily="34" charset="-122"/>
                <a:ea typeface="微软雅黑" panose="020B0503020204020204" pitchFamily="34" charset="-122"/>
              </a:rPr>
              <a:t>差错报告报文</a:t>
            </a:r>
          </a:p>
          <a:p>
            <a:pPr marL="457200" lvl="1" indent="0">
              <a:lnSpc>
                <a:spcPct val="120000"/>
              </a:lnSpc>
              <a:buClr>
                <a:srgbClr val="0070C0"/>
              </a:buClr>
              <a:buNone/>
            </a:pPr>
            <a:r>
              <a:rPr lang="zh-CN" altLang="en-US" sz="1200" dirty="0">
                <a:latin typeface="微软雅黑" panose="020B0503020204020204" pitchFamily="34" charset="-122"/>
                <a:ea typeface="微软雅黑" panose="020B0503020204020204" pitchFamily="34" charset="-122"/>
              </a:rPr>
              <a:t>对具有多播地址的数据报都不发送 </a:t>
            </a:r>
            <a:r>
              <a:rPr lang="en-US" altLang="zh-CN" sz="1200" dirty="0">
                <a:latin typeface="微软雅黑" panose="020B0503020204020204" pitchFamily="34" charset="-122"/>
                <a:ea typeface="微软雅黑" panose="020B0503020204020204" pitchFamily="34" charset="-122"/>
              </a:rPr>
              <a:t>ICMP </a:t>
            </a:r>
            <a:r>
              <a:rPr lang="zh-CN" altLang="en-US" sz="1200" dirty="0">
                <a:latin typeface="微软雅黑" panose="020B0503020204020204" pitchFamily="34" charset="-122"/>
                <a:ea typeface="微软雅黑" panose="020B0503020204020204" pitchFamily="34" charset="-122"/>
              </a:rPr>
              <a:t>差错报告报文</a:t>
            </a:r>
          </a:p>
          <a:p>
            <a:pPr marL="457200" lvl="1" indent="0">
              <a:lnSpc>
                <a:spcPct val="120000"/>
              </a:lnSpc>
              <a:buClr>
                <a:srgbClr val="0070C0"/>
              </a:buClr>
              <a:buNone/>
            </a:pPr>
            <a:r>
              <a:rPr lang="zh-CN" altLang="en-US" sz="1200" dirty="0">
                <a:latin typeface="微软雅黑" panose="020B0503020204020204" pitchFamily="34" charset="-122"/>
                <a:ea typeface="微软雅黑" panose="020B0503020204020204" pitchFamily="34" charset="-122"/>
              </a:rPr>
              <a:t>对具有特殊地址（如</a:t>
            </a:r>
            <a:r>
              <a:rPr lang="en-US" altLang="zh-CN" sz="1200" dirty="0">
                <a:latin typeface="微软雅黑" panose="020B0503020204020204" pitchFamily="34" charset="-122"/>
                <a:ea typeface="微软雅黑" panose="020B0503020204020204" pitchFamily="34" charset="-122"/>
              </a:rPr>
              <a:t>127.0.0.0 </a:t>
            </a:r>
            <a:r>
              <a:rPr lang="zh-CN" altLang="en-US" sz="1200" dirty="0">
                <a:latin typeface="微软雅黑" panose="020B0503020204020204" pitchFamily="34" charset="-122"/>
                <a:ea typeface="微软雅黑" panose="020B0503020204020204" pitchFamily="34" charset="-122"/>
              </a:rPr>
              <a:t>或 </a:t>
            </a:r>
            <a:r>
              <a:rPr lang="en-US" altLang="zh-CN" sz="1200" dirty="0">
                <a:latin typeface="微软雅黑" panose="020B0503020204020204" pitchFamily="34" charset="-122"/>
                <a:ea typeface="微软雅黑" panose="020B0503020204020204" pitchFamily="34" charset="-122"/>
              </a:rPr>
              <a:t>0.0.0.0</a:t>
            </a:r>
            <a:r>
              <a:rPr lang="zh-CN" altLang="en-US" sz="1200" dirty="0">
                <a:latin typeface="微软雅黑" panose="020B0503020204020204" pitchFamily="34" charset="-122"/>
                <a:ea typeface="微软雅黑" panose="020B0503020204020204" pitchFamily="34" charset="-122"/>
              </a:rPr>
              <a:t>）的数据报不发送 </a:t>
            </a:r>
            <a:r>
              <a:rPr lang="en-US" altLang="zh-CN" sz="1200" dirty="0">
                <a:latin typeface="微软雅黑" panose="020B0503020204020204" pitchFamily="34" charset="-122"/>
                <a:ea typeface="微软雅黑" panose="020B0503020204020204" pitchFamily="34" charset="-122"/>
              </a:rPr>
              <a:t>ICMP </a:t>
            </a:r>
            <a:r>
              <a:rPr lang="zh-CN" altLang="en-US" sz="1200" dirty="0">
                <a:latin typeface="微软雅黑" panose="020B0503020204020204" pitchFamily="34" charset="-122"/>
                <a:ea typeface="微软雅黑" panose="020B0503020204020204" pitchFamily="34" charset="-122"/>
              </a:rPr>
              <a:t>差错报告报文</a:t>
            </a:r>
          </a:p>
          <a:p>
            <a:endParaRPr lang="zh-CN" altLang="en-US" dirty="0"/>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defRPr/>
            </a:pPr>
            <a:fld id="{840B8802-914A-7C41-BC77-CC54DEE99EEF}" type="slidenum">
              <a:rPr kumimoji="1"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t>110</a:t>
            </a:fld>
            <a:endParaRPr kumimoji="1"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ct val="140000"/>
              </a:lnSpc>
              <a:buClr>
                <a:srgbClr val="0070C0"/>
              </a:buClr>
            </a:pPr>
            <a:r>
              <a:rPr lang="zh-CN" altLang="en-US" dirty="0">
                <a:latin typeface="+mn-ea"/>
              </a:rPr>
              <a:t>根据</a:t>
            </a:r>
            <a:r>
              <a:rPr lang="en-US" altLang="zh-CN" dirty="0">
                <a:latin typeface="+mn-ea"/>
              </a:rPr>
              <a:t>RFC 6633</a:t>
            </a:r>
            <a:r>
              <a:rPr lang="zh-CN" altLang="en-US" dirty="0">
                <a:latin typeface="+mn-ea"/>
              </a:rPr>
              <a:t>规定下面的几种 </a:t>
            </a:r>
            <a:r>
              <a:rPr lang="en-US" altLang="zh-CN" dirty="0">
                <a:latin typeface="+mn-ea"/>
              </a:rPr>
              <a:t>ICMP </a:t>
            </a:r>
            <a:r>
              <a:rPr lang="zh-CN" altLang="en-US" dirty="0">
                <a:latin typeface="+mn-ea"/>
              </a:rPr>
              <a:t>报文不再使用</a:t>
            </a:r>
          </a:p>
          <a:p>
            <a:pPr lvl="1">
              <a:lnSpc>
                <a:spcPct val="140000"/>
              </a:lnSpc>
              <a:buClr>
                <a:srgbClr val="0070C0"/>
              </a:buClr>
            </a:pPr>
            <a:r>
              <a:rPr lang="zh-CN" altLang="en-US" dirty="0">
                <a:latin typeface="+mn-ea"/>
              </a:rPr>
              <a:t>信息请求与回答报文：</a:t>
            </a:r>
            <a:r>
              <a:rPr lang="en-US" altLang="zh-CN" dirty="0">
                <a:latin typeface="+mn-ea"/>
              </a:rPr>
              <a:t>15</a:t>
            </a:r>
            <a:r>
              <a:rPr lang="zh-CN" altLang="en-US" dirty="0">
                <a:latin typeface="+mn-ea"/>
              </a:rPr>
              <a:t>或</a:t>
            </a:r>
            <a:r>
              <a:rPr lang="en-US" altLang="zh-CN" dirty="0">
                <a:latin typeface="+mn-ea"/>
              </a:rPr>
              <a:t>16</a:t>
            </a:r>
            <a:endParaRPr lang="zh-CN" altLang="en-US" dirty="0">
              <a:latin typeface="+mn-ea"/>
            </a:endParaRPr>
          </a:p>
          <a:p>
            <a:pPr lvl="1">
              <a:lnSpc>
                <a:spcPct val="140000"/>
              </a:lnSpc>
              <a:buClr>
                <a:srgbClr val="0070C0"/>
              </a:buClr>
            </a:pPr>
            <a:r>
              <a:rPr lang="zh-CN" altLang="en-US" dirty="0">
                <a:latin typeface="+mn-ea"/>
              </a:rPr>
              <a:t>掩码地址请求和回答报文：</a:t>
            </a:r>
            <a:r>
              <a:rPr lang="en-US" altLang="zh-CN" dirty="0">
                <a:latin typeface="+mn-ea"/>
              </a:rPr>
              <a:t>17</a:t>
            </a:r>
            <a:r>
              <a:rPr lang="zh-CN" altLang="en-US" dirty="0">
                <a:latin typeface="+mn-ea"/>
              </a:rPr>
              <a:t>或</a:t>
            </a:r>
            <a:r>
              <a:rPr lang="en-US" altLang="zh-CN" dirty="0">
                <a:latin typeface="+mn-ea"/>
              </a:rPr>
              <a:t>18</a:t>
            </a:r>
            <a:endParaRPr lang="zh-CN" altLang="en-US" dirty="0">
              <a:latin typeface="+mn-ea"/>
            </a:endParaRPr>
          </a:p>
          <a:p>
            <a:pPr lvl="1">
              <a:lnSpc>
                <a:spcPct val="140000"/>
              </a:lnSpc>
              <a:buClr>
                <a:srgbClr val="0070C0"/>
              </a:buClr>
            </a:pPr>
            <a:r>
              <a:rPr lang="zh-CN" altLang="en-US" dirty="0">
                <a:latin typeface="+mn-ea"/>
              </a:rPr>
              <a:t>路由器询问和通告报文 ：</a:t>
            </a:r>
            <a:r>
              <a:rPr lang="en-US" altLang="zh-CN" dirty="0">
                <a:latin typeface="+mn-ea"/>
              </a:rPr>
              <a:t>10</a:t>
            </a:r>
            <a:r>
              <a:rPr lang="zh-CN" altLang="en-US" dirty="0">
                <a:latin typeface="+mn-ea"/>
              </a:rPr>
              <a:t>或</a:t>
            </a:r>
            <a:r>
              <a:rPr lang="en-US" altLang="zh-CN" dirty="0">
                <a:latin typeface="+mn-ea"/>
              </a:rPr>
              <a:t>9</a:t>
            </a:r>
            <a:endParaRPr lang="zh-CN" altLang="en-US" dirty="0">
              <a:latin typeface="+mn-ea"/>
            </a:endParaRPr>
          </a:p>
          <a:p>
            <a:pPr lvl="1">
              <a:lnSpc>
                <a:spcPct val="140000"/>
              </a:lnSpc>
              <a:buClr>
                <a:srgbClr val="0070C0"/>
              </a:buClr>
            </a:pPr>
            <a:r>
              <a:rPr lang="zh-CN" altLang="en-US" dirty="0">
                <a:latin typeface="+mn-ea"/>
              </a:rPr>
              <a:t>源点抑制报文：</a:t>
            </a:r>
            <a:r>
              <a:rPr lang="en-US" altLang="zh-CN" dirty="0">
                <a:latin typeface="+mn-ea"/>
              </a:rPr>
              <a:t>4</a:t>
            </a:r>
            <a:endParaRPr lang="zh-CN" altLang="en-US" dirty="0">
              <a:latin typeface="+mn-ea"/>
            </a:endParaRPr>
          </a:p>
          <a:p>
            <a:endParaRPr lang="zh-CN" altLang="en-US" dirty="0"/>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defRPr/>
            </a:pPr>
            <a:fld id="{840B8802-914A-7C41-BC77-CC54DEE99EEF}" type="slidenum">
              <a:rPr kumimoji="1"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t>112</a:t>
            </a:fld>
            <a:endParaRPr kumimoji="1"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sz="1200" b="0" i="0" kern="1200" dirty="0">
                <a:solidFill>
                  <a:schemeClr val="tx1"/>
                </a:solidFill>
                <a:effectLst/>
                <a:latin typeface="+mn-lt"/>
                <a:ea typeface="+mn-ea"/>
                <a:cs typeface="+mn-cs"/>
              </a:rPr>
              <a:t>默认操作系统的</a:t>
            </a:r>
            <a:r>
              <a:rPr lang="en-US" altLang="zh-CN" sz="1200" b="0" i="0" kern="1200" dirty="0">
                <a:solidFill>
                  <a:schemeClr val="tx1"/>
                </a:solidFill>
                <a:effectLst/>
                <a:latin typeface="+mn-lt"/>
                <a:ea typeface="+mn-ea"/>
                <a:cs typeface="+mn-cs"/>
              </a:rPr>
              <a:t>TTL</a:t>
            </a:r>
            <a:r>
              <a:rPr lang="zh-CN" altLang="en-US" sz="1200" b="0" i="0" kern="1200" dirty="0">
                <a:solidFill>
                  <a:schemeClr val="tx1"/>
                </a:solidFill>
                <a:effectLst/>
                <a:latin typeface="+mn-lt"/>
                <a:ea typeface="+mn-ea"/>
                <a:cs typeface="+mn-cs"/>
              </a:rPr>
              <a:t>值：</a:t>
            </a:r>
          </a:p>
          <a:p>
            <a:r>
              <a:rPr lang="en-US" altLang="zh-CN" sz="1200" b="0" i="0" kern="1200" dirty="0">
                <a:solidFill>
                  <a:schemeClr val="tx1"/>
                </a:solidFill>
                <a:effectLst/>
                <a:latin typeface="+mn-lt"/>
                <a:ea typeface="+mn-ea"/>
                <a:cs typeface="+mn-cs"/>
              </a:rPr>
              <a:t>1</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WINDOWS NT/2000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128</a:t>
            </a:r>
          </a:p>
          <a:p>
            <a:r>
              <a:rPr lang="en-US" altLang="zh-CN" sz="1200" b="0" i="0" kern="1200" dirty="0">
                <a:solidFill>
                  <a:schemeClr val="tx1"/>
                </a:solidFill>
                <a:effectLst/>
                <a:latin typeface="+mn-lt"/>
                <a:ea typeface="+mn-ea"/>
                <a:cs typeface="+mn-cs"/>
              </a:rPr>
              <a:t>2</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WINDOWS 95/98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32</a:t>
            </a:r>
          </a:p>
          <a:p>
            <a:r>
              <a:rPr lang="en-US" altLang="zh-CN" sz="1200" b="0" i="0" kern="1200" dirty="0">
                <a:solidFill>
                  <a:schemeClr val="tx1"/>
                </a:solidFill>
                <a:effectLst/>
                <a:latin typeface="+mn-lt"/>
                <a:ea typeface="+mn-ea"/>
                <a:cs typeface="+mn-cs"/>
              </a:rPr>
              <a:t>3</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UNIX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255</a:t>
            </a:r>
          </a:p>
          <a:p>
            <a:r>
              <a:rPr lang="en-US" altLang="zh-CN" sz="1200" b="0" i="0" kern="1200" dirty="0">
                <a:solidFill>
                  <a:schemeClr val="tx1"/>
                </a:solidFill>
                <a:effectLst/>
                <a:latin typeface="+mn-lt"/>
                <a:ea typeface="+mn-ea"/>
                <a:cs typeface="+mn-cs"/>
              </a:rPr>
              <a:t>4</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LINUX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64</a:t>
            </a:r>
          </a:p>
          <a:p>
            <a:r>
              <a:rPr lang="en-US" altLang="zh-CN" sz="1200" b="0" i="0" kern="1200" dirty="0">
                <a:solidFill>
                  <a:schemeClr val="tx1"/>
                </a:solidFill>
                <a:effectLst/>
                <a:latin typeface="+mn-lt"/>
                <a:ea typeface="+mn-ea"/>
                <a:cs typeface="+mn-cs"/>
              </a:rPr>
              <a:t>5</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WIN7              TTL</a:t>
            </a:r>
            <a:r>
              <a:rPr lang="zh-CN" altLang="en-US" sz="1200" b="0" i="0" kern="1200" dirty="0">
                <a:solidFill>
                  <a:schemeClr val="tx1"/>
                </a:solidFill>
                <a:effectLst/>
                <a:latin typeface="+mn-lt"/>
                <a:ea typeface="+mn-ea"/>
                <a:cs typeface="+mn-cs"/>
              </a:rPr>
              <a:t>：</a:t>
            </a:r>
            <a:r>
              <a:rPr lang="en-US" altLang="zh-CN" sz="1200" b="0" i="0" kern="1200" dirty="0">
                <a:solidFill>
                  <a:schemeClr val="tx1"/>
                </a:solidFill>
                <a:effectLst/>
                <a:latin typeface="+mn-lt"/>
                <a:ea typeface="+mn-ea"/>
                <a:cs typeface="+mn-cs"/>
              </a:rPr>
              <a:t>64</a:t>
            </a:r>
          </a:p>
          <a:p>
            <a:endParaRPr lang="zh-CN" altLang="en-US" dirty="0"/>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defRPr/>
            </a:pPr>
            <a:fld id="{840B8802-914A-7C41-BC77-CC54DEE99EEF}" type="slidenum">
              <a:rPr kumimoji="1"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t>113</a:t>
            </a:fld>
            <a:endParaRPr kumimoji="1"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lvl="1">
              <a:lnSpc>
                <a:spcPct val="120000"/>
              </a:lnSpc>
              <a:buClr>
                <a:srgbClr val="0070C0"/>
              </a:buClr>
            </a:pPr>
            <a:r>
              <a:rPr lang="zh-CN" altLang="en-US" dirty="0">
                <a:latin typeface="+mn-ea"/>
              </a:rPr>
              <a:t>在 </a:t>
            </a:r>
            <a:r>
              <a:rPr lang="en-US" altLang="zh-CN" dirty="0">
                <a:latin typeface="+mn-ea"/>
              </a:rPr>
              <a:t>Windows </a:t>
            </a:r>
            <a:r>
              <a:rPr lang="zh-CN" altLang="en-US" dirty="0">
                <a:latin typeface="+mn-ea"/>
              </a:rPr>
              <a:t>操作系统中这个命令是 </a:t>
            </a:r>
            <a:r>
              <a:rPr lang="en-US" altLang="zh-CN" dirty="0" err="1">
                <a:latin typeface="+mn-ea"/>
              </a:rPr>
              <a:t>Tracert</a:t>
            </a:r>
            <a:r>
              <a:rPr lang="zh-CN" altLang="en-US" dirty="0">
                <a:latin typeface="+mn-ea"/>
              </a:rPr>
              <a:t>，在路由器上面的命令一般为：</a:t>
            </a:r>
            <a:r>
              <a:rPr lang="en-US" altLang="zh-CN" dirty="0" err="1">
                <a:latin typeface="+mn-ea"/>
              </a:rPr>
              <a:t>Traceroute</a:t>
            </a:r>
            <a:endParaRPr lang="zh-CN" altLang="en-US" dirty="0">
              <a:latin typeface="+mn-ea"/>
            </a:endParaRPr>
          </a:p>
          <a:p>
            <a:pPr marL="0" lvl="1">
              <a:lnSpc>
                <a:spcPct val="120000"/>
              </a:lnSpc>
              <a:buClr>
                <a:srgbClr val="0070C0"/>
              </a:buClr>
            </a:pPr>
            <a:r>
              <a:rPr lang="zh-CN" altLang="en-US" dirty="0">
                <a:solidFill>
                  <a:srgbClr val="0000FF"/>
                </a:solidFill>
                <a:latin typeface="+mn-ea"/>
              </a:rPr>
              <a:t>用来跟踪一个分组从源点到终点的路径</a:t>
            </a:r>
          </a:p>
          <a:p>
            <a:pPr marL="0" lvl="1">
              <a:lnSpc>
                <a:spcPct val="120000"/>
              </a:lnSpc>
              <a:buClr>
                <a:srgbClr val="0070C0"/>
              </a:buClr>
            </a:pPr>
            <a:r>
              <a:rPr lang="zh-CN" altLang="en-US" dirty="0">
                <a:latin typeface="+mn-ea"/>
              </a:rPr>
              <a:t>它利用 </a:t>
            </a:r>
            <a:r>
              <a:rPr lang="en-US" altLang="zh-CN" dirty="0">
                <a:latin typeface="+mn-ea"/>
              </a:rPr>
              <a:t>IP </a:t>
            </a:r>
            <a:r>
              <a:rPr lang="zh-CN" altLang="en-US" dirty="0">
                <a:latin typeface="+mn-ea"/>
              </a:rPr>
              <a:t>数据报中的 </a:t>
            </a:r>
            <a:r>
              <a:rPr lang="en-US" altLang="zh-CN" dirty="0">
                <a:latin typeface="+mn-ea"/>
              </a:rPr>
              <a:t>TTL </a:t>
            </a:r>
            <a:r>
              <a:rPr lang="zh-CN" altLang="en-US" dirty="0">
                <a:latin typeface="+mn-ea"/>
              </a:rPr>
              <a:t>字段和 </a:t>
            </a:r>
            <a:r>
              <a:rPr lang="en-US" altLang="zh-CN" dirty="0">
                <a:latin typeface="+mn-ea"/>
              </a:rPr>
              <a:t>ICMP </a:t>
            </a:r>
            <a:r>
              <a:rPr lang="zh-CN" altLang="en-US" dirty="0">
                <a:latin typeface="+mn-ea"/>
              </a:rPr>
              <a:t>时间超过差错报告报文实现对从源点到终点的路径的跟踪</a:t>
            </a:r>
          </a:p>
          <a:p>
            <a:endParaRPr lang="zh-CN" altLang="en-US" dirty="0"/>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defRPr/>
            </a:pPr>
            <a:fld id="{840B8802-914A-7C41-BC77-CC54DEE99EEF}" type="slidenum">
              <a:rPr kumimoji="1"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t>114</a:t>
            </a:fld>
            <a:endParaRPr kumimoji="1"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ct val="120000"/>
              </a:lnSpc>
              <a:spcBef>
                <a:spcPts val="600"/>
              </a:spcBef>
            </a:pPr>
            <a:r>
              <a:rPr lang="zh-CN" altLang="en-US" sz="1200" dirty="0">
                <a:solidFill>
                  <a:srgbClr val="C00000"/>
                </a:solidFill>
                <a:latin typeface="微软雅黑" panose="020B0503020204020204" pitchFamily="34" charset="-122"/>
                <a:ea typeface="微软雅黑" panose="020B0503020204020204" pitchFamily="34" charset="-122"/>
              </a:rPr>
              <a:t>注意：</a:t>
            </a:r>
            <a:endParaRPr lang="en-US" altLang="zh-CN" sz="1200" dirty="0">
              <a:solidFill>
                <a:srgbClr val="C00000"/>
              </a:solidFill>
              <a:latin typeface="微软雅黑" panose="020B0503020204020204" pitchFamily="34" charset="-122"/>
              <a:ea typeface="微软雅黑" panose="020B0503020204020204" pitchFamily="34" charset="-122"/>
            </a:endParaRPr>
          </a:p>
          <a:p>
            <a:pPr>
              <a:lnSpc>
                <a:spcPct val="120000"/>
              </a:lnSpc>
              <a:spcBef>
                <a:spcPts val="600"/>
              </a:spcBef>
            </a:pPr>
            <a:r>
              <a:rPr lang="zh-CN" altLang="en-US" sz="1200" dirty="0">
                <a:solidFill>
                  <a:srgbClr val="C00000"/>
                </a:solidFill>
                <a:latin typeface="微软雅黑" panose="020B0503020204020204" pitchFamily="34" charset="-122"/>
                <a:ea typeface="微软雅黑" panose="020B0503020204020204" pitchFamily="34" charset="-122"/>
              </a:rPr>
              <a:t>利用</a:t>
            </a:r>
            <a:r>
              <a:rPr lang="en-US" altLang="zh-CN" sz="1200" dirty="0" err="1">
                <a:solidFill>
                  <a:srgbClr val="C00000"/>
                </a:solidFill>
                <a:latin typeface="微软雅黑" panose="020B0503020204020204" pitchFamily="34" charset="-122"/>
                <a:ea typeface="微软雅黑" panose="020B0503020204020204" pitchFamily="34" charset="-122"/>
              </a:rPr>
              <a:t>Tracert</a:t>
            </a:r>
            <a:r>
              <a:rPr lang="zh-CN" altLang="en-US" sz="1200" dirty="0">
                <a:solidFill>
                  <a:srgbClr val="C00000"/>
                </a:solidFill>
                <a:latin typeface="微软雅黑" panose="020B0503020204020204" pitchFamily="34" charset="-122"/>
                <a:ea typeface="微软雅黑" panose="020B0503020204020204" pitchFamily="34" charset="-122"/>
              </a:rPr>
              <a:t>命令，能查看中间节点信息，可能会带来安全隐患。</a:t>
            </a:r>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defRPr/>
            </a:pPr>
            <a:fld id="{840B8802-914A-7C41-BC77-CC54DEE99EEF}" type="slidenum">
              <a:rPr kumimoji="1"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t>115</a:t>
            </a:fld>
            <a:endParaRPr kumimoji="1"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E2A4C393-E737-BC43-97C2-03F614D801C4}" type="slidenum">
              <a:rPr lang="en-US"/>
              <a:t>119</a:t>
            </a:fld>
            <a:endParaRPr lang="en-US"/>
          </a:p>
        </p:txBody>
      </p:sp>
      <p:sp>
        <p:nvSpPr>
          <p:cNvPr id="93186" name="Rectangle 2"/>
          <p:cNvSpPr>
            <a:spLocks noGrp="1" noRot="1" noChangeAspect="1" noChangeArrowheads="1" noTextEdit="1"/>
          </p:cNvSpPr>
          <p:nvPr>
            <p:ph type="sldImg"/>
          </p:nvPr>
        </p:nvSpPr>
        <p:spPr/>
      </p:sp>
      <p:sp>
        <p:nvSpPr>
          <p:cNvPr id="93187"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B1F84B22-79F1-5A4C-ADC0-95054349920C}" type="slidenum">
              <a:rPr lang="en-US"/>
              <a:t>120</a:t>
            </a:fld>
            <a:endParaRPr lang="en-US"/>
          </a:p>
        </p:txBody>
      </p:sp>
      <p:sp>
        <p:nvSpPr>
          <p:cNvPr id="94210" name="Rectangle 2"/>
          <p:cNvSpPr>
            <a:spLocks noGrp="1" noRot="1" noChangeAspect="1" noChangeArrowheads="1" noTextEdit="1"/>
          </p:cNvSpPr>
          <p:nvPr>
            <p:ph type="sldImg"/>
          </p:nvPr>
        </p:nvSpPr>
        <p:spPr/>
      </p:sp>
      <p:sp>
        <p:nvSpPr>
          <p:cNvPr id="94211"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DCD16E53-AA3A-1B40-8834-C507253CDA79}" type="slidenum">
              <a:rPr lang="en-US"/>
              <a:t>121</a:t>
            </a:fld>
            <a:endParaRPr lang="en-US"/>
          </a:p>
        </p:txBody>
      </p:sp>
      <p:sp>
        <p:nvSpPr>
          <p:cNvPr id="104450" name="Rectangle 2"/>
          <p:cNvSpPr>
            <a:spLocks noGrp="1" noRot="1" noChangeAspect="1" noChangeArrowheads="1" noTextEdit="1"/>
          </p:cNvSpPr>
          <p:nvPr>
            <p:ph type="sldImg"/>
          </p:nvPr>
        </p:nvSpPr>
        <p:spPr/>
      </p:sp>
      <p:sp>
        <p:nvSpPr>
          <p:cNvPr id="104451"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177A7DFF-E366-894D-AE11-E372FC777130}" type="slidenum">
              <a:rPr lang="en-US"/>
              <a:t>122</a:t>
            </a:fld>
            <a:endParaRPr lang="en-US"/>
          </a:p>
        </p:txBody>
      </p:sp>
      <p:sp>
        <p:nvSpPr>
          <p:cNvPr id="105474" name="Rectangle 2"/>
          <p:cNvSpPr>
            <a:spLocks noGrp="1" noRot="1" noChangeAspect="1" noChangeArrowheads="1" noTextEdit="1"/>
          </p:cNvSpPr>
          <p:nvPr>
            <p:ph type="sldImg"/>
          </p:nvPr>
        </p:nvSpPr>
        <p:spPr/>
      </p:sp>
      <p:sp>
        <p:nvSpPr>
          <p:cNvPr id="105475"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02164779-EDBD-A947-A945-45F2979F167B}" type="slidenum">
              <a:rPr lang="en-US"/>
              <a:t>123</a:t>
            </a:fld>
            <a:endParaRPr lang="en-US"/>
          </a:p>
        </p:txBody>
      </p:sp>
      <p:sp>
        <p:nvSpPr>
          <p:cNvPr id="106498" name="Rectangle 2"/>
          <p:cNvSpPr>
            <a:spLocks noGrp="1" noRot="1" noChangeAspect="1" noChangeArrowheads="1" noTextEdit="1"/>
          </p:cNvSpPr>
          <p:nvPr>
            <p:ph type="sldImg"/>
          </p:nvPr>
        </p:nvSpPr>
        <p:spPr/>
      </p:sp>
      <p:sp>
        <p:nvSpPr>
          <p:cNvPr id="106499"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7"/>
          <p:cNvSpPr>
            <a:spLocks noGrp="1" noChangeArrowheads="1"/>
          </p:cNvSpPr>
          <p:nvPr>
            <p:ph type="ftr" sz="quarter" idx="11"/>
          </p:nvPr>
        </p:nvSpPr>
        <p:spPr>
          <a:xfrm>
            <a:off x="5532438" y="6467475"/>
            <a:ext cx="2895600" cy="287338"/>
          </a:xfrm>
          <a:prstGeom prst="rect">
            <a:avLst/>
          </a:prstGeom>
        </p:spPr>
        <p:txBody>
          <a:bodyPr/>
          <a:lstStyle>
            <a:lvl1pPr>
              <a:defRPr/>
            </a:lvl1pPr>
          </a:lstStyle>
          <a:p>
            <a:pPr>
              <a:defRPr/>
            </a:pPr>
            <a:r>
              <a:rPr lang="en-US"/>
              <a:t>Network Layer</a:t>
            </a:r>
          </a:p>
        </p:txBody>
      </p:sp>
      <p:sp>
        <p:nvSpPr>
          <p:cNvPr id="6" name="Rectangle 8"/>
          <p:cNvSpPr>
            <a:spLocks noGrp="1" noChangeArrowheads="1"/>
          </p:cNvSpPr>
          <p:nvPr>
            <p:ph type="sldNum" sz="quarter" idx="12"/>
          </p:nvPr>
        </p:nvSpPr>
        <p:spPr>
          <a:xfrm>
            <a:off x="8324850" y="6462713"/>
            <a:ext cx="676275" cy="276225"/>
          </a:xfrm>
          <a:prstGeom prst="rect">
            <a:avLst/>
          </a:prstGeom>
        </p:spPr>
        <p:txBody>
          <a:bodyPr/>
          <a:lstStyle>
            <a:lvl1pPr>
              <a:defRPr/>
            </a:lvl1pPr>
          </a:lstStyle>
          <a:p>
            <a:pPr>
              <a:defRPr/>
            </a:pPr>
            <a:r>
              <a:rPr lang="en-US"/>
              <a:t>4-</a:t>
            </a:r>
            <a:fld id="{743F53F6-B523-C44E-B4C1-FCBC5EB649F5}" type="slidenum">
              <a:rPr lang="en-US"/>
              <a:t>‹#›</a:t>
            </a:fld>
            <a:endParaRPr 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7"/>
          <p:cNvSpPr>
            <a:spLocks noGrp="1" noChangeArrowheads="1"/>
          </p:cNvSpPr>
          <p:nvPr>
            <p:ph type="ftr" sz="quarter" idx="11"/>
          </p:nvPr>
        </p:nvSpPr>
        <p:spPr>
          <a:xfrm>
            <a:off x="5532438" y="6467475"/>
            <a:ext cx="2895600" cy="287338"/>
          </a:xfrm>
          <a:prstGeom prst="rect">
            <a:avLst/>
          </a:prstGeom>
        </p:spPr>
        <p:txBody>
          <a:bodyPr/>
          <a:lstStyle>
            <a:lvl1pPr>
              <a:defRPr/>
            </a:lvl1pPr>
          </a:lstStyle>
          <a:p>
            <a:pPr>
              <a:defRPr/>
            </a:pPr>
            <a:r>
              <a:rPr lang="en-US"/>
              <a:t>Network Layer</a:t>
            </a:r>
          </a:p>
        </p:txBody>
      </p:sp>
      <p:sp>
        <p:nvSpPr>
          <p:cNvPr id="6" name="Rectangle 8"/>
          <p:cNvSpPr>
            <a:spLocks noGrp="1" noChangeArrowheads="1"/>
          </p:cNvSpPr>
          <p:nvPr>
            <p:ph type="sldNum" sz="quarter" idx="12"/>
          </p:nvPr>
        </p:nvSpPr>
        <p:spPr>
          <a:xfrm>
            <a:off x="8324850" y="6462713"/>
            <a:ext cx="676275" cy="276225"/>
          </a:xfrm>
          <a:prstGeom prst="rect">
            <a:avLst/>
          </a:prstGeom>
        </p:spPr>
        <p:txBody>
          <a:bodyPr/>
          <a:lstStyle>
            <a:lvl1pPr>
              <a:defRPr/>
            </a:lvl1pPr>
          </a:lstStyle>
          <a:p>
            <a:pPr>
              <a:defRPr/>
            </a:pPr>
            <a:r>
              <a:rPr lang="en-US"/>
              <a:t>4-</a:t>
            </a:r>
            <a:fld id="{D498B073-F070-8F40-A264-45FE158B6770}" type="slidenum">
              <a:rPr lang="en-US"/>
              <a:t>‹#›</a:t>
            </a:fld>
            <a:endParaRPr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7"/>
          <p:cNvSpPr>
            <a:spLocks noGrp="1" noChangeArrowheads="1"/>
          </p:cNvSpPr>
          <p:nvPr>
            <p:ph type="ftr" sz="quarter" idx="11"/>
          </p:nvPr>
        </p:nvSpPr>
        <p:spPr>
          <a:xfrm>
            <a:off x="5532438" y="6467475"/>
            <a:ext cx="2895600" cy="287338"/>
          </a:xfrm>
          <a:prstGeom prst="rect">
            <a:avLst/>
          </a:prstGeom>
        </p:spPr>
        <p:txBody>
          <a:bodyPr/>
          <a:lstStyle>
            <a:lvl1pPr>
              <a:defRPr/>
            </a:lvl1pPr>
          </a:lstStyle>
          <a:p>
            <a:pPr>
              <a:defRPr/>
            </a:pPr>
            <a:r>
              <a:rPr lang="en-US"/>
              <a:t>Network Layer</a:t>
            </a:r>
          </a:p>
        </p:txBody>
      </p:sp>
      <p:sp>
        <p:nvSpPr>
          <p:cNvPr id="6" name="Rectangle 8"/>
          <p:cNvSpPr>
            <a:spLocks noGrp="1" noChangeArrowheads="1"/>
          </p:cNvSpPr>
          <p:nvPr>
            <p:ph type="sldNum" sz="quarter" idx="12"/>
          </p:nvPr>
        </p:nvSpPr>
        <p:spPr>
          <a:xfrm>
            <a:off x="8324850" y="6462713"/>
            <a:ext cx="676275" cy="276225"/>
          </a:xfrm>
          <a:prstGeom prst="rect">
            <a:avLst/>
          </a:prstGeom>
        </p:spPr>
        <p:txBody>
          <a:bodyPr/>
          <a:lstStyle>
            <a:lvl1pPr>
              <a:defRPr/>
            </a:lvl1pPr>
          </a:lstStyle>
          <a:p>
            <a:pPr>
              <a:defRPr/>
            </a:pPr>
            <a:r>
              <a:rPr lang="en-US"/>
              <a:t>4-</a:t>
            </a:r>
            <a:fld id="{A5E2E980-7D79-7040-B5D8-18DB884801CE}" type="slidenum">
              <a:rPr lang="en-US"/>
              <a:t>‹#›</a:t>
            </a:fld>
            <a:endParaRPr 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5334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defRPr/>
            </a:lvl1pPr>
          </a:lstStyle>
          <a:p>
            <a:pPr>
              <a:defRPr/>
            </a:pPr>
            <a:endParaRPr lang="en-US"/>
          </a:p>
        </p:txBody>
      </p:sp>
      <p:sp>
        <p:nvSpPr>
          <p:cNvPr id="6" name="Rectangle 7"/>
          <p:cNvSpPr>
            <a:spLocks noGrp="1" noChangeArrowheads="1"/>
          </p:cNvSpPr>
          <p:nvPr>
            <p:ph type="ftr" sz="quarter" idx="11"/>
          </p:nvPr>
        </p:nvSpPr>
        <p:spPr>
          <a:xfrm>
            <a:off x="5532438" y="6467475"/>
            <a:ext cx="2895600" cy="287338"/>
          </a:xfrm>
          <a:prstGeom prst="rect">
            <a:avLst/>
          </a:prstGeom>
        </p:spPr>
        <p:txBody>
          <a:bodyPr/>
          <a:lstStyle>
            <a:lvl1pPr>
              <a:defRPr/>
            </a:lvl1pPr>
          </a:lstStyle>
          <a:p>
            <a:pPr>
              <a:defRPr/>
            </a:pPr>
            <a:r>
              <a:rPr lang="en-US"/>
              <a:t>Network Layer</a:t>
            </a:r>
          </a:p>
        </p:txBody>
      </p:sp>
      <p:sp>
        <p:nvSpPr>
          <p:cNvPr id="7" name="Rectangle 8"/>
          <p:cNvSpPr>
            <a:spLocks noGrp="1" noChangeArrowheads="1"/>
          </p:cNvSpPr>
          <p:nvPr>
            <p:ph type="sldNum" sz="quarter" idx="12"/>
          </p:nvPr>
        </p:nvSpPr>
        <p:spPr>
          <a:xfrm>
            <a:off x="8324850" y="6462713"/>
            <a:ext cx="676275" cy="276225"/>
          </a:xfrm>
          <a:prstGeom prst="rect">
            <a:avLst/>
          </a:prstGeom>
        </p:spPr>
        <p:txBody>
          <a:bodyPr/>
          <a:lstStyle>
            <a:lvl1pPr>
              <a:defRPr/>
            </a:lvl1pPr>
          </a:lstStyle>
          <a:p>
            <a:pPr>
              <a:defRPr/>
            </a:pPr>
            <a:r>
              <a:rPr lang="en-US"/>
              <a:t>4-</a:t>
            </a:r>
            <a:fld id="{F735F25A-B97A-024B-B408-E1A4C1DF4143}" type="slidenum">
              <a:rPr lang="en-US"/>
              <a:t>‹#›</a:t>
            </a:fld>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defRPr/>
            </a:lvl1pPr>
          </a:lstStyle>
          <a:p>
            <a:pPr>
              <a:defRPr/>
            </a:pPr>
            <a:endParaRPr lang="en-US"/>
          </a:p>
        </p:txBody>
      </p:sp>
      <p:sp>
        <p:nvSpPr>
          <p:cNvPr id="8" name="Footer Placeholder 7"/>
          <p:cNvSpPr>
            <a:spLocks noGrp="1" noChangeArrowheads="1"/>
          </p:cNvSpPr>
          <p:nvPr>
            <p:ph type="ftr" sz="quarter" idx="11"/>
          </p:nvPr>
        </p:nvSpPr>
        <p:spPr>
          <a:xfrm>
            <a:off x="5532438" y="6467475"/>
            <a:ext cx="2895600" cy="287338"/>
          </a:xfrm>
          <a:prstGeom prst="rect">
            <a:avLst/>
          </a:prstGeom>
        </p:spPr>
        <p:txBody>
          <a:bodyPr/>
          <a:lstStyle>
            <a:lvl1pPr>
              <a:defRPr/>
            </a:lvl1pPr>
          </a:lstStyle>
          <a:p>
            <a:pPr>
              <a:defRPr/>
            </a:pPr>
            <a:r>
              <a:rPr lang="en-US"/>
              <a:t>Network Layer</a:t>
            </a:r>
          </a:p>
        </p:txBody>
      </p:sp>
      <p:sp>
        <p:nvSpPr>
          <p:cNvPr id="9" name="Slide Number Placeholder 8"/>
          <p:cNvSpPr>
            <a:spLocks noGrp="1" noChangeArrowheads="1"/>
          </p:cNvSpPr>
          <p:nvPr>
            <p:ph type="sldNum" sz="quarter" idx="12"/>
          </p:nvPr>
        </p:nvSpPr>
        <p:spPr>
          <a:xfrm>
            <a:off x="8324850" y="6462713"/>
            <a:ext cx="676275" cy="276225"/>
          </a:xfrm>
          <a:prstGeom prst="rect">
            <a:avLst/>
          </a:prstGeom>
        </p:spPr>
        <p:txBody>
          <a:bodyPr/>
          <a:lstStyle>
            <a:lvl1pPr>
              <a:defRPr/>
            </a:lvl1pPr>
          </a:lstStyle>
          <a:p>
            <a:pPr>
              <a:defRPr/>
            </a:pPr>
            <a:r>
              <a:rPr lang="en-US"/>
              <a:t>4-</a:t>
            </a:r>
            <a:fld id="{DD8B96B1-2EDF-B64A-A4F1-BB54A74ACDCF}" type="slidenum">
              <a:rPr lang="en-US"/>
              <a:t>‹#›</a:t>
            </a:fld>
            <a:endParaRPr 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defRPr/>
            </a:lvl1pPr>
          </a:lstStyle>
          <a:p>
            <a:pPr>
              <a:defRPr/>
            </a:pPr>
            <a:endParaRPr lang="en-US"/>
          </a:p>
        </p:txBody>
      </p:sp>
      <p:sp>
        <p:nvSpPr>
          <p:cNvPr id="4" name="Rectangle 7"/>
          <p:cNvSpPr>
            <a:spLocks noGrp="1" noChangeArrowheads="1"/>
          </p:cNvSpPr>
          <p:nvPr>
            <p:ph type="ftr" sz="quarter" idx="11"/>
          </p:nvPr>
        </p:nvSpPr>
        <p:spPr>
          <a:xfrm>
            <a:off x="5532438" y="6467475"/>
            <a:ext cx="2895600" cy="287338"/>
          </a:xfrm>
          <a:prstGeom prst="rect">
            <a:avLst/>
          </a:prstGeom>
        </p:spPr>
        <p:txBody>
          <a:bodyPr/>
          <a:lstStyle>
            <a:lvl1pPr>
              <a:defRPr/>
            </a:lvl1pPr>
          </a:lstStyle>
          <a:p>
            <a:pPr>
              <a:defRPr/>
            </a:pPr>
            <a:r>
              <a:rPr lang="en-US"/>
              <a:t>Network Layer</a:t>
            </a:r>
          </a:p>
        </p:txBody>
      </p:sp>
      <p:sp>
        <p:nvSpPr>
          <p:cNvPr id="5" name="Rectangle 8"/>
          <p:cNvSpPr>
            <a:spLocks noGrp="1" noChangeArrowheads="1"/>
          </p:cNvSpPr>
          <p:nvPr>
            <p:ph type="sldNum" sz="quarter" idx="12"/>
          </p:nvPr>
        </p:nvSpPr>
        <p:spPr>
          <a:xfrm>
            <a:off x="8324850" y="6462713"/>
            <a:ext cx="676275" cy="276225"/>
          </a:xfrm>
          <a:prstGeom prst="rect">
            <a:avLst/>
          </a:prstGeom>
        </p:spPr>
        <p:txBody>
          <a:bodyPr/>
          <a:lstStyle>
            <a:lvl1pPr>
              <a:defRPr/>
            </a:lvl1pPr>
          </a:lstStyle>
          <a:p>
            <a:pPr>
              <a:defRPr/>
            </a:pPr>
            <a:r>
              <a:rPr lang="en-US"/>
              <a:t>4-</a:t>
            </a:r>
            <a:fld id="{0DCF9BDD-CFA9-4940-A134-4E3EBF4AC9F4}" type="slidenum">
              <a:rPr lang="en-US"/>
              <a:t>‹#›</a:t>
            </a:fld>
            <a:endParaRPr 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vl1pPr>
          </a:lstStyle>
          <a:p>
            <a:pPr>
              <a:defRPr/>
            </a:pPr>
            <a:endParaRPr lang="en-US"/>
          </a:p>
        </p:txBody>
      </p:sp>
      <p:sp>
        <p:nvSpPr>
          <p:cNvPr id="3" name="Rectangle 7"/>
          <p:cNvSpPr>
            <a:spLocks noGrp="1" noChangeArrowheads="1"/>
          </p:cNvSpPr>
          <p:nvPr>
            <p:ph type="ftr" sz="quarter" idx="11"/>
          </p:nvPr>
        </p:nvSpPr>
        <p:spPr>
          <a:xfrm>
            <a:off x="5532438" y="6467475"/>
            <a:ext cx="2895600" cy="287338"/>
          </a:xfrm>
          <a:prstGeom prst="rect">
            <a:avLst/>
          </a:prstGeom>
        </p:spPr>
        <p:txBody>
          <a:bodyPr/>
          <a:lstStyle>
            <a:lvl1pPr>
              <a:defRPr/>
            </a:lvl1pPr>
          </a:lstStyle>
          <a:p>
            <a:pPr>
              <a:defRPr/>
            </a:pPr>
            <a:r>
              <a:rPr lang="en-US"/>
              <a:t>Network Layer</a:t>
            </a:r>
          </a:p>
        </p:txBody>
      </p:sp>
      <p:sp>
        <p:nvSpPr>
          <p:cNvPr id="4" name="Rectangle 8"/>
          <p:cNvSpPr>
            <a:spLocks noGrp="1" noChangeArrowheads="1"/>
          </p:cNvSpPr>
          <p:nvPr>
            <p:ph type="sldNum" sz="quarter" idx="12"/>
          </p:nvPr>
        </p:nvSpPr>
        <p:spPr>
          <a:xfrm>
            <a:off x="8324850" y="6462713"/>
            <a:ext cx="676275" cy="276225"/>
          </a:xfrm>
          <a:prstGeom prst="rect">
            <a:avLst/>
          </a:prstGeom>
        </p:spPr>
        <p:txBody>
          <a:bodyPr/>
          <a:lstStyle>
            <a:lvl1pPr>
              <a:defRPr/>
            </a:lvl1pPr>
          </a:lstStyle>
          <a:p>
            <a:pPr>
              <a:defRPr/>
            </a:pPr>
            <a:r>
              <a:rPr lang="en-US"/>
              <a:t>4-</a:t>
            </a:r>
            <a:fld id="{7EFC9773-7379-5049-A6C9-0C8EEEC5C544}" type="slidenum">
              <a:rPr lang="en-US"/>
              <a:t>‹#›</a:t>
            </a:fld>
            <a:endParaRPr 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a:lvl1pPr>
          </a:lstStyle>
          <a:p>
            <a:pPr>
              <a:defRPr/>
            </a:pPr>
            <a:endParaRPr lang="en-US"/>
          </a:p>
        </p:txBody>
      </p:sp>
      <p:sp>
        <p:nvSpPr>
          <p:cNvPr id="6" name="Rectangle 7"/>
          <p:cNvSpPr>
            <a:spLocks noGrp="1" noChangeArrowheads="1"/>
          </p:cNvSpPr>
          <p:nvPr>
            <p:ph type="ftr" sz="quarter" idx="11"/>
          </p:nvPr>
        </p:nvSpPr>
        <p:spPr>
          <a:xfrm>
            <a:off x="5532438" y="6467475"/>
            <a:ext cx="2895600" cy="287338"/>
          </a:xfrm>
          <a:prstGeom prst="rect">
            <a:avLst/>
          </a:prstGeom>
        </p:spPr>
        <p:txBody>
          <a:bodyPr/>
          <a:lstStyle>
            <a:lvl1pPr>
              <a:defRPr/>
            </a:lvl1pPr>
          </a:lstStyle>
          <a:p>
            <a:pPr>
              <a:defRPr/>
            </a:pPr>
            <a:r>
              <a:rPr lang="en-US"/>
              <a:t>Network Layer</a:t>
            </a:r>
          </a:p>
        </p:txBody>
      </p:sp>
      <p:sp>
        <p:nvSpPr>
          <p:cNvPr id="7" name="Rectangle 8"/>
          <p:cNvSpPr>
            <a:spLocks noGrp="1" noChangeArrowheads="1"/>
          </p:cNvSpPr>
          <p:nvPr>
            <p:ph type="sldNum" sz="quarter" idx="12"/>
          </p:nvPr>
        </p:nvSpPr>
        <p:spPr>
          <a:xfrm>
            <a:off x="8324850" y="6462713"/>
            <a:ext cx="676275" cy="276225"/>
          </a:xfrm>
          <a:prstGeom prst="rect">
            <a:avLst/>
          </a:prstGeom>
        </p:spPr>
        <p:txBody>
          <a:bodyPr/>
          <a:lstStyle>
            <a:lvl1pPr>
              <a:defRPr/>
            </a:lvl1pPr>
          </a:lstStyle>
          <a:p>
            <a:pPr>
              <a:defRPr/>
            </a:pPr>
            <a:r>
              <a:rPr lang="en-US"/>
              <a:t>4-</a:t>
            </a:r>
            <a:fld id="{A514D338-4107-944C-9C9F-B78F8039FA74}" type="slidenum">
              <a:rPr lang="en-US"/>
              <a:t>‹#›</a:t>
            </a:fld>
            <a:endParaRPr 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a:lvl1pPr>
          </a:lstStyle>
          <a:p>
            <a:pPr>
              <a:defRPr/>
            </a:pPr>
            <a:endParaRPr lang="en-US"/>
          </a:p>
        </p:txBody>
      </p:sp>
      <p:sp>
        <p:nvSpPr>
          <p:cNvPr id="6" name="Rectangle 7"/>
          <p:cNvSpPr>
            <a:spLocks noGrp="1" noChangeArrowheads="1"/>
          </p:cNvSpPr>
          <p:nvPr>
            <p:ph type="ftr" sz="quarter" idx="11"/>
          </p:nvPr>
        </p:nvSpPr>
        <p:spPr>
          <a:xfrm>
            <a:off x="5532438" y="6467475"/>
            <a:ext cx="2895600" cy="287338"/>
          </a:xfrm>
          <a:prstGeom prst="rect">
            <a:avLst/>
          </a:prstGeom>
        </p:spPr>
        <p:txBody>
          <a:bodyPr/>
          <a:lstStyle>
            <a:lvl1pPr>
              <a:defRPr/>
            </a:lvl1pPr>
          </a:lstStyle>
          <a:p>
            <a:pPr>
              <a:defRPr/>
            </a:pPr>
            <a:r>
              <a:rPr lang="en-US"/>
              <a:t>Network Layer</a:t>
            </a:r>
          </a:p>
        </p:txBody>
      </p:sp>
      <p:sp>
        <p:nvSpPr>
          <p:cNvPr id="7" name="Rectangle 8"/>
          <p:cNvSpPr>
            <a:spLocks noGrp="1" noChangeArrowheads="1"/>
          </p:cNvSpPr>
          <p:nvPr>
            <p:ph type="sldNum" sz="quarter" idx="12"/>
          </p:nvPr>
        </p:nvSpPr>
        <p:spPr>
          <a:xfrm>
            <a:off x="8324850" y="6462713"/>
            <a:ext cx="676275" cy="276225"/>
          </a:xfrm>
          <a:prstGeom prst="rect">
            <a:avLst/>
          </a:prstGeom>
        </p:spPr>
        <p:txBody>
          <a:bodyPr/>
          <a:lstStyle>
            <a:lvl1pPr>
              <a:defRPr/>
            </a:lvl1pPr>
          </a:lstStyle>
          <a:p>
            <a:pPr>
              <a:defRPr/>
            </a:pPr>
            <a:r>
              <a:rPr lang="en-US"/>
              <a:t>4-</a:t>
            </a:r>
            <a:fld id="{EFD97474-BCA4-8B48-AA21-40B47D81E853}" type="slidenum">
              <a:rPr lang="en-US"/>
              <a:t>‹#›</a:t>
            </a:fld>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7"/>
          <p:cNvSpPr>
            <a:spLocks noGrp="1" noChangeArrowheads="1"/>
          </p:cNvSpPr>
          <p:nvPr>
            <p:ph type="ftr" sz="quarter" idx="11"/>
          </p:nvPr>
        </p:nvSpPr>
        <p:spPr>
          <a:xfrm>
            <a:off x="5532438" y="6467475"/>
            <a:ext cx="2895600" cy="287338"/>
          </a:xfrm>
          <a:prstGeom prst="rect">
            <a:avLst/>
          </a:prstGeom>
        </p:spPr>
        <p:txBody>
          <a:bodyPr/>
          <a:lstStyle>
            <a:lvl1pPr>
              <a:defRPr/>
            </a:lvl1pPr>
          </a:lstStyle>
          <a:p>
            <a:pPr>
              <a:defRPr/>
            </a:pPr>
            <a:r>
              <a:rPr lang="en-US"/>
              <a:t>Network Layer</a:t>
            </a:r>
          </a:p>
        </p:txBody>
      </p:sp>
      <p:sp>
        <p:nvSpPr>
          <p:cNvPr id="6" name="Rectangle 8"/>
          <p:cNvSpPr>
            <a:spLocks noGrp="1" noChangeArrowheads="1"/>
          </p:cNvSpPr>
          <p:nvPr>
            <p:ph type="sldNum" sz="quarter" idx="12"/>
          </p:nvPr>
        </p:nvSpPr>
        <p:spPr>
          <a:xfrm>
            <a:off x="8324850" y="6462713"/>
            <a:ext cx="676275" cy="276225"/>
          </a:xfrm>
          <a:prstGeom prst="rect">
            <a:avLst/>
          </a:prstGeom>
        </p:spPr>
        <p:txBody>
          <a:bodyPr/>
          <a:lstStyle>
            <a:lvl1pPr>
              <a:defRPr/>
            </a:lvl1pPr>
          </a:lstStyle>
          <a:p>
            <a:pPr>
              <a:defRPr/>
            </a:pPr>
            <a:r>
              <a:rPr lang="en-US"/>
              <a:t>4-</a:t>
            </a:r>
            <a:fld id="{38D61CF4-3907-BD48-A0AD-B97C00B711EA}" type="slidenum">
              <a:rPr lang="en-US"/>
              <a:t>‹#›</a:t>
            </a:fld>
            <a:endParaRPr 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362700" y="228600"/>
            <a:ext cx="1943100" cy="6019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33400" y="228600"/>
            <a:ext cx="5676900"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7"/>
          <p:cNvSpPr>
            <a:spLocks noGrp="1" noChangeArrowheads="1"/>
          </p:cNvSpPr>
          <p:nvPr>
            <p:ph type="ftr" sz="quarter" idx="11"/>
          </p:nvPr>
        </p:nvSpPr>
        <p:spPr>
          <a:xfrm>
            <a:off x="5532438" y="6467475"/>
            <a:ext cx="2895600" cy="287338"/>
          </a:xfrm>
          <a:prstGeom prst="rect">
            <a:avLst/>
          </a:prstGeom>
        </p:spPr>
        <p:txBody>
          <a:bodyPr/>
          <a:lstStyle>
            <a:lvl1pPr>
              <a:defRPr/>
            </a:lvl1pPr>
          </a:lstStyle>
          <a:p>
            <a:pPr>
              <a:defRPr/>
            </a:pPr>
            <a:r>
              <a:rPr lang="en-US"/>
              <a:t>Network Layer</a:t>
            </a:r>
          </a:p>
        </p:txBody>
      </p:sp>
      <p:sp>
        <p:nvSpPr>
          <p:cNvPr id="6" name="Rectangle 8"/>
          <p:cNvSpPr>
            <a:spLocks noGrp="1" noChangeArrowheads="1"/>
          </p:cNvSpPr>
          <p:nvPr>
            <p:ph type="sldNum" sz="quarter" idx="12"/>
          </p:nvPr>
        </p:nvSpPr>
        <p:spPr>
          <a:xfrm>
            <a:off x="8324850" y="6462713"/>
            <a:ext cx="676275" cy="276225"/>
          </a:xfrm>
          <a:prstGeom prst="rect">
            <a:avLst/>
          </a:prstGeom>
        </p:spPr>
        <p:txBody>
          <a:bodyPr/>
          <a:lstStyle>
            <a:lvl1pPr>
              <a:defRPr/>
            </a:lvl1pPr>
          </a:lstStyle>
          <a:p>
            <a:pPr>
              <a:defRPr/>
            </a:pPr>
            <a:r>
              <a:rPr lang="en-US"/>
              <a:t>4-</a:t>
            </a:r>
            <a:fld id="{4E5268B6-BFED-754B-A245-6D16E75F0749}" type="slidenum">
              <a:rPr lang="en-US"/>
              <a:t>‹#›</a:t>
            </a:fld>
            <a:endParaRPr 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533400" y="228600"/>
            <a:ext cx="7772400" cy="1143000"/>
          </a:xfrm>
        </p:spPr>
        <p:txBody>
          <a:bodyPr/>
          <a:lstStyle/>
          <a:p>
            <a:r>
              <a:rPr lang="en-US"/>
              <a:t>Click to edit Master title style</a:t>
            </a:r>
          </a:p>
        </p:txBody>
      </p:sp>
      <p:sp>
        <p:nvSpPr>
          <p:cNvPr id="3" name="Text Placeholder 2"/>
          <p:cNvSpPr>
            <a:spLocks noGrp="1"/>
          </p:cNvSpPr>
          <p:nvPr>
            <p:ph type="body" sz="half" idx="1"/>
          </p:nvPr>
        </p:nvSpPr>
        <p:spPr>
          <a:xfrm>
            <a:off x="533400" y="1600200"/>
            <a:ext cx="3810000" cy="464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600200"/>
            <a:ext cx="3810000" cy="464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defRPr/>
            </a:lvl1pPr>
          </a:lstStyle>
          <a:p>
            <a:pPr>
              <a:defRPr/>
            </a:pPr>
            <a:endParaRPr lang="en-US"/>
          </a:p>
        </p:txBody>
      </p:sp>
      <p:sp>
        <p:nvSpPr>
          <p:cNvPr id="6" name="Rectangle 7"/>
          <p:cNvSpPr>
            <a:spLocks noGrp="1" noChangeArrowheads="1"/>
          </p:cNvSpPr>
          <p:nvPr>
            <p:ph type="ftr" sz="quarter" idx="11"/>
          </p:nvPr>
        </p:nvSpPr>
        <p:spPr>
          <a:xfrm>
            <a:off x="5532438" y="6467475"/>
            <a:ext cx="2895600" cy="287338"/>
          </a:xfrm>
          <a:prstGeom prst="rect">
            <a:avLst/>
          </a:prstGeom>
        </p:spPr>
        <p:txBody>
          <a:bodyPr/>
          <a:lstStyle>
            <a:lvl1pPr>
              <a:defRPr/>
            </a:lvl1pPr>
          </a:lstStyle>
          <a:p>
            <a:pPr>
              <a:defRPr/>
            </a:pPr>
            <a:r>
              <a:rPr lang="en-US"/>
              <a:t>Network Layer</a:t>
            </a:r>
          </a:p>
        </p:txBody>
      </p:sp>
      <p:sp>
        <p:nvSpPr>
          <p:cNvPr id="7" name="Rectangle 8"/>
          <p:cNvSpPr>
            <a:spLocks noGrp="1" noChangeArrowheads="1"/>
          </p:cNvSpPr>
          <p:nvPr>
            <p:ph type="sldNum" sz="quarter" idx="12"/>
          </p:nvPr>
        </p:nvSpPr>
        <p:spPr>
          <a:xfrm>
            <a:off x="8324850" y="6462713"/>
            <a:ext cx="676275" cy="276225"/>
          </a:xfrm>
          <a:prstGeom prst="rect">
            <a:avLst/>
          </a:prstGeom>
        </p:spPr>
        <p:txBody>
          <a:bodyPr/>
          <a:lstStyle>
            <a:lvl1pPr>
              <a:defRPr/>
            </a:lvl1pPr>
          </a:lstStyle>
          <a:p>
            <a:pPr>
              <a:defRPr/>
            </a:pPr>
            <a:r>
              <a:rPr lang="en-US"/>
              <a:t>4-</a:t>
            </a:r>
            <a:fld id="{EC0F1923-A596-1A47-A249-877B26CCB952}" type="slidenum">
              <a:rPr lang="en-US"/>
              <a:t>‹#›</a:t>
            </a:fld>
            <a:endParaRPr lang="en-US"/>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6" name="Rectangle 6"/>
          <p:cNvSpPr>
            <a:spLocks noGrp="1" noChangeArrowheads="1"/>
          </p:cNvSpPr>
          <p:nvPr>
            <p:ph type="sldNum" sz="quarter" idx="12"/>
          </p:nvPr>
        </p:nvSpPr>
        <p:spPr/>
        <p:txBody>
          <a:bodyPr/>
          <a:lstStyle>
            <a:lvl1pPr>
              <a:defRPr/>
            </a:lvl1pPr>
          </a:lstStyle>
          <a:p>
            <a:pPr>
              <a:defRPr/>
            </a:pPr>
            <a:r>
              <a:rPr lang="en-US" altLang="zh-CN"/>
              <a:t>4-</a:t>
            </a:r>
            <a:fld id="{511F736E-0FA2-7D45-A848-DC9373AEE029}" type="slidenum">
              <a:rPr lang="en-US" altLang="zh-CN" smtClean="0"/>
              <a:t>‹#›</a:t>
            </a:fld>
            <a:endParaRPr lang="en-US" altLang="zh-CN"/>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6" name="Rectangle 6"/>
          <p:cNvSpPr>
            <a:spLocks noGrp="1" noChangeArrowheads="1"/>
          </p:cNvSpPr>
          <p:nvPr>
            <p:ph type="sldNum" sz="quarter" idx="12"/>
          </p:nvPr>
        </p:nvSpPr>
        <p:spPr/>
        <p:txBody>
          <a:bodyPr/>
          <a:lstStyle>
            <a:lvl1pPr>
              <a:defRPr/>
            </a:lvl1pPr>
          </a:lstStyle>
          <a:p>
            <a:pPr>
              <a:defRPr/>
            </a:pPr>
            <a:r>
              <a:rPr lang="en-US" altLang="zh-CN"/>
              <a:t>4-</a:t>
            </a:r>
            <a:fld id="{66C9E5E1-AC4D-4945-B147-EE6DF0785BF4}" type="slidenum">
              <a:rPr lang="en-US" altLang="zh-CN" smtClean="0"/>
              <a:t>‹#›</a:t>
            </a:fld>
            <a:endParaRPr lang="en-US" altLang="zh-CN"/>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6" name="Rectangle 6"/>
          <p:cNvSpPr>
            <a:spLocks noGrp="1" noChangeArrowheads="1"/>
          </p:cNvSpPr>
          <p:nvPr>
            <p:ph type="sldNum" sz="quarter" idx="12"/>
          </p:nvPr>
        </p:nvSpPr>
        <p:spPr/>
        <p:txBody>
          <a:bodyPr/>
          <a:lstStyle>
            <a:lvl1pPr>
              <a:defRPr/>
            </a:lvl1pPr>
          </a:lstStyle>
          <a:p>
            <a:pPr>
              <a:defRPr/>
            </a:pPr>
            <a:r>
              <a:rPr lang="en-US" altLang="zh-CN"/>
              <a:t>4-</a:t>
            </a:r>
            <a:fld id="{FFA9B3CE-22BE-0F40-9618-AC797635459A}" type="slidenum">
              <a:rPr lang="en-US" altLang="zh-CN" smtClean="0"/>
              <a:t>‹#›</a:t>
            </a:fld>
            <a:endParaRPr lang="en-US" altLang="zh-CN"/>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5334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4958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4"/>
          <p:cNvSpPr>
            <a:spLocks noGrp="1" noChangeArrowheads="1"/>
          </p:cNvSpPr>
          <p:nvPr>
            <p:ph type="dt" sz="half" idx="10"/>
          </p:nvPr>
        </p:nvSpPr>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7" name="Rectangle 6"/>
          <p:cNvSpPr>
            <a:spLocks noGrp="1" noChangeArrowheads="1"/>
          </p:cNvSpPr>
          <p:nvPr>
            <p:ph type="sldNum" sz="quarter" idx="12"/>
          </p:nvPr>
        </p:nvSpPr>
        <p:spPr/>
        <p:txBody>
          <a:bodyPr/>
          <a:lstStyle>
            <a:lvl1pPr>
              <a:defRPr/>
            </a:lvl1pPr>
          </a:lstStyle>
          <a:p>
            <a:pPr>
              <a:defRPr/>
            </a:pPr>
            <a:r>
              <a:rPr lang="en-US" altLang="zh-CN"/>
              <a:t>4-</a:t>
            </a:r>
            <a:fld id="{C1629214-9250-8C4A-AC8B-A0691B04D4A1}" type="slidenum">
              <a:rPr lang="en-US" altLang="zh-CN" smtClean="0"/>
              <a:t>‹#›</a:t>
            </a:fld>
            <a:endParaRPr lang="en-US" altLang="zh-CN"/>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Rectangle 4"/>
          <p:cNvSpPr>
            <a:spLocks noGrp="1" noChangeArrowheads="1"/>
          </p:cNvSpPr>
          <p:nvPr>
            <p:ph type="dt" sz="half" idx="10"/>
          </p:nvPr>
        </p:nvSpPr>
        <p:spPr/>
        <p:txBody>
          <a:bodyPr/>
          <a:lstStyle>
            <a:lvl1pPr>
              <a:defRPr/>
            </a:lvl1pPr>
          </a:lstStyle>
          <a:p>
            <a:pPr>
              <a:defRPr/>
            </a:pPr>
            <a:endParaRPr lang="en-US" altLang="zh-CN"/>
          </a:p>
        </p:txBody>
      </p:sp>
      <p:sp>
        <p:nvSpPr>
          <p:cNvPr id="8"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9" name="Rectangle 6"/>
          <p:cNvSpPr>
            <a:spLocks noGrp="1" noChangeArrowheads="1"/>
          </p:cNvSpPr>
          <p:nvPr>
            <p:ph type="sldNum" sz="quarter" idx="12"/>
          </p:nvPr>
        </p:nvSpPr>
        <p:spPr/>
        <p:txBody>
          <a:bodyPr/>
          <a:lstStyle>
            <a:lvl1pPr>
              <a:defRPr/>
            </a:lvl1pPr>
          </a:lstStyle>
          <a:p>
            <a:pPr>
              <a:defRPr/>
            </a:pPr>
            <a:r>
              <a:rPr lang="en-US" altLang="zh-CN"/>
              <a:t>4-</a:t>
            </a:r>
            <a:fld id="{1827C2D3-3B13-C741-A083-E15D85FF714C}" type="slidenum">
              <a:rPr lang="en-US" altLang="zh-CN" smtClean="0"/>
              <a:t>‹#›</a:t>
            </a:fld>
            <a:endParaRPr lang="en-US" altLang="zh-CN"/>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Rectangle 4"/>
          <p:cNvSpPr>
            <a:spLocks noGrp="1" noChangeArrowheads="1"/>
          </p:cNvSpPr>
          <p:nvPr>
            <p:ph type="dt" sz="half" idx="10"/>
          </p:nvPr>
        </p:nvSpPr>
        <p:spPr/>
        <p:txBody>
          <a:bodyPr/>
          <a:lstStyle>
            <a:lvl1pPr>
              <a:defRPr/>
            </a:lvl1pPr>
          </a:lstStyle>
          <a:p>
            <a:pPr>
              <a:defRPr/>
            </a:pPr>
            <a:endParaRPr lang="en-US" altLang="zh-CN"/>
          </a:p>
        </p:txBody>
      </p:sp>
      <p:sp>
        <p:nvSpPr>
          <p:cNvPr id="4"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5" name="Rectangle 6"/>
          <p:cNvSpPr>
            <a:spLocks noGrp="1" noChangeArrowheads="1"/>
          </p:cNvSpPr>
          <p:nvPr>
            <p:ph type="sldNum" sz="quarter" idx="12"/>
          </p:nvPr>
        </p:nvSpPr>
        <p:spPr/>
        <p:txBody>
          <a:bodyPr/>
          <a:lstStyle>
            <a:lvl1pPr>
              <a:defRPr/>
            </a:lvl1pPr>
          </a:lstStyle>
          <a:p>
            <a:pPr>
              <a:defRPr/>
            </a:pPr>
            <a:r>
              <a:rPr lang="en-US" altLang="zh-CN"/>
              <a:t>4-</a:t>
            </a:r>
            <a:fld id="{7BAA8232-58F5-094F-88B4-B659ED6B8171}" type="slidenum">
              <a:rPr lang="en-US" altLang="zh-CN" smtClean="0"/>
              <a:t>‹#›</a:t>
            </a:fld>
            <a:endParaRPr lang="en-US" altLang="zh-CN"/>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vl1pPr>
          </a:lstStyle>
          <a:p>
            <a:pPr>
              <a:defRPr/>
            </a:pPr>
            <a:endParaRPr lang="en-US" altLang="zh-CN"/>
          </a:p>
        </p:txBody>
      </p:sp>
      <p:sp>
        <p:nvSpPr>
          <p:cNvPr id="3"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4" name="Rectangle 6"/>
          <p:cNvSpPr>
            <a:spLocks noGrp="1" noChangeArrowheads="1"/>
          </p:cNvSpPr>
          <p:nvPr>
            <p:ph type="sldNum" sz="quarter" idx="12"/>
          </p:nvPr>
        </p:nvSpPr>
        <p:spPr/>
        <p:txBody>
          <a:bodyPr/>
          <a:lstStyle>
            <a:lvl1pPr>
              <a:defRPr/>
            </a:lvl1pPr>
          </a:lstStyle>
          <a:p>
            <a:pPr>
              <a:defRPr/>
            </a:pPr>
            <a:r>
              <a:rPr lang="en-US" altLang="zh-CN"/>
              <a:t>4-</a:t>
            </a:r>
            <a:fld id="{6568E9ED-5E32-9545-A2CB-98865059026E}" type="slidenum">
              <a:rPr lang="en-US" altLang="zh-CN" smtClean="0"/>
              <a:t>‹#›</a:t>
            </a:fld>
            <a:endParaRPr lang="en-US" altLang="zh-CN"/>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Rectangle 4"/>
          <p:cNvSpPr>
            <a:spLocks noGrp="1" noChangeArrowheads="1"/>
          </p:cNvSpPr>
          <p:nvPr>
            <p:ph type="dt" sz="half" idx="10"/>
          </p:nvPr>
        </p:nvSpPr>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7" name="Rectangle 6"/>
          <p:cNvSpPr>
            <a:spLocks noGrp="1" noChangeArrowheads="1"/>
          </p:cNvSpPr>
          <p:nvPr>
            <p:ph type="sldNum" sz="quarter" idx="12"/>
          </p:nvPr>
        </p:nvSpPr>
        <p:spPr/>
        <p:txBody>
          <a:bodyPr/>
          <a:lstStyle>
            <a:lvl1pPr>
              <a:defRPr/>
            </a:lvl1pPr>
          </a:lstStyle>
          <a:p>
            <a:pPr>
              <a:defRPr/>
            </a:pPr>
            <a:r>
              <a:rPr lang="en-US" altLang="zh-CN"/>
              <a:t>4-</a:t>
            </a:r>
            <a:fld id="{68710D66-AB02-B747-8CF9-30F2A1CFEB43}" type="slidenum">
              <a:rPr lang="en-US" altLang="zh-CN" smtClean="0"/>
              <a:t>‹#›</a:t>
            </a:fld>
            <a:endParaRPr lang="en-US" altLang="zh-CN"/>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Rectangle 4"/>
          <p:cNvSpPr>
            <a:spLocks noGrp="1" noChangeArrowheads="1"/>
          </p:cNvSpPr>
          <p:nvPr>
            <p:ph type="dt" sz="half" idx="10"/>
          </p:nvPr>
        </p:nvSpPr>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7" name="Rectangle 6"/>
          <p:cNvSpPr>
            <a:spLocks noGrp="1" noChangeArrowheads="1"/>
          </p:cNvSpPr>
          <p:nvPr>
            <p:ph type="sldNum" sz="quarter" idx="12"/>
          </p:nvPr>
        </p:nvSpPr>
        <p:spPr/>
        <p:txBody>
          <a:bodyPr/>
          <a:lstStyle>
            <a:lvl1pPr>
              <a:defRPr/>
            </a:lvl1pPr>
          </a:lstStyle>
          <a:p>
            <a:pPr>
              <a:defRPr/>
            </a:pPr>
            <a:r>
              <a:rPr lang="en-US" altLang="zh-CN"/>
              <a:t>4-</a:t>
            </a:r>
            <a:fld id="{718E9F7F-DB06-BA46-A38E-C2EEFCD3E7AF}" type="slidenum">
              <a:rPr lang="en-US" altLang="zh-CN" smtClean="0"/>
              <a:t>‹#›</a:t>
            </a:fld>
            <a:endParaRPr lang="en-US" altLang="zh-CN"/>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6" name="Rectangle 6"/>
          <p:cNvSpPr>
            <a:spLocks noGrp="1" noChangeArrowheads="1"/>
          </p:cNvSpPr>
          <p:nvPr>
            <p:ph type="sldNum" sz="quarter" idx="12"/>
          </p:nvPr>
        </p:nvSpPr>
        <p:spPr/>
        <p:txBody>
          <a:bodyPr/>
          <a:lstStyle>
            <a:lvl1pPr>
              <a:defRPr/>
            </a:lvl1pPr>
          </a:lstStyle>
          <a:p>
            <a:pPr>
              <a:defRPr/>
            </a:pPr>
            <a:r>
              <a:rPr lang="en-US" altLang="zh-CN"/>
              <a:t>4-</a:t>
            </a:r>
            <a:fld id="{A5120C4D-F5F6-B04E-A1FE-E24AC07399FE}" type="slidenum">
              <a:rPr lang="en-US" altLang="zh-CN" smtClean="0"/>
              <a:t>‹#›</a:t>
            </a:fld>
            <a:endParaRPr lang="en-US" altLang="zh-CN"/>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362700" y="228600"/>
            <a:ext cx="1943100" cy="6019800"/>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533400" y="228600"/>
            <a:ext cx="5676900" cy="6019800"/>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6" name="Rectangle 6"/>
          <p:cNvSpPr>
            <a:spLocks noGrp="1" noChangeArrowheads="1"/>
          </p:cNvSpPr>
          <p:nvPr>
            <p:ph type="sldNum" sz="quarter" idx="12"/>
          </p:nvPr>
        </p:nvSpPr>
        <p:spPr/>
        <p:txBody>
          <a:bodyPr/>
          <a:lstStyle>
            <a:lvl1pPr>
              <a:defRPr/>
            </a:lvl1pPr>
          </a:lstStyle>
          <a:p>
            <a:pPr>
              <a:defRPr/>
            </a:pPr>
            <a:r>
              <a:rPr lang="en-US" altLang="zh-CN"/>
              <a:t>4-</a:t>
            </a:r>
            <a:fld id="{F80508E2-799F-F54A-9DE1-44A971440EC8}" type="slidenum">
              <a:rPr lang="en-US" altLang="zh-CN" smtClean="0"/>
              <a:t>‹#›</a:t>
            </a:fld>
            <a:endParaRPr lang="en-US" altLang="zh-CN"/>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xAndObj" preserve="1">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533400" y="228600"/>
            <a:ext cx="7772400" cy="1143000"/>
          </a:xfrm>
        </p:spPr>
        <p:txBody>
          <a:bodyPr/>
          <a:lstStyle/>
          <a:p>
            <a:r>
              <a:rPr lang="zh-CN" altLang="en-US"/>
              <a:t>单击此处编辑母版标题样式</a:t>
            </a:r>
          </a:p>
        </p:txBody>
      </p:sp>
      <p:sp>
        <p:nvSpPr>
          <p:cNvPr id="3" name="文本占位符 2"/>
          <p:cNvSpPr>
            <a:spLocks noGrp="1"/>
          </p:cNvSpPr>
          <p:nvPr>
            <p:ph type="body" sz="half" idx="1"/>
          </p:nvPr>
        </p:nvSpPr>
        <p:spPr>
          <a:xfrm>
            <a:off x="533400" y="1600200"/>
            <a:ext cx="3810000" cy="46482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495800" y="1600200"/>
            <a:ext cx="3810000" cy="46482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4"/>
          <p:cNvSpPr>
            <a:spLocks noGrp="1" noChangeArrowheads="1"/>
          </p:cNvSpPr>
          <p:nvPr>
            <p:ph type="dt" sz="half" idx="10"/>
          </p:nvPr>
        </p:nvSpPr>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7" name="Rectangle 6"/>
          <p:cNvSpPr>
            <a:spLocks noGrp="1" noChangeArrowheads="1"/>
          </p:cNvSpPr>
          <p:nvPr>
            <p:ph type="sldNum" sz="quarter" idx="12"/>
          </p:nvPr>
        </p:nvSpPr>
        <p:spPr/>
        <p:txBody>
          <a:bodyPr/>
          <a:lstStyle>
            <a:lvl1pPr>
              <a:defRPr/>
            </a:lvl1pPr>
          </a:lstStyle>
          <a:p>
            <a:pPr>
              <a:defRPr/>
            </a:pPr>
            <a:r>
              <a:rPr lang="en-US" altLang="zh-CN"/>
              <a:t>4-</a:t>
            </a:r>
            <a:fld id="{0F220389-6234-2C4F-8101-E671776BC0EE}" type="slidenum">
              <a:rPr lang="en-US" altLang="zh-CN" smtClean="0"/>
              <a:t>‹#›</a:t>
            </a:fld>
            <a:endParaRPr lang="en-US" altLang="zh-CN"/>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a:t>单击此处编辑母版标题样式</a:t>
            </a:r>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a:t>单击此处编辑母版副标题样式</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6" name="Rectangle 6"/>
          <p:cNvSpPr>
            <a:spLocks noGrp="1" noChangeArrowheads="1"/>
          </p:cNvSpPr>
          <p:nvPr>
            <p:ph type="sldNum" sz="quarter" idx="12"/>
          </p:nvPr>
        </p:nvSpPr>
        <p:spPr/>
        <p:txBody>
          <a:bodyPr/>
          <a:lstStyle>
            <a:lvl1pPr>
              <a:defRPr/>
            </a:lvl1pPr>
          </a:lstStyle>
          <a:p>
            <a:pPr>
              <a:defRPr/>
            </a:pPr>
            <a:r>
              <a:rPr lang="en-US" altLang="zh-CN"/>
              <a:t>4-</a:t>
            </a:r>
            <a:fld id="{7F2224E5-D295-EB4A-A922-D880B5C35891}" type="slidenum">
              <a:rPr lang="en-US" altLang="zh-CN" smtClean="0"/>
              <a:t>‹#›</a:t>
            </a:fld>
            <a:endParaRPr lang="en-US" altLang="zh-CN"/>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6" name="Rectangle 6"/>
          <p:cNvSpPr>
            <a:spLocks noGrp="1" noChangeArrowheads="1"/>
          </p:cNvSpPr>
          <p:nvPr>
            <p:ph type="sldNum" sz="quarter" idx="12"/>
          </p:nvPr>
        </p:nvSpPr>
        <p:spPr/>
        <p:txBody>
          <a:bodyPr/>
          <a:lstStyle>
            <a:lvl1pPr>
              <a:defRPr/>
            </a:lvl1pPr>
          </a:lstStyle>
          <a:p>
            <a:pPr>
              <a:defRPr/>
            </a:pPr>
            <a:r>
              <a:rPr lang="en-US" altLang="zh-CN"/>
              <a:t>4-</a:t>
            </a:r>
            <a:fld id="{9945FC85-8F90-F940-94DE-39DBA7C2A93C}" type="slidenum">
              <a:rPr lang="en-US" altLang="zh-CN" smtClean="0"/>
              <a:t>‹#›</a:t>
            </a:fld>
            <a:endParaRPr lang="en-US" altLang="zh-CN"/>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a:t>单击此处编辑母版标题样式</a:t>
            </a:r>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6" name="Rectangle 6"/>
          <p:cNvSpPr>
            <a:spLocks noGrp="1" noChangeArrowheads="1"/>
          </p:cNvSpPr>
          <p:nvPr>
            <p:ph type="sldNum" sz="quarter" idx="12"/>
          </p:nvPr>
        </p:nvSpPr>
        <p:spPr/>
        <p:txBody>
          <a:bodyPr/>
          <a:lstStyle>
            <a:lvl1pPr>
              <a:defRPr/>
            </a:lvl1pPr>
          </a:lstStyle>
          <a:p>
            <a:pPr>
              <a:defRPr/>
            </a:pPr>
            <a:r>
              <a:rPr lang="en-US" altLang="zh-CN"/>
              <a:t>4-</a:t>
            </a:r>
            <a:fld id="{AC4C544D-8455-5644-838B-4BD465FAEDDB}" type="slidenum">
              <a:rPr lang="en-US" altLang="zh-CN" smtClean="0"/>
              <a:t>‹#›</a:t>
            </a:fld>
            <a:endParaRPr lang="en-US" altLang="zh-CN"/>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5334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495800" y="16002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4"/>
          <p:cNvSpPr>
            <a:spLocks noGrp="1" noChangeArrowheads="1"/>
          </p:cNvSpPr>
          <p:nvPr>
            <p:ph type="dt" sz="half" idx="10"/>
          </p:nvPr>
        </p:nvSpPr>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7" name="Rectangle 6"/>
          <p:cNvSpPr>
            <a:spLocks noGrp="1" noChangeArrowheads="1"/>
          </p:cNvSpPr>
          <p:nvPr>
            <p:ph type="sldNum" sz="quarter" idx="12"/>
          </p:nvPr>
        </p:nvSpPr>
        <p:spPr/>
        <p:txBody>
          <a:bodyPr/>
          <a:lstStyle>
            <a:lvl1pPr>
              <a:defRPr/>
            </a:lvl1pPr>
          </a:lstStyle>
          <a:p>
            <a:pPr>
              <a:defRPr/>
            </a:pPr>
            <a:r>
              <a:rPr lang="en-US" altLang="zh-CN"/>
              <a:t>4-</a:t>
            </a:r>
            <a:fld id="{75B8E677-1392-BF41-B876-946BC4A75516}" type="slidenum">
              <a:rPr lang="en-US" altLang="zh-CN" smtClean="0"/>
              <a:t>‹#›</a:t>
            </a:fld>
            <a:endParaRPr lang="en-US" altLang="zh-CN"/>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Rectangle 4"/>
          <p:cNvSpPr>
            <a:spLocks noGrp="1" noChangeArrowheads="1"/>
          </p:cNvSpPr>
          <p:nvPr>
            <p:ph type="dt" sz="half" idx="10"/>
          </p:nvPr>
        </p:nvSpPr>
        <p:spPr/>
        <p:txBody>
          <a:bodyPr/>
          <a:lstStyle>
            <a:lvl1pPr>
              <a:defRPr/>
            </a:lvl1pPr>
          </a:lstStyle>
          <a:p>
            <a:pPr>
              <a:defRPr/>
            </a:pPr>
            <a:endParaRPr lang="en-US" altLang="zh-CN"/>
          </a:p>
        </p:txBody>
      </p:sp>
      <p:sp>
        <p:nvSpPr>
          <p:cNvPr id="8"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9" name="Rectangle 6"/>
          <p:cNvSpPr>
            <a:spLocks noGrp="1" noChangeArrowheads="1"/>
          </p:cNvSpPr>
          <p:nvPr>
            <p:ph type="sldNum" sz="quarter" idx="12"/>
          </p:nvPr>
        </p:nvSpPr>
        <p:spPr/>
        <p:txBody>
          <a:bodyPr/>
          <a:lstStyle>
            <a:lvl1pPr>
              <a:defRPr/>
            </a:lvl1pPr>
          </a:lstStyle>
          <a:p>
            <a:pPr>
              <a:defRPr/>
            </a:pPr>
            <a:r>
              <a:rPr lang="en-US" altLang="zh-CN"/>
              <a:t>4-</a:t>
            </a:r>
            <a:fld id="{43AEE716-8A43-1843-AA7B-FC805B1421AC}" type="slidenum">
              <a:rPr lang="en-US" altLang="zh-CN" smtClean="0"/>
              <a:t>‹#›</a:t>
            </a:fld>
            <a:endParaRPr lang="en-US" altLang="zh-CN"/>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Rectangle 4"/>
          <p:cNvSpPr>
            <a:spLocks noGrp="1" noChangeArrowheads="1"/>
          </p:cNvSpPr>
          <p:nvPr>
            <p:ph type="dt" sz="half" idx="10"/>
          </p:nvPr>
        </p:nvSpPr>
        <p:spPr/>
        <p:txBody>
          <a:bodyPr/>
          <a:lstStyle>
            <a:lvl1pPr>
              <a:defRPr/>
            </a:lvl1pPr>
          </a:lstStyle>
          <a:p>
            <a:pPr>
              <a:defRPr/>
            </a:pPr>
            <a:endParaRPr lang="en-US" altLang="zh-CN"/>
          </a:p>
        </p:txBody>
      </p:sp>
      <p:sp>
        <p:nvSpPr>
          <p:cNvPr id="4"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5" name="Rectangle 6"/>
          <p:cNvSpPr>
            <a:spLocks noGrp="1" noChangeArrowheads="1"/>
          </p:cNvSpPr>
          <p:nvPr>
            <p:ph type="sldNum" sz="quarter" idx="12"/>
          </p:nvPr>
        </p:nvSpPr>
        <p:spPr/>
        <p:txBody>
          <a:bodyPr/>
          <a:lstStyle>
            <a:lvl1pPr>
              <a:defRPr/>
            </a:lvl1pPr>
          </a:lstStyle>
          <a:p>
            <a:pPr>
              <a:defRPr/>
            </a:pPr>
            <a:r>
              <a:rPr lang="en-US" altLang="zh-CN"/>
              <a:t>4-</a:t>
            </a:r>
            <a:fld id="{94709BD0-B279-8044-967B-69F95C9BD28D}" type="slidenum">
              <a:rPr lang="en-US" altLang="zh-CN" smtClean="0"/>
              <a:t>‹#›</a:t>
            </a:fld>
            <a:endParaRPr lang="en-US" altLang="zh-CN"/>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vl1pPr>
          </a:lstStyle>
          <a:p>
            <a:pPr>
              <a:defRPr/>
            </a:pPr>
            <a:endParaRPr lang="en-US" altLang="zh-CN"/>
          </a:p>
        </p:txBody>
      </p:sp>
      <p:sp>
        <p:nvSpPr>
          <p:cNvPr id="3"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4" name="Rectangle 6"/>
          <p:cNvSpPr>
            <a:spLocks noGrp="1" noChangeArrowheads="1"/>
          </p:cNvSpPr>
          <p:nvPr>
            <p:ph type="sldNum" sz="quarter" idx="12"/>
          </p:nvPr>
        </p:nvSpPr>
        <p:spPr/>
        <p:txBody>
          <a:bodyPr/>
          <a:lstStyle>
            <a:lvl1pPr>
              <a:defRPr/>
            </a:lvl1pPr>
          </a:lstStyle>
          <a:p>
            <a:pPr>
              <a:defRPr/>
            </a:pPr>
            <a:r>
              <a:rPr lang="en-US" altLang="zh-CN"/>
              <a:t>4-</a:t>
            </a:r>
            <a:fld id="{0214DB39-C07B-D146-9E82-A22E986BBD2E}" type="slidenum">
              <a:rPr lang="en-US" altLang="zh-CN" smtClean="0"/>
              <a:t>‹#›</a:t>
            </a:fld>
            <a:endParaRPr lang="en-US" altLang="zh-CN"/>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Rectangle 4"/>
          <p:cNvSpPr>
            <a:spLocks noGrp="1" noChangeArrowheads="1"/>
          </p:cNvSpPr>
          <p:nvPr>
            <p:ph type="dt" sz="half" idx="10"/>
          </p:nvPr>
        </p:nvSpPr>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7" name="Rectangle 6"/>
          <p:cNvSpPr>
            <a:spLocks noGrp="1" noChangeArrowheads="1"/>
          </p:cNvSpPr>
          <p:nvPr>
            <p:ph type="sldNum" sz="quarter" idx="12"/>
          </p:nvPr>
        </p:nvSpPr>
        <p:spPr/>
        <p:txBody>
          <a:bodyPr/>
          <a:lstStyle>
            <a:lvl1pPr>
              <a:defRPr/>
            </a:lvl1pPr>
          </a:lstStyle>
          <a:p>
            <a:pPr>
              <a:defRPr/>
            </a:pPr>
            <a:r>
              <a:rPr lang="en-US" altLang="zh-CN"/>
              <a:t>4-</a:t>
            </a:r>
            <a:fld id="{51772C62-BD98-364D-9B37-5B014B077C2A}" type="slidenum">
              <a:rPr lang="en-US" altLang="zh-CN" smtClean="0"/>
              <a:t>‹#›</a:t>
            </a:fld>
            <a:endParaRPr lang="en-US" altLang="zh-CN"/>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Rectangle 4"/>
          <p:cNvSpPr>
            <a:spLocks noGrp="1" noChangeArrowheads="1"/>
          </p:cNvSpPr>
          <p:nvPr>
            <p:ph type="dt" sz="half" idx="10"/>
          </p:nvPr>
        </p:nvSpPr>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7" name="Rectangle 6"/>
          <p:cNvSpPr>
            <a:spLocks noGrp="1" noChangeArrowheads="1"/>
          </p:cNvSpPr>
          <p:nvPr>
            <p:ph type="sldNum" sz="quarter" idx="12"/>
          </p:nvPr>
        </p:nvSpPr>
        <p:spPr/>
        <p:txBody>
          <a:bodyPr/>
          <a:lstStyle>
            <a:lvl1pPr>
              <a:defRPr/>
            </a:lvl1pPr>
          </a:lstStyle>
          <a:p>
            <a:pPr>
              <a:defRPr/>
            </a:pPr>
            <a:r>
              <a:rPr lang="en-US" altLang="zh-CN"/>
              <a:t>4-</a:t>
            </a:r>
            <a:fld id="{B363F3E4-16E7-1A4C-96BA-1915B795AFA5}" type="slidenum">
              <a:rPr lang="en-US" altLang="zh-CN" smtClean="0"/>
              <a:t>‹#›</a:t>
            </a:fld>
            <a:endParaRPr lang="en-US" altLang="zh-CN"/>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6" name="Rectangle 6"/>
          <p:cNvSpPr>
            <a:spLocks noGrp="1" noChangeArrowheads="1"/>
          </p:cNvSpPr>
          <p:nvPr>
            <p:ph type="sldNum" sz="quarter" idx="12"/>
          </p:nvPr>
        </p:nvSpPr>
        <p:spPr/>
        <p:txBody>
          <a:bodyPr/>
          <a:lstStyle>
            <a:lvl1pPr>
              <a:defRPr/>
            </a:lvl1pPr>
          </a:lstStyle>
          <a:p>
            <a:pPr>
              <a:defRPr/>
            </a:pPr>
            <a:r>
              <a:rPr lang="en-US" altLang="zh-CN"/>
              <a:t>4-</a:t>
            </a:r>
            <a:fld id="{D8157CC4-2E57-F249-BC83-969955F966B4}" type="slidenum">
              <a:rPr lang="en-US" altLang="zh-CN" smtClean="0"/>
              <a:t>‹#›</a:t>
            </a:fld>
            <a:endParaRPr lang="en-US" altLang="zh-CN"/>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362700" y="228600"/>
            <a:ext cx="1943100" cy="6019800"/>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533400" y="228600"/>
            <a:ext cx="5676900" cy="6019800"/>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p:cNvSpPr>
            <a:spLocks noGrp="1" noChangeArrowheads="1"/>
          </p:cNvSpPr>
          <p:nvPr>
            <p:ph type="dt" sz="half" idx="10"/>
          </p:nvPr>
        </p:nvSpPr>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p:txBody>
          <a:bodyPr/>
          <a:lstStyle>
            <a:lvl1pPr>
              <a:defRPr/>
            </a:lvl1pPr>
          </a:lstStyle>
          <a:p>
            <a:pPr>
              <a:defRPr/>
            </a:pPr>
            <a:r>
              <a:rPr lang="en-US" altLang="zh-CN"/>
              <a:t>Network Layer</a:t>
            </a:r>
          </a:p>
        </p:txBody>
      </p:sp>
      <p:sp>
        <p:nvSpPr>
          <p:cNvPr id="6" name="Rectangle 6"/>
          <p:cNvSpPr>
            <a:spLocks noGrp="1" noChangeArrowheads="1"/>
          </p:cNvSpPr>
          <p:nvPr>
            <p:ph type="sldNum" sz="quarter" idx="12"/>
          </p:nvPr>
        </p:nvSpPr>
        <p:spPr/>
        <p:txBody>
          <a:bodyPr/>
          <a:lstStyle>
            <a:lvl1pPr>
              <a:defRPr/>
            </a:lvl1pPr>
          </a:lstStyle>
          <a:p>
            <a:pPr>
              <a:defRPr/>
            </a:pPr>
            <a:r>
              <a:rPr lang="en-US" altLang="zh-CN"/>
              <a:t>4-</a:t>
            </a:r>
            <a:fld id="{5B2EBCF6-73E0-EB4B-BA70-7EF7D6B7C0CA}" type="slidenum">
              <a:rPr lang="en-US" altLang="zh-CN" smtClean="0"/>
              <a:t>‹#›</a:t>
            </a:fld>
            <a:endParaRPr lang="en-US" altLang="zh-CN"/>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1122363"/>
            <a:ext cx="6858000" cy="2387600"/>
          </a:xfrm>
        </p:spPr>
        <p:txBody>
          <a:bodyPr anchor="b"/>
          <a:lstStyle>
            <a:lvl1pPr algn="ctr">
              <a:defRPr sz="4500"/>
            </a:lvl1pPr>
          </a:lstStyle>
          <a:p>
            <a:r>
              <a:rPr kumimoji="1" lang="zh-CN" altLang="en-US" dirty="0"/>
              <a:t>单击此处编辑母版标题样式</a:t>
            </a:r>
          </a:p>
        </p:txBody>
      </p:sp>
      <p:sp>
        <p:nvSpPr>
          <p:cNvPr id="3" name="副标题 2"/>
          <p:cNvSpPr>
            <a:spLocks noGrp="1"/>
          </p:cNvSpPr>
          <p:nvPr>
            <p:ph type="subTitle" idx="1"/>
          </p:nvPr>
        </p:nvSpPr>
        <p:spPr>
          <a:xfrm>
            <a:off x="1143000" y="3602038"/>
            <a:ext cx="6858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kumimoji="1" lang="zh-CN" altLang="en-US" dirty="0"/>
              <a:t>单击此处编辑母版副标题样式</a:t>
            </a:r>
          </a:p>
        </p:txBody>
      </p:sp>
      <p:sp>
        <p:nvSpPr>
          <p:cNvPr id="7" name="矩形 6"/>
          <p:cNvSpPr/>
          <p:nvPr userDrawn="1"/>
        </p:nvSpPr>
        <p:spPr>
          <a:xfrm>
            <a:off x="-7454" y="-8627"/>
            <a:ext cx="6980627" cy="567811"/>
          </a:xfrm>
          <a:prstGeom prst="rect">
            <a:avLst/>
          </a:prstGeom>
          <a:solidFill>
            <a:srgbClr val="5B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100" b="0" spc="450" dirty="0">
                <a:solidFill>
                  <a:schemeClr val="bg1"/>
                </a:solidFill>
                <a:latin typeface="微软雅黑" panose="020B0503020204020204" pitchFamily="34" charset="-122"/>
                <a:ea typeface="微软雅黑" panose="020B0503020204020204" pitchFamily="34" charset="-122"/>
              </a:rPr>
              <a:t>计算机网络</a:t>
            </a:r>
          </a:p>
        </p:txBody>
      </p:sp>
      <p:sp>
        <p:nvSpPr>
          <p:cNvPr id="9" name="文本框 8"/>
          <p:cNvSpPr txBox="1"/>
          <p:nvPr userDrawn="1"/>
        </p:nvSpPr>
        <p:spPr>
          <a:xfrm>
            <a:off x="7131995" y="90612"/>
            <a:ext cx="1768433" cy="300082"/>
          </a:xfrm>
          <a:prstGeom prst="rect">
            <a:avLst/>
          </a:prstGeom>
          <a:noFill/>
        </p:spPr>
        <p:txBody>
          <a:bodyPr wrap="none" rtlCol="0">
            <a:spAutoFit/>
          </a:bodyPr>
          <a:lstStyle/>
          <a:p>
            <a:pPr algn="r"/>
            <a:r>
              <a:rPr lang="zh-CN" altLang="en-US" sz="1350" spc="450" dirty="0">
                <a:solidFill>
                  <a:srgbClr val="5B307E"/>
                </a:solidFill>
                <a:latin typeface="微软雅黑" panose="020B0503020204020204" pitchFamily="34" charset="-122"/>
                <a:ea typeface="微软雅黑" panose="020B0503020204020204" pitchFamily="34" charset="-122"/>
              </a:rPr>
              <a:t>众筹</a:t>
            </a:r>
            <a:r>
              <a:rPr lang="en-US" altLang="zh-CN" sz="1350" b="0" spc="450" dirty="0">
                <a:solidFill>
                  <a:srgbClr val="5B307E"/>
                </a:solidFill>
                <a:latin typeface="微软雅黑" panose="020B0503020204020204" pitchFamily="34" charset="-122"/>
                <a:ea typeface="微软雅黑" panose="020B0503020204020204" pitchFamily="34" charset="-122"/>
              </a:rPr>
              <a:t>·</a:t>
            </a:r>
            <a:r>
              <a:rPr lang="zh-CN" altLang="en-US" sz="1350" spc="450" dirty="0">
                <a:solidFill>
                  <a:srgbClr val="5B307E"/>
                </a:solidFill>
                <a:latin typeface="微软雅黑" panose="020B0503020204020204" pitchFamily="34" charset="-122"/>
                <a:ea typeface="微软雅黑" panose="020B0503020204020204" pitchFamily="34" charset="-122"/>
              </a:rPr>
              <a:t>网络</a:t>
            </a:r>
            <a:r>
              <a:rPr lang="en-US" altLang="zh-CN" sz="1350" b="0" spc="450" dirty="0">
                <a:solidFill>
                  <a:srgbClr val="5B307E"/>
                </a:solidFill>
                <a:latin typeface="微软雅黑" panose="020B0503020204020204" pitchFamily="34" charset="-122"/>
                <a:ea typeface="微软雅黑" panose="020B0503020204020204" pitchFamily="34" charset="-122"/>
              </a:rPr>
              <a:t>·</a:t>
            </a:r>
            <a:r>
              <a:rPr lang="zh-CN" altLang="en-US" sz="1350" spc="450" dirty="0">
                <a:solidFill>
                  <a:srgbClr val="5B307E"/>
                </a:solidFill>
                <a:latin typeface="微软雅黑" panose="020B0503020204020204" pitchFamily="34" charset="-122"/>
                <a:ea typeface="微软雅黑" panose="020B0503020204020204" pitchFamily="34" charset="-122"/>
              </a:rPr>
              <a:t>分享</a:t>
            </a:r>
          </a:p>
        </p:txBody>
      </p:sp>
      <p:grpSp>
        <p:nvGrpSpPr>
          <p:cNvPr id="26" name="组合 25"/>
          <p:cNvGrpSpPr/>
          <p:nvPr userDrawn="1"/>
        </p:nvGrpSpPr>
        <p:grpSpPr>
          <a:xfrm>
            <a:off x="3578826" y="5979423"/>
            <a:ext cx="2009428" cy="742053"/>
            <a:chOff x="4858653" y="5979422"/>
            <a:chExt cx="2679237" cy="742053"/>
          </a:xfrm>
        </p:grpSpPr>
        <p:grpSp>
          <p:nvGrpSpPr>
            <p:cNvPr id="24" name="组合 23"/>
            <p:cNvGrpSpPr/>
            <p:nvPr userDrawn="1"/>
          </p:nvGrpSpPr>
          <p:grpSpPr>
            <a:xfrm>
              <a:off x="4858653" y="5979422"/>
              <a:ext cx="867188" cy="742053"/>
              <a:chOff x="901977" y="761321"/>
              <a:chExt cx="1281319" cy="1139058"/>
            </a:xfrm>
          </p:grpSpPr>
          <p:sp>
            <p:nvSpPr>
              <p:cNvPr id="10" name="矩形 9"/>
              <p:cNvSpPr/>
              <p:nvPr userDrawn="1"/>
            </p:nvSpPr>
            <p:spPr>
              <a:xfrm>
                <a:off x="901977" y="761321"/>
                <a:ext cx="1281319" cy="1139058"/>
              </a:xfrm>
              <a:prstGeom prst="rect">
                <a:avLst/>
              </a:prstGeom>
              <a:solidFill>
                <a:srgbClr val="5C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5C307E"/>
                  </a:solidFill>
                </a:endParaRPr>
              </a:p>
            </p:txBody>
          </p:sp>
          <p:grpSp>
            <p:nvGrpSpPr>
              <p:cNvPr id="11" name="组合 10"/>
              <p:cNvGrpSpPr/>
              <p:nvPr userDrawn="1"/>
            </p:nvGrpSpPr>
            <p:grpSpPr>
              <a:xfrm>
                <a:off x="1031055" y="907676"/>
                <a:ext cx="1013957" cy="853426"/>
                <a:chOff x="1368170" y="664579"/>
                <a:chExt cx="550582" cy="439737"/>
              </a:xfrm>
              <a:solidFill>
                <a:schemeClr val="bg1"/>
              </a:solidFill>
            </p:grpSpPr>
            <p:sp>
              <p:nvSpPr>
                <p:cNvPr id="12" name="Freeform 1"/>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3" name="Freeform 2"/>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4" name="Freeform 3"/>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5" name="Freeform 4"/>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6" name="Freeform 5"/>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7" name="Freeform 6"/>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8" name="Freeform 7"/>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9" name="Freeform 8"/>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0" name="Freeform 9"/>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1" name="Freeform 10"/>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2" name="Freeform 11"/>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sp>
          <p:nvSpPr>
            <p:cNvPr id="25" name="文本框 24"/>
            <p:cNvSpPr txBox="1"/>
            <p:nvPr userDrawn="1"/>
          </p:nvSpPr>
          <p:spPr>
            <a:xfrm>
              <a:off x="5752785" y="5979422"/>
              <a:ext cx="1785105" cy="571951"/>
            </a:xfrm>
            <a:prstGeom prst="rect">
              <a:avLst/>
            </a:prstGeom>
            <a:noFill/>
          </p:spPr>
          <p:txBody>
            <a:bodyPr wrap="none" rtlCol="0">
              <a:spAutoFit/>
            </a:bodyPr>
            <a:lstStyle/>
            <a:p>
              <a:pPr algn="ctr">
                <a:spcBef>
                  <a:spcPts val="450"/>
                </a:spcBef>
              </a:pPr>
              <a:r>
                <a:rPr lang="zh-CN" altLang="en-US" sz="1350" spc="450" dirty="0">
                  <a:solidFill>
                    <a:srgbClr val="5B307E"/>
                  </a:solidFill>
                  <a:latin typeface="微软雅黑" panose="020B0503020204020204" pitchFamily="34" charset="-122"/>
                  <a:ea typeface="微软雅黑" panose="020B0503020204020204" pitchFamily="34" charset="-122"/>
                </a:rPr>
                <a:t>计算机网络</a:t>
              </a:r>
              <a:endParaRPr lang="en-US" altLang="zh-CN" sz="1350" spc="450" dirty="0">
                <a:solidFill>
                  <a:srgbClr val="5B307E"/>
                </a:solidFill>
                <a:latin typeface="微软雅黑" panose="020B0503020204020204" pitchFamily="34" charset="-122"/>
                <a:ea typeface="微软雅黑" panose="020B0503020204020204" pitchFamily="34" charset="-122"/>
              </a:endParaRPr>
            </a:p>
            <a:p>
              <a:pPr algn="ctr">
                <a:spcBef>
                  <a:spcPts val="450"/>
                </a:spcBef>
              </a:pPr>
              <a:r>
                <a:rPr lang="zh-CN" altLang="en-US" sz="1350" spc="450" dirty="0">
                  <a:solidFill>
                    <a:srgbClr val="5B307E"/>
                  </a:solidFill>
                  <a:latin typeface="微软雅黑" panose="020B0503020204020204" pitchFamily="34" charset="-122"/>
                  <a:ea typeface="微软雅黑" panose="020B0503020204020204" pitchFamily="34" charset="-122"/>
                </a:rPr>
                <a:t>教案社区</a:t>
              </a:r>
            </a:p>
          </p:txBody>
        </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39" name="矩形 38"/>
          <p:cNvSpPr/>
          <p:nvPr userDrawn="1"/>
        </p:nvSpPr>
        <p:spPr>
          <a:xfrm>
            <a:off x="500874" y="541554"/>
            <a:ext cx="381985" cy="498948"/>
          </a:xfrm>
          <a:prstGeom prst="rect">
            <a:avLst/>
          </a:prstGeom>
          <a:solidFill>
            <a:srgbClr val="5C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5C307E"/>
              </a:solidFill>
            </a:endParaRPr>
          </a:p>
        </p:txBody>
      </p:sp>
      <p:sp>
        <p:nvSpPr>
          <p:cNvPr id="2" name="标题 1"/>
          <p:cNvSpPr>
            <a:spLocks noGrp="1"/>
          </p:cNvSpPr>
          <p:nvPr>
            <p:ph type="title"/>
          </p:nvPr>
        </p:nvSpPr>
        <p:spPr/>
        <p:txBody>
          <a:bodyPr>
            <a:normAutofit/>
          </a:bodyPr>
          <a:lstStyle>
            <a:lvl1pPr>
              <a:defRPr sz="3000"/>
            </a:lvl1pPr>
          </a:lstStyle>
          <a:p>
            <a:r>
              <a:rPr kumimoji="1" lang="zh-CN" altLang="en-US" dirty="0"/>
              <a:t>单击此处编辑母版标题样式</a:t>
            </a:r>
          </a:p>
        </p:txBody>
      </p:sp>
      <p:sp>
        <p:nvSpPr>
          <p:cNvPr id="3" name="内容占位符 2"/>
          <p:cNvSpPr>
            <a:spLocks noGrp="1"/>
          </p:cNvSpPr>
          <p:nvPr>
            <p:ph idx="1"/>
          </p:nvPr>
        </p:nvSpPr>
        <p:spPr>
          <a:xfrm>
            <a:off x="628650" y="1510758"/>
            <a:ext cx="7886700" cy="4586694"/>
          </a:xfrm>
        </p:spPr>
        <p:txBody>
          <a:bodyPr/>
          <a:lstStyle>
            <a:lvl1pPr marL="270510" indent="-270510">
              <a:lnSpc>
                <a:spcPct val="100000"/>
              </a:lnSpc>
              <a:spcBef>
                <a:spcPts val="450"/>
              </a:spcBef>
              <a:buFont typeface="Wingdings" panose="05000000000000000000" pitchFamily="2" charset="2"/>
              <a:buChar char="Ø"/>
              <a:defRPr/>
            </a:lvl1pPr>
            <a:lvl2pPr>
              <a:lnSpc>
                <a:spcPct val="100000"/>
              </a:lnSpc>
              <a:spcBef>
                <a:spcPts val="450"/>
              </a:spcBef>
              <a:buFont typeface="Arial" panose="020B0604020202090204" pitchFamily="34" charset="0"/>
              <a:buChar char="•"/>
              <a:defRPr/>
            </a:lvl2pPr>
            <a:lvl3pPr>
              <a:lnSpc>
                <a:spcPct val="100000"/>
              </a:lnSpc>
              <a:spcBef>
                <a:spcPts val="450"/>
              </a:spcBef>
              <a:defRPr/>
            </a:lvl3pPr>
            <a:lvl4pPr>
              <a:lnSpc>
                <a:spcPct val="100000"/>
              </a:lnSpc>
              <a:spcBef>
                <a:spcPts val="450"/>
              </a:spcBef>
              <a:defRPr/>
            </a:lvl4pPr>
            <a:lvl5pPr>
              <a:lnSpc>
                <a:spcPct val="100000"/>
              </a:lnSpc>
              <a:spcBef>
                <a:spcPts val="450"/>
              </a:spcBef>
              <a:defRPr/>
            </a:lvl5p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4" name="日期占位符 3"/>
          <p:cNvSpPr>
            <a:spLocks noGrp="1"/>
          </p:cNvSpPr>
          <p:nvPr>
            <p:ph type="dt" sz="half" idx="10"/>
          </p:nvPr>
        </p:nvSpPr>
        <p:spPr>
          <a:xfrm>
            <a:off x="148001" y="6489304"/>
            <a:ext cx="2057400" cy="365125"/>
          </a:xfrm>
          <a:prstGeom prst="rect">
            <a:avLst/>
          </a:prstGeom>
        </p:spPr>
        <p:txBody>
          <a:bodyPr/>
          <a:lstStyle/>
          <a:p>
            <a:r>
              <a:rPr kumimoji="1" lang="en-US" altLang="zh-CN"/>
              <a:t>5.3 </a:t>
            </a:r>
            <a:r>
              <a:rPr kumimoji="1" lang="zh-CN" altLang="en-US"/>
              <a:t>网络互联</a:t>
            </a:r>
            <a:endParaRPr kumimoji="1" lang="zh-CN" altLang="en-US" dirty="0"/>
          </a:p>
        </p:txBody>
      </p:sp>
      <p:sp>
        <p:nvSpPr>
          <p:cNvPr id="5" name="页脚占位符 4"/>
          <p:cNvSpPr>
            <a:spLocks noGrp="1"/>
          </p:cNvSpPr>
          <p:nvPr>
            <p:ph type="ftr" sz="quarter" idx="11"/>
          </p:nvPr>
        </p:nvSpPr>
        <p:spPr>
          <a:xfrm>
            <a:off x="3028950" y="6489304"/>
            <a:ext cx="3086100" cy="365125"/>
          </a:xfrm>
          <a:prstGeom prst="rect">
            <a:avLst/>
          </a:prstGeom>
        </p:spPr>
        <p:txBody>
          <a:bodyPr/>
          <a:lstStyle/>
          <a:p>
            <a:r>
              <a:rPr kumimoji="1" lang="zh-CN" altLang="en-US" dirty="0"/>
              <a:t>引自：</a:t>
            </a:r>
            <a:r>
              <a:rPr kumimoji="1" lang="en-US" altLang="zh-CN" dirty="0"/>
              <a:t>XXXXX</a:t>
            </a:r>
            <a:r>
              <a:rPr kumimoji="1" lang="zh-CN" altLang="en-US" dirty="0"/>
              <a:t>（如果需要）</a:t>
            </a:r>
          </a:p>
        </p:txBody>
      </p:sp>
      <p:sp>
        <p:nvSpPr>
          <p:cNvPr id="6" name="灯片编号占位符 5"/>
          <p:cNvSpPr>
            <a:spLocks noGrp="1"/>
          </p:cNvSpPr>
          <p:nvPr>
            <p:ph type="sldNum" sz="quarter" idx="12"/>
          </p:nvPr>
        </p:nvSpPr>
        <p:spPr>
          <a:xfrm>
            <a:off x="6515107" y="6489304"/>
            <a:ext cx="2489753" cy="365125"/>
          </a:xfrm>
          <a:prstGeom prst="rect">
            <a:avLst/>
          </a:prstGeom>
        </p:spPr>
        <p:txBody>
          <a:bodyPr/>
          <a:lstStyle/>
          <a:p>
            <a:fld id="{8D4D1E41-7A09-AB4A-A4E1-09765ADA2698}" type="slidenum">
              <a:rPr kumimoji="1" lang="zh-CN" altLang="en-US" smtClean="0"/>
              <a:t>‹#›</a:t>
            </a:fld>
            <a:endParaRPr kumimoji="1" lang="zh-CN" altLang="en-US" dirty="0"/>
          </a:p>
        </p:txBody>
      </p:sp>
      <p:cxnSp>
        <p:nvCxnSpPr>
          <p:cNvPr id="40" name="直线连接符 39"/>
          <p:cNvCxnSpPr/>
          <p:nvPr userDrawn="1"/>
        </p:nvCxnSpPr>
        <p:spPr>
          <a:xfrm>
            <a:off x="986091" y="1244212"/>
            <a:ext cx="5471859" cy="0"/>
          </a:xfrm>
          <a:prstGeom prst="line">
            <a:avLst/>
          </a:prstGeom>
          <a:ln w="19050">
            <a:solidFill>
              <a:srgbClr val="5C307E"/>
            </a:solidFill>
          </a:ln>
        </p:spPr>
        <p:style>
          <a:lnRef idx="1">
            <a:schemeClr val="accent1"/>
          </a:lnRef>
          <a:fillRef idx="0">
            <a:schemeClr val="accent1"/>
          </a:fillRef>
          <a:effectRef idx="0">
            <a:schemeClr val="accent1"/>
          </a:effectRef>
          <a:fontRef idx="minor">
            <a:schemeClr val="tx1"/>
          </a:fontRef>
        </p:style>
      </p:cxnSp>
      <p:grpSp>
        <p:nvGrpSpPr>
          <p:cNvPr id="41" name="组合 40"/>
          <p:cNvGrpSpPr/>
          <p:nvPr userDrawn="1"/>
        </p:nvGrpSpPr>
        <p:grpSpPr>
          <a:xfrm>
            <a:off x="7387088" y="844222"/>
            <a:ext cx="1471114" cy="208345"/>
            <a:chOff x="1368170" y="1165302"/>
            <a:chExt cx="4139947" cy="439737"/>
          </a:xfrm>
        </p:grpSpPr>
        <p:grpSp>
          <p:nvGrpSpPr>
            <p:cNvPr id="42" name="组合 41"/>
            <p:cNvGrpSpPr/>
            <p:nvPr/>
          </p:nvGrpSpPr>
          <p:grpSpPr>
            <a:xfrm>
              <a:off x="1368170" y="1165302"/>
              <a:ext cx="550582" cy="439737"/>
              <a:chOff x="1368170" y="664579"/>
              <a:chExt cx="550582" cy="439737"/>
            </a:xfrm>
          </p:grpSpPr>
          <p:sp>
            <p:nvSpPr>
              <p:cNvPr id="53" name="Freeform 1"/>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solidFill>
                <a:srgbClr val="D72229"/>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4" name="Freeform 2"/>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solidFill>
                <a:srgbClr val="DD4A16"/>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5" name="Freeform 3"/>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solidFill>
                <a:srgbClr val="EA7410"/>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6" name="Freeform 4"/>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solidFill>
                <a:srgbClr val="F6C401"/>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7" name="Freeform 5"/>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solidFill>
                <a:srgbClr val="F1E827"/>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8" name="Freeform 6"/>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solidFill>
                <a:srgbClr val="157C51"/>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9" name="Freeform 7"/>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solidFill>
                <a:srgbClr val="049445"/>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60" name="Freeform 8"/>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solidFill>
                <a:srgbClr val="48A838"/>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61" name="Freeform 9"/>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solidFill>
                <a:srgbClr val="B2CE24"/>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62" name="Freeform 10"/>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solidFill>
                <a:srgbClr val="F1E827"/>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63" name="Freeform 11"/>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solidFill>
                <a:srgbClr val="F1E827"/>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nvGrpSpPr>
            <p:cNvPr id="43" name="组合 42"/>
            <p:cNvGrpSpPr/>
            <p:nvPr/>
          </p:nvGrpSpPr>
          <p:grpSpPr>
            <a:xfrm>
              <a:off x="2028870" y="1197389"/>
              <a:ext cx="3479247" cy="365353"/>
              <a:chOff x="2028870" y="696666"/>
              <a:chExt cx="3479247" cy="365353"/>
            </a:xfrm>
            <a:solidFill>
              <a:schemeClr val="bg1">
                <a:lumMod val="50000"/>
              </a:schemeClr>
            </a:solidFill>
          </p:grpSpPr>
          <p:sp>
            <p:nvSpPr>
              <p:cNvPr id="44" name="Freeform 12"/>
              <p:cNvSpPr>
                <a:spLocks noChangeArrowheads="1"/>
              </p:cNvSpPr>
              <p:nvPr/>
            </p:nvSpPr>
            <p:spPr bwMode="auto">
              <a:xfrm>
                <a:off x="2028870" y="697395"/>
                <a:ext cx="358061" cy="363166"/>
              </a:xfrm>
              <a:custGeom>
                <a:avLst/>
                <a:gdLst>
                  <a:gd name="T0" fmla="*/ 121 w 2165"/>
                  <a:gd name="T1" fmla="*/ 758 h 2195"/>
                  <a:gd name="T2" fmla="*/ 0 w 2165"/>
                  <a:gd name="T3" fmla="*/ 758 h 2195"/>
                  <a:gd name="T4" fmla="*/ 0 w 2165"/>
                  <a:gd name="T5" fmla="*/ 582 h 2195"/>
                  <a:gd name="T6" fmla="*/ 463 w 2165"/>
                  <a:gd name="T7" fmla="*/ 582 h 2195"/>
                  <a:gd name="T8" fmla="*/ 463 w 2165"/>
                  <a:gd name="T9" fmla="*/ 1982 h 2195"/>
                  <a:gd name="T10" fmla="*/ 620 w 2165"/>
                  <a:gd name="T11" fmla="*/ 1982 h 2195"/>
                  <a:gd name="T12" fmla="*/ 620 w 2165"/>
                  <a:gd name="T13" fmla="*/ 2157 h 2195"/>
                  <a:gd name="T14" fmla="*/ 121 w 2165"/>
                  <a:gd name="T15" fmla="*/ 2157 h 2195"/>
                  <a:gd name="T16" fmla="*/ 121 w 2165"/>
                  <a:gd name="T17" fmla="*/ 758 h 2195"/>
                  <a:gd name="T18" fmla="*/ 467 w 2165"/>
                  <a:gd name="T19" fmla="*/ 51 h 2195"/>
                  <a:gd name="T20" fmla="*/ 467 w 2165"/>
                  <a:gd name="T21" fmla="*/ 462 h 2195"/>
                  <a:gd name="T22" fmla="*/ 121 w 2165"/>
                  <a:gd name="T23" fmla="*/ 462 h 2195"/>
                  <a:gd name="T24" fmla="*/ 121 w 2165"/>
                  <a:gd name="T25" fmla="*/ 51 h 2195"/>
                  <a:gd name="T26" fmla="*/ 467 w 2165"/>
                  <a:gd name="T27" fmla="*/ 51 h 2195"/>
                  <a:gd name="T28" fmla="*/ 629 w 2165"/>
                  <a:gd name="T29" fmla="*/ 906 h 2195"/>
                  <a:gd name="T30" fmla="*/ 629 w 2165"/>
                  <a:gd name="T31" fmla="*/ 730 h 2195"/>
                  <a:gd name="T32" fmla="*/ 1221 w 2165"/>
                  <a:gd name="T33" fmla="*/ 730 h 2195"/>
                  <a:gd name="T34" fmla="*/ 1221 w 2165"/>
                  <a:gd name="T35" fmla="*/ 0 h 2195"/>
                  <a:gd name="T36" fmla="*/ 1563 w 2165"/>
                  <a:gd name="T37" fmla="*/ 0 h 2195"/>
                  <a:gd name="T38" fmla="*/ 1563 w 2165"/>
                  <a:gd name="T39" fmla="*/ 730 h 2195"/>
                  <a:gd name="T40" fmla="*/ 2164 w 2165"/>
                  <a:gd name="T41" fmla="*/ 730 h 2195"/>
                  <a:gd name="T42" fmla="*/ 2164 w 2165"/>
                  <a:gd name="T43" fmla="*/ 906 h 2195"/>
                  <a:gd name="T44" fmla="*/ 1563 w 2165"/>
                  <a:gd name="T45" fmla="*/ 906 h 2195"/>
                  <a:gd name="T46" fmla="*/ 1563 w 2165"/>
                  <a:gd name="T47" fmla="*/ 2194 h 2195"/>
                  <a:gd name="T48" fmla="*/ 1221 w 2165"/>
                  <a:gd name="T49" fmla="*/ 2194 h 2195"/>
                  <a:gd name="T50" fmla="*/ 1221 w 2165"/>
                  <a:gd name="T51" fmla="*/ 906 h 2195"/>
                  <a:gd name="T52" fmla="*/ 629 w 2165"/>
                  <a:gd name="T53" fmla="*/ 906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65" h="2195">
                    <a:moveTo>
                      <a:pt x="121" y="758"/>
                    </a:moveTo>
                    <a:lnTo>
                      <a:pt x="0" y="758"/>
                    </a:lnTo>
                    <a:lnTo>
                      <a:pt x="0" y="582"/>
                    </a:lnTo>
                    <a:lnTo>
                      <a:pt x="463" y="582"/>
                    </a:lnTo>
                    <a:lnTo>
                      <a:pt x="463" y="1982"/>
                    </a:lnTo>
                    <a:lnTo>
                      <a:pt x="620" y="1982"/>
                    </a:lnTo>
                    <a:lnTo>
                      <a:pt x="620" y="2157"/>
                    </a:lnTo>
                    <a:lnTo>
                      <a:pt x="121" y="2157"/>
                    </a:lnTo>
                    <a:lnTo>
                      <a:pt x="121" y="758"/>
                    </a:lnTo>
                    <a:close/>
                    <a:moveTo>
                      <a:pt x="467" y="51"/>
                    </a:moveTo>
                    <a:lnTo>
                      <a:pt x="467" y="462"/>
                    </a:lnTo>
                    <a:lnTo>
                      <a:pt x="121" y="462"/>
                    </a:lnTo>
                    <a:lnTo>
                      <a:pt x="121" y="51"/>
                    </a:lnTo>
                    <a:lnTo>
                      <a:pt x="467" y="51"/>
                    </a:lnTo>
                    <a:close/>
                    <a:moveTo>
                      <a:pt x="629" y="906"/>
                    </a:moveTo>
                    <a:lnTo>
                      <a:pt x="629" y="730"/>
                    </a:lnTo>
                    <a:lnTo>
                      <a:pt x="1221" y="730"/>
                    </a:lnTo>
                    <a:lnTo>
                      <a:pt x="1221" y="0"/>
                    </a:lnTo>
                    <a:lnTo>
                      <a:pt x="1563" y="0"/>
                    </a:lnTo>
                    <a:lnTo>
                      <a:pt x="1563" y="730"/>
                    </a:lnTo>
                    <a:lnTo>
                      <a:pt x="2164" y="730"/>
                    </a:lnTo>
                    <a:lnTo>
                      <a:pt x="2164" y="906"/>
                    </a:lnTo>
                    <a:lnTo>
                      <a:pt x="1563" y="906"/>
                    </a:lnTo>
                    <a:lnTo>
                      <a:pt x="1563" y="2194"/>
                    </a:lnTo>
                    <a:lnTo>
                      <a:pt x="1221" y="2194"/>
                    </a:lnTo>
                    <a:lnTo>
                      <a:pt x="1221" y="906"/>
                    </a:lnTo>
                    <a:lnTo>
                      <a:pt x="629" y="906"/>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5" name="Freeform 13"/>
              <p:cNvSpPr>
                <a:spLocks noChangeArrowheads="1"/>
              </p:cNvSpPr>
              <p:nvPr/>
            </p:nvSpPr>
            <p:spPr bwMode="auto">
              <a:xfrm>
                <a:off x="2417559" y="696666"/>
                <a:ext cx="357332" cy="364625"/>
              </a:xfrm>
              <a:custGeom>
                <a:avLst/>
                <a:gdLst>
                  <a:gd name="T0" fmla="*/ 583 w 2161"/>
                  <a:gd name="T1" fmla="*/ 379 h 2205"/>
                  <a:gd name="T2" fmla="*/ 458 w 2161"/>
                  <a:gd name="T3" fmla="*/ 287 h 2205"/>
                  <a:gd name="T4" fmla="*/ 0 w 2161"/>
                  <a:gd name="T5" fmla="*/ 379 h 2205"/>
                  <a:gd name="T6" fmla="*/ 662 w 2161"/>
                  <a:gd name="T7" fmla="*/ 0 h 2205"/>
                  <a:gd name="T8" fmla="*/ 1087 w 2161"/>
                  <a:gd name="T9" fmla="*/ 111 h 2205"/>
                  <a:gd name="T10" fmla="*/ 916 w 2161"/>
                  <a:gd name="T11" fmla="*/ 287 h 2205"/>
                  <a:gd name="T12" fmla="*/ 675 w 2161"/>
                  <a:gd name="T13" fmla="*/ 1691 h 2205"/>
                  <a:gd name="T14" fmla="*/ 1545 w 2161"/>
                  <a:gd name="T15" fmla="*/ 1811 h 2205"/>
                  <a:gd name="T16" fmla="*/ 1887 w 2161"/>
                  <a:gd name="T17" fmla="*/ 1691 h 2205"/>
                  <a:gd name="T18" fmla="*/ 2150 w 2161"/>
                  <a:gd name="T19" fmla="*/ 1811 h 2205"/>
                  <a:gd name="T20" fmla="*/ 1887 w 2161"/>
                  <a:gd name="T21" fmla="*/ 1987 h 2205"/>
                  <a:gd name="T22" fmla="*/ 1545 w 2161"/>
                  <a:gd name="T23" fmla="*/ 2204 h 2205"/>
                  <a:gd name="T24" fmla="*/ 652 w 2161"/>
                  <a:gd name="T25" fmla="*/ 1987 h 2205"/>
                  <a:gd name="T26" fmla="*/ 144 w 2161"/>
                  <a:gd name="T27" fmla="*/ 2204 h 2205"/>
                  <a:gd name="T28" fmla="*/ 47 w 2161"/>
                  <a:gd name="T29" fmla="*/ 1987 h 2205"/>
                  <a:gd name="T30" fmla="*/ 333 w 2161"/>
                  <a:gd name="T31" fmla="*/ 1811 h 2205"/>
                  <a:gd name="T32" fmla="*/ 675 w 2161"/>
                  <a:gd name="T33" fmla="*/ 1691 h 2205"/>
                  <a:gd name="T34" fmla="*/ 2100 w 2161"/>
                  <a:gd name="T35" fmla="*/ 448 h 2205"/>
                  <a:gd name="T36" fmla="*/ 102 w 2161"/>
                  <a:gd name="T37" fmla="*/ 1622 h 2205"/>
                  <a:gd name="T38" fmla="*/ 444 w 2161"/>
                  <a:gd name="T39" fmla="*/ 781 h 2205"/>
                  <a:gd name="T40" fmla="*/ 1757 w 2161"/>
                  <a:gd name="T41" fmla="*/ 624 h 2205"/>
                  <a:gd name="T42" fmla="*/ 444 w 2161"/>
                  <a:gd name="T43" fmla="*/ 781 h 2205"/>
                  <a:gd name="T44" fmla="*/ 1757 w 2161"/>
                  <a:gd name="T45" fmla="*/ 1114 h 2205"/>
                  <a:gd name="T46" fmla="*/ 444 w 2161"/>
                  <a:gd name="T47" fmla="*/ 957 h 2205"/>
                  <a:gd name="T48" fmla="*/ 1757 w 2161"/>
                  <a:gd name="T49" fmla="*/ 1289 h 2205"/>
                  <a:gd name="T50" fmla="*/ 444 w 2161"/>
                  <a:gd name="T51" fmla="*/ 1446 h 2205"/>
                  <a:gd name="T52" fmla="*/ 1757 w 2161"/>
                  <a:gd name="T53" fmla="*/ 1289 h 2205"/>
                  <a:gd name="T54" fmla="*/ 1041 w 2161"/>
                  <a:gd name="T55" fmla="*/ 379 h 2205"/>
                  <a:gd name="T56" fmla="*/ 1688 w 2161"/>
                  <a:gd name="T57" fmla="*/ 0 h 2205"/>
                  <a:gd name="T58" fmla="*/ 2160 w 2161"/>
                  <a:gd name="T59" fmla="*/ 111 h 2205"/>
                  <a:gd name="T60" fmla="*/ 1998 w 2161"/>
                  <a:gd name="T61" fmla="*/ 287 h 2205"/>
                  <a:gd name="T62" fmla="*/ 1646 w 2161"/>
                  <a:gd name="T63" fmla="*/ 379 h 2205"/>
                  <a:gd name="T64" fmla="*/ 1508 w 2161"/>
                  <a:gd name="T65" fmla="*/ 287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61" h="2205">
                    <a:moveTo>
                      <a:pt x="990" y="379"/>
                    </a:moveTo>
                    <a:lnTo>
                      <a:pt x="583" y="379"/>
                    </a:lnTo>
                    <a:lnTo>
                      <a:pt x="509" y="287"/>
                    </a:lnTo>
                    <a:lnTo>
                      <a:pt x="458" y="287"/>
                    </a:lnTo>
                    <a:lnTo>
                      <a:pt x="389" y="379"/>
                    </a:lnTo>
                    <a:lnTo>
                      <a:pt x="0" y="379"/>
                    </a:lnTo>
                    <a:lnTo>
                      <a:pt x="273" y="0"/>
                    </a:lnTo>
                    <a:lnTo>
                      <a:pt x="662" y="0"/>
                    </a:lnTo>
                    <a:lnTo>
                      <a:pt x="592" y="111"/>
                    </a:lnTo>
                    <a:lnTo>
                      <a:pt x="1087" y="111"/>
                    </a:lnTo>
                    <a:lnTo>
                      <a:pt x="1087" y="287"/>
                    </a:lnTo>
                    <a:lnTo>
                      <a:pt x="916" y="287"/>
                    </a:lnTo>
                    <a:lnTo>
                      <a:pt x="990" y="379"/>
                    </a:lnTo>
                    <a:close/>
                    <a:moveTo>
                      <a:pt x="675" y="1691"/>
                    </a:moveTo>
                    <a:lnTo>
                      <a:pt x="675" y="1811"/>
                    </a:lnTo>
                    <a:lnTo>
                      <a:pt x="1545" y="1811"/>
                    </a:lnTo>
                    <a:lnTo>
                      <a:pt x="1545" y="1691"/>
                    </a:lnTo>
                    <a:lnTo>
                      <a:pt x="1887" y="1691"/>
                    </a:lnTo>
                    <a:lnTo>
                      <a:pt x="1887" y="1811"/>
                    </a:lnTo>
                    <a:lnTo>
                      <a:pt x="2150" y="1811"/>
                    </a:lnTo>
                    <a:lnTo>
                      <a:pt x="2150" y="1987"/>
                    </a:lnTo>
                    <a:lnTo>
                      <a:pt x="1887" y="1987"/>
                    </a:lnTo>
                    <a:lnTo>
                      <a:pt x="1887" y="2204"/>
                    </a:lnTo>
                    <a:lnTo>
                      <a:pt x="1545" y="2204"/>
                    </a:lnTo>
                    <a:lnTo>
                      <a:pt x="1545" y="1987"/>
                    </a:lnTo>
                    <a:lnTo>
                      <a:pt x="652" y="1987"/>
                    </a:lnTo>
                    <a:lnTo>
                      <a:pt x="527" y="2204"/>
                    </a:lnTo>
                    <a:lnTo>
                      <a:pt x="144" y="2204"/>
                    </a:lnTo>
                    <a:lnTo>
                      <a:pt x="282" y="1987"/>
                    </a:lnTo>
                    <a:lnTo>
                      <a:pt x="47" y="1987"/>
                    </a:lnTo>
                    <a:lnTo>
                      <a:pt x="47" y="1811"/>
                    </a:lnTo>
                    <a:lnTo>
                      <a:pt x="333" y="1811"/>
                    </a:lnTo>
                    <a:lnTo>
                      <a:pt x="333" y="1691"/>
                    </a:lnTo>
                    <a:lnTo>
                      <a:pt x="675" y="1691"/>
                    </a:lnTo>
                    <a:close/>
                    <a:moveTo>
                      <a:pt x="102" y="448"/>
                    </a:moveTo>
                    <a:lnTo>
                      <a:pt x="2100" y="448"/>
                    </a:lnTo>
                    <a:lnTo>
                      <a:pt x="2100" y="1622"/>
                    </a:lnTo>
                    <a:lnTo>
                      <a:pt x="102" y="1622"/>
                    </a:lnTo>
                    <a:lnTo>
                      <a:pt x="102" y="448"/>
                    </a:lnTo>
                    <a:close/>
                    <a:moveTo>
                      <a:pt x="444" y="781"/>
                    </a:moveTo>
                    <a:lnTo>
                      <a:pt x="1757" y="781"/>
                    </a:lnTo>
                    <a:lnTo>
                      <a:pt x="1757" y="624"/>
                    </a:lnTo>
                    <a:lnTo>
                      <a:pt x="444" y="624"/>
                    </a:lnTo>
                    <a:lnTo>
                      <a:pt x="444" y="781"/>
                    </a:lnTo>
                    <a:close/>
                    <a:moveTo>
                      <a:pt x="444" y="1114"/>
                    </a:moveTo>
                    <a:lnTo>
                      <a:pt x="1757" y="1114"/>
                    </a:lnTo>
                    <a:lnTo>
                      <a:pt x="1757" y="957"/>
                    </a:lnTo>
                    <a:lnTo>
                      <a:pt x="444" y="957"/>
                    </a:lnTo>
                    <a:lnTo>
                      <a:pt x="444" y="1114"/>
                    </a:lnTo>
                    <a:close/>
                    <a:moveTo>
                      <a:pt x="1757" y="1289"/>
                    </a:moveTo>
                    <a:lnTo>
                      <a:pt x="444" y="1289"/>
                    </a:lnTo>
                    <a:lnTo>
                      <a:pt x="444" y="1446"/>
                    </a:lnTo>
                    <a:lnTo>
                      <a:pt x="1757" y="1446"/>
                    </a:lnTo>
                    <a:lnTo>
                      <a:pt x="1757" y="1289"/>
                    </a:lnTo>
                    <a:close/>
                    <a:moveTo>
                      <a:pt x="1434" y="379"/>
                    </a:moveTo>
                    <a:lnTo>
                      <a:pt x="1041" y="379"/>
                    </a:lnTo>
                    <a:lnTo>
                      <a:pt x="1313" y="0"/>
                    </a:lnTo>
                    <a:lnTo>
                      <a:pt x="1688" y="0"/>
                    </a:lnTo>
                    <a:lnTo>
                      <a:pt x="1609" y="111"/>
                    </a:lnTo>
                    <a:lnTo>
                      <a:pt x="2160" y="111"/>
                    </a:lnTo>
                    <a:lnTo>
                      <a:pt x="2160" y="287"/>
                    </a:lnTo>
                    <a:lnTo>
                      <a:pt x="1998" y="287"/>
                    </a:lnTo>
                    <a:lnTo>
                      <a:pt x="2072" y="379"/>
                    </a:lnTo>
                    <a:lnTo>
                      <a:pt x="1646" y="379"/>
                    </a:lnTo>
                    <a:lnTo>
                      <a:pt x="1572" y="287"/>
                    </a:lnTo>
                    <a:lnTo>
                      <a:pt x="1508" y="287"/>
                    </a:lnTo>
                    <a:lnTo>
                      <a:pt x="1434" y="379"/>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6" name="Freeform 14"/>
              <p:cNvSpPr>
                <a:spLocks noChangeArrowheads="1"/>
              </p:cNvSpPr>
              <p:nvPr/>
            </p:nvSpPr>
            <p:spPr bwMode="auto">
              <a:xfrm>
                <a:off x="2810625" y="696666"/>
                <a:ext cx="363895" cy="364625"/>
              </a:xfrm>
              <a:custGeom>
                <a:avLst/>
                <a:gdLst>
                  <a:gd name="T0" fmla="*/ 0 w 2202"/>
                  <a:gd name="T1" fmla="*/ 2019 h 2205"/>
                  <a:gd name="T2" fmla="*/ 74 w 2202"/>
                  <a:gd name="T3" fmla="*/ 661 h 2205"/>
                  <a:gd name="T4" fmla="*/ 310 w 2202"/>
                  <a:gd name="T5" fmla="*/ 661 h 2205"/>
                  <a:gd name="T6" fmla="*/ 231 w 2202"/>
                  <a:gd name="T7" fmla="*/ 2019 h 2205"/>
                  <a:gd name="T8" fmla="*/ 0 w 2202"/>
                  <a:gd name="T9" fmla="*/ 2019 h 2205"/>
                  <a:gd name="T10" fmla="*/ 939 w 2202"/>
                  <a:gd name="T11" fmla="*/ 439 h 2205"/>
                  <a:gd name="T12" fmla="*/ 684 w 2202"/>
                  <a:gd name="T13" fmla="*/ 439 h 2205"/>
                  <a:gd name="T14" fmla="*/ 684 w 2202"/>
                  <a:gd name="T15" fmla="*/ 2204 h 2205"/>
                  <a:gd name="T16" fmla="*/ 361 w 2202"/>
                  <a:gd name="T17" fmla="*/ 2204 h 2205"/>
                  <a:gd name="T18" fmla="*/ 361 w 2202"/>
                  <a:gd name="T19" fmla="*/ 439 h 2205"/>
                  <a:gd name="T20" fmla="*/ 28 w 2202"/>
                  <a:gd name="T21" fmla="*/ 439 h 2205"/>
                  <a:gd name="T22" fmla="*/ 28 w 2202"/>
                  <a:gd name="T23" fmla="*/ 264 h 2205"/>
                  <a:gd name="T24" fmla="*/ 361 w 2202"/>
                  <a:gd name="T25" fmla="*/ 264 h 2205"/>
                  <a:gd name="T26" fmla="*/ 361 w 2202"/>
                  <a:gd name="T27" fmla="*/ 0 h 2205"/>
                  <a:gd name="T28" fmla="*/ 684 w 2202"/>
                  <a:gd name="T29" fmla="*/ 0 h 2205"/>
                  <a:gd name="T30" fmla="*/ 684 w 2202"/>
                  <a:gd name="T31" fmla="*/ 264 h 2205"/>
                  <a:gd name="T32" fmla="*/ 939 w 2202"/>
                  <a:gd name="T33" fmla="*/ 264 h 2205"/>
                  <a:gd name="T34" fmla="*/ 939 w 2202"/>
                  <a:gd name="T35" fmla="*/ 439 h 2205"/>
                  <a:gd name="T36" fmla="*/ 939 w 2202"/>
                  <a:gd name="T37" fmla="*/ 661 h 2205"/>
                  <a:gd name="T38" fmla="*/ 939 w 2202"/>
                  <a:gd name="T39" fmla="*/ 1686 h 2205"/>
                  <a:gd name="T40" fmla="*/ 735 w 2202"/>
                  <a:gd name="T41" fmla="*/ 1686 h 2205"/>
                  <a:gd name="T42" fmla="*/ 735 w 2202"/>
                  <a:gd name="T43" fmla="*/ 661 h 2205"/>
                  <a:gd name="T44" fmla="*/ 939 w 2202"/>
                  <a:gd name="T45" fmla="*/ 661 h 2205"/>
                  <a:gd name="T46" fmla="*/ 1022 w 2202"/>
                  <a:gd name="T47" fmla="*/ 1594 h 2205"/>
                  <a:gd name="T48" fmla="*/ 1022 w 2202"/>
                  <a:gd name="T49" fmla="*/ 42 h 2205"/>
                  <a:gd name="T50" fmla="*/ 1988 w 2202"/>
                  <a:gd name="T51" fmla="*/ 42 h 2205"/>
                  <a:gd name="T52" fmla="*/ 1988 w 2202"/>
                  <a:gd name="T53" fmla="*/ 2033 h 2205"/>
                  <a:gd name="T54" fmla="*/ 2201 w 2202"/>
                  <a:gd name="T55" fmla="*/ 2033 h 2205"/>
                  <a:gd name="T56" fmla="*/ 2201 w 2202"/>
                  <a:gd name="T57" fmla="*/ 2204 h 2205"/>
                  <a:gd name="T58" fmla="*/ 1665 w 2202"/>
                  <a:gd name="T59" fmla="*/ 2204 h 2205"/>
                  <a:gd name="T60" fmla="*/ 1665 w 2202"/>
                  <a:gd name="T61" fmla="*/ 217 h 2205"/>
                  <a:gd name="T62" fmla="*/ 1355 w 2202"/>
                  <a:gd name="T63" fmla="*/ 217 h 2205"/>
                  <a:gd name="T64" fmla="*/ 1355 w 2202"/>
                  <a:gd name="T65" fmla="*/ 1668 h 2205"/>
                  <a:gd name="T66" fmla="*/ 1198 w 2202"/>
                  <a:gd name="T67" fmla="*/ 2204 h 2205"/>
                  <a:gd name="T68" fmla="*/ 851 w 2202"/>
                  <a:gd name="T69" fmla="*/ 2204 h 2205"/>
                  <a:gd name="T70" fmla="*/ 1022 w 2202"/>
                  <a:gd name="T71" fmla="*/ 1594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02" h="2205">
                    <a:moveTo>
                      <a:pt x="0" y="2019"/>
                    </a:moveTo>
                    <a:lnTo>
                      <a:pt x="74" y="661"/>
                    </a:lnTo>
                    <a:lnTo>
                      <a:pt x="310" y="661"/>
                    </a:lnTo>
                    <a:lnTo>
                      <a:pt x="231" y="2019"/>
                    </a:lnTo>
                    <a:lnTo>
                      <a:pt x="0" y="2019"/>
                    </a:lnTo>
                    <a:close/>
                    <a:moveTo>
                      <a:pt x="939" y="439"/>
                    </a:moveTo>
                    <a:lnTo>
                      <a:pt x="684" y="439"/>
                    </a:lnTo>
                    <a:lnTo>
                      <a:pt x="684" y="2204"/>
                    </a:lnTo>
                    <a:lnTo>
                      <a:pt x="361" y="2204"/>
                    </a:lnTo>
                    <a:lnTo>
                      <a:pt x="361" y="439"/>
                    </a:lnTo>
                    <a:lnTo>
                      <a:pt x="28" y="439"/>
                    </a:lnTo>
                    <a:lnTo>
                      <a:pt x="28" y="264"/>
                    </a:lnTo>
                    <a:lnTo>
                      <a:pt x="361" y="264"/>
                    </a:lnTo>
                    <a:lnTo>
                      <a:pt x="361" y="0"/>
                    </a:lnTo>
                    <a:lnTo>
                      <a:pt x="684" y="0"/>
                    </a:lnTo>
                    <a:lnTo>
                      <a:pt x="684" y="264"/>
                    </a:lnTo>
                    <a:lnTo>
                      <a:pt x="939" y="264"/>
                    </a:lnTo>
                    <a:lnTo>
                      <a:pt x="939" y="439"/>
                    </a:lnTo>
                    <a:close/>
                    <a:moveTo>
                      <a:pt x="939" y="661"/>
                    </a:moveTo>
                    <a:lnTo>
                      <a:pt x="939" y="1686"/>
                    </a:lnTo>
                    <a:lnTo>
                      <a:pt x="735" y="1686"/>
                    </a:lnTo>
                    <a:lnTo>
                      <a:pt x="735" y="661"/>
                    </a:lnTo>
                    <a:lnTo>
                      <a:pt x="939" y="661"/>
                    </a:lnTo>
                    <a:close/>
                    <a:moveTo>
                      <a:pt x="1022" y="1594"/>
                    </a:moveTo>
                    <a:lnTo>
                      <a:pt x="1022" y="42"/>
                    </a:lnTo>
                    <a:lnTo>
                      <a:pt x="1988" y="42"/>
                    </a:lnTo>
                    <a:lnTo>
                      <a:pt x="1988" y="2033"/>
                    </a:lnTo>
                    <a:lnTo>
                      <a:pt x="2201" y="2033"/>
                    </a:lnTo>
                    <a:lnTo>
                      <a:pt x="2201" y="2204"/>
                    </a:lnTo>
                    <a:lnTo>
                      <a:pt x="1665" y="2204"/>
                    </a:lnTo>
                    <a:lnTo>
                      <a:pt x="1665" y="217"/>
                    </a:lnTo>
                    <a:lnTo>
                      <a:pt x="1355" y="217"/>
                    </a:lnTo>
                    <a:lnTo>
                      <a:pt x="1355" y="1668"/>
                    </a:lnTo>
                    <a:lnTo>
                      <a:pt x="1198" y="2204"/>
                    </a:lnTo>
                    <a:lnTo>
                      <a:pt x="851" y="2204"/>
                    </a:lnTo>
                    <a:lnTo>
                      <a:pt x="1022" y="1594"/>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7" name="Freeform 15"/>
              <p:cNvSpPr>
                <a:spLocks noChangeArrowheads="1"/>
              </p:cNvSpPr>
              <p:nvPr/>
            </p:nvSpPr>
            <p:spPr bwMode="auto">
              <a:xfrm>
                <a:off x="3212441" y="703958"/>
                <a:ext cx="339830" cy="358061"/>
              </a:xfrm>
              <a:custGeom>
                <a:avLst/>
                <a:gdLst>
                  <a:gd name="T0" fmla="*/ 1747 w 2053"/>
                  <a:gd name="T1" fmla="*/ 1982 h 2163"/>
                  <a:gd name="T2" fmla="*/ 1747 w 2053"/>
                  <a:gd name="T3" fmla="*/ 175 h 2163"/>
                  <a:gd name="T4" fmla="*/ 305 w 2053"/>
                  <a:gd name="T5" fmla="*/ 175 h 2163"/>
                  <a:gd name="T6" fmla="*/ 305 w 2053"/>
                  <a:gd name="T7" fmla="*/ 2162 h 2163"/>
                  <a:gd name="T8" fmla="*/ 0 w 2053"/>
                  <a:gd name="T9" fmla="*/ 2162 h 2163"/>
                  <a:gd name="T10" fmla="*/ 0 w 2053"/>
                  <a:gd name="T11" fmla="*/ 0 h 2163"/>
                  <a:gd name="T12" fmla="*/ 2052 w 2053"/>
                  <a:gd name="T13" fmla="*/ 0 h 2163"/>
                  <a:gd name="T14" fmla="*/ 2052 w 2053"/>
                  <a:gd name="T15" fmla="*/ 2162 h 2163"/>
                  <a:gd name="T16" fmla="*/ 1590 w 2053"/>
                  <a:gd name="T17" fmla="*/ 2162 h 2163"/>
                  <a:gd name="T18" fmla="*/ 1590 w 2053"/>
                  <a:gd name="T19" fmla="*/ 1982 h 2163"/>
                  <a:gd name="T20" fmla="*/ 1747 w 2053"/>
                  <a:gd name="T21" fmla="*/ 1982 h 2163"/>
                  <a:gd name="T22" fmla="*/ 791 w 2053"/>
                  <a:gd name="T23" fmla="*/ 1127 h 2163"/>
                  <a:gd name="T24" fmla="*/ 1017 w 2053"/>
                  <a:gd name="T25" fmla="*/ 1843 h 2163"/>
                  <a:gd name="T26" fmla="*/ 786 w 2053"/>
                  <a:gd name="T27" fmla="*/ 1843 h 2163"/>
                  <a:gd name="T28" fmla="*/ 680 w 2053"/>
                  <a:gd name="T29" fmla="*/ 1501 h 2163"/>
                  <a:gd name="T30" fmla="*/ 573 w 2053"/>
                  <a:gd name="T31" fmla="*/ 1843 h 2163"/>
                  <a:gd name="T32" fmla="*/ 347 w 2053"/>
                  <a:gd name="T33" fmla="*/ 1843 h 2163"/>
                  <a:gd name="T34" fmla="*/ 564 w 2053"/>
                  <a:gd name="T35" fmla="*/ 1136 h 2163"/>
                  <a:gd name="T36" fmla="*/ 338 w 2053"/>
                  <a:gd name="T37" fmla="*/ 430 h 2163"/>
                  <a:gd name="T38" fmla="*/ 569 w 2053"/>
                  <a:gd name="T39" fmla="*/ 430 h 2163"/>
                  <a:gd name="T40" fmla="*/ 675 w 2053"/>
                  <a:gd name="T41" fmla="*/ 767 h 2163"/>
                  <a:gd name="T42" fmla="*/ 777 w 2053"/>
                  <a:gd name="T43" fmla="*/ 430 h 2163"/>
                  <a:gd name="T44" fmla="*/ 1003 w 2053"/>
                  <a:gd name="T45" fmla="*/ 430 h 2163"/>
                  <a:gd name="T46" fmla="*/ 791 w 2053"/>
                  <a:gd name="T47" fmla="*/ 1127 h 2163"/>
                  <a:gd name="T48" fmla="*/ 1503 w 2053"/>
                  <a:gd name="T49" fmla="*/ 1127 h 2163"/>
                  <a:gd name="T50" fmla="*/ 1728 w 2053"/>
                  <a:gd name="T51" fmla="*/ 1843 h 2163"/>
                  <a:gd name="T52" fmla="*/ 1498 w 2053"/>
                  <a:gd name="T53" fmla="*/ 1843 h 2163"/>
                  <a:gd name="T54" fmla="*/ 1392 w 2053"/>
                  <a:gd name="T55" fmla="*/ 1501 h 2163"/>
                  <a:gd name="T56" fmla="*/ 1286 w 2053"/>
                  <a:gd name="T57" fmla="*/ 1843 h 2163"/>
                  <a:gd name="T58" fmla="*/ 1059 w 2053"/>
                  <a:gd name="T59" fmla="*/ 1843 h 2163"/>
                  <a:gd name="T60" fmla="*/ 1276 w 2053"/>
                  <a:gd name="T61" fmla="*/ 1136 h 2163"/>
                  <a:gd name="T62" fmla="*/ 1050 w 2053"/>
                  <a:gd name="T63" fmla="*/ 430 h 2163"/>
                  <a:gd name="T64" fmla="*/ 1281 w 2053"/>
                  <a:gd name="T65" fmla="*/ 430 h 2163"/>
                  <a:gd name="T66" fmla="*/ 1387 w 2053"/>
                  <a:gd name="T67" fmla="*/ 767 h 2163"/>
                  <a:gd name="T68" fmla="*/ 1489 w 2053"/>
                  <a:gd name="T69" fmla="*/ 430 h 2163"/>
                  <a:gd name="T70" fmla="*/ 1715 w 2053"/>
                  <a:gd name="T71" fmla="*/ 430 h 2163"/>
                  <a:gd name="T72" fmla="*/ 1503 w 2053"/>
                  <a:gd name="T73" fmla="*/ 11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53" h="2163">
                    <a:moveTo>
                      <a:pt x="1747" y="1982"/>
                    </a:moveTo>
                    <a:lnTo>
                      <a:pt x="1747" y="175"/>
                    </a:lnTo>
                    <a:lnTo>
                      <a:pt x="305" y="175"/>
                    </a:lnTo>
                    <a:lnTo>
                      <a:pt x="305" y="2162"/>
                    </a:lnTo>
                    <a:lnTo>
                      <a:pt x="0" y="2162"/>
                    </a:lnTo>
                    <a:lnTo>
                      <a:pt x="0" y="0"/>
                    </a:lnTo>
                    <a:lnTo>
                      <a:pt x="2052" y="0"/>
                    </a:lnTo>
                    <a:lnTo>
                      <a:pt x="2052" y="2162"/>
                    </a:lnTo>
                    <a:lnTo>
                      <a:pt x="1590" y="2162"/>
                    </a:lnTo>
                    <a:lnTo>
                      <a:pt x="1590" y="1982"/>
                    </a:lnTo>
                    <a:lnTo>
                      <a:pt x="1747" y="1982"/>
                    </a:lnTo>
                    <a:close/>
                    <a:moveTo>
                      <a:pt x="791" y="1127"/>
                    </a:moveTo>
                    <a:lnTo>
                      <a:pt x="1017" y="1843"/>
                    </a:lnTo>
                    <a:lnTo>
                      <a:pt x="786" y="1843"/>
                    </a:lnTo>
                    <a:lnTo>
                      <a:pt x="680" y="1501"/>
                    </a:lnTo>
                    <a:lnTo>
                      <a:pt x="573" y="1843"/>
                    </a:lnTo>
                    <a:lnTo>
                      <a:pt x="347" y="1843"/>
                    </a:lnTo>
                    <a:lnTo>
                      <a:pt x="564" y="1136"/>
                    </a:lnTo>
                    <a:lnTo>
                      <a:pt x="338" y="430"/>
                    </a:lnTo>
                    <a:lnTo>
                      <a:pt x="569" y="430"/>
                    </a:lnTo>
                    <a:lnTo>
                      <a:pt x="675" y="767"/>
                    </a:lnTo>
                    <a:lnTo>
                      <a:pt x="777" y="430"/>
                    </a:lnTo>
                    <a:lnTo>
                      <a:pt x="1003" y="430"/>
                    </a:lnTo>
                    <a:lnTo>
                      <a:pt x="791" y="1127"/>
                    </a:lnTo>
                    <a:close/>
                    <a:moveTo>
                      <a:pt x="1503" y="1127"/>
                    </a:moveTo>
                    <a:lnTo>
                      <a:pt x="1728" y="1843"/>
                    </a:lnTo>
                    <a:lnTo>
                      <a:pt x="1498" y="1843"/>
                    </a:lnTo>
                    <a:lnTo>
                      <a:pt x="1392" y="1501"/>
                    </a:lnTo>
                    <a:lnTo>
                      <a:pt x="1286" y="1843"/>
                    </a:lnTo>
                    <a:lnTo>
                      <a:pt x="1059" y="1843"/>
                    </a:lnTo>
                    <a:lnTo>
                      <a:pt x="1276" y="1136"/>
                    </a:lnTo>
                    <a:lnTo>
                      <a:pt x="1050" y="430"/>
                    </a:lnTo>
                    <a:lnTo>
                      <a:pt x="1281" y="430"/>
                    </a:lnTo>
                    <a:lnTo>
                      <a:pt x="1387" y="767"/>
                    </a:lnTo>
                    <a:lnTo>
                      <a:pt x="1489" y="430"/>
                    </a:lnTo>
                    <a:lnTo>
                      <a:pt x="1715" y="430"/>
                    </a:lnTo>
                    <a:lnTo>
                      <a:pt x="1503" y="1127"/>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8" name="Freeform 16"/>
              <p:cNvSpPr>
                <a:spLocks noChangeArrowheads="1"/>
              </p:cNvSpPr>
              <p:nvPr/>
            </p:nvSpPr>
            <p:spPr bwMode="auto">
              <a:xfrm>
                <a:off x="3581441" y="696666"/>
                <a:ext cx="375564" cy="362437"/>
              </a:xfrm>
              <a:custGeom>
                <a:avLst/>
                <a:gdLst>
                  <a:gd name="T0" fmla="*/ 315 w 2272"/>
                  <a:gd name="T1" fmla="*/ 957 h 2191"/>
                  <a:gd name="T2" fmla="*/ 0 w 2272"/>
                  <a:gd name="T3" fmla="*/ 957 h 2191"/>
                  <a:gd name="T4" fmla="*/ 361 w 2272"/>
                  <a:gd name="T5" fmla="*/ 5 h 2191"/>
                  <a:gd name="T6" fmla="*/ 675 w 2272"/>
                  <a:gd name="T7" fmla="*/ 5 h 2191"/>
                  <a:gd name="T8" fmla="*/ 380 w 2272"/>
                  <a:gd name="T9" fmla="*/ 767 h 2191"/>
                  <a:gd name="T10" fmla="*/ 453 w 2272"/>
                  <a:gd name="T11" fmla="*/ 767 h 2191"/>
                  <a:gd name="T12" fmla="*/ 509 w 2272"/>
                  <a:gd name="T13" fmla="*/ 647 h 2191"/>
                  <a:gd name="T14" fmla="*/ 823 w 2272"/>
                  <a:gd name="T15" fmla="*/ 647 h 2191"/>
                  <a:gd name="T16" fmla="*/ 463 w 2272"/>
                  <a:gd name="T17" fmla="*/ 1492 h 2191"/>
                  <a:gd name="T18" fmla="*/ 754 w 2272"/>
                  <a:gd name="T19" fmla="*/ 1492 h 2191"/>
                  <a:gd name="T20" fmla="*/ 754 w 2272"/>
                  <a:gd name="T21" fmla="*/ 1677 h 2191"/>
                  <a:gd name="T22" fmla="*/ 366 w 2272"/>
                  <a:gd name="T23" fmla="*/ 1677 h 2191"/>
                  <a:gd name="T24" fmla="*/ 65 w 2272"/>
                  <a:gd name="T25" fmla="*/ 1677 h 2191"/>
                  <a:gd name="T26" fmla="*/ 375 w 2272"/>
                  <a:gd name="T27" fmla="*/ 957 h 2191"/>
                  <a:gd name="T28" fmla="*/ 315 w 2272"/>
                  <a:gd name="T29" fmla="*/ 957 h 2191"/>
                  <a:gd name="T30" fmla="*/ 763 w 2272"/>
                  <a:gd name="T31" fmla="*/ 1954 h 2191"/>
                  <a:gd name="T32" fmla="*/ 763 w 2272"/>
                  <a:gd name="T33" fmla="*/ 2130 h 2191"/>
                  <a:gd name="T34" fmla="*/ 84 w 2272"/>
                  <a:gd name="T35" fmla="*/ 2130 h 2191"/>
                  <a:gd name="T36" fmla="*/ 84 w 2272"/>
                  <a:gd name="T37" fmla="*/ 1954 h 2191"/>
                  <a:gd name="T38" fmla="*/ 763 w 2272"/>
                  <a:gd name="T39" fmla="*/ 1954 h 2191"/>
                  <a:gd name="T40" fmla="*/ 1831 w 2272"/>
                  <a:gd name="T41" fmla="*/ 1205 h 2191"/>
                  <a:gd name="T42" fmla="*/ 1614 w 2272"/>
                  <a:gd name="T43" fmla="*/ 994 h 2191"/>
                  <a:gd name="T44" fmla="*/ 1355 w 2272"/>
                  <a:gd name="T45" fmla="*/ 1205 h 2191"/>
                  <a:gd name="T46" fmla="*/ 884 w 2272"/>
                  <a:gd name="T47" fmla="*/ 1205 h 2191"/>
                  <a:gd name="T48" fmla="*/ 1392 w 2272"/>
                  <a:gd name="T49" fmla="*/ 781 h 2191"/>
                  <a:gd name="T50" fmla="*/ 1212 w 2272"/>
                  <a:gd name="T51" fmla="*/ 587 h 2191"/>
                  <a:gd name="T52" fmla="*/ 1179 w 2272"/>
                  <a:gd name="T53" fmla="*/ 684 h 2191"/>
                  <a:gd name="T54" fmla="*/ 842 w 2272"/>
                  <a:gd name="T55" fmla="*/ 684 h 2191"/>
                  <a:gd name="T56" fmla="*/ 1082 w 2272"/>
                  <a:gd name="T57" fmla="*/ 0 h 2191"/>
                  <a:gd name="T58" fmla="*/ 1420 w 2272"/>
                  <a:gd name="T59" fmla="*/ 0 h 2191"/>
                  <a:gd name="T60" fmla="*/ 1397 w 2272"/>
                  <a:gd name="T61" fmla="*/ 79 h 2191"/>
                  <a:gd name="T62" fmla="*/ 2174 w 2272"/>
                  <a:gd name="T63" fmla="*/ 79 h 2191"/>
                  <a:gd name="T64" fmla="*/ 2174 w 2272"/>
                  <a:gd name="T65" fmla="*/ 527 h 2191"/>
                  <a:gd name="T66" fmla="*/ 1864 w 2272"/>
                  <a:gd name="T67" fmla="*/ 795 h 2191"/>
                  <a:gd name="T68" fmla="*/ 2271 w 2272"/>
                  <a:gd name="T69" fmla="*/ 1205 h 2191"/>
                  <a:gd name="T70" fmla="*/ 1831 w 2272"/>
                  <a:gd name="T71" fmla="*/ 1205 h 2191"/>
                  <a:gd name="T72" fmla="*/ 934 w 2272"/>
                  <a:gd name="T73" fmla="*/ 2190 h 2191"/>
                  <a:gd name="T74" fmla="*/ 934 w 2272"/>
                  <a:gd name="T75" fmla="*/ 1303 h 2191"/>
                  <a:gd name="T76" fmla="*/ 2206 w 2272"/>
                  <a:gd name="T77" fmla="*/ 1303 h 2191"/>
                  <a:gd name="T78" fmla="*/ 2206 w 2272"/>
                  <a:gd name="T79" fmla="*/ 2190 h 2191"/>
                  <a:gd name="T80" fmla="*/ 934 w 2272"/>
                  <a:gd name="T81" fmla="*/ 2190 h 2191"/>
                  <a:gd name="T82" fmla="*/ 1522 w 2272"/>
                  <a:gd name="T83" fmla="*/ 467 h 2191"/>
                  <a:gd name="T84" fmla="*/ 1646 w 2272"/>
                  <a:gd name="T85" fmla="*/ 592 h 2191"/>
                  <a:gd name="T86" fmla="*/ 1892 w 2272"/>
                  <a:gd name="T87" fmla="*/ 379 h 2191"/>
                  <a:gd name="T88" fmla="*/ 1892 w 2272"/>
                  <a:gd name="T89" fmla="*/ 254 h 2191"/>
                  <a:gd name="T90" fmla="*/ 1332 w 2272"/>
                  <a:gd name="T91" fmla="*/ 254 h 2191"/>
                  <a:gd name="T92" fmla="*/ 1253 w 2272"/>
                  <a:gd name="T93" fmla="*/ 467 h 2191"/>
                  <a:gd name="T94" fmla="*/ 1522 w 2272"/>
                  <a:gd name="T95" fmla="*/ 467 h 2191"/>
                  <a:gd name="T96" fmla="*/ 1277 w 2272"/>
                  <a:gd name="T97" fmla="*/ 1478 h 2191"/>
                  <a:gd name="T98" fmla="*/ 1277 w 2272"/>
                  <a:gd name="T99" fmla="*/ 2014 h 2191"/>
                  <a:gd name="T100" fmla="*/ 1864 w 2272"/>
                  <a:gd name="T101" fmla="*/ 2014 h 2191"/>
                  <a:gd name="T102" fmla="*/ 1864 w 2272"/>
                  <a:gd name="T103" fmla="*/ 1478 h 2191"/>
                  <a:gd name="T104" fmla="*/ 1277 w 2272"/>
                  <a:gd name="T105" fmla="*/ 1478 h 2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72" h="2191">
                    <a:moveTo>
                      <a:pt x="315" y="957"/>
                    </a:moveTo>
                    <a:lnTo>
                      <a:pt x="0" y="957"/>
                    </a:lnTo>
                    <a:lnTo>
                      <a:pt x="361" y="5"/>
                    </a:lnTo>
                    <a:lnTo>
                      <a:pt x="675" y="5"/>
                    </a:lnTo>
                    <a:lnTo>
                      <a:pt x="380" y="767"/>
                    </a:lnTo>
                    <a:lnTo>
                      <a:pt x="453" y="767"/>
                    </a:lnTo>
                    <a:lnTo>
                      <a:pt x="509" y="647"/>
                    </a:lnTo>
                    <a:lnTo>
                      <a:pt x="823" y="647"/>
                    </a:lnTo>
                    <a:lnTo>
                      <a:pt x="463" y="1492"/>
                    </a:lnTo>
                    <a:lnTo>
                      <a:pt x="754" y="1492"/>
                    </a:lnTo>
                    <a:lnTo>
                      <a:pt x="754" y="1677"/>
                    </a:lnTo>
                    <a:lnTo>
                      <a:pt x="366" y="1677"/>
                    </a:lnTo>
                    <a:lnTo>
                      <a:pt x="65" y="1677"/>
                    </a:lnTo>
                    <a:lnTo>
                      <a:pt x="375" y="957"/>
                    </a:lnTo>
                    <a:lnTo>
                      <a:pt x="315" y="957"/>
                    </a:lnTo>
                    <a:close/>
                    <a:moveTo>
                      <a:pt x="763" y="1954"/>
                    </a:moveTo>
                    <a:lnTo>
                      <a:pt x="763" y="2130"/>
                    </a:lnTo>
                    <a:lnTo>
                      <a:pt x="84" y="2130"/>
                    </a:lnTo>
                    <a:lnTo>
                      <a:pt x="84" y="1954"/>
                    </a:lnTo>
                    <a:lnTo>
                      <a:pt x="763" y="1954"/>
                    </a:lnTo>
                    <a:close/>
                    <a:moveTo>
                      <a:pt x="1831" y="1205"/>
                    </a:moveTo>
                    <a:lnTo>
                      <a:pt x="1614" y="994"/>
                    </a:lnTo>
                    <a:lnTo>
                      <a:pt x="1355" y="1205"/>
                    </a:lnTo>
                    <a:lnTo>
                      <a:pt x="884" y="1205"/>
                    </a:lnTo>
                    <a:lnTo>
                      <a:pt x="1392" y="781"/>
                    </a:lnTo>
                    <a:lnTo>
                      <a:pt x="1212" y="587"/>
                    </a:lnTo>
                    <a:lnTo>
                      <a:pt x="1179" y="684"/>
                    </a:lnTo>
                    <a:lnTo>
                      <a:pt x="842" y="684"/>
                    </a:lnTo>
                    <a:lnTo>
                      <a:pt x="1082" y="0"/>
                    </a:lnTo>
                    <a:lnTo>
                      <a:pt x="1420" y="0"/>
                    </a:lnTo>
                    <a:lnTo>
                      <a:pt x="1397" y="79"/>
                    </a:lnTo>
                    <a:lnTo>
                      <a:pt x="2174" y="79"/>
                    </a:lnTo>
                    <a:lnTo>
                      <a:pt x="2174" y="527"/>
                    </a:lnTo>
                    <a:lnTo>
                      <a:pt x="1864" y="795"/>
                    </a:lnTo>
                    <a:lnTo>
                      <a:pt x="2271" y="1205"/>
                    </a:lnTo>
                    <a:lnTo>
                      <a:pt x="1831" y="1205"/>
                    </a:lnTo>
                    <a:close/>
                    <a:moveTo>
                      <a:pt x="934" y="2190"/>
                    </a:moveTo>
                    <a:lnTo>
                      <a:pt x="934" y="1303"/>
                    </a:lnTo>
                    <a:lnTo>
                      <a:pt x="2206" y="1303"/>
                    </a:lnTo>
                    <a:lnTo>
                      <a:pt x="2206" y="2190"/>
                    </a:lnTo>
                    <a:lnTo>
                      <a:pt x="934" y="2190"/>
                    </a:lnTo>
                    <a:close/>
                    <a:moveTo>
                      <a:pt x="1522" y="467"/>
                    </a:moveTo>
                    <a:lnTo>
                      <a:pt x="1646" y="592"/>
                    </a:lnTo>
                    <a:lnTo>
                      <a:pt x="1892" y="379"/>
                    </a:lnTo>
                    <a:lnTo>
                      <a:pt x="1892" y="254"/>
                    </a:lnTo>
                    <a:lnTo>
                      <a:pt x="1332" y="254"/>
                    </a:lnTo>
                    <a:lnTo>
                      <a:pt x="1253" y="467"/>
                    </a:lnTo>
                    <a:lnTo>
                      <a:pt x="1522" y="467"/>
                    </a:lnTo>
                    <a:close/>
                    <a:moveTo>
                      <a:pt x="1277" y="1478"/>
                    </a:moveTo>
                    <a:lnTo>
                      <a:pt x="1277" y="2014"/>
                    </a:lnTo>
                    <a:lnTo>
                      <a:pt x="1864" y="2014"/>
                    </a:lnTo>
                    <a:lnTo>
                      <a:pt x="1864" y="1478"/>
                    </a:lnTo>
                    <a:lnTo>
                      <a:pt x="1277" y="1478"/>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9" name="Freeform 17"/>
              <p:cNvSpPr>
                <a:spLocks noChangeArrowheads="1"/>
              </p:cNvSpPr>
              <p:nvPr/>
            </p:nvSpPr>
            <p:spPr bwMode="auto">
              <a:xfrm>
                <a:off x="3982528" y="697395"/>
                <a:ext cx="362437" cy="363166"/>
              </a:xfrm>
              <a:custGeom>
                <a:avLst/>
                <a:gdLst>
                  <a:gd name="T0" fmla="*/ 1244 w 2193"/>
                  <a:gd name="T1" fmla="*/ 1012 h 2195"/>
                  <a:gd name="T2" fmla="*/ 934 w 2193"/>
                  <a:gd name="T3" fmla="*/ 1589 h 2195"/>
                  <a:gd name="T4" fmla="*/ 1249 w 2193"/>
                  <a:gd name="T5" fmla="*/ 1764 h 2195"/>
                  <a:gd name="T6" fmla="*/ 925 w 2193"/>
                  <a:gd name="T7" fmla="*/ 2194 h 2195"/>
                  <a:gd name="T8" fmla="*/ 439 w 2193"/>
                  <a:gd name="T9" fmla="*/ 2032 h 2195"/>
                  <a:gd name="T10" fmla="*/ 597 w 2193"/>
                  <a:gd name="T11" fmla="*/ 1764 h 2195"/>
                  <a:gd name="T12" fmla="*/ 65 w 2193"/>
                  <a:gd name="T13" fmla="*/ 1589 h 2195"/>
                  <a:gd name="T14" fmla="*/ 856 w 2193"/>
                  <a:gd name="T15" fmla="*/ 1187 h 2195"/>
                  <a:gd name="T16" fmla="*/ 292 w 2193"/>
                  <a:gd name="T17" fmla="*/ 1455 h 2195"/>
                  <a:gd name="T18" fmla="*/ 167 w 2193"/>
                  <a:gd name="T19" fmla="*/ 1187 h 2195"/>
                  <a:gd name="T20" fmla="*/ 65 w 2193"/>
                  <a:gd name="T21" fmla="*/ 1012 h 2195"/>
                  <a:gd name="T22" fmla="*/ 361 w 2193"/>
                  <a:gd name="T23" fmla="*/ 809 h 2195"/>
                  <a:gd name="T24" fmla="*/ 56 w 2193"/>
                  <a:gd name="T25" fmla="*/ 628 h 2195"/>
                  <a:gd name="T26" fmla="*/ 366 w 2193"/>
                  <a:gd name="T27" fmla="*/ 319 h 2195"/>
                  <a:gd name="T28" fmla="*/ 125 w 2193"/>
                  <a:gd name="T29" fmla="*/ 148 h 2195"/>
                  <a:gd name="T30" fmla="*/ 366 w 2193"/>
                  <a:gd name="T31" fmla="*/ 0 h 2195"/>
                  <a:gd name="T32" fmla="*/ 680 w 2193"/>
                  <a:gd name="T33" fmla="*/ 148 h 2195"/>
                  <a:gd name="T34" fmla="*/ 934 w 2193"/>
                  <a:gd name="T35" fmla="*/ 319 h 2195"/>
                  <a:gd name="T36" fmla="*/ 680 w 2193"/>
                  <a:gd name="T37" fmla="*/ 628 h 2195"/>
                  <a:gd name="T38" fmla="*/ 1022 w 2193"/>
                  <a:gd name="T39" fmla="*/ 64 h 2195"/>
                  <a:gd name="T40" fmla="*/ 1115 w 2193"/>
                  <a:gd name="T41" fmla="*/ 628 h 2195"/>
                  <a:gd name="T42" fmla="*/ 1244 w 2193"/>
                  <a:gd name="T43" fmla="*/ 809 h 2195"/>
                  <a:gd name="T44" fmla="*/ 546 w 2193"/>
                  <a:gd name="T45" fmla="*/ 1012 h 2195"/>
                  <a:gd name="T46" fmla="*/ 1683 w 2193"/>
                  <a:gd name="T47" fmla="*/ 0 h 2195"/>
                  <a:gd name="T48" fmla="*/ 2183 w 2193"/>
                  <a:gd name="T49" fmla="*/ 115 h 2195"/>
                  <a:gd name="T50" fmla="*/ 2113 w 2193"/>
                  <a:gd name="T51" fmla="*/ 291 h 2195"/>
                  <a:gd name="T52" fmla="*/ 1868 w 2193"/>
                  <a:gd name="T53" fmla="*/ 1427 h 2195"/>
                  <a:gd name="T54" fmla="*/ 1836 w 2193"/>
                  <a:gd name="T55" fmla="*/ 2194 h 2195"/>
                  <a:gd name="T56" fmla="*/ 1535 w 2193"/>
                  <a:gd name="T57" fmla="*/ 2194 h 2195"/>
                  <a:gd name="T58" fmla="*/ 1489 w 2193"/>
                  <a:gd name="T59" fmla="*/ 1445 h 2195"/>
                  <a:gd name="T60" fmla="*/ 1632 w 2193"/>
                  <a:gd name="T61" fmla="*/ 1104 h 2195"/>
                  <a:gd name="T62" fmla="*/ 1771 w 2193"/>
                  <a:gd name="T63" fmla="*/ 291 h 2195"/>
                  <a:gd name="T64" fmla="*/ 1614 w 2193"/>
                  <a:gd name="T65" fmla="*/ 975 h 2195"/>
                  <a:gd name="T66" fmla="*/ 1360 w 2193"/>
                  <a:gd name="T67" fmla="*/ 0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93" h="2195">
                    <a:moveTo>
                      <a:pt x="546" y="1012"/>
                    </a:moveTo>
                    <a:lnTo>
                      <a:pt x="1244" y="1012"/>
                    </a:lnTo>
                    <a:lnTo>
                      <a:pt x="1244" y="1187"/>
                    </a:lnTo>
                    <a:lnTo>
                      <a:pt x="934" y="1589"/>
                    </a:lnTo>
                    <a:lnTo>
                      <a:pt x="1249" y="1589"/>
                    </a:lnTo>
                    <a:lnTo>
                      <a:pt x="1249" y="1764"/>
                    </a:lnTo>
                    <a:lnTo>
                      <a:pt x="925" y="1764"/>
                    </a:lnTo>
                    <a:lnTo>
                      <a:pt x="925" y="2194"/>
                    </a:lnTo>
                    <a:lnTo>
                      <a:pt x="439" y="2194"/>
                    </a:lnTo>
                    <a:lnTo>
                      <a:pt x="439" y="2032"/>
                    </a:lnTo>
                    <a:lnTo>
                      <a:pt x="597" y="2032"/>
                    </a:lnTo>
                    <a:lnTo>
                      <a:pt x="597" y="1764"/>
                    </a:lnTo>
                    <a:lnTo>
                      <a:pt x="65" y="1764"/>
                    </a:lnTo>
                    <a:lnTo>
                      <a:pt x="65" y="1589"/>
                    </a:lnTo>
                    <a:lnTo>
                      <a:pt x="537" y="1589"/>
                    </a:lnTo>
                    <a:lnTo>
                      <a:pt x="856" y="1187"/>
                    </a:lnTo>
                    <a:lnTo>
                      <a:pt x="453" y="1187"/>
                    </a:lnTo>
                    <a:lnTo>
                      <a:pt x="292" y="1455"/>
                    </a:lnTo>
                    <a:lnTo>
                      <a:pt x="0" y="1455"/>
                    </a:lnTo>
                    <a:lnTo>
                      <a:pt x="167" y="1187"/>
                    </a:lnTo>
                    <a:lnTo>
                      <a:pt x="65" y="1187"/>
                    </a:lnTo>
                    <a:lnTo>
                      <a:pt x="65" y="1012"/>
                    </a:lnTo>
                    <a:lnTo>
                      <a:pt x="255" y="1012"/>
                    </a:lnTo>
                    <a:lnTo>
                      <a:pt x="361" y="809"/>
                    </a:lnTo>
                    <a:lnTo>
                      <a:pt x="56" y="809"/>
                    </a:lnTo>
                    <a:lnTo>
                      <a:pt x="56" y="628"/>
                    </a:lnTo>
                    <a:lnTo>
                      <a:pt x="366" y="628"/>
                    </a:lnTo>
                    <a:lnTo>
                      <a:pt x="366" y="319"/>
                    </a:lnTo>
                    <a:lnTo>
                      <a:pt x="125" y="319"/>
                    </a:lnTo>
                    <a:lnTo>
                      <a:pt x="125" y="148"/>
                    </a:lnTo>
                    <a:lnTo>
                      <a:pt x="366" y="148"/>
                    </a:lnTo>
                    <a:lnTo>
                      <a:pt x="366" y="0"/>
                    </a:lnTo>
                    <a:lnTo>
                      <a:pt x="680" y="0"/>
                    </a:lnTo>
                    <a:lnTo>
                      <a:pt x="680" y="148"/>
                    </a:lnTo>
                    <a:lnTo>
                      <a:pt x="934" y="148"/>
                    </a:lnTo>
                    <a:lnTo>
                      <a:pt x="934" y="319"/>
                    </a:lnTo>
                    <a:lnTo>
                      <a:pt x="680" y="319"/>
                    </a:lnTo>
                    <a:lnTo>
                      <a:pt x="680" y="628"/>
                    </a:lnTo>
                    <a:lnTo>
                      <a:pt x="846" y="628"/>
                    </a:lnTo>
                    <a:lnTo>
                      <a:pt x="1022" y="64"/>
                    </a:lnTo>
                    <a:lnTo>
                      <a:pt x="1272" y="64"/>
                    </a:lnTo>
                    <a:lnTo>
                      <a:pt x="1115" y="628"/>
                    </a:lnTo>
                    <a:lnTo>
                      <a:pt x="1244" y="628"/>
                    </a:lnTo>
                    <a:lnTo>
                      <a:pt x="1244" y="809"/>
                    </a:lnTo>
                    <a:lnTo>
                      <a:pt x="652" y="809"/>
                    </a:lnTo>
                    <a:lnTo>
                      <a:pt x="546" y="1012"/>
                    </a:lnTo>
                    <a:close/>
                    <a:moveTo>
                      <a:pt x="1360" y="0"/>
                    </a:moveTo>
                    <a:lnTo>
                      <a:pt x="1683" y="0"/>
                    </a:lnTo>
                    <a:lnTo>
                      <a:pt x="1679" y="115"/>
                    </a:lnTo>
                    <a:lnTo>
                      <a:pt x="2183" y="115"/>
                    </a:lnTo>
                    <a:lnTo>
                      <a:pt x="2183" y="291"/>
                    </a:lnTo>
                    <a:lnTo>
                      <a:pt x="2113" y="291"/>
                    </a:lnTo>
                    <a:lnTo>
                      <a:pt x="2113" y="739"/>
                    </a:lnTo>
                    <a:lnTo>
                      <a:pt x="1868" y="1427"/>
                    </a:lnTo>
                    <a:lnTo>
                      <a:pt x="2192" y="2194"/>
                    </a:lnTo>
                    <a:lnTo>
                      <a:pt x="1836" y="2194"/>
                    </a:lnTo>
                    <a:lnTo>
                      <a:pt x="1683" y="1834"/>
                    </a:lnTo>
                    <a:lnTo>
                      <a:pt x="1535" y="2194"/>
                    </a:lnTo>
                    <a:lnTo>
                      <a:pt x="1175" y="2194"/>
                    </a:lnTo>
                    <a:lnTo>
                      <a:pt x="1489" y="1445"/>
                    </a:lnTo>
                    <a:lnTo>
                      <a:pt x="1355" y="1104"/>
                    </a:lnTo>
                    <a:lnTo>
                      <a:pt x="1632" y="1104"/>
                    </a:lnTo>
                    <a:lnTo>
                      <a:pt x="1771" y="698"/>
                    </a:lnTo>
                    <a:lnTo>
                      <a:pt x="1771" y="291"/>
                    </a:lnTo>
                    <a:lnTo>
                      <a:pt x="1669" y="291"/>
                    </a:lnTo>
                    <a:lnTo>
                      <a:pt x="1614" y="975"/>
                    </a:lnTo>
                    <a:lnTo>
                      <a:pt x="1281" y="975"/>
                    </a:lnTo>
                    <a:lnTo>
                      <a:pt x="1360" y="0"/>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0" name="Freeform 18"/>
              <p:cNvSpPr>
                <a:spLocks noChangeArrowheads="1"/>
              </p:cNvSpPr>
              <p:nvPr/>
            </p:nvSpPr>
            <p:spPr bwMode="auto">
              <a:xfrm>
                <a:off x="4374864" y="702500"/>
                <a:ext cx="369000" cy="355874"/>
              </a:xfrm>
              <a:custGeom>
                <a:avLst/>
                <a:gdLst>
                  <a:gd name="T0" fmla="*/ 1447 w 2230"/>
                  <a:gd name="T1" fmla="*/ 1118 h 2150"/>
                  <a:gd name="T2" fmla="*/ 2229 w 2230"/>
                  <a:gd name="T3" fmla="*/ 1405 h 2150"/>
                  <a:gd name="T4" fmla="*/ 1545 w 2230"/>
                  <a:gd name="T5" fmla="*/ 1405 h 2150"/>
                  <a:gd name="T6" fmla="*/ 1078 w 2230"/>
                  <a:gd name="T7" fmla="*/ 1252 h 2150"/>
                  <a:gd name="T8" fmla="*/ 652 w 2230"/>
                  <a:gd name="T9" fmla="*/ 1405 h 2150"/>
                  <a:gd name="T10" fmla="*/ 0 w 2230"/>
                  <a:gd name="T11" fmla="*/ 1405 h 2150"/>
                  <a:gd name="T12" fmla="*/ 726 w 2230"/>
                  <a:gd name="T13" fmla="*/ 1137 h 2150"/>
                  <a:gd name="T14" fmla="*/ 222 w 2230"/>
                  <a:gd name="T15" fmla="*/ 976 h 2150"/>
                  <a:gd name="T16" fmla="*/ 361 w 2230"/>
                  <a:gd name="T17" fmla="*/ 745 h 2150"/>
                  <a:gd name="T18" fmla="*/ 88 w 2230"/>
                  <a:gd name="T19" fmla="*/ 745 h 2150"/>
                  <a:gd name="T20" fmla="*/ 88 w 2230"/>
                  <a:gd name="T21" fmla="*/ 583 h 2150"/>
                  <a:gd name="T22" fmla="*/ 467 w 2230"/>
                  <a:gd name="T23" fmla="*/ 583 h 2150"/>
                  <a:gd name="T24" fmla="*/ 550 w 2230"/>
                  <a:gd name="T25" fmla="*/ 444 h 2150"/>
                  <a:gd name="T26" fmla="*/ 902 w 2230"/>
                  <a:gd name="T27" fmla="*/ 444 h 2150"/>
                  <a:gd name="T28" fmla="*/ 823 w 2230"/>
                  <a:gd name="T29" fmla="*/ 583 h 2150"/>
                  <a:gd name="T30" fmla="*/ 2146 w 2230"/>
                  <a:gd name="T31" fmla="*/ 583 h 2150"/>
                  <a:gd name="T32" fmla="*/ 2146 w 2230"/>
                  <a:gd name="T33" fmla="*/ 745 h 2150"/>
                  <a:gd name="T34" fmla="*/ 1910 w 2230"/>
                  <a:gd name="T35" fmla="*/ 745 h 2150"/>
                  <a:gd name="T36" fmla="*/ 1910 w 2230"/>
                  <a:gd name="T37" fmla="*/ 957 h 2150"/>
                  <a:gd name="T38" fmla="*/ 1447 w 2230"/>
                  <a:gd name="T39" fmla="*/ 1118 h 2150"/>
                  <a:gd name="T40" fmla="*/ 56 w 2230"/>
                  <a:gd name="T41" fmla="*/ 2126 h 2150"/>
                  <a:gd name="T42" fmla="*/ 426 w 2230"/>
                  <a:gd name="T43" fmla="*/ 1733 h 2150"/>
                  <a:gd name="T44" fmla="*/ 819 w 2230"/>
                  <a:gd name="T45" fmla="*/ 1733 h 2150"/>
                  <a:gd name="T46" fmla="*/ 463 w 2230"/>
                  <a:gd name="T47" fmla="*/ 2126 h 2150"/>
                  <a:gd name="T48" fmla="*/ 56 w 2230"/>
                  <a:gd name="T49" fmla="*/ 2126 h 2150"/>
                  <a:gd name="T50" fmla="*/ 1817 w 2230"/>
                  <a:gd name="T51" fmla="*/ 490 h 2150"/>
                  <a:gd name="T52" fmla="*/ 1817 w 2230"/>
                  <a:gd name="T53" fmla="*/ 292 h 2150"/>
                  <a:gd name="T54" fmla="*/ 412 w 2230"/>
                  <a:gd name="T55" fmla="*/ 292 h 2150"/>
                  <a:gd name="T56" fmla="*/ 412 w 2230"/>
                  <a:gd name="T57" fmla="*/ 490 h 2150"/>
                  <a:gd name="T58" fmla="*/ 88 w 2230"/>
                  <a:gd name="T59" fmla="*/ 490 h 2150"/>
                  <a:gd name="T60" fmla="*/ 88 w 2230"/>
                  <a:gd name="T61" fmla="*/ 121 h 2150"/>
                  <a:gd name="T62" fmla="*/ 925 w 2230"/>
                  <a:gd name="T63" fmla="*/ 121 h 2150"/>
                  <a:gd name="T64" fmla="*/ 925 w 2230"/>
                  <a:gd name="T65" fmla="*/ 0 h 2150"/>
                  <a:gd name="T66" fmla="*/ 1290 w 2230"/>
                  <a:gd name="T67" fmla="*/ 0 h 2150"/>
                  <a:gd name="T68" fmla="*/ 1290 w 2230"/>
                  <a:gd name="T69" fmla="*/ 121 h 2150"/>
                  <a:gd name="T70" fmla="*/ 2146 w 2230"/>
                  <a:gd name="T71" fmla="*/ 121 h 2150"/>
                  <a:gd name="T72" fmla="*/ 2146 w 2230"/>
                  <a:gd name="T73" fmla="*/ 490 h 2150"/>
                  <a:gd name="T74" fmla="*/ 1817 w 2230"/>
                  <a:gd name="T75" fmla="*/ 490 h 2150"/>
                  <a:gd name="T76" fmla="*/ 1281 w 2230"/>
                  <a:gd name="T77" fmla="*/ 1368 h 2150"/>
                  <a:gd name="T78" fmla="*/ 1281 w 2230"/>
                  <a:gd name="T79" fmla="*/ 1497 h 2150"/>
                  <a:gd name="T80" fmla="*/ 2146 w 2230"/>
                  <a:gd name="T81" fmla="*/ 1497 h 2150"/>
                  <a:gd name="T82" fmla="*/ 2146 w 2230"/>
                  <a:gd name="T83" fmla="*/ 1668 h 2150"/>
                  <a:gd name="T84" fmla="*/ 1281 w 2230"/>
                  <a:gd name="T85" fmla="*/ 1668 h 2150"/>
                  <a:gd name="T86" fmla="*/ 1281 w 2230"/>
                  <a:gd name="T87" fmla="*/ 2149 h 2150"/>
                  <a:gd name="T88" fmla="*/ 944 w 2230"/>
                  <a:gd name="T89" fmla="*/ 2149 h 2150"/>
                  <a:gd name="T90" fmla="*/ 944 w 2230"/>
                  <a:gd name="T91" fmla="*/ 1668 h 2150"/>
                  <a:gd name="T92" fmla="*/ 88 w 2230"/>
                  <a:gd name="T93" fmla="*/ 1668 h 2150"/>
                  <a:gd name="T94" fmla="*/ 88 w 2230"/>
                  <a:gd name="T95" fmla="*/ 1497 h 2150"/>
                  <a:gd name="T96" fmla="*/ 944 w 2230"/>
                  <a:gd name="T97" fmla="*/ 1497 h 2150"/>
                  <a:gd name="T98" fmla="*/ 944 w 2230"/>
                  <a:gd name="T99" fmla="*/ 1368 h 2150"/>
                  <a:gd name="T100" fmla="*/ 1281 w 2230"/>
                  <a:gd name="T101" fmla="*/ 1368 h 2150"/>
                  <a:gd name="T102" fmla="*/ 1115 w 2230"/>
                  <a:gd name="T103" fmla="*/ 999 h 2150"/>
                  <a:gd name="T104" fmla="*/ 1568 w 2230"/>
                  <a:gd name="T105" fmla="*/ 832 h 2150"/>
                  <a:gd name="T106" fmla="*/ 1568 w 2230"/>
                  <a:gd name="T107" fmla="*/ 745 h 2150"/>
                  <a:gd name="T108" fmla="*/ 726 w 2230"/>
                  <a:gd name="T109" fmla="*/ 745 h 2150"/>
                  <a:gd name="T110" fmla="*/ 675 w 2230"/>
                  <a:gd name="T111" fmla="*/ 837 h 2150"/>
                  <a:gd name="T112" fmla="*/ 1115 w 2230"/>
                  <a:gd name="T113" fmla="*/ 999 h 2150"/>
                  <a:gd name="T114" fmla="*/ 2192 w 2230"/>
                  <a:gd name="T115" fmla="*/ 2126 h 2150"/>
                  <a:gd name="T116" fmla="*/ 1776 w 2230"/>
                  <a:gd name="T117" fmla="*/ 2126 h 2150"/>
                  <a:gd name="T118" fmla="*/ 1420 w 2230"/>
                  <a:gd name="T119" fmla="*/ 1733 h 2150"/>
                  <a:gd name="T120" fmla="*/ 1827 w 2230"/>
                  <a:gd name="T121" fmla="*/ 1733 h 2150"/>
                  <a:gd name="T122" fmla="*/ 2192 w 2230"/>
                  <a:gd name="T123" fmla="*/ 2126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0" h="2150">
                    <a:moveTo>
                      <a:pt x="1447" y="1118"/>
                    </a:moveTo>
                    <a:lnTo>
                      <a:pt x="2229" y="1405"/>
                    </a:lnTo>
                    <a:lnTo>
                      <a:pt x="1545" y="1405"/>
                    </a:lnTo>
                    <a:lnTo>
                      <a:pt x="1078" y="1252"/>
                    </a:lnTo>
                    <a:lnTo>
                      <a:pt x="652" y="1405"/>
                    </a:lnTo>
                    <a:lnTo>
                      <a:pt x="0" y="1405"/>
                    </a:lnTo>
                    <a:lnTo>
                      <a:pt x="726" y="1137"/>
                    </a:lnTo>
                    <a:lnTo>
                      <a:pt x="222" y="976"/>
                    </a:lnTo>
                    <a:lnTo>
                      <a:pt x="361" y="745"/>
                    </a:lnTo>
                    <a:lnTo>
                      <a:pt x="88" y="745"/>
                    </a:lnTo>
                    <a:lnTo>
                      <a:pt x="88" y="583"/>
                    </a:lnTo>
                    <a:lnTo>
                      <a:pt x="467" y="583"/>
                    </a:lnTo>
                    <a:lnTo>
                      <a:pt x="550" y="444"/>
                    </a:lnTo>
                    <a:lnTo>
                      <a:pt x="902" y="444"/>
                    </a:lnTo>
                    <a:lnTo>
                      <a:pt x="823" y="583"/>
                    </a:lnTo>
                    <a:lnTo>
                      <a:pt x="2146" y="583"/>
                    </a:lnTo>
                    <a:lnTo>
                      <a:pt x="2146" y="745"/>
                    </a:lnTo>
                    <a:lnTo>
                      <a:pt x="1910" y="745"/>
                    </a:lnTo>
                    <a:lnTo>
                      <a:pt x="1910" y="957"/>
                    </a:lnTo>
                    <a:lnTo>
                      <a:pt x="1447" y="1118"/>
                    </a:lnTo>
                    <a:close/>
                    <a:moveTo>
                      <a:pt x="56" y="2126"/>
                    </a:moveTo>
                    <a:lnTo>
                      <a:pt x="426" y="1733"/>
                    </a:lnTo>
                    <a:lnTo>
                      <a:pt x="819" y="1733"/>
                    </a:lnTo>
                    <a:lnTo>
                      <a:pt x="463" y="2126"/>
                    </a:lnTo>
                    <a:lnTo>
                      <a:pt x="56" y="2126"/>
                    </a:lnTo>
                    <a:close/>
                    <a:moveTo>
                      <a:pt x="1817" y="490"/>
                    </a:moveTo>
                    <a:lnTo>
                      <a:pt x="1817" y="292"/>
                    </a:lnTo>
                    <a:lnTo>
                      <a:pt x="412" y="292"/>
                    </a:lnTo>
                    <a:lnTo>
                      <a:pt x="412" y="490"/>
                    </a:lnTo>
                    <a:lnTo>
                      <a:pt x="88" y="490"/>
                    </a:lnTo>
                    <a:lnTo>
                      <a:pt x="88" y="121"/>
                    </a:lnTo>
                    <a:lnTo>
                      <a:pt x="925" y="121"/>
                    </a:lnTo>
                    <a:lnTo>
                      <a:pt x="925" y="0"/>
                    </a:lnTo>
                    <a:lnTo>
                      <a:pt x="1290" y="0"/>
                    </a:lnTo>
                    <a:lnTo>
                      <a:pt x="1290" y="121"/>
                    </a:lnTo>
                    <a:lnTo>
                      <a:pt x="2146" y="121"/>
                    </a:lnTo>
                    <a:lnTo>
                      <a:pt x="2146" y="490"/>
                    </a:lnTo>
                    <a:lnTo>
                      <a:pt x="1817" y="490"/>
                    </a:lnTo>
                    <a:close/>
                    <a:moveTo>
                      <a:pt x="1281" y="1368"/>
                    </a:moveTo>
                    <a:lnTo>
                      <a:pt x="1281" y="1497"/>
                    </a:lnTo>
                    <a:lnTo>
                      <a:pt x="2146" y="1497"/>
                    </a:lnTo>
                    <a:lnTo>
                      <a:pt x="2146" y="1668"/>
                    </a:lnTo>
                    <a:lnTo>
                      <a:pt x="1281" y="1668"/>
                    </a:lnTo>
                    <a:lnTo>
                      <a:pt x="1281" y="2149"/>
                    </a:lnTo>
                    <a:lnTo>
                      <a:pt x="944" y="2149"/>
                    </a:lnTo>
                    <a:lnTo>
                      <a:pt x="944" y="1668"/>
                    </a:lnTo>
                    <a:lnTo>
                      <a:pt x="88" y="1668"/>
                    </a:lnTo>
                    <a:lnTo>
                      <a:pt x="88" y="1497"/>
                    </a:lnTo>
                    <a:lnTo>
                      <a:pt x="944" y="1497"/>
                    </a:lnTo>
                    <a:lnTo>
                      <a:pt x="944" y="1368"/>
                    </a:lnTo>
                    <a:lnTo>
                      <a:pt x="1281" y="1368"/>
                    </a:lnTo>
                    <a:close/>
                    <a:moveTo>
                      <a:pt x="1115" y="999"/>
                    </a:moveTo>
                    <a:lnTo>
                      <a:pt x="1568" y="832"/>
                    </a:lnTo>
                    <a:lnTo>
                      <a:pt x="1568" y="745"/>
                    </a:lnTo>
                    <a:lnTo>
                      <a:pt x="726" y="745"/>
                    </a:lnTo>
                    <a:lnTo>
                      <a:pt x="675" y="837"/>
                    </a:lnTo>
                    <a:lnTo>
                      <a:pt x="1115" y="999"/>
                    </a:lnTo>
                    <a:close/>
                    <a:moveTo>
                      <a:pt x="2192" y="2126"/>
                    </a:moveTo>
                    <a:lnTo>
                      <a:pt x="1776" y="2126"/>
                    </a:lnTo>
                    <a:lnTo>
                      <a:pt x="1420" y="1733"/>
                    </a:lnTo>
                    <a:lnTo>
                      <a:pt x="1827" y="1733"/>
                    </a:lnTo>
                    <a:lnTo>
                      <a:pt x="2192" y="2126"/>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1" name="Freeform 19"/>
              <p:cNvSpPr>
                <a:spLocks noChangeArrowheads="1"/>
              </p:cNvSpPr>
              <p:nvPr/>
            </p:nvSpPr>
            <p:spPr bwMode="auto">
              <a:xfrm>
                <a:off x="4758449" y="696666"/>
                <a:ext cx="376293" cy="364625"/>
              </a:xfrm>
              <a:custGeom>
                <a:avLst/>
                <a:gdLst>
                  <a:gd name="T0" fmla="*/ 615 w 2276"/>
                  <a:gd name="T1" fmla="*/ 943 h 2205"/>
                  <a:gd name="T2" fmla="*/ 897 w 2276"/>
                  <a:gd name="T3" fmla="*/ 1145 h 2205"/>
                  <a:gd name="T4" fmla="*/ 897 w 2276"/>
                  <a:gd name="T5" fmla="*/ 1548 h 2205"/>
                  <a:gd name="T6" fmla="*/ 583 w 2276"/>
                  <a:gd name="T7" fmla="*/ 1330 h 2205"/>
                  <a:gd name="T8" fmla="*/ 583 w 2276"/>
                  <a:gd name="T9" fmla="*/ 2204 h 2205"/>
                  <a:gd name="T10" fmla="*/ 241 w 2276"/>
                  <a:gd name="T11" fmla="*/ 2204 h 2205"/>
                  <a:gd name="T12" fmla="*/ 241 w 2276"/>
                  <a:gd name="T13" fmla="*/ 1478 h 2205"/>
                  <a:gd name="T14" fmla="*/ 0 w 2276"/>
                  <a:gd name="T15" fmla="*/ 1478 h 2205"/>
                  <a:gd name="T16" fmla="*/ 435 w 2276"/>
                  <a:gd name="T17" fmla="*/ 439 h 2205"/>
                  <a:gd name="T18" fmla="*/ 93 w 2276"/>
                  <a:gd name="T19" fmla="*/ 439 h 2205"/>
                  <a:gd name="T20" fmla="*/ 93 w 2276"/>
                  <a:gd name="T21" fmla="*/ 264 h 2205"/>
                  <a:gd name="T22" fmla="*/ 306 w 2276"/>
                  <a:gd name="T23" fmla="*/ 264 h 2205"/>
                  <a:gd name="T24" fmla="*/ 306 w 2276"/>
                  <a:gd name="T25" fmla="*/ 0 h 2205"/>
                  <a:gd name="T26" fmla="*/ 680 w 2276"/>
                  <a:gd name="T27" fmla="*/ 0 h 2205"/>
                  <a:gd name="T28" fmla="*/ 680 w 2276"/>
                  <a:gd name="T29" fmla="*/ 264 h 2205"/>
                  <a:gd name="T30" fmla="*/ 819 w 2276"/>
                  <a:gd name="T31" fmla="*/ 264 h 2205"/>
                  <a:gd name="T32" fmla="*/ 819 w 2276"/>
                  <a:gd name="T33" fmla="*/ 439 h 2205"/>
                  <a:gd name="T34" fmla="*/ 615 w 2276"/>
                  <a:gd name="T35" fmla="*/ 943 h 2205"/>
                  <a:gd name="T36" fmla="*/ 888 w 2276"/>
                  <a:gd name="T37" fmla="*/ 726 h 2205"/>
                  <a:gd name="T38" fmla="*/ 888 w 2276"/>
                  <a:gd name="T39" fmla="*/ 550 h 2205"/>
                  <a:gd name="T40" fmla="*/ 1360 w 2276"/>
                  <a:gd name="T41" fmla="*/ 550 h 2205"/>
                  <a:gd name="T42" fmla="*/ 1360 w 2276"/>
                  <a:gd name="T43" fmla="*/ 0 h 2205"/>
                  <a:gd name="T44" fmla="*/ 1702 w 2276"/>
                  <a:gd name="T45" fmla="*/ 0 h 2205"/>
                  <a:gd name="T46" fmla="*/ 1702 w 2276"/>
                  <a:gd name="T47" fmla="*/ 550 h 2205"/>
                  <a:gd name="T48" fmla="*/ 2178 w 2276"/>
                  <a:gd name="T49" fmla="*/ 550 h 2205"/>
                  <a:gd name="T50" fmla="*/ 2178 w 2276"/>
                  <a:gd name="T51" fmla="*/ 726 h 2205"/>
                  <a:gd name="T52" fmla="*/ 1702 w 2276"/>
                  <a:gd name="T53" fmla="*/ 726 h 2205"/>
                  <a:gd name="T54" fmla="*/ 1702 w 2276"/>
                  <a:gd name="T55" fmla="*/ 1996 h 2205"/>
                  <a:gd name="T56" fmla="*/ 2275 w 2276"/>
                  <a:gd name="T57" fmla="*/ 1996 h 2205"/>
                  <a:gd name="T58" fmla="*/ 2275 w 2276"/>
                  <a:gd name="T59" fmla="*/ 2172 h 2205"/>
                  <a:gd name="T60" fmla="*/ 763 w 2276"/>
                  <a:gd name="T61" fmla="*/ 2172 h 2205"/>
                  <a:gd name="T62" fmla="*/ 763 w 2276"/>
                  <a:gd name="T63" fmla="*/ 1996 h 2205"/>
                  <a:gd name="T64" fmla="*/ 1360 w 2276"/>
                  <a:gd name="T65" fmla="*/ 1996 h 2205"/>
                  <a:gd name="T66" fmla="*/ 1360 w 2276"/>
                  <a:gd name="T67" fmla="*/ 726 h 2205"/>
                  <a:gd name="T68" fmla="*/ 888 w 2276"/>
                  <a:gd name="T69" fmla="*/ 726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76" h="2205">
                    <a:moveTo>
                      <a:pt x="615" y="943"/>
                    </a:moveTo>
                    <a:lnTo>
                      <a:pt x="897" y="1145"/>
                    </a:lnTo>
                    <a:lnTo>
                      <a:pt x="897" y="1548"/>
                    </a:lnTo>
                    <a:lnTo>
                      <a:pt x="583" y="1330"/>
                    </a:lnTo>
                    <a:lnTo>
                      <a:pt x="583" y="2204"/>
                    </a:lnTo>
                    <a:lnTo>
                      <a:pt x="241" y="2204"/>
                    </a:lnTo>
                    <a:lnTo>
                      <a:pt x="241" y="1478"/>
                    </a:lnTo>
                    <a:lnTo>
                      <a:pt x="0" y="1478"/>
                    </a:lnTo>
                    <a:lnTo>
                      <a:pt x="435" y="439"/>
                    </a:lnTo>
                    <a:lnTo>
                      <a:pt x="93" y="439"/>
                    </a:lnTo>
                    <a:lnTo>
                      <a:pt x="93" y="264"/>
                    </a:lnTo>
                    <a:lnTo>
                      <a:pt x="306" y="264"/>
                    </a:lnTo>
                    <a:lnTo>
                      <a:pt x="306" y="0"/>
                    </a:lnTo>
                    <a:lnTo>
                      <a:pt x="680" y="0"/>
                    </a:lnTo>
                    <a:lnTo>
                      <a:pt x="680" y="264"/>
                    </a:lnTo>
                    <a:lnTo>
                      <a:pt x="819" y="264"/>
                    </a:lnTo>
                    <a:lnTo>
                      <a:pt x="819" y="439"/>
                    </a:lnTo>
                    <a:lnTo>
                      <a:pt x="615" y="943"/>
                    </a:lnTo>
                    <a:close/>
                    <a:moveTo>
                      <a:pt x="888" y="726"/>
                    </a:moveTo>
                    <a:lnTo>
                      <a:pt x="888" y="550"/>
                    </a:lnTo>
                    <a:lnTo>
                      <a:pt x="1360" y="550"/>
                    </a:lnTo>
                    <a:lnTo>
                      <a:pt x="1360" y="0"/>
                    </a:lnTo>
                    <a:lnTo>
                      <a:pt x="1702" y="0"/>
                    </a:lnTo>
                    <a:lnTo>
                      <a:pt x="1702" y="550"/>
                    </a:lnTo>
                    <a:lnTo>
                      <a:pt x="2178" y="550"/>
                    </a:lnTo>
                    <a:lnTo>
                      <a:pt x="2178" y="726"/>
                    </a:lnTo>
                    <a:lnTo>
                      <a:pt x="1702" y="726"/>
                    </a:lnTo>
                    <a:lnTo>
                      <a:pt x="1702" y="1996"/>
                    </a:lnTo>
                    <a:lnTo>
                      <a:pt x="2275" y="1996"/>
                    </a:lnTo>
                    <a:lnTo>
                      <a:pt x="2275" y="2172"/>
                    </a:lnTo>
                    <a:lnTo>
                      <a:pt x="763" y="2172"/>
                    </a:lnTo>
                    <a:lnTo>
                      <a:pt x="763" y="1996"/>
                    </a:lnTo>
                    <a:lnTo>
                      <a:pt x="1360" y="1996"/>
                    </a:lnTo>
                    <a:lnTo>
                      <a:pt x="1360" y="726"/>
                    </a:lnTo>
                    <a:lnTo>
                      <a:pt x="888" y="726"/>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2" name="Freeform 20"/>
              <p:cNvSpPr>
                <a:spLocks noChangeArrowheads="1"/>
              </p:cNvSpPr>
              <p:nvPr/>
            </p:nvSpPr>
            <p:spPr bwMode="auto">
              <a:xfrm>
                <a:off x="5179226" y="705417"/>
                <a:ext cx="328891" cy="352227"/>
              </a:xfrm>
              <a:custGeom>
                <a:avLst/>
                <a:gdLst>
                  <a:gd name="T0" fmla="*/ 1979 w 1990"/>
                  <a:gd name="T1" fmla="*/ 176 h 2131"/>
                  <a:gd name="T2" fmla="*/ 343 w 1990"/>
                  <a:gd name="T3" fmla="*/ 176 h 2131"/>
                  <a:gd name="T4" fmla="*/ 343 w 1990"/>
                  <a:gd name="T5" fmla="*/ 1954 h 2131"/>
                  <a:gd name="T6" fmla="*/ 1989 w 1990"/>
                  <a:gd name="T7" fmla="*/ 1954 h 2131"/>
                  <a:gd name="T8" fmla="*/ 1989 w 1990"/>
                  <a:gd name="T9" fmla="*/ 2130 h 2131"/>
                  <a:gd name="T10" fmla="*/ 0 w 1990"/>
                  <a:gd name="T11" fmla="*/ 2130 h 2131"/>
                  <a:gd name="T12" fmla="*/ 0 w 1990"/>
                  <a:gd name="T13" fmla="*/ 0 h 2131"/>
                  <a:gd name="T14" fmla="*/ 1979 w 1990"/>
                  <a:gd name="T15" fmla="*/ 0 h 2131"/>
                  <a:gd name="T16" fmla="*/ 1979 w 1990"/>
                  <a:gd name="T17" fmla="*/ 176 h 2131"/>
                  <a:gd name="T18" fmla="*/ 958 w 1990"/>
                  <a:gd name="T19" fmla="*/ 1063 h 2131"/>
                  <a:gd name="T20" fmla="*/ 421 w 1990"/>
                  <a:gd name="T21" fmla="*/ 310 h 2131"/>
                  <a:gd name="T22" fmla="*/ 847 w 1990"/>
                  <a:gd name="T23" fmla="*/ 310 h 2131"/>
                  <a:gd name="T24" fmla="*/ 1166 w 1990"/>
                  <a:gd name="T25" fmla="*/ 763 h 2131"/>
                  <a:gd name="T26" fmla="*/ 1475 w 1990"/>
                  <a:gd name="T27" fmla="*/ 310 h 2131"/>
                  <a:gd name="T28" fmla="*/ 1887 w 1990"/>
                  <a:gd name="T29" fmla="*/ 310 h 2131"/>
                  <a:gd name="T30" fmla="*/ 1378 w 1990"/>
                  <a:gd name="T31" fmla="*/ 1058 h 2131"/>
                  <a:gd name="T32" fmla="*/ 1924 w 1990"/>
                  <a:gd name="T33" fmla="*/ 1829 h 2131"/>
                  <a:gd name="T34" fmla="*/ 1508 w 1990"/>
                  <a:gd name="T35" fmla="*/ 1829 h 2131"/>
                  <a:gd name="T36" fmla="*/ 1175 w 1990"/>
                  <a:gd name="T37" fmla="*/ 1358 h 2131"/>
                  <a:gd name="T38" fmla="*/ 860 w 1990"/>
                  <a:gd name="T39" fmla="*/ 1829 h 2131"/>
                  <a:gd name="T40" fmla="*/ 440 w 1990"/>
                  <a:gd name="T41" fmla="*/ 1829 h 2131"/>
                  <a:gd name="T42" fmla="*/ 958 w 1990"/>
                  <a:gd name="T43" fmla="*/ 1063 h 2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90" h="2131">
                    <a:moveTo>
                      <a:pt x="1979" y="176"/>
                    </a:moveTo>
                    <a:lnTo>
                      <a:pt x="343" y="176"/>
                    </a:lnTo>
                    <a:lnTo>
                      <a:pt x="343" y="1954"/>
                    </a:lnTo>
                    <a:lnTo>
                      <a:pt x="1989" y="1954"/>
                    </a:lnTo>
                    <a:lnTo>
                      <a:pt x="1989" y="2130"/>
                    </a:lnTo>
                    <a:lnTo>
                      <a:pt x="0" y="2130"/>
                    </a:lnTo>
                    <a:lnTo>
                      <a:pt x="0" y="0"/>
                    </a:lnTo>
                    <a:lnTo>
                      <a:pt x="1979" y="0"/>
                    </a:lnTo>
                    <a:lnTo>
                      <a:pt x="1979" y="176"/>
                    </a:lnTo>
                    <a:close/>
                    <a:moveTo>
                      <a:pt x="958" y="1063"/>
                    </a:moveTo>
                    <a:lnTo>
                      <a:pt x="421" y="310"/>
                    </a:lnTo>
                    <a:lnTo>
                      <a:pt x="847" y="310"/>
                    </a:lnTo>
                    <a:lnTo>
                      <a:pt x="1166" y="763"/>
                    </a:lnTo>
                    <a:lnTo>
                      <a:pt x="1475" y="310"/>
                    </a:lnTo>
                    <a:lnTo>
                      <a:pt x="1887" y="310"/>
                    </a:lnTo>
                    <a:lnTo>
                      <a:pt x="1378" y="1058"/>
                    </a:lnTo>
                    <a:lnTo>
                      <a:pt x="1924" y="1829"/>
                    </a:lnTo>
                    <a:lnTo>
                      <a:pt x="1508" y="1829"/>
                    </a:lnTo>
                    <a:lnTo>
                      <a:pt x="1175" y="1358"/>
                    </a:lnTo>
                    <a:lnTo>
                      <a:pt x="860" y="1829"/>
                    </a:lnTo>
                    <a:lnTo>
                      <a:pt x="440" y="1829"/>
                    </a:lnTo>
                    <a:lnTo>
                      <a:pt x="958" y="1063"/>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dirty="0"/>
              </a:p>
            </p:txBody>
          </p:sp>
        </p:grpSp>
      </p:grpSp>
      <p:cxnSp>
        <p:nvCxnSpPr>
          <p:cNvPr id="64" name="直线连接符 63"/>
          <p:cNvCxnSpPr/>
          <p:nvPr userDrawn="1"/>
        </p:nvCxnSpPr>
        <p:spPr>
          <a:xfrm>
            <a:off x="7279051" y="526775"/>
            <a:ext cx="0" cy="503679"/>
          </a:xfrm>
          <a:prstGeom prst="line">
            <a:avLst/>
          </a:prstGeom>
          <a:ln w="127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65" name="组合 64"/>
          <p:cNvGrpSpPr/>
          <p:nvPr userDrawn="1"/>
        </p:nvGrpSpPr>
        <p:grpSpPr>
          <a:xfrm>
            <a:off x="7749100" y="426644"/>
            <a:ext cx="695780" cy="369331"/>
            <a:chOff x="1113126" y="809213"/>
            <a:chExt cx="2133357" cy="523762"/>
          </a:xfrm>
          <a:solidFill>
            <a:schemeClr val="bg1">
              <a:lumMod val="75000"/>
            </a:schemeClr>
          </a:solidFill>
        </p:grpSpPr>
        <p:sp>
          <p:nvSpPr>
            <p:cNvPr id="66" name="椭圆 65"/>
            <p:cNvSpPr/>
            <p:nvPr userDrawn="1"/>
          </p:nvSpPr>
          <p:spPr>
            <a:xfrm>
              <a:off x="1113126"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7" name="椭圆 66"/>
            <p:cNvSpPr/>
            <p:nvPr userDrawn="1"/>
          </p:nvSpPr>
          <p:spPr>
            <a:xfrm>
              <a:off x="1649658"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8" name="椭圆 67"/>
            <p:cNvSpPr/>
            <p:nvPr userDrawn="1"/>
          </p:nvSpPr>
          <p:spPr>
            <a:xfrm>
              <a:off x="2186190"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69" name="椭圆 68"/>
            <p:cNvSpPr/>
            <p:nvPr userDrawn="1"/>
          </p:nvSpPr>
          <p:spPr>
            <a:xfrm>
              <a:off x="2722721"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70" name="矩形 69"/>
          <p:cNvSpPr/>
          <p:nvPr userDrawn="1"/>
        </p:nvSpPr>
        <p:spPr>
          <a:xfrm>
            <a:off x="7677941" y="413133"/>
            <a:ext cx="843822" cy="276999"/>
          </a:xfrm>
          <a:prstGeom prst="rect">
            <a:avLst/>
          </a:prstGeom>
          <a:noFill/>
        </p:spPr>
        <p:txBody>
          <a:bodyPr wrap="none" lIns="68580" tIns="34290" rIns="68580" bIns="34290">
            <a:spAutoFit/>
          </a:bodyPr>
          <a:lstStyle/>
          <a:p>
            <a:pPr algn="ctr"/>
            <a:r>
              <a:rPr lang="zh-CN" altLang="en-US" sz="1350" b="1" cap="none" spc="0" dirty="0">
                <a:ln w="22225">
                  <a:noFill/>
                  <a:prstDash val="solid"/>
                </a:ln>
                <a:solidFill>
                  <a:schemeClr val="accent1">
                    <a:lumMod val="60000"/>
                    <a:lumOff val="40000"/>
                  </a:schemeClr>
                </a:solidFill>
                <a:effectLst/>
              </a:rPr>
              <a:t>我的学校</a:t>
            </a:r>
          </a:p>
        </p:txBody>
      </p:sp>
      <p:grpSp>
        <p:nvGrpSpPr>
          <p:cNvPr id="71" name="组合 70"/>
          <p:cNvGrpSpPr/>
          <p:nvPr userDrawn="1"/>
        </p:nvGrpSpPr>
        <p:grpSpPr>
          <a:xfrm>
            <a:off x="536589" y="634525"/>
            <a:ext cx="302279" cy="321898"/>
            <a:chOff x="1368170" y="664579"/>
            <a:chExt cx="550582" cy="439737"/>
          </a:xfrm>
          <a:solidFill>
            <a:schemeClr val="bg1"/>
          </a:solidFill>
        </p:grpSpPr>
        <p:sp>
          <p:nvSpPr>
            <p:cNvPr id="72" name="Freeform 1"/>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3" name="Freeform 2"/>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4" name="Freeform 3"/>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5" name="Freeform 4"/>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6" name="Freeform 5"/>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7" name="Freeform 6"/>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8" name="Freeform 7"/>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79" name="Freeform 8"/>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80" name="Freeform 9"/>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81" name="Freeform 10"/>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82" name="Freeform 11"/>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a:t>单击此处编辑母版标题样式</a:t>
            </a:r>
          </a:p>
        </p:txBody>
      </p:sp>
      <p:sp>
        <p:nvSpPr>
          <p:cNvPr id="3" name="内容占位符 2"/>
          <p:cNvSpPr>
            <a:spLocks noGrp="1"/>
          </p:cNvSpPr>
          <p:nvPr>
            <p:ph sz="half" idx="1"/>
          </p:nvPr>
        </p:nvSpPr>
        <p:spPr>
          <a:xfrm>
            <a:off x="628650" y="1825625"/>
            <a:ext cx="3886200" cy="4351338"/>
          </a:xfrm>
        </p:spPr>
        <p:txBody>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4" name="内容占位符 3"/>
          <p:cNvSpPr>
            <a:spLocks noGrp="1"/>
          </p:cNvSpPr>
          <p:nvPr>
            <p:ph sz="half" idx="2"/>
          </p:nvPr>
        </p:nvSpPr>
        <p:spPr>
          <a:xfrm>
            <a:off x="4629150" y="1825625"/>
            <a:ext cx="3886200" cy="4351338"/>
          </a:xfrm>
        </p:spPr>
        <p:txBody>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5" name="日期占位符 4"/>
          <p:cNvSpPr>
            <a:spLocks noGrp="1"/>
          </p:cNvSpPr>
          <p:nvPr>
            <p:ph type="dt" sz="half" idx="10"/>
          </p:nvPr>
        </p:nvSpPr>
        <p:spPr>
          <a:xfrm>
            <a:off x="119024" y="6498019"/>
            <a:ext cx="2057400" cy="365125"/>
          </a:xfrm>
          <a:prstGeom prst="rect">
            <a:avLst/>
          </a:prstGeom>
        </p:spPr>
        <p:txBody>
          <a:bodyPr/>
          <a:lstStyle/>
          <a:p>
            <a:r>
              <a:rPr kumimoji="1" lang="en-US" altLang="zh-CN"/>
              <a:t>5.3 </a:t>
            </a:r>
            <a:r>
              <a:rPr kumimoji="1" lang="zh-CN" altLang="en-US"/>
              <a:t>网络互联</a:t>
            </a:r>
            <a:endParaRPr kumimoji="1" lang="zh-CN" altLang="en-US" dirty="0"/>
          </a:p>
        </p:txBody>
      </p:sp>
      <p:sp>
        <p:nvSpPr>
          <p:cNvPr id="6" name="页脚占位符 5"/>
          <p:cNvSpPr>
            <a:spLocks noGrp="1"/>
          </p:cNvSpPr>
          <p:nvPr>
            <p:ph type="ftr" sz="quarter" idx="11"/>
          </p:nvPr>
        </p:nvSpPr>
        <p:spPr>
          <a:xfrm>
            <a:off x="3028950" y="6498020"/>
            <a:ext cx="3086100" cy="365125"/>
          </a:xfrm>
          <a:prstGeom prst="rect">
            <a:avLst/>
          </a:prstGeom>
        </p:spPr>
        <p:txBody>
          <a:bodyPr/>
          <a:lstStyle/>
          <a:p>
            <a:r>
              <a:rPr kumimoji="1" lang="zh-CN" altLang="en-US"/>
              <a:t>引自：</a:t>
            </a:r>
            <a:r>
              <a:rPr kumimoji="1" lang="en-US" altLang="zh-CN"/>
              <a:t>XXXXX</a:t>
            </a:r>
            <a:r>
              <a:rPr kumimoji="1" lang="zh-CN" altLang="en-US"/>
              <a:t>（如果需要）</a:t>
            </a:r>
          </a:p>
        </p:txBody>
      </p:sp>
      <p:sp>
        <p:nvSpPr>
          <p:cNvPr id="7" name="灯片编号占位符 6"/>
          <p:cNvSpPr>
            <a:spLocks noGrp="1"/>
          </p:cNvSpPr>
          <p:nvPr>
            <p:ph type="sldNum" sz="quarter" idx="12"/>
          </p:nvPr>
        </p:nvSpPr>
        <p:spPr>
          <a:xfrm>
            <a:off x="6457950" y="6498020"/>
            <a:ext cx="2489753" cy="365125"/>
          </a:xfrm>
          <a:prstGeom prst="rect">
            <a:avLst/>
          </a:prstGeom>
        </p:spPr>
        <p:txBody>
          <a:bodyPr/>
          <a:lstStyle/>
          <a:p>
            <a:fld id="{8D4D1E41-7A09-AB4A-A4E1-09765ADA2698}" type="slidenum">
              <a:rPr kumimoji="1" lang="zh-CN" altLang="en-US" smtClean="0"/>
              <a:t>‹#›</a:t>
            </a:fld>
            <a:endParaRPr kumimoji="1" lang="zh-CN" altLang="en-US"/>
          </a:p>
        </p:txBody>
      </p:sp>
      <p:sp>
        <p:nvSpPr>
          <p:cNvPr id="8" name="矩形 7"/>
          <p:cNvSpPr/>
          <p:nvPr userDrawn="1"/>
        </p:nvSpPr>
        <p:spPr>
          <a:xfrm>
            <a:off x="500874" y="553426"/>
            <a:ext cx="381985" cy="498948"/>
          </a:xfrm>
          <a:prstGeom prst="rect">
            <a:avLst/>
          </a:prstGeom>
          <a:solidFill>
            <a:srgbClr val="5C30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dirty="0">
              <a:solidFill>
                <a:srgbClr val="5C307E"/>
              </a:solidFill>
            </a:endParaRPr>
          </a:p>
        </p:txBody>
      </p:sp>
      <p:cxnSp>
        <p:nvCxnSpPr>
          <p:cNvPr id="9" name="直线连接符 8"/>
          <p:cNvCxnSpPr/>
          <p:nvPr userDrawn="1"/>
        </p:nvCxnSpPr>
        <p:spPr>
          <a:xfrm>
            <a:off x="986091" y="1244212"/>
            <a:ext cx="5471859" cy="0"/>
          </a:xfrm>
          <a:prstGeom prst="line">
            <a:avLst/>
          </a:prstGeom>
          <a:ln w="19050">
            <a:solidFill>
              <a:srgbClr val="5C307E"/>
            </a:solidFill>
          </a:ln>
        </p:spPr>
        <p:style>
          <a:lnRef idx="1">
            <a:schemeClr val="accent1"/>
          </a:lnRef>
          <a:fillRef idx="0">
            <a:schemeClr val="accent1"/>
          </a:fillRef>
          <a:effectRef idx="0">
            <a:schemeClr val="accent1"/>
          </a:effectRef>
          <a:fontRef idx="minor">
            <a:schemeClr val="tx1"/>
          </a:fontRef>
        </p:style>
      </p:cxnSp>
      <p:grpSp>
        <p:nvGrpSpPr>
          <p:cNvPr id="10" name="组合 9"/>
          <p:cNvGrpSpPr/>
          <p:nvPr userDrawn="1"/>
        </p:nvGrpSpPr>
        <p:grpSpPr>
          <a:xfrm>
            <a:off x="7387088" y="844222"/>
            <a:ext cx="1471114" cy="208345"/>
            <a:chOff x="1368170" y="1165302"/>
            <a:chExt cx="4139947" cy="439737"/>
          </a:xfrm>
        </p:grpSpPr>
        <p:grpSp>
          <p:nvGrpSpPr>
            <p:cNvPr id="11" name="组合 10"/>
            <p:cNvGrpSpPr/>
            <p:nvPr/>
          </p:nvGrpSpPr>
          <p:grpSpPr>
            <a:xfrm>
              <a:off x="1368170" y="1165302"/>
              <a:ext cx="550582" cy="439737"/>
              <a:chOff x="1368170" y="664579"/>
              <a:chExt cx="550582" cy="439737"/>
            </a:xfrm>
          </p:grpSpPr>
          <p:sp>
            <p:nvSpPr>
              <p:cNvPr id="22" name="Freeform 1"/>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solidFill>
                <a:srgbClr val="D72229"/>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3" name="Freeform 2"/>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solidFill>
                <a:srgbClr val="DD4A16"/>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4" name="Freeform 3"/>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solidFill>
                <a:srgbClr val="EA7410"/>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5" name="Freeform 4"/>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solidFill>
                <a:srgbClr val="F6C401"/>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6" name="Freeform 5"/>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solidFill>
                <a:srgbClr val="F1E827"/>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7" name="Freeform 6"/>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solidFill>
                <a:srgbClr val="157C51"/>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8" name="Freeform 7"/>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solidFill>
                <a:srgbClr val="049445"/>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9" name="Freeform 8"/>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solidFill>
                <a:srgbClr val="48A838"/>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30" name="Freeform 9"/>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solidFill>
                <a:srgbClr val="B2CE24"/>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31" name="Freeform 10"/>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solidFill>
                <a:srgbClr val="F1E827"/>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32" name="Freeform 11"/>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solidFill>
                <a:srgbClr val="F1E827"/>
              </a:solid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grpSp>
          <p:nvGrpSpPr>
            <p:cNvPr id="12" name="组合 11"/>
            <p:cNvGrpSpPr/>
            <p:nvPr/>
          </p:nvGrpSpPr>
          <p:grpSpPr>
            <a:xfrm>
              <a:off x="2028870" y="1197389"/>
              <a:ext cx="3479247" cy="365353"/>
              <a:chOff x="2028870" y="696666"/>
              <a:chExt cx="3479247" cy="365353"/>
            </a:xfrm>
            <a:solidFill>
              <a:schemeClr val="bg1">
                <a:lumMod val="50000"/>
              </a:schemeClr>
            </a:solidFill>
          </p:grpSpPr>
          <p:sp>
            <p:nvSpPr>
              <p:cNvPr id="13" name="Freeform 12"/>
              <p:cNvSpPr>
                <a:spLocks noChangeArrowheads="1"/>
              </p:cNvSpPr>
              <p:nvPr/>
            </p:nvSpPr>
            <p:spPr bwMode="auto">
              <a:xfrm>
                <a:off x="2028870" y="697395"/>
                <a:ext cx="358061" cy="363166"/>
              </a:xfrm>
              <a:custGeom>
                <a:avLst/>
                <a:gdLst>
                  <a:gd name="T0" fmla="*/ 121 w 2165"/>
                  <a:gd name="T1" fmla="*/ 758 h 2195"/>
                  <a:gd name="T2" fmla="*/ 0 w 2165"/>
                  <a:gd name="T3" fmla="*/ 758 h 2195"/>
                  <a:gd name="T4" fmla="*/ 0 w 2165"/>
                  <a:gd name="T5" fmla="*/ 582 h 2195"/>
                  <a:gd name="T6" fmla="*/ 463 w 2165"/>
                  <a:gd name="T7" fmla="*/ 582 h 2195"/>
                  <a:gd name="T8" fmla="*/ 463 w 2165"/>
                  <a:gd name="T9" fmla="*/ 1982 h 2195"/>
                  <a:gd name="T10" fmla="*/ 620 w 2165"/>
                  <a:gd name="T11" fmla="*/ 1982 h 2195"/>
                  <a:gd name="T12" fmla="*/ 620 w 2165"/>
                  <a:gd name="T13" fmla="*/ 2157 h 2195"/>
                  <a:gd name="T14" fmla="*/ 121 w 2165"/>
                  <a:gd name="T15" fmla="*/ 2157 h 2195"/>
                  <a:gd name="T16" fmla="*/ 121 w 2165"/>
                  <a:gd name="T17" fmla="*/ 758 h 2195"/>
                  <a:gd name="T18" fmla="*/ 467 w 2165"/>
                  <a:gd name="T19" fmla="*/ 51 h 2195"/>
                  <a:gd name="T20" fmla="*/ 467 w 2165"/>
                  <a:gd name="T21" fmla="*/ 462 h 2195"/>
                  <a:gd name="T22" fmla="*/ 121 w 2165"/>
                  <a:gd name="T23" fmla="*/ 462 h 2195"/>
                  <a:gd name="T24" fmla="*/ 121 w 2165"/>
                  <a:gd name="T25" fmla="*/ 51 h 2195"/>
                  <a:gd name="T26" fmla="*/ 467 w 2165"/>
                  <a:gd name="T27" fmla="*/ 51 h 2195"/>
                  <a:gd name="T28" fmla="*/ 629 w 2165"/>
                  <a:gd name="T29" fmla="*/ 906 h 2195"/>
                  <a:gd name="T30" fmla="*/ 629 w 2165"/>
                  <a:gd name="T31" fmla="*/ 730 h 2195"/>
                  <a:gd name="T32" fmla="*/ 1221 w 2165"/>
                  <a:gd name="T33" fmla="*/ 730 h 2195"/>
                  <a:gd name="T34" fmla="*/ 1221 w 2165"/>
                  <a:gd name="T35" fmla="*/ 0 h 2195"/>
                  <a:gd name="T36" fmla="*/ 1563 w 2165"/>
                  <a:gd name="T37" fmla="*/ 0 h 2195"/>
                  <a:gd name="T38" fmla="*/ 1563 w 2165"/>
                  <a:gd name="T39" fmla="*/ 730 h 2195"/>
                  <a:gd name="T40" fmla="*/ 2164 w 2165"/>
                  <a:gd name="T41" fmla="*/ 730 h 2195"/>
                  <a:gd name="T42" fmla="*/ 2164 w 2165"/>
                  <a:gd name="T43" fmla="*/ 906 h 2195"/>
                  <a:gd name="T44" fmla="*/ 1563 w 2165"/>
                  <a:gd name="T45" fmla="*/ 906 h 2195"/>
                  <a:gd name="T46" fmla="*/ 1563 w 2165"/>
                  <a:gd name="T47" fmla="*/ 2194 h 2195"/>
                  <a:gd name="T48" fmla="*/ 1221 w 2165"/>
                  <a:gd name="T49" fmla="*/ 2194 h 2195"/>
                  <a:gd name="T50" fmla="*/ 1221 w 2165"/>
                  <a:gd name="T51" fmla="*/ 906 h 2195"/>
                  <a:gd name="T52" fmla="*/ 629 w 2165"/>
                  <a:gd name="T53" fmla="*/ 906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65" h="2195">
                    <a:moveTo>
                      <a:pt x="121" y="758"/>
                    </a:moveTo>
                    <a:lnTo>
                      <a:pt x="0" y="758"/>
                    </a:lnTo>
                    <a:lnTo>
                      <a:pt x="0" y="582"/>
                    </a:lnTo>
                    <a:lnTo>
                      <a:pt x="463" y="582"/>
                    </a:lnTo>
                    <a:lnTo>
                      <a:pt x="463" y="1982"/>
                    </a:lnTo>
                    <a:lnTo>
                      <a:pt x="620" y="1982"/>
                    </a:lnTo>
                    <a:lnTo>
                      <a:pt x="620" y="2157"/>
                    </a:lnTo>
                    <a:lnTo>
                      <a:pt x="121" y="2157"/>
                    </a:lnTo>
                    <a:lnTo>
                      <a:pt x="121" y="758"/>
                    </a:lnTo>
                    <a:close/>
                    <a:moveTo>
                      <a:pt x="467" y="51"/>
                    </a:moveTo>
                    <a:lnTo>
                      <a:pt x="467" y="462"/>
                    </a:lnTo>
                    <a:lnTo>
                      <a:pt x="121" y="462"/>
                    </a:lnTo>
                    <a:lnTo>
                      <a:pt x="121" y="51"/>
                    </a:lnTo>
                    <a:lnTo>
                      <a:pt x="467" y="51"/>
                    </a:lnTo>
                    <a:close/>
                    <a:moveTo>
                      <a:pt x="629" y="906"/>
                    </a:moveTo>
                    <a:lnTo>
                      <a:pt x="629" y="730"/>
                    </a:lnTo>
                    <a:lnTo>
                      <a:pt x="1221" y="730"/>
                    </a:lnTo>
                    <a:lnTo>
                      <a:pt x="1221" y="0"/>
                    </a:lnTo>
                    <a:lnTo>
                      <a:pt x="1563" y="0"/>
                    </a:lnTo>
                    <a:lnTo>
                      <a:pt x="1563" y="730"/>
                    </a:lnTo>
                    <a:lnTo>
                      <a:pt x="2164" y="730"/>
                    </a:lnTo>
                    <a:lnTo>
                      <a:pt x="2164" y="906"/>
                    </a:lnTo>
                    <a:lnTo>
                      <a:pt x="1563" y="906"/>
                    </a:lnTo>
                    <a:lnTo>
                      <a:pt x="1563" y="2194"/>
                    </a:lnTo>
                    <a:lnTo>
                      <a:pt x="1221" y="2194"/>
                    </a:lnTo>
                    <a:lnTo>
                      <a:pt x="1221" y="906"/>
                    </a:lnTo>
                    <a:lnTo>
                      <a:pt x="629" y="906"/>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4" name="Freeform 13"/>
              <p:cNvSpPr>
                <a:spLocks noChangeArrowheads="1"/>
              </p:cNvSpPr>
              <p:nvPr/>
            </p:nvSpPr>
            <p:spPr bwMode="auto">
              <a:xfrm>
                <a:off x="2417559" y="696666"/>
                <a:ext cx="357332" cy="364625"/>
              </a:xfrm>
              <a:custGeom>
                <a:avLst/>
                <a:gdLst>
                  <a:gd name="T0" fmla="*/ 583 w 2161"/>
                  <a:gd name="T1" fmla="*/ 379 h 2205"/>
                  <a:gd name="T2" fmla="*/ 458 w 2161"/>
                  <a:gd name="T3" fmla="*/ 287 h 2205"/>
                  <a:gd name="T4" fmla="*/ 0 w 2161"/>
                  <a:gd name="T5" fmla="*/ 379 h 2205"/>
                  <a:gd name="T6" fmla="*/ 662 w 2161"/>
                  <a:gd name="T7" fmla="*/ 0 h 2205"/>
                  <a:gd name="T8" fmla="*/ 1087 w 2161"/>
                  <a:gd name="T9" fmla="*/ 111 h 2205"/>
                  <a:gd name="T10" fmla="*/ 916 w 2161"/>
                  <a:gd name="T11" fmla="*/ 287 h 2205"/>
                  <a:gd name="T12" fmla="*/ 675 w 2161"/>
                  <a:gd name="T13" fmla="*/ 1691 h 2205"/>
                  <a:gd name="T14" fmla="*/ 1545 w 2161"/>
                  <a:gd name="T15" fmla="*/ 1811 h 2205"/>
                  <a:gd name="T16" fmla="*/ 1887 w 2161"/>
                  <a:gd name="T17" fmla="*/ 1691 h 2205"/>
                  <a:gd name="T18" fmla="*/ 2150 w 2161"/>
                  <a:gd name="T19" fmla="*/ 1811 h 2205"/>
                  <a:gd name="T20" fmla="*/ 1887 w 2161"/>
                  <a:gd name="T21" fmla="*/ 1987 h 2205"/>
                  <a:gd name="T22" fmla="*/ 1545 w 2161"/>
                  <a:gd name="T23" fmla="*/ 2204 h 2205"/>
                  <a:gd name="T24" fmla="*/ 652 w 2161"/>
                  <a:gd name="T25" fmla="*/ 1987 h 2205"/>
                  <a:gd name="T26" fmla="*/ 144 w 2161"/>
                  <a:gd name="T27" fmla="*/ 2204 h 2205"/>
                  <a:gd name="T28" fmla="*/ 47 w 2161"/>
                  <a:gd name="T29" fmla="*/ 1987 h 2205"/>
                  <a:gd name="T30" fmla="*/ 333 w 2161"/>
                  <a:gd name="T31" fmla="*/ 1811 h 2205"/>
                  <a:gd name="T32" fmla="*/ 675 w 2161"/>
                  <a:gd name="T33" fmla="*/ 1691 h 2205"/>
                  <a:gd name="T34" fmla="*/ 2100 w 2161"/>
                  <a:gd name="T35" fmla="*/ 448 h 2205"/>
                  <a:gd name="T36" fmla="*/ 102 w 2161"/>
                  <a:gd name="T37" fmla="*/ 1622 h 2205"/>
                  <a:gd name="T38" fmla="*/ 444 w 2161"/>
                  <a:gd name="T39" fmla="*/ 781 h 2205"/>
                  <a:gd name="T40" fmla="*/ 1757 w 2161"/>
                  <a:gd name="T41" fmla="*/ 624 h 2205"/>
                  <a:gd name="T42" fmla="*/ 444 w 2161"/>
                  <a:gd name="T43" fmla="*/ 781 h 2205"/>
                  <a:gd name="T44" fmla="*/ 1757 w 2161"/>
                  <a:gd name="T45" fmla="*/ 1114 h 2205"/>
                  <a:gd name="T46" fmla="*/ 444 w 2161"/>
                  <a:gd name="T47" fmla="*/ 957 h 2205"/>
                  <a:gd name="T48" fmla="*/ 1757 w 2161"/>
                  <a:gd name="T49" fmla="*/ 1289 h 2205"/>
                  <a:gd name="T50" fmla="*/ 444 w 2161"/>
                  <a:gd name="T51" fmla="*/ 1446 h 2205"/>
                  <a:gd name="T52" fmla="*/ 1757 w 2161"/>
                  <a:gd name="T53" fmla="*/ 1289 h 2205"/>
                  <a:gd name="T54" fmla="*/ 1041 w 2161"/>
                  <a:gd name="T55" fmla="*/ 379 h 2205"/>
                  <a:gd name="T56" fmla="*/ 1688 w 2161"/>
                  <a:gd name="T57" fmla="*/ 0 h 2205"/>
                  <a:gd name="T58" fmla="*/ 2160 w 2161"/>
                  <a:gd name="T59" fmla="*/ 111 h 2205"/>
                  <a:gd name="T60" fmla="*/ 1998 w 2161"/>
                  <a:gd name="T61" fmla="*/ 287 h 2205"/>
                  <a:gd name="T62" fmla="*/ 1646 w 2161"/>
                  <a:gd name="T63" fmla="*/ 379 h 2205"/>
                  <a:gd name="T64" fmla="*/ 1508 w 2161"/>
                  <a:gd name="T65" fmla="*/ 287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61" h="2205">
                    <a:moveTo>
                      <a:pt x="990" y="379"/>
                    </a:moveTo>
                    <a:lnTo>
                      <a:pt x="583" y="379"/>
                    </a:lnTo>
                    <a:lnTo>
                      <a:pt x="509" y="287"/>
                    </a:lnTo>
                    <a:lnTo>
                      <a:pt x="458" y="287"/>
                    </a:lnTo>
                    <a:lnTo>
                      <a:pt x="389" y="379"/>
                    </a:lnTo>
                    <a:lnTo>
                      <a:pt x="0" y="379"/>
                    </a:lnTo>
                    <a:lnTo>
                      <a:pt x="273" y="0"/>
                    </a:lnTo>
                    <a:lnTo>
                      <a:pt x="662" y="0"/>
                    </a:lnTo>
                    <a:lnTo>
                      <a:pt x="592" y="111"/>
                    </a:lnTo>
                    <a:lnTo>
                      <a:pt x="1087" y="111"/>
                    </a:lnTo>
                    <a:lnTo>
                      <a:pt x="1087" y="287"/>
                    </a:lnTo>
                    <a:lnTo>
                      <a:pt x="916" y="287"/>
                    </a:lnTo>
                    <a:lnTo>
                      <a:pt x="990" y="379"/>
                    </a:lnTo>
                    <a:close/>
                    <a:moveTo>
                      <a:pt x="675" y="1691"/>
                    </a:moveTo>
                    <a:lnTo>
                      <a:pt x="675" y="1811"/>
                    </a:lnTo>
                    <a:lnTo>
                      <a:pt x="1545" y="1811"/>
                    </a:lnTo>
                    <a:lnTo>
                      <a:pt x="1545" y="1691"/>
                    </a:lnTo>
                    <a:lnTo>
                      <a:pt x="1887" y="1691"/>
                    </a:lnTo>
                    <a:lnTo>
                      <a:pt x="1887" y="1811"/>
                    </a:lnTo>
                    <a:lnTo>
                      <a:pt x="2150" y="1811"/>
                    </a:lnTo>
                    <a:lnTo>
                      <a:pt x="2150" y="1987"/>
                    </a:lnTo>
                    <a:lnTo>
                      <a:pt x="1887" y="1987"/>
                    </a:lnTo>
                    <a:lnTo>
                      <a:pt x="1887" y="2204"/>
                    </a:lnTo>
                    <a:lnTo>
                      <a:pt x="1545" y="2204"/>
                    </a:lnTo>
                    <a:lnTo>
                      <a:pt x="1545" y="1987"/>
                    </a:lnTo>
                    <a:lnTo>
                      <a:pt x="652" y="1987"/>
                    </a:lnTo>
                    <a:lnTo>
                      <a:pt x="527" y="2204"/>
                    </a:lnTo>
                    <a:lnTo>
                      <a:pt x="144" y="2204"/>
                    </a:lnTo>
                    <a:lnTo>
                      <a:pt x="282" y="1987"/>
                    </a:lnTo>
                    <a:lnTo>
                      <a:pt x="47" y="1987"/>
                    </a:lnTo>
                    <a:lnTo>
                      <a:pt x="47" y="1811"/>
                    </a:lnTo>
                    <a:lnTo>
                      <a:pt x="333" y="1811"/>
                    </a:lnTo>
                    <a:lnTo>
                      <a:pt x="333" y="1691"/>
                    </a:lnTo>
                    <a:lnTo>
                      <a:pt x="675" y="1691"/>
                    </a:lnTo>
                    <a:close/>
                    <a:moveTo>
                      <a:pt x="102" y="448"/>
                    </a:moveTo>
                    <a:lnTo>
                      <a:pt x="2100" y="448"/>
                    </a:lnTo>
                    <a:lnTo>
                      <a:pt x="2100" y="1622"/>
                    </a:lnTo>
                    <a:lnTo>
                      <a:pt x="102" y="1622"/>
                    </a:lnTo>
                    <a:lnTo>
                      <a:pt x="102" y="448"/>
                    </a:lnTo>
                    <a:close/>
                    <a:moveTo>
                      <a:pt x="444" y="781"/>
                    </a:moveTo>
                    <a:lnTo>
                      <a:pt x="1757" y="781"/>
                    </a:lnTo>
                    <a:lnTo>
                      <a:pt x="1757" y="624"/>
                    </a:lnTo>
                    <a:lnTo>
                      <a:pt x="444" y="624"/>
                    </a:lnTo>
                    <a:lnTo>
                      <a:pt x="444" y="781"/>
                    </a:lnTo>
                    <a:close/>
                    <a:moveTo>
                      <a:pt x="444" y="1114"/>
                    </a:moveTo>
                    <a:lnTo>
                      <a:pt x="1757" y="1114"/>
                    </a:lnTo>
                    <a:lnTo>
                      <a:pt x="1757" y="957"/>
                    </a:lnTo>
                    <a:lnTo>
                      <a:pt x="444" y="957"/>
                    </a:lnTo>
                    <a:lnTo>
                      <a:pt x="444" y="1114"/>
                    </a:lnTo>
                    <a:close/>
                    <a:moveTo>
                      <a:pt x="1757" y="1289"/>
                    </a:moveTo>
                    <a:lnTo>
                      <a:pt x="444" y="1289"/>
                    </a:lnTo>
                    <a:lnTo>
                      <a:pt x="444" y="1446"/>
                    </a:lnTo>
                    <a:lnTo>
                      <a:pt x="1757" y="1446"/>
                    </a:lnTo>
                    <a:lnTo>
                      <a:pt x="1757" y="1289"/>
                    </a:lnTo>
                    <a:close/>
                    <a:moveTo>
                      <a:pt x="1434" y="379"/>
                    </a:moveTo>
                    <a:lnTo>
                      <a:pt x="1041" y="379"/>
                    </a:lnTo>
                    <a:lnTo>
                      <a:pt x="1313" y="0"/>
                    </a:lnTo>
                    <a:lnTo>
                      <a:pt x="1688" y="0"/>
                    </a:lnTo>
                    <a:lnTo>
                      <a:pt x="1609" y="111"/>
                    </a:lnTo>
                    <a:lnTo>
                      <a:pt x="2160" y="111"/>
                    </a:lnTo>
                    <a:lnTo>
                      <a:pt x="2160" y="287"/>
                    </a:lnTo>
                    <a:lnTo>
                      <a:pt x="1998" y="287"/>
                    </a:lnTo>
                    <a:lnTo>
                      <a:pt x="2072" y="379"/>
                    </a:lnTo>
                    <a:lnTo>
                      <a:pt x="1646" y="379"/>
                    </a:lnTo>
                    <a:lnTo>
                      <a:pt x="1572" y="287"/>
                    </a:lnTo>
                    <a:lnTo>
                      <a:pt x="1508" y="287"/>
                    </a:lnTo>
                    <a:lnTo>
                      <a:pt x="1434" y="379"/>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5" name="Freeform 14"/>
              <p:cNvSpPr>
                <a:spLocks noChangeArrowheads="1"/>
              </p:cNvSpPr>
              <p:nvPr/>
            </p:nvSpPr>
            <p:spPr bwMode="auto">
              <a:xfrm>
                <a:off x="2810625" y="696666"/>
                <a:ext cx="363895" cy="364625"/>
              </a:xfrm>
              <a:custGeom>
                <a:avLst/>
                <a:gdLst>
                  <a:gd name="T0" fmla="*/ 0 w 2202"/>
                  <a:gd name="T1" fmla="*/ 2019 h 2205"/>
                  <a:gd name="T2" fmla="*/ 74 w 2202"/>
                  <a:gd name="T3" fmla="*/ 661 h 2205"/>
                  <a:gd name="T4" fmla="*/ 310 w 2202"/>
                  <a:gd name="T5" fmla="*/ 661 h 2205"/>
                  <a:gd name="T6" fmla="*/ 231 w 2202"/>
                  <a:gd name="T7" fmla="*/ 2019 h 2205"/>
                  <a:gd name="T8" fmla="*/ 0 w 2202"/>
                  <a:gd name="T9" fmla="*/ 2019 h 2205"/>
                  <a:gd name="T10" fmla="*/ 939 w 2202"/>
                  <a:gd name="T11" fmla="*/ 439 h 2205"/>
                  <a:gd name="T12" fmla="*/ 684 w 2202"/>
                  <a:gd name="T13" fmla="*/ 439 h 2205"/>
                  <a:gd name="T14" fmla="*/ 684 w 2202"/>
                  <a:gd name="T15" fmla="*/ 2204 h 2205"/>
                  <a:gd name="T16" fmla="*/ 361 w 2202"/>
                  <a:gd name="T17" fmla="*/ 2204 h 2205"/>
                  <a:gd name="T18" fmla="*/ 361 w 2202"/>
                  <a:gd name="T19" fmla="*/ 439 h 2205"/>
                  <a:gd name="T20" fmla="*/ 28 w 2202"/>
                  <a:gd name="T21" fmla="*/ 439 h 2205"/>
                  <a:gd name="T22" fmla="*/ 28 w 2202"/>
                  <a:gd name="T23" fmla="*/ 264 h 2205"/>
                  <a:gd name="T24" fmla="*/ 361 w 2202"/>
                  <a:gd name="T25" fmla="*/ 264 h 2205"/>
                  <a:gd name="T26" fmla="*/ 361 w 2202"/>
                  <a:gd name="T27" fmla="*/ 0 h 2205"/>
                  <a:gd name="T28" fmla="*/ 684 w 2202"/>
                  <a:gd name="T29" fmla="*/ 0 h 2205"/>
                  <a:gd name="T30" fmla="*/ 684 w 2202"/>
                  <a:gd name="T31" fmla="*/ 264 h 2205"/>
                  <a:gd name="T32" fmla="*/ 939 w 2202"/>
                  <a:gd name="T33" fmla="*/ 264 h 2205"/>
                  <a:gd name="T34" fmla="*/ 939 w 2202"/>
                  <a:gd name="T35" fmla="*/ 439 h 2205"/>
                  <a:gd name="T36" fmla="*/ 939 w 2202"/>
                  <a:gd name="T37" fmla="*/ 661 h 2205"/>
                  <a:gd name="T38" fmla="*/ 939 w 2202"/>
                  <a:gd name="T39" fmla="*/ 1686 h 2205"/>
                  <a:gd name="T40" fmla="*/ 735 w 2202"/>
                  <a:gd name="T41" fmla="*/ 1686 h 2205"/>
                  <a:gd name="T42" fmla="*/ 735 w 2202"/>
                  <a:gd name="T43" fmla="*/ 661 h 2205"/>
                  <a:gd name="T44" fmla="*/ 939 w 2202"/>
                  <a:gd name="T45" fmla="*/ 661 h 2205"/>
                  <a:gd name="T46" fmla="*/ 1022 w 2202"/>
                  <a:gd name="T47" fmla="*/ 1594 h 2205"/>
                  <a:gd name="T48" fmla="*/ 1022 w 2202"/>
                  <a:gd name="T49" fmla="*/ 42 h 2205"/>
                  <a:gd name="T50" fmla="*/ 1988 w 2202"/>
                  <a:gd name="T51" fmla="*/ 42 h 2205"/>
                  <a:gd name="T52" fmla="*/ 1988 w 2202"/>
                  <a:gd name="T53" fmla="*/ 2033 h 2205"/>
                  <a:gd name="T54" fmla="*/ 2201 w 2202"/>
                  <a:gd name="T55" fmla="*/ 2033 h 2205"/>
                  <a:gd name="T56" fmla="*/ 2201 w 2202"/>
                  <a:gd name="T57" fmla="*/ 2204 h 2205"/>
                  <a:gd name="T58" fmla="*/ 1665 w 2202"/>
                  <a:gd name="T59" fmla="*/ 2204 h 2205"/>
                  <a:gd name="T60" fmla="*/ 1665 w 2202"/>
                  <a:gd name="T61" fmla="*/ 217 h 2205"/>
                  <a:gd name="T62" fmla="*/ 1355 w 2202"/>
                  <a:gd name="T63" fmla="*/ 217 h 2205"/>
                  <a:gd name="T64" fmla="*/ 1355 w 2202"/>
                  <a:gd name="T65" fmla="*/ 1668 h 2205"/>
                  <a:gd name="T66" fmla="*/ 1198 w 2202"/>
                  <a:gd name="T67" fmla="*/ 2204 h 2205"/>
                  <a:gd name="T68" fmla="*/ 851 w 2202"/>
                  <a:gd name="T69" fmla="*/ 2204 h 2205"/>
                  <a:gd name="T70" fmla="*/ 1022 w 2202"/>
                  <a:gd name="T71" fmla="*/ 1594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02" h="2205">
                    <a:moveTo>
                      <a:pt x="0" y="2019"/>
                    </a:moveTo>
                    <a:lnTo>
                      <a:pt x="74" y="661"/>
                    </a:lnTo>
                    <a:lnTo>
                      <a:pt x="310" y="661"/>
                    </a:lnTo>
                    <a:lnTo>
                      <a:pt x="231" y="2019"/>
                    </a:lnTo>
                    <a:lnTo>
                      <a:pt x="0" y="2019"/>
                    </a:lnTo>
                    <a:close/>
                    <a:moveTo>
                      <a:pt x="939" y="439"/>
                    </a:moveTo>
                    <a:lnTo>
                      <a:pt x="684" y="439"/>
                    </a:lnTo>
                    <a:lnTo>
                      <a:pt x="684" y="2204"/>
                    </a:lnTo>
                    <a:lnTo>
                      <a:pt x="361" y="2204"/>
                    </a:lnTo>
                    <a:lnTo>
                      <a:pt x="361" y="439"/>
                    </a:lnTo>
                    <a:lnTo>
                      <a:pt x="28" y="439"/>
                    </a:lnTo>
                    <a:lnTo>
                      <a:pt x="28" y="264"/>
                    </a:lnTo>
                    <a:lnTo>
                      <a:pt x="361" y="264"/>
                    </a:lnTo>
                    <a:lnTo>
                      <a:pt x="361" y="0"/>
                    </a:lnTo>
                    <a:lnTo>
                      <a:pt x="684" y="0"/>
                    </a:lnTo>
                    <a:lnTo>
                      <a:pt x="684" y="264"/>
                    </a:lnTo>
                    <a:lnTo>
                      <a:pt x="939" y="264"/>
                    </a:lnTo>
                    <a:lnTo>
                      <a:pt x="939" y="439"/>
                    </a:lnTo>
                    <a:close/>
                    <a:moveTo>
                      <a:pt x="939" y="661"/>
                    </a:moveTo>
                    <a:lnTo>
                      <a:pt x="939" y="1686"/>
                    </a:lnTo>
                    <a:lnTo>
                      <a:pt x="735" y="1686"/>
                    </a:lnTo>
                    <a:lnTo>
                      <a:pt x="735" y="661"/>
                    </a:lnTo>
                    <a:lnTo>
                      <a:pt x="939" y="661"/>
                    </a:lnTo>
                    <a:close/>
                    <a:moveTo>
                      <a:pt x="1022" y="1594"/>
                    </a:moveTo>
                    <a:lnTo>
                      <a:pt x="1022" y="42"/>
                    </a:lnTo>
                    <a:lnTo>
                      <a:pt x="1988" y="42"/>
                    </a:lnTo>
                    <a:lnTo>
                      <a:pt x="1988" y="2033"/>
                    </a:lnTo>
                    <a:lnTo>
                      <a:pt x="2201" y="2033"/>
                    </a:lnTo>
                    <a:lnTo>
                      <a:pt x="2201" y="2204"/>
                    </a:lnTo>
                    <a:lnTo>
                      <a:pt x="1665" y="2204"/>
                    </a:lnTo>
                    <a:lnTo>
                      <a:pt x="1665" y="217"/>
                    </a:lnTo>
                    <a:lnTo>
                      <a:pt x="1355" y="217"/>
                    </a:lnTo>
                    <a:lnTo>
                      <a:pt x="1355" y="1668"/>
                    </a:lnTo>
                    <a:lnTo>
                      <a:pt x="1198" y="2204"/>
                    </a:lnTo>
                    <a:lnTo>
                      <a:pt x="851" y="2204"/>
                    </a:lnTo>
                    <a:lnTo>
                      <a:pt x="1022" y="1594"/>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6" name="Freeform 15"/>
              <p:cNvSpPr>
                <a:spLocks noChangeArrowheads="1"/>
              </p:cNvSpPr>
              <p:nvPr/>
            </p:nvSpPr>
            <p:spPr bwMode="auto">
              <a:xfrm>
                <a:off x="3212441" y="703958"/>
                <a:ext cx="339830" cy="358061"/>
              </a:xfrm>
              <a:custGeom>
                <a:avLst/>
                <a:gdLst>
                  <a:gd name="T0" fmla="*/ 1747 w 2053"/>
                  <a:gd name="T1" fmla="*/ 1982 h 2163"/>
                  <a:gd name="T2" fmla="*/ 1747 w 2053"/>
                  <a:gd name="T3" fmla="*/ 175 h 2163"/>
                  <a:gd name="T4" fmla="*/ 305 w 2053"/>
                  <a:gd name="T5" fmla="*/ 175 h 2163"/>
                  <a:gd name="T6" fmla="*/ 305 w 2053"/>
                  <a:gd name="T7" fmla="*/ 2162 h 2163"/>
                  <a:gd name="T8" fmla="*/ 0 w 2053"/>
                  <a:gd name="T9" fmla="*/ 2162 h 2163"/>
                  <a:gd name="T10" fmla="*/ 0 w 2053"/>
                  <a:gd name="T11" fmla="*/ 0 h 2163"/>
                  <a:gd name="T12" fmla="*/ 2052 w 2053"/>
                  <a:gd name="T13" fmla="*/ 0 h 2163"/>
                  <a:gd name="T14" fmla="*/ 2052 w 2053"/>
                  <a:gd name="T15" fmla="*/ 2162 h 2163"/>
                  <a:gd name="T16" fmla="*/ 1590 w 2053"/>
                  <a:gd name="T17" fmla="*/ 2162 h 2163"/>
                  <a:gd name="T18" fmla="*/ 1590 w 2053"/>
                  <a:gd name="T19" fmla="*/ 1982 h 2163"/>
                  <a:gd name="T20" fmla="*/ 1747 w 2053"/>
                  <a:gd name="T21" fmla="*/ 1982 h 2163"/>
                  <a:gd name="T22" fmla="*/ 791 w 2053"/>
                  <a:gd name="T23" fmla="*/ 1127 h 2163"/>
                  <a:gd name="T24" fmla="*/ 1017 w 2053"/>
                  <a:gd name="T25" fmla="*/ 1843 h 2163"/>
                  <a:gd name="T26" fmla="*/ 786 w 2053"/>
                  <a:gd name="T27" fmla="*/ 1843 h 2163"/>
                  <a:gd name="T28" fmla="*/ 680 w 2053"/>
                  <a:gd name="T29" fmla="*/ 1501 h 2163"/>
                  <a:gd name="T30" fmla="*/ 573 w 2053"/>
                  <a:gd name="T31" fmla="*/ 1843 h 2163"/>
                  <a:gd name="T32" fmla="*/ 347 w 2053"/>
                  <a:gd name="T33" fmla="*/ 1843 h 2163"/>
                  <a:gd name="T34" fmla="*/ 564 w 2053"/>
                  <a:gd name="T35" fmla="*/ 1136 h 2163"/>
                  <a:gd name="T36" fmla="*/ 338 w 2053"/>
                  <a:gd name="T37" fmla="*/ 430 h 2163"/>
                  <a:gd name="T38" fmla="*/ 569 w 2053"/>
                  <a:gd name="T39" fmla="*/ 430 h 2163"/>
                  <a:gd name="T40" fmla="*/ 675 w 2053"/>
                  <a:gd name="T41" fmla="*/ 767 h 2163"/>
                  <a:gd name="T42" fmla="*/ 777 w 2053"/>
                  <a:gd name="T43" fmla="*/ 430 h 2163"/>
                  <a:gd name="T44" fmla="*/ 1003 w 2053"/>
                  <a:gd name="T45" fmla="*/ 430 h 2163"/>
                  <a:gd name="T46" fmla="*/ 791 w 2053"/>
                  <a:gd name="T47" fmla="*/ 1127 h 2163"/>
                  <a:gd name="T48" fmla="*/ 1503 w 2053"/>
                  <a:gd name="T49" fmla="*/ 1127 h 2163"/>
                  <a:gd name="T50" fmla="*/ 1728 w 2053"/>
                  <a:gd name="T51" fmla="*/ 1843 h 2163"/>
                  <a:gd name="T52" fmla="*/ 1498 w 2053"/>
                  <a:gd name="T53" fmla="*/ 1843 h 2163"/>
                  <a:gd name="T54" fmla="*/ 1392 w 2053"/>
                  <a:gd name="T55" fmla="*/ 1501 h 2163"/>
                  <a:gd name="T56" fmla="*/ 1286 w 2053"/>
                  <a:gd name="T57" fmla="*/ 1843 h 2163"/>
                  <a:gd name="T58" fmla="*/ 1059 w 2053"/>
                  <a:gd name="T59" fmla="*/ 1843 h 2163"/>
                  <a:gd name="T60" fmla="*/ 1276 w 2053"/>
                  <a:gd name="T61" fmla="*/ 1136 h 2163"/>
                  <a:gd name="T62" fmla="*/ 1050 w 2053"/>
                  <a:gd name="T63" fmla="*/ 430 h 2163"/>
                  <a:gd name="T64" fmla="*/ 1281 w 2053"/>
                  <a:gd name="T65" fmla="*/ 430 h 2163"/>
                  <a:gd name="T66" fmla="*/ 1387 w 2053"/>
                  <a:gd name="T67" fmla="*/ 767 h 2163"/>
                  <a:gd name="T68" fmla="*/ 1489 w 2053"/>
                  <a:gd name="T69" fmla="*/ 430 h 2163"/>
                  <a:gd name="T70" fmla="*/ 1715 w 2053"/>
                  <a:gd name="T71" fmla="*/ 430 h 2163"/>
                  <a:gd name="T72" fmla="*/ 1503 w 2053"/>
                  <a:gd name="T73" fmla="*/ 11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53" h="2163">
                    <a:moveTo>
                      <a:pt x="1747" y="1982"/>
                    </a:moveTo>
                    <a:lnTo>
                      <a:pt x="1747" y="175"/>
                    </a:lnTo>
                    <a:lnTo>
                      <a:pt x="305" y="175"/>
                    </a:lnTo>
                    <a:lnTo>
                      <a:pt x="305" y="2162"/>
                    </a:lnTo>
                    <a:lnTo>
                      <a:pt x="0" y="2162"/>
                    </a:lnTo>
                    <a:lnTo>
                      <a:pt x="0" y="0"/>
                    </a:lnTo>
                    <a:lnTo>
                      <a:pt x="2052" y="0"/>
                    </a:lnTo>
                    <a:lnTo>
                      <a:pt x="2052" y="2162"/>
                    </a:lnTo>
                    <a:lnTo>
                      <a:pt x="1590" y="2162"/>
                    </a:lnTo>
                    <a:lnTo>
                      <a:pt x="1590" y="1982"/>
                    </a:lnTo>
                    <a:lnTo>
                      <a:pt x="1747" y="1982"/>
                    </a:lnTo>
                    <a:close/>
                    <a:moveTo>
                      <a:pt x="791" y="1127"/>
                    </a:moveTo>
                    <a:lnTo>
                      <a:pt x="1017" y="1843"/>
                    </a:lnTo>
                    <a:lnTo>
                      <a:pt x="786" y="1843"/>
                    </a:lnTo>
                    <a:lnTo>
                      <a:pt x="680" y="1501"/>
                    </a:lnTo>
                    <a:lnTo>
                      <a:pt x="573" y="1843"/>
                    </a:lnTo>
                    <a:lnTo>
                      <a:pt x="347" y="1843"/>
                    </a:lnTo>
                    <a:lnTo>
                      <a:pt x="564" y="1136"/>
                    </a:lnTo>
                    <a:lnTo>
                      <a:pt x="338" y="430"/>
                    </a:lnTo>
                    <a:lnTo>
                      <a:pt x="569" y="430"/>
                    </a:lnTo>
                    <a:lnTo>
                      <a:pt x="675" y="767"/>
                    </a:lnTo>
                    <a:lnTo>
                      <a:pt x="777" y="430"/>
                    </a:lnTo>
                    <a:lnTo>
                      <a:pt x="1003" y="430"/>
                    </a:lnTo>
                    <a:lnTo>
                      <a:pt x="791" y="1127"/>
                    </a:lnTo>
                    <a:close/>
                    <a:moveTo>
                      <a:pt x="1503" y="1127"/>
                    </a:moveTo>
                    <a:lnTo>
                      <a:pt x="1728" y="1843"/>
                    </a:lnTo>
                    <a:lnTo>
                      <a:pt x="1498" y="1843"/>
                    </a:lnTo>
                    <a:lnTo>
                      <a:pt x="1392" y="1501"/>
                    </a:lnTo>
                    <a:lnTo>
                      <a:pt x="1286" y="1843"/>
                    </a:lnTo>
                    <a:lnTo>
                      <a:pt x="1059" y="1843"/>
                    </a:lnTo>
                    <a:lnTo>
                      <a:pt x="1276" y="1136"/>
                    </a:lnTo>
                    <a:lnTo>
                      <a:pt x="1050" y="430"/>
                    </a:lnTo>
                    <a:lnTo>
                      <a:pt x="1281" y="430"/>
                    </a:lnTo>
                    <a:lnTo>
                      <a:pt x="1387" y="767"/>
                    </a:lnTo>
                    <a:lnTo>
                      <a:pt x="1489" y="430"/>
                    </a:lnTo>
                    <a:lnTo>
                      <a:pt x="1715" y="430"/>
                    </a:lnTo>
                    <a:lnTo>
                      <a:pt x="1503" y="1127"/>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7" name="Freeform 16"/>
              <p:cNvSpPr>
                <a:spLocks noChangeArrowheads="1"/>
              </p:cNvSpPr>
              <p:nvPr/>
            </p:nvSpPr>
            <p:spPr bwMode="auto">
              <a:xfrm>
                <a:off x="3581441" y="696666"/>
                <a:ext cx="375564" cy="362437"/>
              </a:xfrm>
              <a:custGeom>
                <a:avLst/>
                <a:gdLst>
                  <a:gd name="T0" fmla="*/ 315 w 2272"/>
                  <a:gd name="T1" fmla="*/ 957 h 2191"/>
                  <a:gd name="T2" fmla="*/ 0 w 2272"/>
                  <a:gd name="T3" fmla="*/ 957 h 2191"/>
                  <a:gd name="T4" fmla="*/ 361 w 2272"/>
                  <a:gd name="T5" fmla="*/ 5 h 2191"/>
                  <a:gd name="T6" fmla="*/ 675 w 2272"/>
                  <a:gd name="T7" fmla="*/ 5 h 2191"/>
                  <a:gd name="T8" fmla="*/ 380 w 2272"/>
                  <a:gd name="T9" fmla="*/ 767 h 2191"/>
                  <a:gd name="T10" fmla="*/ 453 w 2272"/>
                  <a:gd name="T11" fmla="*/ 767 h 2191"/>
                  <a:gd name="T12" fmla="*/ 509 w 2272"/>
                  <a:gd name="T13" fmla="*/ 647 h 2191"/>
                  <a:gd name="T14" fmla="*/ 823 w 2272"/>
                  <a:gd name="T15" fmla="*/ 647 h 2191"/>
                  <a:gd name="T16" fmla="*/ 463 w 2272"/>
                  <a:gd name="T17" fmla="*/ 1492 h 2191"/>
                  <a:gd name="T18" fmla="*/ 754 w 2272"/>
                  <a:gd name="T19" fmla="*/ 1492 h 2191"/>
                  <a:gd name="T20" fmla="*/ 754 w 2272"/>
                  <a:gd name="T21" fmla="*/ 1677 h 2191"/>
                  <a:gd name="T22" fmla="*/ 366 w 2272"/>
                  <a:gd name="T23" fmla="*/ 1677 h 2191"/>
                  <a:gd name="T24" fmla="*/ 65 w 2272"/>
                  <a:gd name="T25" fmla="*/ 1677 h 2191"/>
                  <a:gd name="T26" fmla="*/ 375 w 2272"/>
                  <a:gd name="T27" fmla="*/ 957 h 2191"/>
                  <a:gd name="T28" fmla="*/ 315 w 2272"/>
                  <a:gd name="T29" fmla="*/ 957 h 2191"/>
                  <a:gd name="T30" fmla="*/ 763 w 2272"/>
                  <a:gd name="T31" fmla="*/ 1954 h 2191"/>
                  <a:gd name="T32" fmla="*/ 763 w 2272"/>
                  <a:gd name="T33" fmla="*/ 2130 h 2191"/>
                  <a:gd name="T34" fmla="*/ 84 w 2272"/>
                  <a:gd name="T35" fmla="*/ 2130 h 2191"/>
                  <a:gd name="T36" fmla="*/ 84 w 2272"/>
                  <a:gd name="T37" fmla="*/ 1954 h 2191"/>
                  <a:gd name="T38" fmla="*/ 763 w 2272"/>
                  <a:gd name="T39" fmla="*/ 1954 h 2191"/>
                  <a:gd name="T40" fmla="*/ 1831 w 2272"/>
                  <a:gd name="T41" fmla="*/ 1205 h 2191"/>
                  <a:gd name="T42" fmla="*/ 1614 w 2272"/>
                  <a:gd name="T43" fmla="*/ 994 h 2191"/>
                  <a:gd name="T44" fmla="*/ 1355 w 2272"/>
                  <a:gd name="T45" fmla="*/ 1205 h 2191"/>
                  <a:gd name="T46" fmla="*/ 884 w 2272"/>
                  <a:gd name="T47" fmla="*/ 1205 h 2191"/>
                  <a:gd name="T48" fmla="*/ 1392 w 2272"/>
                  <a:gd name="T49" fmla="*/ 781 h 2191"/>
                  <a:gd name="T50" fmla="*/ 1212 w 2272"/>
                  <a:gd name="T51" fmla="*/ 587 h 2191"/>
                  <a:gd name="T52" fmla="*/ 1179 w 2272"/>
                  <a:gd name="T53" fmla="*/ 684 h 2191"/>
                  <a:gd name="T54" fmla="*/ 842 w 2272"/>
                  <a:gd name="T55" fmla="*/ 684 h 2191"/>
                  <a:gd name="T56" fmla="*/ 1082 w 2272"/>
                  <a:gd name="T57" fmla="*/ 0 h 2191"/>
                  <a:gd name="T58" fmla="*/ 1420 w 2272"/>
                  <a:gd name="T59" fmla="*/ 0 h 2191"/>
                  <a:gd name="T60" fmla="*/ 1397 w 2272"/>
                  <a:gd name="T61" fmla="*/ 79 h 2191"/>
                  <a:gd name="T62" fmla="*/ 2174 w 2272"/>
                  <a:gd name="T63" fmla="*/ 79 h 2191"/>
                  <a:gd name="T64" fmla="*/ 2174 w 2272"/>
                  <a:gd name="T65" fmla="*/ 527 h 2191"/>
                  <a:gd name="T66" fmla="*/ 1864 w 2272"/>
                  <a:gd name="T67" fmla="*/ 795 h 2191"/>
                  <a:gd name="T68" fmla="*/ 2271 w 2272"/>
                  <a:gd name="T69" fmla="*/ 1205 h 2191"/>
                  <a:gd name="T70" fmla="*/ 1831 w 2272"/>
                  <a:gd name="T71" fmla="*/ 1205 h 2191"/>
                  <a:gd name="T72" fmla="*/ 934 w 2272"/>
                  <a:gd name="T73" fmla="*/ 2190 h 2191"/>
                  <a:gd name="T74" fmla="*/ 934 w 2272"/>
                  <a:gd name="T75" fmla="*/ 1303 h 2191"/>
                  <a:gd name="T76" fmla="*/ 2206 w 2272"/>
                  <a:gd name="T77" fmla="*/ 1303 h 2191"/>
                  <a:gd name="T78" fmla="*/ 2206 w 2272"/>
                  <a:gd name="T79" fmla="*/ 2190 h 2191"/>
                  <a:gd name="T80" fmla="*/ 934 w 2272"/>
                  <a:gd name="T81" fmla="*/ 2190 h 2191"/>
                  <a:gd name="T82" fmla="*/ 1522 w 2272"/>
                  <a:gd name="T83" fmla="*/ 467 h 2191"/>
                  <a:gd name="T84" fmla="*/ 1646 w 2272"/>
                  <a:gd name="T85" fmla="*/ 592 h 2191"/>
                  <a:gd name="T86" fmla="*/ 1892 w 2272"/>
                  <a:gd name="T87" fmla="*/ 379 h 2191"/>
                  <a:gd name="T88" fmla="*/ 1892 w 2272"/>
                  <a:gd name="T89" fmla="*/ 254 h 2191"/>
                  <a:gd name="T90" fmla="*/ 1332 w 2272"/>
                  <a:gd name="T91" fmla="*/ 254 h 2191"/>
                  <a:gd name="T92" fmla="*/ 1253 w 2272"/>
                  <a:gd name="T93" fmla="*/ 467 h 2191"/>
                  <a:gd name="T94" fmla="*/ 1522 w 2272"/>
                  <a:gd name="T95" fmla="*/ 467 h 2191"/>
                  <a:gd name="T96" fmla="*/ 1277 w 2272"/>
                  <a:gd name="T97" fmla="*/ 1478 h 2191"/>
                  <a:gd name="T98" fmla="*/ 1277 w 2272"/>
                  <a:gd name="T99" fmla="*/ 2014 h 2191"/>
                  <a:gd name="T100" fmla="*/ 1864 w 2272"/>
                  <a:gd name="T101" fmla="*/ 2014 h 2191"/>
                  <a:gd name="T102" fmla="*/ 1864 w 2272"/>
                  <a:gd name="T103" fmla="*/ 1478 h 2191"/>
                  <a:gd name="T104" fmla="*/ 1277 w 2272"/>
                  <a:gd name="T105" fmla="*/ 1478 h 2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72" h="2191">
                    <a:moveTo>
                      <a:pt x="315" y="957"/>
                    </a:moveTo>
                    <a:lnTo>
                      <a:pt x="0" y="957"/>
                    </a:lnTo>
                    <a:lnTo>
                      <a:pt x="361" y="5"/>
                    </a:lnTo>
                    <a:lnTo>
                      <a:pt x="675" y="5"/>
                    </a:lnTo>
                    <a:lnTo>
                      <a:pt x="380" y="767"/>
                    </a:lnTo>
                    <a:lnTo>
                      <a:pt x="453" y="767"/>
                    </a:lnTo>
                    <a:lnTo>
                      <a:pt x="509" y="647"/>
                    </a:lnTo>
                    <a:lnTo>
                      <a:pt x="823" y="647"/>
                    </a:lnTo>
                    <a:lnTo>
                      <a:pt x="463" y="1492"/>
                    </a:lnTo>
                    <a:lnTo>
                      <a:pt x="754" y="1492"/>
                    </a:lnTo>
                    <a:lnTo>
                      <a:pt x="754" y="1677"/>
                    </a:lnTo>
                    <a:lnTo>
                      <a:pt x="366" y="1677"/>
                    </a:lnTo>
                    <a:lnTo>
                      <a:pt x="65" y="1677"/>
                    </a:lnTo>
                    <a:lnTo>
                      <a:pt x="375" y="957"/>
                    </a:lnTo>
                    <a:lnTo>
                      <a:pt x="315" y="957"/>
                    </a:lnTo>
                    <a:close/>
                    <a:moveTo>
                      <a:pt x="763" y="1954"/>
                    </a:moveTo>
                    <a:lnTo>
                      <a:pt x="763" y="2130"/>
                    </a:lnTo>
                    <a:lnTo>
                      <a:pt x="84" y="2130"/>
                    </a:lnTo>
                    <a:lnTo>
                      <a:pt x="84" y="1954"/>
                    </a:lnTo>
                    <a:lnTo>
                      <a:pt x="763" y="1954"/>
                    </a:lnTo>
                    <a:close/>
                    <a:moveTo>
                      <a:pt x="1831" y="1205"/>
                    </a:moveTo>
                    <a:lnTo>
                      <a:pt x="1614" y="994"/>
                    </a:lnTo>
                    <a:lnTo>
                      <a:pt x="1355" y="1205"/>
                    </a:lnTo>
                    <a:lnTo>
                      <a:pt x="884" y="1205"/>
                    </a:lnTo>
                    <a:lnTo>
                      <a:pt x="1392" y="781"/>
                    </a:lnTo>
                    <a:lnTo>
                      <a:pt x="1212" y="587"/>
                    </a:lnTo>
                    <a:lnTo>
                      <a:pt x="1179" y="684"/>
                    </a:lnTo>
                    <a:lnTo>
                      <a:pt x="842" y="684"/>
                    </a:lnTo>
                    <a:lnTo>
                      <a:pt x="1082" y="0"/>
                    </a:lnTo>
                    <a:lnTo>
                      <a:pt x="1420" y="0"/>
                    </a:lnTo>
                    <a:lnTo>
                      <a:pt x="1397" y="79"/>
                    </a:lnTo>
                    <a:lnTo>
                      <a:pt x="2174" y="79"/>
                    </a:lnTo>
                    <a:lnTo>
                      <a:pt x="2174" y="527"/>
                    </a:lnTo>
                    <a:lnTo>
                      <a:pt x="1864" y="795"/>
                    </a:lnTo>
                    <a:lnTo>
                      <a:pt x="2271" y="1205"/>
                    </a:lnTo>
                    <a:lnTo>
                      <a:pt x="1831" y="1205"/>
                    </a:lnTo>
                    <a:close/>
                    <a:moveTo>
                      <a:pt x="934" y="2190"/>
                    </a:moveTo>
                    <a:lnTo>
                      <a:pt x="934" y="1303"/>
                    </a:lnTo>
                    <a:lnTo>
                      <a:pt x="2206" y="1303"/>
                    </a:lnTo>
                    <a:lnTo>
                      <a:pt x="2206" y="2190"/>
                    </a:lnTo>
                    <a:lnTo>
                      <a:pt x="934" y="2190"/>
                    </a:lnTo>
                    <a:close/>
                    <a:moveTo>
                      <a:pt x="1522" y="467"/>
                    </a:moveTo>
                    <a:lnTo>
                      <a:pt x="1646" y="592"/>
                    </a:lnTo>
                    <a:lnTo>
                      <a:pt x="1892" y="379"/>
                    </a:lnTo>
                    <a:lnTo>
                      <a:pt x="1892" y="254"/>
                    </a:lnTo>
                    <a:lnTo>
                      <a:pt x="1332" y="254"/>
                    </a:lnTo>
                    <a:lnTo>
                      <a:pt x="1253" y="467"/>
                    </a:lnTo>
                    <a:lnTo>
                      <a:pt x="1522" y="467"/>
                    </a:lnTo>
                    <a:close/>
                    <a:moveTo>
                      <a:pt x="1277" y="1478"/>
                    </a:moveTo>
                    <a:lnTo>
                      <a:pt x="1277" y="2014"/>
                    </a:lnTo>
                    <a:lnTo>
                      <a:pt x="1864" y="2014"/>
                    </a:lnTo>
                    <a:lnTo>
                      <a:pt x="1864" y="1478"/>
                    </a:lnTo>
                    <a:lnTo>
                      <a:pt x="1277" y="1478"/>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8" name="Freeform 17"/>
              <p:cNvSpPr>
                <a:spLocks noChangeArrowheads="1"/>
              </p:cNvSpPr>
              <p:nvPr/>
            </p:nvSpPr>
            <p:spPr bwMode="auto">
              <a:xfrm>
                <a:off x="3982528" y="697395"/>
                <a:ext cx="362437" cy="363166"/>
              </a:xfrm>
              <a:custGeom>
                <a:avLst/>
                <a:gdLst>
                  <a:gd name="T0" fmla="*/ 1244 w 2193"/>
                  <a:gd name="T1" fmla="*/ 1012 h 2195"/>
                  <a:gd name="T2" fmla="*/ 934 w 2193"/>
                  <a:gd name="T3" fmla="*/ 1589 h 2195"/>
                  <a:gd name="T4" fmla="*/ 1249 w 2193"/>
                  <a:gd name="T5" fmla="*/ 1764 h 2195"/>
                  <a:gd name="T6" fmla="*/ 925 w 2193"/>
                  <a:gd name="T7" fmla="*/ 2194 h 2195"/>
                  <a:gd name="T8" fmla="*/ 439 w 2193"/>
                  <a:gd name="T9" fmla="*/ 2032 h 2195"/>
                  <a:gd name="T10" fmla="*/ 597 w 2193"/>
                  <a:gd name="T11" fmla="*/ 1764 h 2195"/>
                  <a:gd name="T12" fmla="*/ 65 w 2193"/>
                  <a:gd name="T13" fmla="*/ 1589 h 2195"/>
                  <a:gd name="T14" fmla="*/ 856 w 2193"/>
                  <a:gd name="T15" fmla="*/ 1187 h 2195"/>
                  <a:gd name="T16" fmla="*/ 292 w 2193"/>
                  <a:gd name="T17" fmla="*/ 1455 h 2195"/>
                  <a:gd name="T18" fmla="*/ 167 w 2193"/>
                  <a:gd name="T19" fmla="*/ 1187 h 2195"/>
                  <a:gd name="T20" fmla="*/ 65 w 2193"/>
                  <a:gd name="T21" fmla="*/ 1012 h 2195"/>
                  <a:gd name="T22" fmla="*/ 361 w 2193"/>
                  <a:gd name="T23" fmla="*/ 809 h 2195"/>
                  <a:gd name="T24" fmla="*/ 56 w 2193"/>
                  <a:gd name="T25" fmla="*/ 628 h 2195"/>
                  <a:gd name="T26" fmla="*/ 366 w 2193"/>
                  <a:gd name="T27" fmla="*/ 319 h 2195"/>
                  <a:gd name="T28" fmla="*/ 125 w 2193"/>
                  <a:gd name="T29" fmla="*/ 148 h 2195"/>
                  <a:gd name="T30" fmla="*/ 366 w 2193"/>
                  <a:gd name="T31" fmla="*/ 0 h 2195"/>
                  <a:gd name="T32" fmla="*/ 680 w 2193"/>
                  <a:gd name="T33" fmla="*/ 148 h 2195"/>
                  <a:gd name="T34" fmla="*/ 934 w 2193"/>
                  <a:gd name="T35" fmla="*/ 319 h 2195"/>
                  <a:gd name="T36" fmla="*/ 680 w 2193"/>
                  <a:gd name="T37" fmla="*/ 628 h 2195"/>
                  <a:gd name="T38" fmla="*/ 1022 w 2193"/>
                  <a:gd name="T39" fmla="*/ 64 h 2195"/>
                  <a:gd name="T40" fmla="*/ 1115 w 2193"/>
                  <a:gd name="T41" fmla="*/ 628 h 2195"/>
                  <a:gd name="T42" fmla="*/ 1244 w 2193"/>
                  <a:gd name="T43" fmla="*/ 809 h 2195"/>
                  <a:gd name="T44" fmla="*/ 546 w 2193"/>
                  <a:gd name="T45" fmla="*/ 1012 h 2195"/>
                  <a:gd name="T46" fmla="*/ 1683 w 2193"/>
                  <a:gd name="T47" fmla="*/ 0 h 2195"/>
                  <a:gd name="T48" fmla="*/ 2183 w 2193"/>
                  <a:gd name="T49" fmla="*/ 115 h 2195"/>
                  <a:gd name="T50" fmla="*/ 2113 w 2193"/>
                  <a:gd name="T51" fmla="*/ 291 h 2195"/>
                  <a:gd name="T52" fmla="*/ 1868 w 2193"/>
                  <a:gd name="T53" fmla="*/ 1427 h 2195"/>
                  <a:gd name="T54" fmla="*/ 1836 w 2193"/>
                  <a:gd name="T55" fmla="*/ 2194 h 2195"/>
                  <a:gd name="T56" fmla="*/ 1535 w 2193"/>
                  <a:gd name="T57" fmla="*/ 2194 h 2195"/>
                  <a:gd name="T58" fmla="*/ 1489 w 2193"/>
                  <a:gd name="T59" fmla="*/ 1445 h 2195"/>
                  <a:gd name="T60" fmla="*/ 1632 w 2193"/>
                  <a:gd name="T61" fmla="*/ 1104 h 2195"/>
                  <a:gd name="T62" fmla="*/ 1771 w 2193"/>
                  <a:gd name="T63" fmla="*/ 291 h 2195"/>
                  <a:gd name="T64" fmla="*/ 1614 w 2193"/>
                  <a:gd name="T65" fmla="*/ 975 h 2195"/>
                  <a:gd name="T66" fmla="*/ 1360 w 2193"/>
                  <a:gd name="T67" fmla="*/ 0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93" h="2195">
                    <a:moveTo>
                      <a:pt x="546" y="1012"/>
                    </a:moveTo>
                    <a:lnTo>
                      <a:pt x="1244" y="1012"/>
                    </a:lnTo>
                    <a:lnTo>
                      <a:pt x="1244" y="1187"/>
                    </a:lnTo>
                    <a:lnTo>
                      <a:pt x="934" y="1589"/>
                    </a:lnTo>
                    <a:lnTo>
                      <a:pt x="1249" y="1589"/>
                    </a:lnTo>
                    <a:lnTo>
                      <a:pt x="1249" y="1764"/>
                    </a:lnTo>
                    <a:lnTo>
                      <a:pt x="925" y="1764"/>
                    </a:lnTo>
                    <a:lnTo>
                      <a:pt x="925" y="2194"/>
                    </a:lnTo>
                    <a:lnTo>
                      <a:pt x="439" y="2194"/>
                    </a:lnTo>
                    <a:lnTo>
                      <a:pt x="439" y="2032"/>
                    </a:lnTo>
                    <a:lnTo>
                      <a:pt x="597" y="2032"/>
                    </a:lnTo>
                    <a:lnTo>
                      <a:pt x="597" y="1764"/>
                    </a:lnTo>
                    <a:lnTo>
                      <a:pt x="65" y="1764"/>
                    </a:lnTo>
                    <a:lnTo>
                      <a:pt x="65" y="1589"/>
                    </a:lnTo>
                    <a:lnTo>
                      <a:pt x="537" y="1589"/>
                    </a:lnTo>
                    <a:lnTo>
                      <a:pt x="856" y="1187"/>
                    </a:lnTo>
                    <a:lnTo>
                      <a:pt x="453" y="1187"/>
                    </a:lnTo>
                    <a:lnTo>
                      <a:pt x="292" y="1455"/>
                    </a:lnTo>
                    <a:lnTo>
                      <a:pt x="0" y="1455"/>
                    </a:lnTo>
                    <a:lnTo>
                      <a:pt x="167" y="1187"/>
                    </a:lnTo>
                    <a:lnTo>
                      <a:pt x="65" y="1187"/>
                    </a:lnTo>
                    <a:lnTo>
                      <a:pt x="65" y="1012"/>
                    </a:lnTo>
                    <a:lnTo>
                      <a:pt x="255" y="1012"/>
                    </a:lnTo>
                    <a:lnTo>
                      <a:pt x="361" y="809"/>
                    </a:lnTo>
                    <a:lnTo>
                      <a:pt x="56" y="809"/>
                    </a:lnTo>
                    <a:lnTo>
                      <a:pt x="56" y="628"/>
                    </a:lnTo>
                    <a:lnTo>
                      <a:pt x="366" y="628"/>
                    </a:lnTo>
                    <a:lnTo>
                      <a:pt x="366" y="319"/>
                    </a:lnTo>
                    <a:lnTo>
                      <a:pt x="125" y="319"/>
                    </a:lnTo>
                    <a:lnTo>
                      <a:pt x="125" y="148"/>
                    </a:lnTo>
                    <a:lnTo>
                      <a:pt x="366" y="148"/>
                    </a:lnTo>
                    <a:lnTo>
                      <a:pt x="366" y="0"/>
                    </a:lnTo>
                    <a:lnTo>
                      <a:pt x="680" y="0"/>
                    </a:lnTo>
                    <a:lnTo>
                      <a:pt x="680" y="148"/>
                    </a:lnTo>
                    <a:lnTo>
                      <a:pt x="934" y="148"/>
                    </a:lnTo>
                    <a:lnTo>
                      <a:pt x="934" y="319"/>
                    </a:lnTo>
                    <a:lnTo>
                      <a:pt x="680" y="319"/>
                    </a:lnTo>
                    <a:lnTo>
                      <a:pt x="680" y="628"/>
                    </a:lnTo>
                    <a:lnTo>
                      <a:pt x="846" y="628"/>
                    </a:lnTo>
                    <a:lnTo>
                      <a:pt x="1022" y="64"/>
                    </a:lnTo>
                    <a:lnTo>
                      <a:pt x="1272" y="64"/>
                    </a:lnTo>
                    <a:lnTo>
                      <a:pt x="1115" y="628"/>
                    </a:lnTo>
                    <a:lnTo>
                      <a:pt x="1244" y="628"/>
                    </a:lnTo>
                    <a:lnTo>
                      <a:pt x="1244" y="809"/>
                    </a:lnTo>
                    <a:lnTo>
                      <a:pt x="652" y="809"/>
                    </a:lnTo>
                    <a:lnTo>
                      <a:pt x="546" y="1012"/>
                    </a:lnTo>
                    <a:close/>
                    <a:moveTo>
                      <a:pt x="1360" y="0"/>
                    </a:moveTo>
                    <a:lnTo>
                      <a:pt x="1683" y="0"/>
                    </a:lnTo>
                    <a:lnTo>
                      <a:pt x="1679" y="115"/>
                    </a:lnTo>
                    <a:lnTo>
                      <a:pt x="2183" y="115"/>
                    </a:lnTo>
                    <a:lnTo>
                      <a:pt x="2183" y="291"/>
                    </a:lnTo>
                    <a:lnTo>
                      <a:pt x="2113" y="291"/>
                    </a:lnTo>
                    <a:lnTo>
                      <a:pt x="2113" y="739"/>
                    </a:lnTo>
                    <a:lnTo>
                      <a:pt x="1868" y="1427"/>
                    </a:lnTo>
                    <a:lnTo>
                      <a:pt x="2192" y="2194"/>
                    </a:lnTo>
                    <a:lnTo>
                      <a:pt x="1836" y="2194"/>
                    </a:lnTo>
                    <a:lnTo>
                      <a:pt x="1683" y="1834"/>
                    </a:lnTo>
                    <a:lnTo>
                      <a:pt x="1535" y="2194"/>
                    </a:lnTo>
                    <a:lnTo>
                      <a:pt x="1175" y="2194"/>
                    </a:lnTo>
                    <a:lnTo>
                      <a:pt x="1489" y="1445"/>
                    </a:lnTo>
                    <a:lnTo>
                      <a:pt x="1355" y="1104"/>
                    </a:lnTo>
                    <a:lnTo>
                      <a:pt x="1632" y="1104"/>
                    </a:lnTo>
                    <a:lnTo>
                      <a:pt x="1771" y="698"/>
                    </a:lnTo>
                    <a:lnTo>
                      <a:pt x="1771" y="291"/>
                    </a:lnTo>
                    <a:lnTo>
                      <a:pt x="1669" y="291"/>
                    </a:lnTo>
                    <a:lnTo>
                      <a:pt x="1614" y="975"/>
                    </a:lnTo>
                    <a:lnTo>
                      <a:pt x="1281" y="975"/>
                    </a:lnTo>
                    <a:lnTo>
                      <a:pt x="1360" y="0"/>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19" name="Freeform 18"/>
              <p:cNvSpPr>
                <a:spLocks noChangeArrowheads="1"/>
              </p:cNvSpPr>
              <p:nvPr/>
            </p:nvSpPr>
            <p:spPr bwMode="auto">
              <a:xfrm>
                <a:off x="4374864" y="702500"/>
                <a:ext cx="369000" cy="355874"/>
              </a:xfrm>
              <a:custGeom>
                <a:avLst/>
                <a:gdLst>
                  <a:gd name="T0" fmla="*/ 1447 w 2230"/>
                  <a:gd name="T1" fmla="*/ 1118 h 2150"/>
                  <a:gd name="T2" fmla="*/ 2229 w 2230"/>
                  <a:gd name="T3" fmla="*/ 1405 h 2150"/>
                  <a:gd name="T4" fmla="*/ 1545 w 2230"/>
                  <a:gd name="T5" fmla="*/ 1405 h 2150"/>
                  <a:gd name="T6" fmla="*/ 1078 w 2230"/>
                  <a:gd name="T7" fmla="*/ 1252 h 2150"/>
                  <a:gd name="T8" fmla="*/ 652 w 2230"/>
                  <a:gd name="T9" fmla="*/ 1405 h 2150"/>
                  <a:gd name="T10" fmla="*/ 0 w 2230"/>
                  <a:gd name="T11" fmla="*/ 1405 h 2150"/>
                  <a:gd name="T12" fmla="*/ 726 w 2230"/>
                  <a:gd name="T13" fmla="*/ 1137 h 2150"/>
                  <a:gd name="T14" fmla="*/ 222 w 2230"/>
                  <a:gd name="T15" fmla="*/ 976 h 2150"/>
                  <a:gd name="T16" fmla="*/ 361 w 2230"/>
                  <a:gd name="T17" fmla="*/ 745 h 2150"/>
                  <a:gd name="T18" fmla="*/ 88 w 2230"/>
                  <a:gd name="T19" fmla="*/ 745 h 2150"/>
                  <a:gd name="T20" fmla="*/ 88 w 2230"/>
                  <a:gd name="T21" fmla="*/ 583 h 2150"/>
                  <a:gd name="T22" fmla="*/ 467 w 2230"/>
                  <a:gd name="T23" fmla="*/ 583 h 2150"/>
                  <a:gd name="T24" fmla="*/ 550 w 2230"/>
                  <a:gd name="T25" fmla="*/ 444 h 2150"/>
                  <a:gd name="T26" fmla="*/ 902 w 2230"/>
                  <a:gd name="T27" fmla="*/ 444 h 2150"/>
                  <a:gd name="T28" fmla="*/ 823 w 2230"/>
                  <a:gd name="T29" fmla="*/ 583 h 2150"/>
                  <a:gd name="T30" fmla="*/ 2146 w 2230"/>
                  <a:gd name="T31" fmla="*/ 583 h 2150"/>
                  <a:gd name="T32" fmla="*/ 2146 w 2230"/>
                  <a:gd name="T33" fmla="*/ 745 h 2150"/>
                  <a:gd name="T34" fmla="*/ 1910 w 2230"/>
                  <a:gd name="T35" fmla="*/ 745 h 2150"/>
                  <a:gd name="T36" fmla="*/ 1910 w 2230"/>
                  <a:gd name="T37" fmla="*/ 957 h 2150"/>
                  <a:gd name="T38" fmla="*/ 1447 w 2230"/>
                  <a:gd name="T39" fmla="*/ 1118 h 2150"/>
                  <a:gd name="T40" fmla="*/ 56 w 2230"/>
                  <a:gd name="T41" fmla="*/ 2126 h 2150"/>
                  <a:gd name="T42" fmla="*/ 426 w 2230"/>
                  <a:gd name="T43" fmla="*/ 1733 h 2150"/>
                  <a:gd name="T44" fmla="*/ 819 w 2230"/>
                  <a:gd name="T45" fmla="*/ 1733 h 2150"/>
                  <a:gd name="T46" fmla="*/ 463 w 2230"/>
                  <a:gd name="T47" fmla="*/ 2126 h 2150"/>
                  <a:gd name="T48" fmla="*/ 56 w 2230"/>
                  <a:gd name="T49" fmla="*/ 2126 h 2150"/>
                  <a:gd name="T50" fmla="*/ 1817 w 2230"/>
                  <a:gd name="T51" fmla="*/ 490 h 2150"/>
                  <a:gd name="T52" fmla="*/ 1817 w 2230"/>
                  <a:gd name="T53" fmla="*/ 292 h 2150"/>
                  <a:gd name="T54" fmla="*/ 412 w 2230"/>
                  <a:gd name="T55" fmla="*/ 292 h 2150"/>
                  <a:gd name="T56" fmla="*/ 412 w 2230"/>
                  <a:gd name="T57" fmla="*/ 490 h 2150"/>
                  <a:gd name="T58" fmla="*/ 88 w 2230"/>
                  <a:gd name="T59" fmla="*/ 490 h 2150"/>
                  <a:gd name="T60" fmla="*/ 88 w 2230"/>
                  <a:gd name="T61" fmla="*/ 121 h 2150"/>
                  <a:gd name="T62" fmla="*/ 925 w 2230"/>
                  <a:gd name="T63" fmla="*/ 121 h 2150"/>
                  <a:gd name="T64" fmla="*/ 925 w 2230"/>
                  <a:gd name="T65" fmla="*/ 0 h 2150"/>
                  <a:gd name="T66" fmla="*/ 1290 w 2230"/>
                  <a:gd name="T67" fmla="*/ 0 h 2150"/>
                  <a:gd name="T68" fmla="*/ 1290 w 2230"/>
                  <a:gd name="T69" fmla="*/ 121 h 2150"/>
                  <a:gd name="T70" fmla="*/ 2146 w 2230"/>
                  <a:gd name="T71" fmla="*/ 121 h 2150"/>
                  <a:gd name="T72" fmla="*/ 2146 w 2230"/>
                  <a:gd name="T73" fmla="*/ 490 h 2150"/>
                  <a:gd name="T74" fmla="*/ 1817 w 2230"/>
                  <a:gd name="T75" fmla="*/ 490 h 2150"/>
                  <a:gd name="T76" fmla="*/ 1281 w 2230"/>
                  <a:gd name="T77" fmla="*/ 1368 h 2150"/>
                  <a:gd name="T78" fmla="*/ 1281 w 2230"/>
                  <a:gd name="T79" fmla="*/ 1497 h 2150"/>
                  <a:gd name="T80" fmla="*/ 2146 w 2230"/>
                  <a:gd name="T81" fmla="*/ 1497 h 2150"/>
                  <a:gd name="T82" fmla="*/ 2146 w 2230"/>
                  <a:gd name="T83" fmla="*/ 1668 h 2150"/>
                  <a:gd name="T84" fmla="*/ 1281 w 2230"/>
                  <a:gd name="T85" fmla="*/ 1668 h 2150"/>
                  <a:gd name="T86" fmla="*/ 1281 w 2230"/>
                  <a:gd name="T87" fmla="*/ 2149 h 2150"/>
                  <a:gd name="T88" fmla="*/ 944 w 2230"/>
                  <a:gd name="T89" fmla="*/ 2149 h 2150"/>
                  <a:gd name="T90" fmla="*/ 944 w 2230"/>
                  <a:gd name="T91" fmla="*/ 1668 h 2150"/>
                  <a:gd name="T92" fmla="*/ 88 w 2230"/>
                  <a:gd name="T93" fmla="*/ 1668 h 2150"/>
                  <a:gd name="T94" fmla="*/ 88 w 2230"/>
                  <a:gd name="T95" fmla="*/ 1497 h 2150"/>
                  <a:gd name="T96" fmla="*/ 944 w 2230"/>
                  <a:gd name="T97" fmla="*/ 1497 h 2150"/>
                  <a:gd name="T98" fmla="*/ 944 w 2230"/>
                  <a:gd name="T99" fmla="*/ 1368 h 2150"/>
                  <a:gd name="T100" fmla="*/ 1281 w 2230"/>
                  <a:gd name="T101" fmla="*/ 1368 h 2150"/>
                  <a:gd name="T102" fmla="*/ 1115 w 2230"/>
                  <a:gd name="T103" fmla="*/ 999 h 2150"/>
                  <a:gd name="T104" fmla="*/ 1568 w 2230"/>
                  <a:gd name="T105" fmla="*/ 832 h 2150"/>
                  <a:gd name="T106" fmla="*/ 1568 w 2230"/>
                  <a:gd name="T107" fmla="*/ 745 h 2150"/>
                  <a:gd name="T108" fmla="*/ 726 w 2230"/>
                  <a:gd name="T109" fmla="*/ 745 h 2150"/>
                  <a:gd name="T110" fmla="*/ 675 w 2230"/>
                  <a:gd name="T111" fmla="*/ 837 h 2150"/>
                  <a:gd name="T112" fmla="*/ 1115 w 2230"/>
                  <a:gd name="T113" fmla="*/ 999 h 2150"/>
                  <a:gd name="T114" fmla="*/ 2192 w 2230"/>
                  <a:gd name="T115" fmla="*/ 2126 h 2150"/>
                  <a:gd name="T116" fmla="*/ 1776 w 2230"/>
                  <a:gd name="T117" fmla="*/ 2126 h 2150"/>
                  <a:gd name="T118" fmla="*/ 1420 w 2230"/>
                  <a:gd name="T119" fmla="*/ 1733 h 2150"/>
                  <a:gd name="T120" fmla="*/ 1827 w 2230"/>
                  <a:gd name="T121" fmla="*/ 1733 h 2150"/>
                  <a:gd name="T122" fmla="*/ 2192 w 2230"/>
                  <a:gd name="T123" fmla="*/ 2126 h 2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0" h="2150">
                    <a:moveTo>
                      <a:pt x="1447" y="1118"/>
                    </a:moveTo>
                    <a:lnTo>
                      <a:pt x="2229" y="1405"/>
                    </a:lnTo>
                    <a:lnTo>
                      <a:pt x="1545" y="1405"/>
                    </a:lnTo>
                    <a:lnTo>
                      <a:pt x="1078" y="1252"/>
                    </a:lnTo>
                    <a:lnTo>
                      <a:pt x="652" y="1405"/>
                    </a:lnTo>
                    <a:lnTo>
                      <a:pt x="0" y="1405"/>
                    </a:lnTo>
                    <a:lnTo>
                      <a:pt x="726" y="1137"/>
                    </a:lnTo>
                    <a:lnTo>
                      <a:pt x="222" y="976"/>
                    </a:lnTo>
                    <a:lnTo>
                      <a:pt x="361" y="745"/>
                    </a:lnTo>
                    <a:lnTo>
                      <a:pt x="88" y="745"/>
                    </a:lnTo>
                    <a:lnTo>
                      <a:pt x="88" y="583"/>
                    </a:lnTo>
                    <a:lnTo>
                      <a:pt x="467" y="583"/>
                    </a:lnTo>
                    <a:lnTo>
                      <a:pt x="550" y="444"/>
                    </a:lnTo>
                    <a:lnTo>
                      <a:pt x="902" y="444"/>
                    </a:lnTo>
                    <a:lnTo>
                      <a:pt x="823" y="583"/>
                    </a:lnTo>
                    <a:lnTo>
                      <a:pt x="2146" y="583"/>
                    </a:lnTo>
                    <a:lnTo>
                      <a:pt x="2146" y="745"/>
                    </a:lnTo>
                    <a:lnTo>
                      <a:pt x="1910" y="745"/>
                    </a:lnTo>
                    <a:lnTo>
                      <a:pt x="1910" y="957"/>
                    </a:lnTo>
                    <a:lnTo>
                      <a:pt x="1447" y="1118"/>
                    </a:lnTo>
                    <a:close/>
                    <a:moveTo>
                      <a:pt x="56" y="2126"/>
                    </a:moveTo>
                    <a:lnTo>
                      <a:pt x="426" y="1733"/>
                    </a:lnTo>
                    <a:lnTo>
                      <a:pt x="819" y="1733"/>
                    </a:lnTo>
                    <a:lnTo>
                      <a:pt x="463" y="2126"/>
                    </a:lnTo>
                    <a:lnTo>
                      <a:pt x="56" y="2126"/>
                    </a:lnTo>
                    <a:close/>
                    <a:moveTo>
                      <a:pt x="1817" y="490"/>
                    </a:moveTo>
                    <a:lnTo>
                      <a:pt x="1817" y="292"/>
                    </a:lnTo>
                    <a:lnTo>
                      <a:pt x="412" y="292"/>
                    </a:lnTo>
                    <a:lnTo>
                      <a:pt x="412" y="490"/>
                    </a:lnTo>
                    <a:lnTo>
                      <a:pt x="88" y="490"/>
                    </a:lnTo>
                    <a:lnTo>
                      <a:pt x="88" y="121"/>
                    </a:lnTo>
                    <a:lnTo>
                      <a:pt x="925" y="121"/>
                    </a:lnTo>
                    <a:lnTo>
                      <a:pt x="925" y="0"/>
                    </a:lnTo>
                    <a:lnTo>
                      <a:pt x="1290" y="0"/>
                    </a:lnTo>
                    <a:lnTo>
                      <a:pt x="1290" y="121"/>
                    </a:lnTo>
                    <a:lnTo>
                      <a:pt x="2146" y="121"/>
                    </a:lnTo>
                    <a:lnTo>
                      <a:pt x="2146" y="490"/>
                    </a:lnTo>
                    <a:lnTo>
                      <a:pt x="1817" y="490"/>
                    </a:lnTo>
                    <a:close/>
                    <a:moveTo>
                      <a:pt x="1281" y="1368"/>
                    </a:moveTo>
                    <a:lnTo>
                      <a:pt x="1281" y="1497"/>
                    </a:lnTo>
                    <a:lnTo>
                      <a:pt x="2146" y="1497"/>
                    </a:lnTo>
                    <a:lnTo>
                      <a:pt x="2146" y="1668"/>
                    </a:lnTo>
                    <a:lnTo>
                      <a:pt x="1281" y="1668"/>
                    </a:lnTo>
                    <a:lnTo>
                      <a:pt x="1281" y="2149"/>
                    </a:lnTo>
                    <a:lnTo>
                      <a:pt x="944" y="2149"/>
                    </a:lnTo>
                    <a:lnTo>
                      <a:pt x="944" y="1668"/>
                    </a:lnTo>
                    <a:lnTo>
                      <a:pt x="88" y="1668"/>
                    </a:lnTo>
                    <a:lnTo>
                      <a:pt x="88" y="1497"/>
                    </a:lnTo>
                    <a:lnTo>
                      <a:pt x="944" y="1497"/>
                    </a:lnTo>
                    <a:lnTo>
                      <a:pt x="944" y="1368"/>
                    </a:lnTo>
                    <a:lnTo>
                      <a:pt x="1281" y="1368"/>
                    </a:lnTo>
                    <a:close/>
                    <a:moveTo>
                      <a:pt x="1115" y="999"/>
                    </a:moveTo>
                    <a:lnTo>
                      <a:pt x="1568" y="832"/>
                    </a:lnTo>
                    <a:lnTo>
                      <a:pt x="1568" y="745"/>
                    </a:lnTo>
                    <a:lnTo>
                      <a:pt x="726" y="745"/>
                    </a:lnTo>
                    <a:lnTo>
                      <a:pt x="675" y="837"/>
                    </a:lnTo>
                    <a:lnTo>
                      <a:pt x="1115" y="999"/>
                    </a:lnTo>
                    <a:close/>
                    <a:moveTo>
                      <a:pt x="2192" y="2126"/>
                    </a:moveTo>
                    <a:lnTo>
                      <a:pt x="1776" y="2126"/>
                    </a:lnTo>
                    <a:lnTo>
                      <a:pt x="1420" y="1733"/>
                    </a:lnTo>
                    <a:lnTo>
                      <a:pt x="1827" y="1733"/>
                    </a:lnTo>
                    <a:lnTo>
                      <a:pt x="2192" y="2126"/>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0" name="Freeform 19"/>
              <p:cNvSpPr>
                <a:spLocks noChangeArrowheads="1"/>
              </p:cNvSpPr>
              <p:nvPr/>
            </p:nvSpPr>
            <p:spPr bwMode="auto">
              <a:xfrm>
                <a:off x="4758449" y="696666"/>
                <a:ext cx="376293" cy="364625"/>
              </a:xfrm>
              <a:custGeom>
                <a:avLst/>
                <a:gdLst>
                  <a:gd name="T0" fmla="*/ 615 w 2276"/>
                  <a:gd name="T1" fmla="*/ 943 h 2205"/>
                  <a:gd name="T2" fmla="*/ 897 w 2276"/>
                  <a:gd name="T3" fmla="*/ 1145 h 2205"/>
                  <a:gd name="T4" fmla="*/ 897 w 2276"/>
                  <a:gd name="T5" fmla="*/ 1548 h 2205"/>
                  <a:gd name="T6" fmla="*/ 583 w 2276"/>
                  <a:gd name="T7" fmla="*/ 1330 h 2205"/>
                  <a:gd name="T8" fmla="*/ 583 w 2276"/>
                  <a:gd name="T9" fmla="*/ 2204 h 2205"/>
                  <a:gd name="T10" fmla="*/ 241 w 2276"/>
                  <a:gd name="T11" fmla="*/ 2204 h 2205"/>
                  <a:gd name="T12" fmla="*/ 241 w 2276"/>
                  <a:gd name="T13" fmla="*/ 1478 h 2205"/>
                  <a:gd name="T14" fmla="*/ 0 w 2276"/>
                  <a:gd name="T15" fmla="*/ 1478 h 2205"/>
                  <a:gd name="T16" fmla="*/ 435 w 2276"/>
                  <a:gd name="T17" fmla="*/ 439 h 2205"/>
                  <a:gd name="T18" fmla="*/ 93 w 2276"/>
                  <a:gd name="T19" fmla="*/ 439 h 2205"/>
                  <a:gd name="T20" fmla="*/ 93 w 2276"/>
                  <a:gd name="T21" fmla="*/ 264 h 2205"/>
                  <a:gd name="T22" fmla="*/ 306 w 2276"/>
                  <a:gd name="T23" fmla="*/ 264 h 2205"/>
                  <a:gd name="T24" fmla="*/ 306 w 2276"/>
                  <a:gd name="T25" fmla="*/ 0 h 2205"/>
                  <a:gd name="T26" fmla="*/ 680 w 2276"/>
                  <a:gd name="T27" fmla="*/ 0 h 2205"/>
                  <a:gd name="T28" fmla="*/ 680 w 2276"/>
                  <a:gd name="T29" fmla="*/ 264 h 2205"/>
                  <a:gd name="T30" fmla="*/ 819 w 2276"/>
                  <a:gd name="T31" fmla="*/ 264 h 2205"/>
                  <a:gd name="T32" fmla="*/ 819 w 2276"/>
                  <a:gd name="T33" fmla="*/ 439 h 2205"/>
                  <a:gd name="T34" fmla="*/ 615 w 2276"/>
                  <a:gd name="T35" fmla="*/ 943 h 2205"/>
                  <a:gd name="T36" fmla="*/ 888 w 2276"/>
                  <a:gd name="T37" fmla="*/ 726 h 2205"/>
                  <a:gd name="T38" fmla="*/ 888 w 2276"/>
                  <a:gd name="T39" fmla="*/ 550 h 2205"/>
                  <a:gd name="T40" fmla="*/ 1360 w 2276"/>
                  <a:gd name="T41" fmla="*/ 550 h 2205"/>
                  <a:gd name="T42" fmla="*/ 1360 w 2276"/>
                  <a:gd name="T43" fmla="*/ 0 h 2205"/>
                  <a:gd name="T44" fmla="*/ 1702 w 2276"/>
                  <a:gd name="T45" fmla="*/ 0 h 2205"/>
                  <a:gd name="T46" fmla="*/ 1702 w 2276"/>
                  <a:gd name="T47" fmla="*/ 550 h 2205"/>
                  <a:gd name="T48" fmla="*/ 2178 w 2276"/>
                  <a:gd name="T49" fmla="*/ 550 h 2205"/>
                  <a:gd name="T50" fmla="*/ 2178 w 2276"/>
                  <a:gd name="T51" fmla="*/ 726 h 2205"/>
                  <a:gd name="T52" fmla="*/ 1702 w 2276"/>
                  <a:gd name="T53" fmla="*/ 726 h 2205"/>
                  <a:gd name="T54" fmla="*/ 1702 w 2276"/>
                  <a:gd name="T55" fmla="*/ 1996 h 2205"/>
                  <a:gd name="T56" fmla="*/ 2275 w 2276"/>
                  <a:gd name="T57" fmla="*/ 1996 h 2205"/>
                  <a:gd name="T58" fmla="*/ 2275 w 2276"/>
                  <a:gd name="T59" fmla="*/ 2172 h 2205"/>
                  <a:gd name="T60" fmla="*/ 763 w 2276"/>
                  <a:gd name="T61" fmla="*/ 2172 h 2205"/>
                  <a:gd name="T62" fmla="*/ 763 w 2276"/>
                  <a:gd name="T63" fmla="*/ 1996 h 2205"/>
                  <a:gd name="T64" fmla="*/ 1360 w 2276"/>
                  <a:gd name="T65" fmla="*/ 1996 h 2205"/>
                  <a:gd name="T66" fmla="*/ 1360 w 2276"/>
                  <a:gd name="T67" fmla="*/ 726 h 2205"/>
                  <a:gd name="T68" fmla="*/ 888 w 2276"/>
                  <a:gd name="T69" fmla="*/ 726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76" h="2205">
                    <a:moveTo>
                      <a:pt x="615" y="943"/>
                    </a:moveTo>
                    <a:lnTo>
                      <a:pt x="897" y="1145"/>
                    </a:lnTo>
                    <a:lnTo>
                      <a:pt x="897" y="1548"/>
                    </a:lnTo>
                    <a:lnTo>
                      <a:pt x="583" y="1330"/>
                    </a:lnTo>
                    <a:lnTo>
                      <a:pt x="583" y="2204"/>
                    </a:lnTo>
                    <a:lnTo>
                      <a:pt x="241" y="2204"/>
                    </a:lnTo>
                    <a:lnTo>
                      <a:pt x="241" y="1478"/>
                    </a:lnTo>
                    <a:lnTo>
                      <a:pt x="0" y="1478"/>
                    </a:lnTo>
                    <a:lnTo>
                      <a:pt x="435" y="439"/>
                    </a:lnTo>
                    <a:lnTo>
                      <a:pt x="93" y="439"/>
                    </a:lnTo>
                    <a:lnTo>
                      <a:pt x="93" y="264"/>
                    </a:lnTo>
                    <a:lnTo>
                      <a:pt x="306" y="264"/>
                    </a:lnTo>
                    <a:lnTo>
                      <a:pt x="306" y="0"/>
                    </a:lnTo>
                    <a:lnTo>
                      <a:pt x="680" y="0"/>
                    </a:lnTo>
                    <a:lnTo>
                      <a:pt x="680" y="264"/>
                    </a:lnTo>
                    <a:lnTo>
                      <a:pt x="819" y="264"/>
                    </a:lnTo>
                    <a:lnTo>
                      <a:pt x="819" y="439"/>
                    </a:lnTo>
                    <a:lnTo>
                      <a:pt x="615" y="943"/>
                    </a:lnTo>
                    <a:close/>
                    <a:moveTo>
                      <a:pt x="888" y="726"/>
                    </a:moveTo>
                    <a:lnTo>
                      <a:pt x="888" y="550"/>
                    </a:lnTo>
                    <a:lnTo>
                      <a:pt x="1360" y="550"/>
                    </a:lnTo>
                    <a:lnTo>
                      <a:pt x="1360" y="0"/>
                    </a:lnTo>
                    <a:lnTo>
                      <a:pt x="1702" y="0"/>
                    </a:lnTo>
                    <a:lnTo>
                      <a:pt x="1702" y="550"/>
                    </a:lnTo>
                    <a:lnTo>
                      <a:pt x="2178" y="550"/>
                    </a:lnTo>
                    <a:lnTo>
                      <a:pt x="2178" y="726"/>
                    </a:lnTo>
                    <a:lnTo>
                      <a:pt x="1702" y="726"/>
                    </a:lnTo>
                    <a:lnTo>
                      <a:pt x="1702" y="1996"/>
                    </a:lnTo>
                    <a:lnTo>
                      <a:pt x="2275" y="1996"/>
                    </a:lnTo>
                    <a:lnTo>
                      <a:pt x="2275" y="2172"/>
                    </a:lnTo>
                    <a:lnTo>
                      <a:pt x="763" y="2172"/>
                    </a:lnTo>
                    <a:lnTo>
                      <a:pt x="763" y="1996"/>
                    </a:lnTo>
                    <a:lnTo>
                      <a:pt x="1360" y="1996"/>
                    </a:lnTo>
                    <a:lnTo>
                      <a:pt x="1360" y="726"/>
                    </a:lnTo>
                    <a:lnTo>
                      <a:pt x="888" y="726"/>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21" name="Freeform 20"/>
              <p:cNvSpPr>
                <a:spLocks noChangeArrowheads="1"/>
              </p:cNvSpPr>
              <p:nvPr/>
            </p:nvSpPr>
            <p:spPr bwMode="auto">
              <a:xfrm>
                <a:off x="5179226" y="705417"/>
                <a:ext cx="328891" cy="352227"/>
              </a:xfrm>
              <a:custGeom>
                <a:avLst/>
                <a:gdLst>
                  <a:gd name="T0" fmla="*/ 1979 w 1990"/>
                  <a:gd name="T1" fmla="*/ 176 h 2131"/>
                  <a:gd name="T2" fmla="*/ 343 w 1990"/>
                  <a:gd name="T3" fmla="*/ 176 h 2131"/>
                  <a:gd name="T4" fmla="*/ 343 w 1990"/>
                  <a:gd name="T5" fmla="*/ 1954 h 2131"/>
                  <a:gd name="T6" fmla="*/ 1989 w 1990"/>
                  <a:gd name="T7" fmla="*/ 1954 h 2131"/>
                  <a:gd name="T8" fmla="*/ 1989 w 1990"/>
                  <a:gd name="T9" fmla="*/ 2130 h 2131"/>
                  <a:gd name="T10" fmla="*/ 0 w 1990"/>
                  <a:gd name="T11" fmla="*/ 2130 h 2131"/>
                  <a:gd name="T12" fmla="*/ 0 w 1990"/>
                  <a:gd name="T13" fmla="*/ 0 h 2131"/>
                  <a:gd name="T14" fmla="*/ 1979 w 1990"/>
                  <a:gd name="T15" fmla="*/ 0 h 2131"/>
                  <a:gd name="T16" fmla="*/ 1979 w 1990"/>
                  <a:gd name="T17" fmla="*/ 176 h 2131"/>
                  <a:gd name="T18" fmla="*/ 958 w 1990"/>
                  <a:gd name="T19" fmla="*/ 1063 h 2131"/>
                  <a:gd name="T20" fmla="*/ 421 w 1990"/>
                  <a:gd name="T21" fmla="*/ 310 h 2131"/>
                  <a:gd name="T22" fmla="*/ 847 w 1990"/>
                  <a:gd name="T23" fmla="*/ 310 h 2131"/>
                  <a:gd name="T24" fmla="*/ 1166 w 1990"/>
                  <a:gd name="T25" fmla="*/ 763 h 2131"/>
                  <a:gd name="T26" fmla="*/ 1475 w 1990"/>
                  <a:gd name="T27" fmla="*/ 310 h 2131"/>
                  <a:gd name="T28" fmla="*/ 1887 w 1990"/>
                  <a:gd name="T29" fmla="*/ 310 h 2131"/>
                  <a:gd name="T30" fmla="*/ 1378 w 1990"/>
                  <a:gd name="T31" fmla="*/ 1058 h 2131"/>
                  <a:gd name="T32" fmla="*/ 1924 w 1990"/>
                  <a:gd name="T33" fmla="*/ 1829 h 2131"/>
                  <a:gd name="T34" fmla="*/ 1508 w 1990"/>
                  <a:gd name="T35" fmla="*/ 1829 h 2131"/>
                  <a:gd name="T36" fmla="*/ 1175 w 1990"/>
                  <a:gd name="T37" fmla="*/ 1358 h 2131"/>
                  <a:gd name="T38" fmla="*/ 860 w 1990"/>
                  <a:gd name="T39" fmla="*/ 1829 h 2131"/>
                  <a:gd name="T40" fmla="*/ 440 w 1990"/>
                  <a:gd name="T41" fmla="*/ 1829 h 2131"/>
                  <a:gd name="T42" fmla="*/ 958 w 1990"/>
                  <a:gd name="T43" fmla="*/ 1063 h 2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90" h="2131">
                    <a:moveTo>
                      <a:pt x="1979" y="176"/>
                    </a:moveTo>
                    <a:lnTo>
                      <a:pt x="343" y="176"/>
                    </a:lnTo>
                    <a:lnTo>
                      <a:pt x="343" y="1954"/>
                    </a:lnTo>
                    <a:lnTo>
                      <a:pt x="1989" y="1954"/>
                    </a:lnTo>
                    <a:lnTo>
                      <a:pt x="1989" y="2130"/>
                    </a:lnTo>
                    <a:lnTo>
                      <a:pt x="0" y="2130"/>
                    </a:lnTo>
                    <a:lnTo>
                      <a:pt x="0" y="0"/>
                    </a:lnTo>
                    <a:lnTo>
                      <a:pt x="1979" y="0"/>
                    </a:lnTo>
                    <a:lnTo>
                      <a:pt x="1979" y="176"/>
                    </a:lnTo>
                    <a:close/>
                    <a:moveTo>
                      <a:pt x="958" y="1063"/>
                    </a:moveTo>
                    <a:lnTo>
                      <a:pt x="421" y="310"/>
                    </a:lnTo>
                    <a:lnTo>
                      <a:pt x="847" y="310"/>
                    </a:lnTo>
                    <a:lnTo>
                      <a:pt x="1166" y="763"/>
                    </a:lnTo>
                    <a:lnTo>
                      <a:pt x="1475" y="310"/>
                    </a:lnTo>
                    <a:lnTo>
                      <a:pt x="1887" y="310"/>
                    </a:lnTo>
                    <a:lnTo>
                      <a:pt x="1378" y="1058"/>
                    </a:lnTo>
                    <a:lnTo>
                      <a:pt x="1924" y="1829"/>
                    </a:lnTo>
                    <a:lnTo>
                      <a:pt x="1508" y="1829"/>
                    </a:lnTo>
                    <a:lnTo>
                      <a:pt x="1175" y="1358"/>
                    </a:lnTo>
                    <a:lnTo>
                      <a:pt x="860" y="1829"/>
                    </a:lnTo>
                    <a:lnTo>
                      <a:pt x="440" y="1829"/>
                    </a:lnTo>
                    <a:lnTo>
                      <a:pt x="958" y="1063"/>
                    </a:lnTo>
                    <a:close/>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dirty="0"/>
              </a:p>
            </p:txBody>
          </p:sp>
        </p:grpSp>
      </p:grpSp>
      <p:cxnSp>
        <p:nvCxnSpPr>
          <p:cNvPr id="33" name="直线连接符 32"/>
          <p:cNvCxnSpPr/>
          <p:nvPr userDrawn="1"/>
        </p:nvCxnSpPr>
        <p:spPr>
          <a:xfrm>
            <a:off x="7279051" y="526775"/>
            <a:ext cx="0" cy="503679"/>
          </a:xfrm>
          <a:prstGeom prst="line">
            <a:avLst/>
          </a:prstGeom>
          <a:ln w="127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34" name="组合 33"/>
          <p:cNvGrpSpPr/>
          <p:nvPr userDrawn="1"/>
        </p:nvGrpSpPr>
        <p:grpSpPr>
          <a:xfrm>
            <a:off x="7749100" y="426644"/>
            <a:ext cx="695780" cy="369331"/>
            <a:chOff x="1113126" y="809213"/>
            <a:chExt cx="2133357" cy="523762"/>
          </a:xfrm>
          <a:solidFill>
            <a:schemeClr val="bg1">
              <a:lumMod val="75000"/>
            </a:schemeClr>
          </a:solidFill>
        </p:grpSpPr>
        <p:sp>
          <p:nvSpPr>
            <p:cNvPr id="35" name="椭圆 34"/>
            <p:cNvSpPr/>
            <p:nvPr userDrawn="1"/>
          </p:nvSpPr>
          <p:spPr>
            <a:xfrm>
              <a:off x="1113126"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6" name="椭圆 35"/>
            <p:cNvSpPr/>
            <p:nvPr userDrawn="1"/>
          </p:nvSpPr>
          <p:spPr>
            <a:xfrm>
              <a:off x="1649658"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7" name="椭圆 36"/>
            <p:cNvSpPr/>
            <p:nvPr userDrawn="1"/>
          </p:nvSpPr>
          <p:spPr>
            <a:xfrm>
              <a:off x="2186190"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8" name="椭圆 37"/>
            <p:cNvSpPr/>
            <p:nvPr userDrawn="1"/>
          </p:nvSpPr>
          <p:spPr>
            <a:xfrm>
              <a:off x="2722721" y="809213"/>
              <a:ext cx="523762" cy="5237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grpSp>
      <p:sp>
        <p:nvSpPr>
          <p:cNvPr id="39" name="矩形 38"/>
          <p:cNvSpPr/>
          <p:nvPr userDrawn="1"/>
        </p:nvSpPr>
        <p:spPr>
          <a:xfrm>
            <a:off x="7677941" y="413133"/>
            <a:ext cx="843822" cy="276999"/>
          </a:xfrm>
          <a:prstGeom prst="rect">
            <a:avLst/>
          </a:prstGeom>
          <a:noFill/>
        </p:spPr>
        <p:txBody>
          <a:bodyPr wrap="none" lIns="68580" tIns="34290" rIns="68580" bIns="34290">
            <a:spAutoFit/>
          </a:bodyPr>
          <a:lstStyle/>
          <a:p>
            <a:pPr algn="ctr"/>
            <a:r>
              <a:rPr lang="zh-CN" altLang="en-US" sz="1350" b="1" cap="none" spc="0" dirty="0">
                <a:ln w="22225">
                  <a:noFill/>
                  <a:prstDash val="solid"/>
                </a:ln>
                <a:solidFill>
                  <a:schemeClr val="accent1">
                    <a:lumMod val="60000"/>
                    <a:lumOff val="40000"/>
                  </a:schemeClr>
                </a:solidFill>
                <a:effectLst/>
              </a:rPr>
              <a:t>我的学校</a:t>
            </a:r>
          </a:p>
        </p:txBody>
      </p:sp>
      <p:grpSp>
        <p:nvGrpSpPr>
          <p:cNvPr id="40" name="组合 39"/>
          <p:cNvGrpSpPr/>
          <p:nvPr userDrawn="1"/>
        </p:nvGrpSpPr>
        <p:grpSpPr>
          <a:xfrm>
            <a:off x="536589" y="646397"/>
            <a:ext cx="302279" cy="321898"/>
            <a:chOff x="1368170" y="664579"/>
            <a:chExt cx="550582" cy="439737"/>
          </a:xfrm>
          <a:solidFill>
            <a:schemeClr val="bg1"/>
          </a:solidFill>
        </p:grpSpPr>
        <p:sp>
          <p:nvSpPr>
            <p:cNvPr id="41" name="Freeform 1"/>
            <p:cNvSpPr>
              <a:spLocks noChangeArrowheads="1"/>
            </p:cNvSpPr>
            <p:nvPr/>
          </p:nvSpPr>
          <p:spPr bwMode="auto">
            <a:xfrm>
              <a:off x="1481203" y="771778"/>
              <a:ext cx="437549" cy="332538"/>
            </a:xfrm>
            <a:custGeom>
              <a:avLst/>
              <a:gdLst>
                <a:gd name="T0" fmla="*/ 25 w 2647"/>
                <a:gd name="T1" fmla="*/ 1478 h 2011"/>
                <a:gd name="T2" fmla="*/ 525 w 2647"/>
                <a:gd name="T3" fmla="*/ 1865 h 2011"/>
                <a:gd name="T4" fmla="*/ 736 w 2647"/>
                <a:gd name="T5" fmla="*/ 1972 h 2011"/>
                <a:gd name="T6" fmla="*/ 940 w 2647"/>
                <a:gd name="T7" fmla="*/ 2010 h 2011"/>
                <a:gd name="T8" fmla="*/ 1078 w 2647"/>
                <a:gd name="T9" fmla="*/ 1991 h 2011"/>
                <a:gd name="T10" fmla="*/ 1286 w 2647"/>
                <a:gd name="T11" fmla="*/ 1894 h 2011"/>
                <a:gd name="T12" fmla="*/ 1506 w 2647"/>
                <a:gd name="T13" fmla="*/ 1715 h 2011"/>
                <a:gd name="T14" fmla="*/ 1506 w 2647"/>
                <a:gd name="T15" fmla="*/ 1715 h 2011"/>
                <a:gd name="T16" fmla="*/ 2630 w 2647"/>
                <a:gd name="T17" fmla="*/ 624 h 2011"/>
                <a:gd name="T18" fmla="*/ 2646 w 2647"/>
                <a:gd name="T19" fmla="*/ 586 h 2011"/>
                <a:gd name="T20" fmla="*/ 2630 w 2647"/>
                <a:gd name="T21" fmla="*/ 548 h 2011"/>
                <a:gd name="T22" fmla="*/ 2090 w 2647"/>
                <a:gd name="T23" fmla="*/ 21 h 2011"/>
                <a:gd name="T24" fmla="*/ 2016 w 2647"/>
                <a:gd name="T25" fmla="*/ 22 h 2011"/>
                <a:gd name="T26" fmla="*/ 2017 w 2647"/>
                <a:gd name="T27" fmla="*/ 96 h 2011"/>
                <a:gd name="T28" fmla="*/ 2518 w 2647"/>
                <a:gd name="T29" fmla="*/ 586 h 2011"/>
                <a:gd name="T30" fmla="*/ 1433 w 2647"/>
                <a:gd name="T31" fmla="*/ 1639 h 2011"/>
                <a:gd name="T32" fmla="*/ 1433 w 2647"/>
                <a:gd name="T33" fmla="*/ 1639 h 2011"/>
                <a:gd name="T34" fmla="*/ 1167 w 2647"/>
                <a:gd name="T35" fmla="*/ 1843 h 2011"/>
                <a:gd name="T36" fmla="*/ 1051 w 2647"/>
                <a:gd name="T37" fmla="*/ 1889 h 2011"/>
                <a:gd name="T38" fmla="*/ 940 w 2647"/>
                <a:gd name="T39" fmla="*/ 1904 h 2011"/>
                <a:gd name="T40" fmla="*/ 772 w 2647"/>
                <a:gd name="T41" fmla="*/ 1872 h 2011"/>
                <a:gd name="T42" fmla="*/ 474 w 2647"/>
                <a:gd name="T43" fmla="*/ 1704 h 2011"/>
                <a:gd name="T44" fmla="*/ 93 w 2647"/>
                <a:gd name="T45" fmla="*/ 1398 h 2011"/>
                <a:gd name="T46" fmla="*/ 19 w 2647"/>
                <a:gd name="T47" fmla="*/ 1404 h 2011"/>
                <a:gd name="T48" fmla="*/ 25 w 2647"/>
                <a:gd name="T49" fmla="*/ 1478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47" h="2011">
                  <a:moveTo>
                    <a:pt x="25" y="1478"/>
                  </a:moveTo>
                  <a:cubicBezTo>
                    <a:pt x="219" y="1643"/>
                    <a:pt x="380" y="1773"/>
                    <a:pt x="525" y="1865"/>
                  </a:cubicBezTo>
                  <a:cubicBezTo>
                    <a:pt x="598" y="1911"/>
                    <a:pt x="668" y="1947"/>
                    <a:pt x="736" y="1972"/>
                  </a:cubicBezTo>
                  <a:cubicBezTo>
                    <a:pt x="805" y="1996"/>
                    <a:pt x="872" y="2010"/>
                    <a:pt x="940" y="2010"/>
                  </a:cubicBezTo>
                  <a:cubicBezTo>
                    <a:pt x="986" y="2010"/>
                    <a:pt x="1032" y="2004"/>
                    <a:pt x="1078" y="1991"/>
                  </a:cubicBezTo>
                  <a:cubicBezTo>
                    <a:pt x="1147" y="1973"/>
                    <a:pt x="1216" y="1940"/>
                    <a:pt x="1286" y="1894"/>
                  </a:cubicBezTo>
                  <a:cubicBezTo>
                    <a:pt x="1357" y="1848"/>
                    <a:pt x="1429" y="1789"/>
                    <a:pt x="1506" y="1715"/>
                  </a:cubicBezTo>
                  <a:lnTo>
                    <a:pt x="1506" y="1715"/>
                  </a:lnTo>
                  <a:lnTo>
                    <a:pt x="2630" y="624"/>
                  </a:lnTo>
                  <a:cubicBezTo>
                    <a:pt x="2640" y="614"/>
                    <a:pt x="2646" y="600"/>
                    <a:pt x="2646" y="586"/>
                  </a:cubicBezTo>
                  <a:cubicBezTo>
                    <a:pt x="2646" y="572"/>
                    <a:pt x="2641" y="558"/>
                    <a:pt x="2630" y="548"/>
                  </a:cubicBezTo>
                  <a:lnTo>
                    <a:pt x="2090" y="21"/>
                  </a:lnTo>
                  <a:cubicBezTo>
                    <a:pt x="2069" y="0"/>
                    <a:pt x="2036" y="1"/>
                    <a:pt x="2016" y="22"/>
                  </a:cubicBezTo>
                  <a:cubicBezTo>
                    <a:pt x="1995" y="42"/>
                    <a:pt x="1996" y="76"/>
                    <a:pt x="2017" y="96"/>
                  </a:cubicBezTo>
                  <a:lnTo>
                    <a:pt x="2518" y="586"/>
                  </a:lnTo>
                  <a:lnTo>
                    <a:pt x="1433" y="1639"/>
                  </a:lnTo>
                  <a:lnTo>
                    <a:pt x="1433" y="1639"/>
                  </a:lnTo>
                  <a:cubicBezTo>
                    <a:pt x="1335" y="1733"/>
                    <a:pt x="1247" y="1800"/>
                    <a:pt x="1167" y="1843"/>
                  </a:cubicBezTo>
                  <a:cubicBezTo>
                    <a:pt x="1127" y="1864"/>
                    <a:pt x="1088" y="1879"/>
                    <a:pt x="1051" y="1889"/>
                  </a:cubicBezTo>
                  <a:cubicBezTo>
                    <a:pt x="1013" y="1899"/>
                    <a:pt x="977" y="1904"/>
                    <a:pt x="940" y="1904"/>
                  </a:cubicBezTo>
                  <a:cubicBezTo>
                    <a:pt x="886" y="1904"/>
                    <a:pt x="831" y="1894"/>
                    <a:pt x="772" y="1872"/>
                  </a:cubicBezTo>
                  <a:cubicBezTo>
                    <a:pt x="683" y="1840"/>
                    <a:pt x="586" y="1784"/>
                    <a:pt x="474" y="1704"/>
                  </a:cubicBezTo>
                  <a:cubicBezTo>
                    <a:pt x="363" y="1624"/>
                    <a:pt x="238" y="1521"/>
                    <a:pt x="93" y="1398"/>
                  </a:cubicBezTo>
                  <a:cubicBezTo>
                    <a:pt x="71" y="1379"/>
                    <a:pt x="38" y="1382"/>
                    <a:pt x="19" y="1404"/>
                  </a:cubicBezTo>
                  <a:cubicBezTo>
                    <a:pt x="0" y="1426"/>
                    <a:pt x="3" y="1459"/>
                    <a:pt x="25" y="147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2" name="Freeform 2"/>
            <p:cNvSpPr>
              <a:spLocks noChangeArrowheads="1"/>
            </p:cNvSpPr>
            <p:nvPr/>
          </p:nvSpPr>
          <p:spPr bwMode="auto">
            <a:xfrm>
              <a:off x="1511832" y="868769"/>
              <a:ext cx="356603" cy="190334"/>
            </a:xfrm>
            <a:custGeom>
              <a:avLst/>
              <a:gdLst>
                <a:gd name="T0" fmla="*/ 15 w 2158"/>
                <a:gd name="T1" fmla="*/ 713 h 1152"/>
                <a:gd name="T2" fmla="*/ 432 w 2158"/>
                <a:gd name="T3" fmla="*/ 1033 h 1152"/>
                <a:gd name="T4" fmla="*/ 605 w 2158"/>
                <a:gd name="T5" fmla="*/ 1120 h 1152"/>
                <a:gd name="T6" fmla="*/ 771 w 2158"/>
                <a:gd name="T7" fmla="*/ 1151 h 1152"/>
                <a:gd name="T8" fmla="*/ 896 w 2158"/>
                <a:gd name="T9" fmla="*/ 1132 h 1152"/>
                <a:gd name="T10" fmla="*/ 1089 w 2158"/>
                <a:gd name="T11" fmla="*/ 1036 h 1152"/>
                <a:gd name="T12" fmla="*/ 1305 w 2158"/>
                <a:gd name="T13" fmla="*/ 856 h 1152"/>
                <a:gd name="T14" fmla="*/ 1305 w 2158"/>
                <a:gd name="T15" fmla="*/ 856 h 1152"/>
                <a:gd name="T16" fmla="*/ 2144 w 2158"/>
                <a:gd name="T17" fmla="*/ 57 h 1152"/>
                <a:gd name="T18" fmla="*/ 2145 w 2158"/>
                <a:gd name="T19" fmla="*/ 13 h 1152"/>
                <a:gd name="T20" fmla="*/ 2100 w 2158"/>
                <a:gd name="T21" fmla="*/ 12 h 1152"/>
                <a:gd name="T22" fmla="*/ 1262 w 2158"/>
                <a:gd name="T23" fmla="*/ 811 h 1152"/>
                <a:gd name="T24" fmla="*/ 1262 w 2158"/>
                <a:gd name="T25" fmla="*/ 811 h 1152"/>
                <a:gd name="T26" fmla="*/ 993 w 2158"/>
                <a:gd name="T27" fmla="*/ 1023 h 1152"/>
                <a:gd name="T28" fmla="*/ 878 w 2158"/>
                <a:gd name="T29" fmla="*/ 1072 h 1152"/>
                <a:gd name="T30" fmla="*/ 771 w 2158"/>
                <a:gd name="T31" fmla="*/ 1088 h 1152"/>
                <a:gd name="T32" fmla="*/ 626 w 2158"/>
                <a:gd name="T33" fmla="*/ 1061 h 1152"/>
                <a:gd name="T34" fmla="*/ 376 w 2158"/>
                <a:gd name="T35" fmla="*/ 920 h 1152"/>
                <a:gd name="T36" fmla="*/ 55 w 2158"/>
                <a:gd name="T37" fmla="*/ 665 h 1152"/>
                <a:gd name="T38" fmla="*/ 11 w 2158"/>
                <a:gd name="T39" fmla="*/ 669 h 1152"/>
                <a:gd name="T40" fmla="*/ 15 w 2158"/>
                <a:gd name="T41" fmla="*/ 713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15" y="713"/>
                  </a:moveTo>
                  <a:cubicBezTo>
                    <a:pt x="179" y="850"/>
                    <a:pt x="312" y="958"/>
                    <a:pt x="432" y="1033"/>
                  </a:cubicBezTo>
                  <a:cubicBezTo>
                    <a:pt x="492" y="1071"/>
                    <a:pt x="549" y="1100"/>
                    <a:pt x="605" y="1120"/>
                  </a:cubicBezTo>
                  <a:cubicBezTo>
                    <a:pt x="661" y="1140"/>
                    <a:pt x="716" y="1151"/>
                    <a:pt x="771" y="1151"/>
                  </a:cubicBezTo>
                  <a:cubicBezTo>
                    <a:pt x="812" y="1151"/>
                    <a:pt x="854" y="1145"/>
                    <a:pt x="896" y="1132"/>
                  </a:cubicBezTo>
                  <a:cubicBezTo>
                    <a:pt x="959" y="1114"/>
                    <a:pt x="1022" y="1082"/>
                    <a:pt x="1089" y="1036"/>
                  </a:cubicBezTo>
                  <a:cubicBezTo>
                    <a:pt x="1156" y="990"/>
                    <a:pt x="1227" y="931"/>
                    <a:pt x="1305" y="856"/>
                  </a:cubicBezTo>
                  <a:lnTo>
                    <a:pt x="1305" y="856"/>
                  </a:lnTo>
                  <a:lnTo>
                    <a:pt x="2144" y="57"/>
                  </a:lnTo>
                  <a:cubicBezTo>
                    <a:pt x="2156" y="45"/>
                    <a:pt x="2157" y="25"/>
                    <a:pt x="2145" y="13"/>
                  </a:cubicBezTo>
                  <a:cubicBezTo>
                    <a:pt x="2133" y="0"/>
                    <a:pt x="2113" y="0"/>
                    <a:pt x="2100" y="12"/>
                  </a:cubicBezTo>
                  <a:lnTo>
                    <a:pt x="1262" y="811"/>
                  </a:lnTo>
                  <a:lnTo>
                    <a:pt x="1262" y="811"/>
                  </a:lnTo>
                  <a:cubicBezTo>
                    <a:pt x="1160" y="908"/>
                    <a:pt x="1072" y="978"/>
                    <a:pt x="993" y="1023"/>
                  </a:cubicBezTo>
                  <a:cubicBezTo>
                    <a:pt x="953" y="1045"/>
                    <a:pt x="915" y="1062"/>
                    <a:pt x="878" y="1072"/>
                  </a:cubicBezTo>
                  <a:cubicBezTo>
                    <a:pt x="842" y="1083"/>
                    <a:pt x="806" y="1088"/>
                    <a:pt x="771" y="1088"/>
                  </a:cubicBezTo>
                  <a:cubicBezTo>
                    <a:pt x="724" y="1088"/>
                    <a:pt x="677" y="1079"/>
                    <a:pt x="626" y="1061"/>
                  </a:cubicBezTo>
                  <a:cubicBezTo>
                    <a:pt x="551" y="1034"/>
                    <a:pt x="469" y="987"/>
                    <a:pt x="376" y="920"/>
                  </a:cubicBezTo>
                  <a:cubicBezTo>
                    <a:pt x="282" y="853"/>
                    <a:pt x="177" y="767"/>
                    <a:pt x="55" y="665"/>
                  </a:cubicBezTo>
                  <a:cubicBezTo>
                    <a:pt x="42" y="654"/>
                    <a:pt x="22" y="656"/>
                    <a:pt x="11" y="669"/>
                  </a:cubicBezTo>
                  <a:cubicBezTo>
                    <a:pt x="0" y="682"/>
                    <a:pt x="1" y="702"/>
                    <a:pt x="15" y="713"/>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3" name="Freeform 3"/>
            <p:cNvSpPr>
              <a:spLocks noChangeArrowheads="1"/>
            </p:cNvSpPr>
            <p:nvPr/>
          </p:nvSpPr>
          <p:spPr bwMode="auto">
            <a:xfrm>
              <a:off x="1540273" y="847620"/>
              <a:ext cx="304826" cy="169186"/>
            </a:xfrm>
            <a:custGeom>
              <a:avLst/>
              <a:gdLst>
                <a:gd name="T0" fmla="*/ 12 w 1845"/>
                <a:gd name="T1" fmla="*/ 672 h 1022"/>
                <a:gd name="T2" fmla="*/ 350 w 1845"/>
                <a:gd name="T3" fmla="*/ 928 h 1022"/>
                <a:gd name="T4" fmla="*/ 488 w 1845"/>
                <a:gd name="T5" fmla="*/ 997 h 1022"/>
                <a:gd name="T6" fmla="*/ 620 w 1845"/>
                <a:gd name="T7" fmla="*/ 1021 h 1022"/>
                <a:gd name="T8" fmla="*/ 734 w 1845"/>
                <a:gd name="T9" fmla="*/ 1003 h 1022"/>
                <a:gd name="T10" fmla="*/ 915 w 1845"/>
                <a:gd name="T11" fmla="*/ 905 h 1022"/>
                <a:gd name="T12" fmla="*/ 1129 w 1845"/>
                <a:gd name="T13" fmla="*/ 720 h 1022"/>
                <a:gd name="T14" fmla="*/ 1129 w 1845"/>
                <a:gd name="T15" fmla="*/ 720 h 1022"/>
                <a:gd name="T16" fmla="*/ 1834 w 1845"/>
                <a:gd name="T17" fmla="*/ 42 h 1022"/>
                <a:gd name="T18" fmla="*/ 1835 w 1845"/>
                <a:gd name="T19" fmla="*/ 10 h 1022"/>
                <a:gd name="T20" fmla="*/ 1802 w 1845"/>
                <a:gd name="T21" fmla="*/ 9 h 1022"/>
                <a:gd name="T22" fmla="*/ 1097 w 1845"/>
                <a:gd name="T23" fmla="*/ 687 h 1022"/>
                <a:gd name="T24" fmla="*/ 1097 w 1845"/>
                <a:gd name="T25" fmla="*/ 687 h 1022"/>
                <a:gd name="T26" fmla="*/ 828 w 1845"/>
                <a:gd name="T27" fmla="*/ 907 h 1022"/>
                <a:gd name="T28" fmla="*/ 720 w 1845"/>
                <a:gd name="T29" fmla="*/ 959 h 1022"/>
                <a:gd name="T30" fmla="*/ 620 w 1845"/>
                <a:gd name="T31" fmla="*/ 975 h 1022"/>
                <a:gd name="T32" fmla="*/ 504 w 1845"/>
                <a:gd name="T33" fmla="*/ 954 h 1022"/>
                <a:gd name="T34" fmla="*/ 302 w 1845"/>
                <a:gd name="T35" fmla="*/ 841 h 1022"/>
                <a:gd name="T36" fmla="*/ 41 w 1845"/>
                <a:gd name="T37" fmla="*/ 636 h 1022"/>
                <a:gd name="T38" fmla="*/ 9 w 1845"/>
                <a:gd name="T39" fmla="*/ 640 h 1022"/>
                <a:gd name="T40" fmla="*/ 12 w 1845"/>
                <a:gd name="T41" fmla="*/ 67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5" h="1022">
                  <a:moveTo>
                    <a:pt x="12" y="672"/>
                  </a:moveTo>
                  <a:cubicBezTo>
                    <a:pt x="146" y="782"/>
                    <a:pt x="254" y="868"/>
                    <a:pt x="350" y="928"/>
                  </a:cubicBezTo>
                  <a:cubicBezTo>
                    <a:pt x="398" y="958"/>
                    <a:pt x="444" y="981"/>
                    <a:pt x="488" y="997"/>
                  </a:cubicBezTo>
                  <a:cubicBezTo>
                    <a:pt x="533" y="1013"/>
                    <a:pt x="576" y="1021"/>
                    <a:pt x="620" y="1021"/>
                  </a:cubicBezTo>
                  <a:cubicBezTo>
                    <a:pt x="658" y="1021"/>
                    <a:pt x="695" y="1015"/>
                    <a:pt x="734" y="1003"/>
                  </a:cubicBezTo>
                  <a:cubicBezTo>
                    <a:pt x="791" y="984"/>
                    <a:pt x="850" y="952"/>
                    <a:pt x="915" y="905"/>
                  </a:cubicBezTo>
                  <a:cubicBezTo>
                    <a:pt x="980" y="858"/>
                    <a:pt x="1050" y="797"/>
                    <a:pt x="1129" y="720"/>
                  </a:cubicBezTo>
                  <a:lnTo>
                    <a:pt x="1129" y="720"/>
                  </a:lnTo>
                  <a:lnTo>
                    <a:pt x="1834" y="42"/>
                  </a:lnTo>
                  <a:cubicBezTo>
                    <a:pt x="1843" y="34"/>
                    <a:pt x="1844" y="19"/>
                    <a:pt x="1835" y="10"/>
                  </a:cubicBezTo>
                  <a:cubicBezTo>
                    <a:pt x="1826" y="1"/>
                    <a:pt x="1811" y="0"/>
                    <a:pt x="1802" y="9"/>
                  </a:cubicBezTo>
                  <a:lnTo>
                    <a:pt x="1097" y="687"/>
                  </a:lnTo>
                  <a:lnTo>
                    <a:pt x="1097" y="687"/>
                  </a:lnTo>
                  <a:cubicBezTo>
                    <a:pt x="992" y="788"/>
                    <a:pt x="905" y="861"/>
                    <a:pt x="828" y="907"/>
                  </a:cubicBezTo>
                  <a:cubicBezTo>
                    <a:pt x="790" y="931"/>
                    <a:pt x="754" y="948"/>
                    <a:pt x="720" y="959"/>
                  </a:cubicBezTo>
                  <a:cubicBezTo>
                    <a:pt x="685" y="970"/>
                    <a:pt x="653" y="975"/>
                    <a:pt x="620" y="975"/>
                  </a:cubicBezTo>
                  <a:cubicBezTo>
                    <a:pt x="582" y="975"/>
                    <a:pt x="544" y="968"/>
                    <a:pt x="504" y="954"/>
                  </a:cubicBezTo>
                  <a:cubicBezTo>
                    <a:pt x="443" y="932"/>
                    <a:pt x="378" y="894"/>
                    <a:pt x="302" y="841"/>
                  </a:cubicBezTo>
                  <a:cubicBezTo>
                    <a:pt x="227" y="787"/>
                    <a:pt x="141" y="718"/>
                    <a:pt x="41" y="636"/>
                  </a:cubicBezTo>
                  <a:cubicBezTo>
                    <a:pt x="31" y="628"/>
                    <a:pt x="17" y="630"/>
                    <a:pt x="9" y="640"/>
                  </a:cubicBezTo>
                  <a:cubicBezTo>
                    <a:pt x="0" y="649"/>
                    <a:pt x="2" y="664"/>
                    <a:pt x="12" y="672"/>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4" name="Freeform 4"/>
            <p:cNvSpPr>
              <a:spLocks noChangeArrowheads="1"/>
            </p:cNvSpPr>
            <p:nvPr/>
          </p:nvSpPr>
          <p:spPr bwMode="auto">
            <a:xfrm>
              <a:off x="1568713" y="826472"/>
              <a:ext cx="253050" cy="148037"/>
            </a:xfrm>
            <a:custGeom>
              <a:avLst/>
              <a:gdLst>
                <a:gd name="T0" fmla="*/ 8 w 1531"/>
                <a:gd name="T1" fmla="*/ 630 h 895"/>
                <a:gd name="T2" fmla="*/ 269 w 1531"/>
                <a:gd name="T3" fmla="*/ 824 h 895"/>
                <a:gd name="T4" fmla="*/ 374 w 1531"/>
                <a:gd name="T5" fmla="*/ 876 h 895"/>
                <a:gd name="T6" fmla="*/ 473 w 1531"/>
                <a:gd name="T7" fmla="*/ 894 h 895"/>
                <a:gd name="T8" fmla="*/ 573 w 1531"/>
                <a:gd name="T9" fmla="*/ 875 h 895"/>
                <a:gd name="T10" fmla="*/ 739 w 1531"/>
                <a:gd name="T11" fmla="*/ 775 h 895"/>
                <a:gd name="T12" fmla="*/ 953 w 1531"/>
                <a:gd name="T13" fmla="*/ 584 h 895"/>
                <a:gd name="T14" fmla="*/ 953 w 1531"/>
                <a:gd name="T15" fmla="*/ 584 h 895"/>
                <a:gd name="T16" fmla="*/ 1524 w 1531"/>
                <a:gd name="T17" fmla="*/ 27 h 895"/>
                <a:gd name="T18" fmla="*/ 1524 w 1531"/>
                <a:gd name="T19" fmla="*/ 6 h 895"/>
                <a:gd name="T20" fmla="*/ 1503 w 1531"/>
                <a:gd name="T21" fmla="*/ 6 h 895"/>
                <a:gd name="T22" fmla="*/ 932 w 1531"/>
                <a:gd name="T23" fmla="*/ 563 h 895"/>
                <a:gd name="T24" fmla="*/ 932 w 1531"/>
                <a:gd name="T25" fmla="*/ 563 h 895"/>
                <a:gd name="T26" fmla="*/ 663 w 1531"/>
                <a:gd name="T27" fmla="*/ 793 h 895"/>
                <a:gd name="T28" fmla="*/ 562 w 1531"/>
                <a:gd name="T29" fmla="*/ 847 h 895"/>
                <a:gd name="T30" fmla="*/ 473 w 1531"/>
                <a:gd name="T31" fmla="*/ 865 h 895"/>
                <a:gd name="T32" fmla="*/ 384 w 1531"/>
                <a:gd name="T33" fmla="*/ 848 h 895"/>
                <a:gd name="T34" fmla="*/ 229 w 1531"/>
                <a:gd name="T35" fmla="*/ 762 h 895"/>
                <a:gd name="T36" fmla="*/ 26 w 1531"/>
                <a:gd name="T37" fmla="*/ 607 h 895"/>
                <a:gd name="T38" fmla="*/ 5 w 1531"/>
                <a:gd name="T39" fmla="*/ 609 h 895"/>
                <a:gd name="T40" fmla="*/ 8 w 1531"/>
                <a:gd name="T41" fmla="*/ 63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895">
                  <a:moveTo>
                    <a:pt x="8" y="630"/>
                  </a:moveTo>
                  <a:cubicBezTo>
                    <a:pt x="113" y="714"/>
                    <a:pt x="196" y="779"/>
                    <a:pt x="269" y="824"/>
                  </a:cubicBezTo>
                  <a:cubicBezTo>
                    <a:pt x="306" y="847"/>
                    <a:pt x="340" y="864"/>
                    <a:pt x="374" y="876"/>
                  </a:cubicBezTo>
                  <a:cubicBezTo>
                    <a:pt x="407" y="888"/>
                    <a:pt x="440" y="894"/>
                    <a:pt x="473" y="894"/>
                  </a:cubicBezTo>
                  <a:cubicBezTo>
                    <a:pt x="506" y="894"/>
                    <a:pt x="539" y="888"/>
                    <a:pt x="573" y="875"/>
                  </a:cubicBezTo>
                  <a:cubicBezTo>
                    <a:pt x="624" y="856"/>
                    <a:pt x="678" y="823"/>
                    <a:pt x="739" y="775"/>
                  </a:cubicBezTo>
                  <a:cubicBezTo>
                    <a:pt x="801" y="727"/>
                    <a:pt x="870" y="663"/>
                    <a:pt x="953" y="584"/>
                  </a:cubicBezTo>
                  <a:lnTo>
                    <a:pt x="953" y="584"/>
                  </a:lnTo>
                  <a:lnTo>
                    <a:pt x="1524" y="27"/>
                  </a:lnTo>
                  <a:cubicBezTo>
                    <a:pt x="1529" y="21"/>
                    <a:pt x="1530" y="12"/>
                    <a:pt x="1524" y="6"/>
                  </a:cubicBezTo>
                  <a:cubicBezTo>
                    <a:pt x="1518" y="0"/>
                    <a:pt x="1509" y="0"/>
                    <a:pt x="1503" y="6"/>
                  </a:cubicBezTo>
                  <a:lnTo>
                    <a:pt x="932" y="563"/>
                  </a:lnTo>
                  <a:lnTo>
                    <a:pt x="932" y="563"/>
                  </a:lnTo>
                  <a:cubicBezTo>
                    <a:pt x="823" y="668"/>
                    <a:pt x="737" y="744"/>
                    <a:pt x="663" y="793"/>
                  </a:cubicBezTo>
                  <a:cubicBezTo>
                    <a:pt x="627" y="818"/>
                    <a:pt x="594" y="836"/>
                    <a:pt x="562" y="847"/>
                  </a:cubicBezTo>
                  <a:cubicBezTo>
                    <a:pt x="531" y="859"/>
                    <a:pt x="502" y="865"/>
                    <a:pt x="473" y="865"/>
                  </a:cubicBezTo>
                  <a:cubicBezTo>
                    <a:pt x="444" y="865"/>
                    <a:pt x="415" y="859"/>
                    <a:pt x="384" y="848"/>
                  </a:cubicBezTo>
                  <a:cubicBezTo>
                    <a:pt x="338" y="832"/>
                    <a:pt x="288" y="803"/>
                    <a:pt x="229" y="762"/>
                  </a:cubicBezTo>
                  <a:cubicBezTo>
                    <a:pt x="171" y="722"/>
                    <a:pt x="105" y="669"/>
                    <a:pt x="26" y="607"/>
                  </a:cubicBezTo>
                  <a:cubicBezTo>
                    <a:pt x="20" y="602"/>
                    <a:pt x="10" y="603"/>
                    <a:pt x="5" y="609"/>
                  </a:cubicBezTo>
                  <a:cubicBezTo>
                    <a:pt x="0" y="615"/>
                    <a:pt x="1" y="625"/>
                    <a:pt x="8" y="630"/>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5" name="Freeform 5"/>
            <p:cNvSpPr>
              <a:spLocks noChangeArrowheads="1"/>
            </p:cNvSpPr>
            <p:nvPr/>
          </p:nvSpPr>
          <p:spPr bwMode="auto">
            <a:xfrm>
              <a:off x="1596425" y="805324"/>
              <a:ext cx="201273" cy="127619"/>
            </a:xfrm>
            <a:custGeom>
              <a:avLst/>
              <a:gdLst>
                <a:gd name="T0" fmla="*/ 4 w 1217"/>
                <a:gd name="T1" fmla="*/ 588 h 773"/>
                <a:gd name="T2" fmla="*/ 193 w 1217"/>
                <a:gd name="T3" fmla="*/ 724 h 773"/>
                <a:gd name="T4" fmla="*/ 332 w 1217"/>
                <a:gd name="T5" fmla="*/ 772 h 773"/>
                <a:gd name="T6" fmla="*/ 415 w 1217"/>
                <a:gd name="T7" fmla="*/ 752 h 773"/>
                <a:gd name="T8" fmla="*/ 563 w 1217"/>
                <a:gd name="T9" fmla="*/ 648 h 773"/>
                <a:gd name="T10" fmla="*/ 776 w 1217"/>
                <a:gd name="T11" fmla="*/ 448 h 773"/>
                <a:gd name="T12" fmla="*/ 776 w 1217"/>
                <a:gd name="T13" fmla="*/ 448 h 773"/>
                <a:gd name="T14" fmla="*/ 1213 w 1217"/>
                <a:gd name="T15" fmla="*/ 12 h 773"/>
                <a:gd name="T16" fmla="*/ 1213 w 1217"/>
                <a:gd name="T17" fmla="*/ 2 h 773"/>
                <a:gd name="T18" fmla="*/ 1204 w 1217"/>
                <a:gd name="T19" fmla="*/ 2 h 773"/>
                <a:gd name="T20" fmla="*/ 767 w 1217"/>
                <a:gd name="T21" fmla="*/ 439 h 773"/>
                <a:gd name="T22" fmla="*/ 500 w 1217"/>
                <a:gd name="T23" fmla="*/ 682 h 773"/>
                <a:gd name="T24" fmla="*/ 410 w 1217"/>
                <a:gd name="T25" fmla="*/ 740 h 773"/>
                <a:gd name="T26" fmla="*/ 332 w 1217"/>
                <a:gd name="T27" fmla="*/ 759 h 773"/>
                <a:gd name="T28" fmla="*/ 199 w 1217"/>
                <a:gd name="T29" fmla="*/ 712 h 773"/>
                <a:gd name="T30" fmla="*/ 12 w 1217"/>
                <a:gd name="T31" fmla="*/ 577 h 773"/>
                <a:gd name="T32" fmla="*/ 2 w 1217"/>
                <a:gd name="T33" fmla="*/ 578 h 773"/>
                <a:gd name="T34" fmla="*/ 4 w 1217"/>
                <a:gd name="T35" fmla="*/ 58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4" y="588"/>
                  </a:moveTo>
                  <a:cubicBezTo>
                    <a:pt x="81" y="647"/>
                    <a:pt x="141" y="692"/>
                    <a:pt x="193" y="724"/>
                  </a:cubicBezTo>
                  <a:cubicBezTo>
                    <a:pt x="244" y="755"/>
                    <a:pt x="288" y="772"/>
                    <a:pt x="332" y="772"/>
                  </a:cubicBezTo>
                  <a:cubicBezTo>
                    <a:pt x="359" y="772"/>
                    <a:pt x="386" y="765"/>
                    <a:pt x="415" y="752"/>
                  </a:cubicBezTo>
                  <a:cubicBezTo>
                    <a:pt x="458" y="733"/>
                    <a:pt x="505" y="698"/>
                    <a:pt x="563" y="648"/>
                  </a:cubicBezTo>
                  <a:cubicBezTo>
                    <a:pt x="620" y="597"/>
                    <a:pt x="689" y="531"/>
                    <a:pt x="776" y="448"/>
                  </a:cubicBezTo>
                  <a:lnTo>
                    <a:pt x="776" y="448"/>
                  </a:lnTo>
                  <a:lnTo>
                    <a:pt x="1213" y="12"/>
                  </a:lnTo>
                  <a:cubicBezTo>
                    <a:pt x="1216" y="9"/>
                    <a:pt x="1216" y="5"/>
                    <a:pt x="1213" y="2"/>
                  </a:cubicBezTo>
                  <a:cubicBezTo>
                    <a:pt x="1210" y="0"/>
                    <a:pt x="1206" y="0"/>
                    <a:pt x="1204" y="2"/>
                  </a:cubicBezTo>
                  <a:lnTo>
                    <a:pt x="767" y="439"/>
                  </a:lnTo>
                  <a:cubicBezTo>
                    <a:pt x="651" y="549"/>
                    <a:pt x="568" y="630"/>
                    <a:pt x="500" y="682"/>
                  </a:cubicBezTo>
                  <a:cubicBezTo>
                    <a:pt x="466" y="709"/>
                    <a:pt x="437" y="728"/>
                    <a:pt x="410" y="740"/>
                  </a:cubicBezTo>
                  <a:cubicBezTo>
                    <a:pt x="382" y="753"/>
                    <a:pt x="357" y="759"/>
                    <a:pt x="332" y="759"/>
                  </a:cubicBezTo>
                  <a:cubicBezTo>
                    <a:pt x="291" y="759"/>
                    <a:pt x="250" y="743"/>
                    <a:pt x="199" y="712"/>
                  </a:cubicBezTo>
                  <a:cubicBezTo>
                    <a:pt x="149" y="682"/>
                    <a:pt x="89" y="636"/>
                    <a:pt x="12" y="577"/>
                  </a:cubicBezTo>
                  <a:cubicBezTo>
                    <a:pt x="9" y="575"/>
                    <a:pt x="4" y="575"/>
                    <a:pt x="2" y="578"/>
                  </a:cubicBezTo>
                  <a:cubicBezTo>
                    <a:pt x="0" y="581"/>
                    <a:pt x="1" y="585"/>
                    <a:pt x="4" y="58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6" name="Freeform 6"/>
            <p:cNvSpPr>
              <a:spLocks noChangeArrowheads="1"/>
            </p:cNvSpPr>
            <p:nvPr/>
          </p:nvSpPr>
          <p:spPr bwMode="auto">
            <a:xfrm>
              <a:off x="1368170" y="664579"/>
              <a:ext cx="439737" cy="330350"/>
            </a:xfrm>
            <a:custGeom>
              <a:avLst/>
              <a:gdLst>
                <a:gd name="T0" fmla="*/ 2631 w 2657"/>
                <a:gd name="T1" fmla="*/ 532 h 1998"/>
                <a:gd name="T2" fmla="*/ 2130 w 2657"/>
                <a:gd name="T3" fmla="*/ 145 h 1998"/>
                <a:gd name="T4" fmla="*/ 1920 w 2657"/>
                <a:gd name="T5" fmla="*/ 38 h 1998"/>
                <a:gd name="T6" fmla="*/ 1715 w 2657"/>
                <a:gd name="T7" fmla="*/ 0 h 1998"/>
                <a:gd name="T8" fmla="*/ 1578 w 2657"/>
                <a:gd name="T9" fmla="*/ 19 h 1998"/>
                <a:gd name="T10" fmla="*/ 1370 w 2657"/>
                <a:gd name="T11" fmla="*/ 116 h 1998"/>
                <a:gd name="T12" fmla="*/ 1150 w 2657"/>
                <a:gd name="T13" fmla="*/ 295 h 1998"/>
                <a:gd name="T14" fmla="*/ 1150 w 2657"/>
                <a:gd name="T15" fmla="*/ 295 h 1998"/>
                <a:gd name="T16" fmla="*/ 16 w 2657"/>
                <a:gd name="T17" fmla="*/ 1368 h 1998"/>
                <a:gd name="T18" fmla="*/ 0 w 2657"/>
                <a:gd name="T19" fmla="*/ 1406 h 1998"/>
                <a:gd name="T20" fmla="*/ 16 w 2657"/>
                <a:gd name="T21" fmla="*/ 1444 h 1998"/>
                <a:gd name="T22" fmla="*/ 566 w 2657"/>
                <a:gd name="T23" fmla="*/ 1977 h 1998"/>
                <a:gd name="T24" fmla="*/ 640 w 2657"/>
                <a:gd name="T25" fmla="*/ 1976 h 1998"/>
                <a:gd name="T26" fmla="*/ 639 w 2657"/>
                <a:gd name="T27" fmla="*/ 1901 h 1998"/>
                <a:gd name="T28" fmla="*/ 129 w 2657"/>
                <a:gd name="T29" fmla="*/ 1406 h 1998"/>
                <a:gd name="T30" fmla="*/ 1223 w 2657"/>
                <a:gd name="T31" fmla="*/ 371 h 1998"/>
                <a:gd name="T32" fmla="*/ 1223 w 2657"/>
                <a:gd name="T33" fmla="*/ 371 h 1998"/>
                <a:gd name="T34" fmla="*/ 1489 w 2657"/>
                <a:gd name="T35" fmla="*/ 167 h 1998"/>
                <a:gd name="T36" fmla="*/ 1605 w 2657"/>
                <a:gd name="T37" fmla="*/ 121 h 1998"/>
                <a:gd name="T38" fmla="*/ 1715 w 2657"/>
                <a:gd name="T39" fmla="*/ 106 h 1998"/>
                <a:gd name="T40" fmla="*/ 1884 w 2657"/>
                <a:gd name="T41" fmla="*/ 138 h 1998"/>
                <a:gd name="T42" fmla="*/ 2181 w 2657"/>
                <a:gd name="T43" fmla="*/ 306 h 1998"/>
                <a:gd name="T44" fmla="*/ 2562 w 2657"/>
                <a:gd name="T45" fmla="*/ 612 h 1998"/>
                <a:gd name="T46" fmla="*/ 2637 w 2657"/>
                <a:gd name="T47" fmla="*/ 606 h 1998"/>
                <a:gd name="T48" fmla="*/ 2631 w 2657"/>
                <a:gd name="T49" fmla="*/ 53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57" h="1998">
                  <a:moveTo>
                    <a:pt x="2631" y="532"/>
                  </a:moveTo>
                  <a:cubicBezTo>
                    <a:pt x="2437" y="367"/>
                    <a:pt x="2276" y="237"/>
                    <a:pt x="2130" y="145"/>
                  </a:cubicBezTo>
                  <a:cubicBezTo>
                    <a:pt x="2058" y="99"/>
                    <a:pt x="1988" y="63"/>
                    <a:pt x="1920" y="38"/>
                  </a:cubicBezTo>
                  <a:cubicBezTo>
                    <a:pt x="1851" y="14"/>
                    <a:pt x="1783" y="0"/>
                    <a:pt x="1715" y="0"/>
                  </a:cubicBezTo>
                  <a:cubicBezTo>
                    <a:pt x="1669" y="0"/>
                    <a:pt x="1623" y="6"/>
                    <a:pt x="1578" y="19"/>
                  </a:cubicBezTo>
                  <a:cubicBezTo>
                    <a:pt x="1509" y="37"/>
                    <a:pt x="1440" y="70"/>
                    <a:pt x="1370" y="116"/>
                  </a:cubicBezTo>
                  <a:cubicBezTo>
                    <a:pt x="1299" y="162"/>
                    <a:pt x="1227" y="221"/>
                    <a:pt x="1150" y="295"/>
                  </a:cubicBezTo>
                  <a:lnTo>
                    <a:pt x="1150" y="295"/>
                  </a:lnTo>
                  <a:lnTo>
                    <a:pt x="16" y="1368"/>
                  </a:lnTo>
                  <a:cubicBezTo>
                    <a:pt x="6" y="1378"/>
                    <a:pt x="0" y="1391"/>
                    <a:pt x="0" y="1406"/>
                  </a:cubicBezTo>
                  <a:cubicBezTo>
                    <a:pt x="0" y="1420"/>
                    <a:pt x="6" y="1434"/>
                    <a:pt x="16" y="1444"/>
                  </a:cubicBezTo>
                  <a:lnTo>
                    <a:pt x="566" y="1977"/>
                  </a:lnTo>
                  <a:cubicBezTo>
                    <a:pt x="587" y="1997"/>
                    <a:pt x="619" y="1997"/>
                    <a:pt x="640" y="1976"/>
                  </a:cubicBezTo>
                  <a:cubicBezTo>
                    <a:pt x="660" y="1955"/>
                    <a:pt x="660" y="1921"/>
                    <a:pt x="639" y="1901"/>
                  </a:cubicBezTo>
                  <a:lnTo>
                    <a:pt x="129" y="1406"/>
                  </a:lnTo>
                  <a:lnTo>
                    <a:pt x="1223" y="371"/>
                  </a:lnTo>
                  <a:lnTo>
                    <a:pt x="1223" y="371"/>
                  </a:lnTo>
                  <a:cubicBezTo>
                    <a:pt x="1321" y="277"/>
                    <a:pt x="1409" y="210"/>
                    <a:pt x="1489" y="167"/>
                  </a:cubicBezTo>
                  <a:cubicBezTo>
                    <a:pt x="1529" y="146"/>
                    <a:pt x="1568" y="131"/>
                    <a:pt x="1605" y="121"/>
                  </a:cubicBezTo>
                  <a:cubicBezTo>
                    <a:pt x="1642" y="111"/>
                    <a:pt x="1679" y="106"/>
                    <a:pt x="1715" y="106"/>
                  </a:cubicBezTo>
                  <a:cubicBezTo>
                    <a:pt x="1770" y="106"/>
                    <a:pt x="1825" y="116"/>
                    <a:pt x="1884" y="138"/>
                  </a:cubicBezTo>
                  <a:cubicBezTo>
                    <a:pt x="1972" y="170"/>
                    <a:pt x="2070" y="226"/>
                    <a:pt x="2181" y="306"/>
                  </a:cubicBezTo>
                  <a:cubicBezTo>
                    <a:pt x="2293" y="387"/>
                    <a:pt x="2418" y="490"/>
                    <a:pt x="2562" y="612"/>
                  </a:cubicBezTo>
                  <a:cubicBezTo>
                    <a:pt x="2585" y="631"/>
                    <a:pt x="2618" y="628"/>
                    <a:pt x="2637" y="606"/>
                  </a:cubicBezTo>
                  <a:cubicBezTo>
                    <a:pt x="2656" y="584"/>
                    <a:pt x="2653" y="551"/>
                    <a:pt x="2631" y="532"/>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7" name="Freeform 7"/>
            <p:cNvSpPr>
              <a:spLocks noChangeArrowheads="1"/>
            </p:cNvSpPr>
            <p:nvPr/>
          </p:nvSpPr>
          <p:spPr bwMode="auto">
            <a:xfrm>
              <a:off x="1419946" y="709792"/>
              <a:ext cx="356603" cy="190334"/>
            </a:xfrm>
            <a:custGeom>
              <a:avLst/>
              <a:gdLst>
                <a:gd name="T0" fmla="*/ 2142 w 2158"/>
                <a:gd name="T1" fmla="*/ 438 h 1152"/>
                <a:gd name="T2" fmla="*/ 1725 w 2158"/>
                <a:gd name="T3" fmla="*/ 118 h 1152"/>
                <a:gd name="T4" fmla="*/ 1552 w 2158"/>
                <a:gd name="T5" fmla="*/ 31 h 1152"/>
                <a:gd name="T6" fmla="*/ 1386 w 2158"/>
                <a:gd name="T7" fmla="*/ 0 h 1152"/>
                <a:gd name="T8" fmla="*/ 1261 w 2158"/>
                <a:gd name="T9" fmla="*/ 19 h 1152"/>
                <a:gd name="T10" fmla="*/ 1068 w 2158"/>
                <a:gd name="T11" fmla="*/ 115 h 1152"/>
                <a:gd name="T12" fmla="*/ 852 w 2158"/>
                <a:gd name="T13" fmla="*/ 295 h 1152"/>
                <a:gd name="T14" fmla="*/ 852 w 2158"/>
                <a:gd name="T15" fmla="*/ 295 h 1152"/>
                <a:gd name="T16" fmla="*/ 13 w 2158"/>
                <a:gd name="T17" fmla="*/ 1094 h 1152"/>
                <a:gd name="T18" fmla="*/ 12 w 2158"/>
                <a:gd name="T19" fmla="*/ 1138 h 1152"/>
                <a:gd name="T20" fmla="*/ 56 w 2158"/>
                <a:gd name="T21" fmla="*/ 1139 h 1152"/>
                <a:gd name="T22" fmla="*/ 895 w 2158"/>
                <a:gd name="T23" fmla="*/ 340 h 1152"/>
                <a:gd name="T24" fmla="*/ 895 w 2158"/>
                <a:gd name="T25" fmla="*/ 340 h 1152"/>
                <a:gd name="T26" fmla="*/ 1164 w 2158"/>
                <a:gd name="T27" fmla="*/ 128 h 1152"/>
                <a:gd name="T28" fmla="*/ 1279 w 2158"/>
                <a:gd name="T29" fmla="*/ 79 h 1152"/>
                <a:gd name="T30" fmla="*/ 1386 w 2158"/>
                <a:gd name="T31" fmla="*/ 63 h 1152"/>
                <a:gd name="T32" fmla="*/ 1531 w 2158"/>
                <a:gd name="T33" fmla="*/ 90 h 1152"/>
                <a:gd name="T34" fmla="*/ 1781 w 2158"/>
                <a:gd name="T35" fmla="*/ 231 h 1152"/>
                <a:gd name="T36" fmla="*/ 2102 w 2158"/>
                <a:gd name="T37" fmla="*/ 486 h 1152"/>
                <a:gd name="T38" fmla="*/ 2146 w 2158"/>
                <a:gd name="T39" fmla="*/ 482 h 1152"/>
                <a:gd name="T40" fmla="*/ 2142 w 2158"/>
                <a:gd name="T41" fmla="*/ 438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8" h="1152">
                  <a:moveTo>
                    <a:pt x="2142" y="438"/>
                  </a:moveTo>
                  <a:cubicBezTo>
                    <a:pt x="1978" y="301"/>
                    <a:pt x="1845" y="193"/>
                    <a:pt x="1725" y="118"/>
                  </a:cubicBezTo>
                  <a:cubicBezTo>
                    <a:pt x="1664" y="80"/>
                    <a:pt x="1608" y="51"/>
                    <a:pt x="1552" y="31"/>
                  </a:cubicBezTo>
                  <a:cubicBezTo>
                    <a:pt x="1496" y="11"/>
                    <a:pt x="1441" y="0"/>
                    <a:pt x="1386" y="0"/>
                  </a:cubicBezTo>
                  <a:cubicBezTo>
                    <a:pt x="1344" y="0"/>
                    <a:pt x="1303" y="6"/>
                    <a:pt x="1261" y="19"/>
                  </a:cubicBezTo>
                  <a:cubicBezTo>
                    <a:pt x="1198" y="37"/>
                    <a:pt x="1135" y="69"/>
                    <a:pt x="1068" y="115"/>
                  </a:cubicBezTo>
                  <a:cubicBezTo>
                    <a:pt x="1000" y="161"/>
                    <a:pt x="930" y="220"/>
                    <a:pt x="852" y="295"/>
                  </a:cubicBezTo>
                  <a:lnTo>
                    <a:pt x="852" y="295"/>
                  </a:lnTo>
                  <a:lnTo>
                    <a:pt x="13" y="1094"/>
                  </a:lnTo>
                  <a:cubicBezTo>
                    <a:pt x="1" y="1106"/>
                    <a:pt x="0" y="1126"/>
                    <a:pt x="12" y="1138"/>
                  </a:cubicBezTo>
                  <a:cubicBezTo>
                    <a:pt x="24" y="1151"/>
                    <a:pt x="44" y="1151"/>
                    <a:pt x="56" y="1139"/>
                  </a:cubicBezTo>
                  <a:lnTo>
                    <a:pt x="895" y="340"/>
                  </a:lnTo>
                  <a:lnTo>
                    <a:pt x="895" y="340"/>
                  </a:lnTo>
                  <a:cubicBezTo>
                    <a:pt x="997" y="243"/>
                    <a:pt x="1085" y="173"/>
                    <a:pt x="1164" y="128"/>
                  </a:cubicBezTo>
                  <a:cubicBezTo>
                    <a:pt x="1204" y="106"/>
                    <a:pt x="1242" y="89"/>
                    <a:pt x="1279" y="79"/>
                  </a:cubicBezTo>
                  <a:cubicBezTo>
                    <a:pt x="1315" y="68"/>
                    <a:pt x="1351" y="63"/>
                    <a:pt x="1386" y="63"/>
                  </a:cubicBezTo>
                  <a:cubicBezTo>
                    <a:pt x="1433" y="63"/>
                    <a:pt x="1480" y="72"/>
                    <a:pt x="1531" y="90"/>
                  </a:cubicBezTo>
                  <a:cubicBezTo>
                    <a:pt x="1606" y="117"/>
                    <a:pt x="1688" y="164"/>
                    <a:pt x="1781" y="231"/>
                  </a:cubicBezTo>
                  <a:cubicBezTo>
                    <a:pt x="1874" y="298"/>
                    <a:pt x="1979" y="384"/>
                    <a:pt x="2102" y="486"/>
                  </a:cubicBezTo>
                  <a:cubicBezTo>
                    <a:pt x="2115" y="497"/>
                    <a:pt x="2135" y="495"/>
                    <a:pt x="2146" y="482"/>
                  </a:cubicBezTo>
                  <a:cubicBezTo>
                    <a:pt x="2157" y="469"/>
                    <a:pt x="2155" y="449"/>
                    <a:pt x="2142" y="438"/>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8" name="Freeform 8"/>
            <p:cNvSpPr>
              <a:spLocks noChangeArrowheads="1"/>
            </p:cNvSpPr>
            <p:nvPr/>
          </p:nvSpPr>
          <p:spPr bwMode="auto">
            <a:xfrm>
              <a:off x="1444012" y="752818"/>
              <a:ext cx="304826" cy="169186"/>
            </a:xfrm>
            <a:custGeom>
              <a:avLst/>
              <a:gdLst>
                <a:gd name="T0" fmla="*/ 1832 w 1844"/>
                <a:gd name="T1" fmla="*/ 349 h 1021"/>
                <a:gd name="T2" fmla="*/ 1494 w 1844"/>
                <a:gd name="T3" fmla="*/ 93 h 1021"/>
                <a:gd name="T4" fmla="*/ 1356 w 1844"/>
                <a:gd name="T5" fmla="*/ 24 h 1021"/>
                <a:gd name="T6" fmla="*/ 1224 w 1844"/>
                <a:gd name="T7" fmla="*/ 0 h 1021"/>
                <a:gd name="T8" fmla="*/ 1110 w 1844"/>
                <a:gd name="T9" fmla="*/ 18 h 1021"/>
                <a:gd name="T10" fmla="*/ 929 w 1844"/>
                <a:gd name="T11" fmla="*/ 116 h 1021"/>
                <a:gd name="T12" fmla="*/ 715 w 1844"/>
                <a:gd name="T13" fmla="*/ 301 h 1021"/>
                <a:gd name="T14" fmla="*/ 714 w 1844"/>
                <a:gd name="T15" fmla="*/ 301 h 1021"/>
                <a:gd name="T16" fmla="*/ 10 w 1844"/>
                <a:gd name="T17" fmla="*/ 978 h 1021"/>
                <a:gd name="T18" fmla="*/ 9 w 1844"/>
                <a:gd name="T19" fmla="*/ 1011 h 1021"/>
                <a:gd name="T20" fmla="*/ 42 w 1844"/>
                <a:gd name="T21" fmla="*/ 1012 h 1021"/>
                <a:gd name="T22" fmla="*/ 746 w 1844"/>
                <a:gd name="T23" fmla="*/ 334 h 1021"/>
                <a:gd name="T24" fmla="*/ 746 w 1844"/>
                <a:gd name="T25" fmla="*/ 334 h 1021"/>
                <a:gd name="T26" fmla="*/ 1016 w 1844"/>
                <a:gd name="T27" fmla="*/ 114 h 1021"/>
                <a:gd name="T28" fmla="*/ 1124 w 1844"/>
                <a:gd name="T29" fmla="*/ 62 h 1021"/>
                <a:gd name="T30" fmla="*/ 1224 w 1844"/>
                <a:gd name="T31" fmla="*/ 46 h 1021"/>
                <a:gd name="T32" fmla="*/ 1340 w 1844"/>
                <a:gd name="T33" fmla="*/ 67 h 1021"/>
                <a:gd name="T34" fmla="*/ 1542 w 1844"/>
                <a:gd name="T35" fmla="*/ 180 h 1021"/>
                <a:gd name="T36" fmla="*/ 1803 w 1844"/>
                <a:gd name="T37" fmla="*/ 385 h 1021"/>
                <a:gd name="T38" fmla="*/ 1835 w 1844"/>
                <a:gd name="T39" fmla="*/ 381 h 1021"/>
                <a:gd name="T40" fmla="*/ 1832 w 1844"/>
                <a:gd name="T41" fmla="*/ 349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4" h="1021">
                  <a:moveTo>
                    <a:pt x="1832" y="349"/>
                  </a:moveTo>
                  <a:cubicBezTo>
                    <a:pt x="1698" y="239"/>
                    <a:pt x="1590" y="153"/>
                    <a:pt x="1494" y="93"/>
                  </a:cubicBezTo>
                  <a:cubicBezTo>
                    <a:pt x="1446" y="63"/>
                    <a:pt x="1400" y="40"/>
                    <a:pt x="1356" y="24"/>
                  </a:cubicBezTo>
                  <a:cubicBezTo>
                    <a:pt x="1311" y="8"/>
                    <a:pt x="1268" y="0"/>
                    <a:pt x="1224" y="0"/>
                  </a:cubicBezTo>
                  <a:cubicBezTo>
                    <a:pt x="1186" y="0"/>
                    <a:pt x="1148" y="6"/>
                    <a:pt x="1110" y="18"/>
                  </a:cubicBezTo>
                  <a:cubicBezTo>
                    <a:pt x="1052" y="37"/>
                    <a:pt x="993" y="69"/>
                    <a:pt x="929" y="116"/>
                  </a:cubicBezTo>
                  <a:cubicBezTo>
                    <a:pt x="864" y="163"/>
                    <a:pt x="794" y="224"/>
                    <a:pt x="715" y="301"/>
                  </a:cubicBezTo>
                  <a:lnTo>
                    <a:pt x="714" y="301"/>
                  </a:lnTo>
                  <a:lnTo>
                    <a:pt x="10" y="978"/>
                  </a:lnTo>
                  <a:cubicBezTo>
                    <a:pt x="1" y="987"/>
                    <a:pt x="0" y="1002"/>
                    <a:pt x="9" y="1011"/>
                  </a:cubicBezTo>
                  <a:cubicBezTo>
                    <a:pt x="18" y="1020"/>
                    <a:pt x="33" y="1020"/>
                    <a:pt x="42" y="1012"/>
                  </a:cubicBezTo>
                  <a:lnTo>
                    <a:pt x="746" y="334"/>
                  </a:lnTo>
                  <a:lnTo>
                    <a:pt x="746" y="334"/>
                  </a:lnTo>
                  <a:cubicBezTo>
                    <a:pt x="851" y="233"/>
                    <a:pt x="939" y="160"/>
                    <a:pt x="1016" y="114"/>
                  </a:cubicBezTo>
                  <a:cubicBezTo>
                    <a:pt x="1054" y="90"/>
                    <a:pt x="1090" y="73"/>
                    <a:pt x="1124" y="62"/>
                  </a:cubicBezTo>
                  <a:cubicBezTo>
                    <a:pt x="1159" y="51"/>
                    <a:pt x="1191" y="46"/>
                    <a:pt x="1224" y="46"/>
                  </a:cubicBezTo>
                  <a:cubicBezTo>
                    <a:pt x="1262" y="46"/>
                    <a:pt x="1300" y="53"/>
                    <a:pt x="1340" y="67"/>
                  </a:cubicBezTo>
                  <a:cubicBezTo>
                    <a:pt x="1401" y="89"/>
                    <a:pt x="1466" y="127"/>
                    <a:pt x="1542" y="180"/>
                  </a:cubicBezTo>
                  <a:cubicBezTo>
                    <a:pt x="1617" y="234"/>
                    <a:pt x="1702" y="303"/>
                    <a:pt x="1803" y="385"/>
                  </a:cubicBezTo>
                  <a:cubicBezTo>
                    <a:pt x="1813" y="393"/>
                    <a:pt x="1827" y="391"/>
                    <a:pt x="1835" y="381"/>
                  </a:cubicBezTo>
                  <a:cubicBezTo>
                    <a:pt x="1843" y="372"/>
                    <a:pt x="1842" y="357"/>
                    <a:pt x="1832" y="349"/>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49" name="Freeform 9"/>
            <p:cNvSpPr>
              <a:spLocks noChangeArrowheads="1"/>
            </p:cNvSpPr>
            <p:nvPr/>
          </p:nvSpPr>
          <p:spPr bwMode="auto">
            <a:xfrm>
              <a:off x="1467348" y="795114"/>
              <a:ext cx="253049" cy="148038"/>
            </a:xfrm>
            <a:custGeom>
              <a:avLst/>
              <a:gdLst>
                <a:gd name="T0" fmla="*/ 1522 w 1530"/>
                <a:gd name="T1" fmla="*/ 264 h 895"/>
                <a:gd name="T2" fmla="*/ 1260 w 1530"/>
                <a:gd name="T3" fmla="*/ 70 h 895"/>
                <a:gd name="T4" fmla="*/ 1156 w 1530"/>
                <a:gd name="T5" fmla="*/ 18 h 895"/>
                <a:gd name="T6" fmla="*/ 1057 w 1530"/>
                <a:gd name="T7" fmla="*/ 0 h 895"/>
                <a:gd name="T8" fmla="*/ 957 w 1530"/>
                <a:gd name="T9" fmla="*/ 19 h 895"/>
                <a:gd name="T10" fmla="*/ 791 w 1530"/>
                <a:gd name="T11" fmla="*/ 119 h 895"/>
                <a:gd name="T12" fmla="*/ 577 w 1530"/>
                <a:gd name="T13" fmla="*/ 310 h 895"/>
                <a:gd name="T14" fmla="*/ 577 w 1530"/>
                <a:gd name="T15" fmla="*/ 310 h 895"/>
                <a:gd name="T16" fmla="*/ 6 w 1530"/>
                <a:gd name="T17" fmla="*/ 867 h 895"/>
                <a:gd name="T18" fmla="*/ 6 w 1530"/>
                <a:gd name="T19" fmla="*/ 888 h 895"/>
                <a:gd name="T20" fmla="*/ 27 w 1530"/>
                <a:gd name="T21" fmla="*/ 888 h 895"/>
                <a:gd name="T22" fmla="*/ 598 w 1530"/>
                <a:gd name="T23" fmla="*/ 331 h 895"/>
                <a:gd name="T24" fmla="*/ 598 w 1530"/>
                <a:gd name="T25" fmla="*/ 331 h 895"/>
                <a:gd name="T26" fmla="*/ 866 w 1530"/>
                <a:gd name="T27" fmla="*/ 101 h 895"/>
                <a:gd name="T28" fmla="*/ 968 w 1530"/>
                <a:gd name="T29" fmla="*/ 47 h 895"/>
                <a:gd name="T30" fmla="*/ 1057 w 1530"/>
                <a:gd name="T31" fmla="*/ 29 h 895"/>
                <a:gd name="T32" fmla="*/ 1146 w 1530"/>
                <a:gd name="T33" fmla="*/ 46 h 895"/>
                <a:gd name="T34" fmla="*/ 1300 w 1530"/>
                <a:gd name="T35" fmla="*/ 132 h 895"/>
                <a:gd name="T36" fmla="*/ 1504 w 1530"/>
                <a:gd name="T37" fmla="*/ 287 h 895"/>
                <a:gd name="T38" fmla="*/ 1524 w 1530"/>
                <a:gd name="T39" fmla="*/ 285 h 895"/>
                <a:gd name="T40" fmla="*/ 1522 w 1530"/>
                <a:gd name="T41" fmla="*/ 2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0" h="895">
                  <a:moveTo>
                    <a:pt x="1522" y="264"/>
                  </a:moveTo>
                  <a:cubicBezTo>
                    <a:pt x="1417" y="180"/>
                    <a:pt x="1334" y="115"/>
                    <a:pt x="1260" y="70"/>
                  </a:cubicBezTo>
                  <a:cubicBezTo>
                    <a:pt x="1224" y="47"/>
                    <a:pt x="1189" y="30"/>
                    <a:pt x="1156" y="18"/>
                  </a:cubicBezTo>
                  <a:cubicBezTo>
                    <a:pt x="1123" y="6"/>
                    <a:pt x="1090" y="0"/>
                    <a:pt x="1057" y="0"/>
                  </a:cubicBezTo>
                  <a:cubicBezTo>
                    <a:pt x="1024" y="0"/>
                    <a:pt x="991" y="6"/>
                    <a:pt x="957" y="19"/>
                  </a:cubicBezTo>
                  <a:cubicBezTo>
                    <a:pt x="906" y="38"/>
                    <a:pt x="852" y="71"/>
                    <a:pt x="791" y="119"/>
                  </a:cubicBezTo>
                  <a:cubicBezTo>
                    <a:pt x="729" y="167"/>
                    <a:pt x="660" y="231"/>
                    <a:pt x="577" y="310"/>
                  </a:cubicBezTo>
                  <a:lnTo>
                    <a:pt x="577" y="310"/>
                  </a:lnTo>
                  <a:lnTo>
                    <a:pt x="6" y="867"/>
                  </a:lnTo>
                  <a:cubicBezTo>
                    <a:pt x="0" y="873"/>
                    <a:pt x="0" y="882"/>
                    <a:pt x="6" y="888"/>
                  </a:cubicBezTo>
                  <a:cubicBezTo>
                    <a:pt x="12" y="894"/>
                    <a:pt x="21" y="894"/>
                    <a:pt x="27" y="888"/>
                  </a:cubicBezTo>
                  <a:lnTo>
                    <a:pt x="598" y="331"/>
                  </a:lnTo>
                  <a:lnTo>
                    <a:pt x="598" y="331"/>
                  </a:lnTo>
                  <a:cubicBezTo>
                    <a:pt x="707" y="226"/>
                    <a:pt x="793" y="150"/>
                    <a:pt x="866" y="101"/>
                  </a:cubicBezTo>
                  <a:cubicBezTo>
                    <a:pt x="903" y="76"/>
                    <a:pt x="936" y="58"/>
                    <a:pt x="968" y="47"/>
                  </a:cubicBezTo>
                  <a:cubicBezTo>
                    <a:pt x="999" y="35"/>
                    <a:pt x="1028" y="29"/>
                    <a:pt x="1057" y="29"/>
                  </a:cubicBezTo>
                  <a:cubicBezTo>
                    <a:pt x="1086" y="29"/>
                    <a:pt x="1115" y="35"/>
                    <a:pt x="1146" y="46"/>
                  </a:cubicBezTo>
                  <a:cubicBezTo>
                    <a:pt x="1192" y="62"/>
                    <a:pt x="1242" y="91"/>
                    <a:pt x="1300" y="132"/>
                  </a:cubicBezTo>
                  <a:cubicBezTo>
                    <a:pt x="1359" y="172"/>
                    <a:pt x="1425" y="225"/>
                    <a:pt x="1504" y="287"/>
                  </a:cubicBezTo>
                  <a:cubicBezTo>
                    <a:pt x="1510" y="292"/>
                    <a:pt x="1518" y="291"/>
                    <a:pt x="1524" y="285"/>
                  </a:cubicBezTo>
                  <a:cubicBezTo>
                    <a:pt x="1529" y="279"/>
                    <a:pt x="1528" y="269"/>
                    <a:pt x="1522" y="264"/>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0" name="Freeform 10"/>
            <p:cNvSpPr>
              <a:spLocks noChangeArrowheads="1"/>
            </p:cNvSpPr>
            <p:nvPr/>
          </p:nvSpPr>
          <p:spPr bwMode="auto">
            <a:xfrm>
              <a:off x="1491413" y="835952"/>
              <a:ext cx="201273" cy="127619"/>
            </a:xfrm>
            <a:custGeom>
              <a:avLst/>
              <a:gdLst>
                <a:gd name="T0" fmla="*/ 1212 w 1217"/>
                <a:gd name="T1" fmla="*/ 184 h 773"/>
                <a:gd name="T2" fmla="*/ 1023 w 1217"/>
                <a:gd name="T3" fmla="*/ 48 h 773"/>
                <a:gd name="T4" fmla="*/ 884 w 1217"/>
                <a:gd name="T5" fmla="*/ 0 h 773"/>
                <a:gd name="T6" fmla="*/ 801 w 1217"/>
                <a:gd name="T7" fmla="*/ 20 h 773"/>
                <a:gd name="T8" fmla="*/ 653 w 1217"/>
                <a:gd name="T9" fmla="*/ 124 h 773"/>
                <a:gd name="T10" fmla="*/ 440 w 1217"/>
                <a:gd name="T11" fmla="*/ 324 h 773"/>
                <a:gd name="T12" fmla="*/ 440 w 1217"/>
                <a:gd name="T13" fmla="*/ 324 h 773"/>
                <a:gd name="T14" fmla="*/ 3 w 1217"/>
                <a:gd name="T15" fmla="*/ 760 h 773"/>
                <a:gd name="T16" fmla="*/ 3 w 1217"/>
                <a:gd name="T17" fmla="*/ 770 h 773"/>
                <a:gd name="T18" fmla="*/ 12 w 1217"/>
                <a:gd name="T19" fmla="*/ 770 h 773"/>
                <a:gd name="T20" fmla="*/ 449 w 1217"/>
                <a:gd name="T21" fmla="*/ 333 h 773"/>
                <a:gd name="T22" fmla="*/ 716 w 1217"/>
                <a:gd name="T23" fmla="*/ 90 h 773"/>
                <a:gd name="T24" fmla="*/ 806 w 1217"/>
                <a:gd name="T25" fmla="*/ 32 h 773"/>
                <a:gd name="T26" fmla="*/ 884 w 1217"/>
                <a:gd name="T27" fmla="*/ 13 h 773"/>
                <a:gd name="T28" fmla="*/ 1016 w 1217"/>
                <a:gd name="T29" fmla="*/ 60 h 773"/>
                <a:gd name="T30" fmla="*/ 1204 w 1217"/>
                <a:gd name="T31" fmla="*/ 195 h 773"/>
                <a:gd name="T32" fmla="*/ 1214 w 1217"/>
                <a:gd name="T33" fmla="*/ 194 h 773"/>
                <a:gd name="T34" fmla="*/ 1212 w 1217"/>
                <a:gd name="T35" fmla="*/ 184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7" h="773">
                  <a:moveTo>
                    <a:pt x="1212" y="184"/>
                  </a:moveTo>
                  <a:cubicBezTo>
                    <a:pt x="1135" y="125"/>
                    <a:pt x="1075" y="80"/>
                    <a:pt x="1023" y="48"/>
                  </a:cubicBezTo>
                  <a:cubicBezTo>
                    <a:pt x="971" y="17"/>
                    <a:pt x="928" y="0"/>
                    <a:pt x="884" y="0"/>
                  </a:cubicBezTo>
                  <a:cubicBezTo>
                    <a:pt x="856" y="0"/>
                    <a:pt x="829" y="7"/>
                    <a:pt x="801" y="20"/>
                  </a:cubicBezTo>
                  <a:cubicBezTo>
                    <a:pt x="758" y="39"/>
                    <a:pt x="711" y="74"/>
                    <a:pt x="653" y="124"/>
                  </a:cubicBezTo>
                  <a:cubicBezTo>
                    <a:pt x="595" y="175"/>
                    <a:pt x="527" y="241"/>
                    <a:pt x="440" y="324"/>
                  </a:cubicBezTo>
                  <a:lnTo>
                    <a:pt x="440" y="324"/>
                  </a:lnTo>
                  <a:lnTo>
                    <a:pt x="3" y="760"/>
                  </a:lnTo>
                  <a:cubicBezTo>
                    <a:pt x="0" y="763"/>
                    <a:pt x="0" y="767"/>
                    <a:pt x="3" y="770"/>
                  </a:cubicBezTo>
                  <a:cubicBezTo>
                    <a:pt x="5" y="772"/>
                    <a:pt x="10" y="772"/>
                    <a:pt x="12" y="770"/>
                  </a:cubicBezTo>
                  <a:lnTo>
                    <a:pt x="449" y="333"/>
                  </a:lnTo>
                  <a:cubicBezTo>
                    <a:pt x="565" y="223"/>
                    <a:pt x="648" y="142"/>
                    <a:pt x="716" y="90"/>
                  </a:cubicBezTo>
                  <a:cubicBezTo>
                    <a:pt x="749" y="63"/>
                    <a:pt x="778" y="44"/>
                    <a:pt x="806" y="32"/>
                  </a:cubicBezTo>
                  <a:cubicBezTo>
                    <a:pt x="833" y="19"/>
                    <a:pt x="859" y="13"/>
                    <a:pt x="884" y="13"/>
                  </a:cubicBezTo>
                  <a:cubicBezTo>
                    <a:pt x="924" y="13"/>
                    <a:pt x="966" y="29"/>
                    <a:pt x="1016" y="60"/>
                  </a:cubicBezTo>
                  <a:cubicBezTo>
                    <a:pt x="1067" y="90"/>
                    <a:pt x="1127" y="136"/>
                    <a:pt x="1204" y="195"/>
                  </a:cubicBezTo>
                  <a:cubicBezTo>
                    <a:pt x="1207" y="197"/>
                    <a:pt x="1211" y="197"/>
                    <a:pt x="1214" y="194"/>
                  </a:cubicBezTo>
                  <a:cubicBezTo>
                    <a:pt x="1216" y="191"/>
                    <a:pt x="1215" y="187"/>
                    <a:pt x="1212" y="184"/>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51" name="Freeform 11"/>
            <p:cNvSpPr>
              <a:spLocks noChangeArrowheads="1"/>
            </p:cNvSpPr>
            <p:nvPr/>
          </p:nvSpPr>
          <p:spPr bwMode="auto">
            <a:xfrm>
              <a:off x="1608093" y="858559"/>
              <a:ext cx="72925" cy="48130"/>
            </a:xfrm>
            <a:custGeom>
              <a:avLst/>
              <a:gdLst>
                <a:gd name="T0" fmla="*/ 49 w 442"/>
                <a:gd name="T1" fmla="*/ 200 h 293"/>
                <a:gd name="T2" fmla="*/ 0 w 442"/>
                <a:gd name="T3" fmla="*/ 156 h 293"/>
                <a:gd name="T4" fmla="*/ 45 w 442"/>
                <a:gd name="T5" fmla="*/ 107 h 293"/>
                <a:gd name="T6" fmla="*/ 392 w 442"/>
                <a:gd name="T7" fmla="*/ 91 h 293"/>
                <a:gd name="T8" fmla="*/ 441 w 442"/>
                <a:gd name="T9" fmla="*/ 137 h 293"/>
                <a:gd name="T10" fmla="*/ 396 w 442"/>
                <a:gd name="T11" fmla="*/ 185 h 293"/>
                <a:gd name="T12" fmla="*/ 49 w 442"/>
                <a:gd name="T13" fmla="*/ 200 h 293"/>
              </a:gdLst>
              <a:ahLst/>
              <a:cxnLst>
                <a:cxn ang="0">
                  <a:pos x="T0" y="T1"/>
                </a:cxn>
                <a:cxn ang="0">
                  <a:pos x="T2" y="T3"/>
                </a:cxn>
                <a:cxn ang="0">
                  <a:pos x="T4" y="T5"/>
                </a:cxn>
                <a:cxn ang="0">
                  <a:pos x="T6" y="T7"/>
                </a:cxn>
                <a:cxn ang="0">
                  <a:pos x="T8" y="T9"/>
                </a:cxn>
                <a:cxn ang="0">
                  <a:pos x="T10" y="T11"/>
                </a:cxn>
                <a:cxn ang="0">
                  <a:pos x="T12" y="T13"/>
                </a:cxn>
              </a:cxnLst>
              <a:rect l="0" t="0" r="r" b="b"/>
              <a:pathLst>
                <a:path w="442" h="293">
                  <a:moveTo>
                    <a:pt x="49" y="200"/>
                  </a:moveTo>
                  <a:lnTo>
                    <a:pt x="0" y="156"/>
                  </a:lnTo>
                  <a:lnTo>
                    <a:pt x="45" y="107"/>
                  </a:lnTo>
                  <a:cubicBezTo>
                    <a:pt x="136" y="7"/>
                    <a:pt x="292" y="0"/>
                    <a:pt x="392" y="91"/>
                  </a:cubicBezTo>
                  <a:lnTo>
                    <a:pt x="441" y="137"/>
                  </a:lnTo>
                  <a:lnTo>
                    <a:pt x="396" y="185"/>
                  </a:lnTo>
                  <a:cubicBezTo>
                    <a:pt x="304" y="285"/>
                    <a:pt x="149" y="292"/>
                    <a:pt x="49" y="200"/>
                  </a:cubicBezTo>
                </a:path>
              </a:pathLst>
            </a:custGeom>
            <a:grpFill/>
            <a:ln>
              <a:noFill/>
            </a:ln>
            <a:effectLst/>
            <a:extLst>
              <a:ext uri="{91240B29-F687-4F45-9708-019B960494DF}">
                <a14:hiddenLine xmlns:a14="http://schemas.microsoft.com/office/drawing/2010/main" w="9525">
                  <a:solidFill>
                    <a:srgbClr val="808080"/>
                  </a:solidFill>
                  <a:bevel/>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theme" Target="../theme/theme2.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2.xml"/><Relationship Id="rId3" Type="http://schemas.openxmlformats.org/officeDocument/2006/relationships/slideLayout" Target="../slideLayouts/slideLayout27.xml"/><Relationship Id="rId7" Type="http://schemas.openxmlformats.org/officeDocument/2006/relationships/slideLayout" Target="../slideLayouts/slideLayout31.xml"/><Relationship Id="rId12" Type="http://schemas.openxmlformats.org/officeDocument/2006/relationships/theme" Target="../theme/theme3.xml"/><Relationship Id="rId2" Type="http://schemas.openxmlformats.org/officeDocument/2006/relationships/slideLayout" Target="../slideLayouts/slideLayout26.xml"/><Relationship Id="rId1" Type="http://schemas.openxmlformats.org/officeDocument/2006/relationships/slideLayout" Target="../slideLayouts/slideLayout25.xml"/><Relationship Id="rId6" Type="http://schemas.openxmlformats.org/officeDocument/2006/relationships/slideLayout" Target="../slideLayouts/slideLayout30.xml"/><Relationship Id="rId11" Type="http://schemas.openxmlformats.org/officeDocument/2006/relationships/slideLayout" Target="../slideLayouts/slideLayout35.xml"/><Relationship Id="rId5" Type="http://schemas.openxmlformats.org/officeDocument/2006/relationships/slideLayout" Target="../slideLayouts/slideLayout29.xml"/><Relationship Id="rId10" Type="http://schemas.openxmlformats.org/officeDocument/2006/relationships/slideLayout" Target="../slideLayouts/slideLayout34.xml"/><Relationship Id="rId4" Type="http://schemas.openxmlformats.org/officeDocument/2006/relationships/slideLayout" Target="../slideLayouts/slideLayout28.xml"/><Relationship Id="rId9" Type="http://schemas.openxmlformats.org/officeDocument/2006/relationships/slideLayout" Target="../slideLayouts/slideLayout33.xm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38.xml"/><Relationship Id="rId2" Type="http://schemas.openxmlformats.org/officeDocument/2006/relationships/slideLayout" Target="../slideLayouts/slideLayout37.xml"/><Relationship Id="rId1" Type="http://schemas.openxmlformats.org/officeDocument/2006/relationships/slideLayout" Target="../slideLayouts/slideLayout36.xml"/><Relationship Id="rId4" Type="http://schemas.openxmlformats.org/officeDocument/2006/relationships/theme" Target="../theme/theme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533400" y="228600"/>
            <a:ext cx="7772400" cy="1143000"/>
          </a:xfrm>
          <a:prstGeom prst="rect">
            <a:avLst/>
          </a:prstGeom>
          <a:noFill/>
          <a:ln>
            <a:noFill/>
          </a:ln>
        </p:spPr>
        <p:txBody>
          <a:bodyPr vert="horz" wrap="square" lIns="91440" tIns="45720" rIns="91440" bIns="45720" numCol="1" anchor="ctr" anchorCtr="0" compatLnSpc="1"/>
          <a:lstStyle/>
          <a:p>
            <a:pPr lvl="0"/>
            <a:r>
              <a:rPr lang="en-US"/>
              <a:t>Click to edit Master title style</a:t>
            </a:r>
          </a:p>
        </p:txBody>
      </p:sp>
      <p:sp>
        <p:nvSpPr>
          <p:cNvPr id="1027" name="Rectangle 3"/>
          <p:cNvSpPr>
            <a:spLocks noGrp="1" noChangeArrowheads="1"/>
          </p:cNvSpPr>
          <p:nvPr>
            <p:ph type="body" idx="1"/>
          </p:nvPr>
        </p:nvSpPr>
        <p:spPr bwMode="auto">
          <a:xfrm>
            <a:off x="533400" y="1600200"/>
            <a:ext cx="7772400" cy="4648200"/>
          </a:xfrm>
          <a:prstGeom prst="rect">
            <a:avLst/>
          </a:prstGeom>
          <a:noFill/>
          <a:ln>
            <a:noFill/>
          </a:ln>
        </p:spPr>
        <p:txBody>
          <a:bodyPr vert="horz" wrap="square" lIns="91440" tIns="45720" rIns="91440" bIns="45720" numCol="1" anchor="t" anchorCtr="0" compatLnSpc="1"/>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ln>
          <a:effectLst/>
        </p:spPr>
        <p:txBody>
          <a:bodyPr vert="horz" wrap="square" lIns="91440" tIns="45720" rIns="91440" bIns="45720" numCol="1" anchor="t" anchorCtr="0" compatLnSpc="1"/>
          <a:lstStyle>
            <a:lvl1pPr>
              <a:defRPr sz="1400">
                <a:latin typeface="Times New Roman" panose="02020503050405090304" charset="0"/>
              </a:defRPr>
            </a:lvl1pPr>
          </a:lstStyle>
          <a:p>
            <a:pPr>
              <a:defRPr/>
            </a:pPr>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hf hdr="0" dt="0"/>
  <p:txStyles>
    <p:titleStyle>
      <a:lvl1pPr algn="l" rtl="0" eaLnBrk="0" fontAlgn="base" hangingPunct="0">
        <a:spcBef>
          <a:spcPct val="0"/>
        </a:spcBef>
        <a:spcAft>
          <a:spcPct val="0"/>
        </a:spcAft>
        <a:defRPr sz="4400">
          <a:solidFill>
            <a:srgbClr val="000099"/>
          </a:solidFill>
          <a:latin typeface="+mj-lt"/>
          <a:ea typeface="MS PGothic" charset="0"/>
          <a:cs typeface="MS PGothic" charset="0"/>
        </a:defRPr>
      </a:lvl1pPr>
      <a:lvl2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2pPr>
      <a:lvl3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3pPr>
      <a:lvl4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4pPr>
      <a:lvl5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5pPr>
      <a:lvl6pPr marL="457200" algn="l" rtl="0" eaLnBrk="0" fontAlgn="base" hangingPunct="0">
        <a:spcBef>
          <a:spcPct val="0"/>
        </a:spcBef>
        <a:spcAft>
          <a:spcPct val="0"/>
        </a:spcAft>
        <a:defRPr sz="4400">
          <a:solidFill>
            <a:srgbClr val="000099"/>
          </a:solidFill>
          <a:latin typeface="Gill Sans MT" pitchFamily="34" charset="0"/>
        </a:defRPr>
      </a:lvl6pPr>
      <a:lvl7pPr marL="914400" algn="l" rtl="0" eaLnBrk="0" fontAlgn="base" hangingPunct="0">
        <a:spcBef>
          <a:spcPct val="0"/>
        </a:spcBef>
        <a:spcAft>
          <a:spcPct val="0"/>
        </a:spcAft>
        <a:defRPr sz="4400">
          <a:solidFill>
            <a:srgbClr val="000099"/>
          </a:solidFill>
          <a:latin typeface="Gill Sans MT" pitchFamily="34" charset="0"/>
        </a:defRPr>
      </a:lvl7pPr>
      <a:lvl8pPr marL="1371600" algn="l" rtl="0" eaLnBrk="0" fontAlgn="base" hangingPunct="0">
        <a:spcBef>
          <a:spcPct val="0"/>
        </a:spcBef>
        <a:spcAft>
          <a:spcPct val="0"/>
        </a:spcAft>
        <a:defRPr sz="4400">
          <a:solidFill>
            <a:srgbClr val="000099"/>
          </a:solidFill>
          <a:latin typeface="Gill Sans MT" pitchFamily="34" charset="0"/>
        </a:defRPr>
      </a:lvl8pPr>
      <a:lvl9pPr marL="1828800" algn="l" rtl="0" eaLnBrk="0" fontAlgn="base" hangingPunct="0">
        <a:spcBef>
          <a:spcPct val="0"/>
        </a:spcBef>
        <a:spcAft>
          <a:spcPct val="0"/>
        </a:spcAft>
        <a:defRPr sz="4400">
          <a:solidFill>
            <a:srgbClr val="000099"/>
          </a:solidFill>
          <a:latin typeface="Gill Sans MT" pitchFamily="34" charset="0"/>
        </a:defRPr>
      </a:lvl9pPr>
    </p:titleStyle>
    <p:body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5334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lstStyle/>
          <a:p>
            <a:pPr lvl="0"/>
            <a:r>
              <a:rPr lang="en-US" altLang="zh-CN"/>
              <a:t>Click to edit Master title style</a:t>
            </a:r>
          </a:p>
        </p:txBody>
      </p:sp>
      <p:sp>
        <p:nvSpPr>
          <p:cNvPr id="1027" name="Rectangle 3"/>
          <p:cNvSpPr>
            <a:spLocks noGrp="1" noChangeArrowheads="1"/>
          </p:cNvSpPr>
          <p:nvPr>
            <p:ph type="body" idx="1"/>
          </p:nvPr>
        </p:nvSpPr>
        <p:spPr bwMode="auto">
          <a:xfrm>
            <a:off x="533400" y="1600200"/>
            <a:ext cx="77724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ln>
          <a:effectLst/>
        </p:spPr>
        <p:txBody>
          <a:bodyPr vert="horz" wrap="square" lIns="91440" tIns="45720" rIns="91440" bIns="45720" numCol="1" anchor="t" anchorCtr="0" compatLnSpc="1"/>
          <a:lstStyle>
            <a:lvl1pPr>
              <a:defRPr sz="1400">
                <a:latin typeface="Times New Roman" panose="02020503050405090304" charset="0"/>
                <a:ea typeface="宋体" pitchFamily="2" charset="-122"/>
                <a:cs typeface="+mn-cs"/>
              </a:defRPr>
            </a:lvl1pPr>
          </a:lstStyle>
          <a:p>
            <a:pPr>
              <a:defRPr/>
            </a:pPr>
            <a:endParaRPr lang="en-US" altLang="zh-CN"/>
          </a:p>
        </p:txBody>
      </p:sp>
      <p:sp>
        <p:nvSpPr>
          <p:cNvPr id="1029" name="Rectangle 5"/>
          <p:cNvSpPr>
            <a:spLocks noGrp="1" noChangeArrowheads="1"/>
          </p:cNvSpPr>
          <p:nvPr>
            <p:ph type="ftr" sz="quarter" idx="3"/>
          </p:nvPr>
        </p:nvSpPr>
        <p:spPr bwMode="auto">
          <a:xfrm>
            <a:off x="5510213" y="6508750"/>
            <a:ext cx="2895600" cy="371475"/>
          </a:xfrm>
          <a:prstGeom prst="rect">
            <a:avLst/>
          </a:prstGeom>
          <a:noFill/>
          <a:ln w="9525">
            <a:noFill/>
            <a:miter lim="800000"/>
          </a:ln>
          <a:effectLst/>
        </p:spPr>
        <p:txBody>
          <a:bodyPr vert="horz" wrap="square" lIns="91440" tIns="45720" rIns="91440" bIns="45720" numCol="1" anchor="t" anchorCtr="0" compatLnSpc="1"/>
          <a:lstStyle>
            <a:lvl1pPr algn="r">
              <a:defRPr sz="1200">
                <a:latin typeface="Arial" panose="020B0604020202090204" pitchFamily="34" charset="0"/>
                <a:ea typeface="宋体" pitchFamily="2" charset="-122"/>
                <a:cs typeface="+mn-cs"/>
              </a:defRPr>
            </a:lvl1pPr>
          </a:lstStyle>
          <a:p>
            <a:pPr>
              <a:defRPr/>
            </a:pPr>
            <a:r>
              <a:rPr lang="en-US" altLang="zh-CN"/>
              <a:t>Network Layer</a:t>
            </a:r>
          </a:p>
        </p:txBody>
      </p:sp>
      <p:sp>
        <p:nvSpPr>
          <p:cNvPr id="1030" name="Rectangle 6"/>
          <p:cNvSpPr>
            <a:spLocks noGrp="1" noChangeArrowheads="1"/>
          </p:cNvSpPr>
          <p:nvPr>
            <p:ph type="sldNum" sz="quarter" idx="4"/>
          </p:nvPr>
        </p:nvSpPr>
        <p:spPr bwMode="auto">
          <a:xfrm>
            <a:off x="8162925" y="6507163"/>
            <a:ext cx="676275" cy="350837"/>
          </a:xfrm>
          <a:prstGeom prst="rect">
            <a:avLst/>
          </a:prstGeom>
          <a:noFill/>
          <a:ln w="9525">
            <a:noFill/>
            <a:miter lim="800000"/>
          </a:ln>
          <a:effectLst/>
        </p:spPr>
        <p:txBody>
          <a:bodyPr vert="horz" wrap="square" lIns="91440" tIns="45720" rIns="91440" bIns="45720" numCol="1" anchor="t" anchorCtr="0" compatLnSpc="1"/>
          <a:lstStyle>
            <a:lvl1pPr algn="r">
              <a:defRPr sz="1200">
                <a:latin typeface="Arial" panose="020B0604020202090204" pitchFamily="34" charset="0"/>
              </a:defRPr>
            </a:lvl1pPr>
          </a:lstStyle>
          <a:p>
            <a:pPr>
              <a:defRPr/>
            </a:pPr>
            <a:r>
              <a:rPr lang="en-US" altLang="zh-CN"/>
              <a:t>4-</a:t>
            </a:r>
            <a:fld id="{0BE966F7-3BA8-0D4B-AAA4-959DA7EB2061}" type="slidenum">
              <a:rPr lang="en-US" altLang="zh-CN" smtClean="0"/>
              <a:t>‹#›</a:t>
            </a:fld>
            <a:endParaRPr lang="en-US" altLang="zh-CN"/>
          </a:p>
        </p:txBody>
      </p:sp>
    </p:spTree>
  </p:cSld>
  <p:clrMap bg1="lt1" tx1="dk1" bg2="lt2" tx2="dk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 id="2147483673" r:id="rId12"/>
  </p:sldLayoutIdLst>
  <p:hf hdr="0" dt="0"/>
  <p:txStyles>
    <p:titleStyle>
      <a:lvl1pPr algn="l" rtl="0" eaLnBrk="0" fontAlgn="base" hangingPunct="0">
        <a:spcBef>
          <a:spcPct val="0"/>
        </a:spcBef>
        <a:spcAft>
          <a:spcPct val="0"/>
        </a:spcAft>
        <a:defRPr sz="4000" u="sng">
          <a:solidFill>
            <a:srgbClr val="000099"/>
          </a:solidFill>
          <a:latin typeface="+mj-lt"/>
          <a:ea typeface="宋体" charset="0"/>
          <a:cs typeface="宋体" charset="0"/>
        </a:defRPr>
      </a:lvl1pPr>
      <a:lvl2pPr algn="l" rtl="0" eaLnBrk="0" fontAlgn="base" hangingPunct="0">
        <a:spcBef>
          <a:spcPct val="0"/>
        </a:spcBef>
        <a:spcAft>
          <a:spcPct val="0"/>
        </a:spcAft>
        <a:defRPr sz="4000" u="sng">
          <a:solidFill>
            <a:srgbClr val="000099"/>
          </a:solidFill>
          <a:latin typeface="Comic Sans MS" panose="030F0902030302020204" pitchFamily="66" charset="0"/>
          <a:ea typeface="宋体" charset="0"/>
          <a:cs typeface="宋体" charset="0"/>
        </a:defRPr>
      </a:lvl2pPr>
      <a:lvl3pPr algn="l" rtl="0" eaLnBrk="0" fontAlgn="base" hangingPunct="0">
        <a:spcBef>
          <a:spcPct val="0"/>
        </a:spcBef>
        <a:spcAft>
          <a:spcPct val="0"/>
        </a:spcAft>
        <a:defRPr sz="4000" u="sng">
          <a:solidFill>
            <a:srgbClr val="000099"/>
          </a:solidFill>
          <a:latin typeface="Comic Sans MS" panose="030F0902030302020204" pitchFamily="66" charset="0"/>
          <a:ea typeface="宋体" charset="0"/>
          <a:cs typeface="宋体" charset="0"/>
        </a:defRPr>
      </a:lvl3pPr>
      <a:lvl4pPr algn="l" rtl="0" eaLnBrk="0" fontAlgn="base" hangingPunct="0">
        <a:spcBef>
          <a:spcPct val="0"/>
        </a:spcBef>
        <a:spcAft>
          <a:spcPct val="0"/>
        </a:spcAft>
        <a:defRPr sz="4000" u="sng">
          <a:solidFill>
            <a:srgbClr val="000099"/>
          </a:solidFill>
          <a:latin typeface="Comic Sans MS" panose="030F0902030302020204" pitchFamily="66" charset="0"/>
          <a:ea typeface="宋体" charset="0"/>
          <a:cs typeface="宋体" charset="0"/>
        </a:defRPr>
      </a:lvl4pPr>
      <a:lvl5pPr algn="l" rtl="0" eaLnBrk="0" fontAlgn="base" hangingPunct="0">
        <a:spcBef>
          <a:spcPct val="0"/>
        </a:spcBef>
        <a:spcAft>
          <a:spcPct val="0"/>
        </a:spcAft>
        <a:defRPr sz="4000" u="sng">
          <a:solidFill>
            <a:srgbClr val="000099"/>
          </a:solidFill>
          <a:latin typeface="Comic Sans MS" panose="030F0902030302020204" pitchFamily="66" charset="0"/>
          <a:ea typeface="宋体" charset="0"/>
          <a:cs typeface="宋体" charset="0"/>
        </a:defRPr>
      </a:lvl5pPr>
      <a:lvl6pPr marL="457200" algn="l" rtl="0" eaLnBrk="0" fontAlgn="base" hangingPunct="0">
        <a:spcBef>
          <a:spcPct val="0"/>
        </a:spcBef>
        <a:spcAft>
          <a:spcPct val="0"/>
        </a:spcAft>
        <a:defRPr sz="4000" u="sng">
          <a:solidFill>
            <a:srgbClr val="000099"/>
          </a:solidFill>
          <a:latin typeface="Comic Sans MS" panose="030F0902030302020204" pitchFamily="66" charset="0"/>
        </a:defRPr>
      </a:lvl6pPr>
      <a:lvl7pPr marL="914400" algn="l" rtl="0" eaLnBrk="0" fontAlgn="base" hangingPunct="0">
        <a:spcBef>
          <a:spcPct val="0"/>
        </a:spcBef>
        <a:spcAft>
          <a:spcPct val="0"/>
        </a:spcAft>
        <a:defRPr sz="4000" u="sng">
          <a:solidFill>
            <a:srgbClr val="000099"/>
          </a:solidFill>
          <a:latin typeface="Comic Sans MS" panose="030F0902030302020204" pitchFamily="66" charset="0"/>
        </a:defRPr>
      </a:lvl7pPr>
      <a:lvl8pPr marL="1371600" algn="l" rtl="0" eaLnBrk="0" fontAlgn="base" hangingPunct="0">
        <a:spcBef>
          <a:spcPct val="0"/>
        </a:spcBef>
        <a:spcAft>
          <a:spcPct val="0"/>
        </a:spcAft>
        <a:defRPr sz="4000" u="sng">
          <a:solidFill>
            <a:srgbClr val="000099"/>
          </a:solidFill>
          <a:latin typeface="Comic Sans MS" panose="030F0902030302020204" pitchFamily="66" charset="0"/>
        </a:defRPr>
      </a:lvl8pPr>
      <a:lvl9pPr marL="1828800" algn="l" rtl="0" eaLnBrk="0" fontAlgn="base" hangingPunct="0">
        <a:spcBef>
          <a:spcPct val="0"/>
        </a:spcBef>
        <a:spcAft>
          <a:spcPct val="0"/>
        </a:spcAft>
        <a:defRPr sz="4000" u="sng">
          <a:solidFill>
            <a:srgbClr val="000099"/>
          </a:solidFill>
          <a:latin typeface="Comic Sans MS" panose="030F0902030302020204" pitchFamily="66" charset="0"/>
        </a:defRPr>
      </a:lvl9pPr>
    </p:titleStyle>
    <p:body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宋体" charset="0"/>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宋体" charset="0"/>
        </a:defRPr>
      </a:lvl2pPr>
      <a:lvl3pPr marL="1143000" indent="-228600" algn="l" rtl="0" eaLnBrk="0" fontAlgn="base" hangingPunct="0">
        <a:spcBef>
          <a:spcPct val="20000"/>
        </a:spcBef>
        <a:spcAft>
          <a:spcPct val="0"/>
        </a:spcAft>
        <a:buChar char="•"/>
        <a:defRPr kumimoji="1" sz="2000">
          <a:solidFill>
            <a:schemeClr val="tx1"/>
          </a:solidFill>
          <a:latin typeface="+mn-lt"/>
          <a:ea typeface="宋体" charset="0"/>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宋体"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2"/>
          <p:cNvSpPr>
            <a:spLocks noGrp="1" noChangeArrowheads="1"/>
          </p:cNvSpPr>
          <p:nvPr>
            <p:ph type="title"/>
          </p:nvPr>
        </p:nvSpPr>
        <p:spPr bwMode="auto">
          <a:xfrm>
            <a:off x="5334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lstStyle/>
          <a:p>
            <a:pPr lvl="0"/>
            <a:r>
              <a:rPr lang="en-US" altLang="zh-CN"/>
              <a:t>Click to edit Master title style</a:t>
            </a:r>
          </a:p>
        </p:txBody>
      </p:sp>
      <p:sp>
        <p:nvSpPr>
          <p:cNvPr id="14339" name="Rectangle 3"/>
          <p:cNvSpPr>
            <a:spLocks noGrp="1" noChangeArrowheads="1"/>
          </p:cNvSpPr>
          <p:nvPr>
            <p:ph type="body" idx="1"/>
          </p:nvPr>
        </p:nvSpPr>
        <p:spPr bwMode="auto">
          <a:xfrm>
            <a:off x="533400" y="1600200"/>
            <a:ext cx="77724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p>
        </p:txBody>
      </p:sp>
      <p:sp>
        <p:nvSpPr>
          <p:cNvPr id="708612" name="Rectangle 4"/>
          <p:cNvSpPr>
            <a:spLocks noGrp="1" noChangeArrowheads="1"/>
          </p:cNvSpPr>
          <p:nvPr>
            <p:ph type="dt" sz="half" idx="2"/>
          </p:nvPr>
        </p:nvSpPr>
        <p:spPr bwMode="auto">
          <a:xfrm>
            <a:off x="685800" y="6248400"/>
            <a:ext cx="1905000" cy="457200"/>
          </a:xfrm>
          <a:prstGeom prst="rect">
            <a:avLst/>
          </a:prstGeom>
          <a:noFill/>
          <a:ln w="9525">
            <a:noFill/>
            <a:miter lim="800000"/>
          </a:ln>
          <a:effectLst/>
        </p:spPr>
        <p:txBody>
          <a:bodyPr vert="horz" wrap="square" lIns="91440" tIns="45720" rIns="91440" bIns="45720" numCol="1" anchor="t" anchorCtr="0" compatLnSpc="1"/>
          <a:lstStyle>
            <a:lvl1pPr>
              <a:defRPr sz="1400">
                <a:latin typeface="Times New Roman" panose="02020503050405090304" charset="0"/>
                <a:ea typeface="宋体" pitchFamily="2" charset="-122"/>
                <a:cs typeface="+mn-cs"/>
              </a:defRPr>
            </a:lvl1pPr>
          </a:lstStyle>
          <a:p>
            <a:pPr>
              <a:defRPr/>
            </a:pPr>
            <a:endParaRPr lang="en-US" altLang="zh-CN"/>
          </a:p>
        </p:txBody>
      </p:sp>
      <p:sp>
        <p:nvSpPr>
          <p:cNvPr id="708613" name="Rectangle 5"/>
          <p:cNvSpPr>
            <a:spLocks noGrp="1" noChangeArrowheads="1"/>
          </p:cNvSpPr>
          <p:nvPr>
            <p:ph type="ftr" sz="quarter" idx="3"/>
          </p:nvPr>
        </p:nvSpPr>
        <p:spPr bwMode="auto">
          <a:xfrm>
            <a:off x="5510213" y="6508750"/>
            <a:ext cx="2895600" cy="371475"/>
          </a:xfrm>
          <a:prstGeom prst="rect">
            <a:avLst/>
          </a:prstGeom>
          <a:noFill/>
          <a:ln w="9525">
            <a:noFill/>
            <a:miter lim="800000"/>
          </a:ln>
          <a:effectLst/>
        </p:spPr>
        <p:txBody>
          <a:bodyPr vert="horz" wrap="square" lIns="91440" tIns="45720" rIns="91440" bIns="45720" numCol="1" anchor="t" anchorCtr="0" compatLnSpc="1"/>
          <a:lstStyle>
            <a:lvl1pPr algn="r">
              <a:defRPr sz="1200">
                <a:latin typeface="Arial" panose="020B0604020202090204" pitchFamily="34" charset="0"/>
                <a:ea typeface="宋体" pitchFamily="2" charset="-122"/>
                <a:cs typeface="+mn-cs"/>
              </a:defRPr>
            </a:lvl1pPr>
          </a:lstStyle>
          <a:p>
            <a:pPr>
              <a:defRPr/>
            </a:pPr>
            <a:r>
              <a:rPr lang="en-US" altLang="zh-CN"/>
              <a:t>Network Layer</a:t>
            </a:r>
          </a:p>
        </p:txBody>
      </p:sp>
      <p:sp>
        <p:nvSpPr>
          <p:cNvPr id="708614" name="Rectangle 6"/>
          <p:cNvSpPr>
            <a:spLocks noGrp="1" noChangeArrowheads="1"/>
          </p:cNvSpPr>
          <p:nvPr>
            <p:ph type="sldNum" sz="quarter" idx="4"/>
          </p:nvPr>
        </p:nvSpPr>
        <p:spPr bwMode="auto">
          <a:xfrm>
            <a:off x="8162925" y="6507163"/>
            <a:ext cx="676275" cy="350837"/>
          </a:xfrm>
          <a:prstGeom prst="rect">
            <a:avLst/>
          </a:prstGeom>
          <a:noFill/>
          <a:ln w="9525">
            <a:noFill/>
            <a:miter lim="800000"/>
          </a:ln>
          <a:effectLst/>
        </p:spPr>
        <p:txBody>
          <a:bodyPr vert="horz" wrap="square" lIns="91440" tIns="45720" rIns="91440" bIns="45720" numCol="1" anchor="t" anchorCtr="0" compatLnSpc="1"/>
          <a:lstStyle>
            <a:lvl1pPr algn="r">
              <a:defRPr sz="1200">
                <a:latin typeface="Arial" panose="020B0604020202090204" pitchFamily="34" charset="0"/>
              </a:defRPr>
            </a:lvl1pPr>
          </a:lstStyle>
          <a:p>
            <a:pPr>
              <a:defRPr/>
            </a:pPr>
            <a:r>
              <a:rPr lang="en-US" altLang="zh-CN"/>
              <a:t>4-</a:t>
            </a:r>
            <a:fld id="{2A06DADD-A8C7-2D4F-A607-1FC2010F0235}" type="slidenum">
              <a:rPr lang="en-US" altLang="zh-CN" smtClean="0"/>
              <a:t>‹#›</a:t>
            </a:fld>
            <a:endParaRPr lang="en-US" altLang="zh-CN"/>
          </a:p>
        </p:txBody>
      </p:sp>
    </p:spTree>
  </p:cSld>
  <p:clrMap bg1="lt1" tx1="dk1" bg2="lt2" tx2="dk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Lst>
  <p:hf hdr="0" dt="0"/>
  <p:txStyles>
    <p:titleStyle>
      <a:lvl1pPr algn="l" rtl="0" eaLnBrk="0" fontAlgn="base" hangingPunct="0">
        <a:spcBef>
          <a:spcPct val="0"/>
        </a:spcBef>
        <a:spcAft>
          <a:spcPct val="0"/>
        </a:spcAft>
        <a:defRPr sz="4000" u="sng">
          <a:solidFill>
            <a:srgbClr val="000099"/>
          </a:solidFill>
          <a:latin typeface="+mj-lt"/>
          <a:ea typeface="宋体" charset="0"/>
          <a:cs typeface="+mj-cs"/>
        </a:defRPr>
      </a:lvl1pPr>
      <a:lvl2pPr algn="l" rtl="0" eaLnBrk="0" fontAlgn="base" hangingPunct="0">
        <a:spcBef>
          <a:spcPct val="0"/>
        </a:spcBef>
        <a:spcAft>
          <a:spcPct val="0"/>
        </a:spcAft>
        <a:defRPr sz="4000" u="sng">
          <a:solidFill>
            <a:srgbClr val="000099"/>
          </a:solidFill>
          <a:latin typeface="Comic Sans MS" panose="030F0902030302020204" pitchFamily="66" charset="0"/>
          <a:ea typeface="宋体" charset="0"/>
          <a:cs typeface="Arial" panose="020B0604020202090204" pitchFamily="34" charset="0"/>
        </a:defRPr>
      </a:lvl2pPr>
      <a:lvl3pPr algn="l" rtl="0" eaLnBrk="0" fontAlgn="base" hangingPunct="0">
        <a:spcBef>
          <a:spcPct val="0"/>
        </a:spcBef>
        <a:spcAft>
          <a:spcPct val="0"/>
        </a:spcAft>
        <a:defRPr sz="4000" u="sng">
          <a:solidFill>
            <a:srgbClr val="000099"/>
          </a:solidFill>
          <a:latin typeface="Comic Sans MS" panose="030F0902030302020204" pitchFamily="66" charset="0"/>
          <a:ea typeface="宋体" charset="0"/>
          <a:cs typeface="Arial" panose="020B0604020202090204" pitchFamily="34" charset="0"/>
        </a:defRPr>
      </a:lvl3pPr>
      <a:lvl4pPr algn="l" rtl="0" eaLnBrk="0" fontAlgn="base" hangingPunct="0">
        <a:spcBef>
          <a:spcPct val="0"/>
        </a:spcBef>
        <a:spcAft>
          <a:spcPct val="0"/>
        </a:spcAft>
        <a:defRPr sz="4000" u="sng">
          <a:solidFill>
            <a:srgbClr val="000099"/>
          </a:solidFill>
          <a:latin typeface="Comic Sans MS" panose="030F0902030302020204" pitchFamily="66" charset="0"/>
          <a:ea typeface="宋体" charset="0"/>
          <a:cs typeface="Arial" panose="020B0604020202090204" pitchFamily="34" charset="0"/>
        </a:defRPr>
      </a:lvl4pPr>
      <a:lvl5pPr algn="l" rtl="0" eaLnBrk="0" fontAlgn="base" hangingPunct="0">
        <a:spcBef>
          <a:spcPct val="0"/>
        </a:spcBef>
        <a:spcAft>
          <a:spcPct val="0"/>
        </a:spcAft>
        <a:defRPr sz="4000" u="sng">
          <a:solidFill>
            <a:srgbClr val="000099"/>
          </a:solidFill>
          <a:latin typeface="Comic Sans MS" panose="030F0902030302020204" pitchFamily="66" charset="0"/>
          <a:ea typeface="宋体" charset="0"/>
          <a:cs typeface="Arial" panose="020B0604020202090204" pitchFamily="34" charset="0"/>
        </a:defRPr>
      </a:lvl5pPr>
      <a:lvl6pPr marL="457200" algn="l" rtl="0" fontAlgn="base">
        <a:spcBef>
          <a:spcPct val="0"/>
        </a:spcBef>
        <a:spcAft>
          <a:spcPct val="0"/>
        </a:spcAft>
        <a:defRPr sz="4000" u="sng">
          <a:solidFill>
            <a:srgbClr val="000099"/>
          </a:solidFill>
          <a:latin typeface="Comic Sans MS" panose="030F0902030302020204" pitchFamily="66" charset="0"/>
          <a:cs typeface="Arial" panose="020B0604020202090204" pitchFamily="34" charset="0"/>
        </a:defRPr>
      </a:lvl6pPr>
      <a:lvl7pPr marL="914400" algn="l" rtl="0" fontAlgn="base">
        <a:spcBef>
          <a:spcPct val="0"/>
        </a:spcBef>
        <a:spcAft>
          <a:spcPct val="0"/>
        </a:spcAft>
        <a:defRPr sz="4000" u="sng">
          <a:solidFill>
            <a:srgbClr val="000099"/>
          </a:solidFill>
          <a:latin typeface="Comic Sans MS" panose="030F0902030302020204" pitchFamily="66" charset="0"/>
          <a:cs typeface="Arial" panose="020B0604020202090204" pitchFamily="34" charset="0"/>
        </a:defRPr>
      </a:lvl7pPr>
      <a:lvl8pPr marL="1371600" algn="l" rtl="0" fontAlgn="base">
        <a:spcBef>
          <a:spcPct val="0"/>
        </a:spcBef>
        <a:spcAft>
          <a:spcPct val="0"/>
        </a:spcAft>
        <a:defRPr sz="4000" u="sng">
          <a:solidFill>
            <a:srgbClr val="000099"/>
          </a:solidFill>
          <a:latin typeface="Comic Sans MS" panose="030F0902030302020204" pitchFamily="66" charset="0"/>
          <a:cs typeface="Arial" panose="020B0604020202090204" pitchFamily="34" charset="0"/>
        </a:defRPr>
      </a:lvl8pPr>
      <a:lvl9pPr marL="1828800" algn="l" rtl="0" fontAlgn="base">
        <a:spcBef>
          <a:spcPct val="0"/>
        </a:spcBef>
        <a:spcAft>
          <a:spcPct val="0"/>
        </a:spcAft>
        <a:defRPr sz="4000" u="sng">
          <a:solidFill>
            <a:srgbClr val="000099"/>
          </a:solidFill>
          <a:latin typeface="Comic Sans MS" panose="030F0902030302020204" pitchFamily="66" charset="0"/>
          <a:cs typeface="Arial" panose="020B0604020202090204" pitchFamily="34" charset="0"/>
        </a:defRPr>
      </a:lvl9pPr>
    </p:titleStyle>
    <p:bodyStyle>
      <a:lvl1pPr marL="342900" indent="-342900" algn="l" rtl="0" eaLnBrk="0" fontAlgn="base" hangingPunct="0">
        <a:spcBef>
          <a:spcPct val="20000"/>
        </a:spcBef>
        <a:spcAft>
          <a:spcPct val="0"/>
        </a:spcAft>
        <a:buClr>
          <a:srgbClr val="000099"/>
        </a:buClr>
        <a:buSzPct val="75000"/>
        <a:buFont typeface="Wingdings" panose="05000000000000000000" pitchFamily="2" charset="2"/>
        <a:buChar char="v"/>
        <a:defRPr kumimoji="1" sz="2800">
          <a:solidFill>
            <a:schemeClr val="tx1"/>
          </a:solidFill>
          <a:latin typeface="+mn-lt"/>
          <a:ea typeface="宋体" charset="0"/>
          <a:cs typeface="+mn-cs"/>
        </a:defRPr>
      </a:lvl1pPr>
      <a:lvl2pPr marL="742950" indent="-285750" algn="l" rtl="0" eaLnBrk="0" fontAlgn="base" hangingPunct="0">
        <a:spcBef>
          <a:spcPct val="20000"/>
        </a:spcBef>
        <a:spcAft>
          <a:spcPct val="0"/>
        </a:spcAft>
        <a:buClr>
          <a:srgbClr val="000099"/>
        </a:buClr>
        <a:buFont typeface="Wingdings" panose="05000000000000000000" pitchFamily="2" charset="2"/>
        <a:buChar char="§"/>
        <a:defRPr kumimoji="1" sz="2400">
          <a:solidFill>
            <a:schemeClr val="tx1"/>
          </a:solidFill>
          <a:latin typeface="+mn-lt"/>
          <a:ea typeface="Arial" panose="020B0604020202090204" pitchFamily="34" charset="0"/>
          <a:cs typeface="+mn-cs"/>
        </a:defRPr>
      </a:lvl2pPr>
      <a:lvl3pPr marL="1143000" indent="-228600" algn="l" rtl="0" eaLnBrk="0" fontAlgn="base" hangingPunct="0">
        <a:spcBef>
          <a:spcPct val="20000"/>
        </a:spcBef>
        <a:spcAft>
          <a:spcPct val="0"/>
        </a:spcAft>
        <a:buChar char="•"/>
        <a:defRPr kumimoji="1" sz="2000">
          <a:solidFill>
            <a:schemeClr val="tx1"/>
          </a:solidFill>
          <a:latin typeface="+mn-lt"/>
          <a:ea typeface="Arial" panose="020B0604020202090204" pitchFamily="34" charset="0"/>
          <a:cs typeface="+mn-cs"/>
        </a:defRPr>
      </a:lvl3pPr>
      <a:lvl4pPr marL="16002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mn-cs"/>
        </a:defRPr>
      </a:lvl4pPr>
      <a:lvl5pPr marL="2057400" indent="-228600" algn="l" rtl="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mn-cs"/>
        </a:defRPr>
      </a:lvl5pPr>
      <a:lvl6pPr marL="2514600" indent="-228600" algn="l" rtl="0" fontAlgn="base">
        <a:spcBef>
          <a:spcPct val="20000"/>
        </a:spcBef>
        <a:spcAft>
          <a:spcPct val="0"/>
        </a:spcAft>
        <a:buChar char="»"/>
        <a:defRPr sz="2000">
          <a:solidFill>
            <a:schemeClr val="tx1"/>
          </a:solidFill>
          <a:latin typeface="Times New Roman" panose="02020503050405090304" charset="0"/>
          <a:cs typeface="+mn-cs"/>
        </a:defRPr>
      </a:lvl6pPr>
      <a:lvl7pPr marL="2971800" indent="-228600" algn="l" rtl="0" fontAlgn="base">
        <a:spcBef>
          <a:spcPct val="20000"/>
        </a:spcBef>
        <a:spcAft>
          <a:spcPct val="0"/>
        </a:spcAft>
        <a:buChar char="»"/>
        <a:defRPr sz="2000">
          <a:solidFill>
            <a:schemeClr val="tx1"/>
          </a:solidFill>
          <a:latin typeface="Times New Roman" panose="02020503050405090304" charset="0"/>
          <a:cs typeface="+mn-cs"/>
        </a:defRPr>
      </a:lvl7pPr>
      <a:lvl8pPr marL="3429000" indent="-228600" algn="l" rtl="0" fontAlgn="base">
        <a:spcBef>
          <a:spcPct val="20000"/>
        </a:spcBef>
        <a:spcAft>
          <a:spcPct val="0"/>
        </a:spcAft>
        <a:buChar char="»"/>
        <a:defRPr sz="2000">
          <a:solidFill>
            <a:schemeClr val="tx1"/>
          </a:solidFill>
          <a:latin typeface="Times New Roman" panose="02020503050405090304" charset="0"/>
          <a:cs typeface="+mn-cs"/>
        </a:defRPr>
      </a:lvl8pPr>
      <a:lvl9pPr marL="3886200" indent="-228600" algn="l" rtl="0" fontAlgn="base">
        <a:spcBef>
          <a:spcPct val="20000"/>
        </a:spcBef>
        <a:spcAft>
          <a:spcPct val="0"/>
        </a:spcAft>
        <a:buChar char="»"/>
        <a:defRPr sz="2000">
          <a:solidFill>
            <a:schemeClr val="tx1"/>
          </a:solidFill>
          <a:latin typeface="Times New Roman" panose="02020503050405090304" charset="0"/>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980631" y="365126"/>
            <a:ext cx="6165609" cy="879086"/>
          </a:xfrm>
          <a:prstGeom prst="rect">
            <a:avLst/>
          </a:prstGeom>
        </p:spPr>
        <p:txBody>
          <a:bodyPr vert="horz" lIns="91440" tIns="45720" rIns="91440" bIns="45720" rtlCol="0" anchor="ctr">
            <a:normAutofit/>
          </a:bodyPr>
          <a:lstStyle/>
          <a:p>
            <a:r>
              <a:rPr kumimoji="1" lang="zh-CN" altLang="en-US" dirty="0"/>
              <a:t>单击此处编辑母版标题样式</a:t>
            </a:r>
          </a:p>
        </p:txBody>
      </p:sp>
      <p:sp>
        <p:nvSpPr>
          <p:cNvPr id="3" name="文本占位符 2"/>
          <p:cNvSpPr>
            <a:spLocks noGrp="1"/>
          </p:cNvSpPr>
          <p:nvPr>
            <p:ph type="body" idx="1"/>
          </p:nvPr>
        </p:nvSpPr>
        <p:spPr>
          <a:xfrm>
            <a:off x="628650" y="1590270"/>
            <a:ext cx="7886700" cy="4586694"/>
          </a:xfrm>
          <a:prstGeom prst="rect">
            <a:avLst/>
          </a:prstGeom>
        </p:spPr>
        <p:txBody>
          <a:bodyPr vert="horz" lIns="91440" tIns="45720" rIns="91440" bIns="45720" rtlCol="0">
            <a:normAutofit/>
          </a:bodyPr>
          <a:lstStyle/>
          <a:p>
            <a:pPr lvl="0"/>
            <a:r>
              <a:rPr kumimoji="1" lang="zh-CN" altLang="en-US" dirty="0"/>
              <a:t>单击此处编辑母版文本样式</a:t>
            </a:r>
          </a:p>
          <a:p>
            <a:pPr lvl="1"/>
            <a:r>
              <a:rPr kumimoji="1" lang="zh-CN" altLang="en-US" dirty="0"/>
              <a:t>二级</a:t>
            </a:r>
          </a:p>
          <a:p>
            <a:pPr lvl="2"/>
            <a:r>
              <a:rPr kumimoji="1" lang="zh-CN" altLang="en-US" dirty="0"/>
              <a:t>三级</a:t>
            </a:r>
          </a:p>
          <a:p>
            <a:pPr lvl="3"/>
            <a:r>
              <a:rPr kumimoji="1" lang="zh-CN" altLang="en-US" dirty="0"/>
              <a:t>四级</a:t>
            </a:r>
          </a:p>
          <a:p>
            <a:pPr lvl="4"/>
            <a:r>
              <a:rPr kumimoji="1" lang="zh-CN" altLang="en-US" dirty="0"/>
              <a:t>五级</a:t>
            </a:r>
          </a:p>
        </p:txBody>
      </p:sp>
      <p:sp>
        <p:nvSpPr>
          <p:cNvPr id="7" name="日期占位符 3"/>
          <p:cNvSpPr>
            <a:spLocks noGrp="1"/>
          </p:cNvSpPr>
          <p:nvPr>
            <p:ph type="dt" sz="half" idx="2"/>
          </p:nvPr>
        </p:nvSpPr>
        <p:spPr>
          <a:xfrm>
            <a:off x="119023" y="6476425"/>
            <a:ext cx="2057400" cy="365125"/>
          </a:xfrm>
          <a:prstGeom prst="rect">
            <a:avLst/>
          </a:prstGeom>
        </p:spPr>
        <p:txBody>
          <a:bodyPr/>
          <a:lstStyle>
            <a:lvl1pPr>
              <a:defRPr sz="1200">
                <a:solidFill>
                  <a:schemeClr val="bg1">
                    <a:lumMod val="65000"/>
                  </a:schemeClr>
                </a:solidFill>
                <a:latin typeface="Microsoft YaHei" panose="020B0503020204020204" pitchFamily="34" charset="-122"/>
                <a:ea typeface="Microsoft YaHei" panose="020B0503020204020204" pitchFamily="34" charset="-122"/>
              </a:defRPr>
            </a:lvl1pPr>
          </a:lstStyle>
          <a:p>
            <a:r>
              <a:rPr kumimoji="1" lang="en-US" altLang="zh-CN"/>
              <a:t>5.3 </a:t>
            </a:r>
            <a:r>
              <a:rPr kumimoji="1" lang="zh-CN" altLang="en-US"/>
              <a:t>网络互联</a:t>
            </a:r>
            <a:endParaRPr kumimoji="1" lang="zh-CN" altLang="en-US" dirty="0"/>
          </a:p>
        </p:txBody>
      </p:sp>
      <p:sp>
        <p:nvSpPr>
          <p:cNvPr id="8" name="页脚占位符 4"/>
          <p:cNvSpPr>
            <a:spLocks noGrp="1"/>
          </p:cNvSpPr>
          <p:nvPr>
            <p:ph type="ftr" sz="quarter" idx="3"/>
          </p:nvPr>
        </p:nvSpPr>
        <p:spPr>
          <a:xfrm>
            <a:off x="3028950" y="6476425"/>
            <a:ext cx="3086100" cy="365125"/>
          </a:xfrm>
          <a:prstGeom prst="rect">
            <a:avLst/>
          </a:prstGeom>
        </p:spPr>
        <p:txBody>
          <a:bodyPr/>
          <a:lstStyle>
            <a:lvl1pPr algn="ctr">
              <a:defRPr sz="1200">
                <a:solidFill>
                  <a:schemeClr val="bg1">
                    <a:lumMod val="65000"/>
                  </a:schemeClr>
                </a:solidFill>
                <a:latin typeface="Microsoft YaHei" panose="020B0503020204020204" pitchFamily="34" charset="-122"/>
                <a:ea typeface="Microsoft YaHei" panose="020B0503020204020204" pitchFamily="34" charset="-122"/>
              </a:defRPr>
            </a:lvl1pPr>
          </a:lstStyle>
          <a:p>
            <a:r>
              <a:rPr kumimoji="1" lang="zh-CN" altLang="en-US"/>
              <a:t>引自：</a:t>
            </a:r>
            <a:r>
              <a:rPr kumimoji="1" lang="en-US" altLang="zh-CN"/>
              <a:t>XXXXX</a:t>
            </a:r>
            <a:r>
              <a:rPr kumimoji="1" lang="zh-CN" altLang="en-US"/>
              <a:t>（如果需要）</a:t>
            </a:r>
            <a:endParaRPr kumimoji="1" lang="zh-CN" altLang="en-US" dirty="0"/>
          </a:p>
        </p:txBody>
      </p:sp>
      <p:sp>
        <p:nvSpPr>
          <p:cNvPr id="9" name="灯片编号占位符 5"/>
          <p:cNvSpPr>
            <a:spLocks noGrp="1"/>
          </p:cNvSpPr>
          <p:nvPr>
            <p:ph type="sldNum" sz="quarter" idx="4"/>
          </p:nvPr>
        </p:nvSpPr>
        <p:spPr>
          <a:xfrm>
            <a:off x="6515107" y="6476425"/>
            <a:ext cx="2489753" cy="365125"/>
          </a:xfrm>
          <a:prstGeom prst="rect">
            <a:avLst/>
          </a:prstGeom>
        </p:spPr>
        <p:txBody>
          <a:bodyPr/>
          <a:lstStyle>
            <a:lvl1pPr algn="r">
              <a:defRPr sz="1200">
                <a:solidFill>
                  <a:schemeClr val="bg1">
                    <a:lumMod val="65000"/>
                  </a:schemeClr>
                </a:solidFill>
                <a:latin typeface="Microsoft YaHei" panose="020B0503020204020204" pitchFamily="34" charset="-122"/>
                <a:ea typeface="Microsoft YaHei" panose="020B0503020204020204" pitchFamily="34" charset="-122"/>
              </a:defRPr>
            </a:lvl1pPr>
          </a:lstStyle>
          <a:p>
            <a:fld id="{8D4D1E41-7A09-AB4A-A4E1-09765ADA2698}" type="slidenum">
              <a:rPr kumimoji="1" lang="zh-CN" altLang="en-US" smtClean="0"/>
              <a:t>‹#›</a:t>
            </a:fld>
            <a:endParaRPr kumimoji="1" lang="zh-CN" altLang="en-US" dirty="0"/>
          </a:p>
        </p:txBody>
      </p:sp>
    </p:spTree>
  </p:cSld>
  <p:clrMap bg1="lt1" tx1="dk1" bg2="lt2" tx2="dk2" accent1="accent1" accent2="accent2" accent3="accent3" accent4="accent4" accent5="accent5" accent6="accent6" hlink="hlink" folHlink="folHlink"/>
  <p:sldLayoutIdLst>
    <p:sldLayoutId id="2147483687" r:id="rId1"/>
    <p:sldLayoutId id="2147483688" r:id="rId2"/>
    <p:sldLayoutId id="2147483689" r:id="rId3"/>
  </p:sldLayoutIdLst>
  <p:hf hdr="0" ftr="0"/>
  <p:txStyles>
    <p:titleStyle>
      <a:lvl1pPr algn="l" defTabSz="685800" rtl="0" eaLnBrk="1" latinLnBrk="0" hangingPunct="1">
        <a:lnSpc>
          <a:spcPct val="90000"/>
        </a:lnSpc>
        <a:spcBef>
          <a:spcPct val="0"/>
        </a:spcBef>
        <a:buNone/>
        <a:defRPr sz="3300" kern="1200">
          <a:solidFill>
            <a:schemeClr val="tx1"/>
          </a:solidFill>
          <a:latin typeface="Microsoft YaHei" panose="020B0503020204020204" pitchFamily="34" charset="-122"/>
          <a:ea typeface="Microsoft YaHei" panose="020B0503020204020204" pitchFamily="34" charset="-122"/>
          <a:cs typeface="+mj-cs"/>
        </a:defRPr>
      </a:lvl1pPr>
    </p:titleStyle>
    <p:bodyStyle>
      <a:lvl1pPr marL="171450" indent="-171450" algn="l" defTabSz="685800" rtl="0" eaLnBrk="1" latinLnBrk="0" hangingPunct="1">
        <a:lnSpc>
          <a:spcPct val="100000"/>
        </a:lnSpc>
        <a:spcBef>
          <a:spcPts val="450"/>
        </a:spcBef>
        <a:buFont typeface="Arial" panose="020B0604020202090204" pitchFamily="34" charset="0"/>
        <a:buChar char="•"/>
        <a:defRPr sz="2100" kern="1200">
          <a:solidFill>
            <a:schemeClr val="tx1"/>
          </a:solidFill>
          <a:latin typeface="Microsoft YaHei" panose="020B0503020204020204" pitchFamily="34" charset="-122"/>
          <a:ea typeface="Microsoft YaHei" panose="020B0503020204020204" pitchFamily="34" charset="-122"/>
          <a:cs typeface="+mn-cs"/>
        </a:defRPr>
      </a:lvl1pPr>
      <a:lvl2pPr marL="514350" indent="-171450" algn="l" defTabSz="685800" rtl="0" eaLnBrk="1" latinLnBrk="0" hangingPunct="1">
        <a:lnSpc>
          <a:spcPct val="100000"/>
        </a:lnSpc>
        <a:spcBef>
          <a:spcPts val="45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2pPr>
      <a:lvl3pPr marL="857250" indent="-171450" algn="l" defTabSz="685800" rtl="0" eaLnBrk="1" latinLnBrk="0" hangingPunct="1">
        <a:lnSpc>
          <a:spcPct val="100000"/>
        </a:lnSpc>
        <a:spcBef>
          <a:spcPts val="450"/>
        </a:spcBef>
        <a:buFont typeface="Arial" panose="020B0604020202090204" pitchFamily="34" charset="0"/>
        <a:buChar char="•"/>
        <a:defRPr sz="1500" kern="1200">
          <a:solidFill>
            <a:schemeClr val="tx1"/>
          </a:solidFill>
          <a:latin typeface="Microsoft YaHei" panose="020B0503020204020204" pitchFamily="34" charset="-122"/>
          <a:ea typeface="Microsoft YaHei" panose="020B0503020204020204" pitchFamily="34" charset="-122"/>
          <a:cs typeface="+mn-cs"/>
        </a:defRPr>
      </a:lvl3pPr>
      <a:lvl4pPr marL="1200150" indent="-171450" algn="l" defTabSz="685800" rtl="0" eaLnBrk="1" latinLnBrk="0" hangingPunct="1">
        <a:lnSpc>
          <a:spcPct val="100000"/>
        </a:lnSpc>
        <a:spcBef>
          <a:spcPts val="450"/>
        </a:spcBef>
        <a:buFont typeface="Arial" panose="020B0604020202090204" pitchFamily="34" charset="0"/>
        <a:buChar char="•"/>
        <a:defRPr sz="1350" kern="1200">
          <a:solidFill>
            <a:schemeClr val="tx1"/>
          </a:solidFill>
          <a:latin typeface="Microsoft YaHei" panose="020B0503020204020204" pitchFamily="34" charset="-122"/>
          <a:ea typeface="Microsoft YaHei" panose="020B0503020204020204" pitchFamily="34" charset="-122"/>
          <a:cs typeface="+mn-cs"/>
        </a:defRPr>
      </a:lvl4pPr>
      <a:lvl5pPr marL="1543050" indent="-171450" algn="l" defTabSz="685800" rtl="0" eaLnBrk="1" latinLnBrk="0" hangingPunct="1">
        <a:lnSpc>
          <a:spcPct val="100000"/>
        </a:lnSpc>
        <a:spcBef>
          <a:spcPts val="450"/>
        </a:spcBef>
        <a:buFont typeface="Arial" panose="020B0604020202090204" pitchFamily="34" charset="0"/>
        <a:buChar char="•"/>
        <a:defRPr sz="1350" kern="1200">
          <a:solidFill>
            <a:schemeClr val="tx1"/>
          </a:solidFill>
          <a:latin typeface="Microsoft YaHei" panose="020B0503020204020204" pitchFamily="34" charset="-122"/>
          <a:ea typeface="Microsoft YaHei" panose="020B0503020204020204" pitchFamily="34" charset="-122"/>
          <a:cs typeface="+mn-cs"/>
        </a:defRPr>
      </a:lvl5pPr>
      <a:lvl6pPr marL="18859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90204" pitchFamily="34" charset="0"/>
        <a:buChar char="•"/>
        <a:defRPr sz="1350" kern="1200">
          <a:solidFill>
            <a:schemeClr val="tx1"/>
          </a:solidFill>
          <a:latin typeface="+mn-lt"/>
          <a:ea typeface="+mn-ea"/>
          <a:cs typeface="+mn-cs"/>
        </a:defRPr>
      </a:lvl9pPr>
    </p:bodyStyle>
    <p:otherStyle>
      <a:defPPr>
        <a:defRPr lang="zh-C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image" Target="../media/image1.jpeg"/><Relationship Id="rId1" Type="http://schemas.openxmlformats.org/officeDocument/2006/relationships/slideLayout" Target="../slideLayouts/slideLayout7.xml"/><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7.xml"/><Relationship Id="rId4" Type="http://schemas.openxmlformats.org/officeDocument/2006/relationships/image" Target="../media/image5.emf"/></Relationships>
</file>

<file path=ppt/slides/_rels/slide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14.xml"/></Relationships>
</file>

<file path=ppt/slides/_rels/slide13.xml.rels><?xml version="1.0" encoding="UTF-8" standalone="yes"?>
<Relationships xmlns="http://schemas.openxmlformats.org/package/2006/relationships"><Relationship Id="rId8" Type="http://schemas.microsoft.com/office/2007/relationships/diagramDrawing" Target="../diagrams/drawing1.xml"/><Relationship Id="rId3" Type="http://schemas.openxmlformats.org/officeDocument/2006/relationships/image" Target="../media/image3.png"/><Relationship Id="rId7" Type="http://schemas.openxmlformats.org/officeDocument/2006/relationships/diagramColors" Target="../diagrams/colors1.xml"/><Relationship Id="rId2" Type="http://schemas.openxmlformats.org/officeDocument/2006/relationships/notesSlide" Target="../notesSlides/notesSlide2.xml"/><Relationship Id="rId1" Type="http://schemas.openxmlformats.org/officeDocument/2006/relationships/slideLayout" Target="../slideLayouts/slideLayout14.xml"/><Relationship Id="rId6" Type="http://schemas.openxmlformats.org/officeDocument/2006/relationships/diagramQuickStyle" Target="../diagrams/quickStyle1.xml"/><Relationship Id="rId5" Type="http://schemas.openxmlformats.org/officeDocument/2006/relationships/diagramLayout" Target="../diagrams/layout1.xml"/><Relationship Id="rId4" Type="http://schemas.openxmlformats.org/officeDocument/2006/relationships/diagramData" Target="../diagrams/data1.xml"/></Relationships>
</file>

<file path=ppt/slides/_rels/slide1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14.xml"/></Relationships>
</file>

<file path=ppt/slides/_rels/slide1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5.xml"/><Relationship Id="rId1" Type="http://schemas.openxmlformats.org/officeDocument/2006/relationships/slideLayout" Target="../slideLayouts/slideLayout14.xml"/></Relationships>
</file>

<file path=ppt/slides/_rels/slide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6.xml"/><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xml"/><Relationship Id="rId1" Type="http://schemas.openxmlformats.org/officeDocument/2006/relationships/slideLayout" Target="../slideLayouts/slideLayout14.xml"/><Relationship Id="rId4" Type="http://schemas.openxmlformats.org/officeDocument/2006/relationships/image" Target="../media/image6.wmf"/></Relationships>
</file>

<file path=ppt/slides/_rels/slide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14.xml"/></Relationships>
</file>

<file path=ppt/slides/_rels/slide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9.xml"/><Relationship Id="rId1" Type="http://schemas.openxmlformats.org/officeDocument/2006/relationships/slideLayout" Target="../slideLayouts/slideLayout14.xml"/><Relationship Id="rId4" Type="http://schemas.openxmlformats.org/officeDocument/2006/relationships/image" Target="../media/image7.png"/></Relationships>
</file>

<file path=ppt/slides/_rels/slide21.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8.jpeg"/><Relationship Id="rId7" Type="http://schemas.openxmlformats.org/officeDocument/2006/relationships/image" Target="../media/image12.GIF"/><Relationship Id="rId2" Type="http://schemas.openxmlformats.org/officeDocument/2006/relationships/notesSlide" Target="../notesSlides/notesSlide10.xml"/><Relationship Id="rId1" Type="http://schemas.openxmlformats.org/officeDocument/2006/relationships/slideLayout" Target="../slideLayouts/slideLayout14.xml"/><Relationship Id="rId6" Type="http://schemas.openxmlformats.org/officeDocument/2006/relationships/image" Target="../media/image11.png"/><Relationship Id="rId5" Type="http://schemas.openxmlformats.org/officeDocument/2006/relationships/image" Target="../media/image10.png"/><Relationship Id="rId10" Type="http://schemas.openxmlformats.org/officeDocument/2006/relationships/image" Target="../media/image3.png"/><Relationship Id="rId4" Type="http://schemas.openxmlformats.org/officeDocument/2006/relationships/image" Target="../media/image9.png"/><Relationship Id="rId9" Type="http://schemas.openxmlformats.org/officeDocument/2006/relationships/image" Target="../media/image14.png"/></Relationships>
</file>

<file path=ppt/slides/_rels/slide2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4.xml"/></Relationships>
</file>

<file path=ppt/slides/_rels/slide2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6.xml"/></Relationships>
</file>

<file path=ppt/slides/_rels/slide3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6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7.xml"/><Relationship Id="rId4" Type="http://schemas.openxmlformats.org/officeDocument/2006/relationships/image" Target="../media/image5.emf"/></Relationships>
</file>

<file path=ppt/slides/_rels/slide8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3.xml"/><Relationship Id="rId1" Type="http://schemas.openxmlformats.org/officeDocument/2006/relationships/slideLayout" Target="../slideLayouts/slideLayout6.xml"/><Relationship Id="rId5" Type="http://schemas.openxmlformats.org/officeDocument/2006/relationships/image" Target="../media/image20.png"/><Relationship Id="rId4" Type="http://schemas.openxmlformats.org/officeDocument/2006/relationships/image" Target="../media/image19.png"/></Relationships>
</file>

<file path=ppt/slides/_rels/slide9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4.xml"/><Relationship Id="rId1" Type="http://schemas.openxmlformats.org/officeDocument/2006/relationships/slideLayout" Target="../slideLayouts/slideLayout6.xml"/><Relationship Id="rId4" Type="http://schemas.openxmlformats.org/officeDocument/2006/relationships/image" Target="../media/image21.png"/></Relationships>
</file>

<file path=ppt/slides/_rels/slide9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5.xml"/><Relationship Id="rId1" Type="http://schemas.openxmlformats.org/officeDocument/2006/relationships/slideLayout" Target="../slideLayouts/slideLayout6.xml"/><Relationship Id="rId4" Type="http://schemas.openxmlformats.org/officeDocument/2006/relationships/image" Target="../media/image21.png"/></Relationships>
</file>

<file path=ppt/slides/_rels/slide9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6.xml"/><Relationship Id="rId1" Type="http://schemas.openxmlformats.org/officeDocument/2006/relationships/slideLayout" Target="../slideLayouts/slideLayout6.xml"/><Relationship Id="rId5" Type="http://schemas.openxmlformats.org/officeDocument/2006/relationships/image" Target="../media/image22.png"/><Relationship Id="rId4" Type="http://schemas.openxmlformats.org/officeDocument/2006/relationships/image" Target="../media/image3.png"/></Relationships>
</file>

<file path=ppt/slides/_rels/slide9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10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10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10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7.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7.xml"/></Relationships>
</file>

<file path=ppt/slides/_rels/slide11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0.xml"/><Relationship Id="rId1" Type="http://schemas.openxmlformats.org/officeDocument/2006/relationships/slideLayout" Target="../slideLayouts/slideLayout37.xml"/></Relationships>
</file>

<file path=ppt/slides/_rels/slide114.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21.xml"/><Relationship Id="rId1" Type="http://schemas.openxmlformats.org/officeDocument/2006/relationships/slideLayout" Target="../slideLayouts/slideLayout37.xml"/><Relationship Id="rId4" Type="http://schemas.openxmlformats.org/officeDocument/2006/relationships/image" Target="../media/image25.wmf"/></Relationships>
</file>

<file path=ppt/slides/_rels/slide115.xml.rels><?xml version="1.0" encoding="UTF-8" standalone="yes"?>
<Relationships xmlns="http://schemas.openxmlformats.org/package/2006/relationships"><Relationship Id="rId3" Type="http://schemas.openxmlformats.org/officeDocument/2006/relationships/hyperlink" Target="http://www.taobao.com/" TargetMode="External"/><Relationship Id="rId2" Type="http://schemas.openxmlformats.org/officeDocument/2006/relationships/notesSlide" Target="../notesSlides/notesSlide22.xml"/><Relationship Id="rId1" Type="http://schemas.openxmlformats.org/officeDocument/2006/relationships/slideLayout" Target="../slideLayouts/slideLayout37.xml"/></Relationships>
</file>

<file path=ppt/slides/_rels/slide1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3.xml"/><Relationship Id="rId1" Type="http://schemas.openxmlformats.org/officeDocument/2006/relationships/slideLayout" Target="../slideLayouts/slideLayout4.xml"/></Relationships>
</file>

<file path=ppt/slides/_rels/slide11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11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1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4.xml"/><Relationship Id="rId1" Type="http://schemas.openxmlformats.org/officeDocument/2006/relationships/slideLayout" Target="../slideLayouts/slideLayout2.xml"/><Relationship Id="rId5" Type="http://schemas.openxmlformats.org/officeDocument/2006/relationships/image" Target="../media/image27.emf"/><Relationship Id="rId4" Type="http://schemas.openxmlformats.org/officeDocument/2006/relationships/oleObject" Target="../embeddings/oleObject2.bin"/></Relationships>
</file>

<file path=ppt/slides/_rels/slide1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5.xml"/><Relationship Id="rId1" Type="http://schemas.openxmlformats.org/officeDocument/2006/relationships/slideLayout" Target="../slideLayouts/slideLayout4.xml"/><Relationship Id="rId5" Type="http://schemas.openxmlformats.org/officeDocument/2006/relationships/image" Target="../media/image29.png"/><Relationship Id="rId4" Type="http://schemas.openxmlformats.org/officeDocument/2006/relationships/image" Target="../media/image28.png"/></Relationships>
</file>

<file path=ppt/slides/_rels/slide12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6.xml"/><Relationship Id="rId1" Type="http://schemas.openxmlformats.org/officeDocument/2006/relationships/slideLayout" Target="../slideLayouts/slideLayout2.xml"/><Relationship Id="rId5" Type="http://schemas.openxmlformats.org/officeDocument/2006/relationships/image" Target="../media/image3.png"/><Relationship Id="rId4" Type="http://schemas.openxmlformats.org/officeDocument/2006/relationships/image" Target="../media/image29.png"/></Relationships>
</file>

<file path=ppt/slides/_rels/slide12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1" name="Rectangle 4"/>
          <p:cNvSpPr/>
          <p:nvPr/>
        </p:nvSpPr>
        <p:spPr>
          <a:xfrm>
            <a:off x="5608638" y="3489325"/>
            <a:ext cx="3260725" cy="2860675"/>
          </a:xfrm>
          <a:prstGeom prst="rect">
            <a:avLst/>
          </a:prstGeom>
          <a:noFill/>
          <a:ln w="9525">
            <a:noFill/>
          </a:ln>
        </p:spPr>
        <p:txBody>
          <a:bodyPr anchor="ctr" anchorCtr="0"/>
          <a:lstStyle/>
          <a:p>
            <a:pPr algn="l" eaLnBrk="1" hangingPunct="1">
              <a:lnSpc>
                <a:spcPts val="3065"/>
              </a:lnSpc>
            </a:pPr>
            <a:r>
              <a:rPr lang="en-US" altLang="zh-CN" sz="2800" i="1" dirty="0">
                <a:solidFill>
                  <a:srgbClr val="008000"/>
                </a:solidFill>
                <a:latin typeface="Tahoma" panose="020B0604030504040204" charset="0"/>
                <a:cs typeface="Arial" panose="020B0604020202090204" pitchFamily="34" charset="0"/>
              </a:rPr>
              <a:t>Computer Networking: A Top Down Approach </a:t>
            </a:r>
            <a:br>
              <a:rPr lang="en-US" altLang="zh-CN" sz="2800" dirty="0">
                <a:solidFill>
                  <a:srgbClr val="008000"/>
                </a:solidFill>
                <a:latin typeface="Tahoma" panose="020B0604030504040204" charset="0"/>
                <a:cs typeface="Arial" panose="020B0604020202090204" pitchFamily="34" charset="0"/>
              </a:rPr>
            </a:br>
            <a:endParaRPr lang="en-US" altLang="zh-CN" sz="2000" dirty="0">
              <a:solidFill>
                <a:srgbClr val="008000"/>
              </a:solidFill>
              <a:latin typeface="Tahoma" panose="020B0604030504040204" charset="0"/>
              <a:ea typeface="Arial" panose="020B0604020202090204" pitchFamily="34" charset="0"/>
            </a:endParaRPr>
          </a:p>
        </p:txBody>
      </p:sp>
      <p:pic>
        <p:nvPicPr>
          <p:cNvPr id="15365" name="Picture 1" descr="kurose7e_cover_small.jpg"/>
          <p:cNvPicPr>
            <a:picLocks noChangeAspect="1"/>
          </p:cNvPicPr>
          <p:nvPr/>
        </p:nvPicPr>
        <p:blipFill>
          <a:blip r:embed="rId2"/>
          <a:stretch>
            <a:fillRect/>
          </a:stretch>
        </p:blipFill>
        <p:spPr>
          <a:xfrm>
            <a:off x="5710238" y="325438"/>
            <a:ext cx="3087687" cy="3819525"/>
          </a:xfrm>
          <a:prstGeom prst="rect">
            <a:avLst/>
          </a:prstGeom>
          <a:noFill/>
          <a:ln w="9525">
            <a:noFill/>
          </a:ln>
        </p:spPr>
      </p:pic>
      <p:sp>
        <p:nvSpPr>
          <p:cNvPr id="15366" name="Rectangle 4"/>
          <p:cNvSpPr/>
          <p:nvPr/>
        </p:nvSpPr>
        <p:spPr>
          <a:xfrm>
            <a:off x="5634038" y="4510088"/>
            <a:ext cx="3260725" cy="2860675"/>
          </a:xfrm>
          <a:prstGeom prst="rect">
            <a:avLst/>
          </a:prstGeom>
          <a:noFill/>
          <a:ln w="9525">
            <a:noFill/>
          </a:ln>
        </p:spPr>
        <p:txBody>
          <a:bodyPr anchor="ctr" anchorCtr="0"/>
          <a:lstStyle/>
          <a:p>
            <a:pPr algn="l" eaLnBrk="1" hangingPunct="1"/>
            <a:r>
              <a:rPr lang="en-US" altLang="zh-CN" sz="1800" dirty="0">
                <a:solidFill>
                  <a:srgbClr val="008000"/>
                </a:solidFill>
                <a:latin typeface="Tahoma" panose="020B0604030504040204" charset="0"/>
                <a:cs typeface="Arial" panose="020B0604020202090204" pitchFamily="34" charset="0"/>
              </a:rPr>
              <a:t>7</a:t>
            </a:r>
            <a:r>
              <a:rPr lang="en-US" altLang="zh-CN" sz="1800" baseline="30000" dirty="0">
                <a:solidFill>
                  <a:srgbClr val="008000"/>
                </a:solidFill>
                <a:latin typeface="Tahoma" panose="020B0604030504040204" charset="0"/>
                <a:cs typeface="Arial" panose="020B0604020202090204" pitchFamily="34" charset="0"/>
              </a:rPr>
              <a:t>th</a:t>
            </a:r>
            <a:r>
              <a:rPr lang="en-US" altLang="zh-CN" sz="1800" dirty="0">
                <a:solidFill>
                  <a:srgbClr val="008000"/>
                </a:solidFill>
                <a:latin typeface="Tahoma" panose="020B0604030504040204" charset="0"/>
                <a:cs typeface="Arial" panose="020B0604020202090204" pitchFamily="34" charset="0"/>
              </a:rPr>
              <a:t> edition </a:t>
            </a:r>
            <a:br>
              <a:rPr lang="en-US" altLang="zh-CN" sz="1800" dirty="0">
                <a:solidFill>
                  <a:srgbClr val="008000"/>
                </a:solidFill>
                <a:latin typeface="Tahoma" panose="020B0604030504040204" charset="0"/>
                <a:cs typeface="Arial" panose="020B0604020202090204" pitchFamily="34" charset="0"/>
              </a:rPr>
            </a:br>
            <a:r>
              <a:rPr lang="en-US" altLang="zh-CN" sz="1800" dirty="0">
                <a:solidFill>
                  <a:srgbClr val="008000"/>
                </a:solidFill>
                <a:latin typeface="Tahoma" panose="020B0604030504040204" charset="0"/>
                <a:cs typeface="Arial" panose="020B0604020202090204" pitchFamily="34" charset="0"/>
              </a:rPr>
              <a:t>Jim Kurose, Keith Ross</a:t>
            </a:r>
            <a:br>
              <a:rPr lang="en-US" altLang="zh-CN" sz="1800" dirty="0">
                <a:solidFill>
                  <a:srgbClr val="008000"/>
                </a:solidFill>
                <a:latin typeface="Tahoma" panose="020B0604030504040204" charset="0"/>
                <a:cs typeface="Arial" panose="020B0604020202090204" pitchFamily="34" charset="0"/>
              </a:rPr>
            </a:br>
            <a:r>
              <a:rPr lang="en-US" altLang="zh-CN" sz="1400" dirty="0">
                <a:solidFill>
                  <a:srgbClr val="008000"/>
                </a:solidFill>
                <a:latin typeface="Tahoma" panose="020B0604030504040204" charset="0"/>
                <a:cs typeface="Arial" panose="020B0604020202090204" pitchFamily="34" charset="0"/>
              </a:rPr>
              <a:t>Pearson/Addison Wesley</a:t>
            </a:r>
            <a:br>
              <a:rPr lang="en-US" altLang="zh-CN" sz="1400" dirty="0">
                <a:solidFill>
                  <a:srgbClr val="008000"/>
                </a:solidFill>
                <a:latin typeface="Tahoma" panose="020B0604030504040204" charset="0"/>
                <a:cs typeface="Arial" panose="020B0604020202090204" pitchFamily="34" charset="0"/>
              </a:rPr>
            </a:br>
            <a:r>
              <a:rPr lang="en-US" altLang="zh-CN" sz="1400" dirty="0">
                <a:solidFill>
                  <a:srgbClr val="008000"/>
                </a:solidFill>
                <a:latin typeface="Tahoma" panose="020B0604030504040204" charset="0"/>
                <a:cs typeface="Arial" panose="020B0604020202090204" pitchFamily="34" charset="0"/>
              </a:rPr>
              <a:t>April 2016</a:t>
            </a:r>
            <a:endParaRPr lang="en-US" altLang="zh-CN" sz="1400" dirty="0">
              <a:solidFill>
                <a:srgbClr val="008000"/>
              </a:solidFill>
              <a:latin typeface="Tahoma" panose="020B0604030504040204" charset="0"/>
              <a:ea typeface="Arial" panose="020B0604020202090204" pitchFamily="34" charset="0"/>
            </a:endParaRPr>
          </a:p>
        </p:txBody>
      </p:sp>
      <p:sp>
        <p:nvSpPr>
          <p:cNvPr id="15369" name="Footer Placeholder 2"/>
          <p:cNvSpPr txBox="1">
            <a:spLocks noGrp="1"/>
          </p:cNvSpPr>
          <p:nvPr>
            <p:ph type="ftr" sz="quarter" idx="11"/>
          </p:nvPr>
        </p:nvSpPr>
        <p:spPr>
          <a:xfrm>
            <a:off x="5562600" y="6453188"/>
            <a:ext cx="2895600" cy="287337"/>
          </a:xfrm>
        </p:spPr>
        <p:txBody>
          <a:bodyPr/>
          <a:lstStyle>
            <a:lvl1pPr marL="0" lvl="0"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defRPr>
            </a:lvl1pPr>
            <a:lvl2pPr marL="457200" lvl="1"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2pPr>
            <a:lvl3pPr marL="914400" lvl="2"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3pPr>
            <a:lvl4pPr marL="1371600" lvl="3"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4pPr>
            <a:lvl5pPr marL="1828800" lvl="4"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5pPr>
          </a:lstStyle>
          <a:p>
            <a:pPr lvl="0" algn="r"/>
            <a:r>
              <a:rPr lang="en-US" altLang="zh-CN" sz="1200" dirty="0">
                <a:solidFill>
                  <a:srgbClr val="000000"/>
                </a:solidFill>
                <a:cs typeface="Arial" panose="020B0604020202090204" pitchFamily="34" charset="0"/>
              </a:rPr>
              <a:t>Transport Layer</a:t>
            </a:r>
            <a:endParaRPr lang="en-US" altLang="zh-CN" sz="1200" dirty="0">
              <a:solidFill>
                <a:srgbClr val="000000"/>
              </a:solidFill>
              <a:ea typeface="Arial" panose="020B0604020202090204" pitchFamily="34" charset="0"/>
            </a:endParaRPr>
          </a:p>
        </p:txBody>
      </p:sp>
      <p:sp>
        <p:nvSpPr>
          <p:cNvPr id="15370" name="Slide Number Placeholder 3"/>
          <p:cNvSpPr txBox="1">
            <a:spLocks noGrp="1"/>
          </p:cNvSpPr>
          <p:nvPr>
            <p:ph type="sldNum" sz="quarter" idx="12"/>
          </p:nvPr>
        </p:nvSpPr>
        <p:spPr/>
        <p:txBody>
          <a:bodyPr/>
          <a:lstStyle>
            <a:lvl1pPr marL="0" lvl="0"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defRPr>
            </a:lvl1pPr>
            <a:lvl2pPr marL="457200" lvl="1"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2pPr>
            <a:lvl3pPr marL="914400" lvl="2"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3pPr>
            <a:lvl4pPr marL="1371600" lvl="3"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4pPr>
            <a:lvl5pPr marL="1828800" lvl="4" indent="0" algn="ctr" defTabSz="914400" rtl="0" eaLnBrk="0" fontAlgn="base" latinLnBrk="0" hangingPunct="0">
              <a:lnSpc>
                <a:spcPct val="100000"/>
              </a:lnSpc>
              <a:spcBef>
                <a:spcPct val="0"/>
              </a:spcBef>
              <a:spcAft>
                <a:spcPct val="0"/>
              </a:spcAft>
              <a:buNone/>
              <a:defRPr sz="1600" b="0" i="0" u="none" kern="1200" baseline="0">
                <a:solidFill>
                  <a:schemeClr val="tx1"/>
                </a:solidFill>
                <a:latin typeface="Tahoma" panose="020B0604030504040204" charset="0"/>
                <a:ea typeface="MS PGothic" charset="-128"/>
                <a:cs typeface="+mn-cs"/>
              </a:defRPr>
            </a:lvl5pPr>
          </a:lstStyle>
          <a:p>
            <a:pPr lvl="0" algn="l"/>
            <a:r>
              <a:rPr lang="en-US" altLang="zh-CN" sz="1200" dirty="0">
                <a:solidFill>
                  <a:srgbClr val="000000"/>
                </a:solidFill>
                <a:cs typeface="Arial" panose="020B0604020202090204" pitchFamily="34" charset="0"/>
              </a:rPr>
              <a:t>3-</a:t>
            </a:r>
            <a:fld id="{9A0DB2DC-4C9A-4742-B13C-FB6460FD3503}" type="slidenum">
              <a:rPr lang="en-US" sz="1200" dirty="0">
                <a:solidFill>
                  <a:srgbClr val="000000"/>
                </a:solidFill>
                <a:cs typeface="Arial" panose="020B0604020202090204" pitchFamily="34" charset="0"/>
              </a:rPr>
              <a:t>1</a:t>
            </a:fld>
            <a:endParaRPr lang="en-US" sz="1200" dirty="0">
              <a:solidFill>
                <a:srgbClr val="000000"/>
              </a:solidFill>
              <a:ea typeface="Arial" panose="020B0604020202090204" pitchFamily="34" charset="0"/>
              <a:cs typeface="Arial" panose="020B0604020202090204" pitchFamily="34" charset="0"/>
            </a:endParaRPr>
          </a:p>
        </p:txBody>
      </p:sp>
      <p:pic>
        <p:nvPicPr>
          <p:cNvPr id="4" name="图片 3"/>
          <p:cNvPicPr>
            <a:picLocks noChangeAspect="1"/>
          </p:cNvPicPr>
          <p:nvPr/>
        </p:nvPicPr>
        <p:blipFill>
          <a:blip r:embed="rId3"/>
          <a:srcRect l="8840" t="15870" r="8296" b="25759"/>
          <a:stretch>
            <a:fillRect/>
          </a:stretch>
        </p:blipFill>
        <p:spPr>
          <a:xfrm>
            <a:off x="709295" y="2602548"/>
            <a:ext cx="2009299" cy="2516981"/>
          </a:xfrm>
          <a:prstGeom prst="rect">
            <a:avLst/>
          </a:prstGeom>
        </p:spPr>
      </p:pic>
      <p:sp>
        <p:nvSpPr>
          <p:cNvPr id="6" name="矩形 5"/>
          <p:cNvSpPr/>
          <p:nvPr/>
        </p:nvSpPr>
        <p:spPr>
          <a:xfrm>
            <a:off x="709295" y="5119370"/>
            <a:ext cx="3740785" cy="1455420"/>
          </a:xfrm>
          <a:prstGeom prst="rect">
            <a:avLst/>
          </a:prstGeom>
        </p:spPr>
        <p:txBody>
          <a:bodyPr wrap="square">
            <a:spAutoFit/>
          </a:bodyPr>
          <a:lstStyle/>
          <a:p>
            <a:pPr marL="0" marR="0" lvl="0" indent="0" algn="l" defTabSz="457200" rtl="0" eaLnBrk="1" fontAlgn="auto" latinLnBrk="0" hangingPunct="1">
              <a:lnSpc>
                <a:spcPts val="2660"/>
              </a:lnSpc>
              <a:spcBef>
                <a:spcPts val="0"/>
              </a:spcBef>
              <a:spcAft>
                <a:spcPts val="0"/>
              </a:spcAft>
              <a:buClrTx/>
              <a:buSzTx/>
              <a:buFontTx/>
              <a:buNone/>
              <a:tabLst>
                <a:tab pos="988695" algn="l"/>
              </a:tabLst>
              <a:defRPr/>
            </a:pPr>
            <a:r>
              <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Homepage</a:t>
            </a:r>
            <a:r>
              <a:rPr kumimoji="0" lang="zh-CN" altLang="en-US"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a:t>
            </a:r>
            <a:r>
              <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http://</a:t>
            </a:r>
            <a:r>
              <a:rPr kumimoji="0" lang="en-US" altLang="zh-CN" sz="1800" b="0" i="0" u="none" strike="noStrike" kern="1200" cap="none" spc="0" normalizeH="0" baseline="0" noProof="0" dirty="0" err="1">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scuvis.org</a:t>
            </a:r>
            <a:endPar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endParaRPr>
          </a:p>
          <a:p>
            <a:pPr marL="0" marR="0" lvl="0" indent="0" algn="l" defTabSz="457200" rtl="0" eaLnBrk="1" fontAlgn="auto" latinLnBrk="0" hangingPunct="1">
              <a:lnSpc>
                <a:spcPts val="2660"/>
              </a:lnSpc>
              <a:spcBef>
                <a:spcPts val="0"/>
              </a:spcBef>
              <a:spcAft>
                <a:spcPts val="0"/>
              </a:spcAft>
              <a:buClrTx/>
              <a:buSzTx/>
              <a:buFontTx/>
              <a:buNone/>
              <a:tabLst>
                <a:tab pos="988695" algn="l"/>
              </a:tabLst>
              <a:defRPr/>
            </a:pPr>
            <a:r>
              <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Email	  </a:t>
            </a:r>
            <a:r>
              <a:rPr kumimoji="0" lang="zh-CN" altLang="en-US"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a:t>
            </a:r>
            <a:r>
              <a:rPr kumimoji="0" lang="en-US" altLang="zh-CN" sz="1800" b="0" i="0" u="none" strike="noStrike" kern="1200" cap="none" spc="0" normalizeH="0" baseline="0" noProof="0" dirty="0" err="1">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zhumin@scu.edu.cn</a:t>
            </a:r>
            <a:endPar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endParaRPr>
          </a:p>
          <a:p>
            <a:pPr marL="0" marR="0" lvl="0" indent="0" algn="l" defTabSz="457200" rtl="0" eaLnBrk="1" fontAlgn="auto" latinLnBrk="0" hangingPunct="1">
              <a:lnSpc>
                <a:spcPts val="2660"/>
              </a:lnSpc>
              <a:spcBef>
                <a:spcPts val="0"/>
              </a:spcBef>
              <a:spcAft>
                <a:spcPts val="0"/>
              </a:spcAft>
              <a:buClrTx/>
              <a:buSzTx/>
              <a:buFontTx/>
              <a:buNone/>
              <a:tabLst>
                <a:tab pos="988695" algn="l"/>
              </a:tabLst>
              <a:defRPr/>
            </a:pPr>
            <a:r>
              <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Phone	  </a:t>
            </a:r>
            <a:r>
              <a:rPr kumimoji="0" lang="zh-CN" altLang="en-US"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a:t>
            </a:r>
            <a:r>
              <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13980020500</a:t>
            </a:r>
          </a:p>
          <a:p>
            <a:pPr marL="0" marR="0" lvl="0" indent="0" algn="l" defTabSz="457200" rtl="0" eaLnBrk="1" fontAlgn="auto" latinLnBrk="0" hangingPunct="1">
              <a:lnSpc>
                <a:spcPts val="2660"/>
              </a:lnSpc>
              <a:spcBef>
                <a:spcPts val="0"/>
              </a:spcBef>
              <a:spcAft>
                <a:spcPts val="0"/>
              </a:spcAft>
              <a:buClrTx/>
              <a:buSzTx/>
              <a:buFontTx/>
              <a:buNone/>
              <a:tabLst>
                <a:tab pos="988695" algn="l"/>
              </a:tabLst>
              <a:defRPr/>
            </a:pPr>
            <a:r>
              <a:rPr kumimoji="0" lang="zh-CN" altLang="en-US"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主讲：朱敏</a:t>
            </a:r>
            <a:r>
              <a:rPr kumimoji="0" lang="en-US" altLang="zh-CN"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  /  </a:t>
            </a:r>
            <a:r>
              <a:rPr kumimoji="0" lang="zh-CN" altLang="en-US" sz="1800" b="0" i="0" u="none" strike="noStrike" kern="1200" cap="none" spc="0" normalizeH="0" baseline="0" noProof="0" dirty="0">
                <a:ln>
                  <a:noFill/>
                </a:ln>
                <a:solidFill>
                  <a:srgbClr val="1F497D">
                    <a:lumMod val="50000"/>
                  </a:srgbClr>
                </a:solidFill>
                <a:effectLst/>
                <a:uLnTx/>
                <a:uFillTx/>
                <a:latin typeface="Arial Regular" panose="020B0604020202090204" charset="0"/>
                <a:ea typeface="Libian SC" panose="02010600040101010101" pitchFamily="2" charset="-122"/>
                <a:cs typeface="Arial Regular" panose="020B0604020202090204" charset="0"/>
              </a:rPr>
              <a:t>助教：杨阳</a:t>
            </a:r>
          </a:p>
        </p:txBody>
      </p:sp>
      <p:sp>
        <p:nvSpPr>
          <p:cNvPr id="2" name="Rectangle 3"/>
          <p:cNvSpPr>
            <a:spLocks noChangeArrowheads="1"/>
          </p:cNvSpPr>
          <p:nvPr/>
        </p:nvSpPr>
        <p:spPr bwMode="auto">
          <a:xfrm>
            <a:off x="371475" y="715963"/>
            <a:ext cx="4487863" cy="1724025"/>
          </a:xfrm>
          <a:prstGeom prst="rect">
            <a:avLst/>
          </a:prstGeom>
          <a:noFill/>
          <a:ln>
            <a:noFill/>
          </a:ln>
        </p:spPr>
        <p:txBody>
          <a:bodyPr anchor="ctr"/>
          <a:lstStyle/>
          <a:p>
            <a:pPr eaLnBrk="1" hangingPunct="1">
              <a:lnSpc>
                <a:spcPct val="85000"/>
              </a:lnSpc>
            </a:pPr>
            <a:r>
              <a:rPr lang="en-US" sz="4400" dirty="0">
                <a:solidFill>
                  <a:srgbClr val="000099"/>
                </a:solidFill>
                <a:latin typeface="Gill Sans MT" pitchFamily="34" charset="0"/>
                <a:cs typeface="Arial" panose="020B0604020202090204" pitchFamily="34" charset="0"/>
              </a:rPr>
              <a:t>Chapter 5</a:t>
            </a:r>
            <a:br>
              <a:rPr lang="en-US" sz="4800" dirty="0">
                <a:solidFill>
                  <a:srgbClr val="000099"/>
                </a:solidFill>
                <a:latin typeface="Gill Sans MT" pitchFamily="34" charset="0"/>
                <a:cs typeface="Arial" panose="020B0604020202090204" pitchFamily="34" charset="0"/>
              </a:rPr>
            </a:br>
            <a:r>
              <a:rPr lang="en-US" sz="4000" dirty="0">
                <a:solidFill>
                  <a:srgbClr val="000099"/>
                </a:solidFill>
                <a:latin typeface="Gill Sans MT" pitchFamily="34" charset="0"/>
                <a:cs typeface="Arial" panose="020B0604020202090204" pitchFamily="34" charset="0"/>
              </a:rPr>
              <a:t>Network Layer:</a:t>
            </a:r>
          </a:p>
          <a:p>
            <a:pPr eaLnBrk="1" hangingPunct="1">
              <a:lnSpc>
                <a:spcPct val="85000"/>
              </a:lnSpc>
            </a:pPr>
            <a:r>
              <a:rPr lang="en-US" sz="4000" dirty="0">
                <a:solidFill>
                  <a:srgbClr val="000099"/>
                </a:solidFill>
                <a:latin typeface="Gill Sans MT" pitchFamily="34" charset="0"/>
                <a:cs typeface="Arial" panose="020B0604020202090204" pitchFamily="34" charset="0"/>
              </a:rPr>
              <a:t>The Control Plane</a:t>
            </a:r>
          </a:p>
        </p:txBody>
      </p:sp>
      <p:pic>
        <p:nvPicPr>
          <p:cNvPr id="3" name="Picture 9" descr="underline_bas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2438" y="2389188"/>
            <a:ext cx="3890962" cy="238125"/>
          </a:xfrm>
          <a:prstGeom prst="rect">
            <a:avLst/>
          </a:prstGeom>
          <a:noFill/>
          <a:ln>
            <a:noFill/>
          </a:ln>
        </p:spPr>
      </p:pic>
    </p:spTree>
  </p:cSld>
  <p:clrMapOvr>
    <a:masterClrMapping/>
  </p:clrMapOv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7" name="Picture 7"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0400" y="1027113"/>
            <a:ext cx="7324366" cy="229366"/>
          </a:xfrm>
          <a:prstGeom prst="rect">
            <a:avLst/>
          </a:prstGeom>
          <a:noFill/>
          <a:ln>
            <a:noFill/>
          </a:ln>
        </p:spPr>
      </p:pic>
      <p:sp>
        <p:nvSpPr>
          <p:cNvPr id="2053" name="Rectangle 2"/>
          <p:cNvSpPr>
            <a:spLocks noGrp="1" noChangeArrowheads="1"/>
          </p:cNvSpPr>
          <p:nvPr>
            <p:ph type="title"/>
          </p:nvPr>
        </p:nvSpPr>
        <p:spPr>
          <a:xfrm>
            <a:off x="533400" y="228600"/>
            <a:ext cx="8380730" cy="1143000"/>
          </a:xfrm>
        </p:spPr>
        <p:txBody>
          <a:bodyPr/>
          <a:lstStyle/>
          <a:p>
            <a:pPr>
              <a:defRPr/>
            </a:pPr>
            <a:r>
              <a:rPr lang="en-US" sz="3600" dirty="0">
                <a:cs typeface="+mj-cs"/>
              </a:rPr>
              <a:t>Chapter 5: network layer control plane</a:t>
            </a:r>
          </a:p>
        </p:txBody>
      </p:sp>
      <p:sp>
        <p:nvSpPr>
          <p:cNvPr id="2054" name="Rectangle 3"/>
          <p:cNvSpPr>
            <a:spLocks noGrp="1" noChangeArrowheads="1"/>
          </p:cNvSpPr>
          <p:nvPr>
            <p:ph type="body" idx="1"/>
          </p:nvPr>
        </p:nvSpPr>
        <p:spPr>
          <a:xfrm>
            <a:off x="533400" y="1600200"/>
            <a:ext cx="8064500" cy="4648200"/>
          </a:xfrm>
        </p:spPr>
        <p:txBody>
          <a:bodyPr/>
          <a:lstStyle/>
          <a:p>
            <a:pPr>
              <a:buFont typeface="Wingdings" panose="05000000000000000000" charset="0"/>
              <a:buNone/>
              <a:defRPr/>
            </a:pPr>
            <a:r>
              <a:rPr lang="en-US" sz="3200" i="1" dirty="0">
                <a:solidFill>
                  <a:srgbClr val="CC0000"/>
                </a:solidFill>
                <a:cs typeface="+mn-cs"/>
              </a:rPr>
              <a:t>chapter goals:</a:t>
            </a:r>
            <a:r>
              <a:rPr lang="en-US" sz="3200" dirty="0">
                <a:solidFill>
                  <a:srgbClr val="CC0000"/>
                </a:solidFill>
                <a:cs typeface="+mn-cs"/>
              </a:rPr>
              <a:t>  </a:t>
            </a:r>
            <a:r>
              <a:rPr lang="en-US" dirty="0">
                <a:cs typeface="+mn-cs"/>
              </a:rPr>
              <a:t>understand principles behind network control plane</a:t>
            </a:r>
          </a:p>
          <a:p>
            <a:pPr>
              <a:defRPr/>
            </a:pPr>
            <a:r>
              <a:rPr lang="en-US" dirty="0">
                <a:cs typeface="+mn-cs"/>
              </a:rPr>
              <a:t>traditional </a:t>
            </a:r>
            <a:r>
              <a:rPr lang="en-US" b="1" dirty="0">
                <a:solidFill>
                  <a:srgbClr val="C00000"/>
                </a:solidFill>
                <a:cs typeface="+mn-cs"/>
              </a:rPr>
              <a:t>routing algorithms</a:t>
            </a:r>
            <a:endParaRPr lang="en-US" dirty="0">
              <a:cs typeface="+mn-cs"/>
            </a:endParaRPr>
          </a:p>
          <a:p>
            <a:pPr>
              <a:defRPr/>
            </a:pPr>
            <a:r>
              <a:rPr lang="en-US" dirty="0">
                <a:cs typeface="+mn-cs"/>
              </a:rPr>
              <a:t>SDN </a:t>
            </a:r>
            <a:r>
              <a:rPr lang="en-US" dirty="0" err="1">
                <a:cs typeface="+mn-cs"/>
              </a:rPr>
              <a:t>controlllers</a:t>
            </a:r>
            <a:endParaRPr lang="en-US" dirty="0">
              <a:cs typeface="+mn-cs"/>
            </a:endParaRPr>
          </a:p>
          <a:p>
            <a:pPr>
              <a:defRPr/>
            </a:pPr>
            <a:r>
              <a:rPr lang="en-US" b="1" dirty="0">
                <a:solidFill>
                  <a:srgbClr val="C00000"/>
                </a:solidFill>
                <a:cs typeface="+mn-cs"/>
              </a:rPr>
              <a:t>I</a:t>
            </a:r>
            <a:r>
              <a:rPr lang="en-US" dirty="0"/>
              <a:t>nternet </a:t>
            </a:r>
            <a:r>
              <a:rPr lang="en-US" b="1" dirty="0">
                <a:solidFill>
                  <a:srgbClr val="C00000"/>
                </a:solidFill>
                <a:cs typeface="+mn-cs"/>
              </a:rPr>
              <a:t>C</a:t>
            </a:r>
            <a:r>
              <a:rPr lang="en-US" dirty="0"/>
              <a:t>ontrol </a:t>
            </a:r>
            <a:r>
              <a:rPr lang="en-US" b="1" dirty="0">
                <a:solidFill>
                  <a:srgbClr val="C00000"/>
                </a:solidFill>
                <a:cs typeface="+mn-cs"/>
              </a:rPr>
              <a:t>M</a:t>
            </a:r>
            <a:r>
              <a:rPr lang="en-US" dirty="0"/>
              <a:t>essage </a:t>
            </a:r>
            <a:r>
              <a:rPr lang="en-US" b="1" dirty="0">
                <a:solidFill>
                  <a:srgbClr val="C00000"/>
                </a:solidFill>
                <a:cs typeface="+mn-cs"/>
              </a:rPr>
              <a:t>P</a:t>
            </a:r>
            <a:r>
              <a:rPr lang="en-US" dirty="0"/>
              <a:t>rotocol</a:t>
            </a:r>
            <a:endParaRPr lang="en-US" dirty="0">
              <a:cs typeface="+mn-cs"/>
            </a:endParaRPr>
          </a:p>
          <a:p>
            <a:pPr>
              <a:defRPr/>
            </a:pPr>
            <a:r>
              <a:rPr lang="en-US" dirty="0">
                <a:cs typeface="+mn-cs"/>
              </a:rPr>
              <a:t>network management</a:t>
            </a:r>
          </a:p>
          <a:p>
            <a:pPr marL="0" indent="0">
              <a:buNone/>
              <a:defRPr/>
            </a:pPr>
            <a:endParaRPr lang="en-US" dirty="0">
              <a:cs typeface="+mn-cs"/>
            </a:endParaRPr>
          </a:p>
          <a:p>
            <a:pPr marL="0" indent="0">
              <a:buNone/>
              <a:defRPr/>
            </a:pPr>
            <a:r>
              <a:rPr lang="en-US" dirty="0">
                <a:cs typeface="+mn-cs"/>
              </a:rPr>
              <a:t>and their instantiation, implementation in the Internet:</a:t>
            </a:r>
          </a:p>
          <a:p>
            <a:pPr>
              <a:defRPr/>
            </a:pPr>
            <a:r>
              <a:rPr lang="en-US" dirty="0">
                <a:cs typeface="+mn-cs"/>
              </a:rPr>
              <a:t>OSPF, BGP, OpenFlow, ODL and ONOS controllers, ICMP, SNMP</a:t>
            </a:r>
          </a:p>
        </p:txBody>
      </p:sp>
      <p:sp>
        <p:nvSpPr>
          <p:cNvPr id="7" name="Slide Number Placeholder 5"/>
          <p:cNvSpPr>
            <a:spLocks noGrp="1"/>
          </p:cNvSpPr>
          <p:nvPr>
            <p:ph type="sldNum" sz="quarter" idx="12"/>
          </p:nvPr>
        </p:nvSpPr>
        <p:spPr>
          <a:xfrm>
            <a:off x="8456155" y="6475895"/>
            <a:ext cx="458808"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2</a:t>
            </a:fld>
            <a:endParaRPr lang="en-US" sz="1200" dirty="0">
              <a:latin typeface="Tahoma" panose="020B0604030504040204" charset="0"/>
            </a:endParaRPr>
          </a:p>
        </p:txBody>
      </p:sp>
      <p:sp>
        <p:nvSpPr>
          <p:cNvPr id="8"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p:spPr>
      </p:pic>
      <p:sp>
        <p:nvSpPr>
          <p:cNvPr id="43012" name="Rectangle 3"/>
          <p:cNvSpPr>
            <a:spLocks noGrp="1" noChangeArrowheads="1"/>
          </p:cNvSpPr>
          <p:nvPr>
            <p:ph type="body" sz="half" idx="1"/>
          </p:nvPr>
        </p:nvSpPr>
        <p:spPr/>
        <p:txBody>
          <a:bodyPr/>
          <a:lstStyle/>
          <a:p>
            <a:pPr>
              <a:lnSpc>
                <a:spcPct val="100000"/>
              </a:lnSpc>
              <a:buFont typeface="Wingdings" panose="05000000000000000000" charset="0"/>
              <a:buNone/>
            </a:pPr>
            <a:r>
              <a:rPr lang="en-US" sz="2400" dirty="0">
                <a:solidFill>
                  <a:srgbClr val="CC0000"/>
                </a:solidFill>
                <a:latin typeface="Gill Sans MT" pitchFamily="34" charset="0"/>
              </a:rPr>
              <a:t>5.1 introduction</a:t>
            </a:r>
          </a:p>
          <a:p>
            <a:pPr>
              <a:lnSpc>
                <a:spcPct val="100000"/>
              </a:lnSpc>
              <a:buFont typeface="Wingdings" panose="05000000000000000000" charset="0"/>
              <a:buNone/>
            </a:pPr>
            <a:r>
              <a:rPr lang="en-US" sz="2400" dirty="0">
                <a:latin typeface="Gill Sans MT" pitchFamily="34" charset="0"/>
              </a:rPr>
              <a:t>5.2 routing protocols</a:t>
            </a:r>
          </a:p>
          <a:p>
            <a:pPr>
              <a:lnSpc>
                <a:spcPct val="100000"/>
              </a:lnSpc>
            </a:pPr>
            <a:r>
              <a:rPr lang="en-US" sz="2400" dirty="0">
                <a:latin typeface="Gill Sans MT" pitchFamily="34" charset="0"/>
              </a:rPr>
              <a:t>link state</a:t>
            </a:r>
          </a:p>
          <a:p>
            <a:pPr>
              <a:lnSpc>
                <a:spcPct val="100000"/>
              </a:lnSpc>
            </a:pPr>
            <a:r>
              <a:rPr lang="en-US" sz="2400" dirty="0">
                <a:latin typeface="Gill Sans MT" pitchFamily="34" charset="0"/>
              </a:rPr>
              <a:t>distance vector</a:t>
            </a:r>
          </a:p>
          <a:p>
            <a:pPr marL="462280" indent="-462280">
              <a:lnSpc>
                <a:spcPct val="100000"/>
              </a:lnSpc>
              <a:buNone/>
            </a:pPr>
            <a:r>
              <a:rPr lang="en-US" sz="2400" dirty="0"/>
              <a:t>5.3 intra-AS routing in the Internet: OSPF</a:t>
            </a:r>
          </a:p>
          <a:p>
            <a:pPr marL="462280" indent="-462280">
              <a:lnSpc>
                <a:spcPct val="100000"/>
              </a:lnSpc>
              <a:buNone/>
            </a:pPr>
            <a:r>
              <a:rPr lang="en-US" sz="2400" dirty="0"/>
              <a:t>5.4 routing among the ISPs: BGP</a:t>
            </a:r>
            <a:endParaRPr lang="en-US" sz="2400" dirty="0">
              <a:latin typeface="Gill Sans MT" pitchFamily="34" charset="0"/>
            </a:endParaRPr>
          </a:p>
        </p:txBody>
      </p:sp>
      <p:sp>
        <p:nvSpPr>
          <p:cNvPr id="43013" name="Rectangle 4"/>
          <p:cNvSpPr>
            <a:spLocks noGrp="1" noChangeArrowheads="1"/>
          </p:cNvSpPr>
          <p:nvPr>
            <p:ph type="body" sz="half" idx="2"/>
          </p:nvPr>
        </p:nvSpPr>
        <p:spPr/>
        <p:txBody>
          <a:bodyPr/>
          <a:lstStyle/>
          <a:p>
            <a:pPr marL="462280" indent="-462280">
              <a:lnSpc>
                <a:spcPct val="100000"/>
              </a:lnSpc>
              <a:buFont typeface="Wingdings" panose="05000000000000000000" charset="0"/>
              <a:buNone/>
            </a:pPr>
            <a:r>
              <a:rPr lang="en-US" sz="2400" dirty="0">
                <a:latin typeface="Gill Sans MT" pitchFamily="34" charset="0"/>
              </a:rPr>
              <a:t>5.5 The SDN control plane</a:t>
            </a:r>
          </a:p>
          <a:p>
            <a:pPr marL="462280" indent="-462280">
              <a:lnSpc>
                <a:spcPct val="100000"/>
              </a:lnSpc>
              <a:buNone/>
            </a:pPr>
            <a:r>
              <a:rPr lang="en-US" sz="2400" dirty="0"/>
              <a:t>5.6 ICMP: The Internet Control Message Protocol </a:t>
            </a:r>
          </a:p>
          <a:p>
            <a:pPr marL="462280" indent="-462280">
              <a:lnSpc>
                <a:spcPct val="100000"/>
              </a:lnSpc>
              <a:buNone/>
            </a:pPr>
            <a:r>
              <a:rPr lang="en-US" sz="2400" dirty="0"/>
              <a:t>5.7 Network management and SNMP</a:t>
            </a:r>
            <a:endParaRPr lang="en-US" sz="2400" dirty="0">
              <a:latin typeface="Gill Sans MT" pitchFamily="34" charset="0"/>
            </a:endParaRPr>
          </a:p>
        </p:txBody>
      </p:sp>
      <p:sp>
        <p:nvSpPr>
          <p:cNvPr id="43014" name="Rectangle 2"/>
          <p:cNvSpPr>
            <a:spLocks noChangeArrowheads="1"/>
          </p:cNvSpPr>
          <p:nvPr/>
        </p:nvSpPr>
        <p:spPr bwMode="auto">
          <a:xfrm>
            <a:off x="533400" y="228600"/>
            <a:ext cx="7772400" cy="1143000"/>
          </a:xfrm>
          <a:prstGeom prst="rect">
            <a:avLst/>
          </a:prstGeom>
          <a:noFill/>
          <a:ln>
            <a:noFill/>
          </a:ln>
        </p:spPr>
        <p:txBody>
          <a:bodyPr anchor="ctr"/>
          <a:lstStyle/>
          <a:p>
            <a:r>
              <a:rPr lang="en-US" sz="4400" dirty="0">
                <a:solidFill>
                  <a:srgbClr val="000099"/>
                </a:solidFill>
                <a:latin typeface="Gill Sans MT" pitchFamily="34" charset="0"/>
              </a:rPr>
              <a:t>Chapter 5: outline</a:t>
            </a:r>
          </a:p>
        </p:txBody>
      </p:sp>
      <p:sp>
        <p:nvSpPr>
          <p:cNvPr id="8" name="Slide Number Placeholder 5"/>
          <p:cNvSpPr>
            <a:spLocks noGrp="1"/>
          </p:cNvSpPr>
          <p:nvPr>
            <p:ph type="sldNum" sz="quarter" idx="12"/>
          </p:nvPr>
        </p:nvSpPr>
        <p:spPr>
          <a:xfrm>
            <a:off x="8456155" y="6475895"/>
            <a:ext cx="458808"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3</a:t>
            </a:fld>
            <a:endParaRPr lang="en-US" sz="1200" dirty="0">
              <a:latin typeface="Tahoma" panose="020B0604030504040204" charset="0"/>
            </a:endParaRPr>
          </a:p>
        </p:txBody>
      </p:sp>
      <p:sp>
        <p:nvSpPr>
          <p:cNvPr id="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1826" y="1035050"/>
            <a:ext cx="5659786" cy="177308"/>
          </a:xfrm>
          <a:prstGeom prst="rect">
            <a:avLst/>
          </a:prstGeom>
          <a:noFill/>
          <a:ln>
            <a:noFill/>
          </a:ln>
        </p:spPr>
      </p:pic>
      <p:sp>
        <p:nvSpPr>
          <p:cNvPr id="5125" name="Rectangle 2"/>
          <p:cNvSpPr>
            <a:spLocks noGrp="1" noChangeArrowheads="1"/>
          </p:cNvSpPr>
          <p:nvPr>
            <p:ph type="title"/>
          </p:nvPr>
        </p:nvSpPr>
        <p:spPr/>
        <p:txBody>
          <a:bodyPr/>
          <a:lstStyle/>
          <a:p>
            <a:pPr>
              <a:defRPr/>
            </a:pPr>
            <a:r>
              <a:rPr lang="en-US" dirty="0">
                <a:cs typeface="+mj-cs"/>
              </a:rPr>
              <a:t>Network-layer functions</a:t>
            </a:r>
          </a:p>
        </p:txBody>
      </p:sp>
      <p:sp>
        <p:nvSpPr>
          <p:cNvPr id="45061" name="Rectangle 3"/>
          <p:cNvSpPr>
            <a:spLocks noGrp="1" noChangeArrowheads="1"/>
          </p:cNvSpPr>
          <p:nvPr>
            <p:ph type="body" idx="1"/>
          </p:nvPr>
        </p:nvSpPr>
        <p:spPr>
          <a:xfrm>
            <a:off x="624204" y="2135972"/>
            <a:ext cx="4184626" cy="1308577"/>
          </a:xfrm>
        </p:spPr>
        <p:txBody>
          <a:bodyPr/>
          <a:lstStyle/>
          <a:p>
            <a:pPr>
              <a:lnSpc>
                <a:spcPct val="90000"/>
              </a:lnSpc>
              <a:spcBef>
                <a:spcPts val="1200"/>
              </a:spcBef>
              <a:defRPr/>
            </a:pPr>
            <a:r>
              <a:rPr lang="en-US" sz="2400" i="1" dirty="0">
                <a:solidFill>
                  <a:srgbClr val="000099"/>
                </a:solidFill>
                <a:latin typeface="Gill Sans MT" pitchFamily="34" charset="0"/>
              </a:rPr>
              <a:t>forwarding:</a:t>
            </a:r>
            <a:r>
              <a:rPr lang="en-US" sz="2400" dirty="0">
                <a:latin typeface="Gill Sans MT" pitchFamily="34" charset="0"/>
              </a:rPr>
              <a:t> move packets from router</a:t>
            </a:r>
            <a:r>
              <a:rPr lang="ja-JP" altLang="en-US" sz="2400" dirty="0">
                <a:latin typeface="Gill Sans MT" pitchFamily="34" charset="0"/>
              </a:rPr>
              <a:t>’</a:t>
            </a:r>
            <a:r>
              <a:rPr lang="en-US" altLang="ja-JP" sz="2400" dirty="0">
                <a:latin typeface="Gill Sans MT" pitchFamily="34" charset="0"/>
              </a:rPr>
              <a:t>s input to appropriate router output</a:t>
            </a:r>
          </a:p>
          <a:p>
            <a:pPr>
              <a:buFont typeface="Wingdings" panose="05000000000000000000" charset="0"/>
              <a:buNone/>
              <a:defRPr/>
            </a:pPr>
            <a:endParaRPr lang="en-US" dirty="0">
              <a:latin typeface="Gill Sans MT" pitchFamily="34" charset="0"/>
            </a:endParaRPr>
          </a:p>
        </p:txBody>
      </p:sp>
      <p:sp>
        <p:nvSpPr>
          <p:cNvPr id="45062" name="Rectangle 4"/>
          <p:cNvSpPr>
            <a:spLocks noChangeArrowheads="1"/>
          </p:cNvSpPr>
          <p:nvPr/>
        </p:nvSpPr>
        <p:spPr bwMode="auto">
          <a:xfrm>
            <a:off x="4904354" y="2211504"/>
            <a:ext cx="2888003" cy="694303"/>
          </a:xfrm>
          <a:prstGeom prst="rect">
            <a:avLst/>
          </a:prstGeom>
          <a:noFill/>
          <a:ln>
            <a:noFill/>
          </a:ln>
        </p:spPr>
        <p:txBody>
          <a:bodyPr/>
          <a:lstStyle/>
          <a:p>
            <a:pPr marL="342900" indent="-342900">
              <a:lnSpc>
                <a:spcPct val="85000"/>
              </a:lnSpc>
              <a:spcBef>
                <a:spcPts val="600"/>
              </a:spcBef>
              <a:buClr>
                <a:srgbClr val="000099"/>
              </a:buClr>
              <a:buSzPct val="65000"/>
              <a:buFont typeface="Wingdings" panose="05000000000000000000" charset="0"/>
              <a:buNone/>
              <a:defRPr/>
            </a:pPr>
            <a:r>
              <a:rPr lang="en-US" sz="3600" i="1" dirty="0">
                <a:solidFill>
                  <a:srgbClr val="000090"/>
                </a:solidFill>
                <a:latin typeface="Gill Sans MT" pitchFamily="34" charset="0"/>
              </a:rPr>
              <a:t>data plane</a:t>
            </a:r>
          </a:p>
          <a:p>
            <a:pPr marL="342900" indent="-342900">
              <a:lnSpc>
                <a:spcPct val="85000"/>
              </a:lnSpc>
              <a:spcBef>
                <a:spcPts val="600"/>
              </a:spcBef>
              <a:buClr>
                <a:srgbClr val="000099"/>
              </a:buClr>
              <a:buSzPct val="65000"/>
              <a:buFont typeface="Wingdings" panose="05000000000000000000" charset="0"/>
              <a:buNone/>
              <a:defRPr/>
            </a:pPr>
            <a:endParaRPr lang="en-US" sz="2800" dirty="0">
              <a:latin typeface="Gill Sans MT" pitchFamily="34" charset="0"/>
            </a:endParaRPr>
          </a:p>
          <a:p>
            <a:pPr marL="342900" indent="-342900">
              <a:lnSpc>
                <a:spcPct val="85000"/>
              </a:lnSpc>
              <a:spcBef>
                <a:spcPct val="20000"/>
              </a:spcBef>
              <a:buClr>
                <a:srgbClr val="000099"/>
              </a:buClr>
              <a:buSzPct val="65000"/>
              <a:buFont typeface="Wingdings" panose="05000000000000000000" charset="0"/>
              <a:buChar char="v"/>
              <a:defRPr/>
            </a:pPr>
            <a:endParaRPr lang="en-US" sz="2800" dirty="0">
              <a:latin typeface="Gill Sans MT" pitchFamily="34" charset="0"/>
            </a:endParaRPr>
          </a:p>
        </p:txBody>
      </p:sp>
      <p:sp>
        <p:nvSpPr>
          <p:cNvPr id="8" name="Rectangle 4"/>
          <p:cNvSpPr>
            <a:spLocks noChangeArrowheads="1"/>
          </p:cNvSpPr>
          <p:nvPr/>
        </p:nvSpPr>
        <p:spPr bwMode="auto">
          <a:xfrm>
            <a:off x="4941818" y="3342607"/>
            <a:ext cx="3293068" cy="814043"/>
          </a:xfrm>
          <a:prstGeom prst="rect">
            <a:avLst/>
          </a:prstGeom>
          <a:noFill/>
          <a:ln>
            <a:noFill/>
          </a:ln>
        </p:spPr>
        <p:txBody>
          <a:bodyPr/>
          <a:lstStyle/>
          <a:p>
            <a:pPr>
              <a:lnSpc>
                <a:spcPct val="85000"/>
              </a:lnSpc>
              <a:spcBef>
                <a:spcPts val="600"/>
              </a:spcBef>
              <a:buClr>
                <a:srgbClr val="000099"/>
              </a:buClr>
              <a:buSzPct val="100000"/>
              <a:defRPr/>
            </a:pPr>
            <a:r>
              <a:rPr lang="en-US" sz="3600" i="1" dirty="0">
                <a:solidFill>
                  <a:srgbClr val="000099"/>
                </a:solidFill>
                <a:latin typeface="Gill Sans MT" pitchFamily="34" charset="0"/>
              </a:rPr>
              <a:t>control</a:t>
            </a:r>
            <a:r>
              <a:rPr lang="en-US" sz="3600" b="1" i="1" dirty="0">
                <a:solidFill>
                  <a:srgbClr val="000099"/>
                </a:solidFill>
                <a:latin typeface="Gill Sans MT" pitchFamily="34" charset="0"/>
              </a:rPr>
              <a:t> </a:t>
            </a:r>
            <a:r>
              <a:rPr lang="en-US" sz="3600" i="1" dirty="0">
                <a:solidFill>
                  <a:srgbClr val="000099"/>
                </a:solidFill>
                <a:latin typeface="Gill Sans MT" pitchFamily="34" charset="0"/>
              </a:rPr>
              <a:t>plane</a:t>
            </a:r>
            <a:endParaRPr lang="en-US" sz="3600" i="1" dirty="0">
              <a:latin typeface="Gill Sans MT" pitchFamily="34" charset="0"/>
            </a:endParaRPr>
          </a:p>
          <a:p>
            <a:pPr marL="342900" indent="-342900">
              <a:lnSpc>
                <a:spcPct val="85000"/>
              </a:lnSpc>
              <a:spcBef>
                <a:spcPct val="70000"/>
              </a:spcBef>
              <a:buClr>
                <a:srgbClr val="000099"/>
              </a:buClr>
              <a:buSzPct val="65000"/>
              <a:buFont typeface="Wingdings" panose="05000000000000000000" charset="0"/>
              <a:buChar char="v"/>
              <a:defRPr/>
            </a:pPr>
            <a:endParaRPr lang="en-US" sz="2800" dirty="0">
              <a:latin typeface="Gill Sans MT" pitchFamily="34" charset="0"/>
            </a:endParaRPr>
          </a:p>
          <a:p>
            <a:pPr>
              <a:lnSpc>
                <a:spcPct val="85000"/>
              </a:lnSpc>
              <a:spcBef>
                <a:spcPct val="20000"/>
              </a:spcBef>
              <a:buClr>
                <a:srgbClr val="000099"/>
              </a:buClr>
              <a:buSzPct val="65000"/>
              <a:defRPr/>
            </a:pPr>
            <a:endParaRPr lang="en-US" sz="2800" dirty="0">
              <a:latin typeface="Gill Sans MT" pitchFamily="34" charset="0"/>
            </a:endParaRPr>
          </a:p>
        </p:txBody>
      </p:sp>
      <p:sp>
        <p:nvSpPr>
          <p:cNvPr id="2" name="TextBox 1"/>
          <p:cNvSpPr txBox="1"/>
          <p:nvPr/>
        </p:nvSpPr>
        <p:spPr>
          <a:xfrm>
            <a:off x="533584" y="4695311"/>
            <a:ext cx="8753475" cy="1198880"/>
          </a:xfrm>
          <a:prstGeom prst="rect">
            <a:avLst/>
          </a:prstGeom>
          <a:noFill/>
        </p:spPr>
        <p:txBody>
          <a:bodyPr wrap="none" rtlCol="0">
            <a:spAutoFit/>
          </a:bodyPr>
          <a:lstStyle/>
          <a:p>
            <a:r>
              <a:rPr lang="en-US" sz="2400" i="1" dirty="0">
                <a:solidFill>
                  <a:srgbClr val="CC0000"/>
                </a:solidFill>
                <a:latin typeface="Gill Sans MT"/>
                <a:cs typeface="Gill Sans MT"/>
              </a:rPr>
              <a:t>Two approaches to structuring network control plane:</a:t>
            </a:r>
          </a:p>
          <a:p>
            <a:pPr marL="346075" indent="-346075">
              <a:buClr>
                <a:srgbClr val="000090"/>
              </a:buClr>
              <a:buFont typeface="Wingdings" panose="05000000000000000000" pitchFamily="2" charset="2"/>
              <a:buChar char="§"/>
            </a:pPr>
            <a:r>
              <a:rPr lang="en-US" sz="2400" dirty="0">
                <a:latin typeface="Gill Sans MT"/>
                <a:cs typeface="Gill Sans MT"/>
              </a:rPr>
              <a:t>per-router control (traditional)</a:t>
            </a:r>
          </a:p>
          <a:p>
            <a:pPr marL="346075" indent="-346075">
              <a:buClr>
                <a:srgbClr val="000090"/>
              </a:buClr>
              <a:buFont typeface="Wingdings" panose="05000000000000000000" pitchFamily="2" charset="2"/>
              <a:buChar char="§"/>
            </a:pPr>
            <a:r>
              <a:rPr lang="en-US" sz="2400" dirty="0">
                <a:latin typeface="Gill Sans MT"/>
                <a:cs typeface="Gill Sans MT"/>
              </a:rPr>
              <a:t>logically centralized control (</a:t>
            </a:r>
            <a:r>
              <a:rPr lang="en-US" sz="2400" dirty="0">
                <a:solidFill>
                  <a:srgbClr val="C00000"/>
                </a:solidFill>
                <a:latin typeface="Gill Sans MT"/>
                <a:cs typeface="Gill Sans MT"/>
              </a:rPr>
              <a:t>s</a:t>
            </a:r>
            <a:r>
              <a:rPr lang="en-US" sz="2400" dirty="0">
                <a:latin typeface="Gill Sans MT"/>
                <a:cs typeface="Gill Sans MT"/>
              </a:rPr>
              <a:t>oftware </a:t>
            </a:r>
            <a:r>
              <a:rPr lang="en-US" sz="2400" dirty="0">
                <a:solidFill>
                  <a:srgbClr val="C00000"/>
                </a:solidFill>
                <a:latin typeface="Gill Sans MT"/>
                <a:cs typeface="Gill Sans MT"/>
              </a:rPr>
              <a:t>d</a:t>
            </a:r>
            <a:r>
              <a:rPr lang="en-US" sz="2400" dirty="0">
                <a:latin typeface="Gill Sans MT"/>
                <a:cs typeface="Gill Sans MT"/>
              </a:rPr>
              <a:t>efined </a:t>
            </a:r>
            <a:r>
              <a:rPr lang="en-US" sz="2400" dirty="0">
                <a:solidFill>
                  <a:srgbClr val="C00000"/>
                </a:solidFill>
                <a:latin typeface="Gill Sans MT"/>
                <a:cs typeface="Gill Sans MT"/>
              </a:rPr>
              <a:t>n</a:t>
            </a:r>
            <a:r>
              <a:rPr lang="en-US" sz="2400" dirty="0">
                <a:latin typeface="Gill Sans MT"/>
                <a:cs typeface="Gill Sans MT"/>
              </a:rPr>
              <a:t>etworking)</a:t>
            </a:r>
          </a:p>
        </p:txBody>
      </p:sp>
      <p:sp>
        <p:nvSpPr>
          <p:cNvPr id="12" name="Rectangle 3"/>
          <p:cNvSpPr txBox="1">
            <a:spLocks noChangeArrowheads="1"/>
          </p:cNvSpPr>
          <p:nvPr/>
        </p:nvSpPr>
        <p:spPr bwMode="auto">
          <a:xfrm>
            <a:off x="682307" y="1366418"/>
            <a:ext cx="5783102" cy="579001"/>
          </a:xfrm>
          <a:prstGeom prst="rect">
            <a:avLst/>
          </a:prstGeom>
          <a:noFill/>
          <a:ln>
            <a:noFill/>
          </a:ln>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pPr marL="0" indent="0">
              <a:spcBef>
                <a:spcPts val="600"/>
              </a:spcBef>
              <a:buFont typeface="Wingdings" panose="05000000000000000000" charset="0"/>
              <a:buNone/>
              <a:defRPr/>
            </a:pPr>
            <a:r>
              <a:rPr lang="en-US" b="1" i="1" dirty="0">
                <a:solidFill>
                  <a:schemeClr val="accent1">
                    <a:lumMod val="75000"/>
                  </a:schemeClr>
                </a:solidFill>
                <a:latin typeface="Gill Sans MT" pitchFamily="34" charset="0"/>
              </a:rPr>
              <a:t>Recall</a:t>
            </a:r>
            <a:r>
              <a:rPr lang="en-US" i="1" dirty="0">
                <a:solidFill>
                  <a:srgbClr val="CC0000"/>
                </a:solidFill>
                <a:latin typeface="Gill Sans MT" pitchFamily="34" charset="0"/>
              </a:rPr>
              <a:t>: two network-layer functions:</a:t>
            </a:r>
            <a:endParaRPr lang="en-US" dirty="0">
              <a:latin typeface="Gill Sans MT" pitchFamily="34" charset="0"/>
            </a:endParaRPr>
          </a:p>
        </p:txBody>
      </p:sp>
      <p:sp>
        <p:nvSpPr>
          <p:cNvPr id="13" name="Slide Number Placeholder 5"/>
          <p:cNvSpPr>
            <a:spLocks noGrp="1"/>
          </p:cNvSpPr>
          <p:nvPr>
            <p:ph type="sldNum" sz="quarter" idx="12"/>
          </p:nvPr>
        </p:nvSpPr>
        <p:spPr>
          <a:xfrm>
            <a:off x="8456155" y="6475895"/>
            <a:ext cx="458808"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4</a:t>
            </a:fld>
            <a:endParaRPr lang="en-US" sz="1200" dirty="0">
              <a:latin typeface="Tahoma" panose="020B0604030504040204" charset="0"/>
            </a:endParaRPr>
          </a:p>
        </p:txBody>
      </p:sp>
      <p:sp>
        <p:nvSpPr>
          <p:cNvPr id="14"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
        <p:nvSpPr>
          <p:cNvPr id="15" name="Rectangle 3"/>
          <p:cNvSpPr txBox="1">
            <a:spLocks noChangeArrowheads="1"/>
          </p:cNvSpPr>
          <p:nvPr/>
        </p:nvSpPr>
        <p:spPr bwMode="auto">
          <a:xfrm>
            <a:off x="622682" y="3546032"/>
            <a:ext cx="4184626" cy="1329370"/>
          </a:xfrm>
          <a:prstGeom prst="rect">
            <a:avLst/>
          </a:prstGeom>
          <a:noFill/>
          <a:ln>
            <a:noFill/>
          </a:ln>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pPr>
              <a:lnSpc>
                <a:spcPct val="90000"/>
              </a:lnSpc>
              <a:spcBef>
                <a:spcPts val="1200"/>
              </a:spcBef>
              <a:defRPr/>
            </a:pPr>
            <a:r>
              <a:rPr lang="en-US" sz="2400" i="1" dirty="0">
                <a:solidFill>
                  <a:srgbClr val="000099"/>
                </a:solidFill>
                <a:latin typeface="Gill Sans MT" pitchFamily="34" charset="0"/>
              </a:rPr>
              <a:t>routing:</a:t>
            </a:r>
            <a:r>
              <a:rPr lang="en-US" sz="2400" dirty="0">
                <a:latin typeface="Gill Sans MT" pitchFamily="34" charset="0"/>
              </a:rPr>
              <a:t> determine route taken by packets from source to destination</a:t>
            </a:r>
          </a:p>
          <a:p>
            <a:pPr>
              <a:buFont typeface="Wingdings" panose="05000000000000000000" charset="0"/>
              <a:buNone/>
              <a:defRPr/>
            </a:pPr>
            <a:endParaRPr lang="en-US" dirty="0">
              <a:latin typeface="Gill Sans MT"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par>
                          <p:cTn id="8" fill="hold">
                            <p:stCondLst>
                              <p:cond delay="500"/>
                            </p:stCondLst>
                            <p:childTnLst>
                              <p:par>
                                <p:cTn id="9" presetID="9" presetClass="exit" presetSubtype="0" fill="hold" grpId="0" nodeType="afterEffect">
                                  <p:stCondLst>
                                    <p:cond delay="0"/>
                                  </p:stCondLst>
                                  <p:childTnLst>
                                    <p:animEffect transition="out" filter="dissolve">
                                      <p:cBhvr>
                                        <p:cTn id="10" dur="500"/>
                                        <p:tgtEl>
                                          <p:spTgt spid="45061">
                                            <p:txEl>
                                              <p:pRg st="0" end="0"/>
                                            </p:txEl>
                                          </p:spTgt>
                                        </p:tgtEl>
                                      </p:cBhvr>
                                    </p:animEffect>
                                    <p:set>
                                      <p:cBhvr>
                                        <p:cTn id="11" dur="1" fill="hold">
                                          <p:stCondLst>
                                            <p:cond delay="499"/>
                                          </p:stCondLst>
                                        </p:cTn>
                                        <p:tgtEl>
                                          <p:spTgt spid="45061">
                                            <p:txEl>
                                              <p:pRg st="0" end="0"/>
                                            </p:txEl>
                                          </p:spTgt>
                                        </p:tgtEl>
                                        <p:attrNameLst>
                                          <p:attrName>style.visibility</p:attrName>
                                        </p:attrNameLst>
                                      </p:cBhvr>
                                      <p:to>
                                        <p:strVal val="hidden"/>
                                      </p:to>
                                    </p:set>
                                  </p:childTnLst>
                                </p:cTn>
                              </p:par>
                              <p:par>
                                <p:cTn id="12" presetID="9" presetClass="exit" presetSubtype="0" fill="hold" grpId="0" nodeType="withEffect">
                                  <p:stCondLst>
                                    <p:cond delay="0"/>
                                  </p:stCondLst>
                                  <p:childTnLst>
                                    <p:animEffect transition="out" filter="dissolve">
                                      <p:cBhvr>
                                        <p:cTn id="13" dur="500"/>
                                        <p:tgtEl>
                                          <p:spTgt spid="45062"/>
                                        </p:tgtEl>
                                      </p:cBhvr>
                                    </p:animEffect>
                                    <p:set>
                                      <p:cBhvr>
                                        <p:cTn id="14" dur="1" fill="hold">
                                          <p:stCondLst>
                                            <p:cond delay="499"/>
                                          </p:stCondLst>
                                        </p:cTn>
                                        <p:tgtEl>
                                          <p:spTgt spid="45062"/>
                                        </p:tgtEl>
                                        <p:attrNameLst>
                                          <p:attrName>style.visibility</p:attrName>
                                        </p:attrNameLst>
                                      </p:cBhvr>
                                      <p:to>
                                        <p:strVal val="hidden"/>
                                      </p:to>
                                    </p:set>
                                  </p:childTnLst>
                                </p:cTn>
                              </p:par>
                              <p:par>
                                <p:cTn id="15" presetID="9" presetClass="exit" presetSubtype="0" fill="hold" grpId="0" nodeType="withEffect">
                                  <p:stCondLst>
                                    <p:cond delay="0"/>
                                  </p:stCondLst>
                                  <p:childTnLst>
                                    <p:animEffect transition="out" filter="dissolve">
                                      <p:cBhvr>
                                        <p:cTn id="16" dur="500"/>
                                        <p:tgtEl>
                                          <p:spTgt spid="12"/>
                                        </p:tgtEl>
                                      </p:cBhvr>
                                    </p:animEffect>
                                    <p:set>
                                      <p:cBhvr>
                                        <p:cTn id="17"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61" grpId="0" build="p"/>
      <p:bldP spid="45062" grpId="0"/>
      <p:bldP spid="2" grpId="0"/>
      <p:bldP spid="1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43"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7863" y="819150"/>
            <a:ext cx="4727928" cy="181526"/>
          </a:xfrm>
          <a:prstGeom prst="rect">
            <a:avLst/>
          </a:prstGeom>
          <a:noFill/>
          <a:ln>
            <a:noFill/>
          </a:ln>
        </p:spPr>
      </p:pic>
      <p:sp>
        <p:nvSpPr>
          <p:cNvPr id="47105" name="Freeform 2"/>
          <p:cNvSpPr/>
          <p:nvPr/>
        </p:nvSpPr>
        <p:spPr bwMode="auto">
          <a:xfrm>
            <a:off x="2592388" y="576642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p:spPr>
        <p:txBody>
          <a:bodyPr wrap="none" anchor="ctr"/>
          <a:lstStyle/>
          <a:p>
            <a:endParaRPr lang="en-US"/>
          </a:p>
        </p:txBody>
      </p:sp>
      <p:cxnSp>
        <p:nvCxnSpPr>
          <p:cNvPr id="148" name="Straight Connector 147"/>
          <p:cNvCxnSpPr/>
          <p:nvPr/>
        </p:nvCxnSpPr>
        <p:spPr>
          <a:xfrm flipV="1">
            <a:off x="3222625" y="5918826"/>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3111500" y="6104563"/>
            <a:ext cx="2259013" cy="3000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3124200" y="6210926"/>
            <a:ext cx="714375" cy="274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4141788" y="6404601"/>
            <a:ext cx="1247775" cy="809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4802188" y="595057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4086225" y="6104563"/>
            <a:ext cx="1790700" cy="3000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5413375" y="6133138"/>
            <a:ext cx="588963" cy="27146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4556125" y="5918826"/>
            <a:ext cx="814388" cy="4000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7128" name="Group 7"/>
          <p:cNvGrpSpPr/>
          <p:nvPr/>
        </p:nvGrpSpPr>
        <p:grpSpPr bwMode="auto">
          <a:xfrm>
            <a:off x="3681413" y="6344276"/>
            <a:ext cx="563562" cy="293687"/>
            <a:chOff x="1871277" y="1576300"/>
            <a:chExt cx="1128371" cy="437861"/>
          </a:xfrm>
        </p:grpSpPr>
        <p:sp>
          <p:nvSpPr>
            <p:cNvPr id="318" name="Oval 317"/>
            <p:cNvSpPr/>
            <p:nvPr/>
          </p:nvSpPr>
          <p:spPr bwMode="auto">
            <a:xfrm flipV="1">
              <a:off x="1874455" y="1694641"/>
              <a:ext cx="1125193"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Rectangle 318"/>
            <p:cNvSpPr/>
            <p:nvPr/>
          </p:nvSpPr>
          <p:spPr bwMode="auto">
            <a:xfrm>
              <a:off x="1871277" y="1739610"/>
              <a:ext cx="1128371" cy="11597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Oval 319"/>
            <p:cNvSpPr/>
            <p:nvPr/>
          </p:nvSpPr>
          <p:spPr bwMode="auto">
            <a:xfrm flipV="1">
              <a:off x="1871277" y="1576300"/>
              <a:ext cx="1125193"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4" name="Freeform 323"/>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5" name="Freeform 324"/>
            <p:cNvSpPr/>
            <p:nvPr/>
          </p:nvSpPr>
          <p:spPr bwMode="auto">
            <a:xfrm>
              <a:off x="2103307" y="1633104"/>
              <a:ext cx="661131" cy="111240"/>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6" name="Freeform 325"/>
            <p:cNvSpPr/>
            <p:nvPr/>
          </p:nvSpPr>
          <p:spPr bwMode="auto">
            <a:xfrm>
              <a:off x="2538765" y="1727776"/>
              <a:ext cx="241567" cy="97039"/>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7" name="Freeform 326"/>
            <p:cNvSpPr/>
            <p:nvPr/>
          </p:nvSpPr>
          <p:spPr bwMode="auto">
            <a:xfrm>
              <a:off x="2090593" y="1730143"/>
              <a:ext cx="238389" cy="9704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2" name="Straight Connector 321"/>
            <p:cNvCxnSpPr>
              <a:endCxn id="320" idx="2"/>
            </p:cNvCxnSpPr>
            <p:nvPr/>
          </p:nvCxnSpPr>
          <p:spPr bwMode="auto">
            <a:xfrm flipH="1" flipV="1">
              <a:off x="1871277" y="1737244"/>
              <a:ext cx="3178"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3" name="Straight Connector 322"/>
            <p:cNvCxnSpPr/>
            <p:nvPr/>
          </p:nvCxnSpPr>
          <p:spPr bwMode="auto">
            <a:xfrm flipH="1" flipV="1">
              <a:off x="2996470" y="1734876"/>
              <a:ext cx="3178"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29" name="Group 327"/>
          <p:cNvGrpSpPr/>
          <p:nvPr/>
        </p:nvGrpSpPr>
        <p:grpSpPr bwMode="auto">
          <a:xfrm>
            <a:off x="4376738" y="5802938"/>
            <a:ext cx="565150" cy="292100"/>
            <a:chOff x="1871277" y="1576300"/>
            <a:chExt cx="1128371" cy="437861"/>
          </a:xfrm>
        </p:grpSpPr>
        <p:sp>
          <p:nvSpPr>
            <p:cNvPr id="329" name="Oval 32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0" name="Rectangle 32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1" name="Oval 33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2" name="Freeform 33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3" name="Freeform 33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4" name="Freeform 33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5" name="Freeform 33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36" name="Straight Connector 335"/>
            <p:cNvCxnSpPr>
              <a:endCxn id="33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0" name="Group 337"/>
          <p:cNvGrpSpPr/>
          <p:nvPr/>
        </p:nvGrpSpPr>
        <p:grpSpPr bwMode="auto">
          <a:xfrm>
            <a:off x="5019675" y="6256963"/>
            <a:ext cx="563563" cy="293688"/>
            <a:chOff x="1871277" y="1576300"/>
            <a:chExt cx="1128371" cy="437861"/>
          </a:xfrm>
        </p:grpSpPr>
        <p:sp>
          <p:nvSpPr>
            <p:cNvPr id="339" name="Oval 338"/>
            <p:cNvSpPr/>
            <p:nvPr/>
          </p:nvSpPr>
          <p:spPr bwMode="auto">
            <a:xfrm flipV="1">
              <a:off x="1874457" y="1694641"/>
              <a:ext cx="1125191"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0" name="Rectangle 33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1" name="Oval 340"/>
            <p:cNvSpPr/>
            <p:nvPr/>
          </p:nvSpPr>
          <p:spPr bwMode="auto">
            <a:xfrm flipV="1">
              <a:off x="1871277" y="1576300"/>
              <a:ext cx="1125191"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2" name="Freeform 341"/>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3" name="Freeform 342"/>
            <p:cNvSpPr/>
            <p:nvPr/>
          </p:nvSpPr>
          <p:spPr bwMode="auto">
            <a:xfrm>
              <a:off x="2103309" y="1633103"/>
              <a:ext cx="661129"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4" name="Freeform 343"/>
            <p:cNvSpPr/>
            <p:nvPr/>
          </p:nvSpPr>
          <p:spPr bwMode="auto">
            <a:xfrm>
              <a:off x="2538763" y="1727776"/>
              <a:ext cx="24156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5" name="Freeform 344"/>
            <p:cNvSpPr/>
            <p:nvPr/>
          </p:nvSpPr>
          <p:spPr bwMode="auto">
            <a:xfrm>
              <a:off x="2090595" y="1730144"/>
              <a:ext cx="238387"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6" name="Straight Connector 345"/>
            <p:cNvCxnSpPr>
              <a:endCxn id="341" idx="2"/>
            </p:cNvCxnSpPr>
            <p:nvPr/>
          </p:nvCxnSpPr>
          <p:spPr bwMode="auto">
            <a:xfrm flipH="1" flipV="1">
              <a:off x="1871277" y="1737243"/>
              <a:ext cx="3180"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p:nvPr/>
          </p:nvCxnSpPr>
          <p:spPr bwMode="auto">
            <a:xfrm flipH="1" flipV="1">
              <a:off x="2996468" y="1734877"/>
              <a:ext cx="3180"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1" name="Group 347"/>
          <p:cNvGrpSpPr/>
          <p:nvPr/>
        </p:nvGrpSpPr>
        <p:grpSpPr bwMode="auto">
          <a:xfrm>
            <a:off x="5741988" y="5942638"/>
            <a:ext cx="565150" cy="293688"/>
            <a:chOff x="1871277" y="1576300"/>
            <a:chExt cx="1128371" cy="437861"/>
          </a:xfrm>
        </p:grpSpPr>
        <p:sp>
          <p:nvSpPr>
            <p:cNvPr id="349" name="Oval 34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0" name="Rectangle 34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1" name="Oval 35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2" name="Freeform 35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3" name="Freeform 35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4" name="Freeform 35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5" name="Freeform 35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6" name="Straight Connector 355"/>
            <p:cNvCxnSpPr>
              <a:endCxn id="35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57" name="Straight Connector 35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2" name="Group 357"/>
          <p:cNvGrpSpPr/>
          <p:nvPr/>
        </p:nvGrpSpPr>
        <p:grpSpPr bwMode="auto">
          <a:xfrm>
            <a:off x="2714625" y="5988676"/>
            <a:ext cx="565150" cy="293687"/>
            <a:chOff x="1871277" y="1576300"/>
            <a:chExt cx="1128371" cy="437861"/>
          </a:xfrm>
        </p:grpSpPr>
        <p:sp>
          <p:nvSpPr>
            <p:cNvPr id="359" name="Oval 358"/>
            <p:cNvSpPr/>
            <p:nvPr/>
          </p:nvSpPr>
          <p:spPr bwMode="auto">
            <a:xfrm flipV="1">
              <a:off x="1874448" y="1694641"/>
              <a:ext cx="1125200"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0" name="Rectangle 359"/>
            <p:cNvSpPr/>
            <p:nvPr/>
          </p:nvSpPr>
          <p:spPr bwMode="auto">
            <a:xfrm>
              <a:off x="1871277" y="1739610"/>
              <a:ext cx="1128371" cy="11597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1" name="Oval 360"/>
            <p:cNvSpPr/>
            <p:nvPr/>
          </p:nvSpPr>
          <p:spPr bwMode="auto">
            <a:xfrm flipV="1">
              <a:off x="1871277" y="1576300"/>
              <a:ext cx="1125202"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2" name="Freeform 361"/>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3" name="Freeform 362"/>
            <p:cNvSpPr/>
            <p:nvPr/>
          </p:nvSpPr>
          <p:spPr bwMode="auto">
            <a:xfrm>
              <a:off x="2102657" y="1633104"/>
              <a:ext cx="662442" cy="111240"/>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4" name="Freeform 363"/>
            <p:cNvSpPr/>
            <p:nvPr/>
          </p:nvSpPr>
          <p:spPr bwMode="auto">
            <a:xfrm>
              <a:off x="2536889" y="1727776"/>
              <a:ext cx="244059" cy="97039"/>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Freeform 364"/>
            <p:cNvSpPr/>
            <p:nvPr/>
          </p:nvSpPr>
          <p:spPr bwMode="auto">
            <a:xfrm>
              <a:off x="2089979" y="1730143"/>
              <a:ext cx="240888" cy="9704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66" name="Straight Connector 365"/>
            <p:cNvCxnSpPr>
              <a:endCxn id="361" idx="2"/>
            </p:cNvCxnSpPr>
            <p:nvPr/>
          </p:nvCxnSpPr>
          <p:spPr bwMode="auto">
            <a:xfrm flipH="1" flipV="1">
              <a:off x="1871277" y="1737244"/>
              <a:ext cx="3171"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p:nvPr/>
          </p:nvCxnSpPr>
          <p:spPr bwMode="auto">
            <a:xfrm flipH="1" flipV="1">
              <a:off x="2996479" y="1734876"/>
              <a:ext cx="3169"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 name="Group 23"/>
          <p:cNvGrpSpPr/>
          <p:nvPr/>
        </p:nvGrpSpPr>
        <p:grpSpPr>
          <a:xfrm>
            <a:off x="1757805" y="2660292"/>
            <a:ext cx="5270058" cy="3804634"/>
            <a:chOff x="1757805" y="2331054"/>
            <a:chExt cx="5270058" cy="3804634"/>
          </a:xfrm>
        </p:grpSpPr>
        <p:sp>
          <p:nvSpPr>
            <p:cNvPr id="268" name="Freeform 267"/>
            <p:cNvSpPr/>
            <p:nvPr/>
          </p:nvSpPr>
          <p:spPr>
            <a:xfrm>
              <a:off x="1776413" y="4829175"/>
              <a:ext cx="1220787" cy="920750"/>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1040633"/>
                <a:gd name="connsiteY0-162" fmla="*/ 1160935 h 1160935"/>
                <a:gd name="connsiteX1-163" fmla="*/ 0 w 1040633"/>
                <a:gd name="connsiteY1-164" fmla="*/ 0 h 1160935"/>
                <a:gd name="connsiteX2-165" fmla="*/ 1040633 w 1040633"/>
                <a:gd name="connsiteY2-166" fmla="*/ 16785 h 1160935"/>
                <a:gd name="connsiteX3-167" fmla="*/ 569478 w 1040633"/>
                <a:gd name="connsiteY3-168" fmla="*/ 1158121 h 1160935"/>
                <a:gd name="connsiteX4-169" fmla="*/ 363082 w 1040633"/>
                <a:gd name="connsiteY4-170" fmla="*/ 1160935 h 1160935"/>
                <a:gd name="connsiteX0-171" fmla="*/ 363082 w 1040633"/>
                <a:gd name="connsiteY0-172" fmla="*/ 1160935 h 1160935"/>
                <a:gd name="connsiteX1-173" fmla="*/ 0 w 1040633"/>
                <a:gd name="connsiteY1-174" fmla="*/ 0 h 1160935"/>
                <a:gd name="connsiteX2-175" fmla="*/ 1040633 w 1040633"/>
                <a:gd name="connsiteY2-176" fmla="*/ 16785 h 1160935"/>
                <a:gd name="connsiteX3-177" fmla="*/ 569478 w 1040633"/>
                <a:gd name="connsiteY3-178" fmla="*/ 1158121 h 1160935"/>
                <a:gd name="connsiteX4-179" fmla="*/ 363082 w 1040633"/>
                <a:gd name="connsiteY4-180" fmla="*/ 1160935 h 1160935"/>
                <a:gd name="connsiteX0-181" fmla="*/ 448507 w 1040633"/>
                <a:gd name="connsiteY0-182" fmla="*/ 1160935 h 1160935"/>
                <a:gd name="connsiteX1-183" fmla="*/ 0 w 1040633"/>
                <a:gd name="connsiteY1-184" fmla="*/ 0 h 1160935"/>
                <a:gd name="connsiteX2-185" fmla="*/ 1040633 w 1040633"/>
                <a:gd name="connsiteY2-186" fmla="*/ 16785 h 1160935"/>
                <a:gd name="connsiteX3-187" fmla="*/ 569478 w 1040633"/>
                <a:gd name="connsiteY3-188" fmla="*/ 1158121 h 1160935"/>
                <a:gd name="connsiteX4-189" fmla="*/ 448507 w 1040633"/>
                <a:gd name="connsiteY4-190" fmla="*/ 1160935 h 1160935"/>
                <a:gd name="connsiteX0-191" fmla="*/ 448507 w 1040633"/>
                <a:gd name="connsiteY0-192" fmla="*/ 1160935 h 1160935"/>
                <a:gd name="connsiteX1-193" fmla="*/ 0 w 1040633"/>
                <a:gd name="connsiteY1-194" fmla="*/ 0 h 1160935"/>
                <a:gd name="connsiteX2-195" fmla="*/ 1040633 w 1040633"/>
                <a:gd name="connsiteY2-196" fmla="*/ 16785 h 1160935"/>
                <a:gd name="connsiteX3-197" fmla="*/ 569478 w 1040633"/>
                <a:gd name="connsiteY3-198" fmla="*/ 1158121 h 1160935"/>
                <a:gd name="connsiteX4-199" fmla="*/ 448507 w 1040633"/>
                <a:gd name="connsiteY4-200" fmla="*/ 1160935 h 1160935"/>
                <a:gd name="connsiteX0-201" fmla="*/ 448507 w 1040633"/>
                <a:gd name="connsiteY0-202" fmla="*/ 1160935 h 1160935"/>
                <a:gd name="connsiteX1-203" fmla="*/ 0 w 1040633"/>
                <a:gd name="connsiteY1-204" fmla="*/ 0 h 1160935"/>
                <a:gd name="connsiteX2-205" fmla="*/ 1040633 w 1040633"/>
                <a:gd name="connsiteY2-206" fmla="*/ 16785 h 1160935"/>
                <a:gd name="connsiteX3-207" fmla="*/ 569478 w 1040633"/>
                <a:gd name="connsiteY3-208" fmla="*/ 1158121 h 1160935"/>
                <a:gd name="connsiteX4-209" fmla="*/ 448507 w 1040633"/>
                <a:gd name="connsiteY4-210" fmla="*/ 1160935 h 1160935"/>
                <a:gd name="connsiteX0-211" fmla="*/ 448507 w 1325315"/>
                <a:gd name="connsiteY0-212" fmla="*/ 1160935 h 1160935"/>
                <a:gd name="connsiteX1-213" fmla="*/ 0 w 1325315"/>
                <a:gd name="connsiteY1-214" fmla="*/ 0 h 1160935"/>
                <a:gd name="connsiteX2-215" fmla="*/ 1040633 w 1325315"/>
                <a:gd name="connsiteY2-216" fmla="*/ 16785 h 1160935"/>
                <a:gd name="connsiteX3-217" fmla="*/ 1214315 w 1325315"/>
                <a:gd name="connsiteY3-218" fmla="*/ 1064597 h 1160935"/>
                <a:gd name="connsiteX4-219" fmla="*/ 448507 w 1325315"/>
                <a:gd name="connsiteY4-220" fmla="*/ 1160935 h 1160935"/>
                <a:gd name="connsiteX0-221" fmla="*/ 448507 w 1214315"/>
                <a:gd name="connsiteY0-222" fmla="*/ 1160935 h 1160935"/>
                <a:gd name="connsiteX1-223" fmla="*/ 0 w 1214315"/>
                <a:gd name="connsiteY1-224" fmla="*/ 0 h 1160935"/>
                <a:gd name="connsiteX2-225" fmla="*/ 1040633 w 1214315"/>
                <a:gd name="connsiteY2-226" fmla="*/ 16785 h 1160935"/>
                <a:gd name="connsiteX3-227" fmla="*/ 1214315 w 1214315"/>
                <a:gd name="connsiteY3-228" fmla="*/ 1064597 h 1160935"/>
                <a:gd name="connsiteX4-229" fmla="*/ 448507 w 1214315"/>
                <a:gd name="connsiteY4-230" fmla="*/ 1160935 h 1160935"/>
                <a:gd name="connsiteX0-231" fmla="*/ 448507 w 1214315"/>
                <a:gd name="connsiteY0-232" fmla="*/ 1160935 h 1160935"/>
                <a:gd name="connsiteX1-233" fmla="*/ 0 w 1214315"/>
                <a:gd name="connsiteY1-234" fmla="*/ 0 h 1160935"/>
                <a:gd name="connsiteX2-235" fmla="*/ 1040633 w 1214315"/>
                <a:gd name="connsiteY2-236" fmla="*/ 16785 h 1160935"/>
                <a:gd name="connsiteX3-237" fmla="*/ 1214315 w 1214315"/>
                <a:gd name="connsiteY3-238" fmla="*/ 1064597 h 1160935"/>
                <a:gd name="connsiteX4-239" fmla="*/ 448507 w 1214315"/>
                <a:gd name="connsiteY4-240" fmla="*/ 1160935 h 1160935"/>
                <a:gd name="connsiteX0-241" fmla="*/ 1053964 w 1214315"/>
                <a:gd name="connsiteY0-242" fmla="*/ 1136323 h 1136323"/>
                <a:gd name="connsiteX1-243" fmla="*/ 0 w 1214315"/>
                <a:gd name="connsiteY1-244" fmla="*/ 0 h 1136323"/>
                <a:gd name="connsiteX2-245" fmla="*/ 1040633 w 1214315"/>
                <a:gd name="connsiteY2-246" fmla="*/ 16785 h 1136323"/>
                <a:gd name="connsiteX3-247" fmla="*/ 1214315 w 1214315"/>
                <a:gd name="connsiteY3-248" fmla="*/ 1064597 h 1136323"/>
                <a:gd name="connsiteX4-249" fmla="*/ 1053964 w 1214315"/>
                <a:gd name="connsiteY4-250" fmla="*/ 1136323 h 1136323"/>
                <a:gd name="connsiteX0-251" fmla="*/ 1053964 w 1214315"/>
                <a:gd name="connsiteY0-252" fmla="*/ 1136323 h 1136323"/>
                <a:gd name="connsiteX1-253" fmla="*/ 0 w 1214315"/>
                <a:gd name="connsiteY1-254" fmla="*/ 0 h 1136323"/>
                <a:gd name="connsiteX2-255" fmla="*/ 1040633 w 1214315"/>
                <a:gd name="connsiteY2-256" fmla="*/ 16785 h 1136323"/>
                <a:gd name="connsiteX3-257" fmla="*/ 1214315 w 1214315"/>
                <a:gd name="connsiteY3-258" fmla="*/ 1064597 h 1136323"/>
                <a:gd name="connsiteX4-259" fmla="*/ 1053964 w 1214315"/>
                <a:gd name="connsiteY4-260" fmla="*/ 1136323 h 1136323"/>
                <a:gd name="connsiteX0-261" fmla="*/ 1053964 w 1214315"/>
                <a:gd name="connsiteY0-262" fmla="*/ 1136323 h 1136323"/>
                <a:gd name="connsiteX1-263" fmla="*/ 0 w 1214315"/>
                <a:gd name="connsiteY1-264" fmla="*/ 0 h 1136323"/>
                <a:gd name="connsiteX2-265" fmla="*/ 1040633 w 1214315"/>
                <a:gd name="connsiteY2-266" fmla="*/ 16785 h 1136323"/>
                <a:gd name="connsiteX3-267" fmla="*/ 1214315 w 1214315"/>
                <a:gd name="connsiteY3-268" fmla="*/ 1064597 h 1136323"/>
                <a:gd name="connsiteX4-269" fmla="*/ 1053964 w 1214315"/>
                <a:gd name="connsiteY4-270" fmla="*/ 1136323 h 1136323"/>
                <a:gd name="connsiteX0-271" fmla="*/ 1060159 w 1220510"/>
                <a:gd name="connsiteY0-272" fmla="*/ 1119627 h 1119627"/>
                <a:gd name="connsiteX1-273" fmla="*/ 0 w 1220510"/>
                <a:gd name="connsiteY1-274" fmla="*/ 249694 h 1119627"/>
                <a:gd name="connsiteX2-275" fmla="*/ 1046828 w 1220510"/>
                <a:gd name="connsiteY2-276" fmla="*/ 89 h 1119627"/>
                <a:gd name="connsiteX3-277" fmla="*/ 1220510 w 1220510"/>
                <a:gd name="connsiteY3-278" fmla="*/ 1047901 h 1119627"/>
                <a:gd name="connsiteX4-279" fmla="*/ 1060159 w 1220510"/>
                <a:gd name="connsiteY4-280" fmla="*/ 1119627 h 1119627"/>
                <a:gd name="connsiteX0-281" fmla="*/ 1060159 w 1220510"/>
                <a:gd name="connsiteY0-282" fmla="*/ 1119627 h 1119627"/>
                <a:gd name="connsiteX1-283" fmla="*/ 0 w 1220510"/>
                <a:gd name="connsiteY1-284" fmla="*/ 249694 h 1119627"/>
                <a:gd name="connsiteX2-285" fmla="*/ 1046828 w 1220510"/>
                <a:gd name="connsiteY2-286" fmla="*/ 89 h 1119627"/>
                <a:gd name="connsiteX3-287" fmla="*/ 1220510 w 1220510"/>
                <a:gd name="connsiteY3-288" fmla="*/ 1047901 h 1119627"/>
                <a:gd name="connsiteX4-289" fmla="*/ 1060159 w 1220510"/>
                <a:gd name="connsiteY4-290" fmla="*/ 1119627 h 1119627"/>
                <a:gd name="connsiteX0-291" fmla="*/ 1060159 w 1220510"/>
                <a:gd name="connsiteY0-292" fmla="*/ 1119627 h 1119627"/>
                <a:gd name="connsiteX1-293" fmla="*/ 0 w 1220510"/>
                <a:gd name="connsiteY1-294" fmla="*/ 249694 h 1119627"/>
                <a:gd name="connsiteX2-295" fmla="*/ 1046828 w 1220510"/>
                <a:gd name="connsiteY2-296" fmla="*/ 89 h 1119627"/>
                <a:gd name="connsiteX3-297" fmla="*/ 1220510 w 1220510"/>
                <a:gd name="connsiteY3-298" fmla="*/ 1047901 h 1119627"/>
                <a:gd name="connsiteX4-299" fmla="*/ 1060159 w 1220510"/>
                <a:gd name="connsiteY4-300" fmla="*/ 1119627 h 1119627"/>
                <a:gd name="connsiteX0-301" fmla="*/ 1060159 w 1220510"/>
                <a:gd name="connsiteY0-302" fmla="*/ 921649 h 921649"/>
                <a:gd name="connsiteX1-303" fmla="*/ 0 w 1220510"/>
                <a:gd name="connsiteY1-304" fmla="*/ 51716 h 921649"/>
                <a:gd name="connsiteX2-305" fmla="*/ 1059218 w 1220510"/>
                <a:gd name="connsiteY2-306" fmla="*/ 355 h 921649"/>
                <a:gd name="connsiteX3-307" fmla="*/ 1220510 w 1220510"/>
                <a:gd name="connsiteY3-308" fmla="*/ 849923 h 921649"/>
                <a:gd name="connsiteX4-309" fmla="*/ 1060159 w 1220510"/>
                <a:gd name="connsiteY4-310" fmla="*/ 921649 h 921649"/>
                <a:gd name="connsiteX0-311" fmla="*/ 1060159 w 1220510"/>
                <a:gd name="connsiteY0-312" fmla="*/ 921649 h 921649"/>
                <a:gd name="connsiteX1-313" fmla="*/ 0 w 1220510"/>
                <a:gd name="connsiteY1-314" fmla="*/ 51716 h 921649"/>
                <a:gd name="connsiteX2-315" fmla="*/ 1059218 w 1220510"/>
                <a:gd name="connsiteY2-316" fmla="*/ 355 h 921649"/>
                <a:gd name="connsiteX3-317" fmla="*/ 1220510 w 1220510"/>
                <a:gd name="connsiteY3-318" fmla="*/ 849923 h 921649"/>
                <a:gd name="connsiteX4-319" fmla="*/ 1060159 w 1220510"/>
                <a:gd name="connsiteY4-320" fmla="*/ 921649 h 921649"/>
                <a:gd name="connsiteX0-321" fmla="*/ 1060159 w 1220510"/>
                <a:gd name="connsiteY0-322" fmla="*/ 921649 h 921649"/>
                <a:gd name="connsiteX1-323" fmla="*/ 0 w 1220510"/>
                <a:gd name="connsiteY1-324" fmla="*/ 51716 h 921649"/>
                <a:gd name="connsiteX2-325" fmla="*/ 1059218 w 1220510"/>
                <a:gd name="connsiteY2-326" fmla="*/ 355 h 921649"/>
                <a:gd name="connsiteX3-327" fmla="*/ 1220510 w 1220510"/>
                <a:gd name="connsiteY3-328" fmla="*/ 849923 h 921649"/>
                <a:gd name="connsiteX4-329" fmla="*/ 1060159 w 1220510"/>
                <a:gd name="connsiteY4-330" fmla="*/ 921649 h 92164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102350" y="4916488"/>
              <a:ext cx="925513" cy="7572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3004 w 954755"/>
                <a:gd name="connsiteY0-372" fmla="*/ 943771 h 976186"/>
                <a:gd name="connsiteX1-373" fmla="*/ 455145 w 954755"/>
                <a:gd name="connsiteY1-374" fmla="*/ 11688 h 976186"/>
                <a:gd name="connsiteX2-375" fmla="*/ 954755 w 954755"/>
                <a:gd name="connsiteY2-376" fmla="*/ 0 h 976186"/>
                <a:gd name="connsiteX3-377" fmla="*/ 728484 w 954755"/>
                <a:gd name="connsiteY3-378" fmla="*/ 976186 h 976186"/>
                <a:gd name="connsiteX4-379" fmla="*/ 23004 w 954755"/>
                <a:gd name="connsiteY4-380" fmla="*/ 943771 h 976186"/>
                <a:gd name="connsiteX0-381" fmla="*/ 0 w 931751"/>
                <a:gd name="connsiteY0-382" fmla="*/ 943771 h 976186"/>
                <a:gd name="connsiteX1-383" fmla="*/ 432141 w 931751"/>
                <a:gd name="connsiteY1-384" fmla="*/ 11688 h 976186"/>
                <a:gd name="connsiteX2-385" fmla="*/ 931751 w 931751"/>
                <a:gd name="connsiteY2-386" fmla="*/ 0 h 976186"/>
                <a:gd name="connsiteX3-387" fmla="*/ 705480 w 931751"/>
                <a:gd name="connsiteY3-388" fmla="*/ 976186 h 976186"/>
                <a:gd name="connsiteX4-389" fmla="*/ 0 w 931751"/>
                <a:gd name="connsiteY4-390" fmla="*/ 943771 h 976186"/>
                <a:gd name="connsiteX0-391" fmla="*/ 0 w 931751"/>
                <a:gd name="connsiteY0-392" fmla="*/ 943771 h 976186"/>
                <a:gd name="connsiteX1-393" fmla="*/ 432141 w 931751"/>
                <a:gd name="connsiteY1-394" fmla="*/ 11688 h 976186"/>
                <a:gd name="connsiteX2-395" fmla="*/ 931751 w 931751"/>
                <a:gd name="connsiteY2-396" fmla="*/ 0 h 976186"/>
                <a:gd name="connsiteX3-397" fmla="*/ 705480 w 931751"/>
                <a:gd name="connsiteY3-398" fmla="*/ 976186 h 976186"/>
                <a:gd name="connsiteX4-399" fmla="*/ 0 w 931751"/>
                <a:gd name="connsiteY4-400" fmla="*/ 943771 h 976186"/>
                <a:gd name="connsiteX0-401" fmla="*/ 0 w 931751"/>
                <a:gd name="connsiteY0-402" fmla="*/ 943771 h 976186"/>
                <a:gd name="connsiteX1-403" fmla="*/ 432141 w 931751"/>
                <a:gd name="connsiteY1-404" fmla="*/ 11688 h 976186"/>
                <a:gd name="connsiteX2-405" fmla="*/ 931751 w 931751"/>
                <a:gd name="connsiteY2-406" fmla="*/ 0 h 976186"/>
                <a:gd name="connsiteX3-407" fmla="*/ 705480 w 931751"/>
                <a:gd name="connsiteY3-408" fmla="*/ 976186 h 976186"/>
                <a:gd name="connsiteX4-409" fmla="*/ 0 w 931751"/>
                <a:gd name="connsiteY4-410" fmla="*/ 943771 h 976186"/>
                <a:gd name="connsiteX0-411" fmla="*/ 0 w 931751"/>
                <a:gd name="connsiteY0-412" fmla="*/ 943771 h 966342"/>
                <a:gd name="connsiteX1-413" fmla="*/ 432141 w 931751"/>
                <a:gd name="connsiteY1-414" fmla="*/ 11688 h 966342"/>
                <a:gd name="connsiteX2-415" fmla="*/ 931751 w 931751"/>
                <a:gd name="connsiteY2-416" fmla="*/ 0 h 966342"/>
                <a:gd name="connsiteX3-417" fmla="*/ 183705 w 931751"/>
                <a:gd name="connsiteY3-418" fmla="*/ 966342 h 966342"/>
                <a:gd name="connsiteX4-419" fmla="*/ 0 w 931751"/>
                <a:gd name="connsiteY4-420" fmla="*/ 943771 h 966342"/>
                <a:gd name="connsiteX0-421" fmla="*/ 0 w 931751"/>
                <a:gd name="connsiteY0-422" fmla="*/ 943771 h 966342"/>
                <a:gd name="connsiteX1-423" fmla="*/ 432141 w 931751"/>
                <a:gd name="connsiteY1-424" fmla="*/ 11688 h 966342"/>
                <a:gd name="connsiteX2-425" fmla="*/ 931751 w 931751"/>
                <a:gd name="connsiteY2-426" fmla="*/ 0 h 966342"/>
                <a:gd name="connsiteX3-427" fmla="*/ 183705 w 931751"/>
                <a:gd name="connsiteY3-428" fmla="*/ 966342 h 966342"/>
                <a:gd name="connsiteX4-429" fmla="*/ 0 w 931751"/>
                <a:gd name="connsiteY4-430" fmla="*/ 943771 h 966342"/>
                <a:gd name="connsiteX0-431" fmla="*/ 0 w 931751"/>
                <a:gd name="connsiteY0-432" fmla="*/ 943771 h 966342"/>
                <a:gd name="connsiteX1-433" fmla="*/ 432141 w 931751"/>
                <a:gd name="connsiteY1-434" fmla="*/ 11688 h 966342"/>
                <a:gd name="connsiteX2-435" fmla="*/ 931751 w 931751"/>
                <a:gd name="connsiteY2-436" fmla="*/ 0 h 966342"/>
                <a:gd name="connsiteX3-437" fmla="*/ 183705 w 931751"/>
                <a:gd name="connsiteY3-438" fmla="*/ 966342 h 966342"/>
                <a:gd name="connsiteX4-439" fmla="*/ 0 w 931751"/>
                <a:gd name="connsiteY4-440" fmla="*/ 943771 h 966342"/>
                <a:gd name="connsiteX0-441" fmla="*/ 0 w 956363"/>
                <a:gd name="connsiteY0-442" fmla="*/ 932083 h 954654"/>
                <a:gd name="connsiteX1-443" fmla="*/ 432141 w 956363"/>
                <a:gd name="connsiteY1-444" fmla="*/ 0 h 954654"/>
                <a:gd name="connsiteX2-445" fmla="*/ 956363 w 956363"/>
                <a:gd name="connsiteY2-446" fmla="*/ 12924 h 954654"/>
                <a:gd name="connsiteX3-447" fmla="*/ 183705 w 956363"/>
                <a:gd name="connsiteY3-448" fmla="*/ 954654 h 954654"/>
                <a:gd name="connsiteX4-449" fmla="*/ 0 w 956363"/>
                <a:gd name="connsiteY4-450" fmla="*/ 932083 h 954654"/>
                <a:gd name="connsiteX0-451" fmla="*/ 0 w 956363"/>
                <a:gd name="connsiteY0-452" fmla="*/ 919226 h 941797"/>
                <a:gd name="connsiteX1-453" fmla="*/ 405840 w 956363"/>
                <a:gd name="connsiteY1-454" fmla="*/ 197551 h 941797"/>
                <a:gd name="connsiteX2-455" fmla="*/ 956363 w 956363"/>
                <a:gd name="connsiteY2-456" fmla="*/ 67 h 941797"/>
                <a:gd name="connsiteX3-457" fmla="*/ 183705 w 956363"/>
                <a:gd name="connsiteY3-458" fmla="*/ 941797 h 941797"/>
                <a:gd name="connsiteX4-459" fmla="*/ 0 w 956363"/>
                <a:gd name="connsiteY4-460" fmla="*/ 919226 h 941797"/>
                <a:gd name="connsiteX0-461" fmla="*/ 0 w 956363"/>
                <a:gd name="connsiteY0-462" fmla="*/ 919226 h 941797"/>
                <a:gd name="connsiteX1-463" fmla="*/ 405840 w 956363"/>
                <a:gd name="connsiteY1-464" fmla="*/ 197551 h 941797"/>
                <a:gd name="connsiteX2-465" fmla="*/ 956363 w 956363"/>
                <a:gd name="connsiteY2-466" fmla="*/ 67 h 941797"/>
                <a:gd name="connsiteX3-467" fmla="*/ 183705 w 956363"/>
                <a:gd name="connsiteY3-468" fmla="*/ 941797 h 941797"/>
                <a:gd name="connsiteX4-469" fmla="*/ 0 w 956363"/>
                <a:gd name="connsiteY4-470" fmla="*/ 919226 h 941797"/>
                <a:gd name="connsiteX0-471" fmla="*/ 0 w 956363"/>
                <a:gd name="connsiteY0-472" fmla="*/ 919226 h 941797"/>
                <a:gd name="connsiteX1-473" fmla="*/ 405840 w 956363"/>
                <a:gd name="connsiteY1-474" fmla="*/ 197551 h 941797"/>
                <a:gd name="connsiteX2-475" fmla="*/ 956363 w 956363"/>
                <a:gd name="connsiteY2-476" fmla="*/ 67 h 941797"/>
                <a:gd name="connsiteX3-477" fmla="*/ 183705 w 956363"/>
                <a:gd name="connsiteY3-478" fmla="*/ 941797 h 941797"/>
                <a:gd name="connsiteX4-479" fmla="*/ 0 w 956363"/>
                <a:gd name="connsiteY4-480" fmla="*/ 919226 h 941797"/>
                <a:gd name="connsiteX0-481" fmla="*/ 0 w 926304"/>
                <a:gd name="connsiteY0-482" fmla="*/ 735614 h 758185"/>
                <a:gd name="connsiteX1-483" fmla="*/ 405840 w 926304"/>
                <a:gd name="connsiteY1-484" fmla="*/ 13939 h 758185"/>
                <a:gd name="connsiteX2-485" fmla="*/ 926304 w 926304"/>
                <a:gd name="connsiteY2-486" fmla="*/ 563 h 758185"/>
                <a:gd name="connsiteX3-487" fmla="*/ 183705 w 926304"/>
                <a:gd name="connsiteY3-488" fmla="*/ 758185 h 758185"/>
                <a:gd name="connsiteX4-489" fmla="*/ 0 w 926304"/>
                <a:gd name="connsiteY4-490" fmla="*/ 735614 h 758185"/>
                <a:gd name="connsiteX0-491" fmla="*/ 0 w 926304"/>
                <a:gd name="connsiteY0-492" fmla="*/ 735614 h 758185"/>
                <a:gd name="connsiteX1-493" fmla="*/ 405840 w 926304"/>
                <a:gd name="connsiteY1-494" fmla="*/ 13939 h 758185"/>
                <a:gd name="connsiteX2-495" fmla="*/ 926304 w 926304"/>
                <a:gd name="connsiteY2-496" fmla="*/ 563 h 758185"/>
                <a:gd name="connsiteX3-497" fmla="*/ 183705 w 926304"/>
                <a:gd name="connsiteY3-498" fmla="*/ 758185 h 758185"/>
                <a:gd name="connsiteX4-499" fmla="*/ 0 w 926304"/>
                <a:gd name="connsiteY4-500" fmla="*/ 735614 h 758185"/>
                <a:gd name="connsiteX0-501" fmla="*/ 0 w 926304"/>
                <a:gd name="connsiteY0-502" fmla="*/ 735614 h 758185"/>
                <a:gd name="connsiteX1-503" fmla="*/ 405840 w 926304"/>
                <a:gd name="connsiteY1-504" fmla="*/ 13939 h 758185"/>
                <a:gd name="connsiteX2-505" fmla="*/ 926304 w 926304"/>
                <a:gd name="connsiteY2-506" fmla="*/ 563 h 758185"/>
                <a:gd name="connsiteX3-507" fmla="*/ 183705 w 926304"/>
                <a:gd name="connsiteY3-508" fmla="*/ 758185 h 758185"/>
                <a:gd name="connsiteX4-509" fmla="*/ 0 w 926304"/>
                <a:gd name="connsiteY4-510" fmla="*/ 735614 h 758185"/>
                <a:gd name="connsiteX0-511" fmla="*/ 0 w 926304"/>
                <a:gd name="connsiteY0-512" fmla="*/ 735614 h 758185"/>
                <a:gd name="connsiteX1-513" fmla="*/ 405840 w 926304"/>
                <a:gd name="connsiteY1-514" fmla="*/ 13939 h 758185"/>
                <a:gd name="connsiteX2-515" fmla="*/ 926304 w 926304"/>
                <a:gd name="connsiteY2-516" fmla="*/ 563 h 758185"/>
                <a:gd name="connsiteX3-517" fmla="*/ 183705 w 926304"/>
                <a:gd name="connsiteY3-518" fmla="*/ 758185 h 758185"/>
                <a:gd name="connsiteX4-519" fmla="*/ 0 w 926304"/>
                <a:gd name="connsiteY4-520" fmla="*/ 735614 h 75818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287963" y="4937125"/>
              <a:ext cx="725487" cy="11001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7977 w 802211"/>
                <a:gd name="connsiteY0-372" fmla="*/ 815791 h 976186"/>
                <a:gd name="connsiteX1-373" fmla="*/ 302601 w 802211"/>
                <a:gd name="connsiteY1-374" fmla="*/ 11688 h 976186"/>
                <a:gd name="connsiteX2-375" fmla="*/ 802211 w 802211"/>
                <a:gd name="connsiteY2-376" fmla="*/ 0 h 976186"/>
                <a:gd name="connsiteX3-377" fmla="*/ 575940 w 802211"/>
                <a:gd name="connsiteY3-378" fmla="*/ 976186 h 976186"/>
                <a:gd name="connsiteX4-379" fmla="*/ 27977 w 802211"/>
                <a:gd name="connsiteY4-380" fmla="*/ 815791 h 976186"/>
                <a:gd name="connsiteX0-381" fmla="*/ 27977 w 802211"/>
                <a:gd name="connsiteY0-382" fmla="*/ 815791 h 815791"/>
                <a:gd name="connsiteX1-383" fmla="*/ 302601 w 802211"/>
                <a:gd name="connsiteY1-384" fmla="*/ 11688 h 815791"/>
                <a:gd name="connsiteX2-385" fmla="*/ 802211 w 802211"/>
                <a:gd name="connsiteY2-386" fmla="*/ 0 h 815791"/>
                <a:gd name="connsiteX3-387" fmla="*/ 236294 w 802211"/>
                <a:gd name="connsiteY3-388" fmla="*/ 808828 h 815791"/>
                <a:gd name="connsiteX4-389" fmla="*/ 27977 w 802211"/>
                <a:gd name="connsiteY4-390" fmla="*/ 815791 h 815791"/>
                <a:gd name="connsiteX0-391" fmla="*/ 27977 w 802211"/>
                <a:gd name="connsiteY0-392" fmla="*/ 815791 h 815791"/>
                <a:gd name="connsiteX1-393" fmla="*/ 302601 w 802211"/>
                <a:gd name="connsiteY1-394" fmla="*/ 11688 h 815791"/>
                <a:gd name="connsiteX2-395" fmla="*/ 802211 w 802211"/>
                <a:gd name="connsiteY2-396" fmla="*/ 0 h 815791"/>
                <a:gd name="connsiteX3-397" fmla="*/ 236294 w 802211"/>
                <a:gd name="connsiteY3-398" fmla="*/ 808828 h 815791"/>
                <a:gd name="connsiteX4-399" fmla="*/ 27977 w 802211"/>
                <a:gd name="connsiteY4-400" fmla="*/ 815791 h 815791"/>
                <a:gd name="connsiteX0-401" fmla="*/ 27977 w 802211"/>
                <a:gd name="connsiteY0-402" fmla="*/ 815791 h 815791"/>
                <a:gd name="connsiteX1-403" fmla="*/ 302601 w 802211"/>
                <a:gd name="connsiteY1-404" fmla="*/ 11688 h 815791"/>
                <a:gd name="connsiteX2-405" fmla="*/ 802211 w 802211"/>
                <a:gd name="connsiteY2-406" fmla="*/ 0 h 815791"/>
                <a:gd name="connsiteX3-407" fmla="*/ 236294 w 802211"/>
                <a:gd name="connsiteY3-408" fmla="*/ 808828 h 815791"/>
                <a:gd name="connsiteX4-409" fmla="*/ 27977 w 802211"/>
                <a:gd name="connsiteY4-410" fmla="*/ 815791 h 815791"/>
                <a:gd name="connsiteX0-411" fmla="*/ 27977 w 802211"/>
                <a:gd name="connsiteY0-412" fmla="*/ 828714 h 828714"/>
                <a:gd name="connsiteX1-413" fmla="*/ 302601 w 802211"/>
                <a:gd name="connsiteY1-414" fmla="*/ 0 h 828714"/>
                <a:gd name="connsiteX2-415" fmla="*/ 802211 w 802211"/>
                <a:gd name="connsiteY2-416" fmla="*/ 12923 h 828714"/>
                <a:gd name="connsiteX3-417" fmla="*/ 236294 w 802211"/>
                <a:gd name="connsiteY3-418" fmla="*/ 821751 h 828714"/>
                <a:gd name="connsiteX4-419" fmla="*/ 27977 w 802211"/>
                <a:gd name="connsiteY4-420" fmla="*/ 828714 h 828714"/>
                <a:gd name="connsiteX0-421" fmla="*/ 56213 w 830447"/>
                <a:gd name="connsiteY0-422" fmla="*/ 828714 h 828714"/>
                <a:gd name="connsiteX1-423" fmla="*/ 330837 w 830447"/>
                <a:gd name="connsiteY1-424" fmla="*/ 0 h 828714"/>
                <a:gd name="connsiteX2-425" fmla="*/ 830447 w 830447"/>
                <a:gd name="connsiteY2-426" fmla="*/ 12923 h 828714"/>
                <a:gd name="connsiteX3-427" fmla="*/ 264530 w 830447"/>
                <a:gd name="connsiteY3-428" fmla="*/ 821751 h 828714"/>
                <a:gd name="connsiteX4-429" fmla="*/ 56213 w 830447"/>
                <a:gd name="connsiteY4-430" fmla="*/ 828714 h 828714"/>
                <a:gd name="connsiteX0-431" fmla="*/ 64130 w 789139"/>
                <a:gd name="connsiteY0-432" fmla="*/ 794258 h 821751"/>
                <a:gd name="connsiteX1-433" fmla="*/ 289529 w 789139"/>
                <a:gd name="connsiteY1-434" fmla="*/ 0 h 821751"/>
                <a:gd name="connsiteX2-435" fmla="*/ 789139 w 789139"/>
                <a:gd name="connsiteY2-436" fmla="*/ 12923 h 821751"/>
                <a:gd name="connsiteX3-437" fmla="*/ 223222 w 789139"/>
                <a:gd name="connsiteY3-438" fmla="*/ 821751 h 821751"/>
                <a:gd name="connsiteX4-439" fmla="*/ 64130 w 789139"/>
                <a:gd name="connsiteY4-440" fmla="*/ 794258 h 821751"/>
                <a:gd name="connsiteX0-441" fmla="*/ 0 w 725009"/>
                <a:gd name="connsiteY0-442" fmla="*/ 794258 h 821751"/>
                <a:gd name="connsiteX1-443" fmla="*/ 225399 w 725009"/>
                <a:gd name="connsiteY1-444" fmla="*/ 0 h 821751"/>
                <a:gd name="connsiteX2-445" fmla="*/ 725009 w 725009"/>
                <a:gd name="connsiteY2-446" fmla="*/ 12923 h 821751"/>
                <a:gd name="connsiteX3-447" fmla="*/ 159092 w 725009"/>
                <a:gd name="connsiteY3-448" fmla="*/ 821751 h 821751"/>
                <a:gd name="connsiteX4-449" fmla="*/ 0 w 725009"/>
                <a:gd name="connsiteY4-450" fmla="*/ 794258 h 821751"/>
                <a:gd name="connsiteX0-451" fmla="*/ 0 w 725009"/>
                <a:gd name="connsiteY0-452" fmla="*/ 1203768 h 1231261"/>
                <a:gd name="connsiteX1-453" fmla="*/ 225399 w 725009"/>
                <a:gd name="connsiteY1-454" fmla="*/ 0 h 1231261"/>
                <a:gd name="connsiteX2-455" fmla="*/ 725009 w 725009"/>
                <a:gd name="connsiteY2-456" fmla="*/ 422433 h 1231261"/>
                <a:gd name="connsiteX3-457" fmla="*/ 159092 w 725009"/>
                <a:gd name="connsiteY3-458" fmla="*/ 1231261 h 1231261"/>
                <a:gd name="connsiteX4-459" fmla="*/ 0 w 725009"/>
                <a:gd name="connsiteY4-460" fmla="*/ 1203768 h 1231261"/>
                <a:gd name="connsiteX0-461" fmla="*/ 0 w 725009"/>
                <a:gd name="connsiteY0-462" fmla="*/ 1217334 h 1244827"/>
                <a:gd name="connsiteX1-463" fmla="*/ 225399 w 725009"/>
                <a:gd name="connsiteY1-464" fmla="*/ 13566 h 1244827"/>
                <a:gd name="connsiteX2-465" fmla="*/ 725009 w 725009"/>
                <a:gd name="connsiteY2-466" fmla="*/ 571 h 1244827"/>
                <a:gd name="connsiteX3-467" fmla="*/ 159092 w 725009"/>
                <a:gd name="connsiteY3-468" fmla="*/ 1244827 h 1244827"/>
                <a:gd name="connsiteX4-469" fmla="*/ 0 w 725009"/>
                <a:gd name="connsiteY4-470" fmla="*/ 1217334 h 1244827"/>
                <a:gd name="connsiteX0-471" fmla="*/ 0 w 725009"/>
                <a:gd name="connsiteY0-472" fmla="*/ 1217334 h 1244827"/>
                <a:gd name="connsiteX1-473" fmla="*/ 225399 w 725009"/>
                <a:gd name="connsiteY1-474" fmla="*/ 13566 h 1244827"/>
                <a:gd name="connsiteX2-475" fmla="*/ 725009 w 725009"/>
                <a:gd name="connsiteY2-476" fmla="*/ 571 h 1244827"/>
                <a:gd name="connsiteX3-477" fmla="*/ 159092 w 725009"/>
                <a:gd name="connsiteY3-478" fmla="*/ 1244827 h 1244827"/>
                <a:gd name="connsiteX4-479" fmla="*/ 0 w 725009"/>
                <a:gd name="connsiteY4-480" fmla="*/ 1217334 h 1244827"/>
                <a:gd name="connsiteX0-481" fmla="*/ 0 w 725009"/>
                <a:gd name="connsiteY0-482" fmla="*/ 1217334 h 1244827"/>
                <a:gd name="connsiteX1-483" fmla="*/ 225399 w 725009"/>
                <a:gd name="connsiteY1-484" fmla="*/ 13566 h 1244827"/>
                <a:gd name="connsiteX2-485" fmla="*/ 725009 w 725009"/>
                <a:gd name="connsiteY2-486" fmla="*/ 571 h 1244827"/>
                <a:gd name="connsiteX3-487" fmla="*/ 159092 w 725009"/>
                <a:gd name="connsiteY3-488" fmla="*/ 1244827 h 1244827"/>
                <a:gd name="connsiteX4-489" fmla="*/ 0 w 725009"/>
                <a:gd name="connsiteY4-490" fmla="*/ 1217334 h 1244827"/>
                <a:gd name="connsiteX0-491" fmla="*/ 0 w 725009"/>
                <a:gd name="connsiteY0-492" fmla="*/ 1217334 h 1244827"/>
                <a:gd name="connsiteX1-493" fmla="*/ 225399 w 725009"/>
                <a:gd name="connsiteY1-494" fmla="*/ 13566 h 1244827"/>
                <a:gd name="connsiteX2-495" fmla="*/ 725009 w 725009"/>
                <a:gd name="connsiteY2-496" fmla="*/ 571 h 1244827"/>
                <a:gd name="connsiteX3-497" fmla="*/ 159092 w 725009"/>
                <a:gd name="connsiteY3-498" fmla="*/ 1244827 h 1244827"/>
                <a:gd name="connsiteX4-499" fmla="*/ 0 w 725009"/>
                <a:gd name="connsiteY4-500" fmla="*/ 1217334 h 1244827"/>
                <a:gd name="connsiteX0-501" fmla="*/ 0 w 725009"/>
                <a:gd name="connsiteY0-502" fmla="*/ 1217334 h 1244827"/>
                <a:gd name="connsiteX1-503" fmla="*/ 225399 w 725009"/>
                <a:gd name="connsiteY1-504" fmla="*/ 13566 h 1244827"/>
                <a:gd name="connsiteX2-505" fmla="*/ 725009 w 725009"/>
                <a:gd name="connsiteY2-506" fmla="*/ 571 h 1244827"/>
                <a:gd name="connsiteX3-507" fmla="*/ 159092 w 725009"/>
                <a:gd name="connsiteY3-508" fmla="*/ 1244827 h 1244827"/>
                <a:gd name="connsiteX4-509" fmla="*/ 0 w 725009"/>
                <a:gd name="connsiteY4-510" fmla="*/ 1217334 h 1244827"/>
                <a:gd name="connsiteX0-511" fmla="*/ 0 w 725009"/>
                <a:gd name="connsiteY0-512" fmla="*/ 1217334 h 1244827"/>
                <a:gd name="connsiteX1-513" fmla="*/ 225399 w 725009"/>
                <a:gd name="connsiteY1-514" fmla="*/ 13566 h 1244827"/>
                <a:gd name="connsiteX2-515" fmla="*/ 725009 w 725009"/>
                <a:gd name="connsiteY2-516" fmla="*/ 571 h 1244827"/>
                <a:gd name="connsiteX3-517" fmla="*/ 159092 w 725009"/>
                <a:gd name="connsiteY3-518" fmla="*/ 1244827 h 1244827"/>
                <a:gd name="connsiteX4-519" fmla="*/ 0 w 725009"/>
                <a:gd name="connsiteY4-520" fmla="*/ 1217334 h 1244827"/>
                <a:gd name="connsiteX0-521" fmla="*/ 0 w 725009"/>
                <a:gd name="connsiteY0-522" fmla="*/ 1203768 h 1231261"/>
                <a:gd name="connsiteX1-523" fmla="*/ 225399 w 725009"/>
                <a:gd name="connsiteY1-524" fmla="*/ 0 h 1231261"/>
                <a:gd name="connsiteX2-525" fmla="*/ 725009 w 725009"/>
                <a:gd name="connsiteY2-526" fmla="*/ 129782 h 1231261"/>
                <a:gd name="connsiteX3-527" fmla="*/ 159092 w 725009"/>
                <a:gd name="connsiteY3-528" fmla="*/ 1231261 h 1231261"/>
                <a:gd name="connsiteX4-529" fmla="*/ 0 w 725009"/>
                <a:gd name="connsiteY4-530" fmla="*/ 1203768 h 1231261"/>
                <a:gd name="connsiteX0-531" fmla="*/ 0 w 725009"/>
                <a:gd name="connsiteY0-532" fmla="*/ 1203768 h 1231261"/>
                <a:gd name="connsiteX1-533" fmla="*/ 225399 w 725009"/>
                <a:gd name="connsiteY1-534" fmla="*/ 0 h 1231261"/>
                <a:gd name="connsiteX2-535" fmla="*/ 725009 w 725009"/>
                <a:gd name="connsiteY2-536" fmla="*/ 129782 h 1231261"/>
                <a:gd name="connsiteX3-537" fmla="*/ 159092 w 725009"/>
                <a:gd name="connsiteY3-538" fmla="*/ 1231261 h 1231261"/>
                <a:gd name="connsiteX4-539" fmla="*/ 0 w 725009"/>
                <a:gd name="connsiteY4-540" fmla="*/ 1203768 h 1231261"/>
                <a:gd name="connsiteX0-541" fmla="*/ 0 w 725009"/>
                <a:gd name="connsiteY0-542" fmla="*/ 1203768 h 1231261"/>
                <a:gd name="connsiteX1-543" fmla="*/ 225399 w 725009"/>
                <a:gd name="connsiteY1-544" fmla="*/ 0 h 1231261"/>
                <a:gd name="connsiteX2-545" fmla="*/ 725009 w 725009"/>
                <a:gd name="connsiteY2-546" fmla="*/ 129782 h 1231261"/>
                <a:gd name="connsiteX3-547" fmla="*/ 159092 w 725009"/>
                <a:gd name="connsiteY3-548" fmla="*/ 1231261 h 1231261"/>
                <a:gd name="connsiteX4-549" fmla="*/ 0 w 725009"/>
                <a:gd name="connsiteY4-550" fmla="*/ 1203768 h 1231261"/>
                <a:gd name="connsiteX0-551" fmla="*/ 0 w 725497"/>
                <a:gd name="connsiteY0-552" fmla="*/ 1279028 h 1306521"/>
                <a:gd name="connsiteX1-553" fmla="*/ 225399 w 725497"/>
                <a:gd name="connsiteY1-554" fmla="*/ 75260 h 1306521"/>
                <a:gd name="connsiteX2-555" fmla="*/ 396193 w 725497"/>
                <a:gd name="connsiteY2-556" fmla="*/ 156799 h 1306521"/>
                <a:gd name="connsiteX3-557" fmla="*/ 725009 w 725497"/>
                <a:gd name="connsiteY3-558" fmla="*/ 205042 h 1306521"/>
                <a:gd name="connsiteX4-559" fmla="*/ 159092 w 725497"/>
                <a:gd name="connsiteY4-560" fmla="*/ 1306521 h 1306521"/>
                <a:gd name="connsiteX5-561" fmla="*/ 0 w 725497"/>
                <a:gd name="connsiteY5-562" fmla="*/ 1279028 h 1306521"/>
                <a:gd name="connsiteX0-563" fmla="*/ 0 w 725239"/>
                <a:gd name="connsiteY0-564" fmla="*/ 1295668 h 1323161"/>
                <a:gd name="connsiteX1-565" fmla="*/ 225399 w 725239"/>
                <a:gd name="connsiteY1-566" fmla="*/ 91900 h 1323161"/>
                <a:gd name="connsiteX2-567" fmla="*/ 725009 w 725239"/>
                <a:gd name="connsiteY2-568" fmla="*/ 221682 h 1323161"/>
                <a:gd name="connsiteX3-569" fmla="*/ 159092 w 725239"/>
                <a:gd name="connsiteY3-570" fmla="*/ 1323161 h 1323161"/>
                <a:gd name="connsiteX4-571" fmla="*/ 0 w 725239"/>
                <a:gd name="connsiteY4-572" fmla="*/ 1295668 h 1323161"/>
                <a:gd name="connsiteX0-573" fmla="*/ 0 w 725221"/>
                <a:gd name="connsiteY0-574" fmla="*/ 1210552 h 1238045"/>
                <a:gd name="connsiteX1-575" fmla="*/ 191583 w 725221"/>
                <a:gd name="connsiteY1-576" fmla="*/ 153319 h 1238045"/>
                <a:gd name="connsiteX2-577" fmla="*/ 725009 w 725221"/>
                <a:gd name="connsiteY2-578" fmla="*/ 136566 h 1238045"/>
                <a:gd name="connsiteX3-579" fmla="*/ 159092 w 725221"/>
                <a:gd name="connsiteY3-580" fmla="*/ 1238045 h 1238045"/>
                <a:gd name="connsiteX4-581" fmla="*/ 0 w 725221"/>
                <a:gd name="connsiteY4-582" fmla="*/ 1210552 h 1238045"/>
                <a:gd name="connsiteX0-583" fmla="*/ 0 w 725305"/>
                <a:gd name="connsiteY0-584" fmla="*/ 1158512 h 1186005"/>
                <a:gd name="connsiteX1-585" fmla="*/ 191583 w 725305"/>
                <a:gd name="connsiteY1-586" fmla="*/ 101279 h 1186005"/>
                <a:gd name="connsiteX2-587" fmla="*/ 725009 w 725305"/>
                <a:gd name="connsiteY2-588" fmla="*/ 84526 h 1186005"/>
                <a:gd name="connsiteX3-589" fmla="*/ 159092 w 725305"/>
                <a:gd name="connsiteY3-590" fmla="*/ 1186005 h 1186005"/>
                <a:gd name="connsiteX4-591" fmla="*/ 0 w 725305"/>
                <a:gd name="connsiteY4-592" fmla="*/ 1158512 h 1186005"/>
                <a:gd name="connsiteX0-593" fmla="*/ 0 w 725009"/>
                <a:gd name="connsiteY0-594" fmla="*/ 1073986 h 1101479"/>
                <a:gd name="connsiteX1-595" fmla="*/ 191583 w 725009"/>
                <a:gd name="connsiteY1-596" fmla="*/ 16753 h 1101479"/>
                <a:gd name="connsiteX2-597" fmla="*/ 725009 w 725009"/>
                <a:gd name="connsiteY2-598" fmla="*/ 0 h 1101479"/>
                <a:gd name="connsiteX3-599" fmla="*/ 159092 w 725009"/>
                <a:gd name="connsiteY3-600" fmla="*/ 1101479 h 1101479"/>
                <a:gd name="connsiteX4-601" fmla="*/ 0 w 725009"/>
                <a:gd name="connsiteY4-602" fmla="*/ 1073986 h 1101479"/>
                <a:gd name="connsiteX0-603" fmla="*/ 0 w 725009"/>
                <a:gd name="connsiteY0-604" fmla="*/ 1073986 h 1101479"/>
                <a:gd name="connsiteX1-605" fmla="*/ 206612 w 725009"/>
                <a:gd name="connsiteY1-606" fmla="*/ 1724 h 1101479"/>
                <a:gd name="connsiteX2-607" fmla="*/ 725009 w 725009"/>
                <a:gd name="connsiteY2-608" fmla="*/ 0 h 1101479"/>
                <a:gd name="connsiteX3-609" fmla="*/ 159092 w 725009"/>
                <a:gd name="connsiteY3-610" fmla="*/ 1101479 h 1101479"/>
                <a:gd name="connsiteX4-611" fmla="*/ 0 w 725009"/>
                <a:gd name="connsiteY4-612" fmla="*/ 1073986 h 1101479"/>
                <a:gd name="connsiteX0-613" fmla="*/ 0 w 725009"/>
                <a:gd name="connsiteY0-614" fmla="*/ 1073986 h 1101479"/>
                <a:gd name="connsiteX1-615" fmla="*/ 206612 w 725009"/>
                <a:gd name="connsiteY1-616" fmla="*/ 1724 h 1101479"/>
                <a:gd name="connsiteX2-617" fmla="*/ 725009 w 725009"/>
                <a:gd name="connsiteY2-618" fmla="*/ 0 h 1101479"/>
                <a:gd name="connsiteX3-619" fmla="*/ 159092 w 725009"/>
                <a:gd name="connsiteY3-620" fmla="*/ 1101479 h 1101479"/>
                <a:gd name="connsiteX4-621" fmla="*/ 0 w 725009"/>
                <a:gd name="connsiteY4-622" fmla="*/ 1073986 h 1101479"/>
                <a:gd name="connsiteX0-623" fmla="*/ 0 w 725009"/>
                <a:gd name="connsiteY0-624" fmla="*/ 1073986 h 1101479"/>
                <a:gd name="connsiteX1-625" fmla="*/ 206612 w 725009"/>
                <a:gd name="connsiteY1-626" fmla="*/ 1724 h 1101479"/>
                <a:gd name="connsiteX2-627" fmla="*/ 725009 w 725009"/>
                <a:gd name="connsiteY2-628" fmla="*/ 0 h 1101479"/>
                <a:gd name="connsiteX3-629" fmla="*/ 159092 w 725009"/>
                <a:gd name="connsiteY3-630" fmla="*/ 1101479 h 1101479"/>
                <a:gd name="connsiteX4-631" fmla="*/ 0 w 725009"/>
                <a:gd name="connsiteY4-632" fmla="*/ 1073986 h 110147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00538" y="4956175"/>
              <a:ext cx="514350" cy="577850"/>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503138"/>
                <a:gd name="connsiteY0-372" fmla="*/ 961687 h 964568"/>
                <a:gd name="connsiteX1-373" fmla="*/ 0 w 503138"/>
                <a:gd name="connsiteY1-374" fmla="*/ 70 h 964568"/>
                <a:gd name="connsiteX2-375" fmla="*/ 503138 w 503138"/>
                <a:gd name="connsiteY2-376" fmla="*/ 154187 h 964568"/>
                <a:gd name="connsiteX3-377" fmla="*/ 273339 w 503138"/>
                <a:gd name="connsiteY3-378" fmla="*/ 964568 h 964568"/>
                <a:gd name="connsiteX4-379" fmla="*/ 197928 w 503138"/>
                <a:gd name="connsiteY4-380" fmla="*/ 961687 h 964568"/>
                <a:gd name="connsiteX0-381" fmla="*/ 201456 w 506666"/>
                <a:gd name="connsiteY0-382" fmla="*/ 807500 h 810381"/>
                <a:gd name="connsiteX1-383" fmla="*/ 0 w 506666"/>
                <a:gd name="connsiteY1-384" fmla="*/ 15216 h 810381"/>
                <a:gd name="connsiteX2-385" fmla="*/ 506666 w 506666"/>
                <a:gd name="connsiteY2-386" fmla="*/ 0 h 810381"/>
                <a:gd name="connsiteX3-387" fmla="*/ 276867 w 506666"/>
                <a:gd name="connsiteY3-388" fmla="*/ 810381 h 810381"/>
                <a:gd name="connsiteX4-389" fmla="*/ 201456 w 506666"/>
                <a:gd name="connsiteY4-390" fmla="*/ 807500 h 810381"/>
                <a:gd name="connsiteX0-391" fmla="*/ 201456 w 506666"/>
                <a:gd name="connsiteY0-392" fmla="*/ 807500 h 811593"/>
                <a:gd name="connsiteX1-393" fmla="*/ 0 w 506666"/>
                <a:gd name="connsiteY1-394" fmla="*/ 15216 h 811593"/>
                <a:gd name="connsiteX2-395" fmla="*/ 506666 w 506666"/>
                <a:gd name="connsiteY2-396" fmla="*/ 0 h 811593"/>
                <a:gd name="connsiteX3-397" fmla="*/ 276867 w 506666"/>
                <a:gd name="connsiteY3-398" fmla="*/ 810381 h 811593"/>
                <a:gd name="connsiteX4-399" fmla="*/ 201456 w 506666"/>
                <a:gd name="connsiteY4-400" fmla="*/ 807500 h 811593"/>
                <a:gd name="connsiteX0-401" fmla="*/ 135576 w 506666"/>
                <a:gd name="connsiteY0-402" fmla="*/ 818480 h 818480"/>
                <a:gd name="connsiteX1-403" fmla="*/ 0 w 506666"/>
                <a:gd name="connsiteY1-404" fmla="*/ 15216 h 818480"/>
                <a:gd name="connsiteX2-405" fmla="*/ 506666 w 506666"/>
                <a:gd name="connsiteY2-406" fmla="*/ 0 h 818480"/>
                <a:gd name="connsiteX3-407" fmla="*/ 276867 w 506666"/>
                <a:gd name="connsiteY3-408" fmla="*/ 810381 h 818480"/>
                <a:gd name="connsiteX4-409" fmla="*/ 135576 w 506666"/>
                <a:gd name="connsiteY4-410" fmla="*/ 818480 h 818480"/>
                <a:gd name="connsiteX0-411" fmla="*/ 135576 w 506666"/>
                <a:gd name="connsiteY0-412" fmla="*/ 818480 h 818480"/>
                <a:gd name="connsiteX1-413" fmla="*/ 0 w 506666"/>
                <a:gd name="connsiteY1-414" fmla="*/ 15216 h 818480"/>
                <a:gd name="connsiteX2-415" fmla="*/ 506666 w 506666"/>
                <a:gd name="connsiteY2-416" fmla="*/ 0 h 818480"/>
                <a:gd name="connsiteX3-417" fmla="*/ 331766 w 506666"/>
                <a:gd name="connsiteY3-418" fmla="*/ 803061 h 818480"/>
                <a:gd name="connsiteX4-419" fmla="*/ 135576 w 506666"/>
                <a:gd name="connsiteY4-420" fmla="*/ 818480 h 818480"/>
                <a:gd name="connsiteX0-421" fmla="*/ 135576 w 506666"/>
                <a:gd name="connsiteY0-422" fmla="*/ 818480 h 818480"/>
                <a:gd name="connsiteX1-423" fmla="*/ 0 w 506666"/>
                <a:gd name="connsiteY1-424" fmla="*/ 15216 h 818480"/>
                <a:gd name="connsiteX2-425" fmla="*/ 506666 w 506666"/>
                <a:gd name="connsiteY2-426" fmla="*/ 0 h 818480"/>
                <a:gd name="connsiteX3-427" fmla="*/ 331766 w 506666"/>
                <a:gd name="connsiteY3-428" fmla="*/ 803061 h 818480"/>
                <a:gd name="connsiteX4-429" fmla="*/ 135576 w 506666"/>
                <a:gd name="connsiteY4-430" fmla="*/ 818480 h 818480"/>
                <a:gd name="connsiteX0-431" fmla="*/ 135576 w 506666"/>
                <a:gd name="connsiteY0-432" fmla="*/ 818480 h 818480"/>
                <a:gd name="connsiteX1-433" fmla="*/ 0 w 506666"/>
                <a:gd name="connsiteY1-434" fmla="*/ 15216 h 818480"/>
                <a:gd name="connsiteX2-435" fmla="*/ 506666 w 506666"/>
                <a:gd name="connsiteY2-436" fmla="*/ 0 h 818480"/>
                <a:gd name="connsiteX3-437" fmla="*/ 331766 w 506666"/>
                <a:gd name="connsiteY3-438" fmla="*/ 803061 h 818480"/>
                <a:gd name="connsiteX4-439" fmla="*/ 135576 w 506666"/>
                <a:gd name="connsiteY4-440" fmla="*/ 818480 h 818480"/>
                <a:gd name="connsiteX0-441" fmla="*/ 135576 w 506666"/>
                <a:gd name="connsiteY0-442" fmla="*/ 818480 h 818480"/>
                <a:gd name="connsiteX1-443" fmla="*/ 0 w 506666"/>
                <a:gd name="connsiteY1-444" fmla="*/ 7896 h 818480"/>
                <a:gd name="connsiteX2-445" fmla="*/ 506666 w 506666"/>
                <a:gd name="connsiteY2-446" fmla="*/ 0 h 818480"/>
                <a:gd name="connsiteX3-447" fmla="*/ 331766 w 506666"/>
                <a:gd name="connsiteY3-448" fmla="*/ 803061 h 818480"/>
                <a:gd name="connsiteX4-449" fmla="*/ 135576 w 506666"/>
                <a:gd name="connsiteY4-450" fmla="*/ 818480 h 818480"/>
                <a:gd name="connsiteX0-451" fmla="*/ 135576 w 506666"/>
                <a:gd name="connsiteY0-452" fmla="*/ 818480 h 818480"/>
                <a:gd name="connsiteX1-453" fmla="*/ 0 w 506666"/>
                <a:gd name="connsiteY1-454" fmla="*/ 7896 h 818480"/>
                <a:gd name="connsiteX2-455" fmla="*/ 506666 w 506666"/>
                <a:gd name="connsiteY2-456" fmla="*/ 0 h 818480"/>
                <a:gd name="connsiteX3-457" fmla="*/ 331766 w 506666"/>
                <a:gd name="connsiteY3-458" fmla="*/ 803061 h 818480"/>
                <a:gd name="connsiteX4-459" fmla="*/ 135576 w 506666"/>
                <a:gd name="connsiteY4-460" fmla="*/ 818480 h 818480"/>
                <a:gd name="connsiteX0-461" fmla="*/ 45472 w 559302"/>
                <a:gd name="connsiteY0-462" fmla="*/ 807500 h 807500"/>
                <a:gd name="connsiteX1-463" fmla="*/ 52636 w 559302"/>
                <a:gd name="connsiteY1-464" fmla="*/ 7896 h 807500"/>
                <a:gd name="connsiteX2-465" fmla="*/ 559302 w 559302"/>
                <a:gd name="connsiteY2-466" fmla="*/ 0 h 807500"/>
                <a:gd name="connsiteX3-467" fmla="*/ 384402 w 559302"/>
                <a:gd name="connsiteY3-468" fmla="*/ 803061 h 807500"/>
                <a:gd name="connsiteX4-469" fmla="*/ 45472 w 559302"/>
                <a:gd name="connsiteY4-470" fmla="*/ 807500 h 807500"/>
                <a:gd name="connsiteX0-471" fmla="*/ 21974 w 535804"/>
                <a:gd name="connsiteY0-472" fmla="*/ 807500 h 807500"/>
                <a:gd name="connsiteX1-473" fmla="*/ 29138 w 535804"/>
                <a:gd name="connsiteY1-474" fmla="*/ 7896 h 807500"/>
                <a:gd name="connsiteX2-475" fmla="*/ 535804 w 535804"/>
                <a:gd name="connsiteY2-476" fmla="*/ 0 h 807500"/>
                <a:gd name="connsiteX3-477" fmla="*/ 360904 w 535804"/>
                <a:gd name="connsiteY3-478" fmla="*/ 803061 h 807500"/>
                <a:gd name="connsiteX4-479" fmla="*/ 21974 w 535804"/>
                <a:gd name="connsiteY4-480" fmla="*/ 807500 h 807500"/>
                <a:gd name="connsiteX0-481" fmla="*/ 128256 w 506666"/>
                <a:gd name="connsiteY0-482" fmla="*/ 829461 h 829461"/>
                <a:gd name="connsiteX1-483" fmla="*/ 0 w 506666"/>
                <a:gd name="connsiteY1-484" fmla="*/ 7896 h 829461"/>
                <a:gd name="connsiteX2-485" fmla="*/ 506666 w 506666"/>
                <a:gd name="connsiteY2-486" fmla="*/ 0 h 829461"/>
                <a:gd name="connsiteX3-487" fmla="*/ 331766 w 506666"/>
                <a:gd name="connsiteY3-488" fmla="*/ 803061 h 829461"/>
                <a:gd name="connsiteX4-489" fmla="*/ 128256 w 506666"/>
                <a:gd name="connsiteY4-490" fmla="*/ 829461 h 829461"/>
                <a:gd name="connsiteX0-491" fmla="*/ 128256 w 506666"/>
                <a:gd name="connsiteY0-492" fmla="*/ 829461 h 829461"/>
                <a:gd name="connsiteX1-493" fmla="*/ 0 w 506666"/>
                <a:gd name="connsiteY1-494" fmla="*/ 7896 h 829461"/>
                <a:gd name="connsiteX2-495" fmla="*/ 506666 w 506666"/>
                <a:gd name="connsiteY2-496" fmla="*/ 0 h 829461"/>
                <a:gd name="connsiteX3-497" fmla="*/ 331766 w 506666"/>
                <a:gd name="connsiteY3-498" fmla="*/ 803061 h 829461"/>
                <a:gd name="connsiteX4-499" fmla="*/ 128256 w 506666"/>
                <a:gd name="connsiteY4-500" fmla="*/ 829461 h 829461"/>
                <a:gd name="connsiteX0-501" fmla="*/ 128256 w 506666"/>
                <a:gd name="connsiteY0-502" fmla="*/ 829461 h 829461"/>
                <a:gd name="connsiteX1-503" fmla="*/ 0 w 506666"/>
                <a:gd name="connsiteY1-504" fmla="*/ 7896 h 829461"/>
                <a:gd name="connsiteX2-505" fmla="*/ 506666 w 506666"/>
                <a:gd name="connsiteY2-506" fmla="*/ 0 h 829461"/>
                <a:gd name="connsiteX3-507" fmla="*/ 331766 w 506666"/>
                <a:gd name="connsiteY3-508" fmla="*/ 803061 h 829461"/>
                <a:gd name="connsiteX4-509" fmla="*/ 128256 w 506666"/>
                <a:gd name="connsiteY4-510" fmla="*/ 829461 h 829461"/>
                <a:gd name="connsiteX0-511" fmla="*/ 128256 w 506666"/>
                <a:gd name="connsiteY0-512" fmla="*/ 829461 h 830473"/>
                <a:gd name="connsiteX1-513" fmla="*/ 0 w 506666"/>
                <a:gd name="connsiteY1-514" fmla="*/ 7896 h 830473"/>
                <a:gd name="connsiteX2-515" fmla="*/ 506666 w 506666"/>
                <a:gd name="connsiteY2-516" fmla="*/ 0 h 830473"/>
                <a:gd name="connsiteX3-517" fmla="*/ 331766 w 506666"/>
                <a:gd name="connsiteY3-518" fmla="*/ 828681 h 830473"/>
                <a:gd name="connsiteX4-519" fmla="*/ 128256 w 506666"/>
                <a:gd name="connsiteY4-520" fmla="*/ 829461 h 830473"/>
                <a:gd name="connsiteX0-521" fmla="*/ 128256 w 506666"/>
                <a:gd name="connsiteY0-522" fmla="*/ 829461 h 830473"/>
                <a:gd name="connsiteX1-523" fmla="*/ 0 w 506666"/>
                <a:gd name="connsiteY1-524" fmla="*/ 7896 h 830473"/>
                <a:gd name="connsiteX2-525" fmla="*/ 506666 w 506666"/>
                <a:gd name="connsiteY2-526" fmla="*/ 0 h 830473"/>
                <a:gd name="connsiteX3-527" fmla="*/ 331766 w 506666"/>
                <a:gd name="connsiteY3-528" fmla="*/ 828681 h 830473"/>
                <a:gd name="connsiteX4-529" fmla="*/ 128256 w 506666"/>
                <a:gd name="connsiteY4-530" fmla="*/ 829461 h 830473"/>
                <a:gd name="connsiteX0-531" fmla="*/ 128256 w 506666"/>
                <a:gd name="connsiteY0-532" fmla="*/ 821565 h 822577"/>
                <a:gd name="connsiteX1-533" fmla="*/ 0 w 506666"/>
                <a:gd name="connsiteY1-534" fmla="*/ 0 h 822577"/>
                <a:gd name="connsiteX2-535" fmla="*/ 506666 w 506666"/>
                <a:gd name="connsiteY2-536" fmla="*/ 255115 h 822577"/>
                <a:gd name="connsiteX3-537" fmla="*/ 331766 w 506666"/>
                <a:gd name="connsiteY3-538" fmla="*/ 820785 h 822577"/>
                <a:gd name="connsiteX4-539" fmla="*/ 128256 w 506666"/>
                <a:gd name="connsiteY4-540" fmla="*/ 821565 h 822577"/>
                <a:gd name="connsiteX0-541" fmla="*/ 128256 w 506666"/>
                <a:gd name="connsiteY0-542" fmla="*/ 821565 h 822577"/>
                <a:gd name="connsiteX1-543" fmla="*/ 0 w 506666"/>
                <a:gd name="connsiteY1-544" fmla="*/ 0 h 822577"/>
                <a:gd name="connsiteX2-545" fmla="*/ 506666 w 506666"/>
                <a:gd name="connsiteY2-546" fmla="*/ 255115 h 822577"/>
                <a:gd name="connsiteX3-547" fmla="*/ 331766 w 506666"/>
                <a:gd name="connsiteY3-548" fmla="*/ 820785 h 822577"/>
                <a:gd name="connsiteX4-549" fmla="*/ 128256 w 506666"/>
                <a:gd name="connsiteY4-550" fmla="*/ 821565 h 822577"/>
                <a:gd name="connsiteX0-551" fmla="*/ 128256 w 506666"/>
                <a:gd name="connsiteY0-552" fmla="*/ 821565 h 822577"/>
                <a:gd name="connsiteX1-553" fmla="*/ 0 w 506666"/>
                <a:gd name="connsiteY1-554" fmla="*/ 0 h 822577"/>
                <a:gd name="connsiteX2-555" fmla="*/ 506666 w 506666"/>
                <a:gd name="connsiteY2-556" fmla="*/ 255115 h 822577"/>
                <a:gd name="connsiteX3-557" fmla="*/ 331766 w 506666"/>
                <a:gd name="connsiteY3-558" fmla="*/ 820785 h 822577"/>
                <a:gd name="connsiteX4-559" fmla="*/ 128256 w 506666"/>
                <a:gd name="connsiteY4-560" fmla="*/ 821565 h 822577"/>
                <a:gd name="connsiteX0-561" fmla="*/ 135770 w 514180"/>
                <a:gd name="connsiteY0-562" fmla="*/ 577341 h 578353"/>
                <a:gd name="connsiteX1-563" fmla="*/ 0 w 514180"/>
                <a:gd name="connsiteY1-564" fmla="*/ 0 h 578353"/>
                <a:gd name="connsiteX2-565" fmla="*/ 514180 w 514180"/>
                <a:gd name="connsiteY2-566" fmla="*/ 10891 h 578353"/>
                <a:gd name="connsiteX3-567" fmla="*/ 339280 w 514180"/>
                <a:gd name="connsiteY3-568" fmla="*/ 576561 h 578353"/>
                <a:gd name="connsiteX4-569" fmla="*/ 135770 w 514180"/>
                <a:gd name="connsiteY4-570" fmla="*/ 577341 h 578353"/>
                <a:gd name="connsiteX0-571" fmla="*/ 135770 w 514180"/>
                <a:gd name="connsiteY0-572" fmla="*/ 577341 h 578353"/>
                <a:gd name="connsiteX1-573" fmla="*/ 0 w 514180"/>
                <a:gd name="connsiteY1-574" fmla="*/ 0 h 578353"/>
                <a:gd name="connsiteX2-575" fmla="*/ 514180 w 514180"/>
                <a:gd name="connsiteY2-576" fmla="*/ 10891 h 578353"/>
                <a:gd name="connsiteX3-577" fmla="*/ 339280 w 514180"/>
                <a:gd name="connsiteY3-578" fmla="*/ 576561 h 578353"/>
                <a:gd name="connsiteX4-579" fmla="*/ 135770 w 514180"/>
                <a:gd name="connsiteY4-580" fmla="*/ 577341 h 578353"/>
                <a:gd name="connsiteX0-581" fmla="*/ 135770 w 514180"/>
                <a:gd name="connsiteY0-582" fmla="*/ 577341 h 578353"/>
                <a:gd name="connsiteX1-583" fmla="*/ 0 w 514180"/>
                <a:gd name="connsiteY1-584" fmla="*/ 0 h 578353"/>
                <a:gd name="connsiteX2-585" fmla="*/ 514180 w 514180"/>
                <a:gd name="connsiteY2-586" fmla="*/ 10891 h 578353"/>
                <a:gd name="connsiteX3-587" fmla="*/ 339280 w 514180"/>
                <a:gd name="connsiteY3-588" fmla="*/ 576561 h 578353"/>
                <a:gd name="connsiteX4-589" fmla="*/ 135770 w 514180"/>
                <a:gd name="connsiteY4-590" fmla="*/ 577341 h 57835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21075" y="4919663"/>
              <a:ext cx="593725" cy="12160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621064"/>
                <a:gd name="connsiteY0-372" fmla="*/ 973305 h 973305"/>
                <a:gd name="connsiteX1-373" fmla="*/ 0 w 621064"/>
                <a:gd name="connsiteY1-374" fmla="*/ 11688 h 973305"/>
                <a:gd name="connsiteX2-375" fmla="*/ 499610 w 621064"/>
                <a:gd name="connsiteY2-376" fmla="*/ 0 h 973305"/>
                <a:gd name="connsiteX3-377" fmla="*/ 558839 w 621064"/>
                <a:gd name="connsiteY3-378" fmla="*/ 754682 h 973305"/>
                <a:gd name="connsiteX4-379" fmla="*/ 197928 w 621064"/>
                <a:gd name="connsiteY4-380" fmla="*/ 973305 h 973305"/>
                <a:gd name="connsiteX0-381" fmla="*/ 197928 w 558839"/>
                <a:gd name="connsiteY0-382" fmla="*/ 973305 h 973305"/>
                <a:gd name="connsiteX1-383" fmla="*/ 0 w 558839"/>
                <a:gd name="connsiteY1-384" fmla="*/ 11688 h 973305"/>
                <a:gd name="connsiteX2-385" fmla="*/ 499610 w 558839"/>
                <a:gd name="connsiteY2-386" fmla="*/ 0 h 973305"/>
                <a:gd name="connsiteX3-387" fmla="*/ 558839 w 558839"/>
                <a:gd name="connsiteY3-388" fmla="*/ 754682 h 973305"/>
                <a:gd name="connsiteX4-389" fmla="*/ 197928 w 558839"/>
                <a:gd name="connsiteY4-390" fmla="*/ 973305 h 973305"/>
                <a:gd name="connsiteX0-391" fmla="*/ 197928 w 558839"/>
                <a:gd name="connsiteY0-392" fmla="*/ 973305 h 973305"/>
                <a:gd name="connsiteX1-393" fmla="*/ 0 w 558839"/>
                <a:gd name="connsiteY1-394" fmla="*/ 11688 h 973305"/>
                <a:gd name="connsiteX2-395" fmla="*/ 499610 w 558839"/>
                <a:gd name="connsiteY2-396" fmla="*/ 0 h 973305"/>
                <a:gd name="connsiteX3-397" fmla="*/ 558839 w 558839"/>
                <a:gd name="connsiteY3-398" fmla="*/ 754682 h 973305"/>
                <a:gd name="connsiteX4-399" fmla="*/ 197928 w 558839"/>
                <a:gd name="connsiteY4-400" fmla="*/ 973305 h 973305"/>
                <a:gd name="connsiteX0-401" fmla="*/ 370213 w 558839"/>
                <a:gd name="connsiteY0-402" fmla="*/ 796102 h 796102"/>
                <a:gd name="connsiteX1-403" fmla="*/ 0 w 558839"/>
                <a:gd name="connsiteY1-404" fmla="*/ 11688 h 796102"/>
                <a:gd name="connsiteX2-405" fmla="*/ 499610 w 558839"/>
                <a:gd name="connsiteY2-406" fmla="*/ 0 h 796102"/>
                <a:gd name="connsiteX3-407" fmla="*/ 558839 w 558839"/>
                <a:gd name="connsiteY3-408" fmla="*/ 754682 h 796102"/>
                <a:gd name="connsiteX4-409" fmla="*/ 370213 w 558839"/>
                <a:gd name="connsiteY4-410" fmla="*/ 796102 h 796102"/>
                <a:gd name="connsiteX0-411" fmla="*/ 370213 w 558839"/>
                <a:gd name="connsiteY0-412" fmla="*/ 796102 h 796102"/>
                <a:gd name="connsiteX1-413" fmla="*/ 0 w 558839"/>
                <a:gd name="connsiteY1-414" fmla="*/ 11688 h 796102"/>
                <a:gd name="connsiteX2-415" fmla="*/ 499610 w 558839"/>
                <a:gd name="connsiteY2-416" fmla="*/ 0 h 796102"/>
                <a:gd name="connsiteX3-417" fmla="*/ 558839 w 558839"/>
                <a:gd name="connsiteY3-418" fmla="*/ 754682 h 796102"/>
                <a:gd name="connsiteX4-419" fmla="*/ 370213 w 558839"/>
                <a:gd name="connsiteY4-420" fmla="*/ 796102 h 796102"/>
                <a:gd name="connsiteX0-421" fmla="*/ 370213 w 558839"/>
                <a:gd name="connsiteY0-422" fmla="*/ 796102 h 796102"/>
                <a:gd name="connsiteX1-423" fmla="*/ 0 w 558839"/>
                <a:gd name="connsiteY1-424" fmla="*/ 11688 h 796102"/>
                <a:gd name="connsiteX2-425" fmla="*/ 499610 w 558839"/>
                <a:gd name="connsiteY2-426" fmla="*/ 0 h 796102"/>
                <a:gd name="connsiteX3-427" fmla="*/ 558839 w 558839"/>
                <a:gd name="connsiteY3-428" fmla="*/ 754682 h 796102"/>
                <a:gd name="connsiteX4-429" fmla="*/ 370213 w 558839"/>
                <a:gd name="connsiteY4-430" fmla="*/ 796102 h 796102"/>
                <a:gd name="connsiteX0-431" fmla="*/ 370213 w 558839"/>
                <a:gd name="connsiteY0-432" fmla="*/ 1315828 h 1315828"/>
                <a:gd name="connsiteX1-433" fmla="*/ 0 w 558839"/>
                <a:gd name="connsiteY1-434" fmla="*/ 531414 h 1315828"/>
                <a:gd name="connsiteX2-435" fmla="*/ 506930 w 558839"/>
                <a:gd name="connsiteY2-436" fmla="*/ 0 h 1315828"/>
                <a:gd name="connsiteX3-437" fmla="*/ 558839 w 558839"/>
                <a:gd name="connsiteY3-438" fmla="*/ 1274408 h 1315828"/>
                <a:gd name="connsiteX4-439" fmla="*/ 370213 w 558839"/>
                <a:gd name="connsiteY4-440" fmla="*/ 1315828 h 1315828"/>
                <a:gd name="connsiteX0-441" fmla="*/ 384853 w 573479"/>
                <a:gd name="connsiteY0-442" fmla="*/ 1326654 h 1326654"/>
                <a:gd name="connsiteX1-443" fmla="*/ 0 w 573479"/>
                <a:gd name="connsiteY1-444" fmla="*/ 554 h 1326654"/>
                <a:gd name="connsiteX2-445" fmla="*/ 521570 w 573479"/>
                <a:gd name="connsiteY2-446" fmla="*/ 10826 h 1326654"/>
                <a:gd name="connsiteX3-447" fmla="*/ 573479 w 573479"/>
                <a:gd name="connsiteY3-448" fmla="*/ 1285234 h 1326654"/>
                <a:gd name="connsiteX4-449" fmla="*/ 384853 w 573479"/>
                <a:gd name="connsiteY4-450" fmla="*/ 1326654 h 1326654"/>
                <a:gd name="connsiteX0-451" fmla="*/ 384853 w 573479"/>
                <a:gd name="connsiteY0-452" fmla="*/ 1326654 h 1326654"/>
                <a:gd name="connsiteX1-453" fmla="*/ 0 w 573479"/>
                <a:gd name="connsiteY1-454" fmla="*/ 554 h 1326654"/>
                <a:gd name="connsiteX2-455" fmla="*/ 521570 w 573479"/>
                <a:gd name="connsiteY2-456" fmla="*/ 10826 h 1326654"/>
                <a:gd name="connsiteX3-457" fmla="*/ 573479 w 573479"/>
                <a:gd name="connsiteY3-458" fmla="*/ 1285234 h 1326654"/>
                <a:gd name="connsiteX4-459" fmla="*/ 384853 w 573479"/>
                <a:gd name="connsiteY4-460" fmla="*/ 1326654 h 1326654"/>
                <a:gd name="connsiteX0-461" fmla="*/ 384853 w 573479"/>
                <a:gd name="connsiteY0-462" fmla="*/ 1326654 h 1326654"/>
                <a:gd name="connsiteX1-463" fmla="*/ 0 w 573479"/>
                <a:gd name="connsiteY1-464" fmla="*/ 554 h 1326654"/>
                <a:gd name="connsiteX2-465" fmla="*/ 521570 w 573479"/>
                <a:gd name="connsiteY2-466" fmla="*/ 10826 h 1326654"/>
                <a:gd name="connsiteX3-467" fmla="*/ 573479 w 573479"/>
                <a:gd name="connsiteY3-468" fmla="*/ 1285234 h 1326654"/>
                <a:gd name="connsiteX4-469" fmla="*/ 384853 w 573479"/>
                <a:gd name="connsiteY4-470" fmla="*/ 1326654 h 1326654"/>
                <a:gd name="connsiteX0-471" fmla="*/ 384853 w 573479"/>
                <a:gd name="connsiteY0-472" fmla="*/ 1326654 h 1326654"/>
                <a:gd name="connsiteX1-473" fmla="*/ 0 w 573479"/>
                <a:gd name="connsiteY1-474" fmla="*/ 554 h 1326654"/>
                <a:gd name="connsiteX2-475" fmla="*/ 521570 w 573479"/>
                <a:gd name="connsiteY2-476" fmla="*/ 10826 h 1326654"/>
                <a:gd name="connsiteX3-477" fmla="*/ 573479 w 573479"/>
                <a:gd name="connsiteY3-478" fmla="*/ 1285234 h 1326654"/>
                <a:gd name="connsiteX4-479" fmla="*/ 384853 w 573479"/>
                <a:gd name="connsiteY4-480" fmla="*/ 1326654 h 1326654"/>
                <a:gd name="connsiteX0-481" fmla="*/ 384853 w 573479"/>
                <a:gd name="connsiteY0-482" fmla="*/ 1326654 h 1326654"/>
                <a:gd name="connsiteX1-483" fmla="*/ 0 w 573479"/>
                <a:gd name="connsiteY1-484" fmla="*/ 554 h 1326654"/>
                <a:gd name="connsiteX2-485" fmla="*/ 521570 w 573479"/>
                <a:gd name="connsiteY2-486" fmla="*/ 10826 h 1326654"/>
                <a:gd name="connsiteX3-487" fmla="*/ 573479 w 573479"/>
                <a:gd name="connsiteY3-488" fmla="*/ 1285234 h 1326654"/>
                <a:gd name="connsiteX4-489" fmla="*/ 384853 w 573479"/>
                <a:gd name="connsiteY4-490" fmla="*/ 1326654 h 1326654"/>
                <a:gd name="connsiteX0-491" fmla="*/ 384853 w 573479"/>
                <a:gd name="connsiteY0-492" fmla="*/ 1326654 h 1326654"/>
                <a:gd name="connsiteX1-493" fmla="*/ 0 w 573479"/>
                <a:gd name="connsiteY1-494" fmla="*/ 554 h 1326654"/>
                <a:gd name="connsiteX2-495" fmla="*/ 521570 w 573479"/>
                <a:gd name="connsiteY2-496" fmla="*/ 10826 h 1326654"/>
                <a:gd name="connsiteX3-497" fmla="*/ 573479 w 573479"/>
                <a:gd name="connsiteY3-498" fmla="*/ 1285234 h 1326654"/>
                <a:gd name="connsiteX4-499" fmla="*/ 384853 w 573479"/>
                <a:gd name="connsiteY4-500" fmla="*/ 1326654 h 1326654"/>
                <a:gd name="connsiteX0-501" fmla="*/ 384853 w 588119"/>
                <a:gd name="connsiteY0-502" fmla="*/ 1326654 h 1326654"/>
                <a:gd name="connsiteX1-503" fmla="*/ 0 w 588119"/>
                <a:gd name="connsiteY1-504" fmla="*/ 554 h 1326654"/>
                <a:gd name="connsiteX2-505" fmla="*/ 521570 w 588119"/>
                <a:gd name="connsiteY2-506" fmla="*/ 10826 h 1326654"/>
                <a:gd name="connsiteX3-507" fmla="*/ 588119 w 588119"/>
                <a:gd name="connsiteY3-508" fmla="*/ 1321835 h 1326654"/>
                <a:gd name="connsiteX4-509" fmla="*/ 384853 w 588119"/>
                <a:gd name="connsiteY4-510" fmla="*/ 1326654 h 1326654"/>
                <a:gd name="connsiteX0-511" fmla="*/ 384853 w 588119"/>
                <a:gd name="connsiteY0-512" fmla="*/ 1326654 h 1326654"/>
                <a:gd name="connsiteX1-513" fmla="*/ 0 w 588119"/>
                <a:gd name="connsiteY1-514" fmla="*/ 554 h 1326654"/>
                <a:gd name="connsiteX2-515" fmla="*/ 521570 w 588119"/>
                <a:gd name="connsiteY2-516" fmla="*/ 10826 h 1326654"/>
                <a:gd name="connsiteX3-517" fmla="*/ 588119 w 588119"/>
                <a:gd name="connsiteY3-518" fmla="*/ 1321835 h 1326654"/>
                <a:gd name="connsiteX4-519" fmla="*/ 384853 w 588119"/>
                <a:gd name="connsiteY4-520" fmla="*/ 1326654 h 1326654"/>
                <a:gd name="connsiteX0-521" fmla="*/ 384853 w 588119"/>
                <a:gd name="connsiteY0-522" fmla="*/ 1326148 h 1326148"/>
                <a:gd name="connsiteX1-523" fmla="*/ 0 w 588119"/>
                <a:gd name="connsiteY1-524" fmla="*/ 48 h 1326148"/>
                <a:gd name="connsiteX2-525" fmla="*/ 521570 w 588119"/>
                <a:gd name="connsiteY2-526" fmla="*/ 228243 h 1326148"/>
                <a:gd name="connsiteX3-527" fmla="*/ 588119 w 588119"/>
                <a:gd name="connsiteY3-528" fmla="*/ 1321329 h 1326148"/>
                <a:gd name="connsiteX4-529" fmla="*/ 384853 w 588119"/>
                <a:gd name="connsiteY4-530" fmla="*/ 1326148 h 1326148"/>
                <a:gd name="connsiteX0-531" fmla="*/ 384853 w 588119"/>
                <a:gd name="connsiteY0-532" fmla="*/ 1326148 h 1326148"/>
                <a:gd name="connsiteX1-533" fmla="*/ 0 w 588119"/>
                <a:gd name="connsiteY1-534" fmla="*/ 48 h 1326148"/>
                <a:gd name="connsiteX2-535" fmla="*/ 521570 w 588119"/>
                <a:gd name="connsiteY2-536" fmla="*/ 228243 h 1326148"/>
                <a:gd name="connsiteX3-537" fmla="*/ 588119 w 588119"/>
                <a:gd name="connsiteY3-538" fmla="*/ 1321329 h 1326148"/>
                <a:gd name="connsiteX4-539" fmla="*/ 384853 w 588119"/>
                <a:gd name="connsiteY4-540" fmla="*/ 1326148 h 1326148"/>
                <a:gd name="connsiteX0-541" fmla="*/ 384853 w 588119"/>
                <a:gd name="connsiteY0-542" fmla="*/ 1326148 h 1326148"/>
                <a:gd name="connsiteX1-543" fmla="*/ 0 w 588119"/>
                <a:gd name="connsiteY1-544" fmla="*/ 48 h 1326148"/>
                <a:gd name="connsiteX2-545" fmla="*/ 521570 w 588119"/>
                <a:gd name="connsiteY2-546" fmla="*/ 228243 h 1326148"/>
                <a:gd name="connsiteX3-547" fmla="*/ 588119 w 588119"/>
                <a:gd name="connsiteY3-548" fmla="*/ 1321329 h 1326148"/>
                <a:gd name="connsiteX4-549" fmla="*/ 384853 w 588119"/>
                <a:gd name="connsiteY4-550" fmla="*/ 1326148 h 1326148"/>
                <a:gd name="connsiteX0-551" fmla="*/ 366066 w 569332"/>
                <a:gd name="connsiteY0-552" fmla="*/ 1097905 h 1097905"/>
                <a:gd name="connsiteX1-553" fmla="*/ 0 w 569332"/>
                <a:gd name="connsiteY1-554" fmla="*/ 4757 h 1097905"/>
                <a:gd name="connsiteX2-555" fmla="*/ 502783 w 569332"/>
                <a:gd name="connsiteY2-556" fmla="*/ 0 h 1097905"/>
                <a:gd name="connsiteX3-557" fmla="*/ 569332 w 569332"/>
                <a:gd name="connsiteY3-558" fmla="*/ 1093086 h 1097905"/>
                <a:gd name="connsiteX4-559" fmla="*/ 366066 w 569332"/>
                <a:gd name="connsiteY4-560" fmla="*/ 1097905 h 1097905"/>
                <a:gd name="connsiteX0-561" fmla="*/ 366066 w 569332"/>
                <a:gd name="connsiteY0-562" fmla="*/ 1097905 h 1097905"/>
                <a:gd name="connsiteX1-563" fmla="*/ 0 w 569332"/>
                <a:gd name="connsiteY1-564" fmla="*/ 4757 h 1097905"/>
                <a:gd name="connsiteX2-565" fmla="*/ 502783 w 569332"/>
                <a:gd name="connsiteY2-566" fmla="*/ 0 h 1097905"/>
                <a:gd name="connsiteX3-567" fmla="*/ 569332 w 569332"/>
                <a:gd name="connsiteY3-568" fmla="*/ 1093086 h 1097905"/>
                <a:gd name="connsiteX4-569" fmla="*/ 366066 w 569332"/>
                <a:gd name="connsiteY4-570" fmla="*/ 1097905 h 1097905"/>
                <a:gd name="connsiteX0-571" fmla="*/ 366066 w 569332"/>
                <a:gd name="connsiteY0-572" fmla="*/ 1097905 h 1097905"/>
                <a:gd name="connsiteX1-573" fmla="*/ 0 w 569332"/>
                <a:gd name="connsiteY1-574" fmla="*/ 4757 h 1097905"/>
                <a:gd name="connsiteX2-575" fmla="*/ 502783 w 569332"/>
                <a:gd name="connsiteY2-576" fmla="*/ 0 h 1097905"/>
                <a:gd name="connsiteX3-577" fmla="*/ 569332 w 569332"/>
                <a:gd name="connsiteY3-578" fmla="*/ 1093086 h 1097905"/>
                <a:gd name="connsiteX4-579" fmla="*/ 366066 w 569332"/>
                <a:gd name="connsiteY4-580" fmla="*/ 1097905 h 1097905"/>
                <a:gd name="connsiteX0-581" fmla="*/ 366066 w 594113"/>
                <a:gd name="connsiteY0-582" fmla="*/ 1097905 h 1179971"/>
                <a:gd name="connsiteX1-583" fmla="*/ 0 w 594113"/>
                <a:gd name="connsiteY1-584" fmla="*/ 4757 h 1179971"/>
                <a:gd name="connsiteX2-585" fmla="*/ 502783 w 594113"/>
                <a:gd name="connsiteY2-586" fmla="*/ 0 h 1179971"/>
                <a:gd name="connsiteX3-587" fmla="*/ 594113 w 594113"/>
                <a:gd name="connsiteY3-588" fmla="*/ 1179818 h 1179971"/>
                <a:gd name="connsiteX4-589" fmla="*/ 366066 w 594113"/>
                <a:gd name="connsiteY4-590" fmla="*/ 1097905 h 1179971"/>
                <a:gd name="connsiteX0-591" fmla="*/ 403236 w 594113"/>
                <a:gd name="connsiteY0-592" fmla="*/ 1215612 h 1215612"/>
                <a:gd name="connsiteX1-593" fmla="*/ 0 w 594113"/>
                <a:gd name="connsiteY1-594" fmla="*/ 4757 h 1215612"/>
                <a:gd name="connsiteX2-595" fmla="*/ 502783 w 594113"/>
                <a:gd name="connsiteY2-596" fmla="*/ 0 h 1215612"/>
                <a:gd name="connsiteX3-597" fmla="*/ 594113 w 594113"/>
                <a:gd name="connsiteY3-598" fmla="*/ 1179818 h 1215612"/>
                <a:gd name="connsiteX4-599" fmla="*/ 403236 w 594113"/>
                <a:gd name="connsiteY4-600" fmla="*/ 1215612 h 121561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18" name="Group 17"/>
            <p:cNvGrpSpPr/>
            <p:nvPr/>
          </p:nvGrpSpPr>
          <p:grpSpPr>
            <a:xfrm>
              <a:off x="1757805" y="2331054"/>
              <a:ext cx="1079500" cy="2674334"/>
              <a:chOff x="1757805" y="2331054"/>
              <a:chExt cx="1079500" cy="2674334"/>
            </a:xfrm>
          </p:grpSpPr>
          <p:sp>
            <p:nvSpPr>
              <p:cNvPr id="108" name="Rectangle 107"/>
              <p:cNvSpPr/>
              <p:nvPr/>
            </p:nvSpPr>
            <p:spPr bwMode="auto">
              <a:xfrm rot="10800000">
                <a:off x="1789113" y="2580876"/>
                <a:ext cx="1027112" cy="1083074"/>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7266" name="Group 104"/>
              <p:cNvGrpSpPr/>
              <p:nvPr/>
            </p:nvGrpSpPr>
            <p:grpSpPr bwMode="auto">
              <a:xfrm>
                <a:off x="1782739" y="4616206"/>
                <a:ext cx="1034710" cy="389182"/>
                <a:chOff x="4128636" y="3606589"/>
                <a:chExt cx="568145" cy="338667"/>
              </a:xfrm>
            </p:grpSpPr>
            <p:sp>
              <p:nvSpPr>
                <p:cNvPr id="119" name="Oval 118"/>
                <p:cNvSpPr/>
                <p:nvPr/>
              </p:nvSpPr>
              <p:spPr>
                <a:xfrm>
                  <a:off x="4128649" y="3720080"/>
                  <a:ext cx="568332" cy="22517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0" name="Rectangle 119"/>
                <p:cNvSpPr/>
                <p:nvPr/>
              </p:nvSpPr>
              <p:spPr>
                <a:xfrm>
                  <a:off x="4128649" y="3720080"/>
                  <a:ext cx="568332" cy="11189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1" name="Oval 120"/>
                <p:cNvSpPr/>
                <p:nvPr/>
              </p:nvSpPr>
              <p:spPr>
                <a:xfrm>
                  <a:off x="4128649" y="3606801"/>
                  <a:ext cx="568332" cy="225176"/>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2" name="Straight Connector 121"/>
                <p:cNvCxnSpPr/>
                <p:nvPr/>
              </p:nvCxnSpPr>
              <p:spPr>
                <a:xfrm>
                  <a:off x="4696981"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3" name="Straight Connector 122"/>
                <p:cNvCxnSpPr/>
                <p:nvPr/>
              </p:nvCxnSpPr>
              <p:spPr>
                <a:xfrm>
                  <a:off x="4128649"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47" name="Rectangle 146"/>
              <p:cNvSpPr/>
              <p:nvPr/>
            </p:nvSpPr>
            <p:spPr bwMode="auto">
              <a:xfrm>
                <a:off x="1801813" y="3602038"/>
                <a:ext cx="1027112" cy="1163637"/>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3" name="Straight Connector 112"/>
              <p:cNvCxnSpPr/>
              <p:nvPr/>
            </p:nvCxnSpPr>
            <p:spPr bwMode="auto">
              <a:xfrm>
                <a:off x="1781175" y="2805113"/>
                <a:ext cx="20638" cy="202088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12" name="Straight Connector 111"/>
              <p:cNvCxnSpPr/>
              <p:nvPr/>
            </p:nvCxnSpPr>
            <p:spPr bwMode="auto">
              <a:xfrm flipH="1">
                <a:off x="2817813" y="2805113"/>
                <a:ext cx="4762" cy="19764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72" name="Group 9"/>
              <p:cNvGrpSpPr/>
              <p:nvPr/>
            </p:nvGrpSpPr>
            <p:grpSpPr bwMode="auto">
              <a:xfrm>
                <a:off x="1757805" y="2331054"/>
                <a:ext cx="1079500" cy="430213"/>
                <a:chOff x="2183302" y="1574638"/>
                <a:chExt cx="1200154" cy="430181"/>
              </a:xfrm>
            </p:grpSpPr>
            <p:sp>
              <p:nvSpPr>
                <p:cNvPr id="369" name="Oval 368"/>
                <p:cNvSpPr/>
                <p:nvPr/>
              </p:nvSpPr>
              <p:spPr bwMode="auto">
                <a:xfrm flipV="1">
                  <a:off x="2186832" y="1690517"/>
                  <a:ext cx="1194859" cy="314302"/>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0" name="Rectangle 369"/>
                <p:cNvSpPr/>
                <p:nvPr/>
              </p:nvSpPr>
              <p:spPr bwMode="auto">
                <a:xfrm>
                  <a:off x="2183302" y="1734964"/>
                  <a:ext cx="1198389" cy="112704"/>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1" name="Oval 370"/>
                <p:cNvSpPr/>
                <p:nvPr/>
              </p:nvSpPr>
              <p:spPr bwMode="auto">
                <a:xfrm flipV="1">
                  <a:off x="2183302" y="1574638"/>
                  <a:ext cx="1196624" cy="314302"/>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2" name="Freeform 371"/>
                <p:cNvSpPr/>
                <p:nvPr/>
              </p:nvSpPr>
              <p:spPr bwMode="auto">
                <a:xfrm>
                  <a:off x="2490400" y="1671469"/>
                  <a:ext cx="582428" cy="15715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3" name="Freeform 372"/>
                <p:cNvSpPr/>
                <p:nvPr/>
              </p:nvSpPr>
              <p:spPr bwMode="auto">
                <a:xfrm>
                  <a:off x="2430393" y="1630197"/>
                  <a:ext cx="702443" cy="10952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4" name="Freeform 373"/>
                <p:cNvSpPr/>
                <p:nvPr/>
              </p:nvSpPr>
              <p:spPr bwMode="auto">
                <a:xfrm>
                  <a:off x="2892805" y="1723852"/>
                  <a:ext cx="257680" cy="952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Freeform 374"/>
                <p:cNvSpPr/>
                <p:nvPr/>
              </p:nvSpPr>
              <p:spPr bwMode="auto">
                <a:xfrm>
                  <a:off x="2418037" y="1725440"/>
                  <a:ext cx="254150" cy="9524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6" name="Straight Connector 375"/>
                <p:cNvCxnSpPr>
                  <a:endCxn id="371" idx="2"/>
                </p:cNvCxnSpPr>
                <p:nvPr/>
              </p:nvCxnSpPr>
              <p:spPr bwMode="auto">
                <a:xfrm flipH="1" flipV="1">
                  <a:off x="2183302" y="1731787"/>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7" name="Straight Connector 376"/>
                <p:cNvCxnSpPr/>
                <p:nvPr/>
              </p:nvCxnSpPr>
              <p:spPr bwMode="auto">
                <a:xfrm flipH="1" flipV="1">
                  <a:off x="3379926" y="1728615"/>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9" name="Group 18"/>
            <p:cNvGrpSpPr/>
            <p:nvPr/>
          </p:nvGrpSpPr>
          <p:grpSpPr>
            <a:xfrm>
              <a:off x="3500438" y="3174091"/>
              <a:ext cx="522287" cy="1831297"/>
              <a:chOff x="3500438" y="3174091"/>
              <a:chExt cx="522287" cy="1831297"/>
            </a:xfrm>
          </p:grpSpPr>
          <p:sp>
            <p:nvSpPr>
              <p:cNvPr id="171" name="Rectangle 170"/>
              <p:cNvSpPr/>
              <p:nvPr/>
            </p:nvSpPr>
            <p:spPr bwMode="auto">
              <a:xfrm rot="10800000">
                <a:off x="3507320" y="3287221"/>
                <a:ext cx="498349" cy="306623"/>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0" name="Straight Connector 89"/>
              <p:cNvCxnSpPr/>
              <p:nvPr/>
            </p:nvCxnSpPr>
            <p:spPr bwMode="auto">
              <a:xfrm flipH="1">
                <a:off x="4019550" y="3321180"/>
                <a:ext cx="1059" cy="153657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pic>
            <p:nvPicPr>
              <p:cNvPr id="47247" name="Picture 86" descr="router_top.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p:spPr>
          </p:pic>
          <p:grpSp>
            <p:nvGrpSpPr>
              <p:cNvPr id="47249" name="Group 82"/>
              <p:cNvGrpSpPr/>
              <p:nvPr/>
            </p:nvGrpSpPr>
            <p:grpSpPr bwMode="auto">
              <a:xfrm>
                <a:off x="3511442" y="4783543"/>
                <a:ext cx="507858" cy="221845"/>
                <a:chOff x="4128636" y="3606589"/>
                <a:chExt cx="568145" cy="338667"/>
              </a:xfrm>
            </p:grpSpPr>
            <p:sp>
              <p:nvSpPr>
                <p:cNvPr id="97" name="Oval 96"/>
                <p:cNvSpPr/>
                <p:nvPr/>
              </p:nvSpPr>
              <p:spPr>
                <a:xfrm>
                  <a:off x="4128757" y="3719873"/>
                  <a:ext cx="568304" cy="225383"/>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Rectangle 97"/>
                <p:cNvSpPr/>
                <p:nvPr/>
              </p:nvSpPr>
              <p:spPr>
                <a:xfrm>
                  <a:off x="4128757" y="3719873"/>
                  <a:ext cx="568304" cy="111479"/>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9" name="Oval 98"/>
                <p:cNvSpPr/>
                <p:nvPr/>
              </p:nvSpPr>
              <p:spPr>
                <a:xfrm>
                  <a:off x="4128757" y="3605971"/>
                  <a:ext cx="568304" cy="22538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0" name="Straight Connector 99"/>
                <p:cNvCxnSpPr/>
                <p:nvPr/>
              </p:nvCxnSpPr>
              <p:spPr>
                <a:xfrm>
                  <a:off x="4697061" y="3719873"/>
                  <a:ext cx="0" cy="11147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a:xfrm>
                  <a:off x="4128757" y="3719873"/>
                  <a:ext cx="0" cy="11147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55" name="Rectangle 154"/>
              <p:cNvSpPr/>
              <p:nvPr/>
            </p:nvSpPr>
            <p:spPr bwMode="auto">
              <a:xfrm>
                <a:off x="3516313" y="3697288"/>
                <a:ext cx="498475" cy="1163637"/>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4" name="Straight Connector 173"/>
              <p:cNvCxnSpPr>
                <a:stCxn id="381" idx="2"/>
              </p:cNvCxnSpPr>
              <p:nvPr/>
            </p:nvCxnSpPr>
            <p:spPr bwMode="auto">
              <a:xfrm flipH="1">
                <a:off x="3506788" y="3262991"/>
                <a:ext cx="4762" cy="168842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33" name="Group 377"/>
              <p:cNvGrpSpPr/>
              <p:nvPr/>
            </p:nvGrpSpPr>
            <p:grpSpPr bwMode="auto">
              <a:xfrm>
                <a:off x="3511057" y="3174091"/>
                <a:ext cx="504096" cy="242719"/>
                <a:chOff x="2183302" y="1574638"/>
                <a:chExt cx="1200154" cy="430218"/>
              </a:xfrm>
            </p:grpSpPr>
            <p:sp>
              <p:nvSpPr>
                <p:cNvPr id="379" name="Oval 378"/>
                <p:cNvSpPr/>
                <p:nvPr/>
              </p:nvSpPr>
              <p:spPr bwMode="auto">
                <a:xfrm flipV="1">
                  <a:off x="2188256" y="1690004"/>
                  <a:ext cx="1194331" cy="315149"/>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0" name="Rectangle 379"/>
                <p:cNvSpPr/>
                <p:nvPr/>
              </p:nvSpPr>
              <p:spPr bwMode="auto">
                <a:xfrm>
                  <a:off x="2184476" y="1735026"/>
                  <a:ext cx="1198111" cy="112553"/>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1" name="Oval 380"/>
                <p:cNvSpPr/>
                <p:nvPr/>
              </p:nvSpPr>
              <p:spPr bwMode="auto">
                <a:xfrm flipV="1">
                  <a:off x="2184476" y="1574638"/>
                  <a:ext cx="1194331" cy="315149"/>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2" name="Freeform 381"/>
                <p:cNvSpPr/>
                <p:nvPr/>
              </p:nvSpPr>
              <p:spPr bwMode="auto">
                <a:xfrm>
                  <a:off x="2490619" y="1670308"/>
                  <a:ext cx="582047" cy="15757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3" name="Freeform 382"/>
                <p:cNvSpPr/>
                <p:nvPr/>
              </p:nvSpPr>
              <p:spPr bwMode="auto">
                <a:xfrm>
                  <a:off x="2430146" y="1630915"/>
                  <a:ext cx="702992" cy="10973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4" name="Freeform 383"/>
                <p:cNvSpPr/>
                <p:nvPr/>
              </p:nvSpPr>
              <p:spPr bwMode="auto">
                <a:xfrm>
                  <a:off x="2891248" y="1723770"/>
                  <a:ext cx="260786" cy="9567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Freeform 384"/>
                <p:cNvSpPr/>
                <p:nvPr/>
              </p:nvSpPr>
              <p:spPr bwMode="auto">
                <a:xfrm>
                  <a:off x="2418806" y="1726585"/>
                  <a:ext cx="253230" cy="92856"/>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6" name="Straight Connector 385"/>
                <p:cNvCxnSpPr>
                  <a:endCxn id="381" idx="2"/>
                </p:cNvCxnSpPr>
                <p:nvPr/>
              </p:nvCxnSpPr>
              <p:spPr bwMode="auto">
                <a:xfrm flipH="1" flipV="1">
                  <a:off x="2184476" y="1732213"/>
                  <a:ext cx="3781" cy="12099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7" name="Straight Connector 386"/>
                <p:cNvCxnSpPr/>
                <p:nvPr/>
              </p:nvCxnSpPr>
              <p:spPr bwMode="auto">
                <a:xfrm flipH="1" flipV="1">
                  <a:off x="3378806" y="1729398"/>
                  <a:ext cx="3781" cy="120996"/>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0" name="Group 19"/>
            <p:cNvGrpSpPr/>
            <p:nvPr/>
          </p:nvGrpSpPr>
          <p:grpSpPr>
            <a:xfrm>
              <a:off x="4299212" y="2486508"/>
              <a:ext cx="528376" cy="2517292"/>
              <a:chOff x="4299212" y="2486508"/>
              <a:chExt cx="528376" cy="2517292"/>
            </a:xfrm>
          </p:grpSpPr>
          <p:sp>
            <p:nvSpPr>
              <p:cNvPr id="439" name="Rectangle 438"/>
              <p:cNvSpPr/>
              <p:nvPr/>
            </p:nvSpPr>
            <p:spPr bwMode="auto">
              <a:xfrm rot="10800000">
                <a:off x="4315358" y="2675960"/>
                <a:ext cx="498350" cy="91657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0" name="Straight Connector 439"/>
              <p:cNvCxnSpPr/>
              <p:nvPr/>
            </p:nvCxnSpPr>
            <p:spPr bwMode="auto">
              <a:xfrm>
                <a:off x="4822015" y="2642002"/>
                <a:ext cx="5573" cy="2214161"/>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18" name="Group 442"/>
              <p:cNvGrpSpPr/>
              <p:nvPr/>
            </p:nvGrpSpPr>
            <p:grpSpPr bwMode="auto">
              <a:xfrm>
                <a:off x="4319479" y="4781999"/>
                <a:ext cx="507859" cy="221801"/>
                <a:chOff x="4128636" y="3606589"/>
                <a:chExt cx="568145" cy="338667"/>
              </a:xfrm>
            </p:grpSpPr>
            <p:sp>
              <p:nvSpPr>
                <p:cNvPr id="452" name="Oval 451"/>
                <p:cNvSpPr/>
                <p:nvPr/>
              </p:nvSpPr>
              <p:spPr>
                <a:xfrm>
                  <a:off x="4128758" y="3719830"/>
                  <a:ext cx="568303" cy="22542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3" name="Rectangle 452"/>
                <p:cNvSpPr/>
                <p:nvPr/>
              </p:nvSpPr>
              <p:spPr>
                <a:xfrm>
                  <a:off x="4128758" y="3719830"/>
                  <a:ext cx="568303"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4" name="Oval 453"/>
                <p:cNvSpPr/>
                <p:nvPr/>
              </p:nvSpPr>
              <p:spPr>
                <a:xfrm>
                  <a:off x="4128758" y="3605903"/>
                  <a:ext cx="568303" cy="22542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55" name="Straight Connector 454"/>
                <p:cNvCxnSpPr/>
                <p:nvPr/>
              </p:nvCxnSpPr>
              <p:spPr>
                <a:xfrm>
                  <a:off x="4697061"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6" name="Straight Connector 455"/>
                <p:cNvCxnSpPr/>
                <p:nvPr/>
              </p:nvCxnSpPr>
              <p:spPr>
                <a:xfrm>
                  <a:off x="4128758"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44" name="Rectangle 443"/>
              <p:cNvSpPr/>
              <p:nvPr/>
            </p:nvSpPr>
            <p:spPr bwMode="auto">
              <a:xfrm>
                <a:off x="4324350" y="3695700"/>
                <a:ext cx="498475" cy="116363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7" name="Straight Connector 446"/>
              <p:cNvCxnSpPr>
                <a:stCxn id="458" idx="2"/>
              </p:cNvCxnSpPr>
              <p:nvPr/>
            </p:nvCxnSpPr>
            <p:spPr bwMode="auto">
              <a:xfrm>
                <a:off x="4300799" y="2640496"/>
                <a:ext cx="14026" cy="2309329"/>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37" name="Group 456"/>
              <p:cNvGrpSpPr/>
              <p:nvPr/>
            </p:nvGrpSpPr>
            <p:grpSpPr bwMode="auto">
              <a:xfrm>
                <a:off x="4299212" y="2486508"/>
                <a:ext cx="504825" cy="242888"/>
                <a:chOff x="2183302" y="1574638"/>
                <a:chExt cx="1200154" cy="430218"/>
              </a:xfrm>
            </p:grpSpPr>
            <p:sp>
              <p:nvSpPr>
                <p:cNvPr id="458" name="Oval 457"/>
                <p:cNvSpPr/>
                <p:nvPr/>
              </p:nvSpPr>
              <p:spPr bwMode="auto">
                <a:xfrm flipV="1">
                  <a:off x="2187075" y="1689926"/>
                  <a:ext cx="1196381" cy="314930"/>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59" name="Rectangle 458"/>
                <p:cNvSpPr/>
                <p:nvPr/>
              </p:nvSpPr>
              <p:spPr bwMode="auto">
                <a:xfrm>
                  <a:off x="2183302" y="1734916"/>
                  <a:ext cx="1200154" cy="11247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flipV="1">
                  <a:off x="2183302" y="1574638"/>
                  <a:ext cx="1196379" cy="31493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61" name="Freeform 460"/>
                <p:cNvSpPr/>
                <p:nvPr/>
              </p:nvSpPr>
              <p:spPr bwMode="auto">
                <a:xfrm>
                  <a:off x="2489000" y="1670242"/>
                  <a:ext cx="584982" cy="1574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2" name="Freeform 461"/>
                <p:cNvSpPr/>
                <p:nvPr/>
              </p:nvSpPr>
              <p:spPr bwMode="auto">
                <a:xfrm>
                  <a:off x="2428615" y="1630876"/>
                  <a:ext cx="705752" cy="10966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3" name="Freeform 462"/>
                <p:cNvSpPr/>
                <p:nvPr/>
              </p:nvSpPr>
              <p:spPr bwMode="auto">
                <a:xfrm>
                  <a:off x="2892827" y="1723668"/>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4" name="Freeform 463"/>
                <p:cNvSpPr/>
                <p:nvPr/>
              </p:nvSpPr>
              <p:spPr bwMode="auto">
                <a:xfrm>
                  <a:off x="2417294" y="1726479"/>
                  <a:ext cx="252861" cy="9279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65" name="Straight Connector 464"/>
                <p:cNvCxnSpPr>
                  <a:endCxn id="460" idx="2"/>
                </p:cNvCxnSpPr>
                <p:nvPr/>
              </p:nvCxnSpPr>
              <p:spPr bwMode="auto">
                <a:xfrm flipH="1" flipV="1">
                  <a:off x="2183302" y="1732103"/>
                  <a:ext cx="3773"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66" name="Straight Connector 465"/>
                <p:cNvCxnSpPr/>
                <p:nvPr/>
              </p:nvCxnSpPr>
              <p:spPr bwMode="auto">
                <a:xfrm flipH="1" flipV="1">
                  <a:off x="3379681" y="1729292"/>
                  <a:ext cx="3775"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1" name="Group 20"/>
            <p:cNvGrpSpPr/>
            <p:nvPr/>
          </p:nvGrpSpPr>
          <p:grpSpPr>
            <a:xfrm>
              <a:off x="5491163" y="3179295"/>
              <a:ext cx="522287" cy="1824505"/>
              <a:chOff x="5491163" y="3179295"/>
              <a:chExt cx="522287" cy="1824505"/>
            </a:xfrm>
          </p:grpSpPr>
          <p:sp>
            <p:nvSpPr>
              <p:cNvPr id="468" name="Rectangle 467"/>
              <p:cNvSpPr/>
              <p:nvPr/>
            </p:nvSpPr>
            <p:spPr bwMode="auto">
              <a:xfrm rot="10800000">
                <a:off x="5498044" y="3266845"/>
                <a:ext cx="498349" cy="325689"/>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69" name="Straight Connector 468"/>
              <p:cNvCxnSpPr>
                <a:stCxn id="489" idx="6"/>
              </p:cNvCxnSpPr>
              <p:nvPr/>
            </p:nvCxnSpPr>
            <p:spPr bwMode="auto">
              <a:xfrm>
                <a:off x="6003925" y="3268195"/>
                <a:ext cx="6350" cy="158117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pic>
            <p:nvPicPr>
              <p:cNvPr id="47187" name="Picture 469" descr="router_top.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p:spPr>
          </p:pic>
          <p:grpSp>
            <p:nvGrpSpPr>
              <p:cNvPr id="47189" name="Group 471"/>
              <p:cNvGrpSpPr/>
              <p:nvPr/>
            </p:nvGrpSpPr>
            <p:grpSpPr bwMode="auto">
              <a:xfrm>
                <a:off x="5502167" y="4781999"/>
                <a:ext cx="507858" cy="221801"/>
                <a:chOff x="4128636" y="3606589"/>
                <a:chExt cx="568145" cy="338667"/>
              </a:xfrm>
            </p:grpSpPr>
            <p:sp>
              <p:nvSpPr>
                <p:cNvPr id="481" name="Oval 480"/>
                <p:cNvSpPr/>
                <p:nvPr/>
              </p:nvSpPr>
              <p:spPr>
                <a:xfrm>
                  <a:off x="4128757" y="3719830"/>
                  <a:ext cx="568304" cy="22542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2" name="Rectangle 481"/>
                <p:cNvSpPr/>
                <p:nvPr/>
              </p:nvSpPr>
              <p:spPr>
                <a:xfrm>
                  <a:off x="4128757" y="3719830"/>
                  <a:ext cx="568304"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3" name="Oval 482"/>
                <p:cNvSpPr/>
                <p:nvPr/>
              </p:nvSpPr>
              <p:spPr>
                <a:xfrm>
                  <a:off x="4128757" y="3605903"/>
                  <a:ext cx="568304" cy="22542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84" name="Straight Connector 483"/>
                <p:cNvCxnSpPr/>
                <p:nvPr/>
              </p:nvCxnSpPr>
              <p:spPr>
                <a:xfrm>
                  <a:off x="4697061"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p:cNvCxnSpPr/>
                <p:nvPr/>
              </p:nvCxnSpPr>
              <p:spPr>
                <a:xfrm>
                  <a:off x="4128757"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73" name="Rectangle 472"/>
              <p:cNvSpPr/>
              <p:nvPr/>
            </p:nvSpPr>
            <p:spPr bwMode="auto">
              <a:xfrm>
                <a:off x="5507038" y="3695700"/>
                <a:ext cx="498475" cy="116363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76" name="Straight Connector 475"/>
              <p:cNvCxnSpPr>
                <a:stCxn id="47187" idx="1"/>
              </p:cNvCxnSpPr>
              <p:nvPr/>
            </p:nvCxnSpPr>
            <p:spPr bwMode="auto">
              <a:xfrm>
                <a:off x="5491163" y="3316941"/>
                <a:ext cx="6350" cy="1632884"/>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39" name="Group 485"/>
              <p:cNvGrpSpPr/>
              <p:nvPr/>
            </p:nvGrpSpPr>
            <p:grpSpPr bwMode="auto">
              <a:xfrm>
                <a:off x="5500688" y="3179295"/>
                <a:ext cx="504825" cy="242888"/>
                <a:chOff x="2183302" y="1574638"/>
                <a:chExt cx="1200154" cy="430218"/>
              </a:xfrm>
            </p:grpSpPr>
            <p:sp>
              <p:nvSpPr>
                <p:cNvPr id="487" name="Oval 486"/>
                <p:cNvSpPr/>
                <p:nvPr/>
              </p:nvSpPr>
              <p:spPr bwMode="auto">
                <a:xfrm flipV="1">
                  <a:off x="2187075" y="1689926"/>
                  <a:ext cx="1196381" cy="314930"/>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88" name="Rectangle 487"/>
                <p:cNvSpPr/>
                <p:nvPr/>
              </p:nvSpPr>
              <p:spPr bwMode="auto">
                <a:xfrm>
                  <a:off x="2183302" y="1734916"/>
                  <a:ext cx="1200154" cy="11247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9" name="Oval 488"/>
                <p:cNvSpPr/>
                <p:nvPr/>
              </p:nvSpPr>
              <p:spPr bwMode="auto">
                <a:xfrm flipV="1">
                  <a:off x="2183302" y="1574638"/>
                  <a:ext cx="1196379" cy="31493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0" name="Freeform 489"/>
                <p:cNvSpPr/>
                <p:nvPr/>
              </p:nvSpPr>
              <p:spPr bwMode="auto">
                <a:xfrm>
                  <a:off x="2489000" y="1670242"/>
                  <a:ext cx="584982" cy="1574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1" name="Freeform 490"/>
                <p:cNvSpPr/>
                <p:nvPr/>
              </p:nvSpPr>
              <p:spPr bwMode="auto">
                <a:xfrm>
                  <a:off x="2428615" y="1630876"/>
                  <a:ext cx="705752" cy="10966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2" name="Freeform 491"/>
                <p:cNvSpPr/>
                <p:nvPr/>
              </p:nvSpPr>
              <p:spPr bwMode="auto">
                <a:xfrm>
                  <a:off x="2892827" y="1723668"/>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3" name="Freeform 492"/>
                <p:cNvSpPr/>
                <p:nvPr/>
              </p:nvSpPr>
              <p:spPr bwMode="auto">
                <a:xfrm>
                  <a:off x="2417294" y="1726479"/>
                  <a:ext cx="252861" cy="9279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4" name="Straight Connector 493"/>
                <p:cNvCxnSpPr>
                  <a:endCxn id="489" idx="2"/>
                </p:cNvCxnSpPr>
                <p:nvPr/>
              </p:nvCxnSpPr>
              <p:spPr bwMode="auto">
                <a:xfrm flipH="1" flipV="1">
                  <a:off x="2183302" y="1732103"/>
                  <a:ext cx="3773"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95" name="Straight Connector 494"/>
                <p:cNvCxnSpPr/>
                <p:nvPr/>
              </p:nvCxnSpPr>
              <p:spPr bwMode="auto">
                <a:xfrm flipH="1" flipV="1">
                  <a:off x="3379681" y="1729292"/>
                  <a:ext cx="3775"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2" name="Group 21"/>
            <p:cNvGrpSpPr/>
            <p:nvPr/>
          </p:nvGrpSpPr>
          <p:grpSpPr>
            <a:xfrm>
              <a:off x="6472366" y="2647932"/>
              <a:ext cx="522159" cy="2354282"/>
              <a:chOff x="6472366" y="2647932"/>
              <a:chExt cx="522159" cy="2354282"/>
            </a:xfrm>
          </p:grpSpPr>
          <p:sp>
            <p:nvSpPr>
              <p:cNvPr id="497" name="Rectangle 496"/>
              <p:cNvSpPr/>
              <p:nvPr/>
            </p:nvSpPr>
            <p:spPr bwMode="auto">
              <a:xfrm rot="10800000">
                <a:off x="6482296" y="2777838"/>
                <a:ext cx="498349" cy="72203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8" name="Straight Connector 497"/>
              <p:cNvCxnSpPr/>
              <p:nvPr/>
            </p:nvCxnSpPr>
            <p:spPr bwMode="auto">
              <a:xfrm>
                <a:off x="6994525" y="2845840"/>
                <a:ext cx="0" cy="1999208"/>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60" name="Group 500"/>
              <p:cNvGrpSpPr/>
              <p:nvPr/>
            </p:nvGrpSpPr>
            <p:grpSpPr bwMode="auto">
              <a:xfrm>
                <a:off x="6486417" y="4766099"/>
                <a:ext cx="507858" cy="236115"/>
                <a:chOff x="4128636" y="3606589"/>
                <a:chExt cx="568145" cy="338667"/>
              </a:xfrm>
            </p:grpSpPr>
            <p:sp>
              <p:nvSpPr>
                <p:cNvPr id="510" name="Oval 509"/>
                <p:cNvSpPr/>
                <p:nvPr/>
              </p:nvSpPr>
              <p:spPr>
                <a:xfrm>
                  <a:off x="4128757" y="3719828"/>
                  <a:ext cx="568304" cy="225428"/>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Rectangle 510"/>
                <p:cNvSpPr/>
                <p:nvPr/>
              </p:nvSpPr>
              <p:spPr>
                <a:xfrm>
                  <a:off x="4128757" y="3719828"/>
                  <a:ext cx="568304"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Oval 511"/>
                <p:cNvSpPr/>
                <p:nvPr/>
              </p:nvSpPr>
              <p:spPr>
                <a:xfrm>
                  <a:off x="4128757" y="3605903"/>
                  <a:ext cx="568304" cy="225426"/>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p:nvPr/>
              </p:nvCxnSpPr>
              <p:spPr>
                <a:xfrm>
                  <a:off x="4697061" y="3719828"/>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a:xfrm>
                  <a:off x="4128757" y="3719828"/>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2" name="Rectangle 501"/>
              <p:cNvSpPr/>
              <p:nvPr/>
            </p:nvSpPr>
            <p:spPr bwMode="auto">
              <a:xfrm>
                <a:off x="6491288" y="3609696"/>
                <a:ext cx="498475" cy="1238732"/>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5" name="Straight Connector 504"/>
              <p:cNvCxnSpPr/>
              <p:nvPr/>
            </p:nvCxnSpPr>
            <p:spPr bwMode="auto">
              <a:xfrm>
                <a:off x="6472366" y="2818589"/>
                <a:ext cx="9397" cy="212616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41" name="Group 514"/>
              <p:cNvGrpSpPr/>
              <p:nvPr/>
            </p:nvGrpSpPr>
            <p:grpSpPr bwMode="auto">
              <a:xfrm>
                <a:off x="6478146" y="2647932"/>
                <a:ext cx="504825" cy="242887"/>
                <a:chOff x="2183302" y="1574638"/>
                <a:chExt cx="1200154" cy="430218"/>
              </a:xfrm>
            </p:grpSpPr>
            <p:sp>
              <p:nvSpPr>
                <p:cNvPr id="516" name="Oval 515"/>
                <p:cNvSpPr/>
                <p:nvPr/>
              </p:nvSpPr>
              <p:spPr bwMode="auto">
                <a:xfrm flipV="1">
                  <a:off x="2187075" y="1689925"/>
                  <a:ext cx="1196381" cy="31493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7" name="Rectangle 516"/>
                <p:cNvSpPr/>
                <p:nvPr/>
              </p:nvSpPr>
              <p:spPr bwMode="auto">
                <a:xfrm>
                  <a:off x="2183302" y="1734915"/>
                  <a:ext cx="1200154" cy="112476"/>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8" name="Oval 517"/>
                <p:cNvSpPr/>
                <p:nvPr/>
              </p:nvSpPr>
              <p:spPr bwMode="auto">
                <a:xfrm flipV="1">
                  <a:off x="2183302" y="1574638"/>
                  <a:ext cx="1196379" cy="31493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9" name="Freeform 518"/>
                <p:cNvSpPr/>
                <p:nvPr/>
              </p:nvSpPr>
              <p:spPr bwMode="auto">
                <a:xfrm>
                  <a:off x="2489000" y="1670242"/>
                  <a:ext cx="584982" cy="157466"/>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0" name="Freeform 519"/>
                <p:cNvSpPr/>
                <p:nvPr/>
              </p:nvSpPr>
              <p:spPr bwMode="auto">
                <a:xfrm>
                  <a:off x="2428615" y="1630876"/>
                  <a:ext cx="705752" cy="109663"/>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1" name="Freeform 520"/>
                <p:cNvSpPr/>
                <p:nvPr/>
              </p:nvSpPr>
              <p:spPr bwMode="auto">
                <a:xfrm>
                  <a:off x="2892827" y="1723667"/>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2" name="Freeform 521"/>
                <p:cNvSpPr/>
                <p:nvPr/>
              </p:nvSpPr>
              <p:spPr bwMode="auto">
                <a:xfrm>
                  <a:off x="2417294" y="1726480"/>
                  <a:ext cx="252861" cy="9279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23" name="Straight Connector 522"/>
                <p:cNvCxnSpPr>
                  <a:endCxn id="518" idx="2"/>
                </p:cNvCxnSpPr>
                <p:nvPr/>
              </p:nvCxnSpPr>
              <p:spPr bwMode="auto">
                <a:xfrm flipH="1" flipV="1">
                  <a:off x="2183302" y="1732104"/>
                  <a:ext cx="3773"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p:nvPr/>
              </p:nvCxnSpPr>
              <p:spPr bwMode="auto">
                <a:xfrm flipH="1" flipV="1">
                  <a:off x="3379681" y="1729291"/>
                  <a:ext cx="3775"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sp>
        <p:nvSpPr>
          <p:cNvPr id="47142" name="Text Box 167"/>
          <p:cNvSpPr txBox="1">
            <a:spLocks noChangeArrowheads="1"/>
          </p:cNvSpPr>
          <p:nvPr/>
        </p:nvSpPr>
        <p:spPr bwMode="auto">
          <a:xfrm>
            <a:off x="563563" y="277813"/>
            <a:ext cx="4745635" cy="6463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3600" dirty="0">
                <a:solidFill>
                  <a:srgbClr val="000099"/>
                </a:solidFill>
                <a:latin typeface="Gill Sans MT" pitchFamily="34" charset="0"/>
              </a:rPr>
              <a:t>Per-router control plane</a:t>
            </a:r>
          </a:p>
        </p:txBody>
      </p:sp>
      <p:grpSp>
        <p:nvGrpSpPr>
          <p:cNvPr id="229" name="Group 228"/>
          <p:cNvGrpSpPr/>
          <p:nvPr/>
        </p:nvGrpSpPr>
        <p:grpSpPr>
          <a:xfrm>
            <a:off x="1828233" y="3016011"/>
            <a:ext cx="5112820" cy="879389"/>
            <a:chOff x="1866825" y="707349"/>
            <a:chExt cx="5112820" cy="879389"/>
          </a:xfrm>
        </p:grpSpPr>
        <p:sp>
          <p:nvSpPr>
            <p:cNvPr id="233" name="Oval 232"/>
            <p:cNvSpPr/>
            <p:nvPr/>
          </p:nvSpPr>
          <p:spPr>
            <a:xfrm>
              <a:off x="1866825" y="785347"/>
              <a:ext cx="954705" cy="491476"/>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4" name="TextBox 233"/>
            <p:cNvSpPr txBox="1"/>
            <p:nvPr/>
          </p:nvSpPr>
          <p:spPr>
            <a:xfrm>
              <a:off x="1891781" y="783191"/>
              <a:ext cx="910613" cy="476199"/>
            </a:xfrm>
            <a:prstGeom prst="rect">
              <a:avLst/>
            </a:prstGeom>
            <a:noFill/>
          </p:spPr>
          <p:txBody>
            <a:bodyPr wrap="none" rtlCol="0">
              <a:spAutoFit/>
            </a:bodyPr>
            <a:lstStyle/>
            <a:p>
              <a:pPr algn="ctr">
                <a:lnSpc>
                  <a:spcPts val="1480"/>
                </a:lnSpc>
              </a:pPr>
              <a:r>
                <a:rPr lang="en-US" sz="1400" dirty="0"/>
                <a:t>Routing</a:t>
              </a:r>
            </a:p>
            <a:p>
              <a:pPr algn="ctr">
                <a:lnSpc>
                  <a:spcPts val="1480"/>
                </a:lnSpc>
              </a:pPr>
              <a:r>
                <a:rPr lang="en-US" sz="1400" dirty="0"/>
                <a:t>Algorithm</a:t>
              </a:r>
            </a:p>
          </p:txBody>
        </p:sp>
        <p:cxnSp>
          <p:nvCxnSpPr>
            <p:cNvPr id="235" name="Straight Arrow Connector 234"/>
            <p:cNvCxnSpPr/>
            <p:nvPr/>
          </p:nvCxnSpPr>
          <p:spPr>
            <a:xfrm flipV="1">
              <a:off x="2833714" y="807908"/>
              <a:ext cx="1517851" cy="213379"/>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6" name="Straight Arrow Connector 235"/>
            <p:cNvCxnSpPr/>
            <p:nvPr/>
          </p:nvCxnSpPr>
          <p:spPr>
            <a:xfrm>
              <a:off x="2750618" y="1201670"/>
              <a:ext cx="797027" cy="279264"/>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7" name="Straight Arrow Connector 236"/>
            <p:cNvCxnSpPr/>
            <p:nvPr/>
          </p:nvCxnSpPr>
          <p:spPr>
            <a:xfrm>
              <a:off x="4684666" y="894080"/>
              <a:ext cx="893541" cy="510629"/>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8" name="Straight Arrow Connector 237"/>
            <p:cNvCxnSpPr/>
            <p:nvPr/>
          </p:nvCxnSpPr>
          <p:spPr>
            <a:xfrm>
              <a:off x="4800837" y="800746"/>
              <a:ext cx="1695897" cy="130795"/>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sp>
          <p:nvSpPr>
            <p:cNvPr id="239" name="Oval 238"/>
            <p:cNvSpPr/>
            <p:nvPr/>
          </p:nvSpPr>
          <p:spPr>
            <a:xfrm>
              <a:off x="6558622" y="894080"/>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0" name="Oval 239"/>
            <p:cNvSpPr/>
            <p:nvPr/>
          </p:nvSpPr>
          <p:spPr>
            <a:xfrm>
              <a:off x="5572329" y="1404709"/>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1" name="Oval 240"/>
            <p:cNvSpPr/>
            <p:nvPr/>
          </p:nvSpPr>
          <p:spPr>
            <a:xfrm>
              <a:off x="4367082" y="707349"/>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2" name="Oval 241"/>
            <p:cNvSpPr/>
            <p:nvPr/>
          </p:nvSpPr>
          <p:spPr>
            <a:xfrm>
              <a:off x="3571953" y="1402071"/>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243" name="Straight Arrow Connector 242"/>
            <p:cNvCxnSpPr/>
            <p:nvPr/>
          </p:nvCxnSpPr>
          <p:spPr>
            <a:xfrm>
              <a:off x="2821560" y="1106261"/>
              <a:ext cx="2738615" cy="338776"/>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4" name="Straight Arrow Connector 243"/>
            <p:cNvCxnSpPr>
              <a:endCxn id="239" idx="2"/>
            </p:cNvCxnSpPr>
            <p:nvPr/>
          </p:nvCxnSpPr>
          <p:spPr>
            <a:xfrm flipV="1">
              <a:off x="3997124" y="985095"/>
              <a:ext cx="2561498" cy="469120"/>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5" name="Straight Arrow Connector 244"/>
            <p:cNvCxnSpPr/>
            <p:nvPr/>
          </p:nvCxnSpPr>
          <p:spPr>
            <a:xfrm flipV="1">
              <a:off x="3992124" y="1509221"/>
              <a:ext cx="1580205" cy="2"/>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6" name="Straight Arrow Connector 245"/>
            <p:cNvCxnSpPr/>
            <p:nvPr/>
          </p:nvCxnSpPr>
          <p:spPr>
            <a:xfrm flipV="1">
              <a:off x="5997500" y="1083737"/>
              <a:ext cx="751103" cy="397197"/>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258" name="TextBox 257"/>
          <p:cNvSpPr txBox="1"/>
          <p:nvPr/>
        </p:nvSpPr>
        <p:spPr>
          <a:xfrm>
            <a:off x="517479" y="1154626"/>
            <a:ext cx="8209014" cy="1200328"/>
          </a:xfrm>
          <a:prstGeom prst="rect">
            <a:avLst/>
          </a:prstGeom>
          <a:noFill/>
        </p:spPr>
        <p:txBody>
          <a:bodyPr wrap="square" rtlCol="0">
            <a:spAutoFit/>
          </a:bodyPr>
          <a:lstStyle/>
          <a:p>
            <a:r>
              <a:rPr lang="en-US" sz="2400" dirty="0"/>
              <a:t>Individual routing algorithm components </a:t>
            </a:r>
            <a:r>
              <a:rPr lang="en-US" sz="2400" i="1" dirty="0">
                <a:solidFill>
                  <a:srgbClr val="000090"/>
                </a:solidFill>
              </a:rPr>
              <a:t>in each and every router </a:t>
            </a:r>
            <a:r>
              <a:rPr lang="en-US" sz="2400" dirty="0"/>
              <a:t>interact with each other in control plane to compute forwarding tables</a:t>
            </a:r>
          </a:p>
        </p:txBody>
      </p:sp>
      <p:grpSp>
        <p:nvGrpSpPr>
          <p:cNvPr id="23" name="Group 22"/>
          <p:cNvGrpSpPr/>
          <p:nvPr/>
        </p:nvGrpSpPr>
        <p:grpSpPr>
          <a:xfrm>
            <a:off x="1557338" y="3404226"/>
            <a:ext cx="6375400" cy="1047750"/>
            <a:chOff x="1557338" y="3074988"/>
            <a:chExt cx="6375400" cy="1047750"/>
          </a:xfrm>
        </p:grpSpPr>
        <p:sp>
          <p:nvSpPr>
            <p:cNvPr id="47115" name="TextBox 232"/>
            <p:cNvSpPr txBox="1">
              <a:spLocks noChangeArrowheads="1"/>
            </p:cNvSpPr>
            <p:nvPr/>
          </p:nvSpPr>
          <p:spPr bwMode="auto">
            <a:xfrm>
              <a:off x="7292975" y="3651250"/>
              <a:ext cx="595313" cy="4714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a:t>data</a:t>
              </a:r>
            </a:p>
            <a:p>
              <a:pPr algn="ctr">
                <a:lnSpc>
                  <a:spcPts val="1465"/>
                </a:lnSpc>
              </a:pPr>
              <a:r>
                <a:rPr lang="en-US" sz="1400"/>
                <a:t>plane</a:t>
              </a:r>
            </a:p>
          </p:txBody>
        </p:sp>
        <p:sp>
          <p:nvSpPr>
            <p:cNvPr id="47116" name="TextBox 233"/>
            <p:cNvSpPr txBox="1">
              <a:spLocks noChangeArrowheads="1"/>
            </p:cNvSpPr>
            <p:nvPr/>
          </p:nvSpPr>
          <p:spPr bwMode="auto">
            <a:xfrm>
              <a:off x="7224713" y="3074988"/>
              <a:ext cx="708025" cy="47148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a:t>control</a:t>
              </a:r>
            </a:p>
            <a:p>
              <a:pPr algn="ctr">
                <a:lnSpc>
                  <a:spcPts val="1465"/>
                </a:lnSpc>
              </a:pPr>
              <a:r>
                <a:rPr lang="en-US" sz="1400"/>
                <a:t>plane</a:t>
              </a:r>
            </a:p>
          </p:txBody>
        </p:sp>
        <p:cxnSp>
          <p:nvCxnSpPr>
            <p:cNvPr id="232" name="Straight Connector 231"/>
            <p:cNvCxnSpPr/>
            <p:nvPr/>
          </p:nvCxnSpPr>
          <p:spPr>
            <a:xfrm>
              <a:off x="1557338" y="3613150"/>
              <a:ext cx="6207125" cy="0"/>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1829356" y="4031984"/>
            <a:ext cx="5126173" cy="1120753"/>
            <a:chOff x="-4746102" y="4471477"/>
            <a:chExt cx="5126173" cy="1120753"/>
          </a:xfrm>
        </p:grpSpPr>
        <p:pic>
          <p:nvPicPr>
            <p:cNvPr id="47268" name="Picture 10" descr="fig42_table.pdf"/>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p:spPr>
        </p:pic>
        <p:grpSp>
          <p:nvGrpSpPr>
            <p:cNvPr id="26" name="Group 25"/>
            <p:cNvGrpSpPr/>
            <p:nvPr/>
          </p:nvGrpSpPr>
          <p:grpSpPr>
            <a:xfrm>
              <a:off x="-3025264" y="5228984"/>
              <a:ext cx="3405335" cy="363246"/>
              <a:chOff x="-3025264" y="5228984"/>
              <a:chExt cx="3405335" cy="363246"/>
            </a:xfrm>
          </p:grpSpPr>
          <p:grpSp>
            <p:nvGrpSpPr>
              <p:cNvPr id="47251" name="Group 241"/>
              <p:cNvGrpSpPr/>
              <p:nvPr/>
            </p:nvGrpSpPr>
            <p:grpSpPr bwMode="auto">
              <a:xfrm>
                <a:off x="-3025264" y="5262858"/>
                <a:ext cx="430360" cy="329372"/>
                <a:chOff x="2931664" y="3912603"/>
                <a:chExt cx="430450" cy="329314"/>
              </a:xfrm>
            </p:grpSpPr>
            <p:sp>
              <p:nvSpPr>
                <p:cNvPr id="92" name="Rectangle 91"/>
                <p:cNvSpPr/>
                <p:nvPr/>
              </p:nvSpPr>
              <p:spPr>
                <a:xfrm>
                  <a:off x="2935837" y="3912034"/>
                  <a:ext cx="425539" cy="330142"/>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3" name="Straight Connector 92"/>
                <p:cNvCxnSpPr/>
                <p:nvPr/>
              </p:nvCxnSpPr>
              <p:spPr>
                <a:xfrm>
                  <a:off x="2931074" y="4004093"/>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4" name="Straight Connector 93"/>
                <p:cNvCxnSpPr/>
                <p:nvPr/>
              </p:nvCxnSpPr>
              <p:spPr>
                <a:xfrm>
                  <a:off x="2931074" y="4067582"/>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6" name="Straight Connector 95"/>
                <p:cNvCxnSpPr>
                  <a:stCxn id="92" idx="2"/>
                </p:cNvCxnSpPr>
                <p:nvPr/>
              </p:nvCxnSpPr>
              <p:spPr>
                <a:xfrm flipH="1" flipV="1">
                  <a:off x="3147019" y="4004093"/>
                  <a:ext cx="1587" cy="238083"/>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220" name="Group 444"/>
              <p:cNvGrpSpPr/>
              <p:nvPr/>
            </p:nvGrpSpPr>
            <p:grpSpPr bwMode="auto">
              <a:xfrm>
                <a:off x="-2217227" y="5261364"/>
                <a:ext cx="430361" cy="329307"/>
                <a:chOff x="2931664" y="3912603"/>
                <a:chExt cx="430450" cy="329314"/>
              </a:xfrm>
            </p:grpSpPr>
            <p:sp>
              <p:nvSpPr>
                <p:cNvPr id="448" name="Rectangle 447"/>
                <p:cNvSpPr/>
                <p:nvPr/>
              </p:nvSpPr>
              <p:spPr>
                <a:xfrm>
                  <a:off x="2935838" y="3911941"/>
                  <a:ext cx="425538"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9" name="Straight Connector 448"/>
                <p:cNvCxnSpPr/>
                <p:nvPr/>
              </p:nvCxnSpPr>
              <p:spPr>
                <a:xfrm>
                  <a:off x="2931074" y="4004018"/>
                  <a:ext cx="425538"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0" name="Straight Connector 449"/>
                <p:cNvCxnSpPr/>
                <p:nvPr/>
              </p:nvCxnSpPr>
              <p:spPr>
                <a:xfrm>
                  <a:off x="2931074" y="4067519"/>
                  <a:ext cx="425538"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1" name="Straight Connector 450"/>
                <p:cNvCxnSpPr>
                  <a:stCxn id="448" idx="2"/>
                </p:cNvCxnSpPr>
                <p:nvPr/>
              </p:nvCxnSpPr>
              <p:spPr>
                <a:xfrm flipH="1" flipV="1">
                  <a:off x="3147019" y="4004018"/>
                  <a:ext cx="1588"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91" name="Group 473"/>
              <p:cNvGrpSpPr/>
              <p:nvPr/>
            </p:nvGrpSpPr>
            <p:grpSpPr bwMode="auto">
              <a:xfrm>
                <a:off x="-1034539" y="5261364"/>
                <a:ext cx="430360" cy="329307"/>
                <a:chOff x="2931664" y="3912603"/>
                <a:chExt cx="430450" cy="329314"/>
              </a:xfrm>
            </p:grpSpPr>
            <p:sp>
              <p:nvSpPr>
                <p:cNvPr id="477" name="Rectangle 476"/>
                <p:cNvSpPr/>
                <p:nvPr/>
              </p:nvSpPr>
              <p:spPr>
                <a:xfrm>
                  <a:off x="2935837" y="3911941"/>
                  <a:ext cx="425539"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78" name="Straight Connector 477"/>
                <p:cNvCxnSpPr/>
                <p:nvPr/>
              </p:nvCxnSpPr>
              <p:spPr>
                <a:xfrm>
                  <a:off x="2931074" y="4004018"/>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79" name="Straight Connector 478"/>
                <p:cNvCxnSpPr/>
                <p:nvPr/>
              </p:nvCxnSpPr>
              <p:spPr>
                <a:xfrm>
                  <a:off x="2931074" y="4067519"/>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0" name="Straight Connector 479"/>
                <p:cNvCxnSpPr>
                  <a:stCxn id="477" idx="2"/>
                </p:cNvCxnSpPr>
                <p:nvPr/>
              </p:nvCxnSpPr>
              <p:spPr>
                <a:xfrm flipH="1" flipV="1">
                  <a:off x="3147019" y="4004018"/>
                  <a:ext cx="1587"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62" name="Group 502"/>
              <p:cNvGrpSpPr/>
              <p:nvPr/>
            </p:nvGrpSpPr>
            <p:grpSpPr bwMode="auto">
              <a:xfrm>
                <a:off x="-50289" y="5228984"/>
                <a:ext cx="430360" cy="350559"/>
                <a:chOff x="2931664" y="3912603"/>
                <a:chExt cx="430450" cy="329314"/>
              </a:xfrm>
            </p:grpSpPr>
            <p:sp>
              <p:nvSpPr>
                <p:cNvPr id="506" name="Rectangle 505"/>
                <p:cNvSpPr/>
                <p:nvPr/>
              </p:nvSpPr>
              <p:spPr>
                <a:xfrm>
                  <a:off x="2935837" y="3911940"/>
                  <a:ext cx="425539"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7" name="Straight Connector 506"/>
                <p:cNvCxnSpPr/>
                <p:nvPr/>
              </p:nvCxnSpPr>
              <p:spPr>
                <a:xfrm>
                  <a:off x="2931074" y="4004017"/>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8" name="Straight Connector 507"/>
                <p:cNvCxnSpPr/>
                <p:nvPr/>
              </p:nvCxnSpPr>
              <p:spPr>
                <a:xfrm>
                  <a:off x="2931074" y="4067518"/>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9" name="Straight Connector 508"/>
                <p:cNvCxnSpPr>
                  <a:stCxn id="506" idx="2"/>
                </p:cNvCxnSpPr>
                <p:nvPr/>
              </p:nvCxnSpPr>
              <p:spPr>
                <a:xfrm flipH="1" flipV="1">
                  <a:off x="3147019" y="4004017"/>
                  <a:ext cx="1587"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grpSp>
      <p:grpSp>
        <p:nvGrpSpPr>
          <p:cNvPr id="25" name="Group 24"/>
          <p:cNvGrpSpPr/>
          <p:nvPr/>
        </p:nvGrpSpPr>
        <p:grpSpPr>
          <a:xfrm>
            <a:off x="2282487" y="3212142"/>
            <a:ext cx="4437063" cy="1906161"/>
            <a:chOff x="-4267279" y="3655204"/>
            <a:chExt cx="4437063" cy="1906161"/>
          </a:xfrm>
        </p:grpSpPr>
        <p:cxnSp>
          <p:nvCxnSpPr>
            <p:cNvPr id="111" name="Straight Arrow Connector 110"/>
            <p:cNvCxnSpPr/>
            <p:nvPr/>
          </p:nvCxnSpPr>
          <p:spPr bwMode="auto">
            <a:xfrm>
              <a:off x="-4267279" y="4046968"/>
              <a:ext cx="0" cy="422275"/>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89" name="Straight Arrow Connector 88"/>
            <p:cNvCxnSpPr/>
            <p:nvPr/>
          </p:nvCxnSpPr>
          <p:spPr bwMode="auto">
            <a:xfrm flipH="1">
              <a:off x="-2808366" y="4361550"/>
              <a:ext cx="154" cy="872164"/>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446" name="Straight Arrow Connector 445"/>
            <p:cNvCxnSpPr/>
            <p:nvPr/>
          </p:nvCxnSpPr>
          <p:spPr bwMode="auto">
            <a:xfrm>
              <a:off x="-2006807" y="3655204"/>
              <a:ext cx="6479" cy="1576923"/>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475" name="Straight Arrow Connector 474"/>
            <p:cNvCxnSpPr>
              <a:stCxn id="468" idx="0"/>
            </p:cNvCxnSpPr>
            <p:nvPr/>
          </p:nvCxnSpPr>
          <p:spPr bwMode="auto">
            <a:xfrm>
              <a:off x="-823524" y="4656511"/>
              <a:ext cx="5883" cy="904854"/>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504" name="Straight Arrow Connector 503"/>
            <p:cNvCxnSpPr/>
            <p:nvPr/>
          </p:nvCxnSpPr>
          <p:spPr bwMode="auto">
            <a:xfrm flipH="1">
              <a:off x="166609" y="3798581"/>
              <a:ext cx="3175" cy="1399277"/>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grpSp>
      <p:sp>
        <p:nvSpPr>
          <p:cNvPr id="270" name="Slide Number Placeholder 5"/>
          <p:cNvSpPr>
            <a:spLocks noGrp="1"/>
          </p:cNvSpPr>
          <p:nvPr>
            <p:ph type="sldNum" sz="quarter" idx="12"/>
          </p:nvPr>
        </p:nvSpPr>
        <p:spPr>
          <a:xfrm>
            <a:off x="8456155" y="6475895"/>
            <a:ext cx="458808"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5</a:t>
            </a:fld>
            <a:endParaRPr lang="en-US" sz="1200" dirty="0">
              <a:latin typeface="Tahoma" panose="020B0604030504040204" charset="0"/>
            </a:endParaRPr>
          </a:p>
        </p:txBody>
      </p:sp>
      <p:sp>
        <p:nvSpPr>
          <p:cNvPr id="271"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10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dissolve">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9"/>
                                        </p:tgtEl>
                                        <p:attrNameLst>
                                          <p:attrName>style.visibility</p:attrName>
                                        </p:attrNameLst>
                                      </p:cBhvr>
                                      <p:to>
                                        <p:strVal val="visible"/>
                                      </p:to>
                                    </p:set>
                                    <p:animEffect transition="in" filter="dissolve">
                                      <p:cBhvr>
                                        <p:cTn id="17" dur="500"/>
                                        <p:tgtEl>
                                          <p:spTgt spid="22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25"/>
                                        </p:tgtEl>
                                        <p:attrNameLst>
                                          <p:attrName>style.visibility</p:attrName>
                                        </p:attrNameLst>
                                      </p:cBhvr>
                                      <p:to>
                                        <p:strVal val="visible"/>
                                      </p:to>
                                    </p:set>
                                    <p:animEffect transition="in" filter="wipe(up)">
                                      <p:cBhvr>
                                        <p:cTn id="22" dur="500"/>
                                        <p:tgtEl>
                                          <p:spTgt spid="25"/>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dissolve">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p:cNvGrpSpPr/>
          <p:nvPr/>
        </p:nvGrpSpPr>
        <p:grpSpPr>
          <a:xfrm>
            <a:off x="1453484" y="2021024"/>
            <a:ext cx="6027737" cy="1440135"/>
            <a:chOff x="1492879" y="2061336"/>
            <a:chExt cx="6027737" cy="1440135"/>
          </a:xfrm>
        </p:grpSpPr>
        <p:sp>
          <p:nvSpPr>
            <p:cNvPr id="388" name="Rectangle 387"/>
            <p:cNvSpPr/>
            <p:nvPr/>
          </p:nvSpPr>
          <p:spPr bwMode="auto">
            <a:xfrm>
              <a:off x="1929251" y="2064703"/>
              <a:ext cx="504348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6" name="Freeform 395"/>
            <p:cNvSpPr/>
            <p:nvPr/>
          </p:nvSpPr>
          <p:spPr bwMode="auto">
            <a:xfrm>
              <a:off x="1739747" y="2067585"/>
              <a:ext cx="198437" cy="1385888"/>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1" fmla="*/ 0 w 199855"/>
                <a:gd name="connsiteY0-2" fmla="*/ 733787 h 1367693"/>
                <a:gd name="connsiteX1-3" fmla="*/ 199855 w 199855"/>
                <a:gd name="connsiteY1-4" fmla="*/ 0 h 1367693"/>
                <a:gd name="connsiteX2-5" fmla="*/ 199855 w 199855"/>
                <a:gd name="connsiteY2-6" fmla="*/ 1016000 h 1367693"/>
                <a:gd name="connsiteX3-7" fmla="*/ 4470 w 199855"/>
                <a:gd name="connsiteY3-8" fmla="*/ 1367693 h 1367693"/>
                <a:gd name="connsiteX4-9" fmla="*/ 0 w 199855"/>
                <a:gd name="connsiteY4-10" fmla="*/ 733787 h 1367693"/>
                <a:gd name="connsiteX0-11" fmla="*/ 25203 w 225058"/>
                <a:gd name="connsiteY0-12" fmla="*/ 733787 h 1361758"/>
                <a:gd name="connsiteX1-13" fmla="*/ 225058 w 225058"/>
                <a:gd name="connsiteY1-14" fmla="*/ 0 h 1361758"/>
                <a:gd name="connsiteX2-15" fmla="*/ 225058 w 225058"/>
                <a:gd name="connsiteY2-16" fmla="*/ 1016000 h 1361758"/>
                <a:gd name="connsiteX3-17" fmla="*/ 0 w 225058"/>
                <a:gd name="connsiteY3-18" fmla="*/ 1361758 h 1361758"/>
                <a:gd name="connsiteX4-19" fmla="*/ 25203 w 225058"/>
                <a:gd name="connsiteY4-20" fmla="*/ 733787 h 1361758"/>
                <a:gd name="connsiteX0-21" fmla="*/ 25203 w 230992"/>
                <a:gd name="connsiteY0-22" fmla="*/ 787197 h 1415168"/>
                <a:gd name="connsiteX1-23" fmla="*/ 230992 w 230992"/>
                <a:gd name="connsiteY1-24" fmla="*/ 0 h 1415168"/>
                <a:gd name="connsiteX2-25" fmla="*/ 225058 w 230992"/>
                <a:gd name="connsiteY2-26" fmla="*/ 1069410 h 1415168"/>
                <a:gd name="connsiteX3-27" fmla="*/ 0 w 230992"/>
                <a:gd name="connsiteY3-28" fmla="*/ 1415168 h 1415168"/>
                <a:gd name="connsiteX4-29" fmla="*/ 25203 w 230992"/>
                <a:gd name="connsiteY4-30" fmla="*/ 787197 h 1415168"/>
                <a:gd name="connsiteX0-31" fmla="*/ 0 w 205789"/>
                <a:gd name="connsiteY0-32" fmla="*/ 787197 h 1427037"/>
                <a:gd name="connsiteX1-33" fmla="*/ 205789 w 205789"/>
                <a:gd name="connsiteY1-34" fmla="*/ 0 h 1427037"/>
                <a:gd name="connsiteX2-35" fmla="*/ 199855 w 205789"/>
                <a:gd name="connsiteY2-36" fmla="*/ 1069410 h 1427037"/>
                <a:gd name="connsiteX3-37" fmla="*/ 4471 w 205789"/>
                <a:gd name="connsiteY3-38" fmla="*/ 1427037 h 1427037"/>
                <a:gd name="connsiteX4-39" fmla="*/ 0 w 205789"/>
                <a:gd name="connsiteY4-40" fmla="*/ 787197 h 1427037"/>
                <a:gd name="connsiteX0-41" fmla="*/ 0 w 199855"/>
                <a:gd name="connsiteY0-42" fmla="*/ 745656 h 1385496"/>
                <a:gd name="connsiteX1-43" fmla="*/ 193920 w 199855"/>
                <a:gd name="connsiteY1-44" fmla="*/ 0 h 1385496"/>
                <a:gd name="connsiteX2-45" fmla="*/ 199855 w 199855"/>
                <a:gd name="connsiteY2-46" fmla="*/ 1027869 h 1385496"/>
                <a:gd name="connsiteX3-47" fmla="*/ 4471 w 199855"/>
                <a:gd name="connsiteY3-48" fmla="*/ 1385496 h 1385496"/>
                <a:gd name="connsiteX4-49" fmla="*/ 0 w 199855"/>
                <a:gd name="connsiteY4-50" fmla="*/ 745656 h 1385496"/>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8" name="Freeform 397"/>
            <p:cNvSpPr/>
            <p:nvPr/>
          </p:nvSpPr>
          <p:spPr bwMode="auto">
            <a:xfrm flipH="1">
              <a:off x="6969078" y="2061336"/>
              <a:ext cx="220427" cy="1370587"/>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1" fmla="*/ 0 w 199855"/>
                <a:gd name="connsiteY0-2" fmla="*/ 733787 h 1367693"/>
                <a:gd name="connsiteX1-3" fmla="*/ 199855 w 199855"/>
                <a:gd name="connsiteY1-4" fmla="*/ 0 h 1367693"/>
                <a:gd name="connsiteX2-5" fmla="*/ 199855 w 199855"/>
                <a:gd name="connsiteY2-6" fmla="*/ 1016000 h 1367693"/>
                <a:gd name="connsiteX3-7" fmla="*/ 4470 w 199855"/>
                <a:gd name="connsiteY3-8" fmla="*/ 1367693 h 1367693"/>
                <a:gd name="connsiteX4-9" fmla="*/ 0 w 199855"/>
                <a:gd name="connsiteY4-10" fmla="*/ 733787 h 1367693"/>
                <a:gd name="connsiteX0-11" fmla="*/ 25203 w 225058"/>
                <a:gd name="connsiteY0-12" fmla="*/ 733787 h 1361758"/>
                <a:gd name="connsiteX1-13" fmla="*/ 225058 w 225058"/>
                <a:gd name="connsiteY1-14" fmla="*/ 0 h 1361758"/>
                <a:gd name="connsiteX2-15" fmla="*/ 225058 w 225058"/>
                <a:gd name="connsiteY2-16" fmla="*/ 1016000 h 1361758"/>
                <a:gd name="connsiteX3-17" fmla="*/ 0 w 225058"/>
                <a:gd name="connsiteY3-18" fmla="*/ 1361758 h 1361758"/>
                <a:gd name="connsiteX4-19" fmla="*/ 25203 w 225058"/>
                <a:gd name="connsiteY4-20" fmla="*/ 733787 h 1361758"/>
                <a:gd name="connsiteX0-21" fmla="*/ 25203 w 230992"/>
                <a:gd name="connsiteY0-22" fmla="*/ 787197 h 1415168"/>
                <a:gd name="connsiteX1-23" fmla="*/ 230992 w 230992"/>
                <a:gd name="connsiteY1-24" fmla="*/ 0 h 1415168"/>
                <a:gd name="connsiteX2-25" fmla="*/ 225058 w 230992"/>
                <a:gd name="connsiteY2-26" fmla="*/ 1069410 h 1415168"/>
                <a:gd name="connsiteX3-27" fmla="*/ 0 w 230992"/>
                <a:gd name="connsiteY3-28" fmla="*/ 1415168 h 1415168"/>
                <a:gd name="connsiteX4-29" fmla="*/ 25203 w 230992"/>
                <a:gd name="connsiteY4-30" fmla="*/ 787197 h 1415168"/>
                <a:gd name="connsiteX0-31" fmla="*/ 0 w 205789"/>
                <a:gd name="connsiteY0-32" fmla="*/ 787197 h 1427037"/>
                <a:gd name="connsiteX1-33" fmla="*/ 205789 w 205789"/>
                <a:gd name="connsiteY1-34" fmla="*/ 0 h 1427037"/>
                <a:gd name="connsiteX2-35" fmla="*/ 199855 w 205789"/>
                <a:gd name="connsiteY2-36" fmla="*/ 1069410 h 1427037"/>
                <a:gd name="connsiteX3-37" fmla="*/ 4471 w 205789"/>
                <a:gd name="connsiteY3-38" fmla="*/ 1427037 h 1427037"/>
                <a:gd name="connsiteX4-39" fmla="*/ 0 w 205789"/>
                <a:gd name="connsiteY4-40" fmla="*/ 787197 h 1427037"/>
                <a:gd name="connsiteX0-41" fmla="*/ 0 w 199855"/>
                <a:gd name="connsiteY0-42" fmla="*/ 745656 h 1385496"/>
                <a:gd name="connsiteX1-43" fmla="*/ 193920 w 199855"/>
                <a:gd name="connsiteY1-44" fmla="*/ 0 h 1385496"/>
                <a:gd name="connsiteX2-45" fmla="*/ 199855 w 199855"/>
                <a:gd name="connsiteY2-46" fmla="*/ 1027869 h 1385496"/>
                <a:gd name="connsiteX3-47" fmla="*/ 4471 w 199855"/>
                <a:gd name="connsiteY3-48" fmla="*/ 1385496 h 1385496"/>
                <a:gd name="connsiteX4-49" fmla="*/ 0 w 199855"/>
                <a:gd name="connsiteY4-50" fmla="*/ 745656 h 1385496"/>
                <a:gd name="connsiteX0-51" fmla="*/ 0 w 219519"/>
                <a:gd name="connsiteY0-52" fmla="*/ 730359 h 1370199"/>
                <a:gd name="connsiteX1-53" fmla="*/ 219401 w 219519"/>
                <a:gd name="connsiteY1-54" fmla="*/ 0 h 1370199"/>
                <a:gd name="connsiteX2-55" fmla="*/ 199855 w 219519"/>
                <a:gd name="connsiteY2-56" fmla="*/ 1012572 h 1370199"/>
                <a:gd name="connsiteX3-57" fmla="*/ 4471 w 219519"/>
                <a:gd name="connsiteY3-58" fmla="*/ 1370199 h 1370199"/>
                <a:gd name="connsiteX4-59" fmla="*/ 0 w 219519"/>
                <a:gd name="connsiteY4-60" fmla="*/ 730359 h 1370199"/>
                <a:gd name="connsiteX0-61" fmla="*/ 0 w 219602"/>
                <a:gd name="connsiteY0-62" fmla="*/ 730359 h 1370199"/>
                <a:gd name="connsiteX1-63" fmla="*/ 219401 w 219602"/>
                <a:gd name="connsiteY1-64" fmla="*/ 0 h 1370199"/>
                <a:gd name="connsiteX2-65" fmla="*/ 210047 w 219602"/>
                <a:gd name="connsiteY2-66" fmla="*/ 1007473 h 1370199"/>
                <a:gd name="connsiteX3-67" fmla="*/ 4471 w 219602"/>
                <a:gd name="connsiteY3-68" fmla="*/ 1370199 h 1370199"/>
                <a:gd name="connsiteX4-69" fmla="*/ 0 w 219602"/>
                <a:gd name="connsiteY4-70" fmla="*/ 730359 h 1370199"/>
                <a:gd name="connsiteX0-71" fmla="*/ 0 w 220239"/>
                <a:gd name="connsiteY0-72" fmla="*/ 730359 h 1370199"/>
                <a:gd name="connsiteX1-73" fmla="*/ 219401 w 220239"/>
                <a:gd name="connsiteY1-74" fmla="*/ 0 h 1370199"/>
                <a:gd name="connsiteX2-75" fmla="*/ 220239 w 220239"/>
                <a:gd name="connsiteY2-76" fmla="*/ 1007473 h 1370199"/>
                <a:gd name="connsiteX3-77" fmla="*/ 4471 w 220239"/>
                <a:gd name="connsiteY3-78" fmla="*/ 1370199 h 1370199"/>
                <a:gd name="connsiteX4-79" fmla="*/ 0 w 220239"/>
                <a:gd name="connsiteY4-80" fmla="*/ 730359 h 137019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a:gsLst>
                <a:gs pos="0">
                  <a:schemeClr val="accent6">
                    <a:lumMod val="20000"/>
                    <a:lumOff val="80000"/>
                  </a:schemeClr>
                </a:gs>
                <a:gs pos="100000">
                  <a:schemeClr val="bg1"/>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48316" name="Group 950"/>
            <p:cNvGrpSpPr/>
            <p:nvPr/>
          </p:nvGrpSpPr>
          <p:grpSpPr bwMode="auto">
            <a:xfrm>
              <a:off x="1492879" y="2820676"/>
              <a:ext cx="338137" cy="653816"/>
              <a:chOff x="4140" y="429"/>
              <a:chExt cx="1425" cy="2396"/>
            </a:xfrm>
          </p:grpSpPr>
          <p:sp>
            <p:nvSpPr>
              <p:cNvPr id="48350"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48351"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48352"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48353"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54"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55" name="Group 956"/>
              <p:cNvGrpSpPr/>
              <p:nvPr/>
            </p:nvGrpSpPr>
            <p:grpSpPr bwMode="auto">
              <a:xfrm>
                <a:off x="4749" y="668"/>
                <a:ext cx="581" cy="145"/>
                <a:chOff x="614" y="2568"/>
                <a:chExt cx="725" cy="139"/>
              </a:xfrm>
            </p:grpSpPr>
            <p:sp>
              <p:nvSpPr>
                <p:cNvPr id="48380" name="AutoShape 957"/>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48381"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56"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57" name="Group 960"/>
              <p:cNvGrpSpPr/>
              <p:nvPr/>
            </p:nvGrpSpPr>
            <p:grpSpPr bwMode="auto">
              <a:xfrm>
                <a:off x="4747" y="994"/>
                <a:ext cx="581" cy="134"/>
                <a:chOff x="614" y="2568"/>
                <a:chExt cx="725" cy="139"/>
              </a:xfrm>
            </p:grpSpPr>
            <p:sp>
              <p:nvSpPr>
                <p:cNvPr id="48378" name="AutoShape 961"/>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48379"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58"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48359"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60" name="Group 965"/>
              <p:cNvGrpSpPr/>
              <p:nvPr/>
            </p:nvGrpSpPr>
            <p:grpSpPr bwMode="auto">
              <a:xfrm>
                <a:off x="4735" y="1627"/>
                <a:ext cx="582" cy="151"/>
                <a:chOff x="614" y="2568"/>
                <a:chExt cx="725" cy="139"/>
              </a:xfrm>
            </p:grpSpPr>
            <p:sp>
              <p:nvSpPr>
                <p:cNvPr id="48376" name="AutoShape 966"/>
                <p:cNvSpPr>
                  <a:spLocks noChangeArrowheads="1"/>
                </p:cNvSpPr>
                <p:nvPr/>
              </p:nvSpPr>
              <p:spPr bwMode="auto">
                <a:xfrm>
                  <a:off x="618" y="2586"/>
                  <a:ext cx="720" cy="124"/>
                </a:xfrm>
                <a:prstGeom prst="roundRect">
                  <a:avLst>
                    <a:gd name="adj" fmla="val 50000"/>
                  </a:avLst>
                </a:prstGeom>
                <a:solidFill>
                  <a:schemeClr val="tx1"/>
                </a:solidFill>
                <a:ln>
                  <a:noFill/>
                </a:ln>
              </p:spPr>
              <p:txBody>
                <a:bodyPr wrap="none" anchor="ctr"/>
                <a:lstStyle/>
                <a:p>
                  <a:endParaRPr lang="en-US"/>
                </a:p>
              </p:txBody>
            </p:sp>
            <p:sp>
              <p:nvSpPr>
                <p:cNvPr id="48377"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61"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48362" name="Group 969"/>
              <p:cNvGrpSpPr/>
              <p:nvPr/>
            </p:nvGrpSpPr>
            <p:grpSpPr bwMode="auto">
              <a:xfrm>
                <a:off x="4739" y="1327"/>
                <a:ext cx="582" cy="139"/>
                <a:chOff x="614" y="2568"/>
                <a:chExt cx="725" cy="139"/>
              </a:xfrm>
            </p:grpSpPr>
            <p:sp>
              <p:nvSpPr>
                <p:cNvPr id="48374" name="AutoShape 970"/>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48375"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63"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48364"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65"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66" name="Oval 975"/>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48367"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48368"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48369"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48370" name="Oval 979"/>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48371" name="Oval 980"/>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a:solidFill>
                    <a:srgbClr val="FF0000"/>
                  </a:solidFill>
                </a:endParaRPr>
              </a:p>
            </p:txBody>
          </p:sp>
          <p:sp>
            <p:nvSpPr>
              <p:cNvPr id="48372" name="Oval 981"/>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48373"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grpSp>
          <p:nvGrpSpPr>
            <p:cNvPr id="48317" name="Group 950"/>
            <p:cNvGrpSpPr/>
            <p:nvPr/>
          </p:nvGrpSpPr>
          <p:grpSpPr bwMode="auto">
            <a:xfrm>
              <a:off x="7182479" y="2847655"/>
              <a:ext cx="338137" cy="653816"/>
              <a:chOff x="4140" y="429"/>
              <a:chExt cx="1425" cy="2396"/>
            </a:xfrm>
          </p:grpSpPr>
          <p:sp>
            <p:nvSpPr>
              <p:cNvPr id="48318"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48319"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48320"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48321"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22"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23" name="Group 956"/>
              <p:cNvGrpSpPr/>
              <p:nvPr/>
            </p:nvGrpSpPr>
            <p:grpSpPr bwMode="auto">
              <a:xfrm>
                <a:off x="4749" y="668"/>
                <a:ext cx="581" cy="145"/>
                <a:chOff x="614" y="2568"/>
                <a:chExt cx="725" cy="139"/>
              </a:xfrm>
            </p:grpSpPr>
            <p:sp>
              <p:nvSpPr>
                <p:cNvPr id="48348" name="AutoShape 957"/>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48349"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24"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25" name="Group 960"/>
              <p:cNvGrpSpPr/>
              <p:nvPr/>
            </p:nvGrpSpPr>
            <p:grpSpPr bwMode="auto">
              <a:xfrm>
                <a:off x="4747" y="994"/>
                <a:ext cx="581" cy="134"/>
                <a:chOff x="614" y="2568"/>
                <a:chExt cx="725" cy="139"/>
              </a:xfrm>
            </p:grpSpPr>
            <p:sp>
              <p:nvSpPr>
                <p:cNvPr id="48346" name="AutoShape 961"/>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48347"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26"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48327"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28" name="Group 965"/>
              <p:cNvGrpSpPr/>
              <p:nvPr/>
            </p:nvGrpSpPr>
            <p:grpSpPr bwMode="auto">
              <a:xfrm>
                <a:off x="4735" y="1627"/>
                <a:ext cx="582" cy="151"/>
                <a:chOff x="614" y="2568"/>
                <a:chExt cx="725" cy="139"/>
              </a:xfrm>
            </p:grpSpPr>
            <p:sp>
              <p:nvSpPr>
                <p:cNvPr id="48344" name="AutoShape 966"/>
                <p:cNvSpPr>
                  <a:spLocks noChangeArrowheads="1"/>
                </p:cNvSpPr>
                <p:nvPr/>
              </p:nvSpPr>
              <p:spPr bwMode="auto">
                <a:xfrm>
                  <a:off x="618" y="2586"/>
                  <a:ext cx="720" cy="124"/>
                </a:xfrm>
                <a:prstGeom prst="roundRect">
                  <a:avLst>
                    <a:gd name="adj" fmla="val 50000"/>
                  </a:avLst>
                </a:prstGeom>
                <a:solidFill>
                  <a:schemeClr val="tx1"/>
                </a:solidFill>
                <a:ln>
                  <a:noFill/>
                </a:ln>
              </p:spPr>
              <p:txBody>
                <a:bodyPr wrap="none" anchor="ctr"/>
                <a:lstStyle/>
                <a:p>
                  <a:endParaRPr lang="en-US"/>
                </a:p>
              </p:txBody>
            </p:sp>
            <p:sp>
              <p:nvSpPr>
                <p:cNvPr id="48345"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29"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48330" name="Group 969"/>
              <p:cNvGrpSpPr/>
              <p:nvPr/>
            </p:nvGrpSpPr>
            <p:grpSpPr bwMode="auto">
              <a:xfrm>
                <a:off x="4739" y="1327"/>
                <a:ext cx="582" cy="139"/>
                <a:chOff x="614" y="2568"/>
                <a:chExt cx="725" cy="139"/>
              </a:xfrm>
            </p:grpSpPr>
            <p:sp>
              <p:nvSpPr>
                <p:cNvPr id="48342" name="AutoShape 970"/>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48343"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31"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48332"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33"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34" name="Oval 975"/>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48335"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48336"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48337"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48338" name="Oval 979"/>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48339" name="Oval 980"/>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a:solidFill>
                    <a:srgbClr val="FF0000"/>
                  </a:solidFill>
                </a:endParaRPr>
              </a:p>
            </p:txBody>
          </p:sp>
          <p:sp>
            <p:nvSpPr>
              <p:cNvPr id="48340" name="Oval 981"/>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48341"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grpSp>
      <p:sp>
        <p:nvSpPr>
          <p:cNvPr id="48129" name="Freeform 2"/>
          <p:cNvSpPr/>
          <p:nvPr/>
        </p:nvSpPr>
        <p:spPr bwMode="auto">
          <a:xfrm>
            <a:off x="2592388" y="5749925"/>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p:spPr>
        <p:txBody>
          <a:bodyPr wrap="none" anchor="ctr"/>
          <a:lstStyle/>
          <a:p>
            <a:endParaRPr lang="en-US"/>
          </a:p>
        </p:txBody>
      </p:sp>
      <p:cxnSp>
        <p:nvCxnSpPr>
          <p:cNvPr id="148" name="Straight Connector 147"/>
          <p:cNvCxnSpPr/>
          <p:nvPr/>
        </p:nvCxnSpPr>
        <p:spPr>
          <a:xfrm flipV="1">
            <a:off x="3262941" y="5900738"/>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3151816" y="6088063"/>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3164516" y="6192838"/>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4182104" y="6386513"/>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4842504" y="5934075"/>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4126541" y="6088063"/>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5453691" y="6116638"/>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4596441" y="5900738"/>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8261" name="Group 48260"/>
          <p:cNvGrpSpPr/>
          <p:nvPr/>
        </p:nvGrpSpPr>
        <p:grpSpPr>
          <a:xfrm>
            <a:off x="1526216" y="3003498"/>
            <a:ext cx="6978041" cy="1096962"/>
            <a:chOff x="1526216" y="3003498"/>
            <a:chExt cx="6978041" cy="1096962"/>
          </a:xfrm>
        </p:grpSpPr>
        <p:sp>
          <p:nvSpPr>
            <p:cNvPr id="48156" name="TextBox 399"/>
            <p:cNvSpPr txBox="1">
              <a:spLocks noChangeArrowheads="1"/>
            </p:cNvSpPr>
            <p:nvPr/>
          </p:nvSpPr>
          <p:spPr bwMode="auto">
            <a:xfrm>
              <a:off x="7714291" y="3628973"/>
              <a:ext cx="595313" cy="47148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a:t>data</a:t>
              </a:r>
            </a:p>
            <a:p>
              <a:pPr algn="ctr">
                <a:lnSpc>
                  <a:spcPts val="1465"/>
                </a:lnSpc>
              </a:pPr>
              <a:r>
                <a:rPr lang="en-US" sz="1400"/>
                <a:t>plane</a:t>
              </a:r>
            </a:p>
          </p:txBody>
        </p:sp>
        <p:sp>
          <p:nvSpPr>
            <p:cNvPr id="48157" name="TextBox 400"/>
            <p:cNvSpPr txBox="1">
              <a:spLocks noChangeArrowheads="1"/>
            </p:cNvSpPr>
            <p:nvPr/>
          </p:nvSpPr>
          <p:spPr bwMode="auto">
            <a:xfrm>
              <a:off x="7728579" y="3003498"/>
              <a:ext cx="709612" cy="47148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a:t>control</a:t>
              </a:r>
            </a:p>
            <a:p>
              <a:pPr algn="ctr">
                <a:lnSpc>
                  <a:spcPts val="1465"/>
                </a:lnSpc>
              </a:pPr>
              <a:r>
                <a:rPr lang="en-US" sz="1400"/>
                <a:t>plane</a:t>
              </a:r>
            </a:p>
          </p:txBody>
        </p:sp>
        <p:cxnSp>
          <p:nvCxnSpPr>
            <p:cNvPr id="302" name="Straight Connector 301"/>
            <p:cNvCxnSpPr/>
            <p:nvPr/>
          </p:nvCxnSpPr>
          <p:spPr bwMode="auto">
            <a:xfrm flipV="1">
              <a:off x="1526216" y="3579342"/>
              <a:ext cx="6978041" cy="12155"/>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2436115" y="2735108"/>
            <a:ext cx="4296530" cy="320561"/>
            <a:chOff x="2433511" y="2792111"/>
            <a:chExt cx="4296530" cy="320561"/>
          </a:xfrm>
        </p:grpSpPr>
        <p:grpSp>
          <p:nvGrpSpPr>
            <p:cNvPr id="48311" name="Group 401"/>
            <p:cNvGrpSpPr/>
            <p:nvPr/>
          </p:nvGrpSpPr>
          <p:grpSpPr bwMode="auto">
            <a:xfrm>
              <a:off x="2433511" y="2794083"/>
              <a:ext cx="349250" cy="317387"/>
              <a:chOff x="2931664" y="3912603"/>
              <a:chExt cx="430450" cy="329314"/>
            </a:xfrm>
          </p:grpSpPr>
          <p:sp>
            <p:nvSpPr>
              <p:cNvPr id="403" name="Rectangle 402"/>
              <p:cNvSpPr/>
              <p:nvPr/>
            </p:nvSpPr>
            <p:spPr>
              <a:xfrm>
                <a:off x="2937534" y="3912858"/>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4" name="Straight Connector 403"/>
              <p:cNvCxnSpPr/>
              <p:nvPr/>
            </p:nvCxnSpPr>
            <p:spPr>
              <a:xfrm>
                <a:off x="2931664" y="4005099"/>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a:off x="2931664" y="4067691"/>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a:stCxn id="403" idx="2"/>
              </p:cNvCxnSpPr>
              <p:nvPr/>
            </p:nvCxnSpPr>
            <p:spPr>
              <a:xfrm flipH="1" flipV="1">
                <a:off x="3148846" y="4005099"/>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2" name="Group 406"/>
            <p:cNvGrpSpPr/>
            <p:nvPr/>
          </p:nvGrpSpPr>
          <p:grpSpPr bwMode="auto">
            <a:xfrm>
              <a:off x="3348666" y="2792111"/>
              <a:ext cx="350838" cy="317387"/>
              <a:chOff x="2931664" y="3912603"/>
              <a:chExt cx="430450" cy="329314"/>
            </a:xfrm>
          </p:grpSpPr>
          <p:sp>
            <p:nvSpPr>
              <p:cNvPr id="408" name="Rectangle 407"/>
              <p:cNvSpPr/>
              <p:nvPr/>
            </p:nvSpPr>
            <p:spPr>
              <a:xfrm>
                <a:off x="2937508" y="3912861"/>
                <a:ext cx="424606"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9" name="Straight Connector 408"/>
              <p:cNvCxnSpPr/>
              <p:nvPr/>
            </p:nvCxnSpPr>
            <p:spPr>
              <a:xfrm>
                <a:off x="2931664" y="4005102"/>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0" name="Straight Connector 409"/>
              <p:cNvCxnSpPr/>
              <p:nvPr/>
            </p:nvCxnSpPr>
            <p:spPr>
              <a:xfrm>
                <a:off x="2931664" y="4067694"/>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1" name="Straight Connector 410"/>
              <p:cNvCxnSpPr>
                <a:stCxn id="408" idx="2"/>
              </p:cNvCxnSpPr>
              <p:nvPr/>
            </p:nvCxnSpPr>
            <p:spPr>
              <a:xfrm flipH="1" flipV="1">
                <a:off x="3147863" y="4005102"/>
                <a:ext cx="1947"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3" name="Group 411"/>
            <p:cNvGrpSpPr/>
            <p:nvPr/>
          </p:nvGrpSpPr>
          <p:grpSpPr bwMode="auto">
            <a:xfrm>
              <a:off x="4182104" y="2792111"/>
              <a:ext cx="350837" cy="317387"/>
              <a:chOff x="2931664" y="3912603"/>
              <a:chExt cx="430450" cy="329314"/>
            </a:xfrm>
          </p:grpSpPr>
          <p:sp>
            <p:nvSpPr>
              <p:cNvPr id="413" name="Rectangle 41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4" name="Straight Connector 41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5" name="Straight Connector 41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6" name="Straight Connector 415"/>
              <p:cNvCxnSpPr>
                <a:stCxn id="41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4" name="Group 416"/>
            <p:cNvGrpSpPr/>
            <p:nvPr/>
          </p:nvGrpSpPr>
          <p:grpSpPr bwMode="auto">
            <a:xfrm>
              <a:off x="5374316" y="2795285"/>
              <a:ext cx="349250" cy="317387"/>
              <a:chOff x="2931664" y="3912603"/>
              <a:chExt cx="430450" cy="329314"/>
            </a:xfrm>
          </p:grpSpPr>
          <p:sp>
            <p:nvSpPr>
              <p:cNvPr id="418" name="Rectangle 417"/>
              <p:cNvSpPr/>
              <p:nvPr/>
            </p:nvSpPr>
            <p:spPr>
              <a:xfrm>
                <a:off x="2937534" y="3912862"/>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9" name="Straight Connector 418"/>
              <p:cNvCxnSpPr/>
              <p:nvPr/>
            </p:nvCxnSpPr>
            <p:spPr>
              <a:xfrm>
                <a:off x="2931664" y="4005103"/>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0" name="Straight Connector 419"/>
              <p:cNvCxnSpPr/>
              <p:nvPr/>
            </p:nvCxnSpPr>
            <p:spPr>
              <a:xfrm>
                <a:off x="2931664" y="4067695"/>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1" name="Straight Connector 420"/>
              <p:cNvCxnSpPr>
                <a:stCxn id="418" idx="2"/>
              </p:cNvCxnSpPr>
              <p:nvPr/>
            </p:nvCxnSpPr>
            <p:spPr>
              <a:xfrm flipH="1" flipV="1">
                <a:off x="3148846" y="4005103"/>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5" name="Group 421"/>
            <p:cNvGrpSpPr/>
            <p:nvPr/>
          </p:nvGrpSpPr>
          <p:grpSpPr bwMode="auto">
            <a:xfrm>
              <a:off x="6379204" y="2792111"/>
              <a:ext cx="350837" cy="317387"/>
              <a:chOff x="2931664" y="3912603"/>
              <a:chExt cx="430450" cy="329314"/>
            </a:xfrm>
          </p:grpSpPr>
          <p:sp>
            <p:nvSpPr>
              <p:cNvPr id="423" name="Rectangle 42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4" name="Straight Connector 42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5" name="Straight Connector 42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6" name="Straight Connector 425"/>
              <p:cNvCxnSpPr>
                <a:stCxn id="42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48260" name="Group 48259"/>
          <p:cNvGrpSpPr/>
          <p:nvPr/>
        </p:nvGrpSpPr>
        <p:grpSpPr>
          <a:xfrm>
            <a:off x="1856416" y="3709935"/>
            <a:ext cx="5211763" cy="2739614"/>
            <a:chOff x="1856416" y="3709935"/>
            <a:chExt cx="5211763" cy="2739614"/>
          </a:xfrm>
        </p:grpSpPr>
        <p:sp>
          <p:nvSpPr>
            <p:cNvPr id="268" name="Freeform 267"/>
            <p:cNvSpPr/>
            <p:nvPr/>
          </p:nvSpPr>
          <p:spPr>
            <a:xfrm>
              <a:off x="1876731" y="5330139"/>
              <a:ext cx="1280789" cy="75908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1040633"/>
                <a:gd name="connsiteY0-162" fmla="*/ 1160935 h 1160935"/>
                <a:gd name="connsiteX1-163" fmla="*/ 0 w 1040633"/>
                <a:gd name="connsiteY1-164" fmla="*/ 0 h 1160935"/>
                <a:gd name="connsiteX2-165" fmla="*/ 1040633 w 1040633"/>
                <a:gd name="connsiteY2-166" fmla="*/ 16785 h 1160935"/>
                <a:gd name="connsiteX3-167" fmla="*/ 569478 w 1040633"/>
                <a:gd name="connsiteY3-168" fmla="*/ 1158121 h 1160935"/>
                <a:gd name="connsiteX4-169" fmla="*/ 363082 w 1040633"/>
                <a:gd name="connsiteY4-170" fmla="*/ 1160935 h 1160935"/>
                <a:gd name="connsiteX0-171" fmla="*/ 363082 w 1040633"/>
                <a:gd name="connsiteY0-172" fmla="*/ 1160935 h 1160935"/>
                <a:gd name="connsiteX1-173" fmla="*/ 0 w 1040633"/>
                <a:gd name="connsiteY1-174" fmla="*/ 0 h 1160935"/>
                <a:gd name="connsiteX2-175" fmla="*/ 1040633 w 1040633"/>
                <a:gd name="connsiteY2-176" fmla="*/ 16785 h 1160935"/>
                <a:gd name="connsiteX3-177" fmla="*/ 569478 w 1040633"/>
                <a:gd name="connsiteY3-178" fmla="*/ 1158121 h 1160935"/>
                <a:gd name="connsiteX4-179" fmla="*/ 363082 w 1040633"/>
                <a:gd name="connsiteY4-180" fmla="*/ 1160935 h 1160935"/>
                <a:gd name="connsiteX0-181" fmla="*/ 448507 w 1040633"/>
                <a:gd name="connsiteY0-182" fmla="*/ 1160935 h 1160935"/>
                <a:gd name="connsiteX1-183" fmla="*/ 0 w 1040633"/>
                <a:gd name="connsiteY1-184" fmla="*/ 0 h 1160935"/>
                <a:gd name="connsiteX2-185" fmla="*/ 1040633 w 1040633"/>
                <a:gd name="connsiteY2-186" fmla="*/ 16785 h 1160935"/>
                <a:gd name="connsiteX3-187" fmla="*/ 569478 w 1040633"/>
                <a:gd name="connsiteY3-188" fmla="*/ 1158121 h 1160935"/>
                <a:gd name="connsiteX4-189" fmla="*/ 448507 w 1040633"/>
                <a:gd name="connsiteY4-190" fmla="*/ 1160935 h 1160935"/>
                <a:gd name="connsiteX0-191" fmla="*/ 448507 w 1040633"/>
                <a:gd name="connsiteY0-192" fmla="*/ 1160935 h 1160935"/>
                <a:gd name="connsiteX1-193" fmla="*/ 0 w 1040633"/>
                <a:gd name="connsiteY1-194" fmla="*/ 0 h 1160935"/>
                <a:gd name="connsiteX2-195" fmla="*/ 1040633 w 1040633"/>
                <a:gd name="connsiteY2-196" fmla="*/ 16785 h 1160935"/>
                <a:gd name="connsiteX3-197" fmla="*/ 569478 w 1040633"/>
                <a:gd name="connsiteY3-198" fmla="*/ 1158121 h 1160935"/>
                <a:gd name="connsiteX4-199" fmla="*/ 448507 w 1040633"/>
                <a:gd name="connsiteY4-200" fmla="*/ 1160935 h 1160935"/>
                <a:gd name="connsiteX0-201" fmla="*/ 448507 w 1040633"/>
                <a:gd name="connsiteY0-202" fmla="*/ 1160935 h 1160935"/>
                <a:gd name="connsiteX1-203" fmla="*/ 0 w 1040633"/>
                <a:gd name="connsiteY1-204" fmla="*/ 0 h 1160935"/>
                <a:gd name="connsiteX2-205" fmla="*/ 1040633 w 1040633"/>
                <a:gd name="connsiteY2-206" fmla="*/ 16785 h 1160935"/>
                <a:gd name="connsiteX3-207" fmla="*/ 569478 w 1040633"/>
                <a:gd name="connsiteY3-208" fmla="*/ 1158121 h 1160935"/>
                <a:gd name="connsiteX4-209" fmla="*/ 448507 w 1040633"/>
                <a:gd name="connsiteY4-210" fmla="*/ 1160935 h 1160935"/>
                <a:gd name="connsiteX0-211" fmla="*/ 448507 w 1325315"/>
                <a:gd name="connsiteY0-212" fmla="*/ 1160935 h 1160935"/>
                <a:gd name="connsiteX1-213" fmla="*/ 0 w 1325315"/>
                <a:gd name="connsiteY1-214" fmla="*/ 0 h 1160935"/>
                <a:gd name="connsiteX2-215" fmla="*/ 1040633 w 1325315"/>
                <a:gd name="connsiteY2-216" fmla="*/ 16785 h 1160935"/>
                <a:gd name="connsiteX3-217" fmla="*/ 1214315 w 1325315"/>
                <a:gd name="connsiteY3-218" fmla="*/ 1064597 h 1160935"/>
                <a:gd name="connsiteX4-219" fmla="*/ 448507 w 1325315"/>
                <a:gd name="connsiteY4-220" fmla="*/ 1160935 h 1160935"/>
                <a:gd name="connsiteX0-221" fmla="*/ 448507 w 1214315"/>
                <a:gd name="connsiteY0-222" fmla="*/ 1160935 h 1160935"/>
                <a:gd name="connsiteX1-223" fmla="*/ 0 w 1214315"/>
                <a:gd name="connsiteY1-224" fmla="*/ 0 h 1160935"/>
                <a:gd name="connsiteX2-225" fmla="*/ 1040633 w 1214315"/>
                <a:gd name="connsiteY2-226" fmla="*/ 16785 h 1160935"/>
                <a:gd name="connsiteX3-227" fmla="*/ 1214315 w 1214315"/>
                <a:gd name="connsiteY3-228" fmla="*/ 1064597 h 1160935"/>
                <a:gd name="connsiteX4-229" fmla="*/ 448507 w 1214315"/>
                <a:gd name="connsiteY4-230" fmla="*/ 1160935 h 1160935"/>
                <a:gd name="connsiteX0-231" fmla="*/ 448507 w 1214315"/>
                <a:gd name="connsiteY0-232" fmla="*/ 1160935 h 1160935"/>
                <a:gd name="connsiteX1-233" fmla="*/ 0 w 1214315"/>
                <a:gd name="connsiteY1-234" fmla="*/ 0 h 1160935"/>
                <a:gd name="connsiteX2-235" fmla="*/ 1040633 w 1214315"/>
                <a:gd name="connsiteY2-236" fmla="*/ 16785 h 1160935"/>
                <a:gd name="connsiteX3-237" fmla="*/ 1214315 w 1214315"/>
                <a:gd name="connsiteY3-238" fmla="*/ 1064597 h 1160935"/>
                <a:gd name="connsiteX4-239" fmla="*/ 448507 w 1214315"/>
                <a:gd name="connsiteY4-240" fmla="*/ 1160935 h 1160935"/>
                <a:gd name="connsiteX0-241" fmla="*/ 1053964 w 1214315"/>
                <a:gd name="connsiteY0-242" fmla="*/ 1136323 h 1136323"/>
                <a:gd name="connsiteX1-243" fmla="*/ 0 w 1214315"/>
                <a:gd name="connsiteY1-244" fmla="*/ 0 h 1136323"/>
                <a:gd name="connsiteX2-245" fmla="*/ 1040633 w 1214315"/>
                <a:gd name="connsiteY2-246" fmla="*/ 16785 h 1136323"/>
                <a:gd name="connsiteX3-247" fmla="*/ 1214315 w 1214315"/>
                <a:gd name="connsiteY3-248" fmla="*/ 1064597 h 1136323"/>
                <a:gd name="connsiteX4-249" fmla="*/ 1053964 w 1214315"/>
                <a:gd name="connsiteY4-250" fmla="*/ 1136323 h 1136323"/>
                <a:gd name="connsiteX0-251" fmla="*/ 1053964 w 1214315"/>
                <a:gd name="connsiteY0-252" fmla="*/ 1136323 h 1136323"/>
                <a:gd name="connsiteX1-253" fmla="*/ 0 w 1214315"/>
                <a:gd name="connsiteY1-254" fmla="*/ 0 h 1136323"/>
                <a:gd name="connsiteX2-255" fmla="*/ 1040633 w 1214315"/>
                <a:gd name="connsiteY2-256" fmla="*/ 16785 h 1136323"/>
                <a:gd name="connsiteX3-257" fmla="*/ 1214315 w 1214315"/>
                <a:gd name="connsiteY3-258" fmla="*/ 1064597 h 1136323"/>
                <a:gd name="connsiteX4-259" fmla="*/ 1053964 w 1214315"/>
                <a:gd name="connsiteY4-260" fmla="*/ 1136323 h 1136323"/>
                <a:gd name="connsiteX0-261" fmla="*/ 1053964 w 1214315"/>
                <a:gd name="connsiteY0-262" fmla="*/ 1136323 h 1136323"/>
                <a:gd name="connsiteX1-263" fmla="*/ 0 w 1214315"/>
                <a:gd name="connsiteY1-264" fmla="*/ 0 h 1136323"/>
                <a:gd name="connsiteX2-265" fmla="*/ 1040633 w 1214315"/>
                <a:gd name="connsiteY2-266" fmla="*/ 16785 h 1136323"/>
                <a:gd name="connsiteX3-267" fmla="*/ 1214315 w 1214315"/>
                <a:gd name="connsiteY3-268" fmla="*/ 1064597 h 1136323"/>
                <a:gd name="connsiteX4-269" fmla="*/ 1053964 w 1214315"/>
                <a:gd name="connsiteY4-270" fmla="*/ 1136323 h 1136323"/>
                <a:gd name="connsiteX0-271" fmla="*/ 1060159 w 1220510"/>
                <a:gd name="connsiteY0-272" fmla="*/ 1119627 h 1119627"/>
                <a:gd name="connsiteX1-273" fmla="*/ 0 w 1220510"/>
                <a:gd name="connsiteY1-274" fmla="*/ 249694 h 1119627"/>
                <a:gd name="connsiteX2-275" fmla="*/ 1046828 w 1220510"/>
                <a:gd name="connsiteY2-276" fmla="*/ 89 h 1119627"/>
                <a:gd name="connsiteX3-277" fmla="*/ 1220510 w 1220510"/>
                <a:gd name="connsiteY3-278" fmla="*/ 1047901 h 1119627"/>
                <a:gd name="connsiteX4-279" fmla="*/ 1060159 w 1220510"/>
                <a:gd name="connsiteY4-280" fmla="*/ 1119627 h 1119627"/>
                <a:gd name="connsiteX0-281" fmla="*/ 1060159 w 1220510"/>
                <a:gd name="connsiteY0-282" fmla="*/ 1119627 h 1119627"/>
                <a:gd name="connsiteX1-283" fmla="*/ 0 w 1220510"/>
                <a:gd name="connsiteY1-284" fmla="*/ 249694 h 1119627"/>
                <a:gd name="connsiteX2-285" fmla="*/ 1046828 w 1220510"/>
                <a:gd name="connsiteY2-286" fmla="*/ 89 h 1119627"/>
                <a:gd name="connsiteX3-287" fmla="*/ 1220510 w 1220510"/>
                <a:gd name="connsiteY3-288" fmla="*/ 1047901 h 1119627"/>
                <a:gd name="connsiteX4-289" fmla="*/ 1060159 w 1220510"/>
                <a:gd name="connsiteY4-290" fmla="*/ 1119627 h 1119627"/>
                <a:gd name="connsiteX0-291" fmla="*/ 1060159 w 1220510"/>
                <a:gd name="connsiteY0-292" fmla="*/ 1119627 h 1119627"/>
                <a:gd name="connsiteX1-293" fmla="*/ 0 w 1220510"/>
                <a:gd name="connsiteY1-294" fmla="*/ 249694 h 1119627"/>
                <a:gd name="connsiteX2-295" fmla="*/ 1046828 w 1220510"/>
                <a:gd name="connsiteY2-296" fmla="*/ 89 h 1119627"/>
                <a:gd name="connsiteX3-297" fmla="*/ 1220510 w 1220510"/>
                <a:gd name="connsiteY3-298" fmla="*/ 1047901 h 1119627"/>
                <a:gd name="connsiteX4-299" fmla="*/ 1060159 w 1220510"/>
                <a:gd name="connsiteY4-300" fmla="*/ 1119627 h 1119627"/>
                <a:gd name="connsiteX0-301" fmla="*/ 1060159 w 1220510"/>
                <a:gd name="connsiteY0-302" fmla="*/ 921649 h 921649"/>
                <a:gd name="connsiteX1-303" fmla="*/ 0 w 1220510"/>
                <a:gd name="connsiteY1-304" fmla="*/ 51716 h 921649"/>
                <a:gd name="connsiteX2-305" fmla="*/ 1059218 w 1220510"/>
                <a:gd name="connsiteY2-306" fmla="*/ 355 h 921649"/>
                <a:gd name="connsiteX3-307" fmla="*/ 1220510 w 1220510"/>
                <a:gd name="connsiteY3-308" fmla="*/ 849923 h 921649"/>
                <a:gd name="connsiteX4-309" fmla="*/ 1060159 w 1220510"/>
                <a:gd name="connsiteY4-310" fmla="*/ 921649 h 921649"/>
                <a:gd name="connsiteX0-311" fmla="*/ 1060159 w 1220510"/>
                <a:gd name="connsiteY0-312" fmla="*/ 921649 h 921649"/>
                <a:gd name="connsiteX1-313" fmla="*/ 0 w 1220510"/>
                <a:gd name="connsiteY1-314" fmla="*/ 51716 h 921649"/>
                <a:gd name="connsiteX2-315" fmla="*/ 1059218 w 1220510"/>
                <a:gd name="connsiteY2-316" fmla="*/ 355 h 921649"/>
                <a:gd name="connsiteX3-317" fmla="*/ 1220510 w 1220510"/>
                <a:gd name="connsiteY3-318" fmla="*/ 849923 h 921649"/>
                <a:gd name="connsiteX4-319" fmla="*/ 1060159 w 1220510"/>
                <a:gd name="connsiteY4-320" fmla="*/ 921649 h 921649"/>
                <a:gd name="connsiteX0-321" fmla="*/ 1060159 w 1220510"/>
                <a:gd name="connsiteY0-322" fmla="*/ 921649 h 921649"/>
                <a:gd name="connsiteX1-323" fmla="*/ 0 w 1220510"/>
                <a:gd name="connsiteY1-324" fmla="*/ 51716 h 921649"/>
                <a:gd name="connsiteX2-325" fmla="*/ 1059218 w 1220510"/>
                <a:gd name="connsiteY2-326" fmla="*/ 355 h 921649"/>
                <a:gd name="connsiteX3-327" fmla="*/ 1220510 w 1220510"/>
                <a:gd name="connsiteY3-328" fmla="*/ 849923 h 921649"/>
                <a:gd name="connsiteX4-329" fmla="*/ 1060159 w 1220510"/>
                <a:gd name="connsiteY4-330" fmla="*/ 921649 h 921649"/>
                <a:gd name="connsiteX0-331" fmla="*/ 1060159 w 1340486"/>
                <a:gd name="connsiteY0-332" fmla="*/ 921649 h 921649"/>
                <a:gd name="connsiteX1-333" fmla="*/ 0 w 1340486"/>
                <a:gd name="connsiteY1-334" fmla="*/ 51716 h 921649"/>
                <a:gd name="connsiteX2-335" fmla="*/ 1059218 w 1340486"/>
                <a:gd name="connsiteY2-336" fmla="*/ 355 h 921649"/>
                <a:gd name="connsiteX3-337" fmla="*/ 1340486 w 1340486"/>
                <a:gd name="connsiteY3-338" fmla="*/ 709789 h 921649"/>
                <a:gd name="connsiteX4-339" fmla="*/ 1060159 w 1340486"/>
                <a:gd name="connsiteY4-340" fmla="*/ 921649 h 921649"/>
                <a:gd name="connsiteX0-341" fmla="*/ 1060159 w 1340486"/>
                <a:gd name="connsiteY0-342" fmla="*/ 921649 h 921649"/>
                <a:gd name="connsiteX1-343" fmla="*/ 0 w 1340486"/>
                <a:gd name="connsiteY1-344" fmla="*/ 51716 h 921649"/>
                <a:gd name="connsiteX2-345" fmla="*/ 1059218 w 1340486"/>
                <a:gd name="connsiteY2-346" fmla="*/ 355 h 921649"/>
                <a:gd name="connsiteX3-347" fmla="*/ 1340486 w 1340486"/>
                <a:gd name="connsiteY3-348" fmla="*/ 709789 h 921649"/>
                <a:gd name="connsiteX4-349" fmla="*/ 1060159 w 1340486"/>
                <a:gd name="connsiteY4-350" fmla="*/ 921649 h 921649"/>
                <a:gd name="connsiteX0-351" fmla="*/ 1060159 w 1340486"/>
                <a:gd name="connsiteY0-352" fmla="*/ 921649 h 921649"/>
                <a:gd name="connsiteX1-353" fmla="*/ 0 w 1340486"/>
                <a:gd name="connsiteY1-354" fmla="*/ 51716 h 921649"/>
                <a:gd name="connsiteX2-355" fmla="*/ 1059218 w 1340486"/>
                <a:gd name="connsiteY2-356" fmla="*/ 355 h 921649"/>
                <a:gd name="connsiteX3-357" fmla="*/ 1340486 w 1340486"/>
                <a:gd name="connsiteY3-358" fmla="*/ 709789 h 921649"/>
                <a:gd name="connsiteX4-359" fmla="*/ 1060159 w 1340486"/>
                <a:gd name="connsiteY4-360" fmla="*/ 921649 h 921649"/>
                <a:gd name="connsiteX0-361" fmla="*/ 1025166 w 1340486"/>
                <a:gd name="connsiteY0-362" fmla="*/ 746482 h 746482"/>
                <a:gd name="connsiteX1-363" fmla="*/ 0 w 1340486"/>
                <a:gd name="connsiteY1-364" fmla="*/ 51716 h 746482"/>
                <a:gd name="connsiteX2-365" fmla="*/ 1059218 w 1340486"/>
                <a:gd name="connsiteY2-366" fmla="*/ 355 h 746482"/>
                <a:gd name="connsiteX3-367" fmla="*/ 1340486 w 1340486"/>
                <a:gd name="connsiteY3-368" fmla="*/ 709789 h 746482"/>
                <a:gd name="connsiteX4-369" fmla="*/ 1025166 w 1340486"/>
                <a:gd name="connsiteY4-370" fmla="*/ 746482 h 746482"/>
                <a:gd name="connsiteX0-371" fmla="*/ 1025166 w 1340486"/>
                <a:gd name="connsiteY0-372" fmla="*/ 746482 h 746482"/>
                <a:gd name="connsiteX1-373" fmla="*/ 0 w 1340486"/>
                <a:gd name="connsiteY1-374" fmla="*/ 51716 h 746482"/>
                <a:gd name="connsiteX2-375" fmla="*/ 1059218 w 1340486"/>
                <a:gd name="connsiteY2-376" fmla="*/ 355 h 746482"/>
                <a:gd name="connsiteX3-377" fmla="*/ 1340486 w 1340486"/>
                <a:gd name="connsiteY3-378" fmla="*/ 709789 h 746482"/>
                <a:gd name="connsiteX4-379" fmla="*/ 1025166 w 1340486"/>
                <a:gd name="connsiteY4-380" fmla="*/ 746482 h 746482"/>
                <a:gd name="connsiteX0-381" fmla="*/ 965179 w 1280499"/>
                <a:gd name="connsiteY0-382" fmla="*/ 759828 h 759828"/>
                <a:gd name="connsiteX1-383" fmla="*/ 0 w 1280499"/>
                <a:gd name="connsiteY1-384" fmla="*/ 0 h 759828"/>
                <a:gd name="connsiteX2-385" fmla="*/ 999231 w 1280499"/>
                <a:gd name="connsiteY2-386" fmla="*/ 13701 h 759828"/>
                <a:gd name="connsiteX3-387" fmla="*/ 1280499 w 1280499"/>
                <a:gd name="connsiteY3-388" fmla="*/ 723135 h 759828"/>
                <a:gd name="connsiteX4-389" fmla="*/ 965179 w 1280499"/>
                <a:gd name="connsiteY4-390" fmla="*/ 759828 h 759828"/>
                <a:gd name="connsiteX0-391" fmla="*/ 965179 w 1280499"/>
                <a:gd name="connsiteY0-392" fmla="*/ 759828 h 759828"/>
                <a:gd name="connsiteX1-393" fmla="*/ 0 w 1280499"/>
                <a:gd name="connsiteY1-394" fmla="*/ 0 h 759828"/>
                <a:gd name="connsiteX2-395" fmla="*/ 999231 w 1280499"/>
                <a:gd name="connsiteY2-396" fmla="*/ 13701 h 759828"/>
                <a:gd name="connsiteX3-397" fmla="*/ 1280499 w 1280499"/>
                <a:gd name="connsiteY3-398" fmla="*/ 723135 h 759828"/>
                <a:gd name="connsiteX4-399" fmla="*/ 965179 w 1280499"/>
                <a:gd name="connsiteY4-400" fmla="*/ 759828 h 75982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202668" y="5429198"/>
              <a:ext cx="865511" cy="55382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3004 w 954755"/>
                <a:gd name="connsiteY0-372" fmla="*/ 943771 h 976186"/>
                <a:gd name="connsiteX1-373" fmla="*/ 455145 w 954755"/>
                <a:gd name="connsiteY1-374" fmla="*/ 11688 h 976186"/>
                <a:gd name="connsiteX2-375" fmla="*/ 954755 w 954755"/>
                <a:gd name="connsiteY2-376" fmla="*/ 0 h 976186"/>
                <a:gd name="connsiteX3-377" fmla="*/ 728484 w 954755"/>
                <a:gd name="connsiteY3-378" fmla="*/ 976186 h 976186"/>
                <a:gd name="connsiteX4-379" fmla="*/ 23004 w 954755"/>
                <a:gd name="connsiteY4-380" fmla="*/ 943771 h 976186"/>
                <a:gd name="connsiteX0-381" fmla="*/ 0 w 931751"/>
                <a:gd name="connsiteY0-382" fmla="*/ 943771 h 976186"/>
                <a:gd name="connsiteX1-383" fmla="*/ 432141 w 931751"/>
                <a:gd name="connsiteY1-384" fmla="*/ 11688 h 976186"/>
                <a:gd name="connsiteX2-385" fmla="*/ 931751 w 931751"/>
                <a:gd name="connsiteY2-386" fmla="*/ 0 h 976186"/>
                <a:gd name="connsiteX3-387" fmla="*/ 705480 w 931751"/>
                <a:gd name="connsiteY3-388" fmla="*/ 976186 h 976186"/>
                <a:gd name="connsiteX4-389" fmla="*/ 0 w 931751"/>
                <a:gd name="connsiteY4-390" fmla="*/ 943771 h 976186"/>
                <a:gd name="connsiteX0-391" fmla="*/ 0 w 931751"/>
                <a:gd name="connsiteY0-392" fmla="*/ 943771 h 976186"/>
                <a:gd name="connsiteX1-393" fmla="*/ 432141 w 931751"/>
                <a:gd name="connsiteY1-394" fmla="*/ 11688 h 976186"/>
                <a:gd name="connsiteX2-395" fmla="*/ 931751 w 931751"/>
                <a:gd name="connsiteY2-396" fmla="*/ 0 h 976186"/>
                <a:gd name="connsiteX3-397" fmla="*/ 705480 w 931751"/>
                <a:gd name="connsiteY3-398" fmla="*/ 976186 h 976186"/>
                <a:gd name="connsiteX4-399" fmla="*/ 0 w 931751"/>
                <a:gd name="connsiteY4-400" fmla="*/ 943771 h 976186"/>
                <a:gd name="connsiteX0-401" fmla="*/ 0 w 931751"/>
                <a:gd name="connsiteY0-402" fmla="*/ 943771 h 976186"/>
                <a:gd name="connsiteX1-403" fmla="*/ 432141 w 931751"/>
                <a:gd name="connsiteY1-404" fmla="*/ 11688 h 976186"/>
                <a:gd name="connsiteX2-405" fmla="*/ 931751 w 931751"/>
                <a:gd name="connsiteY2-406" fmla="*/ 0 h 976186"/>
                <a:gd name="connsiteX3-407" fmla="*/ 705480 w 931751"/>
                <a:gd name="connsiteY3-408" fmla="*/ 976186 h 976186"/>
                <a:gd name="connsiteX4-409" fmla="*/ 0 w 931751"/>
                <a:gd name="connsiteY4-410" fmla="*/ 943771 h 976186"/>
                <a:gd name="connsiteX0-411" fmla="*/ 0 w 931751"/>
                <a:gd name="connsiteY0-412" fmla="*/ 943771 h 966342"/>
                <a:gd name="connsiteX1-413" fmla="*/ 432141 w 931751"/>
                <a:gd name="connsiteY1-414" fmla="*/ 11688 h 966342"/>
                <a:gd name="connsiteX2-415" fmla="*/ 931751 w 931751"/>
                <a:gd name="connsiteY2-416" fmla="*/ 0 h 966342"/>
                <a:gd name="connsiteX3-417" fmla="*/ 183705 w 931751"/>
                <a:gd name="connsiteY3-418" fmla="*/ 966342 h 966342"/>
                <a:gd name="connsiteX4-419" fmla="*/ 0 w 931751"/>
                <a:gd name="connsiteY4-420" fmla="*/ 943771 h 966342"/>
                <a:gd name="connsiteX0-421" fmla="*/ 0 w 931751"/>
                <a:gd name="connsiteY0-422" fmla="*/ 943771 h 966342"/>
                <a:gd name="connsiteX1-423" fmla="*/ 432141 w 931751"/>
                <a:gd name="connsiteY1-424" fmla="*/ 11688 h 966342"/>
                <a:gd name="connsiteX2-425" fmla="*/ 931751 w 931751"/>
                <a:gd name="connsiteY2-426" fmla="*/ 0 h 966342"/>
                <a:gd name="connsiteX3-427" fmla="*/ 183705 w 931751"/>
                <a:gd name="connsiteY3-428" fmla="*/ 966342 h 966342"/>
                <a:gd name="connsiteX4-429" fmla="*/ 0 w 931751"/>
                <a:gd name="connsiteY4-430" fmla="*/ 943771 h 966342"/>
                <a:gd name="connsiteX0-431" fmla="*/ 0 w 931751"/>
                <a:gd name="connsiteY0-432" fmla="*/ 943771 h 966342"/>
                <a:gd name="connsiteX1-433" fmla="*/ 432141 w 931751"/>
                <a:gd name="connsiteY1-434" fmla="*/ 11688 h 966342"/>
                <a:gd name="connsiteX2-435" fmla="*/ 931751 w 931751"/>
                <a:gd name="connsiteY2-436" fmla="*/ 0 h 966342"/>
                <a:gd name="connsiteX3-437" fmla="*/ 183705 w 931751"/>
                <a:gd name="connsiteY3-438" fmla="*/ 966342 h 966342"/>
                <a:gd name="connsiteX4-439" fmla="*/ 0 w 931751"/>
                <a:gd name="connsiteY4-440" fmla="*/ 943771 h 966342"/>
                <a:gd name="connsiteX0-441" fmla="*/ 0 w 956363"/>
                <a:gd name="connsiteY0-442" fmla="*/ 932083 h 954654"/>
                <a:gd name="connsiteX1-443" fmla="*/ 432141 w 956363"/>
                <a:gd name="connsiteY1-444" fmla="*/ 0 h 954654"/>
                <a:gd name="connsiteX2-445" fmla="*/ 956363 w 956363"/>
                <a:gd name="connsiteY2-446" fmla="*/ 12924 h 954654"/>
                <a:gd name="connsiteX3-447" fmla="*/ 183705 w 956363"/>
                <a:gd name="connsiteY3-448" fmla="*/ 954654 h 954654"/>
                <a:gd name="connsiteX4-449" fmla="*/ 0 w 956363"/>
                <a:gd name="connsiteY4-450" fmla="*/ 932083 h 954654"/>
                <a:gd name="connsiteX0-451" fmla="*/ 0 w 956363"/>
                <a:gd name="connsiteY0-452" fmla="*/ 919226 h 941797"/>
                <a:gd name="connsiteX1-453" fmla="*/ 405840 w 956363"/>
                <a:gd name="connsiteY1-454" fmla="*/ 197551 h 941797"/>
                <a:gd name="connsiteX2-455" fmla="*/ 956363 w 956363"/>
                <a:gd name="connsiteY2-456" fmla="*/ 67 h 941797"/>
                <a:gd name="connsiteX3-457" fmla="*/ 183705 w 956363"/>
                <a:gd name="connsiteY3-458" fmla="*/ 941797 h 941797"/>
                <a:gd name="connsiteX4-459" fmla="*/ 0 w 956363"/>
                <a:gd name="connsiteY4-460" fmla="*/ 919226 h 941797"/>
                <a:gd name="connsiteX0-461" fmla="*/ 0 w 956363"/>
                <a:gd name="connsiteY0-462" fmla="*/ 919226 h 941797"/>
                <a:gd name="connsiteX1-463" fmla="*/ 405840 w 956363"/>
                <a:gd name="connsiteY1-464" fmla="*/ 197551 h 941797"/>
                <a:gd name="connsiteX2-465" fmla="*/ 956363 w 956363"/>
                <a:gd name="connsiteY2-466" fmla="*/ 67 h 941797"/>
                <a:gd name="connsiteX3-467" fmla="*/ 183705 w 956363"/>
                <a:gd name="connsiteY3-468" fmla="*/ 941797 h 941797"/>
                <a:gd name="connsiteX4-469" fmla="*/ 0 w 956363"/>
                <a:gd name="connsiteY4-470" fmla="*/ 919226 h 941797"/>
                <a:gd name="connsiteX0-471" fmla="*/ 0 w 956363"/>
                <a:gd name="connsiteY0-472" fmla="*/ 919226 h 941797"/>
                <a:gd name="connsiteX1-473" fmla="*/ 405840 w 956363"/>
                <a:gd name="connsiteY1-474" fmla="*/ 197551 h 941797"/>
                <a:gd name="connsiteX2-475" fmla="*/ 956363 w 956363"/>
                <a:gd name="connsiteY2-476" fmla="*/ 67 h 941797"/>
                <a:gd name="connsiteX3-477" fmla="*/ 183705 w 956363"/>
                <a:gd name="connsiteY3-478" fmla="*/ 941797 h 941797"/>
                <a:gd name="connsiteX4-479" fmla="*/ 0 w 956363"/>
                <a:gd name="connsiteY4-480" fmla="*/ 919226 h 941797"/>
                <a:gd name="connsiteX0-481" fmla="*/ 0 w 926304"/>
                <a:gd name="connsiteY0-482" fmla="*/ 735614 h 758185"/>
                <a:gd name="connsiteX1-483" fmla="*/ 405840 w 926304"/>
                <a:gd name="connsiteY1-484" fmla="*/ 13939 h 758185"/>
                <a:gd name="connsiteX2-485" fmla="*/ 926304 w 926304"/>
                <a:gd name="connsiteY2-486" fmla="*/ 563 h 758185"/>
                <a:gd name="connsiteX3-487" fmla="*/ 183705 w 926304"/>
                <a:gd name="connsiteY3-488" fmla="*/ 758185 h 758185"/>
                <a:gd name="connsiteX4-489" fmla="*/ 0 w 926304"/>
                <a:gd name="connsiteY4-490" fmla="*/ 735614 h 758185"/>
                <a:gd name="connsiteX0-491" fmla="*/ 0 w 926304"/>
                <a:gd name="connsiteY0-492" fmla="*/ 735614 h 758185"/>
                <a:gd name="connsiteX1-493" fmla="*/ 405840 w 926304"/>
                <a:gd name="connsiteY1-494" fmla="*/ 13939 h 758185"/>
                <a:gd name="connsiteX2-495" fmla="*/ 926304 w 926304"/>
                <a:gd name="connsiteY2-496" fmla="*/ 563 h 758185"/>
                <a:gd name="connsiteX3-497" fmla="*/ 183705 w 926304"/>
                <a:gd name="connsiteY3-498" fmla="*/ 758185 h 758185"/>
                <a:gd name="connsiteX4-499" fmla="*/ 0 w 926304"/>
                <a:gd name="connsiteY4-500" fmla="*/ 735614 h 758185"/>
                <a:gd name="connsiteX0-501" fmla="*/ 0 w 926304"/>
                <a:gd name="connsiteY0-502" fmla="*/ 735614 h 758185"/>
                <a:gd name="connsiteX1-503" fmla="*/ 405840 w 926304"/>
                <a:gd name="connsiteY1-504" fmla="*/ 13939 h 758185"/>
                <a:gd name="connsiteX2-505" fmla="*/ 926304 w 926304"/>
                <a:gd name="connsiteY2-506" fmla="*/ 563 h 758185"/>
                <a:gd name="connsiteX3-507" fmla="*/ 183705 w 926304"/>
                <a:gd name="connsiteY3-508" fmla="*/ 758185 h 758185"/>
                <a:gd name="connsiteX4-509" fmla="*/ 0 w 926304"/>
                <a:gd name="connsiteY4-510" fmla="*/ 735614 h 758185"/>
                <a:gd name="connsiteX0-511" fmla="*/ 0 w 926304"/>
                <a:gd name="connsiteY0-512" fmla="*/ 735614 h 758185"/>
                <a:gd name="connsiteX1-513" fmla="*/ 405840 w 926304"/>
                <a:gd name="connsiteY1-514" fmla="*/ 13939 h 758185"/>
                <a:gd name="connsiteX2-515" fmla="*/ 926304 w 926304"/>
                <a:gd name="connsiteY2-516" fmla="*/ 563 h 758185"/>
                <a:gd name="connsiteX3-517" fmla="*/ 183705 w 926304"/>
                <a:gd name="connsiteY3-518" fmla="*/ 758185 h 758185"/>
                <a:gd name="connsiteX4-519" fmla="*/ 0 w 926304"/>
                <a:gd name="connsiteY4-520" fmla="*/ 735614 h 758185"/>
                <a:gd name="connsiteX0-521" fmla="*/ 0 w 1011379"/>
                <a:gd name="connsiteY0-522" fmla="*/ 605727 h 758185"/>
                <a:gd name="connsiteX1-523" fmla="*/ 490915 w 1011379"/>
                <a:gd name="connsiteY1-524" fmla="*/ 13939 h 758185"/>
                <a:gd name="connsiteX2-525" fmla="*/ 1011379 w 1011379"/>
                <a:gd name="connsiteY2-526" fmla="*/ 563 h 758185"/>
                <a:gd name="connsiteX3-527" fmla="*/ 268780 w 1011379"/>
                <a:gd name="connsiteY3-528" fmla="*/ 758185 h 758185"/>
                <a:gd name="connsiteX4-529" fmla="*/ 0 w 1011379"/>
                <a:gd name="connsiteY4-530" fmla="*/ 605727 h 758185"/>
                <a:gd name="connsiteX0-531" fmla="*/ 0 w 1011379"/>
                <a:gd name="connsiteY0-532" fmla="*/ 605727 h 648280"/>
                <a:gd name="connsiteX1-533" fmla="*/ 490915 w 1011379"/>
                <a:gd name="connsiteY1-534" fmla="*/ 13939 h 648280"/>
                <a:gd name="connsiteX2-535" fmla="*/ 1011379 w 1011379"/>
                <a:gd name="connsiteY2-536" fmla="*/ 563 h 648280"/>
                <a:gd name="connsiteX3-537" fmla="*/ 198718 w 1011379"/>
                <a:gd name="connsiteY3-538" fmla="*/ 648280 h 648280"/>
                <a:gd name="connsiteX4-539" fmla="*/ 0 w 1011379"/>
                <a:gd name="connsiteY4-540" fmla="*/ 605727 h 648280"/>
                <a:gd name="connsiteX0-541" fmla="*/ 0 w 1011379"/>
                <a:gd name="connsiteY0-542" fmla="*/ 605727 h 648280"/>
                <a:gd name="connsiteX1-543" fmla="*/ 490915 w 1011379"/>
                <a:gd name="connsiteY1-544" fmla="*/ 13939 h 648280"/>
                <a:gd name="connsiteX2-545" fmla="*/ 1011379 w 1011379"/>
                <a:gd name="connsiteY2-546" fmla="*/ 563 h 648280"/>
                <a:gd name="connsiteX3-547" fmla="*/ 198718 w 1011379"/>
                <a:gd name="connsiteY3-548" fmla="*/ 648280 h 648280"/>
                <a:gd name="connsiteX4-549" fmla="*/ 0 w 1011379"/>
                <a:gd name="connsiteY4-550" fmla="*/ 605727 h 648280"/>
                <a:gd name="connsiteX0-551" fmla="*/ 0 w 1011379"/>
                <a:gd name="connsiteY0-552" fmla="*/ 605727 h 648280"/>
                <a:gd name="connsiteX1-553" fmla="*/ 490915 w 1011379"/>
                <a:gd name="connsiteY1-554" fmla="*/ 13939 h 648280"/>
                <a:gd name="connsiteX2-555" fmla="*/ 1011379 w 1011379"/>
                <a:gd name="connsiteY2-556" fmla="*/ 563 h 648280"/>
                <a:gd name="connsiteX3-557" fmla="*/ 198718 w 1011379"/>
                <a:gd name="connsiteY3-558" fmla="*/ 648280 h 648280"/>
                <a:gd name="connsiteX4-559" fmla="*/ 0 w 1011379"/>
                <a:gd name="connsiteY4-560" fmla="*/ 605727 h 648280"/>
                <a:gd name="connsiteX0-561" fmla="*/ 0 w 1011379"/>
                <a:gd name="connsiteY0-562" fmla="*/ 605727 h 605727"/>
                <a:gd name="connsiteX1-563" fmla="*/ 490915 w 1011379"/>
                <a:gd name="connsiteY1-564" fmla="*/ 13939 h 605727"/>
                <a:gd name="connsiteX2-565" fmla="*/ 1011379 w 1011379"/>
                <a:gd name="connsiteY2-566" fmla="*/ 563 h 605727"/>
                <a:gd name="connsiteX3-567" fmla="*/ 318823 w 1011379"/>
                <a:gd name="connsiteY3-568" fmla="*/ 553361 h 605727"/>
                <a:gd name="connsiteX4-569" fmla="*/ 0 w 1011379"/>
                <a:gd name="connsiteY4-570" fmla="*/ 605727 h 605727"/>
                <a:gd name="connsiteX0-571" fmla="*/ 0 w 866251"/>
                <a:gd name="connsiteY0-572" fmla="*/ 540783 h 553361"/>
                <a:gd name="connsiteX1-573" fmla="*/ 345787 w 866251"/>
                <a:gd name="connsiteY1-574" fmla="*/ 13939 h 553361"/>
                <a:gd name="connsiteX2-575" fmla="*/ 866251 w 866251"/>
                <a:gd name="connsiteY2-576" fmla="*/ 563 h 553361"/>
                <a:gd name="connsiteX3-577" fmla="*/ 173695 w 866251"/>
                <a:gd name="connsiteY3-578" fmla="*/ 553361 h 553361"/>
                <a:gd name="connsiteX4-579" fmla="*/ 0 w 866251"/>
                <a:gd name="connsiteY4-580" fmla="*/ 540783 h 553361"/>
                <a:gd name="connsiteX0-581" fmla="*/ 0 w 866251"/>
                <a:gd name="connsiteY0-582" fmla="*/ 540783 h 553361"/>
                <a:gd name="connsiteX1-583" fmla="*/ 345787 w 866251"/>
                <a:gd name="connsiteY1-584" fmla="*/ 13939 h 553361"/>
                <a:gd name="connsiteX2-585" fmla="*/ 866251 w 866251"/>
                <a:gd name="connsiteY2-586" fmla="*/ 563 h 553361"/>
                <a:gd name="connsiteX3-587" fmla="*/ 173695 w 866251"/>
                <a:gd name="connsiteY3-588" fmla="*/ 553361 h 553361"/>
                <a:gd name="connsiteX4-589" fmla="*/ 0 w 866251"/>
                <a:gd name="connsiteY4-590" fmla="*/ 540783 h 553361"/>
                <a:gd name="connsiteX0-591" fmla="*/ 0 w 866251"/>
                <a:gd name="connsiteY0-592" fmla="*/ 540783 h 553361"/>
                <a:gd name="connsiteX1-593" fmla="*/ 345787 w 866251"/>
                <a:gd name="connsiteY1-594" fmla="*/ 13939 h 553361"/>
                <a:gd name="connsiteX2-595" fmla="*/ 866251 w 866251"/>
                <a:gd name="connsiteY2-596" fmla="*/ 563 h 553361"/>
                <a:gd name="connsiteX3-597" fmla="*/ 173695 w 866251"/>
                <a:gd name="connsiteY3-598" fmla="*/ 553361 h 553361"/>
                <a:gd name="connsiteX4-599" fmla="*/ 0 w 866251"/>
                <a:gd name="connsiteY4-600" fmla="*/ 540783 h 553361"/>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378281" y="5449835"/>
              <a:ext cx="675485" cy="89677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7977 w 802211"/>
                <a:gd name="connsiteY0-372" fmla="*/ 815791 h 976186"/>
                <a:gd name="connsiteX1-373" fmla="*/ 302601 w 802211"/>
                <a:gd name="connsiteY1-374" fmla="*/ 11688 h 976186"/>
                <a:gd name="connsiteX2-375" fmla="*/ 802211 w 802211"/>
                <a:gd name="connsiteY2-376" fmla="*/ 0 h 976186"/>
                <a:gd name="connsiteX3-377" fmla="*/ 575940 w 802211"/>
                <a:gd name="connsiteY3-378" fmla="*/ 976186 h 976186"/>
                <a:gd name="connsiteX4-379" fmla="*/ 27977 w 802211"/>
                <a:gd name="connsiteY4-380" fmla="*/ 815791 h 976186"/>
                <a:gd name="connsiteX0-381" fmla="*/ 27977 w 802211"/>
                <a:gd name="connsiteY0-382" fmla="*/ 815791 h 815791"/>
                <a:gd name="connsiteX1-383" fmla="*/ 302601 w 802211"/>
                <a:gd name="connsiteY1-384" fmla="*/ 11688 h 815791"/>
                <a:gd name="connsiteX2-385" fmla="*/ 802211 w 802211"/>
                <a:gd name="connsiteY2-386" fmla="*/ 0 h 815791"/>
                <a:gd name="connsiteX3-387" fmla="*/ 236294 w 802211"/>
                <a:gd name="connsiteY3-388" fmla="*/ 808828 h 815791"/>
                <a:gd name="connsiteX4-389" fmla="*/ 27977 w 802211"/>
                <a:gd name="connsiteY4-390" fmla="*/ 815791 h 815791"/>
                <a:gd name="connsiteX0-391" fmla="*/ 27977 w 802211"/>
                <a:gd name="connsiteY0-392" fmla="*/ 815791 h 815791"/>
                <a:gd name="connsiteX1-393" fmla="*/ 302601 w 802211"/>
                <a:gd name="connsiteY1-394" fmla="*/ 11688 h 815791"/>
                <a:gd name="connsiteX2-395" fmla="*/ 802211 w 802211"/>
                <a:gd name="connsiteY2-396" fmla="*/ 0 h 815791"/>
                <a:gd name="connsiteX3-397" fmla="*/ 236294 w 802211"/>
                <a:gd name="connsiteY3-398" fmla="*/ 808828 h 815791"/>
                <a:gd name="connsiteX4-399" fmla="*/ 27977 w 802211"/>
                <a:gd name="connsiteY4-400" fmla="*/ 815791 h 815791"/>
                <a:gd name="connsiteX0-401" fmla="*/ 27977 w 802211"/>
                <a:gd name="connsiteY0-402" fmla="*/ 815791 h 815791"/>
                <a:gd name="connsiteX1-403" fmla="*/ 302601 w 802211"/>
                <a:gd name="connsiteY1-404" fmla="*/ 11688 h 815791"/>
                <a:gd name="connsiteX2-405" fmla="*/ 802211 w 802211"/>
                <a:gd name="connsiteY2-406" fmla="*/ 0 h 815791"/>
                <a:gd name="connsiteX3-407" fmla="*/ 236294 w 802211"/>
                <a:gd name="connsiteY3-408" fmla="*/ 808828 h 815791"/>
                <a:gd name="connsiteX4-409" fmla="*/ 27977 w 802211"/>
                <a:gd name="connsiteY4-410" fmla="*/ 815791 h 815791"/>
                <a:gd name="connsiteX0-411" fmla="*/ 27977 w 802211"/>
                <a:gd name="connsiteY0-412" fmla="*/ 828714 h 828714"/>
                <a:gd name="connsiteX1-413" fmla="*/ 302601 w 802211"/>
                <a:gd name="connsiteY1-414" fmla="*/ 0 h 828714"/>
                <a:gd name="connsiteX2-415" fmla="*/ 802211 w 802211"/>
                <a:gd name="connsiteY2-416" fmla="*/ 12923 h 828714"/>
                <a:gd name="connsiteX3-417" fmla="*/ 236294 w 802211"/>
                <a:gd name="connsiteY3-418" fmla="*/ 821751 h 828714"/>
                <a:gd name="connsiteX4-419" fmla="*/ 27977 w 802211"/>
                <a:gd name="connsiteY4-420" fmla="*/ 828714 h 828714"/>
                <a:gd name="connsiteX0-421" fmla="*/ 56213 w 830447"/>
                <a:gd name="connsiteY0-422" fmla="*/ 828714 h 828714"/>
                <a:gd name="connsiteX1-423" fmla="*/ 330837 w 830447"/>
                <a:gd name="connsiteY1-424" fmla="*/ 0 h 828714"/>
                <a:gd name="connsiteX2-425" fmla="*/ 830447 w 830447"/>
                <a:gd name="connsiteY2-426" fmla="*/ 12923 h 828714"/>
                <a:gd name="connsiteX3-427" fmla="*/ 264530 w 830447"/>
                <a:gd name="connsiteY3-428" fmla="*/ 821751 h 828714"/>
                <a:gd name="connsiteX4-429" fmla="*/ 56213 w 830447"/>
                <a:gd name="connsiteY4-430" fmla="*/ 828714 h 828714"/>
                <a:gd name="connsiteX0-431" fmla="*/ 64130 w 789139"/>
                <a:gd name="connsiteY0-432" fmla="*/ 794258 h 821751"/>
                <a:gd name="connsiteX1-433" fmla="*/ 289529 w 789139"/>
                <a:gd name="connsiteY1-434" fmla="*/ 0 h 821751"/>
                <a:gd name="connsiteX2-435" fmla="*/ 789139 w 789139"/>
                <a:gd name="connsiteY2-436" fmla="*/ 12923 h 821751"/>
                <a:gd name="connsiteX3-437" fmla="*/ 223222 w 789139"/>
                <a:gd name="connsiteY3-438" fmla="*/ 821751 h 821751"/>
                <a:gd name="connsiteX4-439" fmla="*/ 64130 w 789139"/>
                <a:gd name="connsiteY4-440" fmla="*/ 794258 h 821751"/>
                <a:gd name="connsiteX0-441" fmla="*/ 0 w 725009"/>
                <a:gd name="connsiteY0-442" fmla="*/ 794258 h 821751"/>
                <a:gd name="connsiteX1-443" fmla="*/ 225399 w 725009"/>
                <a:gd name="connsiteY1-444" fmla="*/ 0 h 821751"/>
                <a:gd name="connsiteX2-445" fmla="*/ 725009 w 725009"/>
                <a:gd name="connsiteY2-446" fmla="*/ 12923 h 821751"/>
                <a:gd name="connsiteX3-447" fmla="*/ 159092 w 725009"/>
                <a:gd name="connsiteY3-448" fmla="*/ 821751 h 821751"/>
                <a:gd name="connsiteX4-449" fmla="*/ 0 w 725009"/>
                <a:gd name="connsiteY4-450" fmla="*/ 794258 h 821751"/>
                <a:gd name="connsiteX0-451" fmla="*/ 0 w 725009"/>
                <a:gd name="connsiteY0-452" fmla="*/ 1203768 h 1231261"/>
                <a:gd name="connsiteX1-453" fmla="*/ 225399 w 725009"/>
                <a:gd name="connsiteY1-454" fmla="*/ 0 h 1231261"/>
                <a:gd name="connsiteX2-455" fmla="*/ 725009 w 725009"/>
                <a:gd name="connsiteY2-456" fmla="*/ 422433 h 1231261"/>
                <a:gd name="connsiteX3-457" fmla="*/ 159092 w 725009"/>
                <a:gd name="connsiteY3-458" fmla="*/ 1231261 h 1231261"/>
                <a:gd name="connsiteX4-459" fmla="*/ 0 w 725009"/>
                <a:gd name="connsiteY4-460" fmla="*/ 1203768 h 1231261"/>
                <a:gd name="connsiteX0-461" fmla="*/ 0 w 725009"/>
                <a:gd name="connsiteY0-462" fmla="*/ 1217334 h 1244827"/>
                <a:gd name="connsiteX1-463" fmla="*/ 225399 w 725009"/>
                <a:gd name="connsiteY1-464" fmla="*/ 13566 h 1244827"/>
                <a:gd name="connsiteX2-465" fmla="*/ 725009 w 725009"/>
                <a:gd name="connsiteY2-466" fmla="*/ 571 h 1244827"/>
                <a:gd name="connsiteX3-467" fmla="*/ 159092 w 725009"/>
                <a:gd name="connsiteY3-468" fmla="*/ 1244827 h 1244827"/>
                <a:gd name="connsiteX4-469" fmla="*/ 0 w 725009"/>
                <a:gd name="connsiteY4-470" fmla="*/ 1217334 h 1244827"/>
                <a:gd name="connsiteX0-471" fmla="*/ 0 w 725009"/>
                <a:gd name="connsiteY0-472" fmla="*/ 1217334 h 1244827"/>
                <a:gd name="connsiteX1-473" fmla="*/ 225399 w 725009"/>
                <a:gd name="connsiteY1-474" fmla="*/ 13566 h 1244827"/>
                <a:gd name="connsiteX2-475" fmla="*/ 725009 w 725009"/>
                <a:gd name="connsiteY2-476" fmla="*/ 571 h 1244827"/>
                <a:gd name="connsiteX3-477" fmla="*/ 159092 w 725009"/>
                <a:gd name="connsiteY3-478" fmla="*/ 1244827 h 1244827"/>
                <a:gd name="connsiteX4-479" fmla="*/ 0 w 725009"/>
                <a:gd name="connsiteY4-480" fmla="*/ 1217334 h 1244827"/>
                <a:gd name="connsiteX0-481" fmla="*/ 0 w 725009"/>
                <a:gd name="connsiteY0-482" fmla="*/ 1217334 h 1244827"/>
                <a:gd name="connsiteX1-483" fmla="*/ 225399 w 725009"/>
                <a:gd name="connsiteY1-484" fmla="*/ 13566 h 1244827"/>
                <a:gd name="connsiteX2-485" fmla="*/ 725009 w 725009"/>
                <a:gd name="connsiteY2-486" fmla="*/ 571 h 1244827"/>
                <a:gd name="connsiteX3-487" fmla="*/ 159092 w 725009"/>
                <a:gd name="connsiteY3-488" fmla="*/ 1244827 h 1244827"/>
                <a:gd name="connsiteX4-489" fmla="*/ 0 w 725009"/>
                <a:gd name="connsiteY4-490" fmla="*/ 1217334 h 1244827"/>
                <a:gd name="connsiteX0-491" fmla="*/ 0 w 725009"/>
                <a:gd name="connsiteY0-492" fmla="*/ 1217334 h 1244827"/>
                <a:gd name="connsiteX1-493" fmla="*/ 225399 w 725009"/>
                <a:gd name="connsiteY1-494" fmla="*/ 13566 h 1244827"/>
                <a:gd name="connsiteX2-495" fmla="*/ 725009 w 725009"/>
                <a:gd name="connsiteY2-496" fmla="*/ 571 h 1244827"/>
                <a:gd name="connsiteX3-497" fmla="*/ 159092 w 725009"/>
                <a:gd name="connsiteY3-498" fmla="*/ 1244827 h 1244827"/>
                <a:gd name="connsiteX4-499" fmla="*/ 0 w 725009"/>
                <a:gd name="connsiteY4-500" fmla="*/ 1217334 h 1244827"/>
                <a:gd name="connsiteX0-501" fmla="*/ 0 w 725009"/>
                <a:gd name="connsiteY0-502" fmla="*/ 1217334 h 1244827"/>
                <a:gd name="connsiteX1-503" fmla="*/ 225399 w 725009"/>
                <a:gd name="connsiteY1-504" fmla="*/ 13566 h 1244827"/>
                <a:gd name="connsiteX2-505" fmla="*/ 725009 w 725009"/>
                <a:gd name="connsiteY2-506" fmla="*/ 571 h 1244827"/>
                <a:gd name="connsiteX3-507" fmla="*/ 159092 w 725009"/>
                <a:gd name="connsiteY3-508" fmla="*/ 1244827 h 1244827"/>
                <a:gd name="connsiteX4-509" fmla="*/ 0 w 725009"/>
                <a:gd name="connsiteY4-510" fmla="*/ 1217334 h 1244827"/>
                <a:gd name="connsiteX0-511" fmla="*/ 0 w 725009"/>
                <a:gd name="connsiteY0-512" fmla="*/ 1217334 h 1244827"/>
                <a:gd name="connsiteX1-513" fmla="*/ 225399 w 725009"/>
                <a:gd name="connsiteY1-514" fmla="*/ 13566 h 1244827"/>
                <a:gd name="connsiteX2-515" fmla="*/ 725009 w 725009"/>
                <a:gd name="connsiteY2-516" fmla="*/ 571 h 1244827"/>
                <a:gd name="connsiteX3-517" fmla="*/ 159092 w 725009"/>
                <a:gd name="connsiteY3-518" fmla="*/ 1244827 h 1244827"/>
                <a:gd name="connsiteX4-519" fmla="*/ 0 w 725009"/>
                <a:gd name="connsiteY4-520" fmla="*/ 1217334 h 1244827"/>
                <a:gd name="connsiteX0-521" fmla="*/ 0 w 725009"/>
                <a:gd name="connsiteY0-522" fmla="*/ 1203768 h 1231261"/>
                <a:gd name="connsiteX1-523" fmla="*/ 225399 w 725009"/>
                <a:gd name="connsiteY1-524" fmla="*/ 0 h 1231261"/>
                <a:gd name="connsiteX2-525" fmla="*/ 725009 w 725009"/>
                <a:gd name="connsiteY2-526" fmla="*/ 129782 h 1231261"/>
                <a:gd name="connsiteX3-527" fmla="*/ 159092 w 725009"/>
                <a:gd name="connsiteY3-528" fmla="*/ 1231261 h 1231261"/>
                <a:gd name="connsiteX4-529" fmla="*/ 0 w 725009"/>
                <a:gd name="connsiteY4-530" fmla="*/ 1203768 h 1231261"/>
                <a:gd name="connsiteX0-531" fmla="*/ 0 w 725009"/>
                <a:gd name="connsiteY0-532" fmla="*/ 1203768 h 1231261"/>
                <a:gd name="connsiteX1-533" fmla="*/ 225399 w 725009"/>
                <a:gd name="connsiteY1-534" fmla="*/ 0 h 1231261"/>
                <a:gd name="connsiteX2-535" fmla="*/ 725009 w 725009"/>
                <a:gd name="connsiteY2-536" fmla="*/ 129782 h 1231261"/>
                <a:gd name="connsiteX3-537" fmla="*/ 159092 w 725009"/>
                <a:gd name="connsiteY3-538" fmla="*/ 1231261 h 1231261"/>
                <a:gd name="connsiteX4-539" fmla="*/ 0 w 725009"/>
                <a:gd name="connsiteY4-540" fmla="*/ 1203768 h 1231261"/>
                <a:gd name="connsiteX0-541" fmla="*/ 0 w 725009"/>
                <a:gd name="connsiteY0-542" fmla="*/ 1203768 h 1231261"/>
                <a:gd name="connsiteX1-543" fmla="*/ 225399 w 725009"/>
                <a:gd name="connsiteY1-544" fmla="*/ 0 h 1231261"/>
                <a:gd name="connsiteX2-545" fmla="*/ 725009 w 725009"/>
                <a:gd name="connsiteY2-546" fmla="*/ 129782 h 1231261"/>
                <a:gd name="connsiteX3-547" fmla="*/ 159092 w 725009"/>
                <a:gd name="connsiteY3-548" fmla="*/ 1231261 h 1231261"/>
                <a:gd name="connsiteX4-549" fmla="*/ 0 w 725009"/>
                <a:gd name="connsiteY4-550" fmla="*/ 1203768 h 1231261"/>
                <a:gd name="connsiteX0-551" fmla="*/ 0 w 725497"/>
                <a:gd name="connsiteY0-552" fmla="*/ 1279028 h 1306521"/>
                <a:gd name="connsiteX1-553" fmla="*/ 225399 w 725497"/>
                <a:gd name="connsiteY1-554" fmla="*/ 75260 h 1306521"/>
                <a:gd name="connsiteX2-555" fmla="*/ 396193 w 725497"/>
                <a:gd name="connsiteY2-556" fmla="*/ 156799 h 1306521"/>
                <a:gd name="connsiteX3-557" fmla="*/ 725009 w 725497"/>
                <a:gd name="connsiteY3-558" fmla="*/ 205042 h 1306521"/>
                <a:gd name="connsiteX4-559" fmla="*/ 159092 w 725497"/>
                <a:gd name="connsiteY4-560" fmla="*/ 1306521 h 1306521"/>
                <a:gd name="connsiteX5-561" fmla="*/ 0 w 725497"/>
                <a:gd name="connsiteY5-562" fmla="*/ 1279028 h 1306521"/>
                <a:gd name="connsiteX0-563" fmla="*/ 0 w 725239"/>
                <a:gd name="connsiteY0-564" fmla="*/ 1295668 h 1323161"/>
                <a:gd name="connsiteX1-565" fmla="*/ 225399 w 725239"/>
                <a:gd name="connsiteY1-566" fmla="*/ 91900 h 1323161"/>
                <a:gd name="connsiteX2-567" fmla="*/ 725009 w 725239"/>
                <a:gd name="connsiteY2-568" fmla="*/ 221682 h 1323161"/>
                <a:gd name="connsiteX3-569" fmla="*/ 159092 w 725239"/>
                <a:gd name="connsiteY3-570" fmla="*/ 1323161 h 1323161"/>
                <a:gd name="connsiteX4-571" fmla="*/ 0 w 725239"/>
                <a:gd name="connsiteY4-572" fmla="*/ 1295668 h 1323161"/>
                <a:gd name="connsiteX0-573" fmla="*/ 0 w 725221"/>
                <a:gd name="connsiteY0-574" fmla="*/ 1210552 h 1238045"/>
                <a:gd name="connsiteX1-575" fmla="*/ 191583 w 725221"/>
                <a:gd name="connsiteY1-576" fmla="*/ 153319 h 1238045"/>
                <a:gd name="connsiteX2-577" fmla="*/ 725009 w 725221"/>
                <a:gd name="connsiteY2-578" fmla="*/ 136566 h 1238045"/>
                <a:gd name="connsiteX3-579" fmla="*/ 159092 w 725221"/>
                <a:gd name="connsiteY3-580" fmla="*/ 1238045 h 1238045"/>
                <a:gd name="connsiteX4-581" fmla="*/ 0 w 725221"/>
                <a:gd name="connsiteY4-582" fmla="*/ 1210552 h 1238045"/>
                <a:gd name="connsiteX0-583" fmla="*/ 0 w 725305"/>
                <a:gd name="connsiteY0-584" fmla="*/ 1158512 h 1186005"/>
                <a:gd name="connsiteX1-585" fmla="*/ 191583 w 725305"/>
                <a:gd name="connsiteY1-586" fmla="*/ 101279 h 1186005"/>
                <a:gd name="connsiteX2-587" fmla="*/ 725009 w 725305"/>
                <a:gd name="connsiteY2-588" fmla="*/ 84526 h 1186005"/>
                <a:gd name="connsiteX3-589" fmla="*/ 159092 w 725305"/>
                <a:gd name="connsiteY3-590" fmla="*/ 1186005 h 1186005"/>
                <a:gd name="connsiteX4-591" fmla="*/ 0 w 725305"/>
                <a:gd name="connsiteY4-592" fmla="*/ 1158512 h 1186005"/>
                <a:gd name="connsiteX0-593" fmla="*/ 0 w 725009"/>
                <a:gd name="connsiteY0-594" fmla="*/ 1073986 h 1101479"/>
                <a:gd name="connsiteX1-595" fmla="*/ 191583 w 725009"/>
                <a:gd name="connsiteY1-596" fmla="*/ 16753 h 1101479"/>
                <a:gd name="connsiteX2-597" fmla="*/ 725009 w 725009"/>
                <a:gd name="connsiteY2-598" fmla="*/ 0 h 1101479"/>
                <a:gd name="connsiteX3-599" fmla="*/ 159092 w 725009"/>
                <a:gd name="connsiteY3-600" fmla="*/ 1101479 h 1101479"/>
                <a:gd name="connsiteX4-601" fmla="*/ 0 w 725009"/>
                <a:gd name="connsiteY4-602" fmla="*/ 1073986 h 1101479"/>
                <a:gd name="connsiteX0-603" fmla="*/ 0 w 725009"/>
                <a:gd name="connsiteY0-604" fmla="*/ 1073986 h 1101479"/>
                <a:gd name="connsiteX1-605" fmla="*/ 206612 w 725009"/>
                <a:gd name="connsiteY1-606" fmla="*/ 1724 h 1101479"/>
                <a:gd name="connsiteX2-607" fmla="*/ 725009 w 725009"/>
                <a:gd name="connsiteY2-608" fmla="*/ 0 h 1101479"/>
                <a:gd name="connsiteX3-609" fmla="*/ 159092 w 725009"/>
                <a:gd name="connsiteY3-610" fmla="*/ 1101479 h 1101479"/>
                <a:gd name="connsiteX4-611" fmla="*/ 0 w 725009"/>
                <a:gd name="connsiteY4-612" fmla="*/ 1073986 h 1101479"/>
                <a:gd name="connsiteX0-613" fmla="*/ 0 w 725009"/>
                <a:gd name="connsiteY0-614" fmla="*/ 1073986 h 1101479"/>
                <a:gd name="connsiteX1-615" fmla="*/ 206612 w 725009"/>
                <a:gd name="connsiteY1-616" fmla="*/ 1724 h 1101479"/>
                <a:gd name="connsiteX2-617" fmla="*/ 725009 w 725009"/>
                <a:gd name="connsiteY2-618" fmla="*/ 0 h 1101479"/>
                <a:gd name="connsiteX3-619" fmla="*/ 159092 w 725009"/>
                <a:gd name="connsiteY3-620" fmla="*/ 1101479 h 1101479"/>
                <a:gd name="connsiteX4-621" fmla="*/ 0 w 725009"/>
                <a:gd name="connsiteY4-622" fmla="*/ 1073986 h 1101479"/>
                <a:gd name="connsiteX0-623" fmla="*/ 0 w 725009"/>
                <a:gd name="connsiteY0-624" fmla="*/ 1073986 h 1101479"/>
                <a:gd name="connsiteX1-625" fmla="*/ 206612 w 725009"/>
                <a:gd name="connsiteY1-626" fmla="*/ 1724 h 1101479"/>
                <a:gd name="connsiteX2-627" fmla="*/ 725009 w 725009"/>
                <a:gd name="connsiteY2-628" fmla="*/ 0 h 1101479"/>
                <a:gd name="connsiteX3-629" fmla="*/ 159092 w 725009"/>
                <a:gd name="connsiteY3-630" fmla="*/ 1101479 h 1101479"/>
                <a:gd name="connsiteX4-631" fmla="*/ 0 w 725009"/>
                <a:gd name="connsiteY4-632" fmla="*/ 1073986 h 1101479"/>
                <a:gd name="connsiteX0-633" fmla="*/ 0 w 725009"/>
                <a:gd name="connsiteY0-634" fmla="*/ 1073986 h 1074607"/>
                <a:gd name="connsiteX1-635" fmla="*/ 206612 w 725009"/>
                <a:gd name="connsiteY1-636" fmla="*/ 1724 h 1074607"/>
                <a:gd name="connsiteX2-637" fmla="*/ 725009 w 725009"/>
                <a:gd name="connsiteY2-638" fmla="*/ 0 h 1074607"/>
                <a:gd name="connsiteX3-639" fmla="*/ 229048 w 725009"/>
                <a:gd name="connsiteY3-640" fmla="*/ 886531 h 1074607"/>
                <a:gd name="connsiteX4-641" fmla="*/ 0 w 725009"/>
                <a:gd name="connsiteY4-642" fmla="*/ 1073986 h 1074607"/>
                <a:gd name="connsiteX0-643" fmla="*/ 0 w 725009"/>
                <a:gd name="connsiteY0-644" fmla="*/ 1073986 h 1074607"/>
                <a:gd name="connsiteX1-645" fmla="*/ 206612 w 725009"/>
                <a:gd name="connsiteY1-646" fmla="*/ 1724 h 1074607"/>
                <a:gd name="connsiteX2-647" fmla="*/ 725009 w 725009"/>
                <a:gd name="connsiteY2-648" fmla="*/ 0 h 1074607"/>
                <a:gd name="connsiteX3-649" fmla="*/ 229048 w 725009"/>
                <a:gd name="connsiteY3-650" fmla="*/ 886531 h 1074607"/>
                <a:gd name="connsiteX4-651" fmla="*/ 0 w 725009"/>
                <a:gd name="connsiteY4-652" fmla="*/ 1073986 h 1074607"/>
                <a:gd name="connsiteX0-653" fmla="*/ 0 w 675040"/>
                <a:gd name="connsiteY0-654" fmla="*/ 894029 h 896577"/>
                <a:gd name="connsiteX1-655" fmla="*/ 156643 w 675040"/>
                <a:gd name="connsiteY1-656" fmla="*/ 1724 h 896577"/>
                <a:gd name="connsiteX2-657" fmla="*/ 675040 w 675040"/>
                <a:gd name="connsiteY2-658" fmla="*/ 0 h 896577"/>
                <a:gd name="connsiteX3-659" fmla="*/ 179079 w 675040"/>
                <a:gd name="connsiteY3-660" fmla="*/ 886531 h 896577"/>
                <a:gd name="connsiteX4-661" fmla="*/ 0 w 675040"/>
                <a:gd name="connsiteY4-662" fmla="*/ 894029 h 896577"/>
                <a:gd name="connsiteX0-663" fmla="*/ 0 w 675040"/>
                <a:gd name="connsiteY0-664" fmla="*/ 894029 h 896577"/>
                <a:gd name="connsiteX1-665" fmla="*/ 186623 w 675040"/>
                <a:gd name="connsiteY1-666" fmla="*/ 1724 h 896577"/>
                <a:gd name="connsiteX2-667" fmla="*/ 675040 w 675040"/>
                <a:gd name="connsiteY2-668" fmla="*/ 0 h 896577"/>
                <a:gd name="connsiteX3-669" fmla="*/ 179079 w 675040"/>
                <a:gd name="connsiteY3-670" fmla="*/ 886531 h 896577"/>
                <a:gd name="connsiteX4-671" fmla="*/ 0 w 675040"/>
                <a:gd name="connsiteY4-672" fmla="*/ 894029 h 89657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40854" y="5470471"/>
              <a:ext cx="514350" cy="40184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503138"/>
                <a:gd name="connsiteY0-372" fmla="*/ 961687 h 964568"/>
                <a:gd name="connsiteX1-373" fmla="*/ 0 w 503138"/>
                <a:gd name="connsiteY1-374" fmla="*/ 70 h 964568"/>
                <a:gd name="connsiteX2-375" fmla="*/ 503138 w 503138"/>
                <a:gd name="connsiteY2-376" fmla="*/ 154187 h 964568"/>
                <a:gd name="connsiteX3-377" fmla="*/ 273339 w 503138"/>
                <a:gd name="connsiteY3-378" fmla="*/ 964568 h 964568"/>
                <a:gd name="connsiteX4-379" fmla="*/ 197928 w 503138"/>
                <a:gd name="connsiteY4-380" fmla="*/ 961687 h 964568"/>
                <a:gd name="connsiteX0-381" fmla="*/ 201456 w 506666"/>
                <a:gd name="connsiteY0-382" fmla="*/ 807500 h 810381"/>
                <a:gd name="connsiteX1-383" fmla="*/ 0 w 506666"/>
                <a:gd name="connsiteY1-384" fmla="*/ 15216 h 810381"/>
                <a:gd name="connsiteX2-385" fmla="*/ 506666 w 506666"/>
                <a:gd name="connsiteY2-386" fmla="*/ 0 h 810381"/>
                <a:gd name="connsiteX3-387" fmla="*/ 276867 w 506666"/>
                <a:gd name="connsiteY3-388" fmla="*/ 810381 h 810381"/>
                <a:gd name="connsiteX4-389" fmla="*/ 201456 w 506666"/>
                <a:gd name="connsiteY4-390" fmla="*/ 807500 h 810381"/>
                <a:gd name="connsiteX0-391" fmla="*/ 201456 w 506666"/>
                <a:gd name="connsiteY0-392" fmla="*/ 807500 h 811593"/>
                <a:gd name="connsiteX1-393" fmla="*/ 0 w 506666"/>
                <a:gd name="connsiteY1-394" fmla="*/ 15216 h 811593"/>
                <a:gd name="connsiteX2-395" fmla="*/ 506666 w 506666"/>
                <a:gd name="connsiteY2-396" fmla="*/ 0 h 811593"/>
                <a:gd name="connsiteX3-397" fmla="*/ 276867 w 506666"/>
                <a:gd name="connsiteY3-398" fmla="*/ 810381 h 811593"/>
                <a:gd name="connsiteX4-399" fmla="*/ 201456 w 506666"/>
                <a:gd name="connsiteY4-400" fmla="*/ 807500 h 811593"/>
                <a:gd name="connsiteX0-401" fmla="*/ 135576 w 506666"/>
                <a:gd name="connsiteY0-402" fmla="*/ 818480 h 818480"/>
                <a:gd name="connsiteX1-403" fmla="*/ 0 w 506666"/>
                <a:gd name="connsiteY1-404" fmla="*/ 15216 h 818480"/>
                <a:gd name="connsiteX2-405" fmla="*/ 506666 w 506666"/>
                <a:gd name="connsiteY2-406" fmla="*/ 0 h 818480"/>
                <a:gd name="connsiteX3-407" fmla="*/ 276867 w 506666"/>
                <a:gd name="connsiteY3-408" fmla="*/ 810381 h 818480"/>
                <a:gd name="connsiteX4-409" fmla="*/ 135576 w 506666"/>
                <a:gd name="connsiteY4-410" fmla="*/ 818480 h 818480"/>
                <a:gd name="connsiteX0-411" fmla="*/ 135576 w 506666"/>
                <a:gd name="connsiteY0-412" fmla="*/ 818480 h 818480"/>
                <a:gd name="connsiteX1-413" fmla="*/ 0 w 506666"/>
                <a:gd name="connsiteY1-414" fmla="*/ 15216 h 818480"/>
                <a:gd name="connsiteX2-415" fmla="*/ 506666 w 506666"/>
                <a:gd name="connsiteY2-416" fmla="*/ 0 h 818480"/>
                <a:gd name="connsiteX3-417" fmla="*/ 331766 w 506666"/>
                <a:gd name="connsiteY3-418" fmla="*/ 803061 h 818480"/>
                <a:gd name="connsiteX4-419" fmla="*/ 135576 w 506666"/>
                <a:gd name="connsiteY4-420" fmla="*/ 818480 h 818480"/>
                <a:gd name="connsiteX0-421" fmla="*/ 135576 w 506666"/>
                <a:gd name="connsiteY0-422" fmla="*/ 818480 h 818480"/>
                <a:gd name="connsiteX1-423" fmla="*/ 0 w 506666"/>
                <a:gd name="connsiteY1-424" fmla="*/ 15216 h 818480"/>
                <a:gd name="connsiteX2-425" fmla="*/ 506666 w 506666"/>
                <a:gd name="connsiteY2-426" fmla="*/ 0 h 818480"/>
                <a:gd name="connsiteX3-427" fmla="*/ 331766 w 506666"/>
                <a:gd name="connsiteY3-428" fmla="*/ 803061 h 818480"/>
                <a:gd name="connsiteX4-429" fmla="*/ 135576 w 506666"/>
                <a:gd name="connsiteY4-430" fmla="*/ 818480 h 818480"/>
                <a:gd name="connsiteX0-431" fmla="*/ 135576 w 506666"/>
                <a:gd name="connsiteY0-432" fmla="*/ 818480 h 818480"/>
                <a:gd name="connsiteX1-433" fmla="*/ 0 w 506666"/>
                <a:gd name="connsiteY1-434" fmla="*/ 15216 h 818480"/>
                <a:gd name="connsiteX2-435" fmla="*/ 506666 w 506666"/>
                <a:gd name="connsiteY2-436" fmla="*/ 0 h 818480"/>
                <a:gd name="connsiteX3-437" fmla="*/ 331766 w 506666"/>
                <a:gd name="connsiteY3-438" fmla="*/ 803061 h 818480"/>
                <a:gd name="connsiteX4-439" fmla="*/ 135576 w 506666"/>
                <a:gd name="connsiteY4-440" fmla="*/ 818480 h 818480"/>
                <a:gd name="connsiteX0-441" fmla="*/ 135576 w 506666"/>
                <a:gd name="connsiteY0-442" fmla="*/ 818480 h 818480"/>
                <a:gd name="connsiteX1-443" fmla="*/ 0 w 506666"/>
                <a:gd name="connsiteY1-444" fmla="*/ 7896 h 818480"/>
                <a:gd name="connsiteX2-445" fmla="*/ 506666 w 506666"/>
                <a:gd name="connsiteY2-446" fmla="*/ 0 h 818480"/>
                <a:gd name="connsiteX3-447" fmla="*/ 331766 w 506666"/>
                <a:gd name="connsiteY3-448" fmla="*/ 803061 h 818480"/>
                <a:gd name="connsiteX4-449" fmla="*/ 135576 w 506666"/>
                <a:gd name="connsiteY4-450" fmla="*/ 818480 h 818480"/>
                <a:gd name="connsiteX0-451" fmla="*/ 135576 w 506666"/>
                <a:gd name="connsiteY0-452" fmla="*/ 818480 h 818480"/>
                <a:gd name="connsiteX1-453" fmla="*/ 0 w 506666"/>
                <a:gd name="connsiteY1-454" fmla="*/ 7896 h 818480"/>
                <a:gd name="connsiteX2-455" fmla="*/ 506666 w 506666"/>
                <a:gd name="connsiteY2-456" fmla="*/ 0 h 818480"/>
                <a:gd name="connsiteX3-457" fmla="*/ 331766 w 506666"/>
                <a:gd name="connsiteY3-458" fmla="*/ 803061 h 818480"/>
                <a:gd name="connsiteX4-459" fmla="*/ 135576 w 506666"/>
                <a:gd name="connsiteY4-460" fmla="*/ 818480 h 818480"/>
                <a:gd name="connsiteX0-461" fmla="*/ 45472 w 559302"/>
                <a:gd name="connsiteY0-462" fmla="*/ 807500 h 807500"/>
                <a:gd name="connsiteX1-463" fmla="*/ 52636 w 559302"/>
                <a:gd name="connsiteY1-464" fmla="*/ 7896 h 807500"/>
                <a:gd name="connsiteX2-465" fmla="*/ 559302 w 559302"/>
                <a:gd name="connsiteY2-466" fmla="*/ 0 h 807500"/>
                <a:gd name="connsiteX3-467" fmla="*/ 384402 w 559302"/>
                <a:gd name="connsiteY3-468" fmla="*/ 803061 h 807500"/>
                <a:gd name="connsiteX4-469" fmla="*/ 45472 w 559302"/>
                <a:gd name="connsiteY4-470" fmla="*/ 807500 h 807500"/>
                <a:gd name="connsiteX0-471" fmla="*/ 21974 w 535804"/>
                <a:gd name="connsiteY0-472" fmla="*/ 807500 h 807500"/>
                <a:gd name="connsiteX1-473" fmla="*/ 29138 w 535804"/>
                <a:gd name="connsiteY1-474" fmla="*/ 7896 h 807500"/>
                <a:gd name="connsiteX2-475" fmla="*/ 535804 w 535804"/>
                <a:gd name="connsiteY2-476" fmla="*/ 0 h 807500"/>
                <a:gd name="connsiteX3-477" fmla="*/ 360904 w 535804"/>
                <a:gd name="connsiteY3-478" fmla="*/ 803061 h 807500"/>
                <a:gd name="connsiteX4-479" fmla="*/ 21974 w 535804"/>
                <a:gd name="connsiteY4-480" fmla="*/ 807500 h 807500"/>
                <a:gd name="connsiteX0-481" fmla="*/ 128256 w 506666"/>
                <a:gd name="connsiteY0-482" fmla="*/ 829461 h 829461"/>
                <a:gd name="connsiteX1-483" fmla="*/ 0 w 506666"/>
                <a:gd name="connsiteY1-484" fmla="*/ 7896 h 829461"/>
                <a:gd name="connsiteX2-485" fmla="*/ 506666 w 506666"/>
                <a:gd name="connsiteY2-486" fmla="*/ 0 h 829461"/>
                <a:gd name="connsiteX3-487" fmla="*/ 331766 w 506666"/>
                <a:gd name="connsiteY3-488" fmla="*/ 803061 h 829461"/>
                <a:gd name="connsiteX4-489" fmla="*/ 128256 w 506666"/>
                <a:gd name="connsiteY4-490" fmla="*/ 829461 h 829461"/>
                <a:gd name="connsiteX0-491" fmla="*/ 128256 w 506666"/>
                <a:gd name="connsiteY0-492" fmla="*/ 829461 h 829461"/>
                <a:gd name="connsiteX1-493" fmla="*/ 0 w 506666"/>
                <a:gd name="connsiteY1-494" fmla="*/ 7896 h 829461"/>
                <a:gd name="connsiteX2-495" fmla="*/ 506666 w 506666"/>
                <a:gd name="connsiteY2-496" fmla="*/ 0 h 829461"/>
                <a:gd name="connsiteX3-497" fmla="*/ 331766 w 506666"/>
                <a:gd name="connsiteY3-498" fmla="*/ 803061 h 829461"/>
                <a:gd name="connsiteX4-499" fmla="*/ 128256 w 506666"/>
                <a:gd name="connsiteY4-500" fmla="*/ 829461 h 829461"/>
                <a:gd name="connsiteX0-501" fmla="*/ 128256 w 506666"/>
                <a:gd name="connsiteY0-502" fmla="*/ 829461 h 829461"/>
                <a:gd name="connsiteX1-503" fmla="*/ 0 w 506666"/>
                <a:gd name="connsiteY1-504" fmla="*/ 7896 h 829461"/>
                <a:gd name="connsiteX2-505" fmla="*/ 506666 w 506666"/>
                <a:gd name="connsiteY2-506" fmla="*/ 0 h 829461"/>
                <a:gd name="connsiteX3-507" fmla="*/ 331766 w 506666"/>
                <a:gd name="connsiteY3-508" fmla="*/ 803061 h 829461"/>
                <a:gd name="connsiteX4-509" fmla="*/ 128256 w 506666"/>
                <a:gd name="connsiteY4-510" fmla="*/ 829461 h 829461"/>
                <a:gd name="connsiteX0-511" fmla="*/ 128256 w 506666"/>
                <a:gd name="connsiteY0-512" fmla="*/ 829461 h 830473"/>
                <a:gd name="connsiteX1-513" fmla="*/ 0 w 506666"/>
                <a:gd name="connsiteY1-514" fmla="*/ 7896 h 830473"/>
                <a:gd name="connsiteX2-515" fmla="*/ 506666 w 506666"/>
                <a:gd name="connsiteY2-516" fmla="*/ 0 h 830473"/>
                <a:gd name="connsiteX3-517" fmla="*/ 331766 w 506666"/>
                <a:gd name="connsiteY3-518" fmla="*/ 828681 h 830473"/>
                <a:gd name="connsiteX4-519" fmla="*/ 128256 w 506666"/>
                <a:gd name="connsiteY4-520" fmla="*/ 829461 h 830473"/>
                <a:gd name="connsiteX0-521" fmla="*/ 128256 w 506666"/>
                <a:gd name="connsiteY0-522" fmla="*/ 829461 h 830473"/>
                <a:gd name="connsiteX1-523" fmla="*/ 0 w 506666"/>
                <a:gd name="connsiteY1-524" fmla="*/ 7896 h 830473"/>
                <a:gd name="connsiteX2-525" fmla="*/ 506666 w 506666"/>
                <a:gd name="connsiteY2-526" fmla="*/ 0 h 830473"/>
                <a:gd name="connsiteX3-527" fmla="*/ 331766 w 506666"/>
                <a:gd name="connsiteY3-528" fmla="*/ 828681 h 830473"/>
                <a:gd name="connsiteX4-529" fmla="*/ 128256 w 506666"/>
                <a:gd name="connsiteY4-530" fmla="*/ 829461 h 830473"/>
                <a:gd name="connsiteX0-531" fmla="*/ 128256 w 506666"/>
                <a:gd name="connsiteY0-532" fmla="*/ 821565 h 822577"/>
                <a:gd name="connsiteX1-533" fmla="*/ 0 w 506666"/>
                <a:gd name="connsiteY1-534" fmla="*/ 0 h 822577"/>
                <a:gd name="connsiteX2-535" fmla="*/ 506666 w 506666"/>
                <a:gd name="connsiteY2-536" fmla="*/ 255115 h 822577"/>
                <a:gd name="connsiteX3-537" fmla="*/ 331766 w 506666"/>
                <a:gd name="connsiteY3-538" fmla="*/ 820785 h 822577"/>
                <a:gd name="connsiteX4-539" fmla="*/ 128256 w 506666"/>
                <a:gd name="connsiteY4-540" fmla="*/ 821565 h 822577"/>
                <a:gd name="connsiteX0-541" fmla="*/ 128256 w 506666"/>
                <a:gd name="connsiteY0-542" fmla="*/ 821565 h 822577"/>
                <a:gd name="connsiteX1-543" fmla="*/ 0 w 506666"/>
                <a:gd name="connsiteY1-544" fmla="*/ 0 h 822577"/>
                <a:gd name="connsiteX2-545" fmla="*/ 506666 w 506666"/>
                <a:gd name="connsiteY2-546" fmla="*/ 255115 h 822577"/>
                <a:gd name="connsiteX3-547" fmla="*/ 331766 w 506666"/>
                <a:gd name="connsiteY3-548" fmla="*/ 820785 h 822577"/>
                <a:gd name="connsiteX4-549" fmla="*/ 128256 w 506666"/>
                <a:gd name="connsiteY4-550" fmla="*/ 821565 h 822577"/>
                <a:gd name="connsiteX0-551" fmla="*/ 128256 w 506666"/>
                <a:gd name="connsiteY0-552" fmla="*/ 821565 h 822577"/>
                <a:gd name="connsiteX1-553" fmla="*/ 0 w 506666"/>
                <a:gd name="connsiteY1-554" fmla="*/ 0 h 822577"/>
                <a:gd name="connsiteX2-555" fmla="*/ 506666 w 506666"/>
                <a:gd name="connsiteY2-556" fmla="*/ 255115 h 822577"/>
                <a:gd name="connsiteX3-557" fmla="*/ 331766 w 506666"/>
                <a:gd name="connsiteY3-558" fmla="*/ 820785 h 822577"/>
                <a:gd name="connsiteX4-559" fmla="*/ 128256 w 506666"/>
                <a:gd name="connsiteY4-560" fmla="*/ 821565 h 822577"/>
                <a:gd name="connsiteX0-561" fmla="*/ 135770 w 514180"/>
                <a:gd name="connsiteY0-562" fmla="*/ 577341 h 578353"/>
                <a:gd name="connsiteX1-563" fmla="*/ 0 w 514180"/>
                <a:gd name="connsiteY1-564" fmla="*/ 0 h 578353"/>
                <a:gd name="connsiteX2-565" fmla="*/ 514180 w 514180"/>
                <a:gd name="connsiteY2-566" fmla="*/ 10891 h 578353"/>
                <a:gd name="connsiteX3-567" fmla="*/ 339280 w 514180"/>
                <a:gd name="connsiteY3-568" fmla="*/ 576561 h 578353"/>
                <a:gd name="connsiteX4-569" fmla="*/ 135770 w 514180"/>
                <a:gd name="connsiteY4-570" fmla="*/ 577341 h 578353"/>
                <a:gd name="connsiteX0-571" fmla="*/ 135770 w 514180"/>
                <a:gd name="connsiteY0-572" fmla="*/ 577341 h 578353"/>
                <a:gd name="connsiteX1-573" fmla="*/ 0 w 514180"/>
                <a:gd name="connsiteY1-574" fmla="*/ 0 h 578353"/>
                <a:gd name="connsiteX2-575" fmla="*/ 514180 w 514180"/>
                <a:gd name="connsiteY2-576" fmla="*/ 10891 h 578353"/>
                <a:gd name="connsiteX3-577" fmla="*/ 339280 w 514180"/>
                <a:gd name="connsiteY3-578" fmla="*/ 576561 h 578353"/>
                <a:gd name="connsiteX4-579" fmla="*/ 135770 w 514180"/>
                <a:gd name="connsiteY4-580" fmla="*/ 577341 h 578353"/>
                <a:gd name="connsiteX0-581" fmla="*/ 135770 w 514180"/>
                <a:gd name="connsiteY0-582" fmla="*/ 577341 h 578353"/>
                <a:gd name="connsiteX1-583" fmla="*/ 0 w 514180"/>
                <a:gd name="connsiteY1-584" fmla="*/ 0 h 578353"/>
                <a:gd name="connsiteX2-585" fmla="*/ 514180 w 514180"/>
                <a:gd name="connsiteY2-586" fmla="*/ 10891 h 578353"/>
                <a:gd name="connsiteX3-587" fmla="*/ 339280 w 514180"/>
                <a:gd name="connsiteY3-588" fmla="*/ 576561 h 578353"/>
                <a:gd name="connsiteX4-589" fmla="*/ 135770 w 514180"/>
                <a:gd name="connsiteY4-590" fmla="*/ 577341 h 578353"/>
                <a:gd name="connsiteX0-591" fmla="*/ 135770 w 514180"/>
                <a:gd name="connsiteY0-592" fmla="*/ 577341 h 577341"/>
                <a:gd name="connsiteX1-593" fmla="*/ 0 w 514180"/>
                <a:gd name="connsiteY1-594" fmla="*/ 0 h 577341"/>
                <a:gd name="connsiteX2-595" fmla="*/ 514180 w 514180"/>
                <a:gd name="connsiteY2-596" fmla="*/ 10891 h 577341"/>
                <a:gd name="connsiteX3-597" fmla="*/ 404259 w 514180"/>
                <a:gd name="connsiteY3-598" fmla="*/ 386400 h 577341"/>
                <a:gd name="connsiteX4-599" fmla="*/ 135770 w 514180"/>
                <a:gd name="connsiteY4-600" fmla="*/ 577341 h 577341"/>
                <a:gd name="connsiteX0-601" fmla="*/ 100781 w 514180"/>
                <a:gd name="connsiteY0-602" fmla="*/ 432218 h 432218"/>
                <a:gd name="connsiteX1-603" fmla="*/ 0 w 514180"/>
                <a:gd name="connsiteY1-604" fmla="*/ 0 h 432218"/>
                <a:gd name="connsiteX2-605" fmla="*/ 514180 w 514180"/>
                <a:gd name="connsiteY2-606" fmla="*/ 10891 h 432218"/>
                <a:gd name="connsiteX3-607" fmla="*/ 404259 w 514180"/>
                <a:gd name="connsiteY3-608" fmla="*/ 386400 h 432218"/>
                <a:gd name="connsiteX4-609" fmla="*/ 100781 w 514180"/>
                <a:gd name="connsiteY4-610" fmla="*/ 432218 h 432218"/>
                <a:gd name="connsiteX0-611" fmla="*/ 100781 w 514180"/>
                <a:gd name="connsiteY0-612" fmla="*/ 432218 h 432218"/>
                <a:gd name="connsiteX1-613" fmla="*/ 0 w 514180"/>
                <a:gd name="connsiteY1-614" fmla="*/ 0 h 432218"/>
                <a:gd name="connsiteX2-615" fmla="*/ 514180 w 514180"/>
                <a:gd name="connsiteY2-616" fmla="*/ 10891 h 432218"/>
                <a:gd name="connsiteX3-617" fmla="*/ 404259 w 514180"/>
                <a:gd name="connsiteY3-618" fmla="*/ 386400 h 432218"/>
                <a:gd name="connsiteX4-619" fmla="*/ 100781 w 514180"/>
                <a:gd name="connsiteY4-620" fmla="*/ 432218 h 432218"/>
                <a:gd name="connsiteX0-621" fmla="*/ 100781 w 514180"/>
                <a:gd name="connsiteY0-622" fmla="*/ 402193 h 402193"/>
                <a:gd name="connsiteX1-623" fmla="*/ 0 w 514180"/>
                <a:gd name="connsiteY1-624" fmla="*/ 0 h 402193"/>
                <a:gd name="connsiteX2-625" fmla="*/ 514180 w 514180"/>
                <a:gd name="connsiteY2-626" fmla="*/ 10891 h 402193"/>
                <a:gd name="connsiteX3-627" fmla="*/ 404259 w 514180"/>
                <a:gd name="connsiteY3-628" fmla="*/ 386400 h 402193"/>
                <a:gd name="connsiteX4-629" fmla="*/ 100781 w 514180"/>
                <a:gd name="connsiteY4-630" fmla="*/ 402193 h 40219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61391" y="5433960"/>
              <a:ext cx="573725" cy="1015589"/>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621064"/>
                <a:gd name="connsiteY0-372" fmla="*/ 973305 h 973305"/>
                <a:gd name="connsiteX1-373" fmla="*/ 0 w 621064"/>
                <a:gd name="connsiteY1-374" fmla="*/ 11688 h 973305"/>
                <a:gd name="connsiteX2-375" fmla="*/ 499610 w 621064"/>
                <a:gd name="connsiteY2-376" fmla="*/ 0 h 973305"/>
                <a:gd name="connsiteX3-377" fmla="*/ 558839 w 621064"/>
                <a:gd name="connsiteY3-378" fmla="*/ 754682 h 973305"/>
                <a:gd name="connsiteX4-379" fmla="*/ 197928 w 621064"/>
                <a:gd name="connsiteY4-380" fmla="*/ 973305 h 973305"/>
                <a:gd name="connsiteX0-381" fmla="*/ 197928 w 558839"/>
                <a:gd name="connsiteY0-382" fmla="*/ 973305 h 973305"/>
                <a:gd name="connsiteX1-383" fmla="*/ 0 w 558839"/>
                <a:gd name="connsiteY1-384" fmla="*/ 11688 h 973305"/>
                <a:gd name="connsiteX2-385" fmla="*/ 499610 w 558839"/>
                <a:gd name="connsiteY2-386" fmla="*/ 0 h 973305"/>
                <a:gd name="connsiteX3-387" fmla="*/ 558839 w 558839"/>
                <a:gd name="connsiteY3-388" fmla="*/ 754682 h 973305"/>
                <a:gd name="connsiteX4-389" fmla="*/ 197928 w 558839"/>
                <a:gd name="connsiteY4-390" fmla="*/ 973305 h 973305"/>
                <a:gd name="connsiteX0-391" fmla="*/ 197928 w 558839"/>
                <a:gd name="connsiteY0-392" fmla="*/ 973305 h 973305"/>
                <a:gd name="connsiteX1-393" fmla="*/ 0 w 558839"/>
                <a:gd name="connsiteY1-394" fmla="*/ 11688 h 973305"/>
                <a:gd name="connsiteX2-395" fmla="*/ 499610 w 558839"/>
                <a:gd name="connsiteY2-396" fmla="*/ 0 h 973305"/>
                <a:gd name="connsiteX3-397" fmla="*/ 558839 w 558839"/>
                <a:gd name="connsiteY3-398" fmla="*/ 754682 h 973305"/>
                <a:gd name="connsiteX4-399" fmla="*/ 197928 w 558839"/>
                <a:gd name="connsiteY4-400" fmla="*/ 973305 h 973305"/>
                <a:gd name="connsiteX0-401" fmla="*/ 370213 w 558839"/>
                <a:gd name="connsiteY0-402" fmla="*/ 796102 h 796102"/>
                <a:gd name="connsiteX1-403" fmla="*/ 0 w 558839"/>
                <a:gd name="connsiteY1-404" fmla="*/ 11688 h 796102"/>
                <a:gd name="connsiteX2-405" fmla="*/ 499610 w 558839"/>
                <a:gd name="connsiteY2-406" fmla="*/ 0 h 796102"/>
                <a:gd name="connsiteX3-407" fmla="*/ 558839 w 558839"/>
                <a:gd name="connsiteY3-408" fmla="*/ 754682 h 796102"/>
                <a:gd name="connsiteX4-409" fmla="*/ 370213 w 558839"/>
                <a:gd name="connsiteY4-410" fmla="*/ 796102 h 796102"/>
                <a:gd name="connsiteX0-411" fmla="*/ 370213 w 558839"/>
                <a:gd name="connsiteY0-412" fmla="*/ 796102 h 796102"/>
                <a:gd name="connsiteX1-413" fmla="*/ 0 w 558839"/>
                <a:gd name="connsiteY1-414" fmla="*/ 11688 h 796102"/>
                <a:gd name="connsiteX2-415" fmla="*/ 499610 w 558839"/>
                <a:gd name="connsiteY2-416" fmla="*/ 0 h 796102"/>
                <a:gd name="connsiteX3-417" fmla="*/ 558839 w 558839"/>
                <a:gd name="connsiteY3-418" fmla="*/ 754682 h 796102"/>
                <a:gd name="connsiteX4-419" fmla="*/ 370213 w 558839"/>
                <a:gd name="connsiteY4-420" fmla="*/ 796102 h 796102"/>
                <a:gd name="connsiteX0-421" fmla="*/ 370213 w 558839"/>
                <a:gd name="connsiteY0-422" fmla="*/ 796102 h 796102"/>
                <a:gd name="connsiteX1-423" fmla="*/ 0 w 558839"/>
                <a:gd name="connsiteY1-424" fmla="*/ 11688 h 796102"/>
                <a:gd name="connsiteX2-425" fmla="*/ 499610 w 558839"/>
                <a:gd name="connsiteY2-426" fmla="*/ 0 h 796102"/>
                <a:gd name="connsiteX3-427" fmla="*/ 558839 w 558839"/>
                <a:gd name="connsiteY3-428" fmla="*/ 754682 h 796102"/>
                <a:gd name="connsiteX4-429" fmla="*/ 370213 w 558839"/>
                <a:gd name="connsiteY4-430" fmla="*/ 796102 h 796102"/>
                <a:gd name="connsiteX0-431" fmla="*/ 370213 w 558839"/>
                <a:gd name="connsiteY0-432" fmla="*/ 1315828 h 1315828"/>
                <a:gd name="connsiteX1-433" fmla="*/ 0 w 558839"/>
                <a:gd name="connsiteY1-434" fmla="*/ 531414 h 1315828"/>
                <a:gd name="connsiteX2-435" fmla="*/ 506930 w 558839"/>
                <a:gd name="connsiteY2-436" fmla="*/ 0 h 1315828"/>
                <a:gd name="connsiteX3-437" fmla="*/ 558839 w 558839"/>
                <a:gd name="connsiteY3-438" fmla="*/ 1274408 h 1315828"/>
                <a:gd name="connsiteX4-439" fmla="*/ 370213 w 558839"/>
                <a:gd name="connsiteY4-440" fmla="*/ 1315828 h 1315828"/>
                <a:gd name="connsiteX0-441" fmla="*/ 384853 w 573479"/>
                <a:gd name="connsiteY0-442" fmla="*/ 1326654 h 1326654"/>
                <a:gd name="connsiteX1-443" fmla="*/ 0 w 573479"/>
                <a:gd name="connsiteY1-444" fmla="*/ 554 h 1326654"/>
                <a:gd name="connsiteX2-445" fmla="*/ 521570 w 573479"/>
                <a:gd name="connsiteY2-446" fmla="*/ 10826 h 1326654"/>
                <a:gd name="connsiteX3-447" fmla="*/ 573479 w 573479"/>
                <a:gd name="connsiteY3-448" fmla="*/ 1285234 h 1326654"/>
                <a:gd name="connsiteX4-449" fmla="*/ 384853 w 573479"/>
                <a:gd name="connsiteY4-450" fmla="*/ 1326654 h 1326654"/>
                <a:gd name="connsiteX0-451" fmla="*/ 384853 w 573479"/>
                <a:gd name="connsiteY0-452" fmla="*/ 1326654 h 1326654"/>
                <a:gd name="connsiteX1-453" fmla="*/ 0 w 573479"/>
                <a:gd name="connsiteY1-454" fmla="*/ 554 h 1326654"/>
                <a:gd name="connsiteX2-455" fmla="*/ 521570 w 573479"/>
                <a:gd name="connsiteY2-456" fmla="*/ 10826 h 1326654"/>
                <a:gd name="connsiteX3-457" fmla="*/ 573479 w 573479"/>
                <a:gd name="connsiteY3-458" fmla="*/ 1285234 h 1326654"/>
                <a:gd name="connsiteX4-459" fmla="*/ 384853 w 573479"/>
                <a:gd name="connsiteY4-460" fmla="*/ 1326654 h 1326654"/>
                <a:gd name="connsiteX0-461" fmla="*/ 384853 w 573479"/>
                <a:gd name="connsiteY0-462" fmla="*/ 1326654 h 1326654"/>
                <a:gd name="connsiteX1-463" fmla="*/ 0 w 573479"/>
                <a:gd name="connsiteY1-464" fmla="*/ 554 h 1326654"/>
                <a:gd name="connsiteX2-465" fmla="*/ 521570 w 573479"/>
                <a:gd name="connsiteY2-466" fmla="*/ 10826 h 1326654"/>
                <a:gd name="connsiteX3-467" fmla="*/ 573479 w 573479"/>
                <a:gd name="connsiteY3-468" fmla="*/ 1285234 h 1326654"/>
                <a:gd name="connsiteX4-469" fmla="*/ 384853 w 573479"/>
                <a:gd name="connsiteY4-470" fmla="*/ 1326654 h 1326654"/>
                <a:gd name="connsiteX0-471" fmla="*/ 384853 w 573479"/>
                <a:gd name="connsiteY0-472" fmla="*/ 1326654 h 1326654"/>
                <a:gd name="connsiteX1-473" fmla="*/ 0 w 573479"/>
                <a:gd name="connsiteY1-474" fmla="*/ 554 h 1326654"/>
                <a:gd name="connsiteX2-475" fmla="*/ 521570 w 573479"/>
                <a:gd name="connsiteY2-476" fmla="*/ 10826 h 1326654"/>
                <a:gd name="connsiteX3-477" fmla="*/ 573479 w 573479"/>
                <a:gd name="connsiteY3-478" fmla="*/ 1285234 h 1326654"/>
                <a:gd name="connsiteX4-479" fmla="*/ 384853 w 573479"/>
                <a:gd name="connsiteY4-480" fmla="*/ 1326654 h 1326654"/>
                <a:gd name="connsiteX0-481" fmla="*/ 384853 w 573479"/>
                <a:gd name="connsiteY0-482" fmla="*/ 1326654 h 1326654"/>
                <a:gd name="connsiteX1-483" fmla="*/ 0 w 573479"/>
                <a:gd name="connsiteY1-484" fmla="*/ 554 h 1326654"/>
                <a:gd name="connsiteX2-485" fmla="*/ 521570 w 573479"/>
                <a:gd name="connsiteY2-486" fmla="*/ 10826 h 1326654"/>
                <a:gd name="connsiteX3-487" fmla="*/ 573479 w 573479"/>
                <a:gd name="connsiteY3-488" fmla="*/ 1285234 h 1326654"/>
                <a:gd name="connsiteX4-489" fmla="*/ 384853 w 573479"/>
                <a:gd name="connsiteY4-490" fmla="*/ 1326654 h 1326654"/>
                <a:gd name="connsiteX0-491" fmla="*/ 384853 w 573479"/>
                <a:gd name="connsiteY0-492" fmla="*/ 1326654 h 1326654"/>
                <a:gd name="connsiteX1-493" fmla="*/ 0 w 573479"/>
                <a:gd name="connsiteY1-494" fmla="*/ 554 h 1326654"/>
                <a:gd name="connsiteX2-495" fmla="*/ 521570 w 573479"/>
                <a:gd name="connsiteY2-496" fmla="*/ 10826 h 1326654"/>
                <a:gd name="connsiteX3-497" fmla="*/ 573479 w 573479"/>
                <a:gd name="connsiteY3-498" fmla="*/ 1285234 h 1326654"/>
                <a:gd name="connsiteX4-499" fmla="*/ 384853 w 573479"/>
                <a:gd name="connsiteY4-500" fmla="*/ 1326654 h 1326654"/>
                <a:gd name="connsiteX0-501" fmla="*/ 384853 w 588119"/>
                <a:gd name="connsiteY0-502" fmla="*/ 1326654 h 1326654"/>
                <a:gd name="connsiteX1-503" fmla="*/ 0 w 588119"/>
                <a:gd name="connsiteY1-504" fmla="*/ 554 h 1326654"/>
                <a:gd name="connsiteX2-505" fmla="*/ 521570 w 588119"/>
                <a:gd name="connsiteY2-506" fmla="*/ 10826 h 1326654"/>
                <a:gd name="connsiteX3-507" fmla="*/ 588119 w 588119"/>
                <a:gd name="connsiteY3-508" fmla="*/ 1321835 h 1326654"/>
                <a:gd name="connsiteX4-509" fmla="*/ 384853 w 588119"/>
                <a:gd name="connsiteY4-510" fmla="*/ 1326654 h 1326654"/>
                <a:gd name="connsiteX0-511" fmla="*/ 384853 w 588119"/>
                <a:gd name="connsiteY0-512" fmla="*/ 1326654 h 1326654"/>
                <a:gd name="connsiteX1-513" fmla="*/ 0 w 588119"/>
                <a:gd name="connsiteY1-514" fmla="*/ 554 h 1326654"/>
                <a:gd name="connsiteX2-515" fmla="*/ 521570 w 588119"/>
                <a:gd name="connsiteY2-516" fmla="*/ 10826 h 1326654"/>
                <a:gd name="connsiteX3-517" fmla="*/ 588119 w 588119"/>
                <a:gd name="connsiteY3-518" fmla="*/ 1321835 h 1326654"/>
                <a:gd name="connsiteX4-519" fmla="*/ 384853 w 588119"/>
                <a:gd name="connsiteY4-520" fmla="*/ 1326654 h 1326654"/>
                <a:gd name="connsiteX0-521" fmla="*/ 384853 w 588119"/>
                <a:gd name="connsiteY0-522" fmla="*/ 1326148 h 1326148"/>
                <a:gd name="connsiteX1-523" fmla="*/ 0 w 588119"/>
                <a:gd name="connsiteY1-524" fmla="*/ 48 h 1326148"/>
                <a:gd name="connsiteX2-525" fmla="*/ 521570 w 588119"/>
                <a:gd name="connsiteY2-526" fmla="*/ 228243 h 1326148"/>
                <a:gd name="connsiteX3-527" fmla="*/ 588119 w 588119"/>
                <a:gd name="connsiteY3-528" fmla="*/ 1321329 h 1326148"/>
                <a:gd name="connsiteX4-529" fmla="*/ 384853 w 588119"/>
                <a:gd name="connsiteY4-530" fmla="*/ 1326148 h 1326148"/>
                <a:gd name="connsiteX0-531" fmla="*/ 384853 w 588119"/>
                <a:gd name="connsiteY0-532" fmla="*/ 1326148 h 1326148"/>
                <a:gd name="connsiteX1-533" fmla="*/ 0 w 588119"/>
                <a:gd name="connsiteY1-534" fmla="*/ 48 h 1326148"/>
                <a:gd name="connsiteX2-535" fmla="*/ 521570 w 588119"/>
                <a:gd name="connsiteY2-536" fmla="*/ 228243 h 1326148"/>
                <a:gd name="connsiteX3-537" fmla="*/ 588119 w 588119"/>
                <a:gd name="connsiteY3-538" fmla="*/ 1321329 h 1326148"/>
                <a:gd name="connsiteX4-539" fmla="*/ 384853 w 588119"/>
                <a:gd name="connsiteY4-540" fmla="*/ 1326148 h 1326148"/>
                <a:gd name="connsiteX0-541" fmla="*/ 384853 w 588119"/>
                <a:gd name="connsiteY0-542" fmla="*/ 1326148 h 1326148"/>
                <a:gd name="connsiteX1-543" fmla="*/ 0 w 588119"/>
                <a:gd name="connsiteY1-544" fmla="*/ 48 h 1326148"/>
                <a:gd name="connsiteX2-545" fmla="*/ 521570 w 588119"/>
                <a:gd name="connsiteY2-546" fmla="*/ 228243 h 1326148"/>
                <a:gd name="connsiteX3-547" fmla="*/ 588119 w 588119"/>
                <a:gd name="connsiteY3-548" fmla="*/ 1321329 h 1326148"/>
                <a:gd name="connsiteX4-549" fmla="*/ 384853 w 588119"/>
                <a:gd name="connsiteY4-550" fmla="*/ 1326148 h 1326148"/>
                <a:gd name="connsiteX0-551" fmla="*/ 366066 w 569332"/>
                <a:gd name="connsiteY0-552" fmla="*/ 1097905 h 1097905"/>
                <a:gd name="connsiteX1-553" fmla="*/ 0 w 569332"/>
                <a:gd name="connsiteY1-554" fmla="*/ 4757 h 1097905"/>
                <a:gd name="connsiteX2-555" fmla="*/ 502783 w 569332"/>
                <a:gd name="connsiteY2-556" fmla="*/ 0 h 1097905"/>
                <a:gd name="connsiteX3-557" fmla="*/ 569332 w 569332"/>
                <a:gd name="connsiteY3-558" fmla="*/ 1093086 h 1097905"/>
                <a:gd name="connsiteX4-559" fmla="*/ 366066 w 569332"/>
                <a:gd name="connsiteY4-560" fmla="*/ 1097905 h 1097905"/>
                <a:gd name="connsiteX0-561" fmla="*/ 366066 w 569332"/>
                <a:gd name="connsiteY0-562" fmla="*/ 1097905 h 1097905"/>
                <a:gd name="connsiteX1-563" fmla="*/ 0 w 569332"/>
                <a:gd name="connsiteY1-564" fmla="*/ 4757 h 1097905"/>
                <a:gd name="connsiteX2-565" fmla="*/ 502783 w 569332"/>
                <a:gd name="connsiteY2-566" fmla="*/ 0 h 1097905"/>
                <a:gd name="connsiteX3-567" fmla="*/ 569332 w 569332"/>
                <a:gd name="connsiteY3-568" fmla="*/ 1093086 h 1097905"/>
                <a:gd name="connsiteX4-569" fmla="*/ 366066 w 569332"/>
                <a:gd name="connsiteY4-570" fmla="*/ 1097905 h 1097905"/>
                <a:gd name="connsiteX0-571" fmla="*/ 366066 w 569332"/>
                <a:gd name="connsiteY0-572" fmla="*/ 1097905 h 1097905"/>
                <a:gd name="connsiteX1-573" fmla="*/ 0 w 569332"/>
                <a:gd name="connsiteY1-574" fmla="*/ 4757 h 1097905"/>
                <a:gd name="connsiteX2-575" fmla="*/ 502783 w 569332"/>
                <a:gd name="connsiteY2-576" fmla="*/ 0 h 1097905"/>
                <a:gd name="connsiteX3-577" fmla="*/ 569332 w 569332"/>
                <a:gd name="connsiteY3-578" fmla="*/ 1093086 h 1097905"/>
                <a:gd name="connsiteX4-579" fmla="*/ 366066 w 569332"/>
                <a:gd name="connsiteY4-580" fmla="*/ 1097905 h 1097905"/>
                <a:gd name="connsiteX0-581" fmla="*/ 366066 w 594113"/>
                <a:gd name="connsiteY0-582" fmla="*/ 1097905 h 1179971"/>
                <a:gd name="connsiteX1-583" fmla="*/ 0 w 594113"/>
                <a:gd name="connsiteY1-584" fmla="*/ 4757 h 1179971"/>
                <a:gd name="connsiteX2-585" fmla="*/ 502783 w 594113"/>
                <a:gd name="connsiteY2-586" fmla="*/ 0 h 1179971"/>
                <a:gd name="connsiteX3-587" fmla="*/ 594113 w 594113"/>
                <a:gd name="connsiteY3-588" fmla="*/ 1179818 h 1179971"/>
                <a:gd name="connsiteX4-589" fmla="*/ 366066 w 594113"/>
                <a:gd name="connsiteY4-590" fmla="*/ 1097905 h 1179971"/>
                <a:gd name="connsiteX0-591" fmla="*/ 403236 w 594113"/>
                <a:gd name="connsiteY0-592" fmla="*/ 1215612 h 1215612"/>
                <a:gd name="connsiteX1-593" fmla="*/ 0 w 594113"/>
                <a:gd name="connsiteY1-594" fmla="*/ 4757 h 1215612"/>
                <a:gd name="connsiteX2-595" fmla="*/ 502783 w 594113"/>
                <a:gd name="connsiteY2-596" fmla="*/ 0 h 1215612"/>
                <a:gd name="connsiteX3-597" fmla="*/ 594113 w 594113"/>
                <a:gd name="connsiteY3-598" fmla="*/ 1179818 h 1215612"/>
                <a:gd name="connsiteX4-599" fmla="*/ 403236 w 594113"/>
                <a:gd name="connsiteY4-600" fmla="*/ 1215612 h 1215612"/>
                <a:gd name="connsiteX0-601" fmla="*/ 403236 w 574100"/>
                <a:gd name="connsiteY0-602" fmla="*/ 1215612 h 1215612"/>
                <a:gd name="connsiteX1-603" fmla="*/ 0 w 574100"/>
                <a:gd name="connsiteY1-604" fmla="*/ 4757 h 1215612"/>
                <a:gd name="connsiteX2-605" fmla="*/ 502783 w 574100"/>
                <a:gd name="connsiteY2-606" fmla="*/ 0 h 1215612"/>
                <a:gd name="connsiteX3-607" fmla="*/ 574100 w 574100"/>
                <a:gd name="connsiteY3-608" fmla="*/ 1014877 h 1215612"/>
                <a:gd name="connsiteX4-609" fmla="*/ 403236 w 574100"/>
                <a:gd name="connsiteY4-610" fmla="*/ 1215612 h 1215612"/>
                <a:gd name="connsiteX0-611" fmla="*/ 333190 w 574100"/>
                <a:gd name="connsiteY0-612" fmla="*/ 985695 h 1015244"/>
                <a:gd name="connsiteX1-613" fmla="*/ 0 w 574100"/>
                <a:gd name="connsiteY1-614" fmla="*/ 4757 h 1015244"/>
                <a:gd name="connsiteX2-615" fmla="*/ 502783 w 574100"/>
                <a:gd name="connsiteY2-616" fmla="*/ 0 h 1015244"/>
                <a:gd name="connsiteX3-617" fmla="*/ 574100 w 574100"/>
                <a:gd name="connsiteY3-618" fmla="*/ 1014877 h 1015244"/>
                <a:gd name="connsiteX4-619" fmla="*/ 333190 w 574100"/>
                <a:gd name="connsiteY4-620" fmla="*/ 985695 h 1015244"/>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29" name="Group 28"/>
            <p:cNvGrpSpPr/>
            <p:nvPr/>
          </p:nvGrpSpPr>
          <p:grpSpPr>
            <a:xfrm>
              <a:off x="1856416" y="3709935"/>
              <a:ext cx="1049338" cy="1739900"/>
              <a:chOff x="1856416" y="3709935"/>
              <a:chExt cx="1049338" cy="1739900"/>
            </a:xfrm>
          </p:grpSpPr>
          <p:sp>
            <p:nvSpPr>
              <p:cNvPr id="496" name="Rectangle 495"/>
              <p:cNvSpPr/>
              <p:nvPr/>
            </p:nvSpPr>
            <p:spPr bwMode="auto">
              <a:xfrm rot="10800000">
                <a:off x="1867529" y="3957585"/>
                <a:ext cx="1027112" cy="61109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85" name="Group 498"/>
              <p:cNvGrpSpPr/>
              <p:nvPr/>
            </p:nvGrpSpPr>
            <p:grpSpPr bwMode="auto">
              <a:xfrm>
                <a:off x="1858805" y="5088863"/>
                <a:ext cx="1035373" cy="360972"/>
                <a:chOff x="4128636" y="3606589"/>
                <a:chExt cx="568145" cy="338667"/>
              </a:xfrm>
            </p:grpSpPr>
            <p:sp>
              <p:nvSpPr>
                <p:cNvPr id="515" name="Oval 514"/>
                <p:cNvSpPr/>
                <p:nvPr/>
              </p:nvSpPr>
              <p:spPr>
                <a:xfrm>
                  <a:off x="4129067" y="3720356"/>
                  <a:ext cx="567968" cy="224900"/>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6" name="Rectangle 515"/>
                <p:cNvSpPr/>
                <p:nvPr/>
              </p:nvSpPr>
              <p:spPr>
                <a:xfrm>
                  <a:off x="4129067" y="3720356"/>
                  <a:ext cx="567968" cy="111705"/>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7" name="Oval 516"/>
                <p:cNvSpPr/>
                <p:nvPr/>
              </p:nvSpPr>
              <p:spPr>
                <a:xfrm>
                  <a:off x="4129067" y="3607161"/>
                  <a:ext cx="567968" cy="224900"/>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8" name="Straight Connector 517"/>
                <p:cNvCxnSpPr/>
                <p:nvPr/>
              </p:nvCxnSpPr>
              <p:spPr>
                <a:xfrm>
                  <a:off x="4697035"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p:cNvCxnSpPr/>
                <p:nvPr/>
              </p:nvCxnSpPr>
              <p:spPr>
                <a:xfrm>
                  <a:off x="4129067"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0" name="Rectangle 499"/>
              <p:cNvSpPr/>
              <p:nvPr/>
            </p:nvSpPr>
            <p:spPr bwMode="auto">
              <a:xfrm>
                <a:off x="1877054" y="4704509"/>
                <a:ext cx="1028700" cy="523075"/>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2" name="Straight Connector 501"/>
              <p:cNvCxnSpPr/>
              <p:nvPr/>
            </p:nvCxnSpPr>
            <p:spPr bwMode="auto">
              <a:xfrm>
                <a:off x="1861179" y="3981398"/>
                <a:ext cx="17462" cy="13017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03" name="Straight Connector 502"/>
              <p:cNvCxnSpPr/>
              <p:nvPr/>
            </p:nvCxnSpPr>
            <p:spPr bwMode="auto">
              <a:xfrm flipH="1">
                <a:off x="2894641" y="3971873"/>
                <a:ext cx="6350" cy="127000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90" name="Group 504"/>
              <p:cNvGrpSpPr/>
              <p:nvPr/>
            </p:nvGrpSpPr>
            <p:grpSpPr bwMode="auto">
              <a:xfrm>
                <a:off x="1856416" y="3709935"/>
                <a:ext cx="1044712" cy="399063"/>
                <a:chOff x="2183302" y="1574638"/>
                <a:chExt cx="1200154" cy="430218"/>
              </a:xfrm>
            </p:grpSpPr>
            <p:sp>
              <p:nvSpPr>
                <p:cNvPr id="506" name="Oval 505"/>
                <p:cNvSpPr/>
                <p:nvPr/>
              </p:nvSpPr>
              <p:spPr bwMode="auto">
                <a:xfrm flipV="1">
                  <a:off x="2185126" y="1689305"/>
                  <a:ext cx="1196349" cy="314904"/>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7" name="Rectangle 506"/>
                <p:cNvSpPr/>
                <p:nvPr/>
              </p:nvSpPr>
              <p:spPr bwMode="auto">
                <a:xfrm>
                  <a:off x="2183302" y="1735513"/>
                  <a:ext cx="1198173" cy="11295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8" name="Oval 507"/>
                <p:cNvSpPr/>
                <p:nvPr/>
              </p:nvSpPr>
              <p:spPr bwMode="auto">
                <a:xfrm flipV="1">
                  <a:off x="2183302" y="1574638"/>
                  <a:ext cx="1196349" cy="314904"/>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9" name="Freeform 508"/>
                <p:cNvSpPr/>
                <p:nvPr/>
              </p:nvSpPr>
              <p:spPr bwMode="auto">
                <a:xfrm>
                  <a:off x="2489684" y="1670478"/>
                  <a:ext cx="581762" cy="15745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0" name="Freeform 509"/>
                <p:cNvSpPr/>
                <p:nvPr/>
              </p:nvSpPr>
              <p:spPr bwMode="auto">
                <a:xfrm>
                  <a:off x="2429502" y="1629404"/>
                  <a:ext cx="703949" cy="11124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Freeform 510"/>
                <p:cNvSpPr/>
                <p:nvPr/>
              </p:nvSpPr>
              <p:spPr bwMode="auto">
                <a:xfrm>
                  <a:off x="2892723" y="1723534"/>
                  <a:ext cx="257142" cy="958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Freeform 511"/>
                <p:cNvSpPr/>
                <p:nvPr/>
              </p:nvSpPr>
              <p:spPr bwMode="auto">
                <a:xfrm>
                  <a:off x="2416736" y="1725244"/>
                  <a:ext cx="255318" cy="9413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a:endCxn id="508" idx="2"/>
                </p:cNvCxnSpPr>
                <p:nvPr/>
              </p:nvCxnSpPr>
              <p:spPr bwMode="auto">
                <a:xfrm flipH="1" flipV="1">
                  <a:off x="2183302" y="1732090"/>
                  <a:ext cx="1824"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bwMode="auto">
                <a:xfrm flipH="1" flipV="1">
                  <a:off x="3381475" y="1728667"/>
                  <a:ext cx="1823"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0" name="Group 29"/>
            <p:cNvGrpSpPr/>
            <p:nvPr/>
          </p:nvGrpSpPr>
          <p:grpSpPr>
            <a:xfrm>
              <a:off x="3566154" y="3862335"/>
              <a:ext cx="514350" cy="1670050"/>
              <a:chOff x="3566154" y="3862335"/>
              <a:chExt cx="514350" cy="1670050"/>
            </a:xfrm>
          </p:grpSpPr>
          <p:sp>
            <p:nvSpPr>
              <p:cNvPr id="549" name="Rectangle 548"/>
              <p:cNvSpPr/>
              <p:nvPr/>
            </p:nvSpPr>
            <p:spPr bwMode="auto">
              <a:xfrm rot="10800000">
                <a:off x="3569201" y="39460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0" name="Straight Connector 549"/>
              <p:cNvCxnSpPr/>
              <p:nvPr/>
            </p:nvCxnSpPr>
            <p:spPr bwMode="auto">
              <a:xfrm flipH="1">
                <a:off x="4078916" y="4019498"/>
                <a:ext cx="1588"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71" name="Group 552"/>
              <p:cNvGrpSpPr/>
              <p:nvPr/>
            </p:nvGrpSpPr>
            <p:grpSpPr bwMode="auto">
              <a:xfrm>
                <a:off x="3571302" y="5310688"/>
                <a:ext cx="507588" cy="221697"/>
                <a:chOff x="4128636" y="3606589"/>
                <a:chExt cx="568145" cy="338667"/>
              </a:xfrm>
            </p:grpSpPr>
            <p:sp>
              <p:nvSpPr>
                <p:cNvPr id="562" name="Oval 561"/>
                <p:cNvSpPr/>
                <p:nvPr/>
              </p:nvSpPr>
              <p:spPr>
                <a:xfrm>
                  <a:off x="4128204"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3" name="Rectangle 562"/>
                <p:cNvSpPr/>
                <p:nvPr/>
              </p:nvSpPr>
              <p:spPr>
                <a:xfrm>
                  <a:off x="4128204"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4" name="Oval 563"/>
                <p:cNvSpPr/>
                <p:nvPr/>
              </p:nvSpPr>
              <p:spPr>
                <a:xfrm>
                  <a:off x="4128204"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65" name="Straight Connector 564"/>
                <p:cNvCxnSpPr/>
                <p:nvPr/>
              </p:nvCxnSpPr>
              <p:spPr>
                <a:xfrm>
                  <a:off x="4696810"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a:off x="4128204"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54" name="Rectangle 553"/>
              <p:cNvSpPr/>
              <p:nvPr/>
            </p:nvSpPr>
            <p:spPr bwMode="auto">
              <a:xfrm>
                <a:off x="3572504" y="4575123"/>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7" name="Straight Connector 556"/>
              <p:cNvCxnSpPr/>
              <p:nvPr/>
            </p:nvCxnSpPr>
            <p:spPr bwMode="auto">
              <a:xfrm flipH="1">
                <a:off x="3566154" y="40274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57" name="Group 538"/>
              <p:cNvGrpSpPr/>
              <p:nvPr/>
            </p:nvGrpSpPr>
            <p:grpSpPr bwMode="auto">
              <a:xfrm>
                <a:off x="3568667" y="3862335"/>
                <a:ext cx="503828" cy="248249"/>
                <a:chOff x="2183302" y="1564542"/>
                <a:chExt cx="1200154" cy="440314"/>
              </a:xfrm>
            </p:grpSpPr>
            <p:sp>
              <p:nvSpPr>
                <p:cNvPr id="540" name="Oval 539"/>
                <p:cNvSpPr/>
                <p:nvPr/>
              </p:nvSpPr>
              <p:spPr bwMode="auto">
                <a:xfrm flipV="1">
                  <a:off x="2188659"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1" name="Rectangle 540"/>
                <p:cNvSpPr/>
                <p:nvPr/>
              </p:nvSpPr>
              <p:spPr bwMode="auto">
                <a:xfrm>
                  <a:off x="2184879" y="1736302"/>
                  <a:ext cx="1198746"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2" name="Oval 541"/>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3" name="Freeform 542"/>
                <p:cNvSpPr/>
                <p:nvPr/>
              </p:nvSpPr>
              <p:spPr bwMode="auto">
                <a:xfrm>
                  <a:off x="2491182"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4" name="Freeform 543"/>
                <p:cNvSpPr/>
                <p:nvPr/>
              </p:nvSpPr>
              <p:spPr bwMode="auto">
                <a:xfrm>
                  <a:off x="2430678"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5" name="Freeform 544"/>
                <p:cNvSpPr/>
                <p:nvPr/>
              </p:nvSpPr>
              <p:spPr bwMode="auto">
                <a:xfrm>
                  <a:off x="2892025" y="1722222"/>
                  <a:ext cx="260927"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6" name="Freeform 545"/>
                <p:cNvSpPr/>
                <p:nvPr/>
              </p:nvSpPr>
              <p:spPr bwMode="auto">
                <a:xfrm>
                  <a:off x="2419334" y="1725039"/>
                  <a:ext cx="253362"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47" name="Straight Connector 546"/>
                <p:cNvCxnSpPr>
                  <a:endCxn id="542" idx="2"/>
                </p:cNvCxnSpPr>
                <p:nvPr/>
              </p:nvCxnSpPr>
              <p:spPr bwMode="auto">
                <a:xfrm flipH="1" flipV="1">
                  <a:off x="2184879" y="1722222"/>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48" name="Straight Connector 547"/>
                <p:cNvCxnSpPr/>
                <p:nvPr/>
              </p:nvCxnSpPr>
              <p:spPr bwMode="auto">
                <a:xfrm flipH="1" flipV="1">
                  <a:off x="3379845" y="1727853"/>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1" name="Group 30"/>
            <p:cNvGrpSpPr/>
            <p:nvPr/>
          </p:nvGrpSpPr>
          <p:grpSpPr>
            <a:xfrm>
              <a:off x="4348791" y="3867098"/>
              <a:ext cx="514350" cy="1670050"/>
              <a:chOff x="4348791" y="3867098"/>
              <a:chExt cx="514350" cy="1670050"/>
            </a:xfrm>
          </p:grpSpPr>
          <p:sp>
            <p:nvSpPr>
              <p:cNvPr id="579" name="Rectangle 578"/>
              <p:cNvSpPr/>
              <p:nvPr/>
            </p:nvSpPr>
            <p:spPr bwMode="auto">
              <a:xfrm rot="10800000">
                <a:off x="4351838" y="3950855"/>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0" name="Straight Connector 579"/>
              <p:cNvCxnSpPr/>
              <p:nvPr/>
            </p:nvCxnSpPr>
            <p:spPr bwMode="auto">
              <a:xfrm flipH="1">
                <a:off x="4861554" y="4024260"/>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43" name="Group 580"/>
              <p:cNvGrpSpPr/>
              <p:nvPr/>
            </p:nvGrpSpPr>
            <p:grpSpPr bwMode="auto">
              <a:xfrm>
                <a:off x="4353939" y="5315451"/>
                <a:ext cx="507588" cy="221697"/>
                <a:chOff x="4128636" y="3606589"/>
                <a:chExt cx="568145" cy="338667"/>
              </a:xfrm>
            </p:grpSpPr>
            <p:sp>
              <p:nvSpPr>
                <p:cNvPr id="589" name="Oval 588"/>
                <p:cNvSpPr/>
                <p:nvPr/>
              </p:nvSpPr>
              <p:spPr>
                <a:xfrm>
                  <a:off x="4128205" y="3719722"/>
                  <a:ext cx="568606" cy="225534"/>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0" name="Rectangle 589"/>
                <p:cNvSpPr/>
                <p:nvPr/>
              </p:nvSpPr>
              <p:spPr>
                <a:xfrm>
                  <a:off x="4128205" y="3719722"/>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1" name="Oval 590"/>
                <p:cNvSpPr/>
                <p:nvPr/>
              </p:nvSpPr>
              <p:spPr>
                <a:xfrm>
                  <a:off x="4128205" y="3605744"/>
                  <a:ext cx="568606" cy="22553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92" name="Straight Connector 591"/>
                <p:cNvCxnSpPr/>
                <p:nvPr/>
              </p:nvCxnSpPr>
              <p:spPr>
                <a:xfrm>
                  <a:off x="4696811"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p:nvPr/>
              </p:nvCxnSpPr>
              <p:spPr>
                <a:xfrm>
                  <a:off x="4128205"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82" name="Rectangle 581"/>
              <p:cNvSpPr/>
              <p:nvPr/>
            </p:nvSpPr>
            <p:spPr bwMode="auto">
              <a:xfrm>
                <a:off x="4355141" y="4579885"/>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4" name="Straight Connector 583"/>
              <p:cNvCxnSpPr/>
              <p:nvPr/>
            </p:nvCxnSpPr>
            <p:spPr bwMode="auto">
              <a:xfrm flipH="1">
                <a:off x="4348791" y="4032198"/>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29" name="Group 568"/>
              <p:cNvGrpSpPr/>
              <p:nvPr/>
            </p:nvGrpSpPr>
            <p:grpSpPr bwMode="auto">
              <a:xfrm>
                <a:off x="4351304" y="3867098"/>
                <a:ext cx="503828" cy="248249"/>
                <a:chOff x="2183302" y="1564542"/>
                <a:chExt cx="1200154" cy="440314"/>
              </a:xfrm>
            </p:grpSpPr>
            <p:sp>
              <p:nvSpPr>
                <p:cNvPr id="570" name="Oval 569"/>
                <p:cNvSpPr/>
                <p:nvPr/>
              </p:nvSpPr>
              <p:spPr bwMode="auto">
                <a:xfrm flipV="1">
                  <a:off x="2188662" y="1691248"/>
                  <a:ext cx="1194966" cy="312545"/>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1" name="Rectangle 570"/>
                <p:cNvSpPr/>
                <p:nvPr/>
              </p:nvSpPr>
              <p:spPr bwMode="auto">
                <a:xfrm>
                  <a:off x="2184879" y="1736300"/>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2" name="Oval 571"/>
                <p:cNvSpPr/>
                <p:nvPr/>
              </p:nvSpPr>
              <p:spPr bwMode="auto">
                <a:xfrm flipV="1">
                  <a:off x="2184879" y="1564542"/>
                  <a:ext cx="1194966" cy="312543"/>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3" name="Freeform 572"/>
                <p:cNvSpPr/>
                <p:nvPr/>
              </p:nvSpPr>
              <p:spPr bwMode="auto">
                <a:xfrm>
                  <a:off x="2491185" y="1671539"/>
                  <a:ext cx="582357" cy="1548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4" name="Freeform 573"/>
                <p:cNvSpPr/>
                <p:nvPr/>
              </p:nvSpPr>
              <p:spPr bwMode="auto">
                <a:xfrm>
                  <a:off x="2430680" y="1629303"/>
                  <a:ext cx="703366" cy="10981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5" name="Freeform 574"/>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6" name="Freeform 575"/>
                <p:cNvSpPr/>
                <p:nvPr/>
              </p:nvSpPr>
              <p:spPr bwMode="auto">
                <a:xfrm>
                  <a:off x="2419334" y="1725037"/>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77" name="Straight Connector 576"/>
                <p:cNvCxnSpPr>
                  <a:endCxn id="572" idx="2"/>
                </p:cNvCxnSpPr>
                <p:nvPr/>
              </p:nvCxnSpPr>
              <p:spPr bwMode="auto">
                <a:xfrm flipH="1" flipV="1">
                  <a:off x="2184879" y="1722222"/>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p:nvPr/>
              </p:nvCxnSpPr>
              <p:spPr bwMode="auto">
                <a:xfrm flipH="1" flipV="1">
                  <a:off x="3379845" y="1727853"/>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8" name="Group 48257"/>
            <p:cNvGrpSpPr/>
            <p:nvPr/>
          </p:nvGrpSpPr>
          <p:grpSpPr>
            <a:xfrm>
              <a:off x="5552116" y="3849635"/>
              <a:ext cx="514350" cy="1670050"/>
              <a:chOff x="5552116" y="3849635"/>
              <a:chExt cx="514350" cy="1670050"/>
            </a:xfrm>
          </p:grpSpPr>
          <p:sp>
            <p:nvSpPr>
              <p:cNvPr id="606" name="Rectangle 605"/>
              <p:cNvSpPr/>
              <p:nvPr/>
            </p:nvSpPr>
            <p:spPr bwMode="auto">
              <a:xfrm rot="10800000">
                <a:off x="5555163" y="39333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7" name="Straight Connector 606"/>
              <p:cNvCxnSpPr/>
              <p:nvPr/>
            </p:nvCxnSpPr>
            <p:spPr bwMode="auto">
              <a:xfrm flipH="1">
                <a:off x="6064879" y="4006798"/>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15" name="Group 607"/>
              <p:cNvGrpSpPr/>
              <p:nvPr/>
            </p:nvGrpSpPr>
            <p:grpSpPr bwMode="auto">
              <a:xfrm>
                <a:off x="5557264" y="5297988"/>
                <a:ext cx="507588" cy="221697"/>
                <a:chOff x="4128636" y="3606589"/>
                <a:chExt cx="568145" cy="338667"/>
              </a:xfrm>
            </p:grpSpPr>
            <p:sp>
              <p:nvSpPr>
                <p:cNvPr id="616" name="Oval 615"/>
                <p:cNvSpPr/>
                <p:nvPr/>
              </p:nvSpPr>
              <p:spPr>
                <a:xfrm>
                  <a:off x="4128205"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7" name="Rectangle 616"/>
                <p:cNvSpPr/>
                <p:nvPr/>
              </p:nvSpPr>
              <p:spPr>
                <a:xfrm>
                  <a:off x="4128205"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8" name="Oval 617"/>
                <p:cNvSpPr/>
                <p:nvPr/>
              </p:nvSpPr>
              <p:spPr>
                <a:xfrm>
                  <a:off x="4128205"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9" name="Straight Connector 618"/>
                <p:cNvCxnSpPr/>
                <p:nvPr/>
              </p:nvCxnSpPr>
              <p:spPr>
                <a:xfrm>
                  <a:off x="4696811"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20" name="Straight Connector 619"/>
                <p:cNvCxnSpPr/>
                <p:nvPr/>
              </p:nvCxnSpPr>
              <p:spPr>
                <a:xfrm>
                  <a:off x="4128205"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09" name="Rectangle 608"/>
              <p:cNvSpPr/>
              <p:nvPr/>
            </p:nvSpPr>
            <p:spPr bwMode="auto">
              <a:xfrm>
                <a:off x="5558466" y="4562423"/>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1" name="Straight Connector 610"/>
              <p:cNvCxnSpPr/>
              <p:nvPr/>
            </p:nvCxnSpPr>
            <p:spPr bwMode="auto">
              <a:xfrm flipH="1">
                <a:off x="5552116" y="40147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01" name="Group 595"/>
              <p:cNvGrpSpPr/>
              <p:nvPr/>
            </p:nvGrpSpPr>
            <p:grpSpPr bwMode="auto">
              <a:xfrm>
                <a:off x="5554629" y="3849635"/>
                <a:ext cx="503828" cy="248249"/>
                <a:chOff x="2183302" y="1564542"/>
                <a:chExt cx="1200154" cy="440314"/>
              </a:xfrm>
            </p:grpSpPr>
            <p:sp>
              <p:nvSpPr>
                <p:cNvPr id="597" name="Oval 596"/>
                <p:cNvSpPr/>
                <p:nvPr/>
              </p:nvSpPr>
              <p:spPr bwMode="auto">
                <a:xfrm flipV="1">
                  <a:off x="2188662"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98" name="Rectangle 597"/>
                <p:cNvSpPr/>
                <p:nvPr/>
              </p:nvSpPr>
              <p:spPr bwMode="auto">
                <a:xfrm>
                  <a:off x="2184879" y="1736302"/>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9" name="Oval 598"/>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00" name="Freeform 599"/>
                <p:cNvSpPr/>
                <p:nvPr/>
              </p:nvSpPr>
              <p:spPr bwMode="auto">
                <a:xfrm>
                  <a:off x="2491185"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1" name="Freeform 600"/>
                <p:cNvSpPr/>
                <p:nvPr/>
              </p:nvSpPr>
              <p:spPr bwMode="auto">
                <a:xfrm>
                  <a:off x="2430680"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2" name="Freeform 601"/>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3" name="Freeform 602"/>
                <p:cNvSpPr/>
                <p:nvPr/>
              </p:nvSpPr>
              <p:spPr bwMode="auto">
                <a:xfrm>
                  <a:off x="2419334" y="1725039"/>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4" name="Straight Connector 603"/>
                <p:cNvCxnSpPr>
                  <a:endCxn id="599" idx="2"/>
                </p:cNvCxnSpPr>
                <p:nvPr/>
              </p:nvCxnSpPr>
              <p:spPr bwMode="auto">
                <a:xfrm flipH="1" flipV="1">
                  <a:off x="2184879" y="1722222"/>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p:nvPr/>
              </p:nvCxnSpPr>
              <p:spPr bwMode="auto">
                <a:xfrm flipH="1" flipV="1">
                  <a:off x="3379845" y="1727853"/>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9" name="Group 48258"/>
            <p:cNvGrpSpPr/>
            <p:nvPr/>
          </p:nvGrpSpPr>
          <p:grpSpPr>
            <a:xfrm>
              <a:off x="6547479" y="3836935"/>
              <a:ext cx="514350" cy="1671638"/>
              <a:chOff x="6547479" y="3836935"/>
              <a:chExt cx="514350" cy="1671638"/>
            </a:xfrm>
          </p:grpSpPr>
          <p:sp>
            <p:nvSpPr>
              <p:cNvPr id="633" name="Rectangle 632"/>
              <p:cNvSpPr/>
              <p:nvPr/>
            </p:nvSpPr>
            <p:spPr bwMode="auto">
              <a:xfrm rot="10800000">
                <a:off x="6550526" y="3920772"/>
                <a:ext cx="498084" cy="62924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4" name="Straight Connector 633"/>
              <p:cNvCxnSpPr/>
              <p:nvPr/>
            </p:nvCxnSpPr>
            <p:spPr bwMode="auto">
              <a:xfrm flipH="1">
                <a:off x="7060241" y="3994098"/>
                <a:ext cx="1588" cy="13668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87" name="Group 634"/>
              <p:cNvGrpSpPr/>
              <p:nvPr/>
            </p:nvGrpSpPr>
            <p:grpSpPr bwMode="auto">
              <a:xfrm>
                <a:off x="6552627" y="5286665"/>
                <a:ext cx="507588" cy="221908"/>
                <a:chOff x="4128636" y="3606589"/>
                <a:chExt cx="568145" cy="338667"/>
              </a:xfrm>
            </p:grpSpPr>
            <p:sp>
              <p:nvSpPr>
                <p:cNvPr id="643" name="Oval 642"/>
                <p:cNvSpPr/>
                <p:nvPr/>
              </p:nvSpPr>
              <p:spPr>
                <a:xfrm>
                  <a:off x="4128204" y="3719937"/>
                  <a:ext cx="568606" cy="225319"/>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4" name="Rectangle 643"/>
                <p:cNvSpPr/>
                <p:nvPr/>
              </p:nvSpPr>
              <p:spPr>
                <a:xfrm>
                  <a:off x="4128204" y="3719937"/>
                  <a:ext cx="568606" cy="11144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5" name="Oval 644"/>
                <p:cNvSpPr/>
                <p:nvPr/>
              </p:nvSpPr>
              <p:spPr>
                <a:xfrm>
                  <a:off x="4128204" y="3606067"/>
                  <a:ext cx="568606" cy="22531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6" name="Straight Connector 645"/>
                <p:cNvCxnSpPr/>
                <p:nvPr/>
              </p:nvCxnSpPr>
              <p:spPr>
                <a:xfrm>
                  <a:off x="4696810"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7" name="Straight Connector 646"/>
                <p:cNvCxnSpPr/>
                <p:nvPr/>
              </p:nvCxnSpPr>
              <p:spPr>
                <a:xfrm>
                  <a:off x="4128204"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36" name="Rectangle 635"/>
              <p:cNvSpPr/>
              <p:nvPr/>
            </p:nvSpPr>
            <p:spPr bwMode="auto">
              <a:xfrm>
                <a:off x="6553829" y="4551310"/>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8" name="Straight Connector 637"/>
              <p:cNvCxnSpPr/>
              <p:nvPr/>
            </p:nvCxnSpPr>
            <p:spPr bwMode="auto">
              <a:xfrm flipH="1">
                <a:off x="6547479" y="4002035"/>
                <a:ext cx="3175" cy="1452563"/>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73" name="Group 622"/>
              <p:cNvGrpSpPr/>
              <p:nvPr/>
            </p:nvGrpSpPr>
            <p:grpSpPr bwMode="auto">
              <a:xfrm>
                <a:off x="6549992" y="3836935"/>
                <a:ext cx="503828" cy="248485"/>
                <a:chOff x="2183302" y="1564542"/>
                <a:chExt cx="1200154" cy="440314"/>
              </a:xfrm>
            </p:grpSpPr>
            <p:sp>
              <p:nvSpPr>
                <p:cNvPr id="624" name="Oval 623"/>
                <p:cNvSpPr/>
                <p:nvPr/>
              </p:nvSpPr>
              <p:spPr bwMode="auto">
                <a:xfrm flipV="1">
                  <a:off x="2188659" y="1691130"/>
                  <a:ext cx="1194966" cy="31506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5" name="Rectangle 624"/>
                <p:cNvSpPr/>
                <p:nvPr/>
              </p:nvSpPr>
              <p:spPr bwMode="auto">
                <a:xfrm>
                  <a:off x="2184879" y="1736138"/>
                  <a:ext cx="1198746" cy="11252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6" name="Oval 625"/>
                <p:cNvSpPr/>
                <p:nvPr/>
              </p:nvSpPr>
              <p:spPr bwMode="auto">
                <a:xfrm flipV="1">
                  <a:off x="2184879" y="1564542"/>
                  <a:ext cx="1194966" cy="31506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7" name="Freeform 626"/>
                <p:cNvSpPr/>
                <p:nvPr/>
              </p:nvSpPr>
              <p:spPr bwMode="auto">
                <a:xfrm>
                  <a:off x="2491182" y="1671438"/>
                  <a:ext cx="582357" cy="15753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8" name="Freeform 627"/>
                <p:cNvSpPr/>
                <p:nvPr/>
              </p:nvSpPr>
              <p:spPr bwMode="auto">
                <a:xfrm>
                  <a:off x="2430678" y="1629243"/>
                  <a:ext cx="703366" cy="11252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9" name="Freeform 628"/>
                <p:cNvSpPr/>
                <p:nvPr/>
              </p:nvSpPr>
              <p:spPr bwMode="auto">
                <a:xfrm>
                  <a:off x="2892025" y="1724886"/>
                  <a:ext cx="260927" cy="956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0" name="Freeform 629"/>
                <p:cNvSpPr/>
                <p:nvPr/>
              </p:nvSpPr>
              <p:spPr bwMode="auto">
                <a:xfrm>
                  <a:off x="2419334" y="1727698"/>
                  <a:ext cx="253362" cy="9283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1" name="Straight Connector 630"/>
                <p:cNvCxnSpPr>
                  <a:endCxn id="626" idx="2"/>
                </p:cNvCxnSpPr>
                <p:nvPr/>
              </p:nvCxnSpPr>
              <p:spPr bwMode="auto">
                <a:xfrm flipH="1" flipV="1">
                  <a:off x="2184879" y="1722072"/>
                  <a:ext cx="3780" cy="12096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p:nvPr/>
              </p:nvCxnSpPr>
              <p:spPr bwMode="auto">
                <a:xfrm flipH="1" flipV="1">
                  <a:off x="3379845" y="1730512"/>
                  <a:ext cx="3780" cy="12096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grpSp>
        <p:nvGrpSpPr>
          <p:cNvPr id="28" name="Group 27"/>
          <p:cNvGrpSpPr/>
          <p:nvPr/>
        </p:nvGrpSpPr>
        <p:grpSpPr>
          <a:xfrm>
            <a:off x="2381956" y="2475925"/>
            <a:ext cx="4415330" cy="2315048"/>
            <a:chOff x="2381956" y="2435173"/>
            <a:chExt cx="4415330" cy="2315048"/>
          </a:xfrm>
        </p:grpSpPr>
        <p:sp>
          <p:nvSpPr>
            <p:cNvPr id="391" name="Freeform 390"/>
            <p:cNvSpPr/>
            <p:nvPr/>
          </p:nvSpPr>
          <p:spPr>
            <a:xfrm>
              <a:off x="2381956" y="2439629"/>
              <a:ext cx="297540" cy="1743187"/>
            </a:xfrm>
            <a:custGeom>
              <a:avLst/>
              <a:gdLst>
                <a:gd name="connsiteX0" fmla="*/ 307275 w 307275"/>
                <a:gd name="connsiteY0" fmla="*/ 0 h 1659441"/>
                <a:gd name="connsiteX1" fmla="*/ 0 w 307275"/>
                <a:gd name="connsiteY1" fmla="*/ 0 h 1659441"/>
                <a:gd name="connsiteX2" fmla="*/ 0 w 307275"/>
                <a:gd name="connsiteY2" fmla="*/ 1659441 h 1659441"/>
                <a:gd name="connsiteX0-1" fmla="*/ 307275 w 307275"/>
                <a:gd name="connsiteY0-2" fmla="*/ 0 h 2015941"/>
                <a:gd name="connsiteX1-3" fmla="*/ 0 w 307275"/>
                <a:gd name="connsiteY1-4" fmla="*/ 0 h 2015941"/>
                <a:gd name="connsiteX2-5" fmla="*/ 0 w 307275"/>
                <a:gd name="connsiteY2-6" fmla="*/ 2015941 h 2015941"/>
                <a:gd name="connsiteX0-7" fmla="*/ 228538 w 228538"/>
                <a:gd name="connsiteY0-8" fmla="*/ 0 h 2022548"/>
                <a:gd name="connsiteX1-9" fmla="*/ 0 w 228538"/>
                <a:gd name="connsiteY1-10" fmla="*/ 6607 h 2022548"/>
                <a:gd name="connsiteX2-11" fmla="*/ 0 w 228538"/>
                <a:gd name="connsiteY2-12" fmla="*/ 2022548 h 2022548"/>
              </a:gdLst>
              <a:ahLst/>
              <a:cxnLst>
                <a:cxn ang="0">
                  <a:pos x="connsiteX0-1" y="connsiteY0-2"/>
                </a:cxn>
                <a:cxn ang="0">
                  <a:pos x="connsiteX1-3" y="connsiteY1-4"/>
                </a:cxn>
                <a:cxn ang="0">
                  <a:pos x="connsiteX2-5" y="connsiteY2-6"/>
                </a:cxn>
              </a:cxnLst>
              <a:rect l="l" t="t" r="r" b="b"/>
              <a:pathLst>
                <a:path w="228538" h="2022548">
                  <a:moveTo>
                    <a:pt x="228538" y="0"/>
                  </a:moveTo>
                  <a:lnTo>
                    <a:pt x="0" y="6607"/>
                  </a:lnTo>
                  <a:lnTo>
                    <a:pt x="0" y="2022548"/>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solidFill>
                  <a:srgbClr val="CC0000"/>
                </a:solidFill>
              </a:endParaRPr>
            </a:p>
          </p:txBody>
        </p:sp>
        <p:sp>
          <p:nvSpPr>
            <p:cNvPr id="392" name="Freeform 391"/>
            <p:cNvSpPr/>
            <p:nvPr/>
          </p:nvSpPr>
          <p:spPr>
            <a:xfrm flipH="1">
              <a:off x="6411524" y="2435173"/>
              <a:ext cx="385762" cy="2300562"/>
            </a:xfrm>
            <a:custGeom>
              <a:avLst/>
              <a:gdLst>
                <a:gd name="connsiteX0" fmla="*/ 307275 w 307275"/>
                <a:gd name="connsiteY0" fmla="*/ 0 h 1659441"/>
                <a:gd name="connsiteX1" fmla="*/ 0 w 307275"/>
                <a:gd name="connsiteY1" fmla="*/ 0 h 1659441"/>
                <a:gd name="connsiteX2" fmla="*/ 0 w 307275"/>
                <a:gd name="connsiteY2" fmla="*/ 1659441 h 1659441"/>
                <a:gd name="connsiteX0-1" fmla="*/ 307275 w 307275"/>
                <a:gd name="connsiteY0-2" fmla="*/ 0 h 2117725"/>
                <a:gd name="connsiteX1-3" fmla="*/ 0 w 307275"/>
                <a:gd name="connsiteY1-4" fmla="*/ 0 h 2117725"/>
                <a:gd name="connsiteX2-5" fmla="*/ 0 w 307275"/>
                <a:gd name="connsiteY2-6" fmla="*/ 2117725 h 2117725"/>
              </a:gdLst>
              <a:ahLst/>
              <a:cxnLst>
                <a:cxn ang="0">
                  <a:pos x="connsiteX0-1" y="connsiteY0-2"/>
                </a:cxn>
                <a:cxn ang="0">
                  <a:pos x="connsiteX1-3" y="connsiteY1-4"/>
                </a:cxn>
                <a:cxn ang="0">
                  <a:pos x="connsiteX2-5" y="connsiteY2-6"/>
                </a:cxn>
              </a:cxnLst>
              <a:rect l="l" t="t" r="r" b="b"/>
              <a:pathLst>
                <a:path w="307275" h="2117725">
                  <a:moveTo>
                    <a:pt x="307275" y="0"/>
                  </a:moveTo>
                  <a:lnTo>
                    <a:pt x="0" y="0"/>
                  </a:lnTo>
                  <a:lnTo>
                    <a:pt x="0" y="2117725"/>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p>
          </p:txBody>
        </p:sp>
        <p:cxnSp>
          <p:nvCxnSpPr>
            <p:cNvPr id="393" name="Straight Arrow Connector 392"/>
            <p:cNvCxnSpPr/>
            <p:nvPr/>
          </p:nvCxnSpPr>
          <p:spPr>
            <a:xfrm flipV="1">
              <a:off x="5791457" y="2687586"/>
              <a:ext cx="8309" cy="2062635"/>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4" name="Straight Arrow Connector 393"/>
            <p:cNvCxnSpPr/>
            <p:nvPr/>
          </p:nvCxnSpPr>
          <p:spPr>
            <a:xfrm flipV="1">
              <a:off x="4598735" y="2708225"/>
              <a:ext cx="18344" cy="2037167"/>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5" name="Straight Arrow Connector 394"/>
            <p:cNvCxnSpPr/>
            <p:nvPr/>
          </p:nvCxnSpPr>
          <p:spPr>
            <a:xfrm flipH="1" flipV="1">
              <a:off x="3807455" y="2762199"/>
              <a:ext cx="9009" cy="1983193"/>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48169" name="Text Box 167"/>
          <p:cNvSpPr txBox="1">
            <a:spLocks noChangeArrowheads="1"/>
          </p:cNvSpPr>
          <p:nvPr/>
        </p:nvSpPr>
        <p:spPr bwMode="auto">
          <a:xfrm>
            <a:off x="542925" y="236538"/>
            <a:ext cx="6537066" cy="6463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3600" dirty="0">
                <a:solidFill>
                  <a:srgbClr val="000099"/>
                </a:solidFill>
                <a:latin typeface="Gill Sans MT" pitchFamily="34" charset="0"/>
              </a:rPr>
              <a:t>Logically centralized control plane</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6422481" cy="208918"/>
          </a:xfrm>
          <a:prstGeom prst="rect">
            <a:avLst/>
          </a:prstGeom>
          <a:noFill/>
          <a:ln>
            <a:noFill/>
          </a:ln>
        </p:spPr>
      </p:pic>
      <p:sp>
        <p:nvSpPr>
          <p:cNvPr id="48171" name="TextBox 335"/>
          <p:cNvSpPr txBox="1">
            <a:spLocks noChangeArrowheads="1"/>
          </p:cNvSpPr>
          <p:nvPr/>
        </p:nvSpPr>
        <p:spPr bwMode="auto">
          <a:xfrm>
            <a:off x="394448" y="1039914"/>
            <a:ext cx="8456612" cy="830997"/>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dirty="0"/>
              <a:t>A distinct (typically remote) controller interacts with local control agents (CAs) in routers to compute forwarding tables</a:t>
            </a:r>
          </a:p>
        </p:txBody>
      </p:sp>
      <p:grpSp>
        <p:nvGrpSpPr>
          <p:cNvPr id="24" name="Group 23"/>
          <p:cNvGrpSpPr/>
          <p:nvPr/>
        </p:nvGrpSpPr>
        <p:grpSpPr>
          <a:xfrm>
            <a:off x="2055910" y="4687854"/>
            <a:ext cx="4956877" cy="694339"/>
            <a:chOff x="2055070" y="4690247"/>
            <a:chExt cx="4956877" cy="694339"/>
          </a:xfrm>
        </p:grpSpPr>
        <p:grpSp>
          <p:nvGrpSpPr>
            <p:cNvPr id="48273" name="Group 554"/>
            <p:cNvGrpSpPr/>
            <p:nvPr/>
          </p:nvGrpSpPr>
          <p:grpSpPr bwMode="auto">
            <a:xfrm>
              <a:off x="3605320" y="5055434"/>
              <a:ext cx="430131" cy="329152"/>
              <a:chOff x="2931664" y="3912603"/>
              <a:chExt cx="430450" cy="329314"/>
            </a:xfrm>
          </p:grpSpPr>
          <p:sp>
            <p:nvSpPr>
              <p:cNvPr id="558" name="Rectangle 5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9" name="Straight Connector 5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0" name="Straight Connector 5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1" name="Straight Connector 560"/>
              <p:cNvCxnSpPr>
                <a:stCxn id="558" idx="2"/>
              </p:cNvCxnSpPr>
              <p:nvPr/>
            </p:nvCxnSpPr>
            <p:spPr>
              <a:xfrm flipH="1" flipV="1">
                <a:off x="3148246"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45" name="Group 582"/>
            <p:cNvGrpSpPr/>
            <p:nvPr/>
          </p:nvGrpSpPr>
          <p:grpSpPr bwMode="auto">
            <a:xfrm>
              <a:off x="4387957" y="5055368"/>
              <a:ext cx="430131" cy="329152"/>
              <a:chOff x="2931664" y="3912603"/>
              <a:chExt cx="430450" cy="329314"/>
            </a:xfrm>
          </p:grpSpPr>
          <p:sp>
            <p:nvSpPr>
              <p:cNvPr id="585" name="Rectangle 584"/>
              <p:cNvSpPr/>
              <p:nvPr/>
            </p:nvSpPr>
            <p:spPr>
              <a:xfrm>
                <a:off x="2936952" y="3913304"/>
                <a:ext cx="425766" cy="32877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6" name="Straight Connector 585"/>
              <p:cNvCxnSpPr/>
              <p:nvPr/>
            </p:nvCxnSpPr>
            <p:spPr>
              <a:xfrm>
                <a:off x="2932186"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7" name="Straight Connector 586"/>
              <p:cNvCxnSpPr/>
              <p:nvPr/>
            </p:nvCxnSpPr>
            <p:spPr>
              <a:xfrm>
                <a:off x="2932186"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5" idx="2"/>
              </p:cNvCxnSpPr>
              <p:nvPr/>
            </p:nvCxnSpPr>
            <p:spPr>
              <a:xfrm flipH="1" flipV="1">
                <a:off x="3148247" y="4005425"/>
                <a:ext cx="1588" cy="236653"/>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17" name="Group 609"/>
            <p:cNvGrpSpPr/>
            <p:nvPr/>
          </p:nvGrpSpPr>
          <p:grpSpPr bwMode="auto">
            <a:xfrm>
              <a:off x="5591804" y="5053093"/>
              <a:ext cx="430212" cy="328614"/>
              <a:chOff x="2932186" y="3913304"/>
              <a:chExt cx="430531" cy="328775"/>
            </a:xfrm>
          </p:grpSpPr>
          <p:sp>
            <p:nvSpPr>
              <p:cNvPr id="612" name="Rectangle 611"/>
              <p:cNvSpPr/>
              <p:nvPr/>
            </p:nvSpPr>
            <p:spPr>
              <a:xfrm>
                <a:off x="2936952" y="3913304"/>
                <a:ext cx="425765" cy="32877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3" name="Straight Connector 612"/>
              <p:cNvCxnSpPr/>
              <p:nvPr/>
            </p:nvCxnSpPr>
            <p:spPr>
              <a:xfrm>
                <a:off x="2932186"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p:nvPr/>
            </p:nvCxnSpPr>
            <p:spPr>
              <a:xfrm>
                <a:off x="2932186"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5" name="Straight Connector 614"/>
              <p:cNvCxnSpPr>
                <a:stCxn id="612" idx="2"/>
              </p:cNvCxnSpPr>
              <p:nvPr/>
            </p:nvCxnSpPr>
            <p:spPr>
              <a:xfrm flipH="1" flipV="1">
                <a:off x="3148247" y="4005425"/>
                <a:ext cx="1588"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189" name="Group 636"/>
            <p:cNvGrpSpPr/>
            <p:nvPr/>
          </p:nvGrpSpPr>
          <p:grpSpPr bwMode="auto">
            <a:xfrm>
              <a:off x="6581816" y="5045656"/>
              <a:ext cx="430131" cy="329465"/>
              <a:chOff x="2931664" y="3912603"/>
              <a:chExt cx="430450" cy="329314"/>
            </a:xfrm>
          </p:grpSpPr>
          <p:sp>
            <p:nvSpPr>
              <p:cNvPr id="639" name="Rectangle 638"/>
              <p:cNvSpPr/>
              <p:nvPr/>
            </p:nvSpPr>
            <p:spPr>
              <a:xfrm>
                <a:off x="2936952" y="3912169"/>
                <a:ext cx="425766" cy="330049"/>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0" name="Straight Connector 639"/>
              <p:cNvCxnSpPr/>
              <p:nvPr/>
            </p:nvCxnSpPr>
            <p:spPr>
              <a:xfrm>
                <a:off x="2932185" y="4004202"/>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1" name="Straight Connector 640"/>
              <p:cNvCxnSpPr/>
              <p:nvPr/>
            </p:nvCxnSpPr>
            <p:spPr>
              <a:xfrm>
                <a:off x="2932185" y="4067673"/>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2" name="Straight Connector 641"/>
              <p:cNvCxnSpPr>
                <a:stCxn id="639" idx="2"/>
              </p:cNvCxnSpPr>
              <p:nvPr/>
            </p:nvCxnSpPr>
            <p:spPr>
              <a:xfrm flipH="1" flipV="1">
                <a:off x="3148246" y="4004202"/>
                <a:ext cx="1589" cy="23801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57" name="Group 554"/>
            <p:cNvGrpSpPr/>
            <p:nvPr/>
          </p:nvGrpSpPr>
          <p:grpSpPr bwMode="auto">
            <a:xfrm>
              <a:off x="2055070" y="4690247"/>
              <a:ext cx="675320" cy="521222"/>
              <a:chOff x="2931664" y="3912603"/>
              <a:chExt cx="430450" cy="329314"/>
            </a:xfrm>
          </p:grpSpPr>
          <p:sp>
            <p:nvSpPr>
              <p:cNvPr id="358" name="Rectangle 3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9" name="Straight Connector 3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1" name="Straight Connector 360"/>
              <p:cNvCxnSpPr>
                <a:stCxn id="358" idx="2"/>
              </p:cNvCxnSpPr>
              <p:nvPr/>
            </p:nvCxnSpPr>
            <p:spPr>
              <a:xfrm flipH="1" flipV="1">
                <a:off x="3148246"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362" name="Group 347"/>
          <p:cNvGrpSpPr/>
          <p:nvPr/>
        </p:nvGrpSpPr>
        <p:grpSpPr bwMode="auto">
          <a:xfrm>
            <a:off x="5856401" y="5944266"/>
            <a:ext cx="588970" cy="242608"/>
            <a:chOff x="1871277" y="1576300"/>
            <a:chExt cx="1128371" cy="437861"/>
          </a:xfrm>
        </p:grpSpPr>
        <p:sp>
          <p:nvSpPr>
            <p:cNvPr id="363" name="Oval 36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4" name="Rectangle 36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Oval 36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6" name="Freeform 36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7" name="Freeform 36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8" name="Freeform 36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9" name="Freeform 36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0" name="Straight Connector 369"/>
            <p:cNvCxnSpPr>
              <a:endCxn id="36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1" name="Straight Connector 37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2" name="Group 347"/>
          <p:cNvGrpSpPr/>
          <p:nvPr/>
        </p:nvGrpSpPr>
        <p:grpSpPr bwMode="auto">
          <a:xfrm>
            <a:off x="4375328" y="5802169"/>
            <a:ext cx="588970" cy="242608"/>
            <a:chOff x="1871277" y="1576300"/>
            <a:chExt cx="1128371" cy="437861"/>
          </a:xfrm>
        </p:grpSpPr>
        <p:sp>
          <p:nvSpPr>
            <p:cNvPr id="373" name="Oval 37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4" name="Rectangle 37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Oval 37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6" name="Freeform 37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7" name="Freeform 3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0" name="Straight Connector 379"/>
            <p:cNvCxnSpPr>
              <a:endCxn id="37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1" name="Straight Connector 3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82" name="Group 347"/>
          <p:cNvGrpSpPr/>
          <p:nvPr/>
        </p:nvGrpSpPr>
        <p:grpSpPr bwMode="auto">
          <a:xfrm>
            <a:off x="2848241" y="5995982"/>
            <a:ext cx="588970" cy="242608"/>
            <a:chOff x="1871277" y="1576300"/>
            <a:chExt cx="1128371" cy="437861"/>
          </a:xfrm>
        </p:grpSpPr>
        <p:sp>
          <p:nvSpPr>
            <p:cNvPr id="383" name="Oval 3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4" name="Rectangle 3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Oval 3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6" name="Freeform 3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7" name="Freeform 3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0" name="Freeform 389"/>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7" name="Freeform 39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99" name="Straight Connector 398"/>
            <p:cNvCxnSpPr>
              <a:endCxn id="3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00" name="Straight Connector 3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01" name="Group 347"/>
          <p:cNvGrpSpPr/>
          <p:nvPr/>
        </p:nvGrpSpPr>
        <p:grpSpPr bwMode="auto">
          <a:xfrm>
            <a:off x="5166757" y="6262321"/>
            <a:ext cx="588970" cy="242608"/>
            <a:chOff x="1871277" y="1576300"/>
            <a:chExt cx="1128371" cy="437861"/>
          </a:xfrm>
        </p:grpSpPr>
        <p:sp>
          <p:nvSpPr>
            <p:cNvPr id="402" name="Oval 40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07" name="Rectangle 40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12" name="Oval 4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17" name="Freeform 41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2" name="Freeform 42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7" name="Freeform 42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8" name="Freeform 42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9" name="Straight Connector 428"/>
            <p:cNvCxnSpPr>
              <a:endCxn id="4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30" name="Straight Connector 42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31" name="Group 347"/>
          <p:cNvGrpSpPr/>
          <p:nvPr/>
        </p:nvGrpSpPr>
        <p:grpSpPr bwMode="auto">
          <a:xfrm>
            <a:off x="3704088" y="6354901"/>
            <a:ext cx="588970" cy="242608"/>
            <a:chOff x="1871277" y="1576300"/>
            <a:chExt cx="1128371" cy="437861"/>
          </a:xfrm>
        </p:grpSpPr>
        <p:sp>
          <p:nvSpPr>
            <p:cNvPr id="432" name="Oval 43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3" name="Rectangle 43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4" name="Oval 43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5" name="Freeform 43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6" name="Freeform 43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7" name="Freeform 43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8" name="Freeform 43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39" name="Straight Connector 438"/>
            <p:cNvCxnSpPr>
              <a:endCxn id="43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40" name="Straight Connector 43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 name="Group 25"/>
          <p:cNvGrpSpPr/>
          <p:nvPr/>
        </p:nvGrpSpPr>
        <p:grpSpPr>
          <a:xfrm>
            <a:off x="1925875" y="2220187"/>
            <a:ext cx="5095391" cy="2833288"/>
            <a:chOff x="1925876" y="2212958"/>
            <a:chExt cx="5095391" cy="2833288"/>
          </a:xfrm>
        </p:grpSpPr>
        <p:grpSp>
          <p:nvGrpSpPr>
            <p:cNvPr id="12" name="Group 11"/>
            <p:cNvGrpSpPr/>
            <p:nvPr/>
          </p:nvGrpSpPr>
          <p:grpSpPr>
            <a:xfrm>
              <a:off x="2745416" y="2212958"/>
              <a:ext cx="3597533" cy="493677"/>
              <a:chOff x="2705100" y="2011398"/>
              <a:chExt cx="3597533" cy="493677"/>
            </a:xfrm>
          </p:grpSpPr>
          <p:sp>
            <p:nvSpPr>
              <p:cNvPr id="342" name="Oval 341"/>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9" name="Oval 388"/>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308" name="TextBox 389"/>
              <p:cNvSpPr txBox="1">
                <a:spLocks noChangeArrowheads="1"/>
              </p:cNvSpPr>
              <p:nvPr/>
            </p:nvSpPr>
            <p:spPr bwMode="auto">
              <a:xfrm>
                <a:off x="3452664" y="2127167"/>
                <a:ext cx="2057700" cy="29612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800" dirty="0">
                    <a:solidFill>
                      <a:schemeClr val="bg1"/>
                    </a:solidFill>
                  </a:rPr>
                  <a:t>Remote Controller</a:t>
                </a:r>
              </a:p>
            </p:txBody>
          </p:sp>
        </p:grpSp>
        <p:grpSp>
          <p:nvGrpSpPr>
            <p:cNvPr id="442" name="Group 441"/>
            <p:cNvGrpSpPr/>
            <p:nvPr/>
          </p:nvGrpSpPr>
          <p:grpSpPr>
            <a:xfrm>
              <a:off x="1925876" y="4223509"/>
              <a:ext cx="923540" cy="405953"/>
              <a:chOff x="2705100" y="2011398"/>
              <a:chExt cx="3597533" cy="493677"/>
            </a:xfrm>
          </p:grpSpPr>
          <p:sp>
            <p:nvSpPr>
              <p:cNvPr id="443" name="Oval 442"/>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4" name="Oval 443"/>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5" name="TextBox 389"/>
              <p:cNvSpPr txBox="1">
                <a:spLocks noChangeArrowheads="1"/>
              </p:cNvSpPr>
              <p:nvPr/>
            </p:nvSpPr>
            <p:spPr bwMode="auto">
              <a:xfrm>
                <a:off x="3901810" y="2127167"/>
                <a:ext cx="1159411" cy="29612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800" dirty="0">
                    <a:solidFill>
                      <a:schemeClr val="bg1"/>
                    </a:solidFill>
                  </a:rPr>
                  <a:t>CA</a:t>
                </a:r>
              </a:p>
            </p:txBody>
          </p:sp>
        </p:grpSp>
        <p:grpSp>
          <p:nvGrpSpPr>
            <p:cNvPr id="17" name="Group 16"/>
            <p:cNvGrpSpPr/>
            <p:nvPr/>
          </p:nvGrpSpPr>
          <p:grpSpPr>
            <a:xfrm>
              <a:off x="3589508" y="4760377"/>
              <a:ext cx="463568" cy="285869"/>
              <a:chOff x="3558850" y="4573304"/>
              <a:chExt cx="463568" cy="285869"/>
            </a:xfrm>
          </p:grpSpPr>
          <p:grpSp>
            <p:nvGrpSpPr>
              <p:cNvPr id="13" name="Group 12"/>
              <p:cNvGrpSpPr/>
              <p:nvPr/>
            </p:nvGrpSpPr>
            <p:grpSpPr>
              <a:xfrm>
                <a:off x="3558850" y="4577634"/>
                <a:ext cx="463568" cy="262710"/>
                <a:chOff x="3558850" y="4577634"/>
                <a:chExt cx="463568" cy="262710"/>
              </a:xfrm>
            </p:grpSpPr>
            <p:sp>
              <p:nvSpPr>
                <p:cNvPr id="447" name="Oval 446"/>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8" name="Oval 447"/>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49" name="TextBox 389"/>
              <p:cNvSpPr txBox="1">
                <a:spLocks noChangeArrowheads="1"/>
              </p:cNvSpPr>
              <p:nvPr/>
            </p:nvSpPr>
            <p:spPr bwMode="auto">
              <a:xfrm>
                <a:off x="3565935" y="4573304"/>
                <a:ext cx="434071" cy="2858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1" name="Group 450"/>
            <p:cNvGrpSpPr/>
            <p:nvPr/>
          </p:nvGrpSpPr>
          <p:grpSpPr>
            <a:xfrm>
              <a:off x="4369656" y="4758258"/>
              <a:ext cx="463568" cy="285869"/>
              <a:chOff x="3558850" y="4573304"/>
              <a:chExt cx="463568" cy="285869"/>
            </a:xfrm>
          </p:grpSpPr>
          <p:grpSp>
            <p:nvGrpSpPr>
              <p:cNvPr id="452" name="Group 451"/>
              <p:cNvGrpSpPr/>
              <p:nvPr/>
            </p:nvGrpSpPr>
            <p:grpSpPr>
              <a:xfrm>
                <a:off x="3558850" y="4577634"/>
                <a:ext cx="463568" cy="262710"/>
                <a:chOff x="3558850" y="4577634"/>
                <a:chExt cx="463568" cy="262710"/>
              </a:xfrm>
            </p:grpSpPr>
            <p:sp>
              <p:nvSpPr>
                <p:cNvPr id="454" name="Oval 45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5" name="Oval 45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3" name="TextBox 389"/>
              <p:cNvSpPr txBox="1">
                <a:spLocks noChangeArrowheads="1"/>
              </p:cNvSpPr>
              <p:nvPr/>
            </p:nvSpPr>
            <p:spPr bwMode="auto">
              <a:xfrm>
                <a:off x="3565935" y="4573304"/>
                <a:ext cx="434071" cy="2858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6" name="Group 455"/>
            <p:cNvGrpSpPr/>
            <p:nvPr/>
          </p:nvGrpSpPr>
          <p:grpSpPr>
            <a:xfrm>
              <a:off x="5569912" y="4756140"/>
              <a:ext cx="463568" cy="285869"/>
              <a:chOff x="3558850" y="4573304"/>
              <a:chExt cx="463568" cy="285869"/>
            </a:xfrm>
          </p:grpSpPr>
          <p:grpSp>
            <p:nvGrpSpPr>
              <p:cNvPr id="457" name="Group 456"/>
              <p:cNvGrpSpPr/>
              <p:nvPr/>
            </p:nvGrpSpPr>
            <p:grpSpPr>
              <a:xfrm>
                <a:off x="3558850" y="4577634"/>
                <a:ext cx="463568" cy="262710"/>
                <a:chOff x="3558850" y="4577634"/>
                <a:chExt cx="463568" cy="262710"/>
              </a:xfrm>
            </p:grpSpPr>
            <p:sp>
              <p:nvSpPr>
                <p:cNvPr id="459" name="Oval 458"/>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8" name="TextBox 389"/>
              <p:cNvSpPr txBox="1">
                <a:spLocks noChangeArrowheads="1"/>
              </p:cNvSpPr>
              <p:nvPr/>
            </p:nvSpPr>
            <p:spPr bwMode="auto">
              <a:xfrm>
                <a:off x="3565935" y="4573304"/>
                <a:ext cx="434071" cy="2858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61" name="Group 460"/>
            <p:cNvGrpSpPr/>
            <p:nvPr/>
          </p:nvGrpSpPr>
          <p:grpSpPr>
            <a:xfrm>
              <a:off x="6557699" y="4754022"/>
              <a:ext cx="463568" cy="285869"/>
              <a:chOff x="3558850" y="4573304"/>
              <a:chExt cx="463568" cy="285869"/>
            </a:xfrm>
          </p:grpSpPr>
          <p:grpSp>
            <p:nvGrpSpPr>
              <p:cNvPr id="462" name="Group 461"/>
              <p:cNvGrpSpPr/>
              <p:nvPr/>
            </p:nvGrpSpPr>
            <p:grpSpPr>
              <a:xfrm>
                <a:off x="3558850" y="4577634"/>
                <a:ext cx="463568" cy="262710"/>
                <a:chOff x="3558850" y="4577634"/>
                <a:chExt cx="463568" cy="262710"/>
              </a:xfrm>
            </p:grpSpPr>
            <p:sp>
              <p:nvSpPr>
                <p:cNvPr id="464" name="Oval 46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5" name="Oval 46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63" name="TextBox 389"/>
              <p:cNvSpPr txBox="1">
                <a:spLocks noChangeArrowheads="1"/>
              </p:cNvSpPr>
              <p:nvPr/>
            </p:nvSpPr>
            <p:spPr bwMode="auto">
              <a:xfrm>
                <a:off x="3565935" y="4573304"/>
                <a:ext cx="434071" cy="2858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sp>
        <p:nvSpPr>
          <p:cNvPr id="466" name="Slide Number Placeholder 5"/>
          <p:cNvSpPr>
            <a:spLocks noGrp="1"/>
          </p:cNvSpPr>
          <p:nvPr>
            <p:ph type="sldNum" sz="quarter" idx="12"/>
          </p:nvPr>
        </p:nvSpPr>
        <p:spPr>
          <a:xfrm>
            <a:off x="8456155" y="6475895"/>
            <a:ext cx="458808"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6</a:t>
            </a:fld>
            <a:endParaRPr lang="en-US" sz="1200" dirty="0">
              <a:latin typeface="Tahoma" panose="020B0604030504040204" charset="0"/>
            </a:endParaRPr>
          </a:p>
        </p:txBody>
      </p:sp>
      <p:sp>
        <p:nvSpPr>
          <p:cNvPr id="467"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grpSp>
        <p:nvGrpSpPr>
          <p:cNvPr id="10" name="Group 9"/>
          <p:cNvGrpSpPr/>
          <p:nvPr/>
        </p:nvGrpSpPr>
        <p:grpSpPr>
          <a:xfrm>
            <a:off x="2651760" y="3017520"/>
            <a:ext cx="3972560" cy="2032000"/>
            <a:chOff x="2651760" y="3017520"/>
            <a:chExt cx="3972560" cy="2032000"/>
          </a:xfrm>
        </p:grpSpPr>
        <p:cxnSp>
          <p:nvCxnSpPr>
            <p:cNvPr id="338" name="Straight Arrow Connector 337"/>
            <p:cNvCxnSpPr/>
            <p:nvPr/>
          </p:nvCxnSpPr>
          <p:spPr bwMode="auto">
            <a:xfrm>
              <a:off x="2651760" y="3017520"/>
              <a:ext cx="0" cy="166624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3" name="Straight Arrow Connector 342"/>
            <p:cNvCxnSpPr/>
            <p:nvPr/>
          </p:nvCxnSpPr>
          <p:spPr bwMode="auto">
            <a:xfrm>
              <a:off x="364744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7" name="Straight Arrow Connector 346"/>
            <p:cNvCxnSpPr/>
            <p:nvPr/>
          </p:nvCxnSpPr>
          <p:spPr bwMode="auto">
            <a:xfrm>
              <a:off x="446024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8" name="Straight Arrow Connector 347"/>
            <p:cNvCxnSpPr/>
            <p:nvPr/>
          </p:nvCxnSpPr>
          <p:spPr bwMode="auto">
            <a:xfrm>
              <a:off x="565912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9" name="Straight Arrow Connector 348"/>
            <p:cNvCxnSpPr/>
            <p:nvPr/>
          </p:nvCxnSpPr>
          <p:spPr bwMode="auto">
            <a:xfrm>
              <a:off x="662432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8260"/>
                                        </p:tgtEl>
                                        <p:attrNameLst>
                                          <p:attrName>style.visibility</p:attrName>
                                        </p:attrNameLst>
                                      </p:cBhvr>
                                      <p:to>
                                        <p:strVal val="visible"/>
                                      </p:to>
                                    </p:set>
                                    <p:animEffect transition="in" filter="wipe(down)">
                                      <p:cBhvr>
                                        <p:cTn id="7" dur="500"/>
                                        <p:tgtEl>
                                          <p:spTgt spid="482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dissolve">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dissolve">
                                      <p:cBhvr>
                                        <p:cTn id="22" dur="500"/>
                                        <p:tgtEl>
                                          <p:spTgt spid="2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dissolve">
                                      <p:cBhvr>
                                        <p:cTn id="27" dur="500"/>
                                        <p:tgtEl>
                                          <p:spTgt spid="2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up)">
                                      <p:cBhvr>
                                        <p:cTn id="32" dur="500"/>
                                        <p:tgtEl>
                                          <p:spTgt spid="10"/>
                                        </p:tgtEl>
                                      </p:cBhvr>
                                    </p:animEffect>
                                  </p:childTnLst>
                                </p:cTn>
                              </p:par>
                            </p:childTnLst>
                          </p:cTn>
                        </p:par>
                        <p:par>
                          <p:cTn id="33" fill="hold">
                            <p:stCondLst>
                              <p:cond delay="500"/>
                            </p:stCondLst>
                            <p:childTnLst>
                              <p:par>
                                <p:cTn id="34" presetID="9" presetClass="entr" presetSubtype="0" fill="hold" nodeType="after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dissolve">
                                      <p:cBhvr>
                                        <p:cTn id="36" dur="1000"/>
                                        <p:tgtEl>
                                          <p:spTgt spid="24"/>
                                        </p:tgtEl>
                                      </p:cBhvr>
                                    </p:animEffect>
                                  </p:childTnLst>
                                </p:cTn>
                              </p:par>
                            </p:childTnLst>
                          </p:cTn>
                        </p:par>
                        <p:par>
                          <p:cTn id="37" fill="hold">
                            <p:stCondLst>
                              <p:cond delay="1500"/>
                            </p:stCondLst>
                            <p:childTnLst>
                              <p:par>
                                <p:cTn id="38" presetID="9" presetClass="exit" presetSubtype="0" fill="hold" nodeType="afterEffect">
                                  <p:stCondLst>
                                    <p:cond delay="1000"/>
                                  </p:stCondLst>
                                  <p:childTnLst>
                                    <p:animEffect transition="out" filter="dissolve">
                                      <p:cBhvr>
                                        <p:cTn id="39" dur="500"/>
                                        <p:tgtEl>
                                          <p:spTgt spid="10"/>
                                        </p:tgtEl>
                                      </p:cBhvr>
                                    </p:animEffect>
                                    <p:set>
                                      <p:cBhvr>
                                        <p:cTn id="40" dur="1" fill="hold">
                                          <p:stCondLst>
                                            <p:cond delay="499"/>
                                          </p:stCondLst>
                                        </p:cTn>
                                        <p:tgtEl>
                                          <p:spTgt spid="10"/>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48261"/>
                                        </p:tgtEl>
                                        <p:attrNameLst>
                                          <p:attrName>style.visibility</p:attrName>
                                        </p:attrNameLst>
                                      </p:cBhvr>
                                      <p:to>
                                        <p:strVal val="visible"/>
                                      </p:to>
                                    </p:set>
                                    <p:animEffect transition="in" filter="dissolve">
                                      <p:cBhvr>
                                        <p:cTn id="45" dur="500"/>
                                        <p:tgtEl>
                                          <p:spTgt spid="482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p:spPr>
      </p:pic>
      <p:sp>
        <p:nvSpPr>
          <p:cNvPr id="43012" name="Rectangle 3"/>
          <p:cNvSpPr>
            <a:spLocks noGrp="1" noChangeArrowheads="1"/>
          </p:cNvSpPr>
          <p:nvPr>
            <p:ph type="body" sz="half" idx="1"/>
          </p:nvPr>
        </p:nvSpPr>
        <p:spPr/>
        <p:txBody>
          <a:bodyPr/>
          <a:lstStyle/>
          <a:p>
            <a:pPr>
              <a:lnSpc>
                <a:spcPct val="100000"/>
              </a:lnSpc>
              <a:buFont typeface="Wingdings" panose="05000000000000000000" charset="0"/>
              <a:buNone/>
            </a:pPr>
            <a:r>
              <a:rPr lang="en-US" sz="2400" dirty="0">
                <a:latin typeface="Gill Sans MT" pitchFamily="34" charset="0"/>
              </a:rPr>
              <a:t>5.1 introduction</a:t>
            </a:r>
          </a:p>
          <a:p>
            <a:pPr>
              <a:lnSpc>
                <a:spcPct val="100000"/>
              </a:lnSpc>
              <a:buFont typeface="Wingdings" panose="05000000000000000000" charset="0"/>
              <a:buNone/>
            </a:pPr>
            <a:r>
              <a:rPr lang="en-US" sz="2400" dirty="0">
                <a:solidFill>
                  <a:srgbClr val="CC0000"/>
                </a:solidFill>
                <a:latin typeface="Gill Sans MT" pitchFamily="34" charset="0"/>
              </a:rPr>
              <a:t>5.2 routing protocols</a:t>
            </a:r>
          </a:p>
          <a:p>
            <a:pPr>
              <a:lnSpc>
                <a:spcPts val="2580"/>
              </a:lnSpc>
            </a:pPr>
            <a:r>
              <a:rPr lang="en-US" sz="2400" dirty="0">
                <a:solidFill>
                  <a:srgbClr val="CC0000"/>
                </a:solidFill>
                <a:latin typeface="Gill Sans MT" pitchFamily="34" charset="0"/>
              </a:rPr>
              <a:t>link state</a:t>
            </a:r>
          </a:p>
          <a:p>
            <a:pPr>
              <a:lnSpc>
                <a:spcPts val="2580"/>
              </a:lnSpc>
            </a:pPr>
            <a:r>
              <a:rPr lang="en-US" sz="2400" dirty="0">
                <a:solidFill>
                  <a:srgbClr val="CC0000"/>
                </a:solidFill>
                <a:latin typeface="Gill Sans MT" pitchFamily="34" charset="0"/>
              </a:rPr>
              <a:t>distance vector</a:t>
            </a:r>
          </a:p>
          <a:p>
            <a:pPr marL="462280" indent="-462280">
              <a:lnSpc>
                <a:spcPct val="100000"/>
              </a:lnSpc>
              <a:buNone/>
            </a:pPr>
            <a:r>
              <a:rPr lang="en-US" sz="2400" dirty="0"/>
              <a:t>5.3 intra-AS routing in the Internet: OSPF</a:t>
            </a:r>
          </a:p>
          <a:p>
            <a:pPr marL="462280" indent="-462280">
              <a:lnSpc>
                <a:spcPct val="100000"/>
              </a:lnSpc>
              <a:buNone/>
            </a:pPr>
            <a:r>
              <a:rPr lang="en-US" sz="2400" dirty="0"/>
              <a:t>5.4 routing among the ISPs: BGP</a:t>
            </a:r>
            <a:endParaRPr lang="en-US" sz="2400" dirty="0">
              <a:latin typeface="Gill Sans MT" pitchFamily="34" charset="0"/>
            </a:endParaRPr>
          </a:p>
        </p:txBody>
      </p:sp>
      <p:sp>
        <p:nvSpPr>
          <p:cNvPr id="43013" name="Rectangle 4"/>
          <p:cNvSpPr>
            <a:spLocks noGrp="1" noChangeArrowheads="1"/>
          </p:cNvSpPr>
          <p:nvPr>
            <p:ph type="body" sz="half" idx="2"/>
          </p:nvPr>
        </p:nvSpPr>
        <p:spPr/>
        <p:txBody>
          <a:bodyPr/>
          <a:lstStyle/>
          <a:p>
            <a:pPr marL="462280" indent="-462280">
              <a:lnSpc>
                <a:spcPct val="100000"/>
              </a:lnSpc>
              <a:buFont typeface="Wingdings" panose="05000000000000000000" charset="0"/>
              <a:buNone/>
            </a:pPr>
            <a:r>
              <a:rPr lang="en-US" sz="2400" dirty="0">
                <a:latin typeface="Gill Sans MT" pitchFamily="34" charset="0"/>
              </a:rPr>
              <a:t>5.5 The SDN control plane</a:t>
            </a:r>
          </a:p>
          <a:p>
            <a:pPr marL="462280" indent="-462280">
              <a:lnSpc>
                <a:spcPct val="100000"/>
              </a:lnSpc>
              <a:buNone/>
            </a:pPr>
            <a:r>
              <a:rPr lang="en-US" sz="2400" dirty="0"/>
              <a:t>5.6 ICMP: The Internet Control Message Protocol </a:t>
            </a:r>
          </a:p>
          <a:p>
            <a:pPr marL="462280" indent="-462280">
              <a:lnSpc>
                <a:spcPct val="100000"/>
              </a:lnSpc>
              <a:buNone/>
            </a:pPr>
            <a:r>
              <a:rPr lang="en-US" sz="2400" dirty="0"/>
              <a:t>5.7 Network management and SNMP</a:t>
            </a:r>
            <a:endParaRPr lang="en-US" sz="2400" dirty="0">
              <a:latin typeface="Gill Sans MT" pitchFamily="34" charset="0"/>
            </a:endParaRPr>
          </a:p>
        </p:txBody>
      </p:sp>
      <p:sp>
        <p:nvSpPr>
          <p:cNvPr id="43014" name="Rectangle 2"/>
          <p:cNvSpPr>
            <a:spLocks noChangeArrowheads="1"/>
          </p:cNvSpPr>
          <p:nvPr/>
        </p:nvSpPr>
        <p:spPr bwMode="auto">
          <a:xfrm>
            <a:off x="533400" y="228600"/>
            <a:ext cx="7772400" cy="1143000"/>
          </a:xfrm>
          <a:prstGeom prst="rect">
            <a:avLst/>
          </a:prstGeom>
          <a:noFill/>
          <a:ln>
            <a:noFill/>
          </a:ln>
        </p:spPr>
        <p:txBody>
          <a:bodyPr anchor="ctr"/>
          <a:lstStyle/>
          <a:p>
            <a:r>
              <a:rPr lang="en-US" sz="4400" dirty="0">
                <a:solidFill>
                  <a:srgbClr val="000099"/>
                </a:solidFill>
                <a:latin typeface="Gill Sans MT" pitchFamily="34" charset="0"/>
              </a:rPr>
              <a:t>Chapter 5: outline</a:t>
            </a:r>
          </a:p>
        </p:txBody>
      </p:sp>
      <p:sp>
        <p:nvSpPr>
          <p:cNvPr id="8" name="Slide Number Placeholder 5"/>
          <p:cNvSpPr>
            <a:spLocks noGrp="1"/>
          </p:cNvSpPr>
          <p:nvPr>
            <p:ph type="sldNum" sz="quarter" idx="12"/>
          </p:nvPr>
        </p:nvSpPr>
        <p:spPr>
          <a:xfrm>
            <a:off x="8456155" y="6475895"/>
            <a:ext cx="458808"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7</a:t>
            </a:fld>
            <a:endParaRPr lang="en-US" sz="1200" dirty="0">
              <a:latin typeface="Tahoma" panose="020B0604030504040204" charset="0"/>
            </a:endParaRPr>
          </a:p>
        </p:txBody>
      </p:sp>
      <p:sp>
        <p:nvSpPr>
          <p:cNvPr id="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1" name="Picture 22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325" y="836613"/>
            <a:ext cx="3972409" cy="183448"/>
          </a:xfrm>
          <a:prstGeom prst="rect">
            <a:avLst/>
          </a:prstGeom>
          <a:noFill/>
          <a:ln>
            <a:noFill/>
          </a:ln>
        </p:spPr>
      </p:pic>
      <p:sp>
        <p:nvSpPr>
          <p:cNvPr id="130052" name="Rectangle 2"/>
          <p:cNvSpPr>
            <a:spLocks noGrp="1" noChangeArrowheads="1"/>
          </p:cNvSpPr>
          <p:nvPr>
            <p:ph type="title"/>
          </p:nvPr>
        </p:nvSpPr>
        <p:spPr>
          <a:xfrm>
            <a:off x="533400" y="252413"/>
            <a:ext cx="7772400" cy="685800"/>
          </a:xfrm>
        </p:spPr>
        <p:txBody>
          <a:bodyPr/>
          <a:lstStyle/>
          <a:p>
            <a:r>
              <a:rPr lang="en-US" sz="4000" dirty="0">
                <a:latin typeface="Gill Sans MT" pitchFamily="34" charset="0"/>
              </a:rPr>
              <a:t>Routing</a:t>
            </a:r>
            <a:r>
              <a:rPr lang="en-US" altLang="ja-JP" sz="4000" dirty="0">
                <a:latin typeface="Gill Sans MT" pitchFamily="34" charset="0"/>
              </a:rPr>
              <a:t> protocols</a:t>
            </a:r>
            <a:endParaRPr lang="en-US" dirty="0">
              <a:latin typeface="Gill Sans MT" pitchFamily="34" charset="0"/>
            </a:endParaRPr>
          </a:p>
        </p:txBody>
      </p:sp>
      <p:sp>
        <p:nvSpPr>
          <p:cNvPr id="84998" name="Rectangle 3"/>
          <p:cNvSpPr>
            <a:spLocks noGrp="1" noChangeArrowheads="1"/>
          </p:cNvSpPr>
          <p:nvPr>
            <p:ph type="body" sz="half" idx="1"/>
          </p:nvPr>
        </p:nvSpPr>
        <p:spPr>
          <a:xfrm>
            <a:off x="822260" y="1363819"/>
            <a:ext cx="7633893" cy="4274607"/>
          </a:xfrm>
        </p:spPr>
        <p:txBody>
          <a:bodyPr/>
          <a:lstStyle/>
          <a:p>
            <a:pPr marL="0" indent="0">
              <a:lnSpc>
                <a:spcPct val="100000"/>
              </a:lnSpc>
              <a:buNone/>
            </a:pPr>
            <a:r>
              <a:rPr lang="en-US" sz="3200" i="1" dirty="0">
                <a:solidFill>
                  <a:srgbClr val="CC0000"/>
                </a:solidFill>
                <a:cs typeface="+mn-cs"/>
              </a:rPr>
              <a:t>Routing protocol goal:</a:t>
            </a:r>
            <a:r>
              <a:rPr lang="en-US" sz="3200" dirty="0"/>
              <a:t> </a:t>
            </a:r>
            <a:r>
              <a:rPr lang="en-US" dirty="0"/>
              <a:t>determine “good” </a:t>
            </a:r>
            <a:r>
              <a:rPr lang="en-US" sz="3200" b="1" dirty="0">
                <a:solidFill>
                  <a:srgbClr val="C00000"/>
                </a:solidFill>
              </a:rPr>
              <a:t>paths</a:t>
            </a:r>
            <a:r>
              <a:rPr lang="en-US" dirty="0"/>
              <a:t> (equivalently, routes), from sending hosts to receiving host, through network of routers</a:t>
            </a:r>
          </a:p>
          <a:p>
            <a:pPr>
              <a:lnSpc>
                <a:spcPct val="100000"/>
              </a:lnSpc>
            </a:pPr>
            <a:r>
              <a:rPr lang="en-US" dirty="0">
                <a:cs typeface="+mn-cs"/>
              </a:rPr>
              <a:t>path: </a:t>
            </a:r>
            <a:r>
              <a:rPr lang="en-US" u="sng" dirty="0">
                <a:solidFill>
                  <a:schemeClr val="accent1"/>
                </a:solidFill>
                <a:cs typeface="+mn-cs"/>
              </a:rPr>
              <a:t>sequence of routers </a:t>
            </a:r>
            <a:r>
              <a:rPr lang="en-US" dirty="0">
                <a:cs typeface="+mn-cs"/>
              </a:rPr>
              <a:t>packets will traverse in going from given initial source host to given final destination host</a:t>
            </a:r>
          </a:p>
          <a:p>
            <a:pPr>
              <a:lnSpc>
                <a:spcPct val="100000"/>
              </a:lnSpc>
              <a:defRPr/>
            </a:pPr>
            <a:r>
              <a:rPr lang="en-US" dirty="0">
                <a:cs typeface="+mn-cs"/>
              </a:rPr>
              <a:t>“good”: least “cost”, “fastest”, “least congested”</a:t>
            </a:r>
            <a:endParaRPr lang="en-US" sz="2400" dirty="0">
              <a:cs typeface="+mn-cs"/>
            </a:endParaRPr>
          </a:p>
          <a:p>
            <a:pPr>
              <a:lnSpc>
                <a:spcPct val="100000"/>
              </a:lnSpc>
              <a:defRPr/>
            </a:pPr>
            <a:r>
              <a:rPr lang="en-US" dirty="0">
                <a:cs typeface="+mn-cs"/>
              </a:rPr>
              <a:t>routing: a “top-10” networking challenge!</a:t>
            </a:r>
            <a:endParaRPr lang="en-US" sz="3200" dirty="0">
              <a:cs typeface="+mn-cs"/>
            </a:endParaRPr>
          </a:p>
        </p:txBody>
      </p:sp>
      <p:sp>
        <p:nvSpPr>
          <p:cNvPr id="237"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8</a:t>
            </a:fld>
            <a:endParaRPr lang="en-US" sz="1200" dirty="0">
              <a:latin typeface="Tahoma" panose="020B0604030504040204" charset="0"/>
            </a:endParaRPr>
          </a:p>
        </p:txBody>
      </p:sp>
      <p:sp>
        <p:nvSpPr>
          <p:cNvPr id="238"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5" name="Picture 7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8488" y="847724"/>
            <a:ext cx="6924508" cy="210683"/>
          </a:xfrm>
          <a:prstGeom prst="rect">
            <a:avLst/>
          </a:prstGeom>
          <a:noFill/>
          <a:ln>
            <a:noFill/>
          </a:ln>
        </p:spPr>
      </p:pic>
      <p:grpSp>
        <p:nvGrpSpPr>
          <p:cNvPr id="120836" name="Group 2"/>
          <p:cNvGrpSpPr/>
          <p:nvPr/>
        </p:nvGrpSpPr>
        <p:grpSpPr bwMode="auto">
          <a:xfrm>
            <a:off x="3200400" y="1406525"/>
            <a:ext cx="3571875" cy="2236788"/>
            <a:chOff x="3162" y="1071"/>
            <a:chExt cx="2250" cy="1409"/>
          </a:xfrm>
        </p:grpSpPr>
        <p:sp>
          <p:nvSpPr>
            <p:cNvPr id="120840" name="Freeform 3"/>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p:spPr>
          <p:txBody>
            <a:bodyPr wrap="none" anchor="ctr"/>
            <a:lstStyle/>
            <a:p>
              <a:endParaRPr lang="en-US"/>
            </a:p>
          </p:txBody>
        </p:sp>
        <p:sp>
          <p:nvSpPr>
            <p:cNvPr id="120841" name="Freeform 4"/>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ln>
          </p:spPr>
          <p:txBody>
            <a:bodyPr wrap="none" anchor="ctr"/>
            <a:lstStyle/>
            <a:p>
              <a:endParaRPr lang="en-US"/>
            </a:p>
          </p:txBody>
        </p:sp>
        <p:sp>
          <p:nvSpPr>
            <p:cNvPr id="120842" name="Oval 5"/>
            <p:cNvSpPr>
              <a:spLocks noChangeArrowheads="1"/>
            </p:cNvSpPr>
            <p:nvPr/>
          </p:nvSpPr>
          <p:spPr bwMode="auto">
            <a:xfrm>
              <a:off x="3238" y="1862"/>
              <a:ext cx="313" cy="81"/>
            </a:xfrm>
            <a:prstGeom prst="ellipse">
              <a:avLst/>
            </a:prstGeom>
            <a:solidFill>
              <a:schemeClr val="hlink"/>
            </a:solidFill>
            <a:ln w="12700">
              <a:solidFill>
                <a:schemeClr val="tx1"/>
              </a:solidFill>
              <a:round/>
            </a:ln>
          </p:spPr>
          <p:txBody>
            <a:bodyPr wrap="none" anchor="ctr"/>
            <a:lstStyle/>
            <a:p>
              <a:endParaRPr lang="en-US"/>
            </a:p>
          </p:txBody>
        </p:sp>
        <p:sp>
          <p:nvSpPr>
            <p:cNvPr id="120843" name="Line 6"/>
            <p:cNvSpPr>
              <a:spLocks noChangeShapeType="1"/>
            </p:cNvSpPr>
            <p:nvPr/>
          </p:nvSpPr>
          <p:spPr bwMode="auto">
            <a:xfrm>
              <a:off x="3238" y="1855"/>
              <a:ext cx="0" cy="50"/>
            </a:xfrm>
            <a:prstGeom prst="line">
              <a:avLst/>
            </a:prstGeom>
            <a:noFill/>
            <a:ln w="12700">
              <a:solidFill>
                <a:schemeClr val="tx1"/>
              </a:solidFill>
              <a:round/>
            </a:ln>
          </p:spPr>
          <p:txBody>
            <a:bodyPr wrap="none" anchor="ctr"/>
            <a:lstStyle/>
            <a:p>
              <a:endParaRPr lang="en-US"/>
            </a:p>
          </p:txBody>
        </p:sp>
        <p:sp>
          <p:nvSpPr>
            <p:cNvPr id="120844" name="Line 7"/>
            <p:cNvSpPr>
              <a:spLocks noChangeShapeType="1"/>
            </p:cNvSpPr>
            <p:nvPr/>
          </p:nvSpPr>
          <p:spPr bwMode="auto">
            <a:xfrm>
              <a:off x="3551" y="1855"/>
              <a:ext cx="0" cy="50"/>
            </a:xfrm>
            <a:prstGeom prst="line">
              <a:avLst/>
            </a:prstGeom>
            <a:noFill/>
            <a:ln w="12700">
              <a:solidFill>
                <a:schemeClr val="tx1"/>
              </a:solidFill>
              <a:round/>
            </a:ln>
          </p:spPr>
          <p:txBody>
            <a:bodyPr wrap="none" anchor="ctr"/>
            <a:lstStyle/>
            <a:p>
              <a:endParaRPr lang="en-US"/>
            </a:p>
          </p:txBody>
        </p:sp>
        <p:sp>
          <p:nvSpPr>
            <p:cNvPr id="120845" name="Rectangle 8"/>
            <p:cNvSpPr>
              <a:spLocks noChangeArrowheads="1"/>
            </p:cNvSpPr>
            <p:nvPr/>
          </p:nvSpPr>
          <p:spPr bwMode="auto">
            <a:xfrm>
              <a:off x="3238" y="1855"/>
              <a:ext cx="310" cy="49"/>
            </a:xfrm>
            <a:prstGeom prst="rect">
              <a:avLst/>
            </a:prstGeom>
            <a:solidFill>
              <a:schemeClr val="hlink"/>
            </a:solidFill>
            <a:ln>
              <a:noFill/>
            </a:ln>
          </p:spPr>
          <p:txBody>
            <a:bodyPr wrap="none" anchor="ctr"/>
            <a:lstStyle/>
            <a:p>
              <a:pPr algn="ctr"/>
              <a:endParaRPr lang="en-US" sz="2400"/>
            </a:p>
          </p:txBody>
        </p:sp>
        <p:sp>
          <p:nvSpPr>
            <p:cNvPr id="120846" name="Oval 9"/>
            <p:cNvSpPr>
              <a:spLocks noChangeArrowheads="1"/>
            </p:cNvSpPr>
            <p:nvPr/>
          </p:nvSpPr>
          <p:spPr bwMode="auto">
            <a:xfrm>
              <a:off x="3235" y="1796"/>
              <a:ext cx="313" cy="95"/>
            </a:xfrm>
            <a:prstGeom prst="ellipse">
              <a:avLst/>
            </a:prstGeom>
            <a:solidFill>
              <a:schemeClr val="hlink"/>
            </a:solidFill>
            <a:ln w="12700">
              <a:solidFill>
                <a:schemeClr val="tx1"/>
              </a:solidFill>
              <a:round/>
            </a:ln>
          </p:spPr>
          <p:txBody>
            <a:bodyPr wrap="none" anchor="ctr"/>
            <a:lstStyle/>
            <a:p>
              <a:endParaRPr lang="en-US"/>
            </a:p>
          </p:txBody>
        </p:sp>
        <p:sp>
          <p:nvSpPr>
            <p:cNvPr id="120847" name="Oval 10"/>
            <p:cNvSpPr>
              <a:spLocks noChangeArrowheads="1"/>
            </p:cNvSpPr>
            <p:nvPr/>
          </p:nvSpPr>
          <p:spPr bwMode="auto">
            <a:xfrm>
              <a:off x="3712" y="2249"/>
              <a:ext cx="313" cy="81"/>
            </a:xfrm>
            <a:prstGeom prst="ellipse">
              <a:avLst/>
            </a:prstGeom>
            <a:solidFill>
              <a:schemeClr val="hlink"/>
            </a:solidFill>
            <a:ln w="12700">
              <a:solidFill>
                <a:schemeClr val="tx1"/>
              </a:solidFill>
              <a:round/>
            </a:ln>
          </p:spPr>
          <p:txBody>
            <a:bodyPr wrap="none" anchor="ctr"/>
            <a:lstStyle/>
            <a:p>
              <a:endParaRPr lang="en-US"/>
            </a:p>
          </p:txBody>
        </p:sp>
        <p:sp>
          <p:nvSpPr>
            <p:cNvPr id="120848" name="Line 11"/>
            <p:cNvSpPr>
              <a:spLocks noChangeShapeType="1"/>
            </p:cNvSpPr>
            <p:nvPr/>
          </p:nvSpPr>
          <p:spPr bwMode="auto">
            <a:xfrm>
              <a:off x="3712" y="2242"/>
              <a:ext cx="0" cy="50"/>
            </a:xfrm>
            <a:prstGeom prst="line">
              <a:avLst/>
            </a:prstGeom>
            <a:noFill/>
            <a:ln w="12700">
              <a:solidFill>
                <a:schemeClr val="tx1"/>
              </a:solidFill>
              <a:round/>
            </a:ln>
          </p:spPr>
          <p:txBody>
            <a:bodyPr wrap="none" anchor="ctr"/>
            <a:lstStyle/>
            <a:p>
              <a:endParaRPr lang="en-US"/>
            </a:p>
          </p:txBody>
        </p:sp>
        <p:sp>
          <p:nvSpPr>
            <p:cNvPr id="120849" name="Line 12"/>
            <p:cNvSpPr>
              <a:spLocks noChangeShapeType="1"/>
            </p:cNvSpPr>
            <p:nvPr/>
          </p:nvSpPr>
          <p:spPr bwMode="auto">
            <a:xfrm>
              <a:off x="4025" y="2242"/>
              <a:ext cx="0" cy="50"/>
            </a:xfrm>
            <a:prstGeom prst="line">
              <a:avLst/>
            </a:prstGeom>
            <a:noFill/>
            <a:ln w="12700">
              <a:solidFill>
                <a:schemeClr val="tx1"/>
              </a:solidFill>
              <a:round/>
            </a:ln>
          </p:spPr>
          <p:txBody>
            <a:bodyPr wrap="none" anchor="ctr"/>
            <a:lstStyle/>
            <a:p>
              <a:endParaRPr lang="en-US"/>
            </a:p>
          </p:txBody>
        </p:sp>
        <p:sp>
          <p:nvSpPr>
            <p:cNvPr id="120850" name="Rectangle 13"/>
            <p:cNvSpPr>
              <a:spLocks noChangeArrowheads="1"/>
            </p:cNvSpPr>
            <p:nvPr/>
          </p:nvSpPr>
          <p:spPr bwMode="auto">
            <a:xfrm>
              <a:off x="3712" y="2242"/>
              <a:ext cx="310" cy="49"/>
            </a:xfrm>
            <a:prstGeom prst="rect">
              <a:avLst/>
            </a:prstGeom>
            <a:solidFill>
              <a:schemeClr val="hlink"/>
            </a:solidFill>
            <a:ln>
              <a:noFill/>
            </a:ln>
          </p:spPr>
          <p:txBody>
            <a:bodyPr wrap="none" anchor="ctr"/>
            <a:lstStyle/>
            <a:p>
              <a:pPr algn="ctr"/>
              <a:endParaRPr lang="en-US" sz="2400"/>
            </a:p>
          </p:txBody>
        </p:sp>
        <p:sp>
          <p:nvSpPr>
            <p:cNvPr id="120851" name="Oval 14"/>
            <p:cNvSpPr>
              <a:spLocks noChangeArrowheads="1"/>
            </p:cNvSpPr>
            <p:nvPr/>
          </p:nvSpPr>
          <p:spPr bwMode="auto">
            <a:xfrm>
              <a:off x="3709" y="2183"/>
              <a:ext cx="313" cy="95"/>
            </a:xfrm>
            <a:prstGeom prst="ellipse">
              <a:avLst/>
            </a:prstGeom>
            <a:solidFill>
              <a:schemeClr val="hlink"/>
            </a:solidFill>
            <a:ln w="12700">
              <a:solidFill>
                <a:schemeClr val="tx1"/>
              </a:solidFill>
              <a:round/>
            </a:ln>
          </p:spPr>
          <p:txBody>
            <a:bodyPr wrap="none" anchor="ctr"/>
            <a:lstStyle/>
            <a:p>
              <a:endParaRPr lang="en-US"/>
            </a:p>
          </p:txBody>
        </p:sp>
        <p:sp>
          <p:nvSpPr>
            <p:cNvPr id="120852" name="Oval 15"/>
            <p:cNvSpPr>
              <a:spLocks noChangeArrowheads="1"/>
            </p:cNvSpPr>
            <p:nvPr/>
          </p:nvSpPr>
          <p:spPr bwMode="auto">
            <a:xfrm>
              <a:off x="3708" y="1559"/>
              <a:ext cx="313" cy="81"/>
            </a:xfrm>
            <a:prstGeom prst="ellipse">
              <a:avLst/>
            </a:prstGeom>
            <a:solidFill>
              <a:schemeClr val="hlink"/>
            </a:solidFill>
            <a:ln w="12700">
              <a:solidFill>
                <a:schemeClr val="tx1"/>
              </a:solidFill>
              <a:round/>
            </a:ln>
          </p:spPr>
          <p:txBody>
            <a:bodyPr wrap="none" anchor="ctr"/>
            <a:lstStyle/>
            <a:p>
              <a:endParaRPr lang="en-US"/>
            </a:p>
          </p:txBody>
        </p:sp>
        <p:sp>
          <p:nvSpPr>
            <p:cNvPr id="120853" name="Line 16"/>
            <p:cNvSpPr>
              <a:spLocks noChangeShapeType="1"/>
            </p:cNvSpPr>
            <p:nvPr/>
          </p:nvSpPr>
          <p:spPr bwMode="auto">
            <a:xfrm>
              <a:off x="3708" y="1552"/>
              <a:ext cx="0" cy="50"/>
            </a:xfrm>
            <a:prstGeom prst="line">
              <a:avLst/>
            </a:prstGeom>
            <a:noFill/>
            <a:ln w="12700">
              <a:solidFill>
                <a:schemeClr val="tx1"/>
              </a:solidFill>
              <a:round/>
            </a:ln>
          </p:spPr>
          <p:txBody>
            <a:bodyPr wrap="none" anchor="ctr"/>
            <a:lstStyle/>
            <a:p>
              <a:endParaRPr lang="en-US"/>
            </a:p>
          </p:txBody>
        </p:sp>
        <p:sp>
          <p:nvSpPr>
            <p:cNvPr id="120854" name="Line 17"/>
            <p:cNvSpPr>
              <a:spLocks noChangeShapeType="1"/>
            </p:cNvSpPr>
            <p:nvPr/>
          </p:nvSpPr>
          <p:spPr bwMode="auto">
            <a:xfrm>
              <a:off x="4021" y="1552"/>
              <a:ext cx="0" cy="50"/>
            </a:xfrm>
            <a:prstGeom prst="line">
              <a:avLst/>
            </a:prstGeom>
            <a:noFill/>
            <a:ln w="12700">
              <a:solidFill>
                <a:schemeClr val="tx1"/>
              </a:solidFill>
              <a:round/>
            </a:ln>
          </p:spPr>
          <p:txBody>
            <a:bodyPr wrap="none" anchor="ctr"/>
            <a:lstStyle/>
            <a:p>
              <a:endParaRPr lang="en-US"/>
            </a:p>
          </p:txBody>
        </p:sp>
        <p:sp>
          <p:nvSpPr>
            <p:cNvPr id="120855" name="Rectangle 18"/>
            <p:cNvSpPr>
              <a:spLocks noChangeArrowheads="1"/>
            </p:cNvSpPr>
            <p:nvPr/>
          </p:nvSpPr>
          <p:spPr bwMode="auto">
            <a:xfrm>
              <a:off x="3708" y="1552"/>
              <a:ext cx="310" cy="49"/>
            </a:xfrm>
            <a:prstGeom prst="rect">
              <a:avLst/>
            </a:prstGeom>
            <a:solidFill>
              <a:schemeClr val="hlink"/>
            </a:solidFill>
            <a:ln>
              <a:noFill/>
            </a:ln>
          </p:spPr>
          <p:txBody>
            <a:bodyPr wrap="none" anchor="ctr"/>
            <a:lstStyle/>
            <a:p>
              <a:pPr algn="ctr"/>
              <a:endParaRPr lang="en-US" sz="2400"/>
            </a:p>
          </p:txBody>
        </p:sp>
        <p:sp>
          <p:nvSpPr>
            <p:cNvPr id="120856" name="Oval 19"/>
            <p:cNvSpPr>
              <a:spLocks noChangeArrowheads="1"/>
            </p:cNvSpPr>
            <p:nvPr/>
          </p:nvSpPr>
          <p:spPr bwMode="auto">
            <a:xfrm>
              <a:off x="3705" y="1493"/>
              <a:ext cx="313" cy="95"/>
            </a:xfrm>
            <a:prstGeom prst="ellipse">
              <a:avLst/>
            </a:prstGeom>
            <a:solidFill>
              <a:schemeClr val="hlink"/>
            </a:solidFill>
            <a:ln w="12700">
              <a:solidFill>
                <a:schemeClr val="tx1"/>
              </a:solidFill>
              <a:round/>
            </a:ln>
          </p:spPr>
          <p:txBody>
            <a:bodyPr wrap="none" anchor="ctr"/>
            <a:lstStyle/>
            <a:p>
              <a:endParaRPr lang="en-US"/>
            </a:p>
          </p:txBody>
        </p:sp>
        <p:sp>
          <p:nvSpPr>
            <p:cNvPr id="120857" name="Oval 20"/>
            <p:cNvSpPr>
              <a:spLocks noChangeArrowheads="1"/>
            </p:cNvSpPr>
            <p:nvPr/>
          </p:nvSpPr>
          <p:spPr bwMode="auto">
            <a:xfrm>
              <a:off x="4391" y="1555"/>
              <a:ext cx="312" cy="81"/>
            </a:xfrm>
            <a:prstGeom prst="ellipse">
              <a:avLst/>
            </a:prstGeom>
            <a:solidFill>
              <a:schemeClr val="hlink"/>
            </a:solidFill>
            <a:ln w="12700">
              <a:solidFill>
                <a:schemeClr val="tx1"/>
              </a:solidFill>
              <a:round/>
            </a:ln>
          </p:spPr>
          <p:txBody>
            <a:bodyPr wrap="none" anchor="ctr"/>
            <a:lstStyle/>
            <a:p>
              <a:endParaRPr lang="en-US"/>
            </a:p>
          </p:txBody>
        </p:sp>
        <p:sp>
          <p:nvSpPr>
            <p:cNvPr id="120858" name="Line 21"/>
            <p:cNvSpPr>
              <a:spLocks noChangeShapeType="1"/>
            </p:cNvSpPr>
            <p:nvPr/>
          </p:nvSpPr>
          <p:spPr bwMode="auto">
            <a:xfrm>
              <a:off x="4391" y="1548"/>
              <a:ext cx="0" cy="50"/>
            </a:xfrm>
            <a:prstGeom prst="line">
              <a:avLst/>
            </a:prstGeom>
            <a:noFill/>
            <a:ln w="12700">
              <a:solidFill>
                <a:schemeClr val="tx1"/>
              </a:solidFill>
              <a:round/>
            </a:ln>
          </p:spPr>
          <p:txBody>
            <a:bodyPr wrap="none" anchor="ctr"/>
            <a:lstStyle/>
            <a:p>
              <a:endParaRPr lang="en-US"/>
            </a:p>
          </p:txBody>
        </p:sp>
        <p:sp>
          <p:nvSpPr>
            <p:cNvPr id="120859" name="Line 22"/>
            <p:cNvSpPr>
              <a:spLocks noChangeShapeType="1"/>
            </p:cNvSpPr>
            <p:nvPr/>
          </p:nvSpPr>
          <p:spPr bwMode="auto">
            <a:xfrm>
              <a:off x="4703" y="1548"/>
              <a:ext cx="0" cy="50"/>
            </a:xfrm>
            <a:prstGeom prst="line">
              <a:avLst/>
            </a:prstGeom>
            <a:noFill/>
            <a:ln w="12700">
              <a:solidFill>
                <a:schemeClr val="tx1"/>
              </a:solidFill>
              <a:round/>
            </a:ln>
          </p:spPr>
          <p:txBody>
            <a:bodyPr wrap="none" anchor="ctr"/>
            <a:lstStyle/>
            <a:p>
              <a:endParaRPr lang="en-US"/>
            </a:p>
          </p:txBody>
        </p:sp>
        <p:sp>
          <p:nvSpPr>
            <p:cNvPr id="120860" name="Rectangle 23"/>
            <p:cNvSpPr>
              <a:spLocks noChangeArrowheads="1"/>
            </p:cNvSpPr>
            <p:nvPr/>
          </p:nvSpPr>
          <p:spPr bwMode="auto">
            <a:xfrm>
              <a:off x="4391" y="1548"/>
              <a:ext cx="309" cy="49"/>
            </a:xfrm>
            <a:prstGeom prst="rect">
              <a:avLst/>
            </a:prstGeom>
            <a:solidFill>
              <a:schemeClr val="hlink"/>
            </a:solidFill>
            <a:ln>
              <a:noFill/>
            </a:ln>
          </p:spPr>
          <p:txBody>
            <a:bodyPr wrap="none" anchor="ctr"/>
            <a:lstStyle/>
            <a:p>
              <a:pPr algn="ctr"/>
              <a:endParaRPr lang="en-US" sz="2400"/>
            </a:p>
          </p:txBody>
        </p:sp>
        <p:sp>
          <p:nvSpPr>
            <p:cNvPr id="120861" name="Oval 24"/>
            <p:cNvSpPr>
              <a:spLocks noChangeArrowheads="1"/>
            </p:cNvSpPr>
            <p:nvPr/>
          </p:nvSpPr>
          <p:spPr bwMode="auto">
            <a:xfrm>
              <a:off x="4394" y="1492"/>
              <a:ext cx="312" cy="95"/>
            </a:xfrm>
            <a:prstGeom prst="ellipse">
              <a:avLst/>
            </a:prstGeom>
            <a:solidFill>
              <a:schemeClr val="hlink"/>
            </a:solidFill>
            <a:ln w="12700">
              <a:solidFill>
                <a:schemeClr val="tx1"/>
              </a:solidFill>
              <a:round/>
            </a:ln>
          </p:spPr>
          <p:txBody>
            <a:bodyPr wrap="none" anchor="ctr"/>
            <a:lstStyle/>
            <a:p>
              <a:endParaRPr lang="en-US"/>
            </a:p>
          </p:txBody>
        </p:sp>
        <p:sp>
          <p:nvSpPr>
            <p:cNvPr id="120862" name="Oval 25"/>
            <p:cNvSpPr>
              <a:spLocks noChangeArrowheads="1"/>
            </p:cNvSpPr>
            <p:nvPr/>
          </p:nvSpPr>
          <p:spPr bwMode="auto">
            <a:xfrm>
              <a:off x="4401" y="2246"/>
              <a:ext cx="313" cy="81"/>
            </a:xfrm>
            <a:prstGeom prst="ellipse">
              <a:avLst/>
            </a:prstGeom>
            <a:solidFill>
              <a:schemeClr val="hlink"/>
            </a:solidFill>
            <a:ln w="12700">
              <a:solidFill>
                <a:schemeClr val="tx1"/>
              </a:solidFill>
              <a:round/>
            </a:ln>
          </p:spPr>
          <p:txBody>
            <a:bodyPr wrap="none" anchor="ctr"/>
            <a:lstStyle/>
            <a:p>
              <a:endParaRPr lang="en-US"/>
            </a:p>
          </p:txBody>
        </p:sp>
        <p:sp>
          <p:nvSpPr>
            <p:cNvPr id="120863" name="Line 26"/>
            <p:cNvSpPr>
              <a:spLocks noChangeShapeType="1"/>
            </p:cNvSpPr>
            <p:nvPr/>
          </p:nvSpPr>
          <p:spPr bwMode="auto">
            <a:xfrm>
              <a:off x="4401" y="2239"/>
              <a:ext cx="0" cy="50"/>
            </a:xfrm>
            <a:prstGeom prst="line">
              <a:avLst/>
            </a:prstGeom>
            <a:noFill/>
            <a:ln w="12700">
              <a:solidFill>
                <a:schemeClr val="tx1"/>
              </a:solidFill>
              <a:round/>
            </a:ln>
          </p:spPr>
          <p:txBody>
            <a:bodyPr wrap="none" anchor="ctr"/>
            <a:lstStyle/>
            <a:p>
              <a:endParaRPr lang="en-US"/>
            </a:p>
          </p:txBody>
        </p:sp>
        <p:sp>
          <p:nvSpPr>
            <p:cNvPr id="120864" name="Line 27"/>
            <p:cNvSpPr>
              <a:spLocks noChangeShapeType="1"/>
            </p:cNvSpPr>
            <p:nvPr/>
          </p:nvSpPr>
          <p:spPr bwMode="auto">
            <a:xfrm>
              <a:off x="4714" y="2239"/>
              <a:ext cx="0" cy="50"/>
            </a:xfrm>
            <a:prstGeom prst="line">
              <a:avLst/>
            </a:prstGeom>
            <a:noFill/>
            <a:ln w="12700">
              <a:solidFill>
                <a:schemeClr val="tx1"/>
              </a:solidFill>
              <a:round/>
            </a:ln>
          </p:spPr>
          <p:txBody>
            <a:bodyPr wrap="none" anchor="ctr"/>
            <a:lstStyle/>
            <a:p>
              <a:endParaRPr lang="en-US"/>
            </a:p>
          </p:txBody>
        </p:sp>
        <p:sp>
          <p:nvSpPr>
            <p:cNvPr id="120865" name="Rectangle 28"/>
            <p:cNvSpPr>
              <a:spLocks noChangeArrowheads="1"/>
            </p:cNvSpPr>
            <p:nvPr/>
          </p:nvSpPr>
          <p:spPr bwMode="auto">
            <a:xfrm>
              <a:off x="4401" y="2239"/>
              <a:ext cx="310" cy="49"/>
            </a:xfrm>
            <a:prstGeom prst="rect">
              <a:avLst/>
            </a:prstGeom>
            <a:solidFill>
              <a:schemeClr val="hlink"/>
            </a:solidFill>
            <a:ln>
              <a:noFill/>
            </a:ln>
          </p:spPr>
          <p:txBody>
            <a:bodyPr wrap="none" anchor="ctr"/>
            <a:lstStyle/>
            <a:p>
              <a:pPr algn="ctr"/>
              <a:endParaRPr lang="en-US" sz="2400"/>
            </a:p>
          </p:txBody>
        </p:sp>
        <p:sp>
          <p:nvSpPr>
            <p:cNvPr id="120866" name="Oval 29"/>
            <p:cNvSpPr>
              <a:spLocks noChangeArrowheads="1"/>
            </p:cNvSpPr>
            <p:nvPr/>
          </p:nvSpPr>
          <p:spPr bwMode="auto">
            <a:xfrm>
              <a:off x="4398" y="2180"/>
              <a:ext cx="313" cy="95"/>
            </a:xfrm>
            <a:prstGeom prst="ellipse">
              <a:avLst/>
            </a:prstGeom>
            <a:solidFill>
              <a:schemeClr val="hlink"/>
            </a:solidFill>
            <a:ln w="12700">
              <a:solidFill>
                <a:schemeClr val="tx1"/>
              </a:solidFill>
              <a:round/>
            </a:ln>
          </p:spPr>
          <p:txBody>
            <a:bodyPr wrap="none" anchor="ctr"/>
            <a:lstStyle/>
            <a:p>
              <a:endParaRPr lang="en-US"/>
            </a:p>
          </p:txBody>
        </p:sp>
        <p:sp>
          <p:nvSpPr>
            <p:cNvPr id="120867" name="Oval 30"/>
            <p:cNvSpPr>
              <a:spLocks noChangeArrowheads="1"/>
            </p:cNvSpPr>
            <p:nvPr/>
          </p:nvSpPr>
          <p:spPr bwMode="auto">
            <a:xfrm>
              <a:off x="4966" y="1905"/>
              <a:ext cx="313" cy="81"/>
            </a:xfrm>
            <a:prstGeom prst="ellipse">
              <a:avLst/>
            </a:prstGeom>
            <a:solidFill>
              <a:schemeClr val="hlink"/>
            </a:solidFill>
            <a:ln w="12700">
              <a:solidFill>
                <a:schemeClr val="tx1"/>
              </a:solidFill>
              <a:round/>
            </a:ln>
          </p:spPr>
          <p:txBody>
            <a:bodyPr wrap="none" anchor="ctr"/>
            <a:lstStyle/>
            <a:p>
              <a:endParaRPr lang="en-US"/>
            </a:p>
          </p:txBody>
        </p:sp>
        <p:sp>
          <p:nvSpPr>
            <p:cNvPr id="120868" name="Line 31"/>
            <p:cNvSpPr>
              <a:spLocks noChangeShapeType="1"/>
            </p:cNvSpPr>
            <p:nvPr/>
          </p:nvSpPr>
          <p:spPr bwMode="auto">
            <a:xfrm>
              <a:off x="4966" y="1898"/>
              <a:ext cx="0" cy="50"/>
            </a:xfrm>
            <a:prstGeom prst="line">
              <a:avLst/>
            </a:prstGeom>
            <a:noFill/>
            <a:ln w="12700">
              <a:solidFill>
                <a:schemeClr val="tx1"/>
              </a:solidFill>
              <a:round/>
            </a:ln>
          </p:spPr>
          <p:txBody>
            <a:bodyPr wrap="none" anchor="ctr"/>
            <a:lstStyle/>
            <a:p>
              <a:endParaRPr lang="en-US"/>
            </a:p>
          </p:txBody>
        </p:sp>
        <p:sp>
          <p:nvSpPr>
            <p:cNvPr id="120869" name="Line 32"/>
            <p:cNvSpPr>
              <a:spLocks noChangeShapeType="1"/>
            </p:cNvSpPr>
            <p:nvPr/>
          </p:nvSpPr>
          <p:spPr bwMode="auto">
            <a:xfrm>
              <a:off x="5279" y="1898"/>
              <a:ext cx="0" cy="50"/>
            </a:xfrm>
            <a:prstGeom prst="line">
              <a:avLst/>
            </a:prstGeom>
            <a:noFill/>
            <a:ln w="12700">
              <a:solidFill>
                <a:schemeClr val="tx1"/>
              </a:solidFill>
              <a:round/>
            </a:ln>
          </p:spPr>
          <p:txBody>
            <a:bodyPr wrap="none" anchor="ctr"/>
            <a:lstStyle/>
            <a:p>
              <a:endParaRPr lang="en-US"/>
            </a:p>
          </p:txBody>
        </p:sp>
        <p:sp>
          <p:nvSpPr>
            <p:cNvPr id="120870" name="Rectangle 33"/>
            <p:cNvSpPr>
              <a:spLocks noChangeArrowheads="1"/>
            </p:cNvSpPr>
            <p:nvPr/>
          </p:nvSpPr>
          <p:spPr bwMode="auto">
            <a:xfrm>
              <a:off x="4966" y="1898"/>
              <a:ext cx="310" cy="49"/>
            </a:xfrm>
            <a:prstGeom prst="rect">
              <a:avLst/>
            </a:prstGeom>
            <a:solidFill>
              <a:schemeClr val="hlink"/>
            </a:solidFill>
            <a:ln>
              <a:noFill/>
            </a:ln>
          </p:spPr>
          <p:txBody>
            <a:bodyPr wrap="none" anchor="ctr"/>
            <a:lstStyle/>
            <a:p>
              <a:pPr algn="ctr"/>
              <a:endParaRPr lang="en-US" sz="2400"/>
            </a:p>
          </p:txBody>
        </p:sp>
        <p:sp>
          <p:nvSpPr>
            <p:cNvPr id="120871" name="Oval 34"/>
            <p:cNvSpPr>
              <a:spLocks noChangeArrowheads="1"/>
            </p:cNvSpPr>
            <p:nvPr/>
          </p:nvSpPr>
          <p:spPr bwMode="auto">
            <a:xfrm>
              <a:off x="4963" y="1839"/>
              <a:ext cx="313" cy="95"/>
            </a:xfrm>
            <a:prstGeom prst="ellipse">
              <a:avLst/>
            </a:prstGeom>
            <a:solidFill>
              <a:schemeClr val="hlink"/>
            </a:solidFill>
            <a:ln w="12700">
              <a:solidFill>
                <a:schemeClr val="tx1"/>
              </a:solidFill>
              <a:round/>
            </a:ln>
          </p:spPr>
          <p:txBody>
            <a:bodyPr wrap="none" anchor="ctr"/>
            <a:lstStyle/>
            <a:p>
              <a:endParaRPr lang="en-US"/>
            </a:p>
          </p:txBody>
        </p:sp>
        <p:sp>
          <p:nvSpPr>
            <p:cNvPr id="120872" name="Freeform 35"/>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ln>
          </p:spPr>
          <p:txBody>
            <a:bodyPr wrap="none" anchor="ctr"/>
            <a:lstStyle/>
            <a:p>
              <a:endParaRPr lang="en-US"/>
            </a:p>
          </p:txBody>
        </p:sp>
        <p:sp>
          <p:nvSpPr>
            <p:cNvPr id="120873" name="Freeform 36"/>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ln>
          </p:spPr>
          <p:txBody>
            <a:bodyPr wrap="none" anchor="ctr"/>
            <a:lstStyle/>
            <a:p>
              <a:endParaRPr lang="en-US"/>
            </a:p>
          </p:txBody>
        </p:sp>
        <p:sp>
          <p:nvSpPr>
            <p:cNvPr id="120874" name="Freeform 37"/>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ln>
          </p:spPr>
          <p:txBody>
            <a:bodyPr wrap="none" anchor="ctr"/>
            <a:lstStyle/>
            <a:p>
              <a:endParaRPr lang="en-US"/>
            </a:p>
          </p:txBody>
        </p:sp>
        <p:sp>
          <p:nvSpPr>
            <p:cNvPr id="120875" name="Freeform 38"/>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ln>
          </p:spPr>
          <p:txBody>
            <a:bodyPr wrap="none" anchor="ctr"/>
            <a:lstStyle/>
            <a:p>
              <a:endParaRPr lang="en-US"/>
            </a:p>
          </p:txBody>
        </p:sp>
        <p:sp>
          <p:nvSpPr>
            <p:cNvPr id="120876" name="Freeform 39"/>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20877" name="Freeform 40"/>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ln>
          </p:spPr>
          <p:txBody>
            <a:bodyPr wrap="none" anchor="ctr"/>
            <a:lstStyle/>
            <a:p>
              <a:endParaRPr lang="en-US"/>
            </a:p>
          </p:txBody>
        </p:sp>
        <p:sp>
          <p:nvSpPr>
            <p:cNvPr id="120878" name="Freeform 41"/>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20879" name="Freeform 42"/>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ln>
          </p:spPr>
          <p:txBody>
            <a:bodyPr wrap="none" anchor="ctr"/>
            <a:lstStyle/>
            <a:p>
              <a:endParaRPr lang="en-US"/>
            </a:p>
          </p:txBody>
        </p:sp>
        <p:sp>
          <p:nvSpPr>
            <p:cNvPr id="120880" name="Freeform 43"/>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ln>
          </p:spPr>
          <p:txBody>
            <a:bodyPr wrap="none" anchor="ctr"/>
            <a:lstStyle/>
            <a:p>
              <a:endParaRPr lang="en-US"/>
            </a:p>
          </p:txBody>
        </p:sp>
        <p:grpSp>
          <p:nvGrpSpPr>
            <p:cNvPr id="120881" name="Group 44"/>
            <p:cNvGrpSpPr/>
            <p:nvPr/>
          </p:nvGrpSpPr>
          <p:grpSpPr bwMode="auto">
            <a:xfrm>
              <a:off x="3287" y="1744"/>
              <a:ext cx="205" cy="250"/>
              <a:chOff x="2954" y="2425"/>
              <a:chExt cx="208" cy="250"/>
            </a:xfrm>
          </p:grpSpPr>
          <p:sp>
            <p:nvSpPr>
              <p:cNvPr id="120907" name="Rectangle 45"/>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20908" name="Text Box 46"/>
              <p:cNvSpPr txBox="1">
                <a:spLocks noChangeArrowheads="1"/>
              </p:cNvSpPr>
              <p:nvPr/>
            </p:nvSpPr>
            <p:spPr bwMode="auto">
              <a:xfrm>
                <a:off x="2954" y="2425"/>
                <a:ext cx="208"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u</a:t>
                </a:r>
                <a:endParaRPr lang="en-US"/>
              </a:p>
            </p:txBody>
          </p:sp>
        </p:grpSp>
        <p:grpSp>
          <p:nvGrpSpPr>
            <p:cNvPr id="120882" name="Group 47"/>
            <p:cNvGrpSpPr/>
            <p:nvPr/>
          </p:nvGrpSpPr>
          <p:grpSpPr bwMode="auto">
            <a:xfrm>
              <a:off x="4461" y="2128"/>
              <a:ext cx="196" cy="250"/>
              <a:chOff x="2958" y="2425"/>
              <a:chExt cx="199" cy="250"/>
            </a:xfrm>
          </p:grpSpPr>
          <p:sp>
            <p:nvSpPr>
              <p:cNvPr id="120905" name="Rectangle 48"/>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0906" name="Text Box 49"/>
              <p:cNvSpPr txBox="1">
                <a:spLocks noChangeArrowheads="1"/>
              </p:cNvSpPr>
              <p:nvPr/>
            </p:nvSpPr>
            <p:spPr bwMode="auto">
              <a:xfrm>
                <a:off x="2958" y="2425"/>
                <a:ext cx="1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y</a:t>
                </a:r>
                <a:endParaRPr lang="en-US"/>
              </a:p>
            </p:txBody>
          </p:sp>
        </p:grpSp>
        <p:grpSp>
          <p:nvGrpSpPr>
            <p:cNvPr id="120883" name="Group 50"/>
            <p:cNvGrpSpPr/>
            <p:nvPr/>
          </p:nvGrpSpPr>
          <p:grpSpPr bwMode="auto">
            <a:xfrm>
              <a:off x="3772" y="2095"/>
              <a:ext cx="212" cy="288"/>
              <a:chOff x="2951" y="2395"/>
              <a:chExt cx="213" cy="288"/>
            </a:xfrm>
          </p:grpSpPr>
          <p:sp>
            <p:nvSpPr>
              <p:cNvPr id="120903" name="Rectangle 51"/>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20904" name="Text Box 52"/>
              <p:cNvSpPr txBox="1">
                <a:spLocks noChangeArrowheads="1"/>
              </p:cNvSpPr>
              <p:nvPr/>
            </p:nvSpPr>
            <p:spPr bwMode="auto">
              <a:xfrm>
                <a:off x="2951" y="2395"/>
                <a:ext cx="213"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x</a:t>
                </a:r>
              </a:p>
            </p:txBody>
          </p:sp>
        </p:grpSp>
        <p:grpSp>
          <p:nvGrpSpPr>
            <p:cNvPr id="120884" name="Group 53"/>
            <p:cNvGrpSpPr/>
            <p:nvPr/>
          </p:nvGrpSpPr>
          <p:grpSpPr bwMode="auto">
            <a:xfrm>
              <a:off x="4438" y="1438"/>
              <a:ext cx="232" cy="250"/>
              <a:chOff x="2941" y="2425"/>
              <a:chExt cx="235" cy="250"/>
            </a:xfrm>
          </p:grpSpPr>
          <p:sp>
            <p:nvSpPr>
              <p:cNvPr id="120901" name="Rectangle 54"/>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20902" name="Text Box 55"/>
              <p:cNvSpPr txBox="1">
                <a:spLocks noChangeArrowheads="1"/>
              </p:cNvSpPr>
              <p:nvPr/>
            </p:nvSpPr>
            <p:spPr bwMode="auto">
              <a:xfrm>
                <a:off x="2941"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w</a:t>
                </a:r>
                <a:endParaRPr lang="en-US"/>
              </a:p>
            </p:txBody>
          </p:sp>
        </p:grpSp>
        <p:grpSp>
          <p:nvGrpSpPr>
            <p:cNvPr id="120885" name="Group 56"/>
            <p:cNvGrpSpPr/>
            <p:nvPr/>
          </p:nvGrpSpPr>
          <p:grpSpPr bwMode="auto">
            <a:xfrm>
              <a:off x="3771" y="1438"/>
              <a:ext cx="196" cy="250"/>
              <a:chOff x="2958" y="2425"/>
              <a:chExt cx="199" cy="250"/>
            </a:xfrm>
          </p:grpSpPr>
          <p:sp>
            <p:nvSpPr>
              <p:cNvPr id="120899" name="Rectangle 57"/>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0900" name="Text Box 58"/>
              <p:cNvSpPr txBox="1">
                <a:spLocks noChangeArrowheads="1"/>
              </p:cNvSpPr>
              <p:nvPr/>
            </p:nvSpPr>
            <p:spPr bwMode="auto">
              <a:xfrm>
                <a:off x="2958" y="2425"/>
                <a:ext cx="1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v</a:t>
                </a:r>
                <a:endParaRPr lang="en-US"/>
              </a:p>
            </p:txBody>
          </p:sp>
        </p:grpSp>
        <p:grpSp>
          <p:nvGrpSpPr>
            <p:cNvPr id="120886" name="Group 59"/>
            <p:cNvGrpSpPr/>
            <p:nvPr/>
          </p:nvGrpSpPr>
          <p:grpSpPr bwMode="auto">
            <a:xfrm>
              <a:off x="5025" y="1756"/>
              <a:ext cx="212" cy="288"/>
              <a:chOff x="2949" y="2395"/>
              <a:chExt cx="214" cy="288"/>
            </a:xfrm>
          </p:grpSpPr>
          <p:sp>
            <p:nvSpPr>
              <p:cNvPr id="120897" name="Rectangle 60"/>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0898" name="Text Box 61"/>
              <p:cNvSpPr txBox="1">
                <a:spLocks noChangeArrowheads="1"/>
              </p:cNvSpPr>
              <p:nvPr/>
            </p:nvSpPr>
            <p:spPr bwMode="auto">
              <a:xfrm>
                <a:off x="2949" y="2395"/>
                <a:ext cx="214"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z</a:t>
                </a:r>
              </a:p>
            </p:txBody>
          </p:sp>
        </p:grpSp>
        <p:sp>
          <p:nvSpPr>
            <p:cNvPr id="120887" name="Text Box 62"/>
            <p:cNvSpPr txBox="1">
              <a:spLocks noChangeArrowheads="1"/>
            </p:cNvSpPr>
            <p:nvPr/>
          </p:nvSpPr>
          <p:spPr bwMode="auto">
            <a:xfrm>
              <a:off x="3493" y="1568"/>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0888" name="Text Box 63"/>
            <p:cNvSpPr txBox="1">
              <a:spLocks noChangeArrowheads="1"/>
            </p:cNvSpPr>
            <p:nvPr/>
          </p:nvSpPr>
          <p:spPr bwMode="auto">
            <a:xfrm>
              <a:off x="3841" y="1787"/>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0889" name="Text Box 64"/>
            <p:cNvSpPr txBox="1">
              <a:spLocks noChangeArrowheads="1"/>
            </p:cNvSpPr>
            <p:nvPr/>
          </p:nvSpPr>
          <p:spPr bwMode="auto">
            <a:xfrm>
              <a:off x="3406" y="2000"/>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0890" name="Text Box 65"/>
            <p:cNvSpPr txBox="1">
              <a:spLocks noChangeArrowheads="1"/>
            </p:cNvSpPr>
            <p:nvPr/>
          </p:nvSpPr>
          <p:spPr bwMode="auto">
            <a:xfrm>
              <a:off x="4225" y="1880"/>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20891" name="Text Box 66"/>
            <p:cNvSpPr txBox="1">
              <a:spLocks noChangeArrowheads="1"/>
            </p:cNvSpPr>
            <p:nvPr/>
          </p:nvSpPr>
          <p:spPr bwMode="auto">
            <a:xfrm>
              <a:off x="4162" y="2234"/>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0892" name="Text Box 67"/>
            <p:cNvSpPr txBox="1">
              <a:spLocks noChangeArrowheads="1"/>
            </p:cNvSpPr>
            <p:nvPr/>
          </p:nvSpPr>
          <p:spPr bwMode="auto">
            <a:xfrm>
              <a:off x="4522" y="1805"/>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0893" name="Text Box 68"/>
            <p:cNvSpPr txBox="1">
              <a:spLocks noChangeArrowheads="1"/>
            </p:cNvSpPr>
            <p:nvPr/>
          </p:nvSpPr>
          <p:spPr bwMode="auto">
            <a:xfrm>
              <a:off x="4882" y="2069"/>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0894" name="Text Box 69"/>
            <p:cNvSpPr txBox="1">
              <a:spLocks noChangeArrowheads="1"/>
            </p:cNvSpPr>
            <p:nvPr/>
          </p:nvSpPr>
          <p:spPr bwMode="auto">
            <a:xfrm>
              <a:off x="4855" y="1532"/>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sp>
          <p:nvSpPr>
            <p:cNvPr id="120895" name="Text Box 70"/>
            <p:cNvSpPr txBox="1">
              <a:spLocks noChangeArrowheads="1"/>
            </p:cNvSpPr>
            <p:nvPr/>
          </p:nvSpPr>
          <p:spPr bwMode="auto">
            <a:xfrm>
              <a:off x="4120" y="1382"/>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20896" name="Text Box 71"/>
            <p:cNvSpPr txBox="1">
              <a:spLocks noChangeArrowheads="1"/>
            </p:cNvSpPr>
            <p:nvPr/>
          </p:nvSpPr>
          <p:spPr bwMode="auto">
            <a:xfrm>
              <a:off x="3769" y="1115"/>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grpSp>
      <p:sp>
        <p:nvSpPr>
          <p:cNvPr id="120837" name="Text Box 72"/>
          <p:cNvSpPr txBox="1">
            <a:spLocks noChangeArrowheads="1"/>
          </p:cNvSpPr>
          <p:nvPr/>
        </p:nvSpPr>
        <p:spPr bwMode="auto">
          <a:xfrm>
            <a:off x="939800" y="3263900"/>
            <a:ext cx="7397750" cy="146526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eaLnBrk="1" hangingPunct="1"/>
            <a:r>
              <a:rPr lang="en-US" sz="1800"/>
              <a:t>graph: G = (N,E)</a:t>
            </a:r>
          </a:p>
          <a:p>
            <a:pPr eaLnBrk="1" hangingPunct="1"/>
            <a:endParaRPr lang="en-US" sz="1800"/>
          </a:p>
          <a:p>
            <a:pPr eaLnBrk="1" hangingPunct="1"/>
            <a:r>
              <a:rPr lang="en-US" sz="1800"/>
              <a:t>N = set of routers = { u, v, w, x, y, z }</a:t>
            </a:r>
          </a:p>
          <a:p>
            <a:pPr eaLnBrk="1" hangingPunct="1"/>
            <a:endParaRPr lang="en-US" sz="1800"/>
          </a:p>
          <a:p>
            <a:pPr eaLnBrk="1" hangingPunct="1"/>
            <a:r>
              <a:rPr lang="en-US" sz="1800"/>
              <a:t>E = set of links ={ (u,v), (u,x), (v,x), (v,w), (x,w), (x,y), (w,y), (w,z), (y,z) }</a:t>
            </a:r>
          </a:p>
        </p:txBody>
      </p:sp>
      <p:sp>
        <p:nvSpPr>
          <p:cNvPr id="75783" name="Rectangle 73"/>
          <p:cNvSpPr>
            <a:spLocks noGrp="1" noChangeArrowheads="1"/>
          </p:cNvSpPr>
          <p:nvPr>
            <p:ph type="title"/>
          </p:nvPr>
        </p:nvSpPr>
        <p:spPr>
          <a:xfrm>
            <a:off x="533400" y="208280"/>
            <a:ext cx="8019415" cy="796925"/>
          </a:xfrm>
        </p:spPr>
        <p:txBody>
          <a:bodyPr/>
          <a:lstStyle/>
          <a:p>
            <a:pPr>
              <a:defRPr/>
            </a:pPr>
            <a:r>
              <a:rPr lang="en-US" sz="3600" dirty="0">
                <a:cs typeface="+mj-cs"/>
              </a:rPr>
              <a:t>Graph abstraction of the network</a:t>
            </a:r>
          </a:p>
        </p:txBody>
      </p:sp>
      <p:sp>
        <p:nvSpPr>
          <p:cNvPr id="120839" name="Text Box 74"/>
          <p:cNvSpPr txBox="1">
            <a:spLocks noChangeArrowheads="1"/>
          </p:cNvSpPr>
          <p:nvPr/>
        </p:nvSpPr>
        <p:spPr bwMode="auto">
          <a:xfrm>
            <a:off x="1150938" y="5157788"/>
            <a:ext cx="6762750" cy="641350"/>
          </a:xfrm>
          <a:prstGeom prst="rect">
            <a:avLst/>
          </a:prstGeom>
          <a:noFill/>
          <a:ln>
            <a:noFill/>
          </a:ln>
        </p:spPr>
        <p:txBody>
          <a:bodyPr wrap="none">
            <a:spAutoFit/>
          </a:bodyPr>
          <a:lstStyle>
            <a:lvl1pPr marL="290830" indent="-290830">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i="1" dirty="0"/>
              <a:t>aside:</a:t>
            </a:r>
            <a:r>
              <a:rPr lang="en-US" sz="1800" dirty="0"/>
              <a:t> graph abstraction is useful in other network contexts, e.g., </a:t>
            </a:r>
          </a:p>
          <a:p>
            <a:r>
              <a:rPr lang="en-US" sz="1800" dirty="0"/>
              <a:t>P2P, where </a:t>
            </a:r>
            <a:r>
              <a:rPr lang="en-US" sz="1800" i="1" dirty="0"/>
              <a:t>N</a:t>
            </a:r>
            <a:r>
              <a:rPr lang="en-US" sz="1800" dirty="0"/>
              <a:t> is set of peers and </a:t>
            </a:r>
            <a:r>
              <a:rPr lang="en-US" sz="1800" i="1" dirty="0"/>
              <a:t>E</a:t>
            </a:r>
            <a:r>
              <a:rPr lang="en-US" sz="1800" dirty="0"/>
              <a:t> is set of TCP connections</a:t>
            </a:r>
          </a:p>
        </p:txBody>
      </p:sp>
      <p:sp>
        <p:nvSpPr>
          <p:cNvPr id="78"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9</a:t>
            </a:fld>
            <a:endParaRPr lang="en-US" sz="1200" dirty="0">
              <a:latin typeface="Tahoma" panose="020B0604030504040204" charset="0"/>
            </a:endParaRPr>
          </a:p>
        </p:txBody>
      </p:sp>
      <p:sp>
        <p:nvSpPr>
          <p:cNvPr id="7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1859" name="Picture 77"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4838" y="893763"/>
            <a:ext cx="5942012" cy="173037"/>
          </a:xfrm>
          <a:prstGeom prst="rect">
            <a:avLst/>
          </a:prstGeom>
          <a:noFill/>
          <a:ln>
            <a:noFill/>
          </a:ln>
        </p:spPr>
      </p:pic>
      <p:sp>
        <p:nvSpPr>
          <p:cNvPr id="76805" name="Rectangle 2"/>
          <p:cNvSpPr>
            <a:spLocks noGrp="1" noChangeArrowheads="1"/>
          </p:cNvSpPr>
          <p:nvPr>
            <p:ph type="title"/>
          </p:nvPr>
        </p:nvSpPr>
        <p:spPr>
          <a:xfrm>
            <a:off x="533400" y="219075"/>
            <a:ext cx="7772400" cy="908050"/>
          </a:xfrm>
        </p:spPr>
        <p:txBody>
          <a:bodyPr/>
          <a:lstStyle/>
          <a:p>
            <a:pPr>
              <a:defRPr/>
            </a:pPr>
            <a:r>
              <a:rPr lang="en-US">
                <a:cs typeface="+mj-cs"/>
              </a:rPr>
              <a:t>Graph abstraction: costs</a:t>
            </a:r>
          </a:p>
        </p:txBody>
      </p:sp>
      <p:grpSp>
        <p:nvGrpSpPr>
          <p:cNvPr id="121861" name="Group 3"/>
          <p:cNvGrpSpPr/>
          <p:nvPr/>
        </p:nvGrpSpPr>
        <p:grpSpPr bwMode="auto">
          <a:xfrm>
            <a:off x="920750" y="1495425"/>
            <a:ext cx="3571875" cy="2236788"/>
            <a:chOff x="3162" y="1071"/>
            <a:chExt cx="2250" cy="1409"/>
          </a:xfrm>
        </p:grpSpPr>
        <p:sp>
          <p:nvSpPr>
            <p:cNvPr id="121865" name="Freeform 4"/>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p:spPr>
          <p:txBody>
            <a:bodyPr wrap="none" anchor="ctr"/>
            <a:lstStyle/>
            <a:p>
              <a:endParaRPr lang="en-US"/>
            </a:p>
          </p:txBody>
        </p:sp>
        <p:sp>
          <p:nvSpPr>
            <p:cNvPr id="121866" name="Freeform 5"/>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ln>
          </p:spPr>
          <p:txBody>
            <a:bodyPr wrap="none" anchor="ctr"/>
            <a:lstStyle/>
            <a:p>
              <a:endParaRPr lang="en-US"/>
            </a:p>
          </p:txBody>
        </p:sp>
        <p:sp>
          <p:nvSpPr>
            <p:cNvPr id="121867" name="Oval 6"/>
            <p:cNvSpPr>
              <a:spLocks noChangeArrowheads="1"/>
            </p:cNvSpPr>
            <p:nvPr/>
          </p:nvSpPr>
          <p:spPr bwMode="auto">
            <a:xfrm>
              <a:off x="3238" y="1862"/>
              <a:ext cx="313" cy="81"/>
            </a:xfrm>
            <a:prstGeom prst="ellipse">
              <a:avLst/>
            </a:prstGeom>
            <a:solidFill>
              <a:schemeClr val="hlink"/>
            </a:solidFill>
            <a:ln w="12700">
              <a:solidFill>
                <a:schemeClr val="tx1"/>
              </a:solidFill>
              <a:round/>
            </a:ln>
          </p:spPr>
          <p:txBody>
            <a:bodyPr wrap="none" anchor="ctr"/>
            <a:lstStyle/>
            <a:p>
              <a:endParaRPr lang="en-US"/>
            </a:p>
          </p:txBody>
        </p:sp>
        <p:sp>
          <p:nvSpPr>
            <p:cNvPr id="121868" name="Line 7"/>
            <p:cNvSpPr>
              <a:spLocks noChangeShapeType="1"/>
            </p:cNvSpPr>
            <p:nvPr/>
          </p:nvSpPr>
          <p:spPr bwMode="auto">
            <a:xfrm>
              <a:off x="3238" y="1855"/>
              <a:ext cx="0" cy="50"/>
            </a:xfrm>
            <a:prstGeom prst="line">
              <a:avLst/>
            </a:prstGeom>
            <a:noFill/>
            <a:ln w="12700">
              <a:solidFill>
                <a:schemeClr val="tx1"/>
              </a:solidFill>
              <a:round/>
            </a:ln>
          </p:spPr>
          <p:txBody>
            <a:bodyPr wrap="none" anchor="ctr"/>
            <a:lstStyle/>
            <a:p>
              <a:endParaRPr lang="en-US"/>
            </a:p>
          </p:txBody>
        </p:sp>
        <p:sp>
          <p:nvSpPr>
            <p:cNvPr id="121869" name="Line 8"/>
            <p:cNvSpPr>
              <a:spLocks noChangeShapeType="1"/>
            </p:cNvSpPr>
            <p:nvPr/>
          </p:nvSpPr>
          <p:spPr bwMode="auto">
            <a:xfrm>
              <a:off x="3551" y="1855"/>
              <a:ext cx="0" cy="50"/>
            </a:xfrm>
            <a:prstGeom prst="line">
              <a:avLst/>
            </a:prstGeom>
            <a:noFill/>
            <a:ln w="12700">
              <a:solidFill>
                <a:schemeClr val="tx1"/>
              </a:solidFill>
              <a:round/>
            </a:ln>
          </p:spPr>
          <p:txBody>
            <a:bodyPr wrap="none" anchor="ctr"/>
            <a:lstStyle/>
            <a:p>
              <a:endParaRPr lang="en-US"/>
            </a:p>
          </p:txBody>
        </p:sp>
        <p:sp>
          <p:nvSpPr>
            <p:cNvPr id="121870" name="Rectangle 9"/>
            <p:cNvSpPr>
              <a:spLocks noChangeArrowheads="1"/>
            </p:cNvSpPr>
            <p:nvPr/>
          </p:nvSpPr>
          <p:spPr bwMode="auto">
            <a:xfrm>
              <a:off x="3238" y="1855"/>
              <a:ext cx="310" cy="49"/>
            </a:xfrm>
            <a:prstGeom prst="rect">
              <a:avLst/>
            </a:prstGeom>
            <a:solidFill>
              <a:schemeClr val="hlink"/>
            </a:solidFill>
            <a:ln>
              <a:noFill/>
            </a:ln>
          </p:spPr>
          <p:txBody>
            <a:bodyPr wrap="none" anchor="ctr"/>
            <a:lstStyle/>
            <a:p>
              <a:pPr algn="ctr"/>
              <a:endParaRPr lang="en-US" sz="2400"/>
            </a:p>
          </p:txBody>
        </p:sp>
        <p:sp>
          <p:nvSpPr>
            <p:cNvPr id="121871" name="Oval 10"/>
            <p:cNvSpPr>
              <a:spLocks noChangeArrowheads="1"/>
            </p:cNvSpPr>
            <p:nvPr/>
          </p:nvSpPr>
          <p:spPr bwMode="auto">
            <a:xfrm>
              <a:off x="3235" y="1796"/>
              <a:ext cx="313" cy="95"/>
            </a:xfrm>
            <a:prstGeom prst="ellipse">
              <a:avLst/>
            </a:prstGeom>
            <a:solidFill>
              <a:schemeClr val="hlink"/>
            </a:solidFill>
            <a:ln w="12700">
              <a:solidFill>
                <a:schemeClr val="tx1"/>
              </a:solidFill>
              <a:round/>
            </a:ln>
          </p:spPr>
          <p:txBody>
            <a:bodyPr wrap="none" anchor="ctr"/>
            <a:lstStyle/>
            <a:p>
              <a:endParaRPr lang="en-US"/>
            </a:p>
          </p:txBody>
        </p:sp>
        <p:sp>
          <p:nvSpPr>
            <p:cNvPr id="121872" name="Oval 11"/>
            <p:cNvSpPr>
              <a:spLocks noChangeArrowheads="1"/>
            </p:cNvSpPr>
            <p:nvPr/>
          </p:nvSpPr>
          <p:spPr bwMode="auto">
            <a:xfrm>
              <a:off x="3712" y="2249"/>
              <a:ext cx="313" cy="81"/>
            </a:xfrm>
            <a:prstGeom prst="ellipse">
              <a:avLst/>
            </a:prstGeom>
            <a:solidFill>
              <a:schemeClr val="hlink"/>
            </a:solidFill>
            <a:ln w="12700">
              <a:solidFill>
                <a:schemeClr val="tx1"/>
              </a:solidFill>
              <a:round/>
            </a:ln>
          </p:spPr>
          <p:txBody>
            <a:bodyPr wrap="none" anchor="ctr"/>
            <a:lstStyle/>
            <a:p>
              <a:endParaRPr lang="en-US"/>
            </a:p>
          </p:txBody>
        </p:sp>
        <p:sp>
          <p:nvSpPr>
            <p:cNvPr id="121873" name="Line 12"/>
            <p:cNvSpPr>
              <a:spLocks noChangeShapeType="1"/>
            </p:cNvSpPr>
            <p:nvPr/>
          </p:nvSpPr>
          <p:spPr bwMode="auto">
            <a:xfrm>
              <a:off x="3712" y="2242"/>
              <a:ext cx="0" cy="50"/>
            </a:xfrm>
            <a:prstGeom prst="line">
              <a:avLst/>
            </a:prstGeom>
            <a:noFill/>
            <a:ln w="12700">
              <a:solidFill>
                <a:schemeClr val="tx1"/>
              </a:solidFill>
              <a:round/>
            </a:ln>
          </p:spPr>
          <p:txBody>
            <a:bodyPr wrap="none" anchor="ctr"/>
            <a:lstStyle/>
            <a:p>
              <a:endParaRPr lang="en-US"/>
            </a:p>
          </p:txBody>
        </p:sp>
        <p:sp>
          <p:nvSpPr>
            <p:cNvPr id="121874" name="Line 13"/>
            <p:cNvSpPr>
              <a:spLocks noChangeShapeType="1"/>
            </p:cNvSpPr>
            <p:nvPr/>
          </p:nvSpPr>
          <p:spPr bwMode="auto">
            <a:xfrm>
              <a:off x="4025" y="2242"/>
              <a:ext cx="0" cy="50"/>
            </a:xfrm>
            <a:prstGeom prst="line">
              <a:avLst/>
            </a:prstGeom>
            <a:noFill/>
            <a:ln w="12700">
              <a:solidFill>
                <a:schemeClr val="tx1"/>
              </a:solidFill>
              <a:round/>
            </a:ln>
          </p:spPr>
          <p:txBody>
            <a:bodyPr wrap="none" anchor="ctr"/>
            <a:lstStyle/>
            <a:p>
              <a:endParaRPr lang="en-US"/>
            </a:p>
          </p:txBody>
        </p:sp>
        <p:sp>
          <p:nvSpPr>
            <p:cNvPr id="121875" name="Rectangle 14"/>
            <p:cNvSpPr>
              <a:spLocks noChangeArrowheads="1"/>
            </p:cNvSpPr>
            <p:nvPr/>
          </p:nvSpPr>
          <p:spPr bwMode="auto">
            <a:xfrm>
              <a:off x="3712" y="2242"/>
              <a:ext cx="310" cy="49"/>
            </a:xfrm>
            <a:prstGeom prst="rect">
              <a:avLst/>
            </a:prstGeom>
            <a:solidFill>
              <a:schemeClr val="hlink"/>
            </a:solidFill>
            <a:ln>
              <a:noFill/>
            </a:ln>
          </p:spPr>
          <p:txBody>
            <a:bodyPr wrap="none" anchor="ctr"/>
            <a:lstStyle/>
            <a:p>
              <a:pPr algn="ctr"/>
              <a:endParaRPr lang="en-US" sz="2400"/>
            </a:p>
          </p:txBody>
        </p:sp>
        <p:sp>
          <p:nvSpPr>
            <p:cNvPr id="121876" name="Oval 15"/>
            <p:cNvSpPr>
              <a:spLocks noChangeArrowheads="1"/>
            </p:cNvSpPr>
            <p:nvPr/>
          </p:nvSpPr>
          <p:spPr bwMode="auto">
            <a:xfrm>
              <a:off x="3709" y="2183"/>
              <a:ext cx="313" cy="95"/>
            </a:xfrm>
            <a:prstGeom prst="ellipse">
              <a:avLst/>
            </a:prstGeom>
            <a:solidFill>
              <a:schemeClr val="hlink"/>
            </a:solidFill>
            <a:ln w="12700">
              <a:solidFill>
                <a:schemeClr val="tx1"/>
              </a:solidFill>
              <a:round/>
            </a:ln>
          </p:spPr>
          <p:txBody>
            <a:bodyPr wrap="none" anchor="ctr"/>
            <a:lstStyle/>
            <a:p>
              <a:endParaRPr lang="en-US"/>
            </a:p>
          </p:txBody>
        </p:sp>
        <p:sp>
          <p:nvSpPr>
            <p:cNvPr id="121877" name="Oval 16"/>
            <p:cNvSpPr>
              <a:spLocks noChangeArrowheads="1"/>
            </p:cNvSpPr>
            <p:nvPr/>
          </p:nvSpPr>
          <p:spPr bwMode="auto">
            <a:xfrm>
              <a:off x="3708" y="1559"/>
              <a:ext cx="313" cy="81"/>
            </a:xfrm>
            <a:prstGeom prst="ellipse">
              <a:avLst/>
            </a:prstGeom>
            <a:solidFill>
              <a:schemeClr val="hlink"/>
            </a:solidFill>
            <a:ln w="12700">
              <a:solidFill>
                <a:schemeClr val="tx1"/>
              </a:solidFill>
              <a:round/>
            </a:ln>
          </p:spPr>
          <p:txBody>
            <a:bodyPr wrap="none" anchor="ctr"/>
            <a:lstStyle/>
            <a:p>
              <a:endParaRPr lang="en-US"/>
            </a:p>
          </p:txBody>
        </p:sp>
        <p:sp>
          <p:nvSpPr>
            <p:cNvPr id="121878" name="Line 17"/>
            <p:cNvSpPr>
              <a:spLocks noChangeShapeType="1"/>
            </p:cNvSpPr>
            <p:nvPr/>
          </p:nvSpPr>
          <p:spPr bwMode="auto">
            <a:xfrm>
              <a:off x="3708" y="1552"/>
              <a:ext cx="0" cy="50"/>
            </a:xfrm>
            <a:prstGeom prst="line">
              <a:avLst/>
            </a:prstGeom>
            <a:noFill/>
            <a:ln w="12700">
              <a:solidFill>
                <a:schemeClr val="tx1"/>
              </a:solidFill>
              <a:round/>
            </a:ln>
          </p:spPr>
          <p:txBody>
            <a:bodyPr wrap="none" anchor="ctr"/>
            <a:lstStyle/>
            <a:p>
              <a:endParaRPr lang="en-US"/>
            </a:p>
          </p:txBody>
        </p:sp>
        <p:sp>
          <p:nvSpPr>
            <p:cNvPr id="121879" name="Line 18"/>
            <p:cNvSpPr>
              <a:spLocks noChangeShapeType="1"/>
            </p:cNvSpPr>
            <p:nvPr/>
          </p:nvSpPr>
          <p:spPr bwMode="auto">
            <a:xfrm>
              <a:off x="4021" y="1552"/>
              <a:ext cx="0" cy="50"/>
            </a:xfrm>
            <a:prstGeom prst="line">
              <a:avLst/>
            </a:prstGeom>
            <a:noFill/>
            <a:ln w="12700">
              <a:solidFill>
                <a:schemeClr val="tx1"/>
              </a:solidFill>
              <a:round/>
            </a:ln>
          </p:spPr>
          <p:txBody>
            <a:bodyPr wrap="none" anchor="ctr"/>
            <a:lstStyle/>
            <a:p>
              <a:endParaRPr lang="en-US"/>
            </a:p>
          </p:txBody>
        </p:sp>
        <p:sp>
          <p:nvSpPr>
            <p:cNvPr id="121880" name="Rectangle 19"/>
            <p:cNvSpPr>
              <a:spLocks noChangeArrowheads="1"/>
            </p:cNvSpPr>
            <p:nvPr/>
          </p:nvSpPr>
          <p:spPr bwMode="auto">
            <a:xfrm>
              <a:off x="3708" y="1552"/>
              <a:ext cx="310" cy="49"/>
            </a:xfrm>
            <a:prstGeom prst="rect">
              <a:avLst/>
            </a:prstGeom>
            <a:solidFill>
              <a:schemeClr val="hlink"/>
            </a:solidFill>
            <a:ln>
              <a:noFill/>
            </a:ln>
          </p:spPr>
          <p:txBody>
            <a:bodyPr wrap="none" anchor="ctr"/>
            <a:lstStyle/>
            <a:p>
              <a:pPr algn="ctr"/>
              <a:endParaRPr lang="en-US" sz="2400"/>
            </a:p>
          </p:txBody>
        </p:sp>
        <p:sp>
          <p:nvSpPr>
            <p:cNvPr id="121881" name="Oval 20"/>
            <p:cNvSpPr>
              <a:spLocks noChangeArrowheads="1"/>
            </p:cNvSpPr>
            <p:nvPr/>
          </p:nvSpPr>
          <p:spPr bwMode="auto">
            <a:xfrm>
              <a:off x="3705" y="1493"/>
              <a:ext cx="313" cy="95"/>
            </a:xfrm>
            <a:prstGeom prst="ellipse">
              <a:avLst/>
            </a:prstGeom>
            <a:solidFill>
              <a:schemeClr val="hlink"/>
            </a:solidFill>
            <a:ln w="12700">
              <a:solidFill>
                <a:schemeClr val="tx1"/>
              </a:solidFill>
              <a:round/>
            </a:ln>
          </p:spPr>
          <p:txBody>
            <a:bodyPr wrap="none" anchor="ctr"/>
            <a:lstStyle/>
            <a:p>
              <a:endParaRPr lang="en-US"/>
            </a:p>
          </p:txBody>
        </p:sp>
        <p:sp>
          <p:nvSpPr>
            <p:cNvPr id="121882" name="Oval 21"/>
            <p:cNvSpPr>
              <a:spLocks noChangeArrowheads="1"/>
            </p:cNvSpPr>
            <p:nvPr/>
          </p:nvSpPr>
          <p:spPr bwMode="auto">
            <a:xfrm>
              <a:off x="4391" y="1555"/>
              <a:ext cx="312" cy="81"/>
            </a:xfrm>
            <a:prstGeom prst="ellipse">
              <a:avLst/>
            </a:prstGeom>
            <a:solidFill>
              <a:schemeClr val="hlink"/>
            </a:solidFill>
            <a:ln w="12700">
              <a:solidFill>
                <a:schemeClr val="tx1"/>
              </a:solidFill>
              <a:round/>
            </a:ln>
          </p:spPr>
          <p:txBody>
            <a:bodyPr wrap="none" anchor="ctr"/>
            <a:lstStyle/>
            <a:p>
              <a:endParaRPr lang="en-US"/>
            </a:p>
          </p:txBody>
        </p:sp>
        <p:sp>
          <p:nvSpPr>
            <p:cNvPr id="121883" name="Line 22"/>
            <p:cNvSpPr>
              <a:spLocks noChangeShapeType="1"/>
            </p:cNvSpPr>
            <p:nvPr/>
          </p:nvSpPr>
          <p:spPr bwMode="auto">
            <a:xfrm>
              <a:off x="4391" y="1548"/>
              <a:ext cx="0" cy="50"/>
            </a:xfrm>
            <a:prstGeom prst="line">
              <a:avLst/>
            </a:prstGeom>
            <a:noFill/>
            <a:ln w="12700">
              <a:solidFill>
                <a:schemeClr val="tx1"/>
              </a:solidFill>
              <a:round/>
            </a:ln>
          </p:spPr>
          <p:txBody>
            <a:bodyPr wrap="none" anchor="ctr"/>
            <a:lstStyle/>
            <a:p>
              <a:endParaRPr lang="en-US"/>
            </a:p>
          </p:txBody>
        </p:sp>
        <p:sp>
          <p:nvSpPr>
            <p:cNvPr id="121884" name="Line 23"/>
            <p:cNvSpPr>
              <a:spLocks noChangeShapeType="1"/>
            </p:cNvSpPr>
            <p:nvPr/>
          </p:nvSpPr>
          <p:spPr bwMode="auto">
            <a:xfrm>
              <a:off x="4703" y="1548"/>
              <a:ext cx="0" cy="50"/>
            </a:xfrm>
            <a:prstGeom prst="line">
              <a:avLst/>
            </a:prstGeom>
            <a:noFill/>
            <a:ln w="12700">
              <a:solidFill>
                <a:schemeClr val="tx1"/>
              </a:solidFill>
              <a:round/>
            </a:ln>
          </p:spPr>
          <p:txBody>
            <a:bodyPr wrap="none" anchor="ctr"/>
            <a:lstStyle/>
            <a:p>
              <a:endParaRPr lang="en-US"/>
            </a:p>
          </p:txBody>
        </p:sp>
        <p:sp>
          <p:nvSpPr>
            <p:cNvPr id="121885" name="Rectangle 24"/>
            <p:cNvSpPr>
              <a:spLocks noChangeArrowheads="1"/>
            </p:cNvSpPr>
            <p:nvPr/>
          </p:nvSpPr>
          <p:spPr bwMode="auto">
            <a:xfrm>
              <a:off x="4391" y="1548"/>
              <a:ext cx="309" cy="49"/>
            </a:xfrm>
            <a:prstGeom prst="rect">
              <a:avLst/>
            </a:prstGeom>
            <a:solidFill>
              <a:schemeClr val="hlink"/>
            </a:solidFill>
            <a:ln>
              <a:noFill/>
            </a:ln>
          </p:spPr>
          <p:txBody>
            <a:bodyPr wrap="none" anchor="ctr"/>
            <a:lstStyle/>
            <a:p>
              <a:pPr algn="ctr"/>
              <a:endParaRPr lang="en-US" sz="2400"/>
            </a:p>
          </p:txBody>
        </p:sp>
        <p:sp>
          <p:nvSpPr>
            <p:cNvPr id="121886" name="Oval 25"/>
            <p:cNvSpPr>
              <a:spLocks noChangeArrowheads="1"/>
            </p:cNvSpPr>
            <p:nvPr/>
          </p:nvSpPr>
          <p:spPr bwMode="auto">
            <a:xfrm>
              <a:off x="4394" y="1492"/>
              <a:ext cx="312" cy="95"/>
            </a:xfrm>
            <a:prstGeom prst="ellipse">
              <a:avLst/>
            </a:prstGeom>
            <a:solidFill>
              <a:schemeClr val="hlink"/>
            </a:solidFill>
            <a:ln w="12700">
              <a:solidFill>
                <a:schemeClr val="tx1"/>
              </a:solidFill>
              <a:round/>
            </a:ln>
          </p:spPr>
          <p:txBody>
            <a:bodyPr wrap="none" anchor="ctr"/>
            <a:lstStyle/>
            <a:p>
              <a:endParaRPr lang="en-US"/>
            </a:p>
          </p:txBody>
        </p:sp>
        <p:sp>
          <p:nvSpPr>
            <p:cNvPr id="121887" name="Oval 26"/>
            <p:cNvSpPr>
              <a:spLocks noChangeArrowheads="1"/>
            </p:cNvSpPr>
            <p:nvPr/>
          </p:nvSpPr>
          <p:spPr bwMode="auto">
            <a:xfrm>
              <a:off x="4401" y="2246"/>
              <a:ext cx="313" cy="81"/>
            </a:xfrm>
            <a:prstGeom prst="ellipse">
              <a:avLst/>
            </a:prstGeom>
            <a:solidFill>
              <a:schemeClr val="hlink"/>
            </a:solidFill>
            <a:ln w="12700">
              <a:solidFill>
                <a:schemeClr val="tx1"/>
              </a:solidFill>
              <a:round/>
            </a:ln>
          </p:spPr>
          <p:txBody>
            <a:bodyPr wrap="none" anchor="ctr"/>
            <a:lstStyle/>
            <a:p>
              <a:endParaRPr lang="en-US"/>
            </a:p>
          </p:txBody>
        </p:sp>
        <p:sp>
          <p:nvSpPr>
            <p:cNvPr id="121888" name="Line 27"/>
            <p:cNvSpPr>
              <a:spLocks noChangeShapeType="1"/>
            </p:cNvSpPr>
            <p:nvPr/>
          </p:nvSpPr>
          <p:spPr bwMode="auto">
            <a:xfrm>
              <a:off x="4401" y="2239"/>
              <a:ext cx="0" cy="50"/>
            </a:xfrm>
            <a:prstGeom prst="line">
              <a:avLst/>
            </a:prstGeom>
            <a:noFill/>
            <a:ln w="12700">
              <a:solidFill>
                <a:schemeClr val="tx1"/>
              </a:solidFill>
              <a:round/>
            </a:ln>
          </p:spPr>
          <p:txBody>
            <a:bodyPr wrap="none" anchor="ctr"/>
            <a:lstStyle/>
            <a:p>
              <a:endParaRPr lang="en-US"/>
            </a:p>
          </p:txBody>
        </p:sp>
        <p:sp>
          <p:nvSpPr>
            <p:cNvPr id="121889" name="Line 28"/>
            <p:cNvSpPr>
              <a:spLocks noChangeShapeType="1"/>
            </p:cNvSpPr>
            <p:nvPr/>
          </p:nvSpPr>
          <p:spPr bwMode="auto">
            <a:xfrm>
              <a:off x="4714" y="2239"/>
              <a:ext cx="0" cy="50"/>
            </a:xfrm>
            <a:prstGeom prst="line">
              <a:avLst/>
            </a:prstGeom>
            <a:noFill/>
            <a:ln w="12700">
              <a:solidFill>
                <a:schemeClr val="tx1"/>
              </a:solidFill>
              <a:round/>
            </a:ln>
          </p:spPr>
          <p:txBody>
            <a:bodyPr wrap="none" anchor="ctr"/>
            <a:lstStyle/>
            <a:p>
              <a:endParaRPr lang="en-US"/>
            </a:p>
          </p:txBody>
        </p:sp>
        <p:sp>
          <p:nvSpPr>
            <p:cNvPr id="121890" name="Rectangle 29"/>
            <p:cNvSpPr>
              <a:spLocks noChangeArrowheads="1"/>
            </p:cNvSpPr>
            <p:nvPr/>
          </p:nvSpPr>
          <p:spPr bwMode="auto">
            <a:xfrm>
              <a:off x="4401" y="2239"/>
              <a:ext cx="310" cy="49"/>
            </a:xfrm>
            <a:prstGeom prst="rect">
              <a:avLst/>
            </a:prstGeom>
            <a:solidFill>
              <a:schemeClr val="hlink"/>
            </a:solidFill>
            <a:ln>
              <a:noFill/>
            </a:ln>
          </p:spPr>
          <p:txBody>
            <a:bodyPr wrap="none" anchor="ctr"/>
            <a:lstStyle/>
            <a:p>
              <a:pPr algn="ctr"/>
              <a:endParaRPr lang="en-US" sz="2400"/>
            </a:p>
          </p:txBody>
        </p:sp>
        <p:sp>
          <p:nvSpPr>
            <p:cNvPr id="121891" name="Oval 30"/>
            <p:cNvSpPr>
              <a:spLocks noChangeArrowheads="1"/>
            </p:cNvSpPr>
            <p:nvPr/>
          </p:nvSpPr>
          <p:spPr bwMode="auto">
            <a:xfrm>
              <a:off x="4398" y="2180"/>
              <a:ext cx="313" cy="95"/>
            </a:xfrm>
            <a:prstGeom prst="ellipse">
              <a:avLst/>
            </a:prstGeom>
            <a:solidFill>
              <a:schemeClr val="hlink"/>
            </a:solidFill>
            <a:ln w="12700">
              <a:solidFill>
                <a:schemeClr val="tx1"/>
              </a:solidFill>
              <a:round/>
            </a:ln>
          </p:spPr>
          <p:txBody>
            <a:bodyPr wrap="none" anchor="ctr"/>
            <a:lstStyle/>
            <a:p>
              <a:endParaRPr lang="en-US"/>
            </a:p>
          </p:txBody>
        </p:sp>
        <p:sp>
          <p:nvSpPr>
            <p:cNvPr id="121892" name="Oval 31"/>
            <p:cNvSpPr>
              <a:spLocks noChangeArrowheads="1"/>
            </p:cNvSpPr>
            <p:nvPr/>
          </p:nvSpPr>
          <p:spPr bwMode="auto">
            <a:xfrm>
              <a:off x="4966" y="1905"/>
              <a:ext cx="313" cy="81"/>
            </a:xfrm>
            <a:prstGeom prst="ellipse">
              <a:avLst/>
            </a:prstGeom>
            <a:solidFill>
              <a:schemeClr val="hlink"/>
            </a:solidFill>
            <a:ln w="12700">
              <a:solidFill>
                <a:schemeClr val="tx1"/>
              </a:solidFill>
              <a:round/>
            </a:ln>
          </p:spPr>
          <p:txBody>
            <a:bodyPr wrap="none" anchor="ctr"/>
            <a:lstStyle/>
            <a:p>
              <a:endParaRPr lang="en-US"/>
            </a:p>
          </p:txBody>
        </p:sp>
        <p:sp>
          <p:nvSpPr>
            <p:cNvPr id="121893" name="Line 32"/>
            <p:cNvSpPr>
              <a:spLocks noChangeShapeType="1"/>
            </p:cNvSpPr>
            <p:nvPr/>
          </p:nvSpPr>
          <p:spPr bwMode="auto">
            <a:xfrm>
              <a:off x="4966" y="1898"/>
              <a:ext cx="0" cy="50"/>
            </a:xfrm>
            <a:prstGeom prst="line">
              <a:avLst/>
            </a:prstGeom>
            <a:noFill/>
            <a:ln w="12700">
              <a:solidFill>
                <a:schemeClr val="tx1"/>
              </a:solidFill>
              <a:round/>
            </a:ln>
          </p:spPr>
          <p:txBody>
            <a:bodyPr wrap="none" anchor="ctr"/>
            <a:lstStyle/>
            <a:p>
              <a:endParaRPr lang="en-US"/>
            </a:p>
          </p:txBody>
        </p:sp>
        <p:sp>
          <p:nvSpPr>
            <p:cNvPr id="121894" name="Line 33"/>
            <p:cNvSpPr>
              <a:spLocks noChangeShapeType="1"/>
            </p:cNvSpPr>
            <p:nvPr/>
          </p:nvSpPr>
          <p:spPr bwMode="auto">
            <a:xfrm>
              <a:off x="5279" y="1898"/>
              <a:ext cx="0" cy="50"/>
            </a:xfrm>
            <a:prstGeom prst="line">
              <a:avLst/>
            </a:prstGeom>
            <a:noFill/>
            <a:ln w="12700">
              <a:solidFill>
                <a:schemeClr val="tx1"/>
              </a:solidFill>
              <a:round/>
            </a:ln>
          </p:spPr>
          <p:txBody>
            <a:bodyPr wrap="none" anchor="ctr"/>
            <a:lstStyle/>
            <a:p>
              <a:endParaRPr lang="en-US"/>
            </a:p>
          </p:txBody>
        </p:sp>
        <p:sp>
          <p:nvSpPr>
            <p:cNvPr id="121895" name="Rectangle 34"/>
            <p:cNvSpPr>
              <a:spLocks noChangeArrowheads="1"/>
            </p:cNvSpPr>
            <p:nvPr/>
          </p:nvSpPr>
          <p:spPr bwMode="auto">
            <a:xfrm>
              <a:off x="4966" y="1898"/>
              <a:ext cx="310" cy="49"/>
            </a:xfrm>
            <a:prstGeom prst="rect">
              <a:avLst/>
            </a:prstGeom>
            <a:solidFill>
              <a:schemeClr val="hlink"/>
            </a:solidFill>
            <a:ln>
              <a:noFill/>
            </a:ln>
          </p:spPr>
          <p:txBody>
            <a:bodyPr wrap="none" anchor="ctr"/>
            <a:lstStyle/>
            <a:p>
              <a:pPr algn="ctr"/>
              <a:endParaRPr lang="en-US" sz="2400"/>
            </a:p>
          </p:txBody>
        </p:sp>
        <p:sp>
          <p:nvSpPr>
            <p:cNvPr id="121896" name="Oval 35"/>
            <p:cNvSpPr>
              <a:spLocks noChangeArrowheads="1"/>
            </p:cNvSpPr>
            <p:nvPr/>
          </p:nvSpPr>
          <p:spPr bwMode="auto">
            <a:xfrm>
              <a:off x="4963" y="1839"/>
              <a:ext cx="313" cy="95"/>
            </a:xfrm>
            <a:prstGeom prst="ellipse">
              <a:avLst/>
            </a:prstGeom>
            <a:solidFill>
              <a:schemeClr val="hlink"/>
            </a:solidFill>
            <a:ln w="12700">
              <a:solidFill>
                <a:schemeClr val="tx1"/>
              </a:solidFill>
              <a:round/>
            </a:ln>
          </p:spPr>
          <p:txBody>
            <a:bodyPr wrap="none" anchor="ctr"/>
            <a:lstStyle/>
            <a:p>
              <a:endParaRPr lang="en-US"/>
            </a:p>
          </p:txBody>
        </p:sp>
        <p:sp>
          <p:nvSpPr>
            <p:cNvPr id="121897" name="Freeform 36"/>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ln>
          </p:spPr>
          <p:txBody>
            <a:bodyPr wrap="none" anchor="ctr"/>
            <a:lstStyle/>
            <a:p>
              <a:endParaRPr lang="en-US"/>
            </a:p>
          </p:txBody>
        </p:sp>
        <p:sp>
          <p:nvSpPr>
            <p:cNvPr id="121898" name="Freeform 37"/>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ln>
          </p:spPr>
          <p:txBody>
            <a:bodyPr wrap="none" anchor="ctr"/>
            <a:lstStyle/>
            <a:p>
              <a:endParaRPr lang="en-US"/>
            </a:p>
          </p:txBody>
        </p:sp>
        <p:sp>
          <p:nvSpPr>
            <p:cNvPr id="121899" name="Freeform 38"/>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ln>
          </p:spPr>
          <p:txBody>
            <a:bodyPr wrap="none" anchor="ctr"/>
            <a:lstStyle/>
            <a:p>
              <a:endParaRPr lang="en-US"/>
            </a:p>
          </p:txBody>
        </p:sp>
        <p:sp>
          <p:nvSpPr>
            <p:cNvPr id="121900" name="Freeform 39"/>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ln>
          </p:spPr>
          <p:txBody>
            <a:bodyPr wrap="none" anchor="ctr"/>
            <a:lstStyle/>
            <a:p>
              <a:endParaRPr lang="en-US"/>
            </a:p>
          </p:txBody>
        </p:sp>
        <p:sp>
          <p:nvSpPr>
            <p:cNvPr id="121901" name="Freeform 40"/>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21902" name="Freeform 41"/>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ln>
          </p:spPr>
          <p:txBody>
            <a:bodyPr wrap="none" anchor="ctr"/>
            <a:lstStyle/>
            <a:p>
              <a:endParaRPr lang="en-US"/>
            </a:p>
          </p:txBody>
        </p:sp>
        <p:sp>
          <p:nvSpPr>
            <p:cNvPr id="121903" name="Freeform 42"/>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21904" name="Freeform 43"/>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ln>
          </p:spPr>
          <p:txBody>
            <a:bodyPr wrap="none" anchor="ctr"/>
            <a:lstStyle/>
            <a:p>
              <a:endParaRPr lang="en-US"/>
            </a:p>
          </p:txBody>
        </p:sp>
        <p:sp>
          <p:nvSpPr>
            <p:cNvPr id="121905" name="Freeform 44"/>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ln>
          </p:spPr>
          <p:txBody>
            <a:bodyPr wrap="none" anchor="ctr"/>
            <a:lstStyle/>
            <a:p>
              <a:endParaRPr lang="en-US"/>
            </a:p>
          </p:txBody>
        </p:sp>
        <p:grpSp>
          <p:nvGrpSpPr>
            <p:cNvPr id="121906" name="Group 45"/>
            <p:cNvGrpSpPr/>
            <p:nvPr/>
          </p:nvGrpSpPr>
          <p:grpSpPr bwMode="auto">
            <a:xfrm>
              <a:off x="3287" y="1744"/>
              <a:ext cx="205" cy="250"/>
              <a:chOff x="2954" y="2425"/>
              <a:chExt cx="208" cy="250"/>
            </a:xfrm>
          </p:grpSpPr>
          <p:sp>
            <p:nvSpPr>
              <p:cNvPr id="121932" name="Rectangle 46"/>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21933" name="Text Box 47"/>
              <p:cNvSpPr txBox="1">
                <a:spLocks noChangeArrowheads="1"/>
              </p:cNvSpPr>
              <p:nvPr/>
            </p:nvSpPr>
            <p:spPr bwMode="auto">
              <a:xfrm>
                <a:off x="2954" y="2425"/>
                <a:ext cx="208"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u</a:t>
                </a:r>
                <a:endParaRPr lang="en-US"/>
              </a:p>
            </p:txBody>
          </p:sp>
        </p:grpSp>
        <p:grpSp>
          <p:nvGrpSpPr>
            <p:cNvPr id="121907" name="Group 48"/>
            <p:cNvGrpSpPr/>
            <p:nvPr/>
          </p:nvGrpSpPr>
          <p:grpSpPr bwMode="auto">
            <a:xfrm>
              <a:off x="4461" y="2128"/>
              <a:ext cx="196" cy="250"/>
              <a:chOff x="2958" y="2425"/>
              <a:chExt cx="199" cy="250"/>
            </a:xfrm>
          </p:grpSpPr>
          <p:sp>
            <p:nvSpPr>
              <p:cNvPr id="121930" name="Rectangle 49"/>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1931" name="Text Box 50"/>
              <p:cNvSpPr txBox="1">
                <a:spLocks noChangeArrowheads="1"/>
              </p:cNvSpPr>
              <p:nvPr/>
            </p:nvSpPr>
            <p:spPr bwMode="auto">
              <a:xfrm>
                <a:off x="2958" y="2425"/>
                <a:ext cx="1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y</a:t>
                </a:r>
                <a:endParaRPr lang="en-US"/>
              </a:p>
            </p:txBody>
          </p:sp>
        </p:grpSp>
        <p:grpSp>
          <p:nvGrpSpPr>
            <p:cNvPr id="121908" name="Group 51"/>
            <p:cNvGrpSpPr/>
            <p:nvPr/>
          </p:nvGrpSpPr>
          <p:grpSpPr bwMode="auto">
            <a:xfrm>
              <a:off x="3772" y="2095"/>
              <a:ext cx="212" cy="288"/>
              <a:chOff x="2951" y="2395"/>
              <a:chExt cx="213" cy="288"/>
            </a:xfrm>
          </p:grpSpPr>
          <p:sp>
            <p:nvSpPr>
              <p:cNvPr id="121928" name="Rectangle 52"/>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21929" name="Text Box 53"/>
              <p:cNvSpPr txBox="1">
                <a:spLocks noChangeArrowheads="1"/>
              </p:cNvSpPr>
              <p:nvPr/>
            </p:nvSpPr>
            <p:spPr bwMode="auto">
              <a:xfrm>
                <a:off x="2951" y="2395"/>
                <a:ext cx="213"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x</a:t>
                </a:r>
              </a:p>
            </p:txBody>
          </p:sp>
        </p:grpSp>
        <p:grpSp>
          <p:nvGrpSpPr>
            <p:cNvPr id="121909" name="Group 54"/>
            <p:cNvGrpSpPr/>
            <p:nvPr/>
          </p:nvGrpSpPr>
          <p:grpSpPr bwMode="auto">
            <a:xfrm>
              <a:off x="4438" y="1438"/>
              <a:ext cx="232" cy="250"/>
              <a:chOff x="2941" y="2425"/>
              <a:chExt cx="235" cy="250"/>
            </a:xfrm>
          </p:grpSpPr>
          <p:sp>
            <p:nvSpPr>
              <p:cNvPr id="121926" name="Rectangle 55"/>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21927" name="Text Box 56"/>
              <p:cNvSpPr txBox="1">
                <a:spLocks noChangeArrowheads="1"/>
              </p:cNvSpPr>
              <p:nvPr/>
            </p:nvSpPr>
            <p:spPr bwMode="auto">
              <a:xfrm>
                <a:off x="2941"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w</a:t>
                </a:r>
                <a:endParaRPr lang="en-US"/>
              </a:p>
            </p:txBody>
          </p:sp>
        </p:grpSp>
        <p:grpSp>
          <p:nvGrpSpPr>
            <p:cNvPr id="121910" name="Group 57"/>
            <p:cNvGrpSpPr/>
            <p:nvPr/>
          </p:nvGrpSpPr>
          <p:grpSpPr bwMode="auto">
            <a:xfrm>
              <a:off x="3771" y="1438"/>
              <a:ext cx="196" cy="250"/>
              <a:chOff x="2958" y="2425"/>
              <a:chExt cx="199" cy="250"/>
            </a:xfrm>
          </p:grpSpPr>
          <p:sp>
            <p:nvSpPr>
              <p:cNvPr id="121924" name="Rectangle 58"/>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1925" name="Text Box 59"/>
              <p:cNvSpPr txBox="1">
                <a:spLocks noChangeArrowheads="1"/>
              </p:cNvSpPr>
              <p:nvPr/>
            </p:nvSpPr>
            <p:spPr bwMode="auto">
              <a:xfrm>
                <a:off x="2958" y="2425"/>
                <a:ext cx="1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v</a:t>
                </a:r>
                <a:endParaRPr lang="en-US"/>
              </a:p>
            </p:txBody>
          </p:sp>
        </p:grpSp>
        <p:grpSp>
          <p:nvGrpSpPr>
            <p:cNvPr id="121911" name="Group 60"/>
            <p:cNvGrpSpPr/>
            <p:nvPr/>
          </p:nvGrpSpPr>
          <p:grpSpPr bwMode="auto">
            <a:xfrm>
              <a:off x="5025" y="1756"/>
              <a:ext cx="212" cy="288"/>
              <a:chOff x="2949" y="2395"/>
              <a:chExt cx="214" cy="288"/>
            </a:xfrm>
          </p:grpSpPr>
          <p:sp>
            <p:nvSpPr>
              <p:cNvPr id="121922" name="Rectangle 61"/>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1923" name="Text Box 62"/>
              <p:cNvSpPr txBox="1">
                <a:spLocks noChangeArrowheads="1"/>
              </p:cNvSpPr>
              <p:nvPr/>
            </p:nvSpPr>
            <p:spPr bwMode="auto">
              <a:xfrm>
                <a:off x="2949" y="2395"/>
                <a:ext cx="214"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z</a:t>
                </a:r>
              </a:p>
            </p:txBody>
          </p:sp>
        </p:grpSp>
        <p:sp>
          <p:nvSpPr>
            <p:cNvPr id="121912" name="Text Box 63"/>
            <p:cNvSpPr txBox="1">
              <a:spLocks noChangeArrowheads="1"/>
            </p:cNvSpPr>
            <p:nvPr/>
          </p:nvSpPr>
          <p:spPr bwMode="auto">
            <a:xfrm>
              <a:off x="3493" y="1568"/>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1913" name="Text Box 64"/>
            <p:cNvSpPr txBox="1">
              <a:spLocks noChangeArrowheads="1"/>
            </p:cNvSpPr>
            <p:nvPr/>
          </p:nvSpPr>
          <p:spPr bwMode="auto">
            <a:xfrm>
              <a:off x="3841" y="1787"/>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1914" name="Text Box 65"/>
            <p:cNvSpPr txBox="1">
              <a:spLocks noChangeArrowheads="1"/>
            </p:cNvSpPr>
            <p:nvPr/>
          </p:nvSpPr>
          <p:spPr bwMode="auto">
            <a:xfrm>
              <a:off x="3406" y="2000"/>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1915" name="Text Box 66"/>
            <p:cNvSpPr txBox="1">
              <a:spLocks noChangeArrowheads="1"/>
            </p:cNvSpPr>
            <p:nvPr/>
          </p:nvSpPr>
          <p:spPr bwMode="auto">
            <a:xfrm>
              <a:off x="4225" y="1880"/>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21916" name="Text Box 67"/>
            <p:cNvSpPr txBox="1">
              <a:spLocks noChangeArrowheads="1"/>
            </p:cNvSpPr>
            <p:nvPr/>
          </p:nvSpPr>
          <p:spPr bwMode="auto">
            <a:xfrm>
              <a:off x="4162" y="2234"/>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1917" name="Text Box 68"/>
            <p:cNvSpPr txBox="1">
              <a:spLocks noChangeArrowheads="1"/>
            </p:cNvSpPr>
            <p:nvPr/>
          </p:nvSpPr>
          <p:spPr bwMode="auto">
            <a:xfrm>
              <a:off x="4522" y="1805"/>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1918" name="Text Box 69"/>
            <p:cNvSpPr txBox="1">
              <a:spLocks noChangeArrowheads="1"/>
            </p:cNvSpPr>
            <p:nvPr/>
          </p:nvSpPr>
          <p:spPr bwMode="auto">
            <a:xfrm>
              <a:off x="4882" y="2069"/>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1919" name="Text Box 70"/>
            <p:cNvSpPr txBox="1">
              <a:spLocks noChangeArrowheads="1"/>
            </p:cNvSpPr>
            <p:nvPr/>
          </p:nvSpPr>
          <p:spPr bwMode="auto">
            <a:xfrm>
              <a:off x="4855" y="1532"/>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sp>
          <p:nvSpPr>
            <p:cNvPr id="121920" name="Text Box 71"/>
            <p:cNvSpPr txBox="1">
              <a:spLocks noChangeArrowheads="1"/>
            </p:cNvSpPr>
            <p:nvPr/>
          </p:nvSpPr>
          <p:spPr bwMode="auto">
            <a:xfrm>
              <a:off x="4120" y="1382"/>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21921" name="Text Box 72"/>
            <p:cNvSpPr txBox="1">
              <a:spLocks noChangeArrowheads="1"/>
            </p:cNvSpPr>
            <p:nvPr/>
          </p:nvSpPr>
          <p:spPr bwMode="auto">
            <a:xfrm>
              <a:off x="3769" y="1115"/>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grpSp>
      <p:sp>
        <p:nvSpPr>
          <p:cNvPr id="121862" name="Text Box 73"/>
          <p:cNvSpPr txBox="1">
            <a:spLocks noChangeArrowheads="1"/>
          </p:cNvSpPr>
          <p:nvPr/>
        </p:nvSpPr>
        <p:spPr bwMode="auto">
          <a:xfrm>
            <a:off x="5265738" y="1689100"/>
            <a:ext cx="3052762" cy="201453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c(x,x</a:t>
            </a:r>
            <a:r>
              <a:rPr lang="ja-JP" altLang="en-US" sz="1800"/>
              <a:t>’</a:t>
            </a:r>
            <a:r>
              <a:rPr lang="en-US" altLang="ja-JP" sz="1800"/>
              <a:t>) = cost of link (x,x</a:t>
            </a:r>
            <a:r>
              <a:rPr lang="ja-JP" altLang="en-US" sz="1800"/>
              <a:t>’</a:t>
            </a:r>
            <a:r>
              <a:rPr lang="en-US" altLang="ja-JP" sz="1800"/>
              <a:t>)</a:t>
            </a:r>
          </a:p>
          <a:p>
            <a:r>
              <a:rPr lang="en-US" sz="1800"/>
              <a:t>      e.g., c(w,z) = 5</a:t>
            </a:r>
          </a:p>
          <a:p>
            <a:endParaRPr lang="en-US" sz="1800"/>
          </a:p>
          <a:p>
            <a:r>
              <a:rPr lang="en-US" sz="1800">
                <a:latin typeface="Gill Sans MT" pitchFamily="34" charset="0"/>
              </a:rPr>
              <a:t>cost could always be 1, or </a:t>
            </a:r>
          </a:p>
          <a:p>
            <a:r>
              <a:rPr lang="en-US" sz="1800">
                <a:latin typeface="Gill Sans MT" pitchFamily="34" charset="0"/>
              </a:rPr>
              <a:t>inversely related to bandwidth,</a:t>
            </a:r>
          </a:p>
          <a:p>
            <a:r>
              <a:rPr lang="en-US" sz="1800">
                <a:latin typeface="Gill Sans MT" pitchFamily="34" charset="0"/>
              </a:rPr>
              <a:t>or inversely related to </a:t>
            </a:r>
          </a:p>
          <a:p>
            <a:r>
              <a:rPr lang="en-US" sz="1800">
                <a:latin typeface="Gill Sans MT" pitchFamily="34" charset="0"/>
              </a:rPr>
              <a:t>congestion</a:t>
            </a:r>
          </a:p>
        </p:txBody>
      </p:sp>
      <p:sp>
        <p:nvSpPr>
          <p:cNvPr id="121863" name="Text Box 74"/>
          <p:cNvSpPr txBox="1">
            <a:spLocks noChangeArrowheads="1"/>
          </p:cNvSpPr>
          <p:nvPr/>
        </p:nvSpPr>
        <p:spPr bwMode="auto">
          <a:xfrm>
            <a:off x="925513" y="4227513"/>
            <a:ext cx="6761162"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cost of path (x</a:t>
            </a:r>
            <a:r>
              <a:rPr lang="en-US" sz="1800" baseline="-25000"/>
              <a:t>1</a:t>
            </a:r>
            <a:r>
              <a:rPr lang="en-US" sz="1800"/>
              <a:t>, x</a:t>
            </a:r>
            <a:r>
              <a:rPr lang="en-US" sz="1800" baseline="-25000"/>
              <a:t>2</a:t>
            </a:r>
            <a:r>
              <a:rPr lang="en-US" sz="1800"/>
              <a:t>, x</a:t>
            </a:r>
            <a:r>
              <a:rPr lang="en-US" sz="1800" baseline="-25000"/>
              <a:t>3</a:t>
            </a:r>
            <a:r>
              <a:rPr lang="en-US" sz="1800"/>
              <a:t>,…, x</a:t>
            </a:r>
            <a:r>
              <a:rPr lang="en-US" sz="1800" baseline="-25000"/>
              <a:t>p</a:t>
            </a:r>
            <a:r>
              <a:rPr lang="en-US" sz="1800"/>
              <a:t>) = c(x</a:t>
            </a:r>
            <a:r>
              <a:rPr lang="en-US" sz="1800" baseline="-25000"/>
              <a:t>1</a:t>
            </a:r>
            <a:r>
              <a:rPr lang="en-US" sz="1800"/>
              <a:t>,x</a:t>
            </a:r>
            <a:r>
              <a:rPr lang="en-US" sz="1800" baseline="-25000"/>
              <a:t>2</a:t>
            </a:r>
            <a:r>
              <a:rPr lang="en-US" sz="1800"/>
              <a:t>) + c(x</a:t>
            </a:r>
            <a:r>
              <a:rPr lang="en-US" sz="1800" baseline="-25000"/>
              <a:t>2</a:t>
            </a:r>
            <a:r>
              <a:rPr lang="en-US" sz="1800"/>
              <a:t>,x</a:t>
            </a:r>
            <a:r>
              <a:rPr lang="en-US" sz="1800" baseline="-25000"/>
              <a:t>3</a:t>
            </a:r>
            <a:r>
              <a:rPr lang="en-US" sz="1800"/>
              <a:t>) + … + c(x</a:t>
            </a:r>
            <a:r>
              <a:rPr lang="en-US" sz="1800" baseline="-25000"/>
              <a:t>p-1</a:t>
            </a:r>
            <a:r>
              <a:rPr lang="en-US" sz="1800"/>
              <a:t>,x</a:t>
            </a:r>
            <a:r>
              <a:rPr lang="en-US" sz="1800" baseline="-25000"/>
              <a:t>p</a:t>
            </a:r>
            <a:r>
              <a:rPr lang="en-US" sz="1800"/>
              <a:t>)  </a:t>
            </a:r>
          </a:p>
        </p:txBody>
      </p:sp>
      <p:sp>
        <p:nvSpPr>
          <p:cNvPr id="121864" name="Text Box 75"/>
          <p:cNvSpPr txBox="1">
            <a:spLocks noChangeArrowheads="1"/>
          </p:cNvSpPr>
          <p:nvPr/>
        </p:nvSpPr>
        <p:spPr bwMode="auto">
          <a:xfrm>
            <a:off x="792163" y="4981575"/>
            <a:ext cx="7653020" cy="829945"/>
          </a:xfrm>
          <a:prstGeom prst="rect">
            <a:avLst/>
          </a:prstGeom>
          <a:noFill/>
          <a:ln w="28575">
            <a:solidFill>
              <a:srgbClr val="CC0000"/>
            </a:solidFill>
            <a:miter lim="800000"/>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i="1">
                <a:solidFill>
                  <a:srgbClr val="CC0000"/>
                </a:solidFill>
                <a:latin typeface="Gill Sans MT" pitchFamily="34" charset="0"/>
              </a:rPr>
              <a:t>key question:</a:t>
            </a:r>
            <a:r>
              <a:rPr lang="en-US" sz="2000">
                <a:latin typeface="Gill Sans MT" pitchFamily="34" charset="0"/>
              </a:rPr>
              <a:t> what is the least-cost path between u and z ?</a:t>
            </a:r>
          </a:p>
          <a:p>
            <a:r>
              <a:rPr lang="en-US" i="1">
                <a:solidFill>
                  <a:srgbClr val="CC0000"/>
                </a:solidFill>
                <a:latin typeface="Gill Sans MT" pitchFamily="34" charset="0"/>
              </a:rPr>
              <a:t>routing algorithm:</a:t>
            </a:r>
            <a:r>
              <a:rPr lang="en-US" sz="2000">
                <a:latin typeface="Gill Sans MT" pitchFamily="34" charset="0"/>
              </a:rPr>
              <a:t> algorithm that finds that least cost path</a:t>
            </a:r>
          </a:p>
        </p:txBody>
      </p:sp>
      <p:sp>
        <p:nvSpPr>
          <p:cNvPr id="79"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10</a:t>
            </a:fld>
            <a:endParaRPr lang="en-US" sz="1200" dirty="0">
              <a:latin typeface="Tahoma" panose="020B0604030504040204" charset="0"/>
            </a:endParaRPr>
          </a:p>
        </p:txBody>
      </p:sp>
      <p:sp>
        <p:nvSpPr>
          <p:cNvPr id="80"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883"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801688"/>
            <a:ext cx="6856412" cy="173037"/>
          </a:xfrm>
          <a:prstGeom prst="rect">
            <a:avLst/>
          </a:prstGeom>
          <a:noFill/>
          <a:ln>
            <a:noFill/>
          </a:ln>
        </p:spPr>
      </p:pic>
      <p:sp>
        <p:nvSpPr>
          <p:cNvPr id="122884" name="Rectangle 2"/>
          <p:cNvSpPr>
            <a:spLocks noGrp="1" noChangeArrowheads="1"/>
          </p:cNvSpPr>
          <p:nvPr>
            <p:ph type="title"/>
          </p:nvPr>
        </p:nvSpPr>
        <p:spPr>
          <a:xfrm>
            <a:off x="533400" y="17463"/>
            <a:ext cx="7772400" cy="1143000"/>
          </a:xfrm>
        </p:spPr>
        <p:txBody>
          <a:bodyPr/>
          <a:lstStyle/>
          <a:p>
            <a:r>
              <a:rPr lang="en-US" sz="4000">
                <a:latin typeface="Gill Sans MT" pitchFamily="34" charset="0"/>
              </a:rPr>
              <a:t>Routing algorithm classification</a:t>
            </a:r>
            <a:endParaRPr lang="en-US">
              <a:latin typeface="Gill Sans MT" pitchFamily="34" charset="0"/>
            </a:endParaRPr>
          </a:p>
        </p:txBody>
      </p:sp>
      <p:sp>
        <p:nvSpPr>
          <p:cNvPr id="122885" name="Rectangle 3"/>
          <p:cNvSpPr>
            <a:spLocks noGrp="1" noChangeArrowheads="1"/>
          </p:cNvSpPr>
          <p:nvPr>
            <p:ph type="body" sz="half" idx="1"/>
          </p:nvPr>
        </p:nvSpPr>
        <p:spPr>
          <a:xfrm>
            <a:off x="533083" y="1278255"/>
            <a:ext cx="4216400" cy="4648200"/>
          </a:xfrm>
        </p:spPr>
        <p:txBody>
          <a:bodyPr/>
          <a:lstStyle/>
          <a:p>
            <a:pPr>
              <a:buFont typeface="Wingdings" panose="05000000000000000000" charset="0"/>
              <a:buNone/>
            </a:pPr>
            <a:r>
              <a:rPr lang="en-US" sz="2400" i="1" dirty="0">
                <a:solidFill>
                  <a:srgbClr val="CC0000"/>
                </a:solidFill>
                <a:latin typeface="Gill Sans MT" pitchFamily="34" charset="0"/>
              </a:rPr>
              <a:t>Q: global or decentralized information?</a:t>
            </a:r>
          </a:p>
          <a:p>
            <a:pPr>
              <a:spcBef>
                <a:spcPct val="40000"/>
              </a:spcBef>
              <a:buFont typeface="Wingdings" panose="05000000000000000000" charset="0"/>
              <a:buNone/>
            </a:pPr>
            <a:r>
              <a:rPr lang="en-US" sz="2400" i="1" dirty="0">
                <a:solidFill>
                  <a:srgbClr val="CC0000"/>
                </a:solidFill>
                <a:latin typeface="Gill Sans MT" pitchFamily="34" charset="0"/>
              </a:rPr>
              <a:t>global:</a:t>
            </a:r>
          </a:p>
          <a:p>
            <a:r>
              <a:rPr lang="en-US" sz="2400" dirty="0">
                <a:latin typeface="Gill Sans MT" pitchFamily="34" charset="0"/>
              </a:rPr>
              <a:t>all routers have complete topology, link cost info</a:t>
            </a:r>
          </a:p>
          <a:p>
            <a:r>
              <a:rPr lang="ja-JP" altLang="en-US" sz="2400">
                <a:solidFill>
                  <a:srgbClr val="000099"/>
                </a:solidFill>
                <a:latin typeface="Gill Sans MT" pitchFamily="34" charset="0"/>
              </a:rPr>
              <a:t>“</a:t>
            </a:r>
            <a:r>
              <a:rPr lang="en-US" altLang="ja-JP" sz="2400" dirty="0">
                <a:solidFill>
                  <a:srgbClr val="000099"/>
                </a:solidFill>
                <a:latin typeface="Gill Sans MT" pitchFamily="34" charset="0"/>
              </a:rPr>
              <a:t>link state</a:t>
            </a:r>
            <a:r>
              <a:rPr lang="ja-JP" altLang="en-US" sz="2400">
                <a:solidFill>
                  <a:srgbClr val="000099"/>
                </a:solidFill>
                <a:latin typeface="Gill Sans MT" pitchFamily="34" charset="0"/>
              </a:rPr>
              <a:t>”</a:t>
            </a:r>
            <a:r>
              <a:rPr lang="en-US" altLang="ja-JP" sz="2400" dirty="0">
                <a:solidFill>
                  <a:srgbClr val="000099"/>
                </a:solidFill>
                <a:latin typeface="Gill Sans MT" pitchFamily="34" charset="0"/>
              </a:rPr>
              <a:t> algorithms</a:t>
            </a:r>
          </a:p>
          <a:p>
            <a:pPr>
              <a:buFont typeface="Wingdings" panose="05000000000000000000" charset="0"/>
              <a:buNone/>
            </a:pPr>
            <a:r>
              <a:rPr lang="en-US" sz="2400" i="1" dirty="0">
                <a:solidFill>
                  <a:srgbClr val="CC0000"/>
                </a:solidFill>
                <a:latin typeface="Gill Sans MT" pitchFamily="34" charset="0"/>
              </a:rPr>
              <a:t>decentralized: </a:t>
            </a:r>
          </a:p>
          <a:p>
            <a:r>
              <a:rPr lang="en-US" sz="2400" dirty="0">
                <a:latin typeface="Gill Sans MT" pitchFamily="34" charset="0"/>
              </a:rPr>
              <a:t>router knows physically-connected neighbors, link costs to neighbors</a:t>
            </a:r>
          </a:p>
          <a:p>
            <a:r>
              <a:rPr lang="en-US" sz="2400" dirty="0">
                <a:latin typeface="Gill Sans MT" pitchFamily="34" charset="0"/>
              </a:rPr>
              <a:t>iterative process of computation, exchange of info with neighbors</a:t>
            </a:r>
          </a:p>
          <a:p>
            <a:r>
              <a:rPr lang="ja-JP" altLang="en-US" sz="2400">
                <a:solidFill>
                  <a:srgbClr val="000099"/>
                </a:solidFill>
                <a:latin typeface="Gill Sans MT" pitchFamily="34" charset="0"/>
              </a:rPr>
              <a:t>“</a:t>
            </a:r>
            <a:r>
              <a:rPr lang="en-US" altLang="ja-JP" sz="2400" dirty="0">
                <a:solidFill>
                  <a:srgbClr val="000099"/>
                </a:solidFill>
                <a:latin typeface="Gill Sans MT" pitchFamily="34" charset="0"/>
              </a:rPr>
              <a:t>distance vector</a:t>
            </a:r>
            <a:r>
              <a:rPr lang="ja-JP" altLang="en-US" sz="2400">
                <a:solidFill>
                  <a:srgbClr val="000099"/>
                </a:solidFill>
                <a:latin typeface="Gill Sans MT" pitchFamily="34" charset="0"/>
              </a:rPr>
              <a:t>”</a:t>
            </a:r>
            <a:r>
              <a:rPr lang="en-US" altLang="ja-JP" sz="2400" dirty="0">
                <a:solidFill>
                  <a:srgbClr val="000099"/>
                </a:solidFill>
                <a:latin typeface="Gill Sans MT" pitchFamily="34" charset="0"/>
              </a:rPr>
              <a:t> algorithms</a:t>
            </a:r>
            <a:endParaRPr lang="en-US" sz="2400" dirty="0">
              <a:solidFill>
                <a:srgbClr val="000099"/>
              </a:solidFill>
              <a:latin typeface="Gill Sans MT" pitchFamily="34" charset="0"/>
            </a:endParaRPr>
          </a:p>
        </p:txBody>
      </p:sp>
      <p:sp>
        <p:nvSpPr>
          <p:cNvPr id="77831" name="Rectangle 4"/>
          <p:cNvSpPr>
            <a:spLocks noGrp="1" noChangeArrowheads="1"/>
          </p:cNvSpPr>
          <p:nvPr>
            <p:ph type="body" sz="half" idx="2"/>
          </p:nvPr>
        </p:nvSpPr>
        <p:spPr>
          <a:xfrm>
            <a:off x="4849495" y="1254443"/>
            <a:ext cx="3810000" cy="4648200"/>
          </a:xfrm>
        </p:spPr>
        <p:txBody>
          <a:bodyPr/>
          <a:lstStyle/>
          <a:p>
            <a:pPr>
              <a:buFont typeface="Wingdings" panose="05000000000000000000" charset="0"/>
              <a:buNone/>
              <a:defRPr/>
            </a:pPr>
            <a:r>
              <a:rPr lang="en-US" i="1" dirty="0">
                <a:solidFill>
                  <a:srgbClr val="CC0000"/>
                </a:solidFill>
                <a:cs typeface="+mn-cs"/>
              </a:rPr>
              <a:t>Q: static or dynamic?</a:t>
            </a:r>
            <a:endParaRPr lang="en-US" sz="2400" i="1" dirty="0">
              <a:solidFill>
                <a:srgbClr val="CC0000"/>
              </a:solidFill>
              <a:cs typeface="+mn-cs"/>
            </a:endParaRPr>
          </a:p>
          <a:p>
            <a:pPr>
              <a:spcBef>
                <a:spcPts val="1750"/>
              </a:spcBef>
              <a:buFont typeface="Wingdings" panose="05000000000000000000" charset="0"/>
              <a:buNone/>
              <a:defRPr/>
            </a:pPr>
            <a:r>
              <a:rPr lang="en-US" sz="2400" i="1" dirty="0">
                <a:solidFill>
                  <a:srgbClr val="CC0000"/>
                </a:solidFill>
                <a:cs typeface="+mn-cs"/>
              </a:rPr>
              <a:t>static:</a:t>
            </a:r>
            <a:r>
              <a:rPr lang="en-US" sz="2400" dirty="0">
                <a:cs typeface="+mn-cs"/>
              </a:rPr>
              <a:t> </a:t>
            </a:r>
          </a:p>
          <a:p>
            <a:pPr>
              <a:defRPr/>
            </a:pPr>
            <a:r>
              <a:rPr lang="en-US" sz="2400" dirty="0">
                <a:cs typeface="+mn-cs"/>
              </a:rPr>
              <a:t>routes change slowly over time</a:t>
            </a:r>
          </a:p>
          <a:p>
            <a:pPr>
              <a:buFont typeface="Wingdings" panose="05000000000000000000" charset="0"/>
              <a:buNone/>
              <a:defRPr/>
            </a:pPr>
            <a:r>
              <a:rPr lang="en-US" sz="2400" i="1" dirty="0">
                <a:solidFill>
                  <a:srgbClr val="CC0000"/>
                </a:solidFill>
                <a:cs typeface="+mn-cs"/>
              </a:rPr>
              <a:t>dynamic: </a:t>
            </a:r>
          </a:p>
          <a:p>
            <a:pPr>
              <a:defRPr/>
            </a:pPr>
            <a:r>
              <a:rPr lang="en-US" sz="2400" dirty="0">
                <a:cs typeface="+mn-cs"/>
              </a:rPr>
              <a:t>routes change more quickly</a:t>
            </a:r>
          </a:p>
          <a:p>
            <a:pPr lvl="1">
              <a:defRPr/>
            </a:pPr>
            <a:r>
              <a:rPr lang="en-US" dirty="0"/>
              <a:t>periodic update</a:t>
            </a:r>
          </a:p>
          <a:p>
            <a:pPr lvl="1">
              <a:defRPr/>
            </a:pPr>
            <a:r>
              <a:rPr lang="en-US" dirty="0"/>
              <a:t>in response to link cost changes</a:t>
            </a:r>
          </a:p>
        </p:txBody>
      </p:sp>
      <p:sp>
        <p:nvSpPr>
          <p:cNvPr id="8"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11</a:t>
            </a:fld>
            <a:endParaRPr lang="en-US" sz="1200" dirty="0">
              <a:latin typeface="Tahoma" panose="020B0604030504040204" charset="0"/>
            </a:endParaRPr>
          </a:p>
        </p:txBody>
      </p:sp>
      <p:sp>
        <p:nvSpPr>
          <p:cNvPr id="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3" name="页脚占位符 4"/>
          <p:cNvSpPr>
            <a:spLocks noGrp="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r" defTabSz="914400" rtl="0" eaLnBrk="1" fontAlgn="base" latinLnBrk="0" hangingPunct="1">
              <a:lnSpc>
                <a:spcPct val="100000"/>
              </a:lnSpc>
              <a:spcBef>
                <a:spcPct val="0"/>
              </a:spcBef>
              <a:spcAft>
                <a:spcPct val="0"/>
              </a:spcAft>
              <a:buClrTx/>
              <a:buSzTx/>
              <a:buFontTx/>
              <a:buNone/>
              <a:defRPr/>
            </a:pPr>
            <a:r>
              <a:rPr kumimoji="0" lang="zh-CN" altLang="en-US" sz="1200" b="0" i="0" u="none" strike="noStrike" kern="1200" cap="none" spc="0" normalizeH="0" baseline="0" noProof="0">
                <a:ln>
                  <a:noFill/>
                </a:ln>
                <a:solidFill>
                  <a:srgbClr val="000000"/>
                </a:solidFill>
                <a:effectLst/>
                <a:uLnTx/>
                <a:uFillTx/>
                <a:latin typeface="Tahoma" panose="020B0604030504040204" charset="0"/>
                <a:ea typeface="宋体" pitchFamily="2" charset="-122"/>
                <a:cs typeface="+mn-cs"/>
              </a:rPr>
              <a:t>课件制作人：谢希仁</a:t>
            </a:r>
          </a:p>
        </p:txBody>
      </p:sp>
      <p:sp>
        <p:nvSpPr>
          <p:cNvPr id="545795" name="Rectangle 3"/>
          <p:cNvSpPr>
            <a:spLocks noGrp="1" noChangeArrowheads="1"/>
          </p:cNvSpPr>
          <p:nvPr>
            <p:ph type="body" idx="1"/>
          </p:nvPr>
        </p:nvSpPr>
        <p:spPr>
          <a:xfrm>
            <a:off x="854075" y="1736725"/>
            <a:ext cx="7772400" cy="4076700"/>
          </a:xfrm>
        </p:spPr>
        <p:txBody>
          <a:bodyPr/>
          <a:lstStyle/>
          <a:p>
            <a:pPr algn="just" eaLnBrk="1" hangingPunct="1">
              <a:lnSpc>
                <a:spcPct val="120000"/>
              </a:lnSpc>
              <a:spcBef>
                <a:spcPts val="1175"/>
              </a:spcBef>
            </a:pPr>
            <a:r>
              <a:rPr lang="zh-CN" altLang="en-US" sz="2400">
                <a:latin typeface="Arial" panose="020B0604020202090204" pitchFamily="34" charset="0"/>
                <a:ea typeface="黑体" panose="02010609060101010101" pitchFamily="49" charset="-122"/>
              </a:rPr>
              <a:t>算法必须是正确的和完整的。 </a:t>
            </a:r>
          </a:p>
          <a:p>
            <a:pPr algn="just" eaLnBrk="1" hangingPunct="1">
              <a:lnSpc>
                <a:spcPct val="120000"/>
              </a:lnSpc>
              <a:spcBef>
                <a:spcPts val="1175"/>
              </a:spcBef>
            </a:pPr>
            <a:r>
              <a:rPr lang="zh-CN" altLang="en-US" sz="2400">
                <a:latin typeface="Arial" panose="020B0604020202090204" pitchFamily="34" charset="0"/>
                <a:ea typeface="黑体" panose="02010609060101010101" pitchFamily="49" charset="-122"/>
              </a:rPr>
              <a:t>算法在计算上应简单。 </a:t>
            </a:r>
          </a:p>
          <a:p>
            <a:pPr algn="just" eaLnBrk="1" hangingPunct="1">
              <a:lnSpc>
                <a:spcPct val="120000"/>
              </a:lnSpc>
              <a:spcBef>
                <a:spcPts val="1175"/>
              </a:spcBef>
            </a:pPr>
            <a:r>
              <a:rPr lang="zh-CN" altLang="en-US" sz="2400">
                <a:latin typeface="Arial" panose="020B0604020202090204" pitchFamily="34" charset="0"/>
                <a:ea typeface="黑体" panose="02010609060101010101" pitchFamily="49" charset="-122"/>
              </a:rPr>
              <a:t>算法应能适应通信量和网络拓扑的变化，这就是说，要有自适应性。 </a:t>
            </a:r>
          </a:p>
          <a:p>
            <a:pPr algn="just" eaLnBrk="1" hangingPunct="1">
              <a:lnSpc>
                <a:spcPct val="120000"/>
              </a:lnSpc>
              <a:spcBef>
                <a:spcPts val="1175"/>
              </a:spcBef>
            </a:pPr>
            <a:r>
              <a:rPr lang="zh-CN" altLang="en-US" sz="2400">
                <a:latin typeface="Arial" panose="020B0604020202090204" pitchFamily="34" charset="0"/>
                <a:ea typeface="黑体" panose="02010609060101010101" pitchFamily="49" charset="-122"/>
              </a:rPr>
              <a:t>算法应具有稳定性。 </a:t>
            </a:r>
          </a:p>
          <a:p>
            <a:pPr algn="just" eaLnBrk="1" hangingPunct="1">
              <a:lnSpc>
                <a:spcPct val="120000"/>
              </a:lnSpc>
              <a:spcBef>
                <a:spcPts val="1175"/>
              </a:spcBef>
            </a:pPr>
            <a:r>
              <a:rPr lang="zh-CN" altLang="en-US" sz="2400">
                <a:latin typeface="Arial" panose="020B0604020202090204" pitchFamily="34" charset="0"/>
                <a:ea typeface="黑体" panose="02010609060101010101" pitchFamily="49" charset="-122"/>
              </a:rPr>
              <a:t>算法应是公平的。 </a:t>
            </a:r>
          </a:p>
          <a:p>
            <a:pPr algn="just" eaLnBrk="1" hangingPunct="1">
              <a:lnSpc>
                <a:spcPct val="120000"/>
              </a:lnSpc>
              <a:spcBef>
                <a:spcPts val="1175"/>
              </a:spcBef>
            </a:pPr>
            <a:r>
              <a:rPr lang="zh-CN" altLang="en-US" sz="2400">
                <a:latin typeface="Arial" panose="020B0604020202090204" pitchFamily="34" charset="0"/>
                <a:ea typeface="黑体" panose="02010609060101010101" pitchFamily="49" charset="-122"/>
              </a:rPr>
              <a:t>算法应是最佳的。 </a:t>
            </a:r>
          </a:p>
        </p:txBody>
      </p:sp>
      <p:sp>
        <p:nvSpPr>
          <p:cNvPr id="264195" name="标题 1"/>
          <p:cNvSpPr>
            <a:spLocks noGrp="1" noChangeArrowheads="1"/>
          </p:cNvSpPr>
          <p:nvPr>
            <p:ph type="title"/>
          </p:nvPr>
        </p:nvSpPr>
        <p:spPr/>
        <p:txBody>
          <a:bodyPr/>
          <a:lstStyle/>
          <a:p>
            <a:r>
              <a:rPr kumimoji="1" lang="en-US" altLang="en-US" sz="3600" u="none">
                <a:latin typeface="华文楷体" panose="02010600040101010101" pitchFamily="2" charset="-122"/>
                <a:ea typeface="华文楷体" panose="02010600040101010101" pitchFamily="2" charset="-122"/>
              </a:rPr>
              <a:t>理想的路由算法</a:t>
            </a:r>
            <a:endParaRPr kumimoji="1" lang="zh-CN" altLang="en-US" sz="3600" u="none">
              <a:latin typeface="华文楷体" panose="02010600040101010101" pitchFamily="2" charset="-122"/>
              <a:ea typeface="华文楷体" panose="02010600040101010101" pitchFamily="2" charset="-122"/>
            </a:endParaRPr>
          </a:p>
        </p:txBody>
      </p:sp>
      <p:pic>
        <p:nvPicPr>
          <p:cNvPr id="264196" name="Picture 9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4579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4579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4579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45795">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45795">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45795">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5795" grpId="0" build="p"/>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Rectangle 2"/>
          <p:cNvSpPr>
            <a:spLocks noGrp="1" noChangeArrowheads="1"/>
          </p:cNvSpPr>
          <p:nvPr>
            <p:ph type="title"/>
          </p:nvPr>
        </p:nvSpPr>
        <p:spPr>
          <a:xfrm>
            <a:off x="584200" y="0"/>
            <a:ext cx="8116888"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关于“最佳路由” </a:t>
            </a:r>
          </a:p>
        </p:txBody>
      </p:sp>
      <p:pic>
        <p:nvPicPr>
          <p:cNvPr id="266242" name="Picture 9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5" name="图示 4"/>
          <p:cNvGraphicFramePr/>
          <p:nvPr/>
        </p:nvGraphicFramePr>
        <p:xfrm>
          <a:off x="1093142" y="1462087"/>
          <a:ext cx="6981911" cy="4316413"/>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cSld>
  <p:clrMapOvr>
    <a:masterClrMapping/>
  </p:clrMapOvr>
  <p:transition spd="slow"/>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9" name="Rectangle 2"/>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从自适应性考虑的算法分类</a:t>
            </a:r>
          </a:p>
        </p:txBody>
      </p:sp>
      <p:pic>
        <p:nvPicPr>
          <p:cNvPr id="268290" name="Picture 9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8291" name="组合 5"/>
          <p:cNvGrpSpPr/>
          <p:nvPr/>
        </p:nvGrpSpPr>
        <p:grpSpPr bwMode="auto">
          <a:xfrm>
            <a:off x="1135063" y="1817688"/>
            <a:ext cx="2720975" cy="633412"/>
            <a:chOff x="36" y="2228"/>
            <a:chExt cx="3480866" cy="633600"/>
          </a:xfrm>
        </p:grpSpPr>
        <p:sp>
          <p:nvSpPr>
            <p:cNvPr id="7" name="矩形 6"/>
            <p:cNvSpPr/>
            <p:nvPr/>
          </p:nvSpPr>
          <p:spPr>
            <a:xfrm>
              <a:off x="36" y="2228"/>
              <a:ext cx="3480866" cy="633600"/>
            </a:xfrm>
            <a:prstGeom prst="rect">
              <a:avLst/>
            </a:prstGeom>
            <a:solidFill>
              <a:srgbClr val="8064A2">
                <a:hueOff val="0"/>
                <a:satOff val="0"/>
                <a:lumOff val="0"/>
                <a:alphaOff val="0"/>
              </a:srgbClr>
            </a:solidFill>
            <a:ln w="25400" cap="flat" cmpd="sng" algn="ctr">
              <a:solidFill>
                <a:srgbClr val="8064A2">
                  <a:hueOff val="0"/>
                  <a:satOff val="0"/>
                  <a:lumOff val="0"/>
                  <a:alphaOff val="0"/>
                </a:srgbClr>
              </a:solidFill>
              <a:prstDash val="solid"/>
            </a:ln>
            <a:effectLst>
              <a:outerShdw blurRad="40000" dist="20000" dir="5400000" rotWithShape="0">
                <a:srgbClr val="000000">
                  <a:alpha val="38000"/>
                </a:srgbClr>
              </a:outerShdw>
            </a:effectLst>
          </p:spPr>
          <p:style>
            <a:lnRef idx="2">
              <a:scrgbClr r="0" g="0" b="0"/>
            </a:lnRef>
            <a:fillRef idx="1">
              <a:scrgbClr r="0" g="0" b="0"/>
            </a:fillRef>
            <a:effectRef idx="1">
              <a:scrgbClr r="0" g="0" b="0"/>
            </a:effectRef>
            <a:fontRef idx="minor">
              <a:schemeClr val="lt1"/>
            </a:fontRef>
          </p:style>
        </p:sp>
        <p:sp>
          <p:nvSpPr>
            <p:cNvPr id="8" name="文本框 7"/>
            <p:cNvSpPr txBox="1"/>
            <p:nvPr/>
          </p:nvSpPr>
          <p:spPr>
            <a:xfrm>
              <a:off x="36" y="2228"/>
              <a:ext cx="3480866" cy="633600"/>
            </a:xfrm>
            <a:prstGeom prst="rect">
              <a:avLst/>
            </a:prstGeom>
          </p:spPr>
          <p:style>
            <a:lnRef idx="0">
              <a:scrgbClr r="0" g="0" b="0"/>
            </a:lnRef>
            <a:fillRef idx="0">
              <a:scrgbClr r="0" g="0" b="0"/>
            </a:fillRef>
            <a:effectRef idx="0">
              <a:scrgbClr r="0" g="0" b="0"/>
            </a:effectRef>
            <a:fontRef idx="minor">
              <a:schemeClr val="lt1"/>
            </a:fontRef>
          </p:style>
          <p:txBody>
            <a:bodyPr lIns="142240" tIns="81280" rIns="142240" bIns="81280" anchor="ctr"/>
            <a:lstStyle>
              <a:lvl1pPr defTabSz="889000">
                <a:defRPr>
                  <a:solidFill>
                    <a:schemeClr val="tx1"/>
                  </a:solidFill>
                  <a:latin typeface="Comic Sans MS" panose="030F0902030302020204" pitchFamily="66" charset="0"/>
                  <a:ea typeface="宋体" pitchFamily="2" charset="-122"/>
                </a:defRPr>
              </a:lvl1pPr>
              <a:lvl2pPr marL="742950" indent="-285750" defTabSz="889000">
                <a:defRPr>
                  <a:solidFill>
                    <a:schemeClr val="tx1"/>
                  </a:solidFill>
                  <a:latin typeface="Comic Sans MS" panose="030F0902030302020204" pitchFamily="66" charset="0"/>
                  <a:ea typeface="宋体" pitchFamily="2" charset="-122"/>
                </a:defRPr>
              </a:lvl2pPr>
              <a:lvl3pPr marL="1143000" indent="-228600" defTabSz="889000">
                <a:defRPr>
                  <a:solidFill>
                    <a:schemeClr val="tx1"/>
                  </a:solidFill>
                  <a:latin typeface="Comic Sans MS" panose="030F0902030302020204" pitchFamily="66" charset="0"/>
                  <a:ea typeface="宋体" pitchFamily="2" charset="-122"/>
                </a:defRPr>
              </a:lvl3pPr>
              <a:lvl4pPr marL="1600200" indent="-228600" defTabSz="889000">
                <a:defRPr>
                  <a:solidFill>
                    <a:schemeClr val="tx1"/>
                  </a:solidFill>
                  <a:latin typeface="Comic Sans MS" panose="030F0902030302020204" pitchFamily="66" charset="0"/>
                  <a:ea typeface="宋体" pitchFamily="2" charset="-122"/>
                </a:defRPr>
              </a:lvl4pPr>
              <a:lvl5pPr marL="2057400" indent="-228600" defTabSz="889000">
                <a:defRPr>
                  <a:solidFill>
                    <a:schemeClr val="tx1"/>
                  </a:solidFill>
                  <a:latin typeface="Comic Sans MS" panose="030F0902030302020204" pitchFamily="66" charset="0"/>
                  <a:ea typeface="宋体" pitchFamily="2" charset="-122"/>
                </a:defRPr>
              </a:lvl5pPr>
              <a:lvl6pPr marL="25146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ctr" defTabSz="889000" rtl="0" eaLnBrk="0" fontAlgn="base" latinLnBrk="0" hangingPunct="0">
                <a:lnSpc>
                  <a:spcPct val="90000"/>
                </a:lnSpc>
                <a:spcBef>
                  <a:spcPct val="0"/>
                </a:spcBef>
                <a:spcAft>
                  <a:spcPct val="35000"/>
                </a:spcAft>
                <a:buClrTx/>
                <a:buSzTx/>
                <a:buFontTx/>
                <a:buNone/>
                <a:defRPr/>
              </a:pPr>
              <a:r>
                <a:rPr kumimoji="0" lang="zh-CN" altLang="en-US" sz="2000" b="1" i="0" u="none" strike="noStrike" kern="1200" cap="none" spc="0" normalizeH="0" baseline="0" noProof="0">
                  <a:ln>
                    <a:noFill/>
                  </a:ln>
                  <a:solidFill>
                    <a:srgbClr val="FFFFFF"/>
                  </a:solidFill>
                  <a:effectLst/>
                  <a:uLnTx/>
                  <a:uFillTx/>
                  <a:latin typeface="黑体" charset="0"/>
                  <a:ea typeface="黑体" charset="0"/>
                  <a:cs typeface="+mn-cs"/>
                </a:rPr>
                <a:t>静态路由选择策略</a:t>
              </a:r>
            </a:p>
          </p:txBody>
        </p:sp>
      </p:grpSp>
      <p:grpSp>
        <p:nvGrpSpPr>
          <p:cNvPr id="268292" name="组合 8"/>
          <p:cNvGrpSpPr/>
          <p:nvPr/>
        </p:nvGrpSpPr>
        <p:grpSpPr bwMode="auto">
          <a:xfrm>
            <a:off x="1135063" y="3994150"/>
            <a:ext cx="2720975" cy="633413"/>
            <a:chOff x="3968224" y="2228"/>
            <a:chExt cx="3480866" cy="633600"/>
          </a:xfrm>
        </p:grpSpPr>
        <p:sp>
          <p:nvSpPr>
            <p:cNvPr id="10" name="矩形 9"/>
            <p:cNvSpPr/>
            <p:nvPr/>
          </p:nvSpPr>
          <p:spPr>
            <a:xfrm>
              <a:off x="3968224" y="2228"/>
              <a:ext cx="3480866" cy="633600"/>
            </a:xfrm>
            <a:prstGeom prst="rect">
              <a:avLst/>
            </a:prstGeom>
            <a:solidFill>
              <a:srgbClr val="8064A2">
                <a:hueOff val="-4464770"/>
                <a:satOff val="26899"/>
                <a:lumOff val="2156"/>
                <a:alphaOff val="0"/>
              </a:srgbClr>
            </a:solidFill>
            <a:ln w="25400" cap="flat" cmpd="sng" algn="ctr">
              <a:solidFill>
                <a:srgbClr val="8064A2">
                  <a:hueOff val="-4464770"/>
                  <a:satOff val="26899"/>
                  <a:lumOff val="2156"/>
                  <a:alphaOff val="0"/>
                </a:srgbClr>
              </a:solidFill>
              <a:prstDash val="solid"/>
            </a:ln>
            <a:effectLst>
              <a:outerShdw blurRad="40000" dist="20000" dir="5400000" rotWithShape="0">
                <a:srgbClr val="000000">
                  <a:alpha val="38000"/>
                </a:srgbClr>
              </a:outerShdw>
            </a:effectLst>
          </p:spPr>
          <p:style>
            <a:lnRef idx="2">
              <a:scrgbClr r="0" g="0" b="0"/>
            </a:lnRef>
            <a:fillRef idx="1">
              <a:scrgbClr r="0" g="0" b="0"/>
            </a:fillRef>
            <a:effectRef idx="1">
              <a:scrgbClr r="0" g="0" b="0"/>
            </a:effectRef>
            <a:fontRef idx="minor">
              <a:schemeClr val="lt1"/>
            </a:fontRef>
          </p:style>
        </p:sp>
        <p:sp>
          <p:nvSpPr>
            <p:cNvPr id="11" name="文本框 10"/>
            <p:cNvSpPr txBox="1"/>
            <p:nvPr/>
          </p:nvSpPr>
          <p:spPr>
            <a:xfrm>
              <a:off x="3968224" y="2228"/>
              <a:ext cx="3480866" cy="633600"/>
            </a:xfrm>
            <a:prstGeom prst="rect">
              <a:avLst/>
            </a:prstGeom>
          </p:spPr>
          <p:style>
            <a:lnRef idx="0">
              <a:scrgbClr r="0" g="0" b="0"/>
            </a:lnRef>
            <a:fillRef idx="0">
              <a:scrgbClr r="0" g="0" b="0"/>
            </a:fillRef>
            <a:effectRef idx="0">
              <a:scrgbClr r="0" g="0" b="0"/>
            </a:effectRef>
            <a:fontRef idx="minor">
              <a:schemeClr val="lt1"/>
            </a:fontRef>
          </p:style>
          <p:txBody>
            <a:bodyPr lIns="142240" tIns="81280" rIns="142240" bIns="81280" anchor="ctr"/>
            <a:lstStyle>
              <a:lvl1pPr defTabSz="889000">
                <a:defRPr>
                  <a:solidFill>
                    <a:schemeClr val="tx1"/>
                  </a:solidFill>
                  <a:latin typeface="Comic Sans MS" panose="030F0902030302020204" pitchFamily="66" charset="0"/>
                  <a:ea typeface="宋体" pitchFamily="2" charset="-122"/>
                </a:defRPr>
              </a:lvl1pPr>
              <a:lvl2pPr marL="742950" indent="-285750" defTabSz="889000">
                <a:defRPr>
                  <a:solidFill>
                    <a:schemeClr val="tx1"/>
                  </a:solidFill>
                  <a:latin typeface="Comic Sans MS" panose="030F0902030302020204" pitchFamily="66" charset="0"/>
                  <a:ea typeface="宋体" pitchFamily="2" charset="-122"/>
                </a:defRPr>
              </a:lvl2pPr>
              <a:lvl3pPr marL="1143000" indent="-228600" defTabSz="889000">
                <a:defRPr>
                  <a:solidFill>
                    <a:schemeClr val="tx1"/>
                  </a:solidFill>
                  <a:latin typeface="Comic Sans MS" panose="030F0902030302020204" pitchFamily="66" charset="0"/>
                  <a:ea typeface="宋体" pitchFamily="2" charset="-122"/>
                </a:defRPr>
              </a:lvl3pPr>
              <a:lvl4pPr marL="1600200" indent="-228600" defTabSz="889000">
                <a:defRPr>
                  <a:solidFill>
                    <a:schemeClr val="tx1"/>
                  </a:solidFill>
                  <a:latin typeface="Comic Sans MS" panose="030F0902030302020204" pitchFamily="66" charset="0"/>
                  <a:ea typeface="宋体" pitchFamily="2" charset="-122"/>
                </a:defRPr>
              </a:lvl4pPr>
              <a:lvl5pPr marL="2057400" indent="-228600" defTabSz="889000">
                <a:defRPr>
                  <a:solidFill>
                    <a:schemeClr val="tx1"/>
                  </a:solidFill>
                  <a:latin typeface="Comic Sans MS" panose="030F0902030302020204" pitchFamily="66" charset="0"/>
                  <a:ea typeface="宋体" pitchFamily="2" charset="-122"/>
                </a:defRPr>
              </a:lvl5pPr>
              <a:lvl6pPr marL="25146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ctr" defTabSz="889000" rtl="0" eaLnBrk="0" fontAlgn="base" latinLnBrk="0" hangingPunct="0">
                <a:lnSpc>
                  <a:spcPct val="90000"/>
                </a:lnSpc>
                <a:spcBef>
                  <a:spcPct val="0"/>
                </a:spcBef>
                <a:spcAft>
                  <a:spcPct val="35000"/>
                </a:spcAft>
                <a:buClrTx/>
                <a:buSzTx/>
                <a:buFontTx/>
                <a:buNone/>
                <a:defRPr/>
              </a:pPr>
              <a:r>
                <a:rPr kumimoji="0" lang="zh-CN" altLang="en-US" sz="2000" b="1" i="0" u="none" strike="noStrike" kern="1200" cap="none" spc="0" normalizeH="0" baseline="0" noProof="0">
                  <a:ln>
                    <a:noFill/>
                  </a:ln>
                  <a:solidFill>
                    <a:srgbClr val="FFFFFF"/>
                  </a:solidFill>
                  <a:effectLst/>
                  <a:uLnTx/>
                  <a:uFillTx/>
                  <a:latin typeface="黑体" charset="0"/>
                  <a:ea typeface="黑体" charset="0"/>
                  <a:cs typeface="+mn-cs"/>
                </a:rPr>
                <a:t>动态路由选择策略</a:t>
              </a:r>
            </a:p>
          </p:txBody>
        </p:sp>
      </p:grpSp>
      <p:grpSp>
        <p:nvGrpSpPr>
          <p:cNvPr id="268293" name="组合 11"/>
          <p:cNvGrpSpPr/>
          <p:nvPr/>
        </p:nvGrpSpPr>
        <p:grpSpPr bwMode="auto">
          <a:xfrm>
            <a:off x="4059238" y="1817688"/>
            <a:ext cx="4019550" cy="1447800"/>
            <a:chOff x="36" y="635828"/>
            <a:chExt cx="3480866" cy="1449360"/>
          </a:xfrm>
        </p:grpSpPr>
        <p:sp>
          <p:nvSpPr>
            <p:cNvPr id="13" name="矩形 12"/>
            <p:cNvSpPr/>
            <p:nvPr/>
          </p:nvSpPr>
          <p:spPr>
            <a:xfrm>
              <a:off x="36" y="635828"/>
              <a:ext cx="3480866" cy="1449360"/>
            </a:xfrm>
            <a:prstGeom prst="rect">
              <a:avLst/>
            </a:prstGeom>
            <a:solidFill>
              <a:srgbClr val="8064A2">
                <a:tint val="40000"/>
                <a:alpha val="90000"/>
                <a:hueOff val="0"/>
                <a:satOff val="0"/>
                <a:lumOff val="0"/>
                <a:alphaOff val="0"/>
              </a:srgbClr>
            </a:solidFill>
            <a:ln w="25400" cap="flat" cmpd="sng" algn="ctr">
              <a:solidFill>
                <a:srgbClr val="8064A2">
                  <a:tint val="40000"/>
                  <a:alpha val="90000"/>
                  <a:hueOff val="0"/>
                  <a:satOff val="0"/>
                  <a:lumOff val="0"/>
                  <a:alphaOff val="0"/>
                </a:srgbClr>
              </a:solidFill>
              <a:prstDash val="solid"/>
            </a:ln>
            <a:effectLst/>
          </p:spPr>
          <p:style>
            <a:lnRef idx="2">
              <a:scrgbClr r="0" g="0" b="0"/>
            </a:lnRef>
            <a:fillRef idx="1">
              <a:scrgbClr r="0" g="0" b="0"/>
            </a:fillRef>
            <a:effectRef idx="0">
              <a:scrgbClr r="0" g="0" b="0"/>
            </a:effectRef>
            <a:fontRef idx="minor">
              <a:schemeClr val="dk1">
                <a:hueOff val="0"/>
                <a:satOff val="0"/>
                <a:lumOff val="0"/>
                <a:alphaOff val="0"/>
              </a:schemeClr>
            </a:fontRef>
          </p:style>
        </p:sp>
        <p:sp>
          <p:nvSpPr>
            <p:cNvPr id="14" name="文本框 13"/>
            <p:cNvSpPr txBox="1"/>
            <p:nvPr/>
          </p:nvSpPr>
          <p:spPr>
            <a:xfrm>
              <a:off x="36" y="635828"/>
              <a:ext cx="3480866" cy="1449360"/>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96012" tIns="96012" rIns="128016" bIns="144018"/>
            <a:lstStyle>
              <a:lvl1pPr marL="342900" indent="-342900" defTabSz="800100">
                <a:defRPr>
                  <a:solidFill>
                    <a:schemeClr val="tx1"/>
                  </a:solidFill>
                  <a:latin typeface="Comic Sans MS" panose="030F0902030302020204" pitchFamily="66" charset="0"/>
                  <a:ea typeface="宋体" pitchFamily="2" charset="-122"/>
                </a:defRPr>
              </a:lvl1pPr>
              <a:lvl2pPr marL="171450" indent="-171450" defTabSz="800100">
                <a:defRPr>
                  <a:solidFill>
                    <a:schemeClr val="tx1"/>
                  </a:solidFill>
                  <a:latin typeface="Comic Sans MS" panose="030F0902030302020204" pitchFamily="66" charset="0"/>
                  <a:ea typeface="宋体" pitchFamily="2" charset="-122"/>
                </a:defRPr>
              </a:lvl2pPr>
              <a:lvl3pPr marL="1143000" indent="-228600" defTabSz="800100">
                <a:defRPr>
                  <a:solidFill>
                    <a:schemeClr val="tx1"/>
                  </a:solidFill>
                  <a:latin typeface="Comic Sans MS" panose="030F0902030302020204" pitchFamily="66" charset="0"/>
                  <a:ea typeface="宋体" pitchFamily="2" charset="-122"/>
                </a:defRPr>
              </a:lvl3pPr>
              <a:lvl4pPr marL="1600200" indent="-228600" defTabSz="800100">
                <a:defRPr>
                  <a:solidFill>
                    <a:schemeClr val="tx1"/>
                  </a:solidFill>
                  <a:latin typeface="Comic Sans MS" panose="030F0902030302020204" pitchFamily="66" charset="0"/>
                  <a:ea typeface="宋体" pitchFamily="2" charset="-122"/>
                </a:defRPr>
              </a:lvl4pPr>
              <a:lvl5pPr marL="2057400" indent="-228600" defTabSz="800100">
                <a:defRPr>
                  <a:solidFill>
                    <a:schemeClr val="tx1"/>
                  </a:solidFill>
                  <a:latin typeface="Comic Sans MS" panose="030F0902030302020204" pitchFamily="66" charset="0"/>
                  <a:ea typeface="宋体" pitchFamily="2" charset="-122"/>
                </a:defRPr>
              </a:lvl5pPr>
              <a:lvl6pPr marL="2514600" indent="-228600" defTabSz="800100"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800100"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800100"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800100"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171450" marR="0" lvl="1" indent="-171450" algn="l" defTabSz="800100" rtl="0" eaLnBrk="0" fontAlgn="base" latinLnBrk="0" hangingPunct="0">
                <a:lnSpc>
                  <a:spcPct val="100000"/>
                </a:lnSpc>
                <a:spcBef>
                  <a:spcPts val="600"/>
                </a:spcBef>
                <a:spcAft>
                  <a:spcPts val="965"/>
                </a:spcAft>
                <a:buClrTx/>
                <a:buSzTx/>
                <a:buFontTx/>
                <a:buChar char="•"/>
                <a:defRPr/>
              </a:pPr>
              <a:r>
                <a:rPr kumimoji="0" lang="zh-CN" altLang="en-US" sz="2000" b="1" i="0" u="none" strike="noStrike" kern="1200" cap="none" spc="0" normalizeH="0" baseline="0" noProof="0">
                  <a:ln>
                    <a:noFill/>
                  </a:ln>
                  <a:solidFill>
                    <a:srgbClr val="000000"/>
                  </a:solidFill>
                  <a:effectLst/>
                  <a:uLnTx/>
                  <a:uFillTx/>
                  <a:latin typeface="黑体" charset="0"/>
                  <a:ea typeface="黑体" charset="0"/>
                  <a:cs typeface="黑体" charset="0"/>
                </a:rPr>
                <a:t>非自适应路由选择；</a:t>
              </a:r>
            </a:p>
            <a:p>
              <a:pPr marL="171450" marR="0" lvl="1" indent="-171450" algn="l" defTabSz="800100" rtl="0" eaLnBrk="0" fontAlgn="base" latinLnBrk="0" hangingPunct="0">
                <a:lnSpc>
                  <a:spcPct val="100000"/>
                </a:lnSpc>
                <a:spcBef>
                  <a:spcPts val="600"/>
                </a:spcBef>
                <a:spcAft>
                  <a:spcPts val="965"/>
                </a:spcAft>
                <a:buClrTx/>
                <a:buSzTx/>
                <a:buFontTx/>
                <a:buChar char="•"/>
                <a:defRPr/>
              </a:pPr>
              <a:r>
                <a:rPr kumimoji="0" lang="zh-CN" altLang="en-US" sz="2000" b="1" i="0" u="none" strike="noStrike" kern="1200" cap="none" spc="0" normalizeH="0" baseline="0" noProof="0">
                  <a:ln>
                    <a:noFill/>
                  </a:ln>
                  <a:solidFill>
                    <a:srgbClr val="000000"/>
                  </a:solidFill>
                  <a:effectLst/>
                  <a:uLnTx/>
                  <a:uFillTx/>
                  <a:latin typeface="黑体" charset="0"/>
                  <a:ea typeface="黑体" charset="0"/>
                  <a:cs typeface="黑体" charset="0"/>
                </a:rPr>
                <a:t>不能及时适应网络状态的变化；</a:t>
              </a:r>
            </a:p>
            <a:p>
              <a:pPr marL="171450" marR="0" lvl="1" indent="-171450" algn="l" defTabSz="800100" rtl="0" eaLnBrk="0" fontAlgn="base" latinLnBrk="0" hangingPunct="0">
                <a:lnSpc>
                  <a:spcPct val="100000"/>
                </a:lnSpc>
                <a:spcBef>
                  <a:spcPts val="600"/>
                </a:spcBef>
                <a:spcAft>
                  <a:spcPts val="965"/>
                </a:spcAft>
                <a:buClrTx/>
                <a:buSzTx/>
                <a:buFontTx/>
                <a:buChar char="•"/>
                <a:defRPr/>
              </a:pPr>
              <a:r>
                <a:rPr kumimoji="0" lang="zh-CN" altLang="en-US" sz="2000" b="1" i="0" u="none" strike="noStrike" kern="1200" cap="none" spc="0" normalizeH="0" baseline="0" noProof="0">
                  <a:ln>
                    <a:noFill/>
                  </a:ln>
                  <a:solidFill>
                    <a:srgbClr val="000000"/>
                  </a:solidFill>
                  <a:effectLst/>
                  <a:uLnTx/>
                  <a:uFillTx/>
                  <a:latin typeface="黑体" charset="0"/>
                  <a:ea typeface="黑体" charset="0"/>
                  <a:cs typeface="黑体" charset="0"/>
                </a:rPr>
                <a:t>简单，开销较小。 </a:t>
              </a:r>
            </a:p>
          </p:txBody>
        </p:sp>
      </p:grpSp>
      <p:grpSp>
        <p:nvGrpSpPr>
          <p:cNvPr id="268294" name="组合 14"/>
          <p:cNvGrpSpPr/>
          <p:nvPr/>
        </p:nvGrpSpPr>
        <p:grpSpPr bwMode="auto">
          <a:xfrm>
            <a:off x="4059238" y="3994150"/>
            <a:ext cx="4019550" cy="1449388"/>
            <a:chOff x="3968224" y="635828"/>
            <a:chExt cx="3480866" cy="1449360"/>
          </a:xfrm>
        </p:grpSpPr>
        <p:sp>
          <p:nvSpPr>
            <p:cNvPr id="16" name="矩形 15"/>
            <p:cNvSpPr/>
            <p:nvPr/>
          </p:nvSpPr>
          <p:spPr>
            <a:xfrm>
              <a:off x="3968224" y="635828"/>
              <a:ext cx="3480866" cy="1449360"/>
            </a:xfrm>
            <a:prstGeom prst="rect">
              <a:avLst/>
            </a:prstGeom>
            <a:solidFill>
              <a:srgbClr val="8064A2">
                <a:tint val="40000"/>
                <a:alpha val="90000"/>
                <a:hueOff val="-3945710"/>
                <a:satOff val="22157"/>
                <a:lumOff val="1408"/>
                <a:alphaOff val="0"/>
              </a:srgbClr>
            </a:solidFill>
            <a:ln w="25400" cap="flat" cmpd="sng" algn="ctr">
              <a:solidFill>
                <a:srgbClr val="8064A2">
                  <a:tint val="40000"/>
                  <a:alpha val="90000"/>
                  <a:hueOff val="-3945710"/>
                  <a:satOff val="22157"/>
                  <a:lumOff val="1408"/>
                  <a:alphaOff val="0"/>
                </a:srgbClr>
              </a:solidFill>
              <a:prstDash val="solid"/>
            </a:ln>
            <a:effectLst/>
          </p:spPr>
          <p:style>
            <a:lnRef idx="2">
              <a:scrgbClr r="0" g="0" b="0"/>
            </a:lnRef>
            <a:fillRef idx="1">
              <a:scrgbClr r="0" g="0" b="0"/>
            </a:fillRef>
            <a:effectRef idx="0">
              <a:scrgbClr r="0" g="0" b="0"/>
            </a:effectRef>
            <a:fontRef idx="minor">
              <a:schemeClr val="dk1">
                <a:hueOff val="0"/>
                <a:satOff val="0"/>
                <a:lumOff val="0"/>
                <a:alphaOff val="0"/>
              </a:schemeClr>
            </a:fontRef>
          </p:style>
        </p:sp>
        <p:sp>
          <p:nvSpPr>
            <p:cNvPr id="17" name="文本框 16"/>
            <p:cNvSpPr txBox="1"/>
            <p:nvPr/>
          </p:nvSpPr>
          <p:spPr>
            <a:xfrm>
              <a:off x="3968224" y="635828"/>
              <a:ext cx="3480866" cy="1449360"/>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96012" tIns="96012" rIns="128016" bIns="144018"/>
            <a:lstStyle>
              <a:lvl1pPr marL="342900" indent="-342900" defTabSz="800100">
                <a:defRPr>
                  <a:solidFill>
                    <a:schemeClr val="tx1"/>
                  </a:solidFill>
                  <a:latin typeface="Comic Sans MS" panose="030F0902030302020204" pitchFamily="66" charset="0"/>
                  <a:ea typeface="宋体" pitchFamily="2" charset="-122"/>
                </a:defRPr>
              </a:lvl1pPr>
              <a:lvl2pPr marL="171450" indent="-171450" defTabSz="800100">
                <a:defRPr>
                  <a:solidFill>
                    <a:schemeClr val="tx1"/>
                  </a:solidFill>
                  <a:latin typeface="Comic Sans MS" panose="030F0902030302020204" pitchFamily="66" charset="0"/>
                  <a:ea typeface="宋体" pitchFamily="2" charset="-122"/>
                </a:defRPr>
              </a:lvl2pPr>
              <a:lvl3pPr marL="1143000" indent="-228600" defTabSz="800100">
                <a:defRPr>
                  <a:solidFill>
                    <a:schemeClr val="tx1"/>
                  </a:solidFill>
                  <a:latin typeface="Comic Sans MS" panose="030F0902030302020204" pitchFamily="66" charset="0"/>
                  <a:ea typeface="宋体" pitchFamily="2" charset="-122"/>
                </a:defRPr>
              </a:lvl3pPr>
              <a:lvl4pPr marL="1600200" indent="-228600" defTabSz="800100">
                <a:defRPr>
                  <a:solidFill>
                    <a:schemeClr val="tx1"/>
                  </a:solidFill>
                  <a:latin typeface="Comic Sans MS" panose="030F0902030302020204" pitchFamily="66" charset="0"/>
                  <a:ea typeface="宋体" pitchFamily="2" charset="-122"/>
                </a:defRPr>
              </a:lvl4pPr>
              <a:lvl5pPr marL="2057400" indent="-228600" defTabSz="800100">
                <a:defRPr>
                  <a:solidFill>
                    <a:schemeClr val="tx1"/>
                  </a:solidFill>
                  <a:latin typeface="Comic Sans MS" panose="030F0902030302020204" pitchFamily="66" charset="0"/>
                  <a:ea typeface="宋体" pitchFamily="2" charset="-122"/>
                </a:defRPr>
              </a:lvl5pPr>
              <a:lvl6pPr marL="2514600" indent="-228600" defTabSz="800100"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800100"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800100"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800100"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171450" marR="0" lvl="1" indent="-171450" algn="l" defTabSz="800100" rtl="0" eaLnBrk="0" fontAlgn="base" latinLnBrk="0" hangingPunct="0">
                <a:lnSpc>
                  <a:spcPct val="100000"/>
                </a:lnSpc>
                <a:spcBef>
                  <a:spcPts val="600"/>
                </a:spcBef>
                <a:spcAft>
                  <a:spcPts val="965"/>
                </a:spcAft>
                <a:buClrTx/>
                <a:buSzTx/>
                <a:buFontTx/>
                <a:buChar char="•"/>
                <a:defRPr/>
              </a:pPr>
              <a:r>
                <a:rPr kumimoji="0" lang="zh-CN" altLang="en-US" sz="2000" b="1" i="0" u="none" strike="noStrike" kern="1200" cap="none" spc="0" normalizeH="0" baseline="0" noProof="0">
                  <a:ln>
                    <a:noFill/>
                  </a:ln>
                  <a:solidFill>
                    <a:srgbClr val="000000"/>
                  </a:solidFill>
                  <a:effectLst/>
                  <a:uLnTx/>
                  <a:uFillTx/>
                  <a:latin typeface="黑体" charset="0"/>
                  <a:ea typeface="黑体" charset="0"/>
                  <a:cs typeface="黑体" charset="0"/>
                </a:rPr>
                <a:t>自适应路由选择；</a:t>
              </a:r>
            </a:p>
            <a:p>
              <a:pPr marL="171450" marR="0" lvl="1" indent="-171450" algn="l" defTabSz="800100" rtl="0" eaLnBrk="0" fontAlgn="base" latinLnBrk="0" hangingPunct="0">
                <a:lnSpc>
                  <a:spcPct val="100000"/>
                </a:lnSpc>
                <a:spcBef>
                  <a:spcPts val="600"/>
                </a:spcBef>
                <a:spcAft>
                  <a:spcPts val="965"/>
                </a:spcAft>
                <a:buClrTx/>
                <a:buSzTx/>
                <a:buFontTx/>
                <a:buChar char="•"/>
                <a:defRPr/>
              </a:pPr>
              <a:r>
                <a:rPr kumimoji="0" lang="zh-CN" altLang="en-US" sz="2000" b="1" i="0" u="none" strike="noStrike" kern="1200" cap="none" spc="0" normalizeH="0" baseline="0" noProof="0">
                  <a:ln>
                    <a:noFill/>
                  </a:ln>
                  <a:solidFill>
                    <a:srgbClr val="000000"/>
                  </a:solidFill>
                  <a:effectLst/>
                  <a:uLnTx/>
                  <a:uFillTx/>
                  <a:latin typeface="黑体" charset="0"/>
                  <a:ea typeface="黑体" charset="0"/>
                  <a:cs typeface="黑体" charset="0"/>
                </a:rPr>
                <a:t>能较好地适应网络状态的变化；</a:t>
              </a:r>
            </a:p>
            <a:p>
              <a:pPr marL="171450" marR="0" lvl="1" indent="-171450" algn="l" defTabSz="800100" rtl="0" eaLnBrk="0" fontAlgn="base" latinLnBrk="0" hangingPunct="0">
                <a:lnSpc>
                  <a:spcPct val="100000"/>
                </a:lnSpc>
                <a:spcBef>
                  <a:spcPts val="600"/>
                </a:spcBef>
                <a:spcAft>
                  <a:spcPts val="965"/>
                </a:spcAft>
                <a:buClrTx/>
                <a:buSzTx/>
                <a:buFontTx/>
                <a:buChar char="•"/>
                <a:defRPr/>
              </a:pPr>
              <a:r>
                <a:rPr kumimoji="0" lang="zh-CN" altLang="en-US" sz="2000" b="1" i="0" u="none" strike="noStrike" kern="1200" cap="none" spc="0" normalizeH="0" baseline="0" noProof="0">
                  <a:ln>
                    <a:noFill/>
                  </a:ln>
                  <a:solidFill>
                    <a:srgbClr val="000000"/>
                  </a:solidFill>
                  <a:effectLst/>
                  <a:uLnTx/>
                  <a:uFillTx/>
                  <a:latin typeface="黑体" charset="0"/>
                  <a:ea typeface="黑体" charset="0"/>
                  <a:cs typeface="黑体" charset="0"/>
                </a:rPr>
                <a:t>实现较为复杂，开销较大。 </a:t>
              </a:r>
            </a:p>
          </p:txBody>
        </p:sp>
      </p:grpSp>
    </p:spTree>
  </p:cSld>
  <p:clrMapOvr>
    <a:masterClrMapping/>
  </p:clrMapOvr>
  <p:transition spd="slow"/>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Rectangle 2"/>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分层角度的路由选择协议</a:t>
            </a:r>
          </a:p>
        </p:txBody>
      </p:sp>
      <p:pic>
        <p:nvPicPr>
          <p:cNvPr id="270338" name="Picture 9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339" name="Rectangle 8"/>
          <p:cNvSpPr>
            <a:spLocks noChangeArrowheads="1"/>
          </p:cNvSpPr>
          <p:nvPr/>
        </p:nvSpPr>
        <p:spPr bwMode="auto">
          <a:xfrm>
            <a:off x="576263" y="1779588"/>
            <a:ext cx="8053387" cy="1797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598805" indent="-34290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ts val="3300"/>
              </a:lnSpc>
              <a:spcBef>
                <a:spcPct val="0"/>
              </a:spcBef>
              <a:spcAft>
                <a:spcPct val="0"/>
              </a:spcAft>
              <a:buClr>
                <a:srgbClr val="0070C0"/>
              </a:buClr>
              <a:buSzTx/>
              <a:buFontTx/>
              <a:buNone/>
              <a:defRPr/>
            </a:pPr>
            <a:endParaRPr kumimoji="0" lang="en-US" altLang="zh-CN" sz="2000" b="1" i="0" u="none" strike="noStrike" kern="1200" cap="none" spc="0" normalizeH="0" baseline="0" noProof="0">
              <a:ln>
                <a:noFill/>
              </a:ln>
              <a:solidFill>
                <a:srgbClr val="000000"/>
              </a:solidFill>
              <a:effectLst/>
              <a:uLnTx/>
              <a:uFillTx/>
              <a:latin typeface="黑体" charset="0"/>
              <a:ea typeface="黑体" charset="0"/>
              <a:cs typeface="黑体" charset="0"/>
            </a:endParaRPr>
          </a:p>
          <a:p>
            <a:pPr marL="598805" marR="0" lvl="1" indent="-342900" algn="l" defTabSz="914400" rtl="0" eaLnBrk="0" fontAlgn="base" latinLnBrk="0" hangingPunct="0">
              <a:lnSpc>
                <a:spcPts val="3000"/>
              </a:lnSpc>
              <a:spcBef>
                <a:spcPct val="0"/>
              </a:spcBef>
              <a:spcAft>
                <a:spcPts val="1000"/>
              </a:spcAft>
              <a:buClr>
                <a:srgbClr val="7030A0"/>
              </a:buClr>
              <a:buSzPct val="75000"/>
              <a:buFont typeface="Wingdings" panose="05000000000000000000" pitchFamily="2" charset="2"/>
              <a:buChar char="u"/>
              <a:defRPr/>
            </a:pPr>
            <a:r>
              <a:rPr kumimoji="0" lang="zh-CN" altLang="en-US" sz="2000" b="1" i="0" u="none" strike="noStrike" kern="1200" cap="none" spc="0" normalizeH="0" baseline="0" noProof="0">
                <a:ln>
                  <a:noFill/>
                </a:ln>
                <a:solidFill>
                  <a:srgbClr val="000000"/>
                </a:solidFill>
                <a:effectLst/>
                <a:uLnTx/>
                <a:uFillTx/>
                <a:latin typeface="黑体" charset="0"/>
                <a:ea typeface="黑体" charset="0"/>
                <a:cs typeface="黑体" charset="0"/>
              </a:rPr>
              <a:t>采用自适应的（即动态的）、分布式路由选择协议。</a:t>
            </a:r>
            <a:endParaRPr kumimoji="0" lang="en-US" altLang="zh-CN" sz="2000" b="1" i="0" u="none" strike="noStrike" kern="1200" cap="none" spc="0" normalizeH="0" baseline="0" noProof="0">
              <a:ln>
                <a:noFill/>
              </a:ln>
              <a:solidFill>
                <a:srgbClr val="000000"/>
              </a:solidFill>
              <a:effectLst/>
              <a:uLnTx/>
              <a:uFillTx/>
              <a:latin typeface="黑体" charset="0"/>
              <a:ea typeface="黑体" charset="0"/>
              <a:cs typeface="黑体" charset="0"/>
            </a:endParaRPr>
          </a:p>
          <a:p>
            <a:pPr marL="598805" marR="0" lvl="1" indent="-342900" algn="l" defTabSz="914400" rtl="0" eaLnBrk="0" fontAlgn="base" latinLnBrk="0" hangingPunct="0">
              <a:lnSpc>
                <a:spcPts val="3000"/>
              </a:lnSpc>
              <a:spcBef>
                <a:spcPct val="0"/>
              </a:spcBef>
              <a:spcAft>
                <a:spcPts val="1000"/>
              </a:spcAft>
              <a:buClr>
                <a:srgbClr val="7030A0"/>
              </a:buClr>
              <a:buSzPct val="75000"/>
              <a:buFont typeface="Wingdings" panose="05000000000000000000" pitchFamily="2" charset="2"/>
              <a:buChar char="u"/>
              <a:defRPr/>
            </a:pPr>
            <a:r>
              <a:rPr kumimoji="0" lang="zh-CN" altLang="en-US" sz="2000" b="1" i="0" u="none" strike="noStrike" kern="1200" cap="none" spc="0" normalizeH="0" baseline="0" noProof="0">
                <a:ln>
                  <a:noFill/>
                </a:ln>
                <a:solidFill>
                  <a:srgbClr val="000000"/>
                </a:solidFill>
                <a:effectLst/>
                <a:uLnTx/>
                <a:uFillTx/>
                <a:latin typeface="黑体" charset="0"/>
                <a:ea typeface="黑体" charset="0"/>
                <a:cs typeface="黑体" charset="0"/>
              </a:rPr>
              <a:t>把整个互联网划分为许多较小的自治系统 </a:t>
            </a:r>
            <a:r>
              <a:rPr kumimoji="0" lang="en-US" altLang="zh-CN" sz="2000" b="1" i="0" u="none" strike="noStrike" kern="1200" cap="none" spc="0" normalizeH="0" baseline="0" noProof="0">
                <a:ln>
                  <a:noFill/>
                </a:ln>
                <a:solidFill>
                  <a:srgbClr val="000000"/>
                </a:solidFill>
                <a:effectLst/>
                <a:uLnTx/>
                <a:uFillTx/>
                <a:latin typeface="黑体" charset="0"/>
                <a:ea typeface="黑体" charset="0"/>
                <a:cs typeface="黑体" charset="0"/>
              </a:rPr>
              <a:t>AS</a:t>
            </a:r>
            <a:r>
              <a:rPr kumimoji="0" lang="zh-CN" altLang="en-US" sz="2000" b="1" i="0" u="none" strike="noStrike" kern="1200" cap="none" spc="0" normalizeH="0" baseline="0" noProof="0">
                <a:ln>
                  <a:noFill/>
                </a:ln>
                <a:solidFill>
                  <a:srgbClr val="000000"/>
                </a:solidFill>
                <a:effectLst/>
                <a:uLnTx/>
                <a:uFillTx/>
                <a:latin typeface="黑体" charset="0"/>
                <a:ea typeface="黑体" charset="0"/>
                <a:cs typeface="黑体" charset="0"/>
              </a:rPr>
              <a:t>，采用分层次的路由选择协议。</a:t>
            </a:r>
            <a:endParaRPr kumimoji="0" lang="en-US" altLang="zh-CN" sz="2000" b="1" i="0" u="none" strike="noStrike" kern="1200" cap="none" spc="0" normalizeH="0" baseline="0" noProof="0">
              <a:ln>
                <a:noFill/>
              </a:ln>
              <a:solidFill>
                <a:srgbClr val="000000"/>
              </a:solidFill>
              <a:effectLst/>
              <a:uLnTx/>
              <a:uFillTx/>
              <a:latin typeface="黑体" charset="0"/>
              <a:ea typeface="黑体" charset="0"/>
              <a:cs typeface="黑体" charset="0"/>
            </a:endParaRPr>
          </a:p>
        </p:txBody>
      </p:sp>
      <p:grpSp>
        <p:nvGrpSpPr>
          <p:cNvPr id="270340" name="组合 3"/>
          <p:cNvGrpSpPr/>
          <p:nvPr/>
        </p:nvGrpSpPr>
        <p:grpSpPr bwMode="auto">
          <a:xfrm>
            <a:off x="935038" y="1462088"/>
            <a:ext cx="1301750" cy="633412"/>
            <a:chOff x="36" y="2228"/>
            <a:chExt cx="3480866" cy="633600"/>
          </a:xfrm>
        </p:grpSpPr>
        <p:sp>
          <p:nvSpPr>
            <p:cNvPr id="5" name="矩形 4"/>
            <p:cNvSpPr/>
            <p:nvPr/>
          </p:nvSpPr>
          <p:spPr>
            <a:xfrm>
              <a:off x="36" y="2228"/>
              <a:ext cx="3480866" cy="633600"/>
            </a:xfrm>
            <a:prstGeom prst="rect">
              <a:avLst/>
            </a:prstGeom>
            <a:solidFill>
              <a:srgbClr val="8064A2">
                <a:hueOff val="0"/>
                <a:satOff val="0"/>
                <a:lumOff val="0"/>
                <a:alphaOff val="0"/>
              </a:srgbClr>
            </a:solidFill>
            <a:ln w="25400" cap="flat" cmpd="sng" algn="ctr">
              <a:solidFill>
                <a:srgbClr val="8064A2">
                  <a:hueOff val="0"/>
                  <a:satOff val="0"/>
                  <a:lumOff val="0"/>
                  <a:alphaOff val="0"/>
                </a:srgbClr>
              </a:solidFill>
              <a:prstDash val="solid"/>
            </a:ln>
            <a:effectLst>
              <a:outerShdw blurRad="40000" dist="20000" dir="5400000" rotWithShape="0">
                <a:srgbClr val="000000">
                  <a:alpha val="38000"/>
                </a:srgbClr>
              </a:outerShdw>
            </a:effectLst>
          </p:spPr>
          <p:style>
            <a:lnRef idx="2">
              <a:scrgbClr r="0" g="0" b="0"/>
            </a:lnRef>
            <a:fillRef idx="1">
              <a:scrgbClr r="0" g="0" b="0"/>
            </a:fillRef>
            <a:effectRef idx="1">
              <a:scrgbClr r="0" g="0" b="0"/>
            </a:effectRef>
            <a:fontRef idx="minor">
              <a:schemeClr val="lt1"/>
            </a:fontRef>
          </p:style>
        </p:sp>
        <p:sp>
          <p:nvSpPr>
            <p:cNvPr id="18" name="文本框 17"/>
            <p:cNvSpPr txBox="1"/>
            <p:nvPr/>
          </p:nvSpPr>
          <p:spPr>
            <a:xfrm>
              <a:off x="36" y="2228"/>
              <a:ext cx="3480866" cy="633600"/>
            </a:xfrm>
            <a:prstGeom prst="rect">
              <a:avLst/>
            </a:prstGeom>
          </p:spPr>
          <p:style>
            <a:lnRef idx="0">
              <a:scrgbClr r="0" g="0" b="0"/>
            </a:lnRef>
            <a:fillRef idx="0">
              <a:scrgbClr r="0" g="0" b="0"/>
            </a:fillRef>
            <a:effectRef idx="0">
              <a:scrgbClr r="0" g="0" b="0"/>
            </a:effectRef>
            <a:fontRef idx="minor">
              <a:schemeClr val="lt1"/>
            </a:fontRef>
          </p:style>
          <p:txBody>
            <a:bodyPr lIns="142240" tIns="81280" rIns="142240" bIns="81280" anchor="ctr"/>
            <a:lstStyle>
              <a:lvl1pPr defTabSz="889000">
                <a:defRPr>
                  <a:solidFill>
                    <a:schemeClr val="tx1"/>
                  </a:solidFill>
                  <a:latin typeface="Comic Sans MS" panose="030F0902030302020204" pitchFamily="66" charset="0"/>
                  <a:ea typeface="宋体" pitchFamily="2" charset="-122"/>
                </a:defRPr>
              </a:lvl1pPr>
              <a:lvl2pPr marL="742950" indent="-285750" defTabSz="889000">
                <a:defRPr>
                  <a:solidFill>
                    <a:schemeClr val="tx1"/>
                  </a:solidFill>
                  <a:latin typeface="Comic Sans MS" panose="030F0902030302020204" pitchFamily="66" charset="0"/>
                  <a:ea typeface="宋体" pitchFamily="2" charset="-122"/>
                </a:defRPr>
              </a:lvl2pPr>
              <a:lvl3pPr marL="1143000" indent="-228600" defTabSz="889000">
                <a:defRPr>
                  <a:solidFill>
                    <a:schemeClr val="tx1"/>
                  </a:solidFill>
                  <a:latin typeface="Comic Sans MS" panose="030F0902030302020204" pitchFamily="66" charset="0"/>
                  <a:ea typeface="宋体" pitchFamily="2" charset="-122"/>
                </a:defRPr>
              </a:lvl3pPr>
              <a:lvl4pPr marL="1600200" indent="-228600" defTabSz="889000">
                <a:defRPr>
                  <a:solidFill>
                    <a:schemeClr val="tx1"/>
                  </a:solidFill>
                  <a:latin typeface="Comic Sans MS" panose="030F0902030302020204" pitchFamily="66" charset="0"/>
                  <a:ea typeface="宋体" pitchFamily="2" charset="-122"/>
                </a:defRPr>
              </a:lvl4pPr>
              <a:lvl5pPr marL="2057400" indent="-228600" defTabSz="889000">
                <a:defRPr>
                  <a:solidFill>
                    <a:schemeClr val="tx1"/>
                  </a:solidFill>
                  <a:latin typeface="Comic Sans MS" panose="030F0902030302020204" pitchFamily="66" charset="0"/>
                  <a:ea typeface="宋体" pitchFamily="2" charset="-122"/>
                </a:defRPr>
              </a:lvl5pPr>
              <a:lvl6pPr marL="25146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ctr" defTabSz="889000" rtl="0" eaLnBrk="0" fontAlgn="base" latinLnBrk="0" hangingPunct="0">
                <a:lnSpc>
                  <a:spcPct val="90000"/>
                </a:lnSpc>
                <a:spcBef>
                  <a:spcPct val="0"/>
                </a:spcBef>
                <a:spcAft>
                  <a:spcPct val="35000"/>
                </a:spcAft>
                <a:buClrTx/>
                <a:buSzTx/>
                <a:buFontTx/>
                <a:buNone/>
                <a:defRPr/>
              </a:pPr>
              <a:r>
                <a:rPr kumimoji="0" lang="zh-CN" altLang="en-US" sz="2200" b="1" i="0" u="none" strike="noStrike" kern="1200" cap="none" spc="0" normalizeH="0" baseline="0" noProof="0">
                  <a:ln>
                    <a:noFill/>
                  </a:ln>
                  <a:solidFill>
                    <a:srgbClr val="FFFFFF"/>
                  </a:solidFill>
                  <a:effectLst/>
                  <a:uLnTx/>
                  <a:uFillTx/>
                  <a:latin typeface="黑体" charset="0"/>
                  <a:ea typeface="黑体" charset="0"/>
                  <a:cs typeface="+mn-cs"/>
                </a:rPr>
                <a:t>互联网</a:t>
              </a:r>
            </a:p>
          </p:txBody>
        </p:sp>
      </p:grpSp>
      <p:grpSp>
        <p:nvGrpSpPr>
          <p:cNvPr id="270341" name="组合 18"/>
          <p:cNvGrpSpPr/>
          <p:nvPr/>
        </p:nvGrpSpPr>
        <p:grpSpPr bwMode="auto">
          <a:xfrm>
            <a:off x="6323013" y="3632200"/>
            <a:ext cx="1946275" cy="633413"/>
            <a:chOff x="3968224" y="2228"/>
            <a:chExt cx="3480866" cy="633600"/>
          </a:xfrm>
        </p:grpSpPr>
        <p:sp>
          <p:nvSpPr>
            <p:cNvPr id="20" name="矩形 19"/>
            <p:cNvSpPr/>
            <p:nvPr/>
          </p:nvSpPr>
          <p:spPr>
            <a:xfrm>
              <a:off x="3968224" y="2228"/>
              <a:ext cx="3480866" cy="633600"/>
            </a:xfrm>
            <a:prstGeom prst="rect">
              <a:avLst/>
            </a:prstGeom>
            <a:solidFill>
              <a:srgbClr val="8064A2">
                <a:hueOff val="-4464770"/>
                <a:satOff val="26899"/>
                <a:lumOff val="2156"/>
                <a:alphaOff val="0"/>
              </a:srgbClr>
            </a:solidFill>
            <a:ln w="25400" cap="flat" cmpd="sng" algn="ctr">
              <a:solidFill>
                <a:srgbClr val="8064A2">
                  <a:hueOff val="-4464770"/>
                  <a:satOff val="26899"/>
                  <a:lumOff val="2156"/>
                  <a:alphaOff val="0"/>
                </a:srgbClr>
              </a:solidFill>
              <a:prstDash val="solid"/>
            </a:ln>
            <a:effectLst>
              <a:outerShdw blurRad="40000" dist="20000" dir="5400000" rotWithShape="0">
                <a:srgbClr val="000000">
                  <a:alpha val="38000"/>
                </a:srgbClr>
              </a:outerShdw>
            </a:effectLst>
          </p:spPr>
          <p:style>
            <a:lnRef idx="2">
              <a:scrgbClr r="0" g="0" b="0"/>
            </a:lnRef>
            <a:fillRef idx="1">
              <a:scrgbClr r="0" g="0" b="0"/>
            </a:fillRef>
            <a:effectRef idx="1">
              <a:scrgbClr r="0" g="0" b="0"/>
            </a:effectRef>
            <a:fontRef idx="minor">
              <a:schemeClr val="lt1"/>
            </a:fontRef>
          </p:style>
        </p:sp>
        <p:sp>
          <p:nvSpPr>
            <p:cNvPr id="21" name="文本框 20"/>
            <p:cNvSpPr txBox="1"/>
            <p:nvPr/>
          </p:nvSpPr>
          <p:spPr>
            <a:xfrm>
              <a:off x="3968224" y="2228"/>
              <a:ext cx="3480866" cy="633600"/>
            </a:xfrm>
            <a:prstGeom prst="rect">
              <a:avLst/>
            </a:prstGeom>
          </p:spPr>
          <p:style>
            <a:lnRef idx="0">
              <a:scrgbClr r="0" g="0" b="0"/>
            </a:lnRef>
            <a:fillRef idx="0">
              <a:scrgbClr r="0" g="0" b="0"/>
            </a:fillRef>
            <a:effectRef idx="0">
              <a:scrgbClr r="0" g="0" b="0"/>
            </a:effectRef>
            <a:fontRef idx="minor">
              <a:schemeClr val="lt1"/>
            </a:fontRef>
          </p:style>
          <p:txBody>
            <a:bodyPr lIns="142240" tIns="81280" rIns="142240" bIns="81280" anchor="ctr"/>
            <a:lstStyle>
              <a:lvl1pPr defTabSz="889000">
                <a:defRPr>
                  <a:solidFill>
                    <a:schemeClr val="tx1"/>
                  </a:solidFill>
                  <a:latin typeface="Comic Sans MS" panose="030F0902030302020204" pitchFamily="66" charset="0"/>
                  <a:ea typeface="宋体" pitchFamily="2" charset="-122"/>
                </a:defRPr>
              </a:lvl1pPr>
              <a:lvl2pPr marL="742950" indent="-285750" defTabSz="889000">
                <a:defRPr>
                  <a:solidFill>
                    <a:schemeClr val="tx1"/>
                  </a:solidFill>
                  <a:latin typeface="Comic Sans MS" panose="030F0902030302020204" pitchFamily="66" charset="0"/>
                  <a:ea typeface="宋体" pitchFamily="2" charset="-122"/>
                </a:defRPr>
              </a:lvl2pPr>
              <a:lvl3pPr marL="1143000" indent="-228600" defTabSz="889000">
                <a:defRPr>
                  <a:solidFill>
                    <a:schemeClr val="tx1"/>
                  </a:solidFill>
                  <a:latin typeface="Comic Sans MS" panose="030F0902030302020204" pitchFamily="66" charset="0"/>
                  <a:ea typeface="宋体" pitchFamily="2" charset="-122"/>
                </a:defRPr>
              </a:lvl3pPr>
              <a:lvl4pPr marL="1600200" indent="-228600" defTabSz="889000">
                <a:defRPr>
                  <a:solidFill>
                    <a:schemeClr val="tx1"/>
                  </a:solidFill>
                  <a:latin typeface="Comic Sans MS" panose="030F0902030302020204" pitchFamily="66" charset="0"/>
                  <a:ea typeface="宋体" pitchFamily="2" charset="-122"/>
                </a:defRPr>
              </a:lvl4pPr>
              <a:lvl5pPr marL="2057400" indent="-228600" defTabSz="889000">
                <a:defRPr>
                  <a:solidFill>
                    <a:schemeClr val="tx1"/>
                  </a:solidFill>
                  <a:latin typeface="Comic Sans MS" panose="030F0902030302020204" pitchFamily="66" charset="0"/>
                  <a:ea typeface="宋体" pitchFamily="2" charset="-122"/>
                </a:defRPr>
              </a:lvl5pPr>
              <a:lvl6pPr marL="25146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889000"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ctr" defTabSz="889000" rtl="0" eaLnBrk="0" fontAlgn="base" latinLnBrk="0" hangingPunct="0">
                <a:lnSpc>
                  <a:spcPct val="90000"/>
                </a:lnSpc>
                <a:spcBef>
                  <a:spcPct val="0"/>
                </a:spcBef>
                <a:spcAft>
                  <a:spcPct val="35000"/>
                </a:spcAft>
                <a:buClrTx/>
                <a:buSzTx/>
                <a:buFontTx/>
                <a:buNone/>
                <a:defRPr/>
              </a:pPr>
              <a:r>
                <a:rPr kumimoji="0" lang="zh-CN" altLang="en-US" sz="2000" b="1" i="0" u="none" strike="noStrike" kern="1200" cap="none" spc="0" normalizeH="0" baseline="0" noProof="0">
                  <a:ln>
                    <a:noFill/>
                  </a:ln>
                  <a:solidFill>
                    <a:srgbClr val="FFFFFF"/>
                  </a:solidFill>
                  <a:effectLst/>
                  <a:uLnTx/>
                  <a:uFillTx/>
                  <a:latin typeface="黑体" charset="0"/>
                  <a:ea typeface="黑体" charset="0"/>
                  <a:cs typeface="+mn-cs"/>
                </a:rPr>
                <a:t>分为两个层次</a:t>
              </a:r>
            </a:p>
          </p:txBody>
        </p:sp>
      </p:grpSp>
      <p:sp>
        <p:nvSpPr>
          <p:cNvPr id="270342" name="Rectangle 8"/>
          <p:cNvSpPr>
            <a:spLocks noChangeArrowheads="1"/>
          </p:cNvSpPr>
          <p:nvPr/>
        </p:nvSpPr>
        <p:spPr bwMode="auto">
          <a:xfrm>
            <a:off x="576263" y="4222750"/>
            <a:ext cx="8053387" cy="174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598805" indent="-34290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598805" marR="0" lvl="1" indent="-342900" algn="l" defTabSz="914400" rtl="0" eaLnBrk="0" fontAlgn="base" latinLnBrk="0" hangingPunct="0">
              <a:lnSpc>
                <a:spcPts val="3000"/>
              </a:lnSpc>
              <a:spcBef>
                <a:spcPct val="0"/>
              </a:spcBef>
              <a:spcAft>
                <a:spcPct val="0"/>
              </a:spcAft>
              <a:buClr>
                <a:srgbClr val="7030A0"/>
              </a:buClr>
              <a:buSzPct val="75000"/>
              <a:buFont typeface="Wingdings" panose="05000000000000000000" pitchFamily="2" charset="2"/>
              <a:buChar char="u"/>
              <a:defRPr/>
            </a:pPr>
            <a:r>
              <a:rPr kumimoji="0" lang="zh-CN" altLang="en-US" sz="2000" b="1" i="0" u="none" strike="noStrike" kern="1200" cap="none" spc="0" normalizeH="0" baseline="0" noProof="0">
                <a:ln>
                  <a:noFill/>
                </a:ln>
                <a:solidFill>
                  <a:srgbClr val="000000"/>
                </a:solidFill>
                <a:effectLst/>
                <a:uLnTx/>
                <a:uFillTx/>
                <a:latin typeface="黑体" charset="0"/>
                <a:ea typeface="黑体" charset="0"/>
                <a:cs typeface="黑体" charset="0"/>
              </a:rPr>
              <a:t>自治系统之间的路由选择 或 </a:t>
            </a:r>
            <a:r>
              <a:rPr kumimoji="0" lang="zh-CN" altLang="en-US" sz="2000" b="1" i="0" u="none" strike="noStrike" kern="1200" cap="none" spc="0" normalizeH="0" baseline="0" noProof="0">
                <a:ln>
                  <a:noFill/>
                </a:ln>
                <a:solidFill>
                  <a:srgbClr val="0000FF"/>
                </a:solidFill>
                <a:effectLst/>
                <a:uLnTx/>
                <a:uFillTx/>
                <a:latin typeface="黑体" charset="0"/>
                <a:ea typeface="黑体" charset="0"/>
                <a:cs typeface="黑体" charset="0"/>
              </a:rPr>
              <a:t>域间路由选择</a:t>
            </a:r>
            <a:endParaRPr kumimoji="0" lang="en-US" altLang="zh-CN" sz="2000" b="1" i="0" u="none" strike="noStrike" kern="1200" cap="none" spc="0" normalizeH="0" baseline="0" noProof="0">
              <a:ln>
                <a:noFill/>
              </a:ln>
              <a:solidFill>
                <a:srgbClr val="0000FF"/>
              </a:solidFill>
              <a:effectLst/>
              <a:uLnTx/>
              <a:uFillTx/>
              <a:latin typeface="黑体" charset="0"/>
              <a:ea typeface="黑体" charset="0"/>
              <a:cs typeface="黑体" charset="0"/>
            </a:endParaRPr>
          </a:p>
          <a:p>
            <a:pPr marL="598805" marR="0" lvl="1" indent="-342900" algn="l" defTabSz="914400" rtl="0" eaLnBrk="0" fontAlgn="base" latinLnBrk="0" hangingPunct="0">
              <a:lnSpc>
                <a:spcPts val="3000"/>
              </a:lnSpc>
              <a:spcBef>
                <a:spcPct val="0"/>
              </a:spcBef>
              <a:spcAft>
                <a:spcPct val="0"/>
              </a:spcAft>
              <a:buClr>
                <a:srgbClr val="7030A0"/>
              </a:buClr>
              <a:buSzPct val="75000"/>
              <a:buFontTx/>
              <a:buNone/>
              <a:defRPr/>
            </a:pPr>
            <a:r>
              <a:rPr kumimoji="0" lang="en-US" altLang="zh-CN" sz="2000" b="1" i="0" u="none" strike="noStrike" kern="1200" cap="none" spc="0" normalizeH="0" baseline="0" noProof="0">
                <a:ln>
                  <a:noFill/>
                </a:ln>
                <a:solidFill>
                  <a:srgbClr val="0000FF"/>
                </a:solidFill>
                <a:effectLst/>
                <a:uLnTx/>
                <a:uFillTx/>
                <a:latin typeface="黑体" charset="0"/>
                <a:ea typeface="黑体" charset="0"/>
                <a:cs typeface="黑体" charset="0"/>
              </a:rPr>
              <a:t>	——</a:t>
            </a:r>
            <a:r>
              <a:rPr kumimoji="0" lang="zh-CN" altLang="en-US" sz="2000" b="1" i="0" u="none" strike="noStrike" kern="1200" cap="none" spc="0" normalizeH="0" baseline="0" noProof="0">
                <a:ln>
                  <a:noFill/>
                </a:ln>
                <a:solidFill>
                  <a:srgbClr val="0000FF"/>
                </a:solidFill>
                <a:effectLst/>
                <a:uLnTx/>
                <a:uFillTx/>
                <a:latin typeface="黑体" charset="0"/>
                <a:ea typeface="黑体" charset="0"/>
                <a:cs typeface="黑体" charset="0"/>
              </a:rPr>
              <a:t> </a:t>
            </a:r>
            <a:r>
              <a:rPr kumimoji="0" lang="en-US" altLang="zh-CN" sz="2000" b="1" i="0" u="none" strike="noStrike" kern="1200" cap="none" spc="0" normalizeH="0" baseline="0" noProof="0">
                <a:ln>
                  <a:noFill/>
                </a:ln>
                <a:solidFill>
                  <a:srgbClr val="C00000"/>
                </a:solidFill>
                <a:effectLst/>
                <a:uLnTx/>
                <a:uFillTx/>
                <a:latin typeface="黑体" charset="0"/>
                <a:ea typeface="黑体" charset="0"/>
                <a:cs typeface="黑体" charset="0"/>
              </a:rPr>
              <a:t>Inter</a:t>
            </a:r>
            <a:r>
              <a:rPr kumimoji="0" lang="en-US" altLang="zh-CN" sz="2000" b="1" i="0" u="none" strike="noStrike" kern="1200" cap="none" spc="0" normalizeH="0" baseline="0" noProof="0">
                <a:ln>
                  <a:noFill/>
                </a:ln>
                <a:solidFill>
                  <a:srgbClr val="000000"/>
                </a:solidFill>
                <a:effectLst/>
                <a:uLnTx/>
                <a:uFillTx/>
                <a:latin typeface="黑体" charset="0"/>
                <a:ea typeface="黑体" charset="0"/>
                <a:cs typeface="黑体" charset="0"/>
              </a:rPr>
              <a:t>domain Routing</a:t>
            </a:r>
          </a:p>
          <a:p>
            <a:pPr marL="598805" marR="0" lvl="1" indent="-342900" algn="l" defTabSz="914400" rtl="0" eaLnBrk="0" fontAlgn="base" latinLnBrk="0" hangingPunct="0">
              <a:lnSpc>
                <a:spcPts val="3000"/>
              </a:lnSpc>
              <a:spcBef>
                <a:spcPts val="1200"/>
              </a:spcBef>
              <a:spcAft>
                <a:spcPct val="0"/>
              </a:spcAft>
              <a:buClr>
                <a:srgbClr val="7030A0"/>
              </a:buClr>
              <a:buSzPct val="75000"/>
              <a:buFont typeface="Wingdings" panose="05000000000000000000" pitchFamily="2" charset="2"/>
              <a:buChar char="u"/>
              <a:defRPr/>
            </a:pPr>
            <a:r>
              <a:rPr kumimoji="0" lang="zh-CN" altLang="en-US" sz="2000" b="1" i="0" u="none" strike="noStrike" kern="1200" cap="none" spc="0" normalizeH="0" baseline="0" noProof="0">
                <a:ln>
                  <a:noFill/>
                </a:ln>
                <a:solidFill>
                  <a:srgbClr val="000000"/>
                </a:solidFill>
                <a:effectLst/>
                <a:uLnTx/>
                <a:uFillTx/>
                <a:latin typeface="黑体" charset="0"/>
                <a:ea typeface="黑体" charset="0"/>
                <a:cs typeface="黑体" charset="0"/>
              </a:rPr>
              <a:t>自治系统内部的路由选择 或 </a:t>
            </a:r>
            <a:r>
              <a:rPr kumimoji="0" lang="zh-CN" altLang="en-US" sz="2000" b="1" i="0" u="none" strike="noStrike" kern="1200" cap="none" spc="0" normalizeH="0" baseline="0" noProof="0">
                <a:ln>
                  <a:noFill/>
                </a:ln>
                <a:solidFill>
                  <a:srgbClr val="0000FF"/>
                </a:solidFill>
                <a:effectLst/>
                <a:uLnTx/>
                <a:uFillTx/>
                <a:latin typeface="黑体" charset="0"/>
                <a:ea typeface="黑体" charset="0"/>
                <a:cs typeface="黑体" charset="0"/>
              </a:rPr>
              <a:t>域内路由选择 </a:t>
            </a:r>
            <a:endParaRPr kumimoji="0" lang="en-US" altLang="zh-CN" sz="2000" b="1" i="0" u="none" strike="noStrike" kern="1200" cap="none" spc="0" normalizeH="0" baseline="0" noProof="0">
              <a:ln>
                <a:noFill/>
              </a:ln>
              <a:solidFill>
                <a:srgbClr val="0000FF"/>
              </a:solidFill>
              <a:effectLst/>
              <a:uLnTx/>
              <a:uFillTx/>
              <a:latin typeface="黑体" charset="0"/>
              <a:ea typeface="黑体" charset="0"/>
              <a:cs typeface="黑体" charset="0"/>
            </a:endParaRPr>
          </a:p>
          <a:p>
            <a:pPr marL="598805" marR="0" lvl="1" indent="-342900" algn="l" defTabSz="914400" rtl="0" eaLnBrk="0" fontAlgn="base" latinLnBrk="0" hangingPunct="0">
              <a:lnSpc>
                <a:spcPts val="3000"/>
              </a:lnSpc>
              <a:spcBef>
                <a:spcPct val="0"/>
              </a:spcBef>
              <a:spcAft>
                <a:spcPct val="0"/>
              </a:spcAft>
              <a:buClr>
                <a:srgbClr val="7030A0"/>
              </a:buClr>
              <a:buSzPct val="75000"/>
              <a:buFontTx/>
              <a:buNone/>
              <a:defRPr/>
            </a:pPr>
            <a:r>
              <a:rPr kumimoji="0" lang="en-US" altLang="zh-CN" sz="2000" b="1" i="0" u="none" strike="noStrike" kern="1200" cap="none" spc="0" normalizeH="0" baseline="0" noProof="0">
                <a:ln>
                  <a:noFill/>
                </a:ln>
                <a:solidFill>
                  <a:srgbClr val="0000FF"/>
                </a:solidFill>
                <a:effectLst/>
                <a:uLnTx/>
                <a:uFillTx/>
                <a:latin typeface="黑体" charset="0"/>
                <a:ea typeface="黑体" charset="0"/>
                <a:cs typeface="黑体" charset="0"/>
              </a:rPr>
              <a:t>	——</a:t>
            </a:r>
            <a:r>
              <a:rPr kumimoji="0" lang="zh-CN" altLang="en-US" sz="2000" b="1" i="0" u="none" strike="noStrike" kern="1200" cap="none" spc="0" normalizeH="0" baseline="0" noProof="0">
                <a:ln>
                  <a:noFill/>
                </a:ln>
                <a:solidFill>
                  <a:srgbClr val="0000FF"/>
                </a:solidFill>
                <a:effectLst/>
                <a:uLnTx/>
                <a:uFillTx/>
                <a:latin typeface="黑体" charset="0"/>
                <a:ea typeface="黑体" charset="0"/>
                <a:cs typeface="黑体" charset="0"/>
              </a:rPr>
              <a:t> </a:t>
            </a:r>
            <a:r>
              <a:rPr kumimoji="0" lang="en-US" altLang="zh-CN" sz="2000" b="1" i="0" u="none" strike="noStrike" kern="1200" cap="none" spc="0" normalizeH="0" baseline="0" noProof="0">
                <a:ln>
                  <a:noFill/>
                </a:ln>
                <a:solidFill>
                  <a:srgbClr val="C00000"/>
                </a:solidFill>
                <a:effectLst/>
                <a:uLnTx/>
                <a:uFillTx/>
                <a:latin typeface="黑体" charset="0"/>
                <a:ea typeface="黑体" charset="0"/>
                <a:cs typeface="黑体" charset="0"/>
              </a:rPr>
              <a:t>Intra</a:t>
            </a:r>
            <a:r>
              <a:rPr kumimoji="0" lang="en-US" altLang="zh-CN" sz="2000" b="1" i="0" u="none" strike="noStrike" kern="1200" cap="none" spc="0" normalizeH="0" baseline="0" noProof="0">
                <a:ln>
                  <a:noFill/>
                </a:ln>
                <a:solidFill>
                  <a:srgbClr val="000000"/>
                </a:solidFill>
                <a:effectLst/>
                <a:uLnTx/>
                <a:uFillTx/>
                <a:latin typeface="黑体" charset="0"/>
                <a:ea typeface="黑体" charset="0"/>
                <a:cs typeface="黑体" charset="0"/>
              </a:rPr>
              <a:t>domain Routing</a:t>
            </a:r>
          </a:p>
        </p:txBody>
      </p:sp>
    </p:spTree>
  </p:cSld>
  <p:clrMapOvr>
    <a:masterClrMapping/>
  </p:clrMapOvr>
  <p:transition spd="slow"/>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5" name="Rectangle 2"/>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自治系统基本概念</a:t>
            </a:r>
          </a:p>
        </p:txBody>
      </p:sp>
      <p:pic>
        <p:nvPicPr>
          <p:cNvPr id="272386" name="Picture 9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圆角矩形 5"/>
          <p:cNvSpPr/>
          <p:nvPr/>
        </p:nvSpPr>
        <p:spPr>
          <a:xfrm>
            <a:off x="513556" y="2164177"/>
            <a:ext cx="8053712" cy="378586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dirty="0">
              <a:ln>
                <a:noFill/>
              </a:ln>
              <a:solidFill>
                <a:srgbClr val="FFFFFF"/>
              </a:solidFill>
              <a:effectLst/>
              <a:uLnTx/>
              <a:uFillTx/>
              <a:latin typeface="Comic Sans MS" panose="030F0902030302020204"/>
              <a:ea typeface="+mn-ea"/>
              <a:cs typeface="+mn-cs"/>
            </a:endParaRPr>
          </a:p>
        </p:txBody>
      </p:sp>
      <p:sp>
        <p:nvSpPr>
          <p:cNvPr id="272390" name="AutoShape 5"/>
          <p:cNvSpPr>
            <a:spLocks noChangeArrowheads="1"/>
          </p:cNvSpPr>
          <p:nvPr/>
        </p:nvSpPr>
        <p:spPr bwMode="auto">
          <a:xfrm>
            <a:off x="3789363" y="1427163"/>
            <a:ext cx="4772025" cy="519112"/>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391" name="矩形 7"/>
          <p:cNvSpPr>
            <a:spLocks noChangeArrowheads="1"/>
          </p:cNvSpPr>
          <p:nvPr/>
        </p:nvSpPr>
        <p:spPr bwMode="auto">
          <a:xfrm>
            <a:off x="3890963" y="1482725"/>
            <a:ext cx="46704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自治系统 </a:t>
            </a:r>
            <a:r>
              <a:rPr kumimoji="0" lang="en-US" altLang="zh-CN" sz="2000" b="1"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AS (Autonomous System) </a:t>
            </a:r>
            <a:endPar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endParaRPr>
          </a:p>
        </p:txBody>
      </p:sp>
      <p:sp>
        <p:nvSpPr>
          <p:cNvPr id="272392" name="Text Box 7"/>
          <p:cNvSpPr txBox="1">
            <a:spLocks noChangeArrowheads="1"/>
          </p:cNvSpPr>
          <p:nvPr/>
        </p:nvSpPr>
        <p:spPr bwMode="auto">
          <a:xfrm>
            <a:off x="2157413" y="2935288"/>
            <a:ext cx="41910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rPr>
              <a:t>R1</a:t>
            </a:r>
          </a:p>
        </p:txBody>
      </p:sp>
      <p:grpSp>
        <p:nvGrpSpPr>
          <p:cNvPr id="272393" name="Group 8"/>
          <p:cNvGrpSpPr/>
          <p:nvPr/>
        </p:nvGrpSpPr>
        <p:grpSpPr bwMode="auto">
          <a:xfrm>
            <a:off x="836613" y="4151313"/>
            <a:ext cx="2084387" cy="1511300"/>
            <a:chOff x="672" y="2304"/>
            <a:chExt cx="1872" cy="1350"/>
          </a:xfrm>
        </p:grpSpPr>
        <p:sp>
          <p:nvSpPr>
            <p:cNvPr id="272480" name="Rectangle 9"/>
            <p:cNvSpPr>
              <a:spLocks noChangeArrowheads="1"/>
            </p:cNvSpPr>
            <p:nvPr/>
          </p:nvSpPr>
          <p:spPr bwMode="auto">
            <a:xfrm>
              <a:off x="672" y="2304"/>
              <a:ext cx="1872" cy="1008"/>
            </a:xfrm>
            <a:prstGeom prst="rect">
              <a:avLst/>
            </a:prstGeom>
            <a:solidFill>
              <a:srgbClr val="99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81" name="Oval 10"/>
            <p:cNvSpPr>
              <a:spLocks noChangeArrowheads="1"/>
            </p:cNvSpPr>
            <p:nvPr/>
          </p:nvSpPr>
          <p:spPr bwMode="auto">
            <a:xfrm>
              <a:off x="1008" y="2448"/>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grpSp>
          <p:nvGrpSpPr>
            <p:cNvPr id="272482" name="Group 11"/>
            <p:cNvGrpSpPr/>
            <p:nvPr/>
          </p:nvGrpSpPr>
          <p:grpSpPr bwMode="auto">
            <a:xfrm>
              <a:off x="2064" y="2880"/>
              <a:ext cx="320" cy="184"/>
              <a:chOff x="1000" y="3128"/>
              <a:chExt cx="320" cy="184"/>
            </a:xfrm>
          </p:grpSpPr>
          <p:sp>
            <p:nvSpPr>
              <p:cNvPr id="272510" name="AutoShape 1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511" name="Line 13"/>
              <p:cNvSpPr>
                <a:spLocks noChangeShapeType="1"/>
              </p:cNvSpPr>
              <p:nvPr/>
            </p:nvSpPr>
            <p:spPr bwMode="auto">
              <a:xfrm>
                <a:off x="1104"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512" name="Line 14"/>
              <p:cNvSpPr>
                <a:spLocks noChangeShapeType="1"/>
              </p:cNvSpPr>
              <p:nvPr/>
            </p:nvSpPr>
            <p:spPr bwMode="auto">
              <a:xfrm flipH="1">
                <a:off x="1096"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sp>
          <p:nvSpPr>
            <p:cNvPr id="272483" name="Oval 15"/>
            <p:cNvSpPr>
              <a:spLocks noChangeArrowheads="1"/>
            </p:cNvSpPr>
            <p:nvPr/>
          </p:nvSpPr>
          <p:spPr bwMode="auto">
            <a:xfrm>
              <a:off x="960" y="3024"/>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grpSp>
          <p:nvGrpSpPr>
            <p:cNvPr id="272484" name="Group 17"/>
            <p:cNvGrpSpPr/>
            <p:nvPr/>
          </p:nvGrpSpPr>
          <p:grpSpPr bwMode="auto">
            <a:xfrm>
              <a:off x="864" y="2736"/>
              <a:ext cx="240" cy="96"/>
              <a:chOff x="1000" y="3128"/>
              <a:chExt cx="320" cy="184"/>
            </a:xfrm>
          </p:grpSpPr>
          <p:sp>
            <p:nvSpPr>
              <p:cNvPr id="272507" name="AutoShape 1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508" name="Line 19"/>
              <p:cNvSpPr>
                <a:spLocks noChangeShapeType="1"/>
              </p:cNvSpPr>
              <p:nvPr/>
            </p:nvSpPr>
            <p:spPr bwMode="auto">
              <a:xfrm>
                <a:off x="1104"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509" name="Line 20"/>
              <p:cNvSpPr>
                <a:spLocks noChangeShapeType="1"/>
              </p:cNvSpPr>
              <p:nvPr/>
            </p:nvSpPr>
            <p:spPr bwMode="auto">
              <a:xfrm flipH="1">
                <a:off x="1096"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sp>
          <p:nvSpPr>
            <p:cNvPr id="272485" name="Line 21"/>
            <p:cNvSpPr>
              <a:spLocks noChangeShapeType="1"/>
            </p:cNvSpPr>
            <p:nvPr/>
          </p:nvSpPr>
          <p:spPr bwMode="auto">
            <a:xfrm>
              <a:off x="1200" y="2496"/>
              <a:ext cx="816" cy="0"/>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86" name="Line 22"/>
            <p:cNvSpPr>
              <a:spLocks noChangeShapeType="1"/>
            </p:cNvSpPr>
            <p:nvPr/>
          </p:nvSpPr>
          <p:spPr bwMode="auto">
            <a:xfrm flipH="1">
              <a:off x="1008" y="2544"/>
              <a:ext cx="48" cy="192"/>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87" name="Line 23"/>
            <p:cNvSpPr>
              <a:spLocks noChangeShapeType="1"/>
            </p:cNvSpPr>
            <p:nvPr/>
          </p:nvSpPr>
          <p:spPr bwMode="auto">
            <a:xfrm>
              <a:off x="1008" y="2832"/>
              <a:ext cx="48" cy="192"/>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88" name="Line 24"/>
            <p:cNvSpPr>
              <a:spLocks noChangeShapeType="1"/>
            </p:cNvSpPr>
            <p:nvPr/>
          </p:nvSpPr>
          <p:spPr bwMode="auto">
            <a:xfrm>
              <a:off x="1152" y="3072"/>
              <a:ext cx="336" cy="0"/>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89" name="Line 25"/>
            <p:cNvSpPr>
              <a:spLocks noChangeShapeType="1"/>
            </p:cNvSpPr>
            <p:nvPr/>
          </p:nvSpPr>
          <p:spPr bwMode="auto">
            <a:xfrm flipV="1">
              <a:off x="1680" y="2976"/>
              <a:ext cx="384" cy="96"/>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90" name="Oval 26"/>
            <p:cNvSpPr>
              <a:spLocks noChangeArrowheads="1"/>
            </p:cNvSpPr>
            <p:nvPr/>
          </p:nvSpPr>
          <p:spPr bwMode="auto">
            <a:xfrm>
              <a:off x="1296" y="2832"/>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91" name="Oval 27"/>
            <p:cNvSpPr>
              <a:spLocks noChangeArrowheads="1"/>
            </p:cNvSpPr>
            <p:nvPr/>
          </p:nvSpPr>
          <p:spPr bwMode="auto">
            <a:xfrm>
              <a:off x="1488" y="3024"/>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92" name="Line 28"/>
            <p:cNvSpPr>
              <a:spLocks noChangeShapeType="1"/>
            </p:cNvSpPr>
            <p:nvPr/>
          </p:nvSpPr>
          <p:spPr bwMode="auto">
            <a:xfrm>
              <a:off x="1152" y="2544"/>
              <a:ext cx="192" cy="288"/>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nvGrpSpPr>
            <p:cNvPr id="272493" name="Group 29"/>
            <p:cNvGrpSpPr/>
            <p:nvPr/>
          </p:nvGrpSpPr>
          <p:grpSpPr bwMode="auto">
            <a:xfrm>
              <a:off x="1152" y="2640"/>
              <a:ext cx="240" cy="96"/>
              <a:chOff x="1000" y="3128"/>
              <a:chExt cx="320" cy="184"/>
            </a:xfrm>
          </p:grpSpPr>
          <p:sp>
            <p:nvSpPr>
              <p:cNvPr id="272504" name="AutoShape 30"/>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505" name="Line 31"/>
              <p:cNvSpPr>
                <a:spLocks noChangeShapeType="1"/>
              </p:cNvSpPr>
              <p:nvPr/>
            </p:nvSpPr>
            <p:spPr bwMode="auto">
              <a:xfrm>
                <a:off x="1104"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506" name="Line 32"/>
              <p:cNvSpPr>
                <a:spLocks noChangeShapeType="1"/>
              </p:cNvSpPr>
              <p:nvPr/>
            </p:nvSpPr>
            <p:spPr bwMode="auto">
              <a:xfrm flipH="1">
                <a:off x="1096"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sp>
          <p:nvSpPr>
            <p:cNvPr id="272494" name="Line 33"/>
            <p:cNvSpPr>
              <a:spLocks noChangeShapeType="1"/>
            </p:cNvSpPr>
            <p:nvPr/>
          </p:nvSpPr>
          <p:spPr bwMode="auto">
            <a:xfrm flipV="1">
              <a:off x="1488" y="2784"/>
              <a:ext cx="240" cy="96"/>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95" name="Line 34"/>
            <p:cNvSpPr>
              <a:spLocks noChangeShapeType="1"/>
            </p:cNvSpPr>
            <p:nvPr/>
          </p:nvSpPr>
          <p:spPr bwMode="auto">
            <a:xfrm flipH="1">
              <a:off x="1632" y="2544"/>
              <a:ext cx="384" cy="480"/>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nvGrpSpPr>
            <p:cNvPr id="272496" name="Group 35"/>
            <p:cNvGrpSpPr/>
            <p:nvPr/>
          </p:nvGrpSpPr>
          <p:grpSpPr bwMode="auto">
            <a:xfrm>
              <a:off x="1728" y="2736"/>
              <a:ext cx="240" cy="96"/>
              <a:chOff x="1000" y="3128"/>
              <a:chExt cx="320" cy="184"/>
            </a:xfrm>
          </p:grpSpPr>
          <p:sp>
            <p:nvSpPr>
              <p:cNvPr id="272501" name="AutoShape 36"/>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502" name="Line 37"/>
              <p:cNvSpPr>
                <a:spLocks noChangeShapeType="1"/>
              </p:cNvSpPr>
              <p:nvPr/>
            </p:nvSpPr>
            <p:spPr bwMode="auto">
              <a:xfrm>
                <a:off x="1104"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503" name="Line 38"/>
              <p:cNvSpPr>
                <a:spLocks noChangeShapeType="1"/>
              </p:cNvSpPr>
              <p:nvPr/>
            </p:nvSpPr>
            <p:spPr bwMode="auto">
              <a:xfrm flipH="1">
                <a:off x="1096"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sp>
          <p:nvSpPr>
            <p:cNvPr id="272497" name="Line 39"/>
            <p:cNvSpPr>
              <a:spLocks noChangeShapeType="1"/>
            </p:cNvSpPr>
            <p:nvPr/>
          </p:nvSpPr>
          <p:spPr bwMode="auto">
            <a:xfrm>
              <a:off x="2064" y="2544"/>
              <a:ext cx="144" cy="336"/>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98" name="Text Box 40"/>
            <p:cNvSpPr txBox="1">
              <a:spLocks noChangeArrowheads="1"/>
            </p:cNvSpPr>
            <p:nvPr/>
          </p:nvSpPr>
          <p:spPr bwMode="auto">
            <a:xfrm>
              <a:off x="1920" y="3041"/>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rPr>
                <a:t>R4</a:t>
              </a:r>
            </a:p>
          </p:txBody>
        </p:sp>
        <p:sp>
          <p:nvSpPr>
            <p:cNvPr id="272499" name="Text Box 41"/>
            <p:cNvSpPr txBox="1">
              <a:spLocks noChangeArrowheads="1"/>
            </p:cNvSpPr>
            <p:nvPr/>
          </p:nvSpPr>
          <p:spPr bwMode="auto">
            <a:xfrm>
              <a:off x="1164" y="337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rPr>
                <a:t>自治系统</a:t>
              </a:r>
            </a:p>
          </p:txBody>
        </p:sp>
        <p:sp>
          <p:nvSpPr>
            <p:cNvPr id="272500" name="Oval 16"/>
            <p:cNvSpPr>
              <a:spLocks noChangeArrowheads="1"/>
            </p:cNvSpPr>
            <p:nvPr/>
          </p:nvSpPr>
          <p:spPr bwMode="auto">
            <a:xfrm>
              <a:off x="1920" y="2448"/>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grpSp>
      <p:grpSp>
        <p:nvGrpSpPr>
          <p:cNvPr id="272394" name="Group 126"/>
          <p:cNvGrpSpPr/>
          <p:nvPr/>
        </p:nvGrpSpPr>
        <p:grpSpPr bwMode="auto">
          <a:xfrm>
            <a:off x="3367088" y="4151313"/>
            <a:ext cx="2084387" cy="1511300"/>
            <a:chOff x="3153" y="2625"/>
            <a:chExt cx="1872" cy="1350"/>
          </a:xfrm>
        </p:grpSpPr>
        <p:sp>
          <p:nvSpPr>
            <p:cNvPr id="272455" name="Rectangle 43"/>
            <p:cNvSpPr>
              <a:spLocks noChangeArrowheads="1"/>
            </p:cNvSpPr>
            <p:nvPr/>
          </p:nvSpPr>
          <p:spPr bwMode="auto">
            <a:xfrm>
              <a:off x="3153" y="2625"/>
              <a:ext cx="1872" cy="1008"/>
            </a:xfrm>
            <a:prstGeom prst="rect">
              <a:avLst/>
            </a:prstGeom>
            <a:solidFill>
              <a:srgbClr val="99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56" name="Oval 46"/>
            <p:cNvSpPr>
              <a:spLocks noChangeArrowheads="1"/>
            </p:cNvSpPr>
            <p:nvPr/>
          </p:nvSpPr>
          <p:spPr bwMode="auto">
            <a:xfrm>
              <a:off x="4689" y="3057"/>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57" name="Line 47"/>
            <p:cNvSpPr>
              <a:spLocks noChangeShapeType="1"/>
            </p:cNvSpPr>
            <p:nvPr/>
          </p:nvSpPr>
          <p:spPr bwMode="auto">
            <a:xfrm>
              <a:off x="3489" y="2865"/>
              <a:ext cx="432" cy="0"/>
            </a:xfrm>
            <a:prstGeom prst="line">
              <a:avLst/>
            </a:prstGeom>
            <a:noFill/>
            <a:ln w="28575">
              <a:solidFill>
                <a:schemeClr val="tx1"/>
              </a:solidFill>
              <a:prstDash val="sysDot"/>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58" name="Line 48"/>
            <p:cNvSpPr>
              <a:spLocks noChangeShapeType="1"/>
            </p:cNvSpPr>
            <p:nvPr/>
          </p:nvSpPr>
          <p:spPr bwMode="auto">
            <a:xfrm>
              <a:off x="3537" y="3441"/>
              <a:ext cx="576" cy="0"/>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59" name="Line 49"/>
            <p:cNvSpPr>
              <a:spLocks noChangeShapeType="1"/>
            </p:cNvSpPr>
            <p:nvPr/>
          </p:nvSpPr>
          <p:spPr bwMode="auto">
            <a:xfrm flipV="1">
              <a:off x="4257" y="3345"/>
              <a:ext cx="288" cy="96"/>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60" name="Oval 50"/>
            <p:cNvSpPr>
              <a:spLocks noChangeArrowheads="1"/>
            </p:cNvSpPr>
            <p:nvPr/>
          </p:nvSpPr>
          <p:spPr bwMode="auto">
            <a:xfrm>
              <a:off x="4113" y="3393"/>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grpSp>
          <p:nvGrpSpPr>
            <p:cNvPr id="272461" name="Group 51"/>
            <p:cNvGrpSpPr/>
            <p:nvPr/>
          </p:nvGrpSpPr>
          <p:grpSpPr bwMode="auto">
            <a:xfrm>
              <a:off x="3729" y="3393"/>
              <a:ext cx="240" cy="96"/>
              <a:chOff x="1000" y="3128"/>
              <a:chExt cx="320" cy="184"/>
            </a:xfrm>
          </p:grpSpPr>
          <p:sp>
            <p:nvSpPr>
              <p:cNvPr id="272477" name="AutoShape 5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78" name="Line 53"/>
              <p:cNvSpPr>
                <a:spLocks noChangeShapeType="1"/>
              </p:cNvSpPr>
              <p:nvPr/>
            </p:nvSpPr>
            <p:spPr bwMode="auto">
              <a:xfrm>
                <a:off x="1104"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79" name="Line 54"/>
              <p:cNvSpPr>
                <a:spLocks noChangeShapeType="1"/>
              </p:cNvSpPr>
              <p:nvPr/>
            </p:nvSpPr>
            <p:spPr bwMode="auto">
              <a:xfrm flipH="1">
                <a:off x="1096"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sp>
          <p:nvSpPr>
            <p:cNvPr id="272462" name="Line 55"/>
            <p:cNvSpPr>
              <a:spLocks noChangeShapeType="1"/>
            </p:cNvSpPr>
            <p:nvPr/>
          </p:nvSpPr>
          <p:spPr bwMode="auto">
            <a:xfrm flipV="1">
              <a:off x="4641" y="3153"/>
              <a:ext cx="144" cy="144"/>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63" name="Line 56"/>
            <p:cNvSpPr>
              <a:spLocks noChangeShapeType="1"/>
            </p:cNvSpPr>
            <p:nvPr/>
          </p:nvSpPr>
          <p:spPr bwMode="auto">
            <a:xfrm flipH="1">
              <a:off x="3441" y="2950"/>
              <a:ext cx="553" cy="491"/>
            </a:xfrm>
            <a:prstGeom prst="line">
              <a:avLst/>
            </a:prstGeom>
            <a:noFill/>
            <a:ln w="28575">
              <a:solidFill>
                <a:schemeClr val="tx1"/>
              </a:solidFill>
              <a:prstDash val="sysDot"/>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nvGrpSpPr>
            <p:cNvPr id="272464" name="Group 57"/>
            <p:cNvGrpSpPr/>
            <p:nvPr/>
          </p:nvGrpSpPr>
          <p:grpSpPr bwMode="auto">
            <a:xfrm>
              <a:off x="4449" y="3297"/>
              <a:ext cx="240" cy="96"/>
              <a:chOff x="1000" y="3128"/>
              <a:chExt cx="320" cy="184"/>
            </a:xfrm>
          </p:grpSpPr>
          <p:sp>
            <p:nvSpPr>
              <p:cNvPr id="272474" name="AutoShape 5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75" name="Line 59"/>
              <p:cNvSpPr>
                <a:spLocks noChangeShapeType="1"/>
              </p:cNvSpPr>
              <p:nvPr/>
            </p:nvSpPr>
            <p:spPr bwMode="auto">
              <a:xfrm>
                <a:off x="1104"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76" name="Line 60"/>
              <p:cNvSpPr>
                <a:spLocks noChangeShapeType="1"/>
              </p:cNvSpPr>
              <p:nvPr/>
            </p:nvSpPr>
            <p:spPr bwMode="auto">
              <a:xfrm flipH="1">
                <a:off x="1096"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sp>
          <p:nvSpPr>
            <p:cNvPr id="272465" name="Line 61"/>
            <p:cNvSpPr>
              <a:spLocks noChangeShapeType="1"/>
            </p:cNvSpPr>
            <p:nvPr/>
          </p:nvSpPr>
          <p:spPr bwMode="auto">
            <a:xfrm>
              <a:off x="4209" y="2913"/>
              <a:ext cx="480" cy="192"/>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nvGrpSpPr>
            <p:cNvPr id="272466" name="Group 62"/>
            <p:cNvGrpSpPr/>
            <p:nvPr/>
          </p:nvGrpSpPr>
          <p:grpSpPr bwMode="auto">
            <a:xfrm>
              <a:off x="3921" y="2769"/>
              <a:ext cx="320" cy="184"/>
              <a:chOff x="1000" y="3128"/>
              <a:chExt cx="320" cy="184"/>
            </a:xfrm>
          </p:grpSpPr>
          <p:sp>
            <p:nvSpPr>
              <p:cNvPr id="272471" name="AutoShape 63"/>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72" name="Line 64"/>
              <p:cNvSpPr>
                <a:spLocks noChangeShapeType="1"/>
              </p:cNvSpPr>
              <p:nvPr/>
            </p:nvSpPr>
            <p:spPr bwMode="auto">
              <a:xfrm>
                <a:off x="1104"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73" name="Line 65"/>
              <p:cNvSpPr>
                <a:spLocks noChangeShapeType="1"/>
              </p:cNvSpPr>
              <p:nvPr/>
            </p:nvSpPr>
            <p:spPr bwMode="auto">
              <a:xfrm flipH="1">
                <a:off x="1096"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sp>
          <p:nvSpPr>
            <p:cNvPr id="272467" name="Text Box 66"/>
            <p:cNvSpPr txBox="1">
              <a:spLocks noChangeArrowheads="1"/>
            </p:cNvSpPr>
            <p:nvPr/>
          </p:nvSpPr>
          <p:spPr bwMode="auto">
            <a:xfrm>
              <a:off x="4209" y="2642"/>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rPr>
                <a:t>R3</a:t>
              </a:r>
            </a:p>
          </p:txBody>
        </p:sp>
        <p:sp>
          <p:nvSpPr>
            <p:cNvPr id="272468" name="Text Box 67"/>
            <p:cNvSpPr txBox="1">
              <a:spLocks noChangeArrowheads="1"/>
            </p:cNvSpPr>
            <p:nvPr/>
          </p:nvSpPr>
          <p:spPr bwMode="auto">
            <a:xfrm>
              <a:off x="3729" y="3700"/>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rPr>
                <a:t>自治系统</a:t>
              </a:r>
            </a:p>
          </p:txBody>
        </p:sp>
        <p:sp>
          <p:nvSpPr>
            <p:cNvPr id="272469" name="Oval 44"/>
            <p:cNvSpPr>
              <a:spLocks noChangeArrowheads="1"/>
            </p:cNvSpPr>
            <p:nvPr/>
          </p:nvSpPr>
          <p:spPr bwMode="auto">
            <a:xfrm>
              <a:off x="3297" y="2817"/>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70" name="Oval 45"/>
            <p:cNvSpPr>
              <a:spLocks noChangeArrowheads="1"/>
            </p:cNvSpPr>
            <p:nvPr/>
          </p:nvSpPr>
          <p:spPr bwMode="auto">
            <a:xfrm>
              <a:off x="3345" y="3393"/>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grpSp>
      <p:grpSp>
        <p:nvGrpSpPr>
          <p:cNvPr id="272395" name="Group 68"/>
          <p:cNvGrpSpPr/>
          <p:nvPr/>
        </p:nvGrpSpPr>
        <p:grpSpPr bwMode="auto">
          <a:xfrm>
            <a:off x="836613" y="2354263"/>
            <a:ext cx="2084387" cy="1474787"/>
            <a:chOff x="672" y="699"/>
            <a:chExt cx="1872" cy="1317"/>
          </a:xfrm>
        </p:grpSpPr>
        <p:sp>
          <p:nvSpPr>
            <p:cNvPr id="272432" name="Rectangle 69"/>
            <p:cNvSpPr>
              <a:spLocks noChangeArrowheads="1"/>
            </p:cNvSpPr>
            <p:nvPr/>
          </p:nvSpPr>
          <p:spPr bwMode="auto">
            <a:xfrm>
              <a:off x="672" y="1008"/>
              <a:ext cx="1872" cy="1008"/>
            </a:xfrm>
            <a:prstGeom prst="rect">
              <a:avLst/>
            </a:prstGeom>
            <a:solidFill>
              <a:srgbClr val="99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33" name="Oval 70"/>
            <p:cNvSpPr>
              <a:spLocks noChangeArrowheads="1"/>
            </p:cNvSpPr>
            <p:nvPr/>
          </p:nvSpPr>
          <p:spPr bwMode="auto">
            <a:xfrm>
              <a:off x="1008" y="1152"/>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grpSp>
          <p:nvGrpSpPr>
            <p:cNvPr id="272434" name="Group 71"/>
            <p:cNvGrpSpPr/>
            <p:nvPr/>
          </p:nvGrpSpPr>
          <p:grpSpPr bwMode="auto">
            <a:xfrm>
              <a:off x="2016" y="1104"/>
              <a:ext cx="320" cy="184"/>
              <a:chOff x="1000" y="3128"/>
              <a:chExt cx="320" cy="184"/>
            </a:xfrm>
          </p:grpSpPr>
          <p:sp>
            <p:nvSpPr>
              <p:cNvPr id="272452" name="AutoShape 7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53" name="Line 73"/>
              <p:cNvSpPr>
                <a:spLocks noChangeShapeType="1"/>
              </p:cNvSpPr>
              <p:nvPr/>
            </p:nvSpPr>
            <p:spPr bwMode="auto">
              <a:xfrm>
                <a:off x="1104"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54" name="Line 74"/>
              <p:cNvSpPr>
                <a:spLocks noChangeShapeType="1"/>
              </p:cNvSpPr>
              <p:nvPr/>
            </p:nvSpPr>
            <p:spPr bwMode="auto">
              <a:xfrm flipH="1">
                <a:off x="1096"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sp>
          <p:nvSpPr>
            <p:cNvPr id="272435" name="Oval 75"/>
            <p:cNvSpPr>
              <a:spLocks noChangeArrowheads="1"/>
            </p:cNvSpPr>
            <p:nvPr/>
          </p:nvSpPr>
          <p:spPr bwMode="auto">
            <a:xfrm>
              <a:off x="960" y="1728"/>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36" name="Oval 76"/>
            <p:cNvSpPr>
              <a:spLocks noChangeArrowheads="1"/>
            </p:cNvSpPr>
            <p:nvPr/>
          </p:nvSpPr>
          <p:spPr bwMode="auto">
            <a:xfrm>
              <a:off x="2064" y="1632"/>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grpSp>
          <p:nvGrpSpPr>
            <p:cNvPr id="272437" name="Group 77"/>
            <p:cNvGrpSpPr/>
            <p:nvPr/>
          </p:nvGrpSpPr>
          <p:grpSpPr bwMode="auto">
            <a:xfrm>
              <a:off x="864" y="1440"/>
              <a:ext cx="240" cy="96"/>
              <a:chOff x="1000" y="3128"/>
              <a:chExt cx="320" cy="184"/>
            </a:xfrm>
          </p:grpSpPr>
          <p:sp>
            <p:nvSpPr>
              <p:cNvPr id="272449" name="AutoShape 7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50" name="Line 79"/>
              <p:cNvSpPr>
                <a:spLocks noChangeShapeType="1"/>
              </p:cNvSpPr>
              <p:nvPr/>
            </p:nvSpPr>
            <p:spPr bwMode="auto">
              <a:xfrm>
                <a:off x="1104"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51" name="Line 80"/>
              <p:cNvSpPr>
                <a:spLocks noChangeShapeType="1"/>
              </p:cNvSpPr>
              <p:nvPr/>
            </p:nvSpPr>
            <p:spPr bwMode="auto">
              <a:xfrm flipH="1">
                <a:off x="1096"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grpSp>
          <p:nvGrpSpPr>
            <p:cNvPr id="272438" name="Group 81"/>
            <p:cNvGrpSpPr/>
            <p:nvPr/>
          </p:nvGrpSpPr>
          <p:grpSpPr bwMode="auto">
            <a:xfrm>
              <a:off x="1488" y="1776"/>
              <a:ext cx="240" cy="96"/>
              <a:chOff x="1000" y="3128"/>
              <a:chExt cx="320" cy="184"/>
            </a:xfrm>
          </p:grpSpPr>
          <p:sp>
            <p:nvSpPr>
              <p:cNvPr id="272446" name="AutoShape 82"/>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47" name="Line 83"/>
              <p:cNvSpPr>
                <a:spLocks noChangeShapeType="1"/>
              </p:cNvSpPr>
              <p:nvPr/>
            </p:nvSpPr>
            <p:spPr bwMode="auto">
              <a:xfrm>
                <a:off x="1104"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48" name="Line 84"/>
              <p:cNvSpPr>
                <a:spLocks noChangeShapeType="1"/>
              </p:cNvSpPr>
              <p:nvPr/>
            </p:nvSpPr>
            <p:spPr bwMode="auto">
              <a:xfrm flipH="1">
                <a:off x="1096"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sp>
          <p:nvSpPr>
            <p:cNvPr id="272439" name="Line 85"/>
            <p:cNvSpPr>
              <a:spLocks noChangeShapeType="1"/>
            </p:cNvSpPr>
            <p:nvPr/>
          </p:nvSpPr>
          <p:spPr bwMode="auto">
            <a:xfrm>
              <a:off x="1200" y="1200"/>
              <a:ext cx="816" cy="0"/>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40" name="Line 86"/>
            <p:cNvSpPr>
              <a:spLocks noChangeShapeType="1"/>
            </p:cNvSpPr>
            <p:nvPr/>
          </p:nvSpPr>
          <p:spPr bwMode="auto">
            <a:xfrm flipH="1">
              <a:off x="1008" y="1248"/>
              <a:ext cx="48" cy="192"/>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41" name="Line 87"/>
            <p:cNvSpPr>
              <a:spLocks noChangeShapeType="1"/>
            </p:cNvSpPr>
            <p:nvPr/>
          </p:nvSpPr>
          <p:spPr bwMode="auto">
            <a:xfrm>
              <a:off x="1008" y="1536"/>
              <a:ext cx="48" cy="192"/>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42" name="Line 88"/>
            <p:cNvSpPr>
              <a:spLocks noChangeShapeType="1"/>
            </p:cNvSpPr>
            <p:nvPr/>
          </p:nvSpPr>
          <p:spPr bwMode="auto">
            <a:xfrm>
              <a:off x="1152" y="1776"/>
              <a:ext cx="336" cy="48"/>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43" name="Line 89"/>
            <p:cNvSpPr>
              <a:spLocks noChangeShapeType="1"/>
            </p:cNvSpPr>
            <p:nvPr/>
          </p:nvSpPr>
          <p:spPr bwMode="auto">
            <a:xfrm flipV="1">
              <a:off x="1728" y="1680"/>
              <a:ext cx="336" cy="144"/>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44" name="Line 90"/>
            <p:cNvSpPr>
              <a:spLocks noChangeShapeType="1"/>
            </p:cNvSpPr>
            <p:nvPr/>
          </p:nvSpPr>
          <p:spPr bwMode="auto">
            <a:xfrm>
              <a:off x="2160" y="1296"/>
              <a:ext cx="0" cy="336"/>
            </a:xfrm>
            <a:prstGeom prst="line">
              <a:avLst/>
            </a:prstGeom>
            <a:noFill/>
            <a:ln w="28575">
              <a:solidFill>
                <a:schemeClr val="tx1"/>
              </a:solidFill>
              <a:prstDash val="sysDot"/>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45" name="Text Box 91"/>
            <p:cNvSpPr txBox="1">
              <a:spLocks noChangeArrowheads="1"/>
            </p:cNvSpPr>
            <p:nvPr/>
          </p:nvSpPr>
          <p:spPr bwMode="auto">
            <a:xfrm>
              <a:off x="1212" y="69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rPr>
                <a:t>自治系统</a:t>
              </a:r>
            </a:p>
          </p:txBody>
        </p:sp>
      </p:grpSp>
      <p:grpSp>
        <p:nvGrpSpPr>
          <p:cNvPr id="272396" name="Group 92"/>
          <p:cNvGrpSpPr/>
          <p:nvPr/>
        </p:nvGrpSpPr>
        <p:grpSpPr bwMode="auto">
          <a:xfrm>
            <a:off x="3367088" y="2354263"/>
            <a:ext cx="2084387" cy="1474787"/>
            <a:chOff x="3168" y="699"/>
            <a:chExt cx="1872" cy="1317"/>
          </a:xfrm>
        </p:grpSpPr>
        <p:sp>
          <p:nvSpPr>
            <p:cNvPr id="272402" name="Rectangle 93"/>
            <p:cNvSpPr>
              <a:spLocks noChangeArrowheads="1"/>
            </p:cNvSpPr>
            <p:nvPr/>
          </p:nvSpPr>
          <p:spPr bwMode="auto">
            <a:xfrm>
              <a:off x="3168" y="1008"/>
              <a:ext cx="1872" cy="1008"/>
            </a:xfrm>
            <a:prstGeom prst="rect">
              <a:avLst/>
            </a:prstGeom>
            <a:solidFill>
              <a:srgbClr val="99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03" name="Oval 94"/>
            <p:cNvSpPr>
              <a:spLocks noChangeArrowheads="1"/>
            </p:cNvSpPr>
            <p:nvPr/>
          </p:nvSpPr>
          <p:spPr bwMode="auto">
            <a:xfrm>
              <a:off x="3360" y="1344"/>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04" name="Oval 96"/>
            <p:cNvSpPr>
              <a:spLocks noChangeArrowheads="1"/>
            </p:cNvSpPr>
            <p:nvPr/>
          </p:nvSpPr>
          <p:spPr bwMode="auto">
            <a:xfrm>
              <a:off x="4704" y="1776"/>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05" name="Line 97"/>
            <p:cNvSpPr>
              <a:spLocks noChangeShapeType="1"/>
            </p:cNvSpPr>
            <p:nvPr/>
          </p:nvSpPr>
          <p:spPr bwMode="auto">
            <a:xfrm>
              <a:off x="4224" y="1200"/>
              <a:ext cx="528" cy="576"/>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06" name="Line 98"/>
            <p:cNvSpPr>
              <a:spLocks noChangeShapeType="1"/>
            </p:cNvSpPr>
            <p:nvPr/>
          </p:nvSpPr>
          <p:spPr bwMode="auto">
            <a:xfrm flipH="1">
              <a:off x="3504" y="1152"/>
              <a:ext cx="624" cy="240"/>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07" name="Line 99"/>
            <p:cNvSpPr>
              <a:spLocks noChangeShapeType="1"/>
            </p:cNvSpPr>
            <p:nvPr/>
          </p:nvSpPr>
          <p:spPr bwMode="auto">
            <a:xfrm>
              <a:off x="4752" y="1200"/>
              <a:ext cx="48" cy="624"/>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08" name="Line 100"/>
            <p:cNvSpPr>
              <a:spLocks noChangeShapeType="1"/>
            </p:cNvSpPr>
            <p:nvPr/>
          </p:nvSpPr>
          <p:spPr bwMode="auto">
            <a:xfrm>
              <a:off x="3648" y="1824"/>
              <a:ext cx="336" cy="0"/>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09" name="Line 101"/>
            <p:cNvSpPr>
              <a:spLocks noChangeShapeType="1"/>
            </p:cNvSpPr>
            <p:nvPr/>
          </p:nvSpPr>
          <p:spPr bwMode="auto">
            <a:xfrm flipV="1">
              <a:off x="4080" y="1152"/>
              <a:ext cx="624" cy="624"/>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nvGrpSpPr>
            <p:cNvPr id="272410" name="Group 102"/>
            <p:cNvGrpSpPr/>
            <p:nvPr/>
          </p:nvGrpSpPr>
          <p:grpSpPr bwMode="auto">
            <a:xfrm>
              <a:off x="4304" y="1392"/>
              <a:ext cx="240" cy="96"/>
              <a:chOff x="1000" y="3128"/>
              <a:chExt cx="320" cy="184"/>
            </a:xfrm>
          </p:grpSpPr>
          <p:sp>
            <p:nvSpPr>
              <p:cNvPr id="272429" name="AutoShape 103"/>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30" name="Line 104"/>
              <p:cNvSpPr>
                <a:spLocks noChangeShapeType="1"/>
              </p:cNvSpPr>
              <p:nvPr/>
            </p:nvSpPr>
            <p:spPr bwMode="auto">
              <a:xfrm>
                <a:off x="1104"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31" name="Line 105"/>
              <p:cNvSpPr>
                <a:spLocks noChangeShapeType="1"/>
              </p:cNvSpPr>
              <p:nvPr/>
            </p:nvSpPr>
            <p:spPr bwMode="auto">
              <a:xfrm flipH="1">
                <a:off x="1096"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sp>
          <p:nvSpPr>
            <p:cNvPr id="272411" name="Line 106"/>
            <p:cNvSpPr>
              <a:spLocks noChangeShapeType="1"/>
            </p:cNvSpPr>
            <p:nvPr/>
          </p:nvSpPr>
          <p:spPr bwMode="auto">
            <a:xfrm flipH="1">
              <a:off x="3456" y="1440"/>
              <a:ext cx="0" cy="288"/>
            </a:xfrm>
            <a:prstGeom prst="line">
              <a:avLst/>
            </a:prstGeom>
            <a:noFill/>
            <a:ln w="28575">
              <a:solidFill>
                <a:srgbClr val="00B0F0"/>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12" name="Oval 107"/>
            <p:cNvSpPr>
              <a:spLocks noChangeArrowheads="1"/>
            </p:cNvSpPr>
            <p:nvPr/>
          </p:nvSpPr>
          <p:spPr bwMode="auto">
            <a:xfrm>
              <a:off x="4080" y="1104"/>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13" name="Oval 108"/>
            <p:cNvSpPr>
              <a:spLocks noChangeArrowheads="1"/>
            </p:cNvSpPr>
            <p:nvPr/>
          </p:nvSpPr>
          <p:spPr bwMode="auto">
            <a:xfrm>
              <a:off x="4656" y="1104"/>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grpSp>
          <p:nvGrpSpPr>
            <p:cNvPr id="272414" name="Group 109"/>
            <p:cNvGrpSpPr/>
            <p:nvPr/>
          </p:nvGrpSpPr>
          <p:grpSpPr bwMode="auto">
            <a:xfrm>
              <a:off x="3696" y="1200"/>
              <a:ext cx="240" cy="96"/>
              <a:chOff x="1000" y="3128"/>
              <a:chExt cx="320" cy="184"/>
            </a:xfrm>
          </p:grpSpPr>
          <p:sp>
            <p:nvSpPr>
              <p:cNvPr id="272426" name="AutoShape 110"/>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27" name="Line 111"/>
              <p:cNvSpPr>
                <a:spLocks noChangeShapeType="1"/>
              </p:cNvSpPr>
              <p:nvPr/>
            </p:nvSpPr>
            <p:spPr bwMode="auto">
              <a:xfrm>
                <a:off x="1104"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28" name="Line 112"/>
              <p:cNvSpPr>
                <a:spLocks noChangeShapeType="1"/>
              </p:cNvSpPr>
              <p:nvPr/>
            </p:nvSpPr>
            <p:spPr bwMode="auto">
              <a:xfrm flipH="1">
                <a:off x="1096"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grpSp>
          <p:nvGrpSpPr>
            <p:cNvPr id="272415" name="Group 113"/>
            <p:cNvGrpSpPr/>
            <p:nvPr/>
          </p:nvGrpSpPr>
          <p:grpSpPr bwMode="auto">
            <a:xfrm>
              <a:off x="4656" y="1392"/>
              <a:ext cx="240" cy="96"/>
              <a:chOff x="1000" y="3128"/>
              <a:chExt cx="320" cy="184"/>
            </a:xfrm>
          </p:grpSpPr>
          <p:sp>
            <p:nvSpPr>
              <p:cNvPr id="272423" name="AutoShape 114"/>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24" name="Line 115"/>
              <p:cNvSpPr>
                <a:spLocks noChangeShapeType="1"/>
              </p:cNvSpPr>
              <p:nvPr/>
            </p:nvSpPr>
            <p:spPr bwMode="auto">
              <a:xfrm>
                <a:off x="1104"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25" name="Line 116"/>
              <p:cNvSpPr>
                <a:spLocks noChangeShapeType="1"/>
              </p:cNvSpPr>
              <p:nvPr/>
            </p:nvSpPr>
            <p:spPr bwMode="auto">
              <a:xfrm flipH="1">
                <a:off x="1096"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grpSp>
          <p:nvGrpSpPr>
            <p:cNvPr id="272416" name="Group 117"/>
            <p:cNvGrpSpPr/>
            <p:nvPr/>
          </p:nvGrpSpPr>
          <p:grpSpPr bwMode="auto">
            <a:xfrm>
              <a:off x="3328" y="1688"/>
              <a:ext cx="320" cy="184"/>
              <a:chOff x="1000" y="3128"/>
              <a:chExt cx="320" cy="184"/>
            </a:xfrm>
          </p:grpSpPr>
          <p:sp>
            <p:nvSpPr>
              <p:cNvPr id="272420" name="AutoShape 118"/>
              <p:cNvSpPr>
                <a:spLocks noChangeArrowheads="1"/>
              </p:cNvSpPr>
              <p:nvPr/>
            </p:nvSpPr>
            <p:spPr bwMode="auto">
              <a:xfrm>
                <a:off x="1000" y="3128"/>
                <a:ext cx="320" cy="184"/>
              </a:xfrm>
              <a:prstGeom prst="can">
                <a:avLst>
                  <a:gd name="adj"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sp>
            <p:nvSpPr>
              <p:cNvPr id="272421" name="Line 119"/>
              <p:cNvSpPr>
                <a:spLocks noChangeShapeType="1"/>
              </p:cNvSpPr>
              <p:nvPr/>
            </p:nvSpPr>
            <p:spPr bwMode="auto">
              <a:xfrm>
                <a:off x="1104"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22" name="Line 120"/>
              <p:cNvSpPr>
                <a:spLocks noChangeShapeType="1"/>
              </p:cNvSpPr>
              <p:nvPr/>
            </p:nvSpPr>
            <p:spPr bwMode="auto">
              <a:xfrm flipH="1">
                <a:off x="1096" y="3144"/>
                <a:ext cx="144" cy="48"/>
              </a:xfrm>
              <a:prstGeom prst="line">
                <a:avLst/>
              </a:prstGeom>
              <a:noFill/>
              <a:ln w="28575">
                <a:solidFill>
                  <a:schemeClr val="bg1"/>
                </a:solidFill>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grpSp>
        <p:sp>
          <p:nvSpPr>
            <p:cNvPr id="272417" name="Text Box 121"/>
            <p:cNvSpPr txBox="1">
              <a:spLocks noChangeArrowheads="1"/>
            </p:cNvSpPr>
            <p:nvPr/>
          </p:nvSpPr>
          <p:spPr bwMode="auto">
            <a:xfrm>
              <a:off x="3586" y="1505"/>
              <a:ext cx="37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rPr>
                <a:t>R2</a:t>
              </a:r>
            </a:p>
          </p:txBody>
        </p:sp>
        <p:sp>
          <p:nvSpPr>
            <p:cNvPr id="272418" name="Text Box 122"/>
            <p:cNvSpPr txBox="1">
              <a:spLocks noChangeArrowheads="1"/>
            </p:cNvSpPr>
            <p:nvPr/>
          </p:nvSpPr>
          <p:spPr bwMode="auto">
            <a:xfrm>
              <a:off x="3704" y="699"/>
              <a:ext cx="811"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rPr>
                <a:t>自治系统</a:t>
              </a:r>
            </a:p>
          </p:txBody>
        </p:sp>
        <p:sp>
          <p:nvSpPr>
            <p:cNvPr id="272419" name="Oval 95"/>
            <p:cNvSpPr>
              <a:spLocks noChangeArrowheads="1"/>
            </p:cNvSpPr>
            <p:nvPr/>
          </p:nvSpPr>
          <p:spPr bwMode="auto">
            <a:xfrm>
              <a:off x="3936" y="1776"/>
              <a:ext cx="192" cy="96"/>
            </a:xfrm>
            <a:prstGeom prst="ellipse">
              <a:avLst/>
            </a:prstGeom>
            <a:solidFill>
              <a:srgbClr val="00FF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endParaRPr>
            </a:p>
          </p:txBody>
        </p:sp>
      </p:grpSp>
      <p:sp>
        <p:nvSpPr>
          <p:cNvPr id="272397" name="Line 123"/>
          <p:cNvSpPr>
            <a:spLocks noChangeShapeType="1"/>
          </p:cNvSpPr>
          <p:nvPr/>
        </p:nvSpPr>
        <p:spPr bwMode="auto">
          <a:xfrm>
            <a:off x="2630488" y="2952750"/>
            <a:ext cx="939800" cy="554038"/>
          </a:xfrm>
          <a:prstGeom prst="line">
            <a:avLst/>
          </a:prstGeom>
          <a:noFill/>
          <a:ln w="28575">
            <a:solidFill>
              <a:schemeClr val="tx1"/>
            </a:solidFill>
            <a:prstDash val="sysDot"/>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398" name="Line 124"/>
          <p:cNvSpPr>
            <a:spLocks noChangeShapeType="1"/>
          </p:cNvSpPr>
          <p:nvPr/>
        </p:nvSpPr>
        <p:spPr bwMode="auto">
          <a:xfrm>
            <a:off x="3813175" y="3640138"/>
            <a:ext cx="481013" cy="698500"/>
          </a:xfrm>
          <a:prstGeom prst="line">
            <a:avLst/>
          </a:prstGeom>
          <a:noFill/>
          <a:ln w="28575">
            <a:solidFill>
              <a:schemeClr val="tx1"/>
            </a:solidFill>
            <a:prstDash val="sysDot"/>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399" name="Line 125"/>
          <p:cNvSpPr>
            <a:spLocks noChangeShapeType="1"/>
          </p:cNvSpPr>
          <p:nvPr/>
        </p:nvSpPr>
        <p:spPr bwMode="auto">
          <a:xfrm flipH="1">
            <a:off x="2760663" y="4481513"/>
            <a:ext cx="1489075" cy="422275"/>
          </a:xfrm>
          <a:prstGeom prst="line">
            <a:avLst/>
          </a:prstGeom>
          <a:noFill/>
          <a:ln w="28575">
            <a:solidFill>
              <a:schemeClr val="tx1"/>
            </a:solidFill>
            <a:prstDash val="sysDot"/>
            <a:miter lim="800000"/>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2400" name="Rectangle 249"/>
          <p:cNvSpPr>
            <a:spLocks noChangeArrowheads="1"/>
          </p:cNvSpPr>
          <p:nvPr/>
        </p:nvSpPr>
        <p:spPr bwMode="auto">
          <a:xfrm>
            <a:off x="2028825" y="2986088"/>
            <a:ext cx="4206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400" b="1" i="0" u="none" strike="noStrike" kern="1200" cap="none" spc="0" normalizeH="0" baseline="0" noProof="0">
                <a:ln>
                  <a:noFill/>
                </a:ln>
                <a:solidFill>
                  <a:srgbClr val="0000FF"/>
                </a:solidFill>
                <a:effectLst/>
                <a:uLnTx/>
                <a:uFillTx/>
                <a:latin typeface="微软雅黑" panose="020B0503020204020204" pitchFamily="34" charset="-122"/>
                <a:ea typeface="宋体" pitchFamily="2" charset="-122"/>
                <a:cs typeface="+mn-cs"/>
              </a:rPr>
              <a:t>R1</a:t>
            </a:r>
          </a:p>
        </p:txBody>
      </p:sp>
      <p:sp>
        <p:nvSpPr>
          <p:cNvPr id="272401" name="矩形 216135"/>
          <p:cNvSpPr>
            <a:spLocks noChangeArrowheads="1"/>
          </p:cNvSpPr>
          <p:nvPr/>
        </p:nvSpPr>
        <p:spPr bwMode="auto">
          <a:xfrm>
            <a:off x="5561013" y="2373313"/>
            <a:ext cx="2890837" cy="328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ts val="2800"/>
              </a:lnSpc>
              <a:spcBef>
                <a:spcPct val="0"/>
              </a:spcBef>
              <a:spcAft>
                <a:spcPct val="0"/>
              </a:spcAft>
              <a:buClrTx/>
              <a:buSzTx/>
              <a:buFontTx/>
              <a:buNone/>
              <a:defRPr/>
            </a:pPr>
            <a:r>
              <a:rPr kumimoji="0" lang="zh-CN" altLang="en-US" sz="1800" b="1" i="0" u="none" strike="noStrike" kern="1200" cap="none" spc="0" normalizeH="0" baseline="0" noProof="0">
                <a:ln>
                  <a:noFill/>
                </a:ln>
                <a:solidFill>
                  <a:srgbClr val="C00000"/>
                </a:solidFill>
                <a:effectLst/>
                <a:uLnTx/>
                <a:uFillTx/>
                <a:latin typeface="KaiTi" panose="02010609060101010101" pitchFamily="49" charset="-122"/>
                <a:ea typeface="KaiTi" panose="02010609060101010101" pitchFamily="49" charset="-122"/>
                <a:cs typeface="+mn-cs"/>
              </a:rPr>
              <a:t>自治系统 </a:t>
            </a:r>
            <a:r>
              <a:rPr kumimoji="0" lang="en-US" altLang="zh-CN" sz="1800" b="1" i="0" u="none" strike="noStrike" kern="1200" cap="none" spc="0" normalizeH="0" baseline="0" noProof="0">
                <a:ln>
                  <a:noFill/>
                </a:ln>
                <a:solidFill>
                  <a:srgbClr val="C00000"/>
                </a:solidFill>
                <a:effectLst/>
                <a:uLnTx/>
                <a:uFillTx/>
                <a:latin typeface="KaiTi" panose="02010609060101010101" pitchFamily="49" charset="-122"/>
                <a:ea typeface="KaiTi" panose="02010609060101010101" pitchFamily="49" charset="-122"/>
                <a:cs typeface="+mn-cs"/>
              </a:rPr>
              <a:t>AS </a:t>
            </a:r>
            <a:r>
              <a:rPr kumimoji="0" lang="zh-CN" altLang="en-US" sz="1800" b="1" i="0" u="none" strike="noStrike" kern="1200" cap="none" spc="0" normalizeH="0" baseline="0" noProof="0">
                <a:ln>
                  <a:noFill/>
                </a:ln>
                <a:solidFill>
                  <a:srgbClr val="C00000"/>
                </a:solidFill>
                <a:effectLst/>
                <a:uLnTx/>
                <a:uFillTx/>
                <a:latin typeface="KaiTi" panose="02010609060101010101" pitchFamily="49" charset="-122"/>
                <a:ea typeface="KaiTi" panose="02010609060101010101" pitchFamily="49" charset="-122"/>
                <a:cs typeface="+mn-cs"/>
              </a:rPr>
              <a:t>：</a:t>
            </a:r>
            <a:endParaRPr kumimoji="0" lang="en-US" altLang="zh-CN" sz="1800" b="1" i="0" u="none" strike="noStrike" kern="1200" cap="none" spc="0" normalizeH="0" baseline="0" noProof="0">
              <a:ln>
                <a:noFill/>
              </a:ln>
              <a:solidFill>
                <a:srgbClr val="C00000"/>
              </a:solidFill>
              <a:effectLst/>
              <a:uLnTx/>
              <a:uFillTx/>
              <a:latin typeface="KaiTi" panose="02010609060101010101" pitchFamily="49" charset="-122"/>
              <a:ea typeface="KaiTi" panose="02010609060101010101" pitchFamily="49" charset="-122"/>
              <a:cs typeface="+mn-cs"/>
            </a:endParaRPr>
          </a:p>
          <a:p>
            <a:pPr marL="0" marR="0" lvl="0" indent="0" algn="l" defTabSz="914400" rtl="0" eaLnBrk="0" fontAlgn="base" latinLnBrk="0" hangingPunct="0">
              <a:lnSpc>
                <a:spcPts val="2800"/>
              </a:lnSpc>
              <a:spcBef>
                <a:spcPct val="0"/>
              </a:spcBef>
              <a:spcAft>
                <a:spcPct val="0"/>
              </a:spcAft>
              <a:buClrTx/>
              <a:buSzTx/>
              <a:buFontTx/>
              <a:buNone/>
              <a:defRPr/>
            </a:pPr>
            <a:r>
              <a:rPr kumimoji="0" lang="zh-CN" altLang="en-US"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是在单一技术管理下的许多网络、</a:t>
            </a:r>
            <a:r>
              <a:rPr kumimoji="0" lang="en-US" altLang="zh-CN"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IP</a:t>
            </a:r>
            <a:r>
              <a:rPr kumimoji="0" lang="zh-CN" altLang="en-US"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地址以及路由器，而这些路由器使用一种自治系统内部的路由选择协议和共同的度量。每一个 </a:t>
            </a:r>
            <a:r>
              <a:rPr kumimoji="0" lang="en-US" altLang="zh-CN"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AS </a:t>
            </a:r>
            <a:r>
              <a:rPr kumimoji="0" lang="zh-CN" altLang="en-US"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对其他 </a:t>
            </a:r>
            <a:r>
              <a:rPr kumimoji="0" lang="en-US" altLang="zh-CN"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AS </a:t>
            </a:r>
            <a:r>
              <a:rPr kumimoji="0" lang="zh-CN" altLang="en-US"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表现出的是一个</a:t>
            </a:r>
            <a:r>
              <a:rPr kumimoji="0" lang="zh-CN" altLang="en-US" sz="1800" b="1" i="0" u="none" strike="noStrike" kern="1200" cap="none" spc="0" normalizeH="0" baseline="0" noProof="0">
                <a:ln>
                  <a:noFill/>
                </a:ln>
                <a:solidFill>
                  <a:srgbClr val="C00000"/>
                </a:solidFill>
                <a:effectLst/>
                <a:uLnTx/>
                <a:uFillTx/>
                <a:latin typeface="KaiTi" panose="02010609060101010101" pitchFamily="49" charset="-122"/>
                <a:ea typeface="KaiTi" panose="02010609060101010101" pitchFamily="49" charset="-122"/>
                <a:cs typeface="+mn-cs"/>
              </a:rPr>
              <a:t>单一的和一致的</a:t>
            </a:r>
            <a:r>
              <a:rPr kumimoji="0" lang="zh-CN" altLang="en-US" sz="1800" b="1" i="0" u="none" strike="noStrike" kern="1200" cap="none" spc="0" normalizeH="0" baseline="0" noProof="0">
                <a:ln>
                  <a:noFill/>
                </a:ln>
                <a:solidFill>
                  <a:srgbClr val="000000"/>
                </a:solidFill>
                <a:effectLst/>
                <a:uLnTx/>
                <a:uFillTx/>
                <a:latin typeface="KaiTi" panose="02010609060101010101" pitchFamily="49" charset="-122"/>
                <a:ea typeface="KaiTi" panose="02010609060101010101" pitchFamily="49" charset="-122"/>
                <a:cs typeface="+mn-cs"/>
              </a:rPr>
              <a:t>路由选择策略。</a:t>
            </a:r>
          </a:p>
        </p:txBody>
      </p:sp>
    </p:spTree>
  </p:cSld>
  <p:clrMapOvr>
    <a:masterClrMapping/>
  </p:clrMapOvr>
  <p:transition spd="slow"/>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3" name="Rectangle 2"/>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大类路由选择协议</a:t>
            </a:r>
          </a:p>
        </p:txBody>
      </p:sp>
      <p:pic>
        <p:nvPicPr>
          <p:cNvPr id="274434" name="Picture 9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4435" name="组合 8"/>
          <p:cNvGrpSpPr/>
          <p:nvPr/>
        </p:nvGrpSpPr>
        <p:grpSpPr bwMode="auto">
          <a:xfrm>
            <a:off x="1274763" y="2178050"/>
            <a:ext cx="2589212" cy="727075"/>
            <a:chOff x="36" y="10305"/>
            <a:chExt cx="3480866" cy="1008000"/>
          </a:xfrm>
        </p:grpSpPr>
        <p:sp>
          <p:nvSpPr>
            <p:cNvPr id="18" name="矩形 17"/>
            <p:cNvSpPr/>
            <p:nvPr/>
          </p:nvSpPr>
          <p:spPr>
            <a:xfrm>
              <a:off x="36" y="10305"/>
              <a:ext cx="3480866" cy="1008000"/>
            </a:xfrm>
            <a:prstGeom prst="rect">
              <a:avLst/>
            </a:prstGeom>
            <a:solidFill>
              <a:srgbClr val="C0504D">
                <a:hueOff val="0"/>
                <a:satOff val="0"/>
                <a:lumOff val="0"/>
                <a:alphaOff val="0"/>
              </a:srgbClr>
            </a:solidFill>
            <a:ln w="25400" cap="flat" cmpd="sng" algn="ctr">
              <a:solidFill>
                <a:srgbClr val="C0504D">
                  <a:hueOff val="0"/>
                  <a:satOff val="0"/>
                  <a:lumOff val="0"/>
                  <a:alphaOff val="0"/>
                </a:srgbClr>
              </a:solidFill>
              <a:prstDash val="solid"/>
            </a:ln>
            <a:effectLst>
              <a:outerShdw blurRad="40000" dist="20000" dir="5400000" rotWithShape="0">
                <a:srgbClr val="000000">
                  <a:alpha val="38000"/>
                </a:srgbClr>
              </a:outerShdw>
            </a:effectLst>
          </p:spPr>
        </p:sp>
        <p:sp>
          <p:nvSpPr>
            <p:cNvPr id="274446" name="文本框 18"/>
            <p:cNvSpPr txBox="1">
              <a:spLocks noChangeArrowheads="1"/>
            </p:cNvSpPr>
            <p:nvPr/>
          </p:nvSpPr>
          <p:spPr bwMode="auto">
            <a:xfrm>
              <a:off x="36" y="10305"/>
              <a:ext cx="3480866" cy="10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42240" tIns="81280" rIns="142240" bIns="81280" anchor="ctr"/>
            <a:lstStyle>
              <a:lvl1pPr defTabSz="889000">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defTabSz="88900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defTabSz="8890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defTabSz="889000">
                <a:spcBef>
                  <a:spcPct val="20000"/>
                </a:spcBef>
                <a:buChar char="–"/>
                <a:defRPr kumimoji="1" sz="2000">
                  <a:solidFill>
                    <a:schemeClr val="tx1"/>
                  </a:solidFill>
                  <a:latin typeface="Times New Roman" panose="02020503050405090304" charset="0"/>
                  <a:ea typeface="宋体" pitchFamily="2" charset="-122"/>
                </a:defRPr>
              </a:lvl4pPr>
              <a:lvl5pPr marL="2057400" indent="-228600" defTabSz="889000">
                <a:spcBef>
                  <a:spcPct val="20000"/>
                </a:spcBef>
                <a:buChar char="»"/>
                <a:defRPr kumimoji="1" sz="2000">
                  <a:solidFill>
                    <a:schemeClr val="tx1"/>
                  </a:solidFill>
                  <a:latin typeface="Times New Roman" panose="02020503050405090304" charset="0"/>
                  <a:ea typeface="宋体" pitchFamily="2" charset="-122"/>
                </a:defRPr>
              </a:lvl5pPr>
              <a:lvl6pPr marL="25146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ctr" defTabSz="889000" rtl="0" eaLnBrk="1" fontAlgn="base" latinLnBrk="0" hangingPunct="1">
                <a:lnSpc>
                  <a:spcPct val="90000"/>
                </a:lnSpc>
                <a:spcBef>
                  <a:spcPct val="0"/>
                </a:spcBef>
                <a:spcAft>
                  <a:spcPct val="35000"/>
                </a:spcAft>
                <a:buClrTx/>
                <a:buSzTx/>
                <a:buFontTx/>
                <a:buNone/>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itchFamily="2" charset="-122"/>
                  <a:cs typeface="+mn-cs"/>
                </a:rPr>
                <a:t>内部网关协议 </a:t>
              </a:r>
              <a:r>
                <a:rPr kumimoji="0" lang="en-US"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itchFamily="2" charset="-122"/>
                  <a:cs typeface="+mn-cs"/>
                </a:rPr>
                <a:t>IGP </a:t>
              </a:r>
              <a:endPar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itchFamily="2" charset="-122"/>
                <a:cs typeface="+mn-cs"/>
              </a:endParaRPr>
            </a:p>
          </p:txBody>
        </p:sp>
      </p:grpSp>
      <p:grpSp>
        <p:nvGrpSpPr>
          <p:cNvPr id="274436" name="组合 216136"/>
          <p:cNvGrpSpPr/>
          <p:nvPr/>
        </p:nvGrpSpPr>
        <p:grpSpPr bwMode="auto">
          <a:xfrm>
            <a:off x="684213" y="3043238"/>
            <a:ext cx="3770312" cy="2274887"/>
            <a:chOff x="36" y="1018305"/>
            <a:chExt cx="3480866" cy="1825425"/>
          </a:xfrm>
        </p:grpSpPr>
        <p:sp>
          <p:nvSpPr>
            <p:cNvPr id="274443" name="矩形 216137"/>
            <p:cNvSpPr>
              <a:spLocks noChangeArrowheads="1"/>
            </p:cNvSpPr>
            <p:nvPr/>
          </p:nvSpPr>
          <p:spPr bwMode="auto">
            <a:xfrm>
              <a:off x="36" y="1018305"/>
              <a:ext cx="3480866" cy="1825425"/>
            </a:xfrm>
            <a:prstGeom prst="rect">
              <a:avLst/>
            </a:prstGeom>
            <a:solidFill>
              <a:srgbClr val="E8D0D0">
                <a:alpha val="90195"/>
              </a:srgbClr>
            </a:solidFill>
            <a:ln w="25400" algn="ctr">
              <a:solidFill>
                <a:srgbClr val="E8D0D0">
                  <a:alpha val="90195"/>
                </a:srgbClr>
              </a:solidFill>
              <a:miter lim="800000"/>
            </a:ln>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4444" name="文本框 216138"/>
            <p:cNvSpPr txBox="1">
              <a:spLocks noChangeArrowheads="1"/>
            </p:cNvSpPr>
            <p:nvPr/>
          </p:nvSpPr>
          <p:spPr bwMode="auto">
            <a:xfrm>
              <a:off x="36" y="1018305"/>
              <a:ext cx="3480866" cy="18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012" tIns="96012" rIns="128016" bIns="144018"/>
            <a:lstStyle>
              <a:lvl1pPr marL="342900" indent="-342900" defTabSz="800100">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171450" indent="-171450" defTabSz="80010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defTabSz="8001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defTabSz="800100">
                <a:spcBef>
                  <a:spcPct val="20000"/>
                </a:spcBef>
                <a:buChar char="–"/>
                <a:defRPr kumimoji="1" sz="2000">
                  <a:solidFill>
                    <a:schemeClr val="tx1"/>
                  </a:solidFill>
                  <a:latin typeface="Times New Roman" panose="02020503050405090304" charset="0"/>
                  <a:ea typeface="宋体" pitchFamily="2" charset="-122"/>
                </a:defRPr>
              </a:lvl4pPr>
              <a:lvl5pPr marL="2057400" indent="-228600" defTabSz="800100">
                <a:spcBef>
                  <a:spcPct val="20000"/>
                </a:spcBef>
                <a:buChar char="»"/>
                <a:defRPr kumimoji="1" sz="2000">
                  <a:solidFill>
                    <a:schemeClr val="tx1"/>
                  </a:solidFill>
                  <a:latin typeface="Times New Roman" panose="02020503050405090304" charset="0"/>
                  <a:ea typeface="宋体" pitchFamily="2" charset="-122"/>
                </a:defRPr>
              </a:lvl5pPr>
              <a:lvl6pPr marL="2514600" indent="-228600" defTabSz="8001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defTabSz="8001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defTabSz="8001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defTabSz="8001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171450" marR="0" lvl="1" indent="-171450" algn="l" defTabSz="800100" rtl="0" eaLnBrk="1" fontAlgn="base" latinLnBrk="0" hangingPunct="1">
                <a:lnSpc>
                  <a:spcPct val="120000"/>
                </a:lnSpc>
                <a:spcBef>
                  <a:spcPts val="600"/>
                </a:spcBef>
                <a:spcAft>
                  <a:spcPts val="500"/>
                </a:spcAft>
                <a:buClrTx/>
                <a:buSzTx/>
                <a:buFontTx/>
                <a:buChar char="•"/>
                <a:defRPr/>
              </a:pPr>
              <a:r>
                <a:rPr kumimoji="0" lang="en-US" altLang="en-US" sz="2000" b="1" i="0" u="none" strike="noStrike" kern="1200" cap="none" spc="0" normalizeH="0" baseline="0" noProof="0">
                  <a:ln>
                    <a:noFill/>
                  </a:ln>
                  <a:solidFill>
                    <a:srgbClr val="000000"/>
                  </a:solidFill>
                  <a:effectLst/>
                  <a:uLnTx/>
                  <a:uFillTx/>
                  <a:latin typeface="Adelle Sans Devanagari" panose="02000503000000020004" pitchFamily="2" charset="-78"/>
                  <a:ea typeface="微软雅黑" panose="020B0503020204020204" pitchFamily="34" charset="-122"/>
                  <a:cs typeface="Adelle Sans Devanagari" panose="02000503000000020004" pitchFamily="2" charset="-78"/>
                </a:rPr>
                <a:t>Interior Gateway Protocol</a:t>
              </a:r>
              <a:endParaRPr kumimoji="0" lang="zh-CN" altLang="en-US" sz="2000" b="1" i="0" u="none" strike="noStrike" kern="1200" cap="none" spc="0" normalizeH="0" baseline="0" noProof="0">
                <a:ln>
                  <a:noFill/>
                </a:ln>
                <a:solidFill>
                  <a:srgbClr val="000000"/>
                </a:solidFill>
                <a:effectLst/>
                <a:uLnTx/>
                <a:uFillTx/>
                <a:latin typeface="Adelle Sans Devanagari" panose="02000503000000020004" pitchFamily="2" charset="-78"/>
                <a:ea typeface="微软雅黑" panose="020B0503020204020204" pitchFamily="34" charset="-122"/>
                <a:cs typeface="Adelle Sans Devanagari" panose="02000503000000020004" pitchFamily="2" charset="-78"/>
              </a:endParaRPr>
            </a:p>
            <a:p>
              <a:pPr marL="171450" marR="0" lvl="1" indent="-171450" algn="l" defTabSz="800100" rtl="0" eaLnBrk="1" fontAlgn="base" latinLnBrk="0" hangingPunct="1">
                <a:lnSpc>
                  <a:spcPct val="120000"/>
                </a:lnSpc>
                <a:spcBef>
                  <a:spcPts val="600"/>
                </a:spcBef>
                <a:spcAft>
                  <a:spcPts val="500"/>
                </a:spcAft>
                <a:buClrTx/>
                <a:buSzTx/>
                <a:buFontTx/>
                <a:buChar char="•"/>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在一个自治系统内部使用的路由选择协议</a:t>
              </a:r>
            </a:p>
            <a:p>
              <a:pPr marL="171450" marR="0" lvl="1" indent="-171450" algn="l" defTabSz="800100" rtl="0" eaLnBrk="1" fontAlgn="base" latinLnBrk="0" hangingPunct="1">
                <a:lnSpc>
                  <a:spcPct val="120000"/>
                </a:lnSpc>
                <a:spcBef>
                  <a:spcPts val="600"/>
                </a:spcBef>
                <a:spcAft>
                  <a:spcPts val="500"/>
                </a:spcAft>
                <a:buClrTx/>
                <a:buSzTx/>
                <a:buFontTx/>
                <a:buChar char="•"/>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常用：</a:t>
              </a:r>
              <a:r>
                <a:rPr kumimoji="0" lang="en-US"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RIP</a:t>
              </a: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a:t>
              </a:r>
              <a:r>
                <a:rPr kumimoji="0" lang="en-US"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OSPF</a:t>
              </a:r>
              <a:endPar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endParaRPr>
            </a:p>
          </p:txBody>
        </p:sp>
      </p:grpSp>
      <p:grpSp>
        <p:nvGrpSpPr>
          <p:cNvPr id="274437" name="组合 216142"/>
          <p:cNvGrpSpPr/>
          <p:nvPr/>
        </p:nvGrpSpPr>
        <p:grpSpPr bwMode="auto">
          <a:xfrm>
            <a:off x="5151438" y="2178050"/>
            <a:ext cx="2589212" cy="727075"/>
            <a:chOff x="3968224" y="10305"/>
            <a:chExt cx="3480866" cy="1008000"/>
          </a:xfrm>
        </p:grpSpPr>
        <p:sp>
          <p:nvSpPr>
            <p:cNvPr id="216144" name="矩形 216143"/>
            <p:cNvSpPr/>
            <p:nvPr/>
          </p:nvSpPr>
          <p:spPr>
            <a:xfrm>
              <a:off x="3968224" y="10305"/>
              <a:ext cx="3480866" cy="1008000"/>
            </a:xfrm>
            <a:prstGeom prst="rect">
              <a:avLst/>
            </a:prstGeom>
            <a:solidFill>
              <a:srgbClr val="C0504D">
                <a:hueOff val="4681519"/>
                <a:satOff val="-5838"/>
                <a:lumOff val="1373"/>
                <a:alphaOff val="0"/>
              </a:srgbClr>
            </a:solidFill>
            <a:ln w="25400" cap="flat" cmpd="sng" algn="ctr">
              <a:solidFill>
                <a:srgbClr val="C0504D">
                  <a:hueOff val="4681519"/>
                  <a:satOff val="-5838"/>
                  <a:lumOff val="1373"/>
                  <a:alphaOff val="0"/>
                </a:srgbClr>
              </a:solidFill>
              <a:prstDash val="solid"/>
            </a:ln>
            <a:effectLst>
              <a:outerShdw blurRad="40000" dist="20000" dir="5400000" rotWithShape="0">
                <a:srgbClr val="000000">
                  <a:alpha val="38000"/>
                </a:srgbClr>
              </a:outerShdw>
            </a:effectLst>
          </p:spPr>
        </p:sp>
        <p:sp>
          <p:nvSpPr>
            <p:cNvPr id="274442" name="文本框 216144"/>
            <p:cNvSpPr txBox="1">
              <a:spLocks noChangeArrowheads="1"/>
            </p:cNvSpPr>
            <p:nvPr/>
          </p:nvSpPr>
          <p:spPr bwMode="auto">
            <a:xfrm>
              <a:off x="3968224" y="10305"/>
              <a:ext cx="3480866" cy="10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42240" tIns="81280" rIns="142240" bIns="81280" anchor="ctr"/>
            <a:lstStyle>
              <a:lvl1pPr defTabSz="889000">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defTabSz="88900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defTabSz="8890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defTabSz="889000">
                <a:spcBef>
                  <a:spcPct val="20000"/>
                </a:spcBef>
                <a:buChar char="–"/>
                <a:defRPr kumimoji="1" sz="2000">
                  <a:solidFill>
                    <a:schemeClr val="tx1"/>
                  </a:solidFill>
                  <a:latin typeface="Times New Roman" panose="02020503050405090304" charset="0"/>
                  <a:ea typeface="宋体" pitchFamily="2" charset="-122"/>
                </a:defRPr>
              </a:lvl4pPr>
              <a:lvl5pPr marL="2057400" indent="-228600" defTabSz="889000">
                <a:spcBef>
                  <a:spcPct val="20000"/>
                </a:spcBef>
                <a:buChar char="»"/>
                <a:defRPr kumimoji="1" sz="2000">
                  <a:solidFill>
                    <a:schemeClr val="tx1"/>
                  </a:solidFill>
                  <a:latin typeface="Times New Roman" panose="02020503050405090304" charset="0"/>
                  <a:ea typeface="宋体" pitchFamily="2" charset="-122"/>
                </a:defRPr>
              </a:lvl5pPr>
              <a:lvl6pPr marL="25146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ctr" defTabSz="889000" rtl="0" eaLnBrk="1" fontAlgn="base" latinLnBrk="0" hangingPunct="1">
                <a:lnSpc>
                  <a:spcPct val="90000"/>
                </a:lnSpc>
                <a:spcBef>
                  <a:spcPct val="0"/>
                </a:spcBef>
                <a:spcAft>
                  <a:spcPct val="35000"/>
                </a:spcAft>
                <a:buClrTx/>
                <a:buSzTx/>
                <a:buFontTx/>
                <a:buNone/>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itchFamily="2" charset="-122"/>
                  <a:cs typeface="+mn-cs"/>
                </a:rPr>
                <a:t>外部网关协议 </a:t>
              </a:r>
              <a:r>
                <a:rPr kumimoji="0" lang="en-US"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itchFamily="2" charset="-122"/>
                  <a:cs typeface="+mn-cs"/>
                </a:rPr>
                <a:t>EGP </a:t>
              </a:r>
              <a:endPar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itchFamily="2" charset="-122"/>
                <a:cs typeface="+mn-cs"/>
              </a:endParaRPr>
            </a:p>
          </p:txBody>
        </p:sp>
      </p:grpSp>
      <p:grpSp>
        <p:nvGrpSpPr>
          <p:cNvPr id="274438" name="组合 216148"/>
          <p:cNvGrpSpPr/>
          <p:nvPr/>
        </p:nvGrpSpPr>
        <p:grpSpPr bwMode="auto">
          <a:xfrm>
            <a:off x="4560888" y="3043238"/>
            <a:ext cx="3768725" cy="2274887"/>
            <a:chOff x="3968224" y="1018305"/>
            <a:chExt cx="3480866" cy="1825425"/>
          </a:xfrm>
        </p:grpSpPr>
        <p:sp>
          <p:nvSpPr>
            <p:cNvPr id="274439" name="矩形 216149"/>
            <p:cNvSpPr>
              <a:spLocks noChangeArrowheads="1"/>
            </p:cNvSpPr>
            <p:nvPr/>
          </p:nvSpPr>
          <p:spPr bwMode="auto">
            <a:xfrm>
              <a:off x="3968224" y="1018305"/>
              <a:ext cx="3480866" cy="1825425"/>
            </a:xfrm>
            <a:prstGeom prst="rect">
              <a:avLst/>
            </a:prstGeom>
            <a:solidFill>
              <a:srgbClr val="DEE7D1">
                <a:alpha val="90195"/>
              </a:srgbClr>
            </a:solidFill>
            <a:ln w="25400" algn="ctr">
              <a:solidFill>
                <a:srgbClr val="DEE7D1">
                  <a:alpha val="90195"/>
                </a:srgbClr>
              </a:solidFill>
              <a:miter lim="800000"/>
            </a:ln>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74440" name="文本框 216150"/>
            <p:cNvSpPr txBox="1">
              <a:spLocks noChangeArrowheads="1"/>
            </p:cNvSpPr>
            <p:nvPr/>
          </p:nvSpPr>
          <p:spPr bwMode="auto">
            <a:xfrm>
              <a:off x="3968224" y="1018305"/>
              <a:ext cx="3480866" cy="18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012" tIns="96012" rIns="128016" bIns="144018"/>
            <a:lstStyle>
              <a:lvl1pPr marL="342900" indent="-342900" defTabSz="800100">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171450" indent="-171450" defTabSz="80010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defTabSz="8001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defTabSz="800100">
                <a:spcBef>
                  <a:spcPct val="20000"/>
                </a:spcBef>
                <a:buChar char="–"/>
                <a:defRPr kumimoji="1" sz="2000">
                  <a:solidFill>
                    <a:schemeClr val="tx1"/>
                  </a:solidFill>
                  <a:latin typeface="Times New Roman" panose="02020503050405090304" charset="0"/>
                  <a:ea typeface="宋体" pitchFamily="2" charset="-122"/>
                </a:defRPr>
              </a:lvl4pPr>
              <a:lvl5pPr marL="2057400" indent="-228600" defTabSz="800100">
                <a:spcBef>
                  <a:spcPct val="20000"/>
                </a:spcBef>
                <a:buChar char="»"/>
                <a:defRPr kumimoji="1" sz="2000">
                  <a:solidFill>
                    <a:schemeClr val="tx1"/>
                  </a:solidFill>
                  <a:latin typeface="Times New Roman" panose="02020503050405090304" charset="0"/>
                  <a:ea typeface="宋体" pitchFamily="2" charset="-122"/>
                </a:defRPr>
              </a:lvl5pPr>
              <a:lvl6pPr marL="2514600" indent="-228600" defTabSz="8001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defTabSz="8001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defTabSz="8001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defTabSz="8001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171450" marR="0" lvl="1" indent="-171450" algn="l" defTabSz="800100" rtl="0" eaLnBrk="1" fontAlgn="base" latinLnBrk="0" hangingPunct="1">
                <a:lnSpc>
                  <a:spcPct val="120000"/>
                </a:lnSpc>
                <a:spcBef>
                  <a:spcPts val="600"/>
                </a:spcBef>
                <a:spcAft>
                  <a:spcPts val="500"/>
                </a:spcAft>
                <a:buClrTx/>
                <a:buSzTx/>
                <a:buFontTx/>
                <a:buChar char="•"/>
                <a:defRPr/>
              </a:pPr>
              <a:r>
                <a:rPr kumimoji="0" lang="en-US" altLang="en-US" sz="2000" b="1" i="0" u="none" strike="noStrike" kern="1200" cap="none" spc="0" normalizeH="0" baseline="0" noProof="0">
                  <a:ln>
                    <a:noFill/>
                  </a:ln>
                  <a:solidFill>
                    <a:srgbClr val="000000"/>
                  </a:solidFill>
                  <a:effectLst/>
                  <a:uLnTx/>
                  <a:uFillTx/>
                  <a:latin typeface="Adelle Sans Devanagari" panose="02000503000000020004" pitchFamily="2" charset="-78"/>
                  <a:ea typeface="微软雅黑" panose="020B0503020204020204" pitchFamily="34" charset="-122"/>
                  <a:cs typeface="Adelle Sans Devanagari" panose="02000503000000020004" pitchFamily="2" charset="-78"/>
                </a:rPr>
                <a:t>External Gateway Protocol</a:t>
              </a:r>
              <a:endParaRPr kumimoji="0" lang="zh-CN" altLang="en-US" sz="2000" b="1" i="0" u="none" strike="noStrike" kern="1200" cap="none" spc="0" normalizeH="0" baseline="0" noProof="0">
                <a:ln>
                  <a:noFill/>
                </a:ln>
                <a:solidFill>
                  <a:srgbClr val="000000"/>
                </a:solidFill>
                <a:effectLst/>
                <a:uLnTx/>
                <a:uFillTx/>
                <a:latin typeface="Adelle Sans Devanagari" panose="02000503000000020004" pitchFamily="2" charset="-78"/>
                <a:ea typeface="微软雅黑" panose="020B0503020204020204" pitchFamily="34" charset="-122"/>
                <a:cs typeface="Adelle Sans Devanagari" panose="02000503000000020004" pitchFamily="2" charset="-78"/>
              </a:endParaRPr>
            </a:p>
            <a:p>
              <a:pPr marL="171450" marR="0" lvl="1" indent="-171450" algn="l" defTabSz="800100" rtl="0" eaLnBrk="1" fontAlgn="base" latinLnBrk="0" hangingPunct="1">
                <a:lnSpc>
                  <a:spcPct val="120000"/>
                </a:lnSpc>
                <a:spcBef>
                  <a:spcPts val="600"/>
                </a:spcBef>
                <a:spcAft>
                  <a:spcPts val="500"/>
                </a:spcAft>
                <a:buClrTx/>
                <a:buSzTx/>
                <a:buFontTx/>
                <a:buChar char="•"/>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在不同自治系统之间进行路由选择时使用的协议</a:t>
              </a:r>
            </a:p>
            <a:p>
              <a:pPr marL="171450" marR="0" lvl="1" indent="-171450" algn="l" defTabSz="800100" rtl="0" eaLnBrk="1" fontAlgn="base" latinLnBrk="0" hangingPunct="1">
                <a:lnSpc>
                  <a:spcPct val="120000"/>
                </a:lnSpc>
                <a:spcBef>
                  <a:spcPts val="600"/>
                </a:spcBef>
                <a:spcAft>
                  <a:spcPts val="500"/>
                </a:spcAft>
                <a:buClrTx/>
                <a:buSzTx/>
                <a:buFontTx/>
                <a:buChar char="•"/>
                <a:defRPr/>
              </a:pPr>
              <a:r>
                <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使用最多：</a:t>
              </a:r>
              <a:r>
                <a:rPr kumimoji="0" lang="en-US"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rPr>
                <a:t>BGP-4</a:t>
              </a:r>
              <a:endParaRPr kumimoji="0" lang="zh-CN" altLang="en-US" sz="2000" b="1"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Adelle Sans Devanagari" panose="02000503000000020004" pitchFamily="2" charset="-78"/>
              </a:endParaRPr>
            </a:p>
          </p:txBody>
        </p:sp>
      </p:grpSp>
    </p:spTree>
  </p:cSld>
  <p:clrMapOvr>
    <a:masterClrMapping/>
  </p:clrMapOvr>
  <p:transition spd="slow"/>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1" name="Rectangle 2"/>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大类路由选择协议</a:t>
            </a:r>
          </a:p>
        </p:txBody>
      </p:sp>
      <p:pic>
        <p:nvPicPr>
          <p:cNvPr id="276482" name="Picture 9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圆角矩形 59"/>
          <p:cNvSpPr/>
          <p:nvPr/>
        </p:nvSpPr>
        <p:spPr>
          <a:xfrm>
            <a:off x="513556" y="2217644"/>
            <a:ext cx="8053712" cy="2483145"/>
          </a:xfrm>
          <a:prstGeom prst="roundRect">
            <a:avLst/>
          </a:prstGeom>
          <a:solidFill>
            <a:srgbClr val="C5E5FB"/>
          </a:solidFill>
          <a:ln w="25400" cap="flat" cmpd="sng" algn="ctr">
            <a:noFill/>
            <a:prstDash val="solid"/>
          </a:ln>
          <a:effectLst/>
          <a:scene3d>
            <a:camera prst="orthographicFront">
              <a:rot lat="0" lon="0" rev="0"/>
            </a:camera>
            <a:lightRig rig="contrasting" dir="t">
              <a:rot lat="0" lon="0" rev="7800000"/>
            </a:lightRig>
          </a:scene3d>
          <a:sp3d>
            <a:bevelT w="139700" h="139700"/>
          </a:sp3d>
        </p:spPr>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dirty="0">
              <a:ln>
                <a:noFill/>
              </a:ln>
              <a:solidFill>
                <a:prstClr val="white"/>
              </a:solidFill>
              <a:effectLst/>
              <a:uLnTx/>
              <a:uFillTx/>
              <a:latin typeface="黑体" charset="0"/>
              <a:ea typeface="黑体" charset="0"/>
              <a:cs typeface="+mn-cs"/>
            </a:endParaRPr>
          </a:p>
        </p:txBody>
      </p:sp>
      <p:sp>
        <p:nvSpPr>
          <p:cNvPr id="276486" name="AutoShape 5"/>
          <p:cNvSpPr>
            <a:spLocks noChangeArrowheads="1"/>
          </p:cNvSpPr>
          <p:nvPr/>
        </p:nvSpPr>
        <p:spPr bwMode="auto">
          <a:xfrm>
            <a:off x="2012950" y="1470025"/>
            <a:ext cx="4948238" cy="542925"/>
          </a:xfrm>
          <a:prstGeom prst="roundRect">
            <a:avLst>
              <a:gd name="adj" fmla="val 16667"/>
            </a:avLst>
          </a:prstGeom>
          <a:solidFill>
            <a:srgbClr val="ABEBD7"/>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黑体" charset="0"/>
              <a:ea typeface="黑体" charset="0"/>
              <a:cs typeface="+mn-cs"/>
            </a:endParaRPr>
          </a:p>
        </p:txBody>
      </p:sp>
      <p:sp>
        <p:nvSpPr>
          <p:cNvPr id="276487" name="矩形 61"/>
          <p:cNvSpPr>
            <a:spLocks noChangeArrowheads="1"/>
          </p:cNvSpPr>
          <p:nvPr/>
        </p:nvSpPr>
        <p:spPr bwMode="auto">
          <a:xfrm>
            <a:off x="2068513" y="1535113"/>
            <a:ext cx="48783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0" lang="zh-CN" altLang="en-US" sz="2000" b="1" i="0" u="none" strike="noStrike" kern="1200" cap="none" spc="0" normalizeH="0" baseline="0" noProof="0">
                <a:ln>
                  <a:noFill/>
                </a:ln>
                <a:solidFill>
                  <a:srgbClr val="000000"/>
                </a:solidFill>
                <a:effectLst/>
                <a:uLnTx/>
                <a:uFillTx/>
                <a:latin typeface="黑体" charset="0"/>
                <a:ea typeface="黑体" charset="0"/>
                <a:cs typeface="黑体" charset="0"/>
              </a:rPr>
              <a:t>自治系统和内部网关协议、外部网关协议 </a:t>
            </a:r>
          </a:p>
        </p:txBody>
      </p:sp>
      <p:grpSp>
        <p:nvGrpSpPr>
          <p:cNvPr id="63" name="Group 136"/>
          <p:cNvGrpSpPr/>
          <p:nvPr/>
        </p:nvGrpSpPr>
        <p:grpSpPr bwMode="auto">
          <a:xfrm>
            <a:off x="994556" y="2950830"/>
            <a:ext cx="2192014" cy="1263027"/>
            <a:chOff x="912" y="768"/>
            <a:chExt cx="2400" cy="1584"/>
          </a:xfrm>
          <a:solidFill>
            <a:srgbClr val="009900"/>
          </a:solidFill>
          <a:effectLst/>
        </p:grpSpPr>
        <p:sp>
          <p:nvSpPr>
            <p:cNvPr id="216064" name="Oval 137"/>
            <p:cNvSpPr>
              <a:spLocks noChangeArrowheads="1"/>
            </p:cNvSpPr>
            <p:nvPr/>
          </p:nvSpPr>
          <p:spPr bwMode="auto">
            <a:xfrm>
              <a:off x="1751" y="799"/>
              <a:ext cx="1026" cy="628"/>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65" name="Oval 138"/>
            <p:cNvSpPr>
              <a:spLocks noChangeArrowheads="1"/>
            </p:cNvSpPr>
            <p:nvPr/>
          </p:nvSpPr>
          <p:spPr bwMode="auto">
            <a:xfrm>
              <a:off x="1172" y="972"/>
              <a:ext cx="781" cy="627"/>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67" name="Oval 139"/>
            <p:cNvSpPr>
              <a:spLocks noChangeArrowheads="1"/>
            </p:cNvSpPr>
            <p:nvPr/>
          </p:nvSpPr>
          <p:spPr bwMode="auto">
            <a:xfrm>
              <a:off x="926" y="1364"/>
              <a:ext cx="521" cy="502"/>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68" name="Oval 140"/>
            <p:cNvSpPr>
              <a:spLocks noChangeArrowheads="1"/>
            </p:cNvSpPr>
            <p:nvPr/>
          </p:nvSpPr>
          <p:spPr bwMode="auto">
            <a:xfrm>
              <a:off x="1085" y="1599"/>
              <a:ext cx="796" cy="54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69" name="Oval 141"/>
            <p:cNvSpPr>
              <a:spLocks noChangeArrowheads="1"/>
            </p:cNvSpPr>
            <p:nvPr/>
          </p:nvSpPr>
          <p:spPr bwMode="auto">
            <a:xfrm>
              <a:off x="1664" y="1693"/>
              <a:ext cx="1200" cy="65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70" name="Oval 142"/>
            <p:cNvSpPr>
              <a:spLocks noChangeArrowheads="1"/>
            </p:cNvSpPr>
            <p:nvPr/>
          </p:nvSpPr>
          <p:spPr bwMode="auto">
            <a:xfrm>
              <a:off x="2445" y="988"/>
              <a:ext cx="751"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71" name="Oval 143"/>
            <p:cNvSpPr>
              <a:spLocks noChangeArrowheads="1"/>
            </p:cNvSpPr>
            <p:nvPr/>
          </p:nvSpPr>
          <p:spPr bwMode="auto">
            <a:xfrm>
              <a:off x="2560" y="1317"/>
              <a:ext cx="752"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72" name="Oval 144"/>
            <p:cNvSpPr>
              <a:spLocks noChangeArrowheads="1"/>
            </p:cNvSpPr>
            <p:nvPr/>
          </p:nvSpPr>
          <p:spPr bwMode="auto">
            <a:xfrm>
              <a:off x="2488" y="1427"/>
              <a:ext cx="752" cy="815"/>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73" name="Oval 145"/>
            <p:cNvSpPr>
              <a:spLocks noChangeArrowheads="1"/>
            </p:cNvSpPr>
            <p:nvPr/>
          </p:nvSpPr>
          <p:spPr bwMode="auto">
            <a:xfrm>
              <a:off x="1360" y="1176"/>
              <a:ext cx="1547" cy="815"/>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grpSp>
          <p:nvGrpSpPr>
            <p:cNvPr id="216074" name="Group 146"/>
            <p:cNvGrpSpPr/>
            <p:nvPr/>
          </p:nvGrpSpPr>
          <p:grpSpPr bwMode="auto">
            <a:xfrm>
              <a:off x="912" y="768"/>
              <a:ext cx="2386" cy="1553"/>
              <a:chOff x="912" y="768"/>
              <a:chExt cx="2386" cy="1553"/>
            </a:xfrm>
            <a:grpFill/>
          </p:grpSpPr>
          <p:sp>
            <p:nvSpPr>
              <p:cNvPr id="216075" name="Oval 147"/>
              <p:cNvSpPr>
                <a:spLocks noChangeArrowheads="1"/>
              </p:cNvSpPr>
              <p:nvPr/>
            </p:nvSpPr>
            <p:spPr bwMode="auto">
              <a:xfrm>
                <a:off x="1736" y="768"/>
                <a:ext cx="1027" cy="627"/>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76" name="Oval 148"/>
              <p:cNvSpPr>
                <a:spLocks noChangeArrowheads="1"/>
              </p:cNvSpPr>
              <p:nvPr/>
            </p:nvSpPr>
            <p:spPr bwMode="auto">
              <a:xfrm>
                <a:off x="1158" y="941"/>
                <a:ext cx="781" cy="627"/>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77" name="Oval 149"/>
              <p:cNvSpPr>
                <a:spLocks noChangeArrowheads="1"/>
              </p:cNvSpPr>
              <p:nvPr/>
            </p:nvSpPr>
            <p:spPr bwMode="auto">
              <a:xfrm>
                <a:off x="912" y="1333"/>
                <a:ext cx="520" cy="501"/>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78" name="Oval 150"/>
              <p:cNvSpPr>
                <a:spLocks noChangeArrowheads="1"/>
              </p:cNvSpPr>
              <p:nvPr/>
            </p:nvSpPr>
            <p:spPr bwMode="auto">
              <a:xfrm>
                <a:off x="1071" y="1568"/>
                <a:ext cx="795" cy="54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79" name="Oval 151"/>
              <p:cNvSpPr>
                <a:spLocks noChangeArrowheads="1"/>
              </p:cNvSpPr>
              <p:nvPr/>
            </p:nvSpPr>
            <p:spPr bwMode="auto">
              <a:xfrm>
                <a:off x="1649" y="1662"/>
                <a:ext cx="1200" cy="65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80" name="Oval 152"/>
              <p:cNvSpPr>
                <a:spLocks noChangeArrowheads="1"/>
              </p:cNvSpPr>
              <p:nvPr/>
            </p:nvSpPr>
            <p:spPr bwMode="auto">
              <a:xfrm>
                <a:off x="2430" y="956"/>
                <a:ext cx="752"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81" name="Oval 153"/>
              <p:cNvSpPr>
                <a:spLocks noChangeArrowheads="1"/>
              </p:cNvSpPr>
              <p:nvPr/>
            </p:nvSpPr>
            <p:spPr bwMode="auto">
              <a:xfrm>
                <a:off x="2546" y="1286"/>
                <a:ext cx="752"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82" name="Oval 154"/>
              <p:cNvSpPr>
                <a:spLocks noChangeArrowheads="1"/>
              </p:cNvSpPr>
              <p:nvPr/>
            </p:nvSpPr>
            <p:spPr bwMode="auto">
              <a:xfrm>
                <a:off x="2473" y="1395"/>
                <a:ext cx="752" cy="81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83" name="Oval 155"/>
              <p:cNvSpPr>
                <a:spLocks noChangeArrowheads="1"/>
              </p:cNvSpPr>
              <p:nvPr/>
            </p:nvSpPr>
            <p:spPr bwMode="auto">
              <a:xfrm>
                <a:off x="1346" y="1144"/>
                <a:ext cx="1547" cy="81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grpSp>
      </p:grpSp>
      <p:grpSp>
        <p:nvGrpSpPr>
          <p:cNvPr id="216084" name="Group 156"/>
          <p:cNvGrpSpPr/>
          <p:nvPr/>
        </p:nvGrpSpPr>
        <p:grpSpPr bwMode="auto">
          <a:xfrm>
            <a:off x="5549617" y="2856800"/>
            <a:ext cx="2404550" cy="1453410"/>
            <a:chOff x="912" y="768"/>
            <a:chExt cx="2400" cy="1584"/>
          </a:xfrm>
          <a:solidFill>
            <a:srgbClr val="009900"/>
          </a:solidFill>
          <a:effectLst/>
        </p:grpSpPr>
        <p:sp>
          <p:nvSpPr>
            <p:cNvPr id="216085" name="Oval 157"/>
            <p:cNvSpPr>
              <a:spLocks noChangeArrowheads="1"/>
            </p:cNvSpPr>
            <p:nvPr/>
          </p:nvSpPr>
          <p:spPr bwMode="auto">
            <a:xfrm>
              <a:off x="1751" y="799"/>
              <a:ext cx="1026" cy="628"/>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86" name="Oval 158"/>
            <p:cNvSpPr>
              <a:spLocks noChangeArrowheads="1"/>
            </p:cNvSpPr>
            <p:nvPr/>
          </p:nvSpPr>
          <p:spPr bwMode="auto">
            <a:xfrm>
              <a:off x="1172" y="972"/>
              <a:ext cx="781" cy="627"/>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87" name="Oval 159"/>
            <p:cNvSpPr>
              <a:spLocks noChangeArrowheads="1"/>
            </p:cNvSpPr>
            <p:nvPr/>
          </p:nvSpPr>
          <p:spPr bwMode="auto">
            <a:xfrm>
              <a:off x="926" y="1364"/>
              <a:ext cx="521" cy="502"/>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88" name="Oval 160"/>
            <p:cNvSpPr>
              <a:spLocks noChangeArrowheads="1"/>
            </p:cNvSpPr>
            <p:nvPr/>
          </p:nvSpPr>
          <p:spPr bwMode="auto">
            <a:xfrm>
              <a:off x="1085" y="1599"/>
              <a:ext cx="796" cy="54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89" name="Oval 161"/>
            <p:cNvSpPr>
              <a:spLocks noChangeArrowheads="1"/>
            </p:cNvSpPr>
            <p:nvPr/>
          </p:nvSpPr>
          <p:spPr bwMode="auto">
            <a:xfrm>
              <a:off x="1664" y="1693"/>
              <a:ext cx="1200" cy="65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90" name="Oval 162"/>
            <p:cNvSpPr>
              <a:spLocks noChangeArrowheads="1"/>
            </p:cNvSpPr>
            <p:nvPr/>
          </p:nvSpPr>
          <p:spPr bwMode="auto">
            <a:xfrm>
              <a:off x="2445" y="988"/>
              <a:ext cx="751"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91" name="Oval 163"/>
            <p:cNvSpPr>
              <a:spLocks noChangeArrowheads="1"/>
            </p:cNvSpPr>
            <p:nvPr/>
          </p:nvSpPr>
          <p:spPr bwMode="auto">
            <a:xfrm>
              <a:off x="2560" y="1317"/>
              <a:ext cx="752"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92" name="Oval 164"/>
            <p:cNvSpPr>
              <a:spLocks noChangeArrowheads="1"/>
            </p:cNvSpPr>
            <p:nvPr/>
          </p:nvSpPr>
          <p:spPr bwMode="auto">
            <a:xfrm>
              <a:off x="2488" y="1427"/>
              <a:ext cx="752" cy="815"/>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93" name="Oval 165"/>
            <p:cNvSpPr>
              <a:spLocks noChangeArrowheads="1"/>
            </p:cNvSpPr>
            <p:nvPr/>
          </p:nvSpPr>
          <p:spPr bwMode="auto">
            <a:xfrm>
              <a:off x="1360" y="1176"/>
              <a:ext cx="1547" cy="815"/>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grpSp>
          <p:nvGrpSpPr>
            <p:cNvPr id="216094" name="Group 166"/>
            <p:cNvGrpSpPr/>
            <p:nvPr/>
          </p:nvGrpSpPr>
          <p:grpSpPr bwMode="auto">
            <a:xfrm>
              <a:off x="912" y="768"/>
              <a:ext cx="2386" cy="1553"/>
              <a:chOff x="912" y="768"/>
              <a:chExt cx="2386" cy="1553"/>
            </a:xfrm>
            <a:grpFill/>
          </p:grpSpPr>
          <p:sp>
            <p:nvSpPr>
              <p:cNvPr id="216095" name="Oval 167"/>
              <p:cNvSpPr>
                <a:spLocks noChangeArrowheads="1"/>
              </p:cNvSpPr>
              <p:nvPr/>
            </p:nvSpPr>
            <p:spPr bwMode="auto">
              <a:xfrm>
                <a:off x="1736" y="768"/>
                <a:ext cx="1027" cy="627"/>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96" name="Oval 168"/>
              <p:cNvSpPr>
                <a:spLocks noChangeArrowheads="1"/>
              </p:cNvSpPr>
              <p:nvPr/>
            </p:nvSpPr>
            <p:spPr bwMode="auto">
              <a:xfrm>
                <a:off x="1158" y="941"/>
                <a:ext cx="781" cy="627"/>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97" name="Oval 169"/>
              <p:cNvSpPr>
                <a:spLocks noChangeArrowheads="1"/>
              </p:cNvSpPr>
              <p:nvPr/>
            </p:nvSpPr>
            <p:spPr bwMode="auto">
              <a:xfrm>
                <a:off x="912" y="1333"/>
                <a:ext cx="520" cy="501"/>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98" name="Oval 170"/>
              <p:cNvSpPr>
                <a:spLocks noChangeArrowheads="1"/>
              </p:cNvSpPr>
              <p:nvPr/>
            </p:nvSpPr>
            <p:spPr bwMode="auto">
              <a:xfrm>
                <a:off x="1071" y="1568"/>
                <a:ext cx="795" cy="54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099" name="Oval 171"/>
              <p:cNvSpPr>
                <a:spLocks noChangeArrowheads="1"/>
              </p:cNvSpPr>
              <p:nvPr/>
            </p:nvSpPr>
            <p:spPr bwMode="auto">
              <a:xfrm>
                <a:off x="1649" y="1662"/>
                <a:ext cx="1200" cy="659"/>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100" name="Oval 172"/>
              <p:cNvSpPr>
                <a:spLocks noChangeArrowheads="1"/>
              </p:cNvSpPr>
              <p:nvPr/>
            </p:nvSpPr>
            <p:spPr bwMode="auto">
              <a:xfrm>
                <a:off x="2430" y="956"/>
                <a:ext cx="752"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101" name="Oval 173"/>
              <p:cNvSpPr>
                <a:spLocks noChangeArrowheads="1"/>
              </p:cNvSpPr>
              <p:nvPr/>
            </p:nvSpPr>
            <p:spPr bwMode="auto">
              <a:xfrm>
                <a:off x="2546" y="1286"/>
                <a:ext cx="752" cy="48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102" name="Oval 174"/>
              <p:cNvSpPr>
                <a:spLocks noChangeArrowheads="1"/>
              </p:cNvSpPr>
              <p:nvPr/>
            </p:nvSpPr>
            <p:spPr bwMode="auto">
              <a:xfrm>
                <a:off x="2473" y="1395"/>
                <a:ext cx="752" cy="81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sp>
            <p:nvSpPr>
              <p:cNvPr id="216103" name="Oval 175"/>
              <p:cNvSpPr>
                <a:spLocks noChangeArrowheads="1"/>
              </p:cNvSpPr>
              <p:nvPr/>
            </p:nvSpPr>
            <p:spPr bwMode="auto">
              <a:xfrm>
                <a:off x="1346" y="1144"/>
                <a:ext cx="1547" cy="816"/>
              </a:xfrm>
              <a:prstGeom prst="ellipse">
                <a:avLst/>
              </a:prstGeom>
              <a:grp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400" b="1" i="0" u="none" strike="noStrike" kern="1200" cap="none" spc="0" normalizeH="0" baseline="0" noProof="0">
                  <a:ln>
                    <a:noFill/>
                  </a:ln>
                  <a:solidFill>
                    <a:srgbClr val="0000CC"/>
                  </a:solidFill>
                  <a:effectLst/>
                  <a:uLnTx/>
                  <a:uFillTx/>
                  <a:latin typeface="黑体" charset="0"/>
                  <a:ea typeface="黑体" charset="0"/>
                  <a:cs typeface="+mn-cs"/>
                </a:endParaRPr>
              </a:p>
            </p:txBody>
          </p:sp>
        </p:grpSp>
      </p:grpSp>
      <p:sp>
        <p:nvSpPr>
          <p:cNvPr id="276490" name="Text Box 176"/>
          <p:cNvSpPr txBox="1">
            <a:spLocks noChangeArrowheads="1"/>
          </p:cNvSpPr>
          <p:nvPr/>
        </p:nvSpPr>
        <p:spPr bwMode="auto">
          <a:xfrm>
            <a:off x="1341438" y="3355975"/>
            <a:ext cx="1493837" cy="5238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1400" b="1" i="0" u="none" strike="noStrike" kern="1200" cap="none" spc="0" normalizeH="0" baseline="0" noProof="0">
                <a:ln>
                  <a:noFill/>
                </a:ln>
                <a:solidFill>
                  <a:srgbClr val="FFFFFF"/>
                </a:solidFill>
                <a:effectLst/>
                <a:uLnTx/>
                <a:uFillTx/>
                <a:latin typeface="黑体" charset="0"/>
                <a:ea typeface="黑体" charset="0"/>
                <a:cs typeface="黑体" charset="0"/>
              </a:rPr>
              <a:t> </a:t>
            </a:r>
            <a:r>
              <a:rPr kumimoji="1" lang="zh-CN" altLang="en-US" sz="1400" b="1" i="0" u="none" strike="noStrike" kern="1200" cap="none" spc="0" normalizeH="0" baseline="0" noProof="0">
                <a:ln>
                  <a:noFill/>
                </a:ln>
                <a:solidFill>
                  <a:srgbClr val="FFFFFF"/>
                </a:solidFill>
                <a:effectLst/>
                <a:uLnTx/>
                <a:uFillTx/>
                <a:latin typeface="黑体" charset="0"/>
                <a:ea typeface="黑体" charset="0"/>
                <a:cs typeface="黑体" charset="0"/>
              </a:rPr>
              <a:t>用内部网关协议</a:t>
            </a:r>
          </a:p>
          <a:p>
            <a:pPr marL="0" marR="0" lvl="0" indent="0" algn="ctr" defTabSz="914400" rtl="0" eaLnBrk="1" fontAlgn="base" latinLnBrk="0" hangingPunct="1">
              <a:lnSpc>
                <a:spcPct val="100000"/>
              </a:lnSpc>
              <a:spcBef>
                <a:spcPct val="0"/>
              </a:spcBef>
              <a:spcAft>
                <a:spcPct val="0"/>
              </a:spcAft>
              <a:buClrTx/>
              <a:buSzTx/>
              <a:buFontTx/>
              <a:buNone/>
              <a:defRPr/>
            </a:pPr>
            <a:r>
              <a:rPr kumimoji="1" lang="zh-CN" altLang="en-US" sz="1400" b="1" i="0" u="none" strike="noStrike" kern="1200" cap="none" spc="0" normalizeH="0" baseline="0" noProof="0">
                <a:ln>
                  <a:noFill/>
                </a:ln>
                <a:solidFill>
                  <a:srgbClr val="FFFFFF"/>
                </a:solidFill>
                <a:effectLst/>
                <a:uLnTx/>
                <a:uFillTx/>
                <a:latin typeface="黑体" charset="0"/>
                <a:ea typeface="黑体" charset="0"/>
                <a:cs typeface="黑体" charset="0"/>
              </a:rPr>
              <a:t>（例如，</a:t>
            </a:r>
            <a:r>
              <a:rPr kumimoji="1" lang="en-US" altLang="zh-CN" sz="1400" b="1" i="0" u="none" strike="noStrike" kern="1200" cap="none" spc="0" normalizeH="0" baseline="0" noProof="0">
                <a:ln>
                  <a:noFill/>
                </a:ln>
                <a:solidFill>
                  <a:srgbClr val="FFFFFF"/>
                </a:solidFill>
                <a:effectLst/>
                <a:uLnTx/>
                <a:uFillTx/>
                <a:latin typeface="黑体" charset="0"/>
                <a:ea typeface="黑体" charset="0"/>
                <a:cs typeface="黑体" charset="0"/>
              </a:rPr>
              <a:t>RIP</a:t>
            </a:r>
            <a:r>
              <a:rPr kumimoji="1" lang="zh-CN" altLang="en-US" sz="1400" b="1" i="0" u="none" strike="noStrike" kern="1200" cap="none" spc="0" normalizeH="0" baseline="0" noProof="0">
                <a:ln>
                  <a:noFill/>
                </a:ln>
                <a:solidFill>
                  <a:srgbClr val="FFFFFF"/>
                </a:solidFill>
                <a:effectLst/>
                <a:uLnTx/>
                <a:uFillTx/>
                <a:latin typeface="黑体" charset="0"/>
                <a:ea typeface="黑体" charset="0"/>
                <a:cs typeface="黑体" charset="0"/>
              </a:rPr>
              <a:t>）</a:t>
            </a:r>
          </a:p>
        </p:txBody>
      </p:sp>
      <p:sp>
        <p:nvSpPr>
          <p:cNvPr id="276491" name="Text Box 177"/>
          <p:cNvSpPr txBox="1">
            <a:spLocks noChangeArrowheads="1"/>
          </p:cNvSpPr>
          <p:nvPr/>
        </p:nvSpPr>
        <p:spPr bwMode="auto">
          <a:xfrm>
            <a:off x="6261100" y="2557463"/>
            <a:ext cx="107950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zh-CN" altLang="en-US" sz="1400" b="1" i="0" u="none" strike="noStrike" kern="1200" cap="none" spc="0" normalizeH="0" baseline="0" noProof="0">
                <a:ln>
                  <a:noFill/>
                </a:ln>
                <a:solidFill>
                  <a:srgbClr val="CC00CC"/>
                </a:solidFill>
                <a:effectLst/>
                <a:uLnTx/>
                <a:uFillTx/>
                <a:latin typeface="黑体" charset="0"/>
                <a:ea typeface="黑体" charset="0"/>
                <a:cs typeface="黑体" charset="0"/>
              </a:rPr>
              <a:t>自治系统 </a:t>
            </a:r>
            <a:r>
              <a:rPr kumimoji="1" lang="en-US" altLang="zh-CN" sz="1400" b="1" i="0" u="none" strike="noStrike" kern="1200" cap="none" spc="0" normalizeH="0" baseline="0" noProof="0">
                <a:ln>
                  <a:noFill/>
                </a:ln>
                <a:solidFill>
                  <a:srgbClr val="CC00CC"/>
                </a:solidFill>
                <a:effectLst/>
                <a:uLnTx/>
                <a:uFillTx/>
                <a:latin typeface="黑体" charset="0"/>
                <a:ea typeface="黑体" charset="0"/>
                <a:cs typeface="黑体" charset="0"/>
              </a:rPr>
              <a:t>B</a:t>
            </a:r>
          </a:p>
        </p:txBody>
      </p:sp>
      <p:sp>
        <p:nvSpPr>
          <p:cNvPr id="276492" name="Text Box 178"/>
          <p:cNvSpPr txBox="1">
            <a:spLocks noChangeArrowheads="1"/>
          </p:cNvSpPr>
          <p:nvPr/>
        </p:nvSpPr>
        <p:spPr bwMode="auto">
          <a:xfrm>
            <a:off x="1522413" y="2651125"/>
            <a:ext cx="10890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zh-CN" altLang="en-US" sz="1400" b="1" i="0" u="none" strike="noStrike" kern="1200" cap="none" spc="0" normalizeH="0" baseline="0" noProof="0">
                <a:ln>
                  <a:noFill/>
                </a:ln>
                <a:solidFill>
                  <a:srgbClr val="CC00CC"/>
                </a:solidFill>
                <a:effectLst/>
                <a:uLnTx/>
                <a:uFillTx/>
                <a:latin typeface="黑体" charset="0"/>
                <a:ea typeface="黑体" charset="0"/>
                <a:cs typeface="黑体" charset="0"/>
              </a:rPr>
              <a:t>自治系统 </a:t>
            </a:r>
            <a:r>
              <a:rPr kumimoji="1" lang="en-US" altLang="zh-CN" sz="1400" b="1" i="0" u="none" strike="noStrike" kern="1200" cap="none" spc="0" normalizeH="0" baseline="0" noProof="0">
                <a:ln>
                  <a:noFill/>
                </a:ln>
                <a:solidFill>
                  <a:srgbClr val="CC00CC"/>
                </a:solidFill>
                <a:effectLst/>
                <a:uLnTx/>
                <a:uFillTx/>
                <a:latin typeface="黑体" charset="0"/>
                <a:ea typeface="黑体" charset="0"/>
                <a:cs typeface="黑体" charset="0"/>
              </a:rPr>
              <a:t>A</a:t>
            </a:r>
          </a:p>
        </p:txBody>
      </p:sp>
      <p:pic>
        <p:nvPicPr>
          <p:cNvPr id="276493" name="Picture 179"/>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73388" y="3241675"/>
            <a:ext cx="523875" cy="328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276494" name="Picture 180"/>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7175" y="3241675"/>
            <a:ext cx="522288" cy="330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76495" name="Text Box 181"/>
          <p:cNvSpPr txBox="1">
            <a:spLocks noChangeArrowheads="1"/>
          </p:cNvSpPr>
          <p:nvPr/>
        </p:nvSpPr>
        <p:spPr bwMode="auto">
          <a:xfrm>
            <a:off x="3702050" y="2932113"/>
            <a:ext cx="1439863" cy="46196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zh-CN" altLang="en-US" sz="1200" b="1" i="0" u="none" strike="noStrike" kern="1200" cap="none" spc="0" normalizeH="0" baseline="0" noProof="0">
                <a:ln>
                  <a:noFill/>
                </a:ln>
                <a:solidFill>
                  <a:srgbClr val="000000"/>
                </a:solidFill>
                <a:effectLst/>
                <a:uLnTx/>
                <a:uFillTx/>
                <a:latin typeface="黑体" charset="0"/>
                <a:ea typeface="黑体" charset="0"/>
                <a:cs typeface="黑体" charset="0"/>
              </a:rPr>
              <a:t>用外部网关协议</a:t>
            </a:r>
          </a:p>
          <a:p>
            <a:pPr marL="0" marR="0" lvl="0" indent="0" algn="ctr" defTabSz="914400" rtl="0" eaLnBrk="1" fontAlgn="base" latinLnBrk="0" hangingPunct="1">
              <a:lnSpc>
                <a:spcPct val="100000"/>
              </a:lnSpc>
              <a:spcBef>
                <a:spcPct val="0"/>
              </a:spcBef>
              <a:spcAft>
                <a:spcPct val="0"/>
              </a:spcAft>
              <a:buClrTx/>
              <a:buSzTx/>
              <a:buFontTx/>
              <a:buNone/>
              <a:defRPr/>
            </a:pPr>
            <a:r>
              <a:rPr kumimoji="1" lang="zh-CN" altLang="en-US" sz="1200" b="1" i="0" u="none" strike="noStrike" kern="1200" cap="none" spc="0" normalizeH="0" baseline="0" noProof="0">
                <a:ln>
                  <a:noFill/>
                </a:ln>
                <a:solidFill>
                  <a:srgbClr val="000000"/>
                </a:solidFill>
                <a:effectLst/>
                <a:uLnTx/>
                <a:uFillTx/>
                <a:latin typeface="黑体" charset="0"/>
                <a:ea typeface="黑体" charset="0"/>
                <a:cs typeface="黑体" charset="0"/>
              </a:rPr>
              <a:t>（例如，</a:t>
            </a:r>
            <a:r>
              <a:rPr kumimoji="1" lang="en-US" altLang="zh-CN" sz="1200" b="1" i="0" u="none" strike="noStrike" kern="1200" cap="none" spc="0" normalizeH="0" baseline="0" noProof="0">
                <a:ln>
                  <a:noFill/>
                </a:ln>
                <a:solidFill>
                  <a:srgbClr val="000000"/>
                </a:solidFill>
                <a:effectLst/>
                <a:uLnTx/>
                <a:uFillTx/>
                <a:latin typeface="黑体" charset="0"/>
                <a:ea typeface="黑体" charset="0"/>
                <a:cs typeface="黑体" charset="0"/>
              </a:rPr>
              <a:t>BGP-4</a:t>
            </a:r>
            <a:r>
              <a:rPr kumimoji="1" lang="zh-CN" altLang="en-US" sz="1200" b="1" i="0" u="none" strike="noStrike" kern="1200" cap="none" spc="0" normalizeH="0" baseline="0" noProof="0">
                <a:ln>
                  <a:noFill/>
                </a:ln>
                <a:solidFill>
                  <a:srgbClr val="000000"/>
                </a:solidFill>
                <a:effectLst/>
                <a:uLnTx/>
                <a:uFillTx/>
                <a:latin typeface="黑体" charset="0"/>
                <a:ea typeface="黑体" charset="0"/>
                <a:cs typeface="黑体" charset="0"/>
              </a:rPr>
              <a:t>）</a:t>
            </a:r>
          </a:p>
        </p:txBody>
      </p:sp>
      <p:sp>
        <p:nvSpPr>
          <p:cNvPr id="276496" name="Text Box 182"/>
          <p:cNvSpPr txBox="1">
            <a:spLocks noChangeArrowheads="1"/>
          </p:cNvSpPr>
          <p:nvPr/>
        </p:nvSpPr>
        <p:spPr bwMode="auto">
          <a:xfrm>
            <a:off x="3009900" y="2946400"/>
            <a:ext cx="3825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1400" b="1" i="0" u="none" strike="noStrike" kern="1200" cap="none" spc="0" normalizeH="0" baseline="0" noProof="0">
                <a:ln>
                  <a:noFill/>
                </a:ln>
                <a:solidFill>
                  <a:srgbClr val="0000CC"/>
                </a:solidFill>
                <a:effectLst/>
                <a:uLnTx/>
                <a:uFillTx/>
                <a:latin typeface="黑体" charset="0"/>
                <a:ea typeface="黑体" charset="0"/>
                <a:cs typeface="+mn-cs"/>
              </a:rPr>
              <a:t>R</a:t>
            </a:r>
            <a:r>
              <a:rPr kumimoji="1" lang="en-US" altLang="zh-CN" sz="1400" b="1" i="0" u="none" strike="noStrike" kern="1200" cap="none" spc="0" normalizeH="0" baseline="-25000" noProof="0">
                <a:ln>
                  <a:noFill/>
                </a:ln>
                <a:solidFill>
                  <a:srgbClr val="0000CC"/>
                </a:solidFill>
                <a:effectLst/>
                <a:uLnTx/>
                <a:uFillTx/>
                <a:latin typeface="黑体" charset="0"/>
                <a:ea typeface="黑体" charset="0"/>
                <a:cs typeface="+mn-cs"/>
              </a:rPr>
              <a:t>1</a:t>
            </a:r>
          </a:p>
        </p:txBody>
      </p:sp>
      <p:sp>
        <p:nvSpPr>
          <p:cNvPr id="276497" name="Text Box 183"/>
          <p:cNvSpPr txBox="1">
            <a:spLocks noChangeArrowheads="1"/>
          </p:cNvSpPr>
          <p:nvPr/>
        </p:nvSpPr>
        <p:spPr bwMode="auto">
          <a:xfrm>
            <a:off x="5486400" y="2965450"/>
            <a:ext cx="3841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1" lang="en-US" altLang="zh-CN" sz="1400" b="1" i="0" u="none" strike="noStrike" kern="1200" cap="none" spc="0" normalizeH="0" baseline="0" noProof="0">
                <a:ln>
                  <a:noFill/>
                </a:ln>
                <a:solidFill>
                  <a:srgbClr val="0000CC"/>
                </a:solidFill>
                <a:effectLst/>
                <a:uLnTx/>
                <a:uFillTx/>
                <a:latin typeface="黑体" charset="0"/>
                <a:ea typeface="黑体" charset="0"/>
                <a:cs typeface="+mn-cs"/>
              </a:rPr>
              <a:t>R</a:t>
            </a:r>
            <a:r>
              <a:rPr kumimoji="1" lang="en-US" altLang="zh-CN" sz="1400" b="1" i="0" u="none" strike="noStrike" kern="1200" cap="none" spc="0" normalizeH="0" baseline="-25000" noProof="0">
                <a:ln>
                  <a:noFill/>
                </a:ln>
                <a:solidFill>
                  <a:srgbClr val="0000CC"/>
                </a:solidFill>
                <a:effectLst/>
                <a:uLnTx/>
                <a:uFillTx/>
                <a:latin typeface="黑体" charset="0"/>
                <a:ea typeface="黑体" charset="0"/>
                <a:cs typeface="+mn-cs"/>
              </a:rPr>
              <a:t>2</a:t>
            </a:r>
          </a:p>
        </p:txBody>
      </p:sp>
      <p:sp>
        <p:nvSpPr>
          <p:cNvPr id="276498" name="Text Box 184"/>
          <p:cNvSpPr txBox="1">
            <a:spLocks noChangeArrowheads="1"/>
          </p:cNvSpPr>
          <p:nvPr/>
        </p:nvSpPr>
        <p:spPr bwMode="auto">
          <a:xfrm>
            <a:off x="6080125" y="3346450"/>
            <a:ext cx="1557338" cy="5238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defRPr/>
            </a:pPr>
            <a:r>
              <a:rPr kumimoji="1" lang="en-US" altLang="zh-CN" sz="1400" b="1" i="0" u="none" strike="noStrike" kern="1200" cap="none" spc="0" normalizeH="0" baseline="0" noProof="0">
                <a:ln>
                  <a:noFill/>
                </a:ln>
                <a:solidFill>
                  <a:srgbClr val="FFFFFF"/>
                </a:solidFill>
                <a:effectLst/>
                <a:uLnTx/>
                <a:uFillTx/>
                <a:latin typeface="黑体" charset="0"/>
                <a:ea typeface="黑体" charset="0"/>
                <a:cs typeface="黑体" charset="0"/>
              </a:rPr>
              <a:t> </a:t>
            </a:r>
            <a:r>
              <a:rPr kumimoji="1" lang="zh-CN" altLang="en-US" sz="1400" b="1" i="0" u="none" strike="noStrike" kern="1200" cap="none" spc="0" normalizeH="0" baseline="0" noProof="0">
                <a:ln>
                  <a:noFill/>
                </a:ln>
                <a:solidFill>
                  <a:srgbClr val="FFFFFF"/>
                </a:solidFill>
                <a:effectLst/>
                <a:uLnTx/>
                <a:uFillTx/>
                <a:latin typeface="黑体" charset="0"/>
                <a:ea typeface="黑体" charset="0"/>
                <a:cs typeface="黑体" charset="0"/>
              </a:rPr>
              <a:t>用内部网关协议</a:t>
            </a:r>
          </a:p>
          <a:p>
            <a:pPr marL="0" marR="0" lvl="0" indent="0" algn="ctr" defTabSz="914400" rtl="0" eaLnBrk="1" fontAlgn="base" latinLnBrk="0" hangingPunct="1">
              <a:lnSpc>
                <a:spcPct val="100000"/>
              </a:lnSpc>
              <a:spcBef>
                <a:spcPct val="0"/>
              </a:spcBef>
              <a:spcAft>
                <a:spcPct val="0"/>
              </a:spcAft>
              <a:buClrTx/>
              <a:buSzTx/>
              <a:buFontTx/>
              <a:buNone/>
              <a:defRPr/>
            </a:pPr>
            <a:r>
              <a:rPr kumimoji="1" lang="zh-CN" altLang="en-US" sz="1400" b="1" i="0" u="none" strike="noStrike" kern="1200" cap="none" spc="0" normalizeH="0" baseline="0" noProof="0">
                <a:ln>
                  <a:noFill/>
                </a:ln>
                <a:solidFill>
                  <a:srgbClr val="FFFFFF"/>
                </a:solidFill>
                <a:effectLst/>
                <a:uLnTx/>
                <a:uFillTx/>
                <a:latin typeface="黑体" charset="0"/>
                <a:ea typeface="黑体" charset="0"/>
                <a:cs typeface="黑体" charset="0"/>
              </a:rPr>
              <a:t>（例如，</a:t>
            </a:r>
            <a:r>
              <a:rPr kumimoji="1" lang="en-US" altLang="zh-CN" sz="1400" b="1" i="0" u="none" strike="noStrike" kern="1200" cap="none" spc="0" normalizeH="0" baseline="0" noProof="0">
                <a:ln>
                  <a:noFill/>
                </a:ln>
                <a:solidFill>
                  <a:srgbClr val="FFFFFF"/>
                </a:solidFill>
                <a:effectLst/>
                <a:uLnTx/>
                <a:uFillTx/>
                <a:latin typeface="黑体" charset="0"/>
                <a:ea typeface="黑体" charset="0"/>
                <a:cs typeface="黑体" charset="0"/>
              </a:rPr>
              <a:t>OSPF</a:t>
            </a:r>
            <a:r>
              <a:rPr kumimoji="1" lang="zh-CN" altLang="en-US" sz="1400" b="1" i="0" u="none" strike="noStrike" kern="1200" cap="none" spc="0" normalizeH="0" baseline="0" noProof="0">
                <a:ln>
                  <a:noFill/>
                </a:ln>
                <a:solidFill>
                  <a:srgbClr val="FFFFFF"/>
                </a:solidFill>
                <a:effectLst/>
                <a:uLnTx/>
                <a:uFillTx/>
                <a:latin typeface="黑体" charset="0"/>
                <a:ea typeface="黑体" charset="0"/>
                <a:cs typeface="黑体" charset="0"/>
              </a:rPr>
              <a:t>）</a:t>
            </a:r>
          </a:p>
        </p:txBody>
      </p:sp>
      <p:sp>
        <p:nvSpPr>
          <p:cNvPr id="276499" name="Line 185"/>
          <p:cNvSpPr>
            <a:spLocks noChangeShapeType="1"/>
          </p:cNvSpPr>
          <p:nvPr/>
        </p:nvSpPr>
        <p:spPr bwMode="auto">
          <a:xfrm>
            <a:off x="3462338" y="3411538"/>
            <a:ext cx="1925637" cy="3175"/>
          </a:xfrm>
          <a:prstGeom prst="line">
            <a:avLst/>
          </a:prstGeom>
          <a:noFill/>
          <a:ln w="571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mn-cs"/>
            </a:endParaRPr>
          </a:p>
        </p:txBody>
      </p:sp>
      <p:sp>
        <p:nvSpPr>
          <p:cNvPr id="216114" name="矩形 216113"/>
          <p:cNvSpPr/>
          <p:nvPr/>
        </p:nvSpPr>
        <p:spPr>
          <a:xfrm>
            <a:off x="847725" y="5232400"/>
            <a:ext cx="7448550" cy="755650"/>
          </a:xfrm>
          <a:prstGeom prst="rect">
            <a:avLst/>
          </a:prstGeom>
          <a:solidFill>
            <a:schemeClr val="bg2">
              <a:lumMod val="20000"/>
              <a:lumOff val="80000"/>
            </a:schemeClr>
          </a:solidFill>
          <a:ln>
            <a:solidFill>
              <a:srgbClr val="000099"/>
            </a:solidFill>
          </a:ln>
        </p:spPr>
        <p:txBody>
          <a:bodyPr>
            <a:spAutoFit/>
          </a:bodyPr>
          <a:lstStyle>
            <a:lvl1pPr>
              <a:defRPr>
                <a:solidFill>
                  <a:schemeClr val="tx1"/>
                </a:solidFill>
                <a:latin typeface="Comic Sans MS" panose="030F0902030302020204" pitchFamily="66" charset="0"/>
                <a:ea typeface="宋体" pitchFamily="2" charset="-122"/>
              </a:defRPr>
            </a:lvl1pPr>
            <a:lvl2pPr marL="742950" indent="-285750">
              <a:defRPr>
                <a:solidFill>
                  <a:schemeClr val="tx1"/>
                </a:solidFill>
                <a:latin typeface="Comic Sans MS" panose="030F0902030302020204" pitchFamily="66" charset="0"/>
                <a:ea typeface="宋体" pitchFamily="2" charset="-122"/>
              </a:defRPr>
            </a:lvl2pPr>
            <a:lvl3pPr marL="1143000" indent="-228600">
              <a:defRPr>
                <a:solidFill>
                  <a:schemeClr val="tx1"/>
                </a:solidFill>
                <a:latin typeface="Comic Sans MS" panose="030F0902030302020204" pitchFamily="66" charset="0"/>
                <a:ea typeface="宋体" pitchFamily="2" charset="-122"/>
              </a:defRPr>
            </a:lvl3pPr>
            <a:lvl4pPr marL="1600200" indent="-228600">
              <a:defRPr>
                <a:solidFill>
                  <a:schemeClr val="tx1"/>
                </a:solidFill>
                <a:latin typeface="Comic Sans MS" panose="030F0902030302020204" pitchFamily="66" charset="0"/>
                <a:ea typeface="宋体" pitchFamily="2" charset="-122"/>
              </a:defRPr>
            </a:lvl4pPr>
            <a:lvl5pPr marL="2057400" indent="-228600">
              <a:defRPr>
                <a:solidFill>
                  <a:schemeClr val="tx1"/>
                </a:solidFill>
                <a:latin typeface="Comic Sans MS" panose="030F0902030302020204" pitchFamily="66" charset="0"/>
                <a:ea typeface="宋体"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l" defTabSz="914400" rtl="0" eaLnBrk="1" fontAlgn="base" latinLnBrk="0" hangingPunct="1">
              <a:lnSpc>
                <a:spcPct val="120000"/>
              </a:lnSpc>
              <a:spcBef>
                <a:spcPct val="0"/>
              </a:spcBef>
              <a:spcAft>
                <a:spcPct val="0"/>
              </a:spcAft>
              <a:buClrTx/>
              <a:buSzTx/>
              <a:buFontTx/>
              <a:buNone/>
              <a:defRPr/>
            </a:pPr>
            <a:r>
              <a:rPr kumimoji="0" lang="zh-CN" altLang="en-US" sz="1800" b="1" i="0" u="none" strike="noStrike" kern="1200" cap="none" spc="0" normalizeH="0" baseline="0" noProof="0">
                <a:ln>
                  <a:noFill/>
                </a:ln>
                <a:solidFill>
                  <a:srgbClr val="000000"/>
                </a:solidFill>
                <a:effectLst/>
                <a:uLnTx/>
                <a:uFillTx/>
                <a:latin typeface="黑体" charset="0"/>
                <a:ea typeface="黑体" charset="0"/>
                <a:cs typeface="黑体" charset="0"/>
              </a:rPr>
              <a:t>自治系统之间的路由选择也叫做</a:t>
            </a:r>
            <a:r>
              <a:rPr kumimoji="0" lang="zh-CN" altLang="en-US" sz="1800" b="1" i="0" u="none" strike="noStrike" kern="1200" cap="none" spc="0" normalizeH="0" baseline="0" noProof="0">
                <a:ln>
                  <a:noFill/>
                </a:ln>
                <a:solidFill>
                  <a:srgbClr val="C00000"/>
                </a:solidFill>
                <a:effectLst/>
                <a:uLnTx/>
                <a:uFillTx/>
                <a:latin typeface="黑体" charset="0"/>
                <a:ea typeface="黑体" charset="0"/>
                <a:cs typeface="黑体" charset="0"/>
              </a:rPr>
              <a:t>域间路由选择 </a:t>
            </a:r>
            <a:r>
              <a:rPr kumimoji="0" lang="en-US" altLang="zh-CN" sz="1800" b="1" i="0" u="none" strike="noStrike" kern="1200" cap="none" spc="0" normalizeH="0" baseline="0" noProof="0">
                <a:ln>
                  <a:noFill/>
                </a:ln>
                <a:solidFill>
                  <a:srgbClr val="000000"/>
                </a:solidFill>
                <a:effectLst/>
                <a:uLnTx/>
                <a:uFillTx/>
                <a:latin typeface="黑体" charset="0"/>
                <a:ea typeface="黑体" charset="0"/>
                <a:cs typeface="黑体" charset="0"/>
              </a:rPr>
              <a:t>(interdomain routing)</a:t>
            </a:r>
            <a:r>
              <a:rPr kumimoji="0" lang="zh-CN" altLang="en-US" sz="1800" b="1" i="0" u="none" strike="noStrike" kern="1200" cap="none" spc="0" normalizeH="0" baseline="0" noProof="0">
                <a:ln>
                  <a:noFill/>
                </a:ln>
                <a:solidFill>
                  <a:srgbClr val="000000"/>
                </a:solidFill>
                <a:effectLst/>
                <a:uLnTx/>
                <a:uFillTx/>
                <a:latin typeface="黑体" charset="0"/>
                <a:ea typeface="黑体" charset="0"/>
                <a:cs typeface="黑体" charset="0"/>
              </a:rPr>
              <a:t>。</a:t>
            </a:r>
            <a:endParaRPr kumimoji="0" lang="en-US" altLang="zh-CN" sz="1800" b="1" i="0" u="none" strike="noStrike" kern="1200" cap="none" spc="0" normalizeH="0" baseline="0" noProof="0">
              <a:ln>
                <a:noFill/>
              </a:ln>
              <a:solidFill>
                <a:srgbClr val="000000"/>
              </a:solidFill>
              <a:effectLst/>
              <a:uLnTx/>
              <a:uFillTx/>
              <a:latin typeface="黑体" charset="0"/>
              <a:ea typeface="黑体" charset="0"/>
              <a:cs typeface="黑体" charset="0"/>
            </a:endParaRPr>
          </a:p>
          <a:p>
            <a:pPr marL="0" marR="0" lvl="0" indent="0" algn="l" defTabSz="914400" rtl="0" eaLnBrk="1" fontAlgn="base" latinLnBrk="0" hangingPunct="1">
              <a:lnSpc>
                <a:spcPct val="120000"/>
              </a:lnSpc>
              <a:spcBef>
                <a:spcPct val="0"/>
              </a:spcBef>
              <a:spcAft>
                <a:spcPct val="0"/>
              </a:spcAft>
              <a:buClrTx/>
              <a:buSzTx/>
              <a:buFontTx/>
              <a:buNone/>
              <a:defRPr/>
            </a:pPr>
            <a:r>
              <a:rPr kumimoji="0" lang="zh-CN" altLang="en-US" sz="1800" b="1" i="0" u="none" strike="noStrike" kern="1200" cap="none" spc="0" normalizeH="0" baseline="0" noProof="0">
                <a:ln>
                  <a:noFill/>
                </a:ln>
                <a:solidFill>
                  <a:srgbClr val="000000"/>
                </a:solidFill>
                <a:effectLst/>
                <a:uLnTx/>
                <a:uFillTx/>
                <a:latin typeface="黑体" charset="0"/>
                <a:ea typeface="黑体" charset="0"/>
                <a:cs typeface="黑体" charset="0"/>
              </a:rPr>
              <a:t>自治系统内部的路由选择叫做</a:t>
            </a:r>
            <a:r>
              <a:rPr kumimoji="0" lang="zh-CN" altLang="en-US" sz="1800" b="1" i="0" u="none" strike="noStrike" kern="1200" cap="none" spc="0" normalizeH="0" baseline="0" noProof="0">
                <a:ln>
                  <a:noFill/>
                </a:ln>
                <a:solidFill>
                  <a:srgbClr val="C00000"/>
                </a:solidFill>
                <a:effectLst/>
                <a:uLnTx/>
                <a:uFillTx/>
                <a:latin typeface="黑体" charset="0"/>
                <a:ea typeface="黑体" charset="0"/>
                <a:cs typeface="黑体" charset="0"/>
              </a:rPr>
              <a:t>域内路由选择 </a:t>
            </a:r>
            <a:r>
              <a:rPr kumimoji="0" lang="en-US" altLang="zh-CN" sz="1800" b="1" i="0" u="none" strike="noStrike" kern="1200" cap="none" spc="0" normalizeH="0" baseline="0" noProof="0">
                <a:ln>
                  <a:noFill/>
                </a:ln>
                <a:solidFill>
                  <a:srgbClr val="000000"/>
                </a:solidFill>
                <a:effectLst/>
                <a:uLnTx/>
                <a:uFillTx/>
                <a:latin typeface="黑体" charset="0"/>
                <a:ea typeface="黑体" charset="0"/>
                <a:cs typeface="黑体" charset="0"/>
              </a:rPr>
              <a:t>(intradomain routing) </a:t>
            </a:r>
            <a:r>
              <a:rPr kumimoji="0" lang="zh-CN" altLang="en-US" sz="1800" b="1" i="0" u="none" strike="noStrike" kern="1200" cap="none" spc="0" normalizeH="0" baseline="0" noProof="0">
                <a:ln>
                  <a:noFill/>
                </a:ln>
                <a:solidFill>
                  <a:srgbClr val="000000"/>
                </a:solidFill>
                <a:effectLst/>
                <a:uLnTx/>
                <a:uFillTx/>
                <a:latin typeface="黑体" charset="0"/>
                <a:ea typeface="黑体" charset="0"/>
                <a:cs typeface="黑体" charset="0"/>
              </a:rPr>
              <a:t>。</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6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114"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29" name="Rectangle 2"/>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路由算法与协议</a:t>
            </a:r>
          </a:p>
        </p:txBody>
      </p:sp>
      <p:pic>
        <p:nvPicPr>
          <p:cNvPr id="278530" name="Picture 9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8531" name="组合 2"/>
          <p:cNvGrpSpPr/>
          <p:nvPr/>
        </p:nvGrpSpPr>
        <p:grpSpPr bwMode="auto">
          <a:xfrm>
            <a:off x="779463" y="1906588"/>
            <a:ext cx="7077075" cy="3551237"/>
            <a:chOff x="708049" y="931824"/>
            <a:chExt cx="7076741" cy="3550484"/>
          </a:xfrm>
        </p:grpSpPr>
        <p:sp>
          <p:nvSpPr>
            <p:cNvPr id="4" name="矩形 3"/>
            <p:cNvSpPr/>
            <p:nvPr/>
          </p:nvSpPr>
          <p:spPr>
            <a:xfrm>
              <a:off x="3425721" y="931824"/>
              <a:ext cx="2539880" cy="528525"/>
            </a:xfrm>
            <a:prstGeom prst="rect">
              <a:avLst/>
            </a:prstGeom>
            <a:solidFill>
              <a:srgbClr val="009900"/>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Comic Sans MS" panose="030F0902030302020204" pitchFamily="66" charset="0"/>
                  <a:ea typeface="宋体" pitchFamily="2" charset="-122"/>
                </a:defRPr>
              </a:lvl1pPr>
              <a:lvl2pPr marL="742950" indent="-285750">
                <a:defRPr>
                  <a:solidFill>
                    <a:schemeClr val="tx1"/>
                  </a:solidFill>
                  <a:latin typeface="Comic Sans MS" panose="030F0902030302020204" pitchFamily="66" charset="0"/>
                  <a:ea typeface="宋体" pitchFamily="2" charset="-122"/>
                </a:defRPr>
              </a:lvl2pPr>
              <a:lvl3pPr marL="1143000" indent="-228600">
                <a:defRPr>
                  <a:solidFill>
                    <a:schemeClr val="tx1"/>
                  </a:solidFill>
                  <a:latin typeface="Comic Sans MS" panose="030F0902030302020204" pitchFamily="66" charset="0"/>
                  <a:ea typeface="宋体" pitchFamily="2" charset="-122"/>
                </a:defRPr>
              </a:lvl3pPr>
              <a:lvl4pPr marL="1600200" indent="-228600">
                <a:defRPr>
                  <a:solidFill>
                    <a:schemeClr val="tx1"/>
                  </a:solidFill>
                  <a:latin typeface="Comic Sans MS" panose="030F0902030302020204" pitchFamily="66" charset="0"/>
                  <a:ea typeface="宋体" pitchFamily="2" charset="-122"/>
                </a:defRPr>
              </a:lvl4pPr>
              <a:lvl5pPr marL="2057400" indent="-228600">
                <a:defRPr>
                  <a:solidFill>
                    <a:schemeClr val="tx1"/>
                  </a:solidFill>
                  <a:latin typeface="Comic Sans MS" panose="030F0902030302020204" pitchFamily="66" charset="0"/>
                  <a:ea typeface="宋体"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a:ln>
                    <a:noFill/>
                  </a:ln>
                  <a:solidFill>
                    <a:srgbClr val="FFFFFF"/>
                  </a:solidFill>
                  <a:effectLst/>
                  <a:uLnTx/>
                  <a:uFillTx/>
                  <a:latin typeface="黑体" charset="0"/>
                  <a:ea typeface="黑体" charset="0"/>
                  <a:cs typeface="+mn-cs"/>
                </a:rPr>
                <a:t>互联网路由选择协议</a:t>
              </a:r>
            </a:p>
          </p:txBody>
        </p:sp>
        <p:sp>
          <p:nvSpPr>
            <p:cNvPr id="5" name="矩形 4"/>
            <p:cNvSpPr/>
            <p:nvPr/>
          </p:nvSpPr>
          <p:spPr>
            <a:xfrm>
              <a:off x="2155781" y="2136481"/>
              <a:ext cx="1803315" cy="528526"/>
            </a:xfrm>
            <a:prstGeom prst="rect">
              <a:avLst/>
            </a:prstGeom>
            <a:solidFill>
              <a:srgbClr val="0099CC"/>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Comic Sans MS" panose="030F0902030302020204" pitchFamily="66" charset="0"/>
                  <a:ea typeface="宋体" pitchFamily="2" charset="-122"/>
                </a:defRPr>
              </a:lvl1pPr>
              <a:lvl2pPr marL="742950" indent="-285750">
                <a:defRPr>
                  <a:solidFill>
                    <a:schemeClr val="tx1"/>
                  </a:solidFill>
                  <a:latin typeface="Comic Sans MS" panose="030F0902030302020204" pitchFamily="66" charset="0"/>
                  <a:ea typeface="宋体" pitchFamily="2" charset="-122"/>
                </a:defRPr>
              </a:lvl2pPr>
              <a:lvl3pPr marL="1143000" indent="-228600">
                <a:defRPr>
                  <a:solidFill>
                    <a:schemeClr val="tx1"/>
                  </a:solidFill>
                  <a:latin typeface="Comic Sans MS" panose="030F0902030302020204" pitchFamily="66" charset="0"/>
                  <a:ea typeface="宋体" pitchFamily="2" charset="-122"/>
                </a:defRPr>
              </a:lvl3pPr>
              <a:lvl4pPr marL="1600200" indent="-228600">
                <a:defRPr>
                  <a:solidFill>
                    <a:schemeClr val="tx1"/>
                  </a:solidFill>
                  <a:latin typeface="Comic Sans MS" panose="030F0902030302020204" pitchFamily="66" charset="0"/>
                  <a:ea typeface="宋体" pitchFamily="2" charset="-122"/>
                </a:defRPr>
              </a:lvl4pPr>
              <a:lvl5pPr marL="2057400" indent="-228600">
                <a:defRPr>
                  <a:solidFill>
                    <a:schemeClr val="tx1"/>
                  </a:solidFill>
                  <a:latin typeface="Comic Sans MS" panose="030F0902030302020204" pitchFamily="66" charset="0"/>
                  <a:ea typeface="宋体"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a:ln>
                    <a:noFill/>
                  </a:ln>
                  <a:solidFill>
                    <a:srgbClr val="FFFFFF"/>
                  </a:solidFill>
                  <a:effectLst/>
                  <a:uLnTx/>
                  <a:uFillTx/>
                  <a:latin typeface="黑体" charset="0"/>
                  <a:ea typeface="黑体" charset="0"/>
                  <a:cs typeface="+mn-cs"/>
                </a:rPr>
                <a:t>域内路由选择</a:t>
              </a:r>
            </a:p>
          </p:txBody>
        </p:sp>
        <p:sp>
          <p:nvSpPr>
            <p:cNvPr id="6" name="矩形 5"/>
            <p:cNvSpPr/>
            <p:nvPr/>
          </p:nvSpPr>
          <p:spPr>
            <a:xfrm>
              <a:off x="5570332" y="2136481"/>
              <a:ext cx="1801728" cy="528526"/>
            </a:xfrm>
            <a:prstGeom prst="rect">
              <a:avLst/>
            </a:prstGeom>
            <a:solidFill>
              <a:srgbClr val="0099CC"/>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Comic Sans MS" panose="030F0902030302020204" pitchFamily="66" charset="0"/>
                  <a:ea typeface="宋体" pitchFamily="2" charset="-122"/>
                </a:defRPr>
              </a:lvl1pPr>
              <a:lvl2pPr marL="742950" indent="-285750">
                <a:defRPr>
                  <a:solidFill>
                    <a:schemeClr val="tx1"/>
                  </a:solidFill>
                  <a:latin typeface="Comic Sans MS" panose="030F0902030302020204" pitchFamily="66" charset="0"/>
                  <a:ea typeface="宋体" pitchFamily="2" charset="-122"/>
                </a:defRPr>
              </a:lvl2pPr>
              <a:lvl3pPr marL="1143000" indent="-228600">
                <a:defRPr>
                  <a:solidFill>
                    <a:schemeClr val="tx1"/>
                  </a:solidFill>
                  <a:latin typeface="Comic Sans MS" panose="030F0902030302020204" pitchFamily="66" charset="0"/>
                  <a:ea typeface="宋体" pitchFamily="2" charset="-122"/>
                </a:defRPr>
              </a:lvl3pPr>
              <a:lvl4pPr marL="1600200" indent="-228600">
                <a:defRPr>
                  <a:solidFill>
                    <a:schemeClr val="tx1"/>
                  </a:solidFill>
                  <a:latin typeface="Comic Sans MS" panose="030F0902030302020204" pitchFamily="66" charset="0"/>
                  <a:ea typeface="宋体" pitchFamily="2" charset="-122"/>
                </a:defRPr>
              </a:lvl4pPr>
              <a:lvl5pPr marL="2057400" indent="-228600">
                <a:defRPr>
                  <a:solidFill>
                    <a:schemeClr val="tx1"/>
                  </a:solidFill>
                  <a:latin typeface="Comic Sans MS" panose="030F0902030302020204" pitchFamily="66" charset="0"/>
                  <a:ea typeface="宋体"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a:ln>
                    <a:noFill/>
                  </a:ln>
                  <a:solidFill>
                    <a:srgbClr val="FFFFFF"/>
                  </a:solidFill>
                  <a:effectLst/>
                  <a:uLnTx/>
                  <a:uFillTx/>
                  <a:latin typeface="黑体" charset="0"/>
                  <a:ea typeface="黑体" charset="0"/>
                  <a:cs typeface="+mn-cs"/>
                </a:rPr>
                <a:t>域间路由选择</a:t>
              </a:r>
            </a:p>
          </p:txBody>
        </p:sp>
        <p:sp>
          <p:nvSpPr>
            <p:cNvPr id="7" name="矩形 6"/>
            <p:cNvSpPr/>
            <p:nvPr/>
          </p:nvSpPr>
          <p:spPr>
            <a:xfrm>
              <a:off x="708049" y="3109412"/>
              <a:ext cx="2208108" cy="868178"/>
            </a:xfrm>
            <a:prstGeom prst="rect">
              <a:avLst/>
            </a:prstGeom>
            <a:gradFill rotWithShape="0">
              <a:gsLst>
                <a:gs pos="0">
                  <a:srgbClr val="C0504D">
                    <a:hueOff val="0"/>
                    <a:satOff val="0"/>
                    <a:lumOff val="0"/>
                    <a:alphaOff val="0"/>
                    <a:shade val="51000"/>
                    <a:satMod val="130000"/>
                  </a:srgbClr>
                </a:gs>
                <a:gs pos="80000">
                  <a:srgbClr val="C0504D">
                    <a:hueOff val="0"/>
                    <a:satOff val="0"/>
                    <a:lumOff val="0"/>
                    <a:alphaOff val="0"/>
                    <a:shade val="93000"/>
                    <a:satMod val="130000"/>
                  </a:srgbClr>
                </a:gs>
                <a:gs pos="100000">
                  <a:srgbClr val="C0504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tyle>
            <a:lnRef idx="0">
              <a:scrgbClr r="0" g="0" b="0"/>
            </a:lnRef>
            <a:fillRef idx="3">
              <a:scrgbClr r="0" g="0" b="0"/>
            </a:fillRef>
            <a:effectRef idx="2">
              <a:scrgbClr r="0" g="0" b="0"/>
            </a:effectRef>
            <a:fontRef idx="minor">
              <a:schemeClr val="lt1"/>
            </a:fontRef>
          </p:style>
          <p:txBody>
            <a:bodyPr anchor="ctr"/>
            <a:lstStyle>
              <a:lvl1pPr>
                <a:defRPr>
                  <a:solidFill>
                    <a:schemeClr val="tx1"/>
                  </a:solidFill>
                  <a:latin typeface="Comic Sans MS" panose="030F0902030302020204" pitchFamily="66" charset="0"/>
                  <a:ea typeface="宋体" pitchFamily="2" charset="-122"/>
                </a:defRPr>
              </a:lvl1pPr>
              <a:lvl2pPr marL="742950" indent="-285750">
                <a:defRPr>
                  <a:solidFill>
                    <a:schemeClr val="tx1"/>
                  </a:solidFill>
                  <a:latin typeface="Comic Sans MS" panose="030F0902030302020204" pitchFamily="66" charset="0"/>
                  <a:ea typeface="宋体" pitchFamily="2" charset="-122"/>
                </a:defRPr>
              </a:lvl2pPr>
              <a:lvl3pPr marL="1143000" indent="-228600">
                <a:defRPr>
                  <a:solidFill>
                    <a:schemeClr val="tx1"/>
                  </a:solidFill>
                  <a:latin typeface="Comic Sans MS" panose="030F0902030302020204" pitchFamily="66" charset="0"/>
                  <a:ea typeface="宋体" pitchFamily="2" charset="-122"/>
                </a:defRPr>
              </a:lvl3pPr>
              <a:lvl4pPr marL="1600200" indent="-228600">
                <a:defRPr>
                  <a:solidFill>
                    <a:schemeClr val="tx1"/>
                  </a:solidFill>
                  <a:latin typeface="Comic Sans MS" panose="030F0902030302020204" pitchFamily="66" charset="0"/>
                  <a:ea typeface="宋体" pitchFamily="2" charset="-122"/>
                </a:defRPr>
              </a:lvl4pPr>
              <a:lvl5pPr marL="2057400" indent="-228600">
                <a:defRPr>
                  <a:solidFill>
                    <a:schemeClr val="tx1"/>
                  </a:solidFill>
                  <a:latin typeface="Comic Sans MS" panose="030F0902030302020204" pitchFamily="66" charset="0"/>
                  <a:ea typeface="宋体"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a:ln>
                    <a:noFill/>
                  </a:ln>
                  <a:solidFill>
                    <a:srgbClr val="FFFFFF"/>
                  </a:solidFill>
                  <a:effectLst/>
                  <a:uLnTx/>
                  <a:uFillTx/>
                  <a:latin typeface="黑体" charset="0"/>
                  <a:ea typeface="黑体" charset="0"/>
                  <a:cs typeface="黑体" charset="0"/>
                </a:rPr>
                <a:t>距离向量</a:t>
              </a:r>
              <a:endParaRPr kumimoji="0" lang="en-US" altLang="zh-CN" sz="2000" b="1" i="0" u="none" strike="noStrike" kern="1200" cap="none" spc="0" normalizeH="0" baseline="0" noProof="0">
                <a:ln>
                  <a:noFill/>
                </a:ln>
                <a:solidFill>
                  <a:srgbClr val="FFFFFF"/>
                </a:solidFill>
                <a:effectLst/>
                <a:uLnTx/>
                <a:uFillTx/>
                <a:latin typeface="黑体" charset="0"/>
                <a:ea typeface="黑体" charset="0"/>
                <a:cs typeface="黑体" charset="0"/>
              </a:endParaRPr>
            </a:p>
            <a:p>
              <a:pPr marL="0" marR="0" lvl="0" indent="0" algn="ctr" defTabSz="914400" rtl="0" eaLnBrk="0" fontAlgn="base" latinLnBrk="0" hangingPunct="0">
                <a:lnSpc>
                  <a:spcPct val="100000"/>
                </a:lnSpc>
                <a:spcBef>
                  <a:spcPts val="600"/>
                </a:spcBef>
                <a:spcAft>
                  <a:spcPct val="0"/>
                </a:spcAft>
                <a:buClrTx/>
                <a:buSzTx/>
                <a:buFontTx/>
                <a:buNone/>
                <a:defRPr/>
              </a:pPr>
              <a:r>
                <a:rPr kumimoji="0" lang="zh-CN" altLang="en-US" sz="1600" b="1" i="0" u="none" strike="noStrike" kern="1200" cap="none" spc="0" normalizeH="0" baseline="0" noProof="0">
                  <a:ln>
                    <a:noFill/>
                  </a:ln>
                  <a:solidFill>
                    <a:srgbClr val="FFFFFF"/>
                  </a:solidFill>
                  <a:effectLst/>
                  <a:uLnTx/>
                  <a:uFillTx/>
                  <a:latin typeface="黑体" charset="0"/>
                  <a:ea typeface="黑体" charset="0"/>
                  <a:cs typeface="黑体" charset="0"/>
                </a:rPr>
                <a:t>（</a:t>
              </a:r>
              <a:r>
                <a:rPr kumimoji="0" lang="en-US" altLang="zh-CN" sz="1600" b="1" i="0" u="none" strike="noStrike" kern="1200" cap="none" spc="0" normalizeH="0" baseline="0" noProof="0">
                  <a:ln>
                    <a:noFill/>
                  </a:ln>
                  <a:solidFill>
                    <a:srgbClr val="FFFFFF"/>
                  </a:solidFill>
                  <a:effectLst/>
                  <a:uLnTx/>
                  <a:uFillTx/>
                  <a:latin typeface="黑体" charset="0"/>
                  <a:ea typeface="黑体" charset="0"/>
                  <a:cs typeface="黑体" charset="0"/>
                </a:rPr>
                <a:t>Distance Vector</a:t>
              </a:r>
              <a:r>
                <a:rPr kumimoji="0" lang="zh-CN" altLang="en-US" sz="1600" b="1" i="0" u="none" strike="noStrike" kern="1200" cap="none" spc="0" normalizeH="0" baseline="0" noProof="0">
                  <a:ln>
                    <a:noFill/>
                  </a:ln>
                  <a:solidFill>
                    <a:srgbClr val="FFFFFF"/>
                  </a:solidFill>
                  <a:effectLst/>
                  <a:uLnTx/>
                  <a:uFillTx/>
                  <a:latin typeface="黑体" charset="0"/>
                  <a:ea typeface="黑体" charset="0"/>
                  <a:cs typeface="黑体" charset="0"/>
                </a:rPr>
                <a:t>）</a:t>
              </a:r>
            </a:p>
          </p:txBody>
        </p:sp>
        <p:sp>
          <p:nvSpPr>
            <p:cNvPr id="8" name="矩形 7"/>
            <p:cNvSpPr/>
            <p:nvPr/>
          </p:nvSpPr>
          <p:spPr>
            <a:xfrm>
              <a:off x="3341587" y="3118935"/>
              <a:ext cx="1944596" cy="868178"/>
            </a:xfrm>
            <a:prstGeom prst="rect">
              <a:avLst/>
            </a:prstGeom>
            <a:gradFill rotWithShape="0">
              <a:gsLst>
                <a:gs pos="0">
                  <a:srgbClr val="C0504D">
                    <a:hueOff val="0"/>
                    <a:satOff val="0"/>
                    <a:lumOff val="0"/>
                    <a:alphaOff val="0"/>
                    <a:shade val="51000"/>
                    <a:satMod val="130000"/>
                  </a:srgbClr>
                </a:gs>
                <a:gs pos="80000">
                  <a:srgbClr val="C0504D">
                    <a:hueOff val="0"/>
                    <a:satOff val="0"/>
                    <a:lumOff val="0"/>
                    <a:alphaOff val="0"/>
                    <a:shade val="93000"/>
                    <a:satMod val="130000"/>
                  </a:srgbClr>
                </a:gs>
                <a:gs pos="100000">
                  <a:srgbClr val="C0504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tyle>
            <a:lnRef idx="0">
              <a:scrgbClr r="0" g="0" b="0"/>
            </a:lnRef>
            <a:fillRef idx="3">
              <a:scrgbClr r="0" g="0" b="0"/>
            </a:fillRef>
            <a:effectRef idx="2">
              <a:scrgbClr r="0" g="0" b="0"/>
            </a:effectRef>
            <a:fontRef idx="minor">
              <a:schemeClr val="lt1"/>
            </a:fontRef>
          </p:style>
          <p:txBody>
            <a:bodyPr anchor="ctr"/>
            <a:lstStyle>
              <a:lvl1pPr>
                <a:defRPr>
                  <a:solidFill>
                    <a:schemeClr val="tx1"/>
                  </a:solidFill>
                  <a:latin typeface="Comic Sans MS" panose="030F0902030302020204" pitchFamily="66" charset="0"/>
                  <a:ea typeface="宋体" pitchFamily="2" charset="-122"/>
                </a:defRPr>
              </a:lvl1pPr>
              <a:lvl2pPr marL="742950" indent="-285750">
                <a:defRPr>
                  <a:solidFill>
                    <a:schemeClr val="tx1"/>
                  </a:solidFill>
                  <a:latin typeface="Comic Sans MS" panose="030F0902030302020204" pitchFamily="66" charset="0"/>
                  <a:ea typeface="宋体" pitchFamily="2" charset="-122"/>
                </a:defRPr>
              </a:lvl2pPr>
              <a:lvl3pPr marL="1143000" indent="-228600">
                <a:defRPr>
                  <a:solidFill>
                    <a:schemeClr val="tx1"/>
                  </a:solidFill>
                  <a:latin typeface="Comic Sans MS" panose="030F0902030302020204" pitchFamily="66" charset="0"/>
                  <a:ea typeface="宋体" pitchFamily="2" charset="-122"/>
                </a:defRPr>
              </a:lvl3pPr>
              <a:lvl4pPr marL="1600200" indent="-228600">
                <a:defRPr>
                  <a:solidFill>
                    <a:schemeClr val="tx1"/>
                  </a:solidFill>
                  <a:latin typeface="Comic Sans MS" panose="030F0902030302020204" pitchFamily="66" charset="0"/>
                  <a:ea typeface="宋体" pitchFamily="2" charset="-122"/>
                </a:defRPr>
              </a:lvl4pPr>
              <a:lvl5pPr marL="2057400" indent="-228600">
                <a:defRPr>
                  <a:solidFill>
                    <a:schemeClr val="tx1"/>
                  </a:solidFill>
                  <a:latin typeface="Comic Sans MS" panose="030F0902030302020204" pitchFamily="66" charset="0"/>
                  <a:ea typeface="宋体"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a:ln>
                    <a:noFill/>
                  </a:ln>
                  <a:solidFill>
                    <a:srgbClr val="FFFFFF"/>
                  </a:solidFill>
                  <a:effectLst/>
                  <a:uLnTx/>
                  <a:uFillTx/>
                  <a:latin typeface="黑体" charset="0"/>
                  <a:ea typeface="黑体" charset="0"/>
                  <a:cs typeface="黑体" charset="0"/>
                </a:rPr>
                <a:t>链路状态</a:t>
              </a:r>
              <a:endParaRPr kumimoji="0" lang="en-US" altLang="zh-CN" sz="2000" b="1" i="0" u="none" strike="noStrike" kern="1200" cap="none" spc="0" normalizeH="0" baseline="0" noProof="0">
                <a:ln>
                  <a:noFill/>
                </a:ln>
                <a:solidFill>
                  <a:srgbClr val="FFFFFF"/>
                </a:solidFill>
                <a:effectLst/>
                <a:uLnTx/>
                <a:uFillTx/>
                <a:latin typeface="黑体" charset="0"/>
                <a:ea typeface="黑体" charset="0"/>
                <a:cs typeface="黑体" charset="0"/>
              </a:endParaRPr>
            </a:p>
            <a:p>
              <a:pPr marL="0" marR="0" lvl="0" indent="0" algn="ctr" defTabSz="914400" rtl="0" eaLnBrk="0" fontAlgn="base" latinLnBrk="0" hangingPunct="0">
                <a:lnSpc>
                  <a:spcPct val="100000"/>
                </a:lnSpc>
                <a:spcBef>
                  <a:spcPts val="600"/>
                </a:spcBef>
                <a:spcAft>
                  <a:spcPct val="0"/>
                </a:spcAft>
                <a:buClrTx/>
                <a:buSzTx/>
                <a:buFontTx/>
                <a:buNone/>
                <a:defRPr/>
              </a:pPr>
              <a:r>
                <a:rPr kumimoji="0" lang="zh-CN" altLang="en-US" sz="1600" b="1" i="0" u="none" strike="noStrike" kern="1200" cap="none" spc="0" normalizeH="0" baseline="0" noProof="0">
                  <a:ln>
                    <a:noFill/>
                  </a:ln>
                  <a:solidFill>
                    <a:srgbClr val="FFFFFF"/>
                  </a:solidFill>
                  <a:effectLst/>
                  <a:uLnTx/>
                  <a:uFillTx/>
                  <a:latin typeface="黑体" charset="0"/>
                  <a:ea typeface="黑体" charset="0"/>
                  <a:cs typeface="黑体" charset="0"/>
                </a:rPr>
                <a:t>（</a:t>
              </a:r>
              <a:r>
                <a:rPr kumimoji="0" lang="en-US" altLang="zh-CN" sz="1600" b="1" i="0" u="none" strike="noStrike" kern="1200" cap="none" spc="0" normalizeH="0" baseline="0" noProof="0">
                  <a:ln>
                    <a:noFill/>
                  </a:ln>
                  <a:solidFill>
                    <a:srgbClr val="FFFFFF"/>
                  </a:solidFill>
                  <a:effectLst/>
                  <a:uLnTx/>
                  <a:uFillTx/>
                  <a:latin typeface="黑体" charset="0"/>
                  <a:ea typeface="黑体" charset="0"/>
                  <a:cs typeface="黑体" charset="0"/>
                </a:rPr>
                <a:t>Link State</a:t>
              </a:r>
              <a:r>
                <a:rPr kumimoji="0" lang="zh-CN" altLang="en-US" sz="1600" b="1" i="0" u="none" strike="noStrike" kern="1200" cap="none" spc="0" normalizeH="0" baseline="0" noProof="0">
                  <a:ln>
                    <a:noFill/>
                  </a:ln>
                  <a:solidFill>
                    <a:srgbClr val="FFFFFF"/>
                  </a:solidFill>
                  <a:effectLst/>
                  <a:uLnTx/>
                  <a:uFillTx/>
                  <a:latin typeface="黑体" charset="0"/>
                  <a:ea typeface="黑体" charset="0"/>
                  <a:cs typeface="黑体" charset="0"/>
                </a:rPr>
                <a:t>）</a:t>
              </a:r>
            </a:p>
          </p:txBody>
        </p:sp>
        <p:sp>
          <p:nvSpPr>
            <p:cNvPr id="9" name="矩形 8"/>
            <p:cNvSpPr/>
            <p:nvPr/>
          </p:nvSpPr>
          <p:spPr>
            <a:xfrm>
              <a:off x="5570332" y="3109412"/>
              <a:ext cx="2214458" cy="869766"/>
            </a:xfrm>
            <a:prstGeom prst="rect">
              <a:avLst/>
            </a:prstGeom>
            <a:solidFill>
              <a:schemeClr val="accent1">
                <a:lumMod val="50000"/>
              </a:schemeClr>
            </a:solidFill>
            <a:ln w="19050">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Comic Sans MS" panose="030F0902030302020204" pitchFamily="66" charset="0"/>
                  <a:ea typeface="宋体" pitchFamily="2" charset="-122"/>
                </a:defRPr>
              </a:lvl1pPr>
              <a:lvl2pPr marL="742950" indent="-285750">
                <a:defRPr>
                  <a:solidFill>
                    <a:schemeClr val="tx1"/>
                  </a:solidFill>
                  <a:latin typeface="Comic Sans MS" panose="030F0902030302020204" pitchFamily="66" charset="0"/>
                  <a:ea typeface="宋体" pitchFamily="2" charset="-122"/>
                </a:defRPr>
              </a:lvl2pPr>
              <a:lvl3pPr marL="1143000" indent="-228600">
                <a:defRPr>
                  <a:solidFill>
                    <a:schemeClr val="tx1"/>
                  </a:solidFill>
                  <a:latin typeface="Comic Sans MS" panose="030F0902030302020204" pitchFamily="66" charset="0"/>
                  <a:ea typeface="宋体" pitchFamily="2" charset="-122"/>
                </a:defRPr>
              </a:lvl3pPr>
              <a:lvl4pPr marL="1600200" indent="-228600">
                <a:defRPr>
                  <a:solidFill>
                    <a:schemeClr val="tx1"/>
                  </a:solidFill>
                  <a:latin typeface="Comic Sans MS" panose="030F0902030302020204" pitchFamily="66" charset="0"/>
                  <a:ea typeface="宋体" pitchFamily="2" charset="-122"/>
                </a:defRPr>
              </a:lvl4pPr>
              <a:lvl5pPr marL="2057400" indent="-228600">
                <a:defRPr>
                  <a:solidFill>
                    <a:schemeClr val="tx1"/>
                  </a:solidFill>
                  <a:latin typeface="Comic Sans MS" panose="030F0902030302020204" pitchFamily="66" charset="0"/>
                  <a:ea typeface="宋体" pitchFamily="2" charset="-122"/>
                </a:defRPr>
              </a:lvl5pPr>
              <a:lvl6pPr marL="25146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zh-CN" altLang="en-US" sz="2000" b="1" i="0" u="none" strike="noStrike" kern="1200" cap="none" spc="0" normalizeH="0" baseline="0" noProof="0">
                  <a:ln>
                    <a:noFill/>
                  </a:ln>
                  <a:solidFill>
                    <a:srgbClr val="FFFFFF"/>
                  </a:solidFill>
                  <a:effectLst/>
                  <a:uLnTx/>
                  <a:uFillTx/>
                  <a:latin typeface="黑体" charset="0"/>
                  <a:ea typeface="黑体" charset="0"/>
                  <a:cs typeface="黑体" charset="0"/>
                </a:rPr>
                <a:t>路径向量</a:t>
              </a:r>
              <a:endParaRPr kumimoji="0" lang="en-US" altLang="zh-CN" sz="2000" b="1" i="0" u="none" strike="noStrike" kern="1200" cap="none" spc="0" normalizeH="0" baseline="0" noProof="0">
                <a:ln>
                  <a:noFill/>
                </a:ln>
                <a:solidFill>
                  <a:srgbClr val="FFFFFF"/>
                </a:solidFill>
                <a:effectLst/>
                <a:uLnTx/>
                <a:uFillTx/>
                <a:latin typeface="黑体" charset="0"/>
                <a:ea typeface="黑体" charset="0"/>
                <a:cs typeface="黑体" charset="0"/>
              </a:endParaRPr>
            </a:p>
            <a:p>
              <a:pPr marL="0" marR="0" lvl="0" indent="0" algn="ctr" defTabSz="914400" rtl="0" eaLnBrk="0" fontAlgn="base" latinLnBrk="0" hangingPunct="0">
                <a:lnSpc>
                  <a:spcPct val="100000"/>
                </a:lnSpc>
                <a:spcBef>
                  <a:spcPts val="600"/>
                </a:spcBef>
                <a:spcAft>
                  <a:spcPct val="0"/>
                </a:spcAft>
                <a:buClrTx/>
                <a:buSzTx/>
                <a:buFontTx/>
                <a:buNone/>
                <a:defRPr/>
              </a:pPr>
              <a:r>
                <a:rPr kumimoji="0" lang="zh-CN" altLang="en-US" sz="1600" b="1" i="0" u="none" strike="noStrike" kern="1200" cap="none" spc="0" normalizeH="0" baseline="0" noProof="0">
                  <a:ln>
                    <a:noFill/>
                  </a:ln>
                  <a:solidFill>
                    <a:srgbClr val="FFFFFF"/>
                  </a:solidFill>
                  <a:effectLst/>
                  <a:uLnTx/>
                  <a:uFillTx/>
                  <a:latin typeface="黑体" charset="0"/>
                  <a:ea typeface="黑体" charset="0"/>
                  <a:cs typeface="黑体" charset="0"/>
                </a:rPr>
                <a:t>（</a:t>
              </a:r>
              <a:r>
                <a:rPr kumimoji="0" lang="en-US" altLang="zh-CN" sz="1600" b="1" i="0" u="none" strike="noStrike" kern="1200" cap="none" spc="0" normalizeH="0" baseline="0" noProof="0">
                  <a:ln>
                    <a:noFill/>
                  </a:ln>
                  <a:solidFill>
                    <a:srgbClr val="FFFFFF"/>
                  </a:solidFill>
                  <a:effectLst/>
                  <a:uLnTx/>
                  <a:uFillTx/>
                  <a:latin typeface="黑体" charset="0"/>
                  <a:ea typeface="黑体" charset="0"/>
                  <a:cs typeface="黑体" charset="0"/>
                </a:rPr>
                <a:t>Path Vector</a:t>
              </a:r>
              <a:r>
                <a:rPr kumimoji="0" lang="zh-CN" altLang="en-US" sz="1600" b="1" i="0" u="none" strike="noStrike" kern="1200" cap="none" spc="0" normalizeH="0" baseline="0" noProof="0">
                  <a:ln>
                    <a:noFill/>
                  </a:ln>
                  <a:solidFill>
                    <a:srgbClr val="FFFFFF"/>
                  </a:solidFill>
                  <a:effectLst/>
                  <a:uLnTx/>
                  <a:uFillTx/>
                  <a:latin typeface="黑体" charset="0"/>
                  <a:ea typeface="黑体" charset="0"/>
                  <a:cs typeface="黑体" charset="0"/>
                </a:rPr>
                <a:t>）</a:t>
              </a:r>
            </a:p>
          </p:txBody>
        </p:sp>
        <p:cxnSp>
          <p:nvCxnSpPr>
            <p:cNvPr id="10" name="直接连接符 14"/>
            <p:cNvCxnSpPr>
              <a:endCxn id="5" idx="0"/>
            </p:cNvCxnSpPr>
            <p:nvPr/>
          </p:nvCxnSpPr>
          <p:spPr>
            <a:xfrm flipH="1">
              <a:off x="3057438" y="1460349"/>
              <a:ext cx="1042938" cy="676132"/>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1" name="直接连接符 16"/>
            <p:cNvCxnSpPr>
              <a:endCxn id="6" idx="0"/>
            </p:cNvCxnSpPr>
            <p:nvPr/>
          </p:nvCxnSpPr>
          <p:spPr>
            <a:xfrm>
              <a:off x="5429051" y="1460349"/>
              <a:ext cx="1041351" cy="676132"/>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2" name="直接连接符 18"/>
            <p:cNvCxnSpPr>
              <a:stCxn id="5" idx="2"/>
              <a:endCxn id="7" idx="0"/>
            </p:cNvCxnSpPr>
            <p:nvPr/>
          </p:nvCxnSpPr>
          <p:spPr>
            <a:xfrm flipH="1">
              <a:off x="1812897" y="2665006"/>
              <a:ext cx="1244541" cy="444406"/>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3" name="直接连接符 21"/>
            <p:cNvCxnSpPr>
              <a:stCxn id="5" idx="2"/>
              <a:endCxn id="8" idx="0"/>
            </p:cNvCxnSpPr>
            <p:nvPr/>
          </p:nvCxnSpPr>
          <p:spPr>
            <a:xfrm>
              <a:off x="3057438" y="2665006"/>
              <a:ext cx="1255653" cy="453929"/>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4" name="直接连接符 24"/>
            <p:cNvCxnSpPr>
              <a:stCxn id="6" idx="2"/>
              <a:endCxn id="9" idx="0"/>
            </p:cNvCxnSpPr>
            <p:nvPr/>
          </p:nvCxnSpPr>
          <p:spPr>
            <a:xfrm>
              <a:off x="6470402" y="2665006"/>
              <a:ext cx="206365" cy="444406"/>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sp>
          <p:nvSpPr>
            <p:cNvPr id="278543" name="矩形 14"/>
            <p:cNvSpPr>
              <a:spLocks noChangeArrowheads="1"/>
            </p:cNvSpPr>
            <p:nvPr/>
          </p:nvSpPr>
          <p:spPr bwMode="auto">
            <a:xfrm>
              <a:off x="1502630" y="4082198"/>
              <a:ext cx="6190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a:ln>
                    <a:noFill/>
                  </a:ln>
                  <a:solidFill>
                    <a:srgbClr val="000000"/>
                  </a:solidFill>
                  <a:effectLst/>
                  <a:uLnTx/>
                  <a:uFillTx/>
                  <a:latin typeface="黑体" charset="0"/>
                  <a:ea typeface="黑体" charset="0"/>
                  <a:cs typeface="+mn-cs"/>
                </a:rPr>
                <a:t>RIP</a:t>
              </a:r>
            </a:p>
          </p:txBody>
        </p:sp>
        <p:sp>
          <p:nvSpPr>
            <p:cNvPr id="278544" name="矩形 15"/>
            <p:cNvSpPr>
              <a:spLocks noChangeArrowheads="1"/>
            </p:cNvSpPr>
            <p:nvPr/>
          </p:nvSpPr>
          <p:spPr bwMode="auto">
            <a:xfrm>
              <a:off x="3760799" y="4082198"/>
              <a:ext cx="8595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a:ln>
                    <a:noFill/>
                  </a:ln>
                  <a:solidFill>
                    <a:srgbClr val="000000"/>
                  </a:solidFill>
                  <a:effectLst/>
                  <a:uLnTx/>
                  <a:uFillTx/>
                  <a:latin typeface="黑体" charset="0"/>
                  <a:ea typeface="黑体" charset="0"/>
                  <a:cs typeface="+mn-cs"/>
                </a:rPr>
                <a:t>OSPF</a:t>
              </a:r>
            </a:p>
          </p:txBody>
        </p:sp>
        <p:sp>
          <p:nvSpPr>
            <p:cNvPr id="278545" name="矩形 16"/>
            <p:cNvSpPr>
              <a:spLocks noChangeArrowheads="1"/>
            </p:cNvSpPr>
            <p:nvPr/>
          </p:nvSpPr>
          <p:spPr bwMode="auto">
            <a:xfrm>
              <a:off x="6259419" y="4082198"/>
              <a:ext cx="9941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a:ln>
                    <a:noFill/>
                  </a:ln>
                  <a:solidFill>
                    <a:srgbClr val="000000"/>
                  </a:solidFill>
                  <a:effectLst/>
                  <a:uLnTx/>
                  <a:uFillTx/>
                  <a:latin typeface="黑体" charset="0"/>
                  <a:ea typeface="黑体" charset="0"/>
                  <a:cs typeface="+mn-cs"/>
                </a:rPr>
                <a:t>BGP-4</a:t>
              </a:r>
            </a:p>
          </p:txBody>
        </p:sp>
      </p:grpSp>
    </p:spTree>
  </p:cSld>
  <p:clrMapOvr>
    <a:masterClrMapping/>
  </p:clrMapOvr>
  <p:transition spd="slow"/>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7" name="Rectangle 2"/>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关于网络、路由的应用</a:t>
            </a:r>
          </a:p>
        </p:txBody>
      </p:sp>
      <p:pic>
        <p:nvPicPr>
          <p:cNvPr id="280578" name="Picture 9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579" name="文本框 17"/>
          <p:cNvSpPr txBox="1">
            <a:spLocks noChangeArrowheads="1"/>
          </p:cNvSpPr>
          <p:nvPr/>
        </p:nvSpPr>
        <p:spPr bwMode="auto">
          <a:xfrm>
            <a:off x="584200" y="1504950"/>
            <a:ext cx="820420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342900">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defTabSz="34290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defTabSz="3429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defTabSz="342900">
              <a:spcBef>
                <a:spcPct val="20000"/>
              </a:spcBef>
              <a:buChar char="–"/>
              <a:defRPr kumimoji="1" sz="2000">
                <a:solidFill>
                  <a:schemeClr val="tx1"/>
                </a:solidFill>
                <a:latin typeface="Times New Roman" panose="02020503050405090304" charset="0"/>
                <a:ea typeface="宋体" pitchFamily="2" charset="-122"/>
              </a:defRPr>
            </a:lvl4pPr>
            <a:lvl5pPr marL="2057400" indent="-228600" defTabSz="342900">
              <a:spcBef>
                <a:spcPct val="20000"/>
              </a:spcBef>
              <a:buChar char="»"/>
              <a:defRPr kumimoji="1" sz="2000">
                <a:solidFill>
                  <a:schemeClr val="tx1"/>
                </a:solidFill>
                <a:latin typeface="Times New Roman" panose="02020503050405090304" charset="0"/>
                <a:ea typeface="宋体" pitchFamily="2" charset="-122"/>
              </a:defRPr>
            </a:lvl5pPr>
            <a:lvl6pPr marL="2514600" indent="-228600" defTabSz="3429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defTabSz="3429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defTabSz="3429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defTabSz="3429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342900" rtl="0" eaLnBrk="1" fontAlgn="base" latinLnBrk="0" hangingPunct="1">
              <a:lnSpc>
                <a:spcPts val="2475"/>
              </a:lnSpc>
              <a:spcBef>
                <a:spcPct val="0"/>
              </a:spcBef>
              <a:spcAft>
                <a:spcPct val="0"/>
              </a:spcAft>
              <a:buClrTx/>
              <a:buSzTx/>
              <a:buFontTx/>
              <a:buNone/>
              <a:defRPr/>
            </a:pP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lncRNA</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Long non-coding RNAs</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，长链非编码</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RNA</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）是生物体内一类重要的非编码</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RNA</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，其长度超过</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200</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个核苷酸，在生命活动中起到重要调控作用。</a:t>
            </a:r>
            <a:endPar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endParaRPr>
          </a:p>
        </p:txBody>
      </p:sp>
      <p:pic>
        <p:nvPicPr>
          <p:cNvPr id="280580" name="图片 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90788" y="2490788"/>
            <a:ext cx="4162425" cy="2605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80581" name="组合 19"/>
          <p:cNvGrpSpPr/>
          <p:nvPr/>
        </p:nvGrpSpPr>
        <p:grpSpPr bwMode="auto">
          <a:xfrm>
            <a:off x="6338888" y="506413"/>
            <a:ext cx="2022475" cy="573087"/>
            <a:chOff x="36" y="10305"/>
            <a:chExt cx="3480866" cy="1008000"/>
          </a:xfrm>
        </p:grpSpPr>
        <p:sp>
          <p:nvSpPr>
            <p:cNvPr id="21" name="矩形 20"/>
            <p:cNvSpPr/>
            <p:nvPr/>
          </p:nvSpPr>
          <p:spPr>
            <a:xfrm>
              <a:off x="36" y="10305"/>
              <a:ext cx="3480866" cy="1008000"/>
            </a:xfrm>
            <a:prstGeom prst="rect">
              <a:avLst/>
            </a:prstGeom>
            <a:solidFill>
              <a:srgbClr val="C0504D">
                <a:hueOff val="0"/>
                <a:satOff val="0"/>
                <a:lumOff val="0"/>
                <a:alphaOff val="0"/>
              </a:srgbClr>
            </a:solidFill>
            <a:ln w="25400" cap="flat" cmpd="sng" algn="ctr">
              <a:solidFill>
                <a:srgbClr val="C0504D">
                  <a:hueOff val="0"/>
                  <a:satOff val="0"/>
                  <a:lumOff val="0"/>
                  <a:alphaOff val="0"/>
                </a:srgbClr>
              </a:solidFill>
              <a:prstDash val="solid"/>
            </a:ln>
            <a:effectLst>
              <a:outerShdw blurRad="40000" dist="20000" dir="5400000" rotWithShape="0">
                <a:srgbClr val="000000">
                  <a:alpha val="38000"/>
                </a:srgbClr>
              </a:outerShdw>
            </a:effectLst>
          </p:spPr>
        </p:sp>
        <p:sp>
          <p:nvSpPr>
            <p:cNvPr id="280587" name="文本框 21"/>
            <p:cNvSpPr txBox="1">
              <a:spLocks noChangeArrowheads="1"/>
            </p:cNvSpPr>
            <p:nvPr/>
          </p:nvSpPr>
          <p:spPr bwMode="auto">
            <a:xfrm>
              <a:off x="36" y="10305"/>
              <a:ext cx="3480866" cy="10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42240" tIns="81280" rIns="142240" bIns="81280" anchor="ctr"/>
            <a:lstStyle>
              <a:lvl1pPr defTabSz="889000">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defTabSz="88900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defTabSz="8890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defTabSz="889000">
                <a:spcBef>
                  <a:spcPct val="20000"/>
                </a:spcBef>
                <a:buChar char="–"/>
                <a:defRPr kumimoji="1" sz="2000">
                  <a:solidFill>
                    <a:schemeClr val="tx1"/>
                  </a:solidFill>
                  <a:latin typeface="Times New Roman" panose="02020503050405090304" charset="0"/>
                  <a:ea typeface="宋体" pitchFamily="2" charset="-122"/>
                </a:defRPr>
              </a:lvl4pPr>
              <a:lvl5pPr marL="2057400" indent="-228600" defTabSz="889000">
                <a:spcBef>
                  <a:spcPct val="20000"/>
                </a:spcBef>
                <a:buChar char="»"/>
                <a:defRPr kumimoji="1" sz="2000">
                  <a:solidFill>
                    <a:schemeClr val="tx1"/>
                  </a:solidFill>
                  <a:latin typeface="Times New Roman" panose="02020503050405090304" charset="0"/>
                  <a:ea typeface="宋体" pitchFamily="2" charset="-122"/>
                </a:defRPr>
              </a:lvl5pPr>
              <a:lvl6pPr marL="25146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ctr" defTabSz="889000" rtl="0" eaLnBrk="1" fontAlgn="base" latinLnBrk="0" hangingPunct="1">
                <a:lnSpc>
                  <a:spcPct val="90000"/>
                </a:lnSpc>
                <a:spcBef>
                  <a:spcPct val="0"/>
                </a:spcBef>
                <a:spcAft>
                  <a:spcPct val="35000"/>
                </a:spcAft>
                <a:buClrTx/>
                <a:buSzTx/>
                <a:buFontTx/>
                <a:buNone/>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itchFamily="2" charset="-122"/>
                  <a:cs typeface="+mn-cs"/>
                </a:rPr>
                <a:t>生物信息学</a:t>
              </a:r>
            </a:p>
          </p:txBody>
        </p:sp>
      </p:grpSp>
      <p:sp>
        <p:nvSpPr>
          <p:cNvPr id="280582" name="文本框 23"/>
          <p:cNvSpPr txBox="1">
            <a:spLocks noChangeArrowheads="1"/>
          </p:cNvSpPr>
          <p:nvPr/>
        </p:nvSpPr>
        <p:spPr bwMode="auto">
          <a:xfrm>
            <a:off x="866775" y="5427663"/>
            <a:ext cx="7410450"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342900">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defTabSz="34290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defTabSz="3429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defTabSz="342900">
              <a:spcBef>
                <a:spcPct val="20000"/>
              </a:spcBef>
              <a:buChar char="–"/>
              <a:defRPr kumimoji="1" sz="2000">
                <a:solidFill>
                  <a:schemeClr val="tx1"/>
                </a:solidFill>
                <a:latin typeface="Times New Roman" panose="02020503050405090304" charset="0"/>
                <a:ea typeface="宋体" pitchFamily="2" charset="-122"/>
              </a:defRPr>
            </a:lvl4pPr>
            <a:lvl5pPr marL="2057400" indent="-228600" defTabSz="342900">
              <a:spcBef>
                <a:spcPct val="20000"/>
              </a:spcBef>
              <a:buChar char="»"/>
              <a:defRPr kumimoji="1" sz="2000">
                <a:solidFill>
                  <a:schemeClr val="tx1"/>
                </a:solidFill>
                <a:latin typeface="Times New Roman" panose="02020503050405090304" charset="0"/>
                <a:ea typeface="宋体" pitchFamily="2" charset="-122"/>
              </a:defRPr>
            </a:lvl5pPr>
            <a:lvl6pPr marL="2514600" indent="-228600" defTabSz="3429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defTabSz="3429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defTabSz="3429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defTabSz="3429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l" defTabSz="342900" rtl="0" eaLnBrk="1" fontAlgn="base" latinLnBrk="0" hangingPunct="1">
              <a:lnSpc>
                <a:spcPts val="2475"/>
              </a:lnSpc>
              <a:spcBef>
                <a:spcPct val="0"/>
              </a:spcBef>
              <a:spcAft>
                <a:spcPct val="0"/>
              </a:spcAft>
              <a:buClrTx/>
              <a:buSzTx/>
              <a:buFontTx/>
              <a:buNone/>
              <a:defRPr/>
            </a:pP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有证据表明：</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lncRNA</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的失调、突变等异常情况与疾病的发生发展存在关联影响。</a:t>
            </a:r>
            <a:endPar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endParaRPr>
          </a:p>
          <a:p>
            <a:pPr marL="0" marR="0" lvl="0" indent="0" algn="l" defTabSz="342900" rtl="0" eaLnBrk="1" fontAlgn="base" latinLnBrk="0" hangingPunct="1">
              <a:lnSpc>
                <a:spcPts val="2475"/>
              </a:lnSpc>
              <a:spcBef>
                <a:spcPct val="0"/>
              </a:spcBef>
              <a:spcAft>
                <a:spcPct val="0"/>
              </a:spcAft>
              <a:buClrTx/>
              <a:buSzTx/>
              <a:buFontTx/>
              <a:buNone/>
              <a:defRPr/>
            </a:pP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研究</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lncRNA-</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疾病关联，有助于阐明病理机制。</a:t>
            </a:r>
            <a:endPar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endParaRPr>
          </a:p>
          <a:p>
            <a:pPr marL="0" marR="0" lvl="0" indent="0" algn="l" defTabSz="342900" rtl="0" eaLnBrk="1" fontAlgn="base" latinLnBrk="0" hangingPunct="1">
              <a:lnSpc>
                <a:spcPts val="2475"/>
              </a:lnSpc>
              <a:spcBef>
                <a:spcPct val="0"/>
              </a:spcBef>
              <a:spcAft>
                <a:spcPct val="0"/>
              </a:spcAft>
              <a:buClrTx/>
              <a:buSzTx/>
              <a:buFontTx/>
              <a:buNone/>
              <a:defRPr/>
            </a:pP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对于未知的</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lncRNA-</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疾病关联，使用计算方法预测，为生物医学研究提供</a:t>
            </a:r>
            <a:r>
              <a:rPr kumimoji="0" lang="en-US" altLang="zh-CN"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a:t>
            </a:r>
            <a:r>
              <a:rPr kumimoji="0" lang="zh-CN" altLang="en-US" sz="1600" b="0" i="0" u="none" strike="noStrike" kern="1200" cap="none" spc="0" normalizeH="0" baseline="0" noProof="0">
                <a:ln>
                  <a:noFill/>
                </a:ln>
                <a:solidFill>
                  <a:srgbClr val="000000"/>
                </a:solidFill>
                <a:effectLst/>
                <a:uLnTx/>
                <a:uFillTx/>
                <a:latin typeface="微软雅黑" panose="020B0503020204020204" pitchFamily="34" charset="-122"/>
                <a:ea typeface="宋体" pitchFamily="2" charset="-122"/>
                <a:cs typeface="+mn-cs"/>
              </a:rPr>
              <a:t>指导。</a:t>
            </a:r>
          </a:p>
        </p:txBody>
      </p:sp>
      <p:sp>
        <p:nvSpPr>
          <p:cNvPr id="26" name="任意多边形: 形状 39"/>
          <p:cNvSpPr/>
          <p:nvPr/>
        </p:nvSpPr>
        <p:spPr>
          <a:xfrm>
            <a:off x="3519565" y="3782228"/>
            <a:ext cx="1516074" cy="161470"/>
          </a:xfrm>
          <a:custGeom>
            <a:avLst/>
            <a:gdLst>
              <a:gd name="connsiteX0" fmla="*/ 0 w 2574524"/>
              <a:gd name="connsiteY0" fmla="*/ 81835 h 286021"/>
              <a:gd name="connsiteX1" fmla="*/ 1340528 w 2574524"/>
              <a:gd name="connsiteY1" fmla="*/ 10814 h 286021"/>
              <a:gd name="connsiteX2" fmla="*/ 2574524 w 2574524"/>
              <a:gd name="connsiteY2" fmla="*/ 286021 h 286021"/>
            </a:gdLst>
            <a:ahLst/>
            <a:cxnLst>
              <a:cxn ang="0">
                <a:pos x="connsiteX0" y="connsiteY0"/>
              </a:cxn>
              <a:cxn ang="0">
                <a:pos x="connsiteX1" y="connsiteY1"/>
              </a:cxn>
              <a:cxn ang="0">
                <a:pos x="connsiteX2" y="connsiteY2"/>
              </a:cxn>
            </a:cxnLst>
            <a:rect l="l" t="t" r="r" b="b"/>
            <a:pathLst>
              <a:path w="2574524" h="286021">
                <a:moveTo>
                  <a:pt x="0" y="81835"/>
                </a:moveTo>
                <a:cubicBezTo>
                  <a:pt x="455720" y="29309"/>
                  <a:pt x="911441" y="-23217"/>
                  <a:pt x="1340528" y="10814"/>
                </a:cubicBezTo>
                <a:cubicBezTo>
                  <a:pt x="1769615" y="44845"/>
                  <a:pt x="2365899" y="237194"/>
                  <a:pt x="2574524" y="286021"/>
                </a:cubicBezTo>
              </a:path>
            </a:pathLst>
          </a:custGeom>
          <a:noFill/>
          <a:ln w="28575" cap="flat" cmpd="sng" algn="ctr">
            <a:solidFill>
              <a:srgbClr val="28475C"/>
            </a:solidFill>
            <a:prstDash val="sysDash"/>
            <a:miter lim="800000"/>
          </a:ln>
          <a:effectLst>
            <a:glow rad="63500">
              <a:srgbClr val="ED7D31">
                <a:satMod val="175000"/>
                <a:alpha val="40000"/>
              </a:srgbClr>
            </a:glow>
          </a:effectLst>
        </p:spPr>
        <p:txBody>
          <a:bodyPr anchor="ctr"/>
          <a:lstStyle>
            <a:lvl1pPr defTabSz="457200">
              <a:defRPr>
                <a:solidFill>
                  <a:schemeClr val="tx1"/>
                </a:solidFill>
                <a:latin typeface="Comic Sans MS" panose="030F0902030302020204" pitchFamily="66" charset="0"/>
                <a:ea typeface="宋体" pitchFamily="2" charset="-122"/>
              </a:defRPr>
            </a:lvl1pPr>
            <a:lvl2pPr marL="742950" indent="-285750" defTabSz="457200">
              <a:defRPr>
                <a:solidFill>
                  <a:schemeClr val="tx1"/>
                </a:solidFill>
                <a:latin typeface="Comic Sans MS" panose="030F0902030302020204" pitchFamily="66" charset="0"/>
                <a:ea typeface="宋体" pitchFamily="2" charset="-122"/>
              </a:defRPr>
            </a:lvl2pPr>
            <a:lvl3pPr marL="1143000" indent="-228600" defTabSz="457200">
              <a:defRPr>
                <a:solidFill>
                  <a:schemeClr val="tx1"/>
                </a:solidFill>
                <a:latin typeface="Comic Sans MS" panose="030F0902030302020204" pitchFamily="66" charset="0"/>
                <a:ea typeface="宋体" pitchFamily="2" charset="-122"/>
              </a:defRPr>
            </a:lvl3pPr>
            <a:lvl4pPr marL="1600200" indent="-228600" defTabSz="457200">
              <a:defRPr>
                <a:solidFill>
                  <a:schemeClr val="tx1"/>
                </a:solidFill>
                <a:latin typeface="Comic Sans MS" panose="030F0902030302020204" pitchFamily="66" charset="0"/>
                <a:ea typeface="宋体" pitchFamily="2" charset="-122"/>
              </a:defRPr>
            </a:lvl4pPr>
            <a:lvl5pPr marL="2057400" indent="-228600" defTabSz="457200">
              <a:defRPr>
                <a:solidFill>
                  <a:schemeClr val="tx1"/>
                </a:solidFill>
                <a:latin typeface="Comic Sans MS" panose="030F0902030302020204" pitchFamily="66" charset="0"/>
                <a:ea typeface="宋体" pitchFamily="2" charset="-122"/>
              </a:defRPr>
            </a:lvl5pPr>
            <a:lvl6pPr marL="2514600" indent="-228600" defTabSz="457200" eaLnBrk="0" fontAlgn="base" hangingPunct="0">
              <a:spcBef>
                <a:spcPct val="0"/>
              </a:spcBef>
              <a:spcAft>
                <a:spcPct val="0"/>
              </a:spcAft>
              <a:defRPr>
                <a:solidFill>
                  <a:schemeClr val="tx1"/>
                </a:solidFill>
                <a:latin typeface="Comic Sans MS" panose="030F0902030302020204" pitchFamily="66" charset="0"/>
                <a:ea typeface="宋体" pitchFamily="2" charset="-122"/>
              </a:defRPr>
            </a:lvl6pPr>
            <a:lvl7pPr marL="2971800" indent="-228600" defTabSz="457200" eaLnBrk="0" fontAlgn="base" hangingPunct="0">
              <a:spcBef>
                <a:spcPct val="0"/>
              </a:spcBef>
              <a:spcAft>
                <a:spcPct val="0"/>
              </a:spcAft>
              <a:defRPr>
                <a:solidFill>
                  <a:schemeClr val="tx1"/>
                </a:solidFill>
                <a:latin typeface="Comic Sans MS" panose="030F0902030302020204" pitchFamily="66" charset="0"/>
                <a:ea typeface="宋体" pitchFamily="2" charset="-122"/>
              </a:defRPr>
            </a:lvl7pPr>
            <a:lvl8pPr marL="3429000" indent="-228600" defTabSz="457200" eaLnBrk="0" fontAlgn="base" hangingPunct="0">
              <a:spcBef>
                <a:spcPct val="0"/>
              </a:spcBef>
              <a:spcAft>
                <a:spcPct val="0"/>
              </a:spcAft>
              <a:defRPr>
                <a:solidFill>
                  <a:schemeClr val="tx1"/>
                </a:solidFill>
                <a:latin typeface="Comic Sans MS" panose="030F0902030302020204" pitchFamily="66" charset="0"/>
                <a:ea typeface="宋体" pitchFamily="2" charset="-122"/>
              </a:defRPr>
            </a:lvl8pPr>
            <a:lvl9pPr marL="3886200" indent="-228600" defTabSz="457200" eaLnBrk="0" fontAlgn="base" hangingPunct="0">
              <a:spcBef>
                <a:spcPct val="0"/>
              </a:spcBef>
              <a:spcAft>
                <a:spcPct val="0"/>
              </a:spcAft>
              <a:defRPr>
                <a:solidFill>
                  <a:schemeClr val="tx1"/>
                </a:solidFill>
                <a:latin typeface="Comic Sans MS" panose="030F0902030302020204" pitchFamily="66" charset="0"/>
                <a:ea typeface="宋体" pitchFamily="2" charset="-122"/>
              </a:defRPr>
            </a:lvl9pPr>
          </a:lstStyle>
          <a:p>
            <a:pPr marL="0" marR="0" lvl="0" indent="0" algn="ctr" defTabSz="457200" rtl="0" eaLnBrk="1" fontAlgn="base" latinLnBrk="0" hangingPunct="1">
              <a:lnSpc>
                <a:spcPct val="100000"/>
              </a:lnSpc>
              <a:spcBef>
                <a:spcPct val="0"/>
              </a:spcBef>
              <a:spcAft>
                <a:spcPct val="0"/>
              </a:spcAft>
              <a:buClrTx/>
              <a:buSzTx/>
              <a:buFontTx/>
              <a:buNone/>
              <a:defRPr/>
            </a:pPr>
            <a:endParaRPr kumimoji="0" lang="zh-CN" altLang="en-US" sz="6300" b="0" i="0" u="none" strike="noStrike" kern="1200" cap="none" spc="0" normalizeH="0" baseline="0" noProof="0">
              <a:ln>
                <a:noFill/>
              </a:ln>
              <a:solidFill>
                <a:srgbClr val="000000"/>
              </a:solidFill>
              <a:effectLst/>
              <a:uLnTx/>
              <a:uFillTx/>
              <a:latin typeface="Calibri" panose="020F0502020204030204" pitchFamily="34" charset="0"/>
              <a:ea typeface="宋体" pitchFamily="2" charset="-122"/>
              <a:cs typeface="+mn-cs"/>
            </a:endParaRPr>
          </a:p>
        </p:txBody>
      </p:sp>
    </p:spTree>
  </p:cSld>
  <p:clrMapOvr>
    <a:masterClrMapping/>
  </p:clrMapOvr>
  <p:transition spd="slow"/>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2625" name="组合 9"/>
          <p:cNvGrpSpPr/>
          <p:nvPr/>
        </p:nvGrpSpPr>
        <p:grpSpPr bwMode="auto">
          <a:xfrm>
            <a:off x="628650" y="1689100"/>
            <a:ext cx="3157538" cy="920750"/>
            <a:chOff x="4662293" y="1870486"/>
            <a:chExt cx="6842813" cy="1227442"/>
          </a:xfrm>
        </p:grpSpPr>
        <p:sp>
          <p:nvSpPr>
            <p:cNvPr id="7" name="圆角矩形 6"/>
            <p:cNvSpPr/>
            <p:nvPr/>
          </p:nvSpPr>
          <p:spPr>
            <a:xfrm>
              <a:off x="4662293" y="1870486"/>
              <a:ext cx="6842813" cy="1227442"/>
            </a:xfrm>
            <a:prstGeom prst="roundRect">
              <a:avLst>
                <a:gd name="adj" fmla="val 10000"/>
              </a:avLst>
            </a:prstGeom>
            <a:solidFill>
              <a:srgbClr val="C0504D"/>
            </a:solid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Comic Sans MS" panose="030F0902030302020204"/>
                <a:ea typeface="+mn-ea"/>
                <a:cs typeface="+mn-cs"/>
              </a:endParaRPr>
            </a:p>
          </p:txBody>
        </p:sp>
        <p:sp>
          <p:nvSpPr>
            <p:cNvPr id="9" name="圆角矩形 4"/>
            <p:cNvSpPr/>
            <p:nvPr/>
          </p:nvSpPr>
          <p:spPr>
            <a:xfrm>
              <a:off x="4817109" y="1982649"/>
              <a:ext cx="6464375" cy="990419"/>
            </a:xfrm>
            <a:prstGeom prst="rect">
              <a:avLst/>
            </a:prstGeom>
            <a:no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l" defTabSz="889000" rtl="0" eaLnBrk="0" fontAlgn="base" latinLnBrk="0" hangingPunct="0">
                <a:lnSpc>
                  <a:spcPct val="130000"/>
                </a:lnSpc>
                <a:spcBef>
                  <a:spcPct val="0"/>
                </a:spcBef>
                <a:spcAft>
                  <a:spcPct val="35000"/>
                </a:spcAft>
                <a:buClrTx/>
                <a:buSzTx/>
                <a:buFontTx/>
                <a:buNone/>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panose="020B0503020204020204" pitchFamily="34" charset="-122"/>
                </a:rPr>
                <a:t>什么是社交网络？</a:t>
              </a:r>
              <a:endParaRPr kumimoji="0" lang="en-US" altLang="zh-CN"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panose="020B0503020204020204" pitchFamily="34" charset="-122"/>
              </a:endParaRPr>
            </a:p>
            <a:p>
              <a:pPr marL="0" marR="0" lvl="0" indent="0" algn="l" defTabSz="889000" rtl="0" eaLnBrk="0" fontAlgn="base" latinLnBrk="0" hangingPunct="0">
                <a:lnSpc>
                  <a:spcPct val="130000"/>
                </a:lnSpc>
                <a:spcBef>
                  <a:spcPct val="0"/>
                </a:spcBef>
                <a:spcAft>
                  <a:spcPct val="35000"/>
                </a:spcAft>
                <a:buClrTx/>
                <a:buSzTx/>
                <a:buFontTx/>
                <a:buNone/>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panose="020B0503020204020204" pitchFamily="34" charset="-122"/>
                </a:rPr>
                <a:t>列举你所了解的“社交网络”</a:t>
              </a:r>
            </a:p>
          </p:txBody>
        </p:sp>
      </p:grpSp>
      <p:sp>
        <p:nvSpPr>
          <p:cNvPr id="12" name="文本框 11"/>
          <p:cNvSpPr txBox="1"/>
          <p:nvPr/>
        </p:nvSpPr>
        <p:spPr>
          <a:xfrm>
            <a:off x="4038600" y="1792288"/>
            <a:ext cx="4740275" cy="647700"/>
          </a:xfrm>
          <a:prstGeom prst="rect">
            <a:avLst/>
          </a:prstGeom>
          <a:noFill/>
        </p:spPr>
        <p:txBody>
          <a:bodyPr>
            <a:spAutoFit/>
          </a:bodyPr>
          <a:lstStyle>
            <a:defPPr>
              <a:defRPr lang="en-US"/>
            </a:defPPr>
            <a:lvl1pPr indent="14605">
              <a:lnSpc>
                <a:spcPts val="2940"/>
              </a:lnSpc>
              <a:spcAft>
                <a:spcPts val="600"/>
              </a:spcAft>
              <a:defRPr sz="2200" b="1" kern="100">
                <a:solidFill>
                  <a:srgbClr val="C00000"/>
                </a:solidFill>
                <a:effectLst/>
                <a:latin typeface="Bodoni 72 Book" panose="00000400000000000000" pitchFamily="2" charset="0"/>
                <a:ea typeface="Heiti SC Medium" panose="02000000000000000000" pitchFamily="2" charset="-128"/>
              </a:defRPr>
            </a:lvl1pPr>
          </a:lstStyle>
          <a:p>
            <a:pPr marL="0" marR="0" lvl="0" indent="10795" algn="l" defTabSz="342900" rtl="0" eaLnBrk="1" fontAlgn="auto" latinLnBrk="0" hangingPunct="1">
              <a:lnSpc>
                <a:spcPts val="2205"/>
              </a:lnSpc>
              <a:spcBef>
                <a:spcPts val="0"/>
              </a:spcBef>
              <a:spcAft>
                <a:spcPts val="450"/>
              </a:spcAft>
              <a:buClrTx/>
              <a:buSzTx/>
              <a:buFontTx/>
              <a:buNone/>
              <a:defRPr/>
            </a:pPr>
            <a:r>
              <a:rPr kumimoji="0" lang="zh-CN" altLang="en-US" sz="1800" b="1" i="0" u="none" strike="noStrike" kern="100" cap="none" spc="0" normalizeH="0" baseline="0" noProof="0" dirty="0">
                <a:ln>
                  <a:noFill/>
                </a:ln>
                <a:solidFill>
                  <a:srgbClr val="28455F"/>
                </a:solidFill>
                <a:effectLst/>
                <a:uLnTx/>
                <a:uFillTx/>
                <a:latin typeface="Bodoni 72 Book" panose="00000400000000000000" pitchFamily="2" charset="0"/>
                <a:ea typeface="Heiti SC Medium" panose="02000000000000000000" pitchFamily="2" charset="-128"/>
                <a:cs typeface="+mn-cs"/>
              </a:rPr>
              <a:t>基于互联网的人与人之间相互联系、信息沟通和互动娱乐的运作平台。</a:t>
            </a:r>
            <a:endParaRPr kumimoji="0" lang="en-US" altLang="zh-CN" sz="1800" b="1" i="0" u="none" strike="noStrike" kern="0" cap="none" spc="0" normalizeH="0" baseline="0" noProof="0" dirty="0">
              <a:ln>
                <a:noFill/>
              </a:ln>
              <a:solidFill>
                <a:srgbClr val="C00000"/>
              </a:solidFill>
              <a:effectLst/>
              <a:uLnTx/>
              <a:uFillTx/>
              <a:latin typeface="Kaiti SC" panose="02010600040101010101" pitchFamily="2" charset="-122"/>
              <a:ea typeface="Kaiti SC" panose="02010600040101010101" pitchFamily="2" charset="-122"/>
              <a:cs typeface="+mn-cs"/>
            </a:endParaRPr>
          </a:p>
        </p:txBody>
      </p:sp>
      <p:pic>
        <p:nvPicPr>
          <p:cNvPr id="102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11213" y="3287713"/>
            <a:ext cx="830262"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8"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l="22935" t="17206" r="25441" b="12987"/>
          <a:stretch>
            <a:fillRect/>
          </a:stretch>
        </p:blipFill>
        <p:spPr bwMode="auto">
          <a:xfrm>
            <a:off x="1803400" y="3235325"/>
            <a:ext cx="941388" cy="795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2" name="Picture 8"/>
          <p:cNvPicPr>
            <a:picLocks noChangeAspect="1" noChangeArrowheads="1"/>
          </p:cNvPicPr>
          <p:nvPr/>
        </p:nvPicPr>
        <p:blipFill>
          <a:blip r:embed="rId5">
            <a:extLst>
              <a:ext uri="{28A0092B-C50C-407E-A947-70E740481C1C}">
                <a14:useLocalDpi xmlns:a14="http://schemas.microsoft.com/office/drawing/2010/main" val="0"/>
              </a:ext>
            </a:extLst>
          </a:blip>
          <a:srcRect l="32130" t="4041" r="30511" b="44511"/>
          <a:stretch>
            <a:fillRect/>
          </a:stretch>
        </p:blipFill>
        <p:spPr bwMode="auto">
          <a:xfrm>
            <a:off x="2901950" y="3103563"/>
            <a:ext cx="97948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4" name="Picture 10"/>
          <p:cNvPicPr>
            <a:picLocks noChangeAspect="1" noChangeArrowheads="1"/>
          </p:cNvPicPr>
          <p:nvPr/>
        </p:nvPicPr>
        <p:blipFill>
          <a:blip r:embed="rId6" cstate="print">
            <a:extLst>
              <a:ext uri="{28A0092B-C50C-407E-A947-70E740481C1C}">
                <a14:useLocalDpi xmlns:a14="http://schemas.microsoft.com/office/drawing/2010/main" val="0"/>
              </a:ext>
            </a:extLst>
          </a:blip>
          <a:srcRect l="6860" t="27740" r="7854" b="25661"/>
          <a:stretch>
            <a:fillRect/>
          </a:stretch>
        </p:blipFill>
        <p:spPr bwMode="auto">
          <a:xfrm>
            <a:off x="3254375" y="4156075"/>
            <a:ext cx="1944688" cy="665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6" name="Picture 1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06738" y="5168900"/>
            <a:ext cx="1296987"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8" name="Picture 1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77825" y="4373563"/>
            <a:ext cx="998538" cy="665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0" name="Picture 16"/>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512888" y="4443413"/>
            <a:ext cx="1457325"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 name="组合 12"/>
          <p:cNvGrpSpPr/>
          <p:nvPr/>
        </p:nvGrpSpPr>
        <p:grpSpPr>
          <a:xfrm>
            <a:off x="5760871" y="2908908"/>
            <a:ext cx="2657856" cy="379420"/>
            <a:chOff x="4662293" y="1870486"/>
            <a:chExt cx="6842813" cy="1227442"/>
          </a:xfrm>
          <a:solidFill>
            <a:schemeClr val="accent1">
              <a:lumMod val="50000"/>
            </a:schemeClr>
          </a:solidFill>
        </p:grpSpPr>
        <p:sp>
          <p:nvSpPr>
            <p:cNvPr id="14" name="圆角矩形 13"/>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5" name="圆角矩形 4"/>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9000" rtl="0" eaLnBrk="0" fontAlgn="base" latinLnBrk="0" hangingPunct="0">
                <a:lnSpc>
                  <a:spcPct val="130000"/>
                </a:lnSpc>
                <a:spcBef>
                  <a:spcPct val="0"/>
                </a:spcBef>
                <a:spcAft>
                  <a:spcPct val="35000"/>
                </a:spcAft>
                <a:buClrTx/>
                <a:buSzTx/>
                <a:buFontTx/>
                <a:buNone/>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panose="020B0503020204020204" pitchFamily="34" charset="-122"/>
                </a:rPr>
                <a:t>用户之间的信息传递</a:t>
              </a:r>
            </a:p>
          </p:txBody>
        </p:sp>
      </p:grpSp>
      <p:grpSp>
        <p:nvGrpSpPr>
          <p:cNvPr id="16" name="组合 15"/>
          <p:cNvGrpSpPr/>
          <p:nvPr/>
        </p:nvGrpSpPr>
        <p:grpSpPr>
          <a:xfrm>
            <a:off x="6473936" y="3372137"/>
            <a:ext cx="1944791" cy="379420"/>
            <a:chOff x="4662293" y="1870486"/>
            <a:chExt cx="6842813" cy="1227442"/>
          </a:xfrm>
          <a:solidFill>
            <a:schemeClr val="accent1">
              <a:lumMod val="50000"/>
            </a:schemeClr>
          </a:solidFill>
        </p:grpSpPr>
        <p:sp>
          <p:nvSpPr>
            <p:cNvPr id="18" name="圆角矩形 17"/>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9" name="圆角矩形 4"/>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9000" rtl="0" eaLnBrk="0" fontAlgn="base" latinLnBrk="0" hangingPunct="0">
                <a:lnSpc>
                  <a:spcPct val="130000"/>
                </a:lnSpc>
                <a:spcBef>
                  <a:spcPct val="0"/>
                </a:spcBef>
                <a:spcAft>
                  <a:spcPct val="35000"/>
                </a:spcAft>
                <a:buClrTx/>
                <a:buSzTx/>
                <a:buFontTx/>
                <a:buNone/>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panose="020B0503020204020204" pitchFamily="34" charset="-122"/>
                </a:rPr>
                <a:t>发布自己的状态</a:t>
              </a:r>
            </a:p>
          </p:txBody>
        </p:sp>
      </p:grpSp>
      <p:grpSp>
        <p:nvGrpSpPr>
          <p:cNvPr id="20" name="组合 19"/>
          <p:cNvGrpSpPr/>
          <p:nvPr/>
        </p:nvGrpSpPr>
        <p:grpSpPr>
          <a:xfrm>
            <a:off x="5760871" y="3839206"/>
            <a:ext cx="2341908" cy="379420"/>
            <a:chOff x="4662293" y="1870486"/>
            <a:chExt cx="6842813" cy="1227442"/>
          </a:xfrm>
          <a:solidFill>
            <a:schemeClr val="accent1">
              <a:lumMod val="50000"/>
            </a:schemeClr>
          </a:solidFill>
        </p:grpSpPr>
        <p:sp>
          <p:nvSpPr>
            <p:cNvPr id="21" name="圆角矩形 20"/>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2" name="圆角矩形 4"/>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9000" rtl="0" eaLnBrk="0" fontAlgn="base" latinLnBrk="0" hangingPunct="0">
                <a:lnSpc>
                  <a:spcPct val="130000"/>
                </a:lnSpc>
                <a:spcBef>
                  <a:spcPct val="0"/>
                </a:spcBef>
                <a:spcAft>
                  <a:spcPct val="35000"/>
                </a:spcAft>
                <a:buClrTx/>
                <a:buSzTx/>
                <a:buFontTx/>
                <a:buNone/>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panose="020B0503020204020204" pitchFamily="34" charset="-122"/>
                </a:rPr>
                <a:t>上传图片视频音乐等</a:t>
              </a:r>
            </a:p>
          </p:txBody>
        </p:sp>
      </p:grpSp>
      <p:grpSp>
        <p:nvGrpSpPr>
          <p:cNvPr id="23" name="组合 22"/>
          <p:cNvGrpSpPr/>
          <p:nvPr/>
        </p:nvGrpSpPr>
        <p:grpSpPr>
          <a:xfrm>
            <a:off x="6313269" y="4314479"/>
            <a:ext cx="2105458" cy="379420"/>
            <a:chOff x="4662293" y="1870486"/>
            <a:chExt cx="6842813" cy="1227442"/>
          </a:xfrm>
          <a:solidFill>
            <a:schemeClr val="accent1">
              <a:lumMod val="50000"/>
            </a:schemeClr>
          </a:solidFill>
        </p:grpSpPr>
        <p:sp>
          <p:nvSpPr>
            <p:cNvPr id="24" name="圆角矩形 23"/>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5" name="圆角矩形 4"/>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9000" rtl="0" eaLnBrk="0" fontAlgn="base" latinLnBrk="0" hangingPunct="0">
                <a:lnSpc>
                  <a:spcPct val="130000"/>
                </a:lnSpc>
                <a:spcBef>
                  <a:spcPct val="0"/>
                </a:spcBef>
                <a:spcAft>
                  <a:spcPct val="35000"/>
                </a:spcAft>
                <a:buClrTx/>
                <a:buSzTx/>
                <a:buFontTx/>
                <a:buNone/>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panose="020B0503020204020204" pitchFamily="34" charset="-122"/>
                </a:rPr>
                <a:t>参与某件事的讨论</a:t>
              </a:r>
            </a:p>
          </p:txBody>
        </p:sp>
      </p:grpSp>
      <p:grpSp>
        <p:nvGrpSpPr>
          <p:cNvPr id="26" name="组合 25"/>
          <p:cNvGrpSpPr/>
          <p:nvPr/>
        </p:nvGrpSpPr>
        <p:grpSpPr>
          <a:xfrm>
            <a:off x="5747776" y="4790523"/>
            <a:ext cx="2657856" cy="379420"/>
            <a:chOff x="4662293" y="1870486"/>
            <a:chExt cx="6842813" cy="1227442"/>
          </a:xfrm>
          <a:solidFill>
            <a:schemeClr val="accent1">
              <a:lumMod val="50000"/>
            </a:schemeClr>
          </a:solidFill>
        </p:grpSpPr>
        <p:sp>
          <p:nvSpPr>
            <p:cNvPr id="27" name="圆角矩形 26"/>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8" name="圆角矩形 4"/>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9000" rtl="0" eaLnBrk="0" fontAlgn="base" latinLnBrk="0" hangingPunct="0">
                <a:lnSpc>
                  <a:spcPct val="130000"/>
                </a:lnSpc>
                <a:spcBef>
                  <a:spcPct val="0"/>
                </a:spcBef>
                <a:spcAft>
                  <a:spcPct val="35000"/>
                </a:spcAft>
                <a:buClrTx/>
                <a:buSzTx/>
                <a:buFontTx/>
                <a:buNone/>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panose="020B0503020204020204" pitchFamily="34" charset="-122"/>
                </a:rPr>
                <a:t>记录看过的图书电影等</a:t>
              </a:r>
            </a:p>
          </p:txBody>
        </p:sp>
      </p:grpSp>
      <p:grpSp>
        <p:nvGrpSpPr>
          <p:cNvPr id="32" name="组合 31"/>
          <p:cNvGrpSpPr/>
          <p:nvPr/>
        </p:nvGrpSpPr>
        <p:grpSpPr>
          <a:xfrm>
            <a:off x="5381010" y="5270485"/>
            <a:ext cx="3037717" cy="379420"/>
            <a:chOff x="3684318" y="1870486"/>
            <a:chExt cx="7820788" cy="1227442"/>
          </a:xfrm>
          <a:solidFill>
            <a:schemeClr val="accent1">
              <a:lumMod val="50000"/>
            </a:schemeClr>
          </a:solidFill>
        </p:grpSpPr>
        <p:sp>
          <p:nvSpPr>
            <p:cNvPr id="33" name="圆角矩形 32"/>
            <p:cNvSpPr/>
            <p:nvPr/>
          </p:nvSpPr>
          <p:spPr>
            <a:xfrm>
              <a:off x="3684318" y="1870486"/>
              <a:ext cx="7820788"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34" name="圆角矩形 4"/>
            <p:cNvSpPr/>
            <p:nvPr/>
          </p:nvSpPr>
          <p:spPr>
            <a:xfrm>
              <a:off x="3684318" y="1982039"/>
              <a:ext cx="759872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9000" rtl="0" eaLnBrk="0" fontAlgn="base" latinLnBrk="0" hangingPunct="0">
                <a:lnSpc>
                  <a:spcPct val="130000"/>
                </a:lnSpc>
                <a:spcBef>
                  <a:spcPct val="0"/>
                </a:spcBef>
                <a:spcAft>
                  <a:spcPct val="35000"/>
                </a:spcAft>
                <a:buClrTx/>
                <a:buSzTx/>
                <a:buFontTx/>
                <a:buNone/>
                <a:defRPr/>
              </a:pPr>
              <a:r>
                <a:rPr kumimoji="0" lang="zh-CN" altLang="en-US" sz="18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panose="020B0503020204020204" pitchFamily="34" charset="-122"/>
                </a:rPr>
                <a:t>对音乐电影进行评分评论等</a:t>
              </a:r>
            </a:p>
          </p:txBody>
        </p:sp>
      </p:grpSp>
      <p:grpSp>
        <p:nvGrpSpPr>
          <p:cNvPr id="35" name="组合 34"/>
          <p:cNvGrpSpPr/>
          <p:nvPr/>
        </p:nvGrpSpPr>
        <p:grpSpPr>
          <a:xfrm>
            <a:off x="2828050" y="3296583"/>
            <a:ext cx="3158048" cy="1325635"/>
            <a:chOff x="4662293" y="1870486"/>
            <a:chExt cx="6842813" cy="1227442"/>
          </a:xfrm>
          <a:solidFill>
            <a:schemeClr val="accent5">
              <a:lumMod val="20000"/>
              <a:lumOff val="80000"/>
            </a:schemeClr>
          </a:solidFill>
        </p:grpSpPr>
        <p:sp>
          <p:nvSpPr>
            <p:cNvPr id="36" name="圆角矩形 35"/>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FFFFFF"/>
                </a:solidFill>
                <a:effectLst/>
                <a:uLnTx/>
                <a:uFillTx/>
                <a:latin typeface="Comic Sans MS" panose="030F0902030302020204"/>
                <a:ea typeface="+mn-ea"/>
                <a:cs typeface="+mn-cs"/>
              </a:endParaRPr>
            </a:p>
          </p:txBody>
        </p:sp>
        <p:sp>
          <p:nvSpPr>
            <p:cNvPr id="37" name="圆角矩形 4"/>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l" defTabSz="889000" rtl="0" eaLnBrk="0" fontAlgn="base" latinLnBrk="0" hangingPunct="0">
                <a:lnSpc>
                  <a:spcPct val="130000"/>
                </a:lnSpc>
                <a:spcBef>
                  <a:spcPct val="0"/>
                </a:spcBef>
                <a:spcAft>
                  <a:spcPct val="35000"/>
                </a:spcAft>
                <a:buClrTx/>
                <a:buSzTx/>
                <a:buFontTx/>
                <a:buNone/>
                <a:defRPr/>
              </a:pPr>
              <a:r>
                <a:rPr kumimoji="0" lang="zh-CN" altLang="en-US" sz="1800" b="1" i="0" u="none" strike="noStrike" kern="1200" cap="none" spc="0" normalizeH="0" baseline="0" noProof="0" dirty="0">
                  <a:ln>
                    <a:noFill/>
                  </a:ln>
                  <a:solidFill>
                    <a:srgbClr val="002060"/>
                  </a:solidFill>
                  <a:effectLst/>
                  <a:uLnTx/>
                  <a:uFillTx/>
                  <a:latin typeface="Kaiti SC" panose="02010600040101010101" pitchFamily="2" charset="-122"/>
                  <a:ea typeface="Kaiti SC" panose="02010600040101010101" pitchFamily="2" charset="-122"/>
                  <a:cs typeface="微软雅黑" panose="020B0503020204020204" pitchFamily="34" charset="-122"/>
                </a:rPr>
                <a:t>基于社交网站提供的服务，建立起的虚拟化网络，即为“社交网络”。</a:t>
              </a:r>
            </a:p>
          </p:txBody>
        </p:sp>
      </p:grpSp>
      <p:sp>
        <p:nvSpPr>
          <p:cNvPr id="282641" name="Rectangle 2"/>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关于网络、路由的应用</a:t>
            </a:r>
          </a:p>
        </p:txBody>
      </p:sp>
      <p:pic>
        <p:nvPicPr>
          <p:cNvPr id="282642" name="Picture 95" descr="underline_base"/>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82643" name="组合 29"/>
          <p:cNvGrpSpPr/>
          <p:nvPr/>
        </p:nvGrpSpPr>
        <p:grpSpPr bwMode="auto">
          <a:xfrm>
            <a:off x="6338888" y="506413"/>
            <a:ext cx="2022475" cy="573087"/>
            <a:chOff x="36" y="10305"/>
            <a:chExt cx="3480866" cy="1008000"/>
          </a:xfrm>
        </p:grpSpPr>
        <p:sp>
          <p:nvSpPr>
            <p:cNvPr id="31" name="矩形 30"/>
            <p:cNvSpPr/>
            <p:nvPr/>
          </p:nvSpPr>
          <p:spPr>
            <a:xfrm>
              <a:off x="36" y="10305"/>
              <a:ext cx="3480866" cy="1008000"/>
            </a:xfrm>
            <a:prstGeom prst="rect">
              <a:avLst/>
            </a:prstGeom>
            <a:solidFill>
              <a:srgbClr val="C0504D">
                <a:hueOff val="0"/>
                <a:satOff val="0"/>
                <a:lumOff val="0"/>
                <a:alphaOff val="0"/>
              </a:srgbClr>
            </a:solidFill>
            <a:ln w="25400" cap="flat" cmpd="sng" algn="ctr">
              <a:solidFill>
                <a:srgbClr val="C0504D">
                  <a:hueOff val="0"/>
                  <a:satOff val="0"/>
                  <a:lumOff val="0"/>
                  <a:alphaOff val="0"/>
                </a:srgbClr>
              </a:solidFill>
              <a:prstDash val="solid"/>
            </a:ln>
            <a:effectLst>
              <a:outerShdw blurRad="40000" dist="20000" dir="5400000" rotWithShape="0">
                <a:srgbClr val="000000">
                  <a:alpha val="38000"/>
                </a:srgbClr>
              </a:outerShdw>
            </a:effectLst>
          </p:spPr>
        </p:sp>
        <p:sp>
          <p:nvSpPr>
            <p:cNvPr id="282645" name="文本框 37"/>
            <p:cNvSpPr txBox="1">
              <a:spLocks noChangeArrowheads="1"/>
            </p:cNvSpPr>
            <p:nvPr/>
          </p:nvSpPr>
          <p:spPr bwMode="auto">
            <a:xfrm>
              <a:off x="36" y="10305"/>
              <a:ext cx="3480866" cy="10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42240" tIns="81280" rIns="142240" bIns="81280" anchor="ctr"/>
            <a:lstStyle>
              <a:lvl1pPr defTabSz="889000">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defTabSz="88900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defTabSz="8890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defTabSz="889000">
                <a:spcBef>
                  <a:spcPct val="20000"/>
                </a:spcBef>
                <a:buChar char="–"/>
                <a:defRPr kumimoji="1" sz="2000">
                  <a:solidFill>
                    <a:schemeClr val="tx1"/>
                  </a:solidFill>
                  <a:latin typeface="Times New Roman" panose="02020503050405090304" charset="0"/>
                  <a:ea typeface="宋体" pitchFamily="2" charset="-122"/>
                </a:defRPr>
              </a:lvl4pPr>
              <a:lvl5pPr marL="2057400" indent="-228600" defTabSz="889000">
                <a:spcBef>
                  <a:spcPct val="20000"/>
                </a:spcBef>
                <a:buChar char="»"/>
                <a:defRPr kumimoji="1" sz="2000">
                  <a:solidFill>
                    <a:schemeClr val="tx1"/>
                  </a:solidFill>
                  <a:latin typeface="Times New Roman" panose="02020503050405090304" charset="0"/>
                  <a:ea typeface="宋体" pitchFamily="2" charset="-122"/>
                </a:defRPr>
              </a:lvl5pPr>
              <a:lvl6pPr marL="25146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ctr" defTabSz="889000" rtl="0" eaLnBrk="1" fontAlgn="base" latinLnBrk="0" hangingPunct="1">
                <a:lnSpc>
                  <a:spcPct val="90000"/>
                </a:lnSpc>
                <a:spcBef>
                  <a:spcPct val="0"/>
                </a:spcBef>
                <a:spcAft>
                  <a:spcPct val="35000"/>
                </a:spcAft>
                <a:buClrTx/>
                <a:buSzTx/>
                <a:buFontTx/>
                <a:buNone/>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itchFamily="2" charset="-122"/>
                  <a:cs typeface="+mn-cs"/>
                </a:rPr>
                <a:t>社交网络</a:t>
              </a: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1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26"/>
                                        </p:tgtEl>
                                        <p:attrNameLst>
                                          <p:attrName>style.visibility</p:attrName>
                                        </p:attrNameLst>
                                      </p:cBhvr>
                                      <p:to>
                                        <p:strVal val="visible"/>
                                      </p:to>
                                    </p:set>
                                    <p:animEffect transition="in" filter="dissolve">
                                      <p:cBhvr>
                                        <p:cTn id="12" dur="1000"/>
                                        <p:tgtEl>
                                          <p:spTgt spid="1026"/>
                                        </p:tgtEl>
                                      </p:cBhvr>
                                    </p:animEffect>
                                  </p:childTnLst>
                                </p:cTn>
                              </p:par>
                            </p:childTnLst>
                          </p:cTn>
                        </p:par>
                        <p:par>
                          <p:cTn id="13" fill="hold">
                            <p:stCondLst>
                              <p:cond delay="1000"/>
                            </p:stCondLst>
                            <p:childTnLst>
                              <p:par>
                                <p:cTn id="14" presetID="9" presetClass="entr" presetSubtype="0" fill="hold" nodeType="afterEffect">
                                  <p:stCondLst>
                                    <p:cond delay="0"/>
                                  </p:stCondLst>
                                  <p:childTnLst>
                                    <p:set>
                                      <p:cBhvr>
                                        <p:cTn id="15" dur="1" fill="hold">
                                          <p:stCondLst>
                                            <p:cond delay="0"/>
                                          </p:stCondLst>
                                        </p:cTn>
                                        <p:tgtEl>
                                          <p:spTgt spid="1028"/>
                                        </p:tgtEl>
                                        <p:attrNameLst>
                                          <p:attrName>style.visibility</p:attrName>
                                        </p:attrNameLst>
                                      </p:cBhvr>
                                      <p:to>
                                        <p:strVal val="visible"/>
                                      </p:to>
                                    </p:set>
                                    <p:animEffect transition="in" filter="dissolve">
                                      <p:cBhvr>
                                        <p:cTn id="16" dur="1000"/>
                                        <p:tgtEl>
                                          <p:spTgt spid="1028"/>
                                        </p:tgtEl>
                                      </p:cBhvr>
                                    </p:animEffect>
                                  </p:childTnLst>
                                </p:cTn>
                              </p:par>
                            </p:childTnLst>
                          </p:cTn>
                        </p:par>
                        <p:par>
                          <p:cTn id="17" fill="hold">
                            <p:stCondLst>
                              <p:cond delay="2000"/>
                            </p:stCondLst>
                            <p:childTnLst>
                              <p:par>
                                <p:cTn id="18" presetID="9" presetClass="entr" presetSubtype="0" fill="hold" nodeType="afterEffect">
                                  <p:stCondLst>
                                    <p:cond delay="0"/>
                                  </p:stCondLst>
                                  <p:childTnLst>
                                    <p:set>
                                      <p:cBhvr>
                                        <p:cTn id="19" dur="1" fill="hold">
                                          <p:stCondLst>
                                            <p:cond delay="0"/>
                                          </p:stCondLst>
                                        </p:cTn>
                                        <p:tgtEl>
                                          <p:spTgt spid="1032"/>
                                        </p:tgtEl>
                                        <p:attrNameLst>
                                          <p:attrName>style.visibility</p:attrName>
                                        </p:attrNameLst>
                                      </p:cBhvr>
                                      <p:to>
                                        <p:strVal val="visible"/>
                                      </p:to>
                                    </p:set>
                                    <p:animEffect transition="in" filter="dissolve">
                                      <p:cBhvr>
                                        <p:cTn id="20" dur="1000"/>
                                        <p:tgtEl>
                                          <p:spTgt spid="1032"/>
                                        </p:tgtEl>
                                      </p:cBhvr>
                                    </p:animEffect>
                                  </p:childTnLst>
                                </p:cTn>
                              </p:par>
                            </p:childTnLst>
                          </p:cTn>
                        </p:par>
                        <p:par>
                          <p:cTn id="21" fill="hold">
                            <p:stCondLst>
                              <p:cond delay="3000"/>
                            </p:stCondLst>
                            <p:childTnLst>
                              <p:par>
                                <p:cTn id="22" presetID="9" presetClass="entr" presetSubtype="0" fill="hold" nodeType="afterEffect">
                                  <p:stCondLst>
                                    <p:cond delay="0"/>
                                  </p:stCondLst>
                                  <p:childTnLst>
                                    <p:set>
                                      <p:cBhvr>
                                        <p:cTn id="23" dur="1" fill="hold">
                                          <p:stCondLst>
                                            <p:cond delay="0"/>
                                          </p:stCondLst>
                                        </p:cTn>
                                        <p:tgtEl>
                                          <p:spTgt spid="1034"/>
                                        </p:tgtEl>
                                        <p:attrNameLst>
                                          <p:attrName>style.visibility</p:attrName>
                                        </p:attrNameLst>
                                      </p:cBhvr>
                                      <p:to>
                                        <p:strVal val="visible"/>
                                      </p:to>
                                    </p:set>
                                    <p:animEffect transition="in" filter="dissolve">
                                      <p:cBhvr>
                                        <p:cTn id="24" dur="1000"/>
                                        <p:tgtEl>
                                          <p:spTgt spid="1034"/>
                                        </p:tgtEl>
                                      </p:cBhvr>
                                    </p:animEffect>
                                  </p:childTnLst>
                                </p:cTn>
                              </p:par>
                            </p:childTnLst>
                          </p:cTn>
                        </p:par>
                        <p:par>
                          <p:cTn id="25" fill="hold">
                            <p:stCondLst>
                              <p:cond delay="4000"/>
                            </p:stCondLst>
                            <p:childTnLst>
                              <p:par>
                                <p:cTn id="26" presetID="9" presetClass="entr" presetSubtype="0" fill="hold" nodeType="afterEffect">
                                  <p:stCondLst>
                                    <p:cond delay="0"/>
                                  </p:stCondLst>
                                  <p:childTnLst>
                                    <p:set>
                                      <p:cBhvr>
                                        <p:cTn id="27" dur="1" fill="hold">
                                          <p:stCondLst>
                                            <p:cond delay="0"/>
                                          </p:stCondLst>
                                        </p:cTn>
                                        <p:tgtEl>
                                          <p:spTgt spid="1036"/>
                                        </p:tgtEl>
                                        <p:attrNameLst>
                                          <p:attrName>style.visibility</p:attrName>
                                        </p:attrNameLst>
                                      </p:cBhvr>
                                      <p:to>
                                        <p:strVal val="visible"/>
                                      </p:to>
                                    </p:set>
                                    <p:animEffect transition="in" filter="dissolve">
                                      <p:cBhvr>
                                        <p:cTn id="28" dur="1000"/>
                                        <p:tgtEl>
                                          <p:spTgt spid="1036"/>
                                        </p:tgtEl>
                                      </p:cBhvr>
                                    </p:animEffect>
                                  </p:childTnLst>
                                </p:cTn>
                              </p:par>
                            </p:childTnLst>
                          </p:cTn>
                        </p:par>
                        <p:par>
                          <p:cTn id="29" fill="hold">
                            <p:stCondLst>
                              <p:cond delay="5000"/>
                            </p:stCondLst>
                            <p:childTnLst>
                              <p:par>
                                <p:cTn id="30" presetID="9" presetClass="entr" presetSubtype="0" fill="hold" nodeType="afterEffect">
                                  <p:stCondLst>
                                    <p:cond delay="0"/>
                                  </p:stCondLst>
                                  <p:childTnLst>
                                    <p:set>
                                      <p:cBhvr>
                                        <p:cTn id="31" dur="1" fill="hold">
                                          <p:stCondLst>
                                            <p:cond delay="0"/>
                                          </p:stCondLst>
                                        </p:cTn>
                                        <p:tgtEl>
                                          <p:spTgt spid="1038"/>
                                        </p:tgtEl>
                                        <p:attrNameLst>
                                          <p:attrName>style.visibility</p:attrName>
                                        </p:attrNameLst>
                                      </p:cBhvr>
                                      <p:to>
                                        <p:strVal val="visible"/>
                                      </p:to>
                                    </p:set>
                                    <p:animEffect transition="in" filter="dissolve">
                                      <p:cBhvr>
                                        <p:cTn id="32" dur="1000"/>
                                        <p:tgtEl>
                                          <p:spTgt spid="1038"/>
                                        </p:tgtEl>
                                      </p:cBhvr>
                                    </p:animEffect>
                                  </p:childTnLst>
                                </p:cTn>
                              </p:par>
                            </p:childTnLst>
                          </p:cTn>
                        </p:par>
                        <p:par>
                          <p:cTn id="33" fill="hold">
                            <p:stCondLst>
                              <p:cond delay="6000"/>
                            </p:stCondLst>
                            <p:childTnLst>
                              <p:par>
                                <p:cTn id="34" presetID="9" presetClass="entr" presetSubtype="0" fill="hold" nodeType="afterEffect">
                                  <p:stCondLst>
                                    <p:cond delay="0"/>
                                  </p:stCondLst>
                                  <p:childTnLst>
                                    <p:set>
                                      <p:cBhvr>
                                        <p:cTn id="35" dur="1" fill="hold">
                                          <p:stCondLst>
                                            <p:cond delay="0"/>
                                          </p:stCondLst>
                                        </p:cTn>
                                        <p:tgtEl>
                                          <p:spTgt spid="1040"/>
                                        </p:tgtEl>
                                        <p:attrNameLst>
                                          <p:attrName>style.visibility</p:attrName>
                                        </p:attrNameLst>
                                      </p:cBhvr>
                                      <p:to>
                                        <p:strVal val="visible"/>
                                      </p:to>
                                    </p:set>
                                    <p:animEffect transition="in" filter="dissolve">
                                      <p:cBhvr>
                                        <p:cTn id="36" dur="1000"/>
                                        <p:tgtEl>
                                          <p:spTgt spid="1040"/>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dissolve">
                                      <p:cBhvr>
                                        <p:cTn id="41" dur="1000"/>
                                        <p:tgtEl>
                                          <p:spTgt spid="13"/>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dissolve">
                                      <p:cBhvr>
                                        <p:cTn id="46" dur="1000"/>
                                        <p:tgtEl>
                                          <p:spTgt spid="16"/>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nodeType="click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dissolve">
                                      <p:cBhvr>
                                        <p:cTn id="51" dur="1000"/>
                                        <p:tgtEl>
                                          <p:spTgt spid="20"/>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ntr" presetSubtype="0" fill="hold" nodeType="clickEffect">
                                  <p:stCondLst>
                                    <p:cond delay="0"/>
                                  </p:stCondLst>
                                  <p:childTnLst>
                                    <p:set>
                                      <p:cBhvr>
                                        <p:cTn id="55" dur="1" fill="hold">
                                          <p:stCondLst>
                                            <p:cond delay="0"/>
                                          </p:stCondLst>
                                        </p:cTn>
                                        <p:tgtEl>
                                          <p:spTgt spid="23"/>
                                        </p:tgtEl>
                                        <p:attrNameLst>
                                          <p:attrName>style.visibility</p:attrName>
                                        </p:attrNameLst>
                                      </p:cBhvr>
                                      <p:to>
                                        <p:strVal val="visible"/>
                                      </p:to>
                                    </p:set>
                                    <p:animEffect transition="in" filter="dissolve">
                                      <p:cBhvr>
                                        <p:cTn id="56" dur="1000"/>
                                        <p:tgtEl>
                                          <p:spTgt spid="23"/>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dissolve">
                                      <p:cBhvr>
                                        <p:cTn id="61" dur="1000"/>
                                        <p:tgtEl>
                                          <p:spTgt spid="26"/>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32"/>
                                        </p:tgtEl>
                                        <p:attrNameLst>
                                          <p:attrName>style.visibility</p:attrName>
                                        </p:attrNameLst>
                                      </p:cBhvr>
                                      <p:to>
                                        <p:strVal val="visible"/>
                                      </p:to>
                                    </p:set>
                                    <p:animEffect transition="in" filter="dissolve">
                                      <p:cBhvr>
                                        <p:cTn id="66" dur="1000"/>
                                        <p:tgtEl>
                                          <p:spTgt spid="32"/>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nodeType="clickEffect">
                                  <p:stCondLst>
                                    <p:cond delay="0"/>
                                  </p:stCondLst>
                                  <p:childTnLst>
                                    <p:set>
                                      <p:cBhvr>
                                        <p:cTn id="70" dur="1" fill="hold">
                                          <p:stCondLst>
                                            <p:cond delay="0"/>
                                          </p:stCondLst>
                                        </p:cTn>
                                        <p:tgtEl>
                                          <p:spTgt spid="35"/>
                                        </p:tgtEl>
                                        <p:attrNameLst>
                                          <p:attrName>style.visibility</p:attrName>
                                        </p:attrNameLst>
                                      </p:cBhvr>
                                      <p:to>
                                        <p:strVal val="visible"/>
                                      </p:to>
                                    </p:set>
                                    <p:animEffect transition="in" filter="dissolve">
                                      <p:cBhvr>
                                        <p:cTn id="71" dur="1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4673" name="组合 9"/>
          <p:cNvGrpSpPr/>
          <p:nvPr/>
        </p:nvGrpSpPr>
        <p:grpSpPr bwMode="auto">
          <a:xfrm>
            <a:off x="711200" y="1981200"/>
            <a:ext cx="2878138" cy="735013"/>
            <a:chOff x="4662293" y="1870486"/>
            <a:chExt cx="6842813" cy="1227442"/>
          </a:xfrm>
        </p:grpSpPr>
        <p:sp>
          <p:nvSpPr>
            <p:cNvPr id="7" name="圆角矩形 6"/>
            <p:cNvSpPr/>
            <p:nvPr/>
          </p:nvSpPr>
          <p:spPr>
            <a:xfrm>
              <a:off x="4662293" y="1870486"/>
              <a:ext cx="6842813" cy="1227442"/>
            </a:xfrm>
            <a:prstGeom prst="roundRect">
              <a:avLst>
                <a:gd name="adj" fmla="val 10000"/>
              </a:avLst>
            </a:prstGeom>
            <a:solidFill>
              <a:srgbClr val="C0504D"/>
            </a:solid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000" b="0" i="0" u="none" strike="noStrike" kern="1200" cap="none" spc="0" normalizeH="0" baseline="0" noProof="0">
                <a:ln>
                  <a:noFill/>
                </a:ln>
                <a:solidFill>
                  <a:srgbClr val="FFFFFF"/>
                </a:solidFill>
                <a:effectLst/>
                <a:uLnTx/>
                <a:uFillTx/>
                <a:latin typeface="Comic Sans MS" panose="030F0902030302020204"/>
                <a:ea typeface="+mn-ea"/>
                <a:cs typeface="+mn-cs"/>
              </a:endParaRPr>
            </a:p>
          </p:txBody>
        </p:sp>
        <p:sp>
          <p:nvSpPr>
            <p:cNvPr id="9" name="圆角矩形 4"/>
            <p:cNvSpPr/>
            <p:nvPr/>
          </p:nvSpPr>
          <p:spPr>
            <a:xfrm>
              <a:off x="4817041" y="1981831"/>
              <a:ext cx="6465380" cy="991497"/>
            </a:xfrm>
            <a:prstGeom prst="rect">
              <a:avLst/>
            </a:prstGeom>
            <a:no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9000" rtl="0" eaLnBrk="0" fontAlgn="base" latinLnBrk="0" hangingPunct="0">
                <a:lnSpc>
                  <a:spcPct val="130000"/>
                </a:lnSpc>
                <a:spcBef>
                  <a:spcPct val="0"/>
                </a:spcBef>
                <a:spcAft>
                  <a:spcPct val="35000"/>
                </a:spcAft>
                <a:buClrTx/>
                <a:buSzTx/>
                <a:buFontTx/>
                <a:buNone/>
                <a:defRPr/>
              </a:pPr>
              <a:r>
                <a:rPr kumimoji="0" lang="zh-CN" altLang="en-US" sz="20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panose="020B0503020204020204" pitchFamily="34" charset="-122"/>
                </a:rPr>
                <a:t>如何表示“社交网络”？</a:t>
              </a:r>
            </a:p>
          </p:txBody>
        </p:sp>
      </p:grpSp>
      <p:sp>
        <p:nvSpPr>
          <p:cNvPr id="284674" name="文本框 11"/>
          <p:cNvSpPr txBox="1">
            <a:spLocks noChangeArrowheads="1"/>
          </p:cNvSpPr>
          <p:nvPr/>
        </p:nvSpPr>
        <p:spPr bwMode="auto">
          <a:xfrm>
            <a:off x="3989388" y="1936750"/>
            <a:ext cx="51752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9525" defTabSz="342900">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defTabSz="34290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defTabSz="3429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defTabSz="342900">
              <a:spcBef>
                <a:spcPct val="20000"/>
              </a:spcBef>
              <a:buChar char="–"/>
              <a:defRPr kumimoji="1" sz="2000">
                <a:solidFill>
                  <a:schemeClr val="tx1"/>
                </a:solidFill>
                <a:latin typeface="Times New Roman" panose="02020503050405090304" charset="0"/>
                <a:ea typeface="宋体" pitchFamily="2" charset="-122"/>
              </a:defRPr>
            </a:lvl4pPr>
            <a:lvl5pPr marL="2057400" indent="-228600" defTabSz="342900">
              <a:spcBef>
                <a:spcPct val="20000"/>
              </a:spcBef>
              <a:buChar char="»"/>
              <a:defRPr kumimoji="1" sz="2000">
                <a:solidFill>
                  <a:schemeClr val="tx1"/>
                </a:solidFill>
                <a:latin typeface="Times New Roman" panose="02020503050405090304" charset="0"/>
                <a:ea typeface="宋体" pitchFamily="2" charset="-122"/>
              </a:defRPr>
            </a:lvl5pPr>
            <a:lvl6pPr marL="2514600" indent="-228600" defTabSz="3429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defTabSz="3429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defTabSz="3429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defTabSz="3429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9525" algn="l" defTabSz="342900" rtl="0" eaLnBrk="1" fontAlgn="base" latinLnBrk="0" hangingPunct="1">
              <a:lnSpc>
                <a:spcPts val="2200"/>
              </a:lnSpc>
              <a:spcBef>
                <a:spcPct val="0"/>
              </a:spcBef>
              <a:spcAft>
                <a:spcPts val="450"/>
              </a:spcAft>
              <a:buClrTx/>
              <a:buSzTx/>
              <a:buFontTx/>
              <a:buNone/>
              <a:defRPr/>
            </a:pPr>
            <a:r>
              <a:rPr kumimoji="0" lang="zh-CN" altLang="en-US" sz="2000" b="1" i="0" u="none" strike="noStrike" kern="1200" cap="none" spc="0" normalizeH="0" baseline="0" noProof="0">
                <a:ln>
                  <a:noFill/>
                </a:ln>
                <a:solidFill>
                  <a:srgbClr val="28455F"/>
                </a:solidFill>
                <a:effectLst/>
                <a:uLnTx/>
                <a:uFillTx/>
                <a:latin typeface="Bodoni 72 Book" panose="00000400000000000000" pitchFamily="2" charset="0"/>
                <a:ea typeface="Heiti SC Medium" panose="02000000000000000000" pitchFamily="2" charset="-128"/>
                <a:cs typeface="+mn-cs"/>
              </a:rPr>
              <a:t>节点可以表示什么？</a:t>
            </a:r>
            <a:endParaRPr kumimoji="0" lang="en-US" altLang="zh-CN" sz="2000" b="1" i="0" u="none" strike="noStrike" kern="1200" cap="none" spc="0" normalizeH="0" baseline="0" noProof="0">
              <a:ln>
                <a:noFill/>
              </a:ln>
              <a:solidFill>
                <a:srgbClr val="28455F"/>
              </a:solidFill>
              <a:effectLst/>
              <a:uLnTx/>
              <a:uFillTx/>
              <a:latin typeface="Bodoni 72 Book" panose="00000400000000000000" pitchFamily="2" charset="0"/>
              <a:ea typeface="Heiti SC Medium" panose="02000000000000000000" pitchFamily="2" charset="-128"/>
              <a:cs typeface="+mn-cs"/>
            </a:endParaRPr>
          </a:p>
        </p:txBody>
      </p:sp>
      <p:sp>
        <p:nvSpPr>
          <p:cNvPr id="284675" name="文本框 13"/>
          <p:cNvSpPr txBox="1">
            <a:spLocks noChangeArrowheads="1"/>
          </p:cNvSpPr>
          <p:nvPr/>
        </p:nvSpPr>
        <p:spPr bwMode="auto">
          <a:xfrm>
            <a:off x="3989388" y="2425700"/>
            <a:ext cx="4568825"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14605">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a:spcBef>
                <a:spcPct val="20000"/>
              </a:spcBef>
              <a:buChar char="–"/>
              <a:defRPr kumimoji="1" sz="2000">
                <a:solidFill>
                  <a:schemeClr val="tx1"/>
                </a:solidFill>
                <a:latin typeface="Times New Roman" panose="02020503050405090304" charset="0"/>
                <a:ea typeface="宋体" pitchFamily="2" charset="-122"/>
              </a:defRPr>
            </a:lvl4pPr>
            <a:lvl5pPr marL="2057400" indent="-228600">
              <a:spcBef>
                <a:spcPct val="20000"/>
              </a:spcBef>
              <a:buChar char="»"/>
              <a:defRPr kumimoji="1" sz="2000">
                <a:solidFill>
                  <a:schemeClr val="tx1"/>
                </a:solidFill>
                <a:latin typeface="Times New Roman" panose="02020503050405090304"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14605" algn="l" defTabSz="914400" rtl="0" eaLnBrk="0" fontAlgn="base" latinLnBrk="0" hangingPunct="0">
              <a:lnSpc>
                <a:spcPts val="2940"/>
              </a:lnSpc>
              <a:spcBef>
                <a:spcPct val="0"/>
              </a:spcBef>
              <a:spcAft>
                <a:spcPts val="600"/>
              </a:spcAft>
              <a:buClrTx/>
              <a:buSzTx/>
              <a:buFontTx/>
              <a:buNone/>
              <a:defRPr/>
            </a:pPr>
            <a:r>
              <a:rPr kumimoji="0" lang="zh-CN" altLang="en-US" sz="2000" b="1" i="0" u="none" strike="noStrike" kern="1200" cap="none" spc="0" normalizeH="0" baseline="0" noProof="0">
                <a:ln>
                  <a:noFill/>
                </a:ln>
                <a:solidFill>
                  <a:srgbClr val="28455F"/>
                </a:solidFill>
                <a:effectLst/>
                <a:uLnTx/>
                <a:uFillTx/>
                <a:latin typeface="Bodoni 72 Book" panose="00000400000000000000" pitchFamily="2" charset="0"/>
                <a:ea typeface="Heiti SC Medium" panose="02000000000000000000" pitchFamily="2" charset="-128"/>
                <a:cs typeface="+mn-cs"/>
              </a:rPr>
              <a:t>节点间的连接，可以表示什么？</a:t>
            </a:r>
            <a:endParaRPr kumimoji="0" lang="en-US" altLang="zh-CN" sz="2000" b="1" i="0" u="none" strike="noStrike" kern="1200" cap="none" spc="0" normalizeH="0" baseline="0" noProof="0">
              <a:ln>
                <a:noFill/>
              </a:ln>
              <a:solidFill>
                <a:srgbClr val="28455F"/>
              </a:solidFill>
              <a:effectLst/>
              <a:uLnTx/>
              <a:uFillTx/>
              <a:latin typeface="Bodoni 72 Book" panose="00000400000000000000" pitchFamily="2" charset="0"/>
              <a:ea typeface="Heiti SC Medium" panose="02000000000000000000" pitchFamily="2" charset="-128"/>
              <a:cs typeface="+mn-cs"/>
            </a:endParaRPr>
          </a:p>
        </p:txBody>
      </p:sp>
      <p:grpSp>
        <p:nvGrpSpPr>
          <p:cNvPr id="15" name="组合 14"/>
          <p:cNvGrpSpPr/>
          <p:nvPr/>
        </p:nvGrpSpPr>
        <p:grpSpPr>
          <a:xfrm>
            <a:off x="1203316" y="3182929"/>
            <a:ext cx="2657856" cy="735724"/>
            <a:chOff x="4662293" y="1870486"/>
            <a:chExt cx="6842813" cy="1227442"/>
          </a:xfrm>
          <a:solidFill>
            <a:schemeClr val="accent1">
              <a:lumMod val="50000"/>
            </a:schemeClr>
          </a:solidFill>
        </p:grpSpPr>
        <p:sp>
          <p:nvSpPr>
            <p:cNvPr id="16" name="圆角矩形 15"/>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7" name="圆角矩形 4"/>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9000" rtl="0" eaLnBrk="0" fontAlgn="base" latinLnBrk="0" hangingPunct="0">
                <a:lnSpc>
                  <a:spcPct val="130000"/>
                </a:lnSpc>
                <a:spcBef>
                  <a:spcPct val="0"/>
                </a:spcBef>
                <a:spcAft>
                  <a:spcPct val="35000"/>
                </a:spcAft>
                <a:buClrTx/>
                <a:buSzTx/>
                <a:buFontTx/>
                <a:buNone/>
                <a:defRPr/>
              </a:pPr>
              <a:r>
                <a:rPr kumimoji="0" lang="zh-CN" altLang="en-US" sz="20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panose="020B0503020204020204" pitchFamily="34" charset="-122"/>
                </a:rPr>
                <a:t>朋友关系、亲属关系</a:t>
              </a:r>
            </a:p>
          </p:txBody>
        </p:sp>
      </p:grpSp>
      <p:grpSp>
        <p:nvGrpSpPr>
          <p:cNvPr id="18" name="组合 17"/>
          <p:cNvGrpSpPr/>
          <p:nvPr/>
        </p:nvGrpSpPr>
        <p:grpSpPr>
          <a:xfrm>
            <a:off x="2193850" y="4074540"/>
            <a:ext cx="2341907" cy="735724"/>
            <a:chOff x="4662293" y="1870486"/>
            <a:chExt cx="6842813" cy="1227442"/>
          </a:xfrm>
          <a:solidFill>
            <a:schemeClr val="accent1">
              <a:lumMod val="50000"/>
            </a:schemeClr>
          </a:solidFill>
        </p:grpSpPr>
        <p:sp>
          <p:nvSpPr>
            <p:cNvPr id="19" name="圆角矩形 18"/>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0" name="圆角矩形 4"/>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9000" rtl="0" eaLnBrk="0" fontAlgn="base" latinLnBrk="0" hangingPunct="0">
                <a:lnSpc>
                  <a:spcPct val="130000"/>
                </a:lnSpc>
                <a:spcBef>
                  <a:spcPct val="0"/>
                </a:spcBef>
                <a:spcAft>
                  <a:spcPct val="35000"/>
                </a:spcAft>
                <a:buClrTx/>
                <a:buSzTx/>
                <a:buFontTx/>
                <a:buNone/>
                <a:defRPr/>
              </a:pPr>
              <a:r>
                <a:rPr kumimoji="0" lang="zh-CN" altLang="en-US" sz="20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panose="020B0503020204020204" pitchFamily="34" charset="-122"/>
                </a:rPr>
                <a:t> 关注或转发关系</a:t>
              </a:r>
            </a:p>
          </p:txBody>
        </p:sp>
      </p:grpSp>
      <p:grpSp>
        <p:nvGrpSpPr>
          <p:cNvPr id="21" name="组合 20"/>
          <p:cNvGrpSpPr/>
          <p:nvPr/>
        </p:nvGrpSpPr>
        <p:grpSpPr>
          <a:xfrm>
            <a:off x="5405895" y="3604456"/>
            <a:ext cx="2341908" cy="735724"/>
            <a:chOff x="4662293" y="1870486"/>
            <a:chExt cx="6842813" cy="1227442"/>
          </a:xfrm>
          <a:solidFill>
            <a:schemeClr val="accent1">
              <a:lumMod val="50000"/>
            </a:schemeClr>
          </a:solidFill>
        </p:grpSpPr>
        <p:sp>
          <p:nvSpPr>
            <p:cNvPr id="22" name="圆角矩形 21"/>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3" name="圆角矩形 4"/>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9000" rtl="0" eaLnBrk="0" fontAlgn="base" latinLnBrk="0" hangingPunct="0">
                <a:lnSpc>
                  <a:spcPct val="130000"/>
                </a:lnSpc>
                <a:spcBef>
                  <a:spcPct val="0"/>
                </a:spcBef>
                <a:spcAft>
                  <a:spcPct val="35000"/>
                </a:spcAft>
                <a:buClrTx/>
                <a:buSzTx/>
                <a:buFontTx/>
                <a:buNone/>
                <a:defRPr/>
              </a:pPr>
              <a:r>
                <a:rPr kumimoji="0" lang="zh-CN" altLang="en-US" sz="20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panose="020B0503020204020204" pitchFamily="34" charset="-122"/>
                </a:rPr>
                <a:t>支持或反对关系</a:t>
              </a:r>
            </a:p>
          </p:txBody>
        </p:sp>
      </p:grpSp>
      <p:grpSp>
        <p:nvGrpSpPr>
          <p:cNvPr id="24" name="组合 23"/>
          <p:cNvGrpSpPr/>
          <p:nvPr/>
        </p:nvGrpSpPr>
        <p:grpSpPr>
          <a:xfrm>
            <a:off x="4995969" y="4762295"/>
            <a:ext cx="3040447" cy="735724"/>
            <a:chOff x="4662293" y="1870486"/>
            <a:chExt cx="6842813" cy="1227442"/>
          </a:xfrm>
          <a:solidFill>
            <a:schemeClr val="accent1">
              <a:lumMod val="50000"/>
            </a:schemeClr>
          </a:solidFill>
        </p:grpSpPr>
        <p:sp>
          <p:nvSpPr>
            <p:cNvPr id="25" name="圆角矩形 24"/>
            <p:cNvSpPr/>
            <p:nvPr/>
          </p:nvSpPr>
          <p:spPr>
            <a:xfrm>
              <a:off x="4662293" y="1870486"/>
              <a:ext cx="6842813" cy="1227442"/>
            </a:xfrm>
            <a:prstGeom prst="roundRect">
              <a:avLst>
                <a:gd name="adj" fmla="val 10000"/>
              </a:avLst>
            </a:prstGeom>
            <a:grp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6" name="圆角矩形 4"/>
            <p:cNvSpPr/>
            <p:nvPr/>
          </p:nvSpPr>
          <p:spPr>
            <a:xfrm>
              <a:off x="4816929" y="1982040"/>
              <a:ext cx="6466114" cy="990600"/>
            </a:xfrm>
            <a:prstGeom prst="rect">
              <a:avLst/>
            </a:prstGeom>
            <a:grpFill/>
          </p:spPr>
          <p:style>
            <a:lnRef idx="0">
              <a:scrgbClr r="0" g="0" b="0"/>
            </a:lnRef>
            <a:fillRef idx="0">
              <a:scrgbClr r="0" g="0" b="0"/>
            </a:fillRef>
            <a:effectRef idx="0">
              <a:scrgbClr r="0" g="0" b="0"/>
            </a:effectRef>
            <a:fontRef idx="minor">
              <a:schemeClr val="lt1"/>
            </a:fontRef>
          </p:style>
          <p:txBody>
            <a:bodyPr lIns="76200" tIns="76200" rIns="76200" bIns="76200" spcCol="1270" anchor="ctr"/>
            <a:lstStyle/>
            <a:p>
              <a:pPr marL="0" marR="0" lvl="0" indent="0" algn="ctr" defTabSz="889000" rtl="0" eaLnBrk="0" fontAlgn="base" latinLnBrk="0" hangingPunct="0">
                <a:lnSpc>
                  <a:spcPct val="130000"/>
                </a:lnSpc>
                <a:spcBef>
                  <a:spcPct val="0"/>
                </a:spcBef>
                <a:spcAft>
                  <a:spcPct val="35000"/>
                </a:spcAft>
                <a:buClrTx/>
                <a:buSzTx/>
                <a:buFontTx/>
                <a:buNone/>
                <a:defRPr/>
              </a:pPr>
              <a:r>
                <a:rPr kumimoji="0" lang="zh-CN" altLang="en-US" sz="2000" b="0" i="0" u="none" strike="noStrike" kern="1200" cap="none" spc="0" normalizeH="0" baseline="0" noProof="0" dirty="0">
                  <a:ln>
                    <a:noFill/>
                  </a:ln>
                  <a:solidFill>
                    <a:srgbClr val="FFFFFF"/>
                  </a:solidFill>
                  <a:effectLst/>
                  <a:uLnTx/>
                  <a:uFillTx/>
                  <a:latin typeface="Kaiti SC" panose="02010600040101010101" pitchFamily="2" charset="-122"/>
                  <a:ea typeface="Kaiti SC" panose="02010600040101010101" pitchFamily="2" charset="-122"/>
                  <a:cs typeface="微软雅黑" panose="020B0503020204020204" pitchFamily="34" charset="-122"/>
                </a:rPr>
                <a:t>拥有共同的兴趣爱好等</a:t>
              </a:r>
            </a:p>
          </p:txBody>
        </p:sp>
      </p:grpSp>
      <p:sp>
        <p:nvSpPr>
          <p:cNvPr id="284680" name="Rectangle 2"/>
          <p:cNvSpPr>
            <a:spLocks noGrp="1" noChangeArrowheads="1"/>
          </p:cNvSpPr>
          <p:nvPr>
            <p:ph type="title"/>
          </p:nvPr>
        </p:nvSpPr>
        <p:spPr>
          <a:xfrm>
            <a:off x="512763" y="0"/>
            <a:ext cx="8116887" cy="1462088"/>
          </a:xfrm>
        </p:spPr>
        <p:txBody>
          <a:bodyPr/>
          <a:lstStyle/>
          <a:p>
            <a:pPr eaLnBrk="1" hangingPunct="1"/>
            <a:r>
              <a:rPr lang="zh-CN" altLang="en-US" sz="3600" u="none">
                <a:latin typeface="华文楷体" panose="02010600040101010101" pitchFamily="2" charset="-122"/>
                <a:ea typeface="华文楷体" panose="02010600040101010101" pitchFamily="2" charset="-122"/>
              </a:rPr>
              <a:t>关于网络、路由的应用</a:t>
            </a:r>
          </a:p>
        </p:txBody>
      </p:sp>
      <p:pic>
        <p:nvPicPr>
          <p:cNvPr id="284681" name="Picture 9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4200" y="1079500"/>
            <a:ext cx="5484813" cy="17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84682" name="组合 5"/>
          <p:cNvGrpSpPr/>
          <p:nvPr/>
        </p:nvGrpSpPr>
        <p:grpSpPr bwMode="auto">
          <a:xfrm>
            <a:off x="6338888" y="506413"/>
            <a:ext cx="2022475" cy="573087"/>
            <a:chOff x="36" y="10305"/>
            <a:chExt cx="3480866" cy="1008000"/>
          </a:xfrm>
        </p:grpSpPr>
        <p:sp>
          <p:nvSpPr>
            <p:cNvPr id="8" name="矩形 7"/>
            <p:cNvSpPr/>
            <p:nvPr/>
          </p:nvSpPr>
          <p:spPr>
            <a:xfrm>
              <a:off x="36" y="10305"/>
              <a:ext cx="3480866" cy="1008000"/>
            </a:xfrm>
            <a:prstGeom prst="rect">
              <a:avLst/>
            </a:prstGeom>
            <a:solidFill>
              <a:srgbClr val="C0504D">
                <a:hueOff val="0"/>
                <a:satOff val="0"/>
                <a:lumOff val="0"/>
                <a:alphaOff val="0"/>
              </a:srgbClr>
            </a:solidFill>
            <a:ln w="25400" cap="flat" cmpd="sng" algn="ctr">
              <a:solidFill>
                <a:srgbClr val="C0504D">
                  <a:hueOff val="0"/>
                  <a:satOff val="0"/>
                  <a:lumOff val="0"/>
                  <a:alphaOff val="0"/>
                </a:srgbClr>
              </a:solidFill>
              <a:prstDash val="solid"/>
            </a:ln>
            <a:effectLst>
              <a:outerShdw blurRad="40000" dist="20000" dir="5400000" rotWithShape="0">
                <a:srgbClr val="000000">
                  <a:alpha val="38000"/>
                </a:srgbClr>
              </a:outerShdw>
            </a:effectLst>
          </p:spPr>
        </p:sp>
        <p:sp>
          <p:nvSpPr>
            <p:cNvPr id="284684" name="文本框 10"/>
            <p:cNvSpPr txBox="1">
              <a:spLocks noChangeArrowheads="1"/>
            </p:cNvSpPr>
            <p:nvPr/>
          </p:nvSpPr>
          <p:spPr bwMode="auto">
            <a:xfrm>
              <a:off x="36" y="10305"/>
              <a:ext cx="3480866" cy="10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42240" tIns="81280" rIns="142240" bIns="81280" anchor="ctr"/>
            <a:lstStyle>
              <a:lvl1pPr defTabSz="889000">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defRPr>
              </a:lvl1pPr>
              <a:lvl2pPr marL="742950" indent="-285750" defTabSz="88900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宋体" pitchFamily="2" charset="-122"/>
                </a:defRPr>
              </a:lvl2pPr>
              <a:lvl3pPr marL="1143000" indent="-228600" defTabSz="889000">
                <a:spcBef>
                  <a:spcPct val="20000"/>
                </a:spcBef>
                <a:buChar char="•"/>
                <a:defRPr kumimoji="1" sz="2000">
                  <a:solidFill>
                    <a:schemeClr val="tx1"/>
                  </a:solidFill>
                  <a:latin typeface="Comic Sans MS" panose="030F0902030302020204" pitchFamily="66" charset="0"/>
                  <a:ea typeface="宋体" pitchFamily="2" charset="-122"/>
                </a:defRPr>
              </a:lvl3pPr>
              <a:lvl4pPr marL="1600200" indent="-228600" defTabSz="889000">
                <a:spcBef>
                  <a:spcPct val="20000"/>
                </a:spcBef>
                <a:buChar char="–"/>
                <a:defRPr kumimoji="1" sz="2000">
                  <a:solidFill>
                    <a:schemeClr val="tx1"/>
                  </a:solidFill>
                  <a:latin typeface="Times New Roman" panose="02020503050405090304" charset="0"/>
                  <a:ea typeface="宋体" pitchFamily="2" charset="-122"/>
                </a:defRPr>
              </a:lvl4pPr>
              <a:lvl5pPr marL="2057400" indent="-228600" defTabSz="889000">
                <a:spcBef>
                  <a:spcPct val="20000"/>
                </a:spcBef>
                <a:buChar char="»"/>
                <a:defRPr kumimoji="1" sz="2000">
                  <a:solidFill>
                    <a:schemeClr val="tx1"/>
                  </a:solidFill>
                  <a:latin typeface="Times New Roman" panose="02020503050405090304" charset="0"/>
                  <a:ea typeface="宋体" pitchFamily="2" charset="-122"/>
                </a:defRPr>
              </a:lvl5pPr>
              <a:lvl6pPr marL="25146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6pPr>
              <a:lvl7pPr marL="29718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7pPr>
              <a:lvl8pPr marL="34290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8pPr>
              <a:lvl9pPr marL="3886200" indent="-228600" defTabSz="889000" eaLnBrk="0" fontAlgn="base" hangingPunct="0">
                <a:spcBef>
                  <a:spcPct val="20000"/>
                </a:spcBef>
                <a:spcAft>
                  <a:spcPct val="0"/>
                </a:spcAft>
                <a:buChar char="»"/>
                <a:defRPr kumimoji="1" sz="2000">
                  <a:solidFill>
                    <a:schemeClr val="tx1"/>
                  </a:solidFill>
                  <a:latin typeface="Times New Roman" panose="02020503050405090304" charset="0"/>
                  <a:ea typeface="宋体" pitchFamily="2" charset="-122"/>
                </a:defRPr>
              </a:lvl9pPr>
            </a:lstStyle>
            <a:p>
              <a:pPr marL="0" marR="0" lvl="0" indent="0" algn="ctr" defTabSz="889000" rtl="0" eaLnBrk="1" fontAlgn="base" latinLnBrk="0" hangingPunct="1">
                <a:lnSpc>
                  <a:spcPct val="90000"/>
                </a:lnSpc>
                <a:spcBef>
                  <a:spcPct val="0"/>
                </a:spcBef>
                <a:spcAft>
                  <a:spcPct val="35000"/>
                </a:spcAft>
                <a:buClrTx/>
                <a:buSzTx/>
                <a:buFontTx/>
                <a:buNone/>
                <a:defRPr/>
              </a:pPr>
              <a:r>
                <a:rPr kumimoji="0" lang="zh-CN" altLang="en-US" sz="2000" b="1" i="0" u="none" strike="noStrike" kern="1200" cap="none" spc="0" normalizeH="0" baseline="0" noProof="0">
                  <a:ln>
                    <a:noFill/>
                  </a:ln>
                  <a:solidFill>
                    <a:srgbClr val="FFFFFF"/>
                  </a:solidFill>
                  <a:effectLst/>
                  <a:uLnTx/>
                  <a:uFillTx/>
                  <a:latin typeface="微软雅黑" panose="020B0503020204020204" pitchFamily="34" charset="-122"/>
                  <a:ea typeface="宋体" pitchFamily="2" charset="-122"/>
                  <a:cs typeface="+mn-cs"/>
                </a:rPr>
                <a:t>社交网络</a:t>
              </a: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10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10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dissolve">
                                      <p:cBhvr>
                                        <p:cTn id="17" dur="1000"/>
                                        <p:tgtEl>
                                          <p:spTgt spid="2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dissolve">
                                      <p:cBhvr>
                                        <p:cTn id="22"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p:spPr>
      </p:pic>
      <p:sp>
        <p:nvSpPr>
          <p:cNvPr id="43012" name="Rectangle 3"/>
          <p:cNvSpPr>
            <a:spLocks noGrp="1" noChangeArrowheads="1"/>
          </p:cNvSpPr>
          <p:nvPr>
            <p:ph type="body" sz="half" idx="1"/>
          </p:nvPr>
        </p:nvSpPr>
        <p:spPr/>
        <p:txBody>
          <a:bodyPr/>
          <a:lstStyle/>
          <a:p>
            <a:pPr>
              <a:lnSpc>
                <a:spcPct val="100000"/>
              </a:lnSpc>
              <a:buFont typeface="Wingdings" panose="05000000000000000000" charset="0"/>
              <a:buNone/>
            </a:pPr>
            <a:r>
              <a:rPr lang="en-US" sz="2400" dirty="0">
                <a:latin typeface="Gill Sans MT" pitchFamily="34" charset="0"/>
              </a:rPr>
              <a:t>5.1 introduction</a:t>
            </a:r>
          </a:p>
          <a:p>
            <a:pPr>
              <a:lnSpc>
                <a:spcPct val="100000"/>
              </a:lnSpc>
              <a:buFont typeface="Wingdings" panose="05000000000000000000" charset="0"/>
              <a:buNone/>
            </a:pPr>
            <a:r>
              <a:rPr lang="en-US" sz="2400" dirty="0">
                <a:solidFill>
                  <a:srgbClr val="CC0000"/>
                </a:solidFill>
                <a:latin typeface="Gill Sans MT" pitchFamily="34" charset="0"/>
              </a:rPr>
              <a:t>5.2 routing protocols</a:t>
            </a:r>
          </a:p>
          <a:p>
            <a:pPr>
              <a:lnSpc>
                <a:spcPts val="2580"/>
              </a:lnSpc>
            </a:pPr>
            <a:r>
              <a:rPr lang="en-US" sz="2400" dirty="0">
                <a:solidFill>
                  <a:srgbClr val="CC0000"/>
                </a:solidFill>
                <a:latin typeface="Gill Sans MT" pitchFamily="34" charset="0"/>
              </a:rPr>
              <a:t>link state</a:t>
            </a:r>
          </a:p>
          <a:p>
            <a:pPr>
              <a:lnSpc>
                <a:spcPts val="2580"/>
              </a:lnSpc>
            </a:pPr>
            <a:r>
              <a:rPr lang="en-US" sz="2400" dirty="0">
                <a:latin typeface="Gill Sans MT" pitchFamily="34" charset="0"/>
              </a:rPr>
              <a:t>distance vector</a:t>
            </a:r>
          </a:p>
          <a:p>
            <a:pPr marL="462280" indent="-462280">
              <a:lnSpc>
                <a:spcPct val="100000"/>
              </a:lnSpc>
              <a:buNone/>
            </a:pPr>
            <a:r>
              <a:rPr lang="en-US" sz="2400" dirty="0"/>
              <a:t>5.3 intra-AS routing in the Internet: OSPF</a:t>
            </a:r>
          </a:p>
          <a:p>
            <a:pPr marL="462280" indent="-462280">
              <a:lnSpc>
                <a:spcPct val="100000"/>
              </a:lnSpc>
              <a:buNone/>
            </a:pPr>
            <a:r>
              <a:rPr lang="en-US" sz="2400" dirty="0"/>
              <a:t>5.4 routing among the ISPs: BGP</a:t>
            </a:r>
            <a:endParaRPr lang="en-US" sz="2400" dirty="0">
              <a:latin typeface="Gill Sans MT" pitchFamily="34" charset="0"/>
            </a:endParaRPr>
          </a:p>
        </p:txBody>
      </p:sp>
      <p:sp>
        <p:nvSpPr>
          <p:cNvPr id="43013" name="Rectangle 4"/>
          <p:cNvSpPr>
            <a:spLocks noGrp="1" noChangeArrowheads="1"/>
          </p:cNvSpPr>
          <p:nvPr>
            <p:ph type="body" sz="half" idx="2"/>
          </p:nvPr>
        </p:nvSpPr>
        <p:spPr/>
        <p:txBody>
          <a:bodyPr/>
          <a:lstStyle/>
          <a:p>
            <a:pPr marL="462280" indent="-462280">
              <a:lnSpc>
                <a:spcPct val="100000"/>
              </a:lnSpc>
              <a:buFont typeface="Wingdings" panose="05000000000000000000" charset="0"/>
              <a:buNone/>
            </a:pPr>
            <a:r>
              <a:rPr lang="en-US" sz="2400" dirty="0">
                <a:latin typeface="Gill Sans MT" pitchFamily="34" charset="0"/>
              </a:rPr>
              <a:t>5.5 The SDN control plane</a:t>
            </a:r>
          </a:p>
          <a:p>
            <a:pPr marL="462280" indent="-462280">
              <a:lnSpc>
                <a:spcPct val="100000"/>
              </a:lnSpc>
              <a:buNone/>
            </a:pPr>
            <a:r>
              <a:rPr lang="en-US" sz="2400" dirty="0"/>
              <a:t>5.6 ICMP: The Internet Control Message Protocol </a:t>
            </a:r>
          </a:p>
          <a:p>
            <a:pPr marL="462280" indent="-462280">
              <a:lnSpc>
                <a:spcPct val="100000"/>
              </a:lnSpc>
              <a:buNone/>
            </a:pPr>
            <a:r>
              <a:rPr lang="en-US" sz="2400" dirty="0"/>
              <a:t>5.7 Network management and SNMP</a:t>
            </a:r>
            <a:endParaRPr lang="en-US" sz="2400" dirty="0">
              <a:latin typeface="Gill Sans MT" pitchFamily="34" charset="0"/>
            </a:endParaRPr>
          </a:p>
        </p:txBody>
      </p:sp>
      <p:sp>
        <p:nvSpPr>
          <p:cNvPr id="43014" name="Rectangle 2"/>
          <p:cNvSpPr>
            <a:spLocks noChangeArrowheads="1"/>
          </p:cNvSpPr>
          <p:nvPr/>
        </p:nvSpPr>
        <p:spPr bwMode="auto">
          <a:xfrm>
            <a:off x="533400" y="228600"/>
            <a:ext cx="7772400" cy="1143000"/>
          </a:xfrm>
          <a:prstGeom prst="rect">
            <a:avLst/>
          </a:prstGeom>
          <a:noFill/>
          <a:ln>
            <a:noFill/>
          </a:ln>
        </p:spPr>
        <p:txBody>
          <a:bodyPr anchor="ctr"/>
          <a:lstStyle/>
          <a:p>
            <a:r>
              <a:rPr lang="en-US" sz="4400" dirty="0">
                <a:solidFill>
                  <a:srgbClr val="000099"/>
                </a:solidFill>
                <a:latin typeface="Gill Sans MT" pitchFamily="34" charset="0"/>
              </a:rPr>
              <a:t>Chapter 5: outline</a:t>
            </a:r>
          </a:p>
        </p:txBody>
      </p:sp>
      <p:sp>
        <p:nvSpPr>
          <p:cNvPr id="10"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23</a:t>
            </a:fld>
            <a:endParaRPr lang="en-US" sz="1200" dirty="0">
              <a:latin typeface="Tahoma" panose="020B0604030504040204" charset="0"/>
            </a:endParaRPr>
          </a:p>
        </p:txBody>
      </p:sp>
      <p:sp>
        <p:nvSpPr>
          <p:cNvPr id="11"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931" name="Picture 6"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325" y="1014413"/>
            <a:ext cx="6856413" cy="173037"/>
          </a:xfrm>
          <a:prstGeom prst="rect">
            <a:avLst/>
          </a:prstGeom>
          <a:noFill/>
          <a:ln>
            <a:noFill/>
          </a:ln>
        </p:spPr>
      </p:pic>
      <p:sp>
        <p:nvSpPr>
          <p:cNvPr id="124932" name="Rectangle 2"/>
          <p:cNvSpPr>
            <a:spLocks noGrp="1" noChangeArrowheads="1"/>
          </p:cNvSpPr>
          <p:nvPr>
            <p:ph type="title"/>
          </p:nvPr>
        </p:nvSpPr>
        <p:spPr/>
        <p:txBody>
          <a:bodyPr/>
          <a:lstStyle/>
          <a:p>
            <a:r>
              <a:rPr lang="en-US" sz="4000" dirty="0">
                <a:latin typeface="Gill Sans MT" pitchFamily="34" charset="0"/>
              </a:rPr>
              <a:t>A link-state routing algorithm</a:t>
            </a:r>
            <a:endParaRPr lang="en-US" dirty="0">
              <a:latin typeface="Gill Sans MT" pitchFamily="34" charset="0"/>
            </a:endParaRPr>
          </a:p>
        </p:txBody>
      </p:sp>
      <p:sp>
        <p:nvSpPr>
          <p:cNvPr id="124933" name="Rectangle 3"/>
          <p:cNvSpPr>
            <a:spLocks noGrp="1" noChangeArrowheads="1"/>
          </p:cNvSpPr>
          <p:nvPr>
            <p:ph type="body" sz="half" idx="1"/>
          </p:nvPr>
        </p:nvSpPr>
        <p:spPr>
          <a:xfrm>
            <a:off x="389255" y="1371600"/>
            <a:ext cx="4078605" cy="4904105"/>
          </a:xfrm>
        </p:spPr>
        <p:txBody>
          <a:bodyPr/>
          <a:lstStyle/>
          <a:p>
            <a:pPr>
              <a:buFont typeface="Wingdings" panose="05000000000000000000" charset="0"/>
              <a:buNone/>
            </a:pPr>
            <a:r>
              <a:rPr lang="en-US" i="1" dirty="0">
                <a:solidFill>
                  <a:srgbClr val="CC0000"/>
                </a:solidFill>
                <a:latin typeface="Gill Sans MT" pitchFamily="34" charset="0"/>
              </a:rPr>
              <a:t>Dijkstra</a:t>
            </a:r>
            <a:r>
              <a:rPr lang="ja-JP" altLang="en-US" i="1">
                <a:solidFill>
                  <a:srgbClr val="CC0000"/>
                </a:solidFill>
                <a:latin typeface="Gill Sans MT" pitchFamily="34" charset="0"/>
              </a:rPr>
              <a:t>’</a:t>
            </a:r>
            <a:r>
              <a:rPr lang="en-US" altLang="ja-JP" i="1" dirty="0">
                <a:solidFill>
                  <a:srgbClr val="CC0000"/>
                </a:solidFill>
                <a:latin typeface="Gill Sans MT" pitchFamily="34" charset="0"/>
              </a:rPr>
              <a:t>s algorithm</a:t>
            </a:r>
          </a:p>
          <a:p>
            <a:r>
              <a:rPr lang="en-US" sz="2400" dirty="0">
                <a:latin typeface="Gill Sans MT" pitchFamily="34" charset="0"/>
              </a:rPr>
              <a:t>net topology, link costs known to all nodes</a:t>
            </a:r>
          </a:p>
          <a:p>
            <a:pPr lvl="1"/>
            <a:r>
              <a:rPr lang="en-US" sz="2000" dirty="0">
                <a:latin typeface="Gill Sans MT" pitchFamily="34" charset="0"/>
              </a:rPr>
              <a:t>accomplished via </a:t>
            </a:r>
            <a:r>
              <a:rPr lang="ja-JP" altLang="en-US" sz="2000">
                <a:latin typeface="Gill Sans MT" pitchFamily="34" charset="0"/>
              </a:rPr>
              <a:t>“</a:t>
            </a:r>
            <a:r>
              <a:rPr lang="en-US" altLang="ja-JP" sz="2000" dirty="0">
                <a:latin typeface="Gill Sans MT" pitchFamily="34" charset="0"/>
              </a:rPr>
              <a:t>link state broadcast</a:t>
            </a:r>
            <a:r>
              <a:rPr lang="ja-JP" altLang="en-US" sz="2000">
                <a:latin typeface="Gill Sans MT" pitchFamily="34" charset="0"/>
              </a:rPr>
              <a:t>”</a:t>
            </a:r>
            <a:r>
              <a:rPr lang="en-US" altLang="ja-JP" sz="2000" dirty="0">
                <a:latin typeface="Gill Sans MT" pitchFamily="34" charset="0"/>
              </a:rPr>
              <a:t> </a:t>
            </a:r>
          </a:p>
          <a:p>
            <a:pPr lvl="1"/>
            <a:r>
              <a:rPr lang="en-US" sz="2000" dirty="0">
                <a:latin typeface="Gill Sans MT" pitchFamily="34" charset="0"/>
              </a:rPr>
              <a:t>all nodes have same info</a:t>
            </a:r>
          </a:p>
          <a:p>
            <a:r>
              <a:rPr lang="en-US" sz="2400" dirty="0">
                <a:latin typeface="Gill Sans MT" pitchFamily="34" charset="0"/>
              </a:rPr>
              <a:t>computes least cost paths from one node (</a:t>
            </a:r>
            <a:r>
              <a:rPr lang="ja-JP" altLang="en-US" sz="2400">
                <a:latin typeface="Gill Sans MT" pitchFamily="34" charset="0"/>
              </a:rPr>
              <a:t>‘</a:t>
            </a:r>
            <a:r>
              <a:rPr lang="en-US" altLang="ja-JP" sz="2400" dirty="0">
                <a:latin typeface="Gill Sans MT" pitchFamily="34" charset="0"/>
              </a:rPr>
              <a:t>source</a:t>
            </a:r>
            <a:r>
              <a:rPr lang="ja-JP" altLang="en-US" sz="2400">
                <a:latin typeface="Gill Sans MT" pitchFamily="34" charset="0"/>
              </a:rPr>
              <a:t>”</a:t>
            </a:r>
            <a:r>
              <a:rPr lang="en-US" altLang="ja-JP" sz="2400" dirty="0">
                <a:latin typeface="Gill Sans MT" pitchFamily="34" charset="0"/>
              </a:rPr>
              <a:t>) to all other nodes</a:t>
            </a:r>
          </a:p>
          <a:p>
            <a:pPr lvl="1"/>
            <a:r>
              <a:rPr lang="en-US" sz="2000" dirty="0">
                <a:latin typeface="Gill Sans MT" pitchFamily="34" charset="0"/>
              </a:rPr>
              <a:t>gives </a:t>
            </a:r>
            <a:r>
              <a:rPr lang="en-US" sz="2000" i="1" dirty="0">
                <a:solidFill>
                  <a:srgbClr val="000099"/>
                </a:solidFill>
                <a:latin typeface="Gill Sans MT" pitchFamily="34" charset="0"/>
              </a:rPr>
              <a:t>forwarding table</a:t>
            </a:r>
            <a:r>
              <a:rPr lang="en-US" sz="2000" dirty="0">
                <a:latin typeface="Gill Sans MT" pitchFamily="34" charset="0"/>
              </a:rPr>
              <a:t> for that node</a:t>
            </a:r>
          </a:p>
          <a:p>
            <a:r>
              <a:rPr lang="en-US" sz="2400" dirty="0">
                <a:latin typeface="Gill Sans MT" pitchFamily="34" charset="0"/>
              </a:rPr>
              <a:t>iterative: after k iterations, know least cost path to k </a:t>
            </a:r>
            <a:r>
              <a:rPr lang="en-US" sz="2400" dirty="0" err="1">
                <a:latin typeface="Gill Sans MT" pitchFamily="34" charset="0"/>
              </a:rPr>
              <a:t>dest</a:t>
            </a:r>
            <a:r>
              <a:rPr lang="en-US" sz="2400" dirty="0">
                <a:latin typeface="Gill Sans MT" pitchFamily="34" charset="0"/>
              </a:rPr>
              <a:t>.</a:t>
            </a:r>
            <a:r>
              <a:rPr lang="ja-JP" altLang="en-US" sz="2400">
                <a:latin typeface="Gill Sans MT" pitchFamily="34" charset="0"/>
              </a:rPr>
              <a:t>’</a:t>
            </a:r>
            <a:r>
              <a:rPr lang="en-US" altLang="ja-JP" sz="2400" dirty="0">
                <a:latin typeface="Gill Sans MT" pitchFamily="34" charset="0"/>
              </a:rPr>
              <a:t>s</a:t>
            </a:r>
            <a:endParaRPr lang="en-US" sz="2400" dirty="0">
              <a:latin typeface="Gill Sans MT" pitchFamily="34" charset="0"/>
            </a:endParaRPr>
          </a:p>
        </p:txBody>
      </p:sp>
      <p:sp>
        <p:nvSpPr>
          <p:cNvPr id="8"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24</a:t>
            </a:fld>
            <a:endParaRPr lang="en-US" sz="1200" dirty="0">
              <a:latin typeface="Tahoma" panose="020B0604030504040204" charset="0"/>
            </a:endParaRPr>
          </a:p>
        </p:txBody>
      </p:sp>
      <p:sp>
        <p:nvSpPr>
          <p:cNvPr id="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
        <p:nvSpPr>
          <p:cNvPr id="3" name="文本框 2"/>
          <p:cNvSpPr txBox="1"/>
          <p:nvPr/>
        </p:nvSpPr>
        <p:spPr>
          <a:xfrm>
            <a:off x="1021279" y="109786"/>
            <a:ext cx="7434875" cy="369332"/>
          </a:xfrm>
          <a:prstGeom prst="rect">
            <a:avLst/>
          </a:prstGeom>
          <a:solidFill>
            <a:schemeClr val="bg1"/>
          </a:solidFill>
          <a:effectLst>
            <a:outerShdw blurRad="50800" dist="38100" dir="2700000" algn="tl" rotWithShape="0">
              <a:prstClr val="black">
                <a:alpha val="40000"/>
              </a:prstClr>
            </a:outerShdw>
          </a:effectLst>
        </p:spPr>
        <p:txBody>
          <a:bodyPr wrap="square">
            <a:spAutoFit/>
          </a:bodyPr>
          <a:lstStyle/>
          <a:p>
            <a:pPr algn="l"/>
            <a:r>
              <a:rPr lang="zh-CN" altLang="en-US" b="0" i="0" dirty="0">
                <a:solidFill>
                  <a:schemeClr val="accent1">
                    <a:lumMod val="50000"/>
                  </a:schemeClr>
                </a:solidFill>
                <a:effectLst/>
                <a:latin typeface="PingFang SC" panose="020B0400000000000000" pitchFamily="34" charset="-122"/>
                <a:ea typeface="PingFang SC" panose="020B0400000000000000" pitchFamily="34" charset="-122"/>
              </a:rPr>
              <a:t>本科经典算法</a:t>
            </a:r>
            <a:r>
              <a:rPr lang="en-GB" altLang="zh-CN" b="0" i="0" dirty="0">
                <a:solidFill>
                  <a:schemeClr val="accent1">
                    <a:lumMod val="50000"/>
                  </a:schemeClr>
                </a:solidFill>
                <a:effectLst/>
                <a:latin typeface="PingFang SC" panose="020B0400000000000000" pitchFamily="34" charset="-122"/>
                <a:ea typeface="PingFang SC" panose="020B0400000000000000" pitchFamily="34" charset="-122"/>
              </a:rPr>
              <a:t>Dijkstra</a:t>
            </a:r>
            <a:r>
              <a:rPr lang="zh-CN" altLang="en-GB" b="0" i="0" dirty="0">
                <a:solidFill>
                  <a:schemeClr val="accent1">
                    <a:lumMod val="50000"/>
                  </a:schemeClr>
                </a:solidFill>
                <a:effectLst/>
                <a:latin typeface="PingFang SC" panose="020B0400000000000000" pitchFamily="34" charset="-122"/>
                <a:ea typeface="PingFang SC" panose="020B0400000000000000" pitchFamily="34" charset="-122"/>
              </a:rPr>
              <a:t>，</a:t>
            </a:r>
            <a:r>
              <a:rPr lang="zh-CN" altLang="en-US" b="0" i="0" dirty="0">
                <a:solidFill>
                  <a:schemeClr val="accent1">
                    <a:lumMod val="50000"/>
                  </a:schemeClr>
                </a:solidFill>
                <a:effectLst/>
                <a:latin typeface="PingFang SC" panose="020B0400000000000000" pitchFamily="34" charset="-122"/>
                <a:ea typeface="PingFang SC" panose="020B0400000000000000" pitchFamily="34" charset="-122"/>
              </a:rPr>
              <a:t>被证明是普遍最优了：最坏情况性能也最优！</a:t>
            </a:r>
          </a:p>
        </p:txBody>
      </p:sp>
      <p:grpSp>
        <p:nvGrpSpPr>
          <p:cNvPr id="124945" name="组合 124944"/>
          <p:cNvGrpSpPr/>
          <p:nvPr/>
        </p:nvGrpSpPr>
        <p:grpSpPr>
          <a:xfrm>
            <a:off x="4670236" y="2149007"/>
            <a:ext cx="4217987" cy="3364357"/>
            <a:chOff x="4738716" y="2157413"/>
            <a:chExt cx="4217987" cy="3364357"/>
          </a:xfrm>
        </p:grpSpPr>
        <p:grpSp>
          <p:nvGrpSpPr>
            <p:cNvPr id="6" name="Group 3"/>
            <p:cNvGrpSpPr/>
            <p:nvPr/>
          </p:nvGrpSpPr>
          <p:grpSpPr bwMode="auto">
            <a:xfrm>
              <a:off x="6007011" y="3857471"/>
              <a:ext cx="458036" cy="397823"/>
              <a:chOff x="1613" y="2011"/>
              <a:chExt cx="316" cy="267"/>
            </a:xfrm>
          </p:grpSpPr>
          <p:sp>
            <p:nvSpPr>
              <p:cNvPr id="124938" name="Oval 4"/>
              <p:cNvSpPr>
                <a:spLocks noChangeArrowheads="1"/>
              </p:cNvSpPr>
              <p:nvPr/>
            </p:nvSpPr>
            <p:spPr bwMode="auto">
              <a:xfrm>
                <a:off x="1616" y="2138"/>
                <a:ext cx="311" cy="81"/>
              </a:xfrm>
              <a:prstGeom prst="ellipse">
                <a:avLst/>
              </a:prstGeom>
              <a:solidFill>
                <a:schemeClr val="hlink"/>
              </a:solidFill>
              <a:ln w="12700">
                <a:solidFill>
                  <a:schemeClr val="tx1"/>
                </a:solidFill>
                <a:round/>
              </a:ln>
            </p:spPr>
            <p:txBody>
              <a:bodyPr wrap="none" anchor="ctr"/>
              <a:lstStyle/>
              <a:p>
                <a:endParaRPr lang="en-US"/>
              </a:p>
            </p:txBody>
          </p:sp>
          <p:sp>
            <p:nvSpPr>
              <p:cNvPr id="124939" name="Line 5"/>
              <p:cNvSpPr>
                <a:spLocks noChangeShapeType="1"/>
              </p:cNvSpPr>
              <p:nvPr/>
            </p:nvSpPr>
            <p:spPr bwMode="auto">
              <a:xfrm>
                <a:off x="1616" y="2129"/>
                <a:ext cx="0" cy="50"/>
              </a:xfrm>
              <a:prstGeom prst="line">
                <a:avLst/>
              </a:prstGeom>
              <a:noFill/>
              <a:ln w="12700">
                <a:solidFill>
                  <a:schemeClr val="tx1"/>
                </a:solidFill>
                <a:round/>
              </a:ln>
            </p:spPr>
            <p:txBody>
              <a:bodyPr wrap="none" anchor="ctr"/>
              <a:lstStyle/>
              <a:p>
                <a:endParaRPr lang="en-US"/>
              </a:p>
            </p:txBody>
          </p:sp>
          <p:sp>
            <p:nvSpPr>
              <p:cNvPr id="124940" name="Line 6"/>
              <p:cNvSpPr>
                <a:spLocks noChangeShapeType="1"/>
              </p:cNvSpPr>
              <p:nvPr/>
            </p:nvSpPr>
            <p:spPr bwMode="auto">
              <a:xfrm>
                <a:off x="1929" y="2129"/>
                <a:ext cx="0" cy="50"/>
              </a:xfrm>
              <a:prstGeom prst="line">
                <a:avLst/>
              </a:prstGeom>
              <a:noFill/>
              <a:ln w="12700">
                <a:solidFill>
                  <a:schemeClr val="tx1"/>
                </a:solidFill>
                <a:round/>
              </a:ln>
            </p:spPr>
            <p:txBody>
              <a:bodyPr wrap="none" anchor="ctr"/>
              <a:lstStyle/>
              <a:p>
                <a:endParaRPr lang="en-US"/>
              </a:p>
            </p:txBody>
          </p:sp>
          <p:sp>
            <p:nvSpPr>
              <p:cNvPr id="124941" name="Rectangle 7"/>
              <p:cNvSpPr>
                <a:spLocks noChangeArrowheads="1"/>
              </p:cNvSpPr>
              <p:nvPr/>
            </p:nvSpPr>
            <p:spPr bwMode="auto">
              <a:xfrm>
                <a:off x="1616" y="2129"/>
                <a:ext cx="308" cy="49"/>
              </a:xfrm>
              <a:prstGeom prst="rect">
                <a:avLst/>
              </a:prstGeom>
              <a:solidFill>
                <a:schemeClr val="hlink"/>
              </a:solidFill>
              <a:ln>
                <a:noFill/>
              </a:ln>
            </p:spPr>
            <p:txBody>
              <a:bodyPr wrap="none" anchor="ctr"/>
              <a:lstStyle/>
              <a:p>
                <a:pPr algn="ctr"/>
                <a:endParaRPr lang="en-US" sz="2400"/>
              </a:p>
            </p:txBody>
          </p:sp>
          <p:sp>
            <p:nvSpPr>
              <p:cNvPr id="124942" name="Oval 8"/>
              <p:cNvSpPr>
                <a:spLocks noChangeArrowheads="1"/>
              </p:cNvSpPr>
              <p:nvPr/>
            </p:nvSpPr>
            <p:spPr bwMode="auto">
              <a:xfrm>
                <a:off x="1613" y="2072"/>
                <a:ext cx="311" cy="95"/>
              </a:xfrm>
              <a:prstGeom prst="ellipse">
                <a:avLst/>
              </a:prstGeom>
              <a:solidFill>
                <a:schemeClr val="hlink"/>
              </a:solidFill>
              <a:ln w="12700">
                <a:solidFill>
                  <a:schemeClr val="tx1"/>
                </a:solidFill>
                <a:round/>
              </a:ln>
            </p:spPr>
            <p:txBody>
              <a:bodyPr wrap="none" anchor="ctr"/>
              <a:lstStyle/>
              <a:p>
                <a:endParaRPr lang="en-US"/>
              </a:p>
            </p:txBody>
          </p:sp>
          <p:sp>
            <p:nvSpPr>
              <p:cNvPr id="124943" name="Rectangle 9"/>
              <p:cNvSpPr>
                <a:spLocks noChangeArrowheads="1"/>
              </p:cNvSpPr>
              <p:nvPr/>
            </p:nvSpPr>
            <p:spPr bwMode="auto">
              <a:xfrm>
                <a:off x="1686" y="2100"/>
                <a:ext cx="140" cy="105"/>
              </a:xfrm>
              <a:prstGeom prst="rect">
                <a:avLst/>
              </a:prstGeom>
              <a:solidFill>
                <a:schemeClr val="hlink"/>
              </a:solidFill>
              <a:ln>
                <a:noFill/>
              </a:ln>
            </p:spPr>
            <p:txBody>
              <a:bodyPr wrap="none" anchor="ctr"/>
              <a:lstStyle/>
              <a:p>
                <a:endParaRPr lang="en-US"/>
              </a:p>
            </p:txBody>
          </p:sp>
          <p:sp>
            <p:nvSpPr>
              <p:cNvPr id="124944" name="Text Box 10"/>
              <p:cNvSpPr txBox="1">
                <a:spLocks noChangeArrowheads="1"/>
              </p:cNvSpPr>
              <p:nvPr/>
            </p:nvSpPr>
            <p:spPr bwMode="auto">
              <a:xfrm>
                <a:off x="1633" y="2011"/>
                <a:ext cx="254" cy="26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w</a:t>
                </a:r>
                <a:endParaRPr lang="en-US"/>
              </a:p>
            </p:txBody>
          </p:sp>
        </p:grpSp>
        <p:sp>
          <p:nvSpPr>
            <p:cNvPr id="7" name="Text Box 11"/>
            <p:cNvSpPr txBox="1">
              <a:spLocks noChangeArrowheads="1"/>
            </p:cNvSpPr>
            <p:nvPr/>
          </p:nvSpPr>
          <p:spPr bwMode="auto">
            <a:xfrm>
              <a:off x="5477951" y="3800852"/>
              <a:ext cx="31163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0" name="Text Box 12"/>
            <p:cNvSpPr txBox="1">
              <a:spLocks noChangeArrowheads="1"/>
            </p:cNvSpPr>
            <p:nvPr/>
          </p:nvSpPr>
          <p:spPr bwMode="auto">
            <a:xfrm>
              <a:off x="6209938" y="3084176"/>
              <a:ext cx="31163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4</a:t>
              </a:r>
              <a:endParaRPr lang="en-US"/>
            </a:p>
          </p:txBody>
        </p:sp>
        <p:grpSp>
          <p:nvGrpSpPr>
            <p:cNvPr id="11" name="Group 13"/>
            <p:cNvGrpSpPr/>
            <p:nvPr/>
          </p:nvGrpSpPr>
          <p:grpSpPr bwMode="auto">
            <a:xfrm>
              <a:off x="6020056" y="5125437"/>
              <a:ext cx="458036" cy="396333"/>
              <a:chOff x="1613" y="2011"/>
              <a:chExt cx="316" cy="266"/>
            </a:xfrm>
          </p:grpSpPr>
          <p:sp>
            <p:nvSpPr>
              <p:cNvPr id="63" name="Oval 14"/>
              <p:cNvSpPr>
                <a:spLocks noChangeArrowheads="1"/>
              </p:cNvSpPr>
              <p:nvPr/>
            </p:nvSpPr>
            <p:spPr bwMode="auto">
              <a:xfrm>
                <a:off x="1616" y="2138"/>
                <a:ext cx="313" cy="81"/>
              </a:xfrm>
              <a:prstGeom prst="ellipse">
                <a:avLst/>
              </a:prstGeom>
              <a:solidFill>
                <a:schemeClr val="hlink"/>
              </a:solidFill>
              <a:ln w="12700">
                <a:solidFill>
                  <a:schemeClr val="tx1"/>
                </a:solidFill>
                <a:round/>
              </a:ln>
            </p:spPr>
            <p:txBody>
              <a:bodyPr wrap="none" anchor="ctr"/>
              <a:lstStyle/>
              <a:p>
                <a:endParaRPr lang="en-US"/>
              </a:p>
            </p:txBody>
          </p:sp>
          <p:sp>
            <p:nvSpPr>
              <p:cNvPr id="124928" name="Line 15"/>
              <p:cNvSpPr>
                <a:spLocks noChangeShapeType="1"/>
              </p:cNvSpPr>
              <p:nvPr/>
            </p:nvSpPr>
            <p:spPr bwMode="auto">
              <a:xfrm>
                <a:off x="1616" y="2131"/>
                <a:ext cx="0" cy="50"/>
              </a:xfrm>
              <a:prstGeom prst="line">
                <a:avLst/>
              </a:prstGeom>
              <a:noFill/>
              <a:ln w="12700">
                <a:solidFill>
                  <a:schemeClr val="tx1"/>
                </a:solidFill>
                <a:round/>
              </a:ln>
            </p:spPr>
            <p:txBody>
              <a:bodyPr wrap="none" anchor="ctr"/>
              <a:lstStyle/>
              <a:p>
                <a:endParaRPr lang="en-US"/>
              </a:p>
            </p:txBody>
          </p:sp>
          <p:sp>
            <p:nvSpPr>
              <p:cNvPr id="124929" name="Line 16"/>
              <p:cNvSpPr>
                <a:spLocks noChangeShapeType="1"/>
              </p:cNvSpPr>
              <p:nvPr/>
            </p:nvSpPr>
            <p:spPr bwMode="auto">
              <a:xfrm>
                <a:off x="1929" y="2131"/>
                <a:ext cx="0" cy="50"/>
              </a:xfrm>
              <a:prstGeom prst="line">
                <a:avLst/>
              </a:prstGeom>
              <a:noFill/>
              <a:ln w="12700">
                <a:solidFill>
                  <a:schemeClr val="tx1"/>
                </a:solidFill>
                <a:round/>
              </a:ln>
            </p:spPr>
            <p:txBody>
              <a:bodyPr wrap="none" anchor="ctr"/>
              <a:lstStyle/>
              <a:p>
                <a:endParaRPr lang="en-US"/>
              </a:p>
            </p:txBody>
          </p:sp>
          <p:sp>
            <p:nvSpPr>
              <p:cNvPr id="124930" name="Rectangle 17"/>
              <p:cNvSpPr>
                <a:spLocks noChangeArrowheads="1"/>
              </p:cNvSpPr>
              <p:nvPr/>
            </p:nvSpPr>
            <p:spPr bwMode="auto">
              <a:xfrm>
                <a:off x="1616" y="2131"/>
                <a:ext cx="310" cy="49"/>
              </a:xfrm>
              <a:prstGeom prst="rect">
                <a:avLst/>
              </a:prstGeom>
              <a:solidFill>
                <a:schemeClr val="hlink"/>
              </a:solidFill>
              <a:ln>
                <a:noFill/>
              </a:ln>
            </p:spPr>
            <p:txBody>
              <a:bodyPr wrap="none" anchor="ctr"/>
              <a:lstStyle/>
              <a:p>
                <a:pPr algn="ctr"/>
                <a:endParaRPr lang="en-US" sz="2400"/>
              </a:p>
            </p:txBody>
          </p:sp>
          <p:sp>
            <p:nvSpPr>
              <p:cNvPr id="124935" name="Oval 18"/>
              <p:cNvSpPr>
                <a:spLocks noChangeArrowheads="1"/>
              </p:cNvSpPr>
              <p:nvPr/>
            </p:nvSpPr>
            <p:spPr bwMode="auto">
              <a:xfrm>
                <a:off x="1613" y="2072"/>
                <a:ext cx="313" cy="95"/>
              </a:xfrm>
              <a:prstGeom prst="ellipse">
                <a:avLst/>
              </a:prstGeom>
              <a:solidFill>
                <a:schemeClr val="hlink"/>
              </a:solidFill>
              <a:ln w="12700">
                <a:solidFill>
                  <a:schemeClr val="tx1"/>
                </a:solidFill>
                <a:round/>
              </a:ln>
            </p:spPr>
            <p:txBody>
              <a:bodyPr wrap="none" anchor="ctr"/>
              <a:lstStyle/>
              <a:p>
                <a:endParaRPr lang="en-US"/>
              </a:p>
            </p:txBody>
          </p:sp>
          <p:sp>
            <p:nvSpPr>
              <p:cNvPr id="124936" name="Rectangle 19"/>
              <p:cNvSpPr>
                <a:spLocks noChangeArrowheads="1"/>
              </p:cNvSpPr>
              <p:nvPr/>
            </p:nvSpPr>
            <p:spPr bwMode="auto">
              <a:xfrm>
                <a:off x="1687" y="2100"/>
                <a:ext cx="141" cy="105"/>
              </a:xfrm>
              <a:prstGeom prst="rect">
                <a:avLst/>
              </a:prstGeom>
              <a:solidFill>
                <a:schemeClr val="hlink"/>
              </a:solidFill>
              <a:ln>
                <a:noFill/>
              </a:ln>
            </p:spPr>
            <p:txBody>
              <a:bodyPr wrap="none" anchor="ctr"/>
              <a:lstStyle/>
              <a:p>
                <a:endParaRPr lang="en-US"/>
              </a:p>
            </p:txBody>
          </p:sp>
          <p:sp>
            <p:nvSpPr>
              <p:cNvPr id="124937" name="Text Box 20"/>
              <p:cNvSpPr txBox="1">
                <a:spLocks noChangeArrowheads="1"/>
              </p:cNvSpPr>
              <p:nvPr/>
            </p:nvSpPr>
            <p:spPr bwMode="auto">
              <a:xfrm>
                <a:off x="1652" y="2011"/>
                <a:ext cx="215" cy="264"/>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v</a:t>
                </a:r>
                <a:endParaRPr lang="en-US"/>
              </a:p>
            </p:txBody>
          </p:sp>
        </p:grpSp>
        <p:grpSp>
          <p:nvGrpSpPr>
            <p:cNvPr id="12" name="Group 21"/>
            <p:cNvGrpSpPr/>
            <p:nvPr/>
          </p:nvGrpSpPr>
          <p:grpSpPr bwMode="auto">
            <a:xfrm>
              <a:off x="6014258" y="2157413"/>
              <a:ext cx="458036" cy="396333"/>
              <a:chOff x="1613" y="2011"/>
              <a:chExt cx="316" cy="266"/>
            </a:xfrm>
          </p:grpSpPr>
          <p:sp>
            <p:nvSpPr>
              <p:cNvPr id="56" name="Oval 22"/>
              <p:cNvSpPr>
                <a:spLocks noChangeArrowheads="1"/>
              </p:cNvSpPr>
              <p:nvPr/>
            </p:nvSpPr>
            <p:spPr bwMode="auto">
              <a:xfrm>
                <a:off x="1616" y="2138"/>
                <a:ext cx="313" cy="81"/>
              </a:xfrm>
              <a:prstGeom prst="ellipse">
                <a:avLst/>
              </a:prstGeom>
              <a:solidFill>
                <a:schemeClr val="hlink"/>
              </a:solidFill>
              <a:ln w="12700">
                <a:solidFill>
                  <a:schemeClr val="tx1"/>
                </a:solidFill>
                <a:round/>
              </a:ln>
            </p:spPr>
            <p:txBody>
              <a:bodyPr wrap="none" anchor="ctr"/>
              <a:lstStyle/>
              <a:p>
                <a:endParaRPr lang="en-US"/>
              </a:p>
            </p:txBody>
          </p:sp>
          <p:sp>
            <p:nvSpPr>
              <p:cNvPr id="57" name="Line 23"/>
              <p:cNvSpPr>
                <a:spLocks noChangeShapeType="1"/>
              </p:cNvSpPr>
              <p:nvPr/>
            </p:nvSpPr>
            <p:spPr bwMode="auto">
              <a:xfrm>
                <a:off x="1616" y="2131"/>
                <a:ext cx="0" cy="50"/>
              </a:xfrm>
              <a:prstGeom prst="line">
                <a:avLst/>
              </a:prstGeom>
              <a:noFill/>
              <a:ln w="12700">
                <a:solidFill>
                  <a:schemeClr val="tx1"/>
                </a:solidFill>
                <a:round/>
              </a:ln>
            </p:spPr>
            <p:txBody>
              <a:bodyPr wrap="none" anchor="ctr"/>
              <a:lstStyle/>
              <a:p>
                <a:endParaRPr lang="en-US"/>
              </a:p>
            </p:txBody>
          </p:sp>
          <p:sp>
            <p:nvSpPr>
              <p:cNvPr id="58" name="Line 24"/>
              <p:cNvSpPr>
                <a:spLocks noChangeShapeType="1"/>
              </p:cNvSpPr>
              <p:nvPr/>
            </p:nvSpPr>
            <p:spPr bwMode="auto">
              <a:xfrm>
                <a:off x="1929" y="2131"/>
                <a:ext cx="0" cy="50"/>
              </a:xfrm>
              <a:prstGeom prst="line">
                <a:avLst/>
              </a:prstGeom>
              <a:noFill/>
              <a:ln w="12700">
                <a:solidFill>
                  <a:schemeClr val="tx1"/>
                </a:solidFill>
                <a:round/>
              </a:ln>
            </p:spPr>
            <p:txBody>
              <a:bodyPr wrap="none" anchor="ctr"/>
              <a:lstStyle/>
              <a:p>
                <a:endParaRPr lang="en-US"/>
              </a:p>
            </p:txBody>
          </p:sp>
          <p:sp>
            <p:nvSpPr>
              <p:cNvPr id="59" name="Rectangle 25"/>
              <p:cNvSpPr>
                <a:spLocks noChangeArrowheads="1"/>
              </p:cNvSpPr>
              <p:nvPr/>
            </p:nvSpPr>
            <p:spPr bwMode="auto">
              <a:xfrm>
                <a:off x="1616" y="2131"/>
                <a:ext cx="310" cy="49"/>
              </a:xfrm>
              <a:prstGeom prst="rect">
                <a:avLst/>
              </a:prstGeom>
              <a:solidFill>
                <a:schemeClr val="hlink"/>
              </a:solidFill>
              <a:ln>
                <a:noFill/>
              </a:ln>
            </p:spPr>
            <p:txBody>
              <a:bodyPr wrap="none" anchor="ctr"/>
              <a:lstStyle/>
              <a:p>
                <a:pPr algn="ctr"/>
                <a:endParaRPr lang="en-US" sz="2400"/>
              </a:p>
            </p:txBody>
          </p:sp>
          <p:sp>
            <p:nvSpPr>
              <p:cNvPr id="60" name="Oval 26"/>
              <p:cNvSpPr>
                <a:spLocks noChangeArrowheads="1"/>
              </p:cNvSpPr>
              <p:nvPr/>
            </p:nvSpPr>
            <p:spPr bwMode="auto">
              <a:xfrm>
                <a:off x="1611" y="2072"/>
                <a:ext cx="313" cy="97"/>
              </a:xfrm>
              <a:prstGeom prst="ellipse">
                <a:avLst/>
              </a:prstGeom>
              <a:solidFill>
                <a:schemeClr val="hlink"/>
              </a:solidFill>
              <a:ln w="12700">
                <a:solidFill>
                  <a:schemeClr val="tx1"/>
                </a:solidFill>
                <a:round/>
              </a:ln>
            </p:spPr>
            <p:txBody>
              <a:bodyPr wrap="none" anchor="ctr"/>
              <a:lstStyle/>
              <a:p>
                <a:endParaRPr lang="en-US"/>
              </a:p>
            </p:txBody>
          </p:sp>
          <p:sp>
            <p:nvSpPr>
              <p:cNvPr id="61" name="Rectangle 27"/>
              <p:cNvSpPr>
                <a:spLocks noChangeArrowheads="1"/>
              </p:cNvSpPr>
              <p:nvPr/>
            </p:nvSpPr>
            <p:spPr bwMode="auto">
              <a:xfrm>
                <a:off x="1687" y="2100"/>
                <a:ext cx="141" cy="103"/>
              </a:xfrm>
              <a:prstGeom prst="rect">
                <a:avLst/>
              </a:prstGeom>
              <a:solidFill>
                <a:schemeClr val="hlink"/>
              </a:solidFill>
              <a:ln>
                <a:noFill/>
              </a:ln>
            </p:spPr>
            <p:txBody>
              <a:bodyPr wrap="none" anchor="ctr"/>
              <a:lstStyle/>
              <a:p>
                <a:endParaRPr lang="en-US"/>
              </a:p>
            </p:txBody>
          </p:sp>
          <p:sp>
            <p:nvSpPr>
              <p:cNvPr id="62" name="Text Box 28"/>
              <p:cNvSpPr txBox="1">
                <a:spLocks noChangeArrowheads="1"/>
              </p:cNvSpPr>
              <p:nvPr/>
            </p:nvSpPr>
            <p:spPr bwMode="auto">
              <a:xfrm>
                <a:off x="1652" y="2011"/>
                <a:ext cx="215" cy="266"/>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x</a:t>
                </a:r>
                <a:endParaRPr lang="en-US"/>
              </a:p>
            </p:txBody>
          </p:sp>
        </p:grpSp>
        <p:sp>
          <p:nvSpPr>
            <p:cNvPr id="49" name="Oval 30"/>
            <p:cNvSpPr>
              <a:spLocks noChangeArrowheads="1"/>
            </p:cNvSpPr>
            <p:nvPr/>
          </p:nvSpPr>
          <p:spPr bwMode="auto">
            <a:xfrm>
              <a:off x="4743064" y="4092887"/>
              <a:ext cx="453688" cy="122178"/>
            </a:xfrm>
            <a:prstGeom prst="ellipse">
              <a:avLst/>
            </a:prstGeom>
            <a:solidFill>
              <a:schemeClr val="accent1"/>
            </a:solidFill>
            <a:ln w="12700">
              <a:solidFill>
                <a:schemeClr val="accent1"/>
              </a:solidFill>
              <a:round/>
            </a:ln>
          </p:spPr>
          <p:txBody>
            <a:bodyPr wrap="none" anchor="ctr"/>
            <a:lstStyle/>
            <a:p>
              <a:endParaRPr lang="en-US"/>
            </a:p>
          </p:txBody>
        </p:sp>
        <p:sp>
          <p:nvSpPr>
            <p:cNvPr id="50" name="Line 31"/>
            <p:cNvSpPr>
              <a:spLocks noChangeShapeType="1"/>
            </p:cNvSpPr>
            <p:nvPr/>
          </p:nvSpPr>
          <p:spPr bwMode="auto">
            <a:xfrm>
              <a:off x="4743064" y="4082457"/>
              <a:ext cx="0" cy="74499"/>
            </a:xfrm>
            <a:prstGeom prst="line">
              <a:avLst/>
            </a:prstGeom>
            <a:noFill/>
            <a:ln w="12700">
              <a:solidFill>
                <a:schemeClr val="accent1"/>
              </a:solidFill>
              <a:round/>
            </a:ln>
          </p:spPr>
          <p:txBody>
            <a:bodyPr wrap="none" anchor="ctr"/>
            <a:lstStyle/>
            <a:p>
              <a:endParaRPr lang="en-US"/>
            </a:p>
          </p:txBody>
        </p:sp>
        <p:sp>
          <p:nvSpPr>
            <p:cNvPr id="51" name="Line 32"/>
            <p:cNvSpPr>
              <a:spLocks noChangeShapeType="1"/>
            </p:cNvSpPr>
            <p:nvPr/>
          </p:nvSpPr>
          <p:spPr bwMode="auto">
            <a:xfrm>
              <a:off x="5199651" y="4082457"/>
              <a:ext cx="0" cy="74499"/>
            </a:xfrm>
            <a:prstGeom prst="line">
              <a:avLst/>
            </a:prstGeom>
            <a:noFill/>
            <a:ln w="12700">
              <a:solidFill>
                <a:schemeClr val="accent1"/>
              </a:solidFill>
              <a:round/>
            </a:ln>
          </p:spPr>
          <p:txBody>
            <a:bodyPr wrap="none" anchor="ctr"/>
            <a:lstStyle/>
            <a:p>
              <a:endParaRPr lang="en-US"/>
            </a:p>
          </p:txBody>
        </p:sp>
        <p:sp>
          <p:nvSpPr>
            <p:cNvPr id="52" name="Rectangle 33"/>
            <p:cNvSpPr>
              <a:spLocks noChangeArrowheads="1"/>
            </p:cNvSpPr>
            <p:nvPr/>
          </p:nvSpPr>
          <p:spPr bwMode="auto">
            <a:xfrm>
              <a:off x="4743064" y="4082457"/>
              <a:ext cx="449339" cy="73009"/>
            </a:xfrm>
            <a:prstGeom prst="rect">
              <a:avLst/>
            </a:prstGeom>
            <a:solidFill>
              <a:schemeClr val="accent1"/>
            </a:solidFill>
            <a:ln>
              <a:solidFill>
                <a:schemeClr val="accent1"/>
              </a:solidFill>
            </a:ln>
          </p:spPr>
          <p:txBody>
            <a:bodyPr wrap="none" anchor="ctr"/>
            <a:lstStyle/>
            <a:p>
              <a:pPr algn="ctr"/>
              <a:endParaRPr lang="en-US" sz="2400"/>
            </a:p>
          </p:txBody>
        </p:sp>
        <p:sp>
          <p:nvSpPr>
            <p:cNvPr id="53" name="Oval 34"/>
            <p:cNvSpPr>
              <a:spLocks noChangeArrowheads="1"/>
            </p:cNvSpPr>
            <p:nvPr/>
          </p:nvSpPr>
          <p:spPr bwMode="auto">
            <a:xfrm>
              <a:off x="4738716" y="3970709"/>
              <a:ext cx="453688" cy="144527"/>
            </a:xfrm>
            <a:prstGeom prst="ellipse">
              <a:avLst/>
            </a:prstGeom>
            <a:solidFill>
              <a:schemeClr val="accent1"/>
            </a:solidFill>
            <a:ln w="12700">
              <a:solidFill>
                <a:schemeClr val="accent1"/>
              </a:solidFill>
              <a:round/>
            </a:ln>
          </p:spPr>
          <p:txBody>
            <a:bodyPr wrap="none" anchor="ctr"/>
            <a:lstStyle/>
            <a:p>
              <a:endParaRPr lang="en-US"/>
            </a:p>
          </p:txBody>
        </p:sp>
        <p:sp>
          <p:nvSpPr>
            <p:cNvPr id="54" name="Rectangle 35"/>
            <p:cNvSpPr>
              <a:spLocks noChangeArrowheads="1"/>
            </p:cNvSpPr>
            <p:nvPr/>
          </p:nvSpPr>
          <p:spPr bwMode="auto">
            <a:xfrm>
              <a:off x="4845978" y="4039248"/>
              <a:ext cx="204377" cy="153467"/>
            </a:xfrm>
            <a:prstGeom prst="rect">
              <a:avLst/>
            </a:prstGeom>
            <a:solidFill>
              <a:schemeClr val="accent1"/>
            </a:solidFill>
            <a:ln>
              <a:solidFill>
                <a:schemeClr val="accent1"/>
              </a:solidFill>
            </a:ln>
          </p:spPr>
          <p:txBody>
            <a:bodyPr wrap="none" anchor="ctr"/>
            <a:lstStyle/>
            <a:p>
              <a:endParaRPr lang="en-US"/>
            </a:p>
          </p:txBody>
        </p:sp>
        <p:sp>
          <p:nvSpPr>
            <p:cNvPr id="55" name="Text Box 36"/>
            <p:cNvSpPr txBox="1">
              <a:spLocks noChangeArrowheads="1"/>
            </p:cNvSpPr>
            <p:nvPr/>
          </p:nvSpPr>
          <p:spPr bwMode="auto">
            <a:xfrm>
              <a:off x="4813199" y="3867215"/>
              <a:ext cx="301490" cy="400110"/>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dirty="0"/>
                <a:t>u</a:t>
              </a:r>
              <a:endParaRPr lang="en-US" dirty="0"/>
            </a:p>
          </p:txBody>
        </p:sp>
        <p:sp>
          <p:nvSpPr>
            <p:cNvPr id="14" name="Line 37"/>
            <p:cNvSpPr>
              <a:spLocks noChangeShapeType="1"/>
            </p:cNvSpPr>
            <p:nvPr/>
          </p:nvSpPr>
          <p:spPr bwMode="auto">
            <a:xfrm>
              <a:off x="5206898" y="4094377"/>
              <a:ext cx="916071" cy="0"/>
            </a:xfrm>
            <a:prstGeom prst="line">
              <a:avLst/>
            </a:prstGeom>
            <a:noFill/>
            <a:ln w="9525">
              <a:solidFill>
                <a:schemeClr val="tx1"/>
              </a:solidFill>
              <a:round/>
            </a:ln>
          </p:spPr>
          <p:txBody>
            <a:bodyPr/>
            <a:lstStyle/>
            <a:p>
              <a:endParaRPr lang="en-US"/>
            </a:p>
          </p:txBody>
        </p:sp>
        <p:sp>
          <p:nvSpPr>
            <p:cNvPr id="15" name="Line 38"/>
            <p:cNvSpPr>
              <a:spLocks noChangeShapeType="1"/>
            </p:cNvSpPr>
            <p:nvPr/>
          </p:nvSpPr>
          <p:spPr bwMode="auto">
            <a:xfrm>
              <a:off x="6224433" y="2494147"/>
              <a:ext cx="0" cy="1433353"/>
            </a:xfrm>
            <a:prstGeom prst="line">
              <a:avLst/>
            </a:prstGeom>
            <a:noFill/>
            <a:ln w="9525">
              <a:solidFill>
                <a:schemeClr val="tx1"/>
              </a:solidFill>
              <a:round/>
            </a:ln>
          </p:spPr>
          <p:txBody>
            <a:bodyPr/>
            <a:lstStyle/>
            <a:p>
              <a:endParaRPr lang="en-US"/>
            </a:p>
          </p:txBody>
        </p:sp>
        <p:sp>
          <p:nvSpPr>
            <p:cNvPr id="16" name="Line 39"/>
            <p:cNvSpPr>
              <a:spLocks noChangeShapeType="1"/>
            </p:cNvSpPr>
            <p:nvPr/>
          </p:nvSpPr>
          <p:spPr bwMode="auto">
            <a:xfrm flipH="1">
              <a:off x="5027163" y="2403258"/>
              <a:ext cx="976950" cy="1609170"/>
            </a:xfrm>
            <a:prstGeom prst="line">
              <a:avLst/>
            </a:prstGeom>
            <a:noFill/>
            <a:ln w="9525">
              <a:solidFill>
                <a:schemeClr val="tx1"/>
              </a:solidFill>
              <a:round/>
            </a:ln>
          </p:spPr>
          <p:txBody>
            <a:bodyPr/>
            <a:lstStyle/>
            <a:p>
              <a:endParaRPr lang="en-US"/>
            </a:p>
          </p:txBody>
        </p:sp>
        <p:sp>
          <p:nvSpPr>
            <p:cNvPr id="17" name="Text Box 40"/>
            <p:cNvSpPr txBox="1">
              <a:spLocks noChangeArrowheads="1"/>
            </p:cNvSpPr>
            <p:nvPr/>
          </p:nvSpPr>
          <p:spPr bwMode="auto">
            <a:xfrm>
              <a:off x="5256180" y="2920279"/>
              <a:ext cx="311638" cy="36504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sp>
          <p:nvSpPr>
            <p:cNvPr id="18" name="Line 41"/>
            <p:cNvSpPr>
              <a:spLocks noChangeShapeType="1"/>
            </p:cNvSpPr>
            <p:nvPr/>
          </p:nvSpPr>
          <p:spPr bwMode="auto">
            <a:xfrm>
              <a:off x="6234579" y="4168875"/>
              <a:ext cx="13045" cy="1057880"/>
            </a:xfrm>
            <a:prstGeom prst="line">
              <a:avLst/>
            </a:prstGeom>
            <a:noFill/>
            <a:ln w="9525">
              <a:solidFill>
                <a:schemeClr val="tx1"/>
              </a:solidFill>
              <a:round/>
            </a:ln>
          </p:spPr>
          <p:txBody>
            <a:bodyPr/>
            <a:lstStyle/>
            <a:p>
              <a:endParaRPr lang="en-US"/>
            </a:p>
          </p:txBody>
        </p:sp>
        <p:sp>
          <p:nvSpPr>
            <p:cNvPr id="19" name="Text Box 42"/>
            <p:cNvSpPr txBox="1">
              <a:spLocks noChangeArrowheads="1"/>
            </p:cNvSpPr>
            <p:nvPr/>
          </p:nvSpPr>
          <p:spPr bwMode="auto">
            <a:xfrm>
              <a:off x="6244726" y="4468360"/>
              <a:ext cx="31163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20" name="Freeform 43"/>
            <p:cNvSpPr/>
            <p:nvPr/>
          </p:nvSpPr>
          <p:spPr bwMode="auto">
            <a:xfrm>
              <a:off x="5008319" y="4200165"/>
              <a:ext cx="1246553" cy="1190488"/>
            </a:xfrm>
            <a:custGeom>
              <a:avLst/>
              <a:gdLst>
                <a:gd name="T0" fmla="*/ 0 w 857"/>
                <a:gd name="T1" fmla="*/ 0 h 1152"/>
                <a:gd name="T2" fmla="*/ 562 w 857"/>
                <a:gd name="T3" fmla="*/ 1152 h 1152"/>
                <a:gd name="T4" fmla="*/ 857 w 857"/>
                <a:gd name="T5" fmla="*/ 772 h 1152"/>
                <a:gd name="T6" fmla="*/ 0 60000 65536"/>
                <a:gd name="T7" fmla="*/ 0 60000 65536"/>
                <a:gd name="T8" fmla="*/ 0 60000 65536"/>
                <a:gd name="T9" fmla="*/ 0 w 857"/>
                <a:gd name="T10" fmla="*/ 0 h 1152"/>
                <a:gd name="T11" fmla="*/ 857 w 857"/>
                <a:gd name="T12" fmla="*/ 1152 h 1152"/>
                <a:gd name="connsiteX0" fmla="*/ 0 w 10000"/>
                <a:gd name="connsiteY0" fmla="*/ 0 h 6928"/>
                <a:gd name="connsiteX1" fmla="*/ 3770 w 10000"/>
                <a:gd name="connsiteY1" fmla="*/ 6300 h 6928"/>
                <a:gd name="connsiteX2" fmla="*/ 10000 w 10000"/>
                <a:gd name="connsiteY2" fmla="*/ 6701 h 6928"/>
                <a:gd name="connsiteX0-1" fmla="*/ 0 w 10000"/>
                <a:gd name="connsiteY0-2" fmla="*/ 0 h 9871"/>
                <a:gd name="connsiteX1-3" fmla="*/ 1802 w 10000"/>
                <a:gd name="connsiteY1-4" fmla="*/ 7634 h 9871"/>
                <a:gd name="connsiteX2-5" fmla="*/ 10000 w 10000"/>
                <a:gd name="connsiteY2-6" fmla="*/ 9672 h 9871"/>
                <a:gd name="connsiteX0-7" fmla="*/ 0 w 10000"/>
                <a:gd name="connsiteY0-8" fmla="*/ 0 h 10136"/>
                <a:gd name="connsiteX1-9" fmla="*/ 1802 w 10000"/>
                <a:gd name="connsiteY1-10" fmla="*/ 7734 h 10136"/>
                <a:gd name="connsiteX2-11" fmla="*/ 10000 w 10000"/>
                <a:gd name="connsiteY2-12" fmla="*/ 9798 h 10136"/>
                <a:gd name="connsiteX0-13" fmla="*/ 0 w 10000"/>
                <a:gd name="connsiteY0-14" fmla="*/ 0 h 10136"/>
                <a:gd name="connsiteX1-15" fmla="*/ 1802 w 10000"/>
                <a:gd name="connsiteY1-16" fmla="*/ 7734 h 10136"/>
                <a:gd name="connsiteX2-17" fmla="*/ 10000 w 10000"/>
                <a:gd name="connsiteY2-18" fmla="*/ 9798 h 10136"/>
                <a:gd name="connsiteX0-19" fmla="*/ 32 w 10032"/>
                <a:gd name="connsiteY0-20" fmla="*/ 0 h 10136"/>
                <a:gd name="connsiteX1-21" fmla="*/ 1834 w 10032"/>
                <a:gd name="connsiteY1-22" fmla="*/ 7734 h 10136"/>
                <a:gd name="connsiteX2-23" fmla="*/ 10032 w 10032"/>
                <a:gd name="connsiteY2-24" fmla="*/ 9798 h 10136"/>
              </a:gdLst>
              <a:ahLst/>
              <a:cxnLst>
                <a:cxn ang="0">
                  <a:pos x="connsiteX0-1" y="connsiteY0-2"/>
                </a:cxn>
                <a:cxn ang="0">
                  <a:pos x="connsiteX1-3" y="connsiteY1-4"/>
                </a:cxn>
                <a:cxn ang="0">
                  <a:pos x="connsiteX2-5" y="connsiteY2-6"/>
                </a:cxn>
              </a:cxnLst>
              <a:rect l="l" t="t" r="r" b="b"/>
              <a:pathLst>
                <a:path w="10032" h="10136">
                  <a:moveTo>
                    <a:pt x="32" y="0"/>
                  </a:moveTo>
                  <a:cubicBezTo>
                    <a:pt x="62" y="4573"/>
                    <a:pt x="-465" y="5047"/>
                    <a:pt x="1834" y="7734"/>
                  </a:cubicBezTo>
                  <a:cubicBezTo>
                    <a:pt x="4132" y="9414"/>
                    <a:pt x="9320" y="10802"/>
                    <a:pt x="10032" y="9798"/>
                  </a:cubicBezTo>
                </a:path>
              </a:pathLst>
            </a:custGeom>
            <a:noFill/>
            <a:ln w="9525">
              <a:solidFill>
                <a:schemeClr val="tx1"/>
              </a:solidFill>
              <a:round/>
            </a:ln>
          </p:spPr>
          <p:txBody>
            <a:bodyPr/>
            <a:lstStyle/>
            <a:p>
              <a:endParaRPr lang="en-US"/>
            </a:p>
          </p:txBody>
        </p:sp>
        <p:sp>
          <p:nvSpPr>
            <p:cNvPr id="21" name="Text Box 44"/>
            <p:cNvSpPr txBox="1">
              <a:spLocks noChangeArrowheads="1"/>
            </p:cNvSpPr>
            <p:nvPr/>
          </p:nvSpPr>
          <p:spPr bwMode="auto">
            <a:xfrm>
              <a:off x="5250382" y="4729105"/>
              <a:ext cx="31308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7</a:t>
              </a:r>
              <a:endParaRPr lang="en-US"/>
            </a:p>
          </p:txBody>
        </p:sp>
        <p:sp>
          <p:nvSpPr>
            <p:cNvPr id="22" name="Line 45"/>
            <p:cNvSpPr>
              <a:spLocks noChangeShapeType="1"/>
            </p:cNvSpPr>
            <p:nvPr/>
          </p:nvSpPr>
          <p:spPr bwMode="auto">
            <a:xfrm flipH="1">
              <a:off x="6238928" y="4097357"/>
              <a:ext cx="1446581" cy="1226247"/>
            </a:xfrm>
            <a:prstGeom prst="line">
              <a:avLst/>
            </a:prstGeom>
            <a:noFill/>
            <a:ln w="9525">
              <a:solidFill>
                <a:schemeClr val="tx1"/>
              </a:solidFill>
              <a:round/>
            </a:ln>
          </p:spPr>
          <p:txBody>
            <a:bodyPr/>
            <a:lstStyle/>
            <a:p>
              <a:endParaRPr lang="en-US"/>
            </a:p>
          </p:txBody>
        </p:sp>
        <p:sp>
          <p:nvSpPr>
            <p:cNvPr id="23" name="Text Box 46"/>
            <p:cNvSpPr txBox="1">
              <a:spLocks noChangeArrowheads="1"/>
            </p:cNvSpPr>
            <p:nvPr/>
          </p:nvSpPr>
          <p:spPr bwMode="auto">
            <a:xfrm>
              <a:off x="6885396" y="4709735"/>
              <a:ext cx="31308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4</a:t>
              </a:r>
              <a:endParaRPr lang="en-US"/>
            </a:p>
          </p:txBody>
        </p:sp>
        <p:sp>
          <p:nvSpPr>
            <p:cNvPr id="24" name="Freeform 47"/>
            <p:cNvSpPr/>
            <p:nvPr/>
          </p:nvSpPr>
          <p:spPr bwMode="auto">
            <a:xfrm>
              <a:off x="6278064" y="3781483"/>
              <a:ext cx="1436435" cy="721146"/>
            </a:xfrm>
            <a:custGeom>
              <a:avLst/>
              <a:gdLst>
                <a:gd name="T0" fmla="*/ 0 w 991"/>
                <a:gd name="T1" fmla="*/ 168 h 484"/>
                <a:gd name="T2" fmla="*/ 204 w 991"/>
                <a:gd name="T3" fmla="*/ 484 h 484"/>
                <a:gd name="T4" fmla="*/ 302 w 991"/>
                <a:gd name="T5" fmla="*/ 7 h 484"/>
                <a:gd name="T6" fmla="*/ 379 w 991"/>
                <a:gd name="T7" fmla="*/ 442 h 484"/>
                <a:gd name="T8" fmla="*/ 534 w 991"/>
                <a:gd name="T9" fmla="*/ 21 h 484"/>
                <a:gd name="T10" fmla="*/ 611 w 991"/>
                <a:gd name="T11" fmla="*/ 351 h 484"/>
                <a:gd name="T12" fmla="*/ 660 w 991"/>
                <a:gd name="T13" fmla="*/ 77 h 484"/>
                <a:gd name="T14" fmla="*/ 991 w 991"/>
                <a:gd name="T15" fmla="*/ 218 h 484"/>
                <a:gd name="T16" fmla="*/ 0 60000 65536"/>
                <a:gd name="T17" fmla="*/ 0 60000 65536"/>
                <a:gd name="T18" fmla="*/ 0 60000 65536"/>
                <a:gd name="T19" fmla="*/ 0 60000 65536"/>
                <a:gd name="T20" fmla="*/ 0 60000 65536"/>
                <a:gd name="T21" fmla="*/ 0 60000 65536"/>
                <a:gd name="T22" fmla="*/ 0 60000 65536"/>
                <a:gd name="T23" fmla="*/ 0 60000 65536"/>
                <a:gd name="T24" fmla="*/ 0 w 991"/>
                <a:gd name="T25" fmla="*/ 0 h 484"/>
                <a:gd name="T26" fmla="*/ 991 w 991"/>
                <a:gd name="T27" fmla="*/ 484 h 4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1" h="484">
                  <a:moveTo>
                    <a:pt x="0" y="168"/>
                  </a:moveTo>
                  <a:cubicBezTo>
                    <a:pt x="0" y="168"/>
                    <a:pt x="145" y="484"/>
                    <a:pt x="204" y="484"/>
                  </a:cubicBezTo>
                  <a:cubicBezTo>
                    <a:pt x="263" y="484"/>
                    <a:pt x="253" y="6"/>
                    <a:pt x="302" y="7"/>
                  </a:cubicBezTo>
                  <a:cubicBezTo>
                    <a:pt x="331" y="0"/>
                    <a:pt x="313" y="444"/>
                    <a:pt x="379" y="442"/>
                  </a:cubicBezTo>
                  <a:cubicBezTo>
                    <a:pt x="418" y="444"/>
                    <a:pt x="475" y="24"/>
                    <a:pt x="534" y="21"/>
                  </a:cubicBezTo>
                  <a:cubicBezTo>
                    <a:pt x="573" y="6"/>
                    <a:pt x="575" y="360"/>
                    <a:pt x="611" y="351"/>
                  </a:cubicBezTo>
                  <a:cubicBezTo>
                    <a:pt x="647" y="342"/>
                    <a:pt x="577" y="80"/>
                    <a:pt x="660" y="77"/>
                  </a:cubicBezTo>
                  <a:cubicBezTo>
                    <a:pt x="743" y="74"/>
                    <a:pt x="922" y="189"/>
                    <a:pt x="991" y="218"/>
                  </a:cubicBezTo>
                </a:path>
              </a:pathLst>
            </a:custGeom>
            <a:noFill/>
            <a:ln w="9525">
              <a:solidFill>
                <a:schemeClr val="tx1"/>
              </a:solidFill>
              <a:round/>
            </a:ln>
          </p:spPr>
          <p:txBody>
            <a:bodyPr/>
            <a:lstStyle/>
            <a:p>
              <a:endParaRPr lang="en-US"/>
            </a:p>
          </p:txBody>
        </p:sp>
        <p:grpSp>
          <p:nvGrpSpPr>
            <p:cNvPr id="25" name="Group 48"/>
            <p:cNvGrpSpPr/>
            <p:nvPr/>
          </p:nvGrpSpPr>
          <p:grpSpPr bwMode="auto">
            <a:xfrm>
              <a:off x="7517369" y="3893230"/>
              <a:ext cx="458036" cy="396333"/>
              <a:chOff x="1613" y="2011"/>
              <a:chExt cx="316" cy="266"/>
            </a:xfrm>
          </p:grpSpPr>
          <p:sp>
            <p:nvSpPr>
              <p:cNvPr id="42" name="Oval 49"/>
              <p:cNvSpPr>
                <a:spLocks noChangeArrowheads="1"/>
              </p:cNvSpPr>
              <p:nvPr/>
            </p:nvSpPr>
            <p:spPr bwMode="auto">
              <a:xfrm>
                <a:off x="1616" y="2136"/>
                <a:ext cx="313" cy="82"/>
              </a:xfrm>
              <a:prstGeom prst="ellipse">
                <a:avLst/>
              </a:prstGeom>
              <a:solidFill>
                <a:schemeClr val="hlink"/>
              </a:solidFill>
              <a:ln w="12700">
                <a:solidFill>
                  <a:schemeClr val="tx1"/>
                </a:solidFill>
                <a:round/>
              </a:ln>
            </p:spPr>
            <p:txBody>
              <a:bodyPr wrap="none" anchor="ctr"/>
              <a:lstStyle/>
              <a:p>
                <a:endParaRPr lang="en-US"/>
              </a:p>
            </p:txBody>
          </p:sp>
          <p:sp>
            <p:nvSpPr>
              <p:cNvPr id="43" name="Line 50"/>
              <p:cNvSpPr>
                <a:spLocks noChangeShapeType="1"/>
              </p:cNvSpPr>
              <p:nvPr/>
            </p:nvSpPr>
            <p:spPr bwMode="auto">
              <a:xfrm>
                <a:off x="1616" y="2131"/>
                <a:ext cx="0" cy="50"/>
              </a:xfrm>
              <a:prstGeom prst="line">
                <a:avLst/>
              </a:prstGeom>
              <a:noFill/>
              <a:ln w="12700">
                <a:solidFill>
                  <a:schemeClr val="tx1"/>
                </a:solidFill>
                <a:round/>
              </a:ln>
            </p:spPr>
            <p:txBody>
              <a:bodyPr wrap="none" anchor="ctr"/>
              <a:lstStyle/>
              <a:p>
                <a:endParaRPr lang="en-US"/>
              </a:p>
            </p:txBody>
          </p:sp>
          <p:sp>
            <p:nvSpPr>
              <p:cNvPr id="44" name="Line 51"/>
              <p:cNvSpPr>
                <a:spLocks noChangeShapeType="1"/>
              </p:cNvSpPr>
              <p:nvPr/>
            </p:nvSpPr>
            <p:spPr bwMode="auto">
              <a:xfrm>
                <a:off x="1929" y="2131"/>
                <a:ext cx="0" cy="50"/>
              </a:xfrm>
              <a:prstGeom prst="line">
                <a:avLst/>
              </a:prstGeom>
              <a:noFill/>
              <a:ln w="12700">
                <a:solidFill>
                  <a:schemeClr val="tx1"/>
                </a:solidFill>
                <a:round/>
              </a:ln>
            </p:spPr>
            <p:txBody>
              <a:bodyPr wrap="none" anchor="ctr"/>
              <a:lstStyle/>
              <a:p>
                <a:endParaRPr lang="en-US"/>
              </a:p>
            </p:txBody>
          </p:sp>
          <p:sp>
            <p:nvSpPr>
              <p:cNvPr id="45" name="Rectangle 52"/>
              <p:cNvSpPr>
                <a:spLocks noChangeArrowheads="1"/>
              </p:cNvSpPr>
              <p:nvPr/>
            </p:nvSpPr>
            <p:spPr bwMode="auto">
              <a:xfrm>
                <a:off x="1616" y="2131"/>
                <a:ext cx="310" cy="49"/>
              </a:xfrm>
              <a:prstGeom prst="rect">
                <a:avLst/>
              </a:prstGeom>
              <a:solidFill>
                <a:schemeClr val="hlink"/>
              </a:solidFill>
              <a:ln>
                <a:noFill/>
              </a:ln>
            </p:spPr>
            <p:txBody>
              <a:bodyPr wrap="none" anchor="ctr"/>
              <a:lstStyle/>
              <a:p>
                <a:pPr algn="ctr"/>
                <a:endParaRPr lang="en-US" sz="2400"/>
              </a:p>
            </p:txBody>
          </p:sp>
          <p:sp>
            <p:nvSpPr>
              <p:cNvPr id="46" name="Oval 53"/>
              <p:cNvSpPr>
                <a:spLocks noChangeArrowheads="1"/>
              </p:cNvSpPr>
              <p:nvPr/>
            </p:nvSpPr>
            <p:spPr bwMode="auto">
              <a:xfrm>
                <a:off x="1613" y="2070"/>
                <a:ext cx="313" cy="97"/>
              </a:xfrm>
              <a:prstGeom prst="ellipse">
                <a:avLst/>
              </a:prstGeom>
              <a:solidFill>
                <a:schemeClr val="hlink"/>
              </a:solidFill>
              <a:ln w="12700">
                <a:solidFill>
                  <a:schemeClr val="tx1"/>
                </a:solidFill>
                <a:round/>
              </a:ln>
            </p:spPr>
            <p:txBody>
              <a:bodyPr wrap="none" anchor="ctr"/>
              <a:lstStyle/>
              <a:p>
                <a:endParaRPr lang="en-US"/>
              </a:p>
            </p:txBody>
          </p:sp>
          <p:sp>
            <p:nvSpPr>
              <p:cNvPr id="47" name="Rectangle 54"/>
              <p:cNvSpPr>
                <a:spLocks noChangeArrowheads="1"/>
              </p:cNvSpPr>
              <p:nvPr/>
            </p:nvSpPr>
            <p:spPr bwMode="auto">
              <a:xfrm>
                <a:off x="1687" y="2100"/>
                <a:ext cx="141" cy="103"/>
              </a:xfrm>
              <a:prstGeom prst="rect">
                <a:avLst/>
              </a:prstGeom>
              <a:solidFill>
                <a:schemeClr val="hlink"/>
              </a:solidFill>
              <a:ln>
                <a:noFill/>
              </a:ln>
            </p:spPr>
            <p:txBody>
              <a:bodyPr wrap="none" anchor="ctr"/>
              <a:lstStyle/>
              <a:p>
                <a:endParaRPr lang="en-US"/>
              </a:p>
            </p:txBody>
          </p:sp>
          <p:sp>
            <p:nvSpPr>
              <p:cNvPr id="48" name="Text Box 55"/>
              <p:cNvSpPr txBox="1">
                <a:spLocks noChangeArrowheads="1"/>
              </p:cNvSpPr>
              <p:nvPr/>
            </p:nvSpPr>
            <p:spPr bwMode="auto">
              <a:xfrm>
                <a:off x="1652" y="2011"/>
                <a:ext cx="215" cy="266"/>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dirty="0"/>
                  <a:t>y</a:t>
                </a:r>
                <a:endParaRPr lang="en-US" dirty="0"/>
              </a:p>
            </p:txBody>
          </p:sp>
        </p:grpSp>
        <p:sp>
          <p:nvSpPr>
            <p:cNvPr id="26" name="Text Box 56"/>
            <p:cNvSpPr txBox="1">
              <a:spLocks noChangeArrowheads="1"/>
            </p:cNvSpPr>
            <p:nvPr/>
          </p:nvSpPr>
          <p:spPr bwMode="auto">
            <a:xfrm>
              <a:off x="6766539" y="3446239"/>
              <a:ext cx="31308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8</a:t>
              </a:r>
              <a:endParaRPr lang="en-US"/>
            </a:p>
          </p:txBody>
        </p:sp>
        <p:grpSp>
          <p:nvGrpSpPr>
            <p:cNvPr id="27" name="Group 57"/>
            <p:cNvGrpSpPr/>
            <p:nvPr/>
          </p:nvGrpSpPr>
          <p:grpSpPr bwMode="auto">
            <a:xfrm>
              <a:off x="8498667" y="3864921"/>
              <a:ext cx="458036" cy="396333"/>
              <a:chOff x="1613" y="2011"/>
              <a:chExt cx="316" cy="266"/>
            </a:xfrm>
          </p:grpSpPr>
          <p:sp>
            <p:nvSpPr>
              <p:cNvPr id="35" name="Oval 58"/>
              <p:cNvSpPr>
                <a:spLocks noChangeArrowheads="1"/>
              </p:cNvSpPr>
              <p:nvPr/>
            </p:nvSpPr>
            <p:spPr bwMode="auto">
              <a:xfrm>
                <a:off x="1616" y="2138"/>
                <a:ext cx="313" cy="81"/>
              </a:xfrm>
              <a:prstGeom prst="ellipse">
                <a:avLst/>
              </a:prstGeom>
              <a:solidFill>
                <a:schemeClr val="hlink"/>
              </a:solidFill>
              <a:ln w="12700">
                <a:solidFill>
                  <a:schemeClr val="tx1"/>
                </a:solidFill>
                <a:round/>
              </a:ln>
            </p:spPr>
            <p:txBody>
              <a:bodyPr wrap="none" anchor="ctr"/>
              <a:lstStyle/>
              <a:p>
                <a:endParaRPr lang="en-US"/>
              </a:p>
            </p:txBody>
          </p:sp>
          <p:sp>
            <p:nvSpPr>
              <p:cNvPr id="36" name="Line 59"/>
              <p:cNvSpPr>
                <a:spLocks noChangeShapeType="1"/>
              </p:cNvSpPr>
              <p:nvPr/>
            </p:nvSpPr>
            <p:spPr bwMode="auto">
              <a:xfrm>
                <a:off x="1616" y="2131"/>
                <a:ext cx="0" cy="50"/>
              </a:xfrm>
              <a:prstGeom prst="line">
                <a:avLst/>
              </a:prstGeom>
              <a:noFill/>
              <a:ln w="12700">
                <a:solidFill>
                  <a:schemeClr val="tx1"/>
                </a:solidFill>
                <a:round/>
              </a:ln>
            </p:spPr>
            <p:txBody>
              <a:bodyPr wrap="none" anchor="ctr"/>
              <a:lstStyle/>
              <a:p>
                <a:endParaRPr lang="en-US"/>
              </a:p>
            </p:txBody>
          </p:sp>
          <p:sp>
            <p:nvSpPr>
              <p:cNvPr id="37" name="Line 60"/>
              <p:cNvSpPr>
                <a:spLocks noChangeShapeType="1"/>
              </p:cNvSpPr>
              <p:nvPr/>
            </p:nvSpPr>
            <p:spPr bwMode="auto">
              <a:xfrm>
                <a:off x="1929" y="2131"/>
                <a:ext cx="0" cy="50"/>
              </a:xfrm>
              <a:prstGeom prst="line">
                <a:avLst/>
              </a:prstGeom>
              <a:noFill/>
              <a:ln w="12700">
                <a:solidFill>
                  <a:schemeClr val="tx1"/>
                </a:solidFill>
                <a:round/>
              </a:ln>
            </p:spPr>
            <p:txBody>
              <a:bodyPr wrap="none" anchor="ctr"/>
              <a:lstStyle/>
              <a:p>
                <a:endParaRPr lang="en-US"/>
              </a:p>
            </p:txBody>
          </p:sp>
          <p:sp>
            <p:nvSpPr>
              <p:cNvPr id="38" name="Rectangle 61"/>
              <p:cNvSpPr>
                <a:spLocks noChangeArrowheads="1"/>
              </p:cNvSpPr>
              <p:nvPr/>
            </p:nvSpPr>
            <p:spPr bwMode="auto">
              <a:xfrm>
                <a:off x="1616" y="2131"/>
                <a:ext cx="310" cy="49"/>
              </a:xfrm>
              <a:prstGeom prst="rect">
                <a:avLst/>
              </a:prstGeom>
              <a:solidFill>
                <a:schemeClr val="hlink"/>
              </a:solidFill>
              <a:ln>
                <a:noFill/>
              </a:ln>
            </p:spPr>
            <p:txBody>
              <a:bodyPr wrap="none" anchor="ctr"/>
              <a:lstStyle/>
              <a:p>
                <a:pPr algn="ctr"/>
                <a:endParaRPr lang="en-US" sz="2400"/>
              </a:p>
            </p:txBody>
          </p:sp>
          <p:sp>
            <p:nvSpPr>
              <p:cNvPr id="39" name="Oval 62"/>
              <p:cNvSpPr>
                <a:spLocks noChangeArrowheads="1"/>
              </p:cNvSpPr>
              <p:nvPr/>
            </p:nvSpPr>
            <p:spPr bwMode="auto">
              <a:xfrm>
                <a:off x="1611" y="2072"/>
                <a:ext cx="313" cy="95"/>
              </a:xfrm>
              <a:prstGeom prst="ellipse">
                <a:avLst/>
              </a:prstGeom>
              <a:solidFill>
                <a:schemeClr val="hlink"/>
              </a:solidFill>
              <a:ln w="12700">
                <a:solidFill>
                  <a:schemeClr val="tx1"/>
                </a:solidFill>
                <a:round/>
              </a:ln>
            </p:spPr>
            <p:txBody>
              <a:bodyPr wrap="none" anchor="ctr"/>
              <a:lstStyle/>
              <a:p>
                <a:endParaRPr lang="en-US"/>
              </a:p>
            </p:txBody>
          </p:sp>
          <p:sp>
            <p:nvSpPr>
              <p:cNvPr id="40" name="Rectangle 63"/>
              <p:cNvSpPr>
                <a:spLocks noChangeArrowheads="1"/>
              </p:cNvSpPr>
              <p:nvPr/>
            </p:nvSpPr>
            <p:spPr bwMode="auto">
              <a:xfrm>
                <a:off x="1687" y="2100"/>
                <a:ext cx="141" cy="105"/>
              </a:xfrm>
              <a:prstGeom prst="rect">
                <a:avLst/>
              </a:prstGeom>
              <a:solidFill>
                <a:schemeClr val="hlink"/>
              </a:solidFill>
              <a:ln>
                <a:noFill/>
              </a:ln>
            </p:spPr>
            <p:txBody>
              <a:bodyPr wrap="none" anchor="ctr"/>
              <a:lstStyle/>
              <a:p>
                <a:endParaRPr lang="en-US"/>
              </a:p>
            </p:txBody>
          </p:sp>
          <p:sp>
            <p:nvSpPr>
              <p:cNvPr id="41" name="Text Box 64"/>
              <p:cNvSpPr txBox="1">
                <a:spLocks noChangeArrowheads="1"/>
              </p:cNvSpPr>
              <p:nvPr/>
            </p:nvSpPr>
            <p:spPr bwMode="auto">
              <a:xfrm>
                <a:off x="1653" y="2011"/>
                <a:ext cx="215" cy="264"/>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z</a:t>
                </a:r>
                <a:endParaRPr lang="en-US"/>
              </a:p>
            </p:txBody>
          </p:sp>
        </p:grpSp>
        <p:sp>
          <p:nvSpPr>
            <p:cNvPr id="28" name="Line 65"/>
            <p:cNvSpPr>
              <a:spLocks noChangeShapeType="1"/>
            </p:cNvSpPr>
            <p:nvPr/>
          </p:nvSpPr>
          <p:spPr bwMode="auto">
            <a:xfrm>
              <a:off x="7963809" y="4083947"/>
              <a:ext cx="510217" cy="0"/>
            </a:xfrm>
            <a:prstGeom prst="line">
              <a:avLst/>
            </a:prstGeom>
            <a:noFill/>
            <a:ln w="9525">
              <a:solidFill>
                <a:schemeClr val="tx1"/>
              </a:solidFill>
              <a:round/>
            </a:ln>
          </p:spPr>
          <p:txBody>
            <a:bodyPr/>
            <a:lstStyle/>
            <a:p>
              <a:endParaRPr lang="en-US"/>
            </a:p>
          </p:txBody>
        </p:sp>
        <p:sp>
          <p:nvSpPr>
            <p:cNvPr id="29" name="Text Box 66"/>
            <p:cNvSpPr txBox="1">
              <a:spLocks noChangeArrowheads="1"/>
            </p:cNvSpPr>
            <p:nvPr/>
          </p:nvSpPr>
          <p:spPr bwMode="auto">
            <a:xfrm>
              <a:off x="8059475" y="4083947"/>
              <a:ext cx="311638" cy="36504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30" name="Line 67"/>
            <p:cNvSpPr>
              <a:spLocks noChangeShapeType="1"/>
            </p:cNvSpPr>
            <p:nvPr/>
          </p:nvSpPr>
          <p:spPr bwMode="auto">
            <a:xfrm>
              <a:off x="6315750" y="2357069"/>
              <a:ext cx="1398748" cy="1695588"/>
            </a:xfrm>
            <a:prstGeom prst="line">
              <a:avLst/>
            </a:prstGeom>
            <a:noFill/>
            <a:ln w="9525">
              <a:solidFill>
                <a:schemeClr val="tx1"/>
              </a:solidFill>
              <a:round/>
            </a:ln>
          </p:spPr>
          <p:txBody>
            <a:bodyPr/>
            <a:lstStyle/>
            <a:p>
              <a:endParaRPr lang="en-US"/>
            </a:p>
          </p:txBody>
        </p:sp>
        <p:sp>
          <p:nvSpPr>
            <p:cNvPr id="31" name="Text Box 68"/>
            <p:cNvSpPr txBox="1">
              <a:spLocks noChangeArrowheads="1"/>
            </p:cNvSpPr>
            <p:nvPr/>
          </p:nvSpPr>
          <p:spPr bwMode="auto">
            <a:xfrm>
              <a:off x="6918734" y="2883029"/>
              <a:ext cx="31308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7</a:t>
              </a:r>
              <a:endParaRPr lang="en-US"/>
            </a:p>
          </p:txBody>
        </p:sp>
        <p:sp>
          <p:nvSpPr>
            <p:cNvPr id="32" name="Freeform 69"/>
            <p:cNvSpPr/>
            <p:nvPr/>
          </p:nvSpPr>
          <p:spPr bwMode="auto">
            <a:xfrm>
              <a:off x="6295458" y="2336210"/>
              <a:ext cx="40585" cy="20860"/>
            </a:xfrm>
            <a:custGeom>
              <a:avLst/>
              <a:gdLst>
                <a:gd name="T0" fmla="*/ 0 w 28"/>
                <a:gd name="T1" fmla="*/ 14 h 14"/>
                <a:gd name="T2" fmla="*/ 28 w 28"/>
                <a:gd name="T3" fmla="*/ 0 h 14"/>
                <a:gd name="T4" fmla="*/ 0 w 28"/>
                <a:gd name="T5" fmla="*/ 14 h 14"/>
                <a:gd name="T6" fmla="*/ 0 60000 65536"/>
                <a:gd name="T7" fmla="*/ 0 60000 65536"/>
                <a:gd name="T8" fmla="*/ 0 60000 65536"/>
                <a:gd name="T9" fmla="*/ 0 w 28"/>
                <a:gd name="T10" fmla="*/ 0 h 14"/>
                <a:gd name="T11" fmla="*/ 28 w 28"/>
                <a:gd name="T12" fmla="*/ 14 h 14"/>
              </a:gdLst>
              <a:ahLst/>
              <a:cxnLst>
                <a:cxn ang="T6">
                  <a:pos x="T0" y="T1"/>
                </a:cxn>
                <a:cxn ang="T7">
                  <a:pos x="T2" y="T3"/>
                </a:cxn>
                <a:cxn ang="T8">
                  <a:pos x="T4" y="T5"/>
                </a:cxn>
              </a:cxnLst>
              <a:rect l="T9" t="T10" r="T11" b="T12"/>
              <a:pathLst>
                <a:path w="28" h="14">
                  <a:moveTo>
                    <a:pt x="0" y="14"/>
                  </a:moveTo>
                  <a:cubicBezTo>
                    <a:pt x="9" y="9"/>
                    <a:pt x="28" y="0"/>
                    <a:pt x="28" y="0"/>
                  </a:cubicBezTo>
                  <a:cubicBezTo>
                    <a:pt x="28" y="0"/>
                    <a:pt x="9" y="9"/>
                    <a:pt x="0" y="14"/>
                  </a:cubicBezTo>
                  <a:close/>
                </a:path>
              </a:pathLst>
            </a:custGeom>
            <a:solidFill>
              <a:schemeClr val="accent1"/>
            </a:solidFill>
            <a:ln w="9525">
              <a:solidFill>
                <a:schemeClr val="tx1"/>
              </a:solidFill>
              <a:round/>
            </a:ln>
          </p:spPr>
          <p:txBody>
            <a:bodyPr/>
            <a:lstStyle/>
            <a:p>
              <a:endParaRPr lang="en-US"/>
            </a:p>
          </p:txBody>
        </p:sp>
        <p:sp>
          <p:nvSpPr>
            <p:cNvPr id="33" name="Freeform 70"/>
            <p:cNvSpPr/>
            <p:nvPr/>
          </p:nvSpPr>
          <p:spPr bwMode="auto">
            <a:xfrm>
              <a:off x="6489688" y="2370479"/>
              <a:ext cx="2188715" cy="1567451"/>
            </a:xfrm>
            <a:custGeom>
              <a:avLst/>
              <a:gdLst>
                <a:gd name="T0" fmla="*/ 0 w 1510"/>
                <a:gd name="T1" fmla="*/ 5 h 1052"/>
                <a:gd name="T2" fmla="*/ 1102 w 1510"/>
                <a:gd name="T3" fmla="*/ 174 h 1052"/>
                <a:gd name="T4" fmla="*/ 1510 w 1510"/>
                <a:gd name="T5" fmla="*/ 1052 h 1052"/>
                <a:gd name="T6" fmla="*/ 0 60000 65536"/>
                <a:gd name="T7" fmla="*/ 0 60000 65536"/>
                <a:gd name="T8" fmla="*/ 0 60000 65536"/>
                <a:gd name="T9" fmla="*/ 0 w 1510"/>
                <a:gd name="T10" fmla="*/ 0 h 1052"/>
                <a:gd name="T11" fmla="*/ 1510 w 1510"/>
                <a:gd name="T12" fmla="*/ 1052 h 1052"/>
              </a:gdLst>
              <a:ahLst/>
              <a:cxnLst>
                <a:cxn ang="T6">
                  <a:pos x="T0" y="T1"/>
                </a:cxn>
                <a:cxn ang="T7">
                  <a:pos x="T2" y="T3"/>
                </a:cxn>
                <a:cxn ang="T8">
                  <a:pos x="T4" y="T5"/>
                </a:cxn>
              </a:cxnLst>
              <a:rect l="T9" t="T10" r="T11" b="T12"/>
              <a:pathLst>
                <a:path w="1510" h="1052">
                  <a:moveTo>
                    <a:pt x="0" y="5"/>
                  </a:moveTo>
                  <a:cubicBezTo>
                    <a:pt x="184" y="33"/>
                    <a:pt x="851" y="0"/>
                    <a:pt x="1102" y="174"/>
                  </a:cubicBezTo>
                  <a:cubicBezTo>
                    <a:pt x="1353" y="348"/>
                    <a:pt x="1425" y="869"/>
                    <a:pt x="1510" y="1052"/>
                  </a:cubicBezTo>
                </a:path>
              </a:pathLst>
            </a:custGeom>
            <a:noFill/>
            <a:ln w="9525">
              <a:solidFill>
                <a:schemeClr val="tx1"/>
              </a:solidFill>
              <a:round/>
            </a:ln>
          </p:spPr>
          <p:txBody>
            <a:bodyPr/>
            <a:lstStyle/>
            <a:p>
              <a:endParaRPr lang="en-US"/>
            </a:p>
          </p:txBody>
        </p:sp>
        <p:sp>
          <p:nvSpPr>
            <p:cNvPr id="34" name="Text Box 71"/>
            <p:cNvSpPr txBox="1">
              <a:spLocks noChangeArrowheads="1"/>
            </p:cNvSpPr>
            <p:nvPr/>
          </p:nvSpPr>
          <p:spPr bwMode="auto">
            <a:xfrm>
              <a:off x="8021788" y="2383889"/>
              <a:ext cx="31163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9</a:t>
              </a:r>
              <a:endParaRPr lang="en-US"/>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4933">
                                            <p:txEl>
                                              <p:pRg st="1" end="1"/>
                                            </p:txEl>
                                          </p:spTgt>
                                        </p:tgtEl>
                                        <p:attrNameLst>
                                          <p:attrName>style.visibility</p:attrName>
                                        </p:attrNameLst>
                                      </p:cBhvr>
                                      <p:to>
                                        <p:strVal val="visible"/>
                                      </p:to>
                                    </p:set>
                                    <p:animEffect transition="in" filter="dissolve">
                                      <p:cBhvr>
                                        <p:cTn id="7" dur="1000"/>
                                        <p:tgtEl>
                                          <p:spTgt spid="124933">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4933">
                                            <p:txEl>
                                              <p:pRg st="2" end="2"/>
                                            </p:txEl>
                                          </p:spTgt>
                                        </p:tgtEl>
                                        <p:attrNameLst>
                                          <p:attrName>style.visibility</p:attrName>
                                        </p:attrNameLst>
                                      </p:cBhvr>
                                      <p:to>
                                        <p:strVal val="visible"/>
                                      </p:to>
                                    </p:set>
                                    <p:animEffect transition="in" filter="dissolve">
                                      <p:cBhvr>
                                        <p:cTn id="10" dur="1000"/>
                                        <p:tgtEl>
                                          <p:spTgt spid="124933">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4933">
                                            <p:txEl>
                                              <p:pRg st="3" end="3"/>
                                            </p:txEl>
                                          </p:spTgt>
                                        </p:tgtEl>
                                        <p:attrNameLst>
                                          <p:attrName>style.visibility</p:attrName>
                                        </p:attrNameLst>
                                      </p:cBhvr>
                                      <p:to>
                                        <p:strVal val="visible"/>
                                      </p:to>
                                    </p:set>
                                    <p:animEffect transition="in" filter="dissolve">
                                      <p:cBhvr>
                                        <p:cTn id="13" dur="1000"/>
                                        <p:tgtEl>
                                          <p:spTgt spid="124933">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4933">
                                            <p:txEl>
                                              <p:pRg st="4" end="4"/>
                                            </p:txEl>
                                          </p:spTgt>
                                        </p:tgtEl>
                                        <p:attrNameLst>
                                          <p:attrName>style.visibility</p:attrName>
                                        </p:attrNameLst>
                                      </p:cBhvr>
                                      <p:to>
                                        <p:strVal val="visible"/>
                                      </p:to>
                                    </p:set>
                                    <p:animEffect transition="in" filter="dissolve">
                                      <p:cBhvr>
                                        <p:cTn id="18" dur="1000"/>
                                        <p:tgtEl>
                                          <p:spTgt spid="124933">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4933">
                                            <p:txEl>
                                              <p:pRg st="5" end="5"/>
                                            </p:txEl>
                                          </p:spTgt>
                                        </p:tgtEl>
                                        <p:attrNameLst>
                                          <p:attrName>style.visibility</p:attrName>
                                        </p:attrNameLst>
                                      </p:cBhvr>
                                      <p:to>
                                        <p:strVal val="visible"/>
                                      </p:to>
                                    </p:set>
                                    <p:animEffect transition="in" filter="dissolve">
                                      <p:cBhvr>
                                        <p:cTn id="21" dur="1000"/>
                                        <p:tgtEl>
                                          <p:spTgt spid="124933">
                                            <p:txEl>
                                              <p:pRg st="5" end="5"/>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24933">
                                            <p:txEl>
                                              <p:pRg st="6" end="6"/>
                                            </p:txEl>
                                          </p:spTgt>
                                        </p:tgtEl>
                                        <p:attrNameLst>
                                          <p:attrName>style.visibility</p:attrName>
                                        </p:attrNameLst>
                                      </p:cBhvr>
                                      <p:to>
                                        <p:strVal val="visible"/>
                                      </p:to>
                                    </p:set>
                                    <p:animEffect transition="in" filter="dissolve">
                                      <p:cBhvr>
                                        <p:cTn id="26" dur="1000"/>
                                        <p:tgtEl>
                                          <p:spTgt spid="12493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931"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325" y="1014413"/>
            <a:ext cx="6856413" cy="173037"/>
          </a:xfrm>
          <a:prstGeom prst="rect">
            <a:avLst/>
          </a:prstGeom>
          <a:noFill/>
          <a:ln>
            <a:noFill/>
          </a:ln>
        </p:spPr>
      </p:pic>
      <p:sp>
        <p:nvSpPr>
          <p:cNvPr id="124932" name="Rectangle 2"/>
          <p:cNvSpPr>
            <a:spLocks noGrp="1" noChangeArrowheads="1"/>
          </p:cNvSpPr>
          <p:nvPr>
            <p:ph type="title"/>
          </p:nvPr>
        </p:nvSpPr>
        <p:spPr/>
        <p:txBody>
          <a:bodyPr/>
          <a:lstStyle/>
          <a:p>
            <a:r>
              <a:rPr lang="en-US" sz="4000" dirty="0">
                <a:latin typeface="Gill Sans MT" pitchFamily="34" charset="0"/>
              </a:rPr>
              <a:t>A link-state routing algorithm</a:t>
            </a:r>
            <a:endParaRPr lang="en-US" dirty="0">
              <a:latin typeface="Gill Sans MT" pitchFamily="34" charset="0"/>
            </a:endParaRPr>
          </a:p>
        </p:txBody>
      </p:sp>
      <p:sp>
        <p:nvSpPr>
          <p:cNvPr id="124934" name="Rectangle 4"/>
          <p:cNvSpPr>
            <a:spLocks noGrp="1" noChangeArrowheads="1"/>
          </p:cNvSpPr>
          <p:nvPr>
            <p:ph type="body" sz="half" idx="2"/>
          </p:nvPr>
        </p:nvSpPr>
        <p:spPr>
          <a:xfrm>
            <a:off x="4773098" y="1573380"/>
            <a:ext cx="4012539" cy="4648200"/>
          </a:xfrm>
        </p:spPr>
        <p:txBody>
          <a:bodyPr/>
          <a:lstStyle/>
          <a:p>
            <a:pPr>
              <a:lnSpc>
                <a:spcPct val="75000"/>
              </a:lnSpc>
              <a:buFont typeface="Wingdings" panose="05000000000000000000" charset="0"/>
              <a:buNone/>
            </a:pPr>
            <a:r>
              <a:rPr lang="en-US" i="1" dirty="0">
                <a:solidFill>
                  <a:srgbClr val="CC0000"/>
                </a:solidFill>
                <a:latin typeface="Gill Sans MT" pitchFamily="34" charset="0"/>
              </a:rPr>
              <a:t>notation:</a:t>
            </a:r>
          </a:p>
          <a:p>
            <a:pPr>
              <a:lnSpc>
                <a:spcPct val="75000"/>
              </a:lnSpc>
            </a:pPr>
            <a:r>
              <a:rPr lang="en-US" dirty="0">
                <a:solidFill>
                  <a:srgbClr val="000099"/>
                </a:solidFill>
                <a:latin typeface="Arial" panose="020B0604020202090204" pitchFamily="34" charset="0"/>
              </a:rPr>
              <a:t>c(</a:t>
            </a:r>
            <a:r>
              <a:rPr lang="en-US" dirty="0" err="1">
                <a:solidFill>
                  <a:srgbClr val="000099"/>
                </a:solidFill>
                <a:latin typeface="Arial" panose="020B0604020202090204" pitchFamily="34" charset="0"/>
              </a:rPr>
              <a:t>x,y</a:t>
            </a:r>
            <a:r>
              <a:rPr lang="en-US" dirty="0">
                <a:solidFill>
                  <a:srgbClr val="000099"/>
                </a:solidFill>
                <a:latin typeface="Arial" panose="020B0604020202090204" pitchFamily="34" charset="0"/>
              </a:rPr>
              <a:t>):</a:t>
            </a:r>
            <a:r>
              <a:rPr lang="en-US" sz="2400" dirty="0">
                <a:latin typeface="Gill Sans MT" pitchFamily="34" charset="0"/>
              </a:rPr>
              <a:t> link cost from node x to y;  = ∞ if not direct neighbors</a:t>
            </a:r>
          </a:p>
          <a:p>
            <a:pPr>
              <a:lnSpc>
                <a:spcPct val="75000"/>
              </a:lnSpc>
              <a:spcBef>
                <a:spcPts val="1470"/>
              </a:spcBef>
            </a:pPr>
            <a:r>
              <a:rPr lang="en-US" dirty="0">
                <a:solidFill>
                  <a:srgbClr val="000099"/>
                </a:solidFill>
                <a:latin typeface="Arial" panose="020B0604020202090204" pitchFamily="34" charset="0"/>
              </a:rPr>
              <a:t>D(v):</a:t>
            </a:r>
            <a:r>
              <a:rPr lang="en-US" sz="2400" dirty="0">
                <a:latin typeface="Gill Sans MT" pitchFamily="34" charset="0"/>
              </a:rPr>
              <a:t> current value of cost of path </a:t>
            </a:r>
            <a:r>
              <a:rPr lang="en-US" sz="2400" dirty="0">
                <a:solidFill>
                  <a:srgbClr val="C00000"/>
                </a:solidFill>
                <a:latin typeface="Gill Sans MT" pitchFamily="34" charset="0"/>
              </a:rPr>
              <a:t>from source </a:t>
            </a:r>
            <a:r>
              <a:rPr lang="en-US" sz="2400" dirty="0">
                <a:latin typeface="Gill Sans MT" pitchFamily="34" charset="0"/>
              </a:rPr>
              <a:t>to </a:t>
            </a:r>
            <a:r>
              <a:rPr lang="en-US" sz="2400" dirty="0" err="1">
                <a:latin typeface="Gill Sans MT" pitchFamily="34" charset="0"/>
              </a:rPr>
              <a:t>dest</a:t>
            </a:r>
            <a:r>
              <a:rPr lang="en-US" sz="2400" dirty="0">
                <a:latin typeface="Gill Sans MT" pitchFamily="34" charset="0"/>
              </a:rPr>
              <a:t>. v</a:t>
            </a:r>
          </a:p>
          <a:p>
            <a:pPr>
              <a:lnSpc>
                <a:spcPct val="75000"/>
              </a:lnSpc>
              <a:spcBef>
                <a:spcPts val="1470"/>
              </a:spcBef>
            </a:pPr>
            <a:r>
              <a:rPr lang="en-US" dirty="0">
                <a:solidFill>
                  <a:srgbClr val="000099"/>
                </a:solidFill>
                <a:latin typeface="Arial" panose="020B0604020202090204" pitchFamily="34" charset="0"/>
              </a:rPr>
              <a:t>p(v):</a:t>
            </a:r>
            <a:r>
              <a:rPr lang="en-US" sz="2400" dirty="0">
                <a:latin typeface="Gill Sans MT" pitchFamily="34" charset="0"/>
              </a:rPr>
              <a:t> predecessor node along path </a:t>
            </a:r>
            <a:r>
              <a:rPr lang="en-US" sz="2400" dirty="0">
                <a:solidFill>
                  <a:srgbClr val="C00000"/>
                </a:solidFill>
                <a:latin typeface="Gill Sans MT" pitchFamily="34" charset="0"/>
              </a:rPr>
              <a:t>from source </a:t>
            </a:r>
            <a:r>
              <a:rPr lang="en-US" sz="2400" dirty="0">
                <a:latin typeface="Gill Sans MT" pitchFamily="34" charset="0"/>
              </a:rPr>
              <a:t>to v</a:t>
            </a:r>
          </a:p>
          <a:p>
            <a:pPr>
              <a:lnSpc>
                <a:spcPct val="75000"/>
              </a:lnSpc>
              <a:spcBef>
                <a:spcPts val="1470"/>
              </a:spcBef>
            </a:pPr>
            <a:r>
              <a:rPr lang="en-US" dirty="0">
                <a:solidFill>
                  <a:srgbClr val="000099"/>
                </a:solidFill>
                <a:latin typeface="Arial" panose="020B0604020202090204" pitchFamily="34" charset="0"/>
              </a:rPr>
              <a:t>N</a:t>
            </a:r>
            <a:r>
              <a:rPr lang="en-US" dirty="0">
                <a:solidFill>
                  <a:srgbClr val="000099"/>
                </a:solidFill>
                <a:latin typeface="Arial" panose="020B0604020202090204" pitchFamily="34" charset="0"/>
                <a:cs typeface="Arial" panose="020B0604020202090204" pitchFamily="34" charset="0"/>
              </a:rPr>
              <a:t>'</a:t>
            </a:r>
            <a:r>
              <a:rPr lang="en-US" dirty="0">
                <a:solidFill>
                  <a:srgbClr val="000099"/>
                </a:solidFill>
                <a:latin typeface="Arial" panose="020B0604020202090204" pitchFamily="34" charset="0"/>
              </a:rPr>
              <a:t>:</a:t>
            </a:r>
            <a:r>
              <a:rPr lang="en-US" sz="2400" dirty="0">
                <a:latin typeface="Gill Sans MT" pitchFamily="34" charset="0"/>
              </a:rPr>
              <a:t> set of nodes whose least cost path definitively known</a:t>
            </a:r>
          </a:p>
          <a:p>
            <a:pPr>
              <a:lnSpc>
                <a:spcPct val="75000"/>
              </a:lnSpc>
            </a:pPr>
            <a:endParaRPr lang="en-US" dirty="0">
              <a:latin typeface="Gill Sans MT" pitchFamily="34" charset="0"/>
            </a:endParaRPr>
          </a:p>
        </p:txBody>
      </p:sp>
      <p:sp>
        <p:nvSpPr>
          <p:cNvPr id="8"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25</a:t>
            </a:fld>
            <a:endParaRPr lang="en-US" sz="1200" dirty="0">
              <a:latin typeface="Tahoma" panose="020B0604030504040204" charset="0"/>
            </a:endParaRPr>
          </a:p>
        </p:txBody>
      </p:sp>
      <p:sp>
        <p:nvSpPr>
          <p:cNvPr id="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grpSp>
        <p:nvGrpSpPr>
          <p:cNvPr id="5" name="组合 4"/>
          <p:cNvGrpSpPr/>
          <p:nvPr/>
        </p:nvGrpSpPr>
        <p:grpSpPr>
          <a:xfrm>
            <a:off x="354013" y="2157413"/>
            <a:ext cx="4217987" cy="3364357"/>
            <a:chOff x="4738716" y="2157413"/>
            <a:chExt cx="4217987" cy="3364357"/>
          </a:xfrm>
        </p:grpSpPr>
        <p:grpSp>
          <p:nvGrpSpPr>
            <p:cNvPr id="6" name="Group 3"/>
            <p:cNvGrpSpPr/>
            <p:nvPr/>
          </p:nvGrpSpPr>
          <p:grpSpPr bwMode="auto">
            <a:xfrm>
              <a:off x="6007011" y="3857471"/>
              <a:ext cx="458036" cy="397823"/>
              <a:chOff x="1613" y="2011"/>
              <a:chExt cx="316" cy="267"/>
            </a:xfrm>
          </p:grpSpPr>
          <p:sp>
            <p:nvSpPr>
              <p:cNvPr id="124937" name="Oval 4"/>
              <p:cNvSpPr>
                <a:spLocks noChangeArrowheads="1"/>
              </p:cNvSpPr>
              <p:nvPr/>
            </p:nvSpPr>
            <p:spPr bwMode="auto">
              <a:xfrm>
                <a:off x="1616" y="2138"/>
                <a:ext cx="311" cy="81"/>
              </a:xfrm>
              <a:prstGeom prst="ellipse">
                <a:avLst/>
              </a:prstGeom>
              <a:solidFill>
                <a:schemeClr val="hlink"/>
              </a:solidFill>
              <a:ln w="12700">
                <a:solidFill>
                  <a:schemeClr val="tx1"/>
                </a:solidFill>
                <a:round/>
              </a:ln>
            </p:spPr>
            <p:txBody>
              <a:bodyPr wrap="none" anchor="ctr"/>
              <a:lstStyle/>
              <a:p>
                <a:endParaRPr lang="en-US"/>
              </a:p>
            </p:txBody>
          </p:sp>
          <p:sp>
            <p:nvSpPr>
              <p:cNvPr id="124938" name="Line 5"/>
              <p:cNvSpPr>
                <a:spLocks noChangeShapeType="1"/>
              </p:cNvSpPr>
              <p:nvPr/>
            </p:nvSpPr>
            <p:spPr bwMode="auto">
              <a:xfrm>
                <a:off x="1616" y="2129"/>
                <a:ext cx="0" cy="50"/>
              </a:xfrm>
              <a:prstGeom prst="line">
                <a:avLst/>
              </a:prstGeom>
              <a:noFill/>
              <a:ln w="12700">
                <a:solidFill>
                  <a:schemeClr val="tx1"/>
                </a:solidFill>
                <a:round/>
              </a:ln>
            </p:spPr>
            <p:txBody>
              <a:bodyPr wrap="none" anchor="ctr"/>
              <a:lstStyle/>
              <a:p>
                <a:endParaRPr lang="en-US"/>
              </a:p>
            </p:txBody>
          </p:sp>
          <p:sp>
            <p:nvSpPr>
              <p:cNvPr id="124939" name="Line 6"/>
              <p:cNvSpPr>
                <a:spLocks noChangeShapeType="1"/>
              </p:cNvSpPr>
              <p:nvPr/>
            </p:nvSpPr>
            <p:spPr bwMode="auto">
              <a:xfrm>
                <a:off x="1929" y="2129"/>
                <a:ext cx="0" cy="50"/>
              </a:xfrm>
              <a:prstGeom prst="line">
                <a:avLst/>
              </a:prstGeom>
              <a:noFill/>
              <a:ln w="12700">
                <a:solidFill>
                  <a:schemeClr val="tx1"/>
                </a:solidFill>
                <a:round/>
              </a:ln>
            </p:spPr>
            <p:txBody>
              <a:bodyPr wrap="none" anchor="ctr"/>
              <a:lstStyle/>
              <a:p>
                <a:endParaRPr lang="en-US"/>
              </a:p>
            </p:txBody>
          </p:sp>
          <p:sp>
            <p:nvSpPr>
              <p:cNvPr id="124940" name="Rectangle 7"/>
              <p:cNvSpPr>
                <a:spLocks noChangeArrowheads="1"/>
              </p:cNvSpPr>
              <p:nvPr/>
            </p:nvSpPr>
            <p:spPr bwMode="auto">
              <a:xfrm>
                <a:off x="1616" y="2129"/>
                <a:ext cx="308" cy="49"/>
              </a:xfrm>
              <a:prstGeom prst="rect">
                <a:avLst/>
              </a:prstGeom>
              <a:solidFill>
                <a:schemeClr val="hlink"/>
              </a:solidFill>
              <a:ln>
                <a:noFill/>
              </a:ln>
            </p:spPr>
            <p:txBody>
              <a:bodyPr wrap="none" anchor="ctr"/>
              <a:lstStyle/>
              <a:p>
                <a:pPr algn="ctr"/>
                <a:endParaRPr lang="en-US" sz="2400"/>
              </a:p>
            </p:txBody>
          </p:sp>
          <p:sp>
            <p:nvSpPr>
              <p:cNvPr id="124941" name="Oval 8"/>
              <p:cNvSpPr>
                <a:spLocks noChangeArrowheads="1"/>
              </p:cNvSpPr>
              <p:nvPr/>
            </p:nvSpPr>
            <p:spPr bwMode="auto">
              <a:xfrm>
                <a:off x="1613" y="2072"/>
                <a:ext cx="311" cy="95"/>
              </a:xfrm>
              <a:prstGeom prst="ellipse">
                <a:avLst/>
              </a:prstGeom>
              <a:solidFill>
                <a:schemeClr val="hlink"/>
              </a:solidFill>
              <a:ln w="12700">
                <a:solidFill>
                  <a:schemeClr val="tx1"/>
                </a:solidFill>
                <a:round/>
              </a:ln>
            </p:spPr>
            <p:txBody>
              <a:bodyPr wrap="none" anchor="ctr"/>
              <a:lstStyle/>
              <a:p>
                <a:endParaRPr lang="en-US"/>
              </a:p>
            </p:txBody>
          </p:sp>
          <p:sp>
            <p:nvSpPr>
              <p:cNvPr id="124942" name="Rectangle 9"/>
              <p:cNvSpPr>
                <a:spLocks noChangeArrowheads="1"/>
              </p:cNvSpPr>
              <p:nvPr/>
            </p:nvSpPr>
            <p:spPr bwMode="auto">
              <a:xfrm>
                <a:off x="1686" y="2100"/>
                <a:ext cx="140" cy="105"/>
              </a:xfrm>
              <a:prstGeom prst="rect">
                <a:avLst/>
              </a:prstGeom>
              <a:solidFill>
                <a:schemeClr val="hlink"/>
              </a:solidFill>
              <a:ln>
                <a:noFill/>
              </a:ln>
            </p:spPr>
            <p:txBody>
              <a:bodyPr wrap="none" anchor="ctr"/>
              <a:lstStyle/>
              <a:p>
                <a:endParaRPr lang="en-US"/>
              </a:p>
            </p:txBody>
          </p:sp>
          <p:sp>
            <p:nvSpPr>
              <p:cNvPr id="124943" name="Text Box 10"/>
              <p:cNvSpPr txBox="1">
                <a:spLocks noChangeArrowheads="1"/>
              </p:cNvSpPr>
              <p:nvPr/>
            </p:nvSpPr>
            <p:spPr bwMode="auto">
              <a:xfrm>
                <a:off x="1633" y="2011"/>
                <a:ext cx="254" cy="26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w</a:t>
                </a:r>
                <a:endParaRPr lang="en-US"/>
              </a:p>
            </p:txBody>
          </p:sp>
        </p:grpSp>
        <p:sp>
          <p:nvSpPr>
            <p:cNvPr id="7" name="Text Box 11"/>
            <p:cNvSpPr txBox="1">
              <a:spLocks noChangeArrowheads="1"/>
            </p:cNvSpPr>
            <p:nvPr/>
          </p:nvSpPr>
          <p:spPr bwMode="auto">
            <a:xfrm>
              <a:off x="5477951" y="3800852"/>
              <a:ext cx="31163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0" name="Text Box 12"/>
            <p:cNvSpPr txBox="1">
              <a:spLocks noChangeArrowheads="1"/>
            </p:cNvSpPr>
            <p:nvPr/>
          </p:nvSpPr>
          <p:spPr bwMode="auto">
            <a:xfrm>
              <a:off x="6209938" y="3084176"/>
              <a:ext cx="31163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4</a:t>
              </a:r>
              <a:endParaRPr lang="en-US"/>
            </a:p>
          </p:txBody>
        </p:sp>
        <p:grpSp>
          <p:nvGrpSpPr>
            <p:cNvPr id="11" name="Group 13"/>
            <p:cNvGrpSpPr/>
            <p:nvPr/>
          </p:nvGrpSpPr>
          <p:grpSpPr bwMode="auto">
            <a:xfrm>
              <a:off x="6020056" y="5125437"/>
              <a:ext cx="458036" cy="396333"/>
              <a:chOff x="1613" y="2011"/>
              <a:chExt cx="316" cy="266"/>
            </a:xfrm>
          </p:grpSpPr>
          <p:sp>
            <p:nvSpPr>
              <p:cNvPr id="62" name="Oval 14"/>
              <p:cNvSpPr>
                <a:spLocks noChangeArrowheads="1"/>
              </p:cNvSpPr>
              <p:nvPr/>
            </p:nvSpPr>
            <p:spPr bwMode="auto">
              <a:xfrm>
                <a:off x="1616" y="2138"/>
                <a:ext cx="313" cy="81"/>
              </a:xfrm>
              <a:prstGeom prst="ellipse">
                <a:avLst/>
              </a:prstGeom>
              <a:solidFill>
                <a:schemeClr val="hlink"/>
              </a:solidFill>
              <a:ln w="12700">
                <a:solidFill>
                  <a:schemeClr val="tx1"/>
                </a:solidFill>
                <a:round/>
              </a:ln>
            </p:spPr>
            <p:txBody>
              <a:bodyPr wrap="none" anchor="ctr"/>
              <a:lstStyle/>
              <a:p>
                <a:endParaRPr lang="en-US"/>
              </a:p>
            </p:txBody>
          </p:sp>
          <p:sp>
            <p:nvSpPr>
              <p:cNvPr id="63" name="Line 15"/>
              <p:cNvSpPr>
                <a:spLocks noChangeShapeType="1"/>
              </p:cNvSpPr>
              <p:nvPr/>
            </p:nvSpPr>
            <p:spPr bwMode="auto">
              <a:xfrm>
                <a:off x="1616" y="2131"/>
                <a:ext cx="0" cy="50"/>
              </a:xfrm>
              <a:prstGeom prst="line">
                <a:avLst/>
              </a:prstGeom>
              <a:noFill/>
              <a:ln w="12700">
                <a:solidFill>
                  <a:schemeClr val="tx1"/>
                </a:solidFill>
                <a:round/>
              </a:ln>
            </p:spPr>
            <p:txBody>
              <a:bodyPr wrap="none" anchor="ctr"/>
              <a:lstStyle/>
              <a:p>
                <a:endParaRPr lang="en-US"/>
              </a:p>
            </p:txBody>
          </p:sp>
          <p:sp>
            <p:nvSpPr>
              <p:cNvPr id="124928" name="Line 16"/>
              <p:cNvSpPr>
                <a:spLocks noChangeShapeType="1"/>
              </p:cNvSpPr>
              <p:nvPr/>
            </p:nvSpPr>
            <p:spPr bwMode="auto">
              <a:xfrm>
                <a:off x="1929" y="2131"/>
                <a:ext cx="0" cy="50"/>
              </a:xfrm>
              <a:prstGeom prst="line">
                <a:avLst/>
              </a:prstGeom>
              <a:noFill/>
              <a:ln w="12700">
                <a:solidFill>
                  <a:schemeClr val="tx1"/>
                </a:solidFill>
                <a:round/>
              </a:ln>
            </p:spPr>
            <p:txBody>
              <a:bodyPr wrap="none" anchor="ctr"/>
              <a:lstStyle/>
              <a:p>
                <a:endParaRPr lang="en-US"/>
              </a:p>
            </p:txBody>
          </p:sp>
          <p:sp>
            <p:nvSpPr>
              <p:cNvPr id="124929" name="Rectangle 17"/>
              <p:cNvSpPr>
                <a:spLocks noChangeArrowheads="1"/>
              </p:cNvSpPr>
              <p:nvPr/>
            </p:nvSpPr>
            <p:spPr bwMode="auto">
              <a:xfrm>
                <a:off x="1616" y="2131"/>
                <a:ext cx="310" cy="49"/>
              </a:xfrm>
              <a:prstGeom prst="rect">
                <a:avLst/>
              </a:prstGeom>
              <a:solidFill>
                <a:schemeClr val="hlink"/>
              </a:solidFill>
              <a:ln>
                <a:noFill/>
              </a:ln>
            </p:spPr>
            <p:txBody>
              <a:bodyPr wrap="none" anchor="ctr"/>
              <a:lstStyle/>
              <a:p>
                <a:pPr algn="ctr"/>
                <a:endParaRPr lang="en-US" sz="2400"/>
              </a:p>
            </p:txBody>
          </p:sp>
          <p:sp>
            <p:nvSpPr>
              <p:cNvPr id="124930" name="Oval 18"/>
              <p:cNvSpPr>
                <a:spLocks noChangeArrowheads="1"/>
              </p:cNvSpPr>
              <p:nvPr/>
            </p:nvSpPr>
            <p:spPr bwMode="auto">
              <a:xfrm>
                <a:off x="1613" y="2072"/>
                <a:ext cx="313" cy="95"/>
              </a:xfrm>
              <a:prstGeom prst="ellipse">
                <a:avLst/>
              </a:prstGeom>
              <a:solidFill>
                <a:schemeClr val="hlink"/>
              </a:solidFill>
              <a:ln w="12700">
                <a:solidFill>
                  <a:schemeClr val="tx1"/>
                </a:solidFill>
                <a:round/>
              </a:ln>
            </p:spPr>
            <p:txBody>
              <a:bodyPr wrap="none" anchor="ctr"/>
              <a:lstStyle/>
              <a:p>
                <a:endParaRPr lang="en-US"/>
              </a:p>
            </p:txBody>
          </p:sp>
          <p:sp>
            <p:nvSpPr>
              <p:cNvPr id="124935" name="Rectangle 19"/>
              <p:cNvSpPr>
                <a:spLocks noChangeArrowheads="1"/>
              </p:cNvSpPr>
              <p:nvPr/>
            </p:nvSpPr>
            <p:spPr bwMode="auto">
              <a:xfrm>
                <a:off x="1687" y="2100"/>
                <a:ext cx="141" cy="105"/>
              </a:xfrm>
              <a:prstGeom prst="rect">
                <a:avLst/>
              </a:prstGeom>
              <a:solidFill>
                <a:schemeClr val="hlink"/>
              </a:solidFill>
              <a:ln>
                <a:noFill/>
              </a:ln>
            </p:spPr>
            <p:txBody>
              <a:bodyPr wrap="none" anchor="ctr"/>
              <a:lstStyle/>
              <a:p>
                <a:endParaRPr lang="en-US"/>
              </a:p>
            </p:txBody>
          </p:sp>
          <p:sp>
            <p:nvSpPr>
              <p:cNvPr id="124936" name="Text Box 20"/>
              <p:cNvSpPr txBox="1">
                <a:spLocks noChangeArrowheads="1"/>
              </p:cNvSpPr>
              <p:nvPr/>
            </p:nvSpPr>
            <p:spPr bwMode="auto">
              <a:xfrm>
                <a:off x="1652" y="2011"/>
                <a:ext cx="215" cy="264"/>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v</a:t>
                </a:r>
                <a:endParaRPr lang="en-US"/>
              </a:p>
            </p:txBody>
          </p:sp>
        </p:grpSp>
        <p:grpSp>
          <p:nvGrpSpPr>
            <p:cNvPr id="12" name="Group 21"/>
            <p:cNvGrpSpPr/>
            <p:nvPr/>
          </p:nvGrpSpPr>
          <p:grpSpPr bwMode="auto">
            <a:xfrm>
              <a:off x="6014258" y="2157413"/>
              <a:ext cx="458036" cy="396333"/>
              <a:chOff x="1613" y="2011"/>
              <a:chExt cx="316" cy="266"/>
            </a:xfrm>
          </p:grpSpPr>
          <p:sp>
            <p:nvSpPr>
              <p:cNvPr id="55" name="Oval 22"/>
              <p:cNvSpPr>
                <a:spLocks noChangeArrowheads="1"/>
              </p:cNvSpPr>
              <p:nvPr/>
            </p:nvSpPr>
            <p:spPr bwMode="auto">
              <a:xfrm>
                <a:off x="1616" y="2138"/>
                <a:ext cx="313" cy="81"/>
              </a:xfrm>
              <a:prstGeom prst="ellipse">
                <a:avLst/>
              </a:prstGeom>
              <a:solidFill>
                <a:schemeClr val="hlink"/>
              </a:solidFill>
              <a:ln w="12700">
                <a:solidFill>
                  <a:schemeClr val="tx1"/>
                </a:solidFill>
                <a:round/>
              </a:ln>
            </p:spPr>
            <p:txBody>
              <a:bodyPr wrap="none" anchor="ctr"/>
              <a:lstStyle/>
              <a:p>
                <a:endParaRPr lang="en-US"/>
              </a:p>
            </p:txBody>
          </p:sp>
          <p:sp>
            <p:nvSpPr>
              <p:cNvPr id="56" name="Line 23"/>
              <p:cNvSpPr>
                <a:spLocks noChangeShapeType="1"/>
              </p:cNvSpPr>
              <p:nvPr/>
            </p:nvSpPr>
            <p:spPr bwMode="auto">
              <a:xfrm>
                <a:off x="1616" y="2131"/>
                <a:ext cx="0" cy="50"/>
              </a:xfrm>
              <a:prstGeom prst="line">
                <a:avLst/>
              </a:prstGeom>
              <a:noFill/>
              <a:ln w="12700">
                <a:solidFill>
                  <a:schemeClr val="tx1"/>
                </a:solidFill>
                <a:round/>
              </a:ln>
            </p:spPr>
            <p:txBody>
              <a:bodyPr wrap="none" anchor="ctr"/>
              <a:lstStyle/>
              <a:p>
                <a:endParaRPr lang="en-US"/>
              </a:p>
            </p:txBody>
          </p:sp>
          <p:sp>
            <p:nvSpPr>
              <p:cNvPr id="57" name="Line 24"/>
              <p:cNvSpPr>
                <a:spLocks noChangeShapeType="1"/>
              </p:cNvSpPr>
              <p:nvPr/>
            </p:nvSpPr>
            <p:spPr bwMode="auto">
              <a:xfrm>
                <a:off x="1929" y="2131"/>
                <a:ext cx="0" cy="50"/>
              </a:xfrm>
              <a:prstGeom prst="line">
                <a:avLst/>
              </a:prstGeom>
              <a:noFill/>
              <a:ln w="12700">
                <a:solidFill>
                  <a:schemeClr val="tx1"/>
                </a:solidFill>
                <a:round/>
              </a:ln>
            </p:spPr>
            <p:txBody>
              <a:bodyPr wrap="none" anchor="ctr"/>
              <a:lstStyle/>
              <a:p>
                <a:endParaRPr lang="en-US"/>
              </a:p>
            </p:txBody>
          </p:sp>
          <p:sp>
            <p:nvSpPr>
              <p:cNvPr id="58" name="Rectangle 25"/>
              <p:cNvSpPr>
                <a:spLocks noChangeArrowheads="1"/>
              </p:cNvSpPr>
              <p:nvPr/>
            </p:nvSpPr>
            <p:spPr bwMode="auto">
              <a:xfrm>
                <a:off x="1616" y="2131"/>
                <a:ext cx="310" cy="49"/>
              </a:xfrm>
              <a:prstGeom prst="rect">
                <a:avLst/>
              </a:prstGeom>
              <a:solidFill>
                <a:schemeClr val="hlink"/>
              </a:solidFill>
              <a:ln>
                <a:noFill/>
              </a:ln>
            </p:spPr>
            <p:txBody>
              <a:bodyPr wrap="none" anchor="ctr"/>
              <a:lstStyle/>
              <a:p>
                <a:pPr algn="ctr"/>
                <a:endParaRPr lang="en-US" sz="2400"/>
              </a:p>
            </p:txBody>
          </p:sp>
          <p:sp>
            <p:nvSpPr>
              <p:cNvPr id="59" name="Oval 26"/>
              <p:cNvSpPr>
                <a:spLocks noChangeArrowheads="1"/>
              </p:cNvSpPr>
              <p:nvPr/>
            </p:nvSpPr>
            <p:spPr bwMode="auto">
              <a:xfrm>
                <a:off x="1611" y="2072"/>
                <a:ext cx="313" cy="97"/>
              </a:xfrm>
              <a:prstGeom prst="ellipse">
                <a:avLst/>
              </a:prstGeom>
              <a:solidFill>
                <a:schemeClr val="hlink"/>
              </a:solidFill>
              <a:ln w="12700">
                <a:solidFill>
                  <a:schemeClr val="tx1"/>
                </a:solidFill>
                <a:round/>
              </a:ln>
            </p:spPr>
            <p:txBody>
              <a:bodyPr wrap="none" anchor="ctr"/>
              <a:lstStyle/>
              <a:p>
                <a:endParaRPr lang="en-US"/>
              </a:p>
            </p:txBody>
          </p:sp>
          <p:sp>
            <p:nvSpPr>
              <p:cNvPr id="60" name="Rectangle 27"/>
              <p:cNvSpPr>
                <a:spLocks noChangeArrowheads="1"/>
              </p:cNvSpPr>
              <p:nvPr/>
            </p:nvSpPr>
            <p:spPr bwMode="auto">
              <a:xfrm>
                <a:off x="1687" y="2100"/>
                <a:ext cx="141" cy="103"/>
              </a:xfrm>
              <a:prstGeom prst="rect">
                <a:avLst/>
              </a:prstGeom>
              <a:solidFill>
                <a:schemeClr val="hlink"/>
              </a:solidFill>
              <a:ln>
                <a:noFill/>
              </a:ln>
            </p:spPr>
            <p:txBody>
              <a:bodyPr wrap="none" anchor="ctr"/>
              <a:lstStyle/>
              <a:p>
                <a:endParaRPr lang="en-US"/>
              </a:p>
            </p:txBody>
          </p:sp>
          <p:sp>
            <p:nvSpPr>
              <p:cNvPr id="61" name="Text Box 28"/>
              <p:cNvSpPr txBox="1">
                <a:spLocks noChangeArrowheads="1"/>
              </p:cNvSpPr>
              <p:nvPr/>
            </p:nvSpPr>
            <p:spPr bwMode="auto">
              <a:xfrm>
                <a:off x="1652" y="2011"/>
                <a:ext cx="215" cy="266"/>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x</a:t>
                </a:r>
                <a:endParaRPr lang="en-US"/>
              </a:p>
            </p:txBody>
          </p:sp>
        </p:grpSp>
        <p:sp>
          <p:nvSpPr>
            <p:cNvPr id="13" name="Oval 30"/>
            <p:cNvSpPr>
              <a:spLocks noChangeArrowheads="1"/>
            </p:cNvSpPr>
            <p:nvPr/>
          </p:nvSpPr>
          <p:spPr bwMode="auto">
            <a:xfrm>
              <a:off x="4743064" y="4092887"/>
              <a:ext cx="453688" cy="122178"/>
            </a:xfrm>
            <a:prstGeom prst="ellipse">
              <a:avLst/>
            </a:prstGeom>
            <a:solidFill>
              <a:schemeClr val="accent1"/>
            </a:solidFill>
            <a:ln w="12700">
              <a:solidFill>
                <a:schemeClr val="accent1"/>
              </a:solidFill>
              <a:round/>
            </a:ln>
          </p:spPr>
          <p:txBody>
            <a:bodyPr wrap="none" anchor="ctr"/>
            <a:lstStyle/>
            <a:p>
              <a:endParaRPr lang="en-US"/>
            </a:p>
          </p:txBody>
        </p:sp>
        <p:sp>
          <p:nvSpPr>
            <p:cNvPr id="14" name="Line 31"/>
            <p:cNvSpPr>
              <a:spLocks noChangeShapeType="1"/>
            </p:cNvSpPr>
            <p:nvPr/>
          </p:nvSpPr>
          <p:spPr bwMode="auto">
            <a:xfrm>
              <a:off x="4743064" y="4082457"/>
              <a:ext cx="0" cy="74499"/>
            </a:xfrm>
            <a:prstGeom prst="line">
              <a:avLst/>
            </a:prstGeom>
            <a:noFill/>
            <a:ln w="12700">
              <a:solidFill>
                <a:schemeClr val="accent1"/>
              </a:solidFill>
              <a:round/>
            </a:ln>
          </p:spPr>
          <p:txBody>
            <a:bodyPr wrap="none" anchor="ctr"/>
            <a:lstStyle/>
            <a:p>
              <a:endParaRPr lang="en-US"/>
            </a:p>
          </p:txBody>
        </p:sp>
        <p:sp>
          <p:nvSpPr>
            <p:cNvPr id="15" name="Line 32"/>
            <p:cNvSpPr>
              <a:spLocks noChangeShapeType="1"/>
            </p:cNvSpPr>
            <p:nvPr/>
          </p:nvSpPr>
          <p:spPr bwMode="auto">
            <a:xfrm>
              <a:off x="5199651" y="4082457"/>
              <a:ext cx="0" cy="74499"/>
            </a:xfrm>
            <a:prstGeom prst="line">
              <a:avLst/>
            </a:prstGeom>
            <a:noFill/>
            <a:ln w="12700">
              <a:solidFill>
                <a:schemeClr val="accent1"/>
              </a:solidFill>
              <a:round/>
            </a:ln>
          </p:spPr>
          <p:txBody>
            <a:bodyPr wrap="none" anchor="ctr"/>
            <a:lstStyle/>
            <a:p>
              <a:endParaRPr lang="en-US"/>
            </a:p>
          </p:txBody>
        </p:sp>
        <p:sp>
          <p:nvSpPr>
            <p:cNvPr id="16" name="Rectangle 33"/>
            <p:cNvSpPr>
              <a:spLocks noChangeArrowheads="1"/>
            </p:cNvSpPr>
            <p:nvPr/>
          </p:nvSpPr>
          <p:spPr bwMode="auto">
            <a:xfrm>
              <a:off x="4743064" y="4082457"/>
              <a:ext cx="449339" cy="73009"/>
            </a:xfrm>
            <a:prstGeom prst="rect">
              <a:avLst/>
            </a:prstGeom>
            <a:solidFill>
              <a:schemeClr val="accent1"/>
            </a:solidFill>
            <a:ln>
              <a:solidFill>
                <a:schemeClr val="accent1"/>
              </a:solidFill>
            </a:ln>
          </p:spPr>
          <p:txBody>
            <a:bodyPr wrap="none" anchor="ctr"/>
            <a:lstStyle/>
            <a:p>
              <a:pPr algn="ctr"/>
              <a:endParaRPr lang="en-US" sz="2400"/>
            </a:p>
          </p:txBody>
        </p:sp>
        <p:sp>
          <p:nvSpPr>
            <p:cNvPr id="17" name="Oval 34"/>
            <p:cNvSpPr>
              <a:spLocks noChangeArrowheads="1"/>
            </p:cNvSpPr>
            <p:nvPr/>
          </p:nvSpPr>
          <p:spPr bwMode="auto">
            <a:xfrm>
              <a:off x="4738716" y="3970709"/>
              <a:ext cx="453688" cy="144527"/>
            </a:xfrm>
            <a:prstGeom prst="ellipse">
              <a:avLst/>
            </a:prstGeom>
            <a:solidFill>
              <a:schemeClr val="accent1"/>
            </a:solidFill>
            <a:ln w="12700">
              <a:solidFill>
                <a:schemeClr val="accent1"/>
              </a:solidFill>
              <a:round/>
            </a:ln>
          </p:spPr>
          <p:txBody>
            <a:bodyPr wrap="none" anchor="ctr"/>
            <a:lstStyle/>
            <a:p>
              <a:endParaRPr lang="en-US"/>
            </a:p>
          </p:txBody>
        </p:sp>
        <p:sp>
          <p:nvSpPr>
            <p:cNvPr id="18" name="Rectangle 35"/>
            <p:cNvSpPr>
              <a:spLocks noChangeArrowheads="1"/>
            </p:cNvSpPr>
            <p:nvPr/>
          </p:nvSpPr>
          <p:spPr bwMode="auto">
            <a:xfrm>
              <a:off x="4845978" y="4039248"/>
              <a:ext cx="204377" cy="153467"/>
            </a:xfrm>
            <a:prstGeom prst="rect">
              <a:avLst/>
            </a:prstGeom>
            <a:solidFill>
              <a:schemeClr val="accent1"/>
            </a:solidFill>
            <a:ln>
              <a:solidFill>
                <a:schemeClr val="accent1"/>
              </a:solidFill>
            </a:ln>
          </p:spPr>
          <p:txBody>
            <a:bodyPr wrap="none" anchor="ctr"/>
            <a:lstStyle/>
            <a:p>
              <a:endParaRPr lang="en-US"/>
            </a:p>
          </p:txBody>
        </p:sp>
        <p:sp>
          <p:nvSpPr>
            <p:cNvPr id="19" name="Text Box 36"/>
            <p:cNvSpPr txBox="1">
              <a:spLocks noChangeArrowheads="1"/>
            </p:cNvSpPr>
            <p:nvPr/>
          </p:nvSpPr>
          <p:spPr bwMode="auto">
            <a:xfrm>
              <a:off x="4813199" y="3867215"/>
              <a:ext cx="301490" cy="400110"/>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dirty="0"/>
                <a:t>u</a:t>
              </a:r>
              <a:endParaRPr lang="en-US" dirty="0"/>
            </a:p>
          </p:txBody>
        </p:sp>
        <p:sp>
          <p:nvSpPr>
            <p:cNvPr id="20" name="Line 37"/>
            <p:cNvSpPr>
              <a:spLocks noChangeShapeType="1"/>
            </p:cNvSpPr>
            <p:nvPr/>
          </p:nvSpPr>
          <p:spPr bwMode="auto">
            <a:xfrm>
              <a:off x="5206898" y="4094377"/>
              <a:ext cx="916071" cy="0"/>
            </a:xfrm>
            <a:prstGeom prst="line">
              <a:avLst/>
            </a:prstGeom>
            <a:noFill/>
            <a:ln w="9525">
              <a:solidFill>
                <a:schemeClr val="tx1"/>
              </a:solidFill>
              <a:round/>
            </a:ln>
          </p:spPr>
          <p:txBody>
            <a:bodyPr/>
            <a:lstStyle/>
            <a:p>
              <a:endParaRPr lang="en-US"/>
            </a:p>
          </p:txBody>
        </p:sp>
        <p:sp>
          <p:nvSpPr>
            <p:cNvPr id="21" name="Line 38"/>
            <p:cNvSpPr>
              <a:spLocks noChangeShapeType="1"/>
            </p:cNvSpPr>
            <p:nvPr/>
          </p:nvSpPr>
          <p:spPr bwMode="auto">
            <a:xfrm>
              <a:off x="6224433" y="2494147"/>
              <a:ext cx="0" cy="1433353"/>
            </a:xfrm>
            <a:prstGeom prst="line">
              <a:avLst/>
            </a:prstGeom>
            <a:noFill/>
            <a:ln w="9525">
              <a:solidFill>
                <a:schemeClr val="tx1"/>
              </a:solidFill>
              <a:round/>
            </a:ln>
          </p:spPr>
          <p:txBody>
            <a:bodyPr/>
            <a:lstStyle/>
            <a:p>
              <a:endParaRPr lang="en-US"/>
            </a:p>
          </p:txBody>
        </p:sp>
        <p:sp>
          <p:nvSpPr>
            <p:cNvPr id="22" name="Line 39"/>
            <p:cNvSpPr>
              <a:spLocks noChangeShapeType="1"/>
            </p:cNvSpPr>
            <p:nvPr/>
          </p:nvSpPr>
          <p:spPr bwMode="auto">
            <a:xfrm flipH="1">
              <a:off x="5027163" y="2403258"/>
              <a:ext cx="976950" cy="1609170"/>
            </a:xfrm>
            <a:prstGeom prst="line">
              <a:avLst/>
            </a:prstGeom>
            <a:noFill/>
            <a:ln w="9525">
              <a:solidFill>
                <a:schemeClr val="tx1"/>
              </a:solidFill>
              <a:round/>
            </a:ln>
          </p:spPr>
          <p:txBody>
            <a:bodyPr/>
            <a:lstStyle/>
            <a:p>
              <a:endParaRPr lang="en-US"/>
            </a:p>
          </p:txBody>
        </p:sp>
        <p:sp>
          <p:nvSpPr>
            <p:cNvPr id="23" name="Text Box 40"/>
            <p:cNvSpPr txBox="1">
              <a:spLocks noChangeArrowheads="1"/>
            </p:cNvSpPr>
            <p:nvPr/>
          </p:nvSpPr>
          <p:spPr bwMode="auto">
            <a:xfrm>
              <a:off x="5256180" y="2920279"/>
              <a:ext cx="311638" cy="36504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sp>
          <p:nvSpPr>
            <p:cNvPr id="24" name="Line 41"/>
            <p:cNvSpPr>
              <a:spLocks noChangeShapeType="1"/>
            </p:cNvSpPr>
            <p:nvPr/>
          </p:nvSpPr>
          <p:spPr bwMode="auto">
            <a:xfrm>
              <a:off x="6234579" y="4168875"/>
              <a:ext cx="13045" cy="1057880"/>
            </a:xfrm>
            <a:prstGeom prst="line">
              <a:avLst/>
            </a:prstGeom>
            <a:noFill/>
            <a:ln w="9525">
              <a:solidFill>
                <a:schemeClr val="tx1"/>
              </a:solidFill>
              <a:round/>
            </a:ln>
          </p:spPr>
          <p:txBody>
            <a:bodyPr/>
            <a:lstStyle/>
            <a:p>
              <a:endParaRPr lang="en-US"/>
            </a:p>
          </p:txBody>
        </p:sp>
        <p:sp>
          <p:nvSpPr>
            <p:cNvPr id="25" name="Text Box 42"/>
            <p:cNvSpPr txBox="1">
              <a:spLocks noChangeArrowheads="1"/>
            </p:cNvSpPr>
            <p:nvPr/>
          </p:nvSpPr>
          <p:spPr bwMode="auto">
            <a:xfrm>
              <a:off x="6244726" y="4468360"/>
              <a:ext cx="31163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26" name="Freeform 43"/>
            <p:cNvSpPr/>
            <p:nvPr/>
          </p:nvSpPr>
          <p:spPr bwMode="auto">
            <a:xfrm>
              <a:off x="5008319" y="4200165"/>
              <a:ext cx="1246553" cy="1190488"/>
            </a:xfrm>
            <a:custGeom>
              <a:avLst/>
              <a:gdLst>
                <a:gd name="T0" fmla="*/ 0 w 857"/>
                <a:gd name="T1" fmla="*/ 0 h 1152"/>
                <a:gd name="T2" fmla="*/ 562 w 857"/>
                <a:gd name="T3" fmla="*/ 1152 h 1152"/>
                <a:gd name="T4" fmla="*/ 857 w 857"/>
                <a:gd name="T5" fmla="*/ 772 h 1152"/>
                <a:gd name="T6" fmla="*/ 0 60000 65536"/>
                <a:gd name="T7" fmla="*/ 0 60000 65536"/>
                <a:gd name="T8" fmla="*/ 0 60000 65536"/>
                <a:gd name="T9" fmla="*/ 0 w 857"/>
                <a:gd name="T10" fmla="*/ 0 h 1152"/>
                <a:gd name="T11" fmla="*/ 857 w 857"/>
                <a:gd name="T12" fmla="*/ 1152 h 1152"/>
                <a:gd name="connsiteX0" fmla="*/ 0 w 10000"/>
                <a:gd name="connsiteY0" fmla="*/ 0 h 6928"/>
                <a:gd name="connsiteX1" fmla="*/ 3770 w 10000"/>
                <a:gd name="connsiteY1" fmla="*/ 6300 h 6928"/>
                <a:gd name="connsiteX2" fmla="*/ 10000 w 10000"/>
                <a:gd name="connsiteY2" fmla="*/ 6701 h 6928"/>
                <a:gd name="connsiteX0-1" fmla="*/ 0 w 10000"/>
                <a:gd name="connsiteY0-2" fmla="*/ 0 h 9871"/>
                <a:gd name="connsiteX1-3" fmla="*/ 1802 w 10000"/>
                <a:gd name="connsiteY1-4" fmla="*/ 7634 h 9871"/>
                <a:gd name="connsiteX2-5" fmla="*/ 10000 w 10000"/>
                <a:gd name="connsiteY2-6" fmla="*/ 9672 h 9871"/>
                <a:gd name="connsiteX0-7" fmla="*/ 0 w 10000"/>
                <a:gd name="connsiteY0-8" fmla="*/ 0 h 10136"/>
                <a:gd name="connsiteX1-9" fmla="*/ 1802 w 10000"/>
                <a:gd name="connsiteY1-10" fmla="*/ 7734 h 10136"/>
                <a:gd name="connsiteX2-11" fmla="*/ 10000 w 10000"/>
                <a:gd name="connsiteY2-12" fmla="*/ 9798 h 10136"/>
                <a:gd name="connsiteX0-13" fmla="*/ 0 w 10000"/>
                <a:gd name="connsiteY0-14" fmla="*/ 0 h 10136"/>
                <a:gd name="connsiteX1-15" fmla="*/ 1802 w 10000"/>
                <a:gd name="connsiteY1-16" fmla="*/ 7734 h 10136"/>
                <a:gd name="connsiteX2-17" fmla="*/ 10000 w 10000"/>
                <a:gd name="connsiteY2-18" fmla="*/ 9798 h 10136"/>
                <a:gd name="connsiteX0-19" fmla="*/ 32 w 10032"/>
                <a:gd name="connsiteY0-20" fmla="*/ 0 h 10136"/>
                <a:gd name="connsiteX1-21" fmla="*/ 1834 w 10032"/>
                <a:gd name="connsiteY1-22" fmla="*/ 7734 h 10136"/>
                <a:gd name="connsiteX2-23" fmla="*/ 10032 w 10032"/>
                <a:gd name="connsiteY2-24" fmla="*/ 9798 h 10136"/>
              </a:gdLst>
              <a:ahLst/>
              <a:cxnLst>
                <a:cxn ang="0">
                  <a:pos x="connsiteX0-1" y="connsiteY0-2"/>
                </a:cxn>
                <a:cxn ang="0">
                  <a:pos x="connsiteX1-3" y="connsiteY1-4"/>
                </a:cxn>
                <a:cxn ang="0">
                  <a:pos x="connsiteX2-5" y="connsiteY2-6"/>
                </a:cxn>
              </a:cxnLst>
              <a:rect l="l" t="t" r="r" b="b"/>
              <a:pathLst>
                <a:path w="10032" h="10136">
                  <a:moveTo>
                    <a:pt x="32" y="0"/>
                  </a:moveTo>
                  <a:cubicBezTo>
                    <a:pt x="62" y="4573"/>
                    <a:pt x="-465" y="5047"/>
                    <a:pt x="1834" y="7734"/>
                  </a:cubicBezTo>
                  <a:cubicBezTo>
                    <a:pt x="4132" y="9414"/>
                    <a:pt x="9320" y="10802"/>
                    <a:pt x="10032" y="9798"/>
                  </a:cubicBezTo>
                </a:path>
              </a:pathLst>
            </a:custGeom>
            <a:noFill/>
            <a:ln w="9525">
              <a:solidFill>
                <a:schemeClr val="tx1"/>
              </a:solidFill>
              <a:round/>
            </a:ln>
          </p:spPr>
          <p:txBody>
            <a:bodyPr/>
            <a:lstStyle/>
            <a:p>
              <a:endParaRPr lang="en-US"/>
            </a:p>
          </p:txBody>
        </p:sp>
        <p:sp>
          <p:nvSpPr>
            <p:cNvPr id="27" name="Text Box 44"/>
            <p:cNvSpPr txBox="1">
              <a:spLocks noChangeArrowheads="1"/>
            </p:cNvSpPr>
            <p:nvPr/>
          </p:nvSpPr>
          <p:spPr bwMode="auto">
            <a:xfrm>
              <a:off x="5250382" y="4729105"/>
              <a:ext cx="31308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7</a:t>
              </a:r>
              <a:endParaRPr lang="en-US"/>
            </a:p>
          </p:txBody>
        </p:sp>
        <p:sp>
          <p:nvSpPr>
            <p:cNvPr id="28" name="Line 45"/>
            <p:cNvSpPr>
              <a:spLocks noChangeShapeType="1"/>
            </p:cNvSpPr>
            <p:nvPr/>
          </p:nvSpPr>
          <p:spPr bwMode="auto">
            <a:xfrm flipH="1">
              <a:off x="6238928" y="4097357"/>
              <a:ext cx="1446581" cy="1226247"/>
            </a:xfrm>
            <a:prstGeom prst="line">
              <a:avLst/>
            </a:prstGeom>
            <a:noFill/>
            <a:ln w="9525">
              <a:solidFill>
                <a:schemeClr val="tx1"/>
              </a:solidFill>
              <a:round/>
            </a:ln>
          </p:spPr>
          <p:txBody>
            <a:bodyPr/>
            <a:lstStyle/>
            <a:p>
              <a:endParaRPr lang="en-US"/>
            </a:p>
          </p:txBody>
        </p:sp>
        <p:sp>
          <p:nvSpPr>
            <p:cNvPr id="29" name="Text Box 46"/>
            <p:cNvSpPr txBox="1">
              <a:spLocks noChangeArrowheads="1"/>
            </p:cNvSpPr>
            <p:nvPr/>
          </p:nvSpPr>
          <p:spPr bwMode="auto">
            <a:xfrm>
              <a:off x="6885396" y="4709735"/>
              <a:ext cx="31308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4</a:t>
              </a:r>
              <a:endParaRPr lang="en-US"/>
            </a:p>
          </p:txBody>
        </p:sp>
        <p:sp>
          <p:nvSpPr>
            <p:cNvPr id="30" name="Freeform 47"/>
            <p:cNvSpPr/>
            <p:nvPr/>
          </p:nvSpPr>
          <p:spPr bwMode="auto">
            <a:xfrm>
              <a:off x="6278064" y="3781483"/>
              <a:ext cx="1436435" cy="721146"/>
            </a:xfrm>
            <a:custGeom>
              <a:avLst/>
              <a:gdLst>
                <a:gd name="T0" fmla="*/ 0 w 991"/>
                <a:gd name="T1" fmla="*/ 168 h 484"/>
                <a:gd name="T2" fmla="*/ 204 w 991"/>
                <a:gd name="T3" fmla="*/ 484 h 484"/>
                <a:gd name="T4" fmla="*/ 302 w 991"/>
                <a:gd name="T5" fmla="*/ 7 h 484"/>
                <a:gd name="T6" fmla="*/ 379 w 991"/>
                <a:gd name="T7" fmla="*/ 442 h 484"/>
                <a:gd name="T8" fmla="*/ 534 w 991"/>
                <a:gd name="T9" fmla="*/ 21 h 484"/>
                <a:gd name="T10" fmla="*/ 611 w 991"/>
                <a:gd name="T11" fmla="*/ 351 h 484"/>
                <a:gd name="T12" fmla="*/ 660 w 991"/>
                <a:gd name="T13" fmla="*/ 77 h 484"/>
                <a:gd name="T14" fmla="*/ 991 w 991"/>
                <a:gd name="T15" fmla="*/ 218 h 484"/>
                <a:gd name="T16" fmla="*/ 0 60000 65536"/>
                <a:gd name="T17" fmla="*/ 0 60000 65536"/>
                <a:gd name="T18" fmla="*/ 0 60000 65536"/>
                <a:gd name="T19" fmla="*/ 0 60000 65536"/>
                <a:gd name="T20" fmla="*/ 0 60000 65536"/>
                <a:gd name="T21" fmla="*/ 0 60000 65536"/>
                <a:gd name="T22" fmla="*/ 0 60000 65536"/>
                <a:gd name="T23" fmla="*/ 0 60000 65536"/>
                <a:gd name="T24" fmla="*/ 0 w 991"/>
                <a:gd name="T25" fmla="*/ 0 h 484"/>
                <a:gd name="T26" fmla="*/ 991 w 991"/>
                <a:gd name="T27" fmla="*/ 484 h 4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1" h="484">
                  <a:moveTo>
                    <a:pt x="0" y="168"/>
                  </a:moveTo>
                  <a:cubicBezTo>
                    <a:pt x="0" y="168"/>
                    <a:pt x="145" y="484"/>
                    <a:pt x="204" y="484"/>
                  </a:cubicBezTo>
                  <a:cubicBezTo>
                    <a:pt x="263" y="484"/>
                    <a:pt x="253" y="6"/>
                    <a:pt x="302" y="7"/>
                  </a:cubicBezTo>
                  <a:cubicBezTo>
                    <a:pt x="331" y="0"/>
                    <a:pt x="313" y="444"/>
                    <a:pt x="379" y="442"/>
                  </a:cubicBezTo>
                  <a:cubicBezTo>
                    <a:pt x="418" y="444"/>
                    <a:pt x="475" y="24"/>
                    <a:pt x="534" y="21"/>
                  </a:cubicBezTo>
                  <a:cubicBezTo>
                    <a:pt x="573" y="6"/>
                    <a:pt x="575" y="360"/>
                    <a:pt x="611" y="351"/>
                  </a:cubicBezTo>
                  <a:cubicBezTo>
                    <a:pt x="647" y="342"/>
                    <a:pt x="577" y="80"/>
                    <a:pt x="660" y="77"/>
                  </a:cubicBezTo>
                  <a:cubicBezTo>
                    <a:pt x="743" y="74"/>
                    <a:pt x="922" y="189"/>
                    <a:pt x="991" y="218"/>
                  </a:cubicBezTo>
                </a:path>
              </a:pathLst>
            </a:custGeom>
            <a:noFill/>
            <a:ln w="9525">
              <a:solidFill>
                <a:schemeClr val="tx1"/>
              </a:solidFill>
              <a:round/>
            </a:ln>
          </p:spPr>
          <p:txBody>
            <a:bodyPr/>
            <a:lstStyle/>
            <a:p>
              <a:endParaRPr lang="en-US"/>
            </a:p>
          </p:txBody>
        </p:sp>
        <p:grpSp>
          <p:nvGrpSpPr>
            <p:cNvPr id="31" name="Group 48"/>
            <p:cNvGrpSpPr/>
            <p:nvPr/>
          </p:nvGrpSpPr>
          <p:grpSpPr bwMode="auto">
            <a:xfrm>
              <a:off x="7517369" y="3893230"/>
              <a:ext cx="458036" cy="396333"/>
              <a:chOff x="1613" y="2011"/>
              <a:chExt cx="316" cy="266"/>
            </a:xfrm>
          </p:grpSpPr>
          <p:sp>
            <p:nvSpPr>
              <p:cNvPr id="48" name="Oval 49"/>
              <p:cNvSpPr>
                <a:spLocks noChangeArrowheads="1"/>
              </p:cNvSpPr>
              <p:nvPr/>
            </p:nvSpPr>
            <p:spPr bwMode="auto">
              <a:xfrm>
                <a:off x="1616" y="2136"/>
                <a:ext cx="313" cy="82"/>
              </a:xfrm>
              <a:prstGeom prst="ellipse">
                <a:avLst/>
              </a:prstGeom>
              <a:solidFill>
                <a:schemeClr val="hlink"/>
              </a:solidFill>
              <a:ln w="12700">
                <a:solidFill>
                  <a:schemeClr val="tx1"/>
                </a:solidFill>
                <a:round/>
              </a:ln>
            </p:spPr>
            <p:txBody>
              <a:bodyPr wrap="none" anchor="ctr"/>
              <a:lstStyle/>
              <a:p>
                <a:endParaRPr lang="en-US"/>
              </a:p>
            </p:txBody>
          </p:sp>
          <p:sp>
            <p:nvSpPr>
              <p:cNvPr id="49" name="Line 50"/>
              <p:cNvSpPr>
                <a:spLocks noChangeShapeType="1"/>
              </p:cNvSpPr>
              <p:nvPr/>
            </p:nvSpPr>
            <p:spPr bwMode="auto">
              <a:xfrm>
                <a:off x="1616" y="2131"/>
                <a:ext cx="0" cy="50"/>
              </a:xfrm>
              <a:prstGeom prst="line">
                <a:avLst/>
              </a:prstGeom>
              <a:noFill/>
              <a:ln w="12700">
                <a:solidFill>
                  <a:schemeClr val="tx1"/>
                </a:solidFill>
                <a:round/>
              </a:ln>
            </p:spPr>
            <p:txBody>
              <a:bodyPr wrap="none" anchor="ctr"/>
              <a:lstStyle/>
              <a:p>
                <a:endParaRPr lang="en-US"/>
              </a:p>
            </p:txBody>
          </p:sp>
          <p:sp>
            <p:nvSpPr>
              <p:cNvPr id="50" name="Line 51"/>
              <p:cNvSpPr>
                <a:spLocks noChangeShapeType="1"/>
              </p:cNvSpPr>
              <p:nvPr/>
            </p:nvSpPr>
            <p:spPr bwMode="auto">
              <a:xfrm>
                <a:off x="1929" y="2131"/>
                <a:ext cx="0" cy="50"/>
              </a:xfrm>
              <a:prstGeom prst="line">
                <a:avLst/>
              </a:prstGeom>
              <a:noFill/>
              <a:ln w="12700">
                <a:solidFill>
                  <a:schemeClr val="tx1"/>
                </a:solidFill>
                <a:round/>
              </a:ln>
            </p:spPr>
            <p:txBody>
              <a:bodyPr wrap="none" anchor="ctr"/>
              <a:lstStyle/>
              <a:p>
                <a:endParaRPr lang="en-US"/>
              </a:p>
            </p:txBody>
          </p:sp>
          <p:sp>
            <p:nvSpPr>
              <p:cNvPr id="51" name="Rectangle 52"/>
              <p:cNvSpPr>
                <a:spLocks noChangeArrowheads="1"/>
              </p:cNvSpPr>
              <p:nvPr/>
            </p:nvSpPr>
            <p:spPr bwMode="auto">
              <a:xfrm>
                <a:off x="1616" y="2131"/>
                <a:ext cx="310" cy="49"/>
              </a:xfrm>
              <a:prstGeom prst="rect">
                <a:avLst/>
              </a:prstGeom>
              <a:solidFill>
                <a:schemeClr val="hlink"/>
              </a:solidFill>
              <a:ln>
                <a:noFill/>
              </a:ln>
            </p:spPr>
            <p:txBody>
              <a:bodyPr wrap="none" anchor="ctr"/>
              <a:lstStyle/>
              <a:p>
                <a:pPr algn="ctr"/>
                <a:endParaRPr lang="en-US" sz="2400"/>
              </a:p>
            </p:txBody>
          </p:sp>
          <p:sp>
            <p:nvSpPr>
              <p:cNvPr id="52" name="Oval 53"/>
              <p:cNvSpPr>
                <a:spLocks noChangeArrowheads="1"/>
              </p:cNvSpPr>
              <p:nvPr/>
            </p:nvSpPr>
            <p:spPr bwMode="auto">
              <a:xfrm>
                <a:off x="1613" y="2070"/>
                <a:ext cx="313" cy="97"/>
              </a:xfrm>
              <a:prstGeom prst="ellipse">
                <a:avLst/>
              </a:prstGeom>
              <a:solidFill>
                <a:schemeClr val="hlink"/>
              </a:solidFill>
              <a:ln w="12700">
                <a:solidFill>
                  <a:schemeClr val="tx1"/>
                </a:solidFill>
                <a:round/>
              </a:ln>
            </p:spPr>
            <p:txBody>
              <a:bodyPr wrap="none" anchor="ctr"/>
              <a:lstStyle/>
              <a:p>
                <a:endParaRPr lang="en-US"/>
              </a:p>
            </p:txBody>
          </p:sp>
          <p:sp>
            <p:nvSpPr>
              <p:cNvPr id="53" name="Rectangle 54"/>
              <p:cNvSpPr>
                <a:spLocks noChangeArrowheads="1"/>
              </p:cNvSpPr>
              <p:nvPr/>
            </p:nvSpPr>
            <p:spPr bwMode="auto">
              <a:xfrm>
                <a:off x="1687" y="2100"/>
                <a:ext cx="141" cy="103"/>
              </a:xfrm>
              <a:prstGeom prst="rect">
                <a:avLst/>
              </a:prstGeom>
              <a:solidFill>
                <a:schemeClr val="hlink"/>
              </a:solidFill>
              <a:ln>
                <a:noFill/>
              </a:ln>
            </p:spPr>
            <p:txBody>
              <a:bodyPr wrap="none" anchor="ctr"/>
              <a:lstStyle/>
              <a:p>
                <a:endParaRPr lang="en-US"/>
              </a:p>
            </p:txBody>
          </p:sp>
          <p:sp>
            <p:nvSpPr>
              <p:cNvPr id="54" name="Text Box 55"/>
              <p:cNvSpPr txBox="1">
                <a:spLocks noChangeArrowheads="1"/>
              </p:cNvSpPr>
              <p:nvPr/>
            </p:nvSpPr>
            <p:spPr bwMode="auto">
              <a:xfrm>
                <a:off x="1652" y="2011"/>
                <a:ext cx="215" cy="266"/>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dirty="0"/>
                  <a:t>y</a:t>
                </a:r>
                <a:endParaRPr lang="en-US" dirty="0"/>
              </a:p>
            </p:txBody>
          </p:sp>
        </p:grpSp>
        <p:sp>
          <p:nvSpPr>
            <p:cNvPr id="32" name="Text Box 56"/>
            <p:cNvSpPr txBox="1">
              <a:spLocks noChangeArrowheads="1"/>
            </p:cNvSpPr>
            <p:nvPr/>
          </p:nvSpPr>
          <p:spPr bwMode="auto">
            <a:xfrm>
              <a:off x="6766539" y="3446239"/>
              <a:ext cx="31308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8</a:t>
              </a:r>
              <a:endParaRPr lang="en-US"/>
            </a:p>
          </p:txBody>
        </p:sp>
        <p:grpSp>
          <p:nvGrpSpPr>
            <p:cNvPr id="33" name="Group 57"/>
            <p:cNvGrpSpPr/>
            <p:nvPr/>
          </p:nvGrpSpPr>
          <p:grpSpPr bwMode="auto">
            <a:xfrm>
              <a:off x="8498667" y="3864921"/>
              <a:ext cx="458036" cy="396333"/>
              <a:chOff x="1613" y="2011"/>
              <a:chExt cx="316" cy="266"/>
            </a:xfrm>
          </p:grpSpPr>
          <p:sp>
            <p:nvSpPr>
              <p:cNvPr id="41" name="Oval 58"/>
              <p:cNvSpPr>
                <a:spLocks noChangeArrowheads="1"/>
              </p:cNvSpPr>
              <p:nvPr/>
            </p:nvSpPr>
            <p:spPr bwMode="auto">
              <a:xfrm>
                <a:off x="1616" y="2138"/>
                <a:ext cx="313" cy="81"/>
              </a:xfrm>
              <a:prstGeom prst="ellipse">
                <a:avLst/>
              </a:prstGeom>
              <a:solidFill>
                <a:schemeClr val="hlink"/>
              </a:solidFill>
              <a:ln w="12700">
                <a:solidFill>
                  <a:schemeClr val="tx1"/>
                </a:solidFill>
                <a:round/>
              </a:ln>
            </p:spPr>
            <p:txBody>
              <a:bodyPr wrap="none" anchor="ctr"/>
              <a:lstStyle/>
              <a:p>
                <a:endParaRPr lang="en-US"/>
              </a:p>
            </p:txBody>
          </p:sp>
          <p:sp>
            <p:nvSpPr>
              <p:cNvPr id="42" name="Line 59"/>
              <p:cNvSpPr>
                <a:spLocks noChangeShapeType="1"/>
              </p:cNvSpPr>
              <p:nvPr/>
            </p:nvSpPr>
            <p:spPr bwMode="auto">
              <a:xfrm>
                <a:off x="1616" y="2131"/>
                <a:ext cx="0" cy="50"/>
              </a:xfrm>
              <a:prstGeom prst="line">
                <a:avLst/>
              </a:prstGeom>
              <a:noFill/>
              <a:ln w="12700">
                <a:solidFill>
                  <a:schemeClr val="tx1"/>
                </a:solidFill>
                <a:round/>
              </a:ln>
            </p:spPr>
            <p:txBody>
              <a:bodyPr wrap="none" anchor="ctr"/>
              <a:lstStyle/>
              <a:p>
                <a:endParaRPr lang="en-US"/>
              </a:p>
            </p:txBody>
          </p:sp>
          <p:sp>
            <p:nvSpPr>
              <p:cNvPr id="43" name="Line 60"/>
              <p:cNvSpPr>
                <a:spLocks noChangeShapeType="1"/>
              </p:cNvSpPr>
              <p:nvPr/>
            </p:nvSpPr>
            <p:spPr bwMode="auto">
              <a:xfrm>
                <a:off x="1929" y="2131"/>
                <a:ext cx="0" cy="50"/>
              </a:xfrm>
              <a:prstGeom prst="line">
                <a:avLst/>
              </a:prstGeom>
              <a:noFill/>
              <a:ln w="12700">
                <a:solidFill>
                  <a:schemeClr val="tx1"/>
                </a:solidFill>
                <a:round/>
              </a:ln>
            </p:spPr>
            <p:txBody>
              <a:bodyPr wrap="none" anchor="ctr"/>
              <a:lstStyle/>
              <a:p>
                <a:endParaRPr lang="en-US"/>
              </a:p>
            </p:txBody>
          </p:sp>
          <p:sp>
            <p:nvSpPr>
              <p:cNvPr id="44" name="Rectangle 61"/>
              <p:cNvSpPr>
                <a:spLocks noChangeArrowheads="1"/>
              </p:cNvSpPr>
              <p:nvPr/>
            </p:nvSpPr>
            <p:spPr bwMode="auto">
              <a:xfrm>
                <a:off x="1616" y="2131"/>
                <a:ext cx="310" cy="49"/>
              </a:xfrm>
              <a:prstGeom prst="rect">
                <a:avLst/>
              </a:prstGeom>
              <a:solidFill>
                <a:schemeClr val="hlink"/>
              </a:solidFill>
              <a:ln>
                <a:noFill/>
              </a:ln>
            </p:spPr>
            <p:txBody>
              <a:bodyPr wrap="none" anchor="ctr"/>
              <a:lstStyle/>
              <a:p>
                <a:pPr algn="ctr"/>
                <a:endParaRPr lang="en-US" sz="2400"/>
              </a:p>
            </p:txBody>
          </p:sp>
          <p:sp>
            <p:nvSpPr>
              <p:cNvPr id="45" name="Oval 62"/>
              <p:cNvSpPr>
                <a:spLocks noChangeArrowheads="1"/>
              </p:cNvSpPr>
              <p:nvPr/>
            </p:nvSpPr>
            <p:spPr bwMode="auto">
              <a:xfrm>
                <a:off x="1611" y="2072"/>
                <a:ext cx="313" cy="95"/>
              </a:xfrm>
              <a:prstGeom prst="ellipse">
                <a:avLst/>
              </a:prstGeom>
              <a:solidFill>
                <a:schemeClr val="hlink"/>
              </a:solidFill>
              <a:ln w="12700">
                <a:solidFill>
                  <a:schemeClr val="tx1"/>
                </a:solidFill>
                <a:round/>
              </a:ln>
            </p:spPr>
            <p:txBody>
              <a:bodyPr wrap="none" anchor="ctr"/>
              <a:lstStyle/>
              <a:p>
                <a:endParaRPr lang="en-US"/>
              </a:p>
            </p:txBody>
          </p:sp>
          <p:sp>
            <p:nvSpPr>
              <p:cNvPr id="46" name="Rectangle 63"/>
              <p:cNvSpPr>
                <a:spLocks noChangeArrowheads="1"/>
              </p:cNvSpPr>
              <p:nvPr/>
            </p:nvSpPr>
            <p:spPr bwMode="auto">
              <a:xfrm>
                <a:off x="1687" y="2100"/>
                <a:ext cx="141" cy="105"/>
              </a:xfrm>
              <a:prstGeom prst="rect">
                <a:avLst/>
              </a:prstGeom>
              <a:solidFill>
                <a:schemeClr val="hlink"/>
              </a:solidFill>
              <a:ln>
                <a:noFill/>
              </a:ln>
            </p:spPr>
            <p:txBody>
              <a:bodyPr wrap="none" anchor="ctr"/>
              <a:lstStyle/>
              <a:p>
                <a:endParaRPr lang="en-US"/>
              </a:p>
            </p:txBody>
          </p:sp>
          <p:sp>
            <p:nvSpPr>
              <p:cNvPr id="47" name="Text Box 64"/>
              <p:cNvSpPr txBox="1">
                <a:spLocks noChangeArrowheads="1"/>
              </p:cNvSpPr>
              <p:nvPr/>
            </p:nvSpPr>
            <p:spPr bwMode="auto">
              <a:xfrm>
                <a:off x="1653" y="2011"/>
                <a:ext cx="215" cy="264"/>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z</a:t>
                </a:r>
                <a:endParaRPr lang="en-US"/>
              </a:p>
            </p:txBody>
          </p:sp>
        </p:grpSp>
        <p:sp>
          <p:nvSpPr>
            <p:cNvPr id="34" name="Line 65"/>
            <p:cNvSpPr>
              <a:spLocks noChangeShapeType="1"/>
            </p:cNvSpPr>
            <p:nvPr/>
          </p:nvSpPr>
          <p:spPr bwMode="auto">
            <a:xfrm>
              <a:off x="7963809" y="4083947"/>
              <a:ext cx="510217" cy="0"/>
            </a:xfrm>
            <a:prstGeom prst="line">
              <a:avLst/>
            </a:prstGeom>
            <a:noFill/>
            <a:ln w="9525">
              <a:solidFill>
                <a:schemeClr val="tx1"/>
              </a:solidFill>
              <a:round/>
            </a:ln>
          </p:spPr>
          <p:txBody>
            <a:bodyPr/>
            <a:lstStyle/>
            <a:p>
              <a:endParaRPr lang="en-US"/>
            </a:p>
          </p:txBody>
        </p:sp>
        <p:sp>
          <p:nvSpPr>
            <p:cNvPr id="35" name="Text Box 66"/>
            <p:cNvSpPr txBox="1">
              <a:spLocks noChangeArrowheads="1"/>
            </p:cNvSpPr>
            <p:nvPr/>
          </p:nvSpPr>
          <p:spPr bwMode="auto">
            <a:xfrm>
              <a:off x="8059475" y="4083947"/>
              <a:ext cx="311638" cy="36504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36" name="Line 67"/>
            <p:cNvSpPr>
              <a:spLocks noChangeShapeType="1"/>
            </p:cNvSpPr>
            <p:nvPr/>
          </p:nvSpPr>
          <p:spPr bwMode="auto">
            <a:xfrm>
              <a:off x="6315750" y="2357069"/>
              <a:ext cx="1398748" cy="1695588"/>
            </a:xfrm>
            <a:prstGeom prst="line">
              <a:avLst/>
            </a:prstGeom>
            <a:noFill/>
            <a:ln w="9525">
              <a:solidFill>
                <a:schemeClr val="tx1"/>
              </a:solidFill>
              <a:round/>
            </a:ln>
          </p:spPr>
          <p:txBody>
            <a:bodyPr/>
            <a:lstStyle/>
            <a:p>
              <a:endParaRPr lang="en-US"/>
            </a:p>
          </p:txBody>
        </p:sp>
        <p:sp>
          <p:nvSpPr>
            <p:cNvPr id="37" name="Text Box 68"/>
            <p:cNvSpPr txBox="1">
              <a:spLocks noChangeArrowheads="1"/>
            </p:cNvSpPr>
            <p:nvPr/>
          </p:nvSpPr>
          <p:spPr bwMode="auto">
            <a:xfrm>
              <a:off x="6918734" y="2883029"/>
              <a:ext cx="31308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7</a:t>
              </a:r>
              <a:endParaRPr lang="en-US"/>
            </a:p>
          </p:txBody>
        </p:sp>
        <p:sp>
          <p:nvSpPr>
            <p:cNvPr id="38" name="Freeform 69"/>
            <p:cNvSpPr/>
            <p:nvPr/>
          </p:nvSpPr>
          <p:spPr bwMode="auto">
            <a:xfrm>
              <a:off x="6295458" y="2336210"/>
              <a:ext cx="40585" cy="20860"/>
            </a:xfrm>
            <a:custGeom>
              <a:avLst/>
              <a:gdLst>
                <a:gd name="T0" fmla="*/ 0 w 28"/>
                <a:gd name="T1" fmla="*/ 14 h 14"/>
                <a:gd name="T2" fmla="*/ 28 w 28"/>
                <a:gd name="T3" fmla="*/ 0 h 14"/>
                <a:gd name="T4" fmla="*/ 0 w 28"/>
                <a:gd name="T5" fmla="*/ 14 h 14"/>
                <a:gd name="T6" fmla="*/ 0 60000 65536"/>
                <a:gd name="T7" fmla="*/ 0 60000 65536"/>
                <a:gd name="T8" fmla="*/ 0 60000 65536"/>
                <a:gd name="T9" fmla="*/ 0 w 28"/>
                <a:gd name="T10" fmla="*/ 0 h 14"/>
                <a:gd name="T11" fmla="*/ 28 w 28"/>
                <a:gd name="T12" fmla="*/ 14 h 14"/>
              </a:gdLst>
              <a:ahLst/>
              <a:cxnLst>
                <a:cxn ang="T6">
                  <a:pos x="T0" y="T1"/>
                </a:cxn>
                <a:cxn ang="T7">
                  <a:pos x="T2" y="T3"/>
                </a:cxn>
                <a:cxn ang="T8">
                  <a:pos x="T4" y="T5"/>
                </a:cxn>
              </a:cxnLst>
              <a:rect l="T9" t="T10" r="T11" b="T12"/>
              <a:pathLst>
                <a:path w="28" h="14">
                  <a:moveTo>
                    <a:pt x="0" y="14"/>
                  </a:moveTo>
                  <a:cubicBezTo>
                    <a:pt x="9" y="9"/>
                    <a:pt x="28" y="0"/>
                    <a:pt x="28" y="0"/>
                  </a:cubicBezTo>
                  <a:cubicBezTo>
                    <a:pt x="28" y="0"/>
                    <a:pt x="9" y="9"/>
                    <a:pt x="0" y="14"/>
                  </a:cubicBezTo>
                  <a:close/>
                </a:path>
              </a:pathLst>
            </a:custGeom>
            <a:solidFill>
              <a:schemeClr val="accent1"/>
            </a:solidFill>
            <a:ln w="9525">
              <a:solidFill>
                <a:schemeClr val="tx1"/>
              </a:solidFill>
              <a:round/>
            </a:ln>
          </p:spPr>
          <p:txBody>
            <a:bodyPr/>
            <a:lstStyle/>
            <a:p>
              <a:endParaRPr lang="en-US"/>
            </a:p>
          </p:txBody>
        </p:sp>
        <p:sp>
          <p:nvSpPr>
            <p:cNvPr id="39" name="Freeform 70"/>
            <p:cNvSpPr/>
            <p:nvPr/>
          </p:nvSpPr>
          <p:spPr bwMode="auto">
            <a:xfrm>
              <a:off x="6489688" y="2370479"/>
              <a:ext cx="2188715" cy="1567451"/>
            </a:xfrm>
            <a:custGeom>
              <a:avLst/>
              <a:gdLst>
                <a:gd name="T0" fmla="*/ 0 w 1510"/>
                <a:gd name="T1" fmla="*/ 5 h 1052"/>
                <a:gd name="T2" fmla="*/ 1102 w 1510"/>
                <a:gd name="T3" fmla="*/ 174 h 1052"/>
                <a:gd name="T4" fmla="*/ 1510 w 1510"/>
                <a:gd name="T5" fmla="*/ 1052 h 1052"/>
                <a:gd name="T6" fmla="*/ 0 60000 65536"/>
                <a:gd name="T7" fmla="*/ 0 60000 65536"/>
                <a:gd name="T8" fmla="*/ 0 60000 65536"/>
                <a:gd name="T9" fmla="*/ 0 w 1510"/>
                <a:gd name="T10" fmla="*/ 0 h 1052"/>
                <a:gd name="T11" fmla="*/ 1510 w 1510"/>
                <a:gd name="T12" fmla="*/ 1052 h 1052"/>
              </a:gdLst>
              <a:ahLst/>
              <a:cxnLst>
                <a:cxn ang="T6">
                  <a:pos x="T0" y="T1"/>
                </a:cxn>
                <a:cxn ang="T7">
                  <a:pos x="T2" y="T3"/>
                </a:cxn>
                <a:cxn ang="T8">
                  <a:pos x="T4" y="T5"/>
                </a:cxn>
              </a:cxnLst>
              <a:rect l="T9" t="T10" r="T11" b="T12"/>
              <a:pathLst>
                <a:path w="1510" h="1052">
                  <a:moveTo>
                    <a:pt x="0" y="5"/>
                  </a:moveTo>
                  <a:cubicBezTo>
                    <a:pt x="184" y="33"/>
                    <a:pt x="851" y="0"/>
                    <a:pt x="1102" y="174"/>
                  </a:cubicBezTo>
                  <a:cubicBezTo>
                    <a:pt x="1353" y="348"/>
                    <a:pt x="1425" y="869"/>
                    <a:pt x="1510" y="1052"/>
                  </a:cubicBezTo>
                </a:path>
              </a:pathLst>
            </a:custGeom>
            <a:noFill/>
            <a:ln w="9525">
              <a:solidFill>
                <a:schemeClr val="tx1"/>
              </a:solidFill>
              <a:round/>
            </a:ln>
          </p:spPr>
          <p:txBody>
            <a:bodyPr/>
            <a:lstStyle/>
            <a:p>
              <a:endParaRPr lang="en-US"/>
            </a:p>
          </p:txBody>
        </p:sp>
        <p:sp>
          <p:nvSpPr>
            <p:cNvPr id="40" name="Text Box 71"/>
            <p:cNvSpPr txBox="1">
              <a:spLocks noChangeArrowheads="1"/>
            </p:cNvSpPr>
            <p:nvPr/>
          </p:nvSpPr>
          <p:spPr bwMode="auto">
            <a:xfrm>
              <a:off x="8021788" y="2383889"/>
              <a:ext cx="31163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9</a:t>
              </a:r>
              <a:endParaRPr lang="en-US"/>
            </a:p>
          </p:txBody>
        </p:sp>
      </p:grpSp>
    </p:spTree>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955"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6263" y="1014413"/>
            <a:ext cx="4570412" cy="173037"/>
          </a:xfrm>
          <a:prstGeom prst="rect">
            <a:avLst/>
          </a:prstGeom>
          <a:noFill/>
          <a:ln>
            <a:noFill/>
          </a:ln>
        </p:spPr>
      </p:pic>
      <p:sp>
        <p:nvSpPr>
          <p:cNvPr id="125956" name="Rectangle 2"/>
          <p:cNvSpPr>
            <a:spLocks noGrp="1" noChangeArrowheads="1"/>
          </p:cNvSpPr>
          <p:nvPr>
            <p:ph type="title"/>
          </p:nvPr>
        </p:nvSpPr>
        <p:spPr/>
        <p:txBody>
          <a:bodyPr/>
          <a:lstStyle/>
          <a:p>
            <a:r>
              <a:rPr lang="en-US" sz="4000" dirty="0" err="1">
                <a:latin typeface="Gill Sans MT" pitchFamily="34" charset="0"/>
              </a:rPr>
              <a:t>Dijsktra</a:t>
            </a:r>
            <a:r>
              <a:rPr lang="ja-JP" altLang="en-US" sz="4000" dirty="0">
                <a:latin typeface="Gill Sans MT" pitchFamily="34" charset="0"/>
              </a:rPr>
              <a:t>’</a:t>
            </a:r>
            <a:r>
              <a:rPr lang="en-US" altLang="ja-JP" sz="4000" dirty="0">
                <a:latin typeface="Gill Sans MT" pitchFamily="34" charset="0"/>
              </a:rPr>
              <a:t>s algorithm</a:t>
            </a:r>
            <a:endParaRPr lang="en-US" dirty="0">
              <a:latin typeface="Gill Sans MT" pitchFamily="34" charset="0"/>
            </a:endParaRPr>
          </a:p>
        </p:txBody>
      </p:sp>
      <p:sp>
        <p:nvSpPr>
          <p:cNvPr id="125957" name="Text Box 3"/>
          <p:cNvSpPr txBox="1">
            <a:spLocks noChangeArrowheads="1"/>
          </p:cNvSpPr>
          <p:nvPr/>
        </p:nvSpPr>
        <p:spPr bwMode="auto">
          <a:xfrm>
            <a:off x="1141413" y="1458913"/>
            <a:ext cx="6640151" cy="470898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2000" dirty="0"/>
              <a:t>1  </a:t>
            </a:r>
            <a:r>
              <a:rPr lang="en-US" sz="2000" b="1" i="1" dirty="0"/>
              <a:t>Initialization:</a:t>
            </a:r>
            <a:r>
              <a:rPr lang="en-US" sz="2000" dirty="0"/>
              <a:t> </a:t>
            </a:r>
          </a:p>
          <a:p>
            <a:r>
              <a:rPr lang="en-US" sz="2000" dirty="0"/>
              <a:t>2    N</a:t>
            </a:r>
            <a:r>
              <a:rPr lang="en-US" sz="2000" dirty="0">
                <a:cs typeface="Arial" panose="020B0604020202090204" pitchFamily="34" charset="0"/>
              </a:rPr>
              <a:t>'</a:t>
            </a:r>
            <a:r>
              <a:rPr lang="en-US" sz="2000" dirty="0"/>
              <a:t> = {</a:t>
            </a:r>
            <a:r>
              <a:rPr lang="en-US" sz="2000" b="1" dirty="0">
                <a:solidFill>
                  <a:srgbClr val="C00000"/>
                </a:solidFill>
              </a:rPr>
              <a:t>u</a:t>
            </a:r>
            <a:r>
              <a:rPr lang="en-US" sz="2000" dirty="0"/>
              <a:t>} </a:t>
            </a:r>
          </a:p>
          <a:p>
            <a:r>
              <a:rPr lang="en-US" sz="2000" dirty="0"/>
              <a:t>3    for all nodes v </a:t>
            </a:r>
          </a:p>
          <a:p>
            <a:r>
              <a:rPr lang="en-US" sz="2000" dirty="0"/>
              <a:t>4      if v adjacent to u </a:t>
            </a:r>
          </a:p>
          <a:p>
            <a:r>
              <a:rPr lang="en-US" sz="2000" dirty="0"/>
              <a:t>5          then D(v) = c(</a:t>
            </a:r>
            <a:r>
              <a:rPr lang="en-US" sz="2000" dirty="0" err="1"/>
              <a:t>u,v</a:t>
            </a:r>
            <a:r>
              <a:rPr lang="en-US" sz="2000" dirty="0"/>
              <a:t>) </a:t>
            </a:r>
          </a:p>
          <a:p>
            <a:r>
              <a:rPr lang="en-US" sz="2000" dirty="0"/>
              <a:t>6      else D(v) = </a:t>
            </a:r>
            <a:r>
              <a:rPr lang="en-US" sz="2000" dirty="0">
                <a:cs typeface="Arial" panose="020B0604020202090204" pitchFamily="34" charset="0"/>
              </a:rPr>
              <a:t>∞</a:t>
            </a:r>
            <a:r>
              <a:rPr lang="en-US" sz="2000" dirty="0"/>
              <a:t> </a:t>
            </a:r>
          </a:p>
          <a:p>
            <a:r>
              <a:rPr lang="en-US" sz="2000" dirty="0"/>
              <a:t>7 </a:t>
            </a:r>
          </a:p>
          <a:p>
            <a:r>
              <a:rPr lang="en-US" sz="2000" dirty="0"/>
              <a:t>8   </a:t>
            </a:r>
            <a:r>
              <a:rPr lang="en-US" sz="2000" b="1" i="1" dirty="0"/>
              <a:t>Loop</a:t>
            </a:r>
            <a:r>
              <a:rPr lang="en-US" sz="2000" i="1" dirty="0"/>
              <a:t> </a:t>
            </a:r>
            <a:endParaRPr lang="en-US" sz="2000" dirty="0"/>
          </a:p>
          <a:p>
            <a:r>
              <a:rPr lang="en-US" sz="2000" dirty="0"/>
              <a:t>9     find w not in N</a:t>
            </a:r>
            <a:r>
              <a:rPr lang="en-US" sz="2000" dirty="0">
                <a:cs typeface="Arial" panose="020B0604020202090204" pitchFamily="34" charset="0"/>
              </a:rPr>
              <a:t>'</a:t>
            </a:r>
            <a:r>
              <a:rPr lang="en-US" sz="2000" dirty="0"/>
              <a:t> such that D(w) is a minimum </a:t>
            </a:r>
          </a:p>
          <a:p>
            <a:r>
              <a:rPr lang="en-US" sz="2000" dirty="0"/>
              <a:t>10    add w to N</a:t>
            </a:r>
            <a:r>
              <a:rPr lang="en-US" sz="2000" dirty="0">
                <a:cs typeface="Arial" panose="020B0604020202090204" pitchFamily="34" charset="0"/>
              </a:rPr>
              <a:t>'</a:t>
            </a:r>
            <a:r>
              <a:rPr lang="en-US" sz="2000" dirty="0"/>
              <a:t> </a:t>
            </a:r>
          </a:p>
          <a:p>
            <a:r>
              <a:rPr lang="en-US" sz="2000" dirty="0"/>
              <a:t>11    </a:t>
            </a:r>
            <a:r>
              <a:rPr lang="en-US" sz="2000" b="1" dirty="0">
                <a:solidFill>
                  <a:schemeClr val="accent1"/>
                </a:solidFill>
              </a:rPr>
              <a:t>update D(v) for all v adjacent to w and not in N</a:t>
            </a:r>
            <a:r>
              <a:rPr lang="en-US" sz="2000" b="1" dirty="0">
                <a:solidFill>
                  <a:schemeClr val="accent1"/>
                </a:solidFill>
                <a:cs typeface="Arial" panose="020B0604020202090204" pitchFamily="34" charset="0"/>
              </a:rPr>
              <a:t>'</a:t>
            </a:r>
            <a:r>
              <a:rPr lang="en-US" sz="2000" dirty="0"/>
              <a:t> : </a:t>
            </a:r>
          </a:p>
          <a:p>
            <a:r>
              <a:rPr lang="en-US" sz="2000" dirty="0"/>
              <a:t>12       </a:t>
            </a:r>
            <a:r>
              <a:rPr lang="en-US" sz="2000" b="1" dirty="0">
                <a:solidFill>
                  <a:srgbClr val="CC0000"/>
                </a:solidFill>
              </a:rPr>
              <a:t>D(v) = min( D(v), D(w) + c(</a:t>
            </a:r>
            <a:r>
              <a:rPr lang="en-US" sz="2000" b="1" dirty="0" err="1">
                <a:solidFill>
                  <a:srgbClr val="CC0000"/>
                </a:solidFill>
              </a:rPr>
              <a:t>w,v</a:t>
            </a:r>
            <a:r>
              <a:rPr lang="en-US" sz="2000" b="1" dirty="0">
                <a:solidFill>
                  <a:srgbClr val="CC0000"/>
                </a:solidFill>
              </a:rPr>
              <a:t>) ) </a:t>
            </a:r>
          </a:p>
          <a:p>
            <a:r>
              <a:rPr lang="en-US" sz="2000" dirty="0"/>
              <a:t>13    /* new cost to v is either old cost to v or known </a:t>
            </a:r>
          </a:p>
          <a:p>
            <a:r>
              <a:rPr lang="en-US" sz="2000" dirty="0"/>
              <a:t>14     shortest path cost to w plus cost from w to v */ </a:t>
            </a:r>
          </a:p>
          <a:p>
            <a:r>
              <a:rPr lang="en-US" sz="2000" dirty="0"/>
              <a:t>15  </a:t>
            </a:r>
            <a:r>
              <a:rPr lang="en-US" sz="2000" b="1" i="1" dirty="0"/>
              <a:t>until all nodes in N</a:t>
            </a:r>
            <a:r>
              <a:rPr lang="en-US" sz="2000" b="1" i="1" dirty="0">
                <a:cs typeface="Arial" panose="020B0604020202090204" pitchFamily="34" charset="0"/>
              </a:rPr>
              <a:t>'</a:t>
            </a:r>
            <a:r>
              <a:rPr lang="en-US" sz="2000" dirty="0"/>
              <a:t> </a:t>
            </a:r>
          </a:p>
        </p:txBody>
      </p:sp>
      <p:sp>
        <p:nvSpPr>
          <p:cNvPr id="125958" name="Freeform 4"/>
          <p:cNvSpPr/>
          <p:nvPr/>
        </p:nvSpPr>
        <p:spPr bwMode="auto">
          <a:xfrm>
            <a:off x="600075" y="3543300"/>
            <a:ext cx="800100" cy="2886075"/>
          </a:xfrm>
          <a:custGeom>
            <a:avLst/>
            <a:gdLst>
              <a:gd name="T0" fmla="*/ 2147483647 w 504"/>
              <a:gd name="T1" fmla="*/ 2147483647 h 1818"/>
              <a:gd name="T2" fmla="*/ 2147483647 w 504"/>
              <a:gd name="T3" fmla="*/ 2147483647 h 1818"/>
              <a:gd name="T4" fmla="*/ 2147483647 w 504"/>
              <a:gd name="T5" fmla="*/ 2147483647 h 1818"/>
              <a:gd name="T6" fmla="*/ 2147483647 w 504"/>
              <a:gd name="T7" fmla="*/ 2147483647 h 1818"/>
              <a:gd name="T8" fmla="*/ 0 60000 65536"/>
              <a:gd name="T9" fmla="*/ 0 60000 65536"/>
              <a:gd name="T10" fmla="*/ 0 60000 65536"/>
              <a:gd name="T11" fmla="*/ 0 60000 65536"/>
              <a:gd name="T12" fmla="*/ 0 w 504"/>
              <a:gd name="T13" fmla="*/ 0 h 1818"/>
              <a:gd name="T14" fmla="*/ 504 w 504"/>
              <a:gd name="T15" fmla="*/ 1818 h 1818"/>
            </a:gdLst>
            <a:ahLst/>
            <a:cxnLst>
              <a:cxn ang="T8">
                <a:pos x="T0" y="T1"/>
              </a:cxn>
              <a:cxn ang="T9">
                <a:pos x="T2" y="T3"/>
              </a:cxn>
              <a:cxn ang="T10">
                <a:pos x="T4" y="T5"/>
              </a:cxn>
              <a:cxn ang="T11">
                <a:pos x="T6" y="T7"/>
              </a:cxn>
            </a:cxnLst>
            <a:rect l="T12" t="T13" r="T14" b="T15"/>
            <a:pathLst>
              <a:path w="504" h="1818">
                <a:moveTo>
                  <a:pt x="504" y="1596"/>
                </a:moveTo>
                <a:cubicBezTo>
                  <a:pt x="444" y="1728"/>
                  <a:pt x="240" y="1818"/>
                  <a:pt x="120" y="1602"/>
                </a:cubicBezTo>
                <a:cubicBezTo>
                  <a:pt x="0" y="1386"/>
                  <a:pt x="48" y="444"/>
                  <a:pt x="90" y="192"/>
                </a:cubicBezTo>
                <a:cubicBezTo>
                  <a:pt x="162" y="0"/>
                  <a:pt x="294" y="84"/>
                  <a:pt x="396" y="144"/>
                </a:cubicBezTo>
              </a:path>
            </a:pathLst>
          </a:custGeom>
          <a:noFill/>
          <a:ln w="28575" cap="flat" cmpd="sng">
            <a:solidFill>
              <a:srgbClr val="CC0000"/>
            </a:solidFill>
            <a:prstDash val="solid"/>
            <a:round/>
            <a:headEnd type="none" w="med" len="med"/>
            <a:tailEnd type="triangle" w="med" len="med"/>
          </a:ln>
        </p:spPr>
        <p:txBody>
          <a:bodyPr wrap="none" anchor="ctr"/>
          <a:lstStyle/>
          <a:p>
            <a:endParaRPr lang="en-US"/>
          </a:p>
        </p:txBody>
      </p:sp>
      <p:sp>
        <p:nvSpPr>
          <p:cNvPr id="8"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26</a:t>
            </a:fld>
            <a:endParaRPr lang="en-US" sz="1200" dirty="0">
              <a:latin typeface="Tahoma" panose="020B0604030504040204" charset="0"/>
            </a:endParaRPr>
          </a:p>
        </p:txBody>
      </p:sp>
      <p:sp>
        <p:nvSpPr>
          <p:cNvPr id="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955"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6263" y="1014413"/>
            <a:ext cx="4570412" cy="173037"/>
          </a:xfrm>
          <a:prstGeom prst="rect">
            <a:avLst/>
          </a:prstGeom>
          <a:noFill/>
          <a:ln>
            <a:noFill/>
          </a:ln>
        </p:spPr>
      </p:pic>
      <p:sp>
        <p:nvSpPr>
          <p:cNvPr id="125956" name="Rectangle 2"/>
          <p:cNvSpPr>
            <a:spLocks noGrp="1" noChangeArrowheads="1"/>
          </p:cNvSpPr>
          <p:nvPr>
            <p:ph type="title"/>
          </p:nvPr>
        </p:nvSpPr>
        <p:spPr/>
        <p:txBody>
          <a:bodyPr/>
          <a:lstStyle/>
          <a:p>
            <a:r>
              <a:rPr lang="en-US" sz="4000" dirty="0" err="1">
                <a:latin typeface="Gill Sans MT" pitchFamily="34" charset="0"/>
              </a:rPr>
              <a:t>Dijsktra</a:t>
            </a:r>
            <a:r>
              <a:rPr lang="ja-JP" altLang="en-US" sz="4000" dirty="0">
                <a:latin typeface="Gill Sans MT" pitchFamily="34" charset="0"/>
              </a:rPr>
              <a:t>’</a:t>
            </a:r>
            <a:r>
              <a:rPr lang="en-US" altLang="ja-JP" sz="4000" dirty="0">
                <a:latin typeface="Gill Sans MT" pitchFamily="34" charset="0"/>
              </a:rPr>
              <a:t>s algorithm</a:t>
            </a:r>
            <a:endParaRPr lang="en-US" dirty="0">
              <a:latin typeface="Gill Sans MT" pitchFamily="34" charset="0"/>
            </a:endParaRPr>
          </a:p>
        </p:txBody>
      </p:sp>
      <p:sp>
        <p:nvSpPr>
          <p:cNvPr id="8"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27</a:t>
            </a:fld>
            <a:endParaRPr lang="en-US" sz="1200" dirty="0">
              <a:latin typeface="Tahoma" panose="020B0604030504040204" charset="0"/>
            </a:endParaRPr>
          </a:p>
        </p:txBody>
      </p:sp>
      <p:sp>
        <p:nvSpPr>
          <p:cNvPr id="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pic>
        <p:nvPicPr>
          <p:cNvPr id="2" name="图片 1"/>
          <p:cNvPicPr>
            <a:picLocks noChangeAspect="1"/>
          </p:cNvPicPr>
          <p:nvPr/>
        </p:nvPicPr>
        <p:blipFill>
          <a:blip r:embed="rId3"/>
          <a:stretch>
            <a:fillRect/>
          </a:stretch>
        </p:blipFill>
        <p:spPr>
          <a:xfrm>
            <a:off x="548148" y="1345251"/>
            <a:ext cx="7456166" cy="5156179"/>
          </a:xfrm>
          <a:prstGeom prst="rect">
            <a:avLst/>
          </a:prstGeom>
        </p:spPr>
      </p:pic>
      <p:cxnSp>
        <p:nvCxnSpPr>
          <p:cNvPr id="4" name="直线连接符 3"/>
          <p:cNvCxnSpPr/>
          <p:nvPr/>
        </p:nvCxnSpPr>
        <p:spPr bwMode="auto">
          <a:xfrm>
            <a:off x="1923803" y="4916384"/>
            <a:ext cx="4619501" cy="0"/>
          </a:xfrm>
          <a:prstGeom prst="line">
            <a:avLst/>
          </a:prstGeom>
          <a:ln w="28575">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cSld>
  <p:clrMapOvr>
    <a:masterClrMapping/>
  </p:clrMapOv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6979" name="Picture 133"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7688" y="787400"/>
            <a:ext cx="6399212" cy="173038"/>
          </a:xfrm>
          <a:prstGeom prst="rect">
            <a:avLst/>
          </a:prstGeom>
          <a:noFill/>
          <a:ln>
            <a:noFill/>
          </a:ln>
        </p:spPr>
      </p:pic>
      <p:sp>
        <p:nvSpPr>
          <p:cNvPr id="126981" name="Rectangle 72"/>
          <p:cNvSpPr>
            <a:spLocks noChangeArrowheads="1"/>
          </p:cNvSpPr>
          <p:nvPr/>
        </p:nvSpPr>
        <p:spPr bwMode="auto">
          <a:xfrm>
            <a:off x="487363" y="0"/>
            <a:ext cx="7772400" cy="1143000"/>
          </a:xfrm>
          <a:prstGeom prst="rect">
            <a:avLst/>
          </a:prstGeom>
          <a:noFill/>
          <a:ln>
            <a:noFill/>
          </a:ln>
        </p:spPr>
        <p:txBody>
          <a:bodyPr anchor="ctr"/>
          <a:lstStyle/>
          <a:p>
            <a:r>
              <a:rPr lang="en-US" sz="4000">
                <a:solidFill>
                  <a:srgbClr val="000099"/>
                </a:solidFill>
                <a:latin typeface="Gill Sans MT" pitchFamily="34" charset="0"/>
              </a:rPr>
              <a:t>Dijkstra</a:t>
            </a:r>
            <a:r>
              <a:rPr lang="ja-JP" altLang="en-US" sz="4000">
                <a:solidFill>
                  <a:srgbClr val="000099"/>
                </a:solidFill>
                <a:latin typeface="Gill Sans MT" pitchFamily="34" charset="0"/>
              </a:rPr>
              <a:t>’</a:t>
            </a:r>
            <a:r>
              <a:rPr lang="en-US" altLang="ja-JP" sz="4000">
                <a:solidFill>
                  <a:srgbClr val="000099"/>
                </a:solidFill>
                <a:latin typeface="Gill Sans MT" pitchFamily="34" charset="0"/>
              </a:rPr>
              <a:t>s algorithm: example</a:t>
            </a:r>
            <a:endParaRPr lang="en-US" sz="4400">
              <a:solidFill>
                <a:srgbClr val="000099"/>
              </a:solidFill>
              <a:latin typeface="Gill Sans MT" pitchFamily="34" charset="0"/>
            </a:endParaRPr>
          </a:p>
        </p:txBody>
      </p:sp>
      <p:sp>
        <p:nvSpPr>
          <p:cNvPr id="126982" name="Text Box 73"/>
          <p:cNvSpPr txBox="1">
            <a:spLocks noChangeArrowheads="1"/>
          </p:cNvSpPr>
          <p:nvPr/>
        </p:nvSpPr>
        <p:spPr bwMode="auto">
          <a:xfrm>
            <a:off x="474663" y="1277938"/>
            <a:ext cx="706437" cy="7016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Step</a:t>
            </a:r>
          </a:p>
          <a:p>
            <a:pPr algn="r"/>
            <a:endParaRPr lang="en-US" sz="2000"/>
          </a:p>
        </p:txBody>
      </p:sp>
      <p:sp>
        <p:nvSpPr>
          <p:cNvPr id="126983" name="Text Box 74"/>
          <p:cNvSpPr txBox="1">
            <a:spLocks noChangeArrowheads="1"/>
          </p:cNvSpPr>
          <p:nvPr/>
        </p:nvSpPr>
        <p:spPr bwMode="auto">
          <a:xfrm>
            <a:off x="1458913" y="1284288"/>
            <a:ext cx="417512" cy="3968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N</a:t>
            </a:r>
            <a:r>
              <a:rPr lang="en-US" sz="2000">
                <a:cs typeface="Arial" panose="020B0604020202090204" pitchFamily="34" charset="0"/>
              </a:rPr>
              <a:t>'</a:t>
            </a:r>
          </a:p>
        </p:txBody>
      </p:sp>
      <p:sp>
        <p:nvSpPr>
          <p:cNvPr id="126984" name="Text Box 75"/>
          <p:cNvSpPr txBox="1">
            <a:spLocks noChangeArrowheads="1"/>
          </p:cNvSpPr>
          <p:nvPr/>
        </p:nvSpPr>
        <p:spPr bwMode="auto">
          <a:xfrm>
            <a:off x="2043113" y="1009650"/>
            <a:ext cx="677862" cy="6413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D(</a:t>
            </a:r>
            <a:r>
              <a:rPr lang="en-US" sz="2000" b="1">
                <a:solidFill>
                  <a:srgbClr val="FF0000"/>
                </a:solidFill>
              </a:rPr>
              <a:t>v</a:t>
            </a:r>
            <a:r>
              <a:rPr lang="en-US" sz="2000"/>
              <a:t>)</a:t>
            </a:r>
          </a:p>
          <a:p>
            <a:pPr algn="r"/>
            <a:r>
              <a:rPr lang="en-US" sz="1600"/>
              <a:t>p(v)</a:t>
            </a:r>
          </a:p>
        </p:txBody>
      </p:sp>
      <p:sp>
        <p:nvSpPr>
          <p:cNvPr id="126985" name="Text Box 76"/>
          <p:cNvSpPr txBox="1">
            <a:spLocks noChangeArrowheads="1"/>
          </p:cNvSpPr>
          <p:nvPr/>
        </p:nvSpPr>
        <p:spPr bwMode="auto">
          <a:xfrm>
            <a:off x="511175" y="1617663"/>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0</a:t>
            </a:r>
          </a:p>
        </p:txBody>
      </p:sp>
      <p:sp>
        <p:nvSpPr>
          <p:cNvPr id="126986" name="Text Box 77"/>
          <p:cNvSpPr txBox="1">
            <a:spLocks noChangeArrowheads="1"/>
          </p:cNvSpPr>
          <p:nvPr/>
        </p:nvSpPr>
        <p:spPr bwMode="auto">
          <a:xfrm>
            <a:off x="515938" y="1914525"/>
            <a:ext cx="3111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1</a:t>
            </a:r>
          </a:p>
        </p:txBody>
      </p:sp>
      <p:sp>
        <p:nvSpPr>
          <p:cNvPr id="126987" name="Text Box 78"/>
          <p:cNvSpPr txBox="1">
            <a:spLocks noChangeArrowheads="1"/>
          </p:cNvSpPr>
          <p:nvPr/>
        </p:nvSpPr>
        <p:spPr bwMode="auto">
          <a:xfrm>
            <a:off x="517525" y="2222500"/>
            <a:ext cx="3111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2</a:t>
            </a:r>
          </a:p>
        </p:txBody>
      </p:sp>
      <p:sp>
        <p:nvSpPr>
          <p:cNvPr id="126988" name="Text Box 79"/>
          <p:cNvSpPr txBox="1">
            <a:spLocks noChangeArrowheads="1"/>
          </p:cNvSpPr>
          <p:nvPr/>
        </p:nvSpPr>
        <p:spPr bwMode="auto">
          <a:xfrm>
            <a:off x="511175" y="2524125"/>
            <a:ext cx="3111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3</a:t>
            </a:r>
          </a:p>
        </p:txBody>
      </p:sp>
      <p:sp>
        <p:nvSpPr>
          <p:cNvPr id="126989" name="Text Box 80"/>
          <p:cNvSpPr txBox="1">
            <a:spLocks noChangeArrowheads="1"/>
          </p:cNvSpPr>
          <p:nvPr/>
        </p:nvSpPr>
        <p:spPr bwMode="auto">
          <a:xfrm>
            <a:off x="509588" y="2827338"/>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4</a:t>
            </a:r>
          </a:p>
        </p:txBody>
      </p:sp>
      <p:sp>
        <p:nvSpPr>
          <p:cNvPr id="126990" name="Text Box 81"/>
          <p:cNvSpPr txBox="1">
            <a:spLocks noChangeArrowheads="1"/>
          </p:cNvSpPr>
          <p:nvPr/>
        </p:nvSpPr>
        <p:spPr bwMode="auto">
          <a:xfrm>
            <a:off x="514350" y="3132138"/>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5</a:t>
            </a:r>
          </a:p>
        </p:txBody>
      </p:sp>
      <p:sp>
        <p:nvSpPr>
          <p:cNvPr id="126991" name="Text Box 82"/>
          <p:cNvSpPr txBox="1">
            <a:spLocks noChangeArrowheads="1"/>
          </p:cNvSpPr>
          <p:nvPr/>
        </p:nvSpPr>
        <p:spPr bwMode="auto">
          <a:xfrm>
            <a:off x="2630488" y="1017588"/>
            <a:ext cx="733425" cy="6413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D(</a:t>
            </a:r>
            <a:r>
              <a:rPr lang="en-US" sz="2000" b="1">
                <a:solidFill>
                  <a:srgbClr val="FF0000"/>
                </a:solidFill>
              </a:rPr>
              <a:t>w</a:t>
            </a:r>
            <a:r>
              <a:rPr lang="en-US" sz="2000"/>
              <a:t>)</a:t>
            </a:r>
          </a:p>
          <a:p>
            <a:pPr algn="r"/>
            <a:r>
              <a:rPr lang="en-US" sz="1600"/>
              <a:t>p(w)</a:t>
            </a:r>
          </a:p>
        </p:txBody>
      </p:sp>
      <p:sp>
        <p:nvSpPr>
          <p:cNvPr id="126992" name="Text Box 83"/>
          <p:cNvSpPr txBox="1">
            <a:spLocks noChangeArrowheads="1"/>
          </p:cNvSpPr>
          <p:nvPr/>
        </p:nvSpPr>
        <p:spPr bwMode="auto">
          <a:xfrm>
            <a:off x="3306763" y="1017588"/>
            <a:ext cx="677862" cy="6413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D(</a:t>
            </a:r>
            <a:r>
              <a:rPr lang="en-US" sz="2000" b="1">
                <a:solidFill>
                  <a:srgbClr val="FF0000"/>
                </a:solidFill>
              </a:rPr>
              <a:t>x</a:t>
            </a:r>
            <a:r>
              <a:rPr lang="en-US" sz="2000"/>
              <a:t>)</a:t>
            </a:r>
          </a:p>
          <a:p>
            <a:pPr algn="r"/>
            <a:r>
              <a:rPr lang="en-US" sz="1600"/>
              <a:t>p(x)</a:t>
            </a:r>
          </a:p>
        </p:txBody>
      </p:sp>
      <p:sp>
        <p:nvSpPr>
          <p:cNvPr id="126993" name="Text Box 84"/>
          <p:cNvSpPr txBox="1">
            <a:spLocks noChangeArrowheads="1"/>
          </p:cNvSpPr>
          <p:nvPr/>
        </p:nvSpPr>
        <p:spPr bwMode="auto">
          <a:xfrm>
            <a:off x="3946525" y="1017588"/>
            <a:ext cx="677863" cy="6413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D(</a:t>
            </a:r>
            <a:r>
              <a:rPr lang="en-US" sz="2000" b="1">
                <a:solidFill>
                  <a:srgbClr val="FF0000"/>
                </a:solidFill>
              </a:rPr>
              <a:t>y</a:t>
            </a:r>
            <a:r>
              <a:rPr lang="en-US" sz="2000"/>
              <a:t>)</a:t>
            </a:r>
          </a:p>
          <a:p>
            <a:pPr algn="r"/>
            <a:r>
              <a:rPr lang="en-US" sz="1600"/>
              <a:t>p(y)</a:t>
            </a:r>
          </a:p>
        </p:txBody>
      </p:sp>
      <p:sp>
        <p:nvSpPr>
          <p:cNvPr id="126994" name="Text Box 85"/>
          <p:cNvSpPr txBox="1">
            <a:spLocks noChangeArrowheads="1"/>
          </p:cNvSpPr>
          <p:nvPr/>
        </p:nvSpPr>
        <p:spPr bwMode="auto">
          <a:xfrm>
            <a:off x="4578350" y="1022350"/>
            <a:ext cx="663575" cy="6413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D(</a:t>
            </a:r>
            <a:r>
              <a:rPr lang="en-US" sz="2000" b="1">
                <a:solidFill>
                  <a:srgbClr val="FF0000"/>
                </a:solidFill>
              </a:rPr>
              <a:t>z</a:t>
            </a:r>
            <a:r>
              <a:rPr lang="en-US" sz="2000"/>
              <a:t>)</a:t>
            </a:r>
          </a:p>
          <a:p>
            <a:pPr algn="r"/>
            <a:r>
              <a:rPr lang="en-US" sz="1600"/>
              <a:t>p(z)</a:t>
            </a:r>
          </a:p>
        </p:txBody>
      </p:sp>
      <p:sp>
        <p:nvSpPr>
          <p:cNvPr id="126995" name="Line 86"/>
          <p:cNvSpPr>
            <a:spLocks noChangeShapeType="1"/>
          </p:cNvSpPr>
          <p:nvPr/>
        </p:nvSpPr>
        <p:spPr bwMode="auto">
          <a:xfrm>
            <a:off x="600075" y="1638300"/>
            <a:ext cx="4629150" cy="0"/>
          </a:xfrm>
          <a:prstGeom prst="line">
            <a:avLst/>
          </a:prstGeom>
          <a:noFill/>
          <a:ln w="28575">
            <a:solidFill>
              <a:srgbClr val="000099"/>
            </a:solidFill>
            <a:round/>
          </a:ln>
        </p:spPr>
        <p:txBody>
          <a:bodyPr wrap="none"/>
          <a:lstStyle/>
          <a:p>
            <a:endParaRPr lang="en-US"/>
          </a:p>
        </p:txBody>
      </p:sp>
      <p:sp>
        <p:nvSpPr>
          <p:cNvPr id="126996" name="Line 87"/>
          <p:cNvSpPr>
            <a:spLocks noChangeShapeType="1"/>
          </p:cNvSpPr>
          <p:nvPr/>
        </p:nvSpPr>
        <p:spPr bwMode="auto">
          <a:xfrm>
            <a:off x="581025" y="1952625"/>
            <a:ext cx="4629150" cy="0"/>
          </a:xfrm>
          <a:prstGeom prst="line">
            <a:avLst/>
          </a:prstGeom>
          <a:noFill/>
          <a:ln w="12700">
            <a:solidFill>
              <a:srgbClr val="000099"/>
            </a:solidFill>
            <a:round/>
          </a:ln>
        </p:spPr>
        <p:txBody>
          <a:bodyPr wrap="none"/>
          <a:lstStyle/>
          <a:p>
            <a:endParaRPr lang="en-US"/>
          </a:p>
        </p:txBody>
      </p:sp>
      <p:sp>
        <p:nvSpPr>
          <p:cNvPr id="126997" name="Text Box 88"/>
          <p:cNvSpPr txBox="1">
            <a:spLocks noChangeArrowheads="1"/>
          </p:cNvSpPr>
          <p:nvPr/>
        </p:nvSpPr>
        <p:spPr bwMode="auto">
          <a:xfrm>
            <a:off x="1492250" y="1608138"/>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u</a:t>
            </a:r>
          </a:p>
        </p:txBody>
      </p:sp>
      <p:sp>
        <p:nvSpPr>
          <p:cNvPr id="126998" name="Line 89"/>
          <p:cNvSpPr>
            <a:spLocks noChangeShapeType="1"/>
          </p:cNvSpPr>
          <p:nvPr/>
        </p:nvSpPr>
        <p:spPr bwMode="auto">
          <a:xfrm>
            <a:off x="581025" y="2247900"/>
            <a:ext cx="4629150" cy="0"/>
          </a:xfrm>
          <a:prstGeom prst="line">
            <a:avLst/>
          </a:prstGeom>
          <a:noFill/>
          <a:ln w="12700">
            <a:solidFill>
              <a:srgbClr val="000099"/>
            </a:solidFill>
            <a:round/>
          </a:ln>
        </p:spPr>
        <p:txBody>
          <a:bodyPr wrap="none"/>
          <a:lstStyle/>
          <a:p>
            <a:endParaRPr lang="en-US"/>
          </a:p>
        </p:txBody>
      </p:sp>
      <p:sp>
        <p:nvSpPr>
          <p:cNvPr id="126999" name="Line 90"/>
          <p:cNvSpPr>
            <a:spLocks noChangeShapeType="1"/>
          </p:cNvSpPr>
          <p:nvPr/>
        </p:nvSpPr>
        <p:spPr bwMode="auto">
          <a:xfrm>
            <a:off x="581025" y="2562225"/>
            <a:ext cx="4629150" cy="0"/>
          </a:xfrm>
          <a:prstGeom prst="line">
            <a:avLst/>
          </a:prstGeom>
          <a:noFill/>
          <a:ln w="12700">
            <a:solidFill>
              <a:srgbClr val="000099"/>
            </a:solidFill>
            <a:round/>
          </a:ln>
        </p:spPr>
        <p:txBody>
          <a:bodyPr wrap="none"/>
          <a:lstStyle/>
          <a:p>
            <a:endParaRPr lang="en-US"/>
          </a:p>
        </p:txBody>
      </p:sp>
      <p:sp>
        <p:nvSpPr>
          <p:cNvPr id="127000" name="Line 91"/>
          <p:cNvSpPr>
            <a:spLocks noChangeShapeType="1"/>
          </p:cNvSpPr>
          <p:nvPr/>
        </p:nvSpPr>
        <p:spPr bwMode="auto">
          <a:xfrm>
            <a:off x="565150" y="2865438"/>
            <a:ext cx="4629150" cy="0"/>
          </a:xfrm>
          <a:prstGeom prst="line">
            <a:avLst/>
          </a:prstGeom>
          <a:noFill/>
          <a:ln w="12700">
            <a:solidFill>
              <a:srgbClr val="000099"/>
            </a:solidFill>
            <a:round/>
          </a:ln>
        </p:spPr>
        <p:txBody>
          <a:bodyPr wrap="none"/>
          <a:lstStyle/>
          <a:p>
            <a:endParaRPr lang="en-US"/>
          </a:p>
        </p:txBody>
      </p:sp>
      <p:sp>
        <p:nvSpPr>
          <p:cNvPr id="127001" name="Line 92"/>
          <p:cNvSpPr>
            <a:spLocks noChangeShapeType="1"/>
          </p:cNvSpPr>
          <p:nvPr/>
        </p:nvSpPr>
        <p:spPr bwMode="auto">
          <a:xfrm>
            <a:off x="576263" y="3171825"/>
            <a:ext cx="4629150" cy="0"/>
          </a:xfrm>
          <a:prstGeom prst="line">
            <a:avLst/>
          </a:prstGeom>
          <a:noFill/>
          <a:ln w="12700">
            <a:solidFill>
              <a:srgbClr val="000099"/>
            </a:solidFill>
            <a:round/>
          </a:ln>
        </p:spPr>
        <p:txBody>
          <a:bodyPr wrap="none"/>
          <a:lstStyle/>
          <a:p>
            <a:endParaRPr lang="en-US"/>
          </a:p>
        </p:txBody>
      </p:sp>
      <p:sp>
        <p:nvSpPr>
          <p:cNvPr id="127002" name="Line 93"/>
          <p:cNvSpPr>
            <a:spLocks noChangeShapeType="1"/>
          </p:cNvSpPr>
          <p:nvPr/>
        </p:nvSpPr>
        <p:spPr bwMode="auto">
          <a:xfrm>
            <a:off x="581025" y="3467100"/>
            <a:ext cx="4629150" cy="0"/>
          </a:xfrm>
          <a:prstGeom prst="line">
            <a:avLst/>
          </a:prstGeom>
          <a:noFill/>
          <a:ln w="12700">
            <a:solidFill>
              <a:srgbClr val="000099"/>
            </a:solidFill>
            <a:round/>
          </a:ln>
        </p:spPr>
        <p:txBody>
          <a:bodyPr wrap="none"/>
          <a:lstStyle/>
          <a:p>
            <a:endParaRPr lang="en-US"/>
          </a:p>
        </p:txBody>
      </p:sp>
      <p:grpSp>
        <p:nvGrpSpPr>
          <p:cNvPr id="9" name="Group 94"/>
          <p:cNvGrpSpPr/>
          <p:nvPr/>
        </p:nvGrpSpPr>
        <p:grpSpPr bwMode="auto">
          <a:xfrm>
            <a:off x="2190750" y="1609725"/>
            <a:ext cx="3084513" cy="371475"/>
            <a:chOff x="1380" y="1014"/>
            <a:chExt cx="1943" cy="234"/>
          </a:xfrm>
        </p:grpSpPr>
        <p:sp>
          <p:nvSpPr>
            <p:cNvPr id="127036" name="Text Box 95"/>
            <p:cNvSpPr txBox="1">
              <a:spLocks noChangeArrowheads="1"/>
            </p:cNvSpPr>
            <p:nvPr/>
          </p:nvSpPr>
          <p:spPr bwMode="auto">
            <a:xfrm>
              <a:off x="3043" y="1014"/>
              <a:ext cx="280"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latin typeface="Comic Sans MS" panose="030F0902030302020204" pitchFamily="66" charset="0"/>
                </a:rPr>
                <a:t>∞ </a:t>
              </a:r>
              <a:endParaRPr lang="en-US" sz="2000"/>
            </a:p>
          </p:txBody>
        </p:sp>
        <p:sp>
          <p:nvSpPr>
            <p:cNvPr id="127037" name="Text Box 96"/>
            <p:cNvSpPr txBox="1">
              <a:spLocks noChangeArrowheads="1"/>
            </p:cNvSpPr>
            <p:nvPr/>
          </p:nvSpPr>
          <p:spPr bwMode="auto">
            <a:xfrm>
              <a:off x="2647" y="1014"/>
              <a:ext cx="280"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latin typeface="Comic Sans MS" panose="030F0902030302020204" pitchFamily="66" charset="0"/>
                </a:rPr>
                <a:t>∞ </a:t>
              </a:r>
              <a:endParaRPr lang="en-US" sz="2000"/>
            </a:p>
          </p:txBody>
        </p:sp>
        <p:sp>
          <p:nvSpPr>
            <p:cNvPr id="127038" name="Text Box 97"/>
            <p:cNvSpPr txBox="1">
              <a:spLocks noChangeArrowheads="1"/>
            </p:cNvSpPr>
            <p:nvPr/>
          </p:nvSpPr>
          <p:spPr bwMode="auto">
            <a:xfrm>
              <a:off x="1380" y="1017"/>
              <a:ext cx="31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7,u</a:t>
              </a:r>
            </a:p>
          </p:txBody>
        </p:sp>
        <p:sp>
          <p:nvSpPr>
            <p:cNvPr id="127039" name="Text Box 98"/>
            <p:cNvSpPr txBox="1">
              <a:spLocks noChangeArrowheads="1"/>
            </p:cNvSpPr>
            <p:nvPr/>
          </p:nvSpPr>
          <p:spPr bwMode="auto">
            <a:xfrm>
              <a:off x="1787" y="1015"/>
              <a:ext cx="31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3,u</a:t>
              </a:r>
            </a:p>
          </p:txBody>
        </p:sp>
        <p:sp>
          <p:nvSpPr>
            <p:cNvPr id="127040" name="Text Box 99"/>
            <p:cNvSpPr txBox="1">
              <a:spLocks noChangeArrowheads="1"/>
            </p:cNvSpPr>
            <p:nvPr/>
          </p:nvSpPr>
          <p:spPr bwMode="auto">
            <a:xfrm>
              <a:off x="2190" y="1016"/>
              <a:ext cx="31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5,u</a:t>
              </a:r>
            </a:p>
          </p:txBody>
        </p:sp>
      </p:grpSp>
      <p:sp>
        <p:nvSpPr>
          <p:cNvPr id="717924" name="Text Box 100"/>
          <p:cNvSpPr txBox="1">
            <a:spLocks noChangeArrowheads="1"/>
          </p:cNvSpPr>
          <p:nvPr/>
        </p:nvSpPr>
        <p:spPr bwMode="auto">
          <a:xfrm>
            <a:off x="1346200" y="1905000"/>
            <a:ext cx="4762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uw</a:t>
            </a:r>
          </a:p>
        </p:txBody>
      </p:sp>
      <p:grpSp>
        <p:nvGrpSpPr>
          <p:cNvPr id="10" name="Group 101"/>
          <p:cNvGrpSpPr/>
          <p:nvPr/>
        </p:nvGrpSpPr>
        <p:grpSpPr bwMode="auto">
          <a:xfrm>
            <a:off x="2163763" y="1916113"/>
            <a:ext cx="3122612" cy="371475"/>
            <a:chOff x="1356" y="1014"/>
            <a:chExt cx="1967" cy="234"/>
          </a:xfrm>
        </p:grpSpPr>
        <p:sp>
          <p:nvSpPr>
            <p:cNvPr id="127031" name="Text Box 102"/>
            <p:cNvSpPr txBox="1">
              <a:spLocks noChangeArrowheads="1"/>
            </p:cNvSpPr>
            <p:nvPr/>
          </p:nvSpPr>
          <p:spPr bwMode="auto">
            <a:xfrm>
              <a:off x="3043" y="1014"/>
              <a:ext cx="280"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latin typeface="Comic Sans MS" panose="030F0902030302020204" pitchFamily="66" charset="0"/>
                </a:rPr>
                <a:t>∞ </a:t>
              </a:r>
              <a:endParaRPr lang="en-US" sz="2000"/>
            </a:p>
          </p:txBody>
        </p:sp>
        <p:sp>
          <p:nvSpPr>
            <p:cNvPr id="127032" name="Text Box 103"/>
            <p:cNvSpPr txBox="1">
              <a:spLocks noChangeArrowheads="1"/>
            </p:cNvSpPr>
            <p:nvPr/>
          </p:nvSpPr>
          <p:spPr bwMode="auto">
            <a:xfrm>
              <a:off x="2482" y="1014"/>
              <a:ext cx="445"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600"/>
                <a:t>11</a:t>
              </a:r>
              <a:r>
                <a:rPr lang="en-US" sz="1800"/>
                <a:t>,w</a:t>
              </a:r>
              <a:r>
                <a:rPr lang="en-US" sz="1800">
                  <a:latin typeface="Comic Sans MS" panose="030F0902030302020204" pitchFamily="66" charset="0"/>
                </a:rPr>
                <a:t> </a:t>
              </a:r>
              <a:endParaRPr lang="en-US" sz="2000"/>
            </a:p>
          </p:txBody>
        </p:sp>
        <p:sp>
          <p:nvSpPr>
            <p:cNvPr id="127033" name="Text Box 104"/>
            <p:cNvSpPr txBox="1">
              <a:spLocks noChangeArrowheads="1"/>
            </p:cNvSpPr>
            <p:nvPr/>
          </p:nvSpPr>
          <p:spPr bwMode="auto">
            <a:xfrm>
              <a:off x="1356" y="1017"/>
              <a:ext cx="340"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6,w</a:t>
              </a:r>
            </a:p>
          </p:txBody>
        </p:sp>
        <p:sp>
          <p:nvSpPr>
            <p:cNvPr id="127034" name="Text Box 105"/>
            <p:cNvSpPr txBox="1">
              <a:spLocks noChangeArrowheads="1"/>
            </p:cNvSpPr>
            <p:nvPr/>
          </p:nvSpPr>
          <p:spPr bwMode="auto">
            <a:xfrm>
              <a:off x="1987" y="1015"/>
              <a:ext cx="11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endParaRPr lang="en-US" sz="1800"/>
            </a:p>
          </p:txBody>
        </p:sp>
        <p:sp>
          <p:nvSpPr>
            <p:cNvPr id="127035" name="Text Box 106"/>
            <p:cNvSpPr txBox="1">
              <a:spLocks noChangeArrowheads="1"/>
            </p:cNvSpPr>
            <p:nvPr/>
          </p:nvSpPr>
          <p:spPr bwMode="auto">
            <a:xfrm>
              <a:off x="2190" y="1016"/>
              <a:ext cx="31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5,u</a:t>
              </a:r>
            </a:p>
          </p:txBody>
        </p:sp>
      </p:grpSp>
      <p:grpSp>
        <p:nvGrpSpPr>
          <p:cNvPr id="11" name="Group 107"/>
          <p:cNvGrpSpPr/>
          <p:nvPr/>
        </p:nvGrpSpPr>
        <p:grpSpPr bwMode="auto">
          <a:xfrm>
            <a:off x="2162175" y="2214563"/>
            <a:ext cx="3122613" cy="376237"/>
            <a:chOff x="1356" y="1011"/>
            <a:chExt cx="1967" cy="237"/>
          </a:xfrm>
        </p:grpSpPr>
        <p:sp>
          <p:nvSpPr>
            <p:cNvPr id="127026" name="Text Box 108"/>
            <p:cNvSpPr txBox="1">
              <a:spLocks noChangeArrowheads="1"/>
            </p:cNvSpPr>
            <p:nvPr/>
          </p:nvSpPr>
          <p:spPr bwMode="auto">
            <a:xfrm>
              <a:off x="2913" y="1011"/>
              <a:ext cx="410"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600"/>
                <a:t>14</a:t>
              </a:r>
              <a:r>
                <a:rPr lang="en-US" sz="1800"/>
                <a:t>,x </a:t>
              </a:r>
            </a:p>
          </p:txBody>
        </p:sp>
        <p:sp>
          <p:nvSpPr>
            <p:cNvPr id="127027" name="Text Box 109"/>
            <p:cNvSpPr txBox="1">
              <a:spLocks noChangeArrowheads="1"/>
            </p:cNvSpPr>
            <p:nvPr/>
          </p:nvSpPr>
          <p:spPr bwMode="auto">
            <a:xfrm>
              <a:off x="2489" y="1011"/>
              <a:ext cx="438"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600"/>
                <a:t>11,</a:t>
              </a:r>
              <a:r>
                <a:rPr lang="en-US" sz="1800"/>
                <a:t>w </a:t>
              </a:r>
              <a:endParaRPr lang="en-US" sz="2000"/>
            </a:p>
          </p:txBody>
        </p:sp>
        <p:sp>
          <p:nvSpPr>
            <p:cNvPr id="127028" name="Text Box 110"/>
            <p:cNvSpPr txBox="1">
              <a:spLocks noChangeArrowheads="1"/>
            </p:cNvSpPr>
            <p:nvPr/>
          </p:nvSpPr>
          <p:spPr bwMode="auto">
            <a:xfrm>
              <a:off x="1356" y="1017"/>
              <a:ext cx="340"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6,w</a:t>
              </a:r>
            </a:p>
          </p:txBody>
        </p:sp>
        <p:sp>
          <p:nvSpPr>
            <p:cNvPr id="127029" name="Text Box 111"/>
            <p:cNvSpPr txBox="1">
              <a:spLocks noChangeArrowheads="1"/>
            </p:cNvSpPr>
            <p:nvPr/>
          </p:nvSpPr>
          <p:spPr bwMode="auto">
            <a:xfrm>
              <a:off x="1987" y="1015"/>
              <a:ext cx="11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endParaRPr lang="en-US" sz="1800"/>
            </a:p>
          </p:txBody>
        </p:sp>
        <p:sp>
          <p:nvSpPr>
            <p:cNvPr id="127030" name="Text Box 112"/>
            <p:cNvSpPr txBox="1">
              <a:spLocks noChangeArrowheads="1"/>
            </p:cNvSpPr>
            <p:nvPr/>
          </p:nvSpPr>
          <p:spPr bwMode="auto">
            <a:xfrm>
              <a:off x="2390" y="1016"/>
              <a:ext cx="11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endParaRPr lang="en-US" sz="1800"/>
            </a:p>
          </p:txBody>
        </p:sp>
      </p:grpSp>
      <p:sp>
        <p:nvSpPr>
          <p:cNvPr id="717937" name="Oval 113"/>
          <p:cNvSpPr>
            <a:spLocks noChangeArrowheads="1"/>
          </p:cNvSpPr>
          <p:nvPr/>
        </p:nvSpPr>
        <p:spPr bwMode="auto">
          <a:xfrm>
            <a:off x="2828925" y="1666875"/>
            <a:ext cx="528638" cy="276225"/>
          </a:xfrm>
          <a:prstGeom prst="ellipse">
            <a:avLst/>
          </a:prstGeom>
          <a:noFill/>
          <a:ln w="19050">
            <a:solidFill>
              <a:srgbClr val="FF0000"/>
            </a:solidFill>
            <a:round/>
          </a:ln>
        </p:spPr>
        <p:txBody>
          <a:bodyPr wrap="none" anchor="ctr"/>
          <a:lstStyle/>
          <a:p>
            <a:pPr algn="ctr"/>
            <a:endParaRPr lang="en-US">
              <a:latin typeface="Comic Sans MS" panose="030F0902030302020204" pitchFamily="66" charset="0"/>
            </a:endParaRPr>
          </a:p>
        </p:txBody>
      </p:sp>
      <p:sp>
        <p:nvSpPr>
          <p:cNvPr id="717938" name="Oval 114"/>
          <p:cNvSpPr>
            <a:spLocks noChangeArrowheads="1"/>
          </p:cNvSpPr>
          <p:nvPr/>
        </p:nvSpPr>
        <p:spPr bwMode="auto">
          <a:xfrm>
            <a:off x="3482975" y="1952625"/>
            <a:ext cx="528638" cy="276225"/>
          </a:xfrm>
          <a:prstGeom prst="ellipse">
            <a:avLst/>
          </a:prstGeom>
          <a:noFill/>
          <a:ln w="19050">
            <a:solidFill>
              <a:srgbClr val="FF0000"/>
            </a:solidFill>
            <a:round/>
          </a:ln>
        </p:spPr>
        <p:txBody>
          <a:bodyPr wrap="none" anchor="ctr"/>
          <a:lstStyle/>
          <a:p>
            <a:pPr algn="ctr"/>
            <a:endParaRPr lang="en-US">
              <a:latin typeface="Comic Sans MS" panose="030F0902030302020204" pitchFamily="66" charset="0"/>
            </a:endParaRPr>
          </a:p>
        </p:txBody>
      </p:sp>
      <p:sp>
        <p:nvSpPr>
          <p:cNvPr id="717939" name="Text Box 115"/>
          <p:cNvSpPr txBox="1">
            <a:spLocks noChangeArrowheads="1"/>
          </p:cNvSpPr>
          <p:nvPr/>
        </p:nvSpPr>
        <p:spPr bwMode="auto">
          <a:xfrm>
            <a:off x="1239838" y="2214563"/>
            <a:ext cx="5905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uwx</a:t>
            </a:r>
          </a:p>
        </p:txBody>
      </p:sp>
      <p:sp>
        <p:nvSpPr>
          <p:cNvPr id="717940" name="Oval 116"/>
          <p:cNvSpPr>
            <a:spLocks noChangeArrowheads="1"/>
          </p:cNvSpPr>
          <p:nvPr/>
        </p:nvSpPr>
        <p:spPr bwMode="auto">
          <a:xfrm>
            <a:off x="2174875" y="2271713"/>
            <a:ext cx="528638" cy="276225"/>
          </a:xfrm>
          <a:prstGeom prst="ellipse">
            <a:avLst/>
          </a:prstGeom>
          <a:noFill/>
          <a:ln w="19050">
            <a:solidFill>
              <a:srgbClr val="FF0000"/>
            </a:solidFill>
            <a:round/>
          </a:ln>
        </p:spPr>
        <p:txBody>
          <a:bodyPr wrap="none" anchor="ctr"/>
          <a:lstStyle/>
          <a:p>
            <a:pPr algn="ctr"/>
            <a:endParaRPr lang="en-US">
              <a:latin typeface="Comic Sans MS" panose="030F0902030302020204" pitchFamily="66" charset="0"/>
            </a:endParaRPr>
          </a:p>
        </p:txBody>
      </p:sp>
      <p:sp>
        <p:nvSpPr>
          <p:cNvPr id="717941" name="Text Box 117"/>
          <p:cNvSpPr txBox="1">
            <a:spLocks noChangeArrowheads="1"/>
          </p:cNvSpPr>
          <p:nvPr/>
        </p:nvSpPr>
        <p:spPr bwMode="auto">
          <a:xfrm>
            <a:off x="1144588" y="2500313"/>
            <a:ext cx="7048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uwxv</a:t>
            </a:r>
          </a:p>
        </p:txBody>
      </p:sp>
      <p:grpSp>
        <p:nvGrpSpPr>
          <p:cNvPr id="12" name="Group 118"/>
          <p:cNvGrpSpPr/>
          <p:nvPr/>
        </p:nvGrpSpPr>
        <p:grpSpPr bwMode="auto">
          <a:xfrm>
            <a:off x="4008438" y="2511425"/>
            <a:ext cx="1273175" cy="366713"/>
            <a:chOff x="1492" y="2777"/>
            <a:chExt cx="802" cy="231"/>
          </a:xfrm>
        </p:grpSpPr>
        <p:sp>
          <p:nvSpPr>
            <p:cNvPr id="127024" name="Text Box 119"/>
            <p:cNvSpPr txBox="1">
              <a:spLocks noChangeArrowheads="1"/>
            </p:cNvSpPr>
            <p:nvPr/>
          </p:nvSpPr>
          <p:spPr bwMode="auto">
            <a:xfrm>
              <a:off x="1884" y="2777"/>
              <a:ext cx="410"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600"/>
                <a:t>14</a:t>
              </a:r>
              <a:r>
                <a:rPr lang="en-US" sz="1800"/>
                <a:t>,x </a:t>
              </a:r>
            </a:p>
          </p:txBody>
        </p:sp>
        <p:sp>
          <p:nvSpPr>
            <p:cNvPr id="127025" name="Text Box 120"/>
            <p:cNvSpPr txBox="1">
              <a:spLocks noChangeArrowheads="1"/>
            </p:cNvSpPr>
            <p:nvPr/>
          </p:nvSpPr>
          <p:spPr bwMode="auto">
            <a:xfrm>
              <a:off x="1492" y="2777"/>
              <a:ext cx="40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600"/>
                <a:t>10,</a:t>
              </a:r>
              <a:r>
                <a:rPr lang="en-US" sz="1800"/>
                <a:t>v </a:t>
              </a:r>
              <a:endParaRPr lang="en-US" sz="2000"/>
            </a:p>
          </p:txBody>
        </p:sp>
      </p:grpSp>
      <p:sp>
        <p:nvSpPr>
          <p:cNvPr id="717945" name="Oval 121"/>
          <p:cNvSpPr>
            <a:spLocks noChangeArrowheads="1"/>
          </p:cNvSpPr>
          <p:nvPr/>
        </p:nvSpPr>
        <p:spPr bwMode="auto">
          <a:xfrm>
            <a:off x="4011613" y="2570163"/>
            <a:ext cx="528637" cy="276225"/>
          </a:xfrm>
          <a:prstGeom prst="ellipse">
            <a:avLst/>
          </a:prstGeom>
          <a:noFill/>
          <a:ln w="19050">
            <a:solidFill>
              <a:srgbClr val="FF0000"/>
            </a:solidFill>
            <a:round/>
          </a:ln>
        </p:spPr>
        <p:txBody>
          <a:bodyPr wrap="none" anchor="ctr"/>
          <a:lstStyle/>
          <a:p>
            <a:pPr algn="ctr"/>
            <a:endParaRPr lang="en-US">
              <a:latin typeface="Comic Sans MS" panose="030F0902030302020204" pitchFamily="66" charset="0"/>
            </a:endParaRPr>
          </a:p>
        </p:txBody>
      </p:sp>
      <p:sp>
        <p:nvSpPr>
          <p:cNvPr id="717946" name="Text Box 122"/>
          <p:cNvSpPr txBox="1">
            <a:spLocks noChangeArrowheads="1"/>
          </p:cNvSpPr>
          <p:nvPr/>
        </p:nvSpPr>
        <p:spPr bwMode="auto">
          <a:xfrm>
            <a:off x="1060450" y="2819400"/>
            <a:ext cx="8191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uwxvy</a:t>
            </a:r>
          </a:p>
        </p:txBody>
      </p:sp>
      <p:sp>
        <p:nvSpPr>
          <p:cNvPr id="717947" name="Text Box 123"/>
          <p:cNvSpPr txBox="1">
            <a:spLocks noChangeArrowheads="1"/>
          </p:cNvSpPr>
          <p:nvPr/>
        </p:nvSpPr>
        <p:spPr bwMode="auto">
          <a:xfrm>
            <a:off x="4638675" y="2830513"/>
            <a:ext cx="650875"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600"/>
              <a:t>12</a:t>
            </a:r>
            <a:r>
              <a:rPr lang="en-US" sz="1800"/>
              <a:t>,y </a:t>
            </a:r>
          </a:p>
        </p:txBody>
      </p:sp>
      <p:sp>
        <p:nvSpPr>
          <p:cNvPr id="717948" name="Oval 124"/>
          <p:cNvSpPr>
            <a:spLocks noChangeArrowheads="1"/>
          </p:cNvSpPr>
          <p:nvPr/>
        </p:nvSpPr>
        <p:spPr bwMode="auto">
          <a:xfrm>
            <a:off x="4676775" y="2887663"/>
            <a:ext cx="528638" cy="276225"/>
          </a:xfrm>
          <a:prstGeom prst="ellipse">
            <a:avLst/>
          </a:prstGeom>
          <a:noFill/>
          <a:ln w="19050">
            <a:solidFill>
              <a:srgbClr val="FF0000"/>
            </a:solidFill>
            <a:round/>
          </a:ln>
        </p:spPr>
        <p:txBody>
          <a:bodyPr wrap="none" anchor="ctr"/>
          <a:lstStyle/>
          <a:p>
            <a:pPr algn="ctr"/>
            <a:endParaRPr lang="en-US">
              <a:latin typeface="Comic Sans MS" panose="030F0902030302020204" pitchFamily="66" charset="0"/>
            </a:endParaRPr>
          </a:p>
        </p:txBody>
      </p:sp>
      <p:sp>
        <p:nvSpPr>
          <p:cNvPr id="717949" name="Rectangle 125"/>
          <p:cNvSpPr>
            <a:spLocks noChangeArrowheads="1"/>
          </p:cNvSpPr>
          <p:nvPr/>
        </p:nvSpPr>
        <p:spPr bwMode="auto">
          <a:xfrm>
            <a:off x="538163" y="3775075"/>
            <a:ext cx="3810000" cy="2397125"/>
          </a:xfrm>
          <a:prstGeom prst="rect">
            <a:avLst/>
          </a:prstGeom>
          <a:noFill/>
          <a:ln>
            <a:noFill/>
          </a:ln>
        </p:spPr>
        <p:txBody>
          <a:bodyPr/>
          <a:lstStyle/>
          <a:p>
            <a:pPr marL="342900" indent="-342900">
              <a:lnSpc>
                <a:spcPct val="85000"/>
              </a:lnSpc>
              <a:spcBef>
                <a:spcPct val="20000"/>
              </a:spcBef>
              <a:buClr>
                <a:srgbClr val="000099"/>
              </a:buClr>
              <a:buSzPct val="65000"/>
              <a:buFont typeface="Wingdings" panose="05000000000000000000" charset="0"/>
              <a:buNone/>
            </a:pPr>
            <a:r>
              <a:rPr lang="en-US" sz="2800" i="1">
                <a:solidFill>
                  <a:srgbClr val="CC0000"/>
                </a:solidFill>
                <a:latin typeface="Gill Sans MT" pitchFamily="34" charset="0"/>
              </a:rPr>
              <a:t>notes:</a:t>
            </a:r>
          </a:p>
          <a:p>
            <a:pPr marL="342900" indent="-342900">
              <a:lnSpc>
                <a:spcPct val="85000"/>
              </a:lnSpc>
              <a:spcBef>
                <a:spcPct val="20000"/>
              </a:spcBef>
              <a:buClr>
                <a:srgbClr val="000099"/>
              </a:buClr>
              <a:buSzPct val="65000"/>
              <a:buFont typeface="Wingdings" panose="05000000000000000000" charset="0"/>
              <a:buChar char="v"/>
            </a:pPr>
            <a:r>
              <a:rPr lang="en-US" sz="2000">
                <a:latin typeface="Gill Sans MT" pitchFamily="34" charset="0"/>
              </a:rPr>
              <a:t>construct shortest path tree by tracing predecessor nodes</a:t>
            </a:r>
          </a:p>
          <a:p>
            <a:pPr marL="342900" indent="-342900">
              <a:lnSpc>
                <a:spcPct val="85000"/>
              </a:lnSpc>
              <a:spcBef>
                <a:spcPct val="20000"/>
              </a:spcBef>
              <a:buClr>
                <a:srgbClr val="000099"/>
              </a:buClr>
              <a:buSzPct val="65000"/>
              <a:buFont typeface="Wingdings" panose="05000000000000000000" charset="0"/>
              <a:buChar char="v"/>
            </a:pPr>
            <a:r>
              <a:rPr lang="en-US" sz="2000">
                <a:latin typeface="Gill Sans MT" pitchFamily="34" charset="0"/>
              </a:rPr>
              <a:t>ties can exist (can be broken arbitrarily)</a:t>
            </a:r>
          </a:p>
        </p:txBody>
      </p:sp>
      <p:sp>
        <p:nvSpPr>
          <p:cNvPr id="717950" name="Line 126"/>
          <p:cNvSpPr>
            <a:spLocks noChangeShapeType="1"/>
          </p:cNvSpPr>
          <p:nvPr/>
        </p:nvSpPr>
        <p:spPr bwMode="auto">
          <a:xfrm>
            <a:off x="7874000" y="4995863"/>
            <a:ext cx="590550" cy="0"/>
          </a:xfrm>
          <a:prstGeom prst="line">
            <a:avLst/>
          </a:prstGeom>
          <a:noFill/>
          <a:ln w="38100">
            <a:solidFill>
              <a:srgbClr val="FF0000"/>
            </a:solidFill>
            <a:round/>
            <a:tailEnd type="triangle" w="med" len="med"/>
          </a:ln>
        </p:spPr>
        <p:txBody>
          <a:bodyPr wrap="none"/>
          <a:lstStyle/>
          <a:p>
            <a:endParaRPr lang="en-US"/>
          </a:p>
        </p:txBody>
      </p:sp>
      <p:sp>
        <p:nvSpPr>
          <p:cNvPr id="717951" name="Line 127"/>
          <p:cNvSpPr>
            <a:spLocks noChangeShapeType="1"/>
          </p:cNvSpPr>
          <p:nvPr/>
        </p:nvSpPr>
        <p:spPr bwMode="auto">
          <a:xfrm flipV="1">
            <a:off x="6124575" y="4995863"/>
            <a:ext cx="1463675" cy="1204912"/>
          </a:xfrm>
          <a:prstGeom prst="line">
            <a:avLst/>
          </a:prstGeom>
          <a:noFill/>
          <a:ln w="38100">
            <a:solidFill>
              <a:srgbClr val="FF0000"/>
            </a:solidFill>
            <a:round/>
            <a:tailEnd type="triangle" w="med" len="med"/>
          </a:ln>
        </p:spPr>
        <p:txBody>
          <a:bodyPr wrap="none"/>
          <a:lstStyle/>
          <a:p>
            <a:endParaRPr lang="en-US"/>
          </a:p>
        </p:txBody>
      </p:sp>
      <p:sp>
        <p:nvSpPr>
          <p:cNvPr id="717952" name="Line 128"/>
          <p:cNvSpPr>
            <a:spLocks noChangeShapeType="1"/>
          </p:cNvSpPr>
          <p:nvPr/>
        </p:nvSpPr>
        <p:spPr bwMode="auto">
          <a:xfrm>
            <a:off x="6115050" y="5110163"/>
            <a:ext cx="9525" cy="1047750"/>
          </a:xfrm>
          <a:prstGeom prst="line">
            <a:avLst/>
          </a:prstGeom>
          <a:noFill/>
          <a:ln w="38100">
            <a:solidFill>
              <a:srgbClr val="FF0000"/>
            </a:solidFill>
            <a:round/>
            <a:tailEnd type="triangle" w="med" len="med"/>
          </a:ln>
        </p:spPr>
        <p:txBody>
          <a:bodyPr wrap="none"/>
          <a:lstStyle/>
          <a:p>
            <a:endParaRPr lang="en-US"/>
          </a:p>
        </p:txBody>
      </p:sp>
      <p:sp>
        <p:nvSpPr>
          <p:cNvPr id="717953" name="Line 129"/>
          <p:cNvSpPr>
            <a:spLocks noChangeShapeType="1"/>
          </p:cNvSpPr>
          <p:nvPr/>
        </p:nvSpPr>
        <p:spPr bwMode="auto">
          <a:xfrm flipV="1">
            <a:off x="4906963" y="3252788"/>
            <a:ext cx="1012825" cy="1628775"/>
          </a:xfrm>
          <a:prstGeom prst="line">
            <a:avLst/>
          </a:prstGeom>
          <a:noFill/>
          <a:ln w="38100">
            <a:solidFill>
              <a:srgbClr val="FF0000"/>
            </a:solidFill>
            <a:round/>
            <a:tailEnd type="triangle" w="med" len="med"/>
          </a:ln>
        </p:spPr>
        <p:txBody>
          <a:bodyPr wrap="none"/>
          <a:lstStyle/>
          <a:p>
            <a:endParaRPr lang="en-US"/>
          </a:p>
        </p:txBody>
      </p:sp>
      <p:sp>
        <p:nvSpPr>
          <p:cNvPr id="717954" name="Line 130"/>
          <p:cNvSpPr>
            <a:spLocks noChangeShapeType="1"/>
          </p:cNvSpPr>
          <p:nvPr/>
        </p:nvSpPr>
        <p:spPr bwMode="auto">
          <a:xfrm flipV="1">
            <a:off x="5008563" y="4999038"/>
            <a:ext cx="944562" cy="0"/>
          </a:xfrm>
          <a:prstGeom prst="line">
            <a:avLst/>
          </a:prstGeom>
          <a:noFill/>
          <a:ln w="38100">
            <a:solidFill>
              <a:srgbClr val="FF0000"/>
            </a:solidFill>
            <a:round/>
            <a:tailEnd type="triangle" w="med" len="med"/>
          </a:ln>
        </p:spPr>
        <p:txBody>
          <a:bodyPr wrap="none"/>
          <a:lstStyle/>
          <a:p>
            <a:endParaRPr lang="en-US"/>
          </a:p>
        </p:txBody>
      </p:sp>
      <p:sp>
        <p:nvSpPr>
          <p:cNvPr id="717955" name="Text Box 131"/>
          <p:cNvSpPr txBox="1">
            <a:spLocks noChangeArrowheads="1"/>
          </p:cNvSpPr>
          <p:nvPr/>
        </p:nvSpPr>
        <p:spPr bwMode="auto">
          <a:xfrm>
            <a:off x="931863" y="3117850"/>
            <a:ext cx="9334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800"/>
              <a:t>uwxvyz</a:t>
            </a:r>
          </a:p>
        </p:txBody>
      </p:sp>
      <p:sp>
        <p:nvSpPr>
          <p:cNvPr id="135"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28</a:t>
            </a:fld>
            <a:endParaRPr lang="en-US" sz="1200" dirty="0">
              <a:latin typeface="Tahoma" panose="020B0604030504040204" charset="0"/>
            </a:endParaRPr>
          </a:p>
        </p:txBody>
      </p:sp>
      <p:sp>
        <p:nvSpPr>
          <p:cNvPr id="136"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grpSp>
        <p:nvGrpSpPr>
          <p:cNvPr id="2" name="组合 1"/>
          <p:cNvGrpSpPr/>
          <p:nvPr/>
        </p:nvGrpSpPr>
        <p:grpSpPr>
          <a:xfrm>
            <a:off x="4616279" y="3049590"/>
            <a:ext cx="4217987" cy="3364357"/>
            <a:chOff x="4738716" y="2157413"/>
            <a:chExt cx="4217987" cy="3364357"/>
          </a:xfrm>
        </p:grpSpPr>
        <p:grpSp>
          <p:nvGrpSpPr>
            <p:cNvPr id="3" name="Group 3"/>
            <p:cNvGrpSpPr/>
            <p:nvPr/>
          </p:nvGrpSpPr>
          <p:grpSpPr bwMode="auto">
            <a:xfrm>
              <a:off x="6007011" y="3857471"/>
              <a:ext cx="458036" cy="397823"/>
              <a:chOff x="1613" y="2011"/>
              <a:chExt cx="316" cy="267"/>
            </a:xfrm>
          </p:grpSpPr>
          <p:sp>
            <p:nvSpPr>
              <p:cNvPr id="132" name="Oval 4"/>
              <p:cNvSpPr>
                <a:spLocks noChangeArrowheads="1"/>
              </p:cNvSpPr>
              <p:nvPr/>
            </p:nvSpPr>
            <p:spPr bwMode="auto">
              <a:xfrm>
                <a:off x="1616" y="2138"/>
                <a:ext cx="311" cy="81"/>
              </a:xfrm>
              <a:prstGeom prst="ellipse">
                <a:avLst/>
              </a:prstGeom>
              <a:solidFill>
                <a:schemeClr val="hlink"/>
              </a:solidFill>
              <a:ln w="12700">
                <a:solidFill>
                  <a:schemeClr val="tx1"/>
                </a:solidFill>
                <a:round/>
              </a:ln>
            </p:spPr>
            <p:txBody>
              <a:bodyPr wrap="none" anchor="ctr"/>
              <a:lstStyle/>
              <a:p>
                <a:endParaRPr lang="en-US"/>
              </a:p>
            </p:txBody>
          </p:sp>
          <p:sp>
            <p:nvSpPr>
              <p:cNvPr id="133" name="Line 5"/>
              <p:cNvSpPr>
                <a:spLocks noChangeShapeType="1"/>
              </p:cNvSpPr>
              <p:nvPr/>
            </p:nvSpPr>
            <p:spPr bwMode="auto">
              <a:xfrm>
                <a:off x="1616" y="2129"/>
                <a:ext cx="0" cy="50"/>
              </a:xfrm>
              <a:prstGeom prst="line">
                <a:avLst/>
              </a:prstGeom>
              <a:noFill/>
              <a:ln w="12700">
                <a:solidFill>
                  <a:schemeClr val="tx1"/>
                </a:solidFill>
                <a:round/>
              </a:ln>
            </p:spPr>
            <p:txBody>
              <a:bodyPr wrap="none" anchor="ctr"/>
              <a:lstStyle/>
              <a:p>
                <a:endParaRPr lang="en-US"/>
              </a:p>
            </p:txBody>
          </p:sp>
          <p:sp>
            <p:nvSpPr>
              <p:cNvPr id="134" name="Line 6"/>
              <p:cNvSpPr>
                <a:spLocks noChangeShapeType="1"/>
              </p:cNvSpPr>
              <p:nvPr/>
            </p:nvSpPr>
            <p:spPr bwMode="auto">
              <a:xfrm>
                <a:off x="1929" y="2129"/>
                <a:ext cx="0" cy="50"/>
              </a:xfrm>
              <a:prstGeom prst="line">
                <a:avLst/>
              </a:prstGeom>
              <a:noFill/>
              <a:ln w="12700">
                <a:solidFill>
                  <a:schemeClr val="tx1"/>
                </a:solidFill>
                <a:round/>
              </a:ln>
            </p:spPr>
            <p:txBody>
              <a:bodyPr wrap="none" anchor="ctr"/>
              <a:lstStyle/>
              <a:p>
                <a:endParaRPr lang="en-US"/>
              </a:p>
            </p:txBody>
          </p:sp>
          <p:sp>
            <p:nvSpPr>
              <p:cNvPr id="137" name="Rectangle 7"/>
              <p:cNvSpPr>
                <a:spLocks noChangeArrowheads="1"/>
              </p:cNvSpPr>
              <p:nvPr/>
            </p:nvSpPr>
            <p:spPr bwMode="auto">
              <a:xfrm>
                <a:off x="1616" y="2129"/>
                <a:ext cx="308" cy="49"/>
              </a:xfrm>
              <a:prstGeom prst="rect">
                <a:avLst/>
              </a:prstGeom>
              <a:solidFill>
                <a:schemeClr val="hlink"/>
              </a:solidFill>
              <a:ln>
                <a:noFill/>
              </a:ln>
            </p:spPr>
            <p:txBody>
              <a:bodyPr wrap="none" anchor="ctr"/>
              <a:lstStyle/>
              <a:p>
                <a:pPr algn="ctr"/>
                <a:endParaRPr lang="en-US" sz="2400"/>
              </a:p>
            </p:txBody>
          </p:sp>
          <p:sp>
            <p:nvSpPr>
              <p:cNvPr id="138" name="Oval 8"/>
              <p:cNvSpPr>
                <a:spLocks noChangeArrowheads="1"/>
              </p:cNvSpPr>
              <p:nvPr/>
            </p:nvSpPr>
            <p:spPr bwMode="auto">
              <a:xfrm>
                <a:off x="1613" y="2072"/>
                <a:ext cx="311" cy="95"/>
              </a:xfrm>
              <a:prstGeom prst="ellipse">
                <a:avLst/>
              </a:prstGeom>
              <a:solidFill>
                <a:schemeClr val="hlink"/>
              </a:solidFill>
              <a:ln w="12700">
                <a:solidFill>
                  <a:schemeClr val="tx1"/>
                </a:solidFill>
                <a:round/>
              </a:ln>
            </p:spPr>
            <p:txBody>
              <a:bodyPr wrap="none" anchor="ctr"/>
              <a:lstStyle/>
              <a:p>
                <a:endParaRPr lang="en-US"/>
              </a:p>
            </p:txBody>
          </p:sp>
          <p:sp>
            <p:nvSpPr>
              <p:cNvPr id="139" name="Rectangle 9"/>
              <p:cNvSpPr>
                <a:spLocks noChangeArrowheads="1"/>
              </p:cNvSpPr>
              <p:nvPr/>
            </p:nvSpPr>
            <p:spPr bwMode="auto">
              <a:xfrm>
                <a:off x="1686" y="2100"/>
                <a:ext cx="140" cy="105"/>
              </a:xfrm>
              <a:prstGeom prst="rect">
                <a:avLst/>
              </a:prstGeom>
              <a:solidFill>
                <a:schemeClr val="hlink"/>
              </a:solidFill>
              <a:ln>
                <a:noFill/>
              </a:ln>
            </p:spPr>
            <p:txBody>
              <a:bodyPr wrap="none" anchor="ctr"/>
              <a:lstStyle/>
              <a:p>
                <a:endParaRPr lang="en-US"/>
              </a:p>
            </p:txBody>
          </p:sp>
          <p:sp>
            <p:nvSpPr>
              <p:cNvPr id="140" name="Text Box 10"/>
              <p:cNvSpPr txBox="1">
                <a:spLocks noChangeArrowheads="1"/>
              </p:cNvSpPr>
              <p:nvPr/>
            </p:nvSpPr>
            <p:spPr bwMode="auto">
              <a:xfrm>
                <a:off x="1633" y="2011"/>
                <a:ext cx="254" cy="26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w</a:t>
                </a:r>
                <a:endParaRPr lang="en-US"/>
              </a:p>
            </p:txBody>
          </p:sp>
        </p:grpSp>
        <p:sp>
          <p:nvSpPr>
            <p:cNvPr id="4" name="Text Box 11"/>
            <p:cNvSpPr txBox="1">
              <a:spLocks noChangeArrowheads="1"/>
            </p:cNvSpPr>
            <p:nvPr/>
          </p:nvSpPr>
          <p:spPr bwMode="auto">
            <a:xfrm>
              <a:off x="5477951" y="3800852"/>
              <a:ext cx="31163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5" name="Text Box 12"/>
            <p:cNvSpPr txBox="1">
              <a:spLocks noChangeArrowheads="1"/>
            </p:cNvSpPr>
            <p:nvPr/>
          </p:nvSpPr>
          <p:spPr bwMode="auto">
            <a:xfrm>
              <a:off x="6209938" y="3084176"/>
              <a:ext cx="31163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4</a:t>
              </a:r>
              <a:endParaRPr lang="en-US"/>
            </a:p>
          </p:txBody>
        </p:sp>
        <p:grpSp>
          <p:nvGrpSpPr>
            <p:cNvPr id="6" name="Group 13"/>
            <p:cNvGrpSpPr/>
            <p:nvPr/>
          </p:nvGrpSpPr>
          <p:grpSpPr bwMode="auto">
            <a:xfrm>
              <a:off x="6020056" y="5125437"/>
              <a:ext cx="458036" cy="396333"/>
              <a:chOff x="1613" y="2011"/>
              <a:chExt cx="316" cy="266"/>
            </a:xfrm>
          </p:grpSpPr>
          <p:sp>
            <p:nvSpPr>
              <p:cNvPr id="61" name="Oval 14"/>
              <p:cNvSpPr>
                <a:spLocks noChangeArrowheads="1"/>
              </p:cNvSpPr>
              <p:nvPr/>
            </p:nvSpPr>
            <p:spPr bwMode="auto">
              <a:xfrm>
                <a:off x="1616" y="2138"/>
                <a:ext cx="313" cy="81"/>
              </a:xfrm>
              <a:prstGeom prst="ellipse">
                <a:avLst/>
              </a:prstGeom>
              <a:solidFill>
                <a:schemeClr val="hlink"/>
              </a:solidFill>
              <a:ln w="12700">
                <a:solidFill>
                  <a:schemeClr val="tx1"/>
                </a:solidFill>
                <a:round/>
              </a:ln>
            </p:spPr>
            <p:txBody>
              <a:bodyPr wrap="none" anchor="ctr"/>
              <a:lstStyle/>
              <a:p>
                <a:endParaRPr lang="en-US"/>
              </a:p>
            </p:txBody>
          </p:sp>
          <p:sp>
            <p:nvSpPr>
              <p:cNvPr id="62" name="Line 15"/>
              <p:cNvSpPr>
                <a:spLocks noChangeShapeType="1"/>
              </p:cNvSpPr>
              <p:nvPr/>
            </p:nvSpPr>
            <p:spPr bwMode="auto">
              <a:xfrm>
                <a:off x="1616" y="2131"/>
                <a:ext cx="0" cy="50"/>
              </a:xfrm>
              <a:prstGeom prst="line">
                <a:avLst/>
              </a:prstGeom>
              <a:noFill/>
              <a:ln w="12700">
                <a:solidFill>
                  <a:schemeClr val="tx1"/>
                </a:solidFill>
                <a:round/>
              </a:ln>
            </p:spPr>
            <p:txBody>
              <a:bodyPr wrap="none" anchor="ctr"/>
              <a:lstStyle/>
              <a:p>
                <a:endParaRPr lang="en-US"/>
              </a:p>
            </p:txBody>
          </p:sp>
          <p:sp>
            <p:nvSpPr>
              <p:cNvPr id="63" name="Line 16"/>
              <p:cNvSpPr>
                <a:spLocks noChangeShapeType="1"/>
              </p:cNvSpPr>
              <p:nvPr/>
            </p:nvSpPr>
            <p:spPr bwMode="auto">
              <a:xfrm>
                <a:off x="1929" y="2131"/>
                <a:ext cx="0" cy="50"/>
              </a:xfrm>
              <a:prstGeom prst="line">
                <a:avLst/>
              </a:prstGeom>
              <a:noFill/>
              <a:ln w="12700">
                <a:solidFill>
                  <a:schemeClr val="tx1"/>
                </a:solidFill>
                <a:round/>
              </a:ln>
            </p:spPr>
            <p:txBody>
              <a:bodyPr wrap="none" anchor="ctr"/>
              <a:lstStyle/>
              <a:p>
                <a:endParaRPr lang="en-US"/>
              </a:p>
            </p:txBody>
          </p:sp>
          <p:sp>
            <p:nvSpPr>
              <p:cNvPr id="128" name="Rectangle 17"/>
              <p:cNvSpPr>
                <a:spLocks noChangeArrowheads="1"/>
              </p:cNvSpPr>
              <p:nvPr/>
            </p:nvSpPr>
            <p:spPr bwMode="auto">
              <a:xfrm>
                <a:off x="1616" y="2131"/>
                <a:ext cx="310" cy="49"/>
              </a:xfrm>
              <a:prstGeom prst="rect">
                <a:avLst/>
              </a:prstGeom>
              <a:solidFill>
                <a:schemeClr val="hlink"/>
              </a:solidFill>
              <a:ln>
                <a:noFill/>
              </a:ln>
            </p:spPr>
            <p:txBody>
              <a:bodyPr wrap="none" anchor="ctr"/>
              <a:lstStyle/>
              <a:p>
                <a:pPr algn="ctr"/>
                <a:endParaRPr lang="en-US" sz="2400"/>
              </a:p>
            </p:txBody>
          </p:sp>
          <p:sp>
            <p:nvSpPr>
              <p:cNvPr id="129" name="Oval 18"/>
              <p:cNvSpPr>
                <a:spLocks noChangeArrowheads="1"/>
              </p:cNvSpPr>
              <p:nvPr/>
            </p:nvSpPr>
            <p:spPr bwMode="auto">
              <a:xfrm>
                <a:off x="1613" y="2072"/>
                <a:ext cx="313" cy="95"/>
              </a:xfrm>
              <a:prstGeom prst="ellipse">
                <a:avLst/>
              </a:prstGeom>
              <a:solidFill>
                <a:schemeClr val="hlink"/>
              </a:solidFill>
              <a:ln w="12700">
                <a:solidFill>
                  <a:schemeClr val="tx1"/>
                </a:solidFill>
                <a:round/>
              </a:ln>
            </p:spPr>
            <p:txBody>
              <a:bodyPr wrap="none" anchor="ctr"/>
              <a:lstStyle/>
              <a:p>
                <a:endParaRPr lang="en-US"/>
              </a:p>
            </p:txBody>
          </p:sp>
          <p:sp>
            <p:nvSpPr>
              <p:cNvPr id="130" name="Rectangle 19"/>
              <p:cNvSpPr>
                <a:spLocks noChangeArrowheads="1"/>
              </p:cNvSpPr>
              <p:nvPr/>
            </p:nvSpPr>
            <p:spPr bwMode="auto">
              <a:xfrm>
                <a:off x="1687" y="2100"/>
                <a:ext cx="141" cy="105"/>
              </a:xfrm>
              <a:prstGeom prst="rect">
                <a:avLst/>
              </a:prstGeom>
              <a:solidFill>
                <a:schemeClr val="hlink"/>
              </a:solidFill>
              <a:ln>
                <a:noFill/>
              </a:ln>
            </p:spPr>
            <p:txBody>
              <a:bodyPr wrap="none" anchor="ctr"/>
              <a:lstStyle/>
              <a:p>
                <a:endParaRPr lang="en-US"/>
              </a:p>
            </p:txBody>
          </p:sp>
          <p:sp>
            <p:nvSpPr>
              <p:cNvPr id="131" name="Text Box 20"/>
              <p:cNvSpPr txBox="1">
                <a:spLocks noChangeArrowheads="1"/>
              </p:cNvSpPr>
              <p:nvPr/>
            </p:nvSpPr>
            <p:spPr bwMode="auto">
              <a:xfrm>
                <a:off x="1652" y="2011"/>
                <a:ext cx="215" cy="264"/>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v</a:t>
                </a:r>
                <a:endParaRPr lang="en-US"/>
              </a:p>
            </p:txBody>
          </p:sp>
        </p:grpSp>
        <p:grpSp>
          <p:nvGrpSpPr>
            <p:cNvPr id="7" name="Group 21"/>
            <p:cNvGrpSpPr/>
            <p:nvPr/>
          </p:nvGrpSpPr>
          <p:grpSpPr bwMode="auto">
            <a:xfrm>
              <a:off x="6014258" y="2157413"/>
              <a:ext cx="458036" cy="396333"/>
              <a:chOff x="1613" y="2011"/>
              <a:chExt cx="316" cy="266"/>
            </a:xfrm>
          </p:grpSpPr>
          <p:sp>
            <p:nvSpPr>
              <p:cNvPr id="54" name="Oval 22"/>
              <p:cNvSpPr>
                <a:spLocks noChangeArrowheads="1"/>
              </p:cNvSpPr>
              <p:nvPr/>
            </p:nvSpPr>
            <p:spPr bwMode="auto">
              <a:xfrm>
                <a:off x="1616" y="2138"/>
                <a:ext cx="313" cy="81"/>
              </a:xfrm>
              <a:prstGeom prst="ellipse">
                <a:avLst/>
              </a:prstGeom>
              <a:solidFill>
                <a:schemeClr val="hlink"/>
              </a:solidFill>
              <a:ln w="12700">
                <a:solidFill>
                  <a:schemeClr val="tx1"/>
                </a:solidFill>
                <a:round/>
              </a:ln>
            </p:spPr>
            <p:txBody>
              <a:bodyPr wrap="none" anchor="ctr"/>
              <a:lstStyle/>
              <a:p>
                <a:endParaRPr lang="en-US"/>
              </a:p>
            </p:txBody>
          </p:sp>
          <p:sp>
            <p:nvSpPr>
              <p:cNvPr id="55" name="Line 23"/>
              <p:cNvSpPr>
                <a:spLocks noChangeShapeType="1"/>
              </p:cNvSpPr>
              <p:nvPr/>
            </p:nvSpPr>
            <p:spPr bwMode="auto">
              <a:xfrm>
                <a:off x="1616" y="2131"/>
                <a:ext cx="0" cy="50"/>
              </a:xfrm>
              <a:prstGeom prst="line">
                <a:avLst/>
              </a:prstGeom>
              <a:noFill/>
              <a:ln w="12700">
                <a:solidFill>
                  <a:schemeClr val="tx1"/>
                </a:solidFill>
                <a:round/>
              </a:ln>
            </p:spPr>
            <p:txBody>
              <a:bodyPr wrap="none" anchor="ctr"/>
              <a:lstStyle/>
              <a:p>
                <a:endParaRPr lang="en-US"/>
              </a:p>
            </p:txBody>
          </p:sp>
          <p:sp>
            <p:nvSpPr>
              <p:cNvPr id="56" name="Line 24"/>
              <p:cNvSpPr>
                <a:spLocks noChangeShapeType="1"/>
              </p:cNvSpPr>
              <p:nvPr/>
            </p:nvSpPr>
            <p:spPr bwMode="auto">
              <a:xfrm>
                <a:off x="1929" y="2131"/>
                <a:ext cx="0" cy="50"/>
              </a:xfrm>
              <a:prstGeom prst="line">
                <a:avLst/>
              </a:prstGeom>
              <a:noFill/>
              <a:ln w="12700">
                <a:solidFill>
                  <a:schemeClr val="tx1"/>
                </a:solidFill>
                <a:round/>
              </a:ln>
            </p:spPr>
            <p:txBody>
              <a:bodyPr wrap="none" anchor="ctr"/>
              <a:lstStyle/>
              <a:p>
                <a:endParaRPr lang="en-US"/>
              </a:p>
            </p:txBody>
          </p:sp>
          <p:sp>
            <p:nvSpPr>
              <p:cNvPr id="57" name="Rectangle 25"/>
              <p:cNvSpPr>
                <a:spLocks noChangeArrowheads="1"/>
              </p:cNvSpPr>
              <p:nvPr/>
            </p:nvSpPr>
            <p:spPr bwMode="auto">
              <a:xfrm>
                <a:off x="1616" y="2131"/>
                <a:ext cx="310" cy="49"/>
              </a:xfrm>
              <a:prstGeom prst="rect">
                <a:avLst/>
              </a:prstGeom>
              <a:solidFill>
                <a:schemeClr val="hlink"/>
              </a:solidFill>
              <a:ln>
                <a:noFill/>
              </a:ln>
            </p:spPr>
            <p:txBody>
              <a:bodyPr wrap="none" anchor="ctr"/>
              <a:lstStyle/>
              <a:p>
                <a:pPr algn="ctr"/>
                <a:endParaRPr lang="en-US" sz="2400"/>
              </a:p>
            </p:txBody>
          </p:sp>
          <p:sp>
            <p:nvSpPr>
              <p:cNvPr id="58" name="Oval 26"/>
              <p:cNvSpPr>
                <a:spLocks noChangeArrowheads="1"/>
              </p:cNvSpPr>
              <p:nvPr/>
            </p:nvSpPr>
            <p:spPr bwMode="auto">
              <a:xfrm>
                <a:off x="1611" y="2072"/>
                <a:ext cx="313" cy="97"/>
              </a:xfrm>
              <a:prstGeom prst="ellipse">
                <a:avLst/>
              </a:prstGeom>
              <a:solidFill>
                <a:schemeClr val="hlink"/>
              </a:solidFill>
              <a:ln w="12700">
                <a:solidFill>
                  <a:schemeClr val="tx1"/>
                </a:solidFill>
                <a:round/>
              </a:ln>
            </p:spPr>
            <p:txBody>
              <a:bodyPr wrap="none" anchor="ctr"/>
              <a:lstStyle/>
              <a:p>
                <a:endParaRPr lang="en-US"/>
              </a:p>
            </p:txBody>
          </p:sp>
          <p:sp>
            <p:nvSpPr>
              <p:cNvPr id="59" name="Rectangle 27"/>
              <p:cNvSpPr>
                <a:spLocks noChangeArrowheads="1"/>
              </p:cNvSpPr>
              <p:nvPr/>
            </p:nvSpPr>
            <p:spPr bwMode="auto">
              <a:xfrm>
                <a:off x="1687" y="2100"/>
                <a:ext cx="141" cy="103"/>
              </a:xfrm>
              <a:prstGeom prst="rect">
                <a:avLst/>
              </a:prstGeom>
              <a:solidFill>
                <a:schemeClr val="hlink"/>
              </a:solidFill>
              <a:ln>
                <a:noFill/>
              </a:ln>
            </p:spPr>
            <p:txBody>
              <a:bodyPr wrap="none" anchor="ctr"/>
              <a:lstStyle/>
              <a:p>
                <a:endParaRPr lang="en-US"/>
              </a:p>
            </p:txBody>
          </p:sp>
          <p:sp>
            <p:nvSpPr>
              <p:cNvPr id="60" name="Text Box 28"/>
              <p:cNvSpPr txBox="1">
                <a:spLocks noChangeArrowheads="1"/>
              </p:cNvSpPr>
              <p:nvPr/>
            </p:nvSpPr>
            <p:spPr bwMode="auto">
              <a:xfrm>
                <a:off x="1652" y="2011"/>
                <a:ext cx="215" cy="266"/>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x</a:t>
                </a:r>
                <a:endParaRPr lang="en-US"/>
              </a:p>
            </p:txBody>
          </p:sp>
        </p:grpSp>
        <p:sp>
          <p:nvSpPr>
            <p:cNvPr id="8" name="Oval 30"/>
            <p:cNvSpPr>
              <a:spLocks noChangeArrowheads="1"/>
            </p:cNvSpPr>
            <p:nvPr/>
          </p:nvSpPr>
          <p:spPr bwMode="auto">
            <a:xfrm>
              <a:off x="4743064" y="4092887"/>
              <a:ext cx="453688" cy="122178"/>
            </a:xfrm>
            <a:prstGeom prst="ellipse">
              <a:avLst/>
            </a:prstGeom>
            <a:solidFill>
              <a:schemeClr val="accent1"/>
            </a:solidFill>
            <a:ln w="12700">
              <a:solidFill>
                <a:schemeClr val="accent1"/>
              </a:solidFill>
              <a:round/>
            </a:ln>
          </p:spPr>
          <p:txBody>
            <a:bodyPr wrap="none" anchor="ctr"/>
            <a:lstStyle/>
            <a:p>
              <a:endParaRPr lang="en-US"/>
            </a:p>
          </p:txBody>
        </p:sp>
        <p:sp>
          <p:nvSpPr>
            <p:cNvPr id="13" name="Line 31"/>
            <p:cNvSpPr>
              <a:spLocks noChangeShapeType="1"/>
            </p:cNvSpPr>
            <p:nvPr/>
          </p:nvSpPr>
          <p:spPr bwMode="auto">
            <a:xfrm>
              <a:off x="4743064" y="4082457"/>
              <a:ext cx="0" cy="74499"/>
            </a:xfrm>
            <a:prstGeom prst="line">
              <a:avLst/>
            </a:prstGeom>
            <a:noFill/>
            <a:ln w="12700">
              <a:solidFill>
                <a:schemeClr val="accent1"/>
              </a:solidFill>
              <a:round/>
            </a:ln>
          </p:spPr>
          <p:txBody>
            <a:bodyPr wrap="none" anchor="ctr"/>
            <a:lstStyle/>
            <a:p>
              <a:endParaRPr lang="en-US"/>
            </a:p>
          </p:txBody>
        </p:sp>
        <p:sp>
          <p:nvSpPr>
            <p:cNvPr id="14" name="Line 32"/>
            <p:cNvSpPr>
              <a:spLocks noChangeShapeType="1"/>
            </p:cNvSpPr>
            <p:nvPr/>
          </p:nvSpPr>
          <p:spPr bwMode="auto">
            <a:xfrm>
              <a:off x="5199651" y="4082457"/>
              <a:ext cx="0" cy="74499"/>
            </a:xfrm>
            <a:prstGeom prst="line">
              <a:avLst/>
            </a:prstGeom>
            <a:noFill/>
            <a:ln w="12700">
              <a:solidFill>
                <a:schemeClr val="accent1"/>
              </a:solidFill>
              <a:round/>
            </a:ln>
          </p:spPr>
          <p:txBody>
            <a:bodyPr wrap="none" anchor="ctr"/>
            <a:lstStyle/>
            <a:p>
              <a:endParaRPr lang="en-US"/>
            </a:p>
          </p:txBody>
        </p:sp>
        <p:sp>
          <p:nvSpPr>
            <p:cNvPr id="15" name="Rectangle 33"/>
            <p:cNvSpPr>
              <a:spLocks noChangeArrowheads="1"/>
            </p:cNvSpPr>
            <p:nvPr/>
          </p:nvSpPr>
          <p:spPr bwMode="auto">
            <a:xfrm>
              <a:off x="4743064" y="4082457"/>
              <a:ext cx="449339" cy="73009"/>
            </a:xfrm>
            <a:prstGeom prst="rect">
              <a:avLst/>
            </a:prstGeom>
            <a:solidFill>
              <a:schemeClr val="accent1"/>
            </a:solidFill>
            <a:ln>
              <a:solidFill>
                <a:schemeClr val="accent1"/>
              </a:solidFill>
            </a:ln>
          </p:spPr>
          <p:txBody>
            <a:bodyPr wrap="none" anchor="ctr"/>
            <a:lstStyle/>
            <a:p>
              <a:pPr algn="ctr"/>
              <a:endParaRPr lang="en-US" sz="2400"/>
            </a:p>
          </p:txBody>
        </p:sp>
        <p:sp>
          <p:nvSpPr>
            <p:cNvPr id="16" name="Oval 34"/>
            <p:cNvSpPr>
              <a:spLocks noChangeArrowheads="1"/>
            </p:cNvSpPr>
            <p:nvPr/>
          </p:nvSpPr>
          <p:spPr bwMode="auto">
            <a:xfrm>
              <a:off x="4738716" y="3970709"/>
              <a:ext cx="453688" cy="144527"/>
            </a:xfrm>
            <a:prstGeom prst="ellipse">
              <a:avLst/>
            </a:prstGeom>
            <a:solidFill>
              <a:schemeClr val="accent1"/>
            </a:solidFill>
            <a:ln w="12700">
              <a:solidFill>
                <a:schemeClr val="accent1"/>
              </a:solidFill>
              <a:round/>
            </a:ln>
          </p:spPr>
          <p:txBody>
            <a:bodyPr wrap="none" anchor="ctr"/>
            <a:lstStyle/>
            <a:p>
              <a:endParaRPr lang="en-US"/>
            </a:p>
          </p:txBody>
        </p:sp>
        <p:sp>
          <p:nvSpPr>
            <p:cNvPr id="17" name="Rectangle 35"/>
            <p:cNvSpPr>
              <a:spLocks noChangeArrowheads="1"/>
            </p:cNvSpPr>
            <p:nvPr/>
          </p:nvSpPr>
          <p:spPr bwMode="auto">
            <a:xfrm>
              <a:off x="4845978" y="4039248"/>
              <a:ext cx="204377" cy="153467"/>
            </a:xfrm>
            <a:prstGeom prst="rect">
              <a:avLst/>
            </a:prstGeom>
            <a:solidFill>
              <a:schemeClr val="accent1"/>
            </a:solidFill>
            <a:ln>
              <a:solidFill>
                <a:schemeClr val="accent1"/>
              </a:solidFill>
            </a:ln>
          </p:spPr>
          <p:txBody>
            <a:bodyPr wrap="none" anchor="ctr"/>
            <a:lstStyle/>
            <a:p>
              <a:endParaRPr lang="en-US"/>
            </a:p>
          </p:txBody>
        </p:sp>
        <p:sp>
          <p:nvSpPr>
            <p:cNvPr id="18" name="Text Box 36"/>
            <p:cNvSpPr txBox="1">
              <a:spLocks noChangeArrowheads="1"/>
            </p:cNvSpPr>
            <p:nvPr/>
          </p:nvSpPr>
          <p:spPr bwMode="auto">
            <a:xfrm>
              <a:off x="4813199" y="3867215"/>
              <a:ext cx="301490" cy="400110"/>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dirty="0"/>
                <a:t>u</a:t>
              </a:r>
              <a:endParaRPr lang="en-US" dirty="0"/>
            </a:p>
          </p:txBody>
        </p:sp>
        <p:sp>
          <p:nvSpPr>
            <p:cNvPr id="19" name="Line 37"/>
            <p:cNvSpPr>
              <a:spLocks noChangeShapeType="1"/>
            </p:cNvSpPr>
            <p:nvPr/>
          </p:nvSpPr>
          <p:spPr bwMode="auto">
            <a:xfrm>
              <a:off x="5206898" y="4094377"/>
              <a:ext cx="916071" cy="0"/>
            </a:xfrm>
            <a:prstGeom prst="line">
              <a:avLst/>
            </a:prstGeom>
            <a:noFill/>
            <a:ln w="9525">
              <a:solidFill>
                <a:schemeClr val="tx1"/>
              </a:solidFill>
              <a:round/>
            </a:ln>
          </p:spPr>
          <p:txBody>
            <a:bodyPr/>
            <a:lstStyle/>
            <a:p>
              <a:endParaRPr lang="en-US"/>
            </a:p>
          </p:txBody>
        </p:sp>
        <p:sp>
          <p:nvSpPr>
            <p:cNvPr id="20" name="Line 38"/>
            <p:cNvSpPr>
              <a:spLocks noChangeShapeType="1"/>
            </p:cNvSpPr>
            <p:nvPr/>
          </p:nvSpPr>
          <p:spPr bwMode="auto">
            <a:xfrm>
              <a:off x="6224433" y="2494147"/>
              <a:ext cx="0" cy="1433353"/>
            </a:xfrm>
            <a:prstGeom prst="line">
              <a:avLst/>
            </a:prstGeom>
            <a:noFill/>
            <a:ln w="9525">
              <a:solidFill>
                <a:schemeClr val="tx1"/>
              </a:solidFill>
              <a:round/>
            </a:ln>
          </p:spPr>
          <p:txBody>
            <a:bodyPr/>
            <a:lstStyle/>
            <a:p>
              <a:endParaRPr lang="en-US"/>
            </a:p>
          </p:txBody>
        </p:sp>
        <p:sp>
          <p:nvSpPr>
            <p:cNvPr id="21" name="Line 39"/>
            <p:cNvSpPr>
              <a:spLocks noChangeShapeType="1"/>
            </p:cNvSpPr>
            <p:nvPr/>
          </p:nvSpPr>
          <p:spPr bwMode="auto">
            <a:xfrm flipH="1">
              <a:off x="5027163" y="2403258"/>
              <a:ext cx="976950" cy="1609170"/>
            </a:xfrm>
            <a:prstGeom prst="line">
              <a:avLst/>
            </a:prstGeom>
            <a:noFill/>
            <a:ln w="9525">
              <a:solidFill>
                <a:schemeClr val="tx1"/>
              </a:solidFill>
              <a:round/>
            </a:ln>
          </p:spPr>
          <p:txBody>
            <a:bodyPr/>
            <a:lstStyle/>
            <a:p>
              <a:endParaRPr lang="en-US"/>
            </a:p>
          </p:txBody>
        </p:sp>
        <p:sp>
          <p:nvSpPr>
            <p:cNvPr id="22" name="Text Box 40"/>
            <p:cNvSpPr txBox="1">
              <a:spLocks noChangeArrowheads="1"/>
            </p:cNvSpPr>
            <p:nvPr/>
          </p:nvSpPr>
          <p:spPr bwMode="auto">
            <a:xfrm>
              <a:off x="5256180" y="2920279"/>
              <a:ext cx="311638" cy="36504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sp>
          <p:nvSpPr>
            <p:cNvPr id="23" name="Line 41"/>
            <p:cNvSpPr>
              <a:spLocks noChangeShapeType="1"/>
            </p:cNvSpPr>
            <p:nvPr/>
          </p:nvSpPr>
          <p:spPr bwMode="auto">
            <a:xfrm>
              <a:off x="6234579" y="4168875"/>
              <a:ext cx="13045" cy="1057880"/>
            </a:xfrm>
            <a:prstGeom prst="line">
              <a:avLst/>
            </a:prstGeom>
            <a:noFill/>
            <a:ln w="9525">
              <a:solidFill>
                <a:schemeClr val="tx1"/>
              </a:solidFill>
              <a:round/>
            </a:ln>
          </p:spPr>
          <p:txBody>
            <a:bodyPr/>
            <a:lstStyle/>
            <a:p>
              <a:endParaRPr lang="en-US"/>
            </a:p>
          </p:txBody>
        </p:sp>
        <p:sp>
          <p:nvSpPr>
            <p:cNvPr id="24" name="Text Box 42"/>
            <p:cNvSpPr txBox="1">
              <a:spLocks noChangeArrowheads="1"/>
            </p:cNvSpPr>
            <p:nvPr/>
          </p:nvSpPr>
          <p:spPr bwMode="auto">
            <a:xfrm>
              <a:off x="6244726" y="4468360"/>
              <a:ext cx="31163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25" name="Freeform 43"/>
            <p:cNvSpPr/>
            <p:nvPr/>
          </p:nvSpPr>
          <p:spPr bwMode="auto">
            <a:xfrm>
              <a:off x="5008319" y="4200165"/>
              <a:ext cx="1246553" cy="1190488"/>
            </a:xfrm>
            <a:custGeom>
              <a:avLst/>
              <a:gdLst>
                <a:gd name="T0" fmla="*/ 0 w 857"/>
                <a:gd name="T1" fmla="*/ 0 h 1152"/>
                <a:gd name="T2" fmla="*/ 562 w 857"/>
                <a:gd name="T3" fmla="*/ 1152 h 1152"/>
                <a:gd name="T4" fmla="*/ 857 w 857"/>
                <a:gd name="T5" fmla="*/ 772 h 1152"/>
                <a:gd name="T6" fmla="*/ 0 60000 65536"/>
                <a:gd name="T7" fmla="*/ 0 60000 65536"/>
                <a:gd name="T8" fmla="*/ 0 60000 65536"/>
                <a:gd name="T9" fmla="*/ 0 w 857"/>
                <a:gd name="T10" fmla="*/ 0 h 1152"/>
                <a:gd name="T11" fmla="*/ 857 w 857"/>
                <a:gd name="T12" fmla="*/ 1152 h 1152"/>
                <a:gd name="connsiteX0" fmla="*/ 0 w 10000"/>
                <a:gd name="connsiteY0" fmla="*/ 0 h 6928"/>
                <a:gd name="connsiteX1" fmla="*/ 3770 w 10000"/>
                <a:gd name="connsiteY1" fmla="*/ 6300 h 6928"/>
                <a:gd name="connsiteX2" fmla="*/ 10000 w 10000"/>
                <a:gd name="connsiteY2" fmla="*/ 6701 h 6928"/>
                <a:gd name="connsiteX0-1" fmla="*/ 0 w 10000"/>
                <a:gd name="connsiteY0-2" fmla="*/ 0 h 9871"/>
                <a:gd name="connsiteX1-3" fmla="*/ 1802 w 10000"/>
                <a:gd name="connsiteY1-4" fmla="*/ 7634 h 9871"/>
                <a:gd name="connsiteX2-5" fmla="*/ 10000 w 10000"/>
                <a:gd name="connsiteY2-6" fmla="*/ 9672 h 9871"/>
                <a:gd name="connsiteX0-7" fmla="*/ 0 w 10000"/>
                <a:gd name="connsiteY0-8" fmla="*/ 0 h 10136"/>
                <a:gd name="connsiteX1-9" fmla="*/ 1802 w 10000"/>
                <a:gd name="connsiteY1-10" fmla="*/ 7734 h 10136"/>
                <a:gd name="connsiteX2-11" fmla="*/ 10000 w 10000"/>
                <a:gd name="connsiteY2-12" fmla="*/ 9798 h 10136"/>
                <a:gd name="connsiteX0-13" fmla="*/ 0 w 10000"/>
                <a:gd name="connsiteY0-14" fmla="*/ 0 h 10136"/>
                <a:gd name="connsiteX1-15" fmla="*/ 1802 w 10000"/>
                <a:gd name="connsiteY1-16" fmla="*/ 7734 h 10136"/>
                <a:gd name="connsiteX2-17" fmla="*/ 10000 w 10000"/>
                <a:gd name="connsiteY2-18" fmla="*/ 9798 h 10136"/>
                <a:gd name="connsiteX0-19" fmla="*/ 32 w 10032"/>
                <a:gd name="connsiteY0-20" fmla="*/ 0 h 10136"/>
                <a:gd name="connsiteX1-21" fmla="*/ 1834 w 10032"/>
                <a:gd name="connsiteY1-22" fmla="*/ 7734 h 10136"/>
                <a:gd name="connsiteX2-23" fmla="*/ 10032 w 10032"/>
                <a:gd name="connsiteY2-24" fmla="*/ 9798 h 10136"/>
              </a:gdLst>
              <a:ahLst/>
              <a:cxnLst>
                <a:cxn ang="0">
                  <a:pos x="connsiteX0-1" y="connsiteY0-2"/>
                </a:cxn>
                <a:cxn ang="0">
                  <a:pos x="connsiteX1-3" y="connsiteY1-4"/>
                </a:cxn>
                <a:cxn ang="0">
                  <a:pos x="connsiteX2-5" y="connsiteY2-6"/>
                </a:cxn>
              </a:cxnLst>
              <a:rect l="l" t="t" r="r" b="b"/>
              <a:pathLst>
                <a:path w="10032" h="10136">
                  <a:moveTo>
                    <a:pt x="32" y="0"/>
                  </a:moveTo>
                  <a:cubicBezTo>
                    <a:pt x="62" y="4573"/>
                    <a:pt x="-465" y="5047"/>
                    <a:pt x="1834" y="7734"/>
                  </a:cubicBezTo>
                  <a:cubicBezTo>
                    <a:pt x="4132" y="9414"/>
                    <a:pt x="9320" y="10802"/>
                    <a:pt x="10032" y="9798"/>
                  </a:cubicBezTo>
                </a:path>
              </a:pathLst>
            </a:custGeom>
            <a:noFill/>
            <a:ln w="9525">
              <a:solidFill>
                <a:schemeClr val="tx1"/>
              </a:solidFill>
              <a:round/>
            </a:ln>
          </p:spPr>
          <p:txBody>
            <a:bodyPr/>
            <a:lstStyle/>
            <a:p>
              <a:endParaRPr lang="en-US"/>
            </a:p>
          </p:txBody>
        </p:sp>
        <p:sp>
          <p:nvSpPr>
            <p:cNvPr id="26" name="Text Box 44"/>
            <p:cNvSpPr txBox="1">
              <a:spLocks noChangeArrowheads="1"/>
            </p:cNvSpPr>
            <p:nvPr/>
          </p:nvSpPr>
          <p:spPr bwMode="auto">
            <a:xfrm>
              <a:off x="5250382" y="4729105"/>
              <a:ext cx="31308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7</a:t>
              </a:r>
              <a:endParaRPr lang="en-US"/>
            </a:p>
          </p:txBody>
        </p:sp>
        <p:sp>
          <p:nvSpPr>
            <p:cNvPr id="27" name="Line 45"/>
            <p:cNvSpPr>
              <a:spLocks noChangeShapeType="1"/>
            </p:cNvSpPr>
            <p:nvPr/>
          </p:nvSpPr>
          <p:spPr bwMode="auto">
            <a:xfrm flipH="1">
              <a:off x="6238928" y="4097357"/>
              <a:ext cx="1446581" cy="1226247"/>
            </a:xfrm>
            <a:prstGeom prst="line">
              <a:avLst/>
            </a:prstGeom>
            <a:noFill/>
            <a:ln w="9525">
              <a:solidFill>
                <a:schemeClr val="tx1"/>
              </a:solidFill>
              <a:round/>
            </a:ln>
          </p:spPr>
          <p:txBody>
            <a:bodyPr/>
            <a:lstStyle/>
            <a:p>
              <a:endParaRPr lang="en-US"/>
            </a:p>
          </p:txBody>
        </p:sp>
        <p:sp>
          <p:nvSpPr>
            <p:cNvPr id="28" name="Text Box 46"/>
            <p:cNvSpPr txBox="1">
              <a:spLocks noChangeArrowheads="1"/>
            </p:cNvSpPr>
            <p:nvPr/>
          </p:nvSpPr>
          <p:spPr bwMode="auto">
            <a:xfrm>
              <a:off x="6885396" y="4709735"/>
              <a:ext cx="31308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4</a:t>
              </a:r>
              <a:endParaRPr lang="en-US"/>
            </a:p>
          </p:txBody>
        </p:sp>
        <p:sp>
          <p:nvSpPr>
            <p:cNvPr id="29" name="Freeform 47"/>
            <p:cNvSpPr/>
            <p:nvPr/>
          </p:nvSpPr>
          <p:spPr bwMode="auto">
            <a:xfrm>
              <a:off x="6278064" y="3781483"/>
              <a:ext cx="1436435" cy="721146"/>
            </a:xfrm>
            <a:custGeom>
              <a:avLst/>
              <a:gdLst>
                <a:gd name="T0" fmla="*/ 0 w 991"/>
                <a:gd name="T1" fmla="*/ 168 h 484"/>
                <a:gd name="T2" fmla="*/ 204 w 991"/>
                <a:gd name="T3" fmla="*/ 484 h 484"/>
                <a:gd name="T4" fmla="*/ 302 w 991"/>
                <a:gd name="T5" fmla="*/ 7 h 484"/>
                <a:gd name="T6" fmla="*/ 379 w 991"/>
                <a:gd name="T7" fmla="*/ 442 h 484"/>
                <a:gd name="T8" fmla="*/ 534 w 991"/>
                <a:gd name="T9" fmla="*/ 21 h 484"/>
                <a:gd name="T10" fmla="*/ 611 w 991"/>
                <a:gd name="T11" fmla="*/ 351 h 484"/>
                <a:gd name="T12" fmla="*/ 660 w 991"/>
                <a:gd name="T13" fmla="*/ 77 h 484"/>
                <a:gd name="T14" fmla="*/ 991 w 991"/>
                <a:gd name="T15" fmla="*/ 218 h 484"/>
                <a:gd name="T16" fmla="*/ 0 60000 65536"/>
                <a:gd name="T17" fmla="*/ 0 60000 65536"/>
                <a:gd name="T18" fmla="*/ 0 60000 65536"/>
                <a:gd name="T19" fmla="*/ 0 60000 65536"/>
                <a:gd name="T20" fmla="*/ 0 60000 65536"/>
                <a:gd name="T21" fmla="*/ 0 60000 65536"/>
                <a:gd name="T22" fmla="*/ 0 60000 65536"/>
                <a:gd name="T23" fmla="*/ 0 60000 65536"/>
                <a:gd name="T24" fmla="*/ 0 w 991"/>
                <a:gd name="T25" fmla="*/ 0 h 484"/>
                <a:gd name="T26" fmla="*/ 991 w 991"/>
                <a:gd name="T27" fmla="*/ 484 h 4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1" h="484">
                  <a:moveTo>
                    <a:pt x="0" y="168"/>
                  </a:moveTo>
                  <a:cubicBezTo>
                    <a:pt x="0" y="168"/>
                    <a:pt x="145" y="484"/>
                    <a:pt x="204" y="484"/>
                  </a:cubicBezTo>
                  <a:cubicBezTo>
                    <a:pt x="263" y="484"/>
                    <a:pt x="253" y="6"/>
                    <a:pt x="302" y="7"/>
                  </a:cubicBezTo>
                  <a:cubicBezTo>
                    <a:pt x="331" y="0"/>
                    <a:pt x="313" y="444"/>
                    <a:pt x="379" y="442"/>
                  </a:cubicBezTo>
                  <a:cubicBezTo>
                    <a:pt x="418" y="444"/>
                    <a:pt x="475" y="24"/>
                    <a:pt x="534" y="21"/>
                  </a:cubicBezTo>
                  <a:cubicBezTo>
                    <a:pt x="573" y="6"/>
                    <a:pt x="575" y="360"/>
                    <a:pt x="611" y="351"/>
                  </a:cubicBezTo>
                  <a:cubicBezTo>
                    <a:pt x="647" y="342"/>
                    <a:pt x="577" y="80"/>
                    <a:pt x="660" y="77"/>
                  </a:cubicBezTo>
                  <a:cubicBezTo>
                    <a:pt x="743" y="74"/>
                    <a:pt x="922" y="189"/>
                    <a:pt x="991" y="218"/>
                  </a:cubicBezTo>
                </a:path>
              </a:pathLst>
            </a:custGeom>
            <a:noFill/>
            <a:ln w="9525">
              <a:solidFill>
                <a:schemeClr val="tx1"/>
              </a:solidFill>
              <a:round/>
            </a:ln>
          </p:spPr>
          <p:txBody>
            <a:bodyPr/>
            <a:lstStyle/>
            <a:p>
              <a:endParaRPr lang="en-US"/>
            </a:p>
          </p:txBody>
        </p:sp>
        <p:grpSp>
          <p:nvGrpSpPr>
            <p:cNvPr id="30" name="Group 48"/>
            <p:cNvGrpSpPr/>
            <p:nvPr/>
          </p:nvGrpSpPr>
          <p:grpSpPr bwMode="auto">
            <a:xfrm>
              <a:off x="7517369" y="3893230"/>
              <a:ext cx="458036" cy="396333"/>
              <a:chOff x="1613" y="2011"/>
              <a:chExt cx="316" cy="266"/>
            </a:xfrm>
          </p:grpSpPr>
          <p:sp>
            <p:nvSpPr>
              <p:cNvPr id="47" name="Oval 49"/>
              <p:cNvSpPr>
                <a:spLocks noChangeArrowheads="1"/>
              </p:cNvSpPr>
              <p:nvPr/>
            </p:nvSpPr>
            <p:spPr bwMode="auto">
              <a:xfrm>
                <a:off x="1616" y="2136"/>
                <a:ext cx="313" cy="82"/>
              </a:xfrm>
              <a:prstGeom prst="ellipse">
                <a:avLst/>
              </a:prstGeom>
              <a:solidFill>
                <a:schemeClr val="hlink"/>
              </a:solidFill>
              <a:ln w="12700">
                <a:solidFill>
                  <a:schemeClr val="tx1"/>
                </a:solidFill>
                <a:round/>
              </a:ln>
            </p:spPr>
            <p:txBody>
              <a:bodyPr wrap="none" anchor="ctr"/>
              <a:lstStyle/>
              <a:p>
                <a:endParaRPr lang="en-US"/>
              </a:p>
            </p:txBody>
          </p:sp>
          <p:sp>
            <p:nvSpPr>
              <p:cNvPr id="48" name="Line 50"/>
              <p:cNvSpPr>
                <a:spLocks noChangeShapeType="1"/>
              </p:cNvSpPr>
              <p:nvPr/>
            </p:nvSpPr>
            <p:spPr bwMode="auto">
              <a:xfrm>
                <a:off x="1616" y="2131"/>
                <a:ext cx="0" cy="50"/>
              </a:xfrm>
              <a:prstGeom prst="line">
                <a:avLst/>
              </a:prstGeom>
              <a:noFill/>
              <a:ln w="12700">
                <a:solidFill>
                  <a:schemeClr val="tx1"/>
                </a:solidFill>
                <a:round/>
              </a:ln>
            </p:spPr>
            <p:txBody>
              <a:bodyPr wrap="none" anchor="ctr"/>
              <a:lstStyle/>
              <a:p>
                <a:endParaRPr lang="en-US"/>
              </a:p>
            </p:txBody>
          </p:sp>
          <p:sp>
            <p:nvSpPr>
              <p:cNvPr id="49" name="Line 51"/>
              <p:cNvSpPr>
                <a:spLocks noChangeShapeType="1"/>
              </p:cNvSpPr>
              <p:nvPr/>
            </p:nvSpPr>
            <p:spPr bwMode="auto">
              <a:xfrm>
                <a:off x="1929" y="2131"/>
                <a:ext cx="0" cy="50"/>
              </a:xfrm>
              <a:prstGeom prst="line">
                <a:avLst/>
              </a:prstGeom>
              <a:noFill/>
              <a:ln w="12700">
                <a:solidFill>
                  <a:schemeClr val="tx1"/>
                </a:solidFill>
                <a:round/>
              </a:ln>
            </p:spPr>
            <p:txBody>
              <a:bodyPr wrap="none" anchor="ctr"/>
              <a:lstStyle/>
              <a:p>
                <a:endParaRPr lang="en-US"/>
              </a:p>
            </p:txBody>
          </p:sp>
          <p:sp>
            <p:nvSpPr>
              <p:cNvPr id="50" name="Rectangle 52"/>
              <p:cNvSpPr>
                <a:spLocks noChangeArrowheads="1"/>
              </p:cNvSpPr>
              <p:nvPr/>
            </p:nvSpPr>
            <p:spPr bwMode="auto">
              <a:xfrm>
                <a:off x="1616" y="2131"/>
                <a:ext cx="310" cy="49"/>
              </a:xfrm>
              <a:prstGeom prst="rect">
                <a:avLst/>
              </a:prstGeom>
              <a:solidFill>
                <a:schemeClr val="hlink"/>
              </a:solidFill>
              <a:ln>
                <a:noFill/>
              </a:ln>
            </p:spPr>
            <p:txBody>
              <a:bodyPr wrap="none" anchor="ctr"/>
              <a:lstStyle/>
              <a:p>
                <a:pPr algn="ctr"/>
                <a:endParaRPr lang="en-US" sz="2400"/>
              </a:p>
            </p:txBody>
          </p:sp>
          <p:sp>
            <p:nvSpPr>
              <p:cNvPr id="51" name="Oval 53"/>
              <p:cNvSpPr>
                <a:spLocks noChangeArrowheads="1"/>
              </p:cNvSpPr>
              <p:nvPr/>
            </p:nvSpPr>
            <p:spPr bwMode="auto">
              <a:xfrm>
                <a:off x="1613" y="2070"/>
                <a:ext cx="313" cy="97"/>
              </a:xfrm>
              <a:prstGeom prst="ellipse">
                <a:avLst/>
              </a:prstGeom>
              <a:solidFill>
                <a:schemeClr val="hlink"/>
              </a:solidFill>
              <a:ln w="12700">
                <a:solidFill>
                  <a:schemeClr val="tx1"/>
                </a:solidFill>
                <a:round/>
              </a:ln>
            </p:spPr>
            <p:txBody>
              <a:bodyPr wrap="none" anchor="ctr"/>
              <a:lstStyle/>
              <a:p>
                <a:endParaRPr lang="en-US"/>
              </a:p>
            </p:txBody>
          </p:sp>
          <p:sp>
            <p:nvSpPr>
              <p:cNvPr id="52" name="Rectangle 54"/>
              <p:cNvSpPr>
                <a:spLocks noChangeArrowheads="1"/>
              </p:cNvSpPr>
              <p:nvPr/>
            </p:nvSpPr>
            <p:spPr bwMode="auto">
              <a:xfrm>
                <a:off x="1687" y="2100"/>
                <a:ext cx="141" cy="103"/>
              </a:xfrm>
              <a:prstGeom prst="rect">
                <a:avLst/>
              </a:prstGeom>
              <a:solidFill>
                <a:schemeClr val="hlink"/>
              </a:solidFill>
              <a:ln>
                <a:noFill/>
              </a:ln>
            </p:spPr>
            <p:txBody>
              <a:bodyPr wrap="none" anchor="ctr"/>
              <a:lstStyle/>
              <a:p>
                <a:endParaRPr lang="en-US"/>
              </a:p>
            </p:txBody>
          </p:sp>
          <p:sp>
            <p:nvSpPr>
              <p:cNvPr id="53" name="Text Box 55"/>
              <p:cNvSpPr txBox="1">
                <a:spLocks noChangeArrowheads="1"/>
              </p:cNvSpPr>
              <p:nvPr/>
            </p:nvSpPr>
            <p:spPr bwMode="auto">
              <a:xfrm>
                <a:off x="1652" y="2011"/>
                <a:ext cx="215" cy="266"/>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dirty="0"/>
                  <a:t>y</a:t>
                </a:r>
                <a:endParaRPr lang="en-US" dirty="0"/>
              </a:p>
            </p:txBody>
          </p:sp>
        </p:grpSp>
        <p:sp>
          <p:nvSpPr>
            <p:cNvPr id="31" name="Text Box 56"/>
            <p:cNvSpPr txBox="1">
              <a:spLocks noChangeArrowheads="1"/>
            </p:cNvSpPr>
            <p:nvPr/>
          </p:nvSpPr>
          <p:spPr bwMode="auto">
            <a:xfrm>
              <a:off x="6766539" y="3446239"/>
              <a:ext cx="31308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8</a:t>
              </a:r>
              <a:endParaRPr lang="en-US"/>
            </a:p>
          </p:txBody>
        </p:sp>
        <p:grpSp>
          <p:nvGrpSpPr>
            <p:cNvPr id="32" name="Group 57"/>
            <p:cNvGrpSpPr/>
            <p:nvPr/>
          </p:nvGrpSpPr>
          <p:grpSpPr bwMode="auto">
            <a:xfrm>
              <a:off x="8498667" y="3864921"/>
              <a:ext cx="458036" cy="396333"/>
              <a:chOff x="1613" y="2011"/>
              <a:chExt cx="316" cy="266"/>
            </a:xfrm>
          </p:grpSpPr>
          <p:sp>
            <p:nvSpPr>
              <p:cNvPr id="40" name="Oval 58"/>
              <p:cNvSpPr>
                <a:spLocks noChangeArrowheads="1"/>
              </p:cNvSpPr>
              <p:nvPr/>
            </p:nvSpPr>
            <p:spPr bwMode="auto">
              <a:xfrm>
                <a:off x="1616" y="2138"/>
                <a:ext cx="313" cy="81"/>
              </a:xfrm>
              <a:prstGeom prst="ellipse">
                <a:avLst/>
              </a:prstGeom>
              <a:solidFill>
                <a:schemeClr val="hlink"/>
              </a:solidFill>
              <a:ln w="12700">
                <a:solidFill>
                  <a:schemeClr val="tx1"/>
                </a:solidFill>
                <a:round/>
              </a:ln>
            </p:spPr>
            <p:txBody>
              <a:bodyPr wrap="none" anchor="ctr"/>
              <a:lstStyle/>
              <a:p>
                <a:endParaRPr lang="en-US"/>
              </a:p>
            </p:txBody>
          </p:sp>
          <p:sp>
            <p:nvSpPr>
              <p:cNvPr id="41" name="Line 59"/>
              <p:cNvSpPr>
                <a:spLocks noChangeShapeType="1"/>
              </p:cNvSpPr>
              <p:nvPr/>
            </p:nvSpPr>
            <p:spPr bwMode="auto">
              <a:xfrm>
                <a:off x="1616" y="2131"/>
                <a:ext cx="0" cy="50"/>
              </a:xfrm>
              <a:prstGeom prst="line">
                <a:avLst/>
              </a:prstGeom>
              <a:noFill/>
              <a:ln w="12700">
                <a:solidFill>
                  <a:schemeClr val="tx1"/>
                </a:solidFill>
                <a:round/>
              </a:ln>
            </p:spPr>
            <p:txBody>
              <a:bodyPr wrap="none" anchor="ctr"/>
              <a:lstStyle/>
              <a:p>
                <a:endParaRPr lang="en-US"/>
              </a:p>
            </p:txBody>
          </p:sp>
          <p:sp>
            <p:nvSpPr>
              <p:cNvPr id="42" name="Line 60"/>
              <p:cNvSpPr>
                <a:spLocks noChangeShapeType="1"/>
              </p:cNvSpPr>
              <p:nvPr/>
            </p:nvSpPr>
            <p:spPr bwMode="auto">
              <a:xfrm>
                <a:off x="1929" y="2131"/>
                <a:ext cx="0" cy="50"/>
              </a:xfrm>
              <a:prstGeom prst="line">
                <a:avLst/>
              </a:prstGeom>
              <a:noFill/>
              <a:ln w="12700">
                <a:solidFill>
                  <a:schemeClr val="tx1"/>
                </a:solidFill>
                <a:round/>
              </a:ln>
            </p:spPr>
            <p:txBody>
              <a:bodyPr wrap="none" anchor="ctr"/>
              <a:lstStyle/>
              <a:p>
                <a:endParaRPr lang="en-US"/>
              </a:p>
            </p:txBody>
          </p:sp>
          <p:sp>
            <p:nvSpPr>
              <p:cNvPr id="43" name="Rectangle 61"/>
              <p:cNvSpPr>
                <a:spLocks noChangeArrowheads="1"/>
              </p:cNvSpPr>
              <p:nvPr/>
            </p:nvSpPr>
            <p:spPr bwMode="auto">
              <a:xfrm>
                <a:off x="1616" y="2131"/>
                <a:ext cx="310" cy="49"/>
              </a:xfrm>
              <a:prstGeom prst="rect">
                <a:avLst/>
              </a:prstGeom>
              <a:solidFill>
                <a:schemeClr val="hlink"/>
              </a:solidFill>
              <a:ln>
                <a:noFill/>
              </a:ln>
            </p:spPr>
            <p:txBody>
              <a:bodyPr wrap="none" anchor="ctr"/>
              <a:lstStyle/>
              <a:p>
                <a:pPr algn="ctr"/>
                <a:endParaRPr lang="en-US" sz="2400"/>
              </a:p>
            </p:txBody>
          </p:sp>
          <p:sp>
            <p:nvSpPr>
              <p:cNvPr id="44" name="Oval 62"/>
              <p:cNvSpPr>
                <a:spLocks noChangeArrowheads="1"/>
              </p:cNvSpPr>
              <p:nvPr/>
            </p:nvSpPr>
            <p:spPr bwMode="auto">
              <a:xfrm>
                <a:off x="1611" y="2072"/>
                <a:ext cx="313" cy="95"/>
              </a:xfrm>
              <a:prstGeom prst="ellipse">
                <a:avLst/>
              </a:prstGeom>
              <a:solidFill>
                <a:schemeClr val="hlink"/>
              </a:solidFill>
              <a:ln w="12700">
                <a:solidFill>
                  <a:schemeClr val="tx1"/>
                </a:solidFill>
                <a:round/>
              </a:ln>
            </p:spPr>
            <p:txBody>
              <a:bodyPr wrap="none" anchor="ctr"/>
              <a:lstStyle/>
              <a:p>
                <a:endParaRPr lang="en-US"/>
              </a:p>
            </p:txBody>
          </p:sp>
          <p:sp>
            <p:nvSpPr>
              <p:cNvPr id="45" name="Rectangle 63"/>
              <p:cNvSpPr>
                <a:spLocks noChangeArrowheads="1"/>
              </p:cNvSpPr>
              <p:nvPr/>
            </p:nvSpPr>
            <p:spPr bwMode="auto">
              <a:xfrm>
                <a:off x="1687" y="2100"/>
                <a:ext cx="141" cy="105"/>
              </a:xfrm>
              <a:prstGeom prst="rect">
                <a:avLst/>
              </a:prstGeom>
              <a:solidFill>
                <a:schemeClr val="hlink"/>
              </a:solidFill>
              <a:ln>
                <a:noFill/>
              </a:ln>
            </p:spPr>
            <p:txBody>
              <a:bodyPr wrap="none" anchor="ctr"/>
              <a:lstStyle/>
              <a:p>
                <a:endParaRPr lang="en-US"/>
              </a:p>
            </p:txBody>
          </p:sp>
          <p:sp>
            <p:nvSpPr>
              <p:cNvPr id="46" name="Text Box 64"/>
              <p:cNvSpPr txBox="1">
                <a:spLocks noChangeArrowheads="1"/>
              </p:cNvSpPr>
              <p:nvPr/>
            </p:nvSpPr>
            <p:spPr bwMode="auto">
              <a:xfrm>
                <a:off x="1653" y="2011"/>
                <a:ext cx="215" cy="264"/>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z</a:t>
                </a:r>
                <a:endParaRPr lang="en-US"/>
              </a:p>
            </p:txBody>
          </p:sp>
        </p:grpSp>
        <p:sp>
          <p:nvSpPr>
            <p:cNvPr id="33" name="Line 65"/>
            <p:cNvSpPr>
              <a:spLocks noChangeShapeType="1"/>
            </p:cNvSpPr>
            <p:nvPr/>
          </p:nvSpPr>
          <p:spPr bwMode="auto">
            <a:xfrm>
              <a:off x="7963809" y="4083947"/>
              <a:ext cx="510217" cy="0"/>
            </a:xfrm>
            <a:prstGeom prst="line">
              <a:avLst/>
            </a:prstGeom>
            <a:noFill/>
            <a:ln w="9525">
              <a:solidFill>
                <a:schemeClr val="tx1"/>
              </a:solidFill>
              <a:round/>
            </a:ln>
          </p:spPr>
          <p:txBody>
            <a:bodyPr/>
            <a:lstStyle/>
            <a:p>
              <a:endParaRPr lang="en-US"/>
            </a:p>
          </p:txBody>
        </p:sp>
        <p:sp>
          <p:nvSpPr>
            <p:cNvPr id="34" name="Text Box 66"/>
            <p:cNvSpPr txBox="1">
              <a:spLocks noChangeArrowheads="1"/>
            </p:cNvSpPr>
            <p:nvPr/>
          </p:nvSpPr>
          <p:spPr bwMode="auto">
            <a:xfrm>
              <a:off x="8059475" y="4083947"/>
              <a:ext cx="311638" cy="36504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35" name="Line 67"/>
            <p:cNvSpPr>
              <a:spLocks noChangeShapeType="1"/>
            </p:cNvSpPr>
            <p:nvPr/>
          </p:nvSpPr>
          <p:spPr bwMode="auto">
            <a:xfrm>
              <a:off x="6315750" y="2357069"/>
              <a:ext cx="1398748" cy="1695588"/>
            </a:xfrm>
            <a:prstGeom prst="line">
              <a:avLst/>
            </a:prstGeom>
            <a:noFill/>
            <a:ln w="9525">
              <a:solidFill>
                <a:schemeClr val="tx1"/>
              </a:solidFill>
              <a:round/>
            </a:ln>
          </p:spPr>
          <p:txBody>
            <a:bodyPr/>
            <a:lstStyle/>
            <a:p>
              <a:endParaRPr lang="en-US"/>
            </a:p>
          </p:txBody>
        </p:sp>
        <p:sp>
          <p:nvSpPr>
            <p:cNvPr id="36" name="Text Box 68"/>
            <p:cNvSpPr txBox="1">
              <a:spLocks noChangeArrowheads="1"/>
            </p:cNvSpPr>
            <p:nvPr/>
          </p:nvSpPr>
          <p:spPr bwMode="auto">
            <a:xfrm>
              <a:off x="6918734" y="2883029"/>
              <a:ext cx="31308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7</a:t>
              </a:r>
              <a:endParaRPr lang="en-US"/>
            </a:p>
          </p:txBody>
        </p:sp>
        <p:sp>
          <p:nvSpPr>
            <p:cNvPr id="37" name="Freeform 69"/>
            <p:cNvSpPr/>
            <p:nvPr/>
          </p:nvSpPr>
          <p:spPr bwMode="auto">
            <a:xfrm>
              <a:off x="6295458" y="2336210"/>
              <a:ext cx="40585" cy="20860"/>
            </a:xfrm>
            <a:custGeom>
              <a:avLst/>
              <a:gdLst>
                <a:gd name="T0" fmla="*/ 0 w 28"/>
                <a:gd name="T1" fmla="*/ 14 h 14"/>
                <a:gd name="T2" fmla="*/ 28 w 28"/>
                <a:gd name="T3" fmla="*/ 0 h 14"/>
                <a:gd name="T4" fmla="*/ 0 w 28"/>
                <a:gd name="T5" fmla="*/ 14 h 14"/>
                <a:gd name="T6" fmla="*/ 0 60000 65536"/>
                <a:gd name="T7" fmla="*/ 0 60000 65536"/>
                <a:gd name="T8" fmla="*/ 0 60000 65536"/>
                <a:gd name="T9" fmla="*/ 0 w 28"/>
                <a:gd name="T10" fmla="*/ 0 h 14"/>
                <a:gd name="T11" fmla="*/ 28 w 28"/>
                <a:gd name="T12" fmla="*/ 14 h 14"/>
              </a:gdLst>
              <a:ahLst/>
              <a:cxnLst>
                <a:cxn ang="T6">
                  <a:pos x="T0" y="T1"/>
                </a:cxn>
                <a:cxn ang="T7">
                  <a:pos x="T2" y="T3"/>
                </a:cxn>
                <a:cxn ang="T8">
                  <a:pos x="T4" y="T5"/>
                </a:cxn>
              </a:cxnLst>
              <a:rect l="T9" t="T10" r="T11" b="T12"/>
              <a:pathLst>
                <a:path w="28" h="14">
                  <a:moveTo>
                    <a:pt x="0" y="14"/>
                  </a:moveTo>
                  <a:cubicBezTo>
                    <a:pt x="9" y="9"/>
                    <a:pt x="28" y="0"/>
                    <a:pt x="28" y="0"/>
                  </a:cubicBezTo>
                  <a:cubicBezTo>
                    <a:pt x="28" y="0"/>
                    <a:pt x="9" y="9"/>
                    <a:pt x="0" y="14"/>
                  </a:cubicBezTo>
                  <a:close/>
                </a:path>
              </a:pathLst>
            </a:custGeom>
            <a:solidFill>
              <a:schemeClr val="accent1"/>
            </a:solidFill>
            <a:ln w="9525">
              <a:solidFill>
                <a:schemeClr val="tx1"/>
              </a:solidFill>
              <a:round/>
            </a:ln>
          </p:spPr>
          <p:txBody>
            <a:bodyPr/>
            <a:lstStyle/>
            <a:p>
              <a:endParaRPr lang="en-US"/>
            </a:p>
          </p:txBody>
        </p:sp>
        <p:sp>
          <p:nvSpPr>
            <p:cNvPr id="38" name="Freeform 70"/>
            <p:cNvSpPr/>
            <p:nvPr/>
          </p:nvSpPr>
          <p:spPr bwMode="auto">
            <a:xfrm>
              <a:off x="6489688" y="2370479"/>
              <a:ext cx="2188715" cy="1567451"/>
            </a:xfrm>
            <a:custGeom>
              <a:avLst/>
              <a:gdLst>
                <a:gd name="T0" fmla="*/ 0 w 1510"/>
                <a:gd name="T1" fmla="*/ 5 h 1052"/>
                <a:gd name="T2" fmla="*/ 1102 w 1510"/>
                <a:gd name="T3" fmla="*/ 174 h 1052"/>
                <a:gd name="T4" fmla="*/ 1510 w 1510"/>
                <a:gd name="T5" fmla="*/ 1052 h 1052"/>
                <a:gd name="T6" fmla="*/ 0 60000 65536"/>
                <a:gd name="T7" fmla="*/ 0 60000 65536"/>
                <a:gd name="T8" fmla="*/ 0 60000 65536"/>
                <a:gd name="T9" fmla="*/ 0 w 1510"/>
                <a:gd name="T10" fmla="*/ 0 h 1052"/>
                <a:gd name="T11" fmla="*/ 1510 w 1510"/>
                <a:gd name="T12" fmla="*/ 1052 h 1052"/>
              </a:gdLst>
              <a:ahLst/>
              <a:cxnLst>
                <a:cxn ang="T6">
                  <a:pos x="T0" y="T1"/>
                </a:cxn>
                <a:cxn ang="T7">
                  <a:pos x="T2" y="T3"/>
                </a:cxn>
                <a:cxn ang="T8">
                  <a:pos x="T4" y="T5"/>
                </a:cxn>
              </a:cxnLst>
              <a:rect l="T9" t="T10" r="T11" b="T12"/>
              <a:pathLst>
                <a:path w="1510" h="1052">
                  <a:moveTo>
                    <a:pt x="0" y="5"/>
                  </a:moveTo>
                  <a:cubicBezTo>
                    <a:pt x="184" y="33"/>
                    <a:pt x="851" y="0"/>
                    <a:pt x="1102" y="174"/>
                  </a:cubicBezTo>
                  <a:cubicBezTo>
                    <a:pt x="1353" y="348"/>
                    <a:pt x="1425" y="869"/>
                    <a:pt x="1510" y="1052"/>
                  </a:cubicBezTo>
                </a:path>
              </a:pathLst>
            </a:custGeom>
            <a:noFill/>
            <a:ln w="9525">
              <a:solidFill>
                <a:schemeClr val="tx1"/>
              </a:solidFill>
              <a:round/>
            </a:ln>
          </p:spPr>
          <p:txBody>
            <a:bodyPr/>
            <a:lstStyle/>
            <a:p>
              <a:endParaRPr lang="en-US"/>
            </a:p>
          </p:txBody>
        </p:sp>
        <p:sp>
          <p:nvSpPr>
            <p:cNvPr id="39" name="Text Box 71"/>
            <p:cNvSpPr txBox="1">
              <a:spLocks noChangeArrowheads="1"/>
            </p:cNvSpPr>
            <p:nvPr/>
          </p:nvSpPr>
          <p:spPr bwMode="auto">
            <a:xfrm>
              <a:off x="8021788" y="2383889"/>
              <a:ext cx="311638" cy="36653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9</a:t>
              </a:r>
              <a:endParaRPr lang="en-US"/>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10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17937"/>
                                        </p:tgtEl>
                                        <p:attrNameLst>
                                          <p:attrName>style.visibility</p:attrName>
                                        </p:attrNameLst>
                                      </p:cBhvr>
                                      <p:to>
                                        <p:strVal val="visible"/>
                                      </p:to>
                                    </p:set>
                                    <p:animEffect transition="in" filter="dissolve">
                                      <p:cBhvr>
                                        <p:cTn id="12" dur="500"/>
                                        <p:tgtEl>
                                          <p:spTgt spid="717937"/>
                                        </p:tgtEl>
                                      </p:cBhvr>
                                    </p:animEffect>
                                  </p:childTnLst>
                                </p:cTn>
                              </p:par>
                            </p:childTnLst>
                          </p:cTn>
                        </p:par>
                        <p:par>
                          <p:cTn id="13" fill="hold">
                            <p:stCondLst>
                              <p:cond delay="500"/>
                            </p:stCondLst>
                            <p:childTnLst>
                              <p:par>
                                <p:cTn id="14" presetID="9" presetClass="entr" presetSubtype="0" fill="hold" grpId="0" nodeType="afterEffect">
                                  <p:stCondLst>
                                    <p:cond delay="0"/>
                                  </p:stCondLst>
                                  <p:childTnLst>
                                    <p:set>
                                      <p:cBhvr>
                                        <p:cTn id="15" dur="1" fill="hold">
                                          <p:stCondLst>
                                            <p:cond delay="0"/>
                                          </p:stCondLst>
                                        </p:cTn>
                                        <p:tgtEl>
                                          <p:spTgt spid="717924"/>
                                        </p:tgtEl>
                                        <p:attrNameLst>
                                          <p:attrName>style.visibility</p:attrName>
                                        </p:attrNameLst>
                                      </p:cBhvr>
                                      <p:to>
                                        <p:strVal val="visible"/>
                                      </p:to>
                                    </p:set>
                                    <p:animEffect transition="in" filter="dissolve">
                                      <p:cBhvr>
                                        <p:cTn id="16" dur="500"/>
                                        <p:tgtEl>
                                          <p:spTgt spid="717924"/>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10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717938"/>
                                        </p:tgtEl>
                                        <p:attrNameLst>
                                          <p:attrName>style.visibility</p:attrName>
                                        </p:attrNameLst>
                                      </p:cBhvr>
                                      <p:to>
                                        <p:strVal val="visible"/>
                                      </p:to>
                                    </p:set>
                                    <p:animEffect transition="in" filter="dissolve">
                                      <p:cBhvr>
                                        <p:cTn id="26" dur="500"/>
                                        <p:tgtEl>
                                          <p:spTgt spid="717938"/>
                                        </p:tgtEl>
                                      </p:cBhvr>
                                    </p:animEffect>
                                  </p:childTnLst>
                                </p:cTn>
                              </p:par>
                            </p:childTnLst>
                          </p:cTn>
                        </p:par>
                        <p:par>
                          <p:cTn id="27" fill="hold">
                            <p:stCondLst>
                              <p:cond delay="500"/>
                            </p:stCondLst>
                            <p:childTnLst>
                              <p:par>
                                <p:cTn id="28" presetID="9" presetClass="entr" presetSubtype="0" fill="hold" grpId="0" nodeType="afterEffect">
                                  <p:stCondLst>
                                    <p:cond delay="0"/>
                                  </p:stCondLst>
                                  <p:childTnLst>
                                    <p:set>
                                      <p:cBhvr>
                                        <p:cTn id="29" dur="1" fill="hold">
                                          <p:stCondLst>
                                            <p:cond delay="0"/>
                                          </p:stCondLst>
                                        </p:cTn>
                                        <p:tgtEl>
                                          <p:spTgt spid="717939"/>
                                        </p:tgtEl>
                                        <p:attrNameLst>
                                          <p:attrName>style.visibility</p:attrName>
                                        </p:attrNameLst>
                                      </p:cBhvr>
                                      <p:to>
                                        <p:strVal val="visible"/>
                                      </p:to>
                                    </p:set>
                                    <p:animEffect transition="in" filter="dissolve">
                                      <p:cBhvr>
                                        <p:cTn id="30" dur="500"/>
                                        <p:tgtEl>
                                          <p:spTgt spid="717939"/>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wipe(left)">
                                      <p:cBhvr>
                                        <p:cTn id="35" dur="10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717940"/>
                                        </p:tgtEl>
                                        <p:attrNameLst>
                                          <p:attrName>style.visibility</p:attrName>
                                        </p:attrNameLst>
                                      </p:cBhvr>
                                      <p:to>
                                        <p:strVal val="visible"/>
                                      </p:to>
                                    </p:set>
                                    <p:animEffect transition="in" filter="dissolve">
                                      <p:cBhvr>
                                        <p:cTn id="40" dur="500"/>
                                        <p:tgtEl>
                                          <p:spTgt spid="717940"/>
                                        </p:tgtEl>
                                      </p:cBhvr>
                                    </p:animEffect>
                                  </p:childTnLst>
                                </p:cTn>
                              </p:par>
                            </p:childTnLst>
                          </p:cTn>
                        </p:par>
                        <p:par>
                          <p:cTn id="41" fill="hold">
                            <p:stCondLst>
                              <p:cond delay="500"/>
                            </p:stCondLst>
                            <p:childTnLst>
                              <p:par>
                                <p:cTn id="42" presetID="9" presetClass="entr" presetSubtype="0" fill="hold" grpId="0" nodeType="afterEffect">
                                  <p:stCondLst>
                                    <p:cond delay="0"/>
                                  </p:stCondLst>
                                  <p:childTnLst>
                                    <p:set>
                                      <p:cBhvr>
                                        <p:cTn id="43" dur="1" fill="hold">
                                          <p:stCondLst>
                                            <p:cond delay="0"/>
                                          </p:stCondLst>
                                        </p:cTn>
                                        <p:tgtEl>
                                          <p:spTgt spid="717941"/>
                                        </p:tgtEl>
                                        <p:attrNameLst>
                                          <p:attrName>style.visibility</p:attrName>
                                        </p:attrNameLst>
                                      </p:cBhvr>
                                      <p:to>
                                        <p:strVal val="visible"/>
                                      </p:to>
                                    </p:set>
                                    <p:animEffect transition="in" filter="dissolve">
                                      <p:cBhvr>
                                        <p:cTn id="44" dur="500"/>
                                        <p:tgtEl>
                                          <p:spTgt spid="717941"/>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nodeType="click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wipe(left)">
                                      <p:cBhvr>
                                        <p:cTn id="49" dur="1000"/>
                                        <p:tgtEl>
                                          <p:spTgt spid="12"/>
                                        </p:tgtEl>
                                      </p:cBhvr>
                                    </p:animEffect>
                                  </p:childTnLst>
                                </p:cTn>
                              </p:par>
                            </p:childTnLst>
                          </p:cTn>
                        </p:par>
                      </p:childTnLst>
                    </p:cTn>
                  </p:par>
                  <p:par>
                    <p:cTn id="50" fill="hold">
                      <p:stCondLst>
                        <p:cond delay="indefinite"/>
                      </p:stCondLst>
                      <p:childTnLst>
                        <p:par>
                          <p:cTn id="51" fill="hold">
                            <p:stCondLst>
                              <p:cond delay="0"/>
                            </p:stCondLst>
                            <p:childTnLst>
                              <p:par>
                                <p:cTn id="52" presetID="9" presetClass="entr" presetSubtype="0" fill="hold" grpId="0" nodeType="clickEffect">
                                  <p:stCondLst>
                                    <p:cond delay="0"/>
                                  </p:stCondLst>
                                  <p:childTnLst>
                                    <p:set>
                                      <p:cBhvr>
                                        <p:cTn id="53" dur="1" fill="hold">
                                          <p:stCondLst>
                                            <p:cond delay="0"/>
                                          </p:stCondLst>
                                        </p:cTn>
                                        <p:tgtEl>
                                          <p:spTgt spid="717945"/>
                                        </p:tgtEl>
                                        <p:attrNameLst>
                                          <p:attrName>style.visibility</p:attrName>
                                        </p:attrNameLst>
                                      </p:cBhvr>
                                      <p:to>
                                        <p:strVal val="visible"/>
                                      </p:to>
                                    </p:set>
                                    <p:animEffect transition="in" filter="dissolve">
                                      <p:cBhvr>
                                        <p:cTn id="54" dur="500"/>
                                        <p:tgtEl>
                                          <p:spTgt spid="717945"/>
                                        </p:tgtEl>
                                      </p:cBhvr>
                                    </p:animEffec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717946"/>
                                        </p:tgtEl>
                                        <p:attrNameLst>
                                          <p:attrName>style.visibility</p:attrName>
                                        </p:attrNameLst>
                                      </p:cBhvr>
                                      <p:to>
                                        <p:strVal val="visible"/>
                                      </p:to>
                                    </p:set>
                                    <p:animEffect transition="in" filter="dissolve">
                                      <p:cBhvr>
                                        <p:cTn id="58" dur="500"/>
                                        <p:tgtEl>
                                          <p:spTgt spid="717946"/>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grpId="0" nodeType="clickEffect">
                                  <p:stCondLst>
                                    <p:cond delay="0"/>
                                  </p:stCondLst>
                                  <p:childTnLst>
                                    <p:set>
                                      <p:cBhvr>
                                        <p:cTn id="62" dur="1" fill="hold">
                                          <p:stCondLst>
                                            <p:cond delay="0"/>
                                          </p:stCondLst>
                                        </p:cTn>
                                        <p:tgtEl>
                                          <p:spTgt spid="717947"/>
                                        </p:tgtEl>
                                        <p:attrNameLst>
                                          <p:attrName>style.visibility</p:attrName>
                                        </p:attrNameLst>
                                      </p:cBhvr>
                                      <p:to>
                                        <p:strVal val="visible"/>
                                      </p:to>
                                    </p:set>
                                    <p:animEffect transition="in" filter="wipe(left)">
                                      <p:cBhvr>
                                        <p:cTn id="63" dur="1000"/>
                                        <p:tgtEl>
                                          <p:spTgt spid="717947"/>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grpId="0" nodeType="clickEffect">
                                  <p:stCondLst>
                                    <p:cond delay="0"/>
                                  </p:stCondLst>
                                  <p:childTnLst>
                                    <p:set>
                                      <p:cBhvr>
                                        <p:cTn id="67" dur="1" fill="hold">
                                          <p:stCondLst>
                                            <p:cond delay="0"/>
                                          </p:stCondLst>
                                        </p:cTn>
                                        <p:tgtEl>
                                          <p:spTgt spid="717948"/>
                                        </p:tgtEl>
                                        <p:attrNameLst>
                                          <p:attrName>style.visibility</p:attrName>
                                        </p:attrNameLst>
                                      </p:cBhvr>
                                      <p:to>
                                        <p:strVal val="visible"/>
                                      </p:to>
                                    </p:set>
                                    <p:animEffect transition="in" filter="dissolve">
                                      <p:cBhvr>
                                        <p:cTn id="68" dur="500"/>
                                        <p:tgtEl>
                                          <p:spTgt spid="717948"/>
                                        </p:tgtEl>
                                      </p:cBhvr>
                                    </p:animEffect>
                                  </p:childTnLst>
                                </p:cTn>
                              </p:par>
                            </p:childTnLst>
                          </p:cTn>
                        </p:par>
                        <p:par>
                          <p:cTn id="69" fill="hold">
                            <p:stCondLst>
                              <p:cond delay="500"/>
                            </p:stCondLst>
                            <p:childTnLst>
                              <p:par>
                                <p:cTn id="70" presetID="9" presetClass="entr" presetSubtype="0" fill="hold" grpId="0" nodeType="afterEffect">
                                  <p:stCondLst>
                                    <p:cond delay="0"/>
                                  </p:stCondLst>
                                  <p:childTnLst>
                                    <p:set>
                                      <p:cBhvr>
                                        <p:cTn id="71" dur="1" fill="hold">
                                          <p:stCondLst>
                                            <p:cond delay="0"/>
                                          </p:stCondLst>
                                        </p:cTn>
                                        <p:tgtEl>
                                          <p:spTgt spid="717955"/>
                                        </p:tgtEl>
                                        <p:attrNameLst>
                                          <p:attrName>style.visibility</p:attrName>
                                        </p:attrNameLst>
                                      </p:cBhvr>
                                      <p:to>
                                        <p:strVal val="visible"/>
                                      </p:to>
                                    </p:set>
                                    <p:animEffect transition="in" filter="dissolve">
                                      <p:cBhvr>
                                        <p:cTn id="72" dur="500"/>
                                        <p:tgtEl>
                                          <p:spTgt spid="717955"/>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grpId="0" nodeType="clickEffect">
                                  <p:stCondLst>
                                    <p:cond delay="0"/>
                                  </p:stCondLst>
                                  <p:childTnLst>
                                    <p:set>
                                      <p:cBhvr>
                                        <p:cTn id="76" dur="1" fill="hold">
                                          <p:stCondLst>
                                            <p:cond delay="0"/>
                                          </p:stCondLst>
                                        </p:cTn>
                                        <p:tgtEl>
                                          <p:spTgt spid="717949"/>
                                        </p:tgtEl>
                                        <p:attrNameLst>
                                          <p:attrName>style.visibility</p:attrName>
                                        </p:attrNameLst>
                                      </p:cBhvr>
                                      <p:to>
                                        <p:strVal val="visible"/>
                                      </p:to>
                                    </p:set>
                                    <p:animEffect transition="in" filter="dissolve">
                                      <p:cBhvr>
                                        <p:cTn id="77" dur="500"/>
                                        <p:tgtEl>
                                          <p:spTgt spid="717949"/>
                                        </p:tgtEl>
                                      </p:cBhvr>
                                    </p:animEffect>
                                  </p:childTnLst>
                                </p:cTn>
                              </p:par>
                            </p:childTnLst>
                          </p:cTn>
                        </p:par>
                      </p:childTnLst>
                    </p:cTn>
                  </p:par>
                  <p:par>
                    <p:cTn id="78" fill="hold">
                      <p:stCondLst>
                        <p:cond delay="indefinite"/>
                      </p:stCondLst>
                      <p:childTnLst>
                        <p:par>
                          <p:cTn id="79" fill="hold">
                            <p:stCondLst>
                              <p:cond delay="0"/>
                            </p:stCondLst>
                            <p:childTnLst>
                              <p:par>
                                <p:cTn id="80" presetID="9" presetClass="entr" presetSubtype="0" fill="hold" grpId="0" nodeType="clickEffect">
                                  <p:stCondLst>
                                    <p:cond delay="0"/>
                                  </p:stCondLst>
                                  <p:childTnLst>
                                    <p:set>
                                      <p:cBhvr>
                                        <p:cTn id="81" dur="1" fill="hold">
                                          <p:stCondLst>
                                            <p:cond delay="0"/>
                                          </p:stCondLst>
                                        </p:cTn>
                                        <p:tgtEl>
                                          <p:spTgt spid="717950"/>
                                        </p:tgtEl>
                                        <p:attrNameLst>
                                          <p:attrName>style.visibility</p:attrName>
                                        </p:attrNameLst>
                                      </p:cBhvr>
                                      <p:to>
                                        <p:strVal val="visible"/>
                                      </p:to>
                                    </p:set>
                                    <p:animEffect transition="in" filter="dissolve">
                                      <p:cBhvr>
                                        <p:cTn id="82" dur="1000"/>
                                        <p:tgtEl>
                                          <p:spTgt spid="717950"/>
                                        </p:tgtEl>
                                      </p:cBhvr>
                                    </p:animEffect>
                                  </p:childTnLst>
                                </p:cTn>
                              </p:par>
                              <p:par>
                                <p:cTn id="83" presetID="9" presetClass="entr" presetSubtype="0" fill="hold" grpId="0" nodeType="withEffect">
                                  <p:stCondLst>
                                    <p:cond delay="0"/>
                                  </p:stCondLst>
                                  <p:childTnLst>
                                    <p:set>
                                      <p:cBhvr>
                                        <p:cTn id="84" dur="1" fill="hold">
                                          <p:stCondLst>
                                            <p:cond delay="0"/>
                                          </p:stCondLst>
                                        </p:cTn>
                                        <p:tgtEl>
                                          <p:spTgt spid="717951"/>
                                        </p:tgtEl>
                                        <p:attrNameLst>
                                          <p:attrName>style.visibility</p:attrName>
                                        </p:attrNameLst>
                                      </p:cBhvr>
                                      <p:to>
                                        <p:strVal val="visible"/>
                                      </p:to>
                                    </p:set>
                                    <p:animEffect transition="in" filter="dissolve">
                                      <p:cBhvr>
                                        <p:cTn id="85" dur="1000"/>
                                        <p:tgtEl>
                                          <p:spTgt spid="717951"/>
                                        </p:tgtEl>
                                      </p:cBhvr>
                                    </p:animEffect>
                                  </p:childTnLst>
                                </p:cTn>
                              </p:par>
                              <p:par>
                                <p:cTn id="86" presetID="9" presetClass="entr" presetSubtype="0" fill="hold" grpId="0" nodeType="withEffect">
                                  <p:stCondLst>
                                    <p:cond delay="0"/>
                                  </p:stCondLst>
                                  <p:childTnLst>
                                    <p:set>
                                      <p:cBhvr>
                                        <p:cTn id="87" dur="1" fill="hold">
                                          <p:stCondLst>
                                            <p:cond delay="0"/>
                                          </p:stCondLst>
                                        </p:cTn>
                                        <p:tgtEl>
                                          <p:spTgt spid="717952"/>
                                        </p:tgtEl>
                                        <p:attrNameLst>
                                          <p:attrName>style.visibility</p:attrName>
                                        </p:attrNameLst>
                                      </p:cBhvr>
                                      <p:to>
                                        <p:strVal val="visible"/>
                                      </p:to>
                                    </p:set>
                                    <p:animEffect transition="in" filter="dissolve">
                                      <p:cBhvr>
                                        <p:cTn id="88" dur="1000"/>
                                        <p:tgtEl>
                                          <p:spTgt spid="717952"/>
                                        </p:tgtEl>
                                      </p:cBhvr>
                                    </p:animEffect>
                                  </p:childTnLst>
                                </p:cTn>
                              </p:par>
                              <p:par>
                                <p:cTn id="89" presetID="9" presetClass="entr" presetSubtype="0" fill="hold" grpId="0" nodeType="withEffect">
                                  <p:stCondLst>
                                    <p:cond delay="0"/>
                                  </p:stCondLst>
                                  <p:childTnLst>
                                    <p:set>
                                      <p:cBhvr>
                                        <p:cTn id="90" dur="1" fill="hold">
                                          <p:stCondLst>
                                            <p:cond delay="0"/>
                                          </p:stCondLst>
                                        </p:cTn>
                                        <p:tgtEl>
                                          <p:spTgt spid="717953"/>
                                        </p:tgtEl>
                                        <p:attrNameLst>
                                          <p:attrName>style.visibility</p:attrName>
                                        </p:attrNameLst>
                                      </p:cBhvr>
                                      <p:to>
                                        <p:strVal val="visible"/>
                                      </p:to>
                                    </p:set>
                                    <p:animEffect transition="in" filter="dissolve">
                                      <p:cBhvr>
                                        <p:cTn id="91" dur="1000"/>
                                        <p:tgtEl>
                                          <p:spTgt spid="717953"/>
                                        </p:tgtEl>
                                      </p:cBhvr>
                                    </p:animEffect>
                                  </p:childTnLst>
                                </p:cTn>
                              </p:par>
                              <p:par>
                                <p:cTn id="92" presetID="9" presetClass="entr" presetSubtype="0" fill="hold" grpId="0" nodeType="withEffect">
                                  <p:stCondLst>
                                    <p:cond delay="0"/>
                                  </p:stCondLst>
                                  <p:childTnLst>
                                    <p:set>
                                      <p:cBhvr>
                                        <p:cTn id="93" dur="1" fill="hold">
                                          <p:stCondLst>
                                            <p:cond delay="0"/>
                                          </p:stCondLst>
                                        </p:cTn>
                                        <p:tgtEl>
                                          <p:spTgt spid="717954"/>
                                        </p:tgtEl>
                                        <p:attrNameLst>
                                          <p:attrName>style.visibility</p:attrName>
                                        </p:attrNameLst>
                                      </p:cBhvr>
                                      <p:to>
                                        <p:strVal val="visible"/>
                                      </p:to>
                                    </p:set>
                                    <p:animEffect transition="in" filter="dissolve">
                                      <p:cBhvr>
                                        <p:cTn id="94" dur="1000"/>
                                        <p:tgtEl>
                                          <p:spTgt spid="7179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924" grpId="0"/>
      <p:bldP spid="717937" grpId="0" animBg="1"/>
      <p:bldP spid="717938" grpId="0" animBg="1"/>
      <p:bldP spid="717939" grpId="0"/>
      <p:bldP spid="717940" grpId="0" animBg="1"/>
      <p:bldP spid="717941" grpId="0"/>
      <p:bldP spid="717945" grpId="0" animBg="1"/>
      <p:bldP spid="717946" grpId="0"/>
      <p:bldP spid="717947" grpId="0"/>
      <p:bldP spid="717948" grpId="0" animBg="1"/>
      <p:bldP spid="717949" grpId="0"/>
      <p:bldP spid="717950" grpId="0" animBg="1"/>
      <p:bldP spid="717951" grpId="0" animBg="1"/>
      <p:bldP spid="717952" grpId="0" animBg="1"/>
      <p:bldP spid="717953" grpId="0" animBg="1"/>
      <p:bldP spid="717954" grpId="0" animBg="1"/>
      <p:bldP spid="717955"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8003" name="Picture 91"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5138" y="833438"/>
            <a:ext cx="7769225" cy="173037"/>
          </a:xfrm>
          <a:prstGeom prst="rect">
            <a:avLst/>
          </a:prstGeom>
          <a:noFill/>
          <a:ln>
            <a:noFill/>
          </a:ln>
        </p:spPr>
      </p:pic>
      <p:sp>
        <p:nvSpPr>
          <p:cNvPr id="128004" name="Rectangle 2"/>
          <p:cNvSpPr>
            <a:spLocks noGrp="1" noChangeArrowheads="1"/>
          </p:cNvSpPr>
          <p:nvPr>
            <p:ph type="title"/>
          </p:nvPr>
        </p:nvSpPr>
        <p:spPr>
          <a:xfrm>
            <a:off x="411163" y="130175"/>
            <a:ext cx="8364537" cy="963613"/>
          </a:xfrm>
        </p:spPr>
        <p:txBody>
          <a:bodyPr/>
          <a:lstStyle/>
          <a:p>
            <a:r>
              <a:rPr lang="en-US" sz="3600">
                <a:latin typeface="Gill Sans MT" pitchFamily="34" charset="0"/>
              </a:rPr>
              <a:t>Dijkstra</a:t>
            </a:r>
            <a:r>
              <a:rPr lang="ja-JP" altLang="en-US" sz="3600">
                <a:latin typeface="Gill Sans MT" pitchFamily="34" charset="0"/>
              </a:rPr>
              <a:t>’</a:t>
            </a:r>
            <a:r>
              <a:rPr lang="en-US" altLang="ja-JP" sz="3600">
                <a:latin typeface="Gill Sans MT" pitchFamily="34" charset="0"/>
              </a:rPr>
              <a:t>s algorithm: another example</a:t>
            </a:r>
          </a:p>
        </p:txBody>
      </p:sp>
      <p:sp>
        <p:nvSpPr>
          <p:cNvPr id="128005" name="Text Box 3"/>
          <p:cNvSpPr txBox="1">
            <a:spLocks noChangeArrowheads="1"/>
          </p:cNvSpPr>
          <p:nvPr/>
        </p:nvSpPr>
        <p:spPr bwMode="auto">
          <a:xfrm>
            <a:off x="239713" y="1506538"/>
            <a:ext cx="706437" cy="22256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Step</a:t>
            </a:r>
          </a:p>
          <a:p>
            <a:pPr algn="r"/>
            <a:r>
              <a:rPr lang="en-US" sz="2000"/>
              <a:t>0</a:t>
            </a:r>
          </a:p>
          <a:p>
            <a:pPr algn="r"/>
            <a:r>
              <a:rPr lang="en-US" sz="2000"/>
              <a:t>1</a:t>
            </a:r>
          </a:p>
          <a:p>
            <a:pPr algn="r"/>
            <a:r>
              <a:rPr lang="en-US" sz="2000"/>
              <a:t>2</a:t>
            </a:r>
          </a:p>
          <a:p>
            <a:pPr algn="r"/>
            <a:r>
              <a:rPr lang="en-US" sz="2000"/>
              <a:t>3</a:t>
            </a:r>
          </a:p>
          <a:p>
            <a:pPr algn="r"/>
            <a:r>
              <a:rPr lang="en-US" sz="2000"/>
              <a:t>4</a:t>
            </a:r>
          </a:p>
          <a:p>
            <a:pPr algn="r"/>
            <a:r>
              <a:rPr lang="en-US" sz="2000"/>
              <a:t>5</a:t>
            </a:r>
          </a:p>
        </p:txBody>
      </p:sp>
      <p:sp>
        <p:nvSpPr>
          <p:cNvPr id="128006" name="Text Box 4"/>
          <p:cNvSpPr txBox="1">
            <a:spLocks noChangeArrowheads="1"/>
          </p:cNvSpPr>
          <p:nvPr/>
        </p:nvSpPr>
        <p:spPr bwMode="auto">
          <a:xfrm>
            <a:off x="1849754" y="1516063"/>
            <a:ext cx="420371" cy="707886"/>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dirty="0"/>
              <a:t>N</a:t>
            </a:r>
            <a:r>
              <a:rPr lang="en-US" sz="2000" dirty="0">
                <a:cs typeface="Arial" panose="020B0604020202090204" pitchFamily="34" charset="0"/>
              </a:rPr>
              <a:t>'</a:t>
            </a:r>
          </a:p>
          <a:p>
            <a:pPr algn="r"/>
            <a:endParaRPr lang="en-US" sz="2000" dirty="0"/>
          </a:p>
        </p:txBody>
      </p:sp>
      <p:sp>
        <p:nvSpPr>
          <p:cNvPr id="128007" name="Text Box 5"/>
          <p:cNvSpPr txBox="1">
            <a:spLocks noChangeArrowheads="1"/>
          </p:cNvSpPr>
          <p:nvPr/>
        </p:nvSpPr>
        <p:spPr bwMode="auto">
          <a:xfrm>
            <a:off x="2490169" y="1497013"/>
            <a:ext cx="1180131" cy="40011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dirty="0"/>
              <a:t>D(v),p(v)</a:t>
            </a:r>
          </a:p>
        </p:txBody>
      </p:sp>
      <p:sp>
        <p:nvSpPr>
          <p:cNvPr id="128008" name="Text Box 6"/>
          <p:cNvSpPr txBox="1">
            <a:spLocks noChangeArrowheads="1"/>
          </p:cNvSpPr>
          <p:nvPr/>
        </p:nvSpPr>
        <p:spPr bwMode="auto">
          <a:xfrm>
            <a:off x="3655802" y="1501775"/>
            <a:ext cx="1295611" cy="707886"/>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dirty="0"/>
              <a:t>D(w),p(w)</a:t>
            </a:r>
          </a:p>
          <a:p>
            <a:pPr algn="r"/>
            <a:endParaRPr lang="en-US" sz="2000" dirty="0"/>
          </a:p>
        </p:txBody>
      </p:sp>
      <p:sp>
        <p:nvSpPr>
          <p:cNvPr id="128009" name="Text Box 7"/>
          <p:cNvSpPr txBox="1">
            <a:spLocks noChangeArrowheads="1"/>
          </p:cNvSpPr>
          <p:nvPr/>
        </p:nvSpPr>
        <p:spPr bwMode="auto">
          <a:xfrm>
            <a:off x="5047632" y="1497013"/>
            <a:ext cx="1180131" cy="40011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dirty="0"/>
              <a:t>D(x),p(x)</a:t>
            </a:r>
          </a:p>
        </p:txBody>
      </p:sp>
      <p:sp>
        <p:nvSpPr>
          <p:cNvPr id="128010" name="Text Box 8"/>
          <p:cNvSpPr txBox="1">
            <a:spLocks noChangeArrowheads="1"/>
          </p:cNvSpPr>
          <p:nvPr/>
        </p:nvSpPr>
        <p:spPr bwMode="auto">
          <a:xfrm>
            <a:off x="6343032" y="1501775"/>
            <a:ext cx="1180131" cy="40011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dirty="0"/>
              <a:t>D(y),p(y)</a:t>
            </a:r>
          </a:p>
        </p:txBody>
      </p:sp>
      <p:sp>
        <p:nvSpPr>
          <p:cNvPr id="128011" name="Text Box 9"/>
          <p:cNvSpPr txBox="1">
            <a:spLocks noChangeArrowheads="1"/>
          </p:cNvSpPr>
          <p:nvPr/>
        </p:nvSpPr>
        <p:spPr bwMode="auto">
          <a:xfrm>
            <a:off x="7595505" y="1516063"/>
            <a:ext cx="1180195" cy="707886"/>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dirty="0"/>
              <a:t>D(z),p(z)</a:t>
            </a:r>
          </a:p>
          <a:p>
            <a:pPr algn="r"/>
            <a:endParaRPr lang="en-US" sz="2000" dirty="0"/>
          </a:p>
        </p:txBody>
      </p:sp>
      <p:sp>
        <p:nvSpPr>
          <p:cNvPr id="128012" name="Line 10"/>
          <p:cNvSpPr>
            <a:spLocks noChangeShapeType="1"/>
          </p:cNvSpPr>
          <p:nvPr/>
        </p:nvSpPr>
        <p:spPr bwMode="auto">
          <a:xfrm>
            <a:off x="361950" y="1857375"/>
            <a:ext cx="8505825" cy="9525"/>
          </a:xfrm>
          <a:prstGeom prst="line">
            <a:avLst/>
          </a:prstGeom>
          <a:noFill/>
          <a:ln w="28575">
            <a:solidFill>
              <a:schemeClr val="accent2"/>
            </a:solidFill>
            <a:round/>
          </a:ln>
        </p:spPr>
        <p:txBody>
          <a:bodyPr wrap="none" anchor="ctr"/>
          <a:lstStyle/>
          <a:p>
            <a:endParaRPr lang="en-US"/>
          </a:p>
        </p:txBody>
      </p:sp>
      <p:sp>
        <p:nvSpPr>
          <p:cNvPr id="128013" name="Line 11"/>
          <p:cNvSpPr>
            <a:spLocks noChangeShapeType="1"/>
          </p:cNvSpPr>
          <p:nvPr/>
        </p:nvSpPr>
        <p:spPr bwMode="auto">
          <a:xfrm>
            <a:off x="519113" y="2162175"/>
            <a:ext cx="8296275" cy="0"/>
          </a:xfrm>
          <a:prstGeom prst="line">
            <a:avLst/>
          </a:prstGeom>
          <a:noFill/>
          <a:ln w="19050">
            <a:solidFill>
              <a:schemeClr val="accent2"/>
            </a:solidFill>
            <a:round/>
          </a:ln>
        </p:spPr>
        <p:txBody>
          <a:bodyPr wrap="none" anchor="ctr"/>
          <a:lstStyle/>
          <a:p>
            <a:endParaRPr lang="en-US"/>
          </a:p>
        </p:txBody>
      </p:sp>
      <p:sp>
        <p:nvSpPr>
          <p:cNvPr id="128014" name="Line 12"/>
          <p:cNvSpPr>
            <a:spLocks noChangeShapeType="1"/>
          </p:cNvSpPr>
          <p:nvPr/>
        </p:nvSpPr>
        <p:spPr bwMode="auto">
          <a:xfrm>
            <a:off x="538163" y="2457450"/>
            <a:ext cx="8267700" cy="4763"/>
          </a:xfrm>
          <a:prstGeom prst="line">
            <a:avLst/>
          </a:prstGeom>
          <a:noFill/>
          <a:ln w="19050">
            <a:solidFill>
              <a:schemeClr val="accent2"/>
            </a:solidFill>
            <a:round/>
          </a:ln>
        </p:spPr>
        <p:txBody>
          <a:bodyPr wrap="none" anchor="ctr"/>
          <a:lstStyle/>
          <a:p>
            <a:endParaRPr lang="en-US"/>
          </a:p>
        </p:txBody>
      </p:sp>
      <p:sp>
        <p:nvSpPr>
          <p:cNvPr id="128015" name="Line 13"/>
          <p:cNvSpPr>
            <a:spLocks noChangeShapeType="1"/>
          </p:cNvSpPr>
          <p:nvPr/>
        </p:nvSpPr>
        <p:spPr bwMode="auto">
          <a:xfrm>
            <a:off x="547688" y="2767013"/>
            <a:ext cx="8253412" cy="9525"/>
          </a:xfrm>
          <a:prstGeom prst="line">
            <a:avLst/>
          </a:prstGeom>
          <a:noFill/>
          <a:ln w="19050">
            <a:solidFill>
              <a:schemeClr val="accent2"/>
            </a:solidFill>
            <a:round/>
          </a:ln>
        </p:spPr>
        <p:txBody>
          <a:bodyPr wrap="none" anchor="ctr"/>
          <a:lstStyle/>
          <a:p>
            <a:endParaRPr lang="en-US"/>
          </a:p>
        </p:txBody>
      </p:sp>
      <p:sp>
        <p:nvSpPr>
          <p:cNvPr id="128016" name="Line 14"/>
          <p:cNvSpPr>
            <a:spLocks noChangeShapeType="1"/>
          </p:cNvSpPr>
          <p:nvPr/>
        </p:nvSpPr>
        <p:spPr bwMode="auto">
          <a:xfrm>
            <a:off x="557213" y="3071813"/>
            <a:ext cx="8267700" cy="9525"/>
          </a:xfrm>
          <a:prstGeom prst="line">
            <a:avLst/>
          </a:prstGeom>
          <a:noFill/>
          <a:ln w="19050">
            <a:solidFill>
              <a:schemeClr val="accent2"/>
            </a:solidFill>
            <a:round/>
          </a:ln>
        </p:spPr>
        <p:txBody>
          <a:bodyPr wrap="none" anchor="ctr"/>
          <a:lstStyle/>
          <a:p>
            <a:endParaRPr lang="en-US"/>
          </a:p>
        </p:txBody>
      </p:sp>
      <p:sp>
        <p:nvSpPr>
          <p:cNvPr id="128017" name="Line 15"/>
          <p:cNvSpPr>
            <a:spLocks noChangeShapeType="1"/>
          </p:cNvSpPr>
          <p:nvPr/>
        </p:nvSpPr>
        <p:spPr bwMode="auto">
          <a:xfrm>
            <a:off x="571500" y="3386138"/>
            <a:ext cx="8262938" cy="4762"/>
          </a:xfrm>
          <a:prstGeom prst="line">
            <a:avLst/>
          </a:prstGeom>
          <a:noFill/>
          <a:ln w="19050">
            <a:solidFill>
              <a:schemeClr val="accent2"/>
            </a:solidFill>
            <a:round/>
          </a:ln>
        </p:spPr>
        <p:txBody>
          <a:bodyPr wrap="none" anchor="ctr"/>
          <a:lstStyle/>
          <a:p>
            <a:endParaRPr lang="en-US"/>
          </a:p>
        </p:txBody>
      </p:sp>
      <p:grpSp>
        <p:nvGrpSpPr>
          <p:cNvPr id="128018" name="Group 16"/>
          <p:cNvGrpSpPr/>
          <p:nvPr/>
        </p:nvGrpSpPr>
        <p:grpSpPr bwMode="auto">
          <a:xfrm>
            <a:off x="3645396" y="3771160"/>
            <a:ext cx="3571875" cy="2236787"/>
            <a:chOff x="3162" y="1071"/>
            <a:chExt cx="2250" cy="1409"/>
          </a:xfrm>
        </p:grpSpPr>
        <p:sp>
          <p:nvSpPr>
            <p:cNvPr id="128024" name="Freeform 17"/>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p:spPr>
          <p:txBody>
            <a:bodyPr wrap="none" anchor="ctr"/>
            <a:lstStyle/>
            <a:p>
              <a:endParaRPr lang="en-US"/>
            </a:p>
          </p:txBody>
        </p:sp>
        <p:sp>
          <p:nvSpPr>
            <p:cNvPr id="128025" name="Freeform 18"/>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ln>
          </p:spPr>
          <p:txBody>
            <a:bodyPr wrap="none" anchor="ctr"/>
            <a:lstStyle/>
            <a:p>
              <a:endParaRPr lang="en-US"/>
            </a:p>
          </p:txBody>
        </p:sp>
        <p:sp>
          <p:nvSpPr>
            <p:cNvPr id="128026" name="Oval 19"/>
            <p:cNvSpPr>
              <a:spLocks noChangeArrowheads="1"/>
            </p:cNvSpPr>
            <p:nvPr/>
          </p:nvSpPr>
          <p:spPr bwMode="auto">
            <a:xfrm>
              <a:off x="3238" y="1862"/>
              <a:ext cx="313" cy="81"/>
            </a:xfrm>
            <a:prstGeom prst="ellipse">
              <a:avLst/>
            </a:prstGeom>
            <a:solidFill>
              <a:schemeClr val="hlink"/>
            </a:solidFill>
            <a:ln w="12700">
              <a:solidFill>
                <a:schemeClr val="tx1"/>
              </a:solidFill>
              <a:round/>
            </a:ln>
          </p:spPr>
          <p:txBody>
            <a:bodyPr wrap="none" anchor="ctr"/>
            <a:lstStyle/>
            <a:p>
              <a:endParaRPr lang="en-US"/>
            </a:p>
          </p:txBody>
        </p:sp>
        <p:sp>
          <p:nvSpPr>
            <p:cNvPr id="128027" name="Line 20"/>
            <p:cNvSpPr>
              <a:spLocks noChangeShapeType="1"/>
            </p:cNvSpPr>
            <p:nvPr/>
          </p:nvSpPr>
          <p:spPr bwMode="auto">
            <a:xfrm>
              <a:off x="3238" y="1855"/>
              <a:ext cx="0" cy="50"/>
            </a:xfrm>
            <a:prstGeom prst="line">
              <a:avLst/>
            </a:prstGeom>
            <a:noFill/>
            <a:ln w="12700">
              <a:solidFill>
                <a:schemeClr val="tx1"/>
              </a:solidFill>
              <a:round/>
            </a:ln>
          </p:spPr>
          <p:txBody>
            <a:bodyPr wrap="none" anchor="ctr"/>
            <a:lstStyle/>
            <a:p>
              <a:endParaRPr lang="en-US"/>
            </a:p>
          </p:txBody>
        </p:sp>
        <p:sp>
          <p:nvSpPr>
            <p:cNvPr id="128028" name="Line 21"/>
            <p:cNvSpPr>
              <a:spLocks noChangeShapeType="1"/>
            </p:cNvSpPr>
            <p:nvPr/>
          </p:nvSpPr>
          <p:spPr bwMode="auto">
            <a:xfrm>
              <a:off x="3551" y="1855"/>
              <a:ext cx="0" cy="50"/>
            </a:xfrm>
            <a:prstGeom prst="line">
              <a:avLst/>
            </a:prstGeom>
            <a:noFill/>
            <a:ln w="12700">
              <a:solidFill>
                <a:schemeClr val="tx1"/>
              </a:solidFill>
              <a:round/>
            </a:ln>
          </p:spPr>
          <p:txBody>
            <a:bodyPr wrap="none" anchor="ctr"/>
            <a:lstStyle/>
            <a:p>
              <a:endParaRPr lang="en-US"/>
            </a:p>
          </p:txBody>
        </p:sp>
        <p:sp>
          <p:nvSpPr>
            <p:cNvPr id="128029" name="Rectangle 22"/>
            <p:cNvSpPr>
              <a:spLocks noChangeArrowheads="1"/>
            </p:cNvSpPr>
            <p:nvPr/>
          </p:nvSpPr>
          <p:spPr bwMode="auto">
            <a:xfrm>
              <a:off x="3238" y="1855"/>
              <a:ext cx="310" cy="49"/>
            </a:xfrm>
            <a:prstGeom prst="rect">
              <a:avLst/>
            </a:prstGeom>
            <a:solidFill>
              <a:schemeClr val="hlink"/>
            </a:solidFill>
            <a:ln>
              <a:noFill/>
            </a:ln>
          </p:spPr>
          <p:txBody>
            <a:bodyPr wrap="none" anchor="ctr"/>
            <a:lstStyle/>
            <a:p>
              <a:pPr algn="ctr"/>
              <a:endParaRPr lang="en-US" sz="2400"/>
            </a:p>
          </p:txBody>
        </p:sp>
        <p:sp>
          <p:nvSpPr>
            <p:cNvPr id="128030" name="Oval 23"/>
            <p:cNvSpPr>
              <a:spLocks noChangeArrowheads="1"/>
            </p:cNvSpPr>
            <p:nvPr/>
          </p:nvSpPr>
          <p:spPr bwMode="auto">
            <a:xfrm>
              <a:off x="3235" y="1796"/>
              <a:ext cx="313" cy="95"/>
            </a:xfrm>
            <a:prstGeom prst="ellipse">
              <a:avLst/>
            </a:prstGeom>
            <a:solidFill>
              <a:schemeClr val="hlink"/>
            </a:solidFill>
            <a:ln w="12700">
              <a:solidFill>
                <a:schemeClr val="tx1"/>
              </a:solidFill>
              <a:round/>
            </a:ln>
          </p:spPr>
          <p:txBody>
            <a:bodyPr wrap="none" anchor="ctr"/>
            <a:lstStyle/>
            <a:p>
              <a:endParaRPr lang="en-US"/>
            </a:p>
          </p:txBody>
        </p:sp>
        <p:sp>
          <p:nvSpPr>
            <p:cNvPr id="128031" name="Oval 24"/>
            <p:cNvSpPr>
              <a:spLocks noChangeArrowheads="1"/>
            </p:cNvSpPr>
            <p:nvPr/>
          </p:nvSpPr>
          <p:spPr bwMode="auto">
            <a:xfrm>
              <a:off x="3712" y="2249"/>
              <a:ext cx="313" cy="81"/>
            </a:xfrm>
            <a:prstGeom prst="ellipse">
              <a:avLst/>
            </a:prstGeom>
            <a:solidFill>
              <a:schemeClr val="hlink"/>
            </a:solidFill>
            <a:ln w="12700">
              <a:solidFill>
                <a:schemeClr val="tx1"/>
              </a:solidFill>
              <a:round/>
            </a:ln>
          </p:spPr>
          <p:txBody>
            <a:bodyPr wrap="none" anchor="ctr"/>
            <a:lstStyle/>
            <a:p>
              <a:endParaRPr lang="en-US"/>
            </a:p>
          </p:txBody>
        </p:sp>
        <p:sp>
          <p:nvSpPr>
            <p:cNvPr id="128032" name="Line 25"/>
            <p:cNvSpPr>
              <a:spLocks noChangeShapeType="1"/>
            </p:cNvSpPr>
            <p:nvPr/>
          </p:nvSpPr>
          <p:spPr bwMode="auto">
            <a:xfrm>
              <a:off x="3712" y="2242"/>
              <a:ext cx="0" cy="50"/>
            </a:xfrm>
            <a:prstGeom prst="line">
              <a:avLst/>
            </a:prstGeom>
            <a:noFill/>
            <a:ln w="12700">
              <a:solidFill>
                <a:schemeClr val="tx1"/>
              </a:solidFill>
              <a:round/>
            </a:ln>
          </p:spPr>
          <p:txBody>
            <a:bodyPr wrap="none" anchor="ctr"/>
            <a:lstStyle/>
            <a:p>
              <a:endParaRPr lang="en-US"/>
            </a:p>
          </p:txBody>
        </p:sp>
        <p:sp>
          <p:nvSpPr>
            <p:cNvPr id="128033" name="Line 26"/>
            <p:cNvSpPr>
              <a:spLocks noChangeShapeType="1"/>
            </p:cNvSpPr>
            <p:nvPr/>
          </p:nvSpPr>
          <p:spPr bwMode="auto">
            <a:xfrm>
              <a:off x="4025" y="2242"/>
              <a:ext cx="0" cy="50"/>
            </a:xfrm>
            <a:prstGeom prst="line">
              <a:avLst/>
            </a:prstGeom>
            <a:noFill/>
            <a:ln w="12700">
              <a:solidFill>
                <a:schemeClr val="tx1"/>
              </a:solidFill>
              <a:round/>
            </a:ln>
          </p:spPr>
          <p:txBody>
            <a:bodyPr wrap="none" anchor="ctr"/>
            <a:lstStyle/>
            <a:p>
              <a:endParaRPr lang="en-US"/>
            </a:p>
          </p:txBody>
        </p:sp>
        <p:sp>
          <p:nvSpPr>
            <p:cNvPr id="128034" name="Rectangle 27"/>
            <p:cNvSpPr>
              <a:spLocks noChangeArrowheads="1"/>
            </p:cNvSpPr>
            <p:nvPr/>
          </p:nvSpPr>
          <p:spPr bwMode="auto">
            <a:xfrm>
              <a:off x="3712" y="2242"/>
              <a:ext cx="310" cy="49"/>
            </a:xfrm>
            <a:prstGeom prst="rect">
              <a:avLst/>
            </a:prstGeom>
            <a:solidFill>
              <a:schemeClr val="hlink"/>
            </a:solidFill>
            <a:ln>
              <a:noFill/>
            </a:ln>
          </p:spPr>
          <p:txBody>
            <a:bodyPr wrap="none" anchor="ctr"/>
            <a:lstStyle/>
            <a:p>
              <a:pPr algn="ctr"/>
              <a:endParaRPr lang="en-US" sz="2400"/>
            </a:p>
          </p:txBody>
        </p:sp>
        <p:sp>
          <p:nvSpPr>
            <p:cNvPr id="128035" name="Oval 28"/>
            <p:cNvSpPr>
              <a:spLocks noChangeArrowheads="1"/>
            </p:cNvSpPr>
            <p:nvPr/>
          </p:nvSpPr>
          <p:spPr bwMode="auto">
            <a:xfrm>
              <a:off x="3709" y="2183"/>
              <a:ext cx="313" cy="95"/>
            </a:xfrm>
            <a:prstGeom prst="ellipse">
              <a:avLst/>
            </a:prstGeom>
            <a:solidFill>
              <a:schemeClr val="hlink"/>
            </a:solidFill>
            <a:ln w="12700">
              <a:solidFill>
                <a:schemeClr val="tx1"/>
              </a:solidFill>
              <a:round/>
            </a:ln>
          </p:spPr>
          <p:txBody>
            <a:bodyPr wrap="none" anchor="ctr"/>
            <a:lstStyle/>
            <a:p>
              <a:endParaRPr lang="en-US"/>
            </a:p>
          </p:txBody>
        </p:sp>
        <p:sp>
          <p:nvSpPr>
            <p:cNvPr id="128036" name="Oval 29"/>
            <p:cNvSpPr>
              <a:spLocks noChangeArrowheads="1"/>
            </p:cNvSpPr>
            <p:nvPr/>
          </p:nvSpPr>
          <p:spPr bwMode="auto">
            <a:xfrm>
              <a:off x="3708" y="1559"/>
              <a:ext cx="313" cy="81"/>
            </a:xfrm>
            <a:prstGeom prst="ellipse">
              <a:avLst/>
            </a:prstGeom>
            <a:solidFill>
              <a:schemeClr val="hlink"/>
            </a:solidFill>
            <a:ln w="12700">
              <a:solidFill>
                <a:schemeClr val="tx1"/>
              </a:solidFill>
              <a:round/>
            </a:ln>
          </p:spPr>
          <p:txBody>
            <a:bodyPr wrap="none" anchor="ctr"/>
            <a:lstStyle/>
            <a:p>
              <a:endParaRPr lang="en-US"/>
            </a:p>
          </p:txBody>
        </p:sp>
        <p:sp>
          <p:nvSpPr>
            <p:cNvPr id="128037" name="Line 30"/>
            <p:cNvSpPr>
              <a:spLocks noChangeShapeType="1"/>
            </p:cNvSpPr>
            <p:nvPr/>
          </p:nvSpPr>
          <p:spPr bwMode="auto">
            <a:xfrm>
              <a:off x="3708" y="1552"/>
              <a:ext cx="0" cy="50"/>
            </a:xfrm>
            <a:prstGeom prst="line">
              <a:avLst/>
            </a:prstGeom>
            <a:noFill/>
            <a:ln w="12700">
              <a:solidFill>
                <a:schemeClr val="tx1"/>
              </a:solidFill>
              <a:round/>
            </a:ln>
          </p:spPr>
          <p:txBody>
            <a:bodyPr wrap="none" anchor="ctr"/>
            <a:lstStyle/>
            <a:p>
              <a:endParaRPr lang="en-US"/>
            </a:p>
          </p:txBody>
        </p:sp>
        <p:sp>
          <p:nvSpPr>
            <p:cNvPr id="128038" name="Line 31"/>
            <p:cNvSpPr>
              <a:spLocks noChangeShapeType="1"/>
            </p:cNvSpPr>
            <p:nvPr/>
          </p:nvSpPr>
          <p:spPr bwMode="auto">
            <a:xfrm>
              <a:off x="4021" y="1552"/>
              <a:ext cx="0" cy="50"/>
            </a:xfrm>
            <a:prstGeom prst="line">
              <a:avLst/>
            </a:prstGeom>
            <a:noFill/>
            <a:ln w="12700">
              <a:solidFill>
                <a:schemeClr val="tx1"/>
              </a:solidFill>
              <a:round/>
            </a:ln>
          </p:spPr>
          <p:txBody>
            <a:bodyPr wrap="none" anchor="ctr"/>
            <a:lstStyle/>
            <a:p>
              <a:endParaRPr lang="en-US"/>
            </a:p>
          </p:txBody>
        </p:sp>
        <p:sp>
          <p:nvSpPr>
            <p:cNvPr id="128039" name="Rectangle 32"/>
            <p:cNvSpPr>
              <a:spLocks noChangeArrowheads="1"/>
            </p:cNvSpPr>
            <p:nvPr/>
          </p:nvSpPr>
          <p:spPr bwMode="auto">
            <a:xfrm>
              <a:off x="3708" y="1552"/>
              <a:ext cx="310" cy="49"/>
            </a:xfrm>
            <a:prstGeom prst="rect">
              <a:avLst/>
            </a:prstGeom>
            <a:solidFill>
              <a:schemeClr val="hlink"/>
            </a:solidFill>
            <a:ln>
              <a:noFill/>
            </a:ln>
          </p:spPr>
          <p:txBody>
            <a:bodyPr wrap="none" anchor="ctr"/>
            <a:lstStyle/>
            <a:p>
              <a:pPr algn="ctr"/>
              <a:endParaRPr lang="en-US" sz="2400"/>
            </a:p>
          </p:txBody>
        </p:sp>
        <p:sp>
          <p:nvSpPr>
            <p:cNvPr id="128040" name="Oval 33"/>
            <p:cNvSpPr>
              <a:spLocks noChangeArrowheads="1"/>
            </p:cNvSpPr>
            <p:nvPr/>
          </p:nvSpPr>
          <p:spPr bwMode="auto">
            <a:xfrm>
              <a:off x="3705" y="1493"/>
              <a:ext cx="313" cy="95"/>
            </a:xfrm>
            <a:prstGeom prst="ellipse">
              <a:avLst/>
            </a:prstGeom>
            <a:solidFill>
              <a:schemeClr val="hlink"/>
            </a:solidFill>
            <a:ln w="12700">
              <a:solidFill>
                <a:schemeClr val="tx1"/>
              </a:solidFill>
              <a:round/>
            </a:ln>
          </p:spPr>
          <p:txBody>
            <a:bodyPr wrap="none" anchor="ctr"/>
            <a:lstStyle/>
            <a:p>
              <a:endParaRPr lang="en-US"/>
            </a:p>
          </p:txBody>
        </p:sp>
        <p:sp>
          <p:nvSpPr>
            <p:cNvPr id="128041" name="Oval 34"/>
            <p:cNvSpPr>
              <a:spLocks noChangeArrowheads="1"/>
            </p:cNvSpPr>
            <p:nvPr/>
          </p:nvSpPr>
          <p:spPr bwMode="auto">
            <a:xfrm>
              <a:off x="4391" y="1555"/>
              <a:ext cx="312" cy="81"/>
            </a:xfrm>
            <a:prstGeom prst="ellipse">
              <a:avLst/>
            </a:prstGeom>
            <a:solidFill>
              <a:schemeClr val="hlink"/>
            </a:solidFill>
            <a:ln w="12700">
              <a:solidFill>
                <a:schemeClr val="tx1"/>
              </a:solidFill>
              <a:round/>
            </a:ln>
          </p:spPr>
          <p:txBody>
            <a:bodyPr wrap="none" anchor="ctr"/>
            <a:lstStyle/>
            <a:p>
              <a:endParaRPr lang="en-US"/>
            </a:p>
          </p:txBody>
        </p:sp>
        <p:sp>
          <p:nvSpPr>
            <p:cNvPr id="128042" name="Line 35"/>
            <p:cNvSpPr>
              <a:spLocks noChangeShapeType="1"/>
            </p:cNvSpPr>
            <p:nvPr/>
          </p:nvSpPr>
          <p:spPr bwMode="auto">
            <a:xfrm>
              <a:off x="4391" y="1548"/>
              <a:ext cx="0" cy="50"/>
            </a:xfrm>
            <a:prstGeom prst="line">
              <a:avLst/>
            </a:prstGeom>
            <a:noFill/>
            <a:ln w="12700">
              <a:solidFill>
                <a:schemeClr val="tx1"/>
              </a:solidFill>
              <a:round/>
            </a:ln>
          </p:spPr>
          <p:txBody>
            <a:bodyPr wrap="none" anchor="ctr"/>
            <a:lstStyle/>
            <a:p>
              <a:endParaRPr lang="en-US"/>
            </a:p>
          </p:txBody>
        </p:sp>
        <p:sp>
          <p:nvSpPr>
            <p:cNvPr id="128043" name="Line 36"/>
            <p:cNvSpPr>
              <a:spLocks noChangeShapeType="1"/>
            </p:cNvSpPr>
            <p:nvPr/>
          </p:nvSpPr>
          <p:spPr bwMode="auto">
            <a:xfrm>
              <a:off x="4703" y="1548"/>
              <a:ext cx="0" cy="50"/>
            </a:xfrm>
            <a:prstGeom prst="line">
              <a:avLst/>
            </a:prstGeom>
            <a:noFill/>
            <a:ln w="12700">
              <a:solidFill>
                <a:schemeClr val="tx1"/>
              </a:solidFill>
              <a:round/>
            </a:ln>
          </p:spPr>
          <p:txBody>
            <a:bodyPr wrap="none" anchor="ctr"/>
            <a:lstStyle/>
            <a:p>
              <a:endParaRPr lang="en-US"/>
            </a:p>
          </p:txBody>
        </p:sp>
        <p:sp>
          <p:nvSpPr>
            <p:cNvPr id="128044" name="Rectangle 37"/>
            <p:cNvSpPr>
              <a:spLocks noChangeArrowheads="1"/>
            </p:cNvSpPr>
            <p:nvPr/>
          </p:nvSpPr>
          <p:spPr bwMode="auto">
            <a:xfrm>
              <a:off x="4391" y="1548"/>
              <a:ext cx="309" cy="49"/>
            </a:xfrm>
            <a:prstGeom prst="rect">
              <a:avLst/>
            </a:prstGeom>
            <a:solidFill>
              <a:schemeClr val="hlink"/>
            </a:solidFill>
            <a:ln>
              <a:noFill/>
            </a:ln>
          </p:spPr>
          <p:txBody>
            <a:bodyPr wrap="none" anchor="ctr"/>
            <a:lstStyle/>
            <a:p>
              <a:pPr algn="ctr"/>
              <a:endParaRPr lang="en-US" sz="2400"/>
            </a:p>
          </p:txBody>
        </p:sp>
        <p:sp>
          <p:nvSpPr>
            <p:cNvPr id="128045" name="Oval 38"/>
            <p:cNvSpPr>
              <a:spLocks noChangeArrowheads="1"/>
            </p:cNvSpPr>
            <p:nvPr/>
          </p:nvSpPr>
          <p:spPr bwMode="auto">
            <a:xfrm>
              <a:off x="4394" y="1492"/>
              <a:ext cx="312" cy="95"/>
            </a:xfrm>
            <a:prstGeom prst="ellipse">
              <a:avLst/>
            </a:prstGeom>
            <a:solidFill>
              <a:schemeClr val="hlink"/>
            </a:solidFill>
            <a:ln w="12700">
              <a:solidFill>
                <a:schemeClr val="tx1"/>
              </a:solidFill>
              <a:round/>
            </a:ln>
          </p:spPr>
          <p:txBody>
            <a:bodyPr wrap="none" anchor="ctr"/>
            <a:lstStyle/>
            <a:p>
              <a:endParaRPr lang="en-US"/>
            </a:p>
          </p:txBody>
        </p:sp>
        <p:sp>
          <p:nvSpPr>
            <p:cNvPr id="128046" name="Oval 39"/>
            <p:cNvSpPr>
              <a:spLocks noChangeArrowheads="1"/>
            </p:cNvSpPr>
            <p:nvPr/>
          </p:nvSpPr>
          <p:spPr bwMode="auto">
            <a:xfrm>
              <a:off x="4401" y="2246"/>
              <a:ext cx="313" cy="81"/>
            </a:xfrm>
            <a:prstGeom prst="ellipse">
              <a:avLst/>
            </a:prstGeom>
            <a:solidFill>
              <a:schemeClr val="hlink"/>
            </a:solidFill>
            <a:ln w="12700">
              <a:solidFill>
                <a:schemeClr val="tx1"/>
              </a:solidFill>
              <a:round/>
            </a:ln>
          </p:spPr>
          <p:txBody>
            <a:bodyPr wrap="none" anchor="ctr"/>
            <a:lstStyle/>
            <a:p>
              <a:endParaRPr lang="en-US"/>
            </a:p>
          </p:txBody>
        </p:sp>
        <p:sp>
          <p:nvSpPr>
            <p:cNvPr id="128047" name="Line 40"/>
            <p:cNvSpPr>
              <a:spLocks noChangeShapeType="1"/>
            </p:cNvSpPr>
            <p:nvPr/>
          </p:nvSpPr>
          <p:spPr bwMode="auto">
            <a:xfrm>
              <a:off x="4401" y="2239"/>
              <a:ext cx="0" cy="50"/>
            </a:xfrm>
            <a:prstGeom prst="line">
              <a:avLst/>
            </a:prstGeom>
            <a:noFill/>
            <a:ln w="12700">
              <a:solidFill>
                <a:schemeClr val="tx1"/>
              </a:solidFill>
              <a:round/>
            </a:ln>
          </p:spPr>
          <p:txBody>
            <a:bodyPr wrap="none" anchor="ctr"/>
            <a:lstStyle/>
            <a:p>
              <a:endParaRPr lang="en-US"/>
            </a:p>
          </p:txBody>
        </p:sp>
        <p:sp>
          <p:nvSpPr>
            <p:cNvPr id="128048" name="Line 41"/>
            <p:cNvSpPr>
              <a:spLocks noChangeShapeType="1"/>
            </p:cNvSpPr>
            <p:nvPr/>
          </p:nvSpPr>
          <p:spPr bwMode="auto">
            <a:xfrm>
              <a:off x="4714" y="2239"/>
              <a:ext cx="0" cy="50"/>
            </a:xfrm>
            <a:prstGeom prst="line">
              <a:avLst/>
            </a:prstGeom>
            <a:noFill/>
            <a:ln w="12700">
              <a:solidFill>
                <a:schemeClr val="tx1"/>
              </a:solidFill>
              <a:round/>
            </a:ln>
          </p:spPr>
          <p:txBody>
            <a:bodyPr wrap="none" anchor="ctr"/>
            <a:lstStyle/>
            <a:p>
              <a:endParaRPr lang="en-US"/>
            </a:p>
          </p:txBody>
        </p:sp>
        <p:sp>
          <p:nvSpPr>
            <p:cNvPr id="128049" name="Rectangle 42"/>
            <p:cNvSpPr>
              <a:spLocks noChangeArrowheads="1"/>
            </p:cNvSpPr>
            <p:nvPr/>
          </p:nvSpPr>
          <p:spPr bwMode="auto">
            <a:xfrm>
              <a:off x="4401" y="2239"/>
              <a:ext cx="310" cy="49"/>
            </a:xfrm>
            <a:prstGeom prst="rect">
              <a:avLst/>
            </a:prstGeom>
            <a:solidFill>
              <a:schemeClr val="hlink"/>
            </a:solidFill>
            <a:ln>
              <a:noFill/>
            </a:ln>
          </p:spPr>
          <p:txBody>
            <a:bodyPr wrap="none" anchor="ctr"/>
            <a:lstStyle/>
            <a:p>
              <a:pPr algn="ctr"/>
              <a:endParaRPr lang="en-US" sz="2400"/>
            </a:p>
          </p:txBody>
        </p:sp>
        <p:sp>
          <p:nvSpPr>
            <p:cNvPr id="128050" name="Oval 43"/>
            <p:cNvSpPr>
              <a:spLocks noChangeArrowheads="1"/>
            </p:cNvSpPr>
            <p:nvPr/>
          </p:nvSpPr>
          <p:spPr bwMode="auto">
            <a:xfrm>
              <a:off x="4398" y="2180"/>
              <a:ext cx="313" cy="95"/>
            </a:xfrm>
            <a:prstGeom prst="ellipse">
              <a:avLst/>
            </a:prstGeom>
            <a:solidFill>
              <a:schemeClr val="hlink"/>
            </a:solidFill>
            <a:ln w="12700">
              <a:solidFill>
                <a:schemeClr val="tx1"/>
              </a:solidFill>
              <a:round/>
            </a:ln>
          </p:spPr>
          <p:txBody>
            <a:bodyPr wrap="none" anchor="ctr"/>
            <a:lstStyle/>
            <a:p>
              <a:endParaRPr lang="en-US"/>
            </a:p>
          </p:txBody>
        </p:sp>
        <p:sp>
          <p:nvSpPr>
            <p:cNvPr id="128051" name="Oval 44"/>
            <p:cNvSpPr>
              <a:spLocks noChangeArrowheads="1"/>
            </p:cNvSpPr>
            <p:nvPr/>
          </p:nvSpPr>
          <p:spPr bwMode="auto">
            <a:xfrm>
              <a:off x="4966" y="1905"/>
              <a:ext cx="313" cy="81"/>
            </a:xfrm>
            <a:prstGeom prst="ellipse">
              <a:avLst/>
            </a:prstGeom>
            <a:solidFill>
              <a:schemeClr val="hlink"/>
            </a:solidFill>
            <a:ln w="12700">
              <a:solidFill>
                <a:schemeClr val="tx1"/>
              </a:solidFill>
              <a:round/>
            </a:ln>
          </p:spPr>
          <p:txBody>
            <a:bodyPr wrap="none" anchor="ctr"/>
            <a:lstStyle/>
            <a:p>
              <a:endParaRPr lang="en-US"/>
            </a:p>
          </p:txBody>
        </p:sp>
        <p:sp>
          <p:nvSpPr>
            <p:cNvPr id="128052" name="Line 45"/>
            <p:cNvSpPr>
              <a:spLocks noChangeShapeType="1"/>
            </p:cNvSpPr>
            <p:nvPr/>
          </p:nvSpPr>
          <p:spPr bwMode="auto">
            <a:xfrm>
              <a:off x="4966" y="1898"/>
              <a:ext cx="0" cy="50"/>
            </a:xfrm>
            <a:prstGeom prst="line">
              <a:avLst/>
            </a:prstGeom>
            <a:noFill/>
            <a:ln w="12700">
              <a:solidFill>
                <a:schemeClr val="tx1"/>
              </a:solidFill>
              <a:round/>
            </a:ln>
          </p:spPr>
          <p:txBody>
            <a:bodyPr wrap="none" anchor="ctr"/>
            <a:lstStyle/>
            <a:p>
              <a:endParaRPr lang="en-US"/>
            </a:p>
          </p:txBody>
        </p:sp>
        <p:sp>
          <p:nvSpPr>
            <p:cNvPr id="128053" name="Line 46"/>
            <p:cNvSpPr>
              <a:spLocks noChangeShapeType="1"/>
            </p:cNvSpPr>
            <p:nvPr/>
          </p:nvSpPr>
          <p:spPr bwMode="auto">
            <a:xfrm>
              <a:off x="5279" y="1898"/>
              <a:ext cx="0" cy="50"/>
            </a:xfrm>
            <a:prstGeom prst="line">
              <a:avLst/>
            </a:prstGeom>
            <a:noFill/>
            <a:ln w="12700">
              <a:solidFill>
                <a:schemeClr val="tx1"/>
              </a:solidFill>
              <a:round/>
            </a:ln>
          </p:spPr>
          <p:txBody>
            <a:bodyPr wrap="none" anchor="ctr"/>
            <a:lstStyle/>
            <a:p>
              <a:endParaRPr lang="en-US"/>
            </a:p>
          </p:txBody>
        </p:sp>
        <p:sp>
          <p:nvSpPr>
            <p:cNvPr id="128054" name="Rectangle 47"/>
            <p:cNvSpPr>
              <a:spLocks noChangeArrowheads="1"/>
            </p:cNvSpPr>
            <p:nvPr/>
          </p:nvSpPr>
          <p:spPr bwMode="auto">
            <a:xfrm>
              <a:off x="4966" y="1898"/>
              <a:ext cx="310" cy="49"/>
            </a:xfrm>
            <a:prstGeom prst="rect">
              <a:avLst/>
            </a:prstGeom>
            <a:solidFill>
              <a:schemeClr val="hlink"/>
            </a:solidFill>
            <a:ln>
              <a:noFill/>
            </a:ln>
          </p:spPr>
          <p:txBody>
            <a:bodyPr wrap="none" anchor="ctr"/>
            <a:lstStyle/>
            <a:p>
              <a:pPr algn="ctr"/>
              <a:endParaRPr lang="en-US" sz="2400"/>
            </a:p>
          </p:txBody>
        </p:sp>
        <p:sp>
          <p:nvSpPr>
            <p:cNvPr id="128055" name="Oval 48"/>
            <p:cNvSpPr>
              <a:spLocks noChangeArrowheads="1"/>
            </p:cNvSpPr>
            <p:nvPr/>
          </p:nvSpPr>
          <p:spPr bwMode="auto">
            <a:xfrm>
              <a:off x="4963" y="1839"/>
              <a:ext cx="313" cy="95"/>
            </a:xfrm>
            <a:prstGeom prst="ellipse">
              <a:avLst/>
            </a:prstGeom>
            <a:solidFill>
              <a:schemeClr val="hlink"/>
            </a:solidFill>
            <a:ln w="12700">
              <a:solidFill>
                <a:schemeClr val="tx1"/>
              </a:solidFill>
              <a:round/>
            </a:ln>
          </p:spPr>
          <p:txBody>
            <a:bodyPr wrap="none" anchor="ctr"/>
            <a:lstStyle/>
            <a:p>
              <a:endParaRPr lang="en-US"/>
            </a:p>
          </p:txBody>
        </p:sp>
        <p:sp>
          <p:nvSpPr>
            <p:cNvPr id="128056" name="Freeform 49"/>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ln>
          </p:spPr>
          <p:txBody>
            <a:bodyPr wrap="none" anchor="ctr"/>
            <a:lstStyle/>
            <a:p>
              <a:endParaRPr lang="en-US"/>
            </a:p>
          </p:txBody>
        </p:sp>
        <p:sp>
          <p:nvSpPr>
            <p:cNvPr id="128057" name="Freeform 50"/>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ln>
          </p:spPr>
          <p:txBody>
            <a:bodyPr wrap="none" anchor="ctr"/>
            <a:lstStyle/>
            <a:p>
              <a:endParaRPr lang="en-US"/>
            </a:p>
          </p:txBody>
        </p:sp>
        <p:sp>
          <p:nvSpPr>
            <p:cNvPr id="128058" name="Freeform 51"/>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ln>
          </p:spPr>
          <p:txBody>
            <a:bodyPr wrap="none" anchor="ctr"/>
            <a:lstStyle/>
            <a:p>
              <a:endParaRPr lang="en-US"/>
            </a:p>
          </p:txBody>
        </p:sp>
        <p:sp>
          <p:nvSpPr>
            <p:cNvPr id="128059" name="Freeform 52"/>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ln>
          </p:spPr>
          <p:txBody>
            <a:bodyPr wrap="none" anchor="ctr"/>
            <a:lstStyle/>
            <a:p>
              <a:endParaRPr lang="en-US"/>
            </a:p>
          </p:txBody>
        </p:sp>
        <p:sp>
          <p:nvSpPr>
            <p:cNvPr id="128060" name="Freeform 53"/>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28061" name="Freeform 54"/>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ln>
          </p:spPr>
          <p:txBody>
            <a:bodyPr wrap="none" anchor="ctr"/>
            <a:lstStyle/>
            <a:p>
              <a:endParaRPr lang="en-US"/>
            </a:p>
          </p:txBody>
        </p:sp>
        <p:sp>
          <p:nvSpPr>
            <p:cNvPr id="128062" name="Freeform 55"/>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28063" name="Freeform 56"/>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ln>
          </p:spPr>
          <p:txBody>
            <a:bodyPr wrap="none" anchor="ctr"/>
            <a:lstStyle/>
            <a:p>
              <a:endParaRPr lang="en-US"/>
            </a:p>
          </p:txBody>
        </p:sp>
        <p:sp>
          <p:nvSpPr>
            <p:cNvPr id="128064" name="Freeform 57"/>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ln>
          </p:spPr>
          <p:txBody>
            <a:bodyPr wrap="none" anchor="ctr"/>
            <a:lstStyle/>
            <a:p>
              <a:endParaRPr lang="en-US"/>
            </a:p>
          </p:txBody>
        </p:sp>
        <p:grpSp>
          <p:nvGrpSpPr>
            <p:cNvPr id="128065" name="Group 58"/>
            <p:cNvGrpSpPr/>
            <p:nvPr/>
          </p:nvGrpSpPr>
          <p:grpSpPr bwMode="auto">
            <a:xfrm>
              <a:off x="3287" y="1744"/>
              <a:ext cx="205" cy="250"/>
              <a:chOff x="2954" y="2425"/>
              <a:chExt cx="208" cy="250"/>
            </a:xfrm>
          </p:grpSpPr>
          <p:sp>
            <p:nvSpPr>
              <p:cNvPr id="128091" name="Rectangle 59"/>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28092" name="Text Box 60"/>
              <p:cNvSpPr txBox="1">
                <a:spLocks noChangeArrowheads="1"/>
              </p:cNvSpPr>
              <p:nvPr/>
            </p:nvSpPr>
            <p:spPr bwMode="auto">
              <a:xfrm>
                <a:off x="2954" y="2425"/>
                <a:ext cx="208"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u</a:t>
                </a:r>
                <a:endParaRPr lang="en-US"/>
              </a:p>
            </p:txBody>
          </p:sp>
        </p:grpSp>
        <p:grpSp>
          <p:nvGrpSpPr>
            <p:cNvPr id="128066" name="Group 61"/>
            <p:cNvGrpSpPr/>
            <p:nvPr/>
          </p:nvGrpSpPr>
          <p:grpSpPr bwMode="auto">
            <a:xfrm>
              <a:off x="4461" y="2128"/>
              <a:ext cx="196" cy="250"/>
              <a:chOff x="2958" y="2425"/>
              <a:chExt cx="199" cy="250"/>
            </a:xfrm>
          </p:grpSpPr>
          <p:sp>
            <p:nvSpPr>
              <p:cNvPr id="128089" name="Rectangle 62"/>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8090" name="Text Box 63"/>
              <p:cNvSpPr txBox="1">
                <a:spLocks noChangeArrowheads="1"/>
              </p:cNvSpPr>
              <p:nvPr/>
            </p:nvSpPr>
            <p:spPr bwMode="auto">
              <a:xfrm>
                <a:off x="2958" y="2425"/>
                <a:ext cx="1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y</a:t>
                </a:r>
                <a:endParaRPr lang="en-US"/>
              </a:p>
            </p:txBody>
          </p:sp>
        </p:grpSp>
        <p:grpSp>
          <p:nvGrpSpPr>
            <p:cNvPr id="128067" name="Group 64"/>
            <p:cNvGrpSpPr/>
            <p:nvPr/>
          </p:nvGrpSpPr>
          <p:grpSpPr bwMode="auto">
            <a:xfrm>
              <a:off x="3772" y="2095"/>
              <a:ext cx="212" cy="288"/>
              <a:chOff x="2951" y="2395"/>
              <a:chExt cx="213" cy="288"/>
            </a:xfrm>
          </p:grpSpPr>
          <p:sp>
            <p:nvSpPr>
              <p:cNvPr id="128087" name="Rectangle 65"/>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28088" name="Text Box 66"/>
              <p:cNvSpPr txBox="1">
                <a:spLocks noChangeArrowheads="1"/>
              </p:cNvSpPr>
              <p:nvPr/>
            </p:nvSpPr>
            <p:spPr bwMode="auto">
              <a:xfrm>
                <a:off x="2951" y="2395"/>
                <a:ext cx="213"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x</a:t>
                </a:r>
              </a:p>
            </p:txBody>
          </p:sp>
        </p:grpSp>
        <p:grpSp>
          <p:nvGrpSpPr>
            <p:cNvPr id="128068" name="Group 67"/>
            <p:cNvGrpSpPr/>
            <p:nvPr/>
          </p:nvGrpSpPr>
          <p:grpSpPr bwMode="auto">
            <a:xfrm>
              <a:off x="4438" y="1438"/>
              <a:ext cx="232" cy="250"/>
              <a:chOff x="2941" y="2425"/>
              <a:chExt cx="235" cy="250"/>
            </a:xfrm>
          </p:grpSpPr>
          <p:sp>
            <p:nvSpPr>
              <p:cNvPr id="128085" name="Rectangle 68"/>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28086" name="Text Box 69"/>
              <p:cNvSpPr txBox="1">
                <a:spLocks noChangeArrowheads="1"/>
              </p:cNvSpPr>
              <p:nvPr/>
            </p:nvSpPr>
            <p:spPr bwMode="auto">
              <a:xfrm>
                <a:off x="2941"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w</a:t>
                </a:r>
                <a:endParaRPr lang="en-US"/>
              </a:p>
            </p:txBody>
          </p:sp>
        </p:grpSp>
        <p:grpSp>
          <p:nvGrpSpPr>
            <p:cNvPr id="128069" name="Group 70"/>
            <p:cNvGrpSpPr/>
            <p:nvPr/>
          </p:nvGrpSpPr>
          <p:grpSpPr bwMode="auto">
            <a:xfrm>
              <a:off x="3771" y="1438"/>
              <a:ext cx="196" cy="250"/>
              <a:chOff x="2958" y="2425"/>
              <a:chExt cx="199" cy="250"/>
            </a:xfrm>
          </p:grpSpPr>
          <p:sp>
            <p:nvSpPr>
              <p:cNvPr id="128083" name="Rectangle 71"/>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8084" name="Text Box 72"/>
              <p:cNvSpPr txBox="1">
                <a:spLocks noChangeArrowheads="1"/>
              </p:cNvSpPr>
              <p:nvPr/>
            </p:nvSpPr>
            <p:spPr bwMode="auto">
              <a:xfrm>
                <a:off x="2958" y="2425"/>
                <a:ext cx="1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v</a:t>
                </a:r>
                <a:endParaRPr lang="en-US"/>
              </a:p>
            </p:txBody>
          </p:sp>
        </p:grpSp>
        <p:grpSp>
          <p:nvGrpSpPr>
            <p:cNvPr id="128070" name="Group 73"/>
            <p:cNvGrpSpPr/>
            <p:nvPr/>
          </p:nvGrpSpPr>
          <p:grpSpPr bwMode="auto">
            <a:xfrm>
              <a:off x="5025" y="1756"/>
              <a:ext cx="212" cy="288"/>
              <a:chOff x="2949" y="2395"/>
              <a:chExt cx="214" cy="288"/>
            </a:xfrm>
          </p:grpSpPr>
          <p:sp>
            <p:nvSpPr>
              <p:cNvPr id="128081" name="Rectangle 74"/>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8082" name="Text Box 75"/>
              <p:cNvSpPr txBox="1">
                <a:spLocks noChangeArrowheads="1"/>
              </p:cNvSpPr>
              <p:nvPr/>
            </p:nvSpPr>
            <p:spPr bwMode="auto">
              <a:xfrm>
                <a:off x="2949" y="2395"/>
                <a:ext cx="214"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z</a:t>
                </a:r>
              </a:p>
            </p:txBody>
          </p:sp>
        </p:grpSp>
        <p:sp>
          <p:nvSpPr>
            <p:cNvPr id="128071" name="Text Box 76"/>
            <p:cNvSpPr txBox="1">
              <a:spLocks noChangeArrowheads="1"/>
            </p:cNvSpPr>
            <p:nvPr/>
          </p:nvSpPr>
          <p:spPr bwMode="auto">
            <a:xfrm>
              <a:off x="3493" y="1568"/>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8072" name="Text Box 77"/>
            <p:cNvSpPr txBox="1">
              <a:spLocks noChangeArrowheads="1"/>
            </p:cNvSpPr>
            <p:nvPr/>
          </p:nvSpPr>
          <p:spPr bwMode="auto">
            <a:xfrm>
              <a:off x="3841" y="1787"/>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8073" name="Text Box 78"/>
            <p:cNvSpPr txBox="1">
              <a:spLocks noChangeArrowheads="1"/>
            </p:cNvSpPr>
            <p:nvPr/>
          </p:nvSpPr>
          <p:spPr bwMode="auto">
            <a:xfrm>
              <a:off x="3406" y="2000"/>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8074" name="Text Box 79"/>
            <p:cNvSpPr txBox="1">
              <a:spLocks noChangeArrowheads="1"/>
            </p:cNvSpPr>
            <p:nvPr/>
          </p:nvSpPr>
          <p:spPr bwMode="auto">
            <a:xfrm>
              <a:off x="4225" y="1880"/>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28075" name="Text Box 80"/>
            <p:cNvSpPr txBox="1">
              <a:spLocks noChangeArrowheads="1"/>
            </p:cNvSpPr>
            <p:nvPr/>
          </p:nvSpPr>
          <p:spPr bwMode="auto">
            <a:xfrm>
              <a:off x="4162" y="2234"/>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8076" name="Text Box 81"/>
            <p:cNvSpPr txBox="1">
              <a:spLocks noChangeArrowheads="1"/>
            </p:cNvSpPr>
            <p:nvPr/>
          </p:nvSpPr>
          <p:spPr bwMode="auto">
            <a:xfrm>
              <a:off x="4522" y="1805"/>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8077" name="Text Box 82"/>
            <p:cNvSpPr txBox="1">
              <a:spLocks noChangeArrowheads="1"/>
            </p:cNvSpPr>
            <p:nvPr/>
          </p:nvSpPr>
          <p:spPr bwMode="auto">
            <a:xfrm>
              <a:off x="4882" y="2069"/>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8078" name="Text Box 83"/>
            <p:cNvSpPr txBox="1">
              <a:spLocks noChangeArrowheads="1"/>
            </p:cNvSpPr>
            <p:nvPr/>
          </p:nvSpPr>
          <p:spPr bwMode="auto">
            <a:xfrm>
              <a:off x="4855" y="1532"/>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sp>
          <p:nvSpPr>
            <p:cNvPr id="128079" name="Text Box 84"/>
            <p:cNvSpPr txBox="1">
              <a:spLocks noChangeArrowheads="1"/>
            </p:cNvSpPr>
            <p:nvPr/>
          </p:nvSpPr>
          <p:spPr bwMode="auto">
            <a:xfrm>
              <a:off x="4120" y="1382"/>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28080" name="Text Box 85"/>
            <p:cNvSpPr txBox="1">
              <a:spLocks noChangeArrowheads="1"/>
            </p:cNvSpPr>
            <p:nvPr/>
          </p:nvSpPr>
          <p:spPr bwMode="auto">
            <a:xfrm>
              <a:off x="3769" y="1115"/>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grpSp>
      <p:sp>
        <p:nvSpPr>
          <p:cNvPr id="94"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29</a:t>
            </a:fld>
            <a:endParaRPr lang="en-US" sz="1200" dirty="0">
              <a:latin typeface="Tahoma" panose="020B0604030504040204" charset="0"/>
            </a:endParaRPr>
          </a:p>
        </p:txBody>
      </p:sp>
      <p:sp>
        <p:nvSpPr>
          <p:cNvPr id="95"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
        <p:nvSpPr>
          <p:cNvPr id="96" name="TextBox 1"/>
          <p:cNvSpPr txBox="1">
            <a:spLocks noChangeArrowheads="1"/>
          </p:cNvSpPr>
          <p:nvPr/>
        </p:nvSpPr>
        <p:spPr bwMode="auto">
          <a:xfrm>
            <a:off x="339826" y="6198762"/>
            <a:ext cx="4507165" cy="523220"/>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dirty="0"/>
              <a:t>* Check out the online interactive exercises for more examples: h</a:t>
            </a:r>
            <a:r>
              <a:rPr lang="en-US" sz="1200" dirty="0"/>
              <a:t>ttp://gaia.cs.umass.edu/kurose_ross/interactive/</a:t>
            </a:r>
          </a:p>
        </p:txBody>
      </p:sp>
    </p:spTree>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8003" name="Picture 91"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5138" y="833438"/>
            <a:ext cx="7769225" cy="173037"/>
          </a:xfrm>
          <a:prstGeom prst="rect">
            <a:avLst/>
          </a:prstGeom>
          <a:noFill/>
          <a:ln>
            <a:noFill/>
          </a:ln>
        </p:spPr>
      </p:pic>
      <p:sp>
        <p:nvSpPr>
          <p:cNvPr id="128004" name="Rectangle 2"/>
          <p:cNvSpPr>
            <a:spLocks noGrp="1" noChangeArrowheads="1"/>
          </p:cNvSpPr>
          <p:nvPr>
            <p:ph type="title"/>
          </p:nvPr>
        </p:nvSpPr>
        <p:spPr>
          <a:xfrm>
            <a:off x="411163" y="130175"/>
            <a:ext cx="8364537" cy="963613"/>
          </a:xfrm>
        </p:spPr>
        <p:txBody>
          <a:bodyPr/>
          <a:lstStyle/>
          <a:p>
            <a:r>
              <a:rPr lang="en-US" sz="3600">
                <a:latin typeface="Gill Sans MT" pitchFamily="34" charset="0"/>
              </a:rPr>
              <a:t>Dijkstra</a:t>
            </a:r>
            <a:r>
              <a:rPr lang="ja-JP" altLang="en-US" sz="3600">
                <a:latin typeface="Gill Sans MT" pitchFamily="34" charset="0"/>
              </a:rPr>
              <a:t>’</a:t>
            </a:r>
            <a:r>
              <a:rPr lang="en-US" altLang="ja-JP" sz="3600">
                <a:latin typeface="Gill Sans MT" pitchFamily="34" charset="0"/>
              </a:rPr>
              <a:t>s algorithm: another example</a:t>
            </a:r>
          </a:p>
        </p:txBody>
      </p:sp>
      <p:sp>
        <p:nvSpPr>
          <p:cNvPr id="128005" name="Text Box 3"/>
          <p:cNvSpPr txBox="1">
            <a:spLocks noChangeArrowheads="1"/>
          </p:cNvSpPr>
          <p:nvPr/>
        </p:nvSpPr>
        <p:spPr bwMode="auto">
          <a:xfrm>
            <a:off x="239713" y="1506538"/>
            <a:ext cx="706437" cy="22256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Step</a:t>
            </a:r>
          </a:p>
          <a:p>
            <a:pPr algn="r"/>
            <a:r>
              <a:rPr lang="en-US" sz="2000"/>
              <a:t>0</a:t>
            </a:r>
          </a:p>
          <a:p>
            <a:pPr algn="r"/>
            <a:r>
              <a:rPr lang="en-US" sz="2000"/>
              <a:t>1</a:t>
            </a:r>
          </a:p>
          <a:p>
            <a:pPr algn="r"/>
            <a:r>
              <a:rPr lang="en-US" sz="2000"/>
              <a:t>2</a:t>
            </a:r>
          </a:p>
          <a:p>
            <a:pPr algn="r"/>
            <a:r>
              <a:rPr lang="en-US" sz="2000"/>
              <a:t>3</a:t>
            </a:r>
          </a:p>
          <a:p>
            <a:pPr algn="r"/>
            <a:r>
              <a:rPr lang="en-US" sz="2000"/>
              <a:t>4</a:t>
            </a:r>
          </a:p>
          <a:p>
            <a:pPr algn="r"/>
            <a:r>
              <a:rPr lang="en-US" sz="2000"/>
              <a:t>5</a:t>
            </a:r>
          </a:p>
        </p:txBody>
      </p:sp>
      <p:sp>
        <p:nvSpPr>
          <p:cNvPr id="128006" name="Text Box 4"/>
          <p:cNvSpPr txBox="1">
            <a:spLocks noChangeArrowheads="1"/>
          </p:cNvSpPr>
          <p:nvPr/>
        </p:nvSpPr>
        <p:spPr bwMode="auto">
          <a:xfrm>
            <a:off x="1252538" y="1516063"/>
            <a:ext cx="1017587" cy="22256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N</a:t>
            </a:r>
            <a:r>
              <a:rPr lang="en-US" sz="2000">
                <a:cs typeface="Arial" panose="020B0604020202090204" pitchFamily="34" charset="0"/>
              </a:rPr>
              <a:t>'</a:t>
            </a:r>
          </a:p>
          <a:p>
            <a:pPr algn="r"/>
            <a:r>
              <a:rPr lang="en-US" sz="2000"/>
              <a:t>u</a:t>
            </a:r>
          </a:p>
          <a:p>
            <a:pPr algn="r"/>
            <a:r>
              <a:rPr lang="en-US" sz="2000"/>
              <a:t>ux</a:t>
            </a:r>
          </a:p>
          <a:p>
            <a:pPr algn="r"/>
            <a:r>
              <a:rPr lang="en-US" sz="2000"/>
              <a:t>uxy</a:t>
            </a:r>
          </a:p>
          <a:p>
            <a:pPr algn="r"/>
            <a:r>
              <a:rPr lang="en-US" sz="2000"/>
              <a:t>uxyv</a:t>
            </a:r>
          </a:p>
          <a:p>
            <a:pPr algn="r"/>
            <a:r>
              <a:rPr lang="en-US" sz="2000"/>
              <a:t>uxyvw</a:t>
            </a:r>
          </a:p>
          <a:p>
            <a:pPr algn="r"/>
            <a:r>
              <a:rPr lang="en-US" sz="2000"/>
              <a:t>uxyvwz</a:t>
            </a:r>
          </a:p>
        </p:txBody>
      </p:sp>
      <p:sp>
        <p:nvSpPr>
          <p:cNvPr id="128007" name="Text Box 5"/>
          <p:cNvSpPr txBox="1">
            <a:spLocks noChangeArrowheads="1"/>
          </p:cNvSpPr>
          <p:nvPr/>
        </p:nvSpPr>
        <p:spPr bwMode="auto">
          <a:xfrm>
            <a:off x="2500313" y="1497013"/>
            <a:ext cx="1169987" cy="13112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D(v),p(v)</a:t>
            </a:r>
          </a:p>
          <a:p>
            <a:pPr algn="r"/>
            <a:r>
              <a:rPr lang="en-US" sz="2000"/>
              <a:t>2,u</a:t>
            </a:r>
          </a:p>
          <a:p>
            <a:pPr algn="r"/>
            <a:r>
              <a:rPr lang="en-US" sz="2000"/>
              <a:t>2,u</a:t>
            </a:r>
          </a:p>
          <a:p>
            <a:pPr algn="r"/>
            <a:r>
              <a:rPr lang="en-US" sz="2000"/>
              <a:t>2,u</a:t>
            </a:r>
          </a:p>
        </p:txBody>
      </p:sp>
      <p:sp>
        <p:nvSpPr>
          <p:cNvPr id="128008" name="Text Box 6"/>
          <p:cNvSpPr txBox="1">
            <a:spLocks noChangeArrowheads="1"/>
          </p:cNvSpPr>
          <p:nvPr/>
        </p:nvSpPr>
        <p:spPr bwMode="auto">
          <a:xfrm>
            <a:off x="3667125" y="1501775"/>
            <a:ext cx="1284288" cy="16160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D(w),p(w)</a:t>
            </a:r>
          </a:p>
          <a:p>
            <a:pPr algn="r"/>
            <a:r>
              <a:rPr lang="en-US" sz="2000"/>
              <a:t>5,u</a:t>
            </a:r>
          </a:p>
          <a:p>
            <a:pPr algn="r"/>
            <a:r>
              <a:rPr lang="en-US" sz="2000"/>
              <a:t>4,x</a:t>
            </a:r>
          </a:p>
          <a:p>
            <a:pPr algn="r"/>
            <a:r>
              <a:rPr lang="en-US" sz="2000"/>
              <a:t>3,y</a:t>
            </a:r>
          </a:p>
          <a:p>
            <a:pPr algn="r"/>
            <a:r>
              <a:rPr lang="en-US" sz="2000"/>
              <a:t>3,y</a:t>
            </a:r>
          </a:p>
        </p:txBody>
      </p:sp>
      <p:sp>
        <p:nvSpPr>
          <p:cNvPr id="128009" name="Text Box 7"/>
          <p:cNvSpPr txBox="1">
            <a:spLocks noChangeArrowheads="1"/>
          </p:cNvSpPr>
          <p:nvPr/>
        </p:nvSpPr>
        <p:spPr bwMode="auto">
          <a:xfrm>
            <a:off x="5057775" y="1497013"/>
            <a:ext cx="1169988" cy="7016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D(x),p(x)</a:t>
            </a:r>
          </a:p>
          <a:p>
            <a:pPr algn="r"/>
            <a:r>
              <a:rPr lang="en-US" sz="2000"/>
              <a:t>1,u</a:t>
            </a:r>
          </a:p>
        </p:txBody>
      </p:sp>
      <p:sp>
        <p:nvSpPr>
          <p:cNvPr id="128010" name="Text Box 8"/>
          <p:cNvSpPr txBox="1">
            <a:spLocks noChangeArrowheads="1"/>
          </p:cNvSpPr>
          <p:nvPr/>
        </p:nvSpPr>
        <p:spPr bwMode="auto">
          <a:xfrm>
            <a:off x="6353175" y="1501775"/>
            <a:ext cx="1169988" cy="10064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D(y),p(y)</a:t>
            </a:r>
          </a:p>
          <a:p>
            <a:pPr algn="r"/>
            <a:r>
              <a:rPr lang="en-US" sz="2000">
                <a:latin typeface="Comic Sans MS" panose="030F0902030302020204" pitchFamily="66" charset="0"/>
                <a:cs typeface="Arial" panose="020B0604020202090204" pitchFamily="34" charset="0"/>
              </a:rPr>
              <a:t>∞</a:t>
            </a:r>
          </a:p>
          <a:p>
            <a:pPr algn="r"/>
            <a:r>
              <a:rPr lang="en-US" sz="2000"/>
              <a:t>2,x</a:t>
            </a:r>
          </a:p>
        </p:txBody>
      </p:sp>
      <p:sp>
        <p:nvSpPr>
          <p:cNvPr id="128011" name="Text Box 9"/>
          <p:cNvSpPr txBox="1">
            <a:spLocks noChangeArrowheads="1"/>
          </p:cNvSpPr>
          <p:nvPr/>
        </p:nvSpPr>
        <p:spPr bwMode="auto">
          <a:xfrm>
            <a:off x="7605713" y="1516063"/>
            <a:ext cx="1169987" cy="18605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2000"/>
              <a:t>D(z),p(z)</a:t>
            </a:r>
          </a:p>
          <a:p>
            <a:pPr algn="r"/>
            <a:r>
              <a:rPr lang="en-US" sz="1800">
                <a:latin typeface="Comic Sans MS" panose="030F0902030302020204" pitchFamily="66" charset="0"/>
              </a:rPr>
              <a:t>∞ </a:t>
            </a:r>
            <a:endParaRPr lang="en-US" sz="2000"/>
          </a:p>
          <a:p>
            <a:pPr algn="r"/>
            <a:r>
              <a:rPr lang="en-US" sz="1800">
                <a:latin typeface="Comic Sans MS" panose="030F0902030302020204" pitchFamily="66" charset="0"/>
              </a:rPr>
              <a:t>∞ </a:t>
            </a:r>
            <a:endParaRPr lang="en-US" sz="2000"/>
          </a:p>
          <a:p>
            <a:pPr algn="r"/>
            <a:r>
              <a:rPr lang="en-US" sz="2000"/>
              <a:t>4,y</a:t>
            </a:r>
          </a:p>
          <a:p>
            <a:pPr algn="r"/>
            <a:r>
              <a:rPr lang="en-US" sz="2000"/>
              <a:t>4,y</a:t>
            </a:r>
          </a:p>
          <a:p>
            <a:pPr algn="r"/>
            <a:r>
              <a:rPr lang="en-US" sz="2000"/>
              <a:t>4,y</a:t>
            </a:r>
          </a:p>
        </p:txBody>
      </p:sp>
      <p:sp>
        <p:nvSpPr>
          <p:cNvPr id="128012" name="Line 10"/>
          <p:cNvSpPr>
            <a:spLocks noChangeShapeType="1"/>
          </p:cNvSpPr>
          <p:nvPr/>
        </p:nvSpPr>
        <p:spPr bwMode="auto">
          <a:xfrm>
            <a:off x="361950" y="1857375"/>
            <a:ext cx="8505825" cy="9525"/>
          </a:xfrm>
          <a:prstGeom prst="line">
            <a:avLst/>
          </a:prstGeom>
          <a:noFill/>
          <a:ln w="28575">
            <a:solidFill>
              <a:schemeClr val="accent2"/>
            </a:solidFill>
            <a:round/>
          </a:ln>
        </p:spPr>
        <p:txBody>
          <a:bodyPr wrap="none" anchor="ctr"/>
          <a:lstStyle/>
          <a:p>
            <a:endParaRPr lang="en-US"/>
          </a:p>
        </p:txBody>
      </p:sp>
      <p:sp>
        <p:nvSpPr>
          <p:cNvPr id="128013" name="Line 11"/>
          <p:cNvSpPr>
            <a:spLocks noChangeShapeType="1"/>
          </p:cNvSpPr>
          <p:nvPr/>
        </p:nvSpPr>
        <p:spPr bwMode="auto">
          <a:xfrm>
            <a:off x="519113" y="2162175"/>
            <a:ext cx="8296275" cy="0"/>
          </a:xfrm>
          <a:prstGeom prst="line">
            <a:avLst/>
          </a:prstGeom>
          <a:noFill/>
          <a:ln w="19050">
            <a:solidFill>
              <a:schemeClr val="accent2"/>
            </a:solidFill>
            <a:round/>
          </a:ln>
        </p:spPr>
        <p:txBody>
          <a:bodyPr wrap="none" anchor="ctr"/>
          <a:lstStyle/>
          <a:p>
            <a:endParaRPr lang="en-US"/>
          </a:p>
        </p:txBody>
      </p:sp>
      <p:sp>
        <p:nvSpPr>
          <p:cNvPr id="128014" name="Line 12"/>
          <p:cNvSpPr>
            <a:spLocks noChangeShapeType="1"/>
          </p:cNvSpPr>
          <p:nvPr/>
        </p:nvSpPr>
        <p:spPr bwMode="auto">
          <a:xfrm>
            <a:off x="538163" y="2457450"/>
            <a:ext cx="8267700" cy="4763"/>
          </a:xfrm>
          <a:prstGeom prst="line">
            <a:avLst/>
          </a:prstGeom>
          <a:noFill/>
          <a:ln w="19050">
            <a:solidFill>
              <a:schemeClr val="accent2"/>
            </a:solidFill>
            <a:round/>
          </a:ln>
        </p:spPr>
        <p:txBody>
          <a:bodyPr wrap="none" anchor="ctr"/>
          <a:lstStyle/>
          <a:p>
            <a:endParaRPr lang="en-US"/>
          </a:p>
        </p:txBody>
      </p:sp>
      <p:sp>
        <p:nvSpPr>
          <p:cNvPr id="128015" name="Line 13"/>
          <p:cNvSpPr>
            <a:spLocks noChangeShapeType="1"/>
          </p:cNvSpPr>
          <p:nvPr/>
        </p:nvSpPr>
        <p:spPr bwMode="auto">
          <a:xfrm>
            <a:off x="547688" y="2767013"/>
            <a:ext cx="8253412" cy="9525"/>
          </a:xfrm>
          <a:prstGeom prst="line">
            <a:avLst/>
          </a:prstGeom>
          <a:noFill/>
          <a:ln w="19050">
            <a:solidFill>
              <a:schemeClr val="accent2"/>
            </a:solidFill>
            <a:round/>
          </a:ln>
        </p:spPr>
        <p:txBody>
          <a:bodyPr wrap="none" anchor="ctr"/>
          <a:lstStyle/>
          <a:p>
            <a:endParaRPr lang="en-US"/>
          </a:p>
        </p:txBody>
      </p:sp>
      <p:sp>
        <p:nvSpPr>
          <p:cNvPr id="128016" name="Line 14"/>
          <p:cNvSpPr>
            <a:spLocks noChangeShapeType="1"/>
          </p:cNvSpPr>
          <p:nvPr/>
        </p:nvSpPr>
        <p:spPr bwMode="auto">
          <a:xfrm>
            <a:off x="557213" y="3071813"/>
            <a:ext cx="8267700" cy="9525"/>
          </a:xfrm>
          <a:prstGeom prst="line">
            <a:avLst/>
          </a:prstGeom>
          <a:noFill/>
          <a:ln w="19050">
            <a:solidFill>
              <a:schemeClr val="accent2"/>
            </a:solidFill>
            <a:round/>
          </a:ln>
        </p:spPr>
        <p:txBody>
          <a:bodyPr wrap="none" anchor="ctr"/>
          <a:lstStyle/>
          <a:p>
            <a:endParaRPr lang="en-US"/>
          </a:p>
        </p:txBody>
      </p:sp>
      <p:sp>
        <p:nvSpPr>
          <p:cNvPr id="128017" name="Line 15"/>
          <p:cNvSpPr>
            <a:spLocks noChangeShapeType="1"/>
          </p:cNvSpPr>
          <p:nvPr/>
        </p:nvSpPr>
        <p:spPr bwMode="auto">
          <a:xfrm>
            <a:off x="571500" y="3386138"/>
            <a:ext cx="8262938" cy="4762"/>
          </a:xfrm>
          <a:prstGeom prst="line">
            <a:avLst/>
          </a:prstGeom>
          <a:noFill/>
          <a:ln w="19050">
            <a:solidFill>
              <a:schemeClr val="accent2"/>
            </a:solidFill>
            <a:round/>
          </a:ln>
        </p:spPr>
        <p:txBody>
          <a:bodyPr wrap="none" anchor="ctr"/>
          <a:lstStyle/>
          <a:p>
            <a:endParaRPr lang="en-US"/>
          </a:p>
        </p:txBody>
      </p:sp>
      <p:grpSp>
        <p:nvGrpSpPr>
          <p:cNvPr id="128018" name="Group 16"/>
          <p:cNvGrpSpPr/>
          <p:nvPr/>
        </p:nvGrpSpPr>
        <p:grpSpPr bwMode="auto">
          <a:xfrm>
            <a:off x="3645396" y="3771160"/>
            <a:ext cx="3571875" cy="2236787"/>
            <a:chOff x="3162" y="1071"/>
            <a:chExt cx="2250" cy="1409"/>
          </a:xfrm>
        </p:grpSpPr>
        <p:sp>
          <p:nvSpPr>
            <p:cNvPr id="128024" name="Freeform 17"/>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p:spPr>
          <p:txBody>
            <a:bodyPr wrap="none" anchor="ctr"/>
            <a:lstStyle/>
            <a:p>
              <a:endParaRPr lang="en-US"/>
            </a:p>
          </p:txBody>
        </p:sp>
        <p:sp>
          <p:nvSpPr>
            <p:cNvPr id="128025" name="Freeform 18"/>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ln>
          </p:spPr>
          <p:txBody>
            <a:bodyPr wrap="none" anchor="ctr"/>
            <a:lstStyle/>
            <a:p>
              <a:endParaRPr lang="en-US"/>
            </a:p>
          </p:txBody>
        </p:sp>
        <p:sp>
          <p:nvSpPr>
            <p:cNvPr id="128026" name="Oval 19"/>
            <p:cNvSpPr>
              <a:spLocks noChangeArrowheads="1"/>
            </p:cNvSpPr>
            <p:nvPr/>
          </p:nvSpPr>
          <p:spPr bwMode="auto">
            <a:xfrm>
              <a:off x="3238" y="1862"/>
              <a:ext cx="313" cy="81"/>
            </a:xfrm>
            <a:prstGeom prst="ellipse">
              <a:avLst/>
            </a:prstGeom>
            <a:solidFill>
              <a:schemeClr val="hlink"/>
            </a:solidFill>
            <a:ln w="12700">
              <a:solidFill>
                <a:schemeClr val="tx1"/>
              </a:solidFill>
              <a:round/>
            </a:ln>
          </p:spPr>
          <p:txBody>
            <a:bodyPr wrap="none" anchor="ctr"/>
            <a:lstStyle/>
            <a:p>
              <a:endParaRPr lang="en-US"/>
            </a:p>
          </p:txBody>
        </p:sp>
        <p:sp>
          <p:nvSpPr>
            <p:cNvPr id="128027" name="Line 20"/>
            <p:cNvSpPr>
              <a:spLocks noChangeShapeType="1"/>
            </p:cNvSpPr>
            <p:nvPr/>
          </p:nvSpPr>
          <p:spPr bwMode="auto">
            <a:xfrm>
              <a:off x="3238" y="1855"/>
              <a:ext cx="0" cy="50"/>
            </a:xfrm>
            <a:prstGeom prst="line">
              <a:avLst/>
            </a:prstGeom>
            <a:noFill/>
            <a:ln w="12700">
              <a:solidFill>
                <a:schemeClr val="tx1"/>
              </a:solidFill>
              <a:round/>
            </a:ln>
          </p:spPr>
          <p:txBody>
            <a:bodyPr wrap="none" anchor="ctr"/>
            <a:lstStyle/>
            <a:p>
              <a:endParaRPr lang="en-US"/>
            </a:p>
          </p:txBody>
        </p:sp>
        <p:sp>
          <p:nvSpPr>
            <p:cNvPr id="128028" name="Line 21"/>
            <p:cNvSpPr>
              <a:spLocks noChangeShapeType="1"/>
            </p:cNvSpPr>
            <p:nvPr/>
          </p:nvSpPr>
          <p:spPr bwMode="auto">
            <a:xfrm>
              <a:off x="3551" y="1855"/>
              <a:ext cx="0" cy="50"/>
            </a:xfrm>
            <a:prstGeom prst="line">
              <a:avLst/>
            </a:prstGeom>
            <a:noFill/>
            <a:ln w="12700">
              <a:solidFill>
                <a:schemeClr val="tx1"/>
              </a:solidFill>
              <a:round/>
            </a:ln>
          </p:spPr>
          <p:txBody>
            <a:bodyPr wrap="none" anchor="ctr"/>
            <a:lstStyle/>
            <a:p>
              <a:endParaRPr lang="en-US"/>
            </a:p>
          </p:txBody>
        </p:sp>
        <p:sp>
          <p:nvSpPr>
            <p:cNvPr id="128029" name="Rectangle 22"/>
            <p:cNvSpPr>
              <a:spLocks noChangeArrowheads="1"/>
            </p:cNvSpPr>
            <p:nvPr/>
          </p:nvSpPr>
          <p:spPr bwMode="auto">
            <a:xfrm>
              <a:off x="3238" y="1855"/>
              <a:ext cx="310" cy="49"/>
            </a:xfrm>
            <a:prstGeom prst="rect">
              <a:avLst/>
            </a:prstGeom>
            <a:solidFill>
              <a:schemeClr val="hlink"/>
            </a:solidFill>
            <a:ln>
              <a:noFill/>
            </a:ln>
          </p:spPr>
          <p:txBody>
            <a:bodyPr wrap="none" anchor="ctr"/>
            <a:lstStyle/>
            <a:p>
              <a:pPr algn="ctr"/>
              <a:endParaRPr lang="en-US" sz="2400"/>
            </a:p>
          </p:txBody>
        </p:sp>
        <p:sp>
          <p:nvSpPr>
            <p:cNvPr id="128030" name="Oval 23"/>
            <p:cNvSpPr>
              <a:spLocks noChangeArrowheads="1"/>
            </p:cNvSpPr>
            <p:nvPr/>
          </p:nvSpPr>
          <p:spPr bwMode="auto">
            <a:xfrm>
              <a:off x="3235" y="1796"/>
              <a:ext cx="313" cy="95"/>
            </a:xfrm>
            <a:prstGeom prst="ellipse">
              <a:avLst/>
            </a:prstGeom>
            <a:solidFill>
              <a:schemeClr val="hlink"/>
            </a:solidFill>
            <a:ln w="12700">
              <a:solidFill>
                <a:schemeClr val="tx1"/>
              </a:solidFill>
              <a:round/>
            </a:ln>
          </p:spPr>
          <p:txBody>
            <a:bodyPr wrap="none" anchor="ctr"/>
            <a:lstStyle/>
            <a:p>
              <a:endParaRPr lang="en-US"/>
            </a:p>
          </p:txBody>
        </p:sp>
        <p:sp>
          <p:nvSpPr>
            <p:cNvPr id="128031" name="Oval 24"/>
            <p:cNvSpPr>
              <a:spLocks noChangeArrowheads="1"/>
            </p:cNvSpPr>
            <p:nvPr/>
          </p:nvSpPr>
          <p:spPr bwMode="auto">
            <a:xfrm>
              <a:off x="3712" y="2249"/>
              <a:ext cx="313" cy="81"/>
            </a:xfrm>
            <a:prstGeom prst="ellipse">
              <a:avLst/>
            </a:prstGeom>
            <a:solidFill>
              <a:schemeClr val="hlink"/>
            </a:solidFill>
            <a:ln w="12700">
              <a:solidFill>
                <a:schemeClr val="tx1"/>
              </a:solidFill>
              <a:round/>
            </a:ln>
          </p:spPr>
          <p:txBody>
            <a:bodyPr wrap="none" anchor="ctr"/>
            <a:lstStyle/>
            <a:p>
              <a:endParaRPr lang="en-US"/>
            </a:p>
          </p:txBody>
        </p:sp>
        <p:sp>
          <p:nvSpPr>
            <p:cNvPr id="128032" name="Line 25"/>
            <p:cNvSpPr>
              <a:spLocks noChangeShapeType="1"/>
            </p:cNvSpPr>
            <p:nvPr/>
          </p:nvSpPr>
          <p:spPr bwMode="auto">
            <a:xfrm>
              <a:off x="3712" y="2242"/>
              <a:ext cx="0" cy="50"/>
            </a:xfrm>
            <a:prstGeom prst="line">
              <a:avLst/>
            </a:prstGeom>
            <a:noFill/>
            <a:ln w="12700">
              <a:solidFill>
                <a:schemeClr val="tx1"/>
              </a:solidFill>
              <a:round/>
            </a:ln>
          </p:spPr>
          <p:txBody>
            <a:bodyPr wrap="none" anchor="ctr"/>
            <a:lstStyle/>
            <a:p>
              <a:endParaRPr lang="en-US"/>
            </a:p>
          </p:txBody>
        </p:sp>
        <p:sp>
          <p:nvSpPr>
            <p:cNvPr id="128033" name="Line 26"/>
            <p:cNvSpPr>
              <a:spLocks noChangeShapeType="1"/>
            </p:cNvSpPr>
            <p:nvPr/>
          </p:nvSpPr>
          <p:spPr bwMode="auto">
            <a:xfrm>
              <a:off x="4025" y="2242"/>
              <a:ext cx="0" cy="50"/>
            </a:xfrm>
            <a:prstGeom prst="line">
              <a:avLst/>
            </a:prstGeom>
            <a:noFill/>
            <a:ln w="12700">
              <a:solidFill>
                <a:schemeClr val="tx1"/>
              </a:solidFill>
              <a:round/>
            </a:ln>
          </p:spPr>
          <p:txBody>
            <a:bodyPr wrap="none" anchor="ctr"/>
            <a:lstStyle/>
            <a:p>
              <a:endParaRPr lang="en-US"/>
            </a:p>
          </p:txBody>
        </p:sp>
        <p:sp>
          <p:nvSpPr>
            <p:cNvPr id="128034" name="Rectangle 27"/>
            <p:cNvSpPr>
              <a:spLocks noChangeArrowheads="1"/>
            </p:cNvSpPr>
            <p:nvPr/>
          </p:nvSpPr>
          <p:spPr bwMode="auto">
            <a:xfrm>
              <a:off x="3712" y="2242"/>
              <a:ext cx="310" cy="49"/>
            </a:xfrm>
            <a:prstGeom prst="rect">
              <a:avLst/>
            </a:prstGeom>
            <a:solidFill>
              <a:schemeClr val="hlink"/>
            </a:solidFill>
            <a:ln>
              <a:noFill/>
            </a:ln>
          </p:spPr>
          <p:txBody>
            <a:bodyPr wrap="none" anchor="ctr"/>
            <a:lstStyle/>
            <a:p>
              <a:pPr algn="ctr"/>
              <a:endParaRPr lang="en-US" sz="2400"/>
            </a:p>
          </p:txBody>
        </p:sp>
        <p:sp>
          <p:nvSpPr>
            <p:cNvPr id="128035" name="Oval 28"/>
            <p:cNvSpPr>
              <a:spLocks noChangeArrowheads="1"/>
            </p:cNvSpPr>
            <p:nvPr/>
          </p:nvSpPr>
          <p:spPr bwMode="auto">
            <a:xfrm>
              <a:off x="3709" y="2183"/>
              <a:ext cx="313" cy="95"/>
            </a:xfrm>
            <a:prstGeom prst="ellipse">
              <a:avLst/>
            </a:prstGeom>
            <a:solidFill>
              <a:schemeClr val="hlink"/>
            </a:solidFill>
            <a:ln w="12700">
              <a:solidFill>
                <a:schemeClr val="tx1"/>
              </a:solidFill>
              <a:round/>
            </a:ln>
          </p:spPr>
          <p:txBody>
            <a:bodyPr wrap="none" anchor="ctr"/>
            <a:lstStyle/>
            <a:p>
              <a:endParaRPr lang="en-US"/>
            </a:p>
          </p:txBody>
        </p:sp>
        <p:sp>
          <p:nvSpPr>
            <p:cNvPr id="128036" name="Oval 29"/>
            <p:cNvSpPr>
              <a:spLocks noChangeArrowheads="1"/>
            </p:cNvSpPr>
            <p:nvPr/>
          </p:nvSpPr>
          <p:spPr bwMode="auto">
            <a:xfrm>
              <a:off x="3708" y="1559"/>
              <a:ext cx="313" cy="81"/>
            </a:xfrm>
            <a:prstGeom prst="ellipse">
              <a:avLst/>
            </a:prstGeom>
            <a:solidFill>
              <a:schemeClr val="hlink"/>
            </a:solidFill>
            <a:ln w="12700">
              <a:solidFill>
                <a:schemeClr val="tx1"/>
              </a:solidFill>
              <a:round/>
            </a:ln>
          </p:spPr>
          <p:txBody>
            <a:bodyPr wrap="none" anchor="ctr"/>
            <a:lstStyle/>
            <a:p>
              <a:endParaRPr lang="en-US"/>
            </a:p>
          </p:txBody>
        </p:sp>
        <p:sp>
          <p:nvSpPr>
            <p:cNvPr id="128037" name="Line 30"/>
            <p:cNvSpPr>
              <a:spLocks noChangeShapeType="1"/>
            </p:cNvSpPr>
            <p:nvPr/>
          </p:nvSpPr>
          <p:spPr bwMode="auto">
            <a:xfrm>
              <a:off x="3708" y="1552"/>
              <a:ext cx="0" cy="50"/>
            </a:xfrm>
            <a:prstGeom prst="line">
              <a:avLst/>
            </a:prstGeom>
            <a:noFill/>
            <a:ln w="12700">
              <a:solidFill>
                <a:schemeClr val="tx1"/>
              </a:solidFill>
              <a:round/>
            </a:ln>
          </p:spPr>
          <p:txBody>
            <a:bodyPr wrap="none" anchor="ctr"/>
            <a:lstStyle/>
            <a:p>
              <a:endParaRPr lang="en-US"/>
            </a:p>
          </p:txBody>
        </p:sp>
        <p:sp>
          <p:nvSpPr>
            <p:cNvPr id="128038" name="Line 31"/>
            <p:cNvSpPr>
              <a:spLocks noChangeShapeType="1"/>
            </p:cNvSpPr>
            <p:nvPr/>
          </p:nvSpPr>
          <p:spPr bwMode="auto">
            <a:xfrm>
              <a:off x="4021" y="1552"/>
              <a:ext cx="0" cy="50"/>
            </a:xfrm>
            <a:prstGeom prst="line">
              <a:avLst/>
            </a:prstGeom>
            <a:noFill/>
            <a:ln w="12700">
              <a:solidFill>
                <a:schemeClr val="tx1"/>
              </a:solidFill>
              <a:round/>
            </a:ln>
          </p:spPr>
          <p:txBody>
            <a:bodyPr wrap="none" anchor="ctr"/>
            <a:lstStyle/>
            <a:p>
              <a:endParaRPr lang="en-US"/>
            </a:p>
          </p:txBody>
        </p:sp>
        <p:sp>
          <p:nvSpPr>
            <p:cNvPr id="128039" name="Rectangle 32"/>
            <p:cNvSpPr>
              <a:spLocks noChangeArrowheads="1"/>
            </p:cNvSpPr>
            <p:nvPr/>
          </p:nvSpPr>
          <p:spPr bwMode="auto">
            <a:xfrm>
              <a:off x="3708" y="1552"/>
              <a:ext cx="310" cy="49"/>
            </a:xfrm>
            <a:prstGeom prst="rect">
              <a:avLst/>
            </a:prstGeom>
            <a:solidFill>
              <a:schemeClr val="hlink"/>
            </a:solidFill>
            <a:ln>
              <a:noFill/>
            </a:ln>
          </p:spPr>
          <p:txBody>
            <a:bodyPr wrap="none" anchor="ctr"/>
            <a:lstStyle/>
            <a:p>
              <a:pPr algn="ctr"/>
              <a:endParaRPr lang="en-US" sz="2400"/>
            </a:p>
          </p:txBody>
        </p:sp>
        <p:sp>
          <p:nvSpPr>
            <p:cNvPr id="128040" name="Oval 33"/>
            <p:cNvSpPr>
              <a:spLocks noChangeArrowheads="1"/>
            </p:cNvSpPr>
            <p:nvPr/>
          </p:nvSpPr>
          <p:spPr bwMode="auto">
            <a:xfrm>
              <a:off x="3705" y="1493"/>
              <a:ext cx="313" cy="95"/>
            </a:xfrm>
            <a:prstGeom prst="ellipse">
              <a:avLst/>
            </a:prstGeom>
            <a:solidFill>
              <a:schemeClr val="hlink"/>
            </a:solidFill>
            <a:ln w="12700">
              <a:solidFill>
                <a:schemeClr val="tx1"/>
              </a:solidFill>
              <a:round/>
            </a:ln>
          </p:spPr>
          <p:txBody>
            <a:bodyPr wrap="none" anchor="ctr"/>
            <a:lstStyle/>
            <a:p>
              <a:endParaRPr lang="en-US"/>
            </a:p>
          </p:txBody>
        </p:sp>
        <p:sp>
          <p:nvSpPr>
            <p:cNvPr id="128041" name="Oval 34"/>
            <p:cNvSpPr>
              <a:spLocks noChangeArrowheads="1"/>
            </p:cNvSpPr>
            <p:nvPr/>
          </p:nvSpPr>
          <p:spPr bwMode="auto">
            <a:xfrm>
              <a:off x="4391" y="1555"/>
              <a:ext cx="312" cy="81"/>
            </a:xfrm>
            <a:prstGeom prst="ellipse">
              <a:avLst/>
            </a:prstGeom>
            <a:solidFill>
              <a:schemeClr val="hlink"/>
            </a:solidFill>
            <a:ln w="12700">
              <a:solidFill>
                <a:schemeClr val="tx1"/>
              </a:solidFill>
              <a:round/>
            </a:ln>
          </p:spPr>
          <p:txBody>
            <a:bodyPr wrap="none" anchor="ctr"/>
            <a:lstStyle/>
            <a:p>
              <a:endParaRPr lang="en-US"/>
            </a:p>
          </p:txBody>
        </p:sp>
        <p:sp>
          <p:nvSpPr>
            <p:cNvPr id="128042" name="Line 35"/>
            <p:cNvSpPr>
              <a:spLocks noChangeShapeType="1"/>
            </p:cNvSpPr>
            <p:nvPr/>
          </p:nvSpPr>
          <p:spPr bwMode="auto">
            <a:xfrm>
              <a:off x="4391" y="1548"/>
              <a:ext cx="0" cy="50"/>
            </a:xfrm>
            <a:prstGeom prst="line">
              <a:avLst/>
            </a:prstGeom>
            <a:noFill/>
            <a:ln w="12700">
              <a:solidFill>
                <a:schemeClr val="tx1"/>
              </a:solidFill>
              <a:round/>
            </a:ln>
          </p:spPr>
          <p:txBody>
            <a:bodyPr wrap="none" anchor="ctr"/>
            <a:lstStyle/>
            <a:p>
              <a:endParaRPr lang="en-US"/>
            </a:p>
          </p:txBody>
        </p:sp>
        <p:sp>
          <p:nvSpPr>
            <p:cNvPr id="128043" name="Line 36"/>
            <p:cNvSpPr>
              <a:spLocks noChangeShapeType="1"/>
            </p:cNvSpPr>
            <p:nvPr/>
          </p:nvSpPr>
          <p:spPr bwMode="auto">
            <a:xfrm>
              <a:off x="4703" y="1548"/>
              <a:ext cx="0" cy="50"/>
            </a:xfrm>
            <a:prstGeom prst="line">
              <a:avLst/>
            </a:prstGeom>
            <a:noFill/>
            <a:ln w="12700">
              <a:solidFill>
                <a:schemeClr val="tx1"/>
              </a:solidFill>
              <a:round/>
            </a:ln>
          </p:spPr>
          <p:txBody>
            <a:bodyPr wrap="none" anchor="ctr"/>
            <a:lstStyle/>
            <a:p>
              <a:endParaRPr lang="en-US"/>
            </a:p>
          </p:txBody>
        </p:sp>
        <p:sp>
          <p:nvSpPr>
            <p:cNvPr id="128044" name="Rectangle 37"/>
            <p:cNvSpPr>
              <a:spLocks noChangeArrowheads="1"/>
            </p:cNvSpPr>
            <p:nvPr/>
          </p:nvSpPr>
          <p:spPr bwMode="auto">
            <a:xfrm>
              <a:off x="4391" y="1548"/>
              <a:ext cx="309" cy="49"/>
            </a:xfrm>
            <a:prstGeom prst="rect">
              <a:avLst/>
            </a:prstGeom>
            <a:solidFill>
              <a:schemeClr val="hlink"/>
            </a:solidFill>
            <a:ln>
              <a:noFill/>
            </a:ln>
          </p:spPr>
          <p:txBody>
            <a:bodyPr wrap="none" anchor="ctr"/>
            <a:lstStyle/>
            <a:p>
              <a:pPr algn="ctr"/>
              <a:endParaRPr lang="en-US" sz="2400"/>
            </a:p>
          </p:txBody>
        </p:sp>
        <p:sp>
          <p:nvSpPr>
            <p:cNvPr id="128045" name="Oval 38"/>
            <p:cNvSpPr>
              <a:spLocks noChangeArrowheads="1"/>
            </p:cNvSpPr>
            <p:nvPr/>
          </p:nvSpPr>
          <p:spPr bwMode="auto">
            <a:xfrm>
              <a:off x="4394" y="1492"/>
              <a:ext cx="312" cy="95"/>
            </a:xfrm>
            <a:prstGeom prst="ellipse">
              <a:avLst/>
            </a:prstGeom>
            <a:solidFill>
              <a:schemeClr val="hlink"/>
            </a:solidFill>
            <a:ln w="12700">
              <a:solidFill>
                <a:schemeClr val="tx1"/>
              </a:solidFill>
              <a:round/>
            </a:ln>
          </p:spPr>
          <p:txBody>
            <a:bodyPr wrap="none" anchor="ctr"/>
            <a:lstStyle/>
            <a:p>
              <a:endParaRPr lang="en-US"/>
            </a:p>
          </p:txBody>
        </p:sp>
        <p:sp>
          <p:nvSpPr>
            <p:cNvPr id="128046" name="Oval 39"/>
            <p:cNvSpPr>
              <a:spLocks noChangeArrowheads="1"/>
            </p:cNvSpPr>
            <p:nvPr/>
          </p:nvSpPr>
          <p:spPr bwMode="auto">
            <a:xfrm>
              <a:off x="4401" y="2246"/>
              <a:ext cx="313" cy="81"/>
            </a:xfrm>
            <a:prstGeom prst="ellipse">
              <a:avLst/>
            </a:prstGeom>
            <a:solidFill>
              <a:schemeClr val="hlink"/>
            </a:solidFill>
            <a:ln w="12700">
              <a:solidFill>
                <a:schemeClr val="tx1"/>
              </a:solidFill>
              <a:round/>
            </a:ln>
          </p:spPr>
          <p:txBody>
            <a:bodyPr wrap="none" anchor="ctr"/>
            <a:lstStyle/>
            <a:p>
              <a:endParaRPr lang="en-US"/>
            </a:p>
          </p:txBody>
        </p:sp>
        <p:sp>
          <p:nvSpPr>
            <p:cNvPr id="128047" name="Line 40"/>
            <p:cNvSpPr>
              <a:spLocks noChangeShapeType="1"/>
            </p:cNvSpPr>
            <p:nvPr/>
          </p:nvSpPr>
          <p:spPr bwMode="auto">
            <a:xfrm>
              <a:off x="4401" y="2239"/>
              <a:ext cx="0" cy="50"/>
            </a:xfrm>
            <a:prstGeom prst="line">
              <a:avLst/>
            </a:prstGeom>
            <a:noFill/>
            <a:ln w="12700">
              <a:solidFill>
                <a:schemeClr val="tx1"/>
              </a:solidFill>
              <a:round/>
            </a:ln>
          </p:spPr>
          <p:txBody>
            <a:bodyPr wrap="none" anchor="ctr"/>
            <a:lstStyle/>
            <a:p>
              <a:endParaRPr lang="en-US"/>
            </a:p>
          </p:txBody>
        </p:sp>
        <p:sp>
          <p:nvSpPr>
            <p:cNvPr id="128048" name="Line 41"/>
            <p:cNvSpPr>
              <a:spLocks noChangeShapeType="1"/>
            </p:cNvSpPr>
            <p:nvPr/>
          </p:nvSpPr>
          <p:spPr bwMode="auto">
            <a:xfrm>
              <a:off x="4714" y="2239"/>
              <a:ext cx="0" cy="50"/>
            </a:xfrm>
            <a:prstGeom prst="line">
              <a:avLst/>
            </a:prstGeom>
            <a:noFill/>
            <a:ln w="12700">
              <a:solidFill>
                <a:schemeClr val="tx1"/>
              </a:solidFill>
              <a:round/>
            </a:ln>
          </p:spPr>
          <p:txBody>
            <a:bodyPr wrap="none" anchor="ctr"/>
            <a:lstStyle/>
            <a:p>
              <a:endParaRPr lang="en-US"/>
            </a:p>
          </p:txBody>
        </p:sp>
        <p:sp>
          <p:nvSpPr>
            <p:cNvPr id="128049" name="Rectangle 42"/>
            <p:cNvSpPr>
              <a:spLocks noChangeArrowheads="1"/>
            </p:cNvSpPr>
            <p:nvPr/>
          </p:nvSpPr>
          <p:spPr bwMode="auto">
            <a:xfrm>
              <a:off x="4401" y="2239"/>
              <a:ext cx="310" cy="49"/>
            </a:xfrm>
            <a:prstGeom prst="rect">
              <a:avLst/>
            </a:prstGeom>
            <a:solidFill>
              <a:schemeClr val="hlink"/>
            </a:solidFill>
            <a:ln>
              <a:noFill/>
            </a:ln>
          </p:spPr>
          <p:txBody>
            <a:bodyPr wrap="none" anchor="ctr"/>
            <a:lstStyle/>
            <a:p>
              <a:pPr algn="ctr"/>
              <a:endParaRPr lang="en-US" sz="2400"/>
            </a:p>
          </p:txBody>
        </p:sp>
        <p:sp>
          <p:nvSpPr>
            <p:cNvPr id="128050" name="Oval 43"/>
            <p:cNvSpPr>
              <a:spLocks noChangeArrowheads="1"/>
            </p:cNvSpPr>
            <p:nvPr/>
          </p:nvSpPr>
          <p:spPr bwMode="auto">
            <a:xfrm>
              <a:off x="4398" y="2180"/>
              <a:ext cx="313" cy="95"/>
            </a:xfrm>
            <a:prstGeom prst="ellipse">
              <a:avLst/>
            </a:prstGeom>
            <a:solidFill>
              <a:schemeClr val="hlink"/>
            </a:solidFill>
            <a:ln w="12700">
              <a:solidFill>
                <a:schemeClr val="tx1"/>
              </a:solidFill>
              <a:round/>
            </a:ln>
          </p:spPr>
          <p:txBody>
            <a:bodyPr wrap="none" anchor="ctr"/>
            <a:lstStyle/>
            <a:p>
              <a:endParaRPr lang="en-US"/>
            </a:p>
          </p:txBody>
        </p:sp>
        <p:sp>
          <p:nvSpPr>
            <p:cNvPr id="128051" name="Oval 44"/>
            <p:cNvSpPr>
              <a:spLocks noChangeArrowheads="1"/>
            </p:cNvSpPr>
            <p:nvPr/>
          </p:nvSpPr>
          <p:spPr bwMode="auto">
            <a:xfrm>
              <a:off x="4966" y="1905"/>
              <a:ext cx="313" cy="81"/>
            </a:xfrm>
            <a:prstGeom prst="ellipse">
              <a:avLst/>
            </a:prstGeom>
            <a:solidFill>
              <a:schemeClr val="hlink"/>
            </a:solidFill>
            <a:ln w="12700">
              <a:solidFill>
                <a:schemeClr val="tx1"/>
              </a:solidFill>
              <a:round/>
            </a:ln>
          </p:spPr>
          <p:txBody>
            <a:bodyPr wrap="none" anchor="ctr"/>
            <a:lstStyle/>
            <a:p>
              <a:endParaRPr lang="en-US"/>
            </a:p>
          </p:txBody>
        </p:sp>
        <p:sp>
          <p:nvSpPr>
            <p:cNvPr id="128052" name="Line 45"/>
            <p:cNvSpPr>
              <a:spLocks noChangeShapeType="1"/>
            </p:cNvSpPr>
            <p:nvPr/>
          </p:nvSpPr>
          <p:spPr bwMode="auto">
            <a:xfrm>
              <a:off x="4966" y="1898"/>
              <a:ext cx="0" cy="50"/>
            </a:xfrm>
            <a:prstGeom prst="line">
              <a:avLst/>
            </a:prstGeom>
            <a:noFill/>
            <a:ln w="12700">
              <a:solidFill>
                <a:schemeClr val="tx1"/>
              </a:solidFill>
              <a:round/>
            </a:ln>
          </p:spPr>
          <p:txBody>
            <a:bodyPr wrap="none" anchor="ctr"/>
            <a:lstStyle/>
            <a:p>
              <a:endParaRPr lang="en-US"/>
            </a:p>
          </p:txBody>
        </p:sp>
        <p:sp>
          <p:nvSpPr>
            <p:cNvPr id="128053" name="Line 46"/>
            <p:cNvSpPr>
              <a:spLocks noChangeShapeType="1"/>
            </p:cNvSpPr>
            <p:nvPr/>
          </p:nvSpPr>
          <p:spPr bwMode="auto">
            <a:xfrm>
              <a:off x="5279" y="1898"/>
              <a:ext cx="0" cy="50"/>
            </a:xfrm>
            <a:prstGeom prst="line">
              <a:avLst/>
            </a:prstGeom>
            <a:noFill/>
            <a:ln w="12700">
              <a:solidFill>
                <a:schemeClr val="tx1"/>
              </a:solidFill>
              <a:round/>
            </a:ln>
          </p:spPr>
          <p:txBody>
            <a:bodyPr wrap="none" anchor="ctr"/>
            <a:lstStyle/>
            <a:p>
              <a:endParaRPr lang="en-US"/>
            </a:p>
          </p:txBody>
        </p:sp>
        <p:sp>
          <p:nvSpPr>
            <p:cNvPr id="128054" name="Rectangle 47"/>
            <p:cNvSpPr>
              <a:spLocks noChangeArrowheads="1"/>
            </p:cNvSpPr>
            <p:nvPr/>
          </p:nvSpPr>
          <p:spPr bwMode="auto">
            <a:xfrm>
              <a:off x="4966" y="1898"/>
              <a:ext cx="310" cy="49"/>
            </a:xfrm>
            <a:prstGeom prst="rect">
              <a:avLst/>
            </a:prstGeom>
            <a:solidFill>
              <a:schemeClr val="hlink"/>
            </a:solidFill>
            <a:ln>
              <a:noFill/>
            </a:ln>
          </p:spPr>
          <p:txBody>
            <a:bodyPr wrap="none" anchor="ctr"/>
            <a:lstStyle/>
            <a:p>
              <a:pPr algn="ctr"/>
              <a:endParaRPr lang="en-US" sz="2400"/>
            </a:p>
          </p:txBody>
        </p:sp>
        <p:sp>
          <p:nvSpPr>
            <p:cNvPr id="128055" name="Oval 48"/>
            <p:cNvSpPr>
              <a:spLocks noChangeArrowheads="1"/>
            </p:cNvSpPr>
            <p:nvPr/>
          </p:nvSpPr>
          <p:spPr bwMode="auto">
            <a:xfrm>
              <a:off x="4963" y="1839"/>
              <a:ext cx="313" cy="95"/>
            </a:xfrm>
            <a:prstGeom prst="ellipse">
              <a:avLst/>
            </a:prstGeom>
            <a:solidFill>
              <a:schemeClr val="hlink"/>
            </a:solidFill>
            <a:ln w="12700">
              <a:solidFill>
                <a:schemeClr val="tx1"/>
              </a:solidFill>
              <a:round/>
            </a:ln>
          </p:spPr>
          <p:txBody>
            <a:bodyPr wrap="none" anchor="ctr"/>
            <a:lstStyle/>
            <a:p>
              <a:endParaRPr lang="en-US"/>
            </a:p>
          </p:txBody>
        </p:sp>
        <p:sp>
          <p:nvSpPr>
            <p:cNvPr id="128056" name="Freeform 49"/>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ln>
          </p:spPr>
          <p:txBody>
            <a:bodyPr wrap="none" anchor="ctr"/>
            <a:lstStyle/>
            <a:p>
              <a:endParaRPr lang="en-US"/>
            </a:p>
          </p:txBody>
        </p:sp>
        <p:sp>
          <p:nvSpPr>
            <p:cNvPr id="128057" name="Freeform 50"/>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ln>
          </p:spPr>
          <p:txBody>
            <a:bodyPr wrap="none" anchor="ctr"/>
            <a:lstStyle/>
            <a:p>
              <a:endParaRPr lang="en-US"/>
            </a:p>
          </p:txBody>
        </p:sp>
        <p:sp>
          <p:nvSpPr>
            <p:cNvPr id="128058" name="Freeform 51"/>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ln>
          </p:spPr>
          <p:txBody>
            <a:bodyPr wrap="none" anchor="ctr"/>
            <a:lstStyle/>
            <a:p>
              <a:endParaRPr lang="en-US"/>
            </a:p>
          </p:txBody>
        </p:sp>
        <p:sp>
          <p:nvSpPr>
            <p:cNvPr id="128059" name="Freeform 52"/>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ln>
          </p:spPr>
          <p:txBody>
            <a:bodyPr wrap="none" anchor="ctr"/>
            <a:lstStyle/>
            <a:p>
              <a:endParaRPr lang="en-US"/>
            </a:p>
          </p:txBody>
        </p:sp>
        <p:sp>
          <p:nvSpPr>
            <p:cNvPr id="128060" name="Freeform 53"/>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28061" name="Freeform 54"/>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ln>
          </p:spPr>
          <p:txBody>
            <a:bodyPr wrap="none" anchor="ctr"/>
            <a:lstStyle/>
            <a:p>
              <a:endParaRPr lang="en-US"/>
            </a:p>
          </p:txBody>
        </p:sp>
        <p:sp>
          <p:nvSpPr>
            <p:cNvPr id="128062" name="Freeform 55"/>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28063" name="Freeform 56"/>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ln>
          </p:spPr>
          <p:txBody>
            <a:bodyPr wrap="none" anchor="ctr"/>
            <a:lstStyle/>
            <a:p>
              <a:endParaRPr lang="en-US"/>
            </a:p>
          </p:txBody>
        </p:sp>
        <p:sp>
          <p:nvSpPr>
            <p:cNvPr id="128064" name="Freeform 57"/>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ln>
          </p:spPr>
          <p:txBody>
            <a:bodyPr wrap="none" anchor="ctr"/>
            <a:lstStyle/>
            <a:p>
              <a:endParaRPr lang="en-US"/>
            </a:p>
          </p:txBody>
        </p:sp>
        <p:grpSp>
          <p:nvGrpSpPr>
            <p:cNvPr id="128065" name="Group 58"/>
            <p:cNvGrpSpPr/>
            <p:nvPr/>
          </p:nvGrpSpPr>
          <p:grpSpPr bwMode="auto">
            <a:xfrm>
              <a:off x="3287" y="1744"/>
              <a:ext cx="205" cy="250"/>
              <a:chOff x="2954" y="2425"/>
              <a:chExt cx="208" cy="250"/>
            </a:xfrm>
          </p:grpSpPr>
          <p:sp>
            <p:nvSpPr>
              <p:cNvPr id="128091" name="Rectangle 59"/>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28092" name="Text Box 60"/>
              <p:cNvSpPr txBox="1">
                <a:spLocks noChangeArrowheads="1"/>
              </p:cNvSpPr>
              <p:nvPr/>
            </p:nvSpPr>
            <p:spPr bwMode="auto">
              <a:xfrm>
                <a:off x="2954" y="2425"/>
                <a:ext cx="208"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u</a:t>
                </a:r>
                <a:endParaRPr lang="en-US"/>
              </a:p>
            </p:txBody>
          </p:sp>
        </p:grpSp>
        <p:grpSp>
          <p:nvGrpSpPr>
            <p:cNvPr id="128066" name="Group 61"/>
            <p:cNvGrpSpPr/>
            <p:nvPr/>
          </p:nvGrpSpPr>
          <p:grpSpPr bwMode="auto">
            <a:xfrm>
              <a:off x="4461" y="2128"/>
              <a:ext cx="196" cy="250"/>
              <a:chOff x="2958" y="2425"/>
              <a:chExt cx="199" cy="250"/>
            </a:xfrm>
          </p:grpSpPr>
          <p:sp>
            <p:nvSpPr>
              <p:cNvPr id="128089" name="Rectangle 62"/>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8090" name="Text Box 63"/>
              <p:cNvSpPr txBox="1">
                <a:spLocks noChangeArrowheads="1"/>
              </p:cNvSpPr>
              <p:nvPr/>
            </p:nvSpPr>
            <p:spPr bwMode="auto">
              <a:xfrm>
                <a:off x="2958" y="2425"/>
                <a:ext cx="1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y</a:t>
                </a:r>
                <a:endParaRPr lang="en-US"/>
              </a:p>
            </p:txBody>
          </p:sp>
        </p:grpSp>
        <p:grpSp>
          <p:nvGrpSpPr>
            <p:cNvPr id="128067" name="Group 64"/>
            <p:cNvGrpSpPr/>
            <p:nvPr/>
          </p:nvGrpSpPr>
          <p:grpSpPr bwMode="auto">
            <a:xfrm>
              <a:off x="3772" y="2095"/>
              <a:ext cx="212" cy="288"/>
              <a:chOff x="2951" y="2395"/>
              <a:chExt cx="213" cy="288"/>
            </a:xfrm>
          </p:grpSpPr>
          <p:sp>
            <p:nvSpPr>
              <p:cNvPr id="128087" name="Rectangle 65"/>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28088" name="Text Box 66"/>
              <p:cNvSpPr txBox="1">
                <a:spLocks noChangeArrowheads="1"/>
              </p:cNvSpPr>
              <p:nvPr/>
            </p:nvSpPr>
            <p:spPr bwMode="auto">
              <a:xfrm>
                <a:off x="2951" y="2395"/>
                <a:ext cx="213"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x</a:t>
                </a:r>
              </a:p>
            </p:txBody>
          </p:sp>
        </p:grpSp>
        <p:grpSp>
          <p:nvGrpSpPr>
            <p:cNvPr id="128068" name="Group 67"/>
            <p:cNvGrpSpPr/>
            <p:nvPr/>
          </p:nvGrpSpPr>
          <p:grpSpPr bwMode="auto">
            <a:xfrm>
              <a:off x="4438" y="1438"/>
              <a:ext cx="232" cy="250"/>
              <a:chOff x="2941" y="2425"/>
              <a:chExt cx="235" cy="250"/>
            </a:xfrm>
          </p:grpSpPr>
          <p:sp>
            <p:nvSpPr>
              <p:cNvPr id="128085" name="Rectangle 68"/>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28086" name="Text Box 69"/>
              <p:cNvSpPr txBox="1">
                <a:spLocks noChangeArrowheads="1"/>
              </p:cNvSpPr>
              <p:nvPr/>
            </p:nvSpPr>
            <p:spPr bwMode="auto">
              <a:xfrm>
                <a:off x="2941"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w</a:t>
                </a:r>
                <a:endParaRPr lang="en-US"/>
              </a:p>
            </p:txBody>
          </p:sp>
        </p:grpSp>
        <p:grpSp>
          <p:nvGrpSpPr>
            <p:cNvPr id="128069" name="Group 70"/>
            <p:cNvGrpSpPr/>
            <p:nvPr/>
          </p:nvGrpSpPr>
          <p:grpSpPr bwMode="auto">
            <a:xfrm>
              <a:off x="3771" y="1438"/>
              <a:ext cx="196" cy="250"/>
              <a:chOff x="2958" y="2425"/>
              <a:chExt cx="199" cy="250"/>
            </a:xfrm>
          </p:grpSpPr>
          <p:sp>
            <p:nvSpPr>
              <p:cNvPr id="128083" name="Rectangle 71"/>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8084" name="Text Box 72"/>
              <p:cNvSpPr txBox="1">
                <a:spLocks noChangeArrowheads="1"/>
              </p:cNvSpPr>
              <p:nvPr/>
            </p:nvSpPr>
            <p:spPr bwMode="auto">
              <a:xfrm>
                <a:off x="2958" y="2425"/>
                <a:ext cx="1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v</a:t>
                </a:r>
                <a:endParaRPr lang="en-US"/>
              </a:p>
            </p:txBody>
          </p:sp>
        </p:grpSp>
        <p:grpSp>
          <p:nvGrpSpPr>
            <p:cNvPr id="128070" name="Group 73"/>
            <p:cNvGrpSpPr/>
            <p:nvPr/>
          </p:nvGrpSpPr>
          <p:grpSpPr bwMode="auto">
            <a:xfrm>
              <a:off x="5025" y="1756"/>
              <a:ext cx="212" cy="288"/>
              <a:chOff x="2949" y="2395"/>
              <a:chExt cx="214" cy="288"/>
            </a:xfrm>
          </p:grpSpPr>
          <p:sp>
            <p:nvSpPr>
              <p:cNvPr id="128081" name="Rectangle 74"/>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8082" name="Text Box 75"/>
              <p:cNvSpPr txBox="1">
                <a:spLocks noChangeArrowheads="1"/>
              </p:cNvSpPr>
              <p:nvPr/>
            </p:nvSpPr>
            <p:spPr bwMode="auto">
              <a:xfrm>
                <a:off x="2949" y="2395"/>
                <a:ext cx="214"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z</a:t>
                </a:r>
              </a:p>
            </p:txBody>
          </p:sp>
        </p:grpSp>
        <p:sp>
          <p:nvSpPr>
            <p:cNvPr id="128071" name="Text Box 76"/>
            <p:cNvSpPr txBox="1">
              <a:spLocks noChangeArrowheads="1"/>
            </p:cNvSpPr>
            <p:nvPr/>
          </p:nvSpPr>
          <p:spPr bwMode="auto">
            <a:xfrm>
              <a:off x="3493" y="1568"/>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8072" name="Text Box 77"/>
            <p:cNvSpPr txBox="1">
              <a:spLocks noChangeArrowheads="1"/>
            </p:cNvSpPr>
            <p:nvPr/>
          </p:nvSpPr>
          <p:spPr bwMode="auto">
            <a:xfrm>
              <a:off x="3841" y="1787"/>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8073" name="Text Box 78"/>
            <p:cNvSpPr txBox="1">
              <a:spLocks noChangeArrowheads="1"/>
            </p:cNvSpPr>
            <p:nvPr/>
          </p:nvSpPr>
          <p:spPr bwMode="auto">
            <a:xfrm>
              <a:off x="3406" y="2000"/>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8074" name="Text Box 79"/>
            <p:cNvSpPr txBox="1">
              <a:spLocks noChangeArrowheads="1"/>
            </p:cNvSpPr>
            <p:nvPr/>
          </p:nvSpPr>
          <p:spPr bwMode="auto">
            <a:xfrm>
              <a:off x="4225" y="1880"/>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28075" name="Text Box 80"/>
            <p:cNvSpPr txBox="1">
              <a:spLocks noChangeArrowheads="1"/>
            </p:cNvSpPr>
            <p:nvPr/>
          </p:nvSpPr>
          <p:spPr bwMode="auto">
            <a:xfrm>
              <a:off x="4162" y="2234"/>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8076" name="Text Box 81"/>
            <p:cNvSpPr txBox="1">
              <a:spLocks noChangeArrowheads="1"/>
            </p:cNvSpPr>
            <p:nvPr/>
          </p:nvSpPr>
          <p:spPr bwMode="auto">
            <a:xfrm>
              <a:off x="4522" y="1805"/>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8077" name="Text Box 82"/>
            <p:cNvSpPr txBox="1">
              <a:spLocks noChangeArrowheads="1"/>
            </p:cNvSpPr>
            <p:nvPr/>
          </p:nvSpPr>
          <p:spPr bwMode="auto">
            <a:xfrm>
              <a:off x="4882" y="2069"/>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8078" name="Text Box 83"/>
            <p:cNvSpPr txBox="1">
              <a:spLocks noChangeArrowheads="1"/>
            </p:cNvSpPr>
            <p:nvPr/>
          </p:nvSpPr>
          <p:spPr bwMode="auto">
            <a:xfrm>
              <a:off x="4855" y="1532"/>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sp>
          <p:nvSpPr>
            <p:cNvPr id="128079" name="Text Box 84"/>
            <p:cNvSpPr txBox="1">
              <a:spLocks noChangeArrowheads="1"/>
            </p:cNvSpPr>
            <p:nvPr/>
          </p:nvSpPr>
          <p:spPr bwMode="auto">
            <a:xfrm>
              <a:off x="4120" y="1382"/>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28080" name="Text Box 85"/>
            <p:cNvSpPr txBox="1">
              <a:spLocks noChangeArrowheads="1"/>
            </p:cNvSpPr>
            <p:nvPr/>
          </p:nvSpPr>
          <p:spPr bwMode="auto">
            <a:xfrm>
              <a:off x="3769" y="1115"/>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grpSp>
      <p:sp>
        <p:nvSpPr>
          <p:cNvPr id="718934" name="Line 86"/>
          <p:cNvSpPr>
            <a:spLocks noChangeShapeType="1"/>
          </p:cNvSpPr>
          <p:nvPr/>
        </p:nvSpPr>
        <p:spPr bwMode="auto">
          <a:xfrm flipH="1">
            <a:off x="2241550" y="2035175"/>
            <a:ext cx="3514725" cy="309563"/>
          </a:xfrm>
          <a:prstGeom prst="line">
            <a:avLst/>
          </a:prstGeom>
          <a:noFill/>
          <a:ln w="9525">
            <a:solidFill>
              <a:srgbClr val="FF0000"/>
            </a:solidFill>
            <a:round/>
            <a:tailEnd type="triangle" w="med" len="med"/>
          </a:ln>
        </p:spPr>
        <p:txBody>
          <a:bodyPr wrap="none"/>
          <a:lstStyle/>
          <a:p>
            <a:endParaRPr lang="en-US"/>
          </a:p>
        </p:txBody>
      </p:sp>
      <p:sp>
        <p:nvSpPr>
          <p:cNvPr id="718935" name="Line 87"/>
          <p:cNvSpPr>
            <a:spLocks noChangeShapeType="1"/>
          </p:cNvSpPr>
          <p:nvPr/>
        </p:nvSpPr>
        <p:spPr bwMode="auto">
          <a:xfrm flipH="1">
            <a:off x="2163763" y="2330450"/>
            <a:ext cx="4894262" cy="334963"/>
          </a:xfrm>
          <a:prstGeom prst="line">
            <a:avLst/>
          </a:prstGeom>
          <a:noFill/>
          <a:ln w="9525">
            <a:solidFill>
              <a:srgbClr val="FF0000"/>
            </a:solidFill>
            <a:round/>
            <a:tailEnd type="triangle" w="med" len="med"/>
          </a:ln>
        </p:spPr>
        <p:txBody>
          <a:bodyPr wrap="none"/>
          <a:lstStyle/>
          <a:p>
            <a:endParaRPr lang="en-US"/>
          </a:p>
        </p:txBody>
      </p:sp>
      <p:sp>
        <p:nvSpPr>
          <p:cNvPr id="718936" name="Line 88"/>
          <p:cNvSpPr>
            <a:spLocks noChangeShapeType="1"/>
          </p:cNvSpPr>
          <p:nvPr/>
        </p:nvSpPr>
        <p:spPr bwMode="auto">
          <a:xfrm flipH="1">
            <a:off x="2227263" y="2692400"/>
            <a:ext cx="914400" cy="257175"/>
          </a:xfrm>
          <a:prstGeom prst="line">
            <a:avLst/>
          </a:prstGeom>
          <a:noFill/>
          <a:ln w="9525">
            <a:solidFill>
              <a:srgbClr val="FF0000"/>
            </a:solidFill>
            <a:round/>
            <a:tailEnd type="triangle" w="med" len="med"/>
          </a:ln>
        </p:spPr>
        <p:txBody>
          <a:bodyPr wrap="none"/>
          <a:lstStyle/>
          <a:p>
            <a:endParaRPr lang="en-US"/>
          </a:p>
        </p:txBody>
      </p:sp>
      <p:sp>
        <p:nvSpPr>
          <p:cNvPr id="718937" name="Line 89"/>
          <p:cNvSpPr>
            <a:spLocks noChangeShapeType="1"/>
          </p:cNvSpPr>
          <p:nvPr/>
        </p:nvSpPr>
        <p:spPr bwMode="auto">
          <a:xfrm flipH="1">
            <a:off x="2241550" y="2949575"/>
            <a:ext cx="2239963" cy="309563"/>
          </a:xfrm>
          <a:prstGeom prst="line">
            <a:avLst/>
          </a:prstGeom>
          <a:noFill/>
          <a:ln w="9525">
            <a:solidFill>
              <a:srgbClr val="FF0000"/>
            </a:solidFill>
            <a:round/>
            <a:tailEnd type="triangle" w="med" len="med"/>
          </a:ln>
        </p:spPr>
        <p:txBody>
          <a:bodyPr wrap="none"/>
          <a:lstStyle/>
          <a:p>
            <a:endParaRPr lang="en-US"/>
          </a:p>
        </p:txBody>
      </p:sp>
      <p:sp>
        <p:nvSpPr>
          <p:cNvPr id="718938" name="Line 90"/>
          <p:cNvSpPr>
            <a:spLocks noChangeShapeType="1"/>
          </p:cNvSpPr>
          <p:nvPr/>
        </p:nvSpPr>
        <p:spPr bwMode="auto">
          <a:xfrm flipH="1">
            <a:off x="2254250" y="3206750"/>
            <a:ext cx="5975350" cy="334963"/>
          </a:xfrm>
          <a:prstGeom prst="line">
            <a:avLst/>
          </a:prstGeom>
          <a:noFill/>
          <a:ln w="9525">
            <a:solidFill>
              <a:srgbClr val="FF0000"/>
            </a:solidFill>
            <a:round/>
            <a:tailEnd type="triangle" w="med" len="med"/>
          </a:ln>
        </p:spPr>
        <p:txBody>
          <a:bodyPr wrap="none"/>
          <a:lstStyle/>
          <a:p>
            <a:endParaRPr lang="en-US"/>
          </a:p>
        </p:txBody>
      </p:sp>
      <p:sp>
        <p:nvSpPr>
          <p:cNvPr id="94"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30</a:t>
            </a:fld>
            <a:endParaRPr lang="en-US" sz="1200" dirty="0">
              <a:latin typeface="Tahoma" panose="020B0604030504040204" charset="0"/>
            </a:endParaRPr>
          </a:p>
        </p:txBody>
      </p:sp>
      <p:sp>
        <p:nvSpPr>
          <p:cNvPr id="95"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
        <p:nvSpPr>
          <p:cNvPr id="96" name="TextBox 1"/>
          <p:cNvSpPr txBox="1">
            <a:spLocks noChangeArrowheads="1"/>
          </p:cNvSpPr>
          <p:nvPr/>
        </p:nvSpPr>
        <p:spPr bwMode="auto">
          <a:xfrm>
            <a:off x="339826" y="6198762"/>
            <a:ext cx="4507165" cy="523220"/>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dirty="0"/>
              <a:t>* Check out the online interactive exercises for more examples: h</a:t>
            </a:r>
            <a:r>
              <a:rPr lang="en-US" sz="1200" dirty="0"/>
              <a:t>ttp://gaia.cs.umass.edu/kurose_ross/interactive/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1893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1893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1893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1893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189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8934" grpId="0" animBg="1"/>
      <p:bldP spid="718935" grpId="0" animBg="1"/>
      <p:bldP spid="718936" grpId="0" animBg="1"/>
      <p:bldP spid="718937" grpId="0" animBg="1"/>
      <p:bldP spid="718938"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5"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Network Layer</a:t>
            </a:r>
          </a:p>
        </p:txBody>
      </p:sp>
      <p:sp>
        <p:nvSpPr>
          <p:cNvPr id="308226" name="幻灯片编号占位符 3"/>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4-</a:t>
            </a:r>
            <a:fld id="{5A5D12B0-D084-2D40-8749-4913BE5CEE11}" type="slidenum">
              <a:rPr kumimoji="0" lang="en-US" altLang="zh-CN" sz="1200" smtClean="0">
                <a:latin typeface="Arial" panose="020B0604020202090204" pitchFamily="34" charset="0"/>
              </a:rPr>
              <a:t>31</a:t>
            </a:fld>
            <a:endParaRPr kumimoji="0" lang="en-US" altLang="zh-CN" sz="1200">
              <a:latin typeface="Arial" panose="020B0604020202090204" pitchFamily="34" charset="0"/>
            </a:endParaRPr>
          </a:p>
        </p:txBody>
      </p:sp>
      <p:sp>
        <p:nvSpPr>
          <p:cNvPr id="308227" name="矩形 5"/>
          <p:cNvSpPr>
            <a:spLocks noChangeArrowheads="1"/>
          </p:cNvSpPr>
          <p:nvPr/>
        </p:nvSpPr>
        <p:spPr bwMode="auto">
          <a:xfrm>
            <a:off x="429419" y="444500"/>
            <a:ext cx="8285162" cy="2616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ts val="1200"/>
              </a:spcBef>
              <a:buClrTx/>
              <a:buSzTx/>
              <a:buFontTx/>
              <a:buNone/>
            </a:pPr>
            <a:r>
              <a:rPr kumimoji="0" lang="en-US" altLang="zh-CN" sz="2400" dirty="0"/>
              <a:t>Consider the following network. </a:t>
            </a:r>
          </a:p>
          <a:p>
            <a:pPr>
              <a:spcBef>
                <a:spcPts val="1200"/>
              </a:spcBef>
              <a:buClrTx/>
              <a:buSzTx/>
              <a:buFontTx/>
              <a:buNone/>
            </a:pPr>
            <a:r>
              <a:rPr kumimoji="0" lang="en-US" altLang="zh-CN" sz="2400" dirty="0"/>
              <a:t>With the indicated link costs, </a:t>
            </a:r>
            <a:r>
              <a:rPr kumimoji="0" lang="en-US" altLang="zh-CN" sz="2400" dirty="0">
                <a:solidFill>
                  <a:srgbClr val="800000"/>
                </a:solidFill>
              </a:rPr>
              <a:t>use </a:t>
            </a:r>
            <a:r>
              <a:rPr kumimoji="0" lang="en-US" altLang="zh-CN" sz="2400" i="1" dirty="0">
                <a:solidFill>
                  <a:srgbClr val="800000"/>
                </a:solidFill>
              </a:rPr>
              <a:t>Dijkstra’s</a:t>
            </a:r>
            <a:r>
              <a:rPr kumimoji="0" lang="en-US" altLang="zh-CN" sz="2400" dirty="0">
                <a:solidFill>
                  <a:srgbClr val="800000"/>
                </a:solidFill>
              </a:rPr>
              <a:t> shortest-path algorithm</a:t>
            </a:r>
            <a:r>
              <a:rPr kumimoji="0" lang="en-US" altLang="zh-CN" sz="2400" dirty="0"/>
              <a:t> to compute </a:t>
            </a:r>
            <a:r>
              <a:rPr kumimoji="0" lang="en-US" altLang="zh-CN" sz="2400" dirty="0">
                <a:solidFill>
                  <a:srgbClr val="800000"/>
                </a:solidFill>
              </a:rPr>
              <a:t>the shortest path from </a:t>
            </a:r>
            <a:r>
              <a:rPr kumimoji="0" lang="en-US" altLang="zh-CN" sz="2400" i="1" dirty="0">
                <a:solidFill>
                  <a:srgbClr val="800000"/>
                </a:solidFill>
              </a:rPr>
              <a:t>x</a:t>
            </a:r>
            <a:r>
              <a:rPr kumimoji="0" lang="en-US" altLang="zh-CN" sz="2400" dirty="0">
                <a:solidFill>
                  <a:srgbClr val="800000"/>
                </a:solidFill>
              </a:rPr>
              <a:t> to all network nodes</a:t>
            </a:r>
            <a:r>
              <a:rPr kumimoji="0" lang="en-US" altLang="zh-CN" sz="2400" dirty="0"/>
              <a:t>. </a:t>
            </a:r>
          </a:p>
          <a:p>
            <a:pPr>
              <a:spcBef>
                <a:spcPts val="1200"/>
              </a:spcBef>
              <a:buClrTx/>
              <a:buSzTx/>
              <a:buFontTx/>
              <a:buNone/>
            </a:pPr>
            <a:r>
              <a:rPr kumimoji="0" lang="en-US" altLang="zh-CN" sz="2400" dirty="0">
                <a:solidFill>
                  <a:srgbClr val="800000"/>
                </a:solidFill>
              </a:rPr>
              <a:t>Show</a:t>
            </a:r>
            <a:r>
              <a:rPr kumimoji="0" lang="en-US" altLang="zh-CN" sz="2400" dirty="0"/>
              <a:t> how the algorithm works by computing a table similar to following table.</a:t>
            </a:r>
            <a:r>
              <a:rPr kumimoji="0" lang="zh-CN" altLang="zh-CN" sz="2400" dirty="0"/>
              <a:t> </a:t>
            </a:r>
            <a:endParaRPr kumimoji="0" lang="zh-CN" altLang="en-US" sz="2400" dirty="0"/>
          </a:p>
        </p:txBody>
      </p:sp>
      <p:pic>
        <p:nvPicPr>
          <p:cNvPr id="2" name="图片 4"/>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39743" y="2886480"/>
            <a:ext cx="3409846" cy="305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Network Layer</a:t>
            </a:r>
          </a:p>
        </p:txBody>
      </p:sp>
      <p:sp>
        <p:nvSpPr>
          <p:cNvPr id="310274" name="幻灯片编号占位符 3"/>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4-</a:t>
            </a:r>
            <a:fld id="{484B2D11-13FC-B649-847E-9EAD80B7997B}" type="slidenum">
              <a:rPr kumimoji="0" lang="en-US" altLang="zh-CN" sz="1200" smtClean="0">
                <a:latin typeface="Arial" panose="020B0604020202090204" pitchFamily="34" charset="0"/>
              </a:rPr>
              <a:t>32</a:t>
            </a:fld>
            <a:endParaRPr kumimoji="0" lang="en-US" altLang="zh-CN" sz="1200">
              <a:latin typeface="Arial" panose="020B0604020202090204" pitchFamily="34" charset="0"/>
            </a:endParaRPr>
          </a:p>
        </p:txBody>
      </p:sp>
      <p:pic>
        <p:nvPicPr>
          <p:cNvPr id="310275" name="图片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33375" y="878840"/>
            <a:ext cx="8616950" cy="2660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Network Layer</a:t>
            </a:r>
          </a:p>
        </p:txBody>
      </p:sp>
      <p:sp>
        <p:nvSpPr>
          <p:cNvPr id="311298" name="幻灯片编号占位符 3"/>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4-</a:t>
            </a:r>
            <a:fld id="{3DA850D6-9D92-F143-B177-00E0FE560903}" type="slidenum">
              <a:rPr kumimoji="0" lang="en-US" altLang="zh-CN" sz="1200" smtClean="0">
                <a:latin typeface="Arial" panose="020B0604020202090204" pitchFamily="34" charset="0"/>
              </a:rPr>
              <a:t>33</a:t>
            </a:fld>
            <a:endParaRPr kumimoji="0" lang="en-US" altLang="zh-CN" sz="1200">
              <a:latin typeface="Arial" panose="020B0604020202090204" pitchFamily="34" charset="0"/>
            </a:endParaRPr>
          </a:p>
        </p:txBody>
      </p:sp>
      <p:graphicFrame>
        <p:nvGraphicFramePr>
          <p:cNvPr id="5" name="表格 4"/>
          <p:cNvGraphicFramePr>
            <a:graphicFrameLocks noGrp="1"/>
          </p:cNvGraphicFramePr>
          <p:nvPr/>
        </p:nvGraphicFramePr>
        <p:xfrm>
          <a:off x="560388" y="1311275"/>
          <a:ext cx="7986712" cy="4857753"/>
        </p:xfrm>
        <a:graphic>
          <a:graphicData uri="http://schemas.openxmlformats.org/drawingml/2006/table">
            <a:tbl>
              <a:tblPr/>
              <a:tblGrid>
                <a:gridCol w="903287">
                  <a:extLst>
                    <a:ext uri="{9D8B030D-6E8A-4147-A177-3AD203B41FA5}">
                      <a16:colId xmlns:a16="http://schemas.microsoft.com/office/drawing/2014/main" val="20000"/>
                    </a:ext>
                  </a:extLst>
                </a:gridCol>
                <a:gridCol w="1528763">
                  <a:extLst>
                    <a:ext uri="{9D8B030D-6E8A-4147-A177-3AD203B41FA5}">
                      <a16:colId xmlns:a16="http://schemas.microsoft.com/office/drawing/2014/main" val="20001"/>
                    </a:ext>
                  </a:extLst>
                </a:gridCol>
                <a:gridCol w="882650">
                  <a:extLst>
                    <a:ext uri="{9D8B030D-6E8A-4147-A177-3AD203B41FA5}">
                      <a16:colId xmlns:a16="http://schemas.microsoft.com/office/drawing/2014/main" val="20002"/>
                    </a:ext>
                  </a:extLst>
                </a:gridCol>
                <a:gridCol w="947737">
                  <a:extLst>
                    <a:ext uri="{9D8B030D-6E8A-4147-A177-3AD203B41FA5}">
                      <a16:colId xmlns:a16="http://schemas.microsoft.com/office/drawing/2014/main" val="20003"/>
                    </a:ext>
                  </a:extLst>
                </a:gridCol>
                <a:gridCol w="968375">
                  <a:extLst>
                    <a:ext uri="{9D8B030D-6E8A-4147-A177-3AD203B41FA5}">
                      <a16:colId xmlns:a16="http://schemas.microsoft.com/office/drawing/2014/main" val="20004"/>
                    </a:ext>
                  </a:extLst>
                </a:gridCol>
                <a:gridCol w="968375">
                  <a:extLst>
                    <a:ext uri="{9D8B030D-6E8A-4147-A177-3AD203B41FA5}">
                      <a16:colId xmlns:a16="http://schemas.microsoft.com/office/drawing/2014/main" val="20005"/>
                    </a:ext>
                  </a:extLst>
                </a:gridCol>
                <a:gridCol w="925513">
                  <a:extLst>
                    <a:ext uri="{9D8B030D-6E8A-4147-A177-3AD203B41FA5}">
                      <a16:colId xmlns:a16="http://schemas.microsoft.com/office/drawing/2014/main" val="20006"/>
                    </a:ext>
                  </a:extLst>
                </a:gridCol>
                <a:gridCol w="862012">
                  <a:extLst>
                    <a:ext uri="{9D8B030D-6E8A-4147-A177-3AD203B41FA5}">
                      <a16:colId xmlns:a16="http://schemas.microsoft.com/office/drawing/2014/main" val="20007"/>
                    </a:ext>
                  </a:extLst>
                </a:gridCol>
              </a:tblGrid>
              <a:tr h="701132">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Step</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N’</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D(t)</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p(t)</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D(u)</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p(u)</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D(v)</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p(v)</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D(w)</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p(w)</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D(y)</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p(y)</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D(z)</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p(z)</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0</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1</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2</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4</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5</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6"/>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7"/>
                  </a:ext>
                </a:extLst>
              </a:tr>
            </a:tbl>
          </a:graphicData>
        </a:graphic>
      </p:graphicFrame>
      <p:sp>
        <p:nvSpPr>
          <p:cNvPr id="311382" name="矩形 1"/>
          <p:cNvSpPr>
            <a:spLocks noChangeArrowheads="1"/>
          </p:cNvSpPr>
          <p:nvPr/>
        </p:nvSpPr>
        <p:spPr bwMode="auto">
          <a:xfrm>
            <a:off x="374650" y="252413"/>
            <a:ext cx="65547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2400"/>
              <a:t>7</a:t>
            </a:r>
            <a:r>
              <a:rPr kumimoji="0" lang="zh-CN" altLang="en-US" sz="2400"/>
              <a:t>个节点，从</a:t>
            </a:r>
            <a:r>
              <a:rPr kumimoji="0" lang="en-US" altLang="zh-CN" sz="2400"/>
              <a:t>x</a:t>
            </a:r>
            <a:r>
              <a:rPr kumimoji="0" lang="zh-CN" altLang="en-US" sz="2400"/>
              <a:t>出发，迭代</a:t>
            </a:r>
            <a:r>
              <a:rPr kumimoji="0" lang="en-US" altLang="zh-CN" sz="2400"/>
              <a:t>7</a:t>
            </a:r>
            <a:r>
              <a:rPr kumimoji="0" lang="zh-CN" altLang="en-US" sz="2400"/>
              <a:t>次，</a:t>
            </a:r>
            <a:r>
              <a:rPr kumimoji="0" lang="en-US" altLang="zh-CN" sz="2400"/>
              <a:t>Step</a:t>
            </a:r>
            <a:r>
              <a:rPr kumimoji="0" lang="zh-CN" altLang="en-US" sz="2400"/>
              <a:t>分别为</a:t>
            </a:r>
            <a:r>
              <a:rPr kumimoji="0" lang="en-US" altLang="zh-CN" sz="2400"/>
              <a:t>0-6</a:t>
            </a:r>
            <a:endParaRPr kumimoji="0" lang="zh-CN" altLang="en-US" sz="2400"/>
          </a:p>
        </p:txBody>
      </p:sp>
      <p:grpSp>
        <p:nvGrpSpPr>
          <p:cNvPr id="311383" name="组 13"/>
          <p:cNvGrpSpPr/>
          <p:nvPr/>
        </p:nvGrpSpPr>
        <p:grpSpPr bwMode="auto">
          <a:xfrm>
            <a:off x="2841625" y="2174875"/>
            <a:ext cx="4224338" cy="3833813"/>
            <a:chOff x="2841698" y="2175653"/>
            <a:chExt cx="4224586" cy="3832518"/>
          </a:xfrm>
        </p:grpSpPr>
        <p:pic>
          <p:nvPicPr>
            <p:cNvPr id="311384" name="图片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41698" y="2247117"/>
              <a:ext cx="4197944" cy="3761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385" name="椭圆 6"/>
            <p:cNvSpPr>
              <a:spLocks noChangeArrowheads="1"/>
            </p:cNvSpPr>
            <p:nvPr/>
          </p:nvSpPr>
          <p:spPr bwMode="auto">
            <a:xfrm>
              <a:off x="3121554" y="4433890"/>
              <a:ext cx="236807" cy="236761"/>
            </a:xfrm>
            <a:prstGeom prst="ellipse">
              <a:avLst/>
            </a:prstGeom>
            <a:solidFill>
              <a:schemeClr val="accent1"/>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1386" name="椭圆 7"/>
            <p:cNvSpPr>
              <a:spLocks noChangeArrowheads="1"/>
            </p:cNvSpPr>
            <p:nvPr/>
          </p:nvSpPr>
          <p:spPr bwMode="auto">
            <a:xfrm>
              <a:off x="3360067" y="2175653"/>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1387" name="椭圆 8"/>
            <p:cNvSpPr>
              <a:spLocks noChangeArrowheads="1"/>
            </p:cNvSpPr>
            <p:nvPr/>
          </p:nvSpPr>
          <p:spPr bwMode="auto">
            <a:xfrm>
              <a:off x="6483325" y="5104614"/>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1388" name="椭圆 9"/>
            <p:cNvSpPr>
              <a:spLocks noChangeArrowheads="1"/>
            </p:cNvSpPr>
            <p:nvPr/>
          </p:nvSpPr>
          <p:spPr bwMode="auto">
            <a:xfrm>
              <a:off x="6829477" y="3771877"/>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1389" name="椭圆 10"/>
            <p:cNvSpPr>
              <a:spLocks noChangeArrowheads="1"/>
            </p:cNvSpPr>
            <p:nvPr/>
          </p:nvSpPr>
          <p:spPr bwMode="auto">
            <a:xfrm>
              <a:off x="5148592" y="4200617"/>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1390" name="椭圆 11"/>
            <p:cNvSpPr>
              <a:spLocks noChangeArrowheads="1"/>
            </p:cNvSpPr>
            <p:nvPr/>
          </p:nvSpPr>
          <p:spPr bwMode="auto">
            <a:xfrm>
              <a:off x="4567337" y="5470518"/>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1391" name="椭圆 12"/>
            <p:cNvSpPr>
              <a:spLocks noChangeArrowheads="1"/>
            </p:cNvSpPr>
            <p:nvPr/>
          </p:nvSpPr>
          <p:spPr bwMode="auto">
            <a:xfrm>
              <a:off x="3986082" y="3641000"/>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grpSp>
    </p:spTree>
  </p:cSld>
  <p:clrMapOvr>
    <a:masterClrMapping/>
  </p:clrMapOvr>
  <p:transition spd="slow"/>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1"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Network Layer</a:t>
            </a:r>
          </a:p>
        </p:txBody>
      </p:sp>
      <p:sp>
        <p:nvSpPr>
          <p:cNvPr id="312322" name="幻灯片编号占位符 3"/>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4-</a:t>
            </a:r>
            <a:fld id="{45B99B0B-E4A7-4F45-A9D9-ED0AB2476BD4}" type="slidenum">
              <a:rPr kumimoji="0" lang="en-US" altLang="zh-CN" sz="1200" smtClean="0">
                <a:latin typeface="Arial" panose="020B0604020202090204" pitchFamily="34" charset="0"/>
              </a:rPr>
              <a:t>34</a:t>
            </a:fld>
            <a:endParaRPr kumimoji="0" lang="en-US" altLang="zh-CN" sz="1200">
              <a:latin typeface="Arial" panose="020B0604020202090204" pitchFamily="34" charset="0"/>
            </a:endParaRPr>
          </a:p>
        </p:txBody>
      </p:sp>
      <p:graphicFrame>
        <p:nvGraphicFramePr>
          <p:cNvPr id="5" name="表格 4"/>
          <p:cNvGraphicFramePr>
            <a:graphicFrameLocks noGrp="1"/>
          </p:cNvGraphicFramePr>
          <p:nvPr/>
        </p:nvGraphicFramePr>
        <p:xfrm>
          <a:off x="560388" y="1311275"/>
          <a:ext cx="7986712" cy="4857753"/>
        </p:xfrm>
        <a:graphic>
          <a:graphicData uri="http://schemas.openxmlformats.org/drawingml/2006/table">
            <a:tbl>
              <a:tblPr/>
              <a:tblGrid>
                <a:gridCol w="903287">
                  <a:extLst>
                    <a:ext uri="{9D8B030D-6E8A-4147-A177-3AD203B41FA5}">
                      <a16:colId xmlns:a16="http://schemas.microsoft.com/office/drawing/2014/main" val="20000"/>
                    </a:ext>
                  </a:extLst>
                </a:gridCol>
                <a:gridCol w="1528763">
                  <a:extLst>
                    <a:ext uri="{9D8B030D-6E8A-4147-A177-3AD203B41FA5}">
                      <a16:colId xmlns:a16="http://schemas.microsoft.com/office/drawing/2014/main" val="20001"/>
                    </a:ext>
                  </a:extLst>
                </a:gridCol>
                <a:gridCol w="882650">
                  <a:extLst>
                    <a:ext uri="{9D8B030D-6E8A-4147-A177-3AD203B41FA5}">
                      <a16:colId xmlns:a16="http://schemas.microsoft.com/office/drawing/2014/main" val="20002"/>
                    </a:ext>
                  </a:extLst>
                </a:gridCol>
                <a:gridCol w="947737">
                  <a:extLst>
                    <a:ext uri="{9D8B030D-6E8A-4147-A177-3AD203B41FA5}">
                      <a16:colId xmlns:a16="http://schemas.microsoft.com/office/drawing/2014/main" val="20003"/>
                    </a:ext>
                  </a:extLst>
                </a:gridCol>
                <a:gridCol w="968375">
                  <a:extLst>
                    <a:ext uri="{9D8B030D-6E8A-4147-A177-3AD203B41FA5}">
                      <a16:colId xmlns:a16="http://schemas.microsoft.com/office/drawing/2014/main" val="20004"/>
                    </a:ext>
                  </a:extLst>
                </a:gridCol>
                <a:gridCol w="968375">
                  <a:extLst>
                    <a:ext uri="{9D8B030D-6E8A-4147-A177-3AD203B41FA5}">
                      <a16:colId xmlns:a16="http://schemas.microsoft.com/office/drawing/2014/main" val="20005"/>
                    </a:ext>
                  </a:extLst>
                </a:gridCol>
                <a:gridCol w="925513">
                  <a:extLst>
                    <a:ext uri="{9D8B030D-6E8A-4147-A177-3AD203B41FA5}">
                      <a16:colId xmlns:a16="http://schemas.microsoft.com/office/drawing/2014/main" val="20006"/>
                    </a:ext>
                  </a:extLst>
                </a:gridCol>
                <a:gridCol w="862012">
                  <a:extLst>
                    <a:ext uri="{9D8B030D-6E8A-4147-A177-3AD203B41FA5}">
                      <a16:colId xmlns:a16="http://schemas.microsoft.com/office/drawing/2014/main" val="20007"/>
                    </a:ext>
                  </a:extLst>
                </a:gridCol>
              </a:tblGrid>
              <a:tr h="701132">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Step</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N’</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D(t)</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p(t)</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D(u)</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p(u)</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D(v)</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p(v)</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D(w)</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p(w)</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D(y)</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p(y)</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D(z)</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p(z)</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0</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 </a:t>
                      </a: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1</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2</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4</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5</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6"/>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7"/>
                  </a:ext>
                </a:extLst>
              </a:tr>
            </a:tbl>
          </a:graphicData>
        </a:graphic>
      </p:graphicFrame>
      <p:sp>
        <p:nvSpPr>
          <p:cNvPr id="312406" name="矩形 1"/>
          <p:cNvSpPr>
            <a:spLocks noChangeArrowheads="1"/>
          </p:cNvSpPr>
          <p:nvPr/>
        </p:nvSpPr>
        <p:spPr bwMode="auto">
          <a:xfrm>
            <a:off x="374650" y="252413"/>
            <a:ext cx="65547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2400"/>
              <a:t>7</a:t>
            </a:r>
            <a:r>
              <a:rPr kumimoji="0" lang="zh-CN" altLang="en-US" sz="2400"/>
              <a:t>个节点，从</a:t>
            </a:r>
            <a:r>
              <a:rPr kumimoji="0" lang="en-US" altLang="zh-CN" sz="2400"/>
              <a:t>x</a:t>
            </a:r>
            <a:r>
              <a:rPr kumimoji="0" lang="zh-CN" altLang="en-US" sz="2400"/>
              <a:t>出发，迭代</a:t>
            </a:r>
            <a:r>
              <a:rPr kumimoji="0" lang="en-US" altLang="zh-CN" sz="2400"/>
              <a:t>7</a:t>
            </a:r>
            <a:r>
              <a:rPr kumimoji="0" lang="zh-CN" altLang="en-US" sz="2400"/>
              <a:t>次，</a:t>
            </a:r>
            <a:r>
              <a:rPr kumimoji="0" lang="en-US" altLang="zh-CN" sz="2400"/>
              <a:t>Step</a:t>
            </a:r>
            <a:r>
              <a:rPr kumimoji="0" lang="zh-CN" altLang="en-US" sz="2400"/>
              <a:t>分别为</a:t>
            </a:r>
            <a:r>
              <a:rPr kumimoji="0" lang="en-US" altLang="zh-CN" sz="2400"/>
              <a:t>0-6</a:t>
            </a:r>
            <a:endParaRPr kumimoji="0" lang="zh-CN" altLang="en-US" sz="2400"/>
          </a:p>
        </p:txBody>
      </p:sp>
      <p:grpSp>
        <p:nvGrpSpPr>
          <p:cNvPr id="312407" name="组 22"/>
          <p:cNvGrpSpPr/>
          <p:nvPr/>
        </p:nvGrpSpPr>
        <p:grpSpPr bwMode="auto">
          <a:xfrm>
            <a:off x="2755900" y="2800350"/>
            <a:ext cx="4224338" cy="3832225"/>
            <a:chOff x="2841698" y="2175653"/>
            <a:chExt cx="4224586" cy="3832518"/>
          </a:xfrm>
        </p:grpSpPr>
        <p:pic>
          <p:nvPicPr>
            <p:cNvPr id="312408" name="图片 2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41698" y="2247117"/>
              <a:ext cx="4197944" cy="3761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2409" name="椭圆 24"/>
            <p:cNvSpPr>
              <a:spLocks noChangeArrowheads="1"/>
            </p:cNvSpPr>
            <p:nvPr/>
          </p:nvSpPr>
          <p:spPr bwMode="auto">
            <a:xfrm>
              <a:off x="3121554" y="4433890"/>
              <a:ext cx="236807" cy="236761"/>
            </a:xfrm>
            <a:prstGeom prst="ellipse">
              <a:avLst/>
            </a:prstGeom>
            <a:solidFill>
              <a:schemeClr val="accent1"/>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2410" name="椭圆 25"/>
            <p:cNvSpPr>
              <a:spLocks noChangeArrowheads="1"/>
            </p:cNvSpPr>
            <p:nvPr/>
          </p:nvSpPr>
          <p:spPr bwMode="auto">
            <a:xfrm>
              <a:off x="3360067" y="2175653"/>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2411" name="椭圆 26"/>
            <p:cNvSpPr>
              <a:spLocks noChangeArrowheads="1"/>
            </p:cNvSpPr>
            <p:nvPr/>
          </p:nvSpPr>
          <p:spPr bwMode="auto">
            <a:xfrm>
              <a:off x="6483325" y="5104614"/>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2412" name="椭圆 27"/>
            <p:cNvSpPr>
              <a:spLocks noChangeArrowheads="1"/>
            </p:cNvSpPr>
            <p:nvPr/>
          </p:nvSpPr>
          <p:spPr bwMode="auto">
            <a:xfrm>
              <a:off x="6829477" y="3771877"/>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2413" name="椭圆 28"/>
            <p:cNvSpPr>
              <a:spLocks noChangeArrowheads="1"/>
            </p:cNvSpPr>
            <p:nvPr/>
          </p:nvSpPr>
          <p:spPr bwMode="auto">
            <a:xfrm>
              <a:off x="5148592" y="4200617"/>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2414" name="椭圆 29"/>
            <p:cNvSpPr>
              <a:spLocks noChangeArrowheads="1"/>
            </p:cNvSpPr>
            <p:nvPr/>
          </p:nvSpPr>
          <p:spPr bwMode="auto">
            <a:xfrm>
              <a:off x="4567337" y="5470518"/>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2415" name="椭圆 30"/>
            <p:cNvSpPr>
              <a:spLocks noChangeArrowheads="1"/>
            </p:cNvSpPr>
            <p:nvPr/>
          </p:nvSpPr>
          <p:spPr bwMode="auto">
            <a:xfrm>
              <a:off x="3986082" y="3641000"/>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grpSp>
    </p:spTree>
  </p:cSld>
  <p:clrMapOvr>
    <a:masterClrMapping/>
  </p:clrMapOvr>
  <p:transition spd="slow"/>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5"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Network Layer</a:t>
            </a:r>
          </a:p>
        </p:txBody>
      </p:sp>
      <p:sp>
        <p:nvSpPr>
          <p:cNvPr id="313346" name="幻灯片编号占位符 3"/>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4-</a:t>
            </a:r>
            <a:fld id="{F993B662-C3EA-384B-A6C8-F3F75C74C653}" type="slidenum">
              <a:rPr kumimoji="0" lang="en-US" altLang="zh-CN" sz="1200" smtClean="0">
                <a:latin typeface="Arial" panose="020B0604020202090204" pitchFamily="34" charset="0"/>
              </a:rPr>
              <a:t>35</a:t>
            </a:fld>
            <a:endParaRPr kumimoji="0" lang="en-US" altLang="zh-CN" sz="1200">
              <a:latin typeface="Arial" panose="020B0604020202090204" pitchFamily="34" charset="0"/>
            </a:endParaRPr>
          </a:p>
        </p:txBody>
      </p:sp>
      <p:graphicFrame>
        <p:nvGraphicFramePr>
          <p:cNvPr id="5" name="表格 4"/>
          <p:cNvGraphicFramePr>
            <a:graphicFrameLocks noGrp="1"/>
          </p:cNvGraphicFramePr>
          <p:nvPr/>
        </p:nvGraphicFramePr>
        <p:xfrm>
          <a:off x="560388" y="1311275"/>
          <a:ext cx="7986712" cy="4857753"/>
        </p:xfrm>
        <a:graphic>
          <a:graphicData uri="http://schemas.openxmlformats.org/drawingml/2006/table">
            <a:tbl>
              <a:tblPr/>
              <a:tblGrid>
                <a:gridCol w="903287">
                  <a:extLst>
                    <a:ext uri="{9D8B030D-6E8A-4147-A177-3AD203B41FA5}">
                      <a16:colId xmlns:a16="http://schemas.microsoft.com/office/drawing/2014/main" val="20000"/>
                    </a:ext>
                  </a:extLst>
                </a:gridCol>
                <a:gridCol w="1528763">
                  <a:extLst>
                    <a:ext uri="{9D8B030D-6E8A-4147-A177-3AD203B41FA5}">
                      <a16:colId xmlns:a16="http://schemas.microsoft.com/office/drawing/2014/main" val="20001"/>
                    </a:ext>
                  </a:extLst>
                </a:gridCol>
                <a:gridCol w="882650">
                  <a:extLst>
                    <a:ext uri="{9D8B030D-6E8A-4147-A177-3AD203B41FA5}">
                      <a16:colId xmlns:a16="http://schemas.microsoft.com/office/drawing/2014/main" val="20002"/>
                    </a:ext>
                  </a:extLst>
                </a:gridCol>
                <a:gridCol w="947737">
                  <a:extLst>
                    <a:ext uri="{9D8B030D-6E8A-4147-A177-3AD203B41FA5}">
                      <a16:colId xmlns:a16="http://schemas.microsoft.com/office/drawing/2014/main" val="20003"/>
                    </a:ext>
                  </a:extLst>
                </a:gridCol>
                <a:gridCol w="968375">
                  <a:extLst>
                    <a:ext uri="{9D8B030D-6E8A-4147-A177-3AD203B41FA5}">
                      <a16:colId xmlns:a16="http://schemas.microsoft.com/office/drawing/2014/main" val="20004"/>
                    </a:ext>
                  </a:extLst>
                </a:gridCol>
                <a:gridCol w="968375">
                  <a:extLst>
                    <a:ext uri="{9D8B030D-6E8A-4147-A177-3AD203B41FA5}">
                      <a16:colId xmlns:a16="http://schemas.microsoft.com/office/drawing/2014/main" val="20005"/>
                    </a:ext>
                  </a:extLst>
                </a:gridCol>
                <a:gridCol w="925513">
                  <a:extLst>
                    <a:ext uri="{9D8B030D-6E8A-4147-A177-3AD203B41FA5}">
                      <a16:colId xmlns:a16="http://schemas.microsoft.com/office/drawing/2014/main" val="20006"/>
                    </a:ext>
                  </a:extLst>
                </a:gridCol>
                <a:gridCol w="862012">
                  <a:extLst>
                    <a:ext uri="{9D8B030D-6E8A-4147-A177-3AD203B41FA5}">
                      <a16:colId xmlns:a16="http://schemas.microsoft.com/office/drawing/2014/main" val="20007"/>
                    </a:ext>
                  </a:extLst>
                </a:gridCol>
              </a:tblGrid>
              <a:tr h="701132">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Step</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N’</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D(t)</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p(t)</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D(u)</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p(u)</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D(v)</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p(v)</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D(w)</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p(w)</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D(y)</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p(y)</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D(z)</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p(z)</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0</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 </a:t>
                      </a: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800000"/>
                          </a:solidFill>
                          <a:effectLst/>
                          <a:latin typeface="Comic Sans MS" panose="030F0902030302020204" pitchFamily="66" charset="0"/>
                          <a:ea typeface="宋体" pitchFamily="2" charset="-122"/>
                          <a:cs typeface="Arial" panose="020B0604020202090204" pitchFamily="34" charset="0"/>
                        </a:rPr>
                        <a:t>3</a:t>
                      </a:r>
                      <a:endParaRPr kumimoji="0" lang="zh-CN" altLang="en-US" sz="2000" b="1" i="0" u="none" strike="noStrike" cap="none" normalizeH="0" baseline="0">
                        <a:ln>
                          <a:noFill/>
                        </a:ln>
                        <a:solidFill>
                          <a:srgbClr val="8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1</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xv</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2</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4</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5</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6"/>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7"/>
                  </a:ext>
                </a:extLst>
              </a:tr>
            </a:tbl>
          </a:graphicData>
        </a:graphic>
      </p:graphicFrame>
      <p:sp>
        <p:nvSpPr>
          <p:cNvPr id="313430" name="矩形 1"/>
          <p:cNvSpPr>
            <a:spLocks noChangeArrowheads="1"/>
          </p:cNvSpPr>
          <p:nvPr/>
        </p:nvSpPr>
        <p:spPr bwMode="auto">
          <a:xfrm>
            <a:off x="374650" y="252413"/>
            <a:ext cx="65547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2400"/>
              <a:t>7</a:t>
            </a:r>
            <a:r>
              <a:rPr kumimoji="0" lang="zh-CN" altLang="en-US" sz="2400"/>
              <a:t>个节点，从</a:t>
            </a:r>
            <a:r>
              <a:rPr kumimoji="0" lang="en-US" altLang="zh-CN" sz="2400"/>
              <a:t>x</a:t>
            </a:r>
            <a:r>
              <a:rPr kumimoji="0" lang="zh-CN" altLang="en-US" sz="2400"/>
              <a:t>出发，迭代</a:t>
            </a:r>
            <a:r>
              <a:rPr kumimoji="0" lang="en-US" altLang="zh-CN" sz="2400"/>
              <a:t>7</a:t>
            </a:r>
            <a:r>
              <a:rPr kumimoji="0" lang="zh-CN" altLang="en-US" sz="2400"/>
              <a:t>次，</a:t>
            </a:r>
            <a:r>
              <a:rPr kumimoji="0" lang="en-US" altLang="zh-CN" sz="2400"/>
              <a:t>Step</a:t>
            </a:r>
            <a:r>
              <a:rPr kumimoji="0" lang="zh-CN" altLang="en-US" sz="2400"/>
              <a:t>分别为</a:t>
            </a:r>
            <a:r>
              <a:rPr kumimoji="0" lang="en-US" altLang="zh-CN" sz="2400"/>
              <a:t>0-6</a:t>
            </a:r>
            <a:endParaRPr kumimoji="0" lang="zh-CN" altLang="en-US" sz="2400"/>
          </a:p>
        </p:txBody>
      </p:sp>
      <p:grpSp>
        <p:nvGrpSpPr>
          <p:cNvPr id="313431" name="组 13"/>
          <p:cNvGrpSpPr/>
          <p:nvPr/>
        </p:nvGrpSpPr>
        <p:grpSpPr bwMode="auto">
          <a:xfrm>
            <a:off x="3143250" y="3271838"/>
            <a:ext cx="3917950" cy="3275012"/>
            <a:chOff x="2841698" y="2175653"/>
            <a:chExt cx="4224586" cy="3832518"/>
          </a:xfrm>
        </p:grpSpPr>
        <p:pic>
          <p:nvPicPr>
            <p:cNvPr id="313432" name="图片 1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41698" y="2247117"/>
              <a:ext cx="4197944" cy="3761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433" name="椭圆 15"/>
            <p:cNvSpPr>
              <a:spLocks noChangeArrowheads="1"/>
            </p:cNvSpPr>
            <p:nvPr/>
          </p:nvSpPr>
          <p:spPr bwMode="auto">
            <a:xfrm>
              <a:off x="3121554" y="4433890"/>
              <a:ext cx="236807" cy="236761"/>
            </a:xfrm>
            <a:prstGeom prst="ellipse">
              <a:avLst/>
            </a:prstGeom>
            <a:solidFill>
              <a:schemeClr val="accent1"/>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3434" name="椭圆 16"/>
            <p:cNvSpPr>
              <a:spLocks noChangeArrowheads="1"/>
            </p:cNvSpPr>
            <p:nvPr/>
          </p:nvSpPr>
          <p:spPr bwMode="auto">
            <a:xfrm>
              <a:off x="3360067" y="2175653"/>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3435" name="椭圆 17"/>
            <p:cNvSpPr>
              <a:spLocks noChangeArrowheads="1"/>
            </p:cNvSpPr>
            <p:nvPr/>
          </p:nvSpPr>
          <p:spPr bwMode="auto">
            <a:xfrm>
              <a:off x="6483325" y="5104614"/>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3436" name="椭圆 18"/>
            <p:cNvSpPr>
              <a:spLocks noChangeArrowheads="1"/>
            </p:cNvSpPr>
            <p:nvPr/>
          </p:nvSpPr>
          <p:spPr bwMode="auto">
            <a:xfrm>
              <a:off x="6829477" y="3771877"/>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3437" name="椭圆 19"/>
            <p:cNvSpPr>
              <a:spLocks noChangeArrowheads="1"/>
            </p:cNvSpPr>
            <p:nvPr/>
          </p:nvSpPr>
          <p:spPr bwMode="auto">
            <a:xfrm>
              <a:off x="5148592" y="4200617"/>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3438" name="椭圆 20"/>
            <p:cNvSpPr>
              <a:spLocks noChangeArrowheads="1"/>
            </p:cNvSpPr>
            <p:nvPr/>
          </p:nvSpPr>
          <p:spPr bwMode="auto">
            <a:xfrm>
              <a:off x="4567337" y="5470518"/>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3439" name="椭圆 21"/>
            <p:cNvSpPr>
              <a:spLocks noChangeArrowheads="1"/>
            </p:cNvSpPr>
            <p:nvPr/>
          </p:nvSpPr>
          <p:spPr bwMode="auto">
            <a:xfrm>
              <a:off x="3986082" y="3641000"/>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grpSp>
    </p:spTree>
  </p:cSld>
  <p:clrMapOvr>
    <a:masterClrMapping/>
  </p:clrMapOvr>
  <p:transition spd="slow"/>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69"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Network Layer</a:t>
            </a:r>
          </a:p>
        </p:txBody>
      </p:sp>
      <p:sp>
        <p:nvSpPr>
          <p:cNvPr id="314370" name="幻灯片编号占位符 3"/>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4-</a:t>
            </a:r>
            <a:fld id="{760ADE1F-B9D9-C644-A4DE-DD5AADF714C4}" type="slidenum">
              <a:rPr kumimoji="0" lang="en-US" altLang="zh-CN" sz="1200" smtClean="0">
                <a:latin typeface="Arial" panose="020B0604020202090204" pitchFamily="34" charset="0"/>
              </a:rPr>
              <a:t>36</a:t>
            </a:fld>
            <a:endParaRPr kumimoji="0" lang="en-US" altLang="zh-CN" sz="1200">
              <a:latin typeface="Arial" panose="020B0604020202090204" pitchFamily="34" charset="0"/>
            </a:endParaRPr>
          </a:p>
        </p:txBody>
      </p:sp>
      <p:graphicFrame>
        <p:nvGraphicFramePr>
          <p:cNvPr id="5" name="表格 4"/>
          <p:cNvGraphicFramePr>
            <a:graphicFrameLocks noGrp="1"/>
          </p:cNvGraphicFramePr>
          <p:nvPr/>
        </p:nvGraphicFramePr>
        <p:xfrm>
          <a:off x="560388" y="1311275"/>
          <a:ext cx="7986712" cy="4857753"/>
        </p:xfrm>
        <a:graphic>
          <a:graphicData uri="http://schemas.openxmlformats.org/drawingml/2006/table">
            <a:tbl>
              <a:tblPr/>
              <a:tblGrid>
                <a:gridCol w="903287">
                  <a:extLst>
                    <a:ext uri="{9D8B030D-6E8A-4147-A177-3AD203B41FA5}">
                      <a16:colId xmlns:a16="http://schemas.microsoft.com/office/drawing/2014/main" val="20000"/>
                    </a:ext>
                  </a:extLst>
                </a:gridCol>
                <a:gridCol w="1528763">
                  <a:extLst>
                    <a:ext uri="{9D8B030D-6E8A-4147-A177-3AD203B41FA5}">
                      <a16:colId xmlns:a16="http://schemas.microsoft.com/office/drawing/2014/main" val="20001"/>
                    </a:ext>
                  </a:extLst>
                </a:gridCol>
                <a:gridCol w="882650">
                  <a:extLst>
                    <a:ext uri="{9D8B030D-6E8A-4147-A177-3AD203B41FA5}">
                      <a16:colId xmlns:a16="http://schemas.microsoft.com/office/drawing/2014/main" val="20002"/>
                    </a:ext>
                  </a:extLst>
                </a:gridCol>
                <a:gridCol w="947737">
                  <a:extLst>
                    <a:ext uri="{9D8B030D-6E8A-4147-A177-3AD203B41FA5}">
                      <a16:colId xmlns:a16="http://schemas.microsoft.com/office/drawing/2014/main" val="20003"/>
                    </a:ext>
                  </a:extLst>
                </a:gridCol>
                <a:gridCol w="968375">
                  <a:extLst>
                    <a:ext uri="{9D8B030D-6E8A-4147-A177-3AD203B41FA5}">
                      <a16:colId xmlns:a16="http://schemas.microsoft.com/office/drawing/2014/main" val="20004"/>
                    </a:ext>
                  </a:extLst>
                </a:gridCol>
                <a:gridCol w="968375">
                  <a:extLst>
                    <a:ext uri="{9D8B030D-6E8A-4147-A177-3AD203B41FA5}">
                      <a16:colId xmlns:a16="http://schemas.microsoft.com/office/drawing/2014/main" val="20005"/>
                    </a:ext>
                  </a:extLst>
                </a:gridCol>
                <a:gridCol w="925513">
                  <a:extLst>
                    <a:ext uri="{9D8B030D-6E8A-4147-A177-3AD203B41FA5}">
                      <a16:colId xmlns:a16="http://schemas.microsoft.com/office/drawing/2014/main" val="20006"/>
                    </a:ext>
                  </a:extLst>
                </a:gridCol>
                <a:gridCol w="862012">
                  <a:extLst>
                    <a:ext uri="{9D8B030D-6E8A-4147-A177-3AD203B41FA5}">
                      <a16:colId xmlns:a16="http://schemas.microsoft.com/office/drawing/2014/main" val="20007"/>
                    </a:ext>
                  </a:extLst>
                </a:gridCol>
              </a:tblGrid>
              <a:tr h="701132">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Step</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N’</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D(t)</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p(t)</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D(u)</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p(u)</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D(v)</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p(v)</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D(w)</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p(w)</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D(y)</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p(y)</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D(z)</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p(z)</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0</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 </a:t>
                      </a: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800000"/>
                          </a:solidFill>
                          <a:effectLst/>
                          <a:latin typeface="Comic Sans MS" panose="030F0902030302020204" pitchFamily="66" charset="0"/>
                          <a:ea typeface="宋体" pitchFamily="2" charset="-122"/>
                          <a:cs typeface="Arial" panose="020B0604020202090204" pitchFamily="34" charset="0"/>
                        </a:rPr>
                        <a:t>3,x</a:t>
                      </a:r>
                      <a:endParaRPr kumimoji="0" lang="zh-CN" altLang="en-US" sz="2000" b="1" i="0" u="none" strike="noStrike" cap="none" normalizeH="0" baseline="0">
                        <a:ln>
                          <a:noFill/>
                        </a:ln>
                        <a:solidFill>
                          <a:srgbClr val="8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1</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xv</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7</a:t>
                      </a:r>
                      <a:r>
                        <a:rPr kumimoji="0" lang="en-US"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,v</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6,v</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3,x</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8,x</a:t>
                      </a: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2</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4</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5</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6"/>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7"/>
                  </a:ext>
                </a:extLst>
              </a:tr>
            </a:tbl>
          </a:graphicData>
        </a:graphic>
      </p:graphicFrame>
      <p:sp>
        <p:nvSpPr>
          <p:cNvPr id="314454" name="矩形 1"/>
          <p:cNvSpPr>
            <a:spLocks noChangeArrowheads="1"/>
          </p:cNvSpPr>
          <p:nvPr/>
        </p:nvSpPr>
        <p:spPr bwMode="auto">
          <a:xfrm>
            <a:off x="374650" y="252413"/>
            <a:ext cx="65547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2400"/>
              <a:t>7</a:t>
            </a:r>
            <a:r>
              <a:rPr kumimoji="0" lang="zh-CN" altLang="en-US" sz="2400"/>
              <a:t>个节点，从</a:t>
            </a:r>
            <a:r>
              <a:rPr kumimoji="0" lang="en-US" altLang="zh-CN" sz="2400"/>
              <a:t>x</a:t>
            </a:r>
            <a:r>
              <a:rPr kumimoji="0" lang="zh-CN" altLang="en-US" sz="2400"/>
              <a:t>出发，迭代</a:t>
            </a:r>
            <a:r>
              <a:rPr kumimoji="0" lang="en-US" altLang="zh-CN" sz="2400"/>
              <a:t>7</a:t>
            </a:r>
            <a:r>
              <a:rPr kumimoji="0" lang="zh-CN" altLang="en-US" sz="2400"/>
              <a:t>次，</a:t>
            </a:r>
            <a:r>
              <a:rPr kumimoji="0" lang="en-US" altLang="zh-CN" sz="2400"/>
              <a:t>Step</a:t>
            </a:r>
            <a:r>
              <a:rPr kumimoji="0" lang="zh-CN" altLang="en-US" sz="2400"/>
              <a:t>分别为</a:t>
            </a:r>
            <a:r>
              <a:rPr kumimoji="0" lang="en-US" altLang="zh-CN" sz="2400"/>
              <a:t>0-6</a:t>
            </a:r>
            <a:endParaRPr kumimoji="0" lang="zh-CN" altLang="en-US" sz="2400"/>
          </a:p>
        </p:txBody>
      </p:sp>
      <p:grpSp>
        <p:nvGrpSpPr>
          <p:cNvPr id="314455" name="组 13"/>
          <p:cNvGrpSpPr/>
          <p:nvPr/>
        </p:nvGrpSpPr>
        <p:grpSpPr bwMode="auto">
          <a:xfrm>
            <a:off x="3143250" y="3271838"/>
            <a:ext cx="3917950" cy="3275012"/>
            <a:chOff x="2841698" y="2175653"/>
            <a:chExt cx="4224586" cy="3832518"/>
          </a:xfrm>
        </p:grpSpPr>
        <p:pic>
          <p:nvPicPr>
            <p:cNvPr id="314456" name="图片 1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41698" y="2247117"/>
              <a:ext cx="4197944" cy="3761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57" name="椭圆 15"/>
            <p:cNvSpPr>
              <a:spLocks noChangeArrowheads="1"/>
            </p:cNvSpPr>
            <p:nvPr/>
          </p:nvSpPr>
          <p:spPr bwMode="auto">
            <a:xfrm>
              <a:off x="3121554" y="4433890"/>
              <a:ext cx="236807" cy="236761"/>
            </a:xfrm>
            <a:prstGeom prst="ellipse">
              <a:avLst/>
            </a:prstGeom>
            <a:solidFill>
              <a:schemeClr val="accent1"/>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4458" name="椭圆 16"/>
            <p:cNvSpPr>
              <a:spLocks noChangeArrowheads="1"/>
            </p:cNvSpPr>
            <p:nvPr/>
          </p:nvSpPr>
          <p:spPr bwMode="auto">
            <a:xfrm>
              <a:off x="3360067" y="2175653"/>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4459" name="椭圆 17"/>
            <p:cNvSpPr>
              <a:spLocks noChangeArrowheads="1"/>
            </p:cNvSpPr>
            <p:nvPr/>
          </p:nvSpPr>
          <p:spPr bwMode="auto">
            <a:xfrm>
              <a:off x="6483325" y="5104614"/>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4460" name="椭圆 18"/>
            <p:cNvSpPr>
              <a:spLocks noChangeArrowheads="1"/>
            </p:cNvSpPr>
            <p:nvPr/>
          </p:nvSpPr>
          <p:spPr bwMode="auto">
            <a:xfrm>
              <a:off x="6829477" y="3771877"/>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4461" name="椭圆 19"/>
            <p:cNvSpPr>
              <a:spLocks noChangeArrowheads="1"/>
            </p:cNvSpPr>
            <p:nvPr/>
          </p:nvSpPr>
          <p:spPr bwMode="auto">
            <a:xfrm>
              <a:off x="5148592" y="4200617"/>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4462" name="椭圆 20"/>
            <p:cNvSpPr>
              <a:spLocks noChangeArrowheads="1"/>
            </p:cNvSpPr>
            <p:nvPr/>
          </p:nvSpPr>
          <p:spPr bwMode="auto">
            <a:xfrm>
              <a:off x="4567337" y="5470518"/>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4463" name="椭圆 21"/>
            <p:cNvSpPr>
              <a:spLocks noChangeArrowheads="1"/>
            </p:cNvSpPr>
            <p:nvPr/>
          </p:nvSpPr>
          <p:spPr bwMode="auto">
            <a:xfrm>
              <a:off x="3986082" y="3641000"/>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grpSp>
    </p:spTree>
  </p:cSld>
  <p:clrMapOvr>
    <a:masterClrMapping/>
  </p:clrMapOvr>
  <p:transition spd="slow"/>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3"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Network Layer</a:t>
            </a:r>
          </a:p>
        </p:txBody>
      </p:sp>
      <p:sp>
        <p:nvSpPr>
          <p:cNvPr id="315394" name="幻灯片编号占位符 3"/>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4-</a:t>
            </a:r>
            <a:fld id="{9A078EFA-FE1C-5D49-9200-48CDB2B8C27F}" type="slidenum">
              <a:rPr kumimoji="0" lang="en-US" altLang="zh-CN" sz="1200" smtClean="0">
                <a:latin typeface="Arial" panose="020B0604020202090204" pitchFamily="34" charset="0"/>
              </a:rPr>
              <a:t>37</a:t>
            </a:fld>
            <a:endParaRPr kumimoji="0" lang="en-US" altLang="zh-CN" sz="1200">
              <a:latin typeface="Arial" panose="020B0604020202090204" pitchFamily="34" charset="0"/>
            </a:endParaRPr>
          </a:p>
        </p:txBody>
      </p:sp>
      <p:graphicFrame>
        <p:nvGraphicFramePr>
          <p:cNvPr id="5" name="表格 4"/>
          <p:cNvGraphicFramePr>
            <a:graphicFrameLocks noGrp="1"/>
          </p:cNvGraphicFramePr>
          <p:nvPr/>
        </p:nvGraphicFramePr>
        <p:xfrm>
          <a:off x="560388" y="1311275"/>
          <a:ext cx="7986712" cy="4857753"/>
        </p:xfrm>
        <a:graphic>
          <a:graphicData uri="http://schemas.openxmlformats.org/drawingml/2006/table">
            <a:tbl>
              <a:tblPr/>
              <a:tblGrid>
                <a:gridCol w="903287">
                  <a:extLst>
                    <a:ext uri="{9D8B030D-6E8A-4147-A177-3AD203B41FA5}">
                      <a16:colId xmlns:a16="http://schemas.microsoft.com/office/drawing/2014/main" val="20000"/>
                    </a:ext>
                  </a:extLst>
                </a:gridCol>
                <a:gridCol w="1528763">
                  <a:extLst>
                    <a:ext uri="{9D8B030D-6E8A-4147-A177-3AD203B41FA5}">
                      <a16:colId xmlns:a16="http://schemas.microsoft.com/office/drawing/2014/main" val="20001"/>
                    </a:ext>
                  </a:extLst>
                </a:gridCol>
                <a:gridCol w="882650">
                  <a:extLst>
                    <a:ext uri="{9D8B030D-6E8A-4147-A177-3AD203B41FA5}">
                      <a16:colId xmlns:a16="http://schemas.microsoft.com/office/drawing/2014/main" val="20002"/>
                    </a:ext>
                  </a:extLst>
                </a:gridCol>
                <a:gridCol w="947737">
                  <a:extLst>
                    <a:ext uri="{9D8B030D-6E8A-4147-A177-3AD203B41FA5}">
                      <a16:colId xmlns:a16="http://schemas.microsoft.com/office/drawing/2014/main" val="20003"/>
                    </a:ext>
                  </a:extLst>
                </a:gridCol>
                <a:gridCol w="968375">
                  <a:extLst>
                    <a:ext uri="{9D8B030D-6E8A-4147-A177-3AD203B41FA5}">
                      <a16:colId xmlns:a16="http://schemas.microsoft.com/office/drawing/2014/main" val="20004"/>
                    </a:ext>
                  </a:extLst>
                </a:gridCol>
                <a:gridCol w="968375">
                  <a:extLst>
                    <a:ext uri="{9D8B030D-6E8A-4147-A177-3AD203B41FA5}">
                      <a16:colId xmlns:a16="http://schemas.microsoft.com/office/drawing/2014/main" val="20005"/>
                    </a:ext>
                  </a:extLst>
                </a:gridCol>
                <a:gridCol w="925513">
                  <a:extLst>
                    <a:ext uri="{9D8B030D-6E8A-4147-A177-3AD203B41FA5}">
                      <a16:colId xmlns:a16="http://schemas.microsoft.com/office/drawing/2014/main" val="20006"/>
                    </a:ext>
                  </a:extLst>
                </a:gridCol>
                <a:gridCol w="862012">
                  <a:extLst>
                    <a:ext uri="{9D8B030D-6E8A-4147-A177-3AD203B41FA5}">
                      <a16:colId xmlns:a16="http://schemas.microsoft.com/office/drawing/2014/main" val="20007"/>
                    </a:ext>
                  </a:extLst>
                </a:gridCol>
              </a:tblGrid>
              <a:tr h="701132">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Step</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N’</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D(t)</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p(t)</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D(u)</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p(u)</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D(v)</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p(v)</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D(w)</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p(w)</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D(y)</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p(y)</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D(z)</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p(z)</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0</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 </a:t>
                      </a: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800000"/>
                          </a:solidFill>
                          <a:effectLst/>
                          <a:latin typeface="Comic Sans MS" panose="030F0902030302020204" pitchFamily="66" charset="0"/>
                          <a:ea typeface="宋体" pitchFamily="2" charset="-122"/>
                          <a:cs typeface="Arial" panose="020B0604020202090204" pitchFamily="34" charset="0"/>
                        </a:rPr>
                        <a:t>3,x</a:t>
                      </a:r>
                      <a:endParaRPr kumimoji="0" lang="zh-CN" altLang="en-US" sz="2000" b="1" i="0" u="none" strike="noStrike" cap="none" normalizeH="0" baseline="0">
                        <a:ln>
                          <a:noFill/>
                        </a:ln>
                        <a:solidFill>
                          <a:srgbClr val="8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1</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xv</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7</a:t>
                      </a:r>
                      <a:r>
                        <a:rPr kumimoji="0" lang="en-US"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,v</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800000"/>
                          </a:solidFill>
                          <a:effectLst/>
                          <a:latin typeface="Comic Sans MS" panose="030F0902030302020204" pitchFamily="66" charset="0"/>
                          <a:ea typeface="宋体" pitchFamily="2" charset="-122"/>
                          <a:cs typeface="Arial" panose="020B0604020202090204" pitchFamily="34" charset="0"/>
                        </a:rPr>
                        <a:t>6,v</a:t>
                      </a:r>
                      <a:endParaRPr kumimoji="0" lang="zh-CN" altLang="en-US" sz="2000" b="1" i="0" u="none" strike="noStrike" cap="none" normalizeH="0" baseline="0">
                        <a:ln>
                          <a:noFill/>
                        </a:ln>
                        <a:solidFill>
                          <a:srgbClr val="8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2</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4</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5</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6"/>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7"/>
                  </a:ext>
                </a:extLst>
              </a:tr>
            </a:tbl>
          </a:graphicData>
        </a:graphic>
      </p:graphicFrame>
      <p:sp>
        <p:nvSpPr>
          <p:cNvPr id="315478" name="矩形 1"/>
          <p:cNvSpPr>
            <a:spLocks noChangeArrowheads="1"/>
          </p:cNvSpPr>
          <p:nvPr/>
        </p:nvSpPr>
        <p:spPr bwMode="auto">
          <a:xfrm>
            <a:off x="374650" y="252413"/>
            <a:ext cx="65547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2400"/>
              <a:t>7</a:t>
            </a:r>
            <a:r>
              <a:rPr kumimoji="0" lang="zh-CN" altLang="en-US" sz="2400"/>
              <a:t>个节点，从</a:t>
            </a:r>
            <a:r>
              <a:rPr kumimoji="0" lang="en-US" altLang="zh-CN" sz="2400"/>
              <a:t>x</a:t>
            </a:r>
            <a:r>
              <a:rPr kumimoji="0" lang="zh-CN" altLang="en-US" sz="2400"/>
              <a:t>出发，迭代</a:t>
            </a:r>
            <a:r>
              <a:rPr kumimoji="0" lang="en-US" altLang="zh-CN" sz="2400"/>
              <a:t>7</a:t>
            </a:r>
            <a:r>
              <a:rPr kumimoji="0" lang="zh-CN" altLang="en-US" sz="2400"/>
              <a:t>次，</a:t>
            </a:r>
            <a:r>
              <a:rPr kumimoji="0" lang="en-US" altLang="zh-CN" sz="2400"/>
              <a:t>Step</a:t>
            </a:r>
            <a:r>
              <a:rPr kumimoji="0" lang="zh-CN" altLang="en-US" sz="2400"/>
              <a:t>分别为</a:t>
            </a:r>
            <a:r>
              <a:rPr kumimoji="0" lang="en-US" altLang="zh-CN" sz="2400"/>
              <a:t>0-6</a:t>
            </a:r>
            <a:endParaRPr kumimoji="0" lang="zh-CN" altLang="en-US" sz="2400"/>
          </a:p>
        </p:txBody>
      </p:sp>
      <p:grpSp>
        <p:nvGrpSpPr>
          <p:cNvPr id="315479" name="组 13"/>
          <p:cNvGrpSpPr/>
          <p:nvPr/>
        </p:nvGrpSpPr>
        <p:grpSpPr bwMode="auto">
          <a:xfrm>
            <a:off x="3143250" y="3271838"/>
            <a:ext cx="3917950" cy="3275012"/>
            <a:chOff x="2841698" y="2175653"/>
            <a:chExt cx="4224586" cy="3832518"/>
          </a:xfrm>
        </p:grpSpPr>
        <p:pic>
          <p:nvPicPr>
            <p:cNvPr id="315480" name="图片 1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41698" y="2247117"/>
              <a:ext cx="4197944" cy="3761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81" name="椭圆 15"/>
            <p:cNvSpPr>
              <a:spLocks noChangeArrowheads="1"/>
            </p:cNvSpPr>
            <p:nvPr/>
          </p:nvSpPr>
          <p:spPr bwMode="auto">
            <a:xfrm>
              <a:off x="3121554" y="4433890"/>
              <a:ext cx="236807" cy="236761"/>
            </a:xfrm>
            <a:prstGeom prst="ellipse">
              <a:avLst/>
            </a:prstGeom>
            <a:solidFill>
              <a:schemeClr val="accent1"/>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5482" name="椭圆 16"/>
            <p:cNvSpPr>
              <a:spLocks noChangeArrowheads="1"/>
            </p:cNvSpPr>
            <p:nvPr/>
          </p:nvSpPr>
          <p:spPr bwMode="auto">
            <a:xfrm>
              <a:off x="3360067" y="2175653"/>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5483" name="椭圆 17"/>
            <p:cNvSpPr>
              <a:spLocks noChangeArrowheads="1"/>
            </p:cNvSpPr>
            <p:nvPr/>
          </p:nvSpPr>
          <p:spPr bwMode="auto">
            <a:xfrm>
              <a:off x="6483325" y="5104614"/>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5484" name="椭圆 18"/>
            <p:cNvSpPr>
              <a:spLocks noChangeArrowheads="1"/>
            </p:cNvSpPr>
            <p:nvPr/>
          </p:nvSpPr>
          <p:spPr bwMode="auto">
            <a:xfrm>
              <a:off x="6829477" y="3771877"/>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5485" name="椭圆 19"/>
            <p:cNvSpPr>
              <a:spLocks noChangeArrowheads="1"/>
            </p:cNvSpPr>
            <p:nvPr/>
          </p:nvSpPr>
          <p:spPr bwMode="auto">
            <a:xfrm>
              <a:off x="5148592" y="4200617"/>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5486" name="椭圆 20"/>
            <p:cNvSpPr>
              <a:spLocks noChangeArrowheads="1"/>
            </p:cNvSpPr>
            <p:nvPr/>
          </p:nvSpPr>
          <p:spPr bwMode="auto">
            <a:xfrm>
              <a:off x="4567337" y="5470518"/>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5487" name="椭圆 21"/>
            <p:cNvSpPr>
              <a:spLocks noChangeArrowheads="1"/>
            </p:cNvSpPr>
            <p:nvPr/>
          </p:nvSpPr>
          <p:spPr bwMode="auto">
            <a:xfrm>
              <a:off x="3986082" y="3641000"/>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grpSp>
    </p:spTree>
  </p:cSld>
  <p:clrMapOvr>
    <a:masterClrMapping/>
  </p:clrMapOvr>
  <p:transition spd="slow"/>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7"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Network Layer</a:t>
            </a:r>
          </a:p>
        </p:txBody>
      </p:sp>
      <p:sp>
        <p:nvSpPr>
          <p:cNvPr id="316418" name="幻灯片编号占位符 3"/>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4-</a:t>
            </a:r>
            <a:fld id="{D531A0C2-5B33-B642-8740-8C2C820A6E6D}" type="slidenum">
              <a:rPr kumimoji="0" lang="en-US" altLang="zh-CN" sz="1200" smtClean="0">
                <a:latin typeface="Arial" panose="020B0604020202090204" pitchFamily="34" charset="0"/>
              </a:rPr>
              <a:t>38</a:t>
            </a:fld>
            <a:endParaRPr kumimoji="0" lang="en-US" altLang="zh-CN" sz="1200">
              <a:latin typeface="Arial" panose="020B0604020202090204" pitchFamily="34" charset="0"/>
            </a:endParaRPr>
          </a:p>
        </p:txBody>
      </p:sp>
      <p:graphicFrame>
        <p:nvGraphicFramePr>
          <p:cNvPr id="5" name="表格 4"/>
          <p:cNvGraphicFramePr>
            <a:graphicFrameLocks noGrp="1"/>
          </p:cNvGraphicFramePr>
          <p:nvPr/>
        </p:nvGraphicFramePr>
        <p:xfrm>
          <a:off x="560388" y="1311275"/>
          <a:ext cx="7986712" cy="4857753"/>
        </p:xfrm>
        <a:graphic>
          <a:graphicData uri="http://schemas.openxmlformats.org/drawingml/2006/table">
            <a:tbl>
              <a:tblPr/>
              <a:tblGrid>
                <a:gridCol w="903287">
                  <a:extLst>
                    <a:ext uri="{9D8B030D-6E8A-4147-A177-3AD203B41FA5}">
                      <a16:colId xmlns:a16="http://schemas.microsoft.com/office/drawing/2014/main" val="20000"/>
                    </a:ext>
                  </a:extLst>
                </a:gridCol>
                <a:gridCol w="1528763">
                  <a:extLst>
                    <a:ext uri="{9D8B030D-6E8A-4147-A177-3AD203B41FA5}">
                      <a16:colId xmlns:a16="http://schemas.microsoft.com/office/drawing/2014/main" val="20001"/>
                    </a:ext>
                  </a:extLst>
                </a:gridCol>
                <a:gridCol w="882650">
                  <a:extLst>
                    <a:ext uri="{9D8B030D-6E8A-4147-A177-3AD203B41FA5}">
                      <a16:colId xmlns:a16="http://schemas.microsoft.com/office/drawing/2014/main" val="20002"/>
                    </a:ext>
                  </a:extLst>
                </a:gridCol>
                <a:gridCol w="947737">
                  <a:extLst>
                    <a:ext uri="{9D8B030D-6E8A-4147-A177-3AD203B41FA5}">
                      <a16:colId xmlns:a16="http://schemas.microsoft.com/office/drawing/2014/main" val="20003"/>
                    </a:ext>
                  </a:extLst>
                </a:gridCol>
                <a:gridCol w="968375">
                  <a:extLst>
                    <a:ext uri="{9D8B030D-6E8A-4147-A177-3AD203B41FA5}">
                      <a16:colId xmlns:a16="http://schemas.microsoft.com/office/drawing/2014/main" val="20004"/>
                    </a:ext>
                  </a:extLst>
                </a:gridCol>
                <a:gridCol w="968375">
                  <a:extLst>
                    <a:ext uri="{9D8B030D-6E8A-4147-A177-3AD203B41FA5}">
                      <a16:colId xmlns:a16="http://schemas.microsoft.com/office/drawing/2014/main" val="20005"/>
                    </a:ext>
                  </a:extLst>
                </a:gridCol>
                <a:gridCol w="925513">
                  <a:extLst>
                    <a:ext uri="{9D8B030D-6E8A-4147-A177-3AD203B41FA5}">
                      <a16:colId xmlns:a16="http://schemas.microsoft.com/office/drawing/2014/main" val="20006"/>
                    </a:ext>
                  </a:extLst>
                </a:gridCol>
                <a:gridCol w="862012">
                  <a:extLst>
                    <a:ext uri="{9D8B030D-6E8A-4147-A177-3AD203B41FA5}">
                      <a16:colId xmlns:a16="http://schemas.microsoft.com/office/drawing/2014/main" val="20007"/>
                    </a:ext>
                  </a:extLst>
                </a:gridCol>
              </a:tblGrid>
              <a:tr h="701132">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Step</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N’</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D(t)</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p(t)</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D(u)</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p(u)</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D(v)</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p(v)</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D(w)</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p(w)</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D(y)</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p(y)</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D(z)</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p(z)</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0</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 </a:t>
                      </a: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800000"/>
                          </a:solidFill>
                          <a:effectLst/>
                          <a:latin typeface="Comic Sans MS" panose="030F0902030302020204" pitchFamily="66" charset="0"/>
                          <a:ea typeface="宋体" pitchFamily="2" charset="-122"/>
                          <a:cs typeface="Arial" panose="020B0604020202090204" pitchFamily="34" charset="0"/>
                        </a:rPr>
                        <a:t>3,x</a:t>
                      </a:r>
                      <a:endParaRPr kumimoji="0" lang="zh-CN" altLang="en-US" sz="2000" b="1" i="0" u="none" strike="noStrike" cap="none" normalizeH="0" baseline="0">
                        <a:ln>
                          <a:noFill/>
                        </a:ln>
                        <a:solidFill>
                          <a:srgbClr val="8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1</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xv</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7</a:t>
                      </a:r>
                      <a:r>
                        <a:rPr kumimoji="0" lang="en-US"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,v</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800000"/>
                          </a:solidFill>
                          <a:effectLst/>
                          <a:latin typeface="Comic Sans MS" panose="030F0902030302020204" pitchFamily="66" charset="0"/>
                          <a:ea typeface="宋体" pitchFamily="2" charset="-122"/>
                          <a:cs typeface="Arial" panose="020B0604020202090204" pitchFamily="34" charset="0"/>
                        </a:rPr>
                        <a:t>6,v</a:t>
                      </a:r>
                      <a:endParaRPr kumimoji="0" lang="zh-CN" altLang="en-US" sz="2000" b="1" i="0" u="none" strike="noStrike" cap="none" normalizeH="0" baseline="0">
                        <a:ln>
                          <a:noFill/>
                        </a:ln>
                        <a:solidFill>
                          <a:srgbClr val="8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8,x</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2</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xvu</a:t>
                      </a:r>
                      <a:endParaRPr kumimoji="0" lang="zh-CN" altLang="en-US" sz="20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4</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5</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6"/>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endParaRPr kumimoji="0" lang="zh-CN" altLang="en-US" sz="18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7"/>
                  </a:ext>
                </a:extLst>
              </a:tr>
            </a:tbl>
          </a:graphicData>
        </a:graphic>
      </p:graphicFrame>
      <p:sp>
        <p:nvSpPr>
          <p:cNvPr id="316502" name="矩形 1"/>
          <p:cNvSpPr>
            <a:spLocks noChangeArrowheads="1"/>
          </p:cNvSpPr>
          <p:nvPr/>
        </p:nvSpPr>
        <p:spPr bwMode="auto">
          <a:xfrm>
            <a:off x="374650" y="252413"/>
            <a:ext cx="65547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2400"/>
              <a:t>7</a:t>
            </a:r>
            <a:r>
              <a:rPr kumimoji="0" lang="zh-CN" altLang="en-US" sz="2400"/>
              <a:t>个节点，从</a:t>
            </a:r>
            <a:r>
              <a:rPr kumimoji="0" lang="en-US" altLang="zh-CN" sz="2400"/>
              <a:t>x</a:t>
            </a:r>
            <a:r>
              <a:rPr kumimoji="0" lang="zh-CN" altLang="en-US" sz="2400"/>
              <a:t>出发，迭代</a:t>
            </a:r>
            <a:r>
              <a:rPr kumimoji="0" lang="en-US" altLang="zh-CN" sz="2400"/>
              <a:t>7</a:t>
            </a:r>
            <a:r>
              <a:rPr kumimoji="0" lang="zh-CN" altLang="en-US" sz="2400"/>
              <a:t>次，</a:t>
            </a:r>
            <a:r>
              <a:rPr kumimoji="0" lang="en-US" altLang="zh-CN" sz="2400"/>
              <a:t>Step</a:t>
            </a:r>
            <a:r>
              <a:rPr kumimoji="0" lang="zh-CN" altLang="en-US" sz="2400"/>
              <a:t>分别为</a:t>
            </a:r>
            <a:r>
              <a:rPr kumimoji="0" lang="en-US" altLang="zh-CN" sz="2400"/>
              <a:t>0-6</a:t>
            </a:r>
            <a:endParaRPr kumimoji="0" lang="zh-CN" altLang="en-US" sz="2400"/>
          </a:p>
        </p:txBody>
      </p:sp>
      <p:grpSp>
        <p:nvGrpSpPr>
          <p:cNvPr id="316503" name="组 13"/>
          <p:cNvGrpSpPr/>
          <p:nvPr/>
        </p:nvGrpSpPr>
        <p:grpSpPr bwMode="auto">
          <a:xfrm>
            <a:off x="3638550" y="3379788"/>
            <a:ext cx="3767138" cy="3090862"/>
            <a:chOff x="2841698" y="2175653"/>
            <a:chExt cx="4224586" cy="3832518"/>
          </a:xfrm>
        </p:grpSpPr>
        <p:pic>
          <p:nvPicPr>
            <p:cNvPr id="316504" name="图片 1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41698" y="2247117"/>
              <a:ext cx="4197944" cy="3761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505" name="椭圆 15"/>
            <p:cNvSpPr>
              <a:spLocks noChangeArrowheads="1"/>
            </p:cNvSpPr>
            <p:nvPr/>
          </p:nvSpPr>
          <p:spPr bwMode="auto">
            <a:xfrm>
              <a:off x="3121554" y="4433890"/>
              <a:ext cx="236807" cy="236761"/>
            </a:xfrm>
            <a:prstGeom prst="ellipse">
              <a:avLst/>
            </a:prstGeom>
            <a:solidFill>
              <a:schemeClr val="accent1"/>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6506" name="椭圆 16"/>
            <p:cNvSpPr>
              <a:spLocks noChangeArrowheads="1"/>
            </p:cNvSpPr>
            <p:nvPr/>
          </p:nvSpPr>
          <p:spPr bwMode="auto">
            <a:xfrm>
              <a:off x="3360067" y="2175653"/>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6507" name="椭圆 17"/>
            <p:cNvSpPr>
              <a:spLocks noChangeArrowheads="1"/>
            </p:cNvSpPr>
            <p:nvPr/>
          </p:nvSpPr>
          <p:spPr bwMode="auto">
            <a:xfrm>
              <a:off x="6483325" y="5104614"/>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6508" name="椭圆 18"/>
            <p:cNvSpPr>
              <a:spLocks noChangeArrowheads="1"/>
            </p:cNvSpPr>
            <p:nvPr/>
          </p:nvSpPr>
          <p:spPr bwMode="auto">
            <a:xfrm>
              <a:off x="6829477" y="3771877"/>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6509" name="椭圆 19"/>
            <p:cNvSpPr>
              <a:spLocks noChangeArrowheads="1"/>
            </p:cNvSpPr>
            <p:nvPr/>
          </p:nvSpPr>
          <p:spPr bwMode="auto">
            <a:xfrm>
              <a:off x="5148592" y="4200617"/>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6510" name="椭圆 20"/>
            <p:cNvSpPr>
              <a:spLocks noChangeArrowheads="1"/>
            </p:cNvSpPr>
            <p:nvPr/>
          </p:nvSpPr>
          <p:spPr bwMode="auto">
            <a:xfrm>
              <a:off x="4567337" y="5470518"/>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sp>
          <p:nvSpPr>
            <p:cNvPr id="316511" name="椭圆 21"/>
            <p:cNvSpPr>
              <a:spLocks noChangeArrowheads="1"/>
            </p:cNvSpPr>
            <p:nvPr/>
          </p:nvSpPr>
          <p:spPr bwMode="auto">
            <a:xfrm>
              <a:off x="3986082" y="3641000"/>
              <a:ext cx="236807" cy="236761"/>
            </a:xfrm>
            <a:prstGeom prst="ellipse">
              <a:avLst/>
            </a:prstGeom>
            <a:solidFill>
              <a:srgbClr val="FF0000"/>
            </a:solidFill>
            <a:ln w="9525">
              <a:solidFill>
                <a:schemeClr val="tx1"/>
              </a:solidFill>
              <a:round/>
            </a:ln>
          </p:spPr>
          <p:txBody>
            <a:bodyPr wrap="none"/>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endParaRPr kumimoji="0" lang="zh-CN" altLang="en-US" sz="1800"/>
            </a:p>
          </p:txBody>
        </p:sp>
      </p:grpSp>
    </p:spTree>
  </p:cSld>
  <p:clrMapOvr>
    <a:masterClrMapping/>
  </p:clrMapOvr>
  <p:transition spd="slow"/>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1" name="页脚占位符 2"/>
          <p:cNvSpPr>
            <a:spLocks noGrp="1" noChangeArrowheads="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Network Layer</a:t>
            </a:r>
          </a:p>
        </p:txBody>
      </p:sp>
      <p:sp>
        <p:nvSpPr>
          <p:cNvPr id="317442" name="幻灯片编号占位符 3"/>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a:spcBef>
                <a:spcPct val="0"/>
              </a:spcBef>
              <a:buClrTx/>
              <a:buSzTx/>
              <a:buFontTx/>
              <a:buNone/>
            </a:pPr>
            <a:r>
              <a:rPr kumimoji="0" lang="en-US" altLang="zh-CN" sz="1200">
                <a:latin typeface="Arial" panose="020B0604020202090204" pitchFamily="34" charset="0"/>
              </a:rPr>
              <a:t>4-</a:t>
            </a:r>
            <a:fld id="{903E182F-A61D-3841-B589-F2703CCD7BA7}" type="slidenum">
              <a:rPr kumimoji="0" lang="en-US" altLang="zh-CN" sz="1200" smtClean="0">
                <a:latin typeface="Arial" panose="020B0604020202090204" pitchFamily="34" charset="0"/>
              </a:rPr>
              <a:t>39</a:t>
            </a:fld>
            <a:endParaRPr kumimoji="0" lang="en-US" altLang="zh-CN" sz="1200">
              <a:latin typeface="Arial" panose="020B0604020202090204" pitchFamily="34" charset="0"/>
            </a:endParaRPr>
          </a:p>
        </p:txBody>
      </p:sp>
      <p:graphicFrame>
        <p:nvGraphicFramePr>
          <p:cNvPr id="5" name="表格 4"/>
          <p:cNvGraphicFramePr>
            <a:graphicFrameLocks noGrp="1"/>
          </p:cNvGraphicFramePr>
          <p:nvPr/>
        </p:nvGraphicFramePr>
        <p:xfrm>
          <a:off x="581025" y="944563"/>
          <a:ext cx="7986713" cy="4857753"/>
        </p:xfrm>
        <a:graphic>
          <a:graphicData uri="http://schemas.openxmlformats.org/drawingml/2006/table">
            <a:tbl>
              <a:tblPr/>
              <a:tblGrid>
                <a:gridCol w="904875">
                  <a:extLst>
                    <a:ext uri="{9D8B030D-6E8A-4147-A177-3AD203B41FA5}">
                      <a16:colId xmlns:a16="http://schemas.microsoft.com/office/drawing/2014/main" val="20000"/>
                    </a:ext>
                  </a:extLst>
                </a:gridCol>
                <a:gridCol w="1528763">
                  <a:extLst>
                    <a:ext uri="{9D8B030D-6E8A-4147-A177-3AD203B41FA5}">
                      <a16:colId xmlns:a16="http://schemas.microsoft.com/office/drawing/2014/main" val="20001"/>
                    </a:ext>
                  </a:extLst>
                </a:gridCol>
                <a:gridCol w="882650">
                  <a:extLst>
                    <a:ext uri="{9D8B030D-6E8A-4147-A177-3AD203B41FA5}">
                      <a16:colId xmlns:a16="http://schemas.microsoft.com/office/drawing/2014/main" val="20002"/>
                    </a:ext>
                  </a:extLst>
                </a:gridCol>
                <a:gridCol w="946150">
                  <a:extLst>
                    <a:ext uri="{9D8B030D-6E8A-4147-A177-3AD203B41FA5}">
                      <a16:colId xmlns:a16="http://schemas.microsoft.com/office/drawing/2014/main" val="20003"/>
                    </a:ext>
                  </a:extLst>
                </a:gridCol>
                <a:gridCol w="968375">
                  <a:extLst>
                    <a:ext uri="{9D8B030D-6E8A-4147-A177-3AD203B41FA5}">
                      <a16:colId xmlns:a16="http://schemas.microsoft.com/office/drawing/2014/main" val="20004"/>
                    </a:ext>
                  </a:extLst>
                </a:gridCol>
                <a:gridCol w="969962">
                  <a:extLst>
                    <a:ext uri="{9D8B030D-6E8A-4147-A177-3AD203B41FA5}">
                      <a16:colId xmlns:a16="http://schemas.microsoft.com/office/drawing/2014/main" val="20005"/>
                    </a:ext>
                  </a:extLst>
                </a:gridCol>
                <a:gridCol w="925513">
                  <a:extLst>
                    <a:ext uri="{9D8B030D-6E8A-4147-A177-3AD203B41FA5}">
                      <a16:colId xmlns:a16="http://schemas.microsoft.com/office/drawing/2014/main" val="20006"/>
                    </a:ext>
                  </a:extLst>
                </a:gridCol>
                <a:gridCol w="860425">
                  <a:extLst>
                    <a:ext uri="{9D8B030D-6E8A-4147-A177-3AD203B41FA5}">
                      <a16:colId xmlns:a16="http://schemas.microsoft.com/office/drawing/2014/main" val="20007"/>
                    </a:ext>
                  </a:extLst>
                </a:gridCol>
              </a:tblGrid>
              <a:tr h="701132">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Step</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N’</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D(t)</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p(t)</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D(u)</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p(u)</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D(v)</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p(v)</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D(w)</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p(w)</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D(y)</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p(y)</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D(z)</a:t>
                      </a: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rPr>
                        <a:t>p(z)</a:t>
                      </a:r>
                      <a:endParaRPr kumimoji="0" lang="zh-CN" altLang="en-US" sz="2000" b="1" i="0" u="none" strike="noStrike" cap="none" normalizeH="0" baseline="0">
                        <a:ln>
                          <a:noFill/>
                        </a:ln>
                        <a:solidFill>
                          <a:srgbClr val="FFFFFF"/>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0</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 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a:t>
                      </a: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1</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 xv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7,v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2</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 xvu</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7,v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 xvuw</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7,v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4</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 xvuwy</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7,v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5</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 xvuwyt</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7,v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6"/>
                  </a:ext>
                </a:extLst>
              </a:tr>
              <a:tr h="593803">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 xvuwytz</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7,v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6,v</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3,x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6,x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rgbClr val="000099"/>
                        </a:buClr>
                        <a:buSzPct val="75000"/>
                        <a:buFont typeface="Wingdings" panose="05000000000000000000" pitchFamily="2" charset="2"/>
                        <a:defRPr kumimoji="1" sz="24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defRPr kumimoji="1">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defRPr kumimoji="1">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defRPr kumimoji="1">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rPr>
                        <a:t>8,x</a:t>
                      </a:r>
                      <a:endParaRPr kumimoji="0" lang="zh-CN" altLang="en-US" sz="2400" b="0" i="0" u="none" strike="noStrike" cap="none" normalizeH="0" baseline="0">
                        <a:ln>
                          <a:noFill/>
                        </a:ln>
                        <a:solidFill>
                          <a:srgbClr val="000000"/>
                        </a:solidFill>
                        <a:effectLst/>
                        <a:latin typeface="Comic Sans MS" panose="030F0902030302020204" pitchFamily="66" charset="0"/>
                        <a:ea typeface="宋体" pitchFamily="2" charset="-122"/>
                        <a:cs typeface="Arial" panose="020B0604020202090204" pitchFamily="34" charset="0"/>
                      </a:endParaRPr>
                    </a:p>
                  </a:txBody>
                  <a:tcPr marT="45726" marB="4572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7"/>
                  </a:ext>
                </a:extLst>
              </a:tr>
            </a:tbl>
          </a:graphicData>
        </a:graphic>
      </p:graphicFrame>
    </p:spTree>
  </p:cSld>
  <p:clrMapOvr>
    <a:masterClrMapping/>
  </p:clrMapOvr>
  <p:transition spd="slow"/>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7" name="Rectangle 2"/>
          <p:cNvSpPr>
            <a:spLocks noGrp="1" noChangeArrowheads="1"/>
          </p:cNvSpPr>
          <p:nvPr>
            <p:ph type="title"/>
          </p:nvPr>
        </p:nvSpPr>
        <p:spPr>
          <a:xfrm>
            <a:off x="533400" y="152400"/>
            <a:ext cx="7772400" cy="852488"/>
          </a:xfrm>
        </p:spPr>
        <p:txBody>
          <a:bodyPr/>
          <a:lstStyle/>
          <a:p>
            <a:r>
              <a:rPr lang="en-US" sz="3600">
                <a:latin typeface="Gill Sans MT" pitchFamily="34" charset="0"/>
              </a:rPr>
              <a:t>Dijkstra</a:t>
            </a:r>
            <a:r>
              <a:rPr lang="ja-JP" altLang="en-US" sz="3600">
                <a:latin typeface="Gill Sans MT" pitchFamily="34" charset="0"/>
              </a:rPr>
              <a:t>’</a:t>
            </a:r>
            <a:r>
              <a:rPr lang="en-US" altLang="ja-JP" sz="3600">
                <a:latin typeface="Gill Sans MT" pitchFamily="34" charset="0"/>
              </a:rPr>
              <a:t>s algorithm: example (2) </a:t>
            </a:r>
          </a:p>
        </p:txBody>
      </p:sp>
      <p:grpSp>
        <p:nvGrpSpPr>
          <p:cNvPr id="129028" name="Group 3"/>
          <p:cNvGrpSpPr/>
          <p:nvPr/>
        </p:nvGrpSpPr>
        <p:grpSpPr bwMode="auto">
          <a:xfrm>
            <a:off x="2198688" y="2036763"/>
            <a:ext cx="3244850" cy="1500187"/>
            <a:chOff x="1385" y="1283"/>
            <a:chExt cx="2044" cy="945"/>
          </a:xfrm>
        </p:grpSpPr>
        <p:sp>
          <p:nvSpPr>
            <p:cNvPr id="129047" name="Freeform 4"/>
            <p:cNvSpPr/>
            <p:nvPr/>
          </p:nvSpPr>
          <p:spPr bwMode="auto">
            <a:xfrm>
              <a:off x="1648" y="1465"/>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ln>
          </p:spPr>
          <p:txBody>
            <a:bodyPr wrap="none" anchor="ctr"/>
            <a:lstStyle/>
            <a:p>
              <a:endParaRPr lang="en-US"/>
            </a:p>
          </p:txBody>
        </p:sp>
        <p:sp>
          <p:nvSpPr>
            <p:cNvPr id="129048" name="Oval 5"/>
            <p:cNvSpPr>
              <a:spLocks noChangeArrowheads="1"/>
            </p:cNvSpPr>
            <p:nvPr/>
          </p:nvSpPr>
          <p:spPr bwMode="auto">
            <a:xfrm>
              <a:off x="1388" y="1707"/>
              <a:ext cx="313" cy="81"/>
            </a:xfrm>
            <a:prstGeom prst="ellipse">
              <a:avLst/>
            </a:prstGeom>
            <a:solidFill>
              <a:schemeClr val="hlink"/>
            </a:solidFill>
            <a:ln w="12700">
              <a:solidFill>
                <a:schemeClr val="tx1"/>
              </a:solidFill>
              <a:round/>
            </a:ln>
          </p:spPr>
          <p:txBody>
            <a:bodyPr wrap="none" anchor="ctr"/>
            <a:lstStyle/>
            <a:p>
              <a:endParaRPr lang="en-US"/>
            </a:p>
          </p:txBody>
        </p:sp>
        <p:sp>
          <p:nvSpPr>
            <p:cNvPr id="129049" name="Line 6"/>
            <p:cNvSpPr>
              <a:spLocks noChangeShapeType="1"/>
            </p:cNvSpPr>
            <p:nvPr/>
          </p:nvSpPr>
          <p:spPr bwMode="auto">
            <a:xfrm>
              <a:off x="1388" y="1700"/>
              <a:ext cx="0" cy="50"/>
            </a:xfrm>
            <a:prstGeom prst="line">
              <a:avLst/>
            </a:prstGeom>
            <a:noFill/>
            <a:ln w="12700">
              <a:solidFill>
                <a:schemeClr val="tx1"/>
              </a:solidFill>
              <a:round/>
            </a:ln>
          </p:spPr>
          <p:txBody>
            <a:bodyPr wrap="none" anchor="ctr"/>
            <a:lstStyle/>
            <a:p>
              <a:endParaRPr lang="en-US"/>
            </a:p>
          </p:txBody>
        </p:sp>
        <p:sp>
          <p:nvSpPr>
            <p:cNvPr id="129050" name="Line 7"/>
            <p:cNvSpPr>
              <a:spLocks noChangeShapeType="1"/>
            </p:cNvSpPr>
            <p:nvPr/>
          </p:nvSpPr>
          <p:spPr bwMode="auto">
            <a:xfrm>
              <a:off x="1701" y="1700"/>
              <a:ext cx="0" cy="50"/>
            </a:xfrm>
            <a:prstGeom prst="line">
              <a:avLst/>
            </a:prstGeom>
            <a:noFill/>
            <a:ln w="12700">
              <a:solidFill>
                <a:schemeClr val="tx1"/>
              </a:solidFill>
              <a:round/>
            </a:ln>
          </p:spPr>
          <p:txBody>
            <a:bodyPr wrap="none" anchor="ctr"/>
            <a:lstStyle/>
            <a:p>
              <a:endParaRPr lang="en-US"/>
            </a:p>
          </p:txBody>
        </p:sp>
        <p:sp>
          <p:nvSpPr>
            <p:cNvPr id="129051" name="Rectangle 8"/>
            <p:cNvSpPr>
              <a:spLocks noChangeArrowheads="1"/>
            </p:cNvSpPr>
            <p:nvPr/>
          </p:nvSpPr>
          <p:spPr bwMode="auto">
            <a:xfrm>
              <a:off x="1388" y="1700"/>
              <a:ext cx="310" cy="49"/>
            </a:xfrm>
            <a:prstGeom prst="rect">
              <a:avLst/>
            </a:prstGeom>
            <a:solidFill>
              <a:schemeClr val="hlink"/>
            </a:solidFill>
            <a:ln>
              <a:noFill/>
            </a:ln>
          </p:spPr>
          <p:txBody>
            <a:bodyPr wrap="none" anchor="ctr"/>
            <a:lstStyle/>
            <a:p>
              <a:pPr algn="ctr"/>
              <a:endParaRPr lang="en-US" sz="2400"/>
            </a:p>
          </p:txBody>
        </p:sp>
        <p:sp>
          <p:nvSpPr>
            <p:cNvPr id="129052" name="Oval 9"/>
            <p:cNvSpPr>
              <a:spLocks noChangeArrowheads="1"/>
            </p:cNvSpPr>
            <p:nvPr/>
          </p:nvSpPr>
          <p:spPr bwMode="auto">
            <a:xfrm>
              <a:off x="1385" y="1641"/>
              <a:ext cx="313" cy="95"/>
            </a:xfrm>
            <a:prstGeom prst="ellipse">
              <a:avLst/>
            </a:prstGeom>
            <a:solidFill>
              <a:schemeClr val="hlink"/>
            </a:solidFill>
            <a:ln w="12700">
              <a:solidFill>
                <a:schemeClr val="tx1"/>
              </a:solidFill>
              <a:round/>
            </a:ln>
          </p:spPr>
          <p:txBody>
            <a:bodyPr wrap="none" anchor="ctr"/>
            <a:lstStyle/>
            <a:p>
              <a:endParaRPr lang="en-US"/>
            </a:p>
          </p:txBody>
        </p:sp>
        <p:sp>
          <p:nvSpPr>
            <p:cNvPr id="129053" name="Oval 10"/>
            <p:cNvSpPr>
              <a:spLocks noChangeArrowheads="1"/>
            </p:cNvSpPr>
            <p:nvPr/>
          </p:nvSpPr>
          <p:spPr bwMode="auto">
            <a:xfrm>
              <a:off x="1862" y="2094"/>
              <a:ext cx="313" cy="81"/>
            </a:xfrm>
            <a:prstGeom prst="ellipse">
              <a:avLst/>
            </a:prstGeom>
            <a:solidFill>
              <a:schemeClr val="hlink"/>
            </a:solidFill>
            <a:ln w="12700">
              <a:solidFill>
                <a:schemeClr val="tx1"/>
              </a:solidFill>
              <a:round/>
            </a:ln>
          </p:spPr>
          <p:txBody>
            <a:bodyPr wrap="none" anchor="ctr"/>
            <a:lstStyle/>
            <a:p>
              <a:endParaRPr lang="en-US"/>
            </a:p>
          </p:txBody>
        </p:sp>
        <p:sp>
          <p:nvSpPr>
            <p:cNvPr id="129054" name="Line 11"/>
            <p:cNvSpPr>
              <a:spLocks noChangeShapeType="1"/>
            </p:cNvSpPr>
            <p:nvPr/>
          </p:nvSpPr>
          <p:spPr bwMode="auto">
            <a:xfrm>
              <a:off x="1862" y="2087"/>
              <a:ext cx="0" cy="50"/>
            </a:xfrm>
            <a:prstGeom prst="line">
              <a:avLst/>
            </a:prstGeom>
            <a:noFill/>
            <a:ln w="12700">
              <a:solidFill>
                <a:schemeClr val="tx1"/>
              </a:solidFill>
              <a:round/>
            </a:ln>
          </p:spPr>
          <p:txBody>
            <a:bodyPr wrap="none" anchor="ctr"/>
            <a:lstStyle/>
            <a:p>
              <a:endParaRPr lang="en-US"/>
            </a:p>
          </p:txBody>
        </p:sp>
        <p:sp>
          <p:nvSpPr>
            <p:cNvPr id="129055" name="Line 12"/>
            <p:cNvSpPr>
              <a:spLocks noChangeShapeType="1"/>
            </p:cNvSpPr>
            <p:nvPr/>
          </p:nvSpPr>
          <p:spPr bwMode="auto">
            <a:xfrm>
              <a:off x="2175" y="2087"/>
              <a:ext cx="0" cy="50"/>
            </a:xfrm>
            <a:prstGeom prst="line">
              <a:avLst/>
            </a:prstGeom>
            <a:noFill/>
            <a:ln w="12700">
              <a:solidFill>
                <a:schemeClr val="tx1"/>
              </a:solidFill>
              <a:round/>
            </a:ln>
          </p:spPr>
          <p:txBody>
            <a:bodyPr wrap="none" anchor="ctr"/>
            <a:lstStyle/>
            <a:p>
              <a:endParaRPr lang="en-US"/>
            </a:p>
          </p:txBody>
        </p:sp>
        <p:sp>
          <p:nvSpPr>
            <p:cNvPr id="129056" name="Rectangle 13"/>
            <p:cNvSpPr>
              <a:spLocks noChangeArrowheads="1"/>
            </p:cNvSpPr>
            <p:nvPr/>
          </p:nvSpPr>
          <p:spPr bwMode="auto">
            <a:xfrm>
              <a:off x="1862" y="2087"/>
              <a:ext cx="310" cy="49"/>
            </a:xfrm>
            <a:prstGeom prst="rect">
              <a:avLst/>
            </a:prstGeom>
            <a:solidFill>
              <a:schemeClr val="hlink"/>
            </a:solidFill>
            <a:ln>
              <a:noFill/>
            </a:ln>
          </p:spPr>
          <p:txBody>
            <a:bodyPr wrap="none" anchor="ctr"/>
            <a:lstStyle/>
            <a:p>
              <a:pPr algn="ctr"/>
              <a:endParaRPr lang="en-US" sz="2400"/>
            </a:p>
          </p:txBody>
        </p:sp>
        <p:sp>
          <p:nvSpPr>
            <p:cNvPr id="129057" name="Oval 14"/>
            <p:cNvSpPr>
              <a:spLocks noChangeArrowheads="1"/>
            </p:cNvSpPr>
            <p:nvPr/>
          </p:nvSpPr>
          <p:spPr bwMode="auto">
            <a:xfrm>
              <a:off x="1859" y="2028"/>
              <a:ext cx="313" cy="95"/>
            </a:xfrm>
            <a:prstGeom prst="ellipse">
              <a:avLst/>
            </a:prstGeom>
            <a:solidFill>
              <a:schemeClr val="hlink"/>
            </a:solidFill>
            <a:ln w="12700">
              <a:solidFill>
                <a:schemeClr val="tx1"/>
              </a:solidFill>
              <a:round/>
            </a:ln>
          </p:spPr>
          <p:txBody>
            <a:bodyPr wrap="none" anchor="ctr"/>
            <a:lstStyle/>
            <a:p>
              <a:endParaRPr lang="en-US"/>
            </a:p>
          </p:txBody>
        </p:sp>
        <p:sp>
          <p:nvSpPr>
            <p:cNvPr id="129058" name="Oval 15"/>
            <p:cNvSpPr>
              <a:spLocks noChangeArrowheads="1"/>
            </p:cNvSpPr>
            <p:nvPr/>
          </p:nvSpPr>
          <p:spPr bwMode="auto">
            <a:xfrm>
              <a:off x="1858" y="1404"/>
              <a:ext cx="313" cy="81"/>
            </a:xfrm>
            <a:prstGeom prst="ellipse">
              <a:avLst/>
            </a:prstGeom>
            <a:solidFill>
              <a:schemeClr val="hlink"/>
            </a:solidFill>
            <a:ln w="12700">
              <a:solidFill>
                <a:schemeClr val="tx1"/>
              </a:solidFill>
              <a:round/>
            </a:ln>
          </p:spPr>
          <p:txBody>
            <a:bodyPr wrap="none" anchor="ctr"/>
            <a:lstStyle/>
            <a:p>
              <a:endParaRPr lang="en-US"/>
            </a:p>
          </p:txBody>
        </p:sp>
        <p:sp>
          <p:nvSpPr>
            <p:cNvPr id="129059" name="Line 16"/>
            <p:cNvSpPr>
              <a:spLocks noChangeShapeType="1"/>
            </p:cNvSpPr>
            <p:nvPr/>
          </p:nvSpPr>
          <p:spPr bwMode="auto">
            <a:xfrm>
              <a:off x="1858" y="1397"/>
              <a:ext cx="0" cy="50"/>
            </a:xfrm>
            <a:prstGeom prst="line">
              <a:avLst/>
            </a:prstGeom>
            <a:noFill/>
            <a:ln w="12700">
              <a:solidFill>
                <a:schemeClr val="tx1"/>
              </a:solidFill>
              <a:round/>
            </a:ln>
          </p:spPr>
          <p:txBody>
            <a:bodyPr wrap="none" anchor="ctr"/>
            <a:lstStyle/>
            <a:p>
              <a:endParaRPr lang="en-US"/>
            </a:p>
          </p:txBody>
        </p:sp>
        <p:sp>
          <p:nvSpPr>
            <p:cNvPr id="129060" name="Line 17"/>
            <p:cNvSpPr>
              <a:spLocks noChangeShapeType="1"/>
            </p:cNvSpPr>
            <p:nvPr/>
          </p:nvSpPr>
          <p:spPr bwMode="auto">
            <a:xfrm>
              <a:off x="2171" y="1397"/>
              <a:ext cx="0" cy="50"/>
            </a:xfrm>
            <a:prstGeom prst="line">
              <a:avLst/>
            </a:prstGeom>
            <a:noFill/>
            <a:ln w="12700">
              <a:solidFill>
                <a:schemeClr val="tx1"/>
              </a:solidFill>
              <a:round/>
            </a:ln>
          </p:spPr>
          <p:txBody>
            <a:bodyPr wrap="none" anchor="ctr"/>
            <a:lstStyle/>
            <a:p>
              <a:endParaRPr lang="en-US"/>
            </a:p>
          </p:txBody>
        </p:sp>
        <p:sp>
          <p:nvSpPr>
            <p:cNvPr id="129061" name="Rectangle 18"/>
            <p:cNvSpPr>
              <a:spLocks noChangeArrowheads="1"/>
            </p:cNvSpPr>
            <p:nvPr/>
          </p:nvSpPr>
          <p:spPr bwMode="auto">
            <a:xfrm>
              <a:off x="1858" y="1397"/>
              <a:ext cx="310" cy="49"/>
            </a:xfrm>
            <a:prstGeom prst="rect">
              <a:avLst/>
            </a:prstGeom>
            <a:solidFill>
              <a:schemeClr val="hlink"/>
            </a:solidFill>
            <a:ln>
              <a:noFill/>
            </a:ln>
          </p:spPr>
          <p:txBody>
            <a:bodyPr wrap="none" anchor="ctr"/>
            <a:lstStyle/>
            <a:p>
              <a:pPr algn="ctr"/>
              <a:endParaRPr lang="en-US" sz="2400"/>
            </a:p>
          </p:txBody>
        </p:sp>
        <p:sp>
          <p:nvSpPr>
            <p:cNvPr id="129062" name="Oval 19"/>
            <p:cNvSpPr>
              <a:spLocks noChangeArrowheads="1"/>
            </p:cNvSpPr>
            <p:nvPr/>
          </p:nvSpPr>
          <p:spPr bwMode="auto">
            <a:xfrm>
              <a:off x="1855" y="1338"/>
              <a:ext cx="313" cy="95"/>
            </a:xfrm>
            <a:prstGeom prst="ellipse">
              <a:avLst/>
            </a:prstGeom>
            <a:solidFill>
              <a:schemeClr val="hlink"/>
            </a:solidFill>
            <a:ln w="12700">
              <a:solidFill>
                <a:schemeClr val="tx1"/>
              </a:solidFill>
              <a:round/>
            </a:ln>
          </p:spPr>
          <p:txBody>
            <a:bodyPr wrap="none" anchor="ctr"/>
            <a:lstStyle/>
            <a:p>
              <a:endParaRPr lang="en-US"/>
            </a:p>
          </p:txBody>
        </p:sp>
        <p:sp>
          <p:nvSpPr>
            <p:cNvPr id="129063" name="Oval 20"/>
            <p:cNvSpPr>
              <a:spLocks noChangeArrowheads="1"/>
            </p:cNvSpPr>
            <p:nvPr/>
          </p:nvSpPr>
          <p:spPr bwMode="auto">
            <a:xfrm>
              <a:off x="2541" y="1400"/>
              <a:ext cx="312" cy="81"/>
            </a:xfrm>
            <a:prstGeom prst="ellipse">
              <a:avLst/>
            </a:prstGeom>
            <a:solidFill>
              <a:schemeClr val="hlink"/>
            </a:solidFill>
            <a:ln w="12700">
              <a:solidFill>
                <a:schemeClr val="tx1"/>
              </a:solidFill>
              <a:round/>
            </a:ln>
          </p:spPr>
          <p:txBody>
            <a:bodyPr wrap="none" anchor="ctr"/>
            <a:lstStyle/>
            <a:p>
              <a:endParaRPr lang="en-US"/>
            </a:p>
          </p:txBody>
        </p:sp>
        <p:sp>
          <p:nvSpPr>
            <p:cNvPr id="129064" name="Line 21"/>
            <p:cNvSpPr>
              <a:spLocks noChangeShapeType="1"/>
            </p:cNvSpPr>
            <p:nvPr/>
          </p:nvSpPr>
          <p:spPr bwMode="auto">
            <a:xfrm>
              <a:off x="2541" y="1393"/>
              <a:ext cx="0" cy="50"/>
            </a:xfrm>
            <a:prstGeom prst="line">
              <a:avLst/>
            </a:prstGeom>
            <a:noFill/>
            <a:ln w="12700">
              <a:solidFill>
                <a:schemeClr val="tx1"/>
              </a:solidFill>
              <a:round/>
            </a:ln>
          </p:spPr>
          <p:txBody>
            <a:bodyPr wrap="none" anchor="ctr"/>
            <a:lstStyle/>
            <a:p>
              <a:endParaRPr lang="en-US"/>
            </a:p>
          </p:txBody>
        </p:sp>
        <p:sp>
          <p:nvSpPr>
            <p:cNvPr id="129065" name="Line 22"/>
            <p:cNvSpPr>
              <a:spLocks noChangeShapeType="1"/>
            </p:cNvSpPr>
            <p:nvPr/>
          </p:nvSpPr>
          <p:spPr bwMode="auto">
            <a:xfrm>
              <a:off x="2853" y="1393"/>
              <a:ext cx="0" cy="50"/>
            </a:xfrm>
            <a:prstGeom prst="line">
              <a:avLst/>
            </a:prstGeom>
            <a:noFill/>
            <a:ln w="12700">
              <a:solidFill>
                <a:schemeClr val="tx1"/>
              </a:solidFill>
              <a:round/>
            </a:ln>
          </p:spPr>
          <p:txBody>
            <a:bodyPr wrap="none" anchor="ctr"/>
            <a:lstStyle/>
            <a:p>
              <a:endParaRPr lang="en-US"/>
            </a:p>
          </p:txBody>
        </p:sp>
        <p:sp>
          <p:nvSpPr>
            <p:cNvPr id="129066" name="Rectangle 23"/>
            <p:cNvSpPr>
              <a:spLocks noChangeArrowheads="1"/>
            </p:cNvSpPr>
            <p:nvPr/>
          </p:nvSpPr>
          <p:spPr bwMode="auto">
            <a:xfrm>
              <a:off x="2541" y="1393"/>
              <a:ext cx="309" cy="49"/>
            </a:xfrm>
            <a:prstGeom prst="rect">
              <a:avLst/>
            </a:prstGeom>
            <a:solidFill>
              <a:schemeClr val="hlink"/>
            </a:solidFill>
            <a:ln>
              <a:noFill/>
            </a:ln>
          </p:spPr>
          <p:txBody>
            <a:bodyPr wrap="none" anchor="ctr"/>
            <a:lstStyle/>
            <a:p>
              <a:pPr algn="ctr"/>
              <a:endParaRPr lang="en-US" sz="2400"/>
            </a:p>
          </p:txBody>
        </p:sp>
        <p:sp>
          <p:nvSpPr>
            <p:cNvPr id="129067" name="Oval 24"/>
            <p:cNvSpPr>
              <a:spLocks noChangeArrowheads="1"/>
            </p:cNvSpPr>
            <p:nvPr/>
          </p:nvSpPr>
          <p:spPr bwMode="auto">
            <a:xfrm>
              <a:off x="2544" y="1337"/>
              <a:ext cx="312" cy="95"/>
            </a:xfrm>
            <a:prstGeom prst="ellipse">
              <a:avLst/>
            </a:prstGeom>
            <a:solidFill>
              <a:schemeClr val="hlink"/>
            </a:solidFill>
            <a:ln w="12700">
              <a:solidFill>
                <a:schemeClr val="tx1"/>
              </a:solidFill>
              <a:round/>
            </a:ln>
          </p:spPr>
          <p:txBody>
            <a:bodyPr wrap="none" anchor="ctr"/>
            <a:lstStyle/>
            <a:p>
              <a:endParaRPr lang="en-US"/>
            </a:p>
          </p:txBody>
        </p:sp>
        <p:sp>
          <p:nvSpPr>
            <p:cNvPr id="129068" name="Oval 25"/>
            <p:cNvSpPr>
              <a:spLocks noChangeArrowheads="1"/>
            </p:cNvSpPr>
            <p:nvPr/>
          </p:nvSpPr>
          <p:spPr bwMode="auto">
            <a:xfrm>
              <a:off x="2551" y="2091"/>
              <a:ext cx="313" cy="81"/>
            </a:xfrm>
            <a:prstGeom prst="ellipse">
              <a:avLst/>
            </a:prstGeom>
            <a:solidFill>
              <a:schemeClr val="hlink"/>
            </a:solidFill>
            <a:ln w="12700">
              <a:solidFill>
                <a:schemeClr val="tx1"/>
              </a:solidFill>
              <a:round/>
            </a:ln>
          </p:spPr>
          <p:txBody>
            <a:bodyPr wrap="none" anchor="ctr"/>
            <a:lstStyle/>
            <a:p>
              <a:endParaRPr lang="en-US"/>
            </a:p>
          </p:txBody>
        </p:sp>
        <p:sp>
          <p:nvSpPr>
            <p:cNvPr id="129069" name="Line 26"/>
            <p:cNvSpPr>
              <a:spLocks noChangeShapeType="1"/>
            </p:cNvSpPr>
            <p:nvPr/>
          </p:nvSpPr>
          <p:spPr bwMode="auto">
            <a:xfrm>
              <a:off x="2551" y="2084"/>
              <a:ext cx="0" cy="50"/>
            </a:xfrm>
            <a:prstGeom prst="line">
              <a:avLst/>
            </a:prstGeom>
            <a:noFill/>
            <a:ln w="12700">
              <a:solidFill>
                <a:schemeClr val="tx1"/>
              </a:solidFill>
              <a:round/>
            </a:ln>
          </p:spPr>
          <p:txBody>
            <a:bodyPr wrap="none" anchor="ctr"/>
            <a:lstStyle/>
            <a:p>
              <a:endParaRPr lang="en-US"/>
            </a:p>
          </p:txBody>
        </p:sp>
        <p:sp>
          <p:nvSpPr>
            <p:cNvPr id="129070" name="Line 27"/>
            <p:cNvSpPr>
              <a:spLocks noChangeShapeType="1"/>
            </p:cNvSpPr>
            <p:nvPr/>
          </p:nvSpPr>
          <p:spPr bwMode="auto">
            <a:xfrm>
              <a:off x="2864" y="2084"/>
              <a:ext cx="0" cy="50"/>
            </a:xfrm>
            <a:prstGeom prst="line">
              <a:avLst/>
            </a:prstGeom>
            <a:noFill/>
            <a:ln w="12700">
              <a:solidFill>
                <a:schemeClr val="tx1"/>
              </a:solidFill>
              <a:round/>
            </a:ln>
          </p:spPr>
          <p:txBody>
            <a:bodyPr wrap="none" anchor="ctr"/>
            <a:lstStyle/>
            <a:p>
              <a:endParaRPr lang="en-US"/>
            </a:p>
          </p:txBody>
        </p:sp>
        <p:sp>
          <p:nvSpPr>
            <p:cNvPr id="129071" name="Rectangle 28"/>
            <p:cNvSpPr>
              <a:spLocks noChangeArrowheads="1"/>
            </p:cNvSpPr>
            <p:nvPr/>
          </p:nvSpPr>
          <p:spPr bwMode="auto">
            <a:xfrm>
              <a:off x="2551" y="2084"/>
              <a:ext cx="310" cy="49"/>
            </a:xfrm>
            <a:prstGeom prst="rect">
              <a:avLst/>
            </a:prstGeom>
            <a:solidFill>
              <a:schemeClr val="hlink"/>
            </a:solidFill>
            <a:ln>
              <a:noFill/>
            </a:ln>
          </p:spPr>
          <p:txBody>
            <a:bodyPr wrap="none" anchor="ctr"/>
            <a:lstStyle/>
            <a:p>
              <a:pPr algn="ctr"/>
              <a:endParaRPr lang="en-US" sz="2400"/>
            </a:p>
          </p:txBody>
        </p:sp>
        <p:sp>
          <p:nvSpPr>
            <p:cNvPr id="129072" name="Oval 29"/>
            <p:cNvSpPr>
              <a:spLocks noChangeArrowheads="1"/>
            </p:cNvSpPr>
            <p:nvPr/>
          </p:nvSpPr>
          <p:spPr bwMode="auto">
            <a:xfrm>
              <a:off x="2548" y="2025"/>
              <a:ext cx="313" cy="95"/>
            </a:xfrm>
            <a:prstGeom prst="ellipse">
              <a:avLst/>
            </a:prstGeom>
            <a:solidFill>
              <a:schemeClr val="hlink"/>
            </a:solidFill>
            <a:ln w="12700">
              <a:solidFill>
                <a:schemeClr val="tx1"/>
              </a:solidFill>
              <a:round/>
            </a:ln>
          </p:spPr>
          <p:txBody>
            <a:bodyPr wrap="none" anchor="ctr"/>
            <a:lstStyle/>
            <a:p>
              <a:endParaRPr lang="en-US"/>
            </a:p>
          </p:txBody>
        </p:sp>
        <p:sp>
          <p:nvSpPr>
            <p:cNvPr id="129073" name="Oval 30"/>
            <p:cNvSpPr>
              <a:spLocks noChangeArrowheads="1"/>
            </p:cNvSpPr>
            <p:nvPr/>
          </p:nvSpPr>
          <p:spPr bwMode="auto">
            <a:xfrm>
              <a:off x="3116" y="1750"/>
              <a:ext cx="313" cy="81"/>
            </a:xfrm>
            <a:prstGeom prst="ellipse">
              <a:avLst/>
            </a:prstGeom>
            <a:solidFill>
              <a:schemeClr val="hlink"/>
            </a:solidFill>
            <a:ln w="12700">
              <a:solidFill>
                <a:schemeClr val="tx1"/>
              </a:solidFill>
              <a:round/>
            </a:ln>
          </p:spPr>
          <p:txBody>
            <a:bodyPr wrap="none" anchor="ctr"/>
            <a:lstStyle/>
            <a:p>
              <a:endParaRPr lang="en-US"/>
            </a:p>
          </p:txBody>
        </p:sp>
        <p:sp>
          <p:nvSpPr>
            <p:cNvPr id="129074" name="Line 31"/>
            <p:cNvSpPr>
              <a:spLocks noChangeShapeType="1"/>
            </p:cNvSpPr>
            <p:nvPr/>
          </p:nvSpPr>
          <p:spPr bwMode="auto">
            <a:xfrm>
              <a:off x="3116" y="1743"/>
              <a:ext cx="0" cy="50"/>
            </a:xfrm>
            <a:prstGeom prst="line">
              <a:avLst/>
            </a:prstGeom>
            <a:noFill/>
            <a:ln w="12700">
              <a:solidFill>
                <a:schemeClr val="tx1"/>
              </a:solidFill>
              <a:round/>
            </a:ln>
          </p:spPr>
          <p:txBody>
            <a:bodyPr wrap="none" anchor="ctr"/>
            <a:lstStyle/>
            <a:p>
              <a:endParaRPr lang="en-US"/>
            </a:p>
          </p:txBody>
        </p:sp>
        <p:sp>
          <p:nvSpPr>
            <p:cNvPr id="129075" name="Line 32"/>
            <p:cNvSpPr>
              <a:spLocks noChangeShapeType="1"/>
            </p:cNvSpPr>
            <p:nvPr/>
          </p:nvSpPr>
          <p:spPr bwMode="auto">
            <a:xfrm>
              <a:off x="3429" y="1743"/>
              <a:ext cx="0" cy="50"/>
            </a:xfrm>
            <a:prstGeom prst="line">
              <a:avLst/>
            </a:prstGeom>
            <a:noFill/>
            <a:ln w="12700">
              <a:solidFill>
                <a:schemeClr val="tx1"/>
              </a:solidFill>
              <a:round/>
            </a:ln>
          </p:spPr>
          <p:txBody>
            <a:bodyPr wrap="none" anchor="ctr"/>
            <a:lstStyle/>
            <a:p>
              <a:endParaRPr lang="en-US"/>
            </a:p>
          </p:txBody>
        </p:sp>
        <p:sp>
          <p:nvSpPr>
            <p:cNvPr id="129076" name="Rectangle 33"/>
            <p:cNvSpPr>
              <a:spLocks noChangeArrowheads="1"/>
            </p:cNvSpPr>
            <p:nvPr/>
          </p:nvSpPr>
          <p:spPr bwMode="auto">
            <a:xfrm>
              <a:off x="3116" y="1743"/>
              <a:ext cx="310" cy="49"/>
            </a:xfrm>
            <a:prstGeom prst="rect">
              <a:avLst/>
            </a:prstGeom>
            <a:solidFill>
              <a:schemeClr val="hlink"/>
            </a:solidFill>
            <a:ln>
              <a:noFill/>
            </a:ln>
          </p:spPr>
          <p:txBody>
            <a:bodyPr wrap="none" anchor="ctr"/>
            <a:lstStyle/>
            <a:p>
              <a:pPr algn="ctr"/>
              <a:endParaRPr lang="en-US" sz="2400"/>
            </a:p>
          </p:txBody>
        </p:sp>
        <p:sp>
          <p:nvSpPr>
            <p:cNvPr id="129077" name="Oval 34"/>
            <p:cNvSpPr>
              <a:spLocks noChangeArrowheads="1"/>
            </p:cNvSpPr>
            <p:nvPr/>
          </p:nvSpPr>
          <p:spPr bwMode="auto">
            <a:xfrm>
              <a:off x="3113" y="1684"/>
              <a:ext cx="313" cy="95"/>
            </a:xfrm>
            <a:prstGeom prst="ellipse">
              <a:avLst/>
            </a:prstGeom>
            <a:solidFill>
              <a:schemeClr val="hlink"/>
            </a:solidFill>
            <a:ln w="12700">
              <a:solidFill>
                <a:schemeClr val="tx1"/>
              </a:solidFill>
              <a:round/>
            </a:ln>
          </p:spPr>
          <p:txBody>
            <a:bodyPr wrap="none" anchor="ctr"/>
            <a:lstStyle/>
            <a:p>
              <a:endParaRPr lang="en-US"/>
            </a:p>
          </p:txBody>
        </p:sp>
        <p:sp>
          <p:nvSpPr>
            <p:cNvPr id="129078" name="Freeform 35"/>
            <p:cNvSpPr/>
            <p:nvPr/>
          </p:nvSpPr>
          <p:spPr bwMode="auto">
            <a:xfrm>
              <a:off x="2707" y="1492"/>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ln>
          </p:spPr>
          <p:txBody>
            <a:bodyPr wrap="none" anchor="ctr"/>
            <a:lstStyle/>
            <a:p>
              <a:endParaRPr lang="en-US"/>
            </a:p>
          </p:txBody>
        </p:sp>
        <p:sp>
          <p:nvSpPr>
            <p:cNvPr id="129079" name="Freeform 36"/>
            <p:cNvSpPr/>
            <p:nvPr/>
          </p:nvSpPr>
          <p:spPr bwMode="auto">
            <a:xfrm>
              <a:off x="2866" y="1831"/>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ln>
          </p:spPr>
          <p:txBody>
            <a:bodyPr wrap="none" anchor="ctr"/>
            <a:lstStyle/>
            <a:p>
              <a:endParaRPr lang="en-US"/>
            </a:p>
          </p:txBody>
        </p:sp>
        <p:sp>
          <p:nvSpPr>
            <p:cNvPr id="129080" name="Freeform 37"/>
            <p:cNvSpPr/>
            <p:nvPr/>
          </p:nvSpPr>
          <p:spPr bwMode="auto">
            <a:xfrm>
              <a:off x="2185" y="2113"/>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29081" name="Freeform 38"/>
            <p:cNvSpPr/>
            <p:nvPr/>
          </p:nvSpPr>
          <p:spPr bwMode="auto">
            <a:xfrm>
              <a:off x="1594" y="1789"/>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ln>
          </p:spPr>
          <p:txBody>
            <a:bodyPr wrap="none" anchor="ctr"/>
            <a:lstStyle/>
            <a:p>
              <a:endParaRPr lang="en-US"/>
            </a:p>
          </p:txBody>
        </p:sp>
        <p:grpSp>
          <p:nvGrpSpPr>
            <p:cNvPr id="129082" name="Group 39"/>
            <p:cNvGrpSpPr/>
            <p:nvPr/>
          </p:nvGrpSpPr>
          <p:grpSpPr bwMode="auto">
            <a:xfrm>
              <a:off x="1437" y="1589"/>
              <a:ext cx="205" cy="250"/>
              <a:chOff x="2954" y="2425"/>
              <a:chExt cx="208" cy="250"/>
            </a:xfrm>
          </p:grpSpPr>
          <p:sp>
            <p:nvSpPr>
              <p:cNvPr id="129098" name="Rectangle 40"/>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29099" name="Text Box 41"/>
              <p:cNvSpPr txBox="1">
                <a:spLocks noChangeArrowheads="1"/>
              </p:cNvSpPr>
              <p:nvPr/>
            </p:nvSpPr>
            <p:spPr bwMode="auto">
              <a:xfrm>
                <a:off x="2954" y="2425"/>
                <a:ext cx="208"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u</a:t>
                </a:r>
                <a:endParaRPr lang="en-US"/>
              </a:p>
            </p:txBody>
          </p:sp>
        </p:grpSp>
        <p:grpSp>
          <p:nvGrpSpPr>
            <p:cNvPr id="129083" name="Group 42"/>
            <p:cNvGrpSpPr/>
            <p:nvPr/>
          </p:nvGrpSpPr>
          <p:grpSpPr bwMode="auto">
            <a:xfrm>
              <a:off x="2611" y="1973"/>
              <a:ext cx="196" cy="250"/>
              <a:chOff x="2958" y="2425"/>
              <a:chExt cx="199" cy="250"/>
            </a:xfrm>
          </p:grpSpPr>
          <p:sp>
            <p:nvSpPr>
              <p:cNvPr id="129096" name="Rectangle 43"/>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9097" name="Text Box 44"/>
              <p:cNvSpPr txBox="1">
                <a:spLocks noChangeArrowheads="1"/>
              </p:cNvSpPr>
              <p:nvPr/>
            </p:nvSpPr>
            <p:spPr bwMode="auto">
              <a:xfrm>
                <a:off x="2958" y="2425"/>
                <a:ext cx="1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y</a:t>
                </a:r>
                <a:endParaRPr lang="en-US"/>
              </a:p>
            </p:txBody>
          </p:sp>
        </p:grpSp>
        <p:grpSp>
          <p:nvGrpSpPr>
            <p:cNvPr id="129084" name="Group 45"/>
            <p:cNvGrpSpPr/>
            <p:nvPr/>
          </p:nvGrpSpPr>
          <p:grpSpPr bwMode="auto">
            <a:xfrm>
              <a:off x="1922" y="1940"/>
              <a:ext cx="212" cy="288"/>
              <a:chOff x="2951" y="2395"/>
              <a:chExt cx="213" cy="288"/>
            </a:xfrm>
          </p:grpSpPr>
          <p:sp>
            <p:nvSpPr>
              <p:cNvPr id="129094" name="Rectangle 46"/>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29095" name="Text Box 47"/>
              <p:cNvSpPr txBox="1">
                <a:spLocks noChangeArrowheads="1"/>
              </p:cNvSpPr>
              <p:nvPr/>
            </p:nvSpPr>
            <p:spPr bwMode="auto">
              <a:xfrm>
                <a:off x="2951" y="2395"/>
                <a:ext cx="213"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x</a:t>
                </a:r>
              </a:p>
            </p:txBody>
          </p:sp>
        </p:grpSp>
        <p:grpSp>
          <p:nvGrpSpPr>
            <p:cNvPr id="129085" name="Group 48"/>
            <p:cNvGrpSpPr/>
            <p:nvPr/>
          </p:nvGrpSpPr>
          <p:grpSpPr bwMode="auto">
            <a:xfrm>
              <a:off x="2588" y="1283"/>
              <a:ext cx="232" cy="250"/>
              <a:chOff x="2941" y="2425"/>
              <a:chExt cx="235" cy="250"/>
            </a:xfrm>
          </p:grpSpPr>
          <p:sp>
            <p:nvSpPr>
              <p:cNvPr id="129092" name="Rectangle 49"/>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29093" name="Text Box 50"/>
              <p:cNvSpPr txBox="1">
                <a:spLocks noChangeArrowheads="1"/>
              </p:cNvSpPr>
              <p:nvPr/>
            </p:nvSpPr>
            <p:spPr bwMode="auto">
              <a:xfrm>
                <a:off x="2941"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w</a:t>
                </a:r>
                <a:endParaRPr lang="en-US"/>
              </a:p>
            </p:txBody>
          </p:sp>
        </p:grpSp>
        <p:grpSp>
          <p:nvGrpSpPr>
            <p:cNvPr id="129086" name="Group 51"/>
            <p:cNvGrpSpPr/>
            <p:nvPr/>
          </p:nvGrpSpPr>
          <p:grpSpPr bwMode="auto">
            <a:xfrm>
              <a:off x="1921" y="1283"/>
              <a:ext cx="196" cy="250"/>
              <a:chOff x="2958" y="2425"/>
              <a:chExt cx="199" cy="250"/>
            </a:xfrm>
          </p:grpSpPr>
          <p:sp>
            <p:nvSpPr>
              <p:cNvPr id="129090" name="Rectangle 52"/>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9091" name="Text Box 53"/>
              <p:cNvSpPr txBox="1">
                <a:spLocks noChangeArrowheads="1"/>
              </p:cNvSpPr>
              <p:nvPr/>
            </p:nvSpPr>
            <p:spPr bwMode="auto">
              <a:xfrm>
                <a:off x="2958" y="2425"/>
                <a:ext cx="1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v</a:t>
                </a:r>
                <a:endParaRPr lang="en-US"/>
              </a:p>
            </p:txBody>
          </p:sp>
        </p:grpSp>
        <p:grpSp>
          <p:nvGrpSpPr>
            <p:cNvPr id="129087" name="Group 54"/>
            <p:cNvGrpSpPr/>
            <p:nvPr/>
          </p:nvGrpSpPr>
          <p:grpSpPr bwMode="auto">
            <a:xfrm>
              <a:off x="3175" y="1601"/>
              <a:ext cx="212" cy="288"/>
              <a:chOff x="2949" y="2395"/>
              <a:chExt cx="214" cy="288"/>
            </a:xfrm>
          </p:grpSpPr>
          <p:sp>
            <p:nvSpPr>
              <p:cNvPr id="129088" name="Rectangle 55"/>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9089" name="Text Box 56"/>
              <p:cNvSpPr txBox="1">
                <a:spLocks noChangeArrowheads="1"/>
              </p:cNvSpPr>
              <p:nvPr/>
            </p:nvSpPr>
            <p:spPr bwMode="auto">
              <a:xfrm>
                <a:off x="2949" y="2395"/>
                <a:ext cx="214"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z</a:t>
                </a:r>
              </a:p>
            </p:txBody>
          </p:sp>
        </p:grpSp>
      </p:grpSp>
      <p:sp>
        <p:nvSpPr>
          <p:cNvPr id="129029" name="Text Box 57"/>
          <p:cNvSpPr txBox="1">
            <a:spLocks noChangeArrowheads="1"/>
          </p:cNvSpPr>
          <p:nvPr/>
        </p:nvSpPr>
        <p:spPr bwMode="auto">
          <a:xfrm>
            <a:off x="577850" y="1220788"/>
            <a:ext cx="4568825" cy="4572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dirty="0">
                <a:latin typeface="Gill Sans MT" pitchFamily="34" charset="0"/>
              </a:rPr>
              <a:t>resulting shortest-path tree from u:</a:t>
            </a:r>
          </a:p>
        </p:txBody>
      </p:sp>
      <p:grpSp>
        <p:nvGrpSpPr>
          <p:cNvPr id="129030" name="Group 58"/>
          <p:cNvGrpSpPr/>
          <p:nvPr/>
        </p:nvGrpSpPr>
        <p:grpSpPr bwMode="auto">
          <a:xfrm>
            <a:off x="2268538" y="4224338"/>
            <a:ext cx="2319337" cy="2276475"/>
            <a:chOff x="259" y="2768"/>
            <a:chExt cx="1461" cy="1434"/>
          </a:xfrm>
        </p:grpSpPr>
        <p:sp>
          <p:nvSpPr>
            <p:cNvPr id="129033" name="Line 59"/>
            <p:cNvSpPr>
              <a:spLocks noChangeShapeType="1"/>
            </p:cNvSpPr>
            <p:nvPr/>
          </p:nvSpPr>
          <p:spPr bwMode="auto">
            <a:xfrm>
              <a:off x="1152" y="2880"/>
              <a:ext cx="8" cy="1322"/>
            </a:xfrm>
            <a:prstGeom prst="line">
              <a:avLst/>
            </a:prstGeom>
            <a:noFill/>
            <a:ln w="9525">
              <a:solidFill>
                <a:schemeClr val="tx1"/>
              </a:solidFill>
              <a:round/>
            </a:ln>
          </p:spPr>
          <p:txBody>
            <a:bodyPr wrap="none"/>
            <a:lstStyle/>
            <a:p>
              <a:endParaRPr lang="en-US"/>
            </a:p>
          </p:txBody>
        </p:sp>
        <p:sp>
          <p:nvSpPr>
            <p:cNvPr id="129034" name="Line 60"/>
            <p:cNvSpPr>
              <a:spLocks noChangeShapeType="1"/>
            </p:cNvSpPr>
            <p:nvPr/>
          </p:nvSpPr>
          <p:spPr bwMode="auto">
            <a:xfrm>
              <a:off x="357" y="3058"/>
              <a:ext cx="1363" cy="0"/>
            </a:xfrm>
            <a:prstGeom prst="line">
              <a:avLst/>
            </a:prstGeom>
            <a:noFill/>
            <a:ln w="9525">
              <a:solidFill>
                <a:schemeClr val="tx1"/>
              </a:solidFill>
              <a:round/>
            </a:ln>
          </p:spPr>
          <p:txBody>
            <a:bodyPr wrap="none"/>
            <a:lstStyle/>
            <a:p>
              <a:endParaRPr lang="en-US"/>
            </a:p>
          </p:txBody>
        </p:sp>
        <p:sp>
          <p:nvSpPr>
            <p:cNvPr id="129035" name="Text Box 61"/>
            <p:cNvSpPr txBox="1">
              <a:spLocks noChangeArrowheads="1"/>
            </p:cNvSpPr>
            <p:nvPr/>
          </p:nvSpPr>
          <p:spPr bwMode="auto">
            <a:xfrm>
              <a:off x="883" y="3060"/>
              <a:ext cx="188"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v</a:t>
              </a:r>
            </a:p>
          </p:txBody>
        </p:sp>
        <p:sp>
          <p:nvSpPr>
            <p:cNvPr id="129036" name="Text Box 62"/>
            <p:cNvSpPr txBox="1">
              <a:spLocks noChangeArrowheads="1"/>
            </p:cNvSpPr>
            <p:nvPr/>
          </p:nvSpPr>
          <p:spPr bwMode="auto">
            <a:xfrm>
              <a:off x="876" y="3247"/>
              <a:ext cx="188"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a:t>
              </a:r>
            </a:p>
          </p:txBody>
        </p:sp>
        <p:sp>
          <p:nvSpPr>
            <p:cNvPr id="129037" name="Text Box 63"/>
            <p:cNvSpPr txBox="1">
              <a:spLocks noChangeArrowheads="1"/>
            </p:cNvSpPr>
            <p:nvPr/>
          </p:nvSpPr>
          <p:spPr bwMode="auto">
            <a:xfrm>
              <a:off x="890" y="3482"/>
              <a:ext cx="188"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y</a:t>
              </a:r>
            </a:p>
          </p:txBody>
        </p:sp>
        <p:sp>
          <p:nvSpPr>
            <p:cNvPr id="129038" name="Text Box 64"/>
            <p:cNvSpPr txBox="1">
              <a:spLocks noChangeArrowheads="1"/>
            </p:cNvSpPr>
            <p:nvPr/>
          </p:nvSpPr>
          <p:spPr bwMode="auto">
            <a:xfrm>
              <a:off x="875" y="3717"/>
              <a:ext cx="220"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w</a:t>
              </a:r>
            </a:p>
          </p:txBody>
        </p:sp>
        <p:sp>
          <p:nvSpPr>
            <p:cNvPr id="129039" name="Text Box 65"/>
            <p:cNvSpPr txBox="1">
              <a:spLocks noChangeArrowheads="1"/>
            </p:cNvSpPr>
            <p:nvPr/>
          </p:nvSpPr>
          <p:spPr bwMode="auto">
            <a:xfrm>
              <a:off x="884" y="3943"/>
              <a:ext cx="188"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z</a:t>
              </a:r>
            </a:p>
          </p:txBody>
        </p:sp>
        <p:sp>
          <p:nvSpPr>
            <p:cNvPr id="129040" name="Text Box 66"/>
            <p:cNvSpPr txBox="1">
              <a:spLocks noChangeArrowheads="1"/>
            </p:cNvSpPr>
            <p:nvPr/>
          </p:nvSpPr>
          <p:spPr bwMode="auto">
            <a:xfrm>
              <a:off x="1248" y="3044"/>
              <a:ext cx="404"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(u,v)</a:t>
              </a:r>
            </a:p>
          </p:txBody>
        </p:sp>
        <p:sp>
          <p:nvSpPr>
            <p:cNvPr id="129041" name="Text Box 67"/>
            <p:cNvSpPr txBox="1">
              <a:spLocks noChangeArrowheads="1"/>
            </p:cNvSpPr>
            <p:nvPr/>
          </p:nvSpPr>
          <p:spPr bwMode="auto">
            <a:xfrm>
              <a:off x="1249" y="3246"/>
              <a:ext cx="404"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(u,x)</a:t>
              </a:r>
            </a:p>
          </p:txBody>
        </p:sp>
        <p:sp>
          <p:nvSpPr>
            <p:cNvPr id="129042" name="Text Box 68"/>
            <p:cNvSpPr txBox="1">
              <a:spLocks noChangeArrowheads="1"/>
            </p:cNvSpPr>
            <p:nvPr/>
          </p:nvSpPr>
          <p:spPr bwMode="auto">
            <a:xfrm>
              <a:off x="1248" y="3497"/>
              <a:ext cx="404"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(u,x)</a:t>
              </a:r>
            </a:p>
          </p:txBody>
        </p:sp>
        <p:sp>
          <p:nvSpPr>
            <p:cNvPr id="129043" name="Text Box 69"/>
            <p:cNvSpPr txBox="1">
              <a:spLocks noChangeArrowheads="1"/>
            </p:cNvSpPr>
            <p:nvPr/>
          </p:nvSpPr>
          <p:spPr bwMode="auto">
            <a:xfrm>
              <a:off x="1264" y="3715"/>
              <a:ext cx="404"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(u,x)</a:t>
              </a:r>
            </a:p>
          </p:txBody>
        </p:sp>
        <p:sp>
          <p:nvSpPr>
            <p:cNvPr id="129044" name="Text Box 70"/>
            <p:cNvSpPr txBox="1">
              <a:spLocks noChangeArrowheads="1"/>
            </p:cNvSpPr>
            <p:nvPr/>
          </p:nvSpPr>
          <p:spPr bwMode="auto">
            <a:xfrm>
              <a:off x="1254" y="3949"/>
              <a:ext cx="404"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(u,x)</a:t>
              </a:r>
            </a:p>
          </p:txBody>
        </p:sp>
        <p:sp>
          <p:nvSpPr>
            <p:cNvPr id="129045" name="Text Box 71"/>
            <p:cNvSpPr txBox="1">
              <a:spLocks noChangeArrowheads="1"/>
            </p:cNvSpPr>
            <p:nvPr/>
          </p:nvSpPr>
          <p:spPr bwMode="auto">
            <a:xfrm>
              <a:off x="259" y="2768"/>
              <a:ext cx="812"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destination</a:t>
              </a:r>
            </a:p>
          </p:txBody>
        </p:sp>
        <p:sp>
          <p:nvSpPr>
            <p:cNvPr id="129046" name="Text Box 72"/>
            <p:cNvSpPr txBox="1">
              <a:spLocks noChangeArrowheads="1"/>
            </p:cNvSpPr>
            <p:nvPr/>
          </p:nvSpPr>
          <p:spPr bwMode="auto">
            <a:xfrm>
              <a:off x="1232" y="2791"/>
              <a:ext cx="332"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link</a:t>
              </a:r>
            </a:p>
          </p:txBody>
        </p:sp>
      </p:grpSp>
      <p:sp>
        <p:nvSpPr>
          <p:cNvPr id="129031" name="Text Box 73"/>
          <p:cNvSpPr txBox="1">
            <a:spLocks noChangeArrowheads="1"/>
          </p:cNvSpPr>
          <p:nvPr/>
        </p:nvSpPr>
        <p:spPr bwMode="auto">
          <a:xfrm>
            <a:off x="525463" y="3743325"/>
            <a:ext cx="3949700" cy="4572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a:latin typeface="Gill Sans MT" pitchFamily="34" charset="0"/>
              </a:rPr>
              <a:t>resulting forwarding table in u:</a:t>
            </a:r>
          </a:p>
        </p:txBody>
      </p:sp>
      <p:pic>
        <p:nvPicPr>
          <p:cNvPr id="129032" name="Picture 7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0075" y="860425"/>
            <a:ext cx="7313613" cy="173038"/>
          </a:xfrm>
          <a:prstGeom prst="rect">
            <a:avLst/>
          </a:prstGeom>
          <a:noFill/>
          <a:ln>
            <a:noFill/>
          </a:ln>
        </p:spPr>
      </p:pic>
      <p:sp>
        <p:nvSpPr>
          <p:cNvPr id="77"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40</a:t>
            </a:fld>
            <a:endParaRPr lang="en-US" sz="1200" dirty="0">
              <a:latin typeface="Tahoma" panose="020B0604030504040204" charset="0"/>
            </a:endParaRPr>
          </a:p>
        </p:txBody>
      </p:sp>
      <p:sp>
        <p:nvSpPr>
          <p:cNvPr id="78"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1" name="Picture 22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325" y="836613"/>
            <a:ext cx="6856413" cy="173037"/>
          </a:xfrm>
          <a:prstGeom prst="rect">
            <a:avLst/>
          </a:prstGeom>
          <a:noFill/>
          <a:ln>
            <a:noFill/>
          </a:ln>
        </p:spPr>
      </p:pic>
      <p:sp>
        <p:nvSpPr>
          <p:cNvPr id="130052" name="Rectangle 2"/>
          <p:cNvSpPr>
            <a:spLocks noGrp="1" noChangeArrowheads="1"/>
          </p:cNvSpPr>
          <p:nvPr>
            <p:ph type="title"/>
          </p:nvPr>
        </p:nvSpPr>
        <p:spPr>
          <a:xfrm>
            <a:off x="533400" y="252413"/>
            <a:ext cx="7772400" cy="685800"/>
          </a:xfrm>
        </p:spPr>
        <p:txBody>
          <a:bodyPr/>
          <a:lstStyle/>
          <a:p>
            <a:r>
              <a:rPr lang="en-US" sz="4000">
                <a:latin typeface="Gill Sans MT" pitchFamily="34" charset="0"/>
              </a:rPr>
              <a:t>Dijkstra</a:t>
            </a:r>
            <a:r>
              <a:rPr lang="ja-JP" altLang="en-US" sz="4000">
                <a:latin typeface="Gill Sans MT" pitchFamily="34" charset="0"/>
              </a:rPr>
              <a:t>’</a:t>
            </a:r>
            <a:r>
              <a:rPr lang="en-US" altLang="ja-JP" sz="4000">
                <a:latin typeface="Gill Sans MT" pitchFamily="34" charset="0"/>
              </a:rPr>
              <a:t>s algorithm, discussion</a:t>
            </a:r>
            <a:endParaRPr lang="en-US">
              <a:latin typeface="Gill Sans MT" pitchFamily="34" charset="0"/>
            </a:endParaRPr>
          </a:p>
        </p:txBody>
      </p:sp>
      <p:sp>
        <p:nvSpPr>
          <p:cNvPr id="84998" name="Rectangle 3"/>
          <p:cNvSpPr>
            <a:spLocks noGrp="1" noChangeArrowheads="1"/>
          </p:cNvSpPr>
          <p:nvPr>
            <p:ph type="body" sz="half" idx="1"/>
          </p:nvPr>
        </p:nvSpPr>
        <p:spPr>
          <a:xfrm>
            <a:off x="668655" y="1129665"/>
            <a:ext cx="7963535" cy="2651125"/>
          </a:xfrm>
        </p:spPr>
        <p:txBody>
          <a:bodyPr/>
          <a:lstStyle/>
          <a:p>
            <a:pPr>
              <a:lnSpc>
                <a:spcPct val="90000"/>
              </a:lnSpc>
              <a:buFont typeface="Wingdings" panose="05000000000000000000" charset="0"/>
              <a:buNone/>
              <a:defRPr/>
            </a:pPr>
            <a:r>
              <a:rPr lang="en-US" i="1" dirty="0">
                <a:solidFill>
                  <a:srgbClr val="CC0000"/>
                </a:solidFill>
                <a:cs typeface="+mn-cs"/>
              </a:rPr>
              <a:t>algorithm complexity:</a:t>
            </a:r>
            <a:r>
              <a:rPr lang="en-US" dirty="0">
                <a:solidFill>
                  <a:srgbClr val="FF0000"/>
                </a:solidFill>
                <a:cs typeface="+mn-cs"/>
              </a:rPr>
              <a:t> </a:t>
            </a:r>
            <a:r>
              <a:rPr lang="en-US" dirty="0">
                <a:cs typeface="+mn-cs"/>
              </a:rPr>
              <a:t>n nodes</a:t>
            </a:r>
          </a:p>
          <a:p>
            <a:pPr>
              <a:lnSpc>
                <a:spcPct val="90000"/>
              </a:lnSpc>
              <a:defRPr/>
            </a:pPr>
            <a:r>
              <a:rPr lang="en-US" sz="2400" dirty="0">
                <a:cs typeface="+mn-cs"/>
              </a:rPr>
              <a:t>each iteration: need to check all nodes, w, not in N</a:t>
            </a:r>
          </a:p>
          <a:p>
            <a:pPr>
              <a:lnSpc>
                <a:spcPct val="90000"/>
              </a:lnSpc>
              <a:defRPr/>
            </a:pPr>
            <a:r>
              <a:rPr lang="en-US" sz="2400" dirty="0">
                <a:cs typeface="+mn-cs"/>
              </a:rPr>
              <a:t>n(n+1)/2 comparisons: O(n</a:t>
            </a:r>
            <a:r>
              <a:rPr lang="en-US" sz="2400" baseline="30000" dirty="0">
                <a:cs typeface="+mn-cs"/>
              </a:rPr>
              <a:t>2</a:t>
            </a:r>
            <a:r>
              <a:rPr lang="en-US" sz="2400" dirty="0">
                <a:cs typeface="+mn-cs"/>
              </a:rPr>
              <a:t>)</a:t>
            </a:r>
          </a:p>
          <a:p>
            <a:pPr>
              <a:lnSpc>
                <a:spcPct val="90000"/>
              </a:lnSpc>
              <a:defRPr/>
            </a:pPr>
            <a:r>
              <a:rPr lang="en-US" sz="2400" dirty="0">
                <a:cs typeface="+mn-cs"/>
              </a:rPr>
              <a:t>more efficient implementations possible: O(</a:t>
            </a:r>
            <a:r>
              <a:rPr lang="en-US" sz="2400" dirty="0" err="1">
                <a:cs typeface="+mn-cs"/>
              </a:rPr>
              <a:t>nlogn</a:t>
            </a:r>
            <a:r>
              <a:rPr lang="en-US" sz="2400" dirty="0">
                <a:cs typeface="+mn-cs"/>
              </a:rPr>
              <a:t>)</a:t>
            </a:r>
          </a:p>
          <a:p>
            <a:pPr>
              <a:lnSpc>
                <a:spcPct val="90000"/>
              </a:lnSpc>
              <a:spcBef>
                <a:spcPct val="40000"/>
              </a:spcBef>
              <a:buFont typeface="Wingdings" panose="05000000000000000000" charset="0"/>
              <a:buNone/>
              <a:defRPr/>
            </a:pPr>
            <a:r>
              <a:rPr lang="en-US" i="1" dirty="0">
                <a:solidFill>
                  <a:srgbClr val="CC0000"/>
                </a:solidFill>
                <a:cs typeface="+mn-cs"/>
              </a:rPr>
              <a:t>oscillations possible:</a:t>
            </a:r>
          </a:p>
          <a:p>
            <a:pPr>
              <a:lnSpc>
                <a:spcPct val="90000"/>
              </a:lnSpc>
              <a:defRPr/>
            </a:pPr>
            <a:r>
              <a:rPr lang="en-US" sz="2400" dirty="0">
                <a:cs typeface="+mn-cs"/>
              </a:rPr>
              <a:t>e.g., support link cost equals amount of carried traffic:</a:t>
            </a:r>
          </a:p>
        </p:txBody>
      </p:sp>
      <p:sp>
        <p:nvSpPr>
          <p:cNvPr id="130054" name="Freeform 5"/>
          <p:cNvSpPr/>
          <p:nvPr/>
        </p:nvSpPr>
        <p:spPr bwMode="auto">
          <a:xfrm>
            <a:off x="283528" y="4141788"/>
            <a:ext cx="1971675" cy="1355725"/>
          </a:xfrm>
          <a:custGeom>
            <a:avLst/>
            <a:gdLst>
              <a:gd name="T0" fmla="*/ 2147483647 w 1242"/>
              <a:gd name="T1" fmla="*/ 2147483647 h 854"/>
              <a:gd name="T2" fmla="*/ 2147483647 w 1242"/>
              <a:gd name="T3" fmla="*/ 2147483647 h 854"/>
              <a:gd name="T4" fmla="*/ 2147483647 w 1242"/>
              <a:gd name="T5" fmla="*/ 2147483647 h 854"/>
              <a:gd name="T6" fmla="*/ 2147483647 w 1242"/>
              <a:gd name="T7" fmla="*/ 2147483647 h 854"/>
              <a:gd name="T8" fmla="*/ 2147483647 w 1242"/>
              <a:gd name="T9" fmla="*/ 2147483647 h 854"/>
              <a:gd name="T10" fmla="*/ 2147483647 w 1242"/>
              <a:gd name="T11" fmla="*/ 2147483647 h 854"/>
              <a:gd name="T12" fmla="*/ 2147483647 w 1242"/>
              <a:gd name="T13" fmla="*/ 2147483647 h 854"/>
              <a:gd name="T14" fmla="*/ 2147483647 w 1242"/>
              <a:gd name="T15" fmla="*/ 2147483647 h 854"/>
              <a:gd name="T16" fmla="*/ 2147483647 w 1242"/>
              <a:gd name="T17" fmla="*/ 2147483647 h 854"/>
              <a:gd name="T18" fmla="*/ 2147483647 w 1242"/>
              <a:gd name="T19" fmla="*/ 214748364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42"/>
              <a:gd name="T31" fmla="*/ 0 h 854"/>
              <a:gd name="T32" fmla="*/ 1242 w 1242"/>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42" h="854">
                <a:moveTo>
                  <a:pt x="1" y="381"/>
                </a:moveTo>
                <a:cubicBezTo>
                  <a:pt x="0" y="296"/>
                  <a:pt x="88" y="222"/>
                  <a:pt x="169" y="162"/>
                </a:cubicBezTo>
                <a:cubicBezTo>
                  <a:pt x="250" y="102"/>
                  <a:pt x="378" y="40"/>
                  <a:pt x="487" y="18"/>
                </a:cubicBezTo>
                <a:cubicBezTo>
                  <a:pt x="616" y="6"/>
                  <a:pt x="685" y="0"/>
                  <a:pt x="823" y="30"/>
                </a:cubicBezTo>
                <a:cubicBezTo>
                  <a:pt x="961" y="60"/>
                  <a:pt x="1121" y="165"/>
                  <a:pt x="1183" y="261"/>
                </a:cubicBezTo>
                <a:cubicBezTo>
                  <a:pt x="1242" y="357"/>
                  <a:pt x="1219" y="523"/>
                  <a:pt x="1177" y="609"/>
                </a:cubicBezTo>
                <a:cubicBezTo>
                  <a:pt x="1135" y="695"/>
                  <a:pt x="1049" y="742"/>
                  <a:pt x="928" y="780"/>
                </a:cubicBezTo>
                <a:cubicBezTo>
                  <a:pt x="807" y="818"/>
                  <a:pt x="573" y="854"/>
                  <a:pt x="448" y="837"/>
                </a:cubicBezTo>
                <a:cubicBezTo>
                  <a:pt x="323" y="820"/>
                  <a:pt x="252" y="751"/>
                  <a:pt x="178" y="675"/>
                </a:cubicBezTo>
                <a:cubicBezTo>
                  <a:pt x="104" y="599"/>
                  <a:pt x="2" y="466"/>
                  <a:pt x="1" y="381"/>
                </a:cubicBezTo>
                <a:close/>
              </a:path>
            </a:pathLst>
          </a:custGeom>
          <a:solidFill>
            <a:srgbClr val="66CCFF"/>
          </a:solidFill>
          <a:ln>
            <a:noFill/>
          </a:ln>
        </p:spPr>
        <p:txBody>
          <a:bodyPr wrap="none" anchor="ctr"/>
          <a:lstStyle/>
          <a:p>
            <a:endParaRPr lang="en-US"/>
          </a:p>
        </p:txBody>
      </p:sp>
      <p:sp>
        <p:nvSpPr>
          <p:cNvPr id="130055" name="Freeform 6"/>
          <p:cNvSpPr/>
          <p:nvPr/>
        </p:nvSpPr>
        <p:spPr bwMode="auto">
          <a:xfrm>
            <a:off x="685165" y="4479925"/>
            <a:ext cx="390525" cy="20955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grpSp>
        <p:nvGrpSpPr>
          <p:cNvPr id="130056" name="Group 7"/>
          <p:cNvGrpSpPr/>
          <p:nvPr/>
        </p:nvGrpSpPr>
        <p:grpSpPr bwMode="auto">
          <a:xfrm>
            <a:off x="991553" y="4162425"/>
            <a:ext cx="501650" cy="396875"/>
            <a:chOff x="1747" y="3190"/>
            <a:chExt cx="316" cy="250"/>
          </a:xfrm>
        </p:grpSpPr>
        <p:sp>
          <p:nvSpPr>
            <p:cNvPr id="130276" name="Oval 8"/>
            <p:cNvSpPr>
              <a:spLocks noChangeArrowheads="1"/>
            </p:cNvSpPr>
            <p:nvPr/>
          </p:nvSpPr>
          <p:spPr bwMode="auto">
            <a:xfrm>
              <a:off x="1750" y="3308"/>
              <a:ext cx="313" cy="81"/>
            </a:xfrm>
            <a:prstGeom prst="ellipse">
              <a:avLst/>
            </a:prstGeom>
            <a:solidFill>
              <a:schemeClr val="hlink"/>
            </a:solidFill>
            <a:ln w="12700">
              <a:solidFill>
                <a:schemeClr val="tx1"/>
              </a:solidFill>
              <a:round/>
            </a:ln>
          </p:spPr>
          <p:txBody>
            <a:bodyPr wrap="none" anchor="ctr"/>
            <a:lstStyle/>
            <a:p>
              <a:endParaRPr lang="en-US"/>
            </a:p>
          </p:txBody>
        </p:sp>
        <p:sp>
          <p:nvSpPr>
            <p:cNvPr id="130277" name="Line 9"/>
            <p:cNvSpPr>
              <a:spLocks noChangeShapeType="1"/>
            </p:cNvSpPr>
            <p:nvPr/>
          </p:nvSpPr>
          <p:spPr bwMode="auto">
            <a:xfrm>
              <a:off x="1750" y="3301"/>
              <a:ext cx="0" cy="50"/>
            </a:xfrm>
            <a:prstGeom prst="line">
              <a:avLst/>
            </a:prstGeom>
            <a:noFill/>
            <a:ln w="12700">
              <a:solidFill>
                <a:schemeClr val="tx1"/>
              </a:solidFill>
              <a:round/>
            </a:ln>
          </p:spPr>
          <p:txBody>
            <a:bodyPr wrap="none" anchor="ctr"/>
            <a:lstStyle/>
            <a:p>
              <a:endParaRPr lang="en-US"/>
            </a:p>
          </p:txBody>
        </p:sp>
        <p:sp>
          <p:nvSpPr>
            <p:cNvPr id="130278" name="Line 10"/>
            <p:cNvSpPr>
              <a:spLocks noChangeShapeType="1"/>
            </p:cNvSpPr>
            <p:nvPr/>
          </p:nvSpPr>
          <p:spPr bwMode="auto">
            <a:xfrm>
              <a:off x="2063" y="3301"/>
              <a:ext cx="0" cy="50"/>
            </a:xfrm>
            <a:prstGeom prst="line">
              <a:avLst/>
            </a:prstGeom>
            <a:noFill/>
            <a:ln w="12700">
              <a:solidFill>
                <a:schemeClr val="tx1"/>
              </a:solidFill>
              <a:round/>
            </a:ln>
          </p:spPr>
          <p:txBody>
            <a:bodyPr wrap="none" anchor="ctr"/>
            <a:lstStyle/>
            <a:p>
              <a:endParaRPr lang="en-US"/>
            </a:p>
          </p:txBody>
        </p:sp>
        <p:sp>
          <p:nvSpPr>
            <p:cNvPr id="130279" name="Rectangle 11"/>
            <p:cNvSpPr>
              <a:spLocks noChangeArrowheads="1"/>
            </p:cNvSpPr>
            <p:nvPr/>
          </p:nvSpPr>
          <p:spPr bwMode="auto">
            <a:xfrm>
              <a:off x="1750" y="3301"/>
              <a:ext cx="310" cy="49"/>
            </a:xfrm>
            <a:prstGeom prst="rect">
              <a:avLst/>
            </a:prstGeom>
            <a:solidFill>
              <a:schemeClr val="hlink"/>
            </a:solidFill>
            <a:ln>
              <a:noFill/>
            </a:ln>
          </p:spPr>
          <p:txBody>
            <a:bodyPr wrap="none" anchor="ctr"/>
            <a:lstStyle/>
            <a:p>
              <a:pPr algn="ctr"/>
              <a:endParaRPr lang="en-US" sz="2400"/>
            </a:p>
          </p:txBody>
        </p:sp>
        <p:sp>
          <p:nvSpPr>
            <p:cNvPr id="130280" name="Oval 12"/>
            <p:cNvSpPr>
              <a:spLocks noChangeArrowheads="1"/>
            </p:cNvSpPr>
            <p:nvPr/>
          </p:nvSpPr>
          <p:spPr bwMode="auto">
            <a:xfrm>
              <a:off x="1747" y="3242"/>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0281" name="Group 13"/>
            <p:cNvGrpSpPr/>
            <p:nvPr/>
          </p:nvGrpSpPr>
          <p:grpSpPr bwMode="auto">
            <a:xfrm>
              <a:off x="1790" y="3190"/>
              <a:ext cx="223" cy="250"/>
              <a:chOff x="2945" y="2425"/>
              <a:chExt cx="226" cy="250"/>
            </a:xfrm>
          </p:grpSpPr>
          <p:sp>
            <p:nvSpPr>
              <p:cNvPr id="130282" name="Rectangle 14"/>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0283" name="Text Box 15"/>
              <p:cNvSpPr txBox="1">
                <a:spLocks noChangeArrowheads="1"/>
              </p:cNvSpPr>
              <p:nvPr/>
            </p:nvSpPr>
            <p:spPr bwMode="auto">
              <a:xfrm>
                <a:off x="2945" y="2425"/>
                <a:ext cx="226"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A</a:t>
                </a:r>
                <a:endParaRPr lang="en-US"/>
              </a:p>
            </p:txBody>
          </p:sp>
        </p:grpSp>
      </p:grpSp>
      <p:grpSp>
        <p:nvGrpSpPr>
          <p:cNvPr id="130057" name="Group 16"/>
          <p:cNvGrpSpPr/>
          <p:nvPr/>
        </p:nvGrpSpPr>
        <p:grpSpPr bwMode="auto">
          <a:xfrm>
            <a:off x="343853" y="4567238"/>
            <a:ext cx="501650" cy="396875"/>
            <a:chOff x="2221" y="3571"/>
            <a:chExt cx="316" cy="250"/>
          </a:xfrm>
        </p:grpSpPr>
        <p:sp>
          <p:nvSpPr>
            <p:cNvPr id="130268" name="Oval 17"/>
            <p:cNvSpPr>
              <a:spLocks noChangeArrowheads="1"/>
            </p:cNvSpPr>
            <p:nvPr/>
          </p:nvSpPr>
          <p:spPr bwMode="auto">
            <a:xfrm>
              <a:off x="2224" y="3695"/>
              <a:ext cx="313" cy="81"/>
            </a:xfrm>
            <a:prstGeom prst="ellipse">
              <a:avLst/>
            </a:prstGeom>
            <a:solidFill>
              <a:schemeClr val="hlink"/>
            </a:solidFill>
            <a:ln w="12700">
              <a:solidFill>
                <a:schemeClr val="tx1"/>
              </a:solidFill>
              <a:round/>
            </a:ln>
          </p:spPr>
          <p:txBody>
            <a:bodyPr wrap="none" anchor="ctr"/>
            <a:lstStyle/>
            <a:p>
              <a:endParaRPr lang="en-US"/>
            </a:p>
          </p:txBody>
        </p:sp>
        <p:sp>
          <p:nvSpPr>
            <p:cNvPr id="130269" name="Line 18"/>
            <p:cNvSpPr>
              <a:spLocks noChangeShapeType="1"/>
            </p:cNvSpPr>
            <p:nvPr/>
          </p:nvSpPr>
          <p:spPr bwMode="auto">
            <a:xfrm>
              <a:off x="2224" y="3688"/>
              <a:ext cx="0" cy="50"/>
            </a:xfrm>
            <a:prstGeom prst="line">
              <a:avLst/>
            </a:prstGeom>
            <a:noFill/>
            <a:ln w="12700">
              <a:solidFill>
                <a:schemeClr val="tx1"/>
              </a:solidFill>
              <a:round/>
            </a:ln>
          </p:spPr>
          <p:txBody>
            <a:bodyPr wrap="none" anchor="ctr"/>
            <a:lstStyle/>
            <a:p>
              <a:endParaRPr lang="en-US"/>
            </a:p>
          </p:txBody>
        </p:sp>
        <p:sp>
          <p:nvSpPr>
            <p:cNvPr id="130270" name="Line 19"/>
            <p:cNvSpPr>
              <a:spLocks noChangeShapeType="1"/>
            </p:cNvSpPr>
            <p:nvPr/>
          </p:nvSpPr>
          <p:spPr bwMode="auto">
            <a:xfrm>
              <a:off x="2537" y="3688"/>
              <a:ext cx="0" cy="50"/>
            </a:xfrm>
            <a:prstGeom prst="line">
              <a:avLst/>
            </a:prstGeom>
            <a:noFill/>
            <a:ln w="12700">
              <a:solidFill>
                <a:schemeClr val="tx1"/>
              </a:solidFill>
              <a:round/>
            </a:ln>
          </p:spPr>
          <p:txBody>
            <a:bodyPr wrap="none" anchor="ctr"/>
            <a:lstStyle/>
            <a:p>
              <a:endParaRPr lang="en-US"/>
            </a:p>
          </p:txBody>
        </p:sp>
        <p:sp>
          <p:nvSpPr>
            <p:cNvPr id="130271" name="Rectangle 20"/>
            <p:cNvSpPr>
              <a:spLocks noChangeArrowheads="1"/>
            </p:cNvSpPr>
            <p:nvPr/>
          </p:nvSpPr>
          <p:spPr bwMode="auto">
            <a:xfrm>
              <a:off x="2224" y="3688"/>
              <a:ext cx="310" cy="49"/>
            </a:xfrm>
            <a:prstGeom prst="rect">
              <a:avLst/>
            </a:prstGeom>
            <a:solidFill>
              <a:schemeClr val="hlink"/>
            </a:solidFill>
            <a:ln>
              <a:noFill/>
            </a:ln>
          </p:spPr>
          <p:txBody>
            <a:bodyPr wrap="none" anchor="ctr"/>
            <a:lstStyle/>
            <a:p>
              <a:pPr algn="ctr"/>
              <a:endParaRPr lang="en-US" sz="2400"/>
            </a:p>
          </p:txBody>
        </p:sp>
        <p:sp>
          <p:nvSpPr>
            <p:cNvPr id="130272" name="Oval 21"/>
            <p:cNvSpPr>
              <a:spLocks noChangeArrowheads="1"/>
            </p:cNvSpPr>
            <p:nvPr/>
          </p:nvSpPr>
          <p:spPr bwMode="auto">
            <a:xfrm>
              <a:off x="2221" y="3629"/>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0273" name="Group 22"/>
            <p:cNvGrpSpPr/>
            <p:nvPr/>
          </p:nvGrpSpPr>
          <p:grpSpPr bwMode="auto">
            <a:xfrm>
              <a:off x="2275" y="3571"/>
              <a:ext cx="232" cy="250"/>
              <a:chOff x="2941" y="2425"/>
              <a:chExt cx="235" cy="250"/>
            </a:xfrm>
          </p:grpSpPr>
          <p:sp>
            <p:nvSpPr>
              <p:cNvPr id="130274" name="Rectangle 23"/>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30275" name="Text Box 24"/>
              <p:cNvSpPr txBox="1">
                <a:spLocks noChangeArrowheads="1"/>
              </p:cNvSpPr>
              <p:nvPr/>
            </p:nvSpPr>
            <p:spPr bwMode="auto">
              <a:xfrm>
                <a:off x="2941"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D</a:t>
                </a:r>
                <a:endParaRPr lang="en-US"/>
              </a:p>
            </p:txBody>
          </p:sp>
        </p:grpSp>
      </p:grpSp>
      <p:grpSp>
        <p:nvGrpSpPr>
          <p:cNvPr id="130058" name="Group 25"/>
          <p:cNvGrpSpPr/>
          <p:nvPr/>
        </p:nvGrpSpPr>
        <p:grpSpPr bwMode="auto">
          <a:xfrm>
            <a:off x="978853" y="5029200"/>
            <a:ext cx="500062" cy="396875"/>
            <a:chOff x="2903" y="2884"/>
            <a:chExt cx="315" cy="250"/>
          </a:xfrm>
        </p:grpSpPr>
        <p:grpSp>
          <p:nvGrpSpPr>
            <p:cNvPr id="130259" name="Group 26"/>
            <p:cNvGrpSpPr/>
            <p:nvPr/>
          </p:nvGrpSpPr>
          <p:grpSpPr bwMode="auto">
            <a:xfrm>
              <a:off x="2903" y="2938"/>
              <a:ext cx="315" cy="144"/>
              <a:chOff x="2903" y="2938"/>
              <a:chExt cx="315" cy="144"/>
            </a:xfrm>
          </p:grpSpPr>
          <p:sp>
            <p:nvSpPr>
              <p:cNvPr id="130263" name="Oval 27"/>
              <p:cNvSpPr>
                <a:spLocks noChangeArrowheads="1"/>
              </p:cNvSpPr>
              <p:nvPr/>
            </p:nvSpPr>
            <p:spPr bwMode="auto">
              <a:xfrm>
                <a:off x="2903" y="3001"/>
                <a:ext cx="312" cy="81"/>
              </a:xfrm>
              <a:prstGeom prst="ellipse">
                <a:avLst/>
              </a:prstGeom>
              <a:solidFill>
                <a:schemeClr val="hlink"/>
              </a:solidFill>
              <a:ln w="12700">
                <a:solidFill>
                  <a:schemeClr val="tx1"/>
                </a:solidFill>
                <a:round/>
              </a:ln>
            </p:spPr>
            <p:txBody>
              <a:bodyPr wrap="none" anchor="ctr"/>
              <a:lstStyle/>
              <a:p>
                <a:endParaRPr lang="en-US"/>
              </a:p>
            </p:txBody>
          </p:sp>
          <p:sp>
            <p:nvSpPr>
              <p:cNvPr id="130264" name="Line 28"/>
              <p:cNvSpPr>
                <a:spLocks noChangeShapeType="1"/>
              </p:cNvSpPr>
              <p:nvPr/>
            </p:nvSpPr>
            <p:spPr bwMode="auto">
              <a:xfrm>
                <a:off x="2903" y="2994"/>
                <a:ext cx="0" cy="50"/>
              </a:xfrm>
              <a:prstGeom prst="line">
                <a:avLst/>
              </a:prstGeom>
              <a:noFill/>
              <a:ln w="12700">
                <a:solidFill>
                  <a:schemeClr val="tx1"/>
                </a:solidFill>
                <a:round/>
              </a:ln>
            </p:spPr>
            <p:txBody>
              <a:bodyPr wrap="none" anchor="ctr"/>
              <a:lstStyle/>
              <a:p>
                <a:endParaRPr lang="en-US"/>
              </a:p>
            </p:txBody>
          </p:sp>
          <p:sp>
            <p:nvSpPr>
              <p:cNvPr id="130265" name="Line 29"/>
              <p:cNvSpPr>
                <a:spLocks noChangeShapeType="1"/>
              </p:cNvSpPr>
              <p:nvPr/>
            </p:nvSpPr>
            <p:spPr bwMode="auto">
              <a:xfrm>
                <a:off x="3215" y="2994"/>
                <a:ext cx="0" cy="50"/>
              </a:xfrm>
              <a:prstGeom prst="line">
                <a:avLst/>
              </a:prstGeom>
              <a:noFill/>
              <a:ln w="12700">
                <a:solidFill>
                  <a:schemeClr val="tx1"/>
                </a:solidFill>
                <a:round/>
              </a:ln>
            </p:spPr>
            <p:txBody>
              <a:bodyPr wrap="none" anchor="ctr"/>
              <a:lstStyle/>
              <a:p>
                <a:endParaRPr lang="en-US"/>
              </a:p>
            </p:txBody>
          </p:sp>
          <p:sp>
            <p:nvSpPr>
              <p:cNvPr id="130266" name="Rectangle 30"/>
              <p:cNvSpPr>
                <a:spLocks noChangeArrowheads="1"/>
              </p:cNvSpPr>
              <p:nvPr/>
            </p:nvSpPr>
            <p:spPr bwMode="auto">
              <a:xfrm>
                <a:off x="2903" y="2994"/>
                <a:ext cx="309" cy="49"/>
              </a:xfrm>
              <a:prstGeom prst="rect">
                <a:avLst/>
              </a:prstGeom>
              <a:solidFill>
                <a:schemeClr val="hlink"/>
              </a:solidFill>
              <a:ln>
                <a:noFill/>
              </a:ln>
            </p:spPr>
            <p:txBody>
              <a:bodyPr wrap="none" anchor="ctr"/>
              <a:lstStyle/>
              <a:p>
                <a:pPr algn="ctr"/>
                <a:endParaRPr lang="en-US" sz="2400"/>
              </a:p>
            </p:txBody>
          </p:sp>
          <p:sp>
            <p:nvSpPr>
              <p:cNvPr id="130267" name="Oval 31"/>
              <p:cNvSpPr>
                <a:spLocks noChangeArrowheads="1"/>
              </p:cNvSpPr>
              <p:nvPr/>
            </p:nvSpPr>
            <p:spPr bwMode="auto">
              <a:xfrm>
                <a:off x="2906" y="2938"/>
                <a:ext cx="312" cy="95"/>
              </a:xfrm>
              <a:prstGeom prst="ellipse">
                <a:avLst/>
              </a:prstGeom>
              <a:solidFill>
                <a:schemeClr val="hlink"/>
              </a:solidFill>
              <a:ln w="12700">
                <a:solidFill>
                  <a:schemeClr val="tx1"/>
                </a:solidFill>
                <a:round/>
              </a:ln>
            </p:spPr>
            <p:txBody>
              <a:bodyPr wrap="none" anchor="ctr"/>
              <a:lstStyle/>
              <a:p>
                <a:endParaRPr lang="en-US"/>
              </a:p>
            </p:txBody>
          </p:sp>
        </p:grpSp>
        <p:grpSp>
          <p:nvGrpSpPr>
            <p:cNvPr id="130260" name="Group 32"/>
            <p:cNvGrpSpPr/>
            <p:nvPr/>
          </p:nvGrpSpPr>
          <p:grpSpPr bwMode="auto">
            <a:xfrm>
              <a:off x="2949" y="2884"/>
              <a:ext cx="232" cy="250"/>
              <a:chOff x="2940" y="2425"/>
              <a:chExt cx="235" cy="250"/>
            </a:xfrm>
          </p:grpSpPr>
          <p:sp>
            <p:nvSpPr>
              <p:cNvPr id="130261" name="Rectangle 33"/>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30262" name="Text Box 34"/>
              <p:cNvSpPr txBox="1">
                <a:spLocks noChangeArrowheads="1"/>
              </p:cNvSpPr>
              <p:nvPr/>
            </p:nvSpPr>
            <p:spPr bwMode="auto">
              <a:xfrm>
                <a:off x="2940"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C</a:t>
                </a:r>
                <a:endParaRPr lang="en-US"/>
              </a:p>
            </p:txBody>
          </p:sp>
        </p:grpSp>
      </p:grpSp>
      <p:grpSp>
        <p:nvGrpSpPr>
          <p:cNvPr id="130059" name="Group 35"/>
          <p:cNvGrpSpPr/>
          <p:nvPr/>
        </p:nvGrpSpPr>
        <p:grpSpPr bwMode="auto">
          <a:xfrm>
            <a:off x="1632903" y="4581525"/>
            <a:ext cx="501650" cy="396875"/>
            <a:chOff x="2217" y="2884"/>
            <a:chExt cx="316" cy="250"/>
          </a:xfrm>
        </p:grpSpPr>
        <p:sp>
          <p:nvSpPr>
            <p:cNvPr id="130251" name="Oval 36"/>
            <p:cNvSpPr>
              <a:spLocks noChangeArrowheads="1"/>
            </p:cNvSpPr>
            <p:nvPr/>
          </p:nvSpPr>
          <p:spPr bwMode="auto">
            <a:xfrm>
              <a:off x="2220" y="3005"/>
              <a:ext cx="313" cy="81"/>
            </a:xfrm>
            <a:prstGeom prst="ellipse">
              <a:avLst/>
            </a:prstGeom>
            <a:solidFill>
              <a:schemeClr val="hlink"/>
            </a:solidFill>
            <a:ln w="12700">
              <a:solidFill>
                <a:schemeClr val="tx1"/>
              </a:solidFill>
              <a:round/>
            </a:ln>
          </p:spPr>
          <p:txBody>
            <a:bodyPr wrap="none" anchor="ctr"/>
            <a:lstStyle/>
            <a:p>
              <a:endParaRPr lang="en-US"/>
            </a:p>
          </p:txBody>
        </p:sp>
        <p:sp>
          <p:nvSpPr>
            <p:cNvPr id="130252" name="Line 37"/>
            <p:cNvSpPr>
              <a:spLocks noChangeShapeType="1"/>
            </p:cNvSpPr>
            <p:nvPr/>
          </p:nvSpPr>
          <p:spPr bwMode="auto">
            <a:xfrm>
              <a:off x="2220" y="2998"/>
              <a:ext cx="0" cy="50"/>
            </a:xfrm>
            <a:prstGeom prst="line">
              <a:avLst/>
            </a:prstGeom>
            <a:noFill/>
            <a:ln w="12700">
              <a:solidFill>
                <a:schemeClr val="tx1"/>
              </a:solidFill>
              <a:round/>
            </a:ln>
          </p:spPr>
          <p:txBody>
            <a:bodyPr wrap="none" anchor="ctr"/>
            <a:lstStyle/>
            <a:p>
              <a:endParaRPr lang="en-US"/>
            </a:p>
          </p:txBody>
        </p:sp>
        <p:sp>
          <p:nvSpPr>
            <p:cNvPr id="130253" name="Line 38"/>
            <p:cNvSpPr>
              <a:spLocks noChangeShapeType="1"/>
            </p:cNvSpPr>
            <p:nvPr/>
          </p:nvSpPr>
          <p:spPr bwMode="auto">
            <a:xfrm>
              <a:off x="2533" y="2998"/>
              <a:ext cx="0" cy="50"/>
            </a:xfrm>
            <a:prstGeom prst="line">
              <a:avLst/>
            </a:prstGeom>
            <a:noFill/>
            <a:ln w="12700">
              <a:solidFill>
                <a:schemeClr val="tx1"/>
              </a:solidFill>
              <a:round/>
            </a:ln>
          </p:spPr>
          <p:txBody>
            <a:bodyPr wrap="none" anchor="ctr"/>
            <a:lstStyle/>
            <a:p>
              <a:endParaRPr lang="en-US"/>
            </a:p>
          </p:txBody>
        </p:sp>
        <p:sp>
          <p:nvSpPr>
            <p:cNvPr id="130254" name="Rectangle 39"/>
            <p:cNvSpPr>
              <a:spLocks noChangeArrowheads="1"/>
            </p:cNvSpPr>
            <p:nvPr/>
          </p:nvSpPr>
          <p:spPr bwMode="auto">
            <a:xfrm>
              <a:off x="2220" y="2998"/>
              <a:ext cx="310" cy="49"/>
            </a:xfrm>
            <a:prstGeom prst="rect">
              <a:avLst/>
            </a:prstGeom>
            <a:solidFill>
              <a:schemeClr val="hlink"/>
            </a:solidFill>
            <a:ln>
              <a:noFill/>
            </a:ln>
          </p:spPr>
          <p:txBody>
            <a:bodyPr wrap="none" anchor="ctr"/>
            <a:lstStyle/>
            <a:p>
              <a:pPr algn="ctr"/>
              <a:endParaRPr lang="en-US" sz="2400"/>
            </a:p>
          </p:txBody>
        </p:sp>
        <p:sp>
          <p:nvSpPr>
            <p:cNvPr id="130255" name="Oval 40"/>
            <p:cNvSpPr>
              <a:spLocks noChangeArrowheads="1"/>
            </p:cNvSpPr>
            <p:nvPr/>
          </p:nvSpPr>
          <p:spPr bwMode="auto">
            <a:xfrm>
              <a:off x="2217" y="2939"/>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0256" name="Group 41"/>
            <p:cNvGrpSpPr/>
            <p:nvPr/>
          </p:nvGrpSpPr>
          <p:grpSpPr bwMode="auto">
            <a:xfrm>
              <a:off x="2270" y="2884"/>
              <a:ext cx="223" cy="250"/>
              <a:chOff x="2945" y="2425"/>
              <a:chExt cx="226" cy="250"/>
            </a:xfrm>
          </p:grpSpPr>
          <p:sp>
            <p:nvSpPr>
              <p:cNvPr id="130257" name="Rectangle 42"/>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0258" name="Text Box 43"/>
              <p:cNvSpPr txBox="1">
                <a:spLocks noChangeArrowheads="1"/>
              </p:cNvSpPr>
              <p:nvPr/>
            </p:nvSpPr>
            <p:spPr bwMode="auto">
              <a:xfrm>
                <a:off x="2945" y="2425"/>
                <a:ext cx="226"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B</a:t>
                </a:r>
                <a:endParaRPr lang="en-US"/>
              </a:p>
            </p:txBody>
          </p:sp>
        </p:grpSp>
      </p:grpSp>
      <p:sp>
        <p:nvSpPr>
          <p:cNvPr id="130060" name="Text Box 44"/>
          <p:cNvSpPr txBox="1">
            <a:spLocks noChangeArrowheads="1"/>
          </p:cNvSpPr>
          <p:nvPr/>
        </p:nvSpPr>
        <p:spPr bwMode="auto">
          <a:xfrm>
            <a:off x="686753" y="4333875"/>
            <a:ext cx="282575"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1</a:t>
            </a:r>
          </a:p>
        </p:txBody>
      </p:sp>
      <p:sp>
        <p:nvSpPr>
          <p:cNvPr id="130061" name="Freeform 45"/>
          <p:cNvSpPr/>
          <p:nvPr/>
        </p:nvSpPr>
        <p:spPr bwMode="auto">
          <a:xfrm flipH="1">
            <a:off x="1370965" y="4479925"/>
            <a:ext cx="338138" cy="204788"/>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062" name="Freeform 46"/>
          <p:cNvSpPr/>
          <p:nvPr/>
        </p:nvSpPr>
        <p:spPr bwMode="auto">
          <a:xfrm flipH="1" flipV="1">
            <a:off x="1385253" y="4894263"/>
            <a:ext cx="314325" cy="22860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triangle" w="med" len="med"/>
            <a:tailEnd type="none" w="med" len="med"/>
          </a:ln>
        </p:spPr>
        <p:txBody>
          <a:bodyPr wrap="none" anchor="ctr"/>
          <a:lstStyle/>
          <a:p>
            <a:endParaRPr lang="en-US"/>
          </a:p>
        </p:txBody>
      </p:sp>
      <p:sp>
        <p:nvSpPr>
          <p:cNvPr id="130063" name="Freeform 47"/>
          <p:cNvSpPr/>
          <p:nvPr/>
        </p:nvSpPr>
        <p:spPr bwMode="auto">
          <a:xfrm flipV="1">
            <a:off x="747078" y="4884738"/>
            <a:ext cx="323850" cy="24765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064" name="Text Box 48"/>
          <p:cNvSpPr txBox="1">
            <a:spLocks noChangeArrowheads="1"/>
          </p:cNvSpPr>
          <p:nvPr/>
        </p:nvSpPr>
        <p:spPr bwMode="auto">
          <a:xfrm>
            <a:off x="1515428" y="4343400"/>
            <a:ext cx="484187"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1+e</a:t>
            </a:r>
          </a:p>
        </p:txBody>
      </p:sp>
      <p:sp>
        <p:nvSpPr>
          <p:cNvPr id="130065" name="Text Box 49"/>
          <p:cNvSpPr txBox="1">
            <a:spLocks noChangeArrowheads="1"/>
          </p:cNvSpPr>
          <p:nvPr/>
        </p:nvSpPr>
        <p:spPr bwMode="auto">
          <a:xfrm>
            <a:off x="1521778" y="4933950"/>
            <a:ext cx="282575"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e</a:t>
            </a:r>
          </a:p>
        </p:txBody>
      </p:sp>
      <p:sp>
        <p:nvSpPr>
          <p:cNvPr id="130066" name="Text Box 50"/>
          <p:cNvSpPr txBox="1">
            <a:spLocks noChangeArrowheads="1"/>
          </p:cNvSpPr>
          <p:nvPr/>
        </p:nvSpPr>
        <p:spPr bwMode="auto">
          <a:xfrm>
            <a:off x="650240" y="4957763"/>
            <a:ext cx="282575"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0</a:t>
            </a:r>
          </a:p>
        </p:txBody>
      </p:sp>
      <p:sp>
        <p:nvSpPr>
          <p:cNvPr id="130067" name="Line 51"/>
          <p:cNvSpPr>
            <a:spLocks noChangeShapeType="1"/>
          </p:cNvSpPr>
          <p:nvPr/>
        </p:nvSpPr>
        <p:spPr bwMode="auto">
          <a:xfrm flipV="1">
            <a:off x="1218565" y="5351463"/>
            <a:ext cx="0" cy="400050"/>
          </a:xfrm>
          <a:prstGeom prst="line">
            <a:avLst/>
          </a:prstGeom>
          <a:noFill/>
          <a:ln w="19050">
            <a:solidFill>
              <a:srgbClr val="FF0000"/>
            </a:solidFill>
            <a:round/>
            <a:tailEnd type="triangle" w="med" len="med"/>
          </a:ln>
        </p:spPr>
        <p:txBody>
          <a:bodyPr wrap="none" anchor="ctr"/>
          <a:lstStyle/>
          <a:p>
            <a:endParaRPr lang="en-US"/>
          </a:p>
        </p:txBody>
      </p:sp>
      <p:sp>
        <p:nvSpPr>
          <p:cNvPr id="130068" name="Text Box 52"/>
          <p:cNvSpPr txBox="1">
            <a:spLocks noChangeArrowheads="1"/>
          </p:cNvSpPr>
          <p:nvPr/>
        </p:nvSpPr>
        <p:spPr bwMode="auto">
          <a:xfrm>
            <a:off x="974090" y="5559425"/>
            <a:ext cx="3111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solidFill>
                  <a:srgbClr val="FF0000"/>
                </a:solidFill>
              </a:rPr>
              <a:t>e</a:t>
            </a:r>
            <a:endParaRPr lang="en-US"/>
          </a:p>
        </p:txBody>
      </p:sp>
      <p:sp>
        <p:nvSpPr>
          <p:cNvPr id="130069" name="Line 53"/>
          <p:cNvSpPr>
            <a:spLocks noChangeShapeType="1"/>
          </p:cNvSpPr>
          <p:nvPr/>
        </p:nvSpPr>
        <p:spPr bwMode="auto">
          <a:xfrm flipH="1" flipV="1">
            <a:off x="399415" y="4884738"/>
            <a:ext cx="4763" cy="338137"/>
          </a:xfrm>
          <a:prstGeom prst="line">
            <a:avLst/>
          </a:prstGeom>
          <a:noFill/>
          <a:ln w="19050">
            <a:solidFill>
              <a:srgbClr val="FF0000"/>
            </a:solidFill>
            <a:round/>
            <a:tailEnd type="triangle" w="med" len="med"/>
          </a:ln>
        </p:spPr>
        <p:txBody>
          <a:bodyPr wrap="none" anchor="ctr"/>
          <a:lstStyle/>
          <a:p>
            <a:endParaRPr lang="en-US"/>
          </a:p>
        </p:txBody>
      </p:sp>
      <p:sp>
        <p:nvSpPr>
          <p:cNvPr id="130070" name="Text Box 54"/>
          <p:cNvSpPr txBox="1">
            <a:spLocks noChangeArrowheads="1"/>
          </p:cNvSpPr>
          <p:nvPr/>
        </p:nvSpPr>
        <p:spPr bwMode="auto">
          <a:xfrm>
            <a:off x="226378" y="5173663"/>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solidFill>
                  <a:srgbClr val="FF0000"/>
                </a:solidFill>
              </a:rPr>
              <a:t>1</a:t>
            </a:r>
            <a:endParaRPr lang="en-US"/>
          </a:p>
        </p:txBody>
      </p:sp>
      <p:sp>
        <p:nvSpPr>
          <p:cNvPr id="130071" name="Line 55"/>
          <p:cNvSpPr>
            <a:spLocks noChangeShapeType="1"/>
          </p:cNvSpPr>
          <p:nvPr/>
        </p:nvSpPr>
        <p:spPr bwMode="auto">
          <a:xfrm flipV="1">
            <a:off x="1918653" y="4918075"/>
            <a:ext cx="0" cy="428625"/>
          </a:xfrm>
          <a:prstGeom prst="line">
            <a:avLst/>
          </a:prstGeom>
          <a:noFill/>
          <a:ln w="19050">
            <a:solidFill>
              <a:srgbClr val="FF0000"/>
            </a:solidFill>
            <a:round/>
            <a:tailEnd type="triangle" w="med" len="med"/>
          </a:ln>
        </p:spPr>
        <p:txBody>
          <a:bodyPr wrap="none" anchor="ctr"/>
          <a:lstStyle/>
          <a:p>
            <a:endParaRPr lang="en-US"/>
          </a:p>
        </p:txBody>
      </p:sp>
      <p:sp>
        <p:nvSpPr>
          <p:cNvPr id="130072" name="Text Box 56"/>
          <p:cNvSpPr txBox="1">
            <a:spLocks noChangeArrowheads="1"/>
          </p:cNvSpPr>
          <p:nvPr/>
        </p:nvSpPr>
        <p:spPr bwMode="auto">
          <a:xfrm>
            <a:off x="1759903" y="5278438"/>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solidFill>
                  <a:srgbClr val="FF0000"/>
                </a:solidFill>
              </a:rPr>
              <a:t>1</a:t>
            </a:r>
            <a:endParaRPr lang="en-US"/>
          </a:p>
        </p:txBody>
      </p:sp>
      <p:sp>
        <p:nvSpPr>
          <p:cNvPr id="130073" name="Freeform 57"/>
          <p:cNvSpPr/>
          <p:nvPr/>
        </p:nvSpPr>
        <p:spPr bwMode="auto">
          <a:xfrm flipH="1" flipV="1">
            <a:off x="1290003" y="4851400"/>
            <a:ext cx="314325" cy="228600"/>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074" name="Freeform 58"/>
          <p:cNvSpPr/>
          <p:nvPr/>
        </p:nvSpPr>
        <p:spPr bwMode="auto">
          <a:xfrm flipH="1">
            <a:off x="837565" y="4860925"/>
            <a:ext cx="304800" cy="2190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075" name="Text Box 59"/>
          <p:cNvSpPr txBox="1">
            <a:spLocks noChangeArrowheads="1"/>
          </p:cNvSpPr>
          <p:nvPr/>
        </p:nvSpPr>
        <p:spPr bwMode="auto">
          <a:xfrm>
            <a:off x="935990" y="4738688"/>
            <a:ext cx="282575"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0</a:t>
            </a:r>
          </a:p>
        </p:txBody>
      </p:sp>
      <p:sp>
        <p:nvSpPr>
          <p:cNvPr id="130076" name="Text Box 60"/>
          <p:cNvSpPr txBox="1">
            <a:spLocks noChangeArrowheads="1"/>
          </p:cNvSpPr>
          <p:nvPr/>
        </p:nvSpPr>
        <p:spPr bwMode="auto">
          <a:xfrm>
            <a:off x="1278890" y="4730750"/>
            <a:ext cx="282575"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0</a:t>
            </a:r>
          </a:p>
        </p:txBody>
      </p:sp>
      <p:sp>
        <p:nvSpPr>
          <p:cNvPr id="130077" name="Text Box 211"/>
          <p:cNvSpPr txBox="1">
            <a:spLocks noChangeArrowheads="1"/>
          </p:cNvSpPr>
          <p:nvPr/>
        </p:nvSpPr>
        <p:spPr bwMode="auto">
          <a:xfrm>
            <a:off x="796290" y="5824538"/>
            <a:ext cx="949325" cy="3968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dirty="0">
                <a:solidFill>
                  <a:srgbClr val="000099"/>
                </a:solidFill>
              </a:rPr>
              <a:t>initially</a:t>
            </a:r>
            <a:endParaRPr lang="en-US" dirty="0">
              <a:solidFill>
                <a:srgbClr val="000099"/>
              </a:solidFill>
            </a:endParaRPr>
          </a:p>
        </p:txBody>
      </p:sp>
      <p:grpSp>
        <p:nvGrpSpPr>
          <p:cNvPr id="11" name="Group 298"/>
          <p:cNvGrpSpPr/>
          <p:nvPr/>
        </p:nvGrpSpPr>
        <p:grpSpPr bwMode="auto">
          <a:xfrm>
            <a:off x="2353628" y="4189413"/>
            <a:ext cx="2251074" cy="2227262"/>
            <a:chOff x="1711" y="2639"/>
            <a:chExt cx="1418" cy="1403"/>
          </a:xfrm>
        </p:grpSpPr>
        <p:sp>
          <p:nvSpPr>
            <p:cNvPr id="130203" name="Freeform 61"/>
            <p:cNvSpPr/>
            <p:nvPr/>
          </p:nvSpPr>
          <p:spPr bwMode="auto">
            <a:xfrm>
              <a:off x="1752" y="2639"/>
              <a:ext cx="1225" cy="854"/>
            </a:xfrm>
            <a:custGeom>
              <a:avLst/>
              <a:gdLst>
                <a:gd name="T0" fmla="*/ 0 w 1225"/>
                <a:gd name="T1" fmla="*/ 387 h 854"/>
                <a:gd name="T2" fmla="*/ 168 w 1225"/>
                <a:gd name="T3" fmla="*/ 162 h 854"/>
                <a:gd name="T4" fmla="*/ 486 w 1225"/>
                <a:gd name="T5" fmla="*/ 18 h 854"/>
                <a:gd name="T6" fmla="*/ 822 w 1225"/>
                <a:gd name="T7" fmla="*/ 30 h 854"/>
                <a:gd name="T8" fmla="*/ 1152 w 1225"/>
                <a:gd name="T9" fmla="*/ 267 h 854"/>
                <a:gd name="T10" fmla="*/ 1188 w 1225"/>
                <a:gd name="T11" fmla="*/ 537 h 854"/>
                <a:gd name="T12" fmla="*/ 927 w 1225"/>
                <a:gd name="T13" fmla="*/ 780 h 854"/>
                <a:gd name="T14" fmla="*/ 447 w 1225"/>
                <a:gd name="T15" fmla="*/ 837 h 854"/>
                <a:gd name="T16" fmla="*/ 177 w 1225"/>
                <a:gd name="T17" fmla="*/ 675 h 854"/>
                <a:gd name="T18" fmla="*/ 0 w 1225"/>
                <a:gd name="T19" fmla="*/ 38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5"/>
                <a:gd name="T31" fmla="*/ 0 h 854"/>
                <a:gd name="T32" fmla="*/ 1225 w 1225"/>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5" h="854">
                  <a:moveTo>
                    <a:pt x="0" y="387"/>
                  </a:moveTo>
                  <a:cubicBezTo>
                    <a:pt x="0" y="243"/>
                    <a:pt x="87" y="223"/>
                    <a:pt x="168" y="162"/>
                  </a:cubicBezTo>
                  <a:cubicBezTo>
                    <a:pt x="249" y="101"/>
                    <a:pt x="377" y="40"/>
                    <a:pt x="486" y="18"/>
                  </a:cubicBezTo>
                  <a:cubicBezTo>
                    <a:pt x="615" y="6"/>
                    <a:pt x="684" y="0"/>
                    <a:pt x="822" y="30"/>
                  </a:cubicBezTo>
                  <a:cubicBezTo>
                    <a:pt x="960" y="60"/>
                    <a:pt x="1099" y="169"/>
                    <a:pt x="1152" y="267"/>
                  </a:cubicBezTo>
                  <a:cubicBezTo>
                    <a:pt x="1213" y="351"/>
                    <a:pt x="1225" y="452"/>
                    <a:pt x="1188" y="537"/>
                  </a:cubicBezTo>
                  <a:cubicBezTo>
                    <a:pt x="1151" y="622"/>
                    <a:pt x="1050" y="730"/>
                    <a:pt x="927" y="780"/>
                  </a:cubicBezTo>
                  <a:cubicBezTo>
                    <a:pt x="804" y="830"/>
                    <a:pt x="572" y="854"/>
                    <a:pt x="447" y="837"/>
                  </a:cubicBezTo>
                  <a:cubicBezTo>
                    <a:pt x="322" y="820"/>
                    <a:pt x="251" y="750"/>
                    <a:pt x="177" y="675"/>
                  </a:cubicBezTo>
                  <a:cubicBezTo>
                    <a:pt x="103" y="600"/>
                    <a:pt x="0" y="531"/>
                    <a:pt x="0" y="387"/>
                  </a:cubicBezTo>
                  <a:close/>
                </a:path>
              </a:pathLst>
            </a:custGeom>
            <a:solidFill>
              <a:srgbClr val="66CCFF"/>
            </a:solidFill>
            <a:ln>
              <a:noFill/>
            </a:ln>
          </p:spPr>
          <p:txBody>
            <a:bodyPr wrap="none" anchor="ctr"/>
            <a:lstStyle/>
            <a:p>
              <a:endParaRPr lang="en-US"/>
            </a:p>
          </p:txBody>
        </p:sp>
        <p:sp>
          <p:nvSpPr>
            <p:cNvPr id="130204" name="Freeform 62"/>
            <p:cNvSpPr/>
            <p:nvPr/>
          </p:nvSpPr>
          <p:spPr bwMode="auto">
            <a:xfrm>
              <a:off x="2010" y="2852"/>
              <a:ext cx="246" cy="132"/>
            </a:xfrm>
            <a:custGeom>
              <a:avLst/>
              <a:gdLst>
                <a:gd name="T0" fmla="*/ 0 w 342"/>
                <a:gd name="T1" fmla="*/ 9 h 186"/>
                <a:gd name="T2" fmla="*/ 1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grpSp>
          <p:nvGrpSpPr>
            <p:cNvPr id="130205" name="Group 63"/>
            <p:cNvGrpSpPr/>
            <p:nvPr/>
          </p:nvGrpSpPr>
          <p:grpSpPr bwMode="auto">
            <a:xfrm>
              <a:off x="2203" y="2652"/>
              <a:ext cx="316" cy="250"/>
              <a:chOff x="1747" y="3190"/>
              <a:chExt cx="316" cy="250"/>
            </a:xfrm>
          </p:grpSpPr>
          <p:sp>
            <p:nvSpPr>
              <p:cNvPr id="130243" name="Oval 64"/>
              <p:cNvSpPr>
                <a:spLocks noChangeArrowheads="1"/>
              </p:cNvSpPr>
              <p:nvPr/>
            </p:nvSpPr>
            <p:spPr bwMode="auto">
              <a:xfrm>
                <a:off x="1750" y="3308"/>
                <a:ext cx="313" cy="81"/>
              </a:xfrm>
              <a:prstGeom prst="ellipse">
                <a:avLst/>
              </a:prstGeom>
              <a:solidFill>
                <a:schemeClr val="hlink"/>
              </a:solidFill>
              <a:ln w="12700">
                <a:solidFill>
                  <a:schemeClr val="tx1"/>
                </a:solidFill>
                <a:round/>
              </a:ln>
            </p:spPr>
            <p:txBody>
              <a:bodyPr wrap="none" anchor="ctr"/>
              <a:lstStyle/>
              <a:p>
                <a:endParaRPr lang="en-US"/>
              </a:p>
            </p:txBody>
          </p:sp>
          <p:sp>
            <p:nvSpPr>
              <p:cNvPr id="130244" name="Line 65"/>
              <p:cNvSpPr>
                <a:spLocks noChangeShapeType="1"/>
              </p:cNvSpPr>
              <p:nvPr/>
            </p:nvSpPr>
            <p:spPr bwMode="auto">
              <a:xfrm>
                <a:off x="1750" y="3301"/>
                <a:ext cx="0" cy="50"/>
              </a:xfrm>
              <a:prstGeom prst="line">
                <a:avLst/>
              </a:prstGeom>
              <a:noFill/>
              <a:ln w="12700">
                <a:solidFill>
                  <a:schemeClr val="tx1"/>
                </a:solidFill>
                <a:round/>
              </a:ln>
            </p:spPr>
            <p:txBody>
              <a:bodyPr wrap="none" anchor="ctr"/>
              <a:lstStyle/>
              <a:p>
                <a:endParaRPr lang="en-US"/>
              </a:p>
            </p:txBody>
          </p:sp>
          <p:sp>
            <p:nvSpPr>
              <p:cNvPr id="130245" name="Line 66"/>
              <p:cNvSpPr>
                <a:spLocks noChangeShapeType="1"/>
              </p:cNvSpPr>
              <p:nvPr/>
            </p:nvSpPr>
            <p:spPr bwMode="auto">
              <a:xfrm>
                <a:off x="2063" y="3301"/>
                <a:ext cx="0" cy="50"/>
              </a:xfrm>
              <a:prstGeom prst="line">
                <a:avLst/>
              </a:prstGeom>
              <a:noFill/>
              <a:ln w="12700">
                <a:solidFill>
                  <a:schemeClr val="tx1"/>
                </a:solidFill>
                <a:round/>
              </a:ln>
            </p:spPr>
            <p:txBody>
              <a:bodyPr wrap="none" anchor="ctr"/>
              <a:lstStyle/>
              <a:p>
                <a:endParaRPr lang="en-US"/>
              </a:p>
            </p:txBody>
          </p:sp>
          <p:sp>
            <p:nvSpPr>
              <p:cNvPr id="130246" name="Rectangle 67"/>
              <p:cNvSpPr>
                <a:spLocks noChangeArrowheads="1"/>
              </p:cNvSpPr>
              <p:nvPr/>
            </p:nvSpPr>
            <p:spPr bwMode="auto">
              <a:xfrm>
                <a:off x="1750" y="3301"/>
                <a:ext cx="310" cy="49"/>
              </a:xfrm>
              <a:prstGeom prst="rect">
                <a:avLst/>
              </a:prstGeom>
              <a:solidFill>
                <a:schemeClr val="hlink"/>
              </a:solidFill>
              <a:ln>
                <a:noFill/>
              </a:ln>
            </p:spPr>
            <p:txBody>
              <a:bodyPr wrap="none" anchor="ctr"/>
              <a:lstStyle/>
              <a:p>
                <a:pPr algn="ctr"/>
                <a:endParaRPr lang="en-US" sz="2400"/>
              </a:p>
            </p:txBody>
          </p:sp>
          <p:sp>
            <p:nvSpPr>
              <p:cNvPr id="130247" name="Oval 68"/>
              <p:cNvSpPr>
                <a:spLocks noChangeArrowheads="1"/>
              </p:cNvSpPr>
              <p:nvPr/>
            </p:nvSpPr>
            <p:spPr bwMode="auto">
              <a:xfrm>
                <a:off x="1747" y="3242"/>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0248" name="Group 69"/>
              <p:cNvGrpSpPr/>
              <p:nvPr/>
            </p:nvGrpSpPr>
            <p:grpSpPr bwMode="auto">
              <a:xfrm>
                <a:off x="1790" y="3190"/>
                <a:ext cx="223" cy="250"/>
                <a:chOff x="2945" y="2425"/>
                <a:chExt cx="226" cy="250"/>
              </a:xfrm>
            </p:grpSpPr>
            <p:sp>
              <p:nvSpPr>
                <p:cNvPr id="130249" name="Rectangle 70"/>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0250" name="Text Box 71"/>
                <p:cNvSpPr txBox="1">
                  <a:spLocks noChangeArrowheads="1"/>
                </p:cNvSpPr>
                <p:nvPr/>
              </p:nvSpPr>
              <p:spPr bwMode="auto">
                <a:xfrm>
                  <a:off x="2945" y="2425"/>
                  <a:ext cx="226"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A</a:t>
                  </a:r>
                  <a:endParaRPr lang="en-US"/>
                </a:p>
              </p:txBody>
            </p:sp>
          </p:grpSp>
        </p:grpSp>
        <p:grpSp>
          <p:nvGrpSpPr>
            <p:cNvPr id="130206" name="Group 72"/>
            <p:cNvGrpSpPr/>
            <p:nvPr/>
          </p:nvGrpSpPr>
          <p:grpSpPr bwMode="auto">
            <a:xfrm>
              <a:off x="1795" y="2907"/>
              <a:ext cx="316" cy="250"/>
              <a:chOff x="2221" y="3571"/>
              <a:chExt cx="316" cy="250"/>
            </a:xfrm>
          </p:grpSpPr>
          <p:sp>
            <p:nvSpPr>
              <p:cNvPr id="130235" name="Oval 73"/>
              <p:cNvSpPr>
                <a:spLocks noChangeArrowheads="1"/>
              </p:cNvSpPr>
              <p:nvPr/>
            </p:nvSpPr>
            <p:spPr bwMode="auto">
              <a:xfrm>
                <a:off x="2224" y="3695"/>
                <a:ext cx="313" cy="81"/>
              </a:xfrm>
              <a:prstGeom prst="ellipse">
                <a:avLst/>
              </a:prstGeom>
              <a:solidFill>
                <a:schemeClr val="hlink"/>
              </a:solidFill>
              <a:ln w="12700">
                <a:solidFill>
                  <a:schemeClr val="tx1"/>
                </a:solidFill>
                <a:round/>
              </a:ln>
            </p:spPr>
            <p:txBody>
              <a:bodyPr wrap="none" anchor="ctr"/>
              <a:lstStyle/>
              <a:p>
                <a:endParaRPr lang="en-US"/>
              </a:p>
            </p:txBody>
          </p:sp>
          <p:sp>
            <p:nvSpPr>
              <p:cNvPr id="130236" name="Line 74"/>
              <p:cNvSpPr>
                <a:spLocks noChangeShapeType="1"/>
              </p:cNvSpPr>
              <p:nvPr/>
            </p:nvSpPr>
            <p:spPr bwMode="auto">
              <a:xfrm>
                <a:off x="2224" y="3688"/>
                <a:ext cx="0" cy="50"/>
              </a:xfrm>
              <a:prstGeom prst="line">
                <a:avLst/>
              </a:prstGeom>
              <a:noFill/>
              <a:ln w="12700">
                <a:solidFill>
                  <a:schemeClr val="tx1"/>
                </a:solidFill>
                <a:round/>
              </a:ln>
            </p:spPr>
            <p:txBody>
              <a:bodyPr wrap="none" anchor="ctr"/>
              <a:lstStyle/>
              <a:p>
                <a:endParaRPr lang="en-US"/>
              </a:p>
            </p:txBody>
          </p:sp>
          <p:sp>
            <p:nvSpPr>
              <p:cNvPr id="130237" name="Line 75"/>
              <p:cNvSpPr>
                <a:spLocks noChangeShapeType="1"/>
              </p:cNvSpPr>
              <p:nvPr/>
            </p:nvSpPr>
            <p:spPr bwMode="auto">
              <a:xfrm>
                <a:off x="2537" y="3688"/>
                <a:ext cx="0" cy="50"/>
              </a:xfrm>
              <a:prstGeom prst="line">
                <a:avLst/>
              </a:prstGeom>
              <a:noFill/>
              <a:ln w="12700">
                <a:solidFill>
                  <a:schemeClr val="tx1"/>
                </a:solidFill>
                <a:round/>
              </a:ln>
            </p:spPr>
            <p:txBody>
              <a:bodyPr wrap="none" anchor="ctr"/>
              <a:lstStyle/>
              <a:p>
                <a:endParaRPr lang="en-US"/>
              </a:p>
            </p:txBody>
          </p:sp>
          <p:sp>
            <p:nvSpPr>
              <p:cNvPr id="130238" name="Rectangle 76"/>
              <p:cNvSpPr>
                <a:spLocks noChangeArrowheads="1"/>
              </p:cNvSpPr>
              <p:nvPr/>
            </p:nvSpPr>
            <p:spPr bwMode="auto">
              <a:xfrm>
                <a:off x="2224" y="3688"/>
                <a:ext cx="310" cy="49"/>
              </a:xfrm>
              <a:prstGeom prst="rect">
                <a:avLst/>
              </a:prstGeom>
              <a:solidFill>
                <a:schemeClr val="hlink"/>
              </a:solidFill>
              <a:ln>
                <a:noFill/>
              </a:ln>
            </p:spPr>
            <p:txBody>
              <a:bodyPr wrap="none" anchor="ctr"/>
              <a:lstStyle/>
              <a:p>
                <a:pPr algn="ctr"/>
                <a:endParaRPr lang="en-US" sz="2400"/>
              </a:p>
            </p:txBody>
          </p:sp>
          <p:sp>
            <p:nvSpPr>
              <p:cNvPr id="130239" name="Oval 77"/>
              <p:cNvSpPr>
                <a:spLocks noChangeArrowheads="1"/>
              </p:cNvSpPr>
              <p:nvPr/>
            </p:nvSpPr>
            <p:spPr bwMode="auto">
              <a:xfrm>
                <a:off x="2221" y="3629"/>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0240" name="Group 78"/>
              <p:cNvGrpSpPr/>
              <p:nvPr/>
            </p:nvGrpSpPr>
            <p:grpSpPr bwMode="auto">
              <a:xfrm>
                <a:off x="2275" y="3571"/>
                <a:ext cx="232" cy="250"/>
                <a:chOff x="2941" y="2425"/>
                <a:chExt cx="235" cy="250"/>
              </a:xfrm>
            </p:grpSpPr>
            <p:sp>
              <p:nvSpPr>
                <p:cNvPr id="130241" name="Rectangle 79"/>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30242" name="Text Box 80"/>
                <p:cNvSpPr txBox="1">
                  <a:spLocks noChangeArrowheads="1"/>
                </p:cNvSpPr>
                <p:nvPr/>
              </p:nvSpPr>
              <p:spPr bwMode="auto">
                <a:xfrm>
                  <a:off x="2941"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D</a:t>
                  </a:r>
                  <a:endParaRPr lang="en-US"/>
                </a:p>
              </p:txBody>
            </p:sp>
          </p:grpSp>
        </p:grpSp>
        <p:grpSp>
          <p:nvGrpSpPr>
            <p:cNvPr id="130207" name="Group 81"/>
            <p:cNvGrpSpPr/>
            <p:nvPr/>
          </p:nvGrpSpPr>
          <p:grpSpPr bwMode="auto">
            <a:xfrm>
              <a:off x="2195" y="3198"/>
              <a:ext cx="315" cy="250"/>
              <a:chOff x="2903" y="2884"/>
              <a:chExt cx="315" cy="250"/>
            </a:xfrm>
          </p:grpSpPr>
          <p:grpSp>
            <p:nvGrpSpPr>
              <p:cNvPr id="130226" name="Group 82"/>
              <p:cNvGrpSpPr/>
              <p:nvPr/>
            </p:nvGrpSpPr>
            <p:grpSpPr bwMode="auto">
              <a:xfrm>
                <a:off x="2903" y="2938"/>
                <a:ext cx="315" cy="144"/>
                <a:chOff x="2903" y="2938"/>
                <a:chExt cx="315" cy="144"/>
              </a:xfrm>
            </p:grpSpPr>
            <p:sp>
              <p:nvSpPr>
                <p:cNvPr id="130230" name="Oval 83"/>
                <p:cNvSpPr>
                  <a:spLocks noChangeArrowheads="1"/>
                </p:cNvSpPr>
                <p:nvPr/>
              </p:nvSpPr>
              <p:spPr bwMode="auto">
                <a:xfrm>
                  <a:off x="2903" y="3001"/>
                  <a:ext cx="312" cy="81"/>
                </a:xfrm>
                <a:prstGeom prst="ellipse">
                  <a:avLst/>
                </a:prstGeom>
                <a:solidFill>
                  <a:schemeClr val="hlink"/>
                </a:solidFill>
                <a:ln w="12700">
                  <a:solidFill>
                    <a:schemeClr val="tx1"/>
                  </a:solidFill>
                  <a:round/>
                </a:ln>
              </p:spPr>
              <p:txBody>
                <a:bodyPr wrap="none" anchor="ctr"/>
                <a:lstStyle/>
                <a:p>
                  <a:endParaRPr lang="en-US"/>
                </a:p>
              </p:txBody>
            </p:sp>
            <p:sp>
              <p:nvSpPr>
                <p:cNvPr id="130231" name="Line 84"/>
                <p:cNvSpPr>
                  <a:spLocks noChangeShapeType="1"/>
                </p:cNvSpPr>
                <p:nvPr/>
              </p:nvSpPr>
              <p:spPr bwMode="auto">
                <a:xfrm>
                  <a:off x="2903" y="2994"/>
                  <a:ext cx="0" cy="50"/>
                </a:xfrm>
                <a:prstGeom prst="line">
                  <a:avLst/>
                </a:prstGeom>
                <a:noFill/>
                <a:ln w="12700">
                  <a:solidFill>
                    <a:schemeClr val="tx1"/>
                  </a:solidFill>
                  <a:round/>
                </a:ln>
              </p:spPr>
              <p:txBody>
                <a:bodyPr wrap="none" anchor="ctr"/>
                <a:lstStyle/>
                <a:p>
                  <a:endParaRPr lang="en-US"/>
                </a:p>
              </p:txBody>
            </p:sp>
            <p:sp>
              <p:nvSpPr>
                <p:cNvPr id="130232" name="Line 85"/>
                <p:cNvSpPr>
                  <a:spLocks noChangeShapeType="1"/>
                </p:cNvSpPr>
                <p:nvPr/>
              </p:nvSpPr>
              <p:spPr bwMode="auto">
                <a:xfrm>
                  <a:off x="3215" y="2994"/>
                  <a:ext cx="0" cy="50"/>
                </a:xfrm>
                <a:prstGeom prst="line">
                  <a:avLst/>
                </a:prstGeom>
                <a:noFill/>
                <a:ln w="12700">
                  <a:solidFill>
                    <a:schemeClr val="tx1"/>
                  </a:solidFill>
                  <a:round/>
                </a:ln>
              </p:spPr>
              <p:txBody>
                <a:bodyPr wrap="none" anchor="ctr"/>
                <a:lstStyle/>
                <a:p>
                  <a:endParaRPr lang="en-US"/>
                </a:p>
              </p:txBody>
            </p:sp>
            <p:sp>
              <p:nvSpPr>
                <p:cNvPr id="130233" name="Rectangle 86"/>
                <p:cNvSpPr>
                  <a:spLocks noChangeArrowheads="1"/>
                </p:cNvSpPr>
                <p:nvPr/>
              </p:nvSpPr>
              <p:spPr bwMode="auto">
                <a:xfrm>
                  <a:off x="2903" y="2994"/>
                  <a:ext cx="309" cy="49"/>
                </a:xfrm>
                <a:prstGeom prst="rect">
                  <a:avLst/>
                </a:prstGeom>
                <a:solidFill>
                  <a:schemeClr val="hlink"/>
                </a:solidFill>
                <a:ln>
                  <a:noFill/>
                </a:ln>
              </p:spPr>
              <p:txBody>
                <a:bodyPr wrap="none" anchor="ctr"/>
                <a:lstStyle/>
                <a:p>
                  <a:pPr algn="ctr"/>
                  <a:endParaRPr lang="en-US" sz="2400"/>
                </a:p>
              </p:txBody>
            </p:sp>
            <p:sp>
              <p:nvSpPr>
                <p:cNvPr id="130234" name="Oval 87"/>
                <p:cNvSpPr>
                  <a:spLocks noChangeArrowheads="1"/>
                </p:cNvSpPr>
                <p:nvPr/>
              </p:nvSpPr>
              <p:spPr bwMode="auto">
                <a:xfrm>
                  <a:off x="2906" y="2938"/>
                  <a:ext cx="312" cy="95"/>
                </a:xfrm>
                <a:prstGeom prst="ellipse">
                  <a:avLst/>
                </a:prstGeom>
                <a:solidFill>
                  <a:schemeClr val="hlink"/>
                </a:solidFill>
                <a:ln w="12700">
                  <a:solidFill>
                    <a:schemeClr val="tx1"/>
                  </a:solidFill>
                  <a:round/>
                </a:ln>
              </p:spPr>
              <p:txBody>
                <a:bodyPr wrap="none" anchor="ctr"/>
                <a:lstStyle/>
                <a:p>
                  <a:endParaRPr lang="en-US"/>
                </a:p>
              </p:txBody>
            </p:sp>
          </p:grpSp>
          <p:grpSp>
            <p:nvGrpSpPr>
              <p:cNvPr id="130227" name="Group 88"/>
              <p:cNvGrpSpPr/>
              <p:nvPr/>
            </p:nvGrpSpPr>
            <p:grpSpPr bwMode="auto">
              <a:xfrm>
                <a:off x="2949" y="2884"/>
                <a:ext cx="232" cy="250"/>
                <a:chOff x="2940" y="2425"/>
                <a:chExt cx="235" cy="250"/>
              </a:xfrm>
            </p:grpSpPr>
            <p:sp>
              <p:nvSpPr>
                <p:cNvPr id="130228" name="Rectangle 89"/>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30229" name="Text Box 90"/>
                <p:cNvSpPr txBox="1">
                  <a:spLocks noChangeArrowheads="1"/>
                </p:cNvSpPr>
                <p:nvPr/>
              </p:nvSpPr>
              <p:spPr bwMode="auto">
                <a:xfrm>
                  <a:off x="2940"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C</a:t>
                  </a:r>
                  <a:endParaRPr lang="en-US"/>
                </a:p>
              </p:txBody>
            </p:sp>
          </p:grpSp>
        </p:grpSp>
        <p:grpSp>
          <p:nvGrpSpPr>
            <p:cNvPr id="130208" name="Group 91"/>
            <p:cNvGrpSpPr/>
            <p:nvPr/>
          </p:nvGrpSpPr>
          <p:grpSpPr bwMode="auto">
            <a:xfrm>
              <a:off x="2607" y="2916"/>
              <a:ext cx="316" cy="250"/>
              <a:chOff x="2217" y="2884"/>
              <a:chExt cx="316" cy="250"/>
            </a:xfrm>
          </p:grpSpPr>
          <p:sp>
            <p:nvSpPr>
              <p:cNvPr id="130218" name="Oval 92"/>
              <p:cNvSpPr>
                <a:spLocks noChangeArrowheads="1"/>
              </p:cNvSpPr>
              <p:nvPr/>
            </p:nvSpPr>
            <p:spPr bwMode="auto">
              <a:xfrm>
                <a:off x="2220" y="3005"/>
                <a:ext cx="313" cy="81"/>
              </a:xfrm>
              <a:prstGeom prst="ellipse">
                <a:avLst/>
              </a:prstGeom>
              <a:solidFill>
                <a:schemeClr val="hlink"/>
              </a:solidFill>
              <a:ln w="12700">
                <a:solidFill>
                  <a:schemeClr val="tx1"/>
                </a:solidFill>
                <a:round/>
              </a:ln>
            </p:spPr>
            <p:txBody>
              <a:bodyPr wrap="none" anchor="ctr"/>
              <a:lstStyle/>
              <a:p>
                <a:endParaRPr lang="en-US"/>
              </a:p>
            </p:txBody>
          </p:sp>
          <p:sp>
            <p:nvSpPr>
              <p:cNvPr id="130219" name="Line 93"/>
              <p:cNvSpPr>
                <a:spLocks noChangeShapeType="1"/>
              </p:cNvSpPr>
              <p:nvPr/>
            </p:nvSpPr>
            <p:spPr bwMode="auto">
              <a:xfrm>
                <a:off x="2220" y="2998"/>
                <a:ext cx="0" cy="50"/>
              </a:xfrm>
              <a:prstGeom prst="line">
                <a:avLst/>
              </a:prstGeom>
              <a:noFill/>
              <a:ln w="12700">
                <a:solidFill>
                  <a:schemeClr val="tx1"/>
                </a:solidFill>
                <a:round/>
              </a:ln>
            </p:spPr>
            <p:txBody>
              <a:bodyPr wrap="none" anchor="ctr"/>
              <a:lstStyle/>
              <a:p>
                <a:endParaRPr lang="en-US"/>
              </a:p>
            </p:txBody>
          </p:sp>
          <p:sp>
            <p:nvSpPr>
              <p:cNvPr id="130220" name="Line 94"/>
              <p:cNvSpPr>
                <a:spLocks noChangeShapeType="1"/>
              </p:cNvSpPr>
              <p:nvPr/>
            </p:nvSpPr>
            <p:spPr bwMode="auto">
              <a:xfrm>
                <a:off x="2533" y="2998"/>
                <a:ext cx="0" cy="50"/>
              </a:xfrm>
              <a:prstGeom prst="line">
                <a:avLst/>
              </a:prstGeom>
              <a:noFill/>
              <a:ln w="12700">
                <a:solidFill>
                  <a:schemeClr val="tx1"/>
                </a:solidFill>
                <a:round/>
              </a:ln>
            </p:spPr>
            <p:txBody>
              <a:bodyPr wrap="none" anchor="ctr"/>
              <a:lstStyle/>
              <a:p>
                <a:endParaRPr lang="en-US"/>
              </a:p>
            </p:txBody>
          </p:sp>
          <p:sp>
            <p:nvSpPr>
              <p:cNvPr id="130221" name="Rectangle 95"/>
              <p:cNvSpPr>
                <a:spLocks noChangeArrowheads="1"/>
              </p:cNvSpPr>
              <p:nvPr/>
            </p:nvSpPr>
            <p:spPr bwMode="auto">
              <a:xfrm>
                <a:off x="2220" y="2998"/>
                <a:ext cx="310" cy="49"/>
              </a:xfrm>
              <a:prstGeom prst="rect">
                <a:avLst/>
              </a:prstGeom>
              <a:solidFill>
                <a:schemeClr val="hlink"/>
              </a:solidFill>
              <a:ln>
                <a:noFill/>
              </a:ln>
            </p:spPr>
            <p:txBody>
              <a:bodyPr wrap="none" anchor="ctr"/>
              <a:lstStyle/>
              <a:p>
                <a:pPr algn="ctr"/>
                <a:endParaRPr lang="en-US" sz="2400"/>
              </a:p>
            </p:txBody>
          </p:sp>
          <p:sp>
            <p:nvSpPr>
              <p:cNvPr id="130222" name="Oval 96"/>
              <p:cNvSpPr>
                <a:spLocks noChangeArrowheads="1"/>
              </p:cNvSpPr>
              <p:nvPr/>
            </p:nvSpPr>
            <p:spPr bwMode="auto">
              <a:xfrm>
                <a:off x="2217" y="2939"/>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0223" name="Group 97"/>
              <p:cNvGrpSpPr/>
              <p:nvPr/>
            </p:nvGrpSpPr>
            <p:grpSpPr bwMode="auto">
              <a:xfrm>
                <a:off x="2270" y="2884"/>
                <a:ext cx="223" cy="250"/>
                <a:chOff x="2945" y="2425"/>
                <a:chExt cx="226" cy="250"/>
              </a:xfrm>
            </p:grpSpPr>
            <p:sp>
              <p:nvSpPr>
                <p:cNvPr id="130224" name="Rectangle 98"/>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0225" name="Text Box 99"/>
                <p:cNvSpPr txBox="1">
                  <a:spLocks noChangeArrowheads="1"/>
                </p:cNvSpPr>
                <p:nvPr/>
              </p:nvSpPr>
              <p:spPr bwMode="auto">
                <a:xfrm>
                  <a:off x="2945" y="2425"/>
                  <a:ext cx="226"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B</a:t>
                  </a:r>
                  <a:endParaRPr lang="en-US"/>
                </a:p>
              </p:txBody>
            </p:sp>
          </p:grpSp>
        </p:grpSp>
        <p:sp>
          <p:nvSpPr>
            <p:cNvPr id="130209" name="Freeform 101"/>
            <p:cNvSpPr/>
            <p:nvPr/>
          </p:nvSpPr>
          <p:spPr bwMode="auto">
            <a:xfrm flipH="1">
              <a:off x="2505" y="2819"/>
              <a:ext cx="198" cy="156"/>
            </a:xfrm>
            <a:custGeom>
              <a:avLst/>
              <a:gdLst>
                <a:gd name="T0" fmla="*/ 0 w 342"/>
                <a:gd name="T1" fmla="*/ 39 h 186"/>
                <a:gd name="T2" fmla="*/ 3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210" name="Freeform 102"/>
            <p:cNvSpPr/>
            <p:nvPr/>
          </p:nvSpPr>
          <p:spPr bwMode="auto">
            <a:xfrm flipH="1" flipV="1">
              <a:off x="2484" y="3125"/>
              <a:ext cx="180" cy="141"/>
            </a:xfrm>
            <a:custGeom>
              <a:avLst/>
              <a:gdLst>
                <a:gd name="T0" fmla="*/ 0 w 342"/>
                <a:gd name="T1" fmla="*/ 15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triangle" w="med" len="med"/>
              <a:tailEnd type="none" w="med" len="med"/>
            </a:ln>
          </p:spPr>
          <p:txBody>
            <a:bodyPr wrap="none" anchor="ctr"/>
            <a:lstStyle/>
            <a:p>
              <a:endParaRPr lang="en-US"/>
            </a:p>
          </p:txBody>
        </p:sp>
        <p:sp>
          <p:nvSpPr>
            <p:cNvPr id="130211" name="Freeform 103"/>
            <p:cNvSpPr/>
            <p:nvPr/>
          </p:nvSpPr>
          <p:spPr bwMode="auto">
            <a:xfrm flipV="1">
              <a:off x="2031" y="3107"/>
              <a:ext cx="204" cy="156"/>
            </a:xfrm>
            <a:custGeom>
              <a:avLst/>
              <a:gdLst>
                <a:gd name="T0" fmla="*/ 0 w 342"/>
                <a:gd name="T1" fmla="*/ 39 h 186"/>
                <a:gd name="T2" fmla="*/ 4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212" name="Freeform 107"/>
            <p:cNvSpPr/>
            <p:nvPr/>
          </p:nvSpPr>
          <p:spPr bwMode="auto">
            <a:xfrm flipH="1" flipV="1">
              <a:off x="2400" y="3086"/>
              <a:ext cx="189" cy="153"/>
            </a:xfrm>
            <a:custGeom>
              <a:avLst/>
              <a:gdLst>
                <a:gd name="T0" fmla="*/ 0 w 342"/>
                <a:gd name="T1" fmla="*/ 32 h 186"/>
                <a:gd name="T2" fmla="*/ 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213" name="Freeform 108"/>
            <p:cNvSpPr/>
            <p:nvPr/>
          </p:nvSpPr>
          <p:spPr bwMode="auto">
            <a:xfrm flipH="1">
              <a:off x="2124" y="3083"/>
              <a:ext cx="174" cy="147"/>
            </a:xfrm>
            <a:custGeom>
              <a:avLst/>
              <a:gdLst>
                <a:gd name="T0" fmla="*/ 0 w 342"/>
                <a:gd name="T1" fmla="*/ 22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214" name="Text Box 212"/>
            <p:cNvSpPr txBox="1">
              <a:spLocks noChangeArrowheads="1"/>
            </p:cNvSpPr>
            <p:nvPr/>
          </p:nvSpPr>
          <p:spPr bwMode="auto">
            <a:xfrm>
              <a:off x="1711" y="3612"/>
              <a:ext cx="1418" cy="43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ct val="80000"/>
                </a:lnSpc>
              </a:pPr>
              <a:r>
                <a:rPr lang="en-US" sz="1600">
                  <a:solidFill>
                    <a:srgbClr val="000099"/>
                  </a:solidFill>
                  <a:latin typeface="Gill Sans MT" pitchFamily="34" charset="0"/>
                </a:rPr>
                <a:t>given these costs,</a:t>
              </a:r>
            </a:p>
            <a:p>
              <a:pPr algn="ctr">
                <a:lnSpc>
                  <a:spcPct val="80000"/>
                </a:lnSpc>
              </a:pPr>
              <a:r>
                <a:rPr lang="en-US" sz="1600">
                  <a:solidFill>
                    <a:srgbClr val="000099"/>
                  </a:solidFill>
                  <a:latin typeface="Gill Sans MT" pitchFamily="34" charset="0"/>
                </a:rPr>
                <a:t>find new routing….</a:t>
              </a:r>
            </a:p>
            <a:p>
              <a:pPr algn="ctr">
                <a:lnSpc>
                  <a:spcPct val="80000"/>
                </a:lnSpc>
              </a:pPr>
              <a:r>
                <a:rPr lang="en-US" sz="1600">
                  <a:solidFill>
                    <a:srgbClr val="000099"/>
                  </a:solidFill>
                  <a:latin typeface="Gill Sans MT" pitchFamily="34" charset="0"/>
                </a:rPr>
                <a:t>resulting in new costs</a:t>
              </a:r>
            </a:p>
          </p:txBody>
        </p:sp>
        <p:sp>
          <p:nvSpPr>
            <p:cNvPr id="130215" name="Line 215"/>
            <p:cNvSpPr>
              <a:spLocks noChangeShapeType="1"/>
            </p:cNvSpPr>
            <p:nvPr/>
          </p:nvSpPr>
          <p:spPr bwMode="auto">
            <a:xfrm flipV="1">
              <a:off x="2358" y="3407"/>
              <a:ext cx="0" cy="156"/>
            </a:xfrm>
            <a:prstGeom prst="line">
              <a:avLst/>
            </a:prstGeom>
            <a:noFill/>
            <a:ln w="19050">
              <a:solidFill>
                <a:srgbClr val="FF0000"/>
              </a:solidFill>
              <a:round/>
              <a:tailEnd type="triangle" w="med" len="med"/>
            </a:ln>
          </p:spPr>
          <p:txBody>
            <a:bodyPr wrap="none" anchor="ctr"/>
            <a:lstStyle/>
            <a:p>
              <a:endParaRPr lang="en-US"/>
            </a:p>
          </p:txBody>
        </p:sp>
        <p:sp>
          <p:nvSpPr>
            <p:cNvPr id="130216" name="Line 216"/>
            <p:cNvSpPr>
              <a:spLocks noChangeShapeType="1"/>
            </p:cNvSpPr>
            <p:nvPr/>
          </p:nvSpPr>
          <p:spPr bwMode="auto">
            <a:xfrm flipV="1">
              <a:off x="1938" y="3119"/>
              <a:ext cx="0" cy="156"/>
            </a:xfrm>
            <a:prstGeom prst="line">
              <a:avLst/>
            </a:prstGeom>
            <a:noFill/>
            <a:ln w="19050">
              <a:solidFill>
                <a:srgbClr val="FF0000"/>
              </a:solidFill>
              <a:round/>
              <a:tailEnd type="triangle" w="med" len="med"/>
            </a:ln>
          </p:spPr>
          <p:txBody>
            <a:bodyPr wrap="none" anchor="ctr"/>
            <a:lstStyle/>
            <a:p>
              <a:endParaRPr lang="en-US"/>
            </a:p>
          </p:txBody>
        </p:sp>
        <p:sp>
          <p:nvSpPr>
            <p:cNvPr id="130217" name="Line 217"/>
            <p:cNvSpPr>
              <a:spLocks noChangeShapeType="1"/>
            </p:cNvSpPr>
            <p:nvPr/>
          </p:nvSpPr>
          <p:spPr bwMode="auto">
            <a:xfrm flipV="1">
              <a:off x="2778" y="3122"/>
              <a:ext cx="0" cy="156"/>
            </a:xfrm>
            <a:prstGeom prst="line">
              <a:avLst/>
            </a:prstGeom>
            <a:noFill/>
            <a:ln w="19050">
              <a:solidFill>
                <a:srgbClr val="FF0000"/>
              </a:solidFill>
              <a:round/>
              <a:tailEnd type="triangle" w="med" len="med"/>
            </a:ln>
          </p:spPr>
          <p:txBody>
            <a:bodyPr wrap="none" anchor="ctr"/>
            <a:lstStyle/>
            <a:p>
              <a:endParaRPr lang="en-US"/>
            </a:p>
          </p:txBody>
        </p:sp>
      </p:grpSp>
      <p:sp>
        <p:nvSpPr>
          <p:cNvPr id="130079" name="Freeform 288"/>
          <p:cNvSpPr/>
          <p:nvPr/>
        </p:nvSpPr>
        <p:spPr bwMode="auto">
          <a:xfrm>
            <a:off x="1247140" y="4338638"/>
            <a:ext cx="609600" cy="828675"/>
          </a:xfrm>
          <a:custGeom>
            <a:avLst/>
            <a:gdLst>
              <a:gd name="T0" fmla="*/ 0 w 384"/>
              <a:gd name="T1" fmla="*/ 2147483647 h 522"/>
              <a:gd name="T2" fmla="*/ 2147483647 w 384"/>
              <a:gd name="T3" fmla="*/ 2147483647 h 522"/>
              <a:gd name="T4" fmla="*/ 2147483647 w 384"/>
              <a:gd name="T5" fmla="*/ 0 h 522"/>
              <a:gd name="T6" fmla="*/ 0 60000 65536"/>
              <a:gd name="T7" fmla="*/ 0 60000 65536"/>
              <a:gd name="T8" fmla="*/ 0 60000 65536"/>
              <a:gd name="T9" fmla="*/ 0 w 384"/>
              <a:gd name="T10" fmla="*/ 0 h 522"/>
              <a:gd name="T11" fmla="*/ 384 w 384"/>
              <a:gd name="T12" fmla="*/ 522 h 522"/>
            </a:gdLst>
            <a:ahLst/>
            <a:cxnLst>
              <a:cxn ang="T6">
                <a:pos x="T0" y="T1"/>
              </a:cxn>
              <a:cxn ang="T7">
                <a:pos x="T2" y="T3"/>
              </a:cxn>
              <a:cxn ang="T8">
                <a:pos x="T4" y="T5"/>
              </a:cxn>
            </a:cxnLst>
            <a:rect l="T9" t="T10" r="T11" b="T12"/>
            <a:pathLst>
              <a:path w="384" h="522">
                <a:moveTo>
                  <a:pt x="0" y="522"/>
                </a:moveTo>
                <a:lnTo>
                  <a:pt x="384" y="249"/>
                </a:lnTo>
                <a:lnTo>
                  <a:pt x="12" y="0"/>
                </a:lnTo>
              </a:path>
            </a:pathLst>
          </a:custGeom>
          <a:noFill/>
          <a:ln w="57150" cap="flat" cmpd="sng">
            <a:solidFill>
              <a:srgbClr val="CC0000"/>
            </a:solidFill>
            <a:prstDash val="solid"/>
            <a:round/>
            <a:headEnd type="none" w="med" len="med"/>
            <a:tailEnd type="triangle" w="med" len="med"/>
          </a:ln>
        </p:spPr>
        <p:txBody>
          <a:bodyPr wrap="none"/>
          <a:lstStyle/>
          <a:p>
            <a:endParaRPr lang="en-US"/>
          </a:p>
        </p:txBody>
      </p:sp>
      <p:sp>
        <p:nvSpPr>
          <p:cNvPr id="130080" name="Line 289"/>
          <p:cNvSpPr>
            <a:spLocks noChangeShapeType="1"/>
          </p:cNvSpPr>
          <p:nvPr/>
        </p:nvSpPr>
        <p:spPr bwMode="auto">
          <a:xfrm flipV="1">
            <a:off x="608965" y="4419600"/>
            <a:ext cx="447675" cy="242888"/>
          </a:xfrm>
          <a:prstGeom prst="line">
            <a:avLst/>
          </a:prstGeom>
          <a:noFill/>
          <a:ln w="57150">
            <a:solidFill>
              <a:srgbClr val="CC0000"/>
            </a:solidFill>
            <a:round/>
            <a:tailEnd type="triangle" w="med" len="med"/>
          </a:ln>
        </p:spPr>
        <p:txBody>
          <a:bodyPr wrap="none"/>
          <a:lstStyle/>
          <a:p>
            <a:endParaRPr lang="en-US"/>
          </a:p>
        </p:txBody>
      </p:sp>
      <p:sp>
        <p:nvSpPr>
          <p:cNvPr id="721186" name="Freeform 290"/>
          <p:cNvSpPr/>
          <p:nvPr/>
        </p:nvSpPr>
        <p:spPr bwMode="auto">
          <a:xfrm>
            <a:off x="2780665" y="4391025"/>
            <a:ext cx="1193800" cy="866775"/>
          </a:xfrm>
          <a:custGeom>
            <a:avLst/>
            <a:gdLst>
              <a:gd name="T0" fmla="*/ 2147483647 w 752"/>
              <a:gd name="T1" fmla="*/ 2147483647 h 546"/>
              <a:gd name="T2" fmla="*/ 2147483647 w 752"/>
              <a:gd name="T3" fmla="*/ 2147483647 h 546"/>
              <a:gd name="T4" fmla="*/ 0 w 752"/>
              <a:gd name="T5" fmla="*/ 2147483647 h 546"/>
              <a:gd name="T6" fmla="*/ 2147483647 w 752"/>
              <a:gd name="T7" fmla="*/ 0 h 546"/>
              <a:gd name="T8" fmla="*/ 0 60000 65536"/>
              <a:gd name="T9" fmla="*/ 0 60000 65536"/>
              <a:gd name="T10" fmla="*/ 0 60000 65536"/>
              <a:gd name="T11" fmla="*/ 0 60000 65536"/>
              <a:gd name="T12" fmla="*/ 0 w 752"/>
              <a:gd name="T13" fmla="*/ 0 h 546"/>
              <a:gd name="T14" fmla="*/ 752 w 752"/>
              <a:gd name="T15" fmla="*/ 546 h 546"/>
            </a:gdLst>
            <a:ahLst/>
            <a:cxnLst>
              <a:cxn ang="T8">
                <a:pos x="T0" y="T1"/>
              </a:cxn>
              <a:cxn ang="T9">
                <a:pos x="T2" y="T3"/>
              </a:cxn>
              <a:cxn ang="T10">
                <a:pos x="T4" y="T5"/>
              </a:cxn>
              <a:cxn ang="T11">
                <a:pos x="T6" y="T7"/>
              </a:cxn>
            </a:cxnLst>
            <a:rect l="T12" t="T13" r="T14" b="T15"/>
            <a:pathLst>
              <a:path w="752" h="546">
                <a:moveTo>
                  <a:pt x="752" y="264"/>
                </a:moveTo>
                <a:lnTo>
                  <a:pt x="383" y="546"/>
                </a:lnTo>
                <a:lnTo>
                  <a:pt x="0" y="248"/>
                </a:lnTo>
                <a:lnTo>
                  <a:pt x="383" y="0"/>
                </a:lnTo>
              </a:path>
            </a:pathLst>
          </a:custGeom>
          <a:noFill/>
          <a:ln w="57150" cap="flat" cmpd="sng">
            <a:solidFill>
              <a:srgbClr val="CC0000"/>
            </a:solidFill>
            <a:prstDash val="solid"/>
            <a:round/>
            <a:headEnd type="none" w="med" len="med"/>
            <a:tailEnd type="triangle" w="med" len="med"/>
          </a:ln>
        </p:spPr>
        <p:txBody>
          <a:bodyPr wrap="none"/>
          <a:lstStyle/>
          <a:p>
            <a:endParaRPr lang="en-US"/>
          </a:p>
        </p:txBody>
      </p:sp>
      <p:grpSp>
        <p:nvGrpSpPr>
          <p:cNvPr id="21" name="Group 291"/>
          <p:cNvGrpSpPr/>
          <p:nvPr/>
        </p:nvGrpSpPr>
        <p:grpSpPr bwMode="auto">
          <a:xfrm>
            <a:off x="2606040" y="4376738"/>
            <a:ext cx="1430338" cy="966787"/>
            <a:chOff x="1870" y="2772"/>
            <a:chExt cx="901" cy="609"/>
          </a:xfrm>
        </p:grpSpPr>
        <p:sp>
          <p:nvSpPr>
            <p:cNvPr id="130197" name="Text Box 292"/>
            <p:cNvSpPr txBox="1">
              <a:spLocks noChangeArrowheads="1"/>
            </p:cNvSpPr>
            <p:nvPr/>
          </p:nvSpPr>
          <p:spPr bwMode="auto">
            <a:xfrm>
              <a:off x="1870" y="2772"/>
              <a:ext cx="305"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2+e</a:t>
              </a:r>
            </a:p>
          </p:txBody>
        </p:sp>
        <p:sp>
          <p:nvSpPr>
            <p:cNvPr id="130198" name="Text Box 293"/>
            <p:cNvSpPr txBox="1">
              <a:spLocks noChangeArrowheads="1"/>
            </p:cNvSpPr>
            <p:nvPr/>
          </p:nvSpPr>
          <p:spPr bwMode="auto">
            <a:xfrm>
              <a:off x="2593" y="2793"/>
              <a:ext cx="178"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0</a:t>
              </a:r>
            </a:p>
          </p:txBody>
        </p:sp>
        <p:sp>
          <p:nvSpPr>
            <p:cNvPr id="130199" name="Text Box 294"/>
            <p:cNvSpPr txBox="1">
              <a:spLocks noChangeArrowheads="1"/>
            </p:cNvSpPr>
            <p:nvPr/>
          </p:nvSpPr>
          <p:spPr bwMode="auto">
            <a:xfrm>
              <a:off x="2501" y="3189"/>
              <a:ext cx="178"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0</a:t>
              </a:r>
            </a:p>
          </p:txBody>
        </p:sp>
        <p:sp>
          <p:nvSpPr>
            <p:cNvPr id="130200" name="Text Box 295"/>
            <p:cNvSpPr txBox="1">
              <a:spLocks noChangeArrowheads="1"/>
            </p:cNvSpPr>
            <p:nvPr/>
          </p:nvSpPr>
          <p:spPr bwMode="auto">
            <a:xfrm>
              <a:off x="1987" y="3153"/>
              <a:ext cx="178"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0</a:t>
              </a:r>
            </a:p>
          </p:txBody>
        </p:sp>
        <p:sp>
          <p:nvSpPr>
            <p:cNvPr id="130201" name="Text Box 296"/>
            <p:cNvSpPr txBox="1">
              <a:spLocks noChangeArrowheads="1"/>
            </p:cNvSpPr>
            <p:nvPr/>
          </p:nvSpPr>
          <p:spPr bwMode="auto">
            <a:xfrm>
              <a:off x="2135" y="3009"/>
              <a:ext cx="305"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1+e</a:t>
              </a:r>
            </a:p>
          </p:txBody>
        </p:sp>
        <p:sp>
          <p:nvSpPr>
            <p:cNvPr id="130202" name="Text Box 297"/>
            <p:cNvSpPr txBox="1">
              <a:spLocks noChangeArrowheads="1"/>
            </p:cNvSpPr>
            <p:nvPr/>
          </p:nvSpPr>
          <p:spPr bwMode="auto">
            <a:xfrm>
              <a:off x="2380" y="3003"/>
              <a:ext cx="178"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1</a:t>
              </a:r>
            </a:p>
          </p:txBody>
        </p:sp>
      </p:grpSp>
      <p:grpSp>
        <p:nvGrpSpPr>
          <p:cNvPr id="22" name="Group 299"/>
          <p:cNvGrpSpPr/>
          <p:nvPr/>
        </p:nvGrpSpPr>
        <p:grpSpPr bwMode="auto">
          <a:xfrm>
            <a:off x="4623753" y="4197350"/>
            <a:ext cx="2251074" cy="2227263"/>
            <a:chOff x="1711" y="2639"/>
            <a:chExt cx="1418" cy="1403"/>
          </a:xfrm>
        </p:grpSpPr>
        <p:sp>
          <p:nvSpPr>
            <p:cNvPr id="130149" name="Freeform 300"/>
            <p:cNvSpPr/>
            <p:nvPr/>
          </p:nvSpPr>
          <p:spPr bwMode="auto">
            <a:xfrm>
              <a:off x="1752" y="2639"/>
              <a:ext cx="1225" cy="854"/>
            </a:xfrm>
            <a:custGeom>
              <a:avLst/>
              <a:gdLst>
                <a:gd name="T0" fmla="*/ 0 w 1225"/>
                <a:gd name="T1" fmla="*/ 387 h 854"/>
                <a:gd name="T2" fmla="*/ 168 w 1225"/>
                <a:gd name="T3" fmla="*/ 162 h 854"/>
                <a:gd name="T4" fmla="*/ 486 w 1225"/>
                <a:gd name="T5" fmla="*/ 18 h 854"/>
                <a:gd name="T6" fmla="*/ 822 w 1225"/>
                <a:gd name="T7" fmla="*/ 30 h 854"/>
                <a:gd name="T8" fmla="*/ 1152 w 1225"/>
                <a:gd name="T9" fmla="*/ 267 h 854"/>
                <a:gd name="T10" fmla="*/ 1188 w 1225"/>
                <a:gd name="T11" fmla="*/ 537 h 854"/>
                <a:gd name="T12" fmla="*/ 927 w 1225"/>
                <a:gd name="T13" fmla="*/ 780 h 854"/>
                <a:gd name="T14" fmla="*/ 447 w 1225"/>
                <a:gd name="T15" fmla="*/ 837 h 854"/>
                <a:gd name="T16" fmla="*/ 177 w 1225"/>
                <a:gd name="T17" fmla="*/ 675 h 854"/>
                <a:gd name="T18" fmla="*/ 0 w 1225"/>
                <a:gd name="T19" fmla="*/ 38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5"/>
                <a:gd name="T31" fmla="*/ 0 h 854"/>
                <a:gd name="T32" fmla="*/ 1225 w 1225"/>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5" h="854">
                  <a:moveTo>
                    <a:pt x="0" y="387"/>
                  </a:moveTo>
                  <a:cubicBezTo>
                    <a:pt x="0" y="243"/>
                    <a:pt x="87" y="223"/>
                    <a:pt x="168" y="162"/>
                  </a:cubicBezTo>
                  <a:cubicBezTo>
                    <a:pt x="249" y="101"/>
                    <a:pt x="377" y="40"/>
                    <a:pt x="486" y="18"/>
                  </a:cubicBezTo>
                  <a:cubicBezTo>
                    <a:pt x="615" y="6"/>
                    <a:pt x="684" y="0"/>
                    <a:pt x="822" y="30"/>
                  </a:cubicBezTo>
                  <a:cubicBezTo>
                    <a:pt x="960" y="60"/>
                    <a:pt x="1099" y="169"/>
                    <a:pt x="1152" y="267"/>
                  </a:cubicBezTo>
                  <a:cubicBezTo>
                    <a:pt x="1213" y="351"/>
                    <a:pt x="1225" y="452"/>
                    <a:pt x="1188" y="537"/>
                  </a:cubicBezTo>
                  <a:cubicBezTo>
                    <a:pt x="1151" y="622"/>
                    <a:pt x="1050" y="730"/>
                    <a:pt x="927" y="780"/>
                  </a:cubicBezTo>
                  <a:cubicBezTo>
                    <a:pt x="804" y="830"/>
                    <a:pt x="572" y="854"/>
                    <a:pt x="447" y="837"/>
                  </a:cubicBezTo>
                  <a:cubicBezTo>
                    <a:pt x="322" y="820"/>
                    <a:pt x="251" y="750"/>
                    <a:pt x="177" y="675"/>
                  </a:cubicBezTo>
                  <a:cubicBezTo>
                    <a:pt x="103" y="600"/>
                    <a:pt x="0" y="531"/>
                    <a:pt x="0" y="387"/>
                  </a:cubicBezTo>
                  <a:close/>
                </a:path>
              </a:pathLst>
            </a:custGeom>
            <a:solidFill>
              <a:srgbClr val="66CCFF"/>
            </a:solidFill>
            <a:ln>
              <a:noFill/>
            </a:ln>
          </p:spPr>
          <p:txBody>
            <a:bodyPr wrap="none" anchor="ctr"/>
            <a:lstStyle/>
            <a:p>
              <a:endParaRPr lang="en-US"/>
            </a:p>
          </p:txBody>
        </p:sp>
        <p:sp>
          <p:nvSpPr>
            <p:cNvPr id="130150" name="Freeform 301"/>
            <p:cNvSpPr/>
            <p:nvPr/>
          </p:nvSpPr>
          <p:spPr bwMode="auto">
            <a:xfrm>
              <a:off x="2010" y="2852"/>
              <a:ext cx="246" cy="132"/>
            </a:xfrm>
            <a:custGeom>
              <a:avLst/>
              <a:gdLst>
                <a:gd name="T0" fmla="*/ 0 w 342"/>
                <a:gd name="T1" fmla="*/ 9 h 186"/>
                <a:gd name="T2" fmla="*/ 1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grpSp>
          <p:nvGrpSpPr>
            <p:cNvPr id="130151" name="Group 302"/>
            <p:cNvGrpSpPr/>
            <p:nvPr/>
          </p:nvGrpSpPr>
          <p:grpSpPr bwMode="auto">
            <a:xfrm>
              <a:off x="2203" y="2652"/>
              <a:ext cx="316" cy="250"/>
              <a:chOff x="1747" y="3190"/>
              <a:chExt cx="316" cy="250"/>
            </a:xfrm>
          </p:grpSpPr>
          <p:sp>
            <p:nvSpPr>
              <p:cNvPr id="130189" name="Oval 303"/>
              <p:cNvSpPr>
                <a:spLocks noChangeArrowheads="1"/>
              </p:cNvSpPr>
              <p:nvPr/>
            </p:nvSpPr>
            <p:spPr bwMode="auto">
              <a:xfrm>
                <a:off x="1750" y="3308"/>
                <a:ext cx="313" cy="81"/>
              </a:xfrm>
              <a:prstGeom prst="ellipse">
                <a:avLst/>
              </a:prstGeom>
              <a:solidFill>
                <a:schemeClr val="hlink"/>
              </a:solidFill>
              <a:ln w="12700">
                <a:solidFill>
                  <a:schemeClr val="tx1"/>
                </a:solidFill>
                <a:round/>
              </a:ln>
            </p:spPr>
            <p:txBody>
              <a:bodyPr wrap="none" anchor="ctr"/>
              <a:lstStyle/>
              <a:p>
                <a:endParaRPr lang="en-US"/>
              </a:p>
            </p:txBody>
          </p:sp>
          <p:sp>
            <p:nvSpPr>
              <p:cNvPr id="130190" name="Line 304"/>
              <p:cNvSpPr>
                <a:spLocks noChangeShapeType="1"/>
              </p:cNvSpPr>
              <p:nvPr/>
            </p:nvSpPr>
            <p:spPr bwMode="auto">
              <a:xfrm>
                <a:off x="1750" y="3301"/>
                <a:ext cx="0" cy="50"/>
              </a:xfrm>
              <a:prstGeom prst="line">
                <a:avLst/>
              </a:prstGeom>
              <a:noFill/>
              <a:ln w="12700">
                <a:solidFill>
                  <a:schemeClr val="tx1"/>
                </a:solidFill>
                <a:round/>
              </a:ln>
            </p:spPr>
            <p:txBody>
              <a:bodyPr wrap="none" anchor="ctr"/>
              <a:lstStyle/>
              <a:p>
                <a:endParaRPr lang="en-US"/>
              </a:p>
            </p:txBody>
          </p:sp>
          <p:sp>
            <p:nvSpPr>
              <p:cNvPr id="130191" name="Line 305"/>
              <p:cNvSpPr>
                <a:spLocks noChangeShapeType="1"/>
              </p:cNvSpPr>
              <p:nvPr/>
            </p:nvSpPr>
            <p:spPr bwMode="auto">
              <a:xfrm>
                <a:off x="2063" y="3301"/>
                <a:ext cx="0" cy="50"/>
              </a:xfrm>
              <a:prstGeom prst="line">
                <a:avLst/>
              </a:prstGeom>
              <a:noFill/>
              <a:ln w="12700">
                <a:solidFill>
                  <a:schemeClr val="tx1"/>
                </a:solidFill>
                <a:round/>
              </a:ln>
            </p:spPr>
            <p:txBody>
              <a:bodyPr wrap="none" anchor="ctr"/>
              <a:lstStyle/>
              <a:p>
                <a:endParaRPr lang="en-US"/>
              </a:p>
            </p:txBody>
          </p:sp>
          <p:sp>
            <p:nvSpPr>
              <p:cNvPr id="130192" name="Rectangle 306"/>
              <p:cNvSpPr>
                <a:spLocks noChangeArrowheads="1"/>
              </p:cNvSpPr>
              <p:nvPr/>
            </p:nvSpPr>
            <p:spPr bwMode="auto">
              <a:xfrm>
                <a:off x="1750" y="3301"/>
                <a:ext cx="310" cy="49"/>
              </a:xfrm>
              <a:prstGeom prst="rect">
                <a:avLst/>
              </a:prstGeom>
              <a:solidFill>
                <a:schemeClr val="hlink"/>
              </a:solidFill>
              <a:ln>
                <a:noFill/>
              </a:ln>
            </p:spPr>
            <p:txBody>
              <a:bodyPr wrap="none" anchor="ctr"/>
              <a:lstStyle/>
              <a:p>
                <a:pPr algn="ctr"/>
                <a:endParaRPr lang="en-US" sz="2400"/>
              </a:p>
            </p:txBody>
          </p:sp>
          <p:sp>
            <p:nvSpPr>
              <p:cNvPr id="130193" name="Oval 307"/>
              <p:cNvSpPr>
                <a:spLocks noChangeArrowheads="1"/>
              </p:cNvSpPr>
              <p:nvPr/>
            </p:nvSpPr>
            <p:spPr bwMode="auto">
              <a:xfrm>
                <a:off x="1747" y="3242"/>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0194" name="Group 308"/>
              <p:cNvGrpSpPr/>
              <p:nvPr/>
            </p:nvGrpSpPr>
            <p:grpSpPr bwMode="auto">
              <a:xfrm>
                <a:off x="1790" y="3190"/>
                <a:ext cx="223" cy="250"/>
                <a:chOff x="2945" y="2425"/>
                <a:chExt cx="226" cy="250"/>
              </a:xfrm>
            </p:grpSpPr>
            <p:sp>
              <p:nvSpPr>
                <p:cNvPr id="130195" name="Rectangle 309"/>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0196" name="Text Box 310"/>
                <p:cNvSpPr txBox="1">
                  <a:spLocks noChangeArrowheads="1"/>
                </p:cNvSpPr>
                <p:nvPr/>
              </p:nvSpPr>
              <p:spPr bwMode="auto">
                <a:xfrm>
                  <a:off x="2945" y="2425"/>
                  <a:ext cx="226"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A</a:t>
                  </a:r>
                  <a:endParaRPr lang="en-US"/>
                </a:p>
              </p:txBody>
            </p:sp>
          </p:grpSp>
        </p:grpSp>
        <p:grpSp>
          <p:nvGrpSpPr>
            <p:cNvPr id="130152" name="Group 311"/>
            <p:cNvGrpSpPr/>
            <p:nvPr/>
          </p:nvGrpSpPr>
          <p:grpSpPr bwMode="auto">
            <a:xfrm>
              <a:off x="1795" y="2907"/>
              <a:ext cx="316" cy="250"/>
              <a:chOff x="2221" y="3571"/>
              <a:chExt cx="316" cy="250"/>
            </a:xfrm>
          </p:grpSpPr>
          <p:sp>
            <p:nvSpPr>
              <p:cNvPr id="130181" name="Oval 312"/>
              <p:cNvSpPr>
                <a:spLocks noChangeArrowheads="1"/>
              </p:cNvSpPr>
              <p:nvPr/>
            </p:nvSpPr>
            <p:spPr bwMode="auto">
              <a:xfrm>
                <a:off x="2224" y="3695"/>
                <a:ext cx="313" cy="81"/>
              </a:xfrm>
              <a:prstGeom prst="ellipse">
                <a:avLst/>
              </a:prstGeom>
              <a:solidFill>
                <a:schemeClr val="hlink"/>
              </a:solidFill>
              <a:ln w="12700">
                <a:solidFill>
                  <a:schemeClr val="tx1"/>
                </a:solidFill>
                <a:round/>
              </a:ln>
            </p:spPr>
            <p:txBody>
              <a:bodyPr wrap="none" anchor="ctr"/>
              <a:lstStyle/>
              <a:p>
                <a:endParaRPr lang="en-US"/>
              </a:p>
            </p:txBody>
          </p:sp>
          <p:sp>
            <p:nvSpPr>
              <p:cNvPr id="130182" name="Line 313"/>
              <p:cNvSpPr>
                <a:spLocks noChangeShapeType="1"/>
              </p:cNvSpPr>
              <p:nvPr/>
            </p:nvSpPr>
            <p:spPr bwMode="auto">
              <a:xfrm>
                <a:off x="2224" y="3688"/>
                <a:ext cx="0" cy="50"/>
              </a:xfrm>
              <a:prstGeom prst="line">
                <a:avLst/>
              </a:prstGeom>
              <a:noFill/>
              <a:ln w="12700">
                <a:solidFill>
                  <a:schemeClr val="tx1"/>
                </a:solidFill>
                <a:round/>
              </a:ln>
            </p:spPr>
            <p:txBody>
              <a:bodyPr wrap="none" anchor="ctr"/>
              <a:lstStyle/>
              <a:p>
                <a:endParaRPr lang="en-US"/>
              </a:p>
            </p:txBody>
          </p:sp>
          <p:sp>
            <p:nvSpPr>
              <p:cNvPr id="130183" name="Line 314"/>
              <p:cNvSpPr>
                <a:spLocks noChangeShapeType="1"/>
              </p:cNvSpPr>
              <p:nvPr/>
            </p:nvSpPr>
            <p:spPr bwMode="auto">
              <a:xfrm>
                <a:off x="2537" y="3688"/>
                <a:ext cx="0" cy="50"/>
              </a:xfrm>
              <a:prstGeom prst="line">
                <a:avLst/>
              </a:prstGeom>
              <a:noFill/>
              <a:ln w="12700">
                <a:solidFill>
                  <a:schemeClr val="tx1"/>
                </a:solidFill>
                <a:round/>
              </a:ln>
            </p:spPr>
            <p:txBody>
              <a:bodyPr wrap="none" anchor="ctr"/>
              <a:lstStyle/>
              <a:p>
                <a:endParaRPr lang="en-US"/>
              </a:p>
            </p:txBody>
          </p:sp>
          <p:sp>
            <p:nvSpPr>
              <p:cNvPr id="130184" name="Rectangle 315"/>
              <p:cNvSpPr>
                <a:spLocks noChangeArrowheads="1"/>
              </p:cNvSpPr>
              <p:nvPr/>
            </p:nvSpPr>
            <p:spPr bwMode="auto">
              <a:xfrm>
                <a:off x="2224" y="3688"/>
                <a:ext cx="310" cy="49"/>
              </a:xfrm>
              <a:prstGeom prst="rect">
                <a:avLst/>
              </a:prstGeom>
              <a:solidFill>
                <a:schemeClr val="hlink"/>
              </a:solidFill>
              <a:ln>
                <a:noFill/>
              </a:ln>
            </p:spPr>
            <p:txBody>
              <a:bodyPr wrap="none" anchor="ctr"/>
              <a:lstStyle/>
              <a:p>
                <a:pPr algn="ctr"/>
                <a:endParaRPr lang="en-US" sz="2400"/>
              </a:p>
            </p:txBody>
          </p:sp>
          <p:sp>
            <p:nvSpPr>
              <p:cNvPr id="130185" name="Oval 316"/>
              <p:cNvSpPr>
                <a:spLocks noChangeArrowheads="1"/>
              </p:cNvSpPr>
              <p:nvPr/>
            </p:nvSpPr>
            <p:spPr bwMode="auto">
              <a:xfrm>
                <a:off x="2221" y="3629"/>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0186" name="Group 317"/>
              <p:cNvGrpSpPr/>
              <p:nvPr/>
            </p:nvGrpSpPr>
            <p:grpSpPr bwMode="auto">
              <a:xfrm>
                <a:off x="2275" y="3571"/>
                <a:ext cx="232" cy="250"/>
                <a:chOff x="2941" y="2425"/>
                <a:chExt cx="235" cy="250"/>
              </a:xfrm>
            </p:grpSpPr>
            <p:sp>
              <p:nvSpPr>
                <p:cNvPr id="130187" name="Rectangle 318"/>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30188" name="Text Box 319"/>
                <p:cNvSpPr txBox="1">
                  <a:spLocks noChangeArrowheads="1"/>
                </p:cNvSpPr>
                <p:nvPr/>
              </p:nvSpPr>
              <p:spPr bwMode="auto">
                <a:xfrm>
                  <a:off x="2941"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D</a:t>
                  </a:r>
                  <a:endParaRPr lang="en-US"/>
                </a:p>
              </p:txBody>
            </p:sp>
          </p:grpSp>
        </p:grpSp>
        <p:grpSp>
          <p:nvGrpSpPr>
            <p:cNvPr id="130153" name="Group 320"/>
            <p:cNvGrpSpPr/>
            <p:nvPr/>
          </p:nvGrpSpPr>
          <p:grpSpPr bwMode="auto">
            <a:xfrm>
              <a:off x="2195" y="3198"/>
              <a:ext cx="315" cy="250"/>
              <a:chOff x="2903" y="2884"/>
              <a:chExt cx="315" cy="250"/>
            </a:xfrm>
          </p:grpSpPr>
          <p:grpSp>
            <p:nvGrpSpPr>
              <p:cNvPr id="130172" name="Group 321"/>
              <p:cNvGrpSpPr/>
              <p:nvPr/>
            </p:nvGrpSpPr>
            <p:grpSpPr bwMode="auto">
              <a:xfrm>
                <a:off x="2903" y="2938"/>
                <a:ext cx="315" cy="144"/>
                <a:chOff x="2903" y="2938"/>
                <a:chExt cx="315" cy="144"/>
              </a:xfrm>
            </p:grpSpPr>
            <p:sp>
              <p:nvSpPr>
                <p:cNvPr id="130176" name="Oval 322"/>
                <p:cNvSpPr>
                  <a:spLocks noChangeArrowheads="1"/>
                </p:cNvSpPr>
                <p:nvPr/>
              </p:nvSpPr>
              <p:spPr bwMode="auto">
                <a:xfrm>
                  <a:off x="2903" y="3001"/>
                  <a:ext cx="312" cy="81"/>
                </a:xfrm>
                <a:prstGeom prst="ellipse">
                  <a:avLst/>
                </a:prstGeom>
                <a:solidFill>
                  <a:schemeClr val="hlink"/>
                </a:solidFill>
                <a:ln w="12700">
                  <a:solidFill>
                    <a:schemeClr val="tx1"/>
                  </a:solidFill>
                  <a:round/>
                </a:ln>
              </p:spPr>
              <p:txBody>
                <a:bodyPr wrap="none" anchor="ctr"/>
                <a:lstStyle/>
                <a:p>
                  <a:endParaRPr lang="en-US"/>
                </a:p>
              </p:txBody>
            </p:sp>
            <p:sp>
              <p:nvSpPr>
                <p:cNvPr id="130177" name="Line 323"/>
                <p:cNvSpPr>
                  <a:spLocks noChangeShapeType="1"/>
                </p:cNvSpPr>
                <p:nvPr/>
              </p:nvSpPr>
              <p:spPr bwMode="auto">
                <a:xfrm>
                  <a:off x="2903" y="2994"/>
                  <a:ext cx="0" cy="50"/>
                </a:xfrm>
                <a:prstGeom prst="line">
                  <a:avLst/>
                </a:prstGeom>
                <a:noFill/>
                <a:ln w="12700">
                  <a:solidFill>
                    <a:schemeClr val="tx1"/>
                  </a:solidFill>
                  <a:round/>
                </a:ln>
              </p:spPr>
              <p:txBody>
                <a:bodyPr wrap="none" anchor="ctr"/>
                <a:lstStyle/>
                <a:p>
                  <a:endParaRPr lang="en-US"/>
                </a:p>
              </p:txBody>
            </p:sp>
            <p:sp>
              <p:nvSpPr>
                <p:cNvPr id="130178" name="Line 324"/>
                <p:cNvSpPr>
                  <a:spLocks noChangeShapeType="1"/>
                </p:cNvSpPr>
                <p:nvPr/>
              </p:nvSpPr>
              <p:spPr bwMode="auto">
                <a:xfrm>
                  <a:off x="3215" y="2994"/>
                  <a:ext cx="0" cy="50"/>
                </a:xfrm>
                <a:prstGeom prst="line">
                  <a:avLst/>
                </a:prstGeom>
                <a:noFill/>
                <a:ln w="12700">
                  <a:solidFill>
                    <a:schemeClr val="tx1"/>
                  </a:solidFill>
                  <a:round/>
                </a:ln>
              </p:spPr>
              <p:txBody>
                <a:bodyPr wrap="none" anchor="ctr"/>
                <a:lstStyle/>
                <a:p>
                  <a:endParaRPr lang="en-US"/>
                </a:p>
              </p:txBody>
            </p:sp>
            <p:sp>
              <p:nvSpPr>
                <p:cNvPr id="130179" name="Rectangle 325"/>
                <p:cNvSpPr>
                  <a:spLocks noChangeArrowheads="1"/>
                </p:cNvSpPr>
                <p:nvPr/>
              </p:nvSpPr>
              <p:spPr bwMode="auto">
                <a:xfrm>
                  <a:off x="2903" y="2994"/>
                  <a:ext cx="309" cy="49"/>
                </a:xfrm>
                <a:prstGeom prst="rect">
                  <a:avLst/>
                </a:prstGeom>
                <a:solidFill>
                  <a:schemeClr val="hlink"/>
                </a:solidFill>
                <a:ln>
                  <a:noFill/>
                </a:ln>
              </p:spPr>
              <p:txBody>
                <a:bodyPr wrap="none" anchor="ctr"/>
                <a:lstStyle/>
                <a:p>
                  <a:pPr algn="ctr"/>
                  <a:endParaRPr lang="en-US" sz="2400"/>
                </a:p>
              </p:txBody>
            </p:sp>
            <p:sp>
              <p:nvSpPr>
                <p:cNvPr id="130180" name="Oval 326"/>
                <p:cNvSpPr>
                  <a:spLocks noChangeArrowheads="1"/>
                </p:cNvSpPr>
                <p:nvPr/>
              </p:nvSpPr>
              <p:spPr bwMode="auto">
                <a:xfrm>
                  <a:off x="2906" y="2938"/>
                  <a:ext cx="312" cy="95"/>
                </a:xfrm>
                <a:prstGeom prst="ellipse">
                  <a:avLst/>
                </a:prstGeom>
                <a:solidFill>
                  <a:schemeClr val="hlink"/>
                </a:solidFill>
                <a:ln w="12700">
                  <a:solidFill>
                    <a:schemeClr val="tx1"/>
                  </a:solidFill>
                  <a:round/>
                </a:ln>
              </p:spPr>
              <p:txBody>
                <a:bodyPr wrap="none" anchor="ctr"/>
                <a:lstStyle/>
                <a:p>
                  <a:endParaRPr lang="en-US"/>
                </a:p>
              </p:txBody>
            </p:sp>
          </p:grpSp>
          <p:grpSp>
            <p:nvGrpSpPr>
              <p:cNvPr id="130173" name="Group 327"/>
              <p:cNvGrpSpPr/>
              <p:nvPr/>
            </p:nvGrpSpPr>
            <p:grpSpPr bwMode="auto">
              <a:xfrm>
                <a:off x="2949" y="2884"/>
                <a:ext cx="232" cy="250"/>
                <a:chOff x="2940" y="2425"/>
                <a:chExt cx="235" cy="250"/>
              </a:xfrm>
            </p:grpSpPr>
            <p:sp>
              <p:nvSpPr>
                <p:cNvPr id="130174" name="Rectangle 328"/>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30175" name="Text Box 329"/>
                <p:cNvSpPr txBox="1">
                  <a:spLocks noChangeArrowheads="1"/>
                </p:cNvSpPr>
                <p:nvPr/>
              </p:nvSpPr>
              <p:spPr bwMode="auto">
                <a:xfrm>
                  <a:off x="2940"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C</a:t>
                  </a:r>
                  <a:endParaRPr lang="en-US"/>
                </a:p>
              </p:txBody>
            </p:sp>
          </p:grpSp>
        </p:grpSp>
        <p:grpSp>
          <p:nvGrpSpPr>
            <p:cNvPr id="130154" name="Group 330"/>
            <p:cNvGrpSpPr/>
            <p:nvPr/>
          </p:nvGrpSpPr>
          <p:grpSpPr bwMode="auto">
            <a:xfrm>
              <a:off x="2607" y="2916"/>
              <a:ext cx="316" cy="250"/>
              <a:chOff x="2217" y="2884"/>
              <a:chExt cx="316" cy="250"/>
            </a:xfrm>
          </p:grpSpPr>
          <p:sp>
            <p:nvSpPr>
              <p:cNvPr id="130164" name="Oval 331"/>
              <p:cNvSpPr>
                <a:spLocks noChangeArrowheads="1"/>
              </p:cNvSpPr>
              <p:nvPr/>
            </p:nvSpPr>
            <p:spPr bwMode="auto">
              <a:xfrm>
                <a:off x="2220" y="3005"/>
                <a:ext cx="313" cy="81"/>
              </a:xfrm>
              <a:prstGeom prst="ellipse">
                <a:avLst/>
              </a:prstGeom>
              <a:solidFill>
                <a:schemeClr val="hlink"/>
              </a:solidFill>
              <a:ln w="12700">
                <a:solidFill>
                  <a:schemeClr val="tx1"/>
                </a:solidFill>
                <a:round/>
              </a:ln>
            </p:spPr>
            <p:txBody>
              <a:bodyPr wrap="none" anchor="ctr"/>
              <a:lstStyle/>
              <a:p>
                <a:endParaRPr lang="en-US"/>
              </a:p>
            </p:txBody>
          </p:sp>
          <p:sp>
            <p:nvSpPr>
              <p:cNvPr id="130165" name="Line 332"/>
              <p:cNvSpPr>
                <a:spLocks noChangeShapeType="1"/>
              </p:cNvSpPr>
              <p:nvPr/>
            </p:nvSpPr>
            <p:spPr bwMode="auto">
              <a:xfrm>
                <a:off x="2220" y="2998"/>
                <a:ext cx="0" cy="50"/>
              </a:xfrm>
              <a:prstGeom prst="line">
                <a:avLst/>
              </a:prstGeom>
              <a:noFill/>
              <a:ln w="12700">
                <a:solidFill>
                  <a:schemeClr val="tx1"/>
                </a:solidFill>
                <a:round/>
              </a:ln>
            </p:spPr>
            <p:txBody>
              <a:bodyPr wrap="none" anchor="ctr"/>
              <a:lstStyle/>
              <a:p>
                <a:endParaRPr lang="en-US"/>
              </a:p>
            </p:txBody>
          </p:sp>
          <p:sp>
            <p:nvSpPr>
              <p:cNvPr id="130166" name="Line 333"/>
              <p:cNvSpPr>
                <a:spLocks noChangeShapeType="1"/>
              </p:cNvSpPr>
              <p:nvPr/>
            </p:nvSpPr>
            <p:spPr bwMode="auto">
              <a:xfrm>
                <a:off x="2533" y="2998"/>
                <a:ext cx="0" cy="50"/>
              </a:xfrm>
              <a:prstGeom prst="line">
                <a:avLst/>
              </a:prstGeom>
              <a:noFill/>
              <a:ln w="12700">
                <a:solidFill>
                  <a:schemeClr val="tx1"/>
                </a:solidFill>
                <a:round/>
              </a:ln>
            </p:spPr>
            <p:txBody>
              <a:bodyPr wrap="none" anchor="ctr"/>
              <a:lstStyle/>
              <a:p>
                <a:endParaRPr lang="en-US"/>
              </a:p>
            </p:txBody>
          </p:sp>
          <p:sp>
            <p:nvSpPr>
              <p:cNvPr id="130167" name="Rectangle 334"/>
              <p:cNvSpPr>
                <a:spLocks noChangeArrowheads="1"/>
              </p:cNvSpPr>
              <p:nvPr/>
            </p:nvSpPr>
            <p:spPr bwMode="auto">
              <a:xfrm>
                <a:off x="2220" y="2998"/>
                <a:ext cx="310" cy="49"/>
              </a:xfrm>
              <a:prstGeom prst="rect">
                <a:avLst/>
              </a:prstGeom>
              <a:solidFill>
                <a:schemeClr val="hlink"/>
              </a:solidFill>
              <a:ln>
                <a:noFill/>
              </a:ln>
            </p:spPr>
            <p:txBody>
              <a:bodyPr wrap="none" anchor="ctr"/>
              <a:lstStyle/>
              <a:p>
                <a:pPr algn="ctr"/>
                <a:endParaRPr lang="en-US" sz="2400"/>
              </a:p>
            </p:txBody>
          </p:sp>
          <p:sp>
            <p:nvSpPr>
              <p:cNvPr id="130168" name="Oval 335"/>
              <p:cNvSpPr>
                <a:spLocks noChangeArrowheads="1"/>
              </p:cNvSpPr>
              <p:nvPr/>
            </p:nvSpPr>
            <p:spPr bwMode="auto">
              <a:xfrm>
                <a:off x="2217" y="2939"/>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0169" name="Group 336"/>
              <p:cNvGrpSpPr/>
              <p:nvPr/>
            </p:nvGrpSpPr>
            <p:grpSpPr bwMode="auto">
              <a:xfrm>
                <a:off x="2270" y="2884"/>
                <a:ext cx="223" cy="250"/>
                <a:chOff x="2945" y="2425"/>
                <a:chExt cx="226" cy="250"/>
              </a:xfrm>
            </p:grpSpPr>
            <p:sp>
              <p:nvSpPr>
                <p:cNvPr id="130170" name="Rectangle 337"/>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0171" name="Text Box 338"/>
                <p:cNvSpPr txBox="1">
                  <a:spLocks noChangeArrowheads="1"/>
                </p:cNvSpPr>
                <p:nvPr/>
              </p:nvSpPr>
              <p:spPr bwMode="auto">
                <a:xfrm>
                  <a:off x="2945" y="2425"/>
                  <a:ext cx="226"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B</a:t>
                  </a:r>
                  <a:endParaRPr lang="en-US"/>
                </a:p>
              </p:txBody>
            </p:sp>
          </p:grpSp>
        </p:grpSp>
        <p:sp>
          <p:nvSpPr>
            <p:cNvPr id="130155" name="Freeform 339"/>
            <p:cNvSpPr/>
            <p:nvPr/>
          </p:nvSpPr>
          <p:spPr bwMode="auto">
            <a:xfrm flipH="1">
              <a:off x="2505" y="2819"/>
              <a:ext cx="198" cy="156"/>
            </a:xfrm>
            <a:custGeom>
              <a:avLst/>
              <a:gdLst>
                <a:gd name="T0" fmla="*/ 0 w 342"/>
                <a:gd name="T1" fmla="*/ 39 h 186"/>
                <a:gd name="T2" fmla="*/ 3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156" name="Freeform 340"/>
            <p:cNvSpPr/>
            <p:nvPr/>
          </p:nvSpPr>
          <p:spPr bwMode="auto">
            <a:xfrm flipH="1" flipV="1">
              <a:off x="2484" y="3125"/>
              <a:ext cx="180" cy="141"/>
            </a:xfrm>
            <a:custGeom>
              <a:avLst/>
              <a:gdLst>
                <a:gd name="T0" fmla="*/ 0 w 342"/>
                <a:gd name="T1" fmla="*/ 15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triangle" w="med" len="med"/>
              <a:tailEnd type="none" w="med" len="med"/>
            </a:ln>
          </p:spPr>
          <p:txBody>
            <a:bodyPr wrap="none" anchor="ctr"/>
            <a:lstStyle/>
            <a:p>
              <a:endParaRPr lang="en-US"/>
            </a:p>
          </p:txBody>
        </p:sp>
        <p:sp>
          <p:nvSpPr>
            <p:cNvPr id="130157" name="Freeform 341"/>
            <p:cNvSpPr/>
            <p:nvPr/>
          </p:nvSpPr>
          <p:spPr bwMode="auto">
            <a:xfrm flipV="1">
              <a:off x="2031" y="3107"/>
              <a:ext cx="204" cy="156"/>
            </a:xfrm>
            <a:custGeom>
              <a:avLst/>
              <a:gdLst>
                <a:gd name="T0" fmla="*/ 0 w 342"/>
                <a:gd name="T1" fmla="*/ 39 h 186"/>
                <a:gd name="T2" fmla="*/ 4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158" name="Freeform 342"/>
            <p:cNvSpPr/>
            <p:nvPr/>
          </p:nvSpPr>
          <p:spPr bwMode="auto">
            <a:xfrm flipH="1" flipV="1">
              <a:off x="2400" y="3086"/>
              <a:ext cx="189" cy="153"/>
            </a:xfrm>
            <a:custGeom>
              <a:avLst/>
              <a:gdLst>
                <a:gd name="T0" fmla="*/ 0 w 342"/>
                <a:gd name="T1" fmla="*/ 32 h 186"/>
                <a:gd name="T2" fmla="*/ 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159" name="Freeform 343"/>
            <p:cNvSpPr/>
            <p:nvPr/>
          </p:nvSpPr>
          <p:spPr bwMode="auto">
            <a:xfrm flipH="1">
              <a:off x="2124" y="3083"/>
              <a:ext cx="174" cy="147"/>
            </a:xfrm>
            <a:custGeom>
              <a:avLst/>
              <a:gdLst>
                <a:gd name="T0" fmla="*/ 0 w 342"/>
                <a:gd name="T1" fmla="*/ 22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160" name="Text Box 344"/>
            <p:cNvSpPr txBox="1">
              <a:spLocks noChangeArrowheads="1"/>
            </p:cNvSpPr>
            <p:nvPr/>
          </p:nvSpPr>
          <p:spPr bwMode="auto">
            <a:xfrm>
              <a:off x="1711" y="3612"/>
              <a:ext cx="1418" cy="43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ct val="80000"/>
                </a:lnSpc>
              </a:pPr>
              <a:r>
                <a:rPr lang="en-US" sz="1600">
                  <a:solidFill>
                    <a:srgbClr val="000099"/>
                  </a:solidFill>
                  <a:latin typeface="Gill Sans MT" pitchFamily="34" charset="0"/>
                </a:rPr>
                <a:t>given these costs,</a:t>
              </a:r>
            </a:p>
            <a:p>
              <a:pPr algn="ctr">
                <a:lnSpc>
                  <a:spcPct val="80000"/>
                </a:lnSpc>
              </a:pPr>
              <a:r>
                <a:rPr lang="en-US" sz="1600">
                  <a:solidFill>
                    <a:srgbClr val="000099"/>
                  </a:solidFill>
                  <a:latin typeface="Gill Sans MT" pitchFamily="34" charset="0"/>
                </a:rPr>
                <a:t>find new routing….</a:t>
              </a:r>
            </a:p>
            <a:p>
              <a:pPr algn="ctr">
                <a:lnSpc>
                  <a:spcPct val="80000"/>
                </a:lnSpc>
              </a:pPr>
              <a:r>
                <a:rPr lang="en-US" sz="1600">
                  <a:solidFill>
                    <a:srgbClr val="000099"/>
                  </a:solidFill>
                  <a:latin typeface="Gill Sans MT" pitchFamily="34" charset="0"/>
                </a:rPr>
                <a:t>resulting in new costs</a:t>
              </a:r>
            </a:p>
          </p:txBody>
        </p:sp>
        <p:sp>
          <p:nvSpPr>
            <p:cNvPr id="130161" name="Line 345"/>
            <p:cNvSpPr>
              <a:spLocks noChangeShapeType="1"/>
            </p:cNvSpPr>
            <p:nvPr/>
          </p:nvSpPr>
          <p:spPr bwMode="auto">
            <a:xfrm flipV="1">
              <a:off x="2358" y="3407"/>
              <a:ext cx="0" cy="156"/>
            </a:xfrm>
            <a:prstGeom prst="line">
              <a:avLst/>
            </a:prstGeom>
            <a:noFill/>
            <a:ln w="19050">
              <a:solidFill>
                <a:srgbClr val="FF0000"/>
              </a:solidFill>
              <a:round/>
              <a:tailEnd type="triangle" w="med" len="med"/>
            </a:ln>
          </p:spPr>
          <p:txBody>
            <a:bodyPr wrap="none" anchor="ctr"/>
            <a:lstStyle/>
            <a:p>
              <a:endParaRPr lang="en-US"/>
            </a:p>
          </p:txBody>
        </p:sp>
        <p:sp>
          <p:nvSpPr>
            <p:cNvPr id="130162" name="Line 346"/>
            <p:cNvSpPr>
              <a:spLocks noChangeShapeType="1"/>
            </p:cNvSpPr>
            <p:nvPr/>
          </p:nvSpPr>
          <p:spPr bwMode="auto">
            <a:xfrm flipV="1">
              <a:off x="1938" y="3119"/>
              <a:ext cx="0" cy="156"/>
            </a:xfrm>
            <a:prstGeom prst="line">
              <a:avLst/>
            </a:prstGeom>
            <a:noFill/>
            <a:ln w="19050">
              <a:solidFill>
                <a:srgbClr val="FF0000"/>
              </a:solidFill>
              <a:round/>
              <a:tailEnd type="triangle" w="med" len="med"/>
            </a:ln>
          </p:spPr>
          <p:txBody>
            <a:bodyPr wrap="none" anchor="ctr"/>
            <a:lstStyle/>
            <a:p>
              <a:endParaRPr lang="en-US"/>
            </a:p>
          </p:txBody>
        </p:sp>
        <p:sp>
          <p:nvSpPr>
            <p:cNvPr id="130163" name="Line 347"/>
            <p:cNvSpPr>
              <a:spLocks noChangeShapeType="1"/>
            </p:cNvSpPr>
            <p:nvPr/>
          </p:nvSpPr>
          <p:spPr bwMode="auto">
            <a:xfrm flipV="1">
              <a:off x="2778" y="3122"/>
              <a:ext cx="0" cy="156"/>
            </a:xfrm>
            <a:prstGeom prst="line">
              <a:avLst/>
            </a:prstGeom>
            <a:noFill/>
            <a:ln w="19050">
              <a:solidFill>
                <a:srgbClr val="FF0000"/>
              </a:solidFill>
              <a:round/>
              <a:tailEnd type="triangle" w="med" len="med"/>
            </a:ln>
          </p:spPr>
          <p:txBody>
            <a:bodyPr wrap="none" anchor="ctr"/>
            <a:lstStyle/>
            <a:p>
              <a:endParaRPr lang="en-US"/>
            </a:p>
          </p:txBody>
        </p:sp>
      </p:grpSp>
      <p:sp>
        <p:nvSpPr>
          <p:cNvPr id="721124" name="Freeform 228"/>
          <p:cNvSpPr/>
          <p:nvPr/>
        </p:nvSpPr>
        <p:spPr bwMode="auto">
          <a:xfrm>
            <a:off x="5057140" y="4332288"/>
            <a:ext cx="1181100" cy="952500"/>
          </a:xfrm>
          <a:custGeom>
            <a:avLst/>
            <a:gdLst>
              <a:gd name="T0" fmla="*/ 0 w 744"/>
              <a:gd name="T1" fmla="*/ 2147483647 h 600"/>
              <a:gd name="T2" fmla="*/ 2147483647 w 744"/>
              <a:gd name="T3" fmla="*/ 2147483647 h 600"/>
              <a:gd name="T4" fmla="*/ 2147483647 w 744"/>
              <a:gd name="T5" fmla="*/ 2147483647 h 600"/>
              <a:gd name="T6" fmla="*/ 2147483647 w 744"/>
              <a:gd name="T7" fmla="*/ 2147483647 h 600"/>
              <a:gd name="T8" fmla="*/ 2147483647 w 744"/>
              <a:gd name="T9" fmla="*/ 0 h 600"/>
              <a:gd name="T10" fmla="*/ 0 60000 65536"/>
              <a:gd name="T11" fmla="*/ 0 60000 65536"/>
              <a:gd name="T12" fmla="*/ 0 60000 65536"/>
              <a:gd name="T13" fmla="*/ 0 60000 65536"/>
              <a:gd name="T14" fmla="*/ 0 60000 65536"/>
              <a:gd name="T15" fmla="*/ 0 w 744"/>
              <a:gd name="T16" fmla="*/ 0 h 600"/>
              <a:gd name="T17" fmla="*/ 744 w 744"/>
              <a:gd name="T18" fmla="*/ 600 h 600"/>
            </a:gdLst>
            <a:ahLst/>
            <a:cxnLst>
              <a:cxn ang="T10">
                <a:pos x="T0" y="T1"/>
              </a:cxn>
              <a:cxn ang="T11">
                <a:pos x="T2" y="T3"/>
              </a:cxn>
              <a:cxn ang="T12">
                <a:pos x="T4" y="T5"/>
              </a:cxn>
              <a:cxn ang="T13">
                <a:pos x="T6" y="T7"/>
              </a:cxn>
              <a:cxn ang="T14">
                <a:pos x="T8" y="T9"/>
              </a:cxn>
            </a:cxnLst>
            <a:rect l="T15" t="T16" r="T17" b="T18"/>
            <a:pathLst>
              <a:path w="744" h="600">
                <a:moveTo>
                  <a:pt x="0" y="294"/>
                </a:moveTo>
                <a:lnTo>
                  <a:pt x="387" y="600"/>
                </a:lnTo>
                <a:lnTo>
                  <a:pt x="744" y="304"/>
                </a:lnTo>
                <a:lnTo>
                  <a:pt x="429" y="66"/>
                </a:lnTo>
                <a:lnTo>
                  <a:pt x="354" y="0"/>
                </a:lnTo>
              </a:path>
            </a:pathLst>
          </a:custGeom>
          <a:noFill/>
          <a:ln w="57150" cap="flat" cmpd="sng">
            <a:solidFill>
              <a:srgbClr val="CC0000"/>
            </a:solidFill>
            <a:prstDash val="solid"/>
            <a:round/>
            <a:headEnd type="none" w="med" len="med"/>
            <a:tailEnd type="triangle" w="med" len="med"/>
          </a:ln>
        </p:spPr>
        <p:txBody>
          <a:bodyPr wrap="none"/>
          <a:lstStyle/>
          <a:p>
            <a:endParaRPr lang="en-US"/>
          </a:p>
        </p:txBody>
      </p:sp>
      <p:grpSp>
        <p:nvGrpSpPr>
          <p:cNvPr id="721280" name="Group 348"/>
          <p:cNvGrpSpPr/>
          <p:nvPr/>
        </p:nvGrpSpPr>
        <p:grpSpPr bwMode="auto">
          <a:xfrm>
            <a:off x="4974590" y="4410075"/>
            <a:ext cx="1493838" cy="990600"/>
            <a:chOff x="-186" y="1184"/>
            <a:chExt cx="941" cy="624"/>
          </a:xfrm>
        </p:grpSpPr>
        <p:sp>
          <p:nvSpPr>
            <p:cNvPr id="130143" name="Text Box 270"/>
            <p:cNvSpPr txBox="1">
              <a:spLocks noChangeArrowheads="1"/>
            </p:cNvSpPr>
            <p:nvPr/>
          </p:nvSpPr>
          <p:spPr bwMode="auto">
            <a:xfrm>
              <a:off x="-186" y="1199"/>
              <a:ext cx="178"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0</a:t>
              </a:r>
            </a:p>
          </p:txBody>
        </p:sp>
        <p:sp>
          <p:nvSpPr>
            <p:cNvPr id="130144" name="Text Box 274"/>
            <p:cNvSpPr txBox="1">
              <a:spLocks noChangeArrowheads="1"/>
            </p:cNvSpPr>
            <p:nvPr/>
          </p:nvSpPr>
          <p:spPr bwMode="auto">
            <a:xfrm>
              <a:off x="450" y="1184"/>
              <a:ext cx="305"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2+e</a:t>
              </a:r>
            </a:p>
          </p:txBody>
        </p:sp>
        <p:sp>
          <p:nvSpPr>
            <p:cNvPr id="130145" name="Text Box 275"/>
            <p:cNvSpPr txBox="1">
              <a:spLocks noChangeArrowheads="1"/>
            </p:cNvSpPr>
            <p:nvPr/>
          </p:nvSpPr>
          <p:spPr bwMode="auto">
            <a:xfrm>
              <a:off x="340" y="1616"/>
              <a:ext cx="305"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1+e</a:t>
              </a:r>
            </a:p>
          </p:txBody>
        </p:sp>
        <p:sp>
          <p:nvSpPr>
            <p:cNvPr id="130146" name="Text Box 276"/>
            <p:cNvSpPr txBox="1">
              <a:spLocks noChangeArrowheads="1"/>
            </p:cNvSpPr>
            <p:nvPr/>
          </p:nvSpPr>
          <p:spPr bwMode="auto">
            <a:xfrm>
              <a:off x="-132" y="1580"/>
              <a:ext cx="178"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1</a:t>
              </a:r>
            </a:p>
          </p:txBody>
        </p:sp>
        <p:sp>
          <p:nvSpPr>
            <p:cNvPr id="130147" name="Text Box 279"/>
            <p:cNvSpPr txBox="1">
              <a:spLocks noChangeArrowheads="1"/>
            </p:cNvSpPr>
            <p:nvPr/>
          </p:nvSpPr>
          <p:spPr bwMode="auto">
            <a:xfrm>
              <a:off x="79" y="1436"/>
              <a:ext cx="178"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0</a:t>
              </a:r>
            </a:p>
          </p:txBody>
        </p:sp>
        <p:sp>
          <p:nvSpPr>
            <p:cNvPr id="130148" name="Text Box 280"/>
            <p:cNvSpPr txBox="1">
              <a:spLocks noChangeArrowheads="1"/>
            </p:cNvSpPr>
            <p:nvPr/>
          </p:nvSpPr>
          <p:spPr bwMode="auto">
            <a:xfrm>
              <a:off x="261" y="1430"/>
              <a:ext cx="178"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0</a:t>
              </a:r>
            </a:p>
          </p:txBody>
        </p:sp>
      </p:grpSp>
      <p:grpSp>
        <p:nvGrpSpPr>
          <p:cNvPr id="721281" name="Group 349"/>
          <p:cNvGrpSpPr/>
          <p:nvPr/>
        </p:nvGrpSpPr>
        <p:grpSpPr bwMode="auto">
          <a:xfrm>
            <a:off x="6827203" y="4195763"/>
            <a:ext cx="2251074" cy="2227262"/>
            <a:chOff x="1711" y="2639"/>
            <a:chExt cx="1418" cy="1403"/>
          </a:xfrm>
        </p:grpSpPr>
        <p:sp>
          <p:nvSpPr>
            <p:cNvPr id="130095" name="Freeform 350"/>
            <p:cNvSpPr/>
            <p:nvPr/>
          </p:nvSpPr>
          <p:spPr bwMode="auto">
            <a:xfrm>
              <a:off x="1752" y="2639"/>
              <a:ext cx="1225" cy="854"/>
            </a:xfrm>
            <a:custGeom>
              <a:avLst/>
              <a:gdLst>
                <a:gd name="T0" fmla="*/ 0 w 1225"/>
                <a:gd name="T1" fmla="*/ 387 h 854"/>
                <a:gd name="T2" fmla="*/ 168 w 1225"/>
                <a:gd name="T3" fmla="*/ 162 h 854"/>
                <a:gd name="T4" fmla="*/ 486 w 1225"/>
                <a:gd name="T5" fmla="*/ 18 h 854"/>
                <a:gd name="T6" fmla="*/ 822 w 1225"/>
                <a:gd name="T7" fmla="*/ 30 h 854"/>
                <a:gd name="T8" fmla="*/ 1152 w 1225"/>
                <a:gd name="T9" fmla="*/ 267 h 854"/>
                <a:gd name="T10" fmla="*/ 1188 w 1225"/>
                <a:gd name="T11" fmla="*/ 537 h 854"/>
                <a:gd name="T12" fmla="*/ 927 w 1225"/>
                <a:gd name="T13" fmla="*/ 780 h 854"/>
                <a:gd name="T14" fmla="*/ 447 w 1225"/>
                <a:gd name="T15" fmla="*/ 837 h 854"/>
                <a:gd name="T16" fmla="*/ 177 w 1225"/>
                <a:gd name="T17" fmla="*/ 675 h 854"/>
                <a:gd name="T18" fmla="*/ 0 w 1225"/>
                <a:gd name="T19" fmla="*/ 387 h 8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5"/>
                <a:gd name="T31" fmla="*/ 0 h 854"/>
                <a:gd name="T32" fmla="*/ 1225 w 1225"/>
                <a:gd name="T33" fmla="*/ 854 h 8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5" h="854">
                  <a:moveTo>
                    <a:pt x="0" y="387"/>
                  </a:moveTo>
                  <a:cubicBezTo>
                    <a:pt x="0" y="243"/>
                    <a:pt x="87" y="223"/>
                    <a:pt x="168" y="162"/>
                  </a:cubicBezTo>
                  <a:cubicBezTo>
                    <a:pt x="249" y="101"/>
                    <a:pt x="377" y="40"/>
                    <a:pt x="486" y="18"/>
                  </a:cubicBezTo>
                  <a:cubicBezTo>
                    <a:pt x="615" y="6"/>
                    <a:pt x="684" y="0"/>
                    <a:pt x="822" y="30"/>
                  </a:cubicBezTo>
                  <a:cubicBezTo>
                    <a:pt x="960" y="60"/>
                    <a:pt x="1099" y="169"/>
                    <a:pt x="1152" y="267"/>
                  </a:cubicBezTo>
                  <a:cubicBezTo>
                    <a:pt x="1213" y="351"/>
                    <a:pt x="1225" y="452"/>
                    <a:pt x="1188" y="537"/>
                  </a:cubicBezTo>
                  <a:cubicBezTo>
                    <a:pt x="1151" y="622"/>
                    <a:pt x="1050" y="730"/>
                    <a:pt x="927" y="780"/>
                  </a:cubicBezTo>
                  <a:cubicBezTo>
                    <a:pt x="804" y="830"/>
                    <a:pt x="572" y="854"/>
                    <a:pt x="447" y="837"/>
                  </a:cubicBezTo>
                  <a:cubicBezTo>
                    <a:pt x="322" y="820"/>
                    <a:pt x="251" y="750"/>
                    <a:pt x="177" y="675"/>
                  </a:cubicBezTo>
                  <a:cubicBezTo>
                    <a:pt x="103" y="600"/>
                    <a:pt x="0" y="531"/>
                    <a:pt x="0" y="387"/>
                  </a:cubicBezTo>
                  <a:close/>
                </a:path>
              </a:pathLst>
            </a:custGeom>
            <a:solidFill>
              <a:srgbClr val="66CCFF"/>
            </a:solidFill>
            <a:ln>
              <a:noFill/>
            </a:ln>
          </p:spPr>
          <p:txBody>
            <a:bodyPr wrap="none" anchor="ctr"/>
            <a:lstStyle/>
            <a:p>
              <a:endParaRPr lang="en-US"/>
            </a:p>
          </p:txBody>
        </p:sp>
        <p:sp>
          <p:nvSpPr>
            <p:cNvPr id="130096" name="Freeform 351"/>
            <p:cNvSpPr/>
            <p:nvPr/>
          </p:nvSpPr>
          <p:spPr bwMode="auto">
            <a:xfrm>
              <a:off x="2010" y="2852"/>
              <a:ext cx="246" cy="132"/>
            </a:xfrm>
            <a:custGeom>
              <a:avLst/>
              <a:gdLst>
                <a:gd name="T0" fmla="*/ 0 w 342"/>
                <a:gd name="T1" fmla="*/ 9 h 186"/>
                <a:gd name="T2" fmla="*/ 1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grpSp>
          <p:nvGrpSpPr>
            <p:cNvPr id="130097" name="Group 352"/>
            <p:cNvGrpSpPr/>
            <p:nvPr/>
          </p:nvGrpSpPr>
          <p:grpSpPr bwMode="auto">
            <a:xfrm>
              <a:off x="2203" y="2652"/>
              <a:ext cx="316" cy="250"/>
              <a:chOff x="1747" y="3190"/>
              <a:chExt cx="316" cy="250"/>
            </a:xfrm>
          </p:grpSpPr>
          <p:sp>
            <p:nvSpPr>
              <p:cNvPr id="130135" name="Oval 353"/>
              <p:cNvSpPr>
                <a:spLocks noChangeArrowheads="1"/>
              </p:cNvSpPr>
              <p:nvPr/>
            </p:nvSpPr>
            <p:spPr bwMode="auto">
              <a:xfrm>
                <a:off x="1750" y="3308"/>
                <a:ext cx="313" cy="81"/>
              </a:xfrm>
              <a:prstGeom prst="ellipse">
                <a:avLst/>
              </a:prstGeom>
              <a:solidFill>
                <a:schemeClr val="hlink"/>
              </a:solidFill>
              <a:ln w="12700">
                <a:solidFill>
                  <a:schemeClr val="tx1"/>
                </a:solidFill>
                <a:round/>
              </a:ln>
            </p:spPr>
            <p:txBody>
              <a:bodyPr wrap="none" anchor="ctr"/>
              <a:lstStyle/>
              <a:p>
                <a:endParaRPr lang="en-US"/>
              </a:p>
            </p:txBody>
          </p:sp>
          <p:sp>
            <p:nvSpPr>
              <p:cNvPr id="130136" name="Line 354"/>
              <p:cNvSpPr>
                <a:spLocks noChangeShapeType="1"/>
              </p:cNvSpPr>
              <p:nvPr/>
            </p:nvSpPr>
            <p:spPr bwMode="auto">
              <a:xfrm>
                <a:off x="1750" y="3301"/>
                <a:ext cx="0" cy="50"/>
              </a:xfrm>
              <a:prstGeom prst="line">
                <a:avLst/>
              </a:prstGeom>
              <a:noFill/>
              <a:ln w="12700">
                <a:solidFill>
                  <a:schemeClr val="tx1"/>
                </a:solidFill>
                <a:round/>
              </a:ln>
            </p:spPr>
            <p:txBody>
              <a:bodyPr wrap="none" anchor="ctr"/>
              <a:lstStyle/>
              <a:p>
                <a:endParaRPr lang="en-US"/>
              </a:p>
            </p:txBody>
          </p:sp>
          <p:sp>
            <p:nvSpPr>
              <p:cNvPr id="130137" name="Line 355"/>
              <p:cNvSpPr>
                <a:spLocks noChangeShapeType="1"/>
              </p:cNvSpPr>
              <p:nvPr/>
            </p:nvSpPr>
            <p:spPr bwMode="auto">
              <a:xfrm>
                <a:off x="2063" y="3301"/>
                <a:ext cx="0" cy="50"/>
              </a:xfrm>
              <a:prstGeom prst="line">
                <a:avLst/>
              </a:prstGeom>
              <a:noFill/>
              <a:ln w="12700">
                <a:solidFill>
                  <a:schemeClr val="tx1"/>
                </a:solidFill>
                <a:round/>
              </a:ln>
            </p:spPr>
            <p:txBody>
              <a:bodyPr wrap="none" anchor="ctr"/>
              <a:lstStyle/>
              <a:p>
                <a:endParaRPr lang="en-US"/>
              </a:p>
            </p:txBody>
          </p:sp>
          <p:sp>
            <p:nvSpPr>
              <p:cNvPr id="130138" name="Rectangle 356"/>
              <p:cNvSpPr>
                <a:spLocks noChangeArrowheads="1"/>
              </p:cNvSpPr>
              <p:nvPr/>
            </p:nvSpPr>
            <p:spPr bwMode="auto">
              <a:xfrm>
                <a:off x="1750" y="3301"/>
                <a:ext cx="310" cy="49"/>
              </a:xfrm>
              <a:prstGeom prst="rect">
                <a:avLst/>
              </a:prstGeom>
              <a:solidFill>
                <a:schemeClr val="hlink"/>
              </a:solidFill>
              <a:ln>
                <a:noFill/>
              </a:ln>
            </p:spPr>
            <p:txBody>
              <a:bodyPr wrap="none" anchor="ctr"/>
              <a:lstStyle/>
              <a:p>
                <a:pPr algn="ctr"/>
                <a:endParaRPr lang="en-US" sz="2400"/>
              </a:p>
            </p:txBody>
          </p:sp>
          <p:sp>
            <p:nvSpPr>
              <p:cNvPr id="130139" name="Oval 357"/>
              <p:cNvSpPr>
                <a:spLocks noChangeArrowheads="1"/>
              </p:cNvSpPr>
              <p:nvPr/>
            </p:nvSpPr>
            <p:spPr bwMode="auto">
              <a:xfrm>
                <a:off x="1747" y="3242"/>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0140" name="Group 358"/>
              <p:cNvGrpSpPr/>
              <p:nvPr/>
            </p:nvGrpSpPr>
            <p:grpSpPr bwMode="auto">
              <a:xfrm>
                <a:off x="1790" y="3190"/>
                <a:ext cx="223" cy="250"/>
                <a:chOff x="2945" y="2425"/>
                <a:chExt cx="226" cy="250"/>
              </a:xfrm>
            </p:grpSpPr>
            <p:sp>
              <p:nvSpPr>
                <p:cNvPr id="130141" name="Rectangle 359"/>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0142" name="Text Box 360"/>
                <p:cNvSpPr txBox="1">
                  <a:spLocks noChangeArrowheads="1"/>
                </p:cNvSpPr>
                <p:nvPr/>
              </p:nvSpPr>
              <p:spPr bwMode="auto">
                <a:xfrm>
                  <a:off x="2945" y="2425"/>
                  <a:ext cx="226"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A</a:t>
                  </a:r>
                  <a:endParaRPr lang="en-US"/>
                </a:p>
              </p:txBody>
            </p:sp>
          </p:grpSp>
        </p:grpSp>
        <p:grpSp>
          <p:nvGrpSpPr>
            <p:cNvPr id="130098" name="Group 361"/>
            <p:cNvGrpSpPr/>
            <p:nvPr/>
          </p:nvGrpSpPr>
          <p:grpSpPr bwMode="auto">
            <a:xfrm>
              <a:off x="1795" y="2907"/>
              <a:ext cx="316" cy="250"/>
              <a:chOff x="2221" y="3571"/>
              <a:chExt cx="316" cy="250"/>
            </a:xfrm>
          </p:grpSpPr>
          <p:sp>
            <p:nvSpPr>
              <p:cNvPr id="130127" name="Oval 362"/>
              <p:cNvSpPr>
                <a:spLocks noChangeArrowheads="1"/>
              </p:cNvSpPr>
              <p:nvPr/>
            </p:nvSpPr>
            <p:spPr bwMode="auto">
              <a:xfrm>
                <a:off x="2224" y="3695"/>
                <a:ext cx="313" cy="81"/>
              </a:xfrm>
              <a:prstGeom prst="ellipse">
                <a:avLst/>
              </a:prstGeom>
              <a:solidFill>
                <a:schemeClr val="hlink"/>
              </a:solidFill>
              <a:ln w="12700">
                <a:solidFill>
                  <a:schemeClr val="tx1"/>
                </a:solidFill>
                <a:round/>
              </a:ln>
            </p:spPr>
            <p:txBody>
              <a:bodyPr wrap="none" anchor="ctr"/>
              <a:lstStyle/>
              <a:p>
                <a:endParaRPr lang="en-US"/>
              </a:p>
            </p:txBody>
          </p:sp>
          <p:sp>
            <p:nvSpPr>
              <p:cNvPr id="130128" name="Line 363"/>
              <p:cNvSpPr>
                <a:spLocks noChangeShapeType="1"/>
              </p:cNvSpPr>
              <p:nvPr/>
            </p:nvSpPr>
            <p:spPr bwMode="auto">
              <a:xfrm>
                <a:off x="2224" y="3688"/>
                <a:ext cx="0" cy="50"/>
              </a:xfrm>
              <a:prstGeom prst="line">
                <a:avLst/>
              </a:prstGeom>
              <a:noFill/>
              <a:ln w="12700">
                <a:solidFill>
                  <a:schemeClr val="tx1"/>
                </a:solidFill>
                <a:round/>
              </a:ln>
            </p:spPr>
            <p:txBody>
              <a:bodyPr wrap="none" anchor="ctr"/>
              <a:lstStyle/>
              <a:p>
                <a:endParaRPr lang="en-US"/>
              </a:p>
            </p:txBody>
          </p:sp>
          <p:sp>
            <p:nvSpPr>
              <p:cNvPr id="130129" name="Line 364"/>
              <p:cNvSpPr>
                <a:spLocks noChangeShapeType="1"/>
              </p:cNvSpPr>
              <p:nvPr/>
            </p:nvSpPr>
            <p:spPr bwMode="auto">
              <a:xfrm>
                <a:off x="2537" y="3688"/>
                <a:ext cx="0" cy="50"/>
              </a:xfrm>
              <a:prstGeom prst="line">
                <a:avLst/>
              </a:prstGeom>
              <a:noFill/>
              <a:ln w="12700">
                <a:solidFill>
                  <a:schemeClr val="tx1"/>
                </a:solidFill>
                <a:round/>
              </a:ln>
            </p:spPr>
            <p:txBody>
              <a:bodyPr wrap="none" anchor="ctr"/>
              <a:lstStyle/>
              <a:p>
                <a:endParaRPr lang="en-US"/>
              </a:p>
            </p:txBody>
          </p:sp>
          <p:sp>
            <p:nvSpPr>
              <p:cNvPr id="130130" name="Rectangle 365"/>
              <p:cNvSpPr>
                <a:spLocks noChangeArrowheads="1"/>
              </p:cNvSpPr>
              <p:nvPr/>
            </p:nvSpPr>
            <p:spPr bwMode="auto">
              <a:xfrm>
                <a:off x="2224" y="3688"/>
                <a:ext cx="310" cy="49"/>
              </a:xfrm>
              <a:prstGeom prst="rect">
                <a:avLst/>
              </a:prstGeom>
              <a:solidFill>
                <a:schemeClr val="hlink"/>
              </a:solidFill>
              <a:ln>
                <a:noFill/>
              </a:ln>
            </p:spPr>
            <p:txBody>
              <a:bodyPr wrap="none" anchor="ctr"/>
              <a:lstStyle/>
              <a:p>
                <a:pPr algn="ctr"/>
                <a:endParaRPr lang="en-US" sz="2400"/>
              </a:p>
            </p:txBody>
          </p:sp>
          <p:sp>
            <p:nvSpPr>
              <p:cNvPr id="130131" name="Oval 366"/>
              <p:cNvSpPr>
                <a:spLocks noChangeArrowheads="1"/>
              </p:cNvSpPr>
              <p:nvPr/>
            </p:nvSpPr>
            <p:spPr bwMode="auto">
              <a:xfrm>
                <a:off x="2221" y="3629"/>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0132" name="Group 367"/>
              <p:cNvGrpSpPr/>
              <p:nvPr/>
            </p:nvGrpSpPr>
            <p:grpSpPr bwMode="auto">
              <a:xfrm>
                <a:off x="2275" y="3571"/>
                <a:ext cx="232" cy="250"/>
                <a:chOff x="2941" y="2425"/>
                <a:chExt cx="235" cy="250"/>
              </a:xfrm>
            </p:grpSpPr>
            <p:sp>
              <p:nvSpPr>
                <p:cNvPr id="130133" name="Rectangle 368"/>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30134" name="Text Box 369"/>
                <p:cNvSpPr txBox="1">
                  <a:spLocks noChangeArrowheads="1"/>
                </p:cNvSpPr>
                <p:nvPr/>
              </p:nvSpPr>
              <p:spPr bwMode="auto">
                <a:xfrm>
                  <a:off x="2941"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D</a:t>
                  </a:r>
                  <a:endParaRPr lang="en-US"/>
                </a:p>
              </p:txBody>
            </p:sp>
          </p:grpSp>
        </p:grpSp>
        <p:grpSp>
          <p:nvGrpSpPr>
            <p:cNvPr id="130099" name="Group 370"/>
            <p:cNvGrpSpPr/>
            <p:nvPr/>
          </p:nvGrpSpPr>
          <p:grpSpPr bwMode="auto">
            <a:xfrm>
              <a:off x="2195" y="3198"/>
              <a:ext cx="315" cy="250"/>
              <a:chOff x="2903" y="2884"/>
              <a:chExt cx="315" cy="250"/>
            </a:xfrm>
          </p:grpSpPr>
          <p:grpSp>
            <p:nvGrpSpPr>
              <p:cNvPr id="130118" name="Group 371"/>
              <p:cNvGrpSpPr/>
              <p:nvPr/>
            </p:nvGrpSpPr>
            <p:grpSpPr bwMode="auto">
              <a:xfrm>
                <a:off x="2903" y="2938"/>
                <a:ext cx="315" cy="144"/>
                <a:chOff x="2903" y="2938"/>
                <a:chExt cx="315" cy="144"/>
              </a:xfrm>
            </p:grpSpPr>
            <p:sp>
              <p:nvSpPr>
                <p:cNvPr id="130122" name="Oval 372"/>
                <p:cNvSpPr>
                  <a:spLocks noChangeArrowheads="1"/>
                </p:cNvSpPr>
                <p:nvPr/>
              </p:nvSpPr>
              <p:spPr bwMode="auto">
                <a:xfrm>
                  <a:off x="2903" y="3001"/>
                  <a:ext cx="312" cy="81"/>
                </a:xfrm>
                <a:prstGeom prst="ellipse">
                  <a:avLst/>
                </a:prstGeom>
                <a:solidFill>
                  <a:schemeClr val="hlink"/>
                </a:solidFill>
                <a:ln w="12700">
                  <a:solidFill>
                    <a:schemeClr val="tx1"/>
                  </a:solidFill>
                  <a:round/>
                </a:ln>
              </p:spPr>
              <p:txBody>
                <a:bodyPr wrap="none" anchor="ctr"/>
                <a:lstStyle/>
                <a:p>
                  <a:endParaRPr lang="en-US"/>
                </a:p>
              </p:txBody>
            </p:sp>
            <p:sp>
              <p:nvSpPr>
                <p:cNvPr id="130123" name="Line 373"/>
                <p:cNvSpPr>
                  <a:spLocks noChangeShapeType="1"/>
                </p:cNvSpPr>
                <p:nvPr/>
              </p:nvSpPr>
              <p:spPr bwMode="auto">
                <a:xfrm>
                  <a:off x="2903" y="2994"/>
                  <a:ext cx="0" cy="50"/>
                </a:xfrm>
                <a:prstGeom prst="line">
                  <a:avLst/>
                </a:prstGeom>
                <a:noFill/>
                <a:ln w="12700">
                  <a:solidFill>
                    <a:schemeClr val="tx1"/>
                  </a:solidFill>
                  <a:round/>
                </a:ln>
              </p:spPr>
              <p:txBody>
                <a:bodyPr wrap="none" anchor="ctr"/>
                <a:lstStyle/>
                <a:p>
                  <a:endParaRPr lang="en-US"/>
                </a:p>
              </p:txBody>
            </p:sp>
            <p:sp>
              <p:nvSpPr>
                <p:cNvPr id="130124" name="Line 374"/>
                <p:cNvSpPr>
                  <a:spLocks noChangeShapeType="1"/>
                </p:cNvSpPr>
                <p:nvPr/>
              </p:nvSpPr>
              <p:spPr bwMode="auto">
                <a:xfrm>
                  <a:off x="3215" y="2994"/>
                  <a:ext cx="0" cy="50"/>
                </a:xfrm>
                <a:prstGeom prst="line">
                  <a:avLst/>
                </a:prstGeom>
                <a:noFill/>
                <a:ln w="12700">
                  <a:solidFill>
                    <a:schemeClr val="tx1"/>
                  </a:solidFill>
                  <a:round/>
                </a:ln>
              </p:spPr>
              <p:txBody>
                <a:bodyPr wrap="none" anchor="ctr"/>
                <a:lstStyle/>
                <a:p>
                  <a:endParaRPr lang="en-US"/>
                </a:p>
              </p:txBody>
            </p:sp>
            <p:sp>
              <p:nvSpPr>
                <p:cNvPr id="130125" name="Rectangle 375"/>
                <p:cNvSpPr>
                  <a:spLocks noChangeArrowheads="1"/>
                </p:cNvSpPr>
                <p:nvPr/>
              </p:nvSpPr>
              <p:spPr bwMode="auto">
                <a:xfrm>
                  <a:off x="2903" y="2994"/>
                  <a:ext cx="309" cy="49"/>
                </a:xfrm>
                <a:prstGeom prst="rect">
                  <a:avLst/>
                </a:prstGeom>
                <a:solidFill>
                  <a:schemeClr val="hlink"/>
                </a:solidFill>
                <a:ln>
                  <a:noFill/>
                </a:ln>
              </p:spPr>
              <p:txBody>
                <a:bodyPr wrap="none" anchor="ctr"/>
                <a:lstStyle/>
                <a:p>
                  <a:pPr algn="ctr"/>
                  <a:endParaRPr lang="en-US" sz="2400"/>
                </a:p>
              </p:txBody>
            </p:sp>
            <p:sp>
              <p:nvSpPr>
                <p:cNvPr id="130126" name="Oval 376"/>
                <p:cNvSpPr>
                  <a:spLocks noChangeArrowheads="1"/>
                </p:cNvSpPr>
                <p:nvPr/>
              </p:nvSpPr>
              <p:spPr bwMode="auto">
                <a:xfrm>
                  <a:off x="2906" y="2938"/>
                  <a:ext cx="312" cy="95"/>
                </a:xfrm>
                <a:prstGeom prst="ellipse">
                  <a:avLst/>
                </a:prstGeom>
                <a:solidFill>
                  <a:schemeClr val="hlink"/>
                </a:solidFill>
                <a:ln w="12700">
                  <a:solidFill>
                    <a:schemeClr val="tx1"/>
                  </a:solidFill>
                  <a:round/>
                </a:ln>
              </p:spPr>
              <p:txBody>
                <a:bodyPr wrap="none" anchor="ctr"/>
                <a:lstStyle/>
                <a:p>
                  <a:endParaRPr lang="en-US"/>
                </a:p>
              </p:txBody>
            </p:sp>
          </p:grpSp>
          <p:grpSp>
            <p:nvGrpSpPr>
              <p:cNvPr id="130119" name="Group 377"/>
              <p:cNvGrpSpPr/>
              <p:nvPr/>
            </p:nvGrpSpPr>
            <p:grpSpPr bwMode="auto">
              <a:xfrm>
                <a:off x="2949" y="2884"/>
                <a:ext cx="232" cy="250"/>
                <a:chOff x="2940" y="2425"/>
                <a:chExt cx="235" cy="250"/>
              </a:xfrm>
            </p:grpSpPr>
            <p:sp>
              <p:nvSpPr>
                <p:cNvPr id="130120" name="Rectangle 378"/>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30121" name="Text Box 379"/>
                <p:cNvSpPr txBox="1">
                  <a:spLocks noChangeArrowheads="1"/>
                </p:cNvSpPr>
                <p:nvPr/>
              </p:nvSpPr>
              <p:spPr bwMode="auto">
                <a:xfrm>
                  <a:off x="2940"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C</a:t>
                  </a:r>
                  <a:endParaRPr lang="en-US"/>
                </a:p>
              </p:txBody>
            </p:sp>
          </p:grpSp>
        </p:grpSp>
        <p:grpSp>
          <p:nvGrpSpPr>
            <p:cNvPr id="130100" name="Group 380"/>
            <p:cNvGrpSpPr/>
            <p:nvPr/>
          </p:nvGrpSpPr>
          <p:grpSpPr bwMode="auto">
            <a:xfrm>
              <a:off x="2607" y="2916"/>
              <a:ext cx="316" cy="250"/>
              <a:chOff x="2217" y="2884"/>
              <a:chExt cx="316" cy="250"/>
            </a:xfrm>
          </p:grpSpPr>
          <p:sp>
            <p:nvSpPr>
              <p:cNvPr id="130110" name="Oval 381"/>
              <p:cNvSpPr>
                <a:spLocks noChangeArrowheads="1"/>
              </p:cNvSpPr>
              <p:nvPr/>
            </p:nvSpPr>
            <p:spPr bwMode="auto">
              <a:xfrm>
                <a:off x="2220" y="3005"/>
                <a:ext cx="313" cy="81"/>
              </a:xfrm>
              <a:prstGeom prst="ellipse">
                <a:avLst/>
              </a:prstGeom>
              <a:solidFill>
                <a:schemeClr val="hlink"/>
              </a:solidFill>
              <a:ln w="12700">
                <a:solidFill>
                  <a:schemeClr val="tx1"/>
                </a:solidFill>
                <a:round/>
              </a:ln>
            </p:spPr>
            <p:txBody>
              <a:bodyPr wrap="none" anchor="ctr"/>
              <a:lstStyle/>
              <a:p>
                <a:endParaRPr lang="en-US"/>
              </a:p>
            </p:txBody>
          </p:sp>
          <p:sp>
            <p:nvSpPr>
              <p:cNvPr id="130111" name="Line 382"/>
              <p:cNvSpPr>
                <a:spLocks noChangeShapeType="1"/>
              </p:cNvSpPr>
              <p:nvPr/>
            </p:nvSpPr>
            <p:spPr bwMode="auto">
              <a:xfrm>
                <a:off x="2220" y="2998"/>
                <a:ext cx="0" cy="50"/>
              </a:xfrm>
              <a:prstGeom prst="line">
                <a:avLst/>
              </a:prstGeom>
              <a:noFill/>
              <a:ln w="12700">
                <a:solidFill>
                  <a:schemeClr val="tx1"/>
                </a:solidFill>
                <a:round/>
              </a:ln>
            </p:spPr>
            <p:txBody>
              <a:bodyPr wrap="none" anchor="ctr"/>
              <a:lstStyle/>
              <a:p>
                <a:endParaRPr lang="en-US"/>
              </a:p>
            </p:txBody>
          </p:sp>
          <p:sp>
            <p:nvSpPr>
              <p:cNvPr id="130112" name="Line 383"/>
              <p:cNvSpPr>
                <a:spLocks noChangeShapeType="1"/>
              </p:cNvSpPr>
              <p:nvPr/>
            </p:nvSpPr>
            <p:spPr bwMode="auto">
              <a:xfrm>
                <a:off x="2533" y="2998"/>
                <a:ext cx="0" cy="50"/>
              </a:xfrm>
              <a:prstGeom prst="line">
                <a:avLst/>
              </a:prstGeom>
              <a:noFill/>
              <a:ln w="12700">
                <a:solidFill>
                  <a:schemeClr val="tx1"/>
                </a:solidFill>
                <a:round/>
              </a:ln>
            </p:spPr>
            <p:txBody>
              <a:bodyPr wrap="none" anchor="ctr"/>
              <a:lstStyle/>
              <a:p>
                <a:endParaRPr lang="en-US"/>
              </a:p>
            </p:txBody>
          </p:sp>
          <p:sp>
            <p:nvSpPr>
              <p:cNvPr id="130113" name="Rectangle 384"/>
              <p:cNvSpPr>
                <a:spLocks noChangeArrowheads="1"/>
              </p:cNvSpPr>
              <p:nvPr/>
            </p:nvSpPr>
            <p:spPr bwMode="auto">
              <a:xfrm>
                <a:off x="2220" y="2998"/>
                <a:ext cx="310" cy="49"/>
              </a:xfrm>
              <a:prstGeom prst="rect">
                <a:avLst/>
              </a:prstGeom>
              <a:solidFill>
                <a:schemeClr val="hlink"/>
              </a:solidFill>
              <a:ln>
                <a:noFill/>
              </a:ln>
            </p:spPr>
            <p:txBody>
              <a:bodyPr wrap="none" anchor="ctr"/>
              <a:lstStyle/>
              <a:p>
                <a:pPr algn="ctr"/>
                <a:endParaRPr lang="en-US" sz="2400"/>
              </a:p>
            </p:txBody>
          </p:sp>
          <p:sp>
            <p:nvSpPr>
              <p:cNvPr id="130114" name="Oval 385"/>
              <p:cNvSpPr>
                <a:spLocks noChangeArrowheads="1"/>
              </p:cNvSpPr>
              <p:nvPr/>
            </p:nvSpPr>
            <p:spPr bwMode="auto">
              <a:xfrm>
                <a:off x="2217" y="2939"/>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0115" name="Group 386"/>
              <p:cNvGrpSpPr/>
              <p:nvPr/>
            </p:nvGrpSpPr>
            <p:grpSpPr bwMode="auto">
              <a:xfrm>
                <a:off x="2270" y="2884"/>
                <a:ext cx="223" cy="250"/>
                <a:chOff x="2945" y="2425"/>
                <a:chExt cx="226" cy="250"/>
              </a:xfrm>
            </p:grpSpPr>
            <p:sp>
              <p:nvSpPr>
                <p:cNvPr id="130116" name="Rectangle 387"/>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0117" name="Text Box 388"/>
                <p:cNvSpPr txBox="1">
                  <a:spLocks noChangeArrowheads="1"/>
                </p:cNvSpPr>
                <p:nvPr/>
              </p:nvSpPr>
              <p:spPr bwMode="auto">
                <a:xfrm>
                  <a:off x="2945" y="2425"/>
                  <a:ext cx="226"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B</a:t>
                  </a:r>
                  <a:endParaRPr lang="en-US"/>
                </a:p>
              </p:txBody>
            </p:sp>
          </p:grpSp>
        </p:grpSp>
        <p:sp>
          <p:nvSpPr>
            <p:cNvPr id="130101" name="Freeform 389"/>
            <p:cNvSpPr/>
            <p:nvPr/>
          </p:nvSpPr>
          <p:spPr bwMode="auto">
            <a:xfrm flipH="1">
              <a:off x="2505" y="2819"/>
              <a:ext cx="198" cy="156"/>
            </a:xfrm>
            <a:custGeom>
              <a:avLst/>
              <a:gdLst>
                <a:gd name="T0" fmla="*/ 0 w 342"/>
                <a:gd name="T1" fmla="*/ 39 h 186"/>
                <a:gd name="T2" fmla="*/ 3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102" name="Freeform 390"/>
            <p:cNvSpPr/>
            <p:nvPr/>
          </p:nvSpPr>
          <p:spPr bwMode="auto">
            <a:xfrm flipH="1" flipV="1">
              <a:off x="2484" y="3125"/>
              <a:ext cx="180" cy="141"/>
            </a:xfrm>
            <a:custGeom>
              <a:avLst/>
              <a:gdLst>
                <a:gd name="T0" fmla="*/ 0 w 342"/>
                <a:gd name="T1" fmla="*/ 15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triangle" w="med" len="med"/>
              <a:tailEnd type="none" w="med" len="med"/>
            </a:ln>
          </p:spPr>
          <p:txBody>
            <a:bodyPr wrap="none" anchor="ctr"/>
            <a:lstStyle/>
            <a:p>
              <a:endParaRPr lang="en-US"/>
            </a:p>
          </p:txBody>
        </p:sp>
        <p:sp>
          <p:nvSpPr>
            <p:cNvPr id="130103" name="Freeform 391"/>
            <p:cNvSpPr/>
            <p:nvPr/>
          </p:nvSpPr>
          <p:spPr bwMode="auto">
            <a:xfrm flipV="1">
              <a:off x="2031" y="3107"/>
              <a:ext cx="204" cy="156"/>
            </a:xfrm>
            <a:custGeom>
              <a:avLst/>
              <a:gdLst>
                <a:gd name="T0" fmla="*/ 0 w 342"/>
                <a:gd name="T1" fmla="*/ 39 h 186"/>
                <a:gd name="T2" fmla="*/ 4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104" name="Freeform 392"/>
            <p:cNvSpPr/>
            <p:nvPr/>
          </p:nvSpPr>
          <p:spPr bwMode="auto">
            <a:xfrm flipH="1" flipV="1">
              <a:off x="2400" y="3086"/>
              <a:ext cx="189" cy="153"/>
            </a:xfrm>
            <a:custGeom>
              <a:avLst/>
              <a:gdLst>
                <a:gd name="T0" fmla="*/ 0 w 342"/>
                <a:gd name="T1" fmla="*/ 32 h 186"/>
                <a:gd name="T2" fmla="*/ 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105" name="Freeform 393"/>
            <p:cNvSpPr/>
            <p:nvPr/>
          </p:nvSpPr>
          <p:spPr bwMode="auto">
            <a:xfrm flipH="1">
              <a:off x="2124" y="3083"/>
              <a:ext cx="174" cy="147"/>
            </a:xfrm>
            <a:custGeom>
              <a:avLst/>
              <a:gdLst>
                <a:gd name="T0" fmla="*/ 0 w 342"/>
                <a:gd name="T1" fmla="*/ 22 h 186"/>
                <a:gd name="T2" fmla="*/ 1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type="none" w="med" len="med"/>
              <a:tailEnd type="triangle" w="med" len="med"/>
            </a:ln>
          </p:spPr>
          <p:txBody>
            <a:bodyPr wrap="none" anchor="ctr"/>
            <a:lstStyle/>
            <a:p>
              <a:endParaRPr lang="en-US"/>
            </a:p>
          </p:txBody>
        </p:sp>
        <p:sp>
          <p:nvSpPr>
            <p:cNvPr id="130106" name="Text Box 394"/>
            <p:cNvSpPr txBox="1">
              <a:spLocks noChangeArrowheads="1"/>
            </p:cNvSpPr>
            <p:nvPr/>
          </p:nvSpPr>
          <p:spPr bwMode="auto">
            <a:xfrm>
              <a:off x="1711" y="3612"/>
              <a:ext cx="1418" cy="43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ct val="80000"/>
                </a:lnSpc>
              </a:pPr>
              <a:r>
                <a:rPr lang="en-US" sz="1600">
                  <a:solidFill>
                    <a:srgbClr val="000099"/>
                  </a:solidFill>
                  <a:latin typeface="Gill Sans MT" pitchFamily="34" charset="0"/>
                </a:rPr>
                <a:t>given these costs,</a:t>
              </a:r>
            </a:p>
            <a:p>
              <a:pPr algn="ctr">
                <a:lnSpc>
                  <a:spcPct val="80000"/>
                </a:lnSpc>
              </a:pPr>
              <a:r>
                <a:rPr lang="en-US" sz="1600">
                  <a:solidFill>
                    <a:srgbClr val="000099"/>
                  </a:solidFill>
                  <a:latin typeface="Gill Sans MT" pitchFamily="34" charset="0"/>
                </a:rPr>
                <a:t>find new routing….</a:t>
              </a:r>
            </a:p>
            <a:p>
              <a:pPr algn="ctr">
                <a:lnSpc>
                  <a:spcPct val="80000"/>
                </a:lnSpc>
              </a:pPr>
              <a:r>
                <a:rPr lang="en-US" sz="1600">
                  <a:solidFill>
                    <a:srgbClr val="000099"/>
                  </a:solidFill>
                  <a:latin typeface="Gill Sans MT" pitchFamily="34" charset="0"/>
                </a:rPr>
                <a:t>resulting in new costs</a:t>
              </a:r>
            </a:p>
          </p:txBody>
        </p:sp>
        <p:sp>
          <p:nvSpPr>
            <p:cNvPr id="130107" name="Line 395"/>
            <p:cNvSpPr>
              <a:spLocks noChangeShapeType="1"/>
            </p:cNvSpPr>
            <p:nvPr/>
          </p:nvSpPr>
          <p:spPr bwMode="auto">
            <a:xfrm flipV="1">
              <a:off x="2358" y="3407"/>
              <a:ext cx="0" cy="156"/>
            </a:xfrm>
            <a:prstGeom prst="line">
              <a:avLst/>
            </a:prstGeom>
            <a:noFill/>
            <a:ln w="19050">
              <a:solidFill>
                <a:srgbClr val="FF0000"/>
              </a:solidFill>
              <a:round/>
              <a:tailEnd type="triangle" w="med" len="med"/>
            </a:ln>
          </p:spPr>
          <p:txBody>
            <a:bodyPr wrap="none" anchor="ctr"/>
            <a:lstStyle/>
            <a:p>
              <a:endParaRPr lang="en-US"/>
            </a:p>
          </p:txBody>
        </p:sp>
        <p:sp>
          <p:nvSpPr>
            <p:cNvPr id="130108" name="Line 396"/>
            <p:cNvSpPr>
              <a:spLocks noChangeShapeType="1"/>
            </p:cNvSpPr>
            <p:nvPr/>
          </p:nvSpPr>
          <p:spPr bwMode="auto">
            <a:xfrm flipV="1">
              <a:off x="1938" y="3119"/>
              <a:ext cx="0" cy="156"/>
            </a:xfrm>
            <a:prstGeom prst="line">
              <a:avLst/>
            </a:prstGeom>
            <a:noFill/>
            <a:ln w="19050">
              <a:solidFill>
                <a:srgbClr val="FF0000"/>
              </a:solidFill>
              <a:round/>
              <a:tailEnd type="triangle" w="med" len="med"/>
            </a:ln>
          </p:spPr>
          <p:txBody>
            <a:bodyPr wrap="none" anchor="ctr"/>
            <a:lstStyle/>
            <a:p>
              <a:endParaRPr lang="en-US"/>
            </a:p>
          </p:txBody>
        </p:sp>
        <p:sp>
          <p:nvSpPr>
            <p:cNvPr id="130109" name="Line 397"/>
            <p:cNvSpPr>
              <a:spLocks noChangeShapeType="1"/>
            </p:cNvSpPr>
            <p:nvPr/>
          </p:nvSpPr>
          <p:spPr bwMode="auto">
            <a:xfrm flipV="1">
              <a:off x="2778" y="3122"/>
              <a:ext cx="0" cy="156"/>
            </a:xfrm>
            <a:prstGeom prst="line">
              <a:avLst/>
            </a:prstGeom>
            <a:noFill/>
            <a:ln w="19050">
              <a:solidFill>
                <a:srgbClr val="FF0000"/>
              </a:solidFill>
              <a:round/>
              <a:tailEnd type="triangle" w="med" len="med"/>
            </a:ln>
          </p:spPr>
          <p:txBody>
            <a:bodyPr wrap="none" anchor="ctr"/>
            <a:lstStyle/>
            <a:p>
              <a:endParaRPr lang="en-US"/>
            </a:p>
          </p:txBody>
        </p:sp>
      </p:grpSp>
      <p:sp>
        <p:nvSpPr>
          <p:cNvPr id="721294" name="Freeform 398"/>
          <p:cNvSpPr/>
          <p:nvPr/>
        </p:nvSpPr>
        <p:spPr bwMode="auto">
          <a:xfrm>
            <a:off x="7254240" y="4397375"/>
            <a:ext cx="1193800" cy="866775"/>
          </a:xfrm>
          <a:custGeom>
            <a:avLst/>
            <a:gdLst>
              <a:gd name="T0" fmla="*/ 2147483647 w 752"/>
              <a:gd name="T1" fmla="*/ 2147483647 h 546"/>
              <a:gd name="T2" fmla="*/ 2147483647 w 752"/>
              <a:gd name="T3" fmla="*/ 2147483647 h 546"/>
              <a:gd name="T4" fmla="*/ 0 w 752"/>
              <a:gd name="T5" fmla="*/ 2147483647 h 546"/>
              <a:gd name="T6" fmla="*/ 2147483647 w 752"/>
              <a:gd name="T7" fmla="*/ 0 h 546"/>
              <a:gd name="T8" fmla="*/ 0 60000 65536"/>
              <a:gd name="T9" fmla="*/ 0 60000 65536"/>
              <a:gd name="T10" fmla="*/ 0 60000 65536"/>
              <a:gd name="T11" fmla="*/ 0 60000 65536"/>
              <a:gd name="T12" fmla="*/ 0 w 752"/>
              <a:gd name="T13" fmla="*/ 0 h 546"/>
              <a:gd name="T14" fmla="*/ 752 w 752"/>
              <a:gd name="T15" fmla="*/ 546 h 546"/>
            </a:gdLst>
            <a:ahLst/>
            <a:cxnLst>
              <a:cxn ang="T8">
                <a:pos x="T0" y="T1"/>
              </a:cxn>
              <a:cxn ang="T9">
                <a:pos x="T2" y="T3"/>
              </a:cxn>
              <a:cxn ang="T10">
                <a:pos x="T4" y="T5"/>
              </a:cxn>
              <a:cxn ang="T11">
                <a:pos x="T6" y="T7"/>
              </a:cxn>
            </a:cxnLst>
            <a:rect l="T12" t="T13" r="T14" b="T15"/>
            <a:pathLst>
              <a:path w="752" h="546">
                <a:moveTo>
                  <a:pt x="752" y="264"/>
                </a:moveTo>
                <a:lnTo>
                  <a:pt x="383" y="546"/>
                </a:lnTo>
                <a:lnTo>
                  <a:pt x="0" y="248"/>
                </a:lnTo>
                <a:lnTo>
                  <a:pt x="383" y="0"/>
                </a:lnTo>
              </a:path>
            </a:pathLst>
          </a:custGeom>
          <a:noFill/>
          <a:ln w="57150" cap="flat" cmpd="sng">
            <a:solidFill>
              <a:srgbClr val="CC0000"/>
            </a:solidFill>
            <a:prstDash val="solid"/>
            <a:round/>
            <a:headEnd type="none" w="med" len="med"/>
            <a:tailEnd type="triangle" w="med" len="med"/>
          </a:ln>
        </p:spPr>
        <p:txBody>
          <a:bodyPr wrap="none"/>
          <a:lstStyle/>
          <a:p>
            <a:endParaRPr lang="en-US"/>
          </a:p>
        </p:txBody>
      </p:sp>
      <p:grpSp>
        <p:nvGrpSpPr>
          <p:cNvPr id="721291" name="Group 399"/>
          <p:cNvGrpSpPr/>
          <p:nvPr/>
        </p:nvGrpSpPr>
        <p:grpSpPr bwMode="auto">
          <a:xfrm>
            <a:off x="7079615" y="4383088"/>
            <a:ext cx="1430338" cy="966787"/>
            <a:chOff x="1870" y="2772"/>
            <a:chExt cx="901" cy="609"/>
          </a:xfrm>
        </p:grpSpPr>
        <p:sp>
          <p:nvSpPr>
            <p:cNvPr id="130089" name="Text Box 400"/>
            <p:cNvSpPr txBox="1">
              <a:spLocks noChangeArrowheads="1"/>
            </p:cNvSpPr>
            <p:nvPr/>
          </p:nvSpPr>
          <p:spPr bwMode="auto">
            <a:xfrm>
              <a:off x="1870" y="2772"/>
              <a:ext cx="305"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2+e</a:t>
              </a:r>
            </a:p>
          </p:txBody>
        </p:sp>
        <p:sp>
          <p:nvSpPr>
            <p:cNvPr id="130090" name="Text Box 401"/>
            <p:cNvSpPr txBox="1">
              <a:spLocks noChangeArrowheads="1"/>
            </p:cNvSpPr>
            <p:nvPr/>
          </p:nvSpPr>
          <p:spPr bwMode="auto">
            <a:xfrm>
              <a:off x="2593" y="2793"/>
              <a:ext cx="178"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0</a:t>
              </a:r>
            </a:p>
          </p:txBody>
        </p:sp>
        <p:sp>
          <p:nvSpPr>
            <p:cNvPr id="130091" name="Text Box 402"/>
            <p:cNvSpPr txBox="1">
              <a:spLocks noChangeArrowheads="1"/>
            </p:cNvSpPr>
            <p:nvPr/>
          </p:nvSpPr>
          <p:spPr bwMode="auto">
            <a:xfrm>
              <a:off x="2501" y="3189"/>
              <a:ext cx="178"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0</a:t>
              </a:r>
            </a:p>
          </p:txBody>
        </p:sp>
        <p:sp>
          <p:nvSpPr>
            <p:cNvPr id="130092" name="Text Box 403"/>
            <p:cNvSpPr txBox="1">
              <a:spLocks noChangeArrowheads="1"/>
            </p:cNvSpPr>
            <p:nvPr/>
          </p:nvSpPr>
          <p:spPr bwMode="auto">
            <a:xfrm>
              <a:off x="1987" y="3153"/>
              <a:ext cx="178"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0</a:t>
              </a:r>
            </a:p>
          </p:txBody>
        </p:sp>
        <p:sp>
          <p:nvSpPr>
            <p:cNvPr id="130093" name="Text Box 404"/>
            <p:cNvSpPr txBox="1">
              <a:spLocks noChangeArrowheads="1"/>
            </p:cNvSpPr>
            <p:nvPr/>
          </p:nvSpPr>
          <p:spPr bwMode="auto">
            <a:xfrm>
              <a:off x="2135" y="3009"/>
              <a:ext cx="305"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1+e</a:t>
              </a:r>
            </a:p>
          </p:txBody>
        </p:sp>
        <p:sp>
          <p:nvSpPr>
            <p:cNvPr id="130094" name="Text Box 405"/>
            <p:cNvSpPr txBox="1">
              <a:spLocks noChangeArrowheads="1"/>
            </p:cNvSpPr>
            <p:nvPr/>
          </p:nvSpPr>
          <p:spPr bwMode="auto">
            <a:xfrm>
              <a:off x="2380" y="3003"/>
              <a:ext cx="178" cy="19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400"/>
                <a:t>1</a:t>
              </a:r>
            </a:p>
          </p:txBody>
        </p:sp>
      </p:grpSp>
      <p:sp>
        <p:nvSpPr>
          <p:cNvPr id="237" name="Slide Number Placeholder 5"/>
          <p:cNvSpPr>
            <a:spLocks noGrp="1"/>
          </p:cNvSpPr>
          <p:nvPr>
            <p:ph type="sldNum" sz="quarter" idx="12"/>
          </p:nvPr>
        </p:nvSpPr>
        <p:spPr>
          <a:xfrm>
            <a:off x="8456154" y="6533627"/>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41</a:t>
            </a:fld>
            <a:endParaRPr lang="en-US" sz="1200" dirty="0">
              <a:latin typeface="Tahoma" panose="020B0604030504040204" charset="0"/>
            </a:endParaRPr>
          </a:p>
        </p:txBody>
      </p:sp>
      <p:sp>
        <p:nvSpPr>
          <p:cNvPr id="238" name="Footer Placeholder 2"/>
          <p:cNvSpPr>
            <a:spLocks noGrp="1"/>
          </p:cNvSpPr>
          <p:nvPr>
            <p:ph type="ftr" sz="quarter" idx="11"/>
          </p:nvPr>
        </p:nvSpPr>
        <p:spPr>
          <a:xfrm>
            <a:off x="6375496" y="6532813"/>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21186"/>
                                        </p:tgtEl>
                                        <p:attrNameLst>
                                          <p:attrName>style.visibility</p:attrName>
                                        </p:attrNameLst>
                                      </p:cBhvr>
                                      <p:to>
                                        <p:strVal val="visible"/>
                                      </p:to>
                                    </p:set>
                                    <p:animEffect transition="in" filter="dissolve">
                                      <p:cBhvr>
                                        <p:cTn id="12" dur="500"/>
                                        <p:tgtEl>
                                          <p:spTgt spid="721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dissolve">
                                      <p:cBhvr>
                                        <p:cTn id="17" dur="500"/>
                                        <p:tgtEl>
                                          <p:spTgt spid="2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2"/>
                                        </p:tgtEl>
                                        <p:attrNameLst>
                                          <p:attrName>style.visibility</p:attrName>
                                        </p:attrNameLst>
                                      </p:cBhvr>
                                      <p:to>
                                        <p:strVal val="visible"/>
                                      </p:to>
                                    </p:set>
                                    <p:animEffect transition="in" filter="dissolve">
                                      <p:cBhvr>
                                        <p:cTn id="22" dur="500"/>
                                        <p:tgtEl>
                                          <p:spTgt spid="2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21124"/>
                                        </p:tgtEl>
                                        <p:attrNameLst>
                                          <p:attrName>style.visibility</p:attrName>
                                        </p:attrNameLst>
                                      </p:cBhvr>
                                      <p:to>
                                        <p:strVal val="visible"/>
                                      </p:to>
                                    </p:set>
                                    <p:animEffect transition="in" filter="dissolve">
                                      <p:cBhvr>
                                        <p:cTn id="27" dur="500"/>
                                        <p:tgtEl>
                                          <p:spTgt spid="721124"/>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721280"/>
                                        </p:tgtEl>
                                        <p:attrNameLst>
                                          <p:attrName>style.visibility</p:attrName>
                                        </p:attrNameLst>
                                      </p:cBhvr>
                                      <p:to>
                                        <p:strVal val="visible"/>
                                      </p:to>
                                    </p:set>
                                    <p:animEffect transition="in" filter="dissolve">
                                      <p:cBhvr>
                                        <p:cTn id="32" dur="500"/>
                                        <p:tgtEl>
                                          <p:spTgt spid="721280"/>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721281"/>
                                        </p:tgtEl>
                                        <p:attrNameLst>
                                          <p:attrName>style.visibility</p:attrName>
                                        </p:attrNameLst>
                                      </p:cBhvr>
                                      <p:to>
                                        <p:strVal val="visible"/>
                                      </p:to>
                                    </p:set>
                                    <p:animEffect transition="in" filter="dissolve">
                                      <p:cBhvr>
                                        <p:cTn id="37" dur="500"/>
                                        <p:tgtEl>
                                          <p:spTgt spid="721281"/>
                                        </p:tgtEl>
                                      </p:cBhvr>
                                    </p:animEffect>
                                  </p:childTnLst>
                                </p:cTn>
                              </p:par>
                            </p:childTnLst>
                          </p:cTn>
                        </p:par>
                        <p:par>
                          <p:cTn id="38" fill="hold">
                            <p:stCondLst>
                              <p:cond delay="500"/>
                            </p:stCondLst>
                            <p:childTnLst>
                              <p:par>
                                <p:cTn id="39" presetID="9" presetClass="entr" presetSubtype="0" fill="hold" grpId="0" nodeType="afterEffect">
                                  <p:stCondLst>
                                    <p:cond delay="0"/>
                                  </p:stCondLst>
                                  <p:childTnLst>
                                    <p:set>
                                      <p:cBhvr>
                                        <p:cTn id="40" dur="1" fill="hold">
                                          <p:stCondLst>
                                            <p:cond delay="0"/>
                                          </p:stCondLst>
                                        </p:cTn>
                                        <p:tgtEl>
                                          <p:spTgt spid="721294"/>
                                        </p:tgtEl>
                                        <p:attrNameLst>
                                          <p:attrName>style.visibility</p:attrName>
                                        </p:attrNameLst>
                                      </p:cBhvr>
                                      <p:to>
                                        <p:strVal val="visible"/>
                                      </p:to>
                                    </p:set>
                                    <p:animEffect transition="in" filter="dissolve">
                                      <p:cBhvr>
                                        <p:cTn id="41" dur="500"/>
                                        <p:tgtEl>
                                          <p:spTgt spid="721294"/>
                                        </p:tgtEl>
                                      </p:cBhvr>
                                    </p:animEffect>
                                  </p:childTnLst>
                                </p:cTn>
                              </p:par>
                            </p:childTnLst>
                          </p:cTn>
                        </p:par>
                        <p:par>
                          <p:cTn id="42" fill="hold">
                            <p:stCondLst>
                              <p:cond delay="1000"/>
                            </p:stCondLst>
                            <p:childTnLst>
                              <p:par>
                                <p:cTn id="43" presetID="9" presetClass="entr" presetSubtype="0" fill="hold" nodeType="afterEffect">
                                  <p:stCondLst>
                                    <p:cond delay="0"/>
                                  </p:stCondLst>
                                  <p:childTnLst>
                                    <p:set>
                                      <p:cBhvr>
                                        <p:cTn id="44" dur="1" fill="hold">
                                          <p:stCondLst>
                                            <p:cond delay="0"/>
                                          </p:stCondLst>
                                        </p:cTn>
                                        <p:tgtEl>
                                          <p:spTgt spid="721291"/>
                                        </p:tgtEl>
                                        <p:attrNameLst>
                                          <p:attrName>style.visibility</p:attrName>
                                        </p:attrNameLst>
                                      </p:cBhvr>
                                      <p:to>
                                        <p:strVal val="visible"/>
                                      </p:to>
                                    </p:set>
                                    <p:animEffect transition="in" filter="dissolve">
                                      <p:cBhvr>
                                        <p:cTn id="45" dur="500"/>
                                        <p:tgtEl>
                                          <p:spTgt spid="7212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1186" grpId="0" bldLvl="0" animBg="1"/>
      <p:bldP spid="721124" grpId="0" bldLvl="0" animBg="1"/>
      <p:bldP spid="721294" grpId="0" bldLvl="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p:spPr>
      </p:pic>
      <p:sp>
        <p:nvSpPr>
          <p:cNvPr id="43012" name="Rectangle 3"/>
          <p:cNvSpPr>
            <a:spLocks noGrp="1" noChangeArrowheads="1"/>
          </p:cNvSpPr>
          <p:nvPr>
            <p:ph type="body" sz="half" idx="1"/>
          </p:nvPr>
        </p:nvSpPr>
        <p:spPr/>
        <p:txBody>
          <a:bodyPr/>
          <a:lstStyle/>
          <a:p>
            <a:pPr>
              <a:lnSpc>
                <a:spcPct val="100000"/>
              </a:lnSpc>
              <a:buFont typeface="Wingdings" panose="05000000000000000000" charset="0"/>
              <a:buNone/>
            </a:pPr>
            <a:r>
              <a:rPr lang="en-US" sz="2400" dirty="0">
                <a:latin typeface="Gill Sans MT" pitchFamily="34" charset="0"/>
              </a:rPr>
              <a:t>5.1 introduction</a:t>
            </a:r>
          </a:p>
          <a:p>
            <a:pPr>
              <a:lnSpc>
                <a:spcPct val="100000"/>
              </a:lnSpc>
              <a:buFont typeface="Wingdings" panose="05000000000000000000" charset="0"/>
              <a:buNone/>
            </a:pPr>
            <a:r>
              <a:rPr lang="en-US" sz="2400" dirty="0">
                <a:solidFill>
                  <a:srgbClr val="CC0000"/>
                </a:solidFill>
                <a:latin typeface="Gill Sans MT" pitchFamily="34" charset="0"/>
              </a:rPr>
              <a:t>5.2 routing protocols</a:t>
            </a:r>
          </a:p>
          <a:p>
            <a:pPr>
              <a:lnSpc>
                <a:spcPts val="2580"/>
              </a:lnSpc>
            </a:pPr>
            <a:r>
              <a:rPr lang="en-US" sz="2400" dirty="0">
                <a:solidFill>
                  <a:srgbClr val="000000"/>
                </a:solidFill>
                <a:latin typeface="Gill Sans MT" pitchFamily="34" charset="0"/>
              </a:rPr>
              <a:t>link state</a:t>
            </a:r>
          </a:p>
          <a:p>
            <a:pPr>
              <a:lnSpc>
                <a:spcPts val="2580"/>
              </a:lnSpc>
            </a:pPr>
            <a:r>
              <a:rPr lang="en-US" sz="2400" dirty="0">
                <a:solidFill>
                  <a:srgbClr val="CC0000"/>
                </a:solidFill>
                <a:latin typeface="Gill Sans MT" pitchFamily="34" charset="0"/>
              </a:rPr>
              <a:t>distance vector</a:t>
            </a:r>
          </a:p>
          <a:p>
            <a:pPr marL="462280" indent="-462280">
              <a:lnSpc>
                <a:spcPct val="100000"/>
              </a:lnSpc>
              <a:buNone/>
            </a:pPr>
            <a:r>
              <a:rPr lang="en-US" sz="2400" dirty="0"/>
              <a:t>5.3 intra-AS routing in the Internet: OSPF</a:t>
            </a:r>
          </a:p>
          <a:p>
            <a:pPr marL="462280" indent="-462280">
              <a:lnSpc>
                <a:spcPct val="100000"/>
              </a:lnSpc>
              <a:buNone/>
            </a:pPr>
            <a:r>
              <a:rPr lang="en-US" sz="2400" dirty="0"/>
              <a:t>5.4 routing among the ISPs: BGP</a:t>
            </a:r>
            <a:endParaRPr lang="en-US" sz="2400" dirty="0">
              <a:latin typeface="Gill Sans MT" pitchFamily="34" charset="0"/>
            </a:endParaRPr>
          </a:p>
        </p:txBody>
      </p:sp>
      <p:sp>
        <p:nvSpPr>
          <p:cNvPr id="43013" name="Rectangle 4"/>
          <p:cNvSpPr>
            <a:spLocks noGrp="1" noChangeArrowheads="1"/>
          </p:cNvSpPr>
          <p:nvPr>
            <p:ph type="body" sz="half" idx="2"/>
          </p:nvPr>
        </p:nvSpPr>
        <p:spPr/>
        <p:txBody>
          <a:bodyPr/>
          <a:lstStyle/>
          <a:p>
            <a:pPr marL="462280" indent="-462280">
              <a:lnSpc>
                <a:spcPct val="100000"/>
              </a:lnSpc>
              <a:buFont typeface="Wingdings" panose="05000000000000000000" charset="0"/>
              <a:buNone/>
            </a:pPr>
            <a:r>
              <a:rPr lang="en-US" sz="2400" dirty="0">
                <a:latin typeface="Gill Sans MT" pitchFamily="34" charset="0"/>
              </a:rPr>
              <a:t>5.5 The SDN control plane</a:t>
            </a:r>
          </a:p>
          <a:p>
            <a:pPr marL="462280" indent="-462280">
              <a:lnSpc>
                <a:spcPct val="100000"/>
              </a:lnSpc>
              <a:buNone/>
            </a:pPr>
            <a:r>
              <a:rPr lang="en-US" sz="2400" dirty="0"/>
              <a:t>5.6 ICMP: The Internet Control Message Protocol </a:t>
            </a:r>
          </a:p>
          <a:p>
            <a:pPr marL="462280" indent="-462280">
              <a:lnSpc>
                <a:spcPct val="100000"/>
              </a:lnSpc>
              <a:buNone/>
            </a:pPr>
            <a:r>
              <a:rPr lang="en-US" sz="2400" dirty="0"/>
              <a:t>5.7 Network management and SNMP</a:t>
            </a:r>
            <a:endParaRPr lang="en-US" sz="2400" dirty="0">
              <a:latin typeface="Gill Sans MT" pitchFamily="34" charset="0"/>
            </a:endParaRPr>
          </a:p>
        </p:txBody>
      </p:sp>
      <p:sp>
        <p:nvSpPr>
          <p:cNvPr id="43014" name="Rectangle 2"/>
          <p:cNvSpPr>
            <a:spLocks noChangeArrowheads="1"/>
          </p:cNvSpPr>
          <p:nvPr/>
        </p:nvSpPr>
        <p:spPr bwMode="auto">
          <a:xfrm>
            <a:off x="533400" y="228600"/>
            <a:ext cx="7772400" cy="1143000"/>
          </a:xfrm>
          <a:prstGeom prst="rect">
            <a:avLst/>
          </a:prstGeom>
          <a:noFill/>
          <a:ln>
            <a:noFill/>
          </a:ln>
        </p:spPr>
        <p:txBody>
          <a:bodyPr anchor="ctr"/>
          <a:lstStyle/>
          <a:p>
            <a:r>
              <a:rPr lang="en-US" sz="4400" dirty="0">
                <a:solidFill>
                  <a:srgbClr val="000099"/>
                </a:solidFill>
                <a:latin typeface="Gill Sans MT" pitchFamily="34" charset="0"/>
              </a:rPr>
              <a:t>Chapter 5: outline</a:t>
            </a:r>
          </a:p>
        </p:txBody>
      </p:sp>
      <p:sp>
        <p:nvSpPr>
          <p:cNvPr id="10"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42</a:t>
            </a:fld>
            <a:endParaRPr lang="en-US" sz="1200" dirty="0">
              <a:latin typeface="Tahoma" panose="020B0604030504040204" charset="0"/>
            </a:endParaRPr>
          </a:p>
        </p:txBody>
      </p:sp>
      <p:sp>
        <p:nvSpPr>
          <p:cNvPr id="11"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2099"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8788" y="942975"/>
            <a:ext cx="6399212" cy="173038"/>
          </a:xfrm>
          <a:prstGeom prst="rect">
            <a:avLst/>
          </a:prstGeom>
          <a:noFill/>
          <a:ln>
            <a:noFill/>
          </a:ln>
        </p:spPr>
      </p:pic>
      <p:sp>
        <p:nvSpPr>
          <p:cNvPr id="87045" name="Rectangle 2"/>
          <p:cNvSpPr>
            <a:spLocks noGrp="1" noChangeArrowheads="1"/>
          </p:cNvSpPr>
          <p:nvPr>
            <p:ph type="title"/>
          </p:nvPr>
        </p:nvSpPr>
        <p:spPr>
          <a:xfrm>
            <a:off x="466725" y="296863"/>
            <a:ext cx="7772400" cy="841375"/>
          </a:xfrm>
        </p:spPr>
        <p:txBody>
          <a:bodyPr/>
          <a:lstStyle/>
          <a:p>
            <a:pPr>
              <a:defRPr/>
            </a:pPr>
            <a:r>
              <a:rPr lang="en-US" dirty="0">
                <a:cs typeface="+mj-cs"/>
              </a:rPr>
              <a:t>Distance vector algorithm </a:t>
            </a:r>
          </a:p>
        </p:txBody>
      </p:sp>
      <p:sp>
        <p:nvSpPr>
          <p:cNvPr id="14"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43</a:t>
            </a:fld>
            <a:endParaRPr lang="en-US" sz="1200" dirty="0">
              <a:latin typeface="Tahoma" panose="020B0604030504040204" charset="0"/>
            </a:endParaRPr>
          </a:p>
        </p:txBody>
      </p:sp>
      <p:sp>
        <p:nvSpPr>
          <p:cNvPr id="15"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
        <p:nvSpPr>
          <p:cNvPr id="4" name="文本框 3"/>
          <p:cNvSpPr txBox="1"/>
          <p:nvPr/>
        </p:nvSpPr>
        <p:spPr>
          <a:xfrm>
            <a:off x="680481" y="1515606"/>
            <a:ext cx="7344888" cy="4437690"/>
          </a:xfrm>
          <a:prstGeom prst="rect">
            <a:avLst/>
          </a:prstGeom>
          <a:noFill/>
        </p:spPr>
        <p:txBody>
          <a:bodyPr wrap="square">
            <a:spAutoFit/>
          </a:bodyPr>
          <a:lstStyle/>
          <a:p>
            <a:pPr marL="342900" indent="-342900">
              <a:lnSpc>
                <a:spcPct val="114000"/>
              </a:lnSpc>
              <a:spcBef>
                <a:spcPts val="1000"/>
              </a:spcBef>
              <a:buFont typeface="Wingdings" panose="05000000000000000000" pitchFamily="2" charset="2"/>
              <a:buChar char="Ø"/>
            </a:pPr>
            <a:r>
              <a:rPr lang="zh-CN" altLang="en-US" sz="2200" dirty="0">
                <a:latin typeface="FZKai-Z03" panose="03000509000000000000" pitchFamily="66" charset="-122"/>
                <a:ea typeface="FZKai-Z03" panose="03000509000000000000" pitchFamily="66" charset="-122"/>
              </a:rPr>
              <a:t>距离向量路由算法，基于</a:t>
            </a:r>
            <a:r>
              <a:rPr lang="en-GB" altLang="zh-CN" sz="2200" dirty="0">
                <a:latin typeface="FZKai-Z03" panose="03000509000000000000" pitchFamily="66" charset="-122"/>
                <a:ea typeface="FZKai-Z03" panose="03000509000000000000" pitchFamily="66" charset="-122"/>
              </a:rPr>
              <a:t>Bellman-Ford</a:t>
            </a:r>
            <a:r>
              <a:rPr lang="zh-CN" altLang="en-US" sz="2200" dirty="0">
                <a:latin typeface="FZKai-Z03" panose="03000509000000000000" pitchFamily="66" charset="-122"/>
                <a:ea typeface="FZKai-Z03" panose="03000509000000000000" pitchFamily="66" charset="-122"/>
              </a:rPr>
              <a:t>方程和动态规划思想，通过</a:t>
            </a:r>
            <a:r>
              <a:rPr lang="zh-CN" altLang="en-US" sz="2200" dirty="0">
                <a:solidFill>
                  <a:srgbClr val="C00000"/>
                </a:solidFill>
                <a:latin typeface="FZKai-Z03" panose="03000509000000000000" pitchFamily="66" charset="-122"/>
                <a:ea typeface="FZKai-Z03" panose="03000509000000000000" pitchFamily="66" charset="-122"/>
              </a:rPr>
              <a:t>节点之间的信息交流</a:t>
            </a:r>
            <a:r>
              <a:rPr lang="zh-CN" altLang="en-US" sz="2200" dirty="0">
                <a:latin typeface="FZKai-Z03" panose="03000509000000000000" pitchFamily="66" charset="-122"/>
                <a:ea typeface="FZKai-Z03" panose="03000509000000000000" pitchFamily="66" charset="-122"/>
              </a:rPr>
              <a:t>来计算最短路径费用。</a:t>
            </a:r>
            <a:endParaRPr lang="en-US" altLang="zh-CN" sz="2200" dirty="0">
              <a:latin typeface="FZKai-Z03" panose="03000509000000000000" pitchFamily="66" charset="-122"/>
              <a:ea typeface="FZKai-Z03" panose="03000509000000000000" pitchFamily="66" charset="-122"/>
            </a:endParaRPr>
          </a:p>
          <a:p>
            <a:pPr marL="342900" indent="-342900">
              <a:lnSpc>
                <a:spcPct val="114000"/>
              </a:lnSpc>
              <a:spcBef>
                <a:spcPts val="1000"/>
              </a:spcBef>
              <a:buFont typeface="Wingdings" panose="05000000000000000000" pitchFamily="2" charset="2"/>
              <a:buChar char="Ø"/>
            </a:pPr>
            <a:r>
              <a:rPr lang="zh-CN" altLang="en-US" sz="2200" dirty="0">
                <a:latin typeface="FZKai-Z03" panose="03000509000000000000" pitchFamily="66" charset="-122"/>
                <a:ea typeface="FZKai-Z03" panose="03000509000000000000" pitchFamily="66" charset="-122"/>
              </a:rPr>
              <a:t>每个节点维护自己的距离向量估计，并将其</a:t>
            </a:r>
            <a:r>
              <a:rPr lang="zh-CN" altLang="en-US" sz="2200" dirty="0">
                <a:solidFill>
                  <a:srgbClr val="C00000"/>
                </a:solidFill>
                <a:latin typeface="FZKai-Z03" panose="03000509000000000000" pitchFamily="66" charset="-122"/>
                <a:ea typeface="FZKai-Z03" panose="03000509000000000000" pitchFamily="66" charset="-122"/>
              </a:rPr>
              <a:t>通告给邻居</a:t>
            </a:r>
            <a:r>
              <a:rPr lang="zh-CN" altLang="en-US" sz="2200" dirty="0">
                <a:latin typeface="FZKai-Z03" panose="03000509000000000000" pitchFamily="66" charset="-122"/>
                <a:ea typeface="FZKai-Z03" panose="03000509000000000000" pitchFamily="66" charset="-122"/>
              </a:rPr>
              <a:t>节点。通过</a:t>
            </a:r>
            <a:r>
              <a:rPr lang="zh-CN" altLang="en-US" sz="2200" dirty="0">
                <a:solidFill>
                  <a:srgbClr val="C00000"/>
                </a:solidFill>
                <a:latin typeface="FZKai-Z03" panose="03000509000000000000" pitchFamily="66" charset="-122"/>
                <a:ea typeface="FZKai-Z03" panose="03000509000000000000" pitchFamily="66" charset="-122"/>
              </a:rPr>
              <a:t>迭代</a:t>
            </a:r>
            <a:r>
              <a:rPr lang="zh-CN" altLang="en-US" sz="2200" dirty="0">
                <a:latin typeface="FZKai-Z03" panose="03000509000000000000" pitchFamily="66" charset="-122"/>
                <a:ea typeface="FZKai-Z03" panose="03000509000000000000" pitchFamily="66" charset="-122"/>
              </a:rPr>
              <a:t>计算，最终可以得到最佳路由。</a:t>
            </a:r>
            <a:endParaRPr lang="en-US" altLang="zh-CN" sz="2200" dirty="0">
              <a:latin typeface="FZKai-Z03" panose="03000509000000000000" pitchFamily="66" charset="-122"/>
              <a:ea typeface="FZKai-Z03" panose="03000509000000000000" pitchFamily="66" charset="-122"/>
            </a:endParaRPr>
          </a:p>
          <a:p>
            <a:pPr marL="342900" indent="-342900">
              <a:lnSpc>
                <a:spcPct val="114000"/>
              </a:lnSpc>
              <a:spcBef>
                <a:spcPts val="1000"/>
              </a:spcBef>
              <a:buFont typeface="Wingdings" panose="05000000000000000000" pitchFamily="2" charset="2"/>
              <a:buChar char="Ø"/>
            </a:pPr>
            <a:r>
              <a:rPr lang="zh-CN" altLang="en-US" sz="2200" dirty="0">
                <a:latin typeface="FZKai-Z03" panose="03000509000000000000" pitchFamily="66" charset="-122"/>
                <a:ea typeface="FZKai-Z03" panose="03000509000000000000" pitchFamily="66" charset="-122"/>
              </a:rPr>
              <a:t>距离向量路由算法是一个</a:t>
            </a:r>
            <a:r>
              <a:rPr lang="zh-CN" altLang="en-US" sz="2200" dirty="0">
                <a:solidFill>
                  <a:srgbClr val="C00000"/>
                </a:solidFill>
                <a:latin typeface="FZKai-Z03" panose="03000509000000000000" pitchFamily="66" charset="-122"/>
                <a:ea typeface="FZKai-Z03" panose="03000509000000000000" pitchFamily="66" charset="-122"/>
              </a:rPr>
              <a:t>异步分布式算法</a:t>
            </a:r>
            <a:r>
              <a:rPr lang="zh-CN" altLang="en-US" sz="2200" dirty="0">
                <a:latin typeface="FZKai-Z03" panose="03000509000000000000" pitchFamily="66" charset="-122"/>
                <a:ea typeface="FZKai-Z03" panose="03000509000000000000" pitchFamily="66" charset="-122"/>
              </a:rPr>
              <a:t>，每个节点根据本地链路费用变化或收到邻居的距离向量更新来重新计算距离向量估计。</a:t>
            </a:r>
            <a:endParaRPr lang="en-US" altLang="zh-CN" sz="2200" dirty="0">
              <a:latin typeface="FZKai-Z03" panose="03000509000000000000" pitchFamily="66" charset="-122"/>
              <a:ea typeface="FZKai-Z03" panose="03000509000000000000" pitchFamily="66" charset="-122"/>
            </a:endParaRPr>
          </a:p>
          <a:p>
            <a:pPr marL="342900" indent="-342900">
              <a:lnSpc>
                <a:spcPct val="114000"/>
              </a:lnSpc>
              <a:spcBef>
                <a:spcPts val="1000"/>
              </a:spcBef>
              <a:buFont typeface="Wingdings" panose="05000000000000000000" pitchFamily="2" charset="2"/>
              <a:buChar char="Ø"/>
            </a:pPr>
            <a:r>
              <a:rPr lang="zh-CN" altLang="en-US" sz="2200" dirty="0">
                <a:solidFill>
                  <a:srgbClr val="C00000"/>
                </a:solidFill>
                <a:latin typeface="FZKai-Z03" panose="03000509000000000000" pitchFamily="66" charset="-122"/>
                <a:ea typeface="FZKai-Z03" panose="03000509000000000000" pitchFamily="66" charset="-122"/>
              </a:rPr>
              <a:t>计算结果可能导致节点的距离向量发生变化</a:t>
            </a:r>
            <a:r>
              <a:rPr lang="zh-CN" altLang="en-US" sz="2200" dirty="0">
                <a:latin typeface="FZKai-Z03" panose="03000509000000000000" pitchFamily="66" charset="-122"/>
                <a:ea typeface="FZKai-Z03" panose="03000509000000000000" pitchFamily="66" charset="-122"/>
              </a:rPr>
              <a:t>，需要通告给邻居节点。</a:t>
            </a:r>
            <a:endParaRPr lang="en-US" altLang="zh-CN" sz="2200" dirty="0">
              <a:latin typeface="FZKai-Z03" panose="03000509000000000000" pitchFamily="66" charset="-122"/>
              <a:ea typeface="FZKai-Z03" panose="03000509000000000000" pitchFamily="66" charset="-122"/>
            </a:endParaRPr>
          </a:p>
          <a:p>
            <a:pPr marL="342900" indent="-342900">
              <a:lnSpc>
                <a:spcPct val="114000"/>
              </a:lnSpc>
              <a:spcBef>
                <a:spcPts val="1000"/>
              </a:spcBef>
              <a:buFont typeface="Wingdings" panose="05000000000000000000" pitchFamily="2" charset="2"/>
              <a:buChar char="Ø"/>
            </a:pPr>
            <a:r>
              <a:rPr lang="zh-CN" altLang="en-US" sz="2200" dirty="0">
                <a:latin typeface="FZKai-Z03" panose="03000509000000000000" pitchFamily="66" charset="-122"/>
                <a:ea typeface="FZKai-Z03" panose="03000509000000000000" pitchFamily="66" charset="-122"/>
              </a:rPr>
              <a:t>算法的主要阶段包括等待阶段、计算阶段和通告阶段。</a:t>
            </a:r>
          </a:p>
        </p:txBody>
      </p:sp>
    </p:spTree>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2099"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8788" y="942975"/>
            <a:ext cx="6399212" cy="173038"/>
          </a:xfrm>
          <a:prstGeom prst="rect">
            <a:avLst/>
          </a:prstGeom>
          <a:noFill/>
          <a:ln>
            <a:noFill/>
          </a:ln>
        </p:spPr>
      </p:pic>
      <p:sp>
        <p:nvSpPr>
          <p:cNvPr id="87045" name="Rectangle 2"/>
          <p:cNvSpPr>
            <a:spLocks noGrp="1" noChangeArrowheads="1"/>
          </p:cNvSpPr>
          <p:nvPr>
            <p:ph type="title"/>
          </p:nvPr>
        </p:nvSpPr>
        <p:spPr>
          <a:xfrm>
            <a:off x="466725" y="296863"/>
            <a:ext cx="7772400" cy="841375"/>
          </a:xfrm>
        </p:spPr>
        <p:txBody>
          <a:bodyPr/>
          <a:lstStyle/>
          <a:p>
            <a:pPr>
              <a:defRPr/>
            </a:pPr>
            <a:r>
              <a:rPr lang="en-US">
                <a:cs typeface="+mj-cs"/>
              </a:rPr>
              <a:t>Distance vector algorithm </a:t>
            </a:r>
          </a:p>
        </p:txBody>
      </p:sp>
      <p:sp>
        <p:nvSpPr>
          <p:cNvPr id="132101" name="Rectangle 3"/>
          <p:cNvSpPr>
            <a:spLocks noGrp="1" noChangeArrowheads="1"/>
          </p:cNvSpPr>
          <p:nvPr>
            <p:ph type="body" idx="1"/>
          </p:nvPr>
        </p:nvSpPr>
        <p:spPr>
          <a:xfrm>
            <a:off x="502920" y="1434465"/>
            <a:ext cx="7953375" cy="4648200"/>
          </a:xfrm>
        </p:spPr>
        <p:txBody>
          <a:bodyPr/>
          <a:lstStyle/>
          <a:p>
            <a:pPr>
              <a:buFont typeface="Wingdings" panose="05000000000000000000" charset="0"/>
              <a:buNone/>
            </a:pPr>
            <a:r>
              <a:rPr lang="en-US" sz="2400" i="1" dirty="0">
                <a:solidFill>
                  <a:srgbClr val="CC0000"/>
                </a:solidFill>
                <a:latin typeface="Gill Sans MT" pitchFamily="34" charset="0"/>
              </a:rPr>
              <a:t>Bellman-Ford equation (dynamic programming)</a:t>
            </a:r>
          </a:p>
          <a:p>
            <a:pPr>
              <a:buFont typeface="Wingdings" panose="05000000000000000000" charset="0"/>
              <a:buNone/>
            </a:pPr>
            <a:endParaRPr lang="en-US" dirty="0">
              <a:latin typeface="Gill Sans MT" pitchFamily="34" charset="0"/>
            </a:endParaRPr>
          </a:p>
          <a:p>
            <a:pPr>
              <a:buFont typeface="Wingdings" panose="05000000000000000000" charset="0"/>
              <a:buNone/>
            </a:pPr>
            <a:r>
              <a:rPr lang="en-US" dirty="0">
                <a:latin typeface="Gill Sans MT" pitchFamily="34" charset="0"/>
              </a:rPr>
              <a:t>let</a:t>
            </a:r>
          </a:p>
          <a:p>
            <a:pPr>
              <a:buFont typeface="Wingdings" panose="05000000000000000000" charset="0"/>
              <a:buNone/>
            </a:pPr>
            <a:r>
              <a:rPr lang="en-US" dirty="0">
                <a:latin typeface="Gill Sans MT" pitchFamily="34" charset="0"/>
              </a:rPr>
              <a:t>   d</a:t>
            </a:r>
            <a:r>
              <a:rPr lang="en-US" baseline="-25000" dirty="0">
                <a:latin typeface="Gill Sans MT" pitchFamily="34" charset="0"/>
              </a:rPr>
              <a:t>x</a:t>
            </a:r>
            <a:r>
              <a:rPr lang="en-US" dirty="0">
                <a:latin typeface="Gill Sans MT" pitchFamily="34" charset="0"/>
              </a:rPr>
              <a:t>(y) := cost of least-cost path from x to y</a:t>
            </a:r>
          </a:p>
          <a:p>
            <a:pPr>
              <a:buFont typeface="Wingdings" panose="05000000000000000000" charset="0"/>
              <a:buNone/>
            </a:pPr>
            <a:r>
              <a:rPr lang="en-US" dirty="0">
                <a:latin typeface="Gill Sans MT" pitchFamily="34" charset="0"/>
              </a:rPr>
              <a:t>then</a:t>
            </a:r>
          </a:p>
          <a:p>
            <a:pPr>
              <a:buFont typeface="Wingdings" panose="05000000000000000000" charset="0"/>
              <a:buNone/>
            </a:pPr>
            <a:r>
              <a:rPr lang="en-US" dirty="0">
                <a:solidFill>
                  <a:srgbClr val="CC0000"/>
                </a:solidFill>
                <a:latin typeface="Gill Sans MT" pitchFamily="34" charset="0"/>
              </a:rPr>
              <a:t>   </a:t>
            </a:r>
            <a:r>
              <a:rPr lang="en-US" sz="3200" dirty="0">
                <a:solidFill>
                  <a:srgbClr val="CC0000"/>
                </a:solidFill>
                <a:latin typeface="Gill Sans MT" pitchFamily="34" charset="0"/>
              </a:rPr>
              <a:t>d</a:t>
            </a:r>
            <a:r>
              <a:rPr lang="en-US" sz="3200" baseline="-25000" dirty="0">
                <a:solidFill>
                  <a:srgbClr val="CC0000"/>
                </a:solidFill>
                <a:latin typeface="Gill Sans MT" pitchFamily="34" charset="0"/>
              </a:rPr>
              <a:t>x</a:t>
            </a:r>
            <a:r>
              <a:rPr lang="en-US" sz="3200" dirty="0">
                <a:solidFill>
                  <a:srgbClr val="CC0000"/>
                </a:solidFill>
                <a:latin typeface="Gill Sans MT" pitchFamily="34" charset="0"/>
              </a:rPr>
              <a:t>(y) = </a:t>
            </a:r>
            <a:r>
              <a:rPr lang="en-US" sz="3200" i="1" dirty="0">
                <a:solidFill>
                  <a:srgbClr val="CC0000"/>
                </a:solidFill>
                <a:latin typeface="Gill Sans MT" pitchFamily="34" charset="0"/>
              </a:rPr>
              <a:t>min</a:t>
            </a:r>
            <a:r>
              <a:rPr lang="en-US" sz="3200" dirty="0">
                <a:solidFill>
                  <a:srgbClr val="CC0000"/>
                </a:solidFill>
                <a:latin typeface="Gill Sans MT" pitchFamily="34" charset="0"/>
              </a:rPr>
              <a:t> {c(</a:t>
            </a:r>
            <a:r>
              <a:rPr lang="en-US" sz="3200" dirty="0" err="1">
                <a:solidFill>
                  <a:srgbClr val="CC0000"/>
                </a:solidFill>
                <a:latin typeface="Gill Sans MT" pitchFamily="34" charset="0"/>
              </a:rPr>
              <a:t>x,v</a:t>
            </a:r>
            <a:r>
              <a:rPr lang="en-US" sz="3200" dirty="0">
                <a:solidFill>
                  <a:srgbClr val="CC0000"/>
                </a:solidFill>
                <a:latin typeface="Gill Sans MT" pitchFamily="34" charset="0"/>
              </a:rPr>
              <a:t>) + d</a:t>
            </a:r>
            <a:r>
              <a:rPr lang="en-US" sz="3200" baseline="-25000" dirty="0">
                <a:solidFill>
                  <a:srgbClr val="CC0000"/>
                </a:solidFill>
                <a:latin typeface="Gill Sans MT" pitchFamily="34" charset="0"/>
              </a:rPr>
              <a:t>v</a:t>
            </a:r>
            <a:r>
              <a:rPr lang="en-US" sz="3200" dirty="0">
                <a:solidFill>
                  <a:srgbClr val="CC0000"/>
                </a:solidFill>
                <a:latin typeface="Gill Sans MT" pitchFamily="34" charset="0"/>
              </a:rPr>
              <a:t>(y) }</a:t>
            </a:r>
          </a:p>
          <a:p>
            <a:pPr>
              <a:buFont typeface="Wingdings" panose="05000000000000000000" charset="0"/>
              <a:buNone/>
            </a:pPr>
            <a:r>
              <a:rPr lang="en-US" sz="3200" dirty="0">
                <a:latin typeface="Gill Sans MT" pitchFamily="34" charset="0"/>
              </a:rPr>
              <a:t>   </a:t>
            </a:r>
          </a:p>
          <a:p>
            <a:pPr>
              <a:buFont typeface="Wingdings" panose="05000000000000000000" charset="0"/>
              <a:buNone/>
            </a:pPr>
            <a:endParaRPr lang="en-US" dirty="0">
              <a:latin typeface="Gill Sans MT" pitchFamily="34" charset="0"/>
            </a:endParaRPr>
          </a:p>
        </p:txBody>
      </p:sp>
      <p:sp>
        <p:nvSpPr>
          <p:cNvPr id="132102" name="Text Box 5"/>
          <p:cNvSpPr txBox="1">
            <a:spLocks noChangeArrowheads="1"/>
          </p:cNvSpPr>
          <p:nvPr/>
        </p:nvSpPr>
        <p:spPr bwMode="auto">
          <a:xfrm>
            <a:off x="2220913" y="4138613"/>
            <a:ext cx="295275"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solidFill>
                  <a:srgbClr val="CC0000"/>
                </a:solidFill>
                <a:latin typeface="Comic Sans MS" panose="030F0902030302020204" pitchFamily="66" charset="0"/>
              </a:rPr>
              <a:t>v</a:t>
            </a:r>
          </a:p>
        </p:txBody>
      </p:sp>
      <p:sp>
        <p:nvSpPr>
          <p:cNvPr id="132103" name="Text Box 7"/>
          <p:cNvSpPr txBox="1">
            <a:spLocks noChangeArrowheads="1"/>
          </p:cNvSpPr>
          <p:nvPr/>
        </p:nvSpPr>
        <p:spPr bwMode="auto">
          <a:xfrm>
            <a:off x="3017838" y="5126038"/>
            <a:ext cx="2449512" cy="4572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a:latin typeface="Gill Sans MT" pitchFamily="34" charset="0"/>
              </a:rPr>
              <a:t>cost to neighbor v</a:t>
            </a:r>
          </a:p>
        </p:txBody>
      </p:sp>
      <p:sp>
        <p:nvSpPr>
          <p:cNvPr id="132104" name="Text Box 8"/>
          <p:cNvSpPr txBox="1">
            <a:spLocks noChangeArrowheads="1"/>
          </p:cNvSpPr>
          <p:nvPr/>
        </p:nvSpPr>
        <p:spPr bwMode="auto">
          <a:xfrm>
            <a:off x="2116138" y="5762625"/>
            <a:ext cx="4443412" cy="4572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i="1">
                <a:latin typeface="Gill Sans MT" pitchFamily="34" charset="0"/>
              </a:rPr>
              <a:t>min</a:t>
            </a:r>
            <a:r>
              <a:rPr lang="en-US">
                <a:latin typeface="Gill Sans MT" pitchFamily="34" charset="0"/>
              </a:rPr>
              <a:t> taken over all neighbors v of x</a:t>
            </a:r>
          </a:p>
        </p:txBody>
      </p:sp>
      <p:sp>
        <p:nvSpPr>
          <p:cNvPr id="132105" name="Text Box 9"/>
          <p:cNvSpPr txBox="1">
            <a:spLocks noChangeArrowheads="1"/>
          </p:cNvSpPr>
          <p:nvPr/>
        </p:nvSpPr>
        <p:spPr bwMode="auto">
          <a:xfrm>
            <a:off x="4130675" y="4730750"/>
            <a:ext cx="4794250" cy="4572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a:latin typeface="Gill Sans MT" pitchFamily="34" charset="0"/>
              </a:rPr>
              <a:t>cost from neighbor v to destination y</a:t>
            </a:r>
          </a:p>
        </p:txBody>
      </p:sp>
      <p:sp>
        <p:nvSpPr>
          <p:cNvPr id="132106" name="Line 10"/>
          <p:cNvSpPr>
            <a:spLocks noChangeShapeType="1"/>
          </p:cNvSpPr>
          <p:nvPr/>
        </p:nvSpPr>
        <p:spPr bwMode="auto">
          <a:xfrm>
            <a:off x="2363788" y="4549775"/>
            <a:ext cx="0" cy="1282700"/>
          </a:xfrm>
          <a:prstGeom prst="line">
            <a:avLst/>
          </a:prstGeom>
          <a:noFill/>
          <a:ln w="9525">
            <a:solidFill>
              <a:srgbClr val="CC0000"/>
            </a:solidFill>
            <a:round/>
          </a:ln>
        </p:spPr>
        <p:txBody>
          <a:bodyPr wrap="none"/>
          <a:lstStyle/>
          <a:p>
            <a:endParaRPr lang="en-US"/>
          </a:p>
        </p:txBody>
      </p:sp>
      <p:sp>
        <p:nvSpPr>
          <p:cNvPr id="132107" name="Line 11"/>
          <p:cNvSpPr>
            <a:spLocks noChangeShapeType="1"/>
          </p:cNvSpPr>
          <p:nvPr/>
        </p:nvSpPr>
        <p:spPr bwMode="auto">
          <a:xfrm>
            <a:off x="3344863" y="4359275"/>
            <a:ext cx="0" cy="892175"/>
          </a:xfrm>
          <a:prstGeom prst="line">
            <a:avLst/>
          </a:prstGeom>
          <a:noFill/>
          <a:ln w="9525">
            <a:solidFill>
              <a:srgbClr val="CC0000"/>
            </a:solidFill>
            <a:round/>
          </a:ln>
        </p:spPr>
        <p:txBody>
          <a:bodyPr wrap="none"/>
          <a:lstStyle/>
          <a:p>
            <a:endParaRPr lang="en-US"/>
          </a:p>
        </p:txBody>
      </p:sp>
      <p:sp>
        <p:nvSpPr>
          <p:cNvPr id="132108" name="Line 13"/>
          <p:cNvSpPr>
            <a:spLocks noChangeShapeType="1"/>
          </p:cNvSpPr>
          <p:nvPr/>
        </p:nvSpPr>
        <p:spPr bwMode="auto">
          <a:xfrm>
            <a:off x="4649788" y="4427538"/>
            <a:ext cx="0" cy="434975"/>
          </a:xfrm>
          <a:prstGeom prst="line">
            <a:avLst/>
          </a:prstGeom>
          <a:noFill/>
          <a:ln w="9525">
            <a:solidFill>
              <a:srgbClr val="CC0000"/>
            </a:solidFill>
            <a:round/>
          </a:ln>
        </p:spPr>
        <p:txBody>
          <a:bodyPr wrap="none"/>
          <a:lstStyle/>
          <a:p>
            <a:endParaRPr lang="en-US"/>
          </a:p>
        </p:txBody>
      </p:sp>
      <p:sp>
        <p:nvSpPr>
          <p:cNvPr id="14"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44</a:t>
            </a:fld>
            <a:endParaRPr lang="en-US" sz="1200" dirty="0">
              <a:latin typeface="Tahoma" panose="020B0604030504040204" charset="0"/>
            </a:endParaRPr>
          </a:p>
        </p:txBody>
      </p:sp>
      <p:sp>
        <p:nvSpPr>
          <p:cNvPr id="15"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23" name="Picture 77"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0238" y="839788"/>
            <a:ext cx="5027612" cy="173037"/>
          </a:xfrm>
          <a:prstGeom prst="rect">
            <a:avLst/>
          </a:prstGeom>
          <a:noFill/>
          <a:ln>
            <a:noFill/>
          </a:ln>
        </p:spPr>
      </p:pic>
      <p:sp>
        <p:nvSpPr>
          <p:cNvPr id="88069" name="Rectangle 2"/>
          <p:cNvSpPr>
            <a:spLocks noGrp="1" noChangeArrowheads="1"/>
          </p:cNvSpPr>
          <p:nvPr>
            <p:ph type="title"/>
          </p:nvPr>
        </p:nvSpPr>
        <p:spPr>
          <a:xfrm>
            <a:off x="533400" y="174625"/>
            <a:ext cx="7772400" cy="874713"/>
          </a:xfrm>
        </p:spPr>
        <p:txBody>
          <a:bodyPr/>
          <a:lstStyle/>
          <a:p>
            <a:pPr>
              <a:defRPr/>
            </a:pPr>
            <a:r>
              <a:rPr lang="en-US">
                <a:cs typeface="+mj-cs"/>
              </a:rPr>
              <a:t>Bellman-Ford example </a:t>
            </a:r>
          </a:p>
        </p:txBody>
      </p:sp>
      <p:grpSp>
        <p:nvGrpSpPr>
          <p:cNvPr id="133125" name="Group 3"/>
          <p:cNvGrpSpPr/>
          <p:nvPr/>
        </p:nvGrpSpPr>
        <p:grpSpPr bwMode="auto">
          <a:xfrm>
            <a:off x="276225" y="1470025"/>
            <a:ext cx="3571875" cy="2236788"/>
            <a:chOff x="3162" y="1071"/>
            <a:chExt cx="2250" cy="1409"/>
          </a:xfrm>
        </p:grpSpPr>
        <p:sp>
          <p:nvSpPr>
            <p:cNvPr id="133130" name="Freeform 4"/>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p:spPr>
          <p:txBody>
            <a:bodyPr wrap="none" anchor="ctr"/>
            <a:lstStyle/>
            <a:p>
              <a:endParaRPr lang="en-US"/>
            </a:p>
          </p:txBody>
        </p:sp>
        <p:sp>
          <p:nvSpPr>
            <p:cNvPr id="133131" name="Freeform 5"/>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ln>
          </p:spPr>
          <p:txBody>
            <a:bodyPr wrap="none" anchor="ctr"/>
            <a:lstStyle/>
            <a:p>
              <a:endParaRPr lang="en-US"/>
            </a:p>
          </p:txBody>
        </p:sp>
        <p:sp>
          <p:nvSpPr>
            <p:cNvPr id="133132" name="Oval 6"/>
            <p:cNvSpPr>
              <a:spLocks noChangeArrowheads="1"/>
            </p:cNvSpPr>
            <p:nvPr/>
          </p:nvSpPr>
          <p:spPr bwMode="auto">
            <a:xfrm>
              <a:off x="3238" y="1862"/>
              <a:ext cx="313" cy="81"/>
            </a:xfrm>
            <a:prstGeom prst="ellipse">
              <a:avLst/>
            </a:prstGeom>
            <a:solidFill>
              <a:schemeClr val="hlink"/>
            </a:solidFill>
            <a:ln w="12700">
              <a:solidFill>
                <a:schemeClr val="tx1"/>
              </a:solidFill>
              <a:round/>
            </a:ln>
          </p:spPr>
          <p:txBody>
            <a:bodyPr wrap="none" anchor="ctr"/>
            <a:lstStyle/>
            <a:p>
              <a:endParaRPr lang="en-US"/>
            </a:p>
          </p:txBody>
        </p:sp>
        <p:sp>
          <p:nvSpPr>
            <p:cNvPr id="133133" name="Line 7"/>
            <p:cNvSpPr>
              <a:spLocks noChangeShapeType="1"/>
            </p:cNvSpPr>
            <p:nvPr/>
          </p:nvSpPr>
          <p:spPr bwMode="auto">
            <a:xfrm>
              <a:off x="3238" y="1855"/>
              <a:ext cx="0" cy="50"/>
            </a:xfrm>
            <a:prstGeom prst="line">
              <a:avLst/>
            </a:prstGeom>
            <a:noFill/>
            <a:ln w="12700">
              <a:solidFill>
                <a:schemeClr val="tx1"/>
              </a:solidFill>
              <a:round/>
            </a:ln>
          </p:spPr>
          <p:txBody>
            <a:bodyPr wrap="none" anchor="ctr"/>
            <a:lstStyle/>
            <a:p>
              <a:endParaRPr lang="en-US"/>
            </a:p>
          </p:txBody>
        </p:sp>
        <p:sp>
          <p:nvSpPr>
            <p:cNvPr id="133134" name="Line 8"/>
            <p:cNvSpPr>
              <a:spLocks noChangeShapeType="1"/>
            </p:cNvSpPr>
            <p:nvPr/>
          </p:nvSpPr>
          <p:spPr bwMode="auto">
            <a:xfrm>
              <a:off x="3551" y="1855"/>
              <a:ext cx="0" cy="50"/>
            </a:xfrm>
            <a:prstGeom prst="line">
              <a:avLst/>
            </a:prstGeom>
            <a:noFill/>
            <a:ln w="12700">
              <a:solidFill>
                <a:schemeClr val="tx1"/>
              </a:solidFill>
              <a:round/>
            </a:ln>
          </p:spPr>
          <p:txBody>
            <a:bodyPr wrap="none" anchor="ctr"/>
            <a:lstStyle/>
            <a:p>
              <a:endParaRPr lang="en-US"/>
            </a:p>
          </p:txBody>
        </p:sp>
        <p:sp>
          <p:nvSpPr>
            <p:cNvPr id="133135" name="Rectangle 9"/>
            <p:cNvSpPr>
              <a:spLocks noChangeArrowheads="1"/>
            </p:cNvSpPr>
            <p:nvPr/>
          </p:nvSpPr>
          <p:spPr bwMode="auto">
            <a:xfrm>
              <a:off x="3238" y="1855"/>
              <a:ext cx="310" cy="49"/>
            </a:xfrm>
            <a:prstGeom prst="rect">
              <a:avLst/>
            </a:prstGeom>
            <a:solidFill>
              <a:schemeClr val="hlink"/>
            </a:solidFill>
            <a:ln>
              <a:noFill/>
            </a:ln>
          </p:spPr>
          <p:txBody>
            <a:bodyPr wrap="none" anchor="ctr"/>
            <a:lstStyle/>
            <a:p>
              <a:pPr algn="ctr"/>
              <a:endParaRPr lang="en-US" sz="2400"/>
            </a:p>
          </p:txBody>
        </p:sp>
        <p:sp>
          <p:nvSpPr>
            <p:cNvPr id="133136" name="Oval 10"/>
            <p:cNvSpPr>
              <a:spLocks noChangeArrowheads="1"/>
            </p:cNvSpPr>
            <p:nvPr/>
          </p:nvSpPr>
          <p:spPr bwMode="auto">
            <a:xfrm>
              <a:off x="3235" y="1796"/>
              <a:ext cx="313" cy="95"/>
            </a:xfrm>
            <a:prstGeom prst="ellipse">
              <a:avLst/>
            </a:prstGeom>
            <a:solidFill>
              <a:schemeClr val="hlink"/>
            </a:solidFill>
            <a:ln w="12700">
              <a:solidFill>
                <a:schemeClr val="tx1"/>
              </a:solidFill>
              <a:round/>
            </a:ln>
          </p:spPr>
          <p:txBody>
            <a:bodyPr wrap="none" anchor="ctr"/>
            <a:lstStyle/>
            <a:p>
              <a:endParaRPr lang="en-US"/>
            </a:p>
          </p:txBody>
        </p:sp>
        <p:sp>
          <p:nvSpPr>
            <p:cNvPr id="133137" name="Oval 11"/>
            <p:cNvSpPr>
              <a:spLocks noChangeArrowheads="1"/>
            </p:cNvSpPr>
            <p:nvPr/>
          </p:nvSpPr>
          <p:spPr bwMode="auto">
            <a:xfrm>
              <a:off x="3712" y="2249"/>
              <a:ext cx="313" cy="81"/>
            </a:xfrm>
            <a:prstGeom prst="ellipse">
              <a:avLst/>
            </a:prstGeom>
            <a:solidFill>
              <a:schemeClr val="hlink"/>
            </a:solidFill>
            <a:ln w="12700">
              <a:solidFill>
                <a:schemeClr val="tx1"/>
              </a:solidFill>
              <a:round/>
            </a:ln>
          </p:spPr>
          <p:txBody>
            <a:bodyPr wrap="none" anchor="ctr"/>
            <a:lstStyle/>
            <a:p>
              <a:endParaRPr lang="en-US"/>
            </a:p>
          </p:txBody>
        </p:sp>
        <p:sp>
          <p:nvSpPr>
            <p:cNvPr id="133138" name="Line 12"/>
            <p:cNvSpPr>
              <a:spLocks noChangeShapeType="1"/>
            </p:cNvSpPr>
            <p:nvPr/>
          </p:nvSpPr>
          <p:spPr bwMode="auto">
            <a:xfrm>
              <a:off x="3712" y="2242"/>
              <a:ext cx="0" cy="50"/>
            </a:xfrm>
            <a:prstGeom prst="line">
              <a:avLst/>
            </a:prstGeom>
            <a:noFill/>
            <a:ln w="12700">
              <a:solidFill>
                <a:schemeClr val="tx1"/>
              </a:solidFill>
              <a:round/>
            </a:ln>
          </p:spPr>
          <p:txBody>
            <a:bodyPr wrap="none" anchor="ctr"/>
            <a:lstStyle/>
            <a:p>
              <a:endParaRPr lang="en-US"/>
            </a:p>
          </p:txBody>
        </p:sp>
        <p:sp>
          <p:nvSpPr>
            <p:cNvPr id="133139" name="Line 13"/>
            <p:cNvSpPr>
              <a:spLocks noChangeShapeType="1"/>
            </p:cNvSpPr>
            <p:nvPr/>
          </p:nvSpPr>
          <p:spPr bwMode="auto">
            <a:xfrm>
              <a:off x="4025" y="2242"/>
              <a:ext cx="0" cy="50"/>
            </a:xfrm>
            <a:prstGeom prst="line">
              <a:avLst/>
            </a:prstGeom>
            <a:noFill/>
            <a:ln w="12700">
              <a:solidFill>
                <a:schemeClr val="tx1"/>
              </a:solidFill>
              <a:round/>
            </a:ln>
          </p:spPr>
          <p:txBody>
            <a:bodyPr wrap="none" anchor="ctr"/>
            <a:lstStyle/>
            <a:p>
              <a:endParaRPr lang="en-US"/>
            </a:p>
          </p:txBody>
        </p:sp>
        <p:sp>
          <p:nvSpPr>
            <p:cNvPr id="133140" name="Rectangle 14"/>
            <p:cNvSpPr>
              <a:spLocks noChangeArrowheads="1"/>
            </p:cNvSpPr>
            <p:nvPr/>
          </p:nvSpPr>
          <p:spPr bwMode="auto">
            <a:xfrm>
              <a:off x="3712" y="2242"/>
              <a:ext cx="310" cy="49"/>
            </a:xfrm>
            <a:prstGeom prst="rect">
              <a:avLst/>
            </a:prstGeom>
            <a:solidFill>
              <a:schemeClr val="hlink"/>
            </a:solidFill>
            <a:ln>
              <a:noFill/>
            </a:ln>
          </p:spPr>
          <p:txBody>
            <a:bodyPr wrap="none" anchor="ctr"/>
            <a:lstStyle/>
            <a:p>
              <a:pPr algn="ctr"/>
              <a:endParaRPr lang="en-US" sz="2400"/>
            </a:p>
          </p:txBody>
        </p:sp>
        <p:sp>
          <p:nvSpPr>
            <p:cNvPr id="133141" name="Oval 15"/>
            <p:cNvSpPr>
              <a:spLocks noChangeArrowheads="1"/>
            </p:cNvSpPr>
            <p:nvPr/>
          </p:nvSpPr>
          <p:spPr bwMode="auto">
            <a:xfrm>
              <a:off x="3709" y="2183"/>
              <a:ext cx="313" cy="95"/>
            </a:xfrm>
            <a:prstGeom prst="ellipse">
              <a:avLst/>
            </a:prstGeom>
            <a:solidFill>
              <a:schemeClr val="hlink"/>
            </a:solidFill>
            <a:ln w="12700">
              <a:solidFill>
                <a:schemeClr val="tx1"/>
              </a:solidFill>
              <a:round/>
            </a:ln>
          </p:spPr>
          <p:txBody>
            <a:bodyPr wrap="none" anchor="ctr"/>
            <a:lstStyle/>
            <a:p>
              <a:endParaRPr lang="en-US"/>
            </a:p>
          </p:txBody>
        </p:sp>
        <p:sp>
          <p:nvSpPr>
            <p:cNvPr id="133142" name="Oval 16"/>
            <p:cNvSpPr>
              <a:spLocks noChangeArrowheads="1"/>
            </p:cNvSpPr>
            <p:nvPr/>
          </p:nvSpPr>
          <p:spPr bwMode="auto">
            <a:xfrm>
              <a:off x="3708" y="1559"/>
              <a:ext cx="313" cy="81"/>
            </a:xfrm>
            <a:prstGeom prst="ellipse">
              <a:avLst/>
            </a:prstGeom>
            <a:solidFill>
              <a:schemeClr val="hlink"/>
            </a:solidFill>
            <a:ln w="12700">
              <a:solidFill>
                <a:schemeClr val="tx1"/>
              </a:solidFill>
              <a:round/>
            </a:ln>
          </p:spPr>
          <p:txBody>
            <a:bodyPr wrap="none" anchor="ctr"/>
            <a:lstStyle/>
            <a:p>
              <a:endParaRPr lang="en-US"/>
            </a:p>
          </p:txBody>
        </p:sp>
        <p:sp>
          <p:nvSpPr>
            <p:cNvPr id="133143" name="Line 17"/>
            <p:cNvSpPr>
              <a:spLocks noChangeShapeType="1"/>
            </p:cNvSpPr>
            <p:nvPr/>
          </p:nvSpPr>
          <p:spPr bwMode="auto">
            <a:xfrm>
              <a:off x="3708" y="1552"/>
              <a:ext cx="0" cy="50"/>
            </a:xfrm>
            <a:prstGeom prst="line">
              <a:avLst/>
            </a:prstGeom>
            <a:noFill/>
            <a:ln w="12700">
              <a:solidFill>
                <a:schemeClr val="tx1"/>
              </a:solidFill>
              <a:round/>
            </a:ln>
          </p:spPr>
          <p:txBody>
            <a:bodyPr wrap="none" anchor="ctr"/>
            <a:lstStyle/>
            <a:p>
              <a:endParaRPr lang="en-US"/>
            </a:p>
          </p:txBody>
        </p:sp>
        <p:sp>
          <p:nvSpPr>
            <p:cNvPr id="133144" name="Line 18"/>
            <p:cNvSpPr>
              <a:spLocks noChangeShapeType="1"/>
            </p:cNvSpPr>
            <p:nvPr/>
          </p:nvSpPr>
          <p:spPr bwMode="auto">
            <a:xfrm>
              <a:off x="4021" y="1552"/>
              <a:ext cx="0" cy="50"/>
            </a:xfrm>
            <a:prstGeom prst="line">
              <a:avLst/>
            </a:prstGeom>
            <a:noFill/>
            <a:ln w="12700">
              <a:solidFill>
                <a:schemeClr val="tx1"/>
              </a:solidFill>
              <a:round/>
            </a:ln>
          </p:spPr>
          <p:txBody>
            <a:bodyPr wrap="none" anchor="ctr"/>
            <a:lstStyle/>
            <a:p>
              <a:endParaRPr lang="en-US"/>
            </a:p>
          </p:txBody>
        </p:sp>
        <p:sp>
          <p:nvSpPr>
            <p:cNvPr id="133145" name="Rectangle 19"/>
            <p:cNvSpPr>
              <a:spLocks noChangeArrowheads="1"/>
            </p:cNvSpPr>
            <p:nvPr/>
          </p:nvSpPr>
          <p:spPr bwMode="auto">
            <a:xfrm>
              <a:off x="3708" y="1552"/>
              <a:ext cx="310" cy="49"/>
            </a:xfrm>
            <a:prstGeom prst="rect">
              <a:avLst/>
            </a:prstGeom>
            <a:solidFill>
              <a:schemeClr val="hlink"/>
            </a:solidFill>
            <a:ln>
              <a:noFill/>
            </a:ln>
          </p:spPr>
          <p:txBody>
            <a:bodyPr wrap="none" anchor="ctr"/>
            <a:lstStyle/>
            <a:p>
              <a:pPr algn="ctr"/>
              <a:endParaRPr lang="en-US" sz="2400"/>
            </a:p>
          </p:txBody>
        </p:sp>
        <p:sp>
          <p:nvSpPr>
            <p:cNvPr id="133146" name="Oval 20"/>
            <p:cNvSpPr>
              <a:spLocks noChangeArrowheads="1"/>
            </p:cNvSpPr>
            <p:nvPr/>
          </p:nvSpPr>
          <p:spPr bwMode="auto">
            <a:xfrm>
              <a:off x="3705" y="1493"/>
              <a:ext cx="313" cy="95"/>
            </a:xfrm>
            <a:prstGeom prst="ellipse">
              <a:avLst/>
            </a:prstGeom>
            <a:solidFill>
              <a:schemeClr val="hlink"/>
            </a:solidFill>
            <a:ln w="12700">
              <a:solidFill>
                <a:schemeClr val="tx1"/>
              </a:solidFill>
              <a:round/>
            </a:ln>
          </p:spPr>
          <p:txBody>
            <a:bodyPr wrap="none" anchor="ctr"/>
            <a:lstStyle/>
            <a:p>
              <a:endParaRPr lang="en-US"/>
            </a:p>
          </p:txBody>
        </p:sp>
        <p:sp>
          <p:nvSpPr>
            <p:cNvPr id="133147" name="Oval 21"/>
            <p:cNvSpPr>
              <a:spLocks noChangeArrowheads="1"/>
            </p:cNvSpPr>
            <p:nvPr/>
          </p:nvSpPr>
          <p:spPr bwMode="auto">
            <a:xfrm>
              <a:off x="4391" y="1555"/>
              <a:ext cx="312" cy="81"/>
            </a:xfrm>
            <a:prstGeom prst="ellipse">
              <a:avLst/>
            </a:prstGeom>
            <a:solidFill>
              <a:schemeClr val="hlink"/>
            </a:solidFill>
            <a:ln w="12700">
              <a:solidFill>
                <a:schemeClr val="tx1"/>
              </a:solidFill>
              <a:round/>
            </a:ln>
          </p:spPr>
          <p:txBody>
            <a:bodyPr wrap="none" anchor="ctr"/>
            <a:lstStyle/>
            <a:p>
              <a:endParaRPr lang="en-US"/>
            </a:p>
          </p:txBody>
        </p:sp>
        <p:sp>
          <p:nvSpPr>
            <p:cNvPr id="133148" name="Line 22"/>
            <p:cNvSpPr>
              <a:spLocks noChangeShapeType="1"/>
            </p:cNvSpPr>
            <p:nvPr/>
          </p:nvSpPr>
          <p:spPr bwMode="auto">
            <a:xfrm>
              <a:off x="4391" y="1548"/>
              <a:ext cx="0" cy="50"/>
            </a:xfrm>
            <a:prstGeom prst="line">
              <a:avLst/>
            </a:prstGeom>
            <a:noFill/>
            <a:ln w="12700">
              <a:solidFill>
                <a:schemeClr val="tx1"/>
              </a:solidFill>
              <a:round/>
            </a:ln>
          </p:spPr>
          <p:txBody>
            <a:bodyPr wrap="none" anchor="ctr"/>
            <a:lstStyle/>
            <a:p>
              <a:endParaRPr lang="en-US"/>
            </a:p>
          </p:txBody>
        </p:sp>
        <p:sp>
          <p:nvSpPr>
            <p:cNvPr id="133149" name="Line 23"/>
            <p:cNvSpPr>
              <a:spLocks noChangeShapeType="1"/>
            </p:cNvSpPr>
            <p:nvPr/>
          </p:nvSpPr>
          <p:spPr bwMode="auto">
            <a:xfrm>
              <a:off x="4703" y="1548"/>
              <a:ext cx="0" cy="50"/>
            </a:xfrm>
            <a:prstGeom prst="line">
              <a:avLst/>
            </a:prstGeom>
            <a:noFill/>
            <a:ln w="12700">
              <a:solidFill>
                <a:schemeClr val="tx1"/>
              </a:solidFill>
              <a:round/>
            </a:ln>
          </p:spPr>
          <p:txBody>
            <a:bodyPr wrap="none" anchor="ctr"/>
            <a:lstStyle/>
            <a:p>
              <a:endParaRPr lang="en-US"/>
            </a:p>
          </p:txBody>
        </p:sp>
        <p:sp>
          <p:nvSpPr>
            <p:cNvPr id="133150" name="Rectangle 24"/>
            <p:cNvSpPr>
              <a:spLocks noChangeArrowheads="1"/>
            </p:cNvSpPr>
            <p:nvPr/>
          </p:nvSpPr>
          <p:spPr bwMode="auto">
            <a:xfrm>
              <a:off x="4391" y="1548"/>
              <a:ext cx="309" cy="49"/>
            </a:xfrm>
            <a:prstGeom prst="rect">
              <a:avLst/>
            </a:prstGeom>
            <a:solidFill>
              <a:schemeClr val="hlink"/>
            </a:solidFill>
            <a:ln>
              <a:noFill/>
            </a:ln>
          </p:spPr>
          <p:txBody>
            <a:bodyPr wrap="none" anchor="ctr"/>
            <a:lstStyle/>
            <a:p>
              <a:pPr algn="ctr"/>
              <a:endParaRPr lang="en-US" sz="2400"/>
            </a:p>
          </p:txBody>
        </p:sp>
        <p:sp>
          <p:nvSpPr>
            <p:cNvPr id="133151" name="Oval 25"/>
            <p:cNvSpPr>
              <a:spLocks noChangeArrowheads="1"/>
            </p:cNvSpPr>
            <p:nvPr/>
          </p:nvSpPr>
          <p:spPr bwMode="auto">
            <a:xfrm>
              <a:off x="4394" y="1492"/>
              <a:ext cx="312" cy="95"/>
            </a:xfrm>
            <a:prstGeom prst="ellipse">
              <a:avLst/>
            </a:prstGeom>
            <a:solidFill>
              <a:schemeClr val="hlink"/>
            </a:solidFill>
            <a:ln w="12700">
              <a:solidFill>
                <a:schemeClr val="tx1"/>
              </a:solidFill>
              <a:round/>
            </a:ln>
          </p:spPr>
          <p:txBody>
            <a:bodyPr wrap="none" anchor="ctr"/>
            <a:lstStyle/>
            <a:p>
              <a:endParaRPr lang="en-US"/>
            </a:p>
          </p:txBody>
        </p:sp>
        <p:sp>
          <p:nvSpPr>
            <p:cNvPr id="133152" name="Oval 26"/>
            <p:cNvSpPr>
              <a:spLocks noChangeArrowheads="1"/>
            </p:cNvSpPr>
            <p:nvPr/>
          </p:nvSpPr>
          <p:spPr bwMode="auto">
            <a:xfrm>
              <a:off x="4401" y="2246"/>
              <a:ext cx="313" cy="81"/>
            </a:xfrm>
            <a:prstGeom prst="ellipse">
              <a:avLst/>
            </a:prstGeom>
            <a:solidFill>
              <a:schemeClr val="hlink"/>
            </a:solidFill>
            <a:ln w="12700">
              <a:solidFill>
                <a:schemeClr val="tx1"/>
              </a:solidFill>
              <a:round/>
            </a:ln>
          </p:spPr>
          <p:txBody>
            <a:bodyPr wrap="none" anchor="ctr"/>
            <a:lstStyle/>
            <a:p>
              <a:endParaRPr lang="en-US"/>
            </a:p>
          </p:txBody>
        </p:sp>
        <p:sp>
          <p:nvSpPr>
            <p:cNvPr id="133153" name="Line 27"/>
            <p:cNvSpPr>
              <a:spLocks noChangeShapeType="1"/>
            </p:cNvSpPr>
            <p:nvPr/>
          </p:nvSpPr>
          <p:spPr bwMode="auto">
            <a:xfrm>
              <a:off x="4401" y="2239"/>
              <a:ext cx="0" cy="50"/>
            </a:xfrm>
            <a:prstGeom prst="line">
              <a:avLst/>
            </a:prstGeom>
            <a:noFill/>
            <a:ln w="12700">
              <a:solidFill>
                <a:schemeClr val="tx1"/>
              </a:solidFill>
              <a:round/>
            </a:ln>
          </p:spPr>
          <p:txBody>
            <a:bodyPr wrap="none" anchor="ctr"/>
            <a:lstStyle/>
            <a:p>
              <a:endParaRPr lang="en-US"/>
            </a:p>
          </p:txBody>
        </p:sp>
        <p:sp>
          <p:nvSpPr>
            <p:cNvPr id="133154" name="Line 28"/>
            <p:cNvSpPr>
              <a:spLocks noChangeShapeType="1"/>
            </p:cNvSpPr>
            <p:nvPr/>
          </p:nvSpPr>
          <p:spPr bwMode="auto">
            <a:xfrm>
              <a:off x="4714" y="2239"/>
              <a:ext cx="0" cy="50"/>
            </a:xfrm>
            <a:prstGeom prst="line">
              <a:avLst/>
            </a:prstGeom>
            <a:noFill/>
            <a:ln w="12700">
              <a:solidFill>
                <a:schemeClr val="tx1"/>
              </a:solidFill>
              <a:round/>
            </a:ln>
          </p:spPr>
          <p:txBody>
            <a:bodyPr wrap="none" anchor="ctr"/>
            <a:lstStyle/>
            <a:p>
              <a:endParaRPr lang="en-US"/>
            </a:p>
          </p:txBody>
        </p:sp>
        <p:sp>
          <p:nvSpPr>
            <p:cNvPr id="133155" name="Rectangle 29"/>
            <p:cNvSpPr>
              <a:spLocks noChangeArrowheads="1"/>
            </p:cNvSpPr>
            <p:nvPr/>
          </p:nvSpPr>
          <p:spPr bwMode="auto">
            <a:xfrm>
              <a:off x="4401" y="2239"/>
              <a:ext cx="310" cy="49"/>
            </a:xfrm>
            <a:prstGeom prst="rect">
              <a:avLst/>
            </a:prstGeom>
            <a:solidFill>
              <a:schemeClr val="hlink"/>
            </a:solidFill>
            <a:ln>
              <a:noFill/>
            </a:ln>
          </p:spPr>
          <p:txBody>
            <a:bodyPr wrap="none" anchor="ctr"/>
            <a:lstStyle/>
            <a:p>
              <a:pPr algn="ctr"/>
              <a:endParaRPr lang="en-US" sz="2400"/>
            </a:p>
          </p:txBody>
        </p:sp>
        <p:sp>
          <p:nvSpPr>
            <p:cNvPr id="133156" name="Oval 30"/>
            <p:cNvSpPr>
              <a:spLocks noChangeArrowheads="1"/>
            </p:cNvSpPr>
            <p:nvPr/>
          </p:nvSpPr>
          <p:spPr bwMode="auto">
            <a:xfrm>
              <a:off x="4398" y="2180"/>
              <a:ext cx="313" cy="95"/>
            </a:xfrm>
            <a:prstGeom prst="ellipse">
              <a:avLst/>
            </a:prstGeom>
            <a:solidFill>
              <a:schemeClr val="hlink"/>
            </a:solidFill>
            <a:ln w="12700">
              <a:solidFill>
                <a:schemeClr val="tx1"/>
              </a:solidFill>
              <a:round/>
            </a:ln>
          </p:spPr>
          <p:txBody>
            <a:bodyPr wrap="none" anchor="ctr"/>
            <a:lstStyle/>
            <a:p>
              <a:endParaRPr lang="en-US"/>
            </a:p>
          </p:txBody>
        </p:sp>
        <p:sp>
          <p:nvSpPr>
            <p:cNvPr id="133157" name="Oval 31"/>
            <p:cNvSpPr>
              <a:spLocks noChangeArrowheads="1"/>
            </p:cNvSpPr>
            <p:nvPr/>
          </p:nvSpPr>
          <p:spPr bwMode="auto">
            <a:xfrm>
              <a:off x="4966" y="1905"/>
              <a:ext cx="313" cy="81"/>
            </a:xfrm>
            <a:prstGeom prst="ellipse">
              <a:avLst/>
            </a:prstGeom>
            <a:solidFill>
              <a:schemeClr val="hlink"/>
            </a:solidFill>
            <a:ln w="12700">
              <a:solidFill>
                <a:schemeClr val="tx1"/>
              </a:solidFill>
              <a:round/>
            </a:ln>
          </p:spPr>
          <p:txBody>
            <a:bodyPr wrap="none" anchor="ctr"/>
            <a:lstStyle/>
            <a:p>
              <a:endParaRPr lang="en-US"/>
            </a:p>
          </p:txBody>
        </p:sp>
        <p:sp>
          <p:nvSpPr>
            <p:cNvPr id="133158" name="Line 32"/>
            <p:cNvSpPr>
              <a:spLocks noChangeShapeType="1"/>
            </p:cNvSpPr>
            <p:nvPr/>
          </p:nvSpPr>
          <p:spPr bwMode="auto">
            <a:xfrm>
              <a:off x="4966" y="1898"/>
              <a:ext cx="0" cy="50"/>
            </a:xfrm>
            <a:prstGeom prst="line">
              <a:avLst/>
            </a:prstGeom>
            <a:noFill/>
            <a:ln w="12700">
              <a:solidFill>
                <a:schemeClr val="tx1"/>
              </a:solidFill>
              <a:round/>
            </a:ln>
          </p:spPr>
          <p:txBody>
            <a:bodyPr wrap="none" anchor="ctr"/>
            <a:lstStyle/>
            <a:p>
              <a:endParaRPr lang="en-US"/>
            </a:p>
          </p:txBody>
        </p:sp>
        <p:sp>
          <p:nvSpPr>
            <p:cNvPr id="133159" name="Line 33"/>
            <p:cNvSpPr>
              <a:spLocks noChangeShapeType="1"/>
            </p:cNvSpPr>
            <p:nvPr/>
          </p:nvSpPr>
          <p:spPr bwMode="auto">
            <a:xfrm>
              <a:off x="5279" y="1898"/>
              <a:ext cx="0" cy="50"/>
            </a:xfrm>
            <a:prstGeom prst="line">
              <a:avLst/>
            </a:prstGeom>
            <a:noFill/>
            <a:ln w="12700">
              <a:solidFill>
                <a:schemeClr val="tx1"/>
              </a:solidFill>
              <a:round/>
            </a:ln>
          </p:spPr>
          <p:txBody>
            <a:bodyPr wrap="none" anchor="ctr"/>
            <a:lstStyle/>
            <a:p>
              <a:endParaRPr lang="en-US"/>
            </a:p>
          </p:txBody>
        </p:sp>
        <p:sp>
          <p:nvSpPr>
            <p:cNvPr id="133160" name="Rectangle 34"/>
            <p:cNvSpPr>
              <a:spLocks noChangeArrowheads="1"/>
            </p:cNvSpPr>
            <p:nvPr/>
          </p:nvSpPr>
          <p:spPr bwMode="auto">
            <a:xfrm>
              <a:off x="4966" y="1898"/>
              <a:ext cx="310" cy="49"/>
            </a:xfrm>
            <a:prstGeom prst="rect">
              <a:avLst/>
            </a:prstGeom>
            <a:solidFill>
              <a:schemeClr val="hlink"/>
            </a:solidFill>
            <a:ln>
              <a:noFill/>
            </a:ln>
          </p:spPr>
          <p:txBody>
            <a:bodyPr wrap="none" anchor="ctr"/>
            <a:lstStyle/>
            <a:p>
              <a:pPr algn="ctr"/>
              <a:endParaRPr lang="en-US" sz="2400"/>
            </a:p>
          </p:txBody>
        </p:sp>
        <p:sp>
          <p:nvSpPr>
            <p:cNvPr id="133161" name="Oval 35"/>
            <p:cNvSpPr>
              <a:spLocks noChangeArrowheads="1"/>
            </p:cNvSpPr>
            <p:nvPr/>
          </p:nvSpPr>
          <p:spPr bwMode="auto">
            <a:xfrm>
              <a:off x="4963" y="1839"/>
              <a:ext cx="313" cy="95"/>
            </a:xfrm>
            <a:prstGeom prst="ellipse">
              <a:avLst/>
            </a:prstGeom>
            <a:solidFill>
              <a:schemeClr val="hlink"/>
            </a:solidFill>
            <a:ln w="12700">
              <a:solidFill>
                <a:schemeClr val="tx1"/>
              </a:solidFill>
              <a:round/>
            </a:ln>
          </p:spPr>
          <p:txBody>
            <a:bodyPr wrap="none" anchor="ctr"/>
            <a:lstStyle/>
            <a:p>
              <a:endParaRPr lang="en-US"/>
            </a:p>
          </p:txBody>
        </p:sp>
        <p:sp>
          <p:nvSpPr>
            <p:cNvPr id="133162" name="Freeform 36"/>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ln>
          </p:spPr>
          <p:txBody>
            <a:bodyPr wrap="none" anchor="ctr"/>
            <a:lstStyle/>
            <a:p>
              <a:endParaRPr lang="en-US"/>
            </a:p>
          </p:txBody>
        </p:sp>
        <p:sp>
          <p:nvSpPr>
            <p:cNvPr id="133163" name="Freeform 37"/>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ln>
          </p:spPr>
          <p:txBody>
            <a:bodyPr wrap="none" anchor="ctr"/>
            <a:lstStyle/>
            <a:p>
              <a:endParaRPr lang="en-US"/>
            </a:p>
          </p:txBody>
        </p:sp>
        <p:sp>
          <p:nvSpPr>
            <p:cNvPr id="133164" name="Freeform 38"/>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ln>
          </p:spPr>
          <p:txBody>
            <a:bodyPr wrap="none" anchor="ctr"/>
            <a:lstStyle/>
            <a:p>
              <a:endParaRPr lang="en-US"/>
            </a:p>
          </p:txBody>
        </p:sp>
        <p:sp>
          <p:nvSpPr>
            <p:cNvPr id="133165" name="Freeform 39"/>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ln>
          </p:spPr>
          <p:txBody>
            <a:bodyPr wrap="none" anchor="ctr"/>
            <a:lstStyle/>
            <a:p>
              <a:endParaRPr lang="en-US"/>
            </a:p>
          </p:txBody>
        </p:sp>
        <p:sp>
          <p:nvSpPr>
            <p:cNvPr id="133166" name="Freeform 40"/>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33167" name="Freeform 41"/>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ln>
          </p:spPr>
          <p:txBody>
            <a:bodyPr wrap="none" anchor="ctr"/>
            <a:lstStyle/>
            <a:p>
              <a:endParaRPr lang="en-US"/>
            </a:p>
          </p:txBody>
        </p:sp>
        <p:sp>
          <p:nvSpPr>
            <p:cNvPr id="133168" name="Freeform 42"/>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33169" name="Freeform 43"/>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ln>
          </p:spPr>
          <p:txBody>
            <a:bodyPr wrap="none" anchor="ctr"/>
            <a:lstStyle/>
            <a:p>
              <a:endParaRPr lang="en-US"/>
            </a:p>
          </p:txBody>
        </p:sp>
        <p:sp>
          <p:nvSpPr>
            <p:cNvPr id="133170" name="Freeform 44"/>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ln>
          </p:spPr>
          <p:txBody>
            <a:bodyPr wrap="none" anchor="ctr"/>
            <a:lstStyle/>
            <a:p>
              <a:endParaRPr lang="en-US"/>
            </a:p>
          </p:txBody>
        </p:sp>
        <p:grpSp>
          <p:nvGrpSpPr>
            <p:cNvPr id="133171" name="Group 45"/>
            <p:cNvGrpSpPr/>
            <p:nvPr/>
          </p:nvGrpSpPr>
          <p:grpSpPr bwMode="auto">
            <a:xfrm>
              <a:off x="3287" y="1744"/>
              <a:ext cx="205" cy="250"/>
              <a:chOff x="2954" y="2425"/>
              <a:chExt cx="208" cy="250"/>
            </a:xfrm>
          </p:grpSpPr>
          <p:sp>
            <p:nvSpPr>
              <p:cNvPr id="133197" name="Rectangle 46"/>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3198" name="Text Box 47"/>
              <p:cNvSpPr txBox="1">
                <a:spLocks noChangeArrowheads="1"/>
              </p:cNvSpPr>
              <p:nvPr/>
            </p:nvSpPr>
            <p:spPr bwMode="auto">
              <a:xfrm>
                <a:off x="2954" y="2425"/>
                <a:ext cx="208"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u</a:t>
                </a:r>
                <a:endParaRPr lang="en-US"/>
              </a:p>
            </p:txBody>
          </p:sp>
        </p:grpSp>
        <p:grpSp>
          <p:nvGrpSpPr>
            <p:cNvPr id="133172" name="Group 48"/>
            <p:cNvGrpSpPr/>
            <p:nvPr/>
          </p:nvGrpSpPr>
          <p:grpSpPr bwMode="auto">
            <a:xfrm>
              <a:off x="4461" y="2128"/>
              <a:ext cx="196" cy="250"/>
              <a:chOff x="2958" y="2425"/>
              <a:chExt cx="199" cy="250"/>
            </a:xfrm>
          </p:grpSpPr>
          <p:sp>
            <p:nvSpPr>
              <p:cNvPr id="133195" name="Rectangle 49"/>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33196" name="Text Box 50"/>
              <p:cNvSpPr txBox="1">
                <a:spLocks noChangeArrowheads="1"/>
              </p:cNvSpPr>
              <p:nvPr/>
            </p:nvSpPr>
            <p:spPr bwMode="auto">
              <a:xfrm>
                <a:off x="2958" y="2425"/>
                <a:ext cx="1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y</a:t>
                </a:r>
                <a:endParaRPr lang="en-US"/>
              </a:p>
            </p:txBody>
          </p:sp>
        </p:grpSp>
        <p:grpSp>
          <p:nvGrpSpPr>
            <p:cNvPr id="133173" name="Group 51"/>
            <p:cNvGrpSpPr/>
            <p:nvPr/>
          </p:nvGrpSpPr>
          <p:grpSpPr bwMode="auto">
            <a:xfrm>
              <a:off x="3772" y="2095"/>
              <a:ext cx="212" cy="288"/>
              <a:chOff x="2951" y="2395"/>
              <a:chExt cx="213" cy="288"/>
            </a:xfrm>
          </p:grpSpPr>
          <p:sp>
            <p:nvSpPr>
              <p:cNvPr id="133193" name="Rectangle 52"/>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3194" name="Text Box 53"/>
              <p:cNvSpPr txBox="1">
                <a:spLocks noChangeArrowheads="1"/>
              </p:cNvSpPr>
              <p:nvPr/>
            </p:nvSpPr>
            <p:spPr bwMode="auto">
              <a:xfrm>
                <a:off x="2951" y="2395"/>
                <a:ext cx="213"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x</a:t>
                </a:r>
              </a:p>
            </p:txBody>
          </p:sp>
        </p:grpSp>
        <p:grpSp>
          <p:nvGrpSpPr>
            <p:cNvPr id="133174" name="Group 54"/>
            <p:cNvGrpSpPr/>
            <p:nvPr/>
          </p:nvGrpSpPr>
          <p:grpSpPr bwMode="auto">
            <a:xfrm>
              <a:off x="4438" y="1438"/>
              <a:ext cx="232" cy="250"/>
              <a:chOff x="2941" y="2425"/>
              <a:chExt cx="235" cy="250"/>
            </a:xfrm>
          </p:grpSpPr>
          <p:sp>
            <p:nvSpPr>
              <p:cNvPr id="133191" name="Rectangle 55"/>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33192" name="Text Box 56"/>
              <p:cNvSpPr txBox="1">
                <a:spLocks noChangeArrowheads="1"/>
              </p:cNvSpPr>
              <p:nvPr/>
            </p:nvSpPr>
            <p:spPr bwMode="auto">
              <a:xfrm>
                <a:off x="2941"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w</a:t>
                </a:r>
                <a:endParaRPr lang="en-US"/>
              </a:p>
            </p:txBody>
          </p:sp>
        </p:grpSp>
        <p:grpSp>
          <p:nvGrpSpPr>
            <p:cNvPr id="133175" name="Group 57"/>
            <p:cNvGrpSpPr/>
            <p:nvPr/>
          </p:nvGrpSpPr>
          <p:grpSpPr bwMode="auto">
            <a:xfrm>
              <a:off x="3771" y="1438"/>
              <a:ext cx="196" cy="250"/>
              <a:chOff x="2958" y="2425"/>
              <a:chExt cx="199" cy="250"/>
            </a:xfrm>
          </p:grpSpPr>
          <p:sp>
            <p:nvSpPr>
              <p:cNvPr id="133189" name="Rectangle 58"/>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33190" name="Text Box 59"/>
              <p:cNvSpPr txBox="1">
                <a:spLocks noChangeArrowheads="1"/>
              </p:cNvSpPr>
              <p:nvPr/>
            </p:nvSpPr>
            <p:spPr bwMode="auto">
              <a:xfrm>
                <a:off x="2958" y="2425"/>
                <a:ext cx="1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v</a:t>
                </a:r>
                <a:endParaRPr lang="en-US"/>
              </a:p>
            </p:txBody>
          </p:sp>
        </p:grpSp>
        <p:grpSp>
          <p:nvGrpSpPr>
            <p:cNvPr id="133176" name="Group 60"/>
            <p:cNvGrpSpPr/>
            <p:nvPr/>
          </p:nvGrpSpPr>
          <p:grpSpPr bwMode="auto">
            <a:xfrm>
              <a:off x="5025" y="1756"/>
              <a:ext cx="212" cy="288"/>
              <a:chOff x="2949" y="2395"/>
              <a:chExt cx="214" cy="288"/>
            </a:xfrm>
          </p:grpSpPr>
          <p:sp>
            <p:nvSpPr>
              <p:cNvPr id="133187" name="Rectangle 61"/>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33188" name="Text Box 62"/>
              <p:cNvSpPr txBox="1">
                <a:spLocks noChangeArrowheads="1"/>
              </p:cNvSpPr>
              <p:nvPr/>
            </p:nvSpPr>
            <p:spPr bwMode="auto">
              <a:xfrm>
                <a:off x="2949" y="2395"/>
                <a:ext cx="214"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z</a:t>
                </a:r>
              </a:p>
            </p:txBody>
          </p:sp>
        </p:grpSp>
        <p:sp>
          <p:nvSpPr>
            <p:cNvPr id="133177" name="Text Box 63"/>
            <p:cNvSpPr txBox="1">
              <a:spLocks noChangeArrowheads="1"/>
            </p:cNvSpPr>
            <p:nvPr/>
          </p:nvSpPr>
          <p:spPr bwMode="auto">
            <a:xfrm>
              <a:off x="3493" y="1568"/>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33178" name="Text Box 64"/>
            <p:cNvSpPr txBox="1">
              <a:spLocks noChangeArrowheads="1"/>
            </p:cNvSpPr>
            <p:nvPr/>
          </p:nvSpPr>
          <p:spPr bwMode="auto">
            <a:xfrm>
              <a:off x="3841" y="1787"/>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33179" name="Text Box 65"/>
            <p:cNvSpPr txBox="1">
              <a:spLocks noChangeArrowheads="1"/>
            </p:cNvSpPr>
            <p:nvPr/>
          </p:nvSpPr>
          <p:spPr bwMode="auto">
            <a:xfrm>
              <a:off x="3406" y="2000"/>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33180" name="Text Box 66"/>
            <p:cNvSpPr txBox="1">
              <a:spLocks noChangeArrowheads="1"/>
            </p:cNvSpPr>
            <p:nvPr/>
          </p:nvSpPr>
          <p:spPr bwMode="auto">
            <a:xfrm>
              <a:off x="4225" y="1880"/>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33181" name="Text Box 67"/>
            <p:cNvSpPr txBox="1">
              <a:spLocks noChangeArrowheads="1"/>
            </p:cNvSpPr>
            <p:nvPr/>
          </p:nvSpPr>
          <p:spPr bwMode="auto">
            <a:xfrm>
              <a:off x="4162" y="2234"/>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33182" name="Text Box 68"/>
            <p:cNvSpPr txBox="1">
              <a:spLocks noChangeArrowheads="1"/>
            </p:cNvSpPr>
            <p:nvPr/>
          </p:nvSpPr>
          <p:spPr bwMode="auto">
            <a:xfrm>
              <a:off x="4522" y="1805"/>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33183" name="Text Box 69"/>
            <p:cNvSpPr txBox="1">
              <a:spLocks noChangeArrowheads="1"/>
            </p:cNvSpPr>
            <p:nvPr/>
          </p:nvSpPr>
          <p:spPr bwMode="auto">
            <a:xfrm>
              <a:off x="4882" y="2069"/>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33184" name="Text Box 70"/>
            <p:cNvSpPr txBox="1">
              <a:spLocks noChangeArrowheads="1"/>
            </p:cNvSpPr>
            <p:nvPr/>
          </p:nvSpPr>
          <p:spPr bwMode="auto">
            <a:xfrm>
              <a:off x="4855" y="1532"/>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sp>
          <p:nvSpPr>
            <p:cNvPr id="133185" name="Text Box 71"/>
            <p:cNvSpPr txBox="1">
              <a:spLocks noChangeArrowheads="1"/>
            </p:cNvSpPr>
            <p:nvPr/>
          </p:nvSpPr>
          <p:spPr bwMode="auto">
            <a:xfrm>
              <a:off x="4120" y="1382"/>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33186" name="Text Box 72"/>
            <p:cNvSpPr txBox="1">
              <a:spLocks noChangeArrowheads="1"/>
            </p:cNvSpPr>
            <p:nvPr/>
          </p:nvSpPr>
          <p:spPr bwMode="auto">
            <a:xfrm>
              <a:off x="3769" y="1115"/>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grpSp>
      <p:sp>
        <p:nvSpPr>
          <p:cNvPr id="133126" name="Text Box 73"/>
          <p:cNvSpPr txBox="1">
            <a:spLocks noChangeArrowheads="1"/>
          </p:cNvSpPr>
          <p:nvPr/>
        </p:nvSpPr>
        <p:spPr bwMode="auto">
          <a:xfrm>
            <a:off x="3765550" y="1770063"/>
            <a:ext cx="5045075" cy="4572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dirty="0"/>
              <a:t>clearly, d</a:t>
            </a:r>
            <a:r>
              <a:rPr lang="en-US" baseline="-25000" dirty="0"/>
              <a:t>v</a:t>
            </a:r>
            <a:r>
              <a:rPr lang="en-US" dirty="0"/>
              <a:t>(z) = 5, d</a:t>
            </a:r>
            <a:r>
              <a:rPr lang="en-US" baseline="-25000" dirty="0"/>
              <a:t>x</a:t>
            </a:r>
            <a:r>
              <a:rPr lang="en-US" dirty="0"/>
              <a:t>(z) = 3, </a:t>
            </a:r>
            <a:r>
              <a:rPr lang="en-US" dirty="0" err="1"/>
              <a:t>d</a:t>
            </a:r>
            <a:r>
              <a:rPr lang="en-US" baseline="-25000" dirty="0" err="1"/>
              <a:t>w</a:t>
            </a:r>
            <a:r>
              <a:rPr lang="en-US" dirty="0"/>
              <a:t>(z) = 3</a:t>
            </a:r>
          </a:p>
        </p:txBody>
      </p:sp>
      <p:sp>
        <p:nvSpPr>
          <p:cNvPr id="133127" name="Text Box 74"/>
          <p:cNvSpPr txBox="1">
            <a:spLocks noChangeArrowheads="1"/>
          </p:cNvSpPr>
          <p:nvPr/>
        </p:nvSpPr>
        <p:spPr bwMode="auto">
          <a:xfrm>
            <a:off x="4275138" y="2928938"/>
            <a:ext cx="3900487" cy="228282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dirty="0"/>
              <a:t>d</a:t>
            </a:r>
            <a:r>
              <a:rPr lang="en-US" baseline="-25000" dirty="0"/>
              <a:t>u</a:t>
            </a:r>
            <a:r>
              <a:rPr lang="en-US" dirty="0"/>
              <a:t>(z) = min { c(</a:t>
            </a:r>
            <a:r>
              <a:rPr lang="en-US" dirty="0" err="1"/>
              <a:t>u,v</a:t>
            </a:r>
            <a:r>
              <a:rPr lang="en-US" dirty="0"/>
              <a:t>) + d</a:t>
            </a:r>
            <a:r>
              <a:rPr lang="en-US" baseline="-25000" dirty="0"/>
              <a:t>v</a:t>
            </a:r>
            <a:r>
              <a:rPr lang="en-US" dirty="0"/>
              <a:t>(z),</a:t>
            </a:r>
          </a:p>
          <a:p>
            <a:r>
              <a:rPr lang="en-US" dirty="0"/>
              <a:t>                    c(</a:t>
            </a:r>
            <a:r>
              <a:rPr lang="en-US" dirty="0" err="1"/>
              <a:t>u,x</a:t>
            </a:r>
            <a:r>
              <a:rPr lang="en-US" dirty="0"/>
              <a:t>) + d</a:t>
            </a:r>
            <a:r>
              <a:rPr lang="en-US" baseline="-25000" dirty="0"/>
              <a:t>x</a:t>
            </a:r>
            <a:r>
              <a:rPr lang="en-US" dirty="0"/>
              <a:t>(z),</a:t>
            </a:r>
          </a:p>
          <a:p>
            <a:r>
              <a:rPr lang="en-US" dirty="0"/>
              <a:t>                    c(</a:t>
            </a:r>
            <a:r>
              <a:rPr lang="en-US" dirty="0" err="1"/>
              <a:t>u,w</a:t>
            </a:r>
            <a:r>
              <a:rPr lang="en-US" dirty="0"/>
              <a:t>) + </a:t>
            </a:r>
            <a:r>
              <a:rPr lang="en-US" dirty="0" err="1"/>
              <a:t>d</a:t>
            </a:r>
            <a:r>
              <a:rPr lang="en-US" baseline="-25000" dirty="0" err="1"/>
              <a:t>w</a:t>
            </a:r>
            <a:r>
              <a:rPr lang="en-US" dirty="0"/>
              <a:t>(z) }</a:t>
            </a:r>
          </a:p>
          <a:p>
            <a:r>
              <a:rPr lang="en-US" dirty="0"/>
              <a:t>         = min {2 + 5,</a:t>
            </a:r>
          </a:p>
          <a:p>
            <a:r>
              <a:rPr lang="en-US" dirty="0"/>
              <a:t>                    1 + 3,</a:t>
            </a:r>
          </a:p>
          <a:p>
            <a:r>
              <a:rPr lang="en-US" dirty="0"/>
              <a:t>                    5 + 3}  = 4</a:t>
            </a:r>
          </a:p>
        </p:txBody>
      </p:sp>
      <p:sp>
        <p:nvSpPr>
          <p:cNvPr id="133128" name="Text Box 75"/>
          <p:cNvSpPr txBox="1">
            <a:spLocks noChangeArrowheads="1"/>
          </p:cNvSpPr>
          <p:nvPr/>
        </p:nvSpPr>
        <p:spPr bwMode="auto">
          <a:xfrm>
            <a:off x="663318" y="5314774"/>
            <a:ext cx="6765925" cy="8191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nSpc>
                <a:spcPct val="85000"/>
              </a:lnSpc>
            </a:pPr>
            <a:r>
              <a:rPr lang="en-US" sz="2800" dirty="0">
                <a:latin typeface="Gill Sans MT" pitchFamily="34" charset="0"/>
              </a:rPr>
              <a:t>node achieving minimum is next</a:t>
            </a:r>
          </a:p>
          <a:p>
            <a:pPr>
              <a:lnSpc>
                <a:spcPct val="85000"/>
              </a:lnSpc>
            </a:pPr>
            <a:r>
              <a:rPr lang="en-US" sz="2800" dirty="0">
                <a:latin typeface="Gill Sans MT" pitchFamily="34" charset="0"/>
              </a:rPr>
              <a:t>hop in shortest path, used in</a:t>
            </a:r>
            <a:r>
              <a:rPr lang="en-US" sz="2800" dirty="0">
                <a:latin typeface="Gill Sans MT" pitchFamily="34" charset="0"/>
                <a:ea typeface="MS Mincho" charset="0"/>
                <a:cs typeface="MS Mincho" charset="0"/>
              </a:rPr>
              <a:t> </a:t>
            </a:r>
            <a:r>
              <a:rPr lang="en-US" sz="2800" dirty="0">
                <a:latin typeface="Gill Sans MT" pitchFamily="34" charset="0"/>
              </a:rPr>
              <a:t>forwarding table</a:t>
            </a:r>
          </a:p>
        </p:txBody>
      </p:sp>
      <p:sp>
        <p:nvSpPr>
          <p:cNvPr id="133129" name="Text Box 76"/>
          <p:cNvSpPr txBox="1">
            <a:spLocks noChangeArrowheads="1"/>
          </p:cNvSpPr>
          <p:nvPr/>
        </p:nvSpPr>
        <p:spPr bwMode="auto">
          <a:xfrm>
            <a:off x="3862388" y="2466975"/>
            <a:ext cx="2725737" cy="4572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a:t>B-F equation says:</a:t>
            </a:r>
          </a:p>
        </p:txBody>
      </p:sp>
      <p:sp>
        <p:nvSpPr>
          <p:cNvPr id="80"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45</a:t>
            </a:fld>
            <a:endParaRPr lang="en-US" sz="1200" dirty="0">
              <a:latin typeface="Tahoma" panose="020B0604030504040204" charset="0"/>
            </a:endParaRPr>
          </a:p>
        </p:txBody>
      </p:sp>
      <p:sp>
        <p:nvSpPr>
          <p:cNvPr id="81"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
        <p:nvSpPr>
          <p:cNvPr id="3" name="文本框 2"/>
          <p:cNvSpPr txBox="1"/>
          <p:nvPr/>
        </p:nvSpPr>
        <p:spPr>
          <a:xfrm>
            <a:off x="957239" y="3803651"/>
            <a:ext cx="3030585" cy="400110"/>
          </a:xfrm>
          <a:prstGeom prst="rect">
            <a:avLst/>
          </a:prstGeom>
          <a:noFill/>
        </p:spPr>
        <p:txBody>
          <a:bodyPr wrap="square">
            <a:spAutoFit/>
          </a:bodyPr>
          <a:lstStyle/>
          <a:p>
            <a:r>
              <a:rPr lang="zh-CN" altLang="en-US" sz="2000" b="1" dirty="0">
                <a:solidFill>
                  <a:srgbClr val="C00000"/>
                </a:solidFill>
                <a:latin typeface="FZKai-Z03" panose="03000509000000000000" pitchFamily="66" charset="-122"/>
                <a:ea typeface="FZKai-Z03" panose="03000509000000000000" pitchFamily="66" charset="-122"/>
              </a:rPr>
              <a:t>这三个节点是</a:t>
            </a:r>
            <a:r>
              <a:rPr lang="en-US" altLang="zh-CN" sz="2000" b="1" dirty="0">
                <a:solidFill>
                  <a:srgbClr val="C00000"/>
                </a:solidFill>
                <a:latin typeface="FZKai-Z03" panose="03000509000000000000" pitchFamily="66" charset="-122"/>
                <a:ea typeface="FZKai-Z03" panose="03000509000000000000" pitchFamily="66" charset="-122"/>
              </a:rPr>
              <a:t>u</a:t>
            </a:r>
            <a:r>
              <a:rPr lang="zh-CN" altLang="en-US" sz="2000" b="1" dirty="0">
                <a:solidFill>
                  <a:srgbClr val="C00000"/>
                </a:solidFill>
                <a:latin typeface="FZKai-Z03" panose="03000509000000000000" pitchFamily="66" charset="-122"/>
                <a:ea typeface="FZKai-Z03" panose="03000509000000000000" pitchFamily="66" charset="-122"/>
              </a:rPr>
              <a:t>的邻居。</a:t>
            </a:r>
          </a:p>
        </p:txBody>
      </p:sp>
    </p:spTree>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4147"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5950" y="1066800"/>
            <a:ext cx="6399213" cy="173038"/>
          </a:xfrm>
          <a:prstGeom prst="rect">
            <a:avLst/>
          </a:prstGeom>
          <a:noFill/>
          <a:ln>
            <a:noFill/>
          </a:ln>
        </p:spPr>
      </p:pic>
      <p:sp>
        <p:nvSpPr>
          <p:cNvPr id="89093" name="Rectangle 2"/>
          <p:cNvSpPr>
            <a:spLocks noGrp="1" noChangeArrowheads="1"/>
          </p:cNvSpPr>
          <p:nvPr>
            <p:ph type="title"/>
          </p:nvPr>
        </p:nvSpPr>
        <p:spPr/>
        <p:txBody>
          <a:bodyPr/>
          <a:lstStyle/>
          <a:p>
            <a:pPr>
              <a:defRPr/>
            </a:pPr>
            <a:r>
              <a:rPr lang="en-US">
                <a:cs typeface="+mj-cs"/>
              </a:rPr>
              <a:t>Distance vector algorithm </a:t>
            </a:r>
          </a:p>
        </p:txBody>
      </p:sp>
      <p:sp>
        <p:nvSpPr>
          <p:cNvPr id="134149" name="Rectangle 3"/>
          <p:cNvSpPr>
            <a:spLocks noGrp="1" noChangeArrowheads="1"/>
          </p:cNvSpPr>
          <p:nvPr>
            <p:ph type="body" idx="1"/>
          </p:nvPr>
        </p:nvSpPr>
        <p:spPr>
          <a:xfrm>
            <a:off x="533400" y="1533525"/>
            <a:ext cx="7772400" cy="4648200"/>
          </a:xfrm>
        </p:spPr>
        <p:txBody>
          <a:bodyPr/>
          <a:lstStyle/>
          <a:p>
            <a:r>
              <a:rPr lang="en-US">
                <a:solidFill>
                  <a:srgbClr val="CC0000"/>
                </a:solidFill>
                <a:latin typeface="Gill Sans MT" pitchFamily="34" charset="0"/>
              </a:rPr>
              <a:t>D</a:t>
            </a:r>
            <a:r>
              <a:rPr lang="en-US" baseline="-25000">
                <a:solidFill>
                  <a:srgbClr val="CC0000"/>
                </a:solidFill>
                <a:latin typeface="Gill Sans MT" pitchFamily="34" charset="0"/>
              </a:rPr>
              <a:t>x</a:t>
            </a:r>
            <a:r>
              <a:rPr lang="en-US">
                <a:solidFill>
                  <a:srgbClr val="CC0000"/>
                </a:solidFill>
                <a:latin typeface="Gill Sans MT" pitchFamily="34" charset="0"/>
              </a:rPr>
              <a:t>(y)</a:t>
            </a:r>
            <a:r>
              <a:rPr lang="en-US">
                <a:latin typeface="Gill Sans MT" pitchFamily="34" charset="0"/>
              </a:rPr>
              <a:t> = estimate of least cost from x to y</a:t>
            </a:r>
          </a:p>
          <a:p>
            <a:pPr lvl="1"/>
            <a:r>
              <a:rPr lang="en-US">
                <a:latin typeface="Gill Sans MT" pitchFamily="34" charset="0"/>
              </a:rPr>
              <a:t>x maintains  distance vector </a:t>
            </a:r>
            <a:r>
              <a:rPr lang="en-US" b="1">
                <a:solidFill>
                  <a:srgbClr val="CC0000"/>
                </a:solidFill>
                <a:latin typeface="Gill Sans MT" pitchFamily="34" charset="0"/>
              </a:rPr>
              <a:t>D</a:t>
            </a:r>
            <a:r>
              <a:rPr lang="en-US" baseline="-25000">
                <a:solidFill>
                  <a:srgbClr val="CC0000"/>
                </a:solidFill>
                <a:latin typeface="Gill Sans MT" pitchFamily="34" charset="0"/>
              </a:rPr>
              <a:t>x</a:t>
            </a:r>
            <a:r>
              <a:rPr lang="en-US">
                <a:solidFill>
                  <a:srgbClr val="CC0000"/>
                </a:solidFill>
                <a:latin typeface="Gill Sans MT" pitchFamily="34" charset="0"/>
              </a:rPr>
              <a:t> = [D</a:t>
            </a:r>
            <a:r>
              <a:rPr lang="en-US" baseline="-25000">
                <a:solidFill>
                  <a:srgbClr val="CC0000"/>
                </a:solidFill>
                <a:latin typeface="Gill Sans MT" pitchFamily="34" charset="0"/>
              </a:rPr>
              <a:t>x</a:t>
            </a:r>
            <a:r>
              <a:rPr lang="en-US">
                <a:solidFill>
                  <a:srgbClr val="CC0000"/>
                </a:solidFill>
                <a:latin typeface="Gill Sans MT" pitchFamily="34" charset="0"/>
              </a:rPr>
              <a:t>(y): y </a:t>
            </a:r>
            <a:r>
              <a:rPr lang="ru-RU">
                <a:solidFill>
                  <a:srgbClr val="CC0000"/>
                </a:solidFill>
                <a:latin typeface="Gill Sans MT" pitchFamily="34" charset="0"/>
              </a:rPr>
              <a:t>є</a:t>
            </a:r>
            <a:r>
              <a:rPr lang="en-US">
                <a:solidFill>
                  <a:srgbClr val="CC0000"/>
                </a:solidFill>
                <a:latin typeface="Gill Sans MT" pitchFamily="34" charset="0"/>
              </a:rPr>
              <a:t> N ]</a:t>
            </a:r>
          </a:p>
          <a:p>
            <a:r>
              <a:rPr lang="en-US">
                <a:latin typeface="Gill Sans MT" pitchFamily="34" charset="0"/>
              </a:rPr>
              <a:t>node x:</a:t>
            </a:r>
          </a:p>
          <a:p>
            <a:pPr lvl="1"/>
            <a:r>
              <a:rPr lang="en-US" sz="2800">
                <a:latin typeface="Gill Sans MT" pitchFamily="34" charset="0"/>
              </a:rPr>
              <a:t>knows cost to each neighbor v: </a:t>
            </a:r>
            <a:r>
              <a:rPr lang="en-US" sz="2800">
                <a:solidFill>
                  <a:srgbClr val="CC0000"/>
                </a:solidFill>
                <a:latin typeface="Gill Sans MT" pitchFamily="34" charset="0"/>
              </a:rPr>
              <a:t>c(x,v)</a:t>
            </a:r>
          </a:p>
          <a:p>
            <a:pPr lvl="1" latinLnBrk="0">
              <a:lnSpc>
                <a:spcPct val="100000"/>
              </a:lnSpc>
              <a:spcBef>
                <a:spcPts val="0"/>
              </a:spcBef>
            </a:pPr>
            <a:r>
              <a:rPr lang="en-US" sz="2800">
                <a:latin typeface="Gill Sans MT" pitchFamily="34" charset="0"/>
              </a:rPr>
              <a:t>maintains its neighbors</a:t>
            </a:r>
            <a:r>
              <a:rPr lang="ja-JP" altLang="en-US" sz="2800">
                <a:latin typeface="Gill Sans MT" pitchFamily="34" charset="0"/>
              </a:rPr>
              <a:t>’</a:t>
            </a:r>
            <a:r>
              <a:rPr lang="en-US" altLang="ja-JP" sz="2800">
                <a:latin typeface="Gill Sans MT" pitchFamily="34" charset="0"/>
              </a:rPr>
              <a:t> distance vectors. For each neighbor v, x maintains </a:t>
            </a:r>
            <a:br>
              <a:rPr lang="en-US" altLang="ja-JP" sz="2800">
                <a:latin typeface="Gill Sans MT" pitchFamily="34" charset="0"/>
              </a:rPr>
            </a:br>
            <a:r>
              <a:rPr lang="en-US" altLang="ja-JP" sz="2800" b="1">
                <a:solidFill>
                  <a:srgbClr val="CC0000"/>
                </a:solidFill>
                <a:latin typeface="Gill Sans MT" pitchFamily="34" charset="0"/>
              </a:rPr>
              <a:t>D</a:t>
            </a:r>
            <a:r>
              <a:rPr lang="en-US" altLang="ja-JP" sz="2800" baseline="-25000">
                <a:solidFill>
                  <a:srgbClr val="CC0000"/>
                </a:solidFill>
                <a:latin typeface="Gill Sans MT" pitchFamily="34" charset="0"/>
              </a:rPr>
              <a:t>v</a:t>
            </a:r>
            <a:r>
              <a:rPr lang="en-US" altLang="ja-JP" sz="2800">
                <a:solidFill>
                  <a:srgbClr val="CC0000"/>
                </a:solidFill>
                <a:latin typeface="Gill Sans MT" pitchFamily="34" charset="0"/>
              </a:rPr>
              <a:t> = [D</a:t>
            </a:r>
            <a:r>
              <a:rPr lang="en-US" altLang="ja-JP" sz="2800" baseline="-25000">
                <a:solidFill>
                  <a:srgbClr val="CC0000"/>
                </a:solidFill>
                <a:latin typeface="Gill Sans MT" pitchFamily="34" charset="0"/>
              </a:rPr>
              <a:t>v</a:t>
            </a:r>
            <a:r>
              <a:rPr lang="en-US" altLang="ja-JP" sz="2800">
                <a:solidFill>
                  <a:srgbClr val="CC0000"/>
                </a:solidFill>
                <a:latin typeface="Gill Sans MT" pitchFamily="34" charset="0"/>
              </a:rPr>
              <a:t>(y): y </a:t>
            </a:r>
            <a:r>
              <a:rPr lang="ru-RU" altLang="ja-JP" sz="2800">
                <a:solidFill>
                  <a:srgbClr val="CC0000"/>
                </a:solidFill>
                <a:latin typeface="Gill Sans MT" pitchFamily="34" charset="0"/>
              </a:rPr>
              <a:t>є</a:t>
            </a:r>
            <a:r>
              <a:rPr lang="en-US" altLang="ja-JP" sz="2800">
                <a:solidFill>
                  <a:srgbClr val="CC0000"/>
                </a:solidFill>
                <a:latin typeface="Gill Sans MT" pitchFamily="34" charset="0"/>
              </a:rPr>
              <a:t> N ]</a:t>
            </a:r>
          </a:p>
          <a:p>
            <a:pPr latinLnBrk="0">
              <a:lnSpc>
                <a:spcPct val="100000"/>
              </a:lnSpc>
              <a:spcBef>
                <a:spcPts val="0"/>
              </a:spcBef>
              <a:buFont typeface="Wingdings" panose="05000000000000000000" charset="0"/>
              <a:buNone/>
            </a:pPr>
            <a:endParaRPr lang="en-US">
              <a:solidFill>
                <a:srgbClr val="CC0000"/>
              </a:solidFill>
              <a:latin typeface="Gill Sans MT" pitchFamily="34" charset="0"/>
            </a:endParaRPr>
          </a:p>
          <a:p>
            <a:endParaRPr lang="en-US">
              <a:latin typeface="Gill Sans MT" pitchFamily="34" charset="0"/>
            </a:endParaRPr>
          </a:p>
        </p:txBody>
      </p:sp>
      <p:sp>
        <p:nvSpPr>
          <p:cNvPr id="7"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46</a:t>
            </a:fld>
            <a:endParaRPr lang="en-US" sz="1200" dirty="0">
              <a:latin typeface="Tahoma" panose="020B0604030504040204" charset="0"/>
            </a:endParaRPr>
          </a:p>
        </p:txBody>
      </p:sp>
      <p:sp>
        <p:nvSpPr>
          <p:cNvPr id="8"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6" name="Rectangle 3"/>
          <p:cNvSpPr>
            <a:spLocks noGrp="1" noChangeArrowheads="1"/>
          </p:cNvSpPr>
          <p:nvPr>
            <p:ph type="body" idx="1"/>
          </p:nvPr>
        </p:nvSpPr>
        <p:spPr>
          <a:xfrm>
            <a:off x="533400" y="1406525"/>
            <a:ext cx="7772400" cy="2414588"/>
          </a:xfrm>
        </p:spPr>
        <p:txBody>
          <a:bodyPr/>
          <a:lstStyle/>
          <a:p>
            <a:pPr>
              <a:buFont typeface="Wingdings" panose="05000000000000000000" charset="0"/>
              <a:buNone/>
              <a:defRPr/>
            </a:pPr>
            <a:r>
              <a:rPr lang="en-US" sz="3200" i="1" dirty="0">
                <a:solidFill>
                  <a:srgbClr val="CC0000"/>
                </a:solidFill>
                <a:cs typeface="+mn-cs"/>
              </a:rPr>
              <a:t>key idea:</a:t>
            </a:r>
            <a:r>
              <a:rPr lang="en-US" sz="3200" dirty="0">
                <a:solidFill>
                  <a:srgbClr val="CC0000"/>
                </a:solidFill>
                <a:cs typeface="+mn-cs"/>
              </a:rPr>
              <a:t> </a:t>
            </a:r>
          </a:p>
          <a:p>
            <a:pPr>
              <a:defRPr/>
            </a:pPr>
            <a:r>
              <a:rPr lang="en-US" dirty="0">
                <a:solidFill>
                  <a:srgbClr val="C00000"/>
                </a:solidFill>
                <a:cs typeface="+mn-cs"/>
              </a:rPr>
              <a:t>from time-to-time</a:t>
            </a:r>
            <a:r>
              <a:rPr lang="en-US" dirty="0">
                <a:cs typeface="+mn-cs"/>
              </a:rPr>
              <a:t>, each node sends its own distance vector estimate to neighbors</a:t>
            </a:r>
          </a:p>
          <a:p>
            <a:pPr>
              <a:defRPr/>
            </a:pPr>
            <a:r>
              <a:rPr lang="en-US" dirty="0">
                <a:cs typeface="+mn-cs"/>
              </a:rPr>
              <a:t>when x receives new DV estimate from neighbor, it updates its own DV using B-F equation:</a:t>
            </a:r>
          </a:p>
        </p:txBody>
      </p:sp>
      <p:sp>
        <p:nvSpPr>
          <p:cNvPr id="135172" name="Rectangle 4"/>
          <p:cNvSpPr>
            <a:spLocks noChangeArrowheads="1"/>
          </p:cNvSpPr>
          <p:nvPr/>
        </p:nvSpPr>
        <p:spPr bwMode="auto">
          <a:xfrm>
            <a:off x="941070" y="3971608"/>
            <a:ext cx="7816850" cy="519112"/>
          </a:xfrm>
          <a:prstGeom prst="rect">
            <a:avLst/>
          </a:prstGeom>
          <a:noFill/>
          <a:ln>
            <a:noFill/>
          </a:ln>
        </p:spPr>
        <p:txBody>
          <a:bodyPr wrap="none" anchor="ctr">
            <a:spAutoFit/>
          </a:bodyPr>
          <a:lstStyle/>
          <a:p>
            <a:r>
              <a:rPr lang="en-US" sz="2800" i="1">
                <a:solidFill>
                  <a:srgbClr val="CC0000"/>
                </a:solidFill>
                <a:cs typeface="Times New Roman" panose="02020503050405090304" charset="0"/>
              </a:rPr>
              <a:t>D</a:t>
            </a:r>
            <a:r>
              <a:rPr lang="en-US" sz="2800" i="1" baseline="-30000">
                <a:solidFill>
                  <a:srgbClr val="CC0000"/>
                </a:solidFill>
                <a:cs typeface="Times New Roman" panose="02020503050405090304" charset="0"/>
              </a:rPr>
              <a:t>x</a:t>
            </a:r>
            <a:r>
              <a:rPr lang="en-US" sz="2800" i="1">
                <a:solidFill>
                  <a:srgbClr val="CC0000"/>
                </a:solidFill>
                <a:cs typeface="Times New Roman" panose="02020503050405090304" charset="0"/>
              </a:rPr>
              <a:t>(y) ← min</a:t>
            </a:r>
            <a:r>
              <a:rPr lang="en-US" sz="2800" i="1" baseline="-30000">
                <a:solidFill>
                  <a:srgbClr val="CC0000"/>
                </a:solidFill>
                <a:cs typeface="Times New Roman" panose="02020503050405090304" charset="0"/>
              </a:rPr>
              <a:t>v</a:t>
            </a:r>
            <a:r>
              <a:rPr lang="en-US" sz="2800" i="1">
                <a:solidFill>
                  <a:srgbClr val="CC0000"/>
                </a:solidFill>
                <a:cs typeface="Times New Roman" panose="02020503050405090304" charset="0"/>
              </a:rPr>
              <a:t>{c(x,v) + D</a:t>
            </a:r>
            <a:r>
              <a:rPr lang="en-US" sz="2800" i="1" baseline="-30000">
                <a:solidFill>
                  <a:srgbClr val="CC0000"/>
                </a:solidFill>
                <a:cs typeface="Times New Roman" panose="02020503050405090304" charset="0"/>
              </a:rPr>
              <a:t>v</a:t>
            </a:r>
            <a:r>
              <a:rPr lang="en-US" sz="2800" i="1">
                <a:solidFill>
                  <a:srgbClr val="CC0000"/>
                </a:solidFill>
                <a:cs typeface="Times New Roman" panose="02020503050405090304" charset="0"/>
              </a:rPr>
              <a:t>(y)}  for each node y </a:t>
            </a:r>
            <a:r>
              <a:rPr lang="en-US" sz="2800" i="1">
                <a:solidFill>
                  <a:srgbClr val="CC0000"/>
                </a:solidFill>
                <a:ea typeface="MS Mincho" charset="0"/>
                <a:cs typeface="MS Mincho" charset="0"/>
              </a:rPr>
              <a:t>∊</a:t>
            </a:r>
            <a:r>
              <a:rPr lang="en-US" sz="2800" i="1">
                <a:solidFill>
                  <a:srgbClr val="CC0000"/>
                </a:solidFill>
                <a:cs typeface="Times New Roman" panose="02020503050405090304" charset="0"/>
              </a:rPr>
              <a:t> N</a:t>
            </a:r>
          </a:p>
        </p:txBody>
      </p:sp>
      <p:sp>
        <p:nvSpPr>
          <p:cNvPr id="135173" name="Rectangle 5"/>
          <p:cNvSpPr>
            <a:spLocks noChangeArrowheads="1"/>
          </p:cNvSpPr>
          <p:nvPr/>
        </p:nvSpPr>
        <p:spPr bwMode="auto">
          <a:xfrm>
            <a:off x="385763" y="4640263"/>
            <a:ext cx="7772400" cy="1500187"/>
          </a:xfrm>
          <a:prstGeom prst="rect">
            <a:avLst/>
          </a:prstGeom>
          <a:noFill/>
          <a:ln>
            <a:noFill/>
          </a:ln>
        </p:spPr>
        <p:txBody>
          <a:bodyPr/>
          <a:lstStyle/>
          <a:p>
            <a:pPr marL="342900" indent="-342900">
              <a:lnSpc>
                <a:spcPct val="90000"/>
              </a:lnSpc>
              <a:spcBef>
                <a:spcPct val="20000"/>
              </a:spcBef>
              <a:buClr>
                <a:srgbClr val="000099"/>
              </a:buClr>
              <a:buSzPct val="65000"/>
              <a:buFont typeface="Wingdings" panose="05000000000000000000" charset="0"/>
              <a:buChar char="v"/>
            </a:pPr>
            <a:r>
              <a:rPr lang="en-US" sz="2800">
                <a:latin typeface="Gill Sans MT" pitchFamily="34" charset="0"/>
              </a:rPr>
              <a:t>under minor, natural conditions, the estimate </a:t>
            </a:r>
            <a:r>
              <a:rPr lang="en-US" sz="2800" i="1">
                <a:latin typeface="Gill Sans MT" pitchFamily="34" charset="0"/>
                <a:cs typeface="Times New Roman" panose="02020503050405090304" charset="0"/>
              </a:rPr>
              <a:t>D</a:t>
            </a:r>
            <a:r>
              <a:rPr lang="en-US" sz="2800" i="1" baseline="-30000">
                <a:latin typeface="Gill Sans MT" pitchFamily="34" charset="0"/>
                <a:cs typeface="Times New Roman" panose="02020503050405090304" charset="0"/>
              </a:rPr>
              <a:t>x</a:t>
            </a:r>
            <a:r>
              <a:rPr lang="en-US" sz="2800" i="1">
                <a:latin typeface="Gill Sans MT" pitchFamily="34" charset="0"/>
                <a:cs typeface="Times New Roman" panose="02020503050405090304" charset="0"/>
              </a:rPr>
              <a:t>(y) converge to the actual least cost </a:t>
            </a:r>
            <a:r>
              <a:rPr lang="en-US" sz="2800">
                <a:latin typeface="Gill Sans MT" pitchFamily="34" charset="0"/>
              </a:rPr>
              <a:t>d</a:t>
            </a:r>
            <a:r>
              <a:rPr lang="en-US" sz="2800" baseline="-25000">
                <a:latin typeface="Gill Sans MT" pitchFamily="34" charset="0"/>
              </a:rPr>
              <a:t>x</a:t>
            </a:r>
            <a:r>
              <a:rPr lang="en-US" sz="2800">
                <a:latin typeface="Gill Sans MT" pitchFamily="34" charset="0"/>
              </a:rPr>
              <a:t>(y)</a:t>
            </a:r>
            <a:r>
              <a:rPr lang="en-US" sz="2400">
                <a:latin typeface="Gill Sans MT" pitchFamily="34" charset="0"/>
              </a:rPr>
              <a:t> </a:t>
            </a:r>
          </a:p>
        </p:txBody>
      </p:sp>
      <p:pic>
        <p:nvPicPr>
          <p:cNvPr id="135174" name="Picture 7"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5950" y="1066800"/>
            <a:ext cx="6399213" cy="173038"/>
          </a:xfrm>
          <a:prstGeom prst="rect">
            <a:avLst/>
          </a:prstGeom>
          <a:noFill/>
          <a:ln>
            <a:noFill/>
          </a:ln>
        </p:spPr>
      </p:pic>
      <p:sp>
        <p:nvSpPr>
          <p:cNvPr id="90120" name="Rectangle 8"/>
          <p:cNvSpPr>
            <a:spLocks noGrp="1" noChangeArrowheads="1"/>
          </p:cNvSpPr>
          <p:nvPr>
            <p:ph type="title"/>
          </p:nvPr>
        </p:nvSpPr>
        <p:spPr/>
        <p:txBody>
          <a:bodyPr/>
          <a:lstStyle/>
          <a:p>
            <a:pPr>
              <a:defRPr/>
            </a:pPr>
            <a:r>
              <a:rPr lang="en-US">
                <a:cs typeface="+mj-cs"/>
              </a:rPr>
              <a:t>Distance vector algorithm </a:t>
            </a:r>
          </a:p>
        </p:txBody>
      </p:sp>
      <p:sp>
        <p:nvSpPr>
          <p:cNvPr id="9"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47</a:t>
            </a:fld>
            <a:endParaRPr lang="en-US" sz="1200" dirty="0">
              <a:latin typeface="Tahoma" panose="020B0604030504040204" charset="0"/>
            </a:endParaRPr>
          </a:p>
        </p:txBody>
      </p:sp>
      <p:sp>
        <p:nvSpPr>
          <p:cNvPr id="10"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5" name="Rectangle 3"/>
          <p:cNvSpPr>
            <a:spLocks noGrp="1" noChangeArrowheads="1"/>
          </p:cNvSpPr>
          <p:nvPr>
            <p:ph type="body" sz="half" idx="1"/>
          </p:nvPr>
        </p:nvSpPr>
        <p:spPr>
          <a:xfrm>
            <a:off x="561975" y="1417638"/>
            <a:ext cx="3781425" cy="4648200"/>
          </a:xfrm>
        </p:spPr>
        <p:txBody>
          <a:bodyPr/>
          <a:lstStyle/>
          <a:p>
            <a:pPr marL="0" indent="0">
              <a:buFont typeface="Wingdings" panose="05000000000000000000" charset="0"/>
              <a:buNone/>
            </a:pPr>
            <a:r>
              <a:rPr lang="en-US" i="1">
                <a:solidFill>
                  <a:srgbClr val="CC0000"/>
                </a:solidFill>
                <a:latin typeface="Gill Sans MT" pitchFamily="34" charset="0"/>
              </a:rPr>
              <a:t>iterative, asynchronous:</a:t>
            </a:r>
            <a:r>
              <a:rPr lang="en-US">
                <a:solidFill>
                  <a:srgbClr val="FF0000"/>
                </a:solidFill>
                <a:latin typeface="Gill Sans MT" pitchFamily="34" charset="0"/>
              </a:rPr>
              <a:t> </a:t>
            </a:r>
            <a:r>
              <a:rPr lang="en-US" sz="2400">
                <a:latin typeface="Gill Sans MT" pitchFamily="34" charset="0"/>
              </a:rPr>
              <a:t>each local iteration caused by: </a:t>
            </a:r>
          </a:p>
          <a:p>
            <a:r>
              <a:rPr lang="en-US" sz="2400">
                <a:latin typeface="Gill Sans MT" pitchFamily="34" charset="0"/>
              </a:rPr>
              <a:t>local link cost change </a:t>
            </a:r>
          </a:p>
          <a:p>
            <a:r>
              <a:rPr lang="en-US" sz="2400">
                <a:latin typeface="Gill Sans MT" pitchFamily="34" charset="0"/>
              </a:rPr>
              <a:t>DV update message from neighbor</a:t>
            </a:r>
          </a:p>
          <a:p>
            <a:endParaRPr lang="en-US" sz="2400">
              <a:latin typeface="Gill Sans MT" pitchFamily="34" charset="0"/>
            </a:endParaRPr>
          </a:p>
          <a:p>
            <a:pPr>
              <a:buFont typeface="Wingdings" panose="05000000000000000000" charset="0"/>
              <a:buNone/>
            </a:pPr>
            <a:r>
              <a:rPr lang="en-US" i="1">
                <a:solidFill>
                  <a:srgbClr val="CC0000"/>
                </a:solidFill>
                <a:latin typeface="Gill Sans MT" pitchFamily="34" charset="0"/>
              </a:rPr>
              <a:t>distributed:</a:t>
            </a:r>
          </a:p>
          <a:p>
            <a:r>
              <a:rPr lang="en-US" sz="2400">
                <a:latin typeface="Gill Sans MT" pitchFamily="34" charset="0"/>
              </a:rPr>
              <a:t>each node notifies neighbors </a:t>
            </a:r>
            <a:r>
              <a:rPr lang="en-US" sz="2400" i="1">
                <a:latin typeface="Gill Sans MT" pitchFamily="34" charset="0"/>
              </a:rPr>
              <a:t>only</a:t>
            </a:r>
            <a:r>
              <a:rPr lang="en-US" sz="2400">
                <a:latin typeface="Gill Sans MT" pitchFamily="34" charset="0"/>
              </a:rPr>
              <a:t> when its DV changes</a:t>
            </a:r>
          </a:p>
          <a:p>
            <a:pPr lvl="1"/>
            <a:r>
              <a:rPr lang="en-US" sz="2000">
                <a:latin typeface="Gill Sans MT" pitchFamily="34" charset="0"/>
              </a:rPr>
              <a:t>neighbors then notify their neighbors if necessary</a:t>
            </a:r>
            <a:endParaRPr lang="en-US">
              <a:latin typeface="Gill Sans MT" pitchFamily="34" charset="0"/>
            </a:endParaRPr>
          </a:p>
        </p:txBody>
      </p:sp>
      <p:sp>
        <p:nvSpPr>
          <p:cNvPr id="136196" name="Text Box 4"/>
          <p:cNvSpPr txBox="1">
            <a:spLocks noChangeArrowheads="1"/>
          </p:cNvSpPr>
          <p:nvPr/>
        </p:nvSpPr>
        <p:spPr bwMode="auto">
          <a:xfrm>
            <a:off x="5257800" y="1751013"/>
            <a:ext cx="3524250" cy="4185761"/>
          </a:xfrm>
          <a:prstGeom prst="rect">
            <a:avLst/>
          </a:prstGeom>
          <a:noFill/>
          <a:ln>
            <a:noFill/>
          </a:ln>
        </p:spPr>
        <p:txBody>
          <a:bodyPr>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spcBef>
                <a:spcPct val="50000"/>
              </a:spcBef>
            </a:pPr>
            <a:endParaRPr lang="en-US" dirty="0">
              <a:latin typeface="Times New Roman" panose="02020503050405090304" charset="0"/>
            </a:endParaRPr>
          </a:p>
          <a:p>
            <a:pPr>
              <a:spcBef>
                <a:spcPct val="50000"/>
              </a:spcBef>
            </a:pPr>
            <a:r>
              <a:rPr lang="en-US" b="1" i="1" dirty="0">
                <a:solidFill>
                  <a:srgbClr val="000099"/>
                </a:solidFill>
              </a:rPr>
              <a:t>wait</a:t>
            </a:r>
            <a:r>
              <a:rPr lang="en-US" sz="2000" dirty="0">
                <a:solidFill>
                  <a:srgbClr val="000099"/>
                </a:solidFill>
              </a:rPr>
              <a:t> </a:t>
            </a:r>
            <a:r>
              <a:rPr lang="en-US" sz="2000" dirty="0"/>
              <a:t>for (change in local link cost or msg from neighbor)</a:t>
            </a:r>
          </a:p>
          <a:p>
            <a:pPr>
              <a:spcBef>
                <a:spcPct val="50000"/>
              </a:spcBef>
            </a:pPr>
            <a:endParaRPr lang="en-US" sz="2000" dirty="0"/>
          </a:p>
          <a:p>
            <a:pPr>
              <a:spcBef>
                <a:spcPct val="50000"/>
              </a:spcBef>
            </a:pPr>
            <a:r>
              <a:rPr lang="en-US" b="1" i="1" dirty="0">
                <a:solidFill>
                  <a:srgbClr val="000099"/>
                </a:solidFill>
              </a:rPr>
              <a:t>recompute</a:t>
            </a:r>
            <a:r>
              <a:rPr lang="en-US" sz="2000" dirty="0"/>
              <a:t> estimates</a:t>
            </a:r>
          </a:p>
          <a:p>
            <a:pPr>
              <a:spcBef>
                <a:spcPct val="50000"/>
              </a:spcBef>
            </a:pPr>
            <a:endParaRPr lang="en-US" sz="2000" dirty="0"/>
          </a:p>
          <a:p>
            <a:pPr>
              <a:spcBef>
                <a:spcPct val="50000"/>
              </a:spcBef>
            </a:pPr>
            <a:r>
              <a:rPr lang="en-US" sz="2000" dirty="0"/>
              <a:t>if DV to any </a:t>
            </a:r>
            <a:r>
              <a:rPr lang="en-US" sz="2000" dirty="0" err="1"/>
              <a:t>dest</a:t>
            </a:r>
            <a:r>
              <a:rPr lang="en-US" sz="2000" dirty="0"/>
              <a:t> has changed, </a:t>
            </a:r>
            <a:r>
              <a:rPr lang="en-US" b="1" i="1" dirty="0">
                <a:solidFill>
                  <a:srgbClr val="000099"/>
                </a:solidFill>
              </a:rPr>
              <a:t>notify</a:t>
            </a:r>
            <a:r>
              <a:rPr lang="en-US" sz="2000" dirty="0"/>
              <a:t> neighbors </a:t>
            </a:r>
            <a:endParaRPr lang="en-US" dirty="0"/>
          </a:p>
          <a:p>
            <a:pPr algn="ctr">
              <a:spcBef>
                <a:spcPct val="50000"/>
              </a:spcBef>
            </a:pPr>
            <a:endParaRPr lang="en-US" dirty="0">
              <a:latin typeface="Times New Roman" panose="02020503050405090304" charset="0"/>
            </a:endParaRPr>
          </a:p>
        </p:txBody>
      </p:sp>
      <p:sp>
        <p:nvSpPr>
          <p:cNvPr id="136197" name="Line 5"/>
          <p:cNvSpPr>
            <a:spLocks noChangeShapeType="1"/>
          </p:cNvSpPr>
          <p:nvPr/>
        </p:nvSpPr>
        <p:spPr bwMode="auto">
          <a:xfrm>
            <a:off x="6811963" y="3055938"/>
            <a:ext cx="0" cy="590550"/>
          </a:xfrm>
          <a:prstGeom prst="line">
            <a:avLst/>
          </a:prstGeom>
          <a:noFill/>
          <a:ln w="19050">
            <a:solidFill>
              <a:srgbClr val="000099"/>
            </a:solidFill>
            <a:round/>
            <a:tailEnd type="triangle" w="med" len="med"/>
          </a:ln>
        </p:spPr>
        <p:txBody>
          <a:bodyPr wrap="none" anchor="ctr"/>
          <a:lstStyle/>
          <a:p>
            <a:endParaRPr lang="en-US"/>
          </a:p>
        </p:txBody>
      </p:sp>
      <p:sp>
        <p:nvSpPr>
          <p:cNvPr id="136198" name="Line 6"/>
          <p:cNvSpPr>
            <a:spLocks noChangeShapeType="1"/>
          </p:cNvSpPr>
          <p:nvPr/>
        </p:nvSpPr>
        <p:spPr bwMode="auto">
          <a:xfrm>
            <a:off x="6791325" y="4075113"/>
            <a:ext cx="0" cy="590550"/>
          </a:xfrm>
          <a:prstGeom prst="line">
            <a:avLst/>
          </a:prstGeom>
          <a:noFill/>
          <a:ln w="19050">
            <a:solidFill>
              <a:srgbClr val="000099"/>
            </a:solidFill>
            <a:round/>
            <a:tailEnd type="triangle" w="med" len="med"/>
          </a:ln>
        </p:spPr>
        <p:txBody>
          <a:bodyPr wrap="none" anchor="ctr"/>
          <a:lstStyle/>
          <a:p>
            <a:endParaRPr lang="en-US"/>
          </a:p>
        </p:txBody>
      </p:sp>
      <p:sp>
        <p:nvSpPr>
          <p:cNvPr id="136199" name="Freeform 7"/>
          <p:cNvSpPr/>
          <p:nvPr/>
        </p:nvSpPr>
        <p:spPr bwMode="auto">
          <a:xfrm>
            <a:off x="5229225" y="2160588"/>
            <a:ext cx="1552575" cy="3581400"/>
          </a:xfrm>
          <a:custGeom>
            <a:avLst/>
            <a:gdLst>
              <a:gd name="T0" fmla="*/ 2147483647 w 978"/>
              <a:gd name="T1" fmla="*/ 2147483647 h 2256"/>
              <a:gd name="T2" fmla="*/ 2147483647 w 978"/>
              <a:gd name="T3" fmla="*/ 2147483647 h 2256"/>
              <a:gd name="T4" fmla="*/ 0 w 978"/>
              <a:gd name="T5" fmla="*/ 2147483647 h 2256"/>
              <a:gd name="T6" fmla="*/ 0 w 978"/>
              <a:gd name="T7" fmla="*/ 0 h 2256"/>
              <a:gd name="T8" fmla="*/ 2147483647 w 978"/>
              <a:gd name="T9" fmla="*/ 0 h 2256"/>
              <a:gd name="T10" fmla="*/ 2147483647 w 978"/>
              <a:gd name="T11" fmla="*/ 2147483647 h 2256"/>
              <a:gd name="T12" fmla="*/ 0 60000 65536"/>
              <a:gd name="T13" fmla="*/ 0 60000 65536"/>
              <a:gd name="T14" fmla="*/ 0 60000 65536"/>
              <a:gd name="T15" fmla="*/ 0 60000 65536"/>
              <a:gd name="T16" fmla="*/ 0 60000 65536"/>
              <a:gd name="T17" fmla="*/ 0 60000 65536"/>
              <a:gd name="T18" fmla="*/ 0 w 978"/>
              <a:gd name="T19" fmla="*/ 0 h 2256"/>
              <a:gd name="T20" fmla="*/ 978 w 978"/>
              <a:gd name="T21" fmla="*/ 2256 h 2256"/>
            </a:gdLst>
            <a:ahLst/>
            <a:cxnLst>
              <a:cxn ang="T12">
                <a:pos x="T0" y="T1"/>
              </a:cxn>
              <a:cxn ang="T13">
                <a:pos x="T2" y="T3"/>
              </a:cxn>
              <a:cxn ang="T14">
                <a:pos x="T4" y="T5"/>
              </a:cxn>
              <a:cxn ang="T15">
                <a:pos x="T6" y="T7"/>
              </a:cxn>
              <a:cxn ang="T16">
                <a:pos x="T8" y="T9"/>
              </a:cxn>
              <a:cxn ang="T17">
                <a:pos x="T10" y="T11"/>
              </a:cxn>
            </a:cxnLst>
            <a:rect l="T18" t="T19" r="T20" b="T21"/>
            <a:pathLst>
              <a:path w="978" h="2256">
                <a:moveTo>
                  <a:pt x="960" y="2010"/>
                </a:moveTo>
                <a:lnTo>
                  <a:pt x="961" y="2256"/>
                </a:lnTo>
                <a:lnTo>
                  <a:pt x="0" y="2256"/>
                </a:lnTo>
                <a:lnTo>
                  <a:pt x="0" y="0"/>
                </a:lnTo>
                <a:lnTo>
                  <a:pt x="978" y="0"/>
                </a:lnTo>
                <a:lnTo>
                  <a:pt x="978" y="155"/>
                </a:lnTo>
              </a:path>
            </a:pathLst>
          </a:custGeom>
          <a:noFill/>
          <a:ln w="19050" cap="flat" cmpd="sng">
            <a:solidFill>
              <a:srgbClr val="000099"/>
            </a:solidFill>
            <a:prstDash val="solid"/>
            <a:round/>
            <a:headEnd type="none" w="med" len="med"/>
            <a:tailEnd type="triangle" w="med" len="med"/>
          </a:ln>
        </p:spPr>
        <p:txBody>
          <a:bodyPr wrap="none" anchor="ctr"/>
          <a:lstStyle/>
          <a:p>
            <a:endParaRPr lang="en-US"/>
          </a:p>
        </p:txBody>
      </p:sp>
      <p:sp>
        <p:nvSpPr>
          <p:cNvPr id="136200" name="Text Box 8"/>
          <p:cNvSpPr txBox="1">
            <a:spLocks noChangeArrowheads="1"/>
          </p:cNvSpPr>
          <p:nvPr/>
        </p:nvSpPr>
        <p:spPr bwMode="auto">
          <a:xfrm>
            <a:off x="4916488" y="1327150"/>
            <a:ext cx="1625600" cy="5191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800" i="1">
                <a:solidFill>
                  <a:srgbClr val="CC0000"/>
                </a:solidFill>
                <a:latin typeface="Gill Sans MT" pitchFamily="34" charset="0"/>
              </a:rPr>
              <a:t>each node:</a:t>
            </a:r>
          </a:p>
        </p:txBody>
      </p:sp>
      <p:pic>
        <p:nvPicPr>
          <p:cNvPr id="136201" name="Picture 10"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5950" y="1066800"/>
            <a:ext cx="6399213" cy="173038"/>
          </a:xfrm>
          <a:prstGeom prst="rect">
            <a:avLst/>
          </a:prstGeom>
          <a:noFill/>
          <a:ln>
            <a:noFill/>
          </a:ln>
        </p:spPr>
      </p:pic>
      <p:sp>
        <p:nvSpPr>
          <p:cNvPr id="91147" name="Rectangle 11"/>
          <p:cNvSpPr>
            <a:spLocks noGrp="1" noChangeArrowheads="1"/>
          </p:cNvSpPr>
          <p:nvPr>
            <p:ph type="title"/>
          </p:nvPr>
        </p:nvSpPr>
        <p:spPr>
          <a:xfrm>
            <a:off x="533400" y="239713"/>
            <a:ext cx="7772400" cy="1143000"/>
          </a:xfrm>
        </p:spPr>
        <p:txBody>
          <a:bodyPr/>
          <a:lstStyle/>
          <a:p>
            <a:pPr>
              <a:defRPr/>
            </a:pPr>
            <a:r>
              <a:rPr lang="en-US">
                <a:cs typeface="+mj-cs"/>
              </a:rPr>
              <a:t>Distance vector algorithm </a:t>
            </a:r>
          </a:p>
        </p:txBody>
      </p:sp>
      <p:sp>
        <p:nvSpPr>
          <p:cNvPr id="12"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48</a:t>
            </a:fld>
            <a:endParaRPr lang="en-US" sz="1200" dirty="0">
              <a:latin typeface="Tahoma" panose="020B0604030504040204" charset="0"/>
            </a:endParaRPr>
          </a:p>
        </p:txBody>
      </p:sp>
      <p:sp>
        <p:nvSpPr>
          <p:cNvPr id="13"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Line 3"/>
          <p:cNvSpPr>
            <a:spLocks noChangeShapeType="1"/>
          </p:cNvSpPr>
          <p:nvPr/>
        </p:nvSpPr>
        <p:spPr bwMode="auto">
          <a:xfrm>
            <a:off x="1219200" y="1447800"/>
            <a:ext cx="0" cy="1219200"/>
          </a:xfrm>
          <a:prstGeom prst="line">
            <a:avLst/>
          </a:prstGeom>
          <a:noFill/>
          <a:ln w="9525">
            <a:solidFill>
              <a:schemeClr val="tx1"/>
            </a:solidFill>
            <a:round/>
          </a:ln>
        </p:spPr>
        <p:txBody>
          <a:bodyPr wrap="none"/>
          <a:lstStyle/>
          <a:p>
            <a:endParaRPr lang="en-US"/>
          </a:p>
        </p:txBody>
      </p:sp>
      <p:sp>
        <p:nvSpPr>
          <p:cNvPr id="137220" name="Line 4"/>
          <p:cNvSpPr>
            <a:spLocks noChangeShapeType="1"/>
          </p:cNvSpPr>
          <p:nvPr/>
        </p:nvSpPr>
        <p:spPr bwMode="auto">
          <a:xfrm>
            <a:off x="914400" y="1676400"/>
            <a:ext cx="1371600" cy="0"/>
          </a:xfrm>
          <a:prstGeom prst="line">
            <a:avLst/>
          </a:prstGeom>
          <a:noFill/>
          <a:ln w="9525">
            <a:solidFill>
              <a:schemeClr val="tx1"/>
            </a:solidFill>
            <a:round/>
          </a:ln>
        </p:spPr>
        <p:txBody>
          <a:bodyPr wrap="none"/>
          <a:lstStyle/>
          <a:p>
            <a:endParaRPr lang="en-US"/>
          </a:p>
        </p:txBody>
      </p:sp>
      <p:sp>
        <p:nvSpPr>
          <p:cNvPr id="137221" name="Text Box 5"/>
          <p:cNvSpPr txBox="1">
            <a:spLocks noChangeArrowheads="1"/>
          </p:cNvSpPr>
          <p:nvPr/>
        </p:nvSpPr>
        <p:spPr bwMode="auto">
          <a:xfrm>
            <a:off x="1219200" y="1290638"/>
            <a:ext cx="9080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   y   z</a:t>
            </a:r>
          </a:p>
        </p:txBody>
      </p:sp>
      <p:sp>
        <p:nvSpPr>
          <p:cNvPr id="137222" name="Text Box 6"/>
          <p:cNvSpPr txBox="1">
            <a:spLocks noChangeArrowheads="1"/>
          </p:cNvSpPr>
          <p:nvPr/>
        </p:nvSpPr>
        <p:spPr bwMode="auto">
          <a:xfrm>
            <a:off x="914400" y="16716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a:t>
            </a:r>
          </a:p>
        </p:txBody>
      </p:sp>
      <p:sp>
        <p:nvSpPr>
          <p:cNvPr id="137223" name="Text Box 7"/>
          <p:cNvSpPr txBox="1">
            <a:spLocks noChangeArrowheads="1"/>
          </p:cNvSpPr>
          <p:nvPr/>
        </p:nvSpPr>
        <p:spPr bwMode="auto">
          <a:xfrm>
            <a:off x="914400" y="19764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y</a:t>
            </a:r>
          </a:p>
        </p:txBody>
      </p:sp>
      <p:sp>
        <p:nvSpPr>
          <p:cNvPr id="137224" name="Text Box 8"/>
          <p:cNvSpPr txBox="1">
            <a:spLocks noChangeArrowheads="1"/>
          </p:cNvSpPr>
          <p:nvPr/>
        </p:nvSpPr>
        <p:spPr bwMode="auto">
          <a:xfrm>
            <a:off x="914400" y="22812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z</a:t>
            </a:r>
          </a:p>
        </p:txBody>
      </p:sp>
      <p:sp>
        <p:nvSpPr>
          <p:cNvPr id="137225" name="Text Box 9"/>
          <p:cNvSpPr txBox="1">
            <a:spLocks noChangeArrowheads="1"/>
          </p:cNvSpPr>
          <p:nvPr/>
        </p:nvSpPr>
        <p:spPr bwMode="auto">
          <a:xfrm>
            <a:off x="1219200" y="1671638"/>
            <a:ext cx="8826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0  2   7</a:t>
            </a:r>
          </a:p>
        </p:txBody>
      </p:sp>
      <p:sp>
        <p:nvSpPr>
          <p:cNvPr id="137226" name="Text Box 10"/>
          <p:cNvSpPr txBox="1">
            <a:spLocks noChangeArrowheads="1"/>
          </p:cNvSpPr>
          <p:nvPr/>
        </p:nvSpPr>
        <p:spPr bwMode="auto">
          <a:xfrm>
            <a:off x="1219200" y="20526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7227" name="Text Box 11"/>
          <p:cNvSpPr txBox="1">
            <a:spLocks noChangeArrowheads="1"/>
          </p:cNvSpPr>
          <p:nvPr/>
        </p:nvSpPr>
        <p:spPr bwMode="auto">
          <a:xfrm>
            <a:off x="1447800" y="20526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7228" name="Text Box 12"/>
          <p:cNvSpPr txBox="1">
            <a:spLocks noChangeArrowheads="1"/>
          </p:cNvSpPr>
          <p:nvPr/>
        </p:nvSpPr>
        <p:spPr bwMode="auto">
          <a:xfrm>
            <a:off x="1828800" y="20526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7229" name="Text Box 13"/>
          <p:cNvSpPr txBox="1">
            <a:spLocks noChangeArrowheads="1"/>
          </p:cNvSpPr>
          <p:nvPr/>
        </p:nvSpPr>
        <p:spPr bwMode="auto">
          <a:xfrm>
            <a:off x="1219200" y="23574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7230" name="Text Box 14"/>
          <p:cNvSpPr txBox="1">
            <a:spLocks noChangeArrowheads="1"/>
          </p:cNvSpPr>
          <p:nvPr/>
        </p:nvSpPr>
        <p:spPr bwMode="auto">
          <a:xfrm>
            <a:off x="1447800" y="23574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7231" name="Text Box 15"/>
          <p:cNvSpPr txBox="1">
            <a:spLocks noChangeArrowheads="1"/>
          </p:cNvSpPr>
          <p:nvPr/>
        </p:nvSpPr>
        <p:spPr bwMode="auto">
          <a:xfrm>
            <a:off x="1828800" y="23574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7232" name="Text Box 16"/>
          <p:cNvSpPr txBox="1">
            <a:spLocks noChangeArrowheads="1"/>
          </p:cNvSpPr>
          <p:nvPr/>
        </p:nvSpPr>
        <p:spPr bwMode="auto">
          <a:xfrm rot="-5400000">
            <a:off x="2650332" y="2026444"/>
            <a:ext cx="538162"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from</a:t>
            </a:r>
          </a:p>
        </p:txBody>
      </p:sp>
      <p:sp>
        <p:nvSpPr>
          <p:cNvPr id="137233" name="Text Box 17"/>
          <p:cNvSpPr txBox="1">
            <a:spLocks noChangeArrowheads="1"/>
          </p:cNvSpPr>
          <p:nvPr/>
        </p:nvSpPr>
        <p:spPr bwMode="auto">
          <a:xfrm>
            <a:off x="1352550" y="1158875"/>
            <a:ext cx="706438"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cost to</a:t>
            </a:r>
          </a:p>
        </p:txBody>
      </p:sp>
      <p:sp>
        <p:nvSpPr>
          <p:cNvPr id="137234" name="Text Box 18"/>
          <p:cNvSpPr txBox="1">
            <a:spLocks noChangeArrowheads="1"/>
          </p:cNvSpPr>
          <p:nvPr/>
        </p:nvSpPr>
        <p:spPr bwMode="auto">
          <a:xfrm rot="-5400000">
            <a:off x="518319" y="3810794"/>
            <a:ext cx="538162"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a:t>from</a:t>
            </a:r>
          </a:p>
        </p:txBody>
      </p:sp>
      <p:sp>
        <p:nvSpPr>
          <p:cNvPr id="137235" name="Text Box 19"/>
          <p:cNvSpPr txBox="1">
            <a:spLocks noChangeArrowheads="1"/>
          </p:cNvSpPr>
          <p:nvPr/>
        </p:nvSpPr>
        <p:spPr bwMode="auto">
          <a:xfrm rot="-5400000">
            <a:off x="518318" y="5618957"/>
            <a:ext cx="538163"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from</a:t>
            </a:r>
          </a:p>
        </p:txBody>
      </p:sp>
      <p:sp>
        <p:nvSpPr>
          <p:cNvPr id="137236" name="Line 20"/>
          <p:cNvSpPr>
            <a:spLocks noChangeShapeType="1"/>
          </p:cNvSpPr>
          <p:nvPr/>
        </p:nvSpPr>
        <p:spPr bwMode="auto">
          <a:xfrm>
            <a:off x="3276600" y="1447800"/>
            <a:ext cx="0" cy="1219200"/>
          </a:xfrm>
          <a:prstGeom prst="line">
            <a:avLst/>
          </a:prstGeom>
          <a:noFill/>
          <a:ln w="9525">
            <a:solidFill>
              <a:schemeClr val="tx1"/>
            </a:solidFill>
            <a:round/>
          </a:ln>
        </p:spPr>
        <p:txBody>
          <a:bodyPr wrap="none"/>
          <a:lstStyle/>
          <a:p>
            <a:endParaRPr lang="en-US"/>
          </a:p>
        </p:txBody>
      </p:sp>
      <p:sp>
        <p:nvSpPr>
          <p:cNvPr id="137237" name="Line 21"/>
          <p:cNvSpPr>
            <a:spLocks noChangeShapeType="1"/>
          </p:cNvSpPr>
          <p:nvPr/>
        </p:nvSpPr>
        <p:spPr bwMode="auto">
          <a:xfrm>
            <a:off x="2971800" y="1676400"/>
            <a:ext cx="1371600" cy="0"/>
          </a:xfrm>
          <a:prstGeom prst="line">
            <a:avLst/>
          </a:prstGeom>
          <a:noFill/>
          <a:ln w="9525">
            <a:solidFill>
              <a:schemeClr val="tx1"/>
            </a:solidFill>
            <a:round/>
          </a:ln>
        </p:spPr>
        <p:txBody>
          <a:bodyPr wrap="none"/>
          <a:lstStyle/>
          <a:p>
            <a:endParaRPr lang="en-US"/>
          </a:p>
        </p:txBody>
      </p:sp>
      <p:sp>
        <p:nvSpPr>
          <p:cNvPr id="137238" name="Text Box 22"/>
          <p:cNvSpPr txBox="1">
            <a:spLocks noChangeArrowheads="1"/>
          </p:cNvSpPr>
          <p:nvPr/>
        </p:nvSpPr>
        <p:spPr bwMode="auto">
          <a:xfrm>
            <a:off x="3276600" y="1290638"/>
            <a:ext cx="9080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   y   z</a:t>
            </a:r>
          </a:p>
        </p:txBody>
      </p:sp>
      <p:sp>
        <p:nvSpPr>
          <p:cNvPr id="137239" name="Text Box 23"/>
          <p:cNvSpPr txBox="1">
            <a:spLocks noChangeArrowheads="1"/>
          </p:cNvSpPr>
          <p:nvPr/>
        </p:nvSpPr>
        <p:spPr bwMode="auto">
          <a:xfrm>
            <a:off x="2971800" y="16716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a:t>
            </a:r>
          </a:p>
        </p:txBody>
      </p:sp>
      <p:sp>
        <p:nvSpPr>
          <p:cNvPr id="137240" name="Text Box 24"/>
          <p:cNvSpPr txBox="1">
            <a:spLocks noChangeArrowheads="1"/>
          </p:cNvSpPr>
          <p:nvPr/>
        </p:nvSpPr>
        <p:spPr bwMode="auto">
          <a:xfrm>
            <a:off x="2971800" y="19764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y</a:t>
            </a:r>
          </a:p>
        </p:txBody>
      </p:sp>
      <p:sp>
        <p:nvSpPr>
          <p:cNvPr id="137241" name="Text Box 25"/>
          <p:cNvSpPr txBox="1">
            <a:spLocks noChangeArrowheads="1"/>
          </p:cNvSpPr>
          <p:nvPr/>
        </p:nvSpPr>
        <p:spPr bwMode="auto">
          <a:xfrm>
            <a:off x="2971800" y="22812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z</a:t>
            </a:r>
          </a:p>
        </p:txBody>
      </p:sp>
      <p:sp>
        <p:nvSpPr>
          <p:cNvPr id="137242" name="Text Box 26"/>
          <p:cNvSpPr txBox="1">
            <a:spLocks noChangeArrowheads="1"/>
          </p:cNvSpPr>
          <p:nvPr/>
        </p:nvSpPr>
        <p:spPr bwMode="auto">
          <a:xfrm>
            <a:off x="3297238" y="1671638"/>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0</a:t>
            </a:r>
          </a:p>
        </p:txBody>
      </p:sp>
      <p:sp>
        <p:nvSpPr>
          <p:cNvPr id="137243" name="Line 29"/>
          <p:cNvSpPr>
            <a:spLocks noChangeShapeType="1"/>
          </p:cNvSpPr>
          <p:nvPr/>
        </p:nvSpPr>
        <p:spPr bwMode="auto">
          <a:xfrm>
            <a:off x="1219200" y="3200400"/>
            <a:ext cx="0" cy="1219200"/>
          </a:xfrm>
          <a:prstGeom prst="line">
            <a:avLst/>
          </a:prstGeom>
          <a:noFill/>
          <a:ln w="9525">
            <a:solidFill>
              <a:schemeClr val="tx1"/>
            </a:solidFill>
            <a:round/>
          </a:ln>
        </p:spPr>
        <p:txBody>
          <a:bodyPr wrap="none"/>
          <a:lstStyle/>
          <a:p>
            <a:endParaRPr lang="en-US"/>
          </a:p>
        </p:txBody>
      </p:sp>
      <p:sp>
        <p:nvSpPr>
          <p:cNvPr id="137244" name="Line 30"/>
          <p:cNvSpPr>
            <a:spLocks noChangeShapeType="1"/>
          </p:cNvSpPr>
          <p:nvPr/>
        </p:nvSpPr>
        <p:spPr bwMode="auto">
          <a:xfrm>
            <a:off x="914400" y="3429000"/>
            <a:ext cx="1371600" cy="0"/>
          </a:xfrm>
          <a:prstGeom prst="line">
            <a:avLst/>
          </a:prstGeom>
          <a:noFill/>
          <a:ln w="9525">
            <a:solidFill>
              <a:schemeClr val="tx1"/>
            </a:solidFill>
            <a:round/>
          </a:ln>
        </p:spPr>
        <p:txBody>
          <a:bodyPr wrap="none"/>
          <a:lstStyle/>
          <a:p>
            <a:endParaRPr lang="en-US"/>
          </a:p>
        </p:txBody>
      </p:sp>
      <p:sp>
        <p:nvSpPr>
          <p:cNvPr id="137245" name="Text Box 31"/>
          <p:cNvSpPr txBox="1">
            <a:spLocks noChangeArrowheads="1"/>
          </p:cNvSpPr>
          <p:nvPr/>
        </p:nvSpPr>
        <p:spPr bwMode="auto">
          <a:xfrm>
            <a:off x="1219200" y="3043238"/>
            <a:ext cx="9080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   y   z</a:t>
            </a:r>
          </a:p>
        </p:txBody>
      </p:sp>
      <p:sp>
        <p:nvSpPr>
          <p:cNvPr id="137246" name="Text Box 32"/>
          <p:cNvSpPr txBox="1">
            <a:spLocks noChangeArrowheads="1"/>
          </p:cNvSpPr>
          <p:nvPr/>
        </p:nvSpPr>
        <p:spPr bwMode="auto">
          <a:xfrm>
            <a:off x="914400" y="34242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a:t>
            </a:r>
          </a:p>
        </p:txBody>
      </p:sp>
      <p:sp>
        <p:nvSpPr>
          <p:cNvPr id="137247" name="Text Box 33"/>
          <p:cNvSpPr txBox="1">
            <a:spLocks noChangeArrowheads="1"/>
          </p:cNvSpPr>
          <p:nvPr/>
        </p:nvSpPr>
        <p:spPr bwMode="auto">
          <a:xfrm>
            <a:off x="914400" y="37290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y</a:t>
            </a:r>
          </a:p>
        </p:txBody>
      </p:sp>
      <p:sp>
        <p:nvSpPr>
          <p:cNvPr id="137248" name="Text Box 34"/>
          <p:cNvSpPr txBox="1">
            <a:spLocks noChangeArrowheads="1"/>
          </p:cNvSpPr>
          <p:nvPr/>
        </p:nvSpPr>
        <p:spPr bwMode="auto">
          <a:xfrm>
            <a:off x="914400" y="40338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z</a:t>
            </a:r>
          </a:p>
        </p:txBody>
      </p:sp>
      <p:sp>
        <p:nvSpPr>
          <p:cNvPr id="137249" name="Text Box 35"/>
          <p:cNvSpPr txBox="1">
            <a:spLocks noChangeArrowheads="1"/>
          </p:cNvSpPr>
          <p:nvPr/>
        </p:nvSpPr>
        <p:spPr bwMode="auto">
          <a:xfrm>
            <a:off x="1524000" y="34242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7250" name="Text Box 36"/>
          <p:cNvSpPr txBox="1">
            <a:spLocks noChangeArrowheads="1"/>
          </p:cNvSpPr>
          <p:nvPr/>
        </p:nvSpPr>
        <p:spPr bwMode="auto">
          <a:xfrm>
            <a:off x="1828800" y="34242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7251" name="Text Box 37"/>
          <p:cNvSpPr txBox="1">
            <a:spLocks noChangeArrowheads="1"/>
          </p:cNvSpPr>
          <p:nvPr/>
        </p:nvSpPr>
        <p:spPr bwMode="auto">
          <a:xfrm>
            <a:off x="1219200" y="41100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7252" name="Text Box 38"/>
          <p:cNvSpPr txBox="1">
            <a:spLocks noChangeArrowheads="1"/>
          </p:cNvSpPr>
          <p:nvPr/>
        </p:nvSpPr>
        <p:spPr bwMode="auto">
          <a:xfrm>
            <a:off x="1447800" y="41100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7253" name="Text Box 39"/>
          <p:cNvSpPr txBox="1">
            <a:spLocks noChangeArrowheads="1"/>
          </p:cNvSpPr>
          <p:nvPr/>
        </p:nvSpPr>
        <p:spPr bwMode="auto">
          <a:xfrm>
            <a:off x="1828800" y="41100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7254" name="Text Box 40"/>
          <p:cNvSpPr txBox="1">
            <a:spLocks noChangeArrowheads="1"/>
          </p:cNvSpPr>
          <p:nvPr/>
        </p:nvSpPr>
        <p:spPr bwMode="auto">
          <a:xfrm>
            <a:off x="1341438" y="2933700"/>
            <a:ext cx="706437"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cost to</a:t>
            </a:r>
          </a:p>
        </p:txBody>
      </p:sp>
      <p:sp>
        <p:nvSpPr>
          <p:cNvPr id="137255" name="Line 41"/>
          <p:cNvSpPr>
            <a:spLocks noChangeShapeType="1"/>
          </p:cNvSpPr>
          <p:nvPr/>
        </p:nvSpPr>
        <p:spPr bwMode="auto">
          <a:xfrm>
            <a:off x="1219200" y="5029200"/>
            <a:ext cx="0" cy="1219200"/>
          </a:xfrm>
          <a:prstGeom prst="line">
            <a:avLst/>
          </a:prstGeom>
          <a:noFill/>
          <a:ln w="9525">
            <a:solidFill>
              <a:schemeClr val="tx1"/>
            </a:solidFill>
            <a:round/>
          </a:ln>
        </p:spPr>
        <p:txBody>
          <a:bodyPr wrap="none"/>
          <a:lstStyle/>
          <a:p>
            <a:endParaRPr lang="en-US"/>
          </a:p>
        </p:txBody>
      </p:sp>
      <p:sp>
        <p:nvSpPr>
          <p:cNvPr id="137256" name="Line 42"/>
          <p:cNvSpPr>
            <a:spLocks noChangeShapeType="1"/>
          </p:cNvSpPr>
          <p:nvPr/>
        </p:nvSpPr>
        <p:spPr bwMode="auto">
          <a:xfrm>
            <a:off x="914400" y="5257800"/>
            <a:ext cx="1371600" cy="0"/>
          </a:xfrm>
          <a:prstGeom prst="line">
            <a:avLst/>
          </a:prstGeom>
          <a:noFill/>
          <a:ln w="9525">
            <a:solidFill>
              <a:schemeClr val="tx1"/>
            </a:solidFill>
            <a:round/>
          </a:ln>
        </p:spPr>
        <p:txBody>
          <a:bodyPr wrap="none"/>
          <a:lstStyle/>
          <a:p>
            <a:endParaRPr lang="en-US"/>
          </a:p>
        </p:txBody>
      </p:sp>
      <p:sp>
        <p:nvSpPr>
          <p:cNvPr id="137257" name="Text Box 43"/>
          <p:cNvSpPr txBox="1">
            <a:spLocks noChangeArrowheads="1"/>
          </p:cNvSpPr>
          <p:nvPr/>
        </p:nvSpPr>
        <p:spPr bwMode="auto">
          <a:xfrm>
            <a:off x="1219200" y="4872038"/>
            <a:ext cx="9080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   y   z</a:t>
            </a:r>
          </a:p>
        </p:txBody>
      </p:sp>
      <p:sp>
        <p:nvSpPr>
          <p:cNvPr id="137258" name="Text Box 44"/>
          <p:cNvSpPr txBox="1">
            <a:spLocks noChangeArrowheads="1"/>
          </p:cNvSpPr>
          <p:nvPr/>
        </p:nvSpPr>
        <p:spPr bwMode="auto">
          <a:xfrm>
            <a:off x="914400" y="52530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a:t>
            </a:r>
          </a:p>
        </p:txBody>
      </p:sp>
      <p:sp>
        <p:nvSpPr>
          <p:cNvPr id="137259" name="Text Box 45"/>
          <p:cNvSpPr txBox="1">
            <a:spLocks noChangeArrowheads="1"/>
          </p:cNvSpPr>
          <p:nvPr/>
        </p:nvSpPr>
        <p:spPr bwMode="auto">
          <a:xfrm>
            <a:off x="914400" y="55578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y</a:t>
            </a:r>
          </a:p>
        </p:txBody>
      </p:sp>
      <p:sp>
        <p:nvSpPr>
          <p:cNvPr id="137260" name="Text Box 46"/>
          <p:cNvSpPr txBox="1">
            <a:spLocks noChangeArrowheads="1"/>
          </p:cNvSpPr>
          <p:nvPr/>
        </p:nvSpPr>
        <p:spPr bwMode="auto">
          <a:xfrm>
            <a:off x="914400" y="58626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z</a:t>
            </a:r>
          </a:p>
        </p:txBody>
      </p:sp>
      <p:sp>
        <p:nvSpPr>
          <p:cNvPr id="137261" name="Text Box 47"/>
          <p:cNvSpPr txBox="1">
            <a:spLocks noChangeArrowheads="1"/>
          </p:cNvSpPr>
          <p:nvPr/>
        </p:nvSpPr>
        <p:spPr bwMode="auto">
          <a:xfrm>
            <a:off x="1219200" y="5638800"/>
            <a:ext cx="990600" cy="366713"/>
          </a:xfrm>
          <a:prstGeom prst="rect">
            <a:avLst/>
          </a:prstGeom>
          <a:noFill/>
          <a:ln>
            <a:noFill/>
          </a:ln>
        </p:spPr>
        <p:txBody>
          <a:bodyPr>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7262" name="Text Box 48"/>
          <p:cNvSpPr txBox="1">
            <a:spLocks noChangeArrowheads="1"/>
          </p:cNvSpPr>
          <p:nvPr/>
        </p:nvSpPr>
        <p:spPr bwMode="auto">
          <a:xfrm>
            <a:off x="1447800" y="56340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7263" name="Text Box 49"/>
          <p:cNvSpPr txBox="1">
            <a:spLocks noChangeArrowheads="1"/>
          </p:cNvSpPr>
          <p:nvPr/>
        </p:nvSpPr>
        <p:spPr bwMode="auto">
          <a:xfrm>
            <a:off x="1828800" y="56340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7264" name="Text Box 50"/>
          <p:cNvSpPr txBox="1">
            <a:spLocks noChangeArrowheads="1"/>
          </p:cNvSpPr>
          <p:nvPr/>
        </p:nvSpPr>
        <p:spPr bwMode="auto">
          <a:xfrm>
            <a:off x="1219200" y="5938838"/>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7</a:t>
            </a:r>
          </a:p>
        </p:txBody>
      </p:sp>
      <p:sp>
        <p:nvSpPr>
          <p:cNvPr id="137265" name="Text Box 51"/>
          <p:cNvSpPr txBox="1">
            <a:spLocks noChangeArrowheads="1"/>
          </p:cNvSpPr>
          <p:nvPr/>
        </p:nvSpPr>
        <p:spPr bwMode="auto">
          <a:xfrm>
            <a:off x="1447800" y="5938838"/>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1</a:t>
            </a:r>
          </a:p>
        </p:txBody>
      </p:sp>
      <p:sp>
        <p:nvSpPr>
          <p:cNvPr id="137266" name="Text Box 52"/>
          <p:cNvSpPr txBox="1">
            <a:spLocks noChangeArrowheads="1"/>
          </p:cNvSpPr>
          <p:nvPr/>
        </p:nvSpPr>
        <p:spPr bwMode="auto">
          <a:xfrm>
            <a:off x="1828800" y="5938838"/>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0</a:t>
            </a:r>
          </a:p>
        </p:txBody>
      </p:sp>
      <p:sp>
        <p:nvSpPr>
          <p:cNvPr id="137267" name="Text Box 53"/>
          <p:cNvSpPr txBox="1">
            <a:spLocks noChangeArrowheads="1"/>
          </p:cNvSpPr>
          <p:nvPr/>
        </p:nvSpPr>
        <p:spPr bwMode="auto">
          <a:xfrm>
            <a:off x="1363663" y="4740275"/>
            <a:ext cx="706437"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cost to</a:t>
            </a:r>
          </a:p>
        </p:txBody>
      </p:sp>
      <p:sp>
        <p:nvSpPr>
          <p:cNvPr id="137268" name="Text Box 54"/>
          <p:cNvSpPr txBox="1">
            <a:spLocks noChangeArrowheads="1"/>
          </p:cNvSpPr>
          <p:nvPr/>
        </p:nvSpPr>
        <p:spPr bwMode="auto">
          <a:xfrm>
            <a:off x="1219200" y="3500438"/>
            <a:ext cx="946150" cy="6413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a:p>
            <a:r>
              <a:rPr lang="en-US" sz="1800"/>
              <a:t>2   0   1</a:t>
            </a:r>
          </a:p>
        </p:txBody>
      </p:sp>
      <p:sp>
        <p:nvSpPr>
          <p:cNvPr id="137269" name="Text Box 55"/>
          <p:cNvSpPr txBox="1">
            <a:spLocks noChangeArrowheads="1"/>
          </p:cNvSpPr>
          <p:nvPr/>
        </p:nvSpPr>
        <p:spPr bwMode="auto">
          <a:xfrm>
            <a:off x="1219200" y="5257800"/>
            <a:ext cx="990600" cy="366713"/>
          </a:xfrm>
          <a:prstGeom prst="rect">
            <a:avLst/>
          </a:prstGeom>
          <a:noFill/>
          <a:ln>
            <a:noFill/>
          </a:ln>
        </p:spPr>
        <p:txBody>
          <a:bodyPr>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 ∞  ∞</a:t>
            </a:r>
          </a:p>
        </p:txBody>
      </p:sp>
      <p:sp>
        <p:nvSpPr>
          <p:cNvPr id="137270" name="Text Box 56"/>
          <p:cNvSpPr txBox="1">
            <a:spLocks noChangeArrowheads="1"/>
          </p:cNvSpPr>
          <p:nvPr/>
        </p:nvSpPr>
        <p:spPr bwMode="auto">
          <a:xfrm>
            <a:off x="3260725" y="2006600"/>
            <a:ext cx="9461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2   0   1</a:t>
            </a:r>
          </a:p>
        </p:txBody>
      </p:sp>
      <p:sp>
        <p:nvSpPr>
          <p:cNvPr id="137271" name="Text Box 57"/>
          <p:cNvSpPr txBox="1">
            <a:spLocks noChangeArrowheads="1"/>
          </p:cNvSpPr>
          <p:nvPr/>
        </p:nvSpPr>
        <p:spPr bwMode="auto">
          <a:xfrm>
            <a:off x="3260725" y="2322513"/>
            <a:ext cx="946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7   1   0</a:t>
            </a:r>
          </a:p>
        </p:txBody>
      </p:sp>
      <p:sp>
        <p:nvSpPr>
          <p:cNvPr id="137272" name="Line 58"/>
          <p:cNvSpPr>
            <a:spLocks noChangeShapeType="1"/>
          </p:cNvSpPr>
          <p:nvPr/>
        </p:nvSpPr>
        <p:spPr bwMode="auto">
          <a:xfrm>
            <a:off x="2209800" y="1981200"/>
            <a:ext cx="685800" cy="1524000"/>
          </a:xfrm>
          <a:prstGeom prst="line">
            <a:avLst/>
          </a:prstGeom>
          <a:noFill/>
          <a:ln w="9525">
            <a:solidFill>
              <a:schemeClr val="tx1"/>
            </a:solidFill>
            <a:round/>
            <a:tailEnd type="triangle" w="med" len="med"/>
          </a:ln>
        </p:spPr>
        <p:txBody>
          <a:bodyPr wrap="none"/>
          <a:lstStyle/>
          <a:p>
            <a:endParaRPr lang="en-US"/>
          </a:p>
        </p:txBody>
      </p:sp>
      <p:sp>
        <p:nvSpPr>
          <p:cNvPr id="137273" name="Line 59"/>
          <p:cNvSpPr>
            <a:spLocks noChangeShapeType="1"/>
          </p:cNvSpPr>
          <p:nvPr/>
        </p:nvSpPr>
        <p:spPr bwMode="auto">
          <a:xfrm>
            <a:off x="2133600" y="2057400"/>
            <a:ext cx="685800" cy="3124200"/>
          </a:xfrm>
          <a:prstGeom prst="line">
            <a:avLst/>
          </a:prstGeom>
          <a:noFill/>
          <a:ln w="9525">
            <a:solidFill>
              <a:schemeClr val="tx1"/>
            </a:solidFill>
            <a:round/>
            <a:tailEnd type="triangle" w="med" len="med"/>
          </a:ln>
        </p:spPr>
        <p:txBody>
          <a:bodyPr wrap="none"/>
          <a:lstStyle/>
          <a:p>
            <a:endParaRPr lang="en-US"/>
          </a:p>
        </p:txBody>
      </p:sp>
      <p:sp>
        <p:nvSpPr>
          <p:cNvPr id="137274" name="Line 60"/>
          <p:cNvSpPr>
            <a:spLocks noChangeShapeType="1"/>
          </p:cNvSpPr>
          <p:nvPr/>
        </p:nvSpPr>
        <p:spPr bwMode="auto">
          <a:xfrm flipV="1">
            <a:off x="2133600" y="2514600"/>
            <a:ext cx="762000" cy="1295400"/>
          </a:xfrm>
          <a:prstGeom prst="line">
            <a:avLst/>
          </a:prstGeom>
          <a:noFill/>
          <a:ln w="9525">
            <a:solidFill>
              <a:schemeClr val="tx1"/>
            </a:solidFill>
            <a:round/>
            <a:tailEnd type="triangle" w="med" len="med"/>
          </a:ln>
        </p:spPr>
        <p:txBody>
          <a:bodyPr wrap="none"/>
          <a:lstStyle/>
          <a:p>
            <a:endParaRPr lang="en-US"/>
          </a:p>
        </p:txBody>
      </p:sp>
      <p:sp>
        <p:nvSpPr>
          <p:cNvPr id="137275" name="Line 61"/>
          <p:cNvSpPr>
            <a:spLocks noChangeShapeType="1"/>
          </p:cNvSpPr>
          <p:nvPr/>
        </p:nvSpPr>
        <p:spPr bwMode="auto">
          <a:xfrm>
            <a:off x="2133600" y="4114800"/>
            <a:ext cx="609600" cy="1143000"/>
          </a:xfrm>
          <a:prstGeom prst="line">
            <a:avLst/>
          </a:prstGeom>
          <a:noFill/>
          <a:ln w="9525">
            <a:solidFill>
              <a:schemeClr val="tx1"/>
            </a:solidFill>
            <a:round/>
            <a:tailEnd type="triangle" w="med" len="med"/>
          </a:ln>
        </p:spPr>
        <p:txBody>
          <a:bodyPr wrap="none"/>
          <a:lstStyle/>
          <a:p>
            <a:endParaRPr lang="en-US"/>
          </a:p>
        </p:txBody>
      </p:sp>
      <p:sp>
        <p:nvSpPr>
          <p:cNvPr id="137276" name="Line 62"/>
          <p:cNvSpPr>
            <a:spLocks noChangeShapeType="1"/>
          </p:cNvSpPr>
          <p:nvPr/>
        </p:nvSpPr>
        <p:spPr bwMode="auto">
          <a:xfrm flipV="1">
            <a:off x="2133600" y="2590800"/>
            <a:ext cx="838200" cy="3429000"/>
          </a:xfrm>
          <a:prstGeom prst="line">
            <a:avLst/>
          </a:prstGeom>
          <a:noFill/>
          <a:ln w="9525">
            <a:solidFill>
              <a:schemeClr val="tx1"/>
            </a:solidFill>
            <a:round/>
            <a:tailEnd type="triangle" w="med" len="med"/>
          </a:ln>
        </p:spPr>
        <p:txBody>
          <a:bodyPr wrap="none"/>
          <a:lstStyle/>
          <a:p>
            <a:endParaRPr lang="en-US"/>
          </a:p>
        </p:txBody>
      </p:sp>
      <p:sp>
        <p:nvSpPr>
          <p:cNvPr id="137277" name="Line 63"/>
          <p:cNvSpPr>
            <a:spLocks noChangeShapeType="1"/>
          </p:cNvSpPr>
          <p:nvPr/>
        </p:nvSpPr>
        <p:spPr bwMode="auto">
          <a:xfrm flipV="1">
            <a:off x="2209800" y="4343400"/>
            <a:ext cx="762000" cy="1752600"/>
          </a:xfrm>
          <a:prstGeom prst="line">
            <a:avLst/>
          </a:prstGeom>
          <a:noFill/>
          <a:ln w="9525">
            <a:solidFill>
              <a:schemeClr val="tx1"/>
            </a:solidFill>
            <a:round/>
            <a:tailEnd type="triangle" w="med" len="med"/>
          </a:ln>
        </p:spPr>
        <p:txBody>
          <a:bodyPr wrap="none"/>
          <a:lstStyle/>
          <a:p>
            <a:endParaRPr lang="en-US"/>
          </a:p>
        </p:txBody>
      </p:sp>
      <p:sp>
        <p:nvSpPr>
          <p:cNvPr id="137278" name="Line 64"/>
          <p:cNvSpPr>
            <a:spLocks noChangeShapeType="1"/>
          </p:cNvSpPr>
          <p:nvPr/>
        </p:nvSpPr>
        <p:spPr bwMode="auto">
          <a:xfrm>
            <a:off x="609600" y="6345238"/>
            <a:ext cx="5410200" cy="0"/>
          </a:xfrm>
          <a:prstGeom prst="line">
            <a:avLst/>
          </a:prstGeom>
          <a:noFill/>
          <a:ln w="9525">
            <a:solidFill>
              <a:schemeClr val="tx1"/>
            </a:solidFill>
            <a:prstDash val="sysDot"/>
            <a:round/>
            <a:tailEnd type="triangle" w="med" len="med"/>
          </a:ln>
        </p:spPr>
        <p:txBody>
          <a:bodyPr wrap="none"/>
          <a:lstStyle/>
          <a:p>
            <a:endParaRPr lang="en-US"/>
          </a:p>
        </p:txBody>
      </p:sp>
      <p:sp>
        <p:nvSpPr>
          <p:cNvPr id="137279" name="Text Box 65"/>
          <p:cNvSpPr txBox="1">
            <a:spLocks noChangeArrowheads="1"/>
          </p:cNvSpPr>
          <p:nvPr/>
        </p:nvSpPr>
        <p:spPr bwMode="auto">
          <a:xfrm>
            <a:off x="6069013" y="6137275"/>
            <a:ext cx="6159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time</a:t>
            </a:r>
          </a:p>
        </p:txBody>
      </p:sp>
      <p:grpSp>
        <p:nvGrpSpPr>
          <p:cNvPr id="137280" name="Group 66"/>
          <p:cNvGrpSpPr/>
          <p:nvPr/>
        </p:nvGrpSpPr>
        <p:grpSpPr bwMode="auto">
          <a:xfrm>
            <a:off x="6632575" y="2911475"/>
            <a:ext cx="2184400" cy="1212850"/>
            <a:chOff x="2352" y="0"/>
            <a:chExt cx="1376" cy="764"/>
          </a:xfrm>
        </p:grpSpPr>
        <p:sp>
          <p:nvSpPr>
            <p:cNvPr id="137296" name="Freeform 67"/>
            <p:cNvSpPr/>
            <p:nvPr/>
          </p:nvSpPr>
          <p:spPr bwMode="auto">
            <a:xfrm>
              <a:off x="2352" y="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66CCFF"/>
            </a:solidFill>
            <a:ln>
              <a:noFill/>
            </a:ln>
          </p:spPr>
          <p:txBody>
            <a:bodyPr wrap="none" anchor="ctr"/>
            <a:lstStyle/>
            <a:p>
              <a:endParaRPr lang="en-US"/>
            </a:p>
          </p:txBody>
        </p:sp>
        <p:grpSp>
          <p:nvGrpSpPr>
            <p:cNvPr id="137297" name="Group 68"/>
            <p:cNvGrpSpPr/>
            <p:nvPr/>
          </p:nvGrpSpPr>
          <p:grpSpPr bwMode="auto">
            <a:xfrm>
              <a:off x="2448" y="70"/>
              <a:ext cx="1161" cy="676"/>
              <a:chOff x="-17" y="1282"/>
              <a:chExt cx="1161" cy="676"/>
            </a:xfrm>
          </p:grpSpPr>
          <p:sp>
            <p:nvSpPr>
              <p:cNvPr id="137298" name="Freeform 69"/>
              <p:cNvSpPr/>
              <p:nvPr/>
            </p:nvSpPr>
            <p:spPr bwMode="auto">
              <a:xfrm>
                <a:off x="246" y="1476"/>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chemeClr val="tx1"/>
                </a:solidFill>
                <a:round/>
              </a:ln>
            </p:spPr>
            <p:txBody>
              <a:bodyPr wrap="none" anchor="ctr"/>
              <a:lstStyle/>
              <a:p>
                <a:endParaRPr lang="en-US"/>
              </a:p>
            </p:txBody>
          </p:sp>
          <p:sp>
            <p:nvSpPr>
              <p:cNvPr id="137299" name="Oval 70"/>
              <p:cNvSpPr>
                <a:spLocks noChangeArrowheads="1"/>
              </p:cNvSpPr>
              <p:nvPr/>
            </p:nvSpPr>
            <p:spPr bwMode="auto">
              <a:xfrm>
                <a:off x="-14" y="1712"/>
                <a:ext cx="313" cy="81"/>
              </a:xfrm>
              <a:prstGeom prst="ellipse">
                <a:avLst/>
              </a:prstGeom>
              <a:solidFill>
                <a:schemeClr val="hlink"/>
              </a:solidFill>
              <a:ln w="12700">
                <a:solidFill>
                  <a:schemeClr val="tx1"/>
                </a:solidFill>
                <a:round/>
              </a:ln>
            </p:spPr>
            <p:txBody>
              <a:bodyPr wrap="none" anchor="ctr"/>
              <a:lstStyle/>
              <a:p>
                <a:endParaRPr lang="en-US"/>
              </a:p>
            </p:txBody>
          </p:sp>
          <p:sp>
            <p:nvSpPr>
              <p:cNvPr id="137300" name="Line 71"/>
              <p:cNvSpPr>
                <a:spLocks noChangeShapeType="1"/>
              </p:cNvSpPr>
              <p:nvPr/>
            </p:nvSpPr>
            <p:spPr bwMode="auto">
              <a:xfrm>
                <a:off x="-14" y="1705"/>
                <a:ext cx="1" cy="50"/>
              </a:xfrm>
              <a:prstGeom prst="line">
                <a:avLst/>
              </a:prstGeom>
              <a:noFill/>
              <a:ln w="12700">
                <a:solidFill>
                  <a:schemeClr val="tx1"/>
                </a:solidFill>
                <a:round/>
              </a:ln>
            </p:spPr>
            <p:txBody>
              <a:bodyPr wrap="none" anchor="ctr"/>
              <a:lstStyle/>
              <a:p>
                <a:endParaRPr lang="en-US"/>
              </a:p>
            </p:txBody>
          </p:sp>
          <p:sp>
            <p:nvSpPr>
              <p:cNvPr id="137301" name="Line 72"/>
              <p:cNvSpPr>
                <a:spLocks noChangeShapeType="1"/>
              </p:cNvSpPr>
              <p:nvPr/>
            </p:nvSpPr>
            <p:spPr bwMode="auto">
              <a:xfrm>
                <a:off x="299" y="1705"/>
                <a:ext cx="1" cy="50"/>
              </a:xfrm>
              <a:prstGeom prst="line">
                <a:avLst/>
              </a:prstGeom>
              <a:noFill/>
              <a:ln w="12700">
                <a:solidFill>
                  <a:schemeClr val="tx1"/>
                </a:solidFill>
                <a:round/>
              </a:ln>
            </p:spPr>
            <p:txBody>
              <a:bodyPr wrap="none" anchor="ctr"/>
              <a:lstStyle/>
              <a:p>
                <a:endParaRPr lang="en-US"/>
              </a:p>
            </p:txBody>
          </p:sp>
          <p:sp>
            <p:nvSpPr>
              <p:cNvPr id="137302" name="Rectangle 73"/>
              <p:cNvSpPr>
                <a:spLocks noChangeArrowheads="1"/>
              </p:cNvSpPr>
              <p:nvPr/>
            </p:nvSpPr>
            <p:spPr bwMode="auto">
              <a:xfrm>
                <a:off x="-14" y="1705"/>
                <a:ext cx="310" cy="49"/>
              </a:xfrm>
              <a:prstGeom prst="rect">
                <a:avLst/>
              </a:prstGeom>
              <a:solidFill>
                <a:schemeClr val="hlink"/>
              </a:solidFill>
              <a:ln>
                <a:noFill/>
              </a:ln>
            </p:spPr>
            <p:txBody>
              <a:bodyPr wrap="none" anchor="ctr"/>
              <a:lstStyle/>
              <a:p>
                <a:pPr algn="ctr"/>
                <a:endParaRPr lang="en-US" sz="2400"/>
              </a:p>
            </p:txBody>
          </p:sp>
          <p:sp>
            <p:nvSpPr>
              <p:cNvPr id="137303" name="Oval 74"/>
              <p:cNvSpPr>
                <a:spLocks noChangeArrowheads="1"/>
              </p:cNvSpPr>
              <p:nvPr/>
            </p:nvSpPr>
            <p:spPr bwMode="auto">
              <a:xfrm>
                <a:off x="-17" y="1646"/>
                <a:ext cx="313" cy="95"/>
              </a:xfrm>
              <a:prstGeom prst="ellipse">
                <a:avLst/>
              </a:prstGeom>
              <a:solidFill>
                <a:schemeClr val="hlink"/>
              </a:solidFill>
              <a:ln w="12700">
                <a:solidFill>
                  <a:schemeClr val="tx1"/>
                </a:solidFill>
                <a:round/>
              </a:ln>
            </p:spPr>
            <p:txBody>
              <a:bodyPr wrap="none" anchor="ctr"/>
              <a:lstStyle/>
              <a:p>
                <a:endParaRPr lang="en-US"/>
              </a:p>
            </p:txBody>
          </p:sp>
          <p:sp>
            <p:nvSpPr>
              <p:cNvPr id="137304" name="Freeform 75"/>
              <p:cNvSpPr/>
              <p:nvPr/>
            </p:nvSpPr>
            <p:spPr bwMode="auto">
              <a:xfrm>
                <a:off x="651" y="1476"/>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chemeClr val="tx1"/>
                </a:solidFill>
                <a:round/>
              </a:ln>
            </p:spPr>
            <p:txBody>
              <a:bodyPr wrap="none" anchor="ctr"/>
              <a:lstStyle/>
              <a:p>
                <a:endParaRPr lang="en-US"/>
              </a:p>
            </p:txBody>
          </p:sp>
          <p:sp>
            <p:nvSpPr>
              <p:cNvPr id="137305" name="Freeform 76"/>
              <p:cNvSpPr/>
              <p:nvPr/>
            </p:nvSpPr>
            <p:spPr bwMode="auto">
              <a:xfrm>
                <a:off x="303" y="1740"/>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chemeClr val="tx1"/>
                </a:solidFill>
                <a:round/>
              </a:ln>
            </p:spPr>
            <p:txBody>
              <a:bodyPr wrap="none" anchor="ctr"/>
              <a:lstStyle/>
              <a:p>
                <a:endParaRPr lang="en-US"/>
              </a:p>
            </p:txBody>
          </p:sp>
          <p:grpSp>
            <p:nvGrpSpPr>
              <p:cNvPr id="137306" name="Group 77"/>
              <p:cNvGrpSpPr/>
              <p:nvPr/>
            </p:nvGrpSpPr>
            <p:grpSpPr bwMode="auto">
              <a:xfrm>
                <a:off x="39" y="1594"/>
                <a:ext cx="196" cy="250"/>
                <a:chOff x="2959" y="2425"/>
                <a:chExt cx="197" cy="250"/>
              </a:xfrm>
            </p:grpSpPr>
            <p:sp>
              <p:nvSpPr>
                <p:cNvPr id="137328" name="Rectangle 78"/>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7329" name="Text Box 79"/>
                <p:cNvSpPr txBox="1">
                  <a:spLocks noChangeArrowheads="1"/>
                </p:cNvSpPr>
                <p:nvPr/>
              </p:nvSpPr>
              <p:spPr bwMode="auto">
                <a:xfrm>
                  <a:off x="2959" y="2425"/>
                  <a:ext cx="197"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x</a:t>
                  </a:r>
                  <a:endParaRPr lang="en-US"/>
                </a:p>
              </p:txBody>
            </p:sp>
          </p:grpSp>
          <p:grpSp>
            <p:nvGrpSpPr>
              <p:cNvPr id="137307" name="Group 80"/>
              <p:cNvGrpSpPr/>
              <p:nvPr/>
            </p:nvGrpSpPr>
            <p:grpSpPr bwMode="auto">
              <a:xfrm>
                <a:off x="828" y="1576"/>
                <a:ext cx="316" cy="288"/>
                <a:chOff x="1740" y="2272"/>
                <a:chExt cx="316" cy="288"/>
              </a:xfrm>
            </p:grpSpPr>
            <p:sp>
              <p:nvSpPr>
                <p:cNvPr id="137320" name="Oval 81"/>
                <p:cNvSpPr>
                  <a:spLocks noChangeArrowheads="1"/>
                </p:cNvSpPr>
                <p:nvPr/>
              </p:nvSpPr>
              <p:spPr bwMode="auto">
                <a:xfrm>
                  <a:off x="1743" y="2420"/>
                  <a:ext cx="313" cy="81"/>
                </a:xfrm>
                <a:prstGeom prst="ellipse">
                  <a:avLst/>
                </a:prstGeom>
                <a:solidFill>
                  <a:schemeClr val="hlink"/>
                </a:solidFill>
                <a:ln w="12700">
                  <a:solidFill>
                    <a:schemeClr val="tx1"/>
                  </a:solidFill>
                  <a:round/>
                </a:ln>
              </p:spPr>
              <p:txBody>
                <a:bodyPr wrap="none" anchor="ctr"/>
                <a:lstStyle/>
                <a:p>
                  <a:endParaRPr lang="en-US"/>
                </a:p>
              </p:txBody>
            </p:sp>
            <p:sp>
              <p:nvSpPr>
                <p:cNvPr id="137321" name="Line 82"/>
                <p:cNvSpPr>
                  <a:spLocks noChangeShapeType="1"/>
                </p:cNvSpPr>
                <p:nvPr/>
              </p:nvSpPr>
              <p:spPr bwMode="auto">
                <a:xfrm>
                  <a:off x="1743" y="2413"/>
                  <a:ext cx="0" cy="50"/>
                </a:xfrm>
                <a:prstGeom prst="line">
                  <a:avLst/>
                </a:prstGeom>
                <a:noFill/>
                <a:ln w="12700">
                  <a:solidFill>
                    <a:schemeClr val="tx1"/>
                  </a:solidFill>
                  <a:round/>
                </a:ln>
              </p:spPr>
              <p:txBody>
                <a:bodyPr wrap="none" anchor="ctr"/>
                <a:lstStyle/>
                <a:p>
                  <a:endParaRPr lang="en-US"/>
                </a:p>
              </p:txBody>
            </p:sp>
            <p:sp>
              <p:nvSpPr>
                <p:cNvPr id="137322" name="Line 83"/>
                <p:cNvSpPr>
                  <a:spLocks noChangeShapeType="1"/>
                </p:cNvSpPr>
                <p:nvPr/>
              </p:nvSpPr>
              <p:spPr bwMode="auto">
                <a:xfrm>
                  <a:off x="2056" y="2413"/>
                  <a:ext cx="0" cy="50"/>
                </a:xfrm>
                <a:prstGeom prst="line">
                  <a:avLst/>
                </a:prstGeom>
                <a:noFill/>
                <a:ln w="12700">
                  <a:solidFill>
                    <a:schemeClr val="tx1"/>
                  </a:solidFill>
                  <a:round/>
                </a:ln>
              </p:spPr>
              <p:txBody>
                <a:bodyPr wrap="none" anchor="ctr"/>
                <a:lstStyle/>
                <a:p>
                  <a:endParaRPr lang="en-US"/>
                </a:p>
              </p:txBody>
            </p:sp>
            <p:sp>
              <p:nvSpPr>
                <p:cNvPr id="137323" name="Rectangle 84"/>
                <p:cNvSpPr>
                  <a:spLocks noChangeArrowheads="1"/>
                </p:cNvSpPr>
                <p:nvPr/>
              </p:nvSpPr>
              <p:spPr bwMode="auto">
                <a:xfrm>
                  <a:off x="1743" y="2413"/>
                  <a:ext cx="310" cy="49"/>
                </a:xfrm>
                <a:prstGeom prst="rect">
                  <a:avLst/>
                </a:prstGeom>
                <a:solidFill>
                  <a:schemeClr val="hlink"/>
                </a:solidFill>
                <a:ln>
                  <a:noFill/>
                </a:ln>
              </p:spPr>
              <p:txBody>
                <a:bodyPr wrap="none" anchor="ctr"/>
                <a:lstStyle/>
                <a:p>
                  <a:pPr algn="ctr"/>
                  <a:endParaRPr lang="en-US" sz="2400"/>
                </a:p>
              </p:txBody>
            </p:sp>
            <p:sp>
              <p:nvSpPr>
                <p:cNvPr id="137324" name="Oval 85"/>
                <p:cNvSpPr>
                  <a:spLocks noChangeArrowheads="1"/>
                </p:cNvSpPr>
                <p:nvPr/>
              </p:nvSpPr>
              <p:spPr bwMode="auto">
                <a:xfrm>
                  <a:off x="1740" y="2354"/>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7325" name="Group 86"/>
                <p:cNvGrpSpPr/>
                <p:nvPr/>
              </p:nvGrpSpPr>
              <p:grpSpPr bwMode="auto">
                <a:xfrm>
                  <a:off x="1795" y="2272"/>
                  <a:ext cx="212" cy="288"/>
                  <a:chOff x="2951" y="2395"/>
                  <a:chExt cx="213" cy="288"/>
                </a:xfrm>
              </p:grpSpPr>
              <p:sp>
                <p:nvSpPr>
                  <p:cNvPr id="137326" name="Rectangle 87"/>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7327" name="Text Box 88"/>
                  <p:cNvSpPr txBox="1">
                    <a:spLocks noChangeArrowheads="1"/>
                  </p:cNvSpPr>
                  <p:nvPr/>
                </p:nvSpPr>
                <p:spPr bwMode="auto">
                  <a:xfrm>
                    <a:off x="2951" y="2395"/>
                    <a:ext cx="213"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z</a:t>
                    </a:r>
                  </a:p>
                </p:txBody>
              </p:sp>
            </p:grpSp>
          </p:grpSp>
          <p:sp>
            <p:nvSpPr>
              <p:cNvPr id="137308" name="Text Box 89"/>
              <p:cNvSpPr txBox="1">
                <a:spLocks noChangeArrowheads="1"/>
              </p:cNvSpPr>
              <p:nvPr/>
            </p:nvSpPr>
            <p:spPr bwMode="auto">
              <a:xfrm>
                <a:off x="724" y="1397"/>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37309" name="Text Box 90"/>
              <p:cNvSpPr txBox="1">
                <a:spLocks noChangeArrowheads="1"/>
              </p:cNvSpPr>
              <p:nvPr/>
            </p:nvSpPr>
            <p:spPr bwMode="auto">
              <a:xfrm>
                <a:off x="196" y="1394"/>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37310" name="Text Box 91"/>
              <p:cNvSpPr txBox="1">
                <a:spLocks noChangeArrowheads="1"/>
              </p:cNvSpPr>
              <p:nvPr/>
            </p:nvSpPr>
            <p:spPr bwMode="auto">
              <a:xfrm>
                <a:off x="481" y="1727"/>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7</a:t>
                </a:r>
                <a:endParaRPr lang="en-US"/>
              </a:p>
            </p:txBody>
          </p:sp>
          <p:grpSp>
            <p:nvGrpSpPr>
              <p:cNvPr id="137311" name="Group 92"/>
              <p:cNvGrpSpPr/>
              <p:nvPr/>
            </p:nvGrpSpPr>
            <p:grpSpPr bwMode="auto">
              <a:xfrm>
                <a:off x="408" y="1282"/>
                <a:ext cx="316" cy="250"/>
                <a:chOff x="1740" y="2302"/>
                <a:chExt cx="316" cy="250"/>
              </a:xfrm>
            </p:grpSpPr>
            <p:sp>
              <p:nvSpPr>
                <p:cNvPr id="137312" name="Oval 93"/>
                <p:cNvSpPr>
                  <a:spLocks noChangeArrowheads="1"/>
                </p:cNvSpPr>
                <p:nvPr/>
              </p:nvSpPr>
              <p:spPr bwMode="auto">
                <a:xfrm>
                  <a:off x="1743" y="2420"/>
                  <a:ext cx="313" cy="81"/>
                </a:xfrm>
                <a:prstGeom prst="ellipse">
                  <a:avLst/>
                </a:prstGeom>
                <a:solidFill>
                  <a:schemeClr val="hlink"/>
                </a:solidFill>
                <a:ln w="12700">
                  <a:solidFill>
                    <a:schemeClr val="tx1"/>
                  </a:solidFill>
                  <a:round/>
                </a:ln>
              </p:spPr>
              <p:txBody>
                <a:bodyPr wrap="none" anchor="ctr"/>
                <a:lstStyle/>
                <a:p>
                  <a:endParaRPr lang="en-US"/>
                </a:p>
              </p:txBody>
            </p:sp>
            <p:sp>
              <p:nvSpPr>
                <p:cNvPr id="137313" name="Line 94"/>
                <p:cNvSpPr>
                  <a:spLocks noChangeShapeType="1"/>
                </p:cNvSpPr>
                <p:nvPr/>
              </p:nvSpPr>
              <p:spPr bwMode="auto">
                <a:xfrm>
                  <a:off x="1743" y="2413"/>
                  <a:ext cx="0" cy="50"/>
                </a:xfrm>
                <a:prstGeom prst="line">
                  <a:avLst/>
                </a:prstGeom>
                <a:noFill/>
                <a:ln w="12700">
                  <a:solidFill>
                    <a:schemeClr val="tx1"/>
                  </a:solidFill>
                  <a:round/>
                </a:ln>
              </p:spPr>
              <p:txBody>
                <a:bodyPr wrap="none" anchor="ctr"/>
                <a:lstStyle/>
                <a:p>
                  <a:endParaRPr lang="en-US"/>
                </a:p>
              </p:txBody>
            </p:sp>
            <p:sp>
              <p:nvSpPr>
                <p:cNvPr id="137314" name="Line 95"/>
                <p:cNvSpPr>
                  <a:spLocks noChangeShapeType="1"/>
                </p:cNvSpPr>
                <p:nvPr/>
              </p:nvSpPr>
              <p:spPr bwMode="auto">
                <a:xfrm>
                  <a:off x="2056" y="2413"/>
                  <a:ext cx="0" cy="50"/>
                </a:xfrm>
                <a:prstGeom prst="line">
                  <a:avLst/>
                </a:prstGeom>
                <a:noFill/>
                <a:ln w="12700">
                  <a:solidFill>
                    <a:schemeClr val="tx1"/>
                  </a:solidFill>
                  <a:round/>
                </a:ln>
              </p:spPr>
              <p:txBody>
                <a:bodyPr wrap="none" anchor="ctr"/>
                <a:lstStyle/>
                <a:p>
                  <a:endParaRPr lang="en-US"/>
                </a:p>
              </p:txBody>
            </p:sp>
            <p:sp>
              <p:nvSpPr>
                <p:cNvPr id="137315" name="Rectangle 96"/>
                <p:cNvSpPr>
                  <a:spLocks noChangeArrowheads="1"/>
                </p:cNvSpPr>
                <p:nvPr/>
              </p:nvSpPr>
              <p:spPr bwMode="auto">
                <a:xfrm>
                  <a:off x="1743" y="2413"/>
                  <a:ext cx="310" cy="49"/>
                </a:xfrm>
                <a:prstGeom prst="rect">
                  <a:avLst/>
                </a:prstGeom>
                <a:solidFill>
                  <a:schemeClr val="hlink"/>
                </a:solidFill>
                <a:ln>
                  <a:noFill/>
                </a:ln>
              </p:spPr>
              <p:txBody>
                <a:bodyPr wrap="none" anchor="ctr"/>
                <a:lstStyle/>
                <a:p>
                  <a:pPr algn="ctr"/>
                  <a:endParaRPr lang="en-US" sz="2400"/>
                </a:p>
              </p:txBody>
            </p:sp>
            <p:sp>
              <p:nvSpPr>
                <p:cNvPr id="137316" name="Oval 97"/>
                <p:cNvSpPr>
                  <a:spLocks noChangeArrowheads="1"/>
                </p:cNvSpPr>
                <p:nvPr/>
              </p:nvSpPr>
              <p:spPr bwMode="auto">
                <a:xfrm>
                  <a:off x="1740" y="2354"/>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7317" name="Group 98"/>
                <p:cNvGrpSpPr/>
                <p:nvPr/>
              </p:nvGrpSpPr>
              <p:grpSpPr bwMode="auto">
                <a:xfrm>
                  <a:off x="1803" y="2302"/>
                  <a:ext cx="196" cy="250"/>
                  <a:chOff x="2958" y="2425"/>
                  <a:chExt cx="198" cy="250"/>
                </a:xfrm>
              </p:grpSpPr>
              <p:sp>
                <p:nvSpPr>
                  <p:cNvPr id="137318" name="Rectangle 99"/>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37319" name="Text Box 100"/>
                  <p:cNvSpPr txBox="1">
                    <a:spLocks noChangeArrowheads="1"/>
                  </p:cNvSpPr>
                  <p:nvPr/>
                </p:nvSpPr>
                <p:spPr bwMode="auto">
                  <a:xfrm>
                    <a:off x="2958" y="2425"/>
                    <a:ext cx="198"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y</a:t>
                    </a:r>
                    <a:endParaRPr lang="en-US"/>
                  </a:p>
                </p:txBody>
              </p:sp>
            </p:grpSp>
          </p:grpSp>
        </p:grpSp>
      </p:grpSp>
      <p:sp>
        <p:nvSpPr>
          <p:cNvPr id="137281" name="Text Box 101"/>
          <p:cNvSpPr txBox="1">
            <a:spLocks noChangeArrowheads="1"/>
          </p:cNvSpPr>
          <p:nvPr/>
        </p:nvSpPr>
        <p:spPr bwMode="auto">
          <a:xfrm>
            <a:off x="263525" y="1104900"/>
            <a:ext cx="920750" cy="558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eaLnBrk="1" hangingPunct="1">
              <a:lnSpc>
                <a:spcPct val="85000"/>
              </a:lnSpc>
            </a:pPr>
            <a:r>
              <a:rPr lang="en-US" sz="1800" b="1">
                <a:solidFill>
                  <a:srgbClr val="CC0000"/>
                </a:solidFill>
              </a:rPr>
              <a:t>node x</a:t>
            </a:r>
          </a:p>
          <a:p>
            <a:pPr algn="r" eaLnBrk="1" hangingPunct="1">
              <a:lnSpc>
                <a:spcPct val="85000"/>
              </a:lnSpc>
            </a:pPr>
            <a:r>
              <a:rPr lang="en-US" sz="1800" b="1">
                <a:solidFill>
                  <a:srgbClr val="CC0000"/>
                </a:solidFill>
              </a:rPr>
              <a:t>table</a:t>
            </a:r>
          </a:p>
        </p:txBody>
      </p:sp>
      <p:sp>
        <p:nvSpPr>
          <p:cNvPr id="137282" name="Oval 104"/>
          <p:cNvSpPr>
            <a:spLocks noChangeArrowheads="1"/>
          </p:cNvSpPr>
          <p:nvPr/>
        </p:nvSpPr>
        <p:spPr bwMode="auto">
          <a:xfrm>
            <a:off x="1219200" y="1676400"/>
            <a:ext cx="1066800" cy="381000"/>
          </a:xfrm>
          <a:prstGeom prst="ellipse">
            <a:avLst/>
          </a:prstGeom>
          <a:noFill/>
          <a:ln w="9525">
            <a:solidFill>
              <a:srgbClr val="FF0000"/>
            </a:solidFill>
            <a:round/>
          </a:ln>
        </p:spPr>
        <p:txBody>
          <a:bodyPr wrap="none" anchor="ctr"/>
          <a:lstStyle/>
          <a:p>
            <a:endParaRPr lang="en-US"/>
          </a:p>
        </p:txBody>
      </p:sp>
      <p:sp>
        <p:nvSpPr>
          <p:cNvPr id="137283" name="Oval 105"/>
          <p:cNvSpPr>
            <a:spLocks noChangeArrowheads="1"/>
          </p:cNvSpPr>
          <p:nvPr/>
        </p:nvSpPr>
        <p:spPr bwMode="auto">
          <a:xfrm>
            <a:off x="1219200" y="3733800"/>
            <a:ext cx="1066800" cy="381000"/>
          </a:xfrm>
          <a:prstGeom prst="ellipse">
            <a:avLst/>
          </a:prstGeom>
          <a:noFill/>
          <a:ln w="9525">
            <a:solidFill>
              <a:srgbClr val="FF0000"/>
            </a:solidFill>
            <a:round/>
          </a:ln>
        </p:spPr>
        <p:txBody>
          <a:bodyPr wrap="none" anchor="ctr"/>
          <a:lstStyle/>
          <a:p>
            <a:endParaRPr lang="en-US"/>
          </a:p>
        </p:txBody>
      </p:sp>
      <p:sp>
        <p:nvSpPr>
          <p:cNvPr id="137284" name="Oval 106"/>
          <p:cNvSpPr>
            <a:spLocks noChangeArrowheads="1"/>
          </p:cNvSpPr>
          <p:nvPr/>
        </p:nvSpPr>
        <p:spPr bwMode="auto">
          <a:xfrm>
            <a:off x="1219200" y="5943600"/>
            <a:ext cx="1066800" cy="381000"/>
          </a:xfrm>
          <a:prstGeom prst="ellipse">
            <a:avLst/>
          </a:prstGeom>
          <a:noFill/>
          <a:ln w="9525">
            <a:solidFill>
              <a:srgbClr val="FF0000"/>
            </a:solidFill>
            <a:round/>
          </a:ln>
        </p:spPr>
        <p:txBody>
          <a:bodyPr wrap="none" anchor="ctr"/>
          <a:lstStyle/>
          <a:p>
            <a:endParaRPr lang="en-US"/>
          </a:p>
        </p:txBody>
      </p:sp>
      <p:sp>
        <p:nvSpPr>
          <p:cNvPr id="137285" name="Oval 107"/>
          <p:cNvSpPr>
            <a:spLocks noChangeArrowheads="1"/>
          </p:cNvSpPr>
          <p:nvPr/>
        </p:nvSpPr>
        <p:spPr bwMode="auto">
          <a:xfrm>
            <a:off x="3297238" y="1676400"/>
            <a:ext cx="1066800" cy="381000"/>
          </a:xfrm>
          <a:prstGeom prst="ellipse">
            <a:avLst/>
          </a:prstGeom>
          <a:noFill/>
          <a:ln w="9525">
            <a:solidFill>
              <a:srgbClr val="FF0000"/>
            </a:solidFill>
            <a:round/>
          </a:ln>
        </p:spPr>
        <p:txBody>
          <a:bodyPr wrap="none" anchor="ctr"/>
          <a:lstStyle/>
          <a:p>
            <a:endParaRPr lang="en-US"/>
          </a:p>
        </p:txBody>
      </p:sp>
      <p:sp>
        <p:nvSpPr>
          <p:cNvPr id="728172" name="Rectangle 108"/>
          <p:cNvSpPr>
            <a:spLocks noChangeArrowheads="1"/>
          </p:cNvSpPr>
          <p:nvPr/>
        </p:nvSpPr>
        <p:spPr bwMode="auto">
          <a:xfrm>
            <a:off x="1590675" y="187325"/>
            <a:ext cx="4318000" cy="641350"/>
          </a:xfrm>
          <a:prstGeom prst="rect">
            <a:avLst/>
          </a:prstGeom>
          <a:noFill/>
          <a:ln>
            <a:noFill/>
          </a:ln>
        </p:spPr>
        <p:txBody>
          <a:bodyPr wrap="none" anchor="ctr">
            <a:spAutoFit/>
          </a:bodyPr>
          <a:lstStyle/>
          <a:p>
            <a:pPr algn="just"/>
            <a:r>
              <a:rPr lang="fr-FR">
                <a:solidFill>
                  <a:srgbClr val="000000"/>
                </a:solidFill>
                <a:cs typeface="Times New Roman" panose="02020503050405090304" charset="0"/>
              </a:rPr>
              <a:t>D</a:t>
            </a:r>
            <a:r>
              <a:rPr lang="fr-FR" baseline="-25000">
                <a:solidFill>
                  <a:srgbClr val="000000"/>
                </a:solidFill>
                <a:cs typeface="Times New Roman" panose="02020503050405090304" charset="0"/>
              </a:rPr>
              <a:t>x</a:t>
            </a:r>
            <a:r>
              <a:rPr lang="fr-FR">
                <a:solidFill>
                  <a:srgbClr val="000000"/>
                </a:solidFill>
                <a:cs typeface="Times New Roman" panose="02020503050405090304" charset="0"/>
              </a:rPr>
              <a:t>(y) = min{c(x,y) + D</a:t>
            </a:r>
            <a:r>
              <a:rPr lang="fr-FR" baseline="-25000">
                <a:solidFill>
                  <a:srgbClr val="000000"/>
                </a:solidFill>
                <a:cs typeface="Times New Roman" panose="02020503050405090304" charset="0"/>
              </a:rPr>
              <a:t>y</a:t>
            </a:r>
            <a:r>
              <a:rPr lang="fr-FR">
                <a:solidFill>
                  <a:srgbClr val="000000"/>
                </a:solidFill>
                <a:cs typeface="Times New Roman" panose="02020503050405090304" charset="0"/>
              </a:rPr>
              <a:t>(y), c(x,z) + D</a:t>
            </a:r>
            <a:r>
              <a:rPr lang="fr-FR" baseline="-25000">
                <a:solidFill>
                  <a:srgbClr val="000000"/>
                </a:solidFill>
                <a:cs typeface="Times New Roman" panose="02020503050405090304" charset="0"/>
              </a:rPr>
              <a:t>z</a:t>
            </a:r>
            <a:r>
              <a:rPr lang="fr-FR">
                <a:solidFill>
                  <a:srgbClr val="000000"/>
                </a:solidFill>
                <a:cs typeface="Times New Roman" panose="02020503050405090304" charset="0"/>
              </a:rPr>
              <a:t>(y)} </a:t>
            </a:r>
            <a:br>
              <a:rPr lang="fr-FR">
                <a:solidFill>
                  <a:srgbClr val="000000"/>
                </a:solidFill>
                <a:cs typeface="Times New Roman" panose="02020503050405090304" charset="0"/>
              </a:rPr>
            </a:br>
            <a:r>
              <a:rPr lang="fr-FR">
                <a:solidFill>
                  <a:srgbClr val="000000"/>
                </a:solidFill>
                <a:cs typeface="Times New Roman" panose="02020503050405090304" charset="0"/>
              </a:rPr>
              <a:t>             = min{2+0 , 7+1} = 2</a:t>
            </a:r>
          </a:p>
        </p:txBody>
      </p:sp>
      <p:sp>
        <p:nvSpPr>
          <p:cNvPr id="728173" name="Line 109"/>
          <p:cNvSpPr>
            <a:spLocks noChangeShapeType="1"/>
          </p:cNvSpPr>
          <p:nvPr/>
        </p:nvSpPr>
        <p:spPr bwMode="auto">
          <a:xfrm flipH="1">
            <a:off x="3760788" y="809625"/>
            <a:ext cx="809625" cy="966788"/>
          </a:xfrm>
          <a:prstGeom prst="line">
            <a:avLst/>
          </a:prstGeom>
          <a:noFill/>
          <a:ln w="12700">
            <a:solidFill>
              <a:schemeClr val="accent2"/>
            </a:solidFill>
            <a:round/>
            <a:tailEnd type="triangle" w="med" len="med"/>
          </a:ln>
        </p:spPr>
        <p:txBody>
          <a:bodyPr wrap="none"/>
          <a:lstStyle/>
          <a:p>
            <a:endParaRPr lang="en-US"/>
          </a:p>
        </p:txBody>
      </p:sp>
      <p:sp>
        <p:nvSpPr>
          <p:cNvPr id="728174" name="Rectangle 110"/>
          <p:cNvSpPr>
            <a:spLocks noChangeArrowheads="1"/>
          </p:cNvSpPr>
          <p:nvPr/>
        </p:nvSpPr>
        <p:spPr bwMode="auto">
          <a:xfrm>
            <a:off x="6384925" y="28575"/>
            <a:ext cx="2667000" cy="1082675"/>
          </a:xfrm>
          <a:prstGeom prst="rect">
            <a:avLst/>
          </a:prstGeom>
          <a:noFill/>
          <a:ln>
            <a:noFill/>
          </a:ln>
        </p:spPr>
        <p:txBody>
          <a:bodyPr wrap="none" anchor="ctr">
            <a:spAutoFit/>
          </a:bodyPr>
          <a:lstStyle/>
          <a:p>
            <a:pPr algn="just">
              <a:lnSpc>
                <a:spcPct val="120000"/>
              </a:lnSpc>
            </a:pPr>
            <a:r>
              <a:rPr lang="fr-FR" i="1"/>
              <a:t>D</a:t>
            </a:r>
            <a:r>
              <a:rPr lang="fr-FR" i="1" baseline="-25000"/>
              <a:t>x</a:t>
            </a:r>
            <a:r>
              <a:rPr lang="fr-FR" i="1"/>
              <a:t>(z) = </a:t>
            </a:r>
            <a:r>
              <a:rPr lang="fr-FR"/>
              <a:t>min{</a:t>
            </a:r>
            <a:r>
              <a:rPr lang="fr-FR" i="1"/>
              <a:t>c(x,y) + </a:t>
            </a:r>
            <a:br>
              <a:rPr lang="fr-FR" i="1"/>
            </a:br>
            <a:r>
              <a:rPr lang="fr-FR" i="1"/>
              <a:t>      D</a:t>
            </a:r>
            <a:r>
              <a:rPr lang="fr-FR" i="1" baseline="-25000"/>
              <a:t>y</a:t>
            </a:r>
            <a:r>
              <a:rPr lang="fr-FR" i="1"/>
              <a:t>(z), c(x,z) + D</a:t>
            </a:r>
            <a:r>
              <a:rPr lang="fr-FR" i="1" baseline="-25000"/>
              <a:t>z</a:t>
            </a:r>
            <a:r>
              <a:rPr lang="fr-FR" i="1"/>
              <a:t>(z)</a:t>
            </a:r>
            <a:r>
              <a:rPr lang="fr-FR"/>
              <a:t>} </a:t>
            </a:r>
          </a:p>
          <a:p>
            <a:pPr algn="just">
              <a:lnSpc>
                <a:spcPct val="120000"/>
              </a:lnSpc>
            </a:pPr>
            <a:r>
              <a:rPr lang="fr-FR"/>
              <a:t>= min{2+1 , 7+0} = 3</a:t>
            </a:r>
          </a:p>
        </p:txBody>
      </p:sp>
      <p:sp>
        <p:nvSpPr>
          <p:cNvPr id="728175" name="Line 111"/>
          <p:cNvSpPr>
            <a:spLocks noChangeShapeType="1"/>
          </p:cNvSpPr>
          <p:nvPr/>
        </p:nvSpPr>
        <p:spPr bwMode="auto">
          <a:xfrm flipH="1">
            <a:off x="4179888" y="482600"/>
            <a:ext cx="2586037" cy="1333500"/>
          </a:xfrm>
          <a:prstGeom prst="line">
            <a:avLst/>
          </a:prstGeom>
          <a:noFill/>
          <a:ln w="9525">
            <a:solidFill>
              <a:schemeClr val="accent2"/>
            </a:solidFill>
            <a:round/>
            <a:tailEnd type="triangle" w="med" len="med"/>
          </a:ln>
        </p:spPr>
        <p:txBody>
          <a:bodyPr wrap="none"/>
          <a:lstStyle/>
          <a:p>
            <a:endParaRPr lang="en-US"/>
          </a:p>
        </p:txBody>
      </p:sp>
      <p:sp>
        <p:nvSpPr>
          <p:cNvPr id="728176" name="Text Box 112"/>
          <p:cNvSpPr txBox="1">
            <a:spLocks noChangeArrowheads="1"/>
          </p:cNvSpPr>
          <p:nvPr/>
        </p:nvSpPr>
        <p:spPr bwMode="auto">
          <a:xfrm>
            <a:off x="3922713" y="1674813"/>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3</a:t>
            </a:r>
          </a:p>
        </p:txBody>
      </p:sp>
      <p:sp>
        <p:nvSpPr>
          <p:cNvPr id="728177" name="Text Box 113"/>
          <p:cNvSpPr txBox="1">
            <a:spLocks noChangeArrowheads="1"/>
          </p:cNvSpPr>
          <p:nvPr/>
        </p:nvSpPr>
        <p:spPr bwMode="auto">
          <a:xfrm>
            <a:off x="3579813" y="1679575"/>
            <a:ext cx="342900" cy="366713"/>
          </a:xfrm>
          <a:prstGeom prst="rect">
            <a:avLst/>
          </a:prstGeom>
          <a:noFill/>
          <a:ln>
            <a:noFill/>
          </a:ln>
        </p:spPr>
        <p:txBody>
          <a:bodyPr>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2 </a:t>
            </a:r>
          </a:p>
        </p:txBody>
      </p:sp>
      <p:sp>
        <p:nvSpPr>
          <p:cNvPr id="137292" name="Text Box 114"/>
          <p:cNvSpPr txBox="1">
            <a:spLocks noChangeArrowheads="1"/>
          </p:cNvSpPr>
          <p:nvPr/>
        </p:nvSpPr>
        <p:spPr bwMode="auto">
          <a:xfrm>
            <a:off x="292100" y="2851150"/>
            <a:ext cx="920750" cy="558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eaLnBrk="1" hangingPunct="1">
              <a:lnSpc>
                <a:spcPct val="85000"/>
              </a:lnSpc>
            </a:pPr>
            <a:r>
              <a:rPr lang="en-US" sz="1800" b="1">
                <a:solidFill>
                  <a:srgbClr val="CC0000"/>
                </a:solidFill>
              </a:rPr>
              <a:t>node y</a:t>
            </a:r>
          </a:p>
          <a:p>
            <a:pPr algn="r" eaLnBrk="1" hangingPunct="1">
              <a:lnSpc>
                <a:spcPct val="85000"/>
              </a:lnSpc>
            </a:pPr>
            <a:r>
              <a:rPr lang="en-US" sz="1800" b="1">
                <a:solidFill>
                  <a:srgbClr val="CC0000"/>
                </a:solidFill>
              </a:rPr>
              <a:t>table</a:t>
            </a:r>
          </a:p>
        </p:txBody>
      </p:sp>
      <p:sp>
        <p:nvSpPr>
          <p:cNvPr id="137293" name="Text Box 115"/>
          <p:cNvSpPr txBox="1">
            <a:spLocks noChangeArrowheads="1"/>
          </p:cNvSpPr>
          <p:nvPr/>
        </p:nvSpPr>
        <p:spPr bwMode="auto">
          <a:xfrm>
            <a:off x="311150" y="4699000"/>
            <a:ext cx="908050" cy="558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eaLnBrk="1" hangingPunct="1">
              <a:lnSpc>
                <a:spcPct val="85000"/>
              </a:lnSpc>
            </a:pPr>
            <a:r>
              <a:rPr lang="en-US" sz="1800" b="1">
                <a:solidFill>
                  <a:srgbClr val="CC0000"/>
                </a:solidFill>
              </a:rPr>
              <a:t>node z</a:t>
            </a:r>
          </a:p>
          <a:p>
            <a:pPr algn="r" eaLnBrk="1" hangingPunct="1">
              <a:lnSpc>
                <a:spcPct val="85000"/>
              </a:lnSpc>
            </a:pPr>
            <a:r>
              <a:rPr lang="en-US" sz="1800" b="1">
                <a:solidFill>
                  <a:srgbClr val="CC0000"/>
                </a:solidFill>
              </a:rPr>
              <a:t>table</a:t>
            </a:r>
          </a:p>
        </p:txBody>
      </p:sp>
      <p:sp>
        <p:nvSpPr>
          <p:cNvPr id="137294" name="Text Box 117"/>
          <p:cNvSpPr txBox="1">
            <a:spLocks noChangeArrowheads="1"/>
          </p:cNvSpPr>
          <p:nvPr/>
        </p:nvSpPr>
        <p:spPr bwMode="auto">
          <a:xfrm>
            <a:off x="3413125" y="1143000"/>
            <a:ext cx="706438"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cost to</a:t>
            </a:r>
          </a:p>
        </p:txBody>
      </p:sp>
      <p:sp>
        <p:nvSpPr>
          <p:cNvPr id="137295" name="Text Box 118"/>
          <p:cNvSpPr txBox="1">
            <a:spLocks noChangeArrowheads="1"/>
          </p:cNvSpPr>
          <p:nvPr/>
        </p:nvSpPr>
        <p:spPr bwMode="auto">
          <a:xfrm rot="-5400000">
            <a:off x="561182" y="2067719"/>
            <a:ext cx="538162"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from</a:t>
            </a:r>
          </a:p>
        </p:txBody>
      </p:sp>
      <p:sp>
        <p:nvSpPr>
          <p:cNvPr id="115"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49</a:t>
            </a:fld>
            <a:endParaRPr lang="en-US" sz="1200" dirty="0">
              <a:latin typeface="Tahoma" panose="020B0604030504040204" charset="0"/>
            </a:endParaRPr>
          </a:p>
        </p:txBody>
      </p:sp>
      <p:sp>
        <p:nvSpPr>
          <p:cNvPr id="116"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2817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2817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2817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72817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72817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2817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8172" grpId="0"/>
      <p:bldP spid="728173" grpId="0" animBg="1"/>
      <p:bldP spid="728174" grpId="0"/>
      <p:bldP spid="728175" grpId="0" animBg="1"/>
      <p:bldP spid="728176" grpId="0"/>
      <p:bldP spid="728177"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3" name="Line 20"/>
          <p:cNvSpPr>
            <a:spLocks noChangeShapeType="1"/>
          </p:cNvSpPr>
          <p:nvPr/>
        </p:nvSpPr>
        <p:spPr bwMode="auto">
          <a:xfrm>
            <a:off x="5486400" y="1524000"/>
            <a:ext cx="0" cy="1219200"/>
          </a:xfrm>
          <a:prstGeom prst="line">
            <a:avLst/>
          </a:prstGeom>
          <a:noFill/>
          <a:ln w="9525">
            <a:solidFill>
              <a:schemeClr val="tx1"/>
            </a:solidFill>
            <a:round/>
          </a:ln>
        </p:spPr>
        <p:txBody>
          <a:bodyPr wrap="none"/>
          <a:lstStyle/>
          <a:p>
            <a:endParaRPr lang="en-US"/>
          </a:p>
        </p:txBody>
      </p:sp>
      <p:sp>
        <p:nvSpPr>
          <p:cNvPr id="138244" name="Line 21"/>
          <p:cNvSpPr>
            <a:spLocks noChangeShapeType="1"/>
          </p:cNvSpPr>
          <p:nvPr/>
        </p:nvSpPr>
        <p:spPr bwMode="auto">
          <a:xfrm>
            <a:off x="5181600" y="1752600"/>
            <a:ext cx="1371600" cy="0"/>
          </a:xfrm>
          <a:prstGeom prst="line">
            <a:avLst/>
          </a:prstGeom>
          <a:noFill/>
          <a:ln w="9525">
            <a:solidFill>
              <a:schemeClr val="tx1"/>
            </a:solidFill>
            <a:round/>
          </a:ln>
        </p:spPr>
        <p:txBody>
          <a:bodyPr wrap="none"/>
          <a:lstStyle/>
          <a:p>
            <a:endParaRPr lang="en-US"/>
          </a:p>
        </p:txBody>
      </p:sp>
      <p:sp>
        <p:nvSpPr>
          <p:cNvPr id="138245" name="Text Box 22"/>
          <p:cNvSpPr txBox="1">
            <a:spLocks noChangeArrowheads="1"/>
          </p:cNvSpPr>
          <p:nvPr/>
        </p:nvSpPr>
        <p:spPr bwMode="auto">
          <a:xfrm>
            <a:off x="5486400" y="1366838"/>
            <a:ext cx="9080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   y   z</a:t>
            </a:r>
          </a:p>
        </p:txBody>
      </p:sp>
      <p:sp>
        <p:nvSpPr>
          <p:cNvPr id="138246" name="Text Box 23"/>
          <p:cNvSpPr txBox="1">
            <a:spLocks noChangeArrowheads="1"/>
          </p:cNvSpPr>
          <p:nvPr/>
        </p:nvSpPr>
        <p:spPr bwMode="auto">
          <a:xfrm>
            <a:off x="5181600" y="17478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a:t>
            </a:r>
          </a:p>
        </p:txBody>
      </p:sp>
      <p:sp>
        <p:nvSpPr>
          <p:cNvPr id="138247" name="Text Box 24"/>
          <p:cNvSpPr txBox="1">
            <a:spLocks noChangeArrowheads="1"/>
          </p:cNvSpPr>
          <p:nvPr/>
        </p:nvSpPr>
        <p:spPr bwMode="auto">
          <a:xfrm>
            <a:off x="5181600" y="20526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y</a:t>
            </a:r>
          </a:p>
        </p:txBody>
      </p:sp>
      <p:sp>
        <p:nvSpPr>
          <p:cNvPr id="138248" name="Text Box 25"/>
          <p:cNvSpPr txBox="1">
            <a:spLocks noChangeArrowheads="1"/>
          </p:cNvSpPr>
          <p:nvPr/>
        </p:nvSpPr>
        <p:spPr bwMode="auto">
          <a:xfrm>
            <a:off x="5181600" y="23574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z</a:t>
            </a:r>
          </a:p>
        </p:txBody>
      </p:sp>
      <p:sp>
        <p:nvSpPr>
          <p:cNvPr id="138249" name="Text Box 26"/>
          <p:cNvSpPr txBox="1">
            <a:spLocks noChangeArrowheads="1"/>
          </p:cNvSpPr>
          <p:nvPr/>
        </p:nvSpPr>
        <p:spPr bwMode="auto">
          <a:xfrm>
            <a:off x="5486400" y="1747838"/>
            <a:ext cx="8826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0  2   3</a:t>
            </a:r>
          </a:p>
        </p:txBody>
      </p:sp>
      <p:sp>
        <p:nvSpPr>
          <p:cNvPr id="138250" name="Text Box 27"/>
          <p:cNvSpPr txBox="1">
            <a:spLocks noChangeArrowheads="1"/>
          </p:cNvSpPr>
          <p:nvPr/>
        </p:nvSpPr>
        <p:spPr bwMode="auto">
          <a:xfrm rot="-5400000">
            <a:off x="4820443" y="2167732"/>
            <a:ext cx="538163"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from</a:t>
            </a:r>
          </a:p>
        </p:txBody>
      </p:sp>
      <p:sp>
        <p:nvSpPr>
          <p:cNvPr id="138251" name="Text Box 28"/>
          <p:cNvSpPr txBox="1">
            <a:spLocks noChangeArrowheads="1"/>
          </p:cNvSpPr>
          <p:nvPr/>
        </p:nvSpPr>
        <p:spPr bwMode="auto">
          <a:xfrm>
            <a:off x="5608638" y="1223963"/>
            <a:ext cx="706437"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cost to</a:t>
            </a:r>
          </a:p>
        </p:txBody>
      </p:sp>
      <p:sp>
        <p:nvSpPr>
          <p:cNvPr id="138252" name="Line 50"/>
          <p:cNvSpPr>
            <a:spLocks noChangeShapeType="1"/>
          </p:cNvSpPr>
          <p:nvPr/>
        </p:nvSpPr>
        <p:spPr bwMode="auto">
          <a:xfrm>
            <a:off x="3276600" y="3200400"/>
            <a:ext cx="0" cy="1219200"/>
          </a:xfrm>
          <a:prstGeom prst="line">
            <a:avLst/>
          </a:prstGeom>
          <a:noFill/>
          <a:ln w="9525">
            <a:solidFill>
              <a:schemeClr val="tx1"/>
            </a:solidFill>
            <a:round/>
          </a:ln>
        </p:spPr>
        <p:txBody>
          <a:bodyPr wrap="none"/>
          <a:lstStyle/>
          <a:p>
            <a:endParaRPr lang="en-US"/>
          </a:p>
        </p:txBody>
      </p:sp>
      <p:sp>
        <p:nvSpPr>
          <p:cNvPr id="138253" name="Line 51"/>
          <p:cNvSpPr>
            <a:spLocks noChangeShapeType="1"/>
          </p:cNvSpPr>
          <p:nvPr/>
        </p:nvSpPr>
        <p:spPr bwMode="auto">
          <a:xfrm>
            <a:off x="2971800" y="3429000"/>
            <a:ext cx="1371600" cy="0"/>
          </a:xfrm>
          <a:prstGeom prst="line">
            <a:avLst/>
          </a:prstGeom>
          <a:noFill/>
          <a:ln w="9525">
            <a:solidFill>
              <a:schemeClr val="tx1"/>
            </a:solidFill>
            <a:round/>
          </a:ln>
        </p:spPr>
        <p:txBody>
          <a:bodyPr wrap="none"/>
          <a:lstStyle/>
          <a:p>
            <a:endParaRPr lang="en-US"/>
          </a:p>
        </p:txBody>
      </p:sp>
      <p:sp>
        <p:nvSpPr>
          <p:cNvPr id="138254" name="Text Box 52"/>
          <p:cNvSpPr txBox="1">
            <a:spLocks noChangeArrowheads="1"/>
          </p:cNvSpPr>
          <p:nvPr/>
        </p:nvSpPr>
        <p:spPr bwMode="auto">
          <a:xfrm>
            <a:off x="3276600" y="3043238"/>
            <a:ext cx="9080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   y   z</a:t>
            </a:r>
          </a:p>
        </p:txBody>
      </p:sp>
      <p:sp>
        <p:nvSpPr>
          <p:cNvPr id="138255" name="Text Box 53"/>
          <p:cNvSpPr txBox="1">
            <a:spLocks noChangeArrowheads="1"/>
          </p:cNvSpPr>
          <p:nvPr/>
        </p:nvSpPr>
        <p:spPr bwMode="auto">
          <a:xfrm>
            <a:off x="2971800" y="34242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a:t>
            </a:r>
          </a:p>
        </p:txBody>
      </p:sp>
      <p:sp>
        <p:nvSpPr>
          <p:cNvPr id="138256" name="Text Box 54"/>
          <p:cNvSpPr txBox="1">
            <a:spLocks noChangeArrowheads="1"/>
          </p:cNvSpPr>
          <p:nvPr/>
        </p:nvSpPr>
        <p:spPr bwMode="auto">
          <a:xfrm>
            <a:off x="2971800" y="37290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y</a:t>
            </a:r>
          </a:p>
        </p:txBody>
      </p:sp>
      <p:sp>
        <p:nvSpPr>
          <p:cNvPr id="138257" name="Text Box 55"/>
          <p:cNvSpPr txBox="1">
            <a:spLocks noChangeArrowheads="1"/>
          </p:cNvSpPr>
          <p:nvPr/>
        </p:nvSpPr>
        <p:spPr bwMode="auto">
          <a:xfrm>
            <a:off x="2971800" y="40338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z</a:t>
            </a:r>
          </a:p>
        </p:txBody>
      </p:sp>
      <p:sp>
        <p:nvSpPr>
          <p:cNvPr id="138258" name="Text Box 56"/>
          <p:cNvSpPr txBox="1">
            <a:spLocks noChangeArrowheads="1"/>
          </p:cNvSpPr>
          <p:nvPr/>
        </p:nvSpPr>
        <p:spPr bwMode="auto">
          <a:xfrm>
            <a:off x="3276600" y="3424238"/>
            <a:ext cx="8826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0  2   7</a:t>
            </a:r>
          </a:p>
        </p:txBody>
      </p:sp>
      <p:sp>
        <p:nvSpPr>
          <p:cNvPr id="138259" name="Text Box 57"/>
          <p:cNvSpPr txBox="1">
            <a:spLocks noChangeArrowheads="1"/>
          </p:cNvSpPr>
          <p:nvPr/>
        </p:nvSpPr>
        <p:spPr bwMode="auto">
          <a:xfrm rot="-5400000">
            <a:off x="2643981" y="3821907"/>
            <a:ext cx="538163"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from</a:t>
            </a:r>
          </a:p>
        </p:txBody>
      </p:sp>
      <p:sp>
        <p:nvSpPr>
          <p:cNvPr id="138260" name="Text Box 58"/>
          <p:cNvSpPr txBox="1">
            <a:spLocks noChangeArrowheads="1"/>
          </p:cNvSpPr>
          <p:nvPr/>
        </p:nvSpPr>
        <p:spPr bwMode="auto">
          <a:xfrm>
            <a:off x="3421063" y="2900363"/>
            <a:ext cx="706437"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cost to</a:t>
            </a:r>
          </a:p>
        </p:txBody>
      </p:sp>
      <p:sp>
        <p:nvSpPr>
          <p:cNvPr id="138261" name="Line 59"/>
          <p:cNvSpPr>
            <a:spLocks noChangeShapeType="1"/>
          </p:cNvSpPr>
          <p:nvPr/>
        </p:nvSpPr>
        <p:spPr bwMode="auto">
          <a:xfrm>
            <a:off x="5486400" y="3276600"/>
            <a:ext cx="0" cy="1219200"/>
          </a:xfrm>
          <a:prstGeom prst="line">
            <a:avLst/>
          </a:prstGeom>
          <a:noFill/>
          <a:ln w="9525">
            <a:solidFill>
              <a:schemeClr val="tx1"/>
            </a:solidFill>
            <a:round/>
          </a:ln>
        </p:spPr>
        <p:txBody>
          <a:bodyPr wrap="none"/>
          <a:lstStyle/>
          <a:p>
            <a:endParaRPr lang="en-US"/>
          </a:p>
        </p:txBody>
      </p:sp>
      <p:sp>
        <p:nvSpPr>
          <p:cNvPr id="138262" name="Line 60"/>
          <p:cNvSpPr>
            <a:spLocks noChangeShapeType="1"/>
          </p:cNvSpPr>
          <p:nvPr/>
        </p:nvSpPr>
        <p:spPr bwMode="auto">
          <a:xfrm>
            <a:off x="5181600" y="3505200"/>
            <a:ext cx="1371600" cy="0"/>
          </a:xfrm>
          <a:prstGeom prst="line">
            <a:avLst/>
          </a:prstGeom>
          <a:noFill/>
          <a:ln w="9525">
            <a:solidFill>
              <a:schemeClr val="tx1"/>
            </a:solidFill>
            <a:round/>
          </a:ln>
        </p:spPr>
        <p:txBody>
          <a:bodyPr wrap="none"/>
          <a:lstStyle/>
          <a:p>
            <a:endParaRPr lang="en-US"/>
          </a:p>
        </p:txBody>
      </p:sp>
      <p:sp>
        <p:nvSpPr>
          <p:cNvPr id="138263" name="Text Box 61"/>
          <p:cNvSpPr txBox="1">
            <a:spLocks noChangeArrowheads="1"/>
          </p:cNvSpPr>
          <p:nvPr/>
        </p:nvSpPr>
        <p:spPr bwMode="auto">
          <a:xfrm>
            <a:off x="5486400" y="3119438"/>
            <a:ext cx="9080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   y   z</a:t>
            </a:r>
          </a:p>
        </p:txBody>
      </p:sp>
      <p:sp>
        <p:nvSpPr>
          <p:cNvPr id="138264" name="Text Box 62"/>
          <p:cNvSpPr txBox="1">
            <a:spLocks noChangeArrowheads="1"/>
          </p:cNvSpPr>
          <p:nvPr/>
        </p:nvSpPr>
        <p:spPr bwMode="auto">
          <a:xfrm>
            <a:off x="5181600" y="35004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a:t>
            </a:r>
          </a:p>
        </p:txBody>
      </p:sp>
      <p:sp>
        <p:nvSpPr>
          <p:cNvPr id="138265" name="Text Box 63"/>
          <p:cNvSpPr txBox="1">
            <a:spLocks noChangeArrowheads="1"/>
          </p:cNvSpPr>
          <p:nvPr/>
        </p:nvSpPr>
        <p:spPr bwMode="auto">
          <a:xfrm>
            <a:off x="5181600" y="38052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y</a:t>
            </a:r>
          </a:p>
        </p:txBody>
      </p:sp>
      <p:sp>
        <p:nvSpPr>
          <p:cNvPr id="138266" name="Text Box 64"/>
          <p:cNvSpPr txBox="1">
            <a:spLocks noChangeArrowheads="1"/>
          </p:cNvSpPr>
          <p:nvPr/>
        </p:nvSpPr>
        <p:spPr bwMode="auto">
          <a:xfrm>
            <a:off x="5181600" y="41100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z</a:t>
            </a:r>
          </a:p>
        </p:txBody>
      </p:sp>
      <p:sp>
        <p:nvSpPr>
          <p:cNvPr id="138267" name="Text Box 65"/>
          <p:cNvSpPr txBox="1">
            <a:spLocks noChangeArrowheads="1"/>
          </p:cNvSpPr>
          <p:nvPr/>
        </p:nvSpPr>
        <p:spPr bwMode="auto">
          <a:xfrm>
            <a:off x="5486400" y="3500438"/>
            <a:ext cx="8826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0  2   3</a:t>
            </a:r>
          </a:p>
        </p:txBody>
      </p:sp>
      <p:sp>
        <p:nvSpPr>
          <p:cNvPr id="138268" name="Text Box 66"/>
          <p:cNvSpPr txBox="1">
            <a:spLocks noChangeArrowheads="1"/>
          </p:cNvSpPr>
          <p:nvPr/>
        </p:nvSpPr>
        <p:spPr bwMode="auto">
          <a:xfrm rot="-5400000">
            <a:off x="4820443" y="3898107"/>
            <a:ext cx="538163"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from</a:t>
            </a:r>
          </a:p>
        </p:txBody>
      </p:sp>
      <p:sp>
        <p:nvSpPr>
          <p:cNvPr id="138269" name="Text Box 67"/>
          <p:cNvSpPr txBox="1">
            <a:spLocks noChangeArrowheads="1"/>
          </p:cNvSpPr>
          <p:nvPr/>
        </p:nvSpPr>
        <p:spPr bwMode="auto">
          <a:xfrm>
            <a:off x="5597525" y="2965450"/>
            <a:ext cx="706438"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cost to</a:t>
            </a:r>
          </a:p>
        </p:txBody>
      </p:sp>
      <p:sp>
        <p:nvSpPr>
          <p:cNvPr id="138270" name="Line 68"/>
          <p:cNvSpPr>
            <a:spLocks noChangeShapeType="1"/>
          </p:cNvSpPr>
          <p:nvPr/>
        </p:nvSpPr>
        <p:spPr bwMode="auto">
          <a:xfrm>
            <a:off x="5410200" y="4953000"/>
            <a:ext cx="0" cy="1219200"/>
          </a:xfrm>
          <a:prstGeom prst="line">
            <a:avLst/>
          </a:prstGeom>
          <a:noFill/>
          <a:ln w="9525">
            <a:solidFill>
              <a:schemeClr val="tx1"/>
            </a:solidFill>
            <a:round/>
          </a:ln>
        </p:spPr>
        <p:txBody>
          <a:bodyPr wrap="none"/>
          <a:lstStyle/>
          <a:p>
            <a:endParaRPr lang="en-US"/>
          </a:p>
        </p:txBody>
      </p:sp>
      <p:sp>
        <p:nvSpPr>
          <p:cNvPr id="138271" name="Line 69"/>
          <p:cNvSpPr>
            <a:spLocks noChangeShapeType="1"/>
          </p:cNvSpPr>
          <p:nvPr/>
        </p:nvSpPr>
        <p:spPr bwMode="auto">
          <a:xfrm>
            <a:off x="5105400" y="5181600"/>
            <a:ext cx="1371600" cy="0"/>
          </a:xfrm>
          <a:prstGeom prst="line">
            <a:avLst/>
          </a:prstGeom>
          <a:noFill/>
          <a:ln w="9525">
            <a:solidFill>
              <a:schemeClr val="tx1"/>
            </a:solidFill>
            <a:round/>
          </a:ln>
        </p:spPr>
        <p:txBody>
          <a:bodyPr wrap="none"/>
          <a:lstStyle/>
          <a:p>
            <a:endParaRPr lang="en-US"/>
          </a:p>
        </p:txBody>
      </p:sp>
      <p:sp>
        <p:nvSpPr>
          <p:cNvPr id="138272" name="Text Box 70"/>
          <p:cNvSpPr txBox="1">
            <a:spLocks noChangeArrowheads="1"/>
          </p:cNvSpPr>
          <p:nvPr/>
        </p:nvSpPr>
        <p:spPr bwMode="auto">
          <a:xfrm>
            <a:off x="5410200" y="4795838"/>
            <a:ext cx="9080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   y   z</a:t>
            </a:r>
          </a:p>
        </p:txBody>
      </p:sp>
      <p:sp>
        <p:nvSpPr>
          <p:cNvPr id="138273" name="Text Box 71"/>
          <p:cNvSpPr txBox="1">
            <a:spLocks noChangeArrowheads="1"/>
          </p:cNvSpPr>
          <p:nvPr/>
        </p:nvSpPr>
        <p:spPr bwMode="auto">
          <a:xfrm>
            <a:off x="5105400" y="51768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a:t>
            </a:r>
          </a:p>
        </p:txBody>
      </p:sp>
      <p:sp>
        <p:nvSpPr>
          <p:cNvPr id="138274" name="Text Box 72"/>
          <p:cNvSpPr txBox="1">
            <a:spLocks noChangeArrowheads="1"/>
          </p:cNvSpPr>
          <p:nvPr/>
        </p:nvSpPr>
        <p:spPr bwMode="auto">
          <a:xfrm>
            <a:off x="5105400" y="54816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y</a:t>
            </a:r>
          </a:p>
        </p:txBody>
      </p:sp>
      <p:sp>
        <p:nvSpPr>
          <p:cNvPr id="138275" name="Text Box 73"/>
          <p:cNvSpPr txBox="1">
            <a:spLocks noChangeArrowheads="1"/>
          </p:cNvSpPr>
          <p:nvPr/>
        </p:nvSpPr>
        <p:spPr bwMode="auto">
          <a:xfrm>
            <a:off x="5105400" y="57864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z</a:t>
            </a:r>
          </a:p>
        </p:txBody>
      </p:sp>
      <p:sp>
        <p:nvSpPr>
          <p:cNvPr id="138276" name="Text Box 74"/>
          <p:cNvSpPr txBox="1">
            <a:spLocks noChangeArrowheads="1"/>
          </p:cNvSpPr>
          <p:nvPr/>
        </p:nvSpPr>
        <p:spPr bwMode="auto">
          <a:xfrm>
            <a:off x="5410200" y="5176838"/>
            <a:ext cx="8826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0  2   3</a:t>
            </a:r>
          </a:p>
        </p:txBody>
      </p:sp>
      <p:sp>
        <p:nvSpPr>
          <p:cNvPr id="138277" name="Text Box 75"/>
          <p:cNvSpPr txBox="1">
            <a:spLocks noChangeArrowheads="1"/>
          </p:cNvSpPr>
          <p:nvPr/>
        </p:nvSpPr>
        <p:spPr bwMode="auto">
          <a:xfrm rot="-5400000">
            <a:off x="4755357" y="5563394"/>
            <a:ext cx="538162"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from</a:t>
            </a:r>
          </a:p>
        </p:txBody>
      </p:sp>
      <p:sp>
        <p:nvSpPr>
          <p:cNvPr id="138278" name="Text Box 76"/>
          <p:cNvSpPr txBox="1">
            <a:spLocks noChangeArrowheads="1"/>
          </p:cNvSpPr>
          <p:nvPr/>
        </p:nvSpPr>
        <p:spPr bwMode="auto">
          <a:xfrm>
            <a:off x="5521325" y="4664075"/>
            <a:ext cx="706438"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cost to</a:t>
            </a:r>
          </a:p>
        </p:txBody>
      </p:sp>
      <p:sp>
        <p:nvSpPr>
          <p:cNvPr id="138279" name="Line 77"/>
          <p:cNvSpPr>
            <a:spLocks noChangeShapeType="1"/>
          </p:cNvSpPr>
          <p:nvPr/>
        </p:nvSpPr>
        <p:spPr bwMode="auto">
          <a:xfrm>
            <a:off x="3276600" y="4953000"/>
            <a:ext cx="0" cy="1219200"/>
          </a:xfrm>
          <a:prstGeom prst="line">
            <a:avLst/>
          </a:prstGeom>
          <a:noFill/>
          <a:ln w="9525">
            <a:solidFill>
              <a:schemeClr val="tx1"/>
            </a:solidFill>
            <a:round/>
          </a:ln>
        </p:spPr>
        <p:txBody>
          <a:bodyPr wrap="none"/>
          <a:lstStyle/>
          <a:p>
            <a:endParaRPr lang="en-US"/>
          </a:p>
        </p:txBody>
      </p:sp>
      <p:sp>
        <p:nvSpPr>
          <p:cNvPr id="138280" name="Line 78"/>
          <p:cNvSpPr>
            <a:spLocks noChangeShapeType="1"/>
          </p:cNvSpPr>
          <p:nvPr/>
        </p:nvSpPr>
        <p:spPr bwMode="auto">
          <a:xfrm>
            <a:off x="2971800" y="5181600"/>
            <a:ext cx="1371600" cy="0"/>
          </a:xfrm>
          <a:prstGeom prst="line">
            <a:avLst/>
          </a:prstGeom>
          <a:noFill/>
          <a:ln w="9525">
            <a:solidFill>
              <a:schemeClr val="tx1"/>
            </a:solidFill>
            <a:round/>
          </a:ln>
        </p:spPr>
        <p:txBody>
          <a:bodyPr wrap="none"/>
          <a:lstStyle/>
          <a:p>
            <a:endParaRPr lang="en-US"/>
          </a:p>
        </p:txBody>
      </p:sp>
      <p:sp>
        <p:nvSpPr>
          <p:cNvPr id="138281" name="Text Box 79"/>
          <p:cNvSpPr txBox="1">
            <a:spLocks noChangeArrowheads="1"/>
          </p:cNvSpPr>
          <p:nvPr/>
        </p:nvSpPr>
        <p:spPr bwMode="auto">
          <a:xfrm>
            <a:off x="3276600" y="4795838"/>
            <a:ext cx="9080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   y   z</a:t>
            </a:r>
          </a:p>
        </p:txBody>
      </p:sp>
      <p:sp>
        <p:nvSpPr>
          <p:cNvPr id="138282" name="Text Box 80"/>
          <p:cNvSpPr txBox="1">
            <a:spLocks noChangeArrowheads="1"/>
          </p:cNvSpPr>
          <p:nvPr/>
        </p:nvSpPr>
        <p:spPr bwMode="auto">
          <a:xfrm>
            <a:off x="2971800" y="51768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a:t>
            </a:r>
          </a:p>
        </p:txBody>
      </p:sp>
      <p:sp>
        <p:nvSpPr>
          <p:cNvPr id="138283" name="Text Box 81"/>
          <p:cNvSpPr txBox="1">
            <a:spLocks noChangeArrowheads="1"/>
          </p:cNvSpPr>
          <p:nvPr/>
        </p:nvSpPr>
        <p:spPr bwMode="auto">
          <a:xfrm>
            <a:off x="2971800" y="54816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y</a:t>
            </a:r>
          </a:p>
        </p:txBody>
      </p:sp>
      <p:sp>
        <p:nvSpPr>
          <p:cNvPr id="138284" name="Text Box 82"/>
          <p:cNvSpPr txBox="1">
            <a:spLocks noChangeArrowheads="1"/>
          </p:cNvSpPr>
          <p:nvPr/>
        </p:nvSpPr>
        <p:spPr bwMode="auto">
          <a:xfrm>
            <a:off x="2971800" y="57864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z</a:t>
            </a:r>
          </a:p>
        </p:txBody>
      </p:sp>
      <p:sp>
        <p:nvSpPr>
          <p:cNvPr id="138285" name="Text Box 83"/>
          <p:cNvSpPr txBox="1">
            <a:spLocks noChangeArrowheads="1"/>
          </p:cNvSpPr>
          <p:nvPr/>
        </p:nvSpPr>
        <p:spPr bwMode="auto">
          <a:xfrm>
            <a:off x="3276600" y="5176838"/>
            <a:ext cx="8826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0  2   7</a:t>
            </a:r>
          </a:p>
        </p:txBody>
      </p:sp>
      <p:sp>
        <p:nvSpPr>
          <p:cNvPr id="138286" name="Text Box 84"/>
          <p:cNvSpPr txBox="1">
            <a:spLocks noChangeArrowheads="1"/>
          </p:cNvSpPr>
          <p:nvPr/>
        </p:nvSpPr>
        <p:spPr bwMode="auto">
          <a:xfrm rot="-5400000">
            <a:off x="2643982" y="5531644"/>
            <a:ext cx="538162"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from</a:t>
            </a:r>
          </a:p>
        </p:txBody>
      </p:sp>
      <p:sp>
        <p:nvSpPr>
          <p:cNvPr id="138287" name="Text Box 85"/>
          <p:cNvSpPr txBox="1">
            <a:spLocks noChangeArrowheads="1"/>
          </p:cNvSpPr>
          <p:nvPr/>
        </p:nvSpPr>
        <p:spPr bwMode="auto">
          <a:xfrm>
            <a:off x="3409950" y="4664075"/>
            <a:ext cx="706438"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cost to</a:t>
            </a:r>
          </a:p>
        </p:txBody>
      </p:sp>
      <p:sp>
        <p:nvSpPr>
          <p:cNvPr id="138288" name="Text Box 103"/>
          <p:cNvSpPr txBox="1">
            <a:spLocks noChangeArrowheads="1"/>
          </p:cNvSpPr>
          <p:nvPr/>
        </p:nvSpPr>
        <p:spPr bwMode="auto">
          <a:xfrm>
            <a:off x="3276600" y="3771900"/>
            <a:ext cx="8826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2  0   1</a:t>
            </a:r>
          </a:p>
        </p:txBody>
      </p:sp>
      <p:sp>
        <p:nvSpPr>
          <p:cNvPr id="138289" name="Text Box 104"/>
          <p:cNvSpPr txBox="1">
            <a:spLocks noChangeArrowheads="1"/>
          </p:cNvSpPr>
          <p:nvPr/>
        </p:nvSpPr>
        <p:spPr bwMode="auto">
          <a:xfrm>
            <a:off x="3276600" y="4110038"/>
            <a:ext cx="946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7   1   0</a:t>
            </a:r>
          </a:p>
        </p:txBody>
      </p:sp>
      <p:sp>
        <p:nvSpPr>
          <p:cNvPr id="138290" name="Text Box 105"/>
          <p:cNvSpPr txBox="1">
            <a:spLocks noChangeArrowheads="1"/>
          </p:cNvSpPr>
          <p:nvPr/>
        </p:nvSpPr>
        <p:spPr bwMode="auto">
          <a:xfrm>
            <a:off x="3276600" y="5557838"/>
            <a:ext cx="8826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2  0   1</a:t>
            </a:r>
          </a:p>
        </p:txBody>
      </p:sp>
      <p:sp>
        <p:nvSpPr>
          <p:cNvPr id="138291" name="Text Box 106"/>
          <p:cNvSpPr txBox="1">
            <a:spLocks noChangeArrowheads="1"/>
          </p:cNvSpPr>
          <p:nvPr/>
        </p:nvSpPr>
        <p:spPr bwMode="auto">
          <a:xfrm>
            <a:off x="3276600" y="5862638"/>
            <a:ext cx="8826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3  1   0</a:t>
            </a:r>
          </a:p>
        </p:txBody>
      </p:sp>
      <p:sp>
        <p:nvSpPr>
          <p:cNvPr id="138292" name="Text Box 107"/>
          <p:cNvSpPr txBox="1">
            <a:spLocks noChangeArrowheads="1"/>
          </p:cNvSpPr>
          <p:nvPr/>
        </p:nvSpPr>
        <p:spPr bwMode="auto">
          <a:xfrm>
            <a:off x="5486400" y="2095500"/>
            <a:ext cx="9461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2   0   1</a:t>
            </a:r>
          </a:p>
        </p:txBody>
      </p:sp>
      <p:sp>
        <p:nvSpPr>
          <p:cNvPr id="138293" name="Text Box 108"/>
          <p:cNvSpPr txBox="1">
            <a:spLocks noChangeArrowheads="1"/>
          </p:cNvSpPr>
          <p:nvPr/>
        </p:nvSpPr>
        <p:spPr bwMode="auto">
          <a:xfrm>
            <a:off x="5486400" y="2433638"/>
            <a:ext cx="8826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3  1   0</a:t>
            </a:r>
          </a:p>
        </p:txBody>
      </p:sp>
      <p:sp>
        <p:nvSpPr>
          <p:cNvPr id="138294" name="Text Box 109"/>
          <p:cNvSpPr txBox="1">
            <a:spLocks noChangeArrowheads="1"/>
          </p:cNvSpPr>
          <p:nvPr/>
        </p:nvSpPr>
        <p:spPr bwMode="auto">
          <a:xfrm>
            <a:off x="5486400" y="3825875"/>
            <a:ext cx="8826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2  0   1</a:t>
            </a:r>
          </a:p>
        </p:txBody>
      </p:sp>
      <p:sp>
        <p:nvSpPr>
          <p:cNvPr id="138295" name="Text Box 110"/>
          <p:cNvSpPr txBox="1">
            <a:spLocks noChangeArrowheads="1"/>
          </p:cNvSpPr>
          <p:nvPr/>
        </p:nvSpPr>
        <p:spPr bwMode="auto">
          <a:xfrm>
            <a:off x="5410200" y="5862638"/>
            <a:ext cx="8826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3  1   0</a:t>
            </a:r>
          </a:p>
        </p:txBody>
      </p:sp>
      <p:sp>
        <p:nvSpPr>
          <p:cNvPr id="138296" name="Text Box 111"/>
          <p:cNvSpPr txBox="1">
            <a:spLocks noChangeArrowheads="1"/>
          </p:cNvSpPr>
          <p:nvPr/>
        </p:nvSpPr>
        <p:spPr bwMode="auto">
          <a:xfrm>
            <a:off x="5410200" y="5481638"/>
            <a:ext cx="8826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2  0   1</a:t>
            </a:r>
          </a:p>
        </p:txBody>
      </p:sp>
      <p:sp>
        <p:nvSpPr>
          <p:cNvPr id="138297" name="Text Box 112"/>
          <p:cNvSpPr txBox="1">
            <a:spLocks noChangeArrowheads="1"/>
          </p:cNvSpPr>
          <p:nvPr/>
        </p:nvSpPr>
        <p:spPr bwMode="auto">
          <a:xfrm>
            <a:off x="5486400" y="4110038"/>
            <a:ext cx="8826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3  1   0</a:t>
            </a:r>
          </a:p>
        </p:txBody>
      </p:sp>
      <p:sp>
        <p:nvSpPr>
          <p:cNvPr id="138298" name="Line 113"/>
          <p:cNvSpPr>
            <a:spLocks noChangeShapeType="1"/>
          </p:cNvSpPr>
          <p:nvPr/>
        </p:nvSpPr>
        <p:spPr bwMode="auto">
          <a:xfrm>
            <a:off x="2209800" y="1981200"/>
            <a:ext cx="685800" cy="1524000"/>
          </a:xfrm>
          <a:prstGeom prst="line">
            <a:avLst/>
          </a:prstGeom>
          <a:noFill/>
          <a:ln w="9525">
            <a:solidFill>
              <a:schemeClr val="tx1"/>
            </a:solidFill>
            <a:round/>
            <a:tailEnd type="triangle" w="med" len="med"/>
          </a:ln>
        </p:spPr>
        <p:txBody>
          <a:bodyPr wrap="none"/>
          <a:lstStyle/>
          <a:p>
            <a:endParaRPr lang="en-US"/>
          </a:p>
        </p:txBody>
      </p:sp>
      <p:sp>
        <p:nvSpPr>
          <p:cNvPr id="138299" name="Line 114"/>
          <p:cNvSpPr>
            <a:spLocks noChangeShapeType="1"/>
          </p:cNvSpPr>
          <p:nvPr/>
        </p:nvSpPr>
        <p:spPr bwMode="auto">
          <a:xfrm>
            <a:off x="2133600" y="2057400"/>
            <a:ext cx="685800" cy="3124200"/>
          </a:xfrm>
          <a:prstGeom prst="line">
            <a:avLst/>
          </a:prstGeom>
          <a:noFill/>
          <a:ln w="9525">
            <a:solidFill>
              <a:schemeClr val="tx1"/>
            </a:solidFill>
            <a:round/>
            <a:tailEnd type="triangle" w="med" len="med"/>
          </a:ln>
        </p:spPr>
        <p:txBody>
          <a:bodyPr wrap="none"/>
          <a:lstStyle/>
          <a:p>
            <a:endParaRPr lang="en-US"/>
          </a:p>
        </p:txBody>
      </p:sp>
      <p:sp>
        <p:nvSpPr>
          <p:cNvPr id="138300" name="Line 116"/>
          <p:cNvSpPr>
            <a:spLocks noChangeShapeType="1"/>
          </p:cNvSpPr>
          <p:nvPr/>
        </p:nvSpPr>
        <p:spPr bwMode="auto">
          <a:xfrm>
            <a:off x="2133600" y="4114800"/>
            <a:ext cx="609600" cy="1143000"/>
          </a:xfrm>
          <a:prstGeom prst="line">
            <a:avLst/>
          </a:prstGeom>
          <a:noFill/>
          <a:ln w="9525">
            <a:solidFill>
              <a:schemeClr val="tx1"/>
            </a:solidFill>
            <a:round/>
            <a:tailEnd type="triangle" w="med" len="med"/>
          </a:ln>
        </p:spPr>
        <p:txBody>
          <a:bodyPr wrap="none"/>
          <a:lstStyle/>
          <a:p>
            <a:endParaRPr lang="en-US"/>
          </a:p>
        </p:txBody>
      </p:sp>
      <p:sp>
        <p:nvSpPr>
          <p:cNvPr id="138301" name="Line 118"/>
          <p:cNvSpPr>
            <a:spLocks noChangeShapeType="1"/>
          </p:cNvSpPr>
          <p:nvPr/>
        </p:nvSpPr>
        <p:spPr bwMode="auto">
          <a:xfrm flipV="1">
            <a:off x="2209800" y="4343400"/>
            <a:ext cx="762000" cy="1752600"/>
          </a:xfrm>
          <a:prstGeom prst="line">
            <a:avLst/>
          </a:prstGeom>
          <a:noFill/>
          <a:ln w="9525">
            <a:solidFill>
              <a:schemeClr val="tx1"/>
            </a:solidFill>
            <a:round/>
            <a:tailEnd type="triangle" w="med" len="med"/>
          </a:ln>
        </p:spPr>
        <p:txBody>
          <a:bodyPr wrap="none"/>
          <a:lstStyle/>
          <a:p>
            <a:endParaRPr lang="en-US"/>
          </a:p>
        </p:txBody>
      </p:sp>
      <p:sp>
        <p:nvSpPr>
          <p:cNvPr id="138302" name="Line 119"/>
          <p:cNvSpPr>
            <a:spLocks noChangeShapeType="1"/>
          </p:cNvSpPr>
          <p:nvPr/>
        </p:nvSpPr>
        <p:spPr bwMode="auto">
          <a:xfrm>
            <a:off x="4267200" y="1981200"/>
            <a:ext cx="762000" cy="1600200"/>
          </a:xfrm>
          <a:prstGeom prst="line">
            <a:avLst/>
          </a:prstGeom>
          <a:noFill/>
          <a:ln w="9525">
            <a:solidFill>
              <a:schemeClr val="tx1"/>
            </a:solidFill>
            <a:round/>
            <a:tailEnd type="triangle" w="med" len="med"/>
          </a:ln>
        </p:spPr>
        <p:txBody>
          <a:bodyPr wrap="none"/>
          <a:lstStyle/>
          <a:p>
            <a:endParaRPr lang="en-US"/>
          </a:p>
        </p:txBody>
      </p:sp>
      <p:sp>
        <p:nvSpPr>
          <p:cNvPr id="138303" name="Line 120"/>
          <p:cNvSpPr>
            <a:spLocks noChangeShapeType="1"/>
          </p:cNvSpPr>
          <p:nvPr/>
        </p:nvSpPr>
        <p:spPr bwMode="auto">
          <a:xfrm>
            <a:off x="4191000" y="2057400"/>
            <a:ext cx="838200" cy="2971800"/>
          </a:xfrm>
          <a:prstGeom prst="line">
            <a:avLst/>
          </a:prstGeom>
          <a:noFill/>
          <a:ln w="9525">
            <a:solidFill>
              <a:schemeClr val="tx1"/>
            </a:solidFill>
            <a:round/>
            <a:tailEnd type="triangle" w="med" len="med"/>
          </a:ln>
        </p:spPr>
        <p:txBody>
          <a:bodyPr wrap="none"/>
          <a:lstStyle/>
          <a:p>
            <a:endParaRPr lang="en-US"/>
          </a:p>
        </p:txBody>
      </p:sp>
      <p:sp>
        <p:nvSpPr>
          <p:cNvPr id="138304" name="Line 121"/>
          <p:cNvSpPr>
            <a:spLocks noChangeShapeType="1"/>
          </p:cNvSpPr>
          <p:nvPr/>
        </p:nvSpPr>
        <p:spPr bwMode="auto">
          <a:xfrm flipV="1">
            <a:off x="4114800" y="2743200"/>
            <a:ext cx="1143000" cy="3200400"/>
          </a:xfrm>
          <a:prstGeom prst="line">
            <a:avLst/>
          </a:prstGeom>
          <a:noFill/>
          <a:ln w="9525">
            <a:solidFill>
              <a:schemeClr val="tx1"/>
            </a:solidFill>
            <a:round/>
            <a:tailEnd type="triangle" w="med" len="med"/>
          </a:ln>
        </p:spPr>
        <p:txBody>
          <a:bodyPr wrap="none"/>
          <a:lstStyle/>
          <a:p>
            <a:endParaRPr lang="en-US"/>
          </a:p>
        </p:txBody>
      </p:sp>
      <p:sp>
        <p:nvSpPr>
          <p:cNvPr id="138305" name="Line 122"/>
          <p:cNvSpPr>
            <a:spLocks noChangeShapeType="1"/>
          </p:cNvSpPr>
          <p:nvPr/>
        </p:nvSpPr>
        <p:spPr bwMode="auto">
          <a:xfrm flipV="1">
            <a:off x="4114800" y="4419600"/>
            <a:ext cx="1066800" cy="1676400"/>
          </a:xfrm>
          <a:prstGeom prst="line">
            <a:avLst/>
          </a:prstGeom>
          <a:noFill/>
          <a:ln w="9525">
            <a:solidFill>
              <a:schemeClr val="tx1"/>
            </a:solidFill>
            <a:round/>
            <a:tailEnd type="triangle" w="med" len="med"/>
          </a:ln>
        </p:spPr>
        <p:txBody>
          <a:bodyPr wrap="none"/>
          <a:lstStyle/>
          <a:p>
            <a:endParaRPr lang="en-US"/>
          </a:p>
        </p:txBody>
      </p:sp>
      <p:sp>
        <p:nvSpPr>
          <p:cNvPr id="138306" name="Line 123"/>
          <p:cNvSpPr>
            <a:spLocks noChangeShapeType="1"/>
          </p:cNvSpPr>
          <p:nvPr/>
        </p:nvSpPr>
        <p:spPr bwMode="auto">
          <a:xfrm>
            <a:off x="609600" y="6345238"/>
            <a:ext cx="5410200" cy="0"/>
          </a:xfrm>
          <a:prstGeom prst="line">
            <a:avLst/>
          </a:prstGeom>
          <a:noFill/>
          <a:ln w="9525">
            <a:solidFill>
              <a:schemeClr val="tx1"/>
            </a:solidFill>
            <a:prstDash val="sysDot"/>
            <a:round/>
            <a:tailEnd type="triangle" w="med" len="med"/>
          </a:ln>
        </p:spPr>
        <p:txBody>
          <a:bodyPr wrap="none"/>
          <a:lstStyle/>
          <a:p>
            <a:endParaRPr lang="en-US"/>
          </a:p>
        </p:txBody>
      </p:sp>
      <p:sp>
        <p:nvSpPr>
          <p:cNvPr id="138307" name="Text Box 124"/>
          <p:cNvSpPr txBox="1">
            <a:spLocks noChangeArrowheads="1"/>
          </p:cNvSpPr>
          <p:nvPr/>
        </p:nvSpPr>
        <p:spPr bwMode="auto">
          <a:xfrm>
            <a:off x="6069013" y="6137275"/>
            <a:ext cx="6159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time</a:t>
            </a:r>
          </a:p>
        </p:txBody>
      </p:sp>
      <p:sp>
        <p:nvSpPr>
          <p:cNvPr id="138308" name="Oval 167"/>
          <p:cNvSpPr>
            <a:spLocks noChangeArrowheads="1"/>
          </p:cNvSpPr>
          <p:nvPr/>
        </p:nvSpPr>
        <p:spPr bwMode="auto">
          <a:xfrm>
            <a:off x="3200400" y="5867400"/>
            <a:ext cx="1066800" cy="381000"/>
          </a:xfrm>
          <a:prstGeom prst="ellipse">
            <a:avLst/>
          </a:prstGeom>
          <a:noFill/>
          <a:ln w="9525">
            <a:solidFill>
              <a:srgbClr val="FF0000"/>
            </a:solidFill>
            <a:round/>
          </a:ln>
        </p:spPr>
        <p:txBody>
          <a:bodyPr wrap="none" anchor="ctr"/>
          <a:lstStyle/>
          <a:p>
            <a:endParaRPr lang="en-US"/>
          </a:p>
        </p:txBody>
      </p:sp>
      <p:sp>
        <p:nvSpPr>
          <p:cNvPr id="138309" name="Line 174"/>
          <p:cNvSpPr>
            <a:spLocks noChangeShapeType="1"/>
          </p:cNvSpPr>
          <p:nvPr/>
        </p:nvSpPr>
        <p:spPr bwMode="auto">
          <a:xfrm>
            <a:off x="1219200" y="1447800"/>
            <a:ext cx="0" cy="1219200"/>
          </a:xfrm>
          <a:prstGeom prst="line">
            <a:avLst/>
          </a:prstGeom>
          <a:noFill/>
          <a:ln w="9525">
            <a:solidFill>
              <a:schemeClr val="tx1"/>
            </a:solidFill>
            <a:round/>
          </a:ln>
        </p:spPr>
        <p:txBody>
          <a:bodyPr wrap="none"/>
          <a:lstStyle/>
          <a:p>
            <a:endParaRPr lang="en-US"/>
          </a:p>
        </p:txBody>
      </p:sp>
      <p:sp>
        <p:nvSpPr>
          <p:cNvPr id="138310" name="Line 175"/>
          <p:cNvSpPr>
            <a:spLocks noChangeShapeType="1"/>
          </p:cNvSpPr>
          <p:nvPr/>
        </p:nvSpPr>
        <p:spPr bwMode="auto">
          <a:xfrm>
            <a:off x="914400" y="1676400"/>
            <a:ext cx="1371600" cy="0"/>
          </a:xfrm>
          <a:prstGeom prst="line">
            <a:avLst/>
          </a:prstGeom>
          <a:noFill/>
          <a:ln w="9525">
            <a:solidFill>
              <a:schemeClr val="tx1"/>
            </a:solidFill>
            <a:round/>
          </a:ln>
        </p:spPr>
        <p:txBody>
          <a:bodyPr wrap="none"/>
          <a:lstStyle/>
          <a:p>
            <a:endParaRPr lang="en-US"/>
          </a:p>
        </p:txBody>
      </p:sp>
      <p:sp>
        <p:nvSpPr>
          <p:cNvPr id="138311" name="Text Box 176"/>
          <p:cNvSpPr txBox="1">
            <a:spLocks noChangeArrowheads="1"/>
          </p:cNvSpPr>
          <p:nvPr/>
        </p:nvSpPr>
        <p:spPr bwMode="auto">
          <a:xfrm>
            <a:off x="1219200" y="1290638"/>
            <a:ext cx="9080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   y   z</a:t>
            </a:r>
          </a:p>
        </p:txBody>
      </p:sp>
      <p:sp>
        <p:nvSpPr>
          <p:cNvPr id="138312" name="Text Box 177"/>
          <p:cNvSpPr txBox="1">
            <a:spLocks noChangeArrowheads="1"/>
          </p:cNvSpPr>
          <p:nvPr/>
        </p:nvSpPr>
        <p:spPr bwMode="auto">
          <a:xfrm>
            <a:off x="914400" y="16716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a:t>
            </a:r>
          </a:p>
        </p:txBody>
      </p:sp>
      <p:sp>
        <p:nvSpPr>
          <p:cNvPr id="138313" name="Text Box 178"/>
          <p:cNvSpPr txBox="1">
            <a:spLocks noChangeArrowheads="1"/>
          </p:cNvSpPr>
          <p:nvPr/>
        </p:nvSpPr>
        <p:spPr bwMode="auto">
          <a:xfrm>
            <a:off x="914400" y="19764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y</a:t>
            </a:r>
          </a:p>
        </p:txBody>
      </p:sp>
      <p:sp>
        <p:nvSpPr>
          <p:cNvPr id="138314" name="Text Box 179"/>
          <p:cNvSpPr txBox="1">
            <a:spLocks noChangeArrowheads="1"/>
          </p:cNvSpPr>
          <p:nvPr/>
        </p:nvSpPr>
        <p:spPr bwMode="auto">
          <a:xfrm>
            <a:off x="914400" y="22812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z</a:t>
            </a:r>
          </a:p>
        </p:txBody>
      </p:sp>
      <p:sp>
        <p:nvSpPr>
          <p:cNvPr id="138315" name="Text Box 180"/>
          <p:cNvSpPr txBox="1">
            <a:spLocks noChangeArrowheads="1"/>
          </p:cNvSpPr>
          <p:nvPr/>
        </p:nvSpPr>
        <p:spPr bwMode="auto">
          <a:xfrm>
            <a:off x="1219200" y="1671638"/>
            <a:ext cx="8826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0  2   7</a:t>
            </a:r>
          </a:p>
        </p:txBody>
      </p:sp>
      <p:sp>
        <p:nvSpPr>
          <p:cNvPr id="138316" name="Text Box 181"/>
          <p:cNvSpPr txBox="1">
            <a:spLocks noChangeArrowheads="1"/>
          </p:cNvSpPr>
          <p:nvPr/>
        </p:nvSpPr>
        <p:spPr bwMode="auto">
          <a:xfrm>
            <a:off x="1219200" y="20526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8317" name="Text Box 182"/>
          <p:cNvSpPr txBox="1">
            <a:spLocks noChangeArrowheads="1"/>
          </p:cNvSpPr>
          <p:nvPr/>
        </p:nvSpPr>
        <p:spPr bwMode="auto">
          <a:xfrm>
            <a:off x="1447800" y="20526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8318" name="Text Box 183"/>
          <p:cNvSpPr txBox="1">
            <a:spLocks noChangeArrowheads="1"/>
          </p:cNvSpPr>
          <p:nvPr/>
        </p:nvSpPr>
        <p:spPr bwMode="auto">
          <a:xfrm>
            <a:off x="1828800" y="20526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8319" name="Text Box 184"/>
          <p:cNvSpPr txBox="1">
            <a:spLocks noChangeArrowheads="1"/>
          </p:cNvSpPr>
          <p:nvPr/>
        </p:nvSpPr>
        <p:spPr bwMode="auto">
          <a:xfrm>
            <a:off x="1219200" y="23574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8320" name="Text Box 185"/>
          <p:cNvSpPr txBox="1">
            <a:spLocks noChangeArrowheads="1"/>
          </p:cNvSpPr>
          <p:nvPr/>
        </p:nvSpPr>
        <p:spPr bwMode="auto">
          <a:xfrm>
            <a:off x="1447800" y="23574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8321" name="Text Box 186"/>
          <p:cNvSpPr txBox="1">
            <a:spLocks noChangeArrowheads="1"/>
          </p:cNvSpPr>
          <p:nvPr/>
        </p:nvSpPr>
        <p:spPr bwMode="auto">
          <a:xfrm>
            <a:off x="1828800" y="23574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8322" name="Text Box 187"/>
          <p:cNvSpPr txBox="1">
            <a:spLocks noChangeArrowheads="1"/>
          </p:cNvSpPr>
          <p:nvPr/>
        </p:nvSpPr>
        <p:spPr bwMode="auto">
          <a:xfrm rot="-5400000">
            <a:off x="2650332" y="2026444"/>
            <a:ext cx="538162"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from</a:t>
            </a:r>
          </a:p>
        </p:txBody>
      </p:sp>
      <p:sp>
        <p:nvSpPr>
          <p:cNvPr id="138323" name="Text Box 188"/>
          <p:cNvSpPr txBox="1">
            <a:spLocks noChangeArrowheads="1"/>
          </p:cNvSpPr>
          <p:nvPr/>
        </p:nvSpPr>
        <p:spPr bwMode="auto">
          <a:xfrm>
            <a:off x="1352550" y="1158875"/>
            <a:ext cx="706438"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cost to</a:t>
            </a:r>
          </a:p>
        </p:txBody>
      </p:sp>
      <p:sp>
        <p:nvSpPr>
          <p:cNvPr id="138324" name="Text Box 189"/>
          <p:cNvSpPr txBox="1">
            <a:spLocks noChangeArrowheads="1"/>
          </p:cNvSpPr>
          <p:nvPr/>
        </p:nvSpPr>
        <p:spPr bwMode="auto">
          <a:xfrm rot="-5400000">
            <a:off x="518319" y="3810794"/>
            <a:ext cx="538162"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a:t>from</a:t>
            </a:r>
          </a:p>
        </p:txBody>
      </p:sp>
      <p:sp>
        <p:nvSpPr>
          <p:cNvPr id="138325" name="Text Box 190"/>
          <p:cNvSpPr txBox="1">
            <a:spLocks noChangeArrowheads="1"/>
          </p:cNvSpPr>
          <p:nvPr/>
        </p:nvSpPr>
        <p:spPr bwMode="auto">
          <a:xfrm rot="-5400000">
            <a:off x="518318" y="5618957"/>
            <a:ext cx="538163"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from</a:t>
            </a:r>
          </a:p>
        </p:txBody>
      </p:sp>
      <p:sp>
        <p:nvSpPr>
          <p:cNvPr id="138326" name="Line 191"/>
          <p:cNvSpPr>
            <a:spLocks noChangeShapeType="1"/>
          </p:cNvSpPr>
          <p:nvPr/>
        </p:nvSpPr>
        <p:spPr bwMode="auto">
          <a:xfrm>
            <a:off x="3276600" y="1447800"/>
            <a:ext cx="0" cy="1219200"/>
          </a:xfrm>
          <a:prstGeom prst="line">
            <a:avLst/>
          </a:prstGeom>
          <a:noFill/>
          <a:ln w="9525">
            <a:solidFill>
              <a:schemeClr val="tx1"/>
            </a:solidFill>
            <a:round/>
          </a:ln>
        </p:spPr>
        <p:txBody>
          <a:bodyPr wrap="none"/>
          <a:lstStyle/>
          <a:p>
            <a:endParaRPr lang="en-US"/>
          </a:p>
        </p:txBody>
      </p:sp>
      <p:sp>
        <p:nvSpPr>
          <p:cNvPr id="138327" name="Line 192"/>
          <p:cNvSpPr>
            <a:spLocks noChangeShapeType="1"/>
          </p:cNvSpPr>
          <p:nvPr/>
        </p:nvSpPr>
        <p:spPr bwMode="auto">
          <a:xfrm>
            <a:off x="2971800" y="1676400"/>
            <a:ext cx="1371600" cy="0"/>
          </a:xfrm>
          <a:prstGeom prst="line">
            <a:avLst/>
          </a:prstGeom>
          <a:noFill/>
          <a:ln w="9525">
            <a:solidFill>
              <a:schemeClr val="tx1"/>
            </a:solidFill>
            <a:round/>
          </a:ln>
        </p:spPr>
        <p:txBody>
          <a:bodyPr wrap="none"/>
          <a:lstStyle/>
          <a:p>
            <a:endParaRPr lang="en-US"/>
          </a:p>
        </p:txBody>
      </p:sp>
      <p:sp>
        <p:nvSpPr>
          <p:cNvPr id="138328" name="Text Box 193"/>
          <p:cNvSpPr txBox="1">
            <a:spLocks noChangeArrowheads="1"/>
          </p:cNvSpPr>
          <p:nvPr/>
        </p:nvSpPr>
        <p:spPr bwMode="auto">
          <a:xfrm>
            <a:off x="3276600" y="1290638"/>
            <a:ext cx="9080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   y   z</a:t>
            </a:r>
          </a:p>
        </p:txBody>
      </p:sp>
      <p:sp>
        <p:nvSpPr>
          <p:cNvPr id="138329" name="Text Box 194"/>
          <p:cNvSpPr txBox="1">
            <a:spLocks noChangeArrowheads="1"/>
          </p:cNvSpPr>
          <p:nvPr/>
        </p:nvSpPr>
        <p:spPr bwMode="auto">
          <a:xfrm>
            <a:off x="2971800" y="16716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a:t>
            </a:r>
          </a:p>
        </p:txBody>
      </p:sp>
      <p:sp>
        <p:nvSpPr>
          <p:cNvPr id="138330" name="Text Box 195"/>
          <p:cNvSpPr txBox="1">
            <a:spLocks noChangeArrowheads="1"/>
          </p:cNvSpPr>
          <p:nvPr/>
        </p:nvSpPr>
        <p:spPr bwMode="auto">
          <a:xfrm>
            <a:off x="2971800" y="19764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y</a:t>
            </a:r>
          </a:p>
        </p:txBody>
      </p:sp>
      <p:sp>
        <p:nvSpPr>
          <p:cNvPr id="138331" name="Text Box 196"/>
          <p:cNvSpPr txBox="1">
            <a:spLocks noChangeArrowheads="1"/>
          </p:cNvSpPr>
          <p:nvPr/>
        </p:nvSpPr>
        <p:spPr bwMode="auto">
          <a:xfrm>
            <a:off x="2971800" y="22812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z</a:t>
            </a:r>
          </a:p>
        </p:txBody>
      </p:sp>
      <p:sp>
        <p:nvSpPr>
          <p:cNvPr id="138332" name="Text Box 197"/>
          <p:cNvSpPr txBox="1">
            <a:spLocks noChangeArrowheads="1"/>
          </p:cNvSpPr>
          <p:nvPr/>
        </p:nvSpPr>
        <p:spPr bwMode="auto">
          <a:xfrm>
            <a:off x="3297238" y="1671638"/>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0</a:t>
            </a:r>
          </a:p>
        </p:txBody>
      </p:sp>
      <p:sp>
        <p:nvSpPr>
          <p:cNvPr id="138333" name="Line 198"/>
          <p:cNvSpPr>
            <a:spLocks noChangeShapeType="1"/>
          </p:cNvSpPr>
          <p:nvPr/>
        </p:nvSpPr>
        <p:spPr bwMode="auto">
          <a:xfrm>
            <a:off x="1219200" y="3200400"/>
            <a:ext cx="0" cy="1219200"/>
          </a:xfrm>
          <a:prstGeom prst="line">
            <a:avLst/>
          </a:prstGeom>
          <a:noFill/>
          <a:ln w="9525">
            <a:solidFill>
              <a:schemeClr val="tx1"/>
            </a:solidFill>
            <a:round/>
          </a:ln>
        </p:spPr>
        <p:txBody>
          <a:bodyPr wrap="none"/>
          <a:lstStyle/>
          <a:p>
            <a:endParaRPr lang="en-US"/>
          </a:p>
        </p:txBody>
      </p:sp>
      <p:sp>
        <p:nvSpPr>
          <p:cNvPr id="138334" name="Line 199"/>
          <p:cNvSpPr>
            <a:spLocks noChangeShapeType="1"/>
          </p:cNvSpPr>
          <p:nvPr/>
        </p:nvSpPr>
        <p:spPr bwMode="auto">
          <a:xfrm>
            <a:off x="914400" y="3429000"/>
            <a:ext cx="1371600" cy="0"/>
          </a:xfrm>
          <a:prstGeom prst="line">
            <a:avLst/>
          </a:prstGeom>
          <a:noFill/>
          <a:ln w="9525">
            <a:solidFill>
              <a:schemeClr val="tx1"/>
            </a:solidFill>
            <a:round/>
          </a:ln>
        </p:spPr>
        <p:txBody>
          <a:bodyPr wrap="none"/>
          <a:lstStyle/>
          <a:p>
            <a:endParaRPr lang="en-US"/>
          </a:p>
        </p:txBody>
      </p:sp>
      <p:sp>
        <p:nvSpPr>
          <p:cNvPr id="138335" name="Text Box 200"/>
          <p:cNvSpPr txBox="1">
            <a:spLocks noChangeArrowheads="1"/>
          </p:cNvSpPr>
          <p:nvPr/>
        </p:nvSpPr>
        <p:spPr bwMode="auto">
          <a:xfrm>
            <a:off x="1219200" y="3043238"/>
            <a:ext cx="9080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   y   z</a:t>
            </a:r>
          </a:p>
        </p:txBody>
      </p:sp>
      <p:sp>
        <p:nvSpPr>
          <p:cNvPr id="138336" name="Text Box 201"/>
          <p:cNvSpPr txBox="1">
            <a:spLocks noChangeArrowheads="1"/>
          </p:cNvSpPr>
          <p:nvPr/>
        </p:nvSpPr>
        <p:spPr bwMode="auto">
          <a:xfrm>
            <a:off x="914400" y="34242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a:t>
            </a:r>
          </a:p>
        </p:txBody>
      </p:sp>
      <p:sp>
        <p:nvSpPr>
          <p:cNvPr id="138337" name="Text Box 202"/>
          <p:cNvSpPr txBox="1">
            <a:spLocks noChangeArrowheads="1"/>
          </p:cNvSpPr>
          <p:nvPr/>
        </p:nvSpPr>
        <p:spPr bwMode="auto">
          <a:xfrm>
            <a:off x="914400" y="37290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y</a:t>
            </a:r>
          </a:p>
        </p:txBody>
      </p:sp>
      <p:sp>
        <p:nvSpPr>
          <p:cNvPr id="138338" name="Text Box 203"/>
          <p:cNvSpPr txBox="1">
            <a:spLocks noChangeArrowheads="1"/>
          </p:cNvSpPr>
          <p:nvPr/>
        </p:nvSpPr>
        <p:spPr bwMode="auto">
          <a:xfrm>
            <a:off x="914400" y="40338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z</a:t>
            </a:r>
          </a:p>
        </p:txBody>
      </p:sp>
      <p:sp>
        <p:nvSpPr>
          <p:cNvPr id="138339" name="Text Box 204"/>
          <p:cNvSpPr txBox="1">
            <a:spLocks noChangeArrowheads="1"/>
          </p:cNvSpPr>
          <p:nvPr/>
        </p:nvSpPr>
        <p:spPr bwMode="auto">
          <a:xfrm>
            <a:off x="1524000" y="34242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8340" name="Text Box 205"/>
          <p:cNvSpPr txBox="1">
            <a:spLocks noChangeArrowheads="1"/>
          </p:cNvSpPr>
          <p:nvPr/>
        </p:nvSpPr>
        <p:spPr bwMode="auto">
          <a:xfrm>
            <a:off x="1828800" y="34242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8341" name="Text Box 206"/>
          <p:cNvSpPr txBox="1">
            <a:spLocks noChangeArrowheads="1"/>
          </p:cNvSpPr>
          <p:nvPr/>
        </p:nvSpPr>
        <p:spPr bwMode="auto">
          <a:xfrm>
            <a:off x="1219200" y="41100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8342" name="Text Box 207"/>
          <p:cNvSpPr txBox="1">
            <a:spLocks noChangeArrowheads="1"/>
          </p:cNvSpPr>
          <p:nvPr/>
        </p:nvSpPr>
        <p:spPr bwMode="auto">
          <a:xfrm>
            <a:off x="1447800" y="41100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8343" name="Text Box 208"/>
          <p:cNvSpPr txBox="1">
            <a:spLocks noChangeArrowheads="1"/>
          </p:cNvSpPr>
          <p:nvPr/>
        </p:nvSpPr>
        <p:spPr bwMode="auto">
          <a:xfrm>
            <a:off x="1828800" y="41100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8344" name="Text Box 209"/>
          <p:cNvSpPr txBox="1">
            <a:spLocks noChangeArrowheads="1"/>
          </p:cNvSpPr>
          <p:nvPr/>
        </p:nvSpPr>
        <p:spPr bwMode="auto">
          <a:xfrm>
            <a:off x="1341438" y="2933700"/>
            <a:ext cx="706437"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cost to</a:t>
            </a:r>
          </a:p>
        </p:txBody>
      </p:sp>
      <p:sp>
        <p:nvSpPr>
          <p:cNvPr id="138345" name="Line 210"/>
          <p:cNvSpPr>
            <a:spLocks noChangeShapeType="1"/>
          </p:cNvSpPr>
          <p:nvPr/>
        </p:nvSpPr>
        <p:spPr bwMode="auto">
          <a:xfrm>
            <a:off x="1219200" y="5029200"/>
            <a:ext cx="0" cy="1219200"/>
          </a:xfrm>
          <a:prstGeom prst="line">
            <a:avLst/>
          </a:prstGeom>
          <a:noFill/>
          <a:ln w="9525">
            <a:solidFill>
              <a:schemeClr val="tx1"/>
            </a:solidFill>
            <a:round/>
          </a:ln>
        </p:spPr>
        <p:txBody>
          <a:bodyPr wrap="none"/>
          <a:lstStyle/>
          <a:p>
            <a:endParaRPr lang="en-US"/>
          </a:p>
        </p:txBody>
      </p:sp>
      <p:sp>
        <p:nvSpPr>
          <p:cNvPr id="138346" name="Line 211"/>
          <p:cNvSpPr>
            <a:spLocks noChangeShapeType="1"/>
          </p:cNvSpPr>
          <p:nvPr/>
        </p:nvSpPr>
        <p:spPr bwMode="auto">
          <a:xfrm>
            <a:off x="914400" y="5257800"/>
            <a:ext cx="1371600" cy="0"/>
          </a:xfrm>
          <a:prstGeom prst="line">
            <a:avLst/>
          </a:prstGeom>
          <a:noFill/>
          <a:ln w="9525">
            <a:solidFill>
              <a:schemeClr val="tx1"/>
            </a:solidFill>
            <a:round/>
          </a:ln>
        </p:spPr>
        <p:txBody>
          <a:bodyPr wrap="none"/>
          <a:lstStyle/>
          <a:p>
            <a:endParaRPr lang="en-US"/>
          </a:p>
        </p:txBody>
      </p:sp>
      <p:sp>
        <p:nvSpPr>
          <p:cNvPr id="138347" name="Text Box 212"/>
          <p:cNvSpPr txBox="1">
            <a:spLocks noChangeArrowheads="1"/>
          </p:cNvSpPr>
          <p:nvPr/>
        </p:nvSpPr>
        <p:spPr bwMode="auto">
          <a:xfrm>
            <a:off x="1219200" y="4872038"/>
            <a:ext cx="9080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   y   z</a:t>
            </a:r>
          </a:p>
        </p:txBody>
      </p:sp>
      <p:sp>
        <p:nvSpPr>
          <p:cNvPr id="138348" name="Text Box 213"/>
          <p:cNvSpPr txBox="1">
            <a:spLocks noChangeArrowheads="1"/>
          </p:cNvSpPr>
          <p:nvPr/>
        </p:nvSpPr>
        <p:spPr bwMode="auto">
          <a:xfrm>
            <a:off x="914400" y="52530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x</a:t>
            </a:r>
          </a:p>
        </p:txBody>
      </p:sp>
      <p:sp>
        <p:nvSpPr>
          <p:cNvPr id="138349" name="Text Box 214"/>
          <p:cNvSpPr txBox="1">
            <a:spLocks noChangeArrowheads="1"/>
          </p:cNvSpPr>
          <p:nvPr/>
        </p:nvSpPr>
        <p:spPr bwMode="auto">
          <a:xfrm>
            <a:off x="914400" y="55578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y</a:t>
            </a:r>
          </a:p>
        </p:txBody>
      </p:sp>
      <p:sp>
        <p:nvSpPr>
          <p:cNvPr id="138350" name="Text Box 215"/>
          <p:cNvSpPr txBox="1">
            <a:spLocks noChangeArrowheads="1"/>
          </p:cNvSpPr>
          <p:nvPr/>
        </p:nvSpPr>
        <p:spPr bwMode="auto">
          <a:xfrm>
            <a:off x="914400" y="5862638"/>
            <a:ext cx="2984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z</a:t>
            </a:r>
          </a:p>
        </p:txBody>
      </p:sp>
      <p:sp>
        <p:nvSpPr>
          <p:cNvPr id="138351" name="Text Box 216"/>
          <p:cNvSpPr txBox="1">
            <a:spLocks noChangeArrowheads="1"/>
          </p:cNvSpPr>
          <p:nvPr/>
        </p:nvSpPr>
        <p:spPr bwMode="auto">
          <a:xfrm>
            <a:off x="1219200" y="5638800"/>
            <a:ext cx="990600" cy="366713"/>
          </a:xfrm>
          <a:prstGeom prst="rect">
            <a:avLst/>
          </a:prstGeom>
          <a:noFill/>
          <a:ln>
            <a:noFill/>
          </a:ln>
        </p:spPr>
        <p:txBody>
          <a:bodyPr>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8352" name="Text Box 217"/>
          <p:cNvSpPr txBox="1">
            <a:spLocks noChangeArrowheads="1"/>
          </p:cNvSpPr>
          <p:nvPr/>
        </p:nvSpPr>
        <p:spPr bwMode="auto">
          <a:xfrm>
            <a:off x="1447800" y="56340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8353" name="Text Box 218"/>
          <p:cNvSpPr txBox="1">
            <a:spLocks noChangeArrowheads="1"/>
          </p:cNvSpPr>
          <p:nvPr/>
        </p:nvSpPr>
        <p:spPr bwMode="auto">
          <a:xfrm>
            <a:off x="1828800" y="5634038"/>
            <a:ext cx="347663"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p:txBody>
      </p:sp>
      <p:sp>
        <p:nvSpPr>
          <p:cNvPr id="138354" name="Text Box 219"/>
          <p:cNvSpPr txBox="1">
            <a:spLocks noChangeArrowheads="1"/>
          </p:cNvSpPr>
          <p:nvPr/>
        </p:nvSpPr>
        <p:spPr bwMode="auto">
          <a:xfrm>
            <a:off x="1219200" y="5938838"/>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7</a:t>
            </a:r>
          </a:p>
        </p:txBody>
      </p:sp>
      <p:sp>
        <p:nvSpPr>
          <p:cNvPr id="138355" name="Text Box 220"/>
          <p:cNvSpPr txBox="1">
            <a:spLocks noChangeArrowheads="1"/>
          </p:cNvSpPr>
          <p:nvPr/>
        </p:nvSpPr>
        <p:spPr bwMode="auto">
          <a:xfrm>
            <a:off x="1447800" y="5938838"/>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1</a:t>
            </a:r>
          </a:p>
        </p:txBody>
      </p:sp>
      <p:sp>
        <p:nvSpPr>
          <p:cNvPr id="138356" name="Text Box 221"/>
          <p:cNvSpPr txBox="1">
            <a:spLocks noChangeArrowheads="1"/>
          </p:cNvSpPr>
          <p:nvPr/>
        </p:nvSpPr>
        <p:spPr bwMode="auto">
          <a:xfrm>
            <a:off x="1828800" y="5938838"/>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0</a:t>
            </a:r>
          </a:p>
        </p:txBody>
      </p:sp>
      <p:sp>
        <p:nvSpPr>
          <p:cNvPr id="138357" name="Text Box 222"/>
          <p:cNvSpPr txBox="1">
            <a:spLocks noChangeArrowheads="1"/>
          </p:cNvSpPr>
          <p:nvPr/>
        </p:nvSpPr>
        <p:spPr bwMode="auto">
          <a:xfrm>
            <a:off x="1363663" y="4740275"/>
            <a:ext cx="706437"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cost to</a:t>
            </a:r>
          </a:p>
        </p:txBody>
      </p:sp>
      <p:sp>
        <p:nvSpPr>
          <p:cNvPr id="138358" name="Text Box 223"/>
          <p:cNvSpPr txBox="1">
            <a:spLocks noChangeArrowheads="1"/>
          </p:cNvSpPr>
          <p:nvPr/>
        </p:nvSpPr>
        <p:spPr bwMode="auto">
          <a:xfrm>
            <a:off x="1219200" y="3467100"/>
            <a:ext cx="946150" cy="6413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t>
            </a:r>
          </a:p>
          <a:p>
            <a:r>
              <a:rPr lang="en-US" sz="1800"/>
              <a:t>2   0   1</a:t>
            </a:r>
          </a:p>
        </p:txBody>
      </p:sp>
      <p:sp>
        <p:nvSpPr>
          <p:cNvPr id="138359" name="Text Box 224"/>
          <p:cNvSpPr txBox="1">
            <a:spLocks noChangeArrowheads="1"/>
          </p:cNvSpPr>
          <p:nvPr/>
        </p:nvSpPr>
        <p:spPr bwMode="auto">
          <a:xfrm>
            <a:off x="1219200" y="5257800"/>
            <a:ext cx="990600" cy="366713"/>
          </a:xfrm>
          <a:prstGeom prst="rect">
            <a:avLst/>
          </a:prstGeom>
          <a:noFill/>
          <a:ln>
            <a:noFill/>
          </a:ln>
        </p:spPr>
        <p:txBody>
          <a:bodyPr>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 ∞  ∞</a:t>
            </a:r>
          </a:p>
        </p:txBody>
      </p:sp>
      <p:sp>
        <p:nvSpPr>
          <p:cNvPr id="138360" name="Text Box 225"/>
          <p:cNvSpPr txBox="1">
            <a:spLocks noChangeArrowheads="1"/>
          </p:cNvSpPr>
          <p:nvPr/>
        </p:nvSpPr>
        <p:spPr bwMode="auto">
          <a:xfrm>
            <a:off x="3260725" y="2006600"/>
            <a:ext cx="9461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2   0   1</a:t>
            </a:r>
          </a:p>
        </p:txBody>
      </p:sp>
      <p:sp>
        <p:nvSpPr>
          <p:cNvPr id="138361" name="Text Box 226"/>
          <p:cNvSpPr txBox="1">
            <a:spLocks noChangeArrowheads="1"/>
          </p:cNvSpPr>
          <p:nvPr/>
        </p:nvSpPr>
        <p:spPr bwMode="auto">
          <a:xfrm>
            <a:off x="3260725" y="2322513"/>
            <a:ext cx="946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7   1   0</a:t>
            </a:r>
          </a:p>
        </p:txBody>
      </p:sp>
      <p:sp>
        <p:nvSpPr>
          <p:cNvPr id="138362" name="Line 227"/>
          <p:cNvSpPr>
            <a:spLocks noChangeShapeType="1"/>
          </p:cNvSpPr>
          <p:nvPr/>
        </p:nvSpPr>
        <p:spPr bwMode="auto">
          <a:xfrm>
            <a:off x="2209800" y="1981200"/>
            <a:ext cx="685800" cy="1524000"/>
          </a:xfrm>
          <a:prstGeom prst="line">
            <a:avLst/>
          </a:prstGeom>
          <a:noFill/>
          <a:ln w="9525">
            <a:solidFill>
              <a:schemeClr val="tx1"/>
            </a:solidFill>
            <a:round/>
            <a:tailEnd type="triangle" w="med" len="med"/>
          </a:ln>
        </p:spPr>
        <p:txBody>
          <a:bodyPr wrap="none"/>
          <a:lstStyle/>
          <a:p>
            <a:endParaRPr lang="en-US"/>
          </a:p>
        </p:txBody>
      </p:sp>
      <p:sp>
        <p:nvSpPr>
          <p:cNvPr id="138363" name="Line 228"/>
          <p:cNvSpPr>
            <a:spLocks noChangeShapeType="1"/>
          </p:cNvSpPr>
          <p:nvPr/>
        </p:nvSpPr>
        <p:spPr bwMode="auto">
          <a:xfrm>
            <a:off x="2133600" y="2057400"/>
            <a:ext cx="685800" cy="3124200"/>
          </a:xfrm>
          <a:prstGeom prst="line">
            <a:avLst/>
          </a:prstGeom>
          <a:noFill/>
          <a:ln w="9525">
            <a:solidFill>
              <a:schemeClr val="tx1"/>
            </a:solidFill>
            <a:round/>
            <a:tailEnd type="triangle" w="med" len="med"/>
          </a:ln>
        </p:spPr>
        <p:txBody>
          <a:bodyPr wrap="none"/>
          <a:lstStyle/>
          <a:p>
            <a:endParaRPr lang="en-US"/>
          </a:p>
        </p:txBody>
      </p:sp>
      <p:sp>
        <p:nvSpPr>
          <p:cNvPr id="138364" name="Line 229"/>
          <p:cNvSpPr>
            <a:spLocks noChangeShapeType="1"/>
          </p:cNvSpPr>
          <p:nvPr/>
        </p:nvSpPr>
        <p:spPr bwMode="auto">
          <a:xfrm flipV="1">
            <a:off x="2133600" y="2514600"/>
            <a:ext cx="762000" cy="1295400"/>
          </a:xfrm>
          <a:prstGeom prst="line">
            <a:avLst/>
          </a:prstGeom>
          <a:noFill/>
          <a:ln w="9525">
            <a:solidFill>
              <a:schemeClr val="tx1"/>
            </a:solidFill>
            <a:round/>
            <a:tailEnd type="triangle" w="med" len="med"/>
          </a:ln>
        </p:spPr>
        <p:txBody>
          <a:bodyPr wrap="none"/>
          <a:lstStyle/>
          <a:p>
            <a:endParaRPr lang="en-US"/>
          </a:p>
        </p:txBody>
      </p:sp>
      <p:sp>
        <p:nvSpPr>
          <p:cNvPr id="138365" name="Line 230"/>
          <p:cNvSpPr>
            <a:spLocks noChangeShapeType="1"/>
          </p:cNvSpPr>
          <p:nvPr/>
        </p:nvSpPr>
        <p:spPr bwMode="auto">
          <a:xfrm>
            <a:off x="2133600" y="4114800"/>
            <a:ext cx="609600" cy="1143000"/>
          </a:xfrm>
          <a:prstGeom prst="line">
            <a:avLst/>
          </a:prstGeom>
          <a:noFill/>
          <a:ln w="9525">
            <a:solidFill>
              <a:schemeClr val="tx1"/>
            </a:solidFill>
            <a:round/>
            <a:tailEnd type="triangle" w="med" len="med"/>
          </a:ln>
        </p:spPr>
        <p:txBody>
          <a:bodyPr wrap="none"/>
          <a:lstStyle/>
          <a:p>
            <a:endParaRPr lang="en-US"/>
          </a:p>
        </p:txBody>
      </p:sp>
      <p:sp>
        <p:nvSpPr>
          <p:cNvPr id="138366" name="Line 231"/>
          <p:cNvSpPr>
            <a:spLocks noChangeShapeType="1"/>
          </p:cNvSpPr>
          <p:nvPr/>
        </p:nvSpPr>
        <p:spPr bwMode="auto">
          <a:xfrm flipV="1">
            <a:off x="2133600" y="2590800"/>
            <a:ext cx="838200" cy="3429000"/>
          </a:xfrm>
          <a:prstGeom prst="line">
            <a:avLst/>
          </a:prstGeom>
          <a:noFill/>
          <a:ln w="9525">
            <a:solidFill>
              <a:schemeClr val="tx1"/>
            </a:solidFill>
            <a:round/>
            <a:tailEnd type="triangle" w="med" len="med"/>
          </a:ln>
        </p:spPr>
        <p:txBody>
          <a:bodyPr wrap="none"/>
          <a:lstStyle/>
          <a:p>
            <a:endParaRPr lang="en-US"/>
          </a:p>
        </p:txBody>
      </p:sp>
      <p:sp>
        <p:nvSpPr>
          <p:cNvPr id="138367" name="Line 232"/>
          <p:cNvSpPr>
            <a:spLocks noChangeShapeType="1"/>
          </p:cNvSpPr>
          <p:nvPr/>
        </p:nvSpPr>
        <p:spPr bwMode="auto">
          <a:xfrm flipV="1">
            <a:off x="2209800" y="4343400"/>
            <a:ext cx="762000" cy="1752600"/>
          </a:xfrm>
          <a:prstGeom prst="line">
            <a:avLst/>
          </a:prstGeom>
          <a:noFill/>
          <a:ln w="9525">
            <a:solidFill>
              <a:schemeClr val="tx1"/>
            </a:solidFill>
            <a:round/>
            <a:tailEnd type="triangle" w="med" len="med"/>
          </a:ln>
        </p:spPr>
        <p:txBody>
          <a:bodyPr wrap="none"/>
          <a:lstStyle/>
          <a:p>
            <a:endParaRPr lang="en-US"/>
          </a:p>
        </p:txBody>
      </p:sp>
      <p:sp>
        <p:nvSpPr>
          <p:cNvPr id="138368" name="Line 233"/>
          <p:cNvSpPr>
            <a:spLocks noChangeShapeType="1"/>
          </p:cNvSpPr>
          <p:nvPr/>
        </p:nvSpPr>
        <p:spPr bwMode="auto">
          <a:xfrm>
            <a:off x="609600" y="6345238"/>
            <a:ext cx="5410200" cy="0"/>
          </a:xfrm>
          <a:prstGeom prst="line">
            <a:avLst/>
          </a:prstGeom>
          <a:noFill/>
          <a:ln w="9525">
            <a:solidFill>
              <a:schemeClr val="tx1"/>
            </a:solidFill>
            <a:prstDash val="sysDot"/>
            <a:round/>
            <a:tailEnd type="triangle" w="med" len="med"/>
          </a:ln>
        </p:spPr>
        <p:txBody>
          <a:bodyPr wrap="none"/>
          <a:lstStyle/>
          <a:p>
            <a:endParaRPr lang="en-US"/>
          </a:p>
        </p:txBody>
      </p:sp>
      <p:sp>
        <p:nvSpPr>
          <p:cNvPr id="138369" name="Text Box 234"/>
          <p:cNvSpPr txBox="1">
            <a:spLocks noChangeArrowheads="1"/>
          </p:cNvSpPr>
          <p:nvPr/>
        </p:nvSpPr>
        <p:spPr bwMode="auto">
          <a:xfrm>
            <a:off x="6069013" y="6137275"/>
            <a:ext cx="6159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time</a:t>
            </a:r>
          </a:p>
        </p:txBody>
      </p:sp>
      <p:grpSp>
        <p:nvGrpSpPr>
          <p:cNvPr id="138370" name="Group 235"/>
          <p:cNvGrpSpPr/>
          <p:nvPr/>
        </p:nvGrpSpPr>
        <p:grpSpPr bwMode="auto">
          <a:xfrm>
            <a:off x="6632575" y="2911475"/>
            <a:ext cx="2184400" cy="1212850"/>
            <a:chOff x="2352" y="0"/>
            <a:chExt cx="1376" cy="764"/>
          </a:xfrm>
        </p:grpSpPr>
        <p:sp>
          <p:nvSpPr>
            <p:cNvPr id="138386" name="Freeform 236"/>
            <p:cNvSpPr/>
            <p:nvPr/>
          </p:nvSpPr>
          <p:spPr bwMode="auto">
            <a:xfrm>
              <a:off x="2352" y="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66CCFF"/>
            </a:solidFill>
            <a:ln>
              <a:noFill/>
            </a:ln>
          </p:spPr>
          <p:txBody>
            <a:bodyPr wrap="none" anchor="ctr"/>
            <a:lstStyle/>
            <a:p>
              <a:endParaRPr lang="en-US"/>
            </a:p>
          </p:txBody>
        </p:sp>
        <p:grpSp>
          <p:nvGrpSpPr>
            <p:cNvPr id="138387" name="Group 237"/>
            <p:cNvGrpSpPr/>
            <p:nvPr/>
          </p:nvGrpSpPr>
          <p:grpSpPr bwMode="auto">
            <a:xfrm>
              <a:off x="2448" y="70"/>
              <a:ext cx="1161" cy="676"/>
              <a:chOff x="-17" y="1282"/>
              <a:chExt cx="1161" cy="676"/>
            </a:xfrm>
          </p:grpSpPr>
          <p:sp>
            <p:nvSpPr>
              <p:cNvPr id="138388" name="Freeform 238"/>
              <p:cNvSpPr/>
              <p:nvPr/>
            </p:nvSpPr>
            <p:spPr bwMode="auto">
              <a:xfrm>
                <a:off x="246" y="1476"/>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chemeClr val="tx1"/>
                </a:solidFill>
                <a:round/>
              </a:ln>
            </p:spPr>
            <p:txBody>
              <a:bodyPr wrap="none" anchor="ctr"/>
              <a:lstStyle/>
              <a:p>
                <a:endParaRPr lang="en-US"/>
              </a:p>
            </p:txBody>
          </p:sp>
          <p:sp>
            <p:nvSpPr>
              <p:cNvPr id="138389" name="Oval 239"/>
              <p:cNvSpPr>
                <a:spLocks noChangeArrowheads="1"/>
              </p:cNvSpPr>
              <p:nvPr/>
            </p:nvSpPr>
            <p:spPr bwMode="auto">
              <a:xfrm>
                <a:off x="-14" y="1712"/>
                <a:ext cx="313" cy="81"/>
              </a:xfrm>
              <a:prstGeom prst="ellipse">
                <a:avLst/>
              </a:prstGeom>
              <a:solidFill>
                <a:schemeClr val="hlink"/>
              </a:solidFill>
              <a:ln w="12700">
                <a:solidFill>
                  <a:schemeClr val="tx1"/>
                </a:solidFill>
                <a:round/>
              </a:ln>
            </p:spPr>
            <p:txBody>
              <a:bodyPr wrap="none" anchor="ctr"/>
              <a:lstStyle/>
              <a:p>
                <a:endParaRPr lang="en-US"/>
              </a:p>
            </p:txBody>
          </p:sp>
          <p:sp>
            <p:nvSpPr>
              <p:cNvPr id="138390" name="Line 240"/>
              <p:cNvSpPr>
                <a:spLocks noChangeShapeType="1"/>
              </p:cNvSpPr>
              <p:nvPr/>
            </p:nvSpPr>
            <p:spPr bwMode="auto">
              <a:xfrm>
                <a:off x="-14" y="1705"/>
                <a:ext cx="1" cy="50"/>
              </a:xfrm>
              <a:prstGeom prst="line">
                <a:avLst/>
              </a:prstGeom>
              <a:noFill/>
              <a:ln w="12700">
                <a:solidFill>
                  <a:schemeClr val="tx1"/>
                </a:solidFill>
                <a:round/>
              </a:ln>
            </p:spPr>
            <p:txBody>
              <a:bodyPr wrap="none" anchor="ctr"/>
              <a:lstStyle/>
              <a:p>
                <a:endParaRPr lang="en-US"/>
              </a:p>
            </p:txBody>
          </p:sp>
          <p:sp>
            <p:nvSpPr>
              <p:cNvPr id="138391" name="Line 241"/>
              <p:cNvSpPr>
                <a:spLocks noChangeShapeType="1"/>
              </p:cNvSpPr>
              <p:nvPr/>
            </p:nvSpPr>
            <p:spPr bwMode="auto">
              <a:xfrm>
                <a:off x="299" y="1705"/>
                <a:ext cx="1" cy="50"/>
              </a:xfrm>
              <a:prstGeom prst="line">
                <a:avLst/>
              </a:prstGeom>
              <a:noFill/>
              <a:ln w="12700">
                <a:solidFill>
                  <a:schemeClr val="tx1"/>
                </a:solidFill>
                <a:round/>
              </a:ln>
            </p:spPr>
            <p:txBody>
              <a:bodyPr wrap="none" anchor="ctr"/>
              <a:lstStyle/>
              <a:p>
                <a:endParaRPr lang="en-US"/>
              </a:p>
            </p:txBody>
          </p:sp>
          <p:sp>
            <p:nvSpPr>
              <p:cNvPr id="138392" name="Rectangle 242"/>
              <p:cNvSpPr>
                <a:spLocks noChangeArrowheads="1"/>
              </p:cNvSpPr>
              <p:nvPr/>
            </p:nvSpPr>
            <p:spPr bwMode="auto">
              <a:xfrm>
                <a:off x="-14" y="1705"/>
                <a:ext cx="310" cy="49"/>
              </a:xfrm>
              <a:prstGeom prst="rect">
                <a:avLst/>
              </a:prstGeom>
              <a:solidFill>
                <a:schemeClr val="hlink"/>
              </a:solidFill>
              <a:ln>
                <a:noFill/>
              </a:ln>
            </p:spPr>
            <p:txBody>
              <a:bodyPr wrap="none" anchor="ctr"/>
              <a:lstStyle/>
              <a:p>
                <a:pPr algn="ctr"/>
                <a:endParaRPr lang="en-US" sz="2400"/>
              </a:p>
            </p:txBody>
          </p:sp>
          <p:sp>
            <p:nvSpPr>
              <p:cNvPr id="138393" name="Oval 243"/>
              <p:cNvSpPr>
                <a:spLocks noChangeArrowheads="1"/>
              </p:cNvSpPr>
              <p:nvPr/>
            </p:nvSpPr>
            <p:spPr bwMode="auto">
              <a:xfrm>
                <a:off x="-17" y="1646"/>
                <a:ext cx="313" cy="95"/>
              </a:xfrm>
              <a:prstGeom prst="ellipse">
                <a:avLst/>
              </a:prstGeom>
              <a:solidFill>
                <a:schemeClr val="hlink"/>
              </a:solidFill>
              <a:ln w="12700">
                <a:solidFill>
                  <a:schemeClr val="tx1"/>
                </a:solidFill>
                <a:round/>
              </a:ln>
            </p:spPr>
            <p:txBody>
              <a:bodyPr wrap="none" anchor="ctr"/>
              <a:lstStyle/>
              <a:p>
                <a:endParaRPr lang="en-US"/>
              </a:p>
            </p:txBody>
          </p:sp>
          <p:sp>
            <p:nvSpPr>
              <p:cNvPr id="138394" name="Freeform 244"/>
              <p:cNvSpPr/>
              <p:nvPr/>
            </p:nvSpPr>
            <p:spPr bwMode="auto">
              <a:xfrm>
                <a:off x="651" y="1476"/>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chemeClr val="tx1"/>
                </a:solidFill>
                <a:round/>
              </a:ln>
            </p:spPr>
            <p:txBody>
              <a:bodyPr wrap="none" anchor="ctr"/>
              <a:lstStyle/>
              <a:p>
                <a:endParaRPr lang="en-US"/>
              </a:p>
            </p:txBody>
          </p:sp>
          <p:sp>
            <p:nvSpPr>
              <p:cNvPr id="138395" name="Freeform 245"/>
              <p:cNvSpPr/>
              <p:nvPr/>
            </p:nvSpPr>
            <p:spPr bwMode="auto">
              <a:xfrm>
                <a:off x="303" y="1740"/>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chemeClr val="tx1"/>
                </a:solidFill>
                <a:round/>
              </a:ln>
            </p:spPr>
            <p:txBody>
              <a:bodyPr wrap="none" anchor="ctr"/>
              <a:lstStyle/>
              <a:p>
                <a:endParaRPr lang="en-US"/>
              </a:p>
            </p:txBody>
          </p:sp>
          <p:grpSp>
            <p:nvGrpSpPr>
              <p:cNvPr id="138396" name="Group 246"/>
              <p:cNvGrpSpPr/>
              <p:nvPr/>
            </p:nvGrpSpPr>
            <p:grpSpPr bwMode="auto">
              <a:xfrm>
                <a:off x="39" y="1594"/>
                <a:ext cx="196" cy="250"/>
                <a:chOff x="2959" y="2425"/>
                <a:chExt cx="197" cy="250"/>
              </a:xfrm>
            </p:grpSpPr>
            <p:sp>
              <p:nvSpPr>
                <p:cNvPr id="138418" name="Rectangle 247"/>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8419" name="Text Box 248"/>
                <p:cNvSpPr txBox="1">
                  <a:spLocks noChangeArrowheads="1"/>
                </p:cNvSpPr>
                <p:nvPr/>
              </p:nvSpPr>
              <p:spPr bwMode="auto">
                <a:xfrm>
                  <a:off x="2959" y="2425"/>
                  <a:ext cx="197"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x</a:t>
                  </a:r>
                  <a:endParaRPr lang="en-US"/>
                </a:p>
              </p:txBody>
            </p:sp>
          </p:grpSp>
          <p:grpSp>
            <p:nvGrpSpPr>
              <p:cNvPr id="138397" name="Group 249"/>
              <p:cNvGrpSpPr/>
              <p:nvPr/>
            </p:nvGrpSpPr>
            <p:grpSpPr bwMode="auto">
              <a:xfrm>
                <a:off x="828" y="1576"/>
                <a:ext cx="316" cy="288"/>
                <a:chOff x="1740" y="2272"/>
                <a:chExt cx="316" cy="288"/>
              </a:xfrm>
            </p:grpSpPr>
            <p:sp>
              <p:nvSpPr>
                <p:cNvPr id="138410" name="Oval 250"/>
                <p:cNvSpPr>
                  <a:spLocks noChangeArrowheads="1"/>
                </p:cNvSpPr>
                <p:nvPr/>
              </p:nvSpPr>
              <p:spPr bwMode="auto">
                <a:xfrm>
                  <a:off x="1743" y="2420"/>
                  <a:ext cx="313" cy="81"/>
                </a:xfrm>
                <a:prstGeom prst="ellipse">
                  <a:avLst/>
                </a:prstGeom>
                <a:solidFill>
                  <a:schemeClr val="hlink"/>
                </a:solidFill>
                <a:ln w="12700">
                  <a:solidFill>
                    <a:schemeClr val="tx1"/>
                  </a:solidFill>
                  <a:round/>
                </a:ln>
              </p:spPr>
              <p:txBody>
                <a:bodyPr wrap="none" anchor="ctr"/>
                <a:lstStyle/>
                <a:p>
                  <a:endParaRPr lang="en-US"/>
                </a:p>
              </p:txBody>
            </p:sp>
            <p:sp>
              <p:nvSpPr>
                <p:cNvPr id="138411" name="Line 251"/>
                <p:cNvSpPr>
                  <a:spLocks noChangeShapeType="1"/>
                </p:cNvSpPr>
                <p:nvPr/>
              </p:nvSpPr>
              <p:spPr bwMode="auto">
                <a:xfrm>
                  <a:off x="1743" y="2413"/>
                  <a:ext cx="0" cy="50"/>
                </a:xfrm>
                <a:prstGeom prst="line">
                  <a:avLst/>
                </a:prstGeom>
                <a:noFill/>
                <a:ln w="12700">
                  <a:solidFill>
                    <a:schemeClr val="tx1"/>
                  </a:solidFill>
                  <a:round/>
                </a:ln>
              </p:spPr>
              <p:txBody>
                <a:bodyPr wrap="none" anchor="ctr"/>
                <a:lstStyle/>
                <a:p>
                  <a:endParaRPr lang="en-US"/>
                </a:p>
              </p:txBody>
            </p:sp>
            <p:sp>
              <p:nvSpPr>
                <p:cNvPr id="138412" name="Line 252"/>
                <p:cNvSpPr>
                  <a:spLocks noChangeShapeType="1"/>
                </p:cNvSpPr>
                <p:nvPr/>
              </p:nvSpPr>
              <p:spPr bwMode="auto">
                <a:xfrm>
                  <a:off x="2056" y="2413"/>
                  <a:ext cx="0" cy="50"/>
                </a:xfrm>
                <a:prstGeom prst="line">
                  <a:avLst/>
                </a:prstGeom>
                <a:noFill/>
                <a:ln w="12700">
                  <a:solidFill>
                    <a:schemeClr val="tx1"/>
                  </a:solidFill>
                  <a:round/>
                </a:ln>
              </p:spPr>
              <p:txBody>
                <a:bodyPr wrap="none" anchor="ctr"/>
                <a:lstStyle/>
                <a:p>
                  <a:endParaRPr lang="en-US"/>
                </a:p>
              </p:txBody>
            </p:sp>
            <p:sp>
              <p:nvSpPr>
                <p:cNvPr id="138413" name="Rectangle 253"/>
                <p:cNvSpPr>
                  <a:spLocks noChangeArrowheads="1"/>
                </p:cNvSpPr>
                <p:nvPr/>
              </p:nvSpPr>
              <p:spPr bwMode="auto">
                <a:xfrm>
                  <a:off x="1743" y="2413"/>
                  <a:ext cx="310" cy="49"/>
                </a:xfrm>
                <a:prstGeom prst="rect">
                  <a:avLst/>
                </a:prstGeom>
                <a:solidFill>
                  <a:schemeClr val="hlink"/>
                </a:solidFill>
                <a:ln>
                  <a:noFill/>
                </a:ln>
              </p:spPr>
              <p:txBody>
                <a:bodyPr wrap="none" anchor="ctr"/>
                <a:lstStyle/>
                <a:p>
                  <a:pPr algn="ctr"/>
                  <a:endParaRPr lang="en-US" sz="2400"/>
                </a:p>
              </p:txBody>
            </p:sp>
            <p:sp>
              <p:nvSpPr>
                <p:cNvPr id="138414" name="Oval 254"/>
                <p:cNvSpPr>
                  <a:spLocks noChangeArrowheads="1"/>
                </p:cNvSpPr>
                <p:nvPr/>
              </p:nvSpPr>
              <p:spPr bwMode="auto">
                <a:xfrm>
                  <a:off x="1740" y="2354"/>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8415" name="Group 255"/>
                <p:cNvGrpSpPr/>
                <p:nvPr/>
              </p:nvGrpSpPr>
              <p:grpSpPr bwMode="auto">
                <a:xfrm>
                  <a:off x="1795" y="2272"/>
                  <a:ext cx="212" cy="288"/>
                  <a:chOff x="2951" y="2395"/>
                  <a:chExt cx="213" cy="288"/>
                </a:xfrm>
              </p:grpSpPr>
              <p:sp>
                <p:nvSpPr>
                  <p:cNvPr id="138416" name="Rectangle 256"/>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8417" name="Text Box 257"/>
                  <p:cNvSpPr txBox="1">
                    <a:spLocks noChangeArrowheads="1"/>
                  </p:cNvSpPr>
                  <p:nvPr/>
                </p:nvSpPr>
                <p:spPr bwMode="auto">
                  <a:xfrm>
                    <a:off x="2951" y="2395"/>
                    <a:ext cx="213"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z</a:t>
                    </a:r>
                  </a:p>
                </p:txBody>
              </p:sp>
            </p:grpSp>
          </p:grpSp>
          <p:sp>
            <p:nvSpPr>
              <p:cNvPr id="138398" name="Text Box 258"/>
              <p:cNvSpPr txBox="1">
                <a:spLocks noChangeArrowheads="1"/>
              </p:cNvSpPr>
              <p:nvPr/>
            </p:nvSpPr>
            <p:spPr bwMode="auto">
              <a:xfrm>
                <a:off x="724" y="1397"/>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38399" name="Text Box 259"/>
              <p:cNvSpPr txBox="1">
                <a:spLocks noChangeArrowheads="1"/>
              </p:cNvSpPr>
              <p:nvPr/>
            </p:nvSpPr>
            <p:spPr bwMode="auto">
              <a:xfrm>
                <a:off x="196" y="1394"/>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38400" name="Text Box 260"/>
              <p:cNvSpPr txBox="1">
                <a:spLocks noChangeArrowheads="1"/>
              </p:cNvSpPr>
              <p:nvPr/>
            </p:nvSpPr>
            <p:spPr bwMode="auto">
              <a:xfrm>
                <a:off x="481" y="1727"/>
                <a:ext cx="196"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7</a:t>
                </a:r>
                <a:endParaRPr lang="en-US"/>
              </a:p>
            </p:txBody>
          </p:sp>
          <p:grpSp>
            <p:nvGrpSpPr>
              <p:cNvPr id="138401" name="Group 261"/>
              <p:cNvGrpSpPr/>
              <p:nvPr/>
            </p:nvGrpSpPr>
            <p:grpSpPr bwMode="auto">
              <a:xfrm>
                <a:off x="408" y="1282"/>
                <a:ext cx="316" cy="250"/>
                <a:chOff x="1740" y="2302"/>
                <a:chExt cx="316" cy="250"/>
              </a:xfrm>
            </p:grpSpPr>
            <p:sp>
              <p:nvSpPr>
                <p:cNvPr id="138402" name="Oval 262"/>
                <p:cNvSpPr>
                  <a:spLocks noChangeArrowheads="1"/>
                </p:cNvSpPr>
                <p:nvPr/>
              </p:nvSpPr>
              <p:spPr bwMode="auto">
                <a:xfrm>
                  <a:off x="1743" y="2420"/>
                  <a:ext cx="313" cy="81"/>
                </a:xfrm>
                <a:prstGeom prst="ellipse">
                  <a:avLst/>
                </a:prstGeom>
                <a:solidFill>
                  <a:schemeClr val="hlink"/>
                </a:solidFill>
                <a:ln w="12700">
                  <a:solidFill>
                    <a:schemeClr val="tx1"/>
                  </a:solidFill>
                  <a:round/>
                </a:ln>
              </p:spPr>
              <p:txBody>
                <a:bodyPr wrap="none" anchor="ctr"/>
                <a:lstStyle/>
                <a:p>
                  <a:endParaRPr lang="en-US"/>
                </a:p>
              </p:txBody>
            </p:sp>
            <p:sp>
              <p:nvSpPr>
                <p:cNvPr id="138403" name="Line 263"/>
                <p:cNvSpPr>
                  <a:spLocks noChangeShapeType="1"/>
                </p:cNvSpPr>
                <p:nvPr/>
              </p:nvSpPr>
              <p:spPr bwMode="auto">
                <a:xfrm>
                  <a:off x="1743" y="2413"/>
                  <a:ext cx="0" cy="50"/>
                </a:xfrm>
                <a:prstGeom prst="line">
                  <a:avLst/>
                </a:prstGeom>
                <a:noFill/>
                <a:ln w="12700">
                  <a:solidFill>
                    <a:schemeClr val="tx1"/>
                  </a:solidFill>
                  <a:round/>
                </a:ln>
              </p:spPr>
              <p:txBody>
                <a:bodyPr wrap="none" anchor="ctr"/>
                <a:lstStyle/>
                <a:p>
                  <a:endParaRPr lang="en-US"/>
                </a:p>
              </p:txBody>
            </p:sp>
            <p:sp>
              <p:nvSpPr>
                <p:cNvPr id="138404" name="Line 264"/>
                <p:cNvSpPr>
                  <a:spLocks noChangeShapeType="1"/>
                </p:cNvSpPr>
                <p:nvPr/>
              </p:nvSpPr>
              <p:spPr bwMode="auto">
                <a:xfrm>
                  <a:off x="2056" y="2413"/>
                  <a:ext cx="0" cy="50"/>
                </a:xfrm>
                <a:prstGeom prst="line">
                  <a:avLst/>
                </a:prstGeom>
                <a:noFill/>
                <a:ln w="12700">
                  <a:solidFill>
                    <a:schemeClr val="tx1"/>
                  </a:solidFill>
                  <a:round/>
                </a:ln>
              </p:spPr>
              <p:txBody>
                <a:bodyPr wrap="none" anchor="ctr"/>
                <a:lstStyle/>
                <a:p>
                  <a:endParaRPr lang="en-US"/>
                </a:p>
              </p:txBody>
            </p:sp>
            <p:sp>
              <p:nvSpPr>
                <p:cNvPr id="138405" name="Rectangle 265"/>
                <p:cNvSpPr>
                  <a:spLocks noChangeArrowheads="1"/>
                </p:cNvSpPr>
                <p:nvPr/>
              </p:nvSpPr>
              <p:spPr bwMode="auto">
                <a:xfrm>
                  <a:off x="1743" y="2413"/>
                  <a:ext cx="310" cy="49"/>
                </a:xfrm>
                <a:prstGeom prst="rect">
                  <a:avLst/>
                </a:prstGeom>
                <a:solidFill>
                  <a:schemeClr val="hlink"/>
                </a:solidFill>
                <a:ln>
                  <a:noFill/>
                </a:ln>
              </p:spPr>
              <p:txBody>
                <a:bodyPr wrap="none" anchor="ctr"/>
                <a:lstStyle/>
                <a:p>
                  <a:pPr algn="ctr"/>
                  <a:endParaRPr lang="en-US" sz="2400"/>
                </a:p>
              </p:txBody>
            </p:sp>
            <p:sp>
              <p:nvSpPr>
                <p:cNvPr id="138406" name="Oval 266"/>
                <p:cNvSpPr>
                  <a:spLocks noChangeArrowheads="1"/>
                </p:cNvSpPr>
                <p:nvPr/>
              </p:nvSpPr>
              <p:spPr bwMode="auto">
                <a:xfrm>
                  <a:off x="1740" y="2354"/>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8407" name="Group 267"/>
                <p:cNvGrpSpPr/>
                <p:nvPr/>
              </p:nvGrpSpPr>
              <p:grpSpPr bwMode="auto">
                <a:xfrm>
                  <a:off x="1803" y="2302"/>
                  <a:ext cx="196" cy="250"/>
                  <a:chOff x="2958" y="2425"/>
                  <a:chExt cx="198" cy="250"/>
                </a:xfrm>
              </p:grpSpPr>
              <p:sp>
                <p:nvSpPr>
                  <p:cNvPr id="138408" name="Rectangle 268"/>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38409" name="Text Box 269"/>
                  <p:cNvSpPr txBox="1">
                    <a:spLocks noChangeArrowheads="1"/>
                  </p:cNvSpPr>
                  <p:nvPr/>
                </p:nvSpPr>
                <p:spPr bwMode="auto">
                  <a:xfrm>
                    <a:off x="2958" y="2425"/>
                    <a:ext cx="198"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y</a:t>
                    </a:r>
                    <a:endParaRPr lang="en-US"/>
                  </a:p>
                </p:txBody>
              </p:sp>
            </p:grpSp>
          </p:grpSp>
        </p:grpSp>
      </p:grpSp>
      <p:sp>
        <p:nvSpPr>
          <p:cNvPr id="138371" name="Text Box 270"/>
          <p:cNvSpPr txBox="1">
            <a:spLocks noChangeArrowheads="1"/>
          </p:cNvSpPr>
          <p:nvPr/>
        </p:nvSpPr>
        <p:spPr bwMode="auto">
          <a:xfrm>
            <a:off x="263525" y="1104900"/>
            <a:ext cx="920750" cy="558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eaLnBrk="1" hangingPunct="1">
              <a:lnSpc>
                <a:spcPct val="85000"/>
              </a:lnSpc>
            </a:pPr>
            <a:r>
              <a:rPr lang="en-US" sz="1800" b="1">
                <a:solidFill>
                  <a:srgbClr val="CC0000"/>
                </a:solidFill>
              </a:rPr>
              <a:t>node x</a:t>
            </a:r>
          </a:p>
          <a:p>
            <a:pPr algn="r" eaLnBrk="1" hangingPunct="1">
              <a:lnSpc>
                <a:spcPct val="85000"/>
              </a:lnSpc>
            </a:pPr>
            <a:r>
              <a:rPr lang="en-US" sz="1800" b="1">
                <a:solidFill>
                  <a:srgbClr val="CC0000"/>
                </a:solidFill>
              </a:rPr>
              <a:t>table</a:t>
            </a:r>
          </a:p>
        </p:txBody>
      </p:sp>
      <p:sp>
        <p:nvSpPr>
          <p:cNvPr id="138372" name="Oval 271"/>
          <p:cNvSpPr>
            <a:spLocks noChangeArrowheads="1"/>
          </p:cNvSpPr>
          <p:nvPr/>
        </p:nvSpPr>
        <p:spPr bwMode="auto">
          <a:xfrm>
            <a:off x="1219200" y="1676400"/>
            <a:ext cx="1066800" cy="381000"/>
          </a:xfrm>
          <a:prstGeom prst="ellipse">
            <a:avLst/>
          </a:prstGeom>
          <a:noFill/>
          <a:ln w="9525">
            <a:solidFill>
              <a:srgbClr val="FF0000"/>
            </a:solidFill>
            <a:round/>
          </a:ln>
        </p:spPr>
        <p:txBody>
          <a:bodyPr wrap="none" anchor="ctr"/>
          <a:lstStyle/>
          <a:p>
            <a:endParaRPr lang="en-US"/>
          </a:p>
        </p:txBody>
      </p:sp>
      <p:sp>
        <p:nvSpPr>
          <p:cNvPr id="138373" name="Oval 272"/>
          <p:cNvSpPr>
            <a:spLocks noChangeArrowheads="1"/>
          </p:cNvSpPr>
          <p:nvPr/>
        </p:nvSpPr>
        <p:spPr bwMode="auto">
          <a:xfrm>
            <a:off x="1219200" y="3733800"/>
            <a:ext cx="1066800" cy="381000"/>
          </a:xfrm>
          <a:prstGeom prst="ellipse">
            <a:avLst/>
          </a:prstGeom>
          <a:noFill/>
          <a:ln w="9525">
            <a:solidFill>
              <a:srgbClr val="FF0000"/>
            </a:solidFill>
            <a:round/>
          </a:ln>
        </p:spPr>
        <p:txBody>
          <a:bodyPr wrap="none" anchor="ctr"/>
          <a:lstStyle/>
          <a:p>
            <a:endParaRPr lang="en-US"/>
          </a:p>
        </p:txBody>
      </p:sp>
      <p:sp>
        <p:nvSpPr>
          <p:cNvPr id="138374" name="Oval 273"/>
          <p:cNvSpPr>
            <a:spLocks noChangeArrowheads="1"/>
          </p:cNvSpPr>
          <p:nvPr/>
        </p:nvSpPr>
        <p:spPr bwMode="auto">
          <a:xfrm>
            <a:off x="1219200" y="5943600"/>
            <a:ext cx="1066800" cy="381000"/>
          </a:xfrm>
          <a:prstGeom prst="ellipse">
            <a:avLst/>
          </a:prstGeom>
          <a:noFill/>
          <a:ln w="9525">
            <a:solidFill>
              <a:srgbClr val="FF0000"/>
            </a:solidFill>
            <a:round/>
          </a:ln>
        </p:spPr>
        <p:txBody>
          <a:bodyPr wrap="none" anchor="ctr"/>
          <a:lstStyle/>
          <a:p>
            <a:endParaRPr lang="en-US"/>
          </a:p>
        </p:txBody>
      </p:sp>
      <p:sp>
        <p:nvSpPr>
          <p:cNvPr id="138375" name="Oval 274"/>
          <p:cNvSpPr>
            <a:spLocks noChangeArrowheads="1"/>
          </p:cNvSpPr>
          <p:nvPr/>
        </p:nvSpPr>
        <p:spPr bwMode="auto">
          <a:xfrm>
            <a:off x="3297238" y="1676400"/>
            <a:ext cx="1066800" cy="381000"/>
          </a:xfrm>
          <a:prstGeom prst="ellipse">
            <a:avLst/>
          </a:prstGeom>
          <a:noFill/>
          <a:ln w="9525">
            <a:solidFill>
              <a:srgbClr val="FF0000"/>
            </a:solidFill>
            <a:round/>
          </a:ln>
        </p:spPr>
        <p:txBody>
          <a:bodyPr wrap="none" anchor="ctr"/>
          <a:lstStyle/>
          <a:p>
            <a:endParaRPr lang="en-US"/>
          </a:p>
        </p:txBody>
      </p:sp>
      <p:sp>
        <p:nvSpPr>
          <p:cNvPr id="138376" name="Rectangle 275"/>
          <p:cNvSpPr>
            <a:spLocks noChangeArrowheads="1"/>
          </p:cNvSpPr>
          <p:nvPr/>
        </p:nvSpPr>
        <p:spPr bwMode="auto">
          <a:xfrm>
            <a:off x="1590675" y="187325"/>
            <a:ext cx="4318000" cy="641350"/>
          </a:xfrm>
          <a:prstGeom prst="rect">
            <a:avLst/>
          </a:prstGeom>
          <a:noFill/>
          <a:ln>
            <a:noFill/>
          </a:ln>
        </p:spPr>
        <p:txBody>
          <a:bodyPr wrap="none" anchor="ctr">
            <a:spAutoFit/>
          </a:bodyPr>
          <a:lstStyle/>
          <a:p>
            <a:pPr algn="just"/>
            <a:r>
              <a:rPr lang="fr-FR">
                <a:solidFill>
                  <a:srgbClr val="000000"/>
                </a:solidFill>
                <a:cs typeface="Times New Roman" panose="02020503050405090304" charset="0"/>
              </a:rPr>
              <a:t>D</a:t>
            </a:r>
            <a:r>
              <a:rPr lang="fr-FR" baseline="-25000">
                <a:solidFill>
                  <a:srgbClr val="000000"/>
                </a:solidFill>
                <a:cs typeface="Times New Roman" panose="02020503050405090304" charset="0"/>
              </a:rPr>
              <a:t>x</a:t>
            </a:r>
            <a:r>
              <a:rPr lang="fr-FR">
                <a:solidFill>
                  <a:srgbClr val="000000"/>
                </a:solidFill>
                <a:cs typeface="Times New Roman" panose="02020503050405090304" charset="0"/>
              </a:rPr>
              <a:t>(y) = min{c(x,y) + D</a:t>
            </a:r>
            <a:r>
              <a:rPr lang="fr-FR" baseline="-25000">
                <a:solidFill>
                  <a:srgbClr val="000000"/>
                </a:solidFill>
                <a:cs typeface="Times New Roman" panose="02020503050405090304" charset="0"/>
              </a:rPr>
              <a:t>y</a:t>
            </a:r>
            <a:r>
              <a:rPr lang="fr-FR">
                <a:solidFill>
                  <a:srgbClr val="000000"/>
                </a:solidFill>
                <a:cs typeface="Times New Roman" panose="02020503050405090304" charset="0"/>
              </a:rPr>
              <a:t>(y), c(x,z) + D</a:t>
            </a:r>
            <a:r>
              <a:rPr lang="fr-FR" baseline="-25000">
                <a:solidFill>
                  <a:srgbClr val="000000"/>
                </a:solidFill>
                <a:cs typeface="Times New Roman" panose="02020503050405090304" charset="0"/>
              </a:rPr>
              <a:t>z</a:t>
            </a:r>
            <a:r>
              <a:rPr lang="fr-FR">
                <a:solidFill>
                  <a:srgbClr val="000000"/>
                </a:solidFill>
                <a:cs typeface="Times New Roman" panose="02020503050405090304" charset="0"/>
              </a:rPr>
              <a:t>(y)} </a:t>
            </a:r>
            <a:br>
              <a:rPr lang="fr-FR">
                <a:solidFill>
                  <a:srgbClr val="000000"/>
                </a:solidFill>
                <a:cs typeface="Times New Roman" panose="02020503050405090304" charset="0"/>
              </a:rPr>
            </a:br>
            <a:r>
              <a:rPr lang="fr-FR">
                <a:solidFill>
                  <a:srgbClr val="000000"/>
                </a:solidFill>
                <a:cs typeface="Times New Roman" panose="02020503050405090304" charset="0"/>
              </a:rPr>
              <a:t>             = min{2+0 , 7+1} = 2</a:t>
            </a:r>
          </a:p>
        </p:txBody>
      </p:sp>
      <p:sp>
        <p:nvSpPr>
          <p:cNvPr id="138377" name="Line 276"/>
          <p:cNvSpPr>
            <a:spLocks noChangeShapeType="1"/>
          </p:cNvSpPr>
          <p:nvPr/>
        </p:nvSpPr>
        <p:spPr bwMode="auto">
          <a:xfrm flipH="1">
            <a:off x="3760788" y="809625"/>
            <a:ext cx="809625" cy="966788"/>
          </a:xfrm>
          <a:prstGeom prst="line">
            <a:avLst/>
          </a:prstGeom>
          <a:noFill/>
          <a:ln w="12700">
            <a:solidFill>
              <a:schemeClr val="accent2"/>
            </a:solidFill>
            <a:round/>
            <a:tailEnd type="triangle" w="med" len="med"/>
          </a:ln>
        </p:spPr>
        <p:txBody>
          <a:bodyPr wrap="none"/>
          <a:lstStyle/>
          <a:p>
            <a:endParaRPr lang="en-US"/>
          </a:p>
        </p:txBody>
      </p:sp>
      <p:sp>
        <p:nvSpPr>
          <p:cNvPr id="138378" name="Rectangle 277"/>
          <p:cNvSpPr>
            <a:spLocks noChangeArrowheads="1"/>
          </p:cNvSpPr>
          <p:nvPr/>
        </p:nvSpPr>
        <p:spPr bwMode="auto">
          <a:xfrm>
            <a:off x="6384925" y="28575"/>
            <a:ext cx="2667000" cy="1082675"/>
          </a:xfrm>
          <a:prstGeom prst="rect">
            <a:avLst/>
          </a:prstGeom>
          <a:noFill/>
          <a:ln>
            <a:noFill/>
          </a:ln>
        </p:spPr>
        <p:txBody>
          <a:bodyPr wrap="none" anchor="ctr">
            <a:spAutoFit/>
          </a:bodyPr>
          <a:lstStyle/>
          <a:p>
            <a:pPr algn="just">
              <a:lnSpc>
                <a:spcPct val="120000"/>
              </a:lnSpc>
            </a:pPr>
            <a:r>
              <a:rPr lang="fr-FR" i="1"/>
              <a:t>D</a:t>
            </a:r>
            <a:r>
              <a:rPr lang="fr-FR" i="1" baseline="-25000"/>
              <a:t>x</a:t>
            </a:r>
            <a:r>
              <a:rPr lang="fr-FR" i="1"/>
              <a:t>(z) = </a:t>
            </a:r>
            <a:r>
              <a:rPr lang="fr-FR"/>
              <a:t>min{</a:t>
            </a:r>
            <a:r>
              <a:rPr lang="fr-FR" i="1"/>
              <a:t>c(x,y) + </a:t>
            </a:r>
            <a:br>
              <a:rPr lang="fr-FR" i="1"/>
            </a:br>
            <a:r>
              <a:rPr lang="fr-FR" i="1"/>
              <a:t>      D</a:t>
            </a:r>
            <a:r>
              <a:rPr lang="fr-FR" i="1" baseline="-25000"/>
              <a:t>y</a:t>
            </a:r>
            <a:r>
              <a:rPr lang="fr-FR" i="1"/>
              <a:t>(z), c(x,z) + D</a:t>
            </a:r>
            <a:r>
              <a:rPr lang="fr-FR" i="1" baseline="-25000"/>
              <a:t>z</a:t>
            </a:r>
            <a:r>
              <a:rPr lang="fr-FR" i="1"/>
              <a:t>(z)</a:t>
            </a:r>
            <a:r>
              <a:rPr lang="fr-FR"/>
              <a:t>} </a:t>
            </a:r>
          </a:p>
          <a:p>
            <a:pPr algn="just">
              <a:lnSpc>
                <a:spcPct val="120000"/>
              </a:lnSpc>
            </a:pPr>
            <a:r>
              <a:rPr lang="fr-FR"/>
              <a:t>= min{2+1 , 7+0} = 3</a:t>
            </a:r>
          </a:p>
        </p:txBody>
      </p:sp>
      <p:sp>
        <p:nvSpPr>
          <p:cNvPr id="138379" name="Line 278"/>
          <p:cNvSpPr>
            <a:spLocks noChangeShapeType="1"/>
          </p:cNvSpPr>
          <p:nvPr/>
        </p:nvSpPr>
        <p:spPr bwMode="auto">
          <a:xfrm flipH="1">
            <a:off x="4179888" y="482600"/>
            <a:ext cx="2586037" cy="1333500"/>
          </a:xfrm>
          <a:prstGeom prst="line">
            <a:avLst/>
          </a:prstGeom>
          <a:noFill/>
          <a:ln w="9525">
            <a:solidFill>
              <a:schemeClr val="accent2"/>
            </a:solidFill>
            <a:round/>
            <a:tailEnd type="triangle" w="med" len="med"/>
          </a:ln>
        </p:spPr>
        <p:txBody>
          <a:bodyPr wrap="none"/>
          <a:lstStyle/>
          <a:p>
            <a:endParaRPr lang="en-US"/>
          </a:p>
        </p:txBody>
      </p:sp>
      <p:sp>
        <p:nvSpPr>
          <p:cNvPr id="138380" name="Text Box 279"/>
          <p:cNvSpPr txBox="1">
            <a:spLocks noChangeArrowheads="1"/>
          </p:cNvSpPr>
          <p:nvPr/>
        </p:nvSpPr>
        <p:spPr bwMode="auto">
          <a:xfrm>
            <a:off x="3922713" y="1674813"/>
            <a:ext cx="311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3</a:t>
            </a:r>
          </a:p>
        </p:txBody>
      </p:sp>
      <p:sp>
        <p:nvSpPr>
          <p:cNvPr id="138381" name="Text Box 280"/>
          <p:cNvSpPr txBox="1">
            <a:spLocks noChangeArrowheads="1"/>
          </p:cNvSpPr>
          <p:nvPr/>
        </p:nvSpPr>
        <p:spPr bwMode="auto">
          <a:xfrm>
            <a:off x="3579813" y="1679575"/>
            <a:ext cx="342900" cy="366713"/>
          </a:xfrm>
          <a:prstGeom prst="rect">
            <a:avLst/>
          </a:prstGeom>
          <a:noFill/>
          <a:ln>
            <a:noFill/>
          </a:ln>
        </p:spPr>
        <p:txBody>
          <a:bodyPr>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2 </a:t>
            </a:r>
          </a:p>
        </p:txBody>
      </p:sp>
      <p:sp>
        <p:nvSpPr>
          <p:cNvPr id="138382" name="Text Box 281"/>
          <p:cNvSpPr txBox="1">
            <a:spLocks noChangeArrowheads="1"/>
          </p:cNvSpPr>
          <p:nvPr/>
        </p:nvSpPr>
        <p:spPr bwMode="auto">
          <a:xfrm>
            <a:off x="292100" y="2851150"/>
            <a:ext cx="920750" cy="558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eaLnBrk="1" hangingPunct="1">
              <a:lnSpc>
                <a:spcPct val="85000"/>
              </a:lnSpc>
            </a:pPr>
            <a:r>
              <a:rPr lang="en-US" sz="1800" b="1">
                <a:solidFill>
                  <a:srgbClr val="CC0000"/>
                </a:solidFill>
              </a:rPr>
              <a:t>node y</a:t>
            </a:r>
          </a:p>
          <a:p>
            <a:pPr algn="r" eaLnBrk="1" hangingPunct="1">
              <a:lnSpc>
                <a:spcPct val="85000"/>
              </a:lnSpc>
            </a:pPr>
            <a:r>
              <a:rPr lang="en-US" sz="1800" b="1">
                <a:solidFill>
                  <a:srgbClr val="CC0000"/>
                </a:solidFill>
              </a:rPr>
              <a:t>table</a:t>
            </a:r>
          </a:p>
        </p:txBody>
      </p:sp>
      <p:sp>
        <p:nvSpPr>
          <p:cNvPr id="138383" name="Text Box 282"/>
          <p:cNvSpPr txBox="1">
            <a:spLocks noChangeArrowheads="1"/>
          </p:cNvSpPr>
          <p:nvPr/>
        </p:nvSpPr>
        <p:spPr bwMode="auto">
          <a:xfrm>
            <a:off x="311150" y="4699000"/>
            <a:ext cx="908050" cy="558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eaLnBrk="1" hangingPunct="1">
              <a:lnSpc>
                <a:spcPct val="85000"/>
              </a:lnSpc>
            </a:pPr>
            <a:r>
              <a:rPr lang="en-US" sz="1800" b="1">
                <a:solidFill>
                  <a:srgbClr val="CC0000"/>
                </a:solidFill>
              </a:rPr>
              <a:t>node z</a:t>
            </a:r>
          </a:p>
          <a:p>
            <a:pPr algn="r" eaLnBrk="1" hangingPunct="1">
              <a:lnSpc>
                <a:spcPct val="85000"/>
              </a:lnSpc>
            </a:pPr>
            <a:r>
              <a:rPr lang="en-US" sz="1800" b="1">
                <a:solidFill>
                  <a:srgbClr val="CC0000"/>
                </a:solidFill>
              </a:rPr>
              <a:t>table</a:t>
            </a:r>
          </a:p>
        </p:txBody>
      </p:sp>
      <p:sp>
        <p:nvSpPr>
          <p:cNvPr id="138384" name="Text Box 283"/>
          <p:cNvSpPr txBox="1">
            <a:spLocks noChangeArrowheads="1"/>
          </p:cNvSpPr>
          <p:nvPr/>
        </p:nvSpPr>
        <p:spPr bwMode="auto">
          <a:xfrm>
            <a:off x="3413125" y="1143000"/>
            <a:ext cx="706438"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cost to</a:t>
            </a:r>
          </a:p>
        </p:txBody>
      </p:sp>
      <p:sp>
        <p:nvSpPr>
          <p:cNvPr id="138385" name="Text Box 284"/>
          <p:cNvSpPr txBox="1">
            <a:spLocks noChangeArrowheads="1"/>
          </p:cNvSpPr>
          <p:nvPr/>
        </p:nvSpPr>
        <p:spPr bwMode="auto">
          <a:xfrm rot="-5400000">
            <a:off x="561182" y="2067719"/>
            <a:ext cx="538162" cy="304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i="1"/>
              <a:t>from</a:t>
            </a:r>
          </a:p>
        </p:txBody>
      </p:sp>
      <p:sp>
        <p:nvSpPr>
          <p:cNvPr id="181"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50</a:t>
            </a:fld>
            <a:endParaRPr lang="en-US" sz="1200" dirty="0">
              <a:latin typeface="Tahoma" panose="020B0604030504040204" charset="0"/>
            </a:endParaRPr>
          </a:p>
        </p:txBody>
      </p:sp>
      <p:sp>
        <p:nvSpPr>
          <p:cNvPr id="182"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9267" name="Picture 15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847725"/>
            <a:ext cx="6856412" cy="173038"/>
          </a:xfrm>
          <a:prstGeom prst="rect">
            <a:avLst/>
          </a:prstGeom>
          <a:noFill/>
          <a:ln>
            <a:noFill/>
          </a:ln>
        </p:spPr>
      </p:pic>
      <p:sp>
        <p:nvSpPr>
          <p:cNvPr id="139268" name="Rectangle 2"/>
          <p:cNvSpPr>
            <a:spLocks noGrp="1" noChangeArrowheads="1"/>
          </p:cNvSpPr>
          <p:nvPr>
            <p:ph type="title"/>
          </p:nvPr>
        </p:nvSpPr>
        <p:spPr>
          <a:xfrm>
            <a:off x="533400" y="152400"/>
            <a:ext cx="7772400" cy="1008063"/>
          </a:xfrm>
        </p:spPr>
        <p:txBody>
          <a:bodyPr/>
          <a:lstStyle/>
          <a:p>
            <a:r>
              <a:rPr lang="en-US" sz="3600">
                <a:latin typeface="Gill Sans MT" pitchFamily="34" charset="0"/>
              </a:rPr>
              <a:t>Distance vector: link cost changes</a:t>
            </a:r>
            <a:endParaRPr lang="en-US">
              <a:latin typeface="Gill Sans MT" pitchFamily="34" charset="0"/>
            </a:endParaRPr>
          </a:p>
        </p:txBody>
      </p:sp>
      <p:sp>
        <p:nvSpPr>
          <p:cNvPr id="139269" name="Rectangle 3"/>
          <p:cNvSpPr>
            <a:spLocks noChangeArrowheads="1"/>
          </p:cNvSpPr>
          <p:nvPr/>
        </p:nvSpPr>
        <p:spPr bwMode="auto">
          <a:xfrm>
            <a:off x="583565" y="1283335"/>
            <a:ext cx="5584190" cy="2524125"/>
          </a:xfrm>
          <a:prstGeom prst="rect">
            <a:avLst/>
          </a:prstGeom>
          <a:noFill/>
          <a:ln>
            <a:noFill/>
          </a:ln>
        </p:spPr>
        <p:txBody>
          <a:bodyPr/>
          <a:lstStyle/>
          <a:p>
            <a:pPr marL="342900" indent="-342900">
              <a:lnSpc>
                <a:spcPct val="85000"/>
              </a:lnSpc>
              <a:spcBef>
                <a:spcPct val="20000"/>
              </a:spcBef>
              <a:buClr>
                <a:srgbClr val="000099"/>
              </a:buClr>
              <a:buSzPct val="65000"/>
              <a:buFont typeface="Wingdings" panose="05000000000000000000" charset="0"/>
              <a:buNone/>
            </a:pPr>
            <a:r>
              <a:rPr lang="en-US" sz="2800" i="1">
                <a:solidFill>
                  <a:srgbClr val="CC0000"/>
                </a:solidFill>
                <a:latin typeface="Gill Sans MT" pitchFamily="34" charset="0"/>
              </a:rPr>
              <a:t>link cost changes:</a:t>
            </a:r>
          </a:p>
          <a:p>
            <a:pPr marL="342900" indent="-342900">
              <a:lnSpc>
                <a:spcPct val="85000"/>
              </a:lnSpc>
              <a:spcBef>
                <a:spcPct val="20000"/>
              </a:spcBef>
              <a:buClr>
                <a:srgbClr val="000099"/>
              </a:buClr>
              <a:buSzPct val="65000"/>
              <a:buFont typeface="Wingdings" panose="05000000000000000000" charset="0"/>
              <a:buChar char="v"/>
            </a:pPr>
            <a:r>
              <a:rPr lang="en-US" sz="2400">
                <a:latin typeface="Gill Sans MT" pitchFamily="34" charset="0"/>
              </a:rPr>
              <a:t>node detects local link cost change </a:t>
            </a:r>
          </a:p>
          <a:p>
            <a:pPr marL="342900" indent="-342900">
              <a:lnSpc>
                <a:spcPct val="85000"/>
              </a:lnSpc>
              <a:spcBef>
                <a:spcPct val="20000"/>
              </a:spcBef>
              <a:buClr>
                <a:srgbClr val="000099"/>
              </a:buClr>
              <a:buSzPct val="65000"/>
              <a:buFont typeface="Wingdings" panose="05000000000000000000" charset="0"/>
              <a:buChar char="v"/>
            </a:pPr>
            <a:r>
              <a:rPr lang="en-US" sz="2400">
                <a:latin typeface="Gill Sans MT" pitchFamily="34" charset="0"/>
              </a:rPr>
              <a:t>updates routing info, recalculates </a:t>
            </a:r>
            <a:br>
              <a:rPr lang="en-US" sz="2400">
                <a:latin typeface="Gill Sans MT" pitchFamily="34" charset="0"/>
              </a:rPr>
            </a:br>
            <a:r>
              <a:rPr lang="en-US" sz="2400">
                <a:latin typeface="Gill Sans MT" pitchFamily="34" charset="0"/>
              </a:rPr>
              <a:t>distance vector</a:t>
            </a:r>
          </a:p>
          <a:p>
            <a:pPr marL="342900" indent="-342900">
              <a:lnSpc>
                <a:spcPct val="85000"/>
              </a:lnSpc>
              <a:spcBef>
                <a:spcPct val="20000"/>
              </a:spcBef>
              <a:buClr>
                <a:srgbClr val="000099"/>
              </a:buClr>
              <a:buSzPct val="65000"/>
              <a:buFont typeface="Wingdings" panose="05000000000000000000" charset="0"/>
              <a:buChar char="v"/>
            </a:pPr>
            <a:r>
              <a:rPr lang="en-US" sz="2400">
                <a:latin typeface="Gill Sans MT" pitchFamily="34" charset="0"/>
              </a:rPr>
              <a:t>if DV changes, notify neighbors</a:t>
            </a:r>
            <a:r>
              <a:rPr lang="en-US" sz="2200">
                <a:latin typeface="Gill Sans MT" pitchFamily="34" charset="0"/>
              </a:rPr>
              <a:t> </a:t>
            </a:r>
          </a:p>
        </p:txBody>
      </p:sp>
      <p:sp>
        <p:nvSpPr>
          <p:cNvPr id="139270" name="Text Box 4"/>
          <p:cNvSpPr txBox="1">
            <a:spLocks noChangeArrowheads="1"/>
          </p:cNvSpPr>
          <p:nvPr/>
        </p:nvSpPr>
        <p:spPr bwMode="auto">
          <a:xfrm>
            <a:off x="314325" y="3694113"/>
            <a:ext cx="1000125" cy="12604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nSpc>
                <a:spcPct val="80000"/>
              </a:lnSpc>
            </a:pPr>
            <a:r>
              <a:rPr lang="ja-JP" altLang="en-US">
                <a:solidFill>
                  <a:srgbClr val="CC0000"/>
                </a:solidFill>
                <a:latin typeface="Gill Sans MT" pitchFamily="34" charset="0"/>
              </a:rPr>
              <a:t>“</a:t>
            </a:r>
            <a:r>
              <a:rPr lang="en-US" altLang="ja-JP">
                <a:solidFill>
                  <a:srgbClr val="CC0000"/>
                </a:solidFill>
                <a:latin typeface="Gill Sans MT" pitchFamily="34" charset="0"/>
              </a:rPr>
              <a:t>good</a:t>
            </a:r>
          </a:p>
          <a:p>
            <a:pPr>
              <a:lnSpc>
                <a:spcPct val="80000"/>
              </a:lnSpc>
            </a:pPr>
            <a:r>
              <a:rPr lang="en-US">
                <a:solidFill>
                  <a:srgbClr val="CC0000"/>
                </a:solidFill>
                <a:latin typeface="Gill Sans MT" pitchFamily="34" charset="0"/>
              </a:rPr>
              <a:t>news </a:t>
            </a:r>
          </a:p>
          <a:p>
            <a:pPr>
              <a:lnSpc>
                <a:spcPct val="80000"/>
              </a:lnSpc>
            </a:pPr>
            <a:r>
              <a:rPr lang="en-US">
                <a:solidFill>
                  <a:srgbClr val="CC0000"/>
                </a:solidFill>
                <a:latin typeface="Gill Sans MT" pitchFamily="34" charset="0"/>
              </a:rPr>
              <a:t>travels</a:t>
            </a:r>
          </a:p>
          <a:p>
            <a:pPr>
              <a:lnSpc>
                <a:spcPct val="80000"/>
              </a:lnSpc>
            </a:pPr>
            <a:r>
              <a:rPr lang="en-US">
                <a:solidFill>
                  <a:srgbClr val="CC0000"/>
                </a:solidFill>
                <a:latin typeface="Gill Sans MT" pitchFamily="34" charset="0"/>
              </a:rPr>
              <a:t>fast</a:t>
            </a:r>
            <a:r>
              <a:rPr lang="ja-JP" altLang="en-US">
                <a:solidFill>
                  <a:srgbClr val="CC0000"/>
                </a:solidFill>
                <a:latin typeface="Gill Sans MT" pitchFamily="34" charset="0"/>
              </a:rPr>
              <a:t>”</a:t>
            </a:r>
            <a:endParaRPr lang="en-US" sz="1600">
              <a:solidFill>
                <a:srgbClr val="CC0000"/>
              </a:solidFill>
              <a:latin typeface="Gill Sans MT" pitchFamily="34" charset="0"/>
            </a:endParaRPr>
          </a:p>
        </p:txBody>
      </p:sp>
      <p:grpSp>
        <p:nvGrpSpPr>
          <p:cNvPr id="139271" name="Group 5"/>
          <p:cNvGrpSpPr/>
          <p:nvPr/>
        </p:nvGrpSpPr>
        <p:grpSpPr bwMode="auto">
          <a:xfrm>
            <a:off x="6271895" y="1713230"/>
            <a:ext cx="2184400" cy="1314450"/>
            <a:chOff x="3625" y="1076"/>
            <a:chExt cx="1376" cy="828"/>
          </a:xfrm>
        </p:grpSpPr>
        <p:sp>
          <p:nvSpPr>
            <p:cNvPr id="139275" name="Freeform 6"/>
            <p:cNvSpPr/>
            <p:nvPr/>
          </p:nvSpPr>
          <p:spPr bwMode="auto">
            <a:xfrm>
              <a:off x="3625" y="114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66CCFF"/>
            </a:solidFill>
            <a:ln>
              <a:noFill/>
            </a:ln>
          </p:spPr>
          <p:txBody>
            <a:bodyPr wrap="none" anchor="ctr"/>
            <a:lstStyle/>
            <a:p>
              <a:endParaRPr lang="en-US"/>
            </a:p>
          </p:txBody>
        </p:sp>
        <p:sp>
          <p:nvSpPr>
            <p:cNvPr id="139276" name="Freeform 7"/>
            <p:cNvSpPr/>
            <p:nvPr/>
          </p:nvSpPr>
          <p:spPr bwMode="auto">
            <a:xfrm>
              <a:off x="3984" y="1404"/>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chemeClr val="tx1"/>
              </a:solidFill>
              <a:round/>
            </a:ln>
          </p:spPr>
          <p:txBody>
            <a:bodyPr wrap="none" anchor="ctr"/>
            <a:lstStyle/>
            <a:p>
              <a:endParaRPr lang="en-US"/>
            </a:p>
          </p:txBody>
        </p:sp>
        <p:sp>
          <p:nvSpPr>
            <p:cNvPr id="139277" name="Oval 8"/>
            <p:cNvSpPr>
              <a:spLocks noChangeArrowheads="1"/>
            </p:cNvSpPr>
            <p:nvPr/>
          </p:nvSpPr>
          <p:spPr bwMode="auto">
            <a:xfrm>
              <a:off x="3724" y="1640"/>
              <a:ext cx="313" cy="81"/>
            </a:xfrm>
            <a:prstGeom prst="ellipse">
              <a:avLst/>
            </a:prstGeom>
            <a:solidFill>
              <a:schemeClr val="hlink"/>
            </a:solidFill>
            <a:ln w="12700">
              <a:solidFill>
                <a:schemeClr val="tx1"/>
              </a:solidFill>
              <a:round/>
            </a:ln>
          </p:spPr>
          <p:txBody>
            <a:bodyPr wrap="none" anchor="ctr"/>
            <a:lstStyle/>
            <a:p>
              <a:endParaRPr lang="en-US"/>
            </a:p>
          </p:txBody>
        </p:sp>
        <p:sp>
          <p:nvSpPr>
            <p:cNvPr id="139278" name="Line 9"/>
            <p:cNvSpPr>
              <a:spLocks noChangeShapeType="1"/>
            </p:cNvSpPr>
            <p:nvPr/>
          </p:nvSpPr>
          <p:spPr bwMode="auto">
            <a:xfrm>
              <a:off x="3724" y="1633"/>
              <a:ext cx="1" cy="50"/>
            </a:xfrm>
            <a:prstGeom prst="line">
              <a:avLst/>
            </a:prstGeom>
            <a:noFill/>
            <a:ln w="12700">
              <a:solidFill>
                <a:schemeClr val="tx1"/>
              </a:solidFill>
              <a:round/>
            </a:ln>
          </p:spPr>
          <p:txBody>
            <a:bodyPr wrap="none" anchor="ctr"/>
            <a:lstStyle/>
            <a:p>
              <a:endParaRPr lang="en-US"/>
            </a:p>
          </p:txBody>
        </p:sp>
        <p:sp>
          <p:nvSpPr>
            <p:cNvPr id="139279" name="Line 10"/>
            <p:cNvSpPr>
              <a:spLocks noChangeShapeType="1"/>
            </p:cNvSpPr>
            <p:nvPr/>
          </p:nvSpPr>
          <p:spPr bwMode="auto">
            <a:xfrm>
              <a:off x="4037" y="1633"/>
              <a:ext cx="1" cy="50"/>
            </a:xfrm>
            <a:prstGeom prst="line">
              <a:avLst/>
            </a:prstGeom>
            <a:noFill/>
            <a:ln w="12700">
              <a:solidFill>
                <a:schemeClr val="tx1"/>
              </a:solidFill>
              <a:round/>
            </a:ln>
          </p:spPr>
          <p:txBody>
            <a:bodyPr wrap="none" anchor="ctr"/>
            <a:lstStyle/>
            <a:p>
              <a:endParaRPr lang="en-US"/>
            </a:p>
          </p:txBody>
        </p:sp>
        <p:sp>
          <p:nvSpPr>
            <p:cNvPr id="139280" name="Rectangle 11"/>
            <p:cNvSpPr>
              <a:spLocks noChangeArrowheads="1"/>
            </p:cNvSpPr>
            <p:nvPr/>
          </p:nvSpPr>
          <p:spPr bwMode="auto">
            <a:xfrm>
              <a:off x="3724" y="1633"/>
              <a:ext cx="310" cy="49"/>
            </a:xfrm>
            <a:prstGeom prst="rect">
              <a:avLst/>
            </a:prstGeom>
            <a:solidFill>
              <a:schemeClr val="hlink"/>
            </a:solidFill>
            <a:ln>
              <a:noFill/>
            </a:ln>
          </p:spPr>
          <p:txBody>
            <a:bodyPr wrap="none" anchor="ctr"/>
            <a:lstStyle/>
            <a:p>
              <a:pPr algn="ctr"/>
              <a:endParaRPr lang="en-US" sz="2400">
                <a:latin typeface="Times New Roman" panose="02020503050405090304" charset="0"/>
              </a:endParaRPr>
            </a:p>
          </p:txBody>
        </p:sp>
        <p:sp>
          <p:nvSpPr>
            <p:cNvPr id="139281" name="Oval 12"/>
            <p:cNvSpPr>
              <a:spLocks noChangeArrowheads="1"/>
            </p:cNvSpPr>
            <p:nvPr/>
          </p:nvSpPr>
          <p:spPr bwMode="auto">
            <a:xfrm>
              <a:off x="3721" y="1574"/>
              <a:ext cx="313" cy="95"/>
            </a:xfrm>
            <a:prstGeom prst="ellipse">
              <a:avLst/>
            </a:prstGeom>
            <a:solidFill>
              <a:schemeClr val="hlink"/>
            </a:solidFill>
            <a:ln w="12700">
              <a:solidFill>
                <a:schemeClr val="tx1"/>
              </a:solidFill>
              <a:round/>
            </a:ln>
          </p:spPr>
          <p:txBody>
            <a:bodyPr wrap="none" anchor="ctr"/>
            <a:lstStyle/>
            <a:p>
              <a:endParaRPr lang="en-US"/>
            </a:p>
          </p:txBody>
        </p:sp>
        <p:sp>
          <p:nvSpPr>
            <p:cNvPr id="139282" name="Freeform 13"/>
            <p:cNvSpPr/>
            <p:nvPr/>
          </p:nvSpPr>
          <p:spPr bwMode="auto">
            <a:xfrm>
              <a:off x="4389" y="1404"/>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chemeClr val="tx1"/>
              </a:solidFill>
              <a:round/>
            </a:ln>
          </p:spPr>
          <p:txBody>
            <a:bodyPr wrap="none" anchor="ctr"/>
            <a:lstStyle/>
            <a:p>
              <a:endParaRPr lang="en-US"/>
            </a:p>
          </p:txBody>
        </p:sp>
        <p:sp>
          <p:nvSpPr>
            <p:cNvPr id="139283" name="Freeform 14"/>
            <p:cNvSpPr/>
            <p:nvPr/>
          </p:nvSpPr>
          <p:spPr bwMode="auto">
            <a:xfrm>
              <a:off x="4041" y="1668"/>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chemeClr val="tx1"/>
              </a:solidFill>
              <a:round/>
            </a:ln>
          </p:spPr>
          <p:txBody>
            <a:bodyPr wrap="none" anchor="ctr"/>
            <a:lstStyle/>
            <a:p>
              <a:endParaRPr lang="en-US"/>
            </a:p>
          </p:txBody>
        </p:sp>
        <p:grpSp>
          <p:nvGrpSpPr>
            <p:cNvPr id="139284" name="Group 15"/>
            <p:cNvGrpSpPr/>
            <p:nvPr/>
          </p:nvGrpSpPr>
          <p:grpSpPr bwMode="auto">
            <a:xfrm>
              <a:off x="3770" y="1526"/>
              <a:ext cx="210" cy="250"/>
              <a:chOff x="2951" y="2429"/>
              <a:chExt cx="213" cy="250"/>
            </a:xfrm>
          </p:grpSpPr>
          <p:sp>
            <p:nvSpPr>
              <p:cNvPr id="139308" name="Rectangle 16"/>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39309" name="Text Box 17"/>
              <p:cNvSpPr txBox="1">
                <a:spLocks noChangeArrowheads="1"/>
              </p:cNvSpPr>
              <p:nvPr/>
            </p:nvSpPr>
            <p:spPr bwMode="auto">
              <a:xfrm>
                <a:off x="2951" y="2429"/>
                <a:ext cx="213"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latin typeface="Comic Sans MS" panose="030F0902030302020204" pitchFamily="66" charset="0"/>
                  </a:rPr>
                  <a:t>x</a:t>
                </a:r>
                <a:endParaRPr lang="en-US">
                  <a:latin typeface="Times New Roman" panose="02020503050405090304" charset="0"/>
                </a:endParaRPr>
              </a:p>
            </p:txBody>
          </p:sp>
        </p:grpSp>
        <p:grpSp>
          <p:nvGrpSpPr>
            <p:cNvPr id="139285" name="Group 18"/>
            <p:cNvGrpSpPr/>
            <p:nvPr/>
          </p:nvGrpSpPr>
          <p:grpSpPr bwMode="auto">
            <a:xfrm>
              <a:off x="4566" y="1538"/>
              <a:ext cx="316" cy="250"/>
              <a:chOff x="1740" y="2306"/>
              <a:chExt cx="316" cy="250"/>
            </a:xfrm>
          </p:grpSpPr>
          <p:sp>
            <p:nvSpPr>
              <p:cNvPr id="139300" name="Oval 19"/>
              <p:cNvSpPr>
                <a:spLocks noChangeArrowheads="1"/>
              </p:cNvSpPr>
              <p:nvPr/>
            </p:nvSpPr>
            <p:spPr bwMode="auto">
              <a:xfrm>
                <a:off x="1743" y="2420"/>
                <a:ext cx="313" cy="81"/>
              </a:xfrm>
              <a:prstGeom prst="ellipse">
                <a:avLst/>
              </a:prstGeom>
              <a:solidFill>
                <a:schemeClr val="hlink"/>
              </a:solidFill>
              <a:ln w="12700">
                <a:solidFill>
                  <a:schemeClr val="tx1"/>
                </a:solidFill>
                <a:round/>
              </a:ln>
            </p:spPr>
            <p:txBody>
              <a:bodyPr wrap="none" anchor="ctr"/>
              <a:lstStyle/>
              <a:p>
                <a:endParaRPr lang="en-US"/>
              </a:p>
            </p:txBody>
          </p:sp>
          <p:sp>
            <p:nvSpPr>
              <p:cNvPr id="139301" name="Line 20"/>
              <p:cNvSpPr>
                <a:spLocks noChangeShapeType="1"/>
              </p:cNvSpPr>
              <p:nvPr/>
            </p:nvSpPr>
            <p:spPr bwMode="auto">
              <a:xfrm>
                <a:off x="1743" y="2413"/>
                <a:ext cx="0" cy="50"/>
              </a:xfrm>
              <a:prstGeom prst="line">
                <a:avLst/>
              </a:prstGeom>
              <a:noFill/>
              <a:ln w="12700">
                <a:solidFill>
                  <a:schemeClr val="tx1"/>
                </a:solidFill>
                <a:round/>
              </a:ln>
            </p:spPr>
            <p:txBody>
              <a:bodyPr wrap="none" anchor="ctr"/>
              <a:lstStyle/>
              <a:p>
                <a:endParaRPr lang="en-US"/>
              </a:p>
            </p:txBody>
          </p:sp>
          <p:sp>
            <p:nvSpPr>
              <p:cNvPr id="139302" name="Line 21"/>
              <p:cNvSpPr>
                <a:spLocks noChangeShapeType="1"/>
              </p:cNvSpPr>
              <p:nvPr/>
            </p:nvSpPr>
            <p:spPr bwMode="auto">
              <a:xfrm>
                <a:off x="2056" y="2413"/>
                <a:ext cx="0" cy="50"/>
              </a:xfrm>
              <a:prstGeom prst="line">
                <a:avLst/>
              </a:prstGeom>
              <a:noFill/>
              <a:ln w="12700">
                <a:solidFill>
                  <a:schemeClr val="tx1"/>
                </a:solidFill>
                <a:round/>
              </a:ln>
            </p:spPr>
            <p:txBody>
              <a:bodyPr wrap="none" anchor="ctr"/>
              <a:lstStyle/>
              <a:p>
                <a:endParaRPr lang="en-US"/>
              </a:p>
            </p:txBody>
          </p:sp>
          <p:sp>
            <p:nvSpPr>
              <p:cNvPr id="139303" name="Rectangle 22"/>
              <p:cNvSpPr>
                <a:spLocks noChangeArrowheads="1"/>
              </p:cNvSpPr>
              <p:nvPr/>
            </p:nvSpPr>
            <p:spPr bwMode="auto">
              <a:xfrm>
                <a:off x="1743" y="2413"/>
                <a:ext cx="310" cy="49"/>
              </a:xfrm>
              <a:prstGeom prst="rect">
                <a:avLst/>
              </a:prstGeom>
              <a:solidFill>
                <a:schemeClr val="hlink"/>
              </a:solidFill>
              <a:ln>
                <a:noFill/>
              </a:ln>
            </p:spPr>
            <p:txBody>
              <a:bodyPr wrap="none" anchor="ctr"/>
              <a:lstStyle/>
              <a:p>
                <a:pPr algn="ctr"/>
                <a:endParaRPr lang="en-US" sz="2400">
                  <a:latin typeface="Times New Roman" panose="02020503050405090304" charset="0"/>
                </a:endParaRPr>
              </a:p>
            </p:txBody>
          </p:sp>
          <p:sp>
            <p:nvSpPr>
              <p:cNvPr id="139304" name="Oval 23"/>
              <p:cNvSpPr>
                <a:spLocks noChangeArrowheads="1"/>
              </p:cNvSpPr>
              <p:nvPr/>
            </p:nvSpPr>
            <p:spPr bwMode="auto">
              <a:xfrm>
                <a:off x="1740" y="2354"/>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9305" name="Group 24"/>
              <p:cNvGrpSpPr/>
              <p:nvPr/>
            </p:nvGrpSpPr>
            <p:grpSpPr bwMode="auto">
              <a:xfrm>
                <a:off x="1800" y="2306"/>
                <a:ext cx="202" cy="250"/>
                <a:chOff x="2955" y="2429"/>
                <a:chExt cx="205" cy="250"/>
              </a:xfrm>
            </p:grpSpPr>
            <p:sp>
              <p:nvSpPr>
                <p:cNvPr id="139306" name="Rectangle 25"/>
                <p:cNvSpPr>
                  <a:spLocks noChangeArrowheads="1"/>
                </p:cNvSpPr>
                <p:nvPr/>
              </p:nvSpPr>
              <p:spPr bwMode="auto">
                <a:xfrm>
                  <a:off x="2982" y="2490"/>
                  <a:ext cx="143" cy="132"/>
                </a:xfrm>
                <a:prstGeom prst="rect">
                  <a:avLst/>
                </a:prstGeom>
                <a:solidFill>
                  <a:schemeClr val="hlink"/>
                </a:solidFill>
                <a:ln>
                  <a:noFill/>
                </a:ln>
              </p:spPr>
              <p:txBody>
                <a:bodyPr wrap="none" anchor="ctr"/>
                <a:lstStyle/>
                <a:p>
                  <a:endParaRPr lang="en-US"/>
                </a:p>
              </p:txBody>
            </p:sp>
            <p:sp>
              <p:nvSpPr>
                <p:cNvPr id="139307" name="Text Box 26"/>
                <p:cNvSpPr txBox="1">
                  <a:spLocks noChangeArrowheads="1"/>
                </p:cNvSpPr>
                <p:nvPr/>
              </p:nvSpPr>
              <p:spPr bwMode="auto">
                <a:xfrm>
                  <a:off x="2955" y="2429"/>
                  <a:ext cx="20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latin typeface="Comic Sans MS" panose="030F0902030302020204" pitchFamily="66" charset="0"/>
                    </a:rPr>
                    <a:t>z</a:t>
                  </a:r>
                  <a:endParaRPr lang="en-US">
                    <a:latin typeface="Times New Roman" panose="02020503050405090304" charset="0"/>
                  </a:endParaRPr>
                </a:p>
              </p:txBody>
            </p:sp>
          </p:grpSp>
        </p:grpSp>
        <p:sp>
          <p:nvSpPr>
            <p:cNvPr id="139286" name="Text Box 27"/>
            <p:cNvSpPr txBox="1">
              <a:spLocks noChangeArrowheads="1"/>
            </p:cNvSpPr>
            <p:nvPr/>
          </p:nvSpPr>
          <p:spPr bwMode="auto">
            <a:xfrm>
              <a:off x="4469" y="1328"/>
              <a:ext cx="181"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latin typeface="Comic Sans MS" panose="030F0902030302020204" pitchFamily="66" charset="0"/>
                </a:rPr>
                <a:t>1</a:t>
              </a:r>
              <a:endParaRPr lang="en-US">
                <a:latin typeface="Times New Roman" panose="02020503050405090304" charset="0"/>
              </a:endParaRPr>
            </a:p>
          </p:txBody>
        </p:sp>
        <p:sp>
          <p:nvSpPr>
            <p:cNvPr id="139287" name="Text Box 28"/>
            <p:cNvSpPr txBox="1">
              <a:spLocks noChangeArrowheads="1"/>
            </p:cNvSpPr>
            <p:nvPr/>
          </p:nvSpPr>
          <p:spPr bwMode="auto">
            <a:xfrm>
              <a:off x="3930" y="1325"/>
              <a:ext cx="204"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latin typeface="Comic Sans MS" panose="030F0902030302020204" pitchFamily="66" charset="0"/>
                </a:rPr>
                <a:t>4</a:t>
              </a:r>
              <a:endParaRPr lang="en-US">
                <a:latin typeface="Times New Roman" panose="02020503050405090304" charset="0"/>
              </a:endParaRPr>
            </a:p>
          </p:txBody>
        </p:sp>
        <p:sp>
          <p:nvSpPr>
            <p:cNvPr id="139288" name="Text Box 29"/>
            <p:cNvSpPr txBox="1">
              <a:spLocks noChangeArrowheads="1"/>
            </p:cNvSpPr>
            <p:nvPr/>
          </p:nvSpPr>
          <p:spPr bwMode="auto">
            <a:xfrm>
              <a:off x="4171" y="1658"/>
              <a:ext cx="292"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latin typeface="Comic Sans MS" panose="030F0902030302020204" pitchFamily="66" charset="0"/>
                </a:rPr>
                <a:t>50</a:t>
              </a:r>
              <a:endParaRPr lang="en-US">
                <a:latin typeface="Times New Roman" panose="02020503050405090304" charset="0"/>
              </a:endParaRPr>
            </a:p>
          </p:txBody>
        </p:sp>
        <p:grpSp>
          <p:nvGrpSpPr>
            <p:cNvPr id="139289" name="Group 30"/>
            <p:cNvGrpSpPr/>
            <p:nvPr/>
          </p:nvGrpSpPr>
          <p:grpSpPr bwMode="auto">
            <a:xfrm>
              <a:off x="4146" y="1214"/>
              <a:ext cx="316" cy="250"/>
              <a:chOff x="1740" y="2306"/>
              <a:chExt cx="316" cy="250"/>
            </a:xfrm>
          </p:grpSpPr>
          <p:sp>
            <p:nvSpPr>
              <p:cNvPr id="139292" name="Oval 31"/>
              <p:cNvSpPr>
                <a:spLocks noChangeArrowheads="1"/>
              </p:cNvSpPr>
              <p:nvPr/>
            </p:nvSpPr>
            <p:spPr bwMode="auto">
              <a:xfrm>
                <a:off x="1743" y="2420"/>
                <a:ext cx="313" cy="81"/>
              </a:xfrm>
              <a:prstGeom prst="ellipse">
                <a:avLst/>
              </a:prstGeom>
              <a:solidFill>
                <a:schemeClr val="hlink"/>
              </a:solidFill>
              <a:ln w="12700">
                <a:solidFill>
                  <a:schemeClr val="tx1"/>
                </a:solidFill>
                <a:round/>
              </a:ln>
            </p:spPr>
            <p:txBody>
              <a:bodyPr wrap="none" anchor="ctr"/>
              <a:lstStyle/>
              <a:p>
                <a:endParaRPr lang="en-US"/>
              </a:p>
            </p:txBody>
          </p:sp>
          <p:sp>
            <p:nvSpPr>
              <p:cNvPr id="139293" name="Line 32"/>
              <p:cNvSpPr>
                <a:spLocks noChangeShapeType="1"/>
              </p:cNvSpPr>
              <p:nvPr/>
            </p:nvSpPr>
            <p:spPr bwMode="auto">
              <a:xfrm>
                <a:off x="1743" y="2413"/>
                <a:ext cx="0" cy="50"/>
              </a:xfrm>
              <a:prstGeom prst="line">
                <a:avLst/>
              </a:prstGeom>
              <a:noFill/>
              <a:ln w="12700">
                <a:solidFill>
                  <a:schemeClr val="tx1"/>
                </a:solidFill>
                <a:round/>
              </a:ln>
            </p:spPr>
            <p:txBody>
              <a:bodyPr wrap="none" anchor="ctr"/>
              <a:lstStyle/>
              <a:p>
                <a:endParaRPr lang="en-US"/>
              </a:p>
            </p:txBody>
          </p:sp>
          <p:sp>
            <p:nvSpPr>
              <p:cNvPr id="139294" name="Line 33"/>
              <p:cNvSpPr>
                <a:spLocks noChangeShapeType="1"/>
              </p:cNvSpPr>
              <p:nvPr/>
            </p:nvSpPr>
            <p:spPr bwMode="auto">
              <a:xfrm>
                <a:off x="2056" y="2413"/>
                <a:ext cx="0" cy="50"/>
              </a:xfrm>
              <a:prstGeom prst="line">
                <a:avLst/>
              </a:prstGeom>
              <a:noFill/>
              <a:ln w="12700">
                <a:solidFill>
                  <a:schemeClr val="tx1"/>
                </a:solidFill>
                <a:round/>
              </a:ln>
            </p:spPr>
            <p:txBody>
              <a:bodyPr wrap="none" anchor="ctr"/>
              <a:lstStyle/>
              <a:p>
                <a:endParaRPr lang="en-US"/>
              </a:p>
            </p:txBody>
          </p:sp>
          <p:sp>
            <p:nvSpPr>
              <p:cNvPr id="139295" name="Rectangle 34"/>
              <p:cNvSpPr>
                <a:spLocks noChangeArrowheads="1"/>
              </p:cNvSpPr>
              <p:nvPr/>
            </p:nvSpPr>
            <p:spPr bwMode="auto">
              <a:xfrm>
                <a:off x="1743" y="2413"/>
                <a:ext cx="310" cy="49"/>
              </a:xfrm>
              <a:prstGeom prst="rect">
                <a:avLst/>
              </a:prstGeom>
              <a:solidFill>
                <a:schemeClr val="hlink"/>
              </a:solidFill>
              <a:ln>
                <a:noFill/>
              </a:ln>
            </p:spPr>
            <p:txBody>
              <a:bodyPr wrap="none" anchor="ctr"/>
              <a:lstStyle/>
              <a:p>
                <a:pPr algn="ctr"/>
                <a:endParaRPr lang="en-US" sz="2400">
                  <a:latin typeface="Times New Roman" panose="02020503050405090304" charset="0"/>
                </a:endParaRPr>
              </a:p>
            </p:txBody>
          </p:sp>
          <p:sp>
            <p:nvSpPr>
              <p:cNvPr id="139296" name="Oval 35"/>
              <p:cNvSpPr>
                <a:spLocks noChangeArrowheads="1"/>
              </p:cNvSpPr>
              <p:nvPr/>
            </p:nvSpPr>
            <p:spPr bwMode="auto">
              <a:xfrm>
                <a:off x="1740" y="2354"/>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39297" name="Group 36"/>
              <p:cNvGrpSpPr/>
              <p:nvPr/>
            </p:nvGrpSpPr>
            <p:grpSpPr bwMode="auto">
              <a:xfrm>
                <a:off x="1802" y="2306"/>
                <a:ext cx="199" cy="250"/>
                <a:chOff x="2957" y="2429"/>
                <a:chExt cx="202" cy="250"/>
              </a:xfrm>
            </p:grpSpPr>
            <p:sp>
              <p:nvSpPr>
                <p:cNvPr id="139298" name="Rectangle 37"/>
                <p:cNvSpPr>
                  <a:spLocks noChangeArrowheads="1"/>
                </p:cNvSpPr>
                <p:nvPr/>
              </p:nvSpPr>
              <p:spPr bwMode="auto">
                <a:xfrm>
                  <a:off x="2982" y="2490"/>
                  <a:ext cx="143" cy="132"/>
                </a:xfrm>
                <a:prstGeom prst="rect">
                  <a:avLst/>
                </a:prstGeom>
                <a:solidFill>
                  <a:schemeClr val="hlink"/>
                </a:solidFill>
                <a:ln>
                  <a:noFill/>
                </a:ln>
              </p:spPr>
              <p:txBody>
                <a:bodyPr wrap="none" anchor="ctr"/>
                <a:lstStyle/>
                <a:p>
                  <a:endParaRPr lang="en-US"/>
                </a:p>
              </p:txBody>
            </p:sp>
            <p:sp>
              <p:nvSpPr>
                <p:cNvPr id="139299" name="Text Box 38"/>
                <p:cNvSpPr txBox="1">
                  <a:spLocks noChangeArrowheads="1"/>
                </p:cNvSpPr>
                <p:nvPr/>
              </p:nvSpPr>
              <p:spPr bwMode="auto">
                <a:xfrm>
                  <a:off x="2957" y="2429"/>
                  <a:ext cx="202"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latin typeface="Comic Sans MS" panose="030F0902030302020204" pitchFamily="66" charset="0"/>
                    </a:rPr>
                    <a:t>y</a:t>
                  </a:r>
                  <a:endParaRPr lang="en-US">
                    <a:latin typeface="Times New Roman" panose="02020503050405090304" charset="0"/>
                  </a:endParaRPr>
                </a:p>
              </p:txBody>
            </p:sp>
          </p:grpSp>
        </p:grpSp>
        <p:sp>
          <p:nvSpPr>
            <p:cNvPr id="139290" name="Text Box 39"/>
            <p:cNvSpPr txBox="1">
              <a:spLocks noChangeArrowheads="1"/>
            </p:cNvSpPr>
            <p:nvPr/>
          </p:nvSpPr>
          <p:spPr bwMode="auto">
            <a:xfrm>
              <a:off x="3839" y="1076"/>
              <a:ext cx="181"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solidFill>
                    <a:srgbClr val="FF0000"/>
                  </a:solidFill>
                  <a:latin typeface="Comic Sans MS" panose="030F0902030302020204" pitchFamily="66" charset="0"/>
                </a:rPr>
                <a:t>1</a:t>
              </a:r>
              <a:endParaRPr lang="en-US">
                <a:latin typeface="Times New Roman" panose="02020503050405090304" charset="0"/>
              </a:endParaRPr>
            </a:p>
          </p:txBody>
        </p:sp>
        <p:sp>
          <p:nvSpPr>
            <p:cNvPr id="139291" name="Line 40"/>
            <p:cNvSpPr>
              <a:spLocks noChangeShapeType="1"/>
            </p:cNvSpPr>
            <p:nvPr/>
          </p:nvSpPr>
          <p:spPr bwMode="auto">
            <a:xfrm flipH="1" flipV="1">
              <a:off x="3948" y="1272"/>
              <a:ext cx="132" cy="228"/>
            </a:xfrm>
            <a:prstGeom prst="line">
              <a:avLst/>
            </a:prstGeom>
            <a:noFill/>
            <a:ln w="19050">
              <a:solidFill>
                <a:srgbClr val="FF0000"/>
              </a:solidFill>
              <a:round/>
              <a:tailEnd type="triangle" w="med" len="med"/>
            </a:ln>
          </p:spPr>
          <p:txBody>
            <a:bodyPr wrap="none" anchor="ctr"/>
            <a:lstStyle/>
            <a:p>
              <a:endParaRPr lang="en-US"/>
            </a:p>
          </p:txBody>
        </p:sp>
      </p:grpSp>
      <p:sp>
        <p:nvSpPr>
          <p:cNvPr id="730153" name="Rectangle 41"/>
          <p:cNvSpPr>
            <a:spLocks noChangeArrowheads="1"/>
          </p:cNvSpPr>
          <p:nvPr/>
        </p:nvSpPr>
        <p:spPr bwMode="auto">
          <a:xfrm>
            <a:off x="1698625" y="3633788"/>
            <a:ext cx="6691313" cy="915987"/>
          </a:xfrm>
          <a:prstGeom prst="rect">
            <a:avLst/>
          </a:prstGeom>
          <a:noFill/>
          <a:ln>
            <a:noFill/>
          </a:ln>
        </p:spPr>
        <p:txBody>
          <a:bodyPr anchor="ctr">
            <a:spAutoFit/>
          </a:bodyPr>
          <a:lstStyle/>
          <a:p>
            <a:pPr>
              <a:tabLst>
                <a:tab pos="228600" algn="l"/>
                <a:tab pos="457200" algn="l"/>
              </a:tabLst>
            </a:pPr>
            <a:r>
              <a:rPr lang="en-US" i="1"/>
              <a:t>t</a:t>
            </a:r>
            <a:r>
              <a:rPr lang="en-US" i="1" baseline="-25000"/>
              <a:t>0 </a:t>
            </a:r>
            <a:r>
              <a:rPr lang="en-US"/>
              <a:t>: </a:t>
            </a:r>
            <a:r>
              <a:rPr lang="en-US" i="1"/>
              <a:t>y</a:t>
            </a:r>
            <a:r>
              <a:rPr lang="en-US"/>
              <a:t> detects link-cost change, updates its DV, informs its neighbors.</a:t>
            </a:r>
          </a:p>
          <a:p>
            <a:pPr>
              <a:tabLst>
                <a:tab pos="228600" algn="l"/>
                <a:tab pos="457200" algn="l"/>
              </a:tabLst>
            </a:pPr>
            <a:endParaRPr lang="en-US"/>
          </a:p>
        </p:txBody>
      </p:sp>
      <p:sp>
        <p:nvSpPr>
          <p:cNvPr id="730154" name="Rectangle 42"/>
          <p:cNvSpPr>
            <a:spLocks noChangeArrowheads="1"/>
          </p:cNvSpPr>
          <p:nvPr/>
        </p:nvSpPr>
        <p:spPr bwMode="auto">
          <a:xfrm>
            <a:off x="1711325" y="4327525"/>
            <a:ext cx="6503988" cy="915988"/>
          </a:xfrm>
          <a:prstGeom prst="rect">
            <a:avLst/>
          </a:prstGeom>
          <a:noFill/>
          <a:ln>
            <a:noFill/>
          </a:ln>
        </p:spPr>
        <p:txBody>
          <a:bodyPr anchor="ctr">
            <a:spAutoFit/>
          </a:bodyPr>
          <a:lstStyle/>
          <a:p>
            <a:pPr>
              <a:tabLst>
                <a:tab pos="228600" algn="l"/>
                <a:tab pos="457200" algn="l"/>
              </a:tabLst>
            </a:pPr>
            <a:r>
              <a:rPr lang="en-US" i="1"/>
              <a:t>t</a:t>
            </a:r>
            <a:r>
              <a:rPr lang="en-US" i="1" baseline="-25000"/>
              <a:t>1 </a:t>
            </a:r>
            <a:r>
              <a:rPr lang="en-US"/>
              <a:t>: </a:t>
            </a:r>
            <a:r>
              <a:rPr lang="en-US" i="1"/>
              <a:t>z</a:t>
            </a:r>
            <a:r>
              <a:rPr lang="en-US"/>
              <a:t> receives update from </a:t>
            </a:r>
            <a:r>
              <a:rPr lang="en-US" i="1"/>
              <a:t>y</a:t>
            </a:r>
            <a:r>
              <a:rPr lang="en-US"/>
              <a:t>, updates its table, computes new least cost to </a:t>
            </a:r>
            <a:r>
              <a:rPr lang="en-US" i="1"/>
              <a:t>x</a:t>
            </a:r>
            <a:r>
              <a:rPr lang="en-US"/>
              <a:t> , sends its neighbors its DV.</a:t>
            </a:r>
          </a:p>
          <a:p>
            <a:pPr>
              <a:tabLst>
                <a:tab pos="228600" algn="l"/>
                <a:tab pos="457200" algn="l"/>
              </a:tabLst>
            </a:pPr>
            <a:endParaRPr lang="en-US"/>
          </a:p>
        </p:txBody>
      </p:sp>
      <p:sp>
        <p:nvSpPr>
          <p:cNvPr id="730155" name="Rectangle 43"/>
          <p:cNvSpPr>
            <a:spLocks noChangeArrowheads="1"/>
          </p:cNvSpPr>
          <p:nvPr/>
        </p:nvSpPr>
        <p:spPr bwMode="auto">
          <a:xfrm>
            <a:off x="1733550" y="5151438"/>
            <a:ext cx="7158038" cy="915987"/>
          </a:xfrm>
          <a:prstGeom prst="rect">
            <a:avLst/>
          </a:prstGeom>
          <a:noFill/>
          <a:ln>
            <a:noFill/>
          </a:ln>
        </p:spPr>
        <p:txBody>
          <a:bodyPr anchor="ctr">
            <a:spAutoFit/>
          </a:bodyPr>
          <a:lstStyle/>
          <a:p>
            <a:pPr>
              <a:tabLst>
                <a:tab pos="228600" algn="l"/>
                <a:tab pos="457200" algn="l"/>
              </a:tabLst>
            </a:pPr>
            <a:r>
              <a:rPr lang="en-US" i="1"/>
              <a:t>t</a:t>
            </a:r>
            <a:r>
              <a:rPr lang="en-US" i="1" baseline="-25000"/>
              <a:t>2 </a:t>
            </a:r>
            <a:r>
              <a:rPr lang="en-US"/>
              <a:t>: </a:t>
            </a:r>
            <a:r>
              <a:rPr lang="en-US" i="1"/>
              <a:t>y</a:t>
            </a:r>
            <a:r>
              <a:rPr lang="en-US"/>
              <a:t> receives </a:t>
            </a:r>
            <a:r>
              <a:rPr lang="en-US" i="1"/>
              <a:t>z</a:t>
            </a:r>
            <a:r>
              <a:rPr lang="ja-JP" altLang="en-US"/>
              <a:t>’</a:t>
            </a:r>
            <a:r>
              <a:rPr lang="en-US" altLang="ja-JP"/>
              <a:t>s update, updates its distance table.  </a:t>
            </a:r>
            <a:r>
              <a:rPr lang="en-US" altLang="ja-JP" i="1"/>
              <a:t>y</a:t>
            </a:r>
            <a:r>
              <a:rPr lang="ja-JP" altLang="en-US"/>
              <a:t>’</a:t>
            </a:r>
            <a:r>
              <a:rPr lang="en-US" altLang="ja-JP"/>
              <a:t>s least costs do </a:t>
            </a:r>
            <a:r>
              <a:rPr lang="en-US" altLang="ja-JP" i="1"/>
              <a:t>not</a:t>
            </a:r>
            <a:r>
              <a:rPr lang="en-US" altLang="ja-JP"/>
              <a:t> change, so </a:t>
            </a:r>
            <a:r>
              <a:rPr lang="en-US" altLang="ja-JP" i="1"/>
              <a:t>y</a:t>
            </a:r>
            <a:r>
              <a:rPr lang="en-US" altLang="ja-JP"/>
              <a:t>  does </a:t>
            </a:r>
            <a:r>
              <a:rPr lang="en-US" altLang="ja-JP" i="1"/>
              <a:t>not</a:t>
            </a:r>
            <a:r>
              <a:rPr lang="en-US" altLang="ja-JP"/>
              <a:t> send a message to </a:t>
            </a:r>
            <a:r>
              <a:rPr lang="en-US" altLang="ja-JP" i="1"/>
              <a:t>z</a:t>
            </a:r>
            <a:r>
              <a:rPr lang="en-US" altLang="ja-JP"/>
              <a:t>. </a:t>
            </a:r>
          </a:p>
          <a:p>
            <a:pPr>
              <a:tabLst>
                <a:tab pos="228600" algn="l"/>
                <a:tab pos="457200" algn="l"/>
              </a:tabLst>
            </a:pPr>
            <a:endParaRPr lang="en-US"/>
          </a:p>
        </p:txBody>
      </p:sp>
      <p:sp>
        <p:nvSpPr>
          <p:cNvPr id="47"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51</a:t>
            </a:fld>
            <a:endParaRPr lang="en-US" sz="1200" dirty="0">
              <a:latin typeface="Tahoma" panose="020B0604030504040204" charset="0"/>
            </a:endParaRPr>
          </a:p>
        </p:txBody>
      </p:sp>
      <p:sp>
        <p:nvSpPr>
          <p:cNvPr id="48"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
        <p:nvSpPr>
          <p:cNvPr id="49" name="TextBox 1"/>
          <p:cNvSpPr txBox="1">
            <a:spLocks noChangeArrowheads="1"/>
          </p:cNvSpPr>
          <p:nvPr/>
        </p:nvSpPr>
        <p:spPr bwMode="auto">
          <a:xfrm>
            <a:off x="339826" y="6198762"/>
            <a:ext cx="4507165" cy="523220"/>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dirty="0"/>
              <a:t>* Check out the online interactive exercises for more examples: h</a:t>
            </a:r>
            <a:r>
              <a:rPr lang="en-US" sz="1200" dirty="0"/>
              <a:t>ttp://gaia.cs.umass.edu/kurose_ross/interactive/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3015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3015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301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0153" grpId="0"/>
      <p:bldP spid="730154" grpId="0"/>
      <p:bldP spid="730155"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029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847725"/>
            <a:ext cx="6856412" cy="173038"/>
          </a:xfrm>
          <a:prstGeom prst="rect">
            <a:avLst/>
          </a:prstGeom>
          <a:noFill/>
          <a:ln>
            <a:noFill/>
          </a:ln>
        </p:spPr>
      </p:pic>
      <p:sp>
        <p:nvSpPr>
          <p:cNvPr id="140292" name="Rectangle 3"/>
          <p:cNvSpPr>
            <a:spLocks noGrp="1" noChangeArrowheads="1"/>
          </p:cNvSpPr>
          <p:nvPr>
            <p:ph type="title"/>
          </p:nvPr>
        </p:nvSpPr>
        <p:spPr>
          <a:xfrm>
            <a:off x="533400" y="152400"/>
            <a:ext cx="7772400" cy="1008063"/>
          </a:xfrm>
        </p:spPr>
        <p:txBody>
          <a:bodyPr/>
          <a:lstStyle/>
          <a:p>
            <a:r>
              <a:rPr lang="en-US" sz="3600">
                <a:latin typeface="Gill Sans MT" pitchFamily="34" charset="0"/>
              </a:rPr>
              <a:t>Distance vector: link cost changes</a:t>
            </a:r>
            <a:endParaRPr lang="en-US">
              <a:latin typeface="Gill Sans MT" pitchFamily="34" charset="0"/>
            </a:endParaRPr>
          </a:p>
        </p:txBody>
      </p:sp>
      <p:sp>
        <p:nvSpPr>
          <p:cNvPr id="140293" name="Rectangle 4"/>
          <p:cNvSpPr>
            <a:spLocks noChangeArrowheads="1"/>
          </p:cNvSpPr>
          <p:nvPr/>
        </p:nvSpPr>
        <p:spPr bwMode="auto">
          <a:xfrm>
            <a:off x="593725" y="1162050"/>
            <a:ext cx="4867275" cy="2524125"/>
          </a:xfrm>
          <a:prstGeom prst="rect">
            <a:avLst/>
          </a:prstGeom>
          <a:noFill/>
          <a:ln>
            <a:noFill/>
          </a:ln>
        </p:spPr>
        <p:txBody>
          <a:bodyPr/>
          <a:lstStyle/>
          <a:p>
            <a:pPr marL="342900" indent="-342900">
              <a:lnSpc>
                <a:spcPct val="85000"/>
              </a:lnSpc>
              <a:spcBef>
                <a:spcPct val="20000"/>
              </a:spcBef>
              <a:buClr>
                <a:srgbClr val="000099"/>
              </a:buClr>
              <a:buSzPct val="65000"/>
              <a:buFont typeface="Wingdings" panose="05000000000000000000" charset="0"/>
              <a:buNone/>
            </a:pPr>
            <a:r>
              <a:rPr lang="en-US" sz="2800" i="1">
                <a:solidFill>
                  <a:srgbClr val="CC0000"/>
                </a:solidFill>
                <a:latin typeface="Gill Sans MT" pitchFamily="34" charset="0"/>
              </a:rPr>
              <a:t>link cost changes:</a:t>
            </a:r>
          </a:p>
          <a:p>
            <a:pPr marL="342900" indent="-342900">
              <a:lnSpc>
                <a:spcPct val="85000"/>
              </a:lnSpc>
              <a:spcBef>
                <a:spcPct val="20000"/>
              </a:spcBef>
              <a:buClr>
                <a:srgbClr val="000099"/>
              </a:buClr>
              <a:buSzPct val="65000"/>
              <a:buFont typeface="Wingdings" panose="05000000000000000000" charset="0"/>
              <a:buChar char="v"/>
            </a:pPr>
            <a:r>
              <a:rPr lang="en-US" sz="2400">
                <a:latin typeface="Gill Sans MT" pitchFamily="34" charset="0"/>
              </a:rPr>
              <a:t>node detects local link cost change </a:t>
            </a:r>
          </a:p>
          <a:p>
            <a:pPr marL="342900" indent="-342900">
              <a:lnSpc>
                <a:spcPct val="85000"/>
              </a:lnSpc>
              <a:spcBef>
                <a:spcPct val="20000"/>
              </a:spcBef>
              <a:buClr>
                <a:srgbClr val="000099"/>
              </a:buClr>
              <a:buSzPct val="65000"/>
              <a:buFont typeface="Wingdings" panose="05000000000000000000" charset="0"/>
              <a:buChar char="v"/>
            </a:pPr>
            <a:r>
              <a:rPr lang="en-US" sz="2400" i="1">
                <a:solidFill>
                  <a:srgbClr val="CC0000"/>
                </a:solidFill>
                <a:latin typeface="Gill Sans MT" pitchFamily="34" charset="0"/>
              </a:rPr>
              <a:t>bad news travels slow</a:t>
            </a:r>
            <a:r>
              <a:rPr lang="en-US" sz="2400">
                <a:latin typeface="Gill Sans MT" pitchFamily="34" charset="0"/>
              </a:rPr>
              <a:t> - </a:t>
            </a:r>
            <a:r>
              <a:rPr lang="ja-JP" altLang="en-US" sz="2400">
                <a:latin typeface="Gill Sans MT" pitchFamily="34" charset="0"/>
              </a:rPr>
              <a:t>“</a:t>
            </a:r>
            <a:r>
              <a:rPr lang="en-US" altLang="ja-JP" sz="2400">
                <a:latin typeface="Gill Sans MT" pitchFamily="34" charset="0"/>
              </a:rPr>
              <a:t>count to infinity</a:t>
            </a:r>
            <a:r>
              <a:rPr lang="ja-JP" altLang="en-US" sz="2400">
                <a:latin typeface="Gill Sans MT" pitchFamily="34" charset="0"/>
              </a:rPr>
              <a:t>”</a:t>
            </a:r>
            <a:r>
              <a:rPr lang="en-US" altLang="ja-JP" sz="2400">
                <a:latin typeface="Gill Sans MT" pitchFamily="34" charset="0"/>
              </a:rPr>
              <a:t> problem!</a:t>
            </a:r>
          </a:p>
          <a:p>
            <a:pPr marL="342900" indent="-342900">
              <a:lnSpc>
                <a:spcPct val="85000"/>
              </a:lnSpc>
              <a:spcBef>
                <a:spcPct val="20000"/>
              </a:spcBef>
              <a:buClr>
                <a:srgbClr val="000099"/>
              </a:buClr>
              <a:buSzPct val="65000"/>
              <a:buFont typeface="Wingdings" panose="05000000000000000000" charset="0"/>
              <a:buChar char="v"/>
            </a:pPr>
            <a:r>
              <a:rPr lang="en-US" sz="2400">
                <a:latin typeface="Gill Sans MT" pitchFamily="34" charset="0"/>
              </a:rPr>
              <a:t>44 iterations before algorithm stabilizes: see text</a:t>
            </a:r>
          </a:p>
        </p:txBody>
      </p:sp>
      <p:grpSp>
        <p:nvGrpSpPr>
          <p:cNvPr id="140294" name="Group 6"/>
          <p:cNvGrpSpPr/>
          <p:nvPr/>
        </p:nvGrpSpPr>
        <p:grpSpPr bwMode="auto">
          <a:xfrm>
            <a:off x="5838825" y="1609725"/>
            <a:ext cx="2184400" cy="1314450"/>
            <a:chOff x="3625" y="1076"/>
            <a:chExt cx="1376" cy="828"/>
          </a:xfrm>
        </p:grpSpPr>
        <p:sp>
          <p:nvSpPr>
            <p:cNvPr id="140296" name="Freeform 7"/>
            <p:cNvSpPr/>
            <p:nvPr/>
          </p:nvSpPr>
          <p:spPr bwMode="auto">
            <a:xfrm>
              <a:off x="3625" y="114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66CCFF"/>
            </a:solidFill>
            <a:ln>
              <a:noFill/>
            </a:ln>
          </p:spPr>
          <p:txBody>
            <a:bodyPr wrap="none" anchor="ctr"/>
            <a:lstStyle/>
            <a:p>
              <a:endParaRPr lang="en-US"/>
            </a:p>
          </p:txBody>
        </p:sp>
        <p:sp>
          <p:nvSpPr>
            <p:cNvPr id="140297" name="Freeform 8"/>
            <p:cNvSpPr/>
            <p:nvPr/>
          </p:nvSpPr>
          <p:spPr bwMode="auto">
            <a:xfrm>
              <a:off x="3984" y="1404"/>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chemeClr val="tx1"/>
              </a:solidFill>
              <a:round/>
            </a:ln>
          </p:spPr>
          <p:txBody>
            <a:bodyPr wrap="none" anchor="ctr"/>
            <a:lstStyle/>
            <a:p>
              <a:endParaRPr lang="en-US"/>
            </a:p>
          </p:txBody>
        </p:sp>
        <p:sp>
          <p:nvSpPr>
            <p:cNvPr id="140298" name="Oval 9"/>
            <p:cNvSpPr>
              <a:spLocks noChangeArrowheads="1"/>
            </p:cNvSpPr>
            <p:nvPr/>
          </p:nvSpPr>
          <p:spPr bwMode="auto">
            <a:xfrm>
              <a:off x="3724" y="1640"/>
              <a:ext cx="313" cy="81"/>
            </a:xfrm>
            <a:prstGeom prst="ellipse">
              <a:avLst/>
            </a:prstGeom>
            <a:solidFill>
              <a:schemeClr val="hlink"/>
            </a:solidFill>
            <a:ln w="12700">
              <a:solidFill>
                <a:schemeClr val="tx1"/>
              </a:solidFill>
              <a:round/>
            </a:ln>
          </p:spPr>
          <p:txBody>
            <a:bodyPr wrap="none" anchor="ctr"/>
            <a:lstStyle/>
            <a:p>
              <a:endParaRPr lang="en-US"/>
            </a:p>
          </p:txBody>
        </p:sp>
        <p:sp>
          <p:nvSpPr>
            <p:cNvPr id="140299" name="Line 10"/>
            <p:cNvSpPr>
              <a:spLocks noChangeShapeType="1"/>
            </p:cNvSpPr>
            <p:nvPr/>
          </p:nvSpPr>
          <p:spPr bwMode="auto">
            <a:xfrm>
              <a:off x="3724" y="1633"/>
              <a:ext cx="1" cy="50"/>
            </a:xfrm>
            <a:prstGeom prst="line">
              <a:avLst/>
            </a:prstGeom>
            <a:noFill/>
            <a:ln w="12700">
              <a:solidFill>
                <a:schemeClr val="tx1"/>
              </a:solidFill>
              <a:round/>
            </a:ln>
          </p:spPr>
          <p:txBody>
            <a:bodyPr wrap="none" anchor="ctr"/>
            <a:lstStyle/>
            <a:p>
              <a:endParaRPr lang="en-US"/>
            </a:p>
          </p:txBody>
        </p:sp>
        <p:sp>
          <p:nvSpPr>
            <p:cNvPr id="140300" name="Line 11"/>
            <p:cNvSpPr>
              <a:spLocks noChangeShapeType="1"/>
            </p:cNvSpPr>
            <p:nvPr/>
          </p:nvSpPr>
          <p:spPr bwMode="auto">
            <a:xfrm>
              <a:off x="4037" y="1633"/>
              <a:ext cx="1" cy="50"/>
            </a:xfrm>
            <a:prstGeom prst="line">
              <a:avLst/>
            </a:prstGeom>
            <a:noFill/>
            <a:ln w="12700">
              <a:solidFill>
                <a:schemeClr val="tx1"/>
              </a:solidFill>
              <a:round/>
            </a:ln>
          </p:spPr>
          <p:txBody>
            <a:bodyPr wrap="none" anchor="ctr"/>
            <a:lstStyle/>
            <a:p>
              <a:endParaRPr lang="en-US"/>
            </a:p>
          </p:txBody>
        </p:sp>
        <p:sp>
          <p:nvSpPr>
            <p:cNvPr id="140301" name="Rectangle 12"/>
            <p:cNvSpPr>
              <a:spLocks noChangeArrowheads="1"/>
            </p:cNvSpPr>
            <p:nvPr/>
          </p:nvSpPr>
          <p:spPr bwMode="auto">
            <a:xfrm>
              <a:off x="3724" y="1633"/>
              <a:ext cx="310" cy="49"/>
            </a:xfrm>
            <a:prstGeom prst="rect">
              <a:avLst/>
            </a:prstGeom>
            <a:solidFill>
              <a:schemeClr val="hlink"/>
            </a:solidFill>
            <a:ln>
              <a:noFill/>
            </a:ln>
          </p:spPr>
          <p:txBody>
            <a:bodyPr wrap="none" anchor="ctr"/>
            <a:lstStyle/>
            <a:p>
              <a:pPr algn="ctr"/>
              <a:endParaRPr lang="en-US" sz="2400">
                <a:latin typeface="Times New Roman" panose="02020503050405090304" charset="0"/>
              </a:endParaRPr>
            </a:p>
          </p:txBody>
        </p:sp>
        <p:sp>
          <p:nvSpPr>
            <p:cNvPr id="140302" name="Oval 13"/>
            <p:cNvSpPr>
              <a:spLocks noChangeArrowheads="1"/>
            </p:cNvSpPr>
            <p:nvPr/>
          </p:nvSpPr>
          <p:spPr bwMode="auto">
            <a:xfrm>
              <a:off x="3721" y="1574"/>
              <a:ext cx="313" cy="95"/>
            </a:xfrm>
            <a:prstGeom prst="ellipse">
              <a:avLst/>
            </a:prstGeom>
            <a:solidFill>
              <a:schemeClr val="hlink"/>
            </a:solidFill>
            <a:ln w="12700">
              <a:solidFill>
                <a:schemeClr val="tx1"/>
              </a:solidFill>
              <a:round/>
            </a:ln>
          </p:spPr>
          <p:txBody>
            <a:bodyPr wrap="none" anchor="ctr"/>
            <a:lstStyle/>
            <a:p>
              <a:endParaRPr lang="en-US"/>
            </a:p>
          </p:txBody>
        </p:sp>
        <p:sp>
          <p:nvSpPr>
            <p:cNvPr id="140303" name="Freeform 14"/>
            <p:cNvSpPr/>
            <p:nvPr/>
          </p:nvSpPr>
          <p:spPr bwMode="auto">
            <a:xfrm>
              <a:off x="4389" y="1404"/>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chemeClr val="tx1"/>
              </a:solidFill>
              <a:round/>
            </a:ln>
          </p:spPr>
          <p:txBody>
            <a:bodyPr wrap="none" anchor="ctr"/>
            <a:lstStyle/>
            <a:p>
              <a:endParaRPr lang="en-US"/>
            </a:p>
          </p:txBody>
        </p:sp>
        <p:sp>
          <p:nvSpPr>
            <p:cNvPr id="140304" name="Freeform 15"/>
            <p:cNvSpPr/>
            <p:nvPr/>
          </p:nvSpPr>
          <p:spPr bwMode="auto">
            <a:xfrm>
              <a:off x="4041" y="1668"/>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chemeClr val="tx1"/>
              </a:solidFill>
              <a:round/>
            </a:ln>
          </p:spPr>
          <p:txBody>
            <a:bodyPr wrap="none" anchor="ctr"/>
            <a:lstStyle/>
            <a:p>
              <a:endParaRPr lang="en-US"/>
            </a:p>
          </p:txBody>
        </p:sp>
        <p:grpSp>
          <p:nvGrpSpPr>
            <p:cNvPr id="140305" name="Group 16"/>
            <p:cNvGrpSpPr/>
            <p:nvPr/>
          </p:nvGrpSpPr>
          <p:grpSpPr bwMode="auto">
            <a:xfrm>
              <a:off x="3770" y="1526"/>
              <a:ext cx="210" cy="250"/>
              <a:chOff x="2951" y="2429"/>
              <a:chExt cx="213" cy="250"/>
            </a:xfrm>
          </p:grpSpPr>
          <p:sp>
            <p:nvSpPr>
              <p:cNvPr id="140329" name="Rectangle 17"/>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40330" name="Text Box 18"/>
              <p:cNvSpPr txBox="1">
                <a:spLocks noChangeArrowheads="1"/>
              </p:cNvSpPr>
              <p:nvPr/>
            </p:nvSpPr>
            <p:spPr bwMode="auto">
              <a:xfrm>
                <a:off x="2951" y="2429"/>
                <a:ext cx="213"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latin typeface="Comic Sans MS" panose="030F0902030302020204" pitchFamily="66" charset="0"/>
                  </a:rPr>
                  <a:t>x</a:t>
                </a:r>
                <a:endParaRPr lang="en-US">
                  <a:latin typeface="Times New Roman" panose="02020503050405090304" charset="0"/>
                </a:endParaRPr>
              </a:p>
            </p:txBody>
          </p:sp>
        </p:grpSp>
        <p:grpSp>
          <p:nvGrpSpPr>
            <p:cNvPr id="140306" name="Group 19"/>
            <p:cNvGrpSpPr/>
            <p:nvPr/>
          </p:nvGrpSpPr>
          <p:grpSpPr bwMode="auto">
            <a:xfrm>
              <a:off x="4566" y="1538"/>
              <a:ext cx="316" cy="250"/>
              <a:chOff x="1740" y="2306"/>
              <a:chExt cx="316" cy="250"/>
            </a:xfrm>
          </p:grpSpPr>
          <p:sp>
            <p:nvSpPr>
              <p:cNvPr id="140321" name="Oval 20"/>
              <p:cNvSpPr>
                <a:spLocks noChangeArrowheads="1"/>
              </p:cNvSpPr>
              <p:nvPr/>
            </p:nvSpPr>
            <p:spPr bwMode="auto">
              <a:xfrm>
                <a:off x="1743" y="2420"/>
                <a:ext cx="313" cy="81"/>
              </a:xfrm>
              <a:prstGeom prst="ellipse">
                <a:avLst/>
              </a:prstGeom>
              <a:solidFill>
                <a:schemeClr val="hlink"/>
              </a:solidFill>
              <a:ln w="12700">
                <a:solidFill>
                  <a:schemeClr val="tx1"/>
                </a:solidFill>
                <a:round/>
              </a:ln>
            </p:spPr>
            <p:txBody>
              <a:bodyPr wrap="none" anchor="ctr"/>
              <a:lstStyle/>
              <a:p>
                <a:endParaRPr lang="en-US"/>
              </a:p>
            </p:txBody>
          </p:sp>
          <p:sp>
            <p:nvSpPr>
              <p:cNvPr id="140322" name="Line 21"/>
              <p:cNvSpPr>
                <a:spLocks noChangeShapeType="1"/>
              </p:cNvSpPr>
              <p:nvPr/>
            </p:nvSpPr>
            <p:spPr bwMode="auto">
              <a:xfrm>
                <a:off x="1743" y="2413"/>
                <a:ext cx="0" cy="50"/>
              </a:xfrm>
              <a:prstGeom prst="line">
                <a:avLst/>
              </a:prstGeom>
              <a:noFill/>
              <a:ln w="12700">
                <a:solidFill>
                  <a:schemeClr val="tx1"/>
                </a:solidFill>
                <a:round/>
              </a:ln>
            </p:spPr>
            <p:txBody>
              <a:bodyPr wrap="none" anchor="ctr"/>
              <a:lstStyle/>
              <a:p>
                <a:endParaRPr lang="en-US"/>
              </a:p>
            </p:txBody>
          </p:sp>
          <p:sp>
            <p:nvSpPr>
              <p:cNvPr id="140323" name="Line 22"/>
              <p:cNvSpPr>
                <a:spLocks noChangeShapeType="1"/>
              </p:cNvSpPr>
              <p:nvPr/>
            </p:nvSpPr>
            <p:spPr bwMode="auto">
              <a:xfrm>
                <a:off x="2056" y="2413"/>
                <a:ext cx="0" cy="50"/>
              </a:xfrm>
              <a:prstGeom prst="line">
                <a:avLst/>
              </a:prstGeom>
              <a:noFill/>
              <a:ln w="12700">
                <a:solidFill>
                  <a:schemeClr val="tx1"/>
                </a:solidFill>
                <a:round/>
              </a:ln>
            </p:spPr>
            <p:txBody>
              <a:bodyPr wrap="none" anchor="ctr"/>
              <a:lstStyle/>
              <a:p>
                <a:endParaRPr lang="en-US"/>
              </a:p>
            </p:txBody>
          </p:sp>
          <p:sp>
            <p:nvSpPr>
              <p:cNvPr id="140324" name="Rectangle 23"/>
              <p:cNvSpPr>
                <a:spLocks noChangeArrowheads="1"/>
              </p:cNvSpPr>
              <p:nvPr/>
            </p:nvSpPr>
            <p:spPr bwMode="auto">
              <a:xfrm>
                <a:off x="1743" y="2413"/>
                <a:ext cx="310" cy="49"/>
              </a:xfrm>
              <a:prstGeom prst="rect">
                <a:avLst/>
              </a:prstGeom>
              <a:solidFill>
                <a:schemeClr val="hlink"/>
              </a:solidFill>
              <a:ln>
                <a:noFill/>
              </a:ln>
            </p:spPr>
            <p:txBody>
              <a:bodyPr wrap="none" anchor="ctr"/>
              <a:lstStyle/>
              <a:p>
                <a:pPr algn="ctr"/>
                <a:endParaRPr lang="en-US" sz="2400">
                  <a:latin typeface="Times New Roman" panose="02020503050405090304" charset="0"/>
                </a:endParaRPr>
              </a:p>
            </p:txBody>
          </p:sp>
          <p:sp>
            <p:nvSpPr>
              <p:cNvPr id="140325" name="Oval 24"/>
              <p:cNvSpPr>
                <a:spLocks noChangeArrowheads="1"/>
              </p:cNvSpPr>
              <p:nvPr/>
            </p:nvSpPr>
            <p:spPr bwMode="auto">
              <a:xfrm>
                <a:off x="1740" y="2354"/>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40326" name="Group 25"/>
              <p:cNvGrpSpPr/>
              <p:nvPr/>
            </p:nvGrpSpPr>
            <p:grpSpPr bwMode="auto">
              <a:xfrm>
                <a:off x="1800" y="2306"/>
                <a:ext cx="202" cy="250"/>
                <a:chOff x="2955" y="2429"/>
                <a:chExt cx="205" cy="250"/>
              </a:xfrm>
            </p:grpSpPr>
            <p:sp>
              <p:nvSpPr>
                <p:cNvPr id="140327" name="Rectangle 26"/>
                <p:cNvSpPr>
                  <a:spLocks noChangeArrowheads="1"/>
                </p:cNvSpPr>
                <p:nvPr/>
              </p:nvSpPr>
              <p:spPr bwMode="auto">
                <a:xfrm>
                  <a:off x="2982" y="2490"/>
                  <a:ext cx="143" cy="132"/>
                </a:xfrm>
                <a:prstGeom prst="rect">
                  <a:avLst/>
                </a:prstGeom>
                <a:solidFill>
                  <a:schemeClr val="hlink"/>
                </a:solidFill>
                <a:ln>
                  <a:noFill/>
                </a:ln>
              </p:spPr>
              <p:txBody>
                <a:bodyPr wrap="none" anchor="ctr"/>
                <a:lstStyle/>
                <a:p>
                  <a:endParaRPr lang="en-US"/>
                </a:p>
              </p:txBody>
            </p:sp>
            <p:sp>
              <p:nvSpPr>
                <p:cNvPr id="140328" name="Text Box 27"/>
                <p:cNvSpPr txBox="1">
                  <a:spLocks noChangeArrowheads="1"/>
                </p:cNvSpPr>
                <p:nvPr/>
              </p:nvSpPr>
              <p:spPr bwMode="auto">
                <a:xfrm>
                  <a:off x="2955" y="2429"/>
                  <a:ext cx="20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latin typeface="Comic Sans MS" panose="030F0902030302020204" pitchFamily="66" charset="0"/>
                    </a:rPr>
                    <a:t>z</a:t>
                  </a:r>
                  <a:endParaRPr lang="en-US">
                    <a:latin typeface="Times New Roman" panose="02020503050405090304" charset="0"/>
                  </a:endParaRPr>
                </a:p>
              </p:txBody>
            </p:sp>
          </p:grpSp>
        </p:grpSp>
        <p:sp>
          <p:nvSpPr>
            <p:cNvPr id="140307" name="Text Box 28"/>
            <p:cNvSpPr txBox="1">
              <a:spLocks noChangeArrowheads="1"/>
            </p:cNvSpPr>
            <p:nvPr/>
          </p:nvSpPr>
          <p:spPr bwMode="auto">
            <a:xfrm>
              <a:off x="4469" y="1328"/>
              <a:ext cx="181"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latin typeface="Comic Sans MS" panose="030F0902030302020204" pitchFamily="66" charset="0"/>
                </a:rPr>
                <a:t>1</a:t>
              </a:r>
              <a:endParaRPr lang="en-US">
                <a:latin typeface="Times New Roman" panose="02020503050405090304" charset="0"/>
              </a:endParaRPr>
            </a:p>
          </p:txBody>
        </p:sp>
        <p:sp>
          <p:nvSpPr>
            <p:cNvPr id="140308" name="Text Box 29"/>
            <p:cNvSpPr txBox="1">
              <a:spLocks noChangeArrowheads="1"/>
            </p:cNvSpPr>
            <p:nvPr/>
          </p:nvSpPr>
          <p:spPr bwMode="auto">
            <a:xfrm>
              <a:off x="3930" y="1325"/>
              <a:ext cx="204"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latin typeface="Comic Sans MS" panose="030F0902030302020204" pitchFamily="66" charset="0"/>
                </a:rPr>
                <a:t>4</a:t>
              </a:r>
              <a:endParaRPr lang="en-US">
                <a:latin typeface="Times New Roman" panose="02020503050405090304" charset="0"/>
              </a:endParaRPr>
            </a:p>
          </p:txBody>
        </p:sp>
        <p:sp>
          <p:nvSpPr>
            <p:cNvPr id="140309" name="Text Box 30"/>
            <p:cNvSpPr txBox="1">
              <a:spLocks noChangeArrowheads="1"/>
            </p:cNvSpPr>
            <p:nvPr/>
          </p:nvSpPr>
          <p:spPr bwMode="auto">
            <a:xfrm>
              <a:off x="4171" y="1658"/>
              <a:ext cx="292"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latin typeface="Comic Sans MS" panose="030F0902030302020204" pitchFamily="66" charset="0"/>
                </a:rPr>
                <a:t>50</a:t>
              </a:r>
              <a:endParaRPr lang="en-US">
                <a:latin typeface="Times New Roman" panose="02020503050405090304" charset="0"/>
              </a:endParaRPr>
            </a:p>
          </p:txBody>
        </p:sp>
        <p:grpSp>
          <p:nvGrpSpPr>
            <p:cNvPr id="140310" name="Group 31"/>
            <p:cNvGrpSpPr/>
            <p:nvPr/>
          </p:nvGrpSpPr>
          <p:grpSpPr bwMode="auto">
            <a:xfrm>
              <a:off x="4146" y="1214"/>
              <a:ext cx="316" cy="250"/>
              <a:chOff x="1740" y="2306"/>
              <a:chExt cx="316" cy="250"/>
            </a:xfrm>
          </p:grpSpPr>
          <p:sp>
            <p:nvSpPr>
              <p:cNvPr id="140313" name="Oval 32"/>
              <p:cNvSpPr>
                <a:spLocks noChangeArrowheads="1"/>
              </p:cNvSpPr>
              <p:nvPr/>
            </p:nvSpPr>
            <p:spPr bwMode="auto">
              <a:xfrm>
                <a:off x="1743" y="2420"/>
                <a:ext cx="313" cy="81"/>
              </a:xfrm>
              <a:prstGeom prst="ellipse">
                <a:avLst/>
              </a:prstGeom>
              <a:solidFill>
                <a:schemeClr val="hlink"/>
              </a:solidFill>
              <a:ln w="12700">
                <a:solidFill>
                  <a:schemeClr val="tx1"/>
                </a:solidFill>
                <a:round/>
              </a:ln>
            </p:spPr>
            <p:txBody>
              <a:bodyPr wrap="none" anchor="ctr"/>
              <a:lstStyle/>
              <a:p>
                <a:endParaRPr lang="en-US"/>
              </a:p>
            </p:txBody>
          </p:sp>
          <p:sp>
            <p:nvSpPr>
              <p:cNvPr id="140314" name="Line 33"/>
              <p:cNvSpPr>
                <a:spLocks noChangeShapeType="1"/>
              </p:cNvSpPr>
              <p:nvPr/>
            </p:nvSpPr>
            <p:spPr bwMode="auto">
              <a:xfrm>
                <a:off x="1743" y="2413"/>
                <a:ext cx="0" cy="50"/>
              </a:xfrm>
              <a:prstGeom prst="line">
                <a:avLst/>
              </a:prstGeom>
              <a:noFill/>
              <a:ln w="12700">
                <a:solidFill>
                  <a:schemeClr val="tx1"/>
                </a:solidFill>
                <a:round/>
              </a:ln>
            </p:spPr>
            <p:txBody>
              <a:bodyPr wrap="none" anchor="ctr"/>
              <a:lstStyle/>
              <a:p>
                <a:endParaRPr lang="en-US"/>
              </a:p>
            </p:txBody>
          </p:sp>
          <p:sp>
            <p:nvSpPr>
              <p:cNvPr id="140315" name="Line 34"/>
              <p:cNvSpPr>
                <a:spLocks noChangeShapeType="1"/>
              </p:cNvSpPr>
              <p:nvPr/>
            </p:nvSpPr>
            <p:spPr bwMode="auto">
              <a:xfrm>
                <a:off x="2056" y="2413"/>
                <a:ext cx="0" cy="50"/>
              </a:xfrm>
              <a:prstGeom prst="line">
                <a:avLst/>
              </a:prstGeom>
              <a:noFill/>
              <a:ln w="12700">
                <a:solidFill>
                  <a:schemeClr val="tx1"/>
                </a:solidFill>
                <a:round/>
              </a:ln>
            </p:spPr>
            <p:txBody>
              <a:bodyPr wrap="none" anchor="ctr"/>
              <a:lstStyle/>
              <a:p>
                <a:endParaRPr lang="en-US"/>
              </a:p>
            </p:txBody>
          </p:sp>
          <p:sp>
            <p:nvSpPr>
              <p:cNvPr id="140316" name="Rectangle 35"/>
              <p:cNvSpPr>
                <a:spLocks noChangeArrowheads="1"/>
              </p:cNvSpPr>
              <p:nvPr/>
            </p:nvSpPr>
            <p:spPr bwMode="auto">
              <a:xfrm>
                <a:off x="1743" y="2413"/>
                <a:ext cx="310" cy="49"/>
              </a:xfrm>
              <a:prstGeom prst="rect">
                <a:avLst/>
              </a:prstGeom>
              <a:solidFill>
                <a:schemeClr val="hlink"/>
              </a:solidFill>
              <a:ln>
                <a:noFill/>
              </a:ln>
            </p:spPr>
            <p:txBody>
              <a:bodyPr wrap="none" anchor="ctr"/>
              <a:lstStyle/>
              <a:p>
                <a:pPr algn="ctr"/>
                <a:endParaRPr lang="en-US" sz="2400">
                  <a:latin typeface="Times New Roman" panose="02020503050405090304" charset="0"/>
                </a:endParaRPr>
              </a:p>
            </p:txBody>
          </p:sp>
          <p:sp>
            <p:nvSpPr>
              <p:cNvPr id="140317" name="Oval 36"/>
              <p:cNvSpPr>
                <a:spLocks noChangeArrowheads="1"/>
              </p:cNvSpPr>
              <p:nvPr/>
            </p:nvSpPr>
            <p:spPr bwMode="auto">
              <a:xfrm>
                <a:off x="1740" y="2354"/>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40318" name="Group 37"/>
              <p:cNvGrpSpPr/>
              <p:nvPr/>
            </p:nvGrpSpPr>
            <p:grpSpPr bwMode="auto">
              <a:xfrm>
                <a:off x="1802" y="2306"/>
                <a:ext cx="199" cy="250"/>
                <a:chOff x="2957" y="2429"/>
                <a:chExt cx="202" cy="250"/>
              </a:xfrm>
            </p:grpSpPr>
            <p:sp>
              <p:nvSpPr>
                <p:cNvPr id="140319" name="Rectangle 38"/>
                <p:cNvSpPr>
                  <a:spLocks noChangeArrowheads="1"/>
                </p:cNvSpPr>
                <p:nvPr/>
              </p:nvSpPr>
              <p:spPr bwMode="auto">
                <a:xfrm>
                  <a:off x="2982" y="2490"/>
                  <a:ext cx="143" cy="132"/>
                </a:xfrm>
                <a:prstGeom prst="rect">
                  <a:avLst/>
                </a:prstGeom>
                <a:solidFill>
                  <a:schemeClr val="hlink"/>
                </a:solidFill>
                <a:ln>
                  <a:noFill/>
                </a:ln>
              </p:spPr>
              <p:txBody>
                <a:bodyPr wrap="none" anchor="ctr"/>
                <a:lstStyle/>
                <a:p>
                  <a:endParaRPr lang="en-US"/>
                </a:p>
              </p:txBody>
            </p:sp>
            <p:sp>
              <p:nvSpPr>
                <p:cNvPr id="140320" name="Text Box 39"/>
                <p:cNvSpPr txBox="1">
                  <a:spLocks noChangeArrowheads="1"/>
                </p:cNvSpPr>
                <p:nvPr/>
              </p:nvSpPr>
              <p:spPr bwMode="auto">
                <a:xfrm>
                  <a:off x="2957" y="2429"/>
                  <a:ext cx="202"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latin typeface="Comic Sans MS" panose="030F0902030302020204" pitchFamily="66" charset="0"/>
                    </a:rPr>
                    <a:t>y</a:t>
                  </a:r>
                  <a:endParaRPr lang="en-US">
                    <a:latin typeface="Times New Roman" panose="02020503050405090304" charset="0"/>
                  </a:endParaRPr>
                </a:p>
              </p:txBody>
            </p:sp>
          </p:grpSp>
        </p:grpSp>
        <p:sp>
          <p:nvSpPr>
            <p:cNvPr id="140311" name="Text Box 40"/>
            <p:cNvSpPr txBox="1">
              <a:spLocks noChangeArrowheads="1"/>
            </p:cNvSpPr>
            <p:nvPr/>
          </p:nvSpPr>
          <p:spPr bwMode="auto">
            <a:xfrm>
              <a:off x="3784" y="1076"/>
              <a:ext cx="292" cy="2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solidFill>
                    <a:srgbClr val="FF0000"/>
                  </a:solidFill>
                  <a:latin typeface="Comic Sans MS" panose="030F0902030302020204" pitchFamily="66" charset="0"/>
                </a:rPr>
                <a:t>60</a:t>
              </a:r>
              <a:endParaRPr lang="en-US">
                <a:latin typeface="Times New Roman" panose="02020503050405090304" charset="0"/>
              </a:endParaRPr>
            </a:p>
          </p:txBody>
        </p:sp>
        <p:sp>
          <p:nvSpPr>
            <p:cNvPr id="140312" name="Line 41"/>
            <p:cNvSpPr>
              <a:spLocks noChangeShapeType="1"/>
            </p:cNvSpPr>
            <p:nvPr/>
          </p:nvSpPr>
          <p:spPr bwMode="auto">
            <a:xfrm flipH="1" flipV="1">
              <a:off x="3948" y="1272"/>
              <a:ext cx="132" cy="228"/>
            </a:xfrm>
            <a:prstGeom prst="line">
              <a:avLst/>
            </a:prstGeom>
            <a:noFill/>
            <a:ln w="19050">
              <a:solidFill>
                <a:srgbClr val="FF0000"/>
              </a:solidFill>
              <a:round/>
              <a:tailEnd type="triangle" w="med" len="med"/>
            </a:ln>
          </p:spPr>
          <p:txBody>
            <a:bodyPr wrap="none" anchor="ctr"/>
            <a:lstStyle/>
            <a:p>
              <a:endParaRPr lang="en-US"/>
            </a:p>
          </p:txBody>
        </p:sp>
      </p:grpSp>
      <p:sp>
        <p:nvSpPr>
          <p:cNvPr id="140295" name="Rectangle 45"/>
          <p:cNvSpPr>
            <a:spLocks noChangeArrowheads="1"/>
          </p:cNvSpPr>
          <p:nvPr/>
        </p:nvSpPr>
        <p:spPr bwMode="auto">
          <a:xfrm>
            <a:off x="604838" y="3787775"/>
            <a:ext cx="7210425" cy="1485900"/>
          </a:xfrm>
          <a:prstGeom prst="rect">
            <a:avLst/>
          </a:prstGeom>
          <a:noFill/>
          <a:ln>
            <a:noFill/>
          </a:ln>
        </p:spPr>
        <p:txBody>
          <a:bodyPr/>
          <a:lstStyle/>
          <a:p>
            <a:pPr marL="342900" indent="-342900">
              <a:lnSpc>
                <a:spcPct val="85000"/>
              </a:lnSpc>
              <a:spcBef>
                <a:spcPct val="20000"/>
              </a:spcBef>
              <a:buClr>
                <a:srgbClr val="000099"/>
              </a:buClr>
              <a:buSzPct val="65000"/>
              <a:buFont typeface="Wingdings" panose="05000000000000000000" charset="0"/>
              <a:buNone/>
            </a:pPr>
            <a:r>
              <a:rPr lang="en-US" sz="2800" i="1">
                <a:solidFill>
                  <a:srgbClr val="CC0000"/>
                </a:solidFill>
                <a:latin typeface="Gill Sans MT" pitchFamily="34" charset="0"/>
              </a:rPr>
              <a:t>poisoned reverse:</a:t>
            </a:r>
            <a:r>
              <a:rPr lang="en-US" sz="2000">
                <a:latin typeface="Gill Sans MT" pitchFamily="34" charset="0"/>
              </a:rPr>
              <a:t> </a:t>
            </a:r>
          </a:p>
          <a:p>
            <a:pPr marL="342900" indent="-342900">
              <a:lnSpc>
                <a:spcPct val="85000"/>
              </a:lnSpc>
              <a:spcBef>
                <a:spcPct val="20000"/>
              </a:spcBef>
              <a:buClr>
                <a:srgbClr val="000099"/>
              </a:buClr>
              <a:buSzPct val="65000"/>
              <a:buFont typeface="Wingdings" panose="05000000000000000000" charset="0"/>
              <a:buChar char="v"/>
            </a:pPr>
            <a:r>
              <a:rPr lang="en-US" sz="2400">
                <a:latin typeface="Gill Sans MT" pitchFamily="34" charset="0"/>
              </a:rPr>
              <a:t>If Z routes through Y to get to X :</a:t>
            </a:r>
          </a:p>
          <a:p>
            <a:pPr marL="742950" lvl="1" indent="-285750">
              <a:lnSpc>
                <a:spcPct val="85000"/>
              </a:lnSpc>
              <a:spcBef>
                <a:spcPct val="20000"/>
              </a:spcBef>
              <a:buClr>
                <a:srgbClr val="000099"/>
              </a:buClr>
              <a:buFont typeface="Wingdings" panose="05000000000000000000" charset="0"/>
              <a:buChar char="§"/>
            </a:pPr>
            <a:r>
              <a:rPr lang="en-US" sz="2000">
                <a:latin typeface="Gill Sans MT" pitchFamily="34" charset="0"/>
              </a:rPr>
              <a:t>Z tells Y its (Z</a:t>
            </a:r>
            <a:r>
              <a:rPr lang="ja-JP" altLang="en-US" sz="2000">
                <a:latin typeface="Gill Sans MT" pitchFamily="34" charset="0"/>
              </a:rPr>
              <a:t>’</a:t>
            </a:r>
            <a:r>
              <a:rPr lang="en-US" altLang="ja-JP" sz="2000">
                <a:latin typeface="Gill Sans MT" pitchFamily="34" charset="0"/>
              </a:rPr>
              <a:t>s) distance to X is infinite (so Y won</a:t>
            </a:r>
            <a:r>
              <a:rPr lang="ja-JP" altLang="en-US" sz="2000">
                <a:latin typeface="Gill Sans MT" pitchFamily="34" charset="0"/>
              </a:rPr>
              <a:t>’</a:t>
            </a:r>
            <a:r>
              <a:rPr lang="en-US" altLang="ja-JP" sz="2000">
                <a:latin typeface="Gill Sans MT" pitchFamily="34" charset="0"/>
              </a:rPr>
              <a:t>t route to X via Z)</a:t>
            </a:r>
          </a:p>
          <a:p>
            <a:pPr marL="342900" indent="-342900">
              <a:lnSpc>
                <a:spcPct val="85000"/>
              </a:lnSpc>
              <a:spcBef>
                <a:spcPct val="20000"/>
              </a:spcBef>
              <a:buClr>
                <a:srgbClr val="000099"/>
              </a:buClr>
              <a:buSzPct val="65000"/>
              <a:buFont typeface="Wingdings" panose="05000000000000000000" charset="0"/>
              <a:buChar char="v"/>
            </a:pPr>
            <a:r>
              <a:rPr lang="en-US" sz="2400">
                <a:latin typeface="Gill Sans MT" pitchFamily="34" charset="0"/>
              </a:rPr>
              <a:t>will this completely solve count to infinity problem?</a:t>
            </a:r>
          </a:p>
        </p:txBody>
      </p:sp>
      <p:sp>
        <p:nvSpPr>
          <p:cNvPr id="44"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52</a:t>
            </a:fld>
            <a:endParaRPr lang="en-US" sz="1200" dirty="0">
              <a:latin typeface="Tahoma" panose="020B0604030504040204" charset="0"/>
            </a:endParaRPr>
          </a:p>
        </p:txBody>
      </p:sp>
      <p:sp>
        <p:nvSpPr>
          <p:cNvPr id="45"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
        <p:nvSpPr>
          <p:cNvPr id="2" name="对角圆角矩形 1"/>
          <p:cNvSpPr/>
          <p:nvPr/>
        </p:nvSpPr>
        <p:spPr bwMode="auto">
          <a:xfrm>
            <a:off x="4919876" y="3430879"/>
            <a:ext cx="3883054" cy="2101821"/>
          </a:xfrm>
          <a:prstGeom prst="round2DiagRect">
            <a:avLst/>
          </a:prstGeom>
          <a:solidFill>
            <a:srgbClr val="800000"/>
          </a:solidFill>
          <a:ln w="9525" cap="flat" cmpd="sng" algn="ctr">
            <a:solidFill>
              <a:schemeClr val="tx1"/>
            </a:solidFill>
            <a:prstDash val="solid"/>
            <a:round/>
            <a:headEnd type="none" w="med" len="med"/>
            <a:tailEnd type="none" w="med" len="med"/>
          </a:ln>
          <a:effectLst/>
          <a:scene3d>
            <a:camera prst="orthographicFront"/>
            <a:lightRig rig="threePt" dir="t"/>
          </a:scene3d>
          <a:sp3d>
            <a:bevelT/>
          </a:sp3d>
        </p:spPr>
        <p:txBody>
          <a:bodyPr lIns="0" rIns="0" anchor="ctr"/>
          <a:lstStyle>
            <a:lvl1pPr>
              <a:defRPr kumimoji="1" sz="2400">
                <a:solidFill>
                  <a:schemeClr val="tx1"/>
                </a:solidFill>
                <a:latin typeface="Comic Sans MS" panose="030F0902030302020204" pitchFamily="66" charset="0"/>
                <a:ea typeface="宋体" pitchFamily="2" charset="-122"/>
              </a:defRPr>
            </a:lvl1pPr>
            <a:lvl2pPr marL="742950" indent="-285750">
              <a:defRPr kumimoji="1" sz="2400">
                <a:solidFill>
                  <a:schemeClr val="tx1"/>
                </a:solidFill>
                <a:latin typeface="Comic Sans MS" panose="030F0902030302020204" pitchFamily="66" charset="0"/>
                <a:ea typeface="宋体" pitchFamily="2" charset="-122"/>
              </a:defRPr>
            </a:lvl2pPr>
            <a:lvl3pPr marL="1143000" indent="-228600">
              <a:defRPr kumimoji="1" sz="2400">
                <a:solidFill>
                  <a:schemeClr val="tx1"/>
                </a:solidFill>
                <a:latin typeface="Comic Sans MS" panose="030F0902030302020204" pitchFamily="66" charset="0"/>
                <a:ea typeface="宋体" pitchFamily="2" charset="-122"/>
              </a:defRPr>
            </a:lvl3pPr>
            <a:lvl4pPr marL="1600200" indent="-228600">
              <a:defRPr kumimoji="1" sz="2400">
                <a:solidFill>
                  <a:schemeClr val="tx1"/>
                </a:solidFill>
                <a:latin typeface="Comic Sans MS" panose="030F0902030302020204" pitchFamily="66" charset="0"/>
                <a:ea typeface="宋体" pitchFamily="2" charset="-122"/>
              </a:defRPr>
            </a:lvl4pPr>
            <a:lvl5pPr marL="2057400" indent="-228600">
              <a:defRPr kumimoji="1" sz="2400">
                <a:solidFill>
                  <a:schemeClr val="tx1"/>
                </a:solidFill>
                <a:latin typeface="Comic Sans MS" panose="030F0902030302020204" pitchFamily="66" charset="0"/>
                <a:ea typeface="宋体" pitchFamily="2" charset="-122"/>
              </a:defRPr>
            </a:lvl5pPr>
            <a:lvl6pPr marL="2514600" indent="-228600" eaLnBrk="0" fontAlgn="base" hangingPunct="0">
              <a:spcBef>
                <a:spcPct val="0"/>
              </a:spcBef>
              <a:spcAft>
                <a:spcPct val="0"/>
              </a:spcAft>
              <a:defRPr kumimoji="1" sz="2400">
                <a:solidFill>
                  <a:schemeClr val="tx1"/>
                </a:solidFill>
                <a:latin typeface="Comic Sans MS" panose="030F0902030302020204" pitchFamily="66" charset="0"/>
                <a:ea typeface="宋体" pitchFamily="2" charset="-122"/>
              </a:defRPr>
            </a:lvl6pPr>
            <a:lvl7pPr marL="2971800" indent="-228600" eaLnBrk="0" fontAlgn="base" hangingPunct="0">
              <a:spcBef>
                <a:spcPct val="0"/>
              </a:spcBef>
              <a:spcAft>
                <a:spcPct val="0"/>
              </a:spcAft>
              <a:defRPr kumimoji="1" sz="2400">
                <a:solidFill>
                  <a:schemeClr val="tx1"/>
                </a:solidFill>
                <a:latin typeface="Comic Sans MS" panose="030F0902030302020204" pitchFamily="66" charset="0"/>
                <a:ea typeface="宋体" pitchFamily="2" charset="-122"/>
              </a:defRPr>
            </a:lvl7pPr>
            <a:lvl8pPr marL="3429000" indent="-228600" eaLnBrk="0" fontAlgn="base" hangingPunct="0">
              <a:spcBef>
                <a:spcPct val="0"/>
              </a:spcBef>
              <a:spcAft>
                <a:spcPct val="0"/>
              </a:spcAft>
              <a:defRPr kumimoji="1" sz="2400">
                <a:solidFill>
                  <a:schemeClr val="tx1"/>
                </a:solidFill>
                <a:latin typeface="Comic Sans MS" panose="030F0902030302020204" pitchFamily="66" charset="0"/>
                <a:ea typeface="宋体" pitchFamily="2" charset="-122"/>
              </a:defRPr>
            </a:lvl8pPr>
            <a:lvl9pPr marL="3886200" indent="-228600" eaLnBrk="0" fontAlgn="base" hangingPunct="0">
              <a:spcBef>
                <a:spcPct val="0"/>
              </a:spcBef>
              <a:spcAft>
                <a:spcPct val="0"/>
              </a:spcAft>
              <a:defRPr kumimoji="1" sz="2400">
                <a:solidFill>
                  <a:schemeClr val="tx1"/>
                </a:solidFill>
                <a:latin typeface="Comic Sans MS" panose="030F0902030302020204" pitchFamily="66" charset="0"/>
                <a:ea typeface="宋体" pitchFamily="2" charset="-122"/>
              </a:defRPr>
            </a:lvl9pPr>
          </a:lstStyle>
          <a:p>
            <a:pPr>
              <a:defRPr/>
            </a:pPr>
            <a:r>
              <a:rPr kumimoji="0" lang="zh-CN" altLang="en-US" sz="2000" dirty="0">
                <a:solidFill>
                  <a:schemeClr val="bg1"/>
                </a:solidFill>
                <a:latin typeface="Hiragino Sans GB W3" panose="020B0300000000000000" pitchFamily="34" charset="-128"/>
                <a:ea typeface="Hiragino Sans GB W3" panose="020B0300000000000000" pitchFamily="34" charset="-128"/>
              </a:rPr>
              <a:t>针对坏消息产生的“无穷计数”问题：</a:t>
            </a:r>
            <a:endParaRPr kumimoji="0" lang="en-US" altLang="zh-CN" sz="2000" dirty="0">
              <a:solidFill>
                <a:schemeClr val="bg1"/>
              </a:solidFill>
              <a:latin typeface="Hiragino Sans GB W3" panose="020B0300000000000000" pitchFamily="34" charset="-128"/>
              <a:ea typeface="Hiragino Sans GB W3" panose="020B0300000000000000" pitchFamily="34" charset="-128"/>
            </a:endParaRPr>
          </a:p>
          <a:p>
            <a:pPr>
              <a:defRPr/>
            </a:pPr>
            <a:r>
              <a:rPr kumimoji="0" lang="en-US" altLang="zh-CN" sz="2000" dirty="0">
                <a:solidFill>
                  <a:schemeClr val="bg1"/>
                </a:solidFill>
                <a:latin typeface="Hiragino Sans GB W3" panose="020B0300000000000000" pitchFamily="34" charset="-128"/>
                <a:ea typeface="Hiragino Sans GB W3" panose="020B0300000000000000" pitchFamily="34" charset="-128"/>
              </a:rPr>
              <a:t>1</a:t>
            </a:r>
            <a:r>
              <a:rPr kumimoji="0" lang="zh-CN" altLang="en-US" sz="2000" dirty="0">
                <a:solidFill>
                  <a:schemeClr val="bg1"/>
                </a:solidFill>
                <a:latin typeface="Hiragino Sans GB W3" panose="020B0300000000000000" pitchFamily="34" charset="-128"/>
                <a:ea typeface="Hiragino Sans GB W3" panose="020B0300000000000000" pitchFamily="34" charset="-128"/>
              </a:rPr>
              <a:t>）</a:t>
            </a:r>
            <a:r>
              <a:rPr kumimoji="0" lang="en-US" altLang="zh-CN" sz="2000" dirty="0">
                <a:solidFill>
                  <a:schemeClr val="bg1"/>
                </a:solidFill>
                <a:latin typeface="Hiragino Sans GB W3" panose="020B0300000000000000" pitchFamily="34" charset="-128"/>
                <a:ea typeface="Hiragino Sans GB W3" panose="020B0300000000000000" pitchFamily="34" charset="-128"/>
              </a:rPr>
              <a:t>“</a:t>
            </a:r>
            <a:r>
              <a:rPr kumimoji="0" lang="zh-CN" altLang="en-US" sz="2000" dirty="0">
                <a:solidFill>
                  <a:schemeClr val="bg1"/>
                </a:solidFill>
                <a:latin typeface="Hiragino Sans GB W3" panose="020B0300000000000000" pitchFamily="34" charset="-128"/>
                <a:ea typeface="Hiragino Sans GB W3" panose="020B0300000000000000" pitchFamily="34" charset="-128"/>
              </a:rPr>
              <a:t>毒性逆转</a:t>
            </a:r>
            <a:r>
              <a:rPr kumimoji="0" lang="en-US" altLang="zh-CN" sz="2000" dirty="0">
                <a:solidFill>
                  <a:schemeClr val="bg1"/>
                </a:solidFill>
                <a:latin typeface="Hiragino Sans GB W3" panose="020B0300000000000000" pitchFamily="34" charset="-128"/>
                <a:ea typeface="Hiragino Sans GB W3" panose="020B0300000000000000" pitchFamily="34" charset="-128"/>
              </a:rPr>
              <a:t>”</a:t>
            </a:r>
            <a:r>
              <a:rPr kumimoji="0" lang="zh-CN" altLang="en-US" sz="2000" dirty="0">
                <a:solidFill>
                  <a:schemeClr val="bg1"/>
                </a:solidFill>
                <a:latin typeface="Hiragino Sans GB W3" panose="020B0300000000000000" pitchFamily="34" charset="-128"/>
                <a:ea typeface="Hiragino Sans GB W3" panose="020B0300000000000000" pitchFamily="34" charset="-128"/>
              </a:rPr>
              <a:t>原理</a:t>
            </a:r>
            <a:endParaRPr kumimoji="0" lang="en-US" altLang="zh-CN" sz="2000" dirty="0">
              <a:solidFill>
                <a:schemeClr val="bg1"/>
              </a:solidFill>
              <a:latin typeface="Hiragino Sans GB W3" panose="020B0300000000000000" pitchFamily="34" charset="-128"/>
              <a:ea typeface="Hiragino Sans GB W3" panose="020B0300000000000000" pitchFamily="34" charset="-128"/>
            </a:endParaRPr>
          </a:p>
          <a:p>
            <a:pPr>
              <a:defRPr/>
            </a:pPr>
            <a:r>
              <a:rPr kumimoji="0" lang="zh-CN" altLang="en-US" sz="2000" dirty="0">
                <a:solidFill>
                  <a:schemeClr val="bg1"/>
                </a:solidFill>
                <a:latin typeface="Hiragino Sans GB W3" panose="020B0300000000000000" pitchFamily="34" charset="-128"/>
                <a:ea typeface="Hiragino Sans GB W3" panose="020B0300000000000000" pitchFamily="34" charset="-128"/>
              </a:rPr>
              <a:t>2）其他解决办法</a:t>
            </a:r>
            <a:endParaRPr kumimoji="0" lang="en-US" altLang="zh-CN" sz="2000" dirty="0">
              <a:solidFill>
                <a:schemeClr val="bg1"/>
              </a:solidFill>
              <a:latin typeface="Hiragino Sans GB W3" panose="020B0300000000000000" pitchFamily="34" charset="-128"/>
              <a:ea typeface="Hiragino Sans GB W3" panose="020B0300000000000000" pitchFamily="34" charset="-128"/>
            </a:endParaRPr>
          </a:p>
          <a:p>
            <a:pPr>
              <a:defRPr/>
            </a:pPr>
            <a:endParaRPr kumimoji="0" lang="en-US" altLang="zh-CN" sz="2000" dirty="0">
              <a:solidFill>
                <a:schemeClr val="bg1"/>
              </a:solidFill>
              <a:latin typeface="Hiragino Sans GB W3" panose="020B0300000000000000" pitchFamily="34" charset="-128"/>
              <a:ea typeface="Hiragino Sans GB W3" panose="020B0300000000000000" pitchFamily="34" charset="-128"/>
            </a:endParaRPr>
          </a:p>
          <a:p>
            <a:pPr>
              <a:defRPr/>
            </a:pPr>
            <a:r>
              <a:rPr kumimoji="0" lang="zh-CN" altLang="en-US" sz="2000" dirty="0">
                <a:solidFill>
                  <a:schemeClr val="bg1"/>
                </a:solidFill>
                <a:latin typeface="Hiragino Sans GB W3" panose="020B0300000000000000" pitchFamily="34" charset="-128"/>
                <a:ea typeface="Hiragino Sans GB W3" panose="020B0300000000000000" pitchFamily="34" charset="-128"/>
              </a:rPr>
              <a:t>参考哈工大课程视频来理解</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1315" name="Picture 7"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9600" y="904875"/>
            <a:ext cx="7313613" cy="173038"/>
          </a:xfrm>
          <a:prstGeom prst="rect">
            <a:avLst/>
          </a:prstGeom>
          <a:noFill/>
          <a:ln>
            <a:noFill/>
          </a:ln>
        </p:spPr>
      </p:pic>
      <p:sp>
        <p:nvSpPr>
          <p:cNvPr id="96261" name="Rectangle 2"/>
          <p:cNvSpPr>
            <a:spLocks noGrp="1" noChangeArrowheads="1"/>
          </p:cNvSpPr>
          <p:nvPr>
            <p:ph type="title"/>
          </p:nvPr>
        </p:nvSpPr>
        <p:spPr>
          <a:xfrm>
            <a:off x="544830" y="452755"/>
            <a:ext cx="8155305" cy="528320"/>
          </a:xfrm>
        </p:spPr>
        <p:txBody>
          <a:bodyPr/>
          <a:lstStyle/>
          <a:p>
            <a:pPr>
              <a:defRPr/>
            </a:pPr>
            <a:r>
              <a:rPr lang="en-US" sz="3600">
                <a:cs typeface="+mj-cs"/>
              </a:rPr>
              <a:t>Comparison of LS and DV algorithms</a:t>
            </a:r>
          </a:p>
        </p:txBody>
      </p:sp>
      <p:sp>
        <p:nvSpPr>
          <p:cNvPr id="141317" name="Rectangle 3"/>
          <p:cNvSpPr>
            <a:spLocks noGrp="1" noChangeArrowheads="1"/>
          </p:cNvSpPr>
          <p:nvPr>
            <p:ph type="body" sz="half" idx="1"/>
          </p:nvPr>
        </p:nvSpPr>
        <p:spPr>
          <a:xfrm>
            <a:off x="488250" y="1295400"/>
            <a:ext cx="4219575" cy="4648200"/>
          </a:xfrm>
        </p:spPr>
        <p:txBody>
          <a:bodyPr/>
          <a:lstStyle/>
          <a:p>
            <a:pPr>
              <a:buFont typeface="Wingdings" panose="05000000000000000000" charset="0"/>
              <a:buNone/>
            </a:pPr>
            <a:r>
              <a:rPr lang="en-US" i="1" dirty="0">
                <a:solidFill>
                  <a:srgbClr val="CC0000"/>
                </a:solidFill>
                <a:latin typeface="Gill Sans MT" pitchFamily="34" charset="0"/>
              </a:rPr>
              <a:t>message complexity</a:t>
            </a:r>
          </a:p>
          <a:p>
            <a:r>
              <a:rPr lang="en-US" sz="2000" b="1" i="1" dirty="0">
                <a:solidFill>
                  <a:srgbClr val="CC0000"/>
                </a:solidFill>
                <a:latin typeface="Gill Sans MT" pitchFamily="34" charset="0"/>
              </a:rPr>
              <a:t>LS:</a:t>
            </a:r>
            <a:r>
              <a:rPr lang="en-US" sz="2000" dirty="0">
                <a:latin typeface="Gill Sans MT" pitchFamily="34" charset="0"/>
              </a:rPr>
              <a:t> with n nodes, E links, O(</a:t>
            </a:r>
            <a:r>
              <a:rPr lang="en-US" sz="2000" dirty="0" err="1">
                <a:latin typeface="Gill Sans MT" pitchFamily="34" charset="0"/>
              </a:rPr>
              <a:t>nE</a:t>
            </a:r>
            <a:r>
              <a:rPr lang="en-US" sz="2000" dirty="0">
                <a:latin typeface="Gill Sans MT" pitchFamily="34" charset="0"/>
              </a:rPr>
              <a:t>) </a:t>
            </a:r>
            <a:r>
              <a:rPr lang="en-US" sz="2000" dirty="0" err="1">
                <a:latin typeface="Gill Sans MT" pitchFamily="34" charset="0"/>
              </a:rPr>
              <a:t>msgs</a:t>
            </a:r>
            <a:r>
              <a:rPr lang="en-US" sz="2000" dirty="0">
                <a:latin typeface="Gill Sans MT" pitchFamily="34" charset="0"/>
              </a:rPr>
              <a:t> sent  </a:t>
            </a:r>
          </a:p>
          <a:p>
            <a:r>
              <a:rPr lang="en-US" sz="2000" b="1" i="1" dirty="0">
                <a:solidFill>
                  <a:srgbClr val="CC0000"/>
                </a:solidFill>
                <a:latin typeface="Gill Sans MT" pitchFamily="34" charset="0"/>
              </a:rPr>
              <a:t>DV:</a:t>
            </a:r>
            <a:r>
              <a:rPr lang="en-US" sz="2000" dirty="0">
                <a:solidFill>
                  <a:srgbClr val="FF0000"/>
                </a:solidFill>
                <a:latin typeface="Gill Sans MT" pitchFamily="34" charset="0"/>
              </a:rPr>
              <a:t> </a:t>
            </a:r>
            <a:r>
              <a:rPr lang="en-US" sz="2000" dirty="0">
                <a:latin typeface="Gill Sans MT" pitchFamily="34" charset="0"/>
              </a:rPr>
              <a:t>exchange between neighbors only</a:t>
            </a:r>
          </a:p>
          <a:p>
            <a:pPr lvl="1"/>
            <a:r>
              <a:rPr lang="en-US" sz="2000" dirty="0">
                <a:latin typeface="Gill Sans MT" pitchFamily="34" charset="0"/>
              </a:rPr>
              <a:t>Convergence</a:t>
            </a:r>
            <a:r>
              <a:rPr lang="zh-CN" altLang="en-US" sz="1400" b="1" dirty="0">
                <a:latin typeface="FZKai-Z03" panose="03000509000000000000" pitchFamily="66" charset="-122"/>
                <a:ea typeface="FZKai-Z03" panose="03000509000000000000" pitchFamily="66" charset="-122"/>
              </a:rPr>
              <a:t> </a:t>
            </a:r>
            <a:r>
              <a:rPr lang="en-US" altLang="zh-CN" sz="1400" b="1" dirty="0">
                <a:latin typeface="FZKai-Z03" panose="03000509000000000000" pitchFamily="66" charset="-122"/>
                <a:ea typeface="FZKai-Z03" panose="03000509000000000000" pitchFamily="66" charset="-122"/>
              </a:rPr>
              <a:t>(</a:t>
            </a:r>
            <a:r>
              <a:rPr lang="zh-CN" altLang="en-US" sz="1400" b="1" dirty="0">
                <a:latin typeface="FZKai-Z03" panose="03000509000000000000" pitchFamily="66" charset="-122"/>
                <a:ea typeface="FZKai-Z03" panose="03000509000000000000" pitchFamily="66" charset="-122"/>
              </a:rPr>
              <a:t>收敛</a:t>
            </a:r>
            <a:r>
              <a:rPr lang="en-US" altLang="zh-CN" sz="1400" b="1" dirty="0">
                <a:latin typeface="FZKai-Z03" panose="03000509000000000000" pitchFamily="66" charset="-122"/>
                <a:ea typeface="FZKai-Z03" panose="03000509000000000000" pitchFamily="66" charset="-122"/>
              </a:rPr>
              <a:t>)</a:t>
            </a:r>
            <a:r>
              <a:rPr lang="zh-CN" altLang="en-US" sz="1400" b="1" dirty="0">
                <a:latin typeface="FZKai-Z03" panose="03000509000000000000" pitchFamily="66" charset="-122"/>
                <a:ea typeface="FZKai-Z03" panose="03000509000000000000" pitchFamily="66" charset="-122"/>
              </a:rPr>
              <a:t> </a:t>
            </a:r>
            <a:r>
              <a:rPr lang="en-US" sz="2000" dirty="0">
                <a:latin typeface="Gill Sans MT" pitchFamily="34" charset="0"/>
              </a:rPr>
              <a:t>time varies</a:t>
            </a:r>
          </a:p>
          <a:p>
            <a:pPr>
              <a:spcBef>
                <a:spcPct val="50000"/>
              </a:spcBef>
              <a:buFont typeface="Wingdings" panose="05000000000000000000" charset="0"/>
              <a:buNone/>
            </a:pPr>
            <a:r>
              <a:rPr lang="en-US" i="1" dirty="0">
                <a:solidFill>
                  <a:srgbClr val="CC0000"/>
                </a:solidFill>
                <a:latin typeface="Gill Sans MT" pitchFamily="34" charset="0"/>
              </a:rPr>
              <a:t>speed of convergence</a:t>
            </a:r>
          </a:p>
          <a:p>
            <a:r>
              <a:rPr lang="en-US" sz="2000" b="1" i="1" dirty="0">
                <a:solidFill>
                  <a:srgbClr val="CC0000"/>
                </a:solidFill>
                <a:latin typeface="Gill Sans MT" pitchFamily="34" charset="0"/>
              </a:rPr>
              <a:t>LS:</a:t>
            </a:r>
            <a:r>
              <a:rPr lang="en-US" sz="2000" dirty="0">
                <a:latin typeface="Gill Sans MT" pitchFamily="34" charset="0"/>
              </a:rPr>
              <a:t> O(n</a:t>
            </a:r>
            <a:r>
              <a:rPr lang="en-US" sz="2000" b="1" baseline="30000" dirty="0">
                <a:latin typeface="Gill Sans MT" pitchFamily="34" charset="0"/>
              </a:rPr>
              <a:t>2</a:t>
            </a:r>
            <a:r>
              <a:rPr lang="en-US" sz="2000" dirty="0">
                <a:latin typeface="Gill Sans MT" pitchFamily="34" charset="0"/>
              </a:rPr>
              <a:t>) algorithm requires O(</a:t>
            </a:r>
            <a:r>
              <a:rPr lang="en-US" sz="2000" dirty="0" err="1">
                <a:latin typeface="Gill Sans MT" pitchFamily="34" charset="0"/>
              </a:rPr>
              <a:t>nE</a:t>
            </a:r>
            <a:r>
              <a:rPr lang="en-US" sz="2000" dirty="0">
                <a:latin typeface="Gill Sans MT" pitchFamily="34" charset="0"/>
              </a:rPr>
              <a:t>) </a:t>
            </a:r>
            <a:r>
              <a:rPr lang="en-US" sz="2000" dirty="0" err="1">
                <a:latin typeface="Gill Sans MT" pitchFamily="34" charset="0"/>
              </a:rPr>
              <a:t>msgs</a:t>
            </a:r>
            <a:endParaRPr lang="en-US" sz="2000" dirty="0">
              <a:latin typeface="Gill Sans MT" pitchFamily="34" charset="0"/>
            </a:endParaRPr>
          </a:p>
          <a:p>
            <a:pPr lvl="1"/>
            <a:r>
              <a:rPr lang="en-US" sz="2000" dirty="0">
                <a:latin typeface="Gill Sans MT" pitchFamily="34" charset="0"/>
              </a:rPr>
              <a:t>may have oscillations</a:t>
            </a:r>
            <a:r>
              <a:rPr lang="zh-CN" altLang="en-US" sz="2000" dirty="0">
                <a:latin typeface="Gill Sans MT" pitchFamily="34" charset="0"/>
              </a:rPr>
              <a:t> </a:t>
            </a:r>
            <a:r>
              <a:rPr lang="en-US" altLang="zh-CN" sz="1400" b="1" dirty="0">
                <a:latin typeface="FZKai-Z03" panose="03000509000000000000" pitchFamily="66" charset="-122"/>
                <a:ea typeface="FZKai-Z03" panose="03000509000000000000" pitchFamily="66" charset="-122"/>
              </a:rPr>
              <a:t>(</a:t>
            </a:r>
            <a:r>
              <a:rPr lang="zh-CN" altLang="en-US" sz="1400" b="1" dirty="0">
                <a:latin typeface="FZKai-Z03" panose="03000509000000000000" pitchFamily="66" charset="-122"/>
                <a:ea typeface="FZKai-Z03" panose="03000509000000000000" pitchFamily="66" charset="-122"/>
              </a:rPr>
              <a:t>震荡</a:t>
            </a:r>
            <a:r>
              <a:rPr lang="en-US" altLang="zh-CN" sz="1400" b="1" dirty="0">
                <a:latin typeface="FZKai-Z03" panose="03000509000000000000" pitchFamily="66" charset="-122"/>
                <a:ea typeface="FZKai-Z03" panose="03000509000000000000" pitchFamily="66" charset="-122"/>
              </a:rPr>
              <a:t>) </a:t>
            </a:r>
            <a:endParaRPr lang="en-US" sz="1400" b="1" dirty="0">
              <a:latin typeface="FZKai-Z03" panose="03000509000000000000" pitchFamily="66" charset="-122"/>
              <a:ea typeface="FZKai-Z03" panose="03000509000000000000" pitchFamily="66" charset="-122"/>
            </a:endParaRPr>
          </a:p>
          <a:p>
            <a:r>
              <a:rPr lang="en-US" sz="2000" b="1" i="1" dirty="0">
                <a:solidFill>
                  <a:srgbClr val="CC0000"/>
                </a:solidFill>
                <a:latin typeface="Gill Sans MT" pitchFamily="34" charset="0"/>
              </a:rPr>
              <a:t>DV:</a:t>
            </a:r>
            <a:r>
              <a:rPr lang="en-US" sz="2000" dirty="0">
                <a:latin typeface="Gill Sans MT" pitchFamily="34" charset="0"/>
              </a:rPr>
              <a:t> convergence time varies</a:t>
            </a:r>
          </a:p>
          <a:p>
            <a:pPr lvl="1"/>
            <a:r>
              <a:rPr lang="en-US" sz="2000" dirty="0">
                <a:latin typeface="Gill Sans MT" pitchFamily="34" charset="0"/>
              </a:rPr>
              <a:t>may be routing loops</a:t>
            </a:r>
          </a:p>
          <a:p>
            <a:pPr lvl="1"/>
            <a:r>
              <a:rPr lang="en-US" sz="2000" dirty="0">
                <a:latin typeface="Gill Sans MT" pitchFamily="34" charset="0"/>
              </a:rPr>
              <a:t>count-to-infinity problem</a:t>
            </a:r>
            <a:endParaRPr lang="en-US" sz="1800" dirty="0">
              <a:latin typeface="Gill Sans MT" pitchFamily="34" charset="0"/>
            </a:endParaRPr>
          </a:p>
        </p:txBody>
      </p:sp>
      <p:sp>
        <p:nvSpPr>
          <p:cNvPr id="141318" name="Rectangle 4"/>
          <p:cNvSpPr>
            <a:spLocks noGrp="1" noChangeArrowheads="1"/>
          </p:cNvSpPr>
          <p:nvPr>
            <p:ph type="body" sz="half" idx="2"/>
          </p:nvPr>
        </p:nvSpPr>
        <p:spPr>
          <a:xfrm>
            <a:off x="4693285" y="1329055"/>
            <a:ext cx="4219575" cy="4648200"/>
          </a:xfrm>
        </p:spPr>
        <p:txBody>
          <a:bodyPr/>
          <a:lstStyle/>
          <a:p>
            <a:pPr>
              <a:buNone/>
            </a:pPr>
            <a:r>
              <a:rPr lang="en-US" sz="2400" i="1" dirty="0">
                <a:solidFill>
                  <a:srgbClr val="CC0000"/>
                </a:solidFill>
                <a:latin typeface="Gill Sans MT" pitchFamily="34" charset="0"/>
              </a:rPr>
              <a:t>robustness:</a:t>
            </a:r>
            <a:r>
              <a:rPr lang="en-US" sz="2400" dirty="0">
                <a:latin typeface="Gill Sans MT" pitchFamily="34" charset="0"/>
              </a:rPr>
              <a:t> what happens if router malfunctions</a:t>
            </a:r>
            <a:r>
              <a:rPr lang="zh-CN" altLang="en-US" sz="2400" dirty="0">
                <a:latin typeface="Gill Sans MT" pitchFamily="34" charset="0"/>
              </a:rPr>
              <a:t> </a:t>
            </a:r>
            <a:r>
              <a:rPr lang="en-US" altLang="zh-CN" sz="1400" b="1" dirty="0">
                <a:latin typeface="FZKai-Z03" panose="03000509000000000000" pitchFamily="66" charset="-122"/>
                <a:ea typeface="FZKai-Z03" panose="03000509000000000000" pitchFamily="66" charset="-122"/>
              </a:rPr>
              <a:t>(</a:t>
            </a:r>
            <a:r>
              <a:rPr lang="zh-CN" altLang="en-US" sz="1400" b="1" dirty="0">
                <a:latin typeface="FZKai-Z03" panose="03000509000000000000" pitchFamily="66" charset="-122"/>
                <a:ea typeface="FZKai-Z03" panose="03000509000000000000" pitchFamily="66" charset="-122"/>
              </a:rPr>
              <a:t>震荡</a:t>
            </a:r>
            <a:r>
              <a:rPr lang="en-US" altLang="zh-CN" sz="1400" b="1" dirty="0">
                <a:latin typeface="FZKai-Z03" panose="03000509000000000000" pitchFamily="66" charset="-122"/>
                <a:ea typeface="FZKai-Z03" panose="03000509000000000000" pitchFamily="66" charset="-122"/>
              </a:rPr>
              <a:t>) </a:t>
            </a:r>
            <a:r>
              <a:rPr lang="en-US" altLang="zh-CN" sz="2400" dirty="0">
                <a:latin typeface="Gill Sans MT" pitchFamily="34" charset="0"/>
              </a:rPr>
              <a:t>?</a:t>
            </a:r>
            <a:endParaRPr lang="en-US" sz="2400" dirty="0">
              <a:latin typeface="Gill Sans MT" pitchFamily="34" charset="0"/>
            </a:endParaRPr>
          </a:p>
          <a:p>
            <a:pPr>
              <a:buFont typeface="Wingdings" panose="05000000000000000000" charset="0"/>
              <a:buNone/>
            </a:pPr>
            <a:r>
              <a:rPr lang="en-US" sz="2400" i="1" dirty="0">
                <a:solidFill>
                  <a:srgbClr val="CC0000"/>
                </a:solidFill>
                <a:latin typeface="Gill Sans MT" pitchFamily="34" charset="0"/>
              </a:rPr>
              <a:t>LS:</a:t>
            </a:r>
            <a:r>
              <a:rPr lang="en-US" sz="2400" dirty="0">
                <a:latin typeface="Gill Sans MT" pitchFamily="34" charset="0"/>
              </a:rPr>
              <a:t> </a:t>
            </a:r>
          </a:p>
          <a:p>
            <a:pPr marL="533400" lvl="1" indent="-284480"/>
            <a:r>
              <a:rPr lang="en-US" sz="2000" dirty="0">
                <a:latin typeface="Gill Sans MT" pitchFamily="34" charset="0"/>
              </a:rPr>
              <a:t>node can advertise incorrect </a:t>
            </a:r>
            <a:r>
              <a:rPr lang="en-US" sz="2000" i="1" dirty="0">
                <a:solidFill>
                  <a:srgbClr val="000099"/>
                </a:solidFill>
                <a:latin typeface="Gill Sans MT" pitchFamily="34" charset="0"/>
              </a:rPr>
              <a:t>link</a:t>
            </a:r>
            <a:r>
              <a:rPr lang="en-US" sz="2000" dirty="0">
                <a:latin typeface="Gill Sans MT" pitchFamily="34" charset="0"/>
              </a:rPr>
              <a:t> cost</a:t>
            </a:r>
          </a:p>
          <a:p>
            <a:pPr marL="533400" lvl="1" indent="-284480"/>
            <a:r>
              <a:rPr lang="en-US" sz="2000" dirty="0">
                <a:latin typeface="Gill Sans MT" pitchFamily="34" charset="0"/>
              </a:rPr>
              <a:t>each node computes only its </a:t>
            </a:r>
            <a:r>
              <a:rPr lang="en-US" sz="2000" i="1" dirty="0">
                <a:latin typeface="Gill Sans MT" pitchFamily="34" charset="0"/>
              </a:rPr>
              <a:t>own</a:t>
            </a:r>
            <a:r>
              <a:rPr lang="en-US" sz="2000" dirty="0">
                <a:latin typeface="Gill Sans MT" pitchFamily="34" charset="0"/>
              </a:rPr>
              <a:t> table</a:t>
            </a:r>
          </a:p>
          <a:p>
            <a:pPr>
              <a:buFont typeface="Wingdings" panose="05000000000000000000" charset="0"/>
              <a:buNone/>
            </a:pPr>
            <a:r>
              <a:rPr lang="en-US" sz="2400" i="1" dirty="0">
                <a:solidFill>
                  <a:srgbClr val="CC0000"/>
                </a:solidFill>
                <a:latin typeface="Gill Sans MT" pitchFamily="34" charset="0"/>
              </a:rPr>
              <a:t>DV:</a:t>
            </a:r>
          </a:p>
          <a:p>
            <a:pPr marL="533400" lvl="1" indent="-284480"/>
            <a:r>
              <a:rPr lang="en-US" sz="2000" dirty="0">
                <a:latin typeface="Gill Sans MT" pitchFamily="34" charset="0"/>
              </a:rPr>
              <a:t>DV node can advertise incorrect path cost</a:t>
            </a:r>
          </a:p>
          <a:p>
            <a:pPr marL="533400" lvl="1" indent="-284480"/>
            <a:r>
              <a:rPr lang="en-US" sz="2000" dirty="0">
                <a:latin typeface="Gill Sans MT" pitchFamily="34" charset="0"/>
              </a:rPr>
              <a:t>each node</a:t>
            </a:r>
            <a:r>
              <a:rPr lang="ja-JP" altLang="en-US" sz="2000">
                <a:latin typeface="Gill Sans MT" pitchFamily="34" charset="0"/>
              </a:rPr>
              <a:t>’</a:t>
            </a:r>
            <a:r>
              <a:rPr lang="en-US" altLang="ja-JP" sz="2000" dirty="0">
                <a:latin typeface="Gill Sans MT" pitchFamily="34" charset="0"/>
              </a:rPr>
              <a:t>s table used by others </a:t>
            </a:r>
          </a:p>
          <a:p>
            <a:pPr marL="758825" lvl="2" indent="-225425"/>
            <a:r>
              <a:rPr lang="en-US" sz="1800" dirty="0">
                <a:latin typeface="Comic Sans MS" panose="030F0902030302020204" pitchFamily="66" charset="0"/>
              </a:rPr>
              <a:t>error propagate thru network</a:t>
            </a:r>
          </a:p>
        </p:txBody>
      </p:sp>
      <p:sp>
        <p:nvSpPr>
          <p:cNvPr id="8"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53</a:t>
            </a:fld>
            <a:endParaRPr lang="en-US" sz="1200" dirty="0">
              <a:latin typeface="Tahoma" panose="020B0604030504040204" charset="0"/>
            </a:endParaRPr>
          </a:p>
        </p:txBody>
      </p:sp>
      <p:sp>
        <p:nvSpPr>
          <p:cNvPr id="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3" name="页脚占位符 5"/>
          <p:cNvSpPr>
            <a:spLocks noGrp="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Network Layer</a:t>
            </a:r>
          </a:p>
        </p:txBody>
      </p:sp>
      <p:sp>
        <p:nvSpPr>
          <p:cNvPr id="340994" name="灯片编号占位符 6"/>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4-</a:t>
            </a:r>
            <a:fld id="{C93BE440-0859-9344-B105-F76054315B4B}" type="slidenum">
              <a:rPr kumimoji="0" lang="en-US" altLang="zh-CN" sz="12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Arial" panose="020B0604020202090204" pitchFamily="34" charset="0"/>
              </a:rPr>
              <a:t>54</a:t>
            </a:fld>
            <a:endPar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endParaRPr>
          </a:p>
        </p:txBody>
      </p:sp>
      <p:sp>
        <p:nvSpPr>
          <p:cNvPr id="340995" name="Rectangle 2"/>
          <p:cNvSpPr>
            <a:spLocks noGrp="1" noChangeArrowheads="1"/>
          </p:cNvSpPr>
          <p:nvPr>
            <p:ph type="title"/>
          </p:nvPr>
        </p:nvSpPr>
        <p:spPr/>
        <p:txBody>
          <a:bodyPr/>
          <a:lstStyle/>
          <a:p>
            <a:pPr eaLnBrk="1" hangingPunct="1"/>
            <a:r>
              <a:rPr lang="en-US" altLang="zh-CN">
                <a:ea typeface="宋体" pitchFamily="2" charset="-122"/>
              </a:rPr>
              <a:t>Chapter 4: Network Layer</a:t>
            </a:r>
          </a:p>
        </p:txBody>
      </p:sp>
      <p:sp>
        <p:nvSpPr>
          <p:cNvPr id="340997" name="Rectangle 4"/>
          <p:cNvSpPr>
            <a:spLocks noGrp="1" noChangeArrowheads="1"/>
          </p:cNvSpPr>
          <p:nvPr>
            <p:ph type="body" sz="half" idx="2"/>
          </p:nvPr>
        </p:nvSpPr>
        <p:spPr>
          <a:xfrm>
            <a:off x="1315279" y="1615281"/>
            <a:ext cx="3810000" cy="4648200"/>
          </a:xfrm>
        </p:spPr>
        <p:txBody>
          <a:bodyPr/>
          <a:lstStyle/>
          <a:p>
            <a:pPr eaLnBrk="1" hangingPunct="1">
              <a:buFont typeface="Wingdings" panose="05000000000000000000" pitchFamily="2" charset="2"/>
              <a:buNone/>
            </a:pPr>
            <a:r>
              <a:rPr kumimoji="0" lang="en-US" altLang="zh-CN" sz="2400" dirty="0">
                <a:solidFill>
                  <a:srgbClr val="FF0000"/>
                </a:solidFill>
                <a:ea typeface="宋体" pitchFamily="2" charset="-122"/>
              </a:rPr>
              <a:t>Routing in the Internet</a:t>
            </a:r>
          </a:p>
          <a:p>
            <a:pPr lvl="1" eaLnBrk="1" hangingPunct="1"/>
            <a:r>
              <a:rPr kumimoji="0" lang="en-US" altLang="zh-CN" sz="2000" dirty="0">
                <a:ea typeface="宋体" pitchFamily="2" charset="-122"/>
              </a:rPr>
              <a:t>RIP</a:t>
            </a:r>
          </a:p>
          <a:p>
            <a:pPr lvl="1" eaLnBrk="1" hangingPunct="1"/>
            <a:r>
              <a:rPr kumimoji="0" lang="en-US" altLang="zh-CN" sz="2000" dirty="0">
                <a:ea typeface="宋体" pitchFamily="2" charset="-122"/>
              </a:rPr>
              <a:t>OSPF</a:t>
            </a:r>
          </a:p>
          <a:p>
            <a:pPr lvl="1" eaLnBrk="1" hangingPunct="1"/>
            <a:r>
              <a:rPr kumimoji="0" lang="en-US" altLang="zh-CN" sz="2000" dirty="0">
                <a:ea typeface="宋体" pitchFamily="2" charset="-122"/>
              </a:rPr>
              <a:t>BGP</a:t>
            </a:r>
          </a:p>
          <a:p>
            <a:pPr eaLnBrk="1" hangingPunct="1">
              <a:buFont typeface="Wingdings" panose="05000000000000000000" pitchFamily="2" charset="2"/>
              <a:buNone/>
            </a:pPr>
            <a:endParaRPr kumimoji="0" lang="en-US" altLang="zh-CN" sz="2400" dirty="0">
              <a:ea typeface="宋体" pitchFamily="2" charset="-122"/>
            </a:endParaRPr>
          </a:p>
        </p:txBody>
      </p:sp>
    </p:spTree>
  </p:cSld>
  <p:clrMapOvr>
    <a:masterClrMapping/>
  </p:clrMapOvr>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7" name="页脚占位符 4"/>
          <p:cNvSpPr>
            <a:spLocks noGrp="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Network Layer</a:t>
            </a:r>
          </a:p>
        </p:txBody>
      </p:sp>
      <p:sp>
        <p:nvSpPr>
          <p:cNvPr id="342018" name="灯片编号占位符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4-</a:t>
            </a:r>
            <a:fld id="{B53D3D01-67A9-A84A-8B7C-8FB1A43257E4}" type="slidenum">
              <a:rPr kumimoji="0" lang="en-US" altLang="zh-CN" sz="12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Arial" panose="020B0604020202090204" pitchFamily="34" charset="0"/>
              </a:rPr>
              <a:t>55</a:t>
            </a:fld>
            <a:endPar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endParaRPr>
          </a:p>
        </p:txBody>
      </p:sp>
      <p:sp>
        <p:nvSpPr>
          <p:cNvPr id="342019" name="Rectangle 2"/>
          <p:cNvSpPr>
            <a:spLocks noGrp="1" noChangeArrowheads="1"/>
          </p:cNvSpPr>
          <p:nvPr>
            <p:ph type="title"/>
          </p:nvPr>
        </p:nvSpPr>
        <p:spPr/>
        <p:txBody>
          <a:bodyPr/>
          <a:lstStyle/>
          <a:p>
            <a:pPr eaLnBrk="1" hangingPunct="1"/>
            <a:r>
              <a:rPr lang="en-US" altLang="zh-CN" sz="3600">
                <a:ea typeface="宋体" pitchFamily="2" charset="-122"/>
              </a:rPr>
              <a:t>Intra-AS Routing</a:t>
            </a:r>
          </a:p>
        </p:txBody>
      </p:sp>
      <p:sp>
        <p:nvSpPr>
          <p:cNvPr id="342020" name="Rectangle 3"/>
          <p:cNvSpPr>
            <a:spLocks noGrp="1" noChangeArrowheads="1"/>
          </p:cNvSpPr>
          <p:nvPr>
            <p:ph type="body" idx="1"/>
          </p:nvPr>
        </p:nvSpPr>
        <p:spPr/>
        <p:txBody>
          <a:bodyPr/>
          <a:lstStyle/>
          <a:p>
            <a:pPr eaLnBrk="1" hangingPunct="1"/>
            <a:r>
              <a:rPr kumimoji="0" lang="en-US" altLang="zh-CN" sz="2400">
                <a:ea typeface="宋体" pitchFamily="2" charset="-122"/>
              </a:rPr>
              <a:t>also known as </a:t>
            </a:r>
            <a:r>
              <a:rPr kumimoji="0" lang="en-US" altLang="zh-CN" sz="2400">
                <a:solidFill>
                  <a:srgbClr val="FF0000"/>
                </a:solidFill>
                <a:ea typeface="宋体" pitchFamily="2" charset="-122"/>
              </a:rPr>
              <a:t>Interior Gateway Protocols (IGP)</a:t>
            </a:r>
            <a:endParaRPr kumimoji="0" lang="en-US" altLang="zh-CN" sz="2400">
              <a:solidFill>
                <a:srgbClr val="CC0000"/>
              </a:solidFill>
              <a:ea typeface="宋体" pitchFamily="2" charset="-122"/>
            </a:endParaRPr>
          </a:p>
          <a:p>
            <a:pPr eaLnBrk="1" hangingPunct="1"/>
            <a:r>
              <a:rPr kumimoji="0" lang="en-US" altLang="zh-CN" sz="2400">
                <a:ea typeface="宋体" pitchFamily="2" charset="-122"/>
              </a:rPr>
              <a:t>most common Intra-AS routing protocols:</a:t>
            </a:r>
          </a:p>
          <a:p>
            <a:pPr lvl="1" eaLnBrk="1" hangingPunct="1">
              <a:lnSpc>
                <a:spcPct val="60000"/>
              </a:lnSpc>
            </a:pPr>
            <a:endParaRPr kumimoji="0" lang="en-US" altLang="zh-CN" sz="2000">
              <a:ea typeface="宋体" pitchFamily="2" charset="-122"/>
            </a:endParaRPr>
          </a:p>
          <a:p>
            <a:pPr lvl="1" eaLnBrk="1" hangingPunct="1"/>
            <a:r>
              <a:rPr kumimoji="0" lang="en-US" altLang="zh-CN">
                <a:ea typeface="宋体" pitchFamily="2" charset="-122"/>
              </a:rPr>
              <a:t>RIP: Routing Information Protocol</a:t>
            </a:r>
            <a:endParaRPr kumimoji="0" lang="en-US" altLang="zh-CN" sz="2000">
              <a:ea typeface="宋体" pitchFamily="2" charset="-122"/>
            </a:endParaRPr>
          </a:p>
          <a:p>
            <a:pPr lvl="1" eaLnBrk="1" hangingPunct="1">
              <a:lnSpc>
                <a:spcPct val="20000"/>
              </a:lnSpc>
            </a:pPr>
            <a:endParaRPr kumimoji="0" lang="en-US" altLang="zh-CN" sz="2000">
              <a:ea typeface="宋体" pitchFamily="2" charset="-122"/>
            </a:endParaRPr>
          </a:p>
          <a:p>
            <a:pPr lvl="1" eaLnBrk="1" hangingPunct="1"/>
            <a:r>
              <a:rPr kumimoji="0" lang="en-US" altLang="zh-CN">
                <a:ea typeface="宋体" pitchFamily="2" charset="-122"/>
              </a:rPr>
              <a:t>OSPF: Open Shortest Path First</a:t>
            </a:r>
            <a:endParaRPr kumimoji="0" lang="en-US" altLang="zh-CN" sz="2000">
              <a:ea typeface="宋体" pitchFamily="2" charset="-122"/>
            </a:endParaRPr>
          </a:p>
          <a:p>
            <a:pPr lvl="1" eaLnBrk="1" hangingPunct="1">
              <a:lnSpc>
                <a:spcPct val="40000"/>
              </a:lnSpc>
            </a:pPr>
            <a:endParaRPr kumimoji="0" lang="en-US" altLang="zh-CN" sz="2000">
              <a:ea typeface="宋体" pitchFamily="2" charset="-122"/>
            </a:endParaRPr>
          </a:p>
          <a:p>
            <a:pPr lvl="1" eaLnBrk="1" hangingPunct="1"/>
            <a:r>
              <a:rPr kumimoji="0" lang="en-US" altLang="zh-CN">
                <a:ea typeface="宋体" pitchFamily="2" charset="-122"/>
              </a:rPr>
              <a:t>IGRP: Interior Gateway Routing Protocol (Cisco proprietary)</a:t>
            </a:r>
          </a:p>
        </p:txBody>
      </p:sp>
    </p:spTree>
  </p:cSld>
  <p:clrMapOvr>
    <a:masterClrMapping/>
  </p:clrMapOvr>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1" name="页脚占位符 4"/>
          <p:cNvSpPr>
            <a:spLocks noGrp="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Network Layer</a:t>
            </a:r>
          </a:p>
        </p:txBody>
      </p:sp>
      <p:sp>
        <p:nvSpPr>
          <p:cNvPr id="343042" name="灯片编号占位符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4-</a:t>
            </a:r>
            <a:fld id="{8DB22691-76B4-C648-83B7-FD172D90A0D7}" type="slidenum">
              <a:rPr kumimoji="0" lang="en-US" altLang="zh-CN" sz="12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Arial" panose="020B0604020202090204" pitchFamily="34" charset="0"/>
              </a:rPr>
              <a:t>56</a:t>
            </a:fld>
            <a:endPar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endParaRPr>
          </a:p>
        </p:txBody>
      </p:sp>
      <p:sp>
        <p:nvSpPr>
          <p:cNvPr id="343043" name="Rectangle 2"/>
          <p:cNvSpPr>
            <a:spLocks noGrp="1" noChangeArrowheads="1"/>
          </p:cNvSpPr>
          <p:nvPr>
            <p:ph type="title"/>
          </p:nvPr>
        </p:nvSpPr>
        <p:spPr>
          <a:xfrm>
            <a:off x="533400" y="228600"/>
            <a:ext cx="8170863" cy="1143000"/>
          </a:xfrm>
        </p:spPr>
        <p:txBody>
          <a:bodyPr/>
          <a:lstStyle/>
          <a:p>
            <a:pPr eaLnBrk="1" hangingPunct="1"/>
            <a:r>
              <a:rPr lang="en-US" altLang="zh-CN" sz="3600">
                <a:ea typeface="宋体" pitchFamily="2" charset="-122"/>
              </a:rPr>
              <a:t>RIP ( Routing Information Protocol)</a:t>
            </a:r>
          </a:p>
        </p:txBody>
      </p:sp>
      <p:sp>
        <p:nvSpPr>
          <p:cNvPr id="343044" name="Rectangle 3"/>
          <p:cNvSpPr>
            <a:spLocks noGrp="1" noChangeArrowheads="1"/>
          </p:cNvSpPr>
          <p:nvPr>
            <p:ph type="body" idx="1"/>
          </p:nvPr>
        </p:nvSpPr>
        <p:spPr>
          <a:xfrm>
            <a:off x="333375" y="1289050"/>
            <a:ext cx="8362950" cy="1695450"/>
          </a:xfrm>
        </p:spPr>
        <p:txBody>
          <a:bodyPr/>
          <a:lstStyle/>
          <a:p>
            <a:pPr eaLnBrk="1" hangingPunct="1"/>
            <a:r>
              <a:rPr kumimoji="0" lang="en-US" altLang="zh-CN" sz="2400" dirty="0">
                <a:ea typeface="宋体" pitchFamily="2" charset="-122"/>
              </a:rPr>
              <a:t>included in BSD-UNIX distribution in 1982</a:t>
            </a:r>
          </a:p>
          <a:p>
            <a:pPr eaLnBrk="1" hangingPunct="1"/>
            <a:r>
              <a:rPr kumimoji="0" lang="en-US" altLang="zh-CN" sz="2400" dirty="0">
                <a:solidFill>
                  <a:schemeClr val="accent1"/>
                </a:solidFill>
                <a:ea typeface="宋体" pitchFamily="2" charset="-122"/>
              </a:rPr>
              <a:t>distance vector </a:t>
            </a:r>
            <a:r>
              <a:rPr kumimoji="0" lang="en-US" altLang="zh-CN" sz="2400" dirty="0">
                <a:ea typeface="宋体" pitchFamily="2" charset="-122"/>
              </a:rPr>
              <a:t>algorithm</a:t>
            </a:r>
          </a:p>
          <a:p>
            <a:pPr lvl="1" eaLnBrk="1" hangingPunct="1"/>
            <a:r>
              <a:rPr kumimoji="0" lang="en-US" altLang="zh-CN" sz="2000" dirty="0">
                <a:ea typeface="宋体" pitchFamily="2" charset="-122"/>
              </a:rPr>
              <a:t>distance metric: # hops (max = 15 hops), each link has cost 1</a:t>
            </a:r>
          </a:p>
          <a:p>
            <a:pPr lvl="1" eaLnBrk="1" hangingPunct="1"/>
            <a:r>
              <a:rPr kumimoji="0" lang="en-US" altLang="zh-CN" sz="2000" dirty="0">
                <a:ea typeface="宋体" pitchFamily="2" charset="-122"/>
              </a:rPr>
              <a:t>DVs exchanged with neighbors every 30 sec in response message (aka </a:t>
            </a:r>
            <a:r>
              <a:rPr kumimoji="0" lang="en-US" altLang="zh-CN" sz="2000" dirty="0">
                <a:solidFill>
                  <a:srgbClr val="FF0000"/>
                </a:solidFill>
                <a:ea typeface="宋体" pitchFamily="2" charset="-122"/>
              </a:rPr>
              <a:t>advertisement</a:t>
            </a:r>
            <a:r>
              <a:rPr kumimoji="0" lang="en-US" altLang="zh-CN" sz="2000" dirty="0">
                <a:ea typeface="宋体" pitchFamily="2" charset="-122"/>
              </a:rPr>
              <a:t>)</a:t>
            </a:r>
          </a:p>
          <a:p>
            <a:pPr lvl="1" eaLnBrk="1" hangingPunct="1"/>
            <a:r>
              <a:rPr kumimoji="0" lang="en-US" altLang="zh-CN" sz="2000" dirty="0">
                <a:ea typeface="宋体" pitchFamily="2" charset="-122"/>
              </a:rPr>
              <a:t>each advertisement: list of up to 25 destination </a:t>
            </a:r>
            <a:r>
              <a:rPr kumimoji="0" lang="en-US" altLang="zh-CN" sz="2000" i="1" dirty="0">
                <a:solidFill>
                  <a:srgbClr val="FF0000"/>
                </a:solidFill>
                <a:ea typeface="宋体" pitchFamily="2" charset="-122"/>
              </a:rPr>
              <a:t>subnets </a:t>
            </a:r>
            <a:r>
              <a:rPr kumimoji="0" lang="en-US" altLang="zh-CN" sz="2000" i="1" dirty="0">
                <a:ea typeface="宋体" pitchFamily="2" charset="-122"/>
              </a:rPr>
              <a:t>(in IP addressing sense)</a:t>
            </a:r>
          </a:p>
          <a:p>
            <a:pPr eaLnBrk="1" hangingPunct="1"/>
            <a:endParaRPr kumimoji="0" lang="en-US" altLang="zh-CN" sz="2400" dirty="0">
              <a:ea typeface="宋体" pitchFamily="2" charset="-122"/>
            </a:endParaRPr>
          </a:p>
          <a:p>
            <a:pPr lvl="1" eaLnBrk="1" hangingPunct="1">
              <a:buFont typeface="Wingdings" panose="05000000000000000000" pitchFamily="2" charset="2"/>
              <a:buNone/>
            </a:pPr>
            <a:endParaRPr kumimoji="0" lang="en-US" altLang="zh-CN" i="1" dirty="0">
              <a:solidFill>
                <a:schemeClr val="accent2"/>
              </a:solidFill>
              <a:ea typeface="宋体" pitchFamily="2" charset="-122"/>
            </a:endParaRPr>
          </a:p>
          <a:p>
            <a:pPr eaLnBrk="1" hangingPunct="1">
              <a:buFont typeface="Wingdings" panose="05000000000000000000" pitchFamily="2" charset="2"/>
              <a:buNone/>
            </a:pPr>
            <a:endParaRPr kumimoji="0" lang="en-US" altLang="zh-CN" sz="2400" dirty="0">
              <a:ea typeface="宋体" pitchFamily="2" charset="-122"/>
            </a:endParaRPr>
          </a:p>
        </p:txBody>
      </p:sp>
      <p:grpSp>
        <p:nvGrpSpPr>
          <p:cNvPr id="343045" name="Group 4"/>
          <p:cNvGrpSpPr/>
          <p:nvPr/>
        </p:nvGrpSpPr>
        <p:grpSpPr bwMode="auto">
          <a:xfrm>
            <a:off x="835025" y="4143375"/>
            <a:ext cx="3968750" cy="2336800"/>
            <a:chOff x="1824" y="912"/>
            <a:chExt cx="2688" cy="1745"/>
          </a:xfrm>
        </p:grpSpPr>
        <p:sp>
          <p:nvSpPr>
            <p:cNvPr id="343048" name="Freeform 5"/>
            <p:cNvSpPr/>
            <p:nvPr/>
          </p:nvSpPr>
          <p:spPr bwMode="auto">
            <a:xfrm>
              <a:off x="1824" y="912"/>
              <a:ext cx="2688" cy="1745"/>
            </a:xfrm>
            <a:custGeom>
              <a:avLst/>
              <a:gdLst>
                <a:gd name="T0" fmla="*/ 0 w 2250"/>
                <a:gd name="T1" fmla="*/ 55699 h 1409"/>
                <a:gd name="T2" fmla="*/ 9188 w 2250"/>
                <a:gd name="T3" fmla="*/ 28734 h 1409"/>
                <a:gd name="T4" fmla="*/ 22180 w 2250"/>
                <a:gd name="T5" fmla="*/ 3117 h 1409"/>
                <a:gd name="T6" fmla="*/ 64992 w 2250"/>
                <a:gd name="T7" fmla="*/ 9884 h 1409"/>
                <a:gd name="T8" fmla="*/ 82459 w 2250"/>
                <a:gd name="T9" fmla="*/ 43140 h 1409"/>
                <a:gd name="T10" fmla="*/ 92135 w 2250"/>
                <a:gd name="T11" fmla="*/ 80812 h 1409"/>
                <a:gd name="T12" fmla="*/ 69516 w 2250"/>
                <a:gd name="T13" fmla="*/ 117268 h 1409"/>
                <a:gd name="T14" fmla="*/ 41620 w 2250"/>
                <a:gd name="T15" fmla="*/ 123709 h 1409"/>
                <a:gd name="T16" fmla="*/ 19464 w 2250"/>
                <a:gd name="T17" fmla="*/ 120959 h 1409"/>
                <a:gd name="T18" fmla="*/ 4260 w 2250"/>
                <a:gd name="T19" fmla="*/ 95322 h 1409"/>
                <a:gd name="T20" fmla="*/ 0 w 2250"/>
                <a:gd name="T21" fmla="*/ 55699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49" name="Oval 6"/>
            <p:cNvSpPr>
              <a:spLocks noChangeArrowheads="1"/>
            </p:cNvSpPr>
            <p:nvPr/>
          </p:nvSpPr>
          <p:spPr bwMode="auto">
            <a:xfrm>
              <a:off x="2566" y="2186"/>
              <a:ext cx="313" cy="81"/>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3050" name="Line 7"/>
            <p:cNvSpPr>
              <a:spLocks noChangeShapeType="1"/>
            </p:cNvSpPr>
            <p:nvPr/>
          </p:nvSpPr>
          <p:spPr bwMode="auto">
            <a:xfrm>
              <a:off x="2566" y="2179"/>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51" name="Line 8"/>
            <p:cNvSpPr>
              <a:spLocks noChangeShapeType="1"/>
            </p:cNvSpPr>
            <p:nvPr/>
          </p:nvSpPr>
          <p:spPr bwMode="auto">
            <a:xfrm>
              <a:off x="2879" y="2179"/>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52" name="Rectangle 9"/>
            <p:cNvSpPr>
              <a:spLocks noChangeArrowheads="1"/>
            </p:cNvSpPr>
            <p:nvPr/>
          </p:nvSpPr>
          <p:spPr bwMode="auto">
            <a:xfrm>
              <a:off x="2566" y="217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sp>
          <p:nvSpPr>
            <p:cNvPr id="343053" name="Oval 10"/>
            <p:cNvSpPr>
              <a:spLocks noChangeArrowheads="1"/>
            </p:cNvSpPr>
            <p:nvPr/>
          </p:nvSpPr>
          <p:spPr bwMode="auto">
            <a:xfrm>
              <a:off x="2563" y="2120"/>
              <a:ext cx="313" cy="95"/>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3054" name="Oval 11"/>
            <p:cNvSpPr>
              <a:spLocks noChangeArrowheads="1"/>
            </p:cNvSpPr>
            <p:nvPr/>
          </p:nvSpPr>
          <p:spPr bwMode="auto">
            <a:xfrm>
              <a:off x="2562" y="1496"/>
              <a:ext cx="313" cy="81"/>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3055" name="Line 12"/>
            <p:cNvSpPr>
              <a:spLocks noChangeShapeType="1"/>
            </p:cNvSpPr>
            <p:nvPr/>
          </p:nvSpPr>
          <p:spPr bwMode="auto">
            <a:xfrm>
              <a:off x="2562" y="1489"/>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56" name="Line 13"/>
            <p:cNvSpPr>
              <a:spLocks noChangeShapeType="1"/>
            </p:cNvSpPr>
            <p:nvPr/>
          </p:nvSpPr>
          <p:spPr bwMode="auto">
            <a:xfrm>
              <a:off x="2875" y="1489"/>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57" name="Rectangle 14"/>
            <p:cNvSpPr>
              <a:spLocks noChangeArrowheads="1"/>
            </p:cNvSpPr>
            <p:nvPr/>
          </p:nvSpPr>
          <p:spPr bwMode="auto">
            <a:xfrm>
              <a:off x="2562" y="148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sp>
          <p:nvSpPr>
            <p:cNvPr id="343058" name="Oval 15"/>
            <p:cNvSpPr>
              <a:spLocks noChangeArrowheads="1"/>
            </p:cNvSpPr>
            <p:nvPr/>
          </p:nvSpPr>
          <p:spPr bwMode="auto">
            <a:xfrm>
              <a:off x="2559" y="1430"/>
              <a:ext cx="313" cy="95"/>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3059" name="Oval 16"/>
            <p:cNvSpPr>
              <a:spLocks noChangeArrowheads="1"/>
            </p:cNvSpPr>
            <p:nvPr/>
          </p:nvSpPr>
          <p:spPr bwMode="auto">
            <a:xfrm>
              <a:off x="3245" y="1492"/>
              <a:ext cx="312" cy="81"/>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3060" name="Line 17"/>
            <p:cNvSpPr>
              <a:spLocks noChangeShapeType="1"/>
            </p:cNvSpPr>
            <p:nvPr/>
          </p:nvSpPr>
          <p:spPr bwMode="auto">
            <a:xfrm>
              <a:off x="3245" y="1485"/>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61" name="Line 18"/>
            <p:cNvSpPr>
              <a:spLocks noChangeShapeType="1"/>
            </p:cNvSpPr>
            <p:nvPr/>
          </p:nvSpPr>
          <p:spPr bwMode="auto">
            <a:xfrm>
              <a:off x="3557" y="1485"/>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62" name="Rectangle 19"/>
            <p:cNvSpPr>
              <a:spLocks noChangeArrowheads="1"/>
            </p:cNvSpPr>
            <p:nvPr/>
          </p:nvSpPr>
          <p:spPr bwMode="auto">
            <a:xfrm>
              <a:off x="3245" y="1485"/>
              <a:ext cx="309"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sp>
          <p:nvSpPr>
            <p:cNvPr id="343063" name="Oval 20"/>
            <p:cNvSpPr>
              <a:spLocks noChangeArrowheads="1"/>
            </p:cNvSpPr>
            <p:nvPr/>
          </p:nvSpPr>
          <p:spPr bwMode="auto">
            <a:xfrm>
              <a:off x="3248" y="1429"/>
              <a:ext cx="312" cy="95"/>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3064" name="Oval 21"/>
            <p:cNvSpPr>
              <a:spLocks noChangeArrowheads="1"/>
            </p:cNvSpPr>
            <p:nvPr/>
          </p:nvSpPr>
          <p:spPr bwMode="auto">
            <a:xfrm>
              <a:off x="3255" y="2183"/>
              <a:ext cx="313" cy="81"/>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3065" name="Line 22"/>
            <p:cNvSpPr>
              <a:spLocks noChangeShapeType="1"/>
            </p:cNvSpPr>
            <p:nvPr/>
          </p:nvSpPr>
          <p:spPr bwMode="auto">
            <a:xfrm>
              <a:off x="3255" y="2176"/>
              <a:ext cx="0" cy="5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66" name="Rectangle 23"/>
            <p:cNvSpPr>
              <a:spLocks noChangeArrowheads="1"/>
            </p:cNvSpPr>
            <p:nvPr/>
          </p:nvSpPr>
          <p:spPr bwMode="auto">
            <a:xfrm>
              <a:off x="3255" y="2176"/>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sp>
          <p:nvSpPr>
            <p:cNvPr id="343067" name="Oval 24"/>
            <p:cNvSpPr>
              <a:spLocks noChangeArrowheads="1"/>
            </p:cNvSpPr>
            <p:nvPr/>
          </p:nvSpPr>
          <p:spPr bwMode="auto">
            <a:xfrm>
              <a:off x="3252" y="2117"/>
              <a:ext cx="313" cy="95"/>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3068" name="Freeform 25"/>
            <p:cNvSpPr/>
            <p:nvPr/>
          </p:nvSpPr>
          <p:spPr bwMode="auto">
            <a:xfrm>
              <a:off x="3411" y="1584"/>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69" name="Freeform 26"/>
            <p:cNvSpPr/>
            <p:nvPr/>
          </p:nvSpPr>
          <p:spPr bwMode="auto">
            <a:xfrm>
              <a:off x="2718" y="1590"/>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70" name="Freeform 27"/>
            <p:cNvSpPr/>
            <p:nvPr/>
          </p:nvSpPr>
          <p:spPr bwMode="auto">
            <a:xfrm>
              <a:off x="2889" y="2205"/>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71" name="Freeform 28"/>
            <p:cNvSpPr/>
            <p:nvPr/>
          </p:nvSpPr>
          <p:spPr bwMode="auto">
            <a:xfrm>
              <a:off x="2883" y="1515"/>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nvGrpSpPr>
            <p:cNvPr id="343072" name="Group 29"/>
            <p:cNvGrpSpPr/>
            <p:nvPr/>
          </p:nvGrpSpPr>
          <p:grpSpPr bwMode="auto">
            <a:xfrm>
              <a:off x="3289" y="2069"/>
              <a:ext cx="249" cy="297"/>
              <a:chOff x="2932" y="2429"/>
              <a:chExt cx="252" cy="297"/>
            </a:xfrm>
          </p:grpSpPr>
          <p:sp>
            <p:nvSpPr>
              <p:cNvPr id="343095" name="Rectangle 30"/>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3096" name="Text Box 31"/>
              <p:cNvSpPr txBox="1">
                <a:spLocks noChangeArrowheads="1"/>
              </p:cNvSpPr>
              <p:nvPr/>
            </p:nvSpPr>
            <p:spPr bwMode="auto">
              <a:xfrm>
                <a:off x="2932" y="2429"/>
                <a:ext cx="252"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D</a:t>
                </a:r>
                <a:endParaRPr kumimoji="0" lang="en-US" altLang="zh-CN"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grpSp>
        <p:grpSp>
          <p:nvGrpSpPr>
            <p:cNvPr id="343073" name="Group 32"/>
            <p:cNvGrpSpPr/>
            <p:nvPr/>
          </p:nvGrpSpPr>
          <p:grpSpPr bwMode="auto">
            <a:xfrm>
              <a:off x="2607" y="2036"/>
              <a:ext cx="249" cy="341"/>
              <a:chOff x="2932" y="2399"/>
              <a:chExt cx="250" cy="341"/>
            </a:xfrm>
          </p:grpSpPr>
          <p:sp>
            <p:nvSpPr>
              <p:cNvPr id="343093" name="Rectangle 33"/>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3094" name="Text Box 34"/>
              <p:cNvSpPr txBox="1">
                <a:spLocks noChangeArrowheads="1"/>
              </p:cNvSpPr>
              <p:nvPr/>
            </p:nvSpPr>
            <p:spPr bwMode="auto">
              <a:xfrm>
                <a:off x="2932" y="2399"/>
                <a:ext cx="250" cy="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C</a:t>
                </a:r>
              </a:p>
            </p:txBody>
          </p:sp>
        </p:grpSp>
        <p:grpSp>
          <p:nvGrpSpPr>
            <p:cNvPr id="343074" name="Group 35"/>
            <p:cNvGrpSpPr/>
            <p:nvPr/>
          </p:nvGrpSpPr>
          <p:grpSpPr bwMode="auto">
            <a:xfrm>
              <a:off x="3290" y="1379"/>
              <a:ext cx="234" cy="297"/>
              <a:chOff x="2939" y="2429"/>
              <a:chExt cx="237" cy="297"/>
            </a:xfrm>
          </p:grpSpPr>
          <p:sp>
            <p:nvSpPr>
              <p:cNvPr id="343091" name="Rectangle 3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3092" name="Text Box 37"/>
              <p:cNvSpPr txBox="1">
                <a:spLocks noChangeArrowheads="1"/>
              </p:cNvSpPr>
              <p:nvPr/>
            </p:nvSpPr>
            <p:spPr bwMode="auto">
              <a:xfrm>
                <a:off x="2939" y="2429"/>
                <a:ext cx="237"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B</a:t>
                </a:r>
                <a:endParaRPr kumimoji="0" lang="en-US" altLang="zh-CN"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grpSp>
        <p:grpSp>
          <p:nvGrpSpPr>
            <p:cNvPr id="343075" name="Group 38"/>
            <p:cNvGrpSpPr/>
            <p:nvPr/>
          </p:nvGrpSpPr>
          <p:grpSpPr bwMode="auto">
            <a:xfrm>
              <a:off x="2598" y="1379"/>
              <a:ext cx="251" cy="297"/>
              <a:chOff x="2931" y="2429"/>
              <a:chExt cx="254" cy="297"/>
            </a:xfrm>
          </p:grpSpPr>
          <p:sp>
            <p:nvSpPr>
              <p:cNvPr id="343089" name="Rectangle 39"/>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3090" name="Text Box 40"/>
              <p:cNvSpPr txBox="1">
                <a:spLocks noChangeArrowheads="1"/>
              </p:cNvSpPr>
              <p:nvPr/>
            </p:nvSpPr>
            <p:spPr bwMode="auto">
              <a:xfrm>
                <a:off x="2931" y="2429"/>
                <a:ext cx="254"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20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A</a:t>
                </a:r>
                <a:endParaRPr kumimoji="0" lang="en-US" altLang="zh-CN"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grpSp>
        <p:sp>
          <p:nvSpPr>
            <p:cNvPr id="343076" name="Line 41"/>
            <p:cNvSpPr>
              <a:spLocks noChangeShapeType="1"/>
            </p:cNvSpPr>
            <p:nvPr/>
          </p:nvSpPr>
          <p:spPr bwMode="auto">
            <a:xfrm>
              <a:off x="3552" y="1488"/>
              <a:ext cx="336" cy="1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77" name="Line 42"/>
            <p:cNvSpPr>
              <a:spLocks noChangeShapeType="1"/>
            </p:cNvSpPr>
            <p:nvPr/>
          </p:nvSpPr>
          <p:spPr bwMode="auto">
            <a:xfrm flipV="1">
              <a:off x="3504" y="1248"/>
              <a:ext cx="144" cy="19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78" name="Line 43"/>
            <p:cNvSpPr>
              <a:spLocks noChangeShapeType="1"/>
            </p:cNvSpPr>
            <p:nvPr/>
          </p:nvSpPr>
          <p:spPr bwMode="auto">
            <a:xfrm flipV="1">
              <a:off x="3552" y="1920"/>
              <a:ext cx="240"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79" name="Line 44"/>
            <p:cNvSpPr>
              <a:spLocks noChangeShapeType="1"/>
            </p:cNvSpPr>
            <p:nvPr/>
          </p:nvSpPr>
          <p:spPr bwMode="auto">
            <a:xfrm>
              <a:off x="3552" y="2208"/>
              <a:ext cx="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80" name="Line 45"/>
            <p:cNvSpPr>
              <a:spLocks noChangeShapeType="1"/>
            </p:cNvSpPr>
            <p:nvPr/>
          </p:nvSpPr>
          <p:spPr bwMode="auto">
            <a:xfrm>
              <a:off x="3552" y="2208"/>
              <a:ext cx="288" cy="9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81" name="Line 46"/>
            <p:cNvSpPr>
              <a:spLocks noChangeShapeType="1"/>
            </p:cNvSpPr>
            <p:nvPr/>
          </p:nvSpPr>
          <p:spPr bwMode="auto">
            <a:xfrm flipH="1" flipV="1">
              <a:off x="2352" y="1200"/>
              <a:ext cx="288" cy="24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82" name="Line 47"/>
            <p:cNvSpPr>
              <a:spLocks noChangeShapeType="1"/>
            </p:cNvSpPr>
            <p:nvPr/>
          </p:nvSpPr>
          <p:spPr bwMode="auto">
            <a:xfrm flipH="1" flipV="1">
              <a:off x="2208" y="2112"/>
              <a:ext cx="384" cy="4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3083" name="Text Box 48"/>
            <p:cNvSpPr txBox="1">
              <a:spLocks noChangeArrowheads="1"/>
            </p:cNvSpPr>
            <p:nvPr/>
          </p:nvSpPr>
          <p:spPr bwMode="auto">
            <a:xfrm>
              <a:off x="2448" y="1104"/>
              <a:ext cx="205"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u</a:t>
              </a:r>
            </a:p>
          </p:txBody>
        </p:sp>
        <p:sp>
          <p:nvSpPr>
            <p:cNvPr id="343084" name="Text Box 49"/>
            <p:cNvSpPr txBox="1">
              <a:spLocks noChangeArrowheads="1"/>
            </p:cNvSpPr>
            <p:nvPr/>
          </p:nvSpPr>
          <p:spPr bwMode="auto">
            <a:xfrm>
              <a:off x="3408" y="1106"/>
              <a:ext cx="200"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v</a:t>
              </a:r>
            </a:p>
          </p:txBody>
        </p:sp>
        <p:sp>
          <p:nvSpPr>
            <p:cNvPr id="343085" name="Text Box 50"/>
            <p:cNvSpPr txBox="1">
              <a:spLocks noChangeArrowheads="1"/>
            </p:cNvSpPr>
            <p:nvPr/>
          </p:nvSpPr>
          <p:spPr bwMode="auto">
            <a:xfrm>
              <a:off x="3648" y="1347"/>
              <a:ext cx="231"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w</a:t>
              </a:r>
            </a:p>
          </p:txBody>
        </p:sp>
        <p:sp>
          <p:nvSpPr>
            <p:cNvPr id="343086" name="Text Box 51"/>
            <p:cNvSpPr txBox="1">
              <a:spLocks noChangeArrowheads="1"/>
            </p:cNvSpPr>
            <p:nvPr/>
          </p:nvSpPr>
          <p:spPr bwMode="auto">
            <a:xfrm>
              <a:off x="3696" y="1923"/>
              <a:ext cx="216"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x</a:t>
              </a:r>
            </a:p>
          </p:txBody>
        </p:sp>
        <p:sp>
          <p:nvSpPr>
            <p:cNvPr id="343087" name="Text Box 52"/>
            <p:cNvSpPr txBox="1">
              <a:spLocks noChangeArrowheads="1"/>
            </p:cNvSpPr>
            <p:nvPr/>
          </p:nvSpPr>
          <p:spPr bwMode="auto">
            <a:xfrm>
              <a:off x="3600" y="2259"/>
              <a:ext cx="206"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y</a:t>
              </a:r>
            </a:p>
          </p:txBody>
        </p:sp>
        <p:sp>
          <p:nvSpPr>
            <p:cNvPr id="343088" name="Text Box 53"/>
            <p:cNvSpPr txBox="1">
              <a:spLocks noChangeArrowheads="1"/>
            </p:cNvSpPr>
            <p:nvPr/>
          </p:nvSpPr>
          <p:spPr bwMode="auto">
            <a:xfrm>
              <a:off x="2304" y="2115"/>
              <a:ext cx="207"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z</a:t>
              </a:r>
            </a:p>
          </p:txBody>
        </p:sp>
      </p:grpSp>
      <p:sp>
        <p:nvSpPr>
          <p:cNvPr id="343046" name="Text Box 54"/>
          <p:cNvSpPr txBox="1">
            <a:spLocks noChangeArrowheads="1"/>
          </p:cNvSpPr>
          <p:nvPr/>
        </p:nvSpPr>
        <p:spPr bwMode="auto">
          <a:xfrm>
            <a:off x="5811838" y="4398963"/>
            <a:ext cx="1660525" cy="228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1800" b="0" i="0" u="sng"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subnet</a:t>
            </a: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    </a:t>
            </a:r>
            <a:r>
              <a:rPr kumimoji="0" lang="en-US" altLang="zh-CN" sz="1800" b="0" i="0" u="sng"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hops</a:t>
            </a:r>
          </a:p>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      u         1</a:t>
            </a:r>
          </a:p>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      v         2</a:t>
            </a:r>
          </a:p>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      w        2</a:t>
            </a:r>
          </a:p>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      x         3</a:t>
            </a:r>
          </a:p>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      y         3</a:t>
            </a:r>
          </a:p>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      z         2</a:t>
            </a:r>
          </a:p>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a:t>
            </a:r>
          </a:p>
        </p:txBody>
      </p:sp>
      <p:sp>
        <p:nvSpPr>
          <p:cNvPr id="343047" name="Text Box 55"/>
          <p:cNvSpPr txBox="1">
            <a:spLocks noChangeArrowheads="1"/>
          </p:cNvSpPr>
          <p:nvPr/>
        </p:nvSpPr>
        <p:spPr bwMode="auto">
          <a:xfrm>
            <a:off x="4716463" y="4059238"/>
            <a:ext cx="42243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800" b="0" i="0" u="sng"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from router A to destination</a:t>
            </a:r>
            <a:r>
              <a:rPr kumimoji="0" lang="en-US" altLang="zh-CN" sz="1800" b="0" i="0" u="sng" strike="noStrike" kern="1200" cap="none" spc="0" normalizeH="0" baseline="0" noProof="0">
                <a:ln>
                  <a:noFill/>
                </a:ln>
                <a:solidFill>
                  <a:srgbClr val="FF0000"/>
                </a:solidFill>
                <a:effectLst/>
                <a:uLnTx/>
                <a:uFillTx/>
                <a:latin typeface="Comic Sans MS" panose="030F0902030302020204" pitchFamily="66" charset="0"/>
                <a:ea typeface="宋体" pitchFamily="2" charset="-122"/>
                <a:cs typeface="Arial" panose="020B0604020202090204" pitchFamily="34" charset="0"/>
              </a:rPr>
              <a:t> subnets:</a:t>
            </a:r>
          </a:p>
        </p:txBody>
      </p:sp>
    </p:spTree>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5" name="页脚占位符 4"/>
          <p:cNvSpPr>
            <a:spLocks noGrp="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Network Layer</a:t>
            </a:r>
          </a:p>
        </p:txBody>
      </p:sp>
      <p:sp>
        <p:nvSpPr>
          <p:cNvPr id="344066" name="灯片编号占位符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4-</a:t>
            </a:r>
            <a:fld id="{4D11C48A-AFEF-1B43-BBDA-62BD3B1D3AD9}" type="slidenum">
              <a:rPr kumimoji="0" lang="en-US" altLang="zh-CN" sz="12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Arial" panose="020B0604020202090204" pitchFamily="34" charset="0"/>
              </a:rPr>
              <a:t>57</a:t>
            </a:fld>
            <a:endPar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endParaRPr>
          </a:p>
        </p:txBody>
      </p:sp>
      <p:sp>
        <p:nvSpPr>
          <p:cNvPr id="344067" name="Line 2"/>
          <p:cNvSpPr>
            <a:spLocks noChangeShapeType="1"/>
          </p:cNvSpPr>
          <p:nvPr/>
        </p:nvSpPr>
        <p:spPr bwMode="auto">
          <a:xfrm>
            <a:off x="6076950" y="2474913"/>
            <a:ext cx="979488"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068" name="Rectangle 3"/>
          <p:cNvSpPr>
            <a:spLocks noGrp="1" noChangeArrowheads="1"/>
          </p:cNvSpPr>
          <p:nvPr>
            <p:ph type="title"/>
          </p:nvPr>
        </p:nvSpPr>
        <p:spPr>
          <a:xfrm>
            <a:off x="409575" y="0"/>
            <a:ext cx="7772400" cy="1143000"/>
          </a:xfrm>
        </p:spPr>
        <p:txBody>
          <a:bodyPr/>
          <a:lstStyle/>
          <a:p>
            <a:pPr eaLnBrk="1" hangingPunct="1"/>
            <a:r>
              <a:rPr lang="en-US" altLang="zh-CN" sz="3600">
                <a:ea typeface="宋体" pitchFamily="2" charset="-122"/>
              </a:rPr>
              <a:t>RIP: Example</a:t>
            </a:r>
            <a:r>
              <a:rPr lang="en-US" altLang="zh-CN" sz="2800">
                <a:ea typeface="宋体" pitchFamily="2" charset="-122"/>
              </a:rPr>
              <a:t> </a:t>
            </a:r>
          </a:p>
        </p:txBody>
      </p:sp>
      <p:sp>
        <p:nvSpPr>
          <p:cNvPr id="344069" name="Text Box 4"/>
          <p:cNvSpPr txBox="1">
            <a:spLocks noChangeArrowheads="1"/>
          </p:cNvSpPr>
          <p:nvPr/>
        </p:nvSpPr>
        <p:spPr bwMode="auto">
          <a:xfrm>
            <a:off x="1220788" y="4205288"/>
            <a:ext cx="6780212" cy="2098675"/>
          </a:xfrm>
          <a:prstGeom prst="rect">
            <a:avLst/>
          </a:prstGeom>
          <a:noFill/>
          <a:ln w="28575">
            <a:solidFill>
              <a:srgbClr val="CC0000"/>
            </a:solidFill>
            <a:miter lim="800000"/>
          </a:ln>
          <a:extLst>
            <a:ext uri="{909E8E84-426E-40DD-AFC4-6F175D3DCCD1}">
              <a14:hiddenFill xmlns:a14="http://schemas.microsoft.com/office/drawing/2010/main">
                <a:solidFill>
                  <a:srgbClr val="FFFFFF"/>
                </a:solidFill>
              </a14:hiddenFill>
            </a:ext>
          </a:extLst>
        </p:spPr>
        <p:txBody>
          <a:bodyPr lIns="0" tIns="0" rIns="0" bIns="0">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a:ln>
                  <a:noFill/>
                </a:ln>
                <a:solidFill>
                  <a:srgbClr val="000099"/>
                </a:solidFill>
                <a:effectLst/>
                <a:uLnTx/>
                <a:uFillTx/>
                <a:latin typeface="Arial" panose="020B0604020202090204" pitchFamily="34" charset="0"/>
                <a:ea typeface="宋体" pitchFamily="2" charset="-122"/>
                <a:cs typeface="Arial" panose="020B0604020202090204" pitchFamily="34" charset="0"/>
              </a:rPr>
              <a:t>destination subnet	  next  router      # hops to dest</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90204" pitchFamily="34" charset="0"/>
                <a:ea typeface="宋体" pitchFamily="2" charset="-122"/>
                <a:cs typeface="Arial" panose="020B0604020202090204" pitchFamily="34" charset="0"/>
              </a:rPr>
              <a:t>w</a:t>
            </a: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A		2</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90204" pitchFamily="34" charset="0"/>
                <a:ea typeface="宋体" pitchFamily="2" charset="-122"/>
                <a:cs typeface="Arial" panose="020B0604020202090204" pitchFamily="34" charset="0"/>
              </a:rPr>
              <a:t>y</a:t>
            </a: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B		2</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90204" pitchFamily="34" charset="0"/>
                <a:ea typeface="宋体" pitchFamily="2" charset="-122"/>
                <a:cs typeface="Arial" panose="020B0604020202090204" pitchFamily="34" charset="0"/>
              </a:rPr>
              <a:t>z</a:t>
            </a: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B		7</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90204" pitchFamily="34" charset="0"/>
                <a:ea typeface="宋体" pitchFamily="2" charset="-122"/>
                <a:cs typeface="Arial" panose="020B0604020202090204" pitchFamily="34" charset="0"/>
              </a:rPr>
              <a:t>x</a:t>
            </a: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		1</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0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			….		....</a:t>
            </a:r>
          </a:p>
        </p:txBody>
      </p:sp>
      <p:sp>
        <p:nvSpPr>
          <p:cNvPr id="344070" name="Text Box 5"/>
          <p:cNvSpPr txBox="1">
            <a:spLocks noChangeArrowheads="1"/>
          </p:cNvSpPr>
          <p:nvPr/>
        </p:nvSpPr>
        <p:spPr bwMode="auto">
          <a:xfrm>
            <a:off x="2898775" y="3830638"/>
            <a:ext cx="28051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routing table in router D</a:t>
            </a:r>
          </a:p>
        </p:txBody>
      </p:sp>
      <p:sp>
        <p:nvSpPr>
          <p:cNvPr id="344071" name="Freeform 6"/>
          <p:cNvSpPr/>
          <p:nvPr/>
        </p:nvSpPr>
        <p:spPr bwMode="auto">
          <a:xfrm>
            <a:off x="2528888" y="2486025"/>
            <a:ext cx="1241425" cy="1588"/>
          </a:xfrm>
          <a:custGeom>
            <a:avLst/>
            <a:gdLst>
              <a:gd name="T0" fmla="*/ 0 w 805"/>
              <a:gd name="T1" fmla="*/ 0 h 1"/>
              <a:gd name="T2" fmla="*/ 2147483646 w 805"/>
              <a:gd name="T3" fmla="*/ 2147483646 h 1"/>
              <a:gd name="T4" fmla="*/ 0 60000 65536"/>
              <a:gd name="T5" fmla="*/ 0 60000 65536"/>
              <a:gd name="T6" fmla="*/ 0 w 805"/>
              <a:gd name="T7" fmla="*/ 0 h 1"/>
              <a:gd name="T8" fmla="*/ 805 w 805"/>
              <a:gd name="T9" fmla="*/ 1 h 1"/>
            </a:gdLst>
            <a:ahLst/>
            <a:cxnLst>
              <a:cxn ang="T4">
                <a:pos x="T0" y="T1"/>
              </a:cxn>
              <a:cxn ang="T5">
                <a:pos x="T2" y="T3"/>
              </a:cxn>
            </a:cxnLst>
            <a:rect l="T6" t="T7" r="T8" b="T9"/>
            <a:pathLst>
              <a:path w="805" h="1">
                <a:moveTo>
                  <a:pt x="0" y="0"/>
                </a:moveTo>
                <a:lnTo>
                  <a:pt x="805" y="1"/>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072" name="Freeform 7"/>
          <p:cNvSpPr/>
          <p:nvPr/>
        </p:nvSpPr>
        <p:spPr bwMode="auto">
          <a:xfrm>
            <a:off x="2530475" y="2276475"/>
            <a:ext cx="1065213" cy="385763"/>
          </a:xfrm>
          <a:custGeom>
            <a:avLst/>
            <a:gdLst>
              <a:gd name="T0" fmla="*/ 2147483646 w 690"/>
              <a:gd name="T1" fmla="*/ 2147483646 h 274"/>
              <a:gd name="T2" fmla="*/ 2147483646 w 690"/>
              <a:gd name="T3" fmla="*/ 2147483646 h 274"/>
              <a:gd name="T4" fmla="*/ 2147483646 w 690"/>
              <a:gd name="T5" fmla="*/ 2147483646 h 274"/>
              <a:gd name="T6" fmla="*/ 2147483646 w 690"/>
              <a:gd name="T7" fmla="*/ 2147483646 h 274"/>
              <a:gd name="T8" fmla="*/ 2147483646 w 690"/>
              <a:gd name="T9" fmla="*/ 2147483646 h 274"/>
              <a:gd name="T10" fmla="*/ 2147483646 w 690"/>
              <a:gd name="T11" fmla="*/ 2147483646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nvGrpSpPr>
          <p:cNvPr id="344073" name="Group 8"/>
          <p:cNvGrpSpPr/>
          <p:nvPr/>
        </p:nvGrpSpPr>
        <p:grpSpPr bwMode="auto">
          <a:xfrm>
            <a:off x="3632200" y="2325688"/>
            <a:ext cx="660400" cy="277812"/>
            <a:chOff x="3600" y="219"/>
            <a:chExt cx="360" cy="175"/>
          </a:xfrm>
        </p:grpSpPr>
        <p:sp>
          <p:nvSpPr>
            <p:cNvPr id="344162" name="Oval 9"/>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4163" name="Line 10"/>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64" name="Line 11"/>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65" name="Rectangle 12"/>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sp>
          <p:nvSpPr>
            <p:cNvPr id="344166" name="Oval 13"/>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grpSp>
          <p:nvGrpSpPr>
            <p:cNvPr id="344167" name="Group 14"/>
            <p:cNvGrpSpPr/>
            <p:nvPr/>
          </p:nvGrpSpPr>
          <p:grpSpPr bwMode="auto">
            <a:xfrm>
              <a:off x="3686" y="244"/>
              <a:ext cx="177" cy="66"/>
              <a:chOff x="2848" y="848"/>
              <a:chExt cx="140" cy="98"/>
            </a:xfrm>
          </p:grpSpPr>
          <p:sp>
            <p:nvSpPr>
              <p:cNvPr id="344172" name="Line 15"/>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73" name="Line 16"/>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74" name="Line 17"/>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nvGrpSpPr>
            <p:cNvPr id="344168" name="Group 18"/>
            <p:cNvGrpSpPr/>
            <p:nvPr/>
          </p:nvGrpSpPr>
          <p:grpSpPr bwMode="auto">
            <a:xfrm flipV="1">
              <a:off x="3686" y="243"/>
              <a:ext cx="177" cy="66"/>
              <a:chOff x="2848" y="848"/>
              <a:chExt cx="140" cy="98"/>
            </a:xfrm>
          </p:grpSpPr>
          <p:sp>
            <p:nvSpPr>
              <p:cNvPr id="344169" name="Line 19"/>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70" name="Line 20"/>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71" name="Line 2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grpSp>
        <p:nvGrpSpPr>
          <p:cNvPr id="344074" name="Group 22"/>
          <p:cNvGrpSpPr/>
          <p:nvPr/>
        </p:nvGrpSpPr>
        <p:grpSpPr bwMode="auto">
          <a:xfrm>
            <a:off x="3619500" y="3030538"/>
            <a:ext cx="657225" cy="277812"/>
            <a:chOff x="3600" y="219"/>
            <a:chExt cx="360" cy="175"/>
          </a:xfrm>
        </p:grpSpPr>
        <p:sp>
          <p:nvSpPr>
            <p:cNvPr id="344149" name="Oval 23"/>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4150" name="Line 24"/>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51" name="Line 25"/>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52" name="Rectangle 26"/>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sp>
          <p:nvSpPr>
            <p:cNvPr id="344153" name="Oval 27"/>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grpSp>
          <p:nvGrpSpPr>
            <p:cNvPr id="344154" name="Group 28"/>
            <p:cNvGrpSpPr/>
            <p:nvPr/>
          </p:nvGrpSpPr>
          <p:grpSpPr bwMode="auto">
            <a:xfrm>
              <a:off x="3686" y="244"/>
              <a:ext cx="177" cy="66"/>
              <a:chOff x="2848" y="848"/>
              <a:chExt cx="140" cy="98"/>
            </a:xfrm>
          </p:grpSpPr>
          <p:sp>
            <p:nvSpPr>
              <p:cNvPr id="344159" name="Line 29"/>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60" name="Line 30"/>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61" name="Line 3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nvGrpSpPr>
            <p:cNvPr id="344155" name="Group 32"/>
            <p:cNvGrpSpPr/>
            <p:nvPr/>
          </p:nvGrpSpPr>
          <p:grpSpPr bwMode="auto">
            <a:xfrm flipV="1">
              <a:off x="3686" y="243"/>
              <a:ext cx="177" cy="66"/>
              <a:chOff x="2848" y="848"/>
              <a:chExt cx="140" cy="98"/>
            </a:xfrm>
          </p:grpSpPr>
          <p:sp>
            <p:nvSpPr>
              <p:cNvPr id="344156" name="Line 3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57" name="Line 3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58" name="Line 35"/>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sp>
        <p:nvSpPr>
          <p:cNvPr id="344075" name="Freeform 36"/>
          <p:cNvSpPr/>
          <p:nvPr/>
        </p:nvSpPr>
        <p:spPr bwMode="auto">
          <a:xfrm>
            <a:off x="4322763" y="2486025"/>
            <a:ext cx="1243012" cy="1588"/>
          </a:xfrm>
          <a:custGeom>
            <a:avLst/>
            <a:gdLst>
              <a:gd name="T0" fmla="*/ 0 w 805"/>
              <a:gd name="T1" fmla="*/ 0 h 1"/>
              <a:gd name="T2" fmla="*/ 2147483646 w 805"/>
              <a:gd name="T3" fmla="*/ 2147483646 h 1"/>
              <a:gd name="T4" fmla="*/ 0 60000 65536"/>
              <a:gd name="T5" fmla="*/ 0 60000 65536"/>
              <a:gd name="T6" fmla="*/ 0 w 805"/>
              <a:gd name="T7" fmla="*/ 0 h 1"/>
              <a:gd name="T8" fmla="*/ 805 w 805"/>
              <a:gd name="T9" fmla="*/ 1 h 1"/>
            </a:gdLst>
            <a:ahLst/>
            <a:cxnLst>
              <a:cxn ang="T4">
                <a:pos x="T0" y="T1"/>
              </a:cxn>
              <a:cxn ang="T5">
                <a:pos x="T2" y="T3"/>
              </a:cxn>
            </a:cxnLst>
            <a:rect l="T6" t="T7" r="T8" b="T9"/>
            <a:pathLst>
              <a:path w="805" h="1">
                <a:moveTo>
                  <a:pt x="0" y="0"/>
                </a:moveTo>
                <a:lnTo>
                  <a:pt x="805" y="1"/>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nvGrpSpPr>
          <p:cNvPr id="344076" name="Group 37"/>
          <p:cNvGrpSpPr/>
          <p:nvPr/>
        </p:nvGrpSpPr>
        <p:grpSpPr bwMode="auto">
          <a:xfrm>
            <a:off x="5427663" y="2325688"/>
            <a:ext cx="660400" cy="277812"/>
            <a:chOff x="3600" y="219"/>
            <a:chExt cx="360" cy="175"/>
          </a:xfrm>
        </p:grpSpPr>
        <p:sp>
          <p:nvSpPr>
            <p:cNvPr id="344136" name="Oval 38"/>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4137" name="Line 39"/>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38" name="Line 40"/>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39" name="Rectangle 41"/>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sp>
          <p:nvSpPr>
            <p:cNvPr id="344140" name="Oval 42"/>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grpSp>
          <p:nvGrpSpPr>
            <p:cNvPr id="344141" name="Group 43"/>
            <p:cNvGrpSpPr/>
            <p:nvPr/>
          </p:nvGrpSpPr>
          <p:grpSpPr bwMode="auto">
            <a:xfrm>
              <a:off x="3686" y="244"/>
              <a:ext cx="177" cy="66"/>
              <a:chOff x="2848" y="848"/>
              <a:chExt cx="140" cy="98"/>
            </a:xfrm>
          </p:grpSpPr>
          <p:sp>
            <p:nvSpPr>
              <p:cNvPr id="344146" name="Line 44"/>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47" name="Line 45"/>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48" name="Line 46"/>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nvGrpSpPr>
            <p:cNvPr id="344142" name="Group 47"/>
            <p:cNvGrpSpPr/>
            <p:nvPr/>
          </p:nvGrpSpPr>
          <p:grpSpPr bwMode="auto">
            <a:xfrm flipV="1">
              <a:off x="3686" y="243"/>
              <a:ext cx="177" cy="66"/>
              <a:chOff x="2848" y="848"/>
              <a:chExt cx="140" cy="98"/>
            </a:xfrm>
          </p:grpSpPr>
          <p:sp>
            <p:nvSpPr>
              <p:cNvPr id="344143" name="Line 48"/>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44" name="Line 49"/>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45" name="Line 50"/>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sp>
        <p:nvSpPr>
          <p:cNvPr id="344077" name="Freeform 51"/>
          <p:cNvSpPr/>
          <p:nvPr/>
        </p:nvSpPr>
        <p:spPr bwMode="auto">
          <a:xfrm>
            <a:off x="631825" y="2498725"/>
            <a:ext cx="1243013" cy="0"/>
          </a:xfrm>
          <a:custGeom>
            <a:avLst/>
            <a:gdLst>
              <a:gd name="T0" fmla="*/ 0 w 805"/>
              <a:gd name="T1" fmla="*/ 0 h 1"/>
              <a:gd name="T2" fmla="*/ 2147483646 w 805"/>
              <a:gd name="T3" fmla="*/ 0 h 1"/>
              <a:gd name="T4" fmla="*/ 0 60000 65536"/>
              <a:gd name="T5" fmla="*/ 0 60000 65536"/>
              <a:gd name="T6" fmla="*/ 0 w 805"/>
              <a:gd name="T7" fmla="*/ 0 h 1"/>
              <a:gd name="T8" fmla="*/ 805 w 805"/>
              <a:gd name="T9" fmla="*/ 0 h 1"/>
            </a:gdLst>
            <a:ahLst/>
            <a:cxnLst>
              <a:cxn ang="T4">
                <a:pos x="T0" y="T1"/>
              </a:cxn>
              <a:cxn ang="T5">
                <a:pos x="T2" y="T3"/>
              </a:cxn>
            </a:cxnLst>
            <a:rect l="T6" t="T7" r="T8" b="T9"/>
            <a:pathLst>
              <a:path w="805" h="1">
                <a:moveTo>
                  <a:pt x="0" y="0"/>
                </a:moveTo>
                <a:lnTo>
                  <a:pt x="805" y="1"/>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nvGrpSpPr>
          <p:cNvPr id="344078" name="Group 52"/>
          <p:cNvGrpSpPr/>
          <p:nvPr/>
        </p:nvGrpSpPr>
        <p:grpSpPr bwMode="auto">
          <a:xfrm>
            <a:off x="7624763" y="2343150"/>
            <a:ext cx="657225" cy="277813"/>
            <a:chOff x="3600" y="219"/>
            <a:chExt cx="360" cy="175"/>
          </a:xfrm>
        </p:grpSpPr>
        <p:sp>
          <p:nvSpPr>
            <p:cNvPr id="344123" name="Oval 53"/>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4124" name="Line 54"/>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25" name="Line 55"/>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26" name="Rectangle 56"/>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sp>
          <p:nvSpPr>
            <p:cNvPr id="344127" name="Oval 57"/>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grpSp>
          <p:nvGrpSpPr>
            <p:cNvPr id="344128" name="Group 58"/>
            <p:cNvGrpSpPr/>
            <p:nvPr/>
          </p:nvGrpSpPr>
          <p:grpSpPr bwMode="auto">
            <a:xfrm>
              <a:off x="3686" y="244"/>
              <a:ext cx="177" cy="66"/>
              <a:chOff x="2848" y="848"/>
              <a:chExt cx="140" cy="98"/>
            </a:xfrm>
          </p:grpSpPr>
          <p:sp>
            <p:nvSpPr>
              <p:cNvPr id="344133" name="Line 59"/>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34" name="Line 60"/>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35" name="Line 6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nvGrpSpPr>
            <p:cNvPr id="344129" name="Group 62"/>
            <p:cNvGrpSpPr/>
            <p:nvPr/>
          </p:nvGrpSpPr>
          <p:grpSpPr bwMode="auto">
            <a:xfrm flipV="1">
              <a:off x="3686" y="243"/>
              <a:ext cx="177" cy="66"/>
              <a:chOff x="2848" y="848"/>
              <a:chExt cx="140" cy="98"/>
            </a:xfrm>
          </p:grpSpPr>
          <p:sp>
            <p:nvSpPr>
              <p:cNvPr id="344130" name="Line 6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31" name="Line 6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32" name="Line 65"/>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sp>
        <p:nvSpPr>
          <p:cNvPr id="344079" name="Line 66"/>
          <p:cNvSpPr>
            <a:spLocks noChangeShapeType="1"/>
          </p:cNvSpPr>
          <p:nvPr/>
        </p:nvSpPr>
        <p:spPr bwMode="auto">
          <a:xfrm flipV="1">
            <a:off x="8091488" y="1976438"/>
            <a:ext cx="604837" cy="35401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080" name="Line 67"/>
          <p:cNvSpPr>
            <a:spLocks noChangeShapeType="1"/>
          </p:cNvSpPr>
          <p:nvPr/>
        </p:nvSpPr>
        <p:spPr bwMode="auto">
          <a:xfrm>
            <a:off x="8045450" y="2619375"/>
            <a:ext cx="604838" cy="35401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081" name="Line 68"/>
          <p:cNvSpPr>
            <a:spLocks noChangeShapeType="1"/>
          </p:cNvSpPr>
          <p:nvPr/>
        </p:nvSpPr>
        <p:spPr bwMode="auto">
          <a:xfrm>
            <a:off x="2368550" y="2611438"/>
            <a:ext cx="1255713" cy="54768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082" name="Freeform 69"/>
          <p:cNvSpPr/>
          <p:nvPr/>
        </p:nvSpPr>
        <p:spPr bwMode="auto">
          <a:xfrm rot="1183889">
            <a:off x="2522538" y="2776538"/>
            <a:ext cx="1065212" cy="284162"/>
          </a:xfrm>
          <a:custGeom>
            <a:avLst/>
            <a:gdLst>
              <a:gd name="T0" fmla="*/ 2147483646 w 690"/>
              <a:gd name="T1" fmla="*/ 2147483646 h 274"/>
              <a:gd name="T2" fmla="*/ 2147483646 w 690"/>
              <a:gd name="T3" fmla="*/ 2147483646 h 274"/>
              <a:gd name="T4" fmla="*/ 2147483646 w 690"/>
              <a:gd name="T5" fmla="*/ 2147483646 h 274"/>
              <a:gd name="T6" fmla="*/ 2147483646 w 690"/>
              <a:gd name="T7" fmla="*/ 2147483646 h 274"/>
              <a:gd name="T8" fmla="*/ 2147483646 w 690"/>
              <a:gd name="T9" fmla="*/ 2147483646 h 274"/>
              <a:gd name="T10" fmla="*/ 2147483646 w 690"/>
              <a:gd name="T11" fmla="*/ 2147483646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083" name="Freeform 70"/>
          <p:cNvSpPr/>
          <p:nvPr/>
        </p:nvSpPr>
        <p:spPr bwMode="auto">
          <a:xfrm>
            <a:off x="633413" y="2289175"/>
            <a:ext cx="1065212" cy="384175"/>
          </a:xfrm>
          <a:custGeom>
            <a:avLst/>
            <a:gdLst>
              <a:gd name="T0" fmla="*/ 2147483646 w 690"/>
              <a:gd name="T1" fmla="*/ 2147483646 h 274"/>
              <a:gd name="T2" fmla="*/ 2147483646 w 690"/>
              <a:gd name="T3" fmla="*/ 2147483646 h 274"/>
              <a:gd name="T4" fmla="*/ 2147483646 w 690"/>
              <a:gd name="T5" fmla="*/ 2147483646 h 274"/>
              <a:gd name="T6" fmla="*/ 2147483646 w 690"/>
              <a:gd name="T7" fmla="*/ 2147483646 h 274"/>
              <a:gd name="T8" fmla="*/ 2147483646 w 690"/>
              <a:gd name="T9" fmla="*/ 2147483646 h 274"/>
              <a:gd name="T10" fmla="*/ 2147483646 w 690"/>
              <a:gd name="T11" fmla="*/ 2147483646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084" name="Freeform 71"/>
          <p:cNvSpPr/>
          <p:nvPr/>
        </p:nvSpPr>
        <p:spPr bwMode="auto">
          <a:xfrm>
            <a:off x="4324350" y="2276475"/>
            <a:ext cx="1065213" cy="385763"/>
          </a:xfrm>
          <a:custGeom>
            <a:avLst/>
            <a:gdLst>
              <a:gd name="T0" fmla="*/ 2147483646 w 690"/>
              <a:gd name="T1" fmla="*/ 2147483646 h 274"/>
              <a:gd name="T2" fmla="*/ 2147483646 w 690"/>
              <a:gd name="T3" fmla="*/ 2147483646 h 274"/>
              <a:gd name="T4" fmla="*/ 2147483646 w 690"/>
              <a:gd name="T5" fmla="*/ 2147483646 h 274"/>
              <a:gd name="T6" fmla="*/ 2147483646 w 690"/>
              <a:gd name="T7" fmla="*/ 2147483646 h 274"/>
              <a:gd name="T8" fmla="*/ 2147483646 w 690"/>
              <a:gd name="T9" fmla="*/ 2147483646 h 274"/>
              <a:gd name="T10" fmla="*/ 2147483646 w 690"/>
              <a:gd name="T11" fmla="*/ 2147483646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085" name="Freeform 72"/>
          <p:cNvSpPr/>
          <p:nvPr/>
        </p:nvSpPr>
        <p:spPr bwMode="auto">
          <a:xfrm>
            <a:off x="6097588" y="2266950"/>
            <a:ext cx="850900" cy="385763"/>
          </a:xfrm>
          <a:custGeom>
            <a:avLst/>
            <a:gdLst>
              <a:gd name="T0" fmla="*/ 2147483646 w 690"/>
              <a:gd name="T1" fmla="*/ 2147483646 h 274"/>
              <a:gd name="T2" fmla="*/ 2147483646 w 690"/>
              <a:gd name="T3" fmla="*/ 2147483646 h 274"/>
              <a:gd name="T4" fmla="*/ 2147483646 w 690"/>
              <a:gd name="T5" fmla="*/ 2147483646 h 274"/>
              <a:gd name="T6" fmla="*/ 2147483646 w 690"/>
              <a:gd name="T7" fmla="*/ 2147483646 h 274"/>
              <a:gd name="T8" fmla="*/ 2147483646 w 690"/>
              <a:gd name="T9" fmla="*/ 2147483646 h 274"/>
              <a:gd name="T10" fmla="*/ 2147483646 w 690"/>
              <a:gd name="T11" fmla="*/ 2147483646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086" name="Freeform 73"/>
          <p:cNvSpPr/>
          <p:nvPr/>
        </p:nvSpPr>
        <p:spPr bwMode="auto">
          <a:xfrm rot="-2589433">
            <a:off x="8059738" y="1833563"/>
            <a:ext cx="868362" cy="385762"/>
          </a:xfrm>
          <a:custGeom>
            <a:avLst/>
            <a:gdLst>
              <a:gd name="T0" fmla="*/ 2147483646 w 690"/>
              <a:gd name="T1" fmla="*/ 2147483646 h 274"/>
              <a:gd name="T2" fmla="*/ 2147483646 w 690"/>
              <a:gd name="T3" fmla="*/ 2147483646 h 274"/>
              <a:gd name="T4" fmla="*/ 2147483646 w 690"/>
              <a:gd name="T5" fmla="*/ 2147483646 h 274"/>
              <a:gd name="T6" fmla="*/ 2147483646 w 690"/>
              <a:gd name="T7" fmla="*/ 2147483646 h 274"/>
              <a:gd name="T8" fmla="*/ 2147483646 w 690"/>
              <a:gd name="T9" fmla="*/ 2147483646 h 274"/>
              <a:gd name="T10" fmla="*/ 2147483646 w 690"/>
              <a:gd name="T11" fmla="*/ 2147483646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087" name="Text Box 74"/>
          <p:cNvSpPr txBox="1">
            <a:spLocks noChangeArrowheads="1"/>
          </p:cNvSpPr>
          <p:nvPr/>
        </p:nvSpPr>
        <p:spPr bwMode="auto">
          <a:xfrm>
            <a:off x="919163" y="2241550"/>
            <a:ext cx="3921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itchFamily="2" charset="-122"/>
                <a:cs typeface="Arial" panose="020B0604020202090204" pitchFamily="34" charset="0"/>
              </a:rPr>
              <a:t>w</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4088" name="Text Box 75"/>
          <p:cNvSpPr txBox="1">
            <a:spLocks noChangeArrowheads="1"/>
          </p:cNvSpPr>
          <p:nvPr/>
        </p:nvSpPr>
        <p:spPr bwMode="auto">
          <a:xfrm>
            <a:off x="2873375" y="2284413"/>
            <a:ext cx="3635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itchFamily="2" charset="-122"/>
                <a:cs typeface="Arial" panose="020B0604020202090204" pitchFamily="34" charset="0"/>
              </a:rPr>
              <a:t>x</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4089" name="Text Box 76"/>
          <p:cNvSpPr txBox="1">
            <a:spLocks noChangeArrowheads="1"/>
          </p:cNvSpPr>
          <p:nvPr/>
        </p:nvSpPr>
        <p:spPr bwMode="auto">
          <a:xfrm>
            <a:off x="6380163" y="2205038"/>
            <a:ext cx="3429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itchFamily="2" charset="-122"/>
                <a:cs typeface="Arial" panose="020B0604020202090204" pitchFamily="34" charset="0"/>
              </a:rPr>
              <a:t>y</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4090" name="Text Box 77"/>
          <p:cNvSpPr txBox="1">
            <a:spLocks noChangeArrowheads="1"/>
          </p:cNvSpPr>
          <p:nvPr/>
        </p:nvSpPr>
        <p:spPr bwMode="auto">
          <a:xfrm>
            <a:off x="8294688" y="1827213"/>
            <a:ext cx="3476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itchFamily="2" charset="-122"/>
                <a:cs typeface="Arial" panose="020B0604020202090204" pitchFamily="34" charset="0"/>
              </a:rPr>
              <a:t>z</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4091" name="Text Box 78"/>
          <p:cNvSpPr txBox="1">
            <a:spLocks noChangeArrowheads="1"/>
          </p:cNvSpPr>
          <p:nvPr/>
        </p:nvSpPr>
        <p:spPr bwMode="auto">
          <a:xfrm>
            <a:off x="1947863" y="2563813"/>
            <a:ext cx="406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A</a:t>
            </a:r>
          </a:p>
        </p:txBody>
      </p:sp>
      <p:sp>
        <p:nvSpPr>
          <p:cNvPr id="344092" name="Text Box 79"/>
          <p:cNvSpPr txBox="1">
            <a:spLocks noChangeArrowheads="1"/>
          </p:cNvSpPr>
          <p:nvPr/>
        </p:nvSpPr>
        <p:spPr bwMode="auto">
          <a:xfrm>
            <a:off x="3775075" y="3271838"/>
            <a:ext cx="3683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C</a:t>
            </a:r>
          </a:p>
        </p:txBody>
      </p:sp>
      <p:sp>
        <p:nvSpPr>
          <p:cNvPr id="344093" name="Text Box 80"/>
          <p:cNvSpPr txBox="1">
            <a:spLocks noChangeArrowheads="1"/>
          </p:cNvSpPr>
          <p:nvPr/>
        </p:nvSpPr>
        <p:spPr bwMode="auto">
          <a:xfrm>
            <a:off x="3775075" y="2528888"/>
            <a:ext cx="4048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D</a:t>
            </a:r>
          </a:p>
        </p:txBody>
      </p:sp>
      <p:sp>
        <p:nvSpPr>
          <p:cNvPr id="344094" name="Text Box 81"/>
          <p:cNvSpPr txBox="1">
            <a:spLocks noChangeArrowheads="1"/>
          </p:cNvSpPr>
          <p:nvPr/>
        </p:nvSpPr>
        <p:spPr bwMode="auto">
          <a:xfrm>
            <a:off x="5559425" y="2527300"/>
            <a:ext cx="3762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B</a:t>
            </a:r>
          </a:p>
        </p:txBody>
      </p:sp>
      <p:sp>
        <p:nvSpPr>
          <p:cNvPr id="344095" name="Line 82"/>
          <p:cNvSpPr>
            <a:spLocks noChangeShapeType="1"/>
          </p:cNvSpPr>
          <p:nvPr/>
        </p:nvSpPr>
        <p:spPr bwMode="auto">
          <a:xfrm>
            <a:off x="7083425" y="2463800"/>
            <a:ext cx="344488" cy="3175"/>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nvGrpSpPr>
          <p:cNvPr id="344096" name="Group 83"/>
          <p:cNvGrpSpPr/>
          <p:nvPr/>
        </p:nvGrpSpPr>
        <p:grpSpPr bwMode="auto">
          <a:xfrm>
            <a:off x="5922963" y="2008188"/>
            <a:ext cx="615950" cy="363537"/>
            <a:chOff x="3731" y="1153"/>
            <a:chExt cx="388" cy="229"/>
          </a:xfrm>
        </p:grpSpPr>
        <p:sp>
          <p:nvSpPr>
            <p:cNvPr id="344121" name="Line 84"/>
            <p:cNvSpPr>
              <a:spLocks noChangeShapeType="1"/>
            </p:cNvSpPr>
            <p:nvPr/>
          </p:nvSpPr>
          <p:spPr bwMode="auto">
            <a:xfrm flipV="1">
              <a:off x="3731" y="1259"/>
              <a:ext cx="205" cy="12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22" name="Line 85"/>
            <p:cNvSpPr>
              <a:spLocks noChangeShapeType="1"/>
            </p:cNvSpPr>
            <p:nvPr/>
          </p:nvSpPr>
          <p:spPr bwMode="auto">
            <a:xfrm flipV="1">
              <a:off x="3944" y="1153"/>
              <a:ext cx="175" cy="9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nvGrpSpPr>
          <p:cNvPr id="344097" name="Group 86"/>
          <p:cNvGrpSpPr/>
          <p:nvPr/>
        </p:nvGrpSpPr>
        <p:grpSpPr bwMode="auto">
          <a:xfrm>
            <a:off x="4144963" y="1982788"/>
            <a:ext cx="615950" cy="363537"/>
            <a:chOff x="3731" y="1153"/>
            <a:chExt cx="388" cy="229"/>
          </a:xfrm>
        </p:grpSpPr>
        <p:sp>
          <p:nvSpPr>
            <p:cNvPr id="344119" name="Line 87"/>
            <p:cNvSpPr>
              <a:spLocks noChangeShapeType="1"/>
            </p:cNvSpPr>
            <p:nvPr/>
          </p:nvSpPr>
          <p:spPr bwMode="auto">
            <a:xfrm flipV="1">
              <a:off x="3731" y="1259"/>
              <a:ext cx="205" cy="12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20" name="Line 88"/>
            <p:cNvSpPr>
              <a:spLocks noChangeShapeType="1"/>
            </p:cNvSpPr>
            <p:nvPr/>
          </p:nvSpPr>
          <p:spPr bwMode="auto">
            <a:xfrm flipV="1">
              <a:off x="3944" y="1153"/>
              <a:ext cx="175" cy="9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nvGrpSpPr>
          <p:cNvPr id="344098" name="Group 89"/>
          <p:cNvGrpSpPr/>
          <p:nvPr/>
        </p:nvGrpSpPr>
        <p:grpSpPr bwMode="auto">
          <a:xfrm>
            <a:off x="2366963" y="1957388"/>
            <a:ext cx="615950" cy="363537"/>
            <a:chOff x="3731" y="1153"/>
            <a:chExt cx="388" cy="229"/>
          </a:xfrm>
        </p:grpSpPr>
        <p:sp>
          <p:nvSpPr>
            <p:cNvPr id="344117" name="Line 90"/>
            <p:cNvSpPr>
              <a:spLocks noChangeShapeType="1"/>
            </p:cNvSpPr>
            <p:nvPr/>
          </p:nvSpPr>
          <p:spPr bwMode="auto">
            <a:xfrm flipV="1">
              <a:off x="3731" y="1259"/>
              <a:ext cx="205" cy="12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18" name="Line 91"/>
            <p:cNvSpPr>
              <a:spLocks noChangeShapeType="1"/>
            </p:cNvSpPr>
            <p:nvPr/>
          </p:nvSpPr>
          <p:spPr bwMode="auto">
            <a:xfrm flipV="1">
              <a:off x="3944" y="1153"/>
              <a:ext cx="175" cy="9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sp>
        <p:nvSpPr>
          <p:cNvPr id="344099" name="Line 92"/>
          <p:cNvSpPr>
            <a:spLocks noChangeShapeType="1"/>
          </p:cNvSpPr>
          <p:nvPr/>
        </p:nvSpPr>
        <p:spPr bwMode="auto">
          <a:xfrm>
            <a:off x="4278313" y="3175000"/>
            <a:ext cx="979487"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00" name="Freeform 93"/>
          <p:cNvSpPr/>
          <p:nvPr/>
        </p:nvSpPr>
        <p:spPr bwMode="auto">
          <a:xfrm>
            <a:off x="4298950" y="2967038"/>
            <a:ext cx="850900" cy="385762"/>
          </a:xfrm>
          <a:custGeom>
            <a:avLst/>
            <a:gdLst>
              <a:gd name="T0" fmla="*/ 2147483646 w 690"/>
              <a:gd name="T1" fmla="*/ 2147483646 h 274"/>
              <a:gd name="T2" fmla="*/ 2147483646 w 690"/>
              <a:gd name="T3" fmla="*/ 2147483646 h 274"/>
              <a:gd name="T4" fmla="*/ 2147483646 w 690"/>
              <a:gd name="T5" fmla="*/ 2147483646 h 274"/>
              <a:gd name="T6" fmla="*/ 2147483646 w 690"/>
              <a:gd name="T7" fmla="*/ 2147483646 h 274"/>
              <a:gd name="T8" fmla="*/ 2147483646 w 690"/>
              <a:gd name="T9" fmla="*/ 2147483646 h 274"/>
              <a:gd name="T10" fmla="*/ 2147483646 w 690"/>
              <a:gd name="T11" fmla="*/ 2147483646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01" name="Line 94"/>
          <p:cNvSpPr>
            <a:spLocks noChangeShapeType="1"/>
          </p:cNvSpPr>
          <p:nvPr/>
        </p:nvSpPr>
        <p:spPr bwMode="auto">
          <a:xfrm>
            <a:off x="5284788" y="3163888"/>
            <a:ext cx="344487" cy="3175"/>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nvGrpSpPr>
          <p:cNvPr id="344102" name="Group 95"/>
          <p:cNvGrpSpPr/>
          <p:nvPr/>
        </p:nvGrpSpPr>
        <p:grpSpPr bwMode="auto">
          <a:xfrm>
            <a:off x="1854200" y="2324100"/>
            <a:ext cx="660400" cy="277813"/>
            <a:chOff x="3600" y="219"/>
            <a:chExt cx="360" cy="175"/>
          </a:xfrm>
        </p:grpSpPr>
        <p:sp>
          <p:nvSpPr>
            <p:cNvPr id="344104" name="Oval 96"/>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4105" name="Line 97"/>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06" name="Line 98"/>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07" name="Rectangle 99"/>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sp>
          <p:nvSpPr>
            <p:cNvPr id="344108" name="Oval 100"/>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grpSp>
          <p:nvGrpSpPr>
            <p:cNvPr id="344109" name="Group 101"/>
            <p:cNvGrpSpPr/>
            <p:nvPr/>
          </p:nvGrpSpPr>
          <p:grpSpPr bwMode="auto">
            <a:xfrm>
              <a:off x="3686" y="244"/>
              <a:ext cx="177" cy="66"/>
              <a:chOff x="2848" y="848"/>
              <a:chExt cx="140" cy="98"/>
            </a:xfrm>
          </p:grpSpPr>
          <p:sp>
            <p:nvSpPr>
              <p:cNvPr id="344114" name="Line 102"/>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15" name="Line 103"/>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16" name="Line 104"/>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nvGrpSpPr>
            <p:cNvPr id="344110" name="Group 105"/>
            <p:cNvGrpSpPr/>
            <p:nvPr/>
          </p:nvGrpSpPr>
          <p:grpSpPr bwMode="auto">
            <a:xfrm flipV="1">
              <a:off x="3686" y="243"/>
              <a:ext cx="177" cy="66"/>
              <a:chOff x="2848" y="848"/>
              <a:chExt cx="140" cy="98"/>
            </a:xfrm>
          </p:grpSpPr>
          <p:sp>
            <p:nvSpPr>
              <p:cNvPr id="344111" name="Line 106"/>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12" name="Line 107"/>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4113" name="Line 108"/>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sp>
        <p:nvSpPr>
          <p:cNvPr id="744557" name="Rectangle 109"/>
          <p:cNvSpPr>
            <a:spLocks noChangeArrowheads="1"/>
          </p:cNvSpPr>
          <p:nvPr/>
        </p:nvSpPr>
        <p:spPr bwMode="auto">
          <a:xfrm>
            <a:off x="1216025" y="5284788"/>
            <a:ext cx="6802438" cy="312737"/>
          </a:xfrm>
          <a:prstGeom prst="rect">
            <a:avLst/>
          </a:prstGeom>
          <a:gradFill rotWithShape="1">
            <a:gsLst>
              <a:gs pos="0">
                <a:schemeClr val="accent1">
                  <a:alpha val="28998"/>
                </a:schemeClr>
              </a:gs>
              <a:gs pos="100000">
                <a:schemeClr val="accent1">
                  <a:alpha val="25000"/>
                </a:scheme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44557"/>
                                        </p:tgtEl>
                                        <p:attrNameLst>
                                          <p:attrName>style.visibility</p:attrName>
                                        </p:attrNameLst>
                                      </p:cBhvr>
                                      <p:to>
                                        <p:strVal val="visible"/>
                                      </p:to>
                                    </p:set>
                                    <p:animEffect transition="in" filter="dissolve">
                                      <p:cBhvr>
                                        <p:cTn id="7" dur="500"/>
                                        <p:tgtEl>
                                          <p:spTgt spid="7445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4557"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89" name="页脚占位符 4"/>
          <p:cNvSpPr>
            <a:spLocks noGrp="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Network Layer</a:t>
            </a:r>
          </a:p>
        </p:txBody>
      </p:sp>
      <p:sp>
        <p:nvSpPr>
          <p:cNvPr id="345090" name="灯片编号占位符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4-</a:t>
            </a:r>
            <a:fld id="{82CA0947-1023-9F4E-AF61-4657409C08F3}" type="slidenum">
              <a:rPr kumimoji="0" lang="en-US" altLang="zh-CN" sz="12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Arial" panose="020B0604020202090204" pitchFamily="34" charset="0"/>
              </a:rPr>
              <a:t>58</a:t>
            </a:fld>
            <a:endPar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endParaRPr>
          </a:p>
        </p:txBody>
      </p:sp>
      <p:sp>
        <p:nvSpPr>
          <p:cNvPr id="345091" name="Rectangle 2"/>
          <p:cNvSpPr>
            <a:spLocks noGrp="1" noChangeArrowheads="1"/>
          </p:cNvSpPr>
          <p:nvPr>
            <p:ph type="title"/>
          </p:nvPr>
        </p:nvSpPr>
        <p:spPr>
          <a:xfrm>
            <a:off x="409575" y="0"/>
            <a:ext cx="7772400" cy="1143000"/>
          </a:xfrm>
        </p:spPr>
        <p:txBody>
          <a:bodyPr/>
          <a:lstStyle/>
          <a:p>
            <a:pPr eaLnBrk="1" hangingPunct="1"/>
            <a:r>
              <a:rPr lang="en-US" altLang="zh-CN" sz="3600">
                <a:ea typeface="宋体" pitchFamily="2" charset="-122"/>
              </a:rPr>
              <a:t>RIP: Example</a:t>
            </a:r>
            <a:r>
              <a:rPr lang="en-US" altLang="zh-CN" sz="2800">
                <a:ea typeface="宋体" pitchFamily="2" charset="-122"/>
              </a:rPr>
              <a:t> </a:t>
            </a:r>
          </a:p>
        </p:txBody>
      </p:sp>
      <p:sp>
        <p:nvSpPr>
          <p:cNvPr id="345092" name="Text Box 3"/>
          <p:cNvSpPr txBox="1">
            <a:spLocks noChangeArrowheads="1"/>
          </p:cNvSpPr>
          <p:nvPr/>
        </p:nvSpPr>
        <p:spPr bwMode="auto">
          <a:xfrm>
            <a:off x="1220788" y="4205288"/>
            <a:ext cx="6780212" cy="2098675"/>
          </a:xfrm>
          <a:prstGeom prst="rect">
            <a:avLst/>
          </a:prstGeom>
          <a:noFill/>
          <a:ln w="28575">
            <a:solidFill>
              <a:srgbClr val="CC0000"/>
            </a:solidFill>
            <a:miter lim="800000"/>
          </a:ln>
          <a:extLst>
            <a:ext uri="{909E8E84-426E-40DD-AFC4-6F175D3DCCD1}">
              <a14:hiddenFill xmlns:a14="http://schemas.microsoft.com/office/drawing/2010/main">
                <a:solidFill>
                  <a:srgbClr val="FFFFFF"/>
                </a:solidFill>
              </a14:hiddenFill>
            </a:ext>
          </a:extLst>
        </p:spPr>
        <p:txBody>
          <a:bodyPr lIns="0" tIns="0" rIns="0" bIns="0">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a:ln>
                  <a:noFill/>
                </a:ln>
                <a:solidFill>
                  <a:srgbClr val="000099"/>
                </a:solidFill>
                <a:effectLst/>
                <a:uLnTx/>
                <a:uFillTx/>
                <a:latin typeface="Arial" panose="020B0604020202090204" pitchFamily="34" charset="0"/>
                <a:ea typeface="宋体" pitchFamily="2" charset="-122"/>
                <a:cs typeface="Arial" panose="020B0604020202090204" pitchFamily="34" charset="0"/>
              </a:rPr>
              <a:t>destination subnet	  next  router      # hops to dest</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000" b="1"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90204" pitchFamily="34" charset="0"/>
                <a:ea typeface="宋体" pitchFamily="2" charset="-122"/>
                <a:cs typeface="Arial" panose="020B0604020202090204" pitchFamily="34" charset="0"/>
              </a:rPr>
              <a:t>w</a:t>
            </a: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A		2</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90204" pitchFamily="34" charset="0"/>
                <a:ea typeface="宋体" pitchFamily="2" charset="-122"/>
                <a:cs typeface="Arial" panose="020B0604020202090204" pitchFamily="34" charset="0"/>
              </a:rPr>
              <a:t>y</a:t>
            </a: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B		2</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90204" pitchFamily="34" charset="0"/>
                <a:ea typeface="宋体" pitchFamily="2" charset="-122"/>
                <a:cs typeface="Arial" panose="020B0604020202090204" pitchFamily="34" charset="0"/>
              </a:rPr>
              <a:t>z</a:t>
            </a: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B		7</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a:t>
            </a:r>
            <a:r>
              <a:rPr kumimoji="0" lang="en-US" altLang="zh-CN" sz="2400" b="0" i="0" u="none" strike="noStrike" kern="1200" cap="none" spc="0" normalizeH="0" baseline="0" noProof="0">
                <a:ln>
                  <a:noFill/>
                </a:ln>
                <a:solidFill>
                  <a:srgbClr val="FF0000"/>
                </a:solidFill>
                <a:effectLst/>
                <a:uLnTx/>
                <a:uFillTx/>
                <a:latin typeface="Arial" panose="020B0604020202090204" pitchFamily="34" charset="0"/>
                <a:ea typeface="宋体" pitchFamily="2" charset="-122"/>
                <a:cs typeface="Arial" panose="020B0604020202090204" pitchFamily="34" charset="0"/>
              </a:rPr>
              <a:t>x</a:t>
            </a: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		1</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0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			….		....</a:t>
            </a:r>
          </a:p>
        </p:txBody>
      </p:sp>
      <p:sp>
        <p:nvSpPr>
          <p:cNvPr id="345093" name="Text Box 4"/>
          <p:cNvSpPr txBox="1">
            <a:spLocks noChangeArrowheads="1"/>
          </p:cNvSpPr>
          <p:nvPr/>
        </p:nvSpPr>
        <p:spPr bwMode="auto">
          <a:xfrm>
            <a:off x="2898775" y="3830638"/>
            <a:ext cx="28051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routing table in router D</a:t>
            </a:r>
          </a:p>
        </p:txBody>
      </p:sp>
      <p:grpSp>
        <p:nvGrpSpPr>
          <p:cNvPr id="345094" name="Group 5"/>
          <p:cNvGrpSpPr/>
          <p:nvPr/>
        </p:nvGrpSpPr>
        <p:grpSpPr bwMode="auto">
          <a:xfrm>
            <a:off x="631825" y="1827213"/>
            <a:ext cx="8296275" cy="1901825"/>
            <a:chOff x="398" y="1151"/>
            <a:chExt cx="5226" cy="1198"/>
          </a:xfrm>
        </p:grpSpPr>
        <p:sp>
          <p:nvSpPr>
            <p:cNvPr id="345105" name="Line 6"/>
            <p:cNvSpPr>
              <a:spLocks noChangeShapeType="1"/>
            </p:cNvSpPr>
            <p:nvPr/>
          </p:nvSpPr>
          <p:spPr bwMode="auto">
            <a:xfrm>
              <a:off x="3828" y="1559"/>
              <a:ext cx="617"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06" name="Freeform 7"/>
            <p:cNvSpPr/>
            <p:nvPr/>
          </p:nvSpPr>
          <p:spPr bwMode="auto">
            <a:xfrm>
              <a:off x="1593" y="1566"/>
              <a:ext cx="782" cy="1"/>
            </a:xfrm>
            <a:custGeom>
              <a:avLst/>
              <a:gdLst>
                <a:gd name="T0" fmla="*/ 0 w 805"/>
                <a:gd name="T1" fmla="*/ 0 h 1"/>
                <a:gd name="T2" fmla="*/ 439 w 805"/>
                <a:gd name="T3" fmla="*/ 1 h 1"/>
                <a:gd name="T4" fmla="*/ 0 60000 65536"/>
                <a:gd name="T5" fmla="*/ 0 60000 65536"/>
                <a:gd name="T6" fmla="*/ 0 w 805"/>
                <a:gd name="T7" fmla="*/ 0 h 1"/>
                <a:gd name="T8" fmla="*/ 805 w 805"/>
                <a:gd name="T9" fmla="*/ 1 h 1"/>
              </a:gdLst>
              <a:ahLst/>
              <a:cxnLst>
                <a:cxn ang="T4">
                  <a:pos x="T0" y="T1"/>
                </a:cxn>
                <a:cxn ang="T5">
                  <a:pos x="T2" y="T3"/>
                </a:cxn>
              </a:cxnLst>
              <a:rect l="T6" t="T7" r="T8" b="T9"/>
              <a:pathLst>
                <a:path w="805" h="1">
                  <a:moveTo>
                    <a:pt x="0" y="0"/>
                  </a:moveTo>
                  <a:lnTo>
                    <a:pt x="805" y="1"/>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07" name="Freeform 8"/>
            <p:cNvSpPr/>
            <p:nvPr/>
          </p:nvSpPr>
          <p:spPr bwMode="auto">
            <a:xfrm>
              <a:off x="1594" y="1434"/>
              <a:ext cx="671" cy="243"/>
            </a:xfrm>
            <a:custGeom>
              <a:avLst/>
              <a:gdLst>
                <a:gd name="T0" fmla="*/ 218 w 690"/>
                <a:gd name="T1" fmla="*/ 4 h 274"/>
                <a:gd name="T2" fmla="*/ 42 w 690"/>
                <a:gd name="T3" fmla="*/ 4 h 274"/>
                <a:gd name="T4" fmla="*/ 50 w 690"/>
                <a:gd name="T5" fmla="*/ 19 h 274"/>
                <a:gd name="T6" fmla="*/ 334 w 690"/>
                <a:gd name="T7" fmla="*/ 20 h 274"/>
                <a:gd name="T8" fmla="*/ 353 w 690"/>
                <a:gd name="T9" fmla="*/ 6 h 274"/>
                <a:gd name="T10" fmla="*/ 218 w 690"/>
                <a:gd name="T11" fmla="*/ 4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nvGrpSpPr>
            <p:cNvPr id="345108" name="Group 9"/>
            <p:cNvGrpSpPr/>
            <p:nvPr/>
          </p:nvGrpSpPr>
          <p:grpSpPr bwMode="auto">
            <a:xfrm>
              <a:off x="2288" y="1465"/>
              <a:ext cx="416" cy="175"/>
              <a:chOff x="3600" y="219"/>
              <a:chExt cx="360" cy="175"/>
            </a:xfrm>
          </p:grpSpPr>
          <p:sp>
            <p:nvSpPr>
              <p:cNvPr id="345196" name="Oval 10"/>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5197" name="Line 11"/>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98" name="Line 12"/>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99" name="Rectangle 13"/>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sp>
            <p:nvSpPr>
              <p:cNvPr id="345200" name="Oval 14"/>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grpSp>
            <p:nvGrpSpPr>
              <p:cNvPr id="345201" name="Group 15"/>
              <p:cNvGrpSpPr/>
              <p:nvPr/>
            </p:nvGrpSpPr>
            <p:grpSpPr bwMode="auto">
              <a:xfrm>
                <a:off x="3686" y="244"/>
                <a:ext cx="177" cy="66"/>
                <a:chOff x="2848" y="848"/>
                <a:chExt cx="140" cy="98"/>
              </a:xfrm>
            </p:grpSpPr>
            <p:sp>
              <p:nvSpPr>
                <p:cNvPr id="345206" name="Line 16"/>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207" name="Line 17"/>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208" name="Line 18"/>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nvGrpSpPr>
              <p:cNvPr id="345202" name="Group 19"/>
              <p:cNvGrpSpPr/>
              <p:nvPr/>
            </p:nvGrpSpPr>
            <p:grpSpPr bwMode="auto">
              <a:xfrm flipV="1">
                <a:off x="3686" y="243"/>
                <a:ext cx="177" cy="66"/>
                <a:chOff x="2848" y="848"/>
                <a:chExt cx="140" cy="98"/>
              </a:xfrm>
            </p:grpSpPr>
            <p:sp>
              <p:nvSpPr>
                <p:cNvPr id="345203" name="Line 20"/>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204" name="Line 21"/>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205" name="Line 22"/>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grpSp>
          <p:nvGrpSpPr>
            <p:cNvPr id="345109" name="Group 23"/>
            <p:cNvGrpSpPr/>
            <p:nvPr/>
          </p:nvGrpSpPr>
          <p:grpSpPr bwMode="auto">
            <a:xfrm>
              <a:off x="2280" y="1909"/>
              <a:ext cx="414" cy="175"/>
              <a:chOff x="3600" y="219"/>
              <a:chExt cx="360" cy="175"/>
            </a:xfrm>
          </p:grpSpPr>
          <p:sp>
            <p:nvSpPr>
              <p:cNvPr id="345183" name="Oval 24"/>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5184" name="Line 25"/>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85" name="Line 26"/>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86" name="Rectangle 27"/>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sp>
            <p:nvSpPr>
              <p:cNvPr id="345187" name="Oval 28"/>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grpSp>
            <p:nvGrpSpPr>
              <p:cNvPr id="345188" name="Group 29"/>
              <p:cNvGrpSpPr/>
              <p:nvPr/>
            </p:nvGrpSpPr>
            <p:grpSpPr bwMode="auto">
              <a:xfrm>
                <a:off x="3686" y="244"/>
                <a:ext cx="177" cy="66"/>
                <a:chOff x="2848" y="848"/>
                <a:chExt cx="140" cy="98"/>
              </a:xfrm>
            </p:grpSpPr>
            <p:sp>
              <p:nvSpPr>
                <p:cNvPr id="345193" name="Line 30"/>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94" name="Line 31"/>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95" name="Line 32"/>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nvGrpSpPr>
              <p:cNvPr id="345189" name="Group 33"/>
              <p:cNvGrpSpPr/>
              <p:nvPr/>
            </p:nvGrpSpPr>
            <p:grpSpPr bwMode="auto">
              <a:xfrm flipV="1">
                <a:off x="3686" y="243"/>
                <a:ext cx="177" cy="66"/>
                <a:chOff x="2848" y="848"/>
                <a:chExt cx="140" cy="98"/>
              </a:xfrm>
            </p:grpSpPr>
            <p:sp>
              <p:nvSpPr>
                <p:cNvPr id="345190" name="Line 34"/>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91" name="Line 35"/>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92" name="Line 36"/>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sp>
          <p:nvSpPr>
            <p:cNvPr id="345110" name="Freeform 37"/>
            <p:cNvSpPr/>
            <p:nvPr/>
          </p:nvSpPr>
          <p:spPr bwMode="auto">
            <a:xfrm>
              <a:off x="2723" y="1566"/>
              <a:ext cx="783" cy="1"/>
            </a:xfrm>
            <a:custGeom>
              <a:avLst/>
              <a:gdLst>
                <a:gd name="T0" fmla="*/ 0 w 805"/>
                <a:gd name="T1" fmla="*/ 0 h 1"/>
                <a:gd name="T2" fmla="*/ 449 w 805"/>
                <a:gd name="T3" fmla="*/ 1 h 1"/>
                <a:gd name="T4" fmla="*/ 0 60000 65536"/>
                <a:gd name="T5" fmla="*/ 0 60000 65536"/>
                <a:gd name="T6" fmla="*/ 0 w 805"/>
                <a:gd name="T7" fmla="*/ 0 h 1"/>
                <a:gd name="T8" fmla="*/ 805 w 805"/>
                <a:gd name="T9" fmla="*/ 1 h 1"/>
              </a:gdLst>
              <a:ahLst/>
              <a:cxnLst>
                <a:cxn ang="T4">
                  <a:pos x="T0" y="T1"/>
                </a:cxn>
                <a:cxn ang="T5">
                  <a:pos x="T2" y="T3"/>
                </a:cxn>
              </a:cxnLst>
              <a:rect l="T6" t="T7" r="T8" b="T9"/>
              <a:pathLst>
                <a:path w="805" h="1">
                  <a:moveTo>
                    <a:pt x="0" y="0"/>
                  </a:moveTo>
                  <a:lnTo>
                    <a:pt x="805" y="1"/>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nvGrpSpPr>
            <p:cNvPr id="345111" name="Group 38"/>
            <p:cNvGrpSpPr/>
            <p:nvPr/>
          </p:nvGrpSpPr>
          <p:grpSpPr bwMode="auto">
            <a:xfrm>
              <a:off x="3419" y="1465"/>
              <a:ext cx="416" cy="175"/>
              <a:chOff x="3600" y="219"/>
              <a:chExt cx="360" cy="175"/>
            </a:xfrm>
          </p:grpSpPr>
          <p:sp>
            <p:nvSpPr>
              <p:cNvPr id="345170" name="Oval 39"/>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5171" name="Line 40"/>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72" name="Line 41"/>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73" name="Rectangle 42"/>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sp>
            <p:nvSpPr>
              <p:cNvPr id="345174" name="Oval 43"/>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grpSp>
            <p:nvGrpSpPr>
              <p:cNvPr id="345175" name="Group 44"/>
              <p:cNvGrpSpPr/>
              <p:nvPr/>
            </p:nvGrpSpPr>
            <p:grpSpPr bwMode="auto">
              <a:xfrm>
                <a:off x="3686" y="244"/>
                <a:ext cx="177" cy="66"/>
                <a:chOff x="2848" y="848"/>
                <a:chExt cx="140" cy="98"/>
              </a:xfrm>
            </p:grpSpPr>
            <p:sp>
              <p:nvSpPr>
                <p:cNvPr id="345180" name="Line 45"/>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81" name="Line 46"/>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82" name="Line 47"/>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nvGrpSpPr>
              <p:cNvPr id="345176" name="Group 48"/>
              <p:cNvGrpSpPr/>
              <p:nvPr/>
            </p:nvGrpSpPr>
            <p:grpSpPr bwMode="auto">
              <a:xfrm flipV="1">
                <a:off x="3686" y="243"/>
                <a:ext cx="177" cy="66"/>
                <a:chOff x="2848" y="848"/>
                <a:chExt cx="140" cy="98"/>
              </a:xfrm>
            </p:grpSpPr>
            <p:sp>
              <p:nvSpPr>
                <p:cNvPr id="345177" name="Line 49"/>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78" name="Line 50"/>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79" name="Line 5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sp>
          <p:nvSpPr>
            <p:cNvPr id="345112" name="Freeform 52"/>
            <p:cNvSpPr/>
            <p:nvPr/>
          </p:nvSpPr>
          <p:spPr bwMode="auto">
            <a:xfrm>
              <a:off x="398" y="1574"/>
              <a:ext cx="783" cy="0"/>
            </a:xfrm>
            <a:custGeom>
              <a:avLst/>
              <a:gdLst>
                <a:gd name="T0" fmla="*/ 0 w 805"/>
                <a:gd name="T1" fmla="*/ 0 h 1"/>
                <a:gd name="T2" fmla="*/ 449 w 805"/>
                <a:gd name="T3" fmla="*/ 0 h 1"/>
                <a:gd name="T4" fmla="*/ 0 60000 65536"/>
                <a:gd name="T5" fmla="*/ 0 60000 65536"/>
                <a:gd name="T6" fmla="*/ 0 w 805"/>
                <a:gd name="T7" fmla="*/ 0 h 1"/>
                <a:gd name="T8" fmla="*/ 805 w 805"/>
                <a:gd name="T9" fmla="*/ 0 h 1"/>
              </a:gdLst>
              <a:ahLst/>
              <a:cxnLst>
                <a:cxn ang="T4">
                  <a:pos x="T0" y="T1"/>
                </a:cxn>
                <a:cxn ang="T5">
                  <a:pos x="T2" y="T3"/>
                </a:cxn>
              </a:cxnLst>
              <a:rect l="T6" t="T7" r="T8" b="T9"/>
              <a:pathLst>
                <a:path w="805" h="1">
                  <a:moveTo>
                    <a:pt x="0" y="0"/>
                  </a:moveTo>
                  <a:lnTo>
                    <a:pt x="805" y="1"/>
                  </a:lnTo>
                </a:path>
              </a:pathLst>
            </a:custGeom>
            <a:noFill/>
            <a:ln w="12700">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nvGrpSpPr>
            <p:cNvPr id="345113" name="Group 53"/>
            <p:cNvGrpSpPr/>
            <p:nvPr/>
          </p:nvGrpSpPr>
          <p:grpSpPr bwMode="auto">
            <a:xfrm>
              <a:off x="4803" y="1476"/>
              <a:ext cx="414" cy="175"/>
              <a:chOff x="3600" y="219"/>
              <a:chExt cx="360" cy="175"/>
            </a:xfrm>
          </p:grpSpPr>
          <p:sp>
            <p:nvSpPr>
              <p:cNvPr id="345157" name="Oval 54"/>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5158" name="Line 55"/>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59" name="Line 56"/>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60" name="Rectangle 57"/>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sp>
            <p:nvSpPr>
              <p:cNvPr id="345161" name="Oval 58"/>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grpSp>
            <p:nvGrpSpPr>
              <p:cNvPr id="345162" name="Group 59"/>
              <p:cNvGrpSpPr/>
              <p:nvPr/>
            </p:nvGrpSpPr>
            <p:grpSpPr bwMode="auto">
              <a:xfrm>
                <a:off x="3686" y="244"/>
                <a:ext cx="177" cy="66"/>
                <a:chOff x="2848" y="848"/>
                <a:chExt cx="140" cy="98"/>
              </a:xfrm>
            </p:grpSpPr>
            <p:sp>
              <p:nvSpPr>
                <p:cNvPr id="345167" name="Line 60"/>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68" name="Line 61"/>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69" name="Line 62"/>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nvGrpSpPr>
              <p:cNvPr id="345163" name="Group 63"/>
              <p:cNvGrpSpPr/>
              <p:nvPr/>
            </p:nvGrpSpPr>
            <p:grpSpPr bwMode="auto">
              <a:xfrm flipV="1">
                <a:off x="3686" y="243"/>
                <a:ext cx="177" cy="66"/>
                <a:chOff x="2848" y="848"/>
                <a:chExt cx="140" cy="98"/>
              </a:xfrm>
            </p:grpSpPr>
            <p:sp>
              <p:nvSpPr>
                <p:cNvPr id="345164" name="Line 64"/>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65" name="Line 65"/>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66" name="Line 66"/>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sp>
          <p:nvSpPr>
            <p:cNvPr id="345114" name="Line 67"/>
            <p:cNvSpPr>
              <a:spLocks noChangeShapeType="1"/>
            </p:cNvSpPr>
            <p:nvPr/>
          </p:nvSpPr>
          <p:spPr bwMode="auto">
            <a:xfrm flipV="1">
              <a:off x="5097" y="1245"/>
              <a:ext cx="381" cy="22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15" name="Line 68"/>
            <p:cNvSpPr>
              <a:spLocks noChangeShapeType="1"/>
            </p:cNvSpPr>
            <p:nvPr/>
          </p:nvSpPr>
          <p:spPr bwMode="auto">
            <a:xfrm>
              <a:off x="5068" y="1650"/>
              <a:ext cx="381" cy="22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16" name="Line 69"/>
            <p:cNvSpPr>
              <a:spLocks noChangeShapeType="1"/>
            </p:cNvSpPr>
            <p:nvPr/>
          </p:nvSpPr>
          <p:spPr bwMode="auto">
            <a:xfrm>
              <a:off x="1492" y="1645"/>
              <a:ext cx="791" cy="34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17" name="Freeform 70"/>
            <p:cNvSpPr/>
            <p:nvPr/>
          </p:nvSpPr>
          <p:spPr bwMode="auto">
            <a:xfrm rot="1183889">
              <a:off x="1589" y="1749"/>
              <a:ext cx="671" cy="179"/>
            </a:xfrm>
            <a:custGeom>
              <a:avLst/>
              <a:gdLst>
                <a:gd name="T0" fmla="*/ 218 w 690"/>
                <a:gd name="T1" fmla="*/ 1 h 274"/>
                <a:gd name="T2" fmla="*/ 42 w 690"/>
                <a:gd name="T3" fmla="*/ 1 h 274"/>
                <a:gd name="T4" fmla="*/ 50 w 690"/>
                <a:gd name="T5" fmla="*/ 1 h 274"/>
                <a:gd name="T6" fmla="*/ 334 w 690"/>
                <a:gd name="T7" fmla="*/ 1 h 274"/>
                <a:gd name="T8" fmla="*/ 353 w 690"/>
                <a:gd name="T9" fmla="*/ 1 h 274"/>
                <a:gd name="T10" fmla="*/ 218 w 690"/>
                <a:gd name="T11" fmla="*/ 1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18" name="Freeform 71"/>
            <p:cNvSpPr/>
            <p:nvPr/>
          </p:nvSpPr>
          <p:spPr bwMode="auto">
            <a:xfrm>
              <a:off x="399" y="1442"/>
              <a:ext cx="671" cy="242"/>
            </a:xfrm>
            <a:custGeom>
              <a:avLst/>
              <a:gdLst>
                <a:gd name="T0" fmla="*/ 218 w 690"/>
                <a:gd name="T1" fmla="*/ 4 h 274"/>
                <a:gd name="T2" fmla="*/ 42 w 690"/>
                <a:gd name="T3" fmla="*/ 4 h 274"/>
                <a:gd name="T4" fmla="*/ 50 w 690"/>
                <a:gd name="T5" fmla="*/ 18 h 274"/>
                <a:gd name="T6" fmla="*/ 334 w 690"/>
                <a:gd name="T7" fmla="*/ 18 h 274"/>
                <a:gd name="T8" fmla="*/ 353 w 690"/>
                <a:gd name="T9" fmla="*/ 5 h 274"/>
                <a:gd name="T10" fmla="*/ 218 w 690"/>
                <a:gd name="T11" fmla="*/ 4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19" name="Freeform 72"/>
            <p:cNvSpPr/>
            <p:nvPr/>
          </p:nvSpPr>
          <p:spPr bwMode="auto">
            <a:xfrm>
              <a:off x="2724" y="1434"/>
              <a:ext cx="671" cy="243"/>
            </a:xfrm>
            <a:custGeom>
              <a:avLst/>
              <a:gdLst>
                <a:gd name="T0" fmla="*/ 218 w 690"/>
                <a:gd name="T1" fmla="*/ 4 h 274"/>
                <a:gd name="T2" fmla="*/ 42 w 690"/>
                <a:gd name="T3" fmla="*/ 4 h 274"/>
                <a:gd name="T4" fmla="*/ 50 w 690"/>
                <a:gd name="T5" fmla="*/ 19 h 274"/>
                <a:gd name="T6" fmla="*/ 334 w 690"/>
                <a:gd name="T7" fmla="*/ 20 h 274"/>
                <a:gd name="T8" fmla="*/ 353 w 690"/>
                <a:gd name="T9" fmla="*/ 6 h 274"/>
                <a:gd name="T10" fmla="*/ 218 w 690"/>
                <a:gd name="T11" fmla="*/ 4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20" name="Freeform 73"/>
            <p:cNvSpPr/>
            <p:nvPr/>
          </p:nvSpPr>
          <p:spPr bwMode="auto">
            <a:xfrm>
              <a:off x="3841" y="1428"/>
              <a:ext cx="536" cy="243"/>
            </a:xfrm>
            <a:custGeom>
              <a:avLst/>
              <a:gdLst>
                <a:gd name="T0" fmla="*/ 2 w 690"/>
                <a:gd name="T1" fmla="*/ 4 h 274"/>
                <a:gd name="T2" fmla="*/ 2 w 690"/>
                <a:gd name="T3" fmla="*/ 4 h 274"/>
                <a:gd name="T4" fmla="*/ 2 w 690"/>
                <a:gd name="T5" fmla="*/ 19 h 274"/>
                <a:gd name="T6" fmla="*/ 3 w 690"/>
                <a:gd name="T7" fmla="*/ 20 h 274"/>
                <a:gd name="T8" fmla="*/ 3 w 690"/>
                <a:gd name="T9" fmla="*/ 6 h 274"/>
                <a:gd name="T10" fmla="*/ 2 w 690"/>
                <a:gd name="T11" fmla="*/ 4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21" name="Freeform 74"/>
            <p:cNvSpPr/>
            <p:nvPr/>
          </p:nvSpPr>
          <p:spPr bwMode="auto">
            <a:xfrm rot="-2589433">
              <a:off x="5077" y="1155"/>
              <a:ext cx="547" cy="243"/>
            </a:xfrm>
            <a:custGeom>
              <a:avLst/>
              <a:gdLst>
                <a:gd name="T0" fmla="*/ 3 w 690"/>
                <a:gd name="T1" fmla="*/ 4 h 274"/>
                <a:gd name="T2" fmla="*/ 2 w 690"/>
                <a:gd name="T3" fmla="*/ 4 h 274"/>
                <a:gd name="T4" fmla="*/ 2 w 690"/>
                <a:gd name="T5" fmla="*/ 19 h 274"/>
                <a:gd name="T6" fmla="*/ 5 w 690"/>
                <a:gd name="T7" fmla="*/ 20 h 274"/>
                <a:gd name="T8" fmla="*/ 5 w 690"/>
                <a:gd name="T9" fmla="*/ 6 h 274"/>
                <a:gd name="T10" fmla="*/ 3 w 690"/>
                <a:gd name="T11" fmla="*/ 4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22" name="Text Box 75"/>
            <p:cNvSpPr txBox="1">
              <a:spLocks noChangeArrowheads="1"/>
            </p:cNvSpPr>
            <p:nvPr/>
          </p:nvSpPr>
          <p:spPr bwMode="auto">
            <a:xfrm>
              <a:off x="579" y="1412"/>
              <a:ext cx="24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itchFamily="2" charset="-122"/>
                  <a:cs typeface="Arial" panose="020B0604020202090204" pitchFamily="34" charset="0"/>
                </a:rPr>
                <a:t>w</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5123" name="Text Box 76"/>
            <p:cNvSpPr txBox="1">
              <a:spLocks noChangeArrowheads="1"/>
            </p:cNvSpPr>
            <p:nvPr/>
          </p:nvSpPr>
          <p:spPr bwMode="auto">
            <a:xfrm>
              <a:off x="1810" y="1439"/>
              <a:ext cx="22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itchFamily="2" charset="-122"/>
                  <a:cs typeface="Arial" panose="020B0604020202090204" pitchFamily="34" charset="0"/>
                </a:rPr>
                <a:t>x</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5124" name="Text Box 77"/>
            <p:cNvSpPr txBox="1">
              <a:spLocks noChangeArrowheads="1"/>
            </p:cNvSpPr>
            <p:nvPr/>
          </p:nvSpPr>
          <p:spPr bwMode="auto">
            <a:xfrm>
              <a:off x="4019" y="1389"/>
              <a:ext cx="2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itchFamily="2" charset="-122"/>
                  <a:cs typeface="Arial" panose="020B0604020202090204" pitchFamily="34" charset="0"/>
                </a:rPr>
                <a:t>y</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5125" name="Text Box 78"/>
            <p:cNvSpPr txBox="1">
              <a:spLocks noChangeArrowheads="1"/>
            </p:cNvSpPr>
            <p:nvPr/>
          </p:nvSpPr>
          <p:spPr bwMode="auto">
            <a:xfrm>
              <a:off x="5225" y="1151"/>
              <a:ext cx="21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FF0000"/>
                  </a:solidFill>
                  <a:effectLst/>
                  <a:uLnTx/>
                  <a:uFillTx/>
                  <a:latin typeface="Comic Sans MS" panose="030F0902030302020204" pitchFamily="66" charset="0"/>
                  <a:ea typeface="宋体" pitchFamily="2" charset="-122"/>
                  <a:cs typeface="Arial" panose="020B0604020202090204" pitchFamily="34" charset="0"/>
                </a:rPr>
                <a:t>z</a:t>
              </a:r>
              <a:endPar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5126" name="Text Box 79"/>
            <p:cNvSpPr txBox="1">
              <a:spLocks noChangeArrowheads="1"/>
            </p:cNvSpPr>
            <p:nvPr/>
          </p:nvSpPr>
          <p:spPr bwMode="auto">
            <a:xfrm>
              <a:off x="1227" y="1615"/>
              <a:ext cx="25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A</a:t>
              </a:r>
            </a:p>
          </p:txBody>
        </p:sp>
        <p:sp>
          <p:nvSpPr>
            <p:cNvPr id="345127" name="Text Box 80"/>
            <p:cNvSpPr txBox="1">
              <a:spLocks noChangeArrowheads="1"/>
            </p:cNvSpPr>
            <p:nvPr/>
          </p:nvSpPr>
          <p:spPr bwMode="auto">
            <a:xfrm>
              <a:off x="2378" y="2061"/>
              <a:ext cx="2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C</a:t>
              </a:r>
            </a:p>
          </p:txBody>
        </p:sp>
        <p:sp>
          <p:nvSpPr>
            <p:cNvPr id="345128" name="Text Box 81"/>
            <p:cNvSpPr txBox="1">
              <a:spLocks noChangeArrowheads="1"/>
            </p:cNvSpPr>
            <p:nvPr/>
          </p:nvSpPr>
          <p:spPr bwMode="auto">
            <a:xfrm>
              <a:off x="2378" y="1593"/>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D</a:t>
              </a:r>
            </a:p>
          </p:txBody>
        </p:sp>
        <p:sp>
          <p:nvSpPr>
            <p:cNvPr id="345129" name="Text Box 82"/>
            <p:cNvSpPr txBox="1">
              <a:spLocks noChangeArrowheads="1"/>
            </p:cNvSpPr>
            <p:nvPr/>
          </p:nvSpPr>
          <p:spPr bwMode="auto">
            <a:xfrm>
              <a:off x="3502" y="1592"/>
              <a:ext cx="23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B</a:t>
              </a:r>
            </a:p>
          </p:txBody>
        </p:sp>
        <p:sp>
          <p:nvSpPr>
            <p:cNvPr id="345130" name="Line 83"/>
            <p:cNvSpPr>
              <a:spLocks noChangeShapeType="1"/>
            </p:cNvSpPr>
            <p:nvPr/>
          </p:nvSpPr>
          <p:spPr bwMode="auto">
            <a:xfrm>
              <a:off x="4462" y="1552"/>
              <a:ext cx="217" cy="2"/>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nvGrpSpPr>
            <p:cNvPr id="345131" name="Group 84"/>
            <p:cNvGrpSpPr/>
            <p:nvPr/>
          </p:nvGrpSpPr>
          <p:grpSpPr bwMode="auto">
            <a:xfrm>
              <a:off x="3731" y="1265"/>
              <a:ext cx="388" cy="229"/>
              <a:chOff x="3731" y="1153"/>
              <a:chExt cx="388" cy="229"/>
            </a:xfrm>
          </p:grpSpPr>
          <p:sp>
            <p:nvSpPr>
              <p:cNvPr id="345155" name="Line 85"/>
              <p:cNvSpPr>
                <a:spLocks noChangeShapeType="1"/>
              </p:cNvSpPr>
              <p:nvPr/>
            </p:nvSpPr>
            <p:spPr bwMode="auto">
              <a:xfrm flipV="1">
                <a:off x="3731" y="1259"/>
                <a:ext cx="205" cy="12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56" name="Line 86"/>
              <p:cNvSpPr>
                <a:spLocks noChangeShapeType="1"/>
              </p:cNvSpPr>
              <p:nvPr/>
            </p:nvSpPr>
            <p:spPr bwMode="auto">
              <a:xfrm flipV="1">
                <a:off x="3944" y="1153"/>
                <a:ext cx="175" cy="9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nvGrpSpPr>
            <p:cNvPr id="345132" name="Group 87"/>
            <p:cNvGrpSpPr/>
            <p:nvPr/>
          </p:nvGrpSpPr>
          <p:grpSpPr bwMode="auto">
            <a:xfrm>
              <a:off x="2611" y="1249"/>
              <a:ext cx="388" cy="229"/>
              <a:chOff x="3731" y="1153"/>
              <a:chExt cx="388" cy="229"/>
            </a:xfrm>
          </p:grpSpPr>
          <p:sp>
            <p:nvSpPr>
              <p:cNvPr id="345153" name="Line 88"/>
              <p:cNvSpPr>
                <a:spLocks noChangeShapeType="1"/>
              </p:cNvSpPr>
              <p:nvPr/>
            </p:nvSpPr>
            <p:spPr bwMode="auto">
              <a:xfrm flipV="1">
                <a:off x="3731" y="1259"/>
                <a:ext cx="205" cy="12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54" name="Line 89"/>
              <p:cNvSpPr>
                <a:spLocks noChangeShapeType="1"/>
              </p:cNvSpPr>
              <p:nvPr/>
            </p:nvSpPr>
            <p:spPr bwMode="auto">
              <a:xfrm flipV="1">
                <a:off x="3944" y="1153"/>
                <a:ext cx="175" cy="9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nvGrpSpPr>
            <p:cNvPr id="345133" name="Group 90"/>
            <p:cNvGrpSpPr/>
            <p:nvPr/>
          </p:nvGrpSpPr>
          <p:grpSpPr bwMode="auto">
            <a:xfrm>
              <a:off x="1491" y="1233"/>
              <a:ext cx="388" cy="229"/>
              <a:chOff x="3731" y="1153"/>
              <a:chExt cx="388" cy="229"/>
            </a:xfrm>
          </p:grpSpPr>
          <p:sp>
            <p:nvSpPr>
              <p:cNvPr id="345151" name="Line 91"/>
              <p:cNvSpPr>
                <a:spLocks noChangeShapeType="1"/>
              </p:cNvSpPr>
              <p:nvPr/>
            </p:nvSpPr>
            <p:spPr bwMode="auto">
              <a:xfrm flipV="1">
                <a:off x="3731" y="1259"/>
                <a:ext cx="205" cy="12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52" name="Line 92"/>
              <p:cNvSpPr>
                <a:spLocks noChangeShapeType="1"/>
              </p:cNvSpPr>
              <p:nvPr/>
            </p:nvSpPr>
            <p:spPr bwMode="auto">
              <a:xfrm flipV="1">
                <a:off x="3944" y="1153"/>
                <a:ext cx="175" cy="98"/>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sp>
          <p:nvSpPr>
            <p:cNvPr id="345134" name="Line 93"/>
            <p:cNvSpPr>
              <a:spLocks noChangeShapeType="1"/>
            </p:cNvSpPr>
            <p:nvPr/>
          </p:nvSpPr>
          <p:spPr bwMode="auto">
            <a:xfrm>
              <a:off x="2695" y="2000"/>
              <a:ext cx="617"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35" name="Freeform 94"/>
            <p:cNvSpPr/>
            <p:nvPr/>
          </p:nvSpPr>
          <p:spPr bwMode="auto">
            <a:xfrm>
              <a:off x="2708" y="1869"/>
              <a:ext cx="536" cy="243"/>
            </a:xfrm>
            <a:custGeom>
              <a:avLst/>
              <a:gdLst>
                <a:gd name="T0" fmla="*/ 2 w 690"/>
                <a:gd name="T1" fmla="*/ 4 h 274"/>
                <a:gd name="T2" fmla="*/ 2 w 690"/>
                <a:gd name="T3" fmla="*/ 4 h 274"/>
                <a:gd name="T4" fmla="*/ 2 w 690"/>
                <a:gd name="T5" fmla="*/ 19 h 274"/>
                <a:gd name="T6" fmla="*/ 3 w 690"/>
                <a:gd name="T7" fmla="*/ 20 h 274"/>
                <a:gd name="T8" fmla="*/ 3 w 690"/>
                <a:gd name="T9" fmla="*/ 6 h 274"/>
                <a:gd name="T10" fmla="*/ 2 w 690"/>
                <a:gd name="T11" fmla="*/ 4 h 274"/>
                <a:gd name="T12" fmla="*/ 0 60000 65536"/>
                <a:gd name="T13" fmla="*/ 0 60000 65536"/>
                <a:gd name="T14" fmla="*/ 0 60000 65536"/>
                <a:gd name="T15" fmla="*/ 0 60000 65536"/>
                <a:gd name="T16" fmla="*/ 0 60000 65536"/>
                <a:gd name="T17" fmla="*/ 0 60000 65536"/>
                <a:gd name="T18" fmla="*/ 0 w 690"/>
                <a:gd name="T19" fmla="*/ 0 h 274"/>
                <a:gd name="T20" fmla="*/ 690 w 690"/>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690" h="274">
                  <a:moveTo>
                    <a:pt x="391" y="60"/>
                  </a:moveTo>
                  <a:cubicBezTo>
                    <a:pt x="297" y="52"/>
                    <a:pt x="123" y="0"/>
                    <a:pt x="73" y="30"/>
                  </a:cubicBezTo>
                  <a:cubicBezTo>
                    <a:pt x="23" y="60"/>
                    <a:pt x="0" y="202"/>
                    <a:pt x="88" y="238"/>
                  </a:cubicBezTo>
                  <a:cubicBezTo>
                    <a:pt x="176" y="274"/>
                    <a:pt x="508" y="272"/>
                    <a:pt x="599" y="245"/>
                  </a:cubicBezTo>
                  <a:cubicBezTo>
                    <a:pt x="690" y="218"/>
                    <a:pt x="671" y="106"/>
                    <a:pt x="636" y="75"/>
                  </a:cubicBezTo>
                  <a:cubicBezTo>
                    <a:pt x="601" y="44"/>
                    <a:pt x="485" y="68"/>
                    <a:pt x="391" y="60"/>
                  </a:cubicBez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36" name="Line 95"/>
            <p:cNvSpPr>
              <a:spLocks noChangeShapeType="1"/>
            </p:cNvSpPr>
            <p:nvPr/>
          </p:nvSpPr>
          <p:spPr bwMode="auto">
            <a:xfrm>
              <a:off x="3329" y="1993"/>
              <a:ext cx="217" cy="2"/>
            </a:xfrm>
            <a:prstGeom prst="line">
              <a:avLst/>
            </a:prstGeom>
            <a:noFill/>
            <a:ln w="9525">
              <a:solidFill>
                <a:schemeClr val="tx1"/>
              </a:solidFill>
              <a:prstDash val="dash"/>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nvGrpSpPr>
            <p:cNvPr id="345137" name="Group 96"/>
            <p:cNvGrpSpPr/>
            <p:nvPr/>
          </p:nvGrpSpPr>
          <p:grpSpPr bwMode="auto">
            <a:xfrm>
              <a:off x="1168" y="1464"/>
              <a:ext cx="416" cy="175"/>
              <a:chOff x="3600" y="219"/>
              <a:chExt cx="360" cy="175"/>
            </a:xfrm>
          </p:grpSpPr>
          <p:sp>
            <p:nvSpPr>
              <p:cNvPr id="345138" name="Oval 97"/>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5139" name="Line 98"/>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40" name="Line 99"/>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41" name="Rectangle 100"/>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endParaRPr kumimoji="0" lang="zh-CN" altLang="en-US" sz="2400" b="0" i="0" u="none" strike="noStrike" kern="1200" cap="none" spc="0" normalizeH="0" baseline="0" noProof="0">
                  <a:ln>
                    <a:noFill/>
                  </a:ln>
                  <a:solidFill>
                    <a:srgbClr val="000000"/>
                  </a:solidFill>
                  <a:effectLst/>
                  <a:uLnTx/>
                  <a:uFillTx/>
                  <a:latin typeface="Times New Roman" panose="02020503050405090304" charset="0"/>
                  <a:ea typeface="宋体" pitchFamily="2" charset="-122"/>
                  <a:cs typeface="Arial" panose="020B0604020202090204" pitchFamily="34" charset="0"/>
                </a:endParaRPr>
              </a:p>
            </p:txBody>
          </p:sp>
          <p:sp>
            <p:nvSpPr>
              <p:cNvPr id="345142" name="Oval 101"/>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grpSp>
            <p:nvGrpSpPr>
              <p:cNvPr id="345143" name="Group 102"/>
              <p:cNvGrpSpPr/>
              <p:nvPr/>
            </p:nvGrpSpPr>
            <p:grpSpPr bwMode="auto">
              <a:xfrm>
                <a:off x="3686" y="244"/>
                <a:ext cx="177" cy="66"/>
                <a:chOff x="2848" y="848"/>
                <a:chExt cx="140" cy="98"/>
              </a:xfrm>
            </p:grpSpPr>
            <p:sp>
              <p:nvSpPr>
                <p:cNvPr id="345148" name="Line 10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49" name="Line 10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50" name="Line 105"/>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nvGrpSpPr>
              <p:cNvPr id="345144" name="Group 106"/>
              <p:cNvGrpSpPr/>
              <p:nvPr/>
            </p:nvGrpSpPr>
            <p:grpSpPr bwMode="auto">
              <a:xfrm flipV="1">
                <a:off x="3686" y="243"/>
                <a:ext cx="177" cy="66"/>
                <a:chOff x="2848" y="848"/>
                <a:chExt cx="140" cy="98"/>
              </a:xfrm>
            </p:grpSpPr>
            <p:sp>
              <p:nvSpPr>
                <p:cNvPr id="345145" name="Line 107"/>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46" name="Line 108"/>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47" name="Line 109"/>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grpSp>
        </p:grpSp>
      </p:grpSp>
      <p:grpSp>
        <p:nvGrpSpPr>
          <p:cNvPr id="21" name="Group 110"/>
          <p:cNvGrpSpPr/>
          <p:nvPr/>
        </p:nvGrpSpPr>
        <p:grpSpPr bwMode="auto">
          <a:xfrm>
            <a:off x="4738688" y="5032375"/>
            <a:ext cx="896937" cy="576263"/>
            <a:chOff x="2985" y="3170"/>
            <a:chExt cx="565" cy="363"/>
          </a:xfrm>
        </p:grpSpPr>
        <p:sp>
          <p:nvSpPr>
            <p:cNvPr id="345103" name="Line 111"/>
            <p:cNvSpPr>
              <a:spLocks noChangeShapeType="1"/>
            </p:cNvSpPr>
            <p:nvPr/>
          </p:nvSpPr>
          <p:spPr bwMode="auto">
            <a:xfrm flipV="1">
              <a:off x="2985" y="3330"/>
              <a:ext cx="345" cy="203"/>
            </a:xfrm>
            <a:prstGeom prst="line">
              <a:avLst/>
            </a:prstGeom>
            <a:noFill/>
            <a:ln w="19050">
              <a:solidFill>
                <a:srgbClr val="FF0000"/>
              </a:solidFill>
              <a:rou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04" name="Text Box 112"/>
            <p:cNvSpPr txBox="1">
              <a:spLocks noChangeArrowheads="1"/>
            </p:cNvSpPr>
            <p:nvPr/>
          </p:nvSpPr>
          <p:spPr bwMode="auto">
            <a:xfrm>
              <a:off x="3306" y="3170"/>
              <a:ext cx="2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A</a:t>
              </a:r>
            </a:p>
          </p:txBody>
        </p:sp>
      </p:grpSp>
      <p:grpSp>
        <p:nvGrpSpPr>
          <p:cNvPr id="22" name="Group 113"/>
          <p:cNvGrpSpPr/>
          <p:nvPr/>
        </p:nvGrpSpPr>
        <p:grpSpPr bwMode="auto">
          <a:xfrm>
            <a:off x="6551613" y="4995863"/>
            <a:ext cx="863600" cy="576262"/>
            <a:chOff x="2985" y="3170"/>
            <a:chExt cx="544" cy="363"/>
          </a:xfrm>
        </p:grpSpPr>
        <p:sp>
          <p:nvSpPr>
            <p:cNvPr id="345101" name="Line 114"/>
            <p:cNvSpPr>
              <a:spLocks noChangeShapeType="1"/>
            </p:cNvSpPr>
            <p:nvPr/>
          </p:nvSpPr>
          <p:spPr bwMode="auto">
            <a:xfrm flipV="1">
              <a:off x="2985" y="3330"/>
              <a:ext cx="345" cy="203"/>
            </a:xfrm>
            <a:prstGeom prst="line">
              <a:avLst/>
            </a:prstGeom>
            <a:noFill/>
            <a:ln w="19050">
              <a:solidFill>
                <a:srgbClr val="FF0000"/>
              </a:solidFill>
              <a:rou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5102" name="Text Box 115"/>
            <p:cNvSpPr txBox="1">
              <a:spLocks noChangeArrowheads="1"/>
            </p:cNvSpPr>
            <p:nvPr/>
          </p:nvSpPr>
          <p:spPr bwMode="auto">
            <a:xfrm>
              <a:off x="3306" y="3170"/>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5</a:t>
              </a:r>
            </a:p>
          </p:txBody>
        </p:sp>
      </p:grpSp>
      <p:grpSp>
        <p:nvGrpSpPr>
          <p:cNvPr id="23" name="Group 116"/>
          <p:cNvGrpSpPr/>
          <p:nvPr/>
        </p:nvGrpSpPr>
        <p:grpSpPr bwMode="auto">
          <a:xfrm>
            <a:off x="2082800" y="703263"/>
            <a:ext cx="3730625" cy="1724025"/>
            <a:chOff x="1312" y="443"/>
            <a:chExt cx="2350" cy="1086"/>
          </a:xfrm>
        </p:grpSpPr>
        <p:sp>
          <p:nvSpPr>
            <p:cNvPr id="345098" name="Text Box 117"/>
            <p:cNvSpPr txBox="1">
              <a:spLocks noChangeArrowheads="1"/>
            </p:cNvSpPr>
            <p:nvPr/>
          </p:nvSpPr>
          <p:spPr bwMode="auto">
            <a:xfrm>
              <a:off x="1312" y="639"/>
              <a:ext cx="1454" cy="728"/>
            </a:xfrm>
            <a:prstGeom prst="rect">
              <a:avLst/>
            </a:prstGeom>
            <a:noFill/>
            <a:ln w="28575">
              <a:solidFill>
                <a:srgbClr val="CC0000"/>
              </a:solidFill>
              <a:miter lim="800000"/>
            </a:ln>
            <a:extLst>
              <a:ext uri="{909E8E84-426E-40DD-AFC4-6F175D3DCCD1}">
                <a14:hiddenFill xmlns:a14="http://schemas.microsoft.com/office/drawing/2010/main">
                  <a:solidFill>
                    <a:srgbClr val="FFFFFF"/>
                  </a:solidFill>
                </a14:hiddenFill>
              </a:ext>
            </a:extLst>
          </p:spPr>
          <p:txBody>
            <a:bodyPr lIns="0" tIns="0" rIns="0" bIns="0">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600" b="1" i="0" u="none" strike="noStrike" kern="1200" cap="none" spc="0" normalizeH="0" baseline="0" noProof="0">
                  <a:ln>
                    <a:noFill/>
                  </a:ln>
                  <a:solidFill>
                    <a:srgbClr val="3333CC"/>
                  </a:solidFill>
                  <a:effectLst/>
                  <a:uLnTx/>
                  <a:uFillTx/>
                  <a:latin typeface="Comic Sans MS" panose="030F0902030302020204" pitchFamily="66" charset="0"/>
                  <a:ea typeface="宋体" pitchFamily="2" charset="-122"/>
                  <a:cs typeface="Arial" panose="020B0604020202090204" pitchFamily="34" charset="0"/>
                </a:rPr>
                <a:t> </a:t>
              </a:r>
              <a:r>
                <a:rPr kumimoji="0" lang="en-US" altLang="zh-CN" sz="1600" b="1" i="0" u="none" strike="noStrike" kern="1200" cap="none" spc="0" normalizeH="0" baseline="0" noProof="0">
                  <a:ln>
                    <a:noFill/>
                  </a:ln>
                  <a:solidFill>
                    <a:srgbClr val="000099"/>
                  </a:solidFill>
                  <a:effectLst/>
                  <a:uLnTx/>
                  <a:uFillTx/>
                  <a:latin typeface="Arial" panose="020B0604020202090204" pitchFamily="34" charset="0"/>
                  <a:ea typeface="宋体" pitchFamily="2" charset="-122"/>
                  <a:cs typeface="Arial" panose="020B0604020202090204" pitchFamily="34" charset="0"/>
                </a:rPr>
                <a:t>dest     next  hops</a:t>
              </a:r>
            </a:p>
            <a:p>
              <a:pPr marL="0" marR="0" lvl="0" indent="0" algn="l" defTabSz="914400" rtl="0" eaLnBrk="0" fontAlgn="base" latinLnBrk="0" hangingPunct="0">
                <a:lnSpc>
                  <a:spcPct val="90000"/>
                </a:lnSpc>
                <a:spcBef>
                  <a:spcPct val="0"/>
                </a:spcBef>
                <a:spcAft>
                  <a:spcPct val="0"/>
                </a:spcAft>
                <a:buClrTx/>
                <a:buSzTx/>
                <a:buFontTx/>
                <a:buNone/>
                <a:defRPr/>
              </a:pPr>
              <a:r>
                <a:rPr kumimoji="0" lang="en-US" altLang="zh-CN" sz="1600" b="1"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a:t>
              </a:r>
              <a:r>
                <a:rPr kumimoji="0" lang="en-US" altLang="zh-CN" sz="1600" b="0" i="0" u="none" strike="noStrike" kern="1200" cap="none" spc="0" normalizeH="0" baseline="0" noProof="0">
                  <a:ln>
                    <a:noFill/>
                  </a:ln>
                  <a:solidFill>
                    <a:srgbClr val="FF0000"/>
                  </a:solidFill>
                  <a:effectLst/>
                  <a:uLnTx/>
                  <a:uFillTx/>
                  <a:latin typeface="Arial" panose="020B0604020202090204" pitchFamily="34" charset="0"/>
                  <a:ea typeface="宋体" pitchFamily="2" charset="-122"/>
                  <a:cs typeface="Arial" panose="020B0604020202090204" pitchFamily="34" charset="0"/>
                </a:rPr>
                <a:t>w</a:t>
              </a:r>
              <a:r>
                <a:rPr kumimoji="0" lang="en-US" altLang="zh-CN" sz="16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       1</a:t>
              </a:r>
            </a:p>
            <a:p>
              <a:pPr marL="0" marR="0" lvl="0" indent="0" algn="l" defTabSz="914400" rtl="0" eaLnBrk="0" fontAlgn="base" latinLnBrk="0" hangingPunct="0">
                <a:lnSpc>
                  <a:spcPct val="90000"/>
                </a:lnSpc>
                <a:spcBef>
                  <a:spcPct val="0"/>
                </a:spcBef>
                <a:spcAft>
                  <a:spcPct val="0"/>
                </a:spcAft>
                <a:buClrTx/>
                <a:buSzTx/>
                <a:buFontTx/>
                <a:buNone/>
                <a:defRPr/>
              </a:pPr>
              <a:r>
                <a:rPr kumimoji="0" lang="en-US" altLang="zh-CN" sz="16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a:t>
              </a:r>
              <a:r>
                <a:rPr kumimoji="0" lang="en-US" altLang="zh-CN" sz="1600" b="0" i="0" u="none" strike="noStrike" kern="1200" cap="none" spc="0" normalizeH="0" baseline="0" noProof="0">
                  <a:ln>
                    <a:noFill/>
                  </a:ln>
                  <a:solidFill>
                    <a:srgbClr val="FF0000"/>
                  </a:solidFill>
                  <a:effectLst/>
                  <a:uLnTx/>
                  <a:uFillTx/>
                  <a:latin typeface="Arial" panose="020B0604020202090204" pitchFamily="34" charset="0"/>
                  <a:ea typeface="宋体" pitchFamily="2" charset="-122"/>
                  <a:cs typeface="Arial" panose="020B0604020202090204" pitchFamily="34" charset="0"/>
                </a:rPr>
                <a:t>x</a:t>
              </a:r>
              <a:r>
                <a:rPr kumimoji="0" lang="en-US" altLang="zh-CN" sz="16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       1</a:t>
              </a:r>
            </a:p>
            <a:p>
              <a:pPr marL="0" marR="0" lvl="0" indent="0" algn="l" defTabSz="914400" rtl="0" eaLnBrk="0" fontAlgn="base" latinLnBrk="0" hangingPunct="0">
                <a:lnSpc>
                  <a:spcPct val="90000"/>
                </a:lnSpc>
                <a:spcBef>
                  <a:spcPct val="0"/>
                </a:spcBef>
                <a:spcAft>
                  <a:spcPct val="0"/>
                </a:spcAft>
                <a:buClrTx/>
                <a:buSzTx/>
                <a:buFontTx/>
                <a:buNone/>
                <a:defRPr/>
              </a:pPr>
              <a:r>
                <a:rPr kumimoji="0" lang="en-US" altLang="zh-CN" sz="1600" b="0" i="0" u="none" strike="noStrike" kern="1200" cap="none" spc="0" normalizeH="0" baseline="0" noProof="0">
                  <a:ln>
                    <a:noFill/>
                  </a:ln>
                  <a:solidFill>
                    <a:srgbClr val="FF0000"/>
                  </a:solidFill>
                  <a:effectLst/>
                  <a:uLnTx/>
                  <a:uFillTx/>
                  <a:latin typeface="Arial" panose="020B0604020202090204" pitchFamily="34" charset="0"/>
                  <a:ea typeface="宋体" pitchFamily="2" charset="-122"/>
                  <a:cs typeface="Arial" panose="020B0604020202090204" pitchFamily="34" charset="0"/>
                </a:rPr>
                <a:t>   z</a:t>
              </a:r>
              <a:r>
                <a:rPr kumimoji="0" lang="en-US" altLang="zh-CN" sz="16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C      4</a:t>
              </a:r>
            </a:p>
            <a:p>
              <a:pPr marL="0" marR="0" lvl="0" indent="0" algn="l" defTabSz="914400" rtl="0" eaLnBrk="0" fontAlgn="base" latinLnBrk="0" hangingPunct="0">
                <a:lnSpc>
                  <a:spcPct val="90000"/>
                </a:lnSpc>
                <a:spcBef>
                  <a:spcPct val="0"/>
                </a:spcBef>
                <a:spcAft>
                  <a:spcPct val="0"/>
                </a:spcAft>
                <a:buClrTx/>
                <a:buSzTx/>
                <a:buFontTx/>
                <a:buNone/>
                <a:defRPr/>
              </a:pPr>
              <a:r>
                <a:rPr kumimoji="0" lang="en-US" altLang="zh-CN" sz="16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   ….	  …     ...</a:t>
              </a:r>
            </a:p>
          </p:txBody>
        </p:sp>
        <p:sp>
          <p:nvSpPr>
            <p:cNvPr id="345099" name="Text Box 118"/>
            <p:cNvSpPr txBox="1">
              <a:spLocks noChangeArrowheads="1"/>
            </p:cNvSpPr>
            <p:nvPr/>
          </p:nvSpPr>
          <p:spPr bwMode="auto">
            <a:xfrm>
              <a:off x="2230" y="443"/>
              <a:ext cx="14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6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A-to-D advertisement</a:t>
              </a:r>
            </a:p>
          </p:txBody>
        </p:sp>
        <p:sp>
          <p:nvSpPr>
            <p:cNvPr id="345100" name="AutoShape 119"/>
            <p:cNvSpPr>
              <a:spLocks noChangeArrowheads="1"/>
            </p:cNvSpPr>
            <p:nvPr/>
          </p:nvSpPr>
          <p:spPr bwMode="auto">
            <a:xfrm>
              <a:off x="1349" y="1271"/>
              <a:ext cx="1285" cy="258"/>
            </a:xfrm>
            <a:prstGeom prst="curvedDownArrow">
              <a:avLst>
                <a:gd name="adj1" fmla="val 99612"/>
                <a:gd name="adj2" fmla="val 199225"/>
                <a:gd name="adj3" fmla="val 33333"/>
              </a:avLst>
            </a:prstGeom>
            <a:gradFill rotWithShape="1">
              <a:gsLst>
                <a:gs pos="0">
                  <a:schemeClr val="bg1"/>
                </a:gs>
                <a:gs pos="100000">
                  <a:schemeClr val="accent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left)">
                                      <p:cBhvr>
                                        <p:cTn id="7" dur="10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wipe(left)">
                                      <p:cBhvr>
                                        <p:cTn id="12" dur="1000"/>
                                        <p:tgtEl>
                                          <p:spTgt spid="21"/>
                                        </p:tgtEl>
                                      </p:cBhvr>
                                    </p:animEffect>
                                  </p:childTnLst>
                                </p:cTn>
                              </p:par>
                              <p:par>
                                <p:cTn id="13" presetID="22" presetClass="entr" presetSubtype="8" fill="hold" nodeType="with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wipe(left)">
                                      <p:cBhvr>
                                        <p:cTn id="15"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3" name="页脚占位符 4"/>
          <p:cNvSpPr>
            <a:spLocks noGrp="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Network Layer</a:t>
            </a:r>
          </a:p>
        </p:txBody>
      </p:sp>
      <p:sp>
        <p:nvSpPr>
          <p:cNvPr id="346114" name="灯片编号占位符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4-</a:t>
            </a:r>
            <a:fld id="{A474C647-C411-8B47-9944-C028229D452C}" type="slidenum">
              <a:rPr kumimoji="0" lang="en-US" altLang="zh-CN" sz="12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Arial" panose="020B0604020202090204" pitchFamily="34" charset="0"/>
              </a:rPr>
              <a:t>59</a:t>
            </a:fld>
            <a:endPar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endParaRPr>
          </a:p>
        </p:txBody>
      </p:sp>
      <p:sp>
        <p:nvSpPr>
          <p:cNvPr id="346115" name="Rectangle 2"/>
          <p:cNvSpPr>
            <a:spLocks noGrp="1" noChangeArrowheads="1"/>
          </p:cNvSpPr>
          <p:nvPr>
            <p:ph type="title"/>
          </p:nvPr>
        </p:nvSpPr>
        <p:spPr/>
        <p:txBody>
          <a:bodyPr/>
          <a:lstStyle/>
          <a:p>
            <a:pPr eaLnBrk="1" hangingPunct="1"/>
            <a:r>
              <a:rPr lang="en-US" altLang="zh-CN" sz="3600">
                <a:ea typeface="宋体" pitchFamily="2" charset="-122"/>
              </a:rPr>
              <a:t>RIP: Link Failure and Recovery</a:t>
            </a:r>
            <a:r>
              <a:rPr lang="en-US" altLang="zh-CN">
                <a:ea typeface="宋体" pitchFamily="2" charset="-122"/>
              </a:rPr>
              <a:t> </a:t>
            </a:r>
          </a:p>
        </p:txBody>
      </p:sp>
      <p:sp>
        <p:nvSpPr>
          <p:cNvPr id="346116" name="Rectangle 3"/>
          <p:cNvSpPr>
            <a:spLocks noGrp="1" noChangeArrowheads="1"/>
          </p:cNvSpPr>
          <p:nvPr>
            <p:ph type="body" idx="1"/>
          </p:nvPr>
        </p:nvSpPr>
        <p:spPr>
          <a:xfrm>
            <a:off x="533400" y="1371600"/>
            <a:ext cx="8229600" cy="5181600"/>
          </a:xfrm>
        </p:spPr>
        <p:txBody>
          <a:bodyPr/>
          <a:lstStyle/>
          <a:p>
            <a:pPr eaLnBrk="1" hangingPunct="1">
              <a:buFont typeface="Wingdings" panose="05000000000000000000" pitchFamily="2" charset="2"/>
              <a:buNone/>
            </a:pPr>
            <a:r>
              <a:rPr kumimoji="0" lang="en-US" altLang="zh-CN" sz="2400">
                <a:ea typeface="宋体" pitchFamily="2" charset="-122"/>
              </a:rPr>
              <a:t>If no advertisement heard after 180 sec --&gt; neighbor/link declared dead</a:t>
            </a:r>
          </a:p>
          <a:p>
            <a:pPr lvl="1" eaLnBrk="1" hangingPunct="1"/>
            <a:r>
              <a:rPr kumimoji="0" lang="en-US" altLang="zh-CN">
                <a:ea typeface="宋体" pitchFamily="2" charset="-122"/>
              </a:rPr>
              <a:t>routes via neighbor invalidated</a:t>
            </a:r>
          </a:p>
          <a:p>
            <a:pPr lvl="1" eaLnBrk="1" hangingPunct="1"/>
            <a:r>
              <a:rPr kumimoji="0" lang="en-US" altLang="zh-CN">
                <a:ea typeface="宋体" pitchFamily="2" charset="-122"/>
              </a:rPr>
              <a:t>new advertisements sent to neighbors</a:t>
            </a:r>
          </a:p>
          <a:p>
            <a:pPr lvl="1" eaLnBrk="1" hangingPunct="1"/>
            <a:r>
              <a:rPr kumimoji="0" lang="en-US" altLang="zh-CN">
                <a:ea typeface="宋体" pitchFamily="2" charset="-122"/>
              </a:rPr>
              <a:t>neighbors in turn send out new advertisements (if tables changed)</a:t>
            </a:r>
          </a:p>
          <a:p>
            <a:pPr lvl="1" eaLnBrk="1" hangingPunct="1"/>
            <a:r>
              <a:rPr kumimoji="0" lang="en-US" altLang="zh-CN">
                <a:ea typeface="宋体" pitchFamily="2" charset="-122"/>
              </a:rPr>
              <a:t>link failure info quickly (?) propagates to entire net</a:t>
            </a:r>
          </a:p>
          <a:p>
            <a:pPr lvl="1" eaLnBrk="1" hangingPunct="1"/>
            <a:r>
              <a:rPr kumimoji="0" lang="en-US" altLang="zh-CN" i="1">
                <a:solidFill>
                  <a:srgbClr val="FF0000"/>
                </a:solidFill>
                <a:ea typeface="宋体" pitchFamily="2" charset="-122"/>
              </a:rPr>
              <a:t>poison reverse</a:t>
            </a:r>
            <a:r>
              <a:rPr kumimoji="0" lang="en-US" altLang="zh-CN">
                <a:ea typeface="宋体" pitchFamily="2" charset="-122"/>
              </a:rPr>
              <a:t> used to prevent ping-pong loops (infinite distance = 16 hops)</a:t>
            </a:r>
          </a:p>
        </p:txBody>
      </p:sp>
    </p:spTree>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7" name="页脚占位符 4"/>
          <p:cNvSpPr>
            <a:spLocks noGrp="1"/>
          </p:cNvSpPr>
          <p:nvPr>
            <p:ph type="ftr" sz="quarter" idx="1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Network Layer</a:t>
            </a:r>
          </a:p>
        </p:txBody>
      </p:sp>
      <p:sp>
        <p:nvSpPr>
          <p:cNvPr id="347138" name="灯片编号占位符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rPr>
              <a:t>4-</a:t>
            </a:r>
            <a:fld id="{6DECE4C6-2BA8-A340-8832-60EA5234D945}" type="slidenum">
              <a:rPr kumimoji="0" lang="en-US" altLang="zh-CN" sz="1200" b="0" i="0" u="none" strike="noStrike" kern="1200" cap="none" spc="0" normalizeH="0" baseline="0" noProof="0" smtClean="0">
                <a:ln>
                  <a:noFill/>
                </a:ln>
                <a:solidFill>
                  <a:srgbClr val="000000"/>
                </a:solidFill>
                <a:effectLst/>
                <a:uLnTx/>
                <a:uFillTx/>
                <a:latin typeface="Arial" panose="020B0604020202090204" pitchFamily="34" charset="0"/>
                <a:ea typeface="宋体" pitchFamily="2" charset="-122"/>
                <a:cs typeface="Arial" panose="020B0604020202090204" pitchFamily="34" charset="0"/>
              </a:rPr>
              <a:t>60</a:t>
            </a:fld>
            <a:endParaRPr kumimoji="0" lang="en-US" altLang="zh-CN" sz="1200" b="0" i="0" u="none" strike="noStrike" kern="1200" cap="none" spc="0" normalizeH="0" baseline="0" noProof="0">
              <a:ln>
                <a:noFill/>
              </a:ln>
              <a:solidFill>
                <a:srgbClr val="000000"/>
              </a:solidFill>
              <a:effectLst/>
              <a:uLnTx/>
              <a:uFillTx/>
              <a:latin typeface="Arial" panose="020B0604020202090204" pitchFamily="34" charset="0"/>
              <a:ea typeface="宋体" pitchFamily="2" charset="-122"/>
              <a:cs typeface="Arial" panose="020B0604020202090204" pitchFamily="34" charset="0"/>
            </a:endParaRPr>
          </a:p>
        </p:txBody>
      </p:sp>
      <p:sp>
        <p:nvSpPr>
          <p:cNvPr id="347139" name="Rectangle 2"/>
          <p:cNvSpPr>
            <a:spLocks noGrp="1" noChangeArrowheads="1"/>
          </p:cNvSpPr>
          <p:nvPr>
            <p:ph type="title"/>
          </p:nvPr>
        </p:nvSpPr>
        <p:spPr/>
        <p:txBody>
          <a:bodyPr/>
          <a:lstStyle/>
          <a:p>
            <a:pPr eaLnBrk="1" hangingPunct="1"/>
            <a:r>
              <a:rPr lang="en-US" altLang="zh-CN" sz="3600">
                <a:ea typeface="宋体" pitchFamily="2" charset="-122"/>
              </a:rPr>
              <a:t>RIP Table processing</a:t>
            </a:r>
          </a:p>
        </p:txBody>
      </p:sp>
      <p:sp>
        <p:nvSpPr>
          <p:cNvPr id="347140" name="Rectangle 3"/>
          <p:cNvSpPr>
            <a:spLocks noGrp="1" noChangeArrowheads="1"/>
          </p:cNvSpPr>
          <p:nvPr>
            <p:ph type="body" idx="1"/>
          </p:nvPr>
        </p:nvSpPr>
        <p:spPr/>
        <p:txBody>
          <a:bodyPr/>
          <a:lstStyle/>
          <a:p>
            <a:pPr eaLnBrk="1" hangingPunct="1"/>
            <a:r>
              <a:rPr kumimoji="0" lang="en-US" altLang="zh-CN" sz="2400">
                <a:ea typeface="宋体" pitchFamily="2" charset="-122"/>
              </a:rPr>
              <a:t>RIP routing tables managed by </a:t>
            </a:r>
            <a:r>
              <a:rPr kumimoji="0" lang="en-US" altLang="zh-CN" sz="2400" b="1">
                <a:ea typeface="宋体" pitchFamily="2" charset="-122"/>
              </a:rPr>
              <a:t>application-level</a:t>
            </a:r>
            <a:r>
              <a:rPr kumimoji="0" lang="en-US" altLang="zh-CN" sz="2400">
                <a:ea typeface="宋体" pitchFamily="2" charset="-122"/>
              </a:rPr>
              <a:t> process called route-d (daemon)</a:t>
            </a:r>
          </a:p>
          <a:p>
            <a:pPr eaLnBrk="1" hangingPunct="1"/>
            <a:r>
              <a:rPr kumimoji="0" lang="en-US" altLang="zh-CN" sz="2400">
                <a:ea typeface="宋体" pitchFamily="2" charset="-122"/>
              </a:rPr>
              <a:t>advertisements sent in UDP packets, periodically repeated</a:t>
            </a:r>
          </a:p>
        </p:txBody>
      </p:sp>
      <p:sp>
        <p:nvSpPr>
          <p:cNvPr id="347141" name="Text Box 4"/>
          <p:cNvSpPr txBox="1">
            <a:spLocks noChangeArrowheads="1"/>
          </p:cNvSpPr>
          <p:nvPr/>
        </p:nvSpPr>
        <p:spPr bwMode="auto">
          <a:xfrm>
            <a:off x="1263650" y="5778500"/>
            <a:ext cx="2655888" cy="376238"/>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physical</a:t>
            </a:r>
          </a:p>
        </p:txBody>
      </p:sp>
      <p:sp>
        <p:nvSpPr>
          <p:cNvPr id="347142" name="Text Box 5"/>
          <p:cNvSpPr txBox="1">
            <a:spLocks noChangeArrowheads="1"/>
          </p:cNvSpPr>
          <p:nvPr/>
        </p:nvSpPr>
        <p:spPr bwMode="auto">
          <a:xfrm>
            <a:off x="1268413" y="5402263"/>
            <a:ext cx="2651125" cy="376237"/>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link</a:t>
            </a:r>
          </a:p>
        </p:txBody>
      </p:sp>
      <p:sp>
        <p:nvSpPr>
          <p:cNvPr id="347143" name="Text Box 6"/>
          <p:cNvSpPr txBox="1">
            <a:spLocks noChangeArrowheads="1"/>
          </p:cNvSpPr>
          <p:nvPr/>
        </p:nvSpPr>
        <p:spPr bwMode="auto">
          <a:xfrm>
            <a:off x="1268413" y="4751388"/>
            <a:ext cx="2651125" cy="650875"/>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network     forwarding</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   (IP)            table</a:t>
            </a:r>
          </a:p>
        </p:txBody>
      </p:sp>
      <p:sp>
        <p:nvSpPr>
          <p:cNvPr id="347144" name="Rectangle 7"/>
          <p:cNvSpPr>
            <a:spLocks noChangeArrowheads="1"/>
          </p:cNvSpPr>
          <p:nvPr/>
        </p:nvSpPr>
        <p:spPr bwMode="auto">
          <a:xfrm>
            <a:off x="2527300" y="4787900"/>
            <a:ext cx="1233488" cy="574675"/>
          </a:xfrm>
          <a:prstGeom prst="rect">
            <a:avLst/>
          </a:prstGeom>
          <a:noFill/>
          <a:ln w="9525">
            <a:solidFill>
              <a:srgbClr val="FF00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7145" name="Text Box 8"/>
          <p:cNvSpPr txBox="1">
            <a:spLocks noChangeArrowheads="1"/>
          </p:cNvSpPr>
          <p:nvPr/>
        </p:nvSpPr>
        <p:spPr bwMode="auto">
          <a:xfrm>
            <a:off x="1268413" y="4100513"/>
            <a:ext cx="2651125" cy="650875"/>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Transport</a:t>
            </a:r>
          </a:p>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  (UDP)</a:t>
            </a:r>
          </a:p>
        </p:txBody>
      </p:sp>
      <p:grpSp>
        <p:nvGrpSpPr>
          <p:cNvPr id="347146" name="Group 9"/>
          <p:cNvGrpSpPr/>
          <p:nvPr/>
        </p:nvGrpSpPr>
        <p:grpSpPr bwMode="auto">
          <a:xfrm>
            <a:off x="2112963" y="3346450"/>
            <a:ext cx="1258887" cy="560388"/>
            <a:chOff x="1315" y="2154"/>
            <a:chExt cx="793" cy="353"/>
          </a:xfrm>
        </p:grpSpPr>
        <p:sp>
          <p:nvSpPr>
            <p:cNvPr id="347160" name="Oval 10"/>
            <p:cNvSpPr>
              <a:spLocks noChangeArrowheads="1"/>
            </p:cNvSpPr>
            <p:nvPr/>
          </p:nvSpPr>
          <p:spPr bwMode="auto">
            <a:xfrm>
              <a:off x="1315" y="2154"/>
              <a:ext cx="793" cy="353"/>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7161" name="Text Box 11"/>
            <p:cNvSpPr txBox="1">
              <a:spLocks noChangeArrowheads="1"/>
            </p:cNvSpPr>
            <p:nvPr/>
          </p:nvSpPr>
          <p:spPr bwMode="auto">
            <a:xfrm>
              <a:off x="1434" y="2211"/>
              <a:ext cx="56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routed</a:t>
              </a:r>
            </a:p>
          </p:txBody>
        </p:sp>
      </p:grpSp>
      <p:sp>
        <p:nvSpPr>
          <p:cNvPr id="347147" name="Line 12"/>
          <p:cNvSpPr>
            <a:spLocks noChangeShapeType="1"/>
          </p:cNvSpPr>
          <p:nvPr/>
        </p:nvSpPr>
        <p:spPr bwMode="auto">
          <a:xfrm flipV="1">
            <a:off x="2381250" y="3883025"/>
            <a:ext cx="0" cy="2038350"/>
          </a:xfrm>
          <a:prstGeom prst="line">
            <a:avLst/>
          </a:prstGeom>
          <a:noFill/>
          <a:ln w="19050">
            <a:solidFill>
              <a:schemeClr val="accent2"/>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7148" name="Text Box 13"/>
          <p:cNvSpPr txBox="1">
            <a:spLocks noChangeArrowheads="1"/>
          </p:cNvSpPr>
          <p:nvPr/>
        </p:nvSpPr>
        <p:spPr bwMode="auto">
          <a:xfrm>
            <a:off x="5324475" y="5784850"/>
            <a:ext cx="2655888" cy="376238"/>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physical</a:t>
            </a:r>
          </a:p>
        </p:txBody>
      </p:sp>
      <p:sp>
        <p:nvSpPr>
          <p:cNvPr id="347149" name="Text Box 14"/>
          <p:cNvSpPr txBox="1">
            <a:spLocks noChangeArrowheads="1"/>
          </p:cNvSpPr>
          <p:nvPr/>
        </p:nvSpPr>
        <p:spPr bwMode="auto">
          <a:xfrm>
            <a:off x="5329238" y="5408613"/>
            <a:ext cx="2651125" cy="376237"/>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link</a:t>
            </a:r>
          </a:p>
        </p:txBody>
      </p:sp>
      <p:sp>
        <p:nvSpPr>
          <p:cNvPr id="347150" name="Text Box 15"/>
          <p:cNvSpPr txBox="1">
            <a:spLocks noChangeArrowheads="1"/>
          </p:cNvSpPr>
          <p:nvPr/>
        </p:nvSpPr>
        <p:spPr bwMode="auto">
          <a:xfrm>
            <a:off x="5329238" y="4757738"/>
            <a:ext cx="2651125" cy="650875"/>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network</a:t>
            </a:r>
          </a:p>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   (IP)</a:t>
            </a:r>
          </a:p>
        </p:txBody>
      </p:sp>
      <p:sp>
        <p:nvSpPr>
          <p:cNvPr id="347151" name="Text Box 16"/>
          <p:cNvSpPr txBox="1">
            <a:spLocks noChangeArrowheads="1"/>
          </p:cNvSpPr>
          <p:nvPr/>
        </p:nvSpPr>
        <p:spPr bwMode="auto">
          <a:xfrm>
            <a:off x="5329238" y="4106863"/>
            <a:ext cx="2651125" cy="650875"/>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Transprt</a:t>
            </a:r>
          </a:p>
          <a:p>
            <a:pPr marL="0" marR="0" lvl="0" indent="0" algn="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  (UDP)</a:t>
            </a:r>
          </a:p>
        </p:txBody>
      </p:sp>
      <p:grpSp>
        <p:nvGrpSpPr>
          <p:cNvPr id="347152" name="Group 17"/>
          <p:cNvGrpSpPr/>
          <p:nvPr/>
        </p:nvGrpSpPr>
        <p:grpSpPr bwMode="auto">
          <a:xfrm>
            <a:off x="5978525" y="3352800"/>
            <a:ext cx="1258888" cy="560388"/>
            <a:chOff x="1315" y="2154"/>
            <a:chExt cx="793" cy="353"/>
          </a:xfrm>
        </p:grpSpPr>
        <p:sp>
          <p:nvSpPr>
            <p:cNvPr id="347158" name="Oval 18"/>
            <p:cNvSpPr>
              <a:spLocks noChangeArrowheads="1"/>
            </p:cNvSpPr>
            <p:nvPr/>
          </p:nvSpPr>
          <p:spPr bwMode="auto">
            <a:xfrm>
              <a:off x="1315" y="2154"/>
              <a:ext cx="793" cy="353"/>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endParaRPr>
            </a:p>
          </p:txBody>
        </p:sp>
        <p:sp>
          <p:nvSpPr>
            <p:cNvPr id="347159" name="Text Box 19"/>
            <p:cNvSpPr txBox="1">
              <a:spLocks noChangeArrowheads="1"/>
            </p:cNvSpPr>
            <p:nvPr/>
          </p:nvSpPr>
          <p:spPr bwMode="auto">
            <a:xfrm>
              <a:off x="1434" y="2211"/>
              <a:ext cx="56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routed</a:t>
              </a:r>
            </a:p>
          </p:txBody>
        </p:sp>
      </p:grpSp>
      <p:sp>
        <p:nvSpPr>
          <p:cNvPr id="347153" name="Line 20"/>
          <p:cNvSpPr>
            <a:spLocks noChangeShapeType="1"/>
          </p:cNvSpPr>
          <p:nvPr/>
        </p:nvSpPr>
        <p:spPr bwMode="auto">
          <a:xfrm flipV="1">
            <a:off x="6784975" y="3925888"/>
            <a:ext cx="0" cy="2038350"/>
          </a:xfrm>
          <a:prstGeom prst="line">
            <a:avLst/>
          </a:prstGeom>
          <a:noFill/>
          <a:ln w="19050">
            <a:solidFill>
              <a:schemeClr val="accent2"/>
            </a:solidFill>
            <a:rou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7154" name="Rectangle 21"/>
          <p:cNvSpPr>
            <a:spLocks noChangeArrowheads="1"/>
          </p:cNvSpPr>
          <p:nvPr/>
        </p:nvSpPr>
        <p:spPr bwMode="auto">
          <a:xfrm>
            <a:off x="5364163" y="4794250"/>
            <a:ext cx="1233487" cy="574675"/>
          </a:xfrm>
          <a:prstGeom prst="rect">
            <a:avLst/>
          </a:prstGeom>
          <a:noFill/>
          <a:ln w="9525">
            <a:solidFill>
              <a:srgbClr val="FF0000"/>
            </a:solidFill>
            <a:miter lim="800000"/>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rgbClr val="000099"/>
              </a:buClr>
              <a:buSzPct val="75000"/>
              <a:buFont typeface="Wingdings" panose="05000000000000000000" pitchFamily="2" charset="2"/>
              <a:buChar char="v"/>
              <a:defRPr kumimoji="1" sz="2800">
                <a:solidFill>
                  <a:schemeClr val="tx1"/>
                </a:solidFill>
                <a:latin typeface="Comic Sans MS" panose="030F0902030302020204" pitchFamily="66" charset="0"/>
                <a:ea typeface="宋体" pitchFamily="2" charset="-122"/>
                <a:cs typeface="Arial" panose="020B0604020202090204" pitchFamily="34" charset="0"/>
              </a:defRPr>
            </a:lvl1pPr>
            <a:lvl2pPr marL="742950" indent="-285750">
              <a:spcBef>
                <a:spcPct val="20000"/>
              </a:spcBef>
              <a:buClr>
                <a:srgbClr val="000099"/>
              </a:buClr>
              <a:buFont typeface="Wingdings" panose="05000000000000000000" pitchFamily="2" charset="2"/>
              <a:buChar char="§"/>
              <a:defRPr kumimoji="1" sz="2400">
                <a:solidFill>
                  <a:schemeClr val="tx1"/>
                </a:solidFill>
                <a:latin typeface="Comic Sans MS" panose="030F0902030302020204" pitchFamily="66" charset="0"/>
                <a:ea typeface="Arial" panose="020B0604020202090204" pitchFamily="34" charset="0"/>
                <a:cs typeface="Arial" panose="020B0604020202090204" pitchFamily="34" charset="0"/>
              </a:defRPr>
            </a:lvl2pPr>
            <a:lvl3pPr marL="1143000" indent="-228600">
              <a:spcBef>
                <a:spcPct val="20000"/>
              </a:spcBef>
              <a:buChar char="•"/>
              <a:defRPr kumimoji="1" sz="2000">
                <a:solidFill>
                  <a:schemeClr val="tx1"/>
                </a:solidFill>
                <a:latin typeface="Comic Sans MS" panose="030F0902030302020204" pitchFamily="66" charset="0"/>
                <a:ea typeface="Arial" panose="020B0604020202090204" pitchFamily="34" charset="0"/>
                <a:cs typeface="Arial" panose="020B0604020202090204" pitchFamily="34" charset="0"/>
              </a:defRPr>
            </a:lvl3pPr>
            <a:lvl4pPr marL="16002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4pPr>
            <a:lvl5pPr marL="2057400" indent="-228600">
              <a:spcBef>
                <a:spcPct val="20000"/>
              </a:spcBef>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5pPr>
            <a:lvl6pPr marL="25146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6pPr>
            <a:lvl7pPr marL="29718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7pPr>
            <a:lvl8pPr marL="34290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8pPr>
            <a:lvl9pPr marL="3886200" indent="-228600" eaLnBrk="0" fontAlgn="base" hangingPunct="0">
              <a:spcBef>
                <a:spcPct val="20000"/>
              </a:spcBef>
              <a:spcAft>
                <a:spcPct val="0"/>
              </a:spcAft>
              <a:buChar char="»"/>
              <a:defRPr kumimoji="1" sz="2000">
                <a:solidFill>
                  <a:schemeClr val="tx1"/>
                </a:solidFill>
                <a:latin typeface="Times New Roman" panose="02020503050405090304" charset="0"/>
                <a:ea typeface="Arial" panose="020B0604020202090204" pitchFamily="34" charset="0"/>
                <a:cs typeface="Arial" panose="020B060402020209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forwarding</a:t>
            </a:r>
          </a:p>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pitchFamily="34" charset="0"/>
              </a:rPr>
              <a:t>table</a:t>
            </a:r>
          </a:p>
        </p:txBody>
      </p:sp>
      <p:sp>
        <p:nvSpPr>
          <p:cNvPr id="347155" name="Line 22"/>
          <p:cNvSpPr>
            <a:spLocks noChangeShapeType="1"/>
          </p:cNvSpPr>
          <p:nvPr/>
        </p:nvSpPr>
        <p:spPr bwMode="auto">
          <a:xfrm>
            <a:off x="2381250" y="5910263"/>
            <a:ext cx="4408488" cy="0"/>
          </a:xfrm>
          <a:prstGeom prst="line">
            <a:avLst/>
          </a:prstGeom>
          <a:noFill/>
          <a:ln w="19050">
            <a:solidFill>
              <a:schemeClr val="accent2"/>
            </a:solidFill>
            <a:rou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7156" name="Line 23"/>
          <p:cNvSpPr>
            <a:spLocks noChangeShapeType="1"/>
          </p:cNvSpPr>
          <p:nvPr/>
        </p:nvSpPr>
        <p:spPr bwMode="auto">
          <a:xfrm>
            <a:off x="2894013" y="3932238"/>
            <a:ext cx="0" cy="866775"/>
          </a:xfrm>
          <a:prstGeom prst="line">
            <a:avLst/>
          </a:prstGeom>
          <a:noFill/>
          <a:ln w="1905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
        <p:nvSpPr>
          <p:cNvPr id="347157" name="Line 24"/>
          <p:cNvSpPr>
            <a:spLocks noChangeShapeType="1"/>
          </p:cNvSpPr>
          <p:nvPr/>
        </p:nvSpPr>
        <p:spPr bwMode="auto">
          <a:xfrm>
            <a:off x="6380163" y="3900488"/>
            <a:ext cx="0" cy="866775"/>
          </a:xfrm>
          <a:prstGeom prst="line">
            <a:avLst/>
          </a:prstGeom>
          <a:noFill/>
          <a:ln w="1905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1800" b="0" i="0" u="none" strike="noStrike" kern="1200" cap="none" spc="0" normalizeH="0" baseline="0" noProof="0">
              <a:ln>
                <a:noFill/>
              </a:ln>
              <a:solidFill>
                <a:srgbClr val="000000"/>
              </a:solidFill>
              <a:effectLst/>
              <a:uLnTx/>
              <a:uFillTx/>
              <a:latin typeface="Comic Sans MS" panose="030F0902030302020204" pitchFamily="66" charset="0"/>
              <a:ea typeface="宋体" pitchFamily="2" charset="-122"/>
              <a:cs typeface="Arial" panose="020B0604020202090204"/>
            </a:endParaRPr>
          </a:p>
        </p:txBody>
      </p:sp>
    </p:spTree>
  </p:cSld>
  <p:clrMapOvr>
    <a:masterClrMapping/>
  </p:clrMapOvr>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p:spPr>
      </p:pic>
      <p:sp>
        <p:nvSpPr>
          <p:cNvPr id="43012" name="Rectangle 3"/>
          <p:cNvSpPr>
            <a:spLocks noGrp="1" noChangeArrowheads="1"/>
          </p:cNvSpPr>
          <p:nvPr>
            <p:ph type="body" sz="half" idx="1"/>
          </p:nvPr>
        </p:nvSpPr>
        <p:spPr/>
        <p:txBody>
          <a:bodyPr/>
          <a:lstStyle/>
          <a:p>
            <a:pPr>
              <a:lnSpc>
                <a:spcPct val="100000"/>
              </a:lnSpc>
              <a:buFont typeface="Wingdings" panose="05000000000000000000" charset="0"/>
              <a:buNone/>
            </a:pPr>
            <a:r>
              <a:rPr lang="en-US" sz="2400" dirty="0">
                <a:latin typeface="Gill Sans MT" pitchFamily="34" charset="0"/>
              </a:rPr>
              <a:t>5.1 introduction</a:t>
            </a:r>
          </a:p>
          <a:p>
            <a:pPr>
              <a:lnSpc>
                <a:spcPct val="100000"/>
              </a:lnSpc>
              <a:buFont typeface="Wingdings" panose="05000000000000000000" charset="0"/>
              <a:buNone/>
            </a:pPr>
            <a:r>
              <a:rPr lang="en-US" sz="2400" dirty="0">
                <a:latin typeface="Gill Sans MT" pitchFamily="34" charset="0"/>
              </a:rPr>
              <a:t>5.2 routing protocols</a:t>
            </a:r>
          </a:p>
          <a:p>
            <a:pPr>
              <a:lnSpc>
                <a:spcPct val="100000"/>
              </a:lnSpc>
            </a:pPr>
            <a:r>
              <a:rPr lang="en-US" sz="2400" dirty="0">
                <a:latin typeface="Gill Sans MT" pitchFamily="34" charset="0"/>
              </a:rPr>
              <a:t>link state</a:t>
            </a:r>
          </a:p>
          <a:p>
            <a:pPr>
              <a:lnSpc>
                <a:spcPct val="100000"/>
              </a:lnSpc>
            </a:pPr>
            <a:r>
              <a:rPr lang="en-US" sz="2400" dirty="0">
                <a:latin typeface="Gill Sans MT" pitchFamily="34" charset="0"/>
              </a:rPr>
              <a:t>distance vector</a:t>
            </a:r>
          </a:p>
          <a:p>
            <a:pPr marL="462280" indent="-462280">
              <a:lnSpc>
                <a:spcPct val="100000"/>
              </a:lnSpc>
              <a:buNone/>
            </a:pPr>
            <a:r>
              <a:rPr lang="en-US" sz="2400" dirty="0">
                <a:solidFill>
                  <a:srgbClr val="CC0000"/>
                </a:solidFill>
              </a:rPr>
              <a:t>5.3 intra-AS routing in the Internet: OSPF</a:t>
            </a:r>
          </a:p>
          <a:p>
            <a:pPr marL="462280" indent="-462280">
              <a:lnSpc>
                <a:spcPct val="100000"/>
              </a:lnSpc>
              <a:buNone/>
            </a:pPr>
            <a:r>
              <a:rPr lang="en-US" sz="2400" dirty="0"/>
              <a:t>5.4 routing among the ISPs: BGP</a:t>
            </a:r>
            <a:endParaRPr lang="en-US" sz="2400" dirty="0">
              <a:latin typeface="Gill Sans MT" pitchFamily="34" charset="0"/>
            </a:endParaRPr>
          </a:p>
        </p:txBody>
      </p:sp>
      <p:sp>
        <p:nvSpPr>
          <p:cNvPr id="43013" name="Rectangle 4"/>
          <p:cNvSpPr>
            <a:spLocks noGrp="1" noChangeArrowheads="1"/>
          </p:cNvSpPr>
          <p:nvPr>
            <p:ph type="body" sz="half" idx="2"/>
          </p:nvPr>
        </p:nvSpPr>
        <p:spPr/>
        <p:txBody>
          <a:bodyPr/>
          <a:lstStyle/>
          <a:p>
            <a:pPr marL="462280" indent="-462280">
              <a:lnSpc>
                <a:spcPct val="100000"/>
              </a:lnSpc>
              <a:buFont typeface="Wingdings" panose="05000000000000000000" charset="0"/>
              <a:buNone/>
            </a:pPr>
            <a:r>
              <a:rPr lang="en-US" sz="2400" dirty="0">
                <a:latin typeface="Gill Sans MT" pitchFamily="34" charset="0"/>
              </a:rPr>
              <a:t>5.5 The SDN control plane</a:t>
            </a:r>
          </a:p>
          <a:p>
            <a:pPr marL="462280" indent="-462280">
              <a:lnSpc>
                <a:spcPct val="100000"/>
              </a:lnSpc>
              <a:buNone/>
            </a:pPr>
            <a:r>
              <a:rPr lang="en-US" sz="2400" dirty="0">
                <a:solidFill>
                  <a:srgbClr val="000000"/>
                </a:solidFill>
              </a:rPr>
              <a:t>5.6 ICMP: The Internet Control Message Protocol </a:t>
            </a:r>
          </a:p>
          <a:p>
            <a:pPr marL="462280" indent="-462280">
              <a:lnSpc>
                <a:spcPct val="100000"/>
              </a:lnSpc>
              <a:buNone/>
            </a:pPr>
            <a:r>
              <a:rPr lang="en-US" sz="2400" dirty="0"/>
              <a:t>5.7 Network management and SNMP</a:t>
            </a:r>
            <a:endParaRPr lang="en-US" sz="2400" dirty="0">
              <a:latin typeface="Gill Sans MT" pitchFamily="34" charset="0"/>
            </a:endParaRPr>
          </a:p>
        </p:txBody>
      </p:sp>
      <p:sp>
        <p:nvSpPr>
          <p:cNvPr id="43014" name="Rectangle 2"/>
          <p:cNvSpPr>
            <a:spLocks noChangeArrowheads="1"/>
          </p:cNvSpPr>
          <p:nvPr/>
        </p:nvSpPr>
        <p:spPr bwMode="auto">
          <a:xfrm>
            <a:off x="533400" y="228600"/>
            <a:ext cx="7772400" cy="1143000"/>
          </a:xfrm>
          <a:prstGeom prst="rect">
            <a:avLst/>
          </a:prstGeom>
          <a:noFill/>
          <a:ln>
            <a:noFill/>
          </a:ln>
        </p:spPr>
        <p:txBody>
          <a:bodyPr anchor="ctr"/>
          <a:lstStyle/>
          <a:p>
            <a:r>
              <a:rPr lang="en-US" sz="4400" dirty="0">
                <a:solidFill>
                  <a:srgbClr val="000099"/>
                </a:solidFill>
                <a:latin typeface="Gill Sans MT" pitchFamily="34" charset="0"/>
              </a:rPr>
              <a:t>Chapter 5: outline</a:t>
            </a:r>
          </a:p>
        </p:txBody>
      </p:sp>
      <p:sp>
        <p:nvSpPr>
          <p:cNvPr id="8"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61</a:t>
            </a:fld>
            <a:endParaRPr lang="en-US" sz="1200" dirty="0">
              <a:latin typeface="Tahoma" panose="020B0604030504040204" charset="0"/>
            </a:endParaRPr>
          </a:p>
        </p:txBody>
      </p:sp>
      <p:sp>
        <p:nvSpPr>
          <p:cNvPr id="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63" name="Picture 7"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6263" y="903288"/>
            <a:ext cx="4964972" cy="232095"/>
          </a:xfrm>
          <a:prstGeom prst="rect">
            <a:avLst/>
          </a:prstGeom>
          <a:noFill/>
          <a:ln>
            <a:noFill/>
          </a:ln>
        </p:spPr>
      </p:pic>
      <p:sp>
        <p:nvSpPr>
          <p:cNvPr id="143364" name="Rectangle 2"/>
          <p:cNvSpPr>
            <a:spLocks noGrp="1" noChangeArrowheads="1"/>
          </p:cNvSpPr>
          <p:nvPr>
            <p:ph type="title"/>
          </p:nvPr>
        </p:nvSpPr>
        <p:spPr>
          <a:xfrm>
            <a:off x="533400" y="241300"/>
            <a:ext cx="5842000" cy="885825"/>
          </a:xfrm>
        </p:spPr>
        <p:txBody>
          <a:bodyPr/>
          <a:lstStyle/>
          <a:p>
            <a:r>
              <a:rPr lang="en-US" sz="4000" dirty="0">
                <a:latin typeface="Gill Sans MT" pitchFamily="34" charset="0"/>
              </a:rPr>
              <a:t>Making routing scalable</a:t>
            </a:r>
            <a:endParaRPr lang="en-US" dirty="0">
              <a:latin typeface="Gill Sans MT" pitchFamily="34" charset="0"/>
            </a:endParaRPr>
          </a:p>
        </p:txBody>
      </p:sp>
      <p:sp>
        <p:nvSpPr>
          <p:cNvPr id="143365" name="Rectangle 3"/>
          <p:cNvSpPr>
            <a:spLocks noGrp="1" noChangeArrowheads="1"/>
          </p:cNvSpPr>
          <p:nvPr>
            <p:ph type="body" sz="half" idx="1"/>
          </p:nvPr>
        </p:nvSpPr>
        <p:spPr>
          <a:xfrm>
            <a:off x="542925" y="3467100"/>
            <a:ext cx="3810000" cy="2266950"/>
          </a:xfrm>
        </p:spPr>
        <p:txBody>
          <a:bodyPr/>
          <a:lstStyle/>
          <a:p>
            <a:pPr>
              <a:buFont typeface="Wingdings" panose="05000000000000000000" charset="0"/>
              <a:buNone/>
            </a:pPr>
            <a:r>
              <a:rPr lang="en-US" i="1" dirty="0">
                <a:solidFill>
                  <a:srgbClr val="CC0000"/>
                </a:solidFill>
                <a:latin typeface="Gill Sans MT" pitchFamily="34" charset="0"/>
              </a:rPr>
              <a:t>scale:</a:t>
            </a:r>
            <a:r>
              <a:rPr lang="en-US" dirty="0">
                <a:latin typeface="Gill Sans MT" pitchFamily="34" charset="0"/>
              </a:rPr>
              <a:t> with billions of destinations:</a:t>
            </a:r>
          </a:p>
          <a:p>
            <a:r>
              <a:rPr lang="en-US" sz="2400" dirty="0">
                <a:latin typeface="Gill Sans MT" pitchFamily="34" charset="0"/>
              </a:rPr>
              <a:t>can</a:t>
            </a:r>
            <a:r>
              <a:rPr lang="ja-JP" altLang="en-US" sz="2400" dirty="0">
                <a:latin typeface="Gill Sans MT" pitchFamily="34" charset="0"/>
              </a:rPr>
              <a:t>’</a:t>
            </a:r>
            <a:r>
              <a:rPr lang="en-US" altLang="ja-JP" sz="2400" dirty="0">
                <a:latin typeface="Gill Sans MT" pitchFamily="34" charset="0"/>
              </a:rPr>
              <a:t>t store all destinations in routing tables!</a:t>
            </a:r>
          </a:p>
          <a:p>
            <a:r>
              <a:rPr lang="en-US" sz="2400" dirty="0">
                <a:solidFill>
                  <a:srgbClr val="00B050"/>
                </a:solidFill>
                <a:latin typeface="Gill Sans MT" pitchFamily="34" charset="0"/>
              </a:rPr>
              <a:t>routing table exchange would </a:t>
            </a:r>
            <a:r>
              <a:rPr lang="en-US" sz="2400" dirty="0">
                <a:solidFill>
                  <a:srgbClr val="C00000"/>
                </a:solidFill>
                <a:latin typeface="Gill Sans MT" pitchFamily="34" charset="0"/>
              </a:rPr>
              <a:t>swamp</a:t>
            </a:r>
            <a:r>
              <a:rPr lang="en-US" sz="2400" dirty="0">
                <a:solidFill>
                  <a:srgbClr val="00B050"/>
                </a:solidFill>
                <a:latin typeface="Gill Sans MT" pitchFamily="34" charset="0"/>
              </a:rPr>
              <a:t> links!</a:t>
            </a:r>
            <a:r>
              <a:rPr lang="en-US" dirty="0">
                <a:solidFill>
                  <a:srgbClr val="00B050"/>
                </a:solidFill>
                <a:latin typeface="Gill Sans MT" pitchFamily="34" charset="0"/>
              </a:rPr>
              <a:t> </a:t>
            </a:r>
          </a:p>
          <a:p>
            <a:endParaRPr lang="en-US" dirty="0">
              <a:latin typeface="Gill Sans MT" pitchFamily="34" charset="0"/>
            </a:endParaRPr>
          </a:p>
          <a:p>
            <a:endParaRPr lang="en-US" dirty="0">
              <a:latin typeface="Gill Sans MT" pitchFamily="34" charset="0"/>
            </a:endParaRPr>
          </a:p>
        </p:txBody>
      </p:sp>
      <p:sp>
        <p:nvSpPr>
          <p:cNvPr id="98311" name="Rectangle 4"/>
          <p:cNvSpPr>
            <a:spLocks noGrp="1" noChangeArrowheads="1"/>
          </p:cNvSpPr>
          <p:nvPr>
            <p:ph type="body" sz="half" idx="2"/>
          </p:nvPr>
        </p:nvSpPr>
        <p:spPr>
          <a:xfrm>
            <a:off x="4448175" y="3467100"/>
            <a:ext cx="4019550" cy="2514600"/>
          </a:xfrm>
        </p:spPr>
        <p:txBody>
          <a:bodyPr/>
          <a:lstStyle/>
          <a:p>
            <a:pPr>
              <a:buFont typeface="Wingdings" panose="05000000000000000000" charset="0"/>
              <a:buNone/>
              <a:defRPr/>
            </a:pPr>
            <a:r>
              <a:rPr lang="en-US" i="1" dirty="0">
                <a:solidFill>
                  <a:srgbClr val="CC0000"/>
                </a:solidFill>
                <a:cs typeface="+mn-cs"/>
              </a:rPr>
              <a:t>administrative autonomy</a:t>
            </a:r>
          </a:p>
          <a:p>
            <a:pPr>
              <a:defRPr/>
            </a:pPr>
            <a:r>
              <a:rPr lang="en-US" sz="2400" dirty="0">
                <a:cs typeface="+mn-cs"/>
              </a:rPr>
              <a:t>internet = network of networks</a:t>
            </a:r>
          </a:p>
          <a:p>
            <a:pPr>
              <a:defRPr/>
            </a:pPr>
            <a:r>
              <a:rPr lang="en-US" sz="2400" dirty="0">
                <a:cs typeface="+mn-cs"/>
              </a:rPr>
              <a:t>each network admin may want to control routing in its own network</a:t>
            </a:r>
          </a:p>
        </p:txBody>
      </p:sp>
      <p:sp>
        <p:nvSpPr>
          <p:cNvPr id="143367" name="Rectangle 5"/>
          <p:cNvSpPr>
            <a:spLocks noChangeArrowheads="1"/>
          </p:cNvSpPr>
          <p:nvPr/>
        </p:nvSpPr>
        <p:spPr bwMode="auto">
          <a:xfrm>
            <a:off x="660531" y="1313250"/>
            <a:ext cx="6543675" cy="1600200"/>
          </a:xfrm>
          <a:prstGeom prst="rect">
            <a:avLst/>
          </a:prstGeom>
          <a:noFill/>
          <a:ln>
            <a:noFill/>
          </a:ln>
        </p:spPr>
        <p:txBody>
          <a:bodyPr/>
          <a:lstStyle/>
          <a:p>
            <a:pPr marL="342900" indent="-342900">
              <a:lnSpc>
                <a:spcPct val="85000"/>
              </a:lnSpc>
              <a:spcBef>
                <a:spcPct val="20000"/>
              </a:spcBef>
              <a:buClr>
                <a:srgbClr val="000099"/>
              </a:buClr>
              <a:buSzPct val="65000"/>
              <a:buFont typeface="Wingdings" panose="05000000000000000000" charset="0"/>
              <a:buNone/>
            </a:pPr>
            <a:r>
              <a:rPr lang="en-US" sz="2800" dirty="0">
                <a:latin typeface="Gill Sans MT" pitchFamily="34" charset="0"/>
              </a:rPr>
              <a:t>our routing study thus far - idealized </a:t>
            </a:r>
          </a:p>
          <a:p>
            <a:pPr marL="457200" indent="-457200">
              <a:lnSpc>
                <a:spcPct val="85000"/>
              </a:lnSpc>
              <a:spcBef>
                <a:spcPct val="20000"/>
              </a:spcBef>
              <a:buClr>
                <a:srgbClr val="000099"/>
              </a:buClr>
              <a:buSzPct val="100000"/>
              <a:buFont typeface="Wingdings" panose="05000000000000000000" pitchFamily="2" charset="2"/>
              <a:buChar char="§"/>
            </a:pPr>
            <a:r>
              <a:rPr lang="en-US" sz="2800" dirty="0">
                <a:latin typeface="Gill Sans MT" pitchFamily="34" charset="0"/>
              </a:rPr>
              <a:t>all routers identical</a:t>
            </a:r>
          </a:p>
          <a:p>
            <a:pPr marL="457200" indent="-457200">
              <a:lnSpc>
                <a:spcPct val="85000"/>
              </a:lnSpc>
              <a:spcBef>
                <a:spcPct val="20000"/>
              </a:spcBef>
              <a:buClr>
                <a:srgbClr val="000099"/>
              </a:buClr>
              <a:buSzPct val="100000"/>
              <a:buFont typeface="Wingdings" panose="05000000000000000000" pitchFamily="2" charset="2"/>
              <a:buChar char="§"/>
            </a:pPr>
            <a:r>
              <a:rPr lang="en-US" sz="2800" dirty="0">
                <a:latin typeface="Gill Sans MT" pitchFamily="34" charset="0"/>
              </a:rPr>
              <a:t>network </a:t>
            </a:r>
            <a:r>
              <a:rPr lang="ja-JP" altLang="en-US" sz="2800" dirty="0">
                <a:latin typeface="Gill Sans MT" pitchFamily="34" charset="0"/>
              </a:rPr>
              <a:t>“</a:t>
            </a:r>
            <a:r>
              <a:rPr lang="en-US" altLang="ja-JP" sz="2800" dirty="0">
                <a:latin typeface="Gill Sans MT" pitchFamily="34" charset="0"/>
              </a:rPr>
              <a:t>flat</a:t>
            </a:r>
            <a:r>
              <a:rPr lang="ja-JP" altLang="en-US" sz="2800" dirty="0">
                <a:latin typeface="Gill Sans MT" pitchFamily="34" charset="0"/>
              </a:rPr>
              <a:t>”</a:t>
            </a:r>
            <a:endParaRPr lang="en-US" altLang="ja-JP" sz="2800" dirty="0">
              <a:latin typeface="Gill Sans MT" pitchFamily="34" charset="0"/>
            </a:endParaRPr>
          </a:p>
          <a:p>
            <a:pPr marL="342900" indent="-342900">
              <a:lnSpc>
                <a:spcPct val="85000"/>
              </a:lnSpc>
              <a:spcBef>
                <a:spcPct val="20000"/>
              </a:spcBef>
              <a:buClr>
                <a:srgbClr val="000099"/>
              </a:buClr>
              <a:buSzPct val="65000"/>
              <a:buFont typeface="Wingdings" panose="05000000000000000000" charset="0"/>
              <a:buNone/>
            </a:pPr>
            <a:r>
              <a:rPr lang="en-US" sz="2800" i="1" dirty="0">
                <a:latin typeface="Gill Sans MT" pitchFamily="34" charset="0"/>
              </a:rPr>
              <a:t>… not</a:t>
            </a:r>
            <a:r>
              <a:rPr lang="en-US" sz="2800" dirty="0">
                <a:latin typeface="Gill Sans MT" pitchFamily="34" charset="0"/>
              </a:rPr>
              <a:t> true in practice</a:t>
            </a:r>
          </a:p>
        </p:txBody>
      </p:sp>
      <p:sp>
        <p:nvSpPr>
          <p:cNvPr id="9"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62</a:t>
            </a:fld>
            <a:endParaRPr lang="en-US" sz="1200" dirty="0">
              <a:latin typeface="Tahoma" panose="020B0604030504040204" charset="0"/>
            </a:endParaRPr>
          </a:p>
        </p:txBody>
      </p:sp>
      <p:sp>
        <p:nvSpPr>
          <p:cNvPr id="10"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7" name="Rectangle 3"/>
          <p:cNvSpPr>
            <a:spLocks noGrp="1" noChangeArrowheads="1"/>
          </p:cNvSpPr>
          <p:nvPr>
            <p:ph type="body" sz="half" idx="1"/>
          </p:nvPr>
        </p:nvSpPr>
        <p:spPr>
          <a:xfrm>
            <a:off x="817100" y="1302987"/>
            <a:ext cx="8192217" cy="910047"/>
          </a:xfrm>
        </p:spPr>
        <p:txBody>
          <a:bodyPr/>
          <a:lstStyle/>
          <a:p>
            <a:pPr marL="0" indent="0">
              <a:lnSpc>
                <a:spcPct val="90000"/>
              </a:lnSpc>
              <a:buNone/>
            </a:pPr>
            <a:r>
              <a:rPr lang="en-US" dirty="0">
                <a:latin typeface="Gill Sans MT"/>
                <a:cs typeface="Gill Sans MT"/>
              </a:rPr>
              <a:t>aggregate routers into regions known as</a:t>
            </a:r>
            <a:r>
              <a:rPr lang="en-US" dirty="0">
                <a:solidFill>
                  <a:srgbClr val="FF0000"/>
                </a:solidFill>
                <a:latin typeface="Gill Sans MT"/>
                <a:cs typeface="Gill Sans MT"/>
              </a:rPr>
              <a:t> </a:t>
            </a:r>
            <a:r>
              <a:rPr lang="ja-JP" altLang="en-US" dirty="0">
                <a:solidFill>
                  <a:srgbClr val="CC0000"/>
                </a:solidFill>
                <a:latin typeface="Gill Sans MT"/>
                <a:cs typeface="Gill Sans MT"/>
              </a:rPr>
              <a:t>“</a:t>
            </a:r>
            <a:r>
              <a:rPr lang="en-US" altLang="ja-JP" dirty="0">
                <a:solidFill>
                  <a:srgbClr val="CC0000"/>
                </a:solidFill>
                <a:latin typeface="Gill Sans MT"/>
                <a:cs typeface="Gill Sans MT"/>
              </a:rPr>
              <a:t>autonomous systems</a:t>
            </a:r>
            <a:r>
              <a:rPr lang="ja-JP" altLang="en-US" dirty="0">
                <a:solidFill>
                  <a:srgbClr val="CC0000"/>
                </a:solidFill>
                <a:latin typeface="Gill Sans MT"/>
                <a:cs typeface="Gill Sans MT"/>
              </a:rPr>
              <a:t>”</a:t>
            </a:r>
            <a:r>
              <a:rPr lang="en-US" altLang="ja-JP" dirty="0">
                <a:solidFill>
                  <a:srgbClr val="CC0000"/>
                </a:solidFill>
                <a:latin typeface="Gill Sans MT"/>
                <a:cs typeface="Gill Sans MT"/>
              </a:rPr>
              <a:t> (AS) (a.k.a. “domains”)</a:t>
            </a:r>
            <a:endParaRPr lang="en-US" dirty="0">
              <a:latin typeface="Gill Sans MT" pitchFamily="34" charset="0"/>
            </a:endParaRPr>
          </a:p>
        </p:txBody>
      </p:sp>
      <p:sp>
        <p:nvSpPr>
          <p:cNvPr id="144388" name="Rectangle 4"/>
          <p:cNvSpPr>
            <a:spLocks noGrp="1" noChangeArrowheads="1"/>
          </p:cNvSpPr>
          <p:nvPr>
            <p:ph type="body" sz="half" idx="2"/>
          </p:nvPr>
        </p:nvSpPr>
        <p:spPr>
          <a:xfrm>
            <a:off x="5150930" y="2635760"/>
            <a:ext cx="3748232" cy="1934001"/>
          </a:xfrm>
        </p:spPr>
        <p:txBody>
          <a:bodyPr/>
          <a:lstStyle/>
          <a:p>
            <a:pPr>
              <a:buFont typeface="Wingdings" panose="05000000000000000000" charset="0"/>
              <a:buNone/>
            </a:pPr>
            <a:r>
              <a:rPr lang="en-US" dirty="0">
                <a:solidFill>
                  <a:srgbClr val="000090"/>
                </a:solidFill>
                <a:latin typeface="Gill Sans MT" pitchFamily="34" charset="0"/>
              </a:rPr>
              <a:t>inter-AS routing</a:t>
            </a:r>
          </a:p>
          <a:p>
            <a:r>
              <a:rPr lang="en-US" sz="2400" dirty="0">
                <a:latin typeface="Gill Sans MT" pitchFamily="34" charset="0"/>
              </a:rPr>
              <a:t>routing among </a:t>
            </a:r>
            <a:r>
              <a:rPr lang="en-US" sz="2400" dirty="0" err="1">
                <a:latin typeface="Gill Sans MT" pitchFamily="34" charset="0"/>
              </a:rPr>
              <a:t>AS’es</a:t>
            </a:r>
            <a:endParaRPr lang="en-US" sz="2400" dirty="0">
              <a:latin typeface="Gill Sans MT" pitchFamily="34" charset="0"/>
            </a:endParaRPr>
          </a:p>
          <a:p>
            <a:r>
              <a:rPr lang="en-US" sz="2400" dirty="0">
                <a:latin typeface="Gill Sans MT" pitchFamily="34" charset="0"/>
              </a:rPr>
              <a:t>gateways perform inter-domain routing (as well as intra-domain routing)</a:t>
            </a:r>
          </a:p>
        </p:txBody>
      </p:sp>
      <p:pic>
        <p:nvPicPr>
          <p:cNvPr id="144389"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6263" y="903288"/>
            <a:ext cx="7831792" cy="212851"/>
          </a:xfrm>
          <a:prstGeom prst="rect">
            <a:avLst/>
          </a:prstGeom>
          <a:noFill/>
          <a:ln>
            <a:noFill/>
          </a:ln>
        </p:spPr>
      </p:pic>
      <p:sp>
        <p:nvSpPr>
          <p:cNvPr id="99335" name="Rectangle 7"/>
          <p:cNvSpPr>
            <a:spLocks noGrp="1" noChangeArrowheads="1"/>
          </p:cNvSpPr>
          <p:nvPr>
            <p:ph type="title"/>
          </p:nvPr>
        </p:nvSpPr>
        <p:spPr>
          <a:xfrm>
            <a:off x="533400" y="241300"/>
            <a:ext cx="8144020" cy="885825"/>
          </a:xfrm>
        </p:spPr>
        <p:txBody>
          <a:bodyPr/>
          <a:lstStyle/>
          <a:p>
            <a:pPr>
              <a:defRPr/>
            </a:pPr>
            <a:r>
              <a:rPr lang="en-US" sz="3600" dirty="0">
                <a:cs typeface="+mj-cs"/>
              </a:rPr>
              <a:t>Internet approach to scalable routing</a:t>
            </a:r>
          </a:p>
        </p:txBody>
      </p:sp>
      <p:sp>
        <p:nvSpPr>
          <p:cNvPr id="9" name="Rectangle 3"/>
          <p:cNvSpPr txBox="1">
            <a:spLocks noChangeArrowheads="1"/>
          </p:cNvSpPr>
          <p:nvPr/>
        </p:nvSpPr>
        <p:spPr bwMode="auto">
          <a:xfrm>
            <a:off x="452755" y="2322195"/>
            <a:ext cx="4574540" cy="3912870"/>
          </a:xfrm>
          <a:prstGeom prst="rect">
            <a:avLst/>
          </a:prstGeom>
          <a:noFill/>
          <a:ln>
            <a:noFill/>
          </a:ln>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18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18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18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18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18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1800">
                <a:solidFill>
                  <a:schemeClr val="tx1"/>
                </a:solidFill>
                <a:latin typeface="Times New Roman" panose="02020503050405090304" charset="0"/>
              </a:defRPr>
            </a:lvl9pPr>
          </a:lstStyle>
          <a:p>
            <a:pPr marL="0" indent="0">
              <a:lnSpc>
                <a:spcPct val="90000"/>
              </a:lnSpc>
              <a:buNone/>
            </a:pPr>
            <a:r>
              <a:rPr lang="en-US" altLang="ja-JP" dirty="0">
                <a:solidFill>
                  <a:srgbClr val="000090"/>
                </a:solidFill>
                <a:latin typeface="Gill Sans MT"/>
                <a:cs typeface="Gill Sans MT"/>
              </a:rPr>
              <a:t>intra-AS routing</a:t>
            </a:r>
          </a:p>
          <a:p>
            <a:pPr>
              <a:lnSpc>
                <a:spcPct val="90000"/>
              </a:lnSpc>
            </a:pPr>
            <a:r>
              <a:rPr lang="en-US" altLang="ja-JP" sz="2400" dirty="0">
                <a:latin typeface="Gill Sans MT" pitchFamily="34" charset="0"/>
              </a:rPr>
              <a:t>routing among hosts, routers in same AS (“network”)</a:t>
            </a:r>
          </a:p>
          <a:p>
            <a:pPr>
              <a:lnSpc>
                <a:spcPct val="90000"/>
              </a:lnSpc>
            </a:pPr>
            <a:r>
              <a:rPr lang="en-US" altLang="ja-JP" sz="2400" dirty="0">
                <a:latin typeface="Gill Sans MT" pitchFamily="34" charset="0"/>
              </a:rPr>
              <a:t>all routers in AS must run </a:t>
            </a:r>
            <a:r>
              <a:rPr lang="en-US" altLang="ja-JP" sz="2400" i="1" dirty="0">
                <a:solidFill>
                  <a:srgbClr val="000090"/>
                </a:solidFill>
                <a:latin typeface="Gill Sans MT" pitchFamily="34" charset="0"/>
              </a:rPr>
              <a:t>same</a:t>
            </a:r>
            <a:r>
              <a:rPr lang="en-US" altLang="ja-JP" sz="2400" dirty="0">
                <a:latin typeface="Gill Sans MT" pitchFamily="34" charset="0"/>
              </a:rPr>
              <a:t> intra-domain protocol</a:t>
            </a:r>
          </a:p>
          <a:p>
            <a:pPr>
              <a:lnSpc>
                <a:spcPct val="90000"/>
              </a:lnSpc>
            </a:pPr>
            <a:r>
              <a:rPr lang="en-US" sz="2400" dirty="0">
                <a:latin typeface="Gill Sans MT" pitchFamily="34" charset="0"/>
              </a:rPr>
              <a:t>routers in </a:t>
            </a:r>
            <a:r>
              <a:rPr lang="en-US" sz="2400" i="1" dirty="0">
                <a:latin typeface="Gill Sans MT" pitchFamily="34" charset="0"/>
              </a:rPr>
              <a:t>different</a:t>
            </a:r>
            <a:r>
              <a:rPr lang="en-US" sz="2400" dirty="0">
                <a:latin typeface="Gill Sans MT" pitchFamily="34" charset="0"/>
              </a:rPr>
              <a:t> AS can run </a:t>
            </a:r>
            <a:r>
              <a:rPr lang="en-US" sz="2400" i="1" dirty="0">
                <a:latin typeface="Gill Sans MT" pitchFamily="34" charset="0"/>
              </a:rPr>
              <a:t>different</a:t>
            </a:r>
            <a:r>
              <a:rPr lang="en-US" sz="2400" dirty="0">
                <a:latin typeface="Gill Sans MT" pitchFamily="34" charset="0"/>
              </a:rPr>
              <a:t> intra-domain routing protocol</a:t>
            </a:r>
          </a:p>
          <a:p>
            <a:pPr>
              <a:lnSpc>
                <a:spcPct val="90000"/>
              </a:lnSpc>
            </a:pPr>
            <a:r>
              <a:rPr lang="en-US" sz="2400" dirty="0">
                <a:latin typeface="Gill Sans MT" pitchFamily="34" charset="0"/>
              </a:rPr>
              <a:t>gateway router: at “edge” of its own AS, has link(s) to router(s) in other </a:t>
            </a:r>
            <a:r>
              <a:rPr lang="en-US" sz="2400" dirty="0" err="1">
                <a:latin typeface="Gill Sans MT" pitchFamily="34" charset="0"/>
              </a:rPr>
              <a:t>AS’es</a:t>
            </a:r>
            <a:endParaRPr lang="en-US" sz="2400" dirty="0">
              <a:latin typeface="Gill Sans MT" pitchFamily="34" charset="0"/>
            </a:endParaRPr>
          </a:p>
        </p:txBody>
      </p:sp>
      <p:sp>
        <p:nvSpPr>
          <p:cNvPr id="10"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63</a:t>
            </a:fld>
            <a:endParaRPr lang="en-US" sz="1200" dirty="0">
              <a:latin typeface="Tahoma" panose="020B0604030504040204" charset="0"/>
            </a:endParaRPr>
          </a:p>
        </p:txBody>
      </p:sp>
      <p:sp>
        <p:nvSpPr>
          <p:cNvPr id="11"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5411" name="Group 2"/>
          <p:cNvGrpSpPr/>
          <p:nvPr/>
        </p:nvGrpSpPr>
        <p:grpSpPr bwMode="auto">
          <a:xfrm>
            <a:off x="204788" y="1254125"/>
            <a:ext cx="6178550" cy="4376738"/>
            <a:chOff x="0" y="878"/>
            <a:chExt cx="4232" cy="2968"/>
          </a:xfrm>
        </p:grpSpPr>
        <p:sp>
          <p:nvSpPr>
            <p:cNvPr id="145415" name="Freeform 3"/>
            <p:cNvSpPr/>
            <p:nvPr/>
          </p:nvSpPr>
          <p:spPr bwMode="auto">
            <a:xfrm>
              <a:off x="2621" y="1050"/>
              <a:ext cx="1611" cy="1025"/>
            </a:xfrm>
            <a:custGeom>
              <a:avLst/>
              <a:gdLst>
                <a:gd name="T0" fmla="*/ 1063 w 1162"/>
                <a:gd name="T1" fmla="*/ 49351 h 543"/>
                <a:gd name="T2" fmla="*/ 6960 w 1162"/>
                <a:gd name="T3" fmla="*/ 4162 h 543"/>
                <a:gd name="T4" fmla="*/ 17785 w 1162"/>
                <a:gd name="T5" fmla="*/ 23973 h 543"/>
                <a:gd name="T6" fmla="*/ 21649 w 1162"/>
                <a:gd name="T7" fmla="*/ 72662 h 543"/>
                <a:gd name="T8" fmla="*/ 19828 w 1162"/>
                <a:gd name="T9" fmla="*/ 137161 h 543"/>
                <a:gd name="T10" fmla="*/ 11083 w 1162"/>
                <a:gd name="T11" fmla="*/ 164591 h 543"/>
                <a:gd name="T12" fmla="*/ 1657 w 1162"/>
                <a:gd name="T13" fmla="*/ 133650 h 543"/>
                <a:gd name="T14" fmla="*/ 1063 w 1162"/>
                <a:gd name="T15" fmla="*/ 4935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66CCFF"/>
            </a:solidFill>
            <a:ln>
              <a:noFill/>
            </a:ln>
          </p:spPr>
          <p:txBody>
            <a:bodyPr wrap="none" anchor="ctr"/>
            <a:lstStyle/>
            <a:p>
              <a:endParaRPr lang="en-US"/>
            </a:p>
          </p:txBody>
        </p:sp>
        <p:sp>
          <p:nvSpPr>
            <p:cNvPr id="145416" name="Freeform 4"/>
            <p:cNvSpPr/>
            <p:nvPr/>
          </p:nvSpPr>
          <p:spPr bwMode="auto">
            <a:xfrm>
              <a:off x="0" y="878"/>
              <a:ext cx="1255" cy="1016"/>
            </a:xfrm>
            <a:custGeom>
              <a:avLst/>
              <a:gdLst>
                <a:gd name="T0" fmla="*/ 134 w 1198"/>
                <a:gd name="T1" fmla="*/ 270558 h 451"/>
                <a:gd name="T2" fmla="*/ 273 w 1198"/>
                <a:gd name="T3" fmla="*/ 132828 h 451"/>
                <a:gd name="T4" fmla="*/ 679 w 1198"/>
                <a:gd name="T5" fmla="*/ 73044 h 451"/>
                <a:gd name="T6" fmla="*/ 1501 w 1198"/>
                <a:gd name="T7" fmla="*/ 37135 h 451"/>
                <a:gd name="T8" fmla="*/ 1796 w 1198"/>
                <a:gd name="T9" fmla="*/ 294460 h 451"/>
                <a:gd name="T10" fmla="*/ 1350 w 1198"/>
                <a:gd name="T11" fmla="*/ 616944 h 451"/>
                <a:gd name="T12" fmla="*/ 466 w 1198"/>
                <a:gd name="T13" fmla="*/ 634874 h 451"/>
                <a:gd name="T14" fmla="*/ 54 w 1198"/>
                <a:gd name="T15" fmla="*/ 503524 h 451"/>
                <a:gd name="T16" fmla="*/ 134 w 1198"/>
                <a:gd name="T17" fmla="*/ 270558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66CCFF"/>
            </a:solidFill>
            <a:ln>
              <a:noFill/>
            </a:ln>
          </p:spPr>
          <p:txBody>
            <a:bodyPr wrap="none" anchor="ctr"/>
            <a:lstStyle/>
            <a:p>
              <a:endParaRPr lang="en-US"/>
            </a:p>
          </p:txBody>
        </p:sp>
        <p:sp>
          <p:nvSpPr>
            <p:cNvPr id="145417" name="Freeform 5"/>
            <p:cNvSpPr/>
            <p:nvPr/>
          </p:nvSpPr>
          <p:spPr bwMode="auto">
            <a:xfrm>
              <a:off x="810" y="1611"/>
              <a:ext cx="2007" cy="792"/>
            </a:xfrm>
            <a:custGeom>
              <a:avLst/>
              <a:gdLst>
                <a:gd name="T0" fmla="*/ 1319 w 1583"/>
                <a:gd name="T1" fmla="*/ 862 h 682"/>
                <a:gd name="T2" fmla="*/ 3445 w 1583"/>
                <a:gd name="T3" fmla="*/ 285 h 682"/>
                <a:gd name="T4" fmla="*/ 6645 w 1583"/>
                <a:gd name="T5" fmla="*/ 77 h 682"/>
                <a:gd name="T6" fmla="*/ 9794 w 1583"/>
                <a:gd name="T7" fmla="*/ 744 h 682"/>
                <a:gd name="T8" fmla="*/ 13238 w 1583"/>
                <a:gd name="T9" fmla="*/ 1642 h 682"/>
                <a:gd name="T10" fmla="*/ 10773 w 1583"/>
                <a:gd name="T11" fmla="*/ 2476 h 682"/>
                <a:gd name="T12" fmla="*/ 5844 w 1583"/>
                <a:gd name="T13" fmla="*/ 2523 h 682"/>
                <a:gd name="T14" fmla="*/ 751 w 1583"/>
                <a:gd name="T15" fmla="*/ 2291 h 682"/>
                <a:gd name="T16" fmla="*/ 1319 w 1583"/>
                <a:gd name="T17" fmla="*/ 862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66CCFF"/>
            </a:solidFill>
            <a:ln>
              <a:noFill/>
            </a:ln>
          </p:spPr>
          <p:txBody>
            <a:bodyPr wrap="none" anchor="ctr"/>
            <a:lstStyle/>
            <a:p>
              <a:endParaRPr lang="en-US"/>
            </a:p>
          </p:txBody>
        </p:sp>
        <p:sp>
          <p:nvSpPr>
            <p:cNvPr id="145418" name="Oval 6"/>
            <p:cNvSpPr>
              <a:spLocks noChangeArrowheads="1"/>
            </p:cNvSpPr>
            <p:nvPr/>
          </p:nvSpPr>
          <p:spPr bwMode="auto">
            <a:xfrm>
              <a:off x="261" y="1610"/>
              <a:ext cx="313" cy="81"/>
            </a:xfrm>
            <a:prstGeom prst="ellipse">
              <a:avLst/>
            </a:prstGeom>
            <a:solidFill>
              <a:schemeClr val="hlink"/>
            </a:solidFill>
            <a:ln w="12700">
              <a:solidFill>
                <a:schemeClr val="tx1"/>
              </a:solidFill>
              <a:round/>
            </a:ln>
          </p:spPr>
          <p:txBody>
            <a:bodyPr wrap="none" anchor="ctr"/>
            <a:lstStyle/>
            <a:p>
              <a:endParaRPr lang="en-US"/>
            </a:p>
          </p:txBody>
        </p:sp>
        <p:sp>
          <p:nvSpPr>
            <p:cNvPr id="145419" name="Line 7"/>
            <p:cNvSpPr>
              <a:spLocks noChangeShapeType="1"/>
            </p:cNvSpPr>
            <p:nvPr/>
          </p:nvSpPr>
          <p:spPr bwMode="auto">
            <a:xfrm>
              <a:off x="261" y="1603"/>
              <a:ext cx="0" cy="52"/>
            </a:xfrm>
            <a:prstGeom prst="line">
              <a:avLst/>
            </a:prstGeom>
            <a:noFill/>
            <a:ln w="12700">
              <a:solidFill>
                <a:schemeClr val="tx1"/>
              </a:solidFill>
              <a:round/>
            </a:ln>
          </p:spPr>
          <p:txBody>
            <a:bodyPr wrap="none" anchor="ctr"/>
            <a:lstStyle/>
            <a:p>
              <a:endParaRPr lang="en-US"/>
            </a:p>
          </p:txBody>
        </p:sp>
        <p:sp>
          <p:nvSpPr>
            <p:cNvPr id="145420" name="Line 8"/>
            <p:cNvSpPr>
              <a:spLocks noChangeShapeType="1"/>
            </p:cNvSpPr>
            <p:nvPr/>
          </p:nvSpPr>
          <p:spPr bwMode="auto">
            <a:xfrm>
              <a:off x="574" y="1603"/>
              <a:ext cx="0" cy="52"/>
            </a:xfrm>
            <a:prstGeom prst="line">
              <a:avLst/>
            </a:prstGeom>
            <a:noFill/>
            <a:ln w="12700">
              <a:solidFill>
                <a:schemeClr val="tx1"/>
              </a:solidFill>
              <a:round/>
            </a:ln>
          </p:spPr>
          <p:txBody>
            <a:bodyPr wrap="none" anchor="ctr"/>
            <a:lstStyle/>
            <a:p>
              <a:endParaRPr lang="en-US"/>
            </a:p>
          </p:txBody>
        </p:sp>
        <p:sp>
          <p:nvSpPr>
            <p:cNvPr id="145421" name="Rectangle 9"/>
            <p:cNvSpPr>
              <a:spLocks noChangeArrowheads="1"/>
            </p:cNvSpPr>
            <p:nvPr/>
          </p:nvSpPr>
          <p:spPr bwMode="auto">
            <a:xfrm>
              <a:off x="261" y="1603"/>
              <a:ext cx="310" cy="51"/>
            </a:xfrm>
            <a:prstGeom prst="rect">
              <a:avLst/>
            </a:prstGeom>
            <a:solidFill>
              <a:schemeClr val="hlink"/>
            </a:solidFill>
            <a:ln>
              <a:noFill/>
            </a:ln>
          </p:spPr>
          <p:txBody>
            <a:bodyPr wrap="none" anchor="ctr"/>
            <a:lstStyle/>
            <a:p>
              <a:pPr algn="ctr"/>
              <a:endParaRPr lang="en-US" sz="2400"/>
            </a:p>
          </p:txBody>
        </p:sp>
        <p:sp>
          <p:nvSpPr>
            <p:cNvPr id="145422" name="Oval 10"/>
            <p:cNvSpPr>
              <a:spLocks noChangeArrowheads="1"/>
            </p:cNvSpPr>
            <p:nvPr/>
          </p:nvSpPr>
          <p:spPr bwMode="auto">
            <a:xfrm>
              <a:off x="258" y="1544"/>
              <a:ext cx="313" cy="95"/>
            </a:xfrm>
            <a:prstGeom prst="ellipse">
              <a:avLst/>
            </a:prstGeom>
            <a:solidFill>
              <a:schemeClr val="hlink"/>
            </a:solidFill>
            <a:ln w="12700">
              <a:solidFill>
                <a:schemeClr val="tx1"/>
              </a:solidFill>
              <a:round/>
            </a:ln>
          </p:spPr>
          <p:txBody>
            <a:bodyPr wrap="none" anchor="ctr"/>
            <a:lstStyle/>
            <a:p>
              <a:endParaRPr lang="en-US"/>
            </a:p>
          </p:txBody>
        </p:sp>
        <p:sp>
          <p:nvSpPr>
            <p:cNvPr id="145423" name="Rectangle 11"/>
            <p:cNvSpPr>
              <a:spLocks noChangeArrowheads="1"/>
            </p:cNvSpPr>
            <p:nvPr/>
          </p:nvSpPr>
          <p:spPr bwMode="auto">
            <a:xfrm>
              <a:off x="345" y="1557"/>
              <a:ext cx="141" cy="124"/>
            </a:xfrm>
            <a:prstGeom prst="rect">
              <a:avLst/>
            </a:prstGeom>
            <a:solidFill>
              <a:schemeClr val="hlink"/>
            </a:solidFill>
            <a:ln>
              <a:noFill/>
            </a:ln>
          </p:spPr>
          <p:txBody>
            <a:bodyPr wrap="none" anchor="ctr"/>
            <a:lstStyle/>
            <a:p>
              <a:endParaRPr lang="en-US"/>
            </a:p>
          </p:txBody>
        </p:sp>
        <p:sp>
          <p:nvSpPr>
            <p:cNvPr id="145424" name="Text Box 12"/>
            <p:cNvSpPr txBox="1">
              <a:spLocks noChangeArrowheads="1"/>
            </p:cNvSpPr>
            <p:nvPr/>
          </p:nvSpPr>
          <p:spPr bwMode="auto">
            <a:xfrm>
              <a:off x="259" y="1492"/>
              <a:ext cx="320" cy="2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3b</a:t>
              </a:r>
              <a:endParaRPr lang="en-US"/>
            </a:p>
          </p:txBody>
        </p:sp>
        <p:sp>
          <p:nvSpPr>
            <p:cNvPr id="145425" name="Oval 13"/>
            <p:cNvSpPr>
              <a:spLocks noChangeArrowheads="1"/>
            </p:cNvSpPr>
            <p:nvPr/>
          </p:nvSpPr>
          <p:spPr bwMode="auto">
            <a:xfrm>
              <a:off x="1479" y="2216"/>
              <a:ext cx="313" cy="81"/>
            </a:xfrm>
            <a:prstGeom prst="ellipse">
              <a:avLst/>
            </a:prstGeom>
            <a:solidFill>
              <a:schemeClr val="hlink"/>
            </a:solidFill>
            <a:ln w="12700">
              <a:solidFill>
                <a:schemeClr val="tx1"/>
              </a:solidFill>
              <a:round/>
            </a:ln>
          </p:spPr>
          <p:txBody>
            <a:bodyPr wrap="none" anchor="ctr"/>
            <a:lstStyle/>
            <a:p>
              <a:endParaRPr lang="en-US"/>
            </a:p>
          </p:txBody>
        </p:sp>
        <p:sp>
          <p:nvSpPr>
            <p:cNvPr id="145426" name="Line 14"/>
            <p:cNvSpPr>
              <a:spLocks noChangeShapeType="1"/>
            </p:cNvSpPr>
            <p:nvPr/>
          </p:nvSpPr>
          <p:spPr bwMode="auto">
            <a:xfrm>
              <a:off x="1479" y="2209"/>
              <a:ext cx="0" cy="52"/>
            </a:xfrm>
            <a:prstGeom prst="line">
              <a:avLst/>
            </a:prstGeom>
            <a:noFill/>
            <a:ln w="12700">
              <a:solidFill>
                <a:schemeClr val="tx1"/>
              </a:solidFill>
              <a:round/>
            </a:ln>
          </p:spPr>
          <p:txBody>
            <a:bodyPr wrap="none" anchor="ctr"/>
            <a:lstStyle/>
            <a:p>
              <a:endParaRPr lang="en-US"/>
            </a:p>
          </p:txBody>
        </p:sp>
        <p:sp>
          <p:nvSpPr>
            <p:cNvPr id="145427" name="Line 15"/>
            <p:cNvSpPr>
              <a:spLocks noChangeShapeType="1"/>
            </p:cNvSpPr>
            <p:nvPr/>
          </p:nvSpPr>
          <p:spPr bwMode="auto">
            <a:xfrm>
              <a:off x="1792" y="2209"/>
              <a:ext cx="0" cy="52"/>
            </a:xfrm>
            <a:prstGeom prst="line">
              <a:avLst/>
            </a:prstGeom>
            <a:noFill/>
            <a:ln w="12700">
              <a:solidFill>
                <a:schemeClr val="tx1"/>
              </a:solidFill>
              <a:round/>
            </a:ln>
          </p:spPr>
          <p:txBody>
            <a:bodyPr wrap="none" anchor="ctr"/>
            <a:lstStyle/>
            <a:p>
              <a:endParaRPr lang="en-US"/>
            </a:p>
          </p:txBody>
        </p:sp>
        <p:sp>
          <p:nvSpPr>
            <p:cNvPr id="145428" name="Rectangle 16"/>
            <p:cNvSpPr>
              <a:spLocks noChangeArrowheads="1"/>
            </p:cNvSpPr>
            <p:nvPr/>
          </p:nvSpPr>
          <p:spPr bwMode="auto">
            <a:xfrm>
              <a:off x="1479" y="2209"/>
              <a:ext cx="310" cy="51"/>
            </a:xfrm>
            <a:prstGeom prst="rect">
              <a:avLst/>
            </a:prstGeom>
            <a:solidFill>
              <a:schemeClr val="hlink"/>
            </a:solidFill>
            <a:ln>
              <a:noFill/>
            </a:ln>
          </p:spPr>
          <p:txBody>
            <a:bodyPr wrap="none" anchor="ctr"/>
            <a:lstStyle/>
            <a:p>
              <a:pPr algn="ctr"/>
              <a:endParaRPr lang="en-US" sz="2400"/>
            </a:p>
          </p:txBody>
        </p:sp>
        <p:sp>
          <p:nvSpPr>
            <p:cNvPr id="145429" name="Oval 17"/>
            <p:cNvSpPr>
              <a:spLocks noChangeArrowheads="1"/>
            </p:cNvSpPr>
            <p:nvPr/>
          </p:nvSpPr>
          <p:spPr bwMode="auto">
            <a:xfrm>
              <a:off x="1476" y="2150"/>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45430" name="Group 18"/>
            <p:cNvGrpSpPr/>
            <p:nvPr/>
          </p:nvGrpSpPr>
          <p:grpSpPr bwMode="auto">
            <a:xfrm>
              <a:off x="1478" y="2092"/>
              <a:ext cx="321" cy="269"/>
              <a:chOff x="2897" y="2425"/>
              <a:chExt cx="323" cy="269"/>
            </a:xfrm>
          </p:grpSpPr>
          <p:sp>
            <p:nvSpPr>
              <p:cNvPr id="145533" name="Rectangle 19"/>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45534" name="Text Box 20"/>
              <p:cNvSpPr txBox="1">
                <a:spLocks noChangeArrowheads="1"/>
              </p:cNvSpPr>
              <p:nvPr/>
            </p:nvSpPr>
            <p:spPr bwMode="auto">
              <a:xfrm>
                <a:off x="2897" y="2425"/>
                <a:ext cx="323" cy="2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1d</a:t>
                </a:r>
              </a:p>
            </p:txBody>
          </p:sp>
        </p:grpSp>
        <p:sp>
          <p:nvSpPr>
            <p:cNvPr id="145431" name="Oval 21"/>
            <p:cNvSpPr>
              <a:spLocks noChangeArrowheads="1"/>
            </p:cNvSpPr>
            <p:nvPr/>
          </p:nvSpPr>
          <p:spPr bwMode="auto">
            <a:xfrm>
              <a:off x="822" y="1478"/>
              <a:ext cx="313" cy="83"/>
            </a:xfrm>
            <a:prstGeom prst="ellipse">
              <a:avLst/>
            </a:prstGeom>
            <a:solidFill>
              <a:schemeClr val="hlink"/>
            </a:solidFill>
            <a:ln w="12700">
              <a:solidFill>
                <a:schemeClr val="tx1"/>
              </a:solidFill>
              <a:round/>
            </a:ln>
          </p:spPr>
          <p:txBody>
            <a:bodyPr wrap="none" anchor="ctr"/>
            <a:lstStyle/>
            <a:p>
              <a:endParaRPr lang="en-US"/>
            </a:p>
          </p:txBody>
        </p:sp>
        <p:sp>
          <p:nvSpPr>
            <p:cNvPr id="145432" name="Line 22"/>
            <p:cNvSpPr>
              <a:spLocks noChangeShapeType="1"/>
            </p:cNvSpPr>
            <p:nvPr/>
          </p:nvSpPr>
          <p:spPr bwMode="auto">
            <a:xfrm>
              <a:off x="822" y="1471"/>
              <a:ext cx="0" cy="50"/>
            </a:xfrm>
            <a:prstGeom prst="line">
              <a:avLst/>
            </a:prstGeom>
            <a:noFill/>
            <a:ln w="12700">
              <a:solidFill>
                <a:schemeClr val="tx1"/>
              </a:solidFill>
              <a:round/>
            </a:ln>
          </p:spPr>
          <p:txBody>
            <a:bodyPr wrap="none" anchor="ctr"/>
            <a:lstStyle/>
            <a:p>
              <a:endParaRPr lang="en-US"/>
            </a:p>
          </p:txBody>
        </p:sp>
        <p:sp>
          <p:nvSpPr>
            <p:cNvPr id="145433" name="Line 23"/>
            <p:cNvSpPr>
              <a:spLocks noChangeShapeType="1"/>
            </p:cNvSpPr>
            <p:nvPr/>
          </p:nvSpPr>
          <p:spPr bwMode="auto">
            <a:xfrm>
              <a:off x="1135" y="1471"/>
              <a:ext cx="0" cy="50"/>
            </a:xfrm>
            <a:prstGeom prst="line">
              <a:avLst/>
            </a:prstGeom>
            <a:noFill/>
            <a:ln w="12700">
              <a:solidFill>
                <a:schemeClr val="tx1"/>
              </a:solidFill>
              <a:round/>
            </a:ln>
          </p:spPr>
          <p:txBody>
            <a:bodyPr wrap="none" anchor="ctr"/>
            <a:lstStyle/>
            <a:p>
              <a:endParaRPr lang="en-US"/>
            </a:p>
          </p:txBody>
        </p:sp>
        <p:sp>
          <p:nvSpPr>
            <p:cNvPr id="145434" name="Rectangle 24"/>
            <p:cNvSpPr>
              <a:spLocks noChangeArrowheads="1"/>
            </p:cNvSpPr>
            <p:nvPr/>
          </p:nvSpPr>
          <p:spPr bwMode="auto">
            <a:xfrm>
              <a:off x="822" y="1471"/>
              <a:ext cx="310" cy="47"/>
            </a:xfrm>
            <a:prstGeom prst="rect">
              <a:avLst/>
            </a:prstGeom>
            <a:solidFill>
              <a:schemeClr val="hlink"/>
            </a:solidFill>
            <a:ln>
              <a:noFill/>
            </a:ln>
          </p:spPr>
          <p:txBody>
            <a:bodyPr wrap="none" anchor="ctr"/>
            <a:lstStyle/>
            <a:p>
              <a:pPr algn="ctr"/>
              <a:endParaRPr lang="en-US" sz="2400"/>
            </a:p>
          </p:txBody>
        </p:sp>
        <p:sp>
          <p:nvSpPr>
            <p:cNvPr id="145435" name="Oval 25"/>
            <p:cNvSpPr>
              <a:spLocks noChangeArrowheads="1"/>
            </p:cNvSpPr>
            <p:nvPr/>
          </p:nvSpPr>
          <p:spPr bwMode="auto">
            <a:xfrm>
              <a:off x="819" y="1412"/>
              <a:ext cx="313" cy="95"/>
            </a:xfrm>
            <a:prstGeom prst="ellipse">
              <a:avLst/>
            </a:prstGeom>
            <a:solidFill>
              <a:schemeClr val="hlink"/>
            </a:solidFill>
            <a:ln w="12700">
              <a:solidFill>
                <a:schemeClr val="tx1"/>
              </a:solidFill>
              <a:round/>
            </a:ln>
          </p:spPr>
          <p:txBody>
            <a:bodyPr wrap="none" anchor="ctr"/>
            <a:lstStyle/>
            <a:p>
              <a:endParaRPr lang="en-US"/>
            </a:p>
          </p:txBody>
        </p:sp>
        <p:sp>
          <p:nvSpPr>
            <p:cNvPr id="145436" name="Rectangle 26"/>
            <p:cNvSpPr>
              <a:spLocks noChangeArrowheads="1"/>
            </p:cNvSpPr>
            <p:nvPr/>
          </p:nvSpPr>
          <p:spPr bwMode="auto">
            <a:xfrm>
              <a:off x="906" y="1425"/>
              <a:ext cx="142" cy="110"/>
            </a:xfrm>
            <a:prstGeom prst="rect">
              <a:avLst/>
            </a:prstGeom>
            <a:solidFill>
              <a:schemeClr val="hlink"/>
            </a:solidFill>
            <a:ln>
              <a:noFill/>
            </a:ln>
          </p:spPr>
          <p:txBody>
            <a:bodyPr wrap="none" anchor="ctr"/>
            <a:lstStyle/>
            <a:p>
              <a:endParaRPr lang="en-US"/>
            </a:p>
          </p:txBody>
        </p:sp>
        <p:sp>
          <p:nvSpPr>
            <p:cNvPr id="145437" name="Text Box 27"/>
            <p:cNvSpPr txBox="1">
              <a:spLocks noChangeArrowheads="1"/>
            </p:cNvSpPr>
            <p:nvPr/>
          </p:nvSpPr>
          <p:spPr bwMode="auto">
            <a:xfrm>
              <a:off x="821" y="1359"/>
              <a:ext cx="320" cy="2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3a</a:t>
              </a:r>
              <a:endParaRPr lang="en-US"/>
            </a:p>
          </p:txBody>
        </p:sp>
        <p:sp>
          <p:nvSpPr>
            <p:cNvPr id="145438" name="Oval 28"/>
            <p:cNvSpPr>
              <a:spLocks noChangeArrowheads="1"/>
            </p:cNvSpPr>
            <p:nvPr/>
          </p:nvSpPr>
          <p:spPr bwMode="auto">
            <a:xfrm>
              <a:off x="1443" y="1820"/>
              <a:ext cx="313" cy="81"/>
            </a:xfrm>
            <a:prstGeom prst="ellipse">
              <a:avLst/>
            </a:prstGeom>
            <a:solidFill>
              <a:schemeClr val="hlink"/>
            </a:solidFill>
            <a:ln w="12700">
              <a:solidFill>
                <a:schemeClr val="tx1"/>
              </a:solidFill>
              <a:round/>
            </a:ln>
          </p:spPr>
          <p:txBody>
            <a:bodyPr wrap="none" anchor="ctr"/>
            <a:lstStyle/>
            <a:p>
              <a:endParaRPr lang="en-US"/>
            </a:p>
          </p:txBody>
        </p:sp>
        <p:sp>
          <p:nvSpPr>
            <p:cNvPr id="145439" name="Line 29"/>
            <p:cNvSpPr>
              <a:spLocks noChangeShapeType="1"/>
            </p:cNvSpPr>
            <p:nvPr/>
          </p:nvSpPr>
          <p:spPr bwMode="auto">
            <a:xfrm>
              <a:off x="1443" y="1814"/>
              <a:ext cx="0" cy="51"/>
            </a:xfrm>
            <a:prstGeom prst="line">
              <a:avLst/>
            </a:prstGeom>
            <a:noFill/>
            <a:ln w="12700">
              <a:solidFill>
                <a:schemeClr val="tx1"/>
              </a:solidFill>
              <a:round/>
            </a:ln>
          </p:spPr>
          <p:txBody>
            <a:bodyPr wrap="none" anchor="ctr"/>
            <a:lstStyle/>
            <a:p>
              <a:endParaRPr lang="en-US"/>
            </a:p>
          </p:txBody>
        </p:sp>
        <p:sp>
          <p:nvSpPr>
            <p:cNvPr id="145440" name="Line 30"/>
            <p:cNvSpPr>
              <a:spLocks noChangeShapeType="1"/>
            </p:cNvSpPr>
            <p:nvPr/>
          </p:nvSpPr>
          <p:spPr bwMode="auto">
            <a:xfrm>
              <a:off x="1756" y="1814"/>
              <a:ext cx="0" cy="51"/>
            </a:xfrm>
            <a:prstGeom prst="line">
              <a:avLst/>
            </a:prstGeom>
            <a:noFill/>
            <a:ln w="12700">
              <a:solidFill>
                <a:schemeClr val="tx1"/>
              </a:solidFill>
              <a:round/>
            </a:ln>
          </p:spPr>
          <p:txBody>
            <a:bodyPr wrap="none" anchor="ctr"/>
            <a:lstStyle/>
            <a:p>
              <a:endParaRPr lang="en-US"/>
            </a:p>
          </p:txBody>
        </p:sp>
        <p:sp>
          <p:nvSpPr>
            <p:cNvPr id="145441" name="Rectangle 31"/>
            <p:cNvSpPr>
              <a:spLocks noChangeArrowheads="1"/>
            </p:cNvSpPr>
            <p:nvPr/>
          </p:nvSpPr>
          <p:spPr bwMode="auto">
            <a:xfrm>
              <a:off x="1443" y="1814"/>
              <a:ext cx="310" cy="48"/>
            </a:xfrm>
            <a:prstGeom prst="rect">
              <a:avLst/>
            </a:prstGeom>
            <a:solidFill>
              <a:schemeClr val="hlink"/>
            </a:solidFill>
            <a:ln>
              <a:noFill/>
            </a:ln>
          </p:spPr>
          <p:txBody>
            <a:bodyPr wrap="none" anchor="ctr"/>
            <a:lstStyle/>
            <a:p>
              <a:pPr algn="ctr"/>
              <a:endParaRPr lang="en-US" sz="2400"/>
            </a:p>
          </p:txBody>
        </p:sp>
        <p:sp>
          <p:nvSpPr>
            <p:cNvPr id="145442" name="Oval 32"/>
            <p:cNvSpPr>
              <a:spLocks noChangeArrowheads="1"/>
            </p:cNvSpPr>
            <p:nvPr/>
          </p:nvSpPr>
          <p:spPr bwMode="auto">
            <a:xfrm>
              <a:off x="1440" y="1754"/>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45443" name="Group 33"/>
            <p:cNvGrpSpPr/>
            <p:nvPr/>
          </p:nvGrpSpPr>
          <p:grpSpPr bwMode="auto">
            <a:xfrm>
              <a:off x="1445" y="1696"/>
              <a:ext cx="310" cy="270"/>
              <a:chOff x="2899" y="2425"/>
              <a:chExt cx="319" cy="270"/>
            </a:xfrm>
          </p:grpSpPr>
          <p:sp>
            <p:nvSpPr>
              <p:cNvPr id="145531" name="Rectangle 34"/>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45532" name="Text Box 35"/>
              <p:cNvSpPr txBox="1">
                <a:spLocks noChangeArrowheads="1"/>
              </p:cNvSpPr>
              <p:nvPr/>
            </p:nvSpPr>
            <p:spPr bwMode="auto">
              <a:xfrm>
                <a:off x="2899" y="2425"/>
                <a:ext cx="319" cy="27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1c</a:t>
                </a:r>
              </a:p>
            </p:txBody>
          </p:sp>
        </p:grpSp>
        <p:sp>
          <p:nvSpPr>
            <p:cNvPr id="145444" name="Line 36"/>
            <p:cNvSpPr>
              <a:spLocks noChangeShapeType="1"/>
            </p:cNvSpPr>
            <p:nvPr/>
          </p:nvSpPr>
          <p:spPr bwMode="auto">
            <a:xfrm>
              <a:off x="3238" y="1632"/>
              <a:ext cx="308" cy="98"/>
            </a:xfrm>
            <a:prstGeom prst="line">
              <a:avLst/>
            </a:prstGeom>
            <a:noFill/>
            <a:ln w="28575">
              <a:solidFill>
                <a:schemeClr val="tx1"/>
              </a:solidFill>
              <a:round/>
            </a:ln>
          </p:spPr>
          <p:txBody>
            <a:bodyPr wrap="none" anchor="ctr"/>
            <a:lstStyle/>
            <a:p>
              <a:endParaRPr lang="en-US"/>
            </a:p>
          </p:txBody>
        </p:sp>
        <p:sp>
          <p:nvSpPr>
            <p:cNvPr id="145445" name="Line 37"/>
            <p:cNvSpPr>
              <a:spLocks noChangeShapeType="1"/>
            </p:cNvSpPr>
            <p:nvPr/>
          </p:nvSpPr>
          <p:spPr bwMode="auto">
            <a:xfrm>
              <a:off x="3562" y="1556"/>
              <a:ext cx="91" cy="116"/>
            </a:xfrm>
            <a:prstGeom prst="line">
              <a:avLst/>
            </a:prstGeom>
            <a:noFill/>
            <a:ln w="28575">
              <a:solidFill>
                <a:schemeClr val="tx1"/>
              </a:solidFill>
              <a:round/>
            </a:ln>
          </p:spPr>
          <p:txBody>
            <a:bodyPr wrap="none" anchor="ctr"/>
            <a:lstStyle/>
            <a:p>
              <a:endParaRPr lang="en-US"/>
            </a:p>
          </p:txBody>
        </p:sp>
        <p:sp>
          <p:nvSpPr>
            <p:cNvPr id="145446" name="Line 38"/>
            <p:cNvSpPr>
              <a:spLocks noChangeShapeType="1"/>
            </p:cNvSpPr>
            <p:nvPr/>
          </p:nvSpPr>
          <p:spPr bwMode="auto">
            <a:xfrm flipV="1">
              <a:off x="3170" y="1512"/>
              <a:ext cx="114" cy="76"/>
            </a:xfrm>
            <a:prstGeom prst="line">
              <a:avLst/>
            </a:prstGeom>
            <a:noFill/>
            <a:ln w="28575">
              <a:solidFill>
                <a:schemeClr val="tx1"/>
              </a:solidFill>
              <a:round/>
            </a:ln>
          </p:spPr>
          <p:txBody>
            <a:bodyPr wrap="none" anchor="ctr"/>
            <a:lstStyle/>
            <a:p>
              <a:endParaRPr lang="en-US"/>
            </a:p>
          </p:txBody>
        </p:sp>
        <p:sp>
          <p:nvSpPr>
            <p:cNvPr id="145447" name="Freeform 39"/>
            <p:cNvSpPr/>
            <p:nvPr/>
          </p:nvSpPr>
          <p:spPr bwMode="auto">
            <a:xfrm>
              <a:off x="1790" y="2146"/>
              <a:ext cx="264" cy="82"/>
            </a:xfrm>
            <a:custGeom>
              <a:avLst/>
              <a:gdLst>
                <a:gd name="T0" fmla="*/ 0 w 264"/>
                <a:gd name="T1" fmla="*/ 82 h 82"/>
                <a:gd name="T2" fmla="*/ 264 w 264"/>
                <a:gd name="T3" fmla="*/ 0 h 82"/>
                <a:gd name="T4" fmla="*/ 0 60000 65536"/>
                <a:gd name="T5" fmla="*/ 0 60000 65536"/>
                <a:gd name="T6" fmla="*/ 0 w 264"/>
                <a:gd name="T7" fmla="*/ 0 h 82"/>
                <a:gd name="T8" fmla="*/ 264 w 264"/>
                <a:gd name="T9" fmla="*/ 82 h 82"/>
              </a:gdLst>
              <a:ahLst/>
              <a:cxnLst>
                <a:cxn ang="T4">
                  <a:pos x="T0" y="T1"/>
                </a:cxn>
                <a:cxn ang="T5">
                  <a:pos x="T2" y="T3"/>
                </a:cxn>
              </a:cxnLst>
              <a:rect l="T6" t="T7" r="T8" b="T9"/>
              <a:pathLst>
                <a:path w="264" h="82">
                  <a:moveTo>
                    <a:pt x="0" y="82"/>
                  </a:moveTo>
                  <a:lnTo>
                    <a:pt x="264" y="0"/>
                  </a:lnTo>
                </a:path>
              </a:pathLst>
            </a:custGeom>
            <a:noFill/>
            <a:ln w="28575" cap="flat" cmpd="sng">
              <a:solidFill>
                <a:schemeClr val="tx1"/>
              </a:solidFill>
              <a:prstDash val="solid"/>
              <a:round/>
              <a:headEnd type="none" w="med" len="med"/>
              <a:tailEnd type="none" w="med" len="med"/>
            </a:ln>
          </p:spPr>
          <p:txBody>
            <a:bodyPr wrap="none" anchor="ctr"/>
            <a:lstStyle/>
            <a:p>
              <a:endParaRPr lang="en-US"/>
            </a:p>
          </p:txBody>
        </p:sp>
        <p:sp>
          <p:nvSpPr>
            <p:cNvPr id="145448" name="Freeform 40"/>
            <p:cNvSpPr/>
            <p:nvPr/>
          </p:nvSpPr>
          <p:spPr bwMode="auto">
            <a:xfrm>
              <a:off x="1330" y="2110"/>
              <a:ext cx="152" cy="118"/>
            </a:xfrm>
            <a:custGeom>
              <a:avLst/>
              <a:gdLst>
                <a:gd name="T0" fmla="*/ 0 w 152"/>
                <a:gd name="T1" fmla="*/ 0 h 118"/>
                <a:gd name="T2" fmla="*/ 152 w 152"/>
                <a:gd name="T3" fmla="*/ 118 h 118"/>
                <a:gd name="T4" fmla="*/ 0 60000 65536"/>
                <a:gd name="T5" fmla="*/ 0 60000 65536"/>
                <a:gd name="T6" fmla="*/ 0 w 152"/>
                <a:gd name="T7" fmla="*/ 0 h 118"/>
                <a:gd name="T8" fmla="*/ 152 w 152"/>
                <a:gd name="T9" fmla="*/ 118 h 118"/>
              </a:gdLst>
              <a:ahLst/>
              <a:cxnLst>
                <a:cxn ang="T4">
                  <a:pos x="T0" y="T1"/>
                </a:cxn>
                <a:cxn ang="T5">
                  <a:pos x="T2" y="T3"/>
                </a:cxn>
              </a:cxnLst>
              <a:rect l="T6" t="T7" r="T8" b="T9"/>
              <a:pathLst>
                <a:path w="152" h="118">
                  <a:moveTo>
                    <a:pt x="0" y="0"/>
                  </a:moveTo>
                  <a:lnTo>
                    <a:pt x="152" y="118"/>
                  </a:lnTo>
                </a:path>
              </a:pathLst>
            </a:custGeom>
            <a:noFill/>
            <a:ln w="28575" cap="flat" cmpd="sng">
              <a:solidFill>
                <a:schemeClr val="tx1"/>
              </a:solidFill>
              <a:prstDash val="solid"/>
              <a:round/>
              <a:headEnd type="none" w="med" len="med"/>
              <a:tailEnd type="none" w="med" len="med"/>
            </a:ln>
          </p:spPr>
          <p:txBody>
            <a:bodyPr wrap="none" anchor="ctr"/>
            <a:lstStyle/>
            <a:p>
              <a:endParaRPr lang="en-US"/>
            </a:p>
          </p:txBody>
        </p:sp>
        <p:sp>
          <p:nvSpPr>
            <p:cNvPr id="145449" name="Freeform 41"/>
            <p:cNvSpPr/>
            <p:nvPr/>
          </p:nvSpPr>
          <p:spPr bwMode="auto">
            <a:xfrm>
              <a:off x="1454" y="2040"/>
              <a:ext cx="564" cy="82"/>
            </a:xfrm>
            <a:custGeom>
              <a:avLst/>
              <a:gdLst>
                <a:gd name="T0" fmla="*/ 0 w 564"/>
                <a:gd name="T1" fmla="*/ 0 h 82"/>
                <a:gd name="T2" fmla="*/ 564 w 564"/>
                <a:gd name="T3" fmla="*/ 82 h 82"/>
                <a:gd name="T4" fmla="*/ 0 60000 65536"/>
                <a:gd name="T5" fmla="*/ 0 60000 65536"/>
                <a:gd name="T6" fmla="*/ 0 w 564"/>
                <a:gd name="T7" fmla="*/ 0 h 82"/>
                <a:gd name="T8" fmla="*/ 564 w 564"/>
                <a:gd name="T9" fmla="*/ 82 h 82"/>
              </a:gdLst>
              <a:ahLst/>
              <a:cxnLst>
                <a:cxn ang="T4">
                  <a:pos x="T0" y="T1"/>
                </a:cxn>
                <a:cxn ang="T5">
                  <a:pos x="T2" y="T3"/>
                </a:cxn>
              </a:cxnLst>
              <a:rect l="T6" t="T7" r="T8" b="T9"/>
              <a:pathLst>
                <a:path w="564" h="82">
                  <a:moveTo>
                    <a:pt x="0" y="0"/>
                  </a:moveTo>
                  <a:lnTo>
                    <a:pt x="564" y="82"/>
                  </a:lnTo>
                </a:path>
              </a:pathLst>
            </a:custGeom>
            <a:noFill/>
            <a:ln w="28575" cap="flat" cmpd="sng">
              <a:solidFill>
                <a:schemeClr val="tx1"/>
              </a:solidFill>
              <a:prstDash val="solid"/>
              <a:round/>
              <a:headEnd type="none" w="med" len="med"/>
              <a:tailEnd type="none" w="med" len="med"/>
            </a:ln>
          </p:spPr>
          <p:txBody>
            <a:bodyPr wrap="none" anchor="ctr"/>
            <a:lstStyle/>
            <a:p>
              <a:endParaRPr lang="en-US"/>
            </a:p>
          </p:txBody>
        </p:sp>
        <p:sp>
          <p:nvSpPr>
            <p:cNvPr id="145450" name="Freeform 42"/>
            <p:cNvSpPr/>
            <p:nvPr/>
          </p:nvSpPr>
          <p:spPr bwMode="auto">
            <a:xfrm>
              <a:off x="1392" y="1878"/>
              <a:ext cx="76" cy="94"/>
            </a:xfrm>
            <a:custGeom>
              <a:avLst/>
              <a:gdLst>
                <a:gd name="T0" fmla="*/ 0 w 76"/>
                <a:gd name="T1" fmla="*/ 94 h 94"/>
                <a:gd name="T2" fmla="*/ 76 w 76"/>
                <a:gd name="T3" fmla="*/ 0 h 94"/>
                <a:gd name="T4" fmla="*/ 0 60000 65536"/>
                <a:gd name="T5" fmla="*/ 0 60000 65536"/>
                <a:gd name="T6" fmla="*/ 0 w 76"/>
                <a:gd name="T7" fmla="*/ 0 h 94"/>
                <a:gd name="T8" fmla="*/ 76 w 76"/>
                <a:gd name="T9" fmla="*/ 94 h 94"/>
              </a:gdLst>
              <a:ahLst/>
              <a:cxnLst>
                <a:cxn ang="T4">
                  <a:pos x="T0" y="T1"/>
                </a:cxn>
                <a:cxn ang="T5">
                  <a:pos x="T2" y="T3"/>
                </a:cxn>
              </a:cxnLst>
              <a:rect l="T6" t="T7" r="T8" b="T9"/>
              <a:pathLst>
                <a:path w="76" h="94">
                  <a:moveTo>
                    <a:pt x="0" y="94"/>
                  </a:moveTo>
                  <a:lnTo>
                    <a:pt x="76" y="0"/>
                  </a:lnTo>
                </a:path>
              </a:pathLst>
            </a:custGeom>
            <a:noFill/>
            <a:ln w="28575" cap="flat" cmpd="sng">
              <a:solidFill>
                <a:schemeClr val="tx1"/>
              </a:solidFill>
              <a:prstDash val="solid"/>
              <a:round/>
              <a:headEnd type="none" w="med" len="med"/>
              <a:tailEnd type="none" w="med" len="med"/>
            </a:ln>
          </p:spPr>
          <p:txBody>
            <a:bodyPr wrap="none" anchor="ctr"/>
            <a:lstStyle/>
            <a:p>
              <a:endParaRPr lang="en-US"/>
            </a:p>
          </p:txBody>
        </p:sp>
        <p:sp>
          <p:nvSpPr>
            <p:cNvPr id="145451" name="Freeform 43"/>
            <p:cNvSpPr/>
            <p:nvPr/>
          </p:nvSpPr>
          <p:spPr bwMode="auto">
            <a:xfrm>
              <a:off x="566" y="1502"/>
              <a:ext cx="252" cy="114"/>
            </a:xfrm>
            <a:custGeom>
              <a:avLst/>
              <a:gdLst>
                <a:gd name="T0" fmla="*/ 0 w 252"/>
                <a:gd name="T1" fmla="*/ 114 h 114"/>
                <a:gd name="T2" fmla="*/ 252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28575" cap="flat" cmpd="sng">
              <a:solidFill>
                <a:schemeClr val="tx1"/>
              </a:solidFill>
              <a:prstDash val="solid"/>
              <a:round/>
              <a:headEnd type="none" w="med" len="med"/>
              <a:tailEnd type="none" w="med" len="med"/>
            </a:ln>
          </p:spPr>
          <p:txBody>
            <a:bodyPr wrap="none" anchor="ctr"/>
            <a:lstStyle/>
            <a:p>
              <a:endParaRPr lang="en-US"/>
            </a:p>
          </p:txBody>
        </p:sp>
        <p:sp>
          <p:nvSpPr>
            <p:cNvPr id="145452" name="Freeform 44"/>
            <p:cNvSpPr/>
            <p:nvPr/>
          </p:nvSpPr>
          <p:spPr bwMode="auto">
            <a:xfrm>
              <a:off x="1002" y="1562"/>
              <a:ext cx="444" cy="258"/>
            </a:xfrm>
            <a:custGeom>
              <a:avLst/>
              <a:gdLst>
                <a:gd name="T0" fmla="*/ 0 w 444"/>
                <a:gd name="T1" fmla="*/ 0 h 258"/>
                <a:gd name="T2" fmla="*/ 444 w 444"/>
                <a:gd name="T3" fmla="*/ 258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28575" cap="flat" cmpd="sng">
              <a:solidFill>
                <a:schemeClr val="tx1"/>
              </a:solidFill>
              <a:prstDash val="solid"/>
              <a:round/>
              <a:headEnd type="none" w="med" len="med"/>
              <a:tailEnd type="none" w="med" len="med"/>
            </a:ln>
          </p:spPr>
          <p:txBody>
            <a:bodyPr wrap="none" anchor="ctr"/>
            <a:lstStyle/>
            <a:p>
              <a:endParaRPr lang="en-US"/>
            </a:p>
          </p:txBody>
        </p:sp>
        <p:sp>
          <p:nvSpPr>
            <p:cNvPr id="145453" name="Freeform 45"/>
            <p:cNvSpPr/>
            <p:nvPr/>
          </p:nvSpPr>
          <p:spPr bwMode="auto">
            <a:xfrm>
              <a:off x="2326" y="1680"/>
              <a:ext cx="654" cy="420"/>
            </a:xfrm>
            <a:custGeom>
              <a:avLst/>
              <a:gdLst>
                <a:gd name="T0" fmla="*/ 0 w 654"/>
                <a:gd name="T1" fmla="*/ 420 h 420"/>
                <a:gd name="T2" fmla="*/ 654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28575" cap="flat" cmpd="sng">
              <a:solidFill>
                <a:schemeClr val="tx1"/>
              </a:solidFill>
              <a:prstDash val="solid"/>
              <a:round/>
              <a:headEnd type="none" w="med" len="med"/>
              <a:tailEnd type="none" w="med" len="med"/>
            </a:ln>
          </p:spPr>
          <p:txBody>
            <a:bodyPr wrap="none" anchor="ctr"/>
            <a:lstStyle/>
            <a:p>
              <a:endParaRPr lang="en-US"/>
            </a:p>
          </p:txBody>
        </p:sp>
        <p:sp>
          <p:nvSpPr>
            <p:cNvPr id="145454" name="Oval 46"/>
            <p:cNvSpPr>
              <a:spLocks noChangeArrowheads="1"/>
            </p:cNvSpPr>
            <p:nvPr/>
          </p:nvSpPr>
          <p:spPr bwMode="auto">
            <a:xfrm>
              <a:off x="2925" y="1617"/>
              <a:ext cx="313" cy="82"/>
            </a:xfrm>
            <a:prstGeom prst="ellipse">
              <a:avLst/>
            </a:prstGeom>
            <a:solidFill>
              <a:schemeClr val="hlink"/>
            </a:solidFill>
            <a:ln w="12700">
              <a:solidFill>
                <a:schemeClr val="tx1"/>
              </a:solidFill>
              <a:round/>
            </a:ln>
          </p:spPr>
          <p:txBody>
            <a:bodyPr wrap="none" anchor="ctr"/>
            <a:lstStyle/>
            <a:p>
              <a:endParaRPr lang="en-US"/>
            </a:p>
          </p:txBody>
        </p:sp>
        <p:sp>
          <p:nvSpPr>
            <p:cNvPr id="145455" name="Line 47"/>
            <p:cNvSpPr>
              <a:spLocks noChangeShapeType="1"/>
            </p:cNvSpPr>
            <p:nvPr/>
          </p:nvSpPr>
          <p:spPr bwMode="auto">
            <a:xfrm>
              <a:off x="2925" y="1609"/>
              <a:ext cx="0" cy="50"/>
            </a:xfrm>
            <a:prstGeom prst="line">
              <a:avLst/>
            </a:prstGeom>
            <a:noFill/>
            <a:ln w="12700">
              <a:solidFill>
                <a:schemeClr val="tx1"/>
              </a:solidFill>
              <a:round/>
            </a:ln>
          </p:spPr>
          <p:txBody>
            <a:bodyPr wrap="none" anchor="ctr"/>
            <a:lstStyle/>
            <a:p>
              <a:endParaRPr lang="en-US"/>
            </a:p>
          </p:txBody>
        </p:sp>
        <p:sp>
          <p:nvSpPr>
            <p:cNvPr id="145456" name="Line 48"/>
            <p:cNvSpPr>
              <a:spLocks noChangeShapeType="1"/>
            </p:cNvSpPr>
            <p:nvPr/>
          </p:nvSpPr>
          <p:spPr bwMode="auto">
            <a:xfrm>
              <a:off x="3238" y="1609"/>
              <a:ext cx="0" cy="50"/>
            </a:xfrm>
            <a:prstGeom prst="line">
              <a:avLst/>
            </a:prstGeom>
            <a:noFill/>
            <a:ln w="12700">
              <a:solidFill>
                <a:schemeClr val="tx1"/>
              </a:solidFill>
              <a:round/>
            </a:ln>
          </p:spPr>
          <p:txBody>
            <a:bodyPr wrap="none" anchor="ctr"/>
            <a:lstStyle/>
            <a:p>
              <a:endParaRPr lang="en-US"/>
            </a:p>
          </p:txBody>
        </p:sp>
        <p:sp>
          <p:nvSpPr>
            <p:cNvPr id="145457" name="Rectangle 49"/>
            <p:cNvSpPr>
              <a:spLocks noChangeArrowheads="1"/>
            </p:cNvSpPr>
            <p:nvPr/>
          </p:nvSpPr>
          <p:spPr bwMode="auto">
            <a:xfrm>
              <a:off x="2925" y="1609"/>
              <a:ext cx="310" cy="50"/>
            </a:xfrm>
            <a:prstGeom prst="rect">
              <a:avLst/>
            </a:prstGeom>
            <a:solidFill>
              <a:schemeClr val="hlink"/>
            </a:solidFill>
            <a:ln>
              <a:noFill/>
            </a:ln>
          </p:spPr>
          <p:txBody>
            <a:bodyPr wrap="none" anchor="ctr"/>
            <a:lstStyle/>
            <a:p>
              <a:pPr algn="ctr"/>
              <a:endParaRPr lang="en-US" sz="2400"/>
            </a:p>
          </p:txBody>
        </p:sp>
        <p:sp>
          <p:nvSpPr>
            <p:cNvPr id="145458" name="Oval 50"/>
            <p:cNvSpPr>
              <a:spLocks noChangeArrowheads="1"/>
            </p:cNvSpPr>
            <p:nvPr/>
          </p:nvSpPr>
          <p:spPr bwMode="auto">
            <a:xfrm>
              <a:off x="2922" y="1550"/>
              <a:ext cx="313" cy="95"/>
            </a:xfrm>
            <a:prstGeom prst="ellipse">
              <a:avLst/>
            </a:prstGeom>
            <a:solidFill>
              <a:schemeClr val="hlink"/>
            </a:solidFill>
            <a:ln w="12700">
              <a:solidFill>
                <a:schemeClr val="tx1"/>
              </a:solidFill>
              <a:round/>
            </a:ln>
          </p:spPr>
          <p:txBody>
            <a:bodyPr wrap="none" anchor="ctr"/>
            <a:lstStyle/>
            <a:p>
              <a:endParaRPr lang="en-US"/>
            </a:p>
          </p:txBody>
        </p:sp>
        <p:sp>
          <p:nvSpPr>
            <p:cNvPr id="145459" name="Rectangle 51"/>
            <p:cNvSpPr>
              <a:spLocks noChangeArrowheads="1"/>
            </p:cNvSpPr>
            <p:nvPr/>
          </p:nvSpPr>
          <p:spPr bwMode="auto">
            <a:xfrm>
              <a:off x="3009" y="1563"/>
              <a:ext cx="141" cy="122"/>
            </a:xfrm>
            <a:prstGeom prst="rect">
              <a:avLst/>
            </a:prstGeom>
            <a:solidFill>
              <a:schemeClr val="hlink"/>
            </a:solidFill>
            <a:ln>
              <a:noFill/>
            </a:ln>
          </p:spPr>
          <p:txBody>
            <a:bodyPr wrap="none" anchor="ctr"/>
            <a:lstStyle/>
            <a:p>
              <a:endParaRPr lang="en-US"/>
            </a:p>
          </p:txBody>
        </p:sp>
        <p:sp>
          <p:nvSpPr>
            <p:cNvPr id="145460" name="Text Box 52"/>
            <p:cNvSpPr txBox="1">
              <a:spLocks noChangeArrowheads="1"/>
            </p:cNvSpPr>
            <p:nvPr/>
          </p:nvSpPr>
          <p:spPr bwMode="auto">
            <a:xfrm>
              <a:off x="2923" y="1498"/>
              <a:ext cx="320" cy="2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2a</a:t>
              </a:r>
              <a:endParaRPr lang="en-US"/>
            </a:p>
          </p:txBody>
        </p:sp>
        <p:sp>
          <p:nvSpPr>
            <p:cNvPr id="145461" name="Text Box 53"/>
            <p:cNvSpPr txBox="1">
              <a:spLocks noChangeArrowheads="1"/>
            </p:cNvSpPr>
            <p:nvPr/>
          </p:nvSpPr>
          <p:spPr bwMode="auto">
            <a:xfrm>
              <a:off x="597" y="1585"/>
              <a:ext cx="456" cy="2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2000"/>
                <a:t>AS3</a:t>
              </a:r>
              <a:endParaRPr lang="en-US" sz="1800"/>
            </a:p>
          </p:txBody>
        </p:sp>
        <p:sp>
          <p:nvSpPr>
            <p:cNvPr id="145462" name="Text Box 54"/>
            <p:cNvSpPr txBox="1">
              <a:spLocks noChangeArrowheads="1"/>
            </p:cNvSpPr>
            <p:nvPr/>
          </p:nvSpPr>
          <p:spPr bwMode="auto">
            <a:xfrm>
              <a:off x="2380" y="2042"/>
              <a:ext cx="456" cy="2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2000"/>
                <a:t>AS1</a:t>
              </a:r>
              <a:endParaRPr lang="en-US" sz="1800"/>
            </a:p>
          </p:txBody>
        </p:sp>
        <p:sp>
          <p:nvSpPr>
            <p:cNvPr id="145463" name="Text Box 55"/>
            <p:cNvSpPr txBox="1">
              <a:spLocks noChangeArrowheads="1"/>
            </p:cNvSpPr>
            <p:nvPr/>
          </p:nvSpPr>
          <p:spPr bwMode="auto">
            <a:xfrm>
              <a:off x="3207" y="1787"/>
              <a:ext cx="422"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AS2</a:t>
              </a:r>
            </a:p>
          </p:txBody>
        </p:sp>
        <p:sp>
          <p:nvSpPr>
            <p:cNvPr id="145464" name="Oval 56"/>
            <p:cNvSpPr>
              <a:spLocks noChangeArrowheads="1"/>
            </p:cNvSpPr>
            <p:nvPr/>
          </p:nvSpPr>
          <p:spPr bwMode="auto">
            <a:xfrm>
              <a:off x="1137" y="2030"/>
              <a:ext cx="313" cy="81"/>
            </a:xfrm>
            <a:prstGeom prst="ellipse">
              <a:avLst/>
            </a:prstGeom>
            <a:solidFill>
              <a:schemeClr val="hlink"/>
            </a:solidFill>
            <a:ln w="12700">
              <a:solidFill>
                <a:schemeClr val="tx1"/>
              </a:solidFill>
              <a:round/>
            </a:ln>
          </p:spPr>
          <p:txBody>
            <a:bodyPr wrap="none" anchor="ctr"/>
            <a:lstStyle/>
            <a:p>
              <a:endParaRPr lang="en-US"/>
            </a:p>
          </p:txBody>
        </p:sp>
        <p:sp>
          <p:nvSpPr>
            <p:cNvPr id="145465" name="Line 57"/>
            <p:cNvSpPr>
              <a:spLocks noChangeShapeType="1"/>
            </p:cNvSpPr>
            <p:nvPr/>
          </p:nvSpPr>
          <p:spPr bwMode="auto">
            <a:xfrm>
              <a:off x="1137" y="2023"/>
              <a:ext cx="0" cy="50"/>
            </a:xfrm>
            <a:prstGeom prst="line">
              <a:avLst/>
            </a:prstGeom>
            <a:noFill/>
            <a:ln w="12700">
              <a:solidFill>
                <a:schemeClr val="tx1"/>
              </a:solidFill>
              <a:round/>
            </a:ln>
          </p:spPr>
          <p:txBody>
            <a:bodyPr wrap="none" anchor="ctr"/>
            <a:lstStyle/>
            <a:p>
              <a:endParaRPr lang="en-US"/>
            </a:p>
          </p:txBody>
        </p:sp>
        <p:sp>
          <p:nvSpPr>
            <p:cNvPr id="145466" name="Line 58"/>
            <p:cNvSpPr>
              <a:spLocks noChangeShapeType="1"/>
            </p:cNvSpPr>
            <p:nvPr/>
          </p:nvSpPr>
          <p:spPr bwMode="auto">
            <a:xfrm>
              <a:off x="1451" y="2023"/>
              <a:ext cx="0" cy="50"/>
            </a:xfrm>
            <a:prstGeom prst="line">
              <a:avLst/>
            </a:prstGeom>
            <a:noFill/>
            <a:ln w="12700">
              <a:solidFill>
                <a:schemeClr val="tx1"/>
              </a:solidFill>
              <a:round/>
            </a:ln>
          </p:spPr>
          <p:txBody>
            <a:bodyPr wrap="none" anchor="ctr"/>
            <a:lstStyle/>
            <a:p>
              <a:endParaRPr lang="en-US"/>
            </a:p>
          </p:txBody>
        </p:sp>
        <p:sp>
          <p:nvSpPr>
            <p:cNvPr id="145467" name="Rectangle 59"/>
            <p:cNvSpPr>
              <a:spLocks noChangeArrowheads="1"/>
            </p:cNvSpPr>
            <p:nvPr/>
          </p:nvSpPr>
          <p:spPr bwMode="auto">
            <a:xfrm>
              <a:off x="1137" y="2023"/>
              <a:ext cx="310" cy="47"/>
            </a:xfrm>
            <a:prstGeom prst="rect">
              <a:avLst/>
            </a:prstGeom>
            <a:solidFill>
              <a:schemeClr val="hlink"/>
            </a:solidFill>
            <a:ln>
              <a:noFill/>
            </a:ln>
          </p:spPr>
          <p:txBody>
            <a:bodyPr wrap="none" anchor="ctr"/>
            <a:lstStyle/>
            <a:p>
              <a:pPr algn="ctr"/>
              <a:endParaRPr lang="en-US" sz="2400"/>
            </a:p>
          </p:txBody>
        </p:sp>
        <p:sp>
          <p:nvSpPr>
            <p:cNvPr id="145468" name="Oval 60"/>
            <p:cNvSpPr>
              <a:spLocks noChangeArrowheads="1"/>
            </p:cNvSpPr>
            <p:nvPr/>
          </p:nvSpPr>
          <p:spPr bwMode="auto">
            <a:xfrm>
              <a:off x="1134" y="1969"/>
              <a:ext cx="313" cy="96"/>
            </a:xfrm>
            <a:prstGeom prst="ellipse">
              <a:avLst/>
            </a:prstGeom>
            <a:solidFill>
              <a:schemeClr val="hlink"/>
            </a:solidFill>
            <a:ln w="12700">
              <a:solidFill>
                <a:schemeClr val="tx1"/>
              </a:solidFill>
              <a:round/>
            </a:ln>
          </p:spPr>
          <p:txBody>
            <a:bodyPr wrap="none" anchor="ctr"/>
            <a:lstStyle/>
            <a:p>
              <a:endParaRPr lang="en-US"/>
            </a:p>
          </p:txBody>
        </p:sp>
        <p:sp>
          <p:nvSpPr>
            <p:cNvPr id="145469" name="Rectangle 61"/>
            <p:cNvSpPr>
              <a:spLocks noChangeArrowheads="1"/>
            </p:cNvSpPr>
            <p:nvPr/>
          </p:nvSpPr>
          <p:spPr bwMode="auto">
            <a:xfrm>
              <a:off x="1219" y="1995"/>
              <a:ext cx="142" cy="96"/>
            </a:xfrm>
            <a:prstGeom prst="rect">
              <a:avLst/>
            </a:prstGeom>
            <a:solidFill>
              <a:schemeClr val="hlink"/>
            </a:solidFill>
            <a:ln>
              <a:noFill/>
            </a:ln>
          </p:spPr>
          <p:txBody>
            <a:bodyPr wrap="none" anchor="ctr"/>
            <a:lstStyle/>
            <a:p>
              <a:endParaRPr lang="en-US"/>
            </a:p>
          </p:txBody>
        </p:sp>
        <p:sp>
          <p:nvSpPr>
            <p:cNvPr id="145470" name="Text Box 62"/>
            <p:cNvSpPr txBox="1">
              <a:spLocks noChangeArrowheads="1"/>
            </p:cNvSpPr>
            <p:nvPr/>
          </p:nvSpPr>
          <p:spPr bwMode="auto">
            <a:xfrm>
              <a:off x="1137" y="1909"/>
              <a:ext cx="320" cy="2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1a</a:t>
              </a:r>
              <a:endParaRPr lang="en-US"/>
            </a:p>
          </p:txBody>
        </p:sp>
        <p:grpSp>
          <p:nvGrpSpPr>
            <p:cNvPr id="145471" name="Group 63"/>
            <p:cNvGrpSpPr/>
            <p:nvPr/>
          </p:nvGrpSpPr>
          <p:grpSpPr bwMode="auto">
            <a:xfrm>
              <a:off x="3270" y="1384"/>
              <a:ext cx="316" cy="269"/>
              <a:chOff x="4320" y="1936"/>
              <a:chExt cx="316" cy="269"/>
            </a:xfrm>
          </p:grpSpPr>
          <p:sp>
            <p:nvSpPr>
              <p:cNvPr id="145524" name="Oval 64"/>
              <p:cNvSpPr>
                <a:spLocks noChangeArrowheads="1"/>
              </p:cNvSpPr>
              <p:nvPr/>
            </p:nvSpPr>
            <p:spPr bwMode="auto">
              <a:xfrm>
                <a:off x="4323" y="2054"/>
                <a:ext cx="313" cy="81"/>
              </a:xfrm>
              <a:prstGeom prst="ellipse">
                <a:avLst/>
              </a:prstGeom>
              <a:solidFill>
                <a:schemeClr val="hlink"/>
              </a:solidFill>
              <a:ln w="12700">
                <a:solidFill>
                  <a:schemeClr val="tx1"/>
                </a:solidFill>
                <a:round/>
              </a:ln>
            </p:spPr>
            <p:txBody>
              <a:bodyPr wrap="none" anchor="ctr"/>
              <a:lstStyle/>
              <a:p>
                <a:endParaRPr lang="en-US"/>
              </a:p>
            </p:txBody>
          </p:sp>
          <p:sp>
            <p:nvSpPr>
              <p:cNvPr id="145525" name="Line 65"/>
              <p:cNvSpPr>
                <a:spLocks noChangeShapeType="1"/>
              </p:cNvSpPr>
              <p:nvPr/>
            </p:nvSpPr>
            <p:spPr bwMode="auto">
              <a:xfrm>
                <a:off x="4323" y="2047"/>
                <a:ext cx="0" cy="52"/>
              </a:xfrm>
              <a:prstGeom prst="line">
                <a:avLst/>
              </a:prstGeom>
              <a:noFill/>
              <a:ln w="12700">
                <a:solidFill>
                  <a:schemeClr val="tx1"/>
                </a:solidFill>
                <a:round/>
              </a:ln>
            </p:spPr>
            <p:txBody>
              <a:bodyPr wrap="none" anchor="ctr"/>
              <a:lstStyle/>
              <a:p>
                <a:endParaRPr lang="en-US"/>
              </a:p>
            </p:txBody>
          </p:sp>
          <p:sp>
            <p:nvSpPr>
              <p:cNvPr id="145526" name="Line 66"/>
              <p:cNvSpPr>
                <a:spLocks noChangeShapeType="1"/>
              </p:cNvSpPr>
              <p:nvPr/>
            </p:nvSpPr>
            <p:spPr bwMode="auto">
              <a:xfrm>
                <a:off x="4636" y="2047"/>
                <a:ext cx="0" cy="52"/>
              </a:xfrm>
              <a:prstGeom prst="line">
                <a:avLst/>
              </a:prstGeom>
              <a:noFill/>
              <a:ln w="12700">
                <a:solidFill>
                  <a:schemeClr val="tx1"/>
                </a:solidFill>
                <a:round/>
              </a:ln>
            </p:spPr>
            <p:txBody>
              <a:bodyPr wrap="none" anchor="ctr"/>
              <a:lstStyle/>
              <a:p>
                <a:endParaRPr lang="en-US"/>
              </a:p>
            </p:txBody>
          </p:sp>
          <p:sp>
            <p:nvSpPr>
              <p:cNvPr id="145527" name="Rectangle 67"/>
              <p:cNvSpPr>
                <a:spLocks noChangeArrowheads="1"/>
              </p:cNvSpPr>
              <p:nvPr/>
            </p:nvSpPr>
            <p:spPr bwMode="auto">
              <a:xfrm>
                <a:off x="4323" y="2047"/>
                <a:ext cx="310" cy="51"/>
              </a:xfrm>
              <a:prstGeom prst="rect">
                <a:avLst/>
              </a:prstGeom>
              <a:solidFill>
                <a:schemeClr val="hlink"/>
              </a:solidFill>
              <a:ln>
                <a:noFill/>
              </a:ln>
            </p:spPr>
            <p:txBody>
              <a:bodyPr wrap="none" anchor="ctr"/>
              <a:lstStyle/>
              <a:p>
                <a:pPr algn="ctr"/>
                <a:endParaRPr lang="en-US" sz="2400"/>
              </a:p>
            </p:txBody>
          </p:sp>
          <p:sp>
            <p:nvSpPr>
              <p:cNvPr id="145528" name="Oval 68"/>
              <p:cNvSpPr>
                <a:spLocks noChangeArrowheads="1"/>
              </p:cNvSpPr>
              <p:nvPr/>
            </p:nvSpPr>
            <p:spPr bwMode="auto">
              <a:xfrm>
                <a:off x="4320" y="1988"/>
                <a:ext cx="313" cy="97"/>
              </a:xfrm>
              <a:prstGeom prst="ellipse">
                <a:avLst/>
              </a:prstGeom>
              <a:solidFill>
                <a:schemeClr val="hlink"/>
              </a:solidFill>
              <a:ln w="12700">
                <a:solidFill>
                  <a:schemeClr val="tx1"/>
                </a:solidFill>
                <a:round/>
              </a:ln>
            </p:spPr>
            <p:txBody>
              <a:bodyPr wrap="none" anchor="ctr"/>
              <a:lstStyle/>
              <a:p>
                <a:endParaRPr lang="en-US"/>
              </a:p>
            </p:txBody>
          </p:sp>
          <p:sp>
            <p:nvSpPr>
              <p:cNvPr id="145529" name="Rectangle 69"/>
              <p:cNvSpPr>
                <a:spLocks noChangeArrowheads="1"/>
              </p:cNvSpPr>
              <p:nvPr/>
            </p:nvSpPr>
            <p:spPr bwMode="auto">
              <a:xfrm>
                <a:off x="4407" y="2001"/>
                <a:ext cx="141" cy="118"/>
              </a:xfrm>
              <a:prstGeom prst="rect">
                <a:avLst/>
              </a:prstGeom>
              <a:solidFill>
                <a:schemeClr val="hlink"/>
              </a:solidFill>
              <a:ln>
                <a:noFill/>
              </a:ln>
            </p:spPr>
            <p:txBody>
              <a:bodyPr wrap="none" anchor="ctr"/>
              <a:lstStyle/>
              <a:p>
                <a:endParaRPr lang="en-US"/>
              </a:p>
            </p:txBody>
          </p:sp>
          <p:sp>
            <p:nvSpPr>
              <p:cNvPr id="145530" name="Text Box 70"/>
              <p:cNvSpPr txBox="1">
                <a:spLocks noChangeArrowheads="1"/>
              </p:cNvSpPr>
              <p:nvPr/>
            </p:nvSpPr>
            <p:spPr bwMode="auto">
              <a:xfrm>
                <a:off x="4325" y="1936"/>
                <a:ext cx="310" cy="2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2c</a:t>
                </a:r>
                <a:endParaRPr lang="en-US"/>
              </a:p>
            </p:txBody>
          </p:sp>
        </p:grpSp>
        <p:grpSp>
          <p:nvGrpSpPr>
            <p:cNvPr id="145472" name="Group 71"/>
            <p:cNvGrpSpPr/>
            <p:nvPr/>
          </p:nvGrpSpPr>
          <p:grpSpPr bwMode="auto">
            <a:xfrm>
              <a:off x="3546" y="1606"/>
              <a:ext cx="321" cy="269"/>
              <a:chOff x="4596" y="2158"/>
              <a:chExt cx="321" cy="269"/>
            </a:xfrm>
          </p:grpSpPr>
          <p:sp>
            <p:nvSpPr>
              <p:cNvPr id="145517" name="Oval 72"/>
              <p:cNvSpPr>
                <a:spLocks noChangeArrowheads="1"/>
              </p:cNvSpPr>
              <p:nvPr/>
            </p:nvSpPr>
            <p:spPr bwMode="auto">
              <a:xfrm>
                <a:off x="4599" y="2276"/>
                <a:ext cx="311" cy="81"/>
              </a:xfrm>
              <a:prstGeom prst="ellipse">
                <a:avLst/>
              </a:prstGeom>
              <a:solidFill>
                <a:schemeClr val="hlink"/>
              </a:solidFill>
              <a:ln w="12700">
                <a:solidFill>
                  <a:schemeClr val="tx1"/>
                </a:solidFill>
                <a:round/>
              </a:ln>
            </p:spPr>
            <p:txBody>
              <a:bodyPr wrap="none" anchor="ctr"/>
              <a:lstStyle/>
              <a:p>
                <a:endParaRPr lang="en-US"/>
              </a:p>
            </p:txBody>
          </p:sp>
          <p:sp>
            <p:nvSpPr>
              <p:cNvPr id="145518" name="Line 73"/>
              <p:cNvSpPr>
                <a:spLocks noChangeShapeType="1"/>
              </p:cNvSpPr>
              <p:nvPr/>
            </p:nvSpPr>
            <p:spPr bwMode="auto">
              <a:xfrm>
                <a:off x="4599" y="2269"/>
                <a:ext cx="0" cy="52"/>
              </a:xfrm>
              <a:prstGeom prst="line">
                <a:avLst/>
              </a:prstGeom>
              <a:noFill/>
              <a:ln w="12700">
                <a:solidFill>
                  <a:schemeClr val="tx1"/>
                </a:solidFill>
                <a:round/>
              </a:ln>
            </p:spPr>
            <p:txBody>
              <a:bodyPr wrap="none" anchor="ctr"/>
              <a:lstStyle/>
              <a:p>
                <a:endParaRPr lang="en-US"/>
              </a:p>
            </p:txBody>
          </p:sp>
          <p:sp>
            <p:nvSpPr>
              <p:cNvPr id="145519" name="Line 74"/>
              <p:cNvSpPr>
                <a:spLocks noChangeShapeType="1"/>
              </p:cNvSpPr>
              <p:nvPr/>
            </p:nvSpPr>
            <p:spPr bwMode="auto">
              <a:xfrm>
                <a:off x="4910" y="2269"/>
                <a:ext cx="0" cy="52"/>
              </a:xfrm>
              <a:prstGeom prst="line">
                <a:avLst/>
              </a:prstGeom>
              <a:noFill/>
              <a:ln w="12700">
                <a:solidFill>
                  <a:schemeClr val="tx1"/>
                </a:solidFill>
                <a:round/>
              </a:ln>
            </p:spPr>
            <p:txBody>
              <a:bodyPr wrap="none" anchor="ctr"/>
              <a:lstStyle/>
              <a:p>
                <a:endParaRPr lang="en-US"/>
              </a:p>
            </p:txBody>
          </p:sp>
          <p:sp>
            <p:nvSpPr>
              <p:cNvPr id="145520" name="Rectangle 75"/>
              <p:cNvSpPr>
                <a:spLocks noChangeArrowheads="1"/>
              </p:cNvSpPr>
              <p:nvPr/>
            </p:nvSpPr>
            <p:spPr bwMode="auto">
              <a:xfrm>
                <a:off x="4599" y="2269"/>
                <a:ext cx="310" cy="51"/>
              </a:xfrm>
              <a:prstGeom prst="rect">
                <a:avLst/>
              </a:prstGeom>
              <a:solidFill>
                <a:schemeClr val="hlink"/>
              </a:solidFill>
              <a:ln>
                <a:noFill/>
              </a:ln>
            </p:spPr>
            <p:txBody>
              <a:bodyPr wrap="none" anchor="ctr"/>
              <a:lstStyle/>
              <a:p>
                <a:pPr algn="ctr"/>
                <a:endParaRPr lang="en-US" sz="2400"/>
              </a:p>
            </p:txBody>
          </p:sp>
          <p:sp>
            <p:nvSpPr>
              <p:cNvPr id="145521" name="Oval 76"/>
              <p:cNvSpPr>
                <a:spLocks noChangeArrowheads="1"/>
              </p:cNvSpPr>
              <p:nvPr/>
            </p:nvSpPr>
            <p:spPr bwMode="auto">
              <a:xfrm>
                <a:off x="4596" y="2208"/>
                <a:ext cx="313" cy="97"/>
              </a:xfrm>
              <a:prstGeom prst="ellipse">
                <a:avLst/>
              </a:prstGeom>
              <a:solidFill>
                <a:schemeClr val="hlink"/>
              </a:solidFill>
              <a:ln w="12700">
                <a:solidFill>
                  <a:schemeClr val="tx1"/>
                </a:solidFill>
                <a:round/>
              </a:ln>
            </p:spPr>
            <p:txBody>
              <a:bodyPr wrap="none" anchor="ctr"/>
              <a:lstStyle/>
              <a:p>
                <a:endParaRPr lang="en-US"/>
              </a:p>
            </p:txBody>
          </p:sp>
          <p:sp>
            <p:nvSpPr>
              <p:cNvPr id="145522" name="Rectangle 77"/>
              <p:cNvSpPr>
                <a:spLocks noChangeArrowheads="1"/>
              </p:cNvSpPr>
              <p:nvPr/>
            </p:nvSpPr>
            <p:spPr bwMode="auto">
              <a:xfrm>
                <a:off x="4683" y="2221"/>
                <a:ext cx="141" cy="112"/>
              </a:xfrm>
              <a:prstGeom prst="rect">
                <a:avLst/>
              </a:prstGeom>
              <a:solidFill>
                <a:schemeClr val="hlink"/>
              </a:solidFill>
              <a:ln>
                <a:noFill/>
              </a:ln>
            </p:spPr>
            <p:txBody>
              <a:bodyPr wrap="none" anchor="ctr"/>
              <a:lstStyle/>
              <a:p>
                <a:endParaRPr lang="en-US"/>
              </a:p>
            </p:txBody>
          </p:sp>
          <p:sp>
            <p:nvSpPr>
              <p:cNvPr id="145523" name="Text Box 78"/>
              <p:cNvSpPr txBox="1">
                <a:spLocks noChangeArrowheads="1"/>
              </p:cNvSpPr>
              <p:nvPr/>
            </p:nvSpPr>
            <p:spPr bwMode="auto">
              <a:xfrm>
                <a:off x="4598" y="2158"/>
                <a:ext cx="319" cy="2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2b</a:t>
                </a:r>
                <a:endParaRPr lang="en-US"/>
              </a:p>
            </p:txBody>
          </p:sp>
        </p:grpSp>
        <p:grpSp>
          <p:nvGrpSpPr>
            <p:cNvPr id="145473" name="Group 79"/>
            <p:cNvGrpSpPr/>
            <p:nvPr/>
          </p:nvGrpSpPr>
          <p:grpSpPr bwMode="auto">
            <a:xfrm>
              <a:off x="2015" y="1976"/>
              <a:ext cx="321" cy="269"/>
              <a:chOff x="2015" y="1976"/>
              <a:chExt cx="321" cy="269"/>
            </a:xfrm>
          </p:grpSpPr>
          <p:sp>
            <p:nvSpPr>
              <p:cNvPr id="145509" name="Oval 80"/>
              <p:cNvSpPr>
                <a:spLocks noChangeArrowheads="1"/>
              </p:cNvSpPr>
              <p:nvPr/>
            </p:nvSpPr>
            <p:spPr bwMode="auto">
              <a:xfrm>
                <a:off x="2019" y="2102"/>
                <a:ext cx="311" cy="81"/>
              </a:xfrm>
              <a:prstGeom prst="ellipse">
                <a:avLst/>
              </a:prstGeom>
              <a:solidFill>
                <a:schemeClr val="hlink"/>
              </a:solidFill>
              <a:ln w="12700">
                <a:solidFill>
                  <a:schemeClr val="tx1"/>
                </a:solidFill>
                <a:round/>
              </a:ln>
            </p:spPr>
            <p:txBody>
              <a:bodyPr wrap="none" anchor="ctr"/>
              <a:lstStyle/>
              <a:p>
                <a:endParaRPr lang="en-US"/>
              </a:p>
            </p:txBody>
          </p:sp>
          <p:sp>
            <p:nvSpPr>
              <p:cNvPr id="145510" name="Line 81"/>
              <p:cNvSpPr>
                <a:spLocks noChangeShapeType="1"/>
              </p:cNvSpPr>
              <p:nvPr/>
            </p:nvSpPr>
            <p:spPr bwMode="auto">
              <a:xfrm>
                <a:off x="2019" y="2097"/>
                <a:ext cx="0" cy="50"/>
              </a:xfrm>
              <a:prstGeom prst="line">
                <a:avLst/>
              </a:prstGeom>
              <a:noFill/>
              <a:ln w="12700">
                <a:solidFill>
                  <a:schemeClr val="tx1"/>
                </a:solidFill>
                <a:round/>
              </a:ln>
            </p:spPr>
            <p:txBody>
              <a:bodyPr wrap="none" anchor="ctr"/>
              <a:lstStyle/>
              <a:p>
                <a:endParaRPr lang="en-US"/>
              </a:p>
            </p:txBody>
          </p:sp>
          <p:sp>
            <p:nvSpPr>
              <p:cNvPr id="145511" name="Line 82"/>
              <p:cNvSpPr>
                <a:spLocks noChangeShapeType="1"/>
              </p:cNvSpPr>
              <p:nvPr/>
            </p:nvSpPr>
            <p:spPr bwMode="auto">
              <a:xfrm>
                <a:off x="2330" y="2097"/>
                <a:ext cx="0" cy="50"/>
              </a:xfrm>
              <a:prstGeom prst="line">
                <a:avLst/>
              </a:prstGeom>
              <a:noFill/>
              <a:ln w="12700">
                <a:solidFill>
                  <a:schemeClr val="tx1"/>
                </a:solidFill>
                <a:round/>
              </a:ln>
            </p:spPr>
            <p:txBody>
              <a:bodyPr wrap="none" anchor="ctr"/>
              <a:lstStyle/>
              <a:p>
                <a:endParaRPr lang="en-US"/>
              </a:p>
            </p:txBody>
          </p:sp>
          <p:sp>
            <p:nvSpPr>
              <p:cNvPr id="145512" name="Rectangle 83"/>
              <p:cNvSpPr>
                <a:spLocks noChangeArrowheads="1"/>
              </p:cNvSpPr>
              <p:nvPr/>
            </p:nvSpPr>
            <p:spPr bwMode="auto">
              <a:xfrm>
                <a:off x="2019" y="2097"/>
                <a:ext cx="310" cy="47"/>
              </a:xfrm>
              <a:prstGeom prst="rect">
                <a:avLst/>
              </a:prstGeom>
              <a:solidFill>
                <a:schemeClr val="hlink"/>
              </a:solidFill>
              <a:ln>
                <a:noFill/>
              </a:ln>
            </p:spPr>
            <p:txBody>
              <a:bodyPr wrap="none" anchor="ctr"/>
              <a:lstStyle/>
              <a:p>
                <a:pPr algn="ctr"/>
                <a:endParaRPr lang="en-US" sz="2400"/>
              </a:p>
            </p:txBody>
          </p:sp>
          <p:sp>
            <p:nvSpPr>
              <p:cNvPr id="145513" name="Oval 84"/>
              <p:cNvSpPr>
                <a:spLocks noChangeArrowheads="1"/>
              </p:cNvSpPr>
              <p:nvPr/>
            </p:nvSpPr>
            <p:spPr bwMode="auto">
              <a:xfrm>
                <a:off x="2016" y="2036"/>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45514" name="Group 85"/>
              <p:cNvGrpSpPr/>
              <p:nvPr/>
            </p:nvGrpSpPr>
            <p:grpSpPr bwMode="auto">
              <a:xfrm>
                <a:off x="2015" y="1976"/>
                <a:ext cx="321" cy="269"/>
                <a:chOff x="2894" y="2425"/>
                <a:chExt cx="328" cy="269"/>
              </a:xfrm>
            </p:grpSpPr>
            <p:sp>
              <p:nvSpPr>
                <p:cNvPr id="145515" name="Rectangle 86"/>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45516" name="Text Box 87"/>
                <p:cNvSpPr txBox="1">
                  <a:spLocks noChangeArrowheads="1"/>
                </p:cNvSpPr>
                <p:nvPr/>
              </p:nvSpPr>
              <p:spPr bwMode="auto">
                <a:xfrm>
                  <a:off x="2894" y="2425"/>
                  <a:ext cx="328" cy="2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1b</a:t>
                  </a:r>
                  <a:endParaRPr lang="en-US"/>
                </a:p>
              </p:txBody>
            </p:sp>
          </p:grpSp>
        </p:grpSp>
        <p:sp>
          <p:nvSpPr>
            <p:cNvPr id="145474" name="Freeform 88"/>
            <p:cNvSpPr/>
            <p:nvPr/>
          </p:nvSpPr>
          <p:spPr bwMode="auto">
            <a:xfrm>
              <a:off x="1457" y="2302"/>
              <a:ext cx="1848" cy="414"/>
            </a:xfrm>
            <a:custGeom>
              <a:avLst/>
              <a:gdLst>
                <a:gd name="T0" fmla="*/ 0 w 1848"/>
                <a:gd name="T1" fmla="*/ 414 h 414"/>
                <a:gd name="T2" fmla="*/ 84 w 1848"/>
                <a:gd name="T3" fmla="*/ 0 h 414"/>
                <a:gd name="T4" fmla="*/ 384 w 1848"/>
                <a:gd name="T5" fmla="*/ 6 h 414"/>
                <a:gd name="T6" fmla="*/ 1848 w 1848"/>
                <a:gd name="T7" fmla="*/ 414 h 414"/>
                <a:gd name="T8" fmla="*/ 0 w 1848"/>
                <a:gd name="T9" fmla="*/ 414 h 414"/>
                <a:gd name="T10" fmla="*/ 0 60000 65536"/>
                <a:gd name="T11" fmla="*/ 0 60000 65536"/>
                <a:gd name="T12" fmla="*/ 0 60000 65536"/>
                <a:gd name="T13" fmla="*/ 0 60000 65536"/>
                <a:gd name="T14" fmla="*/ 0 60000 65536"/>
                <a:gd name="T15" fmla="*/ 0 w 1848"/>
                <a:gd name="T16" fmla="*/ 0 h 414"/>
                <a:gd name="T17" fmla="*/ 1848 w 1848"/>
                <a:gd name="T18" fmla="*/ 414 h 414"/>
              </a:gdLst>
              <a:ahLst/>
              <a:cxnLst>
                <a:cxn ang="T10">
                  <a:pos x="T0" y="T1"/>
                </a:cxn>
                <a:cxn ang="T11">
                  <a:pos x="T2" y="T3"/>
                </a:cxn>
                <a:cxn ang="T12">
                  <a:pos x="T4" y="T5"/>
                </a:cxn>
                <a:cxn ang="T13">
                  <a:pos x="T6" y="T7"/>
                </a:cxn>
                <a:cxn ang="T14">
                  <a:pos x="T8" y="T9"/>
                </a:cxn>
              </a:cxnLst>
              <a:rect l="T15" t="T16" r="T17" b="T18"/>
              <a:pathLst>
                <a:path w="1848" h="414">
                  <a:moveTo>
                    <a:pt x="0" y="414"/>
                  </a:moveTo>
                  <a:lnTo>
                    <a:pt x="84" y="0"/>
                  </a:lnTo>
                  <a:lnTo>
                    <a:pt x="384" y="6"/>
                  </a:lnTo>
                  <a:lnTo>
                    <a:pt x="1848" y="414"/>
                  </a:lnTo>
                  <a:lnTo>
                    <a:pt x="0" y="414"/>
                  </a:lnTo>
                  <a:close/>
                </a:path>
              </a:pathLst>
            </a:custGeom>
            <a:gradFill rotWithShape="1">
              <a:gsLst>
                <a:gs pos="0">
                  <a:srgbClr val="DDDDDD"/>
                </a:gs>
                <a:gs pos="100000">
                  <a:srgbClr val="5F5F5F"/>
                </a:gs>
              </a:gsLst>
              <a:lin ang="5400000" scaled="1"/>
            </a:gradFill>
            <a:ln w="9525" cap="flat" cmpd="sng">
              <a:solidFill>
                <a:srgbClr val="DDDDDD"/>
              </a:solidFill>
              <a:prstDash val="solid"/>
              <a:round/>
            </a:ln>
          </p:spPr>
          <p:txBody>
            <a:bodyPr wrap="none" anchor="ctr"/>
            <a:lstStyle/>
            <a:p>
              <a:endParaRPr lang="en-US"/>
            </a:p>
          </p:txBody>
        </p:sp>
        <p:sp>
          <p:nvSpPr>
            <p:cNvPr id="145475" name="Rectangle 89"/>
            <p:cNvSpPr>
              <a:spLocks noChangeArrowheads="1"/>
            </p:cNvSpPr>
            <p:nvPr/>
          </p:nvSpPr>
          <p:spPr bwMode="auto">
            <a:xfrm>
              <a:off x="1462" y="2729"/>
              <a:ext cx="1833" cy="1117"/>
            </a:xfrm>
            <a:prstGeom prst="rect">
              <a:avLst/>
            </a:prstGeom>
            <a:noFill/>
            <a:ln w="9525">
              <a:solidFill>
                <a:schemeClr val="tx1"/>
              </a:solidFill>
              <a:miter lim="800000"/>
            </a:ln>
          </p:spPr>
          <p:txBody>
            <a:bodyPr wrap="none" anchor="ctr"/>
            <a:lstStyle/>
            <a:p>
              <a:endParaRPr lang="en-US"/>
            </a:p>
          </p:txBody>
        </p:sp>
        <p:grpSp>
          <p:nvGrpSpPr>
            <p:cNvPr id="145476" name="Group 90"/>
            <p:cNvGrpSpPr/>
            <p:nvPr/>
          </p:nvGrpSpPr>
          <p:grpSpPr bwMode="auto">
            <a:xfrm>
              <a:off x="1578" y="2818"/>
              <a:ext cx="736" cy="479"/>
              <a:chOff x="1595" y="2898"/>
              <a:chExt cx="736" cy="479"/>
            </a:xfrm>
          </p:grpSpPr>
          <p:sp>
            <p:nvSpPr>
              <p:cNvPr id="145507" name="Oval 91"/>
              <p:cNvSpPr>
                <a:spLocks noChangeArrowheads="1"/>
              </p:cNvSpPr>
              <p:nvPr/>
            </p:nvSpPr>
            <p:spPr bwMode="auto">
              <a:xfrm>
                <a:off x="1595" y="2898"/>
                <a:ext cx="736" cy="479"/>
              </a:xfrm>
              <a:prstGeom prst="ellipse">
                <a:avLst/>
              </a:prstGeom>
              <a:noFill/>
              <a:ln w="9525">
                <a:solidFill>
                  <a:schemeClr val="accent2"/>
                </a:solidFill>
                <a:round/>
              </a:ln>
            </p:spPr>
            <p:txBody>
              <a:bodyPr wrap="none" anchor="ctr"/>
              <a:lstStyle/>
              <a:p>
                <a:endParaRPr lang="en-US"/>
              </a:p>
            </p:txBody>
          </p:sp>
          <p:sp>
            <p:nvSpPr>
              <p:cNvPr id="145508" name="Text Box 92"/>
              <p:cNvSpPr txBox="1">
                <a:spLocks noChangeArrowheads="1"/>
              </p:cNvSpPr>
              <p:nvPr/>
            </p:nvSpPr>
            <p:spPr bwMode="auto">
              <a:xfrm>
                <a:off x="1733" y="2933"/>
                <a:ext cx="553" cy="434"/>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eaLnBrk="1" hangingPunct="1"/>
                <a:r>
                  <a:rPr lang="en-US" sz="1200">
                    <a:solidFill>
                      <a:srgbClr val="000099"/>
                    </a:solidFill>
                  </a:rPr>
                  <a:t>Intra-AS</a:t>
                </a:r>
              </a:p>
              <a:p>
                <a:pPr eaLnBrk="1" hangingPunct="1"/>
                <a:r>
                  <a:rPr lang="en-US" sz="1200">
                    <a:solidFill>
                      <a:srgbClr val="000099"/>
                    </a:solidFill>
                  </a:rPr>
                  <a:t>Routing </a:t>
                </a:r>
              </a:p>
              <a:p>
                <a:pPr eaLnBrk="1" hangingPunct="1"/>
                <a:r>
                  <a:rPr lang="en-US" sz="1200">
                    <a:solidFill>
                      <a:srgbClr val="000099"/>
                    </a:solidFill>
                  </a:rPr>
                  <a:t>algorithm</a:t>
                </a:r>
              </a:p>
            </p:txBody>
          </p:sp>
        </p:grpSp>
        <p:grpSp>
          <p:nvGrpSpPr>
            <p:cNvPr id="145477" name="Group 93"/>
            <p:cNvGrpSpPr/>
            <p:nvPr/>
          </p:nvGrpSpPr>
          <p:grpSpPr bwMode="auto">
            <a:xfrm>
              <a:off x="2402" y="2826"/>
              <a:ext cx="736" cy="479"/>
              <a:chOff x="2402" y="2826"/>
              <a:chExt cx="736" cy="479"/>
            </a:xfrm>
          </p:grpSpPr>
          <p:sp>
            <p:nvSpPr>
              <p:cNvPr id="145505" name="Oval 94"/>
              <p:cNvSpPr>
                <a:spLocks noChangeArrowheads="1"/>
              </p:cNvSpPr>
              <p:nvPr/>
            </p:nvSpPr>
            <p:spPr bwMode="auto">
              <a:xfrm>
                <a:off x="2402" y="2828"/>
                <a:ext cx="736" cy="477"/>
              </a:xfrm>
              <a:prstGeom prst="ellipse">
                <a:avLst/>
              </a:prstGeom>
              <a:noFill/>
              <a:ln w="9525">
                <a:solidFill>
                  <a:srgbClr val="FF0000"/>
                </a:solidFill>
                <a:round/>
              </a:ln>
            </p:spPr>
            <p:txBody>
              <a:bodyPr wrap="none" anchor="ctr"/>
              <a:lstStyle/>
              <a:p>
                <a:endParaRPr lang="en-US"/>
              </a:p>
            </p:txBody>
          </p:sp>
          <p:sp>
            <p:nvSpPr>
              <p:cNvPr id="145506" name="Text Box 95"/>
              <p:cNvSpPr txBox="1">
                <a:spLocks noChangeArrowheads="1"/>
              </p:cNvSpPr>
              <p:nvPr/>
            </p:nvSpPr>
            <p:spPr bwMode="auto">
              <a:xfrm>
                <a:off x="2539" y="2862"/>
                <a:ext cx="553" cy="434"/>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eaLnBrk="1" hangingPunct="1"/>
                <a:r>
                  <a:rPr lang="en-US" sz="1200">
                    <a:solidFill>
                      <a:srgbClr val="FF0000"/>
                    </a:solidFill>
                  </a:rPr>
                  <a:t>Inter-AS</a:t>
                </a:r>
              </a:p>
              <a:p>
                <a:pPr eaLnBrk="1" hangingPunct="1"/>
                <a:r>
                  <a:rPr lang="en-US" sz="1200">
                    <a:solidFill>
                      <a:srgbClr val="FF0000"/>
                    </a:solidFill>
                  </a:rPr>
                  <a:t>Routing </a:t>
                </a:r>
              </a:p>
              <a:p>
                <a:pPr eaLnBrk="1" hangingPunct="1"/>
                <a:r>
                  <a:rPr lang="en-US" sz="1200">
                    <a:solidFill>
                      <a:srgbClr val="FF0000"/>
                    </a:solidFill>
                  </a:rPr>
                  <a:t>algorithm</a:t>
                </a:r>
              </a:p>
            </p:txBody>
          </p:sp>
        </p:grpSp>
        <p:sp>
          <p:nvSpPr>
            <p:cNvPr id="145478" name="Rectangle 96"/>
            <p:cNvSpPr>
              <a:spLocks noChangeArrowheads="1"/>
            </p:cNvSpPr>
            <p:nvPr/>
          </p:nvSpPr>
          <p:spPr bwMode="auto">
            <a:xfrm>
              <a:off x="1932" y="3447"/>
              <a:ext cx="780" cy="266"/>
            </a:xfrm>
            <a:prstGeom prst="rect">
              <a:avLst/>
            </a:prstGeom>
            <a:solidFill>
              <a:schemeClr val="accent1"/>
            </a:solidFill>
            <a:ln w="9525">
              <a:solidFill>
                <a:schemeClr val="tx1"/>
              </a:solidFill>
              <a:miter lim="800000"/>
            </a:ln>
          </p:spPr>
          <p:txBody>
            <a:bodyPr wrap="none" anchor="ctr"/>
            <a:lstStyle/>
            <a:p>
              <a:pPr algn="ctr" eaLnBrk="1" hangingPunct="1"/>
              <a:r>
                <a:rPr lang="en-US" sz="1400"/>
                <a:t>Forwarding</a:t>
              </a:r>
            </a:p>
            <a:p>
              <a:pPr algn="ctr" eaLnBrk="1" hangingPunct="1"/>
              <a:r>
                <a:rPr lang="en-US" sz="1400"/>
                <a:t>table</a:t>
              </a:r>
            </a:p>
          </p:txBody>
        </p:sp>
        <p:sp>
          <p:nvSpPr>
            <p:cNvPr id="145479" name="Freeform 97"/>
            <p:cNvSpPr/>
            <p:nvPr/>
          </p:nvSpPr>
          <p:spPr bwMode="auto">
            <a:xfrm>
              <a:off x="1648" y="3217"/>
              <a:ext cx="275" cy="345"/>
            </a:xfrm>
            <a:custGeom>
              <a:avLst/>
              <a:gdLst>
                <a:gd name="T0" fmla="*/ 0 w 275"/>
                <a:gd name="T1" fmla="*/ 0 h 345"/>
                <a:gd name="T2" fmla="*/ 71 w 275"/>
                <a:gd name="T3" fmla="*/ 230 h 345"/>
                <a:gd name="T4" fmla="*/ 275 w 275"/>
                <a:gd name="T5" fmla="*/ 345 h 345"/>
                <a:gd name="T6" fmla="*/ 0 60000 65536"/>
                <a:gd name="T7" fmla="*/ 0 60000 65536"/>
                <a:gd name="T8" fmla="*/ 0 60000 65536"/>
                <a:gd name="T9" fmla="*/ 0 w 275"/>
                <a:gd name="T10" fmla="*/ 0 h 345"/>
                <a:gd name="T11" fmla="*/ 275 w 275"/>
                <a:gd name="T12" fmla="*/ 345 h 345"/>
              </a:gdLst>
              <a:ahLst/>
              <a:cxnLst>
                <a:cxn ang="T6">
                  <a:pos x="T0" y="T1"/>
                </a:cxn>
                <a:cxn ang="T7">
                  <a:pos x="T2" y="T3"/>
                </a:cxn>
                <a:cxn ang="T8">
                  <a:pos x="T4" y="T5"/>
                </a:cxn>
              </a:cxnLst>
              <a:rect l="T9" t="T10" r="T11" b="T12"/>
              <a:pathLst>
                <a:path w="275" h="345">
                  <a:moveTo>
                    <a:pt x="0" y="0"/>
                  </a:moveTo>
                  <a:cubicBezTo>
                    <a:pt x="12" y="86"/>
                    <a:pt x="25" y="173"/>
                    <a:pt x="71" y="230"/>
                  </a:cubicBezTo>
                  <a:cubicBezTo>
                    <a:pt x="117" y="287"/>
                    <a:pt x="241" y="326"/>
                    <a:pt x="275" y="345"/>
                  </a:cubicBezTo>
                </a:path>
              </a:pathLst>
            </a:custGeom>
            <a:noFill/>
            <a:ln w="9525">
              <a:solidFill>
                <a:schemeClr val="accent2"/>
              </a:solidFill>
              <a:round/>
              <a:tailEnd type="triangle" w="med" len="med"/>
            </a:ln>
          </p:spPr>
          <p:txBody>
            <a:bodyPr/>
            <a:lstStyle/>
            <a:p>
              <a:endParaRPr lang="en-US"/>
            </a:p>
          </p:txBody>
        </p:sp>
        <p:sp>
          <p:nvSpPr>
            <p:cNvPr id="145480" name="Freeform 98"/>
            <p:cNvSpPr/>
            <p:nvPr/>
          </p:nvSpPr>
          <p:spPr bwMode="auto">
            <a:xfrm>
              <a:off x="2712" y="3217"/>
              <a:ext cx="354" cy="372"/>
            </a:xfrm>
            <a:custGeom>
              <a:avLst/>
              <a:gdLst>
                <a:gd name="T0" fmla="*/ 354 w 354"/>
                <a:gd name="T1" fmla="*/ 0 h 372"/>
                <a:gd name="T2" fmla="*/ 248 w 354"/>
                <a:gd name="T3" fmla="*/ 274 h 372"/>
                <a:gd name="T4" fmla="*/ 0 w 354"/>
                <a:gd name="T5" fmla="*/ 372 h 372"/>
                <a:gd name="T6" fmla="*/ 0 60000 65536"/>
                <a:gd name="T7" fmla="*/ 0 60000 65536"/>
                <a:gd name="T8" fmla="*/ 0 60000 65536"/>
                <a:gd name="T9" fmla="*/ 0 w 354"/>
                <a:gd name="T10" fmla="*/ 0 h 372"/>
                <a:gd name="T11" fmla="*/ 354 w 354"/>
                <a:gd name="T12" fmla="*/ 372 h 372"/>
              </a:gdLst>
              <a:ahLst/>
              <a:cxnLst>
                <a:cxn ang="T6">
                  <a:pos x="T0" y="T1"/>
                </a:cxn>
                <a:cxn ang="T7">
                  <a:pos x="T2" y="T3"/>
                </a:cxn>
                <a:cxn ang="T8">
                  <a:pos x="T4" y="T5"/>
                </a:cxn>
              </a:cxnLst>
              <a:rect l="T9" t="T10" r="T11" b="T12"/>
              <a:pathLst>
                <a:path w="354" h="372">
                  <a:moveTo>
                    <a:pt x="354" y="0"/>
                  </a:moveTo>
                  <a:cubicBezTo>
                    <a:pt x="330" y="106"/>
                    <a:pt x="307" y="212"/>
                    <a:pt x="248" y="274"/>
                  </a:cubicBezTo>
                  <a:cubicBezTo>
                    <a:pt x="189" y="336"/>
                    <a:pt x="41" y="354"/>
                    <a:pt x="0" y="372"/>
                  </a:cubicBezTo>
                </a:path>
              </a:pathLst>
            </a:custGeom>
            <a:noFill/>
            <a:ln w="9525">
              <a:solidFill>
                <a:srgbClr val="FF0000"/>
              </a:solidFill>
              <a:round/>
              <a:tailEnd type="triangle" w="med" len="med"/>
            </a:ln>
          </p:spPr>
          <p:txBody>
            <a:bodyPr/>
            <a:lstStyle/>
            <a:p>
              <a:endParaRPr lang="en-US"/>
            </a:p>
          </p:txBody>
        </p:sp>
        <p:grpSp>
          <p:nvGrpSpPr>
            <p:cNvPr id="145481" name="Group 99"/>
            <p:cNvGrpSpPr/>
            <p:nvPr/>
          </p:nvGrpSpPr>
          <p:grpSpPr bwMode="auto">
            <a:xfrm>
              <a:off x="419" y="1222"/>
              <a:ext cx="316" cy="269"/>
              <a:chOff x="2016" y="1976"/>
              <a:chExt cx="316" cy="269"/>
            </a:xfrm>
          </p:grpSpPr>
          <p:sp>
            <p:nvSpPr>
              <p:cNvPr id="145497" name="Oval 100"/>
              <p:cNvSpPr>
                <a:spLocks noChangeArrowheads="1"/>
              </p:cNvSpPr>
              <p:nvPr/>
            </p:nvSpPr>
            <p:spPr bwMode="auto">
              <a:xfrm>
                <a:off x="2019" y="2102"/>
                <a:ext cx="313" cy="81"/>
              </a:xfrm>
              <a:prstGeom prst="ellipse">
                <a:avLst/>
              </a:prstGeom>
              <a:solidFill>
                <a:schemeClr val="hlink"/>
              </a:solidFill>
              <a:ln w="12700">
                <a:solidFill>
                  <a:schemeClr val="tx1"/>
                </a:solidFill>
                <a:round/>
              </a:ln>
            </p:spPr>
            <p:txBody>
              <a:bodyPr wrap="none" anchor="ctr"/>
              <a:lstStyle/>
              <a:p>
                <a:endParaRPr lang="en-US"/>
              </a:p>
            </p:txBody>
          </p:sp>
          <p:sp>
            <p:nvSpPr>
              <p:cNvPr id="145498" name="Line 101"/>
              <p:cNvSpPr>
                <a:spLocks noChangeShapeType="1"/>
              </p:cNvSpPr>
              <p:nvPr/>
            </p:nvSpPr>
            <p:spPr bwMode="auto">
              <a:xfrm>
                <a:off x="2019" y="2095"/>
                <a:ext cx="0" cy="50"/>
              </a:xfrm>
              <a:prstGeom prst="line">
                <a:avLst/>
              </a:prstGeom>
              <a:noFill/>
              <a:ln w="12700">
                <a:solidFill>
                  <a:schemeClr val="tx1"/>
                </a:solidFill>
                <a:round/>
              </a:ln>
            </p:spPr>
            <p:txBody>
              <a:bodyPr wrap="none" anchor="ctr"/>
              <a:lstStyle/>
              <a:p>
                <a:endParaRPr lang="en-US"/>
              </a:p>
            </p:txBody>
          </p:sp>
          <p:sp>
            <p:nvSpPr>
              <p:cNvPr id="145499" name="Line 102"/>
              <p:cNvSpPr>
                <a:spLocks noChangeShapeType="1"/>
              </p:cNvSpPr>
              <p:nvPr/>
            </p:nvSpPr>
            <p:spPr bwMode="auto">
              <a:xfrm>
                <a:off x="2332" y="2095"/>
                <a:ext cx="0" cy="50"/>
              </a:xfrm>
              <a:prstGeom prst="line">
                <a:avLst/>
              </a:prstGeom>
              <a:noFill/>
              <a:ln w="12700">
                <a:solidFill>
                  <a:schemeClr val="tx1"/>
                </a:solidFill>
                <a:round/>
              </a:ln>
            </p:spPr>
            <p:txBody>
              <a:bodyPr wrap="none" anchor="ctr"/>
              <a:lstStyle/>
              <a:p>
                <a:endParaRPr lang="en-US"/>
              </a:p>
            </p:txBody>
          </p:sp>
          <p:sp>
            <p:nvSpPr>
              <p:cNvPr id="145500" name="Rectangle 103"/>
              <p:cNvSpPr>
                <a:spLocks noChangeArrowheads="1"/>
              </p:cNvSpPr>
              <p:nvPr/>
            </p:nvSpPr>
            <p:spPr bwMode="auto">
              <a:xfrm>
                <a:off x="2019" y="2095"/>
                <a:ext cx="310" cy="50"/>
              </a:xfrm>
              <a:prstGeom prst="rect">
                <a:avLst/>
              </a:prstGeom>
              <a:solidFill>
                <a:schemeClr val="hlink"/>
              </a:solidFill>
              <a:ln>
                <a:noFill/>
              </a:ln>
            </p:spPr>
            <p:txBody>
              <a:bodyPr wrap="none" anchor="ctr"/>
              <a:lstStyle/>
              <a:p>
                <a:pPr algn="ctr"/>
                <a:endParaRPr lang="en-US" sz="2400"/>
              </a:p>
            </p:txBody>
          </p:sp>
          <p:sp>
            <p:nvSpPr>
              <p:cNvPr id="145501" name="Oval 104"/>
              <p:cNvSpPr>
                <a:spLocks noChangeArrowheads="1"/>
              </p:cNvSpPr>
              <p:nvPr/>
            </p:nvSpPr>
            <p:spPr bwMode="auto">
              <a:xfrm>
                <a:off x="2016" y="2037"/>
                <a:ext cx="313" cy="94"/>
              </a:xfrm>
              <a:prstGeom prst="ellipse">
                <a:avLst/>
              </a:prstGeom>
              <a:solidFill>
                <a:schemeClr val="hlink"/>
              </a:solidFill>
              <a:ln w="12700">
                <a:solidFill>
                  <a:schemeClr val="tx1"/>
                </a:solidFill>
                <a:round/>
              </a:ln>
            </p:spPr>
            <p:txBody>
              <a:bodyPr wrap="none" anchor="ctr"/>
              <a:lstStyle/>
              <a:p>
                <a:endParaRPr lang="en-US"/>
              </a:p>
            </p:txBody>
          </p:sp>
          <p:grpSp>
            <p:nvGrpSpPr>
              <p:cNvPr id="145502" name="Group 105"/>
              <p:cNvGrpSpPr/>
              <p:nvPr/>
            </p:nvGrpSpPr>
            <p:grpSpPr bwMode="auto">
              <a:xfrm>
                <a:off x="2020" y="1976"/>
                <a:ext cx="308" cy="269"/>
                <a:chOff x="2899" y="2425"/>
                <a:chExt cx="315" cy="269"/>
              </a:xfrm>
            </p:grpSpPr>
            <p:sp>
              <p:nvSpPr>
                <p:cNvPr id="145503" name="Rectangle 106"/>
                <p:cNvSpPr>
                  <a:spLocks noChangeArrowheads="1"/>
                </p:cNvSpPr>
                <p:nvPr/>
              </p:nvSpPr>
              <p:spPr bwMode="auto">
                <a:xfrm>
                  <a:off x="2982" y="2490"/>
                  <a:ext cx="142" cy="130"/>
                </a:xfrm>
                <a:prstGeom prst="rect">
                  <a:avLst/>
                </a:prstGeom>
                <a:solidFill>
                  <a:schemeClr val="hlink"/>
                </a:solidFill>
                <a:ln>
                  <a:noFill/>
                </a:ln>
              </p:spPr>
              <p:txBody>
                <a:bodyPr wrap="none" anchor="ctr"/>
                <a:lstStyle/>
                <a:p>
                  <a:endParaRPr lang="en-US"/>
                </a:p>
              </p:txBody>
            </p:sp>
            <p:sp>
              <p:nvSpPr>
                <p:cNvPr id="145504" name="Text Box 107"/>
                <p:cNvSpPr txBox="1">
                  <a:spLocks noChangeArrowheads="1"/>
                </p:cNvSpPr>
                <p:nvPr/>
              </p:nvSpPr>
              <p:spPr bwMode="auto">
                <a:xfrm>
                  <a:off x="2899" y="2425"/>
                  <a:ext cx="315" cy="26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3c</a:t>
                  </a:r>
                  <a:endParaRPr lang="en-US"/>
                </a:p>
              </p:txBody>
            </p:sp>
          </p:grpSp>
        </p:grpSp>
        <p:sp>
          <p:nvSpPr>
            <p:cNvPr id="145482" name="Line 108"/>
            <p:cNvSpPr>
              <a:spLocks noChangeShapeType="1"/>
            </p:cNvSpPr>
            <p:nvPr/>
          </p:nvSpPr>
          <p:spPr bwMode="auto">
            <a:xfrm flipH="1">
              <a:off x="443" y="1436"/>
              <a:ext cx="62" cy="108"/>
            </a:xfrm>
            <a:prstGeom prst="line">
              <a:avLst/>
            </a:prstGeom>
            <a:noFill/>
            <a:ln w="28575">
              <a:solidFill>
                <a:schemeClr val="tx1"/>
              </a:solidFill>
              <a:round/>
            </a:ln>
          </p:spPr>
          <p:txBody>
            <a:bodyPr/>
            <a:lstStyle/>
            <a:p>
              <a:endParaRPr lang="en-US"/>
            </a:p>
          </p:txBody>
        </p:sp>
        <p:sp>
          <p:nvSpPr>
            <p:cNvPr id="145483" name="Line 109"/>
            <p:cNvSpPr>
              <a:spLocks noChangeShapeType="1"/>
            </p:cNvSpPr>
            <p:nvPr/>
          </p:nvSpPr>
          <p:spPr bwMode="auto">
            <a:xfrm>
              <a:off x="136" y="1482"/>
              <a:ext cx="145" cy="110"/>
            </a:xfrm>
            <a:prstGeom prst="line">
              <a:avLst/>
            </a:prstGeom>
            <a:noFill/>
            <a:ln w="9525">
              <a:solidFill>
                <a:schemeClr val="tx1"/>
              </a:solidFill>
              <a:round/>
            </a:ln>
          </p:spPr>
          <p:txBody>
            <a:bodyPr/>
            <a:lstStyle/>
            <a:p>
              <a:endParaRPr lang="en-US"/>
            </a:p>
          </p:txBody>
        </p:sp>
        <p:sp>
          <p:nvSpPr>
            <p:cNvPr id="145484" name="Line 110"/>
            <p:cNvSpPr>
              <a:spLocks noChangeShapeType="1"/>
            </p:cNvSpPr>
            <p:nvPr/>
          </p:nvSpPr>
          <p:spPr bwMode="auto">
            <a:xfrm flipH="1">
              <a:off x="635" y="1127"/>
              <a:ext cx="136" cy="152"/>
            </a:xfrm>
            <a:prstGeom prst="line">
              <a:avLst/>
            </a:prstGeom>
            <a:noFill/>
            <a:ln w="9525">
              <a:solidFill>
                <a:schemeClr val="tx1"/>
              </a:solidFill>
              <a:round/>
            </a:ln>
          </p:spPr>
          <p:txBody>
            <a:bodyPr/>
            <a:lstStyle/>
            <a:p>
              <a:endParaRPr lang="en-US"/>
            </a:p>
          </p:txBody>
        </p:sp>
        <p:sp>
          <p:nvSpPr>
            <p:cNvPr id="145485" name="Line 111"/>
            <p:cNvSpPr>
              <a:spLocks noChangeShapeType="1"/>
            </p:cNvSpPr>
            <p:nvPr/>
          </p:nvSpPr>
          <p:spPr bwMode="auto">
            <a:xfrm>
              <a:off x="356" y="1118"/>
              <a:ext cx="120" cy="178"/>
            </a:xfrm>
            <a:prstGeom prst="line">
              <a:avLst/>
            </a:prstGeom>
            <a:noFill/>
            <a:ln w="9525">
              <a:solidFill>
                <a:schemeClr val="tx1"/>
              </a:solidFill>
              <a:round/>
            </a:ln>
          </p:spPr>
          <p:txBody>
            <a:bodyPr/>
            <a:lstStyle/>
            <a:p>
              <a:endParaRPr lang="en-US"/>
            </a:p>
          </p:txBody>
        </p:sp>
        <p:sp>
          <p:nvSpPr>
            <p:cNvPr id="145486" name="Line 112"/>
            <p:cNvSpPr>
              <a:spLocks noChangeShapeType="1"/>
            </p:cNvSpPr>
            <p:nvPr/>
          </p:nvSpPr>
          <p:spPr bwMode="auto">
            <a:xfrm flipH="1">
              <a:off x="1016" y="1211"/>
              <a:ext cx="70" cy="206"/>
            </a:xfrm>
            <a:prstGeom prst="line">
              <a:avLst/>
            </a:prstGeom>
            <a:noFill/>
            <a:ln w="9525">
              <a:solidFill>
                <a:schemeClr val="tx1"/>
              </a:solidFill>
              <a:round/>
            </a:ln>
          </p:spPr>
          <p:txBody>
            <a:bodyPr/>
            <a:lstStyle/>
            <a:p>
              <a:endParaRPr lang="en-US"/>
            </a:p>
          </p:txBody>
        </p:sp>
        <p:sp>
          <p:nvSpPr>
            <p:cNvPr id="145487" name="Line 113"/>
            <p:cNvSpPr>
              <a:spLocks noChangeShapeType="1"/>
            </p:cNvSpPr>
            <p:nvPr/>
          </p:nvSpPr>
          <p:spPr bwMode="auto">
            <a:xfrm>
              <a:off x="3854" y="1728"/>
              <a:ext cx="222" cy="0"/>
            </a:xfrm>
            <a:prstGeom prst="line">
              <a:avLst/>
            </a:prstGeom>
            <a:noFill/>
            <a:ln w="9525">
              <a:solidFill>
                <a:schemeClr val="tx1"/>
              </a:solidFill>
              <a:round/>
            </a:ln>
          </p:spPr>
          <p:txBody>
            <a:bodyPr/>
            <a:lstStyle/>
            <a:p>
              <a:endParaRPr lang="en-US"/>
            </a:p>
          </p:txBody>
        </p:sp>
        <p:sp>
          <p:nvSpPr>
            <p:cNvPr id="145488" name="Line 114"/>
            <p:cNvSpPr>
              <a:spLocks noChangeShapeType="1"/>
            </p:cNvSpPr>
            <p:nvPr/>
          </p:nvSpPr>
          <p:spPr bwMode="auto">
            <a:xfrm flipV="1">
              <a:off x="3795" y="1415"/>
              <a:ext cx="262" cy="254"/>
            </a:xfrm>
            <a:prstGeom prst="line">
              <a:avLst/>
            </a:prstGeom>
            <a:noFill/>
            <a:ln w="9525">
              <a:solidFill>
                <a:schemeClr val="tx1"/>
              </a:solidFill>
              <a:round/>
            </a:ln>
          </p:spPr>
          <p:txBody>
            <a:bodyPr/>
            <a:lstStyle/>
            <a:p>
              <a:endParaRPr lang="en-US"/>
            </a:p>
          </p:txBody>
        </p:sp>
        <p:sp>
          <p:nvSpPr>
            <p:cNvPr id="145489" name="Line 115"/>
            <p:cNvSpPr>
              <a:spLocks noChangeShapeType="1"/>
            </p:cNvSpPr>
            <p:nvPr/>
          </p:nvSpPr>
          <p:spPr bwMode="auto">
            <a:xfrm flipH="1" flipV="1">
              <a:off x="3244" y="1245"/>
              <a:ext cx="127" cy="202"/>
            </a:xfrm>
            <a:prstGeom prst="line">
              <a:avLst/>
            </a:prstGeom>
            <a:noFill/>
            <a:ln w="9525">
              <a:solidFill>
                <a:schemeClr val="tx1"/>
              </a:solidFill>
              <a:round/>
            </a:ln>
          </p:spPr>
          <p:txBody>
            <a:bodyPr/>
            <a:lstStyle/>
            <a:p>
              <a:endParaRPr lang="en-US"/>
            </a:p>
          </p:txBody>
        </p:sp>
        <p:sp>
          <p:nvSpPr>
            <p:cNvPr id="145490" name="Line 116"/>
            <p:cNvSpPr>
              <a:spLocks noChangeShapeType="1"/>
            </p:cNvSpPr>
            <p:nvPr/>
          </p:nvSpPr>
          <p:spPr bwMode="auto">
            <a:xfrm flipH="1" flipV="1">
              <a:off x="2932" y="1347"/>
              <a:ext cx="136" cy="185"/>
            </a:xfrm>
            <a:prstGeom prst="line">
              <a:avLst/>
            </a:prstGeom>
            <a:noFill/>
            <a:ln w="9525">
              <a:solidFill>
                <a:schemeClr val="tx1"/>
              </a:solidFill>
              <a:round/>
            </a:ln>
          </p:spPr>
          <p:txBody>
            <a:bodyPr/>
            <a:lstStyle/>
            <a:p>
              <a:endParaRPr lang="en-US"/>
            </a:p>
          </p:txBody>
        </p:sp>
        <p:sp>
          <p:nvSpPr>
            <p:cNvPr id="145491" name="Line 117"/>
            <p:cNvSpPr>
              <a:spLocks noChangeShapeType="1"/>
            </p:cNvSpPr>
            <p:nvPr/>
          </p:nvSpPr>
          <p:spPr bwMode="auto">
            <a:xfrm flipH="1">
              <a:off x="1042" y="2092"/>
              <a:ext cx="135" cy="117"/>
            </a:xfrm>
            <a:prstGeom prst="line">
              <a:avLst/>
            </a:prstGeom>
            <a:noFill/>
            <a:ln w="9525">
              <a:solidFill>
                <a:schemeClr val="tx1"/>
              </a:solidFill>
              <a:round/>
            </a:ln>
          </p:spPr>
          <p:txBody>
            <a:bodyPr/>
            <a:lstStyle/>
            <a:p>
              <a:endParaRPr lang="en-US"/>
            </a:p>
          </p:txBody>
        </p:sp>
        <p:sp>
          <p:nvSpPr>
            <p:cNvPr id="145492" name="Line 118"/>
            <p:cNvSpPr>
              <a:spLocks noChangeShapeType="1"/>
            </p:cNvSpPr>
            <p:nvPr/>
          </p:nvSpPr>
          <p:spPr bwMode="auto">
            <a:xfrm flipH="1" flipV="1">
              <a:off x="1008" y="1991"/>
              <a:ext cx="127" cy="8"/>
            </a:xfrm>
            <a:prstGeom prst="line">
              <a:avLst/>
            </a:prstGeom>
            <a:noFill/>
            <a:ln w="9525">
              <a:solidFill>
                <a:schemeClr val="tx1"/>
              </a:solidFill>
              <a:round/>
            </a:ln>
          </p:spPr>
          <p:txBody>
            <a:bodyPr/>
            <a:lstStyle/>
            <a:p>
              <a:endParaRPr lang="en-US"/>
            </a:p>
          </p:txBody>
        </p:sp>
        <p:sp>
          <p:nvSpPr>
            <p:cNvPr id="145493" name="Line 119"/>
            <p:cNvSpPr>
              <a:spLocks noChangeShapeType="1"/>
            </p:cNvSpPr>
            <p:nvPr/>
          </p:nvSpPr>
          <p:spPr bwMode="auto">
            <a:xfrm flipH="1">
              <a:off x="1279" y="2262"/>
              <a:ext cx="212" cy="15"/>
            </a:xfrm>
            <a:prstGeom prst="line">
              <a:avLst/>
            </a:prstGeom>
            <a:noFill/>
            <a:ln w="9525">
              <a:solidFill>
                <a:schemeClr val="tx1"/>
              </a:solidFill>
              <a:round/>
            </a:ln>
          </p:spPr>
          <p:txBody>
            <a:bodyPr/>
            <a:lstStyle/>
            <a:p>
              <a:endParaRPr lang="en-US"/>
            </a:p>
          </p:txBody>
        </p:sp>
        <p:sp>
          <p:nvSpPr>
            <p:cNvPr id="145494" name="Line 120"/>
            <p:cNvSpPr>
              <a:spLocks noChangeShapeType="1"/>
            </p:cNvSpPr>
            <p:nvPr/>
          </p:nvSpPr>
          <p:spPr bwMode="auto">
            <a:xfrm flipV="1">
              <a:off x="1762" y="1804"/>
              <a:ext cx="229" cy="10"/>
            </a:xfrm>
            <a:prstGeom prst="line">
              <a:avLst/>
            </a:prstGeom>
            <a:noFill/>
            <a:ln w="9525">
              <a:solidFill>
                <a:schemeClr val="tx1"/>
              </a:solidFill>
              <a:round/>
            </a:ln>
          </p:spPr>
          <p:txBody>
            <a:bodyPr/>
            <a:lstStyle/>
            <a:p>
              <a:endParaRPr lang="en-US"/>
            </a:p>
          </p:txBody>
        </p:sp>
        <p:sp>
          <p:nvSpPr>
            <p:cNvPr id="145495" name="Line 121"/>
            <p:cNvSpPr>
              <a:spLocks noChangeShapeType="1"/>
            </p:cNvSpPr>
            <p:nvPr/>
          </p:nvSpPr>
          <p:spPr bwMode="auto">
            <a:xfrm>
              <a:off x="2219" y="2177"/>
              <a:ext cx="119" cy="110"/>
            </a:xfrm>
            <a:prstGeom prst="line">
              <a:avLst/>
            </a:prstGeom>
            <a:noFill/>
            <a:ln w="9525">
              <a:solidFill>
                <a:schemeClr val="tx1"/>
              </a:solidFill>
              <a:round/>
            </a:ln>
          </p:spPr>
          <p:txBody>
            <a:bodyPr/>
            <a:lstStyle/>
            <a:p>
              <a:endParaRPr lang="en-US"/>
            </a:p>
          </p:txBody>
        </p:sp>
        <p:sp>
          <p:nvSpPr>
            <p:cNvPr id="145496" name="Line 122"/>
            <p:cNvSpPr>
              <a:spLocks noChangeShapeType="1"/>
            </p:cNvSpPr>
            <p:nvPr/>
          </p:nvSpPr>
          <p:spPr bwMode="auto">
            <a:xfrm>
              <a:off x="1737" y="1880"/>
              <a:ext cx="145" cy="75"/>
            </a:xfrm>
            <a:prstGeom prst="line">
              <a:avLst/>
            </a:prstGeom>
            <a:noFill/>
            <a:ln w="9525">
              <a:solidFill>
                <a:schemeClr val="tx1"/>
              </a:solidFill>
              <a:round/>
            </a:ln>
          </p:spPr>
          <p:txBody>
            <a:bodyPr/>
            <a:lstStyle/>
            <a:p>
              <a:endParaRPr lang="en-US"/>
            </a:p>
          </p:txBody>
        </p:sp>
      </p:grpSp>
      <p:sp>
        <p:nvSpPr>
          <p:cNvPr id="100357" name="Rectangle 123"/>
          <p:cNvSpPr>
            <a:spLocks noGrp="1" noChangeArrowheads="1"/>
          </p:cNvSpPr>
          <p:nvPr>
            <p:ph type="title"/>
          </p:nvPr>
        </p:nvSpPr>
        <p:spPr>
          <a:xfrm>
            <a:off x="422275" y="228600"/>
            <a:ext cx="7772400" cy="839788"/>
          </a:xfrm>
        </p:spPr>
        <p:txBody>
          <a:bodyPr/>
          <a:lstStyle/>
          <a:p>
            <a:pPr>
              <a:defRPr/>
            </a:pPr>
            <a:r>
              <a:rPr lang="en-US">
                <a:cs typeface="+mj-cs"/>
              </a:rPr>
              <a:t>Interconnected ASes</a:t>
            </a:r>
          </a:p>
        </p:txBody>
      </p:sp>
      <p:sp>
        <p:nvSpPr>
          <p:cNvPr id="100358" name="Rectangle 124"/>
          <p:cNvSpPr>
            <a:spLocks noGrp="1" noChangeArrowheads="1"/>
          </p:cNvSpPr>
          <p:nvPr>
            <p:ph type="body" sz="half" idx="2"/>
          </p:nvPr>
        </p:nvSpPr>
        <p:spPr>
          <a:xfrm>
            <a:off x="5114925" y="3082149"/>
            <a:ext cx="3810000" cy="3400425"/>
          </a:xfrm>
        </p:spPr>
        <p:txBody>
          <a:bodyPr/>
          <a:lstStyle/>
          <a:p>
            <a:pPr>
              <a:defRPr/>
            </a:pPr>
            <a:r>
              <a:rPr lang="en-US" sz="2200" dirty="0">
                <a:cs typeface="+mn-cs"/>
              </a:rPr>
              <a:t>forwarding table  configured by both intra- and inter-AS routing algorithm</a:t>
            </a:r>
          </a:p>
          <a:p>
            <a:pPr lvl="1">
              <a:defRPr/>
            </a:pPr>
            <a:r>
              <a:rPr lang="en-US" sz="2200" dirty="0"/>
              <a:t>intra-AS routing determine entries for destinations within AS</a:t>
            </a:r>
          </a:p>
          <a:p>
            <a:pPr lvl="1">
              <a:defRPr/>
            </a:pPr>
            <a:r>
              <a:rPr lang="en-US" sz="2200" dirty="0"/>
              <a:t>inter-AS &amp; intra-AS determine entries for external destinations</a:t>
            </a:r>
          </a:p>
        </p:txBody>
      </p:sp>
      <p:pic>
        <p:nvPicPr>
          <p:cNvPr id="145414" name="Picture 12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2438" y="884238"/>
            <a:ext cx="5027612" cy="173037"/>
          </a:xfrm>
          <a:prstGeom prst="rect">
            <a:avLst/>
          </a:prstGeom>
          <a:noFill/>
          <a:ln>
            <a:noFill/>
          </a:ln>
        </p:spPr>
      </p:pic>
      <p:sp>
        <p:nvSpPr>
          <p:cNvPr id="128"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64</a:t>
            </a:fld>
            <a:endParaRPr lang="en-US" sz="1200" dirty="0">
              <a:latin typeface="Tahoma" panose="020B0604030504040204" charset="0"/>
            </a:endParaRPr>
          </a:p>
        </p:txBody>
      </p:sp>
      <p:sp>
        <p:nvSpPr>
          <p:cNvPr id="12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80" name="Rectangle 2"/>
          <p:cNvSpPr>
            <a:spLocks noGrp="1" noChangeArrowheads="1"/>
          </p:cNvSpPr>
          <p:nvPr>
            <p:ph type="title"/>
          </p:nvPr>
        </p:nvSpPr>
        <p:spPr>
          <a:xfrm>
            <a:off x="557213" y="0"/>
            <a:ext cx="7772400" cy="1143000"/>
          </a:xfrm>
        </p:spPr>
        <p:txBody>
          <a:bodyPr/>
          <a:lstStyle/>
          <a:p>
            <a:pPr>
              <a:defRPr/>
            </a:pPr>
            <a:r>
              <a:rPr lang="en-US">
                <a:cs typeface="+mj-cs"/>
              </a:rPr>
              <a:t>Inter-AS tasks</a:t>
            </a:r>
          </a:p>
        </p:txBody>
      </p:sp>
      <p:sp>
        <p:nvSpPr>
          <p:cNvPr id="101381" name="Rectangle 3"/>
          <p:cNvSpPr>
            <a:spLocks noGrp="1" noChangeArrowheads="1"/>
          </p:cNvSpPr>
          <p:nvPr>
            <p:ph type="body" sz="half" idx="1"/>
          </p:nvPr>
        </p:nvSpPr>
        <p:spPr>
          <a:xfrm>
            <a:off x="531813" y="1195388"/>
            <a:ext cx="3810000" cy="2921000"/>
          </a:xfrm>
        </p:spPr>
        <p:txBody>
          <a:bodyPr/>
          <a:lstStyle/>
          <a:p>
            <a:pPr>
              <a:defRPr/>
            </a:pPr>
            <a:r>
              <a:rPr lang="en-US" sz="2400" dirty="0">
                <a:cs typeface="+mn-cs"/>
              </a:rPr>
              <a:t>suppose router in AS</a:t>
            </a:r>
            <a:r>
              <a:rPr lang="en-US" sz="2400" dirty="0">
                <a:latin typeface="Arial" panose="020B0604020202090204"/>
                <a:cs typeface="Arial" panose="020B0604020202090204"/>
              </a:rPr>
              <a:t>1</a:t>
            </a:r>
            <a:r>
              <a:rPr lang="en-US" sz="2400" dirty="0">
                <a:cs typeface="+mn-cs"/>
              </a:rPr>
              <a:t> receives datagram destined outside of AS</a:t>
            </a:r>
            <a:r>
              <a:rPr lang="en-US" sz="2400" dirty="0">
                <a:latin typeface="Arial" panose="020B0604020202090204"/>
                <a:cs typeface="Arial" panose="020B0604020202090204"/>
              </a:rPr>
              <a:t>1</a:t>
            </a:r>
            <a:r>
              <a:rPr lang="en-US" sz="2400" dirty="0">
                <a:cs typeface="+mn-cs"/>
              </a:rPr>
              <a:t>:</a:t>
            </a:r>
          </a:p>
          <a:p>
            <a:pPr lvl="1">
              <a:defRPr/>
            </a:pPr>
            <a:r>
              <a:rPr lang="en-US" dirty="0"/>
              <a:t>router should forward packet to gateway router, but which one?</a:t>
            </a:r>
          </a:p>
        </p:txBody>
      </p:sp>
      <p:sp>
        <p:nvSpPr>
          <p:cNvPr id="101382" name="Rectangle 4"/>
          <p:cNvSpPr>
            <a:spLocks noGrp="1" noChangeArrowheads="1"/>
          </p:cNvSpPr>
          <p:nvPr>
            <p:ph type="body" sz="half" idx="2"/>
          </p:nvPr>
        </p:nvSpPr>
        <p:spPr>
          <a:xfrm>
            <a:off x="4638675" y="1195388"/>
            <a:ext cx="3810000" cy="4648200"/>
          </a:xfrm>
        </p:spPr>
        <p:txBody>
          <a:bodyPr/>
          <a:lstStyle/>
          <a:p>
            <a:pPr marL="457200" indent="-457200">
              <a:buFont typeface="Wingdings" panose="05000000000000000000" charset="0"/>
              <a:buNone/>
              <a:defRPr/>
            </a:pPr>
            <a:r>
              <a:rPr lang="en-US" sz="2400" i="1" dirty="0">
                <a:solidFill>
                  <a:srgbClr val="CC0000"/>
                </a:solidFill>
                <a:cs typeface="+mn-cs"/>
              </a:rPr>
              <a:t>AS</a:t>
            </a:r>
            <a:r>
              <a:rPr lang="en-US" sz="2400" i="1" dirty="0">
                <a:solidFill>
                  <a:srgbClr val="CC0000"/>
                </a:solidFill>
                <a:latin typeface="Arial" panose="020B0604020202090204"/>
                <a:cs typeface="Arial" panose="020B0604020202090204"/>
              </a:rPr>
              <a:t>1</a:t>
            </a:r>
            <a:r>
              <a:rPr lang="en-US" sz="2400" i="1" dirty="0">
                <a:solidFill>
                  <a:srgbClr val="CC0000"/>
                </a:solidFill>
                <a:cs typeface="+mn-cs"/>
              </a:rPr>
              <a:t> must:</a:t>
            </a:r>
          </a:p>
          <a:p>
            <a:pPr marL="457200" indent="-457200">
              <a:buFont typeface="ZapfDingbats" charset="0"/>
              <a:buAutoNum type="arabicPeriod"/>
              <a:defRPr/>
            </a:pPr>
            <a:r>
              <a:rPr lang="en-US" sz="2400" dirty="0">
                <a:cs typeface="+mn-cs"/>
              </a:rPr>
              <a:t>learn which </a:t>
            </a:r>
            <a:r>
              <a:rPr lang="en-US" sz="2400" dirty="0" err="1">
                <a:cs typeface="+mn-cs"/>
              </a:rPr>
              <a:t>dests</a:t>
            </a:r>
            <a:r>
              <a:rPr lang="en-US" sz="2400" dirty="0">
                <a:cs typeface="+mn-cs"/>
              </a:rPr>
              <a:t> are reachable through AS2, which through AS3</a:t>
            </a:r>
          </a:p>
          <a:p>
            <a:pPr marL="457200" indent="-457200">
              <a:buFont typeface="ZapfDingbats" charset="0"/>
              <a:buAutoNum type="arabicPeriod"/>
              <a:defRPr/>
            </a:pPr>
            <a:r>
              <a:rPr lang="en-US" sz="2400" dirty="0">
                <a:cs typeface="+mn-cs"/>
              </a:rPr>
              <a:t>propagate this reachability info to all routers in AS</a:t>
            </a:r>
            <a:r>
              <a:rPr lang="en-US" sz="2400" dirty="0">
                <a:latin typeface="Arial" panose="020B0604020202090204"/>
                <a:cs typeface="Arial" panose="020B0604020202090204"/>
              </a:rPr>
              <a:t>1</a:t>
            </a:r>
          </a:p>
          <a:p>
            <a:pPr marL="457200" indent="-457200">
              <a:buFont typeface="Wingdings" panose="05000000000000000000" charset="0"/>
              <a:buNone/>
              <a:defRPr/>
            </a:pPr>
            <a:r>
              <a:rPr lang="en-US" sz="2400" i="1" dirty="0">
                <a:solidFill>
                  <a:srgbClr val="CC0000"/>
                </a:solidFill>
                <a:cs typeface="+mn-cs"/>
              </a:rPr>
              <a:t>job of inter-AS routing!</a:t>
            </a:r>
          </a:p>
        </p:txBody>
      </p:sp>
      <p:sp>
        <p:nvSpPr>
          <p:cNvPr id="146438" name="Freeform 5"/>
          <p:cNvSpPr/>
          <p:nvPr/>
        </p:nvSpPr>
        <p:spPr bwMode="auto">
          <a:xfrm>
            <a:off x="7277100" y="4562475"/>
            <a:ext cx="1171575" cy="1758950"/>
          </a:xfrm>
          <a:custGeom>
            <a:avLst/>
            <a:gdLst>
              <a:gd name="T0" fmla="*/ 2147483647 w 738"/>
              <a:gd name="T1" fmla="*/ 2147483647 h 1108"/>
              <a:gd name="T2" fmla="*/ 2147483647 w 738"/>
              <a:gd name="T3" fmla="*/ 2147483647 h 1108"/>
              <a:gd name="T4" fmla="*/ 2147483647 w 738"/>
              <a:gd name="T5" fmla="*/ 2147483647 h 1108"/>
              <a:gd name="T6" fmla="*/ 2147483647 w 738"/>
              <a:gd name="T7" fmla="*/ 2147483647 h 1108"/>
              <a:gd name="T8" fmla="*/ 2147483647 w 738"/>
              <a:gd name="T9" fmla="*/ 2147483647 h 1108"/>
              <a:gd name="T10" fmla="*/ 2147483647 w 738"/>
              <a:gd name="T11" fmla="*/ 2147483647 h 1108"/>
              <a:gd name="T12" fmla="*/ 2147483647 w 738"/>
              <a:gd name="T13" fmla="*/ 2147483647 h 1108"/>
              <a:gd name="T14" fmla="*/ 2147483647 w 738"/>
              <a:gd name="T15" fmla="*/ 2147483647 h 1108"/>
              <a:gd name="T16" fmla="*/ 0 60000 65536"/>
              <a:gd name="T17" fmla="*/ 0 60000 65536"/>
              <a:gd name="T18" fmla="*/ 0 60000 65536"/>
              <a:gd name="T19" fmla="*/ 0 60000 65536"/>
              <a:gd name="T20" fmla="*/ 0 60000 65536"/>
              <a:gd name="T21" fmla="*/ 0 60000 65536"/>
              <a:gd name="T22" fmla="*/ 0 60000 65536"/>
              <a:gd name="T23" fmla="*/ 0 60000 65536"/>
              <a:gd name="T24" fmla="*/ 0 w 738"/>
              <a:gd name="T25" fmla="*/ 0 h 1108"/>
              <a:gd name="T26" fmla="*/ 738 w 738"/>
              <a:gd name="T27" fmla="*/ 1108 h 1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38" h="1108">
                <a:moveTo>
                  <a:pt x="32" y="394"/>
                </a:moveTo>
                <a:cubicBezTo>
                  <a:pt x="66" y="301"/>
                  <a:pt x="108" y="228"/>
                  <a:pt x="213" y="172"/>
                </a:cubicBezTo>
                <a:cubicBezTo>
                  <a:pt x="318" y="116"/>
                  <a:pt x="588" y="0"/>
                  <a:pt x="663" y="56"/>
                </a:cubicBezTo>
                <a:cubicBezTo>
                  <a:pt x="738" y="112"/>
                  <a:pt x="659" y="346"/>
                  <a:pt x="661" y="509"/>
                </a:cubicBezTo>
                <a:cubicBezTo>
                  <a:pt x="663" y="672"/>
                  <a:pt x="731" y="956"/>
                  <a:pt x="677" y="1032"/>
                </a:cubicBezTo>
                <a:cubicBezTo>
                  <a:pt x="623" y="1108"/>
                  <a:pt x="442" y="999"/>
                  <a:pt x="338" y="962"/>
                </a:cubicBezTo>
                <a:cubicBezTo>
                  <a:pt x="234" y="925"/>
                  <a:pt x="102" y="904"/>
                  <a:pt x="51" y="809"/>
                </a:cubicBezTo>
                <a:cubicBezTo>
                  <a:pt x="0" y="715"/>
                  <a:pt x="36" y="481"/>
                  <a:pt x="32" y="394"/>
                </a:cubicBezTo>
                <a:close/>
              </a:path>
            </a:pathLst>
          </a:custGeom>
          <a:gradFill rotWithShape="1">
            <a:gsLst>
              <a:gs pos="0">
                <a:srgbClr val="66CCFF"/>
              </a:gs>
              <a:gs pos="100000">
                <a:srgbClr val="FFFFFF"/>
              </a:gs>
            </a:gsLst>
            <a:lin ang="0" scaled="1"/>
          </a:gradFill>
          <a:ln>
            <a:noFill/>
          </a:ln>
        </p:spPr>
        <p:txBody>
          <a:bodyPr wrap="none" anchor="ctr"/>
          <a:lstStyle/>
          <a:p>
            <a:endParaRPr lang="en-US"/>
          </a:p>
        </p:txBody>
      </p:sp>
      <p:sp>
        <p:nvSpPr>
          <p:cNvPr id="146439" name="Freeform 6"/>
          <p:cNvSpPr/>
          <p:nvPr/>
        </p:nvSpPr>
        <p:spPr bwMode="auto">
          <a:xfrm>
            <a:off x="5230813" y="4872038"/>
            <a:ext cx="1944687" cy="1292225"/>
          </a:xfrm>
          <a:custGeom>
            <a:avLst/>
            <a:gdLst>
              <a:gd name="T0" fmla="*/ 2147483647 w 1162"/>
              <a:gd name="T1" fmla="*/ 2147483647 h 543"/>
              <a:gd name="T2" fmla="*/ 2147483647 w 1162"/>
              <a:gd name="T3" fmla="*/ 2147483647 h 543"/>
              <a:gd name="T4" fmla="*/ 2147483647 w 1162"/>
              <a:gd name="T5" fmla="*/ 2147483647 h 543"/>
              <a:gd name="T6" fmla="*/ 2147483647 w 1162"/>
              <a:gd name="T7" fmla="*/ 2147483647 h 543"/>
              <a:gd name="T8" fmla="*/ 2147483647 w 1162"/>
              <a:gd name="T9" fmla="*/ 2147483647 h 543"/>
              <a:gd name="T10" fmla="*/ 2147483647 w 1162"/>
              <a:gd name="T11" fmla="*/ 2147483647 h 543"/>
              <a:gd name="T12" fmla="*/ 2147483647 w 1162"/>
              <a:gd name="T13" fmla="*/ 2147483647 h 543"/>
              <a:gd name="T14" fmla="*/ 2147483647 w 1162"/>
              <a:gd name="T15" fmla="*/ 2147483647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66CCFF"/>
          </a:solidFill>
          <a:ln>
            <a:noFill/>
          </a:ln>
        </p:spPr>
        <p:txBody>
          <a:bodyPr wrap="none" anchor="ctr"/>
          <a:lstStyle/>
          <a:p>
            <a:endParaRPr lang="en-US"/>
          </a:p>
        </p:txBody>
      </p:sp>
      <p:sp>
        <p:nvSpPr>
          <p:cNvPr id="146440" name="Freeform 7"/>
          <p:cNvSpPr/>
          <p:nvPr/>
        </p:nvSpPr>
        <p:spPr bwMode="auto">
          <a:xfrm>
            <a:off x="1477963" y="4164013"/>
            <a:ext cx="1679575" cy="1411287"/>
          </a:xfrm>
          <a:custGeom>
            <a:avLst/>
            <a:gdLst>
              <a:gd name="T0" fmla="*/ 2147483647 w 1198"/>
              <a:gd name="T1" fmla="*/ 2147483647 h 451"/>
              <a:gd name="T2" fmla="*/ 2147483647 w 1198"/>
              <a:gd name="T3" fmla="*/ 2147483647 h 451"/>
              <a:gd name="T4" fmla="*/ 2147483647 w 1198"/>
              <a:gd name="T5" fmla="*/ 2147483647 h 451"/>
              <a:gd name="T6" fmla="*/ 2147483647 w 1198"/>
              <a:gd name="T7" fmla="*/ 2147483647 h 451"/>
              <a:gd name="T8" fmla="*/ 2147483647 w 1198"/>
              <a:gd name="T9" fmla="*/ 2147483647 h 451"/>
              <a:gd name="T10" fmla="*/ 2147483647 w 1198"/>
              <a:gd name="T11" fmla="*/ 2147483647 h 451"/>
              <a:gd name="T12" fmla="*/ 2147483647 w 1198"/>
              <a:gd name="T13" fmla="*/ 2147483647 h 451"/>
              <a:gd name="T14" fmla="*/ 2147483647 w 1198"/>
              <a:gd name="T15" fmla="*/ 2147483647 h 451"/>
              <a:gd name="T16" fmla="*/ 2147483647 w 1198"/>
              <a:gd name="T17" fmla="*/ 2147483647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66CCFF"/>
          </a:solidFill>
          <a:ln>
            <a:noFill/>
          </a:ln>
        </p:spPr>
        <p:txBody>
          <a:bodyPr wrap="none" anchor="ctr"/>
          <a:lstStyle/>
          <a:p>
            <a:endParaRPr lang="en-US"/>
          </a:p>
        </p:txBody>
      </p:sp>
      <p:sp>
        <p:nvSpPr>
          <p:cNvPr id="146441" name="Freeform 8"/>
          <p:cNvSpPr/>
          <p:nvPr/>
        </p:nvSpPr>
        <p:spPr bwMode="auto">
          <a:xfrm>
            <a:off x="2108200" y="4908550"/>
            <a:ext cx="400050" cy="180975"/>
          </a:xfrm>
          <a:custGeom>
            <a:avLst/>
            <a:gdLst>
              <a:gd name="T0" fmla="*/ 0 w 252"/>
              <a:gd name="T1" fmla="*/ 2147483647 h 114"/>
              <a:gd name="T2" fmla="*/ 2147483647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6442" name="Text Box 9"/>
          <p:cNvSpPr txBox="1">
            <a:spLocks noChangeArrowheads="1"/>
          </p:cNvSpPr>
          <p:nvPr/>
        </p:nvSpPr>
        <p:spPr bwMode="auto">
          <a:xfrm>
            <a:off x="2052638" y="5129213"/>
            <a:ext cx="665162" cy="3968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2000"/>
              <a:t>AS3</a:t>
            </a:r>
            <a:endParaRPr lang="en-US" sz="1800"/>
          </a:p>
        </p:txBody>
      </p:sp>
      <p:sp>
        <p:nvSpPr>
          <p:cNvPr id="146443" name="Text Box 10"/>
          <p:cNvSpPr txBox="1">
            <a:spLocks noChangeArrowheads="1"/>
          </p:cNvSpPr>
          <p:nvPr/>
        </p:nvSpPr>
        <p:spPr bwMode="auto">
          <a:xfrm>
            <a:off x="5867400" y="5794375"/>
            <a:ext cx="6159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AS2</a:t>
            </a:r>
          </a:p>
        </p:txBody>
      </p:sp>
      <p:sp>
        <p:nvSpPr>
          <p:cNvPr id="146444" name="Line 11"/>
          <p:cNvSpPr>
            <a:spLocks noChangeShapeType="1"/>
          </p:cNvSpPr>
          <p:nvPr/>
        </p:nvSpPr>
        <p:spPr bwMode="auto">
          <a:xfrm flipV="1">
            <a:off x="5746750" y="5283200"/>
            <a:ext cx="434975" cy="192088"/>
          </a:xfrm>
          <a:prstGeom prst="line">
            <a:avLst/>
          </a:prstGeom>
          <a:noFill/>
          <a:ln w="12700">
            <a:solidFill>
              <a:schemeClr val="tx1"/>
            </a:solidFill>
            <a:round/>
          </a:ln>
        </p:spPr>
        <p:txBody>
          <a:bodyPr/>
          <a:lstStyle/>
          <a:p>
            <a:endParaRPr lang="en-US"/>
          </a:p>
        </p:txBody>
      </p:sp>
      <p:sp>
        <p:nvSpPr>
          <p:cNvPr id="146445" name="Line 12"/>
          <p:cNvSpPr>
            <a:spLocks noChangeShapeType="1"/>
          </p:cNvSpPr>
          <p:nvPr/>
        </p:nvSpPr>
        <p:spPr bwMode="auto">
          <a:xfrm flipH="1" flipV="1">
            <a:off x="2324100" y="4641850"/>
            <a:ext cx="241300" cy="174625"/>
          </a:xfrm>
          <a:prstGeom prst="line">
            <a:avLst/>
          </a:prstGeom>
          <a:noFill/>
          <a:ln w="12700">
            <a:solidFill>
              <a:schemeClr val="tx1"/>
            </a:solidFill>
            <a:round/>
          </a:ln>
        </p:spPr>
        <p:txBody>
          <a:bodyPr/>
          <a:lstStyle/>
          <a:p>
            <a:endParaRPr lang="en-US"/>
          </a:p>
        </p:txBody>
      </p:sp>
      <p:sp>
        <p:nvSpPr>
          <p:cNvPr id="146446" name="Line 13"/>
          <p:cNvSpPr>
            <a:spLocks noChangeShapeType="1"/>
          </p:cNvSpPr>
          <p:nvPr/>
        </p:nvSpPr>
        <p:spPr bwMode="auto">
          <a:xfrm flipH="1">
            <a:off x="1882775" y="4635500"/>
            <a:ext cx="147638" cy="376238"/>
          </a:xfrm>
          <a:prstGeom prst="line">
            <a:avLst/>
          </a:prstGeom>
          <a:noFill/>
          <a:ln w="12700">
            <a:solidFill>
              <a:schemeClr val="tx1"/>
            </a:solidFill>
            <a:round/>
          </a:ln>
        </p:spPr>
        <p:txBody>
          <a:bodyPr/>
          <a:lstStyle/>
          <a:p>
            <a:endParaRPr lang="en-US"/>
          </a:p>
        </p:txBody>
      </p:sp>
      <p:grpSp>
        <p:nvGrpSpPr>
          <p:cNvPr id="146447" name="Group 14"/>
          <p:cNvGrpSpPr/>
          <p:nvPr/>
        </p:nvGrpSpPr>
        <p:grpSpPr bwMode="auto">
          <a:xfrm>
            <a:off x="1619250" y="4903788"/>
            <a:ext cx="501650" cy="396875"/>
            <a:chOff x="873" y="3243"/>
            <a:chExt cx="316" cy="250"/>
          </a:xfrm>
        </p:grpSpPr>
        <p:sp>
          <p:nvSpPr>
            <p:cNvPr id="146545" name="Oval 15"/>
            <p:cNvSpPr>
              <a:spLocks noChangeArrowheads="1"/>
            </p:cNvSpPr>
            <p:nvPr/>
          </p:nvSpPr>
          <p:spPr bwMode="auto">
            <a:xfrm>
              <a:off x="876" y="3361"/>
              <a:ext cx="313" cy="81"/>
            </a:xfrm>
            <a:prstGeom prst="ellipse">
              <a:avLst/>
            </a:prstGeom>
            <a:solidFill>
              <a:schemeClr val="hlink"/>
            </a:solidFill>
            <a:ln w="12700">
              <a:solidFill>
                <a:schemeClr val="tx1"/>
              </a:solidFill>
              <a:round/>
            </a:ln>
          </p:spPr>
          <p:txBody>
            <a:bodyPr wrap="none" anchor="ctr"/>
            <a:lstStyle/>
            <a:p>
              <a:endParaRPr lang="en-US"/>
            </a:p>
          </p:txBody>
        </p:sp>
        <p:sp>
          <p:nvSpPr>
            <p:cNvPr id="146546" name="Line 16"/>
            <p:cNvSpPr>
              <a:spLocks noChangeShapeType="1"/>
            </p:cNvSpPr>
            <p:nvPr/>
          </p:nvSpPr>
          <p:spPr bwMode="auto">
            <a:xfrm>
              <a:off x="876" y="3354"/>
              <a:ext cx="0" cy="50"/>
            </a:xfrm>
            <a:prstGeom prst="line">
              <a:avLst/>
            </a:prstGeom>
            <a:noFill/>
            <a:ln w="12700">
              <a:solidFill>
                <a:schemeClr val="tx1"/>
              </a:solidFill>
              <a:round/>
            </a:ln>
          </p:spPr>
          <p:txBody>
            <a:bodyPr wrap="none" anchor="ctr"/>
            <a:lstStyle/>
            <a:p>
              <a:endParaRPr lang="en-US"/>
            </a:p>
          </p:txBody>
        </p:sp>
        <p:sp>
          <p:nvSpPr>
            <p:cNvPr id="146547" name="Line 17"/>
            <p:cNvSpPr>
              <a:spLocks noChangeShapeType="1"/>
            </p:cNvSpPr>
            <p:nvPr/>
          </p:nvSpPr>
          <p:spPr bwMode="auto">
            <a:xfrm>
              <a:off x="1189" y="3354"/>
              <a:ext cx="0" cy="50"/>
            </a:xfrm>
            <a:prstGeom prst="line">
              <a:avLst/>
            </a:prstGeom>
            <a:noFill/>
            <a:ln w="12700">
              <a:solidFill>
                <a:schemeClr val="tx1"/>
              </a:solidFill>
              <a:round/>
            </a:ln>
          </p:spPr>
          <p:txBody>
            <a:bodyPr wrap="none" anchor="ctr"/>
            <a:lstStyle/>
            <a:p>
              <a:endParaRPr lang="en-US"/>
            </a:p>
          </p:txBody>
        </p:sp>
        <p:sp>
          <p:nvSpPr>
            <p:cNvPr id="146548" name="Rectangle 18"/>
            <p:cNvSpPr>
              <a:spLocks noChangeArrowheads="1"/>
            </p:cNvSpPr>
            <p:nvPr/>
          </p:nvSpPr>
          <p:spPr bwMode="auto">
            <a:xfrm>
              <a:off x="876" y="3354"/>
              <a:ext cx="310" cy="49"/>
            </a:xfrm>
            <a:prstGeom prst="rect">
              <a:avLst/>
            </a:prstGeom>
            <a:solidFill>
              <a:schemeClr val="hlink"/>
            </a:solidFill>
            <a:ln>
              <a:noFill/>
            </a:ln>
          </p:spPr>
          <p:txBody>
            <a:bodyPr wrap="none" anchor="ctr"/>
            <a:lstStyle/>
            <a:p>
              <a:pPr algn="ctr"/>
              <a:endParaRPr lang="en-US" sz="2400"/>
            </a:p>
          </p:txBody>
        </p:sp>
        <p:sp>
          <p:nvSpPr>
            <p:cNvPr id="146549" name="Oval 19"/>
            <p:cNvSpPr>
              <a:spLocks noChangeArrowheads="1"/>
            </p:cNvSpPr>
            <p:nvPr/>
          </p:nvSpPr>
          <p:spPr bwMode="auto">
            <a:xfrm>
              <a:off x="873" y="3295"/>
              <a:ext cx="313" cy="95"/>
            </a:xfrm>
            <a:prstGeom prst="ellipse">
              <a:avLst/>
            </a:prstGeom>
            <a:solidFill>
              <a:schemeClr val="hlink"/>
            </a:solidFill>
            <a:ln w="12700">
              <a:solidFill>
                <a:schemeClr val="tx1"/>
              </a:solidFill>
              <a:round/>
            </a:ln>
          </p:spPr>
          <p:txBody>
            <a:bodyPr wrap="none" anchor="ctr"/>
            <a:lstStyle/>
            <a:p>
              <a:endParaRPr lang="en-US"/>
            </a:p>
          </p:txBody>
        </p:sp>
        <p:sp>
          <p:nvSpPr>
            <p:cNvPr id="146550" name="Rectangle 20"/>
            <p:cNvSpPr>
              <a:spLocks noChangeArrowheads="1"/>
            </p:cNvSpPr>
            <p:nvPr/>
          </p:nvSpPr>
          <p:spPr bwMode="auto">
            <a:xfrm>
              <a:off x="960" y="3308"/>
              <a:ext cx="141" cy="124"/>
            </a:xfrm>
            <a:prstGeom prst="rect">
              <a:avLst/>
            </a:prstGeom>
            <a:solidFill>
              <a:schemeClr val="hlink"/>
            </a:solidFill>
            <a:ln>
              <a:noFill/>
            </a:ln>
          </p:spPr>
          <p:txBody>
            <a:bodyPr wrap="none" anchor="ctr"/>
            <a:lstStyle/>
            <a:p>
              <a:endParaRPr lang="en-US"/>
            </a:p>
          </p:txBody>
        </p:sp>
        <p:sp>
          <p:nvSpPr>
            <p:cNvPr id="146551" name="Text Box 21"/>
            <p:cNvSpPr txBox="1">
              <a:spLocks noChangeArrowheads="1"/>
            </p:cNvSpPr>
            <p:nvPr/>
          </p:nvSpPr>
          <p:spPr bwMode="auto">
            <a:xfrm>
              <a:off x="887" y="3243"/>
              <a:ext cx="294"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3b</a:t>
              </a:r>
              <a:endParaRPr lang="en-US"/>
            </a:p>
          </p:txBody>
        </p:sp>
      </p:grpSp>
      <p:grpSp>
        <p:nvGrpSpPr>
          <p:cNvPr id="146448" name="Group 22"/>
          <p:cNvGrpSpPr/>
          <p:nvPr/>
        </p:nvGrpSpPr>
        <p:grpSpPr bwMode="auto">
          <a:xfrm>
            <a:off x="1889125" y="4327525"/>
            <a:ext cx="501650" cy="396875"/>
            <a:chOff x="2016" y="1976"/>
            <a:chExt cx="316" cy="250"/>
          </a:xfrm>
        </p:grpSpPr>
        <p:sp>
          <p:nvSpPr>
            <p:cNvPr id="146537" name="Oval 23"/>
            <p:cNvSpPr>
              <a:spLocks noChangeArrowheads="1"/>
            </p:cNvSpPr>
            <p:nvPr/>
          </p:nvSpPr>
          <p:spPr bwMode="auto">
            <a:xfrm>
              <a:off x="2019" y="2102"/>
              <a:ext cx="313" cy="81"/>
            </a:xfrm>
            <a:prstGeom prst="ellipse">
              <a:avLst/>
            </a:prstGeom>
            <a:solidFill>
              <a:schemeClr val="hlink"/>
            </a:solidFill>
            <a:ln w="12700">
              <a:solidFill>
                <a:schemeClr val="tx1"/>
              </a:solidFill>
              <a:round/>
            </a:ln>
          </p:spPr>
          <p:txBody>
            <a:bodyPr wrap="none" anchor="ctr"/>
            <a:lstStyle/>
            <a:p>
              <a:endParaRPr lang="en-US"/>
            </a:p>
          </p:txBody>
        </p:sp>
        <p:sp>
          <p:nvSpPr>
            <p:cNvPr id="146538" name="Line 24"/>
            <p:cNvSpPr>
              <a:spLocks noChangeShapeType="1"/>
            </p:cNvSpPr>
            <p:nvPr/>
          </p:nvSpPr>
          <p:spPr bwMode="auto">
            <a:xfrm>
              <a:off x="2019" y="2095"/>
              <a:ext cx="0" cy="50"/>
            </a:xfrm>
            <a:prstGeom prst="line">
              <a:avLst/>
            </a:prstGeom>
            <a:noFill/>
            <a:ln w="12700">
              <a:solidFill>
                <a:schemeClr val="tx1"/>
              </a:solidFill>
              <a:round/>
            </a:ln>
          </p:spPr>
          <p:txBody>
            <a:bodyPr wrap="none" anchor="ctr"/>
            <a:lstStyle/>
            <a:p>
              <a:endParaRPr lang="en-US"/>
            </a:p>
          </p:txBody>
        </p:sp>
        <p:sp>
          <p:nvSpPr>
            <p:cNvPr id="146539" name="Line 25"/>
            <p:cNvSpPr>
              <a:spLocks noChangeShapeType="1"/>
            </p:cNvSpPr>
            <p:nvPr/>
          </p:nvSpPr>
          <p:spPr bwMode="auto">
            <a:xfrm>
              <a:off x="2332" y="2095"/>
              <a:ext cx="0" cy="50"/>
            </a:xfrm>
            <a:prstGeom prst="line">
              <a:avLst/>
            </a:prstGeom>
            <a:noFill/>
            <a:ln w="12700">
              <a:solidFill>
                <a:schemeClr val="tx1"/>
              </a:solidFill>
              <a:round/>
            </a:ln>
          </p:spPr>
          <p:txBody>
            <a:bodyPr wrap="none" anchor="ctr"/>
            <a:lstStyle/>
            <a:p>
              <a:endParaRPr lang="en-US"/>
            </a:p>
          </p:txBody>
        </p:sp>
        <p:sp>
          <p:nvSpPr>
            <p:cNvPr id="146540" name="Rectangle 26"/>
            <p:cNvSpPr>
              <a:spLocks noChangeArrowheads="1"/>
            </p:cNvSpPr>
            <p:nvPr/>
          </p:nvSpPr>
          <p:spPr bwMode="auto">
            <a:xfrm>
              <a:off x="2019" y="2095"/>
              <a:ext cx="310" cy="49"/>
            </a:xfrm>
            <a:prstGeom prst="rect">
              <a:avLst/>
            </a:prstGeom>
            <a:solidFill>
              <a:schemeClr val="hlink"/>
            </a:solidFill>
            <a:ln>
              <a:noFill/>
            </a:ln>
          </p:spPr>
          <p:txBody>
            <a:bodyPr wrap="none" anchor="ctr"/>
            <a:lstStyle/>
            <a:p>
              <a:pPr algn="ctr"/>
              <a:endParaRPr lang="en-US" sz="2400"/>
            </a:p>
          </p:txBody>
        </p:sp>
        <p:sp>
          <p:nvSpPr>
            <p:cNvPr id="146541" name="Oval 27"/>
            <p:cNvSpPr>
              <a:spLocks noChangeArrowheads="1"/>
            </p:cNvSpPr>
            <p:nvPr/>
          </p:nvSpPr>
          <p:spPr bwMode="auto">
            <a:xfrm>
              <a:off x="2016" y="2036"/>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46542" name="Group 28"/>
            <p:cNvGrpSpPr/>
            <p:nvPr/>
          </p:nvGrpSpPr>
          <p:grpSpPr bwMode="auto">
            <a:xfrm>
              <a:off x="2032" y="1976"/>
              <a:ext cx="285" cy="250"/>
              <a:chOff x="2912" y="2425"/>
              <a:chExt cx="290" cy="250"/>
            </a:xfrm>
          </p:grpSpPr>
          <p:sp>
            <p:nvSpPr>
              <p:cNvPr id="146543" name="Rectangle 29"/>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46544" name="Text Box 30"/>
              <p:cNvSpPr txBox="1">
                <a:spLocks noChangeArrowheads="1"/>
              </p:cNvSpPr>
              <p:nvPr/>
            </p:nvSpPr>
            <p:spPr bwMode="auto">
              <a:xfrm>
                <a:off x="2912" y="2425"/>
                <a:ext cx="290"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3c</a:t>
                </a:r>
                <a:endParaRPr lang="en-US"/>
              </a:p>
            </p:txBody>
          </p:sp>
        </p:grpSp>
      </p:grpSp>
      <p:grpSp>
        <p:nvGrpSpPr>
          <p:cNvPr id="146449" name="Group 31"/>
          <p:cNvGrpSpPr/>
          <p:nvPr/>
        </p:nvGrpSpPr>
        <p:grpSpPr bwMode="auto">
          <a:xfrm>
            <a:off x="2466975" y="4702175"/>
            <a:ext cx="501650" cy="396875"/>
            <a:chOff x="1434" y="3104"/>
            <a:chExt cx="316" cy="250"/>
          </a:xfrm>
        </p:grpSpPr>
        <p:grpSp>
          <p:nvGrpSpPr>
            <p:cNvPr id="146529" name="Group 32"/>
            <p:cNvGrpSpPr/>
            <p:nvPr/>
          </p:nvGrpSpPr>
          <p:grpSpPr bwMode="auto">
            <a:xfrm>
              <a:off x="1434" y="3163"/>
              <a:ext cx="316" cy="147"/>
              <a:chOff x="1434" y="3163"/>
              <a:chExt cx="316" cy="147"/>
            </a:xfrm>
          </p:grpSpPr>
          <p:sp>
            <p:nvSpPr>
              <p:cNvPr id="146531" name="Oval 33"/>
              <p:cNvSpPr>
                <a:spLocks noChangeArrowheads="1"/>
              </p:cNvSpPr>
              <p:nvPr/>
            </p:nvSpPr>
            <p:spPr bwMode="auto">
              <a:xfrm>
                <a:off x="1437" y="3229"/>
                <a:ext cx="313" cy="81"/>
              </a:xfrm>
              <a:prstGeom prst="ellipse">
                <a:avLst/>
              </a:prstGeom>
              <a:solidFill>
                <a:schemeClr val="hlink"/>
              </a:solidFill>
              <a:ln w="12700">
                <a:solidFill>
                  <a:schemeClr val="tx1"/>
                </a:solidFill>
                <a:round/>
              </a:ln>
            </p:spPr>
            <p:txBody>
              <a:bodyPr wrap="none" anchor="ctr"/>
              <a:lstStyle/>
              <a:p>
                <a:endParaRPr lang="en-US"/>
              </a:p>
            </p:txBody>
          </p:sp>
          <p:sp>
            <p:nvSpPr>
              <p:cNvPr id="146532" name="Line 34"/>
              <p:cNvSpPr>
                <a:spLocks noChangeShapeType="1"/>
              </p:cNvSpPr>
              <p:nvPr/>
            </p:nvSpPr>
            <p:spPr bwMode="auto">
              <a:xfrm>
                <a:off x="1437" y="3222"/>
                <a:ext cx="0" cy="50"/>
              </a:xfrm>
              <a:prstGeom prst="line">
                <a:avLst/>
              </a:prstGeom>
              <a:noFill/>
              <a:ln w="12700">
                <a:solidFill>
                  <a:schemeClr val="tx1"/>
                </a:solidFill>
                <a:round/>
              </a:ln>
            </p:spPr>
            <p:txBody>
              <a:bodyPr wrap="none" anchor="ctr"/>
              <a:lstStyle/>
              <a:p>
                <a:endParaRPr lang="en-US"/>
              </a:p>
            </p:txBody>
          </p:sp>
          <p:sp>
            <p:nvSpPr>
              <p:cNvPr id="146533" name="Line 35"/>
              <p:cNvSpPr>
                <a:spLocks noChangeShapeType="1"/>
              </p:cNvSpPr>
              <p:nvPr/>
            </p:nvSpPr>
            <p:spPr bwMode="auto">
              <a:xfrm>
                <a:off x="1750" y="3222"/>
                <a:ext cx="0" cy="50"/>
              </a:xfrm>
              <a:prstGeom prst="line">
                <a:avLst/>
              </a:prstGeom>
              <a:noFill/>
              <a:ln w="12700">
                <a:solidFill>
                  <a:schemeClr val="tx1"/>
                </a:solidFill>
                <a:round/>
              </a:ln>
            </p:spPr>
            <p:txBody>
              <a:bodyPr wrap="none" anchor="ctr"/>
              <a:lstStyle/>
              <a:p>
                <a:endParaRPr lang="en-US"/>
              </a:p>
            </p:txBody>
          </p:sp>
          <p:sp>
            <p:nvSpPr>
              <p:cNvPr id="146534" name="Rectangle 36"/>
              <p:cNvSpPr>
                <a:spLocks noChangeArrowheads="1"/>
              </p:cNvSpPr>
              <p:nvPr/>
            </p:nvSpPr>
            <p:spPr bwMode="auto">
              <a:xfrm>
                <a:off x="1437" y="3222"/>
                <a:ext cx="310" cy="49"/>
              </a:xfrm>
              <a:prstGeom prst="rect">
                <a:avLst/>
              </a:prstGeom>
              <a:solidFill>
                <a:schemeClr val="hlink"/>
              </a:solidFill>
              <a:ln>
                <a:noFill/>
              </a:ln>
            </p:spPr>
            <p:txBody>
              <a:bodyPr wrap="none" anchor="ctr"/>
              <a:lstStyle/>
              <a:p>
                <a:pPr algn="ctr"/>
                <a:endParaRPr lang="en-US" sz="2400"/>
              </a:p>
            </p:txBody>
          </p:sp>
          <p:sp>
            <p:nvSpPr>
              <p:cNvPr id="146535" name="Oval 37"/>
              <p:cNvSpPr>
                <a:spLocks noChangeArrowheads="1"/>
              </p:cNvSpPr>
              <p:nvPr/>
            </p:nvSpPr>
            <p:spPr bwMode="auto">
              <a:xfrm>
                <a:off x="1434" y="3163"/>
                <a:ext cx="313" cy="95"/>
              </a:xfrm>
              <a:prstGeom prst="ellipse">
                <a:avLst/>
              </a:prstGeom>
              <a:solidFill>
                <a:schemeClr val="hlink"/>
              </a:solidFill>
              <a:ln w="12700">
                <a:solidFill>
                  <a:schemeClr val="tx1"/>
                </a:solidFill>
                <a:round/>
              </a:ln>
            </p:spPr>
            <p:txBody>
              <a:bodyPr wrap="none" anchor="ctr"/>
              <a:lstStyle/>
              <a:p>
                <a:endParaRPr lang="en-US"/>
              </a:p>
            </p:txBody>
          </p:sp>
          <p:sp>
            <p:nvSpPr>
              <p:cNvPr id="146536" name="Rectangle 38"/>
              <p:cNvSpPr>
                <a:spLocks noChangeArrowheads="1"/>
              </p:cNvSpPr>
              <p:nvPr/>
            </p:nvSpPr>
            <p:spPr bwMode="auto">
              <a:xfrm>
                <a:off x="1521" y="3176"/>
                <a:ext cx="142" cy="110"/>
              </a:xfrm>
              <a:prstGeom prst="rect">
                <a:avLst/>
              </a:prstGeom>
              <a:solidFill>
                <a:schemeClr val="hlink"/>
              </a:solidFill>
              <a:ln>
                <a:noFill/>
              </a:ln>
            </p:spPr>
            <p:txBody>
              <a:bodyPr wrap="none" anchor="ctr"/>
              <a:lstStyle/>
              <a:p>
                <a:endParaRPr lang="en-US"/>
              </a:p>
            </p:txBody>
          </p:sp>
        </p:grpSp>
        <p:sp>
          <p:nvSpPr>
            <p:cNvPr id="146530" name="Text Box 39"/>
            <p:cNvSpPr txBox="1">
              <a:spLocks noChangeArrowheads="1"/>
            </p:cNvSpPr>
            <p:nvPr/>
          </p:nvSpPr>
          <p:spPr bwMode="auto">
            <a:xfrm>
              <a:off x="1448" y="3104"/>
              <a:ext cx="294"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3a</a:t>
              </a:r>
              <a:endParaRPr lang="en-US"/>
            </a:p>
          </p:txBody>
        </p:sp>
      </p:grpSp>
      <p:grpSp>
        <p:nvGrpSpPr>
          <p:cNvPr id="146450" name="Group 40"/>
          <p:cNvGrpSpPr/>
          <p:nvPr/>
        </p:nvGrpSpPr>
        <p:grpSpPr bwMode="auto">
          <a:xfrm>
            <a:off x="2495550" y="5227638"/>
            <a:ext cx="2660650" cy="1122362"/>
            <a:chOff x="1572" y="3293"/>
            <a:chExt cx="1676" cy="707"/>
          </a:xfrm>
        </p:grpSpPr>
        <p:sp>
          <p:nvSpPr>
            <p:cNvPr id="146486" name="Freeform 41"/>
            <p:cNvSpPr/>
            <p:nvPr/>
          </p:nvSpPr>
          <p:spPr bwMode="auto">
            <a:xfrm>
              <a:off x="1572" y="3293"/>
              <a:ext cx="1676" cy="707"/>
            </a:xfrm>
            <a:custGeom>
              <a:avLst/>
              <a:gdLst>
                <a:gd name="T0" fmla="*/ 259 w 1583"/>
                <a:gd name="T1" fmla="*/ 310 h 682"/>
                <a:gd name="T2" fmla="*/ 681 w 1583"/>
                <a:gd name="T3" fmla="*/ 102 h 682"/>
                <a:gd name="T4" fmla="*/ 1313 w 1583"/>
                <a:gd name="T5" fmla="*/ 29 h 682"/>
                <a:gd name="T6" fmla="*/ 1933 w 1583"/>
                <a:gd name="T7" fmla="*/ 268 h 682"/>
                <a:gd name="T8" fmla="*/ 2613 w 1583"/>
                <a:gd name="T9" fmla="*/ 591 h 682"/>
                <a:gd name="T10" fmla="*/ 2126 w 1583"/>
                <a:gd name="T11" fmla="*/ 888 h 682"/>
                <a:gd name="T12" fmla="*/ 1153 w 1583"/>
                <a:gd name="T13" fmla="*/ 908 h 682"/>
                <a:gd name="T14" fmla="*/ 149 w 1583"/>
                <a:gd name="T15" fmla="*/ 823 h 682"/>
                <a:gd name="T16" fmla="*/ 259 w 1583"/>
                <a:gd name="T17" fmla="*/ 310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66CCFF"/>
            </a:solidFill>
            <a:ln>
              <a:noFill/>
            </a:ln>
          </p:spPr>
          <p:txBody>
            <a:bodyPr wrap="none" anchor="ctr"/>
            <a:lstStyle/>
            <a:p>
              <a:endParaRPr lang="en-US"/>
            </a:p>
          </p:txBody>
        </p:sp>
        <p:sp>
          <p:nvSpPr>
            <p:cNvPr id="146487" name="Text Box 42"/>
            <p:cNvSpPr txBox="1">
              <a:spLocks noChangeArrowheads="1"/>
            </p:cNvSpPr>
            <p:nvPr/>
          </p:nvSpPr>
          <p:spPr bwMode="auto">
            <a:xfrm>
              <a:off x="1719" y="3724"/>
              <a:ext cx="41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2000"/>
                <a:t>AS1</a:t>
              </a:r>
              <a:endParaRPr lang="en-US" sz="1800"/>
            </a:p>
          </p:txBody>
        </p:sp>
        <p:sp>
          <p:nvSpPr>
            <p:cNvPr id="146488" name="Line 43"/>
            <p:cNvSpPr>
              <a:spLocks noChangeShapeType="1"/>
            </p:cNvSpPr>
            <p:nvPr/>
          </p:nvSpPr>
          <p:spPr bwMode="auto">
            <a:xfrm flipH="1">
              <a:off x="2134" y="3469"/>
              <a:ext cx="93" cy="102"/>
            </a:xfrm>
            <a:prstGeom prst="line">
              <a:avLst/>
            </a:prstGeom>
            <a:noFill/>
            <a:ln w="12700">
              <a:solidFill>
                <a:schemeClr val="tx1"/>
              </a:solidFill>
              <a:round/>
            </a:ln>
          </p:spPr>
          <p:txBody>
            <a:bodyPr/>
            <a:lstStyle/>
            <a:p>
              <a:endParaRPr lang="en-US"/>
            </a:p>
          </p:txBody>
        </p:sp>
        <p:sp>
          <p:nvSpPr>
            <p:cNvPr id="146489" name="Line 44"/>
            <p:cNvSpPr>
              <a:spLocks noChangeShapeType="1"/>
            </p:cNvSpPr>
            <p:nvPr/>
          </p:nvSpPr>
          <p:spPr bwMode="auto">
            <a:xfrm>
              <a:off x="2388" y="3491"/>
              <a:ext cx="3" cy="285"/>
            </a:xfrm>
            <a:prstGeom prst="line">
              <a:avLst/>
            </a:prstGeom>
            <a:noFill/>
            <a:ln w="12700">
              <a:solidFill>
                <a:schemeClr val="tx1"/>
              </a:solidFill>
              <a:round/>
            </a:ln>
          </p:spPr>
          <p:txBody>
            <a:bodyPr/>
            <a:lstStyle/>
            <a:p>
              <a:endParaRPr lang="en-US"/>
            </a:p>
          </p:txBody>
        </p:sp>
        <p:sp>
          <p:nvSpPr>
            <p:cNvPr id="146490" name="Line 45"/>
            <p:cNvSpPr>
              <a:spLocks noChangeShapeType="1"/>
            </p:cNvSpPr>
            <p:nvPr/>
          </p:nvSpPr>
          <p:spPr bwMode="auto">
            <a:xfrm>
              <a:off x="2490" y="3461"/>
              <a:ext cx="313" cy="211"/>
            </a:xfrm>
            <a:prstGeom prst="line">
              <a:avLst/>
            </a:prstGeom>
            <a:noFill/>
            <a:ln w="12700">
              <a:solidFill>
                <a:schemeClr val="tx1"/>
              </a:solidFill>
              <a:round/>
            </a:ln>
          </p:spPr>
          <p:txBody>
            <a:bodyPr/>
            <a:lstStyle/>
            <a:p>
              <a:endParaRPr lang="en-US"/>
            </a:p>
          </p:txBody>
        </p:sp>
        <p:sp>
          <p:nvSpPr>
            <p:cNvPr id="146491" name="Line 46"/>
            <p:cNvSpPr>
              <a:spLocks noChangeShapeType="1"/>
            </p:cNvSpPr>
            <p:nvPr/>
          </p:nvSpPr>
          <p:spPr bwMode="auto">
            <a:xfrm flipH="1">
              <a:off x="2566" y="3749"/>
              <a:ext cx="237" cy="76"/>
            </a:xfrm>
            <a:prstGeom prst="line">
              <a:avLst/>
            </a:prstGeom>
            <a:noFill/>
            <a:ln w="12700">
              <a:solidFill>
                <a:schemeClr val="tx1"/>
              </a:solidFill>
              <a:round/>
            </a:ln>
          </p:spPr>
          <p:txBody>
            <a:bodyPr/>
            <a:lstStyle/>
            <a:p>
              <a:endParaRPr lang="en-US"/>
            </a:p>
          </p:txBody>
        </p:sp>
        <p:sp>
          <p:nvSpPr>
            <p:cNvPr id="146492" name="Line 47"/>
            <p:cNvSpPr>
              <a:spLocks noChangeShapeType="1"/>
            </p:cNvSpPr>
            <p:nvPr/>
          </p:nvSpPr>
          <p:spPr bwMode="auto">
            <a:xfrm flipH="1" flipV="1">
              <a:off x="2202" y="3638"/>
              <a:ext cx="568" cy="51"/>
            </a:xfrm>
            <a:prstGeom prst="line">
              <a:avLst/>
            </a:prstGeom>
            <a:noFill/>
            <a:ln w="12700">
              <a:solidFill>
                <a:schemeClr val="tx1"/>
              </a:solidFill>
              <a:round/>
            </a:ln>
          </p:spPr>
          <p:txBody>
            <a:bodyPr/>
            <a:lstStyle/>
            <a:p>
              <a:endParaRPr lang="en-US"/>
            </a:p>
          </p:txBody>
        </p:sp>
        <p:sp>
          <p:nvSpPr>
            <p:cNvPr id="146493" name="Line 48"/>
            <p:cNvSpPr>
              <a:spLocks noChangeShapeType="1"/>
            </p:cNvSpPr>
            <p:nvPr/>
          </p:nvSpPr>
          <p:spPr bwMode="auto">
            <a:xfrm>
              <a:off x="2143" y="3689"/>
              <a:ext cx="127" cy="85"/>
            </a:xfrm>
            <a:prstGeom prst="line">
              <a:avLst/>
            </a:prstGeom>
            <a:noFill/>
            <a:ln w="12700">
              <a:solidFill>
                <a:schemeClr val="tx1"/>
              </a:solidFill>
              <a:round/>
            </a:ln>
          </p:spPr>
          <p:txBody>
            <a:bodyPr/>
            <a:lstStyle/>
            <a:p>
              <a:endParaRPr lang="en-US"/>
            </a:p>
          </p:txBody>
        </p:sp>
        <p:grpSp>
          <p:nvGrpSpPr>
            <p:cNvPr id="146494" name="Group 49"/>
            <p:cNvGrpSpPr/>
            <p:nvPr/>
          </p:nvGrpSpPr>
          <p:grpSpPr bwMode="auto">
            <a:xfrm>
              <a:off x="2202" y="3293"/>
              <a:ext cx="316" cy="250"/>
              <a:chOff x="2055" y="3447"/>
              <a:chExt cx="316" cy="250"/>
            </a:xfrm>
          </p:grpSpPr>
          <p:sp>
            <p:nvSpPr>
              <p:cNvPr id="146521" name="Oval 50"/>
              <p:cNvSpPr>
                <a:spLocks noChangeArrowheads="1"/>
              </p:cNvSpPr>
              <p:nvPr/>
            </p:nvSpPr>
            <p:spPr bwMode="auto">
              <a:xfrm>
                <a:off x="2058" y="3571"/>
                <a:ext cx="313" cy="81"/>
              </a:xfrm>
              <a:prstGeom prst="ellipse">
                <a:avLst/>
              </a:prstGeom>
              <a:solidFill>
                <a:schemeClr val="hlink"/>
              </a:solidFill>
              <a:ln w="12700">
                <a:solidFill>
                  <a:schemeClr val="tx1"/>
                </a:solidFill>
                <a:round/>
              </a:ln>
            </p:spPr>
            <p:txBody>
              <a:bodyPr wrap="none" anchor="ctr"/>
              <a:lstStyle/>
              <a:p>
                <a:endParaRPr lang="en-US"/>
              </a:p>
            </p:txBody>
          </p:sp>
          <p:sp>
            <p:nvSpPr>
              <p:cNvPr id="146522" name="Line 51"/>
              <p:cNvSpPr>
                <a:spLocks noChangeShapeType="1"/>
              </p:cNvSpPr>
              <p:nvPr/>
            </p:nvSpPr>
            <p:spPr bwMode="auto">
              <a:xfrm>
                <a:off x="2058" y="3564"/>
                <a:ext cx="0" cy="50"/>
              </a:xfrm>
              <a:prstGeom prst="line">
                <a:avLst/>
              </a:prstGeom>
              <a:noFill/>
              <a:ln w="12700">
                <a:solidFill>
                  <a:schemeClr val="tx1"/>
                </a:solidFill>
                <a:round/>
              </a:ln>
            </p:spPr>
            <p:txBody>
              <a:bodyPr wrap="none" anchor="ctr"/>
              <a:lstStyle/>
              <a:p>
                <a:endParaRPr lang="en-US"/>
              </a:p>
            </p:txBody>
          </p:sp>
          <p:sp>
            <p:nvSpPr>
              <p:cNvPr id="146523" name="Line 52"/>
              <p:cNvSpPr>
                <a:spLocks noChangeShapeType="1"/>
              </p:cNvSpPr>
              <p:nvPr/>
            </p:nvSpPr>
            <p:spPr bwMode="auto">
              <a:xfrm>
                <a:off x="2371" y="3564"/>
                <a:ext cx="0" cy="50"/>
              </a:xfrm>
              <a:prstGeom prst="line">
                <a:avLst/>
              </a:prstGeom>
              <a:noFill/>
              <a:ln w="12700">
                <a:solidFill>
                  <a:schemeClr val="tx1"/>
                </a:solidFill>
                <a:round/>
              </a:ln>
            </p:spPr>
            <p:txBody>
              <a:bodyPr wrap="none" anchor="ctr"/>
              <a:lstStyle/>
              <a:p>
                <a:endParaRPr lang="en-US"/>
              </a:p>
            </p:txBody>
          </p:sp>
          <p:sp>
            <p:nvSpPr>
              <p:cNvPr id="146524" name="Rectangle 53"/>
              <p:cNvSpPr>
                <a:spLocks noChangeArrowheads="1"/>
              </p:cNvSpPr>
              <p:nvPr/>
            </p:nvSpPr>
            <p:spPr bwMode="auto">
              <a:xfrm>
                <a:off x="2058" y="3564"/>
                <a:ext cx="310" cy="49"/>
              </a:xfrm>
              <a:prstGeom prst="rect">
                <a:avLst/>
              </a:prstGeom>
              <a:solidFill>
                <a:schemeClr val="hlink"/>
              </a:solidFill>
              <a:ln>
                <a:noFill/>
              </a:ln>
            </p:spPr>
            <p:txBody>
              <a:bodyPr wrap="none" anchor="ctr"/>
              <a:lstStyle/>
              <a:p>
                <a:pPr algn="ctr"/>
                <a:endParaRPr lang="en-US" sz="2400"/>
              </a:p>
            </p:txBody>
          </p:sp>
          <p:sp>
            <p:nvSpPr>
              <p:cNvPr id="146525" name="Oval 54"/>
              <p:cNvSpPr>
                <a:spLocks noChangeArrowheads="1"/>
              </p:cNvSpPr>
              <p:nvPr/>
            </p:nvSpPr>
            <p:spPr bwMode="auto">
              <a:xfrm>
                <a:off x="2055" y="3505"/>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46526" name="Group 55"/>
              <p:cNvGrpSpPr/>
              <p:nvPr/>
            </p:nvGrpSpPr>
            <p:grpSpPr bwMode="auto">
              <a:xfrm>
                <a:off x="2072" y="3447"/>
                <a:ext cx="285" cy="250"/>
                <a:chOff x="2912" y="2425"/>
                <a:chExt cx="292" cy="250"/>
              </a:xfrm>
            </p:grpSpPr>
            <p:sp>
              <p:nvSpPr>
                <p:cNvPr id="146527" name="Rectangle 56"/>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46528" name="Text Box 57"/>
                <p:cNvSpPr txBox="1">
                  <a:spLocks noChangeArrowheads="1"/>
                </p:cNvSpPr>
                <p:nvPr/>
              </p:nvSpPr>
              <p:spPr bwMode="auto">
                <a:xfrm>
                  <a:off x="2912" y="2425"/>
                  <a:ext cx="292"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1c</a:t>
                  </a:r>
                </a:p>
              </p:txBody>
            </p:sp>
          </p:grpSp>
        </p:grpSp>
        <p:grpSp>
          <p:nvGrpSpPr>
            <p:cNvPr id="146495" name="Group 58"/>
            <p:cNvGrpSpPr/>
            <p:nvPr/>
          </p:nvGrpSpPr>
          <p:grpSpPr bwMode="auto">
            <a:xfrm>
              <a:off x="1896" y="3507"/>
              <a:ext cx="316" cy="250"/>
              <a:chOff x="1749" y="3661"/>
              <a:chExt cx="316" cy="250"/>
            </a:xfrm>
          </p:grpSpPr>
          <p:sp>
            <p:nvSpPr>
              <p:cNvPr id="146514" name="Oval 59"/>
              <p:cNvSpPr>
                <a:spLocks noChangeArrowheads="1"/>
              </p:cNvSpPr>
              <p:nvPr/>
            </p:nvSpPr>
            <p:spPr bwMode="auto">
              <a:xfrm>
                <a:off x="1752" y="3781"/>
                <a:ext cx="313" cy="81"/>
              </a:xfrm>
              <a:prstGeom prst="ellipse">
                <a:avLst/>
              </a:prstGeom>
              <a:solidFill>
                <a:schemeClr val="hlink"/>
              </a:solidFill>
              <a:ln w="12700">
                <a:solidFill>
                  <a:schemeClr val="tx1"/>
                </a:solidFill>
                <a:round/>
              </a:ln>
            </p:spPr>
            <p:txBody>
              <a:bodyPr wrap="none" anchor="ctr"/>
              <a:lstStyle/>
              <a:p>
                <a:endParaRPr lang="en-US"/>
              </a:p>
            </p:txBody>
          </p:sp>
          <p:sp>
            <p:nvSpPr>
              <p:cNvPr id="146515" name="Line 60"/>
              <p:cNvSpPr>
                <a:spLocks noChangeShapeType="1"/>
              </p:cNvSpPr>
              <p:nvPr/>
            </p:nvSpPr>
            <p:spPr bwMode="auto">
              <a:xfrm>
                <a:off x="1752" y="3774"/>
                <a:ext cx="0" cy="50"/>
              </a:xfrm>
              <a:prstGeom prst="line">
                <a:avLst/>
              </a:prstGeom>
              <a:noFill/>
              <a:ln w="12700">
                <a:solidFill>
                  <a:schemeClr val="tx1"/>
                </a:solidFill>
                <a:round/>
              </a:ln>
            </p:spPr>
            <p:txBody>
              <a:bodyPr wrap="none" anchor="ctr"/>
              <a:lstStyle/>
              <a:p>
                <a:endParaRPr lang="en-US"/>
              </a:p>
            </p:txBody>
          </p:sp>
          <p:sp>
            <p:nvSpPr>
              <p:cNvPr id="146516" name="Line 61"/>
              <p:cNvSpPr>
                <a:spLocks noChangeShapeType="1"/>
              </p:cNvSpPr>
              <p:nvPr/>
            </p:nvSpPr>
            <p:spPr bwMode="auto">
              <a:xfrm>
                <a:off x="2065" y="3774"/>
                <a:ext cx="0" cy="50"/>
              </a:xfrm>
              <a:prstGeom prst="line">
                <a:avLst/>
              </a:prstGeom>
              <a:noFill/>
              <a:ln w="12700">
                <a:solidFill>
                  <a:schemeClr val="tx1"/>
                </a:solidFill>
                <a:round/>
              </a:ln>
            </p:spPr>
            <p:txBody>
              <a:bodyPr wrap="none" anchor="ctr"/>
              <a:lstStyle/>
              <a:p>
                <a:endParaRPr lang="en-US"/>
              </a:p>
            </p:txBody>
          </p:sp>
          <p:sp>
            <p:nvSpPr>
              <p:cNvPr id="146517" name="Rectangle 62"/>
              <p:cNvSpPr>
                <a:spLocks noChangeArrowheads="1"/>
              </p:cNvSpPr>
              <p:nvPr/>
            </p:nvSpPr>
            <p:spPr bwMode="auto">
              <a:xfrm>
                <a:off x="1752" y="3774"/>
                <a:ext cx="310" cy="49"/>
              </a:xfrm>
              <a:prstGeom prst="rect">
                <a:avLst/>
              </a:prstGeom>
              <a:solidFill>
                <a:schemeClr val="hlink"/>
              </a:solidFill>
              <a:ln>
                <a:noFill/>
              </a:ln>
            </p:spPr>
            <p:txBody>
              <a:bodyPr wrap="none" anchor="ctr"/>
              <a:lstStyle/>
              <a:p>
                <a:pPr algn="ctr"/>
                <a:endParaRPr lang="en-US" sz="2400"/>
              </a:p>
            </p:txBody>
          </p:sp>
          <p:sp>
            <p:nvSpPr>
              <p:cNvPr id="146518" name="Oval 63"/>
              <p:cNvSpPr>
                <a:spLocks noChangeArrowheads="1"/>
              </p:cNvSpPr>
              <p:nvPr/>
            </p:nvSpPr>
            <p:spPr bwMode="auto">
              <a:xfrm>
                <a:off x="1749" y="3719"/>
                <a:ext cx="313" cy="95"/>
              </a:xfrm>
              <a:prstGeom prst="ellipse">
                <a:avLst/>
              </a:prstGeom>
              <a:solidFill>
                <a:schemeClr val="hlink"/>
              </a:solidFill>
              <a:ln w="12700">
                <a:solidFill>
                  <a:schemeClr val="tx1"/>
                </a:solidFill>
                <a:round/>
              </a:ln>
            </p:spPr>
            <p:txBody>
              <a:bodyPr wrap="none" anchor="ctr"/>
              <a:lstStyle/>
              <a:p>
                <a:endParaRPr lang="en-US"/>
              </a:p>
            </p:txBody>
          </p:sp>
          <p:sp>
            <p:nvSpPr>
              <p:cNvPr id="146519" name="Rectangle 64"/>
              <p:cNvSpPr>
                <a:spLocks noChangeArrowheads="1"/>
              </p:cNvSpPr>
              <p:nvPr/>
            </p:nvSpPr>
            <p:spPr bwMode="auto">
              <a:xfrm>
                <a:off x="1834" y="3746"/>
                <a:ext cx="142" cy="96"/>
              </a:xfrm>
              <a:prstGeom prst="rect">
                <a:avLst/>
              </a:prstGeom>
              <a:solidFill>
                <a:schemeClr val="hlink"/>
              </a:solidFill>
              <a:ln>
                <a:noFill/>
              </a:ln>
            </p:spPr>
            <p:txBody>
              <a:bodyPr wrap="none" anchor="ctr"/>
              <a:lstStyle/>
              <a:p>
                <a:endParaRPr lang="en-US"/>
              </a:p>
            </p:txBody>
          </p:sp>
          <p:sp>
            <p:nvSpPr>
              <p:cNvPr id="146520" name="Text Box 65"/>
              <p:cNvSpPr txBox="1">
                <a:spLocks noChangeArrowheads="1"/>
              </p:cNvSpPr>
              <p:nvPr/>
            </p:nvSpPr>
            <p:spPr bwMode="auto">
              <a:xfrm>
                <a:off x="1765" y="3661"/>
                <a:ext cx="294"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1a</a:t>
                </a:r>
                <a:endParaRPr lang="en-US"/>
              </a:p>
            </p:txBody>
          </p:sp>
        </p:grpSp>
        <p:grpSp>
          <p:nvGrpSpPr>
            <p:cNvPr id="146496" name="Group 66"/>
            <p:cNvGrpSpPr/>
            <p:nvPr/>
          </p:nvGrpSpPr>
          <p:grpSpPr bwMode="auto">
            <a:xfrm>
              <a:off x="2238" y="3689"/>
              <a:ext cx="316" cy="250"/>
              <a:chOff x="2091" y="3843"/>
              <a:chExt cx="316" cy="250"/>
            </a:xfrm>
          </p:grpSpPr>
          <p:sp>
            <p:nvSpPr>
              <p:cNvPr id="146506" name="Oval 67"/>
              <p:cNvSpPr>
                <a:spLocks noChangeArrowheads="1"/>
              </p:cNvSpPr>
              <p:nvPr/>
            </p:nvSpPr>
            <p:spPr bwMode="auto">
              <a:xfrm>
                <a:off x="2094" y="3967"/>
                <a:ext cx="313" cy="81"/>
              </a:xfrm>
              <a:prstGeom prst="ellipse">
                <a:avLst/>
              </a:prstGeom>
              <a:solidFill>
                <a:schemeClr val="hlink"/>
              </a:solidFill>
              <a:ln w="12700">
                <a:solidFill>
                  <a:schemeClr val="tx1"/>
                </a:solidFill>
                <a:round/>
              </a:ln>
            </p:spPr>
            <p:txBody>
              <a:bodyPr wrap="none" anchor="ctr"/>
              <a:lstStyle/>
              <a:p>
                <a:endParaRPr lang="en-US"/>
              </a:p>
            </p:txBody>
          </p:sp>
          <p:sp>
            <p:nvSpPr>
              <p:cNvPr id="146507" name="Line 68"/>
              <p:cNvSpPr>
                <a:spLocks noChangeShapeType="1"/>
              </p:cNvSpPr>
              <p:nvPr/>
            </p:nvSpPr>
            <p:spPr bwMode="auto">
              <a:xfrm>
                <a:off x="2094" y="3960"/>
                <a:ext cx="0" cy="50"/>
              </a:xfrm>
              <a:prstGeom prst="line">
                <a:avLst/>
              </a:prstGeom>
              <a:noFill/>
              <a:ln w="12700">
                <a:solidFill>
                  <a:schemeClr val="tx1"/>
                </a:solidFill>
                <a:round/>
              </a:ln>
            </p:spPr>
            <p:txBody>
              <a:bodyPr wrap="none" anchor="ctr"/>
              <a:lstStyle/>
              <a:p>
                <a:endParaRPr lang="en-US"/>
              </a:p>
            </p:txBody>
          </p:sp>
          <p:sp>
            <p:nvSpPr>
              <p:cNvPr id="146508" name="Line 69"/>
              <p:cNvSpPr>
                <a:spLocks noChangeShapeType="1"/>
              </p:cNvSpPr>
              <p:nvPr/>
            </p:nvSpPr>
            <p:spPr bwMode="auto">
              <a:xfrm>
                <a:off x="2407" y="3960"/>
                <a:ext cx="0" cy="50"/>
              </a:xfrm>
              <a:prstGeom prst="line">
                <a:avLst/>
              </a:prstGeom>
              <a:noFill/>
              <a:ln w="12700">
                <a:solidFill>
                  <a:schemeClr val="tx1"/>
                </a:solidFill>
                <a:round/>
              </a:ln>
            </p:spPr>
            <p:txBody>
              <a:bodyPr wrap="none" anchor="ctr"/>
              <a:lstStyle/>
              <a:p>
                <a:endParaRPr lang="en-US"/>
              </a:p>
            </p:txBody>
          </p:sp>
          <p:sp>
            <p:nvSpPr>
              <p:cNvPr id="146509" name="Rectangle 70"/>
              <p:cNvSpPr>
                <a:spLocks noChangeArrowheads="1"/>
              </p:cNvSpPr>
              <p:nvPr/>
            </p:nvSpPr>
            <p:spPr bwMode="auto">
              <a:xfrm>
                <a:off x="2094" y="3960"/>
                <a:ext cx="310" cy="49"/>
              </a:xfrm>
              <a:prstGeom prst="rect">
                <a:avLst/>
              </a:prstGeom>
              <a:solidFill>
                <a:schemeClr val="hlink"/>
              </a:solidFill>
              <a:ln>
                <a:noFill/>
              </a:ln>
            </p:spPr>
            <p:txBody>
              <a:bodyPr wrap="none" anchor="ctr"/>
              <a:lstStyle/>
              <a:p>
                <a:pPr algn="ctr"/>
                <a:endParaRPr lang="en-US" sz="2400"/>
              </a:p>
            </p:txBody>
          </p:sp>
          <p:sp>
            <p:nvSpPr>
              <p:cNvPr id="146510" name="Oval 71"/>
              <p:cNvSpPr>
                <a:spLocks noChangeArrowheads="1"/>
              </p:cNvSpPr>
              <p:nvPr/>
            </p:nvSpPr>
            <p:spPr bwMode="auto">
              <a:xfrm>
                <a:off x="2091" y="3901"/>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46511" name="Group 72"/>
              <p:cNvGrpSpPr/>
              <p:nvPr/>
            </p:nvGrpSpPr>
            <p:grpSpPr bwMode="auto">
              <a:xfrm>
                <a:off x="2106" y="3843"/>
                <a:ext cx="294" cy="250"/>
                <a:chOff x="2910" y="2425"/>
                <a:chExt cx="296" cy="250"/>
              </a:xfrm>
            </p:grpSpPr>
            <p:sp>
              <p:nvSpPr>
                <p:cNvPr id="146512" name="Rectangle 73"/>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46513" name="Text Box 74"/>
                <p:cNvSpPr txBox="1">
                  <a:spLocks noChangeArrowheads="1"/>
                </p:cNvSpPr>
                <p:nvPr/>
              </p:nvSpPr>
              <p:spPr bwMode="auto">
                <a:xfrm>
                  <a:off x="2910" y="2425"/>
                  <a:ext cx="296"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1d</a:t>
                  </a:r>
                </a:p>
              </p:txBody>
            </p:sp>
          </p:grpSp>
        </p:grpSp>
        <p:grpSp>
          <p:nvGrpSpPr>
            <p:cNvPr id="146497" name="Group 75"/>
            <p:cNvGrpSpPr/>
            <p:nvPr/>
          </p:nvGrpSpPr>
          <p:grpSpPr bwMode="auto">
            <a:xfrm>
              <a:off x="2778" y="3573"/>
              <a:ext cx="316" cy="250"/>
              <a:chOff x="2016" y="1976"/>
              <a:chExt cx="316" cy="250"/>
            </a:xfrm>
          </p:grpSpPr>
          <p:sp>
            <p:nvSpPr>
              <p:cNvPr id="146498" name="Oval 76"/>
              <p:cNvSpPr>
                <a:spLocks noChangeArrowheads="1"/>
              </p:cNvSpPr>
              <p:nvPr/>
            </p:nvSpPr>
            <p:spPr bwMode="auto">
              <a:xfrm>
                <a:off x="2019" y="2102"/>
                <a:ext cx="313" cy="81"/>
              </a:xfrm>
              <a:prstGeom prst="ellipse">
                <a:avLst/>
              </a:prstGeom>
              <a:solidFill>
                <a:schemeClr val="hlink"/>
              </a:solidFill>
              <a:ln w="12700">
                <a:solidFill>
                  <a:schemeClr val="tx1"/>
                </a:solidFill>
                <a:round/>
              </a:ln>
            </p:spPr>
            <p:txBody>
              <a:bodyPr wrap="none" anchor="ctr"/>
              <a:lstStyle/>
              <a:p>
                <a:endParaRPr lang="en-US"/>
              </a:p>
            </p:txBody>
          </p:sp>
          <p:sp>
            <p:nvSpPr>
              <p:cNvPr id="146499" name="Line 77"/>
              <p:cNvSpPr>
                <a:spLocks noChangeShapeType="1"/>
              </p:cNvSpPr>
              <p:nvPr/>
            </p:nvSpPr>
            <p:spPr bwMode="auto">
              <a:xfrm>
                <a:off x="2019" y="2095"/>
                <a:ext cx="0" cy="50"/>
              </a:xfrm>
              <a:prstGeom prst="line">
                <a:avLst/>
              </a:prstGeom>
              <a:noFill/>
              <a:ln w="12700">
                <a:solidFill>
                  <a:schemeClr val="tx1"/>
                </a:solidFill>
                <a:round/>
              </a:ln>
            </p:spPr>
            <p:txBody>
              <a:bodyPr wrap="none" anchor="ctr"/>
              <a:lstStyle/>
              <a:p>
                <a:endParaRPr lang="en-US"/>
              </a:p>
            </p:txBody>
          </p:sp>
          <p:sp>
            <p:nvSpPr>
              <p:cNvPr id="146500" name="Line 78"/>
              <p:cNvSpPr>
                <a:spLocks noChangeShapeType="1"/>
              </p:cNvSpPr>
              <p:nvPr/>
            </p:nvSpPr>
            <p:spPr bwMode="auto">
              <a:xfrm>
                <a:off x="2332" y="2095"/>
                <a:ext cx="0" cy="50"/>
              </a:xfrm>
              <a:prstGeom prst="line">
                <a:avLst/>
              </a:prstGeom>
              <a:noFill/>
              <a:ln w="12700">
                <a:solidFill>
                  <a:schemeClr val="tx1"/>
                </a:solidFill>
                <a:round/>
              </a:ln>
            </p:spPr>
            <p:txBody>
              <a:bodyPr wrap="none" anchor="ctr"/>
              <a:lstStyle/>
              <a:p>
                <a:endParaRPr lang="en-US"/>
              </a:p>
            </p:txBody>
          </p:sp>
          <p:sp>
            <p:nvSpPr>
              <p:cNvPr id="146501" name="Rectangle 79"/>
              <p:cNvSpPr>
                <a:spLocks noChangeArrowheads="1"/>
              </p:cNvSpPr>
              <p:nvPr/>
            </p:nvSpPr>
            <p:spPr bwMode="auto">
              <a:xfrm>
                <a:off x="2019" y="2095"/>
                <a:ext cx="310" cy="49"/>
              </a:xfrm>
              <a:prstGeom prst="rect">
                <a:avLst/>
              </a:prstGeom>
              <a:solidFill>
                <a:schemeClr val="hlink"/>
              </a:solidFill>
              <a:ln>
                <a:noFill/>
              </a:ln>
            </p:spPr>
            <p:txBody>
              <a:bodyPr wrap="none" anchor="ctr"/>
              <a:lstStyle/>
              <a:p>
                <a:pPr algn="ctr"/>
                <a:endParaRPr lang="en-US" sz="2400"/>
              </a:p>
            </p:txBody>
          </p:sp>
          <p:sp>
            <p:nvSpPr>
              <p:cNvPr id="146502" name="Oval 80"/>
              <p:cNvSpPr>
                <a:spLocks noChangeArrowheads="1"/>
              </p:cNvSpPr>
              <p:nvPr/>
            </p:nvSpPr>
            <p:spPr bwMode="auto">
              <a:xfrm>
                <a:off x="2016" y="2036"/>
                <a:ext cx="313" cy="95"/>
              </a:xfrm>
              <a:prstGeom prst="ellipse">
                <a:avLst/>
              </a:prstGeom>
              <a:solidFill>
                <a:schemeClr val="hlink"/>
              </a:solidFill>
              <a:ln w="12700">
                <a:solidFill>
                  <a:schemeClr val="tx1"/>
                </a:solidFill>
                <a:round/>
              </a:ln>
            </p:spPr>
            <p:txBody>
              <a:bodyPr wrap="none" anchor="ctr"/>
              <a:lstStyle/>
              <a:p>
                <a:endParaRPr lang="en-US"/>
              </a:p>
            </p:txBody>
          </p:sp>
          <p:grpSp>
            <p:nvGrpSpPr>
              <p:cNvPr id="146503" name="Group 81"/>
              <p:cNvGrpSpPr/>
              <p:nvPr/>
            </p:nvGrpSpPr>
            <p:grpSpPr bwMode="auto">
              <a:xfrm>
                <a:off x="2029" y="1976"/>
                <a:ext cx="294" cy="250"/>
                <a:chOff x="2909" y="2425"/>
                <a:chExt cx="299" cy="250"/>
              </a:xfrm>
            </p:grpSpPr>
            <p:sp>
              <p:nvSpPr>
                <p:cNvPr id="146504" name="Rectangle 82"/>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46505" name="Text Box 83"/>
                <p:cNvSpPr txBox="1">
                  <a:spLocks noChangeArrowheads="1"/>
                </p:cNvSpPr>
                <p:nvPr/>
              </p:nvSpPr>
              <p:spPr bwMode="auto">
                <a:xfrm>
                  <a:off x="2909" y="2425"/>
                  <a:ext cx="2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1b</a:t>
                  </a:r>
                  <a:endParaRPr lang="en-US"/>
                </a:p>
              </p:txBody>
            </p:sp>
          </p:grpSp>
        </p:grpSp>
      </p:grpSp>
      <p:grpSp>
        <p:nvGrpSpPr>
          <p:cNvPr id="146451" name="Group 84"/>
          <p:cNvGrpSpPr/>
          <p:nvPr/>
        </p:nvGrpSpPr>
        <p:grpSpPr bwMode="auto">
          <a:xfrm>
            <a:off x="5414963" y="5324475"/>
            <a:ext cx="501650" cy="396875"/>
            <a:chOff x="3537" y="3473"/>
            <a:chExt cx="316" cy="250"/>
          </a:xfrm>
        </p:grpSpPr>
        <p:sp>
          <p:nvSpPr>
            <p:cNvPr id="146479" name="Oval 85"/>
            <p:cNvSpPr>
              <a:spLocks noChangeArrowheads="1"/>
            </p:cNvSpPr>
            <p:nvPr/>
          </p:nvSpPr>
          <p:spPr bwMode="auto">
            <a:xfrm>
              <a:off x="3540" y="3598"/>
              <a:ext cx="313" cy="81"/>
            </a:xfrm>
            <a:prstGeom prst="ellipse">
              <a:avLst/>
            </a:prstGeom>
            <a:solidFill>
              <a:schemeClr val="hlink"/>
            </a:solidFill>
            <a:ln w="12700">
              <a:solidFill>
                <a:schemeClr val="tx1"/>
              </a:solidFill>
              <a:round/>
            </a:ln>
          </p:spPr>
          <p:txBody>
            <a:bodyPr wrap="none" anchor="ctr"/>
            <a:lstStyle/>
            <a:p>
              <a:endParaRPr lang="en-US"/>
            </a:p>
          </p:txBody>
        </p:sp>
        <p:sp>
          <p:nvSpPr>
            <p:cNvPr id="146480" name="Line 86"/>
            <p:cNvSpPr>
              <a:spLocks noChangeShapeType="1"/>
            </p:cNvSpPr>
            <p:nvPr/>
          </p:nvSpPr>
          <p:spPr bwMode="auto">
            <a:xfrm>
              <a:off x="3540" y="3591"/>
              <a:ext cx="0" cy="50"/>
            </a:xfrm>
            <a:prstGeom prst="line">
              <a:avLst/>
            </a:prstGeom>
            <a:noFill/>
            <a:ln w="12700">
              <a:solidFill>
                <a:schemeClr val="tx1"/>
              </a:solidFill>
              <a:round/>
            </a:ln>
          </p:spPr>
          <p:txBody>
            <a:bodyPr wrap="none" anchor="ctr"/>
            <a:lstStyle/>
            <a:p>
              <a:endParaRPr lang="en-US"/>
            </a:p>
          </p:txBody>
        </p:sp>
        <p:sp>
          <p:nvSpPr>
            <p:cNvPr id="146481" name="Line 87"/>
            <p:cNvSpPr>
              <a:spLocks noChangeShapeType="1"/>
            </p:cNvSpPr>
            <p:nvPr/>
          </p:nvSpPr>
          <p:spPr bwMode="auto">
            <a:xfrm>
              <a:off x="3853" y="3591"/>
              <a:ext cx="0" cy="50"/>
            </a:xfrm>
            <a:prstGeom prst="line">
              <a:avLst/>
            </a:prstGeom>
            <a:noFill/>
            <a:ln w="12700">
              <a:solidFill>
                <a:schemeClr val="tx1"/>
              </a:solidFill>
              <a:round/>
            </a:ln>
          </p:spPr>
          <p:txBody>
            <a:bodyPr wrap="none" anchor="ctr"/>
            <a:lstStyle/>
            <a:p>
              <a:endParaRPr lang="en-US"/>
            </a:p>
          </p:txBody>
        </p:sp>
        <p:sp>
          <p:nvSpPr>
            <p:cNvPr id="146482" name="Rectangle 88"/>
            <p:cNvSpPr>
              <a:spLocks noChangeArrowheads="1"/>
            </p:cNvSpPr>
            <p:nvPr/>
          </p:nvSpPr>
          <p:spPr bwMode="auto">
            <a:xfrm>
              <a:off x="3540" y="3591"/>
              <a:ext cx="310" cy="49"/>
            </a:xfrm>
            <a:prstGeom prst="rect">
              <a:avLst/>
            </a:prstGeom>
            <a:solidFill>
              <a:schemeClr val="hlink"/>
            </a:solidFill>
            <a:ln>
              <a:noFill/>
            </a:ln>
          </p:spPr>
          <p:txBody>
            <a:bodyPr wrap="none" anchor="ctr"/>
            <a:lstStyle/>
            <a:p>
              <a:pPr algn="ctr"/>
              <a:endParaRPr lang="en-US" sz="2400"/>
            </a:p>
          </p:txBody>
        </p:sp>
        <p:sp>
          <p:nvSpPr>
            <p:cNvPr id="146483" name="Oval 89"/>
            <p:cNvSpPr>
              <a:spLocks noChangeArrowheads="1"/>
            </p:cNvSpPr>
            <p:nvPr/>
          </p:nvSpPr>
          <p:spPr bwMode="auto">
            <a:xfrm>
              <a:off x="3537" y="3532"/>
              <a:ext cx="313" cy="95"/>
            </a:xfrm>
            <a:prstGeom prst="ellipse">
              <a:avLst/>
            </a:prstGeom>
            <a:solidFill>
              <a:schemeClr val="hlink"/>
            </a:solidFill>
            <a:ln w="12700">
              <a:solidFill>
                <a:schemeClr val="tx1"/>
              </a:solidFill>
              <a:round/>
            </a:ln>
          </p:spPr>
          <p:txBody>
            <a:bodyPr wrap="none" anchor="ctr"/>
            <a:lstStyle/>
            <a:p>
              <a:endParaRPr lang="en-US"/>
            </a:p>
          </p:txBody>
        </p:sp>
        <p:sp>
          <p:nvSpPr>
            <p:cNvPr id="146484" name="Rectangle 90"/>
            <p:cNvSpPr>
              <a:spLocks noChangeArrowheads="1"/>
            </p:cNvSpPr>
            <p:nvPr/>
          </p:nvSpPr>
          <p:spPr bwMode="auto">
            <a:xfrm>
              <a:off x="3624" y="3545"/>
              <a:ext cx="141" cy="120"/>
            </a:xfrm>
            <a:prstGeom prst="rect">
              <a:avLst/>
            </a:prstGeom>
            <a:solidFill>
              <a:schemeClr val="hlink"/>
            </a:solidFill>
            <a:ln>
              <a:noFill/>
            </a:ln>
          </p:spPr>
          <p:txBody>
            <a:bodyPr wrap="none" anchor="ctr"/>
            <a:lstStyle/>
            <a:p>
              <a:endParaRPr lang="en-US"/>
            </a:p>
          </p:txBody>
        </p:sp>
        <p:sp>
          <p:nvSpPr>
            <p:cNvPr id="146485" name="Text Box 91"/>
            <p:cNvSpPr txBox="1">
              <a:spLocks noChangeArrowheads="1"/>
            </p:cNvSpPr>
            <p:nvPr/>
          </p:nvSpPr>
          <p:spPr bwMode="auto">
            <a:xfrm>
              <a:off x="3551" y="3473"/>
              <a:ext cx="294"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2a</a:t>
              </a:r>
              <a:endParaRPr lang="en-US"/>
            </a:p>
          </p:txBody>
        </p:sp>
      </p:grpSp>
      <p:sp>
        <p:nvSpPr>
          <p:cNvPr id="146452" name="Line 92"/>
          <p:cNvSpPr>
            <a:spLocks noChangeShapeType="1"/>
          </p:cNvSpPr>
          <p:nvPr/>
        </p:nvSpPr>
        <p:spPr bwMode="auto">
          <a:xfrm>
            <a:off x="6635750" y="5241925"/>
            <a:ext cx="857250" cy="0"/>
          </a:xfrm>
          <a:prstGeom prst="line">
            <a:avLst/>
          </a:prstGeom>
          <a:noFill/>
          <a:ln w="9525">
            <a:solidFill>
              <a:schemeClr val="tx1"/>
            </a:solidFill>
            <a:round/>
          </a:ln>
        </p:spPr>
        <p:txBody>
          <a:bodyPr wrap="none"/>
          <a:lstStyle/>
          <a:p>
            <a:endParaRPr lang="en-US"/>
          </a:p>
        </p:txBody>
      </p:sp>
      <p:sp>
        <p:nvSpPr>
          <p:cNvPr id="146453" name="Line 93"/>
          <p:cNvSpPr>
            <a:spLocks noChangeShapeType="1"/>
          </p:cNvSpPr>
          <p:nvPr/>
        </p:nvSpPr>
        <p:spPr bwMode="auto">
          <a:xfrm>
            <a:off x="6889750" y="5707063"/>
            <a:ext cx="735013" cy="0"/>
          </a:xfrm>
          <a:prstGeom prst="line">
            <a:avLst/>
          </a:prstGeom>
          <a:noFill/>
          <a:ln w="9525">
            <a:solidFill>
              <a:schemeClr val="tx1"/>
            </a:solidFill>
            <a:round/>
          </a:ln>
        </p:spPr>
        <p:txBody>
          <a:bodyPr wrap="none"/>
          <a:lstStyle/>
          <a:p>
            <a:endParaRPr lang="en-US"/>
          </a:p>
        </p:txBody>
      </p:sp>
      <p:sp>
        <p:nvSpPr>
          <p:cNvPr id="146454" name="Line 94"/>
          <p:cNvSpPr>
            <a:spLocks noChangeShapeType="1"/>
          </p:cNvSpPr>
          <p:nvPr/>
        </p:nvSpPr>
        <p:spPr bwMode="auto">
          <a:xfrm>
            <a:off x="5921375" y="5553075"/>
            <a:ext cx="488950" cy="152400"/>
          </a:xfrm>
          <a:prstGeom prst="line">
            <a:avLst/>
          </a:prstGeom>
          <a:noFill/>
          <a:ln w="12700">
            <a:solidFill>
              <a:schemeClr val="tx1"/>
            </a:solidFill>
            <a:round/>
          </a:ln>
        </p:spPr>
        <p:txBody>
          <a:bodyPr wrap="none" anchor="ctr"/>
          <a:lstStyle/>
          <a:p>
            <a:endParaRPr lang="en-US"/>
          </a:p>
        </p:txBody>
      </p:sp>
      <p:sp>
        <p:nvSpPr>
          <p:cNvPr id="146455" name="Line 95"/>
          <p:cNvSpPr>
            <a:spLocks noChangeShapeType="1"/>
          </p:cNvSpPr>
          <p:nvPr/>
        </p:nvSpPr>
        <p:spPr bwMode="auto">
          <a:xfrm>
            <a:off x="6530975" y="5351463"/>
            <a:ext cx="68263" cy="228600"/>
          </a:xfrm>
          <a:prstGeom prst="line">
            <a:avLst/>
          </a:prstGeom>
          <a:noFill/>
          <a:ln w="12700">
            <a:solidFill>
              <a:schemeClr val="tx1"/>
            </a:solidFill>
            <a:round/>
          </a:ln>
        </p:spPr>
        <p:txBody>
          <a:bodyPr/>
          <a:lstStyle/>
          <a:p>
            <a:endParaRPr lang="en-US"/>
          </a:p>
        </p:txBody>
      </p:sp>
      <p:grpSp>
        <p:nvGrpSpPr>
          <p:cNvPr id="146456" name="Group 96"/>
          <p:cNvGrpSpPr/>
          <p:nvPr/>
        </p:nvGrpSpPr>
        <p:grpSpPr bwMode="auto">
          <a:xfrm>
            <a:off x="6142038" y="5046663"/>
            <a:ext cx="501650" cy="396875"/>
            <a:chOff x="4320" y="1936"/>
            <a:chExt cx="316" cy="250"/>
          </a:xfrm>
        </p:grpSpPr>
        <p:sp>
          <p:nvSpPr>
            <p:cNvPr id="146472" name="Oval 97"/>
            <p:cNvSpPr>
              <a:spLocks noChangeArrowheads="1"/>
            </p:cNvSpPr>
            <p:nvPr/>
          </p:nvSpPr>
          <p:spPr bwMode="auto">
            <a:xfrm>
              <a:off x="4323" y="2054"/>
              <a:ext cx="313" cy="81"/>
            </a:xfrm>
            <a:prstGeom prst="ellipse">
              <a:avLst/>
            </a:prstGeom>
            <a:solidFill>
              <a:schemeClr val="hlink"/>
            </a:solidFill>
            <a:ln w="12700">
              <a:solidFill>
                <a:schemeClr val="tx1"/>
              </a:solidFill>
              <a:round/>
            </a:ln>
          </p:spPr>
          <p:txBody>
            <a:bodyPr wrap="none" anchor="ctr"/>
            <a:lstStyle/>
            <a:p>
              <a:endParaRPr lang="en-US"/>
            </a:p>
          </p:txBody>
        </p:sp>
        <p:sp>
          <p:nvSpPr>
            <p:cNvPr id="146473" name="Line 98"/>
            <p:cNvSpPr>
              <a:spLocks noChangeShapeType="1"/>
            </p:cNvSpPr>
            <p:nvPr/>
          </p:nvSpPr>
          <p:spPr bwMode="auto">
            <a:xfrm>
              <a:off x="4323" y="2047"/>
              <a:ext cx="0" cy="50"/>
            </a:xfrm>
            <a:prstGeom prst="line">
              <a:avLst/>
            </a:prstGeom>
            <a:noFill/>
            <a:ln w="12700">
              <a:solidFill>
                <a:schemeClr val="tx1"/>
              </a:solidFill>
              <a:round/>
            </a:ln>
          </p:spPr>
          <p:txBody>
            <a:bodyPr wrap="none" anchor="ctr"/>
            <a:lstStyle/>
            <a:p>
              <a:endParaRPr lang="en-US"/>
            </a:p>
          </p:txBody>
        </p:sp>
        <p:sp>
          <p:nvSpPr>
            <p:cNvPr id="146474" name="Line 99"/>
            <p:cNvSpPr>
              <a:spLocks noChangeShapeType="1"/>
            </p:cNvSpPr>
            <p:nvPr/>
          </p:nvSpPr>
          <p:spPr bwMode="auto">
            <a:xfrm>
              <a:off x="4636" y="2047"/>
              <a:ext cx="0" cy="50"/>
            </a:xfrm>
            <a:prstGeom prst="line">
              <a:avLst/>
            </a:prstGeom>
            <a:noFill/>
            <a:ln w="12700">
              <a:solidFill>
                <a:schemeClr val="tx1"/>
              </a:solidFill>
              <a:round/>
            </a:ln>
          </p:spPr>
          <p:txBody>
            <a:bodyPr wrap="none" anchor="ctr"/>
            <a:lstStyle/>
            <a:p>
              <a:endParaRPr lang="en-US"/>
            </a:p>
          </p:txBody>
        </p:sp>
        <p:sp>
          <p:nvSpPr>
            <p:cNvPr id="146475" name="Rectangle 100"/>
            <p:cNvSpPr>
              <a:spLocks noChangeArrowheads="1"/>
            </p:cNvSpPr>
            <p:nvPr/>
          </p:nvSpPr>
          <p:spPr bwMode="auto">
            <a:xfrm>
              <a:off x="4323" y="2047"/>
              <a:ext cx="310" cy="49"/>
            </a:xfrm>
            <a:prstGeom prst="rect">
              <a:avLst/>
            </a:prstGeom>
            <a:solidFill>
              <a:schemeClr val="hlink"/>
            </a:solidFill>
            <a:ln>
              <a:noFill/>
            </a:ln>
          </p:spPr>
          <p:txBody>
            <a:bodyPr wrap="none" anchor="ctr"/>
            <a:lstStyle/>
            <a:p>
              <a:pPr algn="ctr"/>
              <a:endParaRPr lang="en-US" sz="2400"/>
            </a:p>
          </p:txBody>
        </p:sp>
        <p:sp>
          <p:nvSpPr>
            <p:cNvPr id="146476" name="Oval 101"/>
            <p:cNvSpPr>
              <a:spLocks noChangeArrowheads="1"/>
            </p:cNvSpPr>
            <p:nvPr/>
          </p:nvSpPr>
          <p:spPr bwMode="auto">
            <a:xfrm>
              <a:off x="4320" y="1988"/>
              <a:ext cx="313" cy="95"/>
            </a:xfrm>
            <a:prstGeom prst="ellipse">
              <a:avLst/>
            </a:prstGeom>
            <a:solidFill>
              <a:schemeClr val="hlink"/>
            </a:solidFill>
            <a:ln w="12700">
              <a:solidFill>
                <a:schemeClr val="tx1"/>
              </a:solidFill>
              <a:round/>
            </a:ln>
          </p:spPr>
          <p:txBody>
            <a:bodyPr wrap="none" anchor="ctr"/>
            <a:lstStyle/>
            <a:p>
              <a:endParaRPr lang="en-US"/>
            </a:p>
          </p:txBody>
        </p:sp>
        <p:sp>
          <p:nvSpPr>
            <p:cNvPr id="146477" name="Rectangle 102"/>
            <p:cNvSpPr>
              <a:spLocks noChangeArrowheads="1"/>
            </p:cNvSpPr>
            <p:nvPr/>
          </p:nvSpPr>
          <p:spPr bwMode="auto">
            <a:xfrm>
              <a:off x="4407" y="2001"/>
              <a:ext cx="141" cy="118"/>
            </a:xfrm>
            <a:prstGeom prst="rect">
              <a:avLst/>
            </a:prstGeom>
            <a:solidFill>
              <a:schemeClr val="hlink"/>
            </a:solidFill>
            <a:ln>
              <a:noFill/>
            </a:ln>
          </p:spPr>
          <p:txBody>
            <a:bodyPr wrap="none" anchor="ctr"/>
            <a:lstStyle/>
            <a:p>
              <a:endParaRPr lang="en-US"/>
            </a:p>
          </p:txBody>
        </p:sp>
        <p:sp>
          <p:nvSpPr>
            <p:cNvPr id="146478" name="Text Box 103"/>
            <p:cNvSpPr txBox="1">
              <a:spLocks noChangeArrowheads="1"/>
            </p:cNvSpPr>
            <p:nvPr/>
          </p:nvSpPr>
          <p:spPr bwMode="auto">
            <a:xfrm>
              <a:off x="4338" y="1936"/>
              <a:ext cx="28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2c</a:t>
              </a:r>
              <a:endParaRPr lang="en-US"/>
            </a:p>
          </p:txBody>
        </p:sp>
      </p:grpSp>
      <p:grpSp>
        <p:nvGrpSpPr>
          <p:cNvPr id="146457" name="Group 104"/>
          <p:cNvGrpSpPr/>
          <p:nvPr/>
        </p:nvGrpSpPr>
        <p:grpSpPr bwMode="auto">
          <a:xfrm>
            <a:off x="6405563" y="5502275"/>
            <a:ext cx="501650" cy="396875"/>
            <a:chOff x="4596" y="2158"/>
            <a:chExt cx="316" cy="250"/>
          </a:xfrm>
        </p:grpSpPr>
        <p:sp>
          <p:nvSpPr>
            <p:cNvPr id="146465" name="Oval 105"/>
            <p:cNvSpPr>
              <a:spLocks noChangeArrowheads="1"/>
            </p:cNvSpPr>
            <p:nvPr/>
          </p:nvSpPr>
          <p:spPr bwMode="auto">
            <a:xfrm>
              <a:off x="4599" y="2276"/>
              <a:ext cx="313" cy="81"/>
            </a:xfrm>
            <a:prstGeom prst="ellipse">
              <a:avLst/>
            </a:prstGeom>
            <a:solidFill>
              <a:schemeClr val="hlink"/>
            </a:solidFill>
            <a:ln w="12700">
              <a:solidFill>
                <a:schemeClr val="tx1"/>
              </a:solidFill>
              <a:round/>
            </a:ln>
          </p:spPr>
          <p:txBody>
            <a:bodyPr wrap="none" anchor="ctr"/>
            <a:lstStyle/>
            <a:p>
              <a:endParaRPr lang="en-US"/>
            </a:p>
          </p:txBody>
        </p:sp>
        <p:sp>
          <p:nvSpPr>
            <p:cNvPr id="146466" name="Line 106"/>
            <p:cNvSpPr>
              <a:spLocks noChangeShapeType="1"/>
            </p:cNvSpPr>
            <p:nvPr/>
          </p:nvSpPr>
          <p:spPr bwMode="auto">
            <a:xfrm>
              <a:off x="4599" y="2269"/>
              <a:ext cx="0" cy="50"/>
            </a:xfrm>
            <a:prstGeom prst="line">
              <a:avLst/>
            </a:prstGeom>
            <a:noFill/>
            <a:ln w="12700">
              <a:solidFill>
                <a:schemeClr val="tx1"/>
              </a:solidFill>
              <a:round/>
            </a:ln>
          </p:spPr>
          <p:txBody>
            <a:bodyPr wrap="none" anchor="ctr"/>
            <a:lstStyle/>
            <a:p>
              <a:endParaRPr lang="en-US"/>
            </a:p>
          </p:txBody>
        </p:sp>
        <p:sp>
          <p:nvSpPr>
            <p:cNvPr id="146467" name="Line 107"/>
            <p:cNvSpPr>
              <a:spLocks noChangeShapeType="1"/>
            </p:cNvSpPr>
            <p:nvPr/>
          </p:nvSpPr>
          <p:spPr bwMode="auto">
            <a:xfrm>
              <a:off x="4912" y="2269"/>
              <a:ext cx="0" cy="50"/>
            </a:xfrm>
            <a:prstGeom prst="line">
              <a:avLst/>
            </a:prstGeom>
            <a:noFill/>
            <a:ln w="12700">
              <a:solidFill>
                <a:schemeClr val="tx1"/>
              </a:solidFill>
              <a:round/>
            </a:ln>
          </p:spPr>
          <p:txBody>
            <a:bodyPr wrap="none" anchor="ctr"/>
            <a:lstStyle/>
            <a:p>
              <a:endParaRPr lang="en-US"/>
            </a:p>
          </p:txBody>
        </p:sp>
        <p:sp>
          <p:nvSpPr>
            <p:cNvPr id="146468" name="Rectangle 108"/>
            <p:cNvSpPr>
              <a:spLocks noChangeArrowheads="1"/>
            </p:cNvSpPr>
            <p:nvPr/>
          </p:nvSpPr>
          <p:spPr bwMode="auto">
            <a:xfrm>
              <a:off x="4599" y="2269"/>
              <a:ext cx="310" cy="49"/>
            </a:xfrm>
            <a:prstGeom prst="rect">
              <a:avLst/>
            </a:prstGeom>
            <a:solidFill>
              <a:schemeClr val="hlink"/>
            </a:solidFill>
            <a:ln>
              <a:noFill/>
            </a:ln>
          </p:spPr>
          <p:txBody>
            <a:bodyPr wrap="none" anchor="ctr"/>
            <a:lstStyle/>
            <a:p>
              <a:pPr algn="ctr"/>
              <a:endParaRPr lang="en-US" sz="2400"/>
            </a:p>
          </p:txBody>
        </p:sp>
        <p:sp>
          <p:nvSpPr>
            <p:cNvPr id="146469" name="Oval 109"/>
            <p:cNvSpPr>
              <a:spLocks noChangeArrowheads="1"/>
            </p:cNvSpPr>
            <p:nvPr/>
          </p:nvSpPr>
          <p:spPr bwMode="auto">
            <a:xfrm>
              <a:off x="4596" y="2210"/>
              <a:ext cx="313" cy="95"/>
            </a:xfrm>
            <a:prstGeom prst="ellipse">
              <a:avLst/>
            </a:prstGeom>
            <a:solidFill>
              <a:schemeClr val="hlink"/>
            </a:solidFill>
            <a:ln w="12700">
              <a:solidFill>
                <a:schemeClr val="tx1"/>
              </a:solidFill>
              <a:round/>
            </a:ln>
          </p:spPr>
          <p:txBody>
            <a:bodyPr wrap="none" anchor="ctr"/>
            <a:lstStyle/>
            <a:p>
              <a:endParaRPr lang="en-US"/>
            </a:p>
          </p:txBody>
        </p:sp>
        <p:sp>
          <p:nvSpPr>
            <p:cNvPr id="146470" name="Rectangle 110"/>
            <p:cNvSpPr>
              <a:spLocks noChangeArrowheads="1"/>
            </p:cNvSpPr>
            <p:nvPr/>
          </p:nvSpPr>
          <p:spPr bwMode="auto">
            <a:xfrm>
              <a:off x="4683" y="2223"/>
              <a:ext cx="142" cy="110"/>
            </a:xfrm>
            <a:prstGeom prst="rect">
              <a:avLst/>
            </a:prstGeom>
            <a:solidFill>
              <a:schemeClr val="hlink"/>
            </a:solidFill>
            <a:ln>
              <a:noFill/>
            </a:ln>
          </p:spPr>
          <p:txBody>
            <a:bodyPr wrap="none" anchor="ctr"/>
            <a:lstStyle/>
            <a:p>
              <a:endParaRPr lang="en-US"/>
            </a:p>
          </p:txBody>
        </p:sp>
        <p:sp>
          <p:nvSpPr>
            <p:cNvPr id="146471" name="Text Box 111"/>
            <p:cNvSpPr txBox="1">
              <a:spLocks noChangeArrowheads="1"/>
            </p:cNvSpPr>
            <p:nvPr/>
          </p:nvSpPr>
          <p:spPr bwMode="auto">
            <a:xfrm>
              <a:off x="4610" y="2158"/>
              <a:ext cx="294"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2b</a:t>
              </a:r>
              <a:endParaRPr lang="en-US"/>
            </a:p>
          </p:txBody>
        </p:sp>
      </p:grpSp>
      <p:sp>
        <p:nvSpPr>
          <p:cNvPr id="146458" name="Text Box 112"/>
          <p:cNvSpPr txBox="1">
            <a:spLocks noChangeArrowheads="1"/>
          </p:cNvSpPr>
          <p:nvPr/>
        </p:nvSpPr>
        <p:spPr bwMode="auto">
          <a:xfrm>
            <a:off x="7656513" y="5159375"/>
            <a:ext cx="893762" cy="51752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a:t>other</a:t>
            </a:r>
          </a:p>
          <a:p>
            <a:r>
              <a:rPr lang="en-US" sz="1400"/>
              <a:t>networks</a:t>
            </a:r>
          </a:p>
        </p:txBody>
      </p:sp>
      <p:sp>
        <p:nvSpPr>
          <p:cNvPr id="146459" name="Freeform 113"/>
          <p:cNvSpPr/>
          <p:nvPr/>
        </p:nvSpPr>
        <p:spPr bwMode="auto">
          <a:xfrm flipH="1">
            <a:off x="292100" y="4772025"/>
            <a:ext cx="1171575" cy="1758950"/>
          </a:xfrm>
          <a:custGeom>
            <a:avLst/>
            <a:gdLst>
              <a:gd name="T0" fmla="*/ 2147483647 w 738"/>
              <a:gd name="T1" fmla="*/ 2147483647 h 1108"/>
              <a:gd name="T2" fmla="*/ 2147483647 w 738"/>
              <a:gd name="T3" fmla="*/ 2147483647 h 1108"/>
              <a:gd name="T4" fmla="*/ 2147483647 w 738"/>
              <a:gd name="T5" fmla="*/ 2147483647 h 1108"/>
              <a:gd name="T6" fmla="*/ 2147483647 w 738"/>
              <a:gd name="T7" fmla="*/ 2147483647 h 1108"/>
              <a:gd name="T8" fmla="*/ 2147483647 w 738"/>
              <a:gd name="T9" fmla="*/ 2147483647 h 1108"/>
              <a:gd name="T10" fmla="*/ 2147483647 w 738"/>
              <a:gd name="T11" fmla="*/ 2147483647 h 1108"/>
              <a:gd name="T12" fmla="*/ 2147483647 w 738"/>
              <a:gd name="T13" fmla="*/ 2147483647 h 1108"/>
              <a:gd name="T14" fmla="*/ 2147483647 w 738"/>
              <a:gd name="T15" fmla="*/ 2147483647 h 1108"/>
              <a:gd name="T16" fmla="*/ 0 60000 65536"/>
              <a:gd name="T17" fmla="*/ 0 60000 65536"/>
              <a:gd name="T18" fmla="*/ 0 60000 65536"/>
              <a:gd name="T19" fmla="*/ 0 60000 65536"/>
              <a:gd name="T20" fmla="*/ 0 60000 65536"/>
              <a:gd name="T21" fmla="*/ 0 60000 65536"/>
              <a:gd name="T22" fmla="*/ 0 60000 65536"/>
              <a:gd name="T23" fmla="*/ 0 60000 65536"/>
              <a:gd name="T24" fmla="*/ 0 w 738"/>
              <a:gd name="T25" fmla="*/ 0 h 1108"/>
              <a:gd name="T26" fmla="*/ 738 w 738"/>
              <a:gd name="T27" fmla="*/ 1108 h 1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38" h="1108">
                <a:moveTo>
                  <a:pt x="32" y="394"/>
                </a:moveTo>
                <a:cubicBezTo>
                  <a:pt x="66" y="301"/>
                  <a:pt x="108" y="228"/>
                  <a:pt x="213" y="172"/>
                </a:cubicBezTo>
                <a:cubicBezTo>
                  <a:pt x="318" y="116"/>
                  <a:pt x="588" y="0"/>
                  <a:pt x="663" y="56"/>
                </a:cubicBezTo>
                <a:cubicBezTo>
                  <a:pt x="738" y="112"/>
                  <a:pt x="659" y="346"/>
                  <a:pt x="661" y="509"/>
                </a:cubicBezTo>
                <a:cubicBezTo>
                  <a:pt x="663" y="672"/>
                  <a:pt x="731" y="956"/>
                  <a:pt x="677" y="1032"/>
                </a:cubicBezTo>
                <a:cubicBezTo>
                  <a:pt x="623" y="1108"/>
                  <a:pt x="442" y="999"/>
                  <a:pt x="338" y="962"/>
                </a:cubicBezTo>
                <a:cubicBezTo>
                  <a:pt x="234" y="925"/>
                  <a:pt x="102" y="904"/>
                  <a:pt x="51" y="809"/>
                </a:cubicBezTo>
                <a:cubicBezTo>
                  <a:pt x="0" y="715"/>
                  <a:pt x="36" y="481"/>
                  <a:pt x="32" y="394"/>
                </a:cubicBezTo>
                <a:close/>
              </a:path>
            </a:pathLst>
          </a:custGeom>
          <a:gradFill rotWithShape="1">
            <a:gsLst>
              <a:gs pos="0">
                <a:srgbClr val="66CCFF"/>
              </a:gs>
              <a:gs pos="100000">
                <a:srgbClr val="FFFFFF"/>
              </a:gs>
            </a:gsLst>
            <a:lin ang="0" scaled="1"/>
          </a:gradFill>
          <a:ln>
            <a:noFill/>
          </a:ln>
        </p:spPr>
        <p:txBody>
          <a:bodyPr wrap="none" anchor="ctr"/>
          <a:lstStyle/>
          <a:p>
            <a:endParaRPr lang="en-US"/>
          </a:p>
        </p:txBody>
      </p:sp>
      <p:sp>
        <p:nvSpPr>
          <p:cNvPr id="146460" name="Text Box 114"/>
          <p:cNvSpPr txBox="1">
            <a:spLocks noChangeArrowheads="1"/>
          </p:cNvSpPr>
          <p:nvPr/>
        </p:nvSpPr>
        <p:spPr bwMode="auto">
          <a:xfrm>
            <a:off x="349250" y="5556250"/>
            <a:ext cx="893763" cy="51752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400"/>
              <a:t>other</a:t>
            </a:r>
          </a:p>
          <a:p>
            <a:r>
              <a:rPr lang="en-US" sz="1400"/>
              <a:t>networks</a:t>
            </a:r>
          </a:p>
        </p:txBody>
      </p:sp>
      <p:sp>
        <p:nvSpPr>
          <p:cNvPr id="146461" name="Line 115"/>
          <p:cNvSpPr>
            <a:spLocks noChangeShapeType="1"/>
          </p:cNvSpPr>
          <p:nvPr/>
        </p:nvSpPr>
        <p:spPr bwMode="auto">
          <a:xfrm flipH="1">
            <a:off x="1149350" y="5118100"/>
            <a:ext cx="468313" cy="268288"/>
          </a:xfrm>
          <a:prstGeom prst="line">
            <a:avLst/>
          </a:prstGeom>
          <a:noFill/>
          <a:ln w="12700">
            <a:solidFill>
              <a:schemeClr val="tx1"/>
            </a:solidFill>
            <a:round/>
          </a:ln>
        </p:spPr>
        <p:txBody>
          <a:bodyPr wrap="none"/>
          <a:lstStyle/>
          <a:p>
            <a:endParaRPr lang="en-US"/>
          </a:p>
        </p:txBody>
      </p:sp>
      <p:sp>
        <p:nvSpPr>
          <p:cNvPr id="146462" name="Freeform 116"/>
          <p:cNvSpPr/>
          <p:nvPr/>
        </p:nvSpPr>
        <p:spPr bwMode="auto">
          <a:xfrm>
            <a:off x="4913313" y="5607050"/>
            <a:ext cx="523875" cy="261938"/>
          </a:xfrm>
          <a:custGeom>
            <a:avLst/>
            <a:gdLst>
              <a:gd name="T0" fmla="*/ 0 w 654"/>
              <a:gd name="T1" fmla="*/ 2147483647 h 420"/>
              <a:gd name="T2" fmla="*/ 2147483647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146463" name="Freeform 117"/>
          <p:cNvSpPr/>
          <p:nvPr/>
        </p:nvSpPr>
        <p:spPr bwMode="auto">
          <a:xfrm>
            <a:off x="2800350" y="5014913"/>
            <a:ext cx="704850" cy="409575"/>
          </a:xfrm>
          <a:custGeom>
            <a:avLst/>
            <a:gdLst>
              <a:gd name="T0" fmla="*/ 0 w 444"/>
              <a:gd name="T1" fmla="*/ 0 h 258"/>
              <a:gd name="T2" fmla="*/ 2147483647 w 444"/>
              <a:gd name="T3" fmla="*/ 2147483647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pic>
        <p:nvPicPr>
          <p:cNvPr id="146464" name="Picture 118"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5625" y="800100"/>
            <a:ext cx="3656013" cy="173038"/>
          </a:xfrm>
          <a:prstGeom prst="rect">
            <a:avLst/>
          </a:prstGeom>
          <a:noFill/>
          <a:ln>
            <a:noFill/>
          </a:ln>
        </p:spPr>
      </p:pic>
      <p:sp>
        <p:nvSpPr>
          <p:cNvPr id="121"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65</a:t>
            </a:fld>
            <a:endParaRPr lang="en-US" sz="1200" dirty="0">
              <a:latin typeface="Tahoma" panose="020B0604030504040204" charset="0"/>
            </a:endParaRPr>
          </a:p>
        </p:txBody>
      </p:sp>
      <p:sp>
        <p:nvSpPr>
          <p:cNvPr id="122"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500" name="Rectangle 2"/>
          <p:cNvSpPr>
            <a:spLocks noGrp="1" noChangeArrowheads="1"/>
          </p:cNvSpPr>
          <p:nvPr>
            <p:ph type="title"/>
          </p:nvPr>
        </p:nvSpPr>
        <p:spPr/>
        <p:txBody>
          <a:bodyPr/>
          <a:lstStyle/>
          <a:p>
            <a:pPr>
              <a:defRPr/>
            </a:pPr>
            <a:r>
              <a:rPr lang="en-US" sz="4000" dirty="0">
                <a:cs typeface="+mj-cs"/>
              </a:rPr>
              <a:t>Intra-AS Routing</a:t>
            </a:r>
          </a:p>
        </p:txBody>
      </p:sp>
      <p:sp>
        <p:nvSpPr>
          <p:cNvPr id="106501" name="Rectangle 3"/>
          <p:cNvSpPr>
            <a:spLocks noGrp="1" noChangeArrowheads="1"/>
          </p:cNvSpPr>
          <p:nvPr>
            <p:ph type="body" idx="1"/>
          </p:nvPr>
        </p:nvSpPr>
        <p:spPr/>
        <p:txBody>
          <a:bodyPr/>
          <a:lstStyle/>
          <a:p>
            <a:pPr>
              <a:defRPr/>
            </a:pPr>
            <a:r>
              <a:rPr lang="en-US" dirty="0">
                <a:cs typeface="+mn-cs"/>
              </a:rPr>
              <a:t>also known as </a:t>
            </a:r>
            <a:r>
              <a:rPr lang="en-US" i="1" dirty="0">
                <a:solidFill>
                  <a:srgbClr val="CC0000"/>
                </a:solidFill>
                <a:cs typeface="+mn-cs"/>
              </a:rPr>
              <a:t>interior gateway protocols (IGP)</a:t>
            </a:r>
          </a:p>
          <a:p>
            <a:pPr>
              <a:defRPr/>
            </a:pPr>
            <a:r>
              <a:rPr lang="en-US" dirty="0">
                <a:cs typeface="+mn-cs"/>
              </a:rPr>
              <a:t>most common intra-AS routing protocols:</a:t>
            </a:r>
          </a:p>
          <a:p>
            <a:pPr lvl="1">
              <a:defRPr/>
            </a:pPr>
            <a:r>
              <a:rPr lang="en-US" sz="2800" dirty="0"/>
              <a:t>RIP: Routing Information Protocol</a:t>
            </a:r>
          </a:p>
          <a:p>
            <a:pPr lvl="1">
              <a:defRPr/>
            </a:pPr>
            <a:r>
              <a:rPr lang="en-US" sz="2800" dirty="0"/>
              <a:t>OSPF: Open Shortest Path First (IS-IS protocol essentially same as OSPF)</a:t>
            </a:r>
          </a:p>
          <a:p>
            <a:pPr lvl="1">
              <a:defRPr/>
            </a:pPr>
            <a:r>
              <a:rPr lang="en-US" sz="2800" dirty="0"/>
              <a:t>IGRP: Interior Gateway Routing Protocol (Cisco proprietary </a:t>
            </a:r>
            <a:r>
              <a:rPr lang="en-US" sz="2000" dirty="0"/>
              <a:t>for decades, until 2016</a:t>
            </a:r>
            <a:r>
              <a:rPr lang="en-US" sz="2800" dirty="0"/>
              <a:t>)</a:t>
            </a:r>
          </a:p>
        </p:txBody>
      </p:sp>
      <p:pic>
        <p:nvPicPr>
          <p:cNvPr id="151557" name="Picture 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1175" y="1031875"/>
            <a:ext cx="4113213" cy="173038"/>
          </a:xfrm>
          <a:prstGeom prst="rect">
            <a:avLst/>
          </a:prstGeom>
          <a:noFill/>
          <a:ln>
            <a:noFill/>
          </a:ln>
        </p:spPr>
      </p:pic>
      <p:sp>
        <p:nvSpPr>
          <p:cNvPr id="7"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66</a:t>
            </a:fld>
            <a:endParaRPr lang="en-US" sz="1200" dirty="0">
              <a:latin typeface="Tahoma" panose="020B0604030504040204" charset="0"/>
            </a:endParaRPr>
          </a:p>
        </p:txBody>
      </p:sp>
      <p:sp>
        <p:nvSpPr>
          <p:cNvPr id="8"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
        <p:nvSpPr>
          <p:cNvPr id="3" name="文本框 2"/>
          <p:cNvSpPr txBox="1"/>
          <p:nvPr/>
        </p:nvSpPr>
        <p:spPr>
          <a:xfrm>
            <a:off x="3884154" y="1300275"/>
            <a:ext cx="1693686" cy="369332"/>
          </a:xfrm>
          <a:prstGeom prst="rect">
            <a:avLst/>
          </a:prstGeom>
          <a:noFill/>
        </p:spPr>
        <p:txBody>
          <a:bodyPr wrap="square">
            <a:spAutoFit/>
          </a:bodyPr>
          <a:lstStyle/>
          <a:p>
            <a:pPr algn="ctr"/>
            <a:r>
              <a:rPr lang="zh-CN" altLang="en-US" dirty="0">
                <a:solidFill>
                  <a:schemeClr val="accent2"/>
                </a:solidFill>
                <a:latin typeface="FZKai-Z03" panose="03000509000000000000" pitchFamily="66" charset="-122"/>
                <a:ea typeface="FZKai-Z03" panose="03000509000000000000" pitchFamily="66" charset="-122"/>
              </a:rPr>
              <a:t>内部网关协议</a:t>
            </a:r>
          </a:p>
        </p:txBody>
      </p:sp>
    </p:spTree>
  </p:cSld>
  <p:clrMapOvr>
    <a:masterClrMapping/>
  </p:clrMapOvr>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9"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9600" y="1004888"/>
            <a:ext cx="7313613" cy="173037"/>
          </a:xfrm>
          <a:prstGeom prst="rect">
            <a:avLst/>
          </a:prstGeom>
          <a:noFill/>
          <a:ln>
            <a:noFill/>
          </a:ln>
        </p:spPr>
      </p:pic>
      <p:sp>
        <p:nvSpPr>
          <p:cNvPr id="112645" name="Rectangle 2"/>
          <p:cNvSpPr>
            <a:spLocks noGrp="1" noChangeArrowheads="1"/>
          </p:cNvSpPr>
          <p:nvPr>
            <p:ph type="title"/>
          </p:nvPr>
        </p:nvSpPr>
        <p:spPr/>
        <p:txBody>
          <a:bodyPr/>
          <a:lstStyle/>
          <a:p>
            <a:pPr>
              <a:defRPr/>
            </a:pPr>
            <a:r>
              <a:rPr lang="en-US" sz="3600">
                <a:cs typeface="+mj-cs"/>
              </a:rPr>
              <a:t>OSPF (Open Shortest Path First)</a:t>
            </a:r>
          </a:p>
        </p:txBody>
      </p:sp>
      <p:sp>
        <p:nvSpPr>
          <p:cNvPr id="157701" name="Rectangle 3"/>
          <p:cNvSpPr>
            <a:spLocks noGrp="1" noChangeArrowheads="1"/>
          </p:cNvSpPr>
          <p:nvPr>
            <p:ph type="body" idx="1"/>
          </p:nvPr>
        </p:nvSpPr>
        <p:spPr>
          <a:xfrm>
            <a:off x="533400" y="1447800"/>
            <a:ext cx="8229600" cy="5105400"/>
          </a:xfrm>
        </p:spPr>
        <p:txBody>
          <a:bodyPr/>
          <a:lstStyle/>
          <a:p>
            <a:r>
              <a:rPr lang="ja-JP" altLang="en-US" dirty="0">
                <a:latin typeface="Gill Sans MT" pitchFamily="34" charset="0"/>
              </a:rPr>
              <a:t>“</a:t>
            </a:r>
            <a:r>
              <a:rPr lang="en-US" altLang="ja-JP" dirty="0">
                <a:latin typeface="Gill Sans MT" pitchFamily="34" charset="0"/>
              </a:rPr>
              <a:t>open</a:t>
            </a:r>
            <a:r>
              <a:rPr lang="ja-JP" altLang="en-US" dirty="0">
                <a:latin typeface="Gill Sans MT" pitchFamily="34" charset="0"/>
              </a:rPr>
              <a:t>”</a:t>
            </a:r>
            <a:r>
              <a:rPr lang="en-US" altLang="ja-JP" dirty="0">
                <a:latin typeface="Gill Sans MT" pitchFamily="34" charset="0"/>
              </a:rPr>
              <a:t>: publicly available</a:t>
            </a:r>
          </a:p>
          <a:p>
            <a:r>
              <a:rPr lang="en-US" dirty="0">
                <a:latin typeface="Gill Sans MT" pitchFamily="34" charset="0"/>
              </a:rPr>
              <a:t>uses link-state algorithm </a:t>
            </a:r>
          </a:p>
          <a:p>
            <a:pPr lvl="1"/>
            <a:r>
              <a:rPr lang="en-US" dirty="0">
                <a:latin typeface="Gill Sans MT" pitchFamily="34" charset="0"/>
              </a:rPr>
              <a:t>link state packet dissemination</a:t>
            </a:r>
          </a:p>
          <a:p>
            <a:pPr lvl="1"/>
            <a:r>
              <a:rPr lang="en-US" dirty="0">
                <a:latin typeface="Gill Sans MT" pitchFamily="34" charset="0"/>
              </a:rPr>
              <a:t>topology map at each node</a:t>
            </a:r>
          </a:p>
          <a:p>
            <a:pPr lvl="1"/>
            <a:r>
              <a:rPr lang="en-US" dirty="0">
                <a:latin typeface="Gill Sans MT" pitchFamily="34" charset="0"/>
              </a:rPr>
              <a:t>route computation using Dijkstra</a:t>
            </a:r>
            <a:r>
              <a:rPr lang="ja-JP" altLang="en-US" dirty="0">
                <a:latin typeface="Gill Sans MT" pitchFamily="34" charset="0"/>
              </a:rPr>
              <a:t>’</a:t>
            </a:r>
            <a:r>
              <a:rPr lang="en-US" altLang="ja-JP" dirty="0">
                <a:latin typeface="Gill Sans MT" pitchFamily="34" charset="0"/>
              </a:rPr>
              <a:t>s algorithm</a:t>
            </a:r>
          </a:p>
          <a:p>
            <a:r>
              <a:rPr lang="en-US" dirty="0">
                <a:latin typeface="Gill Sans MT" pitchFamily="34" charset="0"/>
              </a:rPr>
              <a:t>router floods OSPF link-state advertisements to all other routers in </a:t>
            </a:r>
            <a:r>
              <a:rPr lang="en-US" i="1" dirty="0">
                <a:solidFill>
                  <a:srgbClr val="CC0000"/>
                </a:solidFill>
                <a:latin typeface="Gill Sans MT" pitchFamily="34" charset="0"/>
              </a:rPr>
              <a:t>entire</a:t>
            </a:r>
            <a:r>
              <a:rPr lang="en-US" dirty="0">
                <a:latin typeface="Gill Sans MT" pitchFamily="34" charset="0"/>
              </a:rPr>
              <a:t> AS</a:t>
            </a:r>
          </a:p>
          <a:p>
            <a:pPr lvl="1"/>
            <a:r>
              <a:rPr lang="en-US" dirty="0">
                <a:latin typeface="Gill Sans MT" pitchFamily="34" charset="0"/>
              </a:rPr>
              <a:t>carried in OSPF messages directly over IP (rather than TCP or UDP</a:t>
            </a:r>
          </a:p>
          <a:p>
            <a:pPr lvl="1"/>
            <a:r>
              <a:rPr lang="en-US" dirty="0">
                <a:latin typeface="Gill Sans MT" pitchFamily="34" charset="0"/>
              </a:rPr>
              <a:t>link state: for each attached link</a:t>
            </a:r>
          </a:p>
          <a:p>
            <a:r>
              <a:rPr lang="en-US" i="1" dirty="0">
                <a:solidFill>
                  <a:srgbClr val="CC0000"/>
                </a:solidFill>
                <a:latin typeface="Gill Sans MT" pitchFamily="34" charset="0"/>
              </a:rPr>
              <a:t>IS-IS routing</a:t>
            </a:r>
            <a:r>
              <a:rPr lang="en-US" dirty="0">
                <a:latin typeface="Gill Sans MT" pitchFamily="34" charset="0"/>
              </a:rPr>
              <a:t> protocol: nearly identical to OSPF</a:t>
            </a:r>
          </a:p>
        </p:txBody>
      </p:sp>
      <p:sp>
        <p:nvSpPr>
          <p:cNvPr id="7"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67</a:t>
            </a:fld>
            <a:endParaRPr lang="en-US" sz="1200" dirty="0">
              <a:latin typeface="Tahoma" panose="020B0604030504040204" charset="0"/>
            </a:endParaRPr>
          </a:p>
        </p:txBody>
      </p:sp>
      <p:sp>
        <p:nvSpPr>
          <p:cNvPr id="8"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8723"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9600" y="1005343"/>
            <a:ext cx="5308773" cy="219401"/>
          </a:xfrm>
          <a:prstGeom prst="rect">
            <a:avLst/>
          </a:prstGeom>
          <a:noFill/>
          <a:ln>
            <a:noFill/>
          </a:ln>
        </p:spPr>
      </p:pic>
      <p:sp>
        <p:nvSpPr>
          <p:cNvPr id="158724" name="Rectangle 2"/>
          <p:cNvSpPr>
            <a:spLocks noGrp="1" noChangeArrowheads="1"/>
          </p:cNvSpPr>
          <p:nvPr>
            <p:ph type="title"/>
          </p:nvPr>
        </p:nvSpPr>
        <p:spPr/>
        <p:txBody>
          <a:bodyPr/>
          <a:lstStyle/>
          <a:p>
            <a:r>
              <a:rPr lang="en-US" sz="3600" dirty="0">
                <a:latin typeface="Gill Sans MT" pitchFamily="34" charset="0"/>
              </a:rPr>
              <a:t>OSPF </a:t>
            </a:r>
            <a:r>
              <a:rPr lang="ja-JP" altLang="en-US" sz="3600" dirty="0">
                <a:latin typeface="Gill Sans MT" pitchFamily="34" charset="0"/>
              </a:rPr>
              <a:t>“</a:t>
            </a:r>
            <a:r>
              <a:rPr lang="en-US" altLang="ja-JP" sz="3600" dirty="0">
                <a:latin typeface="Gill Sans MT" pitchFamily="34" charset="0"/>
              </a:rPr>
              <a:t>advanced</a:t>
            </a:r>
            <a:r>
              <a:rPr lang="ja-JP" altLang="en-US" sz="3600" dirty="0">
                <a:latin typeface="Gill Sans MT" pitchFamily="34" charset="0"/>
              </a:rPr>
              <a:t>”</a:t>
            </a:r>
            <a:r>
              <a:rPr lang="en-US" altLang="ja-JP" sz="3600" dirty="0">
                <a:latin typeface="Gill Sans MT" pitchFamily="34" charset="0"/>
              </a:rPr>
              <a:t> features</a:t>
            </a:r>
            <a:endParaRPr lang="en-US" dirty="0">
              <a:latin typeface="Gill Sans MT" pitchFamily="34" charset="0"/>
            </a:endParaRPr>
          </a:p>
        </p:txBody>
      </p:sp>
      <p:sp>
        <p:nvSpPr>
          <p:cNvPr id="158725" name="Rectangle 3"/>
          <p:cNvSpPr>
            <a:spLocks noGrp="1" noChangeArrowheads="1"/>
          </p:cNvSpPr>
          <p:nvPr>
            <p:ph type="body" idx="1"/>
          </p:nvPr>
        </p:nvSpPr>
        <p:spPr>
          <a:xfrm>
            <a:off x="500063" y="1385888"/>
            <a:ext cx="8229600" cy="4876800"/>
          </a:xfrm>
        </p:spPr>
        <p:txBody>
          <a:bodyPr/>
          <a:lstStyle/>
          <a:p>
            <a:r>
              <a:rPr lang="en-US" i="1" dirty="0">
                <a:solidFill>
                  <a:srgbClr val="CC0000"/>
                </a:solidFill>
                <a:latin typeface="Gill Sans MT" pitchFamily="34" charset="0"/>
              </a:rPr>
              <a:t>security:</a:t>
            </a:r>
            <a:r>
              <a:rPr lang="en-US" dirty="0">
                <a:latin typeface="Gill Sans MT" pitchFamily="34" charset="0"/>
              </a:rPr>
              <a:t> all OSPF messages authenticated (to prevent malicious intrusion) </a:t>
            </a:r>
          </a:p>
          <a:p>
            <a:r>
              <a:rPr lang="en-US" dirty="0">
                <a:solidFill>
                  <a:srgbClr val="CC0000"/>
                </a:solidFill>
                <a:latin typeface="Gill Sans MT" pitchFamily="34" charset="0"/>
              </a:rPr>
              <a:t>multiple </a:t>
            </a:r>
            <a:r>
              <a:rPr lang="en-US" dirty="0">
                <a:latin typeface="Gill Sans MT" pitchFamily="34" charset="0"/>
              </a:rPr>
              <a:t>same-cost </a:t>
            </a:r>
            <a:r>
              <a:rPr lang="en-US" dirty="0">
                <a:solidFill>
                  <a:srgbClr val="CC0000"/>
                </a:solidFill>
                <a:latin typeface="Gill Sans MT" pitchFamily="34" charset="0"/>
              </a:rPr>
              <a:t>paths</a:t>
            </a:r>
            <a:r>
              <a:rPr lang="en-US" dirty="0">
                <a:latin typeface="Gill Sans MT" pitchFamily="34" charset="0"/>
              </a:rPr>
              <a:t> allowed (only one path in RIP)</a:t>
            </a:r>
          </a:p>
          <a:p>
            <a:r>
              <a:rPr lang="en-US" dirty="0">
                <a:latin typeface="Gill Sans MT" pitchFamily="34" charset="0"/>
              </a:rPr>
              <a:t>for each link, multiple cost metrics for different </a:t>
            </a:r>
            <a:r>
              <a:rPr lang="en-US" dirty="0">
                <a:solidFill>
                  <a:srgbClr val="CC0000"/>
                </a:solidFill>
                <a:latin typeface="Gill Sans MT" pitchFamily="34" charset="0"/>
              </a:rPr>
              <a:t>TOS</a:t>
            </a:r>
            <a:r>
              <a:rPr lang="en-US" dirty="0">
                <a:solidFill>
                  <a:srgbClr val="FF0000"/>
                </a:solidFill>
                <a:latin typeface="Gill Sans MT" pitchFamily="34" charset="0"/>
              </a:rPr>
              <a:t> </a:t>
            </a:r>
            <a:r>
              <a:rPr lang="en-US" dirty="0">
                <a:latin typeface="Gill Sans MT" pitchFamily="34" charset="0"/>
              </a:rPr>
              <a:t>(e.g., satellite link cost set </a:t>
            </a:r>
            <a:r>
              <a:rPr lang="en-US" altLang="ja-JP" dirty="0">
                <a:latin typeface="Gill Sans MT" pitchFamily="34" charset="0"/>
              </a:rPr>
              <a:t>low for best effort </a:t>
            </a:r>
            <a:r>
              <a:rPr lang="en-US" altLang="ja-JP" dirty="0" err="1">
                <a:latin typeface="Gill Sans MT" pitchFamily="34" charset="0"/>
              </a:rPr>
              <a:t>ToS</a:t>
            </a:r>
            <a:r>
              <a:rPr lang="en-US" altLang="ja-JP" dirty="0">
                <a:latin typeface="Gill Sans MT" pitchFamily="34" charset="0"/>
              </a:rPr>
              <a:t>; high for real-time </a:t>
            </a:r>
            <a:r>
              <a:rPr lang="en-US" altLang="ja-JP" dirty="0" err="1">
                <a:latin typeface="Gill Sans MT" pitchFamily="34" charset="0"/>
              </a:rPr>
              <a:t>ToS</a:t>
            </a:r>
            <a:r>
              <a:rPr lang="en-US" altLang="ja-JP" dirty="0">
                <a:latin typeface="Gill Sans MT" pitchFamily="34" charset="0"/>
              </a:rPr>
              <a:t>)</a:t>
            </a:r>
          </a:p>
          <a:p>
            <a:r>
              <a:rPr lang="en-US" dirty="0">
                <a:latin typeface="Gill Sans MT" pitchFamily="34" charset="0"/>
              </a:rPr>
              <a:t>integrated </a:t>
            </a:r>
            <a:r>
              <a:rPr lang="en-US" dirty="0" err="1">
                <a:latin typeface="Gill Sans MT" pitchFamily="34" charset="0"/>
              </a:rPr>
              <a:t>uni</a:t>
            </a:r>
            <a:r>
              <a:rPr lang="en-US" dirty="0">
                <a:latin typeface="Gill Sans MT" pitchFamily="34" charset="0"/>
              </a:rPr>
              <a:t>- and </a:t>
            </a:r>
            <a:r>
              <a:rPr lang="en-US" dirty="0">
                <a:solidFill>
                  <a:srgbClr val="CC0000"/>
                </a:solidFill>
                <a:latin typeface="Gill Sans MT" pitchFamily="34" charset="0"/>
              </a:rPr>
              <a:t>multi-cast</a:t>
            </a:r>
            <a:r>
              <a:rPr lang="en-US" dirty="0">
                <a:latin typeface="Gill Sans MT" pitchFamily="34" charset="0"/>
              </a:rPr>
              <a:t> support: </a:t>
            </a:r>
          </a:p>
          <a:p>
            <a:pPr lvl="1"/>
            <a:r>
              <a:rPr lang="en-US" sz="2800" dirty="0">
                <a:latin typeface="Gill Sans MT" pitchFamily="34" charset="0"/>
              </a:rPr>
              <a:t>Multicast OSPF (MOSPF) uses same topology data base as OSPF</a:t>
            </a:r>
          </a:p>
          <a:p>
            <a:r>
              <a:rPr lang="en-US" dirty="0">
                <a:solidFill>
                  <a:srgbClr val="CC0000"/>
                </a:solidFill>
                <a:latin typeface="Gill Sans MT" pitchFamily="34" charset="0"/>
              </a:rPr>
              <a:t>hierarchical</a:t>
            </a:r>
            <a:r>
              <a:rPr lang="en-US" dirty="0">
                <a:latin typeface="Gill Sans MT" pitchFamily="34" charset="0"/>
              </a:rPr>
              <a:t> OSPF in large domains.</a:t>
            </a:r>
          </a:p>
          <a:p>
            <a:endParaRPr lang="en-US" dirty="0">
              <a:latin typeface="Gill Sans MT" pitchFamily="34" charset="0"/>
            </a:endParaRPr>
          </a:p>
        </p:txBody>
      </p:sp>
      <p:sp>
        <p:nvSpPr>
          <p:cNvPr id="7"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68</a:t>
            </a:fld>
            <a:endParaRPr lang="en-US" sz="1200" dirty="0">
              <a:latin typeface="Tahoma" panose="020B0604030504040204" charset="0"/>
            </a:endParaRPr>
          </a:p>
        </p:txBody>
      </p:sp>
      <p:sp>
        <p:nvSpPr>
          <p:cNvPr id="8"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7" name="Freeform 2"/>
          <p:cNvSpPr/>
          <p:nvPr/>
        </p:nvSpPr>
        <p:spPr bwMode="auto">
          <a:xfrm>
            <a:off x="2027238" y="1652588"/>
            <a:ext cx="6010275" cy="2206625"/>
          </a:xfrm>
          <a:custGeom>
            <a:avLst/>
            <a:gdLst>
              <a:gd name="T0" fmla="*/ 2147483647 w 3786"/>
              <a:gd name="T1" fmla="*/ 2147483647 h 1390"/>
              <a:gd name="T2" fmla="*/ 2147483647 w 3786"/>
              <a:gd name="T3" fmla="*/ 2147483647 h 1390"/>
              <a:gd name="T4" fmla="*/ 2147483647 w 3786"/>
              <a:gd name="T5" fmla="*/ 2147483647 h 1390"/>
              <a:gd name="T6" fmla="*/ 2147483647 w 3786"/>
              <a:gd name="T7" fmla="*/ 2147483647 h 1390"/>
              <a:gd name="T8" fmla="*/ 2147483647 w 3786"/>
              <a:gd name="T9" fmla="*/ 2147483647 h 1390"/>
              <a:gd name="T10" fmla="*/ 2147483647 w 3786"/>
              <a:gd name="T11" fmla="*/ 2147483647 h 1390"/>
              <a:gd name="T12" fmla="*/ 2147483647 w 3786"/>
              <a:gd name="T13" fmla="*/ 2147483647 h 1390"/>
              <a:gd name="T14" fmla="*/ 2147483647 w 3786"/>
              <a:gd name="T15" fmla="*/ 2147483647 h 1390"/>
              <a:gd name="T16" fmla="*/ 2147483647 w 3786"/>
              <a:gd name="T17" fmla="*/ 2147483647 h 1390"/>
              <a:gd name="T18" fmla="*/ 2147483647 w 3786"/>
              <a:gd name="T19" fmla="*/ 2147483647 h 1390"/>
              <a:gd name="T20" fmla="*/ 2147483647 w 3786"/>
              <a:gd name="T21" fmla="*/ 2147483647 h 1390"/>
              <a:gd name="T22" fmla="*/ 2147483647 w 3786"/>
              <a:gd name="T23" fmla="*/ 2147483647 h 1390"/>
              <a:gd name="T24" fmla="*/ 2147483647 w 3786"/>
              <a:gd name="T25" fmla="*/ 2147483647 h 1390"/>
              <a:gd name="T26" fmla="*/ 2147483647 w 3786"/>
              <a:gd name="T27" fmla="*/ 2147483647 h 13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786"/>
              <a:gd name="T43" fmla="*/ 0 h 1390"/>
              <a:gd name="T44" fmla="*/ 3786 w 3786"/>
              <a:gd name="T45" fmla="*/ 1390 h 13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786" h="1390">
                <a:moveTo>
                  <a:pt x="408" y="575"/>
                </a:moveTo>
                <a:cubicBezTo>
                  <a:pt x="689" y="273"/>
                  <a:pt x="1286" y="110"/>
                  <a:pt x="1693" y="55"/>
                </a:cubicBezTo>
                <a:cubicBezTo>
                  <a:pt x="2100" y="0"/>
                  <a:pt x="2585" y="164"/>
                  <a:pt x="2852" y="245"/>
                </a:cubicBezTo>
                <a:cubicBezTo>
                  <a:pt x="3119" y="326"/>
                  <a:pt x="3163" y="420"/>
                  <a:pt x="3295" y="540"/>
                </a:cubicBezTo>
                <a:cubicBezTo>
                  <a:pt x="3427" y="660"/>
                  <a:pt x="3786" y="870"/>
                  <a:pt x="3702" y="1130"/>
                </a:cubicBezTo>
                <a:cubicBezTo>
                  <a:pt x="3618" y="1390"/>
                  <a:pt x="3209" y="1190"/>
                  <a:pt x="3035" y="1214"/>
                </a:cubicBezTo>
                <a:cubicBezTo>
                  <a:pt x="2870" y="1266"/>
                  <a:pt x="2655" y="1277"/>
                  <a:pt x="2655" y="1277"/>
                </a:cubicBezTo>
                <a:cubicBezTo>
                  <a:pt x="2655" y="1277"/>
                  <a:pt x="2160" y="1316"/>
                  <a:pt x="1918" y="1326"/>
                </a:cubicBezTo>
                <a:cubicBezTo>
                  <a:pt x="1676" y="1336"/>
                  <a:pt x="1387" y="1353"/>
                  <a:pt x="1201" y="1340"/>
                </a:cubicBezTo>
                <a:cubicBezTo>
                  <a:pt x="1015" y="1327"/>
                  <a:pt x="913" y="1278"/>
                  <a:pt x="801" y="1249"/>
                </a:cubicBezTo>
                <a:lnTo>
                  <a:pt x="527" y="1165"/>
                </a:lnTo>
                <a:cubicBezTo>
                  <a:pt x="404" y="1140"/>
                  <a:pt x="126" y="1159"/>
                  <a:pt x="63" y="1102"/>
                </a:cubicBezTo>
                <a:cubicBezTo>
                  <a:pt x="0" y="1045"/>
                  <a:pt x="85" y="919"/>
                  <a:pt x="148" y="821"/>
                </a:cubicBezTo>
                <a:cubicBezTo>
                  <a:pt x="205" y="733"/>
                  <a:pt x="127" y="877"/>
                  <a:pt x="408" y="575"/>
                </a:cubicBezTo>
                <a:close/>
              </a:path>
            </a:pathLst>
          </a:custGeom>
          <a:solidFill>
            <a:srgbClr val="3399FF"/>
          </a:solidFill>
          <a:ln>
            <a:noFill/>
          </a:ln>
        </p:spPr>
        <p:txBody>
          <a:bodyPr wrap="none"/>
          <a:lstStyle/>
          <a:p>
            <a:endParaRPr lang="en-US"/>
          </a:p>
        </p:txBody>
      </p:sp>
      <p:sp>
        <p:nvSpPr>
          <p:cNvPr id="159748" name="Rectangle 3"/>
          <p:cNvSpPr>
            <a:spLocks noGrp="1" noChangeArrowheads="1"/>
          </p:cNvSpPr>
          <p:nvPr>
            <p:ph type="title"/>
          </p:nvPr>
        </p:nvSpPr>
        <p:spPr>
          <a:xfrm>
            <a:off x="427038" y="169863"/>
            <a:ext cx="4438650" cy="1143000"/>
          </a:xfrm>
        </p:spPr>
        <p:txBody>
          <a:bodyPr/>
          <a:lstStyle/>
          <a:p>
            <a:r>
              <a:rPr lang="en-US" sz="3600">
                <a:latin typeface="Gill Sans MT" pitchFamily="34" charset="0"/>
              </a:rPr>
              <a:t>Hierarchical OSPF</a:t>
            </a:r>
          </a:p>
        </p:txBody>
      </p:sp>
      <p:sp>
        <p:nvSpPr>
          <p:cNvPr id="159749" name="Line 4"/>
          <p:cNvSpPr>
            <a:spLocks noChangeShapeType="1"/>
          </p:cNvSpPr>
          <p:nvPr/>
        </p:nvSpPr>
        <p:spPr bwMode="auto">
          <a:xfrm flipV="1">
            <a:off x="3679825" y="2039938"/>
            <a:ext cx="1058863" cy="346075"/>
          </a:xfrm>
          <a:prstGeom prst="line">
            <a:avLst/>
          </a:prstGeom>
          <a:noFill/>
          <a:ln w="19050">
            <a:solidFill>
              <a:schemeClr val="tx1"/>
            </a:solidFill>
            <a:round/>
          </a:ln>
        </p:spPr>
        <p:txBody>
          <a:bodyPr wrap="none"/>
          <a:lstStyle/>
          <a:p>
            <a:endParaRPr lang="en-US"/>
          </a:p>
        </p:txBody>
      </p:sp>
      <p:sp>
        <p:nvSpPr>
          <p:cNvPr id="159750" name="Line 5"/>
          <p:cNvSpPr>
            <a:spLocks noChangeShapeType="1"/>
          </p:cNvSpPr>
          <p:nvPr/>
        </p:nvSpPr>
        <p:spPr bwMode="auto">
          <a:xfrm>
            <a:off x="4957763" y="2036763"/>
            <a:ext cx="1169987" cy="344487"/>
          </a:xfrm>
          <a:prstGeom prst="line">
            <a:avLst/>
          </a:prstGeom>
          <a:noFill/>
          <a:ln w="19050">
            <a:solidFill>
              <a:schemeClr val="tx1"/>
            </a:solidFill>
            <a:round/>
          </a:ln>
        </p:spPr>
        <p:txBody>
          <a:bodyPr wrap="none"/>
          <a:lstStyle/>
          <a:p>
            <a:endParaRPr lang="en-US"/>
          </a:p>
        </p:txBody>
      </p:sp>
      <p:sp>
        <p:nvSpPr>
          <p:cNvPr id="159751" name="Line 6"/>
          <p:cNvSpPr>
            <a:spLocks noChangeShapeType="1"/>
          </p:cNvSpPr>
          <p:nvPr/>
        </p:nvSpPr>
        <p:spPr bwMode="auto">
          <a:xfrm>
            <a:off x="6369050" y="2435225"/>
            <a:ext cx="803275" cy="801688"/>
          </a:xfrm>
          <a:prstGeom prst="line">
            <a:avLst/>
          </a:prstGeom>
          <a:noFill/>
          <a:ln w="19050">
            <a:solidFill>
              <a:schemeClr val="tx1"/>
            </a:solidFill>
            <a:round/>
          </a:ln>
        </p:spPr>
        <p:txBody>
          <a:bodyPr wrap="none"/>
          <a:lstStyle/>
          <a:p>
            <a:endParaRPr lang="en-US"/>
          </a:p>
        </p:txBody>
      </p:sp>
      <p:sp>
        <p:nvSpPr>
          <p:cNvPr id="159752" name="Line 7"/>
          <p:cNvSpPr>
            <a:spLocks noChangeShapeType="1"/>
          </p:cNvSpPr>
          <p:nvPr/>
        </p:nvSpPr>
        <p:spPr bwMode="auto">
          <a:xfrm flipV="1">
            <a:off x="4948238" y="2330450"/>
            <a:ext cx="1271587" cy="1182688"/>
          </a:xfrm>
          <a:prstGeom prst="line">
            <a:avLst/>
          </a:prstGeom>
          <a:noFill/>
          <a:ln w="19050">
            <a:solidFill>
              <a:schemeClr val="tx1"/>
            </a:solidFill>
            <a:round/>
          </a:ln>
        </p:spPr>
        <p:txBody>
          <a:bodyPr wrap="none"/>
          <a:lstStyle/>
          <a:p>
            <a:endParaRPr lang="en-US"/>
          </a:p>
        </p:txBody>
      </p:sp>
      <p:sp>
        <p:nvSpPr>
          <p:cNvPr id="159753" name="Line 8"/>
          <p:cNvSpPr>
            <a:spLocks noChangeShapeType="1"/>
          </p:cNvSpPr>
          <p:nvPr/>
        </p:nvSpPr>
        <p:spPr bwMode="auto">
          <a:xfrm>
            <a:off x="3683000" y="2471738"/>
            <a:ext cx="1138238" cy="992187"/>
          </a:xfrm>
          <a:prstGeom prst="line">
            <a:avLst/>
          </a:prstGeom>
          <a:noFill/>
          <a:ln w="19050">
            <a:solidFill>
              <a:schemeClr val="tx1"/>
            </a:solidFill>
            <a:round/>
          </a:ln>
        </p:spPr>
        <p:txBody>
          <a:bodyPr wrap="none"/>
          <a:lstStyle/>
          <a:p>
            <a:endParaRPr lang="en-US"/>
          </a:p>
        </p:txBody>
      </p:sp>
      <p:sp>
        <p:nvSpPr>
          <p:cNvPr id="159754" name="Line 9"/>
          <p:cNvSpPr>
            <a:spLocks noChangeShapeType="1"/>
          </p:cNvSpPr>
          <p:nvPr/>
        </p:nvSpPr>
        <p:spPr bwMode="auto">
          <a:xfrm flipH="1">
            <a:off x="6780213" y="3236913"/>
            <a:ext cx="400050" cy="881062"/>
          </a:xfrm>
          <a:prstGeom prst="line">
            <a:avLst/>
          </a:prstGeom>
          <a:noFill/>
          <a:ln w="19050">
            <a:solidFill>
              <a:schemeClr val="tx1"/>
            </a:solidFill>
            <a:round/>
          </a:ln>
        </p:spPr>
        <p:txBody>
          <a:bodyPr wrap="none"/>
          <a:lstStyle/>
          <a:p>
            <a:endParaRPr lang="en-US"/>
          </a:p>
        </p:txBody>
      </p:sp>
      <p:sp>
        <p:nvSpPr>
          <p:cNvPr id="159755" name="Line 10"/>
          <p:cNvSpPr>
            <a:spLocks noChangeShapeType="1"/>
          </p:cNvSpPr>
          <p:nvPr/>
        </p:nvSpPr>
        <p:spPr bwMode="auto">
          <a:xfrm>
            <a:off x="6808788" y="4090988"/>
            <a:ext cx="893762" cy="836612"/>
          </a:xfrm>
          <a:prstGeom prst="line">
            <a:avLst/>
          </a:prstGeom>
          <a:noFill/>
          <a:ln w="19050">
            <a:solidFill>
              <a:schemeClr val="tx1"/>
            </a:solidFill>
            <a:round/>
          </a:ln>
        </p:spPr>
        <p:txBody>
          <a:bodyPr wrap="none"/>
          <a:lstStyle/>
          <a:p>
            <a:endParaRPr lang="en-US"/>
          </a:p>
        </p:txBody>
      </p:sp>
      <p:sp>
        <p:nvSpPr>
          <p:cNvPr id="159756" name="Line 11"/>
          <p:cNvSpPr>
            <a:spLocks noChangeShapeType="1"/>
          </p:cNvSpPr>
          <p:nvPr/>
        </p:nvSpPr>
        <p:spPr bwMode="auto">
          <a:xfrm>
            <a:off x="4841875" y="3405188"/>
            <a:ext cx="547688" cy="1338262"/>
          </a:xfrm>
          <a:prstGeom prst="line">
            <a:avLst/>
          </a:prstGeom>
          <a:noFill/>
          <a:ln w="19050">
            <a:solidFill>
              <a:schemeClr val="tx1"/>
            </a:solidFill>
            <a:round/>
          </a:ln>
        </p:spPr>
        <p:txBody>
          <a:bodyPr wrap="none"/>
          <a:lstStyle/>
          <a:p>
            <a:endParaRPr lang="en-US"/>
          </a:p>
        </p:txBody>
      </p:sp>
      <p:sp>
        <p:nvSpPr>
          <p:cNvPr id="159757" name="Line 12"/>
          <p:cNvSpPr>
            <a:spLocks noChangeShapeType="1"/>
          </p:cNvSpPr>
          <p:nvPr/>
        </p:nvSpPr>
        <p:spPr bwMode="auto">
          <a:xfrm>
            <a:off x="4403725" y="4268788"/>
            <a:ext cx="246063" cy="971550"/>
          </a:xfrm>
          <a:prstGeom prst="line">
            <a:avLst/>
          </a:prstGeom>
          <a:noFill/>
          <a:ln w="19050">
            <a:solidFill>
              <a:schemeClr val="tx1"/>
            </a:solidFill>
            <a:round/>
          </a:ln>
        </p:spPr>
        <p:txBody>
          <a:bodyPr wrap="none"/>
          <a:lstStyle/>
          <a:p>
            <a:endParaRPr lang="en-US"/>
          </a:p>
        </p:txBody>
      </p:sp>
      <p:sp>
        <p:nvSpPr>
          <p:cNvPr id="159758" name="Line 13"/>
          <p:cNvSpPr>
            <a:spLocks noChangeShapeType="1"/>
          </p:cNvSpPr>
          <p:nvPr/>
        </p:nvSpPr>
        <p:spPr bwMode="auto">
          <a:xfrm flipH="1">
            <a:off x="4646613" y="4775200"/>
            <a:ext cx="723900" cy="457200"/>
          </a:xfrm>
          <a:prstGeom prst="line">
            <a:avLst/>
          </a:prstGeom>
          <a:noFill/>
          <a:ln w="19050">
            <a:solidFill>
              <a:schemeClr val="tx1"/>
            </a:solidFill>
            <a:round/>
          </a:ln>
        </p:spPr>
        <p:txBody>
          <a:bodyPr wrap="none"/>
          <a:lstStyle/>
          <a:p>
            <a:endParaRPr lang="en-US"/>
          </a:p>
        </p:txBody>
      </p:sp>
      <p:sp>
        <p:nvSpPr>
          <p:cNvPr id="159759" name="Line 14"/>
          <p:cNvSpPr>
            <a:spLocks noChangeShapeType="1"/>
          </p:cNvSpPr>
          <p:nvPr/>
        </p:nvSpPr>
        <p:spPr bwMode="auto">
          <a:xfrm flipH="1">
            <a:off x="4454525" y="3519488"/>
            <a:ext cx="388938" cy="779462"/>
          </a:xfrm>
          <a:prstGeom prst="line">
            <a:avLst/>
          </a:prstGeom>
          <a:noFill/>
          <a:ln w="19050">
            <a:solidFill>
              <a:schemeClr val="tx1"/>
            </a:solidFill>
            <a:round/>
          </a:ln>
        </p:spPr>
        <p:txBody>
          <a:bodyPr wrap="none"/>
          <a:lstStyle/>
          <a:p>
            <a:endParaRPr lang="en-US"/>
          </a:p>
        </p:txBody>
      </p:sp>
      <p:sp>
        <p:nvSpPr>
          <p:cNvPr id="159760" name="Line 15"/>
          <p:cNvSpPr>
            <a:spLocks noChangeShapeType="1"/>
          </p:cNvSpPr>
          <p:nvPr/>
        </p:nvSpPr>
        <p:spPr bwMode="auto">
          <a:xfrm flipH="1">
            <a:off x="2689225" y="2319338"/>
            <a:ext cx="857250" cy="846137"/>
          </a:xfrm>
          <a:prstGeom prst="line">
            <a:avLst/>
          </a:prstGeom>
          <a:noFill/>
          <a:ln w="19050">
            <a:solidFill>
              <a:schemeClr val="tx1"/>
            </a:solidFill>
            <a:round/>
          </a:ln>
        </p:spPr>
        <p:txBody>
          <a:bodyPr wrap="none"/>
          <a:lstStyle/>
          <a:p>
            <a:endParaRPr lang="en-US"/>
          </a:p>
        </p:txBody>
      </p:sp>
      <p:sp>
        <p:nvSpPr>
          <p:cNvPr id="159761" name="Line 16"/>
          <p:cNvSpPr>
            <a:spLocks noChangeShapeType="1"/>
          </p:cNvSpPr>
          <p:nvPr/>
        </p:nvSpPr>
        <p:spPr bwMode="auto">
          <a:xfrm flipH="1">
            <a:off x="2084388" y="3171825"/>
            <a:ext cx="577850" cy="790575"/>
          </a:xfrm>
          <a:prstGeom prst="line">
            <a:avLst/>
          </a:prstGeom>
          <a:noFill/>
          <a:ln w="19050">
            <a:solidFill>
              <a:schemeClr val="tx1"/>
            </a:solidFill>
            <a:round/>
          </a:ln>
        </p:spPr>
        <p:txBody>
          <a:bodyPr wrap="none"/>
          <a:lstStyle/>
          <a:p>
            <a:endParaRPr lang="en-US"/>
          </a:p>
        </p:txBody>
      </p:sp>
      <p:sp>
        <p:nvSpPr>
          <p:cNvPr id="159762" name="Line 17"/>
          <p:cNvSpPr>
            <a:spLocks noChangeShapeType="1"/>
          </p:cNvSpPr>
          <p:nvPr/>
        </p:nvSpPr>
        <p:spPr bwMode="auto">
          <a:xfrm flipH="1">
            <a:off x="1435100" y="4024313"/>
            <a:ext cx="622300" cy="600075"/>
          </a:xfrm>
          <a:prstGeom prst="line">
            <a:avLst/>
          </a:prstGeom>
          <a:noFill/>
          <a:ln w="19050">
            <a:solidFill>
              <a:schemeClr val="tx1"/>
            </a:solidFill>
            <a:round/>
          </a:ln>
        </p:spPr>
        <p:txBody>
          <a:bodyPr wrap="none"/>
          <a:lstStyle/>
          <a:p>
            <a:endParaRPr lang="en-US"/>
          </a:p>
        </p:txBody>
      </p:sp>
      <p:sp>
        <p:nvSpPr>
          <p:cNvPr id="159763" name="Line 18"/>
          <p:cNvSpPr>
            <a:spLocks noChangeShapeType="1"/>
          </p:cNvSpPr>
          <p:nvPr/>
        </p:nvSpPr>
        <p:spPr bwMode="auto">
          <a:xfrm flipH="1">
            <a:off x="2290763" y="4552950"/>
            <a:ext cx="433387" cy="677863"/>
          </a:xfrm>
          <a:prstGeom prst="line">
            <a:avLst/>
          </a:prstGeom>
          <a:noFill/>
          <a:ln w="19050">
            <a:solidFill>
              <a:schemeClr val="tx1"/>
            </a:solidFill>
            <a:round/>
          </a:ln>
        </p:spPr>
        <p:txBody>
          <a:bodyPr wrap="none"/>
          <a:lstStyle/>
          <a:p>
            <a:endParaRPr lang="en-US"/>
          </a:p>
        </p:txBody>
      </p:sp>
      <p:sp>
        <p:nvSpPr>
          <p:cNvPr id="159764" name="Line 19"/>
          <p:cNvSpPr>
            <a:spLocks noChangeShapeType="1"/>
          </p:cNvSpPr>
          <p:nvPr/>
        </p:nvSpPr>
        <p:spPr bwMode="auto">
          <a:xfrm>
            <a:off x="2163763" y="3981450"/>
            <a:ext cx="636587" cy="520700"/>
          </a:xfrm>
          <a:prstGeom prst="line">
            <a:avLst/>
          </a:prstGeom>
          <a:noFill/>
          <a:ln w="19050">
            <a:solidFill>
              <a:schemeClr val="tx1"/>
            </a:solidFill>
            <a:round/>
          </a:ln>
        </p:spPr>
        <p:txBody>
          <a:bodyPr wrap="none"/>
          <a:lstStyle/>
          <a:p>
            <a:endParaRPr lang="en-US"/>
          </a:p>
        </p:txBody>
      </p:sp>
      <p:sp>
        <p:nvSpPr>
          <p:cNvPr id="159765" name="Freeform 20"/>
          <p:cNvSpPr/>
          <p:nvPr/>
        </p:nvSpPr>
        <p:spPr bwMode="auto">
          <a:xfrm>
            <a:off x="1087438" y="2833688"/>
            <a:ext cx="2185987" cy="2820987"/>
          </a:xfrm>
          <a:custGeom>
            <a:avLst/>
            <a:gdLst>
              <a:gd name="T0" fmla="*/ 2147483647 w 1377"/>
              <a:gd name="T1" fmla="*/ 2147483647 h 1777"/>
              <a:gd name="T2" fmla="*/ 2147483647 w 1377"/>
              <a:gd name="T3" fmla="*/ 2147483647 h 1777"/>
              <a:gd name="T4" fmla="*/ 2147483647 w 1377"/>
              <a:gd name="T5" fmla="*/ 2147483647 h 1777"/>
              <a:gd name="T6" fmla="*/ 2147483647 w 1377"/>
              <a:gd name="T7" fmla="*/ 2147483647 h 1777"/>
              <a:gd name="T8" fmla="*/ 2147483647 w 1377"/>
              <a:gd name="T9" fmla="*/ 2147483647 h 1777"/>
              <a:gd name="T10" fmla="*/ 2147483647 w 1377"/>
              <a:gd name="T11" fmla="*/ 2147483647 h 1777"/>
              <a:gd name="T12" fmla="*/ 2147483647 w 1377"/>
              <a:gd name="T13" fmla="*/ 2147483647 h 1777"/>
              <a:gd name="T14" fmla="*/ 2147483647 w 1377"/>
              <a:gd name="T15" fmla="*/ 2147483647 h 1777"/>
              <a:gd name="T16" fmla="*/ 2147483647 w 1377"/>
              <a:gd name="T17" fmla="*/ 2147483647 h 1777"/>
              <a:gd name="T18" fmla="*/ 2147483647 w 1377"/>
              <a:gd name="T19" fmla="*/ 2147483647 h 1777"/>
              <a:gd name="T20" fmla="*/ 2147483647 w 1377"/>
              <a:gd name="T21" fmla="*/ 2147483647 h 1777"/>
              <a:gd name="T22" fmla="*/ 2147483647 w 1377"/>
              <a:gd name="T23" fmla="*/ 2147483647 h 1777"/>
              <a:gd name="T24" fmla="*/ 2147483647 w 1377"/>
              <a:gd name="T25" fmla="*/ 2147483647 h 1777"/>
              <a:gd name="T26" fmla="*/ 2147483647 w 1377"/>
              <a:gd name="T27" fmla="*/ 2147483647 h 1777"/>
              <a:gd name="T28" fmla="*/ 2147483647 w 1377"/>
              <a:gd name="T29" fmla="*/ 2147483647 h 1777"/>
              <a:gd name="T30" fmla="*/ 2147483647 w 1377"/>
              <a:gd name="T31" fmla="*/ 2147483647 h 1777"/>
              <a:gd name="T32" fmla="*/ 2147483647 w 1377"/>
              <a:gd name="T33" fmla="*/ 2147483647 h 17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77"/>
              <a:gd name="T52" fmla="*/ 0 h 1777"/>
              <a:gd name="T53" fmla="*/ 1377 w 1377"/>
              <a:gd name="T54" fmla="*/ 1777 h 17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77" h="1777">
                <a:moveTo>
                  <a:pt x="671" y="245"/>
                </a:moveTo>
                <a:cubicBezTo>
                  <a:pt x="604" y="317"/>
                  <a:pt x="533" y="382"/>
                  <a:pt x="474" y="463"/>
                </a:cubicBezTo>
                <a:cubicBezTo>
                  <a:pt x="415" y="544"/>
                  <a:pt x="366" y="663"/>
                  <a:pt x="319" y="730"/>
                </a:cubicBezTo>
                <a:cubicBezTo>
                  <a:pt x="272" y="797"/>
                  <a:pt x="242" y="800"/>
                  <a:pt x="193" y="863"/>
                </a:cubicBezTo>
                <a:cubicBezTo>
                  <a:pt x="144" y="926"/>
                  <a:pt x="48" y="1027"/>
                  <a:pt x="24" y="1109"/>
                </a:cubicBezTo>
                <a:cubicBezTo>
                  <a:pt x="0" y="1191"/>
                  <a:pt x="10" y="1295"/>
                  <a:pt x="46" y="1355"/>
                </a:cubicBezTo>
                <a:cubicBezTo>
                  <a:pt x="82" y="1415"/>
                  <a:pt x="172" y="1437"/>
                  <a:pt x="242" y="1467"/>
                </a:cubicBezTo>
                <a:cubicBezTo>
                  <a:pt x="312" y="1497"/>
                  <a:pt x="404" y="1499"/>
                  <a:pt x="467" y="1538"/>
                </a:cubicBezTo>
                <a:cubicBezTo>
                  <a:pt x="530" y="1577"/>
                  <a:pt x="518" y="1669"/>
                  <a:pt x="622" y="1699"/>
                </a:cubicBezTo>
                <a:cubicBezTo>
                  <a:pt x="726" y="1729"/>
                  <a:pt x="986" y="1777"/>
                  <a:pt x="1092" y="1720"/>
                </a:cubicBezTo>
                <a:cubicBezTo>
                  <a:pt x="1198" y="1663"/>
                  <a:pt x="1219" y="1471"/>
                  <a:pt x="1261" y="1355"/>
                </a:cubicBezTo>
                <a:cubicBezTo>
                  <a:pt x="1303" y="1239"/>
                  <a:pt x="1377" y="1150"/>
                  <a:pt x="1345" y="1025"/>
                </a:cubicBezTo>
                <a:cubicBezTo>
                  <a:pt x="1313" y="900"/>
                  <a:pt x="1084" y="727"/>
                  <a:pt x="1071" y="603"/>
                </a:cubicBezTo>
                <a:cubicBezTo>
                  <a:pt x="1058" y="479"/>
                  <a:pt x="1237" y="374"/>
                  <a:pt x="1268" y="280"/>
                </a:cubicBezTo>
                <a:cubicBezTo>
                  <a:pt x="1299" y="186"/>
                  <a:pt x="1320" y="82"/>
                  <a:pt x="1254" y="41"/>
                </a:cubicBezTo>
                <a:cubicBezTo>
                  <a:pt x="1188" y="0"/>
                  <a:pt x="970" y="2"/>
                  <a:pt x="874" y="34"/>
                </a:cubicBezTo>
                <a:cubicBezTo>
                  <a:pt x="778" y="66"/>
                  <a:pt x="738" y="173"/>
                  <a:pt x="671" y="245"/>
                </a:cubicBezTo>
                <a:close/>
              </a:path>
            </a:pathLst>
          </a:custGeom>
          <a:noFill/>
          <a:ln w="19050" cap="flat" cmpd="sng">
            <a:solidFill>
              <a:schemeClr val="tx1"/>
            </a:solidFill>
            <a:prstDash val="dash"/>
            <a:round/>
          </a:ln>
        </p:spPr>
        <p:txBody>
          <a:bodyPr wrap="none"/>
          <a:lstStyle/>
          <a:p>
            <a:endParaRPr lang="en-US"/>
          </a:p>
        </p:txBody>
      </p:sp>
      <p:sp>
        <p:nvSpPr>
          <p:cNvPr id="159766" name="Freeform 21"/>
          <p:cNvSpPr/>
          <p:nvPr/>
        </p:nvSpPr>
        <p:spPr bwMode="auto">
          <a:xfrm>
            <a:off x="3951288" y="3068638"/>
            <a:ext cx="1903412" cy="2730500"/>
          </a:xfrm>
          <a:custGeom>
            <a:avLst/>
            <a:gdLst>
              <a:gd name="T0" fmla="*/ 2147483647 w 1199"/>
              <a:gd name="T1" fmla="*/ 2147483647 h 1720"/>
              <a:gd name="T2" fmla="*/ 2147483647 w 1199"/>
              <a:gd name="T3" fmla="*/ 2147483647 h 1720"/>
              <a:gd name="T4" fmla="*/ 2147483647 w 1199"/>
              <a:gd name="T5" fmla="*/ 2147483647 h 1720"/>
              <a:gd name="T6" fmla="*/ 2147483647 w 1199"/>
              <a:gd name="T7" fmla="*/ 2147483647 h 1720"/>
              <a:gd name="T8" fmla="*/ 2147483647 w 1199"/>
              <a:gd name="T9" fmla="*/ 2147483647 h 1720"/>
              <a:gd name="T10" fmla="*/ 2147483647 w 1199"/>
              <a:gd name="T11" fmla="*/ 2147483647 h 1720"/>
              <a:gd name="T12" fmla="*/ 2147483647 w 1199"/>
              <a:gd name="T13" fmla="*/ 2147483647 h 1720"/>
              <a:gd name="T14" fmla="*/ 2147483647 w 1199"/>
              <a:gd name="T15" fmla="*/ 2147483647 h 1720"/>
              <a:gd name="T16" fmla="*/ 2147483647 w 1199"/>
              <a:gd name="T17" fmla="*/ 2147483647 h 1720"/>
              <a:gd name="T18" fmla="*/ 2147483647 w 1199"/>
              <a:gd name="T19" fmla="*/ 2147483647 h 1720"/>
              <a:gd name="T20" fmla="*/ 2147483647 w 1199"/>
              <a:gd name="T21" fmla="*/ 2147483647 h 1720"/>
              <a:gd name="T22" fmla="*/ 2147483647 w 1199"/>
              <a:gd name="T23" fmla="*/ 2147483647 h 1720"/>
              <a:gd name="T24" fmla="*/ 2147483647 w 1199"/>
              <a:gd name="T25" fmla="*/ 2147483647 h 1720"/>
              <a:gd name="T26" fmla="*/ 2147483647 w 1199"/>
              <a:gd name="T27" fmla="*/ 2147483647 h 1720"/>
              <a:gd name="T28" fmla="*/ 2147483647 w 1199"/>
              <a:gd name="T29" fmla="*/ 2147483647 h 17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99"/>
              <a:gd name="T46" fmla="*/ 0 h 1720"/>
              <a:gd name="T47" fmla="*/ 1199 w 1199"/>
              <a:gd name="T48" fmla="*/ 1720 h 17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99" h="1720">
                <a:moveTo>
                  <a:pt x="651" y="20"/>
                </a:moveTo>
                <a:cubicBezTo>
                  <a:pt x="595" y="0"/>
                  <a:pt x="643" y="10"/>
                  <a:pt x="609" y="20"/>
                </a:cubicBezTo>
                <a:cubicBezTo>
                  <a:pt x="575" y="30"/>
                  <a:pt x="499" y="45"/>
                  <a:pt x="447" y="83"/>
                </a:cubicBezTo>
                <a:cubicBezTo>
                  <a:pt x="395" y="121"/>
                  <a:pt x="354" y="178"/>
                  <a:pt x="300" y="245"/>
                </a:cubicBezTo>
                <a:cubicBezTo>
                  <a:pt x="246" y="312"/>
                  <a:pt x="173" y="379"/>
                  <a:pt x="124" y="483"/>
                </a:cubicBezTo>
                <a:cubicBezTo>
                  <a:pt x="75" y="587"/>
                  <a:pt x="10" y="742"/>
                  <a:pt x="5" y="870"/>
                </a:cubicBezTo>
                <a:cubicBezTo>
                  <a:pt x="0" y="998"/>
                  <a:pt x="50" y="1122"/>
                  <a:pt x="96" y="1249"/>
                </a:cubicBezTo>
                <a:cubicBezTo>
                  <a:pt x="142" y="1376"/>
                  <a:pt x="153" y="1564"/>
                  <a:pt x="279" y="1635"/>
                </a:cubicBezTo>
                <a:cubicBezTo>
                  <a:pt x="405" y="1706"/>
                  <a:pt x="711" y="1720"/>
                  <a:pt x="855" y="1678"/>
                </a:cubicBezTo>
                <a:cubicBezTo>
                  <a:pt x="999" y="1636"/>
                  <a:pt x="1089" y="1492"/>
                  <a:pt x="1143" y="1383"/>
                </a:cubicBezTo>
                <a:cubicBezTo>
                  <a:pt x="1197" y="1274"/>
                  <a:pt x="1199" y="1129"/>
                  <a:pt x="1178" y="1024"/>
                </a:cubicBezTo>
                <a:cubicBezTo>
                  <a:pt x="1157" y="919"/>
                  <a:pt x="1057" y="854"/>
                  <a:pt x="1016" y="750"/>
                </a:cubicBezTo>
                <a:cubicBezTo>
                  <a:pt x="975" y="646"/>
                  <a:pt x="944" y="501"/>
                  <a:pt x="932" y="399"/>
                </a:cubicBezTo>
                <a:cubicBezTo>
                  <a:pt x="920" y="297"/>
                  <a:pt x="994" y="203"/>
                  <a:pt x="946" y="139"/>
                </a:cubicBezTo>
                <a:cubicBezTo>
                  <a:pt x="898" y="75"/>
                  <a:pt x="707" y="40"/>
                  <a:pt x="651" y="20"/>
                </a:cubicBezTo>
                <a:close/>
              </a:path>
            </a:pathLst>
          </a:custGeom>
          <a:noFill/>
          <a:ln w="19050" cap="flat" cmpd="sng">
            <a:solidFill>
              <a:schemeClr val="tx1"/>
            </a:solidFill>
            <a:prstDash val="dash"/>
            <a:round/>
          </a:ln>
        </p:spPr>
        <p:txBody>
          <a:bodyPr wrap="none"/>
          <a:lstStyle/>
          <a:p>
            <a:endParaRPr lang="en-US"/>
          </a:p>
        </p:txBody>
      </p:sp>
      <p:sp>
        <p:nvSpPr>
          <p:cNvPr id="159767" name="Freeform 22"/>
          <p:cNvSpPr/>
          <p:nvPr/>
        </p:nvSpPr>
        <p:spPr bwMode="auto">
          <a:xfrm>
            <a:off x="6380163" y="2774950"/>
            <a:ext cx="2079625" cy="2720975"/>
          </a:xfrm>
          <a:custGeom>
            <a:avLst/>
            <a:gdLst>
              <a:gd name="T0" fmla="*/ 2147483647 w 1310"/>
              <a:gd name="T1" fmla="*/ 2147483647 h 1714"/>
              <a:gd name="T2" fmla="*/ 2147483647 w 1310"/>
              <a:gd name="T3" fmla="*/ 2147483647 h 1714"/>
              <a:gd name="T4" fmla="*/ 2147483647 w 1310"/>
              <a:gd name="T5" fmla="*/ 2147483647 h 1714"/>
              <a:gd name="T6" fmla="*/ 2147483647 w 1310"/>
              <a:gd name="T7" fmla="*/ 2147483647 h 1714"/>
              <a:gd name="T8" fmla="*/ 2147483647 w 1310"/>
              <a:gd name="T9" fmla="*/ 2147483647 h 1714"/>
              <a:gd name="T10" fmla="*/ 2147483647 w 1310"/>
              <a:gd name="T11" fmla="*/ 2147483647 h 1714"/>
              <a:gd name="T12" fmla="*/ 2147483647 w 1310"/>
              <a:gd name="T13" fmla="*/ 2147483647 h 1714"/>
              <a:gd name="T14" fmla="*/ 2147483647 w 1310"/>
              <a:gd name="T15" fmla="*/ 2147483647 h 1714"/>
              <a:gd name="T16" fmla="*/ 2147483647 w 1310"/>
              <a:gd name="T17" fmla="*/ 2147483647 h 1714"/>
              <a:gd name="T18" fmla="*/ 2147483647 w 1310"/>
              <a:gd name="T19" fmla="*/ 2147483647 h 1714"/>
              <a:gd name="T20" fmla="*/ 2147483647 w 1310"/>
              <a:gd name="T21" fmla="*/ 2147483647 h 1714"/>
              <a:gd name="T22" fmla="*/ 2147483647 w 1310"/>
              <a:gd name="T23" fmla="*/ 2147483647 h 1714"/>
              <a:gd name="T24" fmla="*/ 2147483647 w 1310"/>
              <a:gd name="T25" fmla="*/ 2147483647 h 17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10"/>
              <a:gd name="T40" fmla="*/ 0 h 1714"/>
              <a:gd name="T41" fmla="*/ 1310 w 1310"/>
              <a:gd name="T42" fmla="*/ 1714 h 17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10" h="1714">
                <a:moveTo>
                  <a:pt x="470" y="29"/>
                </a:moveTo>
                <a:cubicBezTo>
                  <a:pt x="373" y="0"/>
                  <a:pt x="308" y="123"/>
                  <a:pt x="245" y="198"/>
                </a:cubicBezTo>
                <a:cubicBezTo>
                  <a:pt x="182" y="273"/>
                  <a:pt x="130" y="385"/>
                  <a:pt x="90" y="479"/>
                </a:cubicBezTo>
                <a:cubicBezTo>
                  <a:pt x="50" y="573"/>
                  <a:pt x="12" y="651"/>
                  <a:pt x="6" y="760"/>
                </a:cubicBezTo>
                <a:cubicBezTo>
                  <a:pt x="0" y="869"/>
                  <a:pt x="7" y="1042"/>
                  <a:pt x="55" y="1132"/>
                </a:cubicBezTo>
                <a:cubicBezTo>
                  <a:pt x="103" y="1222"/>
                  <a:pt x="191" y="1232"/>
                  <a:pt x="294" y="1301"/>
                </a:cubicBezTo>
                <a:cubicBezTo>
                  <a:pt x="397" y="1370"/>
                  <a:pt x="536" y="1479"/>
                  <a:pt x="673" y="1546"/>
                </a:cubicBezTo>
                <a:cubicBezTo>
                  <a:pt x="810" y="1613"/>
                  <a:pt x="1018" y="1714"/>
                  <a:pt x="1116" y="1701"/>
                </a:cubicBezTo>
                <a:cubicBezTo>
                  <a:pt x="1214" y="1688"/>
                  <a:pt x="1310" y="1559"/>
                  <a:pt x="1263" y="1469"/>
                </a:cubicBezTo>
                <a:cubicBezTo>
                  <a:pt x="1216" y="1379"/>
                  <a:pt x="925" y="1270"/>
                  <a:pt x="835" y="1160"/>
                </a:cubicBezTo>
                <a:cubicBezTo>
                  <a:pt x="745" y="1050"/>
                  <a:pt x="723" y="940"/>
                  <a:pt x="722" y="809"/>
                </a:cubicBezTo>
                <a:cubicBezTo>
                  <a:pt x="721" y="678"/>
                  <a:pt x="871" y="504"/>
                  <a:pt x="828" y="373"/>
                </a:cubicBezTo>
                <a:cubicBezTo>
                  <a:pt x="785" y="242"/>
                  <a:pt x="567" y="58"/>
                  <a:pt x="470" y="29"/>
                </a:cubicBezTo>
                <a:close/>
              </a:path>
            </a:pathLst>
          </a:custGeom>
          <a:noFill/>
          <a:ln w="19050" cap="flat" cmpd="sng">
            <a:solidFill>
              <a:schemeClr val="tx1"/>
            </a:solidFill>
            <a:prstDash val="dash"/>
            <a:round/>
          </a:ln>
        </p:spPr>
        <p:txBody>
          <a:bodyPr wrap="none"/>
          <a:lstStyle/>
          <a:p>
            <a:endParaRPr lang="en-US"/>
          </a:p>
        </p:txBody>
      </p:sp>
      <p:sp>
        <p:nvSpPr>
          <p:cNvPr id="159768" name="Text Box 23"/>
          <p:cNvSpPr txBox="1">
            <a:spLocks noChangeArrowheads="1"/>
          </p:cNvSpPr>
          <p:nvPr/>
        </p:nvSpPr>
        <p:spPr bwMode="auto">
          <a:xfrm>
            <a:off x="5092700" y="1293813"/>
            <a:ext cx="17970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solidFill>
                  <a:srgbClr val="CC0000"/>
                </a:solidFill>
              </a:rPr>
              <a:t>boundary router</a:t>
            </a:r>
          </a:p>
        </p:txBody>
      </p:sp>
      <p:sp>
        <p:nvSpPr>
          <p:cNvPr id="159769" name="Text Box 24"/>
          <p:cNvSpPr txBox="1">
            <a:spLocks noChangeArrowheads="1"/>
          </p:cNvSpPr>
          <p:nvPr/>
        </p:nvSpPr>
        <p:spPr bwMode="auto">
          <a:xfrm>
            <a:off x="6616700" y="1714500"/>
            <a:ext cx="18351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solidFill>
                  <a:srgbClr val="CC0000"/>
                </a:solidFill>
              </a:rPr>
              <a:t>backbone router</a:t>
            </a:r>
          </a:p>
        </p:txBody>
      </p:sp>
      <p:sp>
        <p:nvSpPr>
          <p:cNvPr id="159770" name="Text Box 25"/>
          <p:cNvSpPr txBox="1">
            <a:spLocks noChangeArrowheads="1"/>
          </p:cNvSpPr>
          <p:nvPr/>
        </p:nvSpPr>
        <p:spPr bwMode="auto">
          <a:xfrm>
            <a:off x="936625" y="5357813"/>
            <a:ext cx="8318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area 1</a:t>
            </a:r>
          </a:p>
        </p:txBody>
      </p:sp>
      <p:sp>
        <p:nvSpPr>
          <p:cNvPr id="159771" name="Text Box 26"/>
          <p:cNvSpPr txBox="1">
            <a:spLocks noChangeArrowheads="1"/>
          </p:cNvSpPr>
          <p:nvPr/>
        </p:nvSpPr>
        <p:spPr bwMode="auto">
          <a:xfrm>
            <a:off x="4502150" y="5734050"/>
            <a:ext cx="8318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area 2</a:t>
            </a:r>
          </a:p>
        </p:txBody>
      </p:sp>
      <p:sp>
        <p:nvSpPr>
          <p:cNvPr id="159772" name="Text Box 27"/>
          <p:cNvSpPr txBox="1">
            <a:spLocks noChangeArrowheads="1"/>
          </p:cNvSpPr>
          <p:nvPr/>
        </p:nvSpPr>
        <p:spPr bwMode="auto">
          <a:xfrm>
            <a:off x="7586663" y="4113213"/>
            <a:ext cx="8318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t>area 3</a:t>
            </a:r>
          </a:p>
        </p:txBody>
      </p:sp>
      <p:sp>
        <p:nvSpPr>
          <p:cNvPr id="159773" name="Text Box 28"/>
          <p:cNvSpPr txBox="1">
            <a:spLocks noChangeArrowheads="1"/>
          </p:cNvSpPr>
          <p:nvPr/>
        </p:nvSpPr>
        <p:spPr bwMode="auto">
          <a:xfrm>
            <a:off x="4394200" y="2411413"/>
            <a:ext cx="1285875" cy="3968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2000">
                <a:solidFill>
                  <a:schemeClr val="bg1"/>
                </a:solidFill>
              </a:rPr>
              <a:t>backbone</a:t>
            </a:r>
          </a:p>
        </p:txBody>
      </p:sp>
      <p:sp>
        <p:nvSpPr>
          <p:cNvPr id="159774" name="Text Box 29"/>
          <p:cNvSpPr txBox="1">
            <a:spLocks noChangeArrowheads="1"/>
          </p:cNvSpPr>
          <p:nvPr/>
        </p:nvSpPr>
        <p:spPr bwMode="auto">
          <a:xfrm>
            <a:off x="3219450" y="2822575"/>
            <a:ext cx="895350" cy="79216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nSpc>
                <a:spcPct val="85000"/>
              </a:lnSpc>
            </a:pPr>
            <a:r>
              <a:rPr lang="en-US" sz="1800">
                <a:solidFill>
                  <a:schemeClr val="bg1"/>
                </a:solidFill>
              </a:rPr>
              <a:t>area</a:t>
            </a:r>
          </a:p>
          <a:p>
            <a:pPr>
              <a:lnSpc>
                <a:spcPct val="85000"/>
              </a:lnSpc>
            </a:pPr>
            <a:r>
              <a:rPr lang="en-US" sz="1800">
                <a:solidFill>
                  <a:schemeClr val="bg1"/>
                </a:solidFill>
              </a:rPr>
              <a:t>border</a:t>
            </a:r>
          </a:p>
          <a:p>
            <a:pPr>
              <a:lnSpc>
                <a:spcPct val="85000"/>
              </a:lnSpc>
            </a:pPr>
            <a:r>
              <a:rPr lang="en-US" sz="1800">
                <a:solidFill>
                  <a:schemeClr val="bg1"/>
                </a:solidFill>
              </a:rPr>
              <a:t>routers</a:t>
            </a:r>
          </a:p>
        </p:txBody>
      </p:sp>
      <p:sp>
        <p:nvSpPr>
          <p:cNvPr id="159775" name="Text Box 30"/>
          <p:cNvSpPr txBox="1">
            <a:spLocks noChangeArrowheads="1"/>
          </p:cNvSpPr>
          <p:nvPr/>
        </p:nvSpPr>
        <p:spPr bwMode="auto">
          <a:xfrm>
            <a:off x="5969000" y="5048250"/>
            <a:ext cx="933450" cy="55880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nSpc>
                <a:spcPct val="85000"/>
              </a:lnSpc>
            </a:pPr>
            <a:r>
              <a:rPr lang="en-US" sz="1800">
                <a:solidFill>
                  <a:srgbClr val="CC0000"/>
                </a:solidFill>
              </a:rPr>
              <a:t>internal</a:t>
            </a:r>
          </a:p>
          <a:p>
            <a:pPr>
              <a:lnSpc>
                <a:spcPct val="85000"/>
              </a:lnSpc>
            </a:pPr>
            <a:r>
              <a:rPr lang="en-US" sz="1800">
                <a:solidFill>
                  <a:srgbClr val="CC0000"/>
                </a:solidFill>
              </a:rPr>
              <a:t>routers</a:t>
            </a:r>
          </a:p>
        </p:txBody>
      </p:sp>
      <p:sp>
        <p:nvSpPr>
          <p:cNvPr id="159776" name="Line 242"/>
          <p:cNvSpPr>
            <a:spLocks noChangeShapeType="1"/>
          </p:cNvSpPr>
          <p:nvPr/>
        </p:nvSpPr>
        <p:spPr bwMode="auto">
          <a:xfrm flipV="1">
            <a:off x="6946900" y="5018088"/>
            <a:ext cx="490538" cy="200025"/>
          </a:xfrm>
          <a:prstGeom prst="line">
            <a:avLst/>
          </a:prstGeom>
          <a:noFill/>
          <a:ln w="9525">
            <a:solidFill>
              <a:srgbClr val="CC0000"/>
            </a:solidFill>
            <a:round/>
            <a:tailEnd type="triangle" w="med" len="med"/>
          </a:ln>
        </p:spPr>
        <p:txBody>
          <a:bodyPr wrap="none"/>
          <a:lstStyle/>
          <a:p>
            <a:endParaRPr lang="en-US"/>
          </a:p>
        </p:txBody>
      </p:sp>
      <p:sp>
        <p:nvSpPr>
          <p:cNvPr id="159777" name="Line 243"/>
          <p:cNvSpPr>
            <a:spLocks noChangeShapeType="1"/>
          </p:cNvSpPr>
          <p:nvPr/>
        </p:nvSpPr>
        <p:spPr bwMode="auto">
          <a:xfrm flipH="1" flipV="1">
            <a:off x="5559425" y="4892675"/>
            <a:ext cx="481013" cy="300038"/>
          </a:xfrm>
          <a:prstGeom prst="line">
            <a:avLst/>
          </a:prstGeom>
          <a:noFill/>
          <a:ln w="9525">
            <a:solidFill>
              <a:srgbClr val="CC0000"/>
            </a:solidFill>
            <a:round/>
            <a:tailEnd type="triangle" w="med" len="med"/>
          </a:ln>
        </p:spPr>
        <p:txBody>
          <a:bodyPr wrap="none"/>
          <a:lstStyle/>
          <a:p>
            <a:endParaRPr lang="en-US"/>
          </a:p>
        </p:txBody>
      </p:sp>
      <p:sp>
        <p:nvSpPr>
          <p:cNvPr id="159778" name="Line 244"/>
          <p:cNvSpPr>
            <a:spLocks noChangeShapeType="1"/>
          </p:cNvSpPr>
          <p:nvPr/>
        </p:nvSpPr>
        <p:spPr bwMode="auto">
          <a:xfrm flipV="1">
            <a:off x="4862513" y="1081088"/>
            <a:ext cx="0" cy="792162"/>
          </a:xfrm>
          <a:prstGeom prst="line">
            <a:avLst/>
          </a:prstGeom>
          <a:noFill/>
          <a:ln w="19050">
            <a:solidFill>
              <a:schemeClr val="tx1"/>
            </a:solidFill>
            <a:round/>
          </a:ln>
        </p:spPr>
        <p:txBody>
          <a:bodyPr wrap="none"/>
          <a:lstStyle/>
          <a:p>
            <a:endParaRPr lang="en-US"/>
          </a:p>
        </p:txBody>
      </p:sp>
      <p:sp>
        <p:nvSpPr>
          <p:cNvPr id="159779" name="Line 245"/>
          <p:cNvSpPr>
            <a:spLocks noChangeShapeType="1"/>
          </p:cNvSpPr>
          <p:nvPr/>
        </p:nvSpPr>
        <p:spPr bwMode="auto">
          <a:xfrm flipH="1">
            <a:off x="6534150" y="2039938"/>
            <a:ext cx="312738" cy="201612"/>
          </a:xfrm>
          <a:prstGeom prst="line">
            <a:avLst/>
          </a:prstGeom>
          <a:noFill/>
          <a:ln w="9525">
            <a:solidFill>
              <a:srgbClr val="CC0000"/>
            </a:solidFill>
            <a:round/>
            <a:tailEnd type="triangle" w="med" len="med"/>
          </a:ln>
        </p:spPr>
        <p:txBody>
          <a:bodyPr wrap="none"/>
          <a:lstStyle/>
          <a:p>
            <a:endParaRPr lang="en-US"/>
          </a:p>
        </p:txBody>
      </p:sp>
      <p:sp>
        <p:nvSpPr>
          <p:cNvPr id="159780" name="Line 246"/>
          <p:cNvSpPr>
            <a:spLocks noChangeShapeType="1"/>
          </p:cNvSpPr>
          <p:nvPr/>
        </p:nvSpPr>
        <p:spPr bwMode="auto">
          <a:xfrm flipH="1">
            <a:off x="5024438" y="1646238"/>
            <a:ext cx="312737" cy="201612"/>
          </a:xfrm>
          <a:prstGeom prst="line">
            <a:avLst/>
          </a:prstGeom>
          <a:noFill/>
          <a:ln w="9525">
            <a:solidFill>
              <a:srgbClr val="CC0000"/>
            </a:solidFill>
            <a:round/>
            <a:tailEnd type="triangle" w="med" len="med"/>
          </a:ln>
        </p:spPr>
        <p:txBody>
          <a:bodyPr wrap="none"/>
          <a:lstStyle/>
          <a:p>
            <a:endParaRPr lang="en-US"/>
          </a:p>
        </p:txBody>
      </p:sp>
      <p:sp>
        <p:nvSpPr>
          <p:cNvPr id="159781" name="Line 247"/>
          <p:cNvSpPr>
            <a:spLocks noChangeShapeType="1"/>
          </p:cNvSpPr>
          <p:nvPr/>
        </p:nvSpPr>
        <p:spPr bwMode="auto">
          <a:xfrm>
            <a:off x="4154488" y="3463925"/>
            <a:ext cx="334962" cy="55563"/>
          </a:xfrm>
          <a:prstGeom prst="line">
            <a:avLst/>
          </a:prstGeom>
          <a:noFill/>
          <a:ln w="9525">
            <a:solidFill>
              <a:schemeClr val="bg1"/>
            </a:solidFill>
            <a:round/>
            <a:tailEnd type="triangle" w="med" len="med"/>
          </a:ln>
        </p:spPr>
        <p:txBody>
          <a:bodyPr wrap="none"/>
          <a:lstStyle/>
          <a:p>
            <a:endParaRPr lang="en-US"/>
          </a:p>
        </p:txBody>
      </p:sp>
      <p:sp>
        <p:nvSpPr>
          <p:cNvPr id="159782" name="Line 248"/>
          <p:cNvSpPr>
            <a:spLocks noChangeShapeType="1"/>
          </p:cNvSpPr>
          <p:nvPr/>
        </p:nvSpPr>
        <p:spPr bwMode="auto">
          <a:xfrm flipH="1" flipV="1">
            <a:off x="2968625" y="3270250"/>
            <a:ext cx="257175" cy="157163"/>
          </a:xfrm>
          <a:prstGeom prst="line">
            <a:avLst/>
          </a:prstGeom>
          <a:noFill/>
          <a:ln w="9525">
            <a:solidFill>
              <a:schemeClr val="bg1"/>
            </a:solidFill>
            <a:round/>
            <a:tailEnd type="triangle" w="med" len="med"/>
          </a:ln>
        </p:spPr>
        <p:txBody>
          <a:bodyPr wrap="none"/>
          <a:lstStyle/>
          <a:p>
            <a:endParaRPr lang="en-US"/>
          </a:p>
        </p:txBody>
      </p:sp>
      <p:grpSp>
        <p:nvGrpSpPr>
          <p:cNvPr id="159783" name="Group 249"/>
          <p:cNvGrpSpPr/>
          <p:nvPr/>
        </p:nvGrpSpPr>
        <p:grpSpPr bwMode="auto">
          <a:xfrm>
            <a:off x="5902325" y="2276475"/>
            <a:ext cx="644525" cy="282575"/>
            <a:chOff x="4396" y="1245"/>
            <a:chExt cx="672" cy="248"/>
          </a:xfrm>
        </p:grpSpPr>
        <p:sp>
          <p:nvSpPr>
            <p:cNvPr id="159911"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912"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913"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914" name="Group 253"/>
            <p:cNvGrpSpPr/>
            <p:nvPr/>
          </p:nvGrpSpPr>
          <p:grpSpPr bwMode="auto">
            <a:xfrm>
              <a:off x="4530" y="1287"/>
              <a:ext cx="377" cy="75"/>
              <a:chOff x="2468" y="1332"/>
              <a:chExt cx="310" cy="60"/>
            </a:xfrm>
          </p:grpSpPr>
          <p:sp>
            <p:nvSpPr>
              <p:cNvPr id="159917" name="Freeform 254"/>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918" name="Freeform 255"/>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915" name="Line 256"/>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916" name="Line 257"/>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grpSp>
        <p:nvGrpSpPr>
          <p:cNvPr id="159784" name="Group 258"/>
          <p:cNvGrpSpPr/>
          <p:nvPr/>
        </p:nvGrpSpPr>
        <p:grpSpPr bwMode="auto">
          <a:xfrm>
            <a:off x="6824663" y="3119438"/>
            <a:ext cx="644525" cy="282575"/>
            <a:chOff x="4396" y="1245"/>
            <a:chExt cx="672" cy="248"/>
          </a:xfrm>
        </p:grpSpPr>
        <p:sp>
          <p:nvSpPr>
            <p:cNvPr id="159903"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904"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905"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906" name="Group 262"/>
            <p:cNvGrpSpPr/>
            <p:nvPr/>
          </p:nvGrpSpPr>
          <p:grpSpPr bwMode="auto">
            <a:xfrm>
              <a:off x="4530" y="1287"/>
              <a:ext cx="377" cy="75"/>
              <a:chOff x="2468" y="1332"/>
              <a:chExt cx="310" cy="60"/>
            </a:xfrm>
          </p:grpSpPr>
          <p:sp>
            <p:nvSpPr>
              <p:cNvPr id="159909" name="Freeform 263"/>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910" name="Freeform 264"/>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907" name="Line 265"/>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908" name="Line 266"/>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grpSp>
        <p:nvGrpSpPr>
          <p:cNvPr id="159785" name="Group 267"/>
          <p:cNvGrpSpPr/>
          <p:nvPr/>
        </p:nvGrpSpPr>
        <p:grpSpPr bwMode="auto">
          <a:xfrm>
            <a:off x="6608763" y="3952875"/>
            <a:ext cx="644525" cy="282575"/>
            <a:chOff x="4396" y="1245"/>
            <a:chExt cx="672" cy="248"/>
          </a:xfrm>
        </p:grpSpPr>
        <p:sp>
          <p:nvSpPr>
            <p:cNvPr id="159895"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896"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897"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898" name="Group 271"/>
            <p:cNvGrpSpPr/>
            <p:nvPr/>
          </p:nvGrpSpPr>
          <p:grpSpPr bwMode="auto">
            <a:xfrm>
              <a:off x="4530" y="1287"/>
              <a:ext cx="377" cy="75"/>
              <a:chOff x="2468" y="1332"/>
              <a:chExt cx="310" cy="60"/>
            </a:xfrm>
          </p:grpSpPr>
          <p:sp>
            <p:nvSpPr>
              <p:cNvPr id="159901" name="Freeform 272"/>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902" name="Freeform 273"/>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899" name="Line 274"/>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900" name="Line 275"/>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grpSp>
        <p:nvGrpSpPr>
          <p:cNvPr id="159786" name="Group 276"/>
          <p:cNvGrpSpPr/>
          <p:nvPr/>
        </p:nvGrpSpPr>
        <p:grpSpPr bwMode="auto">
          <a:xfrm>
            <a:off x="7418388" y="4797425"/>
            <a:ext cx="644525" cy="282575"/>
            <a:chOff x="4396" y="1245"/>
            <a:chExt cx="672" cy="248"/>
          </a:xfrm>
        </p:grpSpPr>
        <p:sp>
          <p:nvSpPr>
            <p:cNvPr id="159887"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888"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889"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890" name="Group 280"/>
            <p:cNvGrpSpPr/>
            <p:nvPr/>
          </p:nvGrpSpPr>
          <p:grpSpPr bwMode="auto">
            <a:xfrm>
              <a:off x="4530" y="1287"/>
              <a:ext cx="377" cy="75"/>
              <a:chOff x="2468" y="1332"/>
              <a:chExt cx="310" cy="60"/>
            </a:xfrm>
          </p:grpSpPr>
          <p:sp>
            <p:nvSpPr>
              <p:cNvPr id="159893" name="Freeform 281"/>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894" name="Freeform 282"/>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891" name="Line 283"/>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892" name="Line 284"/>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grpSp>
        <p:nvGrpSpPr>
          <p:cNvPr id="159787" name="Group 285"/>
          <p:cNvGrpSpPr/>
          <p:nvPr/>
        </p:nvGrpSpPr>
        <p:grpSpPr bwMode="auto">
          <a:xfrm>
            <a:off x="4548188" y="1871663"/>
            <a:ext cx="644525" cy="282575"/>
            <a:chOff x="4396" y="1245"/>
            <a:chExt cx="672" cy="248"/>
          </a:xfrm>
        </p:grpSpPr>
        <p:sp>
          <p:nvSpPr>
            <p:cNvPr id="159879"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880"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881"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882" name="Group 289"/>
            <p:cNvGrpSpPr/>
            <p:nvPr/>
          </p:nvGrpSpPr>
          <p:grpSpPr bwMode="auto">
            <a:xfrm>
              <a:off x="4530" y="1287"/>
              <a:ext cx="377" cy="75"/>
              <a:chOff x="2468" y="1332"/>
              <a:chExt cx="310" cy="60"/>
            </a:xfrm>
          </p:grpSpPr>
          <p:sp>
            <p:nvSpPr>
              <p:cNvPr id="159885" name="Freeform 290"/>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886" name="Freeform 291"/>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883" name="Line 292"/>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884" name="Line 293"/>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grpSp>
        <p:nvGrpSpPr>
          <p:cNvPr id="159788" name="Group 294"/>
          <p:cNvGrpSpPr/>
          <p:nvPr/>
        </p:nvGrpSpPr>
        <p:grpSpPr bwMode="auto">
          <a:xfrm>
            <a:off x="4567238" y="3273425"/>
            <a:ext cx="644525" cy="282575"/>
            <a:chOff x="4396" y="1245"/>
            <a:chExt cx="672" cy="248"/>
          </a:xfrm>
        </p:grpSpPr>
        <p:sp>
          <p:nvSpPr>
            <p:cNvPr id="159871"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872"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873"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874" name="Group 298"/>
            <p:cNvGrpSpPr/>
            <p:nvPr/>
          </p:nvGrpSpPr>
          <p:grpSpPr bwMode="auto">
            <a:xfrm>
              <a:off x="4530" y="1287"/>
              <a:ext cx="377" cy="75"/>
              <a:chOff x="2468" y="1332"/>
              <a:chExt cx="310" cy="60"/>
            </a:xfrm>
          </p:grpSpPr>
          <p:sp>
            <p:nvSpPr>
              <p:cNvPr id="159877" name="Freeform 299"/>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878" name="Freeform 300"/>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875" name="Line 301"/>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876" name="Line 302"/>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grpSp>
        <p:nvGrpSpPr>
          <p:cNvPr id="159789" name="Group 303"/>
          <p:cNvGrpSpPr/>
          <p:nvPr/>
        </p:nvGrpSpPr>
        <p:grpSpPr bwMode="auto">
          <a:xfrm>
            <a:off x="3314700" y="2276475"/>
            <a:ext cx="644525" cy="282575"/>
            <a:chOff x="4396" y="1245"/>
            <a:chExt cx="672" cy="248"/>
          </a:xfrm>
        </p:grpSpPr>
        <p:sp>
          <p:nvSpPr>
            <p:cNvPr id="159863"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864"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865"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866" name="Group 307"/>
            <p:cNvGrpSpPr/>
            <p:nvPr/>
          </p:nvGrpSpPr>
          <p:grpSpPr bwMode="auto">
            <a:xfrm>
              <a:off x="4530" y="1287"/>
              <a:ext cx="377" cy="75"/>
              <a:chOff x="2468" y="1332"/>
              <a:chExt cx="310" cy="60"/>
            </a:xfrm>
          </p:grpSpPr>
          <p:sp>
            <p:nvSpPr>
              <p:cNvPr id="159869" name="Freeform 30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870" name="Freeform 30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867" name="Line 310"/>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868" name="Line 311"/>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grpSp>
        <p:nvGrpSpPr>
          <p:cNvPr id="159790" name="Group 312"/>
          <p:cNvGrpSpPr/>
          <p:nvPr/>
        </p:nvGrpSpPr>
        <p:grpSpPr bwMode="auto">
          <a:xfrm>
            <a:off x="2330450" y="3063875"/>
            <a:ext cx="644525" cy="282575"/>
            <a:chOff x="4396" y="1245"/>
            <a:chExt cx="672" cy="248"/>
          </a:xfrm>
        </p:grpSpPr>
        <p:sp>
          <p:nvSpPr>
            <p:cNvPr id="159855"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856"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857"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858" name="Group 316"/>
            <p:cNvGrpSpPr/>
            <p:nvPr/>
          </p:nvGrpSpPr>
          <p:grpSpPr bwMode="auto">
            <a:xfrm>
              <a:off x="4530" y="1287"/>
              <a:ext cx="377" cy="75"/>
              <a:chOff x="2468" y="1332"/>
              <a:chExt cx="310" cy="60"/>
            </a:xfrm>
          </p:grpSpPr>
          <p:sp>
            <p:nvSpPr>
              <p:cNvPr id="159861" name="Freeform 317"/>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862" name="Freeform 318"/>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859" name="Line 319"/>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860" name="Line 320"/>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grpSp>
        <p:nvGrpSpPr>
          <p:cNvPr id="159791" name="Group 321"/>
          <p:cNvGrpSpPr/>
          <p:nvPr/>
        </p:nvGrpSpPr>
        <p:grpSpPr bwMode="auto">
          <a:xfrm>
            <a:off x="1781175" y="3841750"/>
            <a:ext cx="644525" cy="282575"/>
            <a:chOff x="4396" y="1245"/>
            <a:chExt cx="672" cy="248"/>
          </a:xfrm>
        </p:grpSpPr>
        <p:sp>
          <p:nvSpPr>
            <p:cNvPr id="159847"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848"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849"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850" name="Group 325"/>
            <p:cNvGrpSpPr/>
            <p:nvPr/>
          </p:nvGrpSpPr>
          <p:grpSpPr bwMode="auto">
            <a:xfrm>
              <a:off x="4530" y="1287"/>
              <a:ext cx="377" cy="75"/>
              <a:chOff x="2468" y="1332"/>
              <a:chExt cx="310" cy="60"/>
            </a:xfrm>
          </p:grpSpPr>
          <p:sp>
            <p:nvSpPr>
              <p:cNvPr id="159853" name="Freeform 326"/>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854" name="Freeform 327"/>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851" name="Line 328"/>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852" name="Line 329"/>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grpSp>
        <p:nvGrpSpPr>
          <p:cNvPr id="159792" name="Group 330"/>
          <p:cNvGrpSpPr/>
          <p:nvPr/>
        </p:nvGrpSpPr>
        <p:grpSpPr bwMode="auto">
          <a:xfrm>
            <a:off x="2368550" y="4362450"/>
            <a:ext cx="644525" cy="282575"/>
            <a:chOff x="4396" y="1245"/>
            <a:chExt cx="672" cy="248"/>
          </a:xfrm>
        </p:grpSpPr>
        <p:sp>
          <p:nvSpPr>
            <p:cNvPr id="159839"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840"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841"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842" name="Group 334"/>
            <p:cNvGrpSpPr/>
            <p:nvPr/>
          </p:nvGrpSpPr>
          <p:grpSpPr bwMode="auto">
            <a:xfrm>
              <a:off x="4530" y="1287"/>
              <a:ext cx="377" cy="75"/>
              <a:chOff x="2468" y="1332"/>
              <a:chExt cx="310" cy="60"/>
            </a:xfrm>
          </p:grpSpPr>
          <p:sp>
            <p:nvSpPr>
              <p:cNvPr id="159845" name="Freeform 335"/>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846" name="Freeform 336"/>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843" name="Line 337"/>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844" name="Line 338"/>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grpSp>
        <p:nvGrpSpPr>
          <p:cNvPr id="159793" name="Group 339"/>
          <p:cNvGrpSpPr/>
          <p:nvPr/>
        </p:nvGrpSpPr>
        <p:grpSpPr bwMode="auto">
          <a:xfrm>
            <a:off x="2019300" y="5095875"/>
            <a:ext cx="644525" cy="282575"/>
            <a:chOff x="4396" y="1245"/>
            <a:chExt cx="672" cy="248"/>
          </a:xfrm>
        </p:grpSpPr>
        <p:sp>
          <p:nvSpPr>
            <p:cNvPr id="159831"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832"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833"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834" name="Group 343"/>
            <p:cNvGrpSpPr/>
            <p:nvPr/>
          </p:nvGrpSpPr>
          <p:grpSpPr bwMode="auto">
            <a:xfrm>
              <a:off x="4530" y="1287"/>
              <a:ext cx="377" cy="75"/>
              <a:chOff x="2468" y="1332"/>
              <a:chExt cx="310" cy="60"/>
            </a:xfrm>
          </p:grpSpPr>
          <p:sp>
            <p:nvSpPr>
              <p:cNvPr id="159837" name="Freeform 344"/>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838" name="Freeform 345"/>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835" name="Line 346"/>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836" name="Line 347"/>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grpSp>
        <p:nvGrpSpPr>
          <p:cNvPr id="159794" name="Group 348"/>
          <p:cNvGrpSpPr/>
          <p:nvPr/>
        </p:nvGrpSpPr>
        <p:grpSpPr bwMode="auto">
          <a:xfrm>
            <a:off x="1189038" y="4511675"/>
            <a:ext cx="644525" cy="282575"/>
            <a:chOff x="4396" y="1245"/>
            <a:chExt cx="672" cy="248"/>
          </a:xfrm>
        </p:grpSpPr>
        <p:sp>
          <p:nvSpPr>
            <p:cNvPr id="159823"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824"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825"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826" name="Group 352"/>
            <p:cNvGrpSpPr/>
            <p:nvPr/>
          </p:nvGrpSpPr>
          <p:grpSpPr bwMode="auto">
            <a:xfrm>
              <a:off x="4530" y="1287"/>
              <a:ext cx="377" cy="75"/>
              <a:chOff x="2468" y="1332"/>
              <a:chExt cx="310" cy="60"/>
            </a:xfrm>
          </p:grpSpPr>
          <p:sp>
            <p:nvSpPr>
              <p:cNvPr id="159829" name="Freeform 353"/>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830" name="Freeform 354"/>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827" name="Line 355"/>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828" name="Line 356"/>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grpSp>
        <p:nvGrpSpPr>
          <p:cNvPr id="159795" name="Group 357"/>
          <p:cNvGrpSpPr/>
          <p:nvPr/>
        </p:nvGrpSpPr>
        <p:grpSpPr bwMode="auto">
          <a:xfrm>
            <a:off x="4149725" y="4191000"/>
            <a:ext cx="644525" cy="282575"/>
            <a:chOff x="4396" y="1245"/>
            <a:chExt cx="672" cy="248"/>
          </a:xfrm>
        </p:grpSpPr>
        <p:sp>
          <p:nvSpPr>
            <p:cNvPr id="159815"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816"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817"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818" name="Group 361"/>
            <p:cNvGrpSpPr/>
            <p:nvPr/>
          </p:nvGrpSpPr>
          <p:grpSpPr bwMode="auto">
            <a:xfrm>
              <a:off x="4530" y="1287"/>
              <a:ext cx="377" cy="75"/>
              <a:chOff x="2468" y="1332"/>
              <a:chExt cx="310" cy="60"/>
            </a:xfrm>
          </p:grpSpPr>
          <p:sp>
            <p:nvSpPr>
              <p:cNvPr id="159821" name="Freeform 362"/>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822" name="Freeform 363"/>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819" name="Line 364"/>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820" name="Line 365"/>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grpSp>
        <p:nvGrpSpPr>
          <p:cNvPr id="159796" name="Group 366"/>
          <p:cNvGrpSpPr/>
          <p:nvPr/>
        </p:nvGrpSpPr>
        <p:grpSpPr bwMode="auto">
          <a:xfrm>
            <a:off x="4960938" y="4610100"/>
            <a:ext cx="644525" cy="282575"/>
            <a:chOff x="4396" y="1245"/>
            <a:chExt cx="672" cy="248"/>
          </a:xfrm>
        </p:grpSpPr>
        <p:sp>
          <p:nvSpPr>
            <p:cNvPr id="159807"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808"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809"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810" name="Group 370"/>
            <p:cNvGrpSpPr/>
            <p:nvPr/>
          </p:nvGrpSpPr>
          <p:grpSpPr bwMode="auto">
            <a:xfrm>
              <a:off x="4530" y="1287"/>
              <a:ext cx="377" cy="75"/>
              <a:chOff x="2468" y="1332"/>
              <a:chExt cx="310" cy="60"/>
            </a:xfrm>
          </p:grpSpPr>
          <p:sp>
            <p:nvSpPr>
              <p:cNvPr id="159813" name="Freeform 371"/>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814" name="Freeform 372"/>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811" name="Line 373"/>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812" name="Line 374"/>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grpSp>
        <p:nvGrpSpPr>
          <p:cNvPr id="159797" name="Group 375"/>
          <p:cNvGrpSpPr/>
          <p:nvPr/>
        </p:nvGrpSpPr>
        <p:grpSpPr bwMode="auto">
          <a:xfrm>
            <a:off x="4376738" y="5051425"/>
            <a:ext cx="644525" cy="282575"/>
            <a:chOff x="4396" y="1245"/>
            <a:chExt cx="672" cy="248"/>
          </a:xfrm>
        </p:grpSpPr>
        <p:sp>
          <p:nvSpPr>
            <p:cNvPr id="159799"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59800"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59801"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59802" name="Group 379"/>
            <p:cNvGrpSpPr/>
            <p:nvPr/>
          </p:nvGrpSpPr>
          <p:grpSpPr bwMode="auto">
            <a:xfrm>
              <a:off x="4530" y="1287"/>
              <a:ext cx="377" cy="75"/>
              <a:chOff x="2468" y="1332"/>
              <a:chExt cx="310" cy="60"/>
            </a:xfrm>
          </p:grpSpPr>
          <p:sp>
            <p:nvSpPr>
              <p:cNvPr id="159805" name="Freeform 380"/>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ln>
            </p:spPr>
            <p:txBody>
              <a:bodyPr/>
              <a:lstStyle/>
              <a:p>
                <a:endParaRPr lang="en-US"/>
              </a:p>
            </p:txBody>
          </p:sp>
          <p:sp>
            <p:nvSpPr>
              <p:cNvPr id="159806" name="Freeform 381"/>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ln>
            </p:spPr>
            <p:txBody>
              <a:bodyPr/>
              <a:lstStyle/>
              <a:p>
                <a:endParaRPr lang="en-US"/>
              </a:p>
            </p:txBody>
          </p:sp>
        </p:grpSp>
        <p:sp>
          <p:nvSpPr>
            <p:cNvPr id="159803" name="Line 382"/>
            <p:cNvSpPr>
              <a:spLocks noChangeShapeType="1"/>
            </p:cNvSpPr>
            <p:nvPr/>
          </p:nvSpPr>
          <p:spPr bwMode="auto">
            <a:xfrm>
              <a:off x="4399" y="1322"/>
              <a:ext cx="0" cy="110"/>
            </a:xfrm>
            <a:prstGeom prst="line">
              <a:avLst/>
            </a:prstGeom>
            <a:noFill/>
            <a:ln w="12700">
              <a:solidFill>
                <a:srgbClr val="000000"/>
              </a:solidFill>
              <a:round/>
            </a:ln>
          </p:spPr>
          <p:txBody>
            <a:bodyPr/>
            <a:lstStyle/>
            <a:p>
              <a:endParaRPr lang="en-US"/>
            </a:p>
          </p:txBody>
        </p:sp>
        <p:sp>
          <p:nvSpPr>
            <p:cNvPr id="159804" name="Line 383"/>
            <p:cNvSpPr>
              <a:spLocks noChangeShapeType="1"/>
            </p:cNvSpPr>
            <p:nvPr/>
          </p:nvSpPr>
          <p:spPr bwMode="auto">
            <a:xfrm>
              <a:off x="5063" y="1326"/>
              <a:ext cx="0" cy="107"/>
            </a:xfrm>
            <a:prstGeom prst="line">
              <a:avLst/>
            </a:prstGeom>
            <a:noFill/>
            <a:ln w="12700">
              <a:solidFill>
                <a:srgbClr val="000000"/>
              </a:solidFill>
              <a:round/>
            </a:ln>
          </p:spPr>
          <p:txBody>
            <a:bodyPr/>
            <a:lstStyle/>
            <a:p>
              <a:endParaRPr lang="en-US"/>
            </a:p>
          </p:txBody>
        </p:sp>
      </p:grpSp>
      <p:pic>
        <p:nvPicPr>
          <p:cNvPr id="159798" name="Picture 38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6725" y="976313"/>
            <a:ext cx="4113213" cy="173037"/>
          </a:xfrm>
          <a:prstGeom prst="rect">
            <a:avLst/>
          </a:prstGeom>
          <a:noFill/>
          <a:ln>
            <a:noFill/>
          </a:ln>
        </p:spPr>
      </p:pic>
      <p:sp>
        <p:nvSpPr>
          <p:cNvPr id="176"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69</a:t>
            </a:fld>
            <a:endParaRPr lang="en-US" sz="1200" dirty="0">
              <a:latin typeface="Tahoma" panose="020B0604030504040204" charset="0"/>
            </a:endParaRPr>
          </a:p>
        </p:txBody>
      </p:sp>
      <p:sp>
        <p:nvSpPr>
          <p:cNvPr id="177"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1" name="Rectangle 3"/>
          <p:cNvSpPr>
            <a:spLocks noGrp="1" noChangeArrowheads="1"/>
          </p:cNvSpPr>
          <p:nvPr>
            <p:ph type="body" idx="1"/>
          </p:nvPr>
        </p:nvSpPr>
        <p:spPr>
          <a:xfrm>
            <a:off x="520700" y="1468438"/>
            <a:ext cx="8229600" cy="4008437"/>
          </a:xfrm>
        </p:spPr>
        <p:txBody>
          <a:bodyPr/>
          <a:lstStyle/>
          <a:p>
            <a:r>
              <a:rPr lang="en-US" i="1" dirty="0">
                <a:solidFill>
                  <a:srgbClr val="CC0000"/>
                </a:solidFill>
                <a:latin typeface="Gill Sans MT" pitchFamily="34" charset="0"/>
              </a:rPr>
              <a:t>two-level hierarchy:</a:t>
            </a:r>
            <a:r>
              <a:rPr lang="en-US" dirty="0">
                <a:latin typeface="Gill Sans MT" pitchFamily="34" charset="0"/>
              </a:rPr>
              <a:t> local area, backbone.</a:t>
            </a:r>
          </a:p>
          <a:p>
            <a:pPr lvl="1"/>
            <a:r>
              <a:rPr lang="en-US" sz="2800" dirty="0">
                <a:latin typeface="Gill Sans MT" pitchFamily="34" charset="0"/>
              </a:rPr>
              <a:t>link-state advertisements only in area </a:t>
            </a:r>
          </a:p>
          <a:p>
            <a:pPr lvl="1"/>
            <a:r>
              <a:rPr lang="en-US" sz="2800" dirty="0">
                <a:latin typeface="Gill Sans MT" pitchFamily="34" charset="0"/>
              </a:rPr>
              <a:t>each nodes has detailed area topology; only know direction (shortest path) to nets in other areas.</a:t>
            </a:r>
            <a:endParaRPr lang="en-US" dirty="0">
              <a:latin typeface="Gill Sans MT" pitchFamily="34" charset="0"/>
            </a:endParaRPr>
          </a:p>
          <a:p>
            <a:r>
              <a:rPr lang="en-US" i="1" dirty="0">
                <a:solidFill>
                  <a:srgbClr val="CC0000"/>
                </a:solidFill>
                <a:latin typeface="Gill Sans MT" pitchFamily="34" charset="0"/>
              </a:rPr>
              <a:t>area border routers:</a:t>
            </a:r>
            <a:r>
              <a:rPr lang="en-US" b="1" dirty="0">
                <a:solidFill>
                  <a:schemeClr val="accent2"/>
                </a:solidFill>
                <a:latin typeface="Gill Sans MT" pitchFamily="34" charset="0"/>
              </a:rPr>
              <a:t> </a:t>
            </a:r>
            <a:r>
              <a:rPr lang="ja-JP" altLang="en-US" dirty="0">
                <a:latin typeface="Gill Sans MT" pitchFamily="34" charset="0"/>
              </a:rPr>
              <a:t>“</a:t>
            </a:r>
            <a:r>
              <a:rPr lang="en-US" altLang="ja-JP" dirty="0">
                <a:latin typeface="Gill Sans MT" pitchFamily="34" charset="0"/>
              </a:rPr>
              <a:t>summarize</a:t>
            </a:r>
            <a:r>
              <a:rPr lang="ja-JP" altLang="en-US" dirty="0">
                <a:latin typeface="Gill Sans MT" pitchFamily="34" charset="0"/>
              </a:rPr>
              <a:t>”</a:t>
            </a:r>
            <a:r>
              <a:rPr lang="en-US" altLang="ja-JP" dirty="0">
                <a:latin typeface="Gill Sans MT" pitchFamily="34" charset="0"/>
              </a:rPr>
              <a:t> distances  to nets in own area, advertise to other Area Border routers.</a:t>
            </a:r>
          </a:p>
          <a:p>
            <a:r>
              <a:rPr lang="en-US" i="1" dirty="0">
                <a:solidFill>
                  <a:srgbClr val="CC0000"/>
                </a:solidFill>
                <a:latin typeface="Gill Sans MT" pitchFamily="34" charset="0"/>
              </a:rPr>
              <a:t>backbone routers:</a:t>
            </a:r>
            <a:r>
              <a:rPr lang="en-US" dirty="0">
                <a:latin typeface="Gill Sans MT" pitchFamily="34" charset="0"/>
              </a:rPr>
              <a:t> run OSPF routing limited to backbone.</a:t>
            </a:r>
          </a:p>
          <a:p>
            <a:r>
              <a:rPr lang="en-US" i="1" dirty="0">
                <a:solidFill>
                  <a:srgbClr val="CC0000"/>
                </a:solidFill>
                <a:latin typeface="Gill Sans MT" pitchFamily="34" charset="0"/>
              </a:rPr>
              <a:t>boundary routers:</a:t>
            </a:r>
            <a:r>
              <a:rPr lang="en-US" dirty="0">
                <a:latin typeface="Gill Sans MT" pitchFamily="34" charset="0"/>
              </a:rPr>
              <a:t> connect to other AS</a:t>
            </a:r>
            <a:r>
              <a:rPr lang="ja-JP" altLang="en-US" dirty="0">
                <a:latin typeface="Gill Sans MT" pitchFamily="34" charset="0"/>
              </a:rPr>
              <a:t>’</a:t>
            </a:r>
            <a:r>
              <a:rPr lang="en-US" altLang="ja-JP" dirty="0" err="1">
                <a:latin typeface="Gill Sans MT" pitchFamily="34" charset="0"/>
              </a:rPr>
              <a:t>es</a:t>
            </a:r>
            <a:r>
              <a:rPr lang="en-US" altLang="ja-JP" dirty="0">
                <a:latin typeface="Gill Sans MT" pitchFamily="34" charset="0"/>
              </a:rPr>
              <a:t>.</a:t>
            </a:r>
            <a:endParaRPr lang="en-US" altLang="ja-JP" sz="2400" dirty="0">
              <a:latin typeface="Gill Sans MT" pitchFamily="34" charset="0"/>
            </a:endParaRPr>
          </a:p>
          <a:p>
            <a:endParaRPr lang="en-US" sz="2400" dirty="0">
              <a:latin typeface="Gill Sans MT" pitchFamily="34" charset="0"/>
            </a:endParaRPr>
          </a:p>
        </p:txBody>
      </p:sp>
      <p:sp>
        <p:nvSpPr>
          <p:cNvPr id="115717" name="Rectangle 5"/>
          <p:cNvSpPr>
            <a:spLocks noGrp="1" noChangeArrowheads="1"/>
          </p:cNvSpPr>
          <p:nvPr>
            <p:ph type="title"/>
          </p:nvPr>
        </p:nvSpPr>
        <p:spPr>
          <a:xfrm>
            <a:off x="427355" y="170180"/>
            <a:ext cx="4717415" cy="1143000"/>
          </a:xfrm>
        </p:spPr>
        <p:txBody>
          <a:bodyPr/>
          <a:lstStyle/>
          <a:p>
            <a:pPr>
              <a:defRPr/>
            </a:pPr>
            <a:r>
              <a:rPr lang="en-US" sz="4000">
                <a:cs typeface="+mj-cs"/>
              </a:rPr>
              <a:t>Hierarchical OSPF</a:t>
            </a:r>
          </a:p>
        </p:txBody>
      </p:sp>
      <p:pic>
        <p:nvPicPr>
          <p:cNvPr id="160773"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6725" y="976313"/>
            <a:ext cx="4113213" cy="173037"/>
          </a:xfrm>
          <a:prstGeom prst="rect">
            <a:avLst/>
          </a:prstGeom>
          <a:noFill/>
          <a:ln>
            <a:noFill/>
          </a:ln>
        </p:spPr>
      </p:pic>
      <p:sp>
        <p:nvSpPr>
          <p:cNvPr id="7"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70</a:t>
            </a:fld>
            <a:endParaRPr lang="en-US" sz="1200" dirty="0">
              <a:latin typeface="Tahoma" panose="020B0604030504040204" charset="0"/>
            </a:endParaRPr>
          </a:p>
        </p:txBody>
      </p:sp>
      <p:sp>
        <p:nvSpPr>
          <p:cNvPr id="8"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p:spPr>
      </p:pic>
      <p:sp>
        <p:nvSpPr>
          <p:cNvPr id="43012" name="Rectangle 3"/>
          <p:cNvSpPr>
            <a:spLocks noGrp="1" noChangeArrowheads="1"/>
          </p:cNvSpPr>
          <p:nvPr>
            <p:ph type="body" sz="half" idx="1"/>
          </p:nvPr>
        </p:nvSpPr>
        <p:spPr/>
        <p:txBody>
          <a:bodyPr/>
          <a:lstStyle/>
          <a:p>
            <a:pPr>
              <a:lnSpc>
                <a:spcPct val="100000"/>
              </a:lnSpc>
              <a:buFont typeface="Wingdings" panose="05000000000000000000" charset="0"/>
              <a:buNone/>
            </a:pPr>
            <a:r>
              <a:rPr lang="en-US" sz="2400" dirty="0">
                <a:latin typeface="Gill Sans MT" pitchFamily="34" charset="0"/>
              </a:rPr>
              <a:t>5.1 introduction</a:t>
            </a:r>
          </a:p>
          <a:p>
            <a:pPr>
              <a:lnSpc>
                <a:spcPct val="100000"/>
              </a:lnSpc>
              <a:buFont typeface="Wingdings" panose="05000000000000000000" charset="0"/>
              <a:buNone/>
            </a:pPr>
            <a:r>
              <a:rPr lang="en-US" sz="2400" dirty="0">
                <a:latin typeface="Gill Sans MT" pitchFamily="34" charset="0"/>
              </a:rPr>
              <a:t>5.2 routing protocols</a:t>
            </a:r>
          </a:p>
          <a:p>
            <a:pPr>
              <a:lnSpc>
                <a:spcPct val="100000"/>
              </a:lnSpc>
            </a:pPr>
            <a:r>
              <a:rPr lang="en-US" sz="2400" dirty="0">
                <a:latin typeface="Gill Sans MT" pitchFamily="34" charset="0"/>
              </a:rPr>
              <a:t>link state</a:t>
            </a:r>
          </a:p>
          <a:p>
            <a:pPr>
              <a:lnSpc>
                <a:spcPct val="100000"/>
              </a:lnSpc>
            </a:pPr>
            <a:r>
              <a:rPr lang="en-US" sz="2400" dirty="0">
                <a:latin typeface="Gill Sans MT" pitchFamily="34" charset="0"/>
              </a:rPr>
              <a:t>distance vector</a:t>
            </a:r>
          </a:p>
          <a:p>
            <a:pPr marL="462280" indent="-462280">
              <a:lnSpc>
                <a:spcPct val="100000"/>
              </a:lnSpc>
              <a:buNone/>
            </a:pPr>
            <a:r>
              <a:rPr lang="en-US" sz="2400" dirty="0"/>
              <a:t>5.3 intra-AS routing in the Internet: OSPF</a:t>
            </a:r>
          </a:p>
          <a:p>
            <a:pPr marL="462280" indent="-462280">
              <a:lnSpc>
                <a:spcPct val="100000"/>
              </a:lnSpc>
              <a:buNone/>
            </a:pPr>
            <a:r>
              <a:rPr lang="en-US" sz="2400" dirty="0">
                <a:solidFill>
                  <a:srgbClr val="CC0000"/>
                </a:solidFill>
              </a:rPr>
              <a:t>5.4 routing among the ISPs: BGP</a:t>
            </a:r>
            <a:endParaRPr lang="en-US" sz="2400" dirty="0">
              <a:solidFill>
                <a:srgbClr val="CC0000"/>
              </a:solidFill>
              <a:latin typeface="Gill Sans MT" pitchFamily="34" charset="0"/>
            </a:endParaRPr>
          </a:p>
        </p:txBody>
      </p:sp>
      <p:sp>
        <p:nvSpPr>
          <p:cNvPr id="43013" name="Rectangle 4"/>
          <p:cNvSpPr>
            <a:spLocks noGrp="1" noChangeArrowheads="1"/>
          </p:cNvSpPr>
          <p:nvPr>
            <p:ph type="body" sz="half" idx="2"/>
          </p:nvPr>
        </p:nvSpPr>
        <p:spPr/>
        <p:txBody>
          <a:bodyPr/>
          <a:lstStyle/>
          <a:p>
            <a:pPr marL="462280" indent="-462280">
              <a:lnSpc>
                <a:spcPct val="100000"/>
              </a:lnSpc>
              <a:buFont typeface="Wingdings" panose="05000000000000000000" charset="0"/>
              <a:buNone/>
            </a:pPr>
            <a:r>
              <a:rPr lang="en-US" sz="2400" dirty="0">
                <a:latin typeface="Gill Sans MT" pitchFamily="34" charset="0"/>
              </a:rPr>
              <a:t>5.5 The SDN control plane</a:t>
            </a:r>
          </a:p>
          <a:p>
            <a:pPr marL="462280" indent="-462280">
              <a:lnSpc>
                <a:spcPct val="100000"/>
              </a:lnSpc>
              <a:buNone/>
            </a:pPr>
            <a:r>
              <a:rPr lang="en-US" sz="2400" dirty="0">
                <a:solidFill>
                  <a:srgbClr val="000000"/>
                </a:solidFill>
              </a:rPr>
              <a:t>5.6 ICMP: The Internet Control Message Protocol </a:t>
            </a:r>
          </a:p>
          <a:p>
            <a:pPr marL="462280" indent="-462280">
              <a:lnSpc>
                <a:spcPct val="100000"/>
              </a:lnSpc>
              <a:buNone/>
            </a:pPr>
            <a:r>
              <a:rPr lang="en-US" sz="2400" dirty="0"/>
              <a:t>5.7 Network management and SNMP</a:t>
            </a:r>
            <a:endParaRPr lang="en-US" sz="2400" dirty="0">
              <a:latin typeface="Gill Sans MT" pitchFamily="34" charset="0"/>
            </a:endParaRPr>
          </a:p>
        </p:txBody>
      </p:sp>
      <p:sp>
        <p:nvSpPr>
          <p:cNvPr id="43014" name="Rectangle 2"/>
          <p:cNvSpPr>
            <a:spLocks noChangeArrowheads="1"/>
          </p:cNvSpPr>
          <p:nvPr/>
        </p:nvSpPr>
        <p:spPr bwMode="auto">
          <a:xfrm>
            <a:off x="533400" y="228600"/>
            <a:ext cx="7772400" cy="1143000"/>
          </a:xfrm>
          <a:prstGeom prst="rect">
            <a:avLst/>
          </a:prstGeom>
          <a:noFill/>
          <a:ln>
            <a:noFill/>
          </a:ln>
        </p:spPr>
        <p:txBody>
          <a:bodyPr anchor="ctr"/>
          <a:lstStyle/>
          <a:p>
            <a:r>
              <a:rPr lang="en-US" sz="4400" dirty="0">
                <a:solidFill>
                  <a:srgbClr val="000099"/>
                </a:solidFill>
                <a:latin typeface="Gill Sans MT" pitchFamily="34" charset="0"/>
              </a:rPr>
              <a:t>Chapter 5: outline</a:t>
            </a:r>
          </a:p>
        </p:txBody>
      </p:sp>
      <p:sp>
        <p:nvSpPr>
          <p:cNvPr id="6"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71</a:t>
            </a:fld>
            <a:endParaRPr lang="en-US" sz="1200" dirty="0">
              <a:latin typeface="Tahoma" panose="020B0604030504040204" charset="0"/>
            </a:endParaRPr>
          </a:p>
        </p:txBody>
      </p:sp>
      <p:sp>
        <p:nvSpPr>
          <p:cNvPr id="7"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1795" name="Picture 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9438" y="1014413"/>
            <a:ext cx="6856412" cy="173037"/>
          </a:xfrm>
          <a:prstGeom prst="rect">
            <a:avLst/>
          </a:prstGeom>
          <a:noFill/>
          <a:ln>
            <a:noFill/>
          </a:ln>
        </p:spPr>
      </p:pic>
      <p:sp>
        <p:nvSpPr>
          <p:cNvPr id="161796" name="Rectangle 2"/>
          <p:cNvSpPr>
            <a:spLocks noGrp="1" noChangeArrowheads="1"/>
          </p:cNvSpPr>
          <p:nvPr>
            <p:ph type="title"/>
          </p:nvPr>
        </p:nvSpPr>
        <p:spPr/>
        <p:txBody>
          <a:bodyPr/>
          <a:lstStyle/>
          <a:p>
            <a:r>
              <a:rPr lang="en-US" sz="4000">
                <a:latin typeface="Gill Sans MT" pitchFamily="34" charset="0"/>
              </a:rPr>
              <a:t>Internet inter-AS routing: BGP</a:t>
            </a:r>
            <a:endParaRPr lang="en-US" sz="3200">
              <a:latin typeface="Gill Sans MT" pitchFamily="34" charset="0"/>
            </a:endParaRPr>
          </a:p>
        </p:txBody>
      </p:sp>
      <p:sp>
        <p:nvSpPr>
          <p:cNvPr id="161797" name="Rectangle 3"/>
          <p:cNvSpPr>
            <a:spLocks noGrp="1" noChangeArrowheads="1"/>
          </p:cNvSpPr>
          <p:nvPr>
            <p:ph type="body" idx="1"/>
          </p:nvPr>
        </p:nvSpPr>
        <p:spPr>
          <a:xfrm>
            <a:off x="533400" y="1422400"/>
            <a:ext cx="7772400" cy="4927600"/>
          </a:xfrm>
        </p:spPr>
        <p:txBody>
          <a:bodyPr/>
          <a:lstStyle/>
          <a:p>
            <a:pPr marL="381000" indent="-381000"/>
            <a:r>
              <a:rPr lang="en-US" dirty="0">
                <a:solidFill>
                  <a:srgbClr val="CC0000"/>
                </a:solidFill>
                <a:latin typeface="Gill Sans MT" pitchFamily="34" charset="0"/>
              </a:rPr>
              <a:t>BGP (Border Gateway Protocol):</a:t>
            </a:r>
            <a:r>
              <a:rPr lang="en-US" dirty="0">
                <a:latin typeface="Gill Sans MT" pitchFamily="34" charset="0"/>
              </a:rPr>
              <a:t> </a:t>
            </a:r>
            <a:r>
              <a:rPr lang="en-US" i="1" dirty="0">
                <a:latin typeface="Gill Sans MT" pitchFamily="34" charset="0"/>
              </a:rPr>
              <a:t>the</a:t>
            </a:r>
            <a:r>
              <a:rPr lang="en-US" dirty="0">
                <a:latin typeface="Gill Sans MT" pitchFamily="34" charset="0"/>
              </a:rPr>
              <a:t> de facto inter-domain routing protocol</a:t>
            </a:r>
          </a:p>
          <a:p>
            <a:pPr marL="800100" lvl="1" indent="-342900"/>
            <a:r>
              <a:rPr lang="ja-JP" altLang="en-US">
                <a:latin typeface="Gill Sans MT" pitchFamily="34" charset="0"/>
              </a:rPr>
              <a:t>“</a:t>
            </a:r>
            <a:r>
              <a:rPr lang="en-US" altLang="ja-JP" dirty="0">
                <a:latin typeface="Gill Sans MT" pitchFamily="34" charset="0"/>
              </a:rPr>
              <a:t>glue</a:t>
            </a:r>
            <a:r>
              <a:rPr lang="zh-CN" altLang="en-US" sz="1800" dirty="0">
                <a:latin typeface="FZKai-Z03" panose="03000509000000000000" pitchFamily="66" charset="-122"/>
                <a:ea typeface="FZKai-Z03" panose="03000509000000000000" pitchFamily="66" charset="-122"/>
              </a:rPr>
              <a:t>（胶水）</a:t>
            </a:r>
            <a:r>
              <a:rPr lang="en-US" altLang="ja-JP" dirty="0">
                <a:latin typeface="Gill Sans MT" pitchFamily="34" charset="0"/>
              </a:rPr>
              <a:t> that holds the Internet together</a:t>
            </a:r>
            <a:r>
              <a:rPr lang="ja-JP" altLang="en-US" dirty="0">
                <a:latin typeface="Gill Sans MT" pitchFamily="34" charset="0"/>
              </a:rPr>
              <a:t>”</a:t>
            </a:r>
            <a:endParaRPr lang="en-US" altLang="ja-JP" dirty="0">
              <a:latin typeface="Gill Sans MT" pitchFamily="34" charset="0"/>
            </a:endParaRPr>
          </a:p>
          <a:p>
            <a:pPr marL="381000" indent="-381000"/>
            <a:r>
              <a:rPr lang="en-US" dirty="0">
                <a:latin typeface="Gill Sans MT" pitchFamily="34" charset="0"/>
              </a:rPr>
              <a:t>BGP provides each AS a means to:</a:t>
            </a:r>
          </a:p>
          <a:p>
            <a:pPr marL="800100" lvl="1" indent="-342900"/>
            <a:r>
              <a:rPr lang="en-US" sz="2800" dirty="0">
                <a:solidFill>
                  <a:srgbClr val="CC0000"/>
                </a:solidFill>
                <a:latin typeface="Gill Sans MT" pitchFamily="34" charset="0"/>
              </a:rPr>
              <a:t>eBGP:</a:t>
            </a:r>
            <a:r>
              <a:rPr lang="en-US" dirty="0">
                <a:latin typeface="Gill Sans MT" pitchFamily="34" charset="0"/>
              </a:rPr>
              <a:t> obtain subnet reachability information from neighboring </a:t>
            </a:r>
            <a:r>
              <a:rPr lang="en-US" dirty="0" err="1">
                <a:latin typeface="Gill Sans MT" pitchFamily="34" charset="0"/>
              </a:rPr>
              <a:t>ASes</a:t>
            </a:r>
            <a:endParaRPr lang="en-US" dirty="0">
              <a:latin typeface="Gill Sans MT" pitchFamily="34" charset="0"/>
            </a:endParaRPr>
          </a:p>
          <a:p>
            <a:pPr marL="800100" lvl="1" indent="-342900"/>
            <a:r>
              <a:rPr lang="en-US" sz="2800" dirty="0">
                <a:solidFill>
                  <a:srgbClr val="CC0000"/>
                </a:solidFill>
                <a:latin typeface="Gill Sans MT" pitchFamily="34" charset="0"/>
              </a:rPr>
              <a:t>iBGP:</a:t>
            </a:r>
            <a:r>
              <a:rPr lang="en-US" dirty="0">
                <a:latin typeface="Gill Sans MT" pitchFamily="34" charset="0"/>
              </a:rPr>
              <a:t> propagate reachability information to all AS-internal routers.</a:t>
            </a:r>
          </a:p>
          <a:p>
            <a:pPr marL="800100" lvl="1" indent="-342900"/>
            <a:r>
              <a:rPr lang="en-US" dirty="0">
                <a:latin typeface="Gill Sans MT" pitchFamily="34" charset="0"/>
              </a:rPr>
              <a:t>determine </a:t>
            </a:r>
            <a:r>
              <a:rPr lang="ja-JP" altLang="en-US" dirty="0">
                <a:latin typeface="Gill Sans MT" pitchFamily="34" charset="0"/>
              </a:rPr>
              <a:t>“</a:t>
            </a:r>
            <a:r>
              <a:rPr lang="en-US" altLang="ja-JP" dirty="0">
                <a:latin typeface="Gill Sans MT" pitchFamily="34" charset="0"/>
              </a:rPr>
              <a:t>good</a:t>
            </a:r>
            <a:r>
              <a:rPr lang="ja-JP" altLang="en-US" dirty="0">
                <a:latin typeface="Gill Sans MT" pitchFamily="34" charset="0"/>
              </a:rPr>
              <a:t>”</a:t>
            </a:r>
            <a:r>
              <a:rPr lang="en-US" altLang="ja-JP" dirty="0">
                <a:latin typeface="Gill Sans MT" pitchFamily="34" charset="0"/>
              </a:rPr>
              <a:t> routes to other networks based on reachability information and </a:t>
            </a:r>
            <a:r>
              <a:rPr lang="en-US" altLang="ja-JP" i="1" dirty="0">
                <a:solidFill>
                  <a:srgbClr val="000090"/>
                </a:solidFill>
                <a:latin typeface="Gill Sans MT" pitchFamily="34" charset="0"/>
              </a:rPr>
              <a:t>policy</a:t>
            </a:r>
            <a:endParaRPr lang="en-US" altLang="ja-JP" dirty="0">
              <a:solidFill>
                <a:srgbClr val="000090"/>
              </a:solidFill>
              <a:latin typeface="Gill Sans MT" pitchFamily="34" charset="0"/>
            </a:endParaRPr>
          </a:p>
          <a:p>
            <a:pPr marL="381000" indent="-381000"/>
            <a:r>
              <a:rPr lang="en-US" dirty="0">
                <a:latin typeface="Gill Sans MT" pitchFamily="34" charset="0"/>
              </a:rPr>
              <a:t>allows subnet to advertise its existence to rest of Internet: </a:t>
            </a:r>
            <a:r>
              <a:rPr lang="ja-JP" altLang="en-US" i="1" dirty="0">
                <a:solidFill>
                  <a:srgbClr val="000099"/>
                </a:solidFill>
                <a:latin typeface="Gill Sans MT" pitchFamily="34" charset="0"/>
              </a:rPr>
              <a:t>“</a:t>
            </a:r>
            <a:r>
              <a:rPr lang="en-US" altLang="ja-JP" i="1" dirty="0">
                <a:solidFill>
                  <a:srgbClr val="000099"/>
                </a:solidFill>
                <a:latin typeface="Gill Sans MT" pitchFamily="34" charset="0"/>
              </a:rPr>
              <a:t>I am here</a:t>
            </a:r>
            <a:r>
              <a:rPr lang="ja-JP" altLang="en-US" i="1" dirty="0">
                <a:solidFill>
                  <a:srgbClr val="000099"/>
                </a:solidFill>
                <a:latin typeface="Gill Sans MT" pitchFamily="34" charset="0"/>
              </a:rPr>
              <a:t>”</a:t>
            </a:r>
            <a:endParaRPr lang="en-US" i="1" dirty="0">
              <a:solidFill>
                <a:srgbClr val="000099"/>
              </a:solidFill>
              <a:latin typeface="Gill Sans MT" pitchFamily="34" charset="0"/>
            </a:endParaRPr>
          </a:p>
        </p:txBody>
      </p:sp>
      <p:sp>
        <p:nvSpPr>
          <p:cNvPr id="5"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72</a:t>
            </a:fld>
            <a:endParaRPr lang="en-US" sz="1200" dirty="0">
              <a:latin typeface="Tahoma" panose="020B0604030504040204" charset="0"/>
            </a:endParaRPr>
          </a:p>
        </p:txBody>
      </p:sp>
      <p:sp>
        <p:nvSpPr>
          <p:cNvPr id="6"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eBGP, iBGP connections</a:t>
            </a:r>
          </a:p>
        </p:txBody>
      </p:sp>
      <p:grpSp>
        <p:nvGrpSpPr>
          <p:cNvPr id="283" name="Group 282"/>
          <p:cNvGrpSpPr/>
          <p:nvPr/>
        </p:nvGrpSpPr>
        <p:grpSpPr>
          <a:xfrm>
            <a:off x="3374823" y="4578799"/>
            <a:ext cx="2923580" cy="635979"/>
            <a:chOff x="7493868" y="5383138"/>
            <a:chExt cx="2923580" cy="635979"/>
          </a:xfrm>
        </p:grpSpPr>
        <p:cxnSp>
          <p:nvCxnSpPr>
            <p:cNvPr id="273" name="Straight Connector 272"/>
            <p:cNvCxnSpPr/>
            <p:nvPr/>
          </p:nvCxnSpPr>
          <p:spPr bwMode="auto">
            <a:xfrm flipH="1" flipV="1">
              <a:off x="7493868" y="5589319"/>
              <a:ext cx="749784" cy="11598"/>
            </a:xfrm>
            <a:prstGeom prst="line">
              <a:avLst/>
            </a:prstGeom>
            <a:solidFill>
              <a:schemeClr val="accent1"/>
            </a:solidFill>
            <a:ln w="38100" cap="flat" cmpd="sng" algn="ctr">
              <a:solidFill>
                <a:srgbClr val="CC0000"/>
              </a:solidFill>
              <a:prstDash val="dash"/>
              <a:round/>
              <a:headEnd type="none" w="med" len="med"/>
              <a:tailEnd type="none" w="med" len="med"/>
            </a:ln>
            <a:effectLst/>
          </p:spPr>
        </p:cxnSp>
        <p:cxnSp>
          <p:nvCxnSpPr>
            <p:cNvPr id="274" name="Straight Connector 273"/>
            <p:cNvCxnSpPr/>
            <p:nvPr/>
          </p:nvCxnSpPr>
          <p:spPr bwMode="auto">
            <a:xfrm flipV="1">
              <a:off x="7523346" y="5869497"/>
              <a:ext cx="699488" cy="690"/>
            </a:xfrm>
            <a:prstGeom prst="line">
              <a:avLst/>
            </a:prstGeom>
            <a:solidFill>
              <a:schemeClr val="accent1"/>
            </a:solidFill>
            <a:ln w="19050" cap="flat" cmpd="sng" algn="ctr">
              <a:solidFill>
                <a:srgbClr val="000090"/>
              </a:solidFill>
              <a:prstDash val="dash"/>
              <a:round/>
              <a:headEnd type="none" w="med" len="med"/>
              <a:tailEnd type="none" w="med" len="med"/>
            </a:ln>
            <a:effectLst/>
          </p:spPr>
        </p:cxnSp>
        <p:sp>
          <p:nvSpPr>
            <p:cNvPr id="281" name="TextBox 280"/>
            <p:cNvSpPr txBox="1"/>
            <p:nvPr/>
          </p:nvSpPr>
          <p:spPr>
            <a:xfrm>
              <a:off x="8347651" y="5383138"/>
              <a:ext cx="2069797" cy="369332"/>
            </a:xfrm>
            <a:prstGeom prst="rect">
              <a:avLst/>
            </a:prstGeom>
            <a:noFill/>
          </p:spPr>
          <p:txBody>
            <a:bodyPr wrap="none" rtlCol="0">
              <a:spAutoFit/>
            </a:bodyPr>
            <a:lstStyle/>
            <a:p>
              <a:r>
                <a:rPr lang="en-US" dirty="0">
                  <a:solidFill>
                    <a:srgbClr val="CC0000"/>
                  </a:solidFill>
                </a:rPr>
                <a:t>eBGP connectivity</a:t>
              </a:r>
            </a:p>
          </p:txBody>
        </p:sp>
        <p:sp>
          <p:nvSpPr>
            <p:cNvPr id="282" name="TextBox 281"/>
            <p:cNvSpPr txBox="1"/>
            <p:nvPr/>
          </p:nvSpPr>
          <p:spPr>
            <a:xfrm>
              <a:off x="8372607" y="5649785"/>
              <a:ext cx="1992853" cy="369332"/>
            </a:xfrm>
            <a:prstGeom prst="rect">
              <a:avLst/>
            </a:prstGeom>
            <a:noFill/>
          </p:spPr>
          <p:txBody>
            <a:bodyPr wrap="none" rtlCol="0">
              <a:spAutoFit/>
            </a:bodyPr>
            <a:lstStyle/>
            <a:p>
              <a:r>
                <a:rPr lang="en-US" dirty="0">
                  <a:solidFill>
                    <a:srgbClr val="000090"/>
                  </a:solidFill>
                </a:rPr>
                <a:t>iBGP connectivity</a:t>
              </a:r>
            </a:p>
          </p:txBody>
        </p:sp>
      </p:grpSp>
      <p:sp>
        <p:nvSpPr>
          <p:cNvPr id="135" name="Freeform 2"/>
          <p:cNvSpPr/>
          <p:nvPr/>
        </p:nvSpPr>
        <p:spPr bwMode="auto">
          <a:xfrm>
            <a:off x="558931" y="2655625"/>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73" name="Group 72"/>
          <p:cNvGrpSpPr/>
          <p:nvPr/>
        </p:nvGrpSpPr>
        <p:grpSpPr>
          <a:xfrm>
            <a:off x="1697092" y="2806487"/>
            <a:ext cx="565150" cy="369332"/>
            <a:chOff x="1736090" y="2873352"/>
            <a:chExt cx="565150" cy="369332"/>
          </a:xfrm>
        </p:grpSpPr>
        <p:grpSp>
          <p:nvGrpSpPr>
            <p:cNvPr id="26" name="Group 327"/>
            <p:cNvGrpSpPr/>
            <p:nvPr/>
          </p:nvGrpSpPr>
          <p:grpSpPr bwMode="auto">
            <a:xfrm>
              <a:off x="1736090" y="2893762"/>
              <a:ext cx="565150" cy="292100"/>
              <a:chOff x="1871277" y="1576300"/>
              <a:chExt cx="1128371" cy="437861"/>
            </a:xfrm>
          </p:grpSpPr>
          <p:sp>
            <p:nvSpPr>
              <p:cNvPr id="27" name="Oval 2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 name="Rectangle 2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 name="Oval 2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 name="Freeform 2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 name="Freeform 3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 name="Freeform 3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 name="Freeform 3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 name="Straight Connector 33"/>
              <p:cNvCxnSpPr>
                <a:endCxn id="2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5" name="Straight Connector 3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2" name="Group 71"/>
            <p:cNvGrpSpPr/>
            <p:nvPr/>
          </p:nvGrpSpPr>
          <p:grpSpPr>
            <a:xfrm>
              <a:off x="1770362" y="2873352"/>
              <a:ext cx="441422" cy="369332"/>
              <a:chOff x="667045" y="1708643"/>
              <a:chExt cx="441422" cy="369332"/>
            </a:xfrm>
          </p:grpSpPr>
          <p:sp>
            <p:nvSpPr>
              <p:cNvPr id="69" name="Oval 68"/>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66" name="TextBox 65"/>
              <p:cNvSpPr txBox="1"/>
              <p:nvPr/>
            </p:nvSpPr>
            <p:spPr>
              <a:xfrm>
                <a:off x="667045" y="1708643"/>
                <a:ext cx="441422" cy="369332"/>
              </a:xfrm>
              <a:prstGeom prst="rect">
                <a:avLst/>
              </a:prstGeom>
              <a:noFill/>
            </p:spPr>
            <p:txBody>
              <a:bodyPr wrap="none" rtlCol="0">
                <a:spAutoFit/>
              </a:bodyPr>
              <a:lstStyle/>
              <a:p>
                <a:r>
                  <a:rPr lang="en-US" dirty="0"/>
                  <a:t>1b</a:t>
                </a:r>
              </a:p>
            </p:txBody>
          </p:sp>
        </p:grpSp>
      </p:grpSp>
      <p:grpSp>
        <p:nvGrpSpPr>
          <p:cNvPr id="74" name="Group 73"/>
          <p:cNvGrpSpPr/>
          <p:nvPr/>
        </p:nvGrpSpPr>
        <p:grpSpPr>
          <a:xfrm>
            <a:off x="1701322" y="4027804"/>
            <a:ext cx="565150" cy="369332"/>
            <a:chOff x="1736090" y="2873352"/>
            <a:chExt cx="565150" cy="369332"/>
          </a:xfrm>
        </p:grpSpPr>
        <p:grpSp>
          <p:nvGrpSpPr>
            <p:cNvPr id="75" name="Group 327"/>
            <p:cNvGrpSpPr/>
            <p:nvPr/>
          </p:nvGrpSpPr>
          <p:grpSpPr bwMode="auto">
            <a:xfrm>
              <a:off x="1736090" y="2893762"/>
              <a:ext cx="565150" cy="292100"/>
              <a:chOff x="1871277" y="1576300"/>
              <a:chExt cx="1128371" cy="437861"/>
            </a:xfrm>
          </p:grpSpPr>
          <p:sp>
            <p:nvSpPr>
              <p:cNvPr id="79" name="Oval 7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0" name="Rectangle 7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1" name="Oval 8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2" name="Freeform 8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3" name="Freeform 8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4" name="Freeform 8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5" name="Freeform 8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86" name="Straight Connector 85"/>
              <p:cNvCxnSpPr>
                <a:endCxn id="8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87" name="Straight Connector 8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6" name="Group 75"/>
            <p:cNvGrpSpPr/>
            <p:nvPr/>
          </p:nvGrpSpPr>
          <p:grpSpPr>
            <a:xfrm>
              <a:off x="1770362" y="2873352"/>
              <a:ext cx="441422" cy="369332"/>
              <a:chOff x="667045" y="1708643"/>
              <a:chExt cx="441422" cy="369332"/>
            </a:xfrm>
          </p:grpSpPr>
          <p:sp>
            <p:nvSpPr>
              <p:cNvPr id="77" name="Oval 7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78" name="TextBox 77"/>
              <p:cNvSpPr txBox="1"/>
              <p:nvPr/>
            </p:nvSpPr>
            <p:spPr>
              <a:xfrm>
                <a:off x="667045" y="1708643"/>
                <a:ext cx="441422" cy="369332"/>
              </a:xfrm>
              <a:prstGeom prst="rect">
                <a:avLst/>
              </a:prstGeom>
              <a:noFill/>
            </p:spPr>
            <p:txBody>
              <a:bodyPr wrap="none" rtlCol="0">
                <a:spAutoFit/>
              </a:bodyPr>
              <a:lstStyle/>
              <a:p>
                <a:r>
                  <a:rPr lang="en-US" dirty="0"/>
                  <a:t>1d</a:t>
                </a:r>
              </a:p>
            </p:txBody>
          </p:sp>
        </p:grpSp>
      </p:grpSp>
      <p:grpSp>
        <p:nvGrpSpPr>
          <p:cNvPr id="88" name="Group 87"/>
          <p:cNvGrpSpPr/>
          <p:nvPr/>
        </p:nvGrpSpPr>
        <p:grpSpPr>
          <a:xfrm>
            <a:off x="2562808" y="3418207"/>
            <a:ext cx="565150" cy="369332"/>
            <a:chOff x="1736090" y="2873352"/>
            <a:chExt cx="565150" cy="369332"/>
          </a:xfrm>
        </p:grpSpPr>
        <p:grpSp>
          <p:nvGrpSpPr>
            <p:cNvPr id="89" name="Group 327"/>
            <p:cNvGrpSpPr/>
            <p:nvPr/>
          </p:nvGrpSpPr>
          <p:grpSpPr bwMode="auto">
            <a:xfrm>
              <a:off x="1736090" y="2893762"/>
              <a:ext cx="565150" cy="292100"/>
              <a:chOff x="1871277" y="1576300"/>
              <a:chExt cx="1128371" cy="437861"/>
            </a:xfrm>
          </p:grpSpPr>
          <p:sp>
            <p:nvSpPr>
              <p:cNvPr id="93" name="Oval 9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4" name="Rectangle 9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Oval 9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6" name="Freeform 9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Freeform 9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9" name="Freeform 9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0" name="Straight Connector 99"/>
              <p:cNvCxnSpPr>
                <a:endCxn id="9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90" name="Group 89"/>
            <p:cNvGrpSpPr/>
            <p:nvPr/>
          </p:nvGrpSpPr>
          <p:grpSpPr>
            <a:xfrm>
              <a:off x="1770362" y="2873352"/>
              <a:ext cx="428460" cy="369332"/>
              <a:chOff x="667045" y="1708643"/>
              <a:chExt cx="428460" cy="369332"/>
            </a:xfrm>
          </p:grpSpPr>
          <p:sp>
            <p:nvSpPr>
              <p:cNvPr id="91" name="Oval 9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92" name="TextBox 91"/>
              <p:cNvSpPr txBox="1"/>
              <p:nvPr/>
            </p:nvSpPr>
            <p:spPr>
              <a:xfrm>
                <a:off x="667045" y="1708643"/>
                <a:ext cx="428460" cy="369332"/>
              </a:xfrm>
              <a:prstGeom prst="rect">
                <a:avLst/>
              </a:prstGeom>
              <a:noFill/>
            </p:spPr>
            <p:txBody>
              <a:bodyPr wrap="none" rtlCol="0">
                <a:spAutoFit/>
              </a:bodyPr>
              <a:lstStyle/>
              <a:p>
                <a:r>
                  <a:rPr lang="en-US" dirty="0"/>
                  <a:t>1c</a:t>
                </a:r>
              </a:p>
            </p:txBody>
          </p:sp>
        </p:grpSp>
      </p:grpSp>
      <p:grpSp>
        <p:nvGrpSpPr>
          <p:cNvPr id="102" name="Group 101"/>
          <p:cNvGrpSpPr/>
          <p:nvPr/>
        </p:nvGrpSpPr>
        <p:grpSpPr>
          <a:xfrm>
            <a:off x="794333" y="3411854"/>
            <a:ext cx="565150" cy="369332"/>
            <a:chOff x="1736090" y="2873352"/>
            <a:chExt cx="565150" cy="369332"/>
          </a:xfrm>
        </p:grpSpPr>
        <p:grpSp>
          <p:nvGrpSpPr>
            <p:cNvPr id="103" name="Group 327"/>
            <p:cNvGrpSpPr/>
            <p:nvPr/>
          </p:nvGrpSpPr>
          <p:grpSpPr bwMode="auto">
            <a:xfrm>
              <a:off x="1736090" y="2893762"/>
              <a:ext cx="565150" cy="292100"/>
              <a:chOff x="1871277" y="1576300"/>
              <a:chExt cx="1128371" cy="437861"/>
            </a:xfrm>
          </p:grpSpPr>
          <p:sp>
            <p:nvSpPr>
              <p:cNvPr id="107" name="Oval 10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8" name="Rectangle 10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9" name="Oval 10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0" name="Freeform 10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1" name="Freeform 11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2" name="Freeform 11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 name="Freeform 11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4" name="Straight Connector 113"/>
              <p:cNvCxnSpPr>
                <a:endCxn id="10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5" name="Straight Connector 11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04" name="Group 103"/>
            <p:cNvGrpSpPr/>
            <p:nvPr/>
          </p:nvGrpSpPr>
          <p:grpSpPr>
            <a:xfrm>
              <a:off x="1770362" y="2873352"/>
              <a:ext cx="441422" cy="369332"/>
              <a:chOff x="667045" y="1708643"/>
              <a:chExt cx="441422" cy="369332"/>
            </a:xfrm>
          </p:grpSpPr>
          <p:sp>
            <p:nvSpPr>
              <p:cNvPr id="105" name="Oval 10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6" name="TextBox 105"/>
              <p:cNvSpPr txBox="1"/>
              <p:nvPr/>
            </p:nvSpPr>
            <p:spPr>
              <a:xfrm>
                <a:off x="667045" y="1708643"/>
                <a:ext cx="441422" cy="369332"/>
              </a:xfrm>
              <a:prstGeom prst="rect">
                <a:avLst/>
              </a:prstGeom>
              <a:noFill/>
            </p:spPr>
            <p:txBody>
              <a:bodyPr wrap="none" rtlCol="0">
                <a:spAutoFit/>
              </a:bodyPr>
              <a:lstStyle/>
              <a:p>
                <a:r>
                  <a:rPr lang="en-US" dirty="0"/>
                  <a:t>1a</a:t>
                </a:r>
              </a:p>
            </p:txBody>
          </p:sp>
        </p:grpSp>
      </p:grpSp>
      <p:cxnSp>
        <p:nvCxnSpPr>
          <p:cNvPr id="117" name="Straight Connector 116"/>
          <p:cNvCxnSpPr>
            <a:stCxn id="66" idx="2"/>
            <a:endCxn id="78" idx="0"/>
          </p:cNvCxnSpPr>
          <p:nvPr/>
        </p:nvCxnSpPr>
        <p:spPr bwMode="auto">
          <a:xfrm>
            <a:off x="1952075" y="3175819"/>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18" name="Straight Connector 117"/>
          <p:cNvCxnSpPr/>
          <p:nvPr/>
        </p:nvCxnSpPr>
        <p:spPr bwMode="auto">
          <a:xfrm>
            <a:off x="1368479" y="3581756"/>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21" name="Straight Connector 120"/>
          <p:cNvCxnSpPr>
            <a:stCxn id="27" idx="7"/>
          </p:cNvCxnSpPr>
          <p:nvPr/>
        </p:nvCxnSpPr>
        <p:spPr bwMode="auto">
          <a:xfrm>
            <a:off x="2179710" y="3087612"/>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24" name="Straight Connector 123"/>
          <p:cNvCxnSpPr/>
          <p:nvPr/>
        </p:nvCxnSpPr>
        <p:spPr bwMode="auto">
          <a:xfrm>
            <a:off x="1261075" y="3719439"/>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29" name="Straight Connector 128"/>
          <p:cNvCxnSpPr/>
          <p:nvPr/>
        </p:nvCxnSpPr>
        <p:spPr bwMode="auto">
          <a:xfrm flipH="1">
            <a:off x="2157044" y="3716677"/>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33" name="Straight Connector 132"/>
          <p:cNvCxnSpPr/>
          <p:nvPr/>
        </p:nvCxnSpPr>
        <p:spPr bwMode="auto">
          <a:xfrm flipH="1">
            <a:off x="1248555" y="3100081"/>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nvGrpSpPr>
          <p:cNvPr id="137" name="Group 136"/>
          <p:cNvGrpSpPr/>
          <p:nvPr/>
        </p:nvGrpSpPr>
        <p:grpSpPr>
          <a:xfrm>
            <a:off x="3167773" y="1871068"/>
            <a:ext cx="2712783" cy="1853712"/>
            <a:chOff x="-2170772" y="2784954"/>
            <a:chExt cx="2712783" cy="1853712"/>
          </a:xfrm>
        </p:grpSpPr>
        <p:sp>
          <p:nvSpPr>
            <p:cNvPr id="138" name="Freeform 2"/>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139" name="Group 138"/>
            <p:cNvGrpSpPr/>
            <p:nvPr/>
          </p:nvGrpSpPr>
          <p:grpSpPr>
            <a:xfrm>
              <a:off x="-1935370" y="2935816"/>
              <a:ext cx="2333625" cy="1590649"/>
              <a:chOff x="833331" y="2873352"/>
              <a:chExt cx="2333625" cy="1590649"/>
            </a:xfrm>
          </p:grpSpPr>
          <p:grpSp>
            <p:nvGrpSpPr>
              <p:cNvPr id="140" name="Group 139"/>
              <p:cNvGrpSpPr/>
              <p:nvPr/>
            </p:nvGrpSpPr>
            <p:grpSpPr>
              <a:xfrm>
                <a:off x="1736090" y="2873352"/>
                <a:ext cx="565150" cy="369332"/>
                <a:chOff x="1736090" y="2873352"/>
                <a:chExt cx="565150" cy="369332"/>
              </a:xfrm>
            </p:grpSpPr>
            <p:grpSp>
              <p:nvGrpSpPr>
                <p:cNvPr id="189" name="Group 327"/>
                <p:cNvGrpSpPr/>
                <p:nvPr/>
              </p:nvGrpSpPr>
              <p:grpSpPr bwMode="auto">
                <a:xfrm>
                  <a:off x="1736090" y="2893762"/>
                  <a:ext cx="565150" cy="292100"/>
                  <a:chOff x="1871277" y="1576300"/>
                  <a:chExt cx="1128371" cy="437861"/>
                </a:xfrm>
              </p:grpSpPr>
              <p:sp>
                <p:nvSpPr>
                  <p:cNvPr id="193" name="Oval 19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4" name="Rectangle 19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5" name="Oval 19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6" name="Freeform 19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7" name="Freeform 19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8" name="Freeform 19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9" name="Freeform 19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00" name="Straight Connector 199"/>
                  <p:cNvCxnSpPr>
                    <a:endCxn id="19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1" name="Straight Connector 20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0" name="Group 189"/>
                <p:cNvGrpSpPr/>
                <p:nvPr/>
              </p:nvGrpSpPr>
              <p:grpSpPr>
                <a:xfrm>
                  <a:off x="1770362" y="2873352"/>
                  <a:ext cx="441422" cy="369332"/>
                  <a:chOff x="667045" y="1708643"/>
                  <a:chExt cx="441422" cy="369332"/>
                </a:xfrm>
              </p:grpSpPr>
              <p:sp>
                <p:nvSpPr>
                  <p:cNvPr id="191" name="Oval 19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2" name="TextBox 191"/>
                  <p:cNvSpPr txBox="1"/>
                  <p:nvPr/>
                </p:nvSpPr>
                <p:spPr>
                  <a:xfrm>
                    <a:off x="667045" y="1708643"/>
                    <a:ext cx="441422" cy="369332"/>
                  </a:xfrm>
                  <a:prstGeom prst="rect">
                    <a:avLst/>
                  </a:prstGeom>
                  <a:noFill/>
                </p:spPr>
                <p:txBody>
                  <a:bodyPr wrap="none" rtlCol="0">
                    <a:spAutoFit/>
                  </a:bodyPr>
                  <a:lstStyle/>
                  <a:p>
                    <a:r>
                      <a:rPr lang="en-US" dirty="0"/>
                      <a:t>2b</a:t>
                    </a:r>
                  </a:p>
                </p:txBody>
              </p:sp>
            </p:grpSp>
          </p:grpSp>
          <p:grpSp>
            <p:nvGrpSpPr>
              <p:cNvPr id="141" name="Group 140"/>
              <p:cNvGrpSpPr/>
              <p:nvPr/>
            </p:nvGrpSpPr>
            <p:grpSpPr>
              <a:xfrm>
                <a:off x="1740320" y="4094669"/>
                <a:ext cx="565150" cy="369332"/>
                <a:chOff x="1736090" y="2873352"/>
                <a:chExt cx="565150" cy="369332"/>
              </a:xfrm>
            </p:grpSpPr>
            <p:grpSp>
              <p:nvGrpSpPr>
                <p:cNvPr id="176" name="Group 327"/>
                <p:cNvGrpSpPr/>
                <p:nvPr/>
              </p:nvGrpSpPr>
              <p:grpSpPr bwMode="auto">
                <a:xfrm>
                  <a:off x="1736090" y="2893762"/>
                  <a:ext cx="565150" cy="292100"/>
                  <a:chOff x="1871277" y="1576300"/>
                  <a:chExt cx="1128371" cy="437861"/>
                </a:xfrm>
              </p:grpSpPr>
              <p:sp>
                <p:nvSpPr>
                  <p:cNvPr id="180" name="Oval 17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1" name="Rectangle 18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Oval 18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3" name="Freeform 18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4" name="Freeform 18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5" name="Freeform 18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6" name="Freeform 18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7" name="Straight Connector 186"/>
                  <p:cNvCxnSpPr>
                    <a:endCxn id="18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8" name="Straight Connector 18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7" name="Group 176"/>
                <p:cNvGrpSpPr/>
                <p:nvPr/>
              </p:nvGrpSpPr>
              <p:grpSpPr>
                <a:xfrm>
                  <a:off x="1770362" y="2873352"/>
                  <a:ext cx="441422" cy="369332"/>
                  <a:chOff x="667045" y="1708643"/>
                  <a:chExt cx="441422" cy="369332"/>
                </a:xfrm>
              </p:grpSpPr>
              <p:sp>
                <p:nvSpPr>
                  <p:cNvPr id="178" name="Oval 17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9" name="TextBox 178"/>
                  <p:cNvSpPr txBox="1"/>
                  <p:nvPr/>
                </p:nvSpPr>
                <p:spPr>
                  <a:xfrm>
                    <a:off x="667045" y="1708643"/>
                    <a:ext cx="441422" cy="369332"/>
                  </a:xfrm>
                  <a:prstGeom prst="rect">
                    <a:avLst/>
                  </a:prstGeom>
                  <a:noFill/>
                </p:spPr>
                <p:txBody>
                  <a:bodyPr wrap="none" rtlCol="0">
                    <a:spAutoFit/>
                  </a:bodyPr>
                  <a:lstStyle/>
                  <a:p>
                    <a:r>
                      <a:rPr lang="en-US" dirty="0"/>
                      <a:t>2d</a:t>
                    </a:r>
                  </a:p>
                </p:txBody>
              </p:sp>
            </p:grpSp>
          </p:grpSp>
          <p:grpSp>
            <p:nvGrpSpPr>
              <p:cNvPr id="142" name="Group 141"/>
              <p:cNvGrpSpPr/>
              <p:nvPr/>
            </p:nvGrpSpPr>
            <p:grpSpPr>
              <a:xfrm>
                <a:off x="2601806" y="3485072"/>
                <a:ext cx="565150" cy="369332"/>
                <a:chOff x="1736090" y="2873352"/>
                <a:chExt cx="565150" cy="369332"/>
              </a:xfrm>
            </p:grpSpPr>
            <p:grpSp>
              <p:nvGrpSpPr>
                <p:cNvPr id="163" name="Group 327"/>
                <p:cNvGrpSpPr/>
                <p:nvPr/>
              </p:nvGrpSpPr>
              <p:grpSpPr bwMode="auto">
                <a:xfrm>
                  <a:off x="1736090" y="2893762"/>
                  <a:ext cx="565150" cy="292100"/>
                  <a:chOff x="1871277" y="1576300"/>
                  <a:chExt cx="1128371" cy="437861"/>
                </a:xfrm>
              </p:grpSpPr>
              <p:sp>
                <p:nvSpPr>
                  <p:cNvPr id="167" name="Oval 16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8" name="Rectangle 16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Oval 16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0" name="Freeform 16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1" name="Freeform 17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2" name="Freeform 17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3" name="Freeform 17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4" name="Straight Connector 173"/>
                  <p:cNvCxnSpPr>
                    <a:endCxn id="16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5" name="Straight Connector 17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4" name="Group 163"/>
                <p:cNvGrpSpPr/>
                <p:nvPr/>
              </p:nvGrpSpPr>
              <p:grpSpPr>
                <a:xfrm>
                  <a:off x="1770362" y="2873352"/>
                  <a:ext cx="428460" cy="369332"/>
                  <a:chOff x="667045" y="1708643"/>
                  <a:chExt cx="428460" cy="369332"/>
                </a:xfrm>
              </p:grpSpPr>
              <p:sp>
                <p:nvSpPr>
                  <p:cNvPr id="165" name="Oval 16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6" name="TextBox 165"/>
                  <p:cNvSpPr txBox="1"/>
                  <p:nvPr/>
                </p:nvSpPr>
                <p:spPr>
                  <a:xfrm>
                    <a:off x="667045" y="1708643"/>
                    <a:ext cx="428460" cy="369332"/>
                  </a:xfrm>
                  <a:prstGeom prst="rect">
                    <a:avLst/>
                  </a:prstGeom>
                  <a:noFill/>
                </p:spPr>
                <p:txBody>
                  <a:bodyPr wrap="none" rtlCol="0">
                    <a:spAutoFit/>
                  </a:bodyPr>
                  <a:lstStyle/>
                  <a:p>
                    <a:r>
                      <a:rPr lang="en-US" dirty="0"/>
                      <a:t>2c</a:t>
                    </a:r>
                  </a:p>
                </p:txBody>
              </p:sp>
            </p:grpSp>
          </p:grpSp>
          <p:grpSp>
            <p:nvGrpSpPr>
              <p:cNvPr id="143" name="Group 142"/>
              <p:cNvGrpSpPr/>
              <p:nvPr/>
            </p:nvGrpSpPr>
            <p:grpSpPr>
              <a:xfrm>
                <a:off x="833331" y="3478719"/>
                <a:ext cx="565150" cy="369332"/>
                <a:chOff x="1736090" y="2873352"/>
                <a:chExt cx="565150" cy="369332"/>
              </a:xfrm>
            </p:grpSpPr>
            <p:grpSp>
              <p:nvGrpSpPr>
                <p:cNvPr id="150" name="Group 327"/>
                <p:cNvGrpSpPr/>
                <p:nvPr/>
              </p:nvGrpSpPr>
              <p:grpSpPr bwMode="auto">
                <a:xfrm>
                  <a:off x="1736090" y="2893762"/>
                  <a:ext cx="565150" cy="292100"/>
                  <a:chOff x="1871277" y="1576300"/>
                  <a:chExt cx="1128371" cy="437861"/>
                </a:xfrm>
              </p:grpSpPr>
              <p:sp>
                <p:nvSpPr>
                  <p:cNvPr id="154" name="Oval 15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5" name="Rectangle 15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6" name="Oval 15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7" name="Freeform 15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8" name="Freeform 15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9" name="Freeform 15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0" name="Freeform 15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1" name="Straight Connector 160"/>
                  <p:cNvCxnSpPr>
                    <a:endCxn id="15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62" name="Straight Connector 16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1" name="Group 150"/>
                <p:cNvGrpSpPr/>
                <p:nvPr/>
              </p:nvGrpSpPr>
              <p:grpSpPr>
                <a:xfrm>
                  <a:off x="1770362" y="2873352"/>
                  <a:ext cx="441422" cy="369332"/>
                  <a:chOff x="667045" y="1708643"/>
                  <a:chExt cx="441422" cy="369332"/>
                </a:xfrm>
              </p:grpSpPr>
              <p:sp>
                <p:nvSpPr>
                  <p:cNvPr id="152" name="Oval 15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53" name="TextBox 152"/>
                  <p:cNvSpPr txBox="1"/>
                  <p:nvPr/>
                </p:nvSpPr>
                <p:spPr>
                  <a:xfrm>
                    <a:off x="667045" y="1708643"/>
                    <a:ext cx="441422" cy="369332"/>
                  </a:xfrm>
                  <a:prstGeom prst="rect">
                    <a:avLst/>
                  </a:prstGeom>
                  <a:noFill/>
                </p:spPr>
                <p:txBody>
                  <a:bodyPr wrap="none" rtlCol="0">
                    <a:spAutoFit/>
                  </a:bodyPr>
                  <a:lstStyle/>
                  <a:p>
                    <a:r>
                      <a:rPr lang="en-US" dirty="0"/>
                      <a:t>2a</a:t>
                    </a:r>
                  </a:p>
                </p:txBody>
              </p:sp>
            </p:grpSp>
          </p:grpSp>
          <p:cxnSp>
            <p:nvCxnSpPr>
              <p:cNvPr id="144" name="Straight Connector 143"/>
              <p:cNvCxnSpPr>
                <a:stCxn id="192" idx="2"/>
                <a:endCxn id="179"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5" name="Straight Connector 144"/>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6" name="Straight Connector 145"/>
              <p:cNvCxnSpPr>
                <a:stCxn id="193"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7" name="Straight Connector 146"/>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8" name="Straight Connector 147"/>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9" name="Straight Connector 148"/>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grpSp>
      <p:grpSp>
        <p:nvGrpSpPr>
          <p:cNvPr id="202" name="Group 201"/>
          <p:cNvGrpSpPr/>
          <p:nvPr/>
        </p:nvGrpSpPr>
        <p:grpSpPr>
          <a:xfrm>
            <a:off x="5839067" y="2689747"/>
            <a:ext cx="2712783" cy="1853712"/>
            <a:chOff x="-2170772" y="2784954"/>
            <a:chExt cx="2712783" cy="1853712"/>
          </a:xfrm>
        </p:grpSpPr>
        <p:sp>
          <p:nvSpPr>
            <p:cNvPr id="203" name="Freeform 2"/>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204" name="Group 203"/>
            <p:cNvGrpSpPr/>
            <p:nvPr/>
          </p:nvGrpSpPr>
          <p:grpSpPr>
            <a:xfrm>
              <a:off x="-1935370" y="2935816"/>
              <a:ext cx="2333625" cy="1590649"/>
              <a:chOff x="833331" y="2873352"/>
              <a:chExt cx="2333625" cy="1590649"/>
            </a:xfrm>
          </p:grpSpPr>
          <p:grpSp>
            <p:nvGrpSpPr>
              <p:cNvPr id="205" name="Group 204"/>
              <p:cNvGrpSpPr/>
              <p:nvPr/>
            </p:nvGrpSpPr>
            <p:grpSpPr>
              <a:xfrm>
                <a:off x="1736090" y="2873352"/>
                <a:ext cx="565150" cy="369332"/>
                <a:chOff x="1736090" y="2873352"/>
                <a:chExt cx="565150" cy="369332"/>
              </a:xfrm>
            </p:grpSpPr>
            <p:grpSp>
              <p:nvGrpSpPr>
                <p:cNvPr id="254" name="Group 327"/>
                <p:cNvGrpSpPr/>
                <p:nvPr/>
              </p:nvGrpSpPr>
              <p:grpSpPr bwMode="auto">
                <a:xfrm>
                  <a:off x="1736090" y="2893762"/>
                  <a:ext cx="565150" cy="292100"/>
                  <a:chOff x="1871277" y="1576300"/>
                  <a:chExt cx="1128371" cy="437861"/>
                </a:xfrm>
              </p:grpSpPr>
              <p:sp>
                <p:nvSpPr>
                  <p:cNvPr id="258" name="Oval 25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9" name="Rectangle 25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0" name="Oval 25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1" name="Freeform 26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2" name="Freeform 26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3" name="Freeform 26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4" name="Freeform 26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65" name="Straight Connector 264"/>
                  <p:cNvCxnSpPr>
                    <a:endCxn id="26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6" name="Straight Connector 26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55" name="Group 254"/>
                <p:cNvGrpSpPr/>
                <p:nvPr/>
              </p:nvGrpSpPr>
              <p:grpSpPr>
                <a:xfrm>
                  <a:off x="1770362" y="2873352"/>
                  <a:ext cx="441422" cy="369332"/>
                  <a:chOff x="667045" y="1708643"/>
                  <a:chExt cx="441422" cy="369332"/>
                </a:xfrm>
              </p:grpSpPr>
              <p:sp>
                <p:nvSpPr>
                  <p:cNvPr id="256" name="Oval 25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7" name="TextBox 256"/>
                  <p:cNvSpPr txBox="1"/>
                  <p:nvPr/>
                </p:nvSpPr>
                <p:spPr>
                  <a:xfrm>
                    <a:off x="667045" y="1708643"/>
                    <a:ext cx="441422" cy="369332"/>
                  </a:xfrm>
                  <a:prstGeom prst="rect">
                    <a:avLst/>
                  </a:prstGeom>
                  <a:noFill/>
                </p:spPr>
                <p:txBody>
                  <a:bodyPr wrap="none" rtlCol="0">
                    <a:spAutoFit/>
                  </a:bodyPr>
                  <a:lstStyle/>
                  <a:p>
                    <a:r>
                      <a:rPr lang="en-US" dirty="0"/>
                      <a:t>3b</a:t>
                    </a:r>
                  </a:p>
                </p:txBody>
              </p:sp>
            </p:grpSp>
          </p:grpSp>
          <p:grpSp>
            <p:nvGrpSpPr>
              <p:cNvPr id="206" name="Group 205"/>
              <p:cNvGrpSpPr/>
              <p:nvPr/>
            </p:nvGrpSpPr>
            <p:grpSpPr>
              <a:xfrm>
                <a:off x="1740320" y="4094669"/>
                <a:ext cx="565150" cy="369332"/>
                <a:chOff x="1736090" y="2873352"/>
                <a:chExt cx="565150" cy="369332"/>
              </a:xfrm>
            </p:grpSpPr>
            <p:grpSp>
              <p:nvGrpSpPr>
                <p:cNvPr id="241" name="Group 327"/>
                <p:cNvGrpSpPr/>
                <p:nvPr/>
              </p:nvGrpSpPr>
              <p:grpSpPr bwMode="auto">
                <a:xfrm>
                  <a:off x="1736090" y="2893762"/>
                  <a:ext cx="565150" cy="292100"/>
                  <a:chOff x="1871277" y="1576300"/>
                  <a:chExt cx="1128371" cy="437861"/>
                </a:xfrm>
              </p:grpSpPr>
              <p:sp>
                <p:nvSpPr>
                  <p:cNvPr id="245" name="Oval 24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6" name="Rectangle 24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7" name="Oval 24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8" name="Freeform 24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9" name="Freeform 24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0" name="Freeform 24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1" name="Freeform 25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2" name="Straight Connector 251"/>
                  <p:cNvCxnSpPr>
                    <a:endCxn id="24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53" name="Straight Connector 25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2" name="Group 241"/>
                <p:cNvGrpSpPr/>
                <p:nvPr/>
              </p:nvGrpSpPr>
              <p:grpSpPr>
                <a:xfrm>
                  <a:off x="1770362" y="2873352"/>
                  <a:ext cx="441422" cy="369332"/>
                  <a:chOff x="667045" y="1708643"/>
                  <a:chExt cx="441422" cy="369332"/>
                </a:xfrm>
              </p:grpSpPr>
              <p:sp>
                <p:nvSpPr>
                  <p:cNvPr id="243" name="Oval 24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44" name="TextBox 243"/>
                  <p:cNvSpPr txBox="1"/>
                  <p:nvPr/>
                </p:nvSpPr>
                <p:spPr>
                  <a:xfrm>
                    <a:off x="667045" y="1708643"/>
                    <a:ext cx="441422" cy="369332"/>
                  </a:xfrm>
                  <a:prstGeom prst="rect">
                    <a:avLst/>
                  </a:prstGeom>
                  <a:noFill/>
                </p:spPr>
                <p:txBody>
                  <a:bodyPr wrap="none" rtlCol="0">
                    <a:spAutoFit/>
                  </a:bodyPr>
                  <a:lstStyle/>
                  <a:p>
                    <a:r>
                      <a:rPr lang="en-US" dirty="0"/>
                      <a:t>3d</a:t>
                    </a:r>
                  </a:p>
                </p:txBody>
              </p:sp>
            </p:grpSp>
          </p:grpSp>
          <p:grpSp>
            <p:nvGrpSpPr>
              <p:cNvPr id="207" name="Group 206"/>
              <p:cNvGrpSpPr/>
              <p:nvPr/>
            </p:nvGrpSpPr>
            <p:grpSpPr>
              <a:xfrm>
                <a:off x="2601806" y="3485072"/>
                <a:ext cx="565150" cy="369332"/>
                <a:chOff x="1736090" y="2873352"/>
                <a:chExt cx="565150" cy="369332"/>
              </a:xfrm>
            </p:grpSpPr>
            <p:grpSp>
              <p:nvGrpSpPr>
                <p:cNvPr id="228" name="Group 327"/>
                <p:cNvGrpSpPr/>
                <p:nvPr/>
              </p:nvGrpSpPr>
              <p:grpSpPr bwMode="auto">
                <a:xfrm>
                  <a:off x="1736090" y="2893762"/>
                  <a:ext cx="565150" cy="292100"/>
                  <a:chOff x="1871277" y="1576300"/>
                  <a:chExt cx="1128371" cy="437861"/>
                </a:xfrm>
              </p:grpSpPr>
              <p:sp>
                <p:nvSpPr>
                  <p:cNvPr id="232" name="Oval 23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3" name="Rectangle 23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4" name="Oval 23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5" name="Freeform 23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6" name="Freeform 23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7" name="Freeform 23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8" name="Freeform 23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9" name="Straight Connector 238"/>
                  <p:cNvCxnSpPr>
                    <a:endCxn id="23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0" name="Straight Connector 23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9" name="Group 228"/>
                <p:cNvGrpSpPr/>
                <p:nvPr/>
              </p:nvGrpSpPr>
              <p:grpSpPr>
                <a:xfrm>
                  <a:off x="1770362" y="2873352"/>
                  <a:ext cx="428460" cy="369332"/>
                  <a:chOff x="667045" y="1708643"/>
                  <a:chExt cx="428460" cy="369332"/>
                </a:xfrm>
              </p:grpSpPr>
              <p:sp>
                <p:nvSpPr>
                  <p:cNvPr id="230" name="Oval 22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1" name="TextBox 230"/>
                  <p:cNvSpPr txBox="1"/>
                  <p:nvPr/>
                </p:nvSpPr>
                <p:spPr>
                  <a:xfrm>
                    <a:off x="667045" y="1708643"/>
                    <a:ext cx="428460" cy="369332"/>
                  </a:xfrm>
                  <a:prstGeom prst="rect">
                    <a:avLst/>
                  </a:prstGeom>
                  <a:noFill/>
                </p:spPr>
                <p:txBody>
                  <a:bodyPr wrap="none" rtlCol="0">
                    <a:spAutoFit/>
                  </a:bodyPr>
                  <a:lstStyle/>
                  <a:p>
                    <a:r>
                      <a:rPr lang="en-US" dirty="0"/>
                      <a:t>3c</a:t>
                    </a:r>
                  </a:p>
                </p:txBody>
              </p:sp>
            </p:grpSp>
          </p:grpSp>
          <p:grpSp>
            <p:nvGrpSpPr>
              <p:cNvPr id="208" name="Group 207"/>
              <p:cNvGrpSpPr/>
              <p:nvPr/>
            </p:nvGrpSpPr>
            <p:grpSpPr>
              <a:xfrm>
                <a:off x="833331" y="3478719"/>
                <a:ext cx="565150" cy="369332"/>
                <a:chOff x="1736090" y="2873352"/>
                <a:chExt cx="565150" cy="369332"/>
              </a:xfrm>
            </p:grpSpPr>
            <p:grpSp>
              <p:nvGrpSpPr>
                <p:cNvPr id="215" name="Group 327"/>
                <p:cNvGrpSpPr/>
                <p:nvPr/>
              </p:nvGrpSpPr>
              <p:grpSpPr bwMode="auto">
                <a:xfrm>
                  <a:off x="1736090" y="2893762"/>
                  <a:ext cx="565150" cy="292100"/>
                  <a:chOff x="1871277" y="1576300"/>
                  <a:chExt cx="1128371" cy="437861"/>
                </a:xfrm>
              </p:grpSpPr>
              <p:sp>
                <p:nvSpPr>
                  <p:cNvPr id="219" name="Oval 21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0" name="Rectangle 21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1" name="Oval 22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2" name="Freeform 22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3" name="Freeform 22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4" name="Freeform 22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5" name="Freeform 22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6" name="Straight Connector 225"/>
                  <p:cNvCxnSpPr>
                    <a:endCxn id="22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7" name="Straight Connector 22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6" name="Group 215"/>
                <p:cNvGrpSpPr/>
                <p:nvPr/>
              </p:nvGrpSpPr>
              <p:grpSpPr>
                <a:xfrm>
                  <a:off x="1770362" y="2873352"/>
                  <a:ext cx="441422" cy="369332"/>
                  <a:chOff x="667045" y="1708643"/>
                  <a:chExt cx="441422" cy="369332"/>
                </a:xfrm>
              </p:grpSpPr>
              <p:sp>
                <p:nvSpPr>
                  <p:cNvPr id="217" name="Oval 21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8" name="TextBox 217"/>
                  <p:cNvSpPr txBox="1"/>
                  <p:nvPr/>
                </p:nvSpPr>
                <p:spPr>
                  <a:xfrm>
                    <a:off x="667045" y="1708643"/>
                    <a:ext cx="441422" cy="369332"/>
                  </a:xfrm>
                  <a:prstGeom prst="rect">
                    <a:avLst/>
                  </a:prstGeom>
                  <a:noFill/>
                </p:spPr>
                <p:txBody>
                  <a:bodyPr wrap="none" rtlCol="0">
                    <a:spAutoFit/>
                  </a:bodyPr>
                  <a:lstStyle/>
                  <a:p>
                    <a:r>
                      <a:rPr lang="en-US" dirty="0"/>
                      <a:t>3a</a:t>
                    </a:r>
                  </a:p>
                </p:txBody>
              </p:sp>
            </p:grpSp>
          </p:grpSp>
          <p:cxnSp>
            <p:nvCxnSpPr>
              <p:cNvPr id="209" name="Straight Connector 208"/>
              <p:cNvCxnSpPr>
                <a:stCxn id="257" idx="2"/>
                <a:endCxn id="244"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10" name="Straight Connector 20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11" name="Straight Connector 210"/>
              <p:cNvCxnSpPr>
                <a:stCxn id="258"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12" name="Straight Connector 21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13" name="Straight Connector 21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14" name="Straight Connector 21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grpSp>
      <p:cxnSp>
        <p:nvCxnSpPr>
          <p:cNvPr id="268" name="Straight Connector 267"/>
          <p:cNvCxnSpPr/>
          <p:nvPr/>
        </p:nvCxnSpPr>
        <p:spPr bwMode="auto">
          <a:xfrm flipH="1">
            <a:off x="3020975" y="2930574"/>
            <a:ext cx="495463" cy="495451"/>
          </a:xfrm>
          <a:prstGeom prst="line">
            <a:avLst/>
          </a:prstGeom>
          <a:solidFill>
            <a:schemeClr val="accent1"/>
          </a:solidFill>
          <a:ln w="38100" cap="flat" cmpd="sng" algn="ctr">
            <a:solidFill>
              <a:srgbClr val="CC0000"/>
            </a:solidFill>
            <a:prstDash val="dash"/>
            <a:round/>
            <a:headEnd type="none" w="med" len="med"/>
            <a:tailEnd type="none" w="med" len="med"/>
          </a:ln>
          <a:effectLst/>
        </p:spPr>
      </p:cxnSp>
      <p:cxnSp>
        <p:nvCxnSpPr>
          <p:cNvPr id="270" name="Straight Connector 269"/>
          <p:cNvCxnSpPr>
            <a:endCxn id="167" idx="7"/>
          </p:cNvCxnSpPr>
          <p:nvPr/>
        </p:nvCxnSpPr>
        <p:spPr bwMode="auto">
          <a:xfrm flipH="1" flipV="1">
            <a:off x="5654268" y="2914775"/>
            <a:ext cx="498946" cy="573893"/>
          </a:xfrm>
          <a:prstGeom prst="line">
            <a:avLst/>
          </a:prstGeom>
          <a:solidFill>
            <a:schemeClr val="accent1"/>
          </a:solidFill>
          <a:ln w="38100" cap="flat" cmpd="sng" algn="ctr">
            <a:solidFill>
              <a:srgbClr val="CC0000"/>
            </a:solidFill>
            <a:prstDash val="dash"/>
            <a:round/>
            <a:headEnd type="none" w="med" len="med"/>
            <a:tailEnd type="none" w="med" len="med"/>
          </a:ln>
          <a:effectLst/>
        </p:spPr>
      </p:cxnSp>
      <p:sp>
        <p:nvSpPr>
          <p:cNvPr id="276" name="TextBox 275"/>
          <p:cNvSpPr txBox="1"/>
          <p:nvPr/>
        </p:nvSpPr>
        <p:spPr>
          <a:xfrm>
            <a:off x="4235227" y="3833361"/>
            <a:ext cx="753532" cy="400110"/>
          </a:xfrm>
          <a:prstGeom prst="rect">
            <a:avLst/>
          </a:prstGeom>
          <a:noFill/>
        </p:spPr>
        <p:txBody>
          <a:bodyPr wrap="none" rtlCol="0">
            <a:spAutoFit/>
          </a:bodyPr>
          <a:lstStyle/>
          <a:p>
            <a:r>
              <a:rPr lang="en-US" sz="2000" dirty="0">
                <a:solidFill>
                  <a:srgbClr val="000090"/>
                </a:solidFill>
              </a:rPr>
              <a:t>AS 2</a:t>
            </a:r>
          </a:p>
        </p:txBody>
      </p:sp>
      <p:sp>
        <p:nvSpPr>
          <p:cNvPr id="278" name="TextBox 277"/>
          <p:cNvSpPr txBox="1"/>
          <p:nvPr/>
        </p:nvSpPr>
        <p:spPr>
          <a:xfrm>
            <a:off x="6906520" y="4589577"/>
            <a:ext cx="753532" cy="400110"/>
          </a:xfrm>
          <a:prstGeom prst="rect">
            <a:avLst/>
          </a:prstGeom>
          <a:noFill/>
        </p:spPr>
        <p:txBody>
          <a:bodyPr wrap="none" rtlCol="0">
            <a:spAutoFit/>
          </a:bodyPr>
          <a:lstStyle/>
          <a:p>
            <a:r>
              <a:rPr lang="en-US" sz="2000" dirty="0">
                <a:solidFill>
                  <a:srgbClr val="000090"/>
                </a:solidFill>
              </a:rPr>
              <a:t>AS 3</a:t>
            </a:r>
          </a:p>
        </p:txBody>
      </p:sp>
      <p:sp>
        <p:nvSpPr>
          <p:cNvPr id="284" name="TextBox 283"/>
          <p:cNvSpPr txBox="1"/>
          <p:nvPr/>
        </p:nvSpPr>
        <p:spPr>
          <a:xfrm>
            <a:off x="1625604" y="4533765"/>
            <a:ext cx="753532" cy="400110"/>
          </a:xfrm>
          <a:prstGeom prst="rect">
            <a:avLst/>
          </a:prstGeom>
          <a:noFill/>
        </p:spPr>
        <p:txBody>
          <a:bodyPr wrap="none" rtlCol="0">
            <a:spAutoFit/>
          </a:bodyPr>
          <a:lstStyle/>
          <a:p>
            <a:r>
              <a:rPr lang="en-US" sz="2000" dirty="0">
                <a:solidFill>
                  <a:srgbClr val="000090"/>
                </a:solidFill>
              </a:rPr>
              <a:t>AS 1</a:t>
            </a:r>
          </a:p>
        </p:txBody>
      </p:sp>
      <p:pic>
        <p:nvPicPr>
          <p:cNvPr id="286" name="Picture 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9438" y="1074881"/>
            <a:ext cx="5790370" cy="134465"/>
          </a:xfrm>
          <a:prstGeom prst="rect">
            <a:avLst/>
          </a:prstGeom>
          <a:noFill/>
          <a:ln>
            <a:noFill/>
          </a:ln>
        </p:spPr>
      </p:pic>
      <p:sp>
        <p:nvSpPr>
          <p:cNvPr id="267"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73</a:t>
            </a:fld>
            <a:endParaRPr lang="en-US" sz="1200" dirty="0">
              <a:latin typeface="Tahoma" panose="020B0604030504040204" charset="0"/>
            </a:endParaRPr>
          </a:p>
        </p:txBody>
      </p:sp>
      <p:sp>
        <p:nvSpPr>
          <p:cNvPr id="26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grpSp>
        <p:nvGrpSpPr>
          <p:cNvPr id="6" name="Group 5"/>
          <p:cNvGrpSpPr/>
          <p:nvPr/>
        </p:nvGrpSpPr>
        <p:grpSpPr>
          <a:xfrm>
            <a:off x="1020408" y="2368720"/>
            <a:ext cx="6345022" cy="3959125"/>
            <a:chOff x="1020408" y="2368720"/>
            <a:chExt cx="6345022" cy="3959125"/>
          </a:xfrm>
        </p:grpSpPr>
        <p:grpSp>
          <p:nvGrpSpPr>
            <p:cNvPr id="4" name="Group 3"/>
            <p:cNvGrpSpPr/>
            <p:nvPr/>
          </p:nvGrpSpPr>
          <p:grpSpPr>
            <a:xfrm>
              <a:off x="1020408" y="2368720"/>
              <a:ext cx="5734325" cy="3959125"/>
              <a:chOff x="1020408" y="2368720"/>
              <a:chExt cx="5734325" cy="3959125"/>
            </a:xfrm>
          </p:grpSpPr>
          <p:grpSp>
            <p:nvGrpSpPr>
              <p:cNvPr id="271" name="Group 270"/>
              <p:cNvGrpSpPr/>
              <p:nvPr/>
            </p:nvGrpSpPr>
            <p:grpSpPr>
              <a:xfrm>
                <a:off x="1146544" y="5725901"/>
                <a:ext cx="565150" cy="369332"/>
                <a:chOff x="1736090" y="2873352"/>
                <a:chExt cx="565150" cy="369332"/>
              </a:xfrm>
            </p:grpSpPr>
            <p:grpSp>
              <p:nvGrpSpPr>
                <p:cNvPr id="272" name="Group 327"/>
                <p:cNvGrpSpPr/>
                <p:nvPr/>
              </p:nvGrpSpPr>
              <p:grpSpPr bwMode="auto">
                <a:xfrm>
                  <a:off x="1736090" y="2893762"/>
                  <a:ext cx="565150" cy="292100"/>
                  <a:chOff x="1871277" y="1576300"/>
                  <a:chExt cx="1128371" cy="437861"/>
                </a:xfrm>
              </p:grpSpPr>
              <p:sp>
                <p:nvSpPr>
                  <p:cNvPr id="280" name="Oval 27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7" name="Rectangle 28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8" name="Oval 28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9" name="Freeform 28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0" name="Freeform 28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1" name="Freeform 29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Freeform 29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3" name="Straight Connector 292"/>
                  <p:cNvCxnSpPr>
                    <a:endCxn id="28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4" name="Straight Connector 29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5" name="Group 274"/>
                <p:cNvGrpSpPr/>
                <p:nvPr/>
              </p:nvGrpSpPr>
              <p:grpSpPr>
                <a:xfrm>
                  <a:off x="1770362" y="2873352"/>
                  <a:ext cx="428460" cy="369332"/>
                  <a:chOff x="667045" y="1708643"/>
                  <a:chExt cx="428460" cy="369332"/>
                </a:xfrm>
              </p:grpSpPr>
              <p:sp>
                <p:nvSpPr>
                  <p:cNvPr id="277" name="Oval 27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9" name="TextBox 278"/>
                  <p:cNvSpPr txBox="1"/>
                  <p:nvPr/>
                </p:nvSpPr>
                <p:spPr>
                  <a:xfrm>
                    <a:off x="667045" y="1708643"/>
                    <a:ext cx="428460" cy="369332"/>
                  </a:xfrm>
                  <a:prstGeom prst="rect">
                    <a:avLst/>
                  </a:prstGeom>
                  <a:noFill/>
                </p:spPr>
                <p:txBody>
                  <a:bodyPr wrap="none" rtlCol="0">
                    <a:spAutoFit/>
                  </a:bodyPr>
                  <a:lstStyle/>
                  <a:p>
                    <a:r>
                      <a:rPr lang="en-US" dirty="0"/>
                      <a:t>1c</a:t>
                    </a:r>
                  </a:p>
                </p:txBody>
              </p:sp>
            </p:grpSp>
          </p:grpSp>
          <p:sp>
            <p:nvSpPr>
              <p:cNvPr id="3" name="Oval 2"/>
              <p:cNvSpPr/>
              <p:nvPr/>
            </p:nvSpPr>
            <p:spPr bwMode="auto">
              <a:xfrm>
                <a:off x="1020408" y="5511349"/>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5" name="Oval 294"/>
              <p:cNvSpPr/>
              <p:nvPr/>
            </p:nvSpPr>
            <p:spPr bwMode="auto">
              <a:xfrm>
                <a:off x="2442651" y="3191580"/>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6" name="Oval 295"/>
              <p:cNvSpPr/>
              <p:nvPr/>
            </p:nvSpPr>
            <p:spPr bwMode="auto">
              <a:xfrm>
                <a:off x="3252649" y="2368720"/>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7" name="Oval 296"/>
              <p:cNvSpPr/>
              <p:nvPr/>
            </p:nvSpPr>
            <p:spPr bwMode="auto">
              <a:xfrm>
                <a:off x="5037704" y="2453079"/>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t>∂</a:t>
                </a:r>
              </a:p>
            </p:txBody>
          </p:sp>
          <p:sp>
            <p:nvSpPr>
              <p:cNvPr id="298" name="Oval 297"/>
              <p:cNvSpPr/>
              <p:nvPr/>
            </p:nvSpPr>
            <p:spPr bwMode="auto">
              <a:xfrm>
                <a:off x="5915729" y="3217852"/>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t>∂</a:t>
                </a:r>
              </a:p>
            </p:txBody>
          </p:sp>
        </p:grpSp>
        <p:sp>
          <p:nvSpPr>
            <p:cNvPr id="5" name="TextBox 4"/>
            <p:cNvSpPr txBox="1"/>
            <p:nvPr/>
          </p:nvSpPr>
          <p:spPr>
            <a:xfrm>
              <a:off x="2018143" y="5692792"/>
              <a:ext cx="5347287" cy="369332"/>
            </a:xfrm>
            <a:prstGeom prst="rect">
              <a:avLst/>
            </a:prstGeom>
            <a:noFill/>
          </p:spPr>
          <p:txBody>
            <a:bodyPr wrap="none" rtlCol="0">
              <a:spAutoFit/>
            </a:bodyPr>
            <a:lstStyle/>
            <a:p>
              <a:r>
                <a:rPr lang="en-US" dirty="0"/>
                <a:t>gateway routers run both eBGP and iBGP </a:t>
              </a:r>
              <a:r>
                <a:rPr lang="en-US" dirty="0" err="1"/>
                <a:t>protools</a:t>
              </a:r>
              <a:endParaRPr lang="en-US" dirty="0"/>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a:xfrm>
            <a:off x="533400" y="0"/>
            <a:ext cx="7772400" cy="1143000"/>
          </a:xfrm>
        </p:spPr>
        <p:txBody>
          <a:bodyPr/>
          <a:lstStyle/>
          <a:p>
            <a:pPr>
              <a:defRPr/>
            </a:pPr>
            <a:r>
              <a:rPr lang="en-US">
                <a:cs typeface="+mj-cs"/>
              </a:rPr>
              <a:t>BGP basics</a:t>
            </a:r>
          </a:p>
        </p:txBody>
      </p:sp>
      <p:sp>
        <p:nvSpPr>
          <p:cNvPr id="753668" name="Rectangle 4"/>
          <p:cNvSpPr>
            <a:spLocks noGrp="1" noChangeArrowheads="1"/>
          </p:cNvSpPr>
          <p:nvPr>
            <p:ph type="body" idx="1"/>
          </p:nvPr>
        </p:nvSpPr>
        <p:spPr>
          <a:xfrm>
            <a:off x="579438" y="2478283"/>
            <a:ext cx="8505825" cy="1234021"/>
          </a:xfrm>
        </p:spPr>
        <p:txBody>
          <a:bodyPr/>
          <a:lstStyle/>
          <a:p>
            <a:pPr marL="282575" indent="-282575"/>
            <a:r>
              <a:rPr lang="en-US" sz="2400" dirty="0">
                <a:latin typeface="Gill Sans MT" pitchFamily="34" charset="0"/>
              </a:rPr>
              <a:t>when AS3 gateway router 3a advertises path </a:t>
            </a:r>
            <a:r>
              <a:rPr lang="en-US" sz="2200" dirty="0">
                <a:solidFill>
                  <a:srgbClr val="CC0000"/>
                </a:solidFill>
                <a:latin typeface="Gill Sans MT" pitchFamily="34" charset="0"/>
              </a:rPr>
              <a:t>AS3,X </a:t>
            </a:r>
            <a:r>
              <a:rPr lang="en-US" sz="2400" dirty="0">
                <a:latin typeface="Gill Sans MT" pitchFamily="34" charset="0"/>
              </a:rPr>
              <a:t>to AS2 gateway router 2c:</a:t>
            </a:r>
          </a:p>
          <a:p>
            <a:pPr marL="685800" lvl="1" indent="-228600"/>
            <a:r>
              <a:rPr lang="en-US" dirty="0">
                <a:latin typeface="Gill Sans MT" pitchFamily="34" charset="0"/>
              </a:rPr>
              <a:t>AS3 </a:t>
            </a:r>
            <a:r>
              <a:rPr lang="en-US" i="1" dirty="0">
                <a:solidFill>
                  <a:srgbClr val="CC0000"/>
                </a:solidFill>
                <a:latin typeface="Gill Sans MT" pitchFamily="34" charset="0"/>
              </a:rPr>
              <a:t>promises</a:t>
            </a:r>
            <a:r>
              <a:rPr lang="en-US" dirty="0">
                <a:latin typeface="Gill Sans MT" pitchFamily="34" charset="0"/>
              </a:rPr>
              <a:t> to AS2 it will forward datagrams towards X</a:t>
            </a:r>
          </a:p>
          <a:p>
            <a:pPr marL="0" indent="0">
              <a:buNone/>
            </a:pPr>
            <a:endParaRPr lang="en-US" sz="2000" dirty="0">
              <a:latin typeface="Gill Sans MT" pitchFamily="34" charset="0"/>
            </a:endParaRPr>
          </a:p>
        </p:txBody>
      </p:sp>
      <p:sp>
        <p:nvSpPr>
          <p:cNvPr id="162846" name="Rectangle 116"/>
          <p:cNvSpPr>
            <a:spLocks noChangeArrowheads="1"/>
          </p:cNvSpPr>
          <p:nvPr/>
        </p:nvSpPr>
        <p:spPr bwMode="auto">
          <a:xfrm>
            <a:off x="554038" y="1069976"/>
            <a:ext cx="8505825" cy="1235562"/>
          </a:xfrm>
          <a:prstGeom prst="rect">
            <a:avLst/>
          </a:prstGeom>
          <a:noFill/>
          <a:ln>
            <a:noFill/>
          </a:ln>
        </p:spPr>
        <p:txBody>
          <a:bodyPr/>
          <a:lstStyle/>
          <a:p>
            <a:pPr marL="282575" indent="-282575">
              <a:lnSpc>
                <a:spcPct val="85000"/>
              </a:lnSpc>
              <a:spcBef>
                <a:spcPct val="20000"/>
              </a:spcBef>
              <a:buClr>
                <a:srgbClr val="000099"/>
              </a:buClr>
              <a:buSzPct val="100000"/>
              <a:buFont typeface="Wingdings" panose="05000000000000000000" pitchFamily="2" charset="2"/>
              <a:buChar char="§"/>
            </a:pPr>
            <a:r>
              <a:rPr lang="en-US" sz="2400" dirty="0">
                <a:solidFill>
                  <a:srgbClr val="CC0000"/>
                </a:solidFill>
                <a:latin typeface="Gill Sans MT" pitchFamily="34" charset="0"/>
              </a:rPr>
              <a:t>BGP session:</a:t>
            </a:r>
            <a:r>
              <a:rPr lang="en-US" sz="2400" dirty="0">
                <a:solidFill>
                  <a:srgbClr val="FF0000"/>
                </a:solidFill>
                <a:latin typeface="Gill Sans MT" pitchFamily="34" charset="0"/>
              </a:rPr>
              <a:t> </a:t>
            </a:r>
            <a:r>
              <a:rPr lang="en-US" sz="2400" dirty="0">
                <a:latin typeface="Gill Sans MT" pitchFamily="34" charset="0"/>
              </a:rPr>
              <a:t>two BGP routers (</a:t>
            </a:r>
            <a:r>
              <a:rPr lang="ja-JP" altLang="en-US" sz="2400" dirty="0">
                <a:latin typeface="Gill Sans MT" pitchFamily="34" charset="0"/>
              </a:rPr>
              <a:t>“</a:t>
            </a:r>
            <a:r>
              <a:rPr lang="en-US" altLang="ja-JP" sz="2400" dirty="0">
                <a:latin typeface="Gill Sans MT" pitchFamily="34" charset="0"/>
              </a:rPr>
              <a:t>peers</a:t>
            </a:r>
            <a:r>
              <a:rPr lang="ja-JP" altLang="en-US" sz="2400" dirty="0">
                <a:latin typeface="Gill Sans MT" pitchFamily="34" charset="0"/>
              </a:rPr>
              <a:t>”</a:t>
            </a:r>
            <a:r>
              <a:rPr lang="en-US" altLang="ja-JP" sz="2400" dirty="0">
                <a:latin typeface="Gill Sans MT" pitchFamily="34" charset="0"/>
              </a:rPr>
              <a:t>) exchange BGP messages over semi-permanent TCP connection:</a:t>
            </a:r>
          </a:p>
          <a:p>
            <a:pPr marL="685800" lvl="1" indent="-228600">
              <a:lnSpc>
                <a:spcPct val="85000"/>
              </a:lnSpc>
              <a:spcBef>
                <a:spcPct val="20000"/>
              </a:spcBef>
              <a:buClr>
                <a:srgbClr val="000099"/>
              </a:buClr>
              <a:buFont typeface="Arial" panose="020B0604020202090204"/>
              <a:buChar char="•"/>
            </a:pPr>
            <a:r>
              <a:rPr lang="en-US" sz="2400" dirty="0">
                <a:latin typeface="Gill Sans MT"/>
                <a:cs typeface="Gill Sans MT"/>
              </a:rPr>
              <a:t>advertising </a:t>
            </a:r>
            <a:r>
              <a:rPr lang="en-US" sz="2400" i="1" dirty="0">
                <a:solidFill>
                  <a:srgbClr val="CC0000"/>
                </a:solidFill>
                <a:latin typeface="Gill Sans MT"/>
                <a:cs typeface="Gill Sans MT"/>
              </a:rPr>
              <a:t>paths</a:t>
            </a:r>
            <a:r>
              <a:rPr lang="en-US" sz="2400" dirty="0">
                <a:solidFill>
                  <a:srgbClr val="CC0000"/>
                </a:solidFill>
                <a:latin typeface="Gill Sans MT"/>
                <a:cs typeface="Gill Sans MT"/>
              </a:rPr>
              <a:t> </a:t>
            </a:r>
            <a:r>
              <a:rPr lang="en-US" sz="2400" dirty="0">
                <a:latin typeface="Gill Sans MT"/>
                <a:cs typeface="Gill Sans MT"/>
              </a:rPr>
              <a:t>to different destination network prefixes (BGP  is a </a:t>
            </a:r>
            <a:r>
              <a:rPr lang="ja-JP" altLang="en-US" sz="2400" dirty="0">
                <a:latin typeface="Gill Sans MT"/>
                <a:cs typeface="Gill Sans MT"/>
              </a:rPr>
              <a:t>“</a:t>
            </a:r>
            <a:r>
              <a:rPr lang="en-US" altLang="ja-JP" sz="2400" dirty="0">
                <a:latin typeface="Gill Sans MT"/>
                <a:cs typeface="Gill Sans MT"/>
              </a:rPr>
              <a:t>path vector</a:t>
            </a:r>
            <a:r>
              <a:rPr lang="ja-JP" altLang="en-US" sz="2400" dirty="0">
                <a:latin typeface="Gill Sans MT"/>
                <a:cs typeface="Gill Sans MT"/>
              </a:rPr>
              <a:t>”</a:t>
            </a:r>
            <a:r>
              <a:rPr lang="en-US" altLang="ja-JP" sz="2400" dirty="0">
                <a:latin typeface="Gill Sans MT"/>
                <a:cs typeface="Gill Sans MT"/>
              </a:rPr>
              <a:t> protocol)</a:t>
            </a:r>
            <a:endParaRPr lang="en-US" sz="2400" dirty="0">
              <a:solidFill>
                <a:srgbClr val="FF0000"/>
              </a:solidFill>
              <a:latin typeface="Gill Sans MT"/>
              <a:cs typeface="Gill Sans MT"/>
            </a:endParaRPr>
          </a:p>
        </p:txBody>
      </p:sp>
      <p:pic>
        <p:nvPicPr>
          <p:cNvPr id="162849" name="Picture 121" descr="underline_base"/>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1188" y="800100"/>
            <a:ext cx="2553558" cy="207688"/>
          </a:xfrm>
          <a:prstGeom prst="rect">
            <a:avLst/>
          </a:prstGeom>
          <a:noFill/>
          <a:ln>
            <a:noFill/>
          </a:ln>
        </p:spPr>
      </p:pic>
      <p:grpSp>
        <p:nvGrpSpPr>
          <p:cNvPr id="125" name="Group 124"/>
          <p:cNvGrpSpPr/>
          <p:nvPr/>
        </p:nvGrpSpPr>
        <p:grpSpPr>
          <a:xfrm>
            <a:off x="624887" y="4010992"/>
            <a:ext cx="2557336" cy="1719017"/>
            <a:chOff x="-2170772" y="2784954"/>
            <a:chExt cx="2712783" cy="1853712"/>
          </a:xfrm>
        </p:grpSpPr>
        <p:sp>
          <p:nvSpPr>
            <p:cNvPr id="261" name="Freeform 2"/>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262" name="Group 261"/>
            <p:cNvGrpSpPr/>
            <p:nvPr/>
          </p:nvGrpSpPr>
          <p:grpSpPr>
            <a:xfrm>
              <a:off x="-1935370" y="2935816"/>
              <a:ext cx="2333625" cy="1590649"/>
              <a:chOff x="833331" y="2873352"/>
              <a:chExt cx="2333625" cy="1590649"/>
            </a:xfrm>
          </p:grpSpPr>
          <p:grpSp>
            <p:nvGrpSpPr>
              <p:cNvPr id="263" name="Group 262"/>
              <p:cNvGrpSpPr/>
              <p:nvPr/>
            </p:nvGrpSpPr>
            <p:grpSpPr>
              <a:xfrm>
                <a:off x="1736090" y="2873352"/>
                <a:ext cx="565150" cy="369332"/>
                <a:chOff x="1736090" y="2873352"/>
                <a:chExt cx="565150" cy="369332"/>
              </a:xfrm>
            </p:grpSpPr>
            <p:grpSp>
              <p:nvGrpSpPr>
                <p:cNvPr id="312" name="Group 327"/>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41422" cy="369332"/>
                  <a:chOff x="667045" y="1708643"/>
                  <a:chExt cx="441422" cy="369332"/>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41422" cy="369332"/>
                  </a:xfrm>
                  <a:prstGeom prst="rect">
                    <a:avLst/>
                  </a:prstGeom>
                  <a:noFill/>
                </p:spPr>
                <p:txBody>
                  <a:bodyPr wrap="none" rtlCol="0">
                    <a:spAutoFit/>
                  </a:bodyPr>
                  <a:lstStyle/>
                  <a:p>
                    <a:r>
                      <a:rPr lang="en-US" dirty="0"/>
                      <a:t>1b</a:t>
                    </a:r>
                  </a:p>
                </p:txBody>
              </p:sp>
            </p:grpSp>
          </p:grpSp>
          <p:grpSp>
            <p:nvGrpSpPr>
              <p:cNvPr id="264" name="Group 263"/>
              <p:cNvGrpSpPr/>
              <p:nvPr/>
            </p:nvGrpSpPr>
            <p:grpSpPr>
              <a:xfrm>
                <a:off x="1740320" y="4094669"/>
                <a:ext cx="565150" cy="369332"/>
                <a:chOff x="1736090" y="2873352"/>
                <a:chExt cx="565150" cy="369332"/>
              </a:xfrm>
            </p:grpSpPr>
            <p:grpSp>
              <p:nvGrpSpPr>
                <p:cNvPr id="299" name="Group 327"/>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41422" cy="369332"/>
                  <a:chOff x="667045" y="1708643"/>
                  <a:chExt cx="441422" cy="369332"/>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41422" cy="369332"/>
                  </a:xfrm>
                  <a:prstGeom prst="rect">
                    <a:avLst/>
                  </a:prstGeom>
                  <a:noFill/>
                </p:spPr>
                <p:txBody>
                  <a:bodyPr wrap="none" rtlCol="0">
                    <a:spAutoFit/>
                  </a:bodyPr>
                  <a:lstStyle/>
                  <a:p>
                    <a:r>
                      <a:rPr lang="en-US" dirty="0"/>
                      <a:t>1d</a:t>
                    </a:r>
                  </a:p>
                </p:txBody>
              </p:sp>
            </p:grpSp>
          </p:grpSp>
          <p:grpSp>
            <p:nvGrpSpPr>
              <p:cNvPr id="265" name="Group 264"/>
              <p:cNvGrpSpPr/>
              <p:nvPr/>
            </p:nvGrpSpPr>
            <p:grpSpPr>
              <a:xfrm>
                <a:off x="2601806" y="3485072"/>
                <a:ext cx="565150" cy="369332"/>
                <a:chOff x="1736090" y="2873352"/>
                <a:chExt cx="565150" cy="369332"/>
              </a:xfrm>
            </p:grpSpPr>
            <p:grpSp>
              <p:nvGrpSpPr>
                <p:cNvPr id="286" name="Group 327"/>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28460" cy="369332"/>
                  <a:chOff x="667045" y="1708643"/>
                  <a:chExt cx="428460" cy="369332"/>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28460" cy="369332"/>
                  </a:xfrm>
                  <a:prstGeom prst="rect">
                    <a:avLst/>
                  </a:prstGeom>
                  <a:noFill/>
                </p:spPr>
                <p:txBody>
                  <a:bodyPr wrap="none" rtlCol="0">
                    <a:spAutoFit/>
                  </a:bodyPr>
                  <a:lstStyle/>
                  <a:p>
                    <a:r>
                      <a:rPr lang="en-US" dirty="0"/>
                      <a:t>1c</a:t>
                    </a:r>
                  </a:p>
                </p:txBody>
              </p:sp>
            </p:grpSp>
          </p:grpSp>
          <p:grpSp>
            <p:nvGrpSpPr>
              <p:cNvPr id="266" name="Group 265"/>
              <p:cNvGrpSpPr/>
              <p:nvPr/>
            </p:nvGrpSpPr>
            <p:grpSpPr>
              <a:xfrm>
                <a:off x="833331" y="3478719"/>
                <a:ext cx="565150" cy="369332"/>
                <a:chOff x="1736090" y="2873352"/>
                <a:chExt cx="565150" cy="369332"/>
              </a:xfrm>
            </p:grpSpPr>
            <p:grpSp>
              <p:nvGrpSpPr>
                <p:cNvPr id="273" name="Group 327"/>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41422" cy="369332"/>
                  <a:chOff x="667045" y="1708643"/>
                  <a:chExt cx="441422" cy="369332"/>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41422" cy="369332"/>
                  </a:xfrm>
                  <a:prstGeom prst="rect">
                    <a:avLst/>
                  </a:prstGeom>
                  <a:noFill/>
                </p:spPr>
                <p:txBody>
                  <a:bodyPr wrap="none" rtlCol="0">
                    <a:spAutoFit/>
                  </a:bodyPr>
                  <a:lstStyle/>
                  <a:p>
                    <a:r>
                      <a:rPr lang="en-US" dirty="0"/>
                      <a:t>1a</a:t>
                    </a:r>
                  </a:p>
                </p:txBody>
              </p:sp>
            </p:grpSp>
          </p:grpSp>
          <p:cxnSp>
            <p:nvCxnSpPr>
              <p:cNvPr id="267" name="Straight Connector 266"/>
              <p:cNvCxnSpPr>
                <a:stCxn id="315" idx="2"/>
                <a:endCxn id="302"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68" name="Straight Connector 267"/>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70" name="Straight Connector 269"/>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72" name="Straight Connector 271"/>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grpSp>
      <p:grpSp>
        <p:nvGrpSpPr>
          <p:cNvPr id="126" name="Group 125"/>
          <p:cNvGrpSpPr/>
          <p:nvPr/>
        </p:nvGrpSpPr>
        <p:grpSpPr>
          <a:xfrm>
            <a:off x="3285692" y="4938163"/>
            <a:ext cx="2545688" cy="1720535"/>
            <a:chOff x="-2170772" y="2784954"/>
            <a:chExt cx="2712783" cy="1853712"/>
          </a:xfrm>
        </p:grpSpPr>
        <p:sp>
          <p:nvSpPr>
            <p:cNvPr id="197" name="Freeform 2"/>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198" name="Group 197"/>
            <p:cNvGrpSpPr/>
            <p:nvPr/>
          </p:nvGrpSpPr>
          <p:grpSpPr>
            <a:xfrm>
              <a:off x="-1935370" y="2935816"/>
              <a:ext cx="2333625" cy="1590649"/>
              <a:chOff x="833331" y="2873352"/>
              <a:chExt cx="2333625" cy="1590649"/>
            </a:xfrm>
          </p:grpSpPr>
          <p:grpSp>
            <p:nvGrpSpPr>
              <p:cNvPr id="199" name="Group 198"/>
              <p:cNvGrpSpPr/>
              <p:nvPr/>
            </p:nvGrpSpPr>
            <p:grpSpPr>
              <a:xfrm>
                <a:off x="1736090" y="2873352"/>
                <a:ext cx="565150" cy="369332"/>
                <a:chOff x="1736090" y="2873352"/>
                <a:chExt cx="565150" cy="369332"/>
              </a:xfrm>
            </p:grpSpPr>
            <p:grpSp>
              <p:nvGrpSpPr>
                <p:cNvPr id="248" name="Group 327"/>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41422" cy="369332"/>
                  <a:chOff x="667045" y="1708643"/>
                  <a:chExt cx="441422" cy="369332"/>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41422" cy="369332"/>
                  </a:xfrm>
                  <a:prstGeom prst="rect">
                    <a:avLst/>
                  </a:prstGeom>
                  <a:noFill/>
                </p:spPr>
                <p:txBody>
                  <a:bodyPr wrap="none" rtlCol="0">
                    <a:spAutoFit/>
                  </a:bodyPr>
                  <a:lstStyle/>
                  <a:p>
                    <a:r>
                      <a:rPr lang="en-US" dirty="0"/>
                      <a:t>2b</a:t>
                    </a:r>
                  </a:p>
                </p:txBody>
              </p:sp>
            </p:grpSp>
          </p:grpSp>
          <p:grpSp>
            <p:nvGrpSpPr>
              <p:cNvPr id="200" name="Group 199"/>
              <p:cNvGrpSpPr/>
              <p:nvPr/>
            </p:nvGrpSpPr>
            <p:grpSpPr>
              <a:xfrm>
                <a:off x="1740320" y="4094669"/>
                <a:ext cx="565150" cy="369332"/>
                <a:chOff x="1736090" y="2873352"/>
                <a:chExt cx="565150" cy="369332"/>
              </a:xfrm>
            </p:grpSpPr>
            <p:grpSp>
              <p:nvGrpSpPr>
                <p:cNvPr id="235" name="Group 327"/>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41422" cy="369332"/>
                  <a:chOff x="667045" y="1708643"/>
                  <a:chExt cx="441422" cy="369332"/>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41422" cy="369332"/>
                  </a:xfrm>
                  <a:prstGeom prst="rect">
                    <a:avLst/>
                  </a:prstGeom>
                  <a:noFill/>
                </p:spPr>
                <p:txBody>
                  <a:bodyPr wrap="none" rtlCol="0">
                    <a:spAutoFit/>
                  </a:bodyPr>
                  <a:lstStyle/>
                  <a:p>
                    <a:r>
                      <a:rPr lang="en-US" dirty="0"/>
                      <a:t>2d</a:t>
                    </a:r>
                  </a:p>
                </p:txBody>
              </p:sp>
            </p:grpSp>
          </p:grpSp>
          <p:grpSp>
            <p:nvGrpSpPr>
              <p:cNvPr id="201" name="Group 200"/>
              <p:cNvGrpSpPr/>
              <p:nvPr/>
            </p:nvGrpSpPr>
            <p:grpSpPr>
              <a:xfrm>
                <a:off x="2601806" y="3485072"/>
                <a:ext cx="565150" cy="369332"/>
                <a:chOff x="1736090" y="2873352"/>
                <a:chExt cx="565150" cy="369332"/>
              </a:xfrm>
            </p:grpSpPr>
            <p:grpSp>
              <p:nvGrpSpPr>
                <p:cNvPr id="222" name="Group 327"/>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28460" cy="369332"/>
                  <a:chOff x="667045" y="1708643"/>
                  <a:chExt cx="428460" cy="369332"/>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28460" cy="369332"/>
                  </a:xfrm>
                  <a:prstGeom prst="rect">
                    <a:avLst/>
                  </a:prstGeom>
                  <a:noFill/>
                </p:spPr>
                <p:txBody>
                  <a:bodyPr wrap="none" rtlCol="0">
                    <a:spAutoFit/>
                  </a:bodyPr>
                  <a:lstStyle/>
                  <a:p>
                    <a:r>
                      <a:rPr lang="en-US" dirty="0"/>
                      <a:t>2c</a:t>
                    </a:r>
                  </a:p>
                </p:txBody>
              </p:sp>
            </p:grpSp>
          </p:grpSp>
          <p:grpSp>
            <p:nvGrpSpPr>
              <p:cNvPr id="202" name="Group 201"/>
              <p:cNvGrpSpPr/>
              <p:nvPr/>
            </p:nvGrpSpPr>
            <p:grpSpPr>
              <a:xfrm>
                <a:off x="833331" y="3478719"/>
                <a:ext cx="565150" cy="369332"/>
                <a:chOff x="1736090" y="2873352"/>
                <a:chExt cx="565150" cy="369332"/>
              </a:xfrm>
            </p:grpSpPr>
            <p:grpSp>
              <p:nvGrpSpPr>
                <p:cNvPr id="209" name="Group 327"/>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441422" cy="369332"/>
                  <a:chOff x="667045" y="1708643"/>
                  <a:chExt cx="441422" cy="369332"/>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441422" cy="369332"/>
                  </a:xfrm>
                  <a:prstGeom prst="rect">
                    <a:avLst/>
                  </a:prstGeom>
                  <a:noFill/>
                </p:spPr>
                <p:txBody>
                  <a:bodyPr wrap="none" rtlCol="0">
                    <a:spAutoFit/>
                  </a:bodyPr>
                  <a:lstStyle/>
                  <a:p>
                    <a:r>
                      <a:rPr lang="en-US" dirty="0"/>
                      <a:t>2a</a:t>
                    </a:r>
                  </a:p>
                </p:txBody>
              </p:sp>
            </p:grpSp>
          </p:grpSp>
          <p:cxnSp>
            <p:nvCxnSpPr>
              <p:cNvPr id="203" name="Straight Connector 202"/>
              <p:cNvCxnSpPr>
                <a:stCxn id="251" idx="2"/>
                <a:endCxn id="238"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4" name="Straight Connector 203"/>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5" name="Straight Connector 204"/>
              <p:cNvCxnSpPr>
                <a:stCxn id="252"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6" name="Straight Connector 205"/>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7" name="Straight Connector 206"/>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8" name="Straight Connector 207"/>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grpSp>
      <p:sp>
        <p:nvSpPr>
          <p:cNvPr id="133" name="Freeform 2"/>
          <p:cNvSpPr/>
          <p:nvPr/>
        </p:nvSpPr>
        <p:spPr bwMode="auto">
          <a:xfrm>
            <a:off x="5507686" y="3869905"/>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134" name="Group 133"/>
          <p:cNvGrpSpPr/>
          <p:nvPr/>
        </p:nvGrpSpPr>
        <p:grpSpPr>
          <a:xfrm>
            <a:off x="5731177" y="4006021"/>
            <a:ext cx="2215548" cy="1435167"/>
            <a:chOff x="833331" y="2873352"/>
            <a:chExt cx="2333625" cy="1590649"/>
          </a:xfrm>
        </p:grpSpPr>
        <p:grpSp>
          <p:nvGrpSpPr>
            <p:cNvPr id="135" name="Group 134"/>
            <p:cNvGrpSpPr/>
            <p:nvPr/>
          </p:nvGrpSpPr>
          <p:grpSpPr>
            <a:xfrm>
              <a:off x="1736090" y="2873352"/>
              <a:ext cx="565150" cy="369332"/>
              <a:chOff x="1736090" y="2873352"/>
              <a:chExt cx="565150" cy="369332"/>
            </a:xfrm>
          </p:grpSpPr>
          <p:grpSp>
            <p:nvGrpSpPr>
              <p:cNvPr id="184" name="Group 327"/>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41422" cy="369332"/>
                <a:chOff x="667045" y="1708643"/>
                <a:chExt cx="441422" cy="369332"/>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41422" cy="369332"/>
                </a:xfrm>
                <a:prstGeom prst="rect">
                  <a:avLst/>
                </a:prstGeom>
                <a:noFill/>
              </p:spPr>
              <p:txBody>
                <a:bodyPr wrap="none" rtlCol="0">
                  <a:spAutoFit/>
                </a:bodyPr>
                <a:lstStyle/>
                <a:p>
                  <a:r>
                    <a:rPr lang="en-US" dirty="0"/>
                    <a:t>3b</a:t>
                  </a:r>
                </a:p>
              </p:txBody>
            </p:sp>
          </p:grpSp>
        </p:grpSp>
        <p:grpSp>
          <p:nvGrpSpPr>
            <p:cNvPr id="136" name="Group 135"/>
            <p:cNvGrpSpPr/>
            <p:nvPr/>
          </p:nvGrpSpPr>
          <p:grpSpPr>
            <a:xfrm>
              <a:off x="1740320" y="4094669"/>
              <a:ext cx="565150" cy="369332"/>
              <a:chOff x="1736090" y="2873352"/>
              <a:chExt cx="565150" cy="369332"/>
            </a:xfrm>
          </p:grpSpPr>
          <p:grpSp>
            <p:nvGrpSpPr>
              <p:cNvPr id="171" name="Group 327"/>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41422" cy="369332"/>
                <a:chOff x="667045" y="1708643"/>
                <a:chExt cx="441422" cy="369332"/>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41422" cy="369332"/>
                </a:xfrm>
                <a:prstGeom prst="rect">
                  <a:avLst/>
                </a:prstGeom>
                <a:noFill/>
              </p:spPr>
              <p:txBody>
                <a:bodyPr wrap="none" rtlCol="0">
                  <a:spAutoFit/>
                </a:bodyPr>
                <a:lstStyle/>
                <a:p>
                  <a:r>
                    <a:rPr lang="en-US" dirty="0"/>
                    <a:t>3d</a:t>
                  </a:r>
                </a:p>
              </p:txBody>
            </p:sp>
          </p:grpSp>
        </p:grpSp>
        <p:grpSp>
          <p:nvGrpSpPr>
            <p:cNvPr id="137" name="Group 136"/>
            <p:cNvGrpSpPr/>
            <p:nvPr/>
          </p:nvGrpSpPr>
          <p:grpSpPr>
            <a:xfrm>
              <a:off x="2601806" y="3485072"/>
              <a:ext cx="565150" cy="369332"/>
              <a:chOff x="1736090" y="2873352"/>
              <a:chExt cx="565150" cy="369332"/>
            </a:xfrm>
          </p:grpSpPr>
          <p:grpSp>
            <p:nvGrpSpPr>
              <p:cNvPr id="158" name="Group 327"/>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2" y="2873352"/>
                <a:ext cx="428460" cy="369332"/>
                <a:chOff x="667045" y="1708643"/>
                <a:chExt cx="428460" cy="369332"/>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5" y="1708643"/>
                  <a:ext cx="428460" cy="369332"/>
                </a:xfrm>
                <a:prstGeom prst="rect">
                  <a:avLst/>
                </a:prstGeom>
                <a:noFill/>
              </p:spPr>
              <p:txBody>
                <a:bodyPr wrap="none" rtlCol="0">
                  <a:spAutoFit/>
                </a:bodyPr>
                <a:lstStyle/>
                <a:p>
                  <a:r>
                    <a:rPr lang="en-US" dirty="0"/>
                    <a:t>3c</a:t>
                  </a:r>
                </a:p>
              </p:txBody>
            </p:sp>
          </p:grpSp>
        </p:grpSp>
        <p:grpSp>
          <p:nvGrpSpPr>
            <p:cNvPr id="138" name="Group 137"/>
            <p:cNvGrpSpPr/>
            <p:nvPr/>
          </p:nvGrpSpPr>
          <p:grpSpPr>
            <a:xfrm>
              <a:off x="833331" y="3478719"/>
              <a:ext cx="565150" cy="369332"/>
              <a:chOff x="1736090" y="2873352"/>
              <a:chExt cx="565150" cy="369332"/>
            </a:xfrm>
          </p:grpSpPr>
          <p:grpSp>
            <p:nvGrpSpPr>
              <p:cNvPr id="145" name="Group 327"/>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441422" cy="369332"/>
                <a:chOff x="667045" y="1708643"/>
                <a:chExt cx="441422" cy="369332"/>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441422" cy="369332"/>
                </a:xfrm>
                <a:prstGeom prst="rect">
                  <a:avLst/>
                </a:prstGeom>
                <a:noFill/>
              </p:spPr>
              <p:txBody>
                <a:bodyPr wrap="none" rtlCol="0">
                  <a:spAutoFit/>
                </a:bodyPr>
                <a:lstStyle/>
                <a:p>
                  <a:r>
                    <a:rPr lang="en-US" dirty="0"/>
                    <a:t>3a</a:t>
                  </a:r>
                </a:p>
              </p:txBody>
            </p:sp>
          </p:grpSp>
        </p:grpSp>
        <p:cxnSp>
          <p:nvCxnSpPr>
            <p:cNvPr id="139" name="Straight Connector 138"/>
            <p:cNvCxnSpPr>
              <a:stCxn id="187" idx="2"/>
              <a:endCxn id="174"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3" name="Straight Connector 14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cxnSp>
        <p:nvCxnSpPr>
          <p:cNvPr id="128" name="Straight Connector 127"/>
          <p:cNvCxnSpPr/>
          <p:nvPr/>
        </p:nvCxnSpPr>
        <p:spPr bwMode="auto">
          <a:xfrm flipH="1" flipV="1">
            <a:off x="3046706" y="4899525"/>
            <a:ext cx="480877" cy="744090"/>
          </a:xfrm>
          <a:prstGeom prst="line">
            <a:avLst/>
          </a:prstGeom>
          <a:solidFill>
            <a:schemeClr val="accent1"/>
          </a:solidFill>
          <a:ln w="38100" cap="flat" cmpd="sng" algn="ctr">
            <a:solidFill>
              <a:srgbClr val="CC0000"/>
            </a:solidFill>
            <a:prstDash val="dash"/>
            <a:round/>
            <a:headEnd type="none" w="med" len="med"/>
            <a:tailEnd type="none" w="med" len="med"/>
          </a:ln>
          <a:effectLst/>
        </p:spPr>
      </p:cxnSp>
      <p:cxnSp>
        <p:nvCxnSpPr>
          <p:cNvPr id="129" name="Straight Connector 128"/>
          <p:cNvCxnSpPr/>
          <p:nvPr/>
        </p:nvCxnSpPr>
        <p:spPr bwMode="auto">
          <a:xfrm flipV="1">
            <a:off x="5523188" y="4840643"/>
            <a:ext cx="337735" cy="823128"/>
          </a:xfrm>
          <a:prstGeom prst="line">
            <a:avLst/>
          </a:prstGeom>
          <a:solidFill>
            <a:schemeClr val="accent1"/>
          </a:solidFill>
          <a:ln w="38100" cap="flat" cmpd="sng" algn="ctr">
            <a:solidFill>
              <a:srgbClr val="CC0000"/>
            </a:solidFill>
            <a:prstDash val="dash"/>
            <a:round/>
            <a:headEnd type="none" w="med" len="med"/>
            <a:tailEnd type="none" w="med" len="med"/>
          </a:ln>
          <a:effectLst/>
        </p:spPr>
      </p:cxnSp>
      <p:sp>
        <p:nvSpPr>
          <p:cNvPr id="130" name="TextBox 129"/>
          <p:cNvSpPr txBox="1"/>
          <p:nvPr/>
        </p:nvSpPr>
        <p:spPr>
          <a:xfrm>
            <a:off x="3493291" y="4997847"/>
            <a:ext cx="753532" cy="400110"/>
          </a:xfrm>
          <a:prstGeom prst="rect">
            <a:avLst/>
          </a:prstGeom>
          <a:noFill/>
        </p:spPr>
        <p:txBody>
          <a:bodyPr wrap="none" rtlCol="0">
            <a:spAutoFit/>
          </a:bodyPr>
          <a:lstStyle/>
          <a:p>
            <a:r>
              <a:rPr lang="en-US" sz="2000" dirty="0">
                <a:solidFill>
                  <a:srgbClr val="000090"/>
                </a:solidFill>
              </a:rPr>
              <a:t>AS 2</a:t>
            </a:r>
          </a:p>
        </p:txBody>
      </p:sp>
      <p:sp>
        <p:nvSpPr>
          <p:cNvPr id="131" name="TextBox 130"/>
          <p:cNvSpPr txBox="1"/>
          <p:nvPr/>
        </p:nvSpPr>
        <p:spPr>
          <a:xfrm>
            <a:off x="5543950" y="3911145"/>
            <a:ext cx="753532" cy="400110"/>
          </a:xfrm>
          <a:prstGeom prst="rect">
            <a:avLst/>
          </a:prstGeom>
          <a:noFill/>
        </p:spPr>
        <p:txBody>
          <a:bodyPr wrap="none" rtlCol="0">
            <a:spAutoFit/>
          </a:bodyPr>
          <a:lstStyle/>
          <a:p>
            <a:r>
              <a:rPr lang="en-US" sz="2000" dirty="0">
                <a:solidFill>
                  <a:srgbClr val="000090"/>
                </a:solidFill>
              </a:rPr>
              <a:t>AS 3</a:t>
            </a:r>
          </a:p>
        </p:txBody>
      </p:sp>
      <p:sp>
        <p:nvSpPr>
          <p:cNvPr id="132" name="TextBox 131"/>
          <p:cNvSpPr txBox="1"/>
          <p:nvPr/>
        </p:nvSpPr>
        <p:spPr>
          <a:xfrm>
            <a:off x="629020" y="4121821"/>
            <a:ext cx="753532" cy="400110"/>
          </a:xfrm>
          <a:prstGeom prst="rect">
            <a:avLst/>
          </a:prstGeom>
          <a:noFill/>
        </p:spPr>
        <p:txBody>
          <a:bodyPr wrap="none" rtlCol="0">
            <a:spAutoFit/>
          </a:bodyPr>
          <a:lstStyle/>
          <a:p>
            <a:r>
              <a:rPr lang="en-US" sz="2000" dirty="0">
                <a:solidFill>
                  <a:srgbClr val="000090"/>
                </a:solidFill>
              </a:rPr>
              <a:t>AS 1</a:t>
            </a:r>
          </a:p>
        </p:txBody>
      </p:sp>
      <p:grpSp>
        <p:nvGrpSpPr>
          <p:cNvPr id="11" name="Group 10"/>
          <p:cNvGrpSpPr/>
          <p:nvPr/>
        </p:nvGrpSpPr>
        <p:grpSpPr>
          <a:xfrm>
            <a:off x="7070827" y="4972752"/>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 name="connsiteX0-307" fmla="*/ 4 w 9959"/>
                  <a:gd name="connsiteY0-308" fmla="*/ 5593 h 11352"/>
                  <a:gd name="connsiteX1-309" fmla="*/ 1089 w 9959"/>
                  <a:gd name="connsiteY1-310" fmla="*/ 469 h 11352"/>
                  <a:gd name="connsiteX2-311" fmla="*/ 4845 w 9959"/>
                  <a:gd name="connsiteY2-312" fmla="*/ 561 h 11352"/>
                  <a:gd name="connsiteX3-313" fmla="*/ 8027 w 9959"/>
                  <a:gd name="connsiteY3-314" fmla="*/ 3370 h 11352"/>
                  <a:gd name="connsiteX4-315" fmla="*/ 9955 w 9959"/>
                  <a:gd name="connsiteY4-316" fmla="*/ 5970 h 11352"/>
                  <a:gd name="connsiteX5-317" fmla="*/ 8435 w 9959"/>
                  <a:gd name="connsiteY5-318" fmla="*/ 7863 h 11352"/>
                  <a:gd name="connsiteX6-319" fmla="*/ 5161 w 9959"/>
                  <a:gd name="connsiteY6-320" fmla="*/ 11352 h 11352"/>
                  <a:gd name="connsiteX7-321" fmla="*/ 2712 w 9959"/>
                  <a:gd name="connsiteY7-322" fmla="*/ 8240 h 11352"/>
                  <a:gd name="connsiteX8-323" fmla="*/ 1334 w 9959"/>
                  <a:gd name="connsiteY8-324" fmla="*/ 7922 h 11352"/>
                  <a:gd name="connsiteX9-325" fmla="*/ 4 w 9959"/>
                  <a:gd name="connsiteY9-326" fmla="*/ 5593 h 11352"/>
                  <a:gd name="connsiteX0-327" fmla="*/ 0 w 11223"/>
                  <a:gd name="connsiteY0-328" fmla="*/ 3835 h 9929"/>
                  <a:gd name="connsiteX1-329" fmla="*/ 2316 w 11223"/>
                  <a:gd name="connsiteY1-330" fmla="*/ 342 h 9929"/>
                  <a:gd name="connsiteX2-331" fmla="*/ 6088 w 11223"/>
                  <a:gd name="connsiteY2-332" fmla="*/ 423 h 9929"/>
                  <a:gd name="connsiteX3-333" fmla="*/ 9283 w 11223"/>
                  <a:gd name="connsiteY3-334" fmla="*/ 2898 h 9929"/>
                  <a:gd name="connsiteX4-335" fmla="*/ 11219 w 11223"/>
                  <a:gd name="connsiteY4-336" fmla="*/ 5188 h 9929"/>
                  <a:gd name="connsiteX5-337" fmla="*/ 9693 w 11223"/>
                  <a:gd name="connsiteY5-338" fmla="*/ 6856 h 9929"/>
                  <a:gd name="connsiteX6-339" fmla="*/ 6405 w 11223"/>
                  <a:gd name="connsiteY6-340" fmla="*/ 9929 h 9929"/>
                  <a:gd name="connsiteX7-341" fmla="*/ 3946 w 11223"/>
                  <a:gd name="connsiteY7-342" fmla="*/ 7188 h 9929"/>
                  <a:gd name="connsiteX8-343" fmla="*/ 2562 w 11223"/>
                  <a:gd name="connsiteY8-344" fmla="*/ 6908 h 9929"/>
                  <a:gd name="connsiteX9-345" fmla="*/ 0 w 11223"/>
                  <a:gd name="connsiteY9-346" fmla="*/ 3835 h 9929"/>
                  <a:gd name="connsiteX0-347" fmla="*/ 0 w 9999"/>
                  <a:gd name="connsiteY0-348" fmla="*/ 3862 h 10000"/>
                  <a:gd name="connsiteX1-349" fmla="*/ 2064 w 9999"/>
                  <a:gd name="connsiteY1-350" fmla="*/ 344 h 10000"/>
                  <a:gd name="connsiteX2-351" fmla="*/ 5425 w 9999"/>
                  <a:gd name="connsiteY2-352" fmla="*/ 426 h 10000"/>
                  <a:gd name="connsiteX3-353" fmla="*/ 8271 w 9999"/>
                  <a:gd name="connsiteY3-354" fmla="*/ 2919 h 10000"/>
                  <a:gd name="connsiteX4-355" fmla="*/ 9996 w 9999"/>
                  <a:gd name="connsiteY4-356" fmla="*/ 5225 h 10000"/>
                  <a:gd name="connsiteX5-357" fmla="*/ 8637 w 9999"/>
                  <a:gd name="connsiteY5-358" fmla="*/ 6905 h 10000"/>
                  <a:gd name="connsiteX6-359" fmla="*/ 5707 w 9999"/>
                  <a:gd name="connsiteY6-360" fmla="*/ 10000 h 10000"/>
                  <a:gd name="connsiteX7-361" fmla="*/ 2283 w 9999"/>
                  <a:gd name="connsiteY7-362" fmla="*/ 6957 h 10000"/>
                  <a:gd name="connsiteX8-363" fmla="*/ 0 w 9999"/>
                  <a:gd name="connsiteY8-364" fmla="*/ 3862 h 10000"/>
                  <a:gd name="connsiteX0-365" fmla="*/ 124 w 10124"/>
                  <a:gd name="connsiteY0-366" fmla="*/ 3862 h 10000"/>
                  <a:gd name="connsiteX1-367" fmla="*/ 2188 w 10124"/>
                  <a:gd name="connsiteY1-368" fmla="*/ 344 h 10000"/>
                  <a:gd name="connsiteX2-369" fmla="*/ 5550 w 10124"/>
                  <a:gd name="connsiteY2-370" fmla="*/ 426 h 10000"/>
                  <a:gd name="connsiteX3-371" fmla="*/ 8396 w 10124"/>
                  <a:gd name="connsiteY3-372" fmla="*/ 2919 h 10000"/>
                  <a:gd name="connsiteX4-373" fmla="*/ 10121 w 10124"/>
                  <a:gd name="connsiteY4-374" fmla="*/ 5225 h 10000"/>
                  <a:gd name="connsiteX5-375" fmla="*/ 8762 w 10124"/>
                  <a:gd name="connsiteY5-376" fmla="*/ 6905 h 10000"/>
                  <a:gd name="connsiteX6-377" fmla="*/ 5832 w 10124"/>
                  <a:gd name="connsiteY6-378" fmla="*/ 10000 h 10000"/>
                  <a:gd name="connsiteX7-379" fmla="*/ 124 w 10124"/>
                  <a:gd name="connsiteY7-380" fmla="*/ 3862 h 10000"/>
                  <a:gd name="connsiteX0-381" fmla="*/ 43 w 10045"/>
                  <a:gd name="connsiteY0-382" fmla="*/ 3862 h 6912"/>
                  <a:gd name="connsiteX1-383" fmla="*/ 2107 w 10045"/>
                  <a:gd name="connsiteY1-384" fmla="*/ 344 h 6912"/>
                  <a:gd name="connsiteX2-385" fmla="*/ 5469 w 10045"/>
                  <a:gd name="connsiteY2-386" fmla="*/ 426 h 6912"/>
                  <a:gd name="connsiteX3-387" fmla="*/ 8315 w 10045"/>
                  <a:gd name="connsiteY3-388" fmla="*/ 2919 h 6912"/>
                  <a:gd name="connsiteX4-389" fmla="*/ 10040 w 10045"/>
                  <a:gd name="connsiteY4-390" fmla="*/ 5225 h 6912"/>
                  <a:gd name="connsiteX5-391" fmla="*/ 8681 w 10045"/>
                  <a:gd name="connsiteY5-392" fmla="*/ 6905 h 6912"/>
                  <a:gd name="connsiteX6-393" fmla="*/ 3967 w 10045"/>
                  <a:gd name="connsiteY6-394" fmla="*/ 5885 h 6912"/>
                  <a:gd name="connsiteX7-395" fmla="*/ 43 w 10045"/>
                  <a:gd name="connsiteY7-396" fmla="*/ 3862 h 6912"/>
                  <a:gd name="connsiteX0-397" fmla="*/ 47 w 10004"/>
                  <a:gd name="connsiteY0-398" fmla="*/ 5106 h 9519"/>
                  <a:gd name="connsiteX1-399" fmla="*/ 2102 w 10004"/>
                  <a:gd name="connsiteY1-400" fmla="*/ 17 h 9519"/>
                  <a:gd name="connsiteX2-401" fmla="*/ 6651 w 10004"/>
                  <a:gd name="connsiteY2-402" fmla="*/ 3484 h 9519"/>
                  <a:gd name="connsiteX3-403" fmla="*/ 8282 w 10004"/>
                  <a:gd name="connsiteY3-404" fmla="*/ 3742 h 9519"/>
                  <a:gd name="connsiteX4-405" fmla="*/ 9999 w 10004"/>
                  <a:gd name="connsiteY4-406" fmla="*/ 7078 h 9519"/>
                  <a:gd name="connsiteX5-407" fmla="*/ 8646 w 10004"/>
                  <a:gd name="connsiteY5-408" fmla="*/ 9509 h 9519"/>
                  <a:gd name="connsiteX6-409" fmla="*/ 3953 w 10004"/>
                  <a:gd name="connsiteY6-410" fmla="*/ 8033 h 9519"/>
                  <a:gd name="connsiteX7-411" fmla="*/ 47 w 10004"/>
                  <a:gd name="connsiteY7-412" fmla="*/ 5106 h 9519"/>
                  <a:gd name="connsiteX0-413" fmla="*/ 43 w 9996"/>
                  <a:gd name="connsiteY0-414" fmla="*/ 6232 h 10868"/>
                  <a:gd name="connsiteX1-415" fmla="*/ 2097 w 9996"/>
                  <a:gd name="connsiteY1-416" fmla="*/ 886 h 10868"/>
                  <a:gd name="connsiteX2-417" fmla="*/ 5642 w 9996"/>
                  <a:gd name="connsiteY2-418" fmla="*/ 385 h 10868"/>
                  <a:gd name="connsiteX3-419" fmla="*/ 8275 w 9996"/>
                  <a:gd name="connsiteY3-420" fmla="*/ 4799 h 10868"/>
                  <a:gd name="connsiteX4-421" fmla="*/ 9991 w 9996"/>
                  <a:gd name="connsiteY4-422" fmla="*/ 8304 h 10868"/>
                  <a:gd name="connsiteX5-423" fmla="*/ 8639 w 9996"/>
                  <a:gd name="connsiteY5-424" fmla="*/ 10857 h 10868"/>
                  <a:gd name="connsiteX6-425" fmla="*/ 3947 w 9996"/>
                  <a:gd name="connsiteY6-426" fmla="*/ 9307 h 10868"/>
                  <a:gd name="connsiteX7-427" fmla="*/ 43 w 9996"/>
                  <a:gd name="connsiteY7-428" fmla="*/ 6232 h 10868"/>
                  <a:gd name="connsiteX0-429" fmla="*/ 43 w 10004"/>
                  <a:gd name="connsiteY0-430" fmla="*/ 5543 h 9809"/>
                  <a:gd name="connsiteX1-431" fmla="*/ 2098 w 10004"/>
                  <a:gd name="connsiteY1-432" fmla="*/ 624 h 9809"/>
                  <a:gd name="connsiteX2-433" fmla="*/ 5644 w 10004"/>
                  <a:gd name="connsiteY2-434" fmla="*/ 163 h 9809"/>
                  <a:gd name="connsiteX3-435" fmla="*/ 8163 w 10004"/>
                  <a:gd name="connsiteY3-436" fmla="*/ 1492 h 9809"/>
                  <a:gd name="connsiteX4-437" fmla="*/ 9995 w 10004"/>
                  <a:gd name="connsiteY4-438" fmla="*/ 7450 h 9809"/>
                  <a:gd name="connsiteX5-439" fmla="*/ 8642 w 10004"/>
                  <a:gd name="connsiteY5-440" fmla="*/ 9799 h 9809"/>
                  <a:gd name="connsiteX6-441" fmla="*/ 3949 w 10004"/>
                  <a:gd name="connsiteY6-442" fmla="*/ 8373 h 9809"/>
                  <a:gd name="connsiteX7-443" fmla="*/ 43 w 10004"/>
                  <a:gd name="connsiteY7-444" fmla="*/ 5543 h 9809"/>
                  <a:gd name="connsiteX0-445" fmla="*/ 43 w 8950"/>
                  <a:gd name="connsiteY0-446" fmla="*/ 5651 h 10081"/>
                  <a:gd name="connsiteX1-447" fmla="*/ 2097 w 8950"/>
                  <a:gd name="connsiteY1-448" fmla="*/ 636 h 10081"/>
                  <a:gd name="connsiteX2-449" fmla="*/ 5642 w 8950"/>
                  <a:gd name="connsiteY2-450" fmla="*/ 166 h 10081"/>
                  <a:gd name="connsiteX3-451" fmla="*/ 8160 w 8950"/>
                  <a:gd name="connsiteY3-452" fmla="*/ 1521 h 10081"/>
                  <a:gd name="connsiteX4-453" fmla="*/ 8473 w 8950"/>
                  <a:gd name="connsiteY4-454" fmla="*/ 5322 h 10081"/>
                  <a:gd name="connsiteX5-455" fmla="*/ 8639 w 8950"/>
                  <a:gd name="connsiteY5-456" fmla="*/ 9990 h 10081"/>
                  <a:gd name="connsiteX6-457" fmla="*/ 3947 w 8950"/>
                  <a:gd name="connsiteY6-458" fmla="*/ 8536 h 10081"/>
                  <a:gd name="connsiteX7-459" fmla="*/ 43 w 8950"/>
                  <a:gd name="connsiteY7-460" fmla="*/ 5651 h 10081"/>
                  <a:gd name="connsiteX0-461" fmla="*/ 48 w 9651"/>
                  <a:gd name="connsiteY0-462" fmla="*/ 5606 h 8648"/>
                  <a:gd name="connsiteX1-463" fmla="*/ 2343 w 9651"/>
                  <a:gd name="connsiteY1-464" fmla="*/ 631 h 8648"/>
                  <a:gd name="connsiteX2-465" fmla="*/ 6304 w 9651"/>
                  <a:gd name="connsiteY2-466" fmla="*/ 165 h 8648"/>
                  <a:gd name="connsiteX3-467" fmla="*/ 9117 w 9651"/>
                  <a:gd name="connsiteY3-468" fmla="*/ 1509 h 8648"/>
                  <a:gd name="connsiteX4-469" fmla="*/ 9467 w 9651"/>
                  <a:gd name="connsiteY4-470" fmla="*/ 5279 h 8648"/>
                  <a:gd name="connsiteX5-471" fmla="*/ 6997 w 9651"/>
                  <a:gd name="connsiteY5-472" fmla="*/ 8019 h 8648"/>
                  <a:gd name="connsiteX6-473" fmla="*/ 4410 w 9651"/>
                  <a:gd name="connsiteY6-474" fmla="*/ 8467 h 8648"/>
                  <a:gd name="connsiteX7-475" fmla="*/ 48 w 9651"/>
                  <a:gd name="connsiteY7-476" fmla="*/ 5606 h 8648"/>
                  <a:gd name="connsiteX0-477" fmla="*/ 41 w 9991"/>
                  <a:gd name="connsiteY0-478" fmla="*/ 6482 h 9316"/>
                  <a:gd name="connsiteX1-479" fmla="*/ 2419 w 9991"/>
                  <a:gd name="connsiteY1-480" fmla="*/ 730 h 9316"/>
                  <a:gd name="connsiteX2-481" fmla="*/ 6523 w 9991"/>
                  <a:gd name="connsiteY2-482" fmla="*/ 191 h 9316"/>
                  <a:gd name="connsiteX3-483" fmla="*/ 9438 w 9991"/>
                  <a:gd name="connsiteY3-484" fmla="*/ 1745 h 9316"/>
                  <a:gd name="connsiteX4-485" fmla="*/ 9800 w 9991"/>
                  <a:gd name="connsiteY4-486" fmla="*/ 6104 h 9316"/>
                  <a:gd name="connsiteX5-487" fmla="*/ 7241 w 9991"/>
                  <a:gd name="connsiteY5-488" fmla="*/ 9273 h 9316"/>
                  <a:gd name="connsiteX6-489" fmla="*/ 1411 w 9991"/>
                  <a:gd name="connsiteY6-490" fmla="*/ 7856 h 9316"/>
                  <a:gd name="connsiteX7-491" fmla="*/ 41 w 9991"/>
                  <a:gd name="connsiteY7-492" fmla="*/ 6482 h 9316"/>
                  <a:gd name="connsiteX0-493" fmla="*/ 19 w 10708"/>
                  <a:gd name="connsiteY0-494" fmla="*/ 7721 h 10038"/>
                  <a:gd name="connsiteX1-495" fmla="*/ 3129 w 10708"/>
                  <a:gd name="connsiteY1-496" fmla="*/ 825 h 10038"/>
                  <a:gd name="connsiteX2-497" fmla="*/ 7237 w 10708"/>
                  <a:gd name="connsiteY2-498" fmla="*/ 246 h 10038"/>
                  <a:gd name="connsiteX3-499" fmla="*/ 10155 w 10708"/>
                  <a:gd name="connsiteY3-500" fmla="*/ 1914 h 10038"/>
                  <a:gd name="connsiteX4-501" fmla="*/ 10517 w 10708"/>
                  <a:gd name="connsiteY4-502" fmla="*/ 6593 h 10038"/>
                  <a:gd name="connsiteX5-503" fmla="*/ 7956 w 10708"/>
                  <a:gd name="connsiteY5-504" fmla="*/ 9995 h 10038"/>
                  <a:gd name="connsiteX6-505" fmla="*/ 2120 w 10708"/>
                  <a:gd name="connsiteY6-506" fmla="*/ 8474 h 10038"/>
                  <a:gd name="connsiteX7-507" fmla="*/ 19 w 10708"/>
                  <a:gd name="connsiteY7-508" fmla="*/ 7721 h 10038"/>
                  <a:gd name="connsiteX0-509" fmla="*/ 359 w 11048"/>
                  <a:gd name="connsiteY0-510" fmla="*/ 7721 h 10038"/>
                  <a:gd name="connsiteX1-511" fmla="*/ 3469 w 11048"/>
                  <a:gd name="connsiteY1-512" fmla="*/ 825 h 10038"/>
                  <a:gd name="connsiteX2-513" fmla="*/ 7577 w 11048"/>
                  <a:gd name="connsiteY2-514" fmla="*/ 246 h 10038"/>
                  <a:gd name="connsiteX3-515" fmla="*/ 10495 w 11048"/>
                  <a:gd name="connsiteY3-516" fmla="*/ 1914 h 10038"/>
                  <a:gd name="connsiteX4-517" fmla="*/ 10857 w 11048"/>
                  <a:gd name="connsiteY4-518" fmla="*/ 6593 h 10038"/>
                  <a:gd name="connsiteX5-519" fmla="*/ 8296 w 11048"/>
                  <a:gd name="connsiteY5-520" fmla="*/ 9995 h 10038"/>
                  <a:gd name="connsiteX6-521" fmla="*/ 2460 w 11048"/>
                  <a:gd name="connsiteY6-522" fmla="*/ 8474 h 10038"/>
                  <a:gd name="connsiteX7-523" fmla="*/ 359 w 11048"/>
                  <a:gd name="connsiteY7-524" fmla="*/ 7721 h 10038"/>
                  <a:gd name="connsiteX0-525" fmla="*/ 359 w 11048"/>
                  <a:gd name="connsiteY0-526" fmla="*/ 8392 h 10075"/>
                  <a:gd name="connsiteX1-527" fmla="*/ 3469 w 11048"/>
                  <a:gd name="connsiteY1-528" fmla="*/ 864 h 10075"/>
                  <a:gd name="connsiteX2-529" fmla="*/ 7577 w 11048"/>
                  <a:gd name="connsiteY2-530" fmla="*/ 285 h 10075"/>
                  <a:gd name="connsiteX3-531" fmla="*/ 10495 w 11048"/>
                  <a:gd name="connsiteY3-532" fmla="*/ 1953 h 10075"/>
                  <a:gd name="connsiteX4-533" fmla="*/ 10857 w 11048"/>
                  <a:gd name="connsiteY4-534" fmla="*/ 6632 h 10075"/>
                  <a:gd name="connsiteX5-535" fmla="*/ 8296 w 11048"/>
                  <a:gd name="connsiteY5-536" fmla="*/ 10034 h 10075"/>
                  <a:gd name="connsiteX6-537" fmla="*/ 2460 w 11048"/>
                  <a:gd name="connsiteY6-538" fmla="*/ 8513 h 10075"/>
                  <a:gd name="connsiteX7-539" fmla="*/ 359 w 11048"/>
                  <a:gd name="connsiteY7-540" fmla="*/ 8392 h 10075"/>
                  <a:gd name="connsiteX0-541" fmla="*/ 371 w 11060"/>
                  <a:gd name="connsiteY0-542" fmla="*/ 8392 h 10075"/>
                  <a:gd name="connsiteX1-543" fmla="*/ 3481 w 11060"/>
                  <a:gd name="connsiteY1-544" fmla="*/ 864 h 10075"/>
                  <a:gd name="connsiteX2-545" fmla="*/ 7589 w 11060"/>
                  <a:gd name="connsiteY2-546" fmla="*/ 285 h 10075"/>
                  <a:gd name="connsiteX3-547" fmla="*/ 10507 w 11060"/>
                  <a:gd name="connsiteY3-548" fmla="*/ 1953 h 10075"/>
                  <a:gd name="connsiteX4-549" fmla="*/ 10869 w 11060"/>
                  <a:gd name="connsiteY4-550" fmla="*/ 6632 h 10075"/>
                  <a:gd name="connsiteX5-551" fmla="*/ 8308 w 11060"/>
                  <a:gd name="connsiteY5-552" fmla="*/ 10034 h 10075"/>
                  <a:gd name="connsiteX6-553" fmla="*/ 2472 w 11060"/>
                  <a:gd name="connsiteY6-554" fmla="*/ 8513 h 10075"/>
                  <a:gd name="connsiteX7-555" fmla="*/ 371 w 11060"/>
                  <a:gd name="connsiteY7-556" fmla="*/ 8392 h 10075"/>
                  <a:gd name="connsiteX0-557" fmla="*/ 54 w 10743"/>
                  <a:gd name="connsiteY0-558" fmla="*/ 9468 h 11151"/>
                  <a:gd name="connsiteX1-559" fmla="*/ 4027 w 10743"/>
                  <a:gd name="connsiteY1-560" fmla="*/ 495 h 11151"/>
                  <a:gd name="connsiteX2-561" fmla="*/ 7272 w 10743"/>
                  <a:gd name="connsiteY2-562" fmla="*/ 1361 h 11151"/>
                  <a:gd name="connsiteX3-563" fmla="*/ 10190 w 10743"/>
                  <a:gd name="connsiteY3-564" fmla="*/ 3029 h 11151"/>
                  <a:gd name="connsiteX4-565" fmla="*/ 10552 w 10743"/>
                  <a:gd name="connsiteY4-566" fmla="*/ 7708 h 11151"/>
                  <a:gd name="connsiteX5-567" fmla="*/ 7991 w 10743"/>
                  <a:gd name="connsiteY5-568" fmla="*/ 11110 h 11151"/>
                  <a:gd name="connsiteX6-569" fmla="*/ 2155 w 10743"/>
                  <a:gd name="connsiteY6-570" fmla="*/ 9589 h 11151"/>
                  <a:gd name="connsiteX7-571" fmla="*/ 54 w 10743"/>
                  <a:gd name="connsiteY7-572" fmla="*/ 9468 h 11151"/>
                  <a:gd name="connsiteX0-573" fmla="*/ 54 w 10743"/>
                  <a:gd name="connsiteY0-574" fmla="*/ 9506 h 11189"/>
                  <a:gd name="connsiteX1-575" fmla="*/ 4027 w 10743"/>
                  <a:gd name="connsiteY1-576" fmla="*/ 533 h 11189"/>
                  <a:gd name="connsiteX2-577" fmla="*/ 7272 w 10743"/>
                  <a:gd name="connsiteY2-578" fmla="*/ 1399 h 11189"/>
                  <a:gd name="connsiteX3-579" fmla="*/ 10190 w 10743"/>
                  <a:gd name="connsiteY3-580" fmla="*/ 3067 h 11189"/>
                  <a:gd name="connsiteX4-581" fmla="*/ 10552 w 10743"/>
                  <a:gd name="connsiteY4-582" fmla="*/ 7746 h 11189"/>
                  <a:gd name="connsiteX5-583" fmla="*/ 7991 w 10743"/>
                  <a:gd name="connsiteY5-584" fmla="*/ 11148 h 11189"/>
                  <a:gd name="connsiteX6-585" fmla="*/ 2155 w 10743"/>
                  <a:gd name="connsiteY6-586" fmla="*/ 9627 h 11189"/>
                  <a:gd name="connsiteX7-587" fmla="*/ 54 w 10743"/>
                  <a:gd name="connsiteY7-588" fmla="*/ 9506 h 11189"/>
                  <a:gd name="connsiteX0-589" fmla="*/ 40 w 11293"/>
                  <a:gd name="connsiteY0-590" fmla="*/ 9082 h 11127"/>
                  <a:gd name="connsiteX1-591" fmla="*/ 4577 w 11293"/>
                  <a:gd name="connsiteY1-592" fmla="*/ 470 h 11127"/>
                  <a:gd name="connsiteX2-593" fmla="*/ 7822 w 11293"/>
                  <a:gd name="connsiteY2-594" fmla="*/ 1336 h 11127"/>
                  <a:gd name="connsiteX3-595" fmla="*/ 10740 w 11293"/>
                  <a:gd name="connsiteY3-596" fmla="*/ 3004 h 11127"/>
                  <a:gd name="connsiteX4-597" fmla="*/ 11102 w 11293"/>
                  <a:gd name="connsiteY4-598" fmla="*/ 7683 h 11127"/>
                  <a:gd name="connsiteX5-599" fmla="*/ 8541 w 11293"/>
                  <a:gd name="connsiteY5-600" fmla="*/ 11085 h 11127"/>
                  <a:gd name="connsiteX6-601" fmla="*/ 2705 w 11293"/>
                  <a:gd name="connsiteY6-602" fmla="*/ 9564 h 11127"/>
                  <a:gd name="connsiteX7-603" fmla="*/ 40 w 11293"/>
                  <a:gd name="connsiteY7-604" fmla="*/ 9082 h 1112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p:spPr>
            <p:txBody>
              <a:bodyPr wrap="none" anchor="ctr"/>
              <a:lstStyle/>
              <a:p>
                <a:endParaRPr lang="en-US"/>
              </a:p>
            </p:txBody>
          </p:sp>
          <p:grpSp>
            <p:nvGrpSpPr>
              <p:cNvPr id="370" name="Group 327"/>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76581" y="5223365"/>
                <a:ext cx="466894" cy="369332"/>
                <a:chOff x="599495" y="1708643"/>
                <a:chExt cx="491778" cy="409344"/>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99495" y="1708643"/>
                  <a:ext cx="491778" cy="409344"/>
                </a:xfrm>
                <a:prstGeom prst="rect">
                  <a:avLst/>
                </a:prstGeom>
                <a:noFill/>
              </p:spPr>
              <p:txBody>
                <a:bodyPr wrap="none" rtlCol="0">
                  <a:spAutoFit/>
                </a:bodyPr>
                <a:lstStyle/>
                <a:p>
                  <a:pPr algn="ctr"/>
                  <a:r>
                    <a:rPr lang="en-US" dirty="0"/>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grpSp>
        <p:nvGrpSpPr>
          <p:cNvPr id="18" name="Group 117"/>
          <p:cNvGrpSpPr/>
          <p:nvPr/>
        </p:nvGrpSpPr>
        <p:grpSpPr bwMode="auto">
          <a:xfrm>
            <a:off x="5713440" y="4938746"/>
            <a:ext cx="2590803" cy="1117600"/>
            <a:chOff x="2244" y="2236"/>
            <a:chExt cx="1632" cy="704"/>
          </a:xfrm>
        </p:grpSpPr>
        <p:sp>
          <p:nvSpPr>
            <p:cNvPr id="162850" name="AutoShape 118"/>
            <p:cNvSpPr>
              <a:spLocks noChangeArrowheads="1"/>
            </p:cNvSpPr>
            <p:nvPr/>
          </p:nvSpPr>
          <p:spPr bwMode="auto">
            <a:xfrm rot="17597965">
              <a:off x="2089" y="2391"/>
              <a:ext cx="484" cy="174"/>
            </a:xfrm>
            <a:prstGeom prst="leftArrow">
              <a:avLst>
                <a:gd name="adj1" fmla="val 50000"/>
                <a:gd name="adj2" fmla="val 69540"/>
              </a:avLst>
            </a:prstGeom>
            <a:gradFill rotWithShape="1">
              <a:gsLst>
                <a:gs pos="0">
                  <a:srgbClr val="FF0000"/>
                </a:gs>
                <a:gs pos="100000">
                  <a:schemeClr val="bg1"/>
                </a:gs>
              </a:gsLst>
              <a:lin ang="0" scaled="1"/>
            </a:gradFill>
            <a:ln>
              <a:noFill/>
            </a:ln>
          </p:spPr>
          <p:txBody>
            <a:bodyPr wrap="none" anchor="ctr"/>
            <a:lstStyle/>
            <a:p>
              <a:endParaRPr lang="en-US"/>
            </a:p>
          </p:txBody>
        </p:sp>
        <p:sp>
          <p:nvSpPr>
            <p:cNvPr id="162851" name="Text Box 119"/>
            <p:cNvSpPr txBox="1">
              <a:spLocks noChangeArrowheads="1"/>
            </p:cNvSpPr>
            <p:nvPr/>
          </p:nvSpPr>
          <p:spPr bwMode="auto">
            <a:xfrm>
              <a:off x="2325" y="2614"/>
              <a:ext cx="1551" cy="326"/>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nSpc>
                  <a:spcPct val="85000"/>
                </a:lnSpc>
              </a:pPr>
              <a:r>
                <a:rPr lang="en-US" sz="1600" i="1" dirty="0">
                  <a:solidFill>
                    <a:srgbClr val="CC0000"/>
                  </a:solidFill>
                </a:rPr>
                <a:t>BGP advertisement:</a:t>
              </a:r>
            </a:p>
            <a:p>
              <a:pPr>
                <a:lnSpc>
                  <a:spcPct val="85000"/>
                </a:lnSpc>
              </a:pPr>
              <a:r>
                <a:rPr lang="en-US" sz="1600" i="1" dirty="0">
                  <a:solidFill>
                    <a:srgbClr val="CC0000"/>
                  </a:solidFill>
                </a:rPr>
                <a:t>AS3, X</a:t>
              </a:r>
            </a:p>
          </p:txBody>
        </p:sp>
      </p:grpSp>
      <p:sp>
        <p:nvSpPr>
          <p:cNvPr id="325"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74</a:t>
            </a:fld>
            <a:endParaRPr lang="en-US" sz="1200" dirty="0">
              <a:latin typeface="Tahoma" panose="020B0604030504040204" charset="0"/>
            </a:endParaRPr>
          </a:p>
        </p:txBody>
      </p:sp>
      <p:sp>
        <p:nvSpPr>
          <p:cNvPr id="326"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753668">
                                            <p:txEl>
                                              <p:pRg st="0" end="0"/>
                                            </p:txEl>
                                          </p:spTgt>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753668">
                                            <p:txEl>
                                              <p:pRg st="1" end="1"/>
                                            </p:txEl>
                                          </p:spTgt>
                                        </p:tgtEl>
                                        <p:attrNameLst>
                                          <p:attrName>style.visibility</p:attrName>
                                        </p:attrNameLst>
                                      </p:cBhvr>
                                      <p:to>
                                        <p:strVal val="visible"/>
                                      </p:to>
                                    </p:set>
                                  </p:childTnLst>
                                </p:cTn>
                              </p:par>
                              <p:par>
                                <p:cTn id="14" presetID="22" presetClass="entr" presetSubtype="1" fill="hold" nodeType="with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wipe(up)">
                                      <p:cBhvr>
                                        <p:cTn id="16"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2" name="Rectangle 2"/>
          <p:cNvSpPr>
            <a:spLocks noGrp="1" noChangeArrowheads="1"/>
          </p:cNvSpPr>
          <p:nvPr>
            <p:ph type="title"/>
          </p:nvPr>
        </p:nvSpPr>
        <p:spPr>
          <a:xfrm>
            <a:off x="377825" y="150813"/>
            <a:ext cx="7772400" cy="1143000"/>
          </a:xfrm>
        </p:spPr>
        <p:txBody>
          <a:bodyPr/>
          <a:lstStyle/>
          <a:p>
            <a:pPr>
              <a:defRPr/>
            </a:pPr>
            <a:r>
              <a:rPr lang="en-US" sz="4000">
                <a:cs typeface="+mj-cs"/>
              </a:rPr>
              <a:t>Path attributes and BGP routes</a:t>
            </a:r>
          </a:p>
        </p:txBody>
      </p:sp>
      <p:sp>
        <p:nvSpPr>
          <p:cNvPr id="164868" name="Rectangle 3"/>
          <p:cNvSpPr>
            <a:spLocks noGrp="1" noChangeArrowheads="1"/>
          </p:cNvSpPr>
          <p:nvPr>
            <p:ph type="body" idx="1"/>
          </p:nvPr>
        </p:nvSpPr>
        <p:spPr>
          <a:xfrm>
            <a:off x="466725" y="1422400"/>
            <a:ext cx="8247063" cy="4648200"/>
          </a:xfrm>
        </p:spPr>
        <p:txBody>
          <a:bodyPr/>
          <a:lstStyle/>
          <a:p>
            <a:r>
              <a:rPr lang="en-US" dirty="0">
                <a:latin typeface="Gill Sans MT" pitchFamily="34" charset="0"/>
              </a:rPr>
              <a:t>advertised prefix includes BGP attributes </a:t>
            </a:r>
          </a:p>
          <a:p>
            <a:pPr lvl="1"/>
            <a:r>
              <a:rPr lang="en-US" dirty="0">
                <a:latin typeface="Gill Sans MT" pitchFamily="34" charset="0"/>
              </a:rPr>
              <a:t>prefix + attributes = </a:t>
            </a:r>
            <a:r>
              <a:rPr lang="ja-JP" altLang="en-US" dirty="0">
                <a:latin typeface="Gill Sans MT" pitchFamily="34" charset="0"/>
              </a:rPr>
              <a:t>“</a:t>
            </a:r>
            <a:r>
              <a:rPr lang="en-US" altLang="ja-JP" dirty="0">
                <a:latin typeface="Gill Sans MT" pitchFamily="34" charset="0"/>
              </a:rPr>
              <a:t>route</a:t>
            </a:r>
            <a:r>
              <a:rPr lang="ja-JP" altLang="en-US" dirty="0">
                <a:latin typeface="Gill Sans MT" pitchFamily="34" charset="0"/>
              </a:rPr>
              <a:t>”</a:t>
            </a:r>
            <a:endParaRPr lang="en-US" altLang="ja-JP" dirty="0">
              <a:latin typeface="Gill Sans MT" pitchFamily="34" charset="0"/>
            </a:endParaRPr>
          </a:p>
          <a:p>
            <a:r>
              <a:rPr lang="en-US" dirty="0">
                <a:latin typeface="Gill Sans MT" pitchFamily="34" charset="0"/>
              </a:rPr>
              <a:t>two important attributes:</a:t>
            </a:r>
          </a:p>
          <a:p>
            <a:pPr lvl="1"/>
            <a:r>
              <a:rPr lang="en-US" dirty="0">
                <a:solidFill>
                  <a:srgbClr val="000090"/>
                </a:solidFill>
                <a:latin typeface="Gill Sans MT" pitchFamily="34" charset="0"/>
              </a:rPr>
              <a:t>AS-PATH: </a:t>
            </a:r>
            <a:r>
              <a:rPr lang="en-US" dirty="0">
                <a:latin typeface="Gill Sans MT" pitchFamily="34" charset="0"/>
              </a:rPr>
              <a:t>list of </a:t>
            </a:r>
            <a:r>
              <a:rPr lang="en-US" dirty="0" err="1">
                <a:latin typeface="Gill Sans MT" pitchFamily="34" charset="0"/>
              </a:rPr>
              <a:t>ASes</a:t>
            </a:r>
            <a:r>
              <a:rPr lang="en-US" dirty="0">
                <a:latin typeface="Gill Sans MT" pitchFamily="34" charset="0"/>
              </a:rPr>
              <a:t> through which prefix advertisement has passed</a:t>
            </a:r>
          </a:p>
          <a:p>
            <a:pPr lvl="1"/>
            <a:r>
              <a:rPr lang="en-US" dirty="0">
                <a:solidFill>
                  <a:srgbClr val="000090"/>
                </a:solidFill>
                <a:latin typeface="Gill Sans MT" pitchFamily="34" charset="0"/>
              </a:rPr>
              <a:t>NEXT-HOP</a:t>
            </a:r>
            <a:r>
              <a:rPr lang="en-US" dirty="0">
                <a:solidFill>
                  <a:srgbClr val="CC0000"/>
                </a:solidFill>
                <a:latin typeface="Gill Sans MT" pitchFamily="34" charset="0"/>
              </a:rPr>
              <a:t>:</a:t>
            </a:r>
            <a:r>
              <a:rPr lang="en-US" dirty="0">
                <a:latin typeface="Gill Sans MT" pitchFamily="34" charset="0"/>
              </a:rPr>
              <a:t> indicates specific internal-AS router to next-hop AS</a:t>
            </a:r>
          </a:p>
          <a:p>
            <a:r>
              <a:rPr lang="en-US" i="1" dirty="0">
                <a:solidFill>
                  <a:srgbClr val="CC0000"/>
                </a:solidFill>
                <a:latin typeface="Gill Sans MT" pitchFamily="34" charset="0"/>
              </a:rPr>
              <a:t>Policy-based routing:</a:t>
            </a:r>
          </a:p>
          <a:p>
            <a:pPr lvl="1"/>
            <a:r>
              <a:rPr lang="en-US" dirty="0">
                <a:latin typeface="Gill Sans MT" pitchFamily="34" charset="0"/>
              </a:rPr>
              <a:t>gateway receiving route advertisement uses </a:t>
            </a:r>
            <a:r>
              <a:rPr lang="en-US" i="1" dirty="0">
                <a:solidFill>
                  <a:srgbClr val="CC0000"/>
                </a:solidFill>
                <a:latin typeface="Gill Sans MT" pitchFamily="34" charset="0"/>
              </a:rPr>
              <a:t>import policy</a:t>
            </a:r>
            <a:r>
              <a:rPr lang="en-US" i="1" dirty="0">
                <a:latin typeface="Gill Sans MT" pitchFamily="34" charset="0"/>
              </a:rPr>
              <a:t> </a:t>
            </a:r>
            <a:r>
              <a:rPr lang="en-US" dirty="0">
                <a:latin typeface="Gill Sans MT" pitchFamily="34" charset="0"/>
              </a:rPr>
              <a:t>to accept/decline path (e.g., never route through AS Y).</a:t>
            </a:r>
          </a:p>
          <a:p>
            <a:pPr lvl="1"/>
            <a:r>
              <a:rPr lang="en-US" dirty="0">
                <a:latin typeface="Gill Sans MT" pitchFamily="34" charset="0"/>
              </a:rPr>
              <a:t>AS policy also determines whether to </a:t>
            </a:r>
            <a:r>
              <a:rPr lang="en-US" i="1" dirty="0">
                <a:solidFill>
                  <a:srgbClr val="CC0000"/>
                </a:solidFill>
                <a:latin typeface="Gill Sans MT" pitchFamily="34" charset="0"/>
              </a:rPr>
              <a:t>advertise</a:t>
            </a:r>
            <a:r>
              <a:rPr lang="en-US" dirty="0">
                <a:latin typeface="Gill Sans MT" pitchFamily="34" charset="0"/>
              </a:rPr>
              <a:t> path to other other neighboring </a:t>
            </a:r>
            <a:r>
              <a:rPr lang="en-US" dirty="0" err="1">
                <a:latin typeface="Gill Sans MT" pitchFamily="34" charset="0"/>
              </a:rPr>
              <a:t>ASes</a:t>
            </a:r>
            <a:endParaRPr lang="en-US" dirty="0">
              <a:latin typeface="Gill Sans MT" pitchFamily="34" charset="0"/>
            </a:endParaRPr>
          </a:p>
          <a:p>
            <a:pPr lvl="1"/>
            <a:endParaRPr lang="en-US" dirty="0">
              <a:latin typeface="Gill Sans MT" pitchFamily="34" charset="0"/>
            </a:endParaRPr>
          </a:p>
        </p:txBody>
      </p:sp>
      <p:pic>
        <p:nvPicPr>
          <p:cNvPr id="164869"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688" y="993775"/>
            <a:ext cx="7313612" cy="173038"/>
          </a:xfrm>
          <a:prstGeom prst="rect">
            <a:avLst/>
          </a:prstGeom>
          <a:noFill/>
          <a:ln>
            <a:noFill/>
          </a:ln>
        </p:spPr>
      </p:pic>
      <p:sp>
        <p:nvSpPr>
          <p:cNvPr id="5"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75</a:t>
            </a:fld>
            <a:endParaRPr lang="en-US" sz="1200" dirty="0">
              <a:latin typeface="Tahoma" panose="020B0604030504040204" charset="0"/>
            </a:endParaRPr>
          </a:p>
        </p:txBody>
      </p:sp>
      <p:sp>
        <p:nvSpPr>
          <p:cNvPr id="6"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a:xfrm>
            <a:off x="533400" y="0"/>
            <a:ext cx="7772400" cy="1143000"/>
          </a:xfrm>
        </p:spPr>
        <p:txBody>
          <a:bodyPr/>
          <a:lstStyle/>
          <a:p>
            <a:pPr>
              <a:defRPr/>
            </a:pPr>
            <a:r>
              <a:rPr lang="en-US" dirty="0">
                <a:cs typeface="+mj-cs"/>
              </a:rPr>
              <a:t>BGP path advertisement</a:t>
            </a:r>
          </a:p>
        </p:txBody>
      </p:sp>
      <p:sp>
        <p:nvSpPr>
          <p:cNvPr id="753668" name="Rectangle 4"/>
          <p:cNvSpPr>
            <a:spLocks noGrp="1" noChangeArrowheads="1"/>
          </p:cNvSpPr>
          <p:nvPr>
            <p:ph type="body" idx="1"/>
          </p:nvPr>
        </p:nvSpPr>
        <p:spPr>
          <a:xfrm>
            <a:off x="399869" y="4977429"/>
            <a:ext cx="8505825" cy="845038"/>
          </a:xfrm>
        </p:spPr>
        <p:txBody>
          <a:bodyPr/>
          <a:lstStyle/>
          <a:p>
            <a:pPr marL="294005" indent="-294005">
              <a:lnSpc>
                <a:spcPts val="2140"/>
              </a:lnSpc>
            </a:pPr>
            <a:r>
              <a:rPr lang="en-US" sz="2200" dirty="0">
                <a:latin typeface="Gill Sans MT" pitchFamily="34" charset="0"/>
              </a:rPr>
              <a:t>Based on AS2 policy, AS2 router 2c accepts path AS3,X, propagates (via iBGP) to all AS2 routers</a:t>
            </a:r>
          </a:p>
          <a:p>
            <a:endParaRPr lang="en-US" sz="2000" dirty="0">
              <a:latin typeface="Gill Sans MT" pitchFamily="34" charset="0"/>
            </a:endParaRPr>
          </a:p>
        </p:txBody>
      </p:sp>
      <p:pic>
        <p:nvPicPr>
          <p:cNvPr id="162849" name="Picture 121"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187" y="800100"/>
            <a:ext cx="5602043" cy="176823"/>
          </a:xfrm>
          <a:prstGeom prst="rect">
            <a:avLst/>
          </a:prstGeom>
          <a:noFill/>
          <a:ln>
            <a:noFill/>
          </a:ln>
        </p:spPr>
      </p:pic>
      <p:grpSp>
        <p:nvGrpSpPr>
          <p:cNvPr id="125" name="Group 124"/>
          <p:cNvGrpSpPr/>
          <p:nvPr/>
        </p:nvGrpSpPr>
        <p:grpSpPr>
          <a:xfrm>
            <a:off x="624887" y="1451514"/>
            <a:ext cx="2557336" cy="1719017"/>
            <a:chOff x="-2170772" y="2784954"/>
            <a:chExt cx="2712783" cy="1853712"/>
          </a:xfrm>
        </p:grpSpPr>
        <p:sp>
          <p:nvSpPr>
            <p:cNvPr id="261" name="Freeform 2"/>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262" name="Group 261"/>
            <p:cNvGrpSpPr/>
            <p:nvPr/>
          </p:nvGrpSpPr>
          <p:grpSpPr>
            <a:xfrm>
              <a:off x="-1935370" y="2935816"/>
              <a:ext cx="2333625" cy="1590649"/>
              <a:chOff x="833331" y="2873352"/>
              <a:chExt cx="2333625" cy="1590649"/>
            </a:xfrm>
          </p:grpSpPr>
          <p:grpSp>
            <p:nvGrpSpPr>
              <p:cNvPr id="263" name="Group 262"/>
              <p:cNvGrpSpPr/>
              <p:nvPr/>
            </p:nvGrpSpPr>
            <p:grpSpPr>
              <a:xfrm>
                <a:off x="1736090" y="2873352"/>
                <a:ext cx="565150" cy="369332"/>
                <a:chOff x="1736090" y="2873352"/>
                <a:chExt cx="565150" cy="369332"/>
              </a:xfrm>
            </p:grpSpPr>
            <p:grpSp>
              <p:nvGrpSpPr>
                <p:cNvPr id="312" name="Group 327"/>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41422" cy="369332"/>
                  <a:chOff x="667045" y="1708643"/>
                  <a:chExt cx="441422" cy="369332"/>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41422" cy="369332"/>
                  </a:xfrm>
                  <a:prstGeom prst="rect">
                    <a:avLst/>
                  </a:prstGeom>
                  <a:noFill/>
                </p:spPr>
                <p:txBody>
                  <a:bodyPr wrap="none" rtlCol="0">
                    <a:spAutoFit/>
                  </a:bodyPr>
                  <a:lstStyle/>
                  <a:p>
                    <a:r>
                      <a:rPr lang="en-US" dirty="0"/>
                      <a:t>1b</a:t>
                    </a:r>
                  </a:p>
                </p:txBody>
              </p:sp>
            </p:grpSp>
          </p:grpSp>
          <p:grpSp>
            <p:nvGrpSpPr>
              <p:cNvPr id="264" name="Group 263"/>
              <p:cNvGrpSpPr/>
              <p:nvPr/>
            </p:nvGrpSpPr>
            <p:grpSpPr>
              <a:xfrm>
                <a:off x="1740320" y="4094669"/>
                <a:ext cx="565150" cy="369332"/>
                <a:chOff x="1736090" y="2873352"/>
                <a:chExt cx="565150" cy="369332"/>
              </a:xfrm>
            </p:grpSpPr>
            <p:grpSp>
              <p:nvGrpSpPr>
                <p:cNvPr id="299" name="Group 327"/>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41422" cy="369332"/>
                  <a:chOff x="667045" y="1708643"/>
                  <a:chExt cx="441422" cy="369332"/>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41422" cy="369332"/>
                  </a:xfrm>
                  <a:prstGeom prst="rect">
                    <a:avLst/>
                  </a:prstGeom>
                  <a:noFill/>
                </p:spPr>
                <p:txBody>
                  <a:bodyPr wrap="none" rtlCol="0">
                    <a:spAutoFit/>
                  </a:bodyPr>
                  <a:lstStyle/>
                  <a:p>
                    <a:r>
                      <a:rPr lang="en-US" dirty="0"/>
                      <a:t>1d</a:t>
                    </a:r>
                  </a:p>
                </p:txBody>
              </p:sp>
            </p:grpSp>
          </p:grpSp>
          <p:grpSp>
            <p:nvGrpSpPr>
              <p:cNvPr id="265" name="Group 264"/>
              <p:cNvGrpSpPr/>
              <p:nvPr/>
            </p:nvGrpSpPr>
            <p:grpSpPr>
              <a:xfrm>
                <a:off x="2601806" y="3485072"/>
                <a:ext cx="565150" cy="369332"/>
                <a:chOff x="1736090" y="2873352"/>
                <a:chExt cx="565150" cy="369332"/>
              </a:xfrm>
            </p:grpSpPr>
            <p:grpSp>
              <p:nvGrpSpPr>
                <p:cNvPr id="286" name="Group 327"/>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28460" cy="369332"/>
                  <a:chOff x="667045" y="1708643"/>
                  <a:chExt cx="428460" cy="369332"/>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28460" cy="369332"/>
                  </a:xfrm>
                  <a:prstGeom prst="rect">
                    <a:avLst/>
                  </a:prstGeom>
                  <a:noFill/>
                </p:spPr>
                <p:txBody>
                  <a:bodyPr wrap="none" rtlCol="0">
                    <a:spAutoFit/>
                  </a:bodyPr>
                  <a:lstStyle/>
                  <a:p>
                    <a:r>
                      <a:rPr lang="en-US" dirty="0"/>
                      <a:t>1c</a:t>
                    </a:r>
                  </a:p>
                </p:txBody>
              </p:sp>
            </p:grpSp>
          </p:grpSp>
          <p:grpSp>
            <p:nvGrpSpPr>
              <p:cNvPr id="266" name="Group 265"/>
              <p:cNvGrpSpPr/>
              <p:nvPr/>
            </p:nvGrpSpPr>
            <p:grpSpPr>
              <a:xfrm>
                <a:off x="833331" y="3478719"/>
                <a:ext cx="565150" cy="369332"/>
                <a:chOff x="1736090" y="2873352"/>
                <a:chExt cx="565150" cy="369332"/>
              </a:xfrm>
            </p:grpSpPr>
            <p:grpSp>
              <p:nvGrpSpPr>
                <p:cNvPr id="273" name="Group 327"/>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41422" cy="369332"/>
                  <a:chOff x="667045" y="1708643"/>
                  <a:chExt cx="441422" cy="369332"/>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41422" cy="369332"/>
                  </a:xfrm>
                  <a:prstGeom prst="rect">
                    <a:avLst/>
                  </a:prstGeom>
                  <a:noFill/>
                </p:spPr>
                <p:txBody>
                  <a:bodyPr wrap="none" rtlCol="0">
                    <a:spAutoFit/>
                  </a:bodyPr>
                  <a:lstStyle/>
                  <a:p>
                    <a:r>
                      <a:rPr lang="en-US" dirty="0"/>
                      <a:t>1a</a:t>
                    </a:r>
                  </a:p>
                </p:txBody>
              </p:sp>
            </p:grpSp>
          </p:grpSp>
          <p:cxnSp>
            <p:nvCxnSpPr>
              <p:cNvPr id="267" name="Straight Connector 266"/>
              <p:cNvCxnSpPr>
                <a:stCxn id="315" idx="2"/>
                <a:endCxn id="302"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68" name="Straight Connector 267"/>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70" name="Straight Connector 269"/>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72" name="Straight Connector 271"/>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grpSp>
      <p:grpSp>
        <p:nvGrpSpPr>
          <p:cNvPr id="126" name="Group 125"/>
          <p:cNvGrpSpPr/>
          <p:nvPr/>
        </p:nvGrpSpPr>
        <p:grpSpPr>
          <a:xfrm>
            <a:off x="3285692" y="2378685"/>
            <a:ext cx="2545688" cy="1720535"/>
            <a:chOff x="-2170772" y="2784954"/>
            <a:chExt cx="2712783" cy="1853712"/>
          </a:xfrm>
        </p:grpSpPr>
        <p:sp>
          <p:nvSpPr>
            <p:cNvPr id="197" name="Freeform 2"/>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198" name="Group 197"/>
            <p:cNvGrpSpPr/>
            <p:nvPr/>
          </p:nvGrpSpPr>
          <p:grpSpPr>
            <a:xfrm>
              <a:off x="-1935370" y="2935816"/>
              <a:ext cx="2333625" cy="1590649"/>
              <a:chOff x="833331" y="2873352"/>
              <a:chExt cx="2333625" cy="1590649"/>
            </a:xfrm>
          </p:grpSpPr>
          <p:grpSp>
            <p:nvGrpSpPr>
              <p:cNvPr id="199" name="Group 198"/>
              <p:cNvGrpSpPr/>
              <p:nvPr/>
            </p:nvGrpSpPr>
            <p:grpSpPr>
              <a:xfrm>
                <a:off x="1736090" y="2873352"/>
                <a:ext cx="565150" cy="369332"/>
                <a:chOff x="1736090" y="2873352"/>
                <a:chExt cx="565150" cy="369332"/>
              </a:xfrm>
            </p:grpSpPr>
            <p:grpSp>
              <p:nvGrpSpPr>
                <p:cNvPr id="248" name="Group 327"/>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41422" cy="369332"/>
                  <a:chOff x="667045" y="1708643"/>
                  <a:chExt cx="441422" cy="369332"/>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41422" cy="369332"/>
                  </a:xfrm>
                  <a:prstGeom prst="rect">
                    <a:avLst/>
                  </a:prstGeom>
                  <a:noFill/>
                </p:spPr>
                <p:txBody>
                  <a:bodyPr wrap="none" rtlCol="0">
                    <a:spAutoFit/>
                  </a:bodyPr>
                  <a:lstStyle/>
                  <a:p>
                    <a:r>
                      <a:rPr lang="en-US" dirty="0"/>
                      <a:t>2b</a:t>
                    </a:r>
                  </a:p>
                </p:txBody>
              </p:sp>
            </p:grpSp>
          </p:grpSp>
          <p:grpSp>
            <p:nvGrpSpPr>
              <p:cNvPr id="200" name="Group 199"/>
              <p:cNvGrpSpPr/>
              <p:nvPr/>
            </p:nvGrpSpPr>
            <p:grpSpPr>
              <a:xfrm>
                <a:off x="1740320" y="4094669"/>
                <a:ext cx="565150" cy="369332"/>
                <a:chOff x="1736090" y="2873352"/>
                <a:chExt cx="565150" cy="369332"/>
              </a:xfrm>
            </p:grpSpPr>
            <p:grpSp>
              <p:nvGrpSpPr>
                <p:cNvPr id="235" name="Group 327"/>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41422" cy="369332"/>
                  <a:chOff x="667045" y="1708643"/>
                  <a:chExt cx="441422" cy="369332"/>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41422" cy="369332"/>
                  </a:xfrm>
                  <a:prstGeom prst="rect">
                    <a:avLst/>
                  </a:prstGeom>
                  <a:noFill/>
                </p:spPr>
                <p:txBody>
                  <a:bodyPr wrap="none" rtlCol="0">
                    <a:spAutoFit/>
                  </a:bodyPr>
                  <a:lstStyle/>
                  <a:p>
                    <a:r>
                      <a:rPr lang="en-US" dirty="0"/>
                      <a:t>2d</a:t>
                    </a:r>
                  </a:p>
                </p:txBody>
              </p:sp>
            </p:grpSp>
          </p:grpSp>
          <p:grpSp>
            <p:nvGrpSpPr>
              <p:cNvPr id="201" name="Group 200"/>
              <p:cNvGrpSpPr/>
              <p:nvPr/>
            </p:nvGrpSpPr>
            <p:grpSpPr>
              <a:xfrm>
                <a:off x="2601806" y="3485072"/>
                <a:ext cx="565150" cy="369332"/>
                <a:chOff x="1736090" y="2873352"/>
                <a:chExt cx="565150" cy="369332"/>
              </a:xfrm>
            </p:grpSpPr>
            <p:grpSp>
              <p:nvGrpSpPr>
                <p:cNvPr id="222" name="Group 327"/>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28460" cy="369332"/>
                  <a:chOff x="667045" y="1708643"/>
                  <a:chExt cx="428460" cy="369332"/>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28460" cy="369332"/>
                  </a:xfrm>
                  <a:prstGeom prst="rect">
                    <a:avLst/>
                  </a:prstGeom>
                  <a:noFill/>
                </p:spPr>
                <p:txBody>
                  <a:bodyPr wrap="none" rtlCol="0">
                    <a:spAutoFit/>
                  </a:bodyPr>
                  <a:lstStyle/>
                  <a:p>
                    <a:r>
                      <a:rPr lang="en-US" dirty="0"/>
                      <a:t>2c</a:t>
                    </a:r>
                  </a:p>
                </p:txBody>
              </p:sp>
            </p:grpSp>
          </p:grpSp>
          <p:grpSp>
            <p:nvGrpSpPr>
              <p:cNvPr id="202" name="Group 201"/>
              <p:cNvGrpSpPr/>
              <p:nvPr/>
            </p:nvGrpSpPr>
            <p:grpSpPr>
              <a:xfrm>
                <a:off x="833331" y="3478719"/>
                <a:ext cx="565150" cy="369332"/>
                <a:chOff x="1736090" y="2873352"/>
                <a:chExt cx="565150" cy="369332"/>
              </a:xfrm>
            </p:grpSpPr>
            <p:grpSp>
              <p:nvGrpSpPr>
                <p:cNvPr id="209" name="Group 327"/>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441422" cy="369332"/>
                  <a:chOff x="667045" y="1708643"/>
                  <a:chExt cx="441422" cy="369332"/>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441422" cy="369332"/>
                  </a:xfrm>
                  <a:prstGeom prst="rect">
                    <a:avLst/>
                  </a:prstGeom>
                  <a:noFill/>
                </p:spPr>
                <p:txBody>
                  <a:bodyPr wrap="none" rtlCol="0">
                    <a:spAutoFit/>
                  </a:bodyPr>
                  <a:lstStyle/>
                  <a:p>
                    <a:r>
                      <a:rPr lang="en-US" dirty="0"/>
                      <a:t>2a</a:t>
                    </a:r>
                  </a:p>
                </p:txBody>
              </p:sp>
            </p:grpSp>
          </p:grpSp>
          <p:cxnSp>
            <p:nvCxnSpPr>
              <p:cNvPr id="203" name="Straight Connector 202"/>
              <p:cNvCxnSpPr>
                <a:stCxn id="251" idx="2"/>
                <a:endCxn id="238"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4" name="Straight Connector 203"/>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5" name="Straight Connector 204"/>
              <p:cNvCxnSpPr>
                <a:stCxn id="252"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6" name="Straight Connector 205"/>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7" name="Straight Connector 206"/>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8" name="Straight Connector 207"/>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grpSp>
      <p:sp>
        <p:nvSpPr>
          <p:cNvPr id="133" name="Freeform 2"/>
          <p:cNvSpPr/>
          <p:nvPr/>
        </p:nvSpPr>
        <p:spPr bwMode="auto">
          <a:xfrm>
            <a:off x="5507686" y="1310427"/>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134" name="Group 133"/>
          <p:cNvGrpSpPr/>
          <p:nvPr/>
        </p:nvGrpSpPr>
        <p:grpSpPr>
          <a:xfrm>
            <a:off x="5731177" y="1446543"/>
            <a:ext cx="2215548" cy="1435167"/>
            <a:chOff x="833331" y="2873352"/>
            <a:chExt cx="2333625" cy="1590649"/>
          </a:xfrm>
        </p:grpSpPr>
        <p:grpSp>
          <p:nvGrpSpPr>
            <p:cNvPr id="135" name="Group 134"/>
            <p:cNvGrpSpPr/>
            <p:nvPr/>
          </p:nvGrpSpPr>
          <p:grpSpPr>
            <a:xfrm>
              <a:off x="1736090" y="2873352"/>
              <a:ext cx="565150" cy="369332"/>
              <a:chOff x="1736090" y="2873352"/>
              <a:chExt cx="565150" cy="369332"/>
            </a:xfrm>
          </p:grpSpPr>
          <p:grpSp>
            <p:nvGrpSpPr>
              <p:cNvPr id="184" name="Group 327"/>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41422" cy="369332"/>
                <a:chOff x="667045" y="1708643"/>
                <a:chExt cx="441422" cy="369332"/>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41422" cy="369332"/>
                </a:xfrm>
                <a:prstGeom prst="rect">
                  <a:avLst/>
                </a:prstGeom>
                <a:noFill/>
              </p:spPr>
              <p:txBody>
                <a:bodyPr wrap="none" rtlCol="0">
                  <a:spAutoFit/>
                </a:bodyPr>
                <a:lstStyle/>
                <a:p>
                  <a:r>
                    <a:rPr lang="en-US" dirty="0"/>
                    <a:t>3b</a:t>
                  </a:r>
                </a:p>
              </p:txBody>
            </p:sp>
          </p:grpSp>
        </p:grpSp>
        <p:grpSp>
          <p:nvGrpSpPr>
            <p:cNvPr id="136" name="Group 135"/>
            <p:cNvGrpSpPr/>
            <p:nvPr/>
          </p:nvGrpSpPr>
          <p:grpSpPr>
            <a:xfrm>
              <a:off x="1740320" y="4094669"/>
              <a:ext cx="565150" cy="369332"/>
              <a:chOff x="1736090" y="2873352"/>
              <a:chExt cx="565150" cy="369332"/>
            </a:xfrm>
          </p:grpSpPr>
          <p:grpSp>
            <p:nvGrpSpPr>
              <p:cNvPr id="171" name="Group 327"/>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41422" cy="369332"/>
                <a:chOff x="667045" y="1708643"/>
                <a:chExt cx="441422" cy="369332"/>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41422" cy="369332"/>
                </a:xfrm>
                <a:prstGeom prst="rect">
                  <a:avLst/>
                </a:prstGeom>
                <a:noFill/>
              </p:spPr>
              <p:txBody>
                <a:bodyPr wrap="none" rtlCol="0">
                  <a:spAutoFit/>
                </a:bodyPr>
                <a:lstStyle/>
                <a:p>
                  <a:r>
                    <a:rPr lang="en-US" dirty="0"/>
                    <a:t>3d</a:t>
                  </a:r>
                </a:p>
              </p:txBody>
            </p:sp>
          </p:grpSp>
        </p:grpSp>
        <p:grpSp>
          <p:nvGrpSpPr>
            <p:cNvPr id="137" name="Group 136"/>
            <p:cNvGrpSpPr/>
            <p:nvPr/>
          </p:nvGrpSpPr>
          <p:grpSpPr>
            <a:xfrm>
              <a:off x="2601806" y="3485072"/>
              <a:ext cx="565150" cy="369332"/>
              <a:chOff x="1736090" y="2873352"/>
              <a:chExt cx="565150" cy="369332"/>
            </a:xfrm>
          </p:grpSpPr>
          <p:grpSp>
            <p:nvGrpSpPr>
              <p:cNvPr id="158" name="Group 327"/>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2" y="2873352"/>
                <a:ext cx="428460" cy="369332"/>
                <a:chOff x="667045" y="1708643"/>
                <a:chExt cx="428460" cy="369332"/>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5" y="1708643"/>
                  <a:ext cx="428460" cy="369332"/>
                </a:xfrm>
                <a:prstGeom prst="rect">
                  <a:avLst/>
                </a:prstGeom>
                <a:noFill/>
              </p:spPr>
              <p:txBody>
                <a:bodyPr wrap="none" rtlCol="0">
                  <a:spAutoFit/>
                </a:bodyPr>
                <a:lstStyle/>
                <a:p>
                  <a:r>
                    <a:rPr lang="en-US" dirty="0"/>
                    <a:t>3c</a:t>
                  </a:r>
                </a:p>
              </p:txBody>
            </p:sp>
          </p:grpSp>
        </p:grpSp>
        <p:grpSp>
          <p:nvGrpSpPr>
            <p:cNvPr id="138" name="Group 137"/>
            <p:cNvGrpSpPr/>
            <p:nvPr/>
          </p:nvGrpSpPr>
          <p:grpSpPr>
            <a:xfrm>
              <a:off x="833331" y="3478719"/>
              <a:ext cx="565150" cy="369332"/>
              <a:chOff x="1736090" y="2873352"/>
              <a:chExt cx="565150" cy="369332"/>
            </a:xfrm>
          </p:grpSpPr>
          <p:grpSp>
            <p:nvGrpSpPr>
              <p:cNvPr id="145" name="Group 327"/>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441422" cy="369332"/>
                <a:chOff x="667045" y="1708643"/>
                <a:chExt cx="441422" cy="369332"/>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441422" cy="369332"/>
                </a:xfrm>
                <a:prstGeom prst="rect">
                  <a:avLst/>
                </a:prstGeom>
                <a:noFill/>
              </p:spPr>
              <p:txBody>
                <a:bodyPr wrap="none" rtlCol="0">
                  <a:spAutoFit/>
                </a:bodyPr>
                <a:lstStyle/>
                <a:p>
                  <a:r>
                    <a:rPr lang="en-US" dirty="0"/>
                    <a:t>3a</a:t>
                  </a:r>
                </a:p>
              </p:txBody>
            </p:sp>
          </p:grpSp>
        </p:grpSp>
        <p:cxnSp>
          <p:nvCxnSpPr>
            <p:cNvPr id="139" name="Straight Connector 138"/>
            <p:cNvCxnSpPr>
              <a:stCxn id="187" idx="2"/>
              <a:endCxn id="174"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3" name="Straight Connector 14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cxnSp>
        <p:nvCxnSpPr>
          <p:cNvPr id="128" name="Straight Connector 127"/>
          <p:cNvCxnSpPr/>
          <p:nvPr/>
        </p:nvCxnSpPr>
        <p:spPr bwMode="auto">
          <a:xfrm flipH="1" flipV="1">
            <a:off x="3046706" y="2340047"/>
            <a:ext cx="480877" cy="744090"/>
          </a:xfrm>
          <a:prstGeom prst="line">
            <a:avLst/>
          </a:prstGeom>
          <a:solidFill>
            <a:schemeClr val="accent1"/>
          </a:solidFill>
          <a:ln w="38100" cap="flat" cmpd="sng" algn="ctr">
            <a:solidFill>
              <a:srgbClr val="CC0000"/>
            </a:solidFill>
            <a:prstDash val="dash"/>
            <a:round/>
            <a:headEnd type="none" w="med" len="med"/>
            <a:tailEnd type="none" w="med" len="med"/>
          </a:ln>
          <a:effectLst/>
        </p:spPr>
      </p:cxnSp>
      <p:cxnSp>
        <p:nvCxnSpPr>
          <p:cNvPr id="129" name="Straight Connector 128"/>
          <p:cNvCxnSpPr/>
          <p:nvPr/>
        </p:nvCxnSpPr>
        <p:spPr bwMode="auto">
          <a:xfrm flipV="1">
            <a:off x="5523188" y="2281165"/>
            <a:ext cx="337735" cy="823128"/>
          </a:xfrm>
          <a:prstGeom prst="line">
            <a:avLst/>
          </a:prstGeom>
          <a:solidFill>
            <a:schemeClr val="accent1"/>
          </a:solidFill>
          <a:ln w="38100" cap="flat" cmpd="sng" algn="ctr">
            <a:solidFill>
              <a:srgbClr val="CC0000"/>
            </a:solidFill>
            <a:prstDash val="dash"/>
            <a:round/>
            <a:headEnd type="none" w="med" len="med"/>
            <a:tailEnd type="none" w="med" len="med"/>
          </a:ln>
          <a:effectLst/>
        </p:spPr>
      </p:cxnSp>
      <p:sp>
        <p:nvSpPr>
          <p:cNvPr id="130" name="TextBox 129"/>
          <p:cNvSpPr txBox="1"/>
          <p:nvPr/>
        </p:nvSpPr>
        <p:spPr>
          <a:xfrm>
            <a:off x="3493291" y="2438369"/>
            <a:ext cx="682273" cy="400110"/>
          </a:xfrm>
          <a:prstGeom prst="rect">
            <a:avLst/>
          </a:prstGeom>
          <a:noFill/>
        </p:spPr>
        <p:txBody>
          <a:bodyPr wrap="none" rtlCol="0">
            <a:spAutoFit/>
          </a:bodyPr>
          <a:lstStyle/>
          <a:p>
            <a:r>
              <a:rPr lang="en-US" sz="2000" dirty="0">
                <a:solidFill>
                  <a:srgbClr val="000090"/>
                </a:solidFill>
              </a:rPr>
              <a:t>AS2</a:t>
            </a:r>
          </a:p>
        </p:txBody>
      </p:sp>
      <p:sp>
        <p:nvSpPr>
          <p:cNvPr id="131" name="TextBox 130"/>
          <p:cNvSpPr txBox="1"/>
          <p:nvPr/>
        </p:nvSpPr>
        <p:spPr>
          <a:xfrm>
            <a:off x="5543950" y="1351667"/>
            <a:ext cx="682273" cy="400110"/>
          </a:xfrm>
          <a:prstGeom prst="rect">
            <a:avLst/>
          </a:prstGeom>
          <a:noFill/>
        </p:spPr>
        <p:txBody>
          <a:bodyPr wrap="none" rtlCol="0">
            <a:spAutoFit/>
          </a:bodyPr>
          <a:lstStyle/>
          <a:p>
            <a:r>
              <a:rPr lang="en-US" sz="2000" dirty="0">
                <a:solidFill>
                  <a:srgbClr val="000090"/>
                </a:solidFill>
              </a:rPr>
              <a:t>AS3</a:t>
            </a:r>
          </a:p>
        </p:txBody>
      </p:sp>
      <p:sp>
        <p:nvSpPr>
          <p:cNvPr id="132" name="TextBox 131"/>
          <p:cNvSpPr txBox="1"/>
          <p:nvPr/>
        </p:nvSpPr>
        <p:spPr>
          <a:xfrm>
            <a:off x="707172" y="1562343"/>
            <a:ext cx="682273" cy="400110"/>
          </a:xfrm>
          <a:prstGeom prst="rect">
            <a:avLst/>
          </a:prstGeom>
          <a:noFill/>
        </p:spPr>
        <p:txBody>
          <a:bodyPr wrap="none" rtlCol="0">
            <a:spAutoFit/>
          </a:bodyPr>
          <a:lstStyle/>
          <a:p>
            <a:r>
              <a:rPr lang="en-US" sz="2000" dirty="0">
                <a:solidFill>
                  <a:srgbClr val="000090"/>
                </a:solidFill>
              </a:rPr>
              <a:t>AS1</a:t>
            </a:r>
          </a:p>
        </p:txBody>
      </p:sp>
      <p:grpSp>
        <p:nvGrpSpPr>
          <p:cNvPr id="11" name="Group 10"/>
          <p:cNvGrpSpPr/>
          <p:nvPr/>
        </p:nvGrpSpPr>
        <p:grpSpPr>
          <a:xfrm>
            <a:off x="7070827" y="2413274"/>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 name="connsiteX0-307" fmla="*/ 4 w 9959"/>
                  <a:gd name="connsiteY0-308" fmla="*/ 5593 h 11352"/>
                  <a:gd name="connsiteX1-309" fmla="*/ 1089 w 9959"/>
                  <a:gd name="connsiteY1-310" fmla="*/ 469 h 11352"/>
                  <a:gd name="connsiteX2-311" fmla="*/ 4845 w 9959"/>
                  <a:gd name="connsiteY2-312" fmla="*/ 561 h 11352"/>
                  <a:gd name="connsiteX3-313" fmla="*/ 8027 w 9959"/>
                  <a:gd name="connsiteY3-314" fmla="*/ 3370 h 11352"/>
                  <a:gd name="connsiteX4-315" fmla="*/ 9955 w 9959"/>
                  <a:gd name="connsiteY4-316" fmla="*/ 5970 h 11352"/>
                  <a:gd name="connsiteX5-317" fmla="*/ 8435 w 9959"/>
                  <a:gd name="connsiteY5-318" fmla="*/ 7863 h 11352"/>
                  <a:gd name="connsiteX6-319" fmla="*/ 5161 w 9959"/>
                  <a:gd name="connsiteY6-320" fmla="*/ 11352 h 11352"/>
                  <a:gd name="connsiteX7-321" fmla="*/ 2712 w 9959"/>
                  <a:gd name="connsiteY7-322" fmla="*/ 8240 h 11352"/>
                  <a:gd name="connsiteX8-323" fmla="*/ 1334 w 9959"/>
                  <a:gd name="connsiteY8-324" fmla="*/ 7922 h 11352"/>
                  <a:gd name="connsiteX9-325" fmla="*/ 4 w 9959"/>
                  <a:gd name="connsiteY9-326" fmla="*/ 5593 h 11352"/>
                  <a:gd name="connsiteX0-327" fmla="*/ 0 w 11223"/>
                  <a:gd name="connsiteY0-328" fmla="*/ 3835 h 9929"/>
                  <a:gd name="connsiteX1-329" fmla="*/ 2316 w 11223"/>
                  <a:gd name="connsiteY1-330" fmla="*/ 342 h 9929"/>
                  <a:gd name="connsiteX2-331" fmla="*/ 6088 w 11223"/>
                  <a:gd name="connsiteY2-332" fmla="*/ 423 h 9929"/>
                  <a:gd name="connsiteX3-333" fmla="*/ 9283 w 11223"/>
                  <a:gd name="connsiteY3-334" fmla="*/ 2898 h 9929"/>
                  <a:gd name="connsiteX4-335" fmla="*/ 11219 w 11223"/>
                  <a:gd name="connsiteY4-336" fmla="*/ 5188 h 9929"/>
                  <a:gd name="connsiteX5-337" fmla="*/ 9693 w 11223"/>
                  <a:gd name="connsiteY5-338" fmla="*/ 6856 h 9929"/>
                  <a:gd name="connsiteX6-339" fmla="*/ 6405 w 11223"/>
                  <a:gd name="connsiteY6-340" fmla="*/ 9929 h 9929"/>
                  <a:gd name="connsiteX7-341" fmla="*/ 3946 w 11223"/>
                  <a:gd name="connsiteY7-342" fmla="*/ 7188 h 9929"/>
                  <a:gd name="connsiteX8-343" fmla="*/ 2562 w 11223"/>
                  <a:gd name="connsiteY8-344" fmla="*/ 6908 h 9929"/>
                  <a:gd name="connsiteX9-345" fmla="*/ 0 w 11223"/>
                  <a:gd name="connsiteY9-346" fmla="*/ 3835 h 9929"/>
                  <a:gd name="connsiteX0-347" fmla="*/ 0 w 9999"/>
                  <a:gd name="connsiteY0-348" fmla="*/ 3862 h 10000"/>
                  <a:gd name="connsiteX1-349" fmla="*/ 2064 w 9999"/>
                  <a:gd name="connsiteY1-350" fmla="*/ 344 h 10000"/>
                  <a:gd name="connsiteX2-351" fmla="*/ 5425 w 9999"/>
                  <a:gd name="connsiteY2-352" fmla="*/ 426 h 10000"/>
                  <a:gd name="connsiteX3-353" fmla="*/ 8271 w 9999"/>
                  <a:gd name="connsiteY3-354" fmla="*/ 2919 h 10000"/>
                  <a:gd name="connsiteX4-355" fmla="*/ 9996 w 9999"/>
                  <a:gd name="connsiteY4-356" fmla="*/ 5225 h 10000"/>
                  <a:gd name="connsiteX5-357" fmla="*/ 8637 w 9999"/>
                  <a:gd name="connsiteY5-358" fmla="*/ 6905 h 10000"/>
                  <a:gd name="connsiteX6-359" fmla="*/ 5707 w 9999"/>
                  <a:gd name="connsiteY6-360" fmla="*/ 10000 h 10000"/>
                  <a:gd name="connsiteX7-361" fmla="*/ 2283 w 9999"/>
                  <a:gd name="connsiteY7-362" fmla="*/ 6957 h 10000"/>
                  <a:gd name="connsiteX8-363" fmla="*/ 0 w 9999"/>
                  <a:gd name="connsiteY8-364" fmla="*/ 3862 h 10000"/>
                  <a:gd name="connsiteX0-365" fmla="*/ 124 w 10124"/>
                  <a:gd name="connsiteY0-366" fmla="*/ 3862 h 10000"/>
                  <a:gd name="connsiteX1-367" fmla="*/ 2188 w 10124"/>
                  <a:gd name="connsiteY1-368" fmla="*/ 344 h 10000"/>
                  <a:gd name="connsiteX2-369" fmla="*/ 5550 w 10124"/>
                  <a:gd name="connsiteY2-370" fmla="*/ 426 h 10000"/>
                  <a:gd name="connsiteX3-371" fmla="*/ 8396 w 10124"/>
                  <a:gd name="connsiteY3-372" fmla="*/ 2919 h 10000"/>
                  <a:gd name="connsiteX4-373" fmla="*/ 10121 w 10124"/>
                  <a:gd name="connsiteY4-374" fmla="*/ 5225 h 10000"/>
                  <a:gd name="connsiteX5-375" fmla="*/ 8762 w 10124"/>
                  <a:gd name="connsiteY5-376" fmla="*/ 6905 h 10000"/>
                  <a:gd name="connsiteX6-377" fmla="*/ 5832 w 10124"/>
                  <a:gd name="connsiteY6-378" fmla="*/ 10000 h 10000"/>
                  <a:gd name="connsiteX7-379" fmla="*/ 124 w 10124"/>
                  <a:gd name="connsiteY7-380" fmla="*/ 3862 h 10000"/>
                  <a:gd name="connsiteX0-381" fmla="*/ 43 w 10045"/>
                  <a:gd name="connsiteY0-382" fmla="*/ 3862 h 6912"/>
                  <a:gd name="connsiteX1-383" fmla="*/ 2107 w 10045"/>
                  <a:gd name="connsiteY1-384" fmla="*/ 344 h 6912"/>
                  <a:gd name="connsiteX2-385" fmla="*/ 5469 w 10045"/>
                  <a:gd name="connsiteY2-386" fmla="*/ 426 h 6912"/>
                  <a:gd name="connsiteX3-387" fmla="*/ 8315 w 10045"/>
                  <a:gd name="connsiteY3-388" fmla="*/ 2919 h 6912"/>
                  <a:gd name="connsiteX4-389" fmla="*/ 10040 w 10045"/>
                  <a:gd name="connsiteY4-390" fmla="*/ 5225 h 6912"/>
                  <a:gd name="connsiteX5-391" fmla="*/ 8681 w 10045"/>
                  <a:gd name="connsiteY5-392" fmla="*/ 6905 h 6912"/>
                  <a:gd name="connsiteX6-393" fmla="*/ 3967 w 10045"/>
                  <a:gd name="connsiteY6-394" fmla="*/ 5885 h 6912"/>
                  <a:gd name="connsiteX7-395" fmla="*/ 43 w 10045"/>
                  <a:gd name="connsiteY7-396" fmla="*/ 3862 h 6912"/>
                  <a:gd name="connsiteX0-397" fmla="*/ 47 w 10004"/>
                  <a:gd name="connsiteY0-398" fmla="*/ 5106 h 9519"/>
                  <a:gd name="connsiteX1-399" fmla="*/ 2102 w 10004"/>
                  <a:gd name="connsiteY1-400" fmla="*/ 17 h 9519"/>
                  <a:gd name="connsiteX2-401" fmla="*/ 6651 w 10004"/>
                  <a:gd name="connsiteY2-402" fmla="*/ 3484 h 9519"/>
                  <a:gd name="connsiteX3-403" fmla="*/ 8282 w 10004"/>
                  <a:gd name="connsiteY3-404" fmla="*/ 3742 h 9519"/>
                  <a:gd name="connsiteX4-405" fmla="*/ 9999 w 10004"/>
                  <a:gd name="connsiteY4-406" fmla="*/ 7078 h 9519"/>
                  <a:gd name="connsiteX5-407" fmla="*/ 8646 w 10004"/>
                  <a:gd name="connsiteY5-408" fmla="*/ 9509 h 9519"/>
                  <a:gd name="connsiteX6-409" fmla="*/ 3953 w 10004"/>
                  <a:gd name="connsiteY6-410" fmla="*/ 8033 h 9519"/>
                  <a:gd name="connsiteX7-411" fmla="*/ 47 w 10004"/>
                  <a:gd name="connsiteY7-412" fmla="*/ 5106 h 9519"/>
                  <a:gd name="connsiteX0-413" fmla="*/ 43 w 9996"/>
                  <a:gd name="connsiteY0-414" fmla="*/ 6232 h 10868"/>
                  <a:gd name="connsiteX1-415" fmla="*/ 2097 w 9996"/>
                  <a:gd name="connsiteY1-416" fmla="*/ 886 h 10868"/>
                  <a:gd name="connsiteX2-417" fmla="*/ 5642 w 9996"/>
                  <a:gd name="connsiteY2-418" fmla="*/ 385 h 10868"/>
                  <a:gd name="connsiteX3-419" fmla="*/ 8275 w 9996"/>
                  <a:gd name="connsiteY3-420" fmla="*/ 4799 h 10868"/>
                  <a:gd name="connsiteX4-421" fmla="*/ 9991 w 9996"/>
                  <a:gd name="connsiteY4-422" fmla="*/ 8304 h 10868"/>
                  <a:gd name="connsiteX5-423" fmla="*/ 8639 w 9996"/>
                  <a:gd name="connsiteY5-424" fmla="*/ 10857 h 10868"/>
                  <a:gd name="connsiteX6-425" fmla="*/ 3947 w 9996"/>
                  <a:gd name="connsiteY6-426" fmla="*/ 9307 h 10868"/>
                  <a:gd name="connsiteX7-427" fmla="*/ 43 w 9996"/>
                  <a:gd name="connsiteY7-428" fmla="*/ 6232 h 10868"/>
                  <a:gd name="connsiteX0-429" fmla="*/ 43 w 10004"/>
                  <a:gd name="connsiteY0-430" fmla="*/ 5543 h 9809"/>
                  <a:gd name="connsiteX1-431" fmla="*/ 2098 w 10004"/>
                  <a:gd name="connsiteY1-432" fmla="*/ 624 h 9809"/>
                  <a:gd name="connsiteX2-433" fmla="*/ 5644 w 10004"/>
                  <a:gd name="connsiteY2-434" fmla="*/ 163 h 9809"/>
                  <a:gd name="connsiteX3-435" fmla="*/ 8163 w 10004"/>
                  <a:gd name="connsiteY3-436" fmla="*/ 1492 h 9809"/>
                  <a:gd name="connsiteX4-437" fmla="*/ 9995 w 10004"/>
                  <a:gd name="connsiteY4-438" fmla="*/ 7450 h 9809"/>
                  <a:gd name="connsiteX5-439" fmla="*/ 8642 w 10004"/>
                  <a:gd name="connsiteY5-440" fmla="*/ 9799 h 9809"/>
                  <a:gd name="connsiteX6-441" fmla="*/ 3949 w 10004"/>
                  <a:gd name="connsiteY6-442" fmla="*/ 8373 h 9809"/>
                  <a:gd name="connsiteX7-443" fmla="*/ 43 w 10004"/>
                  <a:gd name="connsiteY7-444" fmla="*/ 5543 h 9809"/>
                  <a:gd name="connsiteX0-445" fmla="*/ 43 w 8950"/>
                  <a:gd name="connsiteY0-446" fmla="*/ 5651 h 10081"/>
                  <a:gd name="connsiteX1-447" fmla="*/ 2097 w 8950"/>
                  <a:gd name="connsiteY1-448" fmla="*/ 636 h 10081"/>
                  <a:gd name="connsiteX2-449" fmla="*/ 5642 w 8950"/>
                  <a:gd name="connsiteY2-450" fmla="*/ 166 h 10081"/>
                  <a:gd name="connsiteX3-451" fmla="*/ 8160 w 8950"/>
                  <a:gd name="connsiteY3-452" fmla="*/ 1521 h 10081"/>
                  <a:gd name="connsiteX4-453" fmla="*/ 8473 w 8950"/>
                  <a:gd name="connsiteY4-454" fmla="*/ 5322 h 10081"/>
                  <a:gd name="connsiteX5-455" fmla="*/ 8639 w 8950"/>
                  <a:gd name="connsiteY5-456" fmla="*/ 9990 h 10081"/>
                  <a:gd name="connsiteX6-457" fmla="*/ 3947 w 8950"/>
                  <a:gd name="connsiteY6-458" fmla="*/ 8536 h 10081"/>
                  <a:gd name="connsiteX7-459" fmla="*/ 43 w 8950"/>
                  <a:gd name="connsiteY7-460" fmla="*/ 5651 h 10081"/>
                  <a:gd name="connsiteX0-461" fmla="*/ 48 w 9651"/>
                  <a:gd name="connsiteY0-462" fmla="*/ 5606 h 8648"/>
                  <a:gd name="connsiteX1-463" fmla="*/ 2343 w 9651"/>
                  <a:gd name="connsiteY1-464" fmla="*/ 631 h 8648"/>
                  <a:gd name="connsiteX2-465" fmla="*/ 6304 w 9651"/>
                  <a:gd name="connsiteY2-466" fmla="*/ 165 h 8648"/>
                  <a:gd name="connsiteX3-467" fmla="*/ 9117 w 9651"/>
                  <a:gd name="connsiteY3-468" fmla="*/ 1509 h 8648"/>
                  <a:gd name="connsiteX4-469" fmla="*/ 9467 w 9651"/>
                  <a:gd name="connsiteY4-470" fmla="*/ 5279 h 8648"/>
                  <a:gd name="connsiteX5-471" fmla="*/ 6997 w 9651"/>
                  <a:gd name="connsiteY5-472" fmla="*/ 8019 h 8648"/>
                  <a:gd name="connsiteX6-473" fmla="*/ 4410 w 9651"/>
                  <a:gd name="connsiteY6-474" fmla="*/ 8467 h 8648"/>
                  <a:gd name="connsiteX7-475" fmla="*/ 48 w 9651"/>
                  <a:gd name="connsiteY7-476" fmla="*/ 5606 h 8648"/>
                  <a:gd name="connsiteX0-477" fmla="*/ 41 w 9991"/>
                  <a:gd name="connsiteY0-478" fmla="*/ 6482 h 9316"/>
                  <a:gd name="connsiteX1-479" fmla="*/ 2419 w 9991"/>
                  <a:gd name="connsiteY1-480" fmla="*/ 730 h 9316"/>
                  <a:gd name="connsiteX2-481" fmla="*/ 6523 w 9991"/>
                  <a:gd name="connsiteY2-482" fmla="*/ 191 h 9316"/>
                  <a:gd name="connsiteX3-483" fmla="*/ 9438 w 9991"/>
                  <a:gd name="connsiteY3-484" fmla="*/ 1745 h 9316"/>
                  <a:gd name="connsiteX4-485" fmla="*/ 9800 w 9991"/>
                  <a:gd name="connsiteY4-486" fmla="*/ 6104 h 9316"/>
                  <a:gd name="connsiteX5-487" fmla="*/ 7241 w 9991"/>
                  <a:gd name="connsiteY5-488" fmla="*/ 9273 h 9316"/>
                  <a:gd name="connsiteX6-489" fmla="*/ 1411 w 9991"/>
                  <a:gd name="connsiteY6-490" fmla="*/ 7856 h 9316"/>
                  <a:gd name="connsiteX7-491" fmla="*/ 41 w 9991"/>
                  <a:gd name="connsiteY7-492" fmla="*/ 6482 h 9316"/>
                  <a:gd name="connsiteX0-493" fmla="*/ 19 w 10708"/>
                  <a:gd name="connsiteY0-494" fmla="*/ 7721 h 10038"/>
                  <a:gd name="connsiteX1-495" fmla="*/ 3129 w 10708"/>
                  <a:gd name="connsiteY1-496" fmla="*/ 825 h 10038"/>
                  <a:gd name="connsiteX2-497" fmla="*/ 7237 w 10708"/>
                  <a:gd name="connsiteY2-498" fmla="*/ 246 h 10038"/>
                  <a:gd name="connsiteX3-499" fmla="*/ 10155 w 10708"/>
                  <a:gd name="connsiteY3-500" fmla="*/ 1914 h 10038"/>
                  <a:gd name="connsiteX4-501" fmla="*/ 10517 w 10708"/>
                  <a:gd name="connsiteY4-502" fmla="*/ 6593 h 10038"/>
                  <a:gd name="connsiteX5-503" fmla="*/ 7956 w 10708"/>
                  <a:gd name="connsiteY5-504" fmla="*/ 9995 h 10038"/>
                  <a:gd name="connsiteX6-505" fmla="*/ 2120 w 10708"/>
                  <a:gd name="connsiteY6-506" fmla="*/ 8474 h 10038"/>
                  <a:gd name="connsiteX7-507" fmla="*/ 19 w 10708"/>
                  <a:gd name="connsiteY7-508" fmla="*/ 7721 h 10038"/>
                  <a:gd name="connsiteX0-509" fmla="*/ 359 w 11048"/>
                  <a:gd name="connsiteY0-510" fmla="*/ 7721 h 10038"/>
                  <a:gd name="connsiteX1-511" fmla="*/ 3469 w 11048"/>
                  <a:gd name="connsiteY1-512" fmla="*/ 825 h 10038"/>
                  <a:gd name="connsiteX2-513" fmla="*/ 7577 w 11048"/>
                  <a:gd name="connsiteY2-514" fmla="*/ 246 h 10038"/>
                  <a:gd name="connsiteX3-515" fmla="*/ 10495 w 11048"/>
                  <a:gd name="connsiteY3-516" fmla="*/ 1914 h 10038"/>
                  <a:gd name="connsiteX4-517" fmla="*/ 10857 w 11048"/>
                  <a:gd name="connsiteY4-518" fmla="*/ 6593 h 10038"/>
                  <a:gd name="connsiteX5-519" fmla="*/ 8296 w 11048"/>
                  <a:gd name="connsiteY5-520" fmla="*/ 9995 h 10038"/>
                  <a:gd name="connsiteX6-521" fmla="*/ 2460 w 11048"/>
                  <a:gd name="connsiteY6-522" fmla="*/ 8474 h 10038"/>
                  <a:gd name="connsiteX7-523" fmla="*/ 359 w 11048"/>
                  <a:gd name="connsiteY7-524" fmla="*/ 7721 h 10038"/>
                  <a:gd name="connsiteX0-525" fmla="*/ 359 w 11048"/>
                  <a:gd name="connsiteY0-526" fmla="*/ 8392 h 10075"/>
                  <a:gd name="connsiteX1-527" fmla="*/ 3469 w 11048"/>
                  <a:gd name="connsiteY1-528" fmla="*/ 864 h 10075"/>
                  <a:gd name="connsiteX2-529" fmla="*/ 7577 w 11048"/>
                  <a:gd name="connsiteY2-530" fmla="*/ 285 h 10075"/>
                  <a:gd name="connsiteX3-531" fmla="*/ 10495 w 11048"/>
                  <a:gd name="connsiteY3-532" fmla="*/ 1953 h 10075"/>
                  <a:gd name="connsiteX4-533" fmla="*/ 10857 w 11048"/>
                  <a:gd name="connsiteY4-534" fmla="*/ 6632 h 10075"/>
                  <a:gd name="connsiteX5-535" fmla="*/ 8296 w 11048"/>
                  <a:gd name="connsiteY5-536" fmla="*/ 10034 h 10075"/>
                  <a:gd name="connsiteX6-537" fmla="*/ 2460 w 11048"/>
                  <a:gd name="connsiteY6-538" fmla="*/ 8513 h 10075"/>
                  <a:gd name="connsiteX7-539" fmla="*/ 359 w 11048"/>
                  <a:gd name="connsiteY7-540" fmla="*/ 8392 h 10075"/>
                  <a:gd name="connsiteX0-541" fmla="*/ 371 w 11060"/>
                  <a:gd name="connsiteY0-542" fmla="*/ 8392 h 10075"/>
                  <a:gd name="connsiteX1-543" fmla="*/ 3481 w 11060"/>
                  <a:gd name="connsiteY1-544" fmla="*/ 864 h 10075"/>
                  <a:gd name="connsiteX2-545" fmla="*/ 7589 w 11060"/>
                  <a:gd name="connsiteY2-546" fmla="*/ 285 h 10075"/>
                  <a:gd name="connsiteX3-547" fmla="*/ 10507 w 11060"/>
                  <a:gd name="connsiteY3-548" fmla="*/ 1953 h 10075"/>
                  <a:gd name="connsiteX4-549" fmla="*/ 10869 w 11060"/>
                  <a:gd name="connsiteY4-550" fmla="*/ 6632 h 10075"/>
                  <a:gd name="connsiteX5-551" fmla="*/ 8308 w 11060"/>
                  <a:gd name="connsiteY5-552" fmla="*/ 10034 h 10075"/>
                  <a:gd name="connsiteX6-553" fmla="*/ 2472 w 11060"/>
                  <a:gd name="connsiteY6-554" fmla="*/ 8513 h 10075"/>
                  <a:gd name="connsiteX7-555" fmla="*/ 371 w 11060"/>
                  <a:gd name="connsiteY7-556" fmla="*/ 8392 h 10075"/>
                  <a:gd name="connsiteX0-557" fmla="*/ 54 w 10743"/>
                  <a:gd name="connsiteY0-558" fmla="*/ 9468 h 11151"/>
                  <a:gd name="connsiteX1-559" fmla="*/ 4027 w 10743"/>
                  <a:gd name="connsiteY1-560" fmla="*/ 495 h 11151"/>
                  <a:gd name="connsiteX2-561" fmla="*/ 7272 w 10743"/>
                  <a:gd name="connsiteY2-562" fmla="*/ 1361 h 11151"/>
                  <a:gd name="connsiteX3-563" fmla="*/ 10190 w 10743"/>
                  <a:gd name="connsiteY3-564" fmla="*/ 3029 h 11151"/>
                  <a:gd name="connsiteX4-565" fmla="*/ 10552 w 10743"/>
                  <a:gd name="connsiteY4-566" fmla="*/ 7708 h 11151"/>
                  <a:gd name="connsiteX5-567" fmla="*/ 7991 w 10743"/>
                  <a:gd name="connsiteY5-568" fmla="*/ 11110 h 11151"/>
                  <a:gd name="connsiteX6-569" fmla="*/ 2155 w 10743"/>
                  <a:gd name="connsiteY6-570" fmla="*/ 9589 h 11151"/>
                  <a:gd name="connsiteX7-571" fmla="*/ 54 w 10743"/>
                  <a:gd name="connsiteY7-572" fmla="*/ 9468 h 11151"/>
                  <a:gd name="connsiteX0-573" fmla="*/ 54 w 10743"/>
                  <a:gd name="connsiteY0-574" fmla="*/ 9506 h 11189"/>
                  <a:gd name="connsiteX1-575" fmla="*/ 4027 w 10743"/>
                  <a:gd name="connsiteY1-576" fmla="*/ 533 h 11189"/>
                  <a:gd name="connsiteX2-577" fmla="*/ 7272 w 10743"/>
                  <a:gd name="connsiteY2-578" fmla="*/ 1399 h 11189"/>
                  <a:gd name="connsiteX3-579" fmla="*/ 10190 w 10743"/>
                  <a:gd name="connsiteY3-580" fmla="*/ 3067 h 11189"/>
                  <a:gd name="connsiteX4-581" fmla="*/ 10552 w 10743"/>
                  <a:gd name="connsiteY4-582" fmla="*/ 7746 h 11189"/>
                  <a:gd name="connsiteX5-583" fmla="*/ 7991 w 10743"/>
                  <a:gd name="connsiteY5-584" fmla="*/ 11148 h 11189"/>
                  <a:gd name="connsiteX6-585" fmla="*/ 2155 w 10743"/>
                  <a:gd name="connsiteY6-586" fmla="*/ 9627 h 11189"/>
                  <a:gd name="connsiteX7-587" fmla="*/ 54 w 10743"/>
                  <a:gd name="connsiteY7-588" fmla="*/ 9506 h 11189"/>
                  <a:gd name="connsiteX0-589" fmla="*/ 40 w 11293"/>
                  <a:gd name="connsiteY0-590" fmla="*/ 9082 h 11127"/>
                  <a:gd name="connsiteX1-591" fmla="*/ 4577 w 11293"/>
                  <a:gd name="connsiteY1-592" fmla="*/ 470 h 11127"/>
                  <a:gd name="connsiteX2-593" fmla="*/ 7822 w 11293"/>
                  <a:gd name="connsiteY2-594" fmla="*/ 1336 h 11127"/>
                  <a:gd name="connsiteX3-595" fmla="*/ 10740 w 11293"/>
                  <a:gd name="connsiteY3-596" fmla="*/ 3004 h 11127"/>
                  <a:gd name="connsiteX4-597" fmla="*/ 11102 w 11293"/>
                  <a:gd name="connsiteY4-598" fmla="*/ 7683 h 11127"/>
                  <a:gd name="connsiteX5-599" fmla="*/ 8541 w 11293"/>
                  <a:gd name="connsiteY5-600" fmla="*/ 11085 h 11127"/>
                  <a:gd name="connsiteX6-601" fmla="*/ 2705 w 11293"/>
                  <a:gd name="connsiteY6-602" fmla="*/ 9564 h 11127"/>
                  <a:gd name="connsiteX7-603" fmla="*/ 40 w 11293"/>
                  <a:gd name="connsiteY7-604" fmla="*/ 9082 h 1112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p:spPr>
            <p:txBody>
              <a:bodyPr wrap="none" anchor="ctr"/>
              <a:lstStyle/>
              <a:p>
                <a:endParaRPr lang="en-US"/>
              </a:p>
            </p:txBody>
          </p:sp>
          <p:grpSp>
            <p:nvGrpSpPr>
              <p:cNvPr id="370" name="Group 327"/>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76581" y="5223365"/>
                <a:ext cx="466894" cy="369332"/>
                <a:chOff x="599495" y="1708643"/>
                <a:chExt cx="491778" cy="409344"/>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99495" y="1708643"/>
                  <a:ext cx="491778" cy="409344"/>
                </a:xfrm>
                <a:prstGeom prst="rect">
                  <a:avLst/>
                </a:prstGeom>
                <a:noFill/>
              </p:spPr>
              <p:txBody>
                <a:bodyPr wrap="none" rtlCol="0">
                  <a:spAutoFit/>
                </a:bodyPr>
                <a:lstStyle/>
                <a:p>
                  <a:pPr algn="ctr"/>
                  <a:r>
                    <a:rPr lang="en-US" dirty="0"/>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grpSp>
        <p:nvGrpSpPr>
          <p:cNvPr id="7" name="Group 6"/>
          <p:cNvGrpSpPr/>
          <p:nvPr/>
        </p:nvGrpSpPr>
        <p:grpSpPr>
          <a:xfrm>
            <a:off x="5713444" y="2379268"/>
            <a:ext cx="1009362" cy="768350"/>
            <a:chOff x="5713444" y="2379268"/>
            <a:chExt cx="1009362" cy="768350"/>
          </a:xfrm>
        </p:grpSpPr>
        <p:sp>
          <p:nvSpPr>
            <p:cNvPr id="162850" name="AutoShape 118"/>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p:spPr>
          <p:txBody>
            <a:bodyPr wrap="none" anchor="ctr"/>
            <a:lstStyle/>
            <a:p>
              <a:endParaRPr lang="en-US"/>
            </a:p>
          </p:txBody>
        </p:sp>
        <p:sp>
          <p:nvSpPr>
            <p:cNvPr id="162851" name="Text Box 119"/>
            <p:cNvSpPr txBox="1">
              <a:spLocks noChangeArrowheads="1"/>
            </p:cNvSpPr>
            <p:nvPr/>
          </p:nvSpPr>
          <p:spPr bwMode="auto">
            <a:xfrm>
              <a:off x="5906829" y="2784958"/>
              <a:ext cx="815977" cy="3079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nSpc>
                  <a:spcPct val="85000"/>
                </a:lnSpc>
              </a:pPr>
              <a:r>
                <a:rPr lang="en-US" sz="1600" i="1" dirty="0">
                  <a:solidFill>
                    <a:srgbClr val="CC0000"/>
                  </a:solidFill>
                </a:rPr>
                <a:t>AS3,X </a:t>
              </a:r>
            </a:p>
          </p:txBody>
        </p:sp>
      </p:grpSp>
      <p:grpSp>
        <p:nvGrpSpPr>
          <p:cNvPr id="6" name="Group 5"/>
          <p:cNvGrpSpPr/>
          <p:nvPr/>
        </p:nvGrpSpPr>
        <p:grpSpPr>
          <a:xfrm>
            <a:off x="2028828" y="2438604"/>
            <a:ext cx="1260153" cy="888605"/>
            <a:chOff x="2028828" y="2438604"/>
            <a:chExt cx="1260153" cy="888605"/>
          </a:xfrm>
        </p:grpSpPr>
        <p:sp>
          <p:nvSpPr>
            <p:cNvPr id="332" name="Text Box 119"/>
            <p:cNvSpPr txBox="1">
              <a:spLocks noChangeArrowheads="1"/>
            </p:cNvSpPr>
            <p:nvPr/>
          </p:nvSpPr>
          <p:spPr bwMode="auto">
            <a:xfrm>
              <a:off x="2028828" y="3019432"/>
              <a:ext cx="1260153" cy="30777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nSpc>
                  <a:spcPct val="85000"/>
                </a:lnSpc>
              </a:pPr>
              <a:r>
                <a:rPr lang="en-US" sz="1600" i="1" dirty="0">
                  <a:solidFill>
                    <a:srgbClr val="CC0000"/>
                  </a:solidFill>
                </a:rPr>
                <a:t>AS2,AS3,X </a:t>
              </a:r>
            </a:p>
          </p:txBody>
        </p:sp>
        <p:sp>
          <p:nvSpPr>
            <p:cNvPr id="327" name="AutoShape 118"/>
            <p:cNvSpPr>
              <a:spLocks noChangeArrowheads="1"/>
            </p:cNvSpPr>
            <p:nvPr/>
          </p:nvSpPr>
          <p:spPr bwMode="auto">
            <a:xfrm rot="3445218">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p:spPr>
          <p:txBody>
            <a:bodyPr wrap="none" anchor="ctr"/>
            <a:lstStyle/>
            <a:p>
              <a:endParaRPr lang="en-US"/>
            </a:p>
          </p:txBody>
        </p:sp>
      </p:grpSp>
      <p:sp>
        <p:nvSpPr>
          <p:cNvPr id="326" name="Rectangle 4"/>
          <p:cNvSpPr txBox="1">
            <a:spLocks noChangeArrowheads="1"/>
          </p:cNvSpPr>
          <p:nvPr/>
        </p:nvSpPr>
        <p:spPr bwMode="auto">
          <a:xfrm>
            <a:off x="415500" y="4289671"/>
            <a:ext cx="8505825" cy="848946"/>
          </a:xfrm>
          <a:prstGeom prst="rect">
            <a:avLst/>
          </a:prstGeom>
          <a:noFill/>
          <a:ln>
            <a:noFill/>
          </a:ln>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pPr marL="294005" indent="-294005">
              <a:lnSpc>
                <a:spcPts val="2140"/>
              </a:lnSpc>
            </a:pPr>
            <a:r>
              <a:rPr lang="en-US" sz="2200" dirty="0">
                <a:latin typeface="Gill Sans MT" pitchFamily="34" charset="0"/>
              </a:rPr>
              <a:t>AS2 router 2c receives path advertisement </a:t>
            </a:r>
            <a:r>
              <a:rPr lang="en-US" sz="2000" dirty="0">
                <a:solidFill>
                  <a:srgbClr val="CC0000"/>
                </a:solidFill>
                <a:latin typeface="Gill Sans MT" pitchFamily="34" charset="0"/>
              </a:rPr>
              <a:t>AS3,X </a:t>
            </a:r>
            <a:r>
              <a:rPr lang="en-US" sz="2200" dirty="0">
                <a:latin typeface="Gill Sans MT" pitchFamily="34" charset="0"/>
              </a:rPr>
              <a:t>(via eBGP) from AS3 router 3a</a:t>
            </a:r>
            <a:endParaRPr lang="en-US" sz="2000" dirty="0">
              <a:latin typeface="Gill Sans MT" pitchFamily="34" charset="0"/>
            </a:endParaRPr>
          </a:p>
        </p:txBody>
      </p:sp>
      <p:sp>
        <p:nvSpPr>
          <p:cNvPr id="328" name="Rectangle 4"/>
          <p:cNvSpPr txBox="1">
            <a:spLocks noChangeArrowheads="1"/>
          </p:cNvSpPr>
          <p:nvPr/>
        </p:nvSpPr>
        <p:spPr bwMode="auto">
          <a:xfrm>
            <a:off x="411594" y="5663719"/>
            <a:ext cx="8505825" cy="510442"/>
          </a:xfrm>
          <a:prstGeom prst="rect">
            <a:avLst/>
          </a:prstGeom>
          <a:noFill/>
          <a:ln>
            <a:noFill/>
          </a:ln>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pPr marL="294005" indent="-294005">
              <a:lnSpc>
                <a:spcPts val="2140"/>
              </a:lnSpc>
            </a:pPr>
            <a:r>
              <a:rPr lang="en-US" sz="2200" dirty="0">
                <a:latin typeface="Gill Sans MT" pitchFamily="34" charset="0"/>
              </a:rPr>
              <a:t>Based on AS2 policy,  AS2 router 2a advertises (via eBGP)  path </a:t>
            </a:r>
            <a:r>
              <a:rPr lang="en-US" sz="2000" dirty="0">
                <a:solidFill>
                  <a:srgbClr val="CC0000"/>
                </a:solidFill>
                <a:latin typeface="Gill Sans MT" pitchFamily="34" charset="0"/>
              </a:rPr>
              <a:t>AS2, AS3, X  </a:t>
            </a:r>
            <a:r>
              <a:rPr lang="en-US" sz="2200" dirty="0">
                <a:latin typeface="Gill Sans MT" pitchFamily="34" charset="0"/>
              </a:rPr>
              <a:t> to AS</a:t>
            </a:r>
            <a:r>
              <a:rPr lang="en-US" sz="2200" dirty="0">
                <a:latin typeface="Arial" panose="020B0604020202090204"/>
                <a:cs typeface="Arial" panose="020B0604020202090204"/>
              </a:rPr>
              <a:t>1</a:t>
            </a:r>
            <a:r>
              <a:rPr lang="en-US" sz="2200" dirty="0">
                <a:latin typeface="Gill Sans MT" pitchFamily="34" charset="0"/>
              </a:rPr>
              <a:t> router </a:t>
            </a:r>
            <a:r>
              <a:rPr lang="en-US" sz="2200" dirty="0">
                <a:latin typeface="Arial" panose="020B0604020202090204"/>
                <a:cs typeface="Arial" panose="020B0604020202090204"/>
              </a:rPr>
              <a:t>1</a:t>
            </a:r>
            <a:r>
              <a:rPr lang="en-US" sz="2200" dirty="0">
                <a:latin typeface="Gill Sans MT" pitchFamily="34" charset="0"/>
              </a:rPr>
              <a:t>c</a:t>
            </a:r>
          </a:p>
          <a:p>
            <a:endParaRPr lang="en-US" sz="2000" dirty="0">
              <a:latin typeface="Gill Sans MT" pitchFamily="34" charset="0"/>
            </a:endParaRPr>
          </a:p>
        </p:txBody>
      </p:sp>
      <p:grpSp>
        <p:nvGrpSpPr>
          <p:cNvPr id="5" name="Group 4"/>
          <p:cNvGrpSpPr/>
          <p:nvPr/>
        </p:nvGrpSpPr>
        <p:grpSpPr>
          <a:xfrm>
            <a:off x="4052000" y="2820739"/>
            <a:ext cx="1118837" cy="826267"/>
            <a:chOff x="4052000" y="2820739"/>
            <a:chExt cx="1118837" cy="826267"/>
          </a:xfrm>
        </p:grpSpPr>
        <p:cxnSp>
          <p:nvCxnSpPr>
            <p:cNvPr id="3" name="Straight Arrow Connector 2"/>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p:spPr>
        </p:cxnSp>
        <p:cxnSp>
          <p:nvCxnSpPr>
            <p:cNvPr id="330" name="Straight Arrow Connector 329"/>
            <p:cNvCxnSpPr/>
            <p:nvPr/>
          </p:nvCxnSpPr>
          <p:spPr bwMode="auto">
            <a:xfrm flipH="1" flipV="1">
              <a:off x="4052000" y="3192229"/>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p:spPr>
        </p:cxnSp>
        <p:cxnSp>
          <p:nvCxnSpPr>
            <p:cNvPr id="331" name="Straight Arrow Connector 330"/>
            <p:cNvCxnSpPr/>
            <p:nvPr/>
          </p:nvCxnSpPr>
          <p:spPr bwMode="auto">
            <a:xfrm flipH="1">
              <a:off x="4748700" y="3344630"/>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p:spPr>
        </p:cxnSp>
      </p:grpSp>
      <p:sp>
        <p:nvSpPr>
          <p:cNvPr id="325"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76</a:t>
            </a:fld>
            <a:endParaRPr lang="en-US" sz="1200" dirty="0">
              <a:latin typeface="Tahoma" panose="020B0604030504040204" charset="0"/>
            </a:endParaRPr>
          </a:p>
        </p:txBody>
      </p:sp>
      <p:sp>
        <p:nvSpPr>
          <p:cNvPr id="32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326"/>
                                        </p:tgtEl>
                                        <p:attrNameLst>
                                          <p:attrName>style.visibility</p:attrName>
                                        </p:attrNameLst>
                                      </p:cBhvr>
                                      <p:to>
                                        <p:strVal val="visible"/>
                                      </p:to>
                                    </p:set>
                                    <p:animEffect transition="in" filter="dissolve">
                                      <p:cBhvr>
                                        <p:cTn id="11" dur="1000"/>
                                        <p:tgtEl>
                                          <p:spTgt spid="32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2" fill="hold"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wipe(right)">
                                      <p:cBhvr>
                                        <p:cTn id="16" dur="500"/>
                                        <p:tgtEl>
                                          <p:spTgt spid="5"/>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753668">
                                            <p:txEl>
                                              <p:pRg st="0" end="0"/>
                                            </p:txEl>
                                          </p:spTgt>
                                        </p:tgtEl>
                                        <p:attrNameLst>
                                          <p:attrName>style.visibility</p:attrName>
                                        </p:attrNameLst>
                                      </p:cBhvr>
                                      <p:to>
                                        <p:strVal val="visible"/>
                                      </p:to>
                                    </p:set>
                                    <p:animEffect transition="in" filter="dissolve">
                                      <p:cBhvr>
                                        <p:cTn id="19" dur="500"/>
                                        <p:tgtEl>
                                          <p:spTgt spid="753668">
                                            <p:txEl>
                                              <p:pRg st="0" end="0"/>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down)">
                                      <p:cBhvr>
                                        <p:cTn id="24" dur="500"/>
                                        <p:tgtEl>
                                          <p:spTgt spid="6"/>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328"/>
                                        </p:tgtEl>
                                        <p:attrNameLst>
                                          <p:attrName>style.visibility</p:attrName>
                                        </p:attrNameLst>
                                      </p:cBhvr>
                                      <p:to>
                                        <p:strVal val="visible"/>
                                      </p:to>
                                    </p:set>
                                    <p:animEffect transition="in" filter="dissolve">
                                      <p:cBhvr>
                                        <p:cTn id="27" dur="500"/>
                                        <p:tgtEl>
                                          <p:spTgt spid="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3668" grpId="0" build="p"/>
      <p:bldP spid="326" grpId="0"/>
      <p:bldP spid="328"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a:xfrm>
            <a:off x="533400" y="0"/>
            <a:ext cx="7772400" cy="1143000"/>
          </a:xfrm>
        </p:spPr>
        <p:txBody>
          <a:bodyPr/>
          <a:lstStyle/>
          <a:p>
            <a:pPr>
              <a:defRPr/>
            </a:pPr>
            <a:r>
              <a:rPr lang="en-US" dirty="0">
                <a:cs typeface="+mj-cs"/>
              </a:rPr>
              <a:t>BGP path advertisement</a:t>
            </a:r>
          </a:p>
        </p:txBody>
      </p:sp>
      <p:sp>
        <p:nvSpPr>
          <p:cNvPr id="753668" name="Rectangle 4"/>
          <p:cNvSpPr>
            <a:spLocks noGrp="1" noChangeArrowheads="1"/>
          </p:cNvSpPr>
          <p:nvPr>
            <p:ph type="body" idx="1"/>
          </p:nvPr>
        </p:nvSpPr>
        <p:spPr>
          <a:xfrm>
            <a:off x="638175" y="4742967"/>
            <a:ext cx="8505825" cy="551956"/>
          </a:xfrm>
        </p:spPr>
        <p:txBody>
          <a:bodyPr/>
          <a:lstStyle/>
          <a:p>
            <a:pPr marL="294005" indent="-294005">
              <a:lnSpc>
                <a:spcPts val="2140"/>
              </a:lnSpc>
            </a:pPr>
            <a:r>
              <a:rPr lang="en-US" sz="2200" dirty="0">
                <a:latin typeface="Gill Sans MT" pitchFamily="34" charset="0"/>
              </a:rPr>
              <a:t>AS</a:t>
            </a:r>
            <a:r>
              <a:rPr lang="en-US" sz="2200" dirty="0">
                <a:latin typeface="Arial" panose="020B0604020202090204"/>
                <a:cs typeface="Arial" panose="020B0604020202090204"/>
              </a:rPr>
              <a:t>1</a:t>
            </a:r>
            <a:r>
              <a:rPr lang="en-US" sz="2200" dirty="0">
                <a:latin typeface="Gill Sans MT" pitchFamily="34" charset="0"/>
              </a:rPr>
              <a:t> gateway router</a:t>
            </a:r>
            <a:r>
              <a:rPr lang="en-US" sz="2200" dirty="0">
                <a:latin typeface="Arial" panose="020B0604020202090204"/>
                <a:cs typeface="Arial" panose="020B0604020202090204"/>
              </a:rPr>
              <a:t> 1c </a:t>
            </a:r>
            <a:r>
              <a:rPr lang="en-US" sz="2200" dirty="0">
                <a:latin typeface="Gill Sans MT" pitchFamily="34" charset="0"/>
              </a:rPr>
              <a:t>learns path </a:t>
            </a:r>
            <a:r>
              <a:rPr lang="en-US" sz="2200" i="1" dirty="0">
                <a:solidFill>
                  <a:srgbClr val="CC0000"/>
                </a:solidFill>
                <a:latin typeface="Gill Sans MT" pitchFamily="34" charset="0"/>
              </a:rPr>
              <a:t>AS2,AS3,X </a:t>
            </a:r>
            <a:r>
              <a:rPr lang="en-US" sz="2200" dirty="0">
                <a:latin typeface="Gill Sans MT" pitchFamily="34" charset="0"/>
              </a:rPr>
              <a:t>from 2a</a:t>
            </a:r>
            <a:endParaRPr lang="en-US" sz="2000" dirty="0">
              <a:latin typeface="Gill Sans MT" pitchFamily="34" charset="0"/>
            </a:endParaRPr>
          </a:p>
          <a:p>
            <a:endParaRPr lang="en-US" sz="2000" dirty="0">
              <a:latin typeface="Gill Sans MT" pitchFamily="34" charset="0"/>
            </a:endParaRPr>
          </a:p>
        </p:txBody>
      </p:sp>
      <p:pic>
        <p:nvPicPr>
          <p:cNvPr id="162849" name="Picture 121"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187" y="800100"/>
            <a:ext cx="5602043" cy="176823"/>
          </a:xfrm>
          <a:prstGeom prst="rect">
            <a:avLst/>
          </a:prstGeom>
          <a:noFill/>
          <a:ln>
            <a:noFill/>
          </a:ln>
        </p:spPr>
      </p:pic>
      <p:grpSp>
        <p:nvGrpSpPr>
          <p:cNvPr id="125" name="Group 124"/>
          <p:cNvGrpSpPr/>
          <p:nvPr/>
        </p:nvGrpSpPr>
        <p:grpSpPr>
          <a:xfrm>
            <a:off x="624887" y="1451514"/>
            <a:ext cx="2557336" cy="1719017"/>
            <a:chOff x="-2170772" y="2784954"/>
            <a:chExt cx="2712783" cy="1853712"/>
          </a:xfrm>
        </p:grpSpPr>
        <p:sp>
          <p:nvSpPr>
            <p:cNvPr id="261" name="Freeform 2"/>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262" name="Group 261"/>
            <p:cNvGrpSpPr/>
            <p:nvPr/>
          </p:nvGrpSpPr>
          <p:grpSpPr>
            <a:xfrm>
              <a:off x="-1935370" y="2935816"/>
              <a:ext cx="2333625" cy="1590649"/>
              <a:chOff x="833331" y="2873352"/>
              <a:chExt cx="2333625" cy="1590649"/>
            </a:xfrm>
          </p:grpSpPr>
          <p:grpSp>
            <p:nvGrpSpPr>
              <p:cNvPr id="263" name="Group 262"/>
              <p:cNvGrpSpPr/>
              <p:nvPr/>
            </p:nvGrpSpPr>
            <p:grpSpPr>
              <a:xfrm>
                <a:off x="1736090" y="2873352"/>
                <a:ext cx="565150" cy="369332"/>
                <a:chOff x="1736090" y="2873352"/>
                <a:chExt cx="565150" cy="369332"/>
              </a:xfrm>
            </p:grpSpPr>
            <p:grpSp>
              <p:nvGrpSpPr>
                <p:cNvPr id="312" name="Group 327"/>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41422" cy="369332"/>
                  <a:chOff x="667045" y="1708643"/>
                  <a:chExt cx="441422" cy="369332"/>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41422" cy="369332"/>
                  </a:xfrm>
                  <a:prstGeom prst="rect">
                    <a:avLst/>
                  </a:prstGeom>
                  <a:noFill/>
                </p:spPr>
                <p:txBody>
                  <a:bodyPr wrap="none" rtlCol="0">
                    <a:spAutoFit/>
                  </a:bodyPr>
                  <a:lstStyle/>
                  <a:p>
                    <a:r>
                      <a:rPr lang="en-US" dirty="0"/>
                      <a:t>1b</a:t>
                    </a:r>
                  </a:p>
                </p:txBody>
              </p:sp>
            </p:grpSp>
          </p:grpSp>
          <p:grpSp>
            <p:nvGrpSpPr>
              <p:cNvPr id="264" name="Group 263"/>
              <p:cNvGrpSpPr/>
              <p:nvPr/>
            </p:nvGrpSpPr>
            <p:grpSpPr>
              <a:xfrm>
                <a:off x="1740320" y="4094669"/>
                <a:ext cx="565150" cy="369332"/>
                <a:chOff x="1736090" y="2873352"/>
                <a:chExt cx="565150" cy="369332"/>
              </a:xfrm>
            </p:grpSpPr>
            <p:grpSp>
              <p:nvGrpSpPr>
                <p:cNvPr id="299" name="Group 327"/>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41422" cy="369332"/>
                  <a:chOff x="667045" y="1708643"/>
                  <a:chExt cx="441422" cy="369332"/>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41422" cy="369332"/>
                  </a:xfrm>
                  <a:prstGeom prst="rect">
                    <a:avLst/>
                  </a:prstGeom>
                  <a:noFill/>
                </p:spPr>
                <p:txBody>
                  <a:bodyPr wrap="none" rtlCol="0">
                    <a:spAutoFit/>
                  </a:bodyPr>
                  <a:lstStyle/>
                  <a:p>
                    <a:r>
                      <a:rPr lang="en-US" dirty="0"/>
                      <a:t>1d</a:t>
                    </a:r>
                  </a:p>
                </p:txBody>
              </p:sp>
            </p:grpSp>
          </p:grpSp>
          <p:grpSp>
            <p:nvGrpSpPr>
              <p:cNvPr id="265" name="Group 264"/>
              <p:cNvGrpSpPr/>
              <p:nvPr/>
            </p:nvGrpSpPr>
            <p:grpSpPr>
              <a:xfrm>
                <a:off x="2601806" y="3485072"/>
                <a:ext cx="565150" cy="369332"/>
                <a:chOff x="1736090" y="2873352"/>
                <a:chExt cx="565150" cy="369332"/>
              </a:xfrm>
            </p:grpSpPr>
            <p:grpSp>
              <p:nvGrpSpPr>
                <p:cNvPr id="286" name="Group 327"/>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28460" cy="369332"/>
                  <a:chOff x="667045" y="1708643"/>
                  <a:chExt cx="428460" cy="369332"/>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28460" cy="369332"/>
                  </a:xfrm>
                  <a:prstGeom prst="rect">
                    <a:avLst/>
                  </a:prstGeom>
                  <a:noFill/>
                </p:spPr>
                <p:txBody>
                  <a:bodyPr wrap="none" rtlCol="0">
                    <a:spAutoFit/>
                  </a:bodyPr>
                  <a:lstStyle/>
                  <a:p>
                    <a:r>
                      <a:rPr lang="en-US" dirty="0"/>
                      <a:t>1c</a:t>
                    </a:r>
                  </a:p>
                </p:txBody>
              </p:sp>
            </p:grpSp>
          </p:grpSp>
          <p:grpSp>
            <p:nvGrpSpPr>
              <p:cNvPr id="266" name="Group 265"/>
              <p:cNvGrpSpPr/>
              <p:nvPr/>
            </p:nvGrpSpPr>
            <p:grpSpPr>
              <a:xfrm>
                <a:off x="833331" y="3478719"/>
                <a:ext cx="565150" cy="369332"/>
                <a:chOff x="1736090" y="2873352"/>
                <a:chExt cx="565150" cy="369332"/>
              </a:xfrm>
            </p:grpSpPr>
            <p:grpSp>
              <p:nvGrpSpPr>
                <p:cNvPr id="273" name="Group 327"/>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41422" cy="369332"/>
                  <a:chOff x="667045" y="1708643"/>
                  <a:chExt cx="441422" cy="369332"/>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41422" cy="369332"/>
                  </a:xfrm>
                  <a:prstGeom prst="rect">
                    <a:avLst/>
                  </a:prstGeom>
                  <a:noFill/>
                </p:spPr>
                <p:txBody>
                  <a:bodyPr wrap="none" rtlCol="0">
                    <a:spAutoFit/>
                  </a:bodyPr>
                  <a:lstStyle/>
                  <a:p>
                    <a:r>
                      <a:rPr lang="en-US" dirty="0"/>
                      <a:t>1a</a:t>
                    </a:r>
                  </a:p>
                </p:txBody>
              </p:sp>
            </p:grpSp>
          </p:grpSp>
          <p:cxnSp>
            <p:nvCxnSpPr>
              <p:cNvPr id="267" name="Straight Connector 266"/>
              <p:cNvCxnSpPr>
                <a:stCxn id="315" idx="2"/>
                <a:endCxn id="302"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68" name="Straight Connector 267"/>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70" name="Straight Connector 269"/>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72" name="Straight Connector 271"/>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grpSp>
      <p:grpSp>
        <p:nvGrpSpPr>
          <p:cNvPr id="126" name="Group 125"/>
          <p:cNvGrpSpPr/>
          <p:nvPr/>
        </p:nvGrpSpPr>
        <p:grpSpPr>
          <a:xfrm>
            <a:off x="3285692" y="2378685"/>
            <a:ext cx="2545688" cy="1720535"/>
            <a:chOff x="-2170772" y="2784954"/>
            <a:chExt cx="2712783" cy="1853712"/>
          </a:xfrm>
        </p:grpSpPr>
        <p:sp>
          <p:nvSpPr>
            <p:cNvPr id="197" name="Freeform 2"/>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198" name="Group 197"/>
            <p:cNvGrpSpPr/>
            <p:nvPr/>
          </p:nvGrpSpPr>
          <p:grpSpPr>
            <a:xfrm>
              <a:off x="-1935370" y="2935816"/>
              <a:ext cx="2333625" cy="1590649"/>
              <a:chOff x="833331" y="2873352"/>
              <a:chExt cx="2333625" cy="1590649"/>
            </a:xfrm>
          </p:grpSpPr>
          <p:grpSp>
            <p:nvGrpSpPr>
              <p:cNvPr id="199" name="Group 198"/>
              <p:cNvGrpSpPr/>
              <p:nvPr/>
            </p:nvGrpSpPr>
            <p:grpSpPr>
              <a:xfrm>
                <a:off x="1736090" y="2873352"/>
                <a:ext cx="565150" cy="369332"/>
                <a:chOff x="1736090" y="2873352"/>
                <a:chExt cx="565150" cy="369332"/>
              </a:xfrm>
            </p:grpSpPr>
            <p:grpSp>
              <p:nvGrpSpPr>
                <p:cNvPr id="248" name="Group 327"/>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41422" cy="369332"/>
                  <a:chOff x="667045" y="1708643"/>
                  <a:chExt cx="441422" cy="369332"/>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41422" cy="369332"/>
                  </a:xfrm>
                  <a:prstGeom prst="rect">
                    <a:avLst/>
                  </a:prstGeom>
                  <a:noFill/>
                </p:spPr>
                <p:txBody>
                  <a:bodyPr wrap="none" rtlCol="0">
                    <a:spAutoFit/>
                  </a:bodyPr>
                  <a:lstStyle/>
                  <a:p>
                    <a:r>
                      <a:rPr lang="en-US" dirty="0"/>
                      <a:t>2b</a:t>
                    </a:r>
                  </a:p>
                </p:txBody>
              </p:sp>
            </p:grpSp>
          </p:grpSp>
          <p:grpSp>
            <p:nvGrpSpPr>
              <p:cNvPr id="200" name="Group 199"/>
              <p:cNvGrpSpPr/>
              <p:nvPr/>
            </p:nvGrpSpPr>
            <p:grpSpPr>
              <a:xfrm>
                <a:off x="1740320" y="4094669"/>
                <a:ext cx="565150" cy="369332"/>
                <a:chOff x="1736090" y="2873352"/>
                <a:chExt cx="565150" cy="369332"/>
              </a:xfrm>
            </p:grpSpPr>
            <p:grpSp>
              <p:nvGrpSpPr>
                <p:cNvPr id="235" name="Group 327"/>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41422" cy="369332"/>
                  <a:chOff x="667045" y="1708643"/>
                  <a:chExt cx="441422" cy="369332"/>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41422" cy="369332"/>
                  </a:xfrm>
                  <a:prstGeom prst="rect">
                    <a:avLst/>
                  </a:prstGeom>
                  <a:noFill/>
                </p:spPr>
                <p:txBody>
                  <a:bodyPr wrap="none" rtlCol="0">
                    <a:spAutoFit/>
                  </a:bodyPr>
                  <a:lstStyle/>
                  <a:p>
                    <a:r>
                      <a:rPr lang="en-US" dirty="0"/>
                      <a:t>2d</a:t>
                    </a:r>
                  </a:p>
                </p:txBody>
              </p:sp>
            </p:grpSp>
          </p:grpSp>
          <p:grpSp>
            <p:nvGrpSpPr>
              <p:cNvPr id="201" name="Group 200"/>
              <p:cNvGrpSpPr/>
              <p:nvPr/>
            </p:nvGrpSpPr>
            <p:grpSpPr>
              <a:xfrm>
                <a:off x="2601806" y="3485072"/>
                <a:ext cx="565150" cy="369332"/>
                <a:chOff x="1736090" y="2873352"/>
                <a:chExt cx="565150" cy="369332"/>
              </a:xfrm>
            </p:grpSpPr>
            <p:grpSp>
              <p:nvGrpSpPr>
                <p:cNvPr id="222" name="Group 327"/>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28460" cy="369332"/>
                  <a:chOff x="667045" y="1708643"/>
                  <a:chExt cx="428460" cy="369332"/>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28460" cy="369332"/>
                  </a:xfrm>
                  <a:prstGeom prst="rect">
                    <a:avLst/>
                  </a:prstGeom>
                  <a:noFill/>
                </p:spPr>
                <p:txBody>
                  <a:bodyPr wrap="none" rtlCol="0">
                    <a:spAutoFit/>
                  </a:bodyPr>
                  <a:lstStyle/>
                  <a:p>
                    <a:r>
                      <a:rPr lang="en-US" dirty="0"/>
                      <a:t>2c</a:t>
                    </a:r>
                  </a:p>
                </p:txBody>
              </p:sp>
            </p:grpSp>
          </p:grpSp>
          <p:grpSp>
            <p:nvGrpSpPr>
              <p:cNvPr id="202" name="Group 201"/>
              <p:cNvGrpSpPr/>
              <p:nvPr/>
            </p:nvGrpSpPr>
            <p:grpSpPr>
              <a:xfrm>
                <a:off x="833331" y="3478719"/>
                <a:ext cx="565150" cy="369332"/>
                <a:chOff x="1736090" y="2873352"/>
                <a:chExt cx="565150" cy="369332"/>
              </a:xfrm>
            </p:grpSpPr>
            <p:grpSp>
              <p:nvGrpSpPr>
                <p:cNvPr id="209" name="Group 327"/>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441422" cy="369332"/>
                  <a:chOff x="667045" y="1708643"/>
                  <a:chExt cx="441422" cy="369332"/>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441422" cy="369332"/>
                  </a:xfrm>
                  <a:prstGeom prst="rect">
                    <a:avLst/>
                  </a:prstGeom>
                  <a:noFill/>
                </p:spPr>
                <p:txBody>
                  <a:bodyPr wrap="none" rtlCol="0">
                    <a:spAutoFit/>
                  </a:bodyPr>
                  <a:lstStyle/>
                  <a:p>
                    <a:r>
                      <a:rPr lang="en-US" dirty="0"/>
                      <a:t>2a</a:t>
                    </a:r>
                  </a:p>
                </p:txBody>
              </p:sp>
            </p:grpSp>
          </p:grpSp>
          <p:cxnSp>
            <p:nvCxnSpPr>
              <p:cNvPr id="203" name="Straight Connector 202"/>
              <p:cNvCxnSpPr>
                <a:stCxn id="251" idx="2"/>
                <a:endCxn id="238"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4" name="Straight Connector 203"/>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5" name="Straight Connector 204"/>
              <p:cNvCxnSpPr>
                <a:stCxn id="252"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6" name="Straight Connector 205"/>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7" name="Straight Connector 206"/>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208" name="Straight Connector 207"/>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grpSp>
      <p:sp>
        <p:nvSpPr>
          <p:cNvPr id="133" name="Freeform 2"/>
          <p:cNvSpPr/>
          <p:nvPr/>
        </p:nvSpPr>
        <p:spPr bwMode="auto">
          <a:xfrm>
            <a:off x="5507686" y="1310427"/>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134" name="Group 133"/>
          <p:cNvGrpSpPr/>
          <p:nvPr/>
        </p:nvGrpSpPr>
        <p:grpSpPr>
          <a:xfrm>
            <a:off x="5731177" y="1446543"/>
            <a:ext cx="2215548" cy="1435167"/>
            <a:chOff x="833331" y="2873352"/>
            <a:chExt cx="2333625" cy="1590649"/>
          </a:xfrm>
        </p:grpSpPr>
        <p:grpSp>
          <p:nvGrpSpPr>
            <p:cNvPr id="135" name="Group 134"/>
            <p:cNvGrpSpPr/>
            <p:nvPr/>
          </p:nvGrpSpPr>
          <p:grpSpPr>
            <a:xfrm>
              <a:off x="1736090" y="2873352"/>
              <a:ext cx="565150" cy="369332"/>
              <a:chOff x="1736090" y="2873352"/>
              <a:chExt cx="565150" cy="369332"/>
            </a:xfrm>
          </p:grpSpPr>
          <p:grpSp>
            <p:nvGrpSpPr>
              <p:cNvPr id="184" name="Group 327"/>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41422" cy="369332"/>
                <a:chOff x="667045" y="1708643"/>
                <a:chExt cx="441422" cy="369332"/>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41422" cy="369332"/>
                </a:xfrm>
                <a:prstGeom prst="rect">
                  <a:avLst/>
                </a:prstGeom>
                <a:noFill/>
              </p:spPr>
              <p:txBody>
                <a:bodyPr wrap="none" rtlCol="0">
                  <a:spAutoFit/>
                </a:bodyPr>
                <a:lstStyle/>
                <a:p>
                  <a:r>
                    <a:rPr lang="en-US" dirty="0"/>
                    <a:t>3b</a:t>
                  </a:r>
                </a:p>
              </p:txBody>
            </p:sp>
          </p:grpSp>
        </p:grpSp>
        <p:grpSp>
          <p:nvGrpSpPr>
            <p:cNvPr id="136" name="Group 135"/>
            <p:cNvGrpSpPr/>
            <p:nvPr/>
          </p:nvGrpSpPr>
          <p:grpSpPr>
            <a:xfrm>
              <a:off x="1740320" y="4094669"/>
              <a:ext cx="565150" cy="369332"/>
              <a:chOff x="1736090" y="2873352"/>
              <a:chExt cx="565150" cy="369332"/>
            </a:xfrm>
          </p:grpSpPr>
          <p:grpSp>
            <p:nvGrpSpPr>
              <p:cNvPr id="171" name="Group 327"/>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41422" cy="369332"/>
                <a:chOff x="667045" y="1708643"/>
                <a:chExt cx="441422" cy="369332"/>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41422" cy="369332"/>
                </a:xfrm>
                <a:prstGeom prst="rect">
                  <a:avLst/>
                </a:prstGeom>
                <a:noFill/>
              </p:spPr>
              <p:txBody>
                <a:bodyPr wrap="none" rtlCol="0">
                  <a:spAutoFit/>
                </a:bodyPr>
                <a:lstStyle/>
                <a:p>
                  <a:r>
                    <a:rPr lang="en-US" dirty="0"/>
                    <a:t>3d</a:t>
                  </a:r>
                </a:p>
              </p:txBody>
            </p:sp>
          </p:grpSp>
        </p:grpSp>
        <p:grpSp>
          <p:nvGrpSpPr>
            <p:cNvPr id="137" name="Group 136"/>
            <p:cNvGrpSpPr/>
            <p:nvPr/>
          </p:nvGrpSpPr>
          <p:grpSpPr>
            <a:xfrm>
              <a:off x="2601806" y="3485072"/>
              <a:ext cx="565150" cy="369332"/>
              <a:chOff x="1736090" y="2873352"/>
              <a:chExt cx="565150" cy="369332"/>
            </a:xfrm>
          </p:grpSpPr>
          <p:grpSp>
            <p:nvGrpSpPr>
              <p:cNvPr id="158" name="Group 327"/>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2" y="2873352"/>
                <a:ext cx="428460" cy="369332"/>
                <a:chOff x="667045" y="1708643"/>
                <a:chExt cx="428460" cy="369332"/>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5" y="1708643"/>
                  <a:ext cx="428460" cy="369332"/>
                </a:xfrm>
                <a:prstGeom prst="rect">
                  <a:avLst/>
                </a:prstGeom>
                <a:noFill/>
              </p:spPr>
              <p:txBody>
                <a:bodyPr wrap="none" rtlCol="0">
                  <a:spAutoFit/>
                </a:bodyPr>
                <a:lstStyle/>
                <a:p>
                  <a:r>
                    <a:rPr lang="en-US" dirty="0"/>
                    <a:t>3c</a:t>
                  </a:r>
                </a:p>
              </p:txBody>
            </p:sp>
          </p:grpSp>
        </p:grpSp>
        <p:grpSp>
          <p:nvGrpSpPr>
            <p:cNvPr id="138" name="Group 137"/>
            <p:cNvGrpSpPr/>
            <p:nvPr/>
          </p:nvGrpSpPr>
          <p:grpSpPr>
            <a:xfrm>
              <a:off x="833331" y="3478719"/>
              <a:ext cx="565150" cy="369332"/>
              <a:chOff x="1736090" y="2873352"/>
              <a:chExt cx="565150" cy="369332"/>
            </a:xfrm>
          </p:grpSpPr>
          <p:grpSp>
            <p:nvGrpSpPr>
              <p:cNvPr id="145" name="Group 327"/>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441422" cy="369332"/>
                <a:chOff x="667045" y="1708643"/>
                <a:chExt cx="441422" cy="369332"/>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441422" cy="369332"/>
                </a:xfrm>
                <a:prstGeom prst="rect">
                  <a:avLst/>
                </a:prstGeom>
                <a:noFill/>
              </p:spPr>
              <p:txBody>
                <a:bodyPr wrap="none" rtlCol="0">
                  <a:spAutoFit/>
                </a:bodyPr>
                <a:lstStyle/>
                <a:p>
                  <a:r>
                    <a:rPr lang="en-US" dirty="0"/>
                    <a:t>3a</a:t>
                  </a:r>
                </a:p>
              </p:txBody>
            </p:sp>
          </p:grpSp>
        </p:grpSp>
        <p:cxnSp>
          <p:nvCxnSpPr>
            <p:cNvPr id="139" name="Straight Connector 138"/>
            <p:cNvCxnSpPr>
              <a:stCxn id="187" idx="2"/>
              <a:endCxn id="174" idx="0"/>
            </p:cNvCxnSpPr>
            <p:nvPr/>
          </p:nvCxnSpPr>
          <p:spPr bwMode="auto">
            <a:xfrm>
              <a:off x="1991073" y="3242684"/>
              <a:ext cx="4230" cy="851985"/>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3" name="Straight Connector 14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cxnSp>
        <p:nvCxnSpPr>
          <p:cNvPr id="128" name="Straight Connector 127"/>
          <p:cNvCxnSpPr/>
          <p:nvPr/>
        </p:nvCxnSpPr>
        <p:spPr bwMode="auto">
          <a:xfrm flipH="1" flipV="1">
            <a:off x="3046706" y="2340047"/>
            <a:ext cx="480877" cy="744090"/>
          </a:xfrm>
          <a:prstGeom prst="line">
            <a:avLst/>
          </a:prstGeom>
          <a:solidFill>
            <a:schemeClr val="accent1"/>
          </a:solidFill>
          <a:ln w="38100" cap="flat" cmpd="sng" algn="ctr">
            <a:solidFill>
              <a:srgbClr val="CC0000"/>
            </a:solidFill>
            <a:prstDash val="dash"/>
            <a:round/>
            <a:headEnd type="none" w="med" len="med"/>
            <a:tailEnd type="none" w="med" len="med"/>
          </a:ln>
          <a:effectLst/>
        </p:spPr>
      </p:cxnSp>
      <p:cxnSp>
        <p:nvCxnSpPr>
          <p:cNvPr id="129" name="Straight Connector 128"/>
          <p:cNvCxnSpPr/>
          <p:nvPr/>
        </p:nvCxnSpPr>
        <p:spPr bwMode="auto">
          <a:xfrm flipV="1">
            <a:off x="5523188" y="2281165"/>
            <a:ext cx="337735" cy="823128"/>
          </a:xfrm>
          <a:prstGeom prst="line">
            <a:avLst/>
          </a:prstGeom>
          <a:solidFill>
            <a:schemeClr val="accent1"/>
          </a:solidFill>
          <a:ln w="38100" cap="flat" cmpd="sng" algn="ctr">
            <a:solidFill>
              <a:srgbClr val="CC0000"/>
            </a:solidFill>
            <a:prstDash val="dash"/>
            <a:round/>
            <a:headEnd type="none" w="med" len="med"/>
            <a:tailEnd type="none" w="med" len="med"/>
          </a:ln>
          <a:effectLst/>
        </p:spPr>
      </p:cxnSp>
      <p:sp>
        <p:nvSpPr>
          <p:cNvPr id="130" name="TextBox 129"/>
          <p:cNvSpPr txBox="1"/>
          <p:nvPr/>
        </p:nvSpPr>
        <p:spPr>
          <a:xfrm>
            <a:off x="3493291" y="2438369"/>
            <a:ext cx="682273" cy="400110"/>
          </a:xfrm>
          <a:prstGeom prst="rect">
            <a:avLst/>
          </a:prstGeom>
          <a:noFill/>
        </p:spPr>
        <p:txBody>
          <a:bodyPr wrap="none" rtlCol="0">
            <a:spAutoFit/>
          </a:bodyPr>
          <a:lstStyle/>
          <a:p>
            <a:r>
              <a:rPr lang="en-US" sz="2000" dirty="0">
                <a:solidFill>
                  <a:srgbClr val="000090"/>
                </a:solidFill>
              </a:rPr>
              <a:t>AS2</a:t>
            </a:r>
          </a:p>
        </p:txBody>
      </p:sp>
      <p:sp>
        <p:nvSpPr>
          <p:cNvPr id="131" name="TextBox 130"/>
          <p:cNvSpPr txBox="1"/>
          <p:nvPr/>
        </p:nvSpPr>
        <p:spPr>
          <a:xfrm>
            <a:off x="5543950" y="1351667"/>
            <a:ext cx="682273" cy="400110"/>
          </a:xfrm>
          <a:prstGeom prst="rect">
            <a:avLst/>
          </a:prstGeom>
          <a:noFill/>
        </p:spPr>
        <p:txBody>
          <a:bodyPr wrap="none" rtlCol="0">
            <a:spAutoFit/>
          </a:bodyPr>
          <a:lstStyle/>
          <a:p>
            <a:r>
              <a:rPr lang="en-US" sz="2000" dirty="0">
                <a:solidFill>
                  <a:srgbClr val="000090"/>
                </a:solidFill>
              </a:rPr>
              <a:t>AS3</a:t>
            </a:r>
          </a:p>
        </p:txBody>
      </p:sp>
      <p:sp>
        <p:nvSpPr>
          <p:cNvPr id="132" name="TextBox 131"/>
          <p:cNvSpPr txBox="1"/>
          <p:nvPr/>
        </p:nvSpPr>
        <p:spPr>
          <a:xfrm>
            <a:off x="707172" y="1562343"/>
            <a:ext cx="682273" cy="400110"/>
          </a:xfrm>
          <a:prstGeom prst="rect">
            <a:avLst/>
          </a:prstGeom>
          <a:noFill/>
        </p:spPr>
        <p:txBody>
          <a:bodyPr wrap="none" rtlCol="0">
            <a:spAutoFit/>
          </a:bodyPr>
          <a:lstStyle/>
          <a:p>
            <a:r>
              <a:rPr lang="en-US" sz="2000" dirty="0">
                <a:solidFill>
                  <a:srgbClr val="000090"/>
                </a:solidFill>
              </a:rPr>
              <a:t>AS1</a:t>
            </a:r>
          </a:p>
        </p:txBody>
      </p:sp>
      <p:grpSp>
        <p:nvGrpSpPr>
          <p:cNvPr id="11" name="Group 10"/>
          <p:cNvGrpSpPr/>
          <p:nvPr/>
        </p:nvGrpSpPr>
        <p:grpSpPr>
          <a:xfrm>
            <a:off x="7070827" y="2413274"/>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 name="connsiteX0-307" fmla="*/ 4 w 9959"/>
                  <a:gd name="connsiteY0-308" fmla="*/ 5593 h 11352"/>
                  <a:gd name="connsiteX1-309" fmla="*/ 1089 w 9959"/>
                  <a:gd name="connsiteY1-310" fmla="*/ 469 h 11352"/>
                  <a:gd name="connsiteX2-311" fmla="*/ 4845 w 9959"/>
                  <a:gd name="connsiteY2-312" fmla="*/ 561 h 11352"/>
                  <a:gd name="connsiteX3-313" fmla="*/ 8027 w 9959"/>
                  <a:gd name="connsiteY3-314" fmla="*/ 3370 h 11352"/>
                  <a:gd name="connsiteX4-315" fmla="*/ 9955 w 9959"/>
                  <a:gd name="connsiteY4-316" fmla="*/ 5970 h 11352"/>
                  <a:gd name="connsiteX5-317" fmla="*/ 8435 w 9959"/>
                  <a:gd name="connsiteY5-318" fmla="*/ 7863 h 11352"/>
                  <a:gd name="connsiteX6-319" fmla="*/ 5161 w 9959"/>
                  <a:gd name="connsiteY6-320" fmla="*/ 11352 h 11352"/>
                  <a:gd name="connsiteX7-321" fmla="*/ 2712 w 9959"/>
                  <a:gd name="connsiteY7-322" fmla="*/ 8240 h 11352"/>
                  <a:gd name="connsiteX8-323" fmla="*/ 1334 w 9959"/>
                  <a:gd name="connsiteY8-324" fmla="*/ 7922 h 11352"/>
                  <a:gd name="connsiteX9-325" fmla="*/ 4 w 9959"/>
                  <a:gd name="connsiteY9-326" fmla="*/ 5593 h 11352"/>
                  <a:gd name="connsiteX0-327" fmla="*/ 0 w 11223"/>
                  <a:gd name="connsiteY0-328" fmla="*/ 3835 h 9929"/>
                  <a:gd name="connsiteX1-329" fmla="*/ 2316 w 11223"/>
                  <a:gd name="connsiteY1-330" fmla="*/ 342 h 9929"/>
                  <a:gd name="connsiteX2-331" fmla="*/ 6088 w 11223"/>
                  <a:gd name="connsiteY2-332" fmla="*/ 423 h 9929"/>
                  <a:gd name="connsiteX3-333" fmla="*/ 9283 w 11223"/>
                  <a:gd name="connsiteY3-334" fmla="*/ 2898 h 9929"/>
                  <a:gd name="connsiteX4-335" fmla="*/ 11219 w 11223"/>
                  <a:gd name="connsiteY4-336" fmla="*/ 5188 h 9929"/>
                  <a:gd name="connsiteX5-337" fmla="*/ 9693 w 11223"/>
                  <a:gd name="connsiteY5-338" fmla="*/ 6856 h 9929"/>
                  <a:gd name="connsiteX6-339" fmla="*/ 6405 w 11223"/>
                  <a:gd name="connsiteY6-340" fmla="*/ 9929 h 9929"/>
                  <a:gd name="connsiteX7-341" fmla="*/ 3946 w 11223"/>
                  <a:gd name="connsiteY7-342" fmla="*/ 7188 h 9929"/>
                  <a:gd name="connsiteX8-343" fmla="*/ 2562 w 11223"/>
                  <a:gd name="connsiteY8-344" fmla="*/ 6908 h 9929"/>
                  <a:gd name="connsiteX9-345" fmla="*/ 0 w 11223"/>
                  <a:gd name="connsiteY9-346" fmla="*/ 3835 h 9929"/>
                  <a:gd name="connsiteX0-347" fmla="*/ 0 w 9999"/>
                  <a:gd name="connsiteY0-348" fmla="*/ 3862 h 10000"/>
                  <a:gd name="connsiteX1-349" fmla="*/ 2064 w 9999"/>
                  <a:gd name="connsiteY1-350" fmla="*/ 344 h 10000"/>
                  <a:gd name="connsiteX2-351" fmla="*/ 5425 w 9999"/>
                  <a:gd name="connsiteY2-352" fmla="*/ 426 h 10000"/>
                  <a:gd name="connsiteX3-353" fmla="*/ 8271 w 9999"/>
                  <a:gd name="connsiteY3-354" fmla="*/ 2919 h 10000"/>
                  <a:gd name="connsiteX4-355" fmla="*/ 9996 w 9999"/>
                  <a:gd name="connsiteY4-356" fmla="*/ 5225 h 10000"/>
                  <a:gd name="connsiteX5-357" fmla="*/ 8637 w 9999"/>
                  <a:gd name="connsiteY5-358" fmla="*/ 6905 h 10000"/>
                  <a:gd name="connsiteX6-359" fmla="*/ 5707 w 9999"/>
                  <a:gd name="connsiteY6-360" fmla="*/ 10000 h 10000"/>
                  <a:gd name="connsiteX7-361" fmla="*/ 2283 w 9999"/>
                  <a:gd name="connsiteY7-362" fmla="*/ 6957 h 10000"/>
                  <a:gd name="connsiteX8-363" fmla="*/ 0 w 9999"/>
                  <a:gd name="connsiteY8-364" fmla="*/ 3862 h 10000"/>
                  <a:gd name="connsiteX0-365" fmla="*/ 124 w 10124"/>
                  <a:gd name="connsiteY0-366" fmla="*/ 3862 h 10000"/>
                  <a:gd name="connsiteX1-367" fmla="*/ 2188 w 10124"/>
                  <a:gd name="connsiteY1-368" fmla="*/ 344 h 10000"/>
                  <a:gd name="connsiteX2-369" fmla="*/ 5550 w 10124"/>
                  <a:gd name="connsiteY2-370" fmla="*/ 426 h 10000"/>
                  <a:gd name="connsiteX3-371" fmla="*/ 8396 w 10124"/>
                  <a:gd name="connsiteY3-372" fmla="*/ 2919 h 10000"/>
                  <a:gd name="connsiteX4-373" fmla="*/ 10121 w 10124"/>
                  <a:gd name="connsiteY4-374" fmla="*/ 5225 h 10000"/>
                  <a:gd name="connsiteX5-375" fmla="*/ 8762 w 10124"/>
                  <a:gd name="connsiteY5-376" fmla="*/ 6905 h 10000"/>
                  <a:gd name="connsiteX6-377" fmla="*/ 5832 w 10124"/>
                  <a:gd name="connsiteY6-378" fmla="*/ 10000 h 10000"/>
                  <a:gd name="connsiteX7-379" fmla="*/ 124 w 10124"/>
                  <a:gd name="connsiteY7-380" fmla="*/ 3862 h 10000"/>
                  <a:gd name="connsiteX0-381" fmla="*/ 43 w 10045"/>
                  <a:gd name="connsiteY0-382" fmla="*/ 3862 h 6912"/>
                  <a:gd name="connsiteX1-383" fmla="*/ 2107 w 10045"/>
                  <a:gd name="connsiteY1-384" fmla="*/ 344 h 6912"/>
                  <a:gd name="connsiteX2-385" fmla="*/ 5469 w 10045"/>
                  <a:gd name="connsiteY2-386" fmla="*/ 426 h 6912"/>
                  <a:gd name="connsiteX3-387" fmla="*/ 8315 w 10045"/>
                  <a:gd name="connsiteY3-388" fmla="*/ 2919 h 6912"/>
                  <a:gd name="connsiteX4-389" fmla="*/ 10040 w 10045"/>
                  <a:gd name="connsiteY4-390" fmla="*/ 5225 h 6912"/>
                  <a:gd name="connsiteX5-391" fmla="*/ 8681 w 10045"/>
                  <a:gd name="connsiteY5-392" fmla="*/ 6905 h 6912"/>
                  <a:gd name="connsiteX6-393" fmla="*/ 3967 w 10045"/>
                  <a:gd name="connsiteY6-394" fmla="*/ 5885 h 6912"/>
                  <a:gd name="connsiteX7-395" fmla="*/ 43 w 10045"/>
                  <a:gd name="connsiteY7-396" fmla="*/ 3862 h 6912"/>
                  <a:gd name="connsiteX0-397" fmla="*/ 47 w 10004"/>
                  <a:gd name="connsiteY0-398" fmla="*/ 5106 h 9519"/>
                  <a:gd name="connsiteX1-399" fmla="*/ 2102 w 10004"/>
                  <a:gd name="connsiteY1-400" fmla="*/ 17 h 9519"/>
                  <a:gd name="connsiteX2-401" fmla="*/ 6651 w 10004"/>
                  <a:gd name="connsiteY2-402" fmla="*/ 3484 h 9519"/>
                  <a:gd name="connsiteX3-403" fmla="*/ 8282 w 10004"/>
                  <a:gd name="connsiteY3-404" fmla="*/ 3742 h 9519"/>
                  <a:gd name="connsiteX4-405" fmla="*/ 9999 w 10004"/>
                  <a:gd name="connsiteY4-406" fmla="*/ 7078 h 9519"/>
                  <a:gd name="connsiteX5-407" fmla="*/ 8646 w 10004"/>
                  <a:gd name="connsiteY5-408" fmla="*/ 9509 h 9519"/>
                  <a:gd name="connsiteX6-409" fmla="*/ 3953 w 10004"/>
                  <a:gd name="connsiteY6-410" fmla="*/ 8033 h 9519"/>
                  <a:gd name="connsiteX7-411" fmla="*/ 47 w 10004"/>
                  <a:gd name="connsiteY7-412" fmla="*/ 5106 h 9519"/>
                  <a:gd name="connsiteX0-413" fmla="*/ 43 w 9996"/>
                  <a:gd name="connsiteY0-414" fmla="*/ 6232 h 10868"/>
                  <a:gd name="connsiteX1-415" fmla="*/ 2097 w 9996"/>
                  <a:gd name="connsiteY1-416" fmla="*/ 886 h 10868"/>
                  <a:gd name="connsiteX2-417" fmla="*/ 5642 w 9996"/>
                  <a:gd name="connsiteY2-418" fmla="*/ 385 h 10868"/>
                  <a:gd name="connsiteX3-419" fmla="*/ 8275 w 9996"/>
                  <a:gd name="connsiteY3-420" fmla="*/ 4799 h 10868"/>
                  <a:gd name="connsiteX4-421" fmla="*/ 9991 w 9996"/>
                  <a:gd name="connsiteY4-422" fmla="*/ 8304 h 10868"/>
                  <a:gd name="connsiteX5-423" fmla="*/ 8639 w 9996"/>
                  <a:gd name="connsiteY5-424" fmla="*/ 10857 h 10868"/>
                  <a:gd name="connsiteX6-425" fmla="*/ 3947 w 9996"/>
                  <a:gd name="connsiteY6-426" fmla="*/ 9307 h 10868"/>
                  <a:gd name="connsiteX7-427" fmla="*/ 43 w 9996"/>
                  <a:gd name="connsiteY7-428" fmla="*/ 6232 h 10868"/>
                  <a:gd name="connsiteX0-429" fmla="*/ 43 w 10004"/>
                  <a:gd name="connsiteY0-430" fmla="*/ 5543 h 9809"/>
                  <a:gd name="connsiteX1-431" fmla="*/ 2098 w 10004"/>
                  <a:gd name="connsiteY1-432" fmla="*/ 624 h 9809"/>
                  <a:gd name="connsiteX2-433" fmla="*/ 5644 w 10004"/>
                  <a:gd name="connsiteY2-434" fmla="*/ 163 h 9809"/>
                  <a:gd name="connsiteX3-435" fmla="*/ 8163 w 10004"/>
                  <a:gd name="connsiteY3-436" fmla="*/ 1492 h 9809"/>
                  <a:gd name="connsiteX4-437" fmla="*/ 9995 w 10004"/>
                  <a:gd name="connsiteY4-438" fmla="*/ 7450 h 9809"/>
                  <a:gd name="connsiteX5-439" fmla="*/ 8642 w 10004"/>
                  <a:gd name="connsiteY5-440" fmla="*/ 9799 h 9809"/>
                  <a:gd name="connsiteX6-441" fmla="*/ 3949 w 10004"/>
                  <a:gd name="connsiteY6-442" fmla="*/ 8373 h 9809"/>
                  <a:gd name="connsiteX7-443" fmla="*/ 43 w 10004"/>
                  <a:gd name="connsiteY7-444" fmla="*/ 5543 h 9809"/>
                  <a:gd name="connsiteX0-445" fmla="*/ 43 w 8950"/>
                  <a:gd name="connsiteY0-446" fmla="*/ 5651 h 10081"/>
                  <a:gd name="connsiteX1-447" fmla="*/ 2097 w 8950"/>
                  <a:gd name="connsiteY1-448" fmla="*/ 636 h 10081"/>
                  <a:gd name="connsiteX2-449" fmla="*/ 5642 w 8950"/>
                  <a:gd name="connsiteY2-450" fmla="*/ 166 h 10081"/>
                  <a:gd name="connsiteX3-451" fmla="*/ 8160 w 8950"/>
                  <a:gd name="connsiteY3-452" fmla="*/ 1521 h 10081"/>
                  <a:gd name="connsiteX4-453" fmla="*/ 8473 w 8950"/>
                  <a:gd name="connsiteY4-454" fmla="*/ 5322 h 10081"/>
                  <a:gd name="connsiteX5-455" fmla="*/ 8639 w 8950"/>
                  <a:gd name="connsiteY5-456" fmla="*/ 9990 h 10081"/>
                  <a:gd name="connsiteX6-457" fmla="*/ 3947 w 8950"/>
                  <a:gd name="connsiteY6-458" fmla="*/ 8536 h 10081"/>
                  <a:gd name="connsiteX7-459" fmla="*/ 43 w 8950"/>
                  <a:gd name="connsiteY7-460" fmla="*/ 5651 h 10081"/>
                  <a:gd name="connsiteX0-461" fmla="*/ 48 w 9651"/>
                  <a:gd name="connsiteY0-462" fmla="*/ 5606 h 8648"/>
                  <a:gd name="connsiteX1-463" fmla="*/ 2343 w 9651"/>
                  <a:gd name="connsiteY1-464" fmla="*/ 631 h 8648"/>
                  <a:gd name="connsiteX2-465" fmla="*/ 6304 w 9651"/>
                  <a:gd name="connsiteY2-466" fmla="*/ 165 h 8648"/>
                  <a:gd name="connsiteX3-467" fmla="*/ 9117 w 9651"/>
                  <a:gd name="connsiteY3-468" fmla="*/ 1509 h 8648"/>
                  <a:gd name="connsiteX4-469" fmla="*/ 9467 w 9651"/>
                  <a:gd name="connsiteY4-470" fmla="*/ 5279 h 8648"/>
                  <a:gd name="connsiteX5-471" fmla="*/ 6997 w 9651"/>
                  <a:gd name="connsiteY5-472" fmla="*/ 8019 h 8648"/>
                  <a:gd name="connsiteX6-473" fmla="*/ 4410 w 9651"/>
                  <a:gd name="connsiteY6-474" fmla="*/ 8467 h 8648"/>
                  <a:gd name="connsiteX7-475" fmla="*/ 48 w 9651"/>
                  <a:gd name="connsiteY7-476" fmla="*/ 5606 h 8648"/>
                  <a:gd name="connsiteX0-477" fmla="*/ 41 w 9991"/>
                  <a:gd name="connsiteY0-478" fmla="*/ 6482 h 9316"/>
                  <a:gd name="connsiteX1-479" fmla="*/ 2419 w 9991"/>
                  <a:gd name="connsiteY1-480" fmla="*/ 730 h 9316"/>
                  <a:gd name="connsiteX2-481" fmla="*/ 6523 w 9991"/>
                  <a:gd name="connsiteY2-482" fmla="*/ 191 h 9316"/>
                  <a:gd name="connsiteX3-483" fmla="*/ 9438 w 9991"/>
                  <a:gd name="connsiteY3-484" fmla="*/ 1745 h 9316"/>
                  <a:gd name="connsiteX4-485" fmla="*/ 9800 w 9991"/>
                  <a:gd name="connsiteY4-486" fmla="*/ 6104 h 9316"/>
                  <a:gd name="connsiteX5-487" fmla="*/ 7241 w 9991"/>
                  <a:gd name="connsiteY5-488" fmla="*/ 9273 h 9316"/>
                  <a:gd name="connsiteX6-489" fmla="*/ 1411 w 9991"/>
                  <a:gd name="connsiteY6-490" fmla="*/ 7856 h 9316"/>
                  <a:gd name="connsiteX7-491" fmla="*/ 41 w 9991"/>
                  <a:gd name="connsiteY7-492" fmla="*/ 6482 h 9316"/>
                  <a:gd name="connsiteX0-493" fmla="*/ 19 w 10708"/>
                  <a:gd name="connsiteY0-494" fmla="*/ 7721 h 10038"/>
                  <a:gd name="connsiteX1-495" fmla="*/ 3129 w 10708"/>
                  <a:gd name="connsiteY1-496" fmla="*/ 825 h 10038"/>
                  <a:gd name="connsiteX2-497" fmla="*/ 7237 w 10708"/>
                  <a:gd name="connsiteY2-498" fmla="*/ 246 h 10038"/>
                  <a:gd name="connsiteX3-499" fmla="*/ 10155 w 10708"/>
                  <a:gd name="connsiteY3-500" fmla="*/ 1914 h 10038"/>
                  <a:gd name="connsiteX4-501" fmla="*/ 10517 w 10708"/>
                  <a:gd name="connsiteY4-502" fmla="*/ 6593 h 10038"/>
                  <a:gd name="connsiteX5-503" fmla="*/ 7956 w 10708"/>
                  <a:gd name="connsiteY5-504" fmla="*/ 9995 h 10038"/>
                  <a:gd name="connsiteX6-505" fmla="*/ 2120 w 10708"/>
                  <a:gd name="connsiteY6-506" fmla="*/ 8474 h 10038"/>
                  <a:gd name="connsiteX7-507" fmla="*/ 19 w 10708"/>
                  <a:gd name="connsiteY7-508" fmla="*/ 7721 h 10038"/>
                  <a:gd name="connsiteX0-509" fmla="*/ 359 w 11048"/>
                  <a:gd name="connsiteY0-510" fmla="*/ 7721 h 10038"/>
                  <a:gd name="connsiteX1-511" fmla="*/ 3469 w 11048"/>
                  <a:gd name="connsiteY1-512" fmla="*/ 825 h 10038"/>
                  <a:gd name="connsiteX2-513" fmla="*/ 7577 w 11048"/>
                  <a:gd name="connsiteY2-514" fmla="*/ 246 h 10038"/>
                  <a:gd name="connsiteX3-515" fmla="*/ 10495 w 11048"/>
                  <a:gd name="connsiteY3-516" fmla="*/ 1914 h 10038"/>
                  <a:gd name="connsiteX4-517" fmla="*/ 10857 w 11048"/>
                  <a:gd name="connsiteY4-518" fmla="*/ 6593 h 10038"/>
                  <a:gd name="connsiteX5-519" fmla="*/ 8296 w 11048"/>
                  <a:gd name="connsiteY5-520" fmla="*/ 9995 h 10038"/>
                  <a:gd name="connsiteX6-521" fmla="*/ 2460 w 11048"/>
                  <a:gd name="connsiteY6-522" fmla="*/ 8474 h 10038"/>
                  <a:gd name="connsiteX7-523" fmla="*/ 359 w 11048"/>
                  <a:gd name="connsiteY7-524" fmla="*/ 7721 h 10038"/>
                  <a:gd name="connsiteX0-525" fmla="*/ 359 w 11048"/>
                  <a:gd name="connsiteY0-526" fmla="*/ 8392 h 10075"/>
                  <a:gd name="connsiteX1-527" fmla="*/ 3469 w 11048"/>
                  <a:gd name="connsiteY1-528" fmla="*/ 864 h 10075"/>
                  <a:gd name="connsiteX2-529" fmla="*/ 7577 w 11048"/>
                  <a:gd name="connsiteY2-530" fmla="*/ 285 h 10075"/>
                  <a:gd name="connsiteX3-531" fmla="*/ 10495 w 11048"/>
                  <a:gd name="connsiteY3-532" fmla="*/ 1953 h 10075"/>
                  <a:gd name="connsiteX4-533" fmla="*/ 10857 w 11048"/>
                  <a:gd name="connsiteY4-534" fmla="*/ 6632 h 10075"/>
                  <a:gd name="connsiteX5-535" fmla="*/ 8296 w 11048"/>
                  <a:gd name="connsiteY5-536" fmla="*/ 10034 h 10075"/>
                  <a:gd name="connsiteX6-537" fmla="*/ 2460 w 11048"/>
                  <a:gd name="connsiteY6-538" fmla="*/ 8513 h 10075"/>
                  <a:gd name="connsiteX7-539" fmla="*/ 359 w 11048"/>
                  <a:gd name="connsiteY7-540" fmla="*/ 8392 h 10075"/>
                  <a:gd name="connsiteX0-541" fmla="*/ 371 w 11060"/>
                  <a:gd name="connsiteY0-542" fmla="*/ 8392 h 10075"/>
                  <a:gd name="connsiteX1-543" fmla="*/ 3481 w 11060"/>
                  <a:gd name="connsiteY1-544" fmla="*/ 864 h 10075"/>
                  <a:gd name="connsiteX2-545" fmla="*/ 7589 w 11060"/>
                  <a:gd name="connsiteY2-546" fmla="*/ 285 h 10075"/>
                  <a:gd name="connsiteX3-547" fmla="*/ 10507 w 11060"/>
                  <a:gd name="connsiteY3-548" fmla="*/ 1953 h 10075"/>
                  <a:gd name="connsiteX4-549" fmla="*/ 10869 w 11060"/>
                  <a:gd name="connsiteY4-550" fmla="*/ 6632 h 10075"/>
                  <a:gd name="connsiteX5-551" fmla="*/ 8308 w 11060"/>
                  <a:gd name="connsiteY5-552" fmla="*/ 10034 h 10075"/>
                  <a:gd name="connsiteX6-553" fmla="*/ 2472 w 11060"/>
                  <a:gd name="connsiteY6-554" fmla="*/ 8513 h 10075"/>
                  <a:gd name="connsiteX7-555" fmla="*/ 371 w 11060"/>
                  <a:gd name="connsiteY7-556" fmla="*/ 8392 h 10075"/>
                  <a:gd name="connsiteX0-557" fmla="*/ 54 w 10743"/>
                  <a:gd name="connsiteY0-558" fmla="*/ 9468 h 11151"/>
                  <a:gd name="connsiteX1-559" fmla="*/ 4027 w 10743"/>
                  <a:gd name="connsiteY1-560" fmla="*/ 495 h 11151"/>
                  <a:gd name="connsiteX2-561" fmla="*/ 7272 w 10743"/>
                  <a:gd name="connsiteY2-562" fmla="*/ 1361 h 11151"/>
                  <a:gd name="connsiteX3-563" fmla="*/ 10190 w 10743"/>
                  <a:gd name="connsiteY3-564" fmla="*/ 3029 h 11151"/>
                  <a:gd name="connsiteX4-565" fmla="*/ 10552 w 10743"/>
                  <a:gd name="connsiteY4-566" fmla="*/ 7708 h 11151"/>
                  <a:gd name="connsiteX5-567" fmla="*/ 7991 w 10743"/>
                  <a:gd name="connsiteY5-568" fmla="*/ 11110 h 11151"/>
                  <a:gd name="connsiteX6-569" fmla="*/ 2155 w 10743"/>
                  <a:gd name="connsiteY6-570" fmla="*/ 9589 h 11151"/>
                  <a:gd name="connsiteX7-571" fmla="*/ 54 w 10743"/>
                  <a:gd name="connsiteY7-572" fmla="*/ 9468 h 11151"/>
                  <a:gd name="connsiteX0-573" fmla="*/ 54 w 10743"/>
                  <a:gd name="connsiteY0-574" fmla="*/ 9506 h 11189"/>
                  <a:gd name="connsiteX1-575" fmla="*/ 4027 w 10743"/>
                  <a:gd name="connsiteY1-576" fmla="*/ 533 h 11189"/>
                  <a:gd name="connsiteX2-577" fmla="*/ 7272 w 10743"/>
                  <a:gd name="connsiteY2-578" fmla="*/ 1399 h 11189"/>
                  <a:gd name="connsiteX3-579" fmla="*/ 10190 w 10743"/>
                  <a:gd name="connsiteY3-580" fmla="*/ 3067 h 11189"/>
                  <a:gd name="connsiteX4-581" fmla="*/ 10552 w 10743"/>
                  <a:gd name="connsiteY4-582" fmla="*/ 7746 h 11189"/>
                  <a:gd name="connsiteX5-583" fmla="*/ 7991 w 10743"/>
                  <a:gd name="connsiteY5-584" fmla="*/ 11148 h 11189"/>
                  <a:gd name="connsiteX6-585" fmla="*/ 2155 w 10743"/>
                  <a:gd name="connsiteY6-586" fmla="*/ 9627 h 11189"/>
                  <a:gd name="connsiteX7-587" fmla="*/ 54 w 10743"/>
                  <a:gd name="connsiteY7-588" fmla="*/ 9506 h 11189"/>
                  <a:gd name="connsiteX0-589" fmla="*/ 40 w 11293"/>
                  <a:gd name="connsiteY0-590" fmla="*/ 9082 h 11127"/>
                  <a:gd name="connsiteX1-591" fmla="*/ 4577 w 11293"/>
                  <a:gd name="connsiteY1-592" fmla="*/ 470 h 11127"/>
                  <a:gd name="connsiteX2-593" fmla="*/ 7822 w 11293"/>
                  <a:gd name="connsiteY2-594" fmla="*/ 1336 h 11127"/>
                  <a:gd name="connsiteX3-595" fmla="*/ 10740 w 11293"/>
                  <a:gd name="connsiteY3-596" fmla="*/ 3004 h 11127"/>
                  <a:gd name="connsiteX4-597" fmla="*/ 11102 w 11293"/>
                  <a:gd name="connsiteY4-598" fmla="*/ 7683 h 11127"/>
                  <a:gd name="connsiteX5-599" fmla="*/ 8541 w 11293"/>
                  <a:gd name="connsiteY5-600" fmla="*/ 11085 h 11127"/>
                  <a:gd name="connsiteX6-601" fmla="*/ 2705 w 11293"/>
                  <a:gd name="connsiteY6-602" fmla="*/ 9564 h 11127"/>
                  <a:gd name="connsiteX7-603" fmla="*/ 40 w 11293"/>
                  <a:gd name="connsiteY7-604" fmla="*/ 9082 h 1112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p:spPr>
            <p:txBody>
              <a:bodyPr wrap="none" anchor="ctr"/>
              <a:lstStyle/>
              <a:p>
                <a:endParaRPr lang="en-US"/>
              </a:p>
            </p:txBody>
          </p:sp>
          <p:grpSp>
            <p:nvGrpSpPr>
              <p:cNvPr id="370" name="Group 327"/>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76581" y="5223365"/>
                <a:ext cx="466894" cy="369332"/>
                <a:chOff x="599495" y="1708643"/>
                <a:chExt cx="491778" cy="409344"/>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99495" y="1708643"/>
                  <a:ext cx="491778" cy="409344"/>
                </a:xfrm>
                <a:prstGeom prst="rect">
                  <a:avLst/>
                </a:prstGeom>
                <a:noFill/>
              </p:spPr>
              <p:txBody>
                <a:bodyPr wrap="none" rtlCol="0">
                  <a:spAutoFit/>
                </a:bodyPr>
                <a:lstStyle/>
                <a:p>
                  <a:pPr algn="ctr"/>
                  <a:r>
                    <a:rPr lang="en-US" dirty="0"/>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rgbClr val="000090"/>
              </a:solidFill>
              <a:prstDash val="dash"/>
              <a:round/>
              <a:headEnd type="none" w="med" len="med"/>
              <a:tailEnd type="none" w="med" len="med"/>
            </a:ln>
            <a:effectLst/>
          </p:spPr>
        </p:cxnSp>
      </p:grpSp>
      <p:grpSp>
        <p:nvGrpSpPr>
          <p:cNvPr id="7" name="Group 6"/>
          <p:cNvGrpSpPr/>
          <p:nvPr/>
        </p:nvGrpSpPr>
        <p:grpSpPr>
          <a:xfrm>
            <a:off x="5713444" y="2379268"/>
            <a:ext cx="1009362" cy="768350"/>
            <a:chOff x="5713444" y="2379268"/>
            <a:chExt cx="1009362" cy="768350"/>
          </a:xfrm>
        </p:grpSpPr>
        <p:sp>
          <p:nvSpPr>
            <p:cNvPr id="162850" name="AutoShape 118"/>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p:spPr>
          <p:txBody>
            <a:bodyPr wrap="none" anchor="ctr"/>
            <a:lstStyle/>
            <a:p>
              <a:endParaRPr lang="en-US"/>
            </a:p>
          </p:txBody>
        </p:sp>
        <p:sp>
          <p:nvSpPr>
            <p:cNvPr id="162851" name="Text Box 119"/>
            <p:cNvSpPr txBox="1">
              <a:spLocks noChangeArrowheads="1"/>
            </p:cNvSpPr>
            <p:nvPr/>
          </p:nvSpPr>
          <p:spPr bwMode="auto">
            <a:xfrm>
              <a:off x="5906829" y="2784958"/>
              <a:ext cx="815977" cy="3079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nSpc>
                  <a:spcPct val="85000"/>
                </a:lnSpc>
              </a:pPr>
              <a:r>
                <a:rPr lang="en-US" sz="1600" i="1" dirty="0">
                  <a:solidFill>
                    <a:srgbClr val="CC0000"/>
                  </a:solidFill>
                </a:rPr>
                <a:t>AS3,X </a:t>
              </a:r>
            </a:p>
          </p:txBody>
        </p:sp>
      </p:grpSp>
      <p:grpSp>
        <p:nvGrpSpPr>
          <p:cNvPr id="6" name="Group 5"/>
          <p:cNvGrpSpPr/>
          <p:nvPr/>
        </p:nvGrpSpPr>
        <p:grpSpPr>
          <a:xfrm>
            <a:off x="2028828" y="2438604"/>
            <a:ext cx="1260153" cy="888605"/>
            <a:chOff x="2028828" y="2438604"/>
            <a:chExt cx="1260153" cy="888605"/>
          </a:xfrm>
        </p:grpSpPr>
        <p:sp>
          <p:nvSpPr>
            <p:cNvPr id="332" name="Text Box 119"/>
            <p:cNvSpPr txBox="1">
              <a:spLocks noChangeArrowheads="1"/>
            </p:cNvSpPr>
            <p:nvPr/>
          </p:nvSpPr>
          <p:spPr bwMode="auto">
            <a:xfrm>
              <a:off x="2028828" y="3019432"/>
              <a:ext cx="1260153" cy="30777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nSpc>
                  <a:spcPct val="85000"/>
                </a:lnSpc>
              </a:pPr>
              <a:r>
                <a:rPr lang="en-US" sz="1600" i="1" dirty="0">
                  <a:solidFill>
                    <a:srgbClr val="CC0000"/>
                  </a:solidFill>
                </a:rPr>
                <a:t>AS2,AS3,X </a:t>
              </a:r>
            </a:p>
          </p:txBody>
        </p:sp>
        <p:sp>
          <p:nvSpPr>
            <p:cNvPr id="327" name="AutoShape 118"/>
            <p:cNvSpPr>
              <a:spLocks noChangeArrowheads="1"/>
            </p:cNvSpPr>
            <p:nvPr/>
          </p:nvSpPr>
          <p:spPr bwMode="auto">
            <a:xfrm rot="3445218">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p:spPr>
          <p:txBody>
            <a:bodyPr wrap="none" anchor="ctr"/>
            <a:lstStyle/>
            <a:p>
              <a:endParaRPr lang="en-US"/>
            </a:p>
          </p:txBody>
        </p:sp>
      </p:grpSp>
      <p:sp>
        <p:nvSpPr>
          <p:cNvPr id="326" name="Rectangle 4"/>
          <p:cNvSpPr txBox="1">
            <a:spLocks noChangeArrowheads="1"/>
          </p:cNvSpPr>
          <p:nvPr/>
        </p:nvSpPr>
        <p:spPr bwMode="auto">
          <a:xfrm>
            <a:off x="415500" y="4289671"/>
            <a:ext cx="8505825" cy="575406"/>
          </a:xfrm>
          <a:prstGeom prst="rect">
            <a:avLst/>
          </a:prstGeom>
          <a:noFill/>
          <a:ln>
            <a:noFill/>
          </a:ln>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pPr marL="0" indent="0">
              <a:lnSpc>
                <a:spcPts val="2140"/>
              </a:lnSpc>
              <a:buNone/>
            </a:pPr>
            <a:r>
              <a:rPr lang="en-US" sz="2400" dirty="0">
                <a:latin typeface="Gill Sans MT" pitchFamily="34" charset="0"/>
              </a:rPr>
              <a:t>gateway router may learn about </a:t>
            </a:r>
            <a:r>
              <a:rPr lang="en-US" sz="2400" dirty="0">
                <a:solidFill>
                  <a:srgbClr val="000090"/>
                </a:solidFill>
                <a:latin typeface="Gill Sans MT" pitchFamily="34" charset="0"/>
              </a:rPr>
              <a:t>multiple</a:t>
            </a:r>
            <a:r>
              <a:rPr lang="en-US" sz="2400" dirty="0">
                <a:latin typeface="Gill Sans MT" pitchFamily="34" charset="0"/>
              </a:rPr>
              <a:t> paths to destination:</a:t>
            </a:r>
          </a:p>
        </p:txBody>
      </p:sp>
      <p:grpSp>
        <p:nvGrpSpPr>
          <p:cNvPr id="5" name="Group 4"/>
          <p:cNvGrpSpPr/>
          <p:nvPr/>
        </p:nvGrpSpPr>
        <p:grpSpPr>
          <a:xfrm>
            <a:off x="1394769" y="1902431"/>
            <a:ext cx="1118837" cy="826267"/>
            <a:chOff x="4052000" y="2820739"/>
            <a:chExt cx="1118837" cy="826267"/>
          </a:xfrm>
        </p:grpSpPr>
        <p:cxnSp>
          <p:nvCxnSpPr>
            <p:cNvPr id="3" name="Straight Arrow Connector 2"/>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p:spPr>
        </p:cxnSp>
        <p:cxnSp>
          <p:nvCxnSpPr>
            <p:cNvPr id="330" name="Straight Arrow Connector 329"/>
            <p:cNvCxnSpPr/>
            <p:nvPr/>
          </p:nvCxnSpPr>
          <p:spPr bwMode="auto">
            <a:xfrm flipH="1" flipV="1">
              <a:off x="4052000" y="3192229"/>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p:spPr>
        </p:cxnSp>
        <p:cxnSp>
          <p:nvCxnSpPr>
            <p:cNvPr id="331" name="Straight Arrow Connector 330"/>
            <p:cNvCxnSpPr/>
            <p:nvPr/>
          </p:nvCxnSpPr>
          <p:spPr bwMode="auto">
            <a:xfrm flipH="1">
              <a:off x="4748700" y="3344630"/>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p:spPr>
        </p:cxnSp>
      </p:grpSp>
      <p:cxnSp>
        <p:nvCxnSpPr>
          <p:cNvPr id="325" name="Straight Connector 324"/>
          <p:cNvCxnSpPr/>
          <p:nvPr/>
        </p:nvCxnSpPr>
        <p:spPr bwMode="auto">
          <a:xfrm flipH="1">
            <a:off x="3142123" y="2168219"/>
            <a:ext cx="2534703" cy="145211"/>
          </a:xfrm>
          <a:prstGeom prst="line">
            <a:avLst/>
          </a:prstGeom>
          <a:solidFill>
            <a:schemeClr val="accent1"/>
          </a:solidFill>
          <a:ln w="38100" cap="flat" cmpd="sng" algn="ctr">
            <a:solidFill>
              <a:srgbClr val="CC0000"/>
            </a:solidFill>
            <a:prstDash val="dash"/>
            <a:round/>
            <a:headEnd type="none" w="med" len="med"/>
            <a:tailEnd type="none" w="med" len="med"/>
          </a:ln>
          <a:effectLst/>
        </p:spPr>
      </p:cxnSp>
      <p:grpSp>
        <p:nvGrpSpPr>
          <p:cNvPr id="4" name="Group 3"/>
          <p:cNvGrpSpPr/>
          <p:nvPr/>
        </p:nvGrpSpPr>
        <p:grpSpPr>
          <a:xfrm>
            <a:off x="4617960" y="1621326"/>
            <a:ext cx="968155" cy="547957"/>
            <a:chOff x="4617960" y="1621326"/>
            <a:chExt cx="968155" cy="547957"/>
          </a:xfrm>
        </p:grpSpPr>
        <p:sp>
          <p:nvSpPr>
            <p:cNvPr id="329" name="AutoShape 118"/>
            <p:cNvSpPr>
              <a:spLocks noChangeArrowheads="1"/>
            </p:cNvSpPr>
            <p:nvPr/>
          </p:nvSpPr>
          <p:spPr bwMode="auto">
            <a:xfrm rot="21413181">
              <a:off x="4617960" y="1893058"/>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p:spPr>
          <p:txBody>
            <a:bodyPr wrap="none" anchor="ctr"/>
            <a:lstStyle/>
            <a:p>
              <a:endParaRPr lang="en-US"/>
            </a:p>
          </p:txBody>
        </p:sp>
        <p:sp>
          <p:nvSpPr>
            <p:cNvPr id="2" name="TextBox 1"/>
            <p:cNvSpPr txBox="1"/>
            <p:nvPr/>
          </p:nvSpPr>
          <p:spPr>
            <a:xfrm rot="21418560">
              <a:off x="4770795" y="1621326"/>
              <a:ext cx="815320" cy="338554"/>
            </a:xfrm>
            <a:prstGeom prst="rect">
              <a:avLst/>
            </a:prstGeom>
            <a:noFill/>
          </p:spPr>
          <p:txBody>
            <a:bodyPr wrap="none" rtlCol="0">
              <a:spAutoFit/>
            </a:bodyPr>
            <a:lstStyle/>
            <a:p>
              <a:r>
                <a:rPr lang="en-US" sz="1600" i="1" dirty="0">
                  <a:solidFill>
                    <a:srgbClr val="CC0000"/>
                  </a:solidFill>
                </a:rPr>
                <a:t>AS3,X</a:t>
              </a:r>
            </a:p>
          </p:txBody>
        </p:sp>
      </p:grpSp>
      <p:sp>
        <p:nvSpPr>
          <p:cNvPr id="333" name="Rectangle 4"/>
          <p:cNvSpPr txBox="1">
            <a:spLocks noChangeArrowheads="1"/>
          </p:cNvSpPr>
          <p:nvPr/>
        </p:nvSpPr>
        <p:spPr bwMode="auto">
          <a:xfrm>
            <a:off x="673347" y="5110285"/>
            <a:ext cx="8505825" cy="551956"/>
          </a:xfrm>
          <a:prstGeom prst="rect">
            <a:avLst/>
          </a:prstGeom>
          <a:noFill/>
          <a:ln>
            <a:noFill/>
          </a:ln>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pPr marL="294005" indent="-294005">
              <a:lnSpc>
                <a:spcPts val="2140"/>
              </a:lnSpc>
            </a:pPr>
            <a:r>
              <a:rPr lang="en-US" sz="2200" dirty="0">
                <a:latin typeface="Gill Sans MT" pitchFamily="34" charset="0"/>
              </a:rPr>
              <a:t>AS</a:t>
            </a:r>
            <a:r>
              <a:rPr lang="en-US" sz="2200" dirty="0">
                <a:latin typeface="Arial" panose="020B0604020202090204"/>
                <a:cs typeface="Arial" panose="020B0604020202090204"/>
              </a:rPr>
              <a:t>1</a:t>
            </a:r>
            <a:r>
              <a:rPr lang="en-US" sz="2200" dirty="0">
                <a:latin typeface="Gill Sans MT" pitchFamily="34" charset="0"/>
              </a:rPr>
              <a:t> gateway router</a:t>
            </a:r>
            <a:r>
              <a:rPr lang="en-US" sz="2200" dirty="0">
                <a:latin typeface="Arial" panose="020B0604020202090204"/>
                <a:cs typeface="Arial" panose="020B0604020202090204"/>
              </a:rPr>
              <a:t> 1c </a:t>
            </a:r>
            <a:r>
              <a:rPr lang="en-US" sz="2200" dirty="0">
                <a:latin typeface="Gill Sans MT" pitchFamily="34" charset="0"/>
              </a:rPr>
              <a:t>learns path </a:t>
            </a:r>
            <a:r>
              <a:rPr lang="en-US" sz="2200" i="1" dirty="0">
                <a:solidFill>
                  <a:srgbClr val="CC0000"/>
                </a:solidFill>
                <a:latin typeface="Gill Sans MT" pitchFamily="34" charset="0"/>
              </a:rPr>
              <a:t>AS3,X </a:t>
            </a:r>
            <a:r>
              <a:rPr lang="en-US" sz="2200" dirty="0">
                <a:latin typeface="Gill Sans MT" pitchFamily="34" charset="0"/>
              </a:rPr>
              <a:t>from 3a</a:t>
            </a:r>
            <a:endParaRPr lang="en-US" sz="2000" dirty="0">
              <a:latin typeface="Gill Sans MT" pitchFamily="34" charset="0"/>
            </a:endParaRPr>
          </a:p>
          <a:p>
            <a:endParaRPr lang="en-US" sz="2000" dirty="0">
              <a:latin typeface="Gill Sans MT" pitchFamily="34" charset="0"/>
            </a:endParaRPr>
          </a:p>
        </p:txBody>
      </p:sp>
      <p:sp>
        <p:nvSpPr>
          <p:cNvPr id="334" name="Rectangle 4"/>
          <p:cNvSpPr txBox="1">
            <a:spLocks noChangeArrowheads="1"/>
          </p:cNvSpPr>
          <p:nvPr/>
        </p:nvSpPr>
        <p:spPr bwMode="auto">
          <a:xfrm>
            <a:off x="688981" y="5477602"/>
            <a:ext cx="8103327" cy="1028705"/>
          </a:xfrm>
          <a:prstGeom prst="rect">
            <a:avLst/>
          </a:prstGeom>
          <a:noFill/>
          <a:ln>
            <a:noFill/>
          </a:ln>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pPr marL="294005" indent="-294005">
              <a:lnSpc>
                <a:spcPct val="100000"/>
              </a:lnSpc>
            </a:pPr>
            <a:r>
              <a:rPr lang="en-US" sz="2200" dirty="0">
                <a:latin typeface="Gill Sans MT" pitchFamily="34" charset="0"/>
              </a:rPr>
              <a:t>Based on policy, AS</a:t>
            </a:r>
            <a:r>
              <a:rPr lang="en-US" sz="2200" dirty="0">
                <a:latin typeface="Arial" panose="020B0604020202090204"/>
                <a:cs typeface="Arial" panose="020B0604020202090204"/>
              </a:rPr>
              <a:t>1</a:t>
            </a:r>
            <a:r>
              <a:rPr lang="en-US" sz="2200" dirty="0">
                <a:latin typeface="Gill Sans MT" pitchFamily="34" charset="0"/>
              </a:rPr>
              <a:t> gateway router</a:t>
            </a:r>
            <a:r>
              <a:rPr lang="en-US" sz="2200" dirty="0">
                <a:latin typeface="Arial" panose="020B0604020202090204"/>
                <a:cs typeface="Arial" panose="020B0604020202090204"/>
              </a:rPr>
              <a:t> 1c </a:t>
            </a:r>
            <a:r>
              <a:rPr lang="en-US" sz="2200" dirty="0">
                <a:latin typeface="Gill Sans MT" pitchFamily="34" charset="0"/>
              </a:rPr>
              <a:t>chooses path </a:t>
            </a:r>
            <a:r>
              <a:rPr lang="en-US" sz="2200" i="1" dirty="0">
                <a:solidFill>
                  <a:srgbClr val="CC0000"/>
                </a:solidFill>
                <a:latin typeface="Gill Sans MT" pitchFamily="34" charset="0"/>
              </a:rPr>
              <a:t>AS3,X, and advertises path within AS</a:t>
            </a:r>
            <a:r>
              <a:rPr lang="en-US" sz="2200" i="1" dirty="0">
                <a:solidFill>
                  <a:srgbClr val="CC0000"/>
                </a:solidFill>
                <a:latin typeface="Arial" panose="020B0604020202090204"/>
                <a:cs typeface="Arial" panose="020B0604020202090204"/>
              </a:rPr>
              <a:t>1</a:t>
            </a:r>
            <a:r>
              <a:rPr lang="en-US" sz="2200" i="1" dirty="0">
                <a:solidFill>
                  <a:srgbClr val="CC0000"/>
                </a:solidFill>
                <a:latin typeface="Gill Sans MT" pitchFamily="34" charset="0"/>
              </a:rPr>
              <a:t> via iBGP</a:t>
            </a:r>
            <a:endParaRPr lang="en-US" sz="2000" dirty="0">
              <a:latin typeface="Gill Sans MT" pitchFamily="34" charset="0"/>
            </a:endParaRPr>
          </a:p>
          <a:p>
            <a:pPr>
              <a:lnSpc>
                <a:spcPct val="100000"/>
              </a:lnSpc>
            </a:pPr>
            <a:endParaRPr lang="en-US" sz="2000" dirty="0">
              <a:latin typeface="Gill Sans MT" pitchFamily="34" charset="0"/>
            </a:endParaRPr>
          </a:p>
        </p:txBody>
      </p:sp>
      <p:sp>
        <p:nvSpPr>
          <p:cNvPr id="328"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77</a:t>
            </a:fld>
            <a:endParaRPr lang="en-US" sz="1200" dirty="0">
              <a:latin typeface="Tahoma" panose="020B0604030504040204" charset="0"/>
            </a:endParaRPr>
          </a:p>
        </p:txBody>
      </p:sp>
      <p:sp>
        <p:nvSpPr>
          <p:cNvPr id="335"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down)">
                                      <p:cBhvr>
                                        <p:cTn id="11" dur="500"/>
                                        <p:tgtEl>
                                          <p:spTgt spid="6"/>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753668">
                                            <p:txEl>
                                              <p:pRg st="0" end="0"/>
                                            </p:txEl>
                                          </p:spTgt>
                                        </p:tgtEl>
                                        <p:attrNameLst>
                                          <p:attrName>style.visibility</p:attrName>
                                        </p:attrNameLst>
                                      </p:cBhvr>
                                      <p:to>
                                        <p:strVal val="visible"/>
                                      </p:to>
                                    </p:set>
                                    <p:animEffect transition="in" filter="dissolve">
                                      <p:cBhvr>
                                        <p:cTn id="15" dur="500"/>
                                        <p:tgtEl>
                                          <p:spTgt spid="753668">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2"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par>
                          <p:cTn id="21" fill="hold">
                            <p:stCondLst>
                              <p:cond delay="500"/>
                            </p:stCondLst>
                            <p:childTnLst>
                              <p:par>
                                <p:cTn id="22" presetID="9" presetClass="entr" presetSubtype="0" fill="hold" grpId="0" nodeType="afterEffect">
                                  <p:stCondLst>
                                    <p:cond delay="0"/>
                                  </p:stCondLst>
                                  <p:childTnLst>
                                    <p:set>
                                      <p:cBhvr>
                                        <p:cTn id="23" dur="1" fill="hold">
                                          <p:stCondLst>
                                            <p:cond delay="0"/>
                                          </p:stCondLst>
                                        </p:cTn>
                                        <p:tgtEl>
                                          <p:spTgt spid="333"/>
                                        </p:tgtEl>
                                        <p:attrNameLst>
                                          <p:attrName>style.visibility</p:attrName>
                                        </p:attrNameLst>
                                      </p:cBhvr>
                                      <p:to>
                                        <p:strVal val="visible"/>
                                      </p:to>
                                    </p:set>
                                    <p:animEffect transition="in" filter="dissolve">
                                      <p:cBhvr>
                                        <p:cTn id="24" dur="500"/>
                                        <p:tgtEl>
                                          <p:spTgt spid="333"/>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334"/>
                                        </p:tgtEl>
                                        <p:attrNameLst>
                                          <p:attrName>style.visibility</p:attrName>
                                        </p:attrNameLst>
                                      </p:cBhvr>
                                      <p:to>
                                        <p:strVal val="visible"/>
                                      </p:to>
                                    </p:set>
                                    <p:animEffect transition="in" filter="dissolve">
                                      <p:cBhvr>
                                        <p:cTn id="29" dur="500"/>
                                        <p:tgtEl>
                                          <p:spTgt spid="334"/>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wipe(right)">
                                      <p:cBhvr>
                                        <p:cTn id="3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3" grpId="0"/>
      <p:bldP spid="334"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5" name="Rectangle 2"/>
          <p:cNvSpPr>
            <a:spLocks noGrp="1" noChangeArrowheads="1"/>
          </p:cNvSpPr>
          <p:nvPr>
            <p:ph type="title"/>
          </p:nvPr>
        </p:nvSpPr>
        <p:spPr/>
        <p:txBody>
          <a:bodyPr/>
          <a:lstStyle/>
          <a:p>
            <a:r>
              <a:rPr lang="en-US" sz="4000">
                <a:latin typeface="Gill Sans MT" pitchFamily="34" charset="0"/>
              </a:rPr>
              <a:t>BGP messages</a:t>
            </a:r>
            <a:endParaRPr lang="en-US" sz="3200">
              <a:latin typeface="Gill Sans MT" pitchFamily="34" charset="0"/>
            </a:endParaRPr>
          </a:p>
        </p:txBody>
      </p:sp>
      <p:sp>
        <p:nvSpPr>
          <p:cNvPr id="166916" name="Rectangle 3"/>
          <p:cNvSpPr>
            <a:spLocks noGrp="1" noChangeArrowheads="1"/>
          </p:cNvSpPr>
          <p:nvPr>
            <p:ph type="body" idx="1"/>
          </p:nvPr>
        </p:nvSpPr>
        <p:spPr>
          <a:xfrm>
            <a:off x="533400" y="1524000"/>
            <a:ext cx="8229600" cy="5029200"/>
          </a:xfrm>
        </p:spPr>
        <p:txBody>
          <a:bodyPr/>
          <a:lstStyle/>
          <a:p>
            <a:pPr marL="294005" indent="-294005"/>
            <a:r>
              <a:rPr lang="en-US" sz="2400" dirty="0">
                <a:latin typeface="Gill Sans MT" pitchFamily="34" charset="0"/>
              </a:rPr>
              <a:t>BGP messages exchanged between peers over TCP connection</a:t>
            </a:r>
          </a:p>
          <a:p>
            <a:pPr marL="294005" indent="-294005"/>
            <a:r>
              <a:rPr lang="en-US" sz="2400" dirty="0">
                <a:latin typeface="Gill Sans MT" pitchFamily="34" charset="0"/>
              </a:rPr>
              <a:t>BGP messages:</a:t>
            </a:r>
          </a:p>
          <a:p>
            <a:pPr marL="684530" lvl="1" indent="-227330">
              <a:lnSpc>
                <a:spcPct val="100000"/>
              </a:lnSpc>
            </a:pPr>
            <a:r>
              <a:rPr lang="en-US" dirty="0">
                <a:solidFill>
                  <a:srgbClr val="CC0000"/>
                </a:solidFill>
                <a:latin typeface="Gill Sans MT" pitchFamily="34" charset="0"/>
              </a:rPr>
              <a:t>OPEN:</a:t>
            </a:r>
            <a:r>
              <a:rPr lang="en-US" dirty="0">
                <a:latin typeface="Gill Sans MT" pitchFamily="34" charset="0"/>
              </a:rPr>
              <a:t> opens TCP connection to remote BGP peer and authenticates sending BGP peer</a:t>
            </a:r>
          </a:p>
          <a:p>
            <a:pPr marL="684530" lvl="1" indent="-227330">
              <a:lnSpc>
                <a:spcPct val="100000"/>
              </a:lnSpc>
            </a:pPr>
            <a:r>
              <a:rPr lang="en-US" dirty="0">
                <a:solidFill>
                  <a:srgbClr val="CC0000"/>
                </a:solidFill>
                <a:latin typeface="Gill Sans MT" pitchFamily="34" charset="0"/>
              </a:rPr>
              <a:t>UPDATE:</a:t>
            </a:r>
            <a:r>
              <a:rPr lang="en-US" dirty="0">
                <a:solidFill>
                  <a:srgbClr val="FF0000"/>
                </a:solidFill>
                <a:latin typeface="Gill Sans MT" pitchFamily="34" charset="0"/>
              </a:rPr>
              <a:t> </a:t>
            </a:r>
            <a:r>
              <a:rPr lang="en-US" dirty="0">
                <a:latin typeface="Gill Sans MT" pitchFamily="34" charset="0"/>
              </a:rPr>
              <a:t>advertises new path (or withdraws old)</a:t>
            </a:r>
          </a:p>
          <a:p>
            <a:pPr marL="684530" lvl="1" indent="-227330">
              <a:lnSpc>
                <a:spcPct val="100000"/>
              </a:lnSpc>
            </a:pPr>
            <a:r>
              <a:rPr lang="en-US" dirty="0">
                <a:solidFill>
                  <a:srgbClr val="CC0000"/>
                </a:solidFill>
                <a:latin typeface="Gill Sans MT" pitchFamily="34" charset="0"/>
              </a:rPr>
              <a:t>KEEPALIVE:</a:t>
            </a:r>
            <a:r>
              <a:rPr lang="en-US" dirty="0">
                <a:latin typeface="Gill Sans MT" pitchFamily="34" charset="0"/>
              </a:rPr>
              <a:t> keeps connection alive in absence of UPDATES; also ACKs OPEN request</a:t>
            </a:r>
          </a:p>
          <a:p>
            <a:pPr marL="684530" lvl="1" indent="-227330">
              <a:lnSpc>
                <a:spcPct val="100000"/>
              </a:lnSpc>
            </a:pPr>
            <a:r>
              <a:rPr lang="en-US" dirty="0">
                <a:solidFill>
                  <a:srgbClr val="CC0000"/>
                </a:solidFill>
                <a:latin typeface="Gill Sans MT" pitchFamily="34" charset="0"/>
              </a:rPr>
              <a:t>NOTIFICATION:</a:t>
            </a:r>
            <a:r>
              <a:rPr lang="en-US" dirty="0">
                <a:latin typeface="Gill Sans MT" pitchFamily="34" charset="0"/>
              </a:rPr>
              <a:t> reports errors in previous </a:t>
            </a:r>
            <a:r>
              <a:rPr lang="en-US" dirty="0" err="1">
                <a:latin typeface="Gill Sans MT" pitchFamily="34" charset="0"/>
              </a:rPr>
              <a:t>msg</a:t>
            </a:r>
            <a:r>
              <a:rPr lang="en-US" dirty="0">
                <a:latin typeface="Gill Sans MT" pitchFamily="34" charset="0"/>
              </a:rPr>
              <a:t>; also used to close connection</a:t>
            </a:r>
            <a:endParaRPr lang="en-US" sz="2800" dirty="0">
              <a:latin typeface="Gill Sans MT" pitchFamily="34" charset="0"/>
            </a:endParaRPr>
          </a:p>
        </p:txBody>
      </p:sp>
      <p:pic>
        <p:nvPicPr>
          <p:cNvPr id="166917" name="Picture 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3413" y="1044575"/>
            <a:ext cx="3016250" cy="173038"/>
          </a:xfrm>
          <a:prstGeom prst="rect">
            <a:avLst/>
          </a:prstGeom>
          <a:noFill/>
          <a:ln>
            <a:noFill/>
          </a:ln>
        </p:spPr>
      </p:pic>
      <p:sp>
        <p:nvSpPr>
          <p:cNvPr id="5"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78</a:t>
            </a:fld>
            <a:endParaRPr lang="en-US" sz="1200" dirty="0">
              <a:latin typeface="Tahoma" panose="020B0604030504040204" charset="0"/>
            </a:endParaRPr>
          </a:p>
        </p:txBody>
      </p:sp>
      <p:sp>
        <p:nvSpPr>
          <p:cNvPr id="6"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a:xfrm>
            <a:off x="533400" y="0"/>
            <a:ext cx="8200292" cy="1143000"/>
          </a:xfrm>
        </p:spPr>
        <p:txBody>
          <a:bodyPr/>
          <a:lstStyle/>
          <a:p>
            <a:pPr>
              <a:defRPr/>
            </a:pPr>
            <a:r>
              <a:rPr lang="en-US" sz="3600" dirty="0">
                <a:cs typeface="+mj-cs"/>
              </a:rPr>
              <a:t>BGP, OSPF, forwarding table entries</a:t>
            </a:r>
          </a:p>
        </p:txBody>
      </p:sp>
      <p:sp>
        <p:nvSpPr>
          <p:cNvPr id="753668" name="Rectangle 4"/>
          <p:cNvSpPr>
            <a:spLocks noGrp="1" noChangeArrowheads="1"/>
          </p:cNvSpPr>
          <p:nvPr>
            <p:ph type="body" idx="1"/>
          </p:nvPr>
        </p:nvSpPr>
        <p:spPr>
          <a:xfrm>
            <a:off x="2886075" y="4620260"/>
            <a:ext cx="5765165" cy="551815"/>
          </a:xfrm>
        </p:spPr>
        <p:txBody>
          <a:bodyPr/>
          <a:lstStyle/>
          <a:p>
            <a:pPr marL="292100" indent="-292100">
              <a:lnSpc>
                <a:spcPct val="90000"/>
              </a:lnSpc>
            </a:pPr>
            <a:r>
              <a:rPr lang="en-US" sz="2000" dirty="0">
                <a:latin typeface="Gill Sans MT" pitchFamily="34" charset="0"/>
              </a:rPr>
              <a:t>recall: </a:t>
            </a:r>
            <a:r>
              <a:rPr lang="en-US" sz="2000" dirty="0">
                <a:latin typeface="Arial" panose="020B0604020202090204"/>
                <a:cs typeface="Arial" panose="020B0604020202090204"/>
              </a:rPr>
              <a:t>1</a:t>
            </a:r>
            <a:r>
              <a:rPr lang="en-US" sz="2000" dirty="0">
                <a:latin typeface="Gill Sans MT" pitchFamily="34" charset="0"/>
              </a:rPr>
              <a:t>a, </a:t>
            </a:r>
            <a:r>
              <a:rPr lang="en-US" sz="2000" dirty="0">
                <a:latin typeface="Arial" panose="020B0604020202090204"/>
                <a:cs typeface="Arial" panose="020B0604020202090204"/>
              </a:rPr>
              <a:t>1</a:t>
            </a:r>
            <a:r>
              <a:rPr lang="en-US" sz="2000" dirty="0">
                <a:latin typeface="Gill Sans MT" pitchFamily="34" charset="0"/>
              </a:rPr>
              <a:t>b, </a:t>
            </a:r>
            <a:r>
              <a:rPr lang="en-US" sz="2000" dirty="0">
                <a:latin typeface="Arial" panose="020B0604020202090204"/>
                <a:cs typeface="Arial" panose="020B0604020202090204"/>
              </a:rPr>
              <a:t>1</a:t>
            </a:r>
            <a:r>
              <a:rPr lang="en-US" sz="2000" dirty="0">
                <a:latin typeface="Gill Sans MT" pitchFamily="34" charset="0"/>
              </a:rPr>
              <a:t>c learn about </a:t>
            </a:r>
            <a:r>
              <a:rPr lang="en-US" sz="2000" dirty="0" err="1">
                <a:latin typeface="Gill Sans MT" pitchFamily="34" charset="0"/>
              </a:rPr>
              <a:t>dest</a:t>
            </a:r>
            <a:r>
              <a:rPr lang="en-US" sz="2000" dirty="0">
                <a:latin typeface="Gill Sans MT" pitchFamily="34" charset="0"/>
              </a:rPr>
              <a:t> X via iBGP from </a:t>
            </a:r>
            <a:r>
              <a:rPr lang="en-US" sz="2000" dirty="0">
                <a:latin typeface="Arial" panose="020B0604020202090204"/>
                <a:cs typeface="Arial" panose="020B0604020202090204"/>
              </a:rPr>
              <a:t>1</a:t>
            </a:r>
            <a:r>
              <a:rPr lang="en-US" sz="2000" dirty="0">
                <a:latin typeface="Gill Sans MT" pitchFamily="34" charset="0"/>
              </a:rPr>
              <a:t>c: “path to X goes through </a:t>
            </a:r>
            <a:r>
              <a:rPr lang="en-US" sz="2000" dirty="0">
                <a:latin typeface="Arial" panose="020B0604020202090204"/>
                <a:cs typeface="Arial" panose="020B0604020202090204"/>
              </a:rPr>
              <a:t>1</a:t>
            </a:r>
            <a:r>
              <a:rPr lang="en-US" sz="2000" dirty="0">
                <a:latin typeface="Gill Sans MT" pitchFamily="34" charset="0"/>
              </a:rPr>
              <a:t>c”</a:t>
            </a:r>
          </a:p>
        </p:txBody>
      </p:sp>
      <p:pic>
        <p:nvPicPr>
          <p:cNvPr id="162849" name="Picture 121"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187" y="800100"/>
            <a:ext cx="7966198" cy="235438"/>
          </a:xfrm>
          <a:prstGeom prst="rect">
            <a:avLst/>
          </a:prstGeom>
          <a:noFill/>
          <a:ln>
            <a:noFill/>
          </a:ln>
        </p:spPr>
      </p:pic>
      <p:grpSp>
        <p:nvGrpSpPr>
          <p:cNvPr id="125" name="Group 124"/>
          <p:cNvGrpSpPr/>
          <p:nvPr/>
        </p:nvGrpSpPr>
        <p:grpSpPr>
          <a:xfrm>
            <a:off x="624887" y="1814322"/>
            <a:ext cx="2557336" cy="1719017"/>
            <a:chOff x="-2170772" y="2784954"/>
            <a:chExt cx="2712783" cy="1853712"/>
          </a:xfrm>
        </p:grpSpPr>
        <p:sp>
          <p:nvSpPr>
            <p:cNvPr id="261" name="Freeform 2"/>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262" name="Group 261"/>
            <p:cNvGrpSpPr/>
            <p:nvPr/>
          </p:nvGrpSpPr>
          <p:grpSpPr>
            <a:xfrm>
              <a:off x="-1935370" y="2935816"/>
              <a:ext cx="2333625" cy="1590649"/>
              <a:chOff x="833331" y="2873352"/>
              <a:chExt cx="2333625" cy="1590649"/>
            </a:xfrm>
          </p:grpSpPr>
          <p:grpSp>
            <p:nvGrpSpPr>
              <p:cNvPr id="263" name="Group 262"/>
              <p:cNvGrpSpPr/>
              <p:nvPr/>
            </p:nvGrpSpPr>
            <p:grpSpPr>
              <a:xfrm>
                <a:off x="1736090" y="2873352"/>
                <a:ext cx="565150" cy="369332"/>
                <a:chOff x="1736090" y="2873352"/>
                <a:chExt cx="565150" cy="369332"/>
              </a:xfrm>
            </p:grpSpPr>
            <p:grpSp>
              <p:nvGrpSpPr>
                <p:cNvPr id="312" name="Group 327"/>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41422" cy="369332"/>
                  <a:chOff x="667045" y="1708643"/>
                  <a:chExt cx="441422" cy="369332"/>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41422" cy="369332"/>
                  </a:xfrm>
                  <a:prstGeom prst="rect">
                    <a:avLst/>
                  </a:prstGeom>
                  <a:noFill/>
                </p:spPr>
                <p:txBody>
                  <a:bodyPr wrap="none" rtlCol="0">
                    <a:spAutoFit/>
                  </a:bodyPr>
                  <a:lstStyle/>
                  <a:p>
                    <a:r>
                      <a:rPr lang="en-US" dirty="0"/>
                      <a:t>1b</a:t>
                    </a:r>
                  </a:p>
                </p:txBody>
              </p:sp>
            </p:grpSp>
          </p:grpSp>
          <p:grpSp>
            <p:nvGrpSpPr>
              <p:cNvPr id="264" name="Group 263"/>
              <p:cNvGrpSpPr/>
              <p:nvPr/>
            </p:nvGrpSpPr>
            <p:grpSpPr>
              <a:xfrm>
                <a:off x="1740320" y="4094669"/>
                <a:ext cx="565150" cy="369332"/>
                <a:chOff x="1736090" y="2873352"/>
                <a:chExt cx="565150" cy="369332"/>
              </a:xfrm>
            </p:grpSpPr>
            <p:grpSp>
              <p:nvGrpSpPr>
                <p:cNvPr id="299" name="Group 327"/>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41422" cy="369332"/>
                  <a:chOff x="667045" y="1708643"/>
                  <a:chExt cx="441422" cy="369332"/>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41422" cy="369332"/>
                  </a:xfrm>
                  <a:prstGeom prst="rect">
                    <a:avLst/>
                  </a:prstGeom>
                  <a:noFill/>
                </p:spPr>
                <p:txBody>
                  <a:bodyPr wrap="none" rtlCol="0">
                    <a:spAutoFit/>
                  </a:bodyPr>
                  <a:lstStyle/>
                  <a:p>
                    <a:r>
                      <a:rPr lang="en-US" dirty="0"/>
                      <a:t>1d</a:t>
                    </a:r>
                  </a:p>
                </p:txBody>
              </p:sp>
            </p:grpSp>
          </p:grpSp>
          <p:grpSp>
            <p:nvGrpSpPr>
              <p:cNvPr id="265" name="Group 264"/>
              <p:cNvGrpSpPr/>
              <p:nvPr/>
            </p:nvGrpSpPr>
            <p:grpSpPr>
              <a:xfrm>
                <a:off x="2601806" y="3485072"/>
                <a:ext cx="565150" cy="369332"/>
                <a:chOff x="1736090" y="2873352"/>
                <a:chExt cx="565150" cy="369332"/>
              </a:xfrm>
            </p:grpSpPr>
            <p:grpSp>
              <p:nvGrpSpPr>
                <p:cNvPr id="286" name="Group 327"/>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28460" cy="369332"/>
                  <a:chOff x="667045" y="1708643"/>
                  <a:chExt cx="428460" cy="369332"/>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28460" cy="369332"/>
                  </a:xfrm>
                  <a:prstGeom prst="rect">
                    <a:avLst/>
                  </a:prstGeom>
                  <a:noFill/>
                </p:spPr>
                <p:txBody>
                  <a:bodyPr wrap="none" rtlCol="0">
                    <a:spAutoFit/>
                  </a:bodyPr>
                  <a:lstStyle/>
                  <a:p>
                    <a:r>
                      <a:rPr lang="en-US" dirty="0"/>
                      <a:t>1c</a:t>
                    </a:r>
                  </a:p>
                </p:txBody>
              </p:sp>
            </p:grpSp>
          </p:grpSp>
          <p:grpSp>
            <p:nvGrpSpPr>
              <p:cNvPr id="266" name="Group 265"/>
              <p:cNvGrpSpPr/>
              <p:nvPr/>
            </p:nvGrpSpPr>
            <p:grpSpPr>
              <a:xfrm>
                <a:off x="833331" y="3478719"/>
                <a:ext cx="565150" cy="369332"/>
                <a:chOff x="1736090" y="2873352"/>
                <a:chExt cx="565150" cy="369332"/>
              </a:xfrm>
            </p:grpSpPr>
            <p:grpSp>
              <p:nvGrpSpPr>
                <p:cNvPr id="273" name="Group 327"/>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41422" cy="369332"/>
                  <a:chOff x="667045" y="1708643"/>
                  <a:chExt cx="441422" cy="369332"/>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41422" cy="369332"/>
                  </a:xfrm>
                  <a:prstGeom prst="rect">
                    <a:avLst/>
                  </a:prstGeom>
                  <a:noFill/>
                </p:spPr>
                <p:txBody>
                  <a:bodyPr wrap="none" rtlCol="0">
                    <a:spAutoFit/>
                  </a:bodyPr>
                  <a:lstStyle/>
                  <a:p>
                    <a:r>
                      <a:rPr lang="en-US" dirty="0"/>
                      <a:t>1a</a:t>
                    </a:r>
                  </a:p>
                </p:txBody>
              </p:sp>
            </p:grpSp>
          </p:grp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270" name="Straight Connector 269"/>
              <p:cNvCxnSpPr/>
              <p:nvPr/>
            </p:nvCxnSpPr>
            <p:spPr bwMode="auto">
              <a:xfrm>
                <a:off x="1315140" y="3783345"/>
                <a:ext cx="489235" cy="352580"/>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337" name="Straight Connector 336"/>
              <p:cNvCxnSpPr>
                <a:endCxn id="316" idx="2"/>
              </p:cNvCxnSpPr>
              <p:nvPr/>
            </p:nvCxnSpPr>
            <p:spPr bwMode="auto">
              <a:xfrm flipV="1">
                <a:off x="1319809" y="3078707"/>
                <a:ext cx="417868" cy="457019"/>
              </a:xfrm>
              <a:prstGeom prst="line">
                <a:avLst/>
              </a:prstGeom>
              <a:solidFill>
                <a:schemeClr val="accent1"/>
              </a:solidFill>
              <a:ln w="19050" cap="flat" cmpd="sng" algn="ctr">
                <a:solidFill>
                  <a:schemeClr val="tx1"/>
                </a:solidFill>
                <a:prstDash val="solid"/>
                <a:round/>
                <a:headEnd type="none" w="med" len="med"/>
                <a:tailEnd type="none" w="med" len="med"/>
              </a:ln>
              <a:effectLst/>
            </p:spPr>
          </p:cxnSp>
        </p:grpSp>
      </p:grpSp>
      <p:sp>
        <p:nvSpPr>
          <p:cNvPr id="197" name="Freeform 2"/>
          <p:cNvSpPr/>
          <p:nvPr/>
        </p:nvSpPr>
        <p:spPr bwMode="auto">
          <a:xfrm>
            <a:off x="3285692" y="2741493"/>
            <a:ext cx="2545688" cy="1720535"/>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198" name="Group 197"/>
          <p:cNvGrpSpPr/>
          <p:nvPr/>
        </p:nvGrpSpPr>
        <p:grpSpPr>
          <a:xfrm>
            <a:off x="3506594" y="2881517"/>
            <a:ext cx="2189884" cy="1476371"/>
            <a:chOff x="833331" y="2873352"/>
            <a:chExt cx="2333625" cy="1590649"/>
          </a:xfrm>
        </p:grpSpPr>
        <p:grpSp>
          <p:nvGrpSpPr>
            <p:cNvPr id="199" name="Group 198"/>
            <p:cNvGrpSpPr/>
            <p:nvPr/>
          </p:nvGrpSpPr>
          <p:grpSpPr>
            <a:xfrm>
              <a:off x="1736090" y="2873352"/>
              <a:ext cx="565150" cy="369332"/>
              <a:chOff x="1736090" y="2873352"/>
              <a:chExt cx="565150" cy="369332"/>
            </a:xfrm>
          </p:grpSpPr>
          <p:grpSp>
            <p:nvGrpSpPr>
              <p:cNvPr id="248" name="Group 327"/>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41422" cy="369332"/>
                <a:chOff x="667045" y="1708643"/>
                <a:chExt cx="441422" cy="369332"/>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41422" cy="369332"/>
                </a:xfrm>
                <a:prstGeom prst="rect">
                  <a:avLst/>
                </a:prstGeom>
                <a:noFill/>
              </p:spPr>
              <p:txBody>
                <a:bodyPr wrap="none" rtlCol="0">
                  <a:spAutoFit/>
                </a:bodyPr>
                <a:lstStyle/>
                <a:p>
                  <a:r>
                    <a:rPr lang="en-US" dirty="0"/>
                    <a:t>2b</a:t>
                  </a:r>
                </a:p>
              </p:txBody>
            </p:sp>
          </p:grpSp>
        </p:grpSp>
        <p:grpSp>
          <p:nvGrpSpPr>
            <p:cNvPr id="200" name="Group 199"/>
            <p:cNvGrpSpPr/>
            <p:nvPr/>
          </p:nvGrpSpPr>
          <p:grpSpPr>
            <a:xfrm>
              <a:off x="1740320" y="4094669"/>
              <a:ext cx="565150" cy="369332"/>
              <a:chOff x="1736090" y="2873352"/>
              <a:chExt cx="565150" cy="369332"/>
            </a:xfrm>
          </p:grpSpPr>
          <p:grpSp>
            <p:nvGrpSpPr>
              <p:cNvPr id="235" name="Group 327"/>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41422" cy="369332"/>
                <a:chOff x="667045" y="1708643"/>
                <a:chExt cx="441422" cy="369332"/>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41422" cy="369332"/>
                </a:xfrm>
                <a:prstGeom prst="rect">
                  <a:avLst/>
                </a:prstGeom>
                <a:noFill/>
              </p:spPr>
              <p:txBody>
                <a:bodyPr wrap="none" rtlCol="0">
                  <a:spAutoFit/>
                </a:bodyPr>
                <a:lstStyle/>
                <a:p>
                  <a:r>
                    <a:rPr lang="en-US" dirty="0"/>
                    <a:t>2d</a:t>
                  </a:r>
                </a:p>
              </p:txBody>
            </p:sp>
          </p:grpSp>
        </p:grpSp>
        <p:grpSp>
          <p:nvGrpSpPr>
            <p:cNvPr id="201" name="Group 200"/>
            <p:cNvGrpSpPr/>
            <p:nvPr/>
          </p:nvGrpSpPr>
          <p:grpSpPr>
            <a:xfrm>
              <a:off x="2601806" y="3485072"/>
              <a:ext cx="565150" cy="369332"/>
              <a:chOff x="1736090" y="2873352"/>
              <a:chExt cx="565150" cy="369332"/>
            </a:xfrm>
          </p:grpSpPr>
          <p:grpSp>
            <p:nvGrpSpPr>
              <p:cNvPr id="222" name="Group 327"/>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28460" cy="369332"/>
                <a:chOff x="667045" y="1708643"/>
                <a:chExt cx="428460" cy="369332"/>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28460" cy="369332"/>
                </a:xfrm>
                <a:prstGeom prst="rect">
                  <a:avLst/>
                </a:prstGeom>
                <a:noFill/>
              </p:spPr>
              <p:txBody>
                <a:bodyPr wrap="none" rtlCol="0">
                  <a:spAutoFit/>
                </a:bodyPr>
                <a:lstStyle/>
                <a:p>
                  <a:r>
                    <a:rPr lang="en-US" dirty="0"/>
                    <a:t>2c</a:t>
                  </a:r>
                </a:p>
              </p:txBody>
            </p:sp>
          </p:grpSp>
        </p:grpSp>
        <p:grpSp>
          <p:nvGrpSpPr>
            <p:cNvPr id="202" name="Group 201"/>
            <p:cNvGrpSpPr/>
            <p:nvPr/>
          </p:nvGrpSpPr>
          <p:grpSpPr>
            <a:xfrm>
              <a:off x="833331" y="3478719"/>
              <a:ext cx="565150" cy="369332"/>
              <a:chOff x="1736090" y="2873352"/>
              <a:chExt cx="565150" cy="369332"/>
            </a:xfrm>
          </p:grpSpPr>
          <p:grpSp>
            <p:nvGrpSpPr>
              <p:cNvPr id="209" name="Group 327"/>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441422" cy="369332"/>
                <a:chOff x="667045" y="1708643"/>
                <a:chExt cx="441422" cy="369332"/>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441422" cy="369332"/>
                </a:xfrm>
                <a:prstGeom prst="rect">
                  <a:avLst/>
                </a:prstGeom>
                <a:noFill/>
              </p:spPr>
              <p:txBody>
                <a:bodyPr wrap="none" rtlCol="0">
                  <a:spAutoFit/>
                </a:bodyPr>
                <a:lstStyle/>
                <a:p>
                  <a:r>
                    <a:rPr lang="en-US" dirty="0"/>
                    <a:t>2a</a:t>
                  </a:r>
                </a:p>
              </p:txBody>
            </p:sp>
          </p:grpSp>
        </p:grpSp>
        <p:cxnSp>
          <p:nvCxnSpPr>
            <p:cNvPr id="203" name="Straight Connector 202"/>
            <p:cNvCxnSpPr>
              <a:endCxn id="238" idx="0"/>
            </p:cNvCxnSpPr>
            <p:nvPr/>
          </p:nvCxnSpPr>
          <p:spPr bwMode="auto">
            <a:xfrm>
              <a:off x="1991073" y="3173114"/>
              <a:ext cx="4230" cy="921555"/>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205" name="Straight Connector 204"/>
            <p:cNvCxnSpPr/>
            <p:nvPr/>
          </p:nvCxnSpPr>
          <p:spPr bwMode="auto">
            <a:xfrm>
              <a:off x="2280478" y="3145660"/>
              <a:ext cx="435814" cy="359474"/>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206" name="Straight Connector 205"/>
            <p:cNvCxnSpPr/>
            <p:nvPr/>
          </p:nvCxnSpPr>
          <p:spPr bwMode="auto">
            <a:xfrm>
              <a:off x="1300073" y="3768911"/>
              <a:ext cx="527386" cy="368208"/>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207" name="Straight Connector 206"/>
            <p:cNvCxnSpPr/>
            <p:nvPr/>
          </p:nvCxnSpPr>
          <p:spPr bwMode="auto">
            <a:xfrm flipH="1">
              <a:off x="2194462" y="3713972"/>
              <a:ext cx="509583" cy="428945"/>
            </a:xfrm>
            <a:prstGeom prst="line">
              <a:avLst/>
            </a:prstGeom>
            <a:solidFill>
              <a:schemeClr val="accent1"/>
            </a:solidFill>
            <a:ln w="19050" cap="flat" cmpd="sng" algn="ctr">
              <a:solidFill>
                <a:schemeClr val="tx1"/>
              </a:solidFill>
              <a:prstDash val="solid"/>
              <a:round/>
              <a:headEnd type="none" w="med" len="med"/>
              <a:tailEnd type="none" w="med" len="med"/>
            </a:ln>
            <a:effectLst/>
          </p:spPr>
        </p:cxnSp>
      </p:grpSp>
      <p:sp>
        <p:nvSpPr>
          <p:cNvPr id="133" name="Freeform 2"/>
          <p:cNvSpPr/>
          <p:nvPr/>
        </p:nvSpPr>
        <p:spPr bwMode="auto">
          <a:xfrm>
            <a:off x="5507686" y="1673235"/>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134" name="Group 133"/>
          <p:cNvGrpSpPr/>
          <p:nvPr/>
        </p:nvGrpSpPr>
        <p:grpSpPr>
          <a:xfrm>
            <a:off x="5731177" y="1809351"/>
            <a:ext cx="2215548" cy="2123152"/>
            <a:chOff x="833331" y="2873352"/>
            <a:chExt cx="2333625" cy="2353163"/>
          </a:xfrm>
        </p:grpSpPr>
        <p:grpSp>
          <p:nvGrpSpPr>
            <p:cNvPr id="135" name="Group 134"/>
            <p:cNvGrpSpPr/>
            <p:nvPr/>
          </p:nvGrpSpPr>
          <p:grpSpPr>
            <a:xfrm>
              <a:off x="1736090" y="2873352"/>
              <a:ext cx="565150" cy="369332"/>
              <a:chOff x="1736090" y="2873352"/>
              <a:chExt cx="565150" cy="369332"/>
            </a:xfrm>
          </p:grpSpPr>
          <p:grpSp>
            <p:nvGrpSpPr>
              <p:cNvPr id="184" name="Group 327"/>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41422" cy="369332"/>
                <a:chOff x="667045" y="1708643"/>
                <a:chExt cx="441422" cy="369332"/>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41422" cy="369332"/>
                </a:xfrm>
                <a:prstGeom prst="rect">
                  <a:avLst/>
                </a:prstGeom>
                <a:noFill/>
              </p:spPr>
              <p:txBody>
                <a:bodyPr wrap="none" rtlCol="0">
                  <a:spAutoFit/>
                </a:bodyPr>
                <a:lstStyle/>
                <a:p>
                  <a:r>
                    <a:rPr lang="en-US" dirty="0"/>
                    <a:t>3b</a:t>
                  </a:r>
                </a:p>
              </p:txBody>
            </p:sp>
          </p:grpSp>
        </p:grpSp>
        <p:grpSp>
          <p:nvGrpSpPr>
            <p:cNvPr id="136" name="Group 135"/>
            <p:cNvGrpSpPr/>
            <p:nvPr/>
          </p:nvGrpSpPr>
          <p:grpSpPr>
            <a:xfrm>
              <a:off x="1740320" y="4094669"/>
              <a:ext cx="565150" cy="369332"/>
              <a:chOff x="1736090" y="2873352"/>
              <a:chExt cx="565150" cy="369332"/>
            </a:xfrm>
          </p:grpSpPr>
          <p:grpSp>
            <p:nvGrpSpPr>
              <p:cNvPr id="171" name="Group 327"/>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41422" cy="369332"/>
                <a:chOff x="667045" y="1708643"/>
                <a:chExt cx="441422" cy="369332"/>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41422" cy="369332"/>
                </a:xfrm>
                <a:prstGeom prst="rect">
                  <a:avLst/>
                </a:prstGeom>
                <a:noFill/>
              </p:spPr>
              <p:txBody>
                <a:bodyPr wrap="none" rtlCol="0">
                  <a:spAutoFit/>
                </a:bodyPr>
                <a:lstStyle/>
                <a:p>
                  <a:r>
                    <a:rPr lang="en-US" dirty="0"/>
                    <a:t>3d</a:t>
                  </a:r>
                </a:p>
              </p:txBody>
            </p:sp>
          </p:grpSp>
        </p:grpSp>
        <p:grpSp>
          <p:nvGrpSpPr>
            <p:cNvPr id="137" name="Group 136"/>
            <p:cNvGrpSpPr/>
            <p:nvPr/>
          </p:nvGrpSpPr>
          <p:grpSpPr>
            <a:xfrm>
              <a:off x="2601806" y="3485072"/>
              <a:ext cx="565150" cy="369332"/>
              <a:chOff x="1736090" y="2873352"/>
              <a:chExt cx="565150" cy="369332"/>
            </a:xfrm>
          </p:grpSpPr>
          <p:grpSp>
            <p:nvGrpSpPr>
              <p:cNvPr id="158" name="Group 327"/>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2" y="2873352"/>
                <a:ext cx="428460" cy="369332"/>
                <a:chOff x="667045" y="1708643"/>
                <a:chExt cx="428460" cy="369332"/>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5" y="1708643"/>
                  <a:ext cx="428460" cy="369332"/>
                </a:xfrm>
                <a:prstGeom prst="rect">
                  <a:avLst/>
                </a:prstGeom>
                <a:noFill/>
              </p:spPr>
              <p:txBody>
                <a:bodyPr wrap="none" rtlCol="0">
                  <a:spAutoFit/>
                </a:bodyPr>
                <a:lstStyle/>
                <a:p>
                  <a:r>
                    <a:rPr lang="en-US" dirty="0"/>
                    <a:t>3c</a:t>
                  </a:r>
                </a:p>
              </p:txBody>
            </p:sp>
          </p:grpSp>
        </p:grpSp>
        <p:grpSp>
          <p:nvGrpSpPr>
            <p:cNvPr id="138" name="Group 137"/>
            <p:cNvGrpSpPr/>
            <p:nvPr/>
          </p:nvGrpSpPr>
          <p:grpSpPr>
            <a:xfrm>
              <a:off x="833331" y="3478719"/>
              <a:ext cx="565150" cy="369332"/>
              <a:chOff x="1736090" y="2873352"/>
              <a:chExt cx="565150" cy="369332"/>
            </a:xfrm>
          </p:grpSpPr>
          <p:grpSp>
            <p:nvGrpSpPr>
              <p:cNvPr id="145" name="Group 327"/>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441422" cy="369332"/>
                <a:chOff x="667045" y="1708643"/>
                <a:chExt cx="441422" cy="369332"/>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441422" cy="369332"/>
                </a:xfrm>
                <a:prstGeom prst="rect">
                  <a:avLst/>
                </a:prstGeom>
                <a:noFill/>
              </p:spPr>
              <p:txBody>
                <a:bodyPr wrap="none" rtlCol="0">
                  <a:spAutoFit/>
                </a:bodyPr>
                <a:lstStyle/>
                <a:p>
                  <a:r>
                    <a:rPr lang="en-US" dirty="0"/>
                    <a:t>3a</a:t>
                  </a:r>
                </a:p>
              </p:txBody>
            </p:sp>
          </p:grpSp>
        </p:grp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326" name="Straight Connector 325"/>
            <p:cNvCxnSpPr/>
            <p:nvPr/>
          </p:nvCxnSpPr>
          <p:spPr bwMode="auto">
            <a:xfrm flipH="1">
              <a:off x="1596702" y="5224152"/>
              <a:ext cx="673647" cy="2363"/>
            </a:xfrm>
            <a:prstGeom prst="line">
              <a:avLst/>
            </a:prstGeom>
            <a:solidFill>
              <a:schemeClr val="accent1"/>
            </a:solidFill>
            <a:ln w="19050" cap="flat" cmpd="sng" algn="ctr">
              <a:solidFill>
                <a:schemeClr val="tx1"/>
              </a:solidFill>
              <a:prstDash val="solid"/>
              <a:round/>
              <a:headEnd type="none" w="med" len="med"/>
              <a:tailEnd type="none" w="med" len="med"/>
            </a:ln>
            <a:effectLst/>
          </p:spPr>
        </p:cxnSp>
      </p:grpSp>
      <p:cxnSp>
        <p:nvCxnSpPr>
          <p:cNvPr id="128" name="Straight Connector 127"/>
          <p:cNvCxnSpPr/>
          <p:nvPr/>
        </p:nvCxnSpPr>
        <p:spPr bwMode="auto">
          <a:xfrm flipH="1" flipV="1">
            <a:off x="3046707" y="2702855"/>
            <a:ext cx="542552" cy="781201"/>
          </a:xfrm>
          <a:prstGeom prst="line">
            <a:avLst/>
          </a:prstGeom>
          <a:solidFill>
            <a:schemeClr val="accent1"/>
          </a:solidFill>
          <a:ln w="38100" cap="flat" cmpd="sng" algn="ctr">
            <a:solidFill>
              <a:schemeClr val="tx1"/>
            </a:solidFill>
            <a:prstDash val="solid"/>
            <a:round/>
            <a:headEnd type="none" w="med" len="med"/>
            <a:tailEnd type="none" w="med" len="med"/>
          </a:ln>
          <a:effectLst/>
        </p:spPr>
      </p:cxnSp>
      <p:cxnSp>
        <p:nvCxnSpPr>
          <p:cNvPr id="129" name="Straight Connector 128"/>
          <p:cNvCxnSpPr/>
          <p:nvPr/>
        </p:nvCxnSpPr>
        <p:spPr bwMode="auto">
          <a:xfrm flipV="1">
            <a:off x="5523188" y="2643973"/>
            <a:ext cx="337735" cy="823128"/>
          </a:xfrm>
          <a:prstGeom prst="line">
            <a:avLst/>
          </a:prstGeom>
          <a:solidFill>
            <a:schemeClr val="accent1"/>
          </a:solidFill>
          <a:ln w="38100" cap="flat" cmpd="sng" algn="ctr">
            <a:solidFill>
              <a:schemeClr val="tx1"/>
            </a:solidFill>
            <a:prstDash val="solid"/>
            <a:round/>
            <a:headEnd type="none" w="med" len="med"/>
            <a:tailEnd type="none" w="med" len="med"/>
          </a:ln>
          <a:effectLst/>
        </p:spPr>
      </p:cxnSp>
      <p:sp>
        <p:nvSpPr>
          <p:cNvPr id="130" name="TextBox 129"/>
          <p:cNvSpPr txBox="1"/>
          <p:nvPr/>
        </p:nvSpPr>
        <p:spPr>
          <a:xfrm>
            <a:off x="3493291" y="2801177"/>
            <a:ext cx="682273" cy="400110"/>
          </a:xfrm>
          <a:prstGeom prst="rect">
            <a:avLst/>
          </a:prstGeom>
          <a:noFill/>
        </p:spPr>
        <p:txBody>
          <a:bodyPr wrap="none" rtlCol="0">
            <a:spAutoFit/>
          </a:bodyPr>
          <a:lstStyle/>
          <a:p>
            <a:r>
              <a:rPr lang="en-US" sz="2000" dirty="0">
                <a:solidFill>
                  <a:srgbClr val="000090"/>
                </a:solidFill>
              </a:rPr>
              <a:t>AS2</a:t>
            </a:r>
          </a:p>
        </p:txBody>
      </p:sp>
      <p:sp>
        <p:nvSpPr>
          <p:cNvPr id="131" name="TextBox 130"/>
          <p:cNvSpPr txBox="1"/>
          <p:nvPr/>
        </p:nvSpPr>
        <p:spPr>
          <a:xfrm>
            <a:off x="5543950" y="1714475"/>
            <a:ext cx="682273" cy="400110"/>
          </a:xfrm>
          <a:prstGeom prst="rect">
            <a:avLst/>
          </a:prstGeom>
          <a:noFill/>
        </p:spPr>
        <p:txBody>
          <a:bodyPr wrap="none" rtlCol="0">
            <a:spAutoFit/>
          </a:bodyPr>
          <a:lstStyle/>
          <a:p>
            <a:r>
              <a:rPr lang="en-US" sz="2000" dirty="0">
                <a:solidFill>
                  <a:srgbClr val="000090"/>
                </a:solidFill>
              </a:rPr>
              <a:t>AS3</a:t>
            </a:r>
          </a:p>
        </p:txBody>
      </p:sp>
      <p:sp>
        <p:nvSpPr>
          <p:cNvPr id="132" name="TextBox 131"/>
          <p:cNvSpPr txBox="1"/>
          <p:nvPr/>
        </p:nvSpPr>
        <p:spPr>
          <a:xfrm>
            <a:off x="707172" y="1925151"/>
            <a:ext cx="682273" cy="400110"/>
          </a:xfrm>
          <a:prstGeom prst="rect">
            <a:avLst/>
          </a:prstGeom>
          <a:noFill/>
        </p:spPr>
        <p:txBody>
          <a:bodyPr wrap="none" rtlCol="0">
            <a:spAutoFit/>
          </a:bodyPr>
          <a:lstStyle/>
          <a:p>
            <a:r>
              <a:rPr lang="en-US" sz="2000" dirty="0">
                <a:solidFill>
                  <a:srgbClr val="000090"/>
                </a:solidFill>
              </a:rPr>
              <a:t>AS1</a:t>
            </a:r>
          </a:p>
        </p:txBody>
      </p:sp>
      <p:grpSp>
        <p:nvGrpSpPr>
          <p:cNvPr id="11" name="Group 10"/>
          <p:cNvGrpSpPr/>
          <p:nvPr/>
        </p:nvGrpSpPr>
        <p:grpSpPr>
          <a:xfrm>
            <a:off x="7070827" y="2776082"/>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 name="connsiteX0-307" fmla="*/ 4 w 9959"/>
                  <a:gd name="connsiteY0-308" fmla="*/ 5593 h 11352"/>
                  <a:gd name="connsiteX1-309" fmla="*/ 1089 w 9959"/>
                  <a:gd name="connsiteY1-310" fmla="*/ 469 h 11352"/>
                  <a:gd name="connsiteX2-311" fmla="*/ 4845 w 9959"/>
                  <a:gd name="connsiteY2-312" fmla="*/ 561 h 11352"/>
                  <a:gd name="connsiteX3-313" fmla="*/ 8027 w 9959"/>
                  <a:gd name="connsiteY3-314" fmla="*/ 3370 h 11352"/>
                  <a:gd name="connsiteX4-315" fmla="*/ 9955 w 9959"/>
                  <a:gd name="connsiteY4-316" fmla="*/ 5970 h 11352"/>
                  <a:gd name="connsiteX5-317" fmla="*/ 8435 w 9959"/>
                  <a:gd name="connsiteY5-318" fmla="*/ 7863 h 11352"/>
                  <a:gd name="connsiteX6-319" fmla="*/ 5161 w 9959"/>
                  <a:gd name="connsiteY6-320" fmla="*/ 11352 h 11352"/>
                  <a:gd name="connsiteX7-321" fmla="*/ 2712 w 9959"/>
                  <a:gd name="connsiteY7-322" fmla="*/ 8240 h 11352"/>
                  <a:gd name="connsiteX8-323" fmla="*/ 1334 w 9959"/>
                  <a:gd name="connsiteY8-324" fmla="*/ 7922 h 11352"/>
                  <a:gd name="connsiteX9-325" fmla="*/ 4 w 9959"/>
                  <a:gd name="connsiteY9-326" fmla="*/ 5593 h 11352"/>
                  <a:gd name="connsiteX0-327" fmla="*/ 0 w 11223"/>
                  <a:gd name="connsiteY0-328" fmla="*/ 3835 h 9929"/>
                  <a:gd name="connsiteX1-329" fmla="*/ 2316 w 11223"/>
                  <a:gd name="connsiteY1-330" fmla="*/ 342 h 9929"/>
                  <a:gd name="connsiteX2-331" fmla="*/ 6088 w 11223"/>
                  <a:gd name="connsiteY2-332" fmla="*/ 423 h 9929"/>
                  <a:gd name="connsiteX3-333" fmla="*/ 9283 w 11223"/>
                  <a:gd name="connsiteY3-334" fmla="*/ 2898 h 9929"/>
                  <a:gd name="connsiteX4-335" fmla="*/ 11219 w 11223"/>
                  <a:gd name="connsiteY4-336" fmla="*/ 5188 h 9929"/>
                  <a:gd name="connsiteX5-337" fmla="*/ 9693 w 11223"/>
                  <a:gd name="connsiteY5-338" fmla="*/ 6856 h 9929"/>
                  <a:gd name="connsiteX6-339" fmla="*/ 6405 w 11223"/>
                  <a:gd name="connsiteY6-340" fmla="*/ 9929 h 9929"/>
                  <a:gd name="connsiteX7-341" fmla="*/ 3946 w 11223"/>
                  <a:gd name="connsiteY7-342" fmla="*/ 7188 h 9929"/>
                  <a:gd name="connsiteX8-343" fmla="*/ 2562 w 11223"/>
                  <a:gd name="connsiteY8-344" fmla="*/ 6908 h 9929"/>
                  <a:gd name="connsiteX9-345" fmla="*/ 0 w 11223"/>
                  <a:gd name="connsiteY9-346" fmla="*/ 3835 h 9929"/>
                  <a:gd name="connsiteX0-347" fmla="*/ 0 w 9999"/>
                  <a:gd name="connsiteY0-348" fmla="*/ 3862 h 10000"/>
                  <a:gd name="connsiteX1-349" fmla="*/ 2064 w 9999"/>
                  <a:gd name="connsiteY1-350" fmla="*/ 344 h 10000"/>
                  <a:gd name="connsiteX2-351" fmla="*/ 5425 w 9999"/>
                  <a:gd name="connsiteY2-352" fmla="*/ 426 h 10000"/>
                  <a:gd name="connsiteX3-353" fmla="*/ 8271 w 9999"/>
                  <a:gd name="connsiteY3-354" fmla="*/ 2919 h 10000"/>
                  <a:gd name="connsiteX4-355" fmla="*/ 9996 w 9999"/>
                  <a:gd name="connsiteY4-356" fmla="*/ 5225 h 10000"/>
                  <a:gd name="connsiteX5-357" fmla="*/ 8637 w 9999"/>
                  <a:gd name="connsiteY5-358" fmla="*/ 6905 h 10000"/>
                  <a:gd name="connsiteX6-359" fmla="*/ 5707 w 9999"/>
                  <a:gd name="connsiteY6-360" fmla="*/ 10000 h 10000"/>
                  <a:gd name="connsiteX7-361" fmla="*/ 2283 w 9999"/>
                  <a:gd name="connsiteY7-362" fmla="*/ 6957 h 10000"/>
                  <a:gd name="connsiteX8-363" fmla="*/ 0 w 9999"/>
                  <a:gd name="connsiteY8-364" fmla="*/ 3862 h 10000"/>
                  <a:gd name="connsiteX0-365" fmla="*/ 124 w 10124"/>
                  <a:gd name="connsiteY0-366" fmla="*/ 3862 h 10000"/>
                  <a:gd name="connsiteX1-367" fmla="*/ 2188 w 10124"/>
                  <a:gd name="connsiteY1-368" fmla="*/ 344 h 10000"/>
                  <a:gd name="connsiteX2-369" fmla="*/ 5550 w 10124"/>
                  <a:gd name="connsiteY2-370" fmla="*/ 426 h 10000"/>
                  <a:gd name="connsiteX3-371" fmla="*/ 8396 w 10124"/>
                  <a:gd name="connsiteY3-372" fmla="*/ 2919 h 10000"/>
                  <a:gd name="connsiteX4-373" fmla="*/ 10121 w 10124"/>
                  <a:gd name="connsiteY4-374" fmla="*/ 5225 h 10000"/>
                  <a:gd name="connsiteX5-375" fmla="*/ 8762 w 10124"/>
                  <a:gd name="connsiteY5-376" fmla="*/ 6905 h 10000"/>
                  <a:gd name="connsiteX6-377" fmla="*/ 5832 w 10124"/>
                  <a:gd name="connsiteY6-378" fmla="*/ 10000 h 10000"/>
                  <a:gd name="connsiteX7-379" fmla="*/ 124 w 10124"/>
                  <a:gd name="connsiteY7-380" fmla="*/ 3862 h 10000"/>
                  <a:gd name="connsiteX0-381" fmla="*/ 43 w 10045"/>
                  <a:gd name="connsiteY0-382" fmla="*/ 3862 h 6912"/>
                  <a:gd name="connsiteX1-383" fmla="*/ 2107 w 10045"/>
                  <a:gd name="connsiteY1-384" fmla="*/ 344 h 6912"/>
                  <a:gd name="connsiteX2-385" fmla="*/ 5469 w 10045"/>
                  <a:gd name="connsiteY2-386" fmla="*/ 426 h 6912"/>
                  <a:gd name="connsiteX3-387" fmla="*/ 8315 w 10045"/>
                  <a:gd name="connsiteY3-388" fmla="*/ 2919 h 6912"/>
                  <a:gd name="connsiteX4-389" fmla="*/ 10040 w 10045"/>
                  <a:gd name="connsiteY4-390" fmla="*/ 5225 h 6912"/>
                  <a:gd name="connsiteX5-391" fmla="*/ 8681 w 10045"/>
                  <a:gd name="connsiteY5-392" fmla="*/ 6905 h 6912"/>
                  <a:gd name="connsiteX6-393" fmla="*/ 3967 w 10045"/>
                  <a:gd name="connsiteY6-394" fmla="*/ 5885 h 6912"/>
                  <a:gd name="connsiteX7-395" fmla="*/ 43 w 10045"/>
                  <a:gd name="connsiteY7-396" fmla="*/ 3862 h 6912"/>
                  <a:gd name="connsiteX0-397" fmla="*/ 47 w 10004"/>
                  <a:gd name="connsiteY0-398" fmla="*/ 5106 h 9519"/>
                  <a:gd name="connsiteX1-399" fmla="*/ 2102 w 10004"/>
                  <a:gd name="connsiteY1-400" fmla="*/ 17 h 9519"/>
                  <a:gd name="connsiteX2-401" fmla="*/ 6651 w 10004"/>
                  <a:gd name="connsiteY2-402" fmla="*/ 3484 h 9519"/>
                  <a:gd name="connsiteX3-403" fmla="*/ 8282 w 10004"/>
                  <a:gd name="connsiteY3-404" fmla="*/ 3742 h 9519"/>
                  <a:gd name="connsiteX4-405" fmla="*/ 9999 w 10004"/>
                  <a:gd name="connsiteY4-406" fmla="*/ 7078 h 9519"/>
                  <a:gd name="connsiteX5-407" fmla="*/ 8646 w 10004"/>
                  <a:gd name="connsiteY5-408" fmla="*/ 9509 h 9519"/>
                  <a:gd name="connsiteX6-409" fmla="*/ 3953 w 10004"/>
                  <a:gd name="connsiteY6-410" fmla="*/ 8033 h 9519"/>
                  <a:gd name="connsiteX7-411" fmla="*/ 47 w 10004"/>
                  <a:gd name="connsiteY7-412" fmla="*/ 5106 h 9519"/>
                  <a:gd name="connsiteX0-413" fmla="*/ 43 w 9996"/>
                  <a:gd name="connsiteY0-414" fmla="*/ 6232 h 10868"/>
                  <a:gd name="connsiteX1-415" fmla="*/ 2097 w 9996"/>
                  <a:gd name="connsiteY1-416" fmla="*/ 886 h 10868"/>
                  <a:gd name="connsiteX2-417" fmla="*/ 5642 w 9996"/>
                  <a:gd name="connsiteY2-418" fmla="*/ 385 h 10868"/>
                  <a:gd name="connsiteX3-419" fmla="*/ 8275 w 9996"/>
                  <a:gd name="connsiteY3-420" fmla="*/ 4799 h 10868"/>
                  <a:gd name="connsiteX4-421" fmla="*/ 9991 w 9996"/>
                  <a:gd name="connsiteY4-422" fmla="*/ 8304 h 10868"/>
                  <a:gd name="connsiteX5-423" fmla="*/ 8639 w 9996"/>
                  <a:gd name="connsiteY5-424" fmla="*/ 10857 h 10868"/>
                  <a:gd name="connsiteX6-425" fmla="*/ 3947 w 9996"/>
                  <a:gd name="connsiteY6-426" fmla="*/ 9307 h 10868"/>
                  <a:gd name="connsiteX7-427" fmla="*/ 43 w 9996"/>
                  <a:gd name="connsiteY7-428" fmla="*/ 6232 h 10868"/>
                  <a:gd name="connsiteX0-429" fmla="*/ 43 w 10004"/>
                  <a:gd name="connsiteY0-430" fmla="*/ 5543 h 9809"/>
                  <a:gd name="connsiteX1-431" fmla="*/ 2098 w 10004"/>
                  <a:gd name="connsiteY1-432" fmla="*/ 624 h 9809"/>
                  <a:gd name="connsiteX2-433" fmla="*/ 5644 w 10004"/>
                  <a:gd name="connsiteY2-434" fmla="*/ 163 h 9809"/>
                  <a:gd name="connsiteX3-435" fmla="*/ 8163 w 10004"/>
                  <a:gd name="connsiteY3-436" fmla="*/ 1492 h 9809"/>
                  <a:gd name="connsiteX4-437" fmla="*/ 9995 w 10004"/>
                  <a:gd name="connsiteY4-438" fmla="*/ 7450 h 9809"/>
                  <a:gd name="connsiteX5-439" fmla="*/ 8642 w 10004"/>
                  <a:gd name="connsiteY5-440" fmla="*/ 9799 h 9809"/>
                  <a:gd name="connsiteX6-441" fmla="*/ 3949 w 10004"/>
                  <a:gd name="connsiteY6-442" fmla="*/ 8373 h 9809"/>
                  <a:gd name="connsiteX7-443" fmla="*/ 43 w 10004"/>
                  <a:gd name="connsiteY7-444" fmla="*/ 5543 h 9809"/>
                  <a:gd name="connsiteX0-445" fmla="*/ 43 w 8950"/>
                  <a:gd name="connsiteY0-446" fmla="*/ 5651 h 10081"/>
                  <a:gd name="connsiteX1-447" fmla="*/ 2097 w 8950"/>
                  <a:gd name="connsiteY1-448" fmla="*/ 636 h 10081"/>
                  <a:gd name="connsiteX2-449" fmla="*/ 5642 w 8950"/>
                  <a:gd name="connsiteY2-450" fmla="*/ 166 h 10081"/>
                  <a:gd name="connsiteX3-451" fmla="*/ 8160 w 8950"/>
                  <a:gd name="connsiteY3-452" fmla="*/ 1521 h 10081"/>
                  <a:gd name="connsiteX4-453" fmla="*/ 8473 w 8950"/>
                  <a:gd name="connsiteY4-454" fmla="*/ 5322 h 10081"/>
                  <a:gd name="connsiteX5-455" fmla="*/ 8639 w 8950"/>
                  <a:gd name="connsiteY5-456" fmla="*/ 9990 h 10081"/>
                  <a:gd name="connsiteX6-457" fmla="*/ 3947 w 8950"/>
                  <a:gd name="connsiteY6-458" fmla="*/ 8536 h 10081"/>
                  <a:gd name="connsiteX7-459" fmla="*/ 43 w 8950"/>
                  <a:gd name="connsiteY7-460" fmla="*/ 5651 h 10081"/>
                  <a:gd name="connsiteX0-461" fmla="*/ 48 w 9651"/>
                  <a:gd name="connsiteY0-462" fmla="*/ 5606 h 8648"/>
                  <a:gd name="connsiteX1-463" fmla="*/ 2343 w 9651"/>
                  <a:gd name="connsiteY1-464" fmla="*/ 631 h 8648"/>
                  <a:gd name="connsiteX2-465" fmla="*/ 6304 w 9651"/>
                  <a:gd name="connsiteY2-466" fmla="*/ 165 h 8648"/>
                  <a:gd name="connsiteX3-467" fmla="*/ 9117 w 9651"/>
                  <a:gd name="connsiteY3-468" fmla="*/ 1509 h 8648"/>
                  <a:gd name="connsiteX4-469" fmla="*/ 9467 w 9651"/>
                  <a:gd name="connsiteY4-470" fmla="*/ 5279 h 8648"/>
                  <a:gd name="connsiteX5-471" fmla="*/ 6997 w 9651"/>
                  <a:gd name="connsiteY5-472" fmla="*/ 8019 h 8648"/>
                  <a:gd name="connsiteX6-473" fmla="*/ 4410 w 9651"/>
                  <a:gd name="connsiteY6-474" fmla="*/ 8467 h 8648"/>
                  <a:gd name="connsiteX7-475" fmla="*/ 48 w 9651"/>
                  <a:gd name="connsiteY7-476" fmla="*/ 5606 h 8648"/>
                  <a:gd name="connsiteX0-477" fmla="*/ 41 w 9991"/>
                  <a:gd name="connsiteY0-478" fmla="*/ 6482 h 9316"/>
                  <a:gd name="connsiteX1-479" fmla="*/ 2419 w 9991"/>
                  <a:gd name="connsiteY1-480" fmla="*/ 730 h 9316"/>
                  <a:gd name="connsiteX2-481" fmla="*/ 6523 w 9991"/>
                  <a:gd name="connsiteY2-482" fmla="*/ 191 h 9316"/>
                  <a:gd name="connsiteX3-483" fmla="*/ 9438 w 9991"/>
                  <a:gd name="connsiteY3-484" fmla="*/ 1745 h 9316"/>
                  <a:gd name="connsiteX4-485" fmla="*/ 9800 w 9991"/>
                  <a:gd name="connsiteY4-486" fmla="*/ 6104 h 9316"/>
                  <a:gd name="connsiteX5-487" fmla="*/ 7241 w 9991"/>
                  <a:gd name="connsiteY5-488" fmla="*/ 9273 h 9316"/>
                  <a:gd name="connsiteX6-489" fmla="*/ 1411 w 9991"/>
                  <a:gd name="connsiteY6-490" fmla="*/ 7856 h 9316"/>
                  <a:gd name="connsiteX7-491" fmla="*/ 41 w 9991"/>
                  <a:gd name="connsiteY7-492" fmla="*/ 6482 h 9316"/>
                  <a:gd name="connsiteX0-493" fmla="*/ 19 w 10708"/>
                  <a:gd name="connsiteY0-494" fmla="*/ 7721 h 10038"/>
                  <a:gd name="connsiteX1-495" fmla="*/ 3129 w 10708"/>
                  <a:gd name="connsiteY1-496" fmla="*/ 825 h 10038"/>
                  <a:gd name="connsiteX2-497" fmla="*/ 7237 w 10708"/>
                  <a:gd name="connsiteY2-498" fmla="*/ 246 h 10038"/>
                  <a:gd name="connsiteX3-499" fmla="*/ 10155 w 10708"/>
                  <a:gd name="connsiteY3-500" fmla="*/ 1914 h 10038"/>
                  <a:gd name="connsiteX4-501" fmla="*/ 10517 w 10708"/>
                  <a:gd name="connsiteY4-502" fmla="*/ 6593 h 10038"/>
                  <a:gd name="connsiteX5-503" fmla="*/ 7956 w 10708"/>
                  <a:gd name="connsiteY5-504" fmla="*/ 9995 h 10038"/>
                  <a:gd name="connsiteX6-505" fmla="*/ 2120 w 10708"/>
                  <a:gd name="connsiteY6-506" fmla="*/ 8474 h 10038"/>
                  <a:gd name="connsiteX7-507" fmla="*/ 19 w 10708"/>
                  <a:gd name="connsiteY7-508" fmla="*/ 7721 h 10038"/>
                  <a:gd name="connsiteX0-509" fmla="*/ 359 w 11048"/>
                  <a:gd name="connsiteY0-510" fmla="*/ 7721 h 10038"/>
                  <a:gd name="connsiteX1-511" fmla="*/ 3469 w 11048"/>
                  <a:gd name="connsiteY1-512" fmla="*/ 825 h 10038"/>
                  <a:gd name="connsiteX2-513" fmla="*/ 7577 w 11048"/>
                  <a:gd name="connsiteY2-514" fmla="*/ 246 h 10038"/>
                  <a:gd name="connsiteX3-515" fmla="*/ 10495 w 11048"/>
                  <a:gd name="connsiteY3-516" fmla="*/ 1914 h 10038"/>
                  <a:gd name="connsiteX4-517" fmla="*/ 10857 w 11048"/>
                  <a:gd name="connsiteY4-518" fmla="*/ 6593 h 10038"/>
                  <a:gd name="connsiteX5-519" fmla="*/ 8296 w 11048"/>
                  <a:gd name="connsiteY5-520" fmla="*/ 9995 h 10038"/>
                  <a:gd name="connsiteX6-521" fmla="*/ 2460 w 11048"/>
                  <a:gd name="connsiteY6-522" fmla="*/ 8474 h 10038"/>
                  <a:gd name="connsiteX7-523" fmla="*/ 359 w 11048"/>
                  <a:gd name="connsiteY7-524" fmla="*/ 7721 h 10038"/>
                  <a:gd name="connsiteX0-525" fmla="*/ 359 w 11048"/>
                  <a:gd name="connsiteY0-526" fmla="*/ 8392 h 10075"/>
                  <a:gd name="connsiteX1-527" fmla="*/ 3469 w 11048"/>
                  <a:gd name="connsiteY1-528" fmla="*/ 864 h 10075"/>
                  <a:gd name="connsiteX2-529" fmla="*/ 7577 w 11048"/>
                  <a:gd name="connsiteY2-530" fmla="*/ 285 h 10075"/>
                  <a:gd name="connsiteX3-531" fmla="*/ 10495 w 11048"/>
                  <a:gd name="connsiteY3-532" fmla="*/ 1953 h 10075"/>
                  <a:gd name="connsiteX4-533" fmla="*/ 10857 w 11048"/>
                  <a:gd name="connsiteY4-534" fmla="*/ 6632 h 10075"/>
                  <a:gd name="connsiteX5-535" fmla="*/ 8296 w 11048"/>
                  <a:gd name="connsiteY5-536" fmla="*/ 10034 h 10075"/>
                  <a:gd name="connsiteX6-537" fmla="*/ 2460 w 11048"/>
                  <a:gd name="connsiteY6-538" fmla="*/ 8513 h 10075"/>
                  <a:gd name="connsiteX7-539" fmla="*/ 359 w 11048"/>
                  <a:gd name="connsiteY7-540" fmla="*/ 8392 h 10075"/>
                  <a:gd name="connsiteX0-541" fmla="*/ 371 w 11060"/>
                  <a:gd name="connsiteY0-542" fmla="*/ 8392 h 10075"/>
                  <a:gd name="connsiteX1-543" fmla="*/ 3481 w 11060"/>
                  <a:gd name="connsiteY1-544" fmla="*/ 864 h 10075"/>
                  <a:gd name="connsiteX2-545" fmla="*/ 7589 w 11060"/>
                  <a:gd name="connsiteY2-546" fmla="*/ 285 h 10075"/>
                  <a:gd name="connsiteX3-547" fmla="*/ 10507 w 11060"/>
                  <a:gd name="connsiteY3-548" fmla="*/ 1953 h 10075"/>
                  <a:gd name="connsiteX4-549" fmla="*/ 10869 w 11060"/>
                  <a:gd name="connsiteY4-550" fmla="*/ 6632 h 10075"/>
                  <a:gd name="connsiteX5-551" fmla="*/ 8308 w 11060"/>
                  <a:gd name="connsiteY5-552" fmla="*/ 10034 h 10075"/>
                  <a:gd name="connsiteX6-553" fmla="*/ 2472 w 11060"/>
                  <a:gd name="connsiteY6-554" fmla="*/ 8513 h 10075"/>
                  <a:gd name="connsiteX7-555" fmla="*/ 371 w 11060"/>
                  <a:gd name="connsiteY7-556" fmla="*/ 8392 h 10075"/>
                  <a:gd name="connsiteX0-557" fmla="*/ 54 w 10743"/>
                  <a:gd name="connsiteY0-558" fmla="*/ 9468 h 11151"/>
                  <a:gd name="connsiteX1-559" fmla="*/ 4027 w 10743"/>
                  <a:gd name="connsiteY1-560" fmla="*/ 495 h 11151"/>
                  <a:gd name="connsiteX2-561" fmla="*/ 7272 w 10743"/>
                  <a:gd name="connsiteY2-562" fmla="*/ 1361 h 11151"/>
                  <a:gd name="connsiteX3-563" fmla="*/ 10190 w 10743"/>
                  <a:gd name="connsiteY3-564" fmla="*/ 3029 h 11151"/>
                  <a:gd name="connsiteX4-565" fmla="*/ 10552 w 10743"/>
                  <a:gd name="connsiteY4-566" fmla="*/ 7708 h 11151"/>
                  <a:gd name="connsiteX5-567" fmla="*/ 7991 w 10743"/>
                  <a:gd name="connsiteY5-568" fmla="*/ 11110 h 11151"/>
                  <a:gd name="connsiteX6-569" fmla="*/ 2155 w 10743"/>
                  <a:gd name="connsiteY6-570" fmla="*/ 9589 h 11151"/>
                  <a:gd name="connsiteX7-571" fmla="*/ 54 w 10743"/>
                  <a:gd name="connsiteY7-572" fmla="*/ 9468 h 11151"/>
                  <a:gd name="connsiteX0-573" fmla="*/ 54 w 10743"/>
                  <a:gd name="connsiteY0-574" fmla="*/ 9506 h 11189"/>
                  <a:gd name="connsiteX1-575" fmla="*/ 4027 w 10743"/>
                  <a:gd name="connsiteY1-576" fmla="*/ 533 h 11189"/>
                  <a:gd name="connsiteX2-577" fmla="*/ 7272 w 10743"/>
                  <a:gd name="connsiteY2-578" fmla="*/ 1399 h 11189"/>
                  <a:gd name="connsiteX3-579" fmla="*/ 10190 w 10743"/>
                  <a:gd name="connsiteY3-580" fmla="*/ 3067 h 11189"/>
                  <a:gd name="connsiteX4-581" fmla="*/ 10552 w 10743"/>
                  <a:gd name="connsiteY4-582" fmla="*/ 7746 h 11189"/>
                  <a:gd name="connsiteX5-583" fmla="*/ 7991 w 10743"/>
                  <a:gd name="connsiteY5-584" fmla="*/ 11148 h 11189"/>
                  <a:gd name="connsiteX6-585" fmla="*/ 2155 w 10743"/>
                  <a:gd name="connsiteY6-586" fmla="*/ 9627 h 11189"/>
                  <a:gd name="connsiteX7-587" fmla="*/ 54 w 10743"/>
                  <a:gd name="connsiteY7-588" fmla="*/ 9506 h 11189"/>
                  <a:gd name="connsiteX0-589" fmla="*/ 40 w 11293"/>
                  <a:gd name="connsiteY0-590" fmla="*/ 9082 h 11127"/>
                  <a:gd name="connsiteX1-591" fmla="*/ 4577 w 11293"/>
                  <a:gd name="connsiteY1-592" fmla="*/ 470 h 11127"/>
                  <a:gd name="connsiteX2-593" fmla="*/ 7822 w 11293"/>
                  <a:gd name="connsiteY2-594" fmla="*/ 1336 h 11127"/>
                  <a:gd name="connsiteX3-595" fmla="*/ 10740 w 11293"/>
                  <a:gd name="connsiteY3-596" fmla="*/ 3004 h 11127"/>
                  <a:gd name="connsiteX4-597" fmla="*/ 11102 w 11293"/>
                  <a:gd name="connsiteY4-598" fmla="*/ 7683 h 11127"/>
                  <a:gd name="connsiteX5-599" fmla="*/ 8541 w 11293"/>
                  <a:gd name="connsiteY5-600" fmla="*/ 11085 h 11127"/>
                  <a:gd name="connsiteX6-601" fmla="*/ 2705 w 11293"/>
                  <a:gd name="connsiteY6-602" fmla="*/ 9564 h 11127"/>
                  <a:gd name="connsiteX7-603" fmla="*/ 40 w 11293"/>
                  <a:gd name="connsiteY7-604" fmla="*/ 9082 h 1112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p:spPr>
            <p:txBody>
              <a:bodyPr wrap="none" anchor="ctr"/>
              <a:lstStyle/>
              <a:p>
                <a:endParaRPr lang="en-US"/>
              </a:p>
            </p:txBody>
          </p:sp>
          <p:grpSp>
            <p:nvGrpSpPr>
              <p:cNvPr id="370" name="Group 327"/>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76581" y="5223365"/>
                <a:ext cx="466894" cy="369332"/>
                <a:chOff x="599495" y="1708643"/>
                <a:chExt cx="491778" cy="409344"/>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99495" y="1708643"/>
                  <a:ext cx="491778" cy="409344"/>
                </a:xfrm>
                <a:prstGeom prst="rect">
                  <a:avLst/>
                </a:prstGeom>
                <a:noFill/>
              </p:spPr>
              <p:txBody>
                <a:bodyPr wrap="none" rtlCol="0">
                  <a:spAutoFit/>
                </a:bodyPr>
                <a:lstStyle/>
                <a:p>
                  <a:pPr algn="ctr"/>
                  <a:r>
                    <a:rPr lang="en-US" dirty="0"/>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chemeClr val="tx1"/>
              </a:solidFill>
              <a:prstDash val="solid"/>
              <a:round/>
              <a:headEnd type="none" w="med" len="med"/>
              <a:tailEnd type="none" w="med" len="med"/>
            </a:ln>
            <a:effectLst/>
          </p:spPr>
        </p:cxnSp>
      </p:grpSp>
      <p:grpSp>
        <p:nvGrpSpPr>
          <p:cNvPr id="7" name="Group 6"/>
          <p:cNvGrpSpPr/>
          <p:nvPr/>
        </p:nvGrpSpPr>
        <p:grpSpPr>
          <a:xfrm>
            <a:off x="5713444" y="2742076"/>
            <a:ext cx="1009362" cy="768350"/>
            <a:chOff x="5713444" y="2379268"/>
            <a:chExt cx="1009362" cy="768350"/>
          </a:xfrm>
        </p:grpSpPr>
        <p:sp>
          <p:nvSpPr>
            <p:cNvPr id="162850" name="AutoShape 118"/>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p:spPr>
          <p:txBody>
            <a:bodyPr wrap="none" anchor="ctr"/>
            <a:lstStyle/>
            <a:p>
              <a:endParaRPr lang="en-US"/>
            </a:p>
          </p:txBody>
        </p:sp>
        <p:sp>
          <p:nvSpPr>
            <p:cNvPr id="162851" name="Text Box 119"/>
            <p:cNvSpPr txBox="1">
              <a:spLocks noChangeArrowheads="1"/>
            </p:cNvSpPr>
            <p:nvPr/>
          </p:nvSpPr>
          <p:spPr bwMode="auto">
            <a:xfrm>
              <a:off x="5906829" y="2784958"/>
              <a:ext cx="815977" cy="30797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nSpc>
                  <a:spcPct val="85000"/>
                </a:lnSpc>
              </a:pPr>
              <a:r>
                <a:rPr lang="en-US" sz="1600" i="1" dirty="0">
                  <a:solidFill>
                    <a:srgbClr val="CC0000"/>
                  </a:solidFill>
                </a:rPr>
                <a:t>AS3,X </a:t>
              </a:r>
            </a:p>
          </p:txBody>
        </p:sp>
      </p:grpSp>
      <p:grpSp>
        <p:nvGrpSpPr>
          <p:cNvPr id="6" name="Group 5"/>
          <p:cNvGrpSpPr/>
          <p:nvPr/>
        </p:nvGrpSpPr>
        <p:grpSpPr>
          <a:xfrm>
            <a:off x="2028828" y="2801412"/>
            <a:ext cx="1260153" cy="888605"/>
            <a:chOff x="2028828" y="2438604"/>
            <a:chExt cx="1260153" cy="888605"/>
          </a:xfrm>
        </p:grpSpPr>
        <p:sp>
          <p:nvSpPr>
            <p:cNvPr id="332" name="Text Box 119"/>
            <p:cNvSpPr txBox="1">
              <a:spLocks noChangeArrowheads="1"/>
            </p:cNvSpPr>
            <p:nvPr/>
          </p:nvSpPr>
          <p:spPr bwMode="auto">
            <a:xfrm>
              <a:off x="2028828" y="3019432"/>
              <a:ext cx="1260153" cy="30777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nSpc>
                  <a:spcPct val="85000"/>
                </a:lnSpc>
              </a:pPr>
              <a:r>
                <a:rPr lang="en-US" sz="1600" i="1" dirty="0">
                  <a:solidFill>
                    <a:srgbClr val="CC0000"/>
                  </a:solidFill>
                </a:rPr>
                <a:t>AS2,AS3,X </a:t>
              </a:r>
            </a:p>
          </p:txBody>
        </p:sp>
        <p:sp>
          <p:nvSpPr>
            <p:cNvPr id="327" name="AutoShape 118"/>
            <p:cNvSpPr>
              <a:spLocks noChangeArrowheads="1"/>
            </p:cNvSpPr>
            <p:nvPr/>
          </p:nvSpPr>
          <p:spPr bwMode="auto">
            <a:xfrm rot="3445218">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p:spPr>
          <p:txBody>
            <a:bodyPr wrap="none" anchor="ctr"/>
            <a:lstStyle/>
            <a:p>
              <a:endParaRPr lang="en-US"/>
            </a:p>
          </p:txBody>
        </p:sp>
      </p:grpSp>
      <p:grpSp>
        <p:nvGrpSpPr>
          <p:cNvPr id="5" name="Group 4"/>
          <p:cNvGrpSpPr/>
          <p:nvPr/>
        </p:nvGrpSpPr>
        <p:grpSpPr>
          <a:xfrm>
            <a:off x="1400150" y="2281383"/>
            <a:ext cx="1113456" cy="802903"/>
            <a:chOff x="4057381" y="2820739"/>
            <a:chExt cx="1113456" cy="802903"/>
          </a:xfrm>
        </p:grpSpPr>
        <p:cxnSp>
          <p:nvCxnSpPr>
            <p:cNvPr id="3" name="Straight Arrow Connector 2"/>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p:spPr>
        </p:cxnSp>
        <p:cxnSp>
          <p:nvCxnSpPr>
            <p:cNvPr id="330" name="Straight Arrow Connector 329"/>
            <p:cNvCxnSpPr/>
            <p:nvPr/>
          </p:nvCxnSpPr>
          <p:spPr bwMode="auto">
            <a:xfrm flipH="1" flipV="1">
              <a:off x="4057381" y="3181458"/>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p:spPr>
        </p:cxnSp>
        <p:cxnSp>
          <p:nvCxnSpPr>
            <p:cNvPr id="331" name="Straight Arrow Connector 330"/>
            <p:cNvCxnSpPr/>
            <p:nvPr/>
          </p:nvCxnSpPr>
          <p:spPr bwMode="auto">
            <a:xfrm flipH="1">
              <a:off x="4741068" y="3344630"/>
              <a:ext cx="409376" cy="279012"/>
            </a:xfrm>
            <a:prstGeom prst="straightConnector1">
              <a:avLst/>
            </a:prstGeom>
            <a:solidFill>
              <a:schemeClr val="accent1"/>
            </a:solidFill>
            <a:ln w="25400" cap="flat" cmpd="sng" algn="ctr">
              <a:solidFill>
                <a:srgbClr val="CC0000"/>
              </a:solidFill>
              <a:prstDash val="solid"/>
              <a:round/>
              <a:headEnd type="none" w="med" len="med"/>
              <a:tailEnd type="triangle"/>
            </a:ln>
            <a:effectLst/>
          </p:spPr>
        </p:cxnSp>
      </p:grpSp>
      <p:cxnSp>
        <p:nvCxnSpPr>
          <p:cNvPr id="325" name="Straight Connector 324"/>
          <p:cNvCxnSpPr>
            <a:stCxn id="148" idx="1"/>
          </p:cNvCxnSpPr>
          <p:nvPr/>
        </p:nvCxnSpPr>
        <p:spPr bwMode="auto">
          <a:xfrm flipH="1">
            <a:off x="3046901" y="2522161"/>
            <a:ext cx="2716814" cy="143913"/>
          </a:xfrm>
          <a:prstGeom prst="line">
            <a:avLst/>
          </a:prstGeom>
          <a:solidFill>
            <a:schemeClr val="accent1"/>
          </a:solidFill>
          <a:ln w="38100" cap="flat" cmpd="sng" algn="ctr">
            <a:solidFill>
              <a:schemeClr val="tx1"/>
            </a:solidFill>
            <a:prstDash val="solid"/>
            <a:round/>
            <a:headEnd type="none" w="med" len="med"/>
            <a:tailEnd type="none" w="med" len="med"/>
          </a:ln>
          <a:effectLst/>
        </p:spPr>
      </p:cxnSp>
      <p:grpSp>
        <p:nvGrpSpPr>
          <p:cNvPr id="4" name="Group 3"/>
          <p:cNvGrpSpPr/>
          <p:nvPr/>
        </p:nvGrpSpPr>
        <p:grpSpPr>
          <a:xfrm>
            <a:off x="4617960" y="1984134"/>
            <a:ext cx="968155" cy="547957"/>
            <a:chOff x="4617960" y="1621326"/>
            <a:chExt cx="968155" cy="547957"/>
          </a:xfrm>
        </p:grpSpPr>
        <p:sp>
          <p:nvSpPr>
            <p:cNvPr id="329" name="AutoShape 118"/>
            <p:cNvSpPr>
              <a:spLocks noChangeArrowheads="1"/>
            </p:cNvSpPr>
            <p:nvPr/>
          </p:nvSpPr>
          <p:spPr bwMode="auto">
            <a:xfrm rot="21413181">
              <a:off x="4617960" y="1893058"/>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p:spPr>
          <p:txBody>
            <a:bodyPr wrap="none" anchor="ctr"/>
            <a:lstStyle/>
            <a:p>
              <a:endParaRPr lang="en-US"/>
            </a:p>
          </p:txBody>
        </p:sp>
        <p:sp>
          <p:nvSpPr>
            <p:cNvPr id="2" name="TextBox 1"/>
            <p:cNvSpPr txBox="1"/>
            <p:nvPr/>
          </p:nvSpPr>
          <p:spPr>
            <a:xfrm rot="21418560">
              <a:off x="4770795" y="1621326"/>
              <a:ext cx="815320" cy="338554"/>
            </a:xfrm>
            <a:prstGeom prst="rect">
              <a:avLst/>
            </a:prstGeom>
            <a:noFill/>
          </p:spPr>
          <p:txBody>
            <a:bodyPr wrap="none" rtlCol="0">
              <a:spAutoFit/>
            </a:bodyPr>
            <a:lstStyle/>
            <a:p>
              <a:r>
                <a:rPr lang="en-US" sz="1600" i="1" dirty="0">
                  <a:solidFill>
                    <a:srgbClr val="CC0000"/>
                  </a:solidFill>
                </a:rPr>
                <a:t>AS3,X</a:t>
              </a:r>
            </a:p>
          </p:txBody>
        </p:sp>
      </p:grpSp>
      <p:sp>
        <p:nvSpPr>
          <p:cNvPr id="334" name="Rectangle 4"/>
          <p:cNvSpPr txBox="1">
            <a:spLocks noChangeArrowheads="1"/>
          </p:cNvSpPr>
          <p:nvPr/>
        </p:nvSpPr>
        <p:spPr bwMode="auto">
          <a:xfrm>
            <a:off x="2908935" y="5447030"/>
            <a:ext cx="5994400" cy="1028700"/>
          </a:xfrm>
          <a:prstGeom prst="rect">
            <a:avLst/>
          </a:prstGeom>
          <a:noFill/>
          <a:ln>
            <a:noFill/>
          </a:ln>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pPr marL="294005" indent="-294005">
              <a:lnSpc>
                <a:spcPct val="90000"/>
              </a:lnSpc>
            </a:pPr>
            <a:r>
              <a:rPr lang="en-US" sz="2000" dirty="0">
                <a:latin typeface="Arial" panose="020B0604020202090204"/>
                <a:cs typeface="Arial" panose="020B0604020202090204"/>
              </a:rPr>
              <a:t>1</a:t>
            </a:r>
            <a:r>
              <a:rPr lang="en-US" sz="2000" dirty="0">
                <a:latin typeface="Gill Sans MT" pitchFamily="34" charset="0"/>
              </a:rPr>
              <a:t>d: OSPF intra-domain routing: to get to </a:t>
            </a:r>
            <a:r>
              <a:rPr lang="en-US" sz="2000" dirty="0">
                <a:latin typeface="Arial" panose="020B0604020202090204"/>
                <a:cs typeface="Arial" panose="020B0604020202090204"/>
              </a:rPr>
              <a:t>1</a:t>
            </a:r>
            <a:r>
              <a:rPr lang="en-US" sz="2000" dirty="0">
                <a:latin typeface="Gill Sans MT" pitchFamily="34" charset="0"/>
              </a:rPr>
              <a:t>c, forward over outgoing local interface </a:t>
            </a:r>
            <a:r>
              <a:rPr lang="en-US" sz="2000" dirty="0">
                <a:latin typeface="Arial" panose="020B0604020202090204"/>
                <a:cs typeface="Arial" panose="020B0604020202090204"/>
              </a:rPr>
              <a:t>1</a:t>
            </a:r>
          </a:p>
        </p:txBody>
      </p:sp>
      <p:sp>
        <p:nvSpPr>
          <p:cNvPr id="328" name="TextBox 327"/>
          <p:cNvSpPr txBox="1"/>
          <p:nvPr/>
        </p:nvSpPr>
        <p:spPr>
          <a:xfrm rot="21418560">
            <a:off x="2282548" y="2116378"/>
            <a:ext cx="815320" cy="338554"/>
          </a:xfrm>
          <a:prstGeom prst="rect">
            <a:avLst/>
          </a:prstGeom>
          <a:noFill/>
        </p:spPr>
        <p:txBody>
          <a:bodyPr wrap="none" rtlCol="0">
            <a:spAutoFit/>
          </a:bodyPr>
          <a:lstStyle/>
          <a:p>
            <a:r>
              <a:rPr lang="en-US" sz="1600" i="1" dirty="0">
                <a:solidFill>
                  <a:srgbClr val="CC0000"/>
                </a:solidFill>
              </a:rPr>
              <a:t>AS3,X</a:t>
            </a:r>
          </a:p>
        </p:txBody>
      </p:sp>
      <p:sp>
        <p:nvSpPr>
          <p:cNvPr id="8" name="TextBox 7"/>
          <p:cNvSpPr txBox="1"/>
          <p:nvPr/>
        </p:nvSpPr>
        <p:spPr>
          <a:xfrm>
            <a:off x="604729" y="1189190"/>
            <a:ext cx="7270064" cy="400110"/>
          </a:xfrm>
          <a:prstGeom prst="rect">
            <a:avLst/>
          </a:prstGeom>
          <a:noFill/>
        </p:spPr>
        <p:txBody>
          <a:bodyPr wrap="none" rtlCol="0">
            <a:spAutoFit/>
          </a:bodyPr>
          <a:lstStyle/>
          <a:p>
            <a:r>
              <a:rPr lang="en-US" sz="2000" dirty="0">
                <a:solidFill>
                  <a:srgbClr val="000090"/>
                </a:solidFill>
              </a:rPr>
              <a:t>Q: how does router set forwarding table entry to distant prefix?</a:t>
            </a:r>
          </a:p>
        </p:txBody>
      </p:sp>
      <p:grpSp>
        <p:nvGrpSpPr>
          <p:cNvPr id="14" name="Group 13"/>
          <p:cNvGrpSpPr/>
          <p:nvPr/>
        </p:nvGrpSpPr>
        <p:grpSpPr>
          <a:xfrm>
            <a:off x="1149470" y="2245331"/>
            <a:ext cx="1300492" cy="1068501"/>
            <a:chOff x="1149470" y="2245331"/>
            <a:chExt cx="1300492" cy="1068501"/>
          </a:xfrm>
        </p:grpSpPr>
        <p:sp>
          <p:nvSpPr>
            <p:cNvPr id="9" name="TextBox 8"/>
            <p:cNvSpPr txBox="1"/>
            <p:nvPr/>
          </p:nvSpPr>
          <p:spPr>
            <a:xfrm>
              <a:off x="2165447" y="2998844"/>
              <a:ext cx="284515" cy="307777"/>
            </a:xfrm>
            <a:prstGeom prst="rect">
              <a:avLst/>
            </a:prstGeom>
            <a:noFill/>
          </p:spPr>
          <p:txBody>
            <a:bodyPr wrap="none" rtlCol="0">
              <a:spAutoFit/>
            </a:bodyPr>
            <a:lstStyle/>
            <a:p>
              <a:r>
                <a:rPr lang="en-US" sz="1400" dirty="0"/>
                <a:t>1</a:t>
              </a:r>
            </a:p>
          </p:txBody>
        </p:sp>
        <p:sp>
          <p:nvSpPr>
            <p:cNvPr id="336" name="TextBox 335"/>
            <p:cNvSpPr txBox="1"/>
            <p:nvPr/>
          </p:nvSpPr>
          <p:spPr>
            <a:xfrm>
              <a:off x="1458923" y="3006055"/>
              <a:ext cx="284515" cy="307777"/>
            </a:xfrm>
            <a:prstGeom prst="rect">
              <a:avLst/>
            </a:prstGeom>
            <a:noFill/>
          </p:spPr>
          <p:txBody>
            <a:bodyPr wrap="none" rtlCol="0">
              <a:spAutoFit/>
            </a:bodyPr>
            <a:lstStyle/>
            <a:p>
              <a:r>
                <a:rPr lang="en-US" sz="1400" dirty="0"/>
                <a:t>2</a:t>
              </a:r>
            </a:p>
          </p:txBody>
        </p:sp>
        <p:sp>
          <p:nvSpPr>
            <p:cNvPr id="338" name="TextBox 337"/>
            <p:cNvSpPr txBox="1"/>
            <p:nvPr/>
          </p:nvSpPr>
          <p:spPr>
            <a:xfrm>
              <a:off x="1149470" y="2245331"/>
              <a:ext cx="284515" cy="307777"/>
            </a:xfrm>
            <a:prstGeom prst="rect">
              <a:avLst/>
            </a:prstGeom>
            <a:noFill/>
          </p:spPr>
          <p:txBody>
            <a:bodyPr wrap="none" rtlCol="0">
              <a:spAutoFit/>
            </a:bodyPr>
            <a:lstStyle/>
            <a:p>
              <a:r>
                <a:rPr lang="en-US" sz="1400" dirty="0"/>
                <a:t>1</a:t>
              </a:r>
            </a:p>
          </p:txBody>
        </p:sp>
        <p:sp>
          <p:nvSpPr>
            <p:cNvPr id="339" name="TextBox 338"/>
            <p:cNvSpPr txBox="1"/>
            <p:nvPr/>
          </p:nvSpPr>
          <p:spPr>
            <a:xfrm>
              <a:off x="1339883" y="2623598"/>
              <a:ext cx="284515" cy="307777"/>
            </a:xfrm>
            <a:prstGeom prst="rect">
              <a:avLst/>
            </a:prstGeom>
            <a:noFill/>
          </p:spPr>
          <p:txBody>
            <a:bodyPr wrap="none" rtlCol="0">
              <a:spAutoFit/>
            </a:bodyPr>
            <a:lstStyle/>
            <a:p>
              <a:r>
                <a:rPr lang="en-US" sz="1400" dirty="0"/>
                <a:t>2</a:t>
              </a:r>
            </a:p>
          </p:txBody>
        </p:sp>
      </p:grpSp>
      <p:grpSp>
        <p:nvGrpSpPr>
          <p:cNvPr id="13" name="Group 12"/>
          <p:cNvGrpSpPr/>
          <p:nvPr/>
        </p:nvGrpSpPr>
        <p:grpSpPr>
          <a:xfrm>
            <a:off x="537654" y="3379309"/>
            <a:ext cx="1694528" cy="2911109"/>
            <a:chOff x="537654" y="3379309"/>
            <a:chExt cx="1694528" cy="2911109"/>
          </a:xfrm>
        </p:grpSpPr>
        <p:sp>
          <p:nvSpPr>
            <p:cNvPr id="469" name="Freeform 468"/>
            <p:cNvSpPr/>
            <p:nvPr/>
          </p:nvSpPr>
          <p:spPr>
            <a:xfrm rot="10326036" flipH="1">
              <a:off x="771808" y="3379309"/>
              <a:ext cx="1333280" cy="959366"/>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1040633"/>
                <a:gd name="connsiteY0-162" fmla="*/ 1160935 h 1160935"/>
                <a:gd name="connsiteX1-163" fmla="*/ 0 w 1040633"/>
                <a:gd name="connsiteY1-164" fmla="*/ 0 h 1160935"/>
                <a:gd name="connsiteX2-165" fmla="*/ 1040633 w 1040633"/>
                <a:gd name="connsiteY2-166" fmla="*/ 16785 h 1160935"/>
                <a:gd name="connsiteX3-167" fmla="*/ 569478 w 1040633"/>
                <a:gd name="connsiteY3-168" fmla="*/ 1158121 h 1160935"/>
                <a:gd name="connsiteX4-169" fmla="*/ 363082 w 1040633"/>
                <a:gd name="connsiteY4-170" fmla="*/ 1160935 h 1160935"/>
                <a:gd name="connsiteX0-171" fmla="*/ 363082 w 1040633"/>
                <a:gd name="connsiteY0-172" fmla="*/ 1160935 h 1160935"/>
                <a:gd name="connsiteX1-173" fmla="*/ 0 w 1040633"/>
                <a:gd name="connsiteY1-174" fmla="*/ 0 h 1160935"/>
                <a:gd name="connsiteX2-175" fmla="*/ 1040633 w 1040633"/>
                <a:gd name="connsiteY2-176" fmla="*/ 16785 h 1160935"/>
                <a:gd name="connsiteX3-177" fmla="*/ 569478 w 1040633"/>
                <a:gd name="connsiteY3-178" fmla="*/ 1158121 h 1160935"/>
                <a:gd name="connsiteX4-179" fmla="*/ 363082 w 1040633"/>
                <a:gd name="connsiteY4-180" fmla="*/ 1160935 h 1160935"/>
                <a:gd name="connsiteX0-181" fmla="*/ 448507 w 1040633"/>
                <a:gd name="connsiteY0-182" fmla="*/ 1160935 h 1160935"/>
                <a:gd name="connsiteX1-183" fmla="*/ 0 w 1040633"/>
                <a:gd name="connsiteY1-184" fmla="*/ 0 h 1160935"/>
                <a:gd name="connsiteX2-185" fmla="*/ 1040633 w 1040633"/>
                <a:gd name="connsiteY2-186" fmla="*/ 16785 h 1160935"/>
                <a:gd name="connsiteX3-187" fmla="*/ 569478 w 1040633"/>
                <a:gd name="connsiteY3-188" fmla="*/ 1158121 h 1160935"/>
                <a:gd name="connsiteX4-189" fmla="*/ 448507 w 1040633"/>
                <a:gd name="connsiteY4-190" fmla="*/ 1160935 h 1160935"/>
                <a:gd name="connsiteX0-191" fmla="*/ 448507 w 1040633"/>
                <a:gd name="connsiteY0-192" fmla="*/ 1160935 h 1160935"/>
                <a:gd name="connsiteX1-193" fmla="*/ 0 w 1040633"/>
                <a:gd name="connsiteY1-194" fmla="*/ 0 h 1160935"/>
                <a:gd name="connsiteX2-195" fmla="*/ 1040633 w 1040633"/>
                <a:gd name="connsiteY2-196" fmla="*/ 16785 h 1160935"/>
                <a:gd name="connsiteX3-197" fmla="*/ 569478 w 1040633"/>
                <a:gd name="connsiteY3-198" fmla="*/ 1158121 h 1160935"/>
                <a:gd name="connsiteX4-199" fmla="*/ 448507 w 1040633"/>
                <a:gd name="connsiteY4-200" fmla="*/ 1160935 h 1160935"/>
                <a:gd name="connsiteX0-201" fmla="*/ 448507 w 1040633"/>
                <a:gd name="connsiteY0-202" fmla="*/ 1160935 h 1160935"/>
                <a:gd name="connsiteX1-203" fmla="*/ 0 w 1040633"/>
                <a:gd name="connsiteY1-204" fmla="*/ 0 h 1160935"/>
                <a:gd name="connsiteX2-205" fmla="*/ 1040633 w 1040633"/>
                <a:gd name="connsiteY2-206" fmla="*/ 16785 h 1160935"/>
                <a:gd name="connsiteX3-207" fmla="*/ 569478 w 1040633"/>
                <a:gd name="connsiteY3-208" fmla="*/ 1158121 h 1160935"/>
                <a:gd name="connsiteX4-209" fmla="*/ 448507 w 1040633"/>
                <a:gd name="connsiteY4-210" fmla="*/ 1160935 h 1160935"/>
                <a:gd name="connsiteX0-211" fmla="*/ 448507 w 1325315"/>
                <a:gd name="connsiteY0-212" fmla="*/ 1160935 h 1160935"/>
                <a:gd name="connsiteX1-213" fmla="*/ 0 w 1325315"/>
                <a:gd name="connsiteY1-214" fmla="*/ 0 h 1160935"/>
                <a:gd name="connsiteX2-215" fmla="*/ 1040633 w 1325315"/>
                <a:gd name="connsiteY2-216" fmla="*/ 16785 h 1160935"/>
                <a:gd name="connsiteX3-217" fmla="*/ 1214315 w 1325315"/>
                <a:gd name="connsiteY3-218" fmla="*/ 1064597 h 1160935"/>
                <a:gd name="connsiteX4-219" fmla="*/ 448507 w 1325315"/>
                <a:gd name="connsiteY4-220" fmla="*/ 1160935 h 1160935"/>
                <a:gd name="connsiteX0-221" fmla="*/ 448507 w 1214315"/>
                <a:gd name="connsiteY0-222" fmla="*/ 1160935 h 1160935"/>
                <a:gd name="connsiteX1-223" fmla="*/ 0 w 1214315"/>
                <a:gd name="connsiteY1-224" fmla="*/ 0 h 1160935"/>
                <a:gd name="connsiteX2-225" fmla="*/ 1040633 w 1214315"/>
                <a:gd name="connsiteY2-226" fmla="*/ 16785 h 1160935"/>
                <a:gd name="connsiteX3-227" fmla="*/ 1214315 w 1214315"/>
                <a:gd name="connsiteY3-228" fmla="*/ 1064597 h 1160935"/>
                <a:gd name="connsiteX4-229" fmla="*/ 448507 w 1214315"/>
                <a:gd name="connsiteY4-230" fmla="*/ 1160935 h 1160935"/>
                <a:gd name="connsiteX0-231" fmla="*/ 448507 w 1214315"/>
                <a:gd name="connsiteY0-232" fmla="*/ 1160935 h 1160935"/>
                <a:gd name="connsiteX1-233" fmla="*/ 0 w 1214315"/>
                <a:gd name="connsiteY1-234" fmla="*/ 0 h 1160935"/>
                <a:gd name="connsiteX2-235" fmla="*/ 1040633 w 1214315"/>
                <a:gd name="connsiteY2-236" fmla="*/ 16785 h 1160935"/>
                <a:gd name="connsiteX3-237" fmla="*/ 1214315 w 1214315"/>
                <a:gd name="connsiteY3-238" fmla="*/ 1064597 h 1160935"/>
                <a:gd name="connsiteX4-239" fmla="*/ 448507 w 1214315"/>
                <a:gd name="connsiteY4-240" fmla="*/ 1160935 h 1160935"/>
                <a:gd name="connsiteX0-241" fmla="*/ 1053964 w 1214315"/>
                <a:gd name="connsiteY0-242" fmla="*/ 1136323 h 1136323"/>
                <a:gd name="connsiteX1-243" fmla="*/ 0 w 1214315"/>
                <a:gd name="connsiteY1-244" fmla="*/ 0 h 1136323"/>
                <a:gd name="connsiteX2-245" fmla="*/ 1040633 w 1214315"/>
                <a:gd name="connsiteY2-246" fmla="*/ 16785 h 1136323"/>
                <a:gd name="connsiteX3-247" fmla="*/ 1214315 w 1214315"/>
                <a:gd name="connsiteY3-248" fmla="*/ 1064597 h 1136323"/>
                <a:gd name="connsiteX4-249" fmla="*/ 1053964 w 1214315"/>
                <a:gd name="connsiteY4-250" fmla="*/ 1136323 h 1136323"/>
                <a:gd name="connsiteX0-251" fmla="*/ 1053964 w 1214315"/>
                <a:gd name="connsiteY0-252" fmla="*/ 1136323 h 1136323"/>
                <a:gd name="connsiteX1-253" fmla="*/ 0 w 1214315"/>
                <a:gd name="connsiteY1-254" fmla="*/ 0 h 1136323"/>
                <a:gd name="connsiteX2-255" fmla="*/ 1040633 w 1214315"/>
                <a:gd name="connsiteY2-256" fmla="*/ 16785 h 1136323"/>
                <a:gd name="connsiteX3-257" fmla="*/ 1214315 w 1214315"/>
                <a:gd name="connsiteY3-258" fmla="*/ 1064597 h 1136323"/>
                <a:gd name="connsiteX4-259" fmla="*/ 1053964 w 1214315"/>
                <a:gd name="connsiteY4-260" fmla="*/ 1136323 h 1136323"/>
                <a:gd name="connsiteX0-261" fmla="*/ 1053964 w 1214315"/>
                <a:gd name="connsiteY0-262" fmla="*/ 1136323 h 1136323"/>
                <a:gd name="connsiteX1-263" fmla="*/ 0 w 1214315"/>
                <a:gd name="connsiteY1-264" fmla="*/ 0 h 1136323"/>
                <a:gd name="connsiteX2-265" fmla="*/ 1040633 w 1214315"/>
                <a:gd name="connsiteY2-266" fmla="*/ 16785 h 1136323"/>
                <a:gd name="connsiteX3-267" fmla="*/ 1214315 w 1214315"/>
                <a:gd name="connsiteY3-268" fmla="*/ 1064597 h 1136323"/>
                <a:gd name="connsiteX4-269" fmla="*/ 1053964 w 1214315"/>
                <a:gd name="connsiteY4-270" fmla="*/ 1136323 h 1136323"/>
                <a:gd name="connsiteX0-271" fmla="*/ 1060159 w 1220510"/>
                <a:gd name="connsiteY0-272" fmla="*/ 1119627 h 1119627"/>
                <a:gd name="connsiteX1-273" fmla="*/ 0 w 1220510"/>
                <a:gd name="connsiteY1-274" fmla="*/ 249694 h 1119627"/>
                <a:gd name="connsiteX2-275" fmla="*/ 1046828 w 1220510"/>
                <a:gd name="connsiteY2-276" fmla="*/ 89 h 1119627"/>
                <a:gd name="connsiteX3-277" fmla="*/ 1220510 w 1220510"/>
                <a:gd name="connsiteY3-278" fmla="*/ 1047901 h 1119627"/>
                <a:gd name="connsiteX4-279" fmla="*/ 1060159 w 1220510"/>
                <a:gd name="connsiteY4-280" fmla="*/ 1119627 h 1119627"/>
                <a:gd name="connsiteX0-281" fmla="*/ 1060159 w 1220510"/>
                <a:gd name="connsiteY0-282" fmla="*/ 1119627 h 1119627"/>
                <a:gd name="connsiteX1-283" fmla="*/ 0 w 1220510"/>
                <a:gd name="connsiteY1-284" fmla="*/ 249694 h 1119627"/>
                <a:gd name="connsiteX2-285" fmla="*/ 1046828 w 1220510"/>
                <a:gd name="connsiteY2-286" fmla="*/ 89 h 1119627"/>
                <a:gd name="connsiteX3-287" fmla="*/ 1220510 w 1220510"/>
                <a:gd name="connsiteY3-288" fmla="*/ 1047901 h 1119627"/>
                <a:gd name="connsiteX4-289" fmla="*/ 1060159 w 1220510"/>
                <a:gd name="connsiteY4-290" fmla="*/ 1119627 h 1119627"/>
                <a:gd name="connsiteX0-291" fmla="*/ 1060159 w 1220510"/>
                <a:gd name="connsiteY0-292" fmla="*/ 1119627 h 1119627"/>
                <a:gd name="connsiteX1-293" fmla="*/ 0 w 1220510"/>
                <a:gd name="connsiteY1-294" fmla="*/ 249694 h 1119627"/>
                <a:gd name="connsiteX2-295" fmla="*/ 1046828 w 1220510"/>
                <a:gd name="connsiteY2-296" fmla="*/ 89 h 1119627"/>
                <a:gd name="connsiteX3-297" fmla="*/ 1220510 w 1220510"/>
                <a:gd name="connsiteY3-298" fmla="*/ 1047901 h 1119627"/>
                <a:gd name="connsiteX4-299" fmla="*/ 1060159 w 1220510"/>
                <a:gd name="connsiteY4-300" fmla="*/ 1119627 h 1119627"/>
                <a:gd name="connsiteX0-301" fmla="*/ 1060159 w 1220510"/>
                <a:gd name="connsiteY0-302" fmla="*/ 921649 h 921649"/>
                <a:gd name="connsiteX1-303" fmla="*/ 0 w 1220510"/>
                <a:gd name="connsiteY1-304" fmla="*/ 51716 h 921649"/>
                <a:gd name="connsiteX2-305" fmla="*/ 1059218 w 1220510"/>
                <a:gd name="connsiteY2-306" fmla="*/ 355 h 921649"/>
                <a:gd name="connsiteX3-307" fmla="*/ 1220510 w 1220510"/>
                <a:gd name="connsiteY3-308" fmla="*/ 849923 h 921649"/>
                <a:gd name="connsiteX4-309" fmla="*/ 1060159 w 1220510"/>
                <a:gd name="connsiteY4-310" fmla="*/ 921649 h 921649"/>
                <a:gd name="connsiteX0-311" fmla="*/ 1060159 w 1220510"/>
                <a:gd name="connsiteY0-312" fmla="*/ 921649 h 921649"/>
                <a:gd name="connsiteX1-313" fmla="*/ 0 w 1220510"/>
                <a:gd name="connsiteY1-314" fmla="*/ 51716 h 921649"/>
                <a:gd name="connsiteX2-315" fmla="*/ 1059218 w 1220510"/>
                <a:gd name="connsiteY2-316" fmla="*/ 355 h 921649"/>
                <a:gd name="connsiteX3-317" fmla="*/ 1220510 w 1220510"/>
                <a:gd name="connsiteY3-318" fmla="*/ 849923 h 921649"/>
                <a:gd name="connsiteX4-319" fmla="*/ 1060159 w 1220510"/>
                <a:gd name="connsiteY4-320" fmla="*/ 921649 h 921649"/>
                <a:gd name="connsiteX0-321" fmla="*/ 1060159 w 1220510"/>
                <a:gd name="connsiteY0-322" fmla="*/ 921649 h 921649"/>
                <a:gd name="connsiteX1-323" fmla="*/ 0 w 1220510"/>
                <a:gd name="connsiteY1-324" fmla="*/ 51716 h 921649"/>
                <a:gd name="connsiteX2-325" fmla="*/ 1059218 w 1220510"/>
                <a:gd name="connsiteY2-326" fmla="*/ 355 h 921649"/>
                <a:gd name="connsiteX3-327" fmla="*/ 1220510 w 1220510"/>
                <a:gd name="connsiteY3-328" fmla="*/ 849923 h 921649"/>
                <a:gd name="connsiteX4-329" fmla="*/ 1060159 w 1220510"/>
                <a:gd name="connsiteY4-330" fmla="*/ 921649 h 921649"/>
                <a:gd name="connsiteX0-331" fmla="*/ 1006934 w 1167285"/>
                <a:gd name="connsiteY0-332" fmla="*/ 967578 h 967578"/>
                <a:gd name="connsiteX1-333" fmla="*/ 0 w 1167285"/>
                <a:gd name="connsiteY1-334" fmla="*/ 0 h 967578"/>
                <a:gd name="connsiteX2-335" fmla="*/ 1005993 w 1167285"/>
                <a:gd name="connsiteY2-336" fmla="*/ 46284 h 967578"/>
                <a:gd name="connsiteX3-337" fmla="*/ 1167285 w 1167285"/>
                <a:gd name="connsiteY3-338" fmla="*/ 895852 h 967578"/>
                <a:gd name="connsiteX4-339" fmla="*/ 1006934 w 1167285"/>
                <a:gd name="connsiteY4-340" fmla="*/ 967578 h 967578"/>
                <a:gd name="connsiteX0-341" fmla="*/ 1006934 w 1167285"/>
                <a:gd name="connsiteY0-342" fmla="*/ 1132232 h 1132232"/>
                <a:gd name="connsiteX1-343" fmla="*/ 0 w 1167285"/>
                <a:gd name="connsiteY1-344" fmla="*/ 164654 h 1132232"/>
                <a:gd name="connsiteX2-345" fmla="*/ 991394 w 1167285"/>
                <a:gd name="connsiteY2-346" fmla="*/ 130 h 1132232"/>
                <a:gd name="connsiteX3-347" fmla="*/ 1167285 w 1167285"/>
                <a:gd name="connsiteY3-348" fmla="*/ 1060506 h 1132232"/>
                <a:gd name="connsiteX4-349" fmla="*/ 1006934 w 1167285"/>
                <a:gd name="connsiteY4-350" fmla="*/ 1132232 h 1132232"/>
                <a:gd name="connsiteX0-351" fmla="*/ 986900 w 1167285"/>
                <a:gd name="connsiteY0-352" fmla="*/ 1088164 h 1088164"/>
                <a:gd name="connsiteX1-353" fmla="*/ 0 w 1167285"/>
                <a:gd name="connsiteY1-354" fmla="*/ 164654 h 1088164"/>
                <a:gd name="connsiteX2-355" fmla="*/ 991394 w 1167285"/>
                <a:gd name="connsiteY2-356" fmla="*/ 130 h 1088164"/>
                <a:gd name="connsiteX3-357" fmla="*/ 1167285 w 1167285"/>
                <a:gd name="connsiteY3-358" fmla="*/ 1060506 h 1088164"/>
                <a:gd name="connsiteX4-359" fmla="*/ 986900 w 1167285"/>
                <a:gd name="connsiteY4-360" fmla="*/ 1088164 h 1088164"/>
                <a:gd name="connsiteX0-361" fmla="*/ 986900 w 1167285"/>
                <a:gd name="connsiteY0-362" fmla="*/ 1088164 h 1088164"/>
                <a:gd name="connsiteX1-363" fmla="*/ 0 w 1167285"/>
                <a:gd name="connsiteY1-364" fmla="*/ 164654 h 1088164"/>
                <a:gd name="connsiteX2-365" fmla="*/ 991394 w 1167285"/>
                <a:gd name="connsiteY2-366" fmla="*/ 130 h 1088164"/>
                <a:gd name="connsiteX3-367" fmla="*/ 1167285 w 1167285"/>
                <a:gd name="connsiteY3-368" fmla="*/ 1060506 h 1088164"/>
                <a:gd name="connsiteX4-369" fmla="*/ 986900 w 1167285"/>
                <a:gd name="connsiteY4-370" fmla="*/ 1088164 h 1088164"/>
                <a:gd name="connsiteX0-371" fmla="*/ 986900 w 1332977"/>
                <a:gd name="connsiteY0-372" fmla="*/ 1088164 h 1088164"/>
                <a:gd name="connsiteX1-373" fmla="*/ 0 w 1332977"/>
                <a:gd name="connsiteY1-374" fmla="*/ 164654 h 1088164"/>
                <a:gd name="connsiteX2-375" fmla="*/ 991394 w 1332977"/>
                <a:gd name="connsiteY2-376" fmla="*/ 130 h 1088164"/>
                <a:gd name="connsiteX3-377" fmla="*/ 1332977 w 1332977"/>
                <a:gd name="connsiteY3-378" fmla="*/ 1045574 h 1088164"/>
                <a:gd name="connsiteX4-379" fmla="*/ 986900 w 1332977"/>
                <a:gd name="connsiteY4-380" fmla="*/ 1088164 h 1088164"/>
                <a:gd name="connsiteX0-381" fmla="*/ 1029955 w 1332977"/>
                <a:gd name="connsiteY0-382" fmla="*/ 1143414 h 1143414"/>
                <a:gd name="connsiteX1-383" fmla="*/ 0 w 1332977"/>
                <a:gd name="connsiteY1-384" fmla="*/ 164654 h 1143414"/>
                <a:gd name="connsiteX2-385" fmla="*/ 991394 w 1332977"/>
                <a:gd name="connsiteY2-386" fmla="*/ 130 h 1143414"/>
                <a:gd name="connsiteX3-387" fmla="*/ 1332977 w 1332977"/>
                <a:gd name="connsiteY3-388" fmla="*/ 1045574 h 1143414"/>
                <a:gd name="connsiteX4-389" fmla="*/ 1029955 w 1332977"/>
                <a:gd name="connsiteY4-390" fmla="*/ 1143414 h 1143414"/>
                <a:gd name="connsiteX0-391" fmla="*/ 1029955 w 1332977"/>
                <a:gd name="connsiteY0-392" fmla="*/ 1143414 h 1143414"/>
                <a:gd name="connsiteX1-393" fmla="*/ 0 w 1332977"/>
                <a:gd name="connsiteY1-394" fmla="*/ 164654 h 1143414"/>
                <a:gd name="connsiteX2-395" fmla="*/ 991394 w 1332977"/>
                <a:gd name="connsiteY2-396" fmla="*/ 130 h 1143414"/>
                <a:gd name="connsiteX3-397" fmla="*/ 1332977 w 1332977"/>
                <a:gd name="connsiteY3-398" fmla="*/ 1045574 h 1143414"/>
                <a:gd name="connsiteX4-399" fmla="*/ 1029955 w 1332977"/>
                <a:gd name="connsiteY4-400" fmla="*/ 1143414 h 1143414"/>
                <a:gd name="connsiteX0-401" fmla="*/ 1029955 w 1332977"/>
                <a:gd name="connsiteY0-402" fmla="*/ 1143414 h 1143414"/>
                <a:gd name="connsiteX1-403" fmla="*/ 0 w 1332977"/>
                <a:gd name="connsiteY1-404" fmla="*/ 164654 h 1143414"/>
                <a:gd name="connsiteX2-405" fmla="*/ 991394 w 1332977"/>
                <a:gd name="connsiteY2-406" fmla="*/ 130 h 1143414"/>
                <a:gd name="connsiteX3-407" fmla="*/ 1332977 w 1332977"/>
                <a:gd name="connsiteY3-408" fmla="*/ 1045574 h 1143414"/>
                <a:gd name="connsiteX4-409" fmla="*/ 1029955 w 1332977"/>
                <a:gd name="connsiteY4-410" fmla="*/ 1143414 h 1143414"/>
                <a:gd name="connsiteX0-411" fmla="*/ 1029955 w 1332977"/>
                <a:gd name="connsiteY0-412" fmla="*/ 1143414 h 1143414"/>
                <a:gd name="connsiteX1-413" fmla="*/ 0 w 1332977"/>
                <a:gd name="connsiteY1-414" fmla="*/ 164654 h 1143414"/>
                <a:gd name="connsiteX2-415" fmla="*/ 991394 w 1332977"/>
                <a:gd name="connsiteY2-416" fmla="*/ 130 h 1143414"/>
                <a:gd name="connsiteX3-417" fmla="*/ 1332977 w 1332977"/>
                <a:gd name="connsiteY3-418" fmla="*/ 1045574 h 1143414"/>
                <a:gd name="connsiteX4-419" fmla="*/ 1029955 w 1332977"/>
                <a:gd name="connsiteY4-420" fmla="*/ 1143414 h 1143414"/>
                <a:gd name="connsiteX0-421" fmla="*/ 1029955 w 1332977"/>
                <a:gd name="connsiteY0-422" fmla="*/ 1143414 h 1143414"/>
                <a:gd name="connsiteX1-423" fmla="*/ 0 w 1332977"/>
                <a:gd name="connsiteY1-424" fmla="*/ 164654 h 1143414"/>
                <a:gd name="connsiteX2-425" fmla="*/ 991394 w 1332977"/>
                <a:gd name="connsiteY2-426" fmla="*/ 130 h 1143414"/>
                <a:gd name="connsiteX3-427" fmla="*/ 1332977 w 1332977"/>
                <a:gd name="connsiteY3-428" fmla="*/ 1045574 h 1143414"/>
                <a:gd name="connsiteX4-429" fmla="*/ 1029955 w 1332977"/>
                <a:gd name="connsiteY4-430" fmla="*/ 1143414 h 1143414"/>
                <a:gd name="connsiteX0-431" fmla="*/ 1029955 w 1332977"/>
                <a:gd name="connsiteY0-432" fmla="*/ 1143414 h 1143414"/>
                <a:gd name="connsiteX1-433" fmla="*/ 0 w 1332977"/>
                <a:gd name="connsiteY1-434" fmla="*/ 164654 h 1143414"/>
                <a:gd name="connsiteX2-435" fmla="*/ 991394 w 1332977"/>
                <a:gd name="connsiteY2-436" fmla="*/ 130 h 1143414"/>
                <a:gd name="connsiteX3-437" fmla="*/ 1332977 w 1332977"/>
                <a:gd name="connsiteY3-438" fmla="*/ 1045574 h 1143414"/>
                <a:gd name="connsiteX4-439" fmla="*/ 1029955 w 1332977"/>
                <a:gd name="connsiteY4-440" fmla="*/ 1143414 h 1143414"/>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32977" h="1143414">
                  <a:moveTo>
                    <a:pt x="1029955" y="1143414"/>
                  </a:moveTo>
                  <a:cubicBezTo>
                    <a:pt x="771645" y="868623"/>
                    <a:pt x="908943" y="903822"/>
                    <a:pt x="0" y="164654"/>
                  </a:cubicBezTo>
                  <a:cubicBezTo>
                    <a:pt x="346878" y="170249"/>
                    <a:pt x="644516" y="-5465"/>
                    <a:pt x="991394" y="130"/>
                  </a:cubicBezTo>
                  <a:cubicBezTo>
                    <a:pt x="1125143" y="751678"/>
                    <a:pt x="1116033" y="592331"/>
                    <a:pt x="1332977" y="1045574"/>
                  </a:cubicBezTo>
                  <a:cubicBezTo>
                    <a:pt x="1183663" y="1029001"/>
                    <a:pt x="1194267" y="1059672"/>
                    <a:pt x="1029955" y="1143414"/>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12" name="Group 11"/>
            <p:cNvGrpSpPr/>
            <p:nvPr/>
          </p:nvGrpSpPr>
          <p:grpSpPr>
            <a:xfrm>
              <a:off x="537654" y="4169528"/>
              <a:ext cx="1694528" cy="2120890"/>
              <a:chOff x="537654" y="4169528"/>
              <a:chExt cx="1694528" cy="2120890"/>
            </a:xfrm>
          </p:grpSpPr>
          <p:sp>
            <p:nvSpPr>
              <p:cNvPr id="481" name="Rectangle 480"/>
              <p:cNvSpPr/>
              <p:nvPr/>
            </p:nvSpPr>
            <p:spPr bwMode="auto">
              <a:xfrm rot="10800000">
                <a:off x="809301" y="4261100"/>
                <a:ext cx="1027112" cy="994484"/>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 name="Group 104"/>
              <p:cNvGrpSpPr/>
              <p:nvPr/>
            </p:nvGrpSpPr>
            <p:grpSpPr bwMode="auto">
              <a:xfrm>
                <a:off x="812771" y="5933069"/>
                <a:ext cx="1034710" cy="357349"/>
                <a:chOff x="4128636" y="3606589"/>
                <a:chExt cx="568145" cy="338667"/>
              </a:xfrm>
            </p:grpSpPr>
            <p:sp>
              <p:nvSpPr>
                <p:cNvPr id="496" name="Oval 495"/>
                <p:cNvSpPr/>
                <p:nvPr/>
              </p:nvSpPr>
              <p:spPr>
                <a:xfrm>
                  <a:off x="4128649" y="3720080"/>
                  <a:ext cx="568332" cy="22517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7" name="Rectangle 496"/>
                <p:cNvSpPr/>
                <p:nvPr/>
              </p:nvSpPr>
              <p:spPr>
                <a:xfrm>
                  <a:off x="4128649" y="3720080"/>
                  <a:ext cx="568332" cy="11189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8" name="Oval 497"/>
                <p:cNvSpPr/>
                <p:nvPr/>
              </p:nvSpPr>
              <p:spPr>
                <a:xfrm>
                  <a:off x="4128649" y="3606801"/>
                  <a:ext cx="568332" cy="225176"/>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9" name="Straight Connector 498"/>
                <p:cNvCxnSpPr/>
                <p:nvPr/>
              </p:nvCxnSpPr>
              <p:spPr>
                <a:xfrm>
                  <a:off x="4696981"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0" name="Straight Connector 499"/>
                <p:cNvCxnSpPr/>
                <p:nvPr/>
              </p:nvCxnSpPr>
              <p:spPr>
                <a:xfrm>
                  <a:off x="4128649"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83" name="Rectangle 482"/>
              <p:cNvSpPr/>
              <p:nvPr/>
            </p:nvSpPr>
            <p:spPr bwMode="auto">
              <a:xfrm>
                <a:off x="817079" y="5203658"/>
                <a:ext cx="1027112" cy="860514"/>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84" name="Straight Connector 483"/>
              <p:cNvCxnSpPr>
                <a:endCxn id="497" idx="1"/>
              </p:cNvCxnSpPr>
              <p:nvPr/>
            </p:nvCxnSpPr>
            <p:spPr bwMode="auto">
              <a:xfrm>
                <a:off x="801363" y="4466995"/>
                <a:ext cx="11432" cy="164486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p:cNvCxnSpPr>
                <a:endCxn id="497" idx="3"/>
              </p:cNvCxnSpPr>
              <p:nvPr/>
            </p:nvCxnSpPr>
            <p:spPr bwMode="auto">
              <a:xfrm>
                <a:off x="1842763" y="4466995"/>
                <a:ext cx="5083" cy="164486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6" name="Group 9"/>
              <p:cNvGrpSpPr/>
              <p:nvPr/>
            </p:nvGrpSpPr>
            <p:grpSpPr bwMode="auto">
              <a:xfrm>
                <a:off x="777993" y="4169528"/>
                <a:ext cx="1079500" cy="395024"/>
                <a:chOff x="2183302" y="1574638"/>
                <a:chExt cx="1200154" cy="430181"/>
              </a:xfrm>
            </p:grpSpPr>
            <p:sp>
              <p:nvSpPr>
                <p:cNvPr id="487" name="Oval 486"/>
                <p:cNvSpPr/>
                <p:nvPr/>
              </p:nvSpPr>
              <p:spPr bwMode="auto">
                <a:xfrm flipV="1">
                  <a:off x="2186832" y="1690517"/>
                  <a:ext cx="1194859" cy="314302"/>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88" name="Rectangle 487"/>
                <p:cNvSpPr/>
                <p:nvPr/>
              </p:nvSpPr>
              <p:spPr bwMode="auto">
                <a:xfrm>
                  <a:off x="2183302" y="1734964"/>
                  <a:ext cx="1198389" cy="112704"/>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9" name="Oval 488"/>
                <p:cNvSpPr/>
                <p:nvPr/>
              </p:nvSpPr>
              <p:spPr bwMode="auto">
                <a:xfrm flipV="1">
                  <a:off x="2183302" y="1574638"/>
                  <a:ext cx="1196624" cy="314302"/>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0" name="Freeform 489"/>
                <p:cNvSpPr/>
                <p:nvPr/>
              </p:nvSpPr>
              <p:spPr bwMode="auto">
                <a:xfrm>
                  <a:off x="2490400" y="1671469"/>
                  <a:ext cx="582428" cy="15715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1" name="Freeform 490"/>
                <p:cNvSpPr/>
                <p:nvPr/>
              </p:nvSpPr>
              <p:spPr bwMode="auto">
                <a:xfrm>
                  <a:off x="2430393" y="1630197"/>
                  <a:ext cx="702443" cy="10952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2" name="Freeform 491"/>
                <p:cNvSpPr/>
                <p:nvPr/>
              </p:nvSpPr>
              <p:spPr bwMode="auto">
                <a:xfrm>
                  <a:off x="2892805" y="1723852"/>
                  <a:ext cx="257680" cy="952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3" name="Freeform 492"/>
                <p:cNvSpPr/>
                <p:nvPr/>
              </p:nvSpPr>
              <p:spPr bwMode="auto">
                <a:xfrm>
                  <a:off x="2418037" y="1725440"/>
                  <a:ext cx="254150" cy="9524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4" name="Straight Connector 493"/>
                <p:cNvCxnSpPr>
                  <a:endCxn id="489" idx="2"/>
                </p:cNvCxnSpPr>
                <p:nvPr/>
              </p:nvCxnSpPr>
              <p:spPr bwMode="auto">
                <a:xfrm flipH="1" flipV="1">
                  <a:off x="2183302" y="1731787"/>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95" name="Straight Connector 494"/>
                <p:cNvCxnSpPr/>
                <p:nvPr/>
              </p:nvCxnSpPr>
              <p:spPr bwMode="auto">
                <a:xfrm flipH="1" flipV="1">
                  <a:off x="3379926" y="1728615"/>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472" name="Rectangle 471"/>
              <p:cNvSpPr/>
              <p:nvPr/>
            </p:nvSpPr>
            <p:spPr bwMode="auto">
              <a:xfrm>
                <a:off x="546153" y="4588083"/>
                <a:ext cx="1670709" cy="1303807"/>
              </a:xfrm>
              <a:prstGeom prst="rect">
                <a:avLst/>
              </a:prstGeom>
              <a:solidFill>
                <a:schemeClr val="bg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3" name="TextBox 472"/>
              <p:cNvSpPr txBox="1"/>
              <p:nvPr/>
            </p:nvSpPr>
            <p:spPr>
              <a:xfrm>
                <a:off x="540390" y="4583226"/>
                <a:ext cx="620971" cy="311193"/>
              </a:xfrm>
              <a:prstGeom prst="rect">
                <a:avLst/>
              </a:prstGeom>
              <a:noFill/>
            </p:spPr>
            <p:txBody>
              <a:bodyPr wrap="none" rtlCol="0">
                <a:spAutoFit/>
              </a:bodyPr>
              <a:lstStyle/>
              <a:p>
                <a:r>
                  <a:rPr lang="en-US" dirty="0" err="1"/>
                  <a:t>dest</a:t>
                </a:r>
                <a:endParaRPr lang="en-US" dirty="0"/>
              </a:p>
            </p:txBody>
          </p:sp>
          <p:sp>
            <p:nvSpPr>
              <p:cNvPr id="474" name="TextBox 473"/>
              <p:cNvSpPr txBox="1"/>
              <p:nvPr/>
            </p:nvSpPr>
            <p:spPr>
              <a:xfrm>
                <a:off x="1162170" y="4587898"/>
                <a:ext cx="1070012" cy="311193"/>
              </a:xfrm>
              <a:prstGeom prst="rect">
                <a:avLst/>
              </a:prstGeom>
              <a:noFill/>
            </p:spPr>
            <p:txBody>
              <a:bodyPr wrap="none" rtlCol="0">
                <a:spAutoFit/>
              </a:bodyPr>
              <a:lstStyle/>
              <a:p>
                <a:r>
                  <a:rPr lang="en-US" dirty="0"/>
                  <a:t>interface</a:t>
                </a:r>
              </a:p>
            </p:txBody>
          </p:sp>
          <p:cxnSp>
            <p:nvCxnSpPr>
              <p:cNvPr id="475" name="Straight Connector 474"/>
              <p:cNvCxnSpPr/>
              <p:nvPr/>
            </p:nvCxnSpPr>
            <p:spPr bwMode="auto">
              <a:xfrm>
                <a:off x="1154183" y="4593421"/>
                <a:ext cx="1345" cy="1293547"/>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476" name="Straight Connector 475"/>
              <p:cNvCxnSpPr/>
              <p:nvPr/>
            </p:nvCxnSpPr>
            <p:spPr bwMode="auto">
              <a:xfrm flipH="1">
                <a:off x="537654" y="4911108"/>
                <a:ext cx="167920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477" name="TextBox 476"/>
              <p:cNvSpPr txBox="1"/>
              <p:nvPr/>
            </p:nvSpPr>
            <p:spPr>
              <a:xfrm>
                <a:off x="597755" y="4905652"/>
                <a:ext cx="415498" cy="777982"/>
              </a:xfrm>
              <a:prstGeom prst="rect">
                <a:avLst/>
              </a:prstGeom>
              <a:noFill/>
            </p:spPr>
            <p:txBody>
              <a:bodyPr wrap="none" rtlCol="0">
                <a:spAutoFit/>
              </a:bodyPr>
              <a:lstStyle/>
              <a:p>
                <a:r>
                  <a:rPr lang="en-US" dirty="0"/>
                  <a:t>…</a:t>
                </a:r>
              </a:p>
              <a:p>
                <a:endParaRPr lang="en-US" dirty="0"/>
              </a:p>
              <a:p>
                <a:r>
                  <a:rPr lang="en-US" dirty="0"/>
                  <a:t>…</a:t>
                </a:r>
              </a:p>
            </p:txBody>
          </p:sp>
          <p:sp>
            <p:nvSpPr>
              <p:cNvPr id="478" name="TextBox 477"/>
              <p:cNvSpPr txBox="1"/>
              <p:nvPr/>
            </p:nvSpPr>
            <p:spPr>
              <a:xfrm>
                <a:off x="649592" y="5234010"/>
                <a:ext cx="338629" cy="369332"/>
              </a:xfrm>
              <a:prstGeom prst="rect">
                <a:avLst/>
              </a:prstGeom>
              <a:noFill/>
            </p:spPr>
            <p:txBody>
              <a:bodyPr wrap="none" rtlCol="0">
                <a:spAutoFit/>
              </a:bodyPr>
              <a:lstStyle/>
              <a:p>
                <a:r>
                  <a:rPr lang="en-US" dirty="0">
                    <a:solidFill>
                      <a:srgbClr val="CC0000"/>
                    </a:solidFill>
                  </a:rPr>
                  <a:t>X</a:t>
                </a:r>
              </a:p>
            </p:txBody>
          </p:sp>
          <p:sp>
            <p:nvSpPr>
              <p:cNvPr id="479" name="TextBox 478"/>
              <p:cNvSpPr txBox="1"/>
              <p:nvPr/>
            </p:nvSpPr>
            <p:spPr>
              <a:xfrm>
                <a:off x="1230781" y="4917583"/>
                <a:ext cx="415498" cy="777982"/>
              </a:xfrm>
              <a:prstGeom prst="rect">
                <a:avLst/>
              </a:prstGeom>
              <a:noFill/>
            </p:spPr>
            <p:txBody>
              <a:bodyPr wrap="none" rtlCol="0">
                <a:spAutoFit/>
              </a:bodyPr>
              <a:lstStyle/>
              <a:p>
                <a:r>
                  <a:rPr lang="en-US" dirty="0"/>
                  <a:t>…</a:t>
                </a:r>
              </a:p>
              <a:p>
                <a:endParaRPr lang="en-US" dirty="0"/>
              </a:p>
              <a:p>
                <a:r>
                  <a:rPr lang="en-US" dirty="0"/>
                  <a:t>…</a:t>
                </a:r>
              </a:p>
            </p:txBody>
          </p:sp>
          <p:sp>
            <p:nvSpPr>
              <p:cNvPr id="480" name="TextBox 479"/>
              <p:cNvSpPr txBox="1"/>
              <p:nvPr/>
            </p:nvSpPr>
            <p:spPr>
              <a:xfrm>
                <a:off x="1308433" y="5241003"/>
                <a:ext cx="313044" cy="369332"/>
              </a:xfrm>
              <a:prstGeom prst="rect">
                <a:avLst/>
              </a:prstGeom>
              <a:noFill/>
            </p:spPr>
            <p:txBody>
              <a:bodyPr wrap="none" rtlCol="0">
                <a:spAutoFit/>
              </a:bodyPr>
              <a:lstStyle/>
              <a:p>
                <a:r>
                  <a:rPr lang="en-US" dirty="0">
                    <a:solidFill>
                      <a:srgbClr val="CC0000"/>
                    </a:solidFill>
                  </a:rPr>
                  <a:t>1</a:t>
                </a:r>
              </a:p>
            </p:txBody>
          </p:sp>
        </p:grpSp>
      </p:grpSp>
      <p:cxnSp>
        <p:nvCxnSpPr>
          <p:cNvPr id="272" name="Straight Arrow Connector 271"/>
          <p:cNvCxnSpPr/>
          <p:nvPr/>
        </p:nvCxnSpPr>
        <p:spPr bwMode="auto">
          <a:xfrm flipV="1">
            <a:off x="2219982" y="3159942"/>
            <a:ext cx="300087" cy="183452"/>
          </a:xfrm>
          <a:prstGeom prst="straightConnector1">
            <a:avLst/>
          </a:prstGeom>
          <a:solidFill>
            <a:schemeClr val="accent1"/>
          </a:solidFill>
          <a:ln w="38100" cap="flat" cmpd="sng" algn="ctr">
            <a:solidFill>
              <a:srgbClr val="CC0000"/>
            </a:solidFill>
            <a:prstDash val="solid"/>
            <a:round/>
            <a:headEnd type="none" w="med" len="med"/>
            <a:tailEnd type="triangle"/>
          </a:ln>
          <a:effectLst/>
        </p:spPr>
      </p:cxnSp>
      <p:sp>
        <p:nvSpPr>
          <p:cNvPr id="18" name="TextBox 17"/>
          <p:cNvSpPr txBox="1"/>
          <p:nvPr/>
        </p:nvSpPr>
        <p:spPr>
          <a:xfrm>
            <a:off x="7035014" y="3728816"/>
            <a:ext cx="1300356" cy="338554"/>
          </a:xfrm>
          <a:prstGeom prst="rect">
            <a:avLst/>
          </a:prstGeom>
          <a:noFill/>
        </p:spPr>
        <p:txBody>
          <a:bodyPr wrap="none" rtlCol="0">
            <a:spAutoFit/>
          </a:bodyPr>
          <a:lstStyle/>
          <a:p>
            <a:r>
              <a:rPr lang="en-US" sz="1600" dirty="0"/>
              <a:t>physical link</a:t>
            </a:r>
          </a:p>
        </p:txBody>
      </p:sp>
      <p:sp>
        <p:nvSpPr>
          <p:cNvPr id="333" name="TextBox 332"/>
          <p:cNvSpPr txBox="1"/>
          <p:nvPr/>
        </p:nvSpPr>
        <p:spPr>
          <a:xfrm>
            <a:off x="396605" y="2859586"/>
            <a:ext cx="1122212" cy="761234"/>
          </a:xfrm>
          <a:prstGeom prst="rect">
            <a:avLst/>
          </a:prstGeom>
          <a:noFill/>
        </p:spPr>
        <p:txBody>
          <a:bodyPr wrap="square" rtlCol="0">
            <a:spAutoFit/>
          </a:bodyPr>
          <a:lstStyle/>
          <a:p>
            <a:pPr>
              <a:lnSpc>
                <a:spcPct val="90000"/>
              </a:lnSpc>
            </a:pPr>
            <a:r>
              <a:rPr lang="en-US" sz="1600" dirty="0"/>
              <a:t>local link interfaces</a:t>
            </a:r>
          </a:p>
          <a:p>
            <a:pPr>
              <a:lnSpc>
                <a:spcPct val="90000"/>
              </a:lnSpc>
            </a:pPr>
            <a:r>
              <a:rPr lang="en-US" sz="1600" dirty="0"/>
              <a:t>at 1a, 1d</a:t>
            </a:r>
          </a:p>
        </p:txBody>
      </p:sp>
      <p:sp>
        <p:nvSpPr>
          <p:cNvPr id="340"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79</a:t>
            </a:fld>
            <a:endParaRPr lang="en-US" sz="1200" dirty="0">
              <a:latin typeface="Tahoma" panose="020B0604030504040204" charset="0"/>
            </a:endParaRPr>
          </a:p>
        </p:txBody>
      </p:sp>
      <p:sp>
        <p:nvSpPr>
          <p:cNvPr id="341"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grpSp>
        <p:nvGrpSpPr>
          <p:cNvPr id="22" name="Group 21"/>
          <p:cNvGrpSpPr/>
          <p:nvPr/>
        </p:nvGrpSpPr>
        <p:grpSpPr>
          <a:xfrm>
            <a:off x="1331251" y="2431189"/>
            <a:ext cx="961014" cy="810304"/>
            <a:chOff x="1331251" y="2431189"/>
            <a:chExt cx="961014" cy="810304"/>
          </a:xfrm>
        </p:grpSpPr>
        <p:cxnSp>
          <p:nvCxnSpPr>
            <p:cNvPr id="16" name="Straight Connector 15"/>
            <p:cNvCxnSpPr/>
            <p:nvPr/>
          </p:nvCxnSpPr>
          <p:spPr bwMode="auto">
            <a:xfrm flipH="1" flipV="1">
              <a:off x="1331251" y="2431189"/>
              <a:ext cx="48189" cy="810304"/>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35" name="Straight Connector 334"/>
            <p:cNvCxnSpPr/>
            <p:nvPr/>
          </p:nvCxnSpPr>
          <p:spPr bwMode="auto">
            <a:xfrm flipV="1">
              <a:off x="1381115" y="2850809"/>
              <a:ext cx="104212" cy="372686"/>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42" name="Straight Connector 341"/>
            <p:cNvCxnSpPr/>
            <p:nvPr/>
          </p:nvCxnSpPr>
          <p:spPr bwMode="auto">
            <a:xfrm flipV="1">
              <a:off x="1386317" y="3162800"/>
              <a:ext cx="168546" cy="58842"/>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43" name="Straight Connector 342"/>
            <p:cNvCxnSpPr/>
            <p:nvPr/>
          </p:nvCxnSpPr>
          <p:spPr bwMode="auto">
            <a:xfrm flipV="1">
              <a:off x="1364971" y="3164519"/>
              <a:ext cx="927294" cy="67886"/>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1000"/>
                                        <p:tgtEl>
                                          <p:spTgt spid="7"/>
                                        </p:tgtEl>
                                      </p:cBhvr>
                                    </p:animEffect>
                                  </p:childTnLst>
                                </p:cTn>
                              </p:par>
                            </p:childTnLst>
                          </p:cTn>
                        </p:par>
                        <p:par>
                          <p:cTn id="8" fill="hold">
                            <p:stCondLst>
                              <p:cond delay="1000"/>
                            </p:stCondLst>
                            <p:childTnLst>
                              <p:par>
                                <p:cTn id="9" presetID="22" presetClass="entr" presetSubtype="4"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down)">
                                      <p:cBhvr>
                                        <p:cTn id="11" dur="1000"/>
                                        <p:tgtEl>
                                          <p:spTgt spid="6"/>
                                        </p:tgtEl>
                                      </p:cBhvr>
                                    </p:animEffect>
                                  </p:childTnLst>
                                </p:cTn>
                              </p:par>
                              <p:par>
                                <p:cTn id="12" presetID="9" presetClass="exit" presetSubtype="0" fill="hold" nodeType="withEffect">
                                  <p:stCondLst>
                                    <p:cond delay="0"/>
                                  </p:stCondLst>
                                  <p:childTnLst>
                                    <p:animEffect transition="out" filter="dissolve">
                                      <p:cBhvr>
                                        <p:cTn id="13" dur="500"/>
                                        <p:tgtEl>
                                          <p:spTgt spid="7"/>
                                        </p:tgtEl>
                                      </p:cBhvr>
                                    </p:animEffect>
                                    <p:set>
                                      <p:cBhvr>
                                        <p:cTn id="14" dur="1" fill="hold">
                                          <p:stCondLst>
                                            <p:cond delay="499"/>
                                          </p:stCondLst>
                                        </p:cTn>
                                        <p:tgtEl>
                                          <p:spTgt spid="7"/>
                                        </p:tgtEl>
                                        <p:attrNameLst>
                                          <p:attrName>style.visibility</p:attrName>
                                        </p:attrNameLst>
                                      </p:cBhvr>
                                      <p:to>
                                        <p:strVal val="hidden"/>
                                      </p:to>
                                    </p:set>
                                  </p:childTnLst>
                                </p:cTn>
                              </p:par>
                            </p:childTnLst>
                          </p:cTn>
                        </p:par>
                        <p:par>
                          <p:cTn id="15" fill="hold">
                            <p:stCondLst>
                              <p:cond delay="2000"/>
                            </p:stCondLst>
                            <p:childTnLst>
                              <p:par>
                                <p:cTn id="16" presetID="22" presetClass="entr" presetSubtype="2"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ipe(right)">
                                      <p:cBhvr>
                                        <p:cTn id="18" dur="1000"/>
                                        <p:tgtEl>
                                          <p:spTgt spid="4"/>
                                        </p:tgtEl>
                                      </p:cBhvr>
                                    </p:animEffect>
                                  </p:childTnLst>
                                </p:cTn>
                              </p:par>
                            </p:childTnLst>
                          </p:cTn>
                        </p:par>
                        <p:par>
                          <p:cTn id="19" fill="hold">
                            <p:stCondLst>
                              <p:cond delay="3000"/>
                            </p:stCondLst>
                            <p:childTnLst>
                              <p:par>
                                <p:cTn id="20" presetID="22" presetClass="entr" presetSubtype="2"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wipe(right)">
                                      <p:cBhvr>
                                        <p:cTn id="22" dur="1000"/>
                                        <p:tgtEl>
                                          <p:spTgt spid="5"/>
                                        </p:tgtEl>
                                      </p:cBhvr>
                                    </p:animEffect>
                                  </p:childTnLst>
                                </p:cTn>
                              </p:par>
                              <p:par>
                                <p:cTn id="23" presetID="9" presetClass="exit" presetSubtype="0" fill="hold" nodeType="with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6"/>
                                        </p:tgtEl>
                                      </p:cBhvr>
                                    </p:animEffect>
                                    <p:set>
                                      <p:cBhvr>
                                        <p:cTn id="28" dur="1" fill="hold">
                                          <p:stCondLst>
                                            <p:cond delay="499"/>
                                          </p:stCondLst>
                                        </p:cTn>
                                        <p:tgtEl>
                                          <p:spTgt spid="6"/>
                                        </p:tgtEl>
                                        <p:attrNameLst>
                                          <p:attrName>style.visibility</p:attrName>
                                        </p:attrNameLst>
                                      </p:cBhvr>
                                      <p:to>
                                        <p:strVal val="hidden"/>
                                      </p:to>
                                    </p:set>
                                  </p:childTnLst>
                                </p:cTn>
                              </p:par>
                              <p:par>
                                <p:cTn id="29" presetID="9" presetClass="entr" presetSubtype="0" fill="hold" grpId="0" nodeType="withEffect">
                                  <p:stCondLst>
                                    <p:cond delay="0"/>
                                  </p:stCondLst>
                                  <p:childTnLst>
                                    <p:set>
                                      <p:cBhvr>
                                        <p:cTn id="30" dur="1" fill="hold">
                                          <p:stCondLst>
                                            <p:cond delay="0"/>
                                          </p:stCondLst>
                                        </p:cTn>
                                        <p:tgtEl>
                                          <p:spTgt spid="328"/>
                                        </p:tgtEl>
                                        <p:attrNameLst>
                                          <p:attrName>style.visibility</p:attrName>
                                        </p:attrNameLst>
                                      </p:cBhvr>
                                      <p:to>
                                        <p:strVal val="visible"/>
                                      </p:to>
                                    </p:set>
                                    <p:animEffect transition="in" filter="dissolve">
                                      <p:cBhvr>
                                        <p:cTn id="31" dur="500"/>
                                        <p:tgtEl>
                                          <p:spTgt spid="328"/>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grpId="1" nodeType="clickEffect">
                                  <p:stCondLst>
                                    <p:cond delay="0"/>
                                  </p:stCondLst>
                                  <p:childTnLst>
                                    <p:animEffect transition="out" filter="dissolve">
                                      <p:cBhvr>
                                        <p:cTn id="35" dur="500"/>
                                        <p:tgtEl>
                                          <p:spTgt spid="328"/>
                                        </p:tgtEl>
                                      </p:cBhvr>
                                    </p:animEffect>
                                    <p:set>
                                      <p:cBhvr>
                                        <p:cTn id="36" dur="1" fill="hold">
                                          <p:stCondLst>
                                            <p:cond delay="499"/>
                                          </p:stCondLst>
                                        </p:cTn>
                                        <p:tgtEl>
                                          <p:spTgt spid="328"/>
                                        </p:tgtEl>
                                        <p:attrNameLst>
                                          <p:attrName>style.visibility</p:attrName>
                                        </p:attrNameLst>
                                      </p:cBhvr>
                                      <p:to>
                                        <p:strVal val="hidden"/>
                                      </p:to>
                                    </p:set>
                                  </p:childTnLst>
                                </p:cTn>
                              </p:par>
                              <p:par>
                                <p:cTn id="37" presetID="9" presetClass="exit" presetSubtype="0" fill="hold" nodeType="withEffect">
                                  <p:stCondLst>
                                    <p:cond delay="0"/>
                                  </p:stCondLst>
                                  <p:childTnLst>
                                    <p:animEffect transition="out" filter="dissolve">
                                      <p:cBhvr>
                                        <p:cTn id="38" dur="500"/>
                                        <p:tgtEl>
                                          <p:spTgt spid="5"/>
                                        </p:tgtEl>
                                      </p:cBhvr>
                                    </p:animEffect>
                                    <p:set>
                                      <p:cBhvr>
                                        <p:cTn id="39" dur="1" fill="hold">
                                          <p:stCondLst>
                                            <p:cond delay="499"/>
                                          </p:stCondLst>
                                        </p:cTn>
                                        <p:tgtEl>
                                          <p:spTgt spid="5"/>
                                        </p:tgtEl>
                                        <p:attrNameLst>
                                          <p:attrName>style.visibility</p:attrName>
                                        </p:attrNameLst>
                                      </p:cBhvr>
                                      <p:to>
                                        <p:strVal val="hidden"/>
                                      </p:to>
                                    </p:set>
                                  </p:childTnLst>
                                </p:cTn>
                              </p:par>
                              <p:par>
                                <p:cTn id="40" presetID="9" presetClass="entr" presetSubtype="0" fill="hold" nodeType="with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dissolve">
                                      <p:cBhvr>
                                        <p:cTn id="42" dur="500"/>
                                        <p:tgtEl>
                                          <p:spTgt spid="14"/>
                                        </p:tgtEl>
                                      </p:cBhvr>
                                    </p:animEffect>
                                  </p:childTnLst>
                                </p:cTn>
                              </p:par>
                              <p:par>
                                <p:cTn id="43" presetID="9" presetClass="entr" presetSubtype="0" fill="hold" grpId="0" nodeType="withEffect">
                                  <p:stCondLst>
                                    <p:cond delay="0"/>
                                  </p:stCondLst>
                                  <p:childTnLst>
                                    <p:set>
                                      <p:cBhvr>
                                        <p:cTn id="44" dur="1" fill="hold">
                                          <p:stCondLst>
                                            <p:cond delay="0"/>
                                          </p:stCondLst>
                                        </p:cTn>
                                        <p:tgtEl>
                                          <p:spTgt spid="333"/>
                                        </p:tgtEl>
                                        <p:attrNameLst>
                                          <p:attrName>style.visibility</p:attrName>
                                        </p:attrNameLst>
                                      </p:cBhvr>
                                      <p:to>
                                        <p:strVal val="visible"/>
                                      </p:to>
                                    </p:set>
                                    <p:animEffect transition="in" filter="dissolve">
                                      <p:cBhvr>
                                        <p:cTn id="45" dur="500"/>
                                        <p:tgtEl>
                                          <p:spTgt spid="333"/>
                                        </p:tgtEl>
                                      </p:cBhvr>
                                    </p:animEffect>
                                  </p:childTnLst>
                                </p:cTn>
                              </p:par>
                              <p:par>
                                <p:cTn id="46" presetID="9" presetClass="entr" presetSubtype="0" fill="hold" nodeType="with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dissolve">
                                      <p:cBhvr>
                                        <p:cTn id="48" dur="500"/>
                                        <p:tgtEl>
                                          <p:spTgt spid="22"/>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wipe(up)">
                                      <p:cBhvr>
                                        <p:cTn id="53" dur="1000"/>
                                        <p:tgtEl>
                                          <p:spTgt spid="13"/>
                                        </p:tgtEl>
                                      </p:cBhvr>
                                    </p:animEffect>
                                  </p:childTnLst>
                                </p:cTn>
                              </p:par>
                              <p:par>
                                <p:cTn id="54" presetID="9" presetClass="entr" presetSubtype="0" fill="hold" grpId="0" nodeType="withEffect">
                                  <p:stCondLst>
                                    <p:cond delay="0"/>
                                  </p:stCondLst>
                                  <p:childTnLst>
                                    <p:set>
                                      <p:cBhvr>
                                        <p:cTn id="55" dur="1" fill="hold">
                                          <p:stCondLst>
                                            <p:cond delay="0"/>
                                          </p:stCondLst>
                                        </p:cTn>
                                        <p:tgtEl>
                                          <p:spTgt spid="334"/>
                                        </p:tgtEl>
                                        <p:attrNameLst>
                                          <p:attrName>style.visibility</p:attrName>
                                        </p:attrNameLst>
                                      </p:cBhvr>
                                      <p:to>
                                        <p:strVal val="visible"/>
                                      </p:to>
                                    </p:set>
                                    <p:animEffect transition="in" filter="dissolve">
                                      <p:cBhvr>
                                        <p:cTn id="56" dur="500"/>
                                        <p:tgtEl>
                                          <p:spTgt spid="334"/>
                                        </p:tgtEl>
                                      </p:cBhvr>
                                    </p:animEffect>
                                  </p:childTnLst>
                                </p:cTn>
                              </p:par>
                              <p:par>
                                <p:cTn id="57" presetID="9" presetClass="entr" presetSubtype="0" fill="hold" nodeType="withEffect">
                                  <p:stCondLst>
                                    <p:cond delay="0"/>
                                  </p:stCondLst>
                                  <p:childTnLst>
                                    <p:set>
                                      <p:cBhvr>
                                        <p:cTn id="58" dur="1" fill="hold">
                                          <p:stCondLst>
                                            <p:cond delay="0"/>
                                          </p:stCondLst>
                                        </p:cTn>
                                        <p:tgtEl>
                                          <p:spTgt spid="272"/>
                                        </p:tgtEl>
                                        <p:attrNameLst>
                                          <p:attrName>style.visibility</p:attrName>
                                        </p:attrNameLst>
                                      </p:cBhvr>
                                      <p:to>
                                        <p:strVal val="visible"/>
                                      </p:to>
                                    </p:set>
                                    <p:animEffect transition="in" filter="dissolve">
                                      <p:cBhvr>
                                        <p:cTn id="59" dur="500"/>
                                        <p:tgtEl>
                                          <p:spTgt spid="272"/>
                                        </p:tgtEl>
                                      </p:cBhvr>
                                    </p:animEffect>
                                  </p:childTnLst>
                                </p:cTn>
                              </p:par>
                              <p:par>
                                <p:cTn id="60" presetID="9" presetClass="exit" presetSubtype="0" fill="hold" grpId="1" nodeType="withEffect">
                                  <p:stCondLst>
                                    <p:cond delay="0"/>
                                  </p:stCondLst>
                                  <p:childTnLst>
                                    <p:animEffect transition="out" filter="dissolve">
                                      <p:cBhvr>
                                        <p:cTn id="61" dur="500"/>
                                        <p:tgtEl>
                                          <p:spTgt spid="333"/>
                                        </p:tgtEl>
                                      </p:cBhvr>
                                    </p:animEffect>
                                    <p:set>
                                      <p:cBhvr>
                                        <p:cTn id="62" dur="1" fill="hold">
                                          <p:stCondLst>
                                            <p:cond delay="499"/>
                                          </p:stCondLst>
                                        </p:cTn>
                                        <p:tgtEl>
                                          <p:spTgt spid="333"/>
                                        </p:tgtEl>
                                        <p:attrNameLst>
                                          <p:attrName>style.visibility</p:attrName>
                                        </p:attrNameLst>
                                      </p:cBhvr>
                                      <p:to>
                                        <p:strVal val="hidden"/>
                                      </p:to>
                                    </p:set>
                                  </p:childTnLst>
                                </p:cTn>
                              </p:par>
                              <p:par>
                                <p:cTn id="63" presetID="9" presetClass="exit" presetSubtype="0" fill="hold" nodeType="withEffect">
                                  <p:stCondLst>
                                    <p:cond delay="0"/>
                                  </p:stCondLst>
                                  <p:childTnLst>
                                    <p:animEffect transition="out" filter="dissolve">
                                      <p:cBhvr>
                                        <p:cTn id="64" dur="500"/>
                                        <p:tgtEl>
                                          <p:spTgt spid="22"/>
                                        </p:tgtEl>
                                      </p:cBhvr>
                                    </p:animEffect>
                                    <p:set>
                                      <p:cBhvr>
                                        <p:cTn id="65" dur="1" fill="hold">
                                          <p:stCondLst>
                                            <p:cond delay="49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p:bldP spid="328" grpId="0"/>
      <p:bldP spid="328" grpId="1"/>
      <p:bldP spid="333" grpId="0"/>
      <p:bldP spid="333" grpId="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a:xfrm>
            <a:off x="533400" y="0"/>
            <a:ext cx="8200292" cy="1143000"/>
          </a:xfrm>
        </p:spPr>
        <p:txBody>
          <a:bodyPr/>
          <a:lstStyle/>
          <a:p>
            <a:pPr>
              <a:defRPr/>
            </a:pPr>
            <a:r>
              <a:rPr lang="en-US" sz="3600" dirty="0">
                <a:cs typeface="+mj-cs"/>
              </a:rPr>
              <a:t>BGP, OSPF, forwarding table entries</a:t>
            </a:r>
          </a:p>
        </p:txBody>
      </p:sp>
      <p:sp>
        <p:nvSpPr>
          <p:cNvPr id="753668" name="Rectangle 4"/>
          <p:cNvSpPr>
            <a:spLocks noGrp="1" noChangeArrowheads="1"/>
          </p:cNvSpPr>
          <p:nvPr>
            <p:ph type="body" idx="1"/>
          </p:nvPr>
        </p:nvSpPr>
        <p:spPr>
          <a:xfrm>
            <a:off x="3455674" y="4619374"/>
            <a:ext cx="5183508" cy="551956"/>
          </a:xfrm>
        </p:spPr>
        <p:txBody>
          <a:bodyPr/>
          <a:lstStyle/>
          <a:p>
            <a:pPr marL="292100" indent="-292100">
              <a:lnSpc>
                <a:spcPct val="90000"/>
              </a:lnSpc>
            </a:pPr>
            <a:r>
              <a:rPr lang="en-US" sz="2000" dirty="0">
                <a:latin typeface="Gill Sans MT" pitchFamily="34" charset="0"/>
              </a:rPr>
              <a:t>recall: 1a, 1b, 1c learn about </a:t>
            </a:r>
            <a:r>
              <a:rPr lang="en-US" sz="2000" dirty="0" err="1">
                <a:latin typeface="Gill Sans MT" pitchFamily="34" charset="0"/>
              </a:rPr>
              <a:t>dest</a:t>
            </a:r>
            <a:r>
              <a:rPr lang="en-US" sz="2000" dirty="0">
                <a:latin typeface="Gill Sans MT" pitchFamily="34" charset="0"/>
              </a:rPr>
              <a:t> X via iBGP from 1c: “path to X goes through 1c”</a:t>
            </a:r>
          </a:p>
        </p:txBody>
      </p:sp>
      <p:pic>
        <p:nvPicPr>
          <p:cNvPr id="162849" name="Picture 121"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187" y="800100"/>
            <a:ext cx="7966198" cy="235438"/>
          </a:xfrm>
          <a:prstGeom prst="rect">
            <a:avLst/>
          </a:prstGeom>
          <a:noFill/>
          <a:ln>
            <a:noFill/>
          </a:ln>
        </p:spPr>
      </p:pic>
      <p:grpSp>
        <p:nvGrpSpPr>
          <p:cNvPr id="125" name="Group 124"/>
          <p:cNvGrpSpPr/>
          <p:nvPr/>
        </p:nvGrpSpPr>
        <p:grpSpPr>
          <a:xfrm>
            <a:off x="624887" y="1814322"/>
            <a:ext cx="2557336" cy="1719017"/>
            <a:chOff x="-2170772" y="2784954"/>
            <a:chExt cx="2712783" cy="1853712"/>
          </a:xfrm>
        </p:grpSpPr>
        <p:sp>
          <p:nvSpPr>
            <p:cNvPr id="261" name="Freeform 2"/>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262" name="Group 261"/>
            <p:cNvGrpSpPr/>
            <p:nvPr/>
          </p:nvGrpSpPr>
          <p:grpSpPr>
            <a:xfrm>
              <a:off x="-1935370" y="2935816"/>
              <a:ext cx="2333625" cy="1590649"/>
              <a:chOff x="833331" y="2873352"/>
              <a:chExt cx="2333625" cy="1590649"/>
            </a:xfrm>
          </p:grpSpPr>
          <p:grpSp>
            <p:nvGrpSpPr>
              <p:cNvPr id="263" name="Group 262"/>
              <p:cNvGrpSpPr/>
              <p:nvPr/>
            </p:nvGrpSpPr>
            <p:grpSpPr>
              <a:xfrm>
                <a:off x="1736090" y="2873352"/>
                <a:ext cx="565150" cy="369332"/>
                <a:chOff x="1736090" y="2873352"/>
                <a:chExt cx="565150" cy="369332"/>
              </a:xfrm>
            </p:grpSpPr>
            <p:grpSp>
              <p:nvGrpSpPr>
                <p:cNvPr id="312" name="Group 327"/>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41422" cy="369332"/>
                  <a:chOff x="667045" y="1708643"/>
                  <a:chExt cx="441422" cy="369332"/>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41422" cy="369332"/>
                  </a:xfrm>
                  <a:prstGeom prst="rect">
                    <a:avLst/>
                  </a:prstGeom>
                  <a:noFill/>
                </p:spPr>
                <p:txBody>
                  <a:bodyPr wrap="none" rtlCol="0">
                    <a:spAutoFit/>
                  </a:bodyPr>
                  <a:lstStyle/>
                  <a:p>
                    <a:r>
                      <a:rPr lang="en-US" dirty="0"/>
                      <a:t>1b</a:t>
                    </a:r>
                  </a:p>
                </p:txBody>
              </p:sp>
            </p:grpSp>
          </p:grpSp>
          <p:grpSp>
            <p:nvGrpSpPr>
              <p:cNvPr id="264" name="Group 263"/>
              <p:cNvGrpSpPr/>
              <p:nvPr/>
            </p:nvGrpSpPr>
            <p:grpSpPr>
              <a:xfrm>
                <a:off x="1740320" y="4094669"/>
                <a:ext cx="565150" cy="369332"/>
                <a:chOff x="1736090" y="2873352"/>
                <a:chExt cx="565150" cy="369332"/>
              </a:xfrm>
            </p:grpSpPr>
            <p:grpSp>
              <p:nvGrpSpPr>
                <p:cNvPr id="299" name="Group 327"/>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41422" cy="369332"/>
                  <a:chOff x="667045" y="1708643"/>
                  <a:chExt cx="441422" cy="369332"/>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41422" cy="369332"/>
                  </a:xfrm>
                  <a:prstGeom prst="rect">
                    <a:avLst/>
                  </a:prstGeom>
                  <a:noFill/>
                </p:spPr>
                <p:txBody>
                  <a:bodyPr wrap="none" rtlCol="0">
                    <a:spAutoFit/>
                  </a:bodyPr>
                  <a:lstStyle/>
                  <a:p>
                    <a:r>
                      <a:rPr lang="en-US" dirty="0"/>
                      <a:t>1d</a:t>
                    </a:r>
                  </a:p>
                </p:txBody>
              </p:sp>
            </p:grpSp>
          </p:grpSp>
          <p:grpSp>
            <p:nvGrpSpPr>
              <p:cNvPr id="265" name="Group 264"/>
              <p:cNvGrpSpPr/>
              <p:nvPr/>
            </p:nvGrpSpPr>
            <p:grpSpPr>
              <a:xfrm>
                <a:off x="2601806" y="3485072"/>
                <a:ext cx="565150" cy="369332"/>
                <a:chOff x="1736090" y="2873352"/>
                <a:chExt cx="565150" cy="369332"/>
              </a:xfrm>
            </p:grpSpPr>
            <p:grpSp>
              <p:nvGrpSpPr>
                <p:cNvPr id="286" name="Group 327"/>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28460" cy="369332"/>
                  <a:chOff x="667045" y="1708643"/>
                  <a:chExt cx="428460" cy="369332"/>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28460" cy="369332"/>
                  </a:xfrm>
                  <a:prstGeom prst="rect">
                    <a:avLst/>
                  </a:prstGeom>
                  <a:noFill/>
                </p:spPr>
                <p:txBody>
                  <a:bodyPr wrap="none" rtlCol="0">
                    <a:spAutoFit/>
                  </a:bodyPr>
                  <a:lstStyle/>
                  <a:p>
                    <a:r>
                      <a:rPr lang="en-US" dirty="0"/>
                      <a:t>1c</a:t>
                    </a:r>
                  </a:p>
                </p:txBody>
              </p:sp>
            </p:grpSp>
          </p:grpSp>
          <p:grpSp>
            <p:nvGrpSpPr>
              <p:cNvPr id="266" name="Group 265"/>
              <p:cNvGrpSpPr/>
              <p:nvPr/>
            </p:nvGrpSpPr>
            <p:grpSpPr>
              <a:xfrm>
                <a:off x="833331" y="3478719"/>
                <a:ext cx="565150" cy="369332"/>
                <a:chOff x="1736090" y="2873352"/>
                <a:chExt cx="565150" cy="369332"/>
              </a:xfrm>
            </p:grpSpPr>
            <p:grpSp>
              <p:nvGrpSpPr>
                <p:cNvPr id="273" name="Group 327"/>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41422" cy="369332"/>
                  <a:chOff x="667045" y="1708643"/>
                  <a:chExt cx="441422" cy="369332"/>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41422" cy="369332"/>
                  </a:xfrm>
                  <a:prstGeom prst="rect">
                    <a:avLst/>
                  </a:prstGeom>
                  <a:noFill/>
                </p:spPr>
                <p:txBody>
                  <a:bodyPr wrap="none" rtlCol="0">
                    <a:spAutoFit/>
                  </a:bodyPr>
                  <a:lstStyle/>
                  <a:p>
                    <a:r>
                      <a:rPr lang="en-US" dirty="0"/>
                      <a:t>1a</a:t>
                    </a:r>
                  </a:p>
                </p:txBody>
              </p:sp>
            </p:grpSp>
          </p:grp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270" name="Straight Connector 269"/>
              <p:cNvCxnSpPr/>
              <p:nvPr/>
            </p:nvCxnSpPr>
            <p:spPr bwMode="auto">
              <a:xfrm>
                <a:off x="1315140" y="3783345"/>
                <a:ext cx="489235" cy="352580"/>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337" name="Straight Connector 336"/>
              <p:cNvCxnSpPr>
                <a:endCxn id="316" idx="2"/>
              </p:cNvCxnSpPr>
              <p:nvPr/>
            </p:nvCxnSpPr>
            <p:spPr bwMode="auto">
              <a:xfrm flipV="1">
                <a:off x="1319809" y="3078707"/>
                <a:ext cx="417868" cy="457019"/>
              </a:xfrm>
              <a:prstGeom prst="line">
                <a:avLst/>
              </a:prstGeom>
              <a:solidFill>
                <a:schemeClr val="accent1"/>
              </a:solidFill>
              <a:ln w="19050" cap="flat" cmpd="sng" algn="ctr">
                <a:solidFill>
                  <a:schemeClr val="tx1"/>
                </a:solidFill>
                <a:prstDash val="solid"/>
                <a:round/>
                <a:headEnd type="none" w="med" len="med"/>
                <a:tailEnd type="none" w="med" len="med"/>
              </a:ln>
              <a:effectLst/>
            </p:spPr>
          </p:cxnSp>
        </p:grpSp>
      </p:grpSp>
      <p:sp>
        <p:nvSpPr>
          <p:cNvPr id="197" name="Freeform 2"/>
          <p:cNvSpPr/>
          <p:nvPr/>
        </p:nvSpPr>
        <p:spPr bwMode="auto">
          <a:xfrm>
            <a:off x="3285692" y="2741493"/>
            <a:ext cx="2545688" cy="1720535"/>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198" name="Group 197"/>
          <p:cNvGrpSpPr/>
          <p:nvPr/>
        </p:nvGrpSpPr>
        <p:grpSpPr>
          <a:xfrm>
            <a:off x="3506594" y="2881517"/>
            <a:ext cx="2189884" cy="1476371"/>
            <a:chOff x="833331" y="2873352"/>
            <a:chExt cx="2333625" cy="1590649"/>
          </a:xfrm>
        </p:grpSpPr>
        <p:grpSp>
          <p:nvGrpSpPr>
            <p:cNvPr id="199" name="Group 198"/>
            <p:cNvGrpSpPr/>
            <p:nvPr/>
          </p:nvGrpSpPr>
          <p:grpSpPr>
            <a:xfrm>
              <a:off x="1736090" y="2873352"/>
              <a:ext cx="565150" cy="369332"/>
              <a:chOff x="1736090" y="2873352"/>
              <a:chExt cx="565150" cy="369332"/>
            </a:xfrm>
          </p:grpSpPr>
          <p:grpSp>
            <p:nvGrpSpPr>
              <p:cNvPr id="248" name="Group 327"/>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41422" cy="369332"/>
                <a:chOff x="667045" y="1708643"/>
                <a:chExt cx="441422" cy="369332"/>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41422" cy="369332"/>
                </a:xfrm>
                <a:prstGeom prst="rect">
                  <a:avLst/>
                </a:prstGeom>
                <a:noFill/>
              </p:spPr>
              <p:txBody>
                <a:bodyPr wrap="none" rtlCol="0">
                  <a:spAutoFit/>
                </a:bodyPr>
                <a:lstStyle/>
                <a:p>
                  <a:r>
                    <a:rPr lang="en-US" dirty="0"/>
                    <a:t>2b</a:t>
                  </a:r>
                </a:p>
              </p:txBody>
            </p:sp>
          </p:grpSp>
        </p:grpSp>
        <p:grpSp>
          <p:nvGrpSpPr>
            <p:cNvPr id="200" name="Group 199"/>
            <p:cNvGrpSpPr/>
            <p:nvPr/>
          </p:nvGrpSpPr>
          <p:grpSpPr>
            <a:xfrm>
              <a:off x="1740320" y="4094669"/>
              <a:ext cx="565150" cy="369332"/>
              <a:chOff x="1736090" y="2873352"/>
              <a:chExt cx="565150" cy="369332"/>
            </a:xfrm>
          </p:grpSpPr>
          <p:grpSp>
            <p:nvGrpSpPr>
              <p:cNvPr id="235" name="Group 327"/>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41422" cy="369332"/>
                <a:chOff x="667045" y="1708643"/>
                <a:chExt cx="441422" cy="369332"/>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41422" cy="369332"/>
                </a:xfrm>
                <a:prstGeom prst="rect">
                  <a:avLst/>
                </a:prstGeom>
                <a:noFill/>
              </p:spPr>
              <p:txBody>
                <a:bodyPr wrap="none" rtlCol="0">
                  <a:spAutoFit/>
                </a:bodyPr>
                <a:lstStyle/>
                <a:p>
                  <a:r>
                    <a:rPr lang="en-US" dirty="0"/>
                    <a:t>2d</a:t>
                  </a:r>
                </a:p>
              </p:txBody>
            </p:sp>
          </p:grpSp>
        </p:grpSp>
        <p:grpSp>
          <p:nvGrpSpPr>
            <p:cNvPr id="201" name="Group 200"/>
            <p:cNvGrpSpPr/>
            <p:nvPr/>
          </p:nvGrpSpPr>
          <p:grpSpPr>
            <a:xfrm>
              <a:off x="2601806" y="3485072"/>
              <a:ext cx="565150" cy="369332"/>
              <a:chOff x="1736090" y="2873352"/>
              <a:chExt cx="565150" cy="369332"/>
            </a:xfrm>
          </p:grpSpPr>
          <p:grpSp>
            <p:nvGrpSpPr>
              <p:cNvPr id="222" name="Group 327"/>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28460" cy="369332"/>
                <a:chOff x="667045" y="1708643"/>
                <a:chExt cx="428460" cy="369332"/>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28460" cy="369332"/>
                </a:xfrm>
                <a:prstGeom prst="rect">
                  <a:avLst/>
                </a:prstGeom>
                <a:noFill/>
              </p:spPr>
              <p:txBody>
                <a:bodyPr wrap="none" rtlCol="0">
                  <a:spAutoFit/>
                </a:bodyPr>
                <a:lstStyle/>
                <a:p>
                  <a:r>
                    <a:rPr lang="en-US" dirty="0"/>
                    <a:t>2c</a:t>
                  </a:r>
                </a:p>
              </p:txBody>
            </p:sp>
          </p:grpSp>
        </p:grpSp>
        <p:grpSp>
          <p:nvGrpSpPr>
            <p:cNvPr id="202" name="Group 201"/>
            <p:cNvGrpSpPr/>
            <p:nvPr/>
          </p:nvGrpSpPr>
          <p:grpSpPr>
            <a:xfrm>
              <a:off x="833331" y="3478719"/>
              <a:ext cx="565150" cy="369332"/>
              <a:chOff x="1736090" y="2873352"/>
              <a:chExt cx="565150" cy="369332"/>
            </a:xfrm>
          </p:grpSpPr>
          <p:grpSp>
            <p:nvGrpSpPr>
              <p:cNvPr id="209" name="Group 327"/>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441422" cy="369332"/>
                <a:chOff x="667045" y="1708643"/>
                <a:chExt cx="441422" cy="369332"/>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441422" cy="369332"/>
                </a:xfrm>
                <a:prstGeom prst="rect">
                  <a:avLst/>
                </a:prstGeom>
                <a:noFill/>
              </p:spPr>
              <p:txBody>
                <a:bodyPr wrap="none" rtlCol="0">
                  <a:spAutoFit/>
                </a:bodyPr>
                <a:lstStyle/>
                <a:p>
                  <a:r>
                    <a:rPr lang="en-US" dirty="0"/>
                    <a:t>2a</a:t>
                  </a:r>
                </a:p>
              </p:txBody>
            </p:sp>
          </p:grpSp>
        </p:grpSp>
        <p:cxnSp>
          <p:nvCxnSpPr>
            <p:cNvPr id="203" name="Straight Connector 202"/>
            <p:cNvCxnSpPr>
              <a:endCxn id="238" idx="0"/>
            </p:cNvCxnSpPr>
            <p:nvPr/>
          </p:nvCxnSpPr>
          <p:spPr bwMode="auto">
            <a:xfrm>
              <a:off x="1991073" y="3173114"/>
              <a:ext cx="4230" cy="921555"/>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205" name="Straight Connector 204"/>
            <p:cNvCxnSpPr/>
            <p:nvPr/>
          </p:nvCxnSpPr>
          <p:spPr bwMode="auto">
            <a:xfrm>
              <a:off x="2280478" y="3145660"/>
              <a:ext cx="435814" cy="359474"/>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206" name="Straight Connector 205"/>
            <p:cNvCxnSpPr/>
            <p:nvPr/>
          </p:nvCxnSpPr>
          <p:spPr bwMode="auto">
            <a:xfrm>
              <a:off x="1300073" y="3768911"/>
              <a:ext cx="527386" cy="368208"/>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207" name="Straight Connector 206"/>
            <p:cNvCxnSpPr/>
            <p:nvPr/>
          </p:nvCxnSpPr>
          <p:spPr bwMode="auto">
            <a:xfrm flipH="1">
              <a:off x="2194462" y="3713972"/>
              <a:ext cx="509583" cy="428945"/>
            </a:xfrm>
            <a:prstGeom prst="line">
              <a:avLst/>
            </a:prstGeom>
            <a:solidFill>
              <a:schemeClr val="accent1"/>
            </a:solidFill>
            <a:ln w="19050" cap="flat" cmpd="sng" algn="ctr">
              <a:solidFill>
                <a:schemeClr val="tx1"/>
              </a:solidFill>
              <a:prstDash val="solid"/>
              <a:round/>
              <a:headEnd type="none" w="med" len="med"/>
              <a:tailEnd type="none" w="med" len="med"/>
            </a:ln>
            <a:effectLst/>
          </p:spPr>
        </p:cxnSp>
      </p:grpSp>
      <p:sp>
        <p:nvSpPr>
          <p:cNvPr id="133" name="Freeform 2"/>
          <p:cNvSpPr/>
          <p:nvPr/>
        </p:nvSpPr>
        <p:spPr bwMode="auto">
          <a:xfrm>
            <a:off x="5507686" y="1673235"/>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134" name="Group 133"/>
          <p:cNvGrpSpPr/>
          <p:nvPr/>
        </p:nvGrpSpPr>
        <p:grpSpPr>
          <a:xfrm>
            <a:off x="5731177" y="1809351"/>
            <a:ext cx="2215548" cy="1435167"/>
            <a:chOff x="833331" y="2873352"/>
            <a:chExt cx="2333625" cy="1590649"/>
          </a:xfrm>
        </p:grpSpPr>
        <p:grpSp>
          <p:nvGrpSpPr>
            <p:cNvPr id="135" name="Group 134"/>
            <p:cNvGrpSpPr/>
            <p:nvPr/>
          </p:nvGrpSpPr>
          <p:grpSpPr>
            <a:xfrm>
              <a:off x="1736090" y="2873352"/>
              <a:ext cx="565150" cy="369332"/>
              <a:chOff x="1736090" y="2873352"/>
              <a:chExt cx="565150" cy="369332"/>
            </a:xfrm>
          </p:grpSpPr>
          <p:grpSp>
            <p:nvGrpSpPr>
              <p:cNvPr id="184" name="Group 327"/>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41422" cy="369332"/>
                <a:chOff x="667045" y="1708643"/>
                <a:chExt cx="441422" cy="369332"/>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41422" cy="369332"/>
                </a:xfrm>
                <a:prstGeom prst="rect">
                  <a:avLst/>
                </a:prstGeom>
                <a:noFill/>
              </p:spPr>
              <p:txBody>
                <a:bodyPr wrap="none" rtlCol="0">
                  <a:spAutoFit/>
                </a:bodyPr>
                <a:lstStyle/>
                <a:p>
                  <a:r>
                    <a:rPr lang="en-US" dirty="0"/>
                    <a:t>3b</a:t>
                  </a:r>
                </a:p>
              </p:txBody>
            </p:sp>
          </p:grpSp>
        </p:grpSp>
        <p:grpSp>
          <p:nvGrpSpPr>
            <p:cNvPr id="136" name="Group 135"/>
            <p:cNvGrpSpPr/>
            <p:nvPr/>
          </p:nvGrpSpPr>
          <p:grpSpPr>
            <a:xfrm>
              <a:off x="1740320" y="4094669"/>
              <a:ext cx="565150" cy="369332"/>
              <a:chOff x="1736090" y="2873352"/>
              <a:chExt cx="565150" cy="369332"/>
            </a:xfrm>
          </p:grpSpPr>
          <p:grpSp>
            <p:nvGrpSpPr>
              <p:cNvPr id="171" name="Group 327"/>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41422" cy="369332"/>
                <a:chOff x="667045" y="1708643"/>
                <a:chExt cx="441422" cy="369332"/>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41422" cy="369332"/>
                </a:xfrm>
                <a:prstGeom prst="rect">
                  <a:avLst/>
                </a:prstGeom>
                <a:noFill/>
              </p:spPr>
              <p:txBody>
                <a:bodyPr wrap="none" rtlCol="0">
                  <a:spAutoFit/>
                </a:bodyPr>
                <a:lstStyle/>
                <a:p>
                  <a:r>
                    <a:rPr lang="en-US" dirty="0"/>
                    <a:t>3d</a:t>
                  </a:r>
                </a:p>
              </p:txBody>
            </p:sp>
          </p:grpSp>
        </p:grpSp>
        <p:grpSp>
          <p:nvGrpSpPr>
            <p:cNvPr id="137" name="Group 136"/>
            <p:cNvGrpSpPr/>
            <p:nvPr/>
          </p:nvGrpSpPr>
          <p:grpSpPr>
            <a:xfrm>
              <a:off x="2601806" y="3485072"/>
              <a:ext cx="565150" cy="369332"/>
              <a:chOff x="1736090" y="2873352"/>
              <a:chExt cx="565150" cy="369332"/>
            </a:xfrm>
          </p:grpSpPr>
          <p:grpSp>
            <p:nvGrpSpPr>
              <p:cNvPr id="158" name="Group 327"/>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2" y="2873352"/>
                <a:ext cx="428460" cy="369332"/>
                <a:chOff x="667045" y="1708643"/>
                <a:chExt cx="428460" cy="369332"/>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5" y="1708643"/>
                  <a:ext cx="428460" cy="369332"/>
                </a:xfrm>
                <a:prstGeom prst="rect">
                  <a:avLst/>
                </a:prstGeom>
                <a:noFill/>
              </p:spPr>
              <p:txBody>
                <a:bodyPr wrap="none" rtlCol="0">
                  <a:spAutoFit/>
                </a:bodyPr>
                <a:lstStyle/>
                <a:p>
                  <a:r>
                    <a:rPr lang="en-US" dirty="0"/>
                    <a:t>3c</a:t>
                  </a:r>
                </a:p>
              </p:txBody>
            </p:sp>
          </p:grpSp>
        </p:grpSp>
        <p:grpSp>
          <p:nvGrpSpPr>
            <p:cNvPr id="138" name="Group 137"/>
            <p:cNvGrpSpPr/>
            <p:nvPr/>
          </p:nvGrpSpPr>
          <p:grpSpPr>
            <a:xfrm>
              <a:off x="833331" y="3478719"/>
              <a:ext cx="565150" cy="369332"/>
              <a:chOff x="1736090" y="2873352"/>
              <a:chExt cx="565150" cy="369332"/>
            </a:xfrm>
          </p:grpSpPr>
          <p:grpSp>
            <p:nvGrpSpPr>
              <p:cNvPr id="145" name="Group 327"/>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441422" cy="369332"/>
                <a:chOff x="667045" y="1708643"/>
                <a:chExt cx="441422" cy="369332"/>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441422" cy="369332"/>
                </a:xfrm>
                <a:prstGeom prst="rect">
                  <a:avLst/>
                </a:prstGeom>
                <a:noFill/>
              </p:spPr>
              <p:txBody>
                <a:bodyPr wrap="none" rtlCol="0">
                  <a:spAutoFit/>
                </a:bodyPr>
                <a:lstStyle/>
                <a:p>
                  <a:r>
                    <a:rPr lang="en-US" dirty="0"/>
                    <a:t>3a</a:t>
                  </a:r>
                </a:p>
              </p:txBody>
            </p:sp>
          </p:grpSp>
        </p:grp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p:spPr>
        </p:cxnSp>
      </p:grpSp>
      <p:cxnSp>
        <p:nvCxnSpPr>
          <p:cNvPr id="128" name="Straight Connector 127"/>
          <p:cNvCxnSpPr/>
          <p:nvPr/>
        </p:nvCxnSpPr>
        <p:spPr bwMode="auto">
          <a:xfrm flipH="1" flipV="1">
            <a:off x="3046707" y="2702855"/>
            <a:ext cx="542552" cy="781201"/>
          </a:xfrm>
          <a:prstGeom prst="line">
            <a:avLst/>
          </a:prstGeom>
          <a:solidFill>
            <a:schemeClr val="accent1"/>
          </a:solidFill>
          <a:ln w="38100" cap="flat" cmpd="sng" algn="ctr">
            <a:solidFill>
              <a:schemeClr val="tx1"/>
            </a:solidFill>
            <a:prstDash val="solid"/>
            <a:round/>
            <a:headEnd type="none" w="med" len="med"/>
            <a:tailEnd type="none" w="med" len="med"/>
          </a:ln>
          <a:effectLst/>
        </p:spPr>
      </p:cxnSp>
      <p:cxnSp>
        <p:nvCxnSpPr>
          <p:cNvPr id="129" name="Straight Connector 128"/>
          <p:cNvCxnSpPr/>
          <p:nvPr/>
        </p:nvCxnSpPr>
        <p:spPr bwMode="auto">
          <a:xfrm flipV="1">
            <a:off x="5523188" y="2643973"/>
            <a:ext cx="337735" cy="823128"/>
          </a:xfrm>
          <a:prstGeom prst="line">
            <a:avLst/>
          </a:prstGeom>
          <a:solidFill>
            <a:schemeClr val="accent1"/>
          </a:solidFill>
          <a:ln w="38100" cap="flat" cmpd="sng" algn="ctr">
            <a:solidFill>
              <a:schemeClr val="tx1"/>
            </a:solidFill>
            <a:prstDash val="solid"/>
            <a:round/>
            <a:headEnd type="none" w="med" len="med"/>
            <a:tailEnd type="none" w="med" len="med"/>
          </a:ln>
          <a:effectLst/>
        </p:spPr>
      </p:cxnSp>
      <p:sp>
        <p:nvSpPr>
          <p:cNvPr id="130" name="TextBox 129"/>
          <p:cNvSpPr txBox="1"/>
          <p:nvPr/>
        </p:nvSpPr>
        <p:spPr>
          <a:xfrm>
            <a:off x="3493291" y="2801177"/>
            <a:ext cx="682273" cy="400110"/>
          </a:xfrm>
          <a:prstGeom prst="rect">
            <a:avLst/>
          </a:prstGeom>
          <a:noFill/>
        </p:spPr>
        <p:txBody>
          <a:bodyPr wrap="none" rtlCol="0">
            <a:spAutoFit/>
          </a:bodyPr>
          <a:lstStyle/>
          <a:p>
            <a:r>
              <a:rPr lang="en-US" sz="2000" dirty="0">
                <a:solidFill>
                  <a:srgbClr val="000090"/>
                </a:solidFill>
              </a:rPr>
              <a:t>AS2</a:t>
            </a:r>
          </a:p>
        </p:txBody>
      </p:sp>
      <p:sp>
        <p:nvSpPr>
          <p:cNvPr id="131" name="TextBox 130"/>
          <p:cNvSpPr txBox="1"/>
          <p:nvPr/>
        </p:nvSpPr>
        <p:spPr>
          <a:xfrm>
            <a:off x="5543950" y="1714475"/>
            <a:ext cx="682273" cy="400110"/>
          </a:xfrm>
          <a:prstGeom prst="rect">
            <a:avLst/>
          </a:prstGeom>
          <a:noFill/>
        </p:spPr>
        <p:txBody>
          <a:bodyPr wrap="none" rtlCol="0">
            <a:spAutoFit/>
          </a:bodyPr>
          <a:lstStyle/>
          <a:p>
            <a:r>
              <a:rPr lang="en-US" sz="2000" dirty="0">
                <a:solidFill>
                  <a:srgbClr val="000090"/>
                </a:solidFill>
              </a:rPr>
              <a:t>AS3</a:t>
            </a:r>
          </a:p>
        </p:txBody>
      </p:sp>
      <p:sp>
        <p:nvSpPr>
          <p:cNvPr id="132" name="TextBox 131"/>
          <p:cNvSpPr txBox="1"/>
          <p:nvPr/>
        </p:nvSpPr>
        <p:spPr>
          <a:xfrm>
            <a:off x="707172" y="1925151"/>
            <a:ext cx="682273" cy="400110"/>
          </a:xfrm>
          <a:prstGeom prst="rect">
            <a:avLst/>
          </a:prstGeom>
          <a:noFill/>
        </p:spPr>
        <p:txBody>
          <a:bodyPr wrap="none" rtlCol="0">
            <a:spAutoFit/>
          </a:bodyPr>
          <a:lstStyle/>
          <a:p>
            <a:r>
              <a:rPr lang="en-US" sz="2000" dirty="0">
                <a:solidFill>
                  <a:srgbClr val="000090"/>
                </a:solidFill>
              </a:rPr>
              <a:t>AS1</a:t>
            </a:r>
          </a:p>
        </p:txBody>
      </p:sp>
      <p:grpSp>
        <p:nvGrpSpPr>
          <p:cNvPr id="11" name="Group 10"/>
          <p:cNvGrpSpPr/>
          <p:nvPr/>
        </p:nvGrpSpPr>
        <p:grpSpPr>
          <a:xfrm>
            <a:off x="7070827" y="2776082"/>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 name="connsiteX0-307" fmla="*/ 4 w 9959"/>
                  <a:gd name="connsiteY0-308" fmla="*/ 5593 h 11352"/>
                  <a:gd name="connsiteX1-309" fmla="*/ 1089 w 9959"/>
                  <a:gd name="connsiteY1-310" fmla="*/ 469 h 11352"/>
                  <a:gd name="connsiteX2-311" fmla="*/ 4845 w 9959"/>
                  <a:gd name="connsiteY2-312" fmla="*/ 561 h 11352"/>
                  <a:gd name="connsiteX3-313" fmla="*/ 8027 w 9959"/>
                  <a:gd name="connsiteY3-314" fmla="*/ 3370 h 11352"/>
                  <a:gd name="connsiteX4-315" fmla="*/ 9955 w 9959"/>
                  <a:gd name="connsiteY4-316" fmla="*/ 5970 h 11352"/>
                  <a:gd name="connsiteX5-317" fmla="*/ 8435 w 9959"/>
                  <a:gd name="connsiteY5-318" fmla="*/ 7863 h 11352"/>
                  <a:gd name="connsiteX6-319" fmla="*/ 5161 w 9959"/>
                  <a:gd name="connsiteY6-320" fmla="*/ 11352 h 11352"/>
                  <a:gd name="connsiteX7-321" fmla="*/ 2712 w 9959"/>
                  <a:gd name="connsiteY7-322" fmla="*/ 8240 h 11352"/>
                  <a:gd name="connsiteX8-323" fmla="*/ 1334 w 9959"/>
                  <a:gd name="connsiteY8-324" fmla="*/ 7922 h 11352"/>
                  <a:gd name="connsiteX9-325" fmla="*/ 4 w 9959"/>
                  <a:gd name="connsiteY9-326" fmla="*/ 5593 h 11352"/>
                  <a:gd name="connsiteX0-327" fmla="*/ 0 w 11223"/>
                  <a:gd name="connsiteY0-328" fmla="*/ 3835 h 9929"/>
                  <a:gd name="connsiteX1-329" fmla="*/ 2316 w 11223"/>
                  <a:gd name="connsiteY1-330" fmla="*/ 342 h 9929"/>
                  <a:gd name="connsiteX2-331" fmla="*/ 6088 w 11223"/>
                  <a:gd name="connsiteY2-332" fmla="*/ 423 h 9929"/>
                  <a:gd name="connsiteX3-333" fmla="*/ 9283 w 11223"/>
                  <a:gd name="connsiteY3-334" fmla="*/ 2898 h 9929"/>
                  <a:gd name="connsiteX4-335" fmla="*/ 11219 w 11223"/>
                  <a:gd name="connsiteY4-336" fmla="*/ 5188 h 9929"/>
                  <a:gd name="connsiteX5-337" fmla="*/ 9693 w 11223"/>
                  <a:gd name="connsiteY5-338" fmla="*/ 6856 h 9929"/>
                  <a:gd name="connsiteX6-339" fmla="*/ 6405 w 11223"/>
                  <a:gd name="connsiteY6-340" fmla="*/ 9929 h 9929"/>
                  <a:gd name="connsiteX7-341" fmla="*/ 3946 w 11223"/>
                  <a:gd name="connsiteY7-342" fmla="*/ 7188 h 9929"/>
                  <a:gd name="connsiteX8-343" fmla="*/ 2562 w 11223"/>
                  <a:gd name="connsiteY8-344" fmla="*/ 6908 h 9929"/>
                  <a:gd name="connsiteX9-345" fmla="*/ 0 w 11223"/>
                  <a:gd name="connsiteY9-346" fmla="*/ 3835 h 9929"/>
                  <a:gd name="connsiteX0-347" fmla="*/ 0 w 9999"/>
                  <a:gd name="connsiteY0-348" fmla="*/ 3862 h 10000"/>
                  <a:gd name="connsiteX1-349" fmla="*/ 2064 w 9999"/>
                  <a:gd name="connsiteY1-350" fmla="*/ 344 h 10000"/>
                  <a:gd name="connsiteX2-351" fmla="*/ 5425 w 9999"/>
                  <a:gd name="connsiteY2-352" fmla="*/ 426 h 10000"/>
                  <a:gd name="connsiteX3-353" fmla="*/ 8271 w 9999"/>
                  <a:gd name="connsiteY3-354" fmla="*/ 2919 h 10000"/>
                  <a:gd name="connsiteX4-355" fmla="*/ 9996 w 9999"/>
                  <a:gd name="connsiteY4-356" fmla="*/ 5225 h 10000"/>
                  <a:gd name="connsiteX5-357" fmla="*/ 8637 w 9999"/>
                  <a:gd name="connsiteY5-358" fmla="*/ 6905 h 10000"/>
                  <a:gd name="connsiteX6-359" fmla="*/ 5707 w 9999"/>
                  <a:gd name="connsiteY6-360" fmla="*/ 10000 h 10000"/>
                  <a:gd name="connsiteX7-361" fmla="*/ 2283 w 9999"/>
                  <a:gd name="connsiteY7-362" fmla="*/ 6957 h 10000"/>
                  <a:gd name="connsiteX8-363" fmla="*/ 0 w 9999"/>
                  <a:gd name="connsiteY8-364" fmla="*/ 3862 h 10000"/>
                  <a:gd name="connsiteX0-365" fmla="*/ 124 w 10124"/>
                  <a:gd name="connsiteY0-366" fmla="*/ 3862 h 10000"/>
                  <a:gd name="connsiteX1-367" fmla="*/ 2188 w 10124"/>
                  <a:gd name="connsiteY1-368" fmla="*/ 344 h 10000"/>
                  <a:gd name="connsiteX2-369" fmla="*/ 5550 w 10124"/>
                  <a:gd name="connsiteY2-370" fmla="*/ 426 h 10000"/>
                  <a:gd name="connsiteX3-371" fmla="*/ 8396 w 10124"/>
                  <a:gd name="connsiteY3-372" fmla="*/ 2919 h 10000"/>
                  <a:gd name="connsiteX4-373" fmla="*/ 10121 w 10124"/>
                  <a:gd name="connsiteY4-374" fmla="*/ 5225 h 10000"/>
                  <a:gd name="connsiteX5-375" fmla="*/ 8762 w 10124"/>
                  <a:gd name="connsiteY5-376" fmla="*/ 6905 h 10000"/>
                  <a:gd name="connsiteX6-377" fmla="*/ 5832 w 10124"/>
                  <a:gd name="connsiteY6-378" fmla="*/ 10000 h 10000"/>
                  <a:gd name="connsiteX7-379" fmla="*/ 124 w 10124"/>
                  <a:gd name="connsiteY7-380" fmla="*/ 3862 h 10000"/>
                  <a:gd name="connsiteX0-381" fmla="*/ 43 w 10045"/>
                  <a:gd name="connsiteY0-382" fmla="*/ 3862 h 6912"/>
                  <a:gd name="connsiteX1-383" fmla="*/ 2107 w 10045"/>
                  <a:gd name="connsiteY1-384" fmla="*/ 344 h 6912"/>
                  <a:gd name="connsiteX2-385" fmla="*/ 5469 w 10045"/>
                  <a:gd name="connsiteY2-386" fmla="*/ 426 h 6912"/>
                  <a:gd name="connsiteX3-387" fmla="*/ 8315 w 10045"/>
                  <a:gd name="connsiteY3-388" fmla="*/ 2919 h 6912"/>
                  <a:gd name="connsiteX4-389" fmla="*/ 10040 w 10045"/>
                  <a:gd name="connsiteY4-390" fmla="*/ 5225 h 6912"/>
                  <a:gd name="connsiteX5-391" fmla="*/ 8681 w 10045"/>
                  <a:gd name="connsiteY5-392" fmla="*/ 6905 h 6912"/>
                  <a:gd name="connsiteX6-393" fmla="*/ 3967 w 10045"/>
                  <a:gd name="connsiteY6-394" fmla="*/ 5885 h 6912"/>
                  <a:gd name="connsiteX7-395" fmla="*/ 43 w 10045"/>
                  <a:gd name="connsiteY7-396" fmla="*/ 3862 h 6912"/>
                  <a:gd name="connsiteX0-397" fmla="*/ 47 w 10004"/>
                  <a:gd name="connsiteY0-398" fmla="*/ 5106 h 9519"/>
                  <a:gd name="connsiteX1-399" fmla="*/ 2102 w 10004"/>
                  <a:gd name="connsiteY1-400" fmla="*/ 17 h 9519"/>
                  <a:gd name="connsiteX2-401" fmla="*/ 6651 w 10004"/>
                  <a:gd name="connsiteY2-402" fmla="*/ 3484 h 9519"/>
                  <a:gd name="connsiteX3-403" fmla="*/ 8282 w 10004"/>
                  <a:gd name="connsiteY3-404" fmla="*/ 3742 h 9519"/>
                  <a:gd name="connsiteX4-405" fmla="*/ 9999 w 10004"/>
                  <a:gd name="connsiteY4-406" fmla="*/ 7078 h 9519"/>
                  <a:gd name="connsiteX5-407" fmla="*/ 8646 w 10004"/>
                  <a:gd name="connsiteY5-408" fmla="*/ 9509 h 9519"/>
                  <a:gd name="connsiteX6-409" fmla="*/ 3953 w 10004"/>
                  <a:gd name="connsiteY6-410" fmla="*/ 8033 h 9519"/>
                  <a:gd name="connsiteX7-411" fmla="*/ 47 w 10004"/>
                  <a:gd name="connsiteY7-412" fmla="*/ 5106 h 9519"/>
                  <a:gd name="connsiteX0-413" fmla="*/ 43 w 9996"/>
                  <a:gd name="connsiteY0-414" fmla="*/ 6232 h 10868"/>
                  <a:gd name="connsiteX1-415" fmla="*/ 2097 w 9996"/>
                  <a:gd name="connsiteY1-416" fmla="*/ 886 h 10868"/>
                  <a:gd name="connsiteX2-417" fmla="*/ 5642 w 9996"/>
                  <a:gd name="connsiteY2-418" fmla="*/ 385 h 10868"/>
                  <a:gd name="connsiteX3-419" fmla="*/ 8275 w 9996"/>
                  <a:gd name="connsiteY3-420" fmla="*/ 4799 h 10868"/>
                  <a:gd name="connsiteX4-421" fmla="*/ 9991 w 9996"/>
                  <a:gd name="connsiteY4-422" fmla="*/ 8304 h 10868"/>
                  <a:gd name="connsiteX5-423" fmla="*/ 8639 w 9996"/>
                  <a:gd name="connsiteY5-424" fmla="*/ 10857 h 10868"/>
                  <a:gd name="connsiteX6-425" fmla="*/ 3947 w 9996"/>
                  <a:gd name="connsiteY6-426" fmla="*/ 9307 h 10868"/>
                  <a:gd name="connsiteX7-427" fmla="*/ 43 w 9996"/>
                  <a:gd name="connsiteY7-428" fmla="*/ 6232 h 10868"/>
                  <a:gd name="connsiteX0-429" fmla="*/ 43 w 10004"/>
                  <a:gd name="connsiteY0-430" fmla="*/ 5543 h 9809"/>
                  <a:gd name="connsiteX1-431" fmla="*/ 2098 w 10004"/>
                  <a:gd name="connsiteY1-432" fmla="*/ 624 h 9809"/>
                  <a:gd name="connsiteX2-433" fmla="*/ 5644 w 10004"/>
                  <a:gd name="connsiteY2-434" fmla="*/ 163 h 9809"/>
                  <a:gd name="connsiteX3-435" fmla="*/ 8163 w 10004"/>
                  <a:gd name="connsiteY3-436" fmla="*/ 1492 h 9809"/>
                  <a:gd name="connsiteX4-437" fmla="*/ 9995 w 10004"/>
                  <a:gd name="connsiteY4-438" fmla="*/ 7450 h 9809"/>
                  <a:gd name="connsiteX5-439" fmla="*/ 8642 w 10004"/>
                  <a:gd name="connsiteY5-440" fmla="*/ 9799 h 9809"/>
                  <a:gd name="connsiteX6-441" fmla="*/ 3949 w 10004"/>
                  <a:gd name="connsiteY6-442" fmla="*/ 8373 h 9809"/>
                  <a:gd name="connsiteX7-443" fmla="*/ 43 w 10004"/>
                  <a:gd name="connsiteY7-444" fmla="*/ 5543 h 9809"/>
                  <a:gd name="connsiteX0-445" fmla="*/ 43 w 8950"/>
                  <a:gd name="connsiteY0-446" fmla="*/ 5651 h 10081"/>
                  <a:gd name="connsiteX1-447" fmla="*/ 2097 w 8950"/>
                  <a:gd name="connsiteY1-448" fmla="*/ 636 h 10081"/>
                  <a:gd name="connsiteX2-449" fmla="*/ 5642 w 8950"/>
                  <a:gd name="connsiteY2-450" fmla="*/ 166 h 10081"/>
                  <a:gd name="connsiteX3-451" fmla="*/ 8160 w 8950"/>
                  <a:gd name="connsiteY3-452" fmla="*/ 1521 h 10081"/>
                  <a:gd name="connsiteX4-453" fmla="*/ 8473 w 8950"/>
                  <a:gd name="connsiteY4-454" fmla="*/ 5322 h 10081"/>
                  <a:gd name="connsiteX5-455" fmla="*/ 8639 w 8950"/>
                  <a:gd name="connsiteY5-456" fmla="*/ 9990 h 10081"/>
                  <a:gd name="connsiteX6-457" fmla="*/ 3947 w 8950"/>
                  <a:gd name="connsiteY6-458" fmla="*/ 8536 h 10081"/>
                  <a:gd name="connsiteX7-459" fmla="*/ 43 w 8950"/>
                  <a:gd name="connsiteY7-460" fmla="*/ 5651 h 10081"/>
                  <a:gd name="connsiteX0-461" fmla="*/ 48 w 9651"/>
                  <a:gd name="connsiteY0-462" fmla="*/ 5606 h 8648"/>
                  <a:gd name="connsiteX1-463" fmla="*/ 2343 w 9651"/>
                  <a:gd name="connsiteY1-464" fmla="*/ 631 h 8648"/>
                  <a:gd name="connsiteX2-465" fmla="*/ 6304 w 9651"/>
                  <a:gd name="connsiteY2-466" fmla="*/ 165 h 8648"/>
                  <a:gd name="connsiteX3-467" fmla="*/ 9117 w 9651"/>
                  <a:gd name="connsiteY3-468" fmla="*/ 1509 h 8648"/>
                  <a:gd name="connsiteX4-469" fmla="*/ 9467 w 9651"/>
                  <a:gd name="connsiteY4-470" fmla="*/ 5279 h 8648"/>
                  <a:gd name="connsiteX5-471" fmla="*/ 6997 w 9651"/>
                  <a:gd name="connsiteY5-472" fmla="*/ 8019 h 8648"/>
                  <a:gd name="connsiteX6-473" fmla="*/ 4410 w 9651"/>
                  <a:gd name="connsiteY6-474" fmla="*/ 8467 h 8648"/>
                  <a:gd name="connsiteX7-475" fmla="*/ 48 w 9651"/>
                  <a:gd name="connsiteY7-476" fmla="*/ 5606 h 8648"/>
                  <a:gd name="connsiteX0-477" fmla="*/ 41 w 9991"/>
                  <a:gd name="connsiteY0-478" fmla="*/ 6482 h 9316"/>
                  <a:gd name="connsiteX1-479" fmla="*/ 2419 w 9991"/>
                  <a:gd name="connsiteY1-480" fmla="*/ 730 h 9316"/>
                  <a:gd name="connsiteX2-481" fmla="*/ 6523 w 9991"/>
                  <a:gd name="connsiteY2-482" fmla="*/ 191 h 9316"/>
                  <a:gd name="connsiteX3-483" fmla="*/ 9438 w 9991"/>
                  <a:gd name="connsiteY3-484" fmla="*/ 1745 h 9316"/>
                  <a:gd name="connsiteX4-485" fmla="*/ 9800 w 9991"/>
                  <a:gd name="connsiteY4-486" fmla="*/ 6104 h 9316"/>
                  <a:gd name="connsiteX5-487" fmla="*/ 7241 w 9991"/>
                  <a:gd name="connsiteY5-488" fmla="*/ 9273 h 9316"/>
                  <a:gd name="connsiteX6-489" fmla="*/ 1411 w 9991"/>
                  <a:gd name="connsiteY6-490" fmla="*/ 7856 h 9316"/>
                  <a:gd name="connsiteX7-491" fmla="*/ 41 w 9991"/>
                  <a:gd name="connsiteY7-492" fmla="*/ 6482 h 9316"/>
                  <a:gd name="connsiteX0-493" fmla="*/ 19 w 10708"/>
                  <a:gd name="connsiteY0-494" fmla="*/ 7721 h 10038"/>
                  <a:gd name="connsiteX1-495" fmla="*/ 3129 w 10708"/>
                  <a:gd name="connsiteY1-496" fmla="*/ 825 h 10038"/>
                  <a:gd name="connsiteX2-497" fmla="*/ 7237 w 10708"/>
                  <a:gd name="connsiteY2-498" fmla="*/ 246 h 10038"/>
                  <a:gd name="connsiteX3-499" fmla="*/ 10155 w 10708"/>
                  <a:gd name="connsiteY3-500" fmla="*/ 1914 h 10038"/>
                  <a:gd name="connsiteX4-501" fmla="*/ 10517 w 10708"/>
                  <a:gd name="connsiteY4-502" fmla="*/ 6593 h 10038"/>
                  <a:gd name="connsiteX5-503" fmla="*/ 7956 w 10708"/>
                  <a:gd name="connsiteY5-504" fmla="*/ 9995 h 10038"/>
                  <a:gd name="connsiteX6-505" fmla="*/ 2120 w 10708"/>
                  <a:gd name="connsiteY6-506" fmla="*/ 8474 h 10038"/>
                  <a:gd name="connsiteX7-507" fmla="*/ 19 w 10708"/>
                  <a:gd name="connsiteY7-508" fmla="*/ 7721 h 10038"/>
                  <a:gd name="connsiteX0-509" fmla="*/ 359 w 11048"/>
                  <a:gd name="connsiteY0-510" fmla="*/ 7721 h 10038"/>
                  <a:gd name="connsiteX1-511" fmla="*/ 3469 w 11048"/>
                  <a:gd name="connsiteY1-512" fmla="*/ 825 h 10038"/>
                  <a:gd name="connsiteX2-513" fmla="*/ 7577 w 11048"/>
                  <a:gd name="connsiteY2-514" fmla="*/ 246 h 10038"/>
                  <a:gd name="connsiteX3-515" fmla="*/ 10495 w 11048"/>
                  <a:gd name="connsiteY3-516" fmla="*/ 1914 h 10038"/>
                  <a:gd name="connsiteX4-517" fmla="*/ 10857 w 11048"/>
                  <a:gd name="connsiteY4-518" fmla="*/ 6593 h 10038"/>
                  <a:gd name="connsiteX5-519" fmla="*/ 8296 w 11048"/>
                  <a:gd name="connsiteY5-520" fmla="*/ 9995 h 10038"/>
                  <a:gd name="connsiteX6-521" fmla="*/ 2460 w 11048"/>
                  <a:gd name="connsiteY6-522" fmla="*/ 8474 h 10038"/>
                  <a:gd name="connsiteX7-523" fmla="*/ 359 w 11048"/>
                  <a:gd name="connsiteY7-524" fmla="*/ 7721 h 10038"/>
                  <a:gd name="connsiteX0-525" fmla="*/ 359 w 11048"/>
                  <a:gd name="connsiteY0-526" fmla="*/ 8392 h 10075"/>
                  <a:gd name="connsiteX1-527" fmla="*/ 3469 w 11048"/>
                  <a:gd name="connsiteY1-528" fmla="*/ 864 h 10075"/>
                  <a:gd name="connsiteX2-529" fmla="*/ 7577 w 11048"/>
                  <a:gd name="connsiteY2-530" fmla="*/ 285 h 10075"/>
                  <a:gd name="connsiteX3-531" fmla="*/ 10495 w 11048"/>
                  <a:gd name="connsiteY3-532" fmla="*/ 1953 h 10075"/>
                  <a:gd name="connsiteX4-533" fmla="*/ 10857 w 11048"/>
                  <a:gd name="connsiteY4-534" fmla="*/ 6632 h 10075"/>
                  <a:gd name="connsiteX5-535" fmla="*/ 8296 w 11048"/>
                  <a:gd name="connsiteY5-536" fmla="*/ 10034 h 10075"/>
                  <a:gd name="connsiteX6-537" fmla="*/ 2460 w 11048"/>
                  <a:gd name="connsiteY6-538" fmla="*/ 8513 h 10075"/>
                  <a:gd name="connsiteX7-539" fmla="*/ 359 w 11048"/>
                  <a:gd name="connsiteY7-540" fmla="*/ 8392 h 10075"/>
                  <a:gd name="connsiteX0-541" fmla="*/ 371 w 11060"/>
                  <a:gd name="connsiteY0-542" fmla="*/ 8392 h 10075"/>
                  <a:gd name="connsiteX1-543" fmla="*/ 3481 w 11060"/>
                  <a:gd name="connsiteY1-544" fmla="*/ 864 h 10075"/>
                  <a:gd name="connsiteX2-545" fmla="*/ 7589 w 11060"/>
                  <a:gd name="connsiteY2-546" fmla="*/ 285 h 10075"/>
                  <a:gd name="connsiteX3-547" fmla="*/ 10507 w 11060"/>
                  <a:gd name="connsiteY3-548" fmla="*/ 1953 h 10075"/>
                  <a:gd name="connsiteX4-549" fmla="*/ 10869 w 11060"/>
                  <a:gd name="connsiteY4-550" fmla="*/ 6632 h 10075"/>
                  <a:gd name="connsiteX5-551" fmla="*/ 8308 w 11060"/>
                  <a:gd name="connsiteY5-552" fmla="*/ 10034 h 10075"/>
                  <a:gd name="connsiteX6-553" fmla="*/ 2472 w 11060"/>
                  <a:gd name="connsiteY6-554" fmla="*/ 8513 h 10075"/>
                  <a:gd name="connsiteX7-555" fmla="*/ 371 w 11060"/>
                  <a:gd name="connsiteY7-556" fmla="*/ 8392 h 10075"/>
                  <a:gd name="connsiteX0-557" fmla="*/ 54 w 10743"/>
                  <a:gd name="connsiteY0-558" fmla="*/ 9468 h 11151"/>
                  <a:gd name="connsiteX1-559" fmla="*/ 4027 w 10743"/>
                  <a:gd name="connsiteY1-560" fmla="*/ 495 h 11151"/>
                  <a:gd name="connsiteX2-561" fmla="*/ 7272 w 10743"/>
                  <a:gd name="connsiteY2-562" fmla="*/ 1361 h 11151"/>
                  <a:gd name="connsiteX3-563" fmla="*/ 10190 w 10743"/>
                  <a:gd name="connsiteY3-564" fmla="*/ 3029 h 11151"/>
                  <a:gd name="connsiteX4-565" fmla="*/ 10552 w 10743"/>
                  <a:gd name="connsiteY4-566" fmla="*/ 7708 h 11151"/>
                  <a:gd name="connsiteX5-567" fmla="*/ 7991 w 10743"/>
                  <a:gd name="connsiteY5-568" fmla="*/ 11110 h 11151"/>
                  <a:gd name="connsiteX6-569" fmla="*/ 2155 w 10743"/>
                  <a:gd name="connsiteY6-570" fmla="*/ 9589 h 11151"/>
                  <a:gd name="connsiteX7-571" fmla="*/ 54 w 10743"/>
                  <a:gd name="connsiteY7-572" fmla="*/ 9468 h 11151"/>
                  <a:gd name="connsiteX0-573" fmla="*/ 54 w 10743"/>
                  <a:gd name="connsiteY0-574" fmla="*/ 9506 h 11189"/>
                  <a:gd name="connsiteX1-575" fmla="*/ 4027 w 10743"/>
                  <a:gd name="connsiteY1-576" fmla="*/ 533 h 11189"/>
                  <a:gd name="connsiteX2-577" fmla="*/ 7272 w 10743"/>
                  <a:gd name="connsiteY2-578" fmla="*/ 1399 h 11189"/>
                  <a:gd name="connsiteX3-579" fmla="*/ 10190 w 10743"/>
                  <a:gd name="connsiteY3-580" fmla="*/ 3067 h 11189"/>
                  <a:gd name="connsiteX4-581" fmla="*/ 10552 w 10743"/>
                  <a:gd name="connsiteY4-582" fmla="*/ 7746 h 11189"/>
                  <a:gd name="connsiteX5-583" fmla="*/ 7991 w 10743"/>
                  <a:gd name="connsiteY5-584" fmla="*/ 11148 h 11189"/>
                  <a:gd name="connsiteX6-585" fmla="*/ 2155 w 10743"/>
                  <a:gd name="connsiteY6-586" fmla="*/ 9627 h 11189"/>
                  <a:gd name="connsiteX7-587" fmla="*/ 54 w 10743"/>
                  <a:gd name="connsiteY7-588" fmla="*/ 9506 h 11189"/>
                  <a:gd name="connsiteX0-589" fmla="*/ 40 w 11293"/>
                  <a:gd name="connsiteY0-590" fmla="*/ 9082 h 11127"/>
                  <a:gd name="connsiteX1-591" fmla="*/ 4577 w 11293"/>
                  <a:gd name="connsiteY1-592" fmla="*/ 470 h 11127"/>
                  <a:gd name="connsiteX2-593" fmla="*/ 7822 w 11293"/>
                  <a:gd name="connsiteY2-594" fmla="*/ 1336 h 11127"/>
                  <a:gd name="connsiteX3-595" fmla="*/ 10740 w 11293"/>
                  <a:gd name="connsiteY3-596" fmla="*/ 3004 h 11127"/>
                  <a:gd name="connsiteX4-597" fmla="*/ 11102 w 11293"/>
                  <a:gd name="connsiteY4-598" fmla="*/ 7683 h 11127"/>
                  <a:gd name="connsiteX5-599" fmla="*/ 8541 w 11293"/>
                  <a:gd name="connsiteY5-600" fmla="*/ 11085 h 11127"/>
                  <a:gd name="connsiteX6-601" fmla="*/ 2705 w 11293"/>
                  <a:gd name="connsiteY6-602" fmla="*/ 9564 h 11127"/>
                  <a:gd name="connsiteX7-603" fmla="*/ 40 w 11293"/>
                  <a:gd name="connsiteY7-604" fmla="*/ 9082 h 1112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p:spPr>
            <p:txBody>
              <a:bodyPr wrap="none" anchor="ctr"/>
              <a:lstStyle/>
              <a:p>
                <a:endParaRPr lang="en-US"/>
              </a:p>
            </p:txBody>
          </p:sp>
          <p:grpSp>
            <p:nvGrpSpPr>
              <p:cNvPr id="370" name="Group 327"/>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76581" y="5223365"/>
                <a:ext cx="466894" cy="369332"/>
                <a:chOff x="599495" y="1708643"/>
                <a:chExt cx="491778" cy="409344"/>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99495" y="1708643"/>
                  <a:ext cx="491778" cy="409344"/>
                </a:xfrm>
                <a:prstGeom prst="rect">
                  <a:avLst/>
                </a:prstGeom>
                <a:noFill/>
              </p:spPr>
              <p:txBody>
                <a:bodyPr wrap="none" rtlCol="0">
                  <a:spAutoFit/>
                </a:bodyPr>
                <a:lstStyle/>
                <a:p>
                  <a:pPr algn="ctr"/>
                  <a:r>
                    <a:rPr lang="en-US" dirty="0"/>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chemeClr val="tx1"/>
              </a:solidFill>
              <a:prstDash val="solid"/>
              <a:round/>
              <a:headEnd type="none" w="med" len="med"/>
              <a:tailEnd type="none" w="med" len="med"/>
            </a:ln>
            <a:effectLst/>
          </p:spPr>
        </p:cxnSp>
      </p:grpSp>
      <p:sp>
        <p:nvSpPr>
          <p:cNvPr id="334" name="Rectangle 4"/>
          <p:cNvSpPr txBox="1">
            <a:spLocks noChangeArrowheads="1"/>
          </p:cNvSpPr>
          <p:nvPr/>
        </p:nvSpPr>
        <p:spPr bwMode="auto">
          <a:xfrm>
            <a:off x="3478500" y="5238590"/>
            <a:ext cx="5389671" cy="1028705"/>
          </a:xfrm>
          <a:prstGeom prst="rect">
            <a:avLst/>
          </a:prstGeom>
          <a:noFill/>
          <a:ln>
            <a:noFill/>
          </a:ln>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pPr marL="294005" indent="-294005">
              <a:lnSpc>
                <a:spcPct val="90000"/>
              </a:lnSpc>
            </a:pPr>
            <a:r>
              <a:rPr lang="en-US" sz="2000" dirty="0">
                <a:latin typeface="Arial" panose="020B0604020202090204"/>
                <a:cs typeface="Arial" panose="020B0604020202090204"/>
              </a:rPr>
              <a:t>1</a:t>
            </a:r>
            <a:r>
              <a:rPr lang="en-US" sz="2000" dirty="0">
                <a:latin typeface="Gill Sans MT" pitchFamily="34" charset="0"/>
              </a:rPr>
              <a:t>d: OSPF intra-domain routing: to get to </a:t>
            </a:r>
            <a:r>
              <a:rPr lang="en-US" sz="2000" dirty="0">
                <a:latin typeface="Arial" panose="020B0604020202090204"/>
                <a:cs typeface="Arial" panose="020B0604020202090204"/>
              </a:rPr>
              <a:t>1</a:t>
            </a:r>
            <a:r>
              <a:rPr lang="en-US" sz="2000" dirty="0">
                <a:latin typeface="Gill Sans MT" pitchFamily="34" charset="0"/>
              </a:rPr>
              <a:t>c, forward over outgoing local interface </a:t>
            </a:r>
            <a:r>
              <a:rPr lang="en-US" sz="2000" dirty="0">
                <a:latin typeface="Arial" panose="020B0604020202090204"/>
                <a:cs typeface="Arial" panose="020B0604020202090204"/>
              </a:rPr>
              <a:t>1</a:t>
            </a:r>
          </a:p>
        </p:txBody>
      </p:sp>
      <p:sp>
        <p:nvSpPr>
          <p:cNvPr id="8" name="TextBox 7"/>
          <p:cNvSpPr txBox="1"/>
          <p:nvPr/>
        </p:nvSpPr>
        <p:spPr>
          <a:xfrm>
            <a:off x="604729" y="1189190"/>
            <a:ext cx="7270064" cy="400110"/>
          </a:xfrm>
          <a:prstGeom prst="rect">
            <a:avLst/>
          </a:prstGeom>
          <a:noFill/>
        </p:spPr>
        <p:txBody>
          <a:bodyPr wrap="none" rtlCol="0">
            <a:spAutoFit/>
          </a:bodyPr>
          <a:lstStyle/>
          <a:p>
            <a:r>
              <a:rPr lang="en-US" sz="2000" dirty="0">
                <a:solidFill>
                  <a:srgbClr val="000090"/>
                </a:solidFill>
              </a:rPr>
              <a:t>Q: how does router set forwarding table entry to distant prefix?</a:t>
            </a:r>
          </a:p>
        </p:txBody>
      </p:sp>
      <p:grpSp>
        <p:nvGrpSpPr>
          <p:cNvPr id="13" name="Group 12"/>
          <p:cNvGrpSpPr/>
          <p:nvPr/>
        </p:nvGrpSpPr>
        <p:grpSpPr>
          <a:xfrm>
            <a:off x="537654" y="2724170"/>
            <a:ext cx="1694528" cy="3566248"/>
            <a:chOff x="537654" y="2724170"/>
            <a:chExt cx="1694528" cy="3566248"/>
          </a:xfrm>
        </p:grpSpPr>
        <p:sp>
          <p:nvSpPr>
            <p:cNvPr id="469" name="Freeform 468"/>
            <p:cNvSpPr/>
            <p:nvPr/>
          </p:nvSpPr>
          <p:spPr>
            <a:xfrm rot="10326036" flipH="1">
              <a:off x="726574" y="2724170"/>
              <a:ext cx="991619" cy="164121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1040633"/>
                <a:gd name="connsiteY0-162" fmla="*/ 1160935 h 1160935"/>
                <a:gd name="connsiteX1-163" fmla="*/ 0 w 1040633"/>
                <a:gd name="connsiteY1-164" fmla="*/ 0 h 1160935"/>
                <a:gd name="connsiteX2-165" fmla="*/ 1040633 w 1040633"/>
                <a:gd name="connsiteY2-166" fmla="*/ 16785 h 1160935"/>
                <a:gd name="connsiteX3-167" fmla="*/ 569478 w 1040633"/>
                <a:gd name="connsiteY3-168" fmla="*/ 1158121 h 1160935"/>
                <a:gd name="connsiteX4-169" fmla="*/ 363082 w 1040633"/>
                <a:gd name="connsiteY4-170" fmla="*/ 1160935 h 1160935"/>
                <a:gd name="connsiteX0-171" fmla="*/ 363082 w 1040633"/>
                <a:gd name="connsiteY0-172" fmla="*/ 1160935 h 1160935"/>
                <a:gd name="connsiteX1-173" fmla="*/ 0 w 1040633"/>
                <a:gd name="connsiteY1-174" fmla="*/ 0 h 1160935"/>
                <a:gd name="connsiteX2-175" fmla="*/ 1040633 w 1040633"/>
                <a:gd name="connsiteY2-176" fmla="*/ 16785 h 1160935"/>
                <a:gd name="connsiteX3-177" fmla="*/ 569478 w 1040633"/>
                <a:gd name="connsiteY3-178" fmla="*/ 1158121 h 1160935"/>
                <a:gd name="connsiteX4-179" fmla="*/ 363082 w 1040633"/>
                <a:gd name="connsiteY4-180" fmla="*/ 1160935 h 1160935"/>
                <a:gd name="connsiteX0-181" fmla="*/ 448507 w 1040633"/>
                <a:gd name="connsiteY0-182" fmla="*/ 1160935 h 1160935"/>
                <a:gd name="connsiteX1-183" fmla="*/ 0 w 1040633"/>
                <a:gd name="connsiteY1-184" fmla="*/ 0 h 1160935"/>
                <a:gd name="connsiteX2-185" fmla="*/ 1040633 w 1040633"/>
                <a:gd name="connsiteY2-186" fmla="*/ 16785 h 1160935"/>
                <a:gd name="connsiteX3-187" fmla="*/ 569478 w 1040633"/>
                <a:gd name="connsiteY3-188" fmla="*/ 1158121 h 1160935"/>
                <a:gd name="connsiteX4-189" fmla="*/ 448507 w 1040633"/>
                <a:gd name="connsiteY4-190" fmla="*/ 1160935 h 1160935"/>
                <a:gd name="connsiteX0-191" fmla="*/ 448507 w 1040633"/>
                <a:gd name="connsiteY0-192" fmla="*/ 1160935 h 1160935"/>
                <a:gd name="connsiteX1-193" fmla="*/ 0 w 1040633"/>
                <a:gd name="connsiteY1-194" fmla="*/ 0 h 1160935"/>
                <a:gd name="connsiteX2-195" fmla="*/ 1040633 w 1040633"/>
                <a:gd name="connsiteY2-196" fmla="*/ 16785 h 1160935"/>
                <a:gd name="connsiteX3-197" fmla="*/ 569478 w 1040633"/>
                <a:gd name="connsiteY3-198" fmla="*/ 1158121 h 1160935"/>
                <a:gd name="connsiteX4-199" fmla="*/ 448507 w 1040633"/>
                <a:gd name="connsiteY4-200" fmla="*/ 1160935 h 1160935"/>
                <a:gd name="connsiteX0-201" fmla="*/ 448507 w 1040633"/>
                <a:gd name="connsiteY0-202" fmla="*/ 1160935 h 1160935"/>
                <a:gd name="connsiteX1-203" fmla="*/ 0 w 1040633"/>
                <a:gd name="connsiteY1-204" fmla="*/ 0 h 1160935"/>
                <a:gd name="connsiteX2-205" fmla="*/ 1040633 w 1040633"/>
                <a:gd name="connsiteY2-206" fmla="*/ 16785 h 1160935"/>
                <a:gd name="connsiteX3-207" fmla="*/ 569478 w 1040633"/>
                <a:gd name="connsiteY3-208" fmla="*/ 1158121 h 1160935"/>
                <a:gd name="connsiteX4-209" fmla="*/ 448507 w 1040633"/>
                <a:gd name="connsiteY4-210" fmla="*/ 1160935 h 1160935"/>
                <a:gd name="connsiteX0-211" fmla="*/ 448507 w 1325315"/>
                <a:gd name="connsiteY0-212" fmla="*/ 1160935 h 1160935"/>
                <a:gd name="connsiteX1-213" fmla="*/ 0 w 1325315"/>
                <a:gd name="connsiteY1-214" fmla="*/ 0 h 1160935"/>
                <a:gd name="connsiteX2-215" fmla="*/ 1040633 w 1325315"/>
                <a:gd name="connsiteY2-216" fmla="*/ 16785 h 1160935"/>
                <a:gd name="connsiteX3-217" fmla="*/ 1214315 w 1325315"/>
                <a:gd name="connsiteY3-218" fmla="*/ 1064597 h 1160935"/>
                <a:gd name="connsiteX4-219" fmla="*/ 448507 w 1325315"/>
                <a:gd name="connsiteY4-220" fmla="*/ 1160935 h 1160935"/>
                <a:gd name="connsiteX0-221" fmla="*/ 448507 w 1214315"/>
                <a:gd name="connsiteY0-222" fmla="*/ 1160935 h 1160935"/>
                <a:gd name="connsiteX1-223" fmla="*/ 0 w 1214315"/>
                <a:gd name="connsiteY1-224" fmla="*/ 0 h 1160935"/>
                <a:gd name="connsiteX2-225" fmla="*/ 1040633 w 1214315"/>
                <a:gd name="connsiteY2-226" fmla="*/ 16785 h 1160935"/>
                <a:gd name="connsiteX3-227" fmla="*/ 1214315 w 1214315"/>
                <a:gd name="connsiteY3-228" fmla="*/ 1064597 h 1160935"/>
                <a:gd name="connsiteX4-229" fmla="*/ 448507 w 1214315"/>
                <a:gd name="connsiteY4-230" fmla="*/ 1160935 h 1160935"/>
                <a:gd name="connsiteX0-231" fmla="*/ 448507 w 1214315"/>
                <a:gd name="connsiteY0-232" fmla="*/ 1160935 h 1160935"/>
                <a:gd name="connsiteX1-233" fmla="*/ 0 w 1214315"/>
                <a:gd name="connsiteY1-234" fmla="*/ 0 h 1160935"/>
                <a:gd name="connsiteX2-235" fmla="*/ 1040633 w 1214315"/>
                <a:gd name="connsiteY2-236" fmla="*/ 16785 h 1160935"/>
                <a:gd name="connsiteX3-237" fmla="*/ 1214315 w 1214315"/>
                <a:gd name="connsiteY3-238" fmla="*/ 1064597 h 1160935"/>
                <a:gd name="connsiteX4-239" fmla="*/ 448507 w 1214315"/>
                <a:gd name="connsiteY4-240" fmla="*/ 1160935 h 1160935"/>
                <a:gd name="connsiteX0-241" fmla="*/ 1053964 w 1214315"/>
                <a:gd name="connsiteY0-242" fmla="*/ 1136323 h 1136323"/>
                <a:gd name="connsiteX1-243" fmla="*/ 0 w 1214315"/>
                <a:gd name="connsiteY1-244" fmla="*/ 0 h 1136323"/>
                <a:gd name="connsiteX2-245" fmla="*/ 1040633 w 1214315"/>
                <a:gd name="connsiteY2-246" fmla="*/ 16785 h 1136323"/>
                <a:gd name="connsiteX3-247" fmla="*/ 1214315 w 1214315"/>
                <a:gd name="connsiteY3-248" fmla="*/ 1064597 h 1136323"/>
                <a:gd name="connsiteX4-249" fmla="*/ 1053964 w 1214315"/>
                <a:gd name="connsiteY4-250" fmla="*/ 1136323 h 1136323"/>
                <a:gd name="connsiteX0-251" fmla="*/ 1053964 w 1214315"/>
                <a:gd name="connsiteY0-252" fmla="*/ 1136323 h 1136323"/>
                <a:gd name="connsiteX1-253" fmla="*/ 0 w 1214315"/>
                <a:gd name="connsiteY1-254" fmla="*/ 0 h 1136323"/>
                <a:gd name="connsiteX2-255" fmla="*/ 1040633 w 1214315"/>
                <a:gd name="connsiteY2-256" fmla="*/ 16785 h 1136323"/>
                <a:gd name="connsiteX3-257" fmla="*/ 1214315 w 1214315"/>
                <a:gd name="connsiteY3-258" fmla="*/ 1064597 h 1136323"/>
                <a:gd name="connsiteX4-259" fmla="*/ 1053964 w 1214315"/>
                <a:gd name="connsiteY4-260" fmla="*/ 1136323 h 1136323"/>
                <a:gd name="connsiteX0-261" fmla="*/ 1053964 w 1214315"/>
                <a:gd name="connsiteY0-262" fmla="*/ 1136323 h 1136323"/>
                <a:gd name="connsiteX1-263" fmla="*/ 0 w 1214315"/>
                <a:gd name="connsiteY1-264" fmla="*/ 0 h 1136323"/>
                <a:gd name="connsiteX2-265" fmla="*/ 1040633 w 1214315"/>
                <a:gd name="connsiteY2-266" fmla="*/ 16785 h 1136323"/>
                <a:gd name="connsiteX3-267" fmla="*/ 1214315 w 1214315"/>
                <a:gd name="connsiteY3-268" fmla="*/ 1064597 h 1136323"/>
                <a:gd name="connsiteX4-269" fmla="*/ 1053964 w 1214315"/>
                <a:gd name="connsiteY4-270" fmla="*/ 1136323 h 1136323"/>
                <a:gd name="connsiteX0-271" fmla="*/ 1060159 w 1220510"/>
                <a:gd name="connsiteY0-272" fmla="*/ 1119627 h 1119627"/>
                <a:gd name="connsiteX1-273" fmla="*/ 0 w 1220510"/>
                <a:gd name="connsiteY1-274" fmla="*/ 249694 h 1119627"/>
                <a:gd name="connsiteX2-275" fmla="*/ 1046828 w 1220510"/>
                <a:gd name="connsiteY2-276" fmla="*/ 89 h 1119627"/>
                <a:gd name="connsiteX3-277" fmla="*/ 1220510 w 1220510"/>
                <a:gd name="connsiteY3-278" fmla="*/ 1047901 h 1119627"/>
                <a:gd name="connsiteX4-279" fmla="*/ 1060159 w 1220510"/>
                <a:gd name="connsiteY4-280" fmla="*/ 1119627 h 1119627"/>
                <a:gd name="connsiteX0-281" fmla="*/ 1060159 w 1220510"/>
                <a:gd name="connsiteY0-282" fmla="*/ 1119627 h 1119627"/>
                <a:gd name="connsiteX1-283" fmla="*/ 0 w 1220510"/>
                <a:gd name="connsiteY1-284" fmla="*/ 249694 h 1119627"/>
                <a:gd name="connsiteX2-285" fmla="*/ 1046828 w 1220510"/>
                <a:gd name="connsiteY2-286" fmla="*/ 89 h 1119627"/>
                <a:gd name="connsiteX3-287" fmla="*/ 1220510 w 1220510"/>
                <a:gd name="connsiteY3-288" fmla="*/ 1047901 h 1119627"/>
                <a:gd name="connsiteX4-289" fmla="*/ 1060159 w 1220510"/>
                <a:gd name="connsiteY4-290" fmla="*/ 1119627 h 1119627"/>
                <a:gd name="connsiteX0-291" fmla="*/ 1060159 w 1220510"/>
                <a:gd name="connsiteY0-292" fmla="*/ 1119627 h 1119627"/>
                <a:gd name="connsiteX1-293" fmla="*/ 0 w 1220510"/>
                <a:gd name="connsiteY1-294" fmla="*/ 249694 h 1119627"/>
                <a:gd name="connsiteX2-295" fmla="*/ 1046828 w 1220510"/>
                <a:gd name="connsiteY2-296" fmla="*/ 89 h 1119627"/>
                <a:gd name="connsiteX3-297" fmla="*/ 1220510 w 1220510"/>
                <a:gd name="connsiteY3-298" fmla="*/ 1047901 h 1119627"/>
                <a:gd name="connsiteX4-299" fmla="*/ 1060159 w 1220510"/>
                <a:gd name="connsiteY4-300" fmla="*/ 1119627 h 1119627"/>
                <a:gd name="connsiteX0-301" fmla="*/ 1060159 w 1220510"/>
                <a:gd name="connsiteY0-302" fmla="*/ 921649 h 921649"/>
                <a:gd name="connsiteX1-303" fmla="*/ 0 w 1220510"/>
                <a:gd name="connsiteY1-304" fmla="*/ 51716 h 921649"/>
                <a:gd name="connsiteX2-305" fmla="*/ 1059218 w 1220510"/>
                <a:gd name="connsiteY2-306" fmla="*/ 355 h 921649"/>
                <a:gd name="connsiteX3-307" fmla="*/ 1220510 w 1220510"/>
                <a:gd name="connsiteY3-308" fmla="*/ 849923 h 921649"/>
                <a:gd name="connsiteX4-309" fmla="*/ 1060159 w 1220510"/>
                <a:gd name="connsiteY4-310" fmla="*/ 921649 h 921649"/>
                <a:gd name="connsiteX0-311" fmla="*/ 1060159 w 1220510"/>
                <a:gd name="connsiteY0-312" fmla="*/ 921649 h 921649"/>
                <a:gd name="connsiteX1-313" fmla="*/ 0 w 1220510"/>
                <a:gd name="connsiteY1-314" fmla="*/ 51716 h 921649"/>
                <a:gd name="connsiteX2-315" fmla="*/ 1059218 w 1220510"/>
                <a:gd name="connsiteY2-316" fmla="*/ 355 h 921649"/>
                <a:gd name="connsiteX3-317" fmla="*/ 1220510 w 1220510"/>
                <a:gd name="connsiteY3-318" fmla="*/ 849923 h 921649"/>
                <a:gd name="connsiteX4-319" fmla="*/ 1060159 w 1220510"/>
                <a:gd name="connsiteY4-320" fmla="*/ 921649 h 921649"/>
                <a:gd name="connsiteX0-321" fmla="*/ 1060159 w 1220510"/>
                <a:gd name="connsiteY0-322" fmla="*/ 921649 h 921649"/>
                <a:gd name="connsiteX1-323" fmla="*/ 0 w 1220510"/>
                <a:gd name="connsiteY1-324" fmla="*/ 51716 h 921649"/>
                <a:gd name="connsiteX2-325" fmla="*/ 1059218 w 1220510"/>
                <a:gd name="connsiteY2-326" fmla="*/ 355 h 921649"/>
                <a:gd name="connsiteX3-327" fmla="*/ 1220510 w 1220510"/>
                <a:gd name="connsiteY3-328" fmla="*/ 849923 h 921649"/>
                <a:gd name="connsiteX4-329" fmla="*/ 1060159 w 1220510"/>
                <a:gd name="connsiteY4-330" fmla="*/ 921649 h 921649"/>
                <a:gd name="connsiteX0-331" fmla="*/ 1006934 w 1167285"/>
                <a:gd name="connsiteY0-332" fmla="*/ 967578 h 967578"/>
                <a:gd name="connsiteX1-333" fmla="*/ 0 w 1167285"/>
                <a:gd name="connsiteY1-334" fmla="*/ 0 h 967578"/>
                <a:gd name="connsiteX2-335" fmla="*/ 1005993 w 1167285"/>
                <a:gd name="connsiteY2-336" fmla="*/ 46284 h 967578"/>
                <a:gd name="connsiteX3-337" fmla="*/ 1167285 w 1167285"/>
                <a:gd name="connsiteY3-338" fmla="*/ 895852 h 967578"/>
                <a:gd name="connsiteX4-339" fmla="*/ 1006934 w 1167285"/>
                <a:gd name="connsiteY4-340" fmla="*/ 967578 h 967578"/>
                <a:gd name="connsiteX0-341" fmla="*/ 1006934 w 1167285"/>
                <a:gd name="connsiteY0-342" fmla="*/ 1132232 h 1132232"/>
                <a:gd name="connsiteX1-343" fmla="*/ 0 w 1167285"/>
                <a:gd name="connsiteY1-344" fmla="*/ 164654 h 1132232"/>
                <a:gd name="connsiteX2-345" fmla="*/ 991394 w 1167285"/>
                <a:gd name="connsiteY2-346" fmla="*/ 130 h 1132232"/>
                <a:gd name="connsiteX3-347" fmla="*/ 1167285 w 1167285"/>
                <a:gd name="connsiteY3-348" fmla="*/ 1060506 h 1132232"/>
                <a:gd name="connsiteX4-349" fmla="*/ 1006934 w 1167285"/>
                <a:gd name="connsiteY4-350" fmla="*/ 1132232 h 1132232"/>
                <a:gd name="connsiteX0-351" fmla="*/ 986900 w 1167285"/>
                <a:gd name="connsiteY0-352" fmla="*/ 1088164 h 1088164"/>
                <a:gd name="connsiteX1-353" fmla="*/ 0 w 1167285"/>
                <a:gd name="connsiteY1-354" fmla="*/ 164654 h 1088164"/>
                <a:gd name="connsiteX2-355" fmla="*/ 991394 w 1167285"/>
                <a:gd name="connsiteY2-356" fmla="*/ 130 h 1088164"/>
                <a:gd name="connsiteX3-357" fmla="*/ 1167285 w 1167285"/>
                <a:gd name="connsiteY3-358" fmla="*/ 1060506 h 1088164"/>
                <a:gd name="connsiteX4-359" fmla="*/ 986900 w 1167285"/>
                <a:gd name="connsiteY4-360" fmla="*/ 1088164 h 1088164"/>
                <a:gd name="connsiteX0-361" fmla="*/ 986900 w 1167285"/>
                <a:gd name="connsiteY0-362" fmla="*/ 1088164 h 1088164"/>
                <a:gd name="connsiteX1-363" fmla="*/ 0 w 1167285"/>
                <a:gd name="connsiteY1-364" fmla="*/ 164654 h 1088164"/>
                <a:gd name="connsiteX2-365" fmla="*/ 991394 w 1167285"/>
                <a:gd name="connsiteY2-366" fmla="*/ 130 h 1088164"/>
                <a:gd name="connsiteX3-367" fmla="*/ 1167285 w 1167285"/>
                <a:gd name="connsiteY3-368" fmla="*/ 1060506 h 1088164"/>
                <a:gd name="connsiteX4-369" fmla="*/ 986900 w 1167285"/>
                <a:gd name="connsiteY4-370" fmla="*/ 1088164 h 1088164"/>
                <a:gd name="connsiteX0-371" fmla="*/ 986900 w 1332977"/>
                <a:gd name="connsiteY0-372" fmla="*/ 1088164 h 1088164"/>
                <a:gd name="connsiteX1-373" fmla="*/ 0 w 1332977"/>
                <a:gd name="connsiteY1-374" fmla="*/ 164654 h 1088164"/>
                <a:gd name="connsiteX2-375" fmla="*/ 991394 w 1332977"/>
                <a:gd name="connsiteY2-376" fmla="*/ 130 h 1088164"/>
                <a:gd name="connsiteX3-377" fmla="*/ 1332977 w 1332977"/>
                <a:gd name="connsiteY3-378" fmla="*/ 1045574 h 1088164"/>
                <a:gd name="connsiteX4-379" fmla="*/ 986900 w 1332977"/>
                <a:gd name="connsiteY4-380" fmla="*/ 1088164 h 1088164"/>
                <a:gd name="connsiteX0-381" fmla="*/ 1029955 w 1332977"/>
                <a:gd name="connsiteY0-382" fmla="*/ 1143414 h 1143414"/>
                <a:gd name="connsiteX1-383" fmla="*/ 0 w 1332977"/>
                <a:gd name="connsiteY1-384" fmla="*/ 164654 h 1143414"/>
                <a:gd name="connsiteX2-385" fmla="*/ 991394 w 1332977"/>
                <a:gd name="connsiteY2-386" fmla="*/ 130 h 1143414"/>
                <a:gd name="connsiteX3-387" fmla="*/ 1332977 w 1332977"/>
                <a:gd name="connsiteY3-388" fmla="*/ 1045574 h 1143414"/>
                <a:gd name="connsiteX4-389" fmla="*/ 1029955 w 1332977"/>
                <a:gd name="connsiteY4-390" fmla="*/ 1143414 h 1143414"/>
                <a:gd name="connsiteX0-391" fmla="*/ 1029955 w 1332977"/>
                <a:gd name="connsiteY0-392" fmla="*/ 1143414 h 1143414"/>
                <a:gd name="connsiteX1-393" fmla="*/ 0 w 1332977"/>
                <a:gd name="connsiteY1-394" fmla="*/ 164654 h 1143414"/>
                <a:gd name="connsiteX2-395" fmla="*/ 991394 w 1332977"/>
                <a:gd name="connsiteY2-396" fmla="*/ 130 h 1143414"/>
                <a:gd name="connsiteX3-397" fmla="*/ 1332977 w 1332977"/>
                <a:gd name="connsiteY3-398" fmla="*/ 1045574 h 1143414"/>
                <a:gd name="connsiteX4-399" fmla="*/ 1029955 w 1332977"/>
                <a:gd name="connsiteY4-400" fmla="*/ 1143414 h 1143414"/>
                <a:gd name="connsiteX0-401" fmla="*/ 1029955 w 1332977"/>
                <a:gd name="connsiteY0-402" fmla="*/ 1143414 h 1143414"/>
                <a:gd name="connsiteX1-403" fmla="*/ 0 w 1332977"/>
                <a:gd name="connsiteY1-404" fmla="*/ 164654 h 1143414"/>
                <a:gd name="connsiteX2-405" fmla="*/ 991394 w 1332977"/>
                <a:gd name="connsiteY2-406" fmla="*/ 130 h 1143414"/>
                <a:gd name="connsiteX3-407" fmla="*/ 1332977 w 1332977"/>
                <a:gd name="connsiteY3-408" fmla="*/ 1045574 h 1143414"/>
                <a:gd name="connsiteX4-409" fmla="*/ 1029955 w 1332977"/>
                <a:gd name="connsiteY4-410" fmla="*/ 1143414 h 1143414"/>
                <a:gd name="connsiteX0-411" fmla="*/ 1029955 w 1332977"/>
                <a:gd name="connsiteY0-412" fmla="*/ 1143414 h 1143414"/>
                <a:gd name="connsiteX1-413" fmla="*/ 0 w 1332977"/>
                <a:gd name="connsiteY1-414" fmla="*/ 164654 h 1143414"/>
                <a:gd name="connsiteX2-415" fmla="*/ 991394 w 1332977"/>
                <a:gd name="connsiteY2-416" fmla="*/ 130 h 1143414"/>
                <a:gd name="connsiteX3-417" fmla="*/ 1332977 w 1332977"/>
                <a:gd name="connsiteY3-418" fmla="*/ 1045574 h 1143414"/>
                <a:gd name="connsiteX4-419" fmla="*/ 1029955 w 1332977"/>
                <a:gd name="connsiteY4-420" fmla="*/ 1143414 h 1143414"/>
                <a:gd name="connsiteX0-421" fmla="*/ 1029955 w 1332977"/>
                <a:gd name="connsiteY0-422" fmla="*/ 1143414 h 1143414"/>
                <a:gd name="connsiteX1-423" fmla="*/ 0 w 1332977"/>
                <a:gd name="connsiteY1-424" fmla="*/ 164654 h 1143414"/>
                <a:gd name="connsiteX2-425" fmla="*/ 991394 w 1332977"/>
                <a:gd name="connsiteY2-426" fmla="*/ 130 h 1143414"/>
                <a:gd name="connsiteX3-427" fmla="*/ 1332977 w 1332977"/>
                <a:gd name="connsiteY3-428" fmla="*/ 1045574 h 1143414"/>
                <a:gd name="connsiteX4-429" fmla="*/ 1029955 w 1332977"/>
                <a:gd name="connsiteY4-430" fmla="*/ 1143414 h 1143414"/>
                <a:gd name="connsiteX0-431" fmla="*/ 1029955 w 1332977"/>
                <a:gd name="connsiteY0-432" fmla="*/ 1143414 h 1143414"/>
                <a:gd name="connsiteX1-433" fmla="*/ 0 w 1332977"/>
                <a:gd name="connsiteY1-434" fmla="*/ 164654 h 1143414"/>
                <a:gd name="connsiteX2-435" fmla="*/ 991394 w 1332977"/>
                <a:gd name="connsiteY2-436" fmla="*/ 130 h 1143414"/>
                <a:gd name="connsiteX3-437" fmla="*/ 1332977 w 1332977"/>
                <a:gd name="connsiteY3-438" fmla="*/ 1045574 h 1143414"/>
                <a:gd name="connsiteX4-439" fmla="*/ 1029955 w 1332977"/>
                <a:gd name="connsiteY4-440" fmla="*/ 1143414 h 1143414"/>
                <a:gd name="connsiteX0-441" fmla="*/ 302061 w 1332977"/>
                <a:gd name="connsiteY0-442" fmla="*/ 1951097 h 1951096"/>
                <a:gd name="connsiteX1-443" fmla="*/ 0 w 1332977"/>
                <a:gd name="connsiteY1-444" fmla="*/ 164654 h 1951096"/>
                <a:gd name="connsiteX2-445" fmla="*/ 991394 w 1332977"/>
                <a:gd name="connsiteY2-446" fmla="*/ 130 h 1951096"/>
                <a:gd name="connsiteX3-447" fmla="*/ 1332977 w 1332977"/>
                <a:gd name="connsiteY3-448" fmla="*/ 1045574 h 1951096"/>
                <a:gd name="connsiteX4-449" fmla="*/ 302061 w 1332977"/>
                <a:gd name="connsiteY4-450" fmla="*/ 1951097 h 1951096"/>
                <a:gd name="connsiteX0-451" fmla="*/ 302061 w 1008228"/>
                <a:gd name="connsiteY0-452" fmla="*/ 1951097 h 1951097"/>
                <a:gd name="connsiteX1-453" fmla="*/ 0 w 1008228"/>
                <a:gd name="connsiteY1-454" fmla="*/ 164654 h 1951097"/>
                <a:gd name="connsiteX2-455" fmla="*/ 991394 w 1008228"/>
                <a:gd name="connsiteY2-456" fmla="*/ 130 h 1951097"/>
                <a:gd name="connsiteX3-457" fmla="*/ 628320 w 1008228"/>
                <a:gd name="connsiteY3-458" fmla="*/ 1842100 h 1951097"/>
                <a:gd name="connsiteX4-459" fmla="*/ 302061 w 1008228"/>
                <a:gd name="connsiteY4-460" fmla="*/ 1951097 h 1951097"/>
                <a:gd name="connsiteX0-461" fmla="*/ 302061 w 1020405"/>
                <a:gd name="connsiteY0-462" fmla="*/ 1951097 h 1951097"/>
                <a:gd name="connsiteX1-463" fmla="*/ 0 w 1020405"/>
                <a:gd name="connsiteY1-464" fmla="*/ 164654 h 1951097"/>
                <a:gd name="connsiteX2-465" fmla="*/ 991394 w 1020405"/>
                <a:gd name="connsiteY2-466" fmla="*/ 130 h 1951097"/>
                <a:gd name="connsiteX3-467" fmla="*/ 628320 w 1020405"/>
                <a:gd name="connsiteY3-468" fmla="*/ 1842100 h 1951097"/>
                <a:gd name="connsiteX4-469" fmla="*/ 302061 w 1020405"/>
                <a:gd name="connsiteY4-470" fmla="*/ 1951097 h 1951097"/>
                <a:gd name="connsiteX0-471" fmla="*/ 302061 w 991394"/>
                <a:gd name="connsiteY0-472" fmla="*/ 1951097 h 1951097"/>
                <a:gd name="connsiteX1-473" fmla="*/ 0 w 991394"/>
                <a:gd name="connsiteY1-474" fmla="*/ 164654 h 1951097"/>
                <a:gd name="connsiteX2-475" fmla="*/ 991394 w 991394"/>
                <a:gd name="connsiteY2-476" fmla="*/ 130 h 1951097"/>
                <a:gd name="connsiteX3-477" fmla="*/ 628320 w 991394"/>
                <a:gd name="connsiteY3-478" fmla="*/ 1842100 h 1951097"/>
                <a:gd name="connsiteX4-479" fmla="*/ 302061 w 991394"/>
                <a:gd name="connsiteY4-480" fmla="*/ 1951097 h 1951097"/>
                <a:gd name="connsiteX0-481" fmla="*/ 271973 w 991394"/>
                <a:gd name="connsiteY0-482" fmla="*/ 1956074 h 1956074"/>
                <a:gd name="connsiteX1-483" fmla="*/ 0 w 991394"/>
                <a:gd name="connsiteY1-484" fmla="*/ 164654 h 1956074"/>
                <a:gd name="connsiteX2-485" fmla="*/ 991394 w 991394"/>
                <a:gd name="connsiteY2-486" fmla="*/ 130 h 1956074"/>
                <a:gd name="connsiteX3-487" fmla="*/ 628320 w 991394"/>
                <a:gd name="connsiteY3-488" fmla="*/ 1842100 h 1956074"/>
                <a:gd name="connsiteX4-489" fmla="*/ 271973 w 991394"/>
                <a:gd name="connsiteY4-490" fmla="*/ 1956074 h 1956074"/>
                <a:gd name="connsiteX0-491" fmla="*/ 271973 w 991394"/>
                <a:gd name="connsiteY0-492" fmla="*/ 1956074 h 1956074"/>
                <a:gd name="connsiteX1-493" fmla="*/ 0 w 991394"/>
                <a:gd name="connsiteY1-494" fmla="*/ 164654 h 1956074"/>
                <a:gd name="connsiteX2-495" fmla="*/ 991394 w 991394"/>
                <a:gd name="connsiteY2-496" fmla="*/ 130 h 1956074"/>
                <a:gd name="connsiteX3-497" fmla="*/ 628320 w 991394"/>
                <a:gd name="connsiteY3-498" fmla="*/ 1842100 h 1956074"/>
                <a:gd name="connsiteX4-499" fmla="*/ 271973 w 991394"/>
                <a:gd name="connsiteY4-500" fmla="*/ 1956074 h 1956074"/>
                <a:gd name="connsiteX0-501" fmla="*/ 271973 w 991394"/>
                <a:gd name="connsiteY0-502" fmla="*/ 1956074 h 1956074"/>
                <a:gd name="connsiteX1-503" fmla="*/ 0 w 991394"/>
                <a:gd name="connsiteY1-504" fmla="*/ 164654 h 1956074"/>
                <a:gd name="connsiteX2-505" fmla="*/ 991394 w 991394"/>
                <a:gd name="connsiteY2-506" fmla="*/ 130 h 1956074"/>
                <a:gd name="connsiteX3-507" fmla="*/ 628320 w 991394"/>
                <a:gd name="connsiteY3-508" fmla="*/ 1842100 h 1956074"/>
                <a:gd name="connsiteX4-509" fmla="*/ 271973 w 991394"/>
                <a:gd name="connsiteY4-510" fmla="*/ 1956074 h 1956074"/>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91394" h="1956074">
                  <a:moveTo>
                    <a:pt x="271973" y="1956074"/>
                  </a:moveTo>
                  <a:cubicBezTo>
                    <a:pt x="357744" y="1054071"/>
                    <a:pt x="286439" y="1036036"/>
                    <a:pt x="0" y="164654"/>
                  </a:cubicBezTo>
                  <a:cubicBezTo>
                    <a:pt x="346878" y="170249"/>
                    <a:pt x="644516" y="-5465"/>
                    <a:pt x="991394" y="130"/>
                  </a:cubicBezTo>
                  <a:cubicBezTo>
                    <a:pt x="818067" y="853650"/>
                    <a:pt x="760467" y="804686"/>
                    <a:pt x="628320" y="1842100"/>
                  </a:cubicBezTo>
                  <a:cubicBezTo>
                    <a:pt x="479006" y="1825527"/>
                    <a:pt x="436285" y="1872332"/>
                    <a:pt x="271973" y="1956074"/>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12" name="Group 11"/>
            <p:cNvGrpSpPr/>
            <p:nvPr/>
          </p:nvGrpSpPr>
          <p:grpSpPr>
            <a:xfrm>
              <a:off x="537654" y="4169528"/>
              <a:ext cx="1694528" cy="2120890"/>
              <a:chOff x="537654" y="4169528"/>
              <a:chExt cx="1694528" cy="2120890"/>
            </a:xfrm>
          </p:grpSpPr>
          <p:sp>
            <p:nvSpPr>
              <p:cNvPr id="481" name="Rectangle 480"/>
              <p:cNvSpPr/>
              <p:nvPr/>
            </p:nvSpPr>
            <p:spPr bwMode="auto">
              <a:xfrm rot="10800000">
                <a:off x="809301" y="4261100"/>
                <a:ext cx="1027112" cy="994484"/>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 name="Group 104"/>
              <p:cNvGrpSpPr/>
              <p:nvPr/>
            </p:nvGrpSpPr>
            <p:grpSpPr bwMode="auto">
              <a:xfrm>
                <a:off x="812771" y="5933069"/>
                <a:ext cx="1034710" cy="357349"/>
                <a:chOff x="4128636" y="3606589"/>
                <a:chExt cx="568145" cy="338667"/>
              </a:xfrm>
            </p:grpSpPr>
            <p:sp>
              <p:nvSpPr>
                <p:cNvPr id="496" name="Oval 495"/>
                <p:cNvSpPr/>
                <p:nvPr/>
              </p:nvSpPr>
              <p:spPr>
                <a:xfrm>
                  <a:off x="4128649" y="3720080"/>
                  <a:ext cx="568332" cy="22517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7" name="Rectangle 496"/>
                <p:cNvSpPr/>
                <p:nvPr/>
              </p:nvSpPr>
              <p:spPr>
                <a:xfrm>
                  <a:off x="4128649" y="3720080"/>
                  <a:ext cx="568332" cy="11189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8" name="Oval 497"/>
                <p:cNvSpPr/>
                <p:nvPr/>
              </p:nvSpPr>
              <p:spPr>
                <a:xfrm>
                  <a:off x="4128649" y="3606801"/>
                  <a:ext cx="568332" cy="225176"/>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9" name="Straight Connector 498"/>
                <p:cNvCxnSpPr/>
                <p:nvPr/>
              </p:nvCxnSpPr>
              <p:spPr>
                <a:xfrm>
                  <a:off x="4696981"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0" name="Straight Connector 499"/>
                <p:cNvCxnSpPr/>
                <p:nvPr/>
              </p:nvCxnSpPr>
              <p:spPr>
                <a:xfrm>
                  <a:off x="4128649"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83" name="Rectangle 482"/>
              <p:cNvSpPr/>
              <p:nvPr/>
            </p:nvSpPr>
            <p:spPr bwMode="auto">
              <a:xfrm>
                <a:off x="817079" y="5203658"/>
                <a:ext cx="1027112" cy="860514"/>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84" name="Straight Connector 483"/>
              <p:cNvCxnSpPr>
                <a:endCxn id="497" idx="1"/>
              </p:cNvCxnSpPr>
              <p:nvPr/>
            </p:nvCxnSpPr>
            <p:spPr bwMode="auto">
              <a:xfrm>
                <a:off x="801363" y="4466995"/>
                <a:ext cx="11432" cy="164486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p:cNvCxnSpPr>
                <a:endCxn id="497" idx="3"/>
              </p:cNvCxnSpPr>
              <p:nvPr/>
            </p:nvCxnSpPr>
            <p:spPr bwMode="auto">
              <a:xfrm>
                <a:off x="1842763" y="4466995"/>
                <a:ext cx="5083" cy="164486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6" name="Group 9"/>
              <p:cNvGrpSpPr/>
              <p:nvPr/>
            </p:nvGrpSpPr>
            <p:grpSpPr bwMode="auto">
              <a:xfrm>
                <a:off x="777993" y="4169528"/>
                <a:ext cx="1079500" cy="395024"/>
                <a:chOff x="2183302" y="1574638"/>
                <a:chExt cx="1200154" cy="430181"/>
              </a:xfrm>
            </p:grpSpPr>
            <p:sp>
              <p:nvSpPr>
                <p:cNvPr id="487" name="Oval 486"/>
                <p:cNvSpPr/>
                <p:nvPr/>
              </p:nvSpPr>
              <p:spPr bwMode="auto">
                <a:xfrm flipV="1">
                  <a:off x="2186832" y="1690517"/>
                  <a:ext cx="1194859" cy="314302"/>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88" name="Rectangle 487"/>
                <p:cNvSpPr/>
                <p:nvPr/>
              </p:nvSpPr>
              <p:spPr bwMode="auto">
                <a:xfrm>
                  <a:off x="2183302" y="1734964"/>
                  <a:ext cx="1198389" cy="112704"/>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9" name="Oval 488"/>
                <p:cNvSpPr/>
                <p:nvPr/>
              </p:nvSpPr>
              <p:spPr bwMode="auto">
                <a:xfrm flipV="1">
                  <a:off x="2183302" y="1574638"/>
                  <a:ext cx="1196624" cy="314302"/>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0" name="Freeform 489"/>
                <p:cNvSpPr/>
                <p:nvPr/>
              </p:nvSpPr>
              <p:spPr bwMode="auto">
                <a:xfrm>
                  <a:off x="2490400" y="1671469"/>
                  <a:ext cx="582428" cy="15715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1" name="Freeform 490"/>
                <p:cNvSpPr/>
                <p:nvPr/>
              </p:nvSpPr>
              <p:spPr bwMode="auto">
                <a:xfrm>
                  <a:off x="2430393" y="1630197"/>
                  <a:ext cx="702443" cy="10952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2" name="Freeform 491"/>
                <p:cNvSpPr/>
                <p:nvPr/>
              </p:nvSpPr>
              <p:spPr bwMode="auto">
                <a:xfrm>
                  <a:off x="2892805" y="1723852"/>
                  <a:ext cx="257680" cy="952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3" name="Freeform 492"/>
                <p:cNvSpPr/>
                <p:nvPr/>
              </p:nvSpPr>
              <p:spPr bwMode="auto">
                <a:xfrm>
                  <a:off x="2418037" y="1725440"/>
                  <a:ext cx="254150" cy="9524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4" name="Straight Connector 493"/>
                <p:cNvCxnSpPr>
                  <a:endCxn id="489" idx="2"/>
                </p:cNvCxnSpPr>
                <p:nvPr/>
              </p:nvCxnSpPr>
              <p:spPr bwMode="auto">
                <a:xfrm flipH="1" flipV="1">
                  <a:off x="2183302" y="1731787"/>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95" name="Straight Connector 494"/>
                <p:cNvCxnSpPr/>
                <p:nvPr/>
              </p:nvCxnSpPr>
              <p:spPr bwMode="auto">
                <a:xfrm flipH="1" flipV="1">
                  <a:off x="3379926" y="1728615"/>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472" name="Rectangle 471"/>
              <p:cNvSpPr/>
              <p:nvPr/>
            </p:nvSpPr>
            <p:spPr bwMode="auto">
              <a:xfrm>
                <a:off x="546153" y="4588083"/>
                <a:ext cx="1670709" cy="1303807"/>
              </a:xfrm>
              <a:prstGeom prst="rect">
                <a:avLst/>
              </a:prstGeom>
              <a:solidFill>
                <a:schemeClr val="bg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3" name="TextBox 472"/>
              <p:cNvSpPr txBox="1"/>
              <p:nvPr/>
            </p:nvSpPr>
            <p:spPr>
              <a:xfrm>
                <a:off x="540390" y="4583226"/>
                <a:ext cx="620971" cy="311193"/>
              </a:xfrm>
              <a:prstGeom prst="rect">
                <a:avLst/>
              </a:prstGeom>
              <a:noFill/>
            </p:spPr>
            <p:txBody>
              <a:bodyPr wrap="none" rtlCol="0">
                <a:spAutoFit/>
              </a:bodyPr>
              <a:lstStyle/>
              <a:p>
                <a:r>
                  <a:rPr lang="en-US" dirty="0" err="1"/>
                  <a:t>dest</a:t>
                </a:r>
                <a:endParaRPr lang="en-US" dirty="0"/>
              </a:p>
            </p:txBody>
          </p:sp>
          <p:sp>
            <p:nvSpPr>
              <p:cNvPr id="474" name="TextBox 473"/>
              <p:cNvSpPr txBox="1"/>
              <p:nvPr/>
            </p:nvSpPr>
            <p:spPr>
              <a:xfrm>
                <a:off x="1162170" y="4587898"/>
                <a:ext cx="1070012" cy="311193"/>
              </a:xfrm>
              <a:prstGeom prst="rect">
                <a:avLst/>
              </a:prstGeom>
              <a:noFill/>
            </p:spPr>
            <p:txBody>
              <a:bodyPr wrap="none" rtlCol="0">
                <a:spAutoFit/>
              </a:bodyPr>
              <a:lstStyle/>
              <a:p>
                <a:r>
                  <a:rPr lang="en-US" dirty="0"/>
                  <a:t>interface</a:t>
                </a:r>
              </a:p>
            </p:txBody>
          </p:sp>
          <p:cxnSp>
            <p:nvCxnSpPr>
              <p:cNvPr id="475" name="Straight Connector 474"/>
              <p:cNvCxnSpPr/>
              <p:nvPr/>
            </p:nvCxnSpPr>
            <p:spPr bwMode="auto">
              <a:xfrm>
                <a:off x="1154183" y="4593421"/>
                <a:ext cx="1345" cy="1293547"/>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476" name="Straight Connector 475"/>
              <p:cNvCxnSpPr/>
              <p:nvPr/>
            </p:nvCxnSpPr>
            <p:spPr bwMode="auto">
              <a:xfrm flipH="1">
                <a:off x="537654" y="4911108"/>
                <a:ext cx="167920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477" name="TextBox 476"/>
              <p:cNvSpPr txBox="1"/>
              <p:nvPr/>
            </p:nvSpPr>
            <p:spPr>
              <a:xfrm>
                <a:off x="597755" y="4905652"/>
                <a:ext cx="415498" cy="777982"/>
              </a:xfrm>
              <a:prstGeom prst="rect">
                <a:avLst/>
              </a:prstGeom>
              <a:noFill/>
            </p:spPr>
            <p:txBody>
              <a:bodyPr wrap="none" rtlCol="0">
                <a:spAutoFit/>
              </a:bodyPr>
              <a:lstStyle/>
              <a:p>
                <a:r>
                  <a:rPr lang="en-US" dirty="0"/>
                  <a:t>…</a:t>
                </a:r>
              </a:p>
              <a:p>
                <a:endParaRPr lang="en-US" dirty="0"/>
              </a:p>
              <a:p>
                <a:r>
                  <a:rPr lang="en-US" dirty="0"/>
                  <a:t>…</a:t>
                </a:r>
              </a:p>
            </p:txBody>
          </p:sp>
          <p:sp>
            <p:nvSpPr>
              <p:cNvPr id="478" name="TextBox 477"/>
              <p:cNvSpPr txBox="1"/>
              <p:nvPr/>
            </p:nvSpPr>
            <p:spPr>
              <a:xfrm>
                <a:off x="649592" y="5234010"/>
                <a:ext cx="338629" cy="369332"/>
              </a:xfrm>
              <a:prstGeom prst="rect">
                <a:avLst/>
              </a:prstGeom>
              <a:noFill/>
            </p:spPr>
            <p:txBody>
              <a:bodyPr wrap="none" rtlCol="0">
                <a:spAutoFit/>
              </a:bodyPr>
              <a:lstStyle/>
              <a:p>
                <a:r>
                  <a:rPr lang="en-US" dirty="0">
                    <a:solidFill>
                      <a:srgbClr val="CC0000"/>
                    </a:solidFill>
                  </a:rPr>
                  <a:t>X</a:t>
                </a:r>
              </a:p>
            </p:txBody>
          </p:sp>
          <p:sp>
            <p:nvSpPr>
              <p:cNvPr id="479" name="TextBox 478"/>
              <p:cNvSpPr txBox="1"/>
              <p:nvPr/>
            </p:nvSpPr>
            <p:spPr>
              <a:xfrm>
                <a:off x="1230781" y="4917583"/>
                <a:ext cx="415498" cy="777982"/>
              </a:xfrm>
              <a:prstGeom prst="rect">
                <a:avLst/>
              </a:prstGeom>
              <a:noFill/>
            </p:spPr>
            <p:txBody>
              <a:bodyPr wrap="none" rtlCol="0">
                <a:spAutoFit/>
              </a:bodyPr>
              <a:lstStyle/>
              <a:p>
                <a:r>
                  <a:rPr lang="en-US" dirty="0"/>
                  <a:t>…</a:t>
                </a:r>
              </a:p>
              <a:p>
                <a:endParaRPr lang="en-US" dirty="0"/>
              </a:p>
              <a:p>
                <a:r>
                  <a:rPr lang="en-US" dirty="0"/>
                  <a:t>…</a:t>
                </a:r>
              </a:p>
            </p:txBody>
          </p:sp>
          <p:sp>
            <p:nvSpPr>
              <p:cNvPr id="480" name="TextBox 479"/>
              <p:cNvSpPr txBox="1"/>
              <p:nvPr/>
            </p:nvSpPr>
            <p:spPr>
              <a:xfrm>
                <a:off x="1308433" y="5241003"/>
                <a:ext cx="313044" cy="369332"/>
              </a:xfrm>
              <a:prstGeom prst="rect">
                <a:avLst/>
              </a:prstGeom>
              <a:noFill/>
            </p:spPr>
            <p:txBody>
              <a:bodyPr wrap="none" rtlCol="0">
                <a:spAutoFit/>
              </a:bodyPr>
              <a:lstStyle/>
              <a:p>
                <a:r>
                  <a:rPr lang="en-US" dirty="0">
                    <a:solidFill>
                      <a:srgbClr val="CC0000"/>
                    </a:solidFill>
                  </a:rPr>
                  <a:t>2</a:t>
                </a:r>
              </a:p>
            </p:txBody>
          </p:sp>
        </p:grpSp>
      </p:grpSp>
      <p:sp>
        <p:nvSpPr>
          <p:cNvPr id="267" name="Rectangle 4"/>
          <p:cNvSpPr txBox="1">
            <a:spLocks noChangeArrowheads="1"/>
          </p:cNvSpPr>
          <p:nvPr/>
        </p:nvSpPr>
        <p:spPr bwMode="auto">
          <a:xfrm>
            <a:off x="3487781" y="5828603"/>
            <a:ext cx="4993774" cy="1028705"/>
          </a:xfrm>
          <a:prstGeom prst="rect">
            <a:avLst/>
          </a:prstGeom>
          <a:noFill/>
          <a:ln>
            <a:noFill/>
          </a:ln>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pPr marL="294005" indent="-294005">
              <a:lnSpc>
                <a:spcPct val="90000"/>
              </a:lnSpc>
            </a:pPr>
            <a:r>
              <a:rPr lang="en-US" sz="2000" dirty="0">
                <a:latin typeface="Arial" panose="020B0604020202090204"/>
                <a:cs typeface="Arial" panose="020B0604020202090204"/>
              </a:rPr>
              <a:t>1</a:t>
            </a:r>
            <a:r>
              <a:rPr lang="en-US" sz="2000" dirty="0">
                <a:latin typeface="+mj-lt"/>
                <a:cs typeface="Arial" panose="020B0604020202090204"/>
              </a:rPr>
              <a:t>a: OSPF intra-domain routing: to get to </a:t>
            </a:r>
            <a:r>
              <a:rPr lang="en-US" sz="2000" dirty="0">
                <a:latin typeface="Arial" panose="020B0604020202090204"/>
                <a:cs typeface="Arial" panose="020B0604020202090204"/>
              </a:rPr>
              <a:t>1</a:t>
            </a:r>
            <a:r>
              <a:rPr lang="en-US" sz="2000" dirty="0">
                <a:latin typeface="+mj-lt"/>
                <a:cs typeface="Arial" panose="020B0604020202090204"/>
              </a:rPr>
              <a:t>c, forward over outgoing local interface 2</a:t>
            </a:r>
            <a:endParaRPr lang="en-US" sz="2000" dirty="0">
              <a:latin typeface="+mj-lt"/>
            </a:endParaRPr>
          </a:p>
        </p:txBody>
      </p:sp>
      <p:grpSp>
        <p:nvGrpSpPr>
          <p:cNvPr id="268" name="Group 267"/>
          <p:cNvGrpSpPr/>
          <p:nvPr/>
        </p:nvGrpSpPr>
        <p:grpSpPr>
          <a:xfrm>
            <a:off x="1149470" y="2245331"/>
            <a:ext cx="474928" cy="686044"/>
            <a:chOff x="1149470" y="2245331"/>
            <a:chExt cx="474928" cy="686044"/>
          </a:xfrm>
        </p:grpSpPr>
        <p:sp>
          <p:nvSpPr>
            <p:cNvPr id="333" name="TextBox 332"/>
            <p:cNvSpPr txBox="1"/>
            <p:nvPr/>
          </p:nvSpPr>
          <p:spPr>
            <a:xfrm>
              <a:off x="1149470" y="2245331"/>
              <a:ext cx="284515" cy="307777"/>
            </a:xfrm>
            <a:prstGeom prst="rect">
              <a:avLst/>
            </a:prstGeom>
            <a:noFill/>
          </p:spPr>
          <p:txBody>
            <a:bodyPr wrap="none" rtlCol="0">
              <a:spAutoFit/>
            </a:bodyPr>
            <a:lstStyle/>
            <a:p>
              <a:r>
                <a:rPr lang="en-US" sz="1400" dirty="0"/>
                <a:t>1</a:t>
              </a:r>
            </a:p>
          </p:txBody>
        </p:sp>
        <p:sp>
          <p:nvSpPr>
            <p:cNvPr id="335" name="TextBox 334"/>
            <p:cNvSpPr txBox="1"/>
            <p:nvPr/>
          </p:nvSpPr>
          <p:spPr>
            <a:xfrm>
              <a:off x="1339883" y="2623598"/>
              <a:ext cx="284515" cy="307777"/>
            </a:xfrm>
            <a:prstGeom prst="rect">
              <a:avLst/>
            </a:prstGeom>
            <a:noFill/>
          </p:spPr>
          <p:txBody>
            <a:bodyPr wrap="none" rtlCol="0">
              <a:spAutoFit/>
            </a:bodyPr>
            <a:lstStyle/>
            <a:p>
              <a:r>
                <a:rPr lang="en-US" sz="1400" dirty="0"/>
                <a:t>2</a:t>
              </a:r>
            </a:p>
          </p:txBody>
        </p:sp>
      </p:grpSp>
      <p:cxnSp>
        <p:nvCxnSpPr>
          <p:cNvPr id="15" name="Straight Arrow Connector 14"/>
          <p:cNvCxnSpPr/>
          <p:nvPr/>
        </p:nvCxnSpPr>
        <p:spPr bwMode="auto">
          <a:xfrm>
            <a:off x="1144952" y="2748406"/>
            <a:ext cx="315088" cy="241540"/>
          </a:xfrm>
          <a:prstGeom prst="straightConnector1">
            <a:avLst/>
          </a:prstGeom>
          <a:solidFill>
            <a:schemeClr val="accent1"/>
          </a:solidFill>
          <a:ln w="38100" cap="flat" cmpd="sng" algn="ctr">
            <a:solidFill>
              <a:srgbClr val="CC0000"/>
            </a:solidFill>
            <a:prstDash val="solid"/>
            <a:round/>
            <a:headEnd type="none" w="med" len="med"/>
            <a:tailEnd type="triangle"/>
          </a:ln>
          <a:effectLst/>
        </p:spPr>
      </p:cxnSp>
      <p:cxnSp>
        <p:nvCxnSpPr>
          <p:cNvPr id="340" name="Straight Connector 339"/>
          <p:cNvCxnSpPr/>
          <p:nvPr/>
        </p:nvCxnSpPr>
        <p:spPr bwMode="auto">
          <a:xfrm flipH="1">
            <a:off x="3046901" y="2522161"/>
            <a:ext cx="2716814" cy="143913"/>
          </a:xfrm>
          <a:prstGeom prst="line">
            <a:avLst/>
          </a:prstGeom>
          <a:solidFill>
            <a:schemeClr val="accent1"/>
          </a:solidFill>
          <a:ln w="38100" cap="flat" cmpd="sng" algn="ctr">
            <a:solidFill>
              <a:schemeClr val="tx1"/>
            </a:solidFill>
            <a:prstDash val="solid"/>
            <a:round/>
            <a:headEnd type="none" w="med" len="med"/>
            <a:tailEnd type="none" w="med" len="med"/>
          </a:ln>
          <a:effectLst/>
        </p:spPr>
      </p:cxnSp>
      <p:sp>
        <p:nvSpPr>
          <p:cNvPr id="341"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80</a:t>
            </a:fld>
            <a:endParaRPr lang="en-US" sz="1200" dirty="0">
              <a:latin typeface="Tahoma" panose="020B0604030504040204" charset="0"/>
            </a:endParaRPr>
          </a:p>
        </p:txBody>
      </p:sp>
      <p:sp>
        <p:nvSpPr>
          <p:cNvPr id="342"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up)">
                                      <p:cBhvr>
                                        <p:cTn id="7" dur="10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7"/>
                                        </p:tgtEl>
                                        <p:attrNameLst>
                                          <p:attrName>style.visibility</p:attrName>
                                        </p:attrNameLst>
                                      </p:cBhvr>
                                      <p:to>
                                        <p:strVal val="visible"/>
                                      </p:to>
                                    </p:set>
                                    <p:animEffect transition="in" filter="dissolve">
                                      <p:cBhvr>
                                        <p:cTn id="10" dur="500"/>
                                        <p:tgtEl>
                                          <p:spTgt spid="267"/>
                                        </p:tgtEl>
                                      </p:cBhvr>
                                    </p:animEffect>
                                  </p:childTnLst>
                                </p:cTn>
                              </p:par>
                              <p:par>
                                <p:cTn id="11" presetID="9"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dissolve">
                                      <p:cBhvr>
                                        <p:cTn id="1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6" name="Rectangle 2"/>
          <p:cNvSpPr>
            <a:spLocks noGrp="1" noChangeArrowheads="1"/>
          </p:cNvSpPr>
          <p:nvPr>
            <p:ph type="title"/>
          </p:nvPr>
        </p:nvSpPr>
        <p:spPr/>
        <p:txBody>
          <a:bodyPr/>
          <a:lstStyle/>
          <a:p>
            <a:pPr>
              <a:defRPr/>
            </a:pPr>
            <a:r>
              <a:rPr lang="en-US">
                <a:cs typeface="+mj-cs"/>
              </a:rPr>
              <a:t>BGP route selection</a:t>
            </a:r>
          </a:p>
        </p:txBody>
      </p:sp>
      <p:sp>
        <p:nvSpPr>
          <p:cNvPr id="120837" name="Rectangle 3"/>
          <p:cNvSpPr>
            <a:spLocks noGrp="1" noChangeArrowheads="1"/>
          </p:cNvSpPr>
          <p:nvPr>
            <p:ph type="body" idx="1"/>
          </p:nvPr>
        </p:nvSpPr>
        <p:spPr>
          <a:xfrm>
            <a:off x="522288" y="1433513"/>
            <a:ext cx="7772400" cy="4648200"/>
          </a:xfrm>
        </p:spPr>
        <p:txBody>
          <a:bodyPr/>
          <a:lstStyle/>
          <a:p>
            <a:pPr marL="346075" indent="-346075">
              <a:defRPr/>
            </a:pPr>
            <a:r>
              <a:rPr lang="en-US" dirty="0">
                <a:cs typeface="+mn-cs"/>
              </a:rPr>
              <a:t>router may learn about more than one route to destination AS, selects route based on:</a:t>
            </a:r>
          </a:p>
          <a:p>
            <a:pPr marL="1084580" lvl="1" indent="-457200">
              <a:buFont typeface="ZapfDingbats" charset="0"/>
              <a:buAutoNum type="arabicPeriod"/>
              <a:defRPr/>
            </a:pPr>
            <a:r>
              <a:rPr lang="en-US" dirty="0"/>
              <a:t>local preference value attribute: policy decision</a:t>
            </a:r>
          </a:p>
          <a:p>
            <a:pPr marL="1084580" lvl="1" indent="-457200">
              <a:buFont typeface="ZapfDingbats" charset="0"/>
              <a:buAutoNum type="arabicPeriod"/>
              <a:defRPr/>
            </a:pPr>
            <a:r>
              <a:rPr lang="en-US" dirty="0"/>
              <a:t>shortest AS-PATH </a:t>
            </a:r>
          </a:p>
          <a:p>
            <a:pPr marL="1084580" lvl="1" indent="-457200">
              <a:buFont typeface="ZapfDingbats" charset="0"/>
              <a:buAutoNum type="arabicPeriod"/>
              <a:defRPr/>
            </a:pPr>
            <a:r>
              <a:rPr lang="en-US" dirty="0"/>
              <a:t>closest NEXT-HOP router: hot potato routing</a:t>
            </a:r>
          </a:p>
          <a:p>
            <a:pPr marL="1084580" lvl="1" indent="-457200">
              <a:buFont typeface="ZapfDingbats" charset="0"/>
              <a:buAutoNum type="arabicPeriod"/>
              <a:defRPr/>
            </a:pPr>
            <a:r>
              <a:rPr lang="en-US" dirty="0"/>
              <a:t>additional criteria </a:t>
            </a:r>
          </a:p>
        </p:txBody>
      </p:sp>
      <p:pic>
        <p:nvPicPr>
          <p:cNvPr id="165893"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1825" y="1050925"/>
            <a:ext cx="5027613" cy="173038"/>
          </a:xfrm>
          <a:prstGeom prst="rect">
            <a:avLst/>
          </a:prstGeom>
          <a:noFill/>
          <a:ln>
            <a:noFill/>
          </a:ln>
        </p:spPr>
      </p:pic>
      <p:sp>
        <p:nvSpPr>
          <p:cNvPr id="5"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81</a:t>
            </a:fld>
            <a:endParaRPr lang="en-US" sz="1200" dirty="0">
              <a:latin typeface="Tahoma" panose="020B0604030504040204" charset="0"/>
            </a:endParaRPr>
          </a:p>
        </p:txBody>
      </p:sp>
      <p:sp>
        <p:nvSpPr>
          <p:cNvPr id="6"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Title 1"/>
          <p:cNvSpPr>
            <a:spLocks noGrp="1"/>
          </p:cNvSpPr>
          <p:nvPr>
            <p:ph type="title"/>
          </p:nvPr>
        </p:nvSpPr>
        <p:spPr>
          <a:xfrm>
            <a:off x="533400" y="87508"/>
            <a:ext cx="7772400" cy="1143000"/>
          </a:xfrm>
        </p:spPr>
        <p:txBody>
          <a:bodyPr/>
          <a:lstStyle/>
          <a:p>
            <a:r>
              <a:rPr lang="en-US" dirty="0">
                <a:latin typeface="Gill Sans MT" pitchFamily="34" charset="0"/>
              </a:rPr>
              <a:t>Hot Potato Routing</a:t>
            </a:r>
          </a:p>
        </p:txBody>
      </p:sp>
      <p:sp>
        <p:nvSpPr>
          <p:cNvPr id="40" name="Content Placeholder 39"/>
          <p:cNvSpPr>
            <a:spLocks noGrp="1"/>
          </p:cNvSpPr>
          <p:nvPr>
            <p:ph idx="1"/>
          </p:nvPr>
        </p:nvSpPr>
        <p:spPr>
          <a:xfrm>
            <a:off x="914400" y="4747113"/>
            <a:ext cx="8229600" cy="826498"/>
          </a:xfrm>
        </p:spPr>
        <p:txBody>
          <a:bodyPr/>
          <a:lstStyle/>
          <a:p>
            <a:pPr>
              <a:defRPr/>
            </a:pPr>
            <a:r>
              <a:rPr lang="en-US" sz="2400" dirty="0"/>
              <a:t>2d learns (via iBGP) it can route to X via 2a or 2c</a:t>
            </a:r>
          </a:p>
          <a:p>
            <a:pPr>
              <a:defRPr/>
            </a:pPr>
            <a:r>
              <a:rPr lang="en-US" sz="2400" i="1" dirty="0">
                <a:solidFill>
                  <a:srgbClr val="000090"/>
                </a:solidFill>
              </a:rPr>
              <a:t>hot potato routing: </a:t>
            </a:r>
            <a:r>
              <a:rPr lang="en-US" sz="2400" dirty="0"/>
              <a:t>choose local gateway that has least intra-domain cost (e.g., 2d chooses 2a, even though more AS hops to </a:t>
            </a:r>
            <a:r>
              <a:rPr lang="en-US" sz="2400" i="1" dirty="0"/>
              <a:t>X</a:t>
            </a:r>
            <a:r>
              <a:rPr lang="en-US" sz="2400" dirty="0"/>
              <a:t>): don’t worry about inter-domain cost!</a:t>
            </a:r>
            <a:endParaRPr lang="en-US" sz="2400" dirty="0">
              <a:solidFill>
                <a:schemeClr val="accent6">
                  <a:lumMod val="75000"/>
                </a:schemeClr>
              </a:solidFill>
            </a:endParaRPr>
          </a:p>
        </p:txBody>
      </p:sp>
      <p:pic>
        <p:nvPicPr>
          <p:cNvPr id="183302" name="Picture 3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9600" y="925708"/>
            <a:ext cx="4572000" cy="152400"/>
          </a:xfrm>
          <a:prstGeom prst="rect">
            <a:avLst/>
          </a:prstGeom>
          <a:noFill/>
          <a:ln>
            <a:noFill/>
          </a:ln>
        </p:spPr>
      </p:pic>
      <p:grpSp>
        <p:nvGrpSpPr>
          <p:cNvPr id="121" name="Group 120"/>
          <p:cNvGrpSpPr/>
          <p:nvPr/>
        </p:nvGrpSpPr>
        <p:grpSpPr>
          <a:xfrm>
            <a:off x="624887" y="1673230"/>
            <a:ext cx="2557336" cy="1719017"/>
            <a:chOff x="-2170772" y="2784954"/>
            <a:chExt cx="2712783" cy="1853712"/>
          </a:xfrm>
        </p:grpSpPr>
        <p:sp>
          <p:nvSpPr>
            <p:cNvPr id="122" name="Freeform 2"/>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123" name="Group 122"/>
            <p:cNvGrpSpPr/>
            <p:nvPr/>
          </p:nvGrpSpPr>
          <p:grpSpPr>
            <a:xfrm>
              <a:off x="-1935370" y="2935816"/>
              <a:ext cx="2333625" cy="1590649"/>
              <a:chOff x="833331" y="2873352"/>
              <a:chExt cx="2333625" cy="1590649"/>
            </a:xfrm>
          </p:grpSpPr>
          <p:grpSp>
            <p:nvGrpSpPr>
              <p:cNvPr id="124" name="Group 123"/>
              <p:cNvGrpSpPr/>
              <p:nvPr/>
            </p:nvGrpSpPr>
            <p:grpSpPr>
              <a:xfrm>
                <a:off x="1736090" y="2873352"/>
                <a:ext cx="565150" cy="369332"/>
                <a:chOff x="1736090" y="2873352"/>
                <a:chExt cx="565150" cy="369332"/>
              </a:xfrm>
            </p:grpSpPr>
            <p:grpSp>
              <p:nvGrpSpPr>
                <p:cNvPr id="173" name="Group 327"/>
                <p:cNvGrpSpPr/>
                <p:nvPr/>
              </p:nvGrpSpPr>
              <p:grpSpPr bwMode="auto">
                <a:xfrm>
                  <a:off x="1736090" y="2893762"/>
                  <a:ext cx="565150" cy="292100"/>
                  <a:chOff x="1871277" y="1576300"/>
                  <a:chExt cx="1128371" cy="437861"/>
                </a:xfrm>
              </p:grpSpPr>
              <p:sp>
                <p:nvSpPr>
                  <p:cNvPr id="177" name="Oval 1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Rectangle 1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Oval 1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0" name="Freeform 1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Freeform 1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Freeform 1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4" name="Straight Connector 183"/>
                  <p:cNvCxnSpPr>
                    <a:endCxn id="1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5" name="Straight Connector 1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4" name="Group 173"/>
                <p:cNvGrpSpPr/>
                <p:nvPr/>
              </p:nvGrpSpPr>
              <p:grpSpPr>
                <a:xfrm>
                  <a:off x="1770362" y="2873352"/>
                  <a:ext cx="441422" cy="369332"/>
                  <a:chOff x="667045" y="1708643"/>
                  <a:chExt cx="441422" cy="369332"/>
                </a:xfrm>
              </p:grpSpPr>
              <p:sp>
                <p:nvSpPr>
                  <p:cNvPr id="175" name="Oval 1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6" name="TextBox 175"/>
                  <p:cNvSpPr txBox="1"/>
                  <p:nvPr/>
                </p:nvSpPr>
                <p:spPr>
                  <a:xfrm>
                    <a:off x="667045" y="1708643"/>
                    <a:ext cx="441422" cy="369332"/>
                  </a:xfrm>
                  <a:prstGeom prst="rect">
                    <a:avLst/>
                  </a:prstGeom>
                  <a:noFill/>
                </p:spPr>
                <p:txBody>
                  <a:bodyPr wrap="none" rtlCol="0">
                    <a:spAutoFit/>
                  </a:bodyPr>
                  <a:lstStyle/>
                  <a:p>
                    <a:r>
                      <a:rPr lang="en-US" dirty="0"/>
                      <a:t>1b</a:t>
                    </a:r>
                  </a:p>
                </p:txBody>
              </p:sp>
            </p:grpSp>
          </p:grpSp>
          <p:grpSp>
            <p:nvGrpSpPr>
              <p:cNvPr id="125" name="Group 124"/>
              <p:cNvGrpSpPr/>
              <p:nvPr/>
            </p:nvGrpSpPr>
            <p:grpSpPr>
              <a:xfrm>
                <a:off x="1740320" y="4094669"/>
                <a:ext cx="565150" cy="369332"/>
                <a:chOff x="1736090" y="2873352"/>
                <a:chExt cx="565150" cy="369332"/>
              </a:xfrm>
            </p:grpSpPr>
            <p:grpSp>
              <p:nvGrpSpPr>
                <p:cNvPr id="160" name="Group 327"/>
                <p:cNvGrpSpPr/>
                <p:nvPr/>
              </p:nvGrpSpPr>
              <p:grpSpPr bwMode="auto">
                <a:xfrm>
                  <a:off x="1736090" y="2893762"/>
                  <a:ext cx="565150" cy="292100"/>
                  <a:chOff x="1871277" y="1576300"/>
                  <a:chExt cx="1128371" cy="437861"/>
                </a:xfrm>
              </p:grpSpPr>
              <p:sp>
                <p:nvSpPr>
                  <p:cNvPr id="164" name="Oval 16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Rectangle 16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Oval 16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7" name="Freeform 16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Freeform 16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0" name="Freeform 16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1" name="Straight Connector 170"/>
                  <p:cNvCxnSpPr>
                    <a:endCxn id="16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2" name="Straight Connector 17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1" name="Group 160"/>
                <p:cNvGrpSpPr/>
                <p:nvPr/>
              </p:nvGrpSpPr>
              <p:grpSpPr>
                <a:xfrm>
                  <a:off x="1770362" y="2873352"/>
                  <a:ext cx="441422" cy="369332"/>
                  <a:chOff x="667045" y="1708643"/>
                  <a:chExt cx="441422" cy="369332"/>
                </a:xfrm>
              </p:grpSpPr>
              <p:sp>
                <p:nvSpPr>
                  <p:cNvPr id="162" name="Oval 16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3" name="TextBox 162"/>
                  <p:cNvSpPr txBox="1"/>
                  <p:nvPr/>
                </p:nvSpPr>
                <p:spPr>
                  <a:xfrm>
                    <a:off x="667045" y="1708643"/>
                    <a:ext cx="441422" cy="369332"/>
                  </a:xfrm>
                  <a:prstGeom prst="rect">
                    <a:avLst/>
                  </a:prstGeom>
                  <a:noFill/>
                </p:spPr>
                <p:txBody>
                  <a:bodyPr wrap="none" rtlCol="0">
                    <a:spAutoFit/>
                  </a:bodyPr>
                  <a:lstStyle/>
                  <a:p>
                    <a:r>
                      <a:rPr lang="en-US" dirty="0"/>
                      <a:t>1d</a:t>
                    </a:r>
                  </a:p>
                </p:txBody>
              </p:sp>
            </p:grpSp>
          </p:grpSp>
          <p:grpSp>
            <p:nvGrpSpPr>
              <p:cNvPr id="126" name="Group 125"/>
              <p:cNvGrpSpPr/>
              <p:nvPr/>
            </p:nvGrpSpPr>
            <p:grpSpPr>
              <a:xfrm>
                <a:off x="2601806" y="3485072"/>
                <a:ext cx="565150" cy="369332"/>
                <a:chOff x="1736090" y="2873352"/>
                <a:chExt cx="565150" cy="369332"/>
              </a:xfrm>
            </p:grpSpPr>
            <p:grpSp>
              <p:nvGrpSpPr>
                <p:cNvPr id="145" name="Group 327"/>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7" name="Freeform 156"/>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8" name="Straight Connector 157"/>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428460" cy="369332"/>
                  <a:chOff x="667045" y="1708643"/>
                  <a:chExt cx="428460" cy="369332"/>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428460" cy="369332"/>
                  </a:xfrm>
                  <a:prstGeom prst="rect">
                    <a:avLst/>
                  </a:prstGeom>
                  <a:noFill/>
                </p:spPr>
                <p:txBody>
                  <a:bodyPr wrap="none" rtlCol="0">
                    <a:spAutoFit/>
                  </a:bodyPr>
                  <a:lstStyle/>
                  <a:p>
                    <a:r>
                      <a:rPr lang="en-US" dirty="0"/>
                      <a:t>1c</a:t>
                    </a:r>
                  </a:p>
                </p:txBody>
              </p:sp>
            </p:grpSp>
          </p:grpSp>
          <p:grpSp>
            <p:nvGrpSpPr>
              <p:cNvPr id="127" name="Group 126"/>
              <p:cNvGrpSpPr/>
              <p:nvPr/>
            </p:nvGrpSpPr>
            <p:grpSpPr>
              <a:xfrm>
                <a:off x="833331" y="3478719"/>
                <a:ext cx="565150" cy="369332"/>
                <a:chOff x="1736090" y="2873352"/>
                <a:chExt cx="565150" cy="369332"/>
              </a:xfrm>
            </p:grpSpPr>
            <p:grpSp>
              <p:nvGrpSpPr>
                <p:cNvPr id="132" name="Group 327"/>
                <p:cNvGrpSpPr/>
                <p:nvPr/>
              </p:nvGrpSpPr>
              <p:grpSpPr bwMode="auto">
                <a:xfrm>
                  <a:off x="1736090" y="2893762"/>
                  <a:ext cx="565150" cy="292100"/>
                  <a:chOff x="1871277" y="1576300"/>
                  <a:chExt cx="1128371" cy="437861"/>
                </a:xfrm>
              </p:grpSpPr>
              <p:sp>
                <p:nvSpPr>
                  <p:cNvPr id="136" name="Oval 13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37" name="Rectangle 13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8" name="Oval 13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39" name="Freeform 13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0" name="Freeform 13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1" name="Freeform 14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2" name="Freeform 14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43" name="Straight Connector 142"/>
                  <p:cNvCxnSpPr>
                    <a:endCxn id="13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44" name="Straight Connector 14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33" name="Group 132"/>
                <p:cNvGrpSpPr/>
                <p:nvPr/>
              </p:nvGrpSpPr>
              <p:grpSpPr>
                <a:xfrm>
                  <a:off x="1770362" y="2873352"/>
                  <a:ext cx="441422" cy="369332"/>
                  <a:chOff x="667045" y="1708643"/>
                  <a:chExt cx="441422" cy="369332"/>
                </a:xfrm>
              </p:grpSpPr>
              <p:sp>
                <p:nvSpPr>
                  <p:cNvPr id="134" name="Oval 13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35" name="TextBox 134"/>
                  <p:cNvSpPr txBox="1"/>
                  <p:nvPr/>
                </p:nvSpPr>
                <p:spPr>
                  <a:xfrm>
                    <a:off x="667045" y="1708643"/>
                    <a:ext cx="441422" cy="369332"/>
                  </a:xfrm>
                  <a:prstGeom prst="rect">
                    <a:avLst/>
                  </a:prstGeom>
                  <a:noFill/>
                </p:spPr>
                <p:txBody>
                  <a:bodyPr wrap="none" rtlCol="0">
                    <a:spAutoFit/>
                  </a:bodyPr>
                  <a:lstStyle/>
                  <a:p>
                    <a:r>
                      <a:rPr lang="en-US" dirty="0"/>
                      <a:t>1a</a:t>
                    </a:r>
                  </a:p>
                </p:txBody>
              </p:sp>
            </p:grpSp>
          </p:grpSp>
          <p:cxnSp>
            <p:nvCxnSpPr>
              <p:cNvPr id="128" name="Straight Connector 127"/>
              <p:cNvCxnSpPr>
                <a:stCxn id="177"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129" name="Straight Connector 128"/>
              <p:cNvCxnSpPr/>
              <p:nvPr/>
            </p:nvCxnSpPr>
            <p:spPr bwMode="auto">
              <a:xfrm>
                <a:off x="1315140" y="3783345"/>
                <a:ext cx="489235" cy="352580"/>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130" name="Straight Connector 129"/>
              <p:cNvCxnSpPr/>
              <p:nvPr/>
            </p:nvCxnSpPr>
            <p:spPr bwMode="auto">
              <a:xfrm flipH="1">
                <a:off x="2196042" y="3783542"/>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131" name="Straight Connector 130"/>
              <p:cNvCxnSpPr>
                <a:endCxn id="177" idx="2"/>
              </p:cNvCxnSpPr>
              <p:nvPr/>
            </p:nvCxnSpPr>
            <p:spPr bwMode="auto">
              <a:xfrm flipV="1">
                <a:off x="1319809" y="3078707"/>
                <a:ext cx="417868" cy="457019"/>
              </a:xfrm>
              <a:prstGeom prst="line">
                <a:avLst/>
              </a:prstGeom>
              <a:solidFill>
                <a:schemeClr val="accent1"/>
              </a:solidFill>
              <a:ln w="19050" cap="flat" cmpd="sng" algn="ctr">
                <a:solidFill>
                  <a:schemeClr val="tx1"/>
                </a:solidFill>
                <a:prstDash val="solid"/>
                <a:round/>
                <a:headEnd type="none" w="med" len="med"/>
                <a:tailEnd type="none" w="med" len="med"/>
              </a:ln>
              <a:effectLst/>
            </p:spPr>
          </p:cxnSp>
        </p:grpSp>
      </p:grpSp>
      <p:sp>
        <p:nvSpPr>
          <p:cNvPr id="186" name="Freeform 2"/>
          <p:cNvSpPr/>
          <p:nvPr/>
        </p:nvSpPr>
        <p:spPr bwMode="auto">
          <a:xfrm>
            <a:off x="3285692" y="2600401"/>
            <a:ext cx="2545688" cy="1720535"/>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187" name="Group 186"/>
          <p:cNvGrpSpPr/>
          <p:nvPr/>
        </p:nvGrpSpPr>
        <p:grpSpPr>
          <a:xfrm>
            <a:off x="3506594" y="2740425"/>
            <a:ext cx="2189884" cy="1476371"/>
            <a:chOff x="833331" y="2873352"/>
            <a:chExt cx="2333625" cy="1590649"/>
          </a:xfrm>
        </p:grpSpPr>
        <p:grpSp>
          <p:nvGrpSpPr>
            <p:cNvPr id="188" name="Group 187"/>
            <p:cNvGrpSpPr/>
            <p:nvPr/>
          </p:nvGrpSpPr>
          <p:grpSpPr>
            <a:xfrm>
              <a:off x="1736090" y="2873352"/>
              <a:ext cx="565150" cy="369332"/>
              <a:chOff x="1736090" y="2873352"/>
              <a:chExt cx="565150" cy="369332"/>
            </a:xfrm>
          </p:grpSpPr>
          <p:grpSp>
            <p:nvGrpSpPr>
              <p:cNvPr id="235" name="Group 327"/>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41422" cy="369332"/>
                <a:chOff x="667045" y="1708643"/>
                <a:chExt cx="441422" cy="369332"/>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41422" cy="369332"/>
                </a:xfrm>
                <a:prstGeom prst="rect">
                  <a:avLst/>
                </a:prstGeom>
                <a:noFill/>
              </p:spPr>
              <p:txBody>
                <a:bodyPr wrap="none" rtlCol="0">
                  <a:spAutoFit/>
                </a:bodyPr>
                <a:lstStyle/>
                <a:p>
                  <a:r>
                    <a:rPr lang="en-US" dirty="0"/>
                    <a:t>2b</a:t>
                  </a:r>
                </a:p>
              </p:txBody>
            </p:sp>
          </p:grpSp>
        </p:grpSp>
        <p:grpSp>
          <p:nvGrpSpPr>
            <p:cNvPr id="189" name="Group 188"/>
            <p:cNvGrpSpPr/>
            <p:nvPr/>
          </p:nvGrpSpPr>
          <p:grpSpPr>
            <a:xfrm>
              <a:off x="1740320" y="4094669"/>
              <a:ext cx="565150" cy="369332"/>
              <a:chOff x="1736090" y="2873352"/>
              <a:chExt cx="565150" cy="369332"/>
            </a:xfrm>
          </p:grpSpPr>
          <p:grpSp>
            <p:nvGrpSpPr>
              <p:cNvPr id="222" name="Group 327"/>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41422" cy="369332"/>
                <a:chOff x="667045" y="1708643"/>
                <a:chExt cx="441422" cy="369332"/>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41422" cy="369332"/>
                </a:xfrm>
                <a:prstGeom prst="rect">
                  <a:avLst/>
                </a:prstGeom>
                <a:noFill/>
              </p:spPr>
              <p:txBody>
                <a:bodyPr wrap="none" rtlCol="0">
                  <a:spAutoFit/>
                </a:bodyPr>
                <a:lstStyle/>
                <a:p>
                  <a:r>
                    <a:rPr lang="en-US" dirty="0"/>
                    <a:t>2d</a:t>
                  </a:r>
                </a:p>
              </p:txBody>
            </p:sp>
          </p:grpSp>
        </p:grpSp>
        <p:grpSp>
          <p:nvGrpSpPr>
            <p:cNvPr id="190" name="Group 189"/>
            <p:cNvGrpSpPr/>
            <p:nvPr/>
          </p:nvGrpSpPr>
          <p:grpSpPr>
            <a:xfrm>
              <a:off x="2601806" y="3485072"/>
              <a:ext cx="565150" cy="369332"/>
              <a:chOff x="1736090" y="2873352"/>
              <a:chExt cx="565150" cy="369332"/>
            </a:xfrm>
          </p:grpSpPr>
          <p:grpSp>
            <p:nvGrpSpPr>
              <p:cNvPr id="209" name="Group 327"/>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428460" cy="369332"/>
                <a:chOff x="667045" y="1708643"/>
                <a:chExt cx="428460" cy="369332"/>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428460" cy="369332"/>
                </a:xfrm>
                <a:prstGeom prst="rect">
                  <a:avLst/>
                </a:prstGeom>
                <a:noFill/>
              </p:spPr>
              <p:txBody>
                <a:bodyPr wrap="none" rtlCol="0">
                  <a:spAutoFit/>
                </a:bodyPr>
                <a:lstStyle/>
                <a:p>
                  <a:r>
                    <a:rPr lang="en-US" dirty="0"/>
                    <a:t>2c</a:t>
                  </a:r>
                </a:p>
              </p:txBody>
            </p:sp>
          </p:grpSp>
        </p:grpSp>
        <p:grpSp>
          <p:nvGrpSpPr>
            <p:cNvPr id="191" name="Group 190"/>
            <p:cNvGrpSpPr/>
            <p:nvPr/>
          </p:nvGrpSpPr>
          <p:grpSpPr>
            <a:xfrm>
              <a:off x="833331" y="3478719"/>
              <a:ext cx="565150" cy="369332"/>
              <a:chOff x="1736090" y="2873352"/>
              <a:chExt cx="565150" cy="369332"/>
            </a:xfrm>
          </p:grpSpPr>
          <p:grpSp>
            <p:nvGrpSpPr>
              <p:cNvPr id="196" name="Group 327"/>
              <p:cNvGrpSpPr/>
              <p:nvPr/>
            </p:nvGrpSpPr>
            <p:grpSpPr bwMode="auto">
              <a:xfrm>
                <a:off x="1736090" y="2893762"/>
                <a:ext cx="565150" cy="292100"/>
                <a:chOff x="1871277" y="1576300"/>
                <a:chExt cx="1128371" cy="437861"/>
              </a:xfrm>
            </p:grpSpPr>
            <p:sp>
              <p:nvSpPr>
                <p:cNvPr id="200" name="Oval 19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1" name="Rectangle 20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2" name="Oval 20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3" name="Freeform 20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4" name="Freeform 20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5" name="Freeform 20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6" name="Freeform 20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07" name="Straight Connector 206"/>
                <p:cNvCxnSpPr>
                  <a:endCxn id="20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8" name="Straight Connector 20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7" name="Group 196"/>
              <p:cNvGrpSpPr/>
              <p:nvPr/>
            </p:nvGrpSpPr>
            <p:grpSpPr>
              <a:xfrm>
                <a:off x="1770362" y="2873352"/>
                <a:ext cx="441422" cy="369332"/>
                <a:chOff x="667045" y="1708643"/>
                <a:chExt cx="441422" cy="369332"/>
              </a:xfrm>
            </p:grpSpPr>
            <p:sp>
              <p:nvSpPr>
                <p:cNvPr id="198" name="Oval 19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9" name="TextBox 198"/>
                <p:cNvSpPr txBox="1"/>
                <p:nvPr/>
              </p:nvSpPr>
              <p:spPr>
                <a:xfrm>
                  <a:off x="667045" y="1708643"/>
                  <a:ext cx="441422" cy="369332"/>
                </a:xfrm>
                <a:prstGeom prst="rect">
                  <a:avLst/>
                </a:prstGeom>
                <a:noFill/>
              </p:spPr>
              <p:txBody>
                <a:bodyPr wrap="none" rtlCol="0">
                  <a:spAutoFit/>
                </a:bodyPr>
                <a:lstStyle/>
                <a:p>
                  <a:r>
                    <a:rPr lang="en-US" dirty="0"/>
                    <a:t>2a</a:t>
                  </a:r>
                </a:p>
              </p:txBody>
            </p:sp>
          </p:grpSp>
        </p:grpSp>
        <p:cxnSp>
          <p:nvCxnSpPr>
            <p:cNvPr id="192" name="Straight Connector 191"/>
            <p:cNvCxnSpPr>
              <a:endCxn id="225" idx="0"/>
            </p:cNvCxnSpPr>
            <p:nvPr/>
          </p:nvCxnSpPr>
          <p:spPr bwMode="auto">
            <a:xfrm>
              <a:off x="1991073" y="3173114"/>
              <a:ext cx="4230" cy="921555"/>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193" name="Straight Connector 192"/>
            <p:cNvCxnSpPr/>
            <p:nvPr/>
          </p:nvCxnSpPr>
          <p:spPr bwMode="auto">
            <a:xfrm>
              <a:off x="2280478" y="3145660"/>
              <a:ext cx="435814" cy="359474"/>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194" name="Straight Connector 193"/>
            <p:cNvCxnSpPr/>
            <p:nvPr/>
          </p:nvCxnSpPr>
          <p:spPr bwMode="auto">
            <a:xfrm>
              <a:off x="1300073" y="3768911"/>
              <a:ext cx="527386" cy="368208"/>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195" name="Straight Connector 194"/>
            <p:cNvCxnSpPr/>
            <p:nvPr/>
          </p:nvCxnSpPr>
          <p:spPr bwMode="auto">
            <a:xfrm flipH="1">
              <a:off x="2194462" y="3713972"/>
              <a:ext cx="509583" cy="428945"/>
            </a:xfrm>
            <a:prstGeom prst="line">
              <a:avLst/>
            </a:prstGeom>
            <a:solidFill>
              <a:schemeClr val="accent1"/>
            </a:solidFill>
            <a:ln w="19050" cap="flat" cmpd="sng" algn="ctr">
              <a:solidFill>
                <a:schemeClr val="tx1"/>
              </a:solidFill>
              <a:prstDash val="solid"/>
              <a:round/>
              <a:headEnd type="none" w="med" len="med"/>
              <a:tailEnd type="none" w="med" len="med"/>
            </a:ln>
            <a:effectLst/>
          </p:spPr>
        </p:cxnSp>
      </p:grpSp>
      <p:sp>
        <p:nvSpPr>
          <p:cNvPr id="248" name="Freeform 2"/>
          <p:cNvSpPr/>
          <p:nvPr/>
        </p:nvSpPr>
        <p:spPr bwMode="auto">
          <a:xfrm>
            <a:off x="5507686" y="1532143"/>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p:spPr>
        <p:txBody>
          <a:bodyPr wrap="none" anchor="ctr"/>
          <a:lstStyle/>
          <a:p>
            <a:endParaRPr lang="en-US"/>
          </a:p>
        </p:txBody>
      </p:sp>
      <p:grpSp>
        <p:nvGrpSpPr>
          <p:cNvPr id="250" name="Group 249"/>
          <p:cNvGrpSpPr/>
          <p:nvPr/>
        </p:nvGrpSpPr>
        <p:grpSpPr>
          <a:xfrm>
            <a:off x="6588258" y="1668259"/>
            <a:ext cx="536554" cy="333232"/>
            <a:chOff x="1736090" y="2873352"/>
            <a:chExt cx="565150" cy="369332"/>
          </a:xfrm>
        </p:grpSpPr>
        <p:grpSp>
          <p:nvGrpSpPr>
            <p:cNvPr id="298" name="Group 327"/>
            <p:cNvGrpSpPr/>
            <p:nvPr/>
          </p:nvGrpSpPr>
          <p:grpSpPr bwMode="auto">
            <a:xfrm>
              <a:off x="1736090" y="2893762"/>
              <a:ext cx="565150" cy="292100"/>
              <a:chOff x="1871277" y="1576300"/>
              <a:chExt cx="1128371" cy="437861"/>
            </a:xfrm>
          </p:grpSpPr>
          <p:sp>
            <p:nvSpPr>
              <p:cNvPr id="302" name="Oval 30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3" name="Rectangle 30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4" name="Oval 30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5" name="Freeform 30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6" name="Freeform 30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09" name="Straight Connector 308"/>
              <p:cNvCxnSpPr>
                <a:endCxn id="30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0" name="Straight Connector 30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99" name="Group 298"/>
            <p:cNvGrpSpPr/>
            <p:nvPr/>
          </p:nvGrpSpPr>
          <p:grpSpPr>
            <a:xfrm>
              <a:off x="1770362" y="2873352"/>
              <a:ext cx="441422" cy="369332"/>
              <a:chOff x="667045" y="1708643"/>
              <a:chExt cx="441422" cy="369332"/>
            </a:xfrm>
          </p:grpSpPr>
          <p:sp>
            <p:nvSpPr>
              <p:cNvPr id="300" name="Oval 29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1" name="TextBox 300"/>
              <p:cNvSpPr txBox="1"/>
              <p:nvPr/>
            </p:nvSpPr>
            <p:spPr>
              <a:xfrm>
                <a:off x="667045" y="1708643"/>
                <a:ext cx="441422" cy="369332"/>
              </a:xfrm>
              <a:prstGeom prst="rect">
                <a:avLst/>
              </a:prstGeom>
              <a:noFill/>
            </p:spPr>
            <p:txBody>
              <a:bodyPr wrap="none" rtlCol="0">
                <a:spAutoFit/>
              </a:bodyPr>
              <a:lstStyle/>
              <a:p>
                <a:r>
                  <a:rPr lang="en-US" dirty="0"/>
                  <a:t>3b</a:t>
                </a:r>
              </a:p>
            </p:txBody>
          </p:sp>
        </p:grpSp>
      </p:grpSp>
      <p:grpSp>
        <p:nvGrpSpPr>
          <p:cNvPr id="251" name="Group 250"/>
          <p:cNvGrpSpPr/>
          <p:nvPr/>
        </p:nvGrpSpPr>
        <p:grpSpPr>
          <a:xfrm>
            <a:off x="6592274" y="2770198"/>
            <a:ext cx="536554" cy="333232"/>
            <a:chOff x="1736090" y="2873352"/>
            <a:chExt cx="565150" cy="369332"/>
          </a:xfrm>
        </p:grpSpPr>
        <p:grpSp>
          <p:nvGrpSpPr>
            <p:cNvPr id="285" name="Group 327"/>
            <p:cNvGrpSpPr/>
            <p:nvPr/>
          </p:nvGrpSpPr>
          <p:grpSpPr bwMode="auto">
            <a:xfrm>
              <a:off x="1736090" y="2893762"/>
              <a:ext cx="565150" cy="292100"/>
              <a:chOff x="1871277" y="1576300"/>
              <a:chExt cx="1128371" cy="437861"/>
            </a:xfrm>
          </p:grpSpPr>
          <p:sp>
            <p:nvSpPr>
              <p:cNvPr id="289" name="Oval 28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0" name="Rectangle 28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1" name="Oval 29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2" name="Freeform 29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3" name="Freeform 29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6" name="Straight Connector 295"/>
              <p:cNvCxnSpPr>
                <a:endCxn id="29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7" name="Straight Connector 29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6" name="Group 285"/>
            <p:cNvGrpSpPr/>
            <p:nvPr/>
          </p:nvGrpSpPr>
          <p:grpSpPr>
            <a:xfrm>
              <a:off x="1770362" y="2873352"/>
              <a:ext cx="441422" cy="369332"/>
              <a:chOff x="667045" y="1708643"/>
              <a:chExt cx="441422" cy="369332"/>
            </a:xfrm>
          </p:grpSpPr>
          <p:sp>
            <p:nvSpPr>
              <p:cNvPr id="287" name="Oval 28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8" name="TextBox 287"/>
              <p:cNvSpPr txBox="1"/>
              <p:nvPr/>
            </p:nvSpPr>
            <p:spPr>
              <a:xfrm>
                <a:off x="667045" y="1708643"/>
                <a:ext cx="441422" cy="369332"/>
              </a:xfrm>
              <a:prstGeom prst="rect">
                <a:avLst/>
              </a:prstGeom>
              <a:noFill/>
            </p:spPr>
            <p:txBody>
              <a:bodyPr wrap="none" rtlCol="0">
                <a:spAutoFit/>
              </a:bodyPr>
              <a:lstStyle/>
              <a:p>
                <a:r>
                  <a:rPr lang="en-US" dirty="0"/>
                  <a:t>3d</a:t>
                </a:r>
              </a:p>
            </p:txBody>
          </p:sp>
        </p:grpSp>
      </p:grpSp>
      <p:grpSp>
        <p:nvGrpSpPr>
          <p:cNvPr id="252" name="Group 251"/>
          <p:cNvGrpSpPr/>
          <p:nvPr/>
        </p:nvGrpSpPr>
        <p:grpSpPr>
          <a:xfrm>
            <a:off x="7410171" y="2220186"/>
            <a:ext cx="536554" cy="333232"/>
            <a:chOff x="1736090" y="2873352"/>
            <a:chExt cx="565150" cy="369332"/>
          </a:xfrm>
        </p:grpSpPr>
        <p:grpSp>
          <p:nvGrpSpPr>
            <p:cNvPr id="272" name="Group 327"/>
            <p:cNvGrpSpPr/>
            <p:nvPr/>
          </p:nvGrpSpPr>
          <p:grpSpPr bwMode="auto">
            <a:xfrm>
              <a:off x="1736090" y="2893762"/>
              <a:ext cx="565150" cy="292100"/>
              <a:chOff x="1871277" y="1576300"/>
              <a:chExt cx="1128371" cy="437861"/>
            </a:xfrm>
          </p:grpSpPr>
          <p:sp>
            <p:nvSpPr>
              <p:cNvPr id="276" name="Oval 27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7" name="Rectangle 27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8" name="Oval 27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9" name="Freeform 27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0" name="Freeform 27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3" name="Straight Connector 282"/>
              <p:cNvCxnSpPr>
                <a:endCxn id="27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4" name="Straight Connector 28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3" name="Group 272"/>
            <p:cNvGrpSpPr/>
            <p:nvPr/>
          </p:nvGrpSpPr>
          <p:grpSpPr>
            <a:xfrm>
              <a:off x="1770362" y="2873352"/>
              <a:ext cx="428460" cy="369332"/>
              <a:chOff x="667045" y="1708643"/>
              <a:chExt cx="428460" cy="369332"/>
            </a:xfrm>
          </p:grpSpPr>
          <p:sp>
            <p:nvSpPr>
              <p:cNvPr id="274" name="Oval 27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5" name="TextBox 274"/>
              <p:cNvSpPr txBox="1"/>
              <p:nvPr/>
            </p:nvSpPr>
            <p:spPr>
              <a:xfrm>
                <a:off x="667045" y="1708643"/>
                <a:ext cx="428460" cy="369332"/>
              </a:xfrm>
              <a:prstGeom prst="rect">
                <a:avLst/>
              </a:prstGeom>
              <a:noFill/>
            </p:spPr>
            <p:txBody>
              <a:bodyPr wrap="none" rtlCol="0">
                <a:spAutoFit/>
              </a:bodyPr>
              <a:lstStyle/>
              <a:p>
                <a:r>
                  <a:rPr lang="en-US" dirty="0"/>
                  <a:t>3c</a:t>
                </a:r>
              </a:p>
            </p:txBody>
          </p:sp>
        </p:grpSp>
      </p:grpSp>
      <p:grpSp>
        <p:nvGrpSpPr>
          <p:cNvPr id="253" name="Group 252"/>
          <p:cNvGrpSpPr/>
          <p:nvPr/>
        </p:nvGrpSpPr>
        <p:grpSpPr>
          <a:xfrm>
            <a:off x="5731177" y="2214454"/>
            <a:ext cx="536554" cy="333232"/>
            <a:chOff x="1736090" y="2873352"/>
            <a:chExt cx="565150" cy="369332"/>
          </a:xfrm>
        </p:grpSpPr>
        <p:grpSp>
          <p:nvGrpSpPr>
            <p:cNvPr id="259" name="Group 327"/>
            <p:cNvGrpSpPr/>
            <p:nvPr/>
          </p:nvGrpSpPr>
          <p:grpSpPr bwMode="auto">
            <a:xfrm>
              <a:off x="1736090" y="2893762"/>
              <a:ext cx="565150" cy="292100"/>
              <a:chOff x="1871277" y="1576300"/>
              <a:chExt cx="1128371" cy="437861"/>
            </a:xfrm>
          </p:grpSpPr>
          <p:sp>
            <p:nvSpPr>
              <p:cNvPr id="263" name="Oval 26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4" name="Rectangle 26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5" name="Oval 26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6" name="Freeform 26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7" name="Freeform 26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8" name="Freeform 26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9" name="Freeform 26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70" name="Straight Connector 269"/>
              <p:cNvCxnSpPr>
                <a:endCxn id="26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71" name="Straight Connector 27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0" name="Group 259"/>
            <p:cNvGrpSpPr/>
            <p:nvPr/>
          </p:nvGrpSpPr>
          <p:grpSpPr>
            <a:xfrm>
              <a:off x="1770362" y="2873352"/>
              <a:ext cx="441422" cy="369332"/>
              <a:chOff x="667045" y="1708643"/>
              <a:chExt cx="441422" cy="369332"/>
            </a:xfrm>
          </p:grpSpPr>
          <p:sp>
            <p:nvSpPr>
              <p:cNvPr id="261" name="Oval 26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2" name="TextBox 261"/>
              <p:cNvSpPr txBox="1"/>
              <p:nvPr/>
            </p:nvSpPr>
            <p:spPr>
              <a:xfrm>
                <a:off x="667045" y="1708643"/>
                <a:ext cx="441422" cy="369332"/>
              </a:xfrm>
              <a:prstGeom prst="rect">
                <a:avLst/>
              </a:prstGeom>
              <a:noFill/>
            </p:spPr>
            <p:txBody>
              <a:bodyPr wrap="none" rtlCol="0">
                <a:spAutoFit/>
              </a:bodyPr>
              <a:lstStyle/>
              <a:p>
                <a:r>
                  <a:rPr lang="en-US" dirty="0"/>
                  <a:t>3a</a:t>
                </a:r>
              </a:p>
            </p:txBody>
          </p:sp>
        </p:grpSp>
      </p:grpSp>
      <p:cxnSp>
        <p:nvCxnSpPr>
          <p:cNvPr id="254" name="Straight Connector 253"/>
          <p:cNvCxnSpPr/>
          <p:nvPr/>
        </p:nvCxnSpPr>
        <p:spPr bwMode="auto">
          <a:xfrm>
            <a:off x="6276273" y="2367749"/>
            <a:ext cx="1143946" cy="5732"/>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255" name="Straight Connector 254"/>
          <p:cNvCxnSpPr>
            <a:stCxn id="302" idx="7"/>
          </p:cNvCxnSpPr>
          <p:nvPr/>
        </p:nvCxnSpPr>
        <p:spPr bwMode="auto">
          <a:xfrm>
            <a:off x="7046457" y="1921905"/>
            <a:ext cx="455753" cy="333629"/>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256" name="Straight Connector 255"/>
          <p:cNvCxnSpPr/>
          <p:nvPr/>
        </p:nvCxnSpPr>
        <p:spPr bwMode="auto">
          <a:xfrm>
            <a:off x="6174303" y="2491974"/>
            <a:ext cx="453745" cy="322169"/>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257" name="Straight Connector 256"/>
          <p:cNvCxnSpPr/>
          <p:nvPr/>
        </p:nvCxnSpPr>
        <p:spPr bwMode="auto">
          <a:xfrm flipH="1">
            <a:off x="6162417" y="1933156"/>
            <a:ext cx="482298" cy="315112"/>
          </a:xfrm>
          <a:prstGeom prst="line">
            <a:avLst/>
          </a:prstGeom>
          <a:solidFill>
            <a:schemeClr val="accent1"/>
          </a:solidFill>
          <a:ln w="19050" cap="flat" cmpd="sng" algn="ctr">
            <a:solidFill>
              <a:schemeClr val="tx1"/>
            </a:solidFill>
            <a:prstDash val="solid"/>
            <a:round/>
            <a:headEnd type="none" w="med" len="med"/>
            <a:tailEnd type="none" w="med" len="med"/>
          </a:ln>
          <a:effectLst/>
        </p:spPr>
      </p:cxnSp>
      <p:cxnSp>
        <p:nvCxnSpPr>
          <p:cNvPr id="258" name="Straight Connector 257"/>
          <p:cNvCxnSpPr/>
          <p:nvPr/>
        </p:nvCxnSpPr>
        <p:spPr bwMode="auto">
          <a:xfrm flipH="1" flipV="1">
            <a:off x="5412148" y="3178324"/>
            <a:ext cx="1295763" cy="643754"/>
          </a:xfrm>
          <a:prstGeom prst="line">
            <a:avLst/>
          </a:prstGeom>
          <a:solidFill>
            <a:schemeClr val="accent1"/>
          </a:solidFill>
          <a:ln w="19050" cap="flat" cmpd="sng" algn="ctr">
            <a:solidFill>
              <a:schemeClr val="bg2">
                <a:lumMod val="75000"/>
              </a:schemeClr>
            </a:solidFill>
            <a:prstDash val="solid"/>
            <a:round/>
            <a:headEnd type="none" w="med" len="med"/>
            <a:tailEnd type="none" w="med" len="med"/>
          </a:ln>
          <a:effectLst/>
        </p:spPr>
      </p:cxnSp>
      <p:cxnSp>
        <p:nvCxnSpPr>
          <p:cNvPr id="311" name="Straight Connector 310"/>
          <p:cNvCxnSpPr/>
          <p:nvPr/>
        </p:nvCxnSpPr>
        <p:spPr bwMode="auto">
          <a:xfrm flipH="1" flipV="1">
            <a:off x="3046707" y="2561763"/>
            <a:ext cx="542552" cy="781201"/>
          </a:xfrm>
          <a:prstGeom prst="line">
            <a:avLst/>
          </a:prstGeom>
          <a:solidFill>
            <a:schemeClr val="accent1"/>
          </a:solidFill>
          <a:ln w="38100" cap="flat" cmpd="sng" algn="ctr">
            <a:solidFill>
              <a:schemeClr val="tx1"/>
            </a:solidFill>
            <a:prstDash val="solid"/>
            <a:round/>
            <a:headEnd type="none" w="med" len="med"/>
            <a:tailEnd type="none" w="med" len="med"/>
          </a:ln>
          <a:effectLst/>
        </p:spPr>
      </p:cxnSp>
      <p:cxnSp>
        <p:nvCxnSpPr>
          <p:cNvPr id="312" name="Straight Connector 311"/>
          <p:cNvCxnSpPr/>
          <p:nvPr/>
        </p:nvCxnSpPr>
        <p:spPr bwMode="auto">
          <a:xfrm flipV="1">
            <a:off x="5523188" y="2502881"/>
            <a:ext cx="337735" cy="823128"/>
          </a:xfrm>
          <a:prstGeom prst="line">
            <a:avLst/>
          </a:prstGeom>
          <a:solidFill>
            <a:schemeClr val="accent1"/>
          </a:solidFill>
          <a:ln w="38100" cap="flat" cmpd="sng" algn="ctr">
            <a:solidFill>
              <a:schemeClr val="tx1"/>
            </a:solidFill>
            <a:prstDash val="solid"/>
            <a:round/>
            <a:headEnd type="none" w="med" len="med"/>
            <a:tailEnd type="none" w="med" len="med"/>
          </a:ln>
          <a:effectLst/>
        </p:spPr>
      </p:cxnSp>
      <p:sp>
        <p:nvSpPr>
          <p:cNvPr id="313" name="TextBox 312"/>
          <p:cNvSpPr txBox="1"/>
          <p:nvPr/>
        </p:nvSpPr>
        <p:spPr>
          <a:xfrm>
            <a:off x="3493291" y="2660085"/>
            <a:ext cx="682273" cy="400110"/>
          </a:xfrm>
          <a:prstGeom prst="rect">
            <a:avLst/>
          </a:prstGeom>
          <a:noFill/>
        </p:spPr>
        <p:txBody>
          <a:bodyPr wrap="none" rtlCol="0">
            <a:spAutoFit/>
          </a:bodyPr>
          <a:lstStyle/>
          <a:p>
            <a:r>
              <a:rPr lang="en-US" sz="2000" dirty="0">
                <a:solidFill>
                  <a:srgbClr val="000090"/>
                </a:solidFill>
              </a:rPr>
              <a:t>AS2</a:t>
            </a:r>
          </a:p>
        </p:txBody>
      </p:sp>
      <p:sp>
        <p:nvSpPr>
          <p:cNvPr id="314" name="TextBox 313"/>
          <p:cNvSpPr txBox="1"/>
          <p:nvPr/>
        </p:nvSpPr>
        <p:spPr>
          <a:xfrm>
            <a:off x="5543950" y="1573383"/>
            <a:ext cx="682273" cy="400110"/>
          </a:xfrm>
          <a:prstGeom prst="rect">
            <a:avLst/>
          </a:prstGeom>
          <a:noFill/>
        </p:spPr>
        <p:txBody>
          <a:bodyPr wrap="none" rtlCol="0">
            <a:spAutoFit/>
          </a:bodyPr>
          <a:lstStyle/>
          <a:p>
            <a:r>
              <a:rPr lang="en-US" sz="2000" dirty="0">
                <a:solidFill>
                  <a:srgbClr val="000090"/>
                </a:solidFill>
              </a:rPr>
              <a:t>AS3</a:t>
            </a:r>
          </a:p>
        </p:txBody>
      </p:sp>
      <p:sp>
        <p:nvSpPr>
          <p:cNvPr id="315" name="TextBox 314"/>
          <p:cNvSpPr txBox="1"/>
          <p:nvPr/>
        </p:nvSpPr>
        <p:spPr>
          <a:xfrm>
            <a:off x="707172" y="1784059"/>
            <a:ext cx="682273" cy="400110"/>
          </a:xfrm>
          <a:prstGeom prst="rect">
            <a:avLst/>
          </a:prstGeom>
          <a:noFill/>
        </p:spPr>
        <p:txBody>
          <a:bodyPr wrap="none" rtlCol="0">
            <a:spAutoFit/>
          </a:bodyPr>
          <a:lstStyle/>
          <a:p>
            <a:r>
              <a:rPr lang="en-US" sz="2000" dirty="0">
                <a:solidFill>
                  <a:srgbClr val="000090"/>
                </a:solidFill>
              </a:rPr>
              <a:t>AS1</a:t>
            </a:r>
          </a:p>
        </p:txBody>
      </p:sp>
      <p:grpSp>
        <p:nvGrpSpPr>
          <p:cNvPr id="316" name="Group 315"/>
          <p:cNvGrpSpPr/>
          <p:nvPr/>
        </p:nvGrpSpPr>
        <p:grpSpPr>
          <a:xfrm>
            <a:off x="7070827" y="2634990"/>
            <a:ext cx="1701734" cy="616172"/>
            <a:chOff x="7073692" y="5469792"/>
            <a:chExt cx="1701734" cy="616172"/>
          </a:xfrm>
        </p:grpSpPr>
        <p:grpSp>
          <p:nvGrpSpPr>
            <p:cNvPr id="317" name="Group 316"/>
            <p:cNvGrpSpPr/>
            <p:nvPr/>
          </p:nvGrpSpPr>
          <p:grpSpPr>
            <a:xfrm>
              <a:off x="7073692" y="5469792"/>
              <a:ext cx="1701734" cy="616172"/>
              <a:chOff x="6946249" y="5096269"/>
              <a:chExt cx="1701734" cy="616172"/>
            </a:xfrm>
          </p:grpSpPr>
          <p:sp>
            <p:nvSpPr>
              <p:cNvPr id="319" name="Freeform 2"/>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1" fmla="*/ 4 w 8600"/>
                  <a:gd name="connsiteY0-2" fmla="*/ 4042 h 10128"/>
                  <a:gd name="connsiteX1-3" fmla="*/ 715 w 8600"/>
                  <a:gd name="connsiteY1-4" fmla="*/ 1598 h 10128"/>
                  <a:gd name="connsiteX2-5" fmla="*/ 3130 w 8600"/>
                  <a:gd name="connsiteY2-6" fmla="*/ 1009 h 10128"/>
                  <a:gd name="connsiteX3-7" fmla="*/ 4995 w 8600"/>
                  <a:gd name="connsiteY3-8" fmla="*/ 3 h 10128"/>
                  <a:gd name="connsiteX4-9" fmla="*/ 6720 w 8600"/>
                  <a:gd name="connsiteY4-10" fmla="*/ 1012 h 10128"/>
                  <a:gd name="connsiteX5-11" fmla="*/ 8599 w 8600"/>
                  <a:gd name="connsiteY5-12" fmla="*/ 6800 h 10128"/>
                  <a:gd name="connsiteX6-13" fmla="*/ 6995 w 8600"/>
                  <a:gd name="connsiteY6-14" fmla="*/ 9325 h 10128"/>
                  <a:gd name="connsiteX7-15" fmla="*/ 5307 w 8600"/>
                  <a:gd name="connsiteY7-16" fmla="*/ 8846 h 10128"/>
                  <a:gd name="connsiteX8-17" fmla="*/ 4371 w 8600"/>
                  <a:gd name="connsiteY8-18" fmla="*/ 9915 h 10128"/>
                  <a:gd name="connsiteX9-19" fmla="*/ 3140 w 8600"/>
                  <a:gd name="connsiteY9-20" fmla="*/ 10022 h 10128"/>
                  <a:gd name="connsiteX10-21" fmla="*/ 2179 w 8600"/>
                  <a:gd name="connsiteY10-22" fmla="*/ 7898 h 10128"/>
                  <a:gd name="connsiteX11-23" fmla="*/ 1187 w 8600"/>
                  <a:gd name="connsiteY11-24" fmla="*/ 7498 h 10128"/>
                  <a:gd name="connsiteX12-25" fmla="*/ 4 w 8600"/>
                  <a:gd name="connsiteY12-26" fmla="*/ 4042 h 10128"/>
                  <a:gd name="connsiteX0-27" fmla="*/ 4 w 9326"/>
                  <a:gd name="connsiteY0-28" fmla="*/ 3988 h 9997"/>
                  <a:gd name="connsiteX1-29" fmla="*/ 830 w 9326"/>
                  <a:gd name="connsiteY1-30" fmla="*/ 1575 h 9997"/>
                  <a:gd name="connsiteX2-31" fmla="*/ 3639 w 9326"/>
                  <a:gd name="connsiteY2-32" fmla="*/ 993 h 9997"/>
                  <a:gd name="connsiteX3-33" fmla="*/ 5807 w 9326"/>
                  <a:gd name="connsiteY3-34" fmla="*/ 0 h 9997"/>
                  <a:gd name="connsiteX4-35" fmla="*/ 7813 w 9326"/>
                  <a:gd name="connsiteY4-36" fmla="*/ 996 h 9997"/>
                  <a:gd name="connsiteX5-37" fmla="*/ 9324 w 9326"/>
                  <a:gd name="connsiteY5-38" fmla="*/ 5746 h 9997"/>
                  <a:gd name="connsiteX6-39" fmla="*/ 8133 w 9326"/>
                  <a:gd name="connsiteY6-40" fmla="*/ 9204 h 9997"/>
                  <a:gd name="connsiteX7-41" fmla="*/ 6170 w 9326"/>
                  <a:gd name="connsiteY7-42" fmla="*/ 8731 h 9997"/>
                  <a:gd name="connsiteX8-43" fmla="*/ 5082 w 9326"/>
                  <a:gd name="connsiteY8-44" fmla="*/ 9787 h 9997"/>
                  <a:gd name="connsiteX9-45" fmla="*/ 3650 w 9326"/>
                  <a:gd name="connsiteY9-46" fmla="*/ 9892 h 9997"/>
                  <a:gd name="connsiteX10-47" fmla="*/ 2533 w 9326"/>
                  <a:gd name="connsiteY10-48" fmla="*/ 7795 h 9997"/>
                  <a:gd name="connsiteX11-49" fmla="*/ 1379 w 9326"/>
                  <a:gd name="connsiteY11-50" fmla="*/ 7400 h 9997"/>
                  <a:gd name="connsiteX12-51" fmla="*/ 4 w 9326"/>
                  <a:gd name="connsiteY12-52" fmla="*/ 3988 h 9997"/>
                  <a:gd name="connsiteX0-53" fmla="*/ 4 w 10001"/>
                  <a:gd name="connsiteY0-54" fmla="*/ 3989 h 10041"/>
                  <a:gd name="connsiteX1-55" fmla="*/ 890 w 10001"/>
                  <a:gd name="connsiteY1-56" fmla="*/ 1575 h 10041"/>
                  <a:gd name="connsiteX2-57" fmla="*/ 3902 w 10001"/>
                  <a:gd name="connsiteY2-58" fmla="*/ 993 h 10041"/>
                  <a:gd name="connsiteX3-59" fmla="*/ 6227 w 10001"/>
                  <a:gd name="connsiteY3-60" fmla="*/ 0 h 10041"/>
                  <a:gd name="connsiteX4-61" fmla="*/ 8378 w 10001"/>
                  <a:gd name="connsiteY4-62" fmla="*/ 996 h 10041"/>
                  <a:gd name="connsiteX5-63" fmla="*/ 9998 w 10001"/>
                  <a:gd name="connsiteY5-64" fmla="*/ 5748 h 10041"/>
                  <a:gd name="connsiteX6-65" fmla="*/ 8721 w 10001"/>
                  <a:gd name="connsiteY6-66" fmla="*/ 9207 h 10041"/>
                  <a:gd name="connsiteX7-67" fmla="*/ 5449 w 10001"/>
                  <a:gd name="connsiteY7-68" fmla="*/ 9790 h 10041"/>
                  <a:gd name="connsiteX8-69" fmla="*/ 3914 w 10001"/>
                  <a:gd name="connsiteY8-70" fmla="*/ 9895 h 10041"/>
                  <a:gd name="connsiteX9-71" fmla="*/ 2716 w 10001"/>
                  <a:gd name="connsiteY9-72" fmla="*/ 7797 h 10041"/>
                  <a:gd name="connsiteX10-73" fmla="*/ 1479 w 10001"/>
                  <a:gd name="connsiteY10-74" fmla="*/ 7402 h 10041"/>
                  <a:gd name="connsiteX11-75" fmla="*/ 4 w 10001"/>
                  <a:gd name="connsiteY11-76" fmla="*/ 3989 h 10041"/>
                  <a:gd name="connsiteX0-77" fmla="*/ 4 w 10001"/>
                  <a:gd name="connsiteY0-78" fmla="*/ 3989 h 14825"/>
                  <a:gd name="connsiteX1-79" fmla="*/ 890 w 10001"/>
                  <a:gd name="connsiteY1-80" fmla="*/ 1575 h 14825"/>
                  <a:gd name="connsiteX2-81" fmla="*/ 3902 w 10001"/>
                  <a:gd name="connsiteY2-82" fmla="*/ 993 h 14825"/>
                  <a:gd name="connsiteX3-83" fmla="*/ 6227 w 10001"/>
                  <a:gd name="connsiteY3-84" fmla="*/ 0 h 14825"/>
                  <a:gd name="connsiteX4-85" fmla="*/ 8378 w 10001"/>
                  <a:gd name="connsiteY4-86" fmla="*/ 996 h 14825"/>
                  <a:gd name="connsiteX5-87" fmla="*/ 9998 w 10001"/>
                  <a:gd name="connsiteY5-88" fmla="*/ 5748 h 14825"/>
                  <a:gd name="connsiteX6-89" fmla="*/ 8721 w 10001"/>
                  <a:gd name="connsiteY6-90" fmla="*/ 9207 h 14825"/>
                  <a:gd name="connsiteX7-91" fmla="*/ 6011 w 10001"/>
                  <a:gd name="connsiteY7-92" fmla="*/ 14823 h 14825"/>
                  <a:gd name="connsiteX8-93" fmla="*/ 3914 w 10001"/>
                  <a:gd name="connsiteY8-94" fmla="*/ 9895 h 14825"/>
                  <a:gd name="connsiteX9-95" fmla="*/ 2716 w 10001"/>
                  <a:gd name="connsiteY9-96" fmla="*/ 7797 h 14825"/>
                  <a:gd name="connsiteX10-97" fmla="*/ 1479 w 10001"/>
                  <a:gd name="connsiteY10-98" fmla="*/ 7402 h 14825"/>
                  <a:gd name="connsiteX11-99" fmla="*/ 4 w 10001"/>
                  <a:gd name="connsiteY11-100" fmla="*/ 3989 h 14825"/>
                  <a:gd name="connsiteX0-101" fmla="*/ 4 w 10001"/>
                  <a:gd name="connsiteY0-102" fmla="*/ 7436 h 18272"/>
                  <a:gd name="connsiteX1-103" fmla="*/ 890 w 10001"/>
                  <a:gd name="connsiteY1-104" fmla="*/ 5022 h 18272"/>
                  <a:gd name="connsiteX2-105" fmla="*/ 3902 w 10001"/>
                  <a:gd name="connsiteY2-106" fmla="*/ 4440 h 18272"/>
                  <a:gd name="connsiteX3-107" fmla="*/ 6026 w 10001"/>
                  <a:gd name="connsiteY3-108" fmla="*/ 0 h 18272"/>
                  <a:gd name="connsiteX4-109" fmla="*/ 8378 w 10001"/>
                  <a:gd name="connsiteY4-110" fmla="*/ 4443 h 18272"/>
                  <a:gd name="connsiteX5-111" fmla="*/ 9998 w 10001"/>
                  <a:gd name="connsiteY5-112" fmla="*/ 9195 h 18272"/>
                  <a:gd name="connsiteX6-113" fmla="*/ 8721 w 10001"/>
                  <a:gd name="connsiteY6-114" fmla="*/ 12654 h 18272"/>
                  <a:gd name="connsiteX7-115" fmla="*/ 6011 w 10001"/>
                  <a:gd name="connsiteY7-116" fmla="*/ 18270 h 18272"/>
                  <a:gd name="connsiteX8-117" fmla="*/ 3914 w 10001"/>
                  <a:gd name="connsiteY8-118" fmla="*/ 13342 h 18272"/>
                  <a:gd name="connsiteX9-119" fmla="*/ 2716 w 10001"/>
                  <a:gd name="connsiteY9-120" fmla="*/ 11244 h 18272"/>
                  <a:gd name="connsiteX10-121" fmla="*/ 1479 w 10001"/>
                  <a:gd name="connsiteY10-122" fmla="*/ 10849 h 18272"/>
                  <a:gd name="connsiteX11-123" fmla="*/ 4 w 10001"/>
                  <a:gd name="connsiteY11-124" fmla="*/ 7436 h 18272"/>
                  <a:gd name="connsiteX0-125" fmla="*/ 1 w 9998"/>
                  <a:gd name="connsiteY0-126" fmla="*/ 7436 h 18272"/>
                  <a:gd name="connsiteX1-127" fmla="*/ 3899 w 9998"/>
                  <a:gd name="connsiteY1-128" fmla="*/ 4440 h 18272"/>
                  <a:gd name="connsiteX2-129" fmla="*/ 6023 w 9998"/>
                  <a:gd name="connsiteY2-130" fmla="*/ 0 h 18272"/>
                  <a:gd name="connsiteX3-131" fmla="*/ 8375 w 9998"/>
                  <a:gd name="connsiteY3-132" fmla="*/ 4443 h 18272"/>
                  <a:gd name="connsiteX4-133" fmla="*/ 9995 w 9998"/>
                  <a:gd name="connsiteY4-134" fmla="*/ 9195 h 18272"/>
                  <a:gd name="connsiteX5-135" fmla="*/ 8718 w 9998"/>
                  <a:gd name="connsiteY5-136" fmla="*/ 12654 h 18272"/>
                  <a:gd name="connsiteX6-137" fmla="*/ 6008 w 9998"/>
                  <a:gd name="connsiteY6-138" fmla="*/ 18270 h 18272"/>
                  <a:gd name="connsiteX7-139" fmla="*/ 3911 w 9998"/>
                  <a:gd name="connsiteY7-140" fmla="*/ 13342 h 18272"/>
                  <a:gd name="connsiteX8-141" fmla="*/ 2713 w 9998"/>
                  <a:gd name="connsiteY8-142" fmla="*/ 11244 h 18272"/>
                  <a:gd name="connsiteX9-143" fmla="*/ 1476 w 9998"/>
                  <a:gd name="connsiteY9-144" fmla="*/ 10849 h 18272"/>
                  <a:gd name="connsiteX10-145" fmla="*/ 1 w 9998"/>
                  <a:gd name="connsiteY10-146" fmla="*/ 7436 h 18272"/>
                  <a:gd name="connsiteX0-147" fmla="*/ 35 w 8559"/>
                  <a:gd name="connsiteY0-148" fmla="*/ 5938 h 10000"/>
                  <a:gd name="connsiteX1-149" fmla="*/ 2459 w 8559"/>
                  <a:gd name="connsiteY1-150" fmla="*/ 2430 h 10000"/>
                  <a:gd name="connsiteX2-151" fmla="*/ 4583 w 8559"/>
                  <a:gd name="connsiteY2-152" fmla="*/ 0 h 10000"/>
                  <a:gd name="connsiteX3-153" fmla="*/ 6936 w 8559"/>
                  <a:gd name="connsiteY3-154" fmla="*/ 2432 h 10000"/>
                  <a:gd name="connsiteX4-155" fmla="*/ 8556 w 8559"/>
                  <a:gd name="connsiteY4-156" fmla="*/ 5032 h 10000"/>
                  <a:gd name="connsiteX5-157" fmla="*/ 7279 w 8559"/>
                  <a:gd name="connsiteY5-158" fmla="*/ 6925 h 10000"/>
                  <a:gd name="connsiteX6-159" fmla="*/ 4568 w 8559"/>
                  <a:gd name="connsiteY6-160" fmla="*/ 9999 h 10000"/>
                  <a:gd name="connsiteX7-161" fmla="*/ 2471 w 8559"/>
                  <a:gd name="connsiteY7-162" fmla="*/ 7302 h 10000"/>
                  <a:gd name="connsiteX8-163" fmla="*/ 1273 w 8559"/>
                  <a:gd name="connsiteY8-164" fmla="*/ 6154 h 10000"/>
                  <a:gd name="connsiteX9-165" fmla="*/ 35 w 8559"/>
                  <a:gd name="connsiteY9-166" fmla="*/ 5938 h 10000"/>
                  <a:gd name="connsiteX0-167" fmla="*/ 49 w 9820"/>
                  <a:gd name="connsiteY0-168" fmla="*/ 4655 h 10000"/>
                  <a:gd name="connsiteX1-169" fmla="*/ 2693 w 9820"/>
                  <a:gd name="connsiteY1-170" fmla="*/ 2430 h 10000"/>
                  <a:gd name="connsiteX2-171" fmla="*/ 5175 w 9820"/>
                  <a:gd name="connsiteY2-172" fmla="*/ 0 h 10000"/>
                  <a:gd name="connsiteX3-173" fmla="*/ 7924 w 9820"/>
                  <a:gd name="connsiteY3-174" fmla="*/ 2432 h 10000"/>
                  <a:gd name="connsiteX4-175" fmla="*/ 9816 w 9820"/>
                  <a:gd name="connsiteY4-176" fmla="*/ 5032 h 10000"/>
                  <a:gd name="connsiteX5-177" fmla="*/ 8324 w 9820"/>
                  <a:gd name="connsiteY5-178" fmla="*/ 6925 h 10000"/>
                  <a:gd name="connsiteX6-179" fmla="*/ 5157 w 9820"/>
                  <a:gd name="connsiteY6-180" fmla="*/ 9999 h 10000"/>
                  <a:gd name="connsiteX7-181" fmla="*/ 2707 w 9820"/>
                  <a:gd name="connsiteY7-182" fmla="*/ 7302 h 10000"/>
                  <a:gd name="connsiteX8-183" fmla="*/ 1307 w 9820"/>
                  <a:gd name="connsiteY8-184" fmla="*/ 6154 h 10000"/>
                  <a:gd name="connsiteX9-185" fmla="*/ 49 w 9820"/>
                  <a:gd name="connsiteY9-186" fmla="*/ 4655 h 10000"/>
                  <a:gd name="connsiteX0-187" fmla="*/ 45 w 9995"/>
                  <a:gd name="connsiteY0-188" fmla="*/ 4655 h 10000"/>
                  <a:gd name="connsiteX1-189" fmla="*/ 2737 w 9995"/>
                  <a:gd name="connsiteY1-190" fmla="*/ 2430 h 10000"/>
                  <a:gd name="connsiteX2-191" fmla="*/ 5265 w 9995"/>
                  <a:gd name="connsiteY2-192" fmla="*/ 0 h 10000"/>
                  <a:gd name="connsiteX3-193" fmla="*/ 8064 w 9995"/>
                  <a:gd name="connsiteY3-194" fmla="*/ 2432 h 10000"/>
                  <a:gd name="connsiteX4-195" fmla="*/ 9991 w 9995"/>
                  <a:gd name="connsiteY4-196" fmla="*/ 5032 h 10000"/>
                  <a:gd name="connsiteX5-197" fmla="*/ 8472 w 9995"/>
                  <a:gd name="connsiteY5-198" fmla="*/ 6925 h 10000"/>
                  <a:gd name="connsiteX6-199" fmla="*/ 5247 w 9995"/>
                  <a:gd name="connsiteY6-200" fmla="*/ 9999 h 10000"/>
                  <a:gd name="connsiteX7-201" fmla="*/ 2752 w 9995"/>
                  <a:gd name="connsiteY7-202" fmla="*/ 7302 h 10000"/>
                  <a:gd name="connsiteX8-203" fmla="*/ 1374 w 9995"/>
                  <a:gd name="connsiteY8-204" fmla="*/ 6984 h 10000"/>
                  <a:gd name="connsiteX9-205" fmla="*/ 45 w 9995"/>
                  <a:gd name="connsiteY9-206" fmla="*/ 4655 h 10000"/>
                  <a:gd name="connsiteX0-207" fmla="*/ 45 w 10000"/>
                  <a:gd name="connsiteY0-208" fmla="*/ 5032 h 10377"/>
                  <a:gd name="connsiteX1-209" fmla="*/ 2738 w 10000"/>
                  <a:gd name="connsiteY1-210" fmla="*/ 2807 h 10377"/>
                  <a:gd name="connsiteX2-211" fmla="*/ 4886 w 10000"/>
                  <a:gd name="connsiteY2-212" fmla="*/ 0 h 10377"/>
                  <a:gd name="connsiteX3-213" fmla="*/ 8068 w 10000"/>
                  <a:gd name="connsiteY3-214" fmla="*/ 2809 h 10377"/>
                  <a:gd name="connsiteX4-215" fmla="*/ 9996 w 10000"/>
                  <a:gd name="connsiteY4-216" fmla="*/ 5409 h 10377"/>
                  <a:gd name="connsiteX5-217" fmla="*/ 8476 w 10000"/>
                  <a:gd name="connsiteY5-218" fmla="*/ 7302 h 10377"/>
                  <a:gd name="connsiteX6-219" fmla="*/ 5250 w 10000"/>
                  <a:gd name="connsiteY6-220" fmla="*/ 10376 h 10377"/>
                  <a:gd name="connsiteX7-221" fmla="*/ 2753 w 10000"/>
                  <a:gd name="connsiteY7-222" fmla="*/ 7679 h 10377"/>
                  <a:gd name="connsiteX8-223" fmla="*/ 1375 w 10000"/>
                  <a:gd name="connsiteY8-224" fmla="*/ 7361 h 10377"/>
                  <a:gd name="connsiteX9-225" fmla="*/ 45 w 10000"/>
                  <a:gd name="connsiteY9-226" fmla="*/ 5032 h 10377"/>
                  <a:gd name="connsiteX0-227" fmla="*/ 45 w 10000"/>
                  <a:gd name="connsiteY0-228" fmla="*/ 5036 h 10381"/>
                  <a:gd name="connsiteX1-229" fmla="*/ 2738 w 10000"/>
                  <a:gd name="connsiteY1-230" fmla="*/ 2811 h 10381"/>
                  <a:gd name="connsiteX2-231" fmla="*/ 4886 w 10000"/>
                  <a:gd name="connsiteY2-232" fmla="*/ 4 h 10381"/>
                  <a:gd name="connsiteX3-233" fmla="*/ 8068 w 10000"/>
                  <a:gd name="connsiteY3-234" fmla="*/ 2813 h 10381"/>
                  <a:gd name="connsiteX4-235" fmla="*/ 9996 w 10000"/>
                  <a:gd name="connsiteY4-236" fmla="*/ 5413 h 10381"/>
                  <a:gd name="connsiteX5-237" fmla="*/ 8476 w 10000"/>
                  <a:gd name="connsiteY5-238" fmla="*/ 7306 h 10381"/>
                  <a:gd name="connsiteX6-239" fmla="*/ 5250 w 10000"/>
                  <a:gd name="connsiteY6-240" fmla="*/ 10380 h 10381"/>
                  <a:gd name="connsiteX7-241" fmla="*/ 2753 w 10000"/>
                  <a:gd name="connsiteY7-242" fmla="*/ 7683 h 10381"/>
                  <a:gd name="connsiteX8-243" fmla="*/ 1375 w 10000"/>
                  <a:gd name="connsiteY8-244" fmla="*/ 7365 h 10381"/>
                  <a:gd name="connsiteX9-245" fmla="*/ 45 w 10000"/>
                  <a:gd name="connsiteY9-246" fmla="*/ 5036 h 10381"/>
                  <a:gd name="connsiteX0-247" fmla="*/ 45 w 10000"/>
                  <a:gd name="connsiteY0-248" fmla="*/ 5036 h 10796"/>
                  <a:gd name="connsiteX1-249" fmla="*/ 2738 w 10000"/>
                  <a:gd name="connsiteY1-250" fmla="*/ 2811 h 10796"/>
                  <a:gd name="connsiteX2-251" fmla="*/ 4886 w 10000"/>
                  <a:gd name="connsiteY2-252" fmla="*/ 4 h 10796"/>
                  <a:gd name="connsiteX3-253" fmla="*/ 8068 w 10000"/>
                  <a:gd name="connsiteY3-254" fmla="*/ 2813 h 10796"/>
                  <a:gd name="connsiteX4-255" fmla="*/ 9996 w 10000"/>
                  <a:gd name="connsiteY4-256" fmla="*/ 5413 h 10796"/>
                  <a:gd name="connsiteX5-257" fmla="*/ 8476 w 10000"/>
                  <a:gd name="connsiteY5-258" fmla="*/ 7306 h 10796"/>
                  <a:gd name="connsiteX6-259" fmla="*/ 5202 w 10000"/>
                  <a:gd name="connsiteY6-260" fmla="*/ 10795 h 10796"/>
                  <a:gd name="connsiteX7-261" fmla="*/ 2753 w 10000"/>
                  <a:gd name="connsiteY7-262" fmla="*/ 7683 h 10796"/>
                  <a:gd name="connsiteX8-263" fmla="*/ 1375 w 10000"/>
                  <a:gd name="connsiteY8-264" fmla="*/ 7365 h 10796"/>
                  <a:gd name="connsiteX9-265" fmla="*/ 45 w 10000"/>
                  <a:gd name="connsiteY9-266" fmla="*/ 5036 h 10796"/>
                  <a:gd name="connsiteX0-267" fmla="*/ 45 w 10000"/>
                  <a:gd name="connsiteY0-268" fmla="*/ 5036 h 10795"/>
                  <a:gd name="connsiteX1-269" fmla="*/ 2738 w 10000"/>
                  <a:gd name="connsiteY1-270" fmla="*/ 2811 h 10795"/>
                  <a:gd name="connsiteX2-271" fmla="*/ 4886 w 10000"/>
                  <a:gd name="connsiteY2-272" fmla="*/ 4 h 10795"/>
                  <a:gd name="connsiteX3-273" fmla="*/ 8068 w 10000"/>
                  <a:gd name="connsiteY3-274" fmla="*/ 2813 h 10795"/>
                  <a:gd name="connsiteX4-275" fmla="*/ 9996 w 10000"/>
                  <a:gd name="connsiteY4-276" fmla="*/ 5413 h 10795"/>
                  <a:gd name="connsiteX5-277" fmla="*/ 8476 w 10000"/>
                  <a:gd name="connsiteY5-278" fmla="*/ 7306 h 10795"/>
                  <a:gd name="connsiteX6-279" fmla="*/ 5202 w 10000"/>
                  <a:gd name="connsiteY6-280" fmla="*/ 10795 h 10795"/>
                  <a:gd name="connsiteX7-281" fmla="*/ 2753 w 10000"/>
                  <a:gd name="connsiteY7-282" fmla="*/ 7683 h 10795"/>
                  <a:gd name="connsiteX8-283" fmla="*/ 1375 w 10000"/>
                  <a:gd name="connsiteY8-284" fmla="*/ 7365 h 10795"/>
                  <a:gd name="connsiteX9-285" fmla="*/ 45 w 10000"/>
                  <a:gd name="connsiteY9-286" fmla="*/ 5036 h 10795"/>
                  <a:gd name="connsiteX0-287" fmla="*/ 45 w 10000"/>
                  <a:gd name="connsiteY0-288" fmla="*/ 5036 h 10795"/>
                  <a:gd name="connsiteX1-289" fmla="*/ 2738 w 10000"/>
                  <a:gd name="connsiteY1-290" fmla="*/ 2811 h 10795"/>
                  <a:gd name="connsiteX2-291" fmla="*/ 4886 w 10000"/>
                  <a:gd name="connsiteY2-292" fmla="*/ 4 h 10795"/>
                  <a:gd name="connsiteX3-293" fmla="*/ 8068 w 10000"/>
                  <a:gd name="connsiteY3-294" fmla="*/ 2813 h 10795"/>
                  <a:gd name="connsiteX4-295" fmla="*/ 9996 w 10000"/>
                  <a:gd name="connsiteY4-296" fmla="*/ 5413 h 10795"/>
                  <a:gd name="connsiteX5-297" fmla="*/ 8476 w 10000"/>
                  <a:gd name="connsiteY5-298" fmla="*/ 7306 h 10795"/>
                  <a:gd name="connsiteX6-299" fmla="*/ 5202 w 10000"/>
                  <a:gd name="connsiteY6-300" fmla="*/ 10795 h 10795"/>
                  <a:gd name="connsiteX7-301" fmla="*/ 2753 w 10000"/>
                  <a:gd name="connsiteY7-302" fmla="*/ 7683 h 10795"/>
                  <a:gd name="connsiteX8-303" fmla="*/ 1375 w 10000"/>
                  <a:gd name="connsiteY8-304" fmla="*/ 7365 h 10795"/>
                  <a:gd name="connsiteX9-305" fmla="*/ 45 w 10000"/>
                  <a:gd name="connsiteY9-306" fmla="*/ 5036 h 10795"/>
                  <a:gd name="connsiteX0-307" fmla="*/ 4 w 9959"/>
                  <a:gd name="connsiteY0-308" fmla="*/ 5593 h 11352"/>
                  <a:gd name="connsiteX1-309" fmla="*/ 1089 w 9959"/>
                  <a:gd name="connsiteY1-310" fmla="*/ 469 h 11352"/>
                  <a:gd name="connsiteX2-311" fmla="*/ 4845 w 9959"/>
                  <a:gd name="connsiteY2-312" fmla="*/ 561 h 11352"/>
                  <a:gd name="connsiteX3-313" fmla="*/ 8027 w 9959"/>
                  <a:gd name="connsiteY3-314" fmla="*/ 3370 h 11352"/>
                  <a:gd name="connsiteX4-315" fmla="*/ 9955 w 9959"/>
                  <a:gd name="connsiteY4-316" fmla="*/ 5970 h 11352"/>
                  <a:gd name="connsiteX5-317" fmla="*/ 8435 w 9959"/>
                  <a:gd name="connsiteY5-318" fmla="*/ 7863 h 11352"/>
                  <a:gd name="connsiteX6-319" fmla="*/ 5161 w 9959"/>
                  <a:gd name="connsiteY6-320" fmla="*/ 11352 h 11352"/>
                  <a:gd name="connsiteX7-321" fmla="*/ 2712 w 9959"/>
                  <a:gd name="connsiteY7-322" fmla="*/ 8240 h 11352"/>
                  <a:gd name="connsiteX8-323" fmla="*/ 1334 w 9959"/>
                  <a:gd name="connsiteY8-324" fmla="*/ 7922 h 11352"/>
                  <a:gd name="connsiteX9-325" fmla="*/ 4 w 9959"/>
                  <a:gd name="connsiteY9-326" fmla="*/ 5593 h 11352"/>
                  <a:gd name="connsiteX0-327" fmla="*/ 0 w 11223"/>
                  <a:gd name="connsiteY0-328" fmla="*/ 3835 h 9929"/>
                  <a:gd name="connsiteX1-329" fmla="*/ 2316 w 11223"/>
                  <a:gd name="connsiteY1-330" fmla="*/ 342 h 9929"/>
                  <a:gd name="connsiteX2-331" fmla="*/ 6088 w 11223"/>
                  <a:gd name="connsiteY2-332" fmla="*/ 423 h 9929"/>
                  <a:gd name="connsiteX3-333" fmla="*/ 9283 w 11223"/>
                  <a:gd name="connsiteY3-334" fmla="*/ 2898 h 9929"/>
                  <a:gd name="connsiteX4-335" fmla="*/ 11219 w 11223"/>
                  <a:gd name="connsiteY4-336" fmla="*/ 5188 h 9929"/>
                  <a:gd name="connsiteX5-337" fmla="*/ 9693 w 11223"/>
                  <a:gd name="connsiteY5-338" fmla="*/ 6856 h 9929"/>
                  <a:gd name="connsiteX6-339" fmla="*/ 6405 w 11223"/>
                  <a:gd name="connsiteY6-340" fmla="*/ 9929 h 9929"/>
                  <a:gd name="connsiteX7-341" fmla="*/ 3946 w 11223"/>
                  <a:gd name="connsiteY7-342" fmla="*/ 7188 h 9929"/>
                  <a:gd name="connsiteX8-343" fmla="*/ 2562 w 11223"/>
                  <a:gd name="connsiteY8-344" fmla="*/ 6908 h 9929"/>
                  <a:gd name="connsiteX9-345" fmla="*/ 0 w 11223"/>
                  <a:gd name="connsiteY9-346" fmla="*/ 3835 h 9929"/>
                  <a:gd name="connsiteX0-347" fmla="*/ 0 w 9999"/>
                  <a:gd name="connsiteY0-348" fmla="*/ 3862 h 10000"/>
                  <a:gd name="connsiteX1-349" fmla="*/ 2064 w 9999"/>
                  <a:gd name="connsiteY1-350" fmla="*/ 344 h 10000"/>
                  <a:gd name="connsiteX2-351" fmla="*/ 5425 w 9999"/>
                  <a:gd name="connsiteY2-352" fmla="*/ 426 h 10000"/>
                  <a:gd name="connsiteX3-353" fmla="*/ 8271 w 9999"/>
                  <a:gd name="connsiteY3-354" fmla="*/ 2919 h 10000"/>
                  <a:gd name="connsiteX4-355" fmla="*/ 9996 w 9999"/>
                  <a:gd name="connsiteY4-356" fmla="*/ 5225 h 10000"/>
                  <a:gd name="connsiteX5-357" fmla="*/ 8637 w 9999"/>
                  <a:gd name="connsiteY5-358" fmla="*/ 6905 h 10000"/>
                  <a:gd name="connsiteX6-359" fmla="*/ 5707 w 9999"/>
                  <a:gd name="connsiteY6-360" fmla="*/ 10000 h 10000"/>
                  <a:gd name="connsiteX7-361" fmla="*/ 2283 w 9999"/>
                  <a:gd name="connsiteY7-362" fmla="*/ 6957 h 10000"/>
                  <a:gd name="connsiteX8-363" fmla="*/ 0 w 9999"/>
                  <a:gd name="connsiteY8-364" fmla="*/ 3862 h 10000"/>
                  <a:gd name="connsiteX0-365" fmla="*/ 124 w 10124"/>
                  <a:gd name="connsiteY0-366" fmla="*/ 3862 h 10000"/>
                  <a:gd name="connsiteX1-367" fmla="*/ 2188 w 10124"/>
                  <a:gd name="connsiteY1-368" fmla="*/ 344 h 10000"/>
                  <a:gd name="connsiteX2-369" fmla="*/ 5550 w 10124"/>
                  <a:gd name="connsiteY2-370" fmla="*/ 426 h 10000"/>
                  <a:gd name="connsiteX3-371" fmla="*/ 8396 w 10124"/>
                  <a:gd name="connsiteY3-372" fmla="*/ 2919 h 10000"/>
                  <a:gd name="connsiteX4-373" fmla="*/ 10121 w 10124"/>
                  <a:gd name="connsiteY4-374" fmla="*/ 5225 h 10000"/>
                  <a:gd name="connsiteX5-375" fmla="*/ 8762 w 10124"/>
                  <a:gd name="connsiteY5-376" fmla="*/ 6905 h 10000"/>
                  <a:gd name="connsiteX6-377" fmla="*/ 5832 w 10124"/>
                  <a:gd name="connsiteY6-378" fmla="*/ 10000 h 10000"/>
                  <a:gd name="connsiteX7-379" fmla="*/ 124 w 10124"/>
                  <a:gd name="connsiteY7-380" fmla="*/ 3862 h 10000"/>
                  <a:gd name="connsiteX0-381" fmla="*/ 43 w 10045"/>
                  <a:gd name="connsiteY0-382" fmla="*/ 3862 h 6912"/>
                  <a:gd name="connsiteX1-383" fmla="*/ 2107 w 10045"/>
                  <a:gd name="connsiteY1-384" fmla="*/ 344 h 6912"/>
                  <a:gd name="connsiteX2-385" fmla="*/ 5469 w 10045"/>
                  <a:gd name="connsiteY2-386" fmla="*/ 426 h 6912"/>
                  <a:gd name="connsiteX3-387" fmla="*/ 8315 w 10045"/>
                  <a:gd name="connsiteY3-388" fmla="*/ 2919 h 6912"/>
                  <a:gd name="connsiteX4-389" fmla="*/ 10040 w 10045"/>
                  <a:gd name="connsiteY4-390" fmla="*/ 5225 h 6912"/>
                  <a:gd name="connsiteX5-391" fmla="*/ 8681 w 10045"/>
                  <a:gd name="connsiteY5-392" fmla="*/ 6905 h 6912"/>
                  <a:gd name="connsiteX6-393" fmla="*/ 3967 w 10045"/>
                  <a:gd name="connsiteY6-394" fmla="*/ 5885 h 6912"/>
                  <a:gd name="connsiteX7-395" fmla="*/ 43 w 10045"/>
                  <a:gd name="connsiteY7-396" fmla="*/ 3862 h 6912"/>
                  <a:gd name="connsiteX0-397" fmla="*/ 47 w 10004"/>
                  <a:gd name="connsiteY0-398" fmla="*/ 5106 h 9519"/>
                  <a:gd name="connsiteX1-399" fmla="*/ 2102 w 10004"/>
                  <a:gd name="connsiteY1-400" fmla="*/ 17 h 9519"/>
                  <a:gd name="connsiteX2-401" fmla="*/ 6651 w 10004"/>
                  <a:gd name="connsiteY2-402" fmla="*/ 3484 h 9519"/>
                  <a:gd name="connsiteX3-403" fmla="*/ 8282 w 10004"/>
                  <a:gd name="connsiteY3-404" fmla="*/ 3742 h 9519"/>
                  <a:gd name="connsiteX4-405" fmla="*/ 9999 w 10004"/>
                  <a:gd name="connsiteY4-406" fmla="*/ 7078 h 9519"/>
                  <a:gd name="connsiteX5-407" fmla="*/ 8646 w 10004"/>
                  <a:gd name="connsiteY5-408" fmla="*/ 9509 h 9519"/>
                  <a:gd name="connsiteX6-409" fmla="*/ 3953 w 10004"/>
                  <a:gd name="connsiteY6-410" fmla="*/ 8033 h 9519"/>
                  <a:gd name="connsiteX7-411" fmla="*/ 47 w 10004"/>
                  <a:gd name="connsiteY7-412" fmla="*/ 5106 h 9519"/>
                  <a:gd name="connsiteX0-413" fmla="*/ 43 w 9996"/>
                  <a:gd name="connsiteY0-414" fmla="*/ 6232 h 10868"/>
                  <a:gd name="connsiteX1-415" fmla="*/ 2097 w 9996"/>
                  <a:gd name="connsiteY1-416" fmla="*/ 886 h 10868"/>
                  <a:gd name="connsiteX2-417" fmla="*/ 5642 w 9996"/>
                  <a:gd name="connsiteY2-418" fmla="*/ 385 h 10868"/>
                  <a:gd name="connsiteX3-419" fmla="*/ 8275 w 9996"/>
                  <a:gd name="connsiteY3-420" fmla="*/ 4799 h 10868"/>
                  <a:gd name="connsiteX4-421" fmla="*/ 9991 w 9996"/>
                  <a:gd name="connsiteY4-422" fmla="*/ 8304 h 10868"/>
                  <a:gd name="connsiteX5-423" fmla="*/ 8639 w 9996"/>
                  <a:gd name="connsiteY5-424" fmla="*/ 10857 h 10868"/>
                  <a:gd name="connsiteX6-425" fmla="*/ 3947 w 9996"/>
                  <a:gd name="connsiteY6-426" fmla="*/ 9307 h 10868"/>
                  <a:gd name="connsiteX7-427" fmla="*/ 43 w 9996"/>
                  <a:gd name="connsiteY7-428" fmla="*/ 6232 h 10868"/>
                  <a:gd name="connsiteX0-429" fmla="*/ 43 w 10004"/>
                  <a:gd name="connsiteY0-430" fmla="*/ 5543 h 9809"/>
                  <a:gd name="connsiteX1-431" fmla="*/ 2098 w 10004"/>
                  <a:gd name="connsiteY1-432" fmla="*/ 624 h 9809"/>
                  <a:gd name="connsiteX2-433" fmla="*/ 5644 w 10004"/>
                  <a:gd name="connsiteY2-434" fmla="*/ 163 h 9809"/>
                  <a:gd name="connsiteX3-435" fmla="*/ 8163 w 10004"/>
                  <a:gd name="connsiteY3-436" fmla="*/ 1492 h 9809"/>
                  <a:gd name="connsiteX4-437" fmla="*/ 9995 w 10004"/>
                  <a:gd name="connsiteY4-438" fmla="*/ 7450 h 9809"/>
                  <a:gd name="connsiteX5-439" fmla="*/ 8642 w 10004"/>
                  <a:gd name="connsiteY5-440" fmla="*/ 9799 h 9809"/>
                  <a:gd name="connsiteX6-441" fmla="*/ 3949 w 10004"/>
                  <a:gd name="connsiteY6-442" fmla="*/ 8373 h 9809"/>
                  <a:gd name="connsiteX7-443" fmla="*/ 43 w 10004"/>
                  <a:gd name="connsiteY7-444" fmla="*/ 5543 h 9809"/>
                  <a:gd name="connsiteX0-445" fmla="*/ 43 w 8950"/>
                  <a:gd name="connsiteY0-446" fmla="*/ 5651 h 10081"/>
                  <a:gd name="connsiteX1-447" fmla="*/ 2097 w 8950"/>
                  <a:gd name="connsiteY1-448" fmla="*/ 636 h 10081"/>
                  <a:gd name="connsiteX2-449" fmla="*/ 5642 w 8950"/>
                  <a:gd name="connsiteY2-450" fmla="*/ 166 h 10081"/>
                  <a:gd name="connsiteX3-451" fmla="*/ 8160 w 8950"/>
                  <a:gd name="connsiteY3-452" fmla="*/ 1521 h 10081"/>
                  <a:gd name="connsiteX4-453" fmla="*/ 8473 w 8950"/>
                  <a:gd name="connsiteY4-454" fmla="*/ 5322 h 10081"/>
                  <a:gd name="connsiteX5-455" fmla="*/ 8639 w 8950"/>
                  <a:gd name="connsiteY5-456" fmla="*/ 9990 h 10081"/>
                  <a:gd name="connsiteX6-457" fmla="*/ 3947 w 8950"/>
                  <a:gd name="connsiteY6-458" fmla="*/ 8536 h 10081"/>
                  <a:gd name="connsiteX7-459" fmla="*/ 43 w 8950"/>
                  <a:gd name="connsiteY7-460" fmla="*/ 5651 h 10081"/>
                  <a:gd name="connsiteX0-461" fmla="*/ 48 w 9651"/>
                  <a:gd name="connsiteY0-462" fmla="*/ 5606 h 8648"/>
                  <a:gd name="connsiteX1-463" fmla="*/ 2343 w 9651"/>
                  <a:gd name="connsiteY1-464" fmla="*/ 631 h 8648"/>
                  <a:gd name="connsiteX2-465" fmla="*/ 6304 w 9651"/>
                  <a:gd name="connsiteY2-466" fmla="*/ 165 h 8648"/>
                  <a:gd name="connsiteX3-467" fmla="*/ 9117 w 9651"/>
                  <a:gd name="connsiteY3-468" fmla="*/ 1509 h 8648"/>
                  <a:gd name="connsiteX4-469" fmla="*/ 9467 w 9651"/>
                  <a:gd name="connsiteY4-470" fmla="*/ 5279 h 8648"/>
                  <a:gd name="connsiteX5-471" fmla="*/ 6997 w 9651"/>
                  <a:gd name="connsiteY5-472" fmla="*/ 8019 h 8648"/>
                  <a:gd name="connsiteX6-473" fmla="*/ 4410 w 9651"/>
                  <a:gd name="connsiteY6-474" fmla="*/ 8467 h 8648"/>
                  <a:gd name="connsiteX7-475" fmla="*/ 48 w 9651"/>
                  <a:gd name="connsiteY7-476" fmla="*/ 5606 h 8648"/>
                  <a:gd name="connsiteX0-477" fmla="*/ 41 w 9991"/>
                  <a:gd name="connsiteY0-478" fmla="*/ 6482 h 9316"/>
                  <a:gd name="connsiteX1-479" fmla="*/ 2419 w 9991"/>
                  <a:gd name="connsiteY1-480" fmla="*/ 730 h 9316"/>
                  <a:gd name="connsiteX2-481" fmla="*/ 6523 w 9991"/>
                  <a:gd name="connsiteY2-482" fmla="*/ 191 h 9316"/>
                  <a:gd name="connsiteX3-483" fmla="*/ 9438 w 9991"/>
                  <a:gd name="connsiteY3-484" fmla="*/ 1745 h 9316"/>
                  <a:gd name="connsiteX4-485" fmla="*/ 9800 w 9991"/>
                  <a:gd name="connsiteY4-486" fmla="*/ 6104 h 9316"/>
                  <a:gd name="connsiteX5-487" fmla="*/ 7241 w 9991"/>
                  <a:gd name="connsiteY5-488" fmla="*/ 9273 h 9316"/>
                  <a:gd name="connsiteX6-489" fmla="*/ 1411 w 9991"/>
                  <a:gd name="connsiteY6-490" fmla="*/ 7856 h 9316"/>
                  <a:gd name="connsiteX7-491" fmla="*/ 41 w 9991"/>
                  <a:gd name="connsiteY7-492" fmla="*/ 6482 h 9316"/>
                  <a:gd name="connsiteX0-493" fmla="*/ 19 w 10708"/>
                  <a:gd name="connsiteY0-494" fmla="*/ 7721 h 10038"/>
                  <a:gd name="connsiteX1-495" fmla="*/ 3129 w 10708"/>
                  <a:gd name="connsiteY1-496" fmla="*/ 825 h 10038"/>
                  <a:gd name="connsiteX2-497" fmla="*/ 7237 w 10708"/>
                  <a:gd name="connsiteY2-498" fmla="*/ 246 h 10038"/>
                  <a:gd name="connsiteX3-499" fmla="*/ 10155 w 10708"/>
                  <a:gd name="connsiteY3-500" fmla="*/ 1914 h 10038"/>
                  <a:gd name="connsiteX4-501" fmla="*/ 10517 w 10708"/>
                  <a:gd name="connsiteY4-502" fmla="*/ 6593 h 10038"/>
                  <a:gd name="connsiteX5-503" fmla="*/ 7956 w 10708"/>
                  <a:gd name="connsiteY5-504" fmla="*/ 9995 h 10038"/>
                  <a:gd name="connsiteX6-505" fmla="*/ 2120 w 10708"/>
                  <a:gd name="connsiteY6-506" fmla="*/ 8474 h 10038"/>
                  <a:gd name="connsiteX7-507" fmla="*/ 19 w 10708"/>
                  <a:gd name="connsiteY7-508" fmla="*/ 7721 h 10038"/>
                  <a:gd name="connsiteX0-509" fmla="*/ 359 w 11048"/>
                  <a:gd name="connsiteY0-510" fmla="*/ 7721 h 10038"/>
                  <a:gd name="connsiteX1-511" fmla="*/ 3469 w 11048"/>
                  <a:gd name="connsiteY1-512" fmla="*/ 825 h 10038"/>
                  <a:gd name="connsiteX2-513" fmla="*/ 7577 w 11048"/>
                  <a:gd name="connsiteY2-514" fmla="*/ 246 h 10038"/>
                  <a:gd name="connsiteX3-515" fmla="*/ 10495 w 11048"/>
                  <a:gd name="connsiteY3-516" fmla="*/ 1914 h 10038"/>
                  <a:gd name="connsiteX4-517" fmla="*/ 10857 w 11048"/>
                  <a:gd name="connsiteY4-518" fmla="*/ 6593 h 10038"/>
                  <a:gd name="connsiteX5-519" fmla="*/ 8296 w 11048"/>
                  <a:gd name="connsiteY5-520" fmla="*/ 9995 h 10038"/>
                  <a:gd name="connsiteX6-521" fmla="*/ 2460 w 11048"/>
                  <a:gd name="connsiteY6-522" fmla="*/ 8474 h 10038"/>
                  <a:gd name="connsiteX7-523" fmla="*/ 359 w 11048"/>
                  <a:gd name="connsiteY7-524" fmla="*/ 7721 h 10038"/>
                  <a:gd name="connsiteX0-525" fmla="*/ 359 w 11048"/>
                  <a:gd name="connsiteY0-526" fmla="*/ 8392 h 10075"/>
                  <a:gd name="connsiteX1-527" fmla="*/ 3469 w 11048"/>
                  <a:gd name="connsiteY1-528" fmla="*/ 864 h 10075"/>
                  <a:gd name="connsiteX2-529" fmla="*/ 7577 w 11048"/>
                  <a:gd name="connsiteY2-530" fmla="*/ 285 h 10075"/>
                  <a:gd name="connsiteX3-531" fmla="*/ 10495 w 11048"/>
                  <a:gd name="connsiteY3-532" fmla="*/ 1953 h 10075"/>
                  <a:gd name="connsiteX4-533" fmla="*/ 10857 w 11048"/>
                  <a:gd name="connsiteY4-534" fmla="*/ 6632 h 10075"/>
                  <a:gd name="connsiteX5-535" fmla="*/ 8296 w 11048"/>
                  <a:gd name="connsiteY5-536" fmla="*/ 10034 h 10075"/>
                  <a:gd name="connsiteX6-537" fmla="*/ 2460 w 11048"/>
                  <a:gd name="connsiteY6-538" fmla="*/ 8513 h 10075"/>
                  <a:gd name="connsiteX7-539" fmla="*/ 359 w 11048"/>
                  <a:gd name="connsiteY7-540" fmla="*/ 8392 h 10075"/>
                  <a:gd name="connsiteX0-541" fmla="*/ 371 w 11060"/>
                  <a:gd name="connsiteY0-542" fmla="*/ 8392 h 10075"/>
                  <a:gd name="connsiteX1-543" fmla="*/ 3481 w 11060"/>
                  <a:gd name="connsiteY1-544" fmla="*/ 864 h 10075"/>
                  <a:gd name="connsiteX2-545" fmla="*/ 7589 w 11060"/>
                  <a:gd name="connsiteY2-546" fmla="*/ 285 h 10075"/>
                  <a:gd name="connsiteX3-547" fmla="*/ 10507 w 11060"/>
                  <a:gd name="connsiteY3-548" fmla="*/ 1953 h 10075"/>
                  <a:gd name="connsiteX4-549" fmla="*/ 10869 w 11060"/>
                  <a:gd name="connsiteY4-550" fmla="*/ 6632 h 10075"/>
                  <a:gd name="connsiteX5-551" fmla="*/ 8308 w 11060"/>
                  <a:gd name="connsiteY5-552" fmla="*/ 10034 h 10075"/>
                  <a:gd name="connsiteX6-553" fmla="*/ 2472 w 11060"/>
                  <a:gd name="connsiteY6-554" fmla="*/ 8513 h 10075"/>
                  <a:gd name="connsiteX7-555" fmla="*/ 371 w 11060"/>
                  <a:gd name="connsiteY7-556" fmla="*/ 8392 h 10075"/>
                  <a:gd name="connsiteX0-557" fmla="*/ 54 w 10743"/>
                  <a:gd name="connsiteY0-558" fmla="*/ 9468 h 11151"/>
                  <a:gd name="connsiteX1-559" fmla="*/ 4027 w 10743"/>
                  <a:gd name="connsiteY1-560" fmla="*/ 495 h 11151"/>
                  <a:gd name="connsiteX2-561" fmla="*/ 7272 w 10743"/>
                  <a:gd name="connsiteY2-562" fmla="*/ 1361 h 11151"/>
                  <a:gd name="connsiteX3-563" fmla="*/ 10190 w 10743"/>
                  <a:gd name="connsiteY3-564" fmla="*/ 3029 h 11151"/>
                  <a:gd name="connsiteX4-565" fmla="*/ 10552 w 10743"/>
                  <a:gd name="connsiteY4-566" fmla="*/ 7708 h 11151"/>
                  <a:gd name="connsiteX5-567" fmla="*/ 7991 w 10743"/>
                  <a:gd name="connsiteY5-568" fmla="*/ 11110 h 11151"/>
                  <a:gd name="connsiteX6-569" fmla="*/ 2155 w 10743"/>
                  <a:gd name="connsiteY6-570" fmla="*/ 9589 h 11151"/>
                  <a:gd name="connsiteX7-571" fmla="*/ 54 w 10743"/>
                  <a:gd name="connsiteY7-572" fmla="*/ 9468 h 11151"/>
                  <a:gd name="connsiteX0-573" fmla="*/ 54 w 10743"/>
                  <a:gd name="connsiteY0-574" fmla="*/ 9506 h 11189"/>
                  <a:gd name="connsiteX1-575" fmla="*/ 4027 w 10743"/>
                  <a:gd name="connsiteY1-576" fmla="*/ 533 h 11189"/>
                  <a:gd name="connsiteX2-577" fmla="*/ 7272 w 10743"/>
                  <a:gd name="connsiteY2-578" fmla="*/ 1399 h 11189"/>
                  <a:gd name="connsiteX3-579" fmla="*/ 10190 w 10743"/>
                  <a:gd name="connsiteY3-580" fmla="*/ 3067 h 11189"/>
                  <a:gd name="connsiteX4-581" fmla="*/ 10552 w 10743"/>
                  <a:gd name="connsiteY4-582" fmla="*/ 7746 h 11189"/>
                  <a:gd name="connsiteX5-583" fmla="*/ 7991 w 10743"/>
                  <a:gd name="connsiteY5-584" fmla="*/ 11148 h 11189"/>
                  <a:gd name="connsiteX6-585" fmla="*/ 2155 w 10743"/>
                  <a:gd name="connsiteY6-586" fmla="*/ 9627 h 11189"/>
                  <a:gd name="connsiteX7-587" fmla="*/ 54 w 10743"/>
                  <a:gd name="connsiteY7-588" fmla="*/ 9506 h 11189"/>
                  <a:gd name="connsiteX0-589" fmla="*/ 40 w 11293"/>
                  <a:gd name="connsiteY0-590" fmla="*/ 9082 h 11127"/>
                  <a:gd name="connsiteX1-591" fmla="*/ 4577 w 11293"/>
                  <a:gd name="connsiteY1-592" fmla="*/ 470 h 11127"/>
                  <a:gd name="connsiteX2-593" fmla="*/ 7822 w 11293"/>
                  <a:gd name="connsiteY2-594" fmla="*/ 1336 h 11127"/>
                  <a:gd name="connsiteX3-595" fmla="*/ 10740 w 11293"/>
                  <a:gd name="connsiteY3-596" fmla="*/ 3004 h 11127"/>
                  <a:gd name="connsiteX4-597" fmla="*/ 11102 w 11293"/>
                  <a:gd name="connsiteY4-598" fmla="*/ 7683 h 11127"/>
                  <a:gd name="connsiteX5-599" fmla="*/ 8541 w 11293"/>
                  <a:gd name="connsiteY5-600" fmla="*/ 11085 h 11127"/>
                  <a:gd name="connsiteX6-601" fmla="*/ 2705 w 11293"/>
                  <a:gd name="connsiteY6-602" fmla="*/ 9564 h 11127"/>
                  <a:gd name="connsiteX7-603" fmla="*/ 40 w 11293"/>
                  <a:gd name="connsiteY7-604" fmla="*/ 9082 h 1112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p:spPr>
            <p:txBody>
              <a:bodyPr wrap="none" anchor="ctr"/>
              <a:lstStyle/>
              <a:p>
                <a:endParaRPr lang="en-US"/>
              </a:p>
            </p:txBody>
          </p:sp>
          <p:grpSp>
            <p:nvGrpSpPr>
              <p:cNvPr id="320" name="Group 327"/>
              <p:cNvGrpSpPr/>
              <p:nvPr/>
            </p:nvGrpSpPr>
            <p:grpSpPr bwMode="auto">
              <a:xfrm>
                <a:off x="7908175" y="5241780"/>
                <a:ext cx="536554" cy="263548"/>
                <a:chOff x="1871277" y="1576300"/>
                <a:chExt cx="1128371" cy="437861"/>
              </a:xfrm>
            </p:grpSpPr>
            <p:sp>
              <p:nvSpPr>
                <p:cNvPr id="324" name="Oval 32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5" name="Rectangle 32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6" name="Oval 32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7" name="Freeform 32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8" name="Freeform 32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9" name="Freeform 32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0" name="Freeform 32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31" name="Straight Connector 330"/>
                <p:cNvCxnSpPr>
                  <a:endCxn id="32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2" name="Straight Connector 33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21" name="Group 320"/>
              <p:cNvGrpSpPr/>
              <p:nvPr/>
            </p:nvGrpSpPr>
            <p:grpSpPr>
              <a:xfrm>
                <a:off x="7876581" y="5223365"/>
                <a:ext cx="466894" cy="369332"/>
                <a:chOff x="599495" y="1708643"/>
                <a:chExt cx="491778" cy="409344"/>
              </a:xfrm>
            </p:grpSpPr>
            <p:sp>
              <p:nvSpPr>
                <p:cNvPr id="322" name="Oval 32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3" name="TextBox 322"/>
                <p:cNvSpPr txBox="1"/>
                <p:nvPr/>
              </p:nvSpPr>
              <p:spPr>
                <a:xfrm>
                  <a:off x="599495" y="1708643"/>
                  <a:ext cx="491778" cy="409344"/>
                </a:xfrm>
                <a:prstGeom prst="rect">
                  <a:avLst/>
                </a:prstGeom>
                <a:noFill/>
              </p:spPr>
              <p:txBody>
                <a:bodyPr wrap="none" rtlCol="0">
                  <a:spAutoFit/>
                </a:bodyPr>
                <a:lstStyle/>
                <a:p>
                  <a:pPr algn="ctr"/>
                  <a:r>
                    <a:rPr lang="en-US" dirty="0"/>
                    <a:t>  X</a:t>
                  </a:r>
                </a:p>
              </p:txBody>
            </p:sp>
          </p:grpSp>
        </p:grpSp>
        <p:cxnSp>
          <p:nvCxnSpPr>
            <p:cNvPr id="318" name="Straight Connector 317"/>
            <p:cNvCxnSpPr/>
            <p:nvPr/>
          </p:nvCxnSpPr>
          <p:spPr bwMode="auto">
            <a:xfrm flipH="1">
              <a:off x="7133690" y="5764030"/>
              <a:ext cx="870024" cy="9999"/>
            </a:xfrm>
            <a:prstGeom prst="line">
              <a:avLst/>
            </a:prstGeom>
            <a:solidFill>
              <a:schemeClr val="accent1"/>
            </a:solidFill>
            <a:ln w="19050" cap="flat" cmpd="sng" algn="ctr">
              <a:solidFill>
                <a:schemeClr val="tx1"/>
              </a:solidFill>
              <a:prstDash val="solid"/>
              <a:round/>
              <a:headEnd type="none" w="med" len="med"/>
              <a:tailEnd type="none" w="med" len="med"/>
            </a:ln>
            <a:effectLst/>
          </p:spPr>
        </p:cxnSp>
      </p:grpSp>
      <p:grpSp>
        <p:nvGrpSpPr>
          <p:cNvPr id="333" name="Group 332"/>
          <p:cNvGrpSpPr/>
          <p:nvPr/>
        </p:nvGrpSpPr>
        <p:grpSpPr>
          <a:xfrm>
            <a:off x="5713444" y="2600984"/>
            <a:ext cx="872159" cy="788717"/>
            <a:chOff x="5713444" y="2379268"/>
            <a:chExt cx="872159" cy="788717"/>
          </a:xfrm>
        </p:grpSpPr>
        <p:sp>
          <p:nvSpPr>
            <p:cNvPr id="334" name="AutoShape 118"/>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p:spPr>
          <p:txBody>
            <a:bodyPr wrap="none" anchor="ctr"/>
            <a:lstStyle/>
            <a:p>
              <a:endParaRPr lang="en-US"/>
            </a:p>
          </p:txBody>
        </p:sp>
        <p:sp>
          <p:nvSpPr>
            <p:cNvPr id="335" name="Text Box 119"/>
            <p:cNvSpPr txBox="1">
              <a:spLocks noChangeArrowheads="1"/>
            </p:cNvSpPr>
            <p:nvPr/>
          </p:nvSpPr>
          <p:spPr bwMode="auto">
            <a:xfrm>
              <a:off x="5848435" y="2887139"/>
              <a:ext cx="737168" cy="280846"/>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nSpc>
                  <a:spcPct val="85000"/>
                </a:lnSpc>
              </a:pPr>
              <a:r>
                <a:rPr lang="en-US" sz="1400" i="1" dirty="0">
                  <a:solidFill>
                    <a:srgbClr val="CC0000"/>
                  </a:solidFill>
                </a:rPr>
                <a:t>AS3,X </a:t>
              </a:r>
            </a:p>
          </p:txBody>
        </p:sp>
      </p:grpSp>
      <p:grpSp>
        <p:nvGrpSpPr>
          <p:cNvPr id="336" name="Group 335"/>
          <p:cNvGrpSpPr/>
          <p:nvPr/>
        </p:nvGrpSpPr>
        <p:grpSpPr>
          <a:xfrm>
            <a:off x="2240503" y="2660320"/>
            <a:ext cx="1126397" cy="993049"/>
            <a:chOff x="2240503" y="2438604"/>
            <a:chExt cx="1126397" cy="993049"/>
          </a:xfrm>
        </p:grpSpPr>
        <p:sp>
          <p:nvSpPr>
            <p:cNvPr id="337" name="Text Box 119"/>
            <p:cNvSpPr txBox="1">
              <a:spLocks noChangeArrowheads="1"/>
            </p:cNvSpPr>
            <p:nvPr/>
          </p:nvSpPr>
          <p:spPr bwMode="auto">
            <a:xfrm>
              <a:off x="2240503" y="3150807"/>
              <a:ext cx="1126397" cy="280846"/>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nSpc>
                  <a:spcPct val="85000"/>
                </a:lnSpc>
              </a:pPr>
              <a:r>
                <a:rPr lang="en-US" sz="1400" i="1" dirty="0">
                  <a:solidFill>
                    <a:srgbClr val="CC0000"/>
                  </a:solidFill>
                </a:rPr>
                <a:t>AS1,AS3,X </a:t>
              </a:r>
            </a:p>
          </p:txBody>
        </p:sp>
        <p:sp>
          <p:nvSpPr>
            <p:cNvPr id="338" name="AutoShape 118"/>
            <p:cNvSpPr>
              <a:spLocks noChangeArrowheads="1"/>
            </p:cNvSpPr>
            <p:nvPr/>
          </p:nvSpPr>
          <p:spPr bwMode="auto">
            <a:xfrm rot="14228333">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p:spPr>
          <p:txBody>
            <a:bodyPr wrap="none" anchor="ctr"/>
            <a:lstStyle/>
            <a:p>
              <a:endParaRPr lang="en-US"/>
            </a:p>
          </p:txBody>
        </p:sp>
      </p:grpSp>
      <p:cxnSp>
        <p:nvCxnSpPr>
          <p:cNvPr id="340" name="Straight Arrow Connector 339"/>
          <p:cNvCxnSpPr/>
          <p:nvPr/>
        </p:nvCxnSpPr>
        <p:spPr bwMode="auto">
          <a:xfrm flipH="1">
            <a:off x="4912930" y="3654209"/>
            <a:ext cx="357050" cy="288595"/>
          </a:xfrm>
          <a:prstGeom prst="straightConnector1">
            <a:avLst/>
          </a:prstGeom>
          <a:solidFill>
            <a:schemeClr val="accent1"/>
          </a:solidFill>
          <a:ln w="25400" cap="flat" cmpd="sng" algn="ctr">
            <a:solidFill>
              <a:srgbClr val="CC0000"/>
            </a:solidFill>
            <a:prstDash val="solid"/>
            <a:round/>
            <a:headEnd type="none" w="med" len="med"/>
            <a:tailEnd type="triangle"/>
          </a:ln>
          <a:effectLst/>
        </p:spPr>
      </p:cxnSp>
      <p:cxnSp>
        <p:nvCxnSpPr>
          <p:cNvPr id="342" name="Straight Arrow Connector 341"/>
          <p:cNvCxnSpPr/>
          <p:nvPr/>
        </p:nvCxnSpPr>
        <p:spPr bwMode="auto">
          <a:xfrm>
            <a:off x="3885547" y="3671141"/>
            <a:ext cx="413648" cy="296911"/>
          </a:xfrm>
          <a:prstGeom prst="straightConnector1">
            <a:avLst/>
          </a:prstGeom>
          <a:solidFill>
            <a:schemeClr val="accent1"/>
          </a:solidFill>
          <a:ln w="25400" cap="flat" cmpd="sng" algn="ctr">
            <a:solidFill>
              <a:srgbClr val="CC0000"/>
            </a:solidFill>
            <a:prstDash val="solid"/>
            <a:round/>
            <a:headEnd type="none" w="med" len="med"/>
            <a:tailEnd type="triangle"/>
          </a:ln>
          <a:effectLst/>
        </p:spPr>
      </p:cxnSp>
      <p:cxnSp>
        <p:nvCxnSpPr>
          <p:cNvPr id="343" name="Straight Connector 342"/>
          <p:cNvCxnSpPr>
            <a:stCxn id="262" idx="1"/>
          </p:cNvCxnSpPr>
          <p:nvPr/>
        </p:nvCxnSpPr>
        <p:spPr bwMode="auto">
          <a:xfrm flipH="1">
            <a:off x="3046901" y="2381069"/>
            <a:ext cx="2716814" cy="143913"/>
          </a:xfrm>
          <a:prstGeom prst="line">
            <a:avLst/>
          </a:prstGeom>
          <a:solidFill>
            <a:schemeClr val="accent1"/>
          </a:solidFill>
          <a:ln w="38100" cap="flat" cmpd="sng" algn="ctr">
            <a:solidFill>
              <a:schemeClr val="tx1"/>
            </a:solidFill>
            <a:prstDash val="solid"/>
            <a:round/>
            <a:headEnd type="none" w="med" len="med"/>
            <a:tailEnd type="none" w="med" len="med"/>
          </a:ln>
          <a:effectLst/>
        </p:spPr>
      </p:cxnSp>
      <p:sp>
        <p:nvSpPr>
          <p:cNvPr id="354" name="TextBox 353"/>
          <p:cNvSpPr txBox="1"/>
          <p:nvPr/>
        </p:nvSpPr>
        <p:spPr>
          <a:xfrm>
            <a:off x="6713852" y="3668010"/>
            <a:ext cx="1860906" cy="338554"/>
          </a:xfrm>
          <a:prstGeom prst="rect">
            <a:avLst/>
          </a:prstGeom>
          <a:noFill/>
        </p:spPr>
        <p:txBody>
          <a:bodyPr wrap="none" rtlCol="0">
            <a:spAutoFit/>
          </a:bodyPr>
          <a:lstStyle/>
          <a:p>
            <a:r>
              <a:rPr lang="en-US" sz="1600" dirty="0">
                <a:solidFill>
                  <a:schemeClr val="bg2">
                    <a:lumMod val="75000"/>
                  </a:schemeClr>
                </a:solidFill>
              </a:rPr>
              <a:t>OSPF link weights</a:t>
            </a:r>
          </a:p>
        </p:txBody>
      </p:sp>
      <p:sp>
        <p:nvSpPr>
          <p:cNvPr id="4" name="TextBox 3"/>
          <p:cNvSpPr txBox="1"/>
          <p:nvPr/>
        </p:nvSpPr>
        <p:spPr>
          <a:xfrm>
            <a:off x="4072921" y="3471742"/>
            <a:ext cx="527738" cy="307777"/>
          </a:xfrm>
          <a:prstGeom prst="rect">
            <a:avLst/>
          </a:prstGeom>
          <a:noFill/>
        </p:spPr>
        <p:txBody>
          <a:bodyPr wrap="none" rtlCol="0">
            <a:spAutoFit/>
          </a:bodyPr>
          <a:lstStyle/>
          <a:p>
            <a:r>
              <a:rPr lang="en-US" sz="1400" i="1" dirty="0">
                <a:solidFill>
                  <a:srgbClr val="606060"/>
                </a:solidFill>
              </a:rPr>
              <a:t>201</a:t>
            </a:r>
            <a:endParaRPr lang="en-US" i="1" dirty="0">
              <a:solidFill>
                <a:srgbClr val="606060"/>
              </a:solidFill>
            </a:endParaRPr>
          </a:p>
        </p:txBody>
      </p:sp>
      <p:sp>
        <p:nvSpPr>
          <p:cNvPr id="357" name="TextBox 356"/>
          <p:cNvSpPr txBox="1"/>
          <p:nvPr/>
        </p:nvSpPr>
        <p:spPr>
          <a:xfrm>
            <a:off x="4531886" y="3127836"/>
            <a:ext cx="527738" cy="307777"/>
          </a:xfrm>
          <a:prstGeom prst="rect">
            <a:avLst/>
          </a:prstGeom>
          <a:noFill/>
        </p:spPr>
        <p:txBody>
          <a:bodyPr wrap="none" rtlCol="0">
            <a:spAutoFit/>
          </a:bodyPr>
          <a:lstStyle/>
          <a:p>
            <a:r>
              <a:rPr lang="en-US" sz="1400" i="1" dirty="0">
                <a:solidFill>
                  <a:srgbClr val="606060"/>
                </a:solidFill>
              </a:rPr>
              <a:t>152</a:t>
            </a:r>
            <a:endParaRPr lang="en-US" i="1" dirty="0">
              <a:solidFill>
                <a:srgbClr val="606060"/>
              </a:solidFill>
            </a:endParaRPr>
          </a:p>
        </p:txBody>
      </p:sp>
      <p:sp>
        <p:nvSpPr>
          <p:cNvPr id="358" name="TextBox 357"/>
          <p:cNvSpPr txBox="1"/>
          <p:nvPr/>
        </p:nvSpPr>
        <p:spPr>
          <a:xfrm>
            <a:off x="5012749" y="2966393"/>
            <a:ext cx="514413" cy="307777"/>
          </a:xfrm>
          <a:prstGeom prst="rect">
            <a:avLst/>
          </a:prstGeom>
          <a:noFill/>
        </p:spPr>
        <p:txBody>
          <a:bodyPr wrap="none" rtlCol="0">
            <a:spAutoFit/>
          </a:bodyPr>
          <a:lstStyle/>
          <a:p>
            <a:r>
              <a:rPr lang="en-US" sz="1400" i="1" dirty="0">
                <a:solidFill>
                  <a:srgbClr val="606060"/>
                </a:solidFill>
              </a:rPr>
              <a:t>112</a:t>
            </a:r>
            <a:endParaRPr lang="en-US" i="1" dirty="0">
              <a:solidFill>
                <a:srgbClr val="606060"/>
              </a:solidFill>
            </a:endParaRPr>
          </a:p>
        </p:txBody>
      </p:sp>
      <p:sp>
        <p:nvSpPr>
          <p:cNvPr id="359" name="TextBox 358"/>
          <p:cNvSpPr txBox="1"/>
          <p:nvPr/>
        </p:nvSpPr>
        <p:spPr>
          <a:xfrm>
            <a:off x="4662388" y="3433508"/>
            <a:ext cx="527738" cy="307777"/>
          </a:xfrm>
          <a:prstGeom prst="rect">
            <a:avLst/>
          </a:prstGeom>
          <a:noFill/>
        </p:spPr>
        <p:txBody>
          <a:bodyPr wrap="none" rtlCol="0">
            <a:spAutoFit/>
          </a:bodyPr>
          <a:lstStyle/>
          <a:p>
            <a:r>
              <a:rPr lang="en-US" sz="1400" i="1" dirty="0">
                <a:solidFill>
                  <a:srgbClr val="606060"/>
                </a:solidFill>
              </a:rPr>
              <a:t>263</a:t>
            </a:r>
            <a:endParaRPr lang="en-US" i="1" dirty="0">
              <a:solidFill>
                <a:srgbClr val="606060"/>
              </a:solidFill>
            </a:endParaRPr>
          </a:p>
        </p:txBody>
      </p:sp>
      <p:sp>
        <p:nvSpPr>
          <p:cNvPr id="362"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82</a:t>
            </a:fld>
            <a:endParaRPr lang="en-US" sz="1200" dirty="0">
              <a:latin typeface="Tahoma" panose="020B0604030504040204" charset="0"/>
            </a:endParaRPr>
          </a:p>
        </p:txBody>
      </p:sp>
      <p:sp>
        <p:nvSpPr>
          <p:cNvPr id="363"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333"/>
                                        </p:tgtEl>
                                        <p:attrNameLst>
                                          <p:attrName>style.visibility</p:attrName>
                                        </p:attrNameLst>
                                      </p:cBhvr>
                                      <p:to>
                                        <p:strVal val="visible"/>
                                      </p:to>
                                    </p:set>
                                    <p:animEffect transition="in" filter="wipe(up)">
                                      <p:cBhvr>
                                        <p:cTn id="7" dur="1000"/>
                                        <p:tgtEl>
                                          <p:spTgt spid="333"/>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340"/>
                                        </p:tgtEl>
                                        <p:attrNameLst>
                                          <p:attrName>style.visibility</p:attrName>
                                        </p:attrNameLst>
                                      </p:cBhvr>
                                      <p:to>
                                        <p:strVal val="visible"/>
                                      </p:to>
                                    </p:set>
                                    <p:animEffect transition="in" filter="wipe(up)">
                                      <p:cBhvr>
                                        <p:cTn id="11" dur="500"/>
                                        <p:tgtEl>
                                          <p:spTgt spid="340"/>
                                        </p:tgtEl>
                                      </p:cBhvr>
                                    </p:animEffect>
                                  </p:childTnLst>
                                </p:cTn>
                              </p:par>
                            </p:childTnLst>
                          </p:cTn>
                        </p:par>
                        <p:par>
                          <p:cTn id="12" fill="hold">
                            <p:stCondLst>
                              <p:cond delay="1500"/>
                            </p:stCondLst>
                            <p:childTnLst>
                              <p:par>
                                <p:cTn id="13" presetID="22" presetClass="entr" presetSubtype="1" fill="hold" nodeType="afterEffect">
                                  <p:stCondLst>
                                    <p:cond delay="0"/>
                                  </p:stCondLst>
                                  <p:childTnLst>
                                    <p:set>
                                      <p:cBhvr>
                                        <p:cTn id="14" dur="1" fill="hold">
                                          <p:stCondLst>
                                            <p:cond delay="0"/>
                                          </p:stCondLst>
                                        </p:cTn>
                                        <p:tgtEl>
                                          <p:spTgt spid="336"/>
                                        </p:tgtEl>
                                        <p:attrNameLst>
                                          <p:attrName>style.visibility</p:attrName>
                                        </p:attrNameLst>
                                      </p:cBhvr>
                                      <p:to>
                                        <p:strVal val="visible"/>
                                      </p:to>
                                    </p:set>
                                    <p:animEffect transition="in" filter="wipe(up)">
                                      <p:cBhvr>
                                        <p:cTn id="15" dur="1000"/>
                                        <p:tgtEl>
                                          <p:spTgt spid="336"/>
                                        </p:tgtEl>
                                      </p:cBhvr>
                                    </p:animEffect>
                                  </p:childTnLst>
                                </p:cTn>
                              </p:par>
                            </p:childTnLst>
                          </p:cTn>
                        </p:par>
                        <p:par>
                          <p:cTn id="16" fill="hold">
                            <p:stCondLst>
                              <p:cond delay="2500"/>
                            </p:stCondLst>
                            <p:childTnLst>
                              <p:par>
                                <p:cTn id="17" presetID="22" presetClass="entr" presetSubtype="1" fill="hold" nodeType="afterEffect">
                                  <p:stCondLst>
                                    <p:cond delay="0"/>
                                  </p:stCondLst>
                                  <p:childTnLst>
                                    <p:set>
                                      <p:cBhvr>
                                        <p:cTn id="18" dur="1" fill="hold">
                                          <p:stCondLst>
                                            <p:cond delay="0"/>
                                          </p:stCondLst>
                                        </p:cTn>
                                        <p:tgtEl>
                                          <p:spTgt spid="342"/>
                                        </p:tgtEl>
                                        <p:attrNameLst>
                                          <p:attrName>style.visibility</p:attrName>
                                        </p:attrNameLst>
                                      </p:cBhvr>
                                      <p:to>
                                        <p:strVal val="visible"/>
                                      </p:to>
                                    </p:set>
                                    <p:animEffect transition="in" filter="wipe(up)">
                                      <p:cBhvr>
                                        <p:cTn id="19" dur="500"/>
                                        <p:tgtEl>
                                          <p:spTgt spid="342"/>
                                        </p:tgtEl>
                                      </p:cBhvr>
                                    </p:animEffect>
                                  </p:childTnLst>
                                </p:cTn>
                              </p:par>
                            </p:childTnLst>
                          </p:cTn>
                        </p:par>
                        <p:par>
                          <p:cTn id="20" fill="hold">
                            <p:stCondLst>
                              <p:cond delay="3000"/>
                            </p:stCondLst>
                            <p:childTnLst>
                              <p:par>
                                <p:cTn id="21" presetID="9" presetClass="entr" presetSubtype="0" fill="hold" grpId="0" nodeType="afterEffect">
                                  <p:stCondLst>
                                    <p:cond delay="0"/>
                                  </p:stCondLst>
                                  <p:childTnLst>
                                    <p:set>
                                      <p:cBhvr>
                                        <p:cTn id="22" dur="1" fill="hold">
                                          <p:stCondLst>
                                            <p:cond delay="0"/>
                                          </p:stCondLst>
                                        </p:cTn>
                                        <p:tgtEl>
                                          <p:spTgt spid="40">
                                            <p:txEl>
                                              <p:pRg st="0" end="0"/>
                                            </p:txEl>
                                          </p:spTgt>
                                        </p:tgtEl>
                                        <p:attrNameLst>
                                          <p:attrName>style.visibility</p:attrName>
                                        </p:attrNameLst>
                                      </p:cBhvr>
                                      <p:to>
                                        <p:strVal val="visible"/>
                                      </p:to>
                                    </p:set>
                                    <p:animEffect transition="in" filter="dissolve">
                                      <p:cBhvr>
                                        <p:cTn id="23" dur="500"/>
                                        <p:tgtEl>
                                          <p:spTgt spid="40">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333"/>
                                        </p:tgtEl>
                                      </p:cBhvr>
                                    </p:animEffect>
                                    <p:set>
                                      <p:cBhvr>
                                        <p:cTn id="28" dur="1" fill="hold">
                                          <p:stCondLst>
                                            <p:cond delay="499"/>
                                          </p:stCondLst>
                                        </p:cTn>
                                        <p:tgtEl>
                                          <p:spTgt spid="33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340"/>
                                        </p:tgtEl>
                                      </p:cBhvr>
                                    </p:animEffect>
                                    <p:set>
                                      <p:cBhvr>
                                        <p:cTn id="31" dur="1" fill="hold">
                                          <p:stCondLst>
                                            <p:cond delay="499"/>
                                          </p:stCondLst>
                                        </p:cTn>
                                        <p:tgtEl>
                                          <p:spTgt spid="340"/>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336"/>
                                        </p:tgtEl>
                                      </p:cBhvr>
                                    </p:animEffect>
                                    <p:set>
                                      <p:cBhvr>
                                        <p:cTn id="34" dur="1" fill="hold">
                                          <p:stCondLst>
                                            <p:cond delay="499"/>
                                          </p:stCondLst>
                                        </p:cTn>
                                        <p:tgtEl>
                                          <p:spTgt spid="336"/>
                                        </p:tgtEl>
                                        <p:attrNameLst>
                                          <p:attrName>style.visibility</p:attrName>
                                        </p:attrNameLst>
                                      </p:cBhvr>
                                      <p:to>
                                        <p:strVal val="hidden"/>
                                      </p:to>
                                    </p:set>
                                  </p:childTnLst>
                                </p:cTn>
                              </p:par>
                              <p:par>
                                <p:cTn id="35" presetID="9" presetClass="exit" presetSubtype="0" fill="hold" nodeType="withEffect">
                                  <p:stCondLst>
                                    <p:cond delay="0"/>
                                  </p:stCondLst>
                                  <p:childTnLst>
                                    <p:animEffect transition="out" filter="dissolve">
                                      <p:cBhvr>
                                        <p:cTn id="36" dur="500"/>
                                        <p:tgtEl>
                                          <p:spTgt spid="342"/>
                                        </p:tgtEl>
                                      </p:cBhvr>
                                    </p:animEffect>
                                    <p:set>
                                      <p:cBhvr>
                                        <p:cTn id="37" dur="1" fill="hold">
                                          <p:stCondLst>
                                            <p:cond delay="499"/>
                                          </p:stCondLst>
                                        </p:cTn>
                                        <p:tgtEl>
                                          <p:spTgt spid="342"/>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40">
                                            <p:txEl>
                                              <p:pRg st="1" end="1"/>
                                            </p:txEl>
                                          </p:spTgt>
                                        </p:tgtEl>
                                        <p:attrNameLst>
                                          <p:attrName>style.visibility</p:attrName>
                                        </p:attrNameLst>
                                      </p:cBhvr>
                                      <p:to>
                                        <p:strVal val="visible"/>
                                      </p:to>
                                    </p:set>
                                    <p:animEffect transition="in" filter="dissolve">
                                      <p:cBhvr>
                                        <p:cTn id="42" dur="500"/>
                                        <p:tgtEl>
                                          <p:spTgt spid="40">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uiExpand="1" build="p"/>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9" name="Rectangle 3"/>
          <p:cNvSpPr>
            <a:spLocks noChangeArrowheads="1"/>
          </p:cNvSpPr>
          <p:nvPr/>
        </p:nvSpPr>
        <p:spPr bwMode="auto">
          <a:xfrm>
            <a:off x="1181100" y="3581400"/>
            <a:ext cx="4876800" cy="381000"/>
          </a:xfrm>
          <a:prstGeom prst="rect">
            <a:avLst/>
          </a:prstGeom>
          <a:solidFill>
            <a:schemeClr val="bg1"/>
          </a:solidFill>
          <a:ln>
            <a:noFill/>
          </a:ln>
        </p:spPr>
        <p:txBody>
          <a:bodyPr wrap="none" anchor="ctr"/>
          <a:lstStyle/>
          <a:p>
            <a:endParaRPr lang="en-US"/>
          </a:p>
        </p:txBody>
      </p:sp>
      <p:sp>
        <p:nvSpPr>
          <p:cNvPr id="185350" name="Rectangle 4"/>
          <p:cNvSpPr>
            <a:spLocks noChangeArrowheads="1"/>
          </p:cNvSpPr>
          <p:nvPr/>
        </p:nvSpPr>
        <p:spPr bwMode="auto">
          <a:xfrm>
            <a:off x="631940" y="4371320"/>
            <a:ext cx="8229600" cy="2053220"/>
          </a:xfrm>
          <a:prstGeom prst="rect">
            <a:avLst/>
          </a:prstGeom>
          <a:noFill/>
          <a:ln>
            <a:noFill/>
          </a:ln>
        </p:spPr>
        <p:txBody>
          <a:bodyPr/>
          <a:lstStyle/>
          <a:p>
            <a:pPr marL="342900" indent="-342900">
              <a:lnSpc>
                <a:spcPct val="85000"/>
              </a:lnSpc>
              <a:spcBef>
                <a:spcPct val="20000"/>
              </a:spcBef>
              <a:buClr>
                <a:srgbClr val="000099"/>
              </a:buClr>
              <a:buSzPct val="100000"/>
              <a:buFont typeface="Wingdings" panose="05000000000000000000" pitchFamily="2" charset="2"/>
              <a:buChar char="§"/>
            </a:pPr>
            <a:r>
              <a:rPr lang="en-US" sz="2400" dirty="0">
                <a:latin typeface="+mn-lt"/>
              </a:rPr>
              <a:t>A advertises path Aw to B and to C</a:t>
            </a:r>
          </a:p>
          <a:p>
            <a:pPr marL="342900" indent="-342900">
              <a:lnSpc>
                <a:spcPct val="85000"/>
              </a:lnSpc>
              <a:spcBef>
                <a:spcPct val="20000"/>
              </a:spcBef>
              <a:buClr>
                <a:srgbClr val="000099"/>
              </a:buClr>
              <a:buSzPct val="100000"/>
              <a:buFont typeface="Wingdings" panose="05000000000000000000" pitchFamily="2" charset="2"/>
              <a:buChar char="§"/>
            </a:pPr>
            <a:r>
              <a:rPr lang="en-US" sz="2400" dirty="0">
                <a:latin typeface="+mn-lt"/>
              </a:rPr>
              <a:t>B </a:t>
            </a:r>
            <a:r>
              <a:rPr lang="en-US" sz="2400" i="1" dirty="0">
                <a:solidFill>
                  <a:srgbClr val="CC0000"/>
                </a:solidFill>
                <a:latin typeface="+mn-lt"/>
              </a:rPr>
              <a:t>chooses not to advertise </a:t>
            </a:r>
            <a:r>
              <a:rPr lang="en-US" sz="2400" dirty="0" err="1">
                <a:latin typeface="+mn-lt"/>
              </a:rPr>
              <a:t>BAw</a:t>
            </a:r>
            <a:r>
              <a:rPr lang="en-US" sz="2400" dirty="0">
                <a:latin typeface="+mn-lt"/>
              </a:rPr>
              <a:t> to C:  </a:t>
            </a:r>
          </a:p>
          <a:p>
            <a:pPr marL="800100" lvl="1" indent="-342900">
              <a:lnSpc>
                <a:spcPct val="85000"/>
              </a:lnSpc>
              <a:spcBef>
                <a:spcPct val="20000"/>
              </a:spcBef>
              <a:buClr>
                <a:srgbClr val="000099"/>
              </a:buClr>
              <a:buSzPct val="100000"/>
              <a:buFont typeface="Wingdings" panose="05000000000000000000" pitchFamily="2" charset="2"/>
              <a:buChar char="§"/>
            </a:pPr>
            <a:r>
              <a:rPr lang="en-US" sz="2000" dirty="0">
                <a:latin typeface="+mn-lt"/>
              </a:rPr>
              <a:t>B gets no </a:t>
            </a:r>
            <a:r>
              <a:rPr lang="ja-JP" altLang="en-US" sz="2000" dirty="0">
                <a:latin typeface="+mn-lt"/>
              </a:rPr>
              <a:t>“</a:t>
            </a:r>
            <a:r>
              <a:rPr lang="en-US" altLang="ja-JP" sz="2000" dirty="0">
                <a:latin typeface="+mn-lt"/>
              </a:rPr>
              <a:t>revenue</a:t>
            </a:r>
            <a:r>
              <a:rPr lang="ja-JP" altLang="en-US" sz="2000" dirty="0">
                <a:latin typeface="+mn-lt"/>
              </a:rPr>
              <a:t>”</a:t>
            </a:r>
            <a:r>
              <a:rPr lang="en-US" altLang="ja-JP" sz="2000" dirty="0">
                <a:latin typeface="+mn-lt"/>
              </a:rPr>
              <a:t> for routing </a:t>
            </a:r>
            <a:r>
              <a:rPr lang="en-US" altLang="ja-JP" sz="2000" dirty="0" err="1">
                <a:latin typeface="+mn-lt"/>
              </a:rPr>
              <a:t>CBAw</a:t>
            </a:r>
            <a:r>
              <a:rPr lang="en-US" altLang="ja-JP" sz="2000" dirty="0">
                <a:latin typeface="+mn-lt"/>
              </a:rPr>
              <a:t>, since none of  C, A, w are B</a:t>
            </a:r>
            <a:r>
              <a:rPr lang="ja-JP" altLang="en-US" sz="2000" dirty="0">
                <a:latin typeface="+mn-lt"/>
              </a:rPr>
              <a:t>’</a:t>
            </a:r>
            <a:r>
              <a:rPr lang="en-US" altLang="ja-JP" sz="2000" dirty="0">
                <a:latin typeface="+mn-lt"/>
              </a:rPr>
              <a:t>s customers</a:t>
            </a:r>
          </a:p>
          <a:p>
            <a:pPr marL="800100" lvl="1" indent="-342900">
              <a:lnSpc>
                <a:spcPct val="85000"/>
              </a:lnSpc>
              <a:spcBef>
                <a:spcPct val="20000"/>
              </a:spcBef>
              <a:buClr>
                <a:srgbClr val="000099"/>
              </a:buClr>
              <a:buSzPct val="100000"/>
              <a:buFont typeface="Wingdings" panose="05000000000000000000" pitchFamily="2" charset="2"/>
              <a:buChar char="§"/>
            </a:pPr>
            <a:r>
              <a:rPr lang="en-US" altLang="ja-JP" sz="2000" dirty="0">
                <a:latin typeface="+mn-lt"/>
              </a:rPr>
              <a:t>C does not learn about </a:t>
            </a:r>
            <a:r>
              <a:rPr lang="en-US" altLang="ja-JP" sz="2000" dirty="0" err="1">
                <a:latin typeface="+mn-lt"/>
              </a:rPr>
              <a:t>CBAw</a:t>
            </a:r>
            <a:r>
              <a:rPr lang="en-US" altLang="ja-JP" sz="2000" dirty="0">
                <a:latin typeface="+mn-lt"/>
              </a:rPr>
              <a:t> path</a:t>
            </a:r>
          </a:p>
          <a:p>
            <a:pPr marL="342900" indent="-342900">
              <a:lnSpc>
                <a:spcPct val="85000"/>
              </a:lnSpc>
              <a:spcBef>
                <a:spcPct val="20000"/>
              </a:spcBef>
              <a:buClr>
                <a:srgbClr val="000099"/>
              </a:buClr>
              <a:buSzPct val="100000"/>
              <a:buFont typeface="Wingdings" panose="05000000000000000000" pitchFamily="2" charset="2"/>
              <a:buChar char="§"/>
            </a:pPr>
            <a:r>
              <a:rPr lang="en-US" sz="2400" dirty="0">
                <a:latin typeface="+mn-lt"/>
              </a:rPr>
              <a:t>C will route </a:t>
            </a:r>
            <a:r>
              <a:rPr lang="en-US" sz="2400" dirty="0" err="1">
                <a:latin typeface="+mn-lt"/>
              </a:rPr>
              <a:t>CAw</a:t>
            </a:r>
            <a:r>
              <a:rPr lang="en-US" sz="2400" dirty="0">
                <a:latin typeface="+mn-lt"/>
              </a:rPr>
              <a:t> (not using B) to get to w</a:t>
            </a:r>
          </a:p>
        </p:txBody>
      </p:sp>
      <p:grpSp>
        <p:nvGrpSpPr>
          <p:cNvPr id="185351" name="Group 5"/>
          <p:cNvGrpSpPr/>
          <p:nvPr/>
        </p:nvGrpSpPr>
        <p:grpSpPr bwMode="auto">
          <a:xfrm>
            <a:off x="476250" y="1123950"/>
            <a:ext cx="7539038" cy="3048000"/>
            <a:chOff x="300" y="708"/>
            <a:chExt cx="4749" cy="1920"/>
          </a:xfrm>
        </p:grpSpPr>
        <p:sp>
          <p:nvSpPr>
            <p:cNvPr id="185352" name="AutoShape 6"/>
            <p:cNvSpPr>
              <a:spLocks noChangeAspect="1" noChangeArrowheads="1" noTextEdit="1"/>
            </p:cNvSpPr>
            <p:nvPr/>
          </p:nvSpPr>
          <p:spPr bwMode="auto">
            <a:xfrm>
              <a:off x="300" y="708"/>
              <a:ext cx="4749" cy="1920"/>
            </a:xfrm>
            <a:prstGeom prst="rect">
              <a:avLst/>
            </a:prstGeom>
            <a:noFill/>
            <a:ln>
              <a:noFill/>
            </a:ln>
          </p:spPr>
          <p:txBody>
            <a:bodyPr/>
            <a:lstStyle/>
            <a:p>
              <a:endParaRPr lang="en-US"/>
            </a:p>
          </p:txBody>
        </p:sp>
        <p:sp>
          <p:nvSpPr>
            <p:cNvPr id="185353" name="Freeform 7"/>
            <p:cNvSpPr/>
            <p:nvPr/>
          </p:nvSpPr>
          <p:spPr bwMode="auto">
            <a:xfrm>
              <a:off x="1602" y="955"/>
              <a:ext cx="563" cy="364"/>
            </a:xfrm>
            <a:custGeom>
              <a:avLst/>
              <a:gdLst>
                <a:gd name="T0" fmla="*/ 148 w 563"/>
                <a:gd name="T1" fmla="*/ 5 h 364"/>
                <a:gd name="T2" fmla="*/ 119 w 563"/>
                <a:gd name="T3" fmla="*/ 10 h 364"/>
                <a:gd name="T4" fmla="*/ 94 w 563"/>
                <a:gd name="T5" fmla="*/ 21 h 364"/>
                <a:gd name="T6" fmla="*/ 70 w 563"/>
                <a:gd name="T7" fmla="*/ 37 h 364"/>
                <a:gd name="T8" fmla="*/ 46 w 563"/>
                <a:gd name="T9" fmla="*/ 61 h 364"/>
                <a:gd name="T10" fmla="*/ 24 w 563"/>
                <a:gd name="T11" fmla="*/ 91 h 364"/>
                <a:gd name="T12" fmla="*/ 8 w 563"/>
                <a:gd name="T13" fmla="*/ 120 h 364"/>
                <a:gd name="T14" fmla="*/ 3 w 563"/>
                <a:gd name="T15" fmla="*/ 136 h 364"/>
                <a:gd name="T16" fmla="*/ 0 w 563"/>
                <a:gd name="T17" fmla="*/ 150 h 364"/>
                <a:gd name="T18" fmla="*/ 0 w 563"/>
                <a:gd name="T19" fmla="*/ 166 h 364"/>
                <a:gd name="T20" fmla="*/ 8 w 563"/>
                <a:gd name="T21" fmla="*/ 195 h 364"/>
                <a:gd name="T22" fmla="*/ 27 w 563"/>
                <a:gd name="T23" fmla="*/ 228 h 364"/>
                <a:gd name="T24" fmla="*/ 49 w 563"/>
                <a:gd name="T25" fmla="*/ 257 h 364"/>
                <a:gd name="T26" fmla="*/ 70 w 563"/>
                <a:gd name="T27" fmla="*/ 284 h 364"/>
                <a:gd name="T28" fmla="*/ 92 w 563"/>
                <a:gd name="T29" fmla="*/ 305 h 364"/>
                <a:gd name="T30" fmla="*/ 111 w 563"/>
                <a:gd name="T31" fmla="*/ 321 h 364"/>
                <a:gd name="T32" fmla="*/ 127 w 563"/>
                <a:gd name="T33" fmla="*/ 332 h 364"/>
                <a:gd name="T34" fmla="*/ 146 w 563"/>
                <a:gd name="T35" fmla="*/ 340 h 364"/>
                <a:gd name="T36" fmla="*/ 170 w 563"/>
                <a:gd name="T37" fmla="*/ 346 h 364"/>
                <a:gd name="T38" fmla="*/ 191 w 563"/>
                <a:gd name="T39" fmla="*/ 348 h 364"/>
                <a:gd name="T40" fmla="*/ 218 w 563"/>
                <a:gd name="T41" fmla="*/ 354 h 364"/>
                <a:gd name="T42" fmla="*/ 261 w 563"/>
                <a:gd name="T43" fmla="*/ 356 h 364"/>
                <a:gd name="T44" fmla="*/ 310 w 563"/>
                <a:gd name="T45" fmla="*/ 362 h 364"/>
                <a:gd name="T46" fmla="*/ 361 w 563"/>
                <a:gd name="T47" fmla="*/ 364 h 364"/>
                <a:gd name="T48" fmla="*/ 409 w 563"/>
                <a:gd name="T49" fmla="*/ 362 h 364"/>
                <a:gd name="T50" fmla="*/ 458 w 563"/>
                <a:gd name="T51" fmla="*/ 359 h 364"/>
                <a:gd name="T52" fmla="*/ 495 w 563"/>
                <a:gd name="T53" fmla="*/ 348 h 364"/>
                <a:gd name="T54" fmla="*/ 511 w 563"/>
                <a:gd name="T55" fmla="*/ 340 h 364"/>
                <a:gd name="T56" fmla="*/ 525 w 563"/>
                <a:gd name="T57" fmla="*/ 332 h 364"/>
                <a:gd name="T58" fmla="*/ 536 w 563"/>
                <a:gd name="T59" fmla="*/ 321 h 364"/>
                <a:gd name="T60" fmla="*/ 549 w 563"/>
                <a:gd name="T61" fmla="*/ 295 h 364"/>
                <a:gd name="T62" fmla="*/ 557 w 563"/>
                <a:gd name="T63" fmla="*/ 257 h 364"/>
                <a:gd name="T64" fmla="*/ 563 w 563"/>
                <a:gd name="T65" fmla="*/ 217 h 364"/>
                <a:gd name="T66" fmla="*/ 563 w 563"/>
                <a:gd name="T67" fmla="*/ 174 h 364"/>
                <a:gd name="T68" fmla="*/ 557 w 563"/>
                <a:gd name="T69" fmla="*/ 134 h 364"/>
                <a:gd name="T70" fmla="*/ 555 w 563"/>
                <a:gd name="T71" fmla="*/ 96 h 364"/>
                <a:gd name="T72" fmla="*/ 549 w 563"/>
                <a:gd name="T73" fmla="*/ 67 h 364"/>
                <a:gd name="T74" fmla="*/ 546 w 563"/>
                <a:gd name="T75" fmla="*/ 56 h 364"/>
                <a:gd name="T76" fmla="*/ 541 w 563"/>
                <a:gd name="T77" fmla="*/ 40 h 364"/>
                <a:gd name="T78" fmla="*/ 536 w 563"/>
                <a:gd name="T79" fmla="*/ 29 h 364"/>
                <a:gd name="T80" fmla="*/ 528 w 563"/>
                <a:gd name="T81" fmla="*/ 21 h 364"/>
                <a:gd name="T82" fmla="*/ 520 w 563"/>
                <a:gd name="T83" fmla="*/ 18 h 364"/>
                <a:gd name="T84" fmla="*/ 495 w 563"/>
                <a:gd name="T85" fmla="*/ 16 h 364"/>
                <a:gd name="T86" fmla="*/ 466 w 563"/>
                <a:gd name="T87" fmla="*/ 16 h 364"/>
                <a:gd name="T88" fmla="*/ 450 w 563"/>
                <a:gd name="T89" fmla="*/ 13 h 364"/>
                <a:gd name="T90" fmla="*/ 409 w 563"/>
                <a:gd name="T91" fmla="*/ 13 h 364"/>
                <a:gd name="T92" fmla="*/ 364 w 563"/>
                <a:gd name="T93" fmla="*/ 16 h 364"/>
                <a:gd name="T94" fmla="*/ 320 w 563"/>
                <a:gd name="T95" fmla="*/ 16 h 364"/>
                <a:gd name="T96" fmla="*/ 283 w 563"/>
                <a:gd name="T97" fmla="*/ 13 h 364"/>
                <a:gd name="T98" fmla="*/ 248 w 563"/>
                <a:gd name="T99" fmla="*/ 8 h 364"/>
                <a:gd name="T100" fmla="*/ 213 w 563"/>
                <a:gd name="T101" fmla="*/ 2 h 364"/>
                <a:gd name="T102" fmla="*/ 186 w 563"/>
                <a:gd name="T103" fmla="*/ 0 h 364"/>
                <a:gd name="T104" fmla="*/ 175 w 563"/>
                <a:gd name="T105" fmla="*/ 0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3"/>
                <a:gd name="T160" fmla="*/ 0 h 364"/>
                <a:gd name="T161" fmla="*/ 563 w 56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3" h="364">
                  <a:moveTo>
                    <a:pt x="175" y="0"/>
                  </a:moveTo>
                  <a:lnTo>
                    <a:pt x="148" y="5"/>
                  </a:lnTo>
                  <a:lnTo>
                    <a:pt x="132" y="8"/>
                  </a:lnTo>
                  <a:lnTo>
                    <a:pt x="119" y="10"/>
                  </a:lnTo>
                  <a:lnTo>
                    <a:pt x="108" y="16"/>
                  </a:lnTo>
                  <a:lnTo>
                    <a:pt x="94" y="21"/>
                  </a:lnTo>
                  <a:lnTo>
                    <a:pt x="81" y="29"/>
                  </a:lnTo>
                  <a:lnTo>
                    <a:pt x="70" y="37"/>
                  </a:lnTo>
                  <a:lnTo>
                    <a:pt x="59" y="48"/>
                  </a:lnTo>
                  <a:lnTo>
                    <a:pt x="46" y="61"/>
                  </a:lnTo>
                  <a:lnTo>
                    <a:pt x="35" y="75"/>
                  </a:lnTo>
                  <a:lnTo>
                    <a:pt x="24" y="91"/>
                  </a:lnTo>
                  <a:lnTo>
                    <a:pt x="14" y="104"/>
                  </a:lnTo>
                  <a:lnTo>
                    <a:pt x="8" y="120"/>
                  </a:lnTo>
                  <a:lnTo>
                    <a:pt x="3" y="128"/>
                  </a:lnTo>
                  <a:lnTo>
                    <a:pt x="3" y="136"/>
                  </a:lnTo>
                  <a:lnTo>
                    <a:pt x="0" y="142"/>
                  </a:lnTo>
                  <a:lnTo>
                    <a:pt x="0" y="150"/>
                  </a:lnTo>
                  <a:lnTo>
                    <a:pt x="0" y="158"/>
                  </a:lnTo>
                  <a:lnTo>
                    <a:pt x="0" y="166"/>
                  </a:lnTo>
                  <a:lnTo>
                    <a:pt x="3" y="182"/>
                  </a:lnTo>
                  <a:lnTo>
                    <a:pt x="8" y="195"/>
                  </a:lnTo>
                  <a:lnTo>
                    <a:pt x="16" y="212"/>
                  </a:lnTo>
                  <a:lnTo>
                    <a:pt x="27" y="228"/>
                  </a:lnTo>
                  <a:lnTo>
                    <a:pt x="35" y="244"/>
                  </a:lnTo>
                  <a:lnTo>
                    <a:pt x="49" y="257"/>
                  </a:lnTo>
                  <a:lnTo>
                    <a:pt x="59" y="271"/>
                  </a:lnTo>
                  <a:lnTo>
                    <a:pt x="70" y="284"/>
                  </a:lnTo>
                  <a:lnTo>
                    <a:pt x="81" y="295"/>
                  </a:lnTo>
                  <a:lnTo>
                    <a:pt x="92" y="305"/>
                  </a:lnTo>
                  <a:lnTo>
                    <a:pt x="103" y="319"/>
                  </a:lnTo>
                  <a:lnTo>
                    <a:pt x="111" y="321"/>
                  </a:lnTo>
                  <a:lnTo>
                    <a:pt x="119" y="327"/>
                  </a:lnTo>
                  <a:lnTo>
                    <a:pt x="127" y="332"/>
                  </a:lnTo>
                  <a:lnTo>
                    <a:pt x="135" y="335"/>
                  </a:lnTo>
                  <a:lnTo>
                    <a:pt x="146" y="340"/>
                  </a:lnTo>
                  <a:lnTo>
                    <a:pt x="156" y="343"/>
                  </a:lnTo>
                  <a:lnTo>
                    <a:pt x="170" y="346"/>
                  </a:lnTo>
                  <a:lnTo>
                    <a:pt x="183" y="348"/>
                  </a:lnTo>
                  <a:lnTo>
                    <a:pt x="191" y="348"/>
                  </a:lnTo>
                  <a:lnTo>
                    <a:pt x="199" y="351"/>
                  </a:lnTo>
                  <a:lnTo>
                    <a:pt x="218" y="354"/>
                  </a:lnTo>
                  <a:lnTo>
                    <a:pt x="240" y="356"/>
                  </a:lnTo>
                  <a:lnTo>
                    <a:pt x="261" y="356"/>
                  </a:lnTo>
                  <a:lnTo>
                    <a:pt x="285" y="359"/>
                  </a:lnTo>
                  <a:lnTo>
                    <a:pt x="310" y="362"/>
                  </a:lnTo>
                  <a:lnTo>
                    <a:pt x="334" y="362"/>
                  </a:lnTo>
                  <a:lnTo>
                    <a:pt x="361" y="364"/>
                  </a:lnTo>
                  <a:lnTo>
                    <a:pt x="385" y="364"/>
                  </a:lnTo>
                  <a:lnTo>
                    <a:pt x="409" y="362"/>
                  </a:lnTo>
                  <a:lnTo>
                    <a:pt x="433" y="362"/>
                  </a:lnTo>
                  <a:lnTo>
                    <a:pt x="458" y="359"/>
                  </a:lnTo>
                  <a:lnTo>
                    <a:pt x="477" y="354"/>
                  </a:lnTo>
                  <a:lnTo>
                    <a:pt x="495" y="348"/>
                  </a:lnTo>
                  <a:lnTo>
                    <a:pt x="503" y="346"/>
                  </a:lnTo>
                  <a:lnTo>
                    <a:pt x="511" y="340"/>
                  </a:lnTo>
                  <a:lnTo>
                    <a:pt x="520" y="338"/>
                  </a:lnTo>
                  <a:lnTo>
                    <a:pt x="525" y="332"/>
                  </a:lnTo>
                  <a:lnTo>
                    <a:pt x="530" y="327"/>
                  </a:lnTo>
                  <a:lnTo>
                    <a:pt x="536" y="321"/>
                  </a:lnTo>
                  <a:lnTo>
                    <a:pt x="544" y="308"/>
                  </a:lnTo>
                  <a:lnTo>
                    <a:pt x="549" y="295"/>
                  </a:lnTo>
                  <a:lnTo>
                    <a:pt x="555" y="276"/>
                  </a:lnTo>
                  <a:lnTo>
                    <a:pt x="557" y="257"/>
                  </a:lnTo>
                  <a:lnTo>
                    <a:pt x="560" y="238"/>
                  </a:lnTo>
                  <a:lnTo>
                    <a:pt x="563" y="217"/>
                  </a:lnTo>
                  <a:lnTo>
                    <a:pt x="563" y="195"/>
                  </a:lnTo>
                  <a:lnTo>
                    <a:pt x="563" y="174"/>
                  </a:lnTo>
                  <a:lnTo>
                    <a:pt x="560" y="155"/>
                  </a:lnTo>
                  <a:lnTo>
                    <a:pt x="557" y="134"/>
                  </a:lnTo>
                  <a:lnTo>
                    <a:pt x="557" y="115"/>
                  </a:lnTo>
                  <a:lnTo>
                    <a:pt x="555" y="96"/>
                  </a:lnTo>
                  <a:lnTo>
                    <a:pt x="552" y="80"/>
                  </a:lnTo>
                  <a:lnTo>
                    <a:pt x="549" y="67"/>
                  </a:lnTo>
                  <a:lnTo>
                    <a:pt x="546" y="61"/>
                  </a:lnTo>
                  <a:lnTo>
                    <a:pt x="546" y="56"/>
                  </a:lnTo>
                  <a:lnTo>
                    <a:pt x="544" y="48"/>
                  </a:lnTo>
                  <a:lnTo>
                    <a:pt x="541" y="40"/>
                  </a:lnTo>
                  <a:lnTo>
                    <a:pt x="538" y="32"/>
                  </a:lnTo>
                  <a:lnTo>
                    <a:pt x="536" y="29"/>
                  </a:lnTo>
                  <a:lnTo>
                    <a:pt x="533" y="24"/>
                  </a:lnTo>
                  <a:lnTo>
                    <a:pt x="528" y="21"/>
                  </a:lnTo>
                  <a:lnTo>
                    <a:pt x="522" y="18"/>
                  </a:lnTo>
                  <a:lnTo>
                    <a:pt x="520" y="18"/>
                  </a:lnTo>
                  <a:lnTo>
                    <a:pt x="506" y="16"/>
                  </a:lnTo>
                  <a:lnTo>
                    <a:pt x="495" y="16"/>
                  </a:lnTo>
                  <a:lnTo>
                    <a:pt x="479" y="16"/>
                  </a:lnTo>
                  <a:lnTo>
                    <a:pt x="466" y="16"/>
                  </a:lnTo>
                  <a:lnTo>
                    <a:pt x="458" y="16"/>
                  </a:lnTo>
                  <a:lnTo>
                    <a:pt x="450" y="13"/>
                  </a:lnTo>
                  <a:lnTo>
                    <a:pt x="431" y="13"/>
                  </a:lnTo>
                  <a:lnTo>
                    <a:pt x="409" y="13"/>
                  </a:lnTo>
                  <a:lnTo>
                    <a:pt x="388" y="13"/>
                  </a:lnTo>
                  <a:lnTo>
                    <a:pt x="364" y="16"/>
                  </a:lnTo>
                  <a:lnTo>
                    <a:pt x="342" y="16"/>
                  </a:lnTo>
                  <a:lnTo>
                    <a:pt x="320" y="16"/>
                  </a:lnTo>
                  <a:lnTo>
                    <a:pt x="302" y="16"/>
                  </a:lnTo>
                  <a:lnTo>
                    <a:pt x="283" y="13"/>
                  </a:lnTo>
                  <a:lnTo>
                    <a:pt x="264" y="13"/>
                  </a:lnTo>
                  <a:lnTo>
                    <a:pt x="248" y="8"/>
                  </a:lnTo>
                  <a:lnTo>
                    <a:pt x="229" y="5"/>
                  </a:lnTo>
                  <a:lnTo>
                    <a:pt x="213" y="2"/>
                  </a:lnTo>
                  <a:lnTo>
                    <a:pt x="199" y="0"/>
                  </a:lnTo>
                  <a:lnTo>
                    <a:pt x="186" y="0"/>
                  </a:lnTo>
                  <a:lnTo>
                    <a:pt x="181" y="0"/>
                  </a:lnTo>
                  <a:lnTo>
                    <a:pt x="175" y="0"/>
                  </a:lnTo>
                  <a:close/>
                </a:path>
              </a:pathLst>
            </a:custGeom>
            <a:solidFill>
              <a:srgbClr val="33CCFF"/>
            </a:solidFill>
            <a:ln>
              <a:noFill/>
            </a:ln>
          </p:spPr>
          <p:txBody>
            <a:bodyPr/>
            <a:lstStyle/>
            <a:p>
              <a:endParaRPr lang="en-US"/>
            </a:p>
          </p:txBody>
        </p:sp>
        <p:sp>
          <p:nvSpPr>
            <p:cNvPr id="185354" name="Freeform 8"/>
            <p:cNvSpPr/>
            <p:nvPr/>
          </p:nvSpPr>
          <p:spPr bwMode="auto">
            <a:xfrm>
              <a:off x="951" y="1290"/>
              <a:ext cx="562" cy="365"/>
            </a:xfrm>
            <a:custGeom>
              <a:avLst/>
              <a:gdLst>
                <a:gd name="T0" fmla="*/ 148 w 562"/>
                <a:gd name="T1" fmla="*/ 5 h 365"/>
                <a:gd name="T2" fmla="*/ 121 w 562"/>
                <a:gd name="T3" fmla="*/ 11 h 365"/>
                <a:gd name="T4" fmla="*/ 94 w 562"/>
                <a:gd name="T5" fmla="*/ 21 h 365"/>
                <a:gd name="T6" fmla="*/ 70 w 562"/>
                <a:gd name="T7" fmla="*/ 37 h 365"/>
                <a:gd name="T8" fmla="*/ 46 w 562"/>
                <a:gd name="T9" fmla="*/ 62 h 365"/>
                <a:gd name="T10" fmla="*/ 24 w 562"/>
                <a:gd name="T11" fmla="*/ 91 h 365"/>
                <a:gd name="T12" fmla="*/ 8 w 562"/>
                <a:gd name="T13" fmla="*/ 121 h 365"/>
                <a:gd name="T14" fmla="*/ 3 w 562"/>
                <a:gd name="T15" fmla="*/ 137 h 365"/>
                <a:gd name="T16" fmla="*/ 0 w 562"/>
                <a:gd name="T17" fmla="*/ 150 h 365"/>
                <a:gd name="T18" fmla="*/ 0 w 562"/>
                <a:gd name="T19" fmla="*/ 166 h 365"/>
                <a:gd name="T20" fmla="*/ 3 w 562"/>
                <a:gd name="T21" fmla="*/ 182 h 365"/>
                <a:gd name="T22" fmla="*/ 19 w 562"/>
                <a:gd name="T23" fmla="*/ 212 h 365"/>
                <a:gd name="T24" fmla="*/ 38 w 562"/>
                <a:gd name="T25" fmla="*/ 244 h 365"/>
                <a:gd name="T26" fmla="*/ 59 w 562"/>
                <a:gd name="T27" fmla="*/ 271 h 365"/>
                <a:gd name="T28" fmla="*/ 81 w 562"/>
                <a:gd name="T29" fmla="*/ 295 h 365"/>
                <a:gd name="T30" fmla="*/ 105 w 562"/>
                <a:gd name="T31" fmla="*/ 319 h 365"/>
                <a:gd name="T32" fmla="*/ 119 w 562"/>
                <a:gd name="T33" fmla="*/ 327 h 365"/>
                <a:gd name="T34" fmla="*/ 137 w 562"/>
                <a:gd name="T35" fmla="*/ 335 h 365"/>
                <a:gd name="T36" fmla="*/ 156 w 562"/>
                <a:gd name="T37" fmla="*/ 343 h 365"/>
                <a:gd name="T38" fmla="*/ 183 w 562"/>
                <a:gd name="T39" fmla="*/ 349 h 365"/>
                <a:gd name="T40" fmla="*/ 199 w 562"/>
                <a:gd name="T41" fmla="*/ 351 h 365"/>
                <a:gd name="T42" fmla="*/ 240 w 562"/>
                <a:gd name="T43" fmla="*/ 357 h 365"/>
                <a:gd name="T44" fmla="*/ 285 w 562"/>
                <a:gd name="T45" fmla="*/ 359 h 365"/>
                <a:gd name="T46" fmla="*/ 334 w 562"/>
                <a:gd name="T47" fmla="*/ 362 h 365"/>
                <a:gd name="T48" fmla="*/ 385 w 562"/>
                <a:gd name="T49" fmla="*/ 365 h 365"/>
                <a:gd name="T50" fmla="*/ 433 w 562"/>
                <a:gd name="T51" fmla="*/ 362 h 365"/>
                <a:gd name="T52" fmla="*/ 476 w 562"/>
                <a:gd name="T53" fmla="*/ 354 h 365"/>
                <a:gd name="T54" fmla="*/ 503 w 562"/>
                <a:gd name="T55" fmla="*/ 346 h 365"/>
                <a:gd name="T56" fmla="*/ 519 w 562"/>
                <a:gd name="T57" fmla="*/ 338 h 365"/>
                <a:gd name="T58" fmla="*/ 530 w 562"/>
                <a:gd name="T59" fmla="*/ 327 h 365"/>
                <a:gd name="T60" fmla="*/ 544 w 562"/>
                <a:gd name="T61" fmla="*/ 308 h 365"/>
                <a:gd name="T62" fmla="*/ 554 w 562"/>
                <a:gd name="T63" fmla="*/ 276 h 365"/>
                <a:gd name="T64" fmla="*/ 560 w 562"/>
                <a:gd name="T65" fmla="*/ 239 h 365"/>
                <a:gd name="T66" fmla="*/ 562 w 562"/>
                <a:gd name="T67" fmla="*/ 196 h 365"/>
                <a:gd name="T68" fmla="*/ 560 w 562"/>
                <a:gd name="T69" fmla="*/ 155 h 365"/>
                <a:gd name="T70" fmla="*/ 557 w 562"/>
                <a:gd name="T71" fmla="*/ 115 h 365"/>
                <a:gd name="T72" fmla="*/ 552 w 562"/>
                <a:gd name="T73" fmla="*/ 80 h 365"/>
                <a:gd name="T74" fmla="*/ 549 w 562"/>
                <a:gd name="T75" fmla="*/ 62 h 365"/>
                <a:gd name="T76" fmla="*/ 546 w 562"/>
                <a:gd name="T77" fmla="*/ 48 h 365"/>
                <a:gd name="T78" fmla="*/ 541 w 562"/>
                <a:gd name="T79" fmla="*/ 32 h 365"/>
                <a:gd name="T80" fmla="*/ 533 w 562"/>
                <a:gd name="T81" fmla="*/ 24 h 365"/>
                <a:gd name="T82" fmla="*/ 525 w 562"/>
                <a:gd name="T83" fmla="*/ 19 h 365"/>
                <a:gd name="T84" fmla="*/ 509 w 562"/>
                <a:gd name="T85" fmla="*/ 16 h 365"/>
                <a:gd name="T86" fmla="*/ 482 w 562"/>
                <a:gd name="T87" fmla="*/ 16 h 365"/>
                <a:gd name="T88" fmla="*/ 458 w 562"/>
                <a:gd name="T89" fmla="*/ 16 h 365"/>
                <a:gd name="T90" fmla="*/ 431 w 562"/>
                <a:gd name="T91" fmla="*/ 13 h 365"/>
                <a:gd name="T92" fmla="*/ 388 w 562"/>
                <a:gd name="T93" fmla="*/ 13 h 365"/>
                <a:gd name="T94" fmla="*/ 342 w 562"/>
                <a:gd name="T95" fmla="*/ 16 h 365"/>
                <a:gd name="T96" fmla="*/ 301 w 562"/>
                <a:gd name="T97" fmla="*/ 16 h 365"/>
                <a:gd name="T98" fmla="*/ 264 w 562"/>
                <a:gd name="T99" fmla="*/ 13 h 365"/>
                <a:gd name="T100" fmla="*/ 229 w 562"/>
                <a:gd name="T101" fmla="*/ 5 h 365"/>
                <a:gd name="T102" fmla="*/ 199 w 562"/>
                <a:gd name="T103" fmla="*/ 0 h 365"/>
                <a:gd name="T104" fmla="*/ 183 w 562"/>
                <a:gd name="T105" fmla="*/ 0 h 3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2"/>
                <a:gd name="T160" fmla="*/ 0 h 365"/>
                <a:gd name="T161" fmla="*/ 562 w 562"/>
                <a:gd name="T162" fmla="*/ 365 h 3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2" h="365">
                  <a:moveTo>
                    <a:pt x="178" y="0"/>
                  </a:moveTo>
                  <a:lnTo>
                    <a:pt x="148" y="5"/>
                  </a:lnTo>
                  <a:lnTo>
                    <a:pt x="135" y="8"/>
                  </a:lnTo>
                  <a:lnTo>
                    <a:pt x="121" y="11"/>
                  </a:lnTo>
                  <a:lnTo>
                    <a:pt x="108" y="16"/>
                  </a:lnTo>
                  <a:lnTo>
                    <a:pt x="94" y="21"/>
                  </a:lnTo>
                  <a:lnTo>
                    <a:pt x="81" y="29"/>
                  </a:lnTo>
                  <a:lnTo>
                    <a:pt x="70" y="37"/>
                  </a:lnTo>
                  <a:lnTo>
                    <a:pt x="59" y="48"/>
                  </a:lnTo>
                  <a:lnTo>
                    <a:pt x="46" y="62"/>
                  </a:lnTo>
                  <a:lnTo>
                    <a:pt x="35" y="75"/>
                  </a:lnTo>
                  <a:lnTo>
                    <a:pt x="24" y="91"/>
                  </a:lnTo>
                  <a:lnTo>
                    <a:pt x="16" y="104"/>
                  </a:lnTo>
                  <a:lnTo>
                    <a:pt x="8" y="121"/>
                  </a:lnTo>
                  <a:lnTo>
                    <a:pt x="6" y="129"/>
                  </a:lnTo>
                  <a:lnTo>
                    <a:pt x="3" y="137"/>
                  </a:lnTo>
                  <a:lnTo>
                    <a:pt x="0" y="142"/>
                  </a:lnTo>
                  <a:lnTo>
                    <a:pt x="0" y="150"/>
                  </a:lnTo>
                  <a:lnTo>
                    <a:pt x="0" y="158"/>
                  </a:lnTo>
                  <a:lnTo>
                    <a:pt x="0" y="166"/>
                  </a:lnTo>
                  <a:lnTo>
                    <a:pt x="3" y="174"/>
                  </a:lnTo>
                  <a:lnTo>
                    <a:pt x="3" y="182"/>
                  </a:lnTo>
                  <a:lnTo>
                    <a:pt x="11" y="196"/>
                  </a:lnTo>
                  <a:lnTo>
                    <a:pt x="19" y="212"/>
                  </a:lnTo>
                  <a:lnTo>
                    <a:pt x="27" y="228"/>
                  </a:lnTo>
                  <a:lnTo>
                    <a:pt x="38" y="244"/>
                  </a:lnTo>
                  <a:lnTo>
                    <a:pt x="49" y="257"/>
                  </a:lnTo>
                  <a:lnTo>
                    <a:pt x="59" y="271"/>
                  </a:lnTo>
                  <a:lnTo>
                    <a:pt x="70" y="284"/>
                  </a:lnTo>
                  <a:lnTo>
                    <a:pt x="81" y="295"/>
                  </a:lnTo>
                  <a:lnTo>
                    <a:pt x="92" y="306"/>
                  </a:lnTo>
                  <a:lnTo>
                    <a:pt x="105" y="319"/>
                  </a:lnTo>
                  <a:lnTo>
                    <a:pt x="110" y="322"/>
                  </a:lnTo>
                  <a:lnTo>
                    <a:pt x="119" y="327"/>
                  </a:lnTo>
                  <a:lnTo>
                    <a:pt x="127" y="332"/>
                  </a:lnTo>
                  <a:lnTo>
                    <a:pt x="137" y="335"/>
                  </a:lnTo>
                  <a:lnTo>
                    <a:pt x="145" y="340"/>
                  </a:lnTo>
                  <a:lnTo>
                    <a:pt x="156" y="343"/>
                  </a:lnTo>
                  <a:lnTo>
                    <a:pt x="170" y="346"/>
                  </a:lnTo>
                  <a:lnTo>
                    <a:pt x="183" y="349"/>
                  </a:lnTo>
                  <a:lnTo>
                    <a:pt x="191" y="349"/>
                  </a:lnTo>
                  <a:lnTo>
                    <a:pt x="199" y="351"/>
                  </a:lnTo>
                  <a:lnTo>
                    <a:pt x="218" y="354"/>
                  </a:lnTo>
                  <a:lnTo>
                    <a:pt x="240" y="357"/>
                  </a:lnTo>
                  <a:lnTo>
                    <a:pt x="261" y="357"/>
                  </a:lnTo>
                  <a:lnTo>
                    <a:pt x="285" y="359"/>
                  </a:lnTo>
                  <a:lnTo>
                    <a:pt x="310" y="362"/>
                  </a:lnTo>
                  <a:lnTo>
                    <a:pt x="334" y="362"/>
                  </a:lnTo>
                  <a:lnTo>
                    <a:pt x="361" y="365"/>
                  </a:lnTo>
                  <a:lnTo>
                    <a:pt x="385" y="365"/>
                  </a:lnTo>
                  <a:lnTo>
                    <a:pt x="409" y="362"/>
                  </a:lnTo>
                  <a:lnTo>
                    <a:pt x="433" y="362"/>
                  </a:lnTo>
                  <a:lnTo>
                    <a:pt x="458" y="359"/>
                  </a:lnTo>
                  <a:lnTo>
                    <a:pt x="476" y="354"/>
                  </a:lnTo>
                  <a:lnTo>
                    <a:pt x="495" y="349"/>
                  </a:lnTo>
                  <a:lnTo>
                    <a:pt x="503" y="346"/>
                  </a:lnTo>
                  <a:lnTo>
                    <a:pt x="511" y="340"/>
                  </a:lnTo>
                  <a:lnTo>
                    <a:pt x="519" y="338"/>
                  </a:lnTo>
                  <a:lnTo>
                    <a:pt x="525" y="332"/>
                  </a:lnTo>
                  <a:lnTo>
                    <a:pt x="530" y="327"/>
                  </a:lnTo>
                  <a:lnTo>
                    <a:pt x="536" y="322"/>
                  </a:lnTo>
                  <a:lnTo>
                    <a:pt x="544" y="308"/>
                  </a:lnTo>
                  <a:lnTo>
                    <a:pt x="549" y="295"/>
                  </a:lnTo>
                  <a:lnTo>
                    <a:pt x="554" y="276"/>
                  </a:lnTo>
                  <a:lnTo>
                    <a:pt x="557" y="257"/>
                  </a:lnTo>
                  <a:lnTo>
                    <a:pt x="560" y="239"/>
                  </a:lnTo>
                  <a:lnTo>
                    <a:pt x="562" y="217"/>
                  </a:lnTo>
                  <a:lnTo>
                    <a:pt x="562" y="196"/>
                  </a:lnTo>
                  <a:lnTo>
                    <a:pt x="562" y="174"/>
                  </a:lnTo>
                  <a:lnTo>
                    <a:pt x="560" y="155"/>
                  </a:lnTo>
                  <a:lnTo>
                    <a:pt x="560" y="134"/>
                  </a:lnTo>
                  <a:lnTo>
                    <a:pt x="557" y="115"/>
                  </a:lnTo>
                  <a:lnTo>
                    <a:pt x="554" y="96"/>
                  </a:lnTo>
                  <a:lnTo>
                    <a:pt x="552" y="80"/>
                  </a:lnTo>
                  <a:lnTo>
                    <a:pt x="552" y="67"/>
                  </a:lnTo>
                  <a:lnTo>
                    <a:pt x="549" y="62"/>
                  </a:lnTo>
                  <a:lnTo>
                    <a:pt x="549" y="56"/>
                  </a:lnTo>
                  <a:lnTo>
                    <a:pt x="546" y="48"/>
                  </a:lnTo>
                  <a:lnTo>
                    <a:pt x="544" y="40"/>
                  </a:lnTo>
                  <a:lnTo>
                    <a:pt x="541" y="32"/>
                  </a:lnTo>
                  <a:lnTo>
                    <a:pt x="538" y="29"/>
                  </a:lnTo>
                  <a:lnTo>
                    <a:pt x="533" y="24"/>
                  </a:lnTo>
                  <a:lnTo>
                    <a:pt x="530" y="21"/>
                  </a:lnTo>
                  <a:lnTo>
                    <a:pt x="525" y="19"/>
                  </a:lnTo>
                  <a:lnTo>
                    <a:pt x="519" y="19"/>
                  </a:lnTo>
                  <a:lnTo>
                    <a:pt x="509" y="16"/>
                  </a:lnTo>
                  <a:lnTo>
                    <a:pt x="495" y="16"/>
                  </a:lnTo>
                  <a:lnTo>
                    <a:pt x="482" y="16"/>
                  </a:lnTo>
                  <a:lnTo>
                    <a:pt x="466" y="16"/>
                  </a:lnTo>
                  <a:lnTo>
                    <a:pt x="458" y="16"/>
                  </a:lnTo>
                  <a:lnTo>
                    <a:pt x="449" y="13"/>
                  </a:lnTo>
                  <a:lnTo>
                    <a:pt x="431" y="13"/>
                  </a:lnTo>
                  <a:lnTo>
                    <a:pt x="409" y="13"/>
                  </a:lnTo>
                  <a:lnTo>
                    <a:pt x="388" y="13"/>
                  </a:lnTo>
                  <a:lnTo>
                    <a:pt x="363" y="16"/>
                  </a:lnTo>
                  <a:lnTo>
                    <a:pt x="342" y="16"/>
                  </a:lnTo>
                  <a:lnTo>
                    <a:pt x="320" y="16"/>
                  </a:lnTo>
                  <a:lnTo>
                    <a:pt x="301" y="16"/>
                  </a:lnTo>
                  <a:lnTo>
                    <a:pt x="283" y="13"/>
                  </a:lnTo>
                  <a:lnTo>
                    <a:pt x="264" y="13"/>
                  </a:lnTo>
                  <a:lnTo>
                    <a:pt x="248" y="8"/>
                  </a:lnTo>
                  <a:lnTo>
                    <a:pt x="229" y="5"/>
                  </a:lnTo>
                  <a:lnTo>
                    <a:pt x="213" y="3"/>
                  </a:lnTo>
                  <a:lnTo>
                    <a:pt x="199" y="0"/>
                  </a:lnTo>
                  <a:lnTo>
                    <a:pt x="188" y="0"/>
                  </a:lnTo>
                  <a:lnTo>
                    <a:pt x="183" y="0"/>
                  </a:lnTo>
                  <a:lnTo>
                    <a:pt x="178" y="0"/>
                  </a:lnTo>
                  <a:close/>
                </a:path>
              </a:pathLst>
            </a:custGeom>
            <a:solidFill>
              <a:srgbClr val="33CCFF"/>
            </a:solidFill>
            <a:ln>
              <a:noFill/>
            </a:ln>
          </p:spPr>
          <p:txBody>
            <a:bodyPr/>
            <a:lstStyle/>
            <a:p>
              <a:endParaRPr lang="en-US"/>
            </a:p>
          </p:txBody>
        </p:sp>
        <p:sp>
          <p:nvSpPr>
            <p:cNvPr id="185355" name="Rectangle 9"/>
            <p:cNvSpPr>
              <a:spLocks noChangeArrowheads="1"/>
            </p:cNvSpPr>
            <p:nvPr/>
          </p:nvSpPr>
          <p:spPr bwMode="auto">
            <a:xfrm flipH="1">
              <a:off x="1184" y="1385"/>
              <a:ext cx="74" cy="173"/>
            </a:xfrm>
            <a:prstGeom prst="rect">
              <a:avLst/>
            </a:prstGeom>
            <a:noFill/>
            <a:ln>
              <a:noFill/>
            </a:ln>
          </p:spPr>
          <p:txBody>
            <a:bodyPr lIns="0" tIns="0" rIns="0" bIns="0">
              <a:spAutoFit/>
            </a:bodyPr>
            <a:lstStyle/>
            <a:p>
              <a:r>
                <a:rPr lang="en-US" b="1">
                  <a:solidFill>
                    <a:schemeClr val="bg1"/>
                  </a:solidFill>
                </a:rPr>
                <a:t>A</a:t>
              </a:r>
            </a:p>
          </p:txBody>
        </p:sp>
        <p:sp>
          <p:nvSpPr>
            <p:cNvPr id="185356" name="Rectangle 10"/>
            <p:cNvSpPr>
              <a:spLocks noChangeArrowheads="1"/>
            </p:cNvSpPr>
            <p:nvPr/>
          </p:nvSpPr>
          <p:spPr bwMode="auto">
            <a:xfrm>
              <a:off x="1867" y="1057"/>
              <a:ext cx="96" cy="173"/>
            </a:xfrm>
            <a:prstGeom prst="rect">
              <a:avLst/>
            </a:prstGeom>
            <a:noFill/>
            <a:ln>
              <a:noFill/>
            </a:ln>
          </p:spPr>
          <p:txBody>
            <a:bodyPr wrap="none" lIns="0" tIns="0" rIns="0" bIns="0">
              <a:spAutoFit/>
            </a:bodyPr>
            <a:lstStyle/>
            <a:p>
              <a:r>
                <a:rPr lang="en-US">
                  <a:solidFill>
                    <a:schemeClr val="bg1"/>
                  </a:solidFill>
                </a:rPr>
                <a:t>B</a:t>
              </a:r>
            </a:p>
          </p:txBody>
        </p:sp>
        <p:sp>
          <p:nvSpPr>
            <p:cNvPr id="185357" name="Freeform 11"/>
            <p:cNvSpPr/>
            <p:nvPr/>
          </p:nvSpPr>
          <p:spPr bwMode="auto">
            <a:xfrm>
              <a:off x="1640" y="1582"/>
              <a:ext cx="565" cy="362"/>
            </a:xfrm>
            <a:custGeom>
              <a:avLst/>
              <a:gdLst>
                <a:gd name="T0" fmla="*/ 164 w 565"/>
                <a:gd name="T1" fmla="*/ 0 h 362"/>
                <a:gd name="T2" fmla="*/ 134 w 565"/>
                <a:gd name="T3" fmla="*/ 6 h 362"/>
                <a:gd name="T4" fmla="*/ 108 w 565"/>
                <a:gd name="T5" fmla="*/ 14 h 362"/>
                <a:gd name="T6" fmla="*/ 83 w 565"/>
                <a:gd name="T7" fmla="*/ 30 h 362"/>
                <a:gd name="T8" fmla="*/ 62 w 565"/>
                <a:gd name="T9" fmla="*/ 48 h 362"/>
                <a:gd name="T10" fmla="*/ 38 w 565"/>
                <a:gd name="T11" fmla="*/ 73 h 362"/>
                <a:gd name="T12" fmla="*/ 16 w 565"/>
                <a:gd name="T13" fmla="*/ 105 h 362"/>
                <a:gd name="T14" fmla="*/ 5 w 565"/>
                <a:gd name="T15" fmla="*/ 126 h 362"/>
                <a:gd name="T16" fmla="*/ 0 w 565"/>
                <a:gd name="T17" fmla="*/ 142 h 362"/>
                <a:gd name="T18" fmla="*/ 0 w 565"/>
                <a:gd name="T19" fmla="*/ 158 h 362"/>
                <a:gd name="T20" fmla="*/ 5 w 565"/>
                <a:gd name="T21" fmla="*/ 180 h 362"/>
                <a:gd name="T22" fmla="*/ 19 w 565"/>
                <a:gd name="T23" fmla="*/ 212 h 362"/>
                <a:gd name="T24" fmla="*/ 38 w 565"/>
                <a:gd name="T25" fmla="*/ 242 h 362"/>
                <a:gd name="T26" fmla="*/ 59 w 565"/>
                <a:gd name="T27" fmla="*/ 268 h 362"/>
                <a:gd name="T28" fmla="*/ 81 w 565"/>
                <a:gd name="T29" fmla="*/ 295 h 362"/>
                <a:gd name="T30" fmla="*/ 105 w 565"/>
                <a:gd name="T31" fmla="*/ 317 h 362"/>
                <a:gd name="T32" fmla="*/ 121 w 565"/>
                <a:gd name="T33" fmla="*/ 327 h 362"/>
                <a:gd name="T34" fmla="*/ 137 w 565"/>
                <a:gd name="T35" fmla="*/ 335 h 362"/>
                <a:gd name="T36" fmla="*/ 159 w 565"/>
                <a:gd name="T37" fmla="*/ 343 h 362"/>
                <a:gd name="T38" fmla="*/ 186 w 565"/>
                <a:gd name="T39" fmla="*/ 349 h 362"/>
                <a:gd name="T40" fmla="*/ 202 w 565"/>
                <a:gd name="T41" fmla="*/ 351 h 362"/>
                <a:gd name="T42" fmla="*/ 239 w 565"/>
                <a:gd name="T43" fmla="*/ 354 h 362"/>
                <a:gd name="T44" fmla="*/ 285 w 565"/>
                <a:gd name="T45" fmla="*/ 360 h 362"/>
                <a:gd name="T46" fmla="*/ 334 w 565"/>
                <a:gd name="T47" fmla="*/ 362 h 362"/>
                <a:gd name="T48" fmla="*/ 385 w 565"/>
                <a:gd name="T49" fmla="*/ 362 h 362"/>
                <a:gd name="T50" fmla="*/ 433 w 565"/>
                <a:gd name="T51" fmla="*/ 360 h 362"/>
                <a:gd name="T52" fmla="*/ 476 w 565"/>
                <a:gd name="T53" fmla="*/ 354 h 362"/>
                <a:gd name="T54" fmla="*/ 503 w 565"/>
                <a:gd name="T55" fmla="*/ 343 h 362"/>
                <a:gd name="T56" fmla="*/ 519 w 565"/>
                <a:gd name="T57" fmla="*/ 338 h 362"/>
                <a:gd name="T58" fmla="*/ 530 w 565"/>
                <a:gd name="T59" fmla="*/ 327 h 362"/>
                <a:gd name="T60" fmla="*/ 543 w 565"/>
                <a:gd name="T61" fmla="*/ 309 h 362"/>
                <a:gd name="T62" fmla="*/ 557 w 565"/>
                <a:gd name="T63" fmla="*/ 276 h 362"/>
                <a:gd name="T64" fmla="*/ 562 w 565"/>
                <a:gd name="T65" fmla="*/ 236 h 362"/>
                <a:gd name="T66" fmla="*/ 565 w 565"/>
                <a:gd name="T67" fmla="*/ 196 h 362"/>
                <a:gd name="T68" fmla="*/ 562 w 565"/>
                <a:gd name="T69" fmla="*/ 153 h 362"/>
                <a:gd name="T70" fmla="*/ 560 w 565"/>
                <a:gd name="T71" fmla="*/ 113 h 362"/>
                <a:gd name="T72" fmla="*/ 554 w 565"/>
                <a:gd name="T73" fmla="*/ 78 h 362"/>
                <a:gd name="T74" fmla="*/ 549 w 565"/>
                <a:gd name="T75" fmla="*/ 59 h 362"/>
                <a:gd name="T76" fmla="*/ 546 w 565"/>
                <a:gd name="T77" fmla="*/ 46 h 362"/>
                <a:gd name="T78" fmla="*/ 541 w 565"/>
                <a:gd name="T79" fmla="*/ 32 h 362"/>
                <a:gd name="T80" fmla="*/ 533 w 565"/>
                <a:gd name="T81" fmla="*/ 24 h 362"/>
                <a:gd name="T82" fmla="*/ 525 w 565"/>
                <a:gd name="T83" fmla="*/ 19 h 362"/>
                <a:gd name="T84" fmla="*/ 508 w 565"/>
                <a:gd name="T85" fmla="*/ 16 h 362"/>
                <a:gd name="T86" fmla="*/ 482 w 565"/>
                <a:gd name="T87" fmla="*/ 16 h 362"/>
                <a:gd name="T88" fmla="*/ 460 w 565"/>
                <a:gd name="T89" fmla="*/ 14 h 362"/>
                <a:gd name="T90" fmla="*/ 430 w 565"/>
                <a:gd name="T91" fmla="*/ 11 h 362"/>
                <a:gd name="T92" fmla="*/ 387 w 565"/>
                <a:gd name="T93" fmla="*/ 14 h 362"/>
                <a:gd name="T94" fmla="*/ 342 w 565"/>
                <a:gd name="T95" fmla="*/ 14 h 362"/>
                <a:gd name="T96" fmla="*/ 301 w 565"/>
                <a:gd name="T97" fmla="*/ 14 h 362"/>
                <a:gd name="T98" fmla="*/ 264 w 565"/>
                <a:gd name="T99" fmla="*/ 11 h 362"/>
                <a:gd name="T100" fmla="*/ 229 w 565"/>
                <a:gd name="T101" fmla="*/ 3 h 362"/>
                <a:gd name="T102" fmla="*/ 199 w 565"/>
                <a:gd name="T103" fmla="*/ 0 h 362"/>
                <a:gd name="T104" fmla="*/ 183 w 565"/>
                <a:gd name="T105" fmla="*/ 0 h 3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5"/>
                <a:gd name="T160" fmla="*/ 0 h 362"/>
                <a:gd name="T161" fmla="*/ 565 w 565"/>
                <a:gd name="T162" fmla="*/ 362 h 3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5" h="362">
                  <a:moveTo>
                    <a:pt x="178" y="0"/>
                  </a:moveTo>
                  <a:lnTo>
                    <a:pt x="164" y="0"/>
                  </a:lnTo>
                  <a:lnTo>
                    <a:pt x="148" y="3"/>
                  </a:lnTo>
                  <a:lnTo>
                    <a:pt x="134" y="6"/>
                  </a:lnTo>
                  <a:lnTo>
                    <a:pt x="121" y="11"/>
                  </a:lnTo>
                  <a:lnTo>
                    <a:pt x="108" y="14"/>
                  </a:lnTo>
                  <a:lnTo>
                    <a:pt x="94" y="22"/>
                  </a:lnTo>
                  <a:lnTo>
                    <a:pt x="83" y="30"/>
                  </a:lnTo>
                  <a:lnTo>
                    <a:pt x="73" y="38"/>
                  </a:lnTo>
                  <a:lnTo>
                    <a:pt x="62" y="48"/>
                  </a:lnTo>
                  <a:lnTo>
                    <a:pt x="48" y="59"/>
                  </a:lnTo>
                  <a:lnTo>
                    <a:pt x="38" y="73"/>
                  </a:lnTo>
                  <a:lnTo>
                    <a:pt x="27" y="89"/>
                  </a:lnTo>
                  <a:lnTo>
                    <a:pt x="16" y="105"/>
                  </a:lnTo>
                  <a:lnTo>
                    <a:pt x="8" y="118"/>
                  </a:lnTo>
                  <a:lnTo>
                    <a:pt x="5" y="126"/>
                  </a:lnTo>
                  <a:lnTo>
                    <a:pt x="3" y="134"/>
                  </a:lnTo>
                  <a:lnTo>
                    <a:pt x="0" y="142"/>
                  </a:lnTo>
                  <a:lnTo>
                    <a:pt x="0" y="150"/>
                  </a:lnTo>
                  <a:lnTo>
                    <a:pt x="0" y="158"/>
                  </a:lnTo>
                  <a:lnTo>
                    <a:pt x="3" y="164"/>
                  </a:lnTo>
                  <a:lnTo>
                    <a:pt x="5" y="180"/>
                  </a:lnTo>
                  <a:lnTo>
                    <a:pt x="11" y="196"/>
                  </a:lnTo>
                  <a:lnTo>
                    <a:pt x="19" y="212"/>
                  </a:lnTo>
                  <a:lnTo>
                    <a:pt x="27" y="228"/>
                  </a:lnTo>
                  <a:lnTo>
                    <a:pt x="38" y="242"/>
                  </a:lnTo>
                  <a:lnTo>
                    <a:pt x="48" y="255"/>
                  </a:lnTo>
                  <a:lnTo>
                    <a:pt x="59" y="268"/>
                  </a:lnTo>
                  <a:lnTo>
                    <a:pt x="70" y="282"/>
                  </a:lnTo>
                  <a:lnTo>
                    <a:pt x="81" y="295"/>
                  </a:lnTo>
                  <a:lnTo>
                    <a:pt x="94" y="306"/>
                  </a:lnTo>
                  <a:lnTo>
                    <a:pt x="105" y="317"/>
                  </a:lnTo>
                  <a:lnTo>
                    <a:pt x="113" y="322"/>
                  </a:lnTo>
                  <a:lnTo>
                    <a:pt x="121" y="327"/>
                  </a:lnTo>
                  <a:lnTo>
                    <a:pt x="129" y="333"/>
                  </a:lnTo>
                  <a:lnTo>
                    <a:pt x="137" y="335"/>
                  </a:lnTo>
                  <a:lnTo>
                    <a:pt x="148" y="341"/>
                  </a:lnTo>
                  <a:lnTo>
                    <a:pt x="159" y="343"/>
                  </a:lnTo>
                  <a:lnTo>
                    <a:pt x="172" y="346"/>
                  </a:lnTo>
                  <a:lnTo>
                    <a:pt x="186" y="349"/>
                  </a:lnTo>
                  <a:lnTo>
                    <a:pt x="194" y="349"/>
                  </a:lnTo>
                  <a:lnTo>
                    <a:pt x="202" y="351"/>
                  </a:lnTo>
                  <a:lnTo>
                    <a:pt x="221" y="354"/>
                  </a:lnTo>
                  <a:lnTo>
                    <a:pt x="239" y="354"/>
                  </a:lnTo>
                  <a:lnTo>
                    <a:pt x="261" y="357"/>
                  </a:lnTo>
                  <a:lnTo>
                    <a:pt x="285" y="360"/>
                  </a:lnTo>
                  <a:lnTo>
                    <a:pt x="309" y="362"/>
                  </a:lnTo>
                  <a:lnTo>
                    <a:pt x="334" y="362"/>
                  </a:lnTo>
                  <a:lnTo>
                    <a:pt x="360" y="362"/>
                  </a:lnTo>
                  <a:lnTo>
                    <a:pt x="385" y="362"/>
                  </a:lnTo>
                  <a:lnTo>
                    <a:pt x="409" y="362"/>
                  </a:lnTo>
                  <a:lnTo>
                    <a:pt x="433" y="360"/>
                  </a:lnTo>
                  <a:lnTo>
                    <a:pt x="457" y="357"/>
                  </a:lnTo>
                  <a:lnTo>
                    <a:pt x="476" y="354"/>
                  </a:lnTo>
                  <a:lnTo>
                    <a:pt x="495" y="349"/>
                  </a:lnTo>
                  <a:lnTo>
                    <a:pt x="503" y="343"/>
                  </a:lnTo>
                  <a:lnTo>
                    <a:pt x="511" y="341"/>
                  </a:lnTo>
                  <a:lnTo>
                    <a:pt x="519" y="338"/>
                  </a:lnTo>
                  <a:lnTo>
                    <a:pt x="525" y="333"/>
                  </a:lnTo>
                  <a:lnTo>
                    <a:pt x="530" y="327"/>
                  </a:lnTo>
                  <a:lnTo>
                    <a:pt x="535" y="322"/>
                  </a:lnTo>
                  <a:lnTo>
                    <a:pt x="543" y="309"/>
                  </a:lnTo>
                  <a:lnTo>
                    <a:pt x="552" y="292"/>
                  </a:lnTo>
                  <a:lnTo>
                    <a:pt x="557" y="276"/>
                  </a:lnTo>
                  <a:lnTo>
                    <a:pt x="560" y="258"/>
                  </a:lnTo>
                  <a:lnTo>
                    <a:pt x="562" y="236"/>
                  </a:lnTo>
                  <a:lnTo>
                    <a:pt x="565" y="217"/>
                  </a:lnTo>
                  <a:lnTo>
                    <a:pt x="565" y="196"/>
                  </a:lnTo>
                  <a:lnTo>
                    <a:pt x="562" y="174"/>
                  </a:lnTo>
                  <a:lnTo>
                    <a:pt x="562" y="153"/>
                  </a:lnTo>
                  <a:lnTo>
                    <a:pt x="560" y="132"/>
                  </a:lnTo>
                  <a:lnTo>
                    <a:pt x="560" y="113"/>
                  </a:lnTo>
                  <a:lnTo>
                    <a:pt x="557" y="97"/>
                  </a:lnTo>
                  <a:lnTo>
                    <a:pt x="554" y="78"/>
                  </a:lnTo>
                  <a:lnTo>
                    <a:pt x="552" y="65"/>
                  </a:lnTo>
                  <a:lnTo>
                    <a:pt x="549" y="59"/>
                  </a:lnTo>
                  <a:lnTo>
                    <a:pt x="549" y="54"/>
                  </a:lnTo>
                  <a:lnTo>
                    <a:pt x="546" y="46"/>
                  </a:lnTo>
                  <a:lnTo>
                    <a:pt x="543" y="38"/>
                  </a:lnTo>
                  <a:lnTo>
                    <a:pt x="541" y="32"/>
                  </a:lnTo>
                  <a:lnTo>
                    <a:pt x="538" y="27"/>
                  </a:lnTo>
                  <a:lnTo>
                    <a:pt x="533" y="24"/>
                  </a:lnTo>
                  <a:lnTo>
                    <a:pt x="530" y="22"/>
                  </a:lnTo>
                  <a:lnTo>
                    <a:pt x="525" y="19"/>
                  </a:lnTo>
                  <a:lnTo>
                    <a:pt x="519" y="19"/>
                  </a:lnTo>
                  <a:lnTo>
                    <a:pt x="508" y="16"/>
                  </a:lnTo>
                  <a:lnTo>
                    <a:pt x="495" y="16"/>
                  </a:lnTo>
                  <a:lnTo>
                    <a:pt x="482" y="16"/>
                  </a:lnTo>
                  <a:lnTo>
                    <a:pt x="468" y="14"/>
                  </a:lnTo>
                  <a:lnTo>
                    <a:pt x="460" y="14"/>
                  </a:lnTo>
                  <a:lnTo>
                    <a:pt x="452" y="11"/>
                  </a:lnTo>
                  <a:lnTo>
                    <a:pt x="430" y="11"/>
                  </a:lnTo>
                  <a:lnTo>
                    <a:pt x="409" y="11"/>
                  </a:lnTo>
                  <a:lnTo>
                    <a:pt x="387" y="14"/>
                  </a:lnTo>
                  <a:lnTo>
                    <a:pt x="363" y="14"/>
                  </a:lnTo>
                  <a:lnTo>
                    <a:pt x="342" y="14"/>
                  </a:lnTo>
                  <a:lnTo>
                    <a:pt x="320" y="14"/>
                  </a:lnTo>
                  <a:lnTo>
                    <a:pt x="301" y="14"/>
                  </a:lnTo>
                  <a:lnTo>
                    <a:pt x="282" y="11"/>
                  </a:lnTo>
                  <a:lnTo>
                    <a:pt x="264" y="11"/>
                  </a:lnTo>
                  <a:lnTo>
                    <a:pt x="247" y="6"/>
                  </a:lnTo>
                  <a:lnTo>
                    <a:pt x="229" y="3"/>
                  </a:lnTo>
                  <a:lnTo>
                    <a:pt x="213" y="0"/>
                  </a:lnTo>
                  <a:lnTo>
                    <a:pt x="199" y="0"/>
                  </a:lnTo>
                  <a:lnTo>
                    <a:pt x="188" y="0"/>
                  </a:lnTo>
                  <a:lnTo>
                    <a:pt x="183" y="0"/>
                  </a:lnTo>
                  <a:lnTo>
                    <a:pt x="178" y="0"/>
                  </a:lnTo>
                  <a:close/>
                </a:path>
              </a:pathLst>
            </a:custGeom>
            <a:solidFill>
              <a:srgbClr val="33CCFF"/>
            </a:solidFill>
            <a:ln>
              <a:noFill/>
            </a:ln>
          </p:spPr>
          <p:txBody>
            <a:bodyPr/>
            <a:lstStyle/>
            <a:p>
              <a:endParaRPr lang="en-US"/>
            </a:p>
          </p:txBody>
        </p:sp>
        <p:sp>
          <p:nvSpPr>
            <p:cNvPr id="185358" name="Rectangle 12"/>
            <p:cNvSpPr>
              <a:spLocks noChangeArrowheads="1"/>
            </p:cNvSpPr>
            <p:nvPr/>
          </p:nvSpPr>
          <p:spPr bwMode="auto">
            <a:xfrm>
              <a:off x="1896" y="1657"/>
              <a:ext cx="104" cy="173"/>
            </a:xfrm>
            <a:prstGeom prst="rect">
              <a:avLst/>
            </a:prstGeom>
            <a:noFill/>
            <a:ln>
              <a:noFill/>
            </a:ln>
          </p:spPr>
          <p:txBody>
            <a:bodyPr wrap="none" lIns="0" tIns="0" rIns="0" bIns="0">
              <a:spAutoFit/>
            </a:bodyPr>
            <a:lstStyle/>
            <a:p>
              <a:r>
                <a:rPr lang="en-US" b="1">
                  <a:solidFill>
                    <a:schemeClr val="bg1"/>
                  </a:solidFill>
                </a:rPr>
                <a:t>C</a:t>
              </a:r>
            </a:p>
          </p:txBody>
        </p:sp>
        <p:sp>
          <p:nvSpPr>
            <p:cNvPr id="185359" name="Rectangle 13"/>
            <p:cNvSpPr>
              <a:spLocks noChangeArrowheads="1"/>
            </p:cNvSpPr>
            <p:nvPr/>
          </p:nvSpPr>
          <p:spPr bwMode="auto">
            <a:xfrm>
              <a:off x="1963" y="1657"/>
              <a:ext cx="31" cy="134"/>
            </a:xfrm>
            <a:prstGeom prst="rect">
              <a:avLst/>
            </a:prstGeom>
            <a:noFill/>
            <a:ln>
              <a:noFill/>
            </a:ln>
          </p:spPr>
          <p:txBody>
            <a:bodyPr wrap="none" lIns="0" tIns="0" rIns="0" bIns="0">
              <a:spAutoFit/>
            </a:bodyPr>
            <a:lstStyle/>
            <a:p>
              <a:r>
                <a:rPr lang="en-US" sz="1400">
                  <a:solidFill>
                    <a:srgbClr val="000000"/>
                  </a:solidFill>
                </a:rPr>
                <a:t> </a:t>
              </a:r>
              <a:endParaRPr lang="en-US"/>
            </a:p>
          </p:txBody>
        </p:sp>
        <p:sp>
          <p:nvSpPr>
            <p:cNvPr id="185360" name="Freeform 14"/>
            <p:cNvSpPr/>
            <p:nvPr/>
          </p:nvSpPr>
          <p:spPr bwMode="auto">
            <a:xfrm>
              <a:off x="443" y="1335"/>
              <a:ext cx="218" cy="215"/>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rgbClr val="33CCFF"/>
            </a:solidFill>
            <a:ln>
              <a:noFill/>
            </a:ln>
          </p:spPr>
          <p:txBody>
            <a:bodyPr/>
            <a:lstStyle/>
            <a:p>
              <a:endParaRPr lang="en-US"/>
            </a:p>
          </p:txBody>
        </p:sp>
        <p:sp>
          <p:nvSpPr>
            <p:cNvPr id="185361" name="Rectangle 15"/>
            <p:cNvSpPr>
              <a:spLocks noChangeArrowheads="1"/>
            </p:cNvSpPr>
            <p:nvPr/>
          </p:nvSpPr>
          <p:spPr bwMode="auto">
            <a:xfrm>
              <a:off x="493" y="1378"/>
              <a:ext cx="121" cy="154"/>
            </a:xfrm>
            <a:prstGeom prst="rect">
              <a:avLst/>
            </a:prstGeom>
            <a:noFill/>
            <a:ln>
              <a:noFill/>
            </a:ln>
          </p:spPr>
          <p:txBody>
            <a:bodyPr wrap="none" lIns="0" tIns="0" rIns="0" bIns="0">
              <a:spAutoFit/>
            </a:bodyPr>
            <a:lstStyle/>
            <a:p>
              <a:r>
                <a:rPr lang="en-US" sz="1600" b="1">
                  <a:solidFill>
                    <a:schemeClr val="bg1"/>
                  </a:solidFill>
                </a:rPr>
                <a:t>W</a:t>
              </a:r>
            </a:p>
          </p:txBody>
        </p:sp>
        <p:sp>
          <p:nvSpPr>
            <p:cNvPr id="185362" name="Rectangle 16"/>
            <p:cNvSpPr>
              <a:spLocks noChangeArrowheads="1"/>
            </p:cNvSpPr>
            <p:nvPr/>
          </p:nvSpPr>
          <p:spPr bwMode="auto">
            <a:xfrm>
              <a:off x="617" y="1360"/>
              <a:ext cx="31" cy="134"/>
            </a:xfrm>
            <a:prstGeom prst="rect">
              <a:avLst/>
            </a:prstGeom>
            <a:noFill/>
            <a:ln>
              <a:noFill/>
            </a:ln>
          </p:spPr>
          <p:txBody>
            <a:bodyPr wrap="none" lIns="0" tIns="0" rIns="0" bIns="0">
              <a:spAutoFit/>
            </a:bodyPr>
            <a:lstStyle/>
            <a:p>
              <a:r>
                <a:rPr lang="en-US" sz="1400">
                  <a:solidFill>
                    <a:srgbClr val="000000"/>
                  </a:solidFill>
                </a:rPr>
                <a:t> </a:t>
              </a:r>
              <a:endParaRPr lang="en-US"/>
            </a:p>
          </p:txBody>
        </p:sp>
        <p:sp>
          <p:nvSpPr>
            <p:cNvPr id="185363" name="Freeform 17"/>
            <p:cNvSpPr/>
            <p:nvPr/>
          </p:nvSpPr>
          <p:spPr bwMode="auto">
            <a:xfrm>
              <a:off x="2584" y="1220"/>
              <a:ext cx="218" cy="212"/>
            </a:xfrm>
            <a:custGeom>
              <a:avLst/>
              <a:gdLst>
                <a:gd name="T0" fmla="*/ 100 w 218"/>
                <a:gd name="T1" fmla="*/ 0 h 212"/>
                <a:gd name="T2" fmla="*/ 78 w 218"/>
                <a:gd name="T3" fmla="*/ 6 h 212"/>
                <a:gd name="T4" fmla="*/ 57 w 218"/>
                <a:gd name="T5" fmla="*/ 14 h 212"/>
                <a:gd name="T6" fmla="*/ 41 w 218"/>
                <a:gd name="T7" fmla="*/ 24 h 212"/>
                <a:gd name="T8" fmla="*/ 25 w 218"/>
                <a:gd name="T9" fmla="*/ 38 h 212"/>
                <a:gd name="T10" fmla="*/ 14 w 218"/>
                <a:gd name="T11" fmla="*/ 54 h 212"/>
                <a:gd name="T12" fmla="*/ 6 w 218"/>
                <a:gd name="T13" fmla="*/ 73 h 212"/>
                <a:gd name="T14" fmla="*/ 0 w 218"/>
                <a:gd name="T15" fmla="*/ 94 h 212"/>
                <a:gd name="T16" fmla="*/ 0 w 218"/>
                <a:gd name="T17" fmla="*/ 115 h 212"/>
                <a:gd name="T18" fmla="*/ 6 w 218"/>
                <a:gd name="T19" fmla="*/ 137 h 212"/>
                <a:gd name="T20" fmla="*/ 14 w 218"/>
                <a:gd name="T21" fmla="*/ 156 h 212"/>
                <a:gd name="T22" fmla="*/ 25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5 h 212"/>
                <a:gd name="T48" fmla="*/ 218 w 218"/>
                <a:gd name="T49" fmla="*/ 94 h 212"/>
                <a:gd name="T50" fmla="*/ 213 w 218"/>
                <a:gd name="T51" fmla="*/ 73 h 212"/>
                <a:gd name="T52" fmla="*/ 205 w 218"/>
                <a:gd name="T53" fmla="*/ 54 h 212"/>
                <a:gd name="T54" fmla="*/ 194 w 218"/>
                <a:gd name="T55" fmla="*/ 38 h 212"/>
                <a:gd name="T56" fmla="*/ 178 w 218"/>
                <a:gd name="T57" fmla="*/ 24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8" y="8"/>
                  </a:lnTo>
                  <a:lnTo>
                    <a:pt x="57" y="14"/>
                  </a:lnTo>
                  <a:lnTo>
                    <a:pt x="49" y="19"/>
                  </a:lnTo>
                  <a:lnTo>
                    <a:pt x="41" y="24"/>
                  </a:lnTo>
                  <a:lnTo>
                    <a:pt x="33" y="30"/>
                  </a:lnTo>
                  <a:lnTo>
                    <a:pt x="25" y="38"/>
                  </a:lnTo>
                  <a:lnTo>
                    <a:pt x="19" y="46"/>
                  </a:lnTo>
                  <a:lnTo>
                    <a:pt x="14" y="54"/>
                  </a:lnTo>
                  <a:lnTo>
                    <a:pt x="8" y="65"/>
                  </a:lnTo>
                  <a:lnTo>
                    <a:pt x="6" y="73"/>
                  </a:lnTo>
                  <a:lnTo>
                    <a:pt x="3" y="83"/>
                  </a:lnTo>
                  <a:lnTo>
                    <a:pt x="0" y="94"/>
                  </a:lnTo>
                  <a:lnTo>
                    <a:pt x="0" y="105"/>
                  </a:lnTo>
                  <a:lnTo>
                    <a:pt x="0" y="115"/>
                  </a:lnTo>
                  <a:lnTo>
                    <a:pt x="3" y="126"/>
                  </a:lnTo>
                  <a:lnTo>
                    <a:pt x="6" y="137"/>
                  </a:lnTo>
                  <a:lnTo>
                    <a:pt x="8" y="148"/>
                  </a:lnTo>
                  <a:lnTo>
                    <a:pt x="14" y="156"/>
                  </a:lnTo>
                  <a:lnTo>
                    <a:pt x="19" y="164"/>
                  </a:lnTo>
                  <a:lnTo>
                    <a:pt x="25" y="172"/>
                  </a:lnTo>
                  <a:lnTo>
                    <a:pt x="33" y="180"/>
                  </a:lnTo>
                  <a:lnTo>
                    <a:pt x="41" y="188"/>
                  </a:lnTo>
                  <a:lnTo>
                    <a:pt x="49" y="193"/>
                  </a:lnTo>
                  <a:lnTo>
                    <a:pt x="57" y="199"/>
                  </a:lnTo>
                  <a:lnTo>
                    <a:pt x="68" y="204"/>
                  </a:lnTo>
                  <a:lnTo>
                    <a:pt x="78" y="207"/>
                  </a:lnTo>
                  <a:lnTo>
                    <a:pt x="89" y="209"/>
                  </a:lnTo>
                  <a:lnTo>
                    <a:pt x="100" y="212"/>
                  </a:lnTo>
                  <a:lnTo>
                    <a:pt x="111" y="212"/>
                  </a:lnTo>
                  <a:lnTo>
                    <a:pt x="121" y="212"/>
                  </a:lnTo>
                  <a:lnTo>
                    <a:pt x="132" y="209"/>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6" y="126"/>
                  </a:lnTo>
                  <a:lnTo>
                    <a:pt x="218" y="115"/>
                  </a:lnTo>
                  <a:lnTo>
                    <a:pt x="218" y="105"/>
                  </a:lnTo>
                  <a:lnTo>
                    <a:pt x="218" y="94"/>
                  </a:lnTo>
                  <a:lnTo>
                    <a:pt x="216" y="83"/>
                  </a:lnTo>
                  <a:lnTo>
                    <a:pt x="213" y="73"/>
                  </a:lnTo>
                  <a:lnTo>
                    <a:pt x="210" y="65"/>
                  </a:lnTo>
                  <a:lnTo>
                    <a:pt x="205" y="54"/>
                  </a:lnTo>
                  <a:lnTo>
                    <a:pt x="199" y="46"/>
                  </a:lnTo>
                  <a:lnTo>
                    <a:pt x="194" y="38"/>
                  </a:lnTo>
                  <a:lnTo>
                    <a:pt x="186" y="30"/>
                  </a:lnTo>
                  <a:lnTo>
                    <a:pt x="178" y="24"/>
                  </a:lnTo>
                  <a:lnTo>
                    <a:pt x="170" y="19"/>
                  </a:lnTo>
                  <a:lnTo>
                    <a:pt x="162" y="14"/>
                  </a:lnTo>
                  <a:lnTo>
                    <a:pt x="154" y="8"/>
                  </a:lnTo>
                  <a:lnTo>
                    <a:pt x="143" y="6"/>
                  </a:lnTo>
                  <a:lnTo>
                    <a:pt x="132" y="3"/>
                  </a:lnTo>
                  <a:lnTo>
                    <a:pt x="121" y="0"/>
                  </a:lnTo>
                  <a:lnTo>
                    <a:pt x="111" y="0"/>
                  </a:lnTo>
                  <a:close/>
                </a:path>
              </a:pathLst>
            </a:custGeom>
            <a:solidFill>
              <a:srgbClr val="33CCFF"/>
            </a:solidFill>
            <a:ln>
              <a:noFill/>
            </a:ln>
          </p:spPr>
          <p:txBody>
            <a:bodyPr/>
            <a:lstStyle/>
            <a:p>
              <a:endParaRPr lang="en-US"/>
            </a:p>
          </p:txBody>
        </p:sp>
        <p:sp>
          <p:nvSpPr>
            <p:cNvPr id="185364" name="Rectangle 18"/>
            <p:cNvSpPr>
              <a:spLocks noChangeArrowheads="1"/>
            </p:cNvSpPr>
            <p:nvPr/>
          </p:nvSpPr>
          <p:spPr bwMode="auto">
            <a:xfrm>
              <a:off x="2641" y="1262"/>
              <a:ext cx="85" cy="154"/>
            </a:xfrm>
            <a:prstGeom prst="rect">
              <a:avLst/>
            </a:prstGeom>
            <a:noFill/>
            <a:ln>
              <a:noFill/>
            </a:ln>
          </p:spPr>
          <p:txBody>
            <a:bodyPr wrap="none" lIns="0" tIns="0" rIns="0" bIns="0">
              <a:spAutoFit/>
            </a:bodyPr>
            <a:lstStyle/>
            <a:p>
              <a:r>
                <a:rPr lang="en-US" sz="1600" b="1">
                  <a:solidFill>
                    <a:schemeClr val="bg1"/>
                  </a:solidFill>
                </a:rPr>
                <a:t>X</a:t>
              </a:r>
            </a:p>
          </p:txBody>
        </p:sp>
        <p:sp>
          <p:nvSpPr>
            <p:cNvPr id="185365" name="Freeform 19"/>
            <p:cNvSpPr/>
            <p:nvPr/>
          </p:nvSpPr>
          <p:spPr bwMode="auto">
            <a:xfrm>
              <a:off x="2579" y="1952"/>
              <a:ext cx="218" cy="212"/>
            </a:xfrm>
            <a:custGeom>
              <a:avLst/>
              <a:gdLst>
                <a:gd name="T0" fmla="*/ 97 w 218"/>
                <a:gd name="T1" fmla="*/ 0 h 212"/>
                <a:gd name="T2" fmla="*/ 75 w 218"/>
                <a:gd name="T3" fmla="*/ 6 h 212"/>
                <a:gd name="T4" fmla="*/ 56 w 218"/>
                <a:gd name="T5" fmla="*/ 14 h 212"/>
                <a:gd name="T6" fmla="*/ 40 w 218"/>
                <a:gd name="T7" fmla="*/ 24 h 212"/>
                <a:gd name="T8" fmla="*/ 24 w 218"/>
                <a:gd name="T9" fmla="*/ 38 h 212"/>
                <a:gd name="T10" fmla="*/ 13 w 218"/>
                <a:gd name="T11" fmla="*/ 54 h 212"/>
                <a:gd name="T12" fmla="*/ 5 w 218"/>
                <a:gd name="T13" fmla="*/ 73 h 212"/>
                <a:gd name="T14" fmla="*/ 0 w 218"/>
                <a:gd name="T15" fmla="*/ 94 h 212"/>
                <a:gd name="T16" fmla="*/ 0 w 218"/>
                <a:gd name="T17" fmla="*/ 116 h 212"/>
                <a:gd name="T18" fmla="*/ 5 w 218"/>
                <a:gd name="T19" fmla="*/ 137 h 212"/>
                <a:gd name="T20" fmla="*/ 13 w 218"/>
                <a:gd name="T21" fmla="*/ 156 h 212"/>
                <a:gd name="T22" fmla="*/ 24 w 218"/>
                <a:gd name="T23" fmla="*/ 172 h 212"/>
                <a:gd name="T24" fmla="*/ 40 w 218"/>
                <a:gd name="T25" fmla="*/ 188 h 212"/>
                <a:gd name="T26" fmla="*/ 56 w 218"/>
                <a:gd name="T27" fmla="*/ 199 h 212"/>
                <a:gd name="T28" fmla="*/ 75 w 218"/>
                <a:gd name="T29" fmla="*/ 207 h 212"/>
                <a:gd name="T30" fmla="*/ 97 w 218"/>
                <a:gd name="T31" fmla="*/ 212 h 212"/>
                <a:gd name="T32" fmla="*/ 118 w 218"/>
                <a:gd name="T33" fmla="*/ 212 h 212"/>
                <a:gd name="T34" fmla="*/ 140 w 218"/>
                <a:gd name="T35" fmla="*/ 207 h 212"/>
                <a:gd name="T36" fmla="*/ 161 w 218"/>
                <a:gd name="T37" fmla="*/ 199 h 212"/>
                <a:gd name="T38" fmla="*/ 178 w 218"/>
                <a:gd name="T39" fmla="*/ 188 h 212"/>
                <a:gd name="T40" fmla="*/ 194 w 218"/>
                <a:gd name="T41" fmla="*/ 172 h 212"/>
                <a:gd name="T42" fmla="*/ 204 w 218"/>
                <a:gd name="T43" fmla="*/ 156 h 212"/>
                <a:gd name="T44" fmla="*/ 213 w 218"/>
                <a:gd name="T45" fmla="*/ 137 h 212"/>
                <a:gd name="T46" fmla="*/ 218 w 218"/>
                <a:gd name="T47" fmla="*/ 116 h 212"/>
                <a:gd name="T48" fmla="*/ 218 w 218"/>
                <a:gd name="T49" fmla="*/ 94 h 212"/>
                <a:gd name="T50" fmla="*/ 213 w 218"/>
                <a:gd name="T51" fmla="*/ 73 h 212"/>
                <a:gd name="T52" fmla="*/ 204 w 218"/>
                <a:gd name="T53" fmla="*/ 54 h 212"/>
                <a:gd name="T54" fmla="*/ 194 w 218"/>
                <a:gd name="T55" fmla="*/ 38 h 212"/>
                <a:gd name="T56" fmla="*/ 178 w 218"/>
                <a:gd name="T57" fmla="*/ 24 h 212"/>
                <a:gd name="T58" fmla="*/ 161 w 218"/>
                <a:gd name="T59" fmla="*/ 14 h 212"/>
                <a:gd name="T60" fmla="*/ 140 w 218"/>
                <a:gd name="T61" fmla="*/ 6 h 212"/>
                <a:gd name="T62" fmla="*/ 118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08" y="0"/>
                  </a:moveTo>
                  <a:lnTo>
                    <a:pt x="97" y="0"/>
                  </a:lnTo>
                  <a:lnTo>
                    <a:pt x="86" y="3"/>
                  </a:lnTo>
                  <a:lnTo>
                    <a:pt x="75" y="6"/>
                  </a:lnTo>
                  <a:lnTo>
                    <a:pt x="65" y="8"/>
                  </a:lnTo>
                  <a:lnTo>
                    <a:pt x="56" y="14"/>
                  </a:lnTo>
                  <a:lnTo>
                    <a:pt x="48" y="19"/>
                  </a:lnTo>
                  <a:lnTo>
                    <a:pt x="40" y="24"/>
                  </a:lnTo>
                  <a:lnTo>
                    <a:pt x="32" y="30"/>
                  </a:lnTo>
                  <a:lnTo>
                    <a:pt x="24" y="38"/>
                  </a:lnTo>
                  <a:lnTo>
                    <a:pt x="19" y="46"/>
                  </a:lnTo>
                  <a:lnTo>
                    <a:pt x="13" y="54"/>
                  </a:lnTo>
                  <a:lnTo>
                    <a:pt x="8" y="65"/>
                  </a:lnTo>
                  <a:lnTo>
                    <a:pt x="5" y="73"/>
                  </a:lnTo>
                  <a:lnTo>
                    <a:pt x="3" y="83"/>
                  </a:lnTo>
                  <a:lnTo>
                    <a:pt x="0" y="94"/>
                  </a:lnTo>
                  <a:lnTo>
                    <a:pt x="0" y="105"/>
                  </a:lnTo>
                  <a:lnTo>
                    <a:pt x="0" y="116"/>
                  </a:lnTo>
                  <a:lnTo>
                    <a:pt x="3" y="126"/>
                  </a:lnTo>
                  <a:lnTo>
                    <a:pt x="5" y="137"/>
                  </a:lnTo>
                  <a:lnTo>
                    <a:pt x="8" y="148"/>
                  </a:lnTo>
                  <a:lnTo>
                    <a:pt x="13" y="156"/>
                  </a:lnTo>
                  <a:lnTo>
                    <a:pt x="19" y="164"/>
                  </a:lnTo>
                  <a:lnTo>
                    <a:pt x="24" y="172"/>
                  </a:lnTo>
                  <a:lnTo>
                    <a:pt x="32" y="180"/>
                  </a:lnTo>
                  <a:lnTo>
                    <a:pt x="40" y="188"/>
                  </a:lnTo>
                  <a:lnTo>
                    <a:pt x="48" y="193"/>
                  </a:lnTo>
                  <a:lnTo>
                    <a:pt x="56" y="199"/>
                  </a:lnTo>
                  <a:lnTo>
                    <a:pt x="65" y="204"/>
                  </a:lnTo>
                  <a:lnTo>
                    <a:pt x="75" y="207"/>
                  </a:lnTo>
                  <a:lnTo>
                    <a:pt x="86" y="209"/>
                  </a:lnTo>
                  <a:lnTo>
                    <a:pt x="97" y="212"/>
                  </a:lnTo>
                  <a:lnTo>
                    <a:pt x="108" y="212"/>
                  </a:lnTo>
                  <a:lnTo>
                    <a:pt x="118" y="212"/>
                  </a:lnTo>
                  <a:lnTo>
                    <a:pt x="129" y="209"/>
                  </a:lnTo>
                  <a:lnTo>
                    <a:pt x="140" y="207"/>
                  </a:lnTo>
                  <a:lnTo>
                    <a:pt x="151" y="204"/>
                  </a:lnTo>
                  <a:lnTo>
                    <a:pt x="161" y="199"/>
                  </a:lnTo>
                  <a:lnTo>
                    <a:pt x="169" y="193"/>
                  </a:lnTo>
                  <a:lnTo>
                    <a:pt x="178" y="188"/>
                  </a:lnTo>
                  <a:lnTo>
                    <a:pt x="186" y="180"/>
                  </a:lnTo>
                  <a:lnTo>
                    <a:pt x="194" y="172"/>
                  </a:lnTo>
                  <a:lnTo>
                    <a:pt x="199" y="164"/>
                  </a:lnTo>
                  <a:lnTo>
                    <a:pt x="204" y="156"/>
                  </a:lnTo>
                  <a:lnTo>
                    <a:pt x="210" y="148"/>
                  </a:lnTo>
                  <a:lnTo>
                    <a:pt x="213" y="137"/>
                  </a:lnTo>
                  <a:lnTo>
                    <a:pt x="215" y="126"/>
                  </a:lnTo>
                  <a:lnTo>
                    <a:pt x="218" y="116"/>
                  </a:lnTo>
                  <a:lnTo>
                    <a:pt x="218" y="105"/>
                  </a:lnTo>
                  <a:lnTo>
                    <a:pt x="218" y="94"/>
                  </a:lnTo>
                  <a:lnTo>
                    <a:pt x="215" y="83"/>
                  </a:lnTo>
                  <a:lnTo>
                    <a:pt x="213" y="73"/>
                  </a:lnTo>
                  <a:lnTo>
                    <a:pt x="210" y="65"/>
                  </a:lnTo>
                  <a:lnTo>
                    <a:pt x="204" y="54"/>
                  </a:lnTo>
                  <a:lnTo>
                    <a:pt x="199" y="46"/>
                  </a:lnTo>
                  <a:lnTo>
                    <a:pt x="194" y="38"/>
                  </a:lnTo>
                  <a:lnTo>
                    <a:pt x="186" y="30"/>
                  </a:lnTo>
                  <a:lnTo>
                    <a:pt x="178" y="24"/>
                  </a:lnTo>
                  <a:lnTo>
                    <a:pt x="169" y="19"/>
                  </a:lnTo>
                  <a:lnTo>
                    <a:pt x="161" y="14"/>
                  </a:lnTo>
                  <a:lnTo>
                    <a:pt x="151" y="8"/>
                  </a:lnTo>
                  <a:lnTo>
                    <a:pt x="140" y="6"/>
                  </a:lnTo>
                  <a:lnTo>
                    <a:pt x="129" y="3"/>
                  </a:lnTo>
                  <a:lnTo>
                    <a:pt x="118" y="0"/>
                  </a:lnTo>
                  <a:lnTo>
                    <a:pt x="108" y="0"/>
                  </a:lnTo>
                  <a:close/>
                </a:path>
              </a:pathLst>
            </a:custGeom>
            <a:solidFill>
              <a:srgbClr val="33CCFF"/>
            </a:solidFill>
            <a:ln>
              <a:noFill/>
            </a:ln>
          </p:spPr>
          <p:txBody>
            <a:bodyPr/>
            <a:lstStyle/>
            <a:p>
              <a:endParaRPr lang="en-US"/>
            </a:p>
          </p:txBody>
        </p:sp>
        <p:sp>
          <p:nvSpPr>
            <p:cNvPr id="185366" name="Rectangle 20"/>
            <p:cNvSpPr>
              <a:spLocks noChangeArrowheads="1"/>
            </p:cNvSpPr>
            <p:nvPr/>
          </p:nvSpPr>
          <p:spPr bwMode="auto">
            <a:xfrm>
              <a:off x="2653" y="1983"/>
              <a:ext cx="85" cy="154"/>
            </a:xfrm>
            <a:prstGeom prst="rect">
              <a:avLst/>
            </a:prstGeom>
            <a:noFill/>
            <a:ln>
              <a:noFill/>
            </a:ln>
          </p:spPr>
          <p:txBody>
            <a:bodyPr wrap="none" lIns="0" tIns="0" rIns="0" bIns="0">
              <a:spAutoFit/>
            </a:bodyPr>
            <a:lstStyle/>
            <a:p>
              <a:r>
                <a:rPr lang="en-US" sz="1600" b="1">
                  <a:solidFill>
                    <a:schemeClr val="bg1"/>
                  </a:solidFill>
                </a:rPr>
                <a:t>Y</a:t>
              </a:r>
            </a:p>
          </p:txBody>
        </p:sp>
        <p:sp>
          <p:nvSpPr>
            <p:cNvPr id="185367" name="Line 21"/>
            <p:cNvSpPr>
              <a:spLocks noChangeShapeType="1"/>
            </p:cNvSpPr>
            <p:nvPr/>
          </p:nvSpPr>
          <p:spPr bwMode="auto">
            <a:xfrm>
              <a:off x="674" y="1448"/>
              <a:ext cx="280" cy="1"/>
            </a:xfrm>
            <a:prstGeom prst="line">
              <a:avLst/>
            </a:prstGeom>
            <a:noFill/>
            <a:ln w="17463">
              <a:solidFill>
                <a:srgbClr val="000000"/>
              </a:solidFill>
              <a:round/>
            </a:ln>
          </p:spPr>
          <p:txBody>
            <a:bodyPr/>
            <a:lstStyle/>
            <a:p>
              <a:endParaRPr lang="en-US"/>
            </a:p>
          </p:txBody>
        </p:sp>
        <p:sp>
          <p:nvSpPr>
            <p:cNvPr id="185368" name="Line 22"/>
            <p:cNvSpPr>
              <a:spLocks noChangeShapeType="1"/>
            </p:cNvSpPr>
            <p:nvPr/>
          </p:nvSpPr>
          <p:spPr bwMode="auto">
            <a:xfrm>
              <a:off x="2165" y="1140"/>
              <a:ext cx="419" cy="174"/>
            </a:xfrm>
            <a:prstGeom prst="line">
              <a:avLst/>
            </a:prstGeom>
            <a:noFill/>
            <a:ln w="17463">
              <a:solidFill>
                <a:srgbClr val="000000"/>
              </a:solidFill>
              <a:round/>
            </a:ln>
          </p:spPr>
          <p:txBody>
            <a:bodyPr/>
            <a:lstStyle/>
            <a:p>
              <a:endParaRPr lang="en-US"/>
            </a:p>
          </p:txBody>
        </p:sp>
        <p:sp>
          <p:nvSpPr>
            <p:cNvPr id="185369" name="Line 23"/>
            <p:cNvSpPr>
              <a:spLocks noChangeShapeType="1"/>
            </p:cNvSpPr>
            <p:nvPr/>
          </p:nvSpPr>
          <p:spPr bwMode="auto">
            <a:xfrm flipV="1">
              <a:off x="2192" y="1381"/>
              <a:ext cx="422" cy="357"/>
            </a:xfrm>
            <a:prstGeom prst="line">
              <a:avLst/>
            </a:prstGeom>
            <a:noFill/>
            <a:ln w="17463">
              <a:solidFill>
                <a:srgbClr val="000000"/>
              </a:solidFill>
              <a:round/>
            </a:ln>
          </p:spPr>
          <p:txBody>
            <a:bodyPr/>
            <a:lstStyle/>
            <a:p>
              <a:endParaRPr lang="en-US"/>
            </a:p>
          </p:txBody>
        </p:sp>
        <p:sp>
          <p:nvSpPr>
            <p:cNvPr id="185370" name="Line 24"/>
            <p:cNvSpPr>
              <a:spLocks noChangeShapeType="1"/>
            </p:cNvSpPr>
            <p:nvPr/>
          </p:nvSpPr>
          <p:spPr bwMode="auto">
            <a:xfrm>
              <a:off x="2197" y="1821"/>
              <a:ext cx="387" cy="201"/>
            </a:xfrm>
            <a:prstGeom prst="line">
              <a:avLst/>
            </a:prstGeom>
            <a:noFill/>
            <a:ln w="17463">
              <a:solidFill>
                <a:srgbClr val="000000"/>
              </a:solidFill>
              <a:round/>
            </a:ln>
          </p:spPr>
          <p:txBody>
            <a:bodyPr/>
            <a:lstStyle/>
            <a:p>
              <a:endParaRPr lang="en-US"/>
            </a:p>
          </p:txBody>
        </p:sp>
        <p:sp>
          <p:nvSpPr>
            <p:cNvPr id="185371" name="Line 25"/>
            <p:cNvSpPr>
              <a:spLocks noChangeShapeType="1"/>
            </p:cNvSpPr>
            <p:nvPr/>
          </p:nvSpPr>
          <p:spPr bwMode="auto">
            <a:xfrm flipV="1">
              <a:off x="1481" y="1228"/>
              <a:ext cx="183" cy="148"/>
            </a:xfrm>
            <a:prstGeom prst="line">
              <a:avLst/>
            </a:prstGeom>
            <a:noFill/>
            <a:ln w="55563">
              <a:solidFill>
                <a:srgbClr val="000000"/>
              </a:solidFill>
              <a:round/>
            </a:ln>
          </p:spPr>
          <p:txBody>
            <a:bodyPr/>
            <a:lstStyle/>
            <a:p>
              <a:endParaRPr lang="en-US"/>
            </a:p>
          </p:txBody>
        </p:sp>
        <p:sp>
          <p:nvSpPr>
            <p:cNvPr id="185372" name="Line 26"/>
            <p:cNvSpPr>
              <a:spLocks noChangeShapeType="1"/>
            </p:cNvSpPr>
            <p:nvPr/>
          </p:nvSpPr>
          <p:spPr bwMode="auto">
            <a:xfrm flipV="1">
              <a:off x="2030" y="1309"/>
              <a:ext cx="1" cy="268"/>
            </a:xfrm>
            <a:prstGeom prst="line">
              <a:avLst/>
            </a:prstGeom>
            <a:noFill/>
            <a:ln w="55563">
              <a:solidFill>
                <a:srgbClr val="000000"/>
              </a:solidFill>
              <a:round/>
            </a:ln>
          </p:spPr>
          <p:txBody>
            <a:bodyPr/>
            <a:lstStyle/>
            <a:p>
              <a:endParaRPr lang="en-US"/>
            </a:p>
          </p:txBody>
        </p:sp>
        <p:sp>
          <p:nvSpPr>
            <p:cNvPr id="185373" name="Line 27"/>
            <p:cNvSpPr>
              <a:spLocks noChangeShapeType="1"/>
            </p:cNvSpPr>
            <p:nvPr/>
          </p:nvSpPr>
          <p:spPr bwMode="auto">
            <a:xfrm>
              <a:off x="1497" y="1577"/>
              <a:ext cx="167" cy="104"/>
            </a:xfrm>
            <a:prstGeom prst="line">
              <a:avLst/>
            </a:prstGeom>
            <a:noFill/>
            <a:ln w="55563">
              <a:solidFill>
                <a:srgbClr val="000000"/>
              </a:solidFill>
              <a:round/>
            </a:ln>
          </p:spPr>
          <p:txBody>
            <a:bodyPr/>
            <a:lstStyle/>
            <a:p>
              <a:endParaRPr lang="en-US"/>
            </a:p>
          </p:txBody>
        </p:sp>
        <p:sp>
          <p:nvSpPr>
            <p:cNvPr id="185374" name="Rectangle 28"/>
            <p:cNvSpPr>
              <a:spLocks noChangeArrowheads="1"/>
            </p:cNvSpPr>
            <p:nvPr/>
          </p:nvSpPr>
          <p:spPr bwMode="auto">
            <a:xfrm>
              <a:off x="3050" y="853"/>
              <a:ext cx="608" cy="284"/>
            </a:xfrm>
            <a:prstGeom prst="rect">
              <a:avLst/>
            </a:prstGeom>
            <a:solidFill>
              <a:srgbClr val="FFFFFF"/>
            </a:solidFill>
            <a:ln>
              <a:noFill/>
            </a:ln>
          </p:spPr>
          <p:txBody>
            <a:bodyPr/>
            <a:lstStyle/>
            <a:p>
              <a:endParaRPr lang="en-US"/>
            </a:p>
          </p:txBody>
        </p:sp>
        <p:sp>
          <p:nvSpPr>
            <p:cNvPr id="185375" name="Rectangle 29"/>
            <p:cNvSpPr>
              <a:spLocks noChangeArrowheads="1"/>
            </p:cNvSpPr>
            <p:nvPr/>
          </p:nvSpPr>
          <p:spPr bwMode="auto">
            <a:xfrm>
              <a:off x="3131" y="896"/>
              <a:ext cx="526" cy="192"/>
            </a:xfrm>
            <a:prstGeom prst="rect">
              <a:avLst/>
            </a:prstGeom>
            <a:noFill/>
            <a:ln>
              <a:noFill/>
            </a:ln>
          </p:spPr>
          <p:txBody>
            <a:bodyPr wrap="none" lIns="0" tIns="0" rIns="0" bIns="0">
              <a:spAutoFit/>
            </a:bodyPr>
            <a:lstStyle/>
            <a:p>
              <a:r>
                <a:rPr lang="en-US" sz="2000">
                  <a:solidFill>
                    <a:srgbClr val="000000"/>
                  </a:solidFill>
                </a:rPr>
                <a:t>legend</a:t>
              </a:r>
              <a:r>
                <a:rPr lang="en-US" sz="1700" b="1">
                  <a:solidFill>
                    <a:srgbClr val="000000"/>
                  </a:solidFill>
                </a:rPr>
                <a:t>:</a:t>
              </a:r>
              <a:endParaRPr lang="en-US"/>
            </a:p>
          </p:txBody>
        </p:sp>
        <p:sp>
          <p:nvSpPr>
            <p:cNvPr id="185376" name="Rectangle 30"/>
            <p:cNvSpPr>
              <a:spLocks noChangeArrowheads="1"/>
            </p:cNvSpPr>
            <p:nvPr/>
          </p:nvSpPr>
          <p:spPr bwMode="auto">
            <a:xfrm>
              <a:off x="3548" y="898"/>
              <a:ext cx="38" cy="163"/>
            </a:xfrm>
            <a:prstGeom prst="rect">
              <a:avLst/>
            </a:prstGeom>
            <a:noFill/>
            <a:ln>
              <a:noFill/>
            </a:ln>
          </p:spPr>
          <p:txBody>
            <a:bodyPr wrap="none" lIns="0" tIns="0" rIns="0" bIns="0">
              <a:spAutoFit/>
            </a:bodyPr>
            <a:lstStyle/>
            <a:p>
              <a:r>
                <a:rPr lang="en-US" sz="1700">
                  <a:solidFill>
                    <a:srgbClr val="000000"/>
                  </a:solidFill>
                </a:rPr>
                <a:t> </a:t>
              </a:r>
              <a:endParaRPr lang="en-US"/>
            </a:p>
          </p:txBody>
        </p:sp>
        <p:sp>
          <p:nvSpPr>
            <p:cNvPr id="185377" name="Rectangle 31"/>
            <p:cNvSpPr>
              <a:spLocks noChangeArrowheads="1"/>
            </p:cNvSpPr>
            <p:nvPr/>
          </p:nvSpPr>
          <p:spPr bwMode="auto">
            <a:xfrm>
              <a:off x="4261" y="1432"/>
              <a:ext cx="731" cy="499"/>
            </a:xfrm>
            <a:prstGeom prst="rect">
              <a:avLst/>
            </a:prstGeom>
            <a:solidFill>
              <a:srgbClr val="FFFFFF"/>
            </a:solidFill>
            <a:ln>
              <a:noFill/>
            </a:ln>
          </p:spPr>
          <p:txBody>
            <a:bodyPr/>
            <a:lstStyle/>
            <a:p>
              <a:endParaRPr lang="en-US"/>
            </a:p>
          </p:txBody>
        </p:sp>
        <p:sp>
          <p:nvSpPr>
            <p:cNvPr id="185378" name="Rectangle 32"/>
            <p:cNvSpPr>
              <a:spLocks noChangeArrowheads="1"/>
            </p:cNvSpPr>
            <p:nvPr/>
          </p:nvSpPr>
          <p:spPr bwMode="auto">
            <a:xfrm>
              <a:off x="4341" y="1472"/>
              <a:ext cx="701" cy="192"/>
            </a:xfrm>
            <a:prstGeom prst="rect">
              <a:avLst/>
            </a:prstGeom>
            <a:noFill/>
            <a:ln>
              <a:noFill/>
            </a:ln>
          </p:spPr>
          <p:txBody>
            <a:bodyPr wrap="none" lIns="0" tIns="0" rIns="0" bIns="0">
              <a:spAutoFit/>
            </a:bodyPr>
            <a:lstStyle/>
            <a:p>
              <a:r>
                <a:rPr lang="en-US" sz="2000">
                  <a:solidFill>
                    <a:srgbClr val="000000"/>
                  </a:solidFill>
                </a:rPr>
                <a:t>customer </a:t>
              </a:r>
              <a:endParaRPr lang="en-US" sz="2000"/>
            </a:p>
          </p:txBody>
        </p:sp>
        <p:sp>
          <p:nvSpPr>
            <p:cNvPr id="185379" name="Rectangle 33"/>
            <p:cNvSpPr>
              <a:spLocks noChangeArrowheads="1"/>
            </p:cNvSpPr>
            <p:nvPr/>
          </p:nvSpPr>
          <p:spPr bwMode="auto">
            <a:xfrm>
              <a:off x="4341" y="1630"/>
              <a:ext cx="604" cy="192"/>
            </a:xfrm>
            <a:prstGeom prst="rect">
              <a:avLst/>
            </a:prstGeom>
            <a:noFill/>
            <a:ln>
              <a:noFill/>
            </a:ln>
          </p:spPr>
          <p:txBody>
            <a:bodyPr wrap="none" lIns="0" tIns="0" rIns="0" bIns="0">
              <a:spAutoFit/>
            </a:bodyPr>
            <a:lstStyle/>
            <a:p>
              <a:r>
                <a:rPr lang="en-US" sz="2000">
                  <a:solidFill>
                    <a:srgbClr val="000000"/>
                  </a:solidFill>
                </a:rPr>
                <a:t>network:</a:t>
              </a:r>
              <a:endParaRPr lang="en-US" sz="2000"/>
            </a:p>
          </p:txBody>
        </p:sp>
        <p:sp>
          <p:nvSpPr>
            <p:cNvPr id="185380" name="Rectangle 34"/>
            <p:cNvSpPr>
              <a:spLocks noChangeArrowheads="1"/>
            </p:cNvSpPr>
            <p:nvPr/>
          </p:nvSpPr>
          <p:spPr bwMode="auto">
            <a:xfrm>
              <a:off x="4823" y="1630"/>
              <a:ext cx="44" cy="192"/>
            </a:xfrm>
            <a:prstGeom prst="rect">
              <a:avLst/>
            </a:prstGeom>
            <a:noFill/>
            <a:ln>
              <a:noFill/>
            </a:ln>
          </p:spPr>
          <p:txBody>
            <a:bodyPr wrap="none" lIns="0" tIns="0" rIns="0" bIns="0">
              <a:spAutoFit/>
            </a:bodyPr>
            <a:lstStyle/>
            <a:p>
              <a:r>
                <a:rPr lang="en-US" sz="2000">
                  <a:solidFill>
                    <a:srgbClr val="000000"/>
                  </a:solidFill>
                </a:rPr>
                <a:t> </a:t>
              </a:r>
              <a:endParaRPr lang="en-US" sz="2000"/>
            </a:p>
          </p:txBody>
        </p:sp>
        <p:sp>
          <p:nvSpPr>
            <p:cNvPr id="185381" name="Rectangle 35"/>
            <p:cNvSpPr>
              <a:spLocks noChangeArrowheads="1"/>
            </p:cNvSpPr>
            <p:nvPr/>
          </p:nvSpPr>
          <p:spPr bwMode="auto">
            <a:xfrm>
              <a:off x="4261" y="869"/>
              <a:ext cx="697" cy="424"/>
            </a:xfrm>
            <a:prstGeom prst="rect">
              <a:avLst/>
            </a:prstGeom>
            <a:solidFill>
              <a:srgbClr val="FFFFFF"/>
            </a:solidFill>
            <a:ln>
              <a:noFill/>
            </a:ln>
          </p:spPr>
          <p:txBody>
            <a:bodyPr/>
            <a:lstStyle/>
            <a:p>
              <a:endParaRPr lang="en-US"/>
            </a:p>
          </p:txBody>
        </p:sp>
        <p:sp>
          <p:nvSpPr>
            <p:cNvPr id="185382" name="Rectangle 36"/>
            <p:cNvSpPr>
              <a:spLocks noChangeArrowheads="1"/>
            </p:cNvSpPr>
            <p:nvPr/>
          </p:nvSpPr>
          <p:spPr bwMode="auto">
            <a:xfrm>
              <a:off x="4341" y="909"/>
              <a:ext cx="578" cy="192"/>
            </a:xfrm>
            <a:prstGeom prst="rect">
              <a:avLst/>
            </a:prstGeom>
            <a:noFill/>
            <a:ln>
              <a:noFill/>
            </a:ln>
          </p:spPr>
          <p:txBody>
            <a:bodyPr wrap="none" lIns="0" tIns="0" rIns="0" bIns="0">
              <a:spAutoFit/>
            </a:bodyPr>
            <a:lstStyle/>
            <a:p>
              <a:r>
                <a:rPr lang="en-US" sz="2000">
                  <a:solidFill>
                    <a:srgbClr val="000000"/>
                  </a:solidFill>
                </a:rPr>
                <a:t>provider</a:t>
              </a:r>
              <a:endParaRPr lang="en-US" sz="2000"/>
            </a:p>
          </p:txBody>
        </p:sp>
        <p:sp>
          <p:nvSpPr>
            <p:cNvPr id="185383" name="Rectangle 37"/>
            <p:cNvSpPr>
              <a:spLocks noChangeArrowheads="1"/>
            </p:cNvSpPr>
            <p:nvPr/>
          </p:nvSpPr>
          <p:spPr bwMode="auto">
            <a:xfrm>
              <a:off x="4796" y="909"/>
              <a:ext cx="44" cy="192"/>
            </a:xfrm>
            <a:prstGeom prst="rect">
              <a:avLst/>
            </a:prstGeom>
            <a:noFill/>
            <a:ln>
              <a:noFill/>
            </a:ln>
          </p:spPr>
          <p:txBody>
            <a:bodyPr wrap="none" lIns="0" tIns="0" rIns="0" bIns="0">
              <a:spAutoFit/>
            </a:bodyPr>
            <a:lstStyle/>
            <a:p>
              <a:r>
                <a:rPr lang="en-US" sz="2000">
                  <a:solidFill>
                    <a:srgbClr val="000000"/>
                  </a:solidFill>
                </a:rPr>
                <a:t> </a:t>
              </a:r>
              <a:endParaRPr lang="en-US" sz="2000"/>
            </a:p>
          </p:txBody>
        </p:sp>
        <p:sp>
          <p:nvSpPr>
            <p:cNvPr id="185384" name="Rectangle 38"/>
            <p:cNvSpPr>
              <a:spLocks noChangeArrowheads="1"/>
            </p:cNvSpPr>
            <p:nvPr/>
          </p:nvSpPr>
          <p:spPr bwMode="auto">
            <a:xfrm>
              <a:off x="4341" y="1064"/>
              <a:ext cx="560" cy="192"/>
            </a:xfrm>
            <a:prstGeom prst="rect">
              <a:avLst/>
            </a:prstGeom>
            <a:noFill/>
            <a:ln>
              <a:noFill/>
            </a:ln>
          </p:spPr>
          <p:txBody>
            <a:bodyPr wrap="none" lIns="0" tIns="0" rIns="0" bIns="0">
              <a:spAutoFit/>
            </a:bodyPr>
            <a:lstStyle/>
            <a:p>
              <a:r>
                <a:rPr lang="en-US" sz="2000">
                  <a:solidFill>
                    <a:srgbClr val="000000"/>
                  </a:solidFill>
                </a:rPr>
                <a:t>network</a:t>
              </a:r>
              <a:endParaRPr lang="en-US" sz="2000"/>
            </a:p>
          </p:txBody>
        </p:sp>
        <p:sp>
          <p:nvSpPr>
            <p:cNvPr id="185385" name="Rectangle 39"/>
            <p:cNvSpPr>
              <a:spLocks noChangeArrowheads="1"/>
            </p:cNvSpPr>
            <p:nvPr/>
          </p:nvSpPr>
          <p:spPr bwMode="auto">
            <a:xfrm>
              <a:off x="4785" y="1064"/>
              <a:ext cx="44" cy="192"/>
            </a:xfrm>
            <a:prstGeom prst="rect">
              <a:avLst/>
            </a:prstGeom>
            <a:noFill/>
            <a:ln>
              <a:noFill/>
            </a:ln>
          </p:spPr>
          <p:txBody>
            <a:bodyPr wrap="none" lIns="0" tIns="0" rIns="0" bIns="0">
              <a:spAutoFit/>
            </a:bodyPr>
            <a:lstStyle/>
            <a:p>
              <a:r>
                <a:rPr lang="en-US" sz="2000">
                  <a:solidFill>
                    <a:srgbClr val="000000"/>
                  </a:solidFill>
                </a:rPr>
                <a:t> </a:t>
              </a:r>
              <a:endParaRPr lang="en-US" sz="2000"/>
            </a:p>
          </p:txBody>
        </p:sp>
        <p:sp>
          <p:nvSpPr>
            <p:cNvPr id="185386" name="Freeform 40"/>
            <p:cNvSpPr/>
            <p:nvPr/>
          </p:nvSpPr>
          <p:spPr bwMode="auto">
            <a:xfrm>
              <a:off x="3749" y="901"/>
              <a:ext cx="563" cy="362"/>
            </a:xfrm>
            <a:custGeom>
              <a:avLst/>
              <a:gdLst>
                <a:gd name="T0" fmla="*/ 162 w 563"/>
                <a:gd name="T1" fmla="*/ 0 h 362"/>
                <a:gd name="T2" fmla="*/ 132 w 563"/>
                <a:gd name="T3" fmla="*/ 5 h 362"/>
                <a:gd name="T4" fmla="*/ 108 w 563"/>
                <a:gd name="T5" fmla="*/ 13 h 362"/>
                <a:gd name="T6" fmla="*/ 81 w 563"/>
                <a:gd name="T7" fmla="*/ 30 h 362"/>
                <a:gd name="T8" fmla="*/ 60 w 563"/>
                <a:gd name="T9" fmla="*/ 48 h 362"/>
                <a:gd name="T10" fmla="*/ 35 w 563"/>
                <a:gd name="T11" fmla="*/ 72 h 362"/>
                <a:gd name="T12" fmla="*/ 14 w 563"/>
                <a:gd name="T13" fmla="*/ 102 h 362"/>
                <a:gd name="T14" fmla="*/ 3 w 563"/>
                <a:gd name="T15" fmla="*/ 126 h 362"/>
                <a:gd name="T16" fmla="*/ 0 w 563"/>
                <a:gd name="T17" fmla="*/ 140 h 362"/>
                <a:gd name="T18" fmla="*/ 0 w 563"/>
                <a:gd name="T19" fmla="*/ 156 h 362"/>
                <a:gd name="T20" fmla="*/ 3 w 563"/>
                <a:gd name="T21" fmla="*/ 180 h 362"/>
                <a:gd name="T22" fmla="*/ 17 w 563"/>
                <a:gd name="T23" fmla="*/ 212 h 362"/>
                <a:gd name="T24" fmla="*/ 35 w 563"/>
                <a:gd name="T25" fmla="*/ 241 h 362"/>
                <a:gd name="T26" fmla="*/ 60 w 563"/>
                <a:gd name="T27" fmla="*/ 268 h 362"/>
                <a:gd name="T28" fmla="*/ 81 w 563"/>
                <a:gd name="T29" fmla="*/ 292 h 362"/>
                <a:gd name="T30" fmla="*/ 103 w 563"/>
                <a:gd name="T31" fmla="*/ 316 h 362"/>
                <a:gd name="T32" fmla="*/ 119 w 563"/>
                <a:gd name="T33" fmla="*/ 327 h 362"/>
                <a:gd name="T34" fmla="*/ 135 w 563"/>
                <a:gd name="T35" fmla="*/ 335 h 362"/>
                <a:gd name="T36" fmla="*/ 156 w 563"/>
                <a:gd name="T37" fmla="*/ 341 h 362"/>
                <a:gd name="T38" fmla="*/ 183 w 563"/>
                <a:gd name="T39" fmla="*/ 346 h 362"/>
                <a:gd name="T40" fmla="*/ 200 w 563"/>
                <a:gd name="T41" fmla="*/ 349 h 362"/>
                <a:gd name="T42" fmla="*/ 240 w 563"/>
                <a:gd name="T43" fmla="*/ 354 h 362"/>
                <a:gd name="T44" fmla="*/ 286 w 563"/>
                <a:gd name="T45" fmla="*/ 357 h 362"/>
                <a:gd name="T46" fmla="*/ 334 w 563"/>
                <a:gd name="T47" fmla="*/ 359 h 362"/>
                <a:gd name="T48" fmla="*/ 385 w 563"/>
                <a:gd name="T49" fmla="*/ 362 h 362"/>
                <a:gd name="T50" fmla="*/ 434 w 563"/>
                <a:gd name="T51" fmla="*/ 359 h 362"/>
                <a:gd name="T52" fmla="*/ 477 w 563"/>
                <a:gd name="T53" fmla="*/ 351 h 362"/>
                <a:gd name="T54" fmla="*/ 504 w 563"/>
                <a:gd name="T55" fmla="*/ 343 h 362"/>
                <a:gd name="T56" fmla="*/ 517 w 563"/>
                <a:gd name="T57" fmla="*/ 335 h 362"/>
                <a:gd name="T58" fmla="*/ 528 w 563"/>
                <a:gd name="T59" fmla="*/ 325 h 362"/>
                <a:gd name="T60" fmla="*/ 541 w 563"/>
                <a:gd name="T61" fmla="*/ 306 h 362"/>
                <a:gd name="T62" fmla="*/ 555 w 563"/>
                <a:gd name="T63" fmla="*/ 274 h 362"/>
                <a:gd name="T64" fmla="*/ 560 w 563"/>
                <a:gd name="T65" fmla="*/ 236 h 362"/>
                <a:gd name="T66" fmla="*/ 563 w 563"/>
                <a:gd name="T67" fmla="*/ 193 h 362"/>
                <a:gd name="T68" fmla="*/ 560 w 563"/>
                <a:gd name="T69" fmla="*/ 153 h 362"/>
                <a:gd name="T70" fmla="*/ 557 w 563"/>
                <a:gd name="T71" fmla="*/ 113 h 362"/>
                <a:gd name="T72" fmla="*/ 552 w 563"/>
                <a:gd name="T73" fmla="*/ 78 h 362"/>
                <a:gd name="T74" fmla="*/ 547 w 563"/>
                <a:gd name="T75" fmla="*/ 59 h 362"/>
                <a:gd name="T76" fmla="*/ 544 w 563"/>
                <a:gd name="T77" fmla="*/ 46 h 362"/>
                <a:gd name="T78" fmla="*/ 539 w 563"/>
                <a:gd name="T79" fmla="*/ 30 h 362"/>
                <a:gd name="T80" fmla="*/ 533 w 563"/>
                <a:gd name="T81" fmla="*/ 22 h 362"/>
                <a:gd name="T82" fmla="*/ 522 w 563"/>
                <a:gd name="T83" fmla="*/ 19 h 362"/>
                <a:gd name="T84" fmla="*/ 506 w 563"/>
                <a:gd name="T85" fmla="*/ 16 h 362"/>
                <a:gd name="T86" fmla="*/ 479 w 563"/>
                <a:gd name="T87" fmla="*/ 16 h 362"/>
                <a:gd name="T88" fmla="*/ 466 w 563"/>
                <a:gd name="T89" fmla="*/ 13 h 362"/>
                <a:gd name="T90" fmla="*/ 450 w 563"/>
                <a:gd name="T91" fmla="*/ 11 h 362"/>
                <a:gd name="T92" fmla="*/ 409 w 563"/>
                <a:gd name="T93" fmla="*/ 11 h 362"/>
                <a:gd name="T94" fmla="*/ 364 w 563"/>
                <a:gd name="T95" fmla="*/ 13 h 362"/>
                <a:gd name="T96" fmla="*/ 321 w 563"/>
                <a:gd name="T97" fmla="*/ 13 h 362"/>
                <a:gd name="T98" fmla="*/ 283 w 563"/>
                <a:gd name="T99" fmla="*/ 11 h 362"/>
                <a:gd name="T100" fmla="*/ 248 w 563"/>
                <a:gd name="T101" fmla="*/ 5 h 362"/>
                <a:gd name="T102" fmla="*/ 213 w 563"/>
                <a:gd name="T103" fmla="*/ 0 h 362"/>
                <a:gd name="T104" fmla="*/ 186 w 563"/>
                <a:gd name="T105" fmla="*/ 0 h 362"/>
                <a:gd name="T106" fmla="*/ 175 w 563"/>
                <a:gd name="T107" fmla="*/ 0 h 3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63"/>
                <a:gd name="T163" fmla="*/ 0 h 362"/>
                <a:gd name="T164" fmla="*/ 563 w 563"/>
                <a:gd name="T165" fmla="*/ 362 h 3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63" h="362">
                  <a:moveTo>
                    <a:pt x="175" y="0"/>
                  </a:moveTo>
                  <a:lnTo>
                    <a:pt x="162" y="0"/>
                  </a:lnTo>
                  <a:lnTo>
                    <a:pt x="148" y="3"/>
                  </a:lnTo>
                  <a:lnTo>
                    <a:pt x="132" y="5"/>
                  </a:lnTo>
                  <a:lnTo>
                    <a:pt x="119" y="11"/>
                  </a:lnTo>
                  <a:lnTo>
                    <a:pt x="108" y="13"/>
                  </a:lnTo>
                  <a:lnTo>
                    <a:pt x="95" y="22"/>
                  </a:lnTo>
                  <a:lnTo>
                    <a:pt x="81" y="30"/>
                  </a:lnTo>
                  <a:lnTo>
                    <a:pt x="70" y="38"/>
                  </a:lnTo>
                  <a:lnTo>
                    <a:pt x="60" y="48"/>
                  </a:lnTo>
                  <a:lnTo>
                    <a:pt x="46" y="59"/>
                  </a:lnTo>
                  <a:lnTo>
                    <a:pt x="35" y="72"/>
                  </a:lnTo>
                  <a:lnTo>
                    <a:pt x="25" y="89"/>
                  </a:lnTo>
                  <a:lnTo>
                    <a:pt x="14" y="102"/>
                  </a:lnTo>
                  <a:lnTo>
                    <a:pt x="8" y="118"/>
                  </a:lnTo>
                  <a:lnTo>
                    <a:pt x="3" y="126"/>
                  </a:lnTo>
                  <a:lnTo>
                    <a:pt x="3" y="134"/>
                  </a:lnTo>
                  <a:lnTo>
                    <a:pt x="0" y="140"/>
                  </a:lnTo>
                  <a:lnTo>
                    <a:pt x="0" y="148"/>
                  </a:lnTo>
                  <a:lnTo>
                    <a:pt x="0" y="156"/>
                  </a:lnTo>
                  <a:lnTo>
                    <a:pt x="0" y="164"/>
                  </a:lnTo>
                  <a:lnTo>
                    <a:pt x="3" y="180"/>
                  </a:lnTo>
                  <a:lnTo>
                    <a:pt x="8" y="196"/>
                  </a:lnTo>
                  <a:lnTo>
                    <a:pt x="17" y="212"/>
                  </a:lnTo>
                  <a:lnTo>
                    <a:pt x="27" y="225"/>
                  </a:lnTo>
                  <a:lnTo>
                    <a:pt x="35" y="241"/>
                  </a:lnTo>
                  <a:lnTo>
                    <a:pt x="49" y="255"/>
                  </a:lnTo>
                  <a:lnTo>
                    <a:pt x="60" y="268"/>
                  </a:lnTo>
                  <a:lnTo>
                    <a:pt x="70" y="282"/>
                  </a:lnTo>
                  <a:lnTo>
                    <a:pt x="81" y="292"/>
                  </a:lnTo>
                  <a:lnTo>
                    <a:pt x="92" y="306"/>
                  </a:lnTo>
                  <a:lnTo>
                    <a:pt x="103" y="316"/>
                  </a:lnTo>
                  <a:lnTo>
                    <a:pt x="111" y="322"/>
                  </a:lnTo>
                  <a:lnTo>
                    <a:pt x="119" y="327"/>
                  </a:lnTo>
                  <a:lnTo>
                    <a:pt x="127" y="330"/>
                  </a:lnTo>
                  <a:lnTo>
                    <a:pt x="135" y="335"/>
                  </a:lnTo>
                  <a:lnTo>
                    <a:pt x="146" y="338"/>
                  </a:lnTo>
                  <a:lnTo>
                    <a:pt x="156" y="341"/>
                  </a:lnTo>
                  <a:lnTo>
                    <a:pt x="170" y="343"/>
                  </a:lnTo>
                  <a:lnTo>
                    <a:pt x="183" y="346"/>
                  </a:lnTo>
                  <a:lnTo>
                    <a:pt x="191" y="346"/>
                  </a:lnTo>
                  <a:lnTo>
                    <a:pt x="200" y="349"/>
                  </a:lnTo>
                  <a:lnTo>
                    <a:pt x="218" y="351"/>
                  </a:lnTo>
                  <a:lnTo>
                    <a:pt x="240" y="354"/>
                  </a:lnTo>
                  <a:lnTo>
                    <a:pt x="261" y="354"/>
                  </a:lnTo>
                  <a:lnTo>
                    <a:pt x="286" y="357"/>
                  </a:lnTo>
                  <a:lnTo>
                    <a:pt x="310" y="359"/>
                  </a:lnTo>
                  <a:lnTo>
                    <a:pt x="334" y="359"/>
                  </a:lnTo>
                  <a:lnTo>
                    <a:pt x="361" y="362"/>
                  </a:lnTo>
                  <a:lnTo>
                    <a:pt x="385" y="362"/>
                  </a:lnTo>
                  <a:lnTo>
                    <a:pt x="409" y="359"/>
                  </a:lnTo>
                  <a:lnTo>
                    <a:pt x="434" y="359"/>
                  </a:lnTo>
                  <a:lnTo>
                    <a:pt x="455" y="357"/>
                  </a:lnTo>
                  <a:lnTo>
                    <a:pt x="477" y="351"/>
                  </a:lnTo>
                  <a:lnTo>
                    <a:pt x="493" y="346"/>
                  </a:lnTo>
                  <a:lnTo>
                    <a:pt x="504" y="343"/>
                  </a:lnTo>
                  <a:lnTo>
                    <a:pt x="509" y="338"/>
                  </a:lnTo>
                  <a:lnTo>
                    <a:pt x="517" y="335"/>
                  </a:lnTo>
                  <a:lnTo>
                    <a:pt x="522" y="330"/>
                  </a:lnTo>
                  <a:lnTo>
                    <a:pt x="528" y="325"/>
                  </a:lnTo>
                  <a:lnTo>
                    <a:pt x="533" y="319"/>
                  </a:lnTo>
                  <a:lnTo>
                    <a:pt x="541" y="306"/>
                  </a:lnTo>
                  <a:lnTo>
                    <a:pt x="549" y="292"/>
                  </a:lnTo>
                  <a:lnTo>
                    <a:pt x="555" y="274"/>
                  </a:lnTo>
                  <a:lnTo>
                    <a:pt x="557" y="255"/>
                  </a:lnTo>
                  <a:lnTo>
                    <a:pt x="560" y="236"/>
                  </a:lnTo>
                  <a:lnTo>
                    <a:pt x="563" y="215"/>
                  </a:lnTo>
                  <a:lnTo>
                    <a:pt x="563" y="193"/>
                  </a:lnTo>
                  <a:lnTo>
                    <a:pt x="560" y="172"/>
                  </a:lnTo>
                  <a:lnTo>
                    <a:pt x="560" y="153"/>
                  </a:lnTo>
                  <a:lnTo>
                    <a:pt x="557" y="131"/>
                  </a:lnTo>
                  <a:lnTo>
                    <a:pt x="557" y="113"/>
                  </a:lnTo>
                  <a:lnTo>
                    <a:pt x="555" y="94"/>
                  </a:lnTo>
                  <a:lnTo>
                    <a:pt x="552" y="78"/>
                  </a:lnTo>
                  <a:lnTo>
                    <a:pt x="549" y="64"/>
                  </a:lnTo>
                  <a:lnTo>
                    <a:pt x="547" y="59"/>
                  </a:lnTo>
                  <a:lnTo>
                    <a:pt x="547" y="54"/>
                  </a:lnTo>
                  <a:lnTo>
                    <a:pt x="544" y="46"/>
                  </a:lnTo>
                  <a:lnTo>
                    <a:pt x="541" y="38"/>
                  </a:lnTo>
                  <a:lnTo>
                    <a:pt x="539" y="30"/>
                  </a:lnTo>
                  <a:lnTo>
                    <a:pt x="536" y="27"/>
                  </a:lnTo>
                  <a:lnTo>
                    <a:pt x="533" y="22"/>
                  </a:lnTo>
                  <a:lnTo>
                    <a:pt x="528" y="19"/>
                  </a:lnTo>
                  <a:lnTo>
                    <a:pt x="522" y="19"/>
                  </a:lnTo>
                  <a:lnTo>
                    <a:pt x="520" y="16"/>
                  </a:lnTo>
                  <a:lnTo>
                    <a:pt x="506" y="16"/>
                  </a:lnTo>
                  <a:lnTo>
                    <a:pt x="495" y="16"/>
                  </a:lnTo>
                  <a:lnTo>
                    <a:pt x="479" y="16"/>
                  </a:lnTo>
                  <a:lnTo>
                    <a:pt x="474" y="13"/>
                  </a:lnTo>
                  <a:lnTo>
                    <a:pt x="466" y="13"/>
                  </a:lnTo>
                  <a:lnTo>
                    <a:pt x="458" y="13"/>
                  </a:lnTo>
                  <a:lnTo>
                    <a:pt x="450" y="11"/>
                  </a:lnTo>
                  <a:lnTo>
                    <a:pt x="431" y="11"/>
                  </a:lnTo>
                  <a:lnTo>
                    <a:pt x="409" y="11"/>
                  </a:lnTo>
                  <a:lnTo>
                    <a:pt x="388" y="13"/>
                  </a:lnTo>
                  <a:lnTo>
                    <a:pt x="364" y="13"/>
                  </a:lnTo>
                  <a:lnTo>
                    <a:pt x="342" y="13"/>
                  </a:lnTo>
                  <a:lnTo>
                    <a:pt x="321" y="13"/>
                  </a:lnTo>
                  <a:lnTo>
                    <a:pt x="302" y="13"/>
                  </a:lnTo>
                  <a:lnTo>
                    <a:pt x="283" y="11"/>
                  </a:lnTo>
                  <a:lnTo>
                    <a:pt x="264" y="11"/>
                  </a:lnTo>
                  <a:lnTo>
                    <a:pt x="248" y="5"/>
                  </a:lnTo>
                  <a:lnTo>
                    <a:pt x="229" y="3"/>
                  </a:lnTo>
                  <a:lnTo>
                    <a:pt x="213" y="0"/>
                  </a:lnTo>
                  <a:lnTo>
                    <a:pt x="200" y="0"/>
                  </a:lnTo>
                  <a:lnTo>
                    <a:pt x="186" y="0"/>
                  </a:lnTo>
                  <a:lnTo>
                    <a:pt x="181" y="0"/>
                  </a:lnTo>
                  <a:lnTo>
                    <a:pt x="175" y="0"/>
                  </a:lnTo>
                  <a:close/>
                </a:path>
              </a:pathLst>
            </a:custGeom>
            <a:solidFill>
              <a:srgbClr val="33CCFF"/>
            </a:solidFill>
            <a:ln>
              <a:noFill/>
            </a:ln>
          </p:spPr>
          <p:txBody>
            <a:bodyPr/>
            <a:lstStyle/>
            <a:p>
              <a:endParaRPr lang="en-US"/>
            </a:p>
          </p:txBody>
        </p:sp>
        <p:sp>
          <p:nvSpPr>
            <p:cNvPr id="185387" name="Freeform 41"/>
            <p:cNvSpPr/>
            <p:nvPr/>
          </p:nvSpPr>
          <p:spPr bwMode="auto">
            <a:xfrm>
              <a:off x="4064" y="1504"/>
              <a:ext cx="218" cy="212"/>
            </a:xfrm>
            <a:custGeom>
              <a:avLst/>
              <a:gdLst>
                <a:gd name="T0" fmla="*/ 100 w 218"/>
                <a:gd name="T1" fmla="*/ 0 h 212"/>
                <a:gd name="T2" fmla="*/ 78 w 218"/>
                <a:gd name="T3" fmla="*/ 6 h 212"/>
                <a:gd name="T4" fmla="*/ 57 w 218"/>
                <a:gd name="T5" fmla="*/ 14 h 212"/>
                <a:gd name="T6" fmla="*/ 41 w 218"/>
                <a:gd name="T7" fmla="*/ 25 h 212"/>
                <a:gd name="T8" fmla="*/ 24 w 218"/>
                <a:gd name="T9" fmla="*/ 38 h 212"/>
                <a:gd name="T10" fmla="*/ 14 w 218"/>
                <a:gd name="T11" fmla="*/ 57 h 212"/>
                <a:gd name="T12" fmla="*/ 6 w 218"/>
                <a:gd name="T13" fmla="*/ 76 h 212"/>
                <a:gd name="T14" fmla="*/ 0 w 218"/>
                <a:gd name="T15" fmla="*/ 94 h 212"/>
                <a:gd name="T16" fmla="*/ 0 w 218"/>
                <a:gd name="T17" fmla="*/ 116 h 212"/>
                <a:gd name="T18" fmla="*/ 6 w 218"/>
                <a:gd name="T19" fmla="*/ 137 h 212"/>
                <a:gd name="T20" fmla="*/ 14 w 218"/>
                <a:gd name="T21" fmla="*/ 156 h 212"/>
                <a:gd name="T22" fmla="*/ 24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6 h 212"/>
                <a:gd name="T48" fmla="*/ 218 w 218"/>
                <a:gd name="T49" fmla="*/ 94 h 212"/>
                <a:gd name="T50" fmla="*/ 213 w 218"/>
                <a:gd name="T51" fmla="*/ 76 h 212"/>
                <a:gd name="T52" fmla="*/ 205 w 218"/>
                <a:gd name="T53" fmla="*/ 57 h 212"/>
                <a:gd name="T54" fmla="*/ 194 w 218"/>
                <a:gd name="T55" fmla="*/ 38 h 212"/>
                <a:gd name="T56" fmla="*/ 178 w 218"/>
                <a:gd name="T57" fmla="*/ 25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7" y="8"/>
                  </a:lnTo>
                  <a:lnTo>
                    <a:pt x="57" y="14"/>
                  </a:lnTo>
                  <a:lnTo>
                    <a:pt x="49" y="19"/>
                  </a:lnTo>
                  <a:lnTo>
                    <a:pt x="41" y="25"/>
                  </a:lnTo>
                  <a:lnTo>
                    <a:pt x="33" y="33"/>
                  </a:lnTo>
                  <a:lnTo>
                    <a:pt x="24" y="38"/>
                  </a:lnTo>
                  <a:lnTo>
                    <a:pt x="19" y="46"/>
                  </a:lnTo>
                  <a:lnTo>
                    <a:pt x="14" y="57"/>
                  </a:lnTo>
                  <a:lnTo>
                    <a:pt x="8" y="65"/>
                  </a:lnTo>
                  <a:lnTo>
                    <a:pt x="6" y="76"/>
                  </a:lnTo>
                  <a:lnTo>
                    <a:pt x="3" y="84"/>
                  </a:lnTo>
                  <a:lnTo>
                    <a:pt x="0" y="94"/>
                  </a:lnTo>
                  <a:lnTo>
                    <a:pt x="0" y="105"/>
                  </a:lnTo>
                  <a:lnTo>
                    <a:pt x="0" y="116"/>
                  </a:lnTo>
                  <a:lnTo>
                    <a:pt x="3" y="126"/>
                  </a:lnTo>
                  <a:lnTo>
                    <a:pt x="6" y="137"/>
                  </a:lnTo>
                  <a:lnTo>
                    <a:pt x="8" y="148"/>
                  </a:lnTo>
                  <a:lnTo>
                    <a:pt x="14" y="156"/>
                  </a:lnTo>
                  <a:lnTo>
                    <a:pt x="19" y="164"/>
                  </a:lnTo>
                  <a:lnTo>
                    <a:pt x="24" y="172"/>
                  </a:lnTo>
                  <a:lnTo>
                    <a:pt x="33" y="180"/>
                  </a:lnTo>
                  <a:lnTo>
                    <a:pt x="41" y="188"/>
                  </a:lnTo>
                  <a:lnTo>
                    <a:pt x="49" y="193"/>
                  </a:lnTo>
                  <a:lnTo>
                    <a:pt x="57" y="199"/>
                  </a:lnTo>
                  <a:lnTo>
                    <a:pt x="67" y="204"/>
                  </a:lnTo>
                  <a:lnTo>
                    <a:pt x="78" y="207"/>
                  </a:lnTo>
                  <a:lnTo>
                    <a:pt x="89" y="210"/>
                  </a:lnTo>
                  <a:lnTo>
                    <a:pt x="100" y="212"/>
                  </a:lnTo>
                  <a:lnTo>
                    <a:pt x="111" y="212"/>
                  </a:lnTo>
                  <a:lnTo>
                    <a:pt x="121" y="212"/>
                  </a:lnTo>
                  <a:lnTo>
                    <a:pt x="132" y="210"/>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5" y="126"/>
                  </a:lnTo>
                  <a:lnTo>
                    <a:pt x="218" y="116"/>
                  </a:lnTo>
                  <a:lnTo>
                    <a:pt x="218" y="105"/>
                  </a:lnTo>
                  <a:lnTo>
                    <a:pt x="218" y="94"/>
                  </a:lnTo>
                  <a:lnTo>
                    <a:pt x="215" y="84"/>
                  </a:lnTo>
                  <a:lnTo>
                    <a:pt x="213" y="76"/>
                  </a:lnTo>
                  <a:lnTo>
                    <a:pt x="210" y="65"/>
                  </a:lnTo>
                  <a:lnTo>
                    <a:pt x="205" y="57"/>
                  </a:lnTo>
                  <a:lnTo>
                    <a:pt x="199" y="46"/>
                  </a:lnTo>
                  <a:lnTo>
                    <a:pt x="194" y="38"/>
                  </a:lnTo>
                  <a:lnTo>
                    <a:pt x="186" y="33"/>
                  </a:lnTo>
                  <a:lnTo>
                    <a:pt x="178" y="25"/>
                  </a:lnTo>
                  <a:lnTo>
                    <a:pt x="170" y="19"/>
                  </a:lnTo>
                  <a:lnTo>
                    <a:pt x="162" y="14"/>
                  </a:lnTo>
                  <a:lnTo>
                    <a:pt x="154" y="8"/>
                  </a:lnTo>
                  <a:lnTo>
                    <a:pt x="143" y="6"/>
                  </a:lnTo>
                  <a:lnTo>
                    <a:pt x="132" y="3"/>
                  </a:lnTo>
                  <a:lnTo>
                    <a:pt x="121" y="0"/>
                  </a:lnTo>
                  <a:lnTo>
                    <a:pt x="111" y="0"/>
                  </a:lnTo>
                  <a:close/>
                </a:path>
              </a:pathLst>
            </a:custGeom>
            <a:solidFill>
              <a:srgbClr val="33CCFF"/>
            </a:solidFill>
            <a:ln>
              <a:noFill/>
            </a:ln>
          </p:spPr>
          <p:txBody>
            <a:bodyPr/>
            <a:lstStyle/>
            <a:p>
              <a:endParaRPr lang="en-US"/>
            </a:p>
          </p:txBody>
        </p:sp>
      </p:grpSp>
      <p:sp>
        <p:nvSpPr>
          <p:cNvPr id="2" name="TextBox 1"/>
          <p:cNvSpPr txBox="1"/>
          <p:nvPr/>
        </p:nvSpPr>
        <p:spPr>
          <a:xfrm>
            <a:off x="538017" y="3604926"/>
            <a:ext cx="7997077" cy="707886"/>
          </a:xfrm>
          <a:prstGeom prst="rect">
            <a:avLst/>
          </a:prstGeom>
          <a:noFill/>
        </p:spPr>
        <p:txBody>
          <a:bodyPr wrap="square" rtlCol="0">
            <a:spAutoFit/>
          </a:bodyPr>
          <a:lstStyle/>
          <a:p>
            <a:pPr algn="ctr"/>
            <a:r>
              <a:rPr lang="en-US" sz="2000" dirty="0">
                <a:solidFill>
                  <a:srgbClr val="000090"/>
                </a:solidFill>
              </a:rPr>
              <a:t>Suppose an ISP only wants to route traffic to/from its customer networks (does not want to carry transit traffic between other ISPs)</a:t>
            </a:r>
          </a:p>
        </p:txBody>
      </p:sp>
      <p:sp>
        <p:nvSpPr>
          <p:cNvPr id="44"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83</a:t>
            </a:fld>
            <a:endParaRPr lang="en-US" sz="1200" dirty="0">
              <a:latin typeface="Tahoma" panose="020B0604030504040204" charset="0"/>
            </a:endParaRPr>
          </a:p>
        </p:txBody>
      </p:sp>
      <p:sp>
        <p:nvSpPr>
          <p:cNvPr id="45"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pic>
        <p:nvPicPr>
          <p:cNvPr id="49" name="Picture 4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5165" y="801925"/>
            <a:ext cx="8301892" cy="256317"/>
          </a:xfrm>
          <a:prstGeom prst="rect">
            <a:avLst/>
          </a:prstGeom>
          <a:noFill/>
          <a:ln>
            <a:noFill/>
          </a:ln>
        </p:spPr>
      </p:pic>
      <p:sp>
        <p:nvSpPr>
          <p:cNvPr id="50" name="Rectangle 2"/>
          <p:cNvSpPr>
            <a:spLocks noGrp="1" noChangeArrowheads="1"/>
          </p:cNvSpPr>
          <p:nvPr>
            <p:ph type="title"/>
          </p:nvPr>
        </p:nvSpPr>
        <p:spPr>
          <a:xfrm>
            <a:off x="368935" y="6985"/>
            <a:ext cx="8961120" cy="1143000"/>
          </a:xfrm>
        </p:spPr>
        <p:txBody>
          <a:bodyPr/>
          <a:lstStyle/>
          <a:p>
            <a:pPr>
              <a:defRPr/>
            </a:pPr>
            <a:r>
              <a:rPr lang="en-US" sz="3200" dirty="0">
                <a:cs typeface="+mj-cs"/>
              </a:rPr>
              <a:t>BGP: achieving policy via advertisements</a:t>
            </a:r>
          </a:p>
        </p:txBody>
      </p:sp>
    </p:spTree>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5347" name="Picture 4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5165" y="801925"/>
            <a:ext cx="8301892" cy="256317"/>
          </a:xfrm>
          <a:prstGeom prst="rect">
            <a:avLst/>
          </a:prstGeom>
          <a:noFill/>
          <a:ln>
            <a:noFill/>
          </a:ln>
        </p:spPr>
      </p:pic>
      <p:sp>
        <p:nvSpPr>
          <p:cNvPr id="122885" name="Rectangle 2"/>
          <p:cNvSpPr>
            <a:spLocks noGrp="1" noChangeArrowheads="1"/>
          </p:cNvSpPr>
          <p:nvPr>
            <p:ph type="title"/>
          </p:nvPr>
        </p:nvSpPr>
        <p:spPr>
          <a:xfrm>
            <a:off x="368746" y="6884"/>
            <a:ext cx="8610600" cy="1143000"/>
          </a:xfrm>
        </p:spPr>
        <p:txBody>
          <a:bodyPr/>
          <a:lstStyle/>
          <a:p>
            <a:pPr>
              <a:defRPr/>
            </a:pPr>
            <a:r>
              <a:rPr lang="en-US" sz="3200" dirty="0">
                <a:cs typeface="+mj-cs"/>
              </a:rPr>
              <a:t>BGP: achieving policy via advertisements</a:t>
            </a:r>
          </a:p>
        </p:txBody>
      </p:sp>
      <p:sp>
        <p:nvSpPr>
          <p:cNvPr id="185349" name="Rectangle 3"/>
          <p:cNvSpPr>
            <a:spLocks noChangeArrowheads="1"/>
          </p:cNvSpPr>
          <p:nvPr/>
        </p:nvSpPr>
        <p:spPr bwMode="auto">
          <a:xfrm>
            <a:off x="1181100" y="3581400"/>
            <a:ext cx="4876800" cy="381000"/>
          </a:xfrm>
          <a:prstGeom prst="rect">
            <a:avLst/>
          </a:prstGeom>
          <a:solidFill>
            <a:schemeClr val="bg1"/>
          </a:solidFill>
          <a:ln>
            <a:noFill/>
          </a:ln>
        </p:spPr>
        <p:txBody>
          <a:bodyPr wrap="none" anchor="ctr"/>
          <a:lstStyle/>
          <a:p>
            <a:endParaRPr lang="en-US"/>
          </a:p>
        </p:txBody>
      </p:sp>
      <p:sp>
        <p:nvSpPr>
          <p:cNvPr id="185350" name="Rectangle 4"/>
          <p:cNvSpPr>
            <a:spLocks noChangeArrowheads="1"/>
          </p:cNvSpPr>
          <p:nvPr/>
        </p:nvSpPr>
        <p:spPr bwMode="auto">
          <a:xfrm>
            <a:off x="682740" y="4513560"/>
            <a:ext cx="8229600" cy="2053220"/>
          </a:xfrm>
          <a:prstGeom prst="rect">
            <a:avLst/>
          </a:prstGeom>
          <a:noFill/>
          <a:ln>
            <a:noFill/>
          </a:ln>
        </p:spPr>
        <p:txBody>
          <a:bodyPr/>
          <a:lstStyle/>
          <a:p>
            <a:pPr marL="282575" indent="-282575">
              <a:lnSpc>
                <a:spcPct val="85000"/>
              </a:lnSpc>
              <a:spcBef>
                <a:spcPct val="20000"/>
              </a:spcBef>
              <a:buClr>
                <a:srgbClr val="000099"/>
              </a:buClr>
              <a:buSzPct val="100000"/>
              <a:buFont typeface="Wingdings" panose="05000000000000000000" pitchFamily="2" charset="2"/>
              <a:buChar char="§"/>
            </a:pPr>
            <a:r>
              <a:rPr lang="en-US" sz="2400" dirty="0">
                <a:latin typeface="Gill Sans MT" pitchFamily="34" charset="0"/>
              </a:rPr>
              <a:t>A,B,C are </a:t>
            </a:r>
            <a:r>
              <a:rPr lang="en-US" sz="2400" i="1" dirty="0">
                <a:solidFill>
                  <a:srgbClr val="CC0000"/>
                </a:solidFill>
                <a:latin typeface="Gill Sans MT" pitchFamily="34" charset="0"/>
              </a:rPr>
              <a:t>provider networks</a:t>
            </a:r>
          </a:p>
          <a:p>
            <a:pPr marL="282575" indent="-282575">
              <a:lnSpc>
                <a:spcPct val="85000"/>
              </a:lnSpc>
              <a:spcBef>
                <a:spcPct val="20000"/>
              </a:spcBef>
              <a:buClr>
                <a:srgbClr val="000099"/>
              </a:buClr>
              <a:buSzPct val="100000"/>
              <a:buFont typeface="Wingdings" panose="05000000000000000000" pitchFamily="2" charset="2"/>
              <a:buChar char="§"/>
            </a:pPr>
            <a:r>
              <a:rPr lang="en-US" sz="2400" dirty="0">
                <a:latin typeface="Gill Sans MT" pitchFamily="34" charset="0"/>
              </a:rPr>
              <a:t>X,W,Y are customer (of provider networks)</a:t>
            </a:r>
          </a:p>
          <a:p>
            <a:pPr marL="282575" indent="-282575">
              <a:lnSpc>
                <a:spcPct val="85000"/>
              </a:lnSpc>
              <a:spcBef>
                <a:spcPct val="20000"/>
              </a:spcBef>
              <a:buClr>
                <a:srgbClr val="000099"/>
              </a:buClr>
              <a:buSzPct val="100000"/>
              <a:buFont typeface="Wingdings" panose="05000000000000000000" pitchFamily="2" charset="2"/>
              <a:buChar char="§"/>
            </a:pPr>
            <a:r>
              <a:rPr lang="en-US" sz="2400" dirty="0">
                <a:latin typeface="Gill Sans MT" pitchFamily="34" charset="0"/>
              </a:rPr>
              <a:t>X is </a:t>
            </a:r>
            <a:r>
              <a:rPr lang="en-US" sz="2400" i="1" dirty="0">
                <a:solidFill>
                  <a:srgbClr val="CC0000"/>
                </a:solidFill>
                <a:latin typeface="Gill Sans MT" pitchFamily="34" charset="0"/>
              </a:rPr>
              <a:t>dual-homed:</a:t>
            </a:r>
            <a:r>
              <a:rPr lang="en-US" sz="2400" dirty="0">
                <a:latin typeface="Gill Sans MT" pitchFamily="34" charset="0"/>
              </a:rPr>
              <a:t> attached to two networks</a:t>
            </a:r>
          </a:p>
          <a:p>
            <a:pPr marL="228600" indent="-228600">
              <a:lnSpc>
                <a:spcPct val="85000"/>
              </a:lnSpc>
              <a:spcBef>
                <a:spcPct val="20000"/>
              </a:spcBef>
              <a:buClr>
                <a:srgbClr val="000099"/>
              </a:buClr>
              <a:buFont typeface="Wingdings" panose="05000000000000000000" charset="0"/>
              <a:buChar char="§"/>
            </a:pPr>
            <a:r>
              <a:rPr lang="en-US" sz="2400" i="1" dirty="0">
                <a:solidFill>
                  <a:srgbClr val="000090"/>
                </a:solidFill>
                <a:latin typeface="Gill Sans MT" pitchFamily="34" charset="0"/>
              </a:rPr>
              <a:t>policy to enforce: </a:t>
            </a:r>
            <a:r>
              <a:rPr lang="en-US" sz="2400" dirty="0">
                <a:latin typeface="Gill Sans MT" pitchFamily="34" charset="0"/>
              </a:rPr>
              <a:t>X does not want to route from B to C via X </a:t>
            </a:r>
          </a:p>
          <a:p>
            <a:pPr marL="685800" lvl="1" indent="-228600">
              <a:lnSpc>
                <a:spcPct val="85000"/>
              </a:lnSpc>
              <a:spcBef>
                <a:spcPct val="20000"/>
              </a:spcBef>
              <a:buClr>
                <a:srgbClr val="000099"/>
              </a:buClr>
              <a:buFont typeface="Wingdings" panose="05000000000000000000" charset="0"/>
              <a:buChar char="§"/>
            </a:pPr>
            <a:r>
              <a:rPr lang="en-US" sz="2000" dirty="0">
                <a:latin typeface="Gill Sans MT" pitchFamily="34" charset="0"/>
              </a:rPr>
              <a:t>.. so X will not advertise to B a route to C</a:t>
            </a:r>
          </a:p>
          <a:p>
            <a:pPr marL="342900" indent="-342900">
              <a:lnSpc>
                <a:spcPct val="85000"/>
              </a:lnSpc>
              <a:spcBef>
                <a:spcPct val="20000"/>
              </a:spcBef>
              <a:buClr>
                <a:srgbClr val="000099"/>
              </a:buClr>
              <a:buSzPct val="65000"/>
              <a:buFont typeface="Wingdings" panose="05000000000000000000" charset="0"/>
              <a:buChar char="v"/>
            </a:pPr>
            <a:endParaRPr lang="en-US" sz="2400" dirty="0">
              <a:latin typeface="Gill Sans MT" pitchFamily="34" charset="0"/>
            </a:endParaRPr>
          </a:p>
        </p:txBody>
      </p:sp>
      <p:grpSp>
        <p:nvGrpSpPr>
          <p:cNvPr id="185351" name="Group 5"/>
          <p:cNvGrpSpPr/>
          <p:nvPr/>
        </p:nvGrpSpPr>
        <p:grpSpPr bwMode="auto">
          <a:xfrm>
            <a:off x="476250" y="1123950"/>
            <a:ext cx="7539038" cy="3048000"/>
            <a:chOff x="300" y="708"/>
            <a:chExt cx="4749" cy="1920"/>
          </a:xfrm>
        </p:grpSpPr>
        <p:sp>
          <p:nvSpPr>
            <p:cNvPr id="185352" name="AutoShape 6"/>
            <p:cNvSpPr>
              <a:spLocks noChangeAspect="1" noChangeArrowheads="1" noTextEdit="1"/>
            </p:cNvSpPr>
            <p:nvPr/>
          </p:nvSpPr>
          <p:spPr bwMode="auto">
            <a:xfrm>
              <a:off x="300" y="708"/>
              <a:ext cx="4749" cy="1920"/>
            </a:xfrm>
            <a:prstGeom prst="rect">
              <a:avLst/>
            </a:prstGeom>
            <a:noFill/>
            <a:ln>
              <a:noFill/>
            </a:ln>
          </p:spPr>
          <p:txBody>
            <a:bodyPr/>
            <a:lstStyle/>
            <a:p>
              <a:endParaRPr lang="en-US"/>
            </a:p>
          </p:txBody>
        </p:sp>
        <p:sp>
          <p:nvSpPr>
            <p:cNvPr id="185353" name="Freeform 7"/>
            <p:cNvSpPr/>
            <p:nvPr/>
          </p:nvSpPr>
          <p:spPr bwMode="auto">
            <a:xfrm>
              <a:off x="1602" y="955"/>
              <a:ext cx="563" cy="364"/>
            </a:xfrm>
            <a:custGeom>
              <a:avLst/>
              <a:gdLst>
                <a:gd name="T0" fmla="*/ 148 w 563"/>
                <a:gd name="T1" fmla="*/ 5 h 364"/>
                <a:gd name="T2" fmla="*/ 119 w 563"/>
                <a:gd name="T3" fmla="*/ 10 h 364"/>
                <a:gd name="T4" fmla="*/ 94 w 563"/>
                <a:gd name="T5" fmla="*/ 21 h 364"/>
                <a:gd name="T6" fmla="*/ 70 w 563"/>
                <a:gd name="T7" fmla="*/ 37 h 364"/>
                <a:gd name="T8" fmla="*/ 46 w 563"/>
                <a:gd name="T9" fmla="*/ 61 h 364"/>
                <a:gd name="T10" fmla="*/ 24 w 563"/>
                <a:gd name="T11" fmla="*/ 91 h 364"/>
                <a:gd name="T12" fmla="*/ 8 w 563"/>
                <a:gd name="T13" fmla="*/ 120 h 364"/>
                <a:gd name="T14" fmla="*/ 3 w 563"/>
                <a:gd name="T15" fmla="*/ 136 h 364"/>
                <a:gd name="T16" fmla="*/ 0 w 563"/>
                <a:gd name="T17" fmla="*/ 150 h 364"/>
                <a:gd name="T18" fmla="*/ 0 w 563"/>
                <a:gd name="T19" fmla="*/ 166 h 364"/>
                <a:gd name="T20" fmla="*/ 8 w 563"/>
                <a:gd name="T21" fmla="*/ 195 h 364"/>
                <a:gd name="T22" fmla="*/ 27 w 563"/>
                <a:gd name="T23" fmla="*/ 228 h 364"/>
                <a:gd name="T24" fmla="*/ 49 w 563"/>
                <a:gd name="T25" fmla="*/ 257 h 364"/>
                <a:gd name="T26" fmla="*/ 70 w 563"/>
                <a:gd name="T27" fmla="*/ 284 h 364"/>
                <a:gd name="T28" fmla="*/ 92 w 563"/>
                <a:gd name="T29" fmla="*/ 305 h 364"/>
                <a:gd name="T30" fmla="*/ 111 w 563"/>
                <a:gd name="T31" fmla="*/ 321 h 364"/>
                <a:gd name="T32" fmla="*/ 127 w 563"/>
                <a:gd name="T33" fmla="*/ 332 h 364"/>
                <a:gd name="T34" fmla="*/ 146 w 563"/>
                <a:gd name="T35" fmla="*/ 340 h 364"/>
                <a:gd name="T36" fmla="*/ 170 w 563"/>
                <a:gd name="T37" fmla="*/ 346 h 364"/>
                <a:gd name="T38" fmla="*/ 191 w 563"/>
                <a:gd name="T39" fmla="*/ 348 h 364"/>
                <a:gd name="T40" fmla="*/ 218 w 563"/>
                <a:gd name="T41" fmla="*/ 354 h 364"/>
                <a:gd name="T42" fmla="*/ 261 w 563"/>
                <a:gd name="T43" fmla="*/ 356 h 364"/>
                <a:gd name="T44" fmla="*/ 310 w 563"/>
                <a:gd name="T45" fmla="*/ 362 h 364"/>
                <a:gd name="T46" fmla="*/ 361 w 563"/>
                <a:gd name="T47" fmla="*/ 364 h 364"/>
                <a:gd name="T48" fmla="*/ 409 w 563"/>
                <a:gd name="T49" fmla="*/ 362 h 364"/>
                <a:gd name="T50" fmla="*/ 458 w 563"/>
                <a:gd name="T51" fmla="*/ 359 h 364"/>
                <a:gd name="T52" fmla="*/ 495 w 563"/>
                <a:gd name="T53" fmla="*/ 348 h 364"/>
                <a:gd name="T54" fmla="*/ 511 w 563"/>
                <a:gd name="T55" fmla="*/ 340 h 364"/>
                <a:gd name="T56" fmla="*/ 525 w 563"/>
                <a:gd name="T57" fmla="*/ 332 h 364"/>
                <a:gd name="T58" fmla="*/ 536 w 563"/>
                <a:gd name="T59" fmla="*/ 321 h 364"/>
                <a:gd name="T60" fmla="*/ 549 w 563"/>
                <a:gd name="T61" fmla="*/ 295 h 364"/>
                <a:gd name="T62" fmla="*/ 557 w 563"/>
                <a:gd name="T63" fmla="*/ 257 h 364"/>
                <a:gd name="T64" fmla="*/ 563 w 563"/>
                <a:gd name="T65" fmla="*/ 217 h 364"/>
                <a:gd name="T66" fmla="*/ 563 w 563"/>
                <a:gd name="T67" fmla="*/ 174 h 364"/>
                <a:gd name="T68" fmla="*/ 557 w 563"/>
                <a:gd name="T69" fmla="*/ 134 h 364"/>
                <a:gd name="T70" fmla="*/ 555 w 563"/>
                <a:gd name="T71" fmla="*/ 96 h 364"/>
                <a:gd name="T72" fmla="*/ 549 w 563"/>
                <a:gd name="T73" fmla="*/ 67 h 364"/>
                <a:gd name="T74" fmla="*/ 546 w 563"/>
                <a:gd name="T75" fmla="*/ 56 h 364"/>
                <a:gd name="T76" fmla="*/ 541 w 563"/>
                <a:gd name="T77" fmla="*/ 40 h 364"/>
                <a:gd name="T78" fmla="*/ 536 w 563"/>
                <a:gd name="T79" fmla="*/ 29 h 364"/>
                <a:gd name="T80" fmla="*/ 528 w 563"/>
                <a:gd name="T81" fmla="*/ 21 h 364"/>
                <a:gd name="T82" fmla="*/ 520 w 563"/>
                <a:gd name="T83" fmla="*/ 18 h 364"/>
                <a:gd name="T84" fmla="*/ 495 w 563"/>
                <a:gd name="T85" fmla="*/ 16 h 364"/>
                <a:gd name="T86" fmla="*/ 466 w 563"/>
                <a:gd name="T87" fmla="*/ 16 h 364"/>
                <a:gd name="T88" fmla="*/ 450 w 563"/>
                <a:gd name="T89" fmla="*/ 13 h 364"/>
                <a:gd name="T90" fmla="*/ 409 w 563"/>
                <a:gd name="T91" fmla="*/ 13 h 364"/>
                <a:gd name="T92" fmla="*/ 364 w 563"/>
                <a:gd name="T93" fmla="*/ 16 h 364"/>
                <a:gd name="T94" fmla="*/ 320 w 563"/>
                <a:gd name="T95" fmla="*/ 16 h 364"/>
                <a:gd name="T96" fmla="*/ 283 w 563"/>
                <a:gd name="T97" fmla="*/ 13 h 364"/>
                <a:gd name="T98" fmla="*/ 248 w 563"/>
                <a:gd name="T99" fmla="*/ 8 h 364"/>
                <a:gd name="T100" fmla="*/ 213 w 563"/>
                <a:gd name="T101" fmla="*/ 2 h 364"/>
                <a:gd name="T102" fmla="*/ 186 w 563"/>
                <a:gd name="T103" fmla="*/ 0 h 364"/>
                <a:gd name="T104" fmla="*/ 175 w 563"/>
                <a:gd name="T105" fmla="*/ 0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3"/>
                <a:gd name="T160" fmla="*/ 0 h 364"/>
                <a:gd name="T161" fmla="*/ 563 w 56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3" h="364">
                  <a:moveTo>
                    <a:pt x="175" y="0"/>
                  </a:moveTo>
                  <a:lnTo>
                    <a:pt x="148" y="5"/>
                  </a:lnTo>
                  <a:lnTo>
                    <a:pt x="132" y="8"/>
                  </a:lnTo>
                  <a:lnTo>
                    <a:pt x="119" y="10"/>
                  </a:lnTo>
                  <a:lnTo>
                    <a:pt x="108" y="16"/>
                  </a:lnTo>
                  <a:lnTo>
                    <a:pt x="94" y="21"/>
                  </a:lnTo>
                  <a:lnTo>
                    <a:pt x="81" y="29"/>
                  </a:lnTo>
                  <a:lnTo>
                    <a:pt x="70" y="37"/>
                  </a:lnTo>
                  <a:lnTo>
                    <a:pt x="59" y="48"/>
                  </a:lnTo>
                  <a:lnTo>
                    <a:pt x="46" y="61"/>
                  </a:lnTo>
                  <a:lnTo>
                    <a:pt x="35" y="75"/>
                  </a:lnTo>
                  <a:lnTo>
                    <a:pt x="24" y="91"/>
                  </a:lnTo>
                  <a:lnTo>
                    <a:pt x="14" y="104"/>
                  </a:lnTo>
                  <a:lnTo>
                    <a:pt x="8" y="120"/>
                  </a:lnTo>
                  <a:lnTo>
                    <a:pt x="3" y="128"/>
                  </a:lnTo>
                  <a:lnTo>
                    <a:pt x="3" y="136"/>
                  </a:lnTo>
                  <a:lnTo>
                    <a:pt x="0" y="142"/>
                  </a:lnTo>
                  <a:lnTo>
                    <a:pt x="0" y="150"/>
                  </a:lnTo>
                  <a:lnTo>
                    <a:pt x="0" y="158"/>
                  </a:lnTo>
                  <a:lnTo>
                    <a:pt x="0" y="166"/>
                  </a:lnTo>
                  <a:lnTo>
                    <a:pt x="3" y="182"/>
                  </a:lnTo>
                  <a:lnTo>
                    <a:pt x="8" y="195"/>
                  </a:lnTo>
                  <a:lnTo>
                    <a:pt x="16" y="212"/>
                  </a:lnTo>
                  <a:lnTo>
                    <a:pt x="27" y="228"/>
                  </a:lnTo>
                  <a:lnTo>
                    <a:pt x="35" y="244"/>
                  </a:lnTo>
                  <a:lnTo>
                    <a:pt x="49" y="257"/>
                  </a:lnTo>
                  <a:lnTo>
                    <a:pt x="59" y="271"/>
                  </a:lnTo>
                  <a:lnTo>
                    <a:pt x="70" y="284"/>
                  </a:lnTo>
                  <a:lnTo>
                    <a:pt x="81" y="295"/>
                  </a:lnTo>
                  <a:lnTo>
                    <a:pt x="92" y="305"/>
                  </a:lnTo>
                  <a:lnTo>
                    <a:pt x="103" y="319"/>
                  </a:lnTo>
                  <a:lnTo>
                    <a:pt x="111" y="321"/>
                  </a:lnTo>
                  <a:lnTo>
                    <a:pt x="119" y="327"/>
                  </a:lnTo>
                  <a:lnTo>
                    <a:pt x="127" y="332"/>
                  </a:lnTo>
                  <a:lnTo>
                    <a:pt x="135" y="335"/>
                  </a:lnTo>
                  <a:lnTo>
                    <a:pt x="146" y="340"/>
                  </a:lnTo>
                  <a:lnTo>
                    <a:pt x="156" y="343"/>
                  </a:lnTo>
                  <a:lnTo>
                    <a:pt x="170" y="346"/>
                  </a:lnTo>
                  <a:lnTo>
                    <a:pt x="183" y="348"/>
                  </a:lnTo>
                  <a:lnTo>
                    <a:pt x="191" y="348"/>
                  </a:lnTo>
                  <a:lnTo>
                    <a:pt x="199" y="351"/>
                  </a:lnTo>
                  <a:lnTo>
                    <a:pt x="218" y="354"/>
                  </a:lnTo>
                  <a:lnTo>
                    <a:pt x="240" y="356"/>
                  </a:lnTo>
                  <a:lnTo>
                    <a:pt x="261" y="356"/>
                  </a:lnTo>
                  <a:lnTo>
                    <a:pt x="285" y="359"/>
                  </a:lnTo>
                  <a:lnTo>
                    <a:pt x="310" y="362"/>
                  </a:lnTo>
                  <a:lnTo>
                    <a:pt x="334" y="362"/>
                  </a:lnTo>
                  <a:lnTo>
                    <a:pt x="361" y="364"/>
                  </a:lnTo>
                  <a:lnTo>
                    <a:pt x="385" y="364"/>
                  </a:lnTo>
                  <a:lnTo>
                    <a:pt x="409" y="362"/>
                  </a:lnTo>
                  <a:lnTo>
                    <a:pt x="433" y="362"/>
                  </a:lnTo>
                  <a:lnTo>
                    <a:pt x="458" y="359"/>
                  </a:lnTo>
                  <a:lnTo>
                    <a:pt x="477" y="354"/>
                  </a:lnTo>
                  <a:lnTo>
                    <a:pt x="495" y="348"/>
                  </a:lnTo>
                  <a:lnTo>
                    <a:pt x="503" y="346"/>
                  </a:lnTo>
                  <a:lnTo>
                    <a:pt x="511" y="340"/>
                  </a:lnTo>
                  <a:lnTo>
                    <a:pt x="520" y="338"/>
                  </a:lnTo>
                  <a:lnTo>
                    <a:pt x="525" y="332"/>
                  </a:lnTo>
                  <a:lnTo>
                    <a:pt x="530" y="327"/>
                  </a:lnTo>
                  <a:lnTo>
                    <a:pt x="536" y="321"/>
                  </a:lnTo>
                  <a:lnTo>
                    <a:pt x="544" y="308"/>
                  </a:lnTo>
                  <a:lnTo>
                    <a:pt x="549" y="295"/>
                  </a:lnTo>
                  <a:lnTo>
                    <a:pt x="555" y="276"/>
                  </a:lnTo>
                  <a:lnTo>
                    <a:pt x="557" y="257"/>
                  </a:lnTo>
                  <a:lnTo>
                    <a:pt x="560" y="238"/>
                  </a:lnTo>
                  <a:lnTo>
                    <a:pt x="563" y="217"/>
                  </a:lnTo>
                  <a:lnTo>
                    <a:pt x="563" y="195"/>
                  </a:lnTo>
                  <a:lnTo>
                    <a:pt x="563" y="174"/>
                  </a:lnTo>
                  <a:lnTo>
                    <a:pt x="560" y="155"/>
                  </a:lnTo>
                  <a:lnTo>
                    <a:pt x="557" y="134"/>
                  </a:lnTo>
                  <a:lnTo>
                    <a:pt x="557" y="115"/>
                  </a:lnTo>
                  <a:lnTo>
                    <a:pt x="555" y="96"/>
                  </a:lnTo>
                  <a:lnTo>
                    <a:pt x="552" y="80"/>
                  </a:lnTo>
                  <a:lnTo>
                    <a:pt x="549" y="67"/>
                  </a:lnTo>
                  <a:lnTo>
                    <a:pt x="546" y="61"/>
                  </a:lnTo>
                  <a:lnTo>
                    <a:pt x="546" y="56"/>
                  </a:lnTo>
                  <a:lnTo>
                    <a:pt x="544" y="48"/>
                  </a:lnTo>
                  <a:lnTo>
                    <a:pt x="541" y="40"/>
                  </a:lnTo>
                  <a:lnTo>
                    <a:pt x="538" y="32"/>
                  </a:lnTo>
                  <a:lnTo>
                    <a:pt x="536" y="29"/>
                  </a:lnTo>
                  <a:lnTo>
                    <a:pt x="533" y="24"/>
                  </a:lnTo>
                  <a:lnTo>
                    <a:pt x="528" y="21"/>
                  </a:lnTo>
                  <a:lnTo>
                    <a:pt x="522" y="18"/>
                  </a:lnTo>
                  <a:lnTo>
                    <a:pt x="520" y="18"/>
                  </a:lnTo>
                  <a:lnTo>
                    <a:pt x="506" y="16"/>
                  </a:lnTo>
                  <a:lnTo>
                    <a:pt x="495" y="16"/>
                  </a:lnTo>
                  <a:lnTo>
                    <a:pt x="479" y="16"/>
                  </a:lnTo>
                  <a:lnTo>
                    <a:pt x="466" y="16"/>
                  </a:lnTo>
                  <a:lnTo>
                    <a:pt x="458" y="16"/>
                  </a:lnTo>
                  <a:lnTo>
                    <a:pt x="450" y="13"/>
                  </a:lnTo>
                  <a:lnTo>
                    <a:pt x="431" y="13"/>
                  </a:lnTo>
                  <a:lnTo>
                    <a:pt x="409" y="13"/>
                  </a:lnTo>
                  <a:lnTo>
                    <a:pt x="388" y="13"/>
                  </a:lnTo>
                  <a:lnTo>
                    <a:pt x="364" y="16"/>
                  </a:lnTo>
                  <a:lnTo>
                    <a:pt x="342" y="16"/>
                  </a:lnTo>
                  <a:lnTo>
                    <a:pt x="320" y="16"/>
                  </a:lnTo>
                  <a:lnTo>
                    <a:pt x="302" y="16"/>
                  </a:lnTo>
                  <a:lnTo>
                    <a:pt x="283" y="13"/>
                  </a:lnTo>
                  <a:lnTo>
                    <a:pt x="264" y="13"/>
                  </a:lnTo>
                  <a:lnTo>
                    <a:pt x="248" y="8"/>
                  </a:lnTo>
                  <a:lnTo>
                    <a:pt x="229" y="5"/>
                  </a:lnTo>
                  <a:lnTo>
                    <a:pt x="213" y="2"/>
                  </a:lnTo>
                  <a:lnTo>
                    <a:pt x="199" y="0"/>
                  </a:lnTo>
                  <a:lnTo>
                    <a:pt x="186" y="0"/>
                  </a:lnTo>
                  <a:lnTo>
                    <a:pt x="181" y="0"/>
                  </a:lnTo>
                  <a:lnTo>
                    <a:pt x="175" y="0"/>
                  </a:lnTo>
                  <a:close/>
                </a:path>
              </a:pathLst>
            </a:custGeom>
            <a:solidFill>
              <a:srgbClr val="33CCFF"/>
            </a:solidFill>
            <a:ln>
              <a:noFill/>
            </a:ln>
          </p:spPr>
          <p:txBody>
            <a:bodyPr/>
            <a:lstStyle/>
            <a:p>
              <a:endParaRPr lang="en-US"/>
            </a:p>
          </p:txBody>
        </p:sp>
        <p:sp>
          <p:nvSpPr>
            <p:cNvPr id="185354" name="Freeform 8"/>
            <p:cNvSpPr/>
            <p:nvPr/>
          </p:nvSpPr>
          <p:spPr bwMode="auto">
            <a:xfrm>
              <a:off x="951" y="1290"/>
              <a:ext cx="562" cy="365"/>
            </a:xfrm>
            <a:custGeom>
              <a:avLst/>
              <a:gdLst>
                <a:gd name="T0" fmla="*/ 148 w 562"/>
                <a:gd name="T1" fmla="*/ 5 h 365"/>
                <a:gd name="T2" fmla="*/ 121 w 562"/>
                <a:gd name="T3" fmla="*/ 11 h 365"/>
                <a:gd name="T4" fmla="*/ 94 w 562"/>
                <a:gd name="T5" fmla="*/ 21 h 365"/>
                <a:gd name="T6" fmla="*/ 70 w 562"/>
                <a:gd name="T7" fmla="*/ 37 h 365"/>
                <a:gd name="T8" fmla="*/ 46 w 562"/>
                <a:gd name="T9" fmla="*/ 62 h 365"/>
                <a:gd name="T10" fmla="*/ 24 w 562"/>
                <a:gd name="T11" fmla="*/ 91 h 365"/>
                <a:gd name="T12" fmla="*/ 8 w 562"/>
                <a:gd name="T13" fmla="*/ 121 h 365"/>
                <a:gd name="T14" fmla="*/ 3 w 562"/>
                <a:gd name="T15" fmla="*/ 137 h 365"/>
                <a:gd name="T16" fmla="*/ 0 w 562"/>
                <a:gd name="T17" fmla="*/ 150 h 365"/>
                <a:gd name="T18" fmla="*/ 0 w 562"/>
                <a:gd name="T19" fmla="*/ 166 h 365"/>
                <a:gd name="T20" fmla="*/ 3 w 562"/>
                <a:gd name="T21" fmla="*/ 182 h 365"/>
                <a:gd name="T22" fmla="*/ 19 w 562"/>
                <a:gd name="T23" fmla="*/ 212 h 365"/>
                <a:gd name="T24" fmla="*/ 38 w 562"/>
                <a:gd name="T25" fmla="*/ 244 h 365"/>
                <a:gd name="T26" fmla="*/ 59 w 562"/>
                <a:gd name="T27" fmla="*/ 271 h 365"/>
                <a:gd name="T28" fmla="*/ 81 w 562"/>
                <a:gd name="T29" fmla="*/ 295 h 365"/>
                <a:gd name="T30" fmla="*/ 105 w 562"/>
                <a:gd name="T31" fmla="*/ 319 h 365"/>
                <a:gd name="T32" fmla="*/ 119 w 562"/>
                <a:gd name="T33" fmla="*/ 327 h 365"/>
                <a:gd name="T34" fmla="*/ 137 w 562"/>
                <a:gd name="T35" fmla="*/ 335 h 365"/>
                <a:gd name="T36" fmla="*/ 156 w 562"/>
                <a:gd name="T37" fmla="*/ 343 h 365"/>
                <a:gd name="T38" fmla="*/ 183 w 562"/>
                <a:gd name="T39" fmla="*/ 349 h 365"/>
                <a:gd name="T40" fmla="*/ 199 w 562"/>
                <a:gd name="T41" fmla="*/ 351 h 365"/>
                <a:gd name="T42" fmla="*/ 240 w 562"/>
                <a:gd name="T43" fmla="*/ 357 h 365"/>
                <a:gd name="T44" fmla="*/ 285 w 562"/>
                <a:gd name="T45" fmla="*/ 359 h 365"/>
                <a:gd name="T46" fmla="*/ 334 w 562"/>
                <a:gd name="T47" fmla="*/ 362 h 365"/>
                <a:gd name="T48" fmla="*/ 385 w 562"/>
                <a:gd name="T49" fmla="*/ 365 h 365"/>
                <a:gd name="T50" fmla="*/ 433 w 562"/>
                <a:gd name="T51" fmla="*/ 362 h 365"/>
                <a:gd name="T52" fmla="*/ 476 w 562"/>
                <a:gd name="T53" fmla="*/ 354 h 365"/>
                <a:gd name="T54" fmla="*/ 503 w 562"/>
                <a:gd name="T55" fmla="*/ 346 h 365"/>
                <a:gd name="T56" fmla="*/ 519 w 562"/>
                <a:gd name="T57" fmla="*/ 338 h 365"/>
                <a:gd name="T58" fmla="*/ 530 w 562"/>
                <a:gd name="T59" fmla="*/ 327 h 365"/>
                <a:gd name="T60" fmla="*/ 544 w 562"/>
                <a:gd name="T61" fmla="*/ 308 h 365"/>
                <a:gd name="T62" fmla="*/ 554 w 562"/>
                <a:gd name="T63" fmla="*/ 276 h 365"/>
                <a:gd name="T64" fmla="*/ 560 w 562"/>
                <a:gd name="T65" fmla="*/ 239 h 365"/>
                <a:gd name="T66" fmla="*/ 562 w 562"/>
                <a:gd name="T67" fmla="*/ 196 h 365"/>
                <a:gd name="T68" fmla="*/ 560 w 562"/>
                <a:gd name="T69" fmla="*/ 155 h 365"/>
                <a:gd name="T70" fmla="*/ 557 w 562"/>
                <a:gd name="T71" fmla="*/ 115 h 365"/>
                <a:gd name="T72" fmla="*/ 552 w 562"/>
                <a:gd name="T73" fmla="*/ 80 h 365"/>
                <a:gd name="T74" fmla="*/ 549 w 562"/>
                <a:gd name="T75" fmla="*/ 62 h 365"/>
                <a:gd name="T76" fmla="*/ 546 w 562"/>
                <a:gd name="T77" fmla="*/ 48 h 365"/>
                <a:gd name="T78" fmla="*/ 541 w 562"/>
                <a:gd name="T79" fmla="*/ 32 h 365"/>
                <a:gd name="T80" fmla="*/ 533 w 562"/>
                <a:gd name="T81" fmla="*/ 24 h 365"/>
                <a:gd name="T82" fmla="*/ 525 w 562"/>
                <a:gd name="T83" fmla="*/ 19 h 365"/>
                <a:gd name="T84" fmla="*/ 509 w 562"/>
                <a:gd name="T85" fmla="*/ 16 h 365"/>
                <a:gd name="T86" fmla="*/ 482 w 562"/>
                <a:gd name="T87" fmla="*/ 16 h 365"/>
                <a:gd name="T88" fmla="*/ 458 w 562"/>
                <a:gd name="T89" fmla="*/ 16 h 365"/>
                <a:gd name="T90" fmla="*/ 431 w 562"/>
                <a:gd name="T91" fmla="*/ 13 h 365"/>
                <a:gd name="T92" fmla="*/ 388 w 562"/>
                <a:gd name="T93" fmla="*/ 13 h 365"/>
                <a:gd name="T94" fmla="*/ 342 w 562"/>
                <a:gd name="T95" fmla="*/ 16 h 365"/>
                <a:gd name="T96" fmla="*/ 301 w 562"/>
                <a:gd name="T97" fmla="*/ 16 h 365"/>
                <a:gd name="T98" fmla="*/ 264 w 562"/>
                <a:gd name="T99" fmla="*/ 13 h 365"/>
                <a:gd name="T100" fmla="*/ 229 w 562"/>
                <a:gd name="T101" fmla="*/ 5 h 365"/>
                <a:gd name="T102" fmla="*/ 199 w 562"/>
                <a:gd name="T103" fmla="*/ 0 h 365"/>
                <a:gd name="T104" fmla="*/ 183 w 562"/>
                <a:gd name="T105" fmla="*/ 0 h 3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2"/>
                <a:gd name="T160" fmla="*/ 0 h 365"/>
                <a:gd name="T161" fmla="*/ 562 w 562"/>
                <a:gd name="T162" fmla="*/ 365 h 3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2" h="365">
                  <a:moveTo>
                    <a:pt x="178" y="0"/>
                  </a:moveTo>
                  <a:lnTo>
                    <a:pt x="148" y="5"/>
                  </a:lnTo>
                  <a:lnTo>
                    <a:pt x="135" y="8"/>
                  </a:lnTo>
                  <a:lnTo>
                    <a:pt x="121" y="11"/>
                  </a:lnTo>
                  <a:lnTo>
                    <a:pt x="108" y="16"/>
                  </a:lnTo>
                  <a:lnTo>
                    <a:pt x="94" y="21"/>
                  </a:lnTo>
                  <a:lnTo>
                    <a:pt x="81" y="29"/>
                  </a:lnTo>
                  <a:lnTo>
                    <a:pt x="70" y="37"/>
                  </a:lnTo>
                  <a:lnTo>
                    <a:pt x="59" y="48"/>
                  </a:lnTo>
                  <a:lnTo>
                    <a:pt x="46" y="62"/>
                  </a:lnTo>
                  <a:lnTo>
                    <a:pt x="35" y="75"/>
                  </a:lnTo>
                  <a:lnTo>
                    <a:pt x="24" y="91"/>
                  </a:lnTo>
                  <a:lnTo>
                    <a:pt x="16" y="104"/>
                  </a:lnTo>
                  <a:lnTo>
                    <a:pt x="8" y="121"/>
                  </a:lnTo>
                  <a:lnTo>
                    <a:pt x="6" y="129"/>
                  </a:lnTo>
                  <a:lnTo>
                    <a:pt x="3" y="137"/>
                  </a:lnTo>
                  <a:lnTo>
                    <a:pt x="0" y="142"/>
                  </a:lnTo>
                  <a:lnTo>
                    <a:pt x="0" y="150"/>
                  </a:lnTo>
                  <a:lnTo>
                    <a:pt x="0" y="158"/>
                  </a:lnTo>
                  <a:lnTo>
                    <a:pt x="0" y="166"/>
                  </a:lnTo>
                  <a:lnTo>
                    <a:pt x="3" y="174"/>
                  </a:lnTo>
                  <a:lnTo>
                    <a:pt x="3" y="182"/>
                  </a:lnTo>
                  <a:lnTo>
                    <a:pt x="11" y="196"/>
                  </a:lnTo>
                  <a:lnTo>
                    <a:pt x="19" y="212"/>
                  </a:lnTo>
                  <a:lnTo>
                    <a:pt x="27" y="228"/>
                  </a:lnTo>
                  <a:lnTo>
                    <a:pt x="38" y="244"/>
                  </a:lnTo>
                  <a:lnTo>
                    <a:pt x="49" y="257"/>
                  </a:lnTo>
                  <a:lnTo>
                    <a:pt x="59" y="271"/>
                  </a:lnTo>
                  <a:lnTo>
                    <a:pt x="70" y="284"/>
                  </a:lnTo>
                  <a:lnTo>
                    <a:pt x="81" y="295"/>
                  </a:lnTo>
                  <a:lnTo>
                    <a:pt x="92" y="306"/>
                  </a:lnTo>
                  <a:lnTo>
                    <a:pt x="105" y="319"/>
                  </a:lnTo>
                  <a:lnTo>
                    <a:pt x="110" y="322"/>
                  </a:lnTo>
                  <a:lnTo>
                    <a:pt x="119" y="327"/>
                  </a:lnTo>
                  <a:lnTo>
                    <a:pt x="127" y="332"/>
                  </a:lnTo>
                  <a:lnTo>
                    <a:pt x="137" y="335"/>
                  </a:lnTo>
                  <a:lnTo>
                    <a:pt x="145" y="340"/>
                  </a:lnTo>
                  <a:lnTo>
                    <a:pt x="156" y="343"/>
                  </a:lnTo>
                  <a:lnTo>
                    <a:pt x="170" y="346"/>
                  </a:lnTo>
                  <a:lnTo>
                    <a:pt x="183" y="349"/>
                  </a:lnTo>
                  <a:lnTo>
                    <a:pt x="191" y="349"/>
                  </a:lnTo>
                  <a:lnTo>
                    <a:pt x="199" y="351"/>
                  </a:lnTo>
                  <a:lnTo>
                    <a:pt x="218" y="354"/>
                  </a:lnTo>
                  <a:lnTo>
                    <a:pt x="240" y="357"/>
                  </a:lnTo>
                  <a:lnTo>
                    <a:pt x="261" y="357"/>
                  </a:lnTo>
                  <a:lnTo>
                    <a:pt x="285" y="359"/>
                  </a:lnTo>
                  <a:lnTo>
                    <a:pt x="310" y="362"/>
                  </a:lnTo>
                  <a:lnTo>
                    <a:pt x="334" y="362"/>
                  </a:lnTo>
                  <a:lnTo>
                    <a:pt x="361" y="365"/>
                  </a:lnTo>
                  <a:lnTo>
                    <a:pt x="385" y="365"/>
                  </a:lnTo>
                  <a:lnTo>
                    <a:pt x="409" y="362"/>
                  </a:lnTo>
                  <a:lnTo>
                    <a:pt x="433" y="362"/>
                  </a:lnTo>
                  <a:lnTo>
                    <a:pt x="458" y="359"/>
                  </a:lnTo>
                  <a:lnTo>
                    <a:pt x="476" y="354"/>
                  </a:lnTo>
                  <a:lnTo>
                    <a:pt x="495" y="349"/>
                  </a:lnTo>
                  <a:lnTo>
                    <a:pt x="503" y="346"/>
                  </a:lnTo>
                  <a:lnTo>
                    <a:pt x="511" y="340"/>
                  </a:lnTo>
                  <a:lnTo>
                    <a:pt x="519" y="338"/>
                  </a:lnTo>
                  <a:lnTo>
                    <a:pt x="525" y="332"/>
                  </a:lnTo>
                  <a:lnTo>
                    <a:pt x="530" y="327"/>
                  </a:lnTo>
                  <a:lnTo>
                    <a:pt x="536" y="322"/>
                  </a:lnTo>
                  <a:lnTo>
                    <a:pt x="544" y="308"/>
                  </a:lnTo>
                  <a:lnTo>
                    <a:pt x="549" y="295"/>
                  </a:lnTo>
                  <a:lnTo>
                    <a:pt x="554" y="276"/>
                  </a:lnTo>
                  <a:lnTo>
                    <a:pt x="557" y="257"/>
                  </a:lnTo>
                  <a:lnTo>
                    <a:pt x="560" y="239"/>
                  </a:lnTo>
                  <a:lnTo>
                    <a:pt x="562" y="217"/>
                  </a:lnTo>
                  <a:lnTo>
                    <a:pt x="562" y="196"/>
                  </a:lnTo>
                  <a:lnTo>
                    <a:pt x="562" y="174"/>
                  </a:lnTo>
                  <a:lnTo>
                    <a:pt x="560" y="155"/>
                  </a:lnTo>
                  <a:lnTo>
                    <a:pt x="560" y="134"/>
                  </a:lnTo>
                  <a:lnTo>
                    <a:pt x="557" y="115"/>
                  </a:lnTo>
                  <a:lnTo>
                    <a:pt x="554" y="96"/>
                  </a:lnTo>
                  <a:lnTo>
                    <a:pt x="552" y="80"/>
                  </a:lnTo>
                  <a:lnTo>
                    <a:pt x="552" y="67"/>
                  </a:lnTo>
                  <a:lnTo>
                    <a:pt x="549" y="62"/>
                  </a:lnTo>
                  <a:lnTo>
                    <a:pt x="549" y="56"/>
                  </a:lnTo>
                  <a:lnTo>
                    <a:pt x="546" y="48"/>
                  </a:lnTo>
                  <a:lnTo>
                    <a:pt x="544" y="40"/>
                  </a:lnTo>
                  <a:lnTo>
                    <a:pt x="541" y="32"/>
                  </a:lnTo>
                  <a:lnTo>
                    <a:pt x="538" y="29"/>
                  </a:lnTo>
                  <a:lnTo>
                    <a:pt x="533" y="24"/>
                  </a:lnTo>
                  <a:lnTo>
                    <a:pt x="530" y="21"/>
                  </a:lnTo>
                  <a:lnTo>
                    <a:pt x="525" y="19"/>
                  </a:lnTo>
                  <a:lnTo>
                    <a:pt x="519" y="19"/>
                  </a:lnTo>
                  <a:lnTo>
                    <a:pt x="509" y="16"/>
                  </a:lnTo>
                  <a:lnTo>
                    <a:pt x="495" y="16"/>
                  </a:lnTo>
                  <a:lnTo>
                    <a:pt x="482" y="16"/>
                  </a:lnTo>
                  <a:lnTo>
                    <a:pt x="466" y="16"/>
                  </a:lnTo>
                  <a:lnTo>
                    <a:pt x="458" y="16"/>
                  </a:lnTo>
                  <a:lnTo>
                    <a:pt x="449" y="13"/>
                  </a:lnTo>
                  <a:lnTo>
                    <a:pt x="431" y="13"/>
                  </a:lnTo>
                  <a:lnTo>
                    <a:pt x="409" y="13"/>
                  </a:lnTo>
                  <a:lnTo>
                    <a:pt x="388" y="13"/>
                  </a:lnTo>
                  <a:lnTo>
                    <a:pt x="363" y="16"/>
                  </a:lnTo>
                  <a:lnTo>
                    <a:pt x="342" y="16"/>
                  </a:lnTo>
                  <a:lnTo>
                    <a:pt x="320" y="16"/>
                  </a:lnTo>
                  <a:lnTo>
                    <a:pt x="301" y="16"/>
                  </a:lnTo>
                  <a:lnTo>
                    <a:pt x="283" y="13"/>
                  </a:lnTo>
                  <a:lnTo>
                    <a:pt x="264" y="13"/>
                  </a:lnTo>
                  <a:lnTo>
                    <a:pt x="248" y="8"/>
                  </a:lnTo>
                  <a:lnTo>
                    <a:pt x="229" y="5"/>
                  </a:lnTo>
                  <a:lnTo>
                    <a:pt x="213" y="3"/>
                  </a:lnTo>
                  <a:lnTo>
                    <a:pt x="199" y="0"/>
                  </a:lnTo>
                  <a:lnTo>
                    <a:pt x="188" y="0"/>
                  </a:lnTo>
                  <a:lnTo>
                    <a:pt x="183" y="0"/>
                  </a:lnTo>
                  <a:lnTo>
                    <a:pt x="178" y="0"/>
                  </a:lnTo>
                  <a:close/>
                </a:path>
              </a:pathLst>
            </a:custGeom>
            <a:solidFill>
              <a:srgbClr val="33CCFF"/>
            </a:solidFill>
            <a:ln>
              <a:noFill/>
            </a:ln>
          </p:spPr>
          <p:txBody>
            <a:bodyPr/>
            <a:lstStyle/>
            <a:p>
              <a:endParaRPr lang="en-US"/>
            </a:p>
          </p:txBody>
        </p:sp>
        <p:sp>
          <p:nvSpPr>
            <p:cNvPr id="185355" name="Rectangle 9"/>
            <p:cNvSpPr>
              <a:spLocks noChangeArrowheads="1"/>
            </p:cNvSpPr>
            <p:nvPr/>
          </p:nvSpPr>
          <p:spPr bwMode="auto">
            <a:xfrm flipH="1">
              <a:off x="1184" y="1385"/>
              <a:ext cx="74" cy="173"/>
            </a:xfrm>
            <a:prstGeom prst="rect">
              <a:avLst/>
            </a:prstGeom>
            <a:noFill/>
            <a:ln>
              <a:noFill/>
            </a:ln>
          </p:spPr>
          <p:txBody>
            <a:bodyPr lIns="0" tIns="0" rIns="0" bIns="0">
              <a:spAutoFit/>
            </a:bodyPr>
            <a:lstStyle/>
            <a:p>
              <a:r>
                <a:rPr lang="en-US" b="1">
                  <a:solidFill>
                    <a:schemeClr val="bg1"/>
                  </a:solidFill>
                </a:rPr>
                <a:t>A</a:t>
              </a:r>
            </a:p>
          </p:txBody>
        </p:sp>
        <p:sp>
          <p:nvSpPr>
            <p:cNvPr id="185356" name="Rectangle 10"/>
            <p:cNvSpPr>
              <a:spLocks noChangeArrowheads="1"/>
            </p:cNvSpPr>
            <p:nvPr/>
          </p:nvSpPr>
          <p:spPr bwMode="auto">
            <a:xfrm>
              <a:off x="1867" y="1057"/>
              <a:ext cx="96" cy="173"/>
            </a:xfrm>
            <a:prstGeom prst="rect">
              <a:avLst/>
            </a:prstGeom>
            <a:noFill/>
            <a:ln>
              <a:noFill/>
            </a:ln>
          </p:spPr>
          <p:txBody>
            <a:bodyPr wrap="none" lIns="0" tIns="0" rIns="0" bIns="0">
              <a:spAutoFit/>
            </a:bodyPr>
            <a:lstStyle/>
            <a:p>
              <a:r>
                <a:rPr lang="en-US">
                  <a:solidFill>
                    <a:schemeClr val="bg1"/>
                  </a:solidFill>
                </a:rPr>
                <a:t>B</a:t>
              </a:r>
            </a:p>
          </p:txBody>
        </p:sp>
        <p:sp>
          <p:nvSpPr>
            <p:cNvPr id="185357" name="Freeform 11"/>
            <p:cNvSpPr/>
            <p:nvPr/>
          </p:nvSpPr>
          <p:spPr bwMode="auto">
            <a:xfrm>
              <a:off x="1640" y="1582"/>
              <a:ext cx="565" cy="362"/>
            </a:xfrm>
            <a:custGeom>
              <a:avLst/>
              <a:gdLst>
                <a:gd name="T0" fmla="*/ 164 w 565"/>
                <a:gd name="T1" fmla="*/ 0 h 362"/>
                <a:gd name="T2" fmla="*/ 134 w 565"/>
                <a:gd name="T3" fmla="*/ 6 h 362"/>
                <a:gd name="T4" fmla="*/ 108 w 565"/>
                <a:gd name="T5" fmla="*/ 14 h 362"/>
                <a:gd name="T6" fmla="*/ 83 w 565"/>
                <a:gd name="T7" fmla="*/ 30 h 362"/>
                <a:gd name="T8" fmla="*/ 62 w 565"/>
                <a:gd name="T9" fmla="*/ 48 h 362"/>
                <a:gd name="T10" fmla="*/ 38 w 565"/>
                <a:gd name="T11" fmla="*/ 73 h 362"/>
                <a:gd name="T12" fmla="*/ 16 w 565"/>
                <a:gd name="T13" fmla="*/ 105 h 362"/>
                <a:gd name="T14" fmla="*/ 5 w 565"/>
                <a:gd name="T15" fmla="*/ 126 h 362"/>
                <a:gd name="T16" fmla="*/ 0 w 565"/>
                <a:gd name="T17" fmla="*/ 142 h 362"/>
                <a:gd name="T18" fmla="*/ 0 w 565"/>
                <a:gd name="T19" fmla="*/ 158 h 362"/>
                <a:gd name="T20" fmla="*/ 5 w 565"/>
                <a:gd name="T21" fmla="*/ 180 h 362"/>
                <a:gd name="T22" fmla="*/ 19 w 565"/>
                <a:gd name="T23" fmla="*/ 212 h 362"/>
                <a:gd name="T24" fmla="*/ 38 w 565"/>
                <a:gd name="T25" fmla="*/ 242 h 362"/>
                <a:gd name="T26" fmla="*/ 59 w 565"/>
                <a:gd name="T27" fmla="*/ 268 h 362"/>
                <a:gd name="T28" fmla="*/ 81 w 565"/>
                <a:gd name="T29" fmla="*/ 295 h 362"/>
                <a:gd name="T30" fmla="*/ 105 w 565"/>
                <a:gd name="T31" fmla="*/ 317 h 362"/>
                <a:gd name="T32" fmla="*/ 121 w 565"/>
                <a:gd name="T33" fmla="*/ 327 h 362"/>
                <a:gd name="T34" fmla="*/ 137 w 565"/>
                <a:gd name="T35" fmla="*/ 335 h 362"/>
                <a:gd name="T36" fmla="*/ 159 w 565"/>
                <a:gd name="T37" fmla="*/ 343 h 362"/>
                <a:gd name="T38" fmla="*/ 186 w 565"/>
                <a:gd name="T39" fmla="*/ 349 h 362"/>
                <a:gd name="T40" fmla="*/ 202 w 565"/>
                <a:gd name="T41" fmla="*/ 351 h 362"/>
                <a:gd name="T42" fmla="*/ 239 w 565"/>
                <a:gd name="T43" fmla="*/ 354 h 362"/>
                <a:gd name="T44" fmla="*/ 285 w 565"/>
                <a:gd name="T45" fmla="*/ 360 h 362"/>
                <a:gd name="T46" fmla="*/ 334 w 565"/>
                <a:gd name="T47" fmla="*/ 362 h 362"/>
                <a:gd name="T48" fmla="*/ 385 w 565"/>
                <a:gd name="T49" fmla="*/ 362 h 362"/>
                <a:gd name="T50" fmla="*/ 433 w 565"/>
                <a:gd name="T51" fmla="*/ 360 h 362"/>
                <a:gd name="T52" fmla="*/ 476 w 565"/>
                <a:gd name="T53" fmla="*/ 354 h 362"/>
                <a:gd name="T54" fmla="*/ 503 w 565"/>
                <a:gd name="T55" fmla="*/ 343 h 362"/>
                <a:gd name="T56" fmla="*/ 519 w 565"/>
                <a:gd name="T57" fmla="*/ 338 h 362"/>
                <a:gd name="T58" fmla="*/ 530 w 565"/>
                <a:gd name="T59" fmla="*/ 327 h 362"/>
                <a:gd name="T60" fmla="*/ 543 w 565"/>
                <a:gd name="T61" fmla="*/ 309 h 362"/>
                <a:gd name="T62" fmla="*/ 557 w 565"/>
                <a:gd name="T63" fmla="*/ 276 h 362"/>
                <a:gd name="T64" fmla="*/ 562 w 565"/>
                <a:gd name="T65" fmla="*/ 236 h 362"/>
                <a:gd name="T66" fmla="*/ 565 w 565"/>
                <a:gd name="T67" fmla="*/ 196 h 362"/>
                <a:gd name="T68" fmla="*/ 562 w 565"/>
                <a:gd name="T69" fmla="*/ 153 h 362"/>
                <a:gd name="T70" fmla="*/ 560 w 565"/>
                <a:gd name="T71" fmla="*/ 113 h 362"/>
                <a:gd name="T72" fmla="*/ 554 w 565"/>
                <a:gd name="T73" fmla="*/ 78 h 362"/>
                <a:gd name="T74" fmla="*/ 549 w 565"/>
                <a:gd name="T75" fmla="*/ 59 h 362"/>
                <a:gd name="T76" fmla="*/ 546 w 565"/>
                <a:gd name="T77" fmla="*/ 46 h 362"/>
                <a:gd name="T78" fmla="*/ 541 w 565"/>
                <a:gd name="T79" fmla="*/ 32 h 362"/>
                <a:gd name="T80" fmla="*/ 533 w 565"/>
                <a:gd name="T81" fmla="*/ 24 h 362"/>
                <a:gd name="T82" fmla="*/ 525 w 565"/>
                <a:gd name="T83" fmla="*/ 19 h 362"/>
                <a:gd name="T84" fmla="*/ 508 w 565"/>
                <a:gd name="T85" fmla="*/ 16 h 362"/>
                <a:gd name="T86" fmla="*/ 482 w 565"/>
                <a:gd name="T87" fmla="*/ 16 h 362"/>
                <a:gd name="T88" fmla="*/ 460 w 565"/>
                <a:gd name="T89" fmla="*/ 14 h 362"/>
                <a:gd name="T90" fmla="*/ 430 w 565"/>
                <a:gd name="T91" fmla="*/ 11 h 362"/>
                <a:gd name="T92" fmla="*/ 387 w 565"/>
                <a:gd name="T93" fmla="*/ 14 h 362"/>
                <a:gd name="T94" fmla="*/ 342 w 565"/>
                <a:gd name="T95" fmla="*/ 14 h 362"/>
                <a:gd name="T96" fmla="*/ 301 w 565"/>
                <a:gd name="T97" fmla="*/ 14 h 362"/>
                <a:gd name="T98" fmla="*/ 264 w 565"/>
                <a:gd name="T99" fmla="*/ 11 h 362"/>
                <a:gd name="T100" fmla="*/ 229 w 565"/>
                <a:gd name="T101" fmla="*/ 3 h 362"/>
                <a:gd name="T102" fmla="*/ 199 w 565"/>
                <a:gd name="T103" fmla="*/ 0 h 362"/>
                <a:gd name="T104" fmla="*/ 183 w 565"/>
                <a:gd name="T105" fmla="*/ 0 h 3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5"/>
                <a:gd name="T160" fmla="*/ 0 h 362"/>
                <a:gd name="T161" fmla="*/ 565 w 565"/>
                <a:gd name="T162" fmla="*/ 362 h 3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5" h="362">
                  <a:moveTo>
                    <a:pt x="178" y="0"/>
                  </a:moveTo>
                  <a:lnTo>
                    <a:pt x="164" y="0"/>
                  </a:lnTo>
                  <a:lnTo>
                    <a:pt x="148" y="3"/>
                  </a:lnTo>
                  <a:lnTo>
                    <a:pt x="134" y="6"/>
                  </a:lnTo>
                  <a:lnTo>
                    <a:pt x="121" y="11"/>
                  </a:lnTo>
                  <a:lnTo>
                    <a:pt x="108" y="14"/>
                  </a:lnTo>
                  <a:lnTo>
                    <a:pt x="94" y="22"/>
                  </a:lnTo>
                  <a:lnTo>
                    <a:pt x="83" y="30"/>
                  </a:lnTo>
                  <a:lnTo>
                    <a:pt x="73" y="38"/>
                  </a:lnTo>
                  <a:lnTo>
                    <a:pt x="62" y="48"/>
                  </a:lnTo>
                  <a:lnTo>
                    <a:pt x="48" y="59"/>
                  </a:lnTo>
                  <a:lnTo>
                    <a:pt x="38" y="73"/>
                  </a:lnTo>
                  <a:lnTo>
                    <a:pt x="27" y="89"/>
                  </a:lnTo>
                  <a:lnTo>
                    <a:pt x="16" y="105"/>
                  </a:lnTo>
                  <a:lnTo>
                    <a:pt x="8" y="118"/>
                  </a:lnTo>
                  <a:lnTo>
                    <a:pt x="5" y="126"/>
                  </a:lnTo>
                  <a:lnTo>
                    <a:pt x="3" y="134"/>
                  </a:lnTo>
                  <a:lnTo>
                    <a:pt x="0" y="142"/>
                  </a:lnTo>
                  <a:lnTo>
                    <a:pt x="0" y="150"/>
                  </a:lnTo>
                  <a:lnTo>
                    <a:pt x="0" y="158"/>
                  </a:lnTo>
                  <a:lnTo>
                    <a:pt x="3" y="164"/>
                  </a:lnTo>
                  <a:lnTo>
                    <a:pt x="5" y="180"/>
                  </a:lnTo>
                  <a:lnTo>
                    <a:pt x="11" y="196"/>
                  </a:lnTo>
                  <a:lnTo>
                    <a:pt x="19" y="212"/>
                  </a:lnTo>
                  <a:lnTo>
                    <a:pt x="27" y="228"/>
                  </a:lnTo>
                  <a:lnTo>
                    <a:pt x="38" y="242"/>
                  </a:lnTo>
                  <a:lnTo>
                    <a:pt x="48" y="255"/>
                  </a:lnTo>
                  <a:lnTo>
                    <a:pt x="59" y="268"/>
                  </a:lnTo>
                  <a:lnTo>
                    <a:pt x="70" y="282"/>
                  </a:lnTo>
                  <a:lnTo>
                    <a:pt x="81" y="295"/>
                  </a:lnTo>
                  <a:lnTo>
                    <a:pt x="94" y="306"/>
                  </a:lnTo>
                  <a:lnTo>
                    <a:pt x="105" y="317"/>
                  </a:lnTo>
                  <a:lnTo>
                    <a:pt x="113" y="322"/>
                  </a:lnTo>
                  <a:lnTo>
                    <a:pt x="121" y="327"/>
                  </a:lnTo>
                  <a:lnTo>
                    <a:pt x="129" y="333"/>
                  </a:lnTo>
                  <a:lnTo>
                    <a:pt x="137" y="335"/>
                  </a:lnTo>
                  <a:lnTo>
                    <a:pt x="148" y="341"/>
                  </a:lnTo>
                  <a:lnTo>
                    <a:pt x="159" y="343"/>
                  </a:lnTo>
                  <a:lnTo>
                    <a:pt x="172" y="346"/>
                  </a:lnTo>
                  <a:lnTo>
                    <a:pt x="186" y="349"/>
                  </a:lnTo>
                  <a:lnTo>
                    <a:pt x="194" y="349"/>
                  </a:lnTo>
                  <a:lnTo>
                    <a:pt x="202" y="351"/>
                  </a:lnTo>
                  <a:lnTo>
                    <a:pt x="221" y="354"/>
                  </a:lnTo>
                  <a:lnTo>
                    <a:pt x="239" y="354"/>
                  </a:lnTo>
                  <a:lnTo>
                    <a:pt x="261" y="357"/>
                  </a:lnTo>
                  <a:lnTo>
                    <a:pt x="285" y="360"/>
                  </a:lnTo>
                  <a:lnTo>
                    <a:pt x="309" y="362"/>
                  </a:lnTo>
                  <a:lnTo>
                    <a:pt x="334" y="362"/>
                  </a:lnTo>
                  <a:lnTo>
                    <a:pt x="360" y="362"/>
                  </a:lnTo>
                  <a:lnTo>
                    <a:pt x="385" y="362"/>
                  </a:lnTo>
                  <a:lnTo>
                    <a:pt x="409" y="362"/>
                  </a:lnTo>
                  <a:lnTo>
                    <a:pt x="433" y="360"/>
                  </a:lnTo>
                  <a:lnTo>
                    <a:pt x="457" y="357"/>
                  </a:lnTo>
                  <a:lnTo>
                    <a:pt x="476" y="354"/>
                  </a:lnTo>
                  <a:lnTo>
                    <a:pt x="495" y="349"/>
                  </a:lnTo>
                  <a:lnTo>
                    <a:pt x="503" y="343"/>
                  </a:lnTo>
                  <a:lnTo>
                    <a:pt x="511" y="341"/>
                  </a:lnTo>
                  <a:lnTo>
                    <a:pt x="519" y="338"/>
                  </a:lnTo>
                  <a:lnTo>
                    <a:pt x="525" y="333"/>
                  </a:lnTo>
                  <a:lnTo>
                    <a:pt x="530" y="327"/>
                  </a:lnTo>
                  <a:lnTo>
                    <a:pt x="535" y="322"/>
                  </a:lnTo>
                  <a:lnTo>
                    <a:pt x="543" y="309"/>
                  </a:lnTo>
                  <a:lnTo>
                    <a:pt x="552" y="292"/>
                  </a:lnTo>
                  <a:lnTo>
                    <a:pt x="557" y="276"/>
                  </a:lnTo>
                  <a:lnTo>
                    <a:pt x="560" y="258"/>
                  </a:lnTo>
                  <a:lnTo>
                    <a:pt x="562" y="236"/>
                  </a:lnTo>
                  <a:lnTo>
                    <a:pt x="565" y="217"/>
                  </a:lnTo>
                  <a:lnTo>
                    <a:pt x="565" y="196"/>
                  </a:lnTo>
                  <a:lnTo>
                    <a:pt x="562" y="174"/>
                  </a:lnTo>
                  <a:lnTo>
                    <a:pt x="562" y="153"/>
                  </a:lnTo>
                  <a:lnTo>
                    <a:pt x="560" y="132"/>
                  </a:lnTo>
                  <a:lnTo>
                    <a:pt x="560" y="113"/>
                  </a:lnTo>
                  <a:lnTo>
                    <a:pt x="557" y="97"/>
                  </a:lnTo>
                  <a:lnTo>
                    <a:pt x="554" y="78"/>
                  </a:lnTo>
                  <a:lnTo>
                    <a:pt x="552" y="65"/>
                  </a:lnTo>
                  <a:lnTo>
                    <a:pt x="549" y="59"/>
                  </a:lnTo>
                  <a:lnTo>
                    <a:pt x="549" y="54"/>
                  </a:lnTo>
                  <a:lnTo>
                    <a:pt x="546" y="46"/>
                  </a:lnTo>
                  <a:lnTo>
                    <a:pt x="543" y="38"/>
                  </a:lnTo>
                  <a:lnTo>
                    <a:pt x="541" y="32"/>
                  </a:lnTo>
                  <a:lnTo>
                    <a:pt x="538" y="27"/>
                  </a:lnTo>
                  <a:lnTo>
                    <a:pt x="533" y="24"/>
                  </a:lnTo>
                  <a:lnTo>
                    <a:pt x="530" y="22"/>
                  </a:lnTo>
                  <a:lnTo>
                    <a:pt x="525" y="19"/>
                  </a:lnTo>
                  <a:lnTo>
                    <a:pt x="519" y="19"/>
                  </a:lnTo>
                  <a:lnTo>
                    <a:pt x="508" y="16"/>
                  </a:lnTo>
                  <a:lnTo>
                    <a:pt x="495" y="16"/>
                  </a:lnTo>
                  <a:lnTo>
                    <a:pt x="482" y="16"/>
                  </a:lnTo>
                  <a:lnTo>
                    <a:pt x="468" y="14"/>
                  </a:lnTo>
                  <a:lnTo>
                    <a:pt x="460" y="14"/>
                  </a:lnTo>
                  <a:lnTo>
                    <a:pt x="452" y="11"/>
                  </a:lnTo>
                  <a:lnTo>
                    <a:pt x="430" y="11"/>
                  </a:lnTo>
                  <a:lnTo>
                    <a:pt x="409" y="11"/>
                  </a:lnTo>
                  <a:lnTo>
                    <a:pt x="387" y="14"/>
                  </a:lnTo>
                  <a:lnTo>
                    <a:pt x="363" y="14"/>
                  </a:lnTo>
                  <a:lnTo>
                    <a:pt x="342" y="14"/>
                  </a:lnTo>
                  <a:lnTo>
                    <a:pt x="320" y="14"/>
                  </a:lnTo>
                  <a:lnTo>
                    <a:pt x="301" y="14"/>
                  </a:lnTo>
                  <a:lnTo>
                    <a:pt x="282" y="11"/>
                  </a:lnTo>
                  <a:lnTo>
                    <a:pt x="264" y="11"/>
                  </a:lnTo>
                  <a:lnTo>
                    <a:pt x="247" y="6"/>
                  </a:lnTo>
                  <a:lnTo>
                    <a:pt x="229" y="3"/>
                  </a:lnTo>
                  <a:lnTo>
                    <a:pt x="213" y="0"/>
                  </a:lnTo>
                  <a:lnTo>
                    <a:pt x="199" y="0"/>
                  </a:lnTo>
                  <a:lnTo>
                    <a:pt x="188" y="0"/>
                  </a:lnTo>
                  <a:lnTo>
                    <a:pt x="183" y="0"/>
                  </a:lnTo>
                  <a:lnTo>
                    <a:pt x="178" y="0"/>
                  </a:lnTo>
                  <a:close/>
                </a:path>
              </a:pathLst>
            </a:custGeom>
            <a:solidFill>
              <a:srgbClr val="33CCFF"/>
            </a:solidFill>
            <a:ln>
              <a:noFill/>
            </a:ln>
          </p:spPr>
          <p:txBody>
            <a:bodyPr/>
            <a:lstStyle/>
            <a:p>
              <a:endParaRPr lang="en-US"/>
            </a:p>
          </p:txBody>
        </p:sp>
        <p:sp>
          <p:nvSpPr>
            <p:cNvPr id="185358" name="Rectangle 12"/>
            <p:cNvSpPr>
              <a:spLocks noChangeArrowheads="1"/>
            </p:cNvSpPr>
            <p:nvPr/>
          </p:nvSpPr>
          <p:spPr bwMode="auto">
            <a:xfrm>
              <a:off x="1896" y="1657"/>
              <a:ext cx="104" cy="173"/>
            </a:xfrm>
            <a:prstGeom prst="rect">
              <a:avLst/>
            </a:prstGeom>
            <a:noFill/>
            <a:ln>
              <a:noFill/>
            </a:ln>
          </p:spPr>
          <p:txBody>
            <a:bodyPr wrap="none" lIns="0" tIns="0" rIns="0" bIns="0">
              <a:spAutoFit/>
            </a:bodyPr>
            <a:lstStyle/>
            <a:p>
              <a:r>
                <a:rPr lang="en-US" b="1">
                  <a:solidFill>
                    <a:schemeClr val="bg1"/>
                  </a:solidFill>
                </a:rPr>
                <a:t>C</a:t>
              </a:r>
            </a:p>
          </p:txBody>
        </p:sp>
        <p:sp>
          <p:nvSpPr>
            <p:cNvPr id="185359" name="Rectangle 13"/>
            <p:cNvSpPr>
              <a:spLocks noChangeArrowheads="1"/>
            </p:cNvSpPr>
            <p:nvPr/>
          </p:nvSpPr>
          <p:spPr bwMode="auto">
            <a:xfrm>
              <a:off x="1963" y="1657"/>
              <a:ext cx="31" cy="134"/>
            </a:xfrm>
            <a:prstGeom prst="rect">
              <a:avLst/>
            </a:prstGeom>
            <a:noFill/>
            <a:ln>
              <a:noFill/>
            </a:ln>
          </p:spPr>
          <p:txBody>
            <a:bodyPr wrap="none" lIns="0" tIns="0" rIns="0" bIns="0">
              <a:spAutoFit/>
            </a:bodyPr>
            <a:lstStyle/>
            <a:p>
              <a:r>
                <a:rPr lang="en-US" sz="1400">
                  <a:solidFill>
                    <a:srgbClr val="000000"/>
                  </a:solidFill>
                </a:rPr>
                <a:t> </a:t>
              </a:r>
              <a:endParaRPr lang="en-US"/>
            </a:p>
          </p:txBody>
        </p:sp>
        <p:sp>
          <p:nvSpPr>
            <p:cNvPr id="185360" name="Freeform 14"/>
            <p:cNvSpPr/>
            <p:nvPr/>
          </p:nvSpPr>
          <p:spPr bwMode="auto">
            <a:xfrm>
              <a:off x="443" y="1335"/>
              <a:ext cx="218" cy="215"/>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rgbClr val="33CCFF"/>
            </a:solidFill>
            <a:ln>
              <a:noFill/>
            </a:ln>
          </p:spPr>
          <p:txBody>
            <a:bodyPr/>
            <a:lstStyle/>
            <a:p>
              <a:endParaRPr lang="en-US"/>
            </a:p>
          </p:txBody>
        </p:sp>
        <p:sp>
          <p:nvSpPr>
            <p:cNvPr id="185361" name="Rectangle 15"/>
            <p:cNvSpPr>
              <a:spLocks noChangeArrowheads="1"/>
            </p:cNvSpPr>
            <p:nvPr/>
          </p:nvSpPr>
          <p:spPr bwMode="auto">
            <a:xfrm>
              <a:off x="493" y="1378"/>
              <a:ext cx="121" cy="154"/>
            </a:xfrm>
            <a:prstGeom prst="rect">
              <a:avLst/>
            </a:prstGeom>
            <a:noFill/>
            <a:ln>
              <a:noFill/>
            </a:ln>
          </p:spPr>
          <p:txBody>
            <a:bodyPr wrap="none" lIns="0" tIns="0" rIns="0" bIns="0">
              <a:spAutoFit/>
            </a:bodyPr>
            <a:lstStyle/>
            <a:p>
              <a:r>
                <a:rPr lang="en-US" sz="1600" b="1">
                  <a:solidFill>
                    <a:schemeClr val="bg1"/>
                  </a:solidFill>
                </a:rPr>
                <a:t>W</a:t>
              </a:r>
            </a:p>
          </p:txBody>
        </p:sp>
        <p:sp>
          <p:nvSpPr>
            <p:cNvPr id="185362" name="Rectangle 16"/>
            <p:cNvSpPr>
              <a:spLocks noChangeArrowheads="1"/>
            </p:cNvSpPr>
            <p:nvPr/>
          </p:nvSpPr>
          <p:spPr bwMode="auto">
            <a:xfrm>
              <a:off x="617" y="1360"/>
              <a:ext cx="31" cy="134"/>
            </a:xfrm>
            <a:prstGeom prst="rect">
              <a:avLst/>
            </a:prstGeom>
            <a:noFill/>
            <a:ln>
              <a:noFill/>
            </a:ln>
          </p:spPr>
          <p:txBody>
            <a:bodyPr wrap="none" lIns="0" tIns="0" rIns="0" bIns="0">
              <a:spAutoFit/>
            </a:bodyPr>
            <a:lstStyle/>
            <a:p>
              <a:r>
                <a:rPr lang="en-US" sz="1400">
                  <a:solidFill>
                    <a:srgbClr val="000000"/>
                  </a:solidFill>
                </a:rPr>
                <a:t> </a:t>
              </a:r>
              <a:endParaRPr lang="en-US"/>
            </a:p>
          </p:txBody>
        </p:sp>
        <p:sp>
          <p:nvSpPr>
            <p:cNvPr id="185363" name="Freeform 17"/>
            <p:cNvSpPr/>
            <p:nvPr/>
          </p:nvSpPr>
          <p:spPr bwMode="auto">
            <a:xfrm>
              <a:off x="2584" y="1220"/>
              <a:ext cx="218" cy="212"/>
            </a:xfrm>
            <a:custGeom>
              <a:avLst/>
              <a:gdLst>
                <a:gd name="T0" fmla="*/ 100 w 218"/>
                <a:gd name="T1" fmla="*/ 0 h 212"/>
                <a:gd name="T2" fmla="*/ 78 w 218"/>
                <a:gd name="T3" fmla="*/ 6 h 212"/>
                <a:gd name="T4" fmla="*/ 57 w 218"/>
                <a:gd name="T5" fmla="*/ 14 h 212"/>
                <a:gd name="T6" fmla="*/ 41 w 218"/>
                <a:gd name="T7" fmla="*/ 24 h 212"/>
                <a:gd name="T8" fmla="*/ 25 w 218"/>
                <a:gd name="T9" fmla="*/ 38 h 212"/>
                <a:gd name="T10" fmla="*/ 14 w 218"/>
                <a:gd name="T11" fmla="*/ 54 h 212"/>
                <a:gd name="T12" fmla="*/ 6 w 218"/>
                <a:gd name="T13" fmla="*/ 73 h 212"/>
                <a:gd name="T14" fmla="*/ 0 w 218"/>
                <a:gd name="T15" fmla="*/ 94 h 212"/>
                <a:gd name="T16" fmla="*/ 0 w 218"/>
                <a:gd name="T17" fmla="*/ 115 h 212"/>
                <a:gd name="T18" fmla="*/ 6 w 218"/>
                <a:gd name="T19" fmla="*/ 137 h 212"/>
                <a:gd name="T20" fmla="*/ 14 w 218"/>
                <a:gd name="T21" fmla="*/ 156 h 212"/>
                <a:gd name="T22" fmla="*/ 25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5 h 212"/>
                <a:gd name="T48" fmla="*/ 218 w 218"/>
                <a:gd name="T49" fmla="*/ 94 h 212"/>
                <a:gd name="T50" fmla="*/ 213 w 218"/>
                <a:gd name="T51" fmla="*/ 73 h 212"/>
                <a:gd name="T52" fmla="*/ 205 w 218"/>
                <a:gd name="T53" fmla="*/ 54 h 212"/>
                <a:gd name="T54" fmla="*/ 194 w 218"/>
                <a:gd name="T55" fmla="*/ 38 h 212"/>
                <a:gd name="T56" fmla="*/ 178 w 218"/>
                <a:gd name="T57" fmla="*/ 24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8" y="8"/>
                  </a:lnTo>
                  <a:lnTo>
                    <a:pt x="57" y="14"/>
                  </a:lnTo>
                  <a:lnTo>
                    <a:pt x="49" y="19"/>
                  </a:lnTo>
                  <a:lnTo>
                    <a:pt x="41" y="24"/>
                  </a:lnTo>
                  <a:lnTo>
                    <a:pt x="33" y="30"/>
                  </a:lnTo>
                  <a:lnTo>
                    <a:pt x="25" y="38"/>
                  </a:lnTo>
                  <a:lnTo>
                    <a:pt x="19" y="46"/>
                  </a:lnTo>
                  <a:lnTo>
                    <a:pt x="14" y="54"/>
                  </a:lnTo>
                  <a:lnTo>
                    <a:pt x="8" y="65"/>
                  </a:lnTo>
                  <a:lnTo>
                    <a:pt x="6" y="73"/>
                  </a:lnTo>
                  <a:lnTo>
                    <a:pt x="3" y="83"/>
                  </a:lnTo>
                  <a:lnTo>
                    <a:pt x="0" y="94"/>
                  </a:lnTo>
                  <a:lnTo>
                    <a:pt x="0" y="105"/>
                  </a:lnTo>
                  <a:lnTo>
                    <a:pt x="0" y="115"/>
                  </a:lnTo>
                  <a:lnTo>
                    <a:pt x="3" y="126"/>
                  </a:lnTo>
                  <a:lnTo>
                    <a:pt x="6" y="137"/>
                  </a:lnTo>
                  <a:lnTo>
                    <a:pt x="8" y="148"/>
                  </a:lnTo>
                  <a:lnTo>
                    <a:pt x="14" y="156"/>
                  </a:lnTo>
                  <a:lnTo>
                    <a:pt x="19" y="164"/>
                  </a:lnTo>
                  <a:lnTo>
                    <a:pt x="25" y="172"/>
                  </a:lnTo>
                  <a:lnTo>
                    <a:pt x="33" y="180"/>
                  </a:lnTo>
                  <a:lnTo>
                    <a:pt x="41" y="188"/>
                  </a:lnTo>
                  <a:lnTo>
                    <a:pt x="49" y="193"/>
                  </a:lnTo>
                  <a:lnTo>
                    <a:pt x="57" y="199"/>
                  </a:lnTo>
                  <a:lnTo>
                    <a:pt x="68" y="204"/>
                  </a:lnTo>
                  <a:lnTo>
                    <a:pt x="78" y="207"/>
                  </a:lnTo>
                  <a:lnTo>
                    <a:pt x="89" y="209"/>
                  </a:lnTo>
                  <a:lnTo>
                    <a:pt x="100" y="212"/>
                  </a:lnTo>
                  <a:lnTo>
                    <a:pt x="111" y="212"/>
                  </a:lnTo>
                  <a:lnTo>
                    <a:pt x="121" y="212"/>
                  </a:lnTo>
                  <a:lnTo>
                    <a:pt x="132" y="209"/>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6" y="126"/>
                  </a:lnTo>
                  <a:lnTo>
                    <a:pt x="218" y="115"/>
                  </a:lnTo>
                  <a:lnTo>
                    <a:pt x="218" y="105"/>
                  </a:lnTo>
                  <a:lnTo>
                    <a:pt x="218" y="94"/>
                  </a:lnTo>
                  <a:lnTo>
                    <a:pt x="216" y="83"/>
                  </a:lnTo>
                  <a:lnTo>
                    <a:pt x="213" y="73"/>
                  </a:lnTo>
                  <a:lnTo>
                    <a:pt x="210" y="65"/>
                  </a:lnTo>
                  <a:lnTo>
                    <a:pt x="205" y="54"/>
                  </a:lnTo>
                  <a:lnTo>
                    <a:pt x="199" y="46"/>
                  </a:lnTo>
                  <a:lnTo>
                    <a:pt x="194" y="38"/>
                  </a:lnTo>
                  <a:lnTo>
                    <a:pt x="186" y="30"/>
                  </a:lnTo>
                  <a:lnTo>
                    <a:pt x="178" y="24"/>
                  </a:lnTo>
                  <a:lnTo>
                    <a:pt x="170" y="19"/>
                  </a:lnTo>
                  <a:lnTo>
                    <a:pt x="162" y="14"/>
                  </a:lnTo>
                  <a:lnTo>
                    <a:pt x="154" y="8"/>
                  </a:lnTo>
                  <a:lnTo>
                    <a:pt x="143" y="6"/>
                  </a:lnTo>
                  <a:lnTo>
                    <a:pt x="132" y="3"/>
                  </a:lnTo>
                  <a:lnTo>
                    <a:pt x="121" y="0"/>
                  </a:lnTo>
                  <a:lnTo>
                    <a:pt x="111" y="0"/>
                  </a:lnTo>
                  <a:close/>
                </a:path>
              </a:pathLst>
            </a:custGeom>
            <a:solidFill>
              <a:srgbClr val="33CCFF"/>
            </a:solidFill>
            <a:ln>
              <a:noFill/>
            </a:ln>
          </p:spPr>
          <p:txBody>
            <a:bodyPr/>
            <a:lstStyle/>
            <a:p>
              <a:endParaRPr lang="en-US"/>
            </a:p>
          </p:txBody>
        </p:sp>
        <p:sp>
          <p:nvSpPr>
            <p:cNvPr id="185364" name="Rectangle 18"/>
            <p:cNvSpPr>
              <a:spLocks noChangeArrowheads="1"/>
            </p:cNvSpPr>
            <p:nvPr/>
          </p:nvSpPr>
          <p:spPr bwMode="auto">
            <a:xfrm>
              <a:off x="2641" y="1262"/>
              <a:ext cx="85" cy="154"/>
            </a:xfrm>
            <a:prstGeom prst="rect">
              <a:avLst/>
            </a:prstGeom>
            <a:noFill/>
            <a:ln>
              <a:noFill/>
            </a:ln>
          </p:spPr>
          <p:txBody>
            <a:bodyPr wrap="none" lIns="0" tIns="0" rIns="0" bIns="0">
              <a:spAutoFit/>
            </a:bodyPr>
            <a:lstStyle/>
            <a:p>
              <a:r>
                <a:rPr lang="en-US" sz="1600" b="1">
                  <a:solidFill>
                    <a:schemeClr val="bg1"/>
                  </a:solidFill>
                </a:rPr>
                <a:t>X</a:t>
              </a:r>
            </a:p>
          </p:txBody>
        </p:sp>
        <p:sp>
          <p:nvSpPr>
            <p:cNvPr id="185365" name="Freeform 19"/>
            <p:cNvSpPr/>
            <p:nvPr/>
          </p:nvSpPr>
          <p:spPr bwMode="auto">
            <a:xfrm>
              <a:off x="2579" y="1952"/>
              <a:ext cx="218" cy="212"/>
            </a:xfrm>
            <a:custGeom>
              <a:avLst/>
              <a:gdLst>
                <a:gd name="T0" fmla="*/ 97 w 218"/>
                <a:gd name="T1" fmla="*/ 0 h 212"/>
                <a:gd name="T2" fmla="*/ 75 w 218"/>
                <a:gd name="T3" fmla="*/ 6 h 212"/>
                <a:gd name="T4" fmla="*/ 56 w 218"/>
                <a:gd name="T5" fmla="*/ 14 h 212"/>
                <a:gd name="T6" fmla="*/ 40 w 218"/>
                <a:gd name="T7" fmla="*/ 24 h 212"/>
                <a:gd name="T8" fmla="*/ 24 w 218"/>
                <a:gd name="T9" fmla="*/ 38 h 212"/>
                <a:gd name="T10" fmla="*/ 13 w 218"/>
                <a:gd name="T11" fmla="*/ 54 h 212"/>
                <a:gd name="T12" fmla="*/ 5 w 218"/>
                <a:gd name="T13" fmla="*/ 73 h 212"/>
                <a:gd name="T14" fmla="*/ 0 w 218"/>
                <a:gd name="T15" fmla="*/ 94 h 212"/>
                <a:gd name="T16" fmla="*/ 0 w 218"/>
                <a:gd name="T17" fmla="*/ 116 h 212"/>
                <a:gd name="T18" fmla="*/ 5 w 218"/>
                <a:gd name="T19" fmla="*/ 137 h 212"/>
                <a:gd name="T20" fmla="*/ 13 w 218"/>
                <a:gd name="T21" fmla="*/ 156 h 212"/>
                <a:gd name="T22" fmla="*/ 24 w 218"/>
                <a:gd name="T23" fmla="*/ 172 h 212"/>
                <a:gd name="T24" fmla="*/ 40 w 218"/>
                <a:gd name="T25" fmla="*/ 188 h 212"/>
                <a:gd name="T26" fmla="*/ 56 w 218"/>
                <a:gd name="T27" fmla="*/ 199 h 212"/>
                <a:gd name="T28" fmla="*/ 75 w 218"/>
                <a:gd name="T29" fmla="*/ 207 h 212"/>
                <a:gd name="T30" fmla="*/ 97 w 218"/>
                <a:gd name="T31" fmla="*/ 212 h 212"/>
                <a:gd name="T32" fmla="*/ 118 w 218"/>
                <a:gd name="T33" fmla="*/ 212 h 212"/>
                <a:gd name="T34" fmla="*/ 140 w 218"/>
                <a:gd name="T35" fmla="*/ 207 h 212"/>
                <a:gd name="T36" fmla="*/ 161 w 218"/>
                <a:gd name="T37" fmla="*/ 199 h 212"/>
                <a:gd name="T38" fmla="*/ 178 w 218"/>
                <a:gd name="T39" fmla="*/ 188 h 212"/>
                <a:gd name="T40" fmla="*/ 194 w 218"/>
                <a:gd name="T41" fmla="*/ 172 h 212"/>
                <a:gd name="T42" fmla="*/ 204 w 218"/>
                <a:gd name="T43" fmla="*/ 156 h 212"/>
                <a:gd name="T44" fmla="*/ 213 w 218"/>
                <a:gd name="T45" fmla="*/ 137 h 212"/>
                <a:gd name="T46" fmla="*/ 218 w 218"/>
                <a:gd name="T47" fmla="*/ 116 h 212"/>
                <a:gd name="T48" fmla="*/ 218 w 218"/>
                <a:gd name="T49" fmla="*/ 94 h 212"/>
                <a:gd name="T50" fmla="*/ 213 w 218"/>
                <a:gd name="T51" fmla="*/ 73 h 212"/>
                <a:gd name="T52" fmla="*/ 204 w 218"/>
                <a:gd name="T53" fmla="*/ 54 h 212"/>
                <a:gd name="T54" fmla="*/ 194 w 218"/>
                <a:gd name="T55" fmla="*/ 38 h 212"/>
                <a:gd name="T56" fmla="*/ 178 w 218"/>
                <a:gd name="T57" fmla="*/ 24 h 212"/>
                <a:gd name="T58" fmla="*/ 161 w 218"/>
                <a:gd name="T59" fmla="*/ 14 h 212"/>
                <a:gd name="T60" fmla="*/ 140 w 218"/>
                <a:gd name="T61" fmla="*/ 6 h 212"/>
                <a:gd name="T62" fmla="*/ 118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08" y="0"/>
                  </a:moveTo>
                  <a:lnTo>
                    <a:pt x="97" y="0"/>
                  </a:lnTo>
                  <a:lnTo>
                    <a:pt x="86" y="3"/>
                  </a:lnTo>
                  <a:lnTo>
                    <a:pt x="75" y="6"/>
                  </a:lnTo>
                  <a:lnTo>
                    <a:pt x="65" y="8"/>
                  </a:lnTo>
                  <a:lnTo>
                    <a:pt x="56" y="14"/>
                  </a:lnTo>
                  <a:lnTo>
                    <a:pt x="48" y="19"/>
                  </a:lnTo>
                  <a:lnTo>
                    <a:pt x="40" y="24"/>
                  </a:lnTo>
                  <a:lnTo>
                    <a:pt x="32" y="30"/>
                  </a:lnTo>
                  <a:lnTo>
                    <a:pt x="24" y="38"/>
                  </a:lnTo>
                  <a:lnTo>
                    <a:pt x="19" y="46"/>
                  </a:lnTo>
                  <a:lnTo>
                    <a:pt x="13" y="54"/>
                  </a:lnTo>
                  <a:lnTo>
                    <a:pt x="8" y="65"/>
                  </a:lnTo>
                  <a:lnTo>
                    <a:pt x="5" y="73"/>
                  </a:lnTo>
                  <a:lnTo>
                    <a:pt x="3" y="83"/>
                  </a:lnTo>
                  <a:lnTo>
                    <a:pt x="0" y="94"/>
                  </a:lnTo>
                  <a:lnTo>
                    <a:pt x="0" y="105"/>
                  </a:lnTo>
                  <a:lnTo>
                    <a:pt x="0" y="116"/>
                  </a:lnTo>
                  <a:lnTo>
                    <a:pt x="3" y="126"/>
                  </a:lnTo>
                  <a:lnTo>
                    <a:pt x="5" y="137"/>
                  </a:lnTo>
                  <a:lnTo>
                    <a:pt x="8" y="148"/>
                  </a:lnTo>
                  <a:lnTo>
                    <a:pt x="13" y="156"/>
                  </a:lnTo>
                  <a:lnTo>
                    <a:pt x="19" y="164"/>
                  </a:lnTo>
                  <a:lnTo>
                    <a:pt x="24" y="172"/>
                  </a:lnTo>
                  <a:lnTo>
                    <a:pt x="32" y="180"/>
                  </a:lnTo>
                  <a:lnTo>
                    <a:pt x="40" y="188"/>
                  </a:lnTo>
                  <a:lnTo>
                    <a:pt x="48" y="193"/>
                  </a:lnTo>
                  <a:lnTo>
                    <a:pt x="56" y="199"/>
                  </a:lnTo>
                  <a:lnTo>
                    <a:pt x="65" y="204"/>
                  </a:lnTo>
                  <a:lnTo>
                    <a:pt x="75" y="207"/>
                  </a:lnTo>
                  <a:lnTo>
                    <a:pt x="86" y="209"/>
                  </a:lnTo>
                  <a:lnTo>
                    <a:pt x="97" y="212"/>
                  </a:lnTo>
                  <a:lnTo>
                    <a:pt x="108" y="212"/>
                  </a:lnTo>
                  <a:lnTo>
                    <a:pt x="118" y="212"/>
                  </a:lnTo>
                  <a:lnTo>
                    <a:pt x="129" y="209"/>
                  </a:lnTo>
                  <a:lnTo>
                    <a:pt x="140" y="207"/>
                  </a:lnTo>
                  <a:lnTo>
                    <a:pt x="151" y="204"/>
                  </a:lnTo>
                  <a:lnTo>
                    <a:pt x="161" y="199"/>
                  </a:lnTo>
                  <a:lnTo>
                    <a:pt x="169" y="193"/>
                  </a:lnTo>
                  <a:lnTo>
                    <a:pt x="178" y="188"/>
                  </a:lnTo>
                  <a:lnTo>
                    <a:pt x="186" y="180"/>
                  </a:lnTo>
                  <a:lnTo>
                    <a:pt x="194" y="172"/>
                  </a:lnTo>
                  <a:lnTo>
                    <a:pt x="199" y="164"/>
                  </a:lnTo>
                  <a:lnTo>
                    <a:pt x="204" y="156"/>
                  </a:lnTo>
                  <a:lnTo>
                    <a:pt x="210" y="148"/>
                  </a:lnTo>
                  <a:lnTo>
                    <a:pt x="213" y="137"/>
                  </a:lnTo>
                  <a:lnTo>
                    <a:pt x="215" y="126"/>
                  </a:lnTo>
                  <a:lnTo>
                    <a:pt x="218" y="116"/>
                  </a:lnTo>
                  <a:lnTo>
                    <a:pt x="218" y="105"/>
                  </a:lnTo>
                  <a:lnTo>
                    <a:pt x="218" y="94"/>
                  </a:lnTo>
                  <a:lnTo>
                    <a:pt x="215" y="83"/>
                  </a:lnTo>
                  <a:lnTo>
                    <a:pt x="213" y="73"/>
                  </a:lnTo>
                  <a:lnTo>
                    <a:pt x="210" y="65"/>
                  </a:lnTo>
                  <a:lnTo>
                    <a:pt x="204" y="54"/>
                  </a:lnTo>
                  <a:lnTo>
                    <a:pt x="199" y="46"/>
                  </a:lnTo>
                  <a:lnTo>
                    <a:pt x="194" y="38"/>
                  </a:lnTo>
                  <a:lnTo>
                    <a:pt x="186" y="30"/>
                  </a:lnTo>
                  <a:lnTo>
                    <a:pt x="178" y="24"/>
                  </a:lnTo>
                  <a:lnTo>
                    <a:pt x="169" y="19"/>
                  </a:lnTo>
                  <a:lnTo>
                    <a:pt x="161" y="14"/>
                  </a:lnTo>
                  <a:lnTo>
                    <a:pt x="151" y="8"/>
                  </a:lnTo>
                  <a:lnTo>
                    <a:pt x="140" y="6"/>
                  </a:lnTo>
                  <a:lnTo>
                    <a:pt x="129" y="3"/>
                  </a:lnTo>
                  <a:lnTo>
                    <a:pt x="118" y="0"/>
                  </a:lnTo>
                  <a:lnTo>
                    <a:pt x="108" y="0"/>
                  </a:lnTo>
                  <a:close/>
                </a:path>
              </a:pathLst>
            </a:custGeom>
            <a:solidFill>
              <a:srgbClr val="33CCFF"/>
            </a:solidFill>
            <a:ln>
              <a:noFill/>
            </a:ln>
          </p:spPr>
          <p:txBody>
            <a:bodyPr/>
            <a:lstStyle/>
            <a:p>
              <a:endParaRPr lang="en-US"/>
            </a:p>
          </p:txBody>
        </p:sp>
        <p:sp>
          <p:nvSpPr>
            <p:cNvPr id="185366" name="Rectangle 20"/>
            <p:cNvSpPr>
              <a:spLocks noChangeArrowheads="1"/>
            </p:cNvSpPr>
            <p:nvPr/>
          </p:nvSpPr>
          <p:spPr bwMode="auto">
            <a:xfrm>
              <a:off x="2653" y="1983"/>
              <a:ext cx="85" cy="154"/>
            </a:xfrm>
            <a:prstGeom prst="rect">
              <a:avLst/>
            </a:prstGeom>
            <a:noFill/>
            <a:ln>
              <a:noFill/>
            </a:ln>
          </p:spPr>
          <p:txBody>
            <a:bodyPr wrap="none" lIns="0" tIns="0" rIns="0" bIns="0">
              <a:spAutoFit/>
            </a:bodyPr>
            <a:lstStyle/>
            <a:p>
              <a:r>
                <a:rPr lang="en-US" sz="1600" b="1">
                  <a:solidFill>
                    <a:schemeClr val="bg1"/>
                  </a:solidFill>
                </a:rPr>
                <a:t>Y</a:t>
              </a:r>
            </a:p>
          </p:txBody>
        </p:sp>
        <p:sp>
          <p:nvSpPr>
            <p:cNvPr id="185367" name="Line 21"/>
            <p:cNvSpPr>
              <a:spLocks noChangeShapeType="1"/>
            </p:cNvSpPr>
            <p:nvPr/>
          </p:nvSpPr>
          <p:spPr bwMode="auto">
            <a:xfrm>
              <a:off x="674" y="1448"/>
              <a:ext cx="280" cy="1"/>
            </a:xfrm>
            <a:prstGeom prst="line">
              <a:avLst/>
            </a:prstGeom>
            <a:noFill/>
            <a:ln w="17463">
              <a:solidFill>
                <a:srgbClr val="000000"/>
              </a:solidFill>
              <a:round/>
            </a:ln>
          </p:spPr>
          <p:txBody>
            <a:bodyPr/>
            <a:lstStyle/>
            <a:p>
              <a:endParaRPr lang="en-US"/>
            </a:p>
          </p:txBody>
        </p:sp>
        <p:sp>
          <p:nvSpPr>
            <p:cNvPr id="185368" name="Line 22"/>
            <p:cNvSpPr>
              <a:spLocks noChangeShapeType="1"/>
            </p:cNvSpPr>
            <p:nvPr/>
          </p:nvSpPr>
          <p:spPr bwMode="auto">
            <a:xfrm>
              <a:off x="2165" y="1140"/>
              <a:ext cx="419" cy="174"/>
            </a:xfrm>
            <a:prstGeom prst="line">
              <a:avLst/>
            </a:prstGeom>
            <a:noFill/>
            <a:ln w="17463">
              <a:solidFill>
                <a:srgbClr val="000000"/>
              </a:solidFill>
              <a:round/>
            </a:ln>
          </p:spPr>
          <p:txBody>
            <a:bodyPr/>
            <a:lstStyle/>
            <a:p>
              <a:endParaRPr lang="en-US"/>
            </a:p>
          </p:txBody>
        </p:sp>
        <p:sp>
          <p:nvSpPr>
            <p:cNvPr id="185369" name="Line 23"/>
            <p:cNvSpPr>
              <a:spLocks noChangeShapeType="1"/>
            </p:cNvSpPr>
            <p:nvPr/>
          </p:nvSpPr>
          <p:spPr bwMode="auto">
            <a:xfrm flipV="1">
              <a:off x="2192" y="1381"/>
              <a:ext cx="422" cy="357"/>
            </a:xfrm>
            <a:prstGeom prst="line">
              <a:avLst/>
            </a:prstGeom>
            <a:noFill/>
            <a:ln w="17463">
              <a:solidFill>
                <a:srgbClr val="000000"/>
              </a:solidFill>
              <a:round/>
            </a:ln>
          </p:spPr>
          <p:txBody>
            <a:bodyPr/>
            <a:lstStyle/>
            <a:p>
              <a:endParaRPr lang="en-US"/>
            </a:p>
          </p:txBody>
        </p:sp>
        <p:sp>
          <p:nvSpPr>
            <p:cNvPr id="185370" name="Line 24"/>
            <p:cNvSpPr>
              <a:spLocks noChangeShapeType="1"/>
            </p:cNvSpPr>
            <p:nvPr/>
          </p:nvSpPr>
          <p:spPr bwMode="auto">
            <a:xfrm>
              <a:off x="2197" y="1821"/>
              <a:ext cx="387" cy="201"/>
            </a:xfrm>
            <a:prstGeom prst="line">
              <a:avLst/>
            </a:prstGeom>
            <a:noFill/>
            <a:ln w="17463">
              <a:solidFill>
                <a:srgbClr val="000000"/>
              </a:solidFill>
              <a:round/>
            </a:ln>
          </p:spPr>
          <p:txBody>
            <a:bodyPr/>
            <a:lstStyle/>
            <a:p>
              <a:endParaRPr lang="en-US"/>
            </a:p>
          </p:txBody>
        </p:sp>
        <p:sp>
          <p:nvSpPr>
            <p:cNvPr id="185371" name="Line 25"/>
            <p:cNvSpPr>
              <a:spLocks noChangeShapeType="1"/>
            </p:cNvSpPr>
            <p:nvPr/>
          </p:nvSpPr>
          <p:spPr bwMode="auto">
            <a:xfrm flipV="1">
              <a:off x="1481" y="1228"/>
              <a:ext cx="183" cy="148"/>
            </a:xfrm>
            <a:prstGeom prst="line">
              <a:avLst/>
            </a:prstGeom>
            <a:noFill/>
            <a:ln w="55563">
              <a:solidFill>
                <a:srgbClr val="000000"/>
              </a:solidFill>
              <a:round/>
            </a:ln>
          </p:spPr>
          <p:txBody>
            <a:bodyPr/>
            <a:lstStyle/>
            <a:p>
              <a:endParaRPr lang="en-US"/>
            </a:p>
          </p:txBody>
        </p:sp>
        <p:sp>
          <p:nvSpPr>
            <p:cNvPr id="185372" name="Line 26"/>
            <p:cNvSpPr>
              <a:spLocks noChangeShapeType="1"/>
            </p:cNvSpPr>
            <p:nvPr/>
          </p:nvSpPr>
          <p:spPr bwMode="auto">
            <a:xfrm flipV="1">
              <a:off x="2030" y="1309"/>
              <a:ext cx="1" cy="268"/>
            </a:xfrm>
            <a:prstGeom prst="line">
              <a:avLst/>
            </a:prstGeom>
            <a:noFill/>
            <a:ln w="55563">
              <a:solidFill>
                <a:srgbClr val="000000"/>
              </a:solidFill>
              <a:round/>
            </a:ln>
          </p:spPr>
          <p:txBody>
            <a:bodyPr/>
            <a:lstStyle/>
            <a:p>
              <a:endParaRPr lang="en-US"/>
            </a:p>
          </p:txBody>
        </p:sp>
        <p:sp>
          <p:nvSpPr>
            <p:cNvPr id="185373" name="Line 27"/>
            <p:cNvSpPr>
              <a:spLocks noChangeShapeType="1"/>
            </p:cNvSpPr>
            <p:nvPr/>
          </p:nvSpPr>
          <p:spPr bwMode="auto">
            <a:xfrm>
              <a:off x="1497" y="1577"/>
              <a:ext cx="167" cy="104"/>
            </a:xfrm>
            <a:prstGeom prst="line">
              <a:avLst/>
            </a:prstGeom>
            <a:noFill/>
            <a:ln w="55563">
              <a:solidFill>
                <a:srgbClr val="000000"/>
              </a:solidFill>
              <a:round/>
            </a:ln>
          </p:spPr>
          <p:txBody>
            <a:bodyPr/>
            <a:lstStyle/>
            <a:p>
              <a:endParaRPr lang="en-US"/>
            </a:p>
          </p:txBody>
        </p:sp>
        <p:sp>
          <p:nvSpPr>
            <p:cNvPr id="185374" name="Rectangle 28"/>
            <p:cNvSpPr>
              <a:spLocks noChangeArrowheads="1"/>
            </p:cNvSpPr>
            <p:nvPr/>
          </p:nvSpPr>
          <p:spPr bwMode="auto">
            <a:xfrm>
              <a:off x="3050" y="853"/>
              <a:ext cx="608" cy="284"/>
            </a:xfrm>
            <a:prstGeom prst="rect">
              <a:avLst/>
            </a:prstGeom>
            <a:solidFill>
              <a:srgbClr val="FFFFFF"/>
            </a:solidFill>
            <a:ln>
              <a:noFill/>
            </a:ln>
          </p:spPr>
          <p:txBody>
            <a:bodyPr/>
            <a:lstStyle/>
            <a:p>
              <a:endParaRPr lang="en-US"/>
            </a:p>
          </p:txBody>
        </p:sp>
        <p:sp>
          <p:nvSpPr>
            <p:cNvPr id="185375" name="Rectangle 29"/>
            <p:cNvSpPr>
              <a:spLocks noChangeArrowheads="1"/>
            </p:cNvSpPr>
            <p:nvPr/>
          </p:nvSpPr>
          <p:spPr bwMode="auto">
            <a:xfrm>
              <a:off x="3131" y="896"/>
              <a:ext cx="526" cy="192"/>
            </a:xfrm>
            <a:prstGeom prst="rect">
              <a:avLst/>
            </a:prstGeom>
            <a:noFill/>
            <a:ln>
              <a:noFill/>
            </a:ln>
          </p:spPr>
          <p:txBody>
            <a:bodyPr wrap="none" lIns="0" tIns="0" rIns="0" bIns="0">
              <a:spAutoFit/>
            </a:bodyPr>
            <a:lstStyle/>
            <a:p>
              <a:r>
                <a:rPr lang="en-US" sz="2000">
                  <a:solidFill>
                    <a:srgbClr val="000000"/>
                  </a:solidFill>
                </a:rPr>
                <a:t>legend</a:t>
              </a:r>
              <a:r>
                <a:rPr lang="en-US" sz="1700" b="1">
                  <a:solidFill>
                    <a:srgbClr val="000000"/>
                  </a:solidFill>
                </a:rPr>
                <a:t>:</a:t>
              </a:r>
              <a:endParaRPr lang="en-US"/>
            </a:p>
          </p:txBody>
        </p:sp>
        <p:sp>
          <p:nvSpPr>
            <p:cNvPr id="185376" name="Rectangle 30"/>
            <p:cNvSpPr>
              <a:spLocks noChangeArrowheads="1"/>
            </p:cNvSpPr>
            <p:nvPr/>
          </p:nvSpPr>
          <p:spPr bwMode="auto">
            <a:xfrm>
              <a:off x="3548" y="898"/>
              <a:ext cx="38" cy="163"/>
            </a:xfrm>
            <a:prstGeom prst="rect">
              <a:avLst/>
            </a:prstGeom>
            <a:noFill/>
            <a:ln>
              <a:noFill/>
            </a:ln>
          </p:spPr>
          <p:txBody>
            <a:bodyPr wrap="none" lIns="0" tIns="0" rIns="0" bIns="0">
              <a:spAutoFit/>
            </a:bodyPr>
            <a:lstStyle/>
            <a:p>
              <a:r>
                <a:rPr lang="en-US" sz="1700">
                  <a:solidFill>
                    <a:srgbClr val="000000"/>
                  </a:solidFill>
                </a:rPr>
                <a:t> </a:t>
              </a:r>
              <a:endParaRPr lang="en-US"/>
            </a:p>
          </p:txBody>
        </p:sp>
        <p:sp>
          <p:nvSpPr>
            <p:cNvPr id="185377" name="Rectangle 31"/>
            <p:cNvSpPr>
              <a:spLocks noChangeArrowheads="1"/>
            </p:cNvSpPr>
            <p:nvPr/>
          </p:nvSpPr>
          <p:spPr bwMode="auto">
            <a:xfrm>
              <a:off x="4261" y="1432"/>
              <a:ext cx="731" cy="499"/>
            </a:xfrm>
            <a:prstGeom prst="rect">
              <a:avLst/>
            </a:prstGeom>
            <a:solidFill>
              <a:srgbClr val="FFFFFF"/>
            </a:solidFill>
            <a:ln>
              <a:noFill/>
            </a:ln>
          </p:spPr>
          <p:txBody>
            <a:bodyPr/>
            <a:lstStyle/>
            <a:p>
              <a:endParaRPr lang="en-US"/>
            </a:p>
          </p:txBody>
        </p:sp>
        <p:sp>
          <p:nvSpPr>
            <p:cNvPr id="185378" name="Rectangle 32"/>
            <p:cNvSpPr>
              <a:spLocks noChangeArrowheads="1"/>
            </p:cNvSpPr>
            <p:nvPr/>
          </p:nvSpPr>
          <p:spPr bwMode="auto">
            <a:xfrm>
              <a:off x="4341" y="1472"/>
              <a:ext cx="701" cy="192"/>
            </a:xfrm>
            <a:prstGeom prst="rect">
              <a:avLst/>
            </a:prstGeom>
            <a:noFill/>
            <a:ln>
              <a:noFill/>
            </a:ln>
          </p:spPr>
          <p:txBody>
            <a:bodyPr wrap="none" lIns="0" tIns="0" rIns="0" bIns="0">
              <a:spAutoFit/>
            </a:bodyPr>
            <a:lstStyle/>
            <a:p>
              <a:r>
                <a:rPr lang="en-US" sz="2000">
                  <a:solidFill>
                    <a:srgbClr val="000000"/>
                  </a:solidFill>
                </a:rPr>
                <a:t>customer </a:t>
              </a:r>
              <a:endParaRPr lang="en-US" sz="2000"/>
            </a:p>
          </p:txBody>
        </p:sp>
        <p:sp>
          <p:nvSpPr>
            <p:cNvPr id="185379" name="Rectangle 33"/>
            <p:cNvSpPr>
              <a:spLocks noChangeArrowheads="1"/>
            </p:cNvSpPr>
            <p:nvPr/>
          </p:nvSpPr>
          <p:spPr bwMode="auto">
            <a:xfrm>
              <a:off x="4341" y="1630"/>
              <a:ext cx="604" cy="192"/>
            </a:xfrm>
            <a:prstGeom prst="rect">
              <a:avLst/>
            </a:prstGeom>
            <a:noFill/>
            <a:ln>
              <a:noFill/>
            </a:ln>
          </p:spPr>
          <p:txBody>
            <a:bodyPr wrap="none" lIns="0" tIns="0" rIns="0" bIns="0">
              <a:spAutoFit/>
            </a:bodyPr>
            <a:lstStyle/>
            <a:p>
              <a:r>
                <a:rPr lang="en-US" sz="2000">
                  <a:solidFill>
                    <a:srgbClr val="000000"/>
                  </a:solidFill>
                </a:rPr>
                <a:t>network:</a:t>
              </a:r>
              <a:endParaRPr lang="en-US" sz="2000"/>
            </a:p>
          </p:txBody>
        </p:sp>
        <p:sp>
          <p:nvSpPr>
            <p:cNvPr id="185380" name="Rectangle 34"/>
            <p:cNvSpPr>
              <a:spLocks noChangeArrowheads="1"/>
            </p:cNvSpPr>
            <p:nvPr/>
          </p:nvSpPr>
          <p:spPr bwMode="auto">
            <a:xfrm>
              <a:off x="4823" y="1630"/>
              <a:ext cx="44" cy="192"/>
            </a:xfrm>
            <a:prstGeom prst="rect">
              <a:avLst/>
            </a:prstGeom>
            <a:noFill/>
            <a:ln>
              <a:noFill/>
            </a:ln>
          </p:spPr>
          <p:txBody>
            <a:bodyPr wrap="none" lIns="0" tIns="0" rIns="0" bIns="0">
              <a:spAutoFit/>
            </a:bodyPr>
            <a:lstStyle/>
            <a:p>
              <a:r>
                <a:rPr lang="en-US" sz="2000">
                  <a:solidFill>
                    <a:srgbClr val="000000"/>
                  </a:solidFill>
                </a:rPr>
                <a:t> </a:t>
              </a:r>
              <a:endParaRPr lang="en-US" sz="2000"/>
            </a:p>
          </p:txBody>
        </p:sp>
        <p:sp>
          <p:nvSpPr>
            <p:cNvPr id="185381" name="Rectangle 35"/>
            <p:cNvSpPr>
              <a:spLocks noChangeArrowheads="1"/>
            </p:cNvSpPr>
            <p:nvPr/>
          </p:nvSpPr>
          <p:spPr bwMode="auto">
            <a:xfrm>
              <a:off x="4261" y="869"/>
              <a:ext cx="697" cy="424"/>
            </a:xfrm>
            <a:prstGeom prst="rect">
              <a:avLst/>
            </a:prstGeom>
            <a:solidFill>
              <a:srgbClr val="FFFFFF"/>
            </a:solidFill>
            <a:ln>
              <a:noFill/>
            </a:ln>
          </p:spPr>
          <p:txBody>
            <a:bodyPr/>
            <a:lstStyle/>
            <a:p>
              <a:endParaRPr lang="en-US"/>
            </a:p>
          </p:txBody>
        </p:sp>
        <p:sp>
          <p:nvSpPr>
            <p:cNvPr id="185382" name="Rectangle 36"/>
            <p:cNvSpPr>
              <a:spLocks noChangeArrowheads="1"/>
            </p:cNvSpPr>
            <p:nvPr/>
          </p:nvSpPr>
          <p:spPr bwMode="auto">
            <a:xfrm>
              <a:off x="4341" y="909"/>
              <a:ext cx="578" cy="192"/>
            </a:xfrm>
            <a:prstGeom prst="rect">
              <a:avLst/>
            </a:prstGeom>
            <a:noFill/>
            <a:ln>
              <a:noFill/>
            </a:ln>
          </p:spPr>
          <p:txBody>
            <a:bodyPr wrap="none" lIns="0" tIns="0" rIns="0" bIns="0">
              <a:spAutoFit/>
            </a:bodyPr>
            <a:lstStyle/>
            <a:p>
              <a:r>
                <a:rPr lang="en-US" sz="2000">
                  <a:solidFill>
                    <a:srgbClr val="000000"/>
                  </a:solidFill>
                </a:rPr>
                <a:t>provider</a:t>
              </a:r>
              <a:endParaRPr lang="en-US" sz="2000"/>
            </a:p>
          </p:txBody>
        </p:sp>
        <p:sp>
          <p:nvSpPr>
            <p:cNvPr id="185383" name="Rectangle 37"/>
            <p:cNvSpPr>
              <a:spLocks noChangeArrowheads="1"/>
            </p:cNvSpPr>
            <p:nvPr/>
          </p:nvSpPr>
          <p:spPr bwMode="auto">
            <a:xfrm>
              <a:off x="4796" y="909"/>
              <a:ext cx="44" cy="192"/>
            </a:xfrm>
            <a:prstGeom prst="rect">
              <a:avLst/>
            </a:prstGeom>
            <a:noFill/>
            <a:ln>
              <a:noFill/>
            </a:ln>
          </p:spPr>
          <p:txBody>
            <a:bodyPr wrap="none" lIns="0" tIns="0" rIns="0" bIns="0">
              <a:spAutoFit/>
            </a:bodyPr>
            <a:lstStyle/>
            <a:p>
              <a:r>
                <a:rPr lang="en-US" sz="2000">
                  <a:solidFill>
                    <a:srgbClr val="000000"/>
                  </a:solidFill>
                </a:rPr>
                <a:t> </a:t>
              </a:r>
              <a:endParaRPr lang="en-US" sz="2000"/>
            </a:p>
          </p:txBody>
        </p:sp>
        <p:sp>
          <p:nvSpPr>
            <p:cNvPr id="185384" name="Rectangle 38"/>
            <p:cNvSpPr>
              <a:spLocks noChangeArrowheads="1"/>
            </p:cNvSpPr>
            <p:nvPr/>
          </p:nvSpPr>
          <p:spPr bwMode="auto">
            <a:xfrm>
              <a:off x="4341" y="1064"/>
              <a:ext cx="560" cy="192"/>
            </a:xfrm>
            <a:prstGeom prst="rect">
              <a:avLst/>
            </a:prstGeom>
            <a:noFill/>
            <a:ln>
              <a:noFill/>
            </a:ln>
          </p:spPr>
          <p:txBody>
            <a:bodyPr wrap="none" lIns="0" tIns="0" rIns="0" bIns="0">
              <a:spAutoFit/>
            </a:bodyPr>
            <a:lstStyle/>
            <a:p>
              <a:r>
                <a:rPr lang="en-US" sz="2000">
                  <a:solidFill>
                    <a:srgbClr val="000000"/>
                  </a:solidFill>
                </a:rPr>
                <a:t>network</a:t>
              </a:r>
              <a:endParaRPr lang="en-US" sz="2000"/>
            </a:p>
          </p:txBody>
        </p:sp>
        <p:sp>
          <p:nvSpPr>
            <p:cNvPr id="185385" name="Rectangle 39"/>
            <p:cNvSpPr>
              <a:spLocks noChangeArrowheads="1"/>
            </p:cNvSpPr>
            <p:nvPr/>
          </p:nvSpPr>
          <p:spPr bwMode="auto">
            <a:xfrm>
              <a:off x="4785" y="1064"/>
              <a:ext cx="44" cy="192"/>
            </a:xfrm>
            <a:prstGeom prst="rect">
              <a:avLst/>
            </a:prstGeom>
            <a:noFill/>
            <a:ln>
              <a:noFill/>
            </a:ln>
          </p:spPr>
          <p:txBody>
            <a:bodyPr wrap="none" lIns="0" tIns="0" rIns="0" bIns="0">
              <a:spAutoFit/>
            </a:bodyPr>
            <a:lstStyle/>
            <a:p>
              <a:r>
                <a:rPr lang="en-US" sz="2000">
                  <a:solidFill>
                    <a:srgbClr val="000000"/>
                  </a:solidFill>
                </a:rPr>
                <a:t> </a:t>
              </a:r>
              <a:endParaRPr lang="en-US" sz="2000"/>
            </a:p>
          </p:txBody>
        </p:sp>
        <p:sp>
          <p:nvSpPr>
            <p:cNvPr id="185386" name="Freeform 40"/>
            <p:cNvSpPr/>
            <p:nvPr/>
          </p:nvSpPr>
          <p:spPr bwMode="auto">
            <a:xfrm>
              <a:off x="3749" y="901"/>
              <a:ext cx="563" cy="362"/>
            </a:xfrm>
            <a:custGeom>
              <a:avLst/>
              <a:gdLst>
                <a:gd name="T0" fmla="*/ 162 w 563"/>
                <a:gd name="T1" fmla="*/ 0 h 362"/>
                <a:gd name="T2" fmla="*/ 132 w 563"/>
                <a:gd name="T3" fmla="*/ 5 h 362"/>
                <a:gd name="T4" fmla="*/ 108 w 563"/>
                <a:gd name="T5" fmla="*/ 13 h 362"/>
                <a:gd name="T6" fmla="*/ 81 w 563"/>
                <a:gd name="T7" fmla="*/ 30 h 362"/>
                <a:gd name="T8" fmla="*/ 60 w 563"/>
                <a:gd name="T9" fmla="*/ 48 h 362"/>
                <a:gd name="T10" fmla="*/ 35 w 563"/>
                <a:gd name="T11" fmla="*/ 72 h 362"/>
                <a:gd name="T12" fmla="*/ 14 w 563"/>
                <a:gd name="T13" fmla="*/ 102 h 362"/>
                <a:gd name="T14" fmla="*/ 3 w 563"/>
                <a:gd name="T15" fmla="*/ 126 h 362"/>
                <a:gd name="T16" fmla="*/ 0 w 563"/>
                <a:gd name="T17" fmla="*/ 140 h 362"/>
                <a:gd name="T18" fmla="*/ 0 w 563"/>
                <a:gd name="T19" fmla="*/ 156 h 362"/>
                <a:gd name="T20" fmla="*/ 3 w 563"/>
                <a:gd name="T21" fmla="*/ 180 h 362"/>
                <a:gd name="T22" fmla="*/ 17 w 563"/>
                <a:gd name="T23" fmla="*/ 212 h 362"/>
                <a:gd name="T24" fmla="*/ 35 w 563"/>
                <a:gd name="T25" fmla="*/ 241 h 362"/>
                <a:gd name="T26" fmla="*/ 60 w 563"/>
                <a:gd name="T27" fmla="*/ 268 h 362"/>
                <a:gd name="T28" fmla="*/ 81 w 563"/>
                <a:gd name="T29" fmla="*/ 292 h 362"/>
                <a:gd name="T30" fmla="*/ 103 w 563"/>
                <a:gd name="T31" fmla="*/ 316 h 362"/>
                <a:gd name="T32" fmla="*/ 119 w 563"/>
                <a:gd name="T33" fmla="*/ 327 h 362"/>
                <a:gd name="T34" fmla="*/ 135 w 563"/>
                <a:gd name="T35" fmla="*/ 335 h 362"/>
                <a:gd name="T36" fmla="*/ 156 w 563"/>
                <a:gd name="T37" fmla="*/ 341 h 362"/>
                <a:gd name="T38" fmla="*/ 183 w 563"/>
                <a:gd name="T39" fmla="*/ 346 h 362"/>
                <a:gd name="T40" fmla="*/ 200 w 563"/>
                <a:gd name="T41" fmla="*/ 349 h 362"/>
                <a:gd name="T42" fmla="*/ 240 w 563"/>
                <a:gd name="T43" fmla="*/ 354 h 362"/>
                <a:gd name="T44" fmla="*/ 286 w 563"/>
                <a:gd name="T45" fmla="*/ 357 h 362"/>
                <a:gd name="T46" fmla="*/ 334 w 563"/>
                <a:gd name="T47" fmla="*/ 359 h 362"/>
                <a:gd name="T48" fmla="*/ 385 w 563"/>
                <a:gd name="T49" fmla="*/ 362 h 362"/>
                <a:gd name="T50" fmla="*/ 434 w 563"/>
                <a:gd name="T51" fmla="*/ 359 h 362"/>
                <a:gd name="T52" fmla="*/ 477 w 563"/>
                <a:gd name="T53" fmla="*/ 351 h 362"/>
                <a:gd name="T54" fmla="*/ 504 w 563"/>
                <a:gd name="T55" fmla="*/ 343 h 362"/>
                <a:gd name="T56" fmla="*/ 517 w 563"/>
                <a:gd name="T57" fmla="*/ 335 h 362"/>
                <a:gd name="T58" fmla="*/ 528 w 563"/>
                <a:gd name="T59" fmla="*/ 325 h 362"/>
                <a:gd name="T60" fmla="*/ 541 w 563"/>
                <a:gd name="T61" fmla="*/ 306 h 362"/>
                <a:gd name="T62" fmla="*/ 555 w 563"/>
                <a:gd name="T63" fmla="*/ 274 h 362"/>
                <a:gd name="T64" fmla="*/ 560 w 563"/>
                <a:gd name="T65" fmla="*/ 236 h 362"/>
                <a:gd name="T66" fmla="*/ 563 w 563"/>
                <a:gd name="T67" fmla="*/ 193 h 362"/>
                <a:gd name="T68" fmla="*/ 560 w 563"/>
                <a:gd name="T69" fmla="*/ 153 h 362"/>
                <a:gd name="T70" fmla="*/ 557 w 563"/>
                <a:gd name="T71" fmla="*/ 113 h 362"/>
                <a:gd name="T72" fmla="*/ 552 w 563"/>
                <a:gd name="T73" fmla="*/ 78 h 362"/>
                <a:gd name="T74" fmla="*/ 547 w 563"/>
                <a:gd name="T75" fmla="*/ 59 h 362"/>
                <a:gd name="T76" fmla="*/ 544 w 563"/>
                <a:gd name="T77" fmla="*/ 46 h 362"/>
                <a:gd name="T78" fmla="*/ 539 w 563"/>
                <a:gd name="T79" fmla="*/ 30 h 362"/>
                <a:gd name="T80" fmla="*/ 533 w 563"/>
                <a:gd name="T81" fmla="*/ 22 h 362"/>
                <a:gd name="T82" fmla="*/ 522 w 563"/>
                <a:gd name="T83" fmla="*/ 19 h 362"/>
                <a:gd name="T84" fmla="*/ 506 w 563"/>
                <a:gd name="T85" fmla="*/ 16 h 362"/>
                <a:gd name="T86" fmla="*/ 479 w 563"/>
                <a:gd name="T87" fmla="*/ 16 h 362"/>
                <a:gd name="T88" fmla="*/ 466 w 563"/>
                <a:gd name="T89" fmla="*/ 13 h 362"/>
                <a:gd name="T90" fmla="*/ 450 w 563"/>
                <a:gd name="T91" fmla="*/ 11 h 362"/>
                <a:gd name="T92" fmla="*/ 409 w 563"/>
                <a:gd name="T93" fmla="*/ 11 h 362"/>
                <a:gd name="T94" fmla="*/ 364 w 563"/>
                <a:gd name="T95" fmla="*/ 13 h 362"/>
                <a:gd name="T96" fmla="*/ 321 w 563"/>
                <a:gd name="T97" fmla="*/ 13 h 362"/>
                <a:gd name="T98" fmla="*/ 283 w 563"/>
                <a:gd name="T99" fmla="*/ 11 h 362"/>
                <a:gd name="T100" fmla="*/ 248 w 563"/>
                <a:gd name="T101" fmla="*/ 5 h 362"/>
                <a:gd name="T102" fmla="*/ 213 w 563"/>
                <a:gd name="T103" fmla="*/ 0 h 362"/>
                <a:gd name="T104" fmla="*/ 186 w 563"/>
                <a:gd name="T105" fmla="*/ 0 h 362"/>
                <a:gd name="T106" fmla="*/ 175 w 563"/>
                <a:gd name="T107" fmla="*/ 0 h 3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63"/>
                <a:gd name="T163" fmla="*/ 0 h 362"/>
                <a:gd name="T164" fmla="*/ 563 w 563"/>
                <a:gd name="T165" fmla="*/ 362 h 3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63" h="362">
                  <a:moveTo>
                    <a:pt x="175" y="0"/>
                  </a:moveTo>
                  <a:lnTo>
                    <a:pt x="162" y="0"/>
                  </a:lnTo>
                  <a:lnTo>
                    <a:pt x="148" y="3"/>
                  </a:lnTo>
                  <a:lnTo>
                    <a:pt x="132" y="5"/>
                  </a:lnTo>
                  <a:lnTo>
                    <a:pt x="119" y="11"/>
                  </a:lnTo>
                  <a:lnTo>
                    <a:pt x="108" y="13"/>
                  </a:lnTo>
                  <a:lnTo>
                    <a:pt x="95" y="22"/>
                  </a:lnTo>
                  <a:lnTo>
                    <a:pt x="81" y="30"/>
                  </a:lnTo>
                  <a:lnTo>
                    <a:pt x="70" y="38"/>
                  </a:lnTo>
                  <a:lnTo>
                    <a:pt x="60" y="48"/>
                  </a:lnTo>
                  <a:lnTo>
                    <a:pt x="46" y="59"/>
                  </a:lnTo>
                  <a:lnTo>
                    <a:pt x="35" y="72"/>
                  </a:lnTo>
                  <a:lnTo>
                    <a:pt x="25" y="89"/>
                  </a:lnTo>
                  <a:lnTo>
                    <a:pt x="14" y="102"/>
                  </a:lnTo>
                  <a:lnTo>
                    <a:pt x="8" y="118"/>
                  </a:lnTo>
                  <a:lnTo>
                    <a:pt x="3" y="126"/>
                  </a:lnTo>
                  <a:lnTo>
                    <a:pt x="3" y="134"/>
                  </a:lnTo>
                  <a:lnTo>
                    <a:pt x="0" y="140"/>
                  </a:lnTo>
                  <a:lnTo>
                    <a:pt x="0" y="148"/>
                  </a:lnTo>
                  <a:lnTo>
                    <a:pt x="0" y="156"/>
                  </a:lnTo>
                  <a:lnTo>
                    <a:pt x="0" y="164"/>
                  </a:lnTo>
                  <a:lnTo>
                    <a:pt x="3" y="180"/>
                  </a:lnTo>
                  <a:lnTo>
                    <a:pt x="8" y="196"/>
                  </a:lnTo>
                  <a:lnTo>
                    <a:pt x="17" y="212"/>
                  </a:lnTo>
                  <a:lnTo>
                    <a:pt x="27" y="225"/>
                  </a:lnTo>
                  <a:lnTo>
                    <a:pt x="35" y="241"/>
                  </a:lnTo>
                  <a:lnTo>
                    <a:pt x="49" y="255"/>
                  </a:lnTo>
                  <a:lnTo>
                    <a:pt x="60" y="268"/>
                  </a:lnTo>
                  <a:lnTo>
                    <a:pt x="70" y="282"/>
                  </a:lnTo>
                  <a:lnTo>
                    <a:pt x="81" y="292"/>
                  </a:lnTo>
                  <a:lnTo>
                    <a:pt x="92" y="306"/>
                  </a:lnTo>
                  <a:lnTo>
                    <a:pt x="103" y="316"/>
                  </a:lnTo>
                  <a:lnTo>
                    <a:pt x="111" y="322"/>
                  </a:lnTo>
                  <a:lnTo>
                    <a:pt x="119" y="327"/>
                  </a:lnTo>
                  <a:lnTo>
                    <a:pt x="127" y="330"/>
                  </a:lnTo>
                  <a:lnTo>
                    <a:pt x="135" y="335"/>
                  </a:lnTo>
                  <a:lnTo>
                    <a:pt x="146" y="338"/>
                  </a:lnTo>
                  <a:lnTo>
                    <a:pt x="156" y="341"/>
                  </a:lnTo>
                  <a:lnTo>
                    <a:pt x="170" y="343"/>
                  </a:lnTo>
                  <a:lnTo>
                    <a:pt x="183" y="346"/>
                  </a:lnTo>
                  <a:lnTo>
                    <a:pt x="191" y="346"/>
                  </a:lnTo>
                  <a:lnTo>
                    <a:pt x="200" y="349"/>
                  </a:lnTo>
                  <a:lnTo>
                    <a:pt x="218" y="351"/>
                  </a:lnTo>
                  <a:lnTo>
                    <a:pt x="240" y="354"/>
                  </a:lnTo>
                  <a:lnTo>
                    <a:pt x="261" y="354"/>
                  </a:lnTo>
                  <a:lnTo>
                    <a:pt x="286" y="357"/>
                  </a:lnTo>
                  <a:lnTo>
                    <a:pt x="310" y="359"/>
                  </a:lnTo>
                  <a:lnTo>
                    <a:pt x="334" y="359"/>
                  </a:lnTo>
                  <a:lnTo>
                    <a:pt x="361" y="362"/>
                  </a:lnTo>
                  <a:lnTo>
                    <a:pt x="385" y="362"/>
                  </a:lnTo>
                  <a:lnTo>
                    <a:pt x="409" y="359"/>
                  </a:lnTo>
                  <a:lnTo>
                    <a:pt x="434" y="359"/>
                  </a:lnTo>
                  <a:lnTo>
                    <a:pt x="455" y="357"/>
                  </a:lnTo>
                  <a:lnTo>
                    <a:pt x="477" y="351"/>
                  </a:lnTo>
                  <a:lnTo>
                    <a:pt x="493" y="346"/>
                  </a:lnTo>
                  <a:lnTo>
                    <a:pt x="504" y="343"/>
                  </a:lnTo>
                  <a:lnTo>
                    <a:pt x="509" y="338"/>
                  </a:lnTo>
                  <a:lnTo>
                    <a:pt x="517" y="335"/>
                  </a:lnTo>
                  <a:lnTo>
                    <a:pt x="522" y="330"/>
                  </a:lnTo>
                  <a:lnTo>
                    <a:pt x="528" y="325"/>
                  </a:lnTo>
                  <a:lnTo>
                    <a:pt x="533" y="319"/>
                  </a:lnTo>
                  <a:lnTo>
                    <a:pt x="541" y="306"/>
                  </a:lnTo>
                  <a:lnTo>
                    <a:pt x="549" y="292"/>
                  </a:lnTo>
                  <a:lnTo>
                    <a:pt x="555" y="274"/>
                  </a:lnTo>
                  <a:lnTo>
                    <a:pt x="557" y="255"/>
                  </a:lnTo>
                  <a:lnTo>
                    <a:pt x="560" y="236"/>
                  </a:lnTo>
                  <a:lnTo>
                    <a:pt x="563" y="215"/>
                  </a:lnTo>
                  <a:lnTo>
                    <a:pt x="563" y="193"/>
                  </a:lnTo>
                  <a:lnTo>
                    <a:pt x="560" y="172"/>
                  </a:lnTo>
                  <a:lnTo>
                    <a:pt x="560" y="153"/>
                  </a:lnTo>
                  <a:lnTo>
                    <a:pt x="557" y="131"/>
                  </a:lnTo>
                  <a:lnTo>
                    <a:pt x="557" y="113"/>
                  </a:lnTo>
                  <a:lnTo>
                    <a:pt x="555" y="94"/>
                  </a:lnTo>
                  <a:lnTo>
                    <a:pt x="552" y="78"/>
                  </a:lnTo>
                  <a:lnTo>
                    <a:pt x="549" y="64"/>
                  </a:lnTo>
                  <a:lnTo>
                    <a:pt x="547" y="59"/>
                  </a:lnTo>
                  <a:lnTo>
                    <a:pt x="547" y="54"/>
                  </a:lnTo>
                  <a:lnTo>
                    <a:pt x="544" y="46"/>
                  </a:lnTo>
                  <a:lnTo>
                    <a:pt x="541" y="38"/>
                  </a:lnTo>
                  <a:lnTo>
                    <a:pt x="539" y="30"/>
                  </a:lnTo>
                  <a:lnTo>
                    <a:pt x="536" y="27"/>
                  </a:lnTo>
                  <a:lnTo>
                    <a:pt x="533" y="22"/>
                  </a:lnTo>
                  <a:lnTo>
                    <a:pt x="528" y="19"/>
                  </a:lnTo>
                  <a:lnTo>
                    <a:pt x="522" y="19"/>
                  </a:lnTo>
                  <a:lnTo>
                    <a:pt x="520" y="16"/>
                  </a:lnTo>
                  <a:lnTo>
                    <a:pt x="506" y="16"/>
                  </a:lnTo>
                  <a:lnTo>
                    <a:pt x="495" y="16"/>
                  </a:lnTo>
                  <a:lnTo>
                    <a:pt x="479" y="16"/>
                  </a:lnTo>
                  <a:lnTo>
                    <a:pt x="474" y="13"/>
                  </a:lnTo>
                  <a:lnTo>
                    <a:pt x="466" y="13"/>
                  </a:lnTo>
                  <a:lnTo>
                    <a:pt x="458" y="13"/>
                  </a:lnTo>
                  <a:lnTo>
                    <a:pt x="450" y="11"/>
                  </a:lnTo>
                  <a:lnTo>
                    <a:pt x="431" y="11"/>
                  </a:lnTo>
                  <a:lnTo>
                    <a:pt x="409" y="11"/>
                  </a:lnTo>
                  <a:lnTo>
                    <a:pt x="388" y="13"/>
                  </a:lnTo>
                  <a:lnTo>
                    <a:pt x="364" y="13"/>
                  </a:lnTo>
                  <a:lnTo>
                    <a:pt x="342" y="13"/>
                  </a:lnTo>
                  <a:lnTo>
                    <a:pt x="321" y="13"/>
                  </a:lnTo>
                  <a:lnTo>
                    <a:pt x="302" y="13"/>
                  </a:lnTo>
                  <a:lnTo>
                    <a:pt x="283" y="11"/>
                  </a:lnTo>
                  <a:lnTo>
                    <a:pt x="264" y="11"/>
                  </a:lnTo>
                  <a:lnTo>
                    <a:pt x="248" y="5"/>
                  </a:lnTo>
                  <a:lnTo>
                    <a:pt x="229" y="3"/>
                  </a:lnTo>
                  <a:lnTo>
                    <a:pt x="213" y="0"/>
                  </a:lnTo>
                  <a:lnTo>
                    <a:pt x="200" y="0"/>
                  </a:lnTo>
                  <a:lnTo>
                    <a:pt x="186" y="0"/>
                  </a:lnTo>
                  <a:lnTo>
                    <a:pt x="181" y="0"/>
                  </a:lnTo>
                  <a:lnTo>
                    <a:pt x="175" y="0"/>
                  </a:lnTo>
                  <a:close/>
                </a:path>
              </a:pathLst>
            </a:custGeom>
            <a:solidFill>
              <a:srgbClr val="33CCFF"/>
            </a:solidFill>
            <a:ln>
              <a:noFill/>
            </a:ln>
          </p:spPr>
          <p:txBody>
            <a:bodyPr/>
            <a:lstStyle/>
            <a:p>
              <a:endParaRPr lang="en-US"/>
            </a:p>
          </p:txBody>
        </p:sp>
        <p:sp>
          <p:nvSpPr>
            <p:cNvPr id="185387" name="Freeform 41"/>
            <p:cNvSpPr/>
            <p:nvPr/>
          </p:nvSpPr>
          <p:spPr bwMode="auto">
            <a:xfrm>
              <a:off x="4064" y="1504"/>
              <a:ext cx="218" cy="212"/>
            </a:xfrm>
            <a:custGeom>
              <a:avLst/>
              <a:gdLst>
                <a:gd name="T0" fmla="*/ 100 w 218"/>
                <a:gd name="T1" fmla="*/ 0 h 212"/>
                <a:gd name="T2" fmla="*/ 78 w 218"/>
                <a:gd name="T3" fmla="*/ 6 h 212"/>
                <a:gd name="T4" fmla="*/ 57 w 218"/>
                <a:gd name="T5" fmla="*/ 14 h 212"/>
                <a:gd name="T6" fmla="*/ 41 w 218"/>
                <a:gd name="T7" fmla="*/ 25 h 212"/>
                <a:gd name="T8" fmla="*/ 24 w 218"/>
                <a:gd name="T9" fmla="*/ 38 h 212"/>
                <a:gd name="T10" fmla="*/ 14 w 218"/>
                <a:gd name="T11" fmla="*/ 57 h 212"/>
                <a:gd name="T12" fmla="*/ 6 w 218"/>
                <a:gd name="T13" fmla="*/ 76 h 212"/>
                <a:gd name="T14" fmla="*/ 0 w 218"/>
                <a:gd name="T15" fmla="*/ 94 h 212"/>
                <a:gd name="T16" fmla="*/ 0 w 218"/>
                <a:gd name="T17" fmla="*/ 116 h 212"/>
                <a:gd name="T18" fmla="*/ 6 w 218"/>
                <a:gd name="T19" fmla="*/ 137 h 212"/>
                <a:gd name="T20" fmla="*/ 14 w 218"/>
                <a:gd name="T21" fmla="*/ 156 h 212"/>
                <a:gd name="T22" fmla="*/ 24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6 h 212"/>
                <a:gd name="T48" fmla="*/ 218 w 218"/>
                <a:gd name="T49" fmla="*/ 94 h 212"/>
                <a:gd name="T50" fmla="*/ 213 w 218"/>
                <a:gd name="T51" fmla="*/ 76 h 212"/>
                <a:gd name="T52" fmla="*/ 205 w 218"/>
                <a:gd name="T53" fmla="*/ 57 h 212"/>
                <a:gd name="T54" fmla="*/ 194 w 218"/>
                <a:gd name="T55" fmla="*/ 38 h 212"/>
                <a:gd name="T56" fmla="*/ 178 w 218"/>
                <a:gd name="T57" fmla="*/ 25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7" y="8"/>
                  </a:lnTo>
                  <a:lnTo>
                    <a:pt x="57" y="14"/>
                  </a:lnTo>
                  <a:lnTo>
                    <a:pt x="49" y="19"/>
                  </a:lnTo>
                  <a:lnTo>
                    <a:pt x="41" y="25"/>
                  </a:lnTo>
                  <a:lnTo>
                    <a:pt x="33" y="33"/>
                  </a:lnTo>
                  <a:lnTo>
                    <a:pt x="24" y="38"/>
                  </a:lnTo>
                  <a:lnTo>
                    <a:pt x="19" y="46"/>
                  </a:lnTo>
                  <a:lnTo>
                    <a:pt x="14" y="57"/>
                  </a:lnTo>
                  <a:lnTo>
                    <a:pt x="8" y="65"/>
                  </a:lnTo>
                  <a:lnTo>
                    <a:pt x="6" y="76"/>
                  </a:lnTo>
                  <a:lnTo>
                    <a:pt x="3" y="84"/>
                  </a:lnTo>
                  <a:lnTo>
                    <a:pt x="0" y="94"/>
                  </a:lnTo>
                  <a:lnTo>
                    <a:pt x="0" y="105"/>
                  </a:lnTo>
                  <a:lnTo>
                    <a:pt x="0" y="116"/>
                  </a:lnTo>
                  <a:lnTo>
                    <a:pt x="3" y="126"/>
                  </a:lnTo>
                  <a:lnTo>
                    <a:pt x="6" y="137"/>
                  </a:lnTo>
                  <a:lnTo>
                    <a:pt x="8" y="148"/>
                  </a:lnTo>
                  <a:lnTo>
                    <a:pt x="14" y="156"/>
                  </a:lnTo>
                  <a:lnTo>
                    <a:pt x="19" y="164"/>
                  </a:lnTo>
                  <a:lnTo>
                    <a:pt x="24" y="172"/>
                  </a:lnTo>
                  <a:lnTo>
                    <a:pt x="33" y="180"/>
                  </a:lnTo>
                  <a:lnTo>
                    <a:pt x="41" y="188"/>
                  </a:lnTo>
                  <a:lnTo>
                    <a:pt x="49" y="193"/>
                  </a:lnTo>
                  <a:lnTo>
                    <a:pt x="57" y="199"/>
                  </a:lnTo>
                  <a:lnTo>
                    <a:pt x="67" y="204"/>
                  </a:lnTo>
                  <a:lnTo>
                    <a:pt x="78" y="207"/>
                  </a:lnTo>
                  <a:lnTo>
                    <a:pt x="89" y="210"/>
                  </a:lnTo>
                  <a:lnTo>
                    <a:pt x="100" y="212"/>
                  </a:lnTo>
                  <a:lnTo>
                    <a:pt x="111" y="212"/>
                  </a:lnTo>
                  <a:lnTo>
                    <a:pt x="121" y="212"/>
                  </a:lnTo>
                  <a:lnTo>
                    <a:pt x="132" y="210"/>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5" y="126"/>
                  </a:lnTo>
                  <a:lnTo>
                    <a:pt x="218" y="116"/>
                  </a:lnTo>
                  <a:lnTo>
                    <a:pt x="218" y="105"/>
                  </a:lnTo>
                  <a:lnTo>
                    <a:pt x="218" y="94"/>
                  </a:lnTo>
                  <a:lnTo>
                    <a:pt x="215" y="84"/>
                  </a:lnTo>
                  <a:lnTo>
                    <a:pt x="213" y="76"/>
                  </a:lnTo>
                  <a:lnTo>
                    <a:pt x="210" y="65"/>
                  </a:lnTo>
                  <a:lnTo>
                    <a:pt x="205" y="57"/>
                  </a:lnTo>
                  <a:lnTo>
                    <a:pt x="199" y="46"/>
                  </a:lnTo>
                  <a:lnTo>
                    <a:pt x="194" y="38"/>
                  </a:lnTo>
                  <a:lnTo>
                    <a:pt x="186" y="33"/>
                  </a:lnTo>
                  <a:lnTo>
                    <a:pt x="178" y="25"/>
                  </a:lnTo>
                  <a:lnTo>
                    <a:pt x="170" y="19"/>
                  </a:lnTo>
                  <a:lnTo>
                    <a:pt x="162" y="14"/>
                  </a:lnTo>
                  <a:lnTo>
                    <a:pt x="154" y="8"/>
                  </a:lnTo>
                  <a:lnTo>
                    <a:pt x="143" y="6"/>
                  </a:lnTo>
                  <a:lnTo>
                    <a:pt x="132" y="3"/>
                  </a:lnTo>
                  <a:lnTo>
                    <a:pt x="121" y="0"/>
                  </a:lnTo>
                  <a:lnTo>
                    <a:pt x="111" y="0"/>
                  </a:lnTo>
                  <a:close/>
                </a:path>
              </a:pathLst>
            </a:custGeom>
            <a:solidFill>
              <a:srgbClr val="33CCFF"/>
            </a:solidFill>
            <a:ln>
              <a:noFill/>
            </a:ln>
          </p:spPr>
          <p:txBody>
            <a:bodyPr/>
            <a:lstStyle/>
            <a:p>
              <a:endParaRPr lang="en-US"/>
            </a:p>
          </p:txBody>
        </p:sp>
      </p:grpSp>
      <p:sp>
        <p:nvSpPr>
          <p:cNvPr id="2" name="TextBox 1"/>
          <p:cNvSpPr txBox="1"/>
          <p:nvPr/>
        </p:nvSpPr>
        <p:spPr>
          <a:xfrm>
            <a:off x="538017" y="3604926"/>
            <a:ext cx="7997077" cy="707886"/>
          </a:xfrm>
          <a:prstGeom prst="rect">
            <a:avLst/>
          </a:prstGeom>
          <a:noFill/>
        </p:spPr>
        <p:txBody>
          <a:bodyPr wrap="square" rtlCol="0">
            <a:spAutoFit/>
          </a:bodyPr>
          <a:lstStyle/>
          <a:p>
            <a:pPr algn="ctr"/>
            <a:r>
              <a:rPr lang="en-US" sz="2000" dirty="0">
                <a:solidFill>
                  <a:srgbClr val="000090"/>
                </a:solidFill>
              </a:rPr>
              <a:t>Suppose an ISP only wants to route traffic to/from its customer networks (does not want to carry transit traffic between other ISPs)</a:t>
            </a:r>
          </a:p>
        </p:txBody>
      </p:sp>
      <p:sp>
        <p:nvSpPr>
          <p:cNvPr id="46"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84</a:t>
            </a:fld>
            <a:endParaRPr lang="en-US" sz="1200" dirty="0">
              <a:latin typeface="Tahoma" panose="020B0604030504040204" charset="0"/>
            </a:endParaRPr>
          </a:p>
        </p:txBody>
      </p:sp>
      <p:sp>
        <p:nvSpPr>
          <p:cNvPr id="47"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2" name="Rectangle 2"/>
          <p:cNvSpPr>
            <a:spLocks noGrp="1" noChangeArrowheads="1"/>
          </p:cNvSpPr>
          <p:nvPr>
            <p:ph type="title"/>
          </p:nvPr>
        </p:nvSpPr>
        <p:spPr/>
        <p:txBody>
          <a:bodyPr/>
          <a:lstStyle/>
          <a:p>
            <a:pPr>
              <a:defRPr/>
            </a:pPr>
            <a:r>
              <a:rPr lang="en-US" sz="3200">
                <a:cs typeface="+mj-cs"/>
              </a:rPr>
              <a:t>Why different Intra-, Inter-AS routing ?</a:t>
            </a:r>
            <a:r>
              <a:rPr lang="en-US">
                <a:cs typeface="+mj-cs"/>
              </a:rPr>
              <a:t> </a:t>
            </a:r>
          </a:p>
        </p:txBody>
      </p:sp>
      <p:sp>
        <p:nvSpPr>
          <p:cNvPr id="187396" name="Rectangle 3"/>
          <p:cNvSpPr>
            <a:spLocks noGrp="1" noChangeArrowheads="1"/>
          </p:cNvSpPr>
          <p:nvPr>
            <p:ph type="body" idx="1"/>
          </p:nvPr>
        </p:nvSpPr>
        <p:spPr>
          <a:xfrm>
            <a:off x="557213" y="1393825"/>
            <a:ext cx="8229600" cy="4572000"/>
          </a:xfrm>
        </p:spPr>
        <p:txBody>
          <a:bodyPr/>
          <a:lstStyle/>
          <a:p>
            <a:pPr>
              <a:buFont typeface="Wingdings" panose="05000000000000000000" charset="0"/>
              <a:buNone/>
            </a:pPr>
            <a:r>
              <a:rPr lang="en-US" sz="3200" i="1" dirty="0">
                <a:solidFill>
                  <a:srgbClr val="CC0000"/>
                </a:solidFill>
                <a:latin typeface="Gill Sans MT" pitchFamily="34" charset="0"/>
              </a:rPr>
              <a:t>policy:</a:t>
            </a:r>
            <a:r>
              <a:rPr lang="en-US" dirty="0">
                <a:latin typeface="Gill Sans MT" pitchFamily="34" charset="0"/>
              </a:rPr>
              <a:t> </a:t>
            </a:r>
          </a:p>
          <a:p>
            <a:r>
              <a:rPr lang="en-US" dirty="0">
                <a:latin typeface="Gill Sans MT" pitchFamily="34" charset="0"/>
              </a:rPr>
              <a:t>inter-AS: admin wants control over how its traffic routed, who routes through its net. </a:t>
            </a:r>
          </a:p>
          <a:p>
            <a:r>
              <a:rPr lang="en-US" dirty="0">
                <a:latin typeface="Gill Sans MT" pitchFamily="34" charset="0"/>
              </a:rPr>
              <a:t>intra-AS: single admin, so no policy decisions needed</a:t>
            </a:r>
          </a:p>
          <a:p>
            <a:pPr>
              <a:buFont typeface="Wingdings" panose="05000000000000000000" charset="0"/>
              <a:buNone/>
            </a:pPr>
            <a:r>
              <a:rPr lang="en-US" sz="3200" i="1" dirty="0">
                <a:solidFill>
                  <a:srgbClr val="CC0000"/>
                </a:solidFill>
                <a:latin typeface="Gill Sans MT" pitchFamily="34" charset="0"/>
              </a:rPr>
              <a:t>scale:</a:t>
            </a:r>
            <a:endParaRPr lang="en-US" i="1" dirty="0">
              <a:solidFill>
                <a:srgbClr val="CC0000"/>
              </a:solidFill>
              <a:latin typeface="Gill Sans MT" pitchFamily="34" charset="0"/>
            </a:endParaRPr>
          </a:p>
          <a:p>
            <a:r>
              <a:rPr lang="en-US" dirty="0">
                <a:latin typeface="Gill Sans MT" pitchFamily="34" charset="0"/>
              </a:rPr>
              <a:t>hierarchical routing saves table size, reduced update traffic</a:t>
            </a:r>
          </a:p>
          <a:p>
            <a:pPr>
              <a:buFont typeface="Wingdings" panose="05000000000000000000" charset="0"/>
              <a:buNone/>
            </a:pPr>
            <a:r>
              <a:rPr lang="en-US" i="1" dirty="0">
                <a:solidFill>
                  <a:srgbClr val="CC0000"/>
                </a:solidFill>
                <a:latin typeface="Gill Sans MT" pitchFamily="34" charset="0"/>
              </a:rPr>
              <a:t>performance: </a:t>
            </a:r>
          </a:p>
          <a:p>
            <a:r>
              <a:rPr lang="en-US" dirty="0">
                <a:latin typeface="Gill Sans MT" pitchFamily="34" charset="0"/>
              </a:rPr>
              <a:t>intra-AS: can focus on performance</a:t>
            </a:r>
          </a:p>
          <a:p>
            <a:r>
              <a:rPr lang="en-US" dirty="0">
                <a:latin typeface="Gill Sans MT" pitchFamily="34" charset="0"/>
              </a:rPr>
              <a:t>inter-AS: policy may dominate over performance</a:t>
            </a:r>
          </a:p>
        </p:txBody>
      </p:sp>
      <p:pic>
        <p:nvPicPr>
          <p:cNvPr id="187397" name="Picture 4"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2938" y="1049338"/>
            <a:ext cx="7313612" cy="173037"/>
          </a:xfrm>
          <a:prstGeom prst="rect">
            <a:avLst/>
          </a:prstGeom>
          <a:noFill/>
          <a:ln>
            <a:noFill/>
          </a:ln>
        </p:spPr>
      </p:pic>
      <p:sp>
        <p:nvSpPr>
          <p:cNvPr id="7"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85</a:t>
            </a:fld>
            <a:endParaRPr lang="en-US" sz="1200" dirty="0">
              <a:latin typeface="Tahoma" panose="020B0604030504040204" charset="0"/>
            </a:endParaRPr>
          </a:p>
        </p:txBody>
      </p:sp>
      <p:sp>
        <p:nvSpPr>
          <p:cNvPr id="8"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
        <p:nvSpPr>
          <p:cNvPr id="3" name="文本框 2"/>
          <p:cNvSpPr txBox="1"/>
          <p:nvPr/>
        </p:nvSpPr>
        <p:spPr>
          <a:xfrm>
            <a:off x="3878967" y="6378687"/>
            <a:ext cx="2696817" cy="369332"/>
          </a:xfrm>
          <a:prstGeom prst="rect">
            <a:avLst/>
          </a:prstGeom>
          <a:noFill/>
        </p:spPr>
        <p:txBody>
          <a:bodyPr wrap="square">
            <a:spAutoFit/>
          </a:bodyPr>
          <a:lstStyle/>
          <a:p>
            <a:pPr algn="ctr"/>
            <a:r>
              <a:rPr lang="en-US" altLang="zh-CN" b="1" dirty="0">
                <a:solidFill>
                  <a:srgbClr val="008000"/>
                </a:solidFill>
                <a:latin typeface="Gill Sans MT" pitchFamily="34" charset="0"/>
              </a:rPr>
              <a:t>MOOC</a:t>
            </a:r>
            <a:r>
              <a:rPr lang="zh-CN" altLang="en-US" b="1" dirty="0">
                <a:solidFill>
                  <a:srgbClr val="008000"/>
                </a:solidFill>
                <a:latin typeface="Gill Sans MT" pitchFamily="34" charset="0"/>
              </a:rPr>
              <a:t> </a:t>
            </a:r>
            <a:r>
              <a:rPr lang="en-US" altLang="zh-CN" b="1" dirty="0">
                <a:solidFill>
                  <a:srgbClr val="008000"/>
                </a:solidFill>
                <a:latin typeface="Gill Sans MT" pitchFamily="34" charset="0"/>
              </a:rPr>
              <a:t>4-10</a:t>
            </a:r>
            <a:r>
              <a:rPr lang="zh-CN" altLang="en-US" b="1" dirty="0">
                <a:solidFill>
                  <a:srgbClr val="008000"/>
                </a:solidFill>
                <a:latin typeface="Gill Sans MT" pitchFamily="34" charset="0"/>
              </a:rPr>
              <a:t> </a:t>
            </a:r>
            <a:r>
              <a:rPr lang="en-US" altLang="zh-CN" b="1" dirty="0">
                <a:solidFill>
                  <a:srgbClr val="008000"/>
                </a:solidFill>
                <a:latin typeface="Gill Sans MT" pitchFamily="34" charset="0"/>
              </a:rPr>
              <a:t>BGP2</a:t>
            </a:r>
            <a:r>
              <a:rPr lang="zh-CN" altLang="en-US" b="1" dirty="0">
                <a:solidFill>
                  <a:srgbClr val="008000"/>
                </a:solidFill>
                <a:latin typeface="Gill Sans MT" pitchFamily="34" charset="0"/>
              </a:rPr>
              <a:t> </a:t>
            </a:r>
            <a:r>
              <a:rPr lang="en-US" altLang="zh-CN" b="1" dirty="0">
                <a:solidFill>
                  <a:srgbClr val="008000"/>
                </a:solidFill>
                <a:latin typeface="Gill Sans MT" pitchFamily="34" charset="0"/>
              </a:rPr>
              <a:t>15’</a:t>
            </a:r>
            <a:endParaRPr lang="zh-CN" altLang="en-US" b="1" dirty="0">
              <a:solidFill>
                <a:srgbClr val="008000"/>
              </a:solidFill>
            </a:endParaRPr>
          </a:p>
        </p:txBody>
      </p:sp>
    </p:spTree>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p:spPr>
      </p:pic>
      <p:sp>
        <p:nvSpPr>
          <p:cNvPr id="43012" name="Rectangle 3"/>
          <p:cNvSpPr>
            <a:spLocks noGrp="1" noChangeArrowheads="1"/>
          </p:cNvSpPr>
          <p:nvPr>
            <p:ph type="body" sz="half" idx="1"/>
          </p:nvPr>
        </p:nvSpPr>
        <p:spPr/>
        <p:txBody>
          <a:bodyPr/>
          <a:lstStyle/>
          <a:p>
            <a:pPr>
              <a:lnSpc>
                <a:spcPct val="100000"/>
              </a:lnSpc>
              <a:buFont typeface="Wingdings" panose="05000000000000000000" charset="0"/>
              <a:buNone/>
            </a:pPr>
            <a:r>
              <a:rPr lang="en-US" sz="2400" dirty="0">
                <a:latin typeface="Gill Sans MT" pitchFamily="34" charset="0"/>
              </a:rPr>
              <a:t>5.1 introduction</a:t>
            </a:r>
          </a:p>
          <a:p>
            <a:pPr>
              <a:lnSpc>
                <a:spcPct val="100000"/>
              </a:lnSpc>
              <a:buFont typeface="Wingdings" panose="05000000000000000000" charset="0"/>
              <a:buNone/>
            </a:pPr>
            <a:r>
              <a:rPr lang="en-US" sz="2400" dirty="0">
                <a:latin typeface="Gill Sans MT" pitchFamily="34" charset="0"/>
              </a:rPr>
              <a:t>5.2 routing protocols</a:t>
            </a:r>
          </a:p>
          <a:p>
            <a:pPr>
              <a:lnSpc>
                <a:spcPct val="100000"/>
              </a:lnSpc>
            </a:pPr>
            <a:r>
              <a:rPr lang="en-US" sz="2400" dirty="0">
                <a:latin typeface="Gill Sans MT" pitchFamily="34" charset="0"/>
              </a:rPr>
              <a:t>link state</a:t>
            </a:r>
          </a:p>
          <a:p>
            <a:pPr>
              <a:lnSpc>
                <a:spcPct val="100000"/>
              </a:lnSpc>
            </a:pPr>
            <a:r>
              <a:rPr lang="en-US" sz="2400" dirty="0">
                <a:latin typeface="Gill Sans MT" pitchFamily="34" charset="0"/>
              </a:rPr>
              <a:t>distance vector</a:t>
            </a:r>
          </a:p>
          <a:p>
            <a:pPr marL="462280" indent="-462280">
              <a:lnSpc>
                <a:spcPct val="100000"/>
              </a:lnSpc>
              <a:buNone/>
            </a:pPr>
            <a:r>
              <a:rPr lang="en-US" sz="2400" dirty="0"/>
              <a:t>5.3 intra-AS routing in the Internet: OSPF</a:t>
            </a:r>
          </a:p>
          <a:p>
            <a:pPr marL="462280" indent="-462280">
              <a:lnSpc>
                <a:spcPct val="100000"/>
              </a:lnSpc>
              <a:buNone/>
            </a:pPr>
            <a:r>
              <a:rPr lang="en-US" sz="2400" dirty="0"/>
              <a:t>5.4 routing among the ISPs: BGP</a:t>
            </a:r>
            <a:endParaRPr lang="en-US" sz="2400" dirty="0">
              <a:latin typeface="Gill Sans MT" pitchFamily="34" charset="0"/>
            </a:endParaRPr>
          </a:p>
        </p:txBody>
      </p:sp>
      <p:sp>
        <p:nvSpPr>
          <p:cNvPr id="43013" name="Rectangle 4"/>
          <p:cNvSpPr>
            <a:spLocks noGrp="1" noChangeArrowheads="1"/>
          </p:cNvSpPr>
          <p:nvPr>
            <p:ph type="body" sz="half" idx="2"/>
          </p:nvPr>
        </p:nvSpPr>
        <p:spPr/>
        <p:txBody>
          <a:bodyPr/>
          <a:lstStyle/>
          <a:p>
            <a:pPr marL="462280" indent="-462280">
              <a:lnSpc>
                <a:spcPct val="100000"/>
              </a:lnSpc>
              <a:buFont typeface="Wingdings" panose="05000000000000000000" charset="0"/>
              <a:buNone/>
            </a:pPr>
            <a:r>
              <a:rPr lang="en-US" sz="2400" dirty="0">
                <a:solidFill>
                  <a:srgbClr val="CC0000"/>
                </a:solidFill>
                <a:latin typeface="Gill Sans MT" pitchFamily="34" charset="0"/>
              </a:rPr>
              <a:t>5.5 The SDN control plane</a:t>
            </a:r>
          </a:p>
          <a:p>
            <a:pPr marL="462280" indent="-462280">
              <a:lnSpc>
                <a:spcPct val="100000"/>
              </a:lnSpc>
              <a:buNone/>
            </a:pPr>
            <a:r>
              <a:rPr lang="en-US" sz="2400" dirty="0"/>
              <a:t>5.6 ICMP: The Internet Control Message Protocol </a:t>
            </a:r>
          </a:p>
          <a:p>
            <a:pPr marL="462280" indent="-462280">
              <a:lnSpc>
                <a:spcPct val="100000"/>
              </a:lnSpc>
              <a:buNone/>
            </a:pPr>
            <a:r>
              <a:rPr lang="en-US" sz="2400" dirty="0"/>
              <a:t>5.7 Network management and SNMP</a:t>
            </a:r>
            <a:endParaRPr lang="en-US" sz="2400" dirty="0">
              <a:latin typeface="Gill Sans MT" pitchFamily="34" charset="0"/>
            </a:endParaRPr>
          </a:p>
        </p:txBody>
      </p:sp>
      <p:sp>
        <p:nvSpPr>
          <p:cNvPr id="43014" name="Rectangle 2"/>
          <p:cNvSpPr>
            <a:spLocks noChangeArrowheads="1"/>
          </p:cNvSpPr>
          <p:nvPr/>
        </p:nvSpPr>
        <p:spPr bwMode="auto">
          <a:xfrm>
            <a:off x="533400" y="228600"/>
            <a:ext cx="7772400" cy="1143000"/>
          </a:xfrm>
          <a:prstGeom prst="rect">
            <a:avLst/>
          </a:prstGeom>
          <a:noFill/>
          <a:ln>
            <a:noFill/>
          </a:ln>
        </p:spPr>
        <p:txBody>
          <a:bodyPr anchor="ctr"/>
          <a:lstStyle/>
          <a:p>
            <a:r>
              <a:rPr lang="en-US" sz="4400" dirty="0">
                <a:solidFill>
                  <a:srgbClr val="000099"/>
                </a:solidFill>
                <a:latin typeface="Gill Sans MT" pitchFamily="34" charset="0"/>
              </a:rPr>
              <a:t>Chapter 5: outline</a:t>
            </a:r>
          </a:p>
        </p:txBody>
      </p:sp>
      <p:sp>
        <p:nvSpPr>
          <p:cNvPr id="6"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86</a:t>
            </a:fld>
            <a:endParaRPr lang="en-US" sz="1200" dirty="0">
              <a:latin typeface="Tahoma" panose="020B0604030504040204" charset="0"/>
            </a:endParaRPr>
          </a:p>
        </p:txBody>
      </p:sp>
      <p:sp>
        <p:nvSpPr>
          <p:cNvPr id="7"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69" name="Text Box 167"/>
          <p:cNvSpPr txBox="1">
            <a:spLocks noChangeArrowheads="1"/>
          </p:cNvSpPr>
          <p:nvPr/>
        </p:nvSpPr>
        <p:spPr bwMode="auto">
          <a:xfrm>
            <a:off x="542925" y="236538"/>
            <a:ext cx="6921862" cy="6463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3600" dirty="0">
                <a:solidFill>
                  <a:srgbClr val="000099"/>
                </a:solidFill>
                <a:latin typeface="Gill Sans MT" pitchFamily="34" charset="0"/>
              </a:rPr>
              <a:t>Software defined networking (SDN)</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6422481" cy="208918"/>
          </a:xfrm>
          <a:prstGeom prst="rect">
            <a:avLst/>
          </a:prstGeom>
          <a:noFill/>
          <a:ln>
            <a:noFill/>
          </a:ln>
        </p:spPr>
      </p:pic>
      <p:sp>
        <p:nvSpPr>
          <p:cNvPr id="9" name="Content Placeholder 8"/>
          <p:cNvSpPr>
            <a:spLocks noGrp="1"/>
          </p:cNvSpPr>
          <p:nvPr>
            <p:ph idx="1"/>
          </p:nvPr>
        </p:nvSpPr>
        <p:spPr>
          <a:xfrm>
            <a:off x="601427" y="1282678"/>
            <a:ext cx="7772400" cy="4648200"/>
          </a:xfrm>
        </p:spPr>
        <p:txBody>
          <a:bodyPr/>
          <a:lstStyle/>
          <a:p>
            <a:pPr>
              <a:lnSpc>
                <a:spcPct val="90000"/>
              </a:lnSpc>
            </a:pPr>
            <a:r>
              <a:rPr lang="en-US" dirty="0"/>
              <a:t>Internet network layer: historically has been implemented via distributed, per-router approach</a:t>
            </a:r>
          </a:p>
          <a:p>
            <a:pPr lvl="1">
              <a:lnSpc>
                <a:spcPct val="90000"/>
              </a:lnSpc>
            </a:pPr>
            <a:r>
              <a:rPr lang="en-US" i="1" dirty="0">
                <a:solidFill>
                  <a:srgbClr val="000090"/>
                </a:solidFill>
              </a:rPr>
              <a:t>monolithic</a:t>
            </a:r>
            <a:r>
              <a:rPr lang="en-US" dirty="0"/>
              <a:t> router contains switching hardware, runs proprietary implementation of Internet standard protocols (IP, RIP, IS-IS, OSPF, BGP) in proprietary router OS (e.g., Cisco IOS)</a:t>
            </a:r>
          </a:p>
          <a:p>
            <a:pPr lvl="1">
              <a:lnSpc>
                <a:spcPct val="90000"/>
              </a:lnSpc>
            </a:pPr>
            <a:r>
              <a:rPr lang="en-US" dirty="0"/>
              <a:t>different “middleboxes” for different network layer functions: firewalls, load balancers, NAT boxes, ..</a:t>
            </a:r>
          </a:p>
          <a:p>
            <a:pPr lvl="1">
              <a:lnSpc>
                <a:spcPct val="90000"/>
              </a:lnSpc>
            </a:pPr>
            <a:endParaRPr lang="en-US" dirty="0"/>
          </a:p>
          <a:p>
            <a:r>
              <a:rPr lang="en-US" dirty="0"/>
              <a:t>~2005: renewed interest in rethinking network control plane</a:t>
            </a:r>
          </a:p>
        </p:txBody>
      </p:sp>
      <p:sp>
        <p:nvSpPr>
          <p:cNvPr id="5" name="Slide Number Placeholder 5"/>
          <p:cNvSpPr>
            <a:spLocks noGrp="1"/>
          </p:cNvSpPr>
          <p:nvPr>
            <p:ph type="sldNum" sz="quarter" idx="12"/>
          </p:nvPr>
        </p:nvSpPr>
        <p:spPr>
          <a:xfrm>
            <a:off x="8456154" y="6475895"/>
            <a:ext cx="687845" cy="38210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87</a:t>
            </a:fld>
            <a:endParaRPr lang="en-US" sz="1200" dirty="0">
              <a:latin typeface="Tahoma" panose="020B0604030504040204" charset="0"/>
            </a:endParaRPr>
          </a:p>
        </p:txBody>
      </p:sp>
      <p:sp>
        <p:nvSpPr>
          <p:cNvPr id="6"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43"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7863" y="819150"/>
            <a:ext cx="5858352" cy="185090"/>
          </a:xfrm>
          <a:prstGeom prst="rect">
            <a:avLst/>
          </a:prstGeom>
          <a:noFill/>
          <a:ln>
            <a:noFill/>
          </a:ln>
        </p:spPr>
      </p:pic>
      <p:sp>
        <p:nvSpPr>
          <p:cNvPr id="47105" name="Freeform 2"/>
          <p:cNvSpPr/>
          <p:nvPr/>
        </p:nvSpPr>
        <p:spPr bwMode="auto">
          <a:xfrm>
            <a:off x="2592388" y="576642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p:spPr>
        <p:txBody>
          <a:bodyPr wrap="none" anchor="ctr"/>
          <a:lstStyle/>
          <a:p>
            <a:endParaRPr lang="en-US"/>
          </a:p>
        </p:txBody>
      </p:sp>
      <p:cxnSp>
        <p:nvCxnSpPr>
          <p:cNvPr id="148" name="Straight Connector 147"/>
          <p:cNvCxnSpPr/>
          <p:nvPr/>
        </p:nvCxnSpPr>
        <p:spPr>
          <a:xfrm flipV="1">
            <a:off x="3222625" y="5918826"/>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3111500" y="6104563"/>
            <a:ext cx="2259013" cy="3000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3124200" y="6210926"/>
            <a:ext cx="714375" cy="274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4141788" y="6404601"/>
            <a:ext cx="1247775" cy="809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4802188" y="595057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4086225" y="6104563"/>
            <a:ext cx="1790700" cy="3000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5413375" y="6133138"/>
            <a:ext cx="588963" cy="27146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4556125" y="5918826"/>
            <a:ext cx="814388" cy="4000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7128" name="Group 7"/>
          <p:cNvGrpSpPr/>
          <p:nvPr/>
        </p:nvGrpSpPr>
        <p:grpSpPr bwMode="auto">
          <a:xfrm>
            <a:off x="3681413" y="6344276"/>
            <a:ext cx="563562" cy="293687"/>
            <a:chOff x="1871277" y="1576300"/>
            <a:chExt cx="1128371" cy="437861"/>
          </a:xfrm>
        </p:grpSpPr>
        <p:sp>
          <p:nvSpPr>
            <p:cNvPr id="318" name="Oval 317"/>
            <p:cNvSpPr/>
            <p:nvPr/>
          </p:nvSpPr>
          <p:spPr bwMode="auto">
            <a:xfrm flipV="1">
              <a:off x="1874455" y="1694641"/>
              <a:ext cx="1125193"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Rectangle 318"/>
            <p:cNvSpPr/>
            <p:nvPr/>
          </p:nvSpPr>
          <p:spPr bwMode="auto">
            <a:xfrm>
              <a:off x="1871277" y="1739610"/>
              <a:ext cx="1128371" cy="11597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Oval 319"/>
            <p:cNvSpPr/>
            <p:nvPr/>
          </p:nvSpPr>
          <p:spPr bwMode="auto">
            <a:xfrm flipV="1">
              <a:off x="1871277" y="1576300"/>
              <a:ext cx="1125193"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4" name="Freeform 323"/>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5" name="Freeform 324"/>
            <p:cNvSpPr/>
            <p:nvPr/>
          </p:nvSpPr>
          <p:spPr bwMode="auto">
            <a:xfrm>
              <a:off x="2103307" y="1633104"/>
              <a:ext cx="661131" cy="111240"/>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6" name="Freeform 325"/>
            <p:cNvSpPr/>
            <p:nvPr/>
          </p:nvSpPr>
          <p:spPr bwMode="auto">
            <a:xfrm>
              <a:off x="2538765" y="1727776"/>
              <a:ext cx="241567" cy="97039"/>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7" name="Freeform 326"/>
            <p:cNvSpPr/>
            <p:nvPr/>
          </p:nvSpPr>
          <p:spPr bwMode="auto">
            <a:xfrm>
              <a:off x="2090593" y="1730143"/>
              <a:ext cx="238389" cy="9704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2" name="Straight Connector 321"/>
            <p:cNvCxnSpPr>
              <a:endCxn id="320" idx="2"/>
            </p:cNvCxnSpPr>
            <p:nvPr/>
          </p:nvCxnSpPr>
          <p:spPr bwMode="auto">
            <a:xfrm flipH="1" flipV="1">
              <a:off x="1871277" y="1737244"/>
              <a:ext cx="3178"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3" name="Straight Connector 322"/>
            <p:cNvCxnSpPr/>
            <p:nvPr/>
          </p:nvCxnSpPr>
          <p:spPr bwMode="auto">
            <a:xfrm flipH="1" flipV="1">
              <a:off x="2996470" y="1734876"/>
              <a:ext cx="3178"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29" name="Group 327"/>
          <p:cNvGrpSpPr/>
          <p:nvPr/>
        </p:nvGrpSpPr>
        <p:grpSpPr bwMode="auto">
          <a:xfrm>
            <a:off x="4376738" y="5802938"/>
            <a:ext cx="565150" cy="292100"/>
            <a:chOff x="1871277" y="1576300"/>
            <a:chExt cx="1128371" cy="437861"/>
          </a:xfrm>
        </p:grpSpPr>
        <p:sp>
          <p:nvSpPr>
            <p:cNvPr id="329" name="Oval 32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0" name="Rectangle 32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1" name="Oval 33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2" name="Freeform 33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3" name="Freeform 33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4" name="Freeform 33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5" name="Freeform 33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36" name="Straight Connector 335"/>
            <p:cNvCxnSpPr>
              <a:endCxn id="33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0" name="Group 337"/>
          <p:cNvGrpSpPr/>
          <p:nvPr/>
        </p:nvGrpSpPr>
        <p:grpSpPr bwMode="auto">
          <a:xfrm>
            <a:off x="5019675" y="6256963"/>
            <a:ext cx="563563" cy="293688"/>
            <a:chOff x="1871277" y="1576300"/>
            <a:chExt cx="1128371" cy="437861"/>
          </a:xfrm>
        </p:grpSpPr>
        <p:sp>
          <p:nvSpPr>
            <p:cNvPr id="339" name="Oval 338"/>
            <p:cNvSpPr/>
            <p:nvPr/>
          </p:nvSpPr>
          <p:spPr bwMode="auto">
            <a:xfrm flipV="1">
              <a:off x="1874457" y="1694641"/>
              <a:ext cx="1125191"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0" name="Rectangle 33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1" name="Oval 340"/>
            <p:cNvSpPr/>
            <p:nvPr/>
          </p:nvSpPr>
          <p:spPr bwMode="auto">
            <a:xfrm flipV="1">
              <a:off x="1871277" y="1576300"/>
              <a:ext cx="1125191"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2" name="Freeform 341"/>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3" name="Freeform 342"/>
            <p:cNvSpPr/>
            <p:nvPr/>
          </p:nvSpPr>
          <p:spPr bwMode="auto">
            <a:xfrm>
              <a:off x="2103309" y="1633103"/>
              <a:ext cx="661129"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4" name="Freeform 343"/>
            <p:cNvSpPr/>
            <p:nvPr/>
          </p:nvSpPr>
          <p:spPr bwMode="auto">
            <a:xfrm>
              <a:off x="2538763" y="1727776"/>
              <a:ext cx="24156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5" name="Freeform 344"/>
            <p:cNvSpPr/>
            <p:nvPr/>
          </p:nvSpPr>
          <p:spPr bwMode="auto">
            <a:xfrm>
              <a:off x="2090595" y="1730144"/>
              <a:ext cx="238387"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6" name="Straight Connector 345"/>
            <p:cNvCxnSpPr>
              <a:endCxn id="341" idx="2"/>
            </p:cNvCxnSpPr>
            <p:nvPr/>
          </p:nvCxnSpPr>
          <p:spPr bwMode="auto">
            <a:xfrm flipH="1" flipV="1">
              <a:off x="1871277" y="1737243"/>
              <a:ext cx="3180"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p:nvPr/>
          </p:nvCxnSpPr>
          <p:spPr bwMode="auto">
            <a:xfrm flipH="1" flipV="1">
              <a:off x="2996468" y="1734877"/>
              <a:ext cx="3180"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1" name="Group 347"/>
          <p:cNvGrpSpPr/>
          <p:nvPr/>
        </p:nvGrpSpPr>
        <p:grpSpPr bwMode="auto">
          <a:xfrm>
            <a:off x="5741988" y="5942638"/>
            <a:ext cx="565150" cy="293688"/>
            <a:chOff x="1871277" y="1576300"/>
            <a:chExt cx="1128371" cy="437861"/>
          </a:xfrm>
        </p:grpSpPr>
        <p:sp>
          <p:nvSpPr>
            <p:cNvPr id="349" name="Oval 34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0" name="Rectangle 34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1" name="Oval 35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2" name="Freeform 35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3" name="Freeform 35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4" name="Freeform 35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5" name="Freeform 35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6" name="Straight Connector 355"/>
            <p:cNvCxnSpPr>
              <a:endCxn id="35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57" name="Straight Connector 35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2" name="Group 357"/>
          <p:cNvGrpSpPr/>
          <p:nvPr/>
        </p:nvGrpSpPr>
        <p:grpSpPr bwMode="auto">
          <a:xfrm>
            <a:off x="2714625" y="5988676"/>
            <a:ext cx="565150" cy="293687"/>
            <a:chOff x="1871277" y="1576300"/>
            <a:chExt cx="1128371" cy="437861"/>
          </a:xfrm>
        </p:grpSpPr>
        <p:sp>
          <p:nvSpPr>
            <p:cNvPr id="359" name="Oval 358"/>
            <p:cNvSpPr/>
            <p:nvPr/>
          </p:nvSpPr>
          <p:spPr bwMode="auto">
            <a:xfrm flipV="1">
              <a:off x="1874448" y="1694641"/>
              <a:ext cx="1125200"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0" name="Rectangle 359"/>
            <p:cNvSpPr/>
            <p:nvPr/>
          </p:nvSpPr>
          <p:spPr bwMode="auto">
            <a:xfrm>
              <a:off x="1871277" y="1739610"/>
              <a:ext cx="1128371" cy="11597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1" name="Oval 360"/>
            <p:cNvSpPr/>
            <p:nvPr/>
          </p:nvSpPr>
          <p:spPr bwMode="auto">
            <a:xfrm flipV="1">
              <a:off x="1871277" y="1576300"/>
              <a:ext cx="1125202"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2" name="Freeform 361"/>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3" name="Freeform 362"/>
            <p:cNvSpPr/>
            <p:nvPr/>
          </p:nvSpPr>
          <p:spPr bwMode="auto">
            <a:xfrm>
              <a:off x="2102657" y="1633104"/>
              <a:ext cx="662442" cy="111240"/>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4" name="Freeform 363"/>
            <p:cNvSpPr/>
            <p:nvPr/>
          </p:nvSpPr>
          <p:spPr bwMode="auto">
            <a:xfrm>
              <a:off x="2536889" y="1727776"/>
              <a:ext cx="244059" cy="97039"/>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Freeform 364"/>
            <p:cNvSpPr/>
            <p:nvPr/>
          </p:nvSpPr>
          <p:spPr bwMode="auto">
            <a:xfrm>
              <a:off x="2089979" y="1730143"/>
              <a:ext cx="240888" cy="9704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66" name="Straight Connector 365"/>
            <p:cNvCxnSpPr>
              <a:endCxn id="361" idx="2"/>
            </p:cNvCxnSpPr>
            <p:nvPr/>
          </p:nvCxnSpPr>
          <p:spPr bwMode="auto">
            <a:xfrm flipH="1" flipV="1">
              <a:off x="1871277" y="1737244"/>
              <a:ext cx="3171"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p:nvPr/>
          </p:nvCxnSpPr>
          <p:spPr bwMode="auto">
            <a:xfrm flipH="1" flipV="1">
              <a:off x="2996479" y="1734876"/>
              <a:ext cx="3169"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 name="Group 23"/>
          <p:cNvGrpSpPr/>
          <p:nvPr/>
        </p:nvGrpSpPr>
        <p:grpSpPr>
          <a:xfrm>
            <a:off x="1757805" y="2660292"/>
            <a:ext cx="5270058" cy="3804634"/>
            <a:chOff x="1757805" y="2331054"/>
            <a:chExt cx="5270058" cy="3804634"/>
          </a:xfrm>
        </p:grpSpPr>
        <p:sp>
          <p:nvSpPr>
            <p:cNvPr id="268" name="Freeform 267"/>
            <p:cNvSpPr/>
            <p:nvPr/>
          </p:nvSpPr>
          <p:spPr>
            <a:xfrm>
              <a:off x="1776413" y="4829175"/>
              <a:ext cx="1220787" cy="920750"/>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1040633"/>
                <a:gd name="connsiteY0-162" fmla="*/ 1160935 h 1160935"/>
                <a:gd name="connsiteX1-163" fmla="*/ 0 w 1040633"/>
                <a:gd name="connsiteY1-164" fmla="*/ 0 h 1160935"/>
                <a:gd name="connsiteX2-165" fmla="*/ 1040633 w 1040633"/>
                <a:gd name="connsiteY2-166" fmla="*/ 16785 h 1160935"/>
                <a:gd name="connsiteX3-167" fmla="*/ 569478 w 1040633"/>
                <a:gd name="connsiteY3-168" fmla="*/ 1158121 h 1160935"/>
                <a:gd name="connsiteX4-169" fmla="*/ 363082 w 1040633"/>
                <a:gd name="connsiteY4-170" fmla="*/ 1160935 h 1160935"/>
                <a:gd name="connsiteX0-171" fmla="*/ 363082 w 1040633"/>
                <a:gd name="connsiteY0-172" fmla="*/ 1160935 h 1160935"/>
                <a:gd name="connsiteX1-173" fmla="*/ 0 w 1040633"/>
                <a:gd name="connsiteY1-174" fmla="*/ 0 h 1160935"/>
                <a:gd name="connsiteX2-175" fmla="*/ 1040633 w 1040633"/>
                <a:gd name="connsiteY2-176" fmla="*/ 16785 h 1160935"/>
                <a:gd name="connsiteX3-177" fmla="*/ 569478 w 1040633"/>
                <a:gd name="connsiteY3-178" fmla="*/ 1158121 h 1160935"/>
                <a:gd name="connsiteX4-179" fmla="*/ 363082 w 1040633"/>
                <a:gd name="connsiteY4-180" fmla="*/ 1160935 h 1160935"/>
                <a:gd name="connsiteX0-181" fmla="*/ 448507 w 1040633"/>
                <a:gd name="connsiteY0-182" fmla="*/ 1160935 h 1160935"/>
                <a:gd name="connsiteX1-183" fmla="*/ 0 w 1040633"/>
                <a:gd name="connsiteY1-184" fmla="*/ 0 h 1160935"/>
                <a:gd name="connsiteX2-185" fmla="*/ 1040633 w 1040633"/>
                <a:gd name="connsiteY2-186" fmla="*/ 16785 h 1160935"/>
                <a:gd name="connsiteX3-187" fmla="*/ 569478 w 1040633"/>
                <a:gd name="connsiteY3-188" fmla="*/ 1158121 h 1160935"/>
                <a:gd name="connsiteX4-189" fmla="*/ 448507 w 1040633"/>
                <a:gd name="connsiteY4-190" fmla="*/ 1160935 h 1160935"/>
                <a:gd name="connsiteX0-191" fmla="*/ 448507 w 1040633"/>
                <a:gd name="connsiteY0-192" fmla="*/ 1160935 h 1160935"/>
                <a:gd name="connsiteX1-193" fmla="*/ 0 w 1040633"/>
                <a:gd name="connsiteY1-194" fmla="*/ 0 h 1160935"/>
                <a:gd name="connsiteX2-195" fmla="*/ 1040633 w 1040633"/>
                <a:gd name="connsiteY2-196" fmla="*/ 16785 h 1160935"/>
                <a:gd name="connsiteX3-197" fmla="*/ 569478 w 1040633"/>
                <a:gd name="connsiteY3-198" fmla="*/ 1158121 h 1160935"/>
                <a:gd name="connsiteX4-199" fmla="*/ 448507 w 1040633"/>
                <a:gd name="connsiteY4-200" fmla="*/ 1160935 h 1160935"/>
                <a:gd name="connsiteX0-201" fmla="*/ 448507 w 1040633"/>
                <a:gd name="connsiteY0-202" fmla="*/ 1160935 h 1160935"/>
                <a:gd name="connsiteX1-203" fmla="*/ 0 w 1040633"/>
                <a:gd name="connsiteY1-204" fmla="*/ 0 h 1160935"/>
                <a:gd name="connsiteX2-205" fmla="*/ 1040633 w 1040633"/>
                <a:gd name="connsiteY2-206" fmla="*/ 16785 h 1160935"/>
                <a:gd name="connsiteX3-207" fmla="*/ 569478 w 1040633"/>
                <a:gd name="connsiteY3-208" fmla="*/ 1158121 h 1160935"/>
                <a:gd name="connsiteX4-209" fmla="*/ 448507 w 1040633"/>
                <a:gd name="connsiteY4-210" fmla="*/ 1160935 h 1160935"/>
                <a:gd name="connsiteX0-211" fmla="*/ 448507 w 1325315"/>
                <a:gd name="connsiteY0-212" fmla="*/ 1160935 h 1160935"/>
                <a:gd name="connsiteX1-213" fmla="*/ 0 w 1325315"/>
                <a:gd name="connsiteY1-214" fmla="*/ 0 h 1160935"/>
                <a:gd name="connsiteX2-215" fmla="*/ 1040633 w 1325315"/>
                <a:gd name="connsiteY2-216" fmla="*/ 16785 h 1160935"/>
                <a:gd name="connsiteX3-217" fmla="*/ 1214315 w 1325315"/>
                <a:gd name="connsiteY3-218" fmla="*/ 1064597 h 1160935"/>
                <a:gd name="connsiteX4-219" fmla="*/ 448507 w 1325315"/>
                <a:gd name="connsiteY4-220" fmla="*/ 1160935 h 1160935"/>
                <a:gd name="connsiteX0-221" fmla="*/ 448507 w 1214315"/>
                <a:gd name="connsiteY0-222" fmla="*/ 1160935 h 1160935"/>
                <a:gd name="connsiteX1-223" fmla="*/ 0 w 1214315"/>
                <a:gd name="connsiteY1-224" fmla="*/ 0 h 1160935"/>
                <a:gd name="connsiteX2-225" fmla="*/ 1040633 w 1214315"/>
                <a:gd name="connsiteY2-226" fmla="*/ 16785 h 1160935"/>
                <a:gd name="connsiteX3-227" fmla="*/ 1214315 w 1214315"/>
                <a:gd name="connsiteY3-228" fmla="*/ 1064597 h 1160935"/>
                <a:gd name="connsiteX4-229" fmla="*/ 448507 w 1214315"/>
                <a:gd name="connsiteY4-230" fmla="*/ 1160935 h 1160935"/>
                <a:gd name="connsiteX0-231" fmla="*/ 448507 w 1214315"/>
                <a:gd name="connsiteY0-232" fmla="*/ 1160935 h 1160935"/>
                <a:gd name="connsiteX1-233" fmla="*/ 0 w 1214315"/>
                <a:gd name="connsiteY1-234" fmla="*/ 0 h 1160935"/>
                <a:gd name="connsiteX2-235" fmla="*/ 1040633 w 1214315"/>
                <a:gd name="connsiteY2-236" fmla="*/ 16785 h 1160935"/>
                <a:gd name="connsiteX3-237" fmla="*/ 1214315 w 1214315"/>
                <a:gd name="connsiteY3-238" fmla="*/ 1064597 h 1160935"/>
                <a:gd name="connsiteX4-239" fmla="*/ 448507 w 1214315"/>
                <a:gd name="connsiteY4-240" fmla="*/ 1160935 h 1160935"/>
                <a:gd name="connsiteX0-241" fmla="*/ 1053964 w 1214315"/>
                <a:gd name="connsiteY0-242" fmla="*/ 1136323 h 1136323"/>
                <a:gd name="connsiteX1-243" fmla="*/ 0 w 1214315"/>
                <a:gd name="connsiteY1-244" fmla="*/ 0 h 1136323"/>
                <a:gd name="connsiteX2-245" fmla="*/ 1040633 w 1214315"/>
                <a:gd name="connsiteY2-246" fmla="*/ 16785 h 1136323"/>
                <a:gd name="connsiteX3-247" fmla="*/ 1214315 w 1214315"/>
                <a:gd name="connsiteY3-248" fmla="*/ 1064597 h 1136323"/>
                <a:gd name="connsiteX4-249" fmla="*/ 1053964 w 1214315"/>
                <a:gd name="connsiteY4-250" fmla="*/ 1136323 h 1136323"/>
                <a:gd name="connsiteX0-251" fmla="*/ 1053964 w 1214315"/>
                <a:gd name="connsiteY0-252" fmla="*/ 1136323 h 1136323"/>
                <a:gd name="connsiteX1-253" fmla="*/ 0 w 1214315"/>
                <a:gd name="connsiteY1-254" fmla="*/ 0 h 1136323"/>
                <a:gd name="connsiteX2-255" fmla="*/ 1040633 w 1214315"/>
                <a:gd name="connsiteY2-256" fmla="*/ 16785 h 1136323"/>
                <a:gd name="connsiteX3-257" fmla="*/ 1214315 w 1214315"/>
                <a:gd name="connsiteY3-258" fmla="*/ 1064597 h 1136323"/>
                <a:gd name="connsiteX4-259" fmla="*/ 1053964 w 1214315"/>
                <a:gd name="connsiteY4-260" fmla="*/ 1136323 h 1136323"/>
                <a:gd name="connsiteX0-261" fmla="*/ 1053964 w 1214315"/>
                <a:gd name="connsiteY0-262" fmla="*/ 1136323 h 1136323"/>
                <a:gd name="connsiteX1-263" fmla="*/ 0 w 1214315"/>
                <a:gd name="connsiteY1-264" fmla="*/ 0 h 1136323"/>
                <a:gd name="connsiteX2-265" fmla="*/ 1040633 w 1214315"/>
                <a:gd name="connsiteY2-266" fmla="*/ 16785 h 1136323"/>
                <a:gd name="connsiteX3-267" fmla="*/ 1214315 w 1214315"/>
                <a:gd name="connsiteY3-268" fmla="*/ 1064597 h 1136323"/>
                <a:gd name="connsiteX4-269" fmla="*/ 1053964 w 1214315"/>
                <a:gd name="connsiteY4-270" fmla="*/ 1136323 h 1136323"/>
                <a:gd name="connsiteX0-271" fmla="*/ 1060159 w 1220510"/>
                <a:gd name="connsiteY0-272" fmla="*/ 1119627 h 1119627"/>
                <a:gd name="connsiteX1-273" fmla="*/ 0 w 1220510"/>
                <a:gd name="connsiteY1-274" fmla="*/ 249694 h 1119627"/>
                <a:gd name="connsiteX2-275" fmla="*/ 1046828 w 1220510"/>
                <a:gd name="connsiteY2-276" fmla="*/ 89 h 1119627"/>
                <a:gd name="connsiteX3-277" fmla="*/ 1220510 w 1220510"/>
                <a:gd name="connsiteY3-278" fmla="*/ 1047901 h 1119627"/>
                <a:gd name="connsiteX4-279" fmla="*/ 1060159 w 1220510"/>
                <a:gd name="connsiteY4-280" fmla="*/ 1119627 h 1119627"/>
                <a:gd name="connsiteX0-281" fmla="*/ 1060159 w 1220510"/>
                <a:gd name="connsiteY0-282" fmla="*/ 1119627 h 1119627"/>
                <a:gd name="connsiteX1-283" fmla="*/ 0 w 1220510"/>
                <a:gd name="connsiteY1-284" fmla="*/ 249694 h 1119627"/>
                <a:gd name="connsiteX2-285" fmla="*/ 1046828 w 1220510"/>
                <a:gd name="connsiteY2-286" fmla="*/ 89 h 1119627"/>
                <a:gd name="connsiteX3-287" fmla="*/ 1220510 w 1220510"/>
                <a:gd name="connsiteY3-288" fmla="*/ 1047901 h 1119627"/>
                <a:gd name="connsiteX4-289" fmla="*/ 1060159 w 1220510"/>
                <a:gd name="connsiteY4-290" fmla="*/ 1119627 h 1119627"/>
                <a:gd name="connsiteX0-291" fmla="*/ 1060159 w 1220510"/>
                <a:gd name="connsiteY0-292" fmla="*/ 1119627 h 1119627"/>
                <a:gd name="connsiteX1-293" fmla="*/ 0 w 1220510"/>
                <a:gd name="connsiteY1-294" fmla="*/ 249694 h 1119627"/>
                <a:gd name="connsiteX2-295" fmla="*/ 1046828 w 1220510"/>
                <a:gd name="connsiteY2-296" fmla="*/ 89 h 1119627"/>
                <a:gd name="connsiteX3-297" fmla="*/ 1220510 w 1220510"/>
                <a:gd name="connsiteY3-298" fmla="*/ 1047901 h 1119627"/>
                <a:gd name="connsiteX4-299" fmla="*/ 1060159 w 1220510"/>
                <a:gd name="connsiteY4-300" fmla="*/ 1119627 h 1119627"/>
                <a:gd name="connsiteX0-301" fmla="*/ 1060159 w 1220510"/>
                <a:gd name="connsiteY0-302" fmla="*/ 921649 h 921649"/>
                <a:gd name="connsiteX1-303" fmla="*/ 0 w 1220510"/>
                <a:gd name="connsiteY1-304" fmla="*/ 51716 h 921649"/>
                <a:gd name="connsiteX2-305" fmla="*/ 1059218 w 1220510"/>
                <a:gd name="connsiteY2-306" fmla="*/ 355 h 921649"/>
                <a:gd name="connsiteX3-307" fmla="*/ 1220510 w 1220510"/>
                <a:gd name="connsiteY3-308" fmla="*/ 849923 h 921649"/>
                <a:gd name="connsiteX4-309" fmla="*/ 1060159 w 1220510"/>
                <a:gd name="connsiteY4-310" fmla="*/ 921649 h 921649"/>
                <a:gd name="connsiteX0-311" fmla="*/ 1060159 w 1220510"/>
                <a:gd name="connsiteY0-312" fmla="*/ 921649 h 921649"/>
                <a:gd name="connsiteX1-313" fmla="*/ 0 w 1220510"/>
                <a:gd name="connsiteY1-314" fmla="*/ 51716 h 921649"/>
                <a:gd name="connsiteX2-315" fmla="*/ 1059218 w 1220510"/>
                <a:gd name="connsiteY2-316" fmla="*/ 355 h 921649"/>
                <a:gd name="connsiteX3-317" fmla="*/ 1220510 w 1220510"/>
                <a:gd name="connsiteY3-318" fmla="*/ 849923 h 921649"/>
                <a:gd name="connsiteX4-319" fmla="*/ 1060159 w 1220510"/>
                <a:gd name="connsiteY4-320" fmla="*/ 921649 h 921649"/>
                <a:gd name="connsiteX0-321" fmla="*/ 1060159 w 1220510"/>
                <a:gd name="connsiteY0-322" fmla="*/ 921649 h 921649"/>
                <a:gd name="connsiteX1-323" fmla="*/ 0 w 1220510"/>
                <a:gd name="connsiteY1-324" fmla="*/ 51716 h 921649"/>
                <a:gd name="connsiteX2-325" fmla="*/ 1059218 w 1220510"/>
                <a:gd name="connsiteY2-326" fmla="*/ 355 h 921649"/>
                <a:gd name="connsiteX3-327" fmla="*/ 1220510 w 1220510"/>
                <a:gd name="connsiteY3-328" fmla="*/ 849923 h 921649"/>
                <a:gd name="connsiteX4-329" fmla="*/ 1060159 w 1220510"/>
                <a:gd name="connsiteY4-330" fmla="*/ 921649 h 92164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102350" y="4916488"/>
              <a:ext cx="925513" cy="7572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3004 w 954755"/>
                <a:gd name="connsiteY0-372" fmla="*/ 943771 h 976186"/>
                <a:gd name="connsiteX1-373" fmla="*/ 455145 w 954755"/>
                <a:gd name="connsiteY1-374" fmla="*/ 11688 h 976186"/>
                <a:gd name="connsiteX2-375" fmla="*/ 954755 w 954755"/>
                <a:gd name="connsiteY2-376" fmla="*/ 0 h 976186"/>
                <a:gd name="connsiteX3-377" fmla="*/ 728484 w 954755"/>
                <a:gd name="connsiteY3-378" fmla="*/ 976186 h 976186"/>
                <a:gd name="connsiteX4-379" fmla="*/ 23004 w 954755"/>
                <a:gd name="connsiteY4-380" fmla="*/ 943771 h 976186"/>
                <a:gd name="connsiteX0-381" fmla="*/ 0 w 931751"/>
                <a:gd name="connsiteY0-382" fmla="*/ 943771 h 976186"/>
                <a:gd name="connsiteX1-383" fmla="*/ 432141 w 931751"/>
                <a:gd name="connsiteY1-384" fmla="*/ 11688 h 976186"/>
                <a:gd name="connsiteX2-385" fmla="*/ 931751 w 931751"/>
                <a:gd name="connsiteY2-386" fmla="*/ 0 h 976186"/>
                <a:gd name="connsiteX3-387" fmla="*/ 705480 w 931751"/>
                <a:gd name="connsiteY3-388" fmla="*/ 976186 h 976186"/>
                <a:gd name="connsiteX4-389" fmla="*/ 0 w 931751"/>
                <a:gd name="connsiteY4-390" fmla="*/ 943771 h 976186"/>
                <a:gd name="connsiteX0-391" fmla="*/ 0 w 931751"/>
                <a:gd name="connsiteY0-392" fmla="*/ 943771 h 976186"/>
                <a:gd name="connsiteX1-393" fmla="*/ 432141 w 931751"/>
                <a:gd name="connsiteY1-394" fmla="*/ 11688 h 976186"/>
                <a:gd name="connsiteX2-395" fmla="*/ 931751 w 931751"/>
                <a:gd name="connsiteY2-396" fmla="*/ 0 h 976186"/>
                <a:gd name="connsiteX3-397" fmla="*/ 705480 w 931751"/>
                <a:gd name="connsiteY3-398" fmla="*/ 976186 h 976186"/>
                <a:gd name="connsiteX4-399" fmla="*/ 0 w 931751"/>
                <a:gd name="connsiteY4-400" fmla="*/ 943771 h 976186"/>
                <a:gd name="connsiteX0-401" fmla="*/ 0 w 931751"/>
                <a:gd name="connsiteY0-402" fmla="*/ 943771 h 976186"/>
                <a:gd name="connsiteX1-403" fmla="*/ 432141 w 931751"/>
                <a:gd name="connsiteY1-404" fmla="*/ 11688 h 976186"/>
                <a:gd name="connsiteX2-405" fmla="*/ 931751 w 931751"/>
                <a:gd name="connsiteY2-406" fmla="*/ 0 h 976186"/>
                <a:gd name="connsiteX3-407" fmla="*/ 705480 w 931751"/>
                <a:gd name="connsiteY3-408" fmla="*/ 976186 h 976186"/>
                <a:gd name="connsiteX4-409" fmla="*/ 0 w 931751"/>
                <a:gd name="connsiteY4-410" fmla="*/ 943771 h 976186"/>
                <a:gd name="connsiteX0-411" fmla="*/ 0 w 931751"/>
                <a:gd name="connsiteY0-412" fmla="*/ 943771 h 966342"/>
                <a:gd name="connsiteX1-413" fmla="*/ 432141 w 931751"/>
                <a:gd name="connsiteY1-414" fmla="*/ 11688 h 966342"/>
                <a:gd name="connsiteX2-415" fmla="*/ 931751 w 931751"/>
                <a:gd name="connsiteY2-416" fmla="*/ 0 h 966342"/>
                <a:gd name="connsiteX3-417" fmla="*/ 183705 w 931751"/>
                <a:gd name="connsiteY3-418" fmla="*/ 966342 h 966342"/>
                <a:gd name="connsiteX4-419" fmla="*/ 0 w 931751"/>
                <a:gd name="connsiteY4-420" fmla="*/ 943771 h 966342"/>
                <a:gd name="connsiteX0-421" fmla="*/ 0 w 931751"/>
                <a:gd name="connsiteY0-422" fmla="*/ 943771 h 966342"/>
                <a:gd name="connsiteX1-423" fmla="*/ 432141 w 931751"/>
                <a:gd name="connsiteY1-424" fmla="*/ 11688 h 966342"/>
                <a:gd name="connsiteX2-425" fmla="*/ 931751 w 931751"/>
                <a:gd name="connsiteY2-426" fmla="*/ 0 h 966342"/>
                <a:gd name="connsiteX3-427" fmla="*/ 183705 w 931751"/>
                <a:gd name="connsiteY3-428" fmla="*/ 966342 h 966342"/>
                <a:gd name="connsiteX4-429" fmla="*/ 0 w 931751"/>
                <a:gd name="connsiteY4-430" fmla="*/ 943771 h 966342"/>
                <a:gd name="connsiteX0-431" fmla="*/ 0 w 931751"/>
                <a:gd name="connsiteY0-432" fmla="*/ 943771 h 966342"/>
                <a:gd name="connsiteX1-433" fmla="*/ 432141 w 931751"/>
                <a:gd name="connsiteY1-434" fmla="*/ 11688 h 966342"/>
                <a:gd name="connsiteX2-435" fmla="*/ 931751 w 931751"/>
                <a:gd name="connsiteY2-436" fmla="*/ 0 h 966342"/>
                <a:gd name="connsiteX3-437" fmla="*/ 183705 w 931751"/>
                <a:gd name="connsiteY3-438" fmla="*/ 966342 h 966342"/>
                <a:gd name="connsiteX4-439" fmla="*/ 0 w 931751"/>
                <a:gd name="connsiteY4-440" fmla="*/ 943771 h 966342"/>
                <a:gd name="connsiteX0-441" fmla="*/ 0 w 956363"/>
                <a:gd name="connsiteY0-442" fmla="*/ 932083 h 954654"/>
                <a:gd name="connsiteX1-443" fmla="*/ 432141 w 956363"/>
                <a:gd name="connsiteY1-444" fmla="*/ 0 h 954654"/>
                <a:gd name="connsiteX2-445" fmla="*/ 956363 w 956363"/>
                <a:gd name="connsiteY2-446" fmla="*/ 12924 h 954654"/>
                <a:gd name="connsiteX3-447" fmla="*/ 183705 w 956363"/>
                <a:gd name="connsiteY3-448" fmla="*/ 954654 h 954654"/>
                <a:gd name="connsiteX4-449" fmla="*/ 0 w 956363"/>
                <a:gd name="connsiteY4-450" fmla="*/ 932083 h 954654"/>
                <a:gd name="connsiteX0-451" fmla="*/ 0 w 956363"/>
                <a:gd name="connsiteY0-452" fmla="*/ 919226 h 941797"/>
                <a:gd name="connsiteX1-453" fmla="*/ 405840 w 956363"/>
                <a:gd name="connsiteY1-454" fmla="*/ 197551 h 941797"/>
                <a:gd name="connsiteX2-455" fmla="*/ 956363 w 956363"/>
                <a:gd name="connsiteY2-456" fmla="*/ 67 h 941797"/>
                <a:gd name="connsiteX3-457" fmla="*/ 183705 w 956363"/>
                <a:gd name="connsiteY3-458" fmla="*/ 941797 h 941797"/>
                <a:gd name="connsiteX4-459" fmla="*/ 0 w 956363"/>
                <a:gd name="connsiteY4-460" fmla="*/ 919226 h 941797"/>
                <a:gd name="connsiteX0-461" fmla="*/ 0 w 956363"/>
                <a:gd name="connsiteY0-462" fmla="*/ 919226 h 941797"/>
                <a:gd name="connsiteX1-463" fmla="*/ 405840 w 956363"/>
                <a:gd name="connsiteY1-464" fmla="*/ 197551 h 941797"/>
                <a:gd name="connsiteX2-465" fmla="*/ 956363 w 956363"/>
                <a:gd name="connsiteY2-466" fmla="*/ 67 h 941797"/>
                <a:gd name="connsiteX3-467" fmla="*/ 183705 w 956363"/>
                <a:gd name="connsiteY3-468" fmla="*/ 941797 h 941797"/>
                <a:gd name="connsiteX4-469" fmla="*/ 0 w 956363"/>
                <a:gd name="connsiteY4-470" fmla="*/ 919226 h 941797"/>
                <a:gd name="connsiteX0-471" fmla="*/ 0 w 956363"/>
                <a:gd name="connsiteY0-472" fmla="*/ 919226 h 941797"/>
                <a:gd name="connsiteX1-473" fmla="*/ 405840 w 956363"/>
                <a:gd name="connsiteY1-474" fmla="*/ 197551 h 941797"/>
                <a:gd name="connsiteX2-475" fmla="*/ 956363 w 956363"/>
                <a:gd name="connsiteY2-476" fmla="*/ 67 h 941797"/>
                <a:gd name="connsiteX3-477" fmla="*/ 183705 w 956363"/>
                <a:gd name="connsiteY3-478" fmla="*/ 941797 h 941797"/>
                <a:gd name="connsiteX4-479" fmla="*/ 0 w 956363"/>
                <a:gd name="connsiteY4-480" fmla="*/ 919226 h 941797"/>
                <a:gd name="connsiteX0-481" fmla="*/ 0 w 926304"/>
                <a:gd name="connsiteY0-482" fmla="*/ 735614 h 758185"/>
                <a:gd name="connsiteX1-483" fmla="*/ 405840 w 926304"/>
                <a:gd name="connsiteY1-484" fmla="*/ 13939 h 758185"/>
                <a:gd name="connsiteX2-485" fmla="*/ 926304 w 926304"/>
                <a:gd name="connsiteY2-486" fmla="*/ 563 h 758185"/>
                <a:gd name="connsiteX3-487" fmla="*/ 183705 w 926304"/>
                <a:gd name="connsiteY3-488" fmla="*/ 758185 h 758185"/>
                <a:gd name="connsiteX4-489" fmla="*/ 0 w 926304"/>
                <a:gd name="connsiteY4-490" fmla="*/ 735614 h 758185"/>
                <a:gd name="connsiteX0-491" fmla="*/ 0 w 926304"/>
                <a:gd name="connsiteY0-492" fmla="*/ 735614 h 758185"/>
                <a:gd name="connsiteX1-493" fmla="*/ 405840 w 926304"/>
                <a:gd name="connsiteY1-494" fmla="*/ 13939 h 758185"/>
                <a:gd name="connsiteX2-495" fmla="*/ 926304 w 926304"/>
                <a:gd name="connsiteY2-496" fmla="*/ 563 h 758185"/>
                <a:gd name="connsiteX3-497" fmla="*/ 183705 w 926304"/>
                <a:gd name="connsiteY3-498" fmla="*/ 758185 h 758185"/>
                <a:gd name="connsiteX4-499" fmla="*/ 0 w 926304"/>
                <a:gd name="connsiteY4-500" fmla="*/ 735614 h 758185"/>
                <a:gd name="connsiteX0-501" fmla="*/ 0 w 926304"/>
                <a:gd name="connsiteY0-502" fmla="*/ 735614 h 758185"/>
                <a:gd name="connsiteX1-503" fmla="*/ 405840 w 926304"/>
                <a:gd name="connsiteY1-504" fmla="*/ 13939 h 758185"/>
                <a:gd name="connsiteX2-505" fmla="*/ 926304 w 926304"/>
                <a:gd name="connsiteY2-506" fmla="*/ 563 h 758185"/>
                <a:gd name="connsiteX3-507" fmla="*/ 183705 w 926304"/>
                <a:gd name="connsiteY3-508" fmla="*/ 758185 h 758185"/>
                <a:gd name="connsiteX4-509" fmla="*/ 0 w 926304"/>
                <a:gd name="connsiteY4-510" fmla="*/ 735614 h 758185"/>
                <a:gd name="connsiteX0-511" fmla="*/ 0 w 926304"/>
                <a:gd name="connsiteY0-512" fmla="*/ 735614 h 758185"/>
                <a:gd name="connsiteX1-513" fmla="*/ 405840 w 926304"/>
                <a:gd name="connsiteY1-514" fmla="*/ 13939 h 758185"/>
                <a:gd name="connsiteX2-515" fmla="*/ 926304 w 926304"/>
                <a:gd name="connsiteY2-516" fmla="*/ 563 h 758185"/>
                <a:gd name="connsiteX3-517" fmla="*/ 183705 w 926304"/>
                <a:gd name="connsiteY3-518" fmla="*/ 758185 h 758185"/>
                <a:gd name="connsiteX4-519" fmla="*/ 0 w 926304"/>
                <a:gd name="connsiteY4-520" fmla="*/ 735614 h 75818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287963" y="4937125"/>
              <a:ext cx="725487" cy="11001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7977 w 802211"/>
                <a:gd name="connsiteY0-372" fmla="*/ 815791 h 976186"/>
                <a:gd name="connsiteX1-373" fmla="*/ 302601 w 802211"/>
                <a:gd name="connsiteY1-374" fmla="*/ 11688 h 976186"/>
                <a:gd name="connsiteX2-375" fmla="*/ 802211 w 802211"/>
                <a:gd name="connsiteY2-376" fmla="*/ 0 h 976186"/>
                <a:gd name="connsiteX3-377" fmla="*/ 575940 w 802211"/>
                <a:gd name="connsiteY3-378" fmla="*/ 976186 h 976186"/>
                <a:gd name="connsiteX4-379" fmla="*/ 27977 w 802211"/>
                <a:gd name="connsiteY4-380" fmla="*/ 815791 h 976186"/>
                <a:gd name="connsiteX0-381" fmla="*/ 27977 w 802211"/>
                <a:gd name="connsiteY0-382" fmla="*/ 815791 h 815791"/>
                <a:gd name="connsiteX1-383" fmla="*/ 302601 w 802211"/>
                <a:gd name="connsiteY1-384" fmla="*/ 11688 h 815791"/>
                <a:gd name="connsiteX2-385" fmla="*/ 802211 w 802211"/>
                <a:gd name="connsiteY2-386" fmla="*/ 0 h 815791"/>
                <a:gd name="connsiteX3-387" fmla="*/ 236294 w 802211"/>
                <a:gd name="connsiteY3-388" fmla="*/ 808828 h 815791"/>
                <a:gd name="connsiteX4-389" fmla="*/ 27977 w 802211"/>
                <a:gd name="connsiteY4-390" fmla="*/ 815791 h 815791"/>
                <a:gd name="connsiteX0-391" fmla="*/ 27977 w 802211"/>
                <a:gd name="connsiteY0-392" fmla="*/ 815791 h 815791"/>
                <a:gd name="connsiteX1-393" fmla="*/ 302601 w 802211"/>
                <a:gd name="connsiteY1-394" fmla="*/ 11688 h 815791"/>
                <a:gd name="connsiteX2-395" fmla="*/ 802211 w 802211"/>
                <a:gd name="connsiteY2-396" fmla="*/ 0 h 815791"/>
                <a:gd name="connsiteX3-397" fmla="*/ 236294 w 802211"/>
                <a:gd name="connsiteY3-398" fmla="*/ 808828 h 815791"/>
                <a:gd name="connsiteX4-399" fmla="*/ 27977 w 802211"/>
                <a:gd name="connsiteY4-400" fmla="*/ 815791 h 815791"/>
                <a:gd name="connsiteX0-401" fmla="*/ 27977 w 802211"/>
                <a:gd name="connsiteY0-402" fmla="*/ 815791 h 815791"/>
                <a:gd name="connsiteX1-403" fmla="*/ 302601 w 802211"/>
                <a:gd name="connsiteY1-404" fmla="*/ 11688 h 815791"/>
                <a:gd name="connsiteX2-405" fmla="*/ 802211 w 802211"/>
                <a:gd name="connsiteY2-406" fmla="*/ 0 h 815791"/>
                <a:gd name="connsiteX3-407" fmla="*/ 236294 w 802211"/>
                <a:gd name="connsiteY3-408" fmla="*/ 808828 h 815791"/>
                <a:gd name="connsiteX4-409" fmla="*/ 27977 w 802211"/>
                <a:gd name="connsiteY4-410" fmla="*/ 815791 h 815791"/>
                <a:gd name="connsiteX0-411" fmla="*/ 27977 w 802211"/>
                <a:gd name="connsiteY0-412" fmla="*/ 828714 h 828714"/>
                <a:gd name="connsiteX1-413" fmla="*/ 302601 w 802211"/>
                <a:gd name="connsiteY1-414" fmla="*/ 0 h 828714"/>
                <a:gd name="connsiteX2-415" fmla="*/ 802211 w 802211"/>
                <a:gd name="connsiteY2-416" fmla="*/ 12923 h 828714"/>
                <a:gd name="connsiteX3-417" fmla="*/ 236294 w 802211"/>
                <a:gd name="connsiteY3-418" fmla="*/ 821751 h 828714"/>
                <a:gd name="connsiteX4-419" fmla="*/ 27977 w 802211"/>
                <a:gd name="connsiteY4-420" fmla="*/ 828714 h 828714"/>
                <a:gd name="connsiteX0-421" fmla="*/ 56213 w 830447"/>
                <a:gd name="connsiteY0-422" fmla="*/ 828714 h 828714"/>
                <a:gd name="connsiteX1-423" fmla="*/ 330837 w 830447"/>
                <a:gd name="connsiteY1-424" fmla="*/ 0 h 828714"/>
                <a:gd name="connsiteX2-425" fmla="*/ 830447 w 830447"/>
                <a:gd name="connsiteY2-426" fmla="*/ 12923 h 828714"/>
                <a:gd name="connsiteX3-427" fmla="*/ 264530 w 830447"/>
                <a:gd name="connsiteY3-428" fmla="*/ 821751 h 828714"/>
                <a:gd name="connsiteX4-429" fmla="*/ 56213 w 830447"/>
                <a:gd name="connsiteY4-430" fmla="*/ 828714 h 828714"/>
                <a:gd name="connsiteX0-431" fmla="*/ 64130 w 789139"/>
                <a:gd name="connsiteY0-432" fmla="*/ 794258 h 821751"/>
                <a:gd name="connsiteX1-433" fmla="*/ 289529 w 789139"/>
                <a:gd name="connsiteY1-434" fmla="*/ 0 h 821751"/>
                <a:gd name="connsiteX2-435" fmla="*/ 789139 w 789139"/>
                <a:gd name="connsiteY2-436" fmla="*/ 12923 h 821751"/>
                <a:gd name="connsiteX3-437" fmla="*/ 223222 w 789139"/>
                <a:gd name="connsiteY3-438" fmla="*/ 821751 h 821751"/>
                <a:gd name="connsiteX4-439" fmla="*/ 64130 w 789139"/>
                <a:gd name="connsiteY4-440" fmla="*/ 794258 h 821751"/>
                <a:gd name="connsiteX0-441" fmla="*/ 0 w 725009"/>
                <a:gd name="connsiteY0-442" fmla="*/ 794258 h 821751"/>
                <a:gd name="connsiteX1-443" fmla="*/ 225399 w 725009"/>
                <a:gd name="connsiteY1-444" fmla="*/ 0 h 821751"/>
                <a:gd name="connsiteX2-445" fmla="*/ 725009 w 725009"/>
                <a:gd name="connsiteY2-446" fmla="*/ 12923 h 821751"/>
                <a:gd name="connsiteX3-447" fmla="*/ 159092 w 725009"/>
                <a:gd name="connsiteY3-448" fmla="*/ 821751 h 821751"/>
                <a:gd name="connsiteX4-449" fmla="*/ 0 w 725009"/>
                <a:gd name="connsiteY4-450" fmla="*/ 794258 h 821751"/>
                <a:gd name="connsiteX0-451" fmla="*/ 0 w 725009"/>
                <a:gd name="connsiteY0-452" fmla="*/ 1203768 h 1231261"/>
                <a:gd name="connsiteX1-453" fmla="*/ 225399 w 725009"/>
                <a:gd name="connsiteY1-454" fmla="*/ 0 h 1231261"/>
                <a:gd name="connsiteX2-455" fmla="*/ 725009 w 725009"/>
                <a:gd name="connsiteY2-456" fmla="*/ 422433 h 1231261"/>
                <a:gd name="connsiteX3-457" fmla="*/ 159092 w 725009"/>
                <a:gd name="connsiteY3-458" fmla="*/ 1231261 h 1231261"/>
                <a:gd name="connsiteX4-459" fmla="*/ 0 w 725009"/>
                <a:gd name="connsiteY4-460" fmla="*/ 1203768 h 1231261"/>
                <a:gd name="connsiteX0-461" fmla="*/ 0 w 725009"/>
                <a:gd name="connsiteY0-462" fmla="*/ 1217334 h 1244827"/>
                <a:gd name="connsiteX1-463" fmla="*/ 225399 w 725009"/>
                <a:gd name="connsiteY1-464" fmla="*/ 13566 h 1244827"/>
                <a:gd name="connsiteX2-465" fmla="*/ 725009 w 725009"/>
                <a:gd name="connsiteY2-466" fmla="*/ 571 h 1244827"/>
                <a:gd name="connsiteX3-467" fmla="*/ 159092 w 725009"/>
                <a:gd name="connsiteY3-468" fmla="*/ 1244827 h 1244827"/>
                <a:gd name="connsiteX4-469" fmla="*/ 0 w 725009"/>
                <a:gd name="connsiteY4-470" fmla="*/ 1217334 h 1244827"/>
                <a:gd name="connsiteX0-471" fmla="*/ 0 w 725009"/>
                <a:gd name="connsiteY0-472" fmla="*/ 1217334 h 1244827"/>
                <a:gd name="connsiteX1-473" fmla="*/ 225399 w 725009"/>
                <a:gd name="connsiteY1-474" fmla="*/ 13566 h 1244827"/>
                <a:gd name="connsiteX2-475" fmla="*/ 725009 w 725009"/>
                <a:gd name="connsiteY2-476" fmla="*/ 571 h 1244827"/>
                <a:gd name="connsiteX3-477" fmla="*/ 159092 w 725009"/>
                <a:gd name="connsiteY3-478" fmla="*/ 1244827 h 1244827"/>
                <a:gd name="connsiteX4-479" fmla="*/ 0 w 725009"/>
                <a:gd name="connsiteY4-480" fmla="*/ 1217334 h 1244827"/>
                <a:gd name="connsiteX0-481" fmla="*/ 0 w 725009"/>
                <a:gd name="connsiteY0-482" fmla="*/ 1217334 h 1244827"/>
                <a:gd name="connsiteX1-483" fmla="*/ 225399 w 725009"/>
                <a:gd name="connsiteY1-484" fmla="*/ 13566 h 1244827"/>
                <a:gd name="connsiteX2-485" fmla="*/ 725009 w 725009"/>
                <a:gd name="connsiteY2-486" fmla="*/ 571 h 1244827"/>
                <a:gd name="connsiteX3-487" fmla="*/ 159092 w 725009"/>
                <a:gd name="connsiteY3-488" fmla="*/ 1244827 h 1244827"/>
                <a:gd name="connsiteX4-489" fmla="*/ 0 w 725009"/>
                <a:gd name="connsiteY4-490" fmla="*/ 1217334 h 1244827"/>
                <a:gd name="connsiteX0-491" fmla="*/ 0 w 725009"/>
                <a:gd name="connsiteY0-492" fmla="*/ 1217334 h 1244827"/>
                <a:gd name="connsiteX1-493" fmla="*/ 225399 w 725009"/>
                <a:gd name="connsiteY1-494" fmla="*/ 13566 h 1244827"/>
                <a:gd name="connsiteX2-495" fmla="*/ 725009 w 725009"/>
                <a:gd name="connsiteY2-496" fmla="*/ 571 h 1244827"/>
                <a:gd name="connsiteX3-497" fmla="*/ 159092 w 725009"/>
                <a:gd name="connsiteY3-498" fmla="*/ 1244827 h 1244827"/>
                <a:gd name="connsiteX4-499" fmla="*/ 0 w 725009"/>
                <a:gd name="connsiteY4-500" fmla="*/ 1217334 h 1244827"/>
                <a:gd name="connsiteX0-501" fmla="*/ 0 w 725009"/>
                <a:gd name="connsiteY0-502" fmla="*/ 1217334 h 1244827"/>
                <a:gd name="connsiteX1-503" fmla="*/ 225399 w 725009"/>
                <a:gd name="connsiteY1-504" fmla="*/ 13566 h 1244827"/>
                <a:gd name="connsiteX2-505" fmla="*/ 725009 w 725009"/>
                <a:gd name="connsiteY2-506" fmla="*/ 571 h 1244827"/>
                <a:gd name="connsiteX3-507" fmla="*/ 159092 w 725009"/>
                <a:gd name="connsiteY3-508" fmla="*/ 1244827 h 1244827"/>
                <a:gd name="connsiteX4-509" fmla="*/ 0 w 725009"/>
                <a:gd name="connsiteY4-510" fmla="*/ 1217334 h 1244827"/>
                <a:gd name="connsiteX0-511" fmla="*/ 0 w 725009"/>
                <a:gd name="connsiteY0-512" fmla="*/ 1217334 h 1244827"/>
                <a:gd name="connsiteX1-513" fmla="*/ 225399 w 725009"/>
                <a:gd name="connsiteY1-514" fmla="*/ 13566 h 1244827"/>
                <a:gd name="connsiteX2-515" fmla="*/ 725009 w 725009"/>
                <a:gd name="connsiteY2-516" fmla="*/ 571 h 1244827"/>
                <a:gd name="connsiteX3-517" fmla="*/ 159092 w 725009"/>
                <a:gd name="connsiteY3-518" fmla="*/ 1244827 h 1244827"/>
                <a:gd name="connsiteX4-519" fmla="*/ 0 w 725009"/>
                <a:gd name="connsiteY4-520" fmla="*/ 1217334 h 1244827"/>
                <a:gd name="connsiteX0-521" fmla="*/ 0 w 725009"/>
                <a:gd name="connsiteY0-522" fmla="*/ 1203768 h 1231261"/>
                <a:gd name="connsiteX1-523" fmla="*/ 225399 w 725009"/>
                <a:gd name="connsiteY1-524" fmla="*/ 0 h 1231261"/>
                <a:gd name="connsiteX2-525" fmla="*/ 725009 w 725009"/>
                <a:gd name="connsiteY2-526" fmla="*/ 129782 h 1231261"/>
                <a:gd name="connsiteX3-527" fmla="*/ 159092 w 725009"/>
                <a:gd name="connsiteY3-528" fmla="*/ 1231261 h 1231261"/>
                <a:gd name="connsiteX4-529" fmla="*/ 0 w 725009"/>
                <a:gd name="connsiteY4-530" fmla="*/ 1203768 h 1231261"/>
                <a:gd name="connsiteX0-531" fmla="*/ 0 w 725009"/>
                <a:gd name="connsiteY0-532" fmla="*/ 1203768 h 1231261"/>
                <a:gd name="connsiteX1-533" fmla="*/ 225399 w 725009"/>
                <a:gd name="connsiteY1-534" fmla="*/ 0 h 1231261"/>
                <a:gd name="connsiteX2-535" fmla="*/ 725009 w 725009"/>
                <a:gd name="connsiteY2-536" fmla="*/ 129782 h 1231261"/>
                <a:gd name="connsiteX3-537" fmla="*/ 159092 w 725009"/>
                <a:gd name="connsiteY3-538" fmla="*/ 1231261 h 1231261"/>
                <a:gd name="connsiteX4-539" fmla="*/ 0 w 725009"/>
                <a:gd name="connsiteY4-540" fmla="*/ 1203768 h 1231261"/>
                <a:gd name="connsiteX0-541" fmla="*/ 0 w 725009"/>
                <a:gd name="connsiteY0-542" fmla="*/ 1203768 h 1231261"/>
                <a:gd name="connsiteX1-543" fmla="*/ 225399 w 725009"/>
                <a:gd name="connsiteY1-544" fmla="*/ 0 h 1231261"/>
                <a:gd name="connsiteX2-545" fmla="*/ 725009 w 725009"/>
                <a:gd name="connsiteY2-546" fmla="*/ 129782 h 1231261"/>
                <a:gd name="connsiteX3-547" fmla="*/ 159092 w 725009"/>
                <a:gd name="connsiteY3-548" fmla="*/ 1231261 h 1231261"/>
                <a:gd name="connsiteX4-549" fmla="*/ 0 w 725009"/>
                <a:gd name="connsiteY4-550" fmla="*/ 1203768 h 1231261"/>
                <a:gd name="connsiteX0-551" fmla="*/ 0 w 725497"/>
                <a:gd name="connsiteY0-552" fmla="*/ 1279028 h 1306521"/>
                <a:gd name="connsiteX1-553" fmla="*/ 225399 w 725497"/>
                <a:gd name="connsiteY1-554" fmla="*/ 75260 h 1306521"/>
                <a:gd name="connsiteX2-555" fmla="*/ 396193 w 725497"/>
                <a:gd name="connsiteY2-556" fmla="*/ 156799 h 1306521"/>
                <a:gd name="connsiteX3-557" fmla="*/ 725009 w 725497"/>
                <a:gd name="connsiteY3-558" fmla="*/ 205042 h 1306521"/>
                <a:gd name="connsiteX4-559" fmla="*/ 159092 w 725497"/>
                <a:gd name="connsiteY4-560" fmla="*/ 1306521 h 1306521"/>
                <a:gd name="connsiteX5-561" fmla="*/ 0 w 725497"/>
                <a:gd name="connsiteY5-562" fmla="*/ 1279028 h 1306521"/>
                <a:gd name="connsiteX0-563" fmla="*/ 0 w 725239"/>
                <a:gd name="connsiteY0-564" fmla="*/ 1295668 h 1323161"/>
                <a:gd name="connsiteX1-565" fmla="*/ 225399 w 725239"/>
                <a:gd name="connsiteY1-566" fmla="*/ 91900 h 1323161"/>
                <a:gd name="connsiteX2-567" fmla="*/ 725009 w 725239"/>
                <a:gd name="connsiteY2-568" fmla="*/ 221682 h 1323161"/>
                <a:gd name="connsiteX3-569" fmla="*/ 159092 w 725239"/>
                <a:gd name="connsiteY3-570" fmla="*/ 1323161 h 1323161"/>
                <a:gd name="connsiteX4-571" fmla="*/ 0 w 725239"/>
                <a:gd name="connsiteY4-572" fmla="*/ 1295668 h 1323161"/>
                <a:gd name="connsiteX0-573" fmla="*/ 0 w 725221"/>
                <a:gd name="connsiteY0-574" fmla="*/ 1210552 h 1238045"/>
                <a:gd name="connsiteX1-575" fmla="*/ 191583 w 725221"/>
                <a:gd name="connsiteY1-576" fmla="*/ 153319 h 1238045"/>
                <a:gd name="connsiteX2-577" fmla="*/ 725009 w 725221"/>
                <a:gd name="connsiteY2-578" fmla="*/ 136566 h 1238045"/>
                <a:gd name="connsiteX3-579" fmla="*/ 159092 w 725221"/>
                <a:gd name="connsiteY3-580" fmla="*/ 1238045 h 1238045"/>
                <a:gd name="connsiteX4-581" fmla="*/ 0 w 725221"/>
                <a:gd name="connsiteY4-582" fmla="*/ 1210552 h 1238045"/>
                <a:gd name="connsiteX0-583" fmla="*/ 0 w 725305"/>
                <a:gd name="connsiteY0-584" fmla="*/ 1158512 h 1186005"/>
                <a:gd name="connsiteX1-585" fmla="*/ 191583 w 725305"/>
                <a:gd name="connsiteY1-586" fmla="*/ 101279 h 1186005"/>
                <a:gd name="connsiteX2-587" fmla="*/ 725009 w 725305"/>
                <a:gd name="connsiteY2-588" fmla="*/ 84526 h 1186005"/>
                <a:gd name="connsiteX3-589" fmla="*/ 159092 w 725305"/>
                <a:gd name="connsiteY3-590" fmla="*/ 1186005 h 1186005"/>
                <a:gd name="connsiteX4-591" fmla="*/ 0 w 725305"/>
                <a:gd name="connsiteY4-592" fmla="*/ 1158512 h 1186005"/>
                <a:gd name="connsiteX0-593" fmla="*/ 0 w 725009"/>
                <a:gd name="connsiteY0-594" fmla="*/ 1073986 h 1101479"/>
                <a:gd name="connsiteX1-595" fmla="*/ 191583 w 725009"/>
                <a:gd name="connsiteY1-596" fmla="*/ 16753 h 1101479"/>
                <a:gd name="connsiteX2-597" fmla="*/ 725009 w 725009"/>
                <a:gd name="connsiteY2-598" fmla="*/ 0 h 1101479"/>
                <a:gd name="connsiteX3-599" fmla="*/ 159092 w 725009"/>
                <a:gd name="connsiteY3-600" fmla="*/ 1101479 h 1101479"/>
                <a:gd name="connsiteX4-601" fmla="*/ 0 w 725009"/>
                <a:gd name="connsiteY4-602" fmla="*/ 1073986 h 1101479"/>
                <a:gd name="connsiteX0-603" fmla="*/ 0 w 725009"/>
                <a:gd name="connsiteY0-604" fmla="*/ 1073986 h 1101479"/>
                <a:gd name="connsiteX1-605" fmla="*/ 206612 w 725009"/>
                <a:gd name="connsiteY1-606" fmla="*/ 1724 h 1101479"/>
                <a:gd name="connsiteX2-607" fmla="*/ 725009 w 725009"/>
                <a:gd name="connsiteY2-608" fmla="*/ 0 h 1101479"/>
                <a:gd name="connsiteX3-609" fmla="*/ 159092 w 725009"/>
                <a:gd name="connsiteY3-610" fmla="*/ 1101479 h 1101479"/>
                <a:gd name="connsiteX4-611" fmla="*/ 0 w 725009"/>
                <a:gd name="connsiteY4-612" fmla="*/ 1073986 h 1101479"/>
                <a:gd name="connsiteX0-613" fmla="*/ 0 w 725009"/>
                <a:gd name="connsiteY0-614" fmla="*/ 1073986 h 1101479"/>
                <a:gd name="connsiteX1-615" fmla="*/ 206612 w 725009"/>
                <a:gd name="connsiteY1-616" fmla="*/ 1724 h 1101479"/>
                <a:gd name="connsiteX2-617" fmla="*/ 725009 w 725009"/>
                <a:gd name="connsiteY2-618" fmla="*/ 0 h 1101479"/>
                <a:gd name="connsiteX3-619" fmla="*/ 159092 w 725009"/>
                <a:gd name="connsiteY3-620" fmla="*/ 1101479 h 1101479"/>
                <a:gd name="connsiteX4-621" fmla="*/ 0 w 725009"/>
                <a:gd name="connsiteY4-622" fmla="*/ 1073986 h 1101479"/>
                <a:gd name="connsiteX0-623" fmla="*/ 0 w 725009"/>
                <a:gd name="connsiteY0-624" fmla="*/ 1073986 h 1101479"/>
                <a:gd name="connsiteX1-625" fmla="*/ 206612 w 725009"/>
                <a:gd name="connsiteY1-626" fmla="*/ 1724 h 1101479"/>
                <a:gd name="connsiteX2-627" fmla="*/ 725009 w 725009"/>
                <a:gd name="connsiteY2-628" fmla="*/ 0 h 1101479"/>
                <a:gd name="connsiteX3-629" fmla="*/ 159092 w 725009"/>
                <a:gd name="connsiteY3-630" fmla="*/ 1101479 h 1101479"/>
                <a:gd name="connsiteX4-631" fmla="*/ 0 w 725009"/>
                <a:gd name="connsiteY4-632" fmla="*/ 1073986 h 110147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00538" y="4956175"/>
              <a:ext cx="514350" cy="577850"/>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503138"/>
                <a:gd name="connsiteY0-372" fmla="*/ 961687 h 964568"/>
                <a:gd name="connsiteX1-373" fmla="*/ 0 w 503138"/>
                <a:gd name="connsiteY1-374" fmla="*/ 70 h 964568"/>
                <a:gd name="connsiteX2-375" fmla="*/ 503138 w 503138"/>
                <a:gd name="connsiteY2-376" fmla="*/ 154187 h 964568"/>
                <a:gd name="connsiteX3-377" fmla="*/ 273339 w 503138"/>
                <a:gd name="connsiteY3-378" fmla="*/ 964568 h 964568"/>
                <a:gd name="connsiteX4-379" fmla="*/ 197928 w 503138"/>
                <a:gd name="connsiteY4-380" fmla="*/ 961687 h 964568"/>
                <a:gd name="connsiteX0-381" fmla="*/ 201456 w 506666"/>
                <a:gd name="connsiteY0-382" fmla="*/ 807500 h 810381"/>
                <a:gd name="connsiteX1-383" fmla="*/ 0 w 506666"/>
                <a:gd name="connsiteY1-384" fmla="*/ 15216 h 810381"/>
                <a:gd name="connsiteX2-385" fmla="*/ 506666 w 506666"/>
                <a:gd name="connsiteY2-386" fmla="*/ 0 h 810381"/>
                <a:gd name="connsiteX3-387" fmla="*/ 276867 w 506666"/>
                <a:gd name="connsiteY3-388" fmla="*/ 810381 h 810381"/>
                <a:gd name="connsiteX4-389" fmla="*/ 201456 w 506666"/>
                <a:gd name="connsiteY4-390" fmla="*/ 807500 h 810381"/>
                <a:gd name="connsiteX0-391" fmla="*/ 201456 w 506666"/>
                <a:gd name="connsiteY0-392" fmla="*/ 807500 h 811593"/>
                <a:gd name="connsiteX1-393" fmla="*/ 0 w 506666"/>
                <a:gd name="connsiteY1-394" fmla="*/ 15216 h 811593"/>
                <a:gd name="connsiteX2-395" fmla="*/ 506666 w 506666"/>
                <a:gd name="connsiteY2-396" fmla="*/ 0 h 811593"/>
                <a:gd name="connsiteX3-397" fmla="*/ 276867 w 506666"/>
                <a:gd name="connsiteY3-398" fmla="*/ 810381 h 811593"/>
                <a:gd name="connsiteX4-399" fmla="*/ 201456 w 506666"/>
                <a:gd name="connsiteY4-400" fmla="*/ 807500 h 811593"/>
                <a:gd name="connsiteX0-401" fmla="*/ 135576 w 506666"/>
                <a:gd name="connsiteY0-402" fmla="*/ 818480 h 818480"/>
                <a:gd name="connsiteX1-403" fmla="*/ 0 w 506666"/>
                <a:gd name="connsiteY1-404" fmla="*/ 15216 h 818480"/>
                <a:gd name="connsiteX2-405" fmla="*/ 506666 w 506666"/>
                <a:gd name="connsiteY2-406" fmla="*/ 0 h 818480"/>
                <a:gd name="connsiteX3-407" fmla="*/ 276867 w 506666"/>
                <a:gd name="connsiteY3-408" fmla="*/ 810381 h 818480"/>
                <a:gd name="connsiteX4-409" fmla="*/ 135576 w 506666"/>
                <a:gd name="connsiteY4-410" fmla="*/ 818480 h 818480"/>
                <a:gd name="connsiteX0-411" fmla="*/ 135576 w 506666"/>
                <a:gd name="connsiteY0-412" fmla="*/ 818480 h 818480"/>
                <a:gd name="connsiteX1-413" fmla="*/ 0 w 506666"/>
                <a:gd name="connsiteY1-414" fmla="*/ 15216 h 818480"/>
                <a:gd name="connsiteX2-415" fmla="*/ 506666 w 506666"/>
                <a:gd name="connsiteY2-416" fmla="*/ 0 h 818480"/>
                <a:gd name="connsiteX3-417" fmla="*/ 331766 w 506666"/>
                <a:gd name="connsiteY3-418" fmla="*/ 803061 h 818480"/>
                <a:gd name="connsiteX4-419" fmla="*/ 135576 w 506666"/>
                <a:gd name="connsiteY4-420" fmla="*/ 818480 h 818480"/>
                <a:gd name="connsiteX0-421" fmla="*/ 135576 w 506666"/>
                <a:gd name="connsiteY0-422" fmla="*/ 818480 h 818480"/>
                <a:gd name="connsiteX1-423" fmla="*/ 0 w 506666"/>
                <a:gd name="connsiteY1-424" fmla="*/ 15216 h 818480"/>
                <a:gd name="connsiteX2-425" fmla="*/ 506666 w 506666"/>
                <a:gd name="connsiteY2-426" fmla="*/ 0 h 818480"/>
                <a:gd name="connsiteX3-427" fmla="*/ 331766 w 506666"/>
                <a:gd name="connsiteY3-428" fmla="*/ 803061 h 818480"/>
                <a:gd name="connsiteX4-429" fmla="*/ 135576 w 506666"/>
                <a:gd name="connsiteY4-430" fmla="*/ 818480 h 818480"/>
                <a:gd name="connsiteX0-431" fmla="*/ 135576 w 506666"/>
                <a:gd name="connsiteY0-432" fmla="*/ 818480 h 818480"/>
                <a:gd name="connsiteX1-433" fmla="*/ 0 w 506666"/>
                <a:gd name="connsiteY1-434" fmla="*/ 15216 h 818480"/>
                <a:gd name="connsiteX2-435" fmla="*/ 506666 w 506666"/>
                <a:gd name="connsiteY2-436" fmla="*/ 0 h 818480"/>
                <a:gd name="connsiteX3-437" fmla="*/ 331766 w 506666"/>
                <a:gd name="connsiteY3-438" fmla="*/ 803061 h 818480"/>
                <a:gd name="connsiteX4-439" fmla="*/ 135576 w 506666"/>
                <a:gd name="connsiteY4-440" fmla="*/ 818480 h 818480"/>
                <a:gd name="connsiteX0-441" fmla="*/ 135576 w 506666"/>
                <a:gd name="connsiteY0-442" fmla="*/ 818480 h 818480"/>
                <a:gd name="connsiteX1-443" fmla="*/ 0 w 506666"/>
                <a:gd name="connsiteY1-444" fmla="*/ 7896 h 818480"/>
                <a:gd name="connsiteX2-445" fmla="*/ 506666 w 506666"/>
                <a:gd name="connsiteY2-446" fmla="*/ 0 h 818480"/>
                <a:gd name="connsiteX3-447" fmla="*/ 331766 w 506666"/>
                <a:gd name="connsiteY3-448" fmla="*/ 803061 h 818480"/>
                <a:gd name="connsiteX4-449" fmla="*/ 135576 w 506666"/>
                <a:gd name="connsiteY4-450" fmla="*/ 818480 h 818480"/>
                <a:gd name="connsiteX0-451" fmla="*/ 135576 w 506666"/>
                <a:gd name="connsiteY0-452" fmla="*/ 818480 h 818480"/>
                <a:gd name="connsiteX1-453" fmla="*/ 0 w 506666"/>
                <a:gd name="connsiteY1-454" fmla="*/ 7896 h 818480"/>
                <a:gd name="connsiteX2-455" fmla="*/ 506666 w 506666"/>
                <a:gd name="connsiteY2-456" fmla="*/ 0 h 818480"/>
                <a:gd name="connsiteX3-457" fmla="*/ 331766 w 506666"/>
                <a:gd name="connsiteY3-458" fmla="*/ 803061 h 818480"/>
                <a:gd name="connsiteX4-459" fmla="*/ 135576 w 506666"/>
                <a:gd name="connsiteY4-460" fmla="*/ 818480 h 818480"/>
                <a:gd name="connsiteX0-461" fmla="*/ 45472 w 559302"/>
                <a:gd name="connsiteY0-462" fmla="*/ 807500 h 807500"/>
                <a:gd name="connsiteX1-463" fmla="*/ 52636 w 559302"/>
                <a:gd name="connsiteY1-464" fmla="*/ 7896 h 807500"/>
                <a:gd name="connsiteX2-465" fmla="*/ 559302 w 559302"/>
                <a:gd name="connsiteY2-466" fmla="*/ 0 h 807500"/>
                <a:gd name="connsiteX3-467" fmla="*/ 384402 w 559302"/>
                <a:gd name="connsiteY3-468" fmla="*/ 803061 h 807500"/>
                <a:gd name="connsiteX4-469" fmla="*/ 45472 w 559302"/>
                <a:gd name="connsiteY4-470" fmla="*/ 807500 h 807500"/>
                <a:gd name="connsiteX0-471" fmla="*/ 21974 w 535804"/>
                <a:gd name="connsiteY0-472" fmla="*/ 807500 h 807500"/>
                <a:gd name="connsiteX1-473" fmla="*/ 29138 w 535804"/>
                <a:gd name="connsiteY1-474" fmla="*/ 7896 h 807500"/>
                <a:gd name="connsiteX2-475" fmla="*/ 535804 w 535804"/>
                <a:gd name="connsiteY2-476" fmla="*/ 0 h 807500"/>
                <a:gd name="connsiteX3-477" fmla="*/ 360904 w 535804"/>
                <a:gd name="connsiteY3-478" fmla="*/ 803061 h 807500"/>
                <a:gd name="connsiteX4-479" fmla="*/ 21974 w 535804"/>
                <a:gd name="connsiteY4-480" fmla="*/ 807500 h 807500"/>
                <a:gd name="connsiteX0-481" fmla="*/ 128256 w 506666"/>
                <a:gd name="connsiteY0-482" fmla="*/ 829461 h 829461"/>
                <a:gd name="connsiteX1-483" fmla="*/ 0 w 506666"/>
                <a:gd name="connsiteY1-484" fmla="*/ 7896 h 829461"/>
                <a:gd name="connsiteX2-485" fmla="*/ 506666 w 506666"/>
                <a:gd name="connsiteY2-486" fmla="*/ 0 h 829461"/>
                <a:gd name="connsiteX3-487" fmla="*/ 331766 w 506666"/>
                <a:gd name="connsiteY3-488" fmla="*/ 803061 h 829461"/>
                <a:gd name="connsiteX4-489" fmla="*/ 128256 w 506666"/>
                <a:gd name="connsiteY4-490" fmla="*/ 829461 h 829461"/>
                <a:gd name="connsiteX0-491" fmla="*/ 128256 w 506666"/>
                <a:gd name="connsiteY0-492" fmla="*/ 829461 h 829461"/>
                <a:gd name="connsiteX1-493" fmla="*/ 0 w 506666"/>
                <a:gd name="connsiteY1-494" fmla="*/ 7896 h 829461"/>
                <a:gd name="connsiteX2-495" fmla="*/ 506666 w 506666"/>
                <a:gd name="connsiteY2-496" fmla="*/ 0 h 829461"/>
                <a:gd name="connsiteX3-497" fmla="*/ 331766 w 506666"/>
                <a:gd name="connsiteY3-498" fmla="*/ 803061 h 829461"/>
                <a:gd name="connsiteX4-499" fmla="*/ 128256 w 506666"/>
                <a:gd name="connsiteY4-500" fmla="*/ 829461 h 829461"/>
                <a:gd name="connsiteX0-501" fmla="*/ 128256 w 506666"/>
                <a:gd name="connsiteY0-502" fmla="*/ 829461 h 829461"/>
                <a:gd name="connsiteX1-503" fmla="*/ 0 w 506666"/>
                <a:gd name="connsiteY1-504" fmla="*/ 7896 h 829461"/>
                <a:gd name="connsiteX2-505" fmla="*/ 506666 w 506666"/>
                <a:gd name="connsiteY2-506" fmla="*/ 0 h 829461"/>
                <a:gd name="connsiteX3-507" fmla="*/ 331766 w 506666"/>
                <a:gd name="connsiteY3-508" fmla="*/ 803061 h 829461"/>
                <a:gd name="connsiteX4-509" fmla="*/ 128256 w 506666"/>
                <a:gd name="connsiteY4-510" fmla="*/ 829461 h 829461"/>
                <a:gd name="connsiteX0-511" fmla="*/ 128256 w 506666"/>
                <a:gd name="connsiteY0-512" fmla="*/ 829461 h 830473"/>
                <a:gd name="connsiteX1-513" fmla="*/ 0 w 506666"/>
                <a:gd name="connsiteY1-514" fmla="*/ 7896 h 830473"/>
                <a:gd name="connsiteX2-515" fmla="*/ 506666 w 506666"/>
                <a:gd name="connsiteY2-516" fmla="*/ 0 h 830473"/>
                <a:gd name="connsiteX3-517" fmla="*/ 331766 w 506666"/>
                <a:gd name="connsiteY3-518" fmla="*/ 828681 h 830473"/>
                <a:gd name="connsiteX4-519" fmla="*/ 128256 w 506666"/>
                <a:gd name="connsiteY4-520" fmla="*/ 829461 h 830473"/>
                <a:gd name="connsiteX0-521" fmla="*/ 128256 w 506666"/>
                <a:gd name="connsiteY0-522" fmla="*/ 829461 h 830473"/>
                <a:gd name="connsiteX1-523" fmla="*/ 0 w 506666"/>
                <a:gd name="connsiteY1-524" fmla="*/ 7896 h 830473"/>
                <a:gd name="connsiteX2-525" fmla="*/ 506666 w 506666"/>
                <a:gd name="connsiteY2-526" fmla="*/ 0 h 830473"/>
                <a:gd name="connsiteX3-527" fmla="*/ 331766 w 506666"/>
                <a:gd name="connsiteY3-528" fmla="*/ 828681 h 830473"/>
                <a:gd name="connsiteX4-529" fmla="*/ 128256 w 506666"/>
                <a:gd name="connsiteY4-530" fmla="*/ 829461 h 830473"/>
                <a:gd name="connsiteX0-531" fmla="*/ 128256 w 506666"/>
                <a:gd name="connsiteY0-532" fmla="*/ 821565 h 822577"/>
                <a:gd name="connsiteX1-533" fmla="*/ 0 w 506666"/>
                <a:gd name="connsiteY1-534" fmla="*/ 0 h 822577"/>
                <a:gd name="connsiteX2-535" fmla="*/ 506666 w 506666"/>
                <a:gd name="connsiteY2-536" fmla="*/ 255115 h 822577"/>
                <a:gd name="connsiteX3-537" fmla="*/ 331766 w 506666"/>
                <a:gd name="connsiteY3-538" fmla="*/ 820785 h 822577"/>
                <a:gd name="connsiteX4-539" fmla="*/ 128256 w 506666"/>
                <a:gd name="connsiteY4-540" fmla="*/ 821565 h 822577"/>
                <a:gd name="connsiteX0-541" fmla="*/ 128256 w 506666"/>
                <a:gd name="connsiteY0-542" fmla="*/ 821565 h 822577"/>
                <a:gd name="connsiteX1-543" fmla="*/ 0 w 506666"/>
                <a:gd name="connsiteY1-544" fmla="*/ 0 h 822577"/>
                <a:gd name="connsiteX2-545" fmla="*/ 506666 w 506666"/>
                <a:gd name="connsiteY2-546" fmla="*/ 255115 h 822577"/>
                <a:gd name="connsiteX3-547" fmla="*/ 331766 w 506666"/>
                <a:gd name="connsiteY3-548" fmla="*/ 820785 h 822577"/>
                <a:gd name="connsiteX4-549" fmla="*/ 128256 w 506666"/>
                <a:gd name="connsiteY4-550" fmla="*/ 821565 h 822577"/>
                <a:gd name="connsiteX0-551" fmla="*/ 128256 w 506666"/>
                <a:gd name="connsiteY0-552" fmla="*/ 821565 h 822577"/>
                <a:gd name="connsiteX1-553" fmla="*/ 0 w 506666"/>
                <a:gd name="connsiteY1-554" fmla="*/ 0 h 822577"/>
                <a:gd name="connsiteX2-555" fmla="*/ 506666 w 506666"/>
                <a:gd name="connsiteY2-556" fmla="*/ 255115 h 822577"/>
                <a:gd name="connsiteX3-557" fmla="*/ 331766 w 506666"/>
                <a:gd name="connsiteY3-558" fmla="*/ 820785 h 822577"/>
                <a:gd name="connsiteX4-559" fmla="*/ 128256 w 506666"/>
                <a:gd name="connsiteY4-560" fmla="*/ 821565 h 822577"/>
                <a:gd name="connsiteX0-561" fmla="*/ 135770 w 514180"/>
                <a:gd name="connsiteY0-562" fmla="*/ 577341 h 578353"/>
                <a:gd name="connsiteX1-563" fmla="*/ 0 w 514180"/>
                <a:gd name="connsiteY1-564" fmla="*/ 0 h 578353"/>
                <a:gd name="connsiteX2-565" fmla="*/ 514180 w 514180"/>
                <a:gd name="connsiteY2-566" fmla="*/ 10891 h 578353"/>
                <a:gd name="connsiteX3-567" fmla="*/ 339280 w 514180"/>
                <a:gd name="connsiteY3-568" fmla="*/ 576561 h 578353"/>
                <a:gd name="connsiteX4-569" fmla="*/ 135770 w 514180"/>
                <a:gd name="connsiteY4-570" fmla="*/ 577341 h 578353"/>
                <a:gd name="connsiteX0-571" fmla="*/ 135770 w 514180"/>
                <a:gd name="connsiteY0-572" fmla="*/ 577341 h 578353"/>
                <a:gd name="connsiteX1-573" fmla="*/ 0 w 514180"/>
                <a:gd name="connsiteY1-574" fmla="*/ 0 h 578353"/>
                <a:gd name="connsiteX2-575" fmla="*/ 514180 w 514180"/>
                <a:gd name="connsiteY2-576" fmla="*/ 10891 h 578353"/>
                <a:gd name="connsiteX3-577" fmla="*/ 339280 w 514180"/>
                <a:gd name="connsiteY3-578" fmla="*/ 576561 h 578353"/>
                <a:gd name="connsiteX4-579" fmla="*/ 135770 w 514180"/>
                <a:gd name="connsiteY4-580" fmla="*/ 577341 h 578353"/>
                <a:gd name="connsiteX0-581" fmla="*/ 135770 w 514180"/>
                <a:gd name="connsiteY0-582" fmla="*/ 577341 h 578353"/>
                <a:gd name="connsiteX1-583" fmla="*/ 0 w 514180"/>
                <a:gd name="connsiteY1-584" fmla="*/ 0 h 578353"/>
                <a:gd name="connsiteX2-585" fmla="*/ 514180 w 514180"/>
                <a:gd name="connsiteY2-586" fmla="*/ 10891 h 578353"/>
                <a:gd name="connsiteX3-587" fmla="*/ 339280 w 514180"/>
                <a:gd name="connsiteY3-588" fmla="*/ 576561 h 578353"/>
                <a:gd name="connsiteX4-589" fmla="*/ 135770 w 514180"/>
                <a:gd name="connsiteY4-590" fmla="*/ 577341 h 57835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21075" y="4919663"/>
              <a:ext cx="593725" cy="12160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621064"/>
                <a:gd name="connsiteY0-372" fmla="*/ 973305 h 973305"/>
                <a:gd name="connsiteX1-373" fmla="*/ 0 w 621064"/>
                <a:gd name="connsiteY1-374" fmla="*/ 11688 h 973305"/>
                <a:gd name="connsiteX2-375" fmla="*/ 499610 w 621064"/>
                <a:gd name="connsiteY2-376" fmla="*/ 0 h 973305"/>
                <a:gd name="connsiteX3-377" fmla="*/ 558839 w 621064"/>
                <a:gd name="connsiteY3-378" fmla="*/ 754682 h 973305"/>
                <a:gd name="connsiteX4-379" fmla="*/ 197928 w 621064"/>
                <a:gd name="connsiteY4-380" fmla="*/ 973305 h 973305"/>
                <a:gd name="connsiteX0-381" fmla="*/ 197928 w 558839"/>
                <a:gd name="connsiteY0-382" fmla="*/ 973305 h 973305"/>
                <a:gd name="connsiteX1-383" fmla="*/ 0 w 558839"/>
                <a:gd name="connsiteY1-384" fmla="*/ 11688 h 973305"/>
                <a:gd name="connsiteX2-385" fmla="*/ 499610 w 558839"/>
                <a:gd name="connsiteY2-386" fmla="*/ 0 h 973305"/>
                <a:gd name="connsiteX3-387" fmla="*/ 558839 w 558839"/>
                <a:gd name="connsiteY3-388" fmla="*/ 754682 h 973305"/>
                <a:gd name="connsiteX4-389" fmla="*/ 197928 w 558839"/>
                <a:gd name="connsiteY4-390" fmla="*/ 973305 h 973305"/>
                <a:gd name="connsiteX0-391" fmla="*/ 197928 w 558839"/>
                <a:gd name="connsiteY0-392" fmla="*/ 973305 h 973305"/>
                <a:gd name="connsiteX1-393" fmla="*/ 0 w 558839"/>
                <a:gd name="connsiteY1-394" fmla="*/ 11688 h 973305"/>
                <a:gd name="connsiteX2-395" fmla="*/ 499610 w 558839"/>
                <a:gd name="connsiteY2-396" fmla="*/ 0 h 973305"/>
                <a:gd name="connsiteX3-397" fmla="*/ 558839 w 558839"/>
                <a:gd name="connsiteY3-398" fmla="*/ 754682 h 973305"/>
                <a:gd name="connsiteX4-399" fmla="*/ 197928 w 558839"/>
                <a:gd name="connsiteY4-400" fmla="*/ 973305 h 973305"/>
                <a:gd name="connsiteX0-401" fmla="*/ 370213 w 558839"/>
                <a:gd name="connsiteY0-402" fmla="*/ 796102 h 796102"/>
                <a:gd name="connsiteX1-403" fmla="*/ 0 w 558839"/>
                <a:gd name="connsiteY1-404" fmla="*/ 11688 h 796102"/>
                <a:gd name="connsiteX2-405" fmla="*/ 499610 w 558839"/>
                <a:gd name="connsiteY2-406" fmla="*/ 0 h 796102"/>
                <a:gd name="connsiteX3-407" fmla="*/ 558839 w 558839"/>
                <a:gd name="connsiteY3-408" fmla="*/ 754682 h 796102"/>
                <a:gd name="connsiteX4-409" fmla="*/ 370213 w 558839"/>
                <a:gd name="connsiteY4-410" fmla="*/ 796102 h 796102"/>
                <a:gd name="connsiteX0-411" fmla="*/ 370213 w 558839"/>
                <a:gd name="connsiteY0-412" fmla="*/ 796102 h 796102"/>
                <a:gd name="connsiteX1-413" fmla="*/ 0 w 558839"/>
                <a:gd name="connsiteY1-414" fmla="*/ 11688 h 796102"/>
                <a:gd name="connsiteX2-415" fmla="*/ 499610 w 558839"/>
                <a:gd name="connsiteY2-416" fmla="*/ 0 h 796102"/>
                <a:gd name="connsiteX3-417" fmla="*/ 558839 w 558839"/>
                <a:gd name="connsiteY3-418" fmla="*/ 754682 h 796102"/>
                <a:gd name="connsiteX4-419" fmla="*/ 370213 w 558839"/>
                <a:gd name="connsiteY4-420" fmla="*/ 796102 h 796102"/>
                <a:gd name="connsiteX0-421" fmla="*/ 370213 w 558839"/>
                <a:gd name="connsiteY0-422" fmla="*/ 796102 h 796102"/>
                <a:gd name="connsiteX1-423" fmla="*/ 0 w 558839"/>
                <a:gd name="connsiteY1-424" fmla="*/ 11688 h 796102"/>
                <a:gd name="connsiteX2-425" fmla="*/ 499610 w 558839"/>
                <a:gd name="connsiteY2-426" fmla="*/ 0 h 796102"/>
                <a:gd name="connsiteX3-427" fmla="*/ 558839 w 558839"/>
                <a:gd name="connsiteY3-428" fmla="*/ 754682 h 796102"/>
                <a:gd name="connsiteX4-429" fmla="*/ 370213 w 558839"/>
                <a:gd name="connsiteY4-430" fmla="*/ 796102 h 796102"/>
                <a:gd name="connsiteX0-431" fmla="*/ 370213 w 558839"/>
                <a:gd name="connsiteY0-432" fmla="*/ 1315828 h 1315828"/>
                <a:gd name="connsiteX1-433" fmla="*/ 0 w 558839"/>
                <a:gd name="connsiteY1-434" fmla="*/ 531414 h 1315828"/>
                <a:gd name="connsiteX2-435" fmla="*/ 506930 w 558839"/>
                <a:gd name="connsiteY2-436" fmla="*/ 0 h 1315828"/>
                <a:gd name="connsiteX3-437" fmla="*/ 558839 w 558839"/>
                <a:gd name="connsiteY3-438" fmla="*/ 1274408 h 1315828"/>
                <a:gd name="connsiteX4-439" fmla="*/ 370213 w 558839"/>
                <a:gd name="connsiteY4-440" fmla="*/ 1315828 h 1315828"/>
                <a:gd name="connsiteX0-441" fmla="*/ 384853 w 573479"/>
                <a:gd name="connsiteY0-442" fmla="*/ 1326654 h 1326654"/>
                <a:gd name="connsiteX1-443" fmla="*/ 0 w 573479"/>
                <a:gd name="connsiteY1-444" fmla="*/ 554 h 1326654"/>
                <a:gd name="connsiteX2-445" fmla="*/ 521570 w 573479"/>
                <a:gd name="connsiteY2-446" fmla="*/ 10826 h 1326654"/>
                <a:gd name="connsiteX3-447" fmla="*/ 573479 w 573479"/>
                <a:gd name="connsiteY3-448" fmla="*/ 1285234 h 1326654"/>
                <a:gd name="connsiteX4-449" fmla="*/ 384853 w 573479"/>
                <a:gd name="connsiteY4-450" fmla="*/ 1326654 h 1326654"/>
                <a:gd name="connsiteX0-451" fmla="*/ 384853 w 573479"/>
                <a:gd name="connsiteY0-452" fmla="*/ 1326654 h 1326654"/>
                <a:gd name="connsiteX1-453" fmla="*/ 0 w 573479"/>
                <a:gd name="connsiteY1-454" fmla="*/ 554 h 1326654"/>
                <a:gd name="connsiteX2-455" fmla="*/ 521570 w 573479"/>
                <a:gd name="connsiteY2-456" fmla="*/ 10826 h 1326654"/>
                <a:gd name="connsiteX3-457" fmla="*/ 573479 w 573479"/>
                <a:gd name="connsiteY3-458" fmla="*/ 1285234 h 1326654"/>
                <a:gd name="connsiteX4-459" fmla="*/ 384853 w 573479"/>
                <a:gd name="connsiteY4-460" fmla="*/ 1326654 h 1326654"/>
                <a:gd name="connsiteX0-461" fmla="*/ 384853 w 573479"/>
                <a:gd name="connsiteY0-462" fmla="*/ 1326654 h 1326654"/>
                <a:gd name="connsiteX1-463" fmla="*/ 0 w 573479"/>
                <a:gd name="connsiteY1-464" fmla="*/ 554 h 1326654"/>
                <a:gd name="connsiteX2-465" fmla="*/ 521570 w 573479"/>
                <a:gd name="connsiteY2-466" fmla="*/ 10826 h 1326654"/>
                <a:gd name="connsiteX3-467" fmla="*/ 573479 w 573479"/>
                <a:gd name="connsiteY3-468" fmla="*/ 1285234 h 1326654"/>
                <a:gd name="connsiteX4-469" fmla="*/ 384853 w 573479"/>
                <a:gd name="connsiteY4-470" fmla="*/ 1326654 h 1326654"/>
                <a:gd name="connsiteX0-471" fmla="*/ 384853 w 573479"/>
                <a:gd name="connsiteY0-472" fmla="*/ 1326654 h 1326654"/>
                <a:gd name="connsiteX1-473" fmla="*/ 0 w 573479"/>
                <a:gd name="connsiteY1-474" fmla="*/ 554 h 1326654"/>
                <a:gd name="connsiteX2-475" fmla="*/ 521570 w 573479"/>
                <a:gd name="connsiteY2-476" fmla="*/ 10826 h 1326654"/>
                <a:gd name="connsiteX3-477" fmla="*/ 573479 w 573479"/>
                <a:gd name="connsiteY3-478" fmla="*/ 1285234 h 1326654"/>
                <a:gd name="connsiteX4-479" fmla="*/ 384853 w 573479"/>
                <a:gd name="connsiteY4-480" fmla="*/ 1326654 h 1326654"/>
                <a:gd name="connsiteX0-481" fmla="*/ 384853 w 573479"/>
                <a:gd name="connsiteY0-482" fmla="*/ 1326654 h 1326654"/>
                <a:gd name="connsiteX1-483" fmla="*/ 0 w 573479"/>
                <a:gd name="connsiteY1-484" fmla="*/ 554 h 1326654"/>
                <a:gd name="connsiteX2-485" fmla="*/ 521570 w 573479"/>
                <a:gd name="connsiteY2-486" fmla="*/ 10826 h 1326654"/>
                <a:gd name="connsiteX3-487" fmla="*/ 573479 w 573479"/>
                <a:gd name="connsiteY3-488" fmla="*/ 1285234 h 1326654"/>
                <a:gd name="connsiteX4-489" fmla="*/ 384853 w 573479"/>
                <a:gd name="connsiteY4-490" fmla="*/ 1326654 h 1326654"/>
                <a:gd name="connsiteX0-491" fmla="*/ 384853 w 573479"/>
                <a:gd name="connsiteY0-492" fmla="*/ 1326654 h 1326654"/>
                <a:gd name="connsiteX1-493" fmla="*/ 0 w 573479"/>
                <a:gd name="connsiteY1-494" fmla="*/ 554 h 1326654"/>
                <a:gd name="connsiteX2-495" fmla="*/ 521570 w 573479"/>
                <a:gd name="connsiteY2-496" fmla="*/ 10826 h 1326654"/>
                <a:gd name="connsiteX3-497" fmla="*/ 573479 w 573479"/>
                <a:gd name="connsiteY3-498" fmla="*/ 1285234 h 1326654"/>
                <a:gd name="connsiteX4-499" fmla="*/ 384853 w 573479"/>
                <a:gd name="connsiteY4-500" fmla="*/ 1326654 h 1326654"/>
                <a:gd name="connsiteX0-501" fmla="*/ 384853 w 588119"/>
                <a:gd name="connsiteY0-502" fmla="*/ 1326654 h 1326654"/>
                <a:gd name="connsiteX1-503" fmla="*/ 0 w 588119"/>
                <a:gd name="connsiteY1-504" fmla="*/ 554 h 1326654"/>
                <a:gd name="connsiteX2-505" fmla="*/ 521570 w 588119"/>
                <a:gd name="connsiteY2-506" fmla="*/ 10826 h 1326654"/>
                <a:gd name="connsiteX3-507" fmla="*/ 588119 w 588119"/>
                <a:gd name="connsiteY3-508" fmla="*/ 1321835 h 1326654"/>
                <a:gd name="connsiteX4-509" fmla="*/ 384853 w 588119"/>
                <a:gd name="connsiteY4-510" fmla="*/ 1326654 h 1326654"/>
                <a:gd name="connsiteX0-511" fmla="*/ 384853 w 588119"/>
                <a:gd name="connsiteY0-512" fmla="*/ 1326654 h 1326654"/>
                <a:gd name="connsiteX1-513" fmla="*/ 0 w 588119"/>
                <a:gd name="connsiteY1-514" fmla="*/ 554 h 1326654"/>
                <a:gd name="connsiteX2-515" fmla="*/ 521570 w 588119"/>
                <a:gd name="connsiteY2-516" fmla="*/ 10826 h 1326654"/>
                <a:gd name="connsiteX3-517" fmla="*/ 588119 w 588119"/>
                <a:gd name="connsiteY3-518" fmla="*/ 1321835 h 1326654"/>
                <a:gd name="connsiteX4-519" fmla="*/ 384853 w 588119"/>
                <a:gd name="connsiteY4-520" fmla="*/ 1326654 h 1326654"/>
                <a:gd name="connsiteX0-521" fmla="*/ 384853 w 588119"/>
                <a:gd name="connsiteY0-522" fmla="*/ 1326148 h 1326148"/>
                <a:gd name="connsiteX1-523" fmla="*/ 0 w 588119"/>
                <a:gd name="connsiteY1-524" fmla="*/ 48 h 1326148"/>
                <a:gd name="connsiteX2-525" fmla="*/ 521570 w 588119"/>
                <a:gd name="connsiteY2-526" fmla="*/ 228243 h 1326148"/>
                <a:gd name="connsiteX3-527" fmla="*/ 588119 w 588119"/>
                <a:gd name="connsiteY3-528" fmla="*/ 1321329 h 1326148"/>
                <a:gd name="connsiteX4-529" fmla="*/ 384853 w 588119"/>
                <a:gd name="connsiteY4-530" fmla="*/ 1326148 h 1326148"/>
                <a:gd name="connsiteX0-531" fmla="*/ 384853 w 588119"/>
                <a:gd name="connsiteY0-532" fmla="*/ 1326148 h 1326148"/>
                <a:gd name="connsiteX1-533" fmla="*/ 0 w 588119"/>
                <a:gd name="connsiteY1-534" fmla="*/ 48 h 1326148"/>
                <a:gd name="connsiteX2-535" fmla="*/ 521570 w 588119"/>
                <a:gd name="connsiteY2-536" fmla="*/ 228243 h 1326148"/>
                <a:gd name="connsiteX3-537" fmla="*/ 588119 w 588119"/>
                <a:gd name="connsiteY3-538" fmla="*/ 1321329 h 1326148"/>
                <a:gd name="connsiteX4-539" fmla="*/ 384853 w 588119"/>
                <a:gd name="connsiteY4-540" fmla="*/ 1326148 h 1326148"/>
                <a:gd name="connsiteX0-541" fmla="*/ 384853 w 588119"/>
                <a:gd name="connsiteY0-542" fmla="*/ 1326148 h 1326148"/>
                <a:gd name="connsiteX1-543" fmla="*/ 0 w 588119"/>
                <a:gd name="connsiteY1-544" fmla="*/ 48 h 1326148"/>
                <a:gd name="connsiteX2-545" fmla="*/ 521570 w 588119"/>
                <a:gd name="connsiteY2-546" fmla="*/ 228243 h 1326148"/>
                <a:gd name="connsiteX3-547" fmla="*/ 588119 w 588119"/>
                <a:gd name="connsiteY3-548" fmla="*/ 1321329 h 1326148"/>
                <a:gd name="connsiteX4-549" fmla="*/ 384853 w 588119"/>
                <a:gd name="connsiteY4-550" fmla="*/ 1326148 h 1326148"/>
                <a:gd name="connsiteX0-551" fmla="*/ 366066 w 569332"/>
                <a:gd name="connsiteY0-552" fmla="*/ 1097905 h 1097905"/>
                <a:gd name="connsiteX1-553" fmla="*/ 0 w 569332"/>
                <a:gd name="connsiteY1-554" fmla="*/ 4757 h 1097905"/>
                <a:gd name="connsiteX2-555" fmla="*/ 502783 w 569332"/>
                <a:gd name="connsiteY2-556" fmla="*/ 0 h 1097905"/>
                <a:gd name="connsiteX3-557" fmla="*/ 569332 w 569332"/>
                <a:gd name="connsiteY3-558" fmla="*/ 1093086 h 1097905"/>
                <a:gd name="connsiteX4-559" fmla="*/ 366066 w 569332"/>
                <a:gd name="connsiteY4-560" fmla="*/ 1097905 h 1097905"/>
                <a:gd name="connsiteX0-561" fmla="*/ 366066 w 569332"/>
                <a:gd name="connsiteY0-562" fmla="*/ 1097905 h 1097905"/>
                <a:gd name="connsiteX1-563" fmla="*/ 0 w 569332"/>
                <a:gd name="connsiteY1-564" fmla="*/ 4757 h 1097905"/>
                <a:gd name="connsiteX2-565" fmla="*/ 502783 w 569332"/>
                <a:gd name="connsiteY2-566" fmla="*/ 0 h 1097905"/>
                <a:gd name="connsiteX3-567" fmla="*/ 569332 w 569332"/>
                <a:gd name="connsiteY3-568" fmla="*/ 1093086 h 1097905"/>
                <a:gd name="connsiteX4-569" fmla="*/ 366066 w 569332"/>
                <a:gd name="connsiteY4-570" fmla="*/ 1097905 h 1097905"/>
                <a:gd name="connsiteX0-571" fmla="*/ 366066 w 569332"/>
                <a:gd name="connsiteY0-572" fmla="*/ 1097905 h 1097905"/>
                <a:gd name="connsiteX1-573" fmla="*/ 0 w 569332"/>
                <a:gd name="connsiteY1-574" fmla="*/ 4757 h 1097905"/>
                <a:gd name="connsiteX2-575" fmla="*/ 502783 w 569332"/>
                <a:gd name="connsiteY2-576" fmla="*/ 0 h 1097905"/>
                <a:gd name="connsiteX3-577" fmla="*/ 569332 w 569332"/>
                <a:gd name="connsiteY3-578" fmla="*/ 1093086 h 1097905"/>
                <a:gd name="connsiteX4-579" fmla="*/ 366066 w 569332"/>
                <a:gd name="connsiteY4-580" fmla="*/ 1097905 h 1097905"/>
                <a:gd name="connsiteX0-581" fmla="*/ 366066 w 594113"/>
                <a:gd name="connsiteY0-582" fmla="*/ 1097905 h 1179971"/>
                <a:gd name="connsiteX1-583" fmla="*/ 0 w 594113"/>
                <a:gd name="connsiteY1-584" fmla="*/ 4757 h 1179971"/>
                <a:gd name="connsiteX2-585" fmla="*/ 502783 w 594113"/>
                <a:gd name="connsiteY2-586" fmla="*/ 0 h 1179971"/>
                <a:gd name="connsiteX3-587" fmla="*/ 594113 w 594113"/>
                <a:gd name="connsiteY3-588" fmla="*/ 1179818 h 1179971"/>
                <a:gd name="connsiteX4-589" fmla="*/ 366066 w 594113"/>
                <a:gd name="connsiteY4-590" fmla="*/ 1097905 h 1179971"/>
                <a:gd name="connsiteX0-591" fmla="*/ 403236 w 594113"/>
                <a:gd name="connsiteY0-592" fmla="*/ 1215612 h 1215612"/>
                <a:gd name="connsiteX1-593" fmla="*/ 0 w 594113"/>
                <a:gd name="connsiteY1-594" fmla="*/ 4757 h 1215612"/>
                <a:gd name="connsiteX2-595" fmla="*/ 502783 w 594113"/>
                <a:gd name="connsiteY2-596" fmla="*/ 0 h 1215612"/>
                <a:gd name="connsiteX3-597" fmla="*/ 594113 w 594113"/>
                <a:gd name="connsiteY3-598" fmla="*/ 1179818 h 1215612"/>
                <a:gd name="connsiteX4-599" fmla="*/ 403236 w 594113"/>
                <a:gd name="connsiteY4-600" fmla="*/ 1215612 h 121561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18" name="Group 17"/>
            <p:cNvGrpSpPr/>
            <p:nvPr/>
          </p:nvGrpSpPr>
          <p:grpSpPr>
            <a:xfrm>
              <a:off x="1757805" y="2331054"/>
              <a:ext cx="1079500" cy="2674334"/>
              <a:chOff x="1757805" y="2331054"/>
              <a:chExt cx="1079500" cy="2674334"/>
            </a:xfrm>
          </p:grpSpPr>
          <p:sp>
            <p:nvSpPr>
              <p:cNvPr id="108" name="Rectangle 107"/>
              <p:cNvSpPr/>
              <p:nvPr/>
            </p:nvSpPr>
            <p:spPr bwMode="auto">
              <a:xfrm rot="10800000">
                <a:off x="1789113" y="2580876"/>
                <a:ext cx="1027112" cy="1083074"/>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7266" name="Group 104"/>
              <p:cNvGrpSpPr/>
              <p:nvPr/>
            </p:nvGrpSpPr>
            <p:grpSpPr bwMode="auto">
              <a:xfrm>
                <a:off x="1782739" y="4616206"/>
                <a:ext cx="1034710" cy="389182"/>
                <a:chOff x="4128636" y="3606589"/>
                <a:chExt cx="568145" cy="338667"/>
              </a:xfrm>
            </p:grpSpPr>
            <p:sp>
              <p:nvSpPr>
                <p:cNvPr id="119" name="Oval 118"/>
                <p:cNvSpPr/>
                <p:nvPr/>
              </p:nvSpPr>
              <p:spPr>
                <a:xfrm>
                  <a:off x="4128649" y="3720080"/>
                  <a:ext cx="568332" cy="22517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0" name="Rectangle 119"/>
                <p:cNvSpPr/>
                <p:nvPr/>
              </p:nvSpPr>
              <p:spPr>
                <a:xfrm>
                  <a:off x="4128649" y="3720080"/>
                  <a:ext cx="568332" cy="11189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1" name="Oval 120"/>
                <p:cNvSpPr/>
                <p:nvPr/>
              </p:nvSpPr>
              <p:spPr>
                <a:xfrm>
                  <a:off x="4128649" y="3606801"/>
                  <a:ext cx="568332" cy="225176"/>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2" name="Straight Connector 121"/>
                <p:cNvCxnSpPr/>
                <p:nvPr/>
              </p:nvCxnSpPr>
              <p:spPr>
                <a:xfrm>
                  <a:off x="4696981"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3" name="Straight Connector 122"/>
                <p:cNvCxnSpPr/>
                <p:nvPr/>
              </p:nvCxnSpPr>
              <p:spPr>
                <a:xfrm>
                  <a:off x="4128649"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47" name="Rectangle 146"/>
              <p:cNvSpPr/>
              <p:nvPr/>
            </p:nvSpPr>
            <p:spPr bwMode="auto">
              <a:xfrm>
                <a:off x="1801813" y="3602038"/>
                <a:ext cx="1027112" cy="1163637"/>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3" name="Straight Connector 112"/>
              <p:cNvCxnSpPr/>
              <p:nvPr/>
            </p:nvCxnSpPr>
            <p:spPr bwMode="auto">
              <a:xfrm>
                <a:off x="1781175" y="2805113"/>
                <a:ext cx="20638" cy="202088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12" name="Straight Connector 111"/>
              <p:cNvCxnSpPr/>
              <p:nvPr/>
            </p:nvCxnSpPr>
            <p:spPr bwMode="auto">
              <a:xfrm flipH="1">
                <a:off x="2817813" y="2805113"/>
                <a:ext cx="4762" cy="19764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72" name="Group 9"/>
              <p:cNvGrpSpPr/>
              <p:nvPr/>
            </p:nvGrpSpPr>
            <p:grpSpPr bwMode="auto">
              <a:xfrm>
                <a:off x="1757805" y="2331054"/>
                <a:ext cx="1079500" cy="430213"/>
                <a:chOff x="2183302" y="1574638"/>
                <a:chExt cx="1200154" cy="430181"/>
              </a:xfrm>
            </p:grpSpPr>
            <p:sp>
              <p:nvSpPr>
                <p:cNvPr id="369" name="Oval 368"/>
                <p:cNvSpPr/>
                <p:nvPr/>
              </p:nvSpPr>
              <p:spPr bwMode="auto">
                <a:xfrm flipV="1">
                  <a:off x="2186832" y="1690517"/>
                  <a:ext cx="1194859" cy="314302"/>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0" name="Rectangle 369"/>
                <p:cNvSpPr/>
                <p:nvPr/>
              </p:nvSpPr>
              <p:spPr bwMode="auto">
                <a:xfrm>
                  <a:off x="2183302" y="1734964"/>
                  <a:ext cx="1198389" cy="112704"/>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1" name="Oval 370"/>
                <p:cNvSpPr/>
                <p:nvPr/>
              </p:nvSpPr>
              <p:spPr bwMode="auto">
                <a:xfrm flipV="1">
                  <a:off x="2183302" y="1574638"/>
                  <a:ext cx="1196624" cy="314302"/>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2" name="Freeform 371"/>
                <p:cNvSpPr/>
                <p:nvPr/>
              </p:nvSpPr>
              <p:spPr bwMode="auto">
                <a:xfrm>
                  <a:off x="2490400" y="1671469"/>
                  <a:ext cx="582428" cy="15715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3" name="Freeform 372"/>
                <p:cNvSpPr/>
                <p:nvPr/>
              </p:nvSpPr>
              <p:spPr bwMode="auto">
                <a:xfrm>
                  <a:off x="2430393" y="1630197"/>
                  <a:ext cx="702443" cy="10952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4" name="Freeform 373"/>
                <p:cNvSpPr/>
                <p:nvPr/>
              </p:nvSpPr>
              <p:spPr bwMode="auto">
                <a:xfrm>
                  <a:off x="2892805" y="1723852"/>
                  <a:ext cx="257680" cy="952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Freeform 374"/>
                <p:cNvSpPr/>
                <p:nvPr/>
              </p:nvSpPr>
              <p:spPr bwMode="auto">
                <a:xfrm>
                  <a:off x="2418037" y="1725440"/>
                  <a:ext cx="254150" cy="9524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6" name="Straight Connector 375"/>
                <p:cNvCxnSpPr>
                  <a:endCxn id="371" idx="2"/>
                </p:cNvCxnSpPr>
                <p:nvPr/>
              </p:nvCxnSpPr>
              <p:spPr bwMode="auto">
                <a:xfrm flipH="1" flipV="1">
                  <a:off x="2183302" y="1731787"/>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7" name="Straight Connector 376"/>
                <p:cNvCxnSpPr/>
                <p:nvPr/>
              </p:nvCxnSpPr>
              <p:spPr bwMode="auto">
                <a:xfrm flipH="1" flipV="1">
                  <a:off x="3379926" y="1728615"/>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9" name="Group 18"/>
            <p:cNvGrpSpPr/>
            <p:nvPr/>
          </p:nvGrpSpPr>
          <p:grpSpPr>
            <a:xfrm>
              <a:off x="3500438" y="3174091"/>
              <a:ext cx="522287" cy="1831297"/>
              <a:chOff x="3500438" y="3174091"/>
              <a:chExt cx="522287" cy="1831297"/>
            </a:xfrm>
          </p:grpSpPr>
          <p:sp>
            <p:nvSpPr>
              <p:cNvPr id="171" name="Rectangle 170"/>
              <p:cNvSpPr/>
              <p:nvPr/>
            </p:nvSpPr>
            <p:spPr bwMode="auto">
              <a:xfrm rot="10800000">
                <a:off x="3507320" y="3287221"/>
                <a:ext cx="498349" cy="306623"/>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0" name="Straight Connector 89"/>
              <p:cNvCxnSpPr/>
              <p:nvPr/>
            </p:nvCxnSpPr>
            <p:spPr bwMode="auto">
              <a:xfrm flipH="1">
                <a:off x="4019550" y="3321180"/>
                <a:ext cx="1059" cy="153657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pic>
            <p:nvPicPr>
              <p:cNvPr id="47247" name="Picture 86" descr="router_top.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p:spPr>
          </p:pic>
          <p:grpSp>
            <p:nvGrpSpPr>
              <p:cNvPr id="47249" name="Group 82"/>
              <p:cNvGrpSpPr/>
              <p:nvPr/>
            </p:nvGrpSpPr>
            <p:grpSpPr bwMode="auto">
              <a:xfrm>
                <a:off x="3511442" y="4783543"/>
                <a:ext cx="507858" cy="221845"/>
                <a:chOff x="4128636" y="3606589"/>
                <a:chExt cx="568145" cy="338667"/>
              </a:xfrm>
            </p:grpSpPr>
            <p:sp>
              <p:nvSpPr>
                <p:cNvPr id="97" name="Oval 96"/>
                <p:cNvSpPr/>
                <p:nvPr/>
              </p:nvSpPr>
              <p:spPr>
                <a:xfrm>
                  <a:off x="4128757" y="3719873"/>
                  <a:ext cx="568304" cy="225383"/>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Rectangle 97"/>
                <p:cNvSpPr/>
                <p:nvPr/>
              </p:nvSpPr>
              <p:spPr>
                <a:xfrm>
                  <a:off x="4128757" y="3719873"/>
                  <a:ext cx="568304" cy="111479"/>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9" name="Oval 98"/>
                <p:cNvSpPr/>
                <p:nvPr/>
              </p:nvSpPr>
              <p:spPr>
                <a:xfrm>
                  <a:off x="4128757" y="3605971"/>
                  <a:ext cx="568304" cy="22538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0" name="Straight Connector 99"/>
                <p:cNvCxnSpPr/>
                <p:nvPr/>
              </p:nvCxnSpPr>
              <p:spPr>
                <a:xfrm>
                  <a:off x="4697061" y="3719873"/>
                  <a:ext cx="0" cy="11147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a:xfrm>
                  <a:off x="4128757" y="3719873"/>
                  <a:ext cx="0" cy="11147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55" name="Rectangle 154"/>
              <p:cNvSpPr/>
              <p:nvPr/>
            </p:nvSpPr>
            <p:spPr bwMode="auto">
              <a:xfrm>
                <a:off x="3516313" y="3697288"/>
                <a:ext cx="498475" cy="1163637"/>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4" name="Straight Connector 173"/>
              <p:cNvCxnSpPr>
                <a:stCxn id="381" idx="2"/>
              </p:cNvCxnSpPr>
              <p:nvPr/>
            </p:nvCxnSpPr>
            <p:spPr bwMode="auto">
              <a:xfrm flipH="1">
                <a:off x="3506788" y="3262991"/>
                <a:ext cx="4762" cy="168842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33" name="Group 377"/>
              <p:cNvGrpSpPr/>
              <p:nvPr/>
            </p:nvGrpSpPr>
            <p:grpSpPr bwMode="auto">
              <a:xfrm>
                <a:off x="3511057" y="3174091"/>
                <a:ext cx="504096" cy="242719"/>
                <a:chOff x="2183302" y="1574638"/>
                <a:chExt cx="1200154" cy="430218"/>
              </a:xfrm>
            </p:grpSpPr>
            <p:sp>
              <p:nvSpPr>
                <p:cNvPr id="379" name="Oval 378"/>
                <p:cNvSpPr/>
                <p:nvPr/>
              </p:nvSpPr>
              <p:spPr bwMode="auto">
                <a:xfrm flipV="1">
                  <a:off x="2188256" y="1690004"/>
                  <a:ext cx="1194331" cy="315149"/>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0" name="Rectangle 379"/>
                <p:cNvSpPr/>
                <p:nvPr/>
              </p:nvSpPr>
              <p:spPr bwMode="auto">
                <a:xfrm>
                  <a:off x="2184476" y="1735026"/>
                  <a:ext cx="1198111" cy="112553"/>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1" name="Oval 380"/>
                <p:cNvSpPr/>
                <p:nvPr/>
              </p:nvSpPr>
              <p:spPr bwMode="auto">
                <a:xfrm flipV="1">
                  <a:off x="2184476" y="1574638"/>
                  <a:ext cx="1194331" cy="315149"/>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2" name="Freeform 381"/>
                <p:cNvSpPr/>
                <p:nvPr/>
              </p:nvSpPr>
              <p:spPr bwMode="auto">
                <a:xfrm>
                  <a:off x="2490619" y="1670308"/>
                  <a:ext cx="582047" cy="15757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3" name="Freeform 382"/>
                <p:cNvSpPr/>
                <p:nvPr/>
              </p:nvSpPr>
              <p:spPr bwMode="auto">
                <a:xfrm>
                  <a:off x="2430146" y="1630915"/>
                  <a:ext cx="702992" cy="10973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4" name="Freeform 383"/>
                <p:cNvSpPr/>
                <p:nvPr/>
              </p:nvSpPr>
              <p:spPr bwMode="auto">
                <a:xfrm>
                  <a:off x="2891248" y="1723770"/>
                  <a:ext cx="260786" cy="9567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Freeform 384"/>
                <p:cNvSpPr/>
                <p:nvPr/>
              </p:nvSpPr>
              <p:spPr bwMode="auto">
                <a:xfrm>
                  <a:off x="2418806" y="1726585"/>
                  <a:ext cx="253230" cy="92856"/>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6" name="Straight Connector 385"/>
                <p:cNvCxnSpPr>
                  <a:endCxn id="381" idx="2"/>
                </p:cNvCxnSpPr>
                <p:nvPr/>
              </p:nvCxnSpPr>
              <p:spPr bwMode="auto">
                <a:xfrm flipH="1" flipV="1">
                  <a:off x="2184476" y="1732213"/>
                  <a:ext cx="3781" cy="12099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7" name="Straight Connector 386"/>
                <p:cNvCxnSpPr/>
                <p:nvPr/>
              </p:nvCxnSpPr>
              <p:spPr bwMode="auto">
                <a:xfrm flipH="1" flipV="1">
                  <a:off x="3378806" y="1729398"/>
                  <a:ext cx="3781" cy="120996"/>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0" name="Group 19"/>
            <p:cNvGrpSpPr/>
            <p:nvPr/>
          </p:nvGrpSpPr>
          <p:grpSpPr>
            <a:xfrm>
              <a:off x="4299212" y="2486508"/>
              <a:ext cx="528376" cy="2517292"/>
              <a:chOff x="4299212" y="2486508"/>
              <a:chExt cx="528376" cy="2517292"/>
            </a:xfrm>
          </p:grpSpPr>
          <p:sp>
            <p:nvSpPr>
              <p:cNvPr id="439" name="Rectangle 438"/>
              <p:cNvSpPr/>
              <p:nvPr/>
            </p:nvSpPr>
            <p:spPr bwMode="auto">
              <a:xfrm rot="10800000">
                <a:off x="4315358" y="2675960"/>
                <a:ext cx="498350" cy="91657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0" name="Straight Connector 439"/>
              <p:cNvCxnSpPr/>
              <p:nvPr/>
            </p:nvCxnSpPr>
            <p:spPr bwMode="auto">
              <a:xfrm>
                <a:off x="4822015" y="2642002"/>
                <a:ext cx="5573" cy="2214161"/>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18" name="Group 442"/>
              <p:cNvGrpSpPr/>
              <p:nvPr/>
            </p:nvGrpSpPr>
            <p:grpSpPr bwMode="auto">
              <a:xfrm>
                <a:off x="4319479" y="4781999"/>
                <a:ext cx="507859" cy="221801"/>
                <a:chOff x="4128636" y="3606589"/>
                <a:chExt cx="568145" cy="338667"/>
              </a:xfrm>
            </p:grpSpPr>
            <p:sp>
              <p:nvSpPr>
                <p:cNvPr id="452" name="Oval 451"/>
                <p:cNvSpPr/>
                <p:nvPr/>
              </p:nvSpPr>
              <p:spPr>
                <a:xfrm>
                  <a:off x="4128758" y="3719830"/>
                  <a:ext cx="568303" cy="22542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3" name="Rectangle 452"/>
                <p:cNvSpPr/>
                <p:nvPr/>
              </p:nvSpPr>
              <p:spPr>
                <a:xfrm>
                  <a:off x="4128758" y="3719830"/>
                  <a:ext cx="568303"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4" name="Oval 453"/>
                <p:cNvSpPr/>
                <p:nvPr/>
              </p:nvSpPr>
              <p:spPr>
                <a:xfrm>
                  <a:off x="4128758" y="3605903"/>
                  <a:ext cx="568303" cy="22542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55" name="Straight Connector 454"/>
                <p:cNvCxnSpPr/>
                <p:nvPr/>
              </p:nvCxnSpPr>
              <p:spPr>
                <a:xfrm>
                  <a:off x="4697061"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6" name="Straight Connector 455"/>
                <p:cNvCxnSpPr/>
                <p:nvPr/>
              </p:nvCxnSpPr>
              <p:spPr>
                <a:xfrm>
                  <a:off x="4128758"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44" name="Rectangle 443"/>
              <p:cNvSpPr/>
              <p:nvPr/>
            </p:nvSpPr>
            <p:spPr bwMode="auto">
              <a:xfrm>
                <a:off x="4324350" y="3695700"/>
                <a:ext cx="498475" cy="116363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7" name="Straight Connector 446"/>
              <p:cNvCxnSpPr>
                <a:stCxn id="458" idx="2"/>
              </p:cNvCxnSpPr>
              <p:nvPr/>
            </p:nvCxnSpPr>
            <p:spPr bwMode="auto">
              <a:xfrm>
                <a:off x="4300799" y="2640496"/>
                <a:ext cx="14026" cy="2309329"/>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37" name="Group 456"/>
              <p:cNvGrpSpPr/>
              <p:nvPr/>
            </p:nvGrpSpPr>
            <p:grpSpPr bwMode="auto">
              <a:xfrm>
                <a:off x="4299212" y="2486508"/>
                <a:ext cx="504825" cy="242888"/>
                <a:chOff x="2183302" y="1574638"/>
                <a:chExt cx="1200154" cy="430218"/>
              </a:xfrm>
            </p:grpSpPr>
            <p:sp>
              <p:nvSpPr>
                <p:cNvPr id="458" name="Oval 457"/>
                <p:cNvSpPr/>
                <p:nvPr/>
              </p:nvSpPr>
              <p:spPr bwMode="auto">
                <a:xfrm flipV="1">
                  <a:off x="2187075" y="1689926"/>
                  <a:ext cx="1196381" cy="314930"/>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59" name="Rectangle 458"/>
                <p:cNvSpPr/>
                <p:nvPr/>
              </p:nvSpPr>
              <p:spPr bwMode="auto">
                <a:xfrm>
                  <a:off x="2183302" y="1734916"/>
                  <a:ext cx="1200154" cy="11247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flipV="1">
                  <a:off x="2183302" y="1574638"/>
                  <a:ext cx="1196379" cy="31493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61" name="Freeform 460"/>
                <p:cNvSpPr/>
                <p:nvPr/>
              </p:nvSpPr>
              <p:spPr bwMode="auto">
                <a:xfrm>
                  <a:off x="2489000" y="1670242"/>
                  <a:ext cx="584982" cy="1574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2" name="Freeform 461"/>
                <p:cNvSpPr/>
                <p:nvPr/>
              </p:nvSpPr>
              <p:spPr bwMode="auto">
                <a:xfrm>
                  <a:off x="2428615" y="1630876"/>
                  <a:ext cx="705752" cy="10966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3" name="Freeform 462"/>
                <p:cNvSpPr/>
                <p:nvPr/>
              </p:nvSpPr>
              <p:spPr bwMode="auto">
                <a:xfrm>
                  <a:off x="2892827" y="1723668"/>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4" name="Freeform 463"/>
                <p:cNvSpPr/>
                <p:nvPr/>
              </p:nvSpPr>
              <p:spPr bwMode="auto">
                <a:xfrm>
                  <a:off x="2417294" y="1726479"/>
                  <a:ext cx="252861" cy="9279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65" name="Straight Connector 464"/>
                <p:cNvCxnSpPr>
                  <a:endCxn id="460" idx="2"/>
                </p:cNvCxnSpPr>
                <p:nvPr/>
              </p:nvCxnSpPr>
              <p:spPr bwMode="auto">
                <a:xfrm flipH="1" flipV="1">
                  <a:off x="2183302" y="1732103"/>
                  <a:ext cx="3773"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66" name="Straight Connector 465"/>
                <p:cNvCxnSpPr/>
                <p:nvPr/>
              </p:nvCxnSpPr>
              <p:spPr bwMode="auto">
                <a:xfrm flipH="1" flipV="1">
                  <a:off x="3379681" y="1729292"/>
                  <a:ext cx="3775"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1" name="Group 20"/>
            <p:cNvGrpSpPr/>
            <p:nvPr/>
          </p:nvGrpSpPr>
          <p:grpSpPr>
            <a:xfrm>
              <a:off x="5491163" y="3179295"/>
              <a:ext cx="522287" cy="1824505"/>
              <a:chOff x="5491163" y="3179295"/>
              <a:chExt cx="522287" cy="1824505"/>
            </a:xfrm>
          </p:grpSpPr>
          <p:sp>
            <p:nvSpPr>
              <p:cNvPr id="468" name="Rectangle 467"/>
              <p:cNvSpPr/>
              <p:nvPr/>
            </p:nvSpPr>
            <p:spPr bwMode="auto">
              <a:xfrm rot="10800000">
                <a:off x="5498044" y="3266845"/>
                <a:ext cx="498349" cy="325689"/>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69" name="Straight Connector 468"/>
              <p:cNvCxnSpPr>
                <a:stCxn id="489" idx="6"/>
              </p:cNvCxnSpPr>
              <p:nvPr/>
            </p:nvCxnSpPr>
            <p:spPr bwMode="auto">
              <a:xfrm>
                <a:off x="6003925" y="3268195"/>
                <a:ext cx="6350" cy="158117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pic>
            <p:nvPicPr>
              <p:cNvPr id="47187" name="Picture 469" descr="router_top.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p:spPr>
          </p:pic>
          <p:grpSp>
            <p:nvGrpSpPr>
              <p:cNvPr id="47189" name="Group 471"/>
              <p:cNvGrpSpPr/>
              <p:nvPr/>
            </p:nvGrpSpPr>
            <p:grpSpPr bwMode="auto">
              <a:xfrm>
                <a:off x="5502167" y="4781999"/>
                <a:ext cx="507858" cy="221801"/>
                <a:chOff x="4128636" y="3606589"/>
                <a:chExt cx="568145" cy="338667"/>
              </a:xfrm>
            </p:grpSpPr>
            <p:sp>
              <p:nvSpPr>
                <p:cNvPr id="481" name="Oval 480"/>
                <p:cNvSpPr/>
                <p:nvPr/>
              </p:nvSpPr>
              <p:spPr>
                <a:xfrm>
                  <a:off x="4128757" y="3719830"/>
                  <a:ext cx="568304" cy="22542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2" name="Rectangle 481"/>
                <p:cNvSpPr/>
                <p:nvPr/>
              </p:nvSpPr>
              <p:spPr>
                <a:xfrm>
                  <a:off x="4128757" y="3719830"/>
                  <a:ext cx="568304"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3" name="Oval 482"/>
                <p:cNvSpPr/>
                <p:nvPr/>
              </p:nvSpPr>
              <p:spPr>
                <a:xfrm>
                  <a:off x="4128757" y="3605903"/>
                  <a:ext cx="568304" cy="22542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84" name="Straight Connector 483"/>
                <p:cNvCxnSpPr/>
                <p:nvPr/>
              </p:nvCxnSpPr>
              <p:spPr>
                <a:xfrm>
                  <a:off x="4697061"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p:cNvCxnSpPr/>
                <p:nvPr/>
              </p:nvCxnSpPr>
              <p:spPr>
                <a:xfrm>
                  <a:off x="4128757"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73" name="Rectangle 472"/>
              <p:cNvSpPr/>
              <p:nvPr/>
            </p:nvSpPr>
            <p:spPr bwMode="auto">
              <a:xfrm>
                <a:off x="5507038" y="3695700"/>
                <a:ext cx="498475" cy="116363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76" name="Straight Connector 475"/>
              <p:cNvCxnSpPr>
                <a:stCxn id="47187" idx="1"/>
              </p:cNvCxnSpPr>
              <p:nvPr/>
            </p:nvCxnSpPr>
            <p:spPr bwMode="auto">
              <a:xfrm>
                <a:off x="5491163" y="3316941"/>
                <a:ext cx="6350" cy="1632884"/>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39" name="Group 485"/>
              <p:cNvGrpSpPr/>
              <p:nvPr/>
            </p:nvGrpSpPr>
            <p:grpSpPr bwMode="auto">
              <a:xfrm>
                <a:off x="5500688" y="3179295"/>
                <a:ext cx="504825" cy="242888"/>
                <a:chOff x="2183302" y="1574638"/>
                <a:chExt cx="1200154" cy="430218"/>
              </a:xfrm>
            </p:grpSpPr>
            <p:sp>
              <p:nvSpPr>
                <p:cNvPr id="487" name="Oval 486"/>
                <p:cNvSpPr/>
                <p:nvPr/>
              </p:nvSpPr>
              <p:spPr bwMode="auto">
                <a:xfrm flipV="1">
                  <a:off x="2187075" y="1689926"/>
                  <a:ext cx="1196381" cy="314930"/>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88" name="Rectangle 487"/>
                <p:cNvSpPr/>
                <p:nvPr/>
              </p:nvSpPr>
              <p:spPr bwMode="auto">
                <a:xfrm>
                  <a:off x="2183302" y="1734916"/>
                  <a:ext cx="1200154" cy="11247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9" name="Oval 488"/>
                <p:cNvSpPr/>
                <p:nvPr/>
              </p:nvSpPr>
              <p:spPr bwMode="auto">
                <a:xfrm flipV="1">
                  <a:off x="2183302" y="1574638"/>
                  <a:ext cx="1196379" cy="31493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0" name="Freeform 489"/>
                <p:cNvSpPr/>
                <p:nvPr/>
              </p:nvSpPr>
              <p:spPr bwMode="auto">
                <a:xfrm>
                  <a:off x="2489000" y="1670242"/>
                  <a:ext cx="584982" cy="1574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1" name="Freeform 490"/>
                <p:cNvSpPr/>
                <p:nvPr/>
              </p:nvSpPr>
              <p:spPr bwMode="auto">
                <a:xfrm>
                  <a:off x="2428615" y="1630876"/>
                  <a:ext cx="705752" cy="10966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2" name="Freeform 491"/>
                <p:cNvSpPr/>
                <p:nvPr/>
              </p:nvSpPr>
              <p:spPr bwMode="auto">
                <a:xfrm>
                  <a:off x="2892827" y="1723668"/>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3" name="Freeform 492"/>
                <p:cNvSpPr/>
                <p:nvPr/>
              </p:nvSpPr>
              <p:spPr bwMode="auto">
                <a:xfrm>
                  <a:off x="2417294" y="1726479"/>
                  <a:ext cx="252861" cy="9279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4" name="Straight Connector 493"/>
                <p:cNvCxnSpPr>
                  <a:endCxn id="489" idx="2"/>
                </p:cNvCxnSpPr>
                <p:nvPr/>
              </p:nvCxnSpPr>
              <p:spPr bwMode="auto">
                <a:xfrm flipH="1" flipV="1">
                  <a:off x="2183302" y="1732103"/>
                  <a:ext cx="3773"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95" name="Straight Connector 494"/>
                <p:cNvCxnSpPr/>
                <p:nvPr/>
              </p:nvCxnSpPr>
              <p:spPr bwMode="auto">
                <a:xfrm flipH="1" flipV="1">
                  <a:off x="3379681" y="1729292"/>
                  <a:ext cx="3775"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2" name="Group 21"/>
            <p:cNvGrpSpPr/>
            <p:nvPr/>
          </p:nvGrpSpPr>
          <p:grpSpPr>
            <a:xfrm>
              <a:off x="6472366" y="2647932"/>
              <a:ext cx="522159" cy="2354282"/>
              <a:chOff x="6472366" y="2647932"/>
              <a:chExt cx="522159" cy="2354282"/>
            </a:xfrm>
          </p:grpSpPr>
          <p:sp>
            <p:nvSpPr>
              <p:cNvPr id="497" name="Rectangle 496"/>
              <p:cNvSpPr/>
              <p:nvPr/>
            </p:nvSpPr>
            <p:spPr bwMode="auto">
              <a:xfrm rot="10800000">
                <a:off x="6482296" y="2777838"/>
                <a:ext cx="498349" cy="72203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8" name="Straight Connector 497"/>
              <p:cNvCxnSpPr/>
              <p:nvPr/>
            </p:nvCxnSpPr>
            <p:spPr bwMode="auto">
              <a:xfrm>
                <a:off x="6994525" y="2845840"/>
                <a:ext cx="0" cy="1999208"/>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60" name="Group 500"/>
              <p:cNvGrpSpPr/>
              <p:nvPr/>
            </p:nvGrpSpPr>
            <p:grpSpPr bwMode="auto">
              <a:xfrm>
                <a:off x="6486417" y="4766099"/>
                <a:ext cx="507858" cy="236115"/>
                <a:chOff x="4128636" y="3606589"/>
                <a:chExt cx="568145" cy="338667"/>
              </a:xfrm>
            </p:grpSpPr>
            <p:sp>
              <p:nvSpPr>
                <p:cNvPr id="510" name="Oval 509"/>
                <p:cNvSpPr/>
                <p:nvPr/>
              </p:nvSpPr>
              <p:spPr>
                <a:xfrm>
                  <a:off x="4128757" y="3719828"/>
                  <a:ext cx="568304" cy="225428"/>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Rectangle 510"/>
                <p:cNvSpPr/>
                <p:nvPr/>
              </p:nvSpPr>
              <p:spPr>
                <a:xfrm>
                  <a:off x="4128757" y="3719828"/>
                  <a:ext cx="568304"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Oval 511"/>
                <p:cNvSpPr/>
                <p:nvPr/>
              </p:nvSpPr>
              <p:spPr>
                <a:xfrm>
                  <a:off x="4128757" y="3605903"/>
                  <a:ext cx="568304" cy="225426"/>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p:nvPr/>
              </p:nvCxnSpPr>
              <p:spPr>
                <a:xfrm>
                  <a:off x="4697061" y="3719828"/>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a:xfrm>
                  <a:off x="4128757" y="3719828"/>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2" name="Rectangle 501"/>
              <p:cNvSpPr/>
              <p:nvPr/>
            </p:nvSpPr>
            <p:spPr bwMode="auto">
              <a:xfrm>
                <a:off x="6491288" y="3609696"/>
                <a:ext cx="498475" cy="1238732"/>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5" name="Straight Connector 504"/>
              <p:cNvCxnSpPr/>
              <p:nvPr/>
            </p:nvCxnSpPr>
            <p:spPr bwMode="auto">
              <a:xfrm>
                <a:off x="6472366" y="2818589"/>
                <a:ext cx="9397" cy="212616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41" name="Group 514"/>
              <p:cNvGrpSpPr/>
              <p:nvPr/>
            </p:nvGrpSpPr>
            <p:grpSpPr bwMode="auto">
              <a:xfrm>
                <a:off x="6478146" y="2647932"/>
                <a:ext cx="504825" cy="242887"/>
                <a:chOff x="2183302" y="1574638"/>
                <a:chExt cx="1200154" cy="430218"/>
              </a:xfrm>
            </p:grpSpPr>
            <p:sp>
              <p:nvSpPr>
                <p:cNvPr id="516" name="Oval 515"/>
                <p:cNvSpPr/>
                <p:nvPr/>
              </p:nvSpPr>
              <p:spPr bwMode="auto">
                <a:xfrm flipV="1">
                  <a:off x="2187075" y="1689925"/>
                  <a:ext cx="1196381" cy="31493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7" name="Rectangle 516"/>
                <p:cNvSpPr/>
                <p:nvPr/>
              </p:nvSpPr>
              <p:spPr bwMode="auto">
                <a:xfrm>
                  <a:off x="2183302" y="1734915"/>
                  <a:ext cx="1200154" cy="112476"/>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8" name="Oval 517"/>
                <p:cNvSpPr/>
                <p:nvPr/>
              </p:nvSpPr>
              <p:spPr bwMode="auto">
                <a:xfrm flipV="1">
                  <a:off x="2183302" y="1574638"/>
                  <a:ext cx="1196379" cy="31493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9" name="Freeform 518"/>
                <p:cNvSpPr/>
                <p:nvPr/>
              </p:nvSpPr>
              <p:spPr bwMode="auto">
                <a:xfrm>
                  <a:off x="2489000" y="1670242"/>
                  <a:ext cx="584982" cy="157466"/>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0" name="Freeform 519"/>
                <p:cNvSpPr/>
                <p:nvPr/>
              </p:nvSpPr>
              <p:spPr bwMode="auto">
                <a:xfrm>
                  <a:off x="2428615" y="1630876"/>
                  <a:ext cx="705752" cy="109663"/>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1" name="Freeform 520"/>
                <p:cNvSpPr/>
                <p:nvPr/>
              </p:nvSpPr>
              <p:spPr bwMode="auto">
                <a:xfrm>
                  <a:off x="2892827" y="1723667"/>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2" name="Freeform 521"/>
                <p:cNvSpPr/>
                <p:nvPr/>
              </p:nvSpPr>
              <p:spPr bwMode="auto">
                <a:xfrm>
                  <a:off x="2417294" y="1726480"/>
                  <a:ext cx="252861" cy="9279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23" name="Straight Connector 522"/>
                <p:cNvCxnSpPr>
                  <a:endCxn id="518" idx="2"/>
                </p:cNvCxnSpPr>
                <p:nvPr/>
              </p:nvCxnSpPr>
              <p:spPr bwMode="auto">
                <a:xfrm flipH="1" flipV="1">
                  <a:off x="2183302" y="1732104"/>
                  <a:ext cx="3773"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p:nvPr/>
              </p:nvCxnSpPr>
              <p:spPr bwMode="auto">
                <a:xfrm flipH="1" flipV="1">
                  <a:off x="3379681" y="1729291"/>
                  <a:ext cx="3775"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sp>
        <p:nvSpPr>
          <p:cNvPr id="47142" name="Text Box 167"/>
          <p:cNvSpPr txBox="1">
            <a:spLocks noChangeArrowheads="1"/>
          </p:cNvSpPr>
          <p:nvPr/>
        </p:nvSpPr>
        <p:spPr bwMode="auto">
          <a:xfrm>
            <a:off x="563563" y="277813"/>
            <a:ext cx="6030542" cy="6463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3600" dirty="0">
                <a:solidFill>
                  <a:srgbClr val="000099"/>
                </a:solidFill>
                <a:latin typeface="Gill Sans MT" pitchFamily="34" charset="0"/>
              </a:rPr>
              <a:t>Recall: per-router control plane</a:t>
            </a:r>
          </a:p>
        </p:txBody>
      </p:sp>
      <p:grpSp>
        <p:nvGrpSpPr>
          <p:cNvPr id="229" name="Group 228"/>
          <p:cNvGrpSpPr/>
          <p:nvPr/>
        </p:nvGrpSpPr>
        <p:grpSpPr>
          <a:xfrm>
            <a:off x="1828233" y="3016011"/>
            <a:ext cx="5112820" cy="879389"/>
            <a:chOff x="1866825" y="707349"/>
            <a:chExt cx="5112820" cy="879389"/>
          </a:xfrm>
        </p:grpSpPr>
        <p:sp>
          <p:nvSpPr>
            <p:cNvPr id="233" name="Oval 232"/>
            <p:cNvSpPr/>
            <p:nvPr/>
          </p:nvSpPr>
          <p:spPr>
            <a:xfrm>
              <a:off x="1866825" y="785347"/>
              <a:ext cx="954705" cy="491476"/>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4" name="TextBox 233"/>
            <p:cNvSpPr txBox="1"/>
            <p:nvPr/>
          </p:nvSpPr>
          <p:spPr>
            <a:xfrm>
              <a:off x="1891781" y="783191"/>
              <a:ext cx="910613" cy="476199"/>
            </a:xfrm>
            <a:prstGeom prst="rect">
              <a:avLst/>
            </a:prstGeom>
            <a:noFill/>
          </p:spPr>
          <p:txBody>
            <a:bodyPr wrap="none" rtlCol="0">
              <a:spAutoFit/>
            </a:bodyPr>
            <a:lstStyle/>
            <a:p>
              <a:pPr algn="ctr">
                <a:lnSpc>
                  <a:spcPts val="1480"/>
                </a:lnSpc>
              </a:pPr>
              <a:r>
                <a:rPr lang="en-US" sz="1400" dirty="0"/>
                <a:t>Routing</a:t>
              </a:r>
            </a:p>
            <a:p>
              <a:pPr algn="ctr">
                <a:lnSpc>
                  <a:spcPts val="1480"/>
                </a:lnSpc>
              </a:pPr>
              <a:r>
                <a:rPr lang="en-US" sz="1400" dirty="0"/>
                <a:t>Algorithm</a:t>
              </a:r>
            </a:p>
          </p:txBody>
        </p:sp>
        <p:cxnSp>
          <p:nvCxnSpPr>
            <p:cNvPr id="235" name="Straight Arrow Connector 234"/>
            <p:cNvCxnSpPr/>
            <p:nvPr/>
          </p:nvCxnSpPr>
          <p:spPr>
            <a:xfrm flipV="1">
              <a:off x="2833714" y="807908"/>
              <a:ext cx="1517851" cy="213379"/>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6" name="Straight Arrow Connector 235"/>
            <p:cNvCxnSpPr/>
            <p:nvPr/>
          </p:nvCxnSpPr>
          <p:spPr>
            <a:xfrm>
              <a:off x="2750618" y="1201670"/>
              <a:ext cx="797027" cy="279264"/>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7" name="Straight Arrow Connector 236"/>
            <p:cNvCxnSpPr/>
            <p:nvPr/>
          </p:nvCxnSpPr>
          <p:spPr>
            <a:xfrm>
              <a:off x="4684666" y="894080"/>
              <a:ext cx="893541" cy="510629"/>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8" name="Straight Arrow Connector 237"/>
            <p:cNvCxnSpPr/>
            <p:nvPr/>
          </p:nvCxnSpPr>
          <p:spPr>
            <a:xfrm>
              <a:off x="4800837" y="800746"/>
              <a:ext cx="1695897" cy="130795"/>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sp>
          <p:nvSpPr>
            <p:cNvPr id="239" name="Oval 238"/>
            <p:cNvSpPr/>
            <p:nvPr/>
          </p:nvSpPr>
          <p:spPr>
            <a:xfrm>
              <a:off x="6558622" y="894080"/>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0" name="Oval 239"/>
            <p:cNvSpPr/>
            <p:nvPr/>
          </p:nvSpPr>
          <p:spPr>
            <a:xfrm>
              <a:off x="5572329" y="1404709"/>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1" name="Oval 240"/>
            <p:cNvSpPr/>
            <p:nvPr/>
          </p:nvSpPr>
          <p:spPr>
            <a:xfrm>
              <a:off x="4367082" y="707349"/>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2" name="Oval 241"/>
            <p:cNvSpPr/>
            <p:nvPr/>
          </p:nvSpPr>
          <p:spPr>
            <a:xfrm>
              <a:off x="3571953" y="1402071"/>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243" name="Straight Arrow Connector 242"/>
            <p:cNvCxnSpPr/>
            <p:nvPr/>
          </p:nvCxnSpPr>
          <p:spPr>
            <a:xfrm>
              <a:off x="2821560" y="1106261"/>
              <a:ext cx="2738615" cy="338776"/>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4" name="Straight Arrow Connector 243"/>
            <p:cNvCxnSpPr>
              <a:endCxn id="239" idx="2"/>
            </p:cNvCxnSpPr>
            <p:nvPr/>
          </p:nvCxnSpPr>
          <p:spPr>
            <a:xfrm flipV="1">
              <a:off x="3997124" y="985095"/>
              <a:ext cx="2561498" cy="469120"/>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5" name="Straight Arrow Connector 244"/>
            <p:cNvCxnSpPr/>
            <p:nvPr/>
          </p:nvCxnSpPr>
          <p:spPr>
            <a:xfrm flipV="1">
              <a:off x="3992124" y="1509221"/>
              <a:ext cx="1580205" cy="2"/>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6" name="Straight Arrow Connector 245"/>
            <p:cNvCxnSpPr/>
            <p:nvPr/>
          </p:nvCxnSpPr>
          <p:spPr>
            <a:xfrm flipV="1">
              <a:off x="5997500" y="1083737"/>
              <a:ext cx="751103" cy="397197"/>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258" name="TextBox 257"/>
          <p:cNvSpPr txBox="1"/>
          <p:nvPr/>
        </p:nvSpPr>
        <p:spPr>
          <a:xfrm>
            <a:off x="517479" y="1154626"/>
            <a:ext cx="8209014" cy="1200328"/>
          </a:xfrm>
          <a:prstGeom prst="rect">
            <a:avLst/>
          </a:prstGeom>
          <a:noFill/>
        </p:spPr>
        <p:txBody>
          <a:bodyPr wrap="square" rtlCol="0">
            <a:spAutoFit/>
          </a:bodyPr>
          <a:lstStyle/>
          <a:p>
            <a:r>
              <a:rPr lang="en-US" sz="2400" dirty="0"/>
              <a:t>Individual routing algorithm components </a:t>
            </a:r>
            <a:r>
              <a:rPr lang="en-US" sz="2400" i="1" dirty="0">
                <a:solidFill>
                  <a:srgbClr val="000090"/>
                </a:solidFill>
              </a:rPr>
              <a:t>in each and every router </a:t>
            </a:r>
            <a:r>
              <a:rPr lang="en-US" sz="2400" dirty="0"/>
              <a:t>interact with each other in control plane to compute forwarding tables</a:t>
            </a:r>
          </a:p>
        </p:txBody>
      </p:sp>
      <p:grpSp>
        <p:nvGrpSpPr>
          <p:cNvPr id="23" name="Group 22"/>
          <p:cNvGrpSpPr/>
          <p:nvPr/>
        </p:nvGrpSpPr>
        <p:grpSpPr>
          <a:xfrm>
            <a:off x="1557338" y="3404226"/>
            <a:ext cx="6375400" cy="1047750"/>
            <a:chOff x="1557338" y="3074988"/>
            <a:chExt cx="6375400" cy="1047750"/>
          </a:xfrm>
        </p:grpSpPr>
        <p:sp>
          <p:nvSpPr>
            <p:cNvPr id="47115" name="TextBox 232"/>
            <p:cNvSpPr txBox="1">
              <a:spLocks noChangeArrowheads="1"/>
            </p:cNvSpPr>
            <p:nvPr/>
          </p:nvSpPr>
          <p:spPr bwMode="auto">
            <a:xfrm>
              <a:off x="7292975" y="3651250"/>
              <a:ext cx="595313" cy="4714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a:t>data</a:t>
              </a:r>
            </a:p>
            <a:p>
              <a:pPr algn="ctr">
                <a:lnSpc>
                  <a:spcPts val="1465"/>
                </a:lnSpc>
              </a:pPr>
              <a:r>
                <a:rPr lang="en-US" sz="1400"/>
                <a:t>plane</a:t>
              </a:r>
            </a:p>
          </p:txBody>
        </p:sp>
        <p:sp>
          <p:nvSpPr>
            <p:cNvPr id="47116" name="TextBox 233"/>
            <p:cNvSpPr txBox="1">
              <a:spLocks noChangeArrowheads="1"/>
            </p:cNvSpPr>
            <p:nvPr/>
          </p:nvSpPr>
          <p:spPr bwMode="auto">
            <a:xfrm>
              <a:off x="7224713" y="3074988"/>
              <a:ext cx="708025" cy="47148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a:t>control</a:t>
              </a:r>
            </a:p>
            <a:p>
              <a:pPr algn="ctr">
                <a:lnSpc>
                  <a:spcPts val="1465"/>
                </a:lnSpc>
              </a:pPr>
              <a:r>
                <a:rPr lang="en-US" sz="1400"/>
                <a:t>plane</a:t>
              </a:r>
            </a:p>
          </p:txBody>
        </p:sp>
        <p:cxnSp>
          <p:nvCxnSpPr>
            <p:cNvPr id="232" name="Straight Connector 231"/>
            <p:cNvCxnSpPr/>
            <p:nvPr/>
          </p:nvCxnSpPr>
          <p:spPr>
            <a:xfrm>
              <a:off x="1557338" y="3613150"/>
              <a:ext cx="6207125" cy="0"/>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1829356" y="4031984"/>
            <a:ext cx="5126173" cy="1120753"/>
            <a:chOff x="-4746102" y="4471477"/>
            <a:chExt cx="5126173" cy="1120753"/>
          </a:xfrm>
        </p:grpSpPr>
        <p:pic>
          <p:nvPicPr>
            <p:cNvPr id="47268" name="Picture 10" descr="fig42_table.pdf"/>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p:spPr>
        </p:pic>
        <p:grpSp>
          <p:nvGrpSpPr>
            <p:cNvPr id="26" name="Group 25"/>
            <p:cNvGrpSpPr/>
            <p:nvPr/>
          </p:nvGrpSpPr>
          <p:grpSpPr>
            <a:xfrm>
              <a:off x="-3025264" y="5228984"/>
              <a:ext cx="3405335" cy="363246"/>
              <a:chOff x="-3025264" y="5228984"/>
              <a:chExt cx="3405335" cy="363246"/>
            </a:xfrm>
          </p:grpSpPr>
          <p:grpSp>
            <p:nvGrpSpPr>
              <p:cNvPr id="47251" name="Group 241"/>
              <p:cNvGrpSpPr/>
              <p:nvPr/>
            </p:nvGrpSpPr>
            <p:grpSpPr bwMode="auto">
              <a:xfrm>
                <a:off x="-3025264" y="5262858"/>
                <a:ext cx="430360" cy="329372"/>
                <a:chOff x="2931664" y="3912603"/>
                <a:chExt cx="430450" cy="329314"/>
              </a:xfrm>
            </p:grpSpPr>
            <p:sp>
              <p:nvSpPr>
                <p:cNvPr id="92" name="Rectangle 91"/>
                <p:cNvSpPr/>
                <p:nvPr/>
              </p:nvSpPr>
              <p:spPr>
                <a:xfrm>
                  <a:off x="2935837" y="3912034"/>
                  <a:ext cx="425539" cy="330142"/>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3" name="Straight Connector 92"/>
                <p:cNvCxnSpPr/>
                <p:nvPr/>
              </p:nvCxnSpPr>
              <p:spPr>
                <a:xfrm>
                  <a:off x="2931074" y="4004093"/>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4" name="Straight Connector 93"/>
                <p:cNvCxnSpPr/>
                <p:nvPr/>
              </p:nvCxnSpPr>
              <p:spPr>
                <a:xfrm>
                  <a:off x="2931074" y="4067582"/>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6" name="Straight Connector 95"/>
                <p:cNvCxnSpPr>
                  <a:stCxn id="92" idx="2"/>
                </p:cNvCxnSpPr>
                <p:nvPr/>
              </p:nvCxnSpPr>
              <p:spPr>
                <a:xfrm flipH="1" flipV="1">
                  <a:off x="3147019" y="4004093"/>
                  <a:ext cx="1587" cy="238083"/>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220" name="Group 444"/>
              <p:cNvGrpSpPr/>
              <p:nvPr/>
            </p:nvGrpSpPr>
            <p:grpSpPr bwMode="auto">
              <a:xfrm>
                <a:off x="-2217227" y="5261364"/>
                <a:ext cx="430361" cy="329307"/>
                <a:chOff x="2931664" y="3912603"/>
                <a:chExt cx="430450" cy="329314"/>
              </a:xfrm>
            </p:grpSpPr>
            <p:sp>
              <p:nvSpPr>
                <p:cNvPr id="448" name="Rectangle 447"/>
                <p:cNvSpPr/>
                <p:nvPr/>
              </p:nvSpPr>
              <p:spPr>
                <a:xfrm>
                  <a:off x="2935838" y="3911941"/>
                  <a:ext cx="425538"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9" name="Straight Connector 448"/>
                <p:cNvCxnSpPr/>
                <p:nvPr/>
              </p:nvCxnSpPr>
              <p:spPr>
                <a:xfrm>
                  <a:off x="2931074" y="4004018"/>
                  <a:ext cx="425538"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0" name="Straight Connector 449"/>
                <p:cNvCxnSpPr/>
                <p:nvPr/>
              </p:nvCxnSpPr>
              <p:spPr>
                <a:xfrm>
                  <a:off x="2931074" y="4067519"/>
                  <a:ext cx="425538"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1" name="Straight Connector 450"/>
                <p:cNvCxnSpPr>
                  <a:stCxn id="448" idx="2"/>
                </p:cNvCxnSpPr>
                <p:nvPr/>
              </p:nvCxnSpPr>
              <p:spPr>
                <a:xfrm flipH="1" flipV="1">
                  <a:off x="3147019" y="4004018"/>
                  <a:ext cx="1588"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91" name="Group 473"/>
              <p:cNvGrpSpPr/>
              <p:nvPr/>
            </p:nvGrpSpPr>
            <p:grpSpPr bwMode="auto">
              <a:xfrm>
                <a:off x="-1034539" y="5261364"/>
                <a:ext cx="430360" cy="329307"/>
                <a:chOff x="2931664" y="3912603"/>
                <a:chExt cx="430450" cy="329314"/>
              </a:xfrm>
            </p:grpSpPr>
            <p:sp>
              <p:nvSpPr>
                <p:cNvPr id="477" name="Rectangle 476"/>
                <p:cNvSpPr/>
                <p:nvPr/>
              </p:nvSpPr>
              <p:spPr>
                <a:xfrm>
                  <a:off x="2935837" y="3911941"/>
                  <a:ext cx="425539"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78" name="Straight Connector 477"/>
                <p:cNvCxnSpPr/>
                <p:nvPr/>
              </p:nvCxnSpPr>
              <p:spPr>
                <a:xfrm>
                  <a:off x="2931074" y="4004018"/>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79" name="Straight Connector 478"/>
                <p:cNvCxnSpPr/>
                <p:nvPr/>
              </p:nvCxnSpPr>
              <p:spPr>
                <a:xfrm>
                  <a:off x="2931074" y="4067519"/>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0" name="Straight Connector 479"/>
                <p:cNvCxnSpPr>
                  <a:stCxn id="477" idx="2"/>
                </p:cNvCxnSpPr>
                <p:nvPr/>
              </p:nvCxnSpPr>
              <p:spPr>
                <a:xfrm flipH="1" flipV="1">
                  <a:off x="3147019" y="4004018"/>
                  <a:ext cx="1587"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62" name="Group 502"/>
              <p:cNvGrpSpPr/>
              <p:nvPr/>
            </p:nvGrpSpPr>
            <p:grpSpPr bwMode="auto">
              <a:xfrm>
                <a:off x="-50289" y="5228984"/>
                <a:ext cx="430360" cy="350559"/>
                <a:chOff x="2931664" y="3912603"/>
                <a:chExt cx="430450" cy="329314"/>
              </a:xfrm>
            </p:grpSpPr>
            <p:sp>
              <p:nvSpPr>
                <p:cNvPr id="506" name="Rectangle 505"/>
                <p:cNvSpPr/>
                <p:nvPr/>
              </p:nvSpPr>
              <p:spPr>
                <a:xfrm>
                  <a:off x="2935837" y="3911940"/>
                  <a:ext cx="425539"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7" name="Straight Connector 506"/>
                <p:cNvCxnSpPr/>
                <p:nvPr/>
              </p:nvCxnSpPr>
              <p:spPr>
                <a:xfrm>
                  <a:off x="2931074" y="4004017"/>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8" name="Straight Connector 507"/>
                <p:cNvCxnSpPr/>
                <p:nvPr/>
              </p:nvCxnSpPr>
              <p:spPr>
                <a:xfrm>
                  <a:off x="2931074" y="4067518"/>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9" name="Straight Connector 508"/>
                <p:cNvCxnSpPr>
                  <a:stCxn id="506" idx="2"/>
                </p:cNvCxnSpPr>
                <p:nvPr/>
              </p:nvCxnSpPr>
              <p:spPr>
                <a:xfrm flipH="1" flipV="1">
                  <a:off x="3147019" y="4004017"/>
                  <a:ext cx="1587"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grpSp>
      <p:grpSp>
        <p:nvGrpSpPr>
          <p:cNvPr id="25" name="Group 24"/>
          <p:cNvGrpSpPr/>
          <p:nvPr/>
        </p:nvGrpSpPr>
        <p:grpSpPr>
          <a:xfrm>
            <a:off x="2282487" y="3212142"/>
            <a:ext cx="4437063" cy="1906161"/>
            <a:chOff x="-4267279" y="3655204"/>
            <a:chExt cx="4437063" cy="1906161"/>
          </a:xfrm>
        </p:grpSpPr>
        <p:cxnSp>
          <p:nvCxnSpPr>
            <p:cNvPr id="111" name="Straight Arrow Connector 110"/>
            <p:cNvCxnSpPr/>
            <p:nvPr/>
          </p:nvCxnSpPr>
          <p:spPr bwMode="auto">
            <a:xfrm>
              <a:off x="-4267279" y="4046968"/>
              <a:ext cx="0" cy="422275"/>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89" name="Straight Arrow Connector 88"/>
            <p:cNvCxnSpPr/>
            <p:nvPr/>
          </p:nvCxnSpPr>
          <p:spPr bwMode="auto">
            <a:xfrm flipH="1">
              <a:off x="-2808366" y="4361550"/>
              <a:ext cx="154" cy="872164"/>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446" name="Straight Arrow Connector 445"/>
            <p:cNvCxnSpPr/>
            <p:nvPr/>
          </p:nvCxnSpPr>
          <p:spPr bwMode="auto">
            <a:xfrm>
              <a:off x="-2006807" y="3655204"/>
              <a:ext cx="6479" cy="1576923"/>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475" name="Straight Arrow Connector 474"/>
            <p:cNvCxnSpPr>
              <a:stCxn id="468" idx="0"/>
            </p:cNvCxnSpPr>
            <p:nvPr/>
          </p:nvCxnSpPr>
          <p:spPr bwMode="auto">
            <a:xfrm>
              <a:off x="-823524" y="4656511"/>
              <a:ext cx="5883" cy="904854"/>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504" name="Straight Arrow Connector 503"/>
            <p:cNvCxnSpPr/>
            <p:nvPr/>
          </p:nvCxnSpPr>
          <p:spPr bwMode="auto">
            <a:xfrm flipH="1">
              <a:off x="166609" y="3798581"/>
              <a:ext cx="3175" cy="1399277"/>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grpSp>
      <p:sp>
        <p:nvSpPr>
          <p:cNvPr id="270" name="Slide Number Placeholder 5"/>
          <p:cNvSpPr>
            <a:spLocks noGrp="1"/>
          </p:cNvSpPr>
          <p:nvPr>
            <p:ph type="sldNum" sz="quarter" idx="12"/>
          </p:nvPr>
        </p:nvSpPr>
        <p:spPr>
          <a:xfrm>
            <a:off x="8456154" y="6475895"/>
            <a:ext cx="687845" cy="38210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88</a:t>
            </a:fld>
            <a:endParaRPr lang="en-US" sz="1200" dirty="0">
              <a:latin typeface="Tahoma" panose="020B0604030504040204" charset="0"/>
            </a:endParaRPr>
          </a:p>
        </p:txBody>
      </p:sp>
      <p:sp>
        <p:nvSpPr>
          <p:cNvPr id="271"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10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dissolve">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9"/>
                                        </p:tgtEl>
                                        <p:attrNameLst>
                                          <p:attrName>style.visibility</p:attrName>
                                        </p:attrNameLst>
                                      </p:cBhvr>
                                      <p:to>
                                        <p:strVal val="visible"/>
                                      </p:to>
                                    </p:set>
                                    <p:animEffect transition="in" filter="dissolve">
                                      <p:cBhvr>
                                        <p:cTn id="17" dur="500"/>
                                        <p:tgtEl>
                                          <p:spTgt spid="22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25"/>
                                        </p:tgtEl>
                                        <p:attrNameLst>
                                          <p:attrName>style.visibility</p:attrName>
                                        </p:attrNameLst>
                                      </p:cBhvr>
                                      <p:to>
                                        <p:strVal val="visible"/>
                                      </p:to>
                                    </p:set>
                                    <p:animEffect transition="in" filter="wipe(up)">
                                      <p:cBhvr>
                                        <p:cTn id="22" dur="500"/>
                                        <p:tgtEl>
                                          <p:spTgt spid="25"/>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dissolve">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p:cNvGrpSpPr/>
          <p:nvPr/>
        </p:nvGrpSpPr>
        <p:grpSpPr>
          <a:xfrm>
            <a:off x="1453484" y="2021024"/>
            <a:ext cx="6027737" cy="1440135"/>
            <a:chOff x="1492879" y="2061336"/>
            <a:chExt cx="6027737" cy="1440135"/>
          </a:xfrm>
        </p:grpSpPr>
        <p:sp>
          <p:nvSpPr>
            <p:cNvPr id="388" name="Rectangle 387"/>
            <p:cNvSpPr/>
            <p:nvPr/>
          </p:nvSpPr>
          <p:spPr bwMode="auto">
            <a:xfrm>
              <a:off x="1929251" y="2064703"/>
              <a:ext cx="504348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6" name="Freeform 395"/>
            <p:cNvSpPr/>
            <p:nvPr/>
          </p:nvSpPr>
          <p:spPr bwMode="auto">
            <a:xfrm>
              <a:off x="1739747" y="2067585"/>
              <a:ext cx="198437" cy="1385888"/>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1" fmla="*/ 0 w 199855"/>
                <a:gd name="connsiteY0-2" fmla="*/ 733787 h 1367693"/>
                <a:gd name="connsiteX1-3" fmla="*/ 199855 w 199855"/>
                <a:gd name="connsiteY1-4" fmla="*/ 0 h 1367693"/>
                <a:gd name="connsiteX2-5" fmla="*/ 199855 w 199855"/>
                <a:gd name="connsiteY2-6" fmla="*/ 1016000 h 1367693"/>
                <a:gd name="connsiteX3-7" fmla="*/ 4470 w 199855"/>
                <a:gd name="connsiteY3-8" fmla="*/ 1367693 h 1367693"/>
                <a:gd name="connsiteX4-9" fmla="*/ 0 w 199855"/>
                <a:gd name="connsiteY4-10" fmla="*/ 733787 h 1367693"/>
                <a:gd name="connsiteX0-11" fmla="*/ 25203 w 225058"/>
                <a:gd name="connsiteY0-12" fmla="*/ 733787 h 1361758"/>
                <a:gd name="connsiteX1-13" fmla="*/ 225058 w 225058"/>
                <a:gd name="connsiteY1-14" fmla="*/ 0 h 1361758"/>
                <a:gd name="connsiteX2-15" fmla="*/ 225058 w 225058"/>
                <a:gd name="connsiteY2-16" fmla="*/ 1016000 h 1361758"/>
                <a:gd name="connsiteX3-17" fmla="*/ 0 w 225058"/>
                <a:gd name="connsiteY3-18" fmla="*/ 1361758 h 1361758"/>
                <a:gd name="connsiteX4-19" fmla="*/ 25203 w 225058"/>
                <a:gd name="connsiteY4-20" fmla="*/ 733787 h 1361758"/>
                <a:gd name="connsiteX0-21" fmla="*/ 25203 w 230992"/>
                <a:gd name="connsiteY0-22" fmla="*/ 787197 h 1415168"/>
                <a:gd name="connsiteX1-23" fmla="*/ 230992 w 230992"/>
                <a:gd name="connsiteY1-24" fmla="*/ 0 h 1415168"/>
                <a:gd name="connsiteX2-25" fmla="*/ 225058 w 230992"/>
                <a:gd name="connsiteY2-26" fmla="*/ 1069410 h 1415168"/>
                <a:gd name="connsiteX3-27" fmla="*/ 0 w 230992"/>
                <a:gd name="connsiteY3-28" fmla="*/ 1415168 h 1415168"/>
                <a:gd name="connsiteX4-29" fmla="*/ 25203 w 230992"/>
                <a:gd name="connsiteY4-30" fmla="*/ 787197 h 1415168"/>
                <a:gd name="connsiteX0-31" fmla="*/ 0 w 205789"/>
                <a:gd name="connsiteY0-32" fmla="*/ 787197 h 1427037"/>
                <a:gd name="connsiteX1-33" fmla="*/ 205789 w 205789"/>
                <a:gd name="connsiteY1-34" fmla="*/ 0 h 1427037"/>
                <a:gd name="connsiteX2-35" fmla="*/ 199855 w 205789"/>
                <a:gd name="connsiteY2-36" fmla="*/ 1069410 h 1427037"/>
                <a:gd name="connsiteX3-37" fmla="*/ 4471 w 205789"/>
                <a:gd name="connsiteY3-38" fmla="*/ 1427037 h 1427037"/>
                <a:gd name="connsiteX4-39" fmla="*/ 0 w 205789"/>
                <a:gd name="connsiteY4-40" fmla="*/ 787197 h 1427037"/>
                <a:gd name="connsiteX0-41" fmla="*/ 0 w 199855"/>
                <a:gd name="connsiteY0-42" fmla="*/ 745656 h 1385496"/>
                <a:gd name="connsiteX1-43" fmla="*/ 193920 w 199855"/>
                <a:gd name="connsiteY1-44" fmla="*/ 0 h 1385496"/>
                <a:gd name="connsiteX2-45" fmla="*/ 199855 w 199855"/>
                <a:gd name="connsiteY2-46" fmla="*/ 1027869 h 1385496"/>
                <a:gd name="connsiteX3-47" fmla="*/ 4471 w 199855"/>
                <a:gd name="connsiteY3-48" fmla="*/ 1385496 h 1385496"/>
                <a:gd name="connsiteX4-49" fmla="*/ 0 w 199855"/>
                <a:gd name="connsiteY4-50" fmla="*/ 745656 h 1385496"/>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8" name="Freeform 397"/>
            <p:cNvSpPr/>
            <p:nvPr/>
          </p:nvSpPr>
          <p:spPr bwMode="auto">
            <a:xfrm flipH="1">
              <a:off x="6969078" y="2061336"/>
              <a:ext cx="220427" cy="1370587"/>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1" fmla="*/ 0 w 199855"/>
                <a:gd name="connsiteY0-2" fmla="*/ 733787 h 1367693"/>
                <a:gd name="connsiteX1-3" fmla="*/ 199855 w 199855"/>
                <a:gd name="connsiteY1-4" fmla="*/ 0 h 1367693"/>
                <a:gd name="connsiteX2-5" fmla="*/ 199855 w 199855"/>
                <a:gd name="connsiteY2-6" fmla="*/ 1016000 h 1367693"/>
                <a:gd name="connsiteX3-7" fmla="*/ 4470 w 199855"/>
                <a:gd name="connsiteY3-8" fmla="*/ 1367693 h 1367693"/>
                <a:gd name="connsiteX4-9" fmla="*/ 0 w 199855"/>
                <a:gd name="connsiteY4-10" fmla="*/ 733787 h 1367693"/>
                <a:gd name="connsiteX0-11" fmla="*/ 25203 w 225058"/>
                <a:gd name="connsiteY0-12" fmla="*/ 733787 h 1361758"/>
                <a:gd name="connsiteX1-13" fmla="*/ 225058 w 225058"/>
                <a:gd name="connsiteY1-14" fmla="*/ 0 h 1361758"/>
                <a:gd name="connsiteX2-15" fmla="*/ 225058 w 225058"/>
                <a:gd name="connsiteY2-16" fmla="*/ 1016000 h 1361758"/>
                <a:gd name="connsiteX3-17" fmla="*/ 0 w 225058"/>
                <a:gd name="connsiteY3-18" fmla="*/ 1361758 h 1361758"/>
                <a:gd name="connsiteX4-19" fmla="*/ 25203 w 225058"/>
                <a:gd name="connsiteY4-20" fmla="*/ 733787 h 1361758"/>
                <a:gd name="connsiteX0-21" fmla="*/ 25203 w 230992"/>
                <a:gd name="connsiteY0-22" fmla="*/ 787197 h 1415168"/>
                <a:gd name="connsiteX1-23" fmla="*/ 230992 w 230992"/>
                <a:gd name="connsiteY1-24" fmla="*/ 0 h 1415168"/>
                <a:gd name="connsiteX2-25" fmla="*/ 225058 w 230992"/>
                <a:gd name="connsiteY2-26" fmla="*/ 1069410 h 1415168"/>
                <a:gd name="connsiteX3-27" fmla="*/ 0 w 230992"/>
                <a:gd name="connsiteY3-28" fmla="*/ 1415168 h 1415168"/>
                <a:gd name="connsiteX4-29" fmla="*/ 25203 w 230992"/>
                <a:gd name="connsiteY4-30" fmla="*/ 787197 h 1415168"/>
                <a:gd name="connsiteX0-31" fmla="*/ 0 w 205789"/>
                <a:gd name="connsiteY0-32" fmla="*/ 787197 h 1427037"/>
                <a:gd name="connsiteX1-33" fmla="*/ 205789 w 205789"/>
                <a:gd name="connsiteY1-34" fmla="*/ 0 h 1427037"/>
                <a:gd name="connsiteX2-35" fmla="*/ 199855 w 205789"/>
                <a:gd name="connsiteY2-36" fmla="*/ 1069410 h 1427037"/>
                <a:gd name="connsiteX3-37" fmla="*/ 4471 w 205789"/>
                <a:gd name="connsiteY3-38" fmla="*/ 1427037 h 1427037"/>
                <a:gd name="connsiteX4-39" fmla="*/ 0 w 205789"/>
                <a:gd name="connsiteY4-40" fmla="*/ 787197 h 1427037"/>
                <a:gd name="connsiteX0-41" fmla="*/ 0 w 199855"/>
                <a:gd name="connsiteY0-42" fmla="*/ 745656 h 1385496"/>
                <a:gd name="connsiteX1-43" fmla="*/ 193920 w 199855"/>
                <a:gd name="connsiteY1-44" fmla="*/ 0 h 1385496"/>
                <a:gd name="connsiteX2-45" fmla="*/ 199855 w 199855"/>
                <a:gd name="connsiteY2-46" fmla="*/ 1027869 h 1385496"/>
                <a:gd name="connsiteX3-47" fmla="*/ 4471 w 199855"/>
                <a:gd name="connsiteY3-48" fmla="*/ 1385496 h 1385496"/>
                <a:gd name="connsiteX4-49" fmla="*/ 0 w 199855"/>
                <a:gd name="connsiteY4-50" fmla="*/ 745656 h 1385496"/>
                <a:gd name="connsiteX0-51" fmla="*/ 0 w 219519"/>
                <a:gd name="connsiteY0-52" fmla="*/ 730359 h 1370199"/>
                <a:gd name="connsiteX1-53" fmla="*/ 219401 w 219519"/>
                <a:gd name="connsiteY1-54" fmla="*/ 0 h 1370199"/>
                <a:gd name="connsiteX2-55" fmla="*/ 199855 w 219519"/>
                <a:gd name="connsiteY2-56" fmla="*/ 1012572 h 1370199"/>
                <a:gd name="connsiteX3-57" fmla="*/ 4471 w 219519"/>
                <a:gd name="connsiteY3-58" fmla="*/ 1370199 h 1370199"/>
                <a:gd name="connsiteX4-59" fmla="*/ 0 w 219519"/>
                <a:gd name="connsiteY4-60" fmla="*/ 730359 h 1370199"/>
                <a:gd name="connsiteX0-61" fmla="*/ 0 w 219602"/>
                <a:gd name="connsiteY0-62" fmla="*/ 730359 h 1370199"/>
                <a:gd name="connsiteX1-63" fmla="*/ 219401 w 219602"/>
                <a:gd name="connsiteY1-64" fmla="*/ 0 h 1370199"/>
                <a:gd name="connsiteX2-65" fmla="*/ 210047 w 219602"/>
                <a:gd name="connsiteY2-66" fmla="*/ 1007473 h 1370199"/>
                <a:gd name="connsiteX3-67" fmla="*/ 4471 w 219602"/>
                <a:gd name="connsiteY3-68" fmla="*/ 1370199 h 1370199"/>
                <a:gd name="connsiteX4-69" fmla="*/ 0 w 219602"/>
                <a:gd name="connsiteY4-70" fmla="*/ 730359 h 1370199"/>
                <a:gd name="connsiteX0-71" fmla="*/ 0 w 220239"/>
                <a:gd name="connsiteY0-72" fmla="*/ 730359 h 1370199"/>
                <a:gd name="connsiteX1-73" fmla="*/ 219401 w 220239"/>
                <a:gd name="connsiteY1-74" fmla="*/ 0 h 1370199"/>
                <a:gd name="connsiteX2-75" fmla="*/ 220239 w 220239"/>
                <a:gd name="connsiteY2-76" fmla="*/ 1007473 h 1370199"/>
                <a:gd name="connsiteX3-77" fmla="*/ 4471 w 220239"/>
                <a:gd name="connsiteY3-78" fmla="*/ 1370199 h 1370199"/>
                <a:gd name="connsiteX4-79" fmla="*/ 0 w 220239"/>
                <a:gd name="connsiteY4-80" fmla="*/ 730359 h 137019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a:gsLst>
                <a:gs pos="0">
                  <a:schemeClr val="accent6">
                    <a:lumMod val="20000"/>
                    <a:lumOff val="80000"/>
                  </a:schemeClr>
                </a:gs>
                <a:gs pos="100000">
                  <a:schemeClr val="bg1"/>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48316" name="Group 950"/>
            <p:cNvGrpSpPr/>
            <p:nvPr/>
          </p:nvGrpSpPr>
          <p:grpSpPr bwMode="auto">
            <a:xfrm>
              <a:off x="1492879" y="2820676"/>
              <a:ext cx="338137" cy="653816"/>
              <a:chOff x="4140" y="429"/>
              <a:chExt cx="1425" cy="2396"/>
            </a:xfrm>
          </p:grpSpPr>
          <p:sp>
            <p:nvSpPr>
              <p:cNvPr id="48350"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48351"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48352"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48353"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54"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55" name="Group 956"/>
              <p:cNvGrpSpPr/>
              <p:nvPr/>
            </p:nvGrpSpPr>
            <p:grpSpPr bwMode="auto">
              <a:xfrm>
                <a:off x="4749" y="668"/>
                <a:ext cx="581" cy="145"/>
                <a:chOff x="614" y="2568"/>
                <a:chExt cx="725" cy="139"/>
              </a:xfrm>
            </p:grpSpPr>
            <p:sp>
              <p:nvSpPr>
                <p:cNvPr id="48380" name="AutoShape 957"/>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48381"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56"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57" name="Group 960"/>
              <p:cNvGrpSpPr/>
              <p:nvPr/>
            </p:nvGrpSpPr>
            <p:grpSpPr bwMode="auto">
              <a:xfrm>
                <a:off x="4747" y="994"/>
                <a:ext cx="581" cy="134"/>
                <a:chOff x="614" y="2568"/>
                <a:chExt cx="725" cy="139"/>
              </a:xfrm>
            </p:grpSpPr>
            <p:sp>
              <p:nvSpPr>
                <p:cNvPr id="48378" name="AutoShape 961"/>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48379"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58"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48359"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60" name="Group 965"/>
              <p:cNvGrpSpPr/>
              <p:nvPr/>
            </p:nvGrpSpPr>
            <p:grpSpPr bwMode="auto">
              <a:xfrm>
                <a:off x="4735" y="1627"/>
                <a:ext cx="582" cy="151"/>
                <a:chOff x="614" y="2568"/>
                <a:chExt cx="725" cy="139"/>
              </a:xfrm>
            </p:grpSpPr>
            <p:sp>
              <p:nvSpPr>
                <p:cNvPr id="48376" name="AutoShape 966"/>
                <p:cNvSpPr>
                  <a:spLocks noChangeArrowheads="1"/>
                </p:cNvSpPr>
                <p:nvPr/>
              </p:nvSpPr>
              <p:spPr bwMode="auto">
                <a:xfrm>
                  <a:off x="618" y="2586"/>
                  <a:ext cx="720" cy="124"/>
                </a:xfrm>
                <a:prstGeom prst="roundRect">
                  <a:avLst>
                    <a:gd name="adj" fmla="val 50000"/>
                  </a:avLst>
                </a:prstGeom>
                <a:solidFill>
                  <a:schemeClr val="tx1"/>
                </a:solidFill>
                <a:ln>
                  <a:noFill/>
                </a:ln>
              </p:spPr>
              <p:txBody>
                <a:bodyPr wrap="none" anchor="ctr"/>
                <a:lstStyle/>
                <a:p>
                  <a:endParaRPr lang="en-US"/>
                </a:p>
              </p:txBody>
            </p:sp>
            <p:sp>
              <p:nvSpPr>
                <p:cNvPr id="48377"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61"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48362" name="Group 969"/>
              <p:cNvGrpSpPr/>
              <p:nvPr/>
            </p:nvGrpSpPr>
            <p:grpSpPr bwMode="auto">
              <a:xfrm>
                <a:off x="4739" y="1327"/>
                <a:ext cx="582" cy="139"/>
                <a:chOff x="614" y="2568"/>
                <a:chExt cx="725" cy="139"/>
              </a:xfrm>
            </p:grpSpPr>
            <p:sp>
              <p:nvSpPr>
                <p:cNvPr id="48374" name="AutoShape 970"/>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48375"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63"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48364"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65"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66" name="Oval 975"/>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48367"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48368"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48369"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48370" name="Oval 979"/>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48371" name="Oval 980"/>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a:solidFill>
                    <a:srgbClr val="FF0000"/>
                  </a:solidFill>
                </a:endParaRPr>
              </a:p>
            </p:txBody>
          </p:sp>
          <p:sp>
            <p:nvSpPr>
              <p:cNvPr id="48372" name="Oval 981"/>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48373"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grpSp>
          <p:nvGrpSpPr>
            <p:cNvPr id="48317" name="Group 950"/>
            <p:cNvGrpSpPr/>
            <p:nvPr/>
          </p:nvGrpSpPr>
          <p:grpSpPr bwMode="auto">
            <a:xfrm>
              <a:off x="7182479" y="2847655"/>
              <a:ext cx="338137" cy="653816"/>
              <a:chOff x="4140" y="429"/>
              <a:chExt cx="1425" cy="2396"/>
            </a:xfrm>
          </p:grpSpPr>
          <p:sp>
            <p:nvSpPr>
              <p:cNvPr id="48318"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48319"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48320"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48321"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22"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23" name="Group 956"/>
              <p:cNvGrpSpPr/>
              <p:nvPr/>
            </p:nvGrpSpPr>
            <p:grpSpPr bwMode="auto">
              <a:xfrm>
                <a:off x="4749" y="668"/>
                <a:ext cx="581" cy="145"/>
                <a:chOff x="614" y="2568"/>
                <a:chExt cx="725" cy="139"/>
              </a:xfrm>
            </p:grpSpPr>
            <p:sp>
              <p:nvSpPr>
                <p:cNvPr id="48348" name="AutoShape 957"/>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48349"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24"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25" name="Group 960"/>
              <p:cNvGrpSpPr/>
              <p:nvPr/>
            </p:nvGrpSpPr>
            <p:grpSpPr bwMode="auto">
              <a:xfrm>
                <a:off x="4747" y="994"/>
                <a:ext cx="581" cy="134"/>
                <a:chOff x="614" y="2568"/>
                <a:chExt cx="725" cy="139"/>
              </a:xfrm>
            </p:grpSpPr>
            <p:sp>
              <p:nvSpPr>
                <p:cNvPr id="48346" name="AutoShape 961"/>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48347"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26"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48327"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28" name="Group 965"/>
              <p:cNvGrpSpPr/>
              <p:nvPr/>
            </p:nvGrpSpPr>
            <p:grpSpPr bwMode="auto">
              <a:xfrm>
                <a:off x="4735" y="1627"/>
                <a:ext cx="582" cy="151"/>
                <a:chOff x="614" y="2568"/>
                <a:chExt cx="725" cy="139"/>
              </a:xfrm>
            </p:grpSpPr>
            <p:sp>
              <p:nvSpPr>
                <p:cNvPr id="48344" name="AutoShape 966"/>
                <p:cNvSpPr>
                  <a:spLocks noChangeArrowheads="1"/>
                </p:cNvSpPr>
                <p:nvPr/>
              </p:nvSpPr>
              <p:spPr bwMode="auto">
                <a:xfrm>
                  <a:off x="618" y="2586"/>
                  <a:ext cx="720" cy="124"/>
                </a:xfrm>
                <a:prstGeom prst="roundRect">
                  <a:avLst>
                    <a:gd name="adj" fmla="val 50000"/>
                  </a:avLst>
                </a:prstGeom>
                <a:solidFill>
                  <a:schemeClr val="tx1"/>
                </a:solidFill>
                <a:ln>
                  <a:noFill/>
                </a:ln>
              </p:spPr>
              <p:txBody>
                <a:bodyPr wrap="none" anchor="ctr"/>
                <a:lstStyle/>
                <a:p>
                  <a:endParaRPr lang="en-US"/>
                </a:p>
              </p:txBody>
            </p:sp>
            <p:sp>
              <p:nvSpPr>
                <p:cNvPr id="48345"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29"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48330" name="Group 969"/>
              <p:cNvGrpSpPr/>
              <p:nvPr/>
            </p:nvGrpSpPr>
            <p:grpSpPr bwMode="auto">
              <a:xfrm>
                <a:off x="4739" y="1327"/>
                <a:ext cx="582" cy="139"/>
                <a:chOff x="614" y="2568"/>
                <a:chExt cx="725" cy="139"/>
              </a:xfrm>
            </p:grpSpPr>
            <p:sp>
              <p:nvSpPr>
                <p:cNvPr id="48342" name="AutoShape 970"/>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48343"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31"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48332"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33"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34" name="Oval 975"/>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48335"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48336"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48337"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48338" name="Oval 979"/>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48339" name="Oval 980"/>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a:solidFill>
                    <a:srgbClr val="FF0000"/>
                  </a:solidFill>
                </a:endParaRPr>
              </a:p>
            </p:txBody>
          </p:sp>
          <p:sp>
            <p:nvSpPr>
              <p:cNvPr id="48340" name="Oval 981"/>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48341"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grpSp>
      <p:sp>
        <p:nvSpPr>
          <p:cNvPr id="48129" name="Freeform 2"/>
          <p:cNvSpPr/>
          <p:nvPr/>
        </p:nvSpPr>
        <p:spPr bwMode="auto">
          <a:xfrm>
            <a:off x="2592388" y="5749925"/>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p:spPr>
        <p:txBody>
          <a:bodyPr wrap="none" anchor="ctr"/>
          <a:lstStyle/>
          <a:p>
            <a:endParaRPr lang="en-US"/>
          </a:p>
        </p:txBody>
      </p:sp>
      <p:cxnSp>
        <p:nvCxnSpPr>
          <p:cNvPr id="148" name="Straight Connector 147"/>
          <p:cNvCxnSpPr/>
          <p:nvPr/>
        </p:nvCxnSpPr>
        <p:spPr>
          <a:xfrm flipV="1">
            <a:off x="3262941" y="5900738"/>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3151816" y="6088063"/>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3164516" y="6192838"/>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4182104" y="6386513"/>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4842504" y="5934075"/>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4126541" y="6088063"/>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5453691" y="6116638"/>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4596441" y="5900738"/>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8261" name="Group 48260"/>
          <p:cNvGrpSpPr/>
          <p:nvPr/>
        </p:nvGrpSpPr>
        <p:grpSpPr>
          <a:xfrm>
            <a:off x="1526216" y="3003498"/>
            <a:ext cx="6978041" cy="1096962"/>
            <a:chOff x="1526216" y="3003498"/>
            <a:chExt cx="6978041" cy="1096962"/>
          </a:xfrm>
        </p:grpSpPr>
        <p:sp>
          <p:nvSpPr>
            <p:cNvPr id="48156" name="TextBox 399"/>
            <p:cNvSpPr txBox="1">
              <a:spLocks noChangeArrowheads="1"/>
            </p:cNvSpPr>
            <p:nvPr/>
          </p:nvSpPr>
          <p:spPr bwMode="auto">
            <a:xfrm>
              <a:off x="7714291" y="3628973"/>
              <a:ext cx="595313" cy="47148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a:t>data</a:t>
              </a:r>
            </a:p>
            <a:p>
              <a:pPr algn="ctr">
                <a:lnSpc>
                  <a:spcPts val="1465"/>
                </a:lnSpc>
              </a:pPr>
              <a:r>
                <a:rPr lang="en-US" sz="1400"/>
                <a:t>plane</a:t>
              </a:r>
            </a:p>
          </p:txBody>
        </p:sp>
        <p:sp>
          <p:nvSpPr>
            <p:cNvPr id="48157" name="TextBox 400"/>
            <p:cNvSpPr txBox="1">
              <a:spLocks noChangeArrowheads="1"/>
            </p:cNvSpPr>
            <p:nvPr/>
          </p:nvSpPr>
          <p:spPr bwMode="auto">
            <a:xfrm>
              <a:off x="7728579" y="3003498"/>
              <a:ext cx="709612" cy="47148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a:t>control</a:t>
              </a:r>
            </a:p>
            <a:p>
              <a:pPr algn="ctr">
                <a:lnSpc>
                  <a:spcPts val="1465"/>
                </a:lnSpc>
              </a:pPr>
              <a:r>
                <a:rPr lang="en-US" sz="1400"/>
                <a:t>plane</a:t>
              </a:r>
            </a:p>
          </p:txBody>
        </p:sp>
        <p:cxnSp>
          <p:nvCxnSpPr>
            <p:cNvPr id="302" name="Straight Connector 301"/>
            <p:cNvCxnSpPr/>
            <p:nvPr/>
          </p:nvCxnSpPr>
          <p:spPr bwMode="auto">
            <a:xfrm flipV="1">
              <a:off x="1526216" y="3579342"/>
              <a:ext cx="6978041" cy="12155"/>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2436115" y="2735108"/>
            <a:ext cx="4296530" cy="320561"/>
            <a:chOff x="2433511" y="2792111"/>
            <a:chExt cx="4296530" cy="320561"/>
          </a:xfrm>
        </p:grpSpPr>
        <p:grpSp>
          <p:nvGrpSpPr>
            <p:cNvPr id="48311" name="Group 401"/>
            <p:cNvGrpSpPr/>
            <p:nvPr/>
          </p:nvGrpSpPr>
          <p:grpSpPr bwMode="auto">
            <a:xfrm>
              <a:off x="2433511" y="2794083"/>
              <a:ext cx="349250" cy="317387"/>
              <a:chOff x="2931664" y="3912603"/>
              <a:chExt cx="430450" cy="329314"/>
            </a:xfrm>
          </p:grpSpPr>
          <p:sp>
            <p:nvSpPr>
              <p:cNvPr id="403" name="Rectangle 402"/>
              <p:cNvSpPr/>
              <p:nvPr/>
            </p:nvSpPr>
            <p:spPr>
              <a:xfrm>
                <a:off x="2937534" y="3912858"/>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4" name="Straight Connector 403"/>
              <p:cNvCxnSpPr/>
              <p:nvPr/>
            </p:nvCxnSpPr>
            <p:spPr>
              <a:xfrm>
                <a:off x="2931664" y="4005099"/>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a:off x="2931664" y="4067691"/>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a:stCxn id="403" idx="2"/>
              </p:cNvCxnSpPr>
              <p:nvPr/>
            </p:nvCxnSpPr>
            <p:spPr>
              <a:xfrm flipH="1" flipV="1">
                <a:off x="3148846" y="4005099"/>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2" name="Group 406"/>
            <p:cNvGrpSpPr/>
            <p:nvPr/>
          </p:nvGrpSpPr>
          <p:grpSpPr bwMode="auto">
            <a:xfrm>
              <a:off x="3348666" y="2792111"/>
              <a:ext cx="350838" cy="317387"/>
              <a:chOff x="2931664" y="3912603"/>
              <a:chExt cx="430450" cy="329314"/>
            </a:xfrm>
          </p:grpSpPr>
          <p:sp>
            <p:nvSpPr>
              <p:cNvPr id="408" name="Rectangle 407"/>
              <p:cNvSpPr/>
              <p:nvPr/>
            </p:nvSpPr>
            <p:spPr>
              <a:xfrm>
                <a:off x="2937508" y="3912861"/>
                <a:ext cx="424606"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9" name="Straight Connector 408"/>
              <p:cNvCxnSpPr/>
              <p:nvPr/>
            </p:nvCxnSpPr>
            <p:spPr>
              <a:xfrm>
                <a:off x="2931664" y="4005102"/>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0" name="Straight Connector 409"/>
              <p:cNvCxnSpPr/>
              <p:nvPr/>
            </p:nvCxnSpPr>
            <p:spPr>
              <a:xfrm>
                <a:off x="2931664" y="4067694"/>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1" name="Straight Connector 410"/>
              <p:cNvCxnSpPr>
                <a:stCxn id="408" idx="2"/>
              </p:cNvCxnSpPr>
              <p:nvPr/>
            </p:nvCxnSpPr>
            <p:spPr>
              <a:xfrm flipH="1" flipV="1">
                <a:off x="3147863" y="4005102"/>
                <a:ext cx="1947"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3" name="Group 411"/>
            <p:cNvGrpSpPr/>
            <p:nvPr/>
          </p:nvGrpSpPr>
          <p:grpSpPr bwMode="auto">
            <a:xfrm>
              <a:off x="4182104" y="2792111"/>
              <a:ext cx="350837" cy="317387"/>
              <a:chOff x="2931664" y="3912603"/>
              <a:chExt cx="430450" cy="329314"/>
            </a:xfrm>
          </p:grpSpPr>
          <p:sp>
            <p:nvSpPr>
              <p:cNvPr id="413" name="Rectangle 41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4" name="Straight Connector 41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5" name="Straight Connector 41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6" name="Straight Connector 415"/>
              <p:cNvCxnSpPr>
                <a:stCxn id="41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4" name="Group 416"/>
            <p:cNvGrpSpPr/>
            <p:nvPr/>
          </p:nvGrpSpPr>
          <p:grpSpPr bwMode="auto">
            <a:xfrm>
              <a:off x="5374316" y="2795285"/>
              <a:ext cx="349250" cy="317387"/>
              <a:chOff x="2931664" y="3912603"/>
              <a:chExt cx="430450" cy="329314"/>
            </a:xfrm>
          </p:grpSpPr>
          <p:sp>
            <p:nvSpPr>
              <p:cNvPr id="418" name="Rectangle 417"/>
              <p:cNvSpPr/>
              <p:nvPr/>
            </p:nvSpPr>
            <p:spPr>
              <a:xfrm>
                <a:off x="2937534" y="3912862"/>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9" name="Straight Connector 418"/>
              <p:cNvCxnSpPr/>
              <p:nvPr/>
            </p:nvCxnSpPr>
            <p:spPr>
              <a:xfrm>
                <a:off x="2931664" y="4005103"/>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0" name="Straight Connector 419"/>
              <p:cNvCxnSpPr/>
              <p:nvPr/>
            </p:nvCxnSpPr>
            <p:spPr>
              <a:xfrm>
                <a:off x="2931664" y="4067695"/>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1" name="Straight Connector 420"/>
              <p:cNvCxnSpPr>
                <a:stCxn id="418" idx="2"/>
              </p:cNvCxnSpPr>
              <p:nvPr/>
            </p:nvCxnSpPr>
            <p:spPr>
              <a:xfrm flipH="1" flipV="1">
                <a:off x="3148846" y="4005103"/>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5" name="Group 421"/>
            <p:cNvGrpSpPr/>
            <p:nvPr/>
          </p:nvGrpSpPr>
          <p:grpSpPr bwMode="auto">
            <a:xfrm>
              <a:off x="6379204" y="2792111"/>
              <a:ext cx="350837" cy="317387"/>
              <a:chOff x="2931664" y="3912603"/>
              <a:chExt cx="430450" cy="329314"/>
            </a:xfrm>
          </p:grpSpPr>
          <p:sp>
            <p:nvSpPr>
              <p:cNvPr id="423" name="Rectangle 42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4" name="Straight Connector 42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5" name="Straight Connector 42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6" name="Straight Connector 425"/>
              <p:cNvCxnSpPr>
                <a:stCxn id="42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48260" name="Group 48259"/>
          <p:cNvGrpSpPr/>
          <p:nvPr/>
        </p:nvGrpSpPr>
        <p:grpSpPr>
          <a:xfrm>
            <a:off x="1856416" y="3709935"/>
            <a:ext cx="5211763" cy="2739614"/>
            <a:chOff x="1856416" y="3709935"/>
            <a:chExt cx="5211763" cy="2739614"/>
          </a:xfrm>
        </p:grpSpPr>
        <p:sp>
          <p:nvSpPr>
            <p:cNvPr id="268" name="Freeform 267"/>
            <p:cNvSpPr/>
            <p:nvPr/>
          </p:nvSpPr>
          <p:spPr>
            <a:xfrm>
              <a:off x="1876731" y="5330139"/>
              <a:ext cx="1280789" cy="75908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1040633"/>
                <a:gd name="connsiteY0-162" fmla="*/ 1160935 h 1160935"/>
                <a:gd name="connsiteX1-163" fmla="*/ 0 w 1040633"/>
                <a:gd name="connsiteY1-164" fmla="*/ 0 h 1160935"/>
                <a:gd name="connsiteX2-165" fmla="*/ 1040633 w 1040633"/>
                <a:gd name="connsiteY2-166" fmla="*/ 16785 h 1160935"/>
                <a:gd name="connsiteX3-167" fmla="*/ 569478 w 1040633"/>
                <a:gd name="connsiteY3-168" fmla="*/ 1158121 h 1160935"/>
                <a:gd name="connsiteX4-169" fmla="*/ 363082 w 1040633"/>
                <a:gd name="connsiteY4-170" fmla="*/ 1160935 h 1160935"/>
                <a:gd name="connsiteX0-171" fmla="*/ 363082 w 1040633"/>
                <a:gd name="connsiteY0-172" fmla="*/ 1160935 h 1160935"/>
                <a:gd name="connsiteX1-173" fmla="*/ 0 w 1040633"/>
                <a:gd name="connsiteY1-174" fmla="*/ 0 h 1160935"/>
                <a:gd name="connsiteX2-175" fmla="*/ 1040633 w 1040633"/>
                <a:gd name="connsiteY2-176" fmla="*/ 16785 h 1160935"/>
                <a:gd name="connsiteX3-177" fmla="*/ 569478 w 1040633"/>
                <a:gd name="connsiteY3-178" fmla="*/ 1158121 h 1160935"/>
                <a:gd name="connsiteX4-179" fmla="*/ 363082 w 1040633"/>
                <a:gd name="connsiteY4-180" fmla="*/ 1160935 h 1160935"/>
                <a:gd name="connsiteX0-181" fmla="*/ 448507 w 1040633"/>
                <a:gd name="connsiteY0-182" fmla="*/ 1160935 h 1160935"/>
                <a:gd name="connsiteX1-183" fmla="*/ 0 w 1040633"/>
                <a:gd name="connsiteY1-184" fmla="*/ 0 h 1160935"/>
                <a:gd name="connsiteX2-185" fmla="*/ 1040633 w 1040633"/>
                <a:gd name="connsiteY2-186" fmla="*/ 16785 h 1160935"/>
                <a:gd name="connsiteX3-187" fmla="*/ 569478 w 1040633"/>
                <a:gd name="connsiteY3-188" fmla="*/ 1158121 h 1160935"/>
                <a:gd name="connsiteX4-189" fmla="*/ 448507 w 1040633"/>
                <a:gd name="connsiteY4-190" fmla="*/ 1160935 h 1160935"/>
                <a:gd name="connsiteX0-191" fmla="*/ 448507 w 1040633"/>
                <a:gd name="connsiteY0-192" fmla="*/ 1160935 h 1160935"/>
                <a:gd name="connsiteX1-193" fmla="*/ 0 w 1040633"/>
                <a:gd name="connsiteY1-194" fmla="*/ 0 h 1160935"/>
                <a:gd name="connsiteX2-195" fmla="*/ 1040633 w 1040633"/>
                <a:gd name="connsiteY2-196" fmla="*/ 16785 h 1160935"/>
                <a:gd name="connsiteX3-197" fmla="*/ 569478 w 1040633"/>
                <a:gd name="connsiteY3-198" fmla="*/ 1158121 h 1160935"/>
                <a:gd name="connsiteX4-199" fmla="*/ 448507 w 1040633"/>
                <a:gd name="connsiteY4-200" fmla="*/ 1160935 h 1160935"/>
                <a:gd name="connsiteX0-201" fmla="*/ 448507 w 1040633"/>
                <a:gd name="connsiteY0-202" fmla="*/ 1160935 h 1160935"/>
                <a:gd name="connsiteX1-203" fmla="*/ 0 w 1040633"/>
                <a:gd name="connsiteY1-204" fmla="*/ 0 h 1160935"/>
                <a:gd name="connsiteX2-205" fmla="*/ 1040633 w 1040633"/>
                <a:gd name="connsiteY2-206" fmla="*/ 16785 h 1160935"/>
                <a:gd name="connsiteX3-207" fmla="*/ 569478 w 1040633"/>
                <a:gd name="connsiteY3-208" fmla="*/ 1158121 h 1160935"/>
                <a:gd name="connsiteX4-209" fmla="*/ 448507 w 1040633"/>
                <a:gd name="connsiteY4-210" fmla="*/ 1160935 h 1160935"/>
                <a:gd name="connsiteX0-211" fmla="*/ 448507 w 1325315"/>
                <a:gd name="connsiteY0-212" fmla="*/ 1160935 h 1160935"/>
                <a:gd name="connsiteX1-213" fmla="*/ 0 w 1325315"/>
                <a:gd name="connsiteY1-214" fmla="*/ 0 h 1160935"/>
                <a:gd name="connsiteX2-215" fmla="*/ 1040633 w 1325315"/>
                <a:gd name="connsiteY2-216" fmla="*/ 16785 h 1160935"/>
                <a:gd name="connsiteX3-217" fmla="*/ 1214315 w 1325315"/>
                <a:gd name="connsiteY3-218" fmla="*/ 1064597 h 1160935"/>
                <a:gd name="connsiteX4-219" fmla="*/ 448507 w 1325315"/>
                <a:gd name="connsiteY4-220" fmla="*/ 1160935 h 1160935"/>
                <a:gd name="connsiteX0-221" fmla="*/ 448507 w 1214315"/>
                <a:gd name="connsiteY0-222" fmla="*/ 1160935 h 1160935"/>
                <a:gd name="connsiteX1-223" fmla="*/ 0 w 1214315"/>
                <a:gd name="connsiteY1-224" fmla="*/ 0 h 1160935"/>
                <a:gd name="connsiteX2-225" fmla="*/ 1040633 w 1214315"/>
                <a:gd name="connsiteY2-226" fmla="*/ 16785 h 1160935"/>
                <a:gd name="connsiteX3-227" fmla="*/ 1214315 w 1214315"/>
                <a:gd name="connsiteY3-228" fmla="*/ 1064597 h 1160935"/>
                <a:gd name="connsiteX4-229" fmla="*/ 448507 w 1214315"/>
                <a:gd name="connsiteY4-230" fmla="*/ 1160935 h 1160935"/>
                <a:gd name="connsiteX0-231" fmla="*/ 448507 w 1214315"/>
                <a:gd name="connsiteY0-232" fmla="*/ 1160935 h 1160935"/>
                <a:gd name="connsiteX1-233" fmla="*/ 0 w 1214315"/>
                <a:gd name="connsiteY1-234" fmla="*/ 0 h 1160935"/>
                <a:gd name="connsiteX2-235" fmla="*/ 1040633 w 1214315"/>
                <a:gd name="connsiteY2-236" fmla="*/ 16785 h 1160935"/>
                <a:gd name="connsiteX3-237" fmla="*/ 1214315 w 1214315"/>
                <a:gd name="connsiteY3-238" fmla="*/ 1064597 h 1160935"/>
                <a:gd name="connsiteX4-239" fmla="*/ 448507 w 1214315"/>
                <a:gd name="connsiteY4-240" fmla="*/ 1160935 h 1160935"/>
                <a:gd name="connsiteX0-241" fmla="*/ 1053964 w 1214315"/>
                <a:gd name="connsiteY0-242" fmla="*/ 1136323 h 1136323"/>
                <a:gd name="connsiteX1-243" fmla="*/ 0 w 1214315"/>
                <a:gd name="connsiteY1-244" fmla="*/ 0 h 1136323"/>
                <a:gd name="connsiteX2-245" fmla="*/ 1040633 w 1214315"/>
                <a:gd name="connsiteY2-246" fmla="*/ 16785 h 1136323"/>
                <a:gd name="connsiteX3-247" fmla="*/ 1214315 w 1214315"/>
                <a:gd name="connsiteY3-248" fmla="*/ 1064597 h 1136323"/>
                <a:gd name="connsiteX4-249" fmla="*/ 1053964 w 1214315"/>
                <a:gd name="connsiteY4-250" fmla="*/ 1136323 h 1136323"/>
                <a:gd name="connsiteX0-251" fmla="*/ 1053964 w 1214315"/>
                <a:gd name="connsiteY0-252" fmla="*/ 1136323 h 1136323"/>
                <a:gd name="connsiteX1-253" fmla="*/ 0 w 1214315"/>
                <a:gd name="connsiteY1-254" fmla="*/ 0 h 1136323"/>
                <a:gd name="connsiteX2-255" fmla="*/ 1040633 w 1214315"/>
                <a:gd name="connsiteY2-256" fmla="*/ 16785 h 1136323"/>
                <a:gd name="connsiteX3-257" fmla="*/ 1214315 w 1214315"/>
                <a:gd name="connsiteY3-258" fmla="*/ 1064597 h 1136323"/>
                <a:gd name="connsiteX4-259" fmla="*/ 1053964 w 1214315"/>
                <a:gd name="connsiteY4-260" fmla="*/ 1136323 h 1136323"/>
                <a:gd name="connsiteX0-261" fmla="*/ 1053964 w 1214315"/>
                <a:gd name="connsiteY0-262" fmla="*/ 1136323 h 1136323"/>
                <a:gd name="connsiteX1-263" fmla="*/ 0 w 1214315"/>
                <a:gd name="connsiteY1-264" fmla="*/ 0 h 1136323"/>
                <a:gd name="connsiteX2-265" fmla="*/ 1040633 w 1214315"/>
                <a:gd name="connsiteY2-266" fmla="*/ 16785 h 1136323"/>
                <a:gd name="connsiteX3-267" fmla="*/ 1214315 w 1214315"/>
                <a:gd name="connsiteY3-268" fmla="*/ 1064597 h 1136323"/>
                <a:gd name="connsiteX4-269" fmla="*/ 1053964 w 1214315"/>
                <a:gd name="connsiteY4-270" fmla="*/ 1136323 h 1136323"/>
                <a:gd name="connsiteX0-271" fmla="*/ 1060159 w 1220510"/>
                <a:gd name="connsiteY0-272" fmla="*/ 1119627 h 1119627"/>
                <a:gd name="connsiteX1-273" fmla="*/ 0 w 1220510"/>
                <a:gd name="connsiteY1-274" fmla="*/ 249694 h 1119627"/>
                <a:gd name="connsiteX2-275" fmla="*/ 1046828 w 1220510"/>
                <a:gd name="connsiteY2-276" fmla="*/ 89 h 1119627"/>
                <a:gd name="connsiteX3-277" fmla="*/ 1220510 w 1220510"/>
                <a:gd name="connsiteY3-278" fmla="*/ 1047901 h 1119627"/>
                <a:gd name="connsiteX4-279" fmla="*/ 1060159 w 1220510"/>
                <a:gd name="connsiteY4-280" fmla="*/ 1119627 h 1119627"/>
                <a:gd name="connsiteX0-281" fmla="*/ 1060159 w 1220510"/>
                <a:gd name="connsiteY0-282" fmla="*/ 1119627 h 1119627"/>
                <a:gd name="connsiteX1-283" fmla="*/ 0 w 1220510"/>
                <a:gd name="connsiteY1-284" fmla="*/ 249694 h 1119627"/>
                <a:gd name="connsiteX2-285" fmla="*/ 1046828 w 1220510"/>
                <a:gd name="connsiteY2-286" fmla="*/ 89 h 1119627"/>
                <a:gd name="connsiteX3-287" fmla="*/ 1220510 w 1220510"/>
                <a:gd name="connsiteY3-288" fmla="*/ 1047901 h 1119627"/>
                <a:gd name="connsiteX4-289" fmla="*/ 1060159 w 1220510"/>
                <a:gd name="connsiteY4-290" fmla="*/ 1119627 h 1119627"/>
                <a:gd name="connsiteX0-291" fmla="*/ 1060159 w 1220510"/>
                <a:gd name="connsiteY0-292" fmla="*/ 1119627 h 1119627"/>
                <a:gd name="connsiteX1-293" fmla="*/ 0 w 1220510"/>
                <a:gd name="connsiteY1-294" fmla="*/ 249694 h 1119627"/>
                <a:gd name="connsiteX2-295" fmla="*/ 1046828 w 1220510"/>
                <a:gd name="connsiteY2-296" fmla="*/ 89 h 1119627"/>
                <a:gd name="connsiteX3-297" fmla="*/ 1220510 w 1220510"/>
                <a:gd name="connsiteY3-298" fmla="*/ 1047901 h 1119627"/>
                <a:gd name="connsiteX4-299" fmla="*/ 1060159 w 1220510"/>
                <a:gd name="connsiteY4-300" fmla="*/ 1119627 h 1119627"/>
                <a:gd name="connsiteX0-301" fmla="*/ 1060159 w 1220510"/>
                <a:gd name="connsiteY0-302" fmla="*/ 921649 h 921649"/>
                <a:gd name="connsiteX1-303" fmla="*/ 0 w 1220510"/>
                <a:gd name="connsiteY1-304" fmla="*/ 51716 h 921649"/>
                <a:gd name="connsiteX2-305" fmla="*/ 1059218 w 1220510"/>
                <a:gd name="connsiteY2-306" fmla="*/ 355 h 921649"/>
                <a:gd name="connsiteX3-307" fmla="*/ 1220510 w 1220510"/>
                <a:gd name="connsiteY3-308" fmla="*/ 849923 h 921649"/>
                <a:gd name="connsiteX4-309" fmla="*/ 1060159 w 1220510"/>
                <a:gd name="connsiteY4-310" fmla="*/ 921649 h 921649"/>
                <a:gd name="connsiteX0-311" fmla="*/ 1060159 w 1220510"/>
                <a:gd name="connsiteY0-312" fmla="*/ 921649 h 921649"/>
                <a:gd name="connsiteX1-313" fmla="*/ 0 w 1220510"/>
                <a:gd name="connsiteY1-314" fmla="*/ 51716 h 921649"/>
                <a:gd name="connsiteX2-315" fmla="*/ 1059218 w 1220510"/>
                <a:gd name="connsiteY2-316" fmla="*/ 355 h 921649"/>
                <a:gd name="connsiteX3-317" fmla="*/ 1220510 w 1220510"/>
                <a:gd name="connsiteY3-318" fmla="*/ 849923 h 921649"/>
                <a:gd name="connsiteX4-319" fmla="*/ 1060159 w 1220510"/>
                <a:gd name="connsiteY4-320" fmla="*/ 921649 h 921649"/>
                <a:gd name="connsiteX0-321" fmla="*/ 1060159 w 1220510"/>
                <a:gd name="connsiteY0-322" fmla="*/ 921649 h 921649"/>
                <a:gd name="connsiteX1-323" fmla="*/ 0 w 1220510"/>
                <a:gd name="connsiteY1-324" fmla="*/ 51716 h 921649"/>
                <a:gd name="connsiteX2-325" fmla="*/ 1059218 w 1220510"/>
                <a:gd name="connsiteY2-326" fmla="*/ 355 h 921649"/>
                <a:gd name="connsiteX3-327" fmla="*/ 1220510 w 1220510"/>
                <a:gd name="connsiteY3-328" fmla="*/ 849923 h 921649"/>
                <a:gd name="connsiteX4-329" fmla="*/ 1060159 w 1220510"/>
                <a:gd name="connsiteY4-330" fmla="*/ 921649 h 921649"/>
                <a:gd name="connsiteX0-331" fmla="*/ 1060159 w 1340486"/>
                <a:gd name="connsiteY0-332" fmla="*/ 921649 h 921649"/>
                <a:gd name="connsiteX1-333" fmla="*/ 0 w 1340486"/>
                <a:gd name="connsiteY1-334" fmla="*/ 51716 h 921649"/>
                <a:gd name="connsiteX2-335" fmla="*/ 1059218 w 1340486"/>
                <a:gd name="connsiteY2-336" fmla="*/ 355 h 921649"/>
                <a:gd name="connsiteX3-337" fmla="*/ 1340486 w 1340486"/>
                <a:gd name="connsiteY3-338" fmla="*/ 709789 h 921649"/>
                <a:gd name="connsiteX4-339" fmla="*/ 1060159 w 1340486"/>
                <a:gd name="connsiteY4-340" fmla="*/ 921649 h 921649"/>
                <a:gd name="connsiteX0-341" fmla="*/ 1060159 w 1340486"/>
                <a:gd name="connsiteY0-342" fmla="*/ 921649 h 921649"/>
                <a:gd name="connsiteX1-343" fmla="*/ 0 w 1340486"/>
                <a:gd name="connsiteY1-344" fmla="*/ 51716 h 921649"/>
                <a:gd name="connsiteX2-345" fmla="*/ 1059218 w 1340486"/>
                <a:gd name="connsiteY2-346" fmla="*/ 355 h 921649"/>
                <a:gd name="connsiteX3-347" fmla="*/ 1340486 w 1340486"/>
                <a:gd name="connsiteY3-348" fmla="*/ 709789 h 921649"/>
                <a:gd name="connsiteX4-349" fmla="*/ 1060159 w 1340486"/>
                <a:gd name="connsiteY4-350" fmla="*/ 921649 h 921649"/>
                <a:gd name="connsiteX0-351" fmla="*/ 1060159 w 1340486"/>
                <a:gd name="connsiteY0-352" fmla="*/ 921649 h 921649"/>
                <a:gd name="connsiteX1-353" fmla="*/ 0 w 1340486"/>
                <a:gd name="connsiteY1-354" fmla="*/ 51716 h 921649"/>
                <a:gd name="connsiteX2-355" fmla="*/ 1059218 w 1340486"/>
                <a:gd name="connsiteY2-356" fmla="*/ 355 h 921649"/>
                <a:gd name="connsiteX3-357" fmla="*/ 1340486 w 1340486"/>
                <a:gd name="connsiteY3-358" fmla="*/ 709789 h 921649"/>
                <a:gd name="connsiteX4-359" fmla="*/ 1060159 w 1340486"/>
                <a:gd name="connsiteY4-360" fmla="*/ 921649 h 921649"/>
                <a:gd name="connsiteX0-361" fmla="*/ 1025166 w 1340486"/>
                <a:gd name="connsiteY0-362" fmla="*/ 746482 h 746482"/>
                <a:gd name="connsiteX1-363" fmla="*/ 0 w 1340486"/>
                <a:gd name="connsiteY1-364" fmla="*/ 51716 h 746482"/>
                <a:gd name="connsiteX2-365" fmla="*/ 1059218 w 1340486"/>
                <a:gd name="connsiteY2-366" fmla="*/ 355 h 746482"/>
                <a:gd name="connsiteX3-367" fmla="*/ 1340486 w 1340486"/>
                <a:gd name="connsiteY3-368" fmla="*/ 709789 h 746482"/>
                <a:gd name="connsiteX4-369" fmla="*/ 1025166 w 1340486"/>
                <a:gd name="connsiteY4-370" fmla="*/ 746482 h 746482"/>
                <a:gd name="connsiteX0-371" fmla="*/ 1025166 w 1340486"/>
                <a:gd name="connsiteY0-372" fmla="*/ 746482 h 746482"/>
                <a:gd name="connsiteX1-373" fmla="*/ 0 w 1340486"/>
                <a:gd name="connsiteY1-374" fmla="*/ 51716 h 746482"/>
                <a:gd name="connsiteX2-375" fmla="*/ 1059218 w 1340486"/>
                <a:gd name="connsiteY2-376" fmla="*/ 355 h 746482"/>
                <a:gd name="connsiteX3-377" fmla="*/ 1340486 w 1340486"/>
                <a:gd name="connsiteY3-378" fmla="*/ 709789 h 746482"/>
                <a:gd name="connsiteX4-379" fmla="*/ 1025166 w 1340486"/>
                <a:gd name="connsiteY4-380" fmla="*/ 746482 h 746482"/>
                <a:gd name="connsiteX0-381" fmla="*/ 965179 w 1280499"/>
                <a:gd name="connsiteY0-382" fmla="*/ 759828 h 759828"/>
                <a:gd name="connsiteX1-383" fmla="*/ 0 w 1280499"/>
                <a:gd name="connsiteY1-384" fmla="*/ 0 h 759828"/>
                <a:gd name="connsiteX2-385" fmla="*/ 999231 w 1280499"/>
                <a:gd name="connsiteY2-386" fmla="*/ 13701 h 759828"/>
                <a:gd name="connsiteX3-387" fmla="*/ 1280499 w 1280499"/>
                <a:gd name="connsiteY3-388" fmla="*/ 723135 h 759828"/>
                <a:gd name="connsiteX4-389" fmla="*/ 965179 w 1280499"/>
                <a:gd name="connsiteY4-390" fmla="*/ 759828 h 759828"/>
                <a:gd name="connsiteX0-391" fmla="*/ 965179 w 1280499"/>
                <a:gd name="connsiteY0-392" fmla="*/ 759828 h 759828"/>
                <a:gd name="connsiteX1-393" fmla="*/ 0 w 1280499"/>
                <a:gd name="connsiteY1-394" fmla="*/ 0 h 759828"/>
                <a:gd name="connsiteX2-395" fmla="*/ 999231 w 1280499"/>
                <a:gd name="connsiteY2-396" fmla="*/ 13701 h 759828"/>
                <a:gd name="connsiteX3-397" fmla="*/ 1280499 w 1280499"/>
                <a:gd name="connsiteY3-398" fmla="*/ 723135 h 759828"/>
                <a:gd name="connsiteX4-399" fmla="*/ 965179 w 1280499"/>
                <a:gd name="connsiteY4-400" fmla="*/ 759828 h 75982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202668" y="5429198"/>
              <a:ext cx="865511" cy="55382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3004 w 954755"/>
                <a:gd name="connsiteY0-372" fmla="*/ 943771 h 976186"/>
                <a:gd name="connsiteX1-373" fmla="*/ 455145 w 954755"/>
                <a:gd name="connsiteY1-374" fmla="*/ 11688 h 976186"/>
                <a:gd name="connsiteX2-375" fmla="*/ 954755 w 954755"/>
                <a:gd name="connsiteY2-376" fmla="*/ 0 h 976186"/>
                <a:gd name="connsiteX3-377" fmla="*/ 728484 w 954755"/>
                <a:gd name="connsiteY3-378" fmla="*/ 976186 h 976186"/>
                <a:gd name="connsiteX4-379" fmla="*/ 23004 w 954755"/>
                <a:gd name="connsiteY4-380" fmla="*/ 943771 h 976186"/>
                <a:gd name="connsiteX0-381" fmla="*/ 0 w 931751"/>
                <a:gd name="connsiteY0-382" fmla="*/ 943771 h 976186"/>
                <a:gd name="connsiteX1-383" fmla="*/ 432141 w 931751"/>
                <a:gd name="connsiteY1-384" fmla="*/ 11688 h 976186"/>
                <a:gd name="connsiteX2-385" fmla="*/ 931751 w 931751"/>
                <a:gd name="connsiteY2-386" fmla="*/ 0 h 976186"/>
                <a:gd name="connsiteX3-387" fmla="*/ 705480 w 931751"/>
                <a:gd name="connsiteY3-388" fmla="*/ 976186 h 976186"/>
                <a:gd name="connsiteX4-389" fmla="*/ 0 w 931751"/>
                <a:gd name="connsiteY4-390" fmla="*/ 943771 h 976186"/>
                <a:gd name="connsiteX0-391" fmla="*/ 0 w 931751"/>
                <a:gd name="connsiteY0-392" fmla="*/ 943771 h 976186"/>
                <a:gd name="connsiteX1-393" fmla="*/ 432141 w 931751"/>
                <a:gd name="connsiteY1-394" fmla="*/ 11688 h 976186"/>
                <a:gd name="connsiteX2-395" fmla="*/ 931751 w 931751"/>
                <a:gd name="connsiteY2-396" fmla="*/ 0 h 976186"/>
                <a:gd name="connsiteX3-397" fmla="*/ 705480 w 931751"/>
                <a:gd name="connsiteY3-398" fmla="*/ 976186 h 976186"/>
                <a:gd name="connsiteX4-399" fmla="*/ 0 w 931751"/>
                <a:gd name="connsiteY4-400" fmla="*/ 943771 h 976186"/>
                <a:gd name="connsiteX0-401" fmla="*/ 0 w 931751"/>
                <a:gd name="connsiteY0-402" fmla="*/ 943771 h 976186"/>
                <a:gd name="connsiteX1-403" fmla="*/ 432141 w 931751"/>
                <a:gd name="connsiteY1-404" fmla="*/ 11688 h 976186"/>
                <a:gd name="connsiteX2-405" fmla="*/ 931751 w 931751"/>
                <a:gd name="connsiteY2-406" fmla="*/ 0 h 976186"/>
                <a:gd name="connsiteX3-407" fmla="*/ 705480 w 931751"/>
                <a:gd name="connsiteY3-408" fmla="*/ 976186 h 976186"/>
                <a:gd name="connsiteX4-409" fmla="*/ 0 w 931751"/>
                <a:gd name="connsiteY4-410" fmla="*/ 943771 h 976186"/>
                <a:gd name="connsiteX0-411" fmla="*/ 0 w 931751"/>
                <a:gd name="connsiteY0-412" fmla="*/ 943771 h 966342"/>
                <a:gd name="connsiteX1-413" fmla="*/ 432141 w 931751"/>
                <a:gd name="connsiteY1-414" fmla="*/ 11688 h 966342"/>
                <a:gd name="connsiteX2-415" fmla="*/ 931751 w 931751"/>
                <a:gd name="connsiteY2-416" fmla="*/ 0 h 966342"/>
                <a:gd name="connsiteX3-417" fmla="*/ 183705 w 931751"/>
                <a:gd name="connsiteY3-418" fmla="*/ 966342 h 966342"/>
                <a:gd name="connsiteX4-419" fmla="*/ 0 w 931751"/>
                <a:gd name="connsiteY4-420" fmla="*/ 943771 h 966342"/>
                <a:gd name="connsiteX0-421" fmla="*/ 0 w 931751"/>
                <a:gd name="connsiteY0-422" fmla="*/ 943771 h 966342"/>
                <a:gd name="connsiteX1-423" fmla="*/ 432141 w 931751"/>
                <a:gd name="connsiteY1-424" fmla="*/ 11688 h 966342"/>
                <a:gd name="connsiteX2-425" fmla="*/ 931751 w 931751"/>
                <a:gd name="connsiteY2-426" fmla="*/ 0 h 966342"/>
                <a:gd name="connsiteX3-427" fmla="*/ 183705 w 931751"/>
                <a:gd name="connsiteY3-428" fmla="*/ 966342 h 966342"/>
                <a:gd name="connsiteX4-429" fmla="*/ 0 w 931751"/>
                <a:gd name="connsiteY4-430" fmla="*/ 943771 h 966342"/>
                <a:gd name="connsiteX0-431" fmla="*/ 0 w 931751"/>
                <a:gd name="connsiteY0-432" fmla="*/ 943771 h 966342"/>
                <a:gd name="connsiteX1-433" fmla="*/ 432141 w 931751"/>
                <a:gd name="connsiteY1-434" fmla="*/ 11688 h 966342"/>
                <a:gd name="connsiteX2-435" fmla="*/ 931751 w 931751"/>
                <a:gd name="connsiteY2-436" fmla="*/ 0 h 966342"/>
                <a:gd name="connsiteX3-437" fmla="*/ 183705 w 931751"/>
                <a:gd name="connsiteY3-438" fmla="*/ 966342 h 966342"/>
                <a:gd name="connsiteX4-439" fmla="*/ 0 w 931751"/>
                <a:gd name="connsiteY4-440" fmla="*/ 943771 h 966342"/>
                <a:gd name="connsiteX0-441" fmla="*/ 0 w 956363"/>
                <a:gd name="connsiteY0-442" fmla="*/ 932083 h 954654"/>
                <a:gd name="connsiteX1-443" fmla="*/ 432141 w 956363"/>
                <a:gd name="connsiteY1-444" fmla="*/ 0 h 954654"/>
                <a:gd name="connsiteX2-445" fmla="*/ 956363 w 956363"/>
                <a:gd name="connsiteY2-446" fmla="*/ 12924 h 954654"/>
                <a:gd name="connsiteX3-447" fmla="*/ 183705 w 956363"/>
                <a:gd name="connsiteY3-448" fmla="*/ 954654 h 954654"/>
                <a:gd name="connsiteX4-449" fmla="*/ 0 w 956363"/>
                <a:gd name="connsiteY4-450" fmla="*/ 932083 h 954654"/>
                <a:gd name="connsiteX0-451" fmla="*/ 0 w 956363"/>
                <a:gd name="connsiteY0-452" fmla="*/ 919226 h 941797"/>
                <a:gd name="connsiteX1-453" fmla="*/ 405840 w 956363"/>
                <a:gd name="connsiteY1-454" fmla="*/ 197551 h 941797"/>
                <a:gd name="connsiteX2-455" fmla="*/ 956363 w 956363"/>
                <a:gd name="connsiteY2-456" fmla="*/ 67 h 941797"/>
                <a:gd name="connsiteX3-457" fmla="*/ 183705 w 956363"/>
                <a:gd name="connsiteY3-458" fmla="*/ 941797 h 941797"/>
                <a:gd name="connsiteX4-459" fmla="*/ 0 w 956363"/>
                <a:gd name="connsiteY4-460" fmla="*/ 919226 h 941797"/>
                <a:gd name="connsiteX0-461" fmla="*/ 0 w 956363"/>
                <a:gd name="connsiteY0-462" fmla="*/ 919226 h 941797"/>
                <a:gd name="connsiteX1-463" fmla="*/ 405840 w 956363"/>
                <a:gd name="connsiteY1-464" fmla="*/ 197551 h 941797"/>
                <a:gd name="connsiteX2-465" fmla="*/ 956363 w 956363"/>
                <a:gd name="connsiteY2-466" fmla="*/ 67 h 941797"/>
                <a:gd name="connsiteX3-467" fmla="*/ 183705 w 956363"/>
                <a:gd name="connsiteY3-468" fmla="*/ 941797 h 941797"/>
                <a:gd name="connsiteX4-469" fmla="*/ 0 w 956363"/>
                <a:gd name="connsiteY4-470" fmla="*/ 919226 h 941797"/>
                <a:gd name="connsiteX0-471" fmla="*/ 0 w 956363"/>
                <a:gd name="connsiteY0-472" fmla="*/ 919226 h 941797"/>
                <a:gd name="connsiteX1-473" fmla="*/ 405840 w 956363"/>
                <a:gd name="connsiteY1-474" fmla="*/ 197551 h 941797"/>
                <a:gd name="connsiteX2-475" fmla="*/ 956363 w 956363"/>
                <a:gd name="connsiteY2-476" fmla="*/ 67 h 941797"/>
                <a:gd name="connsiteX3-477" fmla="*/ 183705 w 956363"/>
                <a:gd name="connsiteY3-478" fmla="*/ 941797 h 941797"/>
                <a:gd name="connsiteX4-479" fmla="*/ 0 w 956363"/>
                <a:gd name="connsiteY4-480" fmla="*/ 919226 h 941797"/>
                <a:gd name="connsiteX0-481" fmla="*/ 0 w 926304"/>
                <a:gd name="connsiteY0-482" fmla="*/ 735614 h 758185"/>
                <a:gd name="connsiteX1-483" fmla="*/ 405840 w 926304"/>
                <a:gd name="connsiteY1-484" fmla="*/ 13939 h 758185"/>
                <a:gd name="connsiteX2-485" fmla="*/ 926304 w 926304"/>
                <a:gd name="connsiteY2-486" fmla="*/ 563 h 758185"/>
                <a:gd name="connsiteX3-487" fmla="*/ 183705 w 926304"/>
                <a:gd name="connsiteY3-488" fmla="*/ 758185 h 758185"/>
                <a:gd name="connsiteX4-489" fmla="*/ 0 w 926304"/>
                <a:gd name="connsiteY4-490" fmla="*/ 735614 h 758185"/>
                <a:gd name="connsiteX0-491" fmla="*/ 0 w 926304"/>
                <a:gd name="connsiteY0-492" fmla="*/ 735614 h 758185"/>
                <a:gd name="connsiteX1-493" fmla="*/ 405840 w 926304"/>
                <a:gd name="connsiteY1-494" fmla="*/ 13939 h 758185"/>
                <a:gd name="connsiteX2-495" fmla="*/ 926304 w 926304"/>
                <a:gd name="connsiteY2-496" fmla="*/ 563 h 758185"/>
                <a:gd name="connsiteX3-497" fmla="*/ 183705 w 926304"/>
                <a:gd name="connsiteY3-498" fmla="*/ 758185 h 758185"/>
                <a:gd name="connsiteX4-499" fmla="*/ 0 w 926304"/>
                <a:gd name="connsiteY4-500" fmla="*/ 735614 h 758185"/>
                <a:gd name="connsiteX0-501" fmla="*/ 0 w 926304"/>
                <a:gd name="connsiteY0-502" fmla="*/ 735614 h 758185"/>
                <a:gd name="connsiteX1-503" fmla="*/ 405840 w 926304"/>
                <a:gd name="connsiteY1-504" fmla="*/ 13939 h 758185"/>
                <a:gd name="connsiteX2-505" fmla="*/ 926304 w 926304"/>
                <a:gd name="connsiteY2-506" fmla="*/ 563 h 758185"/>
                <a:gd name="connsiteX3-507" fmla="*/ 183705 w 926304"/>
                <a:gd name="connsiteY3-508" fmla="*/ 758185 h 758185"/>
                <a:gd name="connsiteX4-509" fmla="*/ 0 w 926304"/>
                <a:gd name="connsiteY4-510" fmla="*/ 735614 h 758185"/>
                <a:gd name="connsiteX0-511" fmla="*/ 0 w 926304"/>
                <a:gd name="connsiteY0-512" fmla="*/ 735614 h 758185"/>
                <a:gd name="connsiteX1-513" fmla="*/ 405840 w 926304"/>
                <a:gd name="connsiteY1-514" fmla="*/ 13939 h 758185"/>
                <a:gd name="connsiteX2-515" fmla="*/ 926304 w 926304"/>
                <a:gd name="connsiteY2-516" fmla="*/ 563 h 758185"/>
                <a:gd name="connsiteX3-517" fmla="*/ 183705 w 926304"/>
                <a:gd name="connsiteY3-518" fmla="*/ 758185 h 758185"/>
                <a:gd name="connsiteX4-519" fmla="*/ 0 w 926304"/>
                <a:gd name="connsiteY4-520" fmla="*/ 735614 h 758185"/>
                <a:gd name="connsiteX0-521" fmla="*/ 0 w 1011379"/>
                <a:gd name="connsiteY0-522" fmla="*/ 605727 h 758185"/>
                <a:gd name="connsiteX1-523" fmla="*/ 490915 w 1011379"/>
                <a:gd name="connsiteY1-524" fmla="*/ 13939 h 758185"/>
                <a:gd name="connsiteX2-525" fmla="*/ 1011379 w 1011379"/>
                <a:gd name="connsiteY2-526" fmla="*/ 563 h 758185"/>
                <a:gd name="connsiteX3-527" fmla="*/ 268780 w 1011379"/>
                <a:gd name="connsiteY3-528" fmla="*/ 758185 h 758185"/>
                <a:gd name="connsiteX4-529" fmla="*/ 0 w 1011379"/>
                <a:gd name="connsiteY4-530" fmla="*/ 605727 h 758185"/>
                <a:gd name="connsiteX0-531" fmla="*/ 0 w 1011379"/>
                <a:gd name="connsiteY0-532" fmla="*/ 605727 h 648280"/>
                <a:gd name="connsiteX1-533" fmla="*/ 490915 w 1011379"/>
                <a:gd name="connsiteY1-534" fmla="*/ 13939 h 648280"/>
                <a:gd name="connsiteX2-535" fmla="*/ 1011379 w 1011379"/>
                <a:gd name="connsiteY2-536" fmla="*/ 563 h 648280"/>
                <a:gd name="connsiteX3-537" fmla="*/ 198718 w 1011379"/>
                <a:gd name="connsiteY3-538" fmla="*/ 648280 h 648280"/>
                <a:gd name="connsiteX4-539" fmla="*/ 0 w 1011379"/>
                <a:gd name="connsiteY4-540" fmla="*/ 605727 h 648280"/>
                <a:gd name="connsiteX0-541" fmla="*/ 0 w 1011379"/>
                <a:gd name="connsiteY0-542" fmla="*/ 605727 h 648280"/>
                <a:gd name="connsiteX1-543" fmla="*/ 490915 w 1011379"/>
                <a:gd name="connsiteY1-544" fmla="*/ 13939 h 648280"/>
                <a:gd name="connsiteX2-545" fmla="*/ 1011379 w 1011379"/>
                <a:gd name="connsiteY2-546" fmla="*/ 563 h 648280"/>
                <a:gd name="connsiteX3-547" fmla="*/ 198718 w 1011379"/>
                <a:gd name="connsiteY3-548" fmla="*/ 648280 h 648280"/>
                <a:gd name="connsiteX4-549" fmla="*/ 0 w 1011379"/>
                <a:gd name="connsiteY4-550" fmla="*/ 605727 h 648280"/>
                <a:gd name="connsiteX0-551" fmla="*/ 0 w 1011379"/>
                <a:gd name="connsiteY0-552" fmla="*/ 605727 h 648280"/>
                <a:gd name="connsiteX1-553" fmla="*/ 490915 w 1011379"/>
                <a:gd name="connsiteY1-554" fmla="*/ 13939 h 648280"/>
                <a:gd name="connsiteX2-555" fmla="*/ 1011379 w 1011379"/>
                <a:gd name="connsiteY2-556" fmla="*/ 563 h 648280"/>
                <a:gd name="connsiteX3-557" fmla="*/ 198718 w 1011379"/>
                <a:gd name="connsiteY3-558" fmla="*/ 648280 h 648280"/>
                <a:gd name="connsiteX4-559" fmla="*/ 0 w 1011379"/>
                <a:gd name="connsiteY4-560" fmla="*/ 605727 h 648280"/>
                <a:gd name="connsiteX0-561" fmla="*/ 0 w 1011379"/>
                <a:gd name="connsiteY0-562" fmla="*/ 605727 h 605727"/>
                <a:gd name="connsiteX1-563" fmla="*/ 490915 w 1011379"/>
                <a:gd name="connsiteY1-564" fmla="*/ 13939 h 605727"/>
                <a:gd name="connsiteX2-565" fmla="*/ 1011379 w 1011379"/>
                <a:gd name="connsiteY2-566" fmla="*/ 563 h 605727"/>
                <a:gd name="connsiteX3-567" fmla="*/ 318823 w 1011379"/>
                <a:gd name="connsiteY3-568" fmla="*/ 553361 h 605727"/>
                <a:gd name="connsiteX4-569" fmla="*/ 0 w 1011379"/>
                <a:gd name="connsiteY4-570" fmla="*/ 605727 h 605727"/>
                <a:gd name="connsiteX0-571" fmla="*/ 0 w 866251"/>
                <a:gd name="connsiteY0-572" fmla="*/ 540783 h 553361"/>
                <a:gd name="connsiteX1-573" fmla="*/ 345787 w 866251"/>
                <a:gd name="connsiteY1-574" fmla="*/ 13939 h 553361"/>
                <a:gd name="connsiteX2-575" fmla="*/ 866251 w 866251"/>
                <a:gd name="connsiteY2-576" fmla="*/ 563 h 553361"/>
                <a:gd name="connsiteX3-577" fmla="*/ 173695 w 866251"/>
                <a:gd name="connsiteY3-578" fmla="*/ 553361 h 553361"/>
                <a:gd name="connsiteX4-579" fmla="*/ 0 w 866251"/>
                <a:gd name="connsiteY4-580" fmla="*/ 540783 h 553361"/>
                <a:gd name="connsiteX0-581" fmla="*/ 0 w 866251"/>
                <a:gd name="connsiteY0-582" fmla="*/ 540783 h 553361"/>
                <a:gd name="connsiteX1-583" fmla="*/ 345787 w 866251"/>
                <a:gd name="connsiteY1-584" fmla="*/ 13939 h 553361"/>
                <a:gd name="connsiteX2-585" fmla="*/ 866251 w 866251"/>
                <a:gd name="connsiteY2-586" fmla="*/ 563 h 553361"/>
                <a:gd name="connsiteX3-587" fmla="*/ 173695 w 866251"/>
                <a:gd name="connsiteY3-588" fmla="*/ 553361 h 553361"/>
                <a:gd name="connsiteX4-589" fmla="*/ 0 w 866251"/>
                <a:gd name="connsiteY4-590" fmla="*/ 540783 h 553361"/>
                <a:gd name="connsiteX0-591" fmla="*/ 0 w 866251"/>
                <a:gd name="connsiteY0-592" fmla="*/ 540783 h 553361"/>
                <a:gd name="connsiteX1-593" fmla="*/ 345787 w 866251"/>
                <a:gd name="connsiteY1-594" fmla="*/ 13939 h 553361"/>
                <a:gd name="connsiteX2-595" fmla="*/ 866251 w 866251"/>
                <a:gd name="connsiteY2-596" fmla="*/ 563 h 553361"/>
                <a:gd name="connsiteX3-597" fmla="*/ 173695 w 866251"/>
                <a:gd name="connsiteY3-598" fmla="*/ 553361 h 553361"/>
                <a:gd name="connsiteX4-599" fmla="*/ 0 w 866251"/>
                <a:gd name="connsiteY4-600" fmla="*/ 540783 h 553361"/>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378281" y="5449835"/>
              <a:ext cx="675485" cy="89677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7977 w 802211"/>
                <a:gd name="connsiteY0-372" fmla="*/ 815791 h 976186"/>
                <a:gd name="connsiteX1-373" fmla="*/ 302601 w 802211"/>
                <a:gd name="connsiteY1-374" fmla="*/ 11688 h 976186"/>
                <a:gd name="connsiteX2-375" fmla="*/ 802211 w 802211"/>
                <a:gd name="connsiteY2-376" fmla="*/ 0 h 976186"/>
                <a:gd name="connsiteX3-377" fmla="*/ 575940 w 802211"/>
                <a:gd name="connsiteY3-378" fmla="*/ 976186 h 976186"/>
                <a:gd name="connsiteX4-379" fmla="*/ 27977 w 802211"/>
                <a:gd name="connsiteY4-380" fmla="*/ 815791 h 976186"/>
                <a:gd name="connsiteX0-381" fmla="*/ 27977 w 802211"/>
                <a:gd name="connsiteY0-382" fmla="*/ 815791 h 815791"/>
                <a:gd name="connsiteX1-383" fmla="*/ 302601 w 802211"/>
                <a:gd name="connsiteY1-384" fmla="*/ 11688 h 815791"/>
                <a:gd name="connsiteX2-385" fmla="*/ 802211 w 802211"/>
                <a:gd name="connsiteY2-386" fmla="*/ 0 h 815791"/>
                <a:gd name="connsiteX3-387" fmla="*/ 236294 w 802211"/>
                <a:gd name="connsiteY3-388" fmla="*/ 808828 h 815791"/>
                <a:gd name="connsiteX4-389" fmla="*/ 27977 w 802211"/>
                <a:gd name="connsiteY4-390" fmla="*/ 815791 h 815791"/>
                <a:gd name="connsiteX0-391" fmla="*/ 27977 w 802211"/>
                <a:gd name="connsiteY0-392" fmla="*/ 815791 h 815791"/>
                <a:gd name="connsiteX1-393" fmla="*/ 302601 w 802211"/>
                <a:gd name="connsiteY1-394" fmla="*/ 11688 h 815791"/>
                <a:gd name="connsiteX2-395" fmla="*/ 802211 w 802211"/>
                <a:gd name="connsiteY2-396" fmla="*/ 0 h 815791"/>
                <a:gd name="connsiteX3-397" fmla="*/ 236294 w 802211"/>
                <a:gd name="connsiteY3-398" fmla="*/ 808828 h 815791"/>
                <a:gd name="connsiteX4-399" fmla="*/ 27977 w 802211"/>
                <a:gd name="connsiteY4-400" fmla="*/ 815791 h 815791"/>
                <a:gd name="connsiteX0-401" fmla="*/ 27977 w 802211"/>
                <a:gd name="connsiteY0-402" fmla="*/ 815791 h 815791"/>
                <a:gd name="connsiteX1-403" fmla="*/ 302601 w 802211"/>
                <a:gd name="connsiteY1-404" fmla="*/ 11688 h 815791"/>
                <a:gd name="connsiteX2-405" fmla="*/ 802211 w 802211"/>
                <a:gd name="connsiteY2-406" fmla="*/ 0 h 815791"/>
                <a:gd name="connsiteX3-407" fmla="*/ 236294 w 802211"/>
                <a:gd name="connsiteY3-408" fmla="*/ 808828 h 815791"/>
                <a:gd name="connsiteX4-409" fmla="*/ 27977 w 802211"/>
                <a:gd name="connsiteY4-410" fmla="*/ 815791 h 815791"/>
                <a:gd name="connsiteX0-411" fmla="*/ 27977 w 802211"/>
                <a:gd name="connsiteY0-412" fmla="*/ 828714 h 828714"/>
                <a:gd name="connsiteX1-413" fmla="*/ 302601 w 802211"/>
                <a:gd name="connsiteY1-414" fmla="*/ 0 h 828714"/>
                <a:gd name="connsiteX2-415" fmla="*/ 802211 w 802211"/>
                <a:gd name="connsiteY2-416" fmla="*/ 12923 h 828714"/>
                <a:gd name="connsiteX3-417" fmla="*/ 236294 w 802211"/>
                <a:gd name="connsiteY3-418" fmla="*/ 821751 h 828714"/>
                <a:gd name="connsiteX4-419" fmla="*/ 27977 w 802211"/>
                <a:gd name="connsiteY4-420" fmla="*/ 828714 h 828714"/>
                <a:gd name="connsiteX0-421" fmla="*/ 56213 w 830447"/>
                <a:gd name="connsiteY0-422" fmla="*/ 828714 h 828714"/>
                <a:gd name="connsiteX1-423" fmla="*/ 330837 w 830447"/>
                <a:gd name="connsiteY1-424" fmla="*/ 0 h 828714"/>
                <a:gd name="connsiteX2-425" fmla="*/ 830447 w 830447"/>
                <a:gd name="connsiteY2-426" fmla="*/ 12923 h 828714"/>
                <a:gd name="connsiteX3-427" fmla="*/ 264530 w 830447"/>
                <a:gd name="connsiteY3-428" fmla="*/ 821751 h 828714"/>
                <a:gd name="connsiteX4-429" fmla="*/ 56213 w 830447"/>
                <a:gd name="connsiteY4-430" fmla="*/ 828714 h 828714"/>
                <a:gd name="connsiteX0-431" fmla="*/ 64130 w 789139"/>
                <a:gd name="connsiteY0-432" fmla="*/ 794258 h 821751"/>
                <a:gd name="connsiteX1-433" fmla="*/ 289529 w 789139"/>
                <a:gd name="connsiteY1-434" fmla="*/ 0 h 821751"/>
                <a:gd name="connsiteX2-435" fmla="*/ 789139 w 789139"/>
                <a:gd name="connsiteY2-436" fmla="*/ 12923 h 821751"/>
                <a:gd name="connsiteX3-437" fmla="*/ 223222 w 789139"/>
                <a:gd name="connsiteY3-438" fmla="*/ 821751 h 821751"/>
                <a:gd name="connsiteX4-439" fmla="*/ 64130 w 789139"/>
                <a:gd name="connsiteY4-440" fmla="*/ 794258 h 821751"/>
                <a:gd name="connsiteX0-441" fmla="*/ 0 w 725009"/>
                <a:gd name="connsiteY0-442" fmla="*/ 794258 h 821751"/>
                <a:gd name="connsiteX1-443" fmla="*/ 225399 w 725009"/>
                <a:gd name="connsiteY1-444" fmla="*/ 0 h 821751"/>
                <a:gd name="connsiteX2-445" fmla="*/ 725009 w 725009"/>
                <a:gd name="connsiteY2-446" fmla="*/ 12923 h 821751"/>
                <a:gd name="connsiteX3-447" fmla="*/ 159092 w 725009"/>
                <a:gd name="connsiteY3-448" fmla="*/ 821751 h 821751"/>
                <a:gd name="connsiteX4-449" fmla="*/ 0 w 725009"/>
                <a:gd name="connsiteY4-450" fmla="*/ 794258 h 821751"/>
                <a:gd name="connsiteX0-451" fmla="*/ 0 w 725009"/>
                <a:gd name="connsiteY0-452" fmla="*/ 1203768 h 1231261"/>
                <a:gd name="connsiteX1-453" fmla="*/ 225399 w 725009"/>
                <a:gd name="connsiteY1-454" fmla="*/ 0 h 1231261"/>
                <a:gd name="connsiteX2-455" fmla="*/ 725009 w 725009"/>
                <a:gd name="connsiteY2-456" fmla="*/ 422433 h 1231261"/>
                <a:gd name="connsiteX3-457" fmla="*/ 159092 w 725009"/>
                <a:gd name="connsiteY3-458" fmla="*/ 1231261 h 1231261"/>
                <a:gd name="connsiteX4-459" fmla="*/ 0 w 725009"/>
                <a:gd name="connsiteY4-460" fmla="*/ 1203768 h 1231261"/>
                <a:gd name="connsiteX0-461" fmla="*/ 0 w 725009"/>
                <a:gd name="connsiteY0-462" fmla="*/ 1217334 h 1244827"/>
                <a:gd name="connsiteX1-463" fmla="*/ 225399 w 725009"/>
                <a:gd name="connsiteY1-464" fmla="*/ 13566 h 1244827"/>
                <a:gd name="connsiteX2-465" fmla="*/ 725009 w 725009"/>
                <a:gd name="connsiteY2-466" fmla="*/ 571 h 1244827"/>
                <a:gd name="connsiteX3-467" fmla="*/ 159092 w 725009"/>
                <a:gd name="connsiteY3-468" fmla="*/ 1244827 h 1244827"/>
                <a:gd name="connsiteX4-469" fmla="*/ 0 w 725009"/>
                <a:gd name="connsiteY4-470" fmla="*/ 1217334 h 1244827"/>
                <a:gd name="connsiteX0-471" fmla="*/ 0 w 725009"/>
                <a:gd name="connsiteY0-472" fmla="*/ 1217334 h 1244827"/>
                <a:gd name="connsiteX1-473" fmla="*/ 225399 w 725009"/>
                <a:gd name="connsiteY1-474" fmla="*/ 13566 h 1244827"/>
                <a:gd name="connsiteX2-475" fmla="*/ 725009 w 725009"/>
                <a:gd name="connsiteY2-476" fmla="*/ 571 h 1244827"/>
                <a:gd name="connsiteX3-477" fmla="*/ 159092 w 725009"/>
                <a:gd name="connsiteY3-478" fmla="*/ 1244827 h 1244827"/>
                <a:gd name="connsiteX4-479" fmla="*/ 0 w 725009"/>
                <a:gd name="connsiteY4-480" fmla="*/ 1217334 h 1244827"/>
                <a:gd name="connsiteX0-481" fmla="*/ 0 w 725009"/>
                <a:gd name="connsiteY0-482" fmla="*/ 1217334 h 1244827"/>
                <a:gd name="connsiteX1-483" fmla="*/ 225399 w 725009"/>
                <a:gd name="connsiteY1-484" fmla="*/ 13566 h 1244827"/>
                <a:gd name="connsiteX2-485" fmla="*/ 725009 w 725009"/>
                <a:gd name="connsiteY2-486" fmla="*/ 571 h 1244827"/>
                <a:gd name="connsiteX3-487" fmla="*/ 159092 w 725009"/>
                <a:gd name="connsiteY3-488" fmla="*/ 1244827 h 1244827"/>
                <a:gd name="connsiteX4-489" fmla="*/ 0 w 725009"/>
                <a:gd name="connsiteY4-490" fmla="*/ 1217334 h 1244827"/>
                <a:gd name="connsiteX0-491" fmla="*/ 0 w 725009"/>
                <a:gd name="connsiteY0-492" fmla="*/ 1217334 h 1244827"/>
                <a:gd name="connsiteX1-493" fmla="*/ 225399 w 725009"/>
                <a:gd name="connsiteY1-494" fmla="*/ 13566 h 1244827"/>
                <a:gd name="connsiteX2-495" fmla="*/ 725009 w 725009"/>
                <a:gd name="connsiteY2-496" fmla="*/ 571 h 1244827"/>
                <a:gd name="connsiteX3-497" fmla="*/ 159092 w 725009"/>
                <a:gd name="connsiteY3-498" fmla="*/ 1244827 h 1244827"/>
                <a:gd name="connsiteX4-499" fmla="*/ 0 w 725009"/>
                <a:gd name="connsiteY4-500" fmla="*/ 1217334 h 1244827"/>
                <a:gd name="connsiteX0-501" fmla="*/ 0 w 725009"/>
                <a:gd name="connsiteY0-502" fmla="*/ 1217334 h 1244827"/>
                <a:gd name="connsiteX1-503" fmla="*/ 225399 w 725009"/>
                <a:gd name="connsiteY1-504" fmla="*/ 13566 h 1244827"/>
                <a:gd name="connsiteX2-505" fmla="*/ 725009 w 725009"/>
                <a:gd name="connsiteY2-506" fmla="*/ 571 h 1244827"/>
                <a:gd name="connsiteX3-507" fmla="*/ 159092 w 725009"/>
                <a:gd name="connsiteY3-508" fmla="*/ 1244827 h 1244827"/>
                <a:gd name="connsiteX4-509" fmla="*/ 0 w 725009"/>
                <a:gd name="connsiteY4-510" fmla="*/ 1217334 h 1244827"/>
                <a:gd name="connsiteX0-511" fmla="*/ 0 w 725009"/>
                <a:gd name="connsiteY0-512" fmla="*/ 1217334 h 1244827"/>
                <a:gd name="connsiteX1-513" fmla="*/ 225399 w 725009"/>
                <a:gd name="connsiteY1-514" fmla="*/ 13566 h 1244827"/>
                <a:gd name="connsiteX2-515" fmla="*/ 725009 w 725009"/>
                <a:gd name="connsiteY2-516" fmla="*/ 571 h 1244827"/>
                <a:gd name="connsiteX3-517" fmla="*/ 159092 w 725009"/>
                <a:gd name="connsiteY3-518" fmla="*/ 1244827 h 1244827"/>
                <a:gd name="connsiteX4-519" fmla="*/ 0 w 725009"/>
                <a:gd name="connsiteY4-520" fmla="*/ 1217334 h 1244827"/>
                <a:gd name="connsiteX0-521" fmla="*/ 0 w 725009"/>
                <a:gd name="connsiteY0-522" fmla="*/ 1203768 h 1231261"/>
                <a:gd name="connsiteX1-523" fmla="*/ 225399 w 725009"/>
                <a:gd name="connsiteY1-524" fmla="*/ 0 h 1231261"/>
                <a:gd name="connsiteX2-525" fmla="*/ 725009 w 725009"/>
                <a:gd name="connsiteY2-526" fmla="*/ 129782 h 1231261"/>
                <a:gd name="connsiteX3-527" fmla="*/ 159092 w 725009"/>
                <a:gd name="connsiteY3-528" fmla="*/ 1231261 h 1231261"/>
                <a:gd name="connsiteX4-529" fmla="*/ 0 w 725009"/>
                <a:gd name="connsiteY4-530" fmla="*/ 1203768 h 1231261"/>
                <a:gd name="connsiteX0-531" fmla="*/ 0 w 725009"/>
                <a:gd name="connsiteY0-532" fmla="*/ 1203768 h 1231261"/>
                <a:gd name="connsiteX1-533" fmla="*/ 225399 w 725009"/>
                <a:gd name="connsiteY1-534" fmla="*/ 0 h 1231261"/>
                <a:gd name="connsiteX2-535" fmla="*/ 725009 w 725009"/>
                <a:gd name="connsiteY2-536" fmla="*/ 129782 h 1231261"/>
                <a:gd name="connsiteX3-537" fmla="*/ 159092 w 725009"/>
                <a:gd name="connsiteY3-538" fmla="*/ 1231261 h 1231261"/>
                <a:gd name="connsiteX4-539" fmla="*/ 0 w 725009"/>
                <a:gd name="connsiteY4-540" fmla="*/ 1203768 h 1231261"/>
                <a:gd name="connsiteX0-541" fmla="*/ 0 w 725009"/>
                <a:gd name="connsiteY0-542" fmla="*/ 1203768 h 1231261"/>
                <a:gd name="connsiteX1-543" fmla="*/ 225399 w 725009"/>
                <a:gd name="connsiteY1-544" fmla="*/ 0 h 1231261"/>
                <a:gd name="connsiteX2-545" fmla="*/ 725009 w 725009"/>
                <a:gd name="connsiteY2-546" fmla="*/ 129782 h 1231261"/>
                <a:gd name="connsiteX3-547" fmla="*/ 159092 w 725009"/>
                <a:gd name="connsiteY3-548" fmla="*/ 1231261 h 1231261"/>
                <a:gd name="connsiteX4-549" fmla="*/ 0 w 725009"/>
                <a:gd name="connsiteY4-550" fmla="*/ 1203768 h 1231261"/>
                <a:gd name="connsiteX0-551" fmla="*/ 0 w 725497"/>
                <a:gd name="connsiteY0-552" fmla="*/ 1279028 h 1306521"/>
                <a:gd name="connsiteX1-553" fmla="*/ 225399 w 725497"/>
                <a:gd name="connsiteY1-554" fmla="*/ 75260 h 1306521"/>
                <a:gd name="connsiteX2-555" fmla="*/ 396193 w 725497"/>
                <a:gd name="connsiteY2-556" fmla="*/ 156799 h 1306521"/>
                <a:gd name="connsiteX3-557" fmla="*/ 725009 w 725497"/>
                <a:gd name="connsiteY3-558" fmla="*/ 205042 h 1306521"/>
                <a:gd name="connsiteX4-559" fmla="*/ 159092 w 725497"/>
                <a:gd name="connsiteY4-560" fmla="*/ 1306521 h 1306521"/>
                <a:gd name="connsiteX5-561" fmla="*/ 0 w 725497"/>
                <a:gd name="connsiteY5-562" fmla="*/ 1279028 h 1306521"/>
                <a:gd name="connsiteX0-563" fmla="*/ 0 w 725239"/>
                <a:gd name="connsiteY0-564" fmla="*/ 1295668 h 1323161"/>
                <a:gd name="connsiteX1-565" fmla="*/ 225399 w 725239"/>
                <a:gd name="connsiteY1-566" fmla="*/ 91900 h 1323161"/>
                <a:gd name="connsiteX2-567" fmla="*/ 725009 w 725239"/>
                <a:gd name="connsiteY2-568" fmla="*/ 221682 h 1323161"/>
                <a:gd name="connsiteX3-569" fmla="*/ 159092 w 725239"/>
                <a:gd name="connsiteY3-570" fmla="*/ 1323161 h 1323161"/>
                <a:gd name="connsiteX4-571" fmla="*/ 0 w 725239"/>
                <a:gd name="connsiteY4-572" fmla="*/ 1295668 h 1323161"/>
                <a:gd name="connsiteX0-573" fmla="*/ 0 w 725221"/>
                <a:gd name="connsiteY0-574" fmla="*/ 1210552 h 1238045"/>
                <a:gd name="connsiteX1-575" fmla="*/ 191583 w 725221"/>
                <a:gd name="connsiteY1-576" fmla="*/ 153319 h 1238045"/>
                <a:gd name="connsiteX2-577" fmla="*/ 725009 w 725221"/>
                <a:gd name="connsiteY2-578" fmla="*/ 136566 h 1238045"/>
                <a:gd name="connsiteX3-579" fmla="*/ 159092 w 725221"/>
                <a:gd name="connsiteY3-580" fmla="*/ 1238045 h 1238045"/>
                <a:gd name="connsiteX4-581" fmla="*/ 0 w 725221"/>
                <a:gd name="connsiteY4-582" fmla="*/ 1210552 h 1238045"/>
                <a:gd name="connsiteX0-583" fmla="*/ 0 w 725305"/>
                <a:gd name="connsiteY0-584" fmla="*/ 1158512 h 1186005"/>
                <a:gd name="connsiteX1-585" fmla="*/ 191583 w 725305"/>
                <a:gd name="connsiteY1-586" fmla="*/ 101279 h 1186005"/>
                <a:gd name="connsiteX2-587" fmla="*/ 725009 w 725305"/>
                <a:gd name="connsiteY2-588" fmla="*/ 84526 h 1186005"/>
                <a:gd name="connsiteX3-589" fmla="*/ 159092 w 725305"/>
                <a:gd name="connsiteY3-590" fmla="*/ 1186005 h 1186005"/>
                <a:gd name="connsiteX4-591" fmla="*/ 0 w 725305"/>
                <a:gd name="connsiteY4-592" fmla="*/ 1158512 h 1186005"/>
                <a:gd name="connsiteX0-593" fmla="*/ 0 w 725009"/>
                <a:gd name="connsiteY0-594" fmla="*/ 1073986 h 1101479"/>
                <a:gd name="connsiteX1-595" fmla="*/ 191583 w 725009"/>
                <a:gd name="connsiteY1-596" fmla="*/ 16753 h 1101479"/>
                <a:gd name="connsiteX2-597" fmla="*/ 725009 w 725009"/>
                <a:gd name="connsiteY2-598" fmla="*/ 0 h 1101479"/>
                <a:gd name="connsiteX3-599" fmla="*/ 159092 w 725009"/>
                <a:gd name="connsiteY3-600" fmla="*/ 1101479 h 1101479"/>
                <a:gd name="connsiteX4-601" fmla="*/ 0 w 725009"/>
                <a:gd name="connsiteY4-602" fmla="*/ 1073986 h 1101479"/>
                <a:gd name="connsiteX0-603" fmla="*/ 0 w 725009"/>
                <a:gd name="connsiteY0-604" fmla="*/ 1073986 h 1101479"/>
                <a:gd name="connsiteX1-605" fmla="*/ 206612 w 725009"/>
                <a:gd name="connsiteY1-606" fmla="*/ 1724 h 1101479"/>
                <a:gd name="connsiteX2-607" fmla="*/ 725009 w 725009"/>
                <a:gd name="connsiteY2-608" fmla="*/ 0 h 1101479"/>
                <a:gd name="connsiteX3-609" fmla="*/ 159092 w 725009"/>
                <a:gd name="connsiteY3-610" fmla="*/ 1101479 h 1101479"/>
                <a:gd name="connsiteX4-611" fmla="*/ 0 w 725009"/>
                <a:gd name="connsiteY4-612" fmla="*/ 1073986 h 1101479"/>
                <a:gd name="connsiteX0-613" fmla="*/ 0 w 725009"/>
                <a:gd name="connsiteY0-614" fmla="*/ 1073986 h 1101479"/>
                <a:gd name="connsiteX1-615" fmla="*/ 206612 w 725009"/>
                <a:gd name="connsiteY1-616" fmla="*/ 1724 h 1101479"/>
                <a:gd name="connsiteX2-617" fmla="*/ 725009 w 725009"/>
                <a:gd name="connsiteY2-618" fmla="*/ 0 h 1101479"/>
                <a:gd name="connsiteX3-619" fmla="*/ 159092 w 725009"/>
                <a:gd name="connsiteY3-620" fmla="*/ 1101479 h 1101479"/>
                <a:gd name="connsiteX4-621" fmla="*/ 0 w 725009"/>
                <a:gd name="connsiteY4-622" fmla="*/ 1073986 h 1101479"/>
                <a:gd name="connsiteX0-623" fmla="*/ 0 w 725009"/>
                <a:gd name="connsiteY0-624" fmla="*/ 1073986 h 1101479"/>
                <a:gd name="connsiteX1-625" fmla="*/ 206612 w 725009"/>
                <a:gd name="connsiteY1-626" fmla="*/ 1724 h 1101479"/>
                <a:gd name="connsiteX2-627" fmla="*/ 725009 w 725009"/>
                <a:gd name="connsiteY2-628" fmla="*/ 0 h 1101479"/>
                <a:gd name="connsiteX3-629" fmla="*/ 159092 w 725009"/>
                <a:gd name="connsiteY3-630" fmla="*/ 1101479 h 1101479"/>
                <a:gd name="connsiteX4-631" fmla="*/ 0 w 725009"/>
                <a:gd name="connsiteY4-632" fmla="*/ 1073986 h 1101479"/>
                <a:gd name="connsiteX0-633" fmla="*/ 0 w 725009"/>
                <a:gd name="connsiteY0-634" fmla="*/ 1073986 h 1074607"/>
                <a:gd name="connsiteX1-635" fmla="*/ 206612 w 725009"/>
                <a:gd name="connsiteY1-636" fmla="*/ 1724 h 1074607"/>
                <a:gd name="connsiteX2-637" fmla="*/ 725009 w 725009"/>
                <a:gd name="connsiteY2-638" fmla="*/ 0 h 1074607"/>
                <a:gd name="connsiteX3-639" fmla="*/ 229048 w 725009"/>
                <a:gd name="connsiteY3-640" fmla="*/ 886531 h 1074607"/>
                <a:gd name="connsiteX4-641" fmla="*/ 0 w 725009"/>
                <a:gd name="connsiteY4-642" fmla="*/ 1073986 h 1074607"/>
                <a:gd name="connsiteX0-643" fmla="*/ 0 w 725009"/>
                <a:gd name="connsiteY0-644" fmla="*/ 1073986 h 1074607"/>
                <a:gd name="connsiteX1-645" fmla="*/ 206612 w 725009"/>
                <a:gd name="connsiteY1-646" fmla="*/ 1724 h 1074607"/>
                <a:gd name="connsiteX2-647" fmla="*/ 725009 w 725009"/>
                <a:gd name="connsiteY2-648" fmla="*/ 0 h 1074607"/>
                <a:gd name="connsiteX3-649" fmla="*/ 229048 w 725009"/>
                <a:gd name="connsiteY3-650" fmla="*/ 886531 h 1074607"/>
                <a:gd name="connsiteX4-651" fmla="*/ 0 w 725009"/>
                <a:gd name="connsiteY4-652" fmla="*/ 1073986 h 1074607"/>
                <a:gd name="connsiteX0-653" fmla="*/ 0 w 675040"/>
                <a:gd name="connsiteY0-654" fmla="*/ 894029 h 896577"/>
                <a:gd name="connsiteX1-655" fmla="*/ 156643 w 675040"/>
                <a:gd name="connsiteY1-656" fmla="*/ 1724 h 896577"/>
                <a:gd name="connsiteX2-657" fmla="*/ 675040 w 675040"/>
                <a:gd name="connsiteY2-658" fmla="*/ 0 h 896577"/>
                <a:gd name="connsiteX3-659" fmla="*/ 179079 w 675040"/>
                <a:gd name="connsiteY3-660" fmla="*/ 886531 h 896577"/>
                <a:gd name="connsiteX4-661" fmla="*/ 0 w 675040"/>
                <a:gd name="connsiteY4-662" fmla="*/ 894029 h 896577"/>
                <a:gd name="connsiteX0-663" fmla="*/ 0 w 675040"/>
                <a:gd name="connsiteY0-664" fmla="*/ 894029 h 896577"/>
                <a:gd name="connsiteX1-665" fmla="*/ 186623 w 675040"/>
                <a:gd name="connsiteY1-666" fmla="*/ 1724 h 896577"/>
                <a:gd name="connsiteX2-667" fmla="*/ 675040 w 675040"/>
                <a:gd name="connsiteY2-668" fmla="*/ 0 h 896577"/>
                <a:gd name="connsiteX3-669" fmla="*/ 179079 w 675040"/>
                <a:gd name="connsiteY3-670" fmla="*/ 886531 h 896577"/>
                <a:gd name="connsiteX4-671" fmla="*/ 0 w 675040"/>
                <a:gd name="connsiteY4-672" fmla="*/ 894029 h 89657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40854" y="5470471"/>
              <a:ext cx="514350" cy="40184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503138"/>
                <a:gd name="connsiteY0-372" fmla="*/ 961687 h 964568"/>
                <a:gd name="connsiteX1-373" fmla="*/ 0 w 503138"/>
                <a:gd name="connsiteY1-374" fmla="*/ 70 h 964568"/>
                <a:gd name="connsiteX2-375" fmla="*/ 503138 w 503138"/>
                <a:gd name="connsiteY2-376" fmla="*/ 154187 h 964568"/>
                <a:gd name="connsiteX3-377" fmla="*/ 273339 w 503138"/>
                <a:gd name="connsiteY3-378" fmla="*/ 964568 h 964568"/>
                <a:gd name="connsiteX4-379" fmla="*/ 197928 w 503138"/>
                <a:gd name="connsiteY4-380" fmla="*/ 961687 h 964568"/>
                <a:gd name="connsiteX0-381" fmla="*/ 201456 w 506666"/>
                <a:gd name="connsiteY0-382" fmla="*/ 807500 h 810381"/>
                <a:gd name="connsiteX1-383" fmla="*/ 0 w 506666"/>
                <a:gd name="connsiteY1-384" fmla="*/ 15216 h 810381"/>
                <a:gd name="connsiteX2-385" fmla="*/ 506666 w 506666"/>
                <a:gd name="connsiteY2-386" fmla="*/ 0 h 810381"/>
                <a:gd name="connsiteX3-387" fmla="*/ 276867 w 506666"/>
                <a:gd name="connsiteY3-388" fmla="*/ 810381 h 810381"/>
                <a:gd name="connsiteX4-389" fmla="*/ 201456 w 506666"/>
                <a:gd name="connsiteY4-390" fmla="*/ 807500 h 810381"/>
                <a:gd name="connsiteX0-391" fmla="*/ 201456 w 506666"/>
                <a:gd name="connsiteY0-392" fmla="*/ 807500 h 811593"/>
                <a:gd name="connsiteX1-393" fmla="*/ 0 w 506666"/>
                <a:gd name="connsiteY1-394" fmla="*/ 15216 h 811593"/>
                <a:gd name="connsiteX2-395" fmla="*/ 506666 w 506666"/>
                <a:gd name="connsiteY2-396" fmla="*/ 0 h 811593"/>
                <a:gd name="connsiteX3-397" fmla="*/ 276867 w 506666"/>
                <a:gd name="connsiteY3-398" fmla="*/ 810381 h 811593"/>
                <a:gd name="connsiteX4-399" fmla="*/ 201456 w 506666"/>
                <a:gd name="connsiteY4-400" fmla="*/ 807500 h 811593"/>
                <a:gd name="connsiteX0-401" fmla="*/ 135576 w 506666"/>
                <a:gd name="connsiteY0-402" fmla="*/ 818480 h 818480"/>
                <a:gd name="connsiteX1-403" fmla="*/ 0 w 506666"/>
                <a:gd name="connsiteY1-404" fmla="*/ 15216 h 818480"/>
                <a:gd name="connsiteX2-405" fmla="*/ 506666 w 506666"/>
                <a:gd name="connsiteY2-406" fmla="*/ 0 h 818480"/>
                <a:gd name="connsiteX3-407" fmla="*/ 276867 w 506666"/>
                <a:gd name="connsiteY3-408" fmla="*/ 810381 h 818480"/>
                <a:gd name="connsiteX4-409" fmla="*/ 135576 w 506666"/>
                <a:gd name="connsiteY4-410" fmla="*/ 818480 h 818480"/>
                <a:gd name="connsiteX0-411" fmla="*/ 135576 w 506666"/>
                <a:gd name="connsiteY0-412" fmla="*/ 818480 h 818480"/>
                <a:gd name="connsiteX1-413" fmla="*/ 0 w 506666"/>
                <a:gd name="connsiteY1-414" fmla="*/ 15216 h 818480"/>
                <a:gd name="connsiteX2-415" fmla="*/ 506666 w 506666"/>
                <a:gd name="connsiteY2-416" fmla="*/ 0 h 818480"/>
                <a:gd name="connsiteX3-417" fmla="*/ 331766 w 506666"/>
                <a:gd name="connsiteY3-418" fmla="*/ 803061 h 818480"/>
                <a:gd name="connsiteX4-419" fmla="*/ 135576 w 506666"/>
                <a:gd name="connsiteY4-420" fmla="*/ 818480 h 818480"/>
                <a:gd name="connsiteX0-421" fmla="*/ 135576 w 506666"/>
                <a:gd name="connsiteY0-422" fmla="*/ 818480 h 818480"/>
                <a:gd name="connsiteX1-423" fmla="*/ 0 w 506666"/>
                <a:gd name="connsiteY1-424" fmla="*/ 15216 h 818480"/>
                <a:gd name="connsiteX2-425" fmla="*/ 506666 w 506666"/>
                <a:gd name="connsiteY2-426" fmla="*/ 0 h 818480"/>
                <a:gd name="connsiteX3-427" fmla="*/ 331766 w 506666"/>
                <a:gd name="connsiteY3-428" fmla="*/ 803061 h 818480"/>
                <a:gd name="connsiteX4-429" fmla="*/ 135576 w 506666"/>
                <a:gd name="connsiteY4-430" fmla="*/ 818480 h 818480"/>
                <a:gd name="connsiteX0-431" fmla="*/ 135576 w 506666"/>
                <a:gd name="connsiteY0-432" fmla="*/ 818480 h 818480"/>
                <a:gd name="connsiteX1-433" fmla="*/ 0 w 506666"/>
                <a:gd name="connsiteY1-434" fmla="*/ 15216 h 818480"/>
                <a:gd name="connsiteX2-435" fmla="*/ 506666 w 506666"/>
                <a:gd name="connsiteY2-436" fmla="*/ 0 h 818480"/>
                <a:gd name="connsiteX3-437" fmla="*/ 331766 w 506666"/>
                <a:gd name="connsiteY3-438" fmla="*/ 803061 h 818480"/>
                <a:gd name="connsiteX4-439" fmla="*/ 135576 w 506666"/>
                <a:gd name="connsiteY4-440" fmla="*/ 818480 h 818480"/>
                <a:gd name="connsiteX0-441" fmla="*/ 135576 w 506666"/>
                <a:gd name="connsiteY0-442" fmla="*/ 818480 h 818480"/>
                <a:gd name="connsiteX1-443" fmla="*/ 0 w 506666"/>
                <a:gd name="connsiteY1-444" fmla="*/ 7896 h 818480"/>
                <a:gd name="connsiteX2-445" fmla="*/ 506666 w 506666"/>
                <a:gd name="connsiteY2-446" fmla="*/ 0 h 818480"/>
                <a:gd name="connsiteX3-447" fmla="*/ 331766 w 506666"/>
                <a:gd name="connsiteY3-448" fmla="*/ 803061 h 818480"/>
                <a:gd name="connsiteX4-449" fmla="*/ 135576 w 506666"/>
                <a:gd name="connsiteY4-450" fmla="*/ 818480 h 818480"/>
                <a:gd name="connsiteX0-451" fmla="*/ 135576 w 506666"/>
                <a:gd name="connsiteY0-452" fmla="*/ 818480 h 818480"/>
                <a:gd name="connsiteX1-453" fmla="*/ 0 w 506666"/>
                <a:gd name="connsiteY1-454" fmla="*/ 7896 h 818480"/>
                <a:gd name="connsiteX2-455" fmla="*/ 506666 w 506666"/>
                <a:gd name="connsiteY2-456" fmla="*/ 0 h 818480"/>
                <a:gd name="connsiteX3-457" fmla="*/ 331766 w 506666"/>
                <a:gd name="connsiteY3-458" fmla="*/ 803061 h 818480"/>
                <a:gd name="connsiteX4-459" fmla="*/ 135576 w 506666"/>
                <a:gd name="connsiteY4-460" fmla="*/ 818480 h 818480"/>
                <a:gd name="connsiteX0-461" fmla="*/ 45472 w 559302"/>
                <a:gd name="connsiteY0-462" fmla="*/ 807500 h 807500"/>
                <a:gd name="connsiteX1-463" fmla="*/ 52636 w 559302"/>
                <a:gd name="connsiteY1-464" fmla="*/ 7896 h 807500"/>
                <a:gd name="connsiteX2-465" fmla="*/ 559302 w 559302"/>
                <a:gd name="connsiteY2-466" fmla="*/ 0 h 807500"/>
                <a:gd name="connsiteX3-467" fmla="*/ 384402 w 559302"/>
                <a:gd name="connsiteY3-468" fmla="*/ 803061 h 807500"/>
                <a:gd name="connsiteX4-469" fmla="*/ 45472 w 559302"/>
                <a:gd name="connsiteY4-470" fmla="*/ 807500 h 807500"/>
                <a:gd name="connsiteX0-471" fmla="*/ 21974 w 535804"/>
                <a:gd name="connsiteY0-472" fmla="*/ 807500 h 807500"/>
                <a:gd name="connsiteX1-473" fmla="*/ 29138 w 535804"/>
                <a:gd name="connsiteY1-474" fmla="*/ 7896 h 807500"/>
                <a:gd name="connsiteX2-475" fmla="*/ 535804 w 535804"/>
                <a:gd name="connsiteY2-476" fmla="*/ 0 h 807500"/>
                <a:gd name="connsiteX3-477" fmla="*/ 360904 w 535804"/>
                <a:gd name="connsiteY3-478" fmla="*/ 803061 h 807500"/>
                <a:gd name="connsiteX4-479" fmla="*/ 21974 w 535804"/>
                <a:gd name="connsiteY4-480" fmla="*/ 807500 h 807500"/>
                <a:gd name="connsiteX0-481" fmla="*/ 128256 w 506666"/>
                <a:gd name="connsiteY0-482" fmla="*/ 829461 h 829461"/>
                <a:gd name="connsiteX1-483" fmla="*/ 0 w 506666"/>
                <a:gd name="connsiteY1-484" fmla="*/ 7896 h 829461"/>
                <a:gd name="connsiteX2-485" fmla="*/ 506666 w 506666"/>
                <a:gd name="connsiteY2-486" fmla="*/ 0 h 829461"/>
                <a:gd name="connsiteX3-487" fmla="*/ 331766 w 506666"/>
                <a:gd name="connsiteY3-488" fmla="*/ 803061 h 829461"/>
                <a:gd name="connsiteX4-489" fmla="*/ 128256 w 506666"/>
                <a:gd name="connsiteY4-490" fmla="*/ 829461 h 829461"/>
                <a:gd name="connsiteX0-491" fmla="*/ 128256 w 506666"/>
                <a:gd name="connsiteY0-492" fmla="*/ 829461 h 829461"/>
                <a:gd name="connsiteX1-493" fmla="*/ 0 w 506666"/>
                <a:gd name="connsiteY1-494" fmla="*/ 7896 h 829461"/>
                <a:gd name="connsiteX2-495" fmla="*/ 506666 w 506666"/>
                <a:gd name="connsiteY2-496" fmla="*/ 0 h 829461"/>
                <a:gd name="connsiteX3-497" fmla="*/ 331766 w 506666"/>
                <a:gd name="connsiteY3-498" fmla="*/ 803061 h 829461"/>
                <a:gd name="connsiteX4-499" fmla="*/ 128256 w 506666"/>
                <a:gd name="connsiteY4-500" fmla="*/ 829461 h 829461"/>
                <a:gd name="connsiteX0-501" fmla="*/ 128256 w 506666"/>
                <a:gd name="connsiteY0-502" fmla="*/ 829461 h 829461"/>
                <a:gd name="connsiteX1-503" fmla="*/ 0 w 506666"/>
                <a:gd name="connsiteY1-504" fmla="*/ 7896 h 829461"/>
                <a:gd name="connsiteX2-505" fmla="*/ 506666 w 506666"/>
                <a:gd name="connsiteY2-506" fmla="*/ 0 h 829461"/>
                <a:gd name="connsiteX3-507" fmla="*/ 331766 w 506666"/>
                <a:gd name="connsiteY3-508" fmla="*/ 803061 h 829461"/>
                <a:gd name="connsiteX4-509" fmla="*/ 128256 w 506666"/>
                <a:gd name="connsiteY4-510" fmla="*/ 829461 h 829461"/>
                <a:gd name="connsiteX0-511" fmla="*/ 128256 w 506666"/>
                <a:gd name="connsiteY0-512" fmla="*/ 829461 h 830473"/>
                <a:gd name="connsiteX1-513" fmla="*/ 0 w 506666"/>
                <a:gd name="connsiteY1-514" fmla="*/ 7896 h 830473"/>
                <a:gd name="connsiteX2-515" fmla="*/ 506666 w 506666"/>
                <a:gd name="connsiteY2-516" fmla="*/ 0 h 830473"/>
                <a:gd name="connsiteX3-517" fmla="*/ 331766 w 506666"/>
                <a:gd name="connsiteY3-518" fmla="*/ 828681 h 830473"/>
                <a:gd name="connsiteX4-519" fmla="*/ 128256 w 506666"/>
                <a:gd name="connsiteY4-520" fmla="*/ 829461 h 830473"/>
                <a:gd name="connsiteX0-521" fmla="*/ 128256 w 506666"/>
                <a:gd name="connsiteY0-522" fmla="*/ 829461 h 830473"/>
                <a:gd name="connsiteX1-523" fmla="*/ 0 w 506666"/>
                <a:gd name="connsiteY1-524" fmla="*/ 7896 h 830473"/>
                <a:gd name="connsiteX2-525" fmla="*/ 506666 w 506666"/>
                <a:gd name="connsiteY2-526" fmla="*/ 0 h 830473"/>
                <a:gd name="connsiteX3-527" fmla="*/ 331766 w 506666"/>
                <a:gd name="connsiteY3-528" fmla="*/ 828681 h 830473"/>
                <a:gd name="connsiteX4-529" fmla="*/ 128256 w 506666"/>
                <a:gd name="connsiteY4-530" fmla="*/ 829461 h 830473"/>
                <a:gd name="connsiteX0-531" fmla="*/ 128256 w 506666"/>
                <a:gd name="connsiteY0-532" fmla="*/ 821565 h 822577"/>
                <a:gd name="connsiteX1-533" fmla="*/ 0 w 506666"/>
                <a:gd name="connsiteY1-534" fmla="*/ 0 h 822577"/>
                <a:gd name="connsiteX2-535" fmla="*/ 506666 w 506666"/>
                <a:gd name="connsiteY2-536" fmla="*/ 255115 h 822577"/>
                <a:gd name="connsiteX3-537" fmla="*/ 331766 w 506666"/>
                <a:gd name="connsiteY3-538" fmla="*/ 820785 h 822577"/>
                <a:gd name="connsiteX4-539" fmla="*/ 128256 w 506666"/>
                <a:gd name="connsiteY4-540" fmla="*/ 821565 h 822577"/>
                <a:gd name="connsiteX0-541" fmla="*/ 128256 w 506666"/>
                <a:gd name="connsiteY0-542" fmla="*/ 821565 h 822577"/>
                <a:gd name="connsiteX1-543" fmla="*/ 0 w 506666"/>
                <a:gd name="connsiteY1-544" fmla="*/ 0 h 822577"/>
                <a:gd name="connsiteX2-545" fmla="*/ 506666 w 506666"/>
                <a:gd name="connsiteY2-546" fmla="*/ 255115 h 822577"/>
                <a:gd name="connsiteX3-547" fmla="*/ 331766 w 506666"/>
                <a:gd name="connsiteY3-548" fmla="*/ 820785 h 822577"/>
                <a:gd name="connsiteX4-549" fmla="*/ 128256 w 506666"/>
                <a:gd name="connsiteY4-550" fmla="*/ 821565 h 822577"/>
                <a:gd name="connsiteX0-551" fmla="*/ 128256 w 506666"/>
                <a:gd name="connsiteY0-552" fmla="*/ 821565 h 822577"/>
                <a:gd name="connsiteX1-553" fmla="*/ 0 w 506666"/>
                <a:gd name="connsiteY1-554" fmla="*/ 0 h 822577"/>
                <a:gd name="connsiteX2-555" fmla="*/ 506666 w 506666"/>
                <a:gd name="connsiteY2-556" fmla="*/ 255115 h 822577"/>
                <a:gd name="connsiteX3-557" fmla="*/ 331766 w 506666"/>
                <a:gd name="connsiteY3-558" fmla="*/ 820785 h 822577"/>
                <a:gd name="connsiteX4-559" fmla="*/ 128256 w 506666"/>
                <a:gd name="connsiteY4-560" fmla="*/ 821565 h 822577"/>
                <a:gd name="connsiteX0-561" fmla="*/ 135770 w 514180"/>
                <a:gd name="connsiteY0-562" fmla="*/ 577341 h 578353"/>
                <a:gd name="connsiteX1-563" fmla="*/ 0 w 514180"/>
                <a:gd name="connsiteY1-564" fmla="*/ 0 h 578353"/>
                <a:gd name="connsiteX2-565" fmla="*/ 514180 w 514180"/>
                <a:gd name="connsiteY2-566" fmla="*/ 10891 h 578353"/>
                <a:gd name="connsiteX3-567" fmla="*/ 339280 w 514180"/>
                <a:gd name="connsiteY3-568" fmla="*/ 576561 h 578353"/>
                <a:gd name="connsiteX4-569" fmla="*/ 135770 w 514180"/>
                <a:gd name="connsiteY4-570" fmla="*/ 577341 h 578353"/>
                <a:gd name="connsiteX0-571" fmla="*/ 135770 w 514180"/>
                <a:gd name="connsiteY0-572" fmla="*/ 577341 h 578353"/>
                <a:gd name="connsiteX1-573" fmla="*/ 0 w 514180"/>
                <a:gd name="connsiteY1-574" fmla="*/ 0 h 578353"/>
                <a:gd name="connsiteX2-575" fmla="*/ 514180 w 514180"/>
                <a:gd name="connsiteY2-576" fmla="*/ 10891 h 578353"/>
                <a:gd name="connsiteX3-577" fmla="*/ 339280 w 514180"/>
                <a:gd name="connsiteY3-578" fmla="*/ 576561 h 578353"/>
                <a:gd name="connsiteX4-579" fmla="*/ 135770 w 514180"/>
                <a:gd name="connsiteY4-580" fmla="*/ 577341 h 578353"/>
                <a:gd name="connsiteX0-581" fmla="*/ 135770 w 514180"/>
                <a:gd name="connsiteY0-582" fmla="*/ 577341 h 578353"/>
                <a:gd name="connsiteX1-583" fmla="*/ 0 w 514180"/>
                <a:gd name="connsiteY1-584" fmla="*/ 0 h 578353"/>
                <a:gd name="connsiteX2-585" fmla="*/ 514180 w 514180"/>
                <a:gd name="connsiteY2-586" fmla="*/ 10891 h 578353"/>
                <a:gd name="connsiteX3-587" fmla="*/ 339280 w 514180"/>
                <a:gd name="connsiteY3-588" fmla="*/ 576561 h 578353"/>
                <a:gd name="connsiteX4-589" fmla="*/ 135770 w 514180"/>
                <a:gd name="connsiteY4-590" fmla="*/ 577341 h 578353"/>
                <a:gd name="connsiteX0-591" fmla="*/ 135770 w 514180"/>
                <a:gd name="connsiteY0-592" fmla="*/ 577341 h 577341"/>
                <a:gd name="connsiteX1-593" fmla="*/ 0 w 514180"/>
                <a:gd name="connsiteY1-594" fmla="*/ 0 h 577341"/>
                <a:gd name="connsiteX2-595" fmla="*/ 514180 w 514180"/>
                <a:gd name="connsiteY2-596" fmla="*/ 10891 h 577341"/>
                <a:gd name="connsiteX3-597" fmla="*/ 404259 w 514180"/>
                <a:gd name="connsiteY3-598" fmla="*/ 386400 h 577341"/>
                <a:gd name="connsiteX4-599" fmla="*/ 135770 w 514180"/>
                <a:gd name="connsiteY4-600" fmla="*/ 577341 h 577341"/>
                <a:gd name="connsiteX0-601" fmla="*/ 100781 w 514180"/>
                <a:gd name="connsiteY0-602" fmla="*/ 432218 h 432218"/>
                <a:gd name="connsiteX1-603" fmla="*/ 0 w 514180"/>
                <a:gd name="connsiteY1-604" fmla="*/ 0 h 432218"/>
                <a:gd name="connsiteX2-605" fmla="*/ 514180 w 514180"/>
                <a:gd name="connsiteY2-606" fmla="*/ 10891 h 432218"/>
                <a:gd name="connsiteX3-607" fmla="*/ 404259 w 514180"/>
                <a:gd name="connsiteY3-608" fmla="*/ 386400 h 432218"/>
                <a:gd name="connsiteX4-609" fmla="*/ 100781 w 514180"/>
                <a:gd name="connsiteY4-610" fmla="*/ 432218 h 432218"/>
                <a:gd name="connsiteX0-611" fmla="*/ 100781 w 514180"/>
                <a:gd name="connsiteY0-612" fmla="*/ 432218 h 432218"/>
                <a:gd name="connsiteX1-613" fmla="*/ 0 w 514180"/>
                <a:gd name="connsiteY1-614" fmla="*/ 0 h 432218"/>
                <a:gd name="connsiteX2-615" fmla="*/ 514180 w 514180"/>
                <a:gd name="connsiteY2-616" fmla="*/ 10891 h 432218"/>
                <a:gd name="connsiteX3-617" fmla="*/ 404259 w 514180"/>
                <a:gd name="connsiteY3-618" fmla="*/ 386400 h 432218"/>
                <a:gd name="connsiteX4-619" fmla="*/ 100781 w 514180"/>
                <a:gd name="connsiteY4-620" fmla="*/ 432218 h 432218"/>
                <a:gd name="connsiteX0-621" fmla="*/ 100781 w 514180"/>
                <a:gd name="connsiteY0-622" fmla="*/ 402193 h 402193"/>
                <a:gd name="connsiteX1-623" fmla="*/ 0 w 514180"/>
                <a:gd name="connsiteY1-624" fmla="*/ 0 h 402193"/>
                <a:gd name="connsiteX2-625" fmla="*/ 514180 w 514180"/>
                <a:gd name="connsiteY2-626" fmla="*/ 10891 h 402193"/>
                <a:gd name="connsiteX3-627" fmla="*/ 404259 w 514180"/>
                <a:gd name="connsiteY3-628" fmla="*/ 386400 h 402193"/>
                <a:gd name="connsiteX4-629" fmla="*/ 100781 w 514180"/>
                <a:gd name="connsiteY4-630" fmla="*/ 402193 h 40219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61391" y="5433960"/>
              <a:ext cx="573725" cy="1015589"/>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621064"/>
                <a:gd name="connsiteY0-372" fmla="*/ 973305 h 973305"/>
                <a:gd name="connsiteX1-373" fmla="*/ 0 w 621064"/>
                <a:gd name="connsiteY1-374" fmla="*/ 11688 h 973305"/>
                <a:gd name="connsiteX2-375" fmla="*/ 499610 w 621064"/>
                <a:gd name="connsiteY2-376" fmla="*/ 0 h 973305"/>
                <a:gd name="connsiteX3-377" fmla="*/ 558839 w 621064"/>
                <a:gd name="connsiteY3-378" fmla="*/ 754682 h 973305"/>
                <a:gd name="connsiteX4-379" fmla="*/ 197928 w 621064"/>
                <a:gd name="connsiteY4-380" fmla="*/ 973305 h 973305"/>
                <a:gd name="connsiteX0-381" fmla="*/ 197928 w 558839"/>
                <a:gd name="connsiteY0-382" fmla="*/ 973305 h 973305"/>
                <a:gd name="connsiteX1-383" fmla="*/ 0 w 558839"/>
                <a:gd name="connsiteY1-384" fmla="*/ 11688 h 973305"/>
                <a:gd name="connsiteX2-385" fmla="*/ 499610 w 558839"/>
                <a:gd name="connsiteY2-386" fmla="*/ 0 h 973305"/>
                <a:gd name="connsiteX3-387" fmla="*/ 558839 w 558839"/>
                <a:gd name="connsiteY3-388" fmla="*/ 754682 h 973305"/>
                <a:gd name="connsiteX4-389" fmla="*/ 197928 w 558839"/>
                <a:gd name="connsiteY4-390" fmla="*/ 973305 h 973305"/>
                <a:gd name="connsiteX0-391" fmla="*/ 197928 w 558839"/>
                <a:gd name="connsiteY0-392" fmla="*/ 973305 h 973305"/>
                <a:gd name="connsiteX1-393" fmla="*/ 0 w 558839"/>
                <a:gd name="connsiteY1-394" fmla="*/ 11688 h 973305"/>
                <a:gd name="connsiteX2-395" fmla="*/ 499610 w 558839"/>
                <a:gd name="connsiteY2-396" fmla="*/ 0 h 973305"/>
                <a:gd name="connsiteX3-397" fmla="*/ 558839 w 558839"/>
                <a:gd name="connsiteY3-398" fmla="*/ 754682 h 973305"/>
                <a:gd name="connsiteX4-399" fmla="*/ 197928 w 558839"/>
                <a:gd name="connsiteY4-400" fmla="*/ 973305 h 973305"/>
                <a:gd name="connsiteX0-401" fmla="*/ 370213 w 558839"/>
                <a:gd name="connsiteY0-402" fmla="*/ 796102 h 796102"/>
                <a:gd name="connsiteX1-403" fmla="*/ 0 w 558839"/>
                <a:gd name="connsiteY1-404" fmla="*/ 11688 h 796102"/>
                <a:gd name="connsiteX2-405" fmla="*/ 499610 w 558839"/>
                <a:gd name="connsiteY2-406" fmla="*/ 0 h 796102"/>
                <a:gd name="connsiteX3-407" fmla="*/ 558839 w 558839"/>
                <a:gd name="connsiteY3-408" fmla="*/ 754682 h 796102"/>
                <a:gd name="connsiteX4-409" fmla="*/ 370213 w 558839"/>
                <a:gd name="connsiteY4-410" fmla="*/ 796102 h 796102"/>
                <a:gd name="connsiteX0-411" fmla="*/ 370213 w 558839"/>
                <a:gd name="connsiteY0-412" fmla="*/ 796102 h 796102"/>
                <a:gd name="connsiteX1-413" fmla="*/ 0 w 558839"/>
                <a:gd name="connsiteY1-414" fmla="*/ 11688 h 796102"/>
                <a:gd name="connsiteX2-415" fmla="*/ 499610 w 558839"/>
                <a:gd name="connsiteY2-416" fmla="*/ 0 h 796102"/>
                <a:gd name="connsiteX3-417" fmla="*/ 558839 w 558839"/>
                <a:gd name="connsiteY3-418" fmla="*/ 754682 h 796102"/>
                <a:gd name="connsiteX4-419" fmla="*/ 370213 w 558839"/>
                <a:gd name="connsiteY4-420" fmla="*/ 796102 h 796102"/>
                <a:gd name="connsiteX0-421" fmla="*/ 370213 w 558839"/>
                <a:gd name="connsiteY0-422" fmla="*/ 796102 h 796102"/>
                <a:gd name="connsiteX1-423" fmla="*/ 0 w 558839"/>
                <a:gd name="connsiteY1-424" fmla="*/ 11688 h 796102"/>
                <a:gd name="connsiteX2-425" fmla="*/ 499610 w 558839"/>
                <a:gd name="connsiteY2-426" fmla="*/ 0 h 796102"/>
                <a:gd name="connsiteX3-427" fmla="*/ 558839 w 558839"/>
                <a:gd name="connsiteY3-428" fmla="*/ 754682 h 796102"/>
                <a:gd name="connsiteX4-429" fmla="*/ 370213 w 558839"/>
                <a:gd name="connsiteY4-430" fmla="*/ 796102 h 796102"/>
                <a:gd name="connsiteX0-431" fmla="*/ 370213 w 558839"/>
                <a:gd name="connsiteY0-432" fmla="*/ 1315828 h 1315828"/>
                <a:gd name="connsiteX1-433" fmla="*/ 0 w 558839"/>
                <a:gd name="connsiteY1-434" fmla="*/ 531414 h 1315828"/>
                <a:gd name="connsiteX2-435" fmla="*/ 506930 w 558839"/>
                <a:gd name="connsiteY2-436" fmla="*/ 0 h 1315828"/>
                <a:gd name="connsiteX3-437" fmla="*/ 558839 w 558839"/>
                <a:gd name="connsiteY3-438" fmla="*/ 1274408 h 1315828"/>
                <a:gd name="connsiteX4-439" fmla="*/ 370213 w 558839"/>
                <a:gd name="connsiteY4-440" fmla="*/ 1315828 h 1315828"/>
                <a:gd name="connsiteX0-441" fmla="*/ 384853 w 573479"/>
                <a:gd name="connsiteY0-442" fmla="*/ 1326654 h 1326654"/>
                <a:gd name="connsiteX1-443" fmla="*/ 0 w 573479"/>
                <a:gd name="connsiteY1-444" fmla="*/ 554 h 1326654"/>
                <a:gd name="connsiteX2-445" fmla="*/ 521570 w 573479"/>
                <a:gd name="connsiteY2-446" fmla="*/ 10826 h 1326654"/>
                <a:gd name="connsiteX3-447" fmla="*/ 573479 w 573479"/>
                <a:gd name="connsiteY3-448" fmla="*/ 1285234 h 1326654"/>
                <a:gd name="connsiteX4-449" fmla="*/ 384853 w 573479"/>
                <a:gd name="connsiteY4-450" fmla="*/ 1326654 h 1326654"/>
                <a:gd name="connsiteX0-451" fmla="*/ 384853 w 573479"/>
                <a:gd name="connsiteY0-452" fmla="*/ 1326654 h 1326654"/>
                <a:gd name="connsiteX1-453" fmla="*/ 0 w 573479"/>
                <a:gd name="connsiteY1-454" fmla="*/ 554 h 1326654"/>
                <a:gd name="connsiteX2-455" fmla="*/ 521570 w 573479"/>
                <a:gd name="connsiteY2-456" fmla="*/ 10826 h 1326654"/>
                <a:gd name="connsiteX3-457" fmla="*/ 573479 w 573479"/>
                <a:gd name="connsiteY3-458" fmla="*/ 1285234 h 1326654"/>
                <a:gd name="connsiteX4-459" fmla="*/ 384853 w 573479"/>
                <a:gd name="connsiteY4-460" fmla="*/ 1326654 h 1326654"/>
                <a:gd name="connsiteX0-461" fmla="*/ 384853 w 573479"/>
                <a:gd name="connsiteY0-462" fmla="*/ 1326654 h 1326654"/>
                <a:gd name="connsiteX1-463" fmla="*/ 0 w 573479"/>
                <a:gd name="connsiteY1-464" fmla="*/ 554 h 1326654"/>
                <a:gd name="connsiteX2-465" fmla="*/ 521570 w 573479"/>
                <a:gd name="connsiteY2-466" fmla="*/ 10826 h 1326654"/>
                <a:gd name="connsiteX3-467" fmla="*/ 573479 w 573479"/>
                <a:gd name="connsiteY3-468" fmla="*/ 1285234 h 1326654"/>
                <a:gd name="connsiteX4-469" fmla="*/ 384853 w 573479"/>
                <a:gd name="connsiteY4-470" fmla="*/ 1326654 h 1326654"/>
                <a:gd name="connsiteX0-471" fmla="*/ 384853 w 573479"/>
                <a:gd name="connsiteY0-472" fmla="*/ 1326654 h 1326654"/>
                <a:gd name="connsiteX1-473" fmla="*/ 0 w 573479"/>
                <a:gd name="connsiteY1-474" fmla="*/ 554 h 1326654"/>
                <a:gd name="connsiteX2-475" fmla="*/ 521570 w 573479"/>
                <a:gd name="connsiteY2-476" fmla="*/ 10826 h 1326654"/>
                <a:gd name="connsiteX3-477" fmla="*/ 573479 w 573479"/>
                <a:gd name="connsiteY3-478" fmla="*/ 1285234 h 1326654"/>
                <a:gd name="connsiteX4-479" fmla="*/ 384853 w 573479"/>
                <a:gd name="connsiteY4-480" fmla="*/ 1326654 h 1326654"/>
                <a:gd name="connsiteX0-481" fmla="*/ 384853 w 573479"/>
                <a:gd name="connsiteY0-482" fmla="*/ 1326654 h 1326654"/>
                <a:gd name="connsiteX1-483" fmla="*/ 0 w 573479"/>
                <a:gd name="connsiteY1-484" fmla="*/ 554 h 1326654"/>
                <a:gd name="connsiteX2-485" fmla="*/ 521570 w 573479"/>
                <a:gd name="connsiteY2-486" fmla="*/ 10826 h 1326654"/>
                <a:gd name="connsiteX3-487" fmla="*/ 573479 w 573479"/>
                <a:gd name="connsiteY3-488" fmla="*/ 1285234 h 1326654"/>
                <a:gd name="connsiteX4-489" fmla="*/ 384853 w 573479"/>
                <a:gd name="connsiteY4-490" fmla="*/ 1326654 h 1326654"/>
                <a:gd name="connsiteX0-491" fmla="*/ 384853 w 573479"/>
                <a:gd name="connsiteY0-492" fmla="*/ 1326654 h 1326654"/>
                <a:gd name="connsiteX1-493" fmla="*/ 0 w 573479"/>
                <a:gd name="connsiteY1-494" fmla="*/ 554 h 1326654"/>
                <a:gd name="connsiteX2-495" fmla="*/ 521570 w 573479"/>
                <a:gd name="connsiteY2-496" fmla="*/ 10826 h 1326654"/>
                <a:gd name="connsiteX3-497" fmla="*/ 573479 w 573479"/>
                <a:gd name="connsiteY3-498" fmla="*/ 1285234 h 1326654"/>
                <a:gd name="connsiteX4-499" fmla="*/ 384853 w 573479"/>
                <a:gd name="connsiteY4-500" fmla="*/ 1326654 h 1326654"/>
                <a:gd name="connsiteX0-501" fmla="*/ 384853 w 588119"/>
                <a:gd name="connsiteY0-502" fmla="*/ 1326654 h 1326654"/>
                <a:gd name="connsiteX1-503" fmla="*/ 0 w 588119"/>
                <a:gd name="connsiteY1-504" fmla="*/ 554 h 1326654"/>
                <a:gd name="connsiteX2-505" fmla="*/ 521570 w 588119"/>
                <a:gd name="connsiteY2-506" fmla="*/ 10826 h 1326654"/>
                <a:gd name="connsiteX3-507" fmla="*/ 588119 w 588119"/>
                <a:gd name="connsiteY3-508" fmla="*/ 1321835 h 1326654"/>
                <a:gd name="connsiteX4-509" fmla="*/ 384853 w 588119"/>
                <a:gd name="connsiteY4-510" fmla="*/ 1326654 h 1326654"/>
                <a:gd name="connsiteX0-511" fmla="*/ 384853 w 588119"/>
                <a:gd name="connsiteY0-512" fmla="*/ 1326654 h 1326654"/>
                <a:gd name="connsiteX1-513" fmla="*/ 0 w 588119"/>
                <a:gd name="connsiteY1-514" fmla="*/ 554 h 1326654"/>
                <a:gd name="connsiteX2-515" fmla="*/ 521570 w 588119"/>
                <a:gd name="connsiteY2-516" fmla="*/ 10826 h 1326654"/>
                <a:gd name="connsiteX3-517" fmla="*/ 588119 w 588119"/>
                <a:gd name="connsiteY3-518" fmla="*/ 1321835 h 1326654"/>
                <a:gd name="connsiteX4-519" fmla="*/ 384853 w 588119"/>
                <a:gd name="connsiteY4-520" fmla="*/ 1326654 h 1326654"/>
                <a:gd name="connsiteX0-521" fmla="*/ 384853 w 588119"/>
                <a:gd name="connsiteY0-522" fmla="*/ 1326148 h 1326148"/>
                <a:gd name="connsiteX1-523" fmla="*/ 0 w 588119"/>
                <a:gd name="connsiteY1-524" fmla="*/ 48 h 1326148"/>
                <a:gd name="connsiteX2-525" fmla="*/ 521570 w 588119"/>
                <a:gd name="connsiteY2-526" fmla="*/ 228243 h 1326148"/>
                <a:gd name="connsiteX3-527" fmla="*/ 588119 w 588119"/>
                <a:gd name="connsiteY3-528" fmla="*/ 1321329 h 1326148"/>
                <a:gd name="connsiteX4-529" fmla="*/ 384853 w 588119"/>
                <a:gd name="connsiteY4-530" fmla="*/ 1326148 h 1326148"/>
                <a:gd name="connsiteX0-531" fmla="*/ 384853 w 588119"/>
                <a:gd name="connsiteY0-532" fmla="*/ 1326148 h 1326148"/>
                <a:gd name="connsiteX1-533" fmla="*/ 0 w 588119"/>
                <a:gd name="connsiteY1-534" fmla="*/ 48 h 1326148"/>
                <a:gd name="connsiteX2-535" fmla="*/ 521570 w 588119"/>
                <a:gd name="connsiteY2-536" fmla="*/ 228243 h 1326148"/>
                <a:gd name="connsiteX3-537" fmla="*/ 588119 w 588119"/>
                <a:gd name="connsiteY3-538" fmla="*/ 1321329 h 1326148"/>
                <a:gd name="connsiteX4-539" fmla="*/ 384853 w 588119"/>
                <a:gd name="connsiteY4-540" fmla="*/ 1326148 h 1326148"/>
                <a:gd name="connsiteX0-541" fmla="*/ 384853 w 588119"/>
                <a:gd name="connsiteY0-542" fmla="*/ 1326148 h 1326148"/>
                <a:gd name="connsiteX1-543" fmla="*/ 0 w 588119"/>
                <a:gd name="connsiteY1-544" fmla="*/ 48 h 1326148"/>
                <a:gd name="connsiteX2-545" fmla="*/ 521570 w 588119"/>
                <a:gd name="connsiteY2-546" fmla="*/ 228243 h 1326148"/>
                <a:gd name="connsiteX3-547" fmla="*/ 588119 w 588119"/>
                <a:gd name="connsiteY3-548" fmla="*/ 1321329 h 1326148"/>
                <a:gd name="connsiteX4-549" fmla="*/ 384853 w 588119"/>
                <a:gd name="connsiteY4-550" fmla="*/ 1326148 h 1326148"/>
                <a:gd name="connsiteX0-551" fmla="*/ 366066 w 569332"/>
                <a:gd name="connsiteY0-552" fmla="*/ 1097905 h 1097905"/>
                <a:gd name="connsiteX1-553" fmla="*/ 0 w 569332"/>
                <a:gd name="connsiteY1-554" fmla="*/ 4757 h 1097905"/>
                <a:gd name="connsiteX2-555" fmla="*/ 502783 w 569332"/>
                <a:gd name="connsiteY2-556" fmla="*/ 0 h 1097905"/>
                <a:gd name="connsiteX3-557" fmla="*/ 569332 w 569332"/>
                <a:gd name="connsiteY3-558" fmla="*/ 1093086 h 1097905"/>
                <a:gd name="connsiteX4-559" fmla="*/ 366066 w 569332"/>
                <a:gd name="connsiteY4-560" fmla="*/ 1097905 h 1097905"/>
                <a:gd name="connsiteX0-561" fmla="*/ 366066 w 569332"/>
                <a:gd name="connsiteY0-562" fmla="*/ 1097905 h 1097905"/>
                <a:gd name="connsiteX1-563" fmla="*/ 0 w 569332"/>
                <a:gd name="connsiteY1-564" fmla="*/ 4757 h 1097905"/>
                <a:gd name="connsiteX2-565" fmla="*/ 502783 w 569332"/>
                <a:gd name="connsiteY2-566" fmla="*/ 0 h 1097905"/>
                <a:gd name="connsiteX3-567" fmla="*/ 569332 w 569332"/>
                <a:gd name="connsiteY3-568" fmla="*/ 1093086 h 1097905"/>
                <a:gd name="connsiteX4-569" fmla="*/ 366066 w 569332"/>
                <a:gd name="connsiteY4-570" fmla="*/ 1097905 h 1097905"/>
                <a:gd name="connsiteX0-571" fmla="*/ 366066 w 569332"/>
                <a:gd name="connsiteY0-572" fmla="*/ 1097905 h 1097905"/>
                <a:gd name="connsiteX1-573" fmla="*/ 0 w 569332"/>
                <a:gd name="connsiteY1-574" fmla="*/ 4757 h 1097905"/>
                <a:gd name="connsiteX2-575" fmla="*/ 502783 w 569332"/>
                <a:gd name="connsiteY2-576" fmla="*/ 0 h 1097905"/>
                <a:gd name="connsiteX3-577" fmla="*/ 569332 w 569332"/>
                <a:gd name="connsiteY3-578" fmla="*/ 1093086 h 1097905"/>
                <a:gd name="connsiteX4-579" fmla="*/ 366066 w 569332"/>
                <a:gd name="connsiteY4-580" fmla="*/ 1097905 h 1097905"/>
                <a:gd name="connsiteX0-581" fmla="*/ 366066 w 594113"/>
                <a:gd name="connsiteY0-582" fmla="*/ 1097905 h 1179971"/>
                <a:gd name="connsiteX1-583" fmla="*/ 0 w 594113"/>
                <a:gd name="connsiteY1-584" fmla="*/ 4757 h 1179971"/>
                <a:gd name="connsiteX2-585" fmla="*/ 502783 w 594113"/>
                <a:gd name="connsiteY2-586" fmla="*/ 0 h 1179971"/>
                <a:gd name="connsiteX3-587" fmla="*/ 594113 w 594113"/>
                <a:gd name="connsiteY3-588" fmla="*/ 1179818 h 1179971"/>
                <a:gd name="connsiteX4-589" fmla="*/ 366066 w 594113"/>
                <a:gd name="connsiteY4-590" fmla="*/ 1097905 h 1179971"/>
                <a:gd name="connsiteX0-591" fmla="*/ 403236 w 594113"/>
                <a:gd name="connsiteY0-592" fmla="*/ 1215612 h 1215612"/>
                <a:gd name="connsiteX1-593" fmla="*/ 0 w 594113"/>
                <a:gd name="connsiteY1-594" fmla="*/ 4757 h 1215612"/>
                <a:gd name="connsiteX2-595" fmla="*/ 502783 w 594113"/>
                <a:gd name="connsiteY2-596" fmla="*/ 0 h 1215612"/>
                <a:gd name="connsiteX3-597" fmla="*/ 594113 w 594113"/>
                <a:gd name="connsiteY3-598" fmla="*/ 1179818 h 1215612"/>
                <a:gd name="connsiteX4-599" fmla="*/ 403236 w 594113"/>
                <a:gd name="connsiteY4-600" fmla="*/ 1215612 h 1215612"/>
                <a:gd name="connsiteX0-601" fmla="*/ 403236 w 574100"/>
                <a:gd name="connsiteY0-602" fmla="*/ 1215612 h 1215612"/>
                <a:gd name="connsiteX1-603" fmla="*/ 0 w 574100"/>
                <a:gd name="connsiteY1-604" fmla="*/ 4757 h 1215612"/>
                <a:gd name="connsiteX2-605" fmla="*/ 502783 w 574100"/>
                <a:gd name="connsiteY2-606" fmla="*/ 0 h 1215612"/>
                <a:gd name="connsiteX3-607" fmla="*/ 574100 w 574100"/>
                <a:gd name="connsiteY3-608" fmla="*/ 1014877 h 1215612"/>
                <a:gd name="connsiteX4-609" fmla="*/ 403236 w 574100"/>
                <a:gd name="connsiteY4-610" fmla="*/ 1215612 h 1215612"/>
                <a:gd name="connsiteX0-611" fmla="*/ 333190 w 574100"/>
                <a:gd name="connsiteY0-612" fmla="*/ 985695 h 1015244"/>
                <a:gd name="connsiteX1-613" fmla="*/ 0 w 574100"/>
                <a:gd name="connsiteY1-614" fmla="*/ 4757 h 1015244"/>
                <a:gd name="connsiteX2-615" fmla="*/ 502783 w 574100"/>
                <a:gd name="connsiteY2-616" fmla="*/ 0 h 1015244"/>
                <a:gd name="connsiteX3-617" fmla="*/ 574100 w 574100"/>
                <a:gd name="connsiteY3-618" fmla="*/ 1014877 h 1015244"/>
                <a:gd name="connsiteX4-619" fmla="*/ 333190 w 574100"/>
                <a:gd name="connsiteY4-620" fmla="*/ 985695 h 1015244"/>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29" name="Group 28"/>
            <p:cNvGrpSpPr/>
            <p:nvPr/>
          </p:nvGrpSpPr>
          <p:grpSpPr>
            <a:xfrm>
              <a:off x="1856416" y="3709935"/>
              <a:ext cx="1049338" cy="1739900"/>
              <a:chOff x="1856416" y="3709935"/>
              <a:chExt cx="1049338" cy="1739900"/>
            </a:xfrm>
          </p:grpSpPr>
          <p:sp>
            <p:nvSpPr>
              <p:cNvPr id="496" name="Rectangle 495"/>
              <p:cNvSpPr/>
              <p:nvPr/>
            </p:nvSpPr>
            <p:spPr bwMode="auto">
              <a:xfrm rot="10800000">
                <a:off x="1867529" y="3957585"/>
                <a:ext cx="1027112" cy="61109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85" name="Group 498"/>
              <p:cNvGrpSpPr/>
              <p:nvPr/>
            </p:nvGrpSpPr>
            <p:grpSpPr bwMode="auto">
              <a:xfrm>
                <a:off x="1858805" y="5088863"/>
                <a:ext cx="1035373" cy="360972"/>
                <a:chOff x="4128636" y="3606589"/>
                <a:chExt cx="568145" cy="338667"/>
              </a:xfrm>
            </p:grpSpPr>
            <p:sp>
              <p:nvSpPr>
                <p:cNvPr id="515" name="Oval 514"/>
                <p:cNvSpPr/>
                <p:nvPr/>
              </p:nvSpPr>
              <p:spPr>
                <a:xfrm>
                  <a:off x="4129067" y="3720356"/>
                  <a:ext cx="567968" cy="224900"/>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6" name="Rectangle 515"/>
                <p:cNvSpPr/>
                <p:nvPr/>
              </p:nvSpPr>
              <p:spPr>
                <a:xfrm>
                  <a:off x="4129067" y="3720356"/>
                  <a:ext cx="567968" cy="111705"/>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7" name="Oval 516"/>
                <p:cNvSpPr/>
                <p:nvPr/>
              </p:nvSpPr>
              <p:spPr>
                <a:xfrm>
                  <a:off x="4129067" y="3607161"/>
                  <a:ext cx="567968" cy="224900"/>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8" name="Straight Connector 517"/>
                <p:cNvCxnSpPr/>
                <p:nvPr/>
              </p:nvCxnSpPr>
              <p:spPr>
                <a:xfrm>
                  <a:off x="4697035"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p:cNvCxnSpPr/>
                <p:nvPr/>
              </p:nvCxnSpPr>
              <p:spPr>
                <a:xfrm>
                  <a:off x="4129067"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0" name="Rectangle 499"/>
              <p:cNvSpPr/>
              <p:nvPr/>
            </p:nvSpPr>
            <p:spPr bwMode="auto">
              <a:xfrm>
                <a:off x="1877054" y="4704509"/>
                <a:ext cx="1028700" cy="523075"/>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2" name="Straight Connector 501"/>
              <p:cNvCxnSpPr/>
              <p:nvPr/>
            </p:nvCxnSpPr>
            <p:spPr bwMode="auto">
              <a:xfrm>
                <a:off x="1861179" y="3981398"/>
                <a:ext cx="17462" cy="13017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03" name="Straight Connector 502"/>
              <p:cNvCxnSpPr/>
              <p:nvPr/>
            </p:nvCxnSpPr>
            <p:spPr bwMode="auto">
              <a:xfrm flipH="1">
                <a:off x="2894641" y="3971873"/>
                <a:ext cx="6350" cy="127000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90" name="Group 504"/>
              <p:cNvGrpSpPr/>
              <p:nvPr/>
            </p:nvGrpSpPr>
            <p:grpSpPr bwMode="auto">
              <a:xfrm>
                <a:off x="1856416" y="3709935"/>
                <a:ext cx="1044712" cy="399063"/>
                <a:chOff x="2183302" y="1574638"/>
                <a:chExt cx="1200154" cy="430218"/>
              </a:xfrm>
            </p:grpSpPr>
            <p:sp>
              <p:nvSpPr>
                <p:cNvPr id="506" name="Oval 505"/>
                <p:cNvSpPr/>
                <p:nvPr/>
              </p:nvSpPr>
              <p:spPr bwMode="auto">
                <a:xfrm flipV="1">
                  <a:off x="2185126" y="1689305"/>
                  <a:ext cx="1196349" cy="314904"/>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7" name="Rectangle 506"/>
                <p:cNvSpPr/>
                <p:nvPr/>
              </p:nvSpPr>
              <p:spPr bwMode="auto">
                <a:xfrm>
                  <a:off x="2183302" y="1735513"/>
                  <a:ext cx="1198173" cy="11295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8" name="Oval 507"/>
                <p:cNvSpPr/>
                <p:nvPr/>
              </p:nvSpPr>
              <p:spPr bwMode="auto">
                <a:xfrm flipV="1">
                  <a:off x="2183302" y="1574638"/>
                  <a:ext cx="1196349" cy="314904"/>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9" name="Freeform 508"/>
                <p:cNvSpPr/>
                <p:nvPr/>
              </p:nvSpPr>
              <p:spPr bwMode="auto">
                <a:xfrm>
                  <a:off x="2489684" y="1670478"/>
                  <a:ext cx="581762" cy="15745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0" name="Freeform 509"/>
                <p:cNvSpPr/>
                <p:nvPr/>
              </p:nvSpPr>
              <p:spPr bwMode="auto">
                <a:xfrm>
                  <a:off x="2429502" y="1629404"/>
                  <a:ext cx="703949" cy="11124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Freeform 510"/>
                <p:cNvSpPr/>
                <p:nvPr/>
              </p:nvSpPr>
              <p:spPr bwMode="auto">
                <a:xfrm>
                  <a:off x="2892723" y="1723534"/>
                  <a:ext cx="257142" cy="958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Freeform 511"/>
                <p:cNvSpPr/>
                <p:nvPr/>
              </p:nvSpPr>
              <p:spPr bwMode="auto">
                <a:xfrm>
                  <a:off x="2416736" y="1725244"/>
                  <a:ext cx="255318" cy="9413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a:endCxn id="508" idx="2"/>
                </p:cNvCxnSpPr>
                <p:nvPr/>
              </p:nvCxnSpPr>
              <p:spPr bwMode="auto">
                <a:xfrm flipH="1" flipV="1">
                  <a:off x="2183302" y="1732090"/>
                  <a:ext cx="1824"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bwMode="auto">
                <a:xfrm flipH="1" flipV="1">
                  <a:off x="3381475" y="1728667"/>
                  <a:ext cx="1823"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0" name="Group 29"/>
            <p:cNvGrpSpPr/>
            <p:nvPr/>
          </p:nvGrpSpPr>
          <p:grpSpPr>
            <a:xfrm>
              <a:off x="3566154" y="3862335"/>
              <a:ext cx="514350" cy="1670050"/>
              <a:chOff x="3566154" y="3862335"/>
              <a:chExt cx="514350" cy="1670050"/>
            </a:xfrm>
          </p:grpSpPr>
          <p:sp>
            <p:nvSpPr>
              <p:cNvPr id="549" name="Rectangle 548"/>
              <p:cNvSpPr/>
              <p:nvPr/>
            </p:nvSpPr>
            <p:spPr bwMode="auto">
              <a:xfrm rot="10800000">
                <a:off x="3569201" y="39460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0" name="Straight Connector 549"/>
              <p:cNvCxnSpPr/>
              <p:nvPr/>
            </p:nvCxnSpPr>
            <p:spPr bwMode="auto">
              <a:xfrm flipH="1">
                <a:off x="4078916" y="4019498"/>
                <a:ext cx="1588"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71" name="Group 552"/>
              <p:cNvGrpSpPr/>
              <p:nvPr/>
            </p:nvGrpSpPr>
            <p:grpSpPr bwMode="auto">
              <a:xfrm>
                <a:off x="3571302" y="5310688"/>
                <a:ext cx="507588" cy="221697"/>
                <a:chOff x="4128636" y="3606589"/>
                <a:chExt cx="568145" cy="338667"/>
              </a:xfrm>
            </p:grpSpPr>
            <p:sp>
              <p:nvSpPr>
                <p:cNvPr id="562" name="Oval 561"/>
                <p:cNvSpPr/>
                <p:nvPr/>
              </p:nvSpPr>
              <p:spPr>
                <a:xfrm>
                  <a:off x="4128204"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3" name="Rectangle 562"/>
                <p:cNvSpPr/>
                <p:nvPr/>
              </p:nvSpPr>
              <p:spPr>
                <a:xfrm>
                  <a:off x="4128204"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4" name="Oval 563"/>
                <p:cNvSpPr/>
                <p:nvPr/>
              </p:nvSpPr>
              <p:spPr>
                <a:xfrm>
                  <a:off x="4128204"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65" name="Straight Connector 564"/>
                <p:cNvCxnSpPr/>
                <p:nvPr/>
              </p:nvCxnSpPr>
              <p:spPr>
                <a:xfrm>
                  <a:off x="4696810"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a:off x="4128204"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54" name="Rectangle 553"/>
              <p:cNvSpPr/>
              <p:nvPr/>
            </p:nvSpPr>
            <p:spPr bwMode="auto">
              <a:xfrm>
                <a:off x="3572504" y="4575123"/>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7" name="Straight Connector 556"/>
              <p:cNvCxnSpPr/>
              <p:nvPr/>
            </p:nvCxnSpPr>
            <p:spPr bwMode="auto">
              <a:xfrm flipH="1">
                <a:off x="3566154" y="40274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57" name="Group 538"/>
              <p:cNvGrpSpPr/>
              <p:nvPr/>
            </p:nvGrpSpPr>
            <p:grpSpPr bwMode="auto">
              <a:xfrm>
                <a:off x="3568667" y="3862335"/>
                <a:ext cx="503828" cy="248249"/>
                <a:chOff x="2183302" y="1564542"/>
                <a:chExt cx="1200154" cy="440314"/>
              </a:xfrm>
            </p:grpSpPr>
            <p:sp>
              <p:nvSpPr>
                <p:cNvPr id="540" name="Oval 539"/>
                <p:cNvSpPr/>
                <p:nvPr/>
              </p:nvSpPr>
              <p:spPr bwMode="auto">
                <a:xfrm flipV="1">
                  <a:off x="2188659"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1" name="Rectangle 540"/>
                <p:cNvSpPr/>
                <p:nvPr/>
              </p:nvSpPr>
              <p:spPr bwMode="auto">
                <a:xfrm>
                  <a:off x="2184879" y="1736302"/>
                  <a:ext cx="1198746"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2" name="Oval 541"/>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3" name="Freeform 542"/>
                <p:cNvSpPr/>
                <p:nvPr/>
              </p:nvSpPr>
              <p:spPr bwMode="auto">
                <a:xfrm>
                  <a:off x="2491182"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4" name="Freeform 543"/>
                <p:cNvSpPr/>
                <p:nvPr/>
              </p:nvSpPr>
              <p:spPr bwMode="auto">
                <a:xfrm>
                  <a:off x="2430678"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5" name="Freeform 544"/>
                <p:cNvSpPr/>
                <p:nvPr/>
              </p:nvSpPr>
              <p:spPr bwMode="auto">
                <a:xfrm>
                  <a:off x="2892025" y="1722222"/>
                  <a:ext cx="260927"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6" name="Freeform 545"/>
                <p:cNvSpPr/>
                <p:nvPr/>
              </p:nvSpPr>
              <p:spPr bwMode="auto">
                <a:xfrm>
                  <a:off x="2419334" y="1725039"/>
                  <a:ext cx="253362"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47" name="Straight Connector 546"/>
                <p:cNvCxnSpPr>
                  <a:endCxn id="542" idx="2"/>
                </p:cNvCxnSpPr>
                <p:nvPr/>
              </p:nvCxnSpPr>
              <p:spPr bwMode="auto">
                <a:xfrm flipH="1" flipV="1">
                  <a:off x="2184879" y="1722222"/>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48" name="Straight Connector 547"/>
                <p:cNvCxnSpPr/>
                <p:nvPr/>
              </p:nvCxnSpPr>
              <p:spPr bwMode="auto">
                <a:xfrm flipH="1" flipV="1">
                  <a:off x="3379845" y="1727853"/>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1" name="Group 30"/>
            <p:cNvGrpSpPr/>
            <p:nvPr/>
          </p:nvGrpSpPr>
          <p:grpSpPr>
            <a:xfrm>
              <a:off x="4348791" y="3867098"/>
              <a:ext cx="514350" cy="1670050"/>
              <a:chOff x="4348791" y="3867098"/>
              <a:chExt cx="514350" cy="1670050"/>
            </a:xfrm>
          </p:grpSpPr>
          <p:sp>
            <p:nvSpPr>
              <p:cNvPr id="579" name="Rectangle 578"/>
              <p:cNvSpPr/>
              <p:nvPr/>
            </p:nvSpPr>
            <p:spPr bwMode="auto">
              <a:xfrm rot="10800000">
                <a:off x="4351838" y="3950855"/>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0" name="Straight Connector 579"/>
              <p:cNvCxnSpPr/>
              <p:nvPr/>
            </p:nvCxnSpPr>
            <p:spPr bwMode="auto">
              <a:xfrm flipH="1">
                <a:off x="4861554" y="4024260"/>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43" name="Group 580"/>
              <p:cNvGrpSpPr/>
              <p:nvPr/>
            </p:nvGrpSpPr>
            <p:grpSpPr bwMode="auto">
              <a:xfrm>
                <a:off x="4353939" y="5315451"/>
                <a:ext cx="507588" cy="221697"/>
                <a:chOff x="4128636" y="3606589"/>
                <a:chExt cx="568145" cy="338667"/>
              </a:xfrm>
            </p:grpSpPr>
            <p:sp>
              <p:nvSpPr>
                <p:cNvPr id="589" name="Oval 588"/>
                <p:cNvSpPr/>
                <p:nvPr/>
              </p:nvSpPr>
              <p:spPr>
                <a:xfrm>
                  <a:off x="4128205" y="3719722"/>
                  <a:ext cx="568606" cy="225534"/>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0" name="Rectangle 589"/>
                <p:cNvSpPr/>
                <p:nvPr/>
              </p:nvSpPr>
              <p:spPr>
                <a:xfrm>
                  <a:off x="4128205" y="3719722"/>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1" name="Oval 590"/>
                <p:cNvSpPr/>
                <p:nvPr/>
              </p:nvSpPr>
              <p:spPr>
                <a:xfrm>
                  <a:off x="4128205" y="3605744"/>
                  <a:ext cx="568606" cy="22553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92" name="Straight Connector 591"/>
                <p:cNvCxnSpPr/>
                <p:nvPr/>
              </p:nvCxnSpPr>
              <p:spPr>
                <a:xfrm>
                  <a:off x="4696811"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p:nvPr/>
              </p:nvCxnSpPr>
              <p:spPr>
                <a:xfrm>
                  <a:off x="4128205"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82" name="Rectangle 581"/>
              <p:cNvSpPr/>
              <p:nvPr/>
            </p:nvSpPr>
            <p:spPr bwMode="auto">
              <a:xfrm>
                <a:off x="4355141" y="4579885"/>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4" name="Straight Connector 583"/>
              <p:cNvCxnSpPr/>
              <p:nvPr/>
            </p:nvCxnSpPr>
            <p:spPr bwMode="auto">
              <a:xfrm flipH="1">
                <a:off x="4348791" y="4032198"/>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29" name="Group 568"/>
              <p:cNvGrpSpPr/>
              <p:nvPr/>
            </p:nvGrpSpPr>
            <p:grpSpPr bwMode="auto">
              <a:xfrm>
                <a:off x="4351304" y="3867098"/>
                <a:ext cx="503828" cy="248249"/>
                <a:chOff x="2183302" y="1564542"/>
                <a:chExt cx="1200154" cy="440314"/>
              </a:xfrm>
            </p:grpSpPr>
            <p:sp>
              <p:nvSpPr>
                <p:cNvPr id="570" name="Oval 569"/>
                <p:cNvSpPr/>
                <p:nvPr/>
              </p:nvSpPr>
              <p:spPr bwMode="auto">
                <a:xfrm flipV="1">
                  <a:off x="2188662" y="1691248"/>
                  <a:ext cx="1194966" cy="312545"/>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1" name="Rectangle 570"/>
                <p:cNvSpPr/>
                <p:nvPr/>
              </p:nvSpPr>
              <p:spPr bwMode="auto">
                <a:xfrm>
                  <a:off x="2184879" y="1736300"/>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2" name="Oval 571"/>
                <p:cNvSpPr/>
                <p:nvPr/>
              </p:nvSpPr>
              <p:spPr bwMode="auto">
                <a:xfrm flipV="1">
                  <a:off x="2184879" y="1564542"/>
                  <a:ext cx="1194966" cy="312543"/>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3" name="Freeform 572"/>
                <p:cNvSpPr/>
                <p:nvPr/>
              </p:nvSpPr>
              <p:spPr bwMode="auto">
                <a:xfrm>
                  <a:off x="2491185" y="1671539"/>
                  <a:ext cx="582357" cy="1548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4" name="Freeform 573"/>
                <p:cNvSpPr/>
                <p:nvPr/>
              </p:nvSpPr>
              <p:spPr bwMode="auto">
                <a:xfrm>
                  <a:off x="2430680" y="1629303"/>
                  <a:ext cx="703366" cy="10981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5" name="Freeform 574"/>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6" name="Freeform 575"/>
                <p:cNvSpPr/>
                <p:nvPr/>
              </p:nvSpPr>
              <p:spPr bwMode="auto">
                <a:xfrm>
                  <a:off x="2419334" y="1725037"/>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77" name="Straight Connector 576"/>
                <p:cNvCxnSpPr>
                  <a:endCxn id="572" idx="2"/>
                </p:cNvCxnSpPr>
                <p:nvPr/>
              </p:nvCxnSpPr>
              <p:spPr bwMode="auto">
                <a:xfrm flipH="1" flipV="1">
                  <a:off x="2184879" y="1722222"/>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p:nvPr/>
              </p:nvCxnSpPr>
              <p:spPr bwMode="auto">
                <a:xfrm flipH="1" flipV="1">
                  <a:off x="3379845" y="1727853"/>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8" name="Group 48257"/>
            <p:cNvGrpSpPr/>
            <p:nvPr/>
          </p:nvGrpSpPr>
          <p:grpSpPr>
            <a:xfrm>
              <a:off x="5552116" y="3849635"/>
              <a:ext cx="514350" cy="1670050"/>
              <a:chOff x="5552116" y="3849635"/>
              <a:chExt cx="514350" cy="1670050"/>
            </a:xfrm>
          </p:grpSpPr>
          <p:sp>
            <p:nvSpPr>
              <p:cNvPr id="606" name="Rectangle 605"/>
              <p:cNvSpPr/>
              <p:nvPr/>
            </p:nvSpPr>
            <p:spPr bwMode="auto">
              <a:xfrm rot="10800000">
                <a:off x="5555163" y="39333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7" name="Straight Connector 606"/>
              <p:cNvCxnSpPr/>
              <p:nvPr/>
            </p:nvCxnSpPr>
            <p:spPr bwMode="auto">
              <a:xfrm flipH="1">
                <a:off x="6064879" y="4006798"/>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15" name="Group 607"/>
              <p:cNvGrpSpPr/>
              <p:nvPr/>
            </p:nvGrpSpPr>
            <p:grpSpPr bwMode="auto">
              <a:xfrm>
                <a:off x="5557264" y="5297988"/>
                <a:ext cx="507588" cy="221697"/>
                <a:chOff x="4128636" y="3606589"/>
                <a:chExt cx="568145" cy="338667"/>
              </a:xfrm>
            </p:grpSpPr>
            <p:sp>
              <p:nvSpPr>
                <p:cNvPr id="616" name="Oval 615"/>
                <p:cNvSpPr/>
                <p:nvPr/>
              </p:nvSpPr>
              <p:spPr>
                <a:xfrm>
                  <a:off x="4128205"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7" name="Rectangle 616"/>
                <p:cNvSpPr/>
                <p:nvPr/>
              </p:nvSpPr>
              <p:spPr>
                <a:xfrm>
                  <a:off x="4128205"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8" name="Oval 617"/>
                <p:cNvSpPr/>
                <p:nvPr/>
              </p:nvSpPr>
              <p:spPr>
                <a:xfrm>
                  <a:off x="4128205"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9" name="Straight Connector 618"/>
                <p:cNvCxnSpPr/>
                <p:nvPr/>
              </p:nvCxnSpPr>
              <p:spPr>
                <a:xfrm>
                  <a:off x="4696811"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20" name="Straight Connector 619"/>
                <p:cNvCxnSpPr/>
                <p:nvPr/>
              </p:nvCxnSpPr>
              <p:spPr>
                <a:xfrm>
                  <a:off x="4128205"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09" name="Rectangle 608"/>
              <p:cNvSpPr/>
              <p:nvPr/>
            </p:nvSpPr>
            <p:spPr bwMode="auto">
              <a:xfrm>
                <a:off x="5558466" y="4562423"/>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1" name="Straight Connector 610"/>
              <p:cNvCxnSpPr/>
              <p:nvPr/>
            </p:nvCxnSpPr>
            <p:spPr bwMode="auto">
              <a:xfrm flipH="1">
                <a:off x="5552116" y="40147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01" name="Group 595"/>
              <p:cNvGrpSpPr/>
              <p:nvPr/>
            </p:nvGrpSpPr>
            <p:grpSpPr bwMode="auto">
              <a:xfrm>
                <a:off x="5554629" y="3849635"/>
                <a:ext cx="503828" cy="248249"/>
                <a:chOff x="2183302" y="1564542"/>
                <a:chExt cx="1200154" cy="440314"/>
              </a:xfrm>
            </p:grpSpPr>
            <p:sp>
              <p:nvSpPr>
                <p:cNvPr id="597" name="Oval 596"/>
                <p:cNvSpPr/>
                <p:nvPr/>
              </p:nvSpPr>
              <p:spPr bwMode="auto">
                <a:xfrm flipV="1">
                  <a:off x="2188662"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98" name="Rectangle 597"/>
                <p:cNvSpPr/>
                <p:nvPr/>
              </p:nvSpPr>
              <p:spPr bwMode="auto">
                <a:xfrm>
                  <a:off x="2184879" y="1736302"/>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9" name="Oval 598"/>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00" name="Freeform 599"/>
                <p:cNvSpPr/>
                <p:nvPr/>
              </p:nvSpPr>
              <p:spPr bwMode="auto">
                <a:xfrm>
                  <a:off x="2491185"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1" name="Freeform 600"/>
                <p:cNvSpPr/>
                <p:nvPr/>
              </p:nvSpPr>
              <p:spPr bwMode="auto">
                <a:xfrm>
                  <a:off x="2430680"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2" name="Freeform 601"/>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3" name="Freeform 602"/>
                <p:cNvSpPr/>
                <p:nvPr/>
              </p:nvSpPr>
              <p:spPr bwMode="auto">
                <a:xfrm>
                  <a:off x="2419334" y="1725039"/>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4" name="Straight Connector 603"/>
                <p:cNvCxnSpPr>
                  <a:endCxn id="599" idx="2"/>
                </p:cNvCxnSpPr>
                <p:nvPr/>
              </p:nvCxnSpPr>
              <p:spPr bwMode="auto">
                <a:xfrm flipH="1" flipV="1">
                  <a:off x="2184879" y="1722222"/>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p:nvPr/>
              </p:nvCxnSpPr>
              <p:spPr bwMode="auto">
                <a:xfrm flipH="1" flipV="1">
                  <a:off x="3379845" y="1727853"/>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9" name="Group 48258"/>
            <p:cNvGrpSpPr/>
            <p:nvPr/>
          </p:nvGrpSpPr>
          <p:grpSpPr>
            <a:xfrm>
              <a:off x="6547479" y="3836935"/>
              <a:ext cx="514350" cy="1671638"/>
              <a:chOff x="6547479" y="3836935"/>
              <a:chExt cx="514350" cy="1671638"/>
            </a:xfrm>
          </p:grpSpPr>
          <p:sp>
            <p:nvSpPr>
              <p:cNvPr id="633" name="Rectangle 632"/>
              <p:cNvSpPr/>
              <p:nvPr/>
            </p:nvSpPr>
            <p:spPr bwMode="auto">
              <a:xfrm rot="10800000">
                <a:off x="6550526" y="3920772"/>
                <a:ext cx="498084" cy="62924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4" name="Straight Connector 633"/>
              <p:cNvCxnSpPr/>
              <p:nvPr/>
            </p:nvCxnSpPr>
            <p:spPr bwMode="auto">
              <a:xfrm flipH="1">
                <a:off x="7060241" y="3994098"/>
                <a:ext cx="1588" cy="13668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87" name="Group 634"/>
              <p:cNvGrpSpPr/>
              <p:nvPr/>
            </p:nvGrpSpPr>
            <p:grpSpPr bwMode="auto">
              <a:xfrm>
                <a:off x="6552627" y="5286665"/>
                <a:ext cx="507588" cy="221908"/>
                <a:chOff x="4128636" y="3606589"/>
                <a:chExt cx="568145" cy="338667"/>
              </a:xfrm>
            </p:grpSpPr>
            <p:sp>
              <p:nvSpPr>
                <p:cNvPr id="643" name="Oval 642"/>
                <p:cNvSpPr/>
                <p:nvPr/>
              </p:nvSpPr>
              <p:spPr>
                <a:xfrm>
                  <a:off x="4128204" y="3719937"/>
                  <a:ext cx="568606" cy="225319"/>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4" name="Rectangle 643"/>
                <p:cNvSpPr/>
                <p:nvPr/>
              </p:nvSpPr>
              <p:spPr>
                <a:xfrm>
                  <a:off x="4128204" y="3719937"/>
                  <a:ext cx="568606" cy="11144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5" name="Oval 644"/>
                <p:cNvSpPr/>
                <p:nvPr/>
              </p:nvSpPr>
              <p:spPr>
                <a:xfrm>
                  <a:off x="4128204" y="3606067"/>
                  <a:ext cx="568606" cy="22531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6" name="Straight Connector 645"/>
                <p:cNvCxnSpPr/>
                <p:nvPr/>
              </p:nvCxnSpPr>
              <p:spPr>
                <a:xfrm>
                  <a:off x="4696810"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7" name="Straight Connector 646"/>
                <p:cNvCxnSpPr/>
                <p:nvPr/>
              </p:nvCxnSpPr>
              <p:spPr>
                <a:xfrm>
                  <a:off x="4128204"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36" name="Rectangle 635"/>
              <p:cNvSpPr/>
              <p:nvPr/>
            </p:nvSpPr>
            <p:spPr bwMode="auto">
              <a:xfrm>
                <a:off x="6553829" y="4551310"/>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8" name="Straight Connector 637"/>
              <p:cNvCxnSpPr/>
              <p:nvPr/>
            </p:nvCxnSpPr>
            <p:spPr bwMode="auto">
              <a:xfrm flipH="1">
                <a:off x="6547479" y="4002035"/>
                <a:ext cx="3175" cy="1452563"/>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73" name="Group 622"/>
              <p:cNvGrpSpPr/>
              <p:nvPr/>
            </p:nvGrpSpPr>
            <p:grpSpPr bwMode="auto">
              <a:xfrm>
                <a:off x="6549992" y="3836935"/>
                <a:ext cx="503828" cy="248485"/>
                <a:chOff x="2183302" y="1564542"/>
                <a:chExt cx="1200154" cy="440314"/>
              </a:xfrm>
            </p:grpSpPr>
            <p:sp>
              <p:nvSpPr>
                <p:cNvPr id="624" name="Oval 623"/>
                <p:cNvSpPr/>
                <p:nvPr/>
              </p:nvSpPr>
              <p:spPr bwMode="auto">
                <a:xfrm flipV="1">
                  <a:off x="2188659" y="1691130"/>
                  <a:ext cx="1194966" cy="31506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5" name="Rectangle 624"/>
                <p:cNvSpPr/>
                <p:nvPr/>
              </p:nvSpPr>
              <p:spPr bwMode="auto">
                <a:xfrm>
                  <a:off x="2184879" y="1736138"/>
                  <a:ext cx="1198746" cy="11252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6" name="Oval 625"/>
                <p:cNvSpPr/>
                <p:nvPr/>
              </p:nvSpPr>
              <p:spPr bwMode="auto">
                <a:xfrm flipV="1">
                  <a:off x="2184879" y="1564542"/>
                  <a:ext cx="1194966" cy="31506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7" name="Freeform 626"/>
                <p:cNvSpPr/>
                <p:nvPr/>
              </p:nvSpPr>
              <p:spPr bwMode="auto">
                <a:xfrm>
                  <a:off x="2491182" y="1671438"/>
                  <a:ext cx="582357" cy="15753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8" name="Freeform 627"/>
                <p:cNvSpPr/>
                <p:nvPr/>
              </p:nvSpPr>
              <p:spPr bwMode="auto">
                <a:xfrm>
                  <a:off x="2430678" y="1629243"/>
                  <a:ext cx="703366" cy="11252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9" name="Freeform 628"/>
                <p:cNvSpPr/>
                <p:nvPr/>
              </p:nvSpPr>
              <p:spPr bwMode="auto">
                <a:xfrm>
                  <a:off x="2892025" y="1724886"/>
                  <a:ext cx="260927" cy="956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0" name="Freeform 629"/>
                <p:cNvSpPr/>
                <p:nvPr/>
              </p:nvSpPr>
              <p:spPr bwMode="auto">
                <a:xfrm>
                  <a:off x="2419334" y="1727698"/>
                  <a:ext cx="253362" cy="9283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1" name="Straight Connector 630"/>
                <p:cNvCxnSpPr>
                  <a:endCxn id="626" idx="2"/>
                </p:cNvCxnSpPr>
                <p:nvPr/>
              </p:nvCxnSpPr>
              <p:spPr bwMode="auto">
                <a:xfrm flipH="1" flipV="1">
                  <a:off x="2184879" y="1722072"/>
                  <a:ext cx="3780" cy="12096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p:nvPr/>
              </p:nvCxnSpPr>
              <p:spPr bwMode="auto">
                <a:xfrm flipH="1" flipV="1">
                  <a:off x="3379845" y="1730512"/>
                  <a:ext cx="3780" cy="12096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grpSp>
        <p:nvGrpSpPr>
          <p:cNvPr id="28" name="Group 27"/>
          <p:cNvGrpSpPr/>
          <p:nvPr/>
        </p:nvGrpSpPr>
        <p:grpSpPr>
          <a:xfrm>
            <a:off x="2381956" y="2475925"/>
            <a:ext cx="4415330" cy="2315048"/>
            <a:chOff x="2381956" y="2435173"/>
            <a:chExt cx="4415330" cy="2315048"/>
          </a:xfrm>
        </p:grpSpPr>
        <p:sp>
          <p:nvSpPr>
            <p:cNvPr id="391" name="Freeform 390"/>
            <p:cNvSpPr/>
            <p:nvPr/>
          </p:nvSpPr>
          <p:spPr>
            <a:xfrm>
              <a:off x="2381956" y="2439629"/>
              <a:ext cx="297540" cy="1743187"/>
            </a:xfrm>
            <a:custGeom>
              <a:avLst/>
              <a:gdLst>
                <a:gd name="connsiteX0" fmla="*/ 307275 w 307275"/>
                <a:gd name="connsiteY0" fmla="*/ 0 h 1659441"/>
                <a:gd name="connsiteX1" fmla="*/ 0 w 307275"/>
                <a:gd name="connsiteY1" fmla="*/ 0 h 1659441"/>
                <a:gd name="connsiteX2" fmla="*/ 0 w 307275"/>
                <a:gd name="connsiteY2" fmla="*/ 1659441 h 1659441"/>
                <a:gd name="connsiteX0-1" fmla="*/ 307275 w 307275"/>
                <a:gd name="connsiteY0-2" fmla="*/ 0 h 2015941"/>
                <a:gd name="connsiteX1-3" fmla="*/ 0 w 307275"/>
                <a:gd name="connsiteY1-4" fmla="*/ 0 h 2015941"/>
                <a:gd name="connsiteX2-5" fmla="*/ 0 w 307275"/>
                <a:gd name="connsiteY2-6" fmla="*/ 2015941 h 2015941"/>
                <a:gd name="connsiteX0-7" fmla="*/ 228538 w 228538"/>
                <a:gd name="connsiteY0-8" fmla="*/ 0 h 2022548"/>
                <a:gd name="connsiteX1-9" fmla="*/ 0 w 228538"/>
                <a:gd name="connsiteY1-10" fmla="*/ 6607 h 2022548"/>
                <a:gd name="connsiteX2-11" fmla="*/ 0 w 228538"/>
                <a:gd name="connsiteY2-12" fmla="*/ 2022548 h 2022548"/>
              </a:gdLst>
              <a:ahLst/>
              <a:cxnLst>
                <a:cxn ang="0">
                  <a:pos x="connsiteX0-1" y="connsiteY0-2"/>
                </a:cxn>
                <a:cxn ang="0">
                  <a:pos x="connsiteX1-3" y="connsiteY1-4"/>
                </a:cxn>
                <a:cxn ang="0">
                  <a:pos x="connsiteX2-5" y="connsiteY2-6"/>
                </a:cxn>
              </a:cxnLst>
              <a:rect l="l" t="t" r="r" b="b"/>
              <a:pathLst>
                <a:path w="228538" h="2022548">
                  <a:moveTo>
                    <a:pt x="228538" y="0"/>
                  </a:moveTo>
                  <a:lnTo>
                    <a:pt x="0" y="6607"/>
                  </a:lnTo>
                  <a:lnTo>
                    <a:pt x="0" y="2022548"/>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solidFill>
                  <a:srgbClr val="CC0000"/>
                </a:solidFill>
              </a:endParaRPr>
            </a:p>
          </p:txBody>
        </p:sp>
        <p:sp>
          <p:nvSpPr>
            <p:cNvPr id="392" name="Freeform 391"/>
            <p:cNvSpPr/>
            <p:nvPr/>
          </p:nvSpPr>
          <p:spPr>
            <a:xfrm flipH="1">
              <a:off x="6411524" y="2435173"/>
              <a:ext cx="385762" cy="2300562"/>
            </a:xfrm>
            <a:custGeom>
              <a:avLst/>
              <a:gdLst>
                <a:gd name="connsiteX0" fmla="*/ 307275 w 307275"/>
                <a:gd name="connsiteY0" fmla="*/ 0 h 1659441"/>
                <a:gd name="connsiteX1" fmla="*/ 0 w 307275"/>
                <a:gd name="connsiteY1" fmla="*/ 0 h 1659441"/>
                <a:gd name="connsiteX2" fmla="*/ 0 w 307275"/>
                <a:gd name="connsiteY2" fmla="*/ 1659441 h 1659441"/>
                <a:gd name="connsiteX0-1" fmla="*/ 307275 w 307275"/>
                <a:gd name="connsiteY0-2" fmla="*/ 0 h 2117725"/>
                <a:gd name="connsiteX1-3" fmla="*/ 0 w 307275"/>
                <a:gd name="connsiteY1-4" fmla="*/ 0 h 2117725"/>
                <a:gd name="connsiteX2-5" fmla="*/ 0 w 307275"/>
                <a:gd name="connsiteY2-6" fmla="*/ 2117725 h 2117725"/>
              </a:gdLst>
              <a:ahLst/>
              <a:cxnLst>
                <a:cxn ang="0">
                  <a:pos x="connsiteX0-1" y="connsiteY0-2"/>
                </a:cxn>
                <a:cxn ang="0">
                  <a:pos x="connsiteX1-3" y="connsiteY1-4"/>
                </a:cxn>
                <a:cxn ang="0">
                  <a:pos x="connsiteX2-5" y="connsiteY2-6"/>
                </a:cxn>
              </a:cxnLst>
              <a:rect l="l" t="t" r="r" b="b"/>
              <a:pathLst>
                <a:path w="307275" h="2117725">
                  <a:moveTo>
                    <a:pt x="307275" y="0"/>
                  </a:moveTo>
                  <a:lnTo>
                    <a:pt x="0" y="0"/>
                  </a:lnTo>
                  <a:lnTo>
                    <a:pt x="0" y="2117725"/>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p>
          </p:txBody>
        </p:sp>
        <p:cxnSp>
          <p:nvCxnSpPr>
            <p:cNvPr id="393" name="Straight Arrow Connector 392"/>
            <p:cNvCxnSpPr/>
            <p:nvPr/>
          </p:nvCxnSpPr>
          <p:spPr>
            <a:xfrm flipV="1">
              <a:off x="5791457" y="2687586"/>
              <a:ext cx="8309" cy="2062635"/>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4" name="Straight Arrow Connector 393"/>
            <p:cNvCxnSpPr/>
            <p:nvPr/>
          </p:nvCxnSpPr>
          <p:spPr>
            <a:xfrm flipV="1">
              <a:off x="4598735" y="2708225"/>
              <a:ext cx="18344" cy="2037167"/>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5" name="Straight Arrow Connector 394"/>
            <p:cNvCxnSpPr/>
            <p:nvPr/>
          </p:nvCxnSpPr>
          <p:spPr>
            <a:xfrm flipH="1" flipV="1">
              <a:off x="3807455" y="2762199"/>
              <a:ext cx="9009" cy="1983193"/>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48169" name="Text Box 167"/>
          <p:cNvSpPr txBox="1">
            <a:spLocks noChangeArrowheads="1"/>
          </p:cNvSpPr>
          <p:nvPr/>
        </p:nvSpPr>
        <p:spPr bwMode="auto">
          <a:xfrm>
            <a:off x="542925" y="236538"/>
            <a:ext cx="7874000" cy="583565"/>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3200" dirty="0">
                <a:solidFill>
                  <a:srgbClr val="000099"/>
                </a:solidFill>
                <a:latin typeface="Gill Sans MT" pitchFamily="34" charset="0"/>
              </a:rPr>
              <a:t>Recall: logically centralized control plane</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7604777" cy="172281"/>
          </a:xfrm>
          <a:prstGeom prst="rect">
            <a:avLst/>
          </a:prstGeom>
          <a:noFill/>
          <a:ln>
            <a:noFill/>
          </a:ln>
        </p:spPr>
      </p:pic>
      <p:sp>
        <p:nvSpPr>
          <p:cNvPr id="48171" name="TextBox 335"/>
          <p:cNvSpPr txBox="1">
            <a:spLocks noChangeArrowheads="1"/>
          </p:cNvSpPr>
          <p:nvPr/>
        </p:nvSpPr>
        <p:spPr bwMode="auto">
          <a:xfrm>
            <a:off x="394448" y="1039914"/>
            <a:ext cx="8456612" cy="830997"/>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dirty="0"/>
              <a:t>A distinct (typically remote) controller interacts with local control agents (CAs) in routers to compute forwarding tables</a:t>
            </a:r>
          </a:p>
        </p:txBody>
      </p:sp>
      <p:grpSp>
        <p:nvGrpSpPr>
          <p:cNvPr id="24" name="Group 23"/>
          <p:cNvGrpSpPr/>
          <p:nvPr/>
        </p:nvGrpSpPr>
        <p:grpSpPr>
          <a:xfrm>
            <a:off x="2055910" y="4687854"/>
            <a:ext cx="4956877" cy="694339"/>
            <a:chOff x="2055070" y="4690247"/>
            <a:chExt cx="4956877" cy="694339"/>
          </a:xfrm>
        </p:grpSpPr>
        <p:grpSp>
          <p:nvGrpSpPr>
            <p:cNvPr id="48273" name="Group 554"/>
            <p:cNvGrpSpPr/>
            <p:nvPr/>
          </p:nvGrpSpPr>
          <p:grpSpPr bwMode="auto">
            <a:xfrm>
              <a:off x="3605320" y="5055434"/>
              <a:ext cx="430131" cy="329152"/>
              <a:chOff x="2931664" y="3912603"/>
              <a:chExt cx="430450" cy="329314"/>
            </a:xfrm>
          </p:grpSpPr>
          <p:sp>
            <p:nvSpPr>
              <p:cNvPr id="558" name="Rectangle 5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9" name="Straight Connector 5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0" name="Straight Connector 5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1" name="Straight Connector 560"/>
              <p:cNvCxnSpPr>
                <a:stCxn id="558" idx="2"/>
              </p:cNvCxnSpPr>
              <p:nvPr/>
            </p:nvCxnSpPr>
            <p:spPr>
              <a:xfrm flipH="1" flipV="1">
                <a:off x="3148246"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45" name="Group 582"/>
            <p:cNvGrpSpPr/>
            <p:nvPr/>
          </p:nvGrpSpPr>
          <p:grpSpPr bwMode="auto">
            <a:xfrm>
              <a:off x="4387957" y="5055368"/>
              <a:ext cx="430131" cy="329152"/>
              <a:chOff x="2931664" y="3912603"/>
              <a:chExt cx="430450" cy="329314"/>
            </a:xfrm>
          </p:grpSpPr>
          <p:sp>
            <p:nvSpPr>
              <p:cNvPr id="585" name="Rectangle 584"/>
              <p:cNvSpPr/>
              <p:nvPr/>
            </p:nvSpPr>
            <p:spPr>
              <a:xfrm>
                <a:off x="2936952" y="3913304"/>
                <a:ext cx="425766" cy="32877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6" name="Straight Connector 585"/>
              <p:cNvCxnSpPr/>
              <p:nvPr/>
            </p:nvCxnSpPr>
            <p:spPr>
              <a:xfrm>
                <a:off x="2932186"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7" name="Straight Connector 586"/>
              <p:cNvCxnSpPr/>
              <p:nvPr/>
            </p:nvCxnSpPr>
            <p:spPr>
              <a:xfrm>
                <a:off x="2932186"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5" idx="2"/>
              </p:cNvCxnSpPr>
              <p:nvPr/>
            </p:nvCxnSpPr>
            <p:spPr>
              <a:xfrm flipH="1" flipV="1">
                <a:off x="3148247" y="4005425"/>
                <a:ext cx="1588" cy="236653"/>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17" name="Group 609"/>
            <p:cNvGrpSpPr/>
            <p:nvPr/>
          </p:nvGrpSpPr>
          <p:grpSpPr bwMode="auto">
            <a:xfrm>
              <a:off x="5591804" y="5053093"/>
              <a:ext cx="430212" cy="328614"/>
              <a:chOff x="2932186" y="3913304"/>
              <a:chExt cx="430531" cy="328775"/>
            </a:xfrm>
          </p:grpSpPr>
          <p:sp>
            <p:nvSpPr>
              <p:cNvPr id="612" name="Rectangle 611"/>
              <p:cNvSpPr/>
              <p:nvPr/>
            </p:nvSpPr>
            <p:spPr>
              <a:xfrm>
                <a:off x="2936952" y="3913304"/>
                <a:ext cx="425765" cy="32877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3" name="Straight Connector 612"/>
              <p:cNvCxnSpPr/>
              <p:nvPr/>
            </p:nvCxnSpPr>
            <p:spPr>
              <a:xfrm>
                <a:off x="2932186"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p:nvPr/>
            </p:nvCxnSpPr>
            <p:spPr>
              <a:xfrm>
                <a:off x="2932186"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5" name="Straight Connector 614"/>
              <p:cNvCxnSpPr>
                <a:stCxn id="612" idx="2"/>
              </p:cNvCxnSpPr>
              <p:nvPr/>
            </p:nvCxnSpPr>
            <p:spPr>
              <a:xfrm flipH="1" flipV="1">
                <a:off x="3148247" y="4005425"/>
                <a:ext cx="1588"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189" name="Group 636"/>
            <p:cNvGrpSpPr/>
            <p:nvPr/>
          </p:nvGrpSpPr>
          <p:grpSpPr bwMode="auto">
            <a:xfrm>
              <a:off x="6581816" y="5045656"/>
              <a:ext cx="430131" cy="329465"/>
              <a:chOff x="2931664" y="3912603"/>
              <a:chExt cx="430450" cy="329314"/>
            </a:xfrm>
          </p:grpSpPr>
          <p:sp>
            <p:nvSpPr>
              <p:cNvPr id="639" name="Rectangle 638"/>
              <p:cNvSpPr/>
              <p:nvPr/>
            </p:nvSpPr>
            <p:spPr>
              <a:xfrm>
                <a:off x="2936952" y="3912169"/>
                <a:ext cx="425766" cy="330049"/>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0" name="Straight Connector 639"/>
              <p:cNvCxnSpPr/>
              <p:nvPr/>
            </p:nvCxnSpPr>
            <p:spPr>
              <a:xfrm>
                <a:off x="2932185" y="4004202"/>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1" name="Straight Connector 640"/>
              <p:cNvCxnSpPr/>
              <p:nvPr/>
            </p:nvCxnSpPr>
            <p:spPr>
              <a:xfrm>
                <a:off x="2932185" y="4067673"/>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2" name="Straight Connector 641"/>
              <p:cNvCxnSpPr>
                <a:stCxn id="639" idx="2"/>
              </p:cNvCxnSpPr>
              <p:nvPr/>
            </p:nvCxnSpPr>
            <p:spPr>
              <a:xfrm flipH="1" flipV="1">
                <a:off x="3148246" y="4004202"/>
                <a:ext cx="1589" cy="23801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57" name="Group 554"/>
            <p:cNvGrpSpPr/>
            <p:nvPr/>
          </p:nvGrpSpPr>
          <p:grpSpPr bwMode="auto">
            <a:xfrm>
              <a:off x="2055070" y="4690247"/>
              <a:ext cx="675320" cy="521222"/>
              <a:chOff x="2931664" y="3912603"/>
              <a:chExt cx="430450" cy="329314"/>
            </a:xfrm>
          </p:grpSpPr>
          <p:sp>
            <p:nvSpPr>
              <p:cNvPr id="358" name="Rectangle 3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9" name="Straight Connector 3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1" name="Straight Connector 360"/>
              <p:cNvCxnSpPr>
                <a:stCxn id="358" idx="2"/>
              </p:cNvCxnSpPr>
              <p:nvPr/>
            </p:nvCxnSpPr>
            <p:spPr>
              <a:xfrm flipH="1" flipV="1">
                <a:off x="3148246"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362" name="Group 347"/>
          <p:cNvGrpSpPr/>
          <p:nvPr/>
        </p:nvGrpSpPr>
        <p:grpSpPr bwMode="auto">
          <a:xfrm>
            <a:off x="5856401" y="5944266"/>
            <a:ext cx="588970" cy="242608"/>
            <a:chOff x="1871277" y="1576300"/>
            <a:chExt cx="1128371" cy="437861"/>
          </a:xfrm>
        </p:grpSpPr>
        <p:sp>
          <p:nvSpPr>
            <p:cNvPr id="363" name="Oval 36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4" name="Rectangle 36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Oval 36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6" name="Freeform 36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7" name="Freeform 36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8" name="Freeform 36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9" name="Freeform 36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0" name="Straight Connector 369"/>
            <p:cNvCxnSpPr>
              <a:endCxn id="36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1" name="Straight Connector 37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2" name="Group 347"/>
          <p:cNvGrpSpPr/>
          <p:nvPr/>
        </p:nvGrpSpPr>
        <p:grpSpPr bwMode="auto">
          <a:xfrm>
            <a:off x="4375328" y="5802169"/>
            <a:ext cx="588970" cy="242608"/>
            <a:chOff x="1871277" y="1576300"/>
            <a:chExt cx="1128371" cy="437861"/>
          </a:xfrm>
        </p:grpSpPr>
        <p:sp>
          <p:nvSpPr>
            <p:cNvPr id="373" name="Oval 37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4" name="Rectangle 37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Oval 37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6" name="Freeform 37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7" name="Freeform 3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0" name="Straight Connector 379"/>
            <p:cNvCxnSpPr>
              <a:endCxn id="37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1" name="Straight Connector 3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82" name="Group 347"/>
          <p:cNvGrpSpPr/>
          <p:nvPr/>
        </p:nvGrpSpPr>
        <p:grpSpPr bwMode="auto">
          <a:xfrm>
            <a:off x="2848241" y="5995982"/>
            <a:ext cx="588970" cy="242608"/>
            <a:chOff x="1871277" y="1576300"/>
            <a:chExt cx="1128371" cy="437861"/>
          </a:xfrm>
        </p:grpSpPr>
        <p:sp>
          <p:nvSpPr>
            <p:cNvPr id="383" name="Oval 3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4" name="Rectangle 3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Oval 3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6" name="Freeform 3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7" name="Freeform 3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0" name="Freeform 389"/>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7" name="Freeform 39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99" name="Straight Connector 398"/>
            <p:cNvCxnSpPr>
              <a:endCxn id="3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00" name="Straight Connector 3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01" name="Group 347"/>
          <p:cNvGrpSpPr/>
          <p:nvPr/>
        </p:nvGrpSpPr>
        <p:grpSpPr bwMode="auto">
          <a:xfrm>
            <a:off x="5166757" y="6262321"/>
            <a:ext cx="588970" cy="242608"/>
            <a:chOff x="1871277" y="1576300"/>
            <a:chExt cx="1128371" cy="437861"/>
          </a:xfrm>
        </p:grpSpPr>
        <p:sp>
          <p:nvSpPr>
            <p:cNvPr id="402" name="Oval 40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07" name="Rectangle 40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12" name="Oval 4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17" name="Freeform 41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2" name="Freeform 42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7" name="Freeform 42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8" name="Freeform 42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9" name="Straight Connector 428"/>
            <p:cNvCxnSpPr>
              <a:endCxn id="4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30" name="Straight Connector 42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31" name="Group 347"/>
          <p:cNvGrpSpPr/>
          <p:nvPr/>
        </p:nvGrpSpPr>
        <p:grpSpPr bwMode="auto">
          <a:xfrm>
            <a:off x="3704088" y="6354901"/>
            <a:ext cx="588970" cy="242608"/>
            <a:chOff x="1871277" y="1576300"/>
            <a:chExt cx="1128371" cy="437861"/>
          </a:xfrm>
        </p:grpSpPr>
        <p:sp>
          <p:nvSpPr>
            <p:cNvPr id="432" name="Oval 43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3" name="Rectangle 43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4" name="Oval 43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5" name="Freeform 43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6" name="Freeform 43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7" name="Freeform 43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8" name="Freeform 43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39" name="Straight Connector 438"/>
            <p:cNvCxnSpPr>
              <a:endCxn id="43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40" name="Straight Connector 43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 name="Group 25"/>
          <p:cNvGrpSpPr/>
          <p:nvPr/>
        </p:nvGrpSpPr>
        <p:grpSpPr>
          <a:xfrm>
            <a:off x="1925875" y="2220187"/>
            <a:ext cx="5095391" cy="2833288"/>
            <a:chOff x="1925876" y="2212958"/>
            <a:chExt cx="5095391" cy="2833288"/>
          </a:xfrm>
        </p:grpSpPr>
        <p:grpSp>
          <p:nvGrpSpPr>
            <p:cNvPr id="12" name="Group 11"/>
            <p:cNvGrpSpPr/>
            <p:nvPr/>
          </p:nvGrpSpPr>
          <p:grpSpPr>
            <a:xfrm>
              <a:off x="2745416" y="2212958"/>
              <a:ext cx="3597533" cy="493677"/>
              <a:chOff x="2705100" y="2011398"/>
              <a:chExt cx="3597533" cy="493677"/>
            </a:xfrm>
          </p:grpSpPr>
          <p:sp>
            <p:nvSpPr>
              <p:cNvPr id="342" name="Oval 341"/>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9" name="Oval 388"/>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308" name="TextBox 389"/>
              <p:cNvSpPr txBox="1">
                <a:spLocks noChangeArrowheads="1"/>
              </p:cNvSpPr>
              <p:nvPr/>
            </p:nvSpPr>
            <p:spPr bwMode="auto">
              <a:xfrm>
                <a:off x="3452664" y="2127167"/>
                <a:ext cx="2057700" cy="29612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800" dirty="0">
                    <a:solidFill>
                      <a:schemeClr val="bg1"/>
                    </a:solidFill>
                  </a:rPr>
                  <a:t>Remote Controller</a:t>
                </a:r>
              </a:p>
            </p:txBody>
          </p:sp>
        </p:grpSp>
        <p:grpSp>
          <p:nvGrpSpPr>
            <p:cNvPr id="442" name="Group 441"/>
            <p:cNvGrpSpPr/>
            <p:nvPr/>
          </p:nvGrpSpPr>
          <p:grpSpPr>
            <a:xfrm>
              <a:off x="1925876" y="4223509"/>
              <a:ext cx="923540" cy="405953"/>
              <a:chOff x="2705100" y="2011398"/>
              <a:chExt cx="3597533" cy="493677"/>
            </a:xfrm>
          </p:grpSpPr>
          <p:sp>
            <p:nvSpPr>
              <p:cNvPr id="443" name="Oval 442"/>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4" name="Oval 443"/>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5" name="TextBox 389"/>
              <p:cNvSpPr txBox="1">
                <a:spLocks noChangeArrowheads="1"/>
              </p:cNvSpPr>
              <p:nvPr/>
            </p:nvSpPr>
            <p:spPr bwMode="auto">
              <a:xfrm>
                <a:off x="3901810" y="2127167"/>
                <a:ext cx="1159411" cy="29612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800" dirty="0">
                    <a:solidFill>
                      <a:schemeClr val="bg1"/>
                    </a:solidFill>
                  </a:rPr>
                  <a:t>CA</a:t>
                </a:r>
              </a:p>
            </p:txBody>
          </p:sp>
        </p:grpSp>
        <p:grpSp>
          <p:nvGrpSpPr>
            <p:cNvPr id="17" name="Group 16"/>
            <p:cNvGrpSpPr/>
            <p:nvPr/>
          </p:nvGrpSpPr>
          <p:grpSpPr>
            <a:xfrm>
              <a:off x="3589508" y="4760377"/>
              <a:ext cx="463568" cy="285869"/>
              <a:chOff x="3558850" y="4573304"/>
              <a:chExt cx="463568" cy="285869"/>
            </a:xfrm>
          </p:grpSpPr>
          <p:grpSp>
            <p:nvGrpSpPr>
              <p:cNvPr id="13" name="Group 12"/>
              <p:cNvGrpSpPr/>
              <p:nvPr/>
            </p:nvGrpSpPr>
            <p:grpSpPr>
              <a:xfrm>
                <a:off x="3558850" y="4577634"/>
                <a:ext cx="463568" cy="262710"/>
                <a:chOff x="3558850" y="4577634"/>
                <a:chExt cx="463568" cy="262710"/>
              </a:xfrm>
            </p:grpSpPr>
            <p:sp>
              <p:nvSpPr>
                <p:cNvPr id="447" name="Oval 446"/>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8" name="Oval 447"/>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49" name="TextBox 389"/>
              <p:cNvSpPr txBox="1">
                <a:spLocks noChangeArrowheads="1"/>
              </p:cNvSpPr>
              <p:nvPr/>
            </p:nvSpPr>
            <p:spPr bwMode="auto">
              <a:xfrm>
                <a:off x="3565935" y="4573304"/>
                <a:ext cx="434071" cy="2858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1" name="Group 450"/>
            <p:cNvGrpSpPr/>
            <p:nvPr/>
          </p:nvGrpSpPr>
          <p:grpSpPr>
            <a:xfrm>
              <a:off x="4369656" y="4758258"/>
              <a:ext cx="463568" cy="285869"/>
              <a:chOff x="3558850" y="4573304"/>
              <a:chExt cx="463568" cy="285869"/>
            </a:xfrm>
          </p:grpSpPr>
          <p:grpSp>
            <p:nvGrpSpPr>
              <p:cNvPr id="452" name="Group 451"/>
              <p:cNvGrpSpPr/>
              <p:nvPr/>
            </p:nvGrpSpPr>
            <p:grpSpPr>
              <a:xfrm>
                <a:off x="3558850" y="4577634"/>
                <a:ext cx="463568" cy="262710"/>
                <a:chOff x="3558850" y="4577634"/>
                <a:chExt cx="463568" cy="262710"/>
              </a:xfrm>
            </p:grpSpPr>
            <p:sp>
              <p:nvSpPr>
                <p:cNvPr id="454" name="Oval 45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5" name="Oval 45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3" name="TextBox 389"/>
              <p:cNvSpPr txBox="1">
                <a:spLocks noChangeArrowheads="1"/>
              </p:cNvSpPr>
              <p:nvPr/>
            </p:nvSpPr>
            <p:spPr bwMode="auto">
              <a:xfrm>
                <a:off x="3565935" y="4573304"/>
                <a:ext cx="434071" cy="2858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6" name="Group 455"/>
            <p:cNvGrpSpPr/>
            <p:nvPr/>
          </p:nvGrpSpPr>
          <p:grpSpPr>
            <a:xfrm>
              <a:off x="5569912" y="4756140"/>
              <a:ext cx="463568" cy="285869"/>
              <a:chOff x="3558850" y="4573304"/>
              <a:chExt cx="463568" cy="285869"/>
            </a:xfrm>
          </p:grpSpPr>
          <p:grpSp>
            <p:nvGrpSpPr>
              <p:cNvPr id="457" name="Group 456"/>
              <p:cNvGrpSpPr/>
              <p:nvPr/>
            </p:nvGrpSpPr>
            <p:grpSpPr>
              <a:xfrm>
                <a:off x="3558850" y="4577634"/>
                <a:ext cx="463568" cy="262710"/>
                <a:chOff x="3558850" y="4577634"/>
                <a:chExt cx="463568" cy="262710"/>
              </a:xfrm>
            </p:grpSpPr>
            <p:sp>
              <p:nvSpPr>
                <p:cNvPr id="459" name="Oval 458"/>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8" name="TextBox 389"/>
              <p:cNvSpPr txBox="1">
                <a:spLocks noChangeArrowheads="1"/>
              </p:cNvSpPr>
              <p:nvPr/>
            </p:nvSpPr>
            <p:spPr bwMode="auto">
              <a:xfrm>
                <a:off x="3565935" y="4573304"/>
                <a:ext cx="434071" cy="2858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61" name="Group 460"/>
            <p:cNvGrpSpPr/>
            <p:nvPr/>
          </p:nvGrpSpPr>
          <p:grpSpPr>
            <a:xfrm>
              <a:off x="6557699" y="4754022"/>
              <a:ext cx="463568" cy="285869"/>
              <a:chOff x="3558850" y="4573304"/>
              <a:chExt cx="463568" cy="285869"/>
            </a:xfrm>
          </p:grpSpPr>
          <p:grpSp>
            <p:nvGrpSpPr>
              <p:cNvPr id="462" name="Group 461"/>
              <p:cNvGrpSpPr/>
              <p:nvPr/>
            </p:nvGrpSpPr>
            <p:grpSpPr>
              <a:xfrm>
                <a:off x="3558850" y="4577634"/>
                <a:ext cx="463568" cy="262710"/>
                <a:chOff x="3558850" y="4577634"/>
                <a:chExt cx="463568" cy="262710"/>
              </a:xfrm>
            </p:grpSpPr>
            <p:sp>
              <p:nvSpPr>
                <p:cNvPr id="464" name="Oval 46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5" name="Oval 46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63" name="TextBox 389"/>
              <p:cNvSpPr txBox="1">
                <a:spLocks noChangeArrowheads="1"/>
              </p:cNvSpPr>
              <p:nvPr/>
            </p:nvSpPr>
            <p:spPr bwMode="auto">
              <a:xfrm>
                <a:off x="3565935" y="4573304"/>
                <a:ext cx="434071" cy="2858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sp>
        <p:nvSpPr>
          <p:cNvPr id="466" name="Slide Number Placeholder 5"/>
          <p:cNvSpPr>
            <a:spLocks noGrp="1"/>
          </p:cNvSpPr>
          <p:nvPr>
            <p:ph type="sldNum" sz="quarter" idx="12"/>
          </p:nvPr>
        </p:nvSpPr>
        <p:spPr>
          <a:xfrm>
            <a:off x="8456154" y="6475896"/>
            <a:ext cx="687845" cy="271184"/>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89</a:t>
            </a:fld>
            <a:endParaRPr lang="en-US" sz="1200" dirty="0">
              <a:latin typeface="Tahoma" panose="020B0604030504040204" charset="0"/>
            </a:endParaRPr>
          </a:p>
        </p:txBody>
      </p:sp>
      <p:sp>
        <p:nvSpPr>
          <p:cNvPr id="467"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grpSp>
        <p:nvGrpSpPr>
          <p:cNvPr id="10" name="Group 9"/>
          <p:cNvGrpSpPr/>
          <p:nvPr/>
        </p:nvGrpSpPr>
        <p:grpSpPr>
          <a:xfrm>
            <a:off x="2651760" y="3017520"/>
            <a:ext cx="3972560" cy="2032000"/>
            <a:chOff x="2651760" y="3017520"/>
            <a:chExt cx="3972560" cy="2032000"/>
          </a:xfrm>
        </p:grpSpPr>
        <p:cxnSp>
          <p:nvCxnSpPr>
            <p:cNvPr id="338" name="Straight Arrow Connector 337"/>
            <p:cNvCxnSpPr/>
            <p:nvPr/>
          </p:nvCxnSpPr>
          <p:spPr bwMode="auto">
            <a:xfrm>
              <a:off x="2651760" y="3017520"/>
              <a:ext cx="0" cy="166624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3" name="Straight Arrow Connector 342"/>
            <p:cNvCxnSpPr/>
            <p:nvPr/>
          </p:nvCxnSpPr>
          <p:spPr bwMode="auto">
            <a:xfrm>
              <a:off x="364744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7" name="Straight Arrow Connector 346"/>
            <p:cNvCxnSpPr/>
            <p:nvPr/>
          </p:nvCxnSpPr>
          <p:spPr bwMode="auto">
            <a:xfrm>
              <a:off x="446024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8" name="Straight Arrow Connector 347"/>
            <p:cNvCxnSpPr/>
            <p:nvPr/>
          </p:nvCxnSpPr>
          <p:spPr bwMode="auto">
            <a:xfrm>
              <a:off x="565912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9" name="Straight Arrow Connector 348"/>
            <p:cNvCxnSpPr/>
            <p:nvPr/>
          </p:nvCxnSpPr>
          <p:spPr bwMode="auto">
            <a:xfrm>
              <a:off x="662432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8260"/>
                                        </p:tgtEl>
                                        <p:attrNameLst>
                                          <p:attrName>style.visibility</p:attrName>
                                        </p:attrNameLst>
                                      </p:cBhvr>
                                      <p:to>
                                        <p:strVal val="visible"/>
                                      </p:to>
                                    </p:set>
                                    <p:animEffect transition="in" filter="wipe(down)">
                                      <p:cBhvr>
                                        <p:cTn id="7" dur="500"/>
                                        <p:tgtEl>
                                          <p:spTgt spid="482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dissolve">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dissolve">
                                      <p:cBhvr>
                                        <p:cTn id="22" dur="500"/>
                                        <p:tgtEl>
                                          <p:spTgt spid="2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dissolve">
                                      <p:cBhvr>
                                        <p:cTn id="27" dur="500"/>
                                        <p:tgtEl>
                                          <p:spTgt spid="2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up)">
                                      <p:cBhvr>
                                        <p:cTn id="32" dur="500"/>
                                        <p:tgtEl>
                                          <p:spTgt spid="10"/>
                                        </p:tgtEl>
                                      </p:cBhvr>
                                    </p:animEffect>
                                  </p:childTnLst>
                                </p:cTn>
                              </p:par>
                            </p:childTnLst>
                          </p:cTn>
                        </p:par>
                        <p:par>
                          <p:cTn id="33" fill="hold">
                            <p:stCondLst>
                              <p:cond delay="500"/>
                            </p:stCondLst>
                            <p:childTnLst>
                              <p:par>
                                <p:cTn id="34" presetID="9" presetClass="entr" presetSubtype="0" fill="hold" nodeType="after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dissolve">
                                      <p:cBhvr>
                                        <p:cTn id="36" dur="1000"/>
                                        <p:tgtEl>
                                          <p:spTgt spid="24"/>
                                        </p:tgtEl>
                                      </p:cBhvr>
                                    </p:animEffect>
                                  </p:childTnLst>
                                </p:cTn>
                              </p:par>
                            </p:childTnLst>
                          </p:cTn>
                        </p:par>
                        <p:par>
                          <p:cTn id="37" fill="hold">
                            <p:stCondLst>
                              <p:cond delay="1500"/>
                            </p:stCondLst>
                            <p:childTnLst>
                              <p:par>
                                <p:cTn id="38" presetID="9" presetClass="exit" presetSubtype="0" fill="hold" nodeType="afterEffect">
                                  <p:stCondLst>
                                    <p:cond delay="1000"/>
                                  </p:stCondLst>
                                  <p:childTnLst>
                                    <p:animEffect transition="out" filter="dissolve">
                                      <p:cBhvr>
                                        <p:cTn id="39" dur="500"/>
                                        <p:tgtEl>
                                          <p:spTgt spid="10"/>
                                        </p:tgtEl>
                                      </p:cBhvr>
                                    </p:animEffect>
                                    <p:set>
                                      <p:cBhvr>
                                        <p:cTn id="40" dur="1" fill="hold">
                                          <p:stCondLst>
                                            <p:cond delay="499"/>
                                          </p:stCondLst>
                                        </p:cTn>
                                        <p:tgtEl>
                                          <p:spTgt spid="10"/>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48261"/>
                                        </p:tgtEl>
                                        <p:attrNameLst>
                                          <p:attrName>style.visibility</p:attrName>
                                        </p:attrNameLst>
                                      </p:cBhvr>
                                      <p:to>
                                        <p:strVal val="visible"/>
                                      </p:to>
                                    </p:set>
                                    <p:animEffect transition="in" filter="dissolve">
                                      <p:cBhvr>
                                        <p:cTn id="45" dur="500"/>
                                        <p:tgtEl>
                                          <p:spTgt spid="482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69" name="Text Box 167"/>
          <p:cNvSpPr txBox="1">
            <a:spLocks noChangeArrowheads="1"/>
          </p:cNvSpPr>
          <p:nvPr/>
        </p:nvSpPr>
        <p:spPr bwMode="auto">
          <a:xfrm>
            <a:off x="542925" y="236538"/>
            <a:ext cx="6921862" cy="6463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3600" dirty="0">
                <a:solidFill>
                  <a:srgbClr val="000099"/>
                </a:solidFill>
                <a:latin typeface="Gill Sans MT" pitchFamily="34" charset="0"/>
              </a:rPr>
              <a:t>Software defined networking (SDN)</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6422481" cy="208918"/>
          </a:xfrm>
          <a:prstGeom prst="rect">
            <a:avLst/>
          </a:prstGeom>
          <a:noFill/>
          <a:ln>
            <a:noFill/>
          </a:ln>
        </p:spPr>
      </p:pic>
      <p:sp>
        <p:nvSpPr>
          <p:cNvPr id="9" name="Content Placeholder 8"/>
          <p:cNvSpPr>
            <a:spLocks noGrp="1"/>
          </p:cNvSpPr>
          <p:nvPr>
            <p:ph idx="1"/>
          </p:nvPr>
        </p:nvSpPr>
        <p:spPr>
          <a:xfrm>
            <a:off x="601426" y="1282678"/>
            <a:ext cx="8148587" cy="4648200"/>
          </a:xfrm>
        </p:spPr>
        <p:txBody>
          <a:bodyPr/>
          <a:lstStyle/>
          <a:p>
            <a:pPr marL="0" indent="0">
              <a:lnSpc>
                <a:spcPct val="90000"/>
              </a:lnSpc>
              <a:buNone/>
            </a:pPr>
            <a:r>
              <a:rPr lang="en-US" i="1" dirty="0">
                <a:solidFill>
                  <a:srgbClr val="CC0000"/>
                </a:solidFill>
              </a:rPr>
              <a:t>Why</a:t>
            </a:r>
            <a:r>
              <a:rPr lang="en-US" dirty="0">
                <a:solidFill>
                  <a:srgbClr val="CC0000"/>
                </a:solidFill>
              </a:rPr>
              <a:t> </a:t>
            </a:r>
            <a:r>
              <a:rPr lang="en-US" dirty="0"/>
              <a:t>a</a:t>
            </a:r>
            <a:r>
              <a:rPr lang="en-US" dirty="0">
                <a:solidFill>
                  <a:srgbClr val="CC0000"/>
                </a:solidFill>
              </a:rPr>
              <a:t> </a:t>
            </a:r>
            <a:r>
              <a:rPr lang="en-US" i="1" dirty="0">
                <a:solidFill>
                  <a:srgbClr val="CC0000"/>
                </a:solidFill>
              </a:rPr>
              <a:t>logically centralized </a:t>
            </a:r>
            <a:r>
              <a:rPr lang="en-US" dirty="0">
                <a:solidFill>
                  <a:srgbClr val="000000"/>
                </a:solidFill>
              </a:rPr>
              <a:t>control plane?</a:t>
            </a:r>
          </a:p>
          <a:p>
            <a:pPr marL="635000" indent="-400050"/>
            <a:r>
              <a:rPr lang="en-US" dirty="0"/>
              <a:t>easier network management: avoid router misconfigurations, greater flexibility of traffic flows</a:t>
            </a:r>
          </a:p>
          <a:p>
            <a:pPr marL="635000" indent="-400050"/>
            <a:r>
              <a:rPr lang="en-US" dirty="0"/>
              <a:t>table-based forwarding (recall OpenFlow API) allows “programming” routers</a:t>
            </a:r>
          </a:p>
          <a:p>
            <a:pPr marL="1035050" lvl="1" indent="-400050"/>
            <a:r>
              <a:rPr lang="en-US" dirty="0"/>
              <a:t>centralized “programming” easier: compute tables centrally and distribute</a:t>
            </a:r>
          </a:p>
          <a:p>
            <a:pPr marL="1035050" lvl="1" indent="-400050"/>
            <a:r>
              <a:rPr lang="en-US" dirty="0"/>
              <a:t>distributed “programming: more difficult: compute tables as result of distributed algorithm (protocol) implemented in each and every router </a:t>
            </a:r>
          </a:p>
          <a:p>
            <a:pPr marL="635000" indent="-400050"/>
            <a:r>
              <a:rPr lang="en-US" dirty="0"/>
              <a:t>open (non-proprietary) implementation of control plane</a:t>
            </a:r>
          </a:p>
          <a:p>
            <a:pPr marL="635000" indent="-400050"/>
            <a:endParaRPr lang="en-US" dirty="0"/>
          </a:p>
        </p:txBody>
      </p:sp>
      <p:sp>
        <p:nvSpPr>
          <p:cNvPr id="5" name="Slide Number Placeholder 5"/>
          <p:cNvSpPr>
            <a:spLocks noGrp="1"/>
          </p:cNvSpPr>
          <p:nvPr>
            <p:ph type="sldNum" sz="quarter" idx="12"/>
          </p:nvPr>
        </p:nvSpPr>
        <p:spPr>
          <a:xfrm>
            <a:off x="8456154" y="6475895"/>
            <a:ext cx="687845" cy="38210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90</a:t>
            </a:fld>
            <a:endParaRPr lang="en-US" sz="1200" dirty="0">
              <a:latin typeface="Tahoma" panose="020B0604030504040204" charset="0"/>
            </a:endParaRPr>
          </a:p>
        </p:txBody>
      </p:sp>
      <p:sp>
        <p:nvSpPr>
          <p:cNvPr id="6"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 name="Picture 12"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3742" y="773797"/>
            <a:ext cx="7595425" cy="242741"/>
          </a:xfrm>
          <a:prstGeom prst="rect">
            <a:avLst/>
          </a:prstGeom>
          <a:noFill/>
          <a:ln>
            <a:noFill/>
          </a:ln>
        </p:spPr>
      </p:pic>
      <p:sp>
        <p:nvSpPr>
          <p:cNvPr id="28" name="TextBox 27"/>
          <p:cNvSpPr txBox="1">
            <a:spLocks noChangeArrowheads="1"/>
          </p:cNvSpPr>
          <p:nvPr/>
        </p:nvSpPr>
        <p:spPr bwMode="auto">
          <a:xfrm>
            <a:off x="152400" y="4859886"/>
            <a:ext cx="3276600" cy="1569660"/>
          </a:xfrm>
          <a:prstGeom prst="rect">
            <a:avLst/>
          </a:prstGeom>
          <a:noFill/>
          <a:ln>
            <a:noFill/>
          </a:ln>
        </p:spPr>
        <p:txBody>
          <a:bodyPr>
            <a:spAutoFit/>
          </a:bodyPr>
          <a:lstStyle>
            <a:lvl1pPr eaLnBrk="0" hangingPunct="0">
              <a:defRPr sz="2000" b="1">
                <a:solidFill>
                  <a:schemeClr val="tx1"/>
                </a:solidFill>
                <a:latin typeface="Helvetica" charset="0"/>
                <a:ea typeface="MS PGothic" charset="0"/>
                <a:cs typeface="MS PGothic" charset="0"/>
              </a:defRPr>
            </a:lvl1pPr>
            <a:lvl2pPr marL="37931725" indent="-37474525" eaLnBrk="0" hangingPunct="0">
              <a:defRPr sz="2000" b="1">
                <a:solidFill>
                  <a:schemeClr val="tx1"/>
                </a:solidFill>
                <a:latin typeface="Helvetica" charset="0"/>
                <a:ea typeface="MS PGothic" charset="0"/>
              </a:defRPr>
            </a:lvl2pPr>
            <a:lvl3pPr eaLnBrk="0" hangingPunct="0">
              <a:defRPr sz="2000" b="1">
                <a:solidFill>
                  <a:schemeClr val="tx1"/>
                </a:solidFill>
                <a:latin typeface="Helvetica" charset="0"/>
                <a:ea typeface="MS PGothic" charset="0"/>
              </a:defRPr>
            </a:lvl3pPr>
            <a:lvl4pPr eaLnBrk="0" hangingPunct="0">
              <a:defRPr sz="2000" b="1">
                <a:solidFill>
                  <a:schemeClr val="tx1"/>
                </a:solidFill>
                <a:latin typeface="Helvetica" charset="0"/>
                <a:ea typeface="MS PGothic" charset="0"/>
              </a:defRPr>
            </a:lvl4pPr>
            <a:lvl5pPr eaLnBrk="0" hangingPunct="0">
              <a:defRPr sz="2000" b="1">
                <a:solidFill>
                  <a:schemeClr val="tx1"/>
                </a:solidFill>
                <a:latin typeface="Helvetica" charset="0"/>
                <a:ea typeface="MS PGothic" charset="0"/>
              </a:defRPr>
            </a:lvl5pPr>
            <a:lvl6pPr marL="457200" eaLnBrk="0" fontAlgn="base" hangingPunct="0">
              <a:spcBef>
                <a:spcPct val="0"/>
              </a:spcBef>
              <a:spcAft>
                <a:spcPct val="0"/>
              </a:spcAft>
              <a:defRPr sz="2000" b="1">
                <a:solidFill>
                  <a:schemeClr val="tx1"/>
                </a:solidFill>
                <a:latin typeface="Helvetica" charset="0"/>
                <a:ea typeface="MS PGothic" charset="0"/>
              </a:defRPr>
            </a:lvl6pPr>
            <a:lvl7pPr marL="914400" eaLnBrk="0" fontAlgn="base" hangingPunct="0">
              <a:spcBef>
                <a:spcPct val="0"/>
              </a:spcBef>
              <a:spcAft>
                <a:spcPct val="0"/>
              </a:spcAft>
              <a:defRPr sz="2000" b="1">
                <a:solidFill>
                  <a:schemeClr val="tx1"/>
                </a:solidFill>
                <a:latin typeface="Helvetica" charset="0"/>
                <a:ea typeface="MS PGothic" charset="0"/>
              </a:defRPr>
            </a:lvl7pPr>
            <a:lvl8pPr marL="1371600" eaLnBrk="0" fontAlgn="base" hangingPunct="0">
              <a:spcBef>
                <a:spcPct val="0"/>
              </a:spcBef>
              <a:spcAft>
                <a:spcPct val="0"/>
              </a:spcAft>
              <a:defRPr sz="2000" b="1">
                <a:solidFill>
                  <a:schemeClr val="tx1"/>
                </a:solidFill>
                <a:latin typeface="Helvetica" charset="0"/>
                <a:ea typeface="MS PGothic" charset="0"/>
              </a:defRPr>
            </a:lvl8pPr>
            <a:lvl9pPr marL="1828800" eaLnBrk="0" fontAlgn="base" hangingPunct="0">
              <a:spcBef>
                <a:spcPct val="0"/>
              </a:spcBef>
              <a:spcAft>
                <a:spcPct val="0"/>
              </a:spcAft>
              <a:defRPr sz="2000" b="1">
                <a:solidFill>
                  <a:schemeClr val="tx1"/>
                </a:solidFill>
                <a:latin typeface="Helvetica" charset="0"/>
                <a:ea typeface="MS PGothic" charset="0"/>
              </a:defRPr>
            </a:lvl9pPr>
          </a:lstStyle>
          <a:p>
            <a:pPr algn="ctr" defTabSz="914400" eaLnBrk="1" fontAlgn="base" hangingPunct="1">
              <a:spcBef>
                <a:spcPct val="0"/>
              </a:spcBef>
              <a:spcAft>
                <a:spcPct val="0"/>
              </a:spcAft>
            </a:pPr>
            <a:r>
              <a:rPr lang="en-US" sz="2400" b="0" dirty="0">
                <a:solidFill>
                  <a:prstClr val="black"/>
                </a:solidFill>
                <a:latin typeface="+mn-lt"/>
              </a:rPr>
              <a:t>Vertically integrated</a:t>
            </a:r>
          </a:p>
          <a:p>
            <a:pPr algn="ctr" defTabSz="914400" eaLnBrk="1" fontAlgn="base" hangingPunct="1">
              <a:spcBef>
                <a:spcPct val="0"/>
              </a:spcBef>
              <a:spcAft>
                <a:spcPct val="0"/>
              </a:spcAft>
            </a:pPr>
            <a:r>
              <a:rPr lang="en-US" sz="2400" b="0" dirty="0">
                <a:solidFill>
                  <a:prstClr val="black"/>
                </a:solidFill>
                <a:latin typeface="+mn-lt"/>
              </a:rPr>
              <a:t>Closed, proprietary</a:t>
            </a:r>
          </a:p>
          <a:p>
            <a:pPr algn="ctr" defTabSz="914400" eaLnBrk="1" fontAlgn="base" hangingPunct="1">
              <a:spcBef>
                <a:spcPct val="0"/>
              </a:spcBef>
              <a:spcAft>
                <a:spcPct val="0"/>
              </a:spcAft>
            </a:pPr>
            <a:r>
              <a:rPr lang="en-US" sz="2400" b="0" dirty="0">
                <a:solidFill>
                  <a:prstClr val="black"/>
                </a:solidFill>
                <a:latin typeface="+mn-lt"/>
              </a:rPr>
              <a:t>Slow innovation</a:t>
            </a:r>
          </a:p>
          <a:p>
            <a:pPr algn="ctr" defTabSz="914400" eaLnBrk="1" fontAlgn="base" hangingPunct="1">
              <a:spcBef>
                <a:spcPct val="0"/>
              </a:spcBef>
              <a:spcAft>
                <a:spcPct val="0"/>
              </a:spcAft>
            </a:pPr>
            <a:r>
              <a:rPr lang="en-US" sz="2400" b="0" dirty="0">
                <a:solidFill>
                  <a:prstClr val="black"/>
                </a:solidFill>
                <a:latin typeface="+mn-lt"/>
              </a:rPr>
              <a:t>Small industry</a:t>
            </a:r>
          </a:p>
        </p:txBody>
      </p:sp>
      <p:pic>
        <p:nvPicPr>
          <p:cNvPr id="13" name="Picture 12"/>
          <p:cNvPicPr>
            <a:picLocks noChangeAspect="1"/>
          </p:cNvPicPr>
          <p:nvPr/>
        </p:nvPicPr>
        <p:blipFill>
          <a:blip r:embed="rId4">
            <a:extLst>
              <a:ext uri="{28A0092B-C50C-407E-A947-70E740481C1C}">
                <a14:useLocalDpi xmlns:a14="http://schemas.microsoft.com/office/drawing/2010/main" val="0"/>
              </a:ext>
            </a:extLst>
          </a:blip>
          <a:srcRect l="6149" t="1500" r="3650" b="5499"/>
          <a:stretch>
            <a:fillRect/>
          </a:stretch>
        </p:blipFill>
        <p:spPr bwMode="auto">
          <a:xfrm>
            <a:off x="367763" y="1300457"/>
            <a:ext cx="2496173" cy="3517336"/>
          </a:xfrm>
          <a:prstGeom prst="rect">
            <a:avLst/>
          </a:prstGeom>
          <a:noFill/>
          <a:ln>
            <a:noFill/>
          </a:ln>
        </p:spPr>
      </p:pic>
      <p:sp>
        <p:nvSpPr>
          <p:cNvPr id="5" name="Rounded Rectangle 4"/>
          <p:cNvSpPr/>
          <p:nvPr/>
        </p:nvSpPr>
        <p:spPr>
          <a:xfrm>
            <a:off x="609600" y="2496799"/>
            <a:ext cx="1905000" cy="965200"/>
          </a:xfrm>
          <a:prstGeom prst="roundRect">
            <a:avLst/>
          </a:prstGeom>
          <a:solidFill>
            <a:srgbClr val="000090"/>
          </a:solidFill>
        </p:spPr>
        <p:style>
          <a:lnRef idx="0">
            <a:schemeClr val="accent2"/>
          </a:lnRef>
          <a:fillRef idx="3">
            <a:schemeClr val="accent2"/>
          </a:fillRef>
          <a:effectRef idx="3">
            <a:schemeClr val="accent2"/>
          </a:effectRef>
          <a:fontRef idx="minor">
            <a:schemeClr val="lt1"/>
          </a:fontRef>
        </p:style>
        <p:txBody>
          <a:bodyPr anchor="ctr"/>
          <a:lstStyle/>
          <a:p>
            <a:pPr algn="ctr" defTabSz="914400" fontAlgn="base">
              <a:spcBef>
                <a:spcPct val="0"/>
              </a:spcBef>
              <a:spcAft>
                <a:spcPct val="0"/>
              </a:spcAft>
              <a:defRPr/>
            </a:pPr>
            <a:r>
              <a:rPr lang="en-US" sz="2000" b="1">
                <a:solidFill>
                  <a:prstClr val="white"/>
                </a:solidFill>
                <a:latin typeface="+mj-lt"/>
                <a:ea typeface="MS PGothic" charset="-128"/>
                <a:cs typeface="MS PGothic" charset="-128"/>
              </a:rPr>
              <a:t>Specialized</a:t>
            </a:r>
          </a:p>
          <a:p>
            <a:pPr algn="ctr" defTabSz="914400" fontAlgn="base">
              <a:spcBef>
                <a:spcPct val="0"/>
              </a:spcBef>
              <a:spcAft>
                <a:spcPct val="0"/>
              </a:spcAft>
              <a:defRPr/>
            </a:pPr>
            <a:r>
              <a:rPr lang="en-US" sz="2000" b="1">
                <a:solidFill>
                  <a:prstClr val="white"/>
                </a:solidFill>
                <a:latin typeface="+mj-lt"/>
                <a:ea typeface="MS PGothic" charset="-128"/>
                <a:cs typeface="MS PGothic" charset="-128"/>
              </a:rPr>
              <a:t>Operating</a:t>
            </a:r>
          </a:p>
          <a:p>
            <a:pPr algn="ctr" defTabSz="914400" fontAlgn="base">
              <a:spcBef>
                <a:spcPct val="0"/>
              </a:spcBef>
              <a:spcAft>
                <a:spcPct val="0"/>
              </a:spcAft>
              <a:defRPr/>
            </a:pPr>
            <a:r>
              <a:rPr lang="en-US" sz="2000" b="1">
                <a:solidFill>
                  <a:prstClr val="white"/>
                </a:solidFill>
                <a:latin typeface="+mj-lt"/>
                <a:ea typeface="MS PGothic" charset="-128"/>
                <a:cs typeface="MS PGothic" charset="-128"/>
              </a:rPr>
              <a:t>System</a:t>
            </a:r>
          </a:p>
        </p:txBody>
      </p:sp>
      <p:sp>
        <p:nvSpPr>
          <p:cNvPr id="14" name="Rounded Rectangle 13"/>
          <p:cNvSpPr/>
          <p:nvPr/>
        </p:nvSpPr>
        <p:spPr>
          <a:xfrm>
            <a:off x="609600" y="3538199"/>
            <a:ext cx="1905000" cy="838200"/>
          </a:xfrm>
          <a:prstGeom prst="roundRect">
            <a:avLst/>
          </a:prstGeom>
          <a:solidFill>
            <a:srgbClr val="000090"/>
          </a:solidFill>
        </p:spPr>
        <p:style>
          <a:lnRef idx="0">
            <a:schemeClr val="accent2"/>
          </a:lnRef>
          <a:fillRef idx="3">
            <a:schemeClr val="accent2"/>
          </a:fillRef>
          <a:effectRef idx="3">
            <a:schemeClr val="accent2"/>
          </a:effectRef>
          <a:fontRef idx="minor">
            <a:schemeClr val="lt1"/>
          </a:fontRef>
        </p:style>
        <p:txBody>
          <a:bodyPr anchor="ctr"/>
          <a:lstStyle/>
          <a:p>
            <a:pPr algn="ctr" defTabSz="914400" fontAlgn="base">
              <a:spcBef>
                <a:spcPct val="0"/>
              </a:spcBef>
              <a:spcAft>
                <a:spcPct val="0"/>
              </a:spcAft>
              <a:defRPr/>
            </a:pPr>
            <a:r>
              <a:rPr lang="en-US" sz="2000" b="1">
                <a:solidFill>
                  <a:prstClr val="white"/>
                </a:solidFill>
                <a:latin typeface="+mj-lt"/>
                <a:ea typeface="MS PGothic" charset="-128"/>
                <a:cs typeface="MS PGothic" charset="-128"/>
              </a:rPr>
              <a:t>Specialized</a:t>
            </a:r>
          </a:p>
          <a:p>
            <a:pPr algn="ctr" defTabSz="914400" fontAlgn="base">
              <a:spcBef>
                <a:spcPct val="0"/>
              </a:spcBef>
              <a:spcAft>
                <a:spcPct val="0"/>
              </a:spcAft>
              <a:defRPr/>
            </a:pPr>
            <a:r>
              <a:rPr lang="en-US" sz="2000" b="1">
                <a:solidFill>
                  <a:prstClr val="white"/>
                </a:solidFill>
                <a:latin typeface="+mj-lt"/>
                <a:ea typeface="MS PGothic" charset="-128"/>
                <a:cs typeface="MS PGothic" charset="-128"/>
              </a:rPr>
              <a:t>Hardware</a:t>
            </a:r>
          </a:p>
        </p:txBody>
      </p:sp>
      <p:grpSp>
        <p:nvGrpSpPr>
          <p:cNvPr id="2" name="Group 47"/>
          <p:cNvGrpSpPr/>
          <p:nvPr/>
        </p:nvGrpSpPr>
        <p:grpSpPr bwMode="auto">
          <a:xfrm>
            <a:off x="5440815" y="1480745"/>
            <a:ext cx="3048000" cy="417900"/>
            <a:chOff x="5334000" y="1371600"/>
            <a:chExt cx="3657600" cy="685800"/>
          </a:xfrm>
        </p:grpSpPr>
        <p:sp>
          <p:nvSpPr>
            <p:cNvPr id="46" name="Rounded Rectangle 45"/>
            <p:cNvSpPr/>
            <p:nvPr/>
          </p:nvSpPr>
          <p:spPr bwMode="auto">
            <a:xfrm>
              <a:off x="83820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45" name="Rounded Rectangle 44"/>
            <p:cNvSpPr/>
            <p:nvPr/>
          </p:nvSpPr>
          <p:spPr bwMode="auto">
            <a:xfrm>
              <a:off x="80772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44" name="Rounded Rectangle 43"/>
            <p:cNvSpPr/>
            <p:nvPr/>
          </p:nvSpPr>
          <p:spPr bwMode="auto">
            <a:xfrm>
              <a:off x="77724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43" name="Rounded Rectangle 42"/>
            <p:cNvSpPr/>
            <p:nvPr/>
          </p:nvSpPr>
          <p:spPr bwMode="auto">
            <a:xfrm>
              <a:off x="74676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42" name="Rounded Rectangle 41"/>
            <p:cNvSpPr/>
            <p:nvPr/>
          </p:nvSpPr>
          <p:spPr bwMode="auto">
            <a:xfrm>
              <a:off x="71628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41" name="Rounded Rectangle 40"/>
            <p:cNvSpPr/>
            <p:nvPr/>
          </p:nvSpPr>
          <p:spPr bwMode="auto">
            <a:xfrm>
              <a:off x="68580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40" name="Rounded Rectangle 39"/>
            <p:cNvSpPr/>
            <p:nvPr/>
          </p:nvSpPr>
          <p:spPr bwMode="auto">
            <a:xfrm>
              <a:off x="65532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39" name="Rounded Rectangle 38"/>
            <p:cNvSpPr/>
            <p:nvPr/>
          </p:nvSpPr>
          <p:spPr bwMode="auto">
            <a:xfrm>
              <a:off x="62484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38" name="Rounded Rectangle 37"/>
            <p:cNvSpPr/>
            <p:nvPr/>
          </p:nvSpPr>
          <p:spPr bwMode="auto">
            <a:xfrm>
              <a:off x="59436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37" name="Rounded Rectangle 36"/>
            <p:cNvSpPr/>
            <p:nvPr/>
          </p:nvSpPr>
          <p:spPr bwMode="auto">
            <a:xfrm>
              <a:off x="56388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dirty="0">
                  <a:solidFill>
                    <a:srgbClr val="FFCC66"/>
                  </a:solidFill>
                  <a:latin typeface="Calibri"/>
                </a:rPr>
                <a:t>App</a:t>
              </a:r>
            </a:p>
          </p:txBody>
        </p:sp>
        <p:sp>
          <p:nvSpPr>
            <p:cNvPr id="31" name="Rounded Rectangle 30"/>
            <p:cNvSpPr/>
            <p:nvPr/>
          </p:nvSpPr>
          <p:spPr bwMode="auto">
            <a:xfrm>
              <a:off x="5334000" y="1371600"/>
              <a:ext cx="9144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400" b="1" dirty="0">
                  <a:solidFill>
                    <a:prstClr val="black"/>
                  </a:solidFill>
                  <a:latin typeface="Calibri"/>
                </a:rPr>
                <a:t>App</a:t>
              </a:r>
            </a:p>
          </p:txBody>
        </p:sp>
      </p:grpSp>
      <p:sp>
        <p:nvSpPr>
          <p:cNvPr id="35" name="Rounded Rectangle 34"/>
          <p:cNvSpPr/>
          <p:nvPr/>
        </p:nvSpPr>
        <p:spPr>
          <a:xfrm>
            <a:off x="609600" y="1658599"/>
            <a:ext cx="1905000" cy="736600"/>
          </a:xfrm>
          <a:prstGeom prst="roundRect">
            <a:avLst/>
          </a:prstGeom>
          <a:solidFill>
            <a:srgbClr val="000090"/>
          </a:solidFill>
        </p:spPr>
        <p:style>
          <a:lnRef idx="0">
            <a:schemeClr val="accent2"/>
          </a:lnRef>
          <a:fillRef idx="3">
            <a:schemeClr val="accent2"/>
          </a:fillRef>
          <a:effectRef idx="3">
            <a:schemeClr val="accent2"/>
          </a:effectRef>
          <a:fontRef idx="minor">
            <a:schemeClr val="lt1"/>
          </a:fontRef>
        </p:style>
        <p:txBody>
          <a:bodyPr anchor="ctr"/>
          <a:lstStyle/>
          <a:p>
            <a:pPr algn="ctr" defTabSz="914400" fontAlgn="base">
              <a:spcBef>
                <a:spcPct val="0"/>
              </a:spcBef>
              <a:spcAft>
                <a:spcPct val="0"/>
              </a:spcAft>
              <a:defRPr/>
            </a:pPr>
            <a:r>
              <a:rPr lang="en-US" sz="2000" b="1" dirty="0">
                <a:solidFill>
                  <a:prstClr val="white"/>
                </a:solidFill>
                <a:latin typeface="+mj-lt"/>
                <a:ea typeface="MS PGothic" charset="-128"/>
                <a:cs typeface="MS PGothic" charset="-128"/>
              </a:rPr>
              <a:t>Specialized</a:t>
            </a:r>
          </a:p>
          <a:p>
            <a:pPr algn="ctr" defTabSz="914400" fontAlgn="base">
              <a:spcBef>
                <a:spcPct val="0"/>
              </a:spcBef>
              <a:spcAft>
                <a:spcPct val="0"/>
              </a:spcAft>
              <a:defRPr/>
            </a:pPr>
            <a:r>
              <a:rPr lang="en-US" sz="2000" b="1" dirty="0">
                <a:solidFill>
                  <a:prstClr val="white"/>
                </a:solidFill>
                <a:latin typeface="+mj-lt"/>
                <a:ea typeface="MS PGothic" charset="-128"/>
                <a:cs typeface="MS PGothic" charset="-128"/>
              </a:rPr>
              <a:t>Applications</a:t>
            </a:r>
          </a:p>
        </p:txBody>
      </p:sp>
      <p:sp>
        <p:nvSpPr>
          <p:cNvPr id="36" name="TextBox 35"/>
          <p:cNvSpPr txBox="1">
            <a:spLocks noChangeArrowheads="1"/>
          </p:cNvSpPr>
          <p:nvPr/>
        </p:nvSpPr>
        <p:spPr bwMode="auto">
          <a:xfrm>
            <a:off x="5410200" y="4875620"/>
            <a:ext cx="3200400" cy="1570038"/>
          </a:xfrm>
          <a:prstGeom prst="rect">
            <a:avLst/>
          </a:prstGeom>
          <a:noFill/>
          <a:ln>
            <a:noFill/>
          </a:ln>
        </p:spPr>
        <p:txBody>
          <a:bodyPr>
            <a:spAutoFit/>
          </a:bodyPr>
          <a:lstStyle>
            <a:lvl1pPr eaLnBrk="0" hangingPunct="0">
              <a:defRPr sz="2000" b="1">
                <a:solidFill>
                  <a:schemeClr val="tx1"/>
                </a:solidFill>
                <a:latin typeface="Helvetica" charset="0"/>
                <a:ea typeface="MS PGothic" charset="0"/>
                <a:cs typeface="MS PGothic" charset="0"/>
              </a:defRPr>
            </a:lvl1pPr>
            <a:lvl2pPr marL="37931725" indent="-37474525" eaLnBrk="0" hangingPunct="0">
              <a:defRPr sz="2000" b="1">
                <a:solidFill>
                  <a:schemeClr val="tx1"/>
                </a:solidFill>
                <a:latin typeface="Helvetica" charset="0"/>
                <a:ea typeface="MS PGothic" charset="0"/>
              </a:defRPr>
            </a:lvl2pPr>
            <a:lvl3pPr eaLnBrk="0" hangingPunct="0">
              <a:defRPr sz="2000" b="1">
                <a:solidFill>
                  <a:schemeClr val="tx1"/>
                </a:solidFill>
                <a:latin typeface="Helvetica" charset="0"/>
                <a:ea typeface="MS PGothic" charset="0"/>
              </a:defRPr>
            </a:lvl3pPr>
            <a:lvl4pPr eaLnBrk="0" hangingPunct="0">
              <a:defRPr sz="2000" b="1">
                <a:solidFill>
                  <a:schemeClr val="tx1"/>
                </a:solidFill>
                <a:latin typeface="Helvetica" charset="0"/>
                <a:ea typeface="MS PGothic" charset="0"/>
              </a:defRPr>
            </a:lvl4pPr>
            <a:lvl5pPr eaLnBrk="0" hangingPunct="0">
              <a:defRPr sz="2000" b="1">
                <a:solidFill>
                  <a:schemeClr val="tx1"/>
                </a:solidFill>
                <a:latin typeface="Helvetica" charset="0"/>
                <a:ea typeface="MS PGothic" charset="0"/>
              </a:defRPr>
            </a:lvl5pPr>
            <a:lvl6pPr marL="457200" eaLnBrk="0" fontAlgn="base" hangingPunct="0">
              <a:spcBef>
                <a:spcPct val="0"/>
              </a:spcBef>
              <a:spcAft>
                <a:spcPct val="0"/>
              </a:spcAft>
              <a:defRPr sz="2000" b="1">
                <a:solidFill>
                  <a:schemeClr val="tx1"/>
                </a:solidFill>
                <a:latin typeface="Helvetica" charset="0"/>
                <a:ea typeface="MS PGothic" charset="0"/>
              </a:defRPr>
            </a:lvl6pPr>
            <a:lvl7pPr marL="914400" eaLnBrk="0" fontAlgn="base" hangingPunct="0">
              <a:spcBef>
                <a:spcPct val="0"/>
              </a:spcBef>
              <a:spcAft>
                <a:spcPct val="0"/>
              </a:spcAft>
              <a:defRPr sz="2000" b="1">
                <a:solidFill>
                  <a:schemeClr val="tx1"/>
                </a:solidFill>
                <a:latin typeface="Helvetica" charset="0"/>
                <a:ea typeface="MS PGothic" charset="0"/>
              </a:defRPr>
            </a:lvl7pPr>
            <a:lvl8pPr marL="1371600" eaLnBrk="0" fontAlgn="base" hangingPunct="0">
              <a:spcBef>
                <a:spcPct val="0"/>
              </a:spcBef>
              <a:spcAft>
                <a:spcPct val="0"/>
              </a:spcAft>
              <a:defRPr sz="2000" b="1">
                <a:solidFill>
                  <a:schemeClr val="tx1"/>
                </a:solidFill>
                <a:latin typeface="Helvetica" charset="0"/>
                <a:ea typeface="MS PGothic" charset="0"/>
              </a:defRPr>
            </a:lvl8pPr>
            <a:lvl9pPr marL="1828800" eaLnBrk="0" fontAlgn="base" hangingPunct="0">
              <a:spcBef>
                <a:spcPct val="0"/>
              </a:spcBef>
              <a:spcAft>
                <a:spcPct val="0"/>
              </a:spcAft>
              <a:defRPr sz="2000" b="1">
                <a:solidFill>
                  <a:schemeClr val="tx1"/>
                </a:solidFill>
                <a:latin typeface="Helvetica" charset="0"/>
                <a:ea typeface="MS PGothic" charset="0"/>
              </a:defRPr>
            </a:lvl9pPr>
          </a:lstStyle>
          <a:p>
            <a:pPr algn="ctr" defTabSz="914400" eaLnBrk="1" fontAlgn="base" hangingPunct="1">
              <a:spcBef>
                <a:spcPct val="0"/>
              </a:spcBef>
              <a:spcAft>
                <a:spcPct val="0"/>
              </a:spcAft>
            </a:pPr>
            <a:r>
              <a:rPr lang="en-US" sz="2400" b="0" dirty="0">
                <a:solidFill>
                  <a:prstClr val="black"/>
                </a:solidFill>
                <a:latin typeface="+mj-lt"/>
              </a:rPr>
              <a:t>Horizontal</a:t>
            </a:r>
          </a:p>
          <a:p>
            <a:pPr algn="ctr" defTabSz="914400" eaLnBrk="1" fontAlgn="base" hangingPunct="1">
              <a:spcBef>
                <a:spcPct val="0"/>
              </a:spcBef>
              <a:spcAft>
                <a:spcPct val="0"/>
              </a:spcAft>
            </a:pPr>
            <a:r>
              <a:rPr lang="en-US" sz="2400" b="0" dirty="0">
                <a:solidFill>
                  <a:prstClr val="black"/>
                </a:solidFill>
                <a:latin typeface="+mj-lt"/>
              </a:rPr>
              <a:t>Open interfaces</a:t>
            </a:r>
          </a:p>
          <a:p>
            <a:pPr algn="ctr" defTabSz="914400" eaLnBrk="1" fontAlgn="base" hangingPunct="1">
              <a:spcBef>
                <a:spcPct val="0"/>
              </a:spcBef>
              <a:spcAft>
                <a:spcPct val="0"/>
              </a:spcAft>
            </a:pPr>
            <a:r>
              <a:rPr lang="en-US" sz="2400" b="0" dirty="0">
                <a:solidFill>
                  <a:prstClr val="black"/>
                </a:solidFill>
                <a:latin typeface="+mj-lt"/>
              </a:rPr>
              <a:t>Rapid innovation</a:t>
            </a:r>
          </a:p>
          <a:p>
            <a:pPr algn="ctr" defTabSz="914400" eaLnBrk="1" fontAlgn="base" hangingPunct="1">
              <a:spcBef>
                <a:spcPct val="0"/>
              </a:spcBef>
              <a:spcAft>
                <a:spcPct val="0"/>
              </a:spcAft>
            </a:pPr>
            <a:r>
              <a:rPr lang="en-US" sz="2400" b="0" dirty="0">
                <a:solidFill>
                  <a:prstClr val="black"/>
                </a:solidFill>
                <a:latin typeface="+mj-lt"/>
              </a:rPr>
              <a:t>Huge industry</a:t>
            </a:r>
          </a:p>
        </p:txBody>
      </p:sp>
      <p:sp>
        <p:nvSpPr>
          <p:cNvPr id="47" name="Right Arrow 46"/>
          <p:cNvSpPr/>
          <p:nvPr/>
        </p:nvSpPr>
        <p:spPr>
          <a:xfrm>
            <a:off x="3733800" y="2437515"/>
            <a:ext cx="1143000" cy="762000"/>
          </a:xfrm>
          <a:prstGeom prst="rightArrow">
            <a:avLst>
              <a:gd name="adj1" fmla="val 50000"/>
              <a:gd name="adj2" fmla="val 68658"/>
            </a:avLst>
          </a:prstGeom>
          <a:solidFill>
            <a:srgbClr val="FF6600"/>
          </a:solidFill>
        </p:spPr>
        <p:style>
          <a:lnRef idx="1">
            <a:schemeClr val="accent2"/>
          </a:lnRef>
          <a:fillRef idx="3">
            <a:schemeClr val="accent2"/>
          </a:fillRef>
          <a:effectRef idx="2">
            <a:schemeClr val="accent2"/>
          </a:effectRef>
          <a:fontRef idx="minor">
            <a:schemeClr val="lt1"/>
          </a:fontRef>
        </p:style>
        <p:txBody>
          <a:bodyPr anchor="ctr"/>
          <a:lstStyle/>
          <a:p>
            <a:pPr algn="ctr" defTabSz="914400">
              <a:defRPr/>
            </a:pPr>
            <a:endParaRPr lang="en-US" sz="2000" b="1">
              <a:solidFill>
                <a:prstClr val="white"/>
              </a:solidFill>
              <a:latin typeface="Calibri"/>
            </a:endParaRPr>
          </a:p>
        </p:txBody>
      </p:sp>
      <p:grpSp>
        <p:nvGrpSpPr>
          <p:cNvPr id="3" name="Group 56"/>
          <p:cNvGrpSpPr/>
          <p:nvPr/>
        </p:nvGrpSpPr>
        <p:grpSpPr bwMode="auto">
          <a:xfrm>
            <a:off x="5737719" y="3484470"/>
            <a:ext cx="2721609" cy="1396073"/>
            <a:chOff x="5105400" y="3212068"/>
            <a:chExt cx="3451510" cy="1817132"/>
          </a:xfrm>
        </p:grpSpPr>
        <p:sp>
          <p:nvSpPr>
            <p:cNvPr id="23" name="Rounded Rectangle 22"/>
            <p:cNvSpPr/>
            <p:nvPr/>
          </p:nvSpPr>
          <p:spPr bwMode="auto">
            <a:xfrm>
              <a:off x="6096000" y="3874196"/>
              <a:ext cx="2424501" cy="697803"/>
            </a:xfrm>
            <a:prstGeom prst="roundRect">
              <a:avLst/>
            </a:prstGeom>
            <a:solidFill>
              <a:srgbClr val="000090"/>
            </a:solidFill>
          </p:spPr>
          <p:style>
            <a:lnRef idx="0">
              <a:schemeClr val="accent2"/>
            </a:lnRef>
            <a:fillRef idx="3">
              <a:schemeClr val="accent2"/>
            </a:fillRef>
            <a:effectRef idx="3">
              <a:schemeClr val="accent2"/>
            </a:effectRef>
            <a:fontRef idx="minor">
              <a:schemeClr val="lt1"/>
            </a:fontRef>
          </p:style>
          <p:txBody>
            <a:bodyPr anchor="ctr"/>
            <a:lstStyle/>
            <a:p>
              <a:pPr algn="ctr" defTabSz="914400" fontAlgn="base">
                <a:spcBef>
                  <a:spcPct val="0"/>
                </a:spcBef>
                <a:spcAft>
                  <a:spcPct val="0"/>
                </a:spcAft>
                <a:defRPr/>
              </a:pPr>
              <a:r>
                <a:rPr lang="en-US" sz="1600" b="1" dirty="0">
                  <a:solidFill>
                    <a:prstClr val="white"/>
                  </a:solidFill>
                  <a:latin typeface="Arial" panose="020B0604020202090204" pitchFamily="34" charset="0"/>
                  <a:ea typeface="MS PGothic" charset="-128"/>
                  <a:cs typeface="MS PGothic" charset="-128"/>
                </a:rPr>
                <a:t>Microprocessor</a:t>
              </a:r>
            </a:p>
          </p:txBody>
        </p:sp>
        <p:pic>
          <p:nvPicPr>
            <p:cNvPr id="45094" name="Picture 33"/>
            <p:cNvPicPr>
              <a:picLocks noChangeAspect="1"/>
            </p:cNvPicPr>
            <p:nvPr/>
          </p:nvPicPr>
          <p:blipFill>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105400" y="3951732"/>
              <a:ext cx="1202196" cy="1077468"/>
            </a:xfrm>
            <a:prstGeom prst="rect">
              <a:avLst/>
            </a:prstGeom>
            <a:noFill/>
            <a:ln>
              <a:noFill/>
            </a:ln>
          </p:spPr>
        </p:pic>
        <p:grpSp>
          <p:nvGrpSpPr>
            <p:cNvPr id="45095" name="Group 51"/>
            <p:cNvGrpSpPr/>
            <p:nvPr/>
          </p:nvGrpSpPr>
          <p:grpSpPr bwMode="auto">
            <a:xfrm>
              <a:off x="5435270" y="3212068"/>
              <a:ext cx="3121640" cy="440663"/>
              <a:chOff x="5511470" y="3200400"/>
              <a:chExt cx="3121640" cy="440663"/>
            </a:xfrm>
          </p:grpSpPr>
          <p:cxnSp>
            <p:nvCxnSpPr>
              <p:cNvPr id="51" name="Straight Connector 50"/>
              <p:cNvCxnSpPr/>
              <p:nvPr/>
            </p:nvCxnSpPr>
            <p:spPr>
              <a:xfrm>
                <a:off x="5511470" y="3424423"/>
                <a:ext cx="3121640" cy="450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45097" name="TextBox 23"/>
              <p:cNvSpPr txBox="1">
                <a:spLocks noChangeArrowheads="1"/>
              </p:cNvSpPr>
              <p:nvPr/>
            </p:nvSpPr>
            <p:spPr bwMode="auto">
              <a:xfrm>
                <a:off x="5841339" y="3200400"/>
                <a:ext cx="2465881" cy="440663"/>
              </a:xfrm>
              <a:prstGeom prst="rect">
                <a:avLst/>
              </a:prstGeom>
              <a:solidFill>
                <a:srgbClr val="FFFFFF"/>
              </a:solidFill>
              <a:ln>
                <a:noFill/>
              </a:ln>
            </p:spPr>
            <p:txBody>
              <a:bodyPr wrap="square">
                <a:spAutoFit/>
              </a:bodyPr>
              <a:lstStyle>
                <a:lvl1pPr eaLnBrk="0" hangingPunct="0">
                  <a:defRPr sz="2000" b="1">
                    <a:solidFill>
                      <a:schemeClr val="tx1"/>
                    </a:solidFill>
                    <a:latin typeface="Helvetica" charset="0"/>
                    <a:ea typeface="MS PGothic" charset="0"/>
                    <a:cs typeface="MS PGothic" charset="0"/>
                  </a:defRPr>
                </a:lvl1pPr>
                <a:lvl2pPr marL="37931725" indent="-37474525" eaLnBrk="0" hangingPunct="0">
                  <a:defRPr sz="2000" b="1">
                    <a:solidFill>
                      <a:schemeClr val="tx1"/>
                    </a:solidFill>
                    <a:latin typeface="Helvetica" charset="0"/>
                    <a:ea typeface="MS PGothic" charset="0"/>
                  </a:defRPr>
                </a:lvl2pPr>
                <a:lvl3pPr eaLnBrk="0" hangingPunct="0">
                  <a:defRPr sz="2000" b="1">
                    <a:solidFill>
                      <a:schemeClr val="tx1"/>
                    </a:solidFill>
                    <a:latin typeface="Helvetica" charset="0"/>
                    <a:ea typeface="MS PGothic" charset="0"/>
                  </a:defRPr>
                </a:lvl3pPr>
                <a:lvl4pPr eaLnBrk="0" hangingPunct="0">
                  <a:defRPr sz="2000" b="1">
                    <a:solidFill>
                      <a:schemeClr val="tx1"/>
                    </a:solidFill>
                    <a:latin typeface="Helvetica" charset="0"/>
                    <a:ea typeface="MS PGothic" charset="0"/>
                  </a:defRPr>
                </a:lvl4pPr>
                <a:lvl5pPr eaLnBrk="0" hangingPunct="0">
                  <a:defRPr sz="2000" b="1">
                    <a:solidFill>
                      <a:schemeClr val="tx1"/>
                    </a:solidFill>
                    <a:latin typeface="Helvetica" charset="0"/>
                    <a:ea typeface="MS PGothic" charset="0"/>
                  </a:defRPr>
                </a:lvl5pPr>
                <a:lvl6pPr marL="457200" eaLnBrk="0" fontAlgn="base" hangingPunct="0">
                  <a:spcBef>
                    <a:spcPct val="0"/>
                  </a:spcBef>
                  <a:spcAft>
                    <a:spcPct val="0"/>
                  </a:spcAft>
                  <a:defRPr sz="2000" b="1">
                    <a:solidFill>
                      <a:schemeClr val="tx1"/>
                    </a:solidFill>
                    <a:latin typeface="Helvetica" charset="0"/>
                    <a:ea typeface="MS PGothic" charset="0"/>
                  </a:defRPr>
                </a:lvl6pPr>
                <a:lvl7pPr marL="914400" eaLnBrk="0" fontAlgn="base" hangingPunct="0">
                  <a:spcBef>
                    <a:spcPct val="0"/>
                  </a:spcBef>
                  <a:spcAft>
                    <a:spcPct val="0"/>
                  </a:spcAft>
                  <a:defRPr sz="2000" b="1">
                    <a:solidFill>
                      <a:schemeClr val="tx1"/>
                    </a:solidFill>
                    <a:latin typeface="Helvetica" charset="0"/>
                    <a:ea typeface="MS PGothic" charset="0"/>
                  </a:defRPr>
                </a:lvl7pPr>
                <a:lvl8pPr marL="1371600" eaLnBrk="0" fontAlgn="base" hangingPunct="0">
                  <a:spcBef>
                    <a:spcPct val="0"/>
                  </a:spcBef>
                  <a:spcAft>
                    <a:spcPct val="0"/>
                  </a:spcAft>
                  <a:defRPr sz="2000" b="1">
                    <a:solidFill>
                      <a:schemeClr val="tx1"/>
                    </a:solidFill>
                    <a:latin typeface="Helvetica" charset="0"/>
                    <a:ea typeface="MS PGothic" charset="0"/>
                  </a:defRPr>
                </a:lvl8pPr>
                <a:lvl9pPr marL="1828800" eaLnBrk="0" fontAlgn="base" hangingPunct="0">
                  <a:spcBef>
                    <a:spcPct val="0"/>
                  </a:spcBef>
                  <a:spcAft>
                    <a:spcPct val="0"/>
                  </a:spcAft>
                  <a:defRPr sz="2000" b="1">
                    <a:solidFill>
                      <a:schemeClr val="tx1"/>
                    </a:solidFill>
                    <a:latin typeface="Helvetica" charset="0"/>
                    <a:ea typeface="MS PGothic" charset="0"/>
                  </a:defRPr>
                </a:lvl9pPr>
              </a:lstStyle>
              <a:p>
                <a:pPr algn="ctr" defTabSz="914400" eaLnBrk="1" fontAlgn="base" hangingPunct="1">
                  <a:spcBef>
                    <a:spcPct val="0"/>
                  </a:spcBef>
                  <a:spcAft>
                    <a:spcPct val="0"/>
                  </a:spcAft>
                </a:pPr>
                <a:r>
                  <a:rPr lang="en-US" sz="1600" dirty="0">
                    <a:solidFill>
                      <a:prstClr val="black"/>
                    </a:solidFill>
                    <a:latin typeface="Arial" panose="020B0604020202090204" pitchFamily="34" charset="0"/>
                  </a:rPr>
                  <a:t>Open Interface</a:t>
                </a:r>
              </a:p>
            </p:txBody>
          </p:sp>
        </p:grpSp>
      </p:grpSp>
      <p:grpSp>
        <p:nvGrpSpPr>
          <p:cNvPr id="6" name="Group 57"/>
          <p:cNvGrpSpPr/>
          <p:nvPr/>
        </p:nvGrpSpPr>
        <p:grpSpPr bwMode="auto">
          <a:xfrm>
            <a:off x="5183490" y="2081201"/>
            <a:ext cx="3575710" cy="1234932"/>
            <a:chOff x="5263490" y="1889268"/>
            <a:chExt cx="3575710" cy="1234932"/>
          </a:xfrm>
        </p:grpSpPr>
        <p:sp>
          <p:nvSpPr>
            <p:cNvPr id="20" name="Rounded Rectangle 19"/>
            <p:cNvSpPr/>
            <p:nvPr/>
          </p:nvSpPr>
          <p:spPr bwMode="auto">
            <a:xfrm>
              <a:off x="6934200" y="2286000"/>
              <a:ext cx="762000" cy="838200"/>
            </a:xfrm>
            <a:prstGeom prst="roundRect">
              <a:avLst/>
            </a:prstGeom>
            <a:gradFill>
              <a:gsLst>
                <a:gs pos="0">
                  <a:srgbClr val="008000"/>
                </a:gs>
                <a:gs pos="100000">
                  <a:srgbClr val="00C362"/>
                </a:gs>
              </a:gsLst>
            </a:gra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a:solidFill>
                    <a:srgbClr val="FFFFFF"/>
                  </a:solidFill>
                  <a:latin typeface="Calibri"/>
                </a:rPr>
                <a:t>Linux</a:t>
              </a:r>
            </a:p>
          </p:txBody>
        </p:sp>
        <p:sp>
          <p:nvSpPr>
            <p:cNvPr id="22" name="Rounded Rectangle 21"/>
            <p:cNvSpPr/>
            <p:nvPr/>
          </p:nvSpPr>
          <p:spPr bwMode="auto">
            <a:xfrm>
              <a:off x="8077200" y="2286000"/>
              <a:ext cx="762000" cy="838200"/>
            </a:xfrm>
            <a:prstGeom prst="roundRect">
              <a:avLst/>
            </a:prstGeom>
            <a:gradFill>
              <a:gsLst>
                <a:gs pos="0">
                  <a:srgbClr val="FF00FF"/>
                </a:gs>
                <a:gs pos="100000">
                  <a:srgbClr val="FF99CC"/>
                </a:gs>
              </a:gsLst>
            </a:gra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1600" b="1">
                  <a:solidFill>
                    <a:srgbClr val="FFFFFF"/>
                  </a:solidFill>
                  <a:latin typeface="Calibri"/>
                </a:rPr>
                <a:t>Mac</a:t>
              </a:r>
            </a:p>
            <a:p>
              <a:pPr algn="ctr" defTabSz="914400">
                <a:defRPr/>
              </a:pPr>
              <a:r>
                <a:rPr lang="en-US" sz="1600" b="1">
                  <a:solidFill>
                    <a:srgbClr val="FFFFFF"/>
                  </a:solidFill>
                  <a:latin typeface="Calibri"/>
                </a:rPr>
                <a:t>OS</a:t>
              </a:r>
            </a:p>
          </p:txBody>
        </p:sp>
        <p:sp>
          <p:nvSpPr>
            <p:cNvPr id="24" name="Rounded Rectangle 23"/>
            <p:cNvSpPr/>
            <p:nvPr/>
          </p:nvSpPr>
          <p:spPr bwMode="auto">
            <a:xfrm>
              <a:off x="5263490" y="2286000"/>
              <a:ext cx="1289710" cy="838200"/>
            </a:xfrm>
            <a:prstGeom prst="roundRect">
              <a:avLst/>
            </a:prstGeom>
            <a:gradFill>
              <a:gsLst>
                <a:gs pos="0">
                  <a:srgbClr val="FF0000"/>
                </a:gs>
                <a:gs pos="100000">
                  <a:srgbClr val="F7545C"/>
                </a:gs>
              </a:gsLst>
            </a:gradFill>
          </p:spPr>
          <p:style>
            <a:lnRef idx="0">
              <a:schemeClr val="accent6"/>
            </a:lnRef>
            <a:fillRef idx="3">
              <a:schemeClr val="accent6"/>
            </a:fillRef>
            <a:effectRef idx="3">
              <a:schemeClr val="accent6"/>
            </a:effectRef>
            <a:fontRef idx="minor">
              <a:schemeClr val="lt1"/>
            </a:fontRef>
          </p:style>
          <p:txBody>
            <a:bodyPr anchor="ctr"/>
            <a:lstStyle/>
            <a:p>
              <a:pPr algn="ctr" defTabSz="914400">
                <a:defRPr/>
              </a:pPr>
              <a:r>
                <a:rPr lang="en-US" sz="2000" b="1" dirty="0">
                  <a:solidFill>
                    <a:srgbClr val="FFFFFF"/>
                  </a:solidFill>
                  <a:latin typeface="Calibri"/>
                </a:rPr>
                <a:t>Windows</a:t>
              </a:r>
            </a:p>
            <a:p>
              <a:pPr algn="ctr" defTabSz="914400">
                <a:defRPr/>
              </a:pPr>
              <a:r>
                <a:rPr lang="en-US" sz="1800" b="1" dirty="0">
                  <a:solidFill>
                    <a:srgbClr val="FFFFFF"/>
                  </a:solidFill>
                  <a:latin typeface="Calibri"/>
                </a:rPr>
                <a:t>(OS)</a:t>
              </a:r>
            </a:p>
          </p:txBody>
        </p:sp>
        <p:sp>
          <p:nvSpPr>
            <p:cNvPr id="45086" name="TextBox 23"/>
            <p:cNvSpPr txBox="1">
              <a:spLocks noChangeArrowheads="1"/>
            </p:cNvSpPr>
            <p:nvPr/>
          </p:nvSpPr>
          <p:spPr bwMode="auto">
            <a:xfrm>
              <a:off x="6553200" y="2526268"/>
              <a:ext cx="389913" cy="369332"/>
            </a:xfrm>
            <a:prstGeom prst="rect">
              <a:avLst/>
            </a:prstGeom>
            <a:noFill/>
            <a:ln>
              <a:noFill/>
            </a:ln>
          </p:spPr>
          <p:txBody>
            <a:bodyPr wrap="none">
              <a:spAutoFit/>
            </a:bodyPr>
            <a:lstStyle>
              <a:lvl1pPr eaLnBrk="0" hangingPunct="0">
                <a:defRPr sz="2000" b="1">
                  <a:solidFill>
                    <a:schemeClr val="tx1"/>
                  </a:solidFill>
                  <a:latin typeface="Helvetica" charset="0"/>
                  <a:ea typeface="MS PGothic" charset="0"/>
                  <a:cs typeface="MS PGothic" charset="0"/>
                </a:defRPr>
              </a:lvl1pPr>
              <a:lvl2pPr marL="37931725" indent="-37474525" eaLnBrk="0" hangingPunct="0">
                <a:defRPr sz="2000" b="1">
                  <a:solidFill>
                    <a:schemeClr val="tx1"/>
                  </a:solidFill>
                  <a:latin typeface="Helvetica" charset="0"/>
                  <a:ea typeface="MS PGothic" charset="0"/>
                </a:defRPr>
              </a:lvl2pPr>
              <a:lvl3pPr eaLnBrk="0" hangingPunct="0">
                <a:defRPr sz="2000" b="1">
                  <a:solidFill>
                    <a:schemeClr val="tx1"/>
                  </a:solidFill>
                  <a:latin typeface="Helvetica" charset="0"/>
                  <a:ea typeface="MS PGothic" charset="0"/>
                </a:defRPr>
              </a:lvl3pPr>
              <a:lvl4pPr eaLnBrk="0" hangingPunct="0">
                <a:defRPr sz="2000" b="1">
                  <a:solidFill>
                    <a:schemeClr val="tx1"/>
                  </a:solidFill>
                  <a:latin typeface="Helvetica" charset="0"/>
                  <a:ea typeface="MS PGothic" charset="0"/>
                </a:defRPr>
              </a:lvl4pPr>
              <a:lvl5pPr eaLnBrk="0" hangingPunct="0">
                <a:defRPr sz="2000" b="1">
                  <a:solidFill>
                    <a:schemeClr val="tx1"/>
                  </a:solidFill>
                  <a:latin typeface="Helvetica" charset="0"/>
                  <a:ea typeface="MS PGothic" charset="0"/>
                </a:defRPr>
              </a:lvl5pPr>
              <a:lvl6pPr marL="457200" eaLnBrk="0" fontAlgn="base" hangingPunct="0">
                <a:spcBef>
                  <a:spcPct val="0"/>
                </a:spcBef>
                <a:spcAft>
                  <a:spcPct val="0"/>
                </a:spcAft>
                <a:defRPr sz="2000" b="1">
                  <a:solidFill>
                    <a:schemeClr val="tx1"/>
                  </a:solidFill>
                  <a:latin typeface="Helvetica" charset="0"/>
                  <a:ea typeface="MS PGothic" charset="0"/>
                </a:defRPr>
              </a:lvl6pPr>
              <a:lvl7pPr marL="914400" eaLnBrk="0" fontAlgn="base" hangingPunct="0">
                <a:spcBef>
                  <a:spcPct val="0"/>
                </a:spcBef>
                <a:spcAft>
                  <a:spcPct val="0"/>
                </a:spcAft>
                <a:defRPr sz="2000" b="1">
                  <a:solidFill>
                    <a:schemeClr val="tx1"/>
                  </a:solidFill>
                  <a:latin typeface="Helvetica" charset="0"/>
                  <a:ea typeface="MS PGothic" charset="0"/>
                </a:defRPr>
              </a:lvl7pPr>
              <a:lvl8pPr marL="1371600" eaLnBrk="0" fontAlgn="base" hangingPunct="0">
                <a:spcBef>
                  <a:spcPct val="0"/>
                </a:spcBef>
                <a:spcAft>
                  <a:spcPct val="0"/>
                </a:spcAft>
                <a:defRPr sz="2000" b="1">
                  <a:solidFill>
                    <a:schemeClr val="tx1"/>
                  </a:solidFill>
                  <a:latin typeface="Helvetica" charset="0"/>
                  <a:ea typeface="MS PGothic" charset="0"/>
                </a:defRPr>
              </a:lvl8pPr>
              <a:lvl9pPr marL="1828800" eaLnBrk="0" fontAlgn="base" hangingPunct="0">
                <a:spcBef>
                  <a:spcPct val="0"/>
                </a:spcBef>
                <a:spcAft>
                  <a:spcPct val="0"/>
                </a:spcAft>
                <a:defRPr sz="2000" b="1">
                  <a:solidFill>
                    <a:schemeClr val="tx1"/>
                  </a:solidFill>
                  <a:latin typeface="Helvetica" charset="0"/>
                  <a:ea typeface="MS PGothic" charset="0"/>
                </a:defRPr>
              </a:lvl9pPr>
            </a:lstStyle>
            <a:p>
              <a:pPr algn="ctr" defTabSz="914400" eaLnBrk="1" fontAlgn="base" hangingPunct="1">
                <a:spcBef>
                  <a:spcPct val="0"/>
                </a:spcBef>
                <a:spcAft>
                  <a:spcPct val="0"/>
                </a:spcAft>
              </a:pPr>
              <a:r>
                <a:rPr lang="en-US">
                  <a:solidFill>
                    <a:prstClr val="black"/>
                  </a:solidFill>
                  <a:latin typeface="Arial" panose="020B0604020202090204" pitchFamily="34" charset="0"/>
                </a:rPr>
                <a:t>or</a:t>
              </a:r>
            </a:p>
          </p:txBody>
        </p:sp>
        <p:sp>
          <p:nvSpPr>
            <p:cNvPr id="45087" name="TextBox 24"/>
            <p:cNvSpPr txBox="1">
              <a:spLocks noChangeArrowheads="1"/>
            </p:cNvSpPr>
            <p:nvPr/>
          </p:nvSpPr>
          <p:spPr bwMode="auto">
            <a:xfrm>
              <a:off x="7696200" y="2514600"/>
              <a:ext cx="389913" cy="369332"/>
            </a:xfrm>
            <a:prstGeom prst="rect">
              <a:avLst/>
            </a:prstGeom>
            <a:noFill/>
            <a:ln>
              <a:noFill/>
            </a:ln>
          </p:spPr>
          <p:txBody>
            <a:bodyPr wrap="none">
              <a:spAutoFit/>
            </a:bodyPr>
            <a:lstStyle>
              <a:lvl1pPr eaLnBrk="0" hangingPunct="0">
                <a:defRPr sz="2000" b="1">
                  <a:solidFill>
                    <a:schemeClr val="tx1"/>
                  </a:solidFill>
                  <a:latin typeface="Helvetica" charset="0"/>
                  <a:ea typeface="MS PGothic" charset="0"/>
                  <a:cs typeface="MS PGothic" charset="0"/>
                </a:defRPr>
              </a:lvl1pPr>
              <a:lvl2pPr marL="37931725" indent="-37474525" eaLnBrk="0" hangingPunct="0">
                <a:defRPr sz="2000" b="1">
                  <a:solidFill>
                    <a:schemeClr val="tx1"/>
                  </a:solidFill>
                  <a:latin typeface="Helvetica" charset="0"/>
                  <a:ea typeface="MS PGothic" charset="0"/>
                </a:defRPr>
              </a:lvl2pPr>
              <a:lvl3pPr eaLnBrk="0" hangingPunct="0">
                <a:defRPr sz="2000" b="1">
                  <a:solidFill>
                    <a:schemeClr val="tx1"/>
                  </a:solidFill>
                  <a:latin typeface="Helvetica" charset="0"/>
                  <a:ea typeface="MS PGothic" charset="0"/>
                </a:defRPr>
              </a:lvl3pPr>
              <a:lvl4pPr eaLnBrk="0" hangingPunct="0">
                <a:defRPr sz="2000" b="1">
                  <a:solidFill>
                    <a:schemeClr val="tx1"/>
                  </a:solidFill>
                  <a:latin typeface="Helvetica" charset="0"/>
                  <a:ea typeface="MS PGothic" charset="0"/>
                </a:defRPr>
              </a:lvl4pPr>
              <a:lvl5pPr eaLnBrk="0" hangingPunct="0">
                <a:defRPr sz="2000" b="1">
                  <a:solidFill>
                    <a:schemeClr val="tx1"/>
                  </a:solidFill>
                  <a:latin typeface="Helvetica" charset="0"/>
                  <a:ea typeface="MS PGothic" charset="0"/>
                </a:defRPr>
              </a:lvl5pPr>
              <a:lvl6pPr marL="457200" eaLnBrk="0" fontAlgn="base" hangingPunct="0">
                <a:spcBef>
                  <a:spcPct val="0"/>
                </a:spcBef>
                <a:spcAft>
                  <a:spcPct val="0"/>
                </a:spcAft>
                <a:defRPr sz="2000" b="1">
                  <a:solidFill>
                    <a:schemeClr val="tx1"/>
                  </a:solidFill>
                  <a:latin typeface="Helvetica" charset="0"/>
                  <a:ea typeface="MS PGothic" charset="0"/>
                </a:defRPr>
              </a:lvl6pPr>
              <a:lvl7pPr marL="914400" eaLnBrk="0" fontAlgn="base" hangingPunct="0">
                <a:spcBef>
                  <a:spcPct val="0"/>
                </a:spcBef>
                <a:spcAft>
                  <a:spcPct val="0"/>
                </a:spcAft>
                <a:defRPr sz="2000" b="1">
                  <a:solidFill>
                    <a:schemeClr val="tx1"/>
                  </a:solidFill>
                  <a:latin typeface="Helvetica" charset="0"/>
                  <a:ea typeface="MS PGothic" charset="0"/>
                </a:defRPr>
              </a:lvl7pPr>
              <a:lvl8pPr marL="1371600" eaLnBrk="0" fontAlgn="base" hangingPunct="0">
                <a:spcBef>
                  <a:spcPct val="0"/>
                </a:spcBef>
                <a:spcAft>
                  <a:spcPct val="0"/>
                </a:spcAft>
                <a:defRPr sz="2000" b="1">
                  <a:solidFill>
                    <a:schemeClr val="tx1"/>
                  </a:solidFill>
                  <a:latin typeface="Helvetica" charset="0"/>
                  <a:ea typeface="MS PGothic" charset="0"/>
                </a:defRPr>
              </a:lvl8pPr>
              <a:lvl9pPr marL="1828800" eaLnBrk="0" fontAlgn="base" hangingPunct="0">
                <a:spcBef>
                  <a:spcPct val="0"/>
                </a:spcBef>
                <a:spcAft>
                  <a:spcPct val="0"/>
                </a:spcAft>
                <a:defRPr sz="2000" b="1">
                  <a:solidFill>
                    <a:schemeClr val="tx1"/>
                  </a:solidFill>
                  <a:latin typeface="Helvetica" charset="0"/>
                  <a:ea typeface="MS PGothic" charset="0"/>
                </a:defRPr>
              </a:lvl9pPr>
            </a:lstStyle>
            <a:p>
              <a:pPr algn="ctr" defTabSz="914400" eaLnBrk="1" fontAlgn="base" hangingPunct="1">
                <a:spcBef>
                  <a:spcPct val="0"/>
                </a:spcBef>
                <a:spcAft>
                  <a:spcPct val="0"/>
                </a:spcAft>
              </a:pPr>
              <a:r>
                <a:rPr lang="en-US">
                  <a:solidFill>
                    <a:prstClr val="black"/>
                  </a:solidFill>
                  <a:latin typeface="Arial" panose="020B0604020202090204" pitchFamily="34" charset="0"/>
                </a:rPr>
                <a:t>or</a:t>
              </a:r>
            </a:p>
          </p:txBody>
        </p:sp>
        <p:grpSp>
          <p:nvGrpSpPr>
            <p:cNvPr id="45088" name="Group 52"/>
            <p:cNvGrpSpPr/>
            <p:nvPr/>
          </p:nvGrpSpPr>
          <p:grpSpPr bwMode="auto">
            <a:xfrm>
              <a:off x="5943600" y="1889268"/>
              <a:ext cx="2590800" cy="338554"/>
              <a:chOff x="6019800" y="3260868"/>
              <a:chExt cx="2590800" cy="338554"/>
            </a:xfrm>
          </p:grpSpPr>
          <p:cxnSp>
            <p:nvCxnSpPr>
              <p:cNvPr id="54" name="Straight Connector 53"/>
              <p:cNvCxnSpPr/>
              <p:nvPr/>
            </p:nvCxnSpPr>
            <p:spPr>
              <a:xfrm>
                <a:off x="6019800" y="3427413"/>
                <a:ext cx="2590800" cy="1587"/>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45090" name="TextBox 23"/>
              <p:cNvSpPr txBox="1">
                <a:spLocks noChangeArrowheads="1"/>
              </p:cNvSpPr>
              <p:nvPr/>
            </p:nvSpPr>
            <p:spPr bwMode="auto">
              <a:xfrm>
                <a:off x="6450385" y="3260868"/>
                <a:ext cx="1621357" cy="338554"/>
              </a:xfrm>
              <a:prstGeom prst="rect">
                <a:avLst/>
              </a:prstGeom>
              <a:solidFill>
                <a:srgbClr val="FFFFFF"/>
              </a:solidFill>
              <a:ln>
                <a:noFill/>
              </a:ln>
            </p:spPr>
            <p:txBody>
              <a:bodyPr wrap="none">
                <a:spAutoFit/>
              </a:bodyPr>
              <a:lstStyle>
                <a:lvl1pPr eaLnBrk="0" hangingPunct="0">
                  <a:defRPr sz="2000" b="1">
                    <a:solidFill>
                      <a:schemeClr val="tx1"/>
                    </a:solidFill>
                    <a:latin typeface="Helvetica" charset="0"/>
                    <a:ea typeface="MS PGothic" charset="0"/>
                    <a:cs typeface="MS PGothic" charset="0"/>
                  </a:defRPr>
                </a:lvl1pPr>
                <a:lvl2pPr marL="37931725" indent="-37474525" eaLnBrk="0" hangingPunct="0">
                  <a:defRPr sz="2000" b="1">
                    <a:solidFill>
                      <a:schemeClr val="tx1"/>
                    </a:solidFill>
                    <a:latin typeface="Helvetica" charset="0"/>
                    <a:ea typeface="MS PGothic" charset="0"/>
                  </a:defRPr>
                </a:lvl2pPr>
                <a:lvl3pPr eaLnBrk="0" hangingPunct="0">
                  <a:defRPr sz="2000" b="1">
                    <a:solidFill>
                      <a:schemeClr val="tx1"/>
                    </a:solidFill>
                    <a:latin typeface="Helvetica" charset="0"/>
                    <a:ea typeface="MS PGothic" charset="0"/>
                  </a:defRPr>
                </a:lvl3pPr>
                <a:lvl4pPr eaLnBrk="0" hangingPunct="0">
                  <a:defRPr sz="2000" b="1">
                    <a:solidFill>
                      <a:schemeClr val="tx1"/>
                    </a:solidFill>
                    <a:latin typeface="Helvetica" charset="0"/>
                    <a:ea typeface="MS PGothic" charset="0"/>
                  </a:defRPr>
                </a:lvl4pPr>
                <a:lvl5pPr eaLnBrk="0" hangingPunct="0">
                  <a:defRPr sz="2000" b="1">
                    <a:solidFill>
                      <a:schemeClr val="tx1"/>
                    </a:solidFill>
                    <a:latin typeface="Helvetica" charset="0"/>
                    <a:ea typeface="MS PGothic" charset="0"/>
                  </a:defRPr>
                </a:lvl5pPr>
                <a:lvl6pPr marL="457200" eaLnBrk="0" fontAlgn="base" hangingPunct="0">
                  <a:spcBef>
                    <a:spcPct val="0"/>
                  </a:spcBef>
                  <a:spcAft>
                    <a:spcPct val="0"/>
                  </a:spcAft>
                  <a:defRPr sz="2000" b="1">
                    <a:solidFill>
                      <a:schemeClr val="tx1"/>
                    </a:solidFill>
                    <a:latin typeface="Helvetica" charset="0"/>
                    <a:ea typeface="MS PGothic" charset="0"/>
                  </a:defRPr>
                </a:lvl6pPr>
                <a:lvl7pPr marL="914400" eaLnBrk="0" fontAlgn="base" hangingPunct="0">
                  <a:spcBef>
                    <a:spcPct val="0"/>
                  </a:spcBef>
                  <a:spcAft>
                    <a:spcPct val="0"/>
                  </a:spcAft>
                  <a:defRPr sz="2000" b="1">
                    <a:solidFill>
                      <a:schemeClr val="tx1"/>
                    </a:solidFill>
                    <a:latin typeface="Helvetica" charset="0"/>
                    <a:ea typeface="MS PGothic" charset="0"/>
                  </a:defRPr>
                </a:lvl7pPr>
                <a:lvl8pPr marL="1371600" eaLnBrk="0" fontAlgn="base" hangingPunct="0">
                  <a:spcBef>
                    <a:spcPct val="0"/>
                  </a:spcBef>
                  <a:spcAft>
                    <a:spcPct val="0"/>
                  </a:spcAft>
                  <a:defRPr sz="2000" b="1">
                    <a:solidFill>
                      <a:schemeClr val="tx1"/>
                    </a:solidFill>
                    <a:latin typeface="Helvetica" charset="0"/>
                    <a:ea typeface="MS PGothic" charset="0"/>
                  </a:defRPr>
                </a:lvl8pPr>
                <a:lvl9pPr marL="1828800" eaLnBrk="0" fontAlgn="base" hangingPunct="0">
                  <a:spcBef>
                    <a:spcPct val="0"/>
                  </a:spcBef>
                  <a:spcAft>
                    <a:spcPct val="0"/>
                  </a:spcAft>
                  <a:defRPr sz="2000" b="1">
                    <a:solidFill>
                      <a:schemeClr val="tx1"/>
                    </a:solidFill>
                    <a:latin typeface="Helvetica" charset="0"/>
                    <a:ea typeface="MS PGothic" charset="0"/>
                  </a:defRPr>
                </a:lvl9pPr>
              </a:lstStyle>
              <a:p>
                <a:pPr algn="ctr" defTabSz="914400" eaLnBrk="1" fontAlgn="base" hangingPunct="1">
                  <a:spcBef>
                    <a:spcPct val="0"/>
                  </a:spcBef>
                  <a:spcAft>
                    <a:spcPct val="0"/>
                  </a:spcAft>
                </a:pPr>
                <a:r>
                  <a:rPr lang="en-US" sz="1600" dirty="0">
                    <a:solidFill>
                      <a:prstClr val="black"/>
                    </a:solidFill>
                    <a:latin typeface="Arial" panose="020B0604020202090204" pitchFamily="34" charset="0"/>
                  </a:rPr>
                  <a:t>Open Interface</a:t>
                </a:r>
              </a:p>
            </p:txBody>
          </p:sp>
        </p:grpSp>
      </p:grpSp>
      <p:sp>
        <p:nvSpPr>
          <p:cNvPr id="56" name="Right Arrow 55"/>
          <p:cNvSpPr/>
          <p:nvPr/>
        </p:nvSpPr>
        <p:spPr>
          <a:xfrm>
            <a:off x="3868480" y="5210723"/>
            <a:ext cx="1143000" cy="762000"/>
          </a:xfrm>
          <a:prstGeom prst="rightArrow">
            <a:avLst>
              <a:gd name="adj1" fmla="val 50000"/>
              <a:gd name="adj2" fmla="val 68658"/>
            </a:avLst>
          </a:prstGeom>
          <a:solidFill>
            <a:srgbClr val="FF6600"/>
          </a:solidFill>
        </p:spPr>
        <p:style>
          <a:lnRef idx="1">
            <a:schemeClr val="accent2"/>
          </a:lnRef>
          <a:fillRef idx="3">
            <a:schemeClr val="accent2"/>
          </a:fillRef>
          <a:effectRef idx="2">
            <a:schemeClr val="accent2"/>
          </a:effectRef>
          <a:fontRef idx="minor">
            <a:schemeClr val="lt1"/>
          </a:fontRef>
        </p:style>
        <p:txBody>
          <a:bodyPr anchor="ctr"/>
          <a:lstStyle/>
          <a:p>
            <a:pPr algn="ctr" defTabSz="914400">
              <a:defRPr/>
            </a:pPr>
            <a:endParaRPr lang="en-US" sz="2000" b="1">
              <a:solidFill>
                <a:prstClr val="white"/>
              </a:solidFill>
              <a:latin typeface="Calibri"/>
            </a:endParaRPr>
          </a:p>
        </p:txBody>
      </p:sp>
      <p:sp>
        <p:nvSpPr>
          <p:cNvPr id="45076" name="Title 47"/>
          <p:cNvSpPr>
            <a:spLocks noGrp="1"/>
          </p:cNvSpPr>
          <p:nvPr>
            <p:ph type="title"/>
          </p:nvPr>
        </p:nvSpPr>
        <p:spPr>
          <a:xfrm>
            <a:off x="535402" y="0"/>
            <a:ext cx="8534400" cy="1143000"/>
          </a:xfrm>
        </p:spPr>
        <p:txBody>
          <a:bodyPr/>
          <a:lstStyle/>
          <a:p>
            <a:pPr algn="l"/>
            <a:r>
              <a:rPr lang="en-US" sz="4000" dirty="0">
                <a:solidFill>
                  <a:srgbClr val="000090"/>
                </a:solidFill>
                <a:latin typeface="Calibri" panose="020F0502020204030204" pitchFamily="34" charset="0"/>
                <a:ea typeface="MS PGothic" charset="0"/>
                <a:cs typeface="MS PGothic" charset="0"/>
              </a:rPr>
              <a:t>Analogy: mainframe to PC evolution</a:t>
            </a:r>
            <a:r>
              <a:rPr lang="en-US" sz="2400" baseline="30000" dirty="0">
                <a:solidFill>
                  <a:schemeClr val="tx1"/>
                </a:solidFill>
                <a:latin typeface="Calibri" panose="020F0502020204030204" pitchFamily="34" charset="0"/>
                <a:ea typeface="MS PGothic" charset="0"/>
                <a:cs typeface="MS PGothic" charset="0"/>
              </a:rPr>
              <a:t>*</a:t>
            </a:r>
            <a:endParaRPr lang="en-US" sz="4000" baseline="30000" dirty="0">
              <a:solidFill>
                <a:schemeClr val="tx1"/>
              </a:solidFill>
              <a:latin typeface="Calibri" panose="020F0502020204030204" pitchFamily="34" charset="0"/>
              <a:ea typeface="MS PGothic" charset="0"/>
              <a:cs typeface="MS PGothic" charset="0"/>
            </a:endParaRPr>
          </a:p>
        </p:txBody>
      </p:sp>
      <p:sp>
        <p:nvSpPr>
          <p:cNvPr id="4" name="TextBox 3"/>
          <p:cNvSpPr txBox="1"/>
          <p:nvPr/>
        </p:nvSpPr>
        <p:spPr>
          <a:xfrm>
            <a:off x="152871" y="6550399"/>
            <a:ext cx="2254418" cy="276999"/>
          </a:xfrm>
          <a:prstGeom prst="rect">
            <a:avLst/>
          </a:prstGeom>
          <a:noFill/>
        </p:spPr>
        <p:txBody>
          <a:bodyPr wrap="none" rtlCol="0">
            <a:spAutoFit/>
          </a:bodyPr>
          <a:lstStyle/>
          <a:p>
            <a:r>
              <a:rPr lang="en-US" sz="1200" dirty="0"/>
              <a:t>* Slide  courtesy: N. McKeown</a:t>
            </a:r>
          </a:p>
        </p:txBody>
      </p:sp>
      <p:sp>
        <p:nvSpPr>
          <p:cNvPr id="49" name="Slide Number Placeholder 5"/>
          <p:cNvSpPr>
            <a:spLocks noGrp="1"/>
          </p:cNvSpPr>
          <p:nvPr>
            <p:ph type="sldNum" sz="quarter" idx="12"/>
          </p:nvPr>
        </p:nvSpPr>
        <p:spPr>
          <a:xfrm>
            <a:off x="8456154" y="6537091"/>
            <a:ext cx="687845" cy="38210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91</a:t>
            </a:fld>
            <a:endParaRPr lang="en-US" sz="1200" dirty="0">
              <a:latin typeface="Tahoma" panose="020B0604030504040204" charset="0"/>
            </a:endParaRPr>
          </a:p>
        </p:txBody>
      </p:sp>
      <p:sp>
        <p:nvSpPr>
          <p:cNvPr id="50" name="Footer Placeholder 2"/>
          <p:cNvSpPr>
            <a:spLocks noGrp="1"/>
          </p:cNvSpPr>
          <p:nvPr>
            <p:ph type="ftr" sz="quarter" idx="11"/>
          </p:nvPr>
        </p:nvSpPr>
        <p:spPr>
          <a:xfrm>
            <a:off x="6375496" y="6536277"/>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mph" presetSubtype="0" nodeType="clickEffect">
                                  <p:stCondLst>
                                    <p:cond delay="0"/>
                                  </p:stCondLst>
                                  <p:childTnLst>
                                    <p:set>
                                      <p:cBhvr rctx="PPT">
                                        <p:cTn id="6" dur="indefinite"/>
                                        <p:tgtEl>
                                          <p:spTgt spid="13"/>
                                        </p:tgtEl>
                                        <p:attrNameLst>
                                          <p:attrName>style.opacity</p:attrName>
                                        </p:attrNameLst>
                                      </p:cBhvr>
                                      <p:to>
                                        <p:strVal val="0.5"/>
                                      </p:to>
                                    </p:set>
                                    <p:animEffect filter="image" prLst="opacity: 0.5">
                                      <p:cBhvr rctx="IE">
                                        <p:cTn id="7" dur="indefinite"/>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childTnLst>
                          </p:cTn>
                        </p:par>
                        <p:par>
                          <p:cTn id="11" fill="hold">
                            <p:stCondLst>
                              <p:cond delay="0"/>
                            </p:stCondLst>
                            <p:childTnLst>
                              <p:par>
                                <p:cTn id="12" presetID="10" presetClass="entr" presetSubtype="0"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childTnLst>
                          </p:cTn>
                        </p:par>
                        <p:par>
                          <p:cTn id="15" fill="hold">
                            <p:stCondLst>
                              <p:cond delay="500"/>
                            </p:stCondLst>
                            <p:childTnLst>
                              <p:par>
                                <p:cTn id="16" presetID="10" presetClass="entr" presetSubtype="0" fill="hold" nodeType="afterEffect">
                                  <p:stCondLst>
                                    <p:cond delay="0"/>
                                  </p:stCondLst>
                                  <p:childTnLst>
                                    <p:set>
                                      <p:cBhvr>
                                        <p:cTn id="17" dur="1" fill="hold">
                                          <p:stCondLst>
                                            <p:cond delay="0"/>
                                          </p:stCondLst>
                                        </p:cTn>
                                        <p:tgtEl>
                                          <p:spTgt spid="35"/>
                                        </p:tgtEl>
                                        <p:attrNameLst>
                                          <p:attrName>style.visibility</p:attrName>
                                        </p:attrNameLst>
                                      </p:cBhvr>
                                      <p:to>
                                        <p:strVal val="visible"/>
                                      </p:to>
                                    </p:set>
                                    <p:animEffect transition="in" filter="fade">
                                      <p:cBhvr>
                                        <p:cTn id="18" dur="500"/>
                                        <p:tgtEl>
                                          <p:spTgt spid="35"/>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wipe(left)">
                                      <p:cBhvr>
                                        <p:cTn id="37" dur="500"/>
                                        <p:tgtEl>
                                          <p:spTgt spid="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fade">
                                      <p:cBhvr>
                                        <p:cTn id="47" dur="500"/>
                                        <p:tgtEl>
                                          <p:spTgt spid="5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6"/>
                                        </p:tgtEl>
                                        <p:attrNameLst>
                                          <p:attrName>style.visibility</p:attrName>
                                        </p:attrNameLst>
                                      </p:cBhvr>
                                      <p:to>
                                        <p:strVal val="visible"/>
                                      </p:to>
                                    </p:set>
                                    <p:animEffect transition="in" filter="fade">
                                      <p:cBhvr>
                                        <p:cTn id="5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36" grpId="0"/>
      <p:bldP spid="47" grpId="0" animBg="1"/>
      <p:bldP spid="56"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5" name="Picture 7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9185" y="824211"/>
            <a:ext cx="8551394" cy="232121"/>
          </a:xfrm>
          <a:prstGeom prst="rect">
            <a:avLst/>
          </a:prstGeom>
          <a:noFill/>
          <a:ln>
            <a:noFill/>
          </a:ln>
        </p:spPr>
      </p:pic>
      <p:sp>
        <p:nvSpPr>
          <p:cNvPr id="75783" name="Rectangle 73"/>
          <p:cNvSpPr>
            <a:spLocks noGrp="1" noChangeArrowheads="1"/>
          </p:cNvSpPr>
          <p:nvPr>
            <p:ph type="title"/>
          </p:nvPr>
        </p:nvSpPr>
        <p:spPr>
          <a:xfrm>
            <a:off x="211455" y="170180"/>
            <a:ext cx="8803640" cy="796925"/>
          </a:xfrm>
        </p:spPr>
        <p:txBody>
          <a:bodyPr/>
          <a:lstStyle/>
          <a:p>
            <a:pPr>
              <a:lnSpc>
                <a:spcPct val="85000"/>
              </a:lnSpc>
              <a:defRPr/>
            </a:pPr>
            <a:r>
              <a:rPr lang="en-US" sz="3000" dirty="0">
                <a:cs typeface="+mj-cs"/>
              </a:rPr>
              <a:t>Traffic engineering: difficult traditional routing</a:t>
            </a:r>
          </a:p>
        </p:txBody>
      </p:sp>
      <p:sp>
        <p:nvSpPr>
          <p:cNvPr id="15" name="TextBox 14"/>
          <p:cNvSpPr txBox="1"/>
          <p:nvPr/>
        </p:nvSpPr>
        <p:spPr>
          <a:xfrm>
            <a:off x="505390" y="4128444"/>
            <a:ext cx="8408298" cy="1723549"/>
          </a:xfrm>
          <a:prstGeom prst="rect">
            <a:avLst/>
          </a:prstGeom>
          <a:noFill/>
        </p:spPr>
        <p:txBody>
          <a:bodyPr wrap="square" rtlCol="0">
            <a:spAutoFit/>
          </a:bodyPr>
          <a:lstStyle/>
          <a:p>
            <a:pPr algn="ctr"/>
            <a:r>
              <a:rPr lang="en-US" sz="2400" i="1" u="sng" dirty="0">
                <a:solidFill>
                  <a:srgbClr val="000090"/>
                </a:solidFill>
              </a:rPr>
              <a:t>Q: </a:t>
            </a:r>
            <a:r>
              <a:rPr lang="en-US" sz="2400" dirty="0"/>
              <a:t>what if network operator wants u-to-z traffic to flow along </a:t>
            </a:r>
            <a:r>
              <a:rPr lang="en-US" sz="2400" i="1" dirty="0" err="1"/>
              <a:t>uvw</a:t>
            </a:r>
            <a:r>
              <a:rPr lang="en-US" sz="2400" dirty="0" err="1"/>
              <a:t>z</a:t>
            </a:r>
            <a:r>
              <a:rPr lang="en-US" sz="2400" dirty="0"/>
              <a:t>, x-to-z traffic to flow </a:t>
            </a:r>
            <a:r>
              <a:rPr lang="en-US" sz="2400" i="1" dirty="0" err="1"/>
              <a:t>xwyz</a:t>
            </a:r>
            <a:r>
              <a:rPr lang="en-US" sz="2400" dirty="0"/>
              <a:t>?</a:t>
            </a:r>
          </a:p>
          <a:p>
            <a:pPr algn="ctr">
              <a:spcBef>
                <a:spcPts val="1200"/>
              </a:spcBef>
            </a:pPr>
            <a:r>
              <a:rPr lang="en-US" sz="2400" i="1" u="sng" dirty="0">
                <a:solidFill>
                  <a:srgbClr val="000090"/>
                </a:solidFill>
              </a:rPr>
              <a:t>A: </a:t>
            </a:r>
            <a:r>
              <a:rPr lang="en-US" sz="2400" dirty="0"/>
              <a:t>need to define link weights so traffic routing algorithm computes routes accordingly </a:t>
            </a:r>
            <a:r>
              <a:rPr lang="en-US" sz="2000" dirty="0"/>
              <a:t>(or need a new routing algorithm)!</a:t>
            </a:r>
          </a:p>
        </p:txBody>
      </p:sp>
      <p:sp>
        <p:nvSpPr>
          <p:cNvPr id="4" name="TextBox 3"/>
          <p:cNvSpPr txBox="1"/>
          <p:nvPr/>
        </p:nvSpPr>
        <p:spPr>
          <a:xfrm>
            <a:off x="1589947" y="6025755"/>
            <a:ext cx="6350841" cy="461665"/>
          </a:xfrm>
          <a:prstGeom prst="rect">
            <a:avLst/>
          </a:prstGeom>
          <a:noFill/>
        </p:spPr>
        <p:txBody>
          <a:bodyPr wrap="none" rtlCol="0">
            <a:spAutoFit/>
          </a:bodyPr>
          <a:lstStyle/>
          <a:p>
            <a:r>
              <a:rPr lang="en-US" sz="2400" i="1" dirty="0">
                <a:solidFill>
                  <a:srgbClr val="CC0000"/>
                </a:solidFill>
              </a:rPr>
              <a:t>Link weights are only control “knobs”: wrong!</a:t>
            </a:r>
          </a:p>
        </p:txBody>
      </p:sp>
      <p:sp>
        <p:nvSpPr>
          <p:cNvPr id="154" name="Slide Number Placeholder 5"/>
          <p:cNvSpPr>
            <a:spLocks noGrp="1"/>
          </p:cNvSpPr>
          <p:nvPr>
            <p:ph type="sldNum" sz="quarter" idx="12"/>
          </p:nvPr>
        </p:nvSpPr>
        <p:spPr>
          <a:xfrm>
            <a:off x="8456154" y="6537091"/>
            <a:ext cx="687845" cy="38210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92</a:t>
            </a:fld>
            <a:endParaRPr lang="en-US" sz="1200" dirty="0">
              <a:latin typeface="Tahoma" panose="020B0604030504040204" charset="0"/>
            </a:endParaRPr>
          </a:p>
        </p:txBody>
      </p:sp>
      <p:sp>
        <p:nvSpPr>
          <p:cNvPr id="155" name="Footer Placeholder 2"/>
          <p:cNvSpPr>
            <a:spLocks noGrp="1"/>
          </p:cNvSpPr>
          <p:nvPr>
            <p:ph type="ftr" sz="quarter" idx="11"/>
          </p:nvPr>
        </p:nvSpPr>
        <p:spPr>
          <a:xfrm>
            <a:off x="6375496" y="6536277"/>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grpSp>
        <p:nvGrpSpPr>
          <p:cNvPr id="118" name="Group 1612"/>
          <p:cNvGrpSpPr/>
          <p:nvPr/>
        </p:nvGrpSpPr>
        <p:grpSpPr bwMode="auto">
          <a:xfrm flipH="1">
            <a:off x="943464" y="2441244"/>
            <a:ext cx="855053" cy="655887"/>
            <a:chOff x="2839" y="3501"/>
            <a:chExt cx="755" cy="803"/>
          </a:xfrm>
        </p:grpSpPr>
        <p:pic>
          <p:nvPicPr>
            <p:cNvPr id="119" name="Picture 1613"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p:spPr>
        </p:pic>
        <p:sp>
          <p:nvSpPr>
            <p:cNvPr id="120" name="Freeform 1614"/>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p:spPr>
          <p:txBody>
            <a:bodyPr wrap="none"/>
            <a:lstStyle/>
            <a:p>
              <a:endParaRPr lang="en-US"/>
            </a:p>
          </p:txBody>
        </p:sp>
      </p:grpSp>
      <p:sp>
        <p:nvSpPr>
          <p:cNvPr id="120840" name="Freeform 3"/>
          <p:cNvSpPr/>
          <p:nvPr/>
        </p:nvSpPr>
        <p:spPr bwMode="auto">
          <a:xfrm>
            <a:off x="2059747" y="1363093"/>
            <a:ext cx="5142041" cy="2404002"/>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p:spPr>
        <p:txBody>
          <a:bodyPr wrap="none" anchor="ctr"/>
          <a:lstStyle/>
          <a:p>
            <a:endParaRPr lang="en-US"/>
          </a:p>
        </p:txBody>
      </p:sp>
      <p:sp>
        <p:nvSpPr>
          <p:cNvPr id="120841" name="Freeform 4"/>
          <p:cNvSpPr/>
          <p:nvPr/>
        </p:nvSpPr>
        <p:spPr bwMode="auto">
          <a:xfrm>
            <a:off x="2834105" y="2267385"/>
            <a:ext cx="781590" cy="317349"/>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ln>
        </p:spPr>
        <p:txBody>
          <a:bodyPr wrap="none" anchor="ctr"/>
          <a:lstStyle/>
          <a:p>
            <a:endParaRPr lang="en-US"/>
          </a:p>
        </p:txBody>
      </p:sp>
      <p:sp>
        <p:nvSpPr>
          <p:cNvPr id="120872" name="Freeform 35"/>
          <p:cNvSpPr/>
          <p:nvPr/>
        </p:nvSpPr>
        <p:spPr bwMode="auto">
          <a:xfrm>
            <a:off x="5254292" y="2313451"/>
            <a:ext cx="2285" cy="890624"/>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ln>
        </p:spPr>
        <p:txBody>
          <a:bodyPr wrap="none" anchor="ctr"/>
          <a:lstStyle/>
          <a:p>
            <a:endParaRPr lang="en-US"/>
          </a:p>
        </p:txBody>
      </p:sp>
      <p:sp>
        <p:nvSpPr>
          <p:cNvPr id="120873" name="Freeform 36"/>
          <p:cNvSpPr/>
          <p:nvPr/>
        </p:nvSpPr>
        <p:spPr bwMode="auto">
          <a:xfrm>
            <a:off x="3670544" y="2323688"/>
            <a:ext cx="2285" cy="91621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ln>
        </p:spPr>
        <p:txBody>
          <a:bodyPr wrap="none" anchor="ctr"/>
          <a:lstStyle/>
          <a:p>
            <a:endParaRPr lang="en-US"/>
          </a:p>
        </p:txBody>
      </p:sp>
      <p:sp>
        <p:nvSpPr>
          <p:cNvPr id="120874" name="Freeform 37"/>
          <p:cNvSpPr/>
          <p:nvPr/>
        </p:nvSpPr>
        <p:spPr bwMode="auto">
          <a:xfrm>
            <a:off x="4017205" y="2298095"/>
            <a:ext cx="1182239" cy="1038973"/>
          </a:xfrm>
          <a:custGeom>
            <a:avLst/>
            <a:gdLst>
              <a:gd name="T0" fmla="*/ 0 w 378"/>
              <a:gd name="T1" fmla="*/ 142610238 h 174"/>
              <a:gd name="T2" fmla="*/ 8951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ln>
        </p:spPr>
        <p:txBody>
          <a:bodyPr wrap="none" anchor="ctr"/>
          <a:lstStyle/>
          <a:p>
            <a:endParaRPr lang="en-US"/>
          </a:p>
        </p:txBody>
      </p:sp>
      <p:sp>
        <p:nvSpPr>
          <p:cNvPr id="120875" name="Freeform 38"/>
          <p:cNvSpPr/>
          <p:nvPr/>
        </p:nvSpPr>
        <p:spPr bwMode="auto">
          <a:xfrm>
            <a:off x="5617663" y="2891845"/>
            <a:ext cx="836439" cy="460668"/>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ln>
        </p:spPr>
        <p:txBody>
          <a:bodyPr wrap="none" anchor="ctr"/>
          <a:lstStyle/>
          <a:p>
            <a:endParaRPr lang="en-US"/>
          </a:p>
        </p:txBody>
      </p:sp>
      <p:sp>
        <p:nvSpPr>
          <p:cNvPr id="120876" name="Freeform 39"/>
          <p:cNvSpPr/>
          <p:nvPr/>
        </p:nvSpPr>
        <p:spPr bwMode="auto">
          <a:xfrm flipV="1">
            <a:off x="4022465" y="3327268"/>
            <a:ext cx="908330" cy="45719"/>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20877" name="Freeform 40"/>
          <p:cNvSpPr/>
          <p:nvPr/>
        </p:nvSpPr>
        <p:spPr bwMode="auto">
          <a:xfrm>
            <a:off x="2710696" y="2820186"/>
            <a:ext cx="630757" cy="45043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ln>
        </p:spPr>
        <p:txBody>
          <a:bodyPr wrap="none" anchor="ctr"/>
          <a:lstStyle/>
          <a:p>
            <a:endParaRPr lang="en-US"/>
          </a:p>
        </p:txBody>
      </p:sp>
      <p:sp>
        <p:nvSpPr>
          <p:cNvPr id="120878" name="Freeform 41"/>
          <p:cNvSpPr/>
          <p:nvPr/>
        </p:nvSpPr>
        <p:spPr bwMode="auto">
          <a:xfrm>
            <a:off x="4047627" y="2195725"/>
            <a:ext cx="836439" cy="1706"/>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20879" name="Freeform 42"/>
          <p:cNvSpPr/>
          <p:nvPr/>
        </p:nvSpPr>
        <p:spPr bwMode="auto">
          <a:xfrm>
            <a:off x="5572253" y="2248471"/>
            <a:ext cx="922986" cy="397685"/>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ln>
        </p:spPr>
        <p:txBody>
          <a:bodyPr wrap="none" anchor="ctr"/>
          <a:lstStyle/>
          <a:p>
            <a:endParaRPr lang="en-US"/>
          </a:p>
        </p:txBody>
      </p:sp>
      <p:sp>
        <p:nvSpPr>
          <p:cNvPr id="120880" name="Freeform 43"/>
          <p:cNvSpPr/>
          <p:nvPr/>
        </p:nvSpPr>
        <p:spPr bwMode="auto">
          <a:xfrm>
            <a:off x="2580431" y="1458657"/>
            <a:ext cx="2536740" cy="1100484"/>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ln>
        </p:spPr>
        <p:txBody>
          <a:bodyPr wrap="none" anchor="ctr"/>
          <a:lstStyle/>
          <a:p>
            <a:endParaRPr lang="en-US"/>
          </a:p>
        </p:txBody>
      </p:sp>
      <p:sp>
        <p:nvSpPr>
          <p:cNvPr id="120887" name="Text Box 62"/>
          <p:cNvSpPr txBox="1">
            <a:spLocks noChangeArrowheads="1"/>
          </p:cNvSpPr>
          <p:nvPr/>
        </p:nvSpPr>
        <p:spPr bwMode="auto">
          <a:xfrm>
            <a:off x="2822678" y="2178663"/>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0888" name="Text Box 63"/>
          <p:cNvSpPr txBox="1">
            <a:spLocks noChangeArrowheads="1"/>
          </p:cNvSpPr>
          <p:nvPr/>
        </p:nvSpPr>
        <p:spPr bwMode="auto">
          <a:xfrm>
            <a:off x="3617981" y="2552316"/>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0889" name="Text Box 64"/>
          <p:cNvSpPr txBox="1">
            <a:spLocks noChangeArrowheads="1"/>
          </p:cNvSpPr>
          <p:nvPr/>
        </p:nvSpPr>
        <p:spPr bwMode="auto">
          <a:xfrm>
            <a:off x="2623853" y="2915732"/>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0890" name="Text Box 65"/>
          <p:cNvSpPr txBox="1">
            <a:spLocks noChangeArrowheads="1"/>
          </p:cNvSpPr>
          <p:nvPr/>
        </p:nvSpPr>
        <p:spPr bwMode="auto">
          <a:xfrm>
            <a:off x="4495556" y="2710990"/>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20891" name="Text Box 66"/>
          <p:cNvSpPr txBox="1">
            <a:spLocks noChangeArrowheads="1"/>
          </p:cNvSpPr>
          <p:nvPr/>
        </p:nvSpPr>
        <p:spPr bwMode="auto">
          <a:xfrm>
            <a:off x="4351579" y="3314977"/>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0892" name="Text Box 67"/>
          <p:cNvSpPr txBox="1">
            <a:spLocks noChangeArrowheads="1"/>
          </p:cNvSpPr>
          <p:nvPr/>
        </p:nvSpPr>
        <p:spPr bwMode="auto">
          <a:xfrm>
            <a:off x="5174305" y="2583027"/>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0893" name="Text Box 68"/>
          <p:cNvSpPr txBox="1">
            <a:spLocks noChangeArrowheads="1"/>
          </p:cNvSpPr>
          <p:nvPr/>
        </p:nvSpPr>
        <p:spPr bwMode="auto">
          <a:xfrm>
            <a:off x="5997032" y="3033458"/>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0894" name="Text Box 69"/>
          <p:cNvSpPr txBox="1">
            <a:spLocks noChangeArrowheads="1"/>
          </p:cNvSpPr>
          <p:nvPr/>
        </p:nvSpPr>
        <p:spPr bwMode="auto">
          <a:xfrm>
            <a:off x="5935327" y="2117241"/>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sp>
        <p:nvSpPr>
          <p:cNvPr id="120895" name="Text Box 70"/>
          <p:cNvSpPr txBox="1">
            <a:spLocks noChangeArrowheads="1"/>
          </p:cNvSpPr>
          <p:nvPr/>
        </p:nvSpPr>
        <p:spPr bwMode="auto">
          <a:xfrm>
            <a:off x="4255594" y="1861315"/>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20896" name="Text Box 71"/>
          <p:cNvSpPr txBox="1">
            <a:spLocks noChangeArrowheads="1"/>
          </p:cNvSpPr>
          <p:nvPr/>
        </p:nvSpPr>
        <p:spPr bwMode="auto">
          <a:xfrm>
            <a:off x="3453435" y="1405766"/>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grpSp>
        <p:nvGrpSpPr>
          <p:cNvPr id="121" name="Group 1507"/>
          <p:cNvGrpSpPr/>
          <p:nvPr/>
        </p:nvGrpSpPr>
        <p:grpSpPr bwMode="auto">
          <a:xfrm>
            <a:off x="7391175" y="2426604"/>
            <a:ext cx="427480" cy="711995"/>
            <a:chOff x="4140" y="429"/>
            <a:chExt cx="1425" cy="2396"/>
          </a:xfrm>
        </p:grpSpPr>
        <p:sp>
          <p:nvSpPr>
            <p:cNvPr id="122" name="Freeform 1508"/>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123" name="Rectangle 1509"/>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124" name="Freeform 1510"/>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125" name="Freeform 1511"/>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26" name="Rectangle 1512"/>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27" name="Group 1513"/>
            <p:cNvGrpSpPr/>
            <p:nvPr/>
          </p:nvGrpSpPr>
          <p:grpSpPr bwMode="auto">
            <a:xfrm>
              <a:off x="4749" y="668"/>
              <a:ext cx="581" cy="145"/>
              <a:chOff x="614" y="2568"/>
              <a:chExt cx="725" cy="139"/>
            </a:xfrm>
          </p:grpSpPr>
          <p:sp>
            <p:nvSpPr>
              <p:cNvPr id="152" name="AutoShape 1514"/>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153" name="AutoShape 1515"/>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28" name="Rectangle 1516"/>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29" name="Group 1517"/>
            <p:cNvGrpSpPr/>
            <p:nvPr/>
          </p:nvGrpSpPr>
          <p:grpSpPr bwMode="auto">
            <a:xfrm>
              <a:off x="4747" y="994"/>
              <a:ext cx="581" cy="134"/>
              <a:chOff x="614" y="2568"/>
              <a:chExt cx="725" cy="139"/>
            </a:xfrm>
          </p:grpSpPr>
          <p:sp>
            <p:nvSpPr>
              <p:cNvPr id="150" name="AutoShape 1518"/>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151" name="AutoShape 1519"/>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30" name="Rectangle 1520"/>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131" name="Rectangle 1521"/>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32" name="Group 1522"/>
            <p:cNvGrpSpPr/>
            <p:nvPr/>
          </p:nvGrpSpPr>
          <p:grpSpPr bwMode="auto">
            <a:xfrm>
              <a:off x="4735" y="1627"/>
              <a:ext cx="582" cy="151"/>
              <a:chOff x="614" y="2568"/>
              <a:chExt cx="725" cy="139"/>
            </a:xfrm>
          </p:grpSpPr>
          <p:sp>
            <p:nvSpPr>
              <p:cNvPr id="148" name="AutoShape 1523"/>
              <p:cNvSpPr>
                <a:spLocks noChangeArrowheads="1"/>
              </p:cNvSpPr>
              <p:nvPr/>
            </p:nvSpPr>
            <p:spPr bwMode="auto">
              <a:xfrm>
                <a:off x="618" y="2579"/>
                <a:ext cx="720" cy="131"/>
              </a:xfrm>
              <a:prstGeom prst="roundRect">
                <a:avLst>
                  <a:gd name="adj" fmla="val 50000"/>
                </a:avLst>
              </a:prstGeom>
              <a:solidFill>
                <a:schemeClr val="tx1"/>
              </a:solidFill>
              <a:ln>
                <a:noFill/>
              </a:ln>
            </p:spPr>
            <p:txBody>
              <a:bodyPr wrap="none" anchor="ctr"/>
              <a:lstStyle/>
              <a:p>
                <a:endParaRPr lang="en-US"/>
              </a:p>
            </p:txBody>
          </p:sp>
          <p:sp>
            <p:nvSpPr>
              <p:cNvPr id="149" name="AutoShape 1524"/>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33" name="Freeform 1525"/>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134" name="Group 1526"/>
            <p:cNvGrpSpPr/>
            <p:nvPr/>
          </p:nvGrpSpPr>
          <p:grpSpPr bwMode="auto">
            <a:xfrm>
              <a:off x="4739" y="1327"/>
              <a:ext cx="582" cy="139"/>
              <a:chOff x="614" y="2568"/>
              <a:chExt cx="725" cy="139"/>
            </a:xfrm>
          </p:grpSpPr>
          <p:sp>
            <p:nvSpPr>
              <p:cNvPr id="146" name="AutoShape 1527"/>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147" name="AutoShape 1528"/>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35" name="Rectangle 1529"/>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136" name="Freeform 1530"/>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37" name="Freeform 1531"/>
            <p:cNvSpPr/>
            <p:nvPr/>
          </p:nvSpPr>
          <p:spPr bwMode="auto">
            <a:xfrm>
              <a:off x="5315" y="680"/>
              <a:ext cx="244" cy="240"/>
            </a:xfrm>
            <a:custGeom>
              <a:avLst/>
              <a:gdLst>
                <a:gd name="T0" fmla="*/ 0 w 304"/>
                <a:gd name="T1" fmla="*/ 0 h 288"/>
                <a:gd name="T2" fmla="*/ 27 w 304"/>
                <a:gd name="T3" fmla="*/ 23 h 288"/>
                <a:gd name="T4" fmla="*/ 25 w 304"/>
                <a:gd name="T5" fmla="*/ 40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38" name="Oval 1532"/>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139" name="Freeform 1533"/>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140" name="AutoShape 1534"/>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141" name="AutoShape 1535"/>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142" name="Oval 1536"/>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143" name="Oval 1537"/>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a:solidFill>
                  <a:srgbClr val="FF0000"/>
                </a:solidFill>
                <a:cs typeface="Arial" panose="020B0604020202090204" pitchFamily="34" charset="0"/>
              </a:endParaRPr>
            </a:p>
          </p:txBody>
        </p:sp>
        <p:sp>
          <p:nvSpPr>
            <p:cNvPr id="144" name="Oval 1538"/>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145" name="Rectangle 1539"/>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cxnSp>
        <p:nvCxnSpPr>
          <p:cNvPr id="10" name="Straight Connector 9"/>
          <p:cNvCxnSpPr/>
          <p:nvPr/>
        </p:nvCxnSpPr>
        <p:spPr bwMode="auto">
          <a:xfrm>
            <a:off x="1682405" y="2744686"/>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163" name="Straight Connector 162"/>
          <p:cNvCxnSpPr/>
          <p:nvPr/>
        </p:nvCxnSpPr>
        <p:spPr bwMode="auto">
          <a:xfrm>
            <a:off x="6895267" y="2779855"/>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nvGrpSpPr>
          <p:cNvPr id="156" name="Group 155"/>
          <p:cNvGrpSpPr/>
          <p:nvPr/>
        </p:nvGrpSpPr>
        <p:grpSpPr>
          <a:xfrm>
            <a:off x="3414626" y="1982945"/>
            <a:ext cx="687402" cy="571677"/>
            <a:chOff x="1736090" y="2893762"/>
            <a:chExt cx="565150" cy="413310"/>
          </a:xfrm>
        </p:grpSpPr>
        <p:grpSp>
          <p:nvGrpSpPr>
            <p:cNvPr id="157" name="Group 327"/>
            <p:cNvGrpSpPr/>
            <p:nvPr/>
          </p:nvGrpSpPr>
          <p:grpSpPr bwMode="auto">
            <a:xfrm>
              <a:off x="1736090" y="2893762"/>
              <a:ext cx="565150" cy="292100"/>
              <a:chOff x="1871277" y="1576300"/>
              <a:chExt cx="1128371" cy="437861"/>
            </a:xfrm>
          </p:grpSpPr>
          <p:sp>
            <p:nvSpPr>
              <p:cNvPr id="161" name="Oval 160"/>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2" name="Rectangle 161"/>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8" name="Group 157"/>
            <p:cNvGrpSpPr/>
            <p:nvPr/>
          </p:nvGrpSpPr>
          <p:grpSpPr>
            <a:xfrm>
              <a:off x="1844715" y="2907714"/>
              <a:ext cx="356365" cy="399358"/>
              <a:chOff x="741398" y="1743005"/>
              <a:chExt cx="356365" cy="399358"/>
            </a:xfrm>
          </p:grpSpPr>
          <p:sp>
            <p:nvSpPr>
              <p:cNvPr id="159" name="Oval 158"/>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0" name="TextBox 159"/>
              <p:cNvSpPr txBox="1"/>
              <p:nvPr/>
            </p:nvSpPr>
            <p:spPr>
              <a:xfrm>
                <a:off x="783895" y="1743005"/>
                <a:ext cx="288887" cy="399358"/>
              </a:xfrm>
              <a:prstGeom prst="rect">
                <a:avLst/>
              </a:prstGeom>
              <a:noFill/>
            </p:spPr>
            <p:txBody>
              <a:bodyPr wrap="none" rtlCol="0">
                <a:spAutoFit/>
              </a:bodyPr>
              <a:lstStyle/>
              <a:p>
                <a:r>
                  <a:rPr lang="en-US" sz="2400" dirty="0"/>
                  <a:t>v</a:t>
                </a:r>
              </a:p>
            </p:txBody>
          </p:sp>
        </p:grpSp>
      </p:grpSp>
      <p:grpSp>
        <p:nvGrpSpPr>
          <p:cNvPr id="173" name="Group 172"/>
          <p:cNvGrpSpPr/>
          <p:nvPr/>
        </p:nvGrpSpPr>
        <p:grpSpPr>
          <a:xfrm>
            <a:off x="4888811" y="1979830"/>
            <a:ext cx="687402" cy="480963"/>
            <a:chOff x="1736090" y="2893762"/>
            <a:chExt cx="565150" cy="347726"/>
          </a:xfrm>
        </p:grpSpPr>
        <p:grpSp>
          <p:nvGrpSpPr>
            <p:cNvPr id="174" name="Group 327"/>
            <p:cNvGrpSpPr/>
            <p:nvPr/>
          </p:nvGrpSpPr>
          <p:grpSpPr bwMode="auto">
            <a:xfrm>
              <a:off x="1736090" y="2893762"/>
              <a:ext cx="565150" cy="292100"/>
              <a:chOff x="1871277" y="1576300"/>
              <a:chExt cx="1128371" cy="437861"/>
            </a:xfrm>
          </p:grpSpPr>
          <p:sp>
            <p:nvSpPr>
              <p:cNvPr id="178" name="Oval 17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9" name="Rectangle 17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Oval 17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1" name="Freeform 18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Freeform 18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Freeform 18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4" name="Freeform 18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5" name="Straight Connector 184"/>
              <p:cNvCxnSpPr>
                <a:endCxn id="18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6" name="Straight Connector 18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5" name="Group 174"/>
            <p:cNvGrpSpPr/>
            <p:nvPr/>
          </p:nvGrpSpPr>
          <p:grpSpPr>
            <a:xfrm>
              <a:off x="1844715" y="2907714"/>
              <a:ext cx="378664" cy="333774"/>
              <a:chOff x="741398" y="1743005"/>
              <a:chExt cx="378664" cy="333774"/>
            </a:xfrm>
          </p:grpSpPr>
          <p:sp>
            <p:nvSpPr>
              <p:cNvPr id="176" name="Oval 175"/>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7" name="TextBox 176"/>
              <p:cNvSpPr txBox="1"/>
              <p:nvPr/>
            </p:nvSpPr>
            <p:spPr>
              <a:xfrm>
                <a:off x="767915" y="1743005"/>
                <a:ext cx="352147" cy="333774"/>
              </a:xfrm>
              <a:prstGeom prst="rect">
                <a:avLst/>
              </a:prstGeom>
              <a:noFill/>
            </p:spPr>
            <p:txBody>
              <a:bodyPr wrap="none" rtlCol="0">
                <a:spAutoFit/>
              </a:bodyPr>
              <a:lstStyle/>
              <a:p>
                <a:r>
                  <a:rPr lang="en-US" sz="2400" dirty="0"/>
                  <a:t>w</a:t>
                </a:r>
              </a:p>
            </p:txBody>
          </p:sp>
        </p:grpSp>
      </p:grpSp>
      <p:grpSp>
        <p:nvGrpSpPr>
          <p:cNvPr id="187" name="Group 186"/>
          <p:cNvGrpSpPr/>
          <p:nvPr/>
        </p:nvGrpSpPr>
        <p:grpSpPr>
          <a:xfrm>
            <a:off x="2206359" y="2517647"/>
            <a:ext cx="687402" cy="480963"/>
            <a:chOff x="1736090" y="2893762"/>
            <a:chExt cx="565150" cy="347726"/>
          </a:xfrm>
        </p:grpSpPr>
        <p:grpSp>
          <p:nvGrpSpPr>
            <p:cNvPr id="188" name="Group 327"/>
            <p:cNvGrpSpPr/>
            <p:nvPr/>
          </p:nvGrpSpPr>
          <p:grpSpPr bwMode="auto">
            <a:xfrm>
              <a:off x="1736090" y="2893762"/>
              <a:ext cx="565150" cy="292100"/>
              <a:chOff x="1871277" y="1576300"/>
              <a:chExt cx="1128371" cy="437861"/>
            </a:xfrm>
          </p:grpSpPr>
          <p:sp>
            <p:nvSpPr>
              <p:cNvPr id="192" name="Oval 19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3" name="Rectangle 19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Oval 19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5" name="Freeform 19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6" name="Freeform 19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7" name="Freeform 19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8" name="Freeform 19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9" name="Straight Connector 198"/>
              <p:cNvCxnSpPr>
                <a:endCxn id="19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0" name="Straight Connector 19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9" name="Group 188"/>
            <p:cNvGrpSpPr/>
            <p:nvPr/>
          </p:nvGrpSpPr>
          <p:grpSpPr>
            <a:xfrm>
              <a:off x="1844715" y="2907714"/>
              <a:ext cx="356365" cy="333774"/>
              <a:chOff x="741398" y="1743005"/>
              <a:chExt cx="356365" cy="333774"/>
            </a:xfrm>
          </p:grpSpPr>
          <p:sp>
            <p:nvSpPr>
              <p:cNvPr id="190" name="Oval 189"/>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1" name="TextBox 190"/>
              <p:cNvSpPr txBox="1"/>
              <p:nvPr/>
            </p:nvSpPr>
            <p:spPr>
              <a:xfrm>
                <a:off x="783895" y="1743005"/>
                <a:ext cx="292553" cy="333774"/>
              </a:xfrm>
              <a:prstGeom prst="rect">
                <a:avLst/>
              </a:prstGeom>
              <a:noFill/>
            </p:spPr>
            <p:txBody>
              <a:bodyPr wrap="none" rtlCol="0">
                <a:spAutoFit/>
              </a:bodyPr>
              <a:lstStyle/>
              <a:p>
                <a:r>
                  <a:rPr lang="en-US" sz="2400" dirty="0"/>
                  <a:t>u</a:t>
                </a:r>
              </a:p>
            </p:txBody>
          </p:sp>
        </p:grpSp>
      </p:grpSp>
      <p:grpSp>
        <p:nvGrpSpPr>
          <p:cNvPr id="201" name="Group 200"/>
          <p:cNvGrpSpPr/>
          <p:nvPr/>
        </p:nvGrpSpPr>
        <p:grpSpPr>
          <a:xfrm>
            <a:off x="6285253" y="2579331"/>
            <a:ext cx="687402" cy="480963"/>
            <a:chOff x="1736090" y="2893762"/>
            <a:chExt cx="565150" cy="347726"/>
          </a:xfrm>
        </p:grpSpPr>
        <p:grpSp>
          <p:nvGrpSpPr>
            <p:cNvPr id="202" name="Group 327"/>
            <p:cNvGrpSpPr/>
            <p:nvPr/>
          </p:nvGrpSpPr>
          <p:grpSpPr bwMode="auto">
            <a:xfrm>
              <a:off x="1736090" y="2893762"/>
              <a:ext cx="565150" cy="292100"/>
              <a:chOff x="1871277" y="1576300"/>
              <a:chExt cx="1128371" cy="437861"/>
            </a:xfrm>
          </p:grpSpPr>
          <p:sp>
            <p:nvSpPr>
              <p:cNvPr id="206" name="Oval 20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7" name="Rectangle 20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8" name="Oval 20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9" name="Freeform 20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0" name="Freeform 20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1" name="Freeform 21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2" name="Freeform 21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13" name="Straight Connector 212"/>
              <p:cNvCxnSpPr>
                <a:endCxn id="20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14" name="Straight Connector 21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03" name="Group 202"/>
            <p:cNvGrpSpPr/>
            <p:nvPr/>
          </p:nvGrpSpPr>
          <p:grpSpPr>
            <a:xfrm>
              <a:off x="1844715" y="2907714"/>
              <a:ext cx="356365" cy="333774"/>
              <a:chOff x="741398" y="1743005"/>
              <a:chExt cx="356365" cy="333774"/>
            </a:xfrm>
          </p:grpSpPr>
          <p:sp>
            <p:nvSpPr>
              <p:cNvPr id="204" name="Oval 203"/>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05" name="TextBox 204"/>
              <p:cNvSpPr txBox="1"/>
              <p:nvPr/>
            </p:nvSpPr>
            <p:spPr>
              <a:xfrm>
                <a:off x="783895" y="1743005"/>
                <a:ext cx="278343" cy="333774"/>
              </a:xfrm>
              <a:prstGeom prst="rect">
                <a:avLst/>
              </a:prstGeom>
              <a:noFill/>
            </p:spPr>
            <p:txBody>
              <a:bodyPr wrap="none" rtlCol="0">
                <a:spAutoFit/>
              </a:bodyPr>
              <a:lstStyle/>
              <a:p>
                <a:r>
                  <a:rPr lang="en-US" sz="2400" dirty="0"/>
                  <a:t>z</a:t>
                </a:r>
              </a:p>
            </p:txBody>
          </p:sp>
        </p:grpSp>
      </p:grpSp>
      <p:grpSp>
        <p:nvGrpSpPr>
          <p:cNvPr id="215" name="Group 214"/>
          <p:cNvGrpSpPr/>
          <p:nvPr/>
        </p:nvGrpSpPr>
        <p:grpSpPr>
          <a:xfrm>
            <a:off x="4927962" y="3152913"/>
            <a:ext cx="687402" cy="480963"/>
            <a:chOff x="1736090" y="2893762"/>
            <a:chExt cx="565150" cy="347726"/>
          </a:xfrm>
        </p:grpSpPr>
        <p:grpSp>
          <p:nvGrpSpPr>
            <p:cNvPr id="216" name="Group 327"/>
            <p:cNvGrpSpPr/>
            <p:nvPr/>
          </p:nvGrpSpPr>
          <p:grpSpPr bwMode="auto">
            <a:xfrm>
              <a:off x="1736090" y="2893762"/>
              <a:ext cx="565150" cy="292100"/>
              <a:chOff x="1871277" y="1576300"/>
              <a:chExt cx="1128371" cy="437861"/>
            </a:xfrm>
          </p:grpSpPr>
          <p:sp>
            <p:nvSpPr>
              <p:cNvPr id="220" name="Oval 21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1" name="Rectangle 22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2" name="Oval 22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3" name="Freeform 22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4" name="Freeform 22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5" name="Freeform 22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6" name="Freeform 22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7" name="Straight Connector 226"/>
              <p:cNvCxnSpPr>
                <a:endCxn id="22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8" name="Straight Connector 22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7" name="Group 216"/>
            <p:cNvGrpSpPr/>
            <p:nvPr/>
          </p:nvGrpSpPr>
          <p:grpSpPr>
            <a:xfrm>
              <a:off x="1844715" y="2907714"/>
              <a:ext cx="356365" cy="333774"/>
              <a:chOff x="741398" y="1743005"/>
              <a:chExt cx="356365" cy="333774"/>
            </a:xfrm>
          </p:grpSpPr>
          <p:sp>
            <p:nvSpPr>
              <p:cNvPr id="218" name="Oval 217"/>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9" name="TextBox 218"/>
              <p:cNvSpPr txBox="1"/>
              <p:nvPr/>
            </p:nvSpPr>
            <p:spPr>
              <a:xfrm>
                <a:off x="783895" y="1743005"/>
                <a:ext cx="278343" cy="333774"/>
              </a:xfrm>
              <a:prstGeom prst="rect">
                <a:avLst/>
              </a:prstGeom>
              <a:noFill/>
            </p:spPr>
            <p:txBody>
              <a:bodyPr wrap="none" rtlCol="0">
                <a:spAutoFit/>
              </a:bodyPr>
              <a:lstStyle/>
              <a:p>
                <a:r>
                  <a:rPr lang="en-US" sz="2400" dirty="0"/>
                  <a:t>y</a:t>
                </a:r>
              </a:p>
            </p:txBody>
          </p:sp>
        </p:grpSp>
      </p:grpSp>
      <p:grpSp>
        <p:nvGrpSpPr>
          <p:cNvPr id="229" name="Group 228"/>
          <p:cNvGrpSpPr/>
          <p:nvPr/>
        </p:nvGrpSpPr>
        <p:grpSpPr>
          <a:xfrm>
            <a:off x="3337414" y="3136841"/>
            <a:ext cx="687402" cy="480963"/>
            <a:chOff x="1736090" y="2893762"/>
            <a:chExt cx="565150" cy="347726"/>
          </a:xfrm>
        </p:grpSpPr>
        <p:grpSp>
          <p:nvGrpSpPr>
            <p:cNvPr id="230" name="Group 327"/>
            <p:cNvGrpSpPr/>
            <p:nvPr/>
          </p:nvGrpSpPr>
          <p:grpSpPr bwMode="auto">
            <a:xfrm>
              <a:off x="1736090" y="2893762"/>
              <a:ext cx="565150" cy="292100"/>
              <a:chOff x="1871277" y="1576300"/>
              <a:chExt cx="1128371" cy="437861"/>
            </a:xfrm>
          </p:grpSpPr>
          <p:sp>
            <p:nvSpPr>
              <p:cNvPr id="234" name="Oval 23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5" name="Rectangle 23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6" name="Oval 23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7" name="Freeform 23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8" name="Freeform 23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9" name="Freeform 23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0" name="Freeform 23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1" name="Straight Connector 240"/>
              <p:cNvCxnSpPr>
                <a:endCxn id="23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2" name="Straight Connector 24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1" name="Group 230"/>
            <p:cNvGrpSpPr/>
            <p:nvPr/>
          </p:nvGrpSpPr>
          <p:grpSpPr>
            <a:xfrm>
              <a:off x="1844715" y="2907714"/>
              <a:ext cx="356365" cy="333774"/>
              <a:chOff x="741398" y="1743005"/>
              <a:chExt cx="356365" cy="333774"/>
            </a:xfrm>
          </p:grpSpPr>
          <p:sp>
            <p:nvSpPr>
              <p:cNvPr id="232" name="Oval 231"/>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3" name="TextBox 232"/>
              <p:cNvSpPr txBox="1"/>
              <p:nvPr/>
            </p:nvSpPr>
            <p:spPr>
              <a:xfrm>
                <a:off x="783895" y="1743005"/>
                <a:ext cx="278343" cy="333774"/>
              </a:xfrm>
              <a:prstGeom prst="rect">
                <a:avLst/>
              </a:prstGeom>
              <a:noFill/>
            </p:spPr>
            <p:txBody>
              <a:bodyPr wrap="none" rtlCol="0">
                <a:spAutoFit/>
              </a:bodyPr>
              <a:lstStyle/>
              <a:p>
                <a:r>
                  <a:rPr lang="en-US" sz="2400" dirty="0"/>
                  <a:t>x</a:t>
                </a:r>
              </a:p>
            </p:txBody>
          </p:sp>
        </p:gr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animEffect transition="in" filter="dissolve">
                                      <p:cBhvr>
                                        <p:cTn id="7" dur="500"/>
                                        <p:tgtEl>
                                          <p:spTgt spid="1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
                                            <p:txEl>
                                              <p:pRg st="1" end="1"/>
                                            </p:txEl>
                                          </p:spTgt>
                                        </p:tgtEl>
                                        <p:attrNameLst>
                                          <p:attrName>style.visibility</p:attrName>
                                        </p:attrNameLst>
                                      </p:cBhvr>
                                      <p:to>
                                        <p:strVal val="visible"/>
                                      </p:to>
                                    </p:set>
                                    <p:animEffect transition="in" filter="dissolve">
                                      <p:cBhvr>
                                        <p:cTn id="12" dur="500"/>
                                        <p:tgtEl>
                                          <p:spTgt spid="15">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5" name="Picture 7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8487" y="847725"/>
            <a:ext cx="6263659" cy="194956"/>
          </a:xfrm>
          <a:prstGeom prst="rect">
            <a:avLst/>
          </a:prstGeom>
          <a:noFill/>
          <a:ln>
            <a:noFill/>
          </a:ln>
        </p:spPr>
      </p:pic>
      <p:sp>
        <p:nvSpPr>
          <p:cNvPr id="75783" name="Rectangle 73"/>
          <p:cNvSpPr>
            <a:spLocks noGrp="1" noChangeArrowheads="1"/>
          </p:cNvSpPr>
          <p:nvPr>
            <p:ph type="title"/>
          </p:nvPr>
        </p:nvSpPr>
        <p:spPr>
          <a:xfrm>
            <a:off x="530774" y="170272"/>
            <a:ext cx="7772400" cy="796925"/>
          </a:xfrm>
        </p:spPr>
        <p:txBody>
          <a:bodyPr/>
          <a:lstStyle/>
          <a:p>
            <a:pPr>
              <a:defRPr/>
            </a:pPr>
            <a:r>
              <a:rPr lang="en-US" dirty="0">
                <a:cs typeface="+mj-cs"/>
              </a:rPr>
              <a:t>Traffic engineering: difficult</a:t>
            </a:r>
          </a:p>
        </p:txBody>
      </p:sp>
      <p:sp>
        <p:nvSpPr>
          <p:cNvPr id="15" name="TextBox 14"/>
          <p:cNvSpPr txBox="1"/>
          <p:nvPr/>
        </p:nvSpPr>
        <p:spPr>
          <a:xfrm>
            <a:off x="944898" y="4078636"/>
            <a:ext cx="7417563" cy="1200328"/>
          </a:xfrm>
          <a:prstGeom prst="rect">
            <a:avLst/>
          </a:prstGeom>
          <a:noFill/>
        </p:spPr>
        <p:txBody>
          <a:bodyPr wrap="square" rtlCol="0">
            <a:spAutoFit/>
          </a:bodyPr>
          <a:lstStyle/>
          <a:p>
            <a:pPr algn="ctr"/>
            <a:r>
              <a:rPr lang="en-US" sz="2400" i="1" u="sng" dirty="0">
                <a:solidFill>
                  <a:srgbClr val="000090"/>
                </a:solidFill>
              </a:rPr>
              <a:t>Q: </a:t>
            </a:r>
            <a:r>
              <a:rPr lang="en-US" sz="2400" dirty="0"/>
              <a:t>what if network operator wants to split  u-to-z traffic along </a:t>
            </a:r>
            <a:r>
              <a:rPr lang="en-US" sz="2400" dirty="0" err="1"/>
              <a:t>uvwz</a:t>
            </a:r>
            <a:r>
              <a:rPr lang="en-US" sz="2400" dirty="0"/>
              <a:t> </a:t>
            </a:r>
            <a:r>
              <a:rPr lang="en-US" sz="2400" i="1" dirty="0">
                <a:solidFill>
                  <a:srgbClr val="CC0000"/>
                </a:solidFill>
              </a:rPr>
              <a:t>and</a:t>
            </a:r>
            <a:r>
              <a:rPr lang="en-US" sz="2400" dirty="0"/>
              <a:t> </a:t>
            </a:r>
            <a:r>
              <a:rPr lang="en-US" sz="2400" dirty="0" err="1"/>
              <a:t>uxyz</a:t>
            </a:r>
            <a:r>
              <a:rPr lang="en-US" sz="2400" dirty="0"/>
              <a:t> (load balancing)?</a:t>
            </a:r>
          </a:p>
          <a:p>
            <a:pPr algn="ctr"/>
            <a:r>
              <a:rPr lang="en-US" sz="2400" i="1" u="sng" dirty="0">
                <a:solidFill>
                  <a:srgbClr val="000090"/>
                </a:solidFill>
              </a:rPr>
              <a:t>A: </a:t>
            </a:r>
            <a:r>
              <a:rPr lang="en-US" sz="2400" dirty="0"/>
              <a:t>can’t do it (or need a new routing algorithm)</a:t>
            </a:r>
          </a:p>
        </p:txBody>
      </p:sp>
      <p:sp>
        <p:nvSpPr>
          <p:cNvPr id="155" name="Slide Number Placeholder 5"/>
          <p:cNvSpPr>
            <a:spLocks noGrp="1"/>
          </p:cNvSpPr>
          <p:nvPr>
            <p:ph type="sldNum" sz="quarter" idx="12"/>
          </p:nvPr>
        </p:nvSpPr>
        <p:spPr>
          <a:xfrm>
            <a:off x="8456154" y="6475895"/>
            <a:ext cx="687845" cy="38210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93</a:t>
            </a:fld>
            <a:endParaRPr lang="en-US" sz="1200" dirty="0">
              <a:latin typeface="Tahoma" panose="020B0604030504040204" charset="0"/>
            </a:endParaRPr>
          </a:p>
        </p:txBody>
      </p:sp>
      <p:sp>
        <p:nvSpPr>
          <p:cNvPr id="156"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grpSp>
        <p:nvGrpSpPr>
          <p:cNvPr id="160" name="Group 159"/>
          <p:cNvGrpSpPr/>
          <p:nvPr/>
        </p:nvGrpSpPr>
        <p:grpSpPr>
          <a:xfrm>
            <a:off x="943464" y="1363093"/>
            <a:ext cx="6875191" cy="2404002"/>
            <a:chOff x="943464" y="1363093"/>
            <a:chExt cx="6875191" cy="2404002"/>
          </a:xfrm>
        </p:grpSpPr>
        <p:grpSp>
          <p:nvGrpSpPr>
            <p:cNvPr id="161" name="Group 1612"/>
            <p:cNvGrpSpPr/>
            <p:nvPr/>
          </p:nvGrpSpPr>
          <p:grpSpPr bwMode="auto">
            <a:xfrm flipH="1">
              <a:off x="943464" y="2441244"/>
              <a:ext cx="855053" cy="655887"/>
              <a:chOff x="2839" y="3501"/>
              <a:chExt cx="755" cy="803"/>
            </a:xfrm>
          </p:grpSpPr>
          <p:pic>
            <p:nvPicPr>
              <p:cNvPr id="303" name="Picture 1613"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p:spPr>
          </p:pic>
          <p:sp>
            <p:nvSpPr>
              <p:cNvPr id="304" name="Freeform 1614"/>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p:spPr>
            <p:txBody>
              <a:bodyPr wrap="none"/>
              <a:lstStyle/>
              <a:p>
                <a:endParaRPr lang="en-US"/>
              </a:p>
            </p:txBody>
          </p:sp>
        </p:grpSp>
        <p:sp>
          <p:nvSpPr>
            <p:cNvPr id="162" name="Freeform 3"/>
            <p:cNvSpPr/>
            <p:nvPr/>
          </p:nvSpPr>
          <p:spPr bwMode="auto">
            <a:xfrm>
              <a:off x="2059747" y="1363093"/>
              <a:ext cx="5142041" cy="2404002"/>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p:spPr>
          <p:txBody>
            <a:bodyPr wrap="none" anchor="ctr"/>
            <a:lstStyle/>
            <a:p>
              <a:endParaRPr lang="en-US"/>
            </a:p>
          </p:txBody>
        </p:sp>
        <p:sp>
          <p:nvSpPr>
            <p:cNvPr id="164" name="Freeform 4"/>
            <p:cNvSpPr/>
            <p:nvPr/>
          </p:nvSpPr>
          <p:spPr bwMode="auto">
            <a:xfrm>
              <a:off x="2834105" y="2267385"/>
              <a:ext cx="781590" cy="317349"/>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ln>
          </p:spPr>
          <p:txBody>
            <a:bodyPr wrap="none" anchor="ctr"/>
            <a:lstStyle/>
            <a:p>
              <a:endParaRPr lang="en-US"/>
            </a:p>
          </p:txBody>
        </p:sp>
        <p:sp>
          <p:nvSpPr>
            <p:cNvPr id="165" name="Freeform 35"/>
            <p:cNvSpPr/>
            <p:nvPr/>
          </p:nvSpPr>
          <p:spPr bwMode="auto">
            <a:xfrm>
              <a:off x="5254292" y="2313451"/>
              <a:ext cx="2285" cy="890624"/>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ln>
          </p:spPr>
          <p:txBody>
            <a:bodyPr wrap="none" anchor="ctr"/>
            <a:lstStyle/>
            <a:p>
              <a:endParaRPr lang="en-US"/>
            </a:p>
          </p:txBody>
        </p:sp>
        <p:sp>
          <p:nvSpPr>
            <p:cNvPr id="166" name="Freeform 36"/>
            <p:cNvSpPr/>
            <p:nvPr/>
          </p:nvSpPr>
          <p:spPr bwMode="auto">
            <a:xfrm>
              <a:off x="3670544" y="2323688"/>
              <a:ext cx="2285" cy="91621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ln>
          </p:spPr>
          <p:txBody>
            <a:bodyPr wrap="none" anchor="ctr"/>
            <a:lstStyle/>
            <a:p>
              <a:endParaRPr lang="en-US"/>
            </a:p>
          </p:txBody>
        </p:sp>
        <p:sp>
          <p:nvSpPr>
            <p:cNvPr id="167" name="Freeform 37"/>
            <p:cNvSpPr/>
            <p:nvPr/>
          </p:nvSpPr>
          <p:spPr bwMode="auto">
            <a:xfrm>
              <a:off x="4017205" y="2298095"/>
              <a:ext cx="1182239" cy="1038973"/>
            </a:xfrm>
            <a:custGeom>
              <a:avLst/>
              <a:gdLst>
                <a:gd name="T0" fmla="*/ 0 w 378"/>
                <a:gd name="T1" fmla="*/ 142610238 h 174"/>
                <a:gd name="T2" fmla="*/ 8951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ln>
          </p:spPr>
          <p:txBody>
            <a:bodyPr wrap="none" anchor="ctr"/>
            <a:lstStyle/>
            <a:p>
              <a:endParaRPr lang="en-US"/>
            </a:p>
          </p:txBody>
        </p:sp>
        <p:sp>
          <p:nvSpPr>
            <p:cNvPr id="168" name="Freeform 38"/>
            <p:cNvSpPr/>
            <p:nvPr/>
          </p:nvSpPr>
          <p:spPr bwMode="auto">
            <a:xfrm>
              <a:off x="5617663" y="2891845"/>
              <a:ext cx="836439" cy="460668"/>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ln>
          </p:spPr>
          <p:txBody>
            <a:bodyPr wrap="none" anchor="ctr"/>
            <a:lstStyle/>
            <a:p>
              <a:endParaRPr lang="en-US"/>
            </a:p>
          </p:txBody>
        </p:sp>
        <p:sp>
          <p:nvSpPr>
            <p:cNvPr id="169" name="Freeform 39"/>
            <p:cNvSpPr/>
            <p:nvPr/>
          </p:nvSpPr>
          <p:spPr bwMode="auto">
            <a:xfrm flipV="1">
              <a:off x="4022465" y="3327268"/>
              <a:ext cx="908330" cy="45719"/>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70" name="Freeform 40"/>
            <p:cNvSpPr/>
            <p:nvPr/>
          </p:nvSpPr>
          <p:spPr bwMode="auto">
            <a:xfrm>
              <a:off x="2710696" y="2820186"/>
              <a:ext cx="630757" cy="45043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ln>
          </p:spPr>
          <p:txBody>
            <a:bodyPr wrap="none" anchor="ctr"/>
            <a:lstStyle/>
            <a:p>
              <a:endParaRPr lang="en-US"/>
            </a:p>
          </p:txBody>
        </p:sp>
        <p:sp>
          <p:nvSpPr>
            <p:cNvPr id="171" name="Freeform 41"/>
            <p:cNvSpPr/>
            <p:nvPr/>
          </p:nvSpPr>
          <p:spPr bwMode="auto">
            <a:xfrm>
              <a:off x="4047627" y="2195725"/>
              <a:ext cx="836439" cy="1706"/>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72" name="Freeform 42"/>
            <p:cNvSpPr/>
            <p:nvPr/>
          </p:nvSpPr>
          <p:spPr bwMode="auto">
            <a:xfrm>
              <a:off x="5572253" y="2248471"/>
              <a:ext cx="922986" cy="397685"/>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ln>
          </p:spPr>
          <p:txBody>
            <a:bodyPr wrap="none" anchor="ctr"/>
            <a:lstStyle/>
            <a:p>
              <a:endParaRPr lang="en-US"/>
            </a:p>
          </p:txBody>
        </p:sp>
        <p:sp>
          <p:nvSpPr>
            <p:cNvPr id="173" name="Freeform 43"/>
            <p:cNvSpPr/>
            <p:nvPr/>
          </p:nvSpPr>
          <p:spPr bwMode="auto">
            <a:xfrm>
              <a:off x="2580431" y="1458657"/>
              <a:ext cx="2536740" cy="1100484"/>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ln>
          </p:spPr>
          <p:txBody>
            <a:bodyPr wrap="none" anchor="ctr"/>
            <a:lstStyle/>
            <a:p>
              <a:endParaRPr lang="en-US"/>
            </a:p>
          </p:txBody>
        </p:sp>
        <p:sp>
          <p:nvSpPr>
            <p:cNvPr id="174" name="Text Box 62"/>
            <p:cNvSpPr txBox="1">
              <a:spLocks noChangeArrowheads="1"/>
            </p:cNvSpPr>
            <p:nvPr/>
          </p:nvSpPr>
          <p:spPr bwMode="auto">
            <a:xfrm>
              <a:off x="2822678" y="2178663"/>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75" name="Text Box 63"/>
            <p:cNvSpPr txBox="1">
              <a:spLocks noChangeArrowheads="1"/>
            </p:cNvSpPr>
            <p:nvPr/>
          </p:nvSpPr>
          <p:spPr bwMode="auto">
            <a:xfrm>
              <a:off x="3617981" y="2552316"/>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76" name="Text Box 64"/>
            <p:cNvSpPr txBox="1">
              <a:spLocks noChangeArrowheads="1"/>
            </p:cNvSpPr>
            <p:nvPr/>
          </p:nvSpPr>
          <p:spPr bwMode="auto">
            <a:xfrm>
              <a:off x="2623853" y="2915732"/>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77" name="Text Box 65"/>
            <p:cNvSpPr txBox="1">
              <a:spLocks noChangeArrowheads="1"/>
            </p:cNvSpPr>
            <p:nvPr/>
          </p:nvSpPr>
          <p:spPr bwMode="auto">
            <a:xfrm>
              <a:off x="4495556" y="2710990"/>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78" name="Text Box 66"/>
            <p:cNvSpPr txBox="1">
              <a:spLocks noChangeArrowheads="1"/>
            </p:cNvSpPr>
            <p:nvPr/>
          </p:nvSpPr>
          <p:spPr bwMode="auto">
            <a:xfrm>
              <a:off x="4351579" y="3314977"/>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79" name="Text Box 67"/>
            <p:cNvSpPr txBox="1">
              <a:spLocks noChangeArrowheads="1"/>
            </p:cNvSpPr>
            <p:nvPr/>
          </p:nvSpPr>
          <p:spPr bwMode="auto">
            <a:xfrm>
              <a:off x="5174305" y="2583027"/>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80" name="Text Box 68"/>
            <p:cNvSpPr txBox="1">
              <a:spLocks noChangeArrowheads="1"/>
            </p:cNvSpPr>
            <p:nvPr/>
          </p:nvSpPr>
          <p:spPr bwMode="auto">
            <a:xfrm>
              <a:off x="5997032" y="3033458"/>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81" name="Text Box 69"/>
            <p:cNvSpPr txBox="1">
              <a:spLocks noChangeArrowheads="1"/>
            </p:cNvSpPr>
            <p:nvPr/>
          </p:nvSpPr>
          <p:spPr bwMode="auto">
            <a:xfrm>
              <a:off x="5935327" y="2117241"/>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sp>
          <p:nvSpPr>
            <p:cNvPr id="182" name="Text Box 70"/>
            <p:cNvSpPr txBox="1">
              <a:spLocks noChangeArrowheads="1"/>
            </p:cNvSpPr>
            <p:nvPr/>
          </p:nvSpPr>
          <p:spPr bwMode="auto">
            <a:xfrm>
              <a:off x="4255594" y="1861315"/>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83" name="Text Box 71"/>
            <p:cNvSpPr txBox="1">
              <a:spLocks noChangeArrowheads="1"/>
            </p:cNvSpPr>
            <p:nvPr/>
          </p:nvSpPr>
          <p:spPr bwMode="auto">
            <a:xfrm>
              <a:off x="3453435" y="1405766"/>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grpSp>
          <p:nvGrpSpPr>
            <p:cNvPr id="184" name="Group 1507"/>
            <p:cNvGrpSpPr/>
            <p:nvPr/>
          </p:nvGrpSpPr>
          <p:grpSpPr bwMode="auto">
            <a:xfrm>
              <a:off x="7391175" y="2426604"/>
              <a:ext cx="427480" cy="711995"/>
              <a:chOff x="4140" y="429"/>
              <a:chExt cx="1425" cy="2396"/>
            </a:xfrm>
          </p:grpSpPr>
          <p:sp>
            <p:nvSpPr>
              <p:cNvPr id="271" name="Freeform 1508"/>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272" name="Rectangle 1509"/>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273" name="Freeform 1510"/>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274" name="Freeform 1511"/>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275" name="Rectangle 1512"/>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276" name="Group 1513"/>
              <p:cNvGrpSpPr/>
              <p:nvPr/>
            </p:nvGrpSpPr>
            <p:grpSpPr bwMode="auto">
              <a:xfrm>
                <a:off x="4749" y="668"/>
                <a:ext cx="581" cy="145"/>
                <a:chOff x="614" y="2568"/>
                <a:chExt cx="725" cy="139"/>
              </a:xfrm>
            </p:grpSpPr>
            <p:sp>
              <p:nvSpPr>
                <p:cNvPr id="301" name="AutoShape 1514"/>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302" name="AutoShape 1515"/>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277" name="Rectangle 1516"/>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278" name="Group 1517"/>
              <p:cNvGrpSpPr/>
              <p:nvPr/>
            </p:nvGrpSpPr>
            <p:grpSpPr bwMode="auto">
              <a:xfrm>
                <a:off x="4747" y="994"/>
                <a:ext cx="581" cy="134"/>
                <a:chOff x="614" y="2568"/>
                <a:chExt cx="725" cy="139"/>
              </a:xfrm>
            </p:grpSpPr>
            <p:sp>
              <p:nvSpPr>
                <p:cNvPr id="299" name="AutoShape 1518"/>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300" name="AutoShape 1519"/>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279" name="Rectangle 1520"/>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280" name="Rectangle 1521"/>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281" name="Group 1522"/>
              <p:cNvGrpSpPr/>
              <p:nvPr/>
            </p:nvGrpSpPr>
            <p:grpSpPr bwMode="auto">
              <a:xfrm>
                <a:off x="4735" y="1627"/>
                <a:ext cx="582" cy="151"/>
                <a:chOff x="614" y="2568"/>
                <a:chExt cx="725" cy="139"/>
              </a:xfrm>
            </p:grpSpPr>
            <p:sp>
              <p:nvSpPr>
                <p:cNvPr id="297" name="AutoShape 1523"/>
                <p:cNvSpPr>
                  <a:spLocks noChangeArrowheads="1"/>
                </p:cNvSpPr>
                <p:nvPr/>
              </p:nvSpPr>
              <p:spPr bwMode="auto">
                <a:xfrm>
                  <a:off x="618" y="2579"/>
                  <a:ext cx="720" cy="131"/>
                </a:xfrm>
                <a:prstGeom prst="roundRect">
                  <a:avLst>
                    <a:gd name="adj" fmla="val 50000"/>
                  </a:avLst>
                </a:prstGeom>
                <a:solidFill>
                  <a:schemeClr val="tx1"/>
                </a:solidFill>
                <a:ln>
                  <a:noFill/>
                </a:ln>
              </p:spPr>
              <p:txBody>
                <a:bodyPr wrap="none" anchor="ctr"/>
                <a:lstStyle/>
                <a:p>
                  <a:endParaRPr lang="en-US"/>
                </a:p>
              </p:txBody>
            </p:sp>
            <p:sp>
              <p:nvSpPr>
                <p:cNvPr id="298" name="AutoShape 1524"/>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282" name="Freeform 1525"/>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283" name="Group 1526"/>
              <p:cNvGrpSpPr/>
              <p:nvPr/>
            </p:nvGrpSpPr>
            <p:grpSpPr bwMode="auto">
              <a:xfrm>
                <a:off x="4739" y="1327"/>
                <a:ext cx="582" cy="139"/>
                <a:chOff x="614" y="2568"/>
                <a:chExt cx="725" cy="139"/>
              </a:xfrm>
            </p:grpSpPr>
            <p:sp>
              <p:nvSpPr>
                <p:cNvPr id="295" name="AutoShape 1527"/>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296" name="AutoShape 1528"/>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284" name="Rectangle 1529"/>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285" name="Freeform 1530"/>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286" name="Freeform 1531"/>
              <p:cNvSpPr/>
              <p:nvPr/>
            </p:nvSpPr>
            <p:spPr bwMode="auto">
              <a:xfrm>
                <a:off x="5315" y="680"/>
                <a:ext cx="244" cy="240"/>
              </a:xfrm>
              <a:custGeom>
                <a:avLst/>
                <a:gdLst>
                  <a:gd name="T0" fmla="*/ 0 w 304"/>
                  <a:gd name="T1" fmla="*/ 0 h 288"/>
                  <a:gd name="T2" fmla="*/ 27 w 304"/>
                  <a:gd name="T3" fmla="*/ 23 h 288"/>
                  <a:gd name="T4" fmla="*/ 25 w 304"/>
                  <a:gd name="T5" fmla="*/ 40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287" name="Oval 1532"/>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288" name="Freeform 1533"/>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289" name="AutoShape 1534"/>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290" name="AutoShape 1535"/>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291" name="Oval 1536"/>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292" name="Oval 1537"/>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a:solidFill>
                    <a:srgbClr val="FF0000"/>
                  </a:solidFill>
                  <a:cs typeface="Arial" panose="020B0604020202090204" pitchFamily="34" charset="0"/>
                </a:endParaRPr>
              </a:p>
            </p:txBody>
          </p:sp>
          <p:sp>
            <p:nvSpPr>
              <p:cNvPr id="293" name="Oval 1538"/>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294" name="Rectangle 1539"/>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cxnSp>
          <p:nvCxnSpPr>
            <p:cNvPr id="185" name="Straight Connector 184"/>
            <p:cNvCxnSpPr/>
            <p:nvPr/>
          </p:nvCxnSpPr>
          <p:spPr bwMode="auto">
            <a:xfrm>
              <a:off x="1682405" y="2744686"/>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186" name="Straight Connector 185"/>
            <p:cNvCxnSpPr/>
            <p:nvPr/>
          </p:nvCxnSpPr>
          <p:spPr bwMode="auto">
            <a:xfrm>
              <a:off x="6895267" y="2779855"/>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nvGrpSpPr>
            <p:cNvPr id="187" name="Group 186"/>
            <p:cNvGrpSpPr/>
            <p:nvPr/>
          </p:nvGrpSpPr>
          <p:grpSpPr>
            <a:xfrm>
              <a:off x="3414626" y="1982945"/>
              <a:ext cx="687402" cy="571677"/>
              <a:chOff x="1736090" y="2893762"/>
              <a:chExt cx="565150" cy="413310"/>
            </a:xfrm>
          </p:grpSpPr>
          <p:grpSp>
            <p:nvGrpSpPr>
              <p:cNvPr id="258" name="Group 327"/>
              <p:cNvGrpSpPr/>
              <p:nvPr/>
            </p:nvGrpSpPr>
            <p:grpSpPr bwMode="auto">
              <a:xfrm>
                <a:off x="1736090" y="2893762"/>
                <a:ext cx="565150" cy="292100"/>
                <a:chOff x="1871277" y="1576300"/>
                <a:chExt cx="1128371" cy="437861"/>
              </a:xfrm>
            </p:grpSpPr>
            <p:sp>
              <p:nvSpPr>
                <p:cNvPr id="262" name="Oval 2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3" name="Rectangle 2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4" name="Oval 2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5" name="Freeform 2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6" name="Freeform 2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7" name="Freeform 2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8" name="Freeform 2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69" name="Straight Connector 268"/>
                <p:cNvCxnSpPr>
                  <a:endCxn id="2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70" name="Straight Connector 2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59" name="Group 258"/>
              <p:cNvGrpSpPr/>
              <p:nvPr/>
            </p:nvGrpSpPr>
            <p:grpSpPr>
              <a:xfrm>
                <a:off x="1844715" y="2907714"/>
                <a:ext cx="356365" cy="399358"/>
                <a:chOff x="741398" y="1743005"/>
                <a:chExt cx="356365" cy="399358"/>
              </a:xfrm>
            </p:grpSpPr>
            <p:sp>
              <p:nvSpPr>
                <p:cNvPr id="260" name="Oval 259"/>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1" name="TextBox 260"/>
                <p:cNvSpPr txBox="1"/>
                <p:nvPr/>
              </p:nvSpPr>
              <p:spPr>
                <a:xfrm>
                  <a:off x="783895" y="1743005"/>
                  <a:ext cx="288887" cy="399358"/>
                </a:xfrm>
                <a:prstGeom prst="rect">
                  <a:avLst/>
                </a:prstGeom>
                <a:noFill/>
              </p:spPr>
              <p:txBody>
                <a:bodyPr wrap="none" rtlCol="0">
                  <a:spAutoFit/>
                </a:bodyPr>
                <a:lstStyle/>
                <a:p>
                  <a:r>
                    <a:rPr lang="en-US" sz="2400" dirty="0"/>
                    <a:t>v</a:t>
                  </a:r>
                </a:p>
              </p:txBody>
            </p:sp>
          </p:grpSp>
        </p:grpSp>
        <p:grpSp>
          <p:nvGrpSpPr>
            <p:cNvPr id="188" name="Group 187"/>
            <p:cNvGrpSpPr/>
            <p:nvPr/>
          </p:nvGrpSpPr>
          <p:grpSpPr>
            <a:xfrm>
              <a:off x="4888811" y="1979830"/>
              <a:ext cx="687402" cy="480963"/>
              <a:chOff x="1736090" y="2893762"/>
              <a:chExt cx="565150" cy="347726"/>
            </a:xfrm>
          </p:grpSpPr>
          <p:grpSp>
            <p:nvGrpSpPr>
              <p:cNvPr id="245" name="Group 327"/>
              <p:cNvGrpSpPr/>
              <p:nvPr/>
            </p:nvGrpSpPr>
            <p:grpSpPr bwMode="auto">
              <a:xfrm>
                <a:off x="1736090" y="2893762"/>
                <a:ext cx="565150" cy="292100"/>
                <a:chOff x="1871277" y="1576300"/>
                <a:chExt cx="1128371" cy="437861"/>
              </a:xfrm>
            </p:grpSpPr>
            <p:sp>
              <p:nvSpPr>
                <p:cNvPr id="249" name="Oval 2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0" name="Rectangle 2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1" name="Oval 2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2" name="Freeform 2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3" name="Freeform 2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Freeform 2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5" name="Freeform 2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6" name="Straight Connector 255"/>
                <p:cNvCxnSpPr>
                  <a:endCxn id="2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57" name="Straight Connector 2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6" name="Group 245"/>
              <p:cNvGrpSpPr/>
              <p:nvPr/>
            </p:nvGrpSpPr>
            <p:grpSpPr>
              <a:xfrm>
                <a:off x="1844715" y="2907714"/>
                <a:ext cx="378664" cy="333774"/>
                <a:chOff x="741398" y="1743005"/>
                <a:chExt cx="378664" cy="333774"/>
              </a:xfrm>
            </p:grpSpPr>
            <p:sp>
              <p:nvSpPr>
                <p:cNvPr id="247" name="Oval 246"/>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48" name="TextBox 247"/>
                <p:cNvSpPr txBox="1"/>
                <p:nvPr/>
              </p:nvSpPr>
              <p:spPr>
                <a:xfrm>
                  <a:off x="767915" y="1743005"/>
                  <a:ext cx="352147" cy="333774"/>
                </a:xfrm>
                <a:prstGeom prst="rect">
                  <a:avLst/>
                </a:prstGeom>
                <a:noFill/>
              </p:spPr>
              <p:txBody>
                <a:bodyPr wrap="none" rtlCol="0">
                  <a:spAutoFit/>
                </a:bodyPr>
                <a:lstStyle/>
                <a:p>
                  <a:r>
                    <a:rPr lang="en-US" sz="2400" dirty="0"/>
                    <a:t>w</a:t>
                  </a:r>
                </a:p>
              </p:txBody>
            </p:sp>
          </p:grpSp>
        </p:grpSp>
        <p:grpSp>
          <p:nvGrpSpPr>
            <p:cNvPr id="189" name="Group 188"/>
            <p:cNvGrpSpPr/>
            <p:nvPr/>
          </p:nvGrpSpPr>
          <p:grpSpPr>
            <a:xfrm>
              <a:off x="2206359" y="2517647"/>
              <a:ext cx="687402" cy="480963"/>
              <a:chOff x="1736090" y="2893762"/>
              <a:chExt cx="565150" cy="347726"/>
            </a:xfrm>
          </p:grpSpPr>
          <p:grpSp>
            <p:nvGrpSpPr>
              <p:cNvPr id="232" name="Group 327"/>
              <p:cNvGrpSpPr/>
              <p:nvPr/>
            </p:nvGrpSpPr>
            <p:grpSpPr bwMode="auto">
              <a:xfrm>
                <a:off x="1736090" y="2893762"/>
                <a:ext cx="565150" cy="292100"/>
                <a:chOff x="1871277" y="1576300"/>
                <a:chExt cx="1128371" cy="437861"/>
              </a:xfrm>
            </p:grpSpPr>
            <p:sp>
              <p:nvSpPr>
                <p:cNvPr id="236" name="Oval 23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7" name="Rectangle 23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8" name="Oval 23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9" name="Freeform 23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0" name="Freeform 23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Freeform 24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2" name="Freeform 24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3" name="Straight Connector 242"/>
                <p:cNvCxnSpPr>
                  <a:endCxn id="23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4" name="Straight Connector 24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3" name="Group 232"/>
              <p:cNvGrpSpPr/>
              <p:nvPr/>
            </p:nvGrpSpPr>
            <p:grpSpPr>
              <a:xfrm>
                <a:off x="1844715" y="2907714"/>
                <a:ext cx="356365" cy="333774"/>
                <a:chOff x="741398" y="1743005"/>
                <a:chExt cx="356365" cy="333774"/>
              </a:xfrm>
            </p:grpSpPr>
            <p:sp>
              <p:nvSpPr>
                <p:cNvPr id="234" name="Oval 233"/>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5" name="TextBox 234"/>
                <p:cNvSpPr txBox="1"/>
                <p:nvPr/>
              </p:nvSpPr>
              <p:spPr>
                <a:xfrm>
                  <a:off x="783895" y="1743005"/>
                  <a:ext cx="292553" cy="333774"/>
                </a:xfrm>
                <a:prstGeom prst="rect">
                  <a:avLst/>
                </a:prstGeom>
                <a:noFill/>
              </p:spPr>
              <p:txBody>
                <a:bodyPr wrap="none" rtlCol="0">
                  <a:spAutoFit/>
                </a:bodyPr>
                <a:lstStyle/>
                <a:p>
                  <a:r>
                    <a:rPr lang="en-US" sz="2400" dirty="0"/>
                    <a:t>u</a:t>
                  </a:r>
                </a:p>
              </p:txBody>
            </p:sp>
          </p:grpSp>
        </p:grpSp>
        <p:grpSp>
          <p:nvGrpSpPr>
            <p:cNvPr id="190" name="Group 189"/>
            <p:cNvGrpSpPr/>
            <p:nvPr/>
          </p:nvGrpSpPr>
          <p:grpSpPr>
            <a:xfrm>
              <a:off x="6285253" y="2579331"/>
              <a:ext cx="687402" cy="480963"/>
              <a:chOff x="1736090" y="2893762"/>
              <a:chExt cx="565150" cy="347726"/>
            </a:xfrm>
          </p:grpSpPr>
          <p:grpSp>
            <p:nvGrpSpPr>
              <p:cNvPr id="219" name="Group 327"/>
              <p:cNvGrpSpPr/>
              <p:nvPr/>
            </p:nvGrpSpPr>
            <p:grpSpPr bwMode="auto">
              <a:xfrm>
                <a:off x="1736090" y="2893762"/>
                <a:ext cx="565150" cy="292100"/>
                <a:chOff x="1871277" y="1576300"/>
                <a:chExt cx="1128371" cy="437861"/>
              </a:xfrm>
            </p:grpSpPr>
            <p:sp>
              <p:nvSpPr>
                <p:cNvPr id="223" name="Oval 22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4" name="Rectangle 22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5" name="Oval 22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6" name="Freeform 22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7" name="Freeform 22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Freeform 22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9" name="Freeform 22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0" name="Straight Connector 229"/>
                <p:cNvCxnSpPr>
                  <a:endCxn id="22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1" name="Straight Connector 23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0" name="Group 219"/>
              <p:cNvGrpSpPr/>
              <p:nvPr/>
            </p:nvGrpSpPr>
            <p:grpSpPr>
              <a:xfrm>
                <a:off x="1844715" y="2907714"/>
                <a:ext cx="356365" cy="333774"/>
                <a:chOff x="741398" y="1743005"/>
                <a:chExt cx="356365" cy="333774"/>
              </a:xfrm>
            </p:grpSpPr>
            <p:sp>
              <p:nvSpPr>
                <p:cNvPr id="221" name="Oval 220"/>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2" name="TextBox 221"/>
                <p:cNvSpPr txBox="1"/>
                <p:nvPr/>
              </p:nvSpPr>
              <p:spPr>
                <a:xfrm>
                  <a:off x="783895" y="1743005"/>
                  <a:ext cx="278343" cy="333774"/>
                </a:xfrm>
                <a:prstGeom prst="rect">
                  <a:avLst/>
                </a:prstGeom>
                <a:noFill/>
              </p:spPr>
              <p:txBody>
                <a:bodyPr wrap="none" rtlCol="0">
                  <a:spAutoFit/>
                </a:bodyPr>
                <a:lstStyle/>
                <a:p>
                  <a:r>
                    <a:rPr lang="en-US" sz="2400" dirty="0"/>
                    <a:t>z</a:t>
                  </a:r>
                </a:p>
              </p:txBody>
            </p:sp>
          </p:grpSp>
        </p:grpSp>
        <p:grpSp>
          <p:nvGrpSpPr>
            <p:cNvPr id="191" name="Group 190"/>
            <p:cNvGrpSpPr/>
            <p:nvPr/>
          </p:nvGrpSpPr>
          <p:grpSpPr>
            <a:xfrm>
              <a:off x="4927962" y="3152913"/>
              <a:ext cx="687402" cy="480963"/>
              <a:chOff x="1736090" y="2893762"/>
              <a:chExt cx="565150" cy="347726"/>
            </a:xfrm>
          </p:grpSpPr>
          <p:grpSp>
            <p:nvGrpSpPr>
              <p:cNvPr id="206" name="Group 327"/>
              <p:cNvGrpSpPr/>
              <p:nvPr/>
            </p:nvGrpSpPr>
            <p:grpSpPr bwMode="auto">
              <a:xfrm>
                <a:off x="1736090" y="2893762"/>
                <a:ext cx="565150" cy="292100"/>
                <a:chOff x="1871277" y="1576300"/>
                <a:chExt cx="1128371" cy="437861"/>
              </a:xfrm>
            </p:grpSpPr>
            <p:sp>
              <p:nvSpPr>
                <p:cNvPr id="210" name="Oval 20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1" name="Rectangle 21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2" name="Oval 21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3" name="Freeform 21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4" name="Freeform 21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Freeform 21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6" name="Freeform 21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17" name="Straight Connector 216"/>
                <p:cNvCxnSpPr>
                  <a:endCxn id="21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18" name="Straight Connector 21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07" name="Group 206"/>
              <p:cNvGrpSpPr/>
              <p:nvPr/>
            </p:nvGrpSpPr>
            <p:grpSpPr>
              <a:xfrm>
                <a:off x="1844715" y="2907714"/>
                <a:ext cx="356365" cy="333774"/>
                <a:chOff x="741398" y="1743005"/>
                <a:chExt cx="356365" cy="333774"/>
              </a:xfrm>
            </p:grpSpPr>
            <p:sp>
              <p:nvSpPr>
                <p:cNvPr id="208" name="Oval 207"/>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09" name="TextBox 208"/>
                <p:cNvSpPr txBox="1"/>
                <p:nvPr/>
              </p:nvSpPr>
              <p:spPr>
                <a:xfrm>
                  <a:off x="783895" y="1743005"/>
                  <a:ext cx="278343" cy="333774"/>
                </a:xfrm>
                <a:prstGeom prst="rect">
                  <a:avLst/>
                </a:prstGeom>
                <a:noFill/>
              </p:spPr>
              <p:txBody>
                <a:bodyPr wrap="none" rtlCol="0">
                  <a:spAutoFit/>
                </a:bodyPr>
                <a:lstStyle/>
                <a:p>
                  <a:r>
                    <a:rPr lang="en-US" sz="2400" dirty="0"/>
                    <a:t>y</a:t>
                  </a:r>
                </a:p>
              </p:txBody>
            </p:sp>
          </p:grpSp>
        </p:grpSp>
        <p:grpSp>
          <p:nvGrpSpPr>
            <p:cNvPr id="192" name="Group 191"/>
            <p:cNvGrpSpPr/>
            <p:nvPr/>
          </p:nvGrpSpPr>
          <p:grpSpPr>
            <a:xfrm>
              <a:off x="3337414" y="3136841"/>
              <a:ext cx="687402" cy="480963"/>
              <a:chOff x="1736090" y="2893762"/>
              <a:chExt cx="565150" cy="347726"/>
            </a:xfrm>
          </p:grpSpPr>
          <p:grpSp>
            <p:nvGrpSpPr>
              <p:cNvPr id="193" name="Group 327"/>
              <p:cNvGrpSpPr/>
              <p:nvPr/>
            </p:nvGrpSpPr>
            <p:grpSpPr bwMode="auto">
              <a:xfrm>
                <a:off x="1736090" y="2893762"/>
                <a:ext cx="565150" cy="292100"/>
                <a:chOff x="1871277" y="1576300"/>
                <a:chExt cx="1128371" cy="437861"/>
              </a:xfrm>
            </p:grpSpPr>
            <p:sp>
              <p:nvSpPr>
                <p:cNvPr id="197" name="Oval 19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8" name="Rectangle 19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9" name="Oval 19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0" name="Freeform 19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1" name="Freeform 20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2" name="Freeform 20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3" name="Freeform 20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04" name="Straight Connector 203"/>
                <p:cNvCxnSpPr>
                  <a:endCxn id="19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5" name="Straight Connector 20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4" name="Group 193"/>
              <p:cNvGrpSpPr/>
              <p:nvPr/>
            </p:nvGrpSpPr>
            <p:grpSpPr>
              <a:xfrm>
                <a:off x="1844715" y="2907714"/>
                <a:ext cx="356365" cy="333774"/>
                <a:chOff x="741398" y="1743005"/>
                <a:chExt cx="356365" cy="333774"/>
              </a:xfrm>
            </p:grpSpPr>
            <p:sp>
              <p:nvSpPr>
                <p:cNvPr id="195" name="Oval 194"/>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6" name="TextBox 195"/>
                <p:cNvSpPr txBox="1"/>
                <p:nvPr/>
              </p:nvSpPr>
              <p:spPr>
                <a:xfrm>
                  <a:off x="783895" y="1743005"/>
                  <a:ext cx="278343" cy="333774"/>
                </a:xfrm>
                <a:prstGeom prst="rect">
                  <a:avLst/>
                </a:prstGeom>
                <a:noFill/>
              </p:spPr>
              <p:txBody>
                <a:bodyPr wrap="none" rtlCol="0">
                  <a:spAutoFit/>
                </a:bodyPr>
                <a:lstStyle/>
                <a:p>
                  <a:r>
                    <a:rPr lang="en-US" sz="2400" dirty="0"/>
                    <a:t>x</a:t>
                  </a:r>
                </a:p>
              </p:txBody>
            </p:sp>
          </p:grpSp>
        </p:grpSp>
      </p:grpSp>
      <p:grpSp>
        <p:nvGrpSpPr>
          <p:cNvPr id="157" name="Group 156"/>
          <p:cNvGrpSpPr/>
          <p:nvPr/>
        </p:nvGrpSpPr>
        <p:grpSpPr>
          <a:xfrm>
            <a:off x="1824193" y="2137617"/>
            <a:ext cx="1838752" cy="1207922"/>
            <a:chOff x="1800839" y="2199110"/>
            <a:chExt cx="1838752" cy="1207922"/>
          </a:xfrm>
        </p:grpSpPr>
        <p:sp>
          <p:nvSpPr>
            <p:cNvPr id="158" name="Freeform 157"/>
            <p:cNvSpPr/>
            <p:nvPr/>
          </p:nvSpPr>
          <p:spPr>
            <a:xfrm>
              <a:off x="1800839" y="2199110"/>
              <a:ext cx="1838752" cy="549777"/>
            </a:xfrm>
            <a:custGeom>
              <a:avLst/>
              <a:gdLst>
                <a:gd name="connsiteX0" fmla="*/ 0 w 1876665"/>
                <a:gd name="connsiteY0" fmla="*/ 739356 h 739356"/>
                <a:gd name="connsiteX1" fmla="*/ 985723 w 1876665"/>
                <a:gd name="connsiteY1" fmla="*/ 720399 h 739356"/>
                <a:gd name="connsiteX2" fmla="*/ 1876665 w 1876665"/>
                <a:gd name="connsiteY2" fmla="*/ 0 h 739356"/>
                <a:gd name="connsiteX0-1" fmla="*/ 0 w 1876665"/>
                <a:gd name="connsiteY0-2" fmla="*/ 739356 h 739356"/>
                <a:gd name="connsiteX1-3" fmla="*/ 818495 w 1876665"/>
                <a:gd name="connsiteY1-4" fmla="*/ 720399 h 739356"/>
                <a:gd name="connsiteX2-5" fmla="*/ 1876665 w 1876665"/>
                <a:gd name="connsiteY2-6" fmla="*/ 0 h 739356"/>
                <a:gd name="connsiteX0-7" fmla="*/ 0 w 1802341"/>
                <a:gd name="connsiteY0-8" fmla="*/ 630627 h 630627"/>
                <a:gd name="connsiteX1-9" fmla="*/ 818495 w 1802341"/>
                <a:gd name="connsiteY1-10" fmla="*/ 611670 h 630627"/>
                <a:gd name="connsiteX2-11" fmla="*/ 1802341 w 1802341"/>
                <a:gd name="connsiteY2-12" fmla="*/ 0 h 630627"/>
              </a:gdLst>
              <a:ahLst/>
              <a:cxnLst>
                <a:cxn ang="0">
                  <a:pos x="connsiteX0-1" y="connsiteY0-2"/>
                </a:cxn>
                <a:cxn ang="0">
                  <a:pos x="connsiteX1-3" y="connsiteY1-4"/>
                </a:cxn>
                <a:cxn ang="0">
                  <a:pos x="connsiteX2-5" y="connsiteY2-6"/>
                </a:cxn>
              </a:cxnLst>
              <a:rect l="l" t="t" r="r" b="b"/>
              <a:pathLst>
                <a:path w="1802341" h="630627">
                  <a:moveTo>
                    <a:pt x="0" y="630627"/>
                  </a:moveTo>
                  <a:lnTo>
                    <a:pt x="818495" y="611670"/>
                  </a:lnTo>
                  <a:lnTo>
                    <a:pt x="1802341" y="0"/>
                  </a:lnTo>
                </a:path>
              </a:pathLst>
            </a:custGeom>
            <a:ln w="50800" cmpd="sng">
              <a:solidFill>
                <a:srgbClr val="CC0000"/>
              </a:solidFill>
              <a:tailEnd type="triangle"/>
            </a:ln>
          </p:spPr>
          <p:txBody>
            <a:bodyPr rtlCol="0" anchor="ctr"/>
            <a:lstStyle/>
            <a:p>
              <a:pPr algn="ctr"/>
              <a:endParaRPr lang="en-US"/>
            </a:p>
          </p:txBody>
        </p:sp>
        <p:sp>
          <p:nvSpPr>
            <p:cNvPr id="159" name="Freeform 158"/>
            <p:cNvSpPr/>
            <p:nvPr/>
          </p:nvSpPr>
          <p:spPr>
            <a:xfrm flipV="1">
              <a:off x="1801588" y="2749626"/>
              <a:ext cx="1741891" cy="657406"/>
            </a:xfrm>
            <a:custGeom>
              <a:avLst/>
              <a:gdLst>
                <a:gd name="connsiteX0" fmla="*/ 0 w 1876665"/>
                <a:gd name="connsiteY0" fmla="*/ 739356 h 739356"/>
                <a:gd name="connsiteX1" fmla="*/ 985723 w 1876665"/>
                <a:gd name="connsiteY1" fmla="*/ 720399 h 739356"/>
                <a:gd name="connsiteX2" fmla="*/ 1876665 w 1876665"/>
                <a:gd name="connsiteY2" fmla="*/ 0 h 739356"/>
                <a:gd name="connsiteX0-1" fmla="*/ 0 w 1876665"/>
                <a:gd name="connsiteY0-2" fmla="*/ 739356 h 739356"/>
                <a:gd name="connsiteX1-3" fmla="*/ 818495 w 1876665"/>
                <a:gd name="connsiteY1-4" fmla="*/ 720399 h 739356"/>
                <a:gd name="connsiteX2-5" fmla="*/ 1876665 w 1876665"/>
                <a:gd name="connsiteY2-6" fmla="*/ 0 h 739356"/>
                <a:gd name="connsiteX0-7" fmla="*/ 0 w 1802341"/>
                <a:gd name="connsiteY0-8" fmla="*/ 630627 h 630627"/>
                <a:gd name="connsiteX1-9" fmla="*/ 818495 w 1802341"/>
                <a:gd name="connsiteY1-10" fmla="*/ 611670 h 630627"/>
                <a:gd name="connsiteX2-11" fmla="*/ 1802341 w 1802341"/>
                <a:gd name="connsiteY2-12" fmla="*/ 0 h 630627"/>
                <a:gd name="connsiteX0-13" fmla="*/ 0 w 1707398"/>
                <a:gd name="connsiteY0-14" fmla="*/ 754084 h 754084"/>
                <a:gd name="connsiteX1-15" fmla="*/ 818495 w 1707398"/>
                <a:gd name="connsiteY1-16" fmla="*/ 735127 h 754084"/>
                <a:gd name="connsiteX2-17" fmla="*/ 1707398 w 1707398"/>
                <a:gd name="connsiteY2-18" fmla="*/ 0 h 754084"/>
              </a:gdLst>
              <a:ahLst/>
              <a:cxnLst>
                <a:cxn ang="0">
                  <a:pos x="connsiteX0-1" y="connsiteY0-2"/>
                </a:cxn>
                <a:cxn ang="0">
                  <a:pos x="connsiteX1-3" y="connsiteY1-4"/>
                </a:cxn>
                <a:cxn ang="0">
                  <a:pos x="connsiteX2-5" y="connsiteY2-6"/>
                </a:cxn>
              </a:cxnLst>
              <a:rect l="l" t="t" r="r" b="b"/>
              <a:pathLst>
                <a:path w="1707398" h="754084">
                  <a:moveTo>
                    <a:pt x="0" y="754084"/>
                  </a:moveTo>
                  <a:lnTo>
                    <a:pt x="818495" y="735127"/>
                  </a:lnTo>
                  <a:lnTo>
                    <a:pt x="1707398" y="0"/>
                  </a:lnTo>
                </a:path>
              </a:pathLst>
            </a:custGeom>
            <a:ln w="50800" cmpd="sng">
              <a:solidFill>
                <a:srgbClr val="CC0000"/>
              </a:solidFill>
              <a:tailEnd type="triangle"/>
            </a:ln>
          </p:spPr>
          <p:txBody>
            <a:bodyPr rtlCol="0" anchor="ctr"/>
            <a:lstStyle/>
            <a:p>
              <a:pPr algn="ctr"/>
              <a:endParaRPr lang="en-US"/>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animEffect transition="in" filter="dissolve">
                                      <p:cBhvr>
                                        <p:cTn id="7" dur="500"/>
                                        <p:tgtEl>
                                          <p:spTgt spid="1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
                                            <p:txEl>
                                              <p:pRg st="1" end="1"/>
                                            </p:txEl>
                                          </p:spTgt>
                                        </p:tgtEl>
                                        <p:attrNameLst>
                                          <p:attrName>style.visibility</p:attrName>
                                        </p:attrNameLst>
                                      </p:cBhvr>
                                      <p:to>
                                        <p:strVal val="visible"/>
                                      </p:to>
                                    </p:set>
                                    <p:animEffect transition="in" filter="dissolve">
                                      <p:cBhvr>
                                        <p:cTn id="12" dur="500"/>
                                        <p:tgtEl>
                                          <p:spTgt spid="15">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57"/>
                                        </p:tgtEl>
                                        <p:attrNameLst>
                                          <p:attrName>style.visibility</p:attrName>
                                        </p:attrNameLst>
                                      </p:cBhvr>
                                      <p:to>
                                        <p:strVal val="visible"/>
                                      </p:to>
                                    </p:set>
                                    <p:animEffect transition="in" filter="dissolve">
                                      <p:cBhvr>
                                        <p:cTn id="15" dur="5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8" name="Group 1612"/>
          <p:cNvGrpSpPr/>
          <p:nvPr/>
        </p:nvGrpSpPr>
        <p:grpSpPr bwMode="auto">
          <a:xfrm flipH="1">
            <a:off x="943464" y="2441244"/>
            <a:ext cx="855053" cy="655887"/>
            <a:chOff x="2839" y="3501"/>
            <a:chExt cx="755" cy="803"/>
          </a:xfrm>
        </p:grpSpPr>
        <p:pic>
          <p:nvPicPr>
            <p:cNvPr id="119" name="Picture 1613"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p:spPr>
        </p:pic>
        <p:sp>
          <p:nvSpPr>
            <p:cNvPr id="120" name="Freeform 1614"/>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p:spPr>
          <p:txBody>
            <a:bodyPr wrap="none"/>
            <a:lstStyle/>
            <a:p>
              <a:endParaRPr lang="en-US"/>
            </a:p>
          </p:txBody>
        </p:sp>
      </p:grpSp>
      <p:pic>
        <p:nvPicPr>
          <p:cNvPr id="120835" name="Picture 75" descr="underline_bas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8487" y="847725"/>
            <a:ext cx="6263659" cy="194956"/>
          </a:xfrm>
          <a:prstGeom prst="rect">
            <a:avLst/>
          </a:prstGeom>
          <a:noFill/>
          <a:ln>
            <a:noFill/>
          </a:ln>
        </p:spPr>
      </p:pic>
      <p:sp>
        <p:nvSpPr>
          <p:cNvPr id="120840" name="Freeform 3"/>
          <p:cNvSpPr/>
          <p:nvPr/>
        </p:nvSpPr>
        <p:spPr bwMode="auto">
          <a:xfrm>
            <a:off x="2066227" y="1330694"/>
            <a:ext cx="5142041" cy="2404002"/>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p:spPr>
        <p:txBody>
          <a:bodyPr wrap="none" anchor="ctr"/>
          <a:lstStyle/>
          <a:p>
            <a:endParaRPr lang="en-US"/>
          </a:p>
        </p:txBody>
      </p:sp>
      <p:sp>
        <p:nvSpPr>
          <p:cNvPr id="120841" name="Freeform 4"/>
          <p:cNvSpPr/>
          <p:nvPr/>
        </p:nvSpPr>
        <p:spPr bwMode="auto">
          <a:xfrm>
            <a:off x="2834105" y="2267385"/>
            <a:ext cx="781590" cy="317349"/>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ln>
        </p:spPr>
        <p:txBody>
          <a:bodyPr wrap="none" anchor="ctr"/>
          <a:lstStyle/>
          <a:p>
            <a:endParaRPr lang="en-US"/>
          </a:p>
        </p:txBody>
      </p:sp>
      <p:sp>
        <p:nvSpPr>
          <p:cNvPr id="120847" name="Oval 10"/>
          <p:cNvSpPr>
            <a:spLocks noChangeArrowheads="1"/>
          </p:cNvSpPr>
          <p:nvPr/>
        </p:nvSpPr>
        <p:spPr bwMode="auto">
          <a:xfrm>
            <a:off x="3323170" y="3340569"/>
            <a:ext cx="715315" cy="138200"/>
          </a:xfrm>
          <a:prstGeom prst="ellipse">
            <a:avLst/>
          </a:prstGeom>
          <a:solidFill>
            <a:schemeClr val="hlink"/>
          </a:solidFill>
          <a:ln w="12700">
            <a:solidFill>
              <a:schemeClr val="tx1"/>
            </a:solidFill>
            <a:round/>
          </a:ln>
        </p:spPr>
        <p:txBody>
          <a:bodyPr wrap="none" anchor="ctr"/>
          <a:lstStyle/>
          <a:p>
            <a:endParaRPr lang="en-US"/>
          </a:p>
        </p:txBody>
      </p:sp>
      <p:sp>
        <p:nvSpPr>
          <p:cNvPr id="120848" name="Line 11"/>
          <p:cNvSpPr>
            <a:spLocks noChangeShapeType="1"/>
          </p:cNvSpPr>
          <p:nvPr/>
        </p:nvSpPr>
        <p:spPr bwMode="auto">
          <a:xfrm>
            <a:off x="3323170" y="3328626"/>
            <a:ext cx="0" cy="85309"/>
          </a:xfrm>
          <a:prstGeom prst="line">
            <a:avLst/>
          </a:prstGeom>
          <a:noFill/>
          <a:ln w="12700">
            <a:solidFill>
              <a:schemeClr val="tx1"/>
            </a:solidFill>
            <a:round/>
          </a:ln>
        </p:spPr>
        <p:txBody>
          <a:bodyPr wrap="none" anchor="ctr"/>
          <a:lstStyle/>
          <a:p>
            <a:endParaRPr lang="en-US"/>
          </a:p>
        </p:txBody>
      </p:sp>
      <p:sp>
        <p:nvSpPr>
          <p:cNvPr id="120849" name="Line 12"/>
          <p:cNvSpPr>
            <a:spLocks noChangeShapeType="1"/>
          </p:cNvSpPr>
          <p:nvPr/>
        </p:nvSpPr>
        <p:spPr bwMode="auto">
          <a:xfrm>
            <a:off x="4038485" y="3328626"/>
            <a:ext cx="0" cy="85309"/>
          </a:xfrm>
          <a:prstGeom prst="line">
            <a:avLst/>
          </a:prstGeom>
          <a:noFill/>
          <a:ln w="12700">
            <a:solidFill>
              <a:schemeClr val="tx1"/>
            </a:solidFill>
            <a:round/>
          </a:ln>
        </p:spPr>
        <p:txBody>
          <a:bodyPr wrap="none" anchor="ctr"/>
          <a:lstStyle/>
          <a:p>
            <a:endParaRPr lang="en-US"/>
          </a:p>
        </p:txBody>
      </p:sp>
      <p:sp>
        <p:nvSpPr>
          <p:cNvPr id="120850" name="Rectangle 13"/>
          <p:cNvSpPr>
            <a:spLocks noChangeArrowheads="1"/>
          </p:cNvSpPr>
          <p:nvPr/>
        </p:nvSpPr>
        <p:spPr bwMode="auto">
          <a:xfrm>
            <a:off x="3323170" y="3328626"/>
            <a:ext cx="708459" cy="83603"/>
          </a:xfrm>
          <a:prstGeom prst="rect">
            <a:avLst/>
          </a:prstGeom>
          <a:solidFill>
            <a:schemeClr val="hlink"/>
          </a:solidFill>
          <a:ln>
            <a:noFill/>
          </a:ln>
        </p:spPr>
        <p:txBody>
          <a:bodyPr wrap="none" anchor="ctr"/>
          <a:lstStyle/>
          <a:p>
            <a:pPr algn="ctr"/>
            <a:endParaRPr lang="en-US" sz="2400"/>
          </a:p>
        </p:txBody>
      </p:sp>
      <p:sp>
        <p:nvSpPr>
          <p:cNvPr id="120851" name="Oval 14"/>
          <p:cNvSpPr>
            <a:spLocks noChangeArrowheads="1"/>
          </p:cNvSpPr>
          <p:nvPr/>
        </p:nvSpPr>
        <p:spPr bwMode="auto">
          <a:xfrm>
            <a:off x="3316314" y="3227962"/>
            <a:ext cx="715315" cy="162087"/>
          </a:xfrm>
          <a:prstGeom prst="ellipse">
            <a:avLst/>
          </a:prstGeom>
          <a:solidFill>
            <a:schemeClr val="hlink"/>
          </a:solidFill>
          <a:ln w="12700">
            <a:solidFill>
              <a:schemeClr val="tx1"/>
            </a:solidFill>
            <a:round/>
          </a:ln>
        </p:spPr>
        <p:txBody>
          <a:bodyPr wrap="none" anchor="ctr"/>
          <a:lstStyle/>
          <a:p>
            <a:endParaRPr lang="en-US"/>
          </a:p>
        </p:txBody>
      </p:sp>
      <p:sp>
        <p:nvSpPr>
          <p:cNvPr id="120852" name="Oval 15"/>
          <p:cNvSpPr>
            <a:spLocks noChangeArrowheads="1"/>
          </p:cNvSpPr>
          <p:nvPr/>
        </p:nvSpPr>
        <p:spPr bwMode="auto">
          <a:xfrm>
            <a:off x="3314029" y="2163308"/>
            <a:ext cx="715315" cy="138200"/>
          </a:xfrm>
          <a:prstGeom prst="ellipse">
            <a:avLst/>
          </a:prstGeom>
          <a:solidFill>
            <a:schemeClr val="hlink"/>
          </a:solidFill>
          <a:ln w="12700">
            <a:solidFill>
              <a:schemeClr val="tx1"/>
            </a:solidFill>
            <a:round/>
          </a:ln>
        </p:spPr>
        <p:txBody>
          <a:bodyPr wrap="none" anchor="ctr"/>
          <a:lstStyle/>
          <a:p>
            <a:endParaRPr lang="en-US"/>
          </a:p>
        </p:txBody>
      </p:sp>
      <p:sp>
        <p:nvSpPr>
          <p:cNvPr id="120853" name="Line 16"/>
          <p:cNvSpPr>
            <a:spLocks noChangeShapeType="1"/>
          </p:cNvSpPr>
          <p:nvPr/>
        </p:nvSpPr>
        <p:spPr bwMode="auto">
          <a:xfrm>
            <a:off x="3314029" y="2151365"/>
            <a:ext cx="0" cy="85309"/>
          </a:xfrm>
          <a:prstGeom prst="line">
            <a:avLst/>
          </a:prstGeom>
          <a:noFill/>
          <a:ln w="12700">
            <a:solidFill>
              <a:schemeClr val="tx1"/>
            </a:solidFill>
            <a:round/>
          </a:ln>
        </p:spPr>
        <p:txBody>
          <a:bodyPr wrap="none" anchor="ctr"/>
          <a:lstStyle/>
          <a:p>
            <a:endParaRPr lang="en-US"/>
          </a:p>
        </p:txBody>
      </p:sp>
      <p:sp>
        <p:nvSpPr>
          <p:cNvPr id="120854" name="Line 17"/>
          <p:cNvSpPr>
            <a:spLocks noChangeShapeType="1"/>
          </p:cNvSpPr>
          <p:nvPr/>
        </p:nvSpPr>
        <p:spPr bwMode="auto">
          <a:xfrm>
            <a:off x="4029344" y="2151365"/>
            <a:ext cx="0" cy="85309"/>
          </a:xfrm>
          <a:prstGeom prst="line">
            <a:avLst/>
          </a:prstGeom>
          <a:noFill/>
          <a:ln w="12700">
            <a:solidFill>
              <a:schemeClr val="tx1"/>
            </a:solidFill>
            <a:round/>
          </a:ln>
        </p:spPr>
        <p:txBody>
          <a:bodyPr wrap="none" anchor="ctr"/>
          <a:lstStyle/>
          <a:p>
            <a:endParaRPr lang="en-US"/>
          </a:p>
        </p:txBody>
      </p:sp>
      <p:sp>
        <p:nvSpPr>
          <p:cNvPr id="120855" name="Rectangle 18"/>
          <p:cNvSpPr>
            <a:spLocks noChangeArrowheads="1"/>
          </p:cNvSpPr>
          <p:nvPr/>
        </p:nvSpPr>
        <p:spPr bwMode="auto">
          <a:xfrm>
            <a:off x="3314029" y="2151365"/>
            <a:ext cx="708459" cy="83603"/>
          </a:xfrm>
          <a:prstGeom prst="rect">
            <a:avLst/>
          </a:prstGeom>
          <a:solidFill>
            <a:schemeClr val="hlink"/>
          </a:solidFill>
          <a:ln>
            <a:noFill/>
          </a:ln>
        </p:spPr>
        <p:txBody>
          <a:bodyPr wrap="none" anchor="ctr"/>
          <a:lstStyle/>
          <a:p>
            <a:pPr algn="ctr"/>
            <a:endParaRPr lang="en-US" sz="2400"/>
          </a:p>
        </p:txBody>
      </p:sp>
      <p:sp>
        <p:nvSpPr>
          <p:cNvPr id="120856" name="Oval 19"/>
          <p:cNvSpPr>
            <a:spLocks noChangeArrowheads="1"/>
          </p:cNvSpPr>
          <p:nvPr/>
        </p:nvSpPr>
        <p:spPr bwMode="auto">
          <a:xfrm>
            <a:off x="3307173" y="2050700"/>
            <a:ext cx="715315" cy="162087"/>
          </a:xfrm>
          <a:prstGeom prst="ellipse">
            <a:avLst/>
          </a:prstGeom>
          <a:solidFill>
            <a:schemeClr val="hlink"/>
          </a:solidFill>
          <a:ln w="12700">
            <a:solidFill>
              <a:schemeClr val="tx1"/>
            </a:solidFill>
            <a:round/>
          </a:ln>
        </p:spPr>
        <p:txBody>
          <a:bodyPr wrap="none" anchor="ctr"/>
          <a:lstStyle/>
          <a:p>
            <a:endParaRPr lang="en-US"/>
          </a:p>
        </p:txBody>
      </p:sp>
      <p:sp>
        <p:nvSpPr>
          <p:cNvPr id="120857" name="Oval 20"/>
          <p:cNvSpPr>
            <a:spLocks noChangeArrowheads="1"/>
          </p:cNvSpPr>
          <p:nvPr/>
        </p:nvSpPr>
        <p:spPr bwMode="auto">
          <a:xfrm>
            <a:off x="4874924" y="2156483"/>
            <a:ext cx="713030" cy="138200"/>
          </a:xfrm>
          <a:prstGeom prst="ellipse">
            <a:avLst/>
          </a:prstGeom>
          <a:solidFill>
            <a:schemeClr val="hlink"/>
          </a:solidFill>
          <a:ln w="12700">
            <a:solidFill>
              <a:schemeClr val="tx1"/>
            </a:solidFill>
            <a:round/>
          </a:ln>
        </p:spPr>
        <p:txBody>
          <a:bodyPr wrap="none" anchor="ctr"/>
          <a:lstStyle/>
          <a:p>
            <a:endParaRPr lang="en-US"/>
          </a:p>
        </p:txBody>
      </p:sp>
      <p:sp>
        <p:nvSpPr>
          <p:cNvPr id="120858" name="Line 21"/>
          <p:cNvSpPr>
            <a:spLocks noChangeShapeType="1"/>
          </p:cNvSpPr>
          <p:nvPr/>
        </p:nvSpPr>
        <p:spPr bwMode="auto">
          <a:xfrm>
            <a:off x="4874924" y="2144540"/>
            <a:ext cx="0" cy="85309"/>
          </a:xfrm>
          <a:prstGeom prst="line">
            <a:avLst/>
          </a:prstGeom>
          <a:noFill/>
          <a:ln w="12700">
            <a:solidFill>
              <a:schemeClr val="tx1"/>
            </a:solidFill>
            <a:round/>
          </a:ln>
        </p:spPr>
        <p:txBody>
          <a:bodyPr wrap="none" anchor="ctr"/>
          <a:lstStyle/>
          <a:p>
            <a:endParaRPr lang="en-US"/>
          </a:p>
        </p:txBody>
      </p:sp>
      <p:sp>
        <p:nvSpPr>
          <p:cNvPr id="120859" name="Line 22"/>
          <p:cNvSpPr>
            <a:spLocks noChangeShapeType="1"/>
          </p:cNvSpPr>
          <p:nvPr/>
        </p:nvSpPr>
        <p:spPr bwMode="auto">
          <a:xfrm>
            <a:off x="5587954" y="2144540"/>
            <a:ext cx="0" cy="85309"/>
          </a:xfrm>
          <a:prstGeom prst="line">
            <a:avLst/>
          </a:prstGeom>
          <a:noFill/>
          <a:ln w="12700">
            <a:solidFill>
              <a:schemeClr val="tx1"/>
            </a:solidFill>
            <a:round/>
          </a:ln>
        </p:spPr>
        <p:txBody>
          <a:bodyPr wrap="none" anchor="ctr"/>
          <a:lstStyle/>
          <a:p>
            <a:endParaRPr lang="en-US"/>
          </a:p>
        </p:txBody>
      </p:sp>
      <p:sp>
        <p:nvSpPr>
          <p:cNvPr id="120860" name="Rectangle 23"/>
          <p:cNvSpPr>
            <a:spLocks noChangeArrowheads="1"/>
          </p:cNvSpPr>
          <p:nvPr/>
        </p:nvSpPr>
        <p:spPr bwMode="auto">
          <a:xfrm>
            <a:off x="4874924" y="2144540"/>
            <a:ext cx="706174" cy="83603"/>
          </a:xfrm>
          <a:prstGeom prst="rect">
            <a:avLst/>
          </a:prstGeom>
          <a:solidFill>
            <a:schemeClr val="hlink"/>
          </a:solidFill>
          <a:ln>
            <a:noFill/>
          </a:ln>
        </p:spPr>
        <p:txBody>
          <a:bodyPr wrap="none" anchor="ctr"/>
          <a:lstStyle/>
          <a:p>
            <a:pPr algn="ctr"/>
            <a:endParaRPr lang="en-US" sz="2400"/>
          </a:p>
        </p:txBody>
      </p:sp>
      <p:sp>
        <p:nvSpPr>
          <p:cNvPr id="120861" name="Oval 24"/>
          <p:cNvSpPr>
            <a:spLocks noChangeArrowheads="1"/>
          </p:cNvSpPr>
          <p:nvPr/>
        </p:nvSpPr>
        <p:spPr bwMode="auto">
          <a:xfrm>
            <a:off x="4881780" y="2048994"/>
            <a:ext cx="713030" cy="162087"/>
          </a:xfrm>
          <a:prstGeom prst="ellipse">
            <a:avLst/>
          </a:prstGeom>
          <a:solidFill>
            <a:schemeClr val="hlink"/>
          </a:solidFill>
          <a:ln w="12700">
            <a:solidFill>
              <a:schemeClr val="tx1"/>
            </a:solidFill>
            <a:round/>
          </a:ln>
        </p:spPr>
        <p:txBody>
          <a:bodyPr wrap="none" anchor="ctr"/>
          <a:lstStyle/>
          <a:p>
            <a:endParaRPr lang="en-US"/>
          </a:p>
        </p:txBody>
      </p:sp>
      <p:sp>
        <p:nvSpPr>
          <p:cNvPr id="120862" name="Oval 25"/>
          <p:cNvSpPr>
            <a:spLocks noChangeArrowheads="1"/>
          </p:cNvSpPr>
          <p:nvPr/>
        </p:nvSpPr>
        <p:spPr bwMode="auto">
          <a:xfrm>
            <a:off x="4897778" y="3335451"/>
            <a:ext cx="715315" cy="138200"/>
          </a:xfrm>
          <a:prstGeom prst="ellipse">
            <a:avLst/>
          </a:prstGeom>
          <a:solidFill>
            <a:schemeClr val="hlink"/>
          </a:solidFill>
          <a:ln w="12700">
            <a:solidFill>
              <a:schemeClr val="tx1"/>
            </a:solidFill>
            <a:round/>
          </a:ln>
        </p:spPr>
        <p:txBody>
          <a:bodyPr wrap="none" anchor="ctr"/>
          <a:lstStyle/>
          <a:p>
            <a:endParaRPr lang="en-US"/>
          </a:p>
        </p:txBody>
      </p:sp>
      <p:sp>
        <p:nvSpPr>
          <p:cNvPr id="120863" name="Line 26"/>
          <p:cNvSpPr>
            <a:spLocks noChangeShapeType="1"/>
          </p:cNvSpPr>
          <p:nvPr/>
        </p:nvSpPr>
        <p:spPr bwMode="auto">
          <a:xfrm>
            <a:off x="4897778" y="3323508"/>
            <a:ext cx="0" cy="85309"/>
          </a:xfrm>
          <a:prstGeom prst="line">
            <a:avLst/>
          </a:prstGeom>
          <a:noFill/>
          <a:ln w="12700">
            <a:solidFill>
              <a:schemeClr val="tx1"/>
            </a:solidFill>
            <a:round/>
          </a:ln>
        </p:spPr>
        <p:txBody>
          <a:bodyPr wrap="none" anchor="ctr"/>
          <a:lstStyle/>
          <a:p>
            <a:endParaRPr lang="en-US"/>
          </a:p>
        </p:txBody>
      </p:sp>
      <p:sp>
        <p:nvSpPr>
          <p:cNvPr id="120864" name="Line 27"/>
          <p:cNvSpPr>
            <a:spLocks noChangeShapeType="1"/>
          </p:cNvSpPr>
          <p:nvPr/>
        </p:nvSpPr>
        <p:spPr bwMode="auto">
          <a:xfrm>
            <a:off x="5613093" y="3323508"/>
            <a:ext cx="0" cy="85309"/>
          </a:xfrm>
          <a:prstGeom prst="line">
            <a:avLst/>
          </a:prstGeom>
          <a:noFill/>
          <a:ln w="12700">
            <a:solidFill>
              <a:schemeClr val="tx1"/>
            </a:solidFill>
            <a:round/>
          </a:ln>
        </p:spPr>
        <p:txBody>
          <a:bodyPr wrap="none" anchor="ctr"/>
          <a:lstStyle/>
          <a:p>
            <a:endParaRPr lang="en-US"/>
          </a:p>
        </p:txBody>
      </p:sp>
      <p:sp>
        <p:nvSpPr>
          <p:cNvPr id="120865" name="Rectangle 28"/>
          <p:cNvSpPr>
            <a:spLocks noChangeArrowheads="1"/>
          </p:cNvSpPr>
          <p:nvPr/>
        </p:nvSpPr>
        <p:spPr bwMode="auto">
          <a:xfrm>
            <a:off x="4897778" y="3323508"/>
            <a:ext cx="708459" cy="83603"/>
          </a:xfrm>
          <a:prstGeom prst="rect">
            <a:avLst/>
          </a:prstGeom>
          <a:solidFill>
            <a:schemeClr val="hlink"/>
          </a:solidFill>
          <a:ln>
            <a:noFill/>
          </a:ln>
        </p:spPr>
        <p:txBody>
          <a:bodyPr wrap="none" anchor="ctr"/>
          <a:lstStyle/>
          <a:p>
            <a:pPr algn="ctr"/>
            <a:endParaRPr lang="en-US" sz="2400"/>
          </a:p>
        </p:txBody>
      </p:sp>
      <p:sp>
        <p:nvSpPr>
          <p:cNvPr id="120866" name="Oval 29"/>
          <p:cNvSpPr>
            <a:spLocks noChangeArrowheads="1"/>
          </p:cNvSpPr>
          <p:nvPr/>
        </p:nvSpPr>
        <p:spPr bwMode="auto">
          <a:xfrm>
            <a:off x="4890922" y="3222843"/>
            <a:ext cx="715315" cy="162087"/>
          </a:xfrm>
          <a:prstGeom prst="ellipse">
            <a:avLst/>
          </a:prstGeom>
          <a:solidFill>
            <a:schemeClr val="hlink"/>
          </a:solidFill>
          <a:ln w="12700">
            <a:solidFill>
              <a:schemeClr val="tx1"/>
            </a:solidFill>
            <a:round/>
          </a:ln>
        </p:spPr>
        <p:txBody>
          <a:bodyPr wrap="none" anchor="ctr"/>
          <a:lstStyle/>
          <a:p>
            <a:endParaRPr lang="en-US"/>
          </a:p>
        </p:txBody>
      </p:sp>
      <p:sp>
        <p:nvSpPr>
          <p:cNvPr id="120867" name="Oval 30"/>
          <p:cNvSpPr>
            <a:spLocks noChangeArrowheads="1"/>
          </p:cNvSpPr>
          <p:nvPr/>
        </p:nvSpPr>
        <p:spPr bwMode="auto">
          <a:xfrm>
            <a:off x="6189001" y="2753645"/>
            <a:ext cx="715315" cy="138200"/>
          </a:xfrm>
          <a:prstGeom prst="ellipse">
            <a:avLst/>
          </a:prstGeom>
          <a:solidFill>
            <a:schemeClr val="hlink"/>
          </a:solidFill>
          <a:ln w="12700">
            <a:solidFill>
              <a:schemeClr val="tx1"/>
            </a:solidFill>
            <a:round/>
          </a:ln>
        </p:spPr>
        <p:txBody>
          <a:bodyPr wrap="none" anchor="ctr"/>
          <a:lstStyle/>
          <a:p>
            <a:endParaRPr lang="en-US"/>
          </a:p>
        </p:txBody>
      </p:sp>
      <p:sp>
        <p:nvSpPr>
          <p:cNvPr id="120868" name="Line 31"/>
          <p:cNvSpPr>
            <a:spLocks noChangeShapeType="1"/>
          </p:cNvSpPr>
          <p:nvPr/>
        </p:nvSpPr>
        <p:spPr bwMode="auto">
          <a:xfrm>
            <a:off x="6189001" y="2741702"/>
            <a:ext cx="0" cy="85309"/>
          </a:xfrm>
          <a:prstGeom prst="line">
            <a:avLst/>
          </a:prstGeom>
          <a:noFill/>
          <a:ln w="12700">
            <a:solidFill>
              <a:schemeClr val="tx1"/>
            </a:solidFill>
            <a:round/>
          </a:ln>
        </p:spPr>
        <p:txBody>
          <a:bodyPr wrap="none" anchor="ctr"/>
          <a:lstStyle/>
          <a:p>
            <a:endParaRPr lang="en-US"/>
          </a:p>
        </p:txBody>
      </p:sp>
      <p:sp>
        <p:nvSpPr>
          <p:cNvPr id="120869" name="Line 32"/>
          <p:cNvSpPr>
            <a:spLocks noChangeShapeType="1"/>
          </p:cNvSpPr>
          <p:nvPr/>
        </p:nvSpPr>
        <p:spPr bwMode="auto">
          <a:xfrm>
            <a:off x="6904316" y="2741702"/>
            <a:ext cx="0" cy="85309"/>
          </a:xfrm>
          <a:prstGeom prst="line">
            <a:avLst/>
          </a:prstGeom>
          <a:noFill/>
          <a:ln w="12700">
            <a:solidFill>
              <a:schemeClr val="tx1"/>
            </a:solidFill>
            <a:round/>
          </a:ln>
        </p:spPr>
        <p:txBody>
          <a:bodyPr wrap="none" anchor="ctr"/>
          <a:lstStyle/>
          <a:p>
            <a:endParaRPr lang="en-US"/>
          </a:p>
        </p:txBody>
      </p:sp>
      <p:sp>
        <p:nvSpPr>
          <p:cNvPr id="120870" name="Rectangle 33"/>
          <p:cNvSpPr>
            <a:spLocks noChangeArrowheads="1"/>
          </p:cNvSpPr>
          <p:nvPr/>
        </p:nvSpPr>
        <p:spPr bwMode="auto">
          <a:xfrm>
            <a:off x="6189001" y="2741702"/>
            <a:ext cx="708459" cy="83603"/>
          </a:xfrm>
          <a:prstGeom prst="rect">
            <a:avLst/>
          </a:prstGeom>
          <a:solidFill>
            <a:schemeClr val="hlink"/>
          </a:solidFill>
          <a:ln>
            <a:noFill/>
          </a:ln>
        </p:spPr>
        <p:txBody>
          <a:bodyPr wrap="none" anchor="ctr"/>
          <a:lstStyle/>
          <a:p>
            <a:pPr algn="ctr"/>
            <a:endParaRPr lang="en-US" sz="2400"/>
          </a:p>
        </p:txBody>
      </p:sp>
      <p:sp>
        <p:nvSpPr>
          <p:cNvPr id="120871" name="Oval 34"/>
          <p:cNvSpPr>
            <a:spLocks noChangeArrowheads="1"/>
          </p:cNvSpPr>
          <p:nvPr/>
        </p:nvSpPr>
        <p:spPr bwMode="auto">
          <a:xfrm>
            <a:off x="6182145" y="2641037"/>
            <a:ext cx="715315" cy="162087"/>
          </a:xfrm>
          <a:prstGeom prst="ellipse">
            <a:avLst/>
          </a:prstGeom>
          <a:solidFill>
            <a:schemeClr val="hlink"/>
          </a:solidFill>
          <a:ln w="12700">
            <a:solidFill>
              <a:schemeClr val="tx1"/>
            </a:solidFill>
            <a:round/>
          </a:ln>
        </p:spPr>
        <p:txBody>
          <a:bodyPr wrap="none" anchor="ctr"/>
          <a:lstStyle/>
          <a:p>
            <a:endParaRPr lang="en-US"/>
          </a:p>
        </p:txBody>
      </p:sp>
      <p:sp>
        <p:nvSpPr>
          <p:cNvPr id="120872" name="Freeform 35"/>
          <p:cNvSpPr/>
          <p:nvPr/>
        </p:nvSpPr>
        <p:spPr bwMode="auto">
          <a:xfrm>
            <a:off x="5254292" y="2313451"/>
            <a:ext cx="2285" cy="890624"/>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ln>
        </p:spPr>
        <p:txBody>
          <a:bodyPr wrap="none" anchor="ctr"/>
          <a:lstStyle/>
          <a:p>
            <a:endParaRPr lang="en-US"/>
          </a:p>
        </p:txBody>
      </p:sp>
      <p:sp>
        <p:nvSpPr>
          <p:cNvPr id="120873" name="Freeform 36"/>
          <p:cNvSpPr/>
          <p:nvPr/>
        </p:nvSpPr>
        <p:spPr bwMode="auto">
          <a:xfrm>
            <a:off x="3670544" y="2323688"/>
            <a:ext cx="2285" cy="91621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ln>
        </p:spPr>
        <p:txBody>
          <a:bodyPr wrap="none" anchor="ctr"/>
          <a:lstStyle/>
          <a:p>
            <a:endParaRPr lang="en-US"/>
          </a:p>
        </p:txBody>
      </p:sp>
      <p:sp>
        <p:nvSpPr>
          <p:cNvPr id="120874" name="Freeform 37"/>
          <p:cNvSpPr/>
          <p:nvPr/>
        </p:nvSpPr>
        <p:spPr bwMode="auto">
          <a:xfrm>
            <a:off x="4047627" y="2298096"/>
            <a:ext cx="1151817" cy="1023706"/>
          </a:xfrm>
          <a:custGeom>
            <a:avLst/>
            <a:gdLst>
              <a:gd name="T0" fmla="*/ 0 w 378"/>
              <a:gd name="T1" fmla="*/ 142610238 h 174"/>
              <a:gd name="T2" fmla="*/ 8951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ln>
        </p:spPr>
        <p:txBody>
          <a:bodyPr wrap="none" anchor="ctr"/>
          <a:lstStyle/>
          <a:p>
            <a:endParaRPr lang="en-US"/>
          </a:p>
        </p:txBody>
      </p:sp>
      <p:sp>
        <p:nvSpPr>
          <p:cNvPr id="120875" name="Freeform 38"/>
          <p:cNvSpPr/>
          <p:nvPr/>
        </p:nvSpPr>
        <p:spPr bwMode="auto">
          <a:xfrm>
            <a:off x="5617663" y="2891845"/>
            <a:ext cx="836439" cy="460668"/>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ln>
        </p:spPr>
        <p:txBody>
          <a:bodyPr wrap="none" anchor="ctr"/>
          <a:lstStyle/>
          <a:p>
            <a:endParaRPr lang="en-US"/>
          </a:p>
        </p:txBody>
      </p:sp>
      <p:sp>
        <p:nvSpPr>
          <p:cNvPr id="120876" name="Freeform 39"/>
          <p:cNvSpPr/>
          <p:nvPr/>
        </p:nvSpPr>
        <p:spPr bwMode="auto">
          <a:xfrm>
            <a:off x="4061339" y="3372987"/>
            <a:ext cx="836439" cy="1706"/>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20877" name="Freeform 40"/>
          <p:cNvSpPr/>
          <p:nvPr/>
        </p:nvSpPr>
        <p:spPr bwMode="auto">
          <a:xfrm>
            <a:off x="2710696" y="2820186"/>
            <a:ext cx="630757" cy="45043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ln>
        </p:spPr>
        <p:txBody>
          <a:bodyPr wrap="none" anchor="ctr"/>
          <a:lstStyle/>
          <a:p>
            <a:endParaRPr lang="en-US"/>
          </a:p>
        </p:txBody>
      </p:sp>
      <p:sp>
        <p:nvSpPr>
          <p:cNvPr id="120878" name="Freeform 41"/>
          <p:cNvSpPr/>
          <p:nvPr/>
        </p:nvSpPr>
        <p:spPr bwMode="auto">
          <a:xfrm>
            <a:off x="4047627" y="2195725"/>
            <a:ext cx="836439" cy="1706"/>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ln>
        </p:spPr>
        <p:txBody>
          <a:bodyPr wrap="none" anchor="ctr"/>
          <a:lstStyle/>
          <a:p>
            <a:endParaRPr lang="en-US"/>
          </a:p>
        </p:txBody>
      </p:sp>
      <p:sp>
        <p:nvSpPr>
          <p:cNvPr id="120879" name="Freeform 42"/>
          <p:cNvSpPr/>
          <p:nvPr/>
        </p:nvSpPr>
        <p:spPr bwMode="auto">
          <a:xfrm>
            <a:off x="5590239" y="2190607"/>
            <a:ext cx="904999" cy="455549"/>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ln>
        </p:spPr>
        <p:txBody>
          <a:bodyPr wrap="none" anchor="ctr"/>
          <a:lstStyle/>
          <a:p>
            <a:endParaRPr lang="en-US"/>
          </a:p>
        </p:txBody>
      </p:sp>
      <p:sp>
        <p:nvSpPr>
          <p:cNvPr id="120880" name="Freeform 43"/>
          <p:cNvSpPr/>
          <p:nvPr/>
        </p:nvSpPr>
        <p:spPr bwMode="auto">
          <a:xfrm>
            <a:off x="2580431" y="1458657"/>
            <a:ext cx="2536740" cy="1100484"/>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ln>
        </p:spPr>
        <p:txBody>
          <a:bodyPr wrap="none" anchor="ctr"/>
          <a:lstStyle/>
          <a:p>
            <a:endParaRPr lang="en-US"/>
          </a:p>
        </p:txBody>
      </p:sp>
      <p:grpSp>
        <p:nvGrpSpPr>
          <p:cNvPr id="120882" name="Group 47"/>
          <p:cNvGrpSpPr/>
          <p:nvPr/>
        </p:nvGrpSpPr>
        <p:grpSpPr bwMode="auto">
          <a:xfrm>
            <a:off x="5034899" y="3134122"/>
            <a:ext cx="447929" cy="426544"/>
            <a:chOff x="2958" y="2425"/>
            <a:chExt cx="199" cy="250"/>
          </a:xfrm>
        </p:grpSpPr>
        <p:sp>
          <p:nvSpPr>
            <p:cNvPr id="120905" name="Rectangle 48"/>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0906" name="Text Box 49"/>
            <p:cNvSpPr txBox="1">
              <a:spLocks noChangeArrowheads="1"/>
            </p:cNvSpPr>
            <p:nvPr/>
          </p:nvSpPr>
          <p:spPr bwMode="auto">
            <a:xfrm>
              <a:off x="2958" y="2425"/>
              <a:ext cx="1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y</a:t>
              </a:r>
              <a:endParaRPr lang="en-US"/>
            </a:p>
          </p:txBody>
        </p:sp>
      </p:grpSp>
      <p:grpSp>
        <p:nvGrpSpPr>
          <p:cNvPr id="120883" name="Group 50"/>
          <p:cNvGrpSpPr/>
          <p:nvPr/>
        </p:nvGrpSpPr>
        <p:grpSpPr bwMode="auto">
          <a:xfrm>
            <a:off x="3460291" y="3077818"/>
            <a:ext cx="484495" cy="491379"/>
            <a:chOff x="2951" y="2395"/>
            <a:chExt cx="213" cy="288"/>
          </a:xfrm>
        </p:grpSpPr>
        <p:sp>
          <p:nvSpPr>
            <p:cNvPr id="120903" name="Rectangle 51"/>
            <p:cNvSpPr>
              <a:spLocks noChangeArrowheads="1"/>
            </p:cNvSpPr>
            <p:nvPr/>
          </p:nvSpPr>
          <p:spPr bwMode="auto">
            <a:xfrm>
              <a:off x="2982" y="2490"/>
              <a:ext cx="144" cy="132"/>
            </a:xfrm>
            <a:prstGeom prst="rect">
              <a:avLst/>
            </a:prstGeom>
            <a:solidFill>
              <a:schemeClr val="hlink"/>
            </a:solidFill>
            <a:ln>
              <a:noFill/>
            </a:ln>
          </p:spPr>
          <p:txBody>
            <a:bodyPr wrap="none" anchor="ctr"/>
            <a:lstStyle/>
            <a:p>
              <a:endParaRPr lang="en-US"/>
            </a:p>
          </p:txBody>
        </p:sp>
        <p:sp>
          <p:nvSpPr>
            <p:cNvPr id="120904" name="Text Box 52"/>
            <p:cNvSpPr txBox="1">
              <a:spLocks noChangeArrowheads="1"/>
            </p:cNvSpPr>
            <p:nvPr/>
          </p:nvSpPr>
          <p:spPr bwMode="auto">
            <a:xfrm>
              <a:off x="2951" y="2395"/>
              <a:ext cx="213"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x</a:t>
              </a:r>
            </a:p>
          </p:txBody>
        </p:sp>
      </p:grpSp>
      <p:grpSp>
        <p:nvGrpSpPr>
          <p:cNvPr id="120884" name="Group 53"/>
          <p:cNvGrpSpPr/>
          <p:nvPr/>
        </p:nvGrpSpPr>
        <p:grpSpPr bwMode="auto">
          <a:xfrm>
            <a:off x="4982336" y="1956861"/>
            <a:ext cx="530202" cy="426544"/>
            <a:chOff x="2941" y="2425"/>
            <a:chExt cx="235" cy="250"/>
          </a:xfrm>
        </p:grpSpPr>
        <p:sp>
          <p:nvSpPr>
            <p:cNvPr id="120901" name="Rectangle 54"/>
            <p:cNvSpPr>
              <a:spLocks noChangeArrowheads="1"/>
            </p:cNvSpPr>
            <p:nvPr/>
          </p:nvSpPr>
          <p:spPr bwMode="auto">
            <a:xfrm>
              <a:off x="2982" y="2490"/>
              <a:ext cx="146" cy="132"/>
            </a:xfrm>
            <a:prstGeom prst="rect">
              <a:avLst/>
            </a:prstGeom>
            <a:solidFill>
              <a:schemeClr val="hlink"/>
            </a:solidFill>
            <a:ln>
              <a:noFill/>
            </a:ln>
          </p:spPr>
          <p:txBody>
            <a:bodyPr wrap="none" anchor="ctr"/>
            <a:lstStyle/>
            <a:p>
              <a:endParaRPr lang="en-US"/>
            </a:p>
          </p:txBody>
        </p:sp>
        <p:sp>
          <p:nvSpPr>
            <p:cNvPr id="120902" name="Text Box 55"/>
            <p:cNvSpPr txBox="1">
              <a:spLocks noChangeArrowheads="1"/>
            </p:cNvSpPr>
            <p:nvPr/>
          </p:nvSpPr>
          <p:spPr bwMode="auto">
            <a:xfrm>
              <a:off x="2941" y="2425"/>
              <a:ext cx="235"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w</a:t>
              </a:r>
              <a:endParaRPr lang="en-US"/>
            </a:p>
          </p:txBody>
        </p:sp>
      </p:grpSp>
      <p:grpSp>
        <p:nvGrpSpPr>
          <p:cNvPr id="120885" name="Group 56"/>
          <p:cNvGrpSpPr/>
          <p:nvPr/>
        </p:nvGrpSpPr>
        <p:grpSpPr bwMode="auto">
          <a:xfrm>
            <a:off x="3458006" y="1956861"/>
            <a:ext cx="447929" cy="426544"/>
            <a:chOff x="2958" y="2425"/>
            <a:chExt cx="199" cy="250"/>
          </a:xfrm>
        </p:grpSpPr>
        <p:sp>
          <p:nvSpPr>
            <p:cNvPr id="120899" name="Rectangle 57"/>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0900" name="Text Box 58"/>
            <p:cNvSpPr txBox="1">
              <a:spLocks noChangeArrowheads="1"/>
            </p:cNvSpPr>
            <p:nvPr/>
          </p:nvSpPr>
          <p:spPr bwMode="auto">
            <a:xfrm>
              <a:off x="2958" y="2425"/>
              <a:ext cx="199" cy="250"/>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2000"/>
                <a:t>v</a:t>
              </a:r>
              <a:endParaRPr lang="en-US"/>
            </a:p>
          </p:txBody>
        </p:sp>
      </p:grpSp>
      <p:grpSp>
        <p:nvGrpSpPr>
          <p:cNvPr id="120886" name="Group 59"/>
          <p:cNvGrpSpPr/>
          <p:nvPr/>
        </p:nvGrpSpPr>
        <p:grpSpPr bwMode="auto">
          <a:xfrm>
            <a:off x="6323837" y="2499425"/>
            <a:ext cx="484495" cy="491379"/>
            <a:chOff x="2949" y="2395"/>
            <a:chExt cx="214" cy="288"/>
          </a:xfrm>
        </p:grpSpPr>
        <p:sp>
          <p:nvSpPr>
            <p:cNvPr id="120897" name="Rectangle 60"/>
            <p:cNvSpPr>
              <a:spLocks noChangeArrowheads="1"/>
            </p:cNvSpPr>
            <p:nvPr/>
          </p:nvSpPr>
          <p:spPr bwMode="auto">
            <a:xfrm>
              <a:off x="2982" y="2490"/>
              <a:ext cx="142" cy="132"/>
            </a:xfrm>
            <a:prstGeom prst="rect">
              <a:avLst/>
            </a:prstGeom>
            <a:solidFill>
              <a:schemeClr val="hlink"/>
            </a:solidFill>
            <a:ln>
              <a:noFill/>
            </a:ln>
          </p:spPr>
          <p:txBody>
            <a:bodyPr wrap="none" anchor="ctr"/>
            <a:lstStyle/>
            <a:p>
              <a:endParaRPr lang="en-US"/>
            </a:p>
          </p:txBody>
        </p:sp>
        <p:sp>
          <p:nvSpPr>
            <p:cNvPr id="120898" name="Text Box 61"/>
            <p:cNvSpPr txBox="1">
              <a:spLocks noChangeArrowheads="1"/>
            </p:cNvSpPr>
            <p:nvPr/>
          </p:nvSpPr>
          <p:spPr bwMode="auto">
            <a:xfrm>
              <a:off x="2949" y="2395"/>
              <a:ext cx="214" cy="28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a:t>z</a:t>
              </a:r>
            </a:p>
          </p:txBody>
        </p:sp>
      </p:grpSp>
      <p:sp>
        <p:nvSpPr>
          <p:cNvPr id="120887" name="Text Box 62"/>
          <p:cNvSpPr txBox="1">
            <a:spLocks noChangeArrowheads="1"/>
          </p:cNvSpPr>
          <p:nvPr/>
        </p:nvSpPr>
        <p:spPr bwMode="auto">
          <a:xfrm>
            <a:off x="2822678" y="2178663"/>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0888" name="Text Box 63"/>
          <p:cNvSpPr txBox="1">
            <a:spLocks noChangeArrowheads="1"/>
          </p:cNvSpPr>
          <p:nvPr/>
        </p:nvSpPr>
        <p:spPr bwMode="auto">
          <a:xfrm>
            <a:off x="3617981" y="2552316"/>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0889" name="Text Box 64"/>
          <p:cNvSpPr txBox="1">
            <a:spLocks noChangeArrowheads="1"/>
          </p:cNvSpPr>
          <p:nvPr/>
        </p:nvSpPr>
        <p:spPr bwMode="auto">
          <a:xfrm>
            <a:off x="2623853" y="2915732"/>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0890" name="Text Box 65"/>
          <p:cNvSpPr txBox="1">
            <a:spLocks noChangeArrowheads="1"/>
          </p:cNvSpPr>
          <p:nvPr/>
        </p:nvSpPr>
        <p:spPr bwMode="auto">
          <a:xfrm>
            <a:off x="4495556" y="2710990"/>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20891" name="Text Box 66"/>
          <p:cNvSpPr txBox="1">
            <a:spLocks noChangeArrowheads="1"/>
          </p:cNvSpPr>
          <p:nvPr/>
        </p:nvSpPr>
        <p:spPr bwMode="auto">
          <a:xfrm>
            <a:off x="4351579" y="3314977"/>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0892" name="Text Box 67"/>
          <p:cNvSpPr txBox="1">
            <a:spLocks noChangeArrowheads="1"/>
          </p:cNvSpPr>
          <p:nvPr/>
        </p:nvSpPr>
        <p:spPr bwMode="auto">
          <a:xfrm>
            <a:off x="5174305" y="2583027"/>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1</a:t>
            </a:r>
            <a:endParaRPr lang="en-US"/>
          </a:p>
        </p:txBody>
      </p:sp>
      <p:sp>
        <p:nvSpPr>
          <p:cNvPr id="120893" name="Text Box 68"/>
          <p:cNvSpPr txBox="1">
            <a:spLocks noChangeArrowheads="1"/>
          </p:cNvSpPr>
          <p:nvPr/>
        </p:nvSpPr>
        <p:spPr bwMode="auto">
          <a:xfrm>
            <a:off x="5997032" y="3033458"/>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2</a:t>
            </a:r>
            <a:endParaRPr lang="en-US"/>
          </a:p>
        </p:txBody>
      </p:sp>
      <p:sp>
        <p:nvSpPr>
          <p:cNvPr id="120894" name="Text Box 69"/>
          <p:cNvSpPr txBox="1">
            <a:spLocks noChangeArrowheads="1"/>
          </p:cNvSpPr>
          <p:nvPr/>
        </p:nvSpPr>
        <p:spPr bwMode="auto">
          <a:xfrm>
            <a:off x="5935327" y="2117241"/>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sp>
        <p:nvSpPr>
          <p:cNvPr id="120895" name="Text Box 70"/>
          <p:cNvSpPr txBox="1">
            <a:spLocks noChangeArrowheads="1"/>
          </p:cNvSpPr>
          <p:nvPr/>
        </p:nvSpPr>
        <p:spPr bwMode="auto">
          <a:xfrm>
            <a:off x="4255594" y="1861315"/>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3</a:t>
            </a:r>
            <a:endParaRPr lang="en-US"/>
          </a:p>
        </p:txBody>
      </p:sp>
      <p:sp>
        <p:nvSpPr>
          <p:cNvPr id="120896" name="Text Box 71"/>
          <p:cNvSpPr txBox="1">
            <a:spLocks noChangeArrowheads="1"/>
          </p:cNvSpPr>
          <p:nvPr/>
        </p:nvSpPr>
        <p:spPr bwMode="auto">
          <a:xfrm>
            <a:off x="3453435" y="1405766"/>
            <a:ext cx="447929" cy="39412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a:t>5</a:t>
            </a:r>
            <a:endParaRPr lang="en-US"/>
          </a:p>
        </p:txBody>
      </p:sp>
      <p:sp>
        <p:nvSpPr>
          <p:cNvPr id="75783" name="Rectangle 73"/>
          <p:cNvSpPr>
            <a:spLocks noGrp="1" noChangeArrowheads="1"/>
          </p:cNvSpPr>
          <p:nvPr>
            <p:ph type="title"/>
          </p:nvPr>
        </p:nvSpPr>
        <p:spPr>
          <a:xfrm>
            <a:off x="530774" y="170272"/>
            <a:ext cx="7772400" cy="796925"/>
          </a:xfrm>
        </p:spPr>
        <p:txBody>
          <a:bodyPr/>
          <a:lstStyle/>
          <a:p>
            <a:pPr>
              <a:defRPr/>
            </a:pPr>
            <a:r>
              <a:rPr lang="en-US" dirty="0">
                <a:cs typeface="+mj-cs"/>
              </a:rPr>
              <a:t>Traffic engineering: difficult</a:t>
            </a:r>
          </a:p>
        </p:txBody>
      </p:sp>
      <p:grpSp>
        <p:nvGrpSpPr>
          <p:cNvPr id="5" name="Group 4"/>
          <p:cNvGrpSpPr/>
          <p:nvPr/>
        </p:nvGrpSpPr>
        <p:grpSpPr>
          <a:xfrm>
            <a:off x="2096464" y="2397247"/>
            <a:ext cx="978441" cy="597428"/>
            <a:chOff x="4034923" y="3926353"/>
            <a:chExt cx="978441" cy="597428"/>
          </a:xfrm>
        </p:grpSpPr>
        <p:pic>
          <p:nvPicPr>
            <p:cNvPr id="3" name="Picture 2" descr="router.png"/>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87" name="Text Box 46"/>
            <p:cNvSpPr txBox="1">
              <a:spLocks noChangeArrowheads="1"/>
            </p:cNvSpPr>
            <p:nvPr/>
          </p:nvSpPr>
          <p:spPr bwMode="auto">
            <a:xfrm>
              <a:off x="4339956" y="4136876"/>
              <a:ext cx="313044" cy="36933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dirty="0"/>
                <a:t>u</a:t>
              </a:r>
              <a:endParaRPr lang="en-US" dirty="0"/>
            </a:p>
          </p:txBody>
        </p:sp>
      </p:grpSp>
      <p:grpSp>
        <p:nvGrpSpPr>
          <p:cNvPr id="102" name="Group 101"/>
          <p:cNvGrpSpPr/>
          <p:nvPr/>
        </p:nvGrpSpPr>
        <p:grpSpPr>
          <a:xfrm>
            <a:off x="3201386" y="1897890"/>
            <a:ext cx="978441" cy="597428"/>
            <a:chOff x="4034923" y="3926353"/>
            <a:chExt cx="978441" cy="597428"/>
          </a:xfrm>
        </p:grpSpPr>
        <p:pic>
          <p:nvPicPr>
            <p:cNvPr id="103" name="Picture 102" descr="router.png"/>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04" name="Text Box 46"/>
            <p:cNvSpPr txBox="1">
              <a:spLocks noChangeArrowheads="1"/>
            </p:cNvSpPr>
            <p:nvPr/>
          </p:nvSpPr>
          <p:spPr bwMode="auto">
            <a:xfrm>
              <a:off x="4333613" y="4136876"/>
              <a:ext cx="325730" cy="36933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dirty="0"/>
                <a:t>v</a:t>
              </a:r>
              <a:endParaRPr lang="en-US" dirty="0"/>
            </a:p>
          </p:txBody>
        </p:sp>
      </p:grpSp>
      <p:grpSp>
        <p:nvGrpSpPr>
          <p:cNvPr id="105" name="Group 104"/>
          <p:cNvGrpSpPr/>
          <p:nvPr/>
        </p:nvGrpSpPr>
        <p:grpSpPr>
          <a:xfrm>
            <a:off x="3228455" y="3027916"/>
            <a:ext cx="978441" cy="597428"/>
            <a:chOff x="4034923" y="3926353"/>
            <a:chExt cx="978441" cy="597428"/>
          </a:xfrm>
        </p:grpSpPr>
        <p:pic>
          <p:nvPicPr>
            <p:cNvPr id="106" name="Picture 105" descr="router.png"/>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07" name="Text Box 46"/>
            <p:cNvSpPr txBox="1">
              <a:spLocks noChangeArrowheads="1"/>
            </p:cNvSpPr>
            <p:nvPr/>
          </p:nvSpPr>
          <p:spPr bwMode="auto">
            <a:xfrm>
              <a:off x="4346437" y="4136876"/>
              <a:ext cx="300082" cy="36933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dirty="0"/>
                <a:t>x</a:t>
              </a:r>
              <a:endParaRPr lang="en-US" dirty="0"/>
            </a:p>
          </p:txBody>
        </p:sp>
      </p:grpSp>
      <p:grpSp>
        <p:nvGrpSpPr>
          <p:cNvPr id="108" name="Group 107"/>
          <p:cNvGrpSpPr/>
          <p:nvPr/>
        </p:nvGrpSpPr>
        <p:grpSpPr>
          <a:xfrm>
            <a:off x="4759505" y="1885171"/>
            <a:ext cx="978441" cy="597428"/>
            <a:chOff x="4034923" y="3926353"/>
            <a:chExt cx="978441" cy="597428"/>
          </a:xfrm>
        </p:grpSpPr>
        <p:pic>
          <p:nvPicPr>
            <p:cNvPr id="109" name="Picture 108" descr="router.png"/>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10" name="Text Box 46"/>
            <p:cNvSpPr txBox="1">
              <a:spLocks noChangeArrowheads="1"/>
            </p:cNvSpPr>
            <p:nvPr/>
          </p:nvSpPr>
          <p:spPr bwMode="auto">
            <a:xfrm>
              <a:off x="4307965" y="4136876"/>
              <a:ext cx="377026" cy="36933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dirty="0"/>
                <a:t>w</a:t>
              </a:r>
              <a:endParaRPr lang="en-US" dirty="0"/>
            </a:p>
          </p:txBody>
        </p:sp>
      </p:grpSp>
      <p:grpSp>
        <p:nvGrpSpPr>
          <p:cNvPr id="111" name="Group 110"/>
          <p:cNvGrpSpPr/>
          <p:nvPr/>
        </p:nvGrpSpPr>
        <p:grpSpPr>
          <a:xfrm>
            <a:off x="4786573" y="3031908"/>
            <a:ext cx="978441" cy="597428"/>
            <a:chOff x="4034923" y="3926353"/>
            <a:chExt cx="978441" cy="597428"/>
          </a:xfrm>
        </p:grpSpPr>
        <p:pic>
          <p:nvPicPr>
            <p:cNvPr id="112" name="Picture 111" descr="router.png"/>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13" name="Text Box 46"/>
            <p:cNvSpPr txBox="1">
              <a:spLocks noChangeArrowheads="1"/>
            </p:cNvSpPr>
            <p:nvPr/>
          </p:nvSpPr>
          <p:spPr bwMode="auto">
            <a:xfrm>
              <a:off x="4340025" y="4136876"/>
              <a:ext cx="312906" cy="36933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dirty="0"/>
                <a:t>y</a:t>
              </a:r>
              <a:endParaRPr lang="en-US" dirty="0"/>
            </a:p>
          </p:txBody>
        </p:sp>
      </p:grpSp>
      <p:grpSp>
        <p:nvGrpSpPr>
          <p:cNvPr id="114" name="Group 113"/>
          <p:cNvGrpSpPr/>
          <p:nvPr/>
        </p:nvGrpSpPr>
        <p:grpSpPr>
          <a:xfrm>
            <a:off x="6058604" y="2465712"/>
            <a:ext cx="978441" cy="597428"/>
            <a:chOff x="4034923" y="3926353"/>
            <a:chExt cx="978441" cy="597428"/>
          </a:xfrm>
        </p:grpSpPr>
        <p:pic>
          <p:nvPicPr>
            <p:cNvPr id="115" name="Picture 114" descr="router.png"/>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16" name="Text Box 46"/>
            <p:cNvSpPr txBox="1">
              <a:spLocks noChangeArrowheads="1"/>
            </p:cNvSpPr>
            <p:nvPr/>
          </p:nvSpPr>
          <p:spPr bwMode="auto">
            <a:xfrm>
              <a:off x="4346437" y="4136876"/>
              <a:ext cx="300082" cy="36933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r>
                <a:rPr lang="en-US" sz="1800" dirty="0"/>
                <a:t>z</a:t>
              </a:r>
              <a:endParaRPr lang="en-US" dirty="0"/>
            </a:p>
          </p:txBody>
        </p:sp>
      </p:grpSp>
      <p:grpSp>
        <p:nvGrpSpPr>
          <p:cNvPr id="121" name="Group 1507"/>
          <p:cNvGrpSpPr/>
          <p:nvPr/>
        </p:nvGrpSpPr>
        <p:grpSpPr bwMode="auto">
          <a:xfrm>
            <a:off x="7391175" y="2426604"/>
            <a:ext cx="427480" cy="711995"/>
            <a:chOff x="4140" y="429"/>
            <a:chExt cx="1425" cy="2396"/>
          </a:xfrm>
        </p:grpSpPr>
        <p:sp>
          <p:nvSpPr>
            <p:cNvPr id="122" name="Freeform 1508"/>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123" name="Rectangle 1509"/>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124" name="Freeform 1510"/>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125" name="Freeform 1511"/>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26" name="Rectangle 1512"/>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27" name="Group 1513"/>
            <p:cNvGrpSpPr/>
            <p:nvPr/>
          </p:nvGrpSpPr>
          <p:grpSpPr bwMode="auto">
            <a:xfrm>
              <a:off x="4749" y="668"/>
              <a:ext cx="581" cy="145"/>
              <a:chOff x="614" y="2568"/>
              <a:chExt cx="725" cy="139"/>
            </a:xfrm>
          </p:grpSpPr>
          <p:sp>
            <p:nvSpPr>
              <p:cNvPr id="152" name="AutoShape 1514"/>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153" name="AutoShape 1515"/>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28" name="Rectangle 1516"/>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29" name="Group 1517"/>
            <p:cNvGrpSpPr/>
            <p:nvPr/>
          </p:nvGrpSpPr>
          <p:grpSpPr bwMode="auto">
            <a:xfrm>
              <a:off x="4747" y="994"/>
              <a:ext cx="581" cy="134"/>
              <a:chOff x="614" y="2568"/>
              <a:chExt cx="725" cy="139"/>
            </a:xfrm>
          </p:grpSpPr>
          <p:sp>
            <p:nvSpPr>
              <p:cNvPr id="150" name="AutoShape 1518"/>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151" name="AutoShape 1519"/>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30" name="Rectangle 1520"/>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131" name="Rectangle 1521"/>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32" name="Group 1522"/>
            <p:cNvGrpSpPr/>
            <p:nvPr/>
          </p:nvGrpSpPr>
          <p:grpSpPr bwMode="auto">
            <a:xfrm>
              <a:off x="4735" y="1627"/>
              <a:ext cx="582" cy="151"/>
              <a:chOff x="614" y="2568"/>
              <a:chExt cx="725" cy="139"/>
            </a:xfrm>
          </p:grpSpPr>
          <p:sp>
            <p:nvSpPr>
              <p:cNvPr id="148" name="AutoShape 1523"/>
              <p:cNvSpPr>
                <a:spLocks noChangeArrowheads="1"/>
              </p:cNvSpPr>
              <p:nvPr/>
            </p:nvSpPr>
            <p:spPr bwMode="auto">
              <a:xfrm>
                <a:off x="618" y="2579"/>
                <a:ext cx="720" cy="131"/>
              </a:xfrm>
              <a:prstGeom prst="roundRect">
                <a:avLst>
                  <a:gd name="adj" fmla="val 50000"/>
                </a:avLst>
              </a:prstGeom>
              <a:solidFill>
                <a:schemeClr val="tx1"/>
              </a:solidFill>
              <a:ln>
                <a:noFill/>
              </a:ln>
            </p:spPr>
            <p:txBody>
              <a:bodyPr wrap="none" anchor="ctr"/>
              <a:lstStyle/>
              <a:p>
                <a:endParaRPr lang="en-US"/>
              </a:p>
            </p:txBody>
          </p:sp>
          <p:sp>
            <p:nvSpPr>
              <p:cNvPr id="149" name="AutoShape 1524"/>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33" name="Freeform 1525"/>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134" name="Group 1526"/>
            <p:cNvGrpSpPr/>
            <p:nvPr/>
          </p:nvGrpSpPr>
          <p:grpSpPr bwMode="auto">
            <a:xfrm>
              <a:off x="4739" y="1327"/>
              <a:ext cx="582" cy="139"/>
              <a:chOff x="614" y="2568"/>
              <a:chExt cx="725" cy="139"/>
            </a:xfrm>
          </p:grpSpPr>
          <p:sp>
            <p:nvSpPr>
              <p:cNvPr id="146" name="AutoShape 1527"/>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147" name="AutoShape 1528"/>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35" name="Rectangle 1529"/>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136" name="Freeform 1530"/>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37" name="Freeform 1531"/>
            <p:cNvSpPr/>
            <p:nvPr/>
          </p:nvSpPr>
          <p:spPr bwMode="auto">
            <a:xfrm>
              <a:off x="5315" y="680"/>
              <a:ext cx="244" cy="240"/>
            </a:xfrm>
            <a:custGeom>
              <a:avLst/>
              <a:gdLst>
                <a:gd name="T0" fmla="*/ 0 w 304"/>
                <a:gd name="T1" fmla="*/ 0 h 288"/>
                <a:gd name="T2" fmla="*/ 27 w 304"/>
                <a:gd name="T3" fmla="*/ 23 h 288"/>
                <a:gd name="T4" fmla="*/ 25 w 304"/>
                <a:gd name="T5" fmla="*/ 40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38" name="Oval 1532"/>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139" name="Freeform 1533"/>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140" name="AutoShape 1534"/>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141" name="AutoShape 1535"/>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142" name="Oval 1536"/>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143" name="Oval 1537"/>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a:solidFill>
                  <a:srgbClr val="FF0000"/>
                </a:solidFill>
                <a:cs typeface="Arial" panose="020B0604020202090204" pitchFamily="34" charset="0"/>
              </a:endParaRPr>
            </a:p>
          </p:txBody>
        </p:sp>
        <p:sp>
          <p:nvSpPr>
            <p:cNvPr id="144" name="Oval 1538"/>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145" name="Rectangle 1539"/>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cxnSp>
        <p:nvCxnSpPr>
          <p:cNvPr id="10" name="Straight Connector 9"/>
          <p:cNvCxnSpPr/>
          <p:nvPr/>
        </p:nvCxnSpPr>
        <p:spPr bwMode="auto">
          <a:xfrm>
            <a:off x="1682405" y="2744686"/>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163" name="Straight Connector 162"/>
          <p:cNvCxnSpPr/>
          <p:nvPr/>
        </p:nvCxnSpPr>
        <p:spPr bwMode="auto">
          <a:xfrm>
            <a:off x="6895267" y="2779855"/>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5" name="TextBox 14"/>
          <p:cNvSpPr txBox="1"/>
          <p:nvPr/>
        </p:nvSpPr>
        <p:spPr>
          <a:xfrm>
            <a:off x="717422" y="4173425"/>
            <a:ext cx="7945563" cy="1569660"/>
          </a:xfrm>
          <a:prstGeom prst="rect">
            <a:avLst/>
          </a:prstGeom>
          <a:noFill/>
        </p:spPr>
        <p:txBody>
          <a:bodyPr wrap="square" rtlCol="0">
            <a:spAutoFit/>
          </a:bodyPr>
          <a:lstStyle/>
          <a:p>
            <a:r>
              <a:rPr lang="en-US" sz="2400" i="1" u="sng" dirty="0">
                <a:solidFill>
                  <a:srgbClr val="000090"/>
                </a:solidFill>
              </a:rPr>
              <a:t>Q: </a:t>
            </a:r>
            <a:r>
              <a:rPr lang="en-US" sz="2400" dirty="0"/>
              <a:t>what if w wants to route blue and red traffic differently?</a:t>
            </a:r>
          </a:p>
          <a:p>
            <a:endParaRPr lang="en-US" sz="2400" dirty="0"/>
          </a:p>
          <a:p>
            <a:r>
              <a:rPr lang="en-US" sz="2400" i="1" u="sng" dirty="0">
                <a:solidFill>
                  <a:srgbClr val="000090"/>
                </a:solidFill>
              </a:rPr>
              <a:t>A: </a:t>
            </a:r>
            <a:r>
              <a:rPr lang="en-US" sz="2400" dirty="0"/>
              <a:t>can’t do it (with destination based forwarding, and LS, DV routing)</a:t>
            </a:r>
          </a:p>
        </p:txBody>
      </p:sp>
      <p:sp>
        <p:nvSpPr>
          <p:cNvPr id="16" name="TextBox 15"/>
          <p:cNvSpPr txBox="1"/>
          <p:nvPr/>
        </p:nvSpPr>
        <p:spPr>
          <a:xfrm>
            <a:off x="7177246" y="0"/>
            <a:ext cx="1966754" cy="400110"/>
          </a:xfrm>
          <a:prstGeom prst="rect">
            <a:avLst/>
          </a:prstGeom>
          <a:noFill/>
        </p:spPr>
        <p:txBody>
          <a:bodyPr wrap="none" rtlCol="0">
            <a:spAutoFit/>
          </a:bodyPr>
          <a:lstStyle/>
          <a:p>
            <a:r>
              <a:rPr lang="en-US" sz="2000" dirty="0"/>
              <a:t>Networking 401</a:t>
            </a:r>
          </a:p>
        </p:txBody>
      </p:sp>
      <p:sp>
        <p:nvSpPr>
          <p:cNvPr id="2" name="Freeform 1"/>
          <p:cNvSpPr/>
          <p:nvPr/>
        </p:nvSpPr>
        <p:spPr>
          <a:xfrm>
            <a:off x="1781883" y="2123278"/>
            <a:ext cx="4644270" cy="644565"/>
          </a:xfrm>
          <a:custGeom>
            <a:avLst/>
            <a:gdLst>
              <a:gd name="connsiteX0" fmla="*/ 0 w 1876665"/>
              <a:gd name="connsiteY0" fmla="*/ 739356 h 739356"/>
              <a:gd name="connsiteX1" fmla="*/ 985723 w 1876665"/>
              <a:gd name="connsiteY1" fmla="*/ 720399 h 739356"/>
              <a:gd name="connsiteX2" fmla="*/ 1876665 w 1876665"/>
              <a:gd name="connsiteY2" fmla="*/ 0 h 739356"/>
              <a:gd name="connsiteX0-1" fmla="*/ 0 w 1876665"/>
              <a:gd name="connsiteY0-2" fmla="*/ 739356 h 739356"/>
              <a:gd name="connsiteX1-3" fmla="*/ 818495 w 1876665"/>
              <a:gd name="connsiteY1-4" fmla="*/ 720399 h 739356"/>
              <a:gd name="connsiteX2-5" fmla="*/ 1876665 w 1876665"/>
              <a:gd name="connsiteY2-6" fmla="*/ 0 h 739356"/>
              <a:gd name="connsiteX0-7" fmla="*/ 0 w 1802341"/>
              <a:gd name="connsiteY0-8" fmla="*/ 630627 h 630627"/>
              <a:gd name="connsiteX1-9" fmla="*/ 818495 w 1802341"/>
              <a:gd name="connsiteY1-10" fmla="*/ 611670 h 630627"/>
              <a:gd name="connsiteX2-11" fmla="*/ 1802341 w 1802341"/>
              <a:gd name="connsiteY2-12" fmla="*/ 0 h 630627"/>
              <a:gd name="connsiteX0-13" fmla="*/ 0 w 1802341"/>
              <a:gd name="connsiteY0-14" fmla="*/ 630627 h 630627"/>
              <a:gd name="connsiteX1-15" fmla="*/ 818495 w 1802341"/>
              <a:gd name="connsiteY1-16" fmla="*/ 611670 h 630627"/>
              <a:gd name="connsiteX2-17" fmla="*/ 1337821 w 1802341"/>
              <a:gd name="connsiteY2-18" fmla="*/ 260949 h 630627"/>
              <a:gd name="connsiteX3" fmla="*/ 1802341 w 1802341"/>
              <a:gd name="connsiteY3" fmla="*/ 0 h 630627"/>
              <a:gd name="connsiteX0-19" fmla="*/ 0 w 3381711"/>
              <a:gd name="connsiteY0-20" fmla="*/ 717610 h 717610"/>
              <a:gd name="connsiteX1-21" fmla="*/ 818495 w 3381711"/>
              <a:gd name="connsiteY1-22" fmla="*/ 698653 h 717610"/>
              <a:gd name="connsiteX2-23" fmla="*/ 1337821 w 3381711"/>
              <a:gd name="connsiteY2-24" fmla="*/ 347932 h 717610"/>
              <a:gd name="connsiteX3-25" fmla="*/ 3381711 w 3381711"/>
              <a:gd name="connsiteY3-26" fmla="*/ 0 h 717610"/>
              <a:gd name="connsiteX0-27" fmla="*/ 0 w 3381711"/>
              <a:gd name="connsiteY0-28" fmla="*/ 717611 h 717611"/>
              <a:gd name="connsiteX1-29" fmla="*/ 818495 w 3381711"/>
              <a:gd name="connsiteY1-30" fmla="*/ 698654 h 717611"/>
              <a:gd name="connsiteX2-31" fmla="*/ 1765180 w 3381711"/>
              <a:gd name="connsiteY2-32" fmla="*/ 0 h 717611"/>
              <a:gd name="connsiteX3-33" fmla="*/ 3381711 w 3381711"/>
              <a:gd name="connsiteY3-34" fmla="*/ 1 h 717611"/>
              <a:gd name="connsiteX0-35" fmla="*/ 0 w 3381711"/>
              <a:gd name="connsiteY0-36" fmla="*/ 739355 h 739355"/>
              <a:gd name="connsiteX1-37" fmla="*/ 818495 w 3381711"/>
              <a:gd name="connsiteY1-38" fmla="*/ 720398 h 739355"/>
              <a:gd name="connsiteX2-39" fmla="*/ 1765180 w 3381711"/>
              <a:gd name="connsiteY2-40" fmla="*/ 21744 h 739355"/>
              <a:gd name="connsiteX3-41" fmla="*/ 2935773 w 3381711"/>
              <a:gd name="connsiteY3-42" fmla="*/ 0 h 739355"/>
              <a:gd name="connsiteX4" fmla="*/ 3381711 w 3381711"/>
              <a:gd name="connsiteY4" fmla="*/ 21745 h 739355"/>
              <a:gd name="connsiteX0-43" fmla="*/ 0 w 4533723"/>
              <a:gd name="connsiteY0-44" fmla="*/ 739355 h 739355"/>
              <a:gd name="connsiteX1-45" fmla="*/ 818495 w 4533723"/>
              <a:gd name="connsiteY1-46" fmla="*/ 720398 h 739355"/>
              <a:gd name="connsiteX2-47" fmla="*/ 1765180 w 4533723"/>
              <a:gd name="connsiteY2-48" fmla="*/ 21744 h 739355"/>
              <a:gd name="connsiteX3-49" fmla="*/ 2935773 w 4533723"/>
              <a:gd name="connsiteY3-50" fmla="*/ 0 h 739355"/>
              <a:gd name="connsiteX4-51" fmla="*/ 4533723 w 4533723"/>
              <a:gd name="connsiteY4-52" fmla="*/ 674118 h 739355"/>
              <a:gd name="connsiteX0-53" fmla="*/ 0 w 4533723"/>
              <a:gd name="connsiteY0-54" fmla="*/ 717611 h 717611"/>
              <a:gd name="connsiteX1-55" fmla="*/ 818495 w 4533723"/>
              <a:gd name="connsiteY1-56" fmla="*/ 698654 h 717611"/>
              <a:gd name="connsiteX2-57" fmla="*/ 1765180 w 4533723"/>
              <a:gd name="connsiteY2-58" fmla="*/ 0 h 717611"/>
              <a:gd name="connsiteX3-59" fmla="*/ 3325971 w 4533723"/>
              <a:gd name="connsiteY3-60" fmla="*/ 1 h 717611"/>
              <a:gd name="connsiteX4-61" fmla="*/ 4533723 w 4533723"/>
              <a:gd name="connsiteY4-62" fmla="*/ 652374 h 717611"/>
              <a:gd name="connsiteX0-63" fmla="*/ 0 w 4533723"/>
              <a:gd name="connsiteY0-64" fmla="*/ 717610 h 717610"/>
              <a:gd name="connsiteX1-65" fmla="*/ 818495 w 4533723"/>
              <a:gd name="connsiteY1-66" fmla="*/ 698653 h 717610"/>
              <a:gd name="connsiteX2-67" fmla="*/ 1858085 w 4533723"/>
              <a:gd name="connsiteY2-68" fmla="*/ 21745 h 717610"/>
              <a:gd name="connsiteX3-69" fmla="*/ 3325971 w 4533723"/>
              <a:gd name="connsiteY3-70" fmla="*/ 0 h 717610"/>
              <a:gd name="connsiteX4-71" fmla="*/ 4533723 w 4533723"/>
              <a:gd name="connsiteY4-72" fmla="*/ 652373 h 717610"/>
              <a:gd name="connsiteX0-73" fmla="*/ 0 w 4533723"/>
              <a:gd name="connsiteY0-74" fmla="*/ 739356 h 739356"/>
              <a:gd name="connsiteX1-75" fmla="*/ 818495 w 4533723"/>
              <a:gd name="connsiteY1-76" fmla="*/ 720399 h 739356"/>
              <a:gd name="connsiteX2-77" fmla="*/ 1802342 w 4533723"/>
              <a:gd name="connsiteY2-78" fmla="*/ 0 h 739356"/>
              <a:gd name="connsiteX3-79" fmla="*/ 3325971 w 4533723"/>
              <a:gd name="connsiteY3-80" fmla="*/ 21746 h 739356"/>
              <a:gd name="connsiteX4-81" fmla="*/ 4533723 w 4533723"/>
              <a:gd name="connsiteY4-82" fmla="*/ 674119 h 739356"/>
              <a:gd name="connsiteX0-83" fmla="*/ 0 w 4552304"/>
              <a:gd name="connsiteY0-84" fmla="*/ 652373 h 720399"/>
              <a:gd name="connsiteX1-85" fmla="*/ 837076 w 4552304"/>
              <a:gd name="connsiteY1-86" fmla="*/ 720399 h 720399"/>
              <a:gd name="connsiteX2-87" fmla="*/ 1820923 w 4552304"/>
              <a:gd name="connsiteY2-88" fmla="*/ 0 h 720399"/>
              <a:gd name="connsiteX3-89" fmla="*/ 3344552 w 4552304"/>
              <a:gd name="connsiteY3-90" fmla="*/ 21746 h 720399"/>
              <a:gd name="connsiteX4-91" fmla="*/ 4552304 w 4552304"/>
              <a:gd name="connsiteY4-92" fmla="*/ 674119 h 720399"/>
              <a:gd name="connsiteX0-93" fmla="*/ 0 w 4552304"/>
              <a:gd name="connsiteY0-94" fmla="*/ 739355 h 739355"/>
              <a:gd name="connsiteX1-95" fmla="*/ 837076 w 4552304"/>
              <a:gd name="connsiteY1-96" fmla="*/ 720399 h 739355"/>
              <a:gd name="connsiteX2-97" fmla="*/ 1820923 w 4552304"/>
              <a:gd name="connsiteY2-98" fmla="*/ 0 h 739355"/>
              <a:gd name="connsiteX3-99" fmla="*/ 3344552 w 4552304"/>
              <a:gd name="connsiteY3-100" fmla="*/ 21746 h 739355"/>
              <a:gd name="connsiteX4-101" fmla="*/ 4552304 w 4552304"/>
              <a:gd name="connsiteY4-102" fmla="*/ 674119 h 739355"/>
            </a:gdLst>
            <a:ahLst/>
            <a:cxnLst>
              <a:cxn ang="0">
                <a:pos x="connsiteX0-1" y="connsiteY0-2"/>
              </a:cxn>
              <a:cxn ang="0">
                <a:pos x="connsiteX1-3" y="connsiteY1-4"/>
              </a:cxn>
              <a:cxn ang="0">
                <a:pos x="connsiteX2-5" y="connsiteY2-6"/>
              </a:cxn>
              <a:cxn ang="0">
                <a:pos x="connsiteX3-25" y="connsiteY3-26"/>
              </a:cxn>
              <a:cxn ang="0">
                <a:pos x="connsiteX4-51" y="connsiteY4-52"/>
              </a:cxn>
            </a:cxnLst>
            <a:rect l="l" t="t" r="r" b="b"/>
            <a:pathLst>
              <a:path w="4552304" h="739355">
                <a:moveTo>
                  <a:pt x="0" y="739355"/>
                </a:moveTo>
                <a:lnTo>
                  <a:pt x="837076" y="720399"/>
                </a:lnTo>
                <a:lnTo>
                  <a:pt x="1820923" y="0"/>
                </a:lnTo>
                <a:lnTo>
                  <a:pt x="3344552" y="21746"/>
                </a:lnTo>
                <a:lnTo>
                  <a:pt x="4552304" y="674119"/>
                </a:lnTo>
              </a:path>
            </a:pathLst>
          </a:custGeom>
          <a:ln w="76200" cmpd="sng">
            <a:solidFill>
              <a:srgbClr val="CC0000"/>
            </a:solidFill>
            <a:tailEnd type="triangle"/>
          </a:ln>
        </p:spPr>
        <p:txBody>
          <a:bodyPr rtlCol="0" anchor="ctr"/>
          <a:lstStyle/>
          <a:p>
            <a:pPr algn="ctr"/>
            <a:endParaRPr lang="en-US"/>
          </a:p>
        </p:txBody>
      </p:sp>
      <p:sp>
        <p:nvSpPr>
          <p:cNvPr id="154" name="Freeform 153"/>
          <p:cNvSpPr/>
          <p:nvPr/>
        </p:nvSpPr>
        <p:spPr>
          <a:xfrm flipV="1">
            <a:off x="3810198" y="2367837"/>
            <a:ext cx="2747318" cy="1595090"/>
          </a:xfrm>
          <a:custGeom>
            <a:avLst/>
            <a:gdLst>
              <a:gd name="connsiteX0" fmla="*/ 0 w 1876665"/>
              <a:gd name="connsiteY0" fmla="*/ 739356 h 739356"/>
              <a:gd name="connsiteX1" fmla="*/ 985723 w 1876665"/>
              <a:gd name="connsiteY1" fmla="*/ 720399 h 739356"/>
              <a:gd name="connsiteX2" fmla="*/ 1876665 w 1876665"/>
              <a:gd name="connsiteY2" fmla="*/ 0 h 739356"/>
              <a:gd name="connsiteX0-1" fmla="*/ 0 w 1876665"/>
              <a:gd name="connsiteY0-2" fmla="*/ 739356 h 739356"/>
              <a:gd name="connsiteX1-3" fmla="*/ 818495 w 1876665"/>
              <a:gd name="connsiteY1-4" fmla="*/ 720399 h 739356"/>
              <a:gd name="connsiteX2-5" fmla="*/ 1876665 w 1876665"/>
              <a:gd name="connsiteY2-6" fmla="*/ 0 h 739356"/>
              <a:gd name="connsiteX0-7" fmla="*/ 0 w 1802341"/>
              <a:gd name="connsiteY0-8" fmla="*/ 630627 h 630627"/>
              <a:gd name="connsiteX1-9" fmla="*/ 818495 w 1802341"/>
              <a:gd name="connsiteY1-10" fmla="*/ 611670 h 630627"/>
              <a:gd name="connsiteX2-11" fmla="*/ 1802341 w 1802341"/>
              <a:gd name="connsiteY2-12" fmla="*/ 0 h 630627"/>
              <a:gd name="connsiteX0-13" fmla="*/ 0 w 1707398"/>
              <a:gd name="connsiteY0-14" fmla="*/ 754084 h 754084"/>
              <a:gd name="connsiteX1-15" fmla="*/ 818495 w 1707398"/>
              <a:gd name="connsiteY1-16" fmla="*/ 735127 h 754084"/>
              <a:gd name="connsiteX2-17" fmla="*/ 1707398 w 1707398"/>
              <a:gd name="connsiteY2-18" fmla="*/ 0 h 754084"/>
              <a:gd name="connsiteX0-19" fmla="*/ 0 w 1707398"/>
              <a:gd name="connsiteY0-20" fmla="*/ 754084 h 754932"/>
              <a:gd name="connsiteX1-21" fmla="*/ 445208 w 1707398"/>
              <a:gd name="connsiteY1-22" fmla="*/ 754932 h 754932"/>
              <a:gd name="connsiteX2-23" fmla="*/ 818495 w 1707398"/>
              <a:gd name="connsiteY2-24" fmla="*/ 735127 h 754932"/>
              <a:gd name="connsiteX3" fmla="*/ 1707398 w 1707398"/>
              <a:gd name="connsiteY3" fmla="*/ 0 h 754932"/>
              <a:gd name="connsiteX0-25" fmla="*/ 0 w 1707398"/>
              <a:gd name="connsiteY0-26" fmla="*/ 754084 h 754932"/>
              <a:gd name="connsiteX1-27" fmla="*/ 445208 w 1707398"/>
              <a:gd name="connsiteY1-28" fmla="*/ 754932 h 754932"/>
              <a:gd name="connsiteX2-29" fmla="*/ 818495 w 1707398"/>
              <a:gd name="connsiteY2-30" fmla="*/ 735127 h 754932"/>
              <a:gd name="connsiteX3-31" fmla="*/ 1039794 w 1707398"/>
              <a:gd name="connsiteY3-32" fmla="*/ 537472 h 754932"/>
              <a:gd name="connsiteX4" fmla="*/ 1707398 w 1707398"/>
              <a:gd name="connsiteY4" fmla="*/ 0 h 754932"/>
              <a:gd name="connsiteX0-33" fmla="*/ 0 w 1707398"/>
              <a:gd name="connsiteY0-34" fmla="*/ 754084 h 754932"/>
              <a:gd name="connsiteX1-35" fmla="*/ 445208 w 1707398"/>
              <a:gd name="connsiteY1-36" fmla="*/ 754932 h 754932"/>
              <a:gd name="connsiteX2-37" fmla="*/ 818495 w 1707398"/>
              <a:gd name="connsiteY2-38" fmla="*/ 735127 h 754932"/>
              <a:gd name="connsiteX3-39" fmla="*/ 1039794 w 1707398"/>
              <a:gd name="connsiteY3-40" fmla="*/ 537472 h 754932"/>
              <a:gd name="connsiteX4-41" fmla="*/ 1448573 w 1707398"/>
              <a:gd name="connsiteY4-42" fmla="*/ 233032 h 754932"/>
              <a:gd name="connsiteX5" fmla="*/ 1707398 w 1707398"/>
              <a:gd name="connsiteY5" fmla="*/ 0 h 754932"/>
              <a:gd name="connsiteX0-43" fmla="*/ 0 w 1707398"/>
              <a:gd name="connsiteY0-44" fmla="*/ 754084 h 1233339"/>
              <a:gd name="connsiteX1-45" fmla="*/ 17848 w 1707398"/>
              <a:gd name="connsiteY1-46" fmla="*/ 1233339 h 1233339"/>
              <a:gd name="connsiteX2-47" fmla="*/ 818495 w 1707398"/>
              <a:gd name="connsiteY2-48" fmla="*/ 735127 h 1233339"/>
              <a:gd name="connsiteX3-49" fmla="*/ 1039794 w 1707398"/>
              <a:gd name="connsiteY3-50" fmla="*/ 537472 h 1233339"/>
              <a:gd name="connsiteX4-51" fmla="*/ 1448573 w 1707398"/>
              <a:gd name="connsiteY4-52" fmla="*/ 233032 h 1233339"/>
              <a:gd name="connsiteX5-53" fmla="*/ 1707398 w 1707398"/>
              <a:gd name="connsiteY5-54" fmla="*/ 0 h 1233339"/>
              <a:gd name="connsiteX0-55" fmla="*/ 0 w 1707398"/>
              <a:gd name="connsiteY0-56" fmla="*/ 754084 h 2518282"/>
              <a:gd name="connsiteX1-57" fmla="*/ 17848 w 1707398"/>
              <a:gd name="connsiteY1-58" fmla="*/ 1233339 h 2518282"/>
              <a:gd name="connsiteX2-59" fmla="*/ 1487404 w 1707398"/>
              <a:gd name="connsiteY2-60" fmla="*/ 2518282 h 2518282"/>
              <a:gd name="connsiteX3-61" fmla="*/ 1039794 w 1707398"/>
              <a:gd name="connsiteY3-62" fmla="*/ 537472 h 2518282"/>
              <a:gd name="connsiteX4-63" fmla="*/ 1448573 w 1707398"/>
              <a:gd name="connsiteY4-64" fmla="*/ 233032 h 2518282"/>
              <a:gd name="connsiteX5-65" fmla="*/ 1707398 w 1707398"/>
              <a:gd name="connsiteY5-66" fmla="*/ 0 h 2518282"/>
              <a:gd name="connsiteX0-67" fmla="*/ 0 w 1707398"/>
              <a:gd name="connsiteY0-68" fmla="*/ 754084 h 2518282"/>
              <a:gd name="connsiteX1-69" fmla="*/ 17848 w 1707398"/>
              <a:gd name="connsiteY1-70" fmla="*/ 1233339 h 2518282"/>
              <a:gd name="connsiteX2-71" fmla="*/ 1487404 w 1707398"/>
              <a:gd name="connsiteY2-72" fmla="*/ 2518282 h 2518282"/>
              <a:gd name="connsiteX3-73" fmla="*/ 1429991 w 1707398"/>
              <a:gd name="connsiteY3-74" fmla="*/ 1255084 h 2518282"/>
              <a:gd name="connsiteX4-75" fmla="*/ 1448573 w 1707398"/>
              <a:gd name="connsiteY4-76" fmla="*/ 233032 h 2518282"/>
              <a:gd name="connsiteX5-77" fmla="*/ 1707398 w 1707398"/>
              <a:gd name="connsiteY5-78" fmla="*/ 0 h 2518282"/>
              <a:gd name="connsiteX0-79" fmla="*/ 0 w 2766506"/>
              <a:gd name="connsiteY0-80" fmla="*/ 521052 h 2285250"/>
              <a:gd name="connsiteX1-81" fmla="*/ 17848 w 2766506"/>
              <a:gd name="connsiteY1-82" fmla="*/ 1000307 h 2285250"/>
              <a:gd name="connsiteX2-83" fmla="*/ 1487404 w 2766506"/>
              <a:gd name="connsiteY2-84" fmla="*/ 2285250 h 2285250"/>
              <a:gd name="connsiteX3-85" fmla="*/ 1429991 w 2766506"/>
              <a:gd name="connsiteY3-86" fmla="*/ 1022052 h 2285250"/>
              <a:gd name="connsiteX4-87" fmla="*/ 1448573 w 2766506"/>
              <a:gd name="connsiteY4-88" fmla="*/ 0 h 2285250"/>
              <a:gd name="connsiteX5-89" fmla="*/ 2766506 w 2766506"/>
              <a:gd name="connsiteY5-90" fmla="*/ 1680598 h 2285250"/>
              <a:gd name="connsiteX0-91" fmla="*/ 0 w 2766506"/>
              <a:gd name="connsiteY0-92" fmla="*/ 0 h 1764198"/>
              <a:gd name="connsiteX1-93" fmla="*/ 17848 w 2766506"/>
              <a:gd name="connsiteY1-94" fmla="*/ 479255 h 1764198"/>
              <a:gd name="connsiteX2-95" fmla="*/ 1487404 w 2766506"/>
              <a:gd name="connsiteY2-96" fmla="*/ 1764198 h 1764198"/>
              <a:gd name="connsiteX3-97" fmla="*/ 1429991 w 2766506"/>
              <a:gd name="connsiteY3-98" fmla="*/ 501000 h 1764198"/>
              <a:gd name="connsiteX4-99" fmla="*/ 2766506 w 2766506"/>
              <a:gd name="connsiteY4-100" fmla="*/ 1159546 h 1764198"/>
              <a:gd name="connsiteX0-101" fmla="*/ 0 w 2766506"/>
              <a:gd name="connsiteY0-102" fmla="*/ 0 h 1764198"/>
              <a:gd name="connsiteX1-103" fmla="*/ 73590 w 2766506"/>
              <a:gd name="connsiteY1-104" fmla="*/ 348780 h 1764198"/>
              <a:gd name="connsiteX2-105" fmla="*/ 1487404 w 2766506"/>
              <a:gd name="connsiteY2-106" fmla="*/ 1764198 h 1764198"/>
              <a:gd name="connsiteX3-107" fmla="*/ 1429991 w 2766506"/>
              <a:gd name="connsiteY3-108" fmla="*/ 501000 h 1764198"/>
              <a:gd name="connsiteX4-109" fmla="*/ 2766506 w 2766506"/>
              <a:gd name="connsiteY4-110" fmla="*/ 1159546 h 1764198"/>
              <a:gd name="connsiteX0-111" fmla="*/ 56475 w 2692916"/>
              <a:gd name="connsiteY0-112" fmla="*/ 0 h 2090384"/>
              <a:gd name="connsiteX1-113" fmla="*/ 0 w 2692916"/>
              <a:gd name="connsiteY1-114" fmla="*/ 674966 h 2090384"/>
              <a:gd name="connsiteX2-115" fmla="*/ 1413814 w 2692916"/>
              <a:gd name="connsiteY2-116" fmla="*/ 2090384 h 2090384"/>
              <a:gd name="connsiteX3-117" fmla="*/ 1356401 w 2692916"/>
              <a:gd name="connsiteY3-118" fmla="*/ 827186 h 2090384"/>
              <a:gd name="connsiteX4-119" fmla="*/ 2692916 w 2692916"/>
              <a:gd name="connsiteY4-120" fmla="*/ 1485732 h 2090384"/>
              <a:gd name="connsiteX0-121" fmla="*/ 19314 w 2692916"/>
              <a:gd name="connsiteY0-122" fmla="*/ 0 h 2003401"/>
              <a:gd name="connsiteX1-123" fmla="*/ 0 w 2692916"/>
              <a:gd name="connsiteY1-124" fmla="*/ 587983 h 2003401"/>
              <a:gd name="connsiteX2-125" fmla="*/ 1413814 w 2692916"/>
              <a:gd name="connsiteY2-126" fmla="*/ 2003401 h 2003401"/>
              <a:gd name="connsiteX3-127" fmla="*/ 1356401 w 2692916"/>
              <a:gd name="connsiteY3-128" fmla="*/ 740203 h 2003401"/>
              <a:gd name="connsiteX4-129" fmla="*/ 2692916 w 2692916"/>
              <a:gd name="connsiteY4-130" fmla="*/ 1398749 h 2003401"/>
              <a:gd name="connsiteX0-131" fmla="*/ 2183 w 2692916"/>
              <a:gd name="connsiteY0-132" fmla="*/ 0 h 2003401"/>
              <a:gd name="connsiteX1-133" fmla="*/ 0 w 2692916"/>
              <a:gd name="connsiteY1-134" fmla="*/ 587983 h 2003401"/>
              <a:gd name="connsiteX2-135" fmla="*/ 1413814 w 2692916"/>
              <a:gd name="connsiteY2-136" fmla="*/ 2003401 h 2003401"/>
              <a:gd name="connsiteX3-137" fmla="*/ 1356401 w 2692916"/>
              <a:gd name="connsiteY3-138" fmla="*/ 740203 h 2003401"/>
              <a:gd name="connsiteX4-139" fmla="*/ 2692916 w 2692916"/>
              <a:gd name="connsiteY4-140" fmla="*/ 1398749 h 2003401"/>
              <a:gd name="connsiteX0-141" fmla="*/ 2183 w 2692916"/>
              <a:gd name="connsiteY0-142" fmla="*/ 0 h 2003401"/>
              <a:gd name="connsiteX1-143" fmla="*/ 0 w 2692916"/>
              <a:gd name="connsiteY1-144" fmla="*/ 587983 h 2003401"/>
              <a:gd name="connsiteX2-145" fmla="*/ 1413814 w 2692916"/>
              <a:gd name="connsiteY2-146" fmla="*/ 2003401 h 2003401"/>
              <a:gd name="connsiteX3-147" fmla="*/ 1407793 w 2692916"/>
              <a:gd name="connsiteY3-148" fmla="*/ 746884 h 2003401"/>
              <a:gd name="connsiteX4-149" fmla="*/ 2692916 w 2692916"/>
              <a:gd name="connsiteY4-150" fmla="*/ 1398749 h 2003401"/>
              <a:gd name="connsiteX0-151" fmla="*/ 2183 w 2692916"/>
              <a:gd name="connsiteY0-152" fmla="*/ 0 h 2003401"/>
              <a:gd name="connsiteX1-153" fmla="*/ 0 w 2692916"/>
              <a:gd name="connsiteY1-154" fmla="*/ 587983 h 2003401"/>
              <a:gd name="connsiteX2-155" fmla="*/ 1413814 w 2692916"/>
              <a:gd name="connsiteY2-156" fmla="*/ 2003401 h 2003401"/>
              <a:gd name="connsiteX3-157" fmla="*/ 1447764 w 2692916"/>
              <a:gd name="connsiteY3-158" fmla="*/ 593196 h 2003401"/>
              <a:gd name="connsiteX4-159" fmla="*/ 2692916 w 2692916"/>
              <a:gd name="connsiteY4-160" fmla="*/ 1398749 h 2003401"/>
              <a:gd name="connsiteX0-161" fmla="*/ 2183 w 2692916"/>
              <a:gd name="connsiteY0-162" fmla="*/ 0 h 2003401"/>
              <a:gd name="connsiteX1-163" fmla="*/ 0 w 2692916"/>
              <a:gd name="connsiteY1-164" fmla="*/ 587983 h 2003401"/>
              <a:gd name="connsiteX2-165" fmla="*/ 1413814 w 2692916"/>
              <a:gd name="connsiteY2-166" fmla="*/ 2003401 h 2003401"/>
              <a:gd name="connsiteX3-167" fmla="*/ 1413503 w 2692916"/>
              <a:gd name="connsiteY3-168" fmla="*/ 593196 h 2003401"/>
              <a:gd name="connsiteX4-169" fmla="*/ 2692916 w 2692916"/>
              <a:gd name="connsiteY4-170" fmla="*/ 1398749 h 2003401"/>
              <a:gd name="connsiteX0-171" fmla="*/ 2183 w 2692916"/>
              <a:gd name="connsiteY0-172" fmla="*/ 0 h 1829665"/>
              <a:gd name="connsiteX1-173" fmla="*/ 0 w 2692916"/>
              <a:gd name="connsiteY1-174" fmla="*/ 587983 h 1829665"/>
              <a:gd name="connsiteX2-175" fmla="*/ 1408104 w 2692916"/>
              <a:gd name="connsiteY2-176" fmla="*/ 1829665 h 1829665"/>
              <a:gd name="connsiteX3-177" fmla="*/ 1413503 w 2692916"/>
              <a:gd name="connsiteY3-178" fmla="*/ 593196 h 1829665"/>
              <a:gd name="connsiteX4-179" fmla="*/ 2692916 w 2692916"/>
              <a:gd name="connsiteY4-180" fmla="*/ 1398749 h 1829665"/>
              <a:gd name="connsiteX0-181" fmla="*/ 2183 w 2692916"/>
              <a:gd name="connsiteY0-182" fmla="*/ 0 h 1829665"/>
              <a:gd name="connsiteX1-183" fmla="*/ 0 w 2692916"/>
              <a:gd name="connsiteY1-184" fmla="*/ 587983 h 1829665"/>
              <a:gd name="connsiteX2-185" fmla="*/ 1408104 w 2692916"/>
              <a:gd name="connsiteY2-186" fmla="*/ 1829665 h 1829665"/>
              <a:gd name="connsiteX3-187" fmla="*/ 1390663 w 2692916"/>
              <a:gd name="connsiteY3-188" fmla="*/ 599877 h 1829665"/>
              <a:gd name="connsiteX4-189" fmla="*/ 2692916 w 2692916"/>
              <a:gd name="connsiteY4-190" fmla="*/ 1398749 h 1829665"/>
              <a:gd name="connsiteX0-191" fmla="*/ 2183 w 2692916"/>
              <a:gd name="connsiteY0-192" fmla="*/ 0 h 1829665"/>
              <a:gd name="connsiteX1-193" fmla="*/ 0 w 2692916"/>
              <a:gd name="connsiteY1-194" fmla="*/ 587983 h 1829665"/>
              <a:gd name="connsiteX2-195" fmla="*/ 1408104 w 2692916"/>
              <a:gd name="connsiteY2-196" fmla="*/ 1829665 h 1829665"/>
              <a:gd name="connsiteX3-197" fmla="*/ 1407793 w 2692916"/>
              <a:gd name="connsiteY3-198" fmla="*/ 599877 h 1829665"/>
              <a:gd name="connsiteX4-199" fmla="*/ 2692916 w 2692916"/>
              <a:gd name="connsiteY4-200" fmla="*/ 1398749 h 1829665"/>
            </a:gdLst>
            <a:ahLst/>
            <a:cxnLst>
              <a:cxn ang="0">
                <a:pos x="connsiteX0-1" y="connsiteY0-2"/>
              </a:cxn>
              <a:cxn ang="0">
                <a:pos x="connsiteX1-3" y="connsiteY1-4"/>
              </a:cxn>
              <a:cxn ang="0">
                <a:pos x="connsiteX2-5" y="connsiteY2-6"/>
              </a:cxn>
              <a:cxn ang="0">
                <a:pos x="connsiteX3-31" y="connsiteY3-32"/>
              </a:cxn>
              <a:cxn ang="0">
                <a:pos x="connsiteX4-41" y="connsiteY4-42"/>
              </a:cxn>
            </a:cxnLst>
            <a:rect l="l" t="t" r="r" b="b"/>
            <a:pathLst>
              <a:path w="2692916" h="1829665">
                <a:moveTo>
                  <a:pt x="2183" y="0"/>
                </a:moveTo>
                <a:cubicBezTo>
                  <a:pt x="1455" y="195994"/>
                  <a:pt x="728" y="391989"/>
                  <a:pt x="0" y="587983"/>
                </a:cubicBezTo>
                <a:lnTo>
                  <a:pt x="1408104" y="1829665"/>
                </a:lnTo>
                <a:cubicBezTo>
                  <a:pt x="1408000" y="1359597"/>
                  <a:pt x="1407897" y="1069945"/>
                  <a:pt x="1407793" y="599877"/>
                </a:cubicBezTo>
                <a:lnTo>
                  <a:pt x="2692916" y="1398749"/>
                </a:lnTo>
              </a:path>
            </a:pathLst>
          </a:custGeom>
          <a:ln w="76200" cmpd="sng">
            <a:solidFill>
              <a:schemeClr val="accent2"/>
            </a:solidFill>
            <a:tailEnd type="triangle"/>
          </a:ln>
        </p:spPr>
        <p:txBody>
          <a:bodyPr rtlCol="0" anchor="ctr"/>
          <a:lstStyle/>
          <a:p>
            <a:pPr algn="ctr"/>
            <a:endParaRPr lang="en-US"/>
          </a:p>
        </p:txBody>
      </p:sp>
      <p:sp>
        <p:nvSpPr>
          <p:cNvPr id="155" name="Slide Number Placeholder 5"/>
          <p:cNvSpPr>
            <a:spLocks noGrp="1"/>
          </p:cNvSpPr>
          <p:nvPr>
            <p:ph type="sldNum" sz="quarter" idx="12"/>
          </p:nvPr>
        </p:nvSpPr>
        <p:spPr>
          <a:xfrm>
            <a:off x="8456154" y="6475895"/>
            <a:ext cx="687845" cy="38210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94</a:t>
            </a:fld>
            <a:endParaRPr lang="en-US" sz="1200" dirty="0">
              <a:latin typeface="Tahoma" panose="020B0604030504040204" charset="0"/>
            </a:endParaRPr>
          </a:p>
        </p:txBody>
      </p:sp>
      <p:sp>
        <p:nvSpPr>
          <p:cNvPr id="156"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animEffect transition="in" filter="dissolve">
                                      <p:cBhvr>
                                        <p:cTn id="7" dur="500"/>
                                        <p:tgtEl>
                                          <p:spTgt spid="1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
                                            <p:txEl>
                                              <p:pRg st="2" end="2"/>
                                            </p:txEl>
                                          </p:spTgt>
                                        </p:tgtEl>
                                        <p:attrNameLst>
                                          <p:attrName>style.visibility</p:attrName>
                                        </p:attrNameLst>
                                      </p:cBhvr>
                                      <p:to>
                                        <p:strVal val="visible"/>
                                      </p:to>
                                    </p:set>
                                    <p:animEffect transition="in" filter="dissolve">
                                      <p:cBhvr>
                                        <p:cTn id="12" dur="500"/>
                                        <p:tgtEl>
                                          <p:spTgt spid="1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69" name="Text Box 167"/>
          <p:cNvSpPr txBox="1">
            <a:spLocks noChangeArrowheads="1"/>
          </p:cNvSpPr>
          <p:nvPr/>
        </p:nvSpPr>
        <p:spPr bwMode="auto">
          <a:xfrm>
            <a:off x="542925" y="236538"/>
            <a:ext cx="6921862" cy="6463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3600" dirty="0">
                <a:solidFill>
                  <a:srgbClr val="000099"/>
                </a:solidFill>
                <a:latin typeface="Gill Sans MT" pitchFamily="34" charset="0"/>
              </a:rPr>
              <a:t>Software defined networking (SDN)</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6422481" cy="208918"/>
          </a:xfrm>
          <a:prstGeom prst="rect">
            <a:avLst/>
          </a:prstGeom>
          <a:noFill/>
          <a:ln>
            <a:noFill/>
          </a:ln>
        </p:spPr>
      </p:pic>
      <p:grpSp>
        <p:nvGrpSpPr>
          <p:cNvPr id="3" name="Group 2"/>
          <p:cNvGrpSpPr/>
          <p:nvPr/>
        </p:nvGrpSpPr>
        <p:grpSpPr>
          <a:xfrm>
            <a:off x="1453484" y="1872855"/>
            <a:ext cx="7050773" cy="4668701"/>
            <a:chOff x="1453484" y="1555350"/>
            <a:chExt cx="7050773" cy="4668701"/>
          </a:xfrm>
        </p:grpSpPr>
        <p:grpSp>
          <p:nvGrpSpPr>
            <p:cNvPr id="25" name="Group 24"/>
            <p:cNvGrpSpPr/>
            <p:nvPr/>
          </p:nvGrpSpPr>
          <p:grpSpPr>
            <a:xfrm>
              <a:off x="1453484" y="1555350"/>
              <a:ext cx="6027737" cy="1440135"/>
              <a:chOff x="1492879" y="2061336"/>
              <a:chExt cx="6027737" cy="1440135"/>
            </a:xfrm>
          </p:grpSpPr>
          <p:sp>
            <p:nvSpPr>
              <p:cNvPr id="388" name="Rectangle 387"/>
              <p:cNvSpPr/>
              <p:nvPr/>
            </p:nvSpPr>
            <p:spPr bwMode="auto">
              <a:xfrm>
                <a:off x="1929251" y="2064703"/>
                <a:ext cx="504348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6" name="Freeform 395"/>
              <p:cNvSpPr/>
              <p:nvPr/>
            </p:nvSpPr>
            <p:spPr bwMode="auto">
              <a:xfrm>
                <a:off x="1739747" y="2067585"/>
                <a:ext cx="198437" cy="1385888"/>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1" fmla="*/ 0 w 199855"/>
                  <a:gd name="connsiteY0-2" fmla="*/ 733787 h 1367693"/>
                  <a:gd name="connsiteX1-3" fmla="*/ 199855 w 199855"/>
                  <a:gd name="connsiteY1-4" fmla="*/ 0 h 1367693"/>
                  <a:gd name="connsiteX2-5" fmla="*/ 199855 w 199855"/>
                  <a:gd name="connsiteY2-6" fmla="*/ 1016000 h 1367693"/>
                  <a:gd name="connsiteX3-7" fmla="*/ 4470 w 199855"/>
                  <a:gd name="connsiteY3-8" fmla="*/ 1367693 h 1367693"/>
                  <a:gd name="connsiteX4-9" fmla="*/ 0 w 199855"/>
                  <a:gd name="connsiteY4-10" fmla="*/ 733787 h 1367693"/>
                  <a:gd name="connsiteX0-11" fmla="*/ 25203 w 225058"/>
                  <a:gd name="connsiteY0-12" fmla="*/ 733787 h 1361758"/>
                  <a:gd name="connsiteX1-13" fmla="*/ 225058 w 225058"/>
                  <a:gd name="connsiteY1-14" fmla="*/ 0 h 1361758"/>
                  <a:gd name="connsiteX2-15" fmla="*/ 225058 w 225058"/>
                  <a:gd name="connsiteY2-16" fmla="*/ 1016000 h 1361758"/>
                  <a:gd name="connsiteX3-17" fmla="*/ 0 w 225058"/>
                  <a:gd name="connsiteY3-18" fmla="*/ 1361758 h 1361758"/>
                  <a:gd name="connsiteX4-19" fmla="*/ 25203 w 225058"/>
                  <a:gd name="connsiteY4-20" fmla="*/ 733787 h 1361758"/>
                  <a:gd name="connsiteX0-21" fmla="*/ 25203 w 230992"/>
                  <a:gd name="connsiteY0-22" fmla="*/ 787197 h 1415168"/>
                  <a:gd name="connsiteX1-23" fmla="*/ 230992 w 230992"/>
                  <a:gd name="connsiteY1-24" fmla="*/ 0 h 1415168"/>
                  <a:gd name="connsiteX2-25" fmla="*/ 225058 w 230992"/>
                  <a:gd name="connsiteY2-26" fmla="*/ 1069410 h 1415168"/>
                  <a:gd name="connsiteX3-27" fmla="*/ 0 w 230992"/>
                  <a:gd name="connsiteY3-28" fmla="*/ 1415168 h 1415168"/>
                  <a:gd name="connsiteX4-29" fmla="*/ 25203 w 230992"/>
                  <a:gd name="connsiteY4-30" fmla="*/ 787197 h 1415168"/>
                  <a:gd name="connsiteX0-31" fmla="*/ 0 w 205789"/>
                  <a:gd name="connsiteY0-32" fmla="*/ 787197 h 1427037"/>
                  <a:gd name="connsiteX1-33" fmla="*/ 205789 w 205789"/>
                  <a:gd name="connsiteY1-34" fmla="*/ 0 h 1427037"/>
                  <a:gd name="connsiteX2-35" fmla="*/ 199855 w 205789"/>
                  <a:gd name="connsiteY2-36" fmla="*/ 1069410 h 1427037"/>
                  <a:gd name="connsiteX3-37" fmla="*/ 4471 w 205789"/>
                  <a:gd name="connsiteY3-38" fmla="*/ 1427037 h 1427037"/>
                  <a:gd name="connsiteX4-39" fmla="*/ 0 w 205789"/>
                  <a:gd name="connsiteY4-40" fmla="*/ 787197 h 1427037"/>
                  <a:gd name="connsiteX0-41" fmla="*/ 0 w 199855"/>
                  <a:gd name="connsiteY0-42" fmla="*/ 745656 h 1385496"/>
                  <a:gd name="connsiteX1-43" fmla="*/ 193920 w 199855"/>
                  <a:gd name="connsiteY1-44" fmla="*/ 0 h 1385496"/>
                  <a:gd name="connsiteX2-45" fmla="*/ 199855 w 199855"/>
                  <a:gd name="connsiteY2-46" fmla="*/ 1027869 h 1385496"/>
                  <a:gd name="connsiteX3-47" fmla="*/ 4471 w 199855"/>
                  <a:gd name="connsiteY3-48" fmla="*/ 1385496 h 1385496"/>
                  <a:gd name="connsiteX4-49" fmla="*/ 0 w 199855"/>
                  <a:gd name="connsiteY4-50" fmla="*/ 745656 h 1385496"/>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8" name="Freeform 397"/>
              <p:cNvSpPr/>
              <p:nvPr/>
            </p:nvSpPr>
            <p:spPr bwMode="auto">
              <a:xfrm flipH="1">
                <a:off x="6969078" y="2061336"/>
                <a:ext cx="220427" cy="1370587"/>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1" fmla="*/ 0 w 199855"/>
                  <a:gd name="connsiteY0-2" fmla="*/ 733787 h 1367693"/>
                  <a:gd name="connsiteX1-3" fmla="*/ 199855 w 199855"/>
                  <a:gd name="connsiteY1-4" fmla="*/ 0 h 1367693"/>
                  <a:gd name="connsiteX2-5" fmla="*/ 199855 w 199855"/>
                  <a:gd name="connsiteY2-6" fmla="*/ 1016000 h 1367693"/>
                  <a:gd name="connsiteX3-7" fmla="*/ 4470 w 199855"/>
                  <a:gd name="connsiteY3-8" fmla="*/ 1367693 h 1367693"/>
                  <a:gd name="connsiteX4-9" fmla="*/ 0 w 199855"/>
                  <a:gd name="connsiteY4-10" fmla="*/ 733787 h 1367693"/>
                  <a:gd name="connsiteX0-11" fmla="*/ 25203 w 225058"/>
                  <a:gd name="connsiteY0-12" fmla="*/ 733787 h 1361758"/>
                  <a:gd name="connsiteX1-13" fmla="*/ 225058 w 225058"/>
                  <a:gd name="connsiteY1-14" fmla="*/ 0 h 1361758"/>
                  <a:gd name="connsiteX2-15" fmla="*/ 225058 w 225058"/>
                  <a:gd name="connsiteY2-16" fmla="*/ 1016000 h 1361758"/>
                  <a:gd name="connsiteX3-17" fmla="*/ 0 w 225058"/>
                  <a:gd name="connsiteY3-18" fmla="*/ 1361758 h 1361758"/>
                  <a:gd name="connsiteX4-19" fmla="*/ 25203 w 225058"/>
                  <a:gd name="connsiteY4-20" fmla="*/ 733787 h 1361758"/>
                  <a:gd name="connsiteX0-21" fmla="*/ 25203 w 230992"/>
                  <a:gd name="connsiteY0-22" fmla="*/ 787197 h 1415168"/>
                  <a:gd name="connsiteX1-23" fmla="*/ 230992 w 230992"/>
                  <a:gd name="connsiteY1-24" fmla="*/ 0 h 1415168"/>
                  <a:gd name="connsiteX2-25" fmla="*/ 225058 w 230992"/>
                  <a:gd name="connsiteY2-26" fmla="*/ 1069410 h 1415168"/>
                  <a:gd name="connsiteX3-27" fmla="*/ 0 w 230992"/>
                  <a:gd name="connsiteY3-28" fmla="*/ 1415168 h 1415168"/>
                  <a:gd name="connsiteX4-29" fmla="*/ 25203 w 230992"/>
                  <a:gd name="connsiteY4-30" fmla="*/ 787197 h 1415168"/>
                  <a:gd name="connsiteX0-31" fmla="*/ 0 w 205789"/>
                  <a:gd name="connsiteY0-32" fmla="*/ 787197 h 1427037"/>
                  <a:gd name="connsiteX1-33" fmla="*/ 205789 w 205789"/>
                  <a:gd name="connsiteY1-34" fmla="*/ 0 h 1427037"/>
                  <a:gd name="connsiteX2-35" fmla="*/ 199855 w 205789"/>
                  <a:gd name="connsiteY2-36" fmla="*/ 1069410 h 1427037"/>
                  <a:gd name="connsiteX3-37" fmla="*/ 4471 w 205789"/>
                  <a:gd name="connsiteY3-38" fmla="*/ 1427037 h 1427037"/>
                  <a:gd name="connsiteX4-39" fmla="*/ 0 w 205789"/>
                  <a:gd name="connsiteY4-40" fmla="*/ 787197 h 1427037"/>
                  <a:gd name="connsiteX0-41" fmla="*/ 0 w 199855"/>
                  <a:gd name="connsiteY0-42" fmla="*/ 745656 h 1385496"/>
                  <a:gd name="connsiteX1-43" fmla="*/ 193920 w 199855"/>
                  <a:gd name="connsiteY1-44" fmla="*/ 0 h 1385496"/>
                  <a:gd name="connsiteX2-45" fmla="*/ 199855 w 199855"/>
                  <a:gd name="connsiteY2-46" fmla="*/ 1027869 h 1385496"/>
                  <a:gd name="connsiteX3-47" fmla="*/ 4471 w 199855"/>
                  <a:gd name="connsiteY3-48" fmla="*/ 1385496 h 1385496"/>
                  <a:gd name="connsiteX4-49" fmla="*/ 0 w 199855"/>
                  <a:gd name="connsiteY4-50" fmla="*/ 745656 h 1385496"/>
                  <a:gd name="connsiteX0-51" fmla="*/ 0 w 219519"/>
                  <a:gd name="connsiteY0-52" fmla="*/ 730359 h 1370199"/>
                  <a:gd name="connsiteX1-53" fmla="*/ 219401 w 219519"/>
                  <a:gd name="connsiteY1-54" fmla="*/ 0 h 1370199"/>
                  <a:gd name="connsiteX2-55" fmla="*/ 199855 w 219519"/>
                  <a:gd name="connsiteY2-56" fmla="*/ 1012572 h 1370199"/>
                  <a:gd name="connsiteX3-57" fmla="*/ 4471 w 219519"/>
                  <a:gd name="connsiteY3-58" fmla="*/ 1370199 h 1370199"/>
                  <a:gd name="connsiteX4-59" fmla="*/ 0 w 219519"/>
                  <a:gd name="connsiteY4-60" fmla="*/ 730359 h 1370199"/>
                  <a:gd name="connsiteX0-61" fmla="*/ 0 w 219602"/>
                  <a:gd name="connsiteY0-62" fmla="*/ 730359 h 1370199"/>
                  <a:gd name="connsiteX1-63" fmla="*/ 219401 w 219602"/>
                  <a:gd name="connsiteY1-64" fmla="*/ 0 h 1370199"/>
                  <a:gd name="connsiteX2-65" fmla="*/ 210047 w 219602"/>
                  <a:gd name="connsiteY2-66" fmla="*/ 1007473 h 1370199"/>
                  <a:gd name="connsiteX3-67" fmla="*/ 4471 w 219602"/>
                  <a:gd name="connsiteY3-68" fmla="*/ 1370199 h 1370199"/>
                  <a:gd name="connsiteX4-69" fmla="*/ 0 w 219602"/>
                  <a:gd name="connsiteY4-70" fmla="*/ 730359 h 1370199"/>
                  <a:gd name="connsiteX0-71" fmla="*/ 0 w 220239"/>
                  <a:gd name="connsiteY0-72" fmla="*/ 730359 h 1370199"/>
                  <a:gd name="connsiteX1-73" fmla="*/ 219401 w 220239"/>
                  <a:gd name="connsiteY1-74" fmla="*/ 0 h 1370199"/>
                  <a:gd name="connsiteX2-75" fmla="*/ 220239 w 220239"/>
                  <a:gd name="connsiteY2-76" fmla="*/ 1007473 h 1370199"/>
                  <a:gd name="connsiteX3-77" fmla="*/ 4471 w 220239"/>
                  <a:gd name="connsiteY3-78" fmla="*/ 1370199 h 1370199"/>
                  <a:gd name="connsiteX4-79" fmla="*/ 0 w 220239"/>
                  <a:gd name="connsiteY4-80" fmla="*/ 730359 h 137019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a:gsLst>
                  <a:gs pos="0">
                    <a:schemeClr val="accent6">
                      <a:lumMod val="20000"/>
                      <a:lumOff val="80000"/>
                    </a:schemeClr>
                  </a:gs>
                  <a:gs pos="100000">
                    <a:schemeClr val="bg1"/>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48316" name="Group 950"/>
              <p:cNvGrpSpPr/>
              <p:nvPr/>
            </p:nvGrpSpPr>
            <p:grpSpPr bwMode="auto">
              <a:xfrm>
                <a:off x="1492879" y="2820676"/>
                <a:ext cx="338137" cy="653816"/>
                <a:chOff x="4140" y="429"/>
                <a:chExt cx="1425" cy="2396"/>
              </a:xfrm>
            </p:grpSpPr>
            <p:sp>
              <p:nvSpPr>
                <p:cNvPr id="48350"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48351"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48352"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48353"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54"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55" name="Group 956"/>
                <p:cNvGrpSpPr/>
                <p:nvPr/>
              </p:nvGrpSpPr>
              <p:grpSpPr bwMode="auto">
                <a:xfrm>
                  <a:off x="4749" y="668"/>
                  <a:ext cx="581" cy="145"/>
                  <a:chOff x="614" y="2568"/>
                  <a:chExt cx="725" cy="139"/>
                </a:xfrm>
              </p:grpSpPr>
              <p:sp>
                <p:nvSpPr>
                  <p:cNvPr id="48380" name="AutoShape 957"/>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48381"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56"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57" name="Group 960"/>
                <p:cNvGrpSpPr/>
                <p:nvPr/>
              </p:nvGrpSpPr>
              <p:grpSpPr bwMode="auto">
                <a:xfrm>
                  <a:off x="4747" y="994"/>
                  <a:ext cx="581" cy="134"/>
                  <a:chOff x="614" y="2568"/>
                  <a:chExt cx="725" cy="139"/>
                </a:xfrm>
              </p:grpSpPr>
              <p:sp>
                <p:nvSpPr>
                  <p:cNvPr id="48378" name="AutoShape 961"/>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48379"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58"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48359"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60" name="Group 965"/>
                <p:cNvGrpSpPr/>
                <p:nvPr/>
              </p:nvGrpSpPr>
              <p:grpSpPr bwMode="auto">
                <a:xfrm>
                  <a:off x="4735" y="1627"/>
                  <a:ext cx="582" cy="151"/>
                  <a:chOff x="614" y="2568"/>
                  <a:chExt cx="725" cy="139"/>
                </a:xfrm>
              </p:grpSpPr>
              <p:sp>
                <p:nvSpPr>
                  <p:cNvPr id="48376" name="AutoShape 966"/>
                  <p:cNvSpPr>
                    <a:spLocks noChangeArrowheads="1"/>
                  </p:cNvSpPr>
                  <p:nvPr/>
                </p:nvSpPr>
                <p:spPr bwMode="auto">
                  <a:xfrm>
                    <a:off x="618" y="2586"/>
                    <a:ext cx="720" cy="124"/>
                  </a:xfrm>
                  <a:prstGeom prst="roundRect">
                    <a:avLst>
                      <a:gd name="adj" fmla="val 50000"/>
                    </a:avLst>
                  </a:prstGeom>
                  <a:solidFill>
                    <a:schemeClr val="tx1"/>
                  </a:solidFill>
                  <a:ln>
                    <a:noFill/>
                  </a:ln>
                </p:spPr>
                <p:txBody>
                  <a:bodyPr wrap="none" anchor="ctr"/>
                  <a:lstStyle/>
                  <a:p>
                    <a:endParaRPr lang="en-US"/>
                  </a:p>
                </p:txBody>
              </p:sp>
              <p:sp>
                <p:nvSpPr>
                  <p:cNvPr id="48377"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61"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48362" name="Group 969"/>
                <p:cNvGrpSpPr/>
                <p:nvPr/>
              </p:nvGrpSpPr>
              <p:grpSpPr bwMode="auto">
                <a:xfrm>
                  <a:off x="4739" y="1327"/>
                  <a:ext cx="582" cy="139"/>
                  <a:chOff x="614" y="2568"/>
                  <a:chExt cx="725" cy="139"/>
                </a:xfrm>
              </p:grpSpPr>
              <p:sp>
                <p:nvSpPr>
                  <p:cNvPr id="48374" name="AutoShape 970"/>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48375"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63"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48364"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65"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66" name="Oval 975"/>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48367"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48368"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48369"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48370" name="Oval 979"/>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48371" name="Oval 980"/>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a:solidFill>
                      <a:srgbClr val="FF0000"/>
                    </a:solidFill>
                  </a:endParaRPr>
                </a:p>
              </p:txBody>
            </p:sp>
            <p:sp>
              <p:nvSpPr>
                <p:cNvPr id="48372" name="Oval 981"/>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48373"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grpSp>
            <p:nvGrpSpPr>
              <p:cNvPr id="48317" name="Group 950"/>
              <p:cNvGrpSpPr/>
              <p:nvPr/>
            </p:nvGrpSpPr>
            <p:grpSpPr bwMode="auto">
              <a:xfrm>
                <a:off x="7182479" y="2847655"/>
                <a:ext cx="338137" cy="653816"/>
                <a:chOff x="4140" y="429"/>
                <a:chExt cx="1425" cy="2396"/>
              </a:xfrm>
            </p:grpSpPr>
            <p:sp>
              <p:nvSpPr>
                <p:cNvPr id="48318"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48319"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48320"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48321"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22"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23" name="Group 956"/>
                <p:cNvGrpSpPr/>
                <p:nvPr/>
              </p:nvGrpSpPr>
              <p:grpSpPr bwMode="auto">
                <a:xfrm>
                  <a:off x="4749" y="668"/>
                  <a:ext cx="581" cy="145"/>
                  <a:chOff x="614" y="2568"/>
                  <a:chExt cx="725" cy="139"/>
                </a:xfrm>
              </p:grpSpPr>
              <p:sp>
                <p:nvSpPr>
                  <p:cNvPr id="48348" name="AutoShape 957"/>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48349"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24"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25" name="Group 960"/>
                <p:cNvGrpSpPr/>
                <p:nvPr/>
              </p:nvGrpSpPr>
              <p:grpSpPr bwMode="auto">
                <a:xfrm>
                  <a:off x="4747" y="994"/>
                  <a:ext cx="581" cy="134"/>
                  <a:chOff x="614" y="2568"/>
                  <a:chExt cx="725" cy="139"/>
                </a:xfrm>
              </p:grpSpPr>
              <p:sp>
                <p:nvSpPr>
                  <p:cNvPr id="48346" name="AutoShape 961"/>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48347"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26"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48327"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8328" name="Group 965"/>
                <p:cNvGrpSpPr/>
                <p:nvPr/>
              </p:nvGrpSpPr>
              <p:grpSpPr bwMode="auto">
                <a:xfrm>
                  <a:off x="4735" y="1627"/>
                  <a:ext cx="582" cy="151"/>
                  <a:chOff x="614" y="2568"/>
                  <a:chExt cx="725" cy="139"/>
                </a:xfrm>
              </p:grpSpPr>
              <p:sp>
                <p:nvSpPr>
                  <p:cNvPr id="48344" name="AutoShape 966"/>
                  <p:cNvSpPr>
                    <a:spLocks noChangeArrowheads="1"/>
                  </p:cNvSpPr>
                  <p:nvPr/>
                </p:nvSpPr>
                <p:spPr bwMode="auto">
                  <a:xfrm>
                    <a:off x="618" y="2586"/>
                    <a:ext cx="720" cy="124"/>
                  </a:xfrm>
                  <a:prstGeom prst="roundRect">
                    <a:avLst>
                      <a:gd name="adj" fmla="val 50000"/>
                    </a:avLst>
                  </a:prstGeom>
                  <a:solidFill>
                    <a:schemeClr val="tx1"/>
                  </a:solidFill>
                  <a:ln>
                    <a:noFill/>
                  </a:ln>
                </p:spPr>
                <p:txBody>
                  <a:bodyPr wrap="none" anchor="ctr"/>
                  <a:lstStyle/>
                  <a:p>
                    <a:endParaRPr lang="en-US"/>
                  </a:p>
                </p:txBody>
              </p:sp>
              <p:sp>
                <p:nvSpPr>
                  <p:cNvPr id="48345"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29"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48330" name="Group 969"/>
                <p:cNvGrpSpPr/>
                <p:nvPr/>
              </p:nvGrpSpPr>
              <p:grpSpPr bwMode="auto">
                <a:xfrm>
                  <a:off x="4739" y="1327"/>
                  <a:ext cx="582" cy="139"/>
                  <a:chOff x="614" y="2568"/>
                  <a:chExt cx="725" cy="139"/>
                </a:xfrm>
              </p:grpSpPr>
              <p:sp>
                <p:nvSpPr>
                  <p:cNvPr id="48342" name="AutoShape 970"/>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48343"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331"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48332"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33"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8334" name="Oval 975"/>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48335"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48336"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48337"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48338" name="Oval 979"/>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48339" name="Oval 980"/>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a:solidFill>
                      <a:srgbClr val="FF0000"/>
                    </a:solidFill>
                  </a:endParaRPr>
                </a:p>
              </p:txBody>
            </p:sp>
            <p:sp>
              <p:nvSpPr>
                <p:cNvPr id="48340" name="Oval 981"/>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48341"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grpSp>
        <p:sp>
          <p:nvSpPr>
            <p:cNvPr id="48129" name="Freeform 2"/>
            <p:cNvSpPr/>
            <p:nvPr/>
          </p:nvSpPr>
          <p:spPr bwMode="auto">
            <a:xfrm>
              <a:off x="2592388" y="5284251"/>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p:spPr>
          <p:txBody>
            <a:bodyPr wrap="none" anchor="ctr"/>
            <a:lstStyle/>
            <a:p>
              <a:endParaRPr lang="en-US"/>
            </a:p>
          </p:txBody>
        </p:sp>
        <p:cxnSp>
          <p:nvCxnSpPr>
            <p:cNvPr id="148" name="Straight Connector 147"/>
            <p:cNvCxnSpPr/>
            <p:nvPr/>
          </p:nvCxnSpPr>
          <p:spPr>
            <a:xfrm flipV="1">
              <a:off x="3262941" y="5435064"/>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3151816" y="5622389"/>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3164516" y="5727164"/>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4182104" y="5920839"/>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4842504" y="5468401"/>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4126541" y="5622389"/>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5453691" y="5650964"/>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4596441" y="5435064"/>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8261" name="Group 48260"/>
            <p:cNvGrpSpPr/>
            <p:nvPr/>
          </p:nvGrpSpPr>
          <p:grpSpPr>
            <a:xfrm>
              <a:off x="1526216" y="2537824"/>
              <a:ext cx="6978041" cy="1096962"/>
              <a:chOff x="1526216" y="3003498"/>
              <a:chExt cx="6978041" cy="1096962"/>
            </a:xfrm>
          </p:grpSpPr>
          <p:sp>
            <p:nvSpPr>
              <p:cNvPr id="48156" name="TextBox 399"/>
              <p:cNvSpPr txBox="1">
                <a:spLocks noChangeArrowheads="1"/>
              </p:cNvSpPr>
              <p:nvPr/>
            </p:nvSpPr>
            <p:spPr bwMode="auto">
              <a:xfrm>
                <a:off x="7714291" y="3628973"/>
                <a:ext cx="595313" cy="47148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a:t>data</a:t>
                </a:r>
              </a:p>
              <a:p>
                <a:pPr algn="ctr">
                  <a:lnSpc>
                    <a:spcPts val="1465"/>
                  </a:lnSpc>
                </a:pPr>
                <a:r>
                  <a:rPr lang="en-US" sz="1400"/>
                  <a:t>plane</a:t>
                </a:r>
              </a:p>
            </p:txBody>
          </p:sp>
          <p:sp>
            <p:nvSpPr>
              <p:cNvPr id="48157" name="TextBox 400"/>
              <p:cNvSpPr txBox="1">
                <a:spLocks noChangeArrowheads="1"/>
              </p:cNvSpPr>
              <p:nvPr/>
            </p:nvSpPr>
            <p:spPr bwMode="auto">
              <a:xfrm>
                <a:off x="7728579" y="3003498"/>
                <a:ext cx="709612" cy="47148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a:t>control</a:t>
                </a:r>
              </a:p>
              <a:p>
                <a:pPr algn="ctr">
                  <a:lnSpc>
                    <a:spcPts val="1465"/>
                  </a:lnSpc>
                </a:pPr>
                <a:r>
                  <a:rPr lang="en-US" sz="1400"/>
                  <a:t>plane</a:t>
                </a:r>
              </a:p>
            </p:txBody>
          </p:sp>
          <p:cxnSp>
            <p:nvCxnSpPr>
              <p:cNvPr id="302" name="Straight Connector 301"/>
              <p:cNvCxnSpPr/>
              <p:nvPr/>
            </p:nvCxnSpPr>
            <p:spPr bwMode="auto">
              <a:xfrm flipV="1">
                <a:off x="1526216" y="3579342"/>
                <a:ext cx="6978041" cy="12155"/>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2436115" y="2269434"/>
              <a:ext cx="4296530" cy="320561"/>
              <a:chOff x="2433511" y="2792111"/>
              <a:chExt cx="4296530" cy="320561"/>
            </a:xfrm>
          </p:grpSpPr>
          <p:grpSp>
            <p:nvGrpSpPr>
              <p:cNvPr id="48311" name="Group 401"/>
              <p:cNvGrpSpPr/>
              <p:nvPr/>
            </p:nvGrpSpPr>
            <p:grpSpPr bwMode="auto">
              <a:xfrm>
                <a:off x="2433511" y="2794083"/>
                <a:ext cx="349250" cy="317387"/>
                <a:chOff x="2931664" y="3912603"/>
                <a:chExt cx="430450" cy="329314"/>
              </a:xfrm>
            </p:grpSpPr>
            <p:sp>
              <p:nvSpPr>
                <p:cNvPr id="403" name="Rectangle 402"/>
                <p:cNvSpPr/>
                <p:nvPr/>
              </p:nvSpPr>
              <p:spPr>
                <a:xfrm>
                  <a:off x="2937534" y="3912858"/>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4" name="Straight Connector 403"/>
                <p:cNvCxnSpPr/>
                <p:nvPr/>
              </p:nvCxnSpPr>
              <p:spPr>
                <a:xfrm>
                  <a:off x="2931664" y="4005099"/>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a:off x="2931664" y="4067691"/>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a:stCxn id="403" idx="2"/>
                </p:cNvCxnSpPr>
                <p:nvPr/>
              </p:nvCxnSpPr>
              <p:spPr>
                <a:xfrm flipH="1" flipV="1">
                  <a:off x="3148846" y="4005099"/>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2" name="Group 406"/>
              <p:cNvGrpSpPr/>
              <p:nvPr/>
            </p:nvGrpSpPr>
            <p:grpSpPr bwMode="auto">
              <a:xfrm>
                <a:off x="3348666" y="2792111"/>
                <a:ext cx="350838" cy="317387"/>
                <a:chOff x="2931664" y="3912603"/>
                <a:chExt cx="430450" cy="329314"/>
              </a:xfrm>
            </p:grpSpPr>
            <p:sp>
              <p:nvSpPr>
                <p:cNvPr id="408" name="Rectangle 407"/>
                <p:cNvSpPr/>
                <p:nvPr/>
              </p:nvSpPr>
              <p:spPr>
                <a:xfrm>
                  <a:off x="2937508" y="3912861"/>
                  <a:ext cx="424606"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9" name="Straight Connector 408"/>
                <p:cNvCxnSpPr/>
                <p:nvPr/>
              </p:nvCxnSpPr>
              <p:spPr>
                <a:xfrm>
                  <a:off x="2931664" y="4005102"/>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0" name="Straight Connector 409"/>
                <p:cNvCxnSpPr/>
                <p:nvPr/>
              </p:nvCxnSpPr>
              <p:spPr>
                <a:xfrm>
                  <a:off x="2931664" y="4067694"/>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1" name="Straight Connector 410"/>
                <p:cNvCxnSpPr>
                  <a:stCxn id="408" idx="2"/>
                </p:cNvCxnSpPr>
                <p:nvPr/>
              </p:nvCxnSpPr>
              <p:spPr>
                <a:xfrm flipH="1" flipV="1">
                  <a:off x="3147863" y="4005102"/>
                  <a:ext cx="1947"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3" name="Group 411"/>
              <p:cNvGrpSpPr/>
              <p:nvPr/>
            </p:nvGrpSpPr>
            <p:grpSpPr bwMode="auto">
              <a:xfrm>
                <a:off x="4182104" y="2792111"/>
                <a:ext cx="350837" cy="317387"/>
                <a:chOff x="2931664" y="3912603"/>
                <a:chExt cx="430450" cy="329314"/>
              </a:xfrm>
            </p:grpSpPr>
            <p:sp>
              <p:nvSpPr>
                <p:cNvPr id="413" name="Rectangle 41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4" name="Straight Connector 41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5" name="Straight Connector 41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6" name="Straight Connector 415"/>
                <p:cNvCxnSpPr>
                  <a:stCxn id="41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4" name="Group 416"/>
              <p:cNvGrpSpPr/>
              <p:nvPr/>
            </p:nvGrpSpPr>
            <p:grpSpPr bwMode="auto">
              <a:xfrm>
                <a:off x="5374316" y="2795285"/>
                <a:ext cx="349250" cy="317387"/>
                <a:chOff x="2931664" y="3912603"/>
                <a:chExt cx="430450" cy="329314"/>
              </a:xfrm>
            </p:grpSpPr>
            <p:sp>
              <p:nvSpPr>
                <p:cNvPr id="418" name="Rectangle 417"/>
                <p:cNvSpPr/>
                <p:nvPr/>
              </p:nvSpPr>
              <p:spPr>
                <a:xfrm>
                  <a:off x="2937534" y="3912862"/>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9" name="Straight Connector 418"/>
                <p:cNvCxnSpPr/>
                <p:nvPr/>
              </p:nvCxnSpPr>
              <p:spPr>
                <a:xfrm>
                  <a:off x="2931664" y="4005103"/>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0" name="Straight Connector 419"/>
                <p:cNvCxnSpPr/>
                <p:nvPr/>
              </p:nvCxnSpPr>
              <p:spPr>
                <a:xfrm>
                  <a:off x="2931664" y="4067695"/>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1" name="Straight Connector 420"/>
                <p:cNvCxnSpPr>
                  <a:stCxn id="418" idx="2"/>
                </p:cNvCxnSpPr>
                <p:nvPr/>
              </p:nvCxnSpPr>
              <p:spPr>
                <a:xfrm flipH="1" flipV="1">
                  <a:off x="3148846" y="4005103"/>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5" name="Group 421"/>
              <p:cNvGrpSpPr/>
              <p:nvPr/>
            </p:nvGrpSpPr>
            <p:grpSpPr bwMode="auto">
              <a:xfrm>
                <a:off x="6379204" y="2792111"/>
                <a:ext cx="350837" cy="317387"/>
                <a:chOff x="2931664" y="3912603"/>
                <a:chExt cx="430450" cy="329314"/>
              </a:xfrm>
            </p:grpSpPr>
            <p:sp>
              <p:nvSpPr>
                <p:cNvPr id="423" name="Rectangle 42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4" name="Straight Connector 42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5" name="Straight Connector 42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6" name="Straight Connector 425"/>
                <p:cNvCxnSpPr>
                  <a:stCxn id="42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48260" name="Group 48259"/>
            <p:cNvGrpSpPr/>
            <p:nvPr/>
          </p:nvGrpSpPr>
          <p:grpSpPr>
            <a:xfrm>
              <a:off x="1856416" y="3244261"/>
              <a:ext cx="5211763" cy="2739614"/>
              <a:chOff x="1856416" y="3709935"/>
              <a:chExt cx="5211763" cy="2739614"/>
            </a:xfrm>
          </p:grpSpPr>
          <p:sp>
            <p:nvSpPr>
              <p:cNvPr id="268" name="Freeform 267"/>
              <p:cNvSpPr/>
              <p:nvPr/>
            </p:nvSpPr>
            <p:spPr>
              <a:xfrm>
                <a:off x="1876731" y="5330139"/>
                <a:ext cx="1280789" cy="75908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1040633"/>
                  <a:gd name="connsiteY0-162" fmla="*/ 1160935 h 1160935"/>
                  <a:gd name="connsiteX1-163" fmla="*/ 0 w 1040633"/>
                  <a:gd name="connsiteY1-164" fmla="*/ 0 h 1160935"/>
                  <a:gd name="connsiteX2-165" fmla="*/ 1040633 w 1040633"/>
                  <a:gd name="connsiteY2-166" fmla="*/ 16785 h 1160935"/>
                  <a:gd name="connsiteX3-167" fmla="*/ 569478 w 1040633"/>
                  <a:gd name="connsiteY3-168" fmla="*/ 1158121 h 1160935"/>
                  <a:gd name="connsiteX4-169" fmla="*/ 363082 w 1040633"/>
                  <a:gd name="connsiteY4-170" fmla="*/ 1160935 h 1160935"/>
                  <a:gd name="connsiteX0-171" fmla="*/ 363082 w 1040633"/>
                  <a:gd name="connsiteY0-172" fmla="*/ 1160935 h 1160935"/>
                  <a:gd name="connsiteX1-173" fmla="*/ 0 w 1040633"/>
                  <a:gd name="connsiteY1-174" fmla="*/ 0 h 1160935"/>
                  <a:gd name="connsiteX2-175" fmla="*/ 1040633 w 1040633"/>
                  <a:gd name="connsiteY2-176" fmla="*/ 16785 h 1160935"/>
                  <a:gd name="connsiteX3-177" fmla="*/ 569478 w 1040633"/>
                  <a:gd name="connsiteY3-178" fmla="*/ 1158121 h 1160935"/>
                  <a:gd name="connsiteX4-179" fmla="*/ 363082 w 1040633"/>
                  <a:gd name="connsiteY4-180" fmla="*/ 1160935 h 1160935"/>
                  <a:gd name="connsiteX0-181" fmla="*/ 448507 w 1040633"/>
                  <a:gd name="connsiteY0-182" fmla="*/ 1160935 h 1160935"/>
                  <a:gd name="connsiteX1-183" fmla="*/ 0 w 1040633"/>
                  <a:gd name="connsiteY1-184" fmla="*/ 0 h 1160935"/>
                  <a:gd name="connsiteX2-185" fmla="*/ 1040633 w 1040633"/>
                  <a:gd name="connsiteY2-186" fmla="*/ 16785 h 1160935"/>
                  <a:gd name="connsiteX3-187" fmla="*/ 569478 w 1040633"/>
                  <a:gd name="connsiteY3-188" fmla="*/ 1158121 h 1160935"/>
                  <a:gd name="connsiteX4-189" fmla="*/ 448507 w 1040633"/>
                  <a:gd name="connsiteY4-190" fmla="*/ 1160935 h 1160935"/>
                  <a:gd name="connsiteX0-191" fmla="*/ 448507 w 1040633"/>
                  <a:gd name="connsiteY0-192" fmla="*/ 1160935 h 1160935"/>
                  <a:gd name="connsiteX1-193" fmla="*/ 0 w 1040633"/>
                  <a:gd name="connsiteY1-194" fmla="*/ 0 h 1160935"/>
                  <a:gd name="connsiteX2-195" fmla="*/ 1040633 w 1040633"/>
                  <a:gd name="connsiteY2-196" fmla="*/ 16785 h 1160935"/>
                  <a:gd name="connsiteX3-197" fmla="*/ 569478 w 1040633"/>
                  <a:gd name="connsiteY3-198" fmla="*/ 1158121 h 1160935"/>
                  <a:gd name="connsiteX4-199" fmla="*/ 448507 w 1040633"/>
                  <a:gd name="connsiteY4-200" fmla="*/ 1160935 h 1160935"/>
                  <a:gd name="connsiteX0-201" fmla="*/ 448507 w 1040633"/>
                  <a:gd name="connsiteY0-202" fmla="*/ 1160935 h 1160935"/>
                  <a:gd name="connsiteX1-203" fmla="*/ 0 w 1040633"/>
                  <a:gd name="connsiteY1-204" fmla="*/ 0 h 1160935"/>
                  <a:gd name="connsiteX2-205" fmla="*/ 1040633 w 1040633"/>
                  <a:gd name="connsiteY2-206" fmla="*/ 16785 h 1160935"/>
                  <a:gd name="connsiteX3-207" fmla="*/ 569478 w 1040633"/>
                  <a:gd name="connsiteY3-208" fmla="*/ 1158121 h 1160935"/>
                  <a:gd name="connsiteX4-209" fmla="*/ 448507 w 1040633"/>
                  <a:gd name="connsiteY4-210" fmla="*/ 1160935 h 1160935"/>
                  <a:gd name="connsiteX0-211" fmla="*/ 448507 w 1325315"/>
                  <a:gd name="connsiteY0-212" fmla="*/ 1160935 h 1160935"/>
                  <a:gd name="connsiteX1-213" fmla="*/ 0 w 1325315"/>
                  <a:gd name="connsiteY1-214" fmla="*/ 0 h 1160935"/>
                  <a:gd name="connsiteX2-215" fmla="*/ 1040633 w 1325315"/>
                  <a:gd name="connsiteY2-216" fmla="*/ 16785 h 1160935"/>
                  <a:gd name="connsiteX3-217" fmla="*/ 1214315 w 1325315"/>
                  <a:gd name="connsiteY3-218" fmla="*/ 1064597 h 1160935"/>
                  <a:gd name="connsiteX4-219" fmla="*/ 448507 w 1325315"/>
                  <a:gd name="connsiteY4-220" fmla="*/ 1160935 h 1160935"/>
                  <a:gd name="connsiteX0-221" fmla="*/ 448507 w 1214315"/>
                  <a:gd name="connsiteY0-222" fmla="*/ 1160935 h 1160935"/>
                  <a:gd name="connsiteX1-223" fmla="*/ 0 w 1214315"/>
                  <a:gd name="connsiteY1-224" fmla="*/ 0 h 1160935"/>
                  <a:gd name="connsiteX2-225" fmla="*/ 1040633 w 1214315"/>
                  <a:gd name="connsiteY2-226" fmla="*/ 16785 h 1160935"/>
                  <a:gd name="connsiteX3-227" fmla="*/ 1214315 w 1214315"/>
                  <a:gd name="connsiteY3-228" fmla="*/ 1064597 h 1160935"/>
                  <a:gd name="connsiteX4-229" fmla="*/ 448507 w 1214315"/>
                  <a:gd name="connsiteY4-230" fmla="*/ 1160935 h 1160935"/>
                  <a:gd name="connsiteX0-231" fmla="*/ 448507 w 1214315"/>
                  <a:gd name="connsiteY0-232" fmla="*/ 1160935 h 1160935"/>
                  <a:gd name="connsiteX1-233" fmla="*/ 0 w 1214315"/>
                  <a:gd name="connsiteY1-234" fmla="*/ 0 h 1160935"/>
                  <a:gd name="connsiteX2-235" fmla="*/ 1040633 w 1214315"/>
                  <a:gd name="connsiteY2-236" fmla="*/ 16785 h 1160935"/>
                  <a:gd name="connsiteX3-237" fmla="*/ 1214315 w 1214315"/>
                  <a:gd name="connsiteY3-238" fmla="*/ 1064597 h 1160935"/>
                  <a:gd name="connsiteX4-239" fmla="*/ 448507 w 1214315"/>
                  <a:gd name="connsiteY4-240" fmla="*/ 1160935 h 1160935"/>
                  <a:gd name="connsiteX0-241" fmla="*/ 1053964 w 1214315"/>
                  <a:gd name="connsiteY0-242" fmla="*/ 1136323 h 1136323"/>
                  <a:gd name="connsiteX1-243" fmla="*/ 0 w 1214315"/>
                  <a:gd name="connsiteY1-244" fmla="*/ 0 h 1136323"/>
                  <a:gd name="connsiteX2-245" fmla="*/ 1040633 w 1214315"/>
                  <a:gd name="connsiteY2-246" fmla="*/ 16785 h 1136323"/>
                  <a:gd name="connsiteX3-247" fmla="*/ 1214315 w 1214315"/>
                  <a:gd name="connsiteY3-248" fmla="*/ 1064597 h 1136323"/>
                  <a:gd name="connsiteX4-249" fmla="*/ 1053964 w 1214315"/>
                  <a:gd name="connsiteY4-250" fmla="*/ 1136323 h 1136323"/>
                  <a:gd name="connsiteX0-251" fmla="*/ 1053964 w 1214315"/>
                  <a:gd name="connsiteY0-252" fmla="*/ 1136323 h 1136323"/>
                  <a:gd name="connsiteX1-253" fmla="*/ 0 w 1214315"/>
                  <a:gd name="connsiteY1-254" fmla="*/ 0 h 1136323"/>
                  <a:gd name="connsiteX2-255" fmla="*/ 1040633 w 1214315"/>
                  <a:gd name="connsiteY2-256" fmla="*/ 16785 h 1136323"/>
                  <a:gd name="connsiteX3-257" fmla="*/ 1214315 w 1214315"/>
                  <a:gd name="connsiteY3-258" fmla="*/ 1064597 h 1136323"/>
                  <a:gd name="connsiteX4-259" fmla="*/ 1053964 w 1214315"/>
                  <a:gd name="connsiteY4-260" fmla="*/ 1136323 h 1136323"/>
                  <a:gd name="connsiteX0-261" fmla="*/ 1053964 w 1214315"/>
                  <a:gd name="connsiteY0-262" fmla="*/ 1136323 h 1136323"/>
                  <a:gd name="connsiteX1-263" fmla="*/ 0 w 1214315"/>
                  <a:gd name="connsiteY1-264" fmla="*/ 0 h 1136323"/>
                  <a:gd name="connsiteX2-265" fmla="*/ 1040633 w 1214315"/>
                  <a:gd name="connsiteY2-266" fmla="*/ 16785 h 1136323"/>
                  <a:gd name="connsiteX3-267" fmla="*/ 1214315 w 1214315"/>
                  <a:gd name="connsiteY3-268" fmla="*/ 1064597 h 1136323"/>
                  <a:gd name="connsiteX4-269" fmla="*/ 1053964 w 1214315"/>
                  <a:gd name="connsiteY4-270" fmla="*/ 1136323 h 1136323"/>
                  <a:gd name="connsiteX0-271" fmla="*/ 1060159 w 1220510"/>
                  <a:gd name="connsiteY0-272" fmla="*/ 1119627 h 1119627"/>
                  <a:gd name="connsiteX1-273" fmla="*/ 0 w 1220510"/>
                  <a:gd name="connsiteY1-274" fmla="*/ 249694 h 1119627"/>
                  <a:gd name="connsiteX2-275" fmla="*/ 1046828 w 1220510"/>
                  <a:gd name="connsiteY2-276" fmla="*/ 89 h 1119627"/>
                  <a:gd name="connsiteX3-277" fmla="*/ 1220510 w 1220510"/>
                  <a:gd name="connsiteY3-278" fmla="*/ 1047901 h 1119627"/>
                  <a:gd name="connsiteX4-279" fmla="*/ 1060159 w 1220510"/>
                  <a:gd name="connsiteY4-280" fmla="*/ 1119627 h 1119627"/>
                  <a:gd name="connsiteX0-281" fmla="*/ 1060159 w 1220510"/>
                  <a:gd name="connsiteY0-282" fmla="*/ 1119627 h 1119627"/>
                  <a:gd name="connsiteX1-283" fmla="*/ 0 w 1220510"/>
                  <a:gd name="connsiteY1-284" fmla="*/ 249694 h 1119627"/>
                  <a:gd name="connsiteX2-285" fmla="*/ 1046828 w 1220510"/>
                  <a:gd name="connsiteY2-286" fmla="*/ 89 h 1119627"/>
                  <a:gd name="connsiteX3-287" fmla="*/ 1220510 w 1220510"/>
                  <a:gd name="connsiteY3-288" fmla="*/ 1047901 h 1119627"/>
                  <a:gd name="connsiteX4-289" fmla="*/ 1060159 w 1220510"/>
                  <a:gd name="connsiteY4-290" fmla="*/ 1119627 h 1119627"/>
                  <a:gd name="connsiteX0-291" fmla="*/ 1060159 w 1220510"/>
                  <a:gd name="connsiteY0-292" fmla="*/ 1119627 h 1119627"/>
                  <a:gd name="connsiteX1-293" fmla="*/ 0 w 1220510"/>
                  <a:gd name="connsiteY1-294" fmla="*/ 249694 h 1119627"/>
                  <a:gd name="connsiteX2-295" fmla="*/ 1046828 w 1220510"/>
                  <a:gd name="connsiteY2-296" fmla="*/ 89 h 1119627"/>
                  <a:gd name="connsiteX3-297" fmla="*/ 1220510 w 1220510"/>
                  <a:gd name="connsiteY3-298" fmla="*/ 1047901 h 1119627"/>
                  <a:gd name="connsiteX4-299" fmla="*/ 1060159 w 1220510"/>
                  <a:gd name="connsiteY4-300" fmla="*/ 1119627 h 1119627"/>
                  <a:gd name="connsiteX0-301" fmla="*/ 1060159 w 1220510"/>
                  <a:gd name="connsiteY0-302" fmla="*/ 921649 h 921649"/>
                  <a:gd name="connsiteX1-303" fmla="*/ 0 w 1220510"/>
                  <a:gd name="connsiteY1-304" fmla="*/ 51716 h 921649"/>
                  <a:gd name="connsiteX2-305" fmla="*/ 1059218 w 1220510"/>
                  <a:gd name="connsiteY2-306" fmla="*/ 355 h 921649"/>
                  <a:gd name="connsiteX3-307" fmla="*/ 1220510 w 1220510"/>
                  <a:gd name="connsiteY3-308" fmla="*/ 849923 h 921649"/>
                  <a:gd name="connsiteX4-309" fmla="*/ 1060159 w 1220510"/>
                  <a:gd name="connsiteY4-310" fmla="*/ 921649 h 921649"/>
                  <a:gd name="connsiteX0-311" fmla="*/ 1060159 w 1220510"/>
                  <a:gd name="connsiteY0-312" fmla="*/ 921649 h 921649"/>
                  <a:gd name="connsiteX1-313" fmla="*/ 0 w 1220510"/>
                  <a:gd name="connsiteY1-314" fmla="*/ 51716 h 921649"/>
                  <a:gd name="connsiteX2-315" fmla="*/ 1059218 w 1220510"/>
                  <a:gd name="connsiteY2-316" fmla="*/ 355 h 921649"/>
                  <a:gd name="connsiteX3-317" fmla="*/ 1220510 w 1220510"/>
                  <a:gd name="connsiteY3-318" fmla="*/ 849923 h 921649"/>
                  <a:gd name="connsiteX4-319" fmla="*/ 1060159 w 1220510"/>
                  <a:gd name="connsiteY4-320" fmla="*/ 921649 h 921649"/>
                  <a:gd name="connsiteX0-321" fmla="*/ 1060159 w 1220510"/>
                  <a:gd name="connsiteY0-322" fmla="*/ 921649 h 921649"/>
                  <a:gd name="connsiteX1-323" fmla="*/ 0 w 1220510"/>
                  <a:gd name="connsiteY1-324" fmla="*/ 51716 h 921649"/>
                  <a:gd name="connsiteX2-325" fmla="*/ 1059218 w 1220510"/>
                  <a:gd name="connsiteY2-326" fmla="*/ 355 h 921649"/>
                  <a:gd name="connsiteX3-327" fmla="*/ 1220510 w 1220510"/>
                  <a:gd name="connsiteY3-328" fmla="*/ 849923 h 921649"/>
                  <a:gd name="connsiteX4-329" fmla="*/ 1060159 w 1220510"/>
                  <a:gd name="connsiteY4-330" fmla="*/ 921649 h 921649"/>
                  <a:gd name="connsiteX0-331" fmla="*/ 1060159 w 1340486"/>
                  <a:gd name="connsiteY0-332" fmla="*/ 921649 h 921649"/>
                  <a:gd name="connsiteX1-333" fmla="*/ 0 w 1340486"/>
                  <a:gd name="connsiteY1-334" fmla="*/ 51716 h 921649"/>
                  <a:gd name="connsiteX2-335" fmla="*/ 1059218 w 1340486"/>
                  <a:gd name="connsiteY2-336" fmla="*/ 355 h 921649"/>
                  <a:gd name="connsiteX3-337" fmla="*/ 1340486 w 1340486"/>
                  <a:gd name="connsiteY3-338" fmla="*/ 709789 h 921649"/>
                  <a:gd name="connsiteX4-339" fmla="*/ 1060159 w 1340486"/>
                  <a:gd name="connsiteY4-340" fmla="*/ 921649 h 921649"/>
                  <a:gd name="connsiteX0-341" fmla="*/ 1060159 w 1340486"/>
                  <a:gd name="connsiteY0-342" fmla="*/ 921649 h 921649"/>
                  <a:gd name="connsiteX1-343" fmla="*/ 0 w 1340486"/>
                  <a:gd name="connsiteY1-344" fmla="*/ 51716 h 921649"/>
                  <a:gd name="connsiteX2-345" fmla="*/ 1059218 w 1340486"/>
                  <a:gd name="connsiteY2-346" fmla="*/ 355 h 921649"/>
                  <a:gd name="connsiteX3-347" fmla="*/ 1340486 w 1340486"/>
                  <a:gd name="connsiteY3-348" fmla="*/ 709789 h 921649"/>
                  <a:gd name="connsiteX4-349" fmla="*/ 1060159 w 1340486"/>
                  <a:gd name="connsiteY4-350" fmla="*/ 921649 h 921649"/>
                  <a:gd name="connsiteX0-351" fmla="*/ 1060159 w 1340486"/>
                  <a:gd name="connsiteY0-352" fmla="*/ 921649 h 921649"/>
                  <a:gd name="connsiteX1-353" fmla="*/ 0 w 1340486"/>
                  <a:gd name="connsiteY1-354" fmla="*/ 51716 h 921649"/>
                  <a:gd name="connsiteX2-355" fmla="*/ 1059218 w 1340486"/>
                  <a:gd name="connsiteY2-356" fmla="*/ 355 h 921649"/>
                  <a:gd name="connsiteX3-357" fmla="*/ 1340486 w 1340486"/>
                  <a:gd name="connsiteY3-358" fmla="*/ 709789 h 921649"/>
                  <a:gd name="connsiteX4-359" fmla="*/ 1060159 w 1340486"/>
                  <a:gd name="connsiteY4-360" fmla="*/ 921649 h 921649"/>
                  <a:gd name="connsiteX0-361" fmla="*/ 1025166 w 1340486"/>
                  <a:gd name="connsiteY0-362" fmla="*/ 746482 h 746482"/>
                  <a:gd name="connsiteX1-363" fmla="*/ 0 w 1340486"/>
                  <a:gd name="connsiteY1-364" fmla="*/ 51716 h 746482"/>
                  <a:gd name="connsiteX2-365" fmla="*/ 1059218 w 1340486"/>
                  <a:gd name="connsiteY2-366" fmla="*/ 355 h 746482"/>
                  <a:gd name="connsiteX3-367" fmla="*/ 1340486 w 1340486"/>
                  <a:gd name="connsiteY3-368" fmla="*/ 709789 h 746482"/>
                  <a:gd name="connsiteX4-369" fmla="*/ 1025166 w 1340486"/>
                  <a:gd name="connsiteY4-370" fmla="*/ 746482 h 746482"/>
                  <a:gd name="connsiteX0-371" fmla="*/ 1025166 w 1340486"/>
                  <a:gd name="connsiteY0-372" fmla="*/ 746482 h 746482"/>
                  <a:gd name="connsiteX1-373" fmla="*/ 0 w 1340486"/>
                  <a:gd name="connsiteY1-374" fmla="*/ 51716 h 746482"/>
                  <a:gd name="connsiteX2-375" fmla="*/ 1059218 w 1340486"/>
                  <a:gd name="connsiteY2-376" fmla="*/ 355 h 746482"/>
                  <a:gd name="connsiteX3-377" fmla="*/ 1340486 w 1340486"/>
                  <a:gd name="connsiteY3-378" fmla="*/ 709789 h 746482"/>
                  <a:gd name="connsiteX4-379" fmla="*/ 1025166 w 1340486"/>
                  <a:gd name="connsiteY4-380" fmla="*/ 746482 h 746482"/>
                  <a:gd name="connsiteX0-381" fmla="*/ 965179 w 1280499"/>
                  <a:gd name="connsiteY0-382" fmla="*/ 759828 h 759828"/>
                  <a:gd name="connsiteX1-383" fmla="*/ 0 w 1280499"/>
                  <a:gd name="connsiteY1-384" fmla="*/ 0 h 759828"/>
                  <a:gd name="connsiteX2-385" fmla="*/ 999231 w 1280499"/>
                  <a:gd name="connsiteY2-386" fmla="*/ 13701 h 759828"/>
                  <a:gd name="connsiteX3-387" fmla="*/ 1280499 w 1280499"/>
                  <a:gd name="connsiteY3-388" fmla="*/ 723135 h 759828"/>
                  <a:gd name="connsiteX4-389" fmla="*/ 965179 w 1280499"/>
                  <a:gd name="connsiteY4-390" fmla="*/ 759828 h 759828"/>
                  <a:gd name="connsiteX0-391" fmla="*/ 965179 w 1280499"/>
                  <a:gd name="connsiteY0-392" fmla="*/ 759828 h 759828"/>
                  <a:gd name="connsiteX1-393" fmla="*/ 0 w 1280499"/>
                  <a:gd name="connsiteY1-394" fmla="*/ 0 h 759828"/>
                  <a:gd name="connsiteX2-395" fmla="*/ 999231 w 1280499"/>
                  <a:gd name="connsiteY2-396" fmla="*/ 13701 h 759828"/>
                  <a:gd name="connsiteX3-397" fmla="*/ 1280499 w 1280499"/>
                  <a:gd name="connsiteY3-398" fmla="*/ 723135 h 759828"/>
                  <a:gd name="connsiteX4-399" fmla="*/ 965179 w 1280499"/>
                  <a:gd name="connsiteY4-400" fmla="*/ 759828 h 75982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202668" y="5429198"/>
                <a:ext cx="865511" cy="55382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3004 w 954755"/>
                  <a:gd name="connsiteY0-372" fmla="*/ 943771 h 976186"/>
                  <a:gd name="connsiteX1-373" fmla="*/ 455145 w 954755"/>
                  <a:gd name="connsiteY1-374" fmla="*/ 11688 h 976186"/>
                  <a:gd name="connsiteX2-375" fmla="*/ 954755 w 954755"/>
                  <a:gd name="connsiteY2-376" fmla="*/ 0 h 976186"/>
                  <a:gd name="connsiteX3-377" fmla="*/ 728484 w 954755"/>
                  <a:gd name="connsiteY3-378" fmla="*/ 976186 h 976186"/>
                  <a:gd name="connsiteX4-379" fmla="*/ 23004 w 954755"/>
                  <a:gd name="connsiteY4-380" fmla="*/ 943771 h 976186"/>
                  <a:gd name="connsiteX0-381" fmla="*/ 0 w 931751"/>
                  <a:gd name="connsiteY0-382" fmla="*/ 943771 h 976186"/>
                  <a:gd name="connsiteX1-383" fmla="*/ 432141 w 931751"/>
                  <a:gd name="connsiteY1-384" fmla="*/ 11688 h 976186"/>
                  <a:gd name="connsiteX2-385" fmla="*/ 931751 w 931751"/>
                  <a:gd name="connsiteY2-386" fmla="*/ 0 h 976186"/>
                  <a:gd name="connsiteX3-387" fmla="*/ 705480 w 931751"/>
                  <a:gd name="connsiteY3-388" fmla="*/ 976186 h 976186"/>
                  <a:gd name="connsiteX4-389" fmla="*/ 0 w 931751"/>
                  <a:gd name="connsiteY4-390" fmla="*/ 943771 h 976186"/>
                  <a:gd name="connsiteX0-391" fmla="*/ 0 w 931751"/>
                  <a:gd name="connsiteY0-392" fmla="*/ 943771 h 976186"/>
                  <a:gd name="connsiteX1-393" fmla="*/ 432141 w 931751"/>
                  <a:gd name="connsiteY1-394" fmla="*/ 11688 h 976186"/>
                  <a:gd name="connsiteX2-395" fmla="*/ 931751 w 931751"/>
                  <a:gd name="connsiteY2-396" fmla="*/ 0 h 976186"/>
                  <a:gd name="connsiteX3-397" fmla="*/ 705480 w 931751"/>
                  <a:gd name="connsiteY3-398" fmla="*/ 976186 h 976186"/>
                  <a:gd name="connsiteX4-399" fmla="*/ 0 w 931751"/>
                  <a:gd name="connsiteY4-400" fmla="*/ 943771 h 976186"/>
                  <a:gd name="connsiteX0-401" fmla="*/ 0 w 931751"/>
                  <a:gd name="connsiteY0-402" fmla="*/ 943771 h 976186"/>
                  <a:gd name="connsiteX1-403" fmla="*/ 432141 w 931751"/>
                  <a:gd name="connsiteY1-404" fmla="*/ 11688 h 976186"/>
                  <a:gd name="connsiteX2-405" fmla="*/ 931751 w 931751"/>
                  <a:gd name="connsiteY2-406" fmla="*/ 0 h 976186"/>
                  <a:gd name="connsiteX3-407" fmla="*/ 705480 w 931751"/>
                  <a:gd name="connsiteY3-408" fmla="*/ 976186 h 976186"/>
                  <a:gd name="connsiteX4-409" fmla="*/ 0 w 931751"/>
                  <a:gd name="connsiteY4-410" fmla="*/ 943771 h 976186"/>
                  <a:gd name="connsiteX0-411" fmla="*/ 0 w 931751"/>
                  <a:gd name="connsiteY0-412" fmla="*/ 943771 h 966342"/>
                  <a:gd name="connsiteX1-413" fmla="*/ 432141 w 931751"/>
                  <a:gd name="connsiteY1-414" fmla="*/ 11688 h 966342"/>
                  <a:gd name="connsiteX2-415" fmla="*/ 931751 w 931751"/>
                  <a:gd name="connsiteY2-416" fmla="*/ 0 h 966342"/>
                  <a:gd name="connsiteX3-417" fmla="*/ 183705 w 931751"/>
                  <a:gd name="connsiteY3-418" fmla="*/ 966342 h 966342"/>
                  <a:gd name="connsiteX4-419" fmla="*/ 0 w 931751"/>
                  <a:gd name="connsiteY4-420" fmla="*/ 943771 h 966342"/>
                  <a:gd name="connsiteX0-421" fmla="*/ 0 w 931751"/>
                  <a:gd name="connsiteY0-422" fmla="*/ 943771 h 966342"/>
                  <a:gd name="connsiteX1-423" fmla="*/ 432141 w 931751"/>
                  <a:gd name="connsiteY1-424" fmla="*/ 11688 h 966342"/>
                  <a:gd name="connsiteX2-425" fmla="*/ 931751 w 931751"/>
                  <a:gd name="connsiteY2-426" fmla="*/ 0 h 966342"/>
                  <a:gd name="connsiteX3-427" fmla="*/ 183705 w 931751"/>
                  <a:gd name="connsiteY3-428" fmla="*/ 966342 h 966342"/>
                  <a:gd name="connsiteX4-429" fmla="*/ 0 w 931751"/>
                  <a:gd name="connsiteY4-430" fmla="*/ 943771 h 966342"/>
                  <a:gd name="connsiteX0-431" fmla="*/ 0 w 931751"/>
                  <a:gd name="connsiteY0-432" fmla="*/ 943771 h 966342"/>
                  <a:gd name="connsiteX1-433" fmla="*/ 432141 w 931751"/>
                  <a:gd name="connsiteY1-434" fmla="*/ 11688 h 966342"/>
                  <a:gd name="connsiteX2-435" fmla="*/ 931751 w 931751"/>
                  <a:gd name="connsiteY2-436" fmla="*/ 0 h 966342"/>
                  <a:gd name="connsiteX3-437" fmla="*/ 183705 w 931751"/>
                  <a:gd name="connsiteY3-438" fmla="*/ 966342 h 966342"/>
                  <a:gd name="connsiteX4-439" fmla="*/ 0 w 931751"/>
                  <a:gd name="connsiteY4-440" fmla="*/ 943771 h 966342"/>
                  <a:gd name="connsiteX0-441" fmla="*/ 0 w 956363"/>
                  <a:gd name="connsiteY0-442" fmla="*/ 932083 h 954654"/>
                  <a:gd name="connsiteX1-443" fmla="*/ 432141 w 956363"/>
                  <a:gd name="connsiteY1-444" fmla="*/ 0 h 954654"/>
                  <a:gd name="connsiteX2-445" fmla="*/ 956363 w 956363"/>
                  <a:gd name="connsiteY2-446" fmla="*/ 12924 h 954654"/>
                  <a:gd name="connsiteX3-447" fmla="*/ 183705 w 956363"/>
                  <a:gd name="connsiteY3-448" fmla="*/ 954654 h 954654"/>
                  <a:gd name="connsiteX4-449" fmla="*/ 0 w 956363"/>
                  <a:gd name="connsiteY4-450" fmla="*/ 932083 h 954654"/>
                  <a:gd name="connsiteX0-451" fmla="*/ 0 w 956363"/>
                  <a:gd name="connsiteY0-452" fmla="*/ 919226 h 941797"/>
                  <a:gd name="connsiteX1-453" fmla="*/ 405840 w 956363"/>
                  <a:gd name="connsiteY1-454" fmla="*/ 197551 h 941797"/>
                  <a:gd name="connsiteX2-455" fmla="*/ 956363 w 956363"/>
                  <a:gd name="connsiteY2-456" fmla="*/ 67 h 941797"/>
                  <a:gd name="connsiteX3-457" fmla="*/ 183705 w 956363"/>
                  <a:gd name="connsiteY3-458" fmla="*/ 941797 h 941797"/>
                  <a:gd name="connsiteX4-459" fmla="*/ 0 w 956363"/>
                  <a:gd name="connsiteY4-460" fmla="*/ 919226 h 941797"/>
                  <a:gd name="connsiteX0-461" fmla="*/ 0 w 956363"/>
                  <a:gd name="connsiteY0-462" fmla="*/ 919226 h 941797"/>
                  <a:gd name="connsiteX1-463" fmla="*/ 405840 w 956363"/>
                  <a:gd name="connsiteY1-464" fmla="*/ 197551 h 941797"/>
                  <a:gd name="connsiteX2-465" fmla="*/ 956363 w 956363"/>
                  <a:gd name="connsiteY2-466" fmla="*/ 67 h 941797"/>
                  <a:gd name="connsiteX3-467" fmla="*/ 183705 w 956363"/>
                  <a:gd name="connsiteY3-468" fmla="*/ 941797 h 941797"/>
                  <a:gd name="connsiteX4-469" fmla="*/ 0 w 956363"/>
                  <a:gd name="connsiteY4-470" fmla="*/ 919226 h 941797"/>
                  <a:gd name="connsiteX0-471" fmla="*/ 0 w 956363"/>
                  <a:gd name="connsiteY0-472" fmla="*/ 919226 h 941797"/>
                  <a:gd name="connsiteX1-473" fmla="*/ 405840 w 956363"/>
                  <a:gd name="connsiteY1-474" fmla="*/ 197551 h 941797"/>
                  <a:gd name="connsiteX2-475" fmla="*/ 956363 w 956363"/>
                  <a:gd name="connsiteY2-476" fmla="*/ 67 h 941797"/>
                  <a:gd name="connsiteX3-477" fmla="*/ 183705 w 956363"/>
                  <a:gd name="connsiteY3-478" fmla="*/ 941797 h 941797"/>
                  <a:gd name="connsiteX4-479" fmla="*/ 0 w 956363"/>
                  <a:gd name="connsiteY4-480" fmla="*/ 919226 h 941797"/>
                  <a:gd name="connsiteX0-481" fmla="*/ 0 w 926304"/>
                  <a:gd name="connsiteY0-482" fmla="*/ 735614 h 758185"/>
                  <a:gd name="connsiteX1-483" fmla="*/ 405840 w 926304"/>
                  <a:gd name="connsiteY1-484" fmla="*/ 13939 h 758185"/>
                  <a:gd name="connsiteX2-485" fmla="*/ 926304 w 926304"/>
                  <a:gd name="connsiteY2-486" fmla="*/ 563 h 758185"/>
                  <a:gd name="connsiteX3-487" fmla="*/ 183705 w 926304"/>
                  <a:gd name="connsiteY3-488" fmla="*/ 758185 h 758185"/>
                  <a:gd name="connsiteX4-489" fmla="*/ 0 w 926304"/>
                  <a:gd name="connsiteY4-490" fmla="*/ 735614 h 758185"/>
                  <a:gd name="connsiteX0-491" fmla="*/ 0 w 926304"/>
                  <a:gd name="connsiteY0-492" fmla="*/ 735614 h 758185"/>
                  <a:gd name="connsiteX1-493" fmla="*/ 405840 w 926304"/>
                  <a:gd name="connsiteY1-494" fmla="*/ 13939 h 758185"/>
                  <a:gd name="connsiteX2-495" fmla="*/ 926304 w 926304"/>
                  <a:gd name="connsiteY2-496" fmla="*/ 563 h 758185"/>
                  <a:gd name="connsiteX3-497" fmla="*/ 183705 w 926304"/>
                  <a:gd name="connsiteY3-498" fmla="*/ 758185 h 758185"/>
                  <a:gd name="connsiteX4-499" fmla="*/ 0 w 926304"/>
                  <a:gd name="connsiteY4-500" fmla="*/ 735614 h 758185"/>
                  <a:gd name="connsiteX0-501" fmla="*/ 0 w 926304"/>
                  <a:gd name="connsiteY0-502" fmla="*/ 735614 h 758185"/>
                  <a:gd name="connsiteX1-503" fmla="*/ 405840 w 926304"/>
                  <a:gd name="connsiteY1-504" fmla="*/ 13939 h 758185"/>
                  <a:gd name="connsiteX2-505" fmla="*/ 926304 w 926304"/>
                  <a:gd name="connsiteY2-506" fmla="*/ 563 h 758185"/>
                  <a:gd name="connsiteX3-507" fmla="*/ 183705 w 926304"/>
                  <a:gd name="connsiteY3-508" fmla="*/ 758185 h 758185"/>
                  <a:gd name="connsiteX4-509" fmla="*/ 0 w 926304"/>
                  <a:gd name="connsiteY4-510" fmla="*/ 735614 h 758185"/>
                  <a:gd name="connsiteX0-511" fmla="*/ 0 w 926304"/>
                  <a:gd name="connsiteY0-512" fmla="*/ 735614 h 758185"/>
                  <a:gd name="connsiteX1-513" fmla="*/ 405840 w 926304"/>
                  <a:gd name="connsiteY1-514" fmla="*/ 13939 h 758185"/>
                  <a:gd name="connsiteX2-515" fmla="*/ 926304 w 926304"/>
                  <a:gd name="connsiteY2-516" fmla="*/ 563 h 758185"/>
                  <a:gd name="connsiteX3-517" fmla="*/ 183705 w 926304"/>
                  <a:gd name="connsiteY3-518" fmla="*/ 758185 h 758185"/>
                  <a:gd name="connsiteX4-519" fmla="*/ 0 w 926304"/>
                  <a:gd name="connsiteY4-520" fmla="*/ 735614 h 758185"/>
                  <a:gd name="connsiteX0-521" fmla="*/ 0 w 1011379"/>
                  <a:gd name="connsiteY0-522" fmla="*/ 605727 h 758185"/>
                  <a:gd name="connsiteX1-523" fmla="*/ 490915 w 1011379"/>
                  <a:gd name="connsiteY1-524" fmla="*/ 13939 h 758185"/>
                  <a:gd name="connsiteX2-525" fmla="*/ 1011379 w 1011379"/>
                  <a:gd name="connsiteY2-526" fmla="*/ 563 h 758185"/>
                  <a:gd name="connsiteX3-527" fmla="*/ 268780 w 1011379"/>
                  <a:gd name="connsiteY3-528" fmla="*/ 758185 h 758185"/>
                  <a:gd name="connsiteX4-529" fmla="*/ 0 w 1011379"/>
                  <a:gd name="connsiteY4-530" fmla="*/ 605727 h 758185"/>
                  <a:gd name="connsiteX0-531" fmla="*/ 0 w 1011379"/>
                  <a:gd name="connsiteY0-532" fmla="*/ 605727 h 648280"/>
                  <a:gd name="connsiteX1-533" fmla="*/ 490915 w 1011379"/>
                  <a:gd name="connsiteY1-534" fmla="*/ 13939 h 648280"/>
                  <a:gd name="connsiteX2-535" fmla="*/ 1011379 w 1011379"/>
                  <a:gd name="connsiteY2-536" fmla="*/ 563 h 648280"/>
                  <a:gd name="connsiteX3-537" fmla="*/ 198718 w 1011379"/>
                  <a:gd name="connsiteY3-538" fmla="*/ 648280 h 648280"/>
                  <a:gd name="connsiteX4-539" fmla="*/ 0 w 1011379"/>
                  <a:gd name="connsiteY4-540" fmla="*/ 605727 h 648280"/>
                  <a:gd name="connsiteX0-541" fmla="*/ 0 w 1011379"/>
                  <a:gd name="connsiteY0-542" fmla="*/ 605727 h 648280"/>
                  <a:gd name="connsiteX1-543" fmla="*/ 490915 w 1011379"/>
                  <a:gd name="connsiteY1-544" fmla="*/ 13939 h 648280"/>
                  <a:gd name="connsiteX2-545" fmla="*/ 1011379 w 1011379"/>
                  <a:gd name="connsiteY2-546" fmla="*/ 563 h 648280"/>
                  <a:gd name="connsiteX3-547" fmla="*/ 198718 w 1011379"/>
                  <a:gd name="connsiteY3-548" fmla="*/ 648280 h 648280"/>
                  <a:gd name="connsiteX4-549" fmla="*/ 0 w 1011379"/>
                  <a:gd name="connsiteY4-550" fmla="*/ 605727 h 648280"/>
                  <a:gd name="connsiteX0-551" fmla="*/ 0 w 1011379"/>
                  <a:gd name="connsiteY0-552" fmla="*/ 605727 h 648280"/>
                  <a:gd name="connsiteX1-553" fmla="*/ 490915 w 1011379"/>
                  <a:gd name="connsiteY1-554" fmla="*/ 13939 h 648280"/>
                  <a:gd name="connsiteX2-555" fmla="*/ 1011379 w 1011379"/>
                  <a:gd name="connsiteY2-556" fmla="*/ 563 h 648280"/>
                  <a:gd name="connsiteX3-557" fmla="*/ 198718 w 1011379"/>
                  <a:gd name="connsiteY3-558" fmla="*/ 648280 h 648280"/>
                  <a:gd name="connsiteX4-559" fmla="*/ 0 w 1011379"/>
                  <a:gd name="connsiteY4-560" fmla="*/ 605727 h 648280"/>
                  <a:gd name="connsiteX0-561" fmla="*/ 0 w 1011379"/>
                  <a:gd name="connsiteY0-562" fmla="*/ 605727 h 605727"/>
                  <a:gd name="connsiteX1-563" fmla="*/ 490915 w 1011379"/>
                  <a:gd name="connsiteY1-564" fmla="*/ 13939 h 605727"/>
                  <a:gd name="connsiteX2-565" fmla="*/ 1011379 w 1011379"/>
                  <a:gd name="connsiteY2-566" fmla="*/ 563 h 605727"/>
                  <a:gd name="connsiteX3-567" fmla="*/ 318823 w 1011379"/>
                  <a:gd name="connsiteY3-568" fmla="*/ 553361 h 605727"/>
                  <a:gd name="connsiteX4-569" fmla="*/ 0 w 1011379"/>
                  <a:gd name="connsiteY4-570" fmla="*/ 605727 h 605727"/>
                  <a:gd name="connsiteX0-571" fmla="*/ 0 w 866251"/>
                  <a:gd name="connsiteY0-572" fmla="*/ 540783 h 553361"/>
                  <a:gd name="connsiteX1-573" fmla="*/ 345787 w 866251"/>
                  <a:gd name="connsiteY1-574" fmla="*/ 13939 h 553361"/>
                  <a:gd name="connsiteX2-575" fmla="*/ 866251 w 866251"/>
                  <a:gd name="connsiteY2-576" fmla="*/ 563 h 553361"/>
                  <a:gd name="connsiteX3-577" fmla="*/ 173695 w 866251"/>
                  <a:gd name="connsiteY3-578" fmla="*/ 553361 h 553361"/>
                  <a:gd name="connsiteX4-579" fmla="*/ 0 w 866251"/>
                  <a:gd name="connsiteY4-580" fmla="*/ 540783 h 553361"/>
                  <a:gd name="connsiteX0-581" fmla="*/ 0 w 866251"/>
                  <a:gd name="connsiteY0-582" fmla="*/ 540783 h 553361"/>
                  <a:gd name="connsiteX1-583" fmla="*/ 345787 w 866251"/>
                  <a:gd name="connsiteY1-584" fmla="*/ 13939 h 553361"/>
                  <a:gd name="connsiteX2-585" fmla="*/ 866251 w 866251"/>
                  <a:gd name="connsiteY2-586" fmla="*/ 563 h 553361"/>
                  <a:gd name="connsiteX3-587" fmla="*/ 173695 w 866251"/>
                  <a:gd name="connsiteY3-588" fmla="*/ 553361 h 553361"/>
                  <a:gd name="connsiteX4-589" fmla="*/ 0 w 866251"/>
                  <a:gd name="connsiteY4-590" fmla="*/ 540783 h 553361"/>
                  <a:gd name="connsiteX0-591" fmla="*/ 0 w 866251"/>
                  <a:gd name="connsiteY0-592" fmla="*/ 540783 h 553361"/>
                  <a:gd name="connsiteX1-593" fmla="*/ 345787 w 866251"/>
                  <a:gd name="connsiteY1-594" fmla="*/ 13939 h 553361"/>
                  <a:gd name="connsiteX2-595" fmla="*/ 866251 w 866251"/>
                  <a:gd name="connsiteY2-596" fmla="*/ 563 h 553361"/>
                  <a:gd name="connsiteX3-597" fmla="*/ 173695 w 866251"/>
                  <a:gd name="connsiteY3-598" fmla="*/ 553361 h 553361"/>
                  <a:gd name="connsiteX4-599" fmla="*/ 0 w 866251"/>
                  <a:gd name="connsiteY4-600" fmla="*/ 540783 h 553361"/>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378281" y="5449835"/>
                <a:ext cx="675485" cy="89677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27977 w 802211"/>
                  <a:gd name="connsiteY0-372" fmla="*/ 815791 h 976186"/>
                  <a:gd name="connsiteX1-373" fmla="*/ 302601 w 802211"/>
                  <a:gd name="connsiteY1-374" fmla="*/ 11688 h 976186"/>
                  <a:gd name="connsiteX2-375" fmla="*/ 802211 w 802211"/>
                  <a:gd name="connsiteY2-376" fmla="*/ 0 h 976186"/>
                  <a:gd name="connsiteX3-377" fmla="*/ 575940 w 802211"/>
                  <a:gd name="connsiteY3-378" fmla="*/ 976186 h 976186"/>
                  <a:gd name="connsiteX4-379" fmla="*/ 27977 w 802211"/>
                  <a:gd name="connsiteY4-380" fmla="*/ 815791 h 976186"/>
                  <a:gd name="connsiteX0-381" fmla="*/ 27977 w 802211"/>
                  <a:gd name="connsiteY0-382" fmla="*/ 815791 h 815791"/>
                  <a:gd name="connsiteX1-383" fmla="*/ 302601 w 802211"/>
                  <a:gd name="connsiteY1-384" fmla="*/ 11688 h 815791"/>
                  <a:gd name="connsiteX2-385" fmla="*/ 802211 w 802211"/>
                  <a:gd name="connsiteY2-386" fmla="*/ 0 h 815791"/>
                  <a:gd name="connsiteX3-387" fmla="*/ 236294 w 802211"/>
                  <a:gd name="connsiteY3-388" fmla="*/ 808828 h 815791"/>
                  <a:gd name="connsiteX4-389" fmla="*/ 27977 w 802211"/>
                  <a:gd name="connsiteY4-390" fmla="*/ 815791 h 815791"/>
                  <a:gd name="connsiteX0-391" fmla="*/ 27977 w 802211"/>
                  <a:gd name="connsiteY0-392" fmla="*/ 815791 h 815791"/>
                  <a:gd name="connsiteX1-393" fmla="*/ 302601 w 802211"/>
                  <a:gd name="connsiteY1-394" fmla="*/ 11688 h 815791"/>
                  <a:gd name="connsiteX2-395" fmla="*/ 802211 w 802211"/>
                  <a:gd name="connsiteY2-396" fmla="*/ 0 h 815791"/>
                  <a:gd name="connsiteX3-397" fmla="*/ 236294 w 802211"/>
                  <a:gd name="connsiteY3-398" fmla="*/ 808828 h 815791"/>
                  <a:gd name="connsiteX4-399" fmla="*/ 27977 w 802211"/>
                  <a:gd name="connsiteY4-400" fmla="*/ 815791 h 815791"/>
                  <a:gd name="connsiteX0-401" fmla="*/ 27977 w 802211"/>
                  <a:gd name="connsiteY0-402" fmla="*/ 815791 h 815791"/>
                  <a:gd name="connsiteX1-403" fmla="*/ 302601 w 802211"/>
                  <a:gd name="connsiteY1-404" fmla="*/ 11688 h 815791"/>
                  <a:gd name="connsiteX2-405" fmla="*/ 802211 w 802211"/>
                  <a:gd name="connsiteY2-406" fmla="*/ 0 h 815791"/>
                  <a:gd name="connsiteX3-407" fmla="*/ 236294 w 802211"/>
                  <a:gd name="connsiteY3-408" fmla="*/ 808828 h 815791"/>
                  <a:gd name="connsiteX4-409" fmla="*/ 27977 w 802211"/>
                  <a:gd name="connsiteY4-410" fmla="*/ 815791 h 815791"/>
                  <a:gd name="connsiteX0-411" fmla="*/ 27977 w 802211"/>
                  <a:gd name="connsiteY0-412" fmla="*/ 828714 h 828714"/>
                  <a:gd name="connsiteX1-413" fmla="*/ 302601 w 802211"/>
                  <a:gd name="connsiteY1-414" fmla="*/ 0 h 828714"/>
                  <a:gd name="connsiteX2-415" fmla="*/ 802211 w 802211"/>
                  <a:gd name="connsiteY2-416" fmla="*/ 12923 h 828714"/>
                  <a:gd name="connsiteX3-417" fmla="*/ 236294 w 802211"/>
                  <a:gd name="connsiteY3-418" fmla="*/ 821751 h 828714"/>
                  <a:gd name="connsiteX4-419" fmla="*/ 27977 w 802211"/>
                  <a:gd name="connsiteY4-420" fmla="*/ 828714 h 828714"/>
                  <a:gd name="connsiteX0-421" fmla="*/ 56213 w 830447"/>
                  <a:gd name="connsiteY0-422" fmla="*/ 828714 h 828714"/>
                  <a:gd name="connsiteX1-423" fmla="*/ 330837 w 830447"/>
                  <a:gd name="connsiteY1-424" fmla="*/ 0 h 828714"/>
                  <a:gd name="connsiteX2-425" fmla="*/ 830447 w 830447"/>
                  <a:gd name="connsiteY2-426" fmla="*/ 12923 h 828714"/>
                  <a:gd name="connsiteX3-427" fmla="*/ 264530 w 830447"/>
                  <a:gd name="connsiteY3-428" fmla="*/ 821751 h 828714"/>
                  <a:gd name="connsiteX4-429" fmla="*/ 56213 w 830447"/>
                  <a:gd name="connsiteY4-430" fmla="*/ 828714 h 828714"/>
                  <a:gd name="connsiteX0-431" fmla="*/ 64130 w 789139"/>
                  <a:gd name="connsiteY0-432" fmla="*/ 794258 h 821751"/>
                  <a:gd name="connsiteX1-433" fmla="*/ 289529 w 789139"/>
                  <a:gd name="connsiteY1-434" fmla="*/ 0 h 821751"/>
                  <a:gd name="connsiteX2-435" fmla="*/ 789139 w 789139"/>
                  <a:gd name="connsiteY2-436" fmla="*/ 12923 h 821751"/>
                  <a:gd name="connsiteX3-437" fmla="*/ 223222 w 789139"/>
                  <a:gd name="connsiteY3-438" fmla="*/ 821751 h 821751"/>
                  <a:gd name="connsiteX4-439" fmla="*/ 64130 w 789139"/>
                  <a:gd name="connsiteY4-440" fmla="*/ 794258 h 821751"/>
                  <a:gd name="connsiteX0-441" fmla="*/ 0 w 725009"/>
                  <a:gd name="connsiteY0-442" fmla="*/ 794258 h 821751"/>
                  <a:gd name="connsiteX1-443" fmla="*/ 225399 w 725009"/>
                  <a:gd name="connsiteY1-444" fmla="*/ 0 h 821751"/>
                  <a:gd name="connsiteX2-445" fmla="*/ 725009 w 725009"/>
                  <a:gd name="connsiteY2-446" fmla="*/ 12923 h 821751"/>
                  <a:gd name="connsiteX3-447" fmla="*/ 159092 w 725009"/>
                  <a:gd name="connsiteY3-448" fmla="*/ 821751 h 821751"/>
                  <a:gd name="connsiteX4-449" fmla="*/ 0 w 725009"/>
                  <a:gd name="connsiteY4-450" fmla="*/ 794258 h 821751"/>
                  <a:gd name="connsiteX0-451" fmla="*/ 0 w 725009"/>
                  <a:gd name="connsiteY0-452" fmla="*/ 1203768 h 1231261"/>
                  <a:gd name="connsiteX1-453" fmla="*/ 225399 w 725009"/>
                  <a:gd name="connsiteY1-454" fmla="*/ 0 h 1231261"/>
                  <a:gd name="connsiteX2-455" fmla="*/ 725009 w 725009"/>
                  <a:gd name="connsiteY2-456" fmla="*/ 422433 h 1231261"/>
                  <a:gd name="connsiteX3-457" fmla="*/ 159092 w 725009"/>
                  <a:gd name="connsiteY3-458" fmla="*/ 1231261 h 1231261"/>
                  <a:gd name="connsiteX4-459" fmla="*/ 0 w 725009"/>
                  <a:gd name="connsiteY4-460" fmla="*/ 1203768 h 1231261"/>
                  <a:gd name="connsiteX0-461" fmla="*/ 0 w 725009"/>
                  <a:gd name="connsiteY0-462" fmla="*/ 1217334 h 1244827"/>
                  <a:gd name="connsiteX1-463" fmla="*/ 225399 w 725009"/>
                  <a:gd name="connsiteY1-464" fmla="*/ 13566 h 1244827"/>
                  <a:gd name="connsiteX2-465" fmla="*/ 725009 w 725009"/>
                  <a:gd name="connsiteY2-466" fmla="*/ 571 h 1244827"/>
                  <a:gd name="connsiteX3-467" fmla="*/ 159092 w 725009"/>
                  <a:gd name="connsiteY3-468" fmla="*/ 1244827 h 1244827"/>
                  <a:gd name="connsiteX4-469" fmla="*/ 0 w 725009"/>
                  <a:gd name="connsiteY4-470" fmla="*/ 1217334 h 1244827"/>
                  <a:gd name="connsiteX0-471" fmla="*/ 0 w 725009"/>
                  <a:gd name="connsiteY0-472" fmla="*/ 1217334 h 1244827"/>
                  <a:gd name="connsiteX1-473" fmla="*/ 225399 w 725009"/>
                  <a:gd name="connsiteY1-474" fmla="*/ 13566 h 1244827"/>
                  <a:gd name="connsiteX2-475" fmla="*/ 725009 w 725009"/>
                  <a:gd name="connsiteY2-476" fmla="*/ 571 h 1244827"/>
                  <a:gd name="connsiteX3-477" fmla="*/ 159092 w 725009"/>
                  <a:gd name="connsiteY3-478" fmla="*/ 1244827 h 1244827"/>
                  <a:gd name="connsiteX4-479" fmla="*/ 0 w 725009"/>
                  <a:gd name="connsiteY4-480" fmla="*/ 1217334 h 1244827"/>
                  <a:gd name="connsiteX0-481" fmla="*/ 0 w 725009"/>
                  <a:gd name="connsiteY0-482" fmla="*/ 1217334 h 1244827"/>
                  <a:gd name="connsiteX1-483" fmla="*/ 225399 w 725009"/>
                  <a:gd name="connsiteY1-484" fmla="*/ 13566 h 1244827"/>
                  <a:gd name="connsiteX2-485" fmla="*/ 725009 w 725009"/>
                  <a:gd name="connsiteY2-486" fmla="*/ 571 h 1244827"/>
                  <a:gd name="connsiteX3-487" fmla="*/ 159092 w 725009"/>
                  <a:gd name="connsiteY3-488" fmla="*/ 1244827 h 1244827"/>
                  <a:gd name="connsiteX4-489" fmla="*/ 0 w 725009"/>
                  <a:gd name="connsiteY4-490" fmla="*/ 1217334 h 1244827"/>
                  <a:gd name="connsiteX0-491" fmla="*/ 0 w 725009"/>
                  <a:gd name="connsiteY0-492" fmla="*/ 1217334 h 1244827"/>
                  <a:gd name="connsiteX1-493" fmla="*/ 225399 w 725009"/>
                  <a:gd name="connsiteY1-494" fmla="*/ 13566 h 1244827"/>
                  <a:gd name="connsiteX2-495" fmla="*/ 725009 w 725009"/>
                  <a:gd name="connsiteY2-496" fmla="*/ 571 h 1244827"/>
                  <a:gd name="connsiteX3-497" fmla="*/ 159092 w 725009"/>
                  <a:gd name="connsiteY3-498" fmla="*/ 1244827 h 1244827"/>
                  <a:gd name="connsiteX4-499" fmla="*/ 0 w 725009"/>
                  <a:gd name="connsiteY4-500" fmla="*/ 1217334 h 1244827"/>
                  <a:gd name="connsiteX0-501" fmla="*/ 0 w 725009"/>
                  <a:gd name="connsiteY0-502" fmla="*/ 1217334 h 1244827"/>
                  <a:gd name="connsiteX1-503" fmla="*/ 225399 w 725009"/>
                  <a:gd name="connsiteY1-504" fmla="*/ 13566 h 1244827"/>
                  <a:gd name="connsiteX2-505" fmla="*/ 725009 w 725009"/>
                  <a:gd name="connsiteY2-506" fmla="*/ 571 h 1244827"/>
                  <a:gd name="connsiteX3-507" fmla="*/ 159092 w 725009"/>
                  <a:gd name="connsiteY3-508" fmla="*/ 1244827 h 1244827"/>
                  <a:gd name="connsiteX4-509" fmla="*/ 0 w 725009"/>
                  <a:gd name="connsiteY4-510" fmla="*/ 1217334 h 1244827"/>
                  <a:gd name="connsiteX0-511" fmla="*/ 0 w 725009"/>
                  <a:gd name="connsiteY0-512" fmla="*/ 1217334 h 1244827"/>
                  <a:gd name="connsiteX1-513" fmla="*/ 225399 w 725009"/>
                  <a:gd name="connsiteY1-514" fmla="*/ 13566 h 1244827"/>
                  <a:gd name="connsiteX2-515" fmla="*/ 725009 w 725009"/>
                  <a:gd name="connsiteY2-516" fmla="*/ 571 h 1244827"/>
                  <a:gd name="connsiteX3-517" fmla="*/ 159092 w 725009"/>
                  <a:gd name="connsiteY3-518" fmla="*/ 1244827 h 1244827"/>
                  <a:gd name="connsiteX4-519" fmla="*/ 0 w 725009"/>
                  <a:gd name="connsiteY4-520" fmla="*/ 1217334 h 1244827"/>
                  <a:gd name="connsiteX0-521" fmla="*/ 0 w 725009"/>
                  <a:gd name="connsiteY0-522" fmla="*/ 1203768 h 1231261"/>
                  <a:gd name="connsiteX1-523" fmla="*/ 225399 w 725009"/>
                  <a:gd name="connsiteY1-524" fmla="*/ 0 h 1231261"/>
                  <a:gd name="connsiteX2-525" fmla="*/ 725009 w 725009"/>
                  <a:gd name="connsiteY2-526" fmla="*/ 129782 h 1231261"/>
                  <a:gd name="connsiteX3-527" fmla="*/ 159092 w 725009"/>
                  <a:gd name="connsiteY3-528" fmla="*/ 1231261 h 1231261"/>
                  <a:gd name="connsiteX4-529" fmla="*/ 0 w 725009"/>
                  <a:gd name="connsiteY4-530" fmla="*/ 1203768 h 1231261"/>
                  <a:gd name="connsiteX0-531" fmla="*/ 0 w 725009"/>
                  <a:gd name="connsiteY0-532" fmla="*/ 1203768 h 1231261"/>
                  <a:gd name="connsiteX1-533" fmla="*/ 225399 w 725009"/>
                  <a:gd name="connsiteY1-534" fmla="*/ 0 h 1231261"/>
                  <a:gd name="connsiteX2-535" fmla="*/ 725009 w 725009"/>
                  <a:gd name="connsiteY2-536" fmla="*/ 129782 h 1231261"/>
                  <a:gd name="connsiteX3-537" fmla="*/ 159092 w 725009"/>
                  <a:gd name="connsiteY3-538" fmla="*/ 1231261 h 1231261"/>
                  <a:gd name="connsiteX4-539" fmla="*/ 0 w 725009"/>
                  <a:gd name="connsiteY4-540" fmla="*/ 1203768 h 1231261"/>
                  <a:gd name="connsiteX0-541" fmla="*/ 0 w 725009"/>
                  <a:gd name="connsiteY0-542" fmla="*/ 1203768 h 1231261"/>
                  <a:gd name="connsiteX1-543" fmla="*/ 225399 w 725009"/>
                  <a:gd name="connsiteY1-544" fmla="*/ 0 h 1231261"/>
                  <a:gd name="connsiteX2-545" fmla="*/ 725009 w 725009"/>
                  <a:gd name="connsiteY2-546" fmla="*/ 129782 h 1231261"/>
                  <a:gd name="connsiteX3-547" fmla="*/ 159092 w 725009"/>
                  <a:gd name="connsiteY3-548" fmla="*/ 1231261 h 1231261"/>
                  <a:gd name="connsiteX4-549" fmla="*/ 0 w 725009"/>
                  <a:gd name="connsiteY4-550" fmla="*/ 1203768 h 1231261"/>
                  <a:gd name="connsiteX0-551" fmla="*/ 0 w 725497"/>
                  <a:gd name="connsiteY0-552" fmla="*/ 1279028 h 1306521"/>
                  <a:gd name="connsiteX1-553" fmla="*/ 225399 w 725497"/>
                  <a:gd name="connsiteY1-554" fmla="*/ 75260 h 1306521"/>
                  <a:gd name="connsiteX2-555" fmla="*/ 396193 w 725497"/>
                  <a:gd name="connsiteY2-556" fmla="*/ 156799 h 1306521"/>
                  <a:gd name="connsiteX3-557" fmla="*/ 725009 w 725497"/>
                  <a:gd name="connsiteY3-558" fmla="*/ 205042 h 1306521"/>
                  <a:gd name="connsiteX4-559" fmla="*/ 159092 w 725497"/>
                  <a:gd name="connsiteY4-560" fmla="*/ 1306521 h 1306521"/>
                  <a:gd name="connsiteX5-561" fmla="*/ 0 w 725497"/>
                  <a:gd name="connsiteY5-562" fmla="*/ 1279028 h 1306521"/>
                  <a:gd name="connsiteX0-563" fmla="*/ 0 w 725239"/>
                  <a:gd name="connsiteY0-564" fmla="*/ 1295668 h 1323161"/>
                  <a:gd name="connsiteX1-565" fmla="*/ 225399 w 725239"/>
                  <a:gd name="connsiteY1-566" fmla="*/ 91900 h 1323161"/>
                  <a:gd name="connsiteX2-567" fmla="*/ 725009 w 725239"/>
                  <a:gd name="connsiteY2-568" fmla="*/ 221682 h 1323161"/>
                  <a:gd name="connsiteX3-569" fmla="*/ 159092 w 725239"/>
                  <a:gd name="connsiteY3-570" fmla="*/ 1323161 h 1323161"/>
                  <a:gd name="connsiteX4-571" fmla="*/ 0 w 725239"/>
                  <a:gd name="connsiteY4-572" fmla="*/ 1295668 h 1323161"/>
                  <a:gd name="connsiteX0-573" fmla="*/ 0 w 725221"/>
                  <a:gd name="connsiteY0-574" fmla="*/ 1210552 h 1238045"/>
                  <a:gd name="connsiteX1-575" fmla="*/ 191583 w 725221"/>
                  <a:gd name="connsiteY1-576" fmla="*/ 153319 h 1238045"/>
                  <a:gd name="connsiteX2-577" fmla="*/ 725009 w 725221"/>
                  <a:gd name="connsiteY2-578" fmla="*/ 136566 h 1238045"/>
                  <a:gd name="connsiteX3-579" fmla="*/ 159092 w 725221"/>
                  <a:gd name="connsiteY3-580" fmla="*/ 1238045 h 1238045"/>
                  <a:gd name="connsiteX4-581" fmla="*/ 0 w 725221"/>
                  <a:gd name="connsiteY4-582" fmla="*/ 1210552 h 1238045"/>
                  <a:gd name="connsiteX0-583" fmla="*/ 0 w 725305"/>
                  <a:gd name="connsiteY0-584" fmla="*/ 1158512 h 1186005"/>
                  <a:gd name="connsiteX1-585" fmla="*/ 191583 w 725305"/>
                  <a:gd name="connsiteY1-586" fmla="*/ 101279 h 1186005"/>
                  <a:gd name="connsiteX2-587" fmla="*/ 725009 w 725305"/>
                  <a:gd name="connsiteY2-588" fmla="*/ 84526 h 1186005"/>
                  <a:gd name="connsiteX3-589" fmla="*/ 159092 w 725305"/>
                  <a:gd name="connsiteY3-590" fmla="*/ 1186005 h 1186005"/>
                  <a:gd name="connsiteX4-591" fmla="*/ 0 w 725305"/>
                  <a:gd name="connsiteY4-592" fmla="*/ 1158512 h 1186005"/>
                  <a:gd name="connsiteX0-593" fmla="*/ 0 w 725009"/>
                  <a:gd name="connsiteY0-594" fmla="*/ 1073986 h 1101479"/>
                  <a:gd name="connsiteX1-595" fmla="*/ 191583 w 725009"/>
                  <a:gd name="connsiteY1-596" fmla="*/ 16753 h 1101479"/>
                  <a:gd name="connsiteX2-597" fmla="*/ 725009 w 725009"/>
                  <a:gd name="connsiteY2-598" fmla="*/ 0 h 1101479"/>
                  <a:gd name="connsiteX3-599" fmla="*/ 159092 w 725009"/>
                  <a:gd name="connsiteY3-600" fmla="*/ 1101479 h 1101479"/>
                  <a:gd name="connsiteX4-601" fmla="*/ 0 w 725009"/>
                  <a:gd name="connsiteY4-602" fmla="*/ 1073986 h 1101479"/>
                  <a:gd name="connsiteX0-603" fmla="*/ 0 w 725009"/>
                  <a:gd name="connsiteY0-604" fmla="*/ 1073986 h 1101479"/>
                  <a:gd name="connsiteX1-605" fmla="*/ 206612 w 725009"/>
                  <a:gd name="connsiteY1-606" fmla="*/ 1724 h 1101479"/>
                  <a:gd name="connsiteX2-607" fmla="*/ 725009 w 725009"/>
                  <a:gd name="connsiteY2-608" fmla="*/ 0 h 1101479"/>
                  <a:gd name="connsiteX3-609" fmla="*/ 159092 w 725009"/>
                  <a:gd name="connsiteY3-610" fmla="*/ 1101479 h 1101479"/>
                  <a:gd name="connsiteX4-611" fmla="*/ 0 w 725009"/>
                  <a:gd name="connsiteY4-612" fmla="*/ 1073986 h 1101479"/>
                  <a:gd name="connsiteX0-613" fmla="*/ 0 w 725009"/>
                  <a:gd name="connsiteY0-614" fmla="*/ 1073986 h 1101479"/>
                  <a:gd name="connsiteX1-615" fmla="*/ 206612 w 725009"/>
                  <a:gd name="connsiteY1-616" fmla="*/ 1724 h 1101479"/>
                  <a:gd name="connsiteX2-617" fmla="*/ 725009 w 725009"/>
                  <a:gd name="connsiteY2-618" fmla="*/ 0 h 1101479"/>
                  <a:gd name="connsiteX3-619" fmla="*/ 159092 w 725009"/>
                  <a:gd name="connsiteY3-620" fmla="*/ 1101479 h 1101479"/>
                  <a:gd name="connsiteX4-621" fmla="*/ 0 w 725009"/>
                  <a:gd name="connsiteY4-622" fmla="*/ 1073986 h 1101479"/>
                  <a:gd name="connsiteX0-623" fmla="*/ 0 w 725009"/>
                  <a:gd name="connsiteY0-624" fmla="*/ 1073986 h 1101479"/>
                  <a:gd name="connsiteX1-625" fmla="*/ 206612 w 725009"/>
                  <a:gd name="connsiteY1-626" fmla="*/ 1724 h 1101479"/>
                  <a:gd name="connsiteX2-627" fmla="*/ 725009 w 725009"/>
                  <a:gd name="connsiteY2-628" fmla="*/ 0 h 1101479"/>
                  <a:gd name="connsiteX3-629" fmla="*/ 159092 w 725009"/>
                  <a:gd name="connsiteY3-630" fmla="*/ 1101479 h 1101479"/>
                  <a:gd name="connsiteX4-631" fmla="*/ 0 w 725009"/>
                  <a:gd name="connsiteY4-632" fmla="*/ 1073986 h 1101479"/>
                  <a:gd name="connsiteX0-633" fmla="*/ 0 w 725009"/>
                  <a:gd name="connsiteY0-634" fmla="*/ 1073986 h 1074607"/>
                  <a:gd name="connsiteX1-635" fmla="*/ 206612 w 725009"/>
                  <a:gd name="connsiteY1-636" fmla="*/ 1724 h 1074607"/>
                  <a:gd name="connsiteX2-637" fmla="*/ 725009 w 725009"/>
                  <a:gd name="connsiteY2-638" fmla="*/ 0 h 1074607"/>
                  <a:gd name="connsiteX3-639" fmla="*/ 229048 w 725009"/>
                  <a:gd name="connsiteY3-640" fmla="*/ 886531 h 1074607"/>
                  <a:gd name="connsiteX4-641" fmla="*/ 0 w 725009"/>
                  <a:gd name="connsiteY4-642" fmla="*/ 1073986 h 1074607"/>
                  <a:gd name="connsiteX0-643" fmla="*/ 0 w 725009"/>
                  <a:gd name="connsiteY0-644" fmla="*/ 1073986 h 1074607"/>
                  <a:gd name="connsiteX1-645" fmla="*/ 206612 w 725009"/>
                  <a:gd name="connsiteY1-646" fmla="*/ 1724 h 1074607"/>
                  <a:gd name="connsiteX2-647" fmla="*/ 725009 w 725009"/>
                  <a:gd name="connsiteY2-648" fmla="*/ 0 h 1074607"/>
                  <a:gd name="connsiteX3-649" fmla="*/ 229048 w 725009"/>
                  <a:gd name="connsiteY3-650" fmla="*/ 886531 h 1074607"/>
                  <a:gd name="connsiteX4-651" fmla="*/ 0 w 725009"/>
                  <a:gd name="connsiteY4-652" fmla="*/ 1073986 h 1074607"/>
                  <a:gd name="connsiteX0-653" fmla="*/ 0 w 675040"/>
                  <a:gd name="connsiteY0-654" fmla="*/ 894029 h 896577"/>
                  <a:gd name="connsiteX1-655" fmla="*/ 156643 w 675040"/>
                  <a:gd name="connsiteY1-656" fmla="*/ 1724 h 896577"/>
                  <a:gd name="connsiteX2-657" fmla="*/ 675040 w 675040"/>
                  <a:gd name="connsiteY2-658" fmla="*/ 0 h 896577"/>
                  <a:gd name="connsiteX3-659" fmla="*/ 179079 w 675040"/>
                  <a:gd name="connsiteY3-660" fmla="*/ 886531 h 896577"/>
                  <a:gd name="connsiteX4-661" fmla="*/ 0 w 675040"/>
                  <a:gd name="connsiteY4-662" fmla="*/ 894029 h 896577"/>
                  <a:gd name="connsiteX0-663" fmla="*/ 0 w 675040"/>
                  <a:gd name="connsiteY0-664" fmla="*/ 894029 h 896577"/>
                  <a:gd name="connsiteX1-665" fmla="*/ 186623 w 675040"/>
                  <a:gd name="connsiteY1-666" fmla="*/ 1724 h 896577"/>
                  <a:gd name="connsiteX2-667" fmla="*/ 675040 w 675040"/>
                  <a:gd name="connsiteY2-668" fmla="*/ 0 h 896577"/>
                  <a:gd name="connsiteX3-669" fmla="*/ 179079 w 675040"/>
                  <a:gd name="connsiteY3-670" fmla="*/ 886531 h 896577"/>
                  <a:gd name="connsiteX4-671" fmla="*/ 0 w 675040"/>
                  <a:gd name="connsiteY4-672" fmla="*/ 894029 h 89657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40854" y="5470471"/>
                <a:ext cx="514350" cy="40184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503138"/>
                  <a:gd name="connsiteY0-372" fmla="*/ 961687 h 964568"/>
                  <a:gd name="connsiteX1-373" fmla="*/ 0 w 503138"/>
                  <a:gd name="connsiteY1-374" fmla="*/ 70 h 964568"/>
                  <a:gd name="connsiteX2-375" fmla="*/ 503138 w 503138"/>
                  <a:gd name="connsiteY2-376" fmla="*/ 154187 h 964568"/>
                  <a:gd name="connsiteX3-377" fmla="*/ 273339 w 503138"/>
                  <a:gd name="connsiteY3-378" fmla="*/ 964568 h 964568"/>
                  <a:gd name="connsiteX4-379" fmla="*/ 197928 w 503138"/>
                  <a:gd name="connsiteY4-380" fmla="*/ 961687 h 964568"/>
                  <a:gd name="connsiteX0-381" fmla="*/ 201456 w 506666"/>
                  <a:gd name="connsiteY0-382" fmla="*/ 807500 h 810381"/>
                  <a:gd name="connsiteX1-383" fmla="*/ 0 w 506666"/>
                  <a:gd name="connsiteY1-384" fmla="*/ 15216 h 810381"/>
                  <a:gd name="connsiteX2-385" fmla="*/ 506666 w 506666"/>
                  <a:gd name="connsiteY2-386" fmla="*/ 0 h 810381"/>
                  <a:gd name="connsiteX3-387" fmla="*/ 276867 w 506666"/>
                  <a:gd name="connsiteY3-388" fmla="*/ 810381 h 810381"/>
                  <a:gd name="connsiteX4-389" fmla="*/ 201456 w 506666"/>
                  <a:gd name="connsiteY4-390" fmla="*/ 807500 h 810381"/>
                  <a:gd name="connsiteX0-391" fmla="*/ 201456 w 506666"/>
                  <a:gd name="connsiteY0-392" fmla="*/ 807500 h 811593"/>
                  <a:gd name="connsiteX1-393" fmla="*/ 0 w 506666"/>
                  <a:gd name="connsiteY1-394" fmla="*/ 15216 h 811593"/>
                  <a:gd name="connsiteX2-395" fmla="*/ 506666 w 506666"/>
                  <a:gd name="connsiteY2-396" fmla="*/ 0 h 811593"/>
                  <a:gd name="connsiteX3-397" fmla="*/ 276867 w 506666"/>
                  <a:gd name="connsiteY3-398" fmla="*/ 810381 h 811593"/>
                  <a:gd name="connsiteX4-399" fmla="*/ 201456 w 506666"/>
                  <a:gd name="connsiteY4-400" fmla="*/ 807500 h 811593"/>
                  <a:gd name="connsiteX0-401" fmla="*/ 135576 w 506666"/>
                  <a:gd name="connsiteY0-402" fmla="*/ 818480 h 818480"/>
                  <a:gd name="connsiteX1-403" fmla="*/ 0 w 506666"/>
                  <a:gd name="connsiteY1-404" fmla="*/ 15216 h 818480"/>
                  <a:gd name="connsiteX2-405" fmla="*/ 506666 w 506666"/>
                  <a:gd name="connsiteY2-406" fmla="*/ 0 h 818480"/>
                  <a:gd name="connsiteX3-407" fmla="*/ 276867 w 506666"/>
                  <a:gd name="connsiteY3-408" fmla="*/ 810381 h 818480"/>
                  <a:gd name="connsiteX4-409" fmla="*/ 135576 w 506666"/>
                  <a:gd name="connsiteY4-410" fmla="*/ 818480 h 818480"/>
                  <a:gd name="connsiteX0-411" fmla="*/ 135576 w 506666"/>
                  <a:gd name="connsiteY0-412" fmla="*/ 818480 h 818480"/>
                  <a:gd name="connsiteX1-413" fmla="*/ 0 w 506666"/>
                  <a:gd name="connsiteY1-414" fmla="*/ 15216 h 818480"/>
                  <a:gd name="connsiteX2-415" fmla="*/ 506666 w 506666"/>
                  <a:gd name="connsiteY2-416" fmla="*/ 0 h 818480"/>
                  <a:gd name="connsiteX3-417" fmla="*/ 331766 w 506666"/>
                  <a:gd name="connsiteY3-418" fmla="*/ 803061 h 818480"/>
                  <a:gd name="connsiteX4-419" fmla="*/ 135576 w 506666"/>
                  <a:gd name="connsiteY4-420" fmla="*/ 818480 h 818480"/>
                  <a:gd name="connsiteX0-421" fmla="*/ 135576 w 506666"/>
                  <a:gd name="connsiteY0-422" fmla="*/ 818480 h 818480"/>
                  <a:gd name="connsiteX1-423" fmla="*/ 0 w 506666"/>
                  <a:gd name="connsiteY1-424" fmla="*/ 15216 h 818480"/>
                  <a:gd name="connsiteX2-425" fmla="*/ 506666 w 506666"/>
                  <a:gd name="connsiteY2-426" fmla="*/ 0 h 818480"/>
                  <a:gd name="connsiteX3-427" fmla="*/ 331766 w 506666"/>
                  <a:gd name="connsiteY3-428" fmla="*/ 803061 h 818480"/>
                  <a:gd name="connsiteX4-429" fmla="*/ 135576 w 506666"/>
                  <a:gd name="connsiteY4-430" fmla="*/ 818480 h 818480"/>
                  <a:gd name="connsiteX0-431" fmla="*/ 135576 w 506666"/>
                  <a:gd name="connsiteY0-432" fmla="*/ 818480 h 818480"/>
                  <a:gd name="connsiteX1-433" fmla="*/ 0 w 506666"/>
                  <a:gd name="connsiteY1-434" fmla="*/ 15216 h 818480"/>
                  <a:gd name="connsiteX2-435" fmla="*/ 506666 w 506666"/>
                  <a:gd name="connsiteY2-436" fmla="*/ 0 h 818480"/>
                  <a:gd name="connsiteX3-437" fmla="*/ 331766 w 506666"/>
                  <a:gd name="connsiteY3-438" fmla="*/ 803061 h 818480"/>
                  <a:gd name="connsiteX4-439" fmla="*/ 135576 w 506666"/>
                  <a:gd name="connsiteY4-440" fmla="*/ 818480 h 818480"/>
                  <a:gd name="connsiteX0-441" fmla="*/ 135576 w 506666"/>
                  <a:gd name="connsiteY0-442" fmla="*/ 818480 h 818480"/>
                  <a:gd name="connsiteX1-443" fmla="*/ 0 w 506666"/>
                  <a:gd name="connsiteY1-444" fmla="*/ 7896 h 818480"/>
                  <a:gd name="connsiteX2-445" fmla="*/ 506666 w 506666"/>
                  <a:gd name="connsiteY2-446" fmla="*/ 0 h 818480"/>
                  <a:gd name="connsiteX3-447" fmla="*/ 331766 w 506666"/>
                  <a:gd name="connsiteY3-448" fmla="*/ 803061 h 818480"/>
                  <a:gd name="connsiteX4-449" fmla="*/ 135576 w 506666"/>
                  <a:gd name="connsiteY4-450" fmla="*/ 818480 h 818480"/>
                  <a:gd name="connsiteX0-451" fmla="*/ 135576 w 506666"/>
                  <a:gd name="connsiteY0-452" fmla="*/ 818480 h 818480"/>
                  <a:gd name="connsiteX1-453" fmla="*/ 0 w 506666"/>
                  <a:gd name="connsiteY1-454" fmla="*/ 7896 h 818480"/>
                  <a:gd name="connsiteX2-455" fmla="*/ 506666 w 506666"/>
                  <a:gd name="connsiteY2-456" fmla="*/ 0 h 818480"/>
                  <a:gd name="connsiteX3-457" fmla="*/ 331766 w 506666"/>
                  <a:gd name="connsiteY3-458" fmla="*/ 803061 h 818480"/>
                  <a:gd name="connsiteX4-459" fmla="*/ 135576 w 506666"/>
                  <a:gd name="connsiteY4-460" fmla="*/ 818480 h 818480"/>
                  <a:gd name="connsiteX0-461" fmla="*/ 45472 w 559302"/>
                  <a:gd name="connsiteY0-462" fmla="*/ 807500 h 807500"/>
                  <a:gd name="connsiteX1-463" fmla="*/ 52636 w 559302"/>
                  <a:gd name="connsiteY1-464" fmla="*/ 7896 h 807500"/>
                  <a:gd name="connsiteX2-465" fmla="*/ 559302 w 559302"/>
                  <a:gd name="connsiteY2-466" fmla="*/ 0 h 807500"/>
                  <a:gd name="connsiteX3-467" fmla="*/ 384402 w 559302"/>
                  <a:gd name="connsiteY3-468" fmla="*/ 803061 h 807500"/>
                  <a:gd name="connsiteX4-469" fmla="*/ 45472 w 559302"/>
                  <a:gd name="connsiteY4-470" fmla="*/ 807500 h 807500"/>
                  <a:gd name="connsiteX0-471" fmla="*/ 21974 w 535804"/>
                  <a:gd name="connsiteY0-472" fmla="*/ 807500 h 807500"/>
                  <a:gd name="connsiteX1-473" fmla="*/ 29138 w 535804"/>
                  <a:gd name="connsiteY1-474" fmla="*/ 7896 h 807500"/>
                  <a:gd name="connsiteX2-475" fmla="*/ 535804 w 535804"/>
                  <a:gd name="connsiteY2-476" fmla="*/ 0 h 807500"/>
                  <a:gd name="connsiteX3-477" fmla="*/ 360904 w 535804"/>
                  <a:gd name="connsiteY3-478" fmla="*/ 803061 h 807500"/>
                  <a:gd name="connsiteX4-479" fmla="*/ 21974 w 535804"/>
                  <a:gd name="connsiteY4-480" fmla="*/ 807500 h 807500"/>
                  <a:gd name="connsiteX0-481" fmla="*/ 128256 w 506666"/>
                  <a:gd name="connsiteY0-482" fmla="*/ 829461 h 829461"/>
                  <a:gd name="connsiteX1-483" fmla="*/ 0 w 506666"/>
                  <a:gd name="connsiteY1-484" fmla="*/ 7896 h 829461"/>
                  <a:gd name="connsiteX2-485" fmla="*/ 506666 w 506666"/>
                  <a:gd name="connsiteY2-486" fmla="*/ 0 h 829461"/>
                  <a:gd name="connsiteX3-487" fmla="*/ 331766 w 506666"/>
                  <a:gd name="connsiteY3-488" fmla="*/ 803061 h 829461"/>
                  <a:gd name="connsiteX4-489" fmla="*/ 128256 w 506666"/>
                  <a:gd name="connsiteY4-490" fmla="*/ 829461 h 829461"/>
                  <a:gd name="connsiteX0-491" fmla="*/ 128256 w 506666"/>
                  <a:gd name="connsiteY0-492" fmla="*/ 829461 h 829461"/>
                  <a:gd name="connsiteX1-493" fmla="*/ 0 w 506666"/>
                  <a:gd name="connsiteY1-494" fmla="*/ 7896 h 829461"/>
                  <a:gd name="connsiteX2-495" fmla="*/ 506666 w 506666"/>
                  <a:gd name="connsiteY2-496" fmla="*/ 0 h 829461"/>
                  <a:gd name="connsiteX3-497" fmla="*/ 331766 w 506666"/>
                  <a:gd name="connsiteY3-498" fmla="*/ 803061 h 829461"/>
                  <a:gd name="connsiteX4-499" fmla="*/ 128256 w 506666"/>
                  <a:gd name="connsiteY4-500" fmla="*/ 829461 h 829461"/>
                  <a:gd name="connsiteX0-501" fmla="*/ 128256 w 506666"/>
                  <a:gd name="connsiteY0-502" fmla="*/ 829461 h 829461"/>
                  <a:gd name="connsiteX1-503" fmla="*/ 0 w 506666"/>
                  <a:gd name="connsiteY1-504" fmla="*/ 7896 h 829461"/>
                  <a:gd name="connsiteX2-505" fmla="*/ 506666 w 506666"/>
                  <a:gd name="connsiteY2-506" fmla="*/ 0 h 829461"/>
                  <a:gd name="connsiteX3-507" fmla="*/ 331766 w 506666"/>
                  <a:gd name="connsiteY3-508" fmla="*/ 803061 h 829461"/>
                  <a:gd name="connsiteX4-509" fmla="*/ 128256 w 506666"/>
                  <a:gd name="connsiteY4-510" fmla="*/ 829461 h 829461"/>
                  <a:gd name="connsiteX0-511" fmla="*/ 128256 w 506666"/>
                  <a:gd name="connsiteY0-512" fmla="*/ 829461 h 830473"/>
                  <a:gd name="connsiteX1-513" fmla="*/ 0 w 506666"/>
                  <a:gd name="connsiteY1-514" fmla="*/ 7896 h 830473"/>
                  <a:gd name="connsiteX2-515" fmla="*/ 506666 w 506666"/>
                  <a:gd name="connsiteY2-516" fmla="*/ 0 h 830473"/>
                  <a:gd name="connsiteX3-517" fmla="*/ 331766 w 506666"/>
                  <a:gd name="connsiteY3-518" fmla="*/ 828681 h 830473"/>
                  <a:gd name="connsiteX4-519" fmla="*/ 128256 w 506666"/>
                  <a:gd name="connsiteY4-520" fmla="*/ 829461 h 830473"/>
                  <a:gd name="connsiteX0-521" fmla="*/ 128256 w 506666"/>
                  <a:gd name="connsiteY0-522" fmla="*/ 829461 h 830473"/>
                  <a:gd name="connsiteX1-523" fmla="*/ 0 w 506666"/>
                  <a:gd name="connsiteY1-524" fmla="*/ 7896 h 830473"/>
                  <a:gd name="connsiteX2-525" fmla="*/ 506666 w 506666"/>
                  <a:gd name="connsiteY2-526" fmla="*/ 0 h 830473"/>
                  <a:gd name="connsiteX3-527" fmla="*/ 331766 w 506666"/>
                  <a:gd name="connsiteY3-528" fmla="*/ 828681 h 830473"/>
                  <a:gd name="connsiteX4-529" fmla="*/ 128256 w 506666"/>
                  <a:gd name="connsiteY4-530" fmla="*/ 829461 h 830473"/>
                  <a:gd name="connsiteX0-531" fmla="*/ 128256 w 506666"/>
                  <a:gd name="connsiteY0-532" fmla="*/ 821565 h 822577"/>
                  <a:gd name="connsiteX1-533" fmla="*/ 0 w 506666"/>
                  <a:gd name="connsiteY1-534" fmla="*/ 0 h 822577"/>
                  <a:gd name="connsiteX2-535" fmla="*/ 506666 w 506666"/>
                  <a:gd name="connsiteY2-536" fmla="*/ 255115 h 822577"/>
                  <a:gd name="connsiteX3-537" fmla="*/ 331766 w 506666"/>
                  <a:gd name="connsiteY3-538" fmla="*/ 820785 h 822577"/>
                  <a:gd name="connsiteX4-539" fmla="*/ 128256 w 506666"/>
                  <a:gd name="connsiteY4-540" fmla="*/ 821565 h 822577"/>
                  <a:gd name="connsiteX0-541" fmla="*/ 128256 w 506666"/>
                  <a:gd name="connsiteY0-542" fmla="*/ 821565 h 822577"/>
                  <a:gd name="connsiteX1-543" fmla="*/ 0 w 506666"/>
                  <a:gd name="connsiteY1-544" fmla="*/ 0 h 822577"/>
                  <a:gd name="connsiteX2-545" fmla="*/ 506666 w 506666"/>
                  <a:gd name="connsiteY2-546" fmla="*/ 255115 h 822577"/>
                  <a:gd name="connsiteX3-547" fmla="*/ 331766 w 506666"/>
                  <a:gd name="connsiteY3-548" fmla="*/ 820785 h 822577"/>
                  <a:gd name="connsiteX4-549" fmla="*/ 128256 w 506666"/>
                  <a:gd name="connsiteY4-550" fmla="*/ 821565 h 822577"/>
                  <a:gd name="connsiteX0-551" fmla="*/ 128256 w 506666"/>
                  <a:gd name="connsiteY0-552" fmla="*/ 821565 h 822577"/>
                  <a:gd name="connsiteX1-553" fmla="*/ 0 w 506666"/>
                  <a:gd name="connsiteY1-554" fmla="*/ 0 h 822577"/>
                  <a:gd name="connsiteX2-555" fmla="*/ 506666 w 506666"/>
                  <a:gd name="connsiteY2-556" fmla="*/ 255115 h 822577"/>
                  <a:gd name="connsiteX3-557" fmla="*/ 331766 w 506666"/>
                  <a:gd name="connsiteY3-558" fmla="*/ 820785 h 822577"/>
                  <a:gd name="connsiteX4-559" fmla="*/ 128256 w 506666"/>
                  <a:gd name="connsiteY4-560" fmla="*/ 821565 h 822577"/>
                  <a:gd name="connsiteX0-561" fmla="*/ 135770 w 514180"/>
                  <a:gd name="connsiteY0-562" fmla="*/ 577341 h 578353"/>
                  <a:gd name="connsiteX1-563" fmla="*/ 0 w 514180"/>
                  <a:gd name="connsiteY1-564" fmla="*/ 0 h 578353"/>
                  <a:gd name="connsiteX2-565" fmla="*/ 514180 w 514180"/>
                  <a:gd name="connsiteY2-566" fmla="*/ 10891 h 578353"/>
                  <a:gd name="connsiteX3-567" fmla="*/ 339280 w 514180"/>
                  <a:gd name="connsiteY3-568" fmla="*/ 576561 h 578353"/>
                  <a:gd name="connsiteX4-569" fmla="*/ 135770 w 514180"/>
                  <a:gd name="connsiteY4-570" fmla="*/ 577341 h 578353"/>
                  <a:gd name="connsiteX0-571" fmla="*/ 135770 w 514180"/>
                  <a:gd name="connsiteY0-572" fmla="*/ 577341 h 578353"/>
                  <a:gd name="connsiteX1-573" fmla="*/ 0 w 514180"/>
                  <a:gd name="connsiteY1-574" fmla="*/ 0 h 578353"/>
                  <a:gd name="connsiteX2-575" fmla="*/ 514180 w 514180"/>
                  <a:gd name="connsiteY2-576" fmla="*/ 10891 h 578353"/>
                  <a:gd name="connsiteX3-577" fmla="*/ 339280 w 514180"/>
                  <a:gd name="connsiteY3-578" fmla="*/ 576561 h 578353"/>
                  <a:gd name="connsiteX4-579" fmla="*/ 135770 w 514180"/>
                  <a:gd name="connsiteY4-580" fmla="*/ 577341 h 578353"/>
                  <a:gd name="connsiteX0-581" fmla="*/ 135770 w 514180"/>
                  <a:gd name="connsiteY0-582" fmla="*/ 577341 h 578353"/>
                  <a:gd name="connsiteX1-583" fmla="*/ 0 w 514180"/>
                  <a:gd name="connsiteY1-584" fmla="*/ 0 h 578353"/>
                  <a:gd name="connsiteX2-585" fmla="*/ 514180 w 514180"/>
                  <a:gd name="connsiteY2-586" fmla="*/ 10891 h 578353"/>
                  <a:gd name="connsiteX3-587" fmla="*/ 339280 w 514180"/>
                  <a:gd name="connsiteY3-588" fmla="*/ 576561 h 578353"/>
                  <a:gd name="connsiteX4-589" fmla="*/ 135770 w 514180"/>
                  <a:gd name="connsiteY4-590" fmla="*/ 577341 h 578353"/>
                  <a:gd name="connsiteX0-591" fmla="*/ 135770 w 514180"/>
                  <a:gd name="connsiteY0-592" fmla="*/ 577341 h 577341"/>
                  <a:gd name="connsiteX1-593" fmla="*/ 0 w 514180"/>
                  <a:gd name="connsiteY1-594" fmla="*/ 0 h 577341"/>
                  <a:gd name="connsiteX2-595" fmla="*/ 514180 w 514180"/>
                  <a:gd name="connsiteY2-596" fmla="*/ 10891 h 577341"/>
                  <a:gd name="connsiteX3-597" fmla="*/ 404259 w 514180"/>
                  <a:gd name="connsiteY3-598" fmla="*/ 386400 h 577341"/>
                  <a:gd name="connsiteX4-599" fmla="*/ 135770 w 514180"/>
                  <a:gd name="connsiteY4-600" fmla="*/ 577341 h 577341"/>
                  <a:gd name="connsiteX0-601" fmla="*/ 100781 w 514180"/>
                  <a:gd name="connsiteY0-602" fmla="*/ 432218 h 432218"/>
                  <a:gd name="connsiteX1-603" fmla="*/ 0 w 514180"/>
                  <a:gd name="connsiteY1-604" fmla="*/ 0 h 432218"/>
                  <a:gd name="connsiteX2-605" fmla="*/ 514180 w 514180"/>
                  <a:gd name="connsiteY2-606" fmla="*/ 10891 h 432218"/>
                  <a:gd name="connsiteX3-607" fmla="*/ 404259 w 514180"/>
                  <a:gd name="connsiteY3-608" fmla="*/ 386400 h 432218"/>
                  <a:gd name="connsiteX4-609" fmla="*/ 100781 w 514180"/>
                  <a:gd name="connsiteY4-610" fmla="*/ 432218 h 432218"/>
                  <a:gd name="connsiteX0-611" fmla="*/ 100781 w 514180"/>
                  <a:gd name="connsiteY0-612" fmla="*/ 432218 h 432218"/>
                  <a:gd name="connsiteX1-613" fmla="*/ 0 w 514180"/>
                  <a:gd name="connsiteY1-614" fmla="*/ 0 h 432218"/>
                  <a:gd name="connsiteX2-615" fmla="*/ 514180 w 514180"/>
                  <a:gd name="connsiteY2-616" fmla="*/ 10891 h 432218"/>
                  <a:gd name="connsiteX3-617" fmla="*/ 404259 w 514180"/>
                  <a:gd name="connsiteY3-618" fmla="*/ 386400 h 432218"/>
                  <a:gd name="connsiteX4-619" fmla="*/ 100781 w 514180"/>
                  <a:gd name="connsiteY4-620" fmla="*/ 432218 h 432218"/>
                  <a:gd name="connsiteX0-621" fmla="*/ 100781 w 514180"/>
                  <a:gd name="connsiteY0-622" fmla="*/ 402193 h 402193"/>
                  <a:gd name="connsiteX1-623" fmla="*/ 0 w 514180"/>
                  <a:gd name="connsiteY1-624" fmla="*/ 0 h 402193"/>
                  <a:gd name="connsiteX2-625" fmla="*/ 514180 w 514180"/>
                  <a:gd name="connsiteY2-626" fmla="*/ 10891 h 402193"/>
                  <a:gd name="connsiteX3-627" fmla="*/ 404259 w 514180"/>
                  <a:gd name="connsiteY3-628" fmla="*/ 386400 h 402193"/>
                  <a:gd name="connsiteX4-629" fmla="*/ 100781 w 514180"/>
                  <a:gd name="connsiteY4-630" fmla="*/ 402193 h 40219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61391" y="5433960"/>
                <a:ext cx="573725" cy="1015589"/>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1" fmla="*/ 139870 w 1040633"/>
                  <a:gd name="connsiteY0-2" fmla="*/ 1191723 h 1219697"/>
                  <a:gd name="connsiteX1-3" fmla="*/ 0 w 1040633"/>
                  <a:gd name="connsiteY1-4" fmla="*/ 0 h 1219697"/>
                  <a:gd name="connsiteX2-5" fmla="*/ 1040633 w 1040633"/>
                  <a:gd name="connsiteY2-6" fmla="*/ 16785 h 1219697"/>
                  <a:gd name="connsiteX3-7" fmla="*/ 833625 w 1040633"/>
                  <a:gd name="connsiteY3-8" fmla="*/ 1219697 h 1219697"/>
                  <a:gd name="connsiteX4-9" fmla="*/ 139870 w 1040633"/>
                  <a:gd name="connsiteY4-10" fmla="*/ 1191723 h 1219697"/>
                  <a:gd name="connsiteX0-11" fmla="*/ 139870 w 1040633"/>
                  <a:gd name="connsiteY0-12" fmla="*/ 1191723 h 1219697"/>
                  <a:gd name="connsiteX1-13" fmla="*/ 0 w 1040633"/>
                  <a:gd name="connsiteY1-14" fmla="*/ 0 h 1219697"/>
                  <a:gd name="connsiteX2-15" fmla="*/ 1040633 w 1040633"/>
                  <a:gd name="connsiteY2-16" fmla="*/ 16785 h 1219697"/>
                  <a:gd name="connsiteX3-17" fmla="*/ 833625 w 1040633"/>
                  <a:gd name="connsiteY3-18" fmla="*/ 1219697 h 1219697"/>
                  <a:gd name="connsiteX4-19" fmla="*/ 139870 w 1040633"/>
                  <a:gd name="connsiteY4-20" fmla="*/ 1191723 h 1219697"/>
                  <a:gd name="connsiteX0-21" fmla="*/ 139870 w 1040633"/>
                  <a:gd name="connsiteY0-22" fmla="*/ 1191723 h 1219697"/>
                  <a:gd name="connsiteX1-23" fmla="*/ 0 w 1040633"/>
                  <a:gd name="connsiteY1-24" fmla="*/ 0 h 1219697"/>
                  <a:gd name="connsiteX2-25" fmla="*/ 1040633 w 1040633"/>
                  <a:gd name="connsiteY2-26" fmla="*/ 16785 h 1219697"/>
                  <a:gd name="connsiteX3-27" fmla="*/ 833625 w 1040633"/>
                  <a:gd name="connsiteY3-28" fmla="*/ 1219697 h 1219697"/>
                  <a:gd name="connsiteX4-29" fmla="*/ 139870 w 1040633"/>
                  <a:gd name="connsiteY4-30" fmla="*/ 1191723 h 1219697"/>
                  <a:gd name="connsiteX0-31" fmla="*/ 139870 w 1040633"/>
                  <a:gd name="connsiteY0-32" fmla="*/ 1191723 h 1219697"/>
                  <a:gd name="connsiteX1-33" fmla="*/ 0 w 1040633"/>
                  <a:gd name="connsiteY1-34" fmla="*/ 0 h 1219697"/>
                  <a:gd name="connsiteX2-35" fmla="*/ 1040633 w 1040633"/>
                  <a:gd name="connsiteY2-36" fmla="*/ 16785 h 1219697"/>
                  <a:gd name="connsiteX3-37" fmla="*/ 833625 w 1040633"/>
                  <a:gd name="connsiteY3-38" fmla="*/ 1219697 h 1219697"/>
                  <a:gd name="connsiteX4-39" fmla="*/ 139870 w 1040633"/>
                  <a:gd name="connsiteY4-40" fmla="*/ 1191723 h 1219697"/>
                  <a:gd name="connsiteX0-41" fmla="*/ 139870 w 1040633"/>
                  <a:gd name="connsiteY0-42" fmla="*/ 1191723 h 1219697"/>
                  <a:gd name="connsiteX1-43" fmla="*/ 0 w 1040633"/>
                  <a:gd name="connsiteY1-44" fmla="*/ 0 h 1219697"/>
                  <a:gd name="connsiteX2-45" fmla="*/ 1040633 w 1040633"/>
                  <a:gd name="connsiteY2-46" fmla="*/ 16785 h 1219697"/>
                  <a:gd name="connsiteX3-47" fmla="*/ 833625 w 1040633"/>
                  <a:gd name="connsiteY3-48" fmla="*/ 1219697 h 1219697"/>
                  <a:gd name="connsiteX4-49" fmla="*/ 418712 w 1040633"/>
                  <a:gd name="connsiteY4-50" fmla="*/ 1189324 h 1219697"/>
                  <a:gd name="connsiteX5" fmla="*/ 139870 w 1040633"/>
                  <a:gd name="connsiteY5" fmla="*/ 1191723 h 1219697"/>
                  <a:gd name="connsiteX0-51" fmla="*/ 139870 w 1040633"/>
                  <a:gd name="connsiteY0-52" fmla="*/ 1191723 h 1355926"/>
                  <a:gd name="connsiteX1-53" fmla="*/ 0 w 1040633"/>
                  <a:gd name="connsiteY1-54" fmla="*/ 0 h 1355926"/>
                  <a:gd name="connsiteX2-55" fmla="*/ 1040633 w 1040633"/>
                  <a:gd name="connsiteY2-56" fmla="*/ 16785 h 1355926"/>
                  <a:gd name="connsiteX3-57" fmla="*/ 833625 w 1040633"/>
                  <a:gd name="connsiteY3-58" fmla="*/ 1219697 h 1355926"/>
                  <a:gd name="connsiteX4-59" fmla="*/ 139870 w 1040633"/>
                  <a:gd name="connsiteY4-60" fmla="*/ 1191723 h 1355926"/>
                  <a:gd name="connsiteX0-61" fmla="*/ 139870 w 1040633"/>
                  <a:gd name="connsiteY0-62" fmla="*/ 1191723 h 1289901"/>
                  <a:gd name="connsiteX1-63" fmla="*/ 0 w 1040633"/>
                  <a:gd name="connsiteY1-64" fmla="*/ 0 h 1289901"/>
                  <a:gd name="connsiteX2-65" fmla="*/ 1040633 w 1040633"/>
                  <a:gd name="connsiteY2-66" fmla="*/ 16785 h 1289901"/>
                  <a:gd name="connsiteX3-67" fmla="*/ 833625 w 1040633"/>
                  <a:gd name="connsiteY3-68" fmla="*/ 1219697 h 1289901"/>
                  <a:gd name="connsiteX4-69" fmla="*/ 139870 w 1040633"/>
                  <a:gd name="connsiteY4-70" fmla="*/ 1191723 h 1289901"/>
                  <a:gd name="connsiteX0-71" fmla="*/ 139870 w 1040633"/>
                  <a:gd name="connsiteY0-72" fmla="*/ 1191723 h 1219697"/>
                  <a:gd name="connsiteX1-73" fmla="*/ 0 w 1040633"/>
                  <a:gd name="connsiteY1-74" fmla="*/ 0 h 1219697"/>
                  <a:gd name="connsiteX2-75" fmla="*/ 1040633 w 1040633"/>
                  <a:gd name="connsiteY2-76" fmla="*/ 16785 h 1219697"/>
                  <a:gd name="connsiteX3-77" fmla="*/ 833625 w 1040633"/>
                  <a:gd name="connsiteY3-78" fmla="*/ 1219697 h 1219697"/>
                  <a:gd name="connsiteX4-79" fmla="*/ 139870 w 1040633"/>
                  <a:gd name="connsiteY4-80" fmla="*/ 1191723 h 1219697"/>
                  <a:gd name="connsiteX0-81" fmla="*/ 139870 w 1040633"/>
                  <a:gd name="connsiteY0-82" fmla="*/ 1191723 h 1191723"/>
                  <a:gd name="connsiteX1-83" fmla="*/ 0 w 1040633"/>
                  <a:gd name="connsiteY1-84" fmla="*/ 0 h 1191723"/>
                  <a:gd name="connsiteX2-85" fmla="*/ 1040633 w 1040633"/>
                  <a:gd name="connsiteY2-86" fmla="*/ 16785 h 1191723"/>
                  <a:gd name="connsiteX3-87" fmla="*/ 671988 w 1040633"/>
                  <a:gd name="connsiteY3-88" fmla="*/ 1158121 h 1191723"/>
                  <a:gd name="connsiteX4-89" fmla="*/ 139870 w 1040633"/>
                  <a:gd name="connsiteY4-90" fmla="*/ 1191723 h 1191723"/>
                  <a:gd name="connsiteX0-91" fmla="*/ 363082 w 1040633"/>
                  <a:gd name="connsiteY0-92" fmla="*/ 1160935 h 1160935"/>
                  <a:gd name="connsiteX1-93" fmla="*/ 0 w 1040633"/>
                  <a:gd name="connsiteY1-94" fmla="*/ 0 h 1160935"/>
                  <a:gd name="connsiteX2-95" fmla="*/ 1040633 w 1040633"/>
                  <a:gd name="connsiteY2-96" fmla="*/ 16785 h 1160935"/>
                  <a:gd name="connsiteX3-97" fmla="*/ 671988 w 1040633"/>
                  <a:gd name="connsiteY3-98" fmla="*/ 1158121 h 1160935"/>
                  <a:gd name="connsiteX4-99" fmla="*/ 363082 w 1040633"/>
                  <a:gd name="connsiteY4-100" fmla="*/ 1160935 h 1160935"/>
                  <a:gd name="connsiteX0-101" fmla="*/ 363082 w 1040633"/>
                  <a:gd name="connsiteY0-102" fmla="*/ 1160935 h 1160935"/>
                  <a:gd name="connsiteX1-103" fmla="*/ 0 w 1040633"/>
                  <a:gd name="connsiteY1-104" fmla="*/ 0 h 1160935"/>
                  <a:gd name="connsiteX2-105" fmla="*/ 1040633 w 1040633"/>
                  <a:gd name="connsiteY2-106" fmla="*/ 16785 h 1160935"/>
                  <a:gd name="connsiteX3-107" fmla="*/ 671988 w 1040633"/>
                  <a:gd name="connsiteY3-108" fmla="*/ 1158121 h 1160935"/>
                  <a:gd name="connsiteX4-109" fmla="*/ 363082 w 1040633"/>
                  <a:gd name="connsiteY4-110" fmla="*/ 1160935 h 1160935"/>
                  <a:gd name="connsiteX0-111" fmla="*/ 363082 w 1040633"/>
                  <a:gd name="connsiteY0-112" fmla="*/ 1160935 h 1160935"/>
                  <a:gd name="connsiteX1-113" fmla="*/ 0 w 1040633"/>
                  <a:gd name="connsiteY1-114" fmla="*/ 0 h 1160935"/>
                  <a:gd name="connsiteX2-115" fmla="*/ 1040633 w 1040633"/>
                  <a:gd name="connsiteY2-116" fmla="*/ 16785 h 1160935"/>
                  <a:gd name="connsiteX3-117" fmla="*/ 671988 w 1040633"/>
                  <a:gd name="connsiteY3-118" fmla="*/ 1158121 h 1160935"/>
                  <a:gd name="connsiteX4-119" fmla="*/ 363082 w 1040633"/>
                  <a:gd name="connsiteY4-120" fmla="*/ 1160935 h 1160935"/>
                  <a:gd name="connsiteX0-121" fmla="*/ 363082 w 1040633"/>
                  <a:gd name="connsiteY0-122" fmla="*/ 1160935 h 1160935"/>
                  <a:gd name="connsiteX1-123" fmla="*/ 0 w 1040633"/>
                  <a:gd name="connsiteY1-124" fmla="*/ 0 h 1160935"/>
                  <a:gd name="connsiteX2-125" fmla="*/ 1040633 w 1040633"/>
                  <a:gd name="connsiteY2-126" fmla="*/ 16785 h 1160935"/>
                  <a:gd name="connsiteX3-127" fmla="*/ 671988 w 1040633"/>
                  <a:gd name="connsiteY3-128" fmla="*/ 1158121 h 1160935"/>
                  <a:gd name="connsiteX4-129" fmla="*/ 363082 w 1040633"/>
                  <a:gd name="connsiteY4-130" fmla="*/ 1160935 h 1160935"/>
                  <a:gd name="connsiteX0-131" fmla="*/ 363082 w 1040633"/>
                  <a:gd name="connsiteY0-132" fmla="*/ 1160935 h 1160935"/>
                  <a:gd name="connsiteX1-133" fmla="*/ 0 w 1040633"/>
                  <a:gd name="connsiteY1-134" fmla="*/ 0 h 1160935"/>
                  <a:gd name="connsiteX2-135" fmla="*/ 1040633 w 1040633"/>
                  <a:gd name="connsiteY2-136" fmla="*/ 16785 h 1160935"/>
                  <a:gd name="connsiteX3-137" fmla="*/ 671988 w 1040633"/>
                  <a:gd name="connsiteY3-138" fmla="*/ 1158121 h 1160935"/>
                  <a:gd name="connsiteX4-139" fmla="*/ 363082 w 1040633"/>
                  <a:gd name="connsiteY4-140" fmla="*/ 1160935 h 1160935"/>
                  <a:gd name="connsiteX0-141" fmla="*/ 363082 w 1040633"/>
                  <a:gd name="connsiteY0-142" fmla="*/ 1160935 h 1160935"/>
                  <a:gd name="connsiteX1-143" fmla="*/ 0 w 1040633"/>
                  <a:gd name="connsiteY1-144" fmla="*/ 0 h 1160935"/>
                  <a:gd name="connsiteX2-145" fmla="*/ 1040633 w 1040633"/>
                  <a:gd name="connsiteY2-146" fmla="*/ 16785 h 1160935"/>
                  <a:gd name="connsiteX3-147" fmla="*/ 671988 w 1040633"/>
                  <a:gd name="connsiteY3-148" fmla="*/ 1158121 h 1160935"/>
                  <a:gd name="connsiteX4-149" fmla="*/ 363082 w 1040633"/>
                  <a:gd name="connsiteY4-150" fmla="*/ 1160935 h 1160935"/>
                  <a:gd name="connsiteX0-151" fmla="*/ 363082 w 1040633"/>
                  <a:gd name="connsiteY0-152" fmla="*/ 1160935 h 1160935"/>
                  <a:gd name="connsiteX1-153" fmla="*/ 0 w 1040633"/>
                  <a:gd name="connsiteY1-154" fmla="*/ 0 h 1160935"/>
                  <a:gd name="connsiteX2-155" fmla="*/ 1040633 w 1040633"/>
                  <a:gd name="connsiteY2-156" fmla="*/ 16785 h 1160935"/>
                  <a:gd name="connsiteX3-157" fmla="*/ 671988 w 1040633"/>
                  <a:gd name="connsiteY3-158" fmla="*/ 1158121 h 1160935"/>
                  <a:gd name="connsiteX4-159" fmla="*/ 363082 w 1040633"/>
                  <a:gd name="connsiteY4-160" fmla="*/ 1160935 h 1160935"/>
                  <a:gd name="connsiteX0-161" fmla="*/ 363082 w 778664"/>
                  <a:gd name="connsiteY0-162" fmla="*/ 1160935 h 1160935"/>
                  <a:gd name="connsiteX1-163" fmla="*/ 0 w 778664"/>
                  <a:gd name="connsiteY1-164" fmla="*/ 0 h 1160935"/>
                  <a:gd name="connsiteX2-165" fmla="*/ 778664 w 778664"/>
                  <a:gd name="connsiteY2-166" fmla="*/ 130682 h 1160935"/>
                  <a:gd name="connsiteX3-167" fmla="*/ 671988 w 778664"/>
                  <a:gd name="connsiteY3-168" fmla="*/ 1158121 h 1160935"/>
                  <a:gd name="connsiteX4-169" fmla="*/ 363082 w 778664"/>
                  <a:gd name="connsiteY4-170" fmla="*/ 1160935 h 1160935"/>
                  <a:gd name="connsiteX0-171" fmla="*/ 363082 w 778664"/>
                  <a:gd name="connsiteY0-172" fmla="*/ 1160935 h 1160935"/>
                  <a:gd name="connsiteX1-173" fmla="*/ 0 w 778664"/>
                  <a:gd name="connsiteY1-174" fmla="*/ 0 h 1160935"/>
                  <a:gd name="connsiteX2-175" fmla="*/ 778664 w 778664"/>
                  <a:gd name="connsiteY2-176" fmla="*/ 130682 h 1160935"/>
                  <a:gd name="connsiteX3-177" fmla="*/ 694768 w 778664"/>
                  <a:gd name="connsiteY3-178" fmla="*/ 1112562 h 1160935"/>
                  <a:gd name="connsiteX4-179" fmla="*/ 363082 w 778664"/>
                  <a:gd name="connsiteY4-180" fmla="*/ 1160935 h 1160935"/>
                  <a:gd name="connsiteX0-181" fmla="*/ 363082 w 778664"/>
                  <a:gd name="connsiteY0-182" fmla="*/ 1160935 h 1160935"/>
                  <a:gd name="connsiteX1-183" fmla="*/ 0 w 778664"/>
                  <a:gd name="connsiteY1-184" fmla="*/ 0 h 1160935"/>
                  <a:gd name="connsiteX2-185" fmla="*/ 778664 w 778664"/>
                  <a:gd name="connsiteY2-186" fmla="*/ 130682 h 1160935"/>
                  <a:gd name="connsiteX3-187" fmla="*/ 694768 w 778664"/>
                  <a:gd name="connsiteY3-188" fmla="*/ 1112562 h 1160935"/>
                  <a:gd name="connsiteX4-189" fmla="*/ 363082 w 778664"/>
                  <a:gd name="connsiteY4-190" fmla="*/ 1160935 h 1160935"/>
                  <a:gd name="connsiteX0-191" fmla="*/ 397252 w 778664"/>
                  <a:gd name="connsiteY0-192" fmla="*/ 1103987 h 1112562"/>
                  <a:gd name="connsiteX1-193" fmla="*/ 0 w 778664"/>
                  <a:gd name="connsiteY1-194" fmla="*/ 0 h 1112562"/>
                  <a:gd name="connsiteX2-195" fmla="*/ 778664 w 778664"/>
                  <a:gd name="connsiteY2-196" fmla="*/ 130682 h 1112562"/>
                  <a:gd name="connsiteX3-197" fmla="*/ 694768 w 778664"/>
                  <a:gd name="connsiteY3-198" fmla="*/ 1112562 h 1112562"/>
                  <a:gd name="connsiteX4-199" fmla="*/ 397252 w 778664"/>
                  <a:gd name="connsiteY4-200" fmla="*/ 1103987 h 1112562"/>
                  <a:gd name="connsiteX0-201" fmla="*/ 397252 w 778664"/>
                  <a:gd name="connsiteY0-202" fmla="*/ 1103987 h 1112562"/>
                  <a:gd name="connsiteX1-203" fmla="*/ 0 w 778664"/>
                  <a:gd name="connsiteY1-204" fmla="*/ 0 h 1112562"/>
                  <a:gd name="connsiteX2-205" fmla="*/ 778664 w 778664"/>
                  <a:gd name="connsiteY2-206" fmla="*/ 130682 h 1112562"/>
                  <a:gd name="connsiteX3-207" fmla="*/ 694768 w 778664"/>
                  <a:gd name="connsiteY3-208" fmla="*/ 1112562 h 1112562"/>
                  <a:gd name="connsiteX4-209" fmla="*/ 397252 w 778664"/>
                  <a:gd name="connsiteY4-210" fmla="*/ 1103987 h 1112562"/>
                  <a:gd name="connsiteX0-211" fmla="*/ 397252 w 778664"/>
                  <a:gd name="connsiteY0-212" fmla="*/ 1103987 h 1112562"/>
                  <a:gd name="connsiteX1-213" fmla="*/ 0 w 778664"/>
                  <a:gd name="connsiteY1-214" fmla="*/ 0 h 1112562"/>
                  <a:gd name="connsiteX2-215" fmla="*/ 778664 w 778664"/>
                  <a:gd name="connsiteY2-216" fmla="*/ 130682 h 1112562"/>
                  <a:gd name="connsiteX3-217" fmla="*/ 694768 w 778664"/>
                  <a:gd name="connsiteY3-218" fmla="*/ 1112562 h 1112562"/>
                  <a:gd name="connsiteX4-219" fmla="*/ 397252 w 778664"/>
                  <a:gd name="connsiteY4-220" fmla="*/ 1103987 h 1112562"/>
                  <a:gd name="connsiteX0-221" fmla="*/ 123893 w 505305"/>
                  <a:gd name="connsiteY0-222" fmla="*/ 973305 h 981880"/>
                  <a:gd name="connsiteX1-223" fmla="*/ 0 w 505305"/>
                  <a:gd name="connsiteY1-224" fmla="*/ 28773 h 981880"/>
                  <a:gd name="connsiteX2-225" fmla="*/ 505305 w 505305"/>
                  <a:gd name="connsiteY2-226" fmla="*/ 0 h 981880"/>
                  <a:gd name="connsiteX3-227" fmla="*/ 421409 w 505305"/>
                  <a:gd name="connsiteY3-228" fmla="*/ 981880 h 981880"/>
                  <a:gd name="connsiteX4-229" fmla="*/ 123893 w 505305"/>
                  <a:gd name="connsiteY4-230" fmla="*/ 973305 h 981880"/>
                  <a:gd name="connsiteX0-231" fmla="*/ 123893 w 505305"/>
                  <a:gd name="connsiteY0-232" fmla="*/ 973305 h 981880"/>
                  <a:gd name="connsiteX1-233" fmla="*/ 0 w 505305"/>
                  <a:gd name="connsiteY1-234" fmla="*/ 28773 h 981880"/>
                  <a:gd name="connsiteX2-235" fmla="*/ 505305 w 505305"/>
                  <a:gd name="connsiteY2-236" fmla="*/ 0 h 981880"/>
                  <a:gd name="connsiteX3-237" fmla="*/ 421409 w 505305"/>
                  <a:gd name="connsiteY3-238" fmla="*/ 981880 h 981880"/>
                  <a:gd name="connsiteX4-239" fmla="*/ 123893 w 505305"/>
                  <a:gd name="connsiteY4-240" fmla="*/ 973305 h 981880"/>
                  <a:gd name="connsiteX0-241" fmla="*/ 123893 w 505305"/>
                  <a:gd name="connsiteY0-242" fmla="*/ 973305 h 981880"/>
                  <a:gd name="connsiteX1-243" fmla="*/ 0 w 505305"/>
                  <a:gd name="connsiteY1-244" fmla="*/ 28773 h 981880"/>
                  <a:gd name="connsiteX2-245" fmla="*/ 505305 w 505305"/>
                  <a:gd name="connsiteY2-246" fmla="*/ 0 h 981880"/>
                  <a:gd name="connsiteX3-247" fmla="*/ 421409 w 505305"/>
                  <a:gd name="connsiteY3-248" fmla="*/ 981880 h 981880"/>
                  <a:gd name="connsiteX4-249" fmla="*/ 123893 w 505305"/>
                  <a:gd name="connsiteY4-250" fmla="*/ 973305 h 981880"/>
                  <a:gd name="connsiteX0-251" fmla="*/ 123893 w 505305"/>
                  <a:gd name="connsiteY0-252" fmla="*/ 973305 h 981880"/>
                  <a:gd name="connsiteX1-253" fmla="*/ 0 w 505305"/>
                  <a:gd name="connsiteY1-254" fmla="*/ 28773 h 981880"/>
                  <a:gd name="connsiteX2-255" fmla="*/ 505305 w 505305"/>
                  <a:gd name="connsiteY2-256" fmla="*/ 0 h 981880"/>
                  <a:gd name="connsiteX3-257" fmla="*/ 421409 w 505305"/>
                  <a:gd name="connsiteY3-258" fmla="*/ 981880 h 981880"/>
                  <a:gd name="connsiteX4-259" fmla="*/ 123893 w 505305"/>
                  <a:gd name="connsiteY4-260" fmla="*/ 973305 h 981880"/>
                  <a:gd name="connsiteX0-261" fmla="*/ 118198 w 499610"/>
                  <a:gd name="connsiteY0-262" fmla="*/ 973305 h 981880"/>
                  <a:gd name="connsiteX1-263" fmla="*/ 0 w 499610"/>
                  <a:gd name="connsiteY1-264" fmla="*/ 11688 h 981880"/>
                  <a:gd name="connsiteX2-265" fmla="*/ 499610 w 499610"/>
                  <a:gd name="connsiteY2-266" fmla="*/ 0 h 981880"/>
                  <a:gd name="connsiteX3-267" fmla="*/ 415714 w 499610"/>
                  <a:gd name="connsiteY3-268" fmla="*/ 981880 h 981880"/>
                  <a:gd name="connsiteX4-269" fmla="*/ 118198 w 499610"/>
                  <a:gd name="connsiteY4-270" fmla="*/ 973305 h 981880"/>
                  <a:gd name="connsiteX0-271" fmla="*/ 118198 w 499610"/>
                  <a:gd name="connsiteY0-272" fmla="*/ 973305 h 981880"/>
                  <a:gd name="connsiteX1-273" fmla="*/ 0 w 499610"/>
                  <a:gd name="connsiteY1-274" fmla="*/ 11688 h 981880"/>
                  <a:gd name="connsiteX2-275" fmla="*/ 499610 w 499610"/>
                  <a:gd name="connsiteY2-276" fmla="*/ 0 h 981880"/>
                  <a:gd name="connsiteX3-277" fmla="*/ 415714 w 499610"/>
                  <a:gd name="connsiteY3-278" fmla="*/ 981880 h 981880"/>
                  <a:gd name="connsiteX4-279" fmla="*/ 118198 w 499610"/>
                  <a:gd name="connsiteY4-280" fmla="*/ 973305 h 981880"/>
                  <a:gd name="connsiteX0-281" fmla="*/ 118198 w 499610"/>
                  <a:gd name="connsiteY0-282" fmla="*/ 973305 h 981880"/>
                  <a:gd name="connsiteX1-283" fmla="*/ 0 w 499610"/>
                  <a:gd name="connsiteY1-284" fmla="*/ 11688 h 981880"/>
                  <a:gd name="connsiteX2-285" fmla="*/ 499610 w 499610"/>
                  <a:gd name="connsiteY2-286" fmla="*/ 0 h 981880"/>
                  <a:gd name="connsiteX3-287" fmla="*/ 415714 w 499610"/>
                  <a:gd name="connsiteY3-288" fmla="*/ 981880 h 981880"/>
                  <a:gd name="connsiteX4-289" fmla="*/ 118198 w 499610"/>
                  <a:gd name="connsiteY4-290" fmla="*/ 973305 h 981880"/>
                  <a:gd name="connsiteX0-291" fmla="*/ 118198 w 499610"/>
                  <a:gd name="connsiteY0-292" fmla="*/ 973305 h 981880"/>
                  <a:gd name="connsiteX1-293" fmla="*/ 0 w 499610"/>
                  <a:gd name="connsiteY1-294" fmla="*/ 11688 h 981880"/>
                  <a:gd name="connsiteX2-295" fmla="*/ 499610 w 499610"/>
                  <a:gd name="connsiteY2-296" fmla="*/ 0 h 981880"/>
                  <a:gd name="connsiteX3-297" fmla="*/ 415714 w 499610"/>
                  <a:gd name="connsiteY3-298" fmla="*/ 981880 h 981880"/>
                  <a:gd name="connsiteX4-299" fmla="*/ 118198 w 499610"/>
                  <a:gd name="connsiteY4-300" fmla="*/ 973305 h 981880"/>
                  <a:gd name="connsiteX0-301" fmla="*/ 118198 w 499610"/>
                  <a:gd name="connsiteY0-302" fmla="*/ 973305 h 981880"/>
                  <a:gd name="connsiteX1-303" fmla="*/ 0 w 499610"/>
                  <a:gd name="connsiteY1-304" fmla="*/ 11688 h 981880"/>
                  <a:gd name="connsiteX2-305" fmla="*/ 499610 w 499610"/>
                  <a:gd name="connsiteY2-306" fmla="*/ 0 h 981880"/>
                  <a:gd name="connsiteX3-307" fmla="*/ 415714 w 499610"/>
                  <a:gd name="connsiteY3-308" fmla="*/ 981880 h 981880"/>
                  <a:gd name="connsiteX4-309" fmla="*/ 118198 w 499610"/>
                  <a:gd name="connsiteY4-310" fmla="*/ 973305 h 981880"/>
                  <a:gd name="connsiteX0-311" fmla="*/ 118198 w 499610"/>
                  <a:gd name="connsiteY0-312" fmla="*/ 973305 h 976186"/>
                  <a:gd name="connsiteX1-313" fmla="*/ 0 w 499610"/>
                  <a:gd name="connsiteY1-314" fmla="*/ 11688 h 976186"/>
                  <a:gd name="connsiteX2-315" fmla="*/ 499610 w 499610"/>
                  <a:gd name="connsiteY2-316" fmla="*/ 0 h 976186"/>
                  <a:gd name="connsiteX3-317" fmla="*/ 273339 w 499610"/>
                  <a:gd name="connsiteY3-318" fmla="*/ 976186 h 976186"/>
                  <a:gd name="connsiteX4-319" fmla="*/ 118198 w 499610"/>
                  <a:gd name="connsiteY4-320" fmla="*/ 973305 h 976186"/>
                  <a:gd name="connsiteX0-321" fmla="*/ 118198 w 499610"/>
                  <a:gd name="connsiteY0-322" fmla="*/ 973305 h 976186"/>
                  <a:gd name="connsiteX1-323" fmla="*/ 0 w 499610"/>
                  <a:gd name="connsiteY1-324" fmla="*/ 11688 h 976186"/>
                  <a:gd name="connsiteX2-325" fmla="*/ 499610 w 499610"/>
                  <a:gd name="connsiteY2-326" fmla="*/ 0 h 976186"/>
                  <a:gd name="connsiteX3-327" fmla="*/ 273339 w 499610"/>
                  <a:gd name="connsiteY3-328" fmla="*/ 976186 h 976186"/>
                  <a:gd name="connsiteX4-329" fmla="*/ 118198 w 499610"/>
                  <a:gd name="connsiteY4-330" fmla="*/ 973305 h 976186"/>
                  <a:gd name="connsiteX0-331" fmla="*/ 197928 w 499610"/>
                  <a:gd name="connsiteY0-332" fmla="*/ 973305 h 976186"/>
                  <a:gd name="connsiteX1-333" fmla="*/ 0 w 499610"/>
                  <a:gd name="connsiteY1-334" fmla="*/ 11688 h 976186"/>
                  <a:gd name="connsiteX2-335" fmla="*/ 499610 w 499610"/>
                  <a:gd name="connsiteY2-336" fmla="*/ 0 h 976186"/>
                  <a:gd name="connsiteX3-337" fmla="*/ 273339 w 499610"/>
                  <a:gd name="connsiteY3-338" fmla="*/ 976186 h 976186"/>
                  <a:gd name="connsiteX4-339" fmla="*/ 197928 w 499610"/>
                  <a:gd name="connsiteY4-340" fmla="*/ 973305 h 976186"/>
                  <a:gd name="connsiteX0-341" fmla="*/ 197928 w 499610"/>
                  <a:gd name="connsiteY0-342" fmla="*/ 973305 h 976186"/>
                  <a:gd name="connsiteX1-343" fmla="*/ 0 w 499610"/>
                  <a:gd name="connsiteY1-344" fmla="*/ 11688 h 976186"/>
                  <a:gd name="connsiteX2-345" fmla="*/ 499610 w 499610"/>
                  <a:gd name="connsiteY2-346" fmla="*/ 0 h 976186"/>
                  <a:gd name="connsiteX3-347" fmla="*/ 273339 w 499610"/>
                  <a:gd name="connsiteY3-348" fmla="*/ 976186 h 976186"/>
                  <a:gd name="connsiteX4-349" fmla="*/ 197928 w 499610"/>
                  <a:gd name="connsiteY4-350" fmla="*/ 973305 h 976186"/>
                  <a:gd name="connsiteX0-351" fmla="*/ 197928 w 499610"/>
                  <a:gd name="connsiteY0-352" fmla="*/ 973305 h 976186"/>
                  <a:gd name="connsiteX1-353" fmla="*/ 0 w 499610"/>
                  <a:gd name="connsiteY1-354" fmla="*/ 11688 h 976186"/>
                  <a:gd name="connsiteX2-355" fmla="*/ 499610 w 499610"/>
                  <a:gd name="connsiteY2-356" fmla="*/ 0 h 976186"/>
                  <a:gd name="connsiteX3-357" fmla="*/ 273339 w 499610"/>
                  <a:gd name="connsiteY3-358" fmla="*/ 976186 h 976186"/>
                  <a:gd name="connsiteX4-359" fmla="*/ 197928 w 499610"/>
                  <a:gd name="connsiteY4-360" fmla="*/ 973305 h 976186"/>
                  <a:gd name="connsiteX0-361" fmla="*/ 197928 w 499610"/>
                  <a:gd name="connsiteY0-362" fmla="*/ 973305 h 976186"/>
                  <a:gd name="connsiteX1-363" fmla="*/ 0 w 499610"/>
                  <a:gd name="connsiteY1-364" fmla="*/ 11688 h 976186"/>
                  <a:gd name="connsiteX2-365" fmla="*/ 499610 w 499610"/>
                  <a:gd name="connsiteY2-366" fmla="*/ 0 h 976186"/>
                  <a:gd name="connsiteX3-367" fmla="*/ 273339 w 499610"/>
                  <a:gd name="connsiteY3-368" fmla="*/ 976186 h 976186"/>
                  <a:gd name="connsiteX4-369" fmla="*/ 197928 w 499610"/>
                  <a:gd name="connsiteY4-370" fmla="*/ 973305 h 976186"/>
                  <a:gd name="connsiteX0-371" fmla="*/ 197928 w 621064"/>
                  <a:gd name="connsiteY0-372" fmla="*/ 973305 h 973305"/>
                  <a:gd name="connsiteX1-373" fmla="*/ 0 w 621064"/>
                  <a:gd name="connsiteY1-374" fmla="*/ 11688 h 973305"/>
                  <a:gd name="connsiteX2-375" fmla="*/ 499610 w 621064"/>
                  <a:gd name="connsiteY2-376" fmla="*/ 0 h 973305"/>
                  <a:gd name="connsiteX3-377" fmla="*/ 558839 w 621064"/>
                  <a:gd name="connsiteY3-378" fmla="*/ 754682 h 973305"/>
                  <a:gd name="connsiteX4-379" fmla="*/ 197928 w 621064"/>
                  <a:gd name="connsiteY4-380" fmla="*/ 973305 h 973305"/>
                  <a:gd name="connsiteX0-381" fmla="*/ 197928 w 558839"/>
                  <a:gd name="connsiteY0-382" fmla="*/ 973305 h 973305"/>
                  <a:gd name="connsiteX1-383" fmla="*/ 0 w 558839"/>
                  <a:gd name="connsiteY1-384" fmla="*/ 11688 h 973305"/>
                  <a:gd name="connsiteX2-385" fmla="*/ 499610 w 558839"/>
                  <a:gd name="connsiteY2-386" fmla="*/ 0 h 973305"/>
                  <a:gd name="connsiteX3-387" fmla="*/ 558839 w 558839"/>
                  <a:gd name="connsiteY3-388" fmla="*/ 754682 h 973305"/>
                  <a:gd name="connsiteX4-389" fmla="*/ 197928 w 558839"/>
                  <a:gd name="connsiteY4-390" fmla="*/ 973305 h 973305"/>
                  <a:gd name="connsiteX0-391" fmla="*/ 197928 w 558839"/>
                  <a:gd name="connsiteY0-392" fmla="*/ 973305 h 973305"/>
                  <a:gd name="connsiteX1-393" fmla="*/ 0 w 558839"/>
                  <a:gd name="connsiteY1-394" fmla="*/ 11688 h 973305"/>
                  <a:gd name="connsiteX2-395" fmla="*/ 499610 w 558839"/>
                  <a:gd name="connsiteY2-396" fmla="*/ 0 h 973305"/>
                  <a:gd name="connsiteX3-397" fmla="*/ 558839 w 558839"/>
                  <a:gd name="connsiteY3-398" fmla="*/ 754682 h 973305"/>
                  <a:gd name="connsiteX4-399" fmla="*/ 197928 w 558839"/>
                  <a:gd name="connsiteY4-400" fmla="*/ 973305 h 973305"/>
                  <a:gd name="connsiteX0-401" fmla="*/ 370213 w 558839"/>
                  <a:gd name="connsiteY0-402" fmla="*/ 796102 h 796102"/>
                  <a:gd name="connsiteX1-403" fmla="*/ 0 w 558839"/>
                  <a:gd name="connsiteY1-404" fmla="*/ 11688 h 796102"/>
                  <a:gd name="connsiteX2-405" fmla="*/ 499610 w 558839"/>
                  <a:gd name="connsiteY2-406" fmla="*/ 0 h 796102"/>
                  <a:gd name="connsiteX3-407" fmla="*/ 558839 w 558839"/>
                  <a:gd name="connsiteY3-408" fmla="*/ 754682 h 796102"/>
                  <a:gd name="connsiteX4-409" fmla="*/ 370213 w 558839"/>
                  <a:gd name="connsiteY4-410" fmla="*/ 796102 h 796102"/>
                  <a:gd name="connsiteX0-411" fmla="*/ 370213 w 558839"/>
                  <a:gd name="connsiteY0-412" fmla="*/ 796102 h 796102"/>
                  <a:gd name="connsiteX1-413" fmla="*/ 0 w 558839"/>
                  <a:gd name="connsiteY1-414" fmla="*/ 11688 h 796102"/>
                  <a:gd name="connsiteX2-415" fmla="*/ 499610 w 558839"/>
                  <a:gd name="connsiteY2-416" fmla="*/ 0 h 796102"/>
                  <a:gd name="connsiteX3-417" fmla="*/ 558839 w 558839"/>
                  <a:gd name="connsiteY3-418" fmla="*/ 754682 h 796102"/>
                  <a:gd name="connsiteX4-419" fmla="*/ 370213 w 558839"/>
                  <a:gd name="connsiteY4-420" fmla="*/ 796102 h 796102"/>
                  <a:gd name="connsiteX0-421" fmla="*/ 370213 w 558839"/>
                  <a:gd name="connsiteY0-422" fmla="*/ 796102 h 796102"/>
                  <a:gd name="connsiteX1-423" fmla="*/ 0 w 558839"/>
                  <a:gd name="connsiteY1-424" fmla="*/ 11688 h 796102"/>
                  <a:gd name="connsiteX2-425" fmla="*/ 499610 w 558839"/>
                  <a:gd name="connsiteY2-426" fmla="*/ 0 h 796102"/>
                  <a:gd name="connsiteX3-427" fmla="*/ 558839 w 558839"/>
                  <a:gd name="connsiteY3-428" fmla="*/ 754682 h 796102"/>
                  <a:gd name="connsiteX4-429" fmla="*/ 370213 w 558839"/>
                  <a:gd name="connsiteY4-430" fmla="*/ 796102 h 796102"/>
                  <a:gd name="connsiteX0-431" fmla="*/ 370213 w 558839"/>
                  <a:gd name="connsiteY0-432" fmla="*/ 1315828 h 1315828"/>
                  <a:gd name="connsiteX1-433" fmla="*/ 0 w 558839"/>
                  <a:gd name="connsiteY1-434" fmla="*/ 531414 h 1315828"/>
                  <a:gd name="connsiteX2-435" fmla="*/ 506930 w 558839"/>
                  <a:gd name="connsiteY2-436" fmla="*/ 0 h 1315828"/>
                  <a:gd name="connsiteX3-437" fmla="*/ 558839 w 558839"/>
                  <a:gd name="connsiteY3-438" fmla="*/ 1274408 h 1315828"/>
                  <a:gd name="connsiteX4-439" fmla="*/ 370213 w 558839"/>
                  <a:gd name="connsiteY4-440" fmla="*/ 1315828 h 1315828"/>
                  <a:gd name="connsiteX0-441" fmla="*/ 384853 w 573479"/>
                  <a:gd name="connsiteY0-442" fmla="*/ 1326654 h 1326654"/>
                  <a:gd name="connsiteX1-443" fmla="*/ 0 w 573479"/>
                  <a:gd name="connsiteY1-444" fmla="*/ 554 h 1326654"/>
                  <a:gd name="connsiteX2-445" fmla="*/ 521570 w 573479"/>
                  <a:gd name="connsiteY2-446" fmla="*/ 10826 h 1326654"/>
                  <a:gd name="connsiteX3-447" fmla="*/ 573479 w 573479"/>
                  <a:gd name="connsiteY3-448" fmla="*/ 1285234 h 1326654"/>
                  <a:gd name="connsiteX4-449" fmla="*/ 384853 w 573479"/>
                  <a:gd name="connsiteY4-450" fmla="*/ 1326654 h 1326654"/>
                  <a:gd name="connsiteX0-451" fmla="*/ 384853 w 573479"/>
                  <a:gd name="connsiteY0-452" fmla="*/ 1326654 h 1326654"/>
                  <a:gd name="connsiteX1-453" fmla="*/ 0 w 573479"/>
                  <a:gd name="connsiteY1-454" fmla="*/ 554 h 1326654"/>
                  <a:gd name="connsiteX2-455" fmla="*/ 521570 w 573479"/>
                  <a:gd name="connsiteY2-456" fmla="*/ 10826 h 1326654"/>
                  <a:gd name="connsiteX3-457" fmla="*/ 573479 w 573479"/>
                  <a:gd name="connsiteY3-458" fmla="*/ 1285234 h 1326654"/>
                  <a:gd name="connsiteX4-459" fmla="*/ 384853 w 573479"/>
                  <a:gd name="connsiteY4-460" fmla="*/ 1326654 h 1326654"/>
                  <a:gd name="connsiteX0-461" fmla="*/ 384853 w 573479"/>
                  <a:gd name="connsiteY0-462" fmla="*/ 1326654 h 1326654"/>
                  <a:gd name="connsiteX1-463" fmla="*/ 0 w 573479"/>
                  <a:gd name="connsiteY1-464" fmla="*/ 554 h 1326654"/>
                  <a:gd name="connsiteX2-465" fmla="*/ 521570 w 573479"/>
                  <a:gd name="connsiteY2-466" fmla="*/ 10826 h 1326654"/>
                  <a:gd name="connsiteX3-467" fmla="*/ 573479 w 573479"/>
                  <a:gd name="connsiteY3-468" fmla="*/ 1285234 h 1326654"/>
                  <a:gd name="connsiteX4-469" fmla="*/ 384853 w 573479"/>
                  <a:gd name="connsiteY4-470" fmla="*/ 1326654 h 1326654"/>
                  <a:gd name="connsiteX0-471" fmla="*/ 384853 w 573479"/>
                  <a:gd name="connsiteY0-472" fmla="*/ 1326654 h 1326654"/>
                  <a:gd name="connsiteX1-473" fmla="*/ 0 w 573479"/>
                  <a:gd name="connsiteY1-474" fmla="*/ 554 h 1326654"/>
                  <a:gd name="connsiteX2-475" fmla="*/ 521570 w 573479"/>
                  <a:gd name="connsiteY2-476" fmla="*/ 10826 h 1326654"/>
                  <a:gd name="connsiteX3-477" fmla="*/ 573479 w 573479"/>
                  <a:gd name="connsiteY3-478" fmla="*/ 1285234 h 1326654"/>
                  <a:gd name="connsiteX4-479" fmla="*/ 384853 w 573479"/>
                  <a:gd name="connsiteY4-480" fmla="*/ 1326654 h 1326654"/>
                  <a:gd name="connsiteX0-481" fmla="*/ 384853 w 573479"/>
                  <a:gd name="connsiteY0-482" fmla="*/ 1326654 h 1326654"/>
                  <a:gd name="connsiteX1-483" fmla="*/ 0 w 573479"/>
                  <a:gd name="connsiteY1-484" fmla="*/ 554 h 1326654"/>
                  <a:gd name="connsiteX2-485" fmla="*/ 521570 w 573479"/>
                  <a:gd name="connsiteY2-486" fmla="*/ 10826 h 1326654"/>
                  <a:gd name="connsiteX3-487" fmla="*/ 573479 w 573479"/>
                  <a:gd name="connsiteY3-488" fmla="*/ 1285234 h 1326654"/>
                  <a:gd name="connsiteX4-489" fmla="*/ 384853 w 573479"/>
                  <a:gd name="connsiteY4-490" fmla="*/ 1326654 h 1326654"/>
                  <a:gd name="connsiteX0-491" fmla="*/ 384853 w 573479"/>
                  <a:gd name="connsiteY0-492" fmla="*/ 1326654 h 1326654"/>
                  <a:gd name="connsiteX1-493" fmla="*/ 0 w 573479"/>
                  <a:gd name="connsiteY1-494" fmla="*/ 554 h 1326654"/>
                  <a:gd name="connsiteX2-495" fmla="*/ 521570 w 573479"/>
                  <a:gd name="connsiteY2-496" fmla="*/ 10826 h 1326654"/>
                  <a:gd name="connsiteX3-497" fmla="*/ 573479 w 573479"/>
                  <a:gd name="connsiteY3-498" fmla="*/ 1285234 h 1326654"/>
                  <a:gd name="connsiteX4-499" fmla="*/ 384853 w 573479"/>
                  <a:gd name="connsiteY4-500" fmla="*/ 1326654 h 1326654"/>
                  <a:gd name="connsiteX0-501" fmla="*/ 384853 w 588119"/>
                  <a:gd name="connsiteY0-502" fmla="*/ 1326654 h 1326654"/>
                  <a:gd name="connsiteX1-503" fmla="*/ 0 w 588119"/>
                  <a:gd name="connsiteY1-504" fmla="*/ 554 h 1326654"/>
                  <a:gd name="connsiteX2-505" fmla="*/ 521570 w 588119"/>
                  <a:gd name="connsiteY2-506" fmla="*/ 10826 h 1326654"/>
                  <a:gd name="connsiteX3-507" fmla="*/ 588119 w 588119"/>
                  <a:gd name="connsiteY3-508" fmla="*/ 1321835 h 1326654"/>
                  <a:gd name="connsiteX4-509" fmla="*/ 384853 w 588119"/>
                  <a:gd name="connsiteY4-510" fmla="*/ 1326654 h 1326654"/>
                  <a:gd name="connsiteX0-511" fmla="*/ 384853 w 588119"/>
                  <a:gd name="connsiteY0-512" fmla="*/ 1326654 h 1326654"/>
                  <a:gd name="connsiteX1-513" fmla="*/ 0 w 588119"/>
                  <a:gd name="connsiteY1-514" fmla="*/ 554 h 1326654"/>
                  <a:gd name="connsiteX2-515" fmla="*/ 521570 w 588119"/>
                  <a:gd name="connsiteY2-516" fmla="*/ 10826 h 1326654"/>
                  <a:gd name="connsiteX3-517" fmla="*/ 588119 w 588119"/>
                  <a:gd name="connsiteY3-518" fmla="*/ 1321835 h 1326654"/>
                  <a:gd name="connsiteX4-519" fmla="*/ 384853 w 588119"/>
                  <a:gd name="connsiteY4-520" fmla="*/ 1326654 h 1326654"/>
                  <a:gd name="connsiteX0-521" fmla="*/ 384853 w 588119"/>
                  <a:gd name="connsiteY0-522" fmla="*/ 1326148 h 1326148"/>
                  <a:gd name="connsiteX1-523" fmla="*/ 0 w 588119"/>
                  <a:gd name="connsiteY1-524" fmla="*/ 48 h 1326148"/>
                  <a:gd name="connsiteX2-525" fmla="*/ 521570 w 588119"/>
                  <a:gd name="connsiteY2-526" fmla="*/ 228243 h 1326148"/>
                  <a:gd name="connsiteX3-527" fmla="*/ 588119 w 588119"/>
                  <a:gd name="connsiteY3-528" fmla="*/ 1321329 h 1326148"/>
                  <a:gd name="connsiteX4-529" fmla="*/ 384853 w 588119"/>
                  <a:gd name="connsiteY4-530" fmla="*/ 1326148 h 1326148"/>
                  <a:gd name="connsiteX0-531" fmla="*/ 384853 w 588119"/>
                  <a:gd name="connsiteY0-532" fmla="*/ 1326148 h 1326148"/>
                  <a:gd name="connsiteX1-533" fmla="*/ 0 w 588119"/>
                  <a:gd name="connsiteY1-534" fmla="*/ 48 h 1326148"/>
                  <a:gd name="connsiteX2-535" fmla="*/ 521570 w 588119"/>
                  <a:gd name="connsiteY2-536" fmla="*/ 228243 h 1326148"/>
                  <a:gd name="connsiteX3-537" fmla="*/ 588119 w 588119"/>
                  <a:gd name="connsiteY3-538" fmla="*/ 1321329 h 1326148"/>
                  <a:gd name="connsiteX4-539" fmla="*/ 384853 w 588119"/>
                  <a:gd name="connsiteY4-540" fmla="*/ 1326148 h 1326148"/>
                  <a:gd name="connsiteX0-541" fmla="*/ 384853 w 588119"/>
                  <a:gd name="connsiteY0-542" fmla="*/ 1326148 h 1326148"/>
                  <a:gd name="connsiteX1-543" fmla="*/ 0 w 588119"/>
                  <a:gd name="connsiteY1-544" fmla="*/ 48 h 1326148"/>
                  <a:gd name="connsiteX2-545" fmla="*/ 521570 w 588119"/>
                  <a:gd name="connsiteY2-546" fmla="*/ 228243 h 1326148"/>
                  <a:gd name="connsiteX3-547" fmla="*/ 588119 w 588119"/>
                  <a:gd name="connsiteY3-548" fmla="*/ 1321329 h 1326148"/>
                  <a:gd name="connsiteX4-549" fmla="*/ 384853 w 588119"/>
                  <a:gd name="connsiteY4-550" fmla="*/ 1326148 h 1326148"/>
                  <a:gd name="connsiteX0-551" fmla="*/ 366066 w 569332"/>
                  <a:gd name="connsiteY0-552" fmla="*/ 1097905 h 1097905"/>
                  <a:gd name="connsiteX1-553" fmla="*/ 0 w 569332"/>
                  <a:gd name="connsiteY1-554" fmla="*/ 4757 h 1097905"/>
                  <a:gd name="connsiteX2-555" fmla="*/ 502783 w 569332"/>
                  <a:gd name="connsiteY2-556" fmla="*/ 0 h 1097905"/>
                  <a:gd name="connsiteX3-557" fmla="*/ 569332 w 569332"/>
                  <a:gd name="connsiteY3-558" fmla="*/ 1093086 h 1097905"/>
                  <a:gd name="connsiteX4-559" fmla="*/ 366066 w 569332"/>
                  <a:gd name="connsiteY4-560" fmla="*/ 1097905 h 1097905"/>
                  <a:gd name="connsiteX0-561" fmla="*/ 366066 w 569332"/>
                  <a:gd name="connsiteY0-562" fmla="*/ 1097905 h 1097905"/>
                  <a:gd name="connsiteX1-563" fmla="*/ 0 w 569332"/>
                  <a:gd name="connsiteY1-564" fmla="*/ 4757 h 1097905"/>
                  <a:gd name="connsiteX2-565" fmla="*/ 502783 w 569332"/>
                  <a:gd name="connsiteY2-566" fmla="*/ 0 h 1097905"/>
                  <a:gd name="connsiteX3-567" fmla="*/ 569332 w 569332"/>
                  <a:gd name="connsiteY3-568" fmla="*/ 1093086 h 1097905"/>
                  <a:gd name="connsiteX4-569" fmla="*/ 366066 w 569332"/>
                  <a:gd name="connsiteY4-570" fmla="*/ 1097905 h 1097905"/>
                  <a:gd name="connsiteX0-571" fmla="*/ 366066 w 569332"/>
                  <a:gd name="connsiteY0-572" fmla="*/ 1097905 h 1097905"/>
                  <a:gd name="connsiteX1-573" fmla="*/ 0 w 569332"/>
                  <a:gd name="connsiteY1-574" fmla="*/ 4757 h 1097905"/>
                  <a:gd name="connsiteX2-575" fmla="*/ 502783 w 569332"/>
                  <a:gd name="connsiteY2-576" fmla="*/ 0 h 1097905"/>
                  <a:gd name="connsiteX3-577" fmla="*/ 569332 w 569332"/>
                  <a:gd name="connsiteY3-578" fmla="*/ 1093086 h 1097905"/>
                  <a:gd name="connsiteX4-579" fmla="*/ 366066 w 569332"/>
                  <a:gd name="connsiteY4-580" fmla="*/ 1097905 h 1097905"/>
                  <a:gd name="connsiteX0-581" fmla="*/ 366066 w 594113"/>
                  <a:gd name="connsiteY0-582" fmla="*/ 1097905 h 1179971"/>
                  <a:gd name="connsiteX1-583" fmla="*/ 0 w 594113"/>
                  <a:gd name="connsiteY1-584" fmla="*/ 4757 h 1179971"/>
                  <a:gd name="connsiteX2-585" fmla="*/ 502783 w 594113"/>
                  <a:gd name="connsiteY2-586" fmla="*/ 0 h 1179971"/>
                  <a:gd name="connsiteX3-587" fmla="*/ 594113 w 594113"/>
                  <a:gd name="connsiteY3-588" fmla="*/ 1179818 h 1179971"/>
                  <a:gd name="connsiteX4-589" fmla="*/ 366066 w 594113"/>
                  <a:gd name="connsiteY4-590" fmla="*/ 1097905 h 1179971"/>
                  <a:gd name="connsiteX0-591" fmla="*/ 403236 w 594113"/>
                  <a:gd name="connsiteY0-592" fmla="*/ 1215612 h 1215612"/>
                  <a:gd name="connsiteX1-593" fmla="*/ 0 w 594113"/>
                  <a:gd name="connsiteY1-594" fmla="*/ 4757 h 1215612"/>
                  <a:gd name="connsiteX2-595" fmla="*/ 502783 w 594113"/>
                  <a:gd name="connsiteY2-596" fmla="*/ 0 h 1215612"/>
                  <a:gd name="connsiteX3-597" fmla="*/ 594113 w 594113"/>
                  <a:gd name="connsiteY3-598" fmla="*/ 1179818 h 1215612"/>
                  <a:gd name="connsiteX4-599" fmla="*/ 403236 w 594113"/>
                  <a:gd name="connsiteY4-600" fmla="*/ 1215612 h 1215612"/>
                  <a:gd name="connsiteX0-601" fmla="*/ 403236 w 574100"/>
                  <a:gd name="connsiteY0-602" fmla="*/ 1215612 h 1215612"/>
                  <a:gd name="connsiteX1-603" fmla="*/ 0 w 574100"/>
                  <a:gd name="connsiteY1-604" fmla="*/ 4757 h 1215612"/>
                  <a:gd name="connsiteX2-605" fmla="*/ 502783 w 574100"/>
                  <a:gd name="connsiteY2-606" fmla="*/ 0 h 1215612"/>
                  <a:gd name="connsiteX3-607" fmla="*/ 574100 w 574100"/>
                  <a:gd name="connsiteY3-608" fmla="*/ 1014877 h 1215612"/>
                  <a:gd name="connsiteX4-609" fmla="*/ 403236 w 574100"/>
                  <a:gd name="connsiteY4-610" fmla="*/ 1215612 h 1215612"/>
                  <a:gd name="connsiteX0-611" fmla="*/ 333190 w 574100"/>
                  <a:gd name="connsiteY0-612" fmla="*/ 985695 h 1015244"/>
                  <a:gd name="connsiteX1-613" fmla="*/ 0 w 574100"/>
                  <a:gd name="connsiteY1-614" fmla="*/ 4757 h 1015244"/>
                  <a:gd name="connsiteX2-615" fmla="*/ 502783 w 574100"/>
                  <a:gd name="connsiteY2-616" fmla="*/ 0 h 1015244"/>
                  <a:gd name="connsiteX3-617" fmla="*/ 574100 w 574100"/>
                  <a:gd name="connsiteY3-618" fmla="*/ 1014877 h 1015244"/>
                  <a:gd name="connsiteX4-619" fmla="*/ 333190 w 574100"/>
                  <a:gd name="connsiteY4-620" fmla="*/ 985695 h 1015244"/>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29" name="Group 28"/>
              <p:cNvGrpSpPr/>
              <p:nvPr/>
            </p:nvGrpSpPr>
            <p:grpSpPr>
              <a:xfrm>
                <a:off x="1856416" y="3709935"/>
                <a:ext cx="1049338" cy="1739900"/>
                <a:chOff x="1856416" y="3709935"/>
                <a:chExt cx="1049338" cy="1739900"/>
              </a:xfrm>
            </p:grpSpPr>
            <p:sp>
              <p:nvSpPr>
                <p:cNvPr id="496" name="Rectangle 495"/>
                <p:cNvSpPr/>
                <p:nvPr/>
              </p:nvSpPr>
              <p:spPr bwMode="auto">
                <a:xfrm rot="10800000">
                  <a:off x="1867529" y="3957585"/>
                  <a:ext cx="1027112" cy="61109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85" name="Group 498"/>
                <p:cNvGrpSpPr/>
                <p:nvPr/>
              </p:nvGrpSpPr>
              <p:grpSpPr bwMode="auto">
                <a:xfrm>
                  <a:off x="1858805" y="5088863"/>
                  <a:ext cx="1035373" cy="360972"/>
                  <a:chOff x="4128636" y="3606589"/>
                  <a:chExt cx="568145" cy="338667"/>
                </a:xfrm>
              </p:grpSpPr>
              <p:sp>
                <p:nvSpPr>
                  <p:cNvPr id="515" name="Oval 514"/>
                  <p:cNvSpPr/>
                  <p:nvPr/>
                </p:nvSpPr>
                <p:spPr>
                  <a:xfrm>
                    <a:off x="4129067" y="3720356"/>
                    <a:ext cx="567968" cy="224900"/>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6" name="Rectangle 515"/>
                  <p:cNvSpPr/>
                  <p:nvPr/>
                </p:nvSpPr>
                <p:spPr>
                  <a:xfrm>
                    <a:off x="4129067" y="3720356"/>
                    <a:ext cx="567968" cy="111705"/>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7" name="Oval 516"/>
                  <p:cNvSpPr/>
                  <p:nvPr/>
                </p:nvSpPr>
                <p:spPr>
                  <a:xfrm>
                    <a:off x="4129067" y="3607161"/>
                    <a:ext cx="567968" cy="224900"/>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8" name="Straight Connector 517"/>
                  <p:cNvCxnSpPr/>
                  <p:nvPr/>
                </p:nvCxnSpPr>
                <p:spPr>
                  <a:xfrm>
                    <a:off x="4697035"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p:cNvCxnSpPr/>
                  <p:nvPr/>
                </p:nvCxnSpPr>
                <p:spPr>
                  <a:xfrm>
                    <a:off x="4129067"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0" name="Rectangle 499"/>
                <p:cNvSpPr/>
                <p:nvPr/>
              </p:nvSpPr>
              <p:spPr bwMode="auto">
                <a:xfrm>
                  <a:off x="1877054" y="4704509"/>
                  <a:ext cx="1028700" cy="523075"/>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2" name="Straight Connector 501"/>
                <p:cNvCxnSpPr/>
                <p:nvPr/>
              </p:nvCxnSpPr>
              <p:spPr bwMode="auto">
                <a:xfrm>
                  <a:off x="1861179" y="3981398"/>
                  <a:ext cx="17462" cy="13017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03" name="Straight Connector 502"/>
                <p:cNvCxnSpPr/>
                <p:nvPr/>
              </p:nvCxnSpPr>
              <p:spPr bwMode="auto">
                <a:xfrm flipH="1">
                  <a:off x="2894641" y="3971873"/>
                  <a:ext cx="6350" cy="127000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90" name="Group 504"/>
                <p:cNvGrpSpPr/>
                <p:nvPr/>
              </p:nvGrpSpPr>
              <p:grpSpPr bwMode="auto">
                <a:xfrm>
                  <a:off x="1856416" y="3709935"/>
                  <a:ext cx="1044712" cy="399063"/>
                  <a:chOff x="2183302" y="1574638"/>
                  <a:chExt cx="1200154" cy="430218"/>
                </a:xfrm>
              </p:grpSpPr>
              <p:sp>
                <p:nvSpPr>
                  <p:cNvPr id="506" name="Oval 505"/>
                  <p:cNvSpPr/>
                  <p:nvPr/>
                </p:nvSpPr>
                <p:spPr bwMode="auto">
                  <a:xfrm flipV="1">
                    <a:off x="2185126" y="1689305"/>
                    <a:ext cx="1196349" cy="314904"/>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7" name="Rectangle 506"/>
                  <p:cNvSpPr/>
                  <p:nvPr/>
                </p:nvSpPr>
                <p:spPr bwMode="auto">
                  <a:xfrm>
                    <a:off x="2183302" y="1735513"/>
                    <a:ext cx="1198173" cy="11295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8" name="Oval 507"/>
                  <p:cNvSpPr/>
                  <p:nvPr/>
                </p:nvSpPr>
                <p:spPr bwMode="auto">
                  <a:xfrm flipV="1">
                    <a:off x="2183302" y="1574638"/>
                    <a:ext cx="1196349" cy="314904"/>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9" name="Freeform 508"/>
                  <p:cNvSpPr/>
                  <p:nvPr/>
                </p:nvSpPr>
                <p:spPr bwMode="auto">
                  <a:xfrm>
                    <a:off x="2489684" y="1670478"/>
                    <a:ext cx="581762" cy="15745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0" name="Freeform 509"/>
                  <p:cNvSpPr/>
                  <p:nvPr/>
                </p:nvSpPr>
                <p:spPr bwMode="auto">
                  <a:xfrm>
                    <a:off x="2429502" y="1629404"/>
                    <a:ext cx="703949" cy="11124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Freeform 510"/>
                  <p:cNvSpPr/>
                  <p:nvPr/>
                </p:nvSpPr>
                <p:spPr bwMode="auto">
                  <a:xfrm>
                    <a:off x="2892723" y="1723534"/>
                    <a:ext cx="257142" cy="958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Freeform 511"/>
                  <p:cNvSpPr/>
                  <p:nvPr/>
                </p:nvSpPr>
                <p:spPr bwMode="auto">
                  <a:xfrm>
                    <a:off x="2416736" y="1725244"/>
                    <a:ext cx="255318" cy="9413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a:endCxn id="508" idx="2"/>
                  </p:cNvCxnSpPr>
                  <p:nvPr/>
                </p:nvCxnSpPr>
                <p:spPr bwMode="auto">
                  <a:xfrm flipH="1" flipV="1">
                    <a:off x="2183302" y="1732090"/>
                    <a:ext cx="1824"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bwMode="auto">
                  <a:xfrm flipH="1" flipV="1">
                    <a:off x="3381475" y="1728667"/>
                    <a:ext cx="1823"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0" name="Group 29"/>
              <p:cNvGrpSpPr/>
              <p:nvPr/>
            </p:nvGrpSpPr>
            <p:grpSpPr>
              <a:xfrm>
                <a:off x="3566154" y="3862335"/>
                <a:ext cx="514350" cy="1670050"/>
                <a:chOff x="3566154" y="3862335"/>
                <a:chExt cx="514350" cy="1670050"/>
              </a:xfrm>
            </p:grpSpPr>
            <p:sp>
              <p:nvSpPr>
                <p:cNvPr id="549" name="Rectangle 548"/>
                <p:cNvSpPr/>
                <p:nvPr/>
              </p:nvSpPr>
              <p:spPr bwMode="auto">
                <a:xfrm rot="10800000">
                  <a:off x="3569201" y="39460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0" name="Straight Connector 549"/>
                <p:cNvCxnSpPr/>
                <p:nvPr/>
              </p:nvCxnSpPr>
              <p:spPr bwMode="auto">
                <a:xfrm flipH="1">
                  <a:off x="4078916" y="4019498"/>
                  <a:ext cx="1588"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71" name="Group 552"/>
                <p:cNvGrpSpPr/>
                <p:nvPr/>
              </p:nvGrpSpPr>
              <p:grpSpPr bwMode="auto">
                <a:xfrm>
                  <a:off x="3571302" y="5310688"/>
                  <a:ext cx="507588" cy="221697"/>
                  <a:chOff x="4128636" y="3606589"/>
                  <a:chExt cx="568145" cy="338667"/>
                </a:xfrm>
              </p:grpSpPr>
              <p:sp>
                <p:nvSpPr>
                  <p:cNvPr id="562" name="Oval 561"/>
                  <p:cNvSpPr/>
                  <p:nvPr/>
                </p:nvSpPr>
                <p:spPr>
                  <a:xfrm>
                    <a:off x="4128204"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3" name="Rectangle 562"/>
                  <p:cNvSpPr/>
                  <p:nvPr/>
                </p:nvSpPr>
                <p:spPr>
                  <a:xfrm>
                    <a:off x="4128204"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4" name="Oval 563"/>
                  <p:cNvSpPr/>
                  <p:nvPr/>
                </p:nvSpPr>
                <p:spPr>
                  <a:xfrm>
                    <a:off x="4128204"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65" name="Straight Connector 564"/>
                  <p:cNvCxnSpPr/>
                  <p:nvPr/>
                </p:nvCxnSpPr>
                <p:spPr>
                  <a:xfrm>
                    <a:off x="4696810"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a:off x="4128204"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54" name="Rectangle 553"/>
                <p:cNvSpPr/>
                <p:nvPr/>
              </p:nvSpPr>
              <p:spPr bwMode="auto">
                <a:xfrm>
                  <a:off x="3572504" y="4575123"/>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7" name="Straight Connector 556"/>
                <p:cNvCxnSpPr/>
                <p:nvPr/>
              </p:nvCxnSpPr>
              <p:spPr bwMode="auto">
                <a:xfrm flipH="1">
                  <a:off x="3566154" y="40274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57" name="Group 538"/>
                <p:cNvGrpSpPr/>
                <p:nvPr/>
              </p:nvGrpSpPr>
              <p:grpSpPr bwMode="auto">
                <a:xfrm>
                  <a:off x="3568667" y="3862335"/>
                  <a:ext cx="503828" cy="248249"/>
                  <a:chOff x="2183302" y="1564542"/>
                  <a:chExt cx="1200154" cy="440314"/>
                </a:xfrm>
              </p:grpSpPr>
              <p:sp>
                <p:nvSpPr>
                  <p:cNvPr id="540" name="Oval 539"/>
                  <p:cNvSpPr/>
                  <p:nvPr/>
                </p:nvSpPr>
                <p:spPr bwMode="auto">
                  <a:xfrm flipV="1">
                    <a:off x="2188659"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1" name="Rectangle 540"/>
                  <p:cNvSpPr/>
                  <p:nvPr/>
                </p:nvSpPr>
                <p:spPr bwMode="auto">
                  <a:xfrm>
                    <a:off x="2184879" y="1736302"/>
                    <a:ext cx="1198746"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2" name="Oval 541"/>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3" name="Freeform 542"/>
                  <p:cNvSpPr/>
                  <p:nvPr/>
                </p:nvSpPr>
                <p:spPr bwMode="auto">
                  <a:xfrm>
                    <a:off x="2491182"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4" name="Freeform 543"/>
                  <p:cNvSpPr/>
                  <p:nvPr/>
                </p:nvSpPr>
                <p:spPr bwMode="auto">
                  <a:xfrm>
                    <a:off x="2430678"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5" name="Freeform 544"/>
                  <p:cNvSpPr/>
                  <p:nvPr/>
                </p:nvSpPr>
                <p:spPr bwMode="auto">
                  <a:xfrm>
                    <a:off x="2892025" y="1722222"/>
                    <a:ext cx="260927"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6" name="Freeform 545"/>
                  <p:cNvSpPr/>
                  <p:nvPr/>
                </p:nvSpPr>
                <p:spPr bwMode="auto">
                  <a:xfrm>
                    <a:off x="2419334" y="1725039"/>
                    <a:ext cx="253362"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47" name="Straight Connector 546"/>
                  <p:cNvCxnSpPr>
                    <a:endCxn id="542" idx="2"/>
                  </p:cNvCxnSpPr>
                  <p:nvPr/>
                </p:nvCxnSpPr>
                <p:spPr bwMode="auto">
                  <a:xfrm flipH="1" flipV="1">
                    <a:off x="2184879" y="1722222"/>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48" name="Straight Connector 547"/>
                  <p:cNvCxnSpPr/>
                  <p:nvPr/>
                </p:nvCxnSpPr>
                <p:spPr bwMode="auto">
                  <a:xfrm flipH="1" flipV="1">
                    <a:off x="3379845" y="1727853"/>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1" name="Group 30"/>
              <p:cNvGrpSpPr/>
              <p:nvPr/>
            </p:nvGrpSpPr>
            <p:grpSpPr>
              <a:xfrm>
                <a:off x="4348791" y="3867098"/>
                <a:ext cx="514350" cy="1670050"/>
                <a:chOff x="4348791" y="3867098"/>
                <a:chExt cx="514350" cy="1670050"/>
              </a:xfrm>
            </p:grpSpPr>
            <p:sp>
              <p:nvSpPr>
                <p:cNvPr id="579" name="Rectangle 578"/>
                <p:cNvSpPr/>
                <p:nvPr/>
              </p:nvSpPr>
              <p:spPr bwMode="auto">
                <a:xfrm rot="10800000">
                  <a:off x="4351838" y="3950855"/>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0" name="Straight Connector 579"/>
                <p:cNvCxnSpPr/>
                <p:nvPr/>
              </p:nvCxnSpPr>
              <p:spPr bwMode="auto">
                <a:xfrm flipH="1">
                  <a:off x="4861554" y="4024260"/>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43" name="Group 580"/>
                <p:cNvGrpSpPr/>
                <p:nvPr/>
              </p:nvGrpSpPr>
              <p:grpSpPr bwMode="auto">
                <a:xfrm>
                  <a:off x="4353939" y="5315451"/>
                  <a:ext cx="507588" cy="221697"/>
                  <a:chOff x="4128636" y="3606589"/>
                  <a:chExt cx="568145" cy="338667"/>
                </a:xfrm>
              </p:grpSpPr>
              <p:sp>
                <p:nvSpPr>
                  <p:cNvPr id="589" name="Oval 588"/>
                  <p:cNvSpPr/>
                  <p:nvPr/>
                </p:nvSpPr>
                <p:spPr>
                  <a:xfrm>
                    <a:off x="4128205" y="3719722"/>
                    <a:ext cx="568606" cy="225534"/>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0" name="Rectangle 589"/>
                  <p:cNvSpPr/>
                  <p:nvPr/>
                </p:nvSpPr>
                <p:spPr>
                  <a:xfrm>
                    <a:off x="4128205" y="3719722"/>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1" name="Oval 590"/>
                  <p:cNvSpPr/>
                  <p:nvPr/>
                </p:nvSpPr>
                <p:spPr>
                  <a:xfrm>
                    <a:off x="4128205" y="3605744"/>
                    <a:ext cx="568606" cy="22553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92" name="Straight Connector 591"/>
                  <p:cNvCxnSpPr/>
                  <p:nvPr/>
                </p:nvCxnSpPr>
                <p:spPr>
                  <a:xfrm>
                    <a:off x="4696811"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p:nvPr/>
                </p:nvCxnSpPr>
                <p:spPr>
                  <a:xfrm>
                    <a:off x="4128205"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82" name="Rectangle 581"/>
                <p:cNvSpPr/>
                <p:nvPr/>
              </p:nvSpPr>
              <p:spPr bwMode="auto">
                <a:xfrm>
                  <a:off x="4355141" y="4579885"/>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4" name="Straight Connector 583"/>
                <p:cNvCxnSpPr/>
                <p:nvPr/>
              </p:nvCxnSpPr>
              <p:spPr bwMode="auto">
                <a:xfrm flipH="1">
                  <a:off x="4348791" y="4032198"/>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29" name="Group 568"/>
                <p:cNvGrpSpPr/>
                <p:nvPr/>
              </p:nvGrpSpPr>
              <p:grpSpPr bwMode="auto">
                <a:xfrm>
                  <a:off x="4351304" y="3867098"/>
                  <a:ext cx="503828" cy="248249"/>
                  <a:chOff x="2183302" y="1564542"/>
                  <a:chExt cx="1200154" cy="440314"/>
                </a:xfrm>
              </p:grpSpPr>
              <p:sp>
                <p:nvSpPr>
                  <p:cNvPr id="570" name="Oval 569"/>
                  <p:cNvSpPr/>
                  <p:nvPr/>
                </p:nvSpPr>
                <p:spPr bwMode="auto">
                  <a:xfrm flipV="1">
                    <a:off x="2188662" y="1691248"/>
                    <a:ext cx="1194966" cy="312545"/>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1" name="Rectangle 570"/>
                  <p:cNvSpPr/>
                  <p:nvPr/>
                </p:nvSpPr>
                <p:spPr bwMode="auto">
                  <a:xfrm>
                    <a:off x="2184879" y="1736300"/>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2" name="Oval 571"/>
                  <p:cNvSpPr/>
                  <p:nvPr/>
                </p:nvSpPr>
                <p:spPr bwMode="auto">
                  <a:xfrm flipV="1">
                    <a:off x="2184879" y="1564542"/>
                    <a:ext cx="1194966" cy="312543"/>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3" name="Freeform 572"/>
                  <p:cNvSpPr/>
                  <p:nvPr/>
                </p:nvSpPr>
                <p:spPr bwMode="auto">
                  <a:xfrm>
                    <a:off x="2491185" y="1671539"/>
                    <a:ext cx="582357" cy="1548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4" name="Freeform 573"/>
                  <p:cNvSpPr/>
                  <p:nvPr/>
                </p:nvSpPr>
                <p:spPr bwMode="auto">
                  <a:xfrm>
                    <a:off x="2430680" y="1629303"/>
                    <a:ext cx="703366" cy="10981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5" name="Freeform 574"/>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6" name="Freeform 575"/>
                  <p:cNvSpPr/>
                  <p:nvPr/>
                </p:nvSpPr>
                <p:spPr bwMode="auto">
                  <a:xfrm>
                    <a:off x="2419334" y="1725037"/>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77" name="Straight Connector 576"/>
                  <p:cNvCxnSpPr>
                    <a:endCxn id="572" idx="2"/>
                  </p:cNvCxnSpPr>
                  <p:nvPr/>
                </p:nvCxnSpPr>
                <p:spPr bwMode="auto">
                  <a:xfrm flipH="1" flipV="1">
                    <a:off x="2184879" y="1722222"/>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p:nvPr/>
                </p:nvCxnSpPr>
                <p:spPr bwMode="auto">
                  <a:xfrm flipH="1" flipV="1">
                    <a:off x="3379845" y="1727853"/>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8" name="Group 48257"/>
              <p:cNvGrpSpPr/>
              <p:nvPr/>
            </p:nvGrpSpPr>
            <p:grpSpPr>
              <a:xfrm>
                <a:off x="5552116" y="3849635"/>
                <a:ext cx="514350" cy="1670050"/>
                <a:chOff x="5552116" y="3849635"/>
                <a:chExt cx="514350" cy="1670050"/>
              </a:xfrm>
            </p:grpSpPr>
            <p:sp>
              <p:nvSpPr>
                <p:cNvPr id="606" name="Rectangle 605"/>
                <p:cNvSpPr/>
                <p:nvPr/>
              </p:nvSpPr>
              <p:spPr bwMode="auto">
                <a:xfrm rot="10800000">
                  <a:off x="5555163" y="39333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7" name="Straight Connector 606"/>
                <p:cNvCxnSpPr/>
                <p:nvPr/>
              </p:nvCxnSpPr>
              <p:spPr bwMode="auto">
                <a:xfrm flipH="1">
                  <a:off x="6064879" y="4006798"/>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15" name="Group 607"/>
                <p:cNvGrpSpPr/>
                <p:nvPr/>
              </p:nvGrpSpPr>
              <p:grpSpPr bwMode="auto">
                <a:xfrm>
                  <a:off x="5557264" y="5297988"/>
                  <a:ext cx="507588" cy="221697"/>
                  <a:chOff x="4128636" y="3606589"/>
                  <a:chExt cx="568145" cy="338667"/>
                </a:xfrm>
              </p:grpSpPr>
              <p:sp>
                <p:nvSpPr>
                  <p:cNvPr id="616" name="Oval 615"/>
                  <p:cNvSpPr/>
                  <p:nvPr/>
                </p:nvSpPr>
                <p:spPr>
                  <a:xfrm>
                    <a:off x="4128205"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7" name="Rectangle 616"/>
                  <p:cNvSpPr/>
                  <p:nvPr/>
                </p:nvSpPr>
                <p:spPr>
                  <a:xfrm>
                    <a:off x="4128205"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8" name="Oval 617"/>
                  <p:cNvSpPr/>
                  <p:nvPr/>
                </p:nvSpPr>
                <p:spPr>
                  <a:xfrm>
                    <a:off x="4128205"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9" name="Straight Connector 618"/>
                  <p:cNvCxnSpPr/>
                  <p:nvPr/>
                </p:nvCxnSpPr>
                <p:spPr>
                  <a:xfrm>
                    <a:off x="4696811"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20" name="Straight Connector 619"/>
                  <p:cNvCxnSpPr/>
                  <p:nvPr/>
                </p:nvCxnSpPr>
                <p:spPr>
                  <a:xfrm>
                    <a:off x="4128205"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09" name="Rectangle 608"/>
                <p:cNvSpPr/>
                <p:nvPr/>
              </p:nvSpPr>
              <p:spPr bwMode="auto">
                <a:xfrm>
                  <a:off x="5558466" y="4562423"/>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1" name="Straight Connector 610"/>
                <p:cNvCxnSpPr/>
                <p:nvPr/>
              </p:nvCxnSpPr>
              <p:spPr bwMode="auto">
                <a:xfrm flipH="1">
                  <a:off x="5552116" y="40147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01" name="Group 595"/>
                <p:cNvGrpSpPr/>
                <p:nvPr/>
              </p:nvGrpSpPr>
              <p:grpSpPr bwMode="auto">
                <a:xfrm>
                  <a:off x="5554629" y="3849635"/>
                  <a:ext cx="503828" cy="248249"/>
                  <a:chOff x="2183302" y="1564542"/>
                  <a:chExt cx="1200154" cy="440314"/>
                </a:xfrm>
              </p:grpSpPr>
              <p:sp>
                <p:nvSpPr>
                  <p:cNvPr id="597" name="Oval 596"/>
                  <p:cNvSpPr/>
                  <p:nvPr/>
                </p:nvSpPr>
                <p:spPr bwMode="auto">
                  <a:xfrm flipV="1">
                    <a:off x="2188662"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98" name="Rectangle 597"/>
                  <p:cNvSpPr/>
                  <p:nvPr/>
                </p:nvSpPr>
                <p:spPr bwMode="auto">
                  <a:xfrm>
                    <a:off x="2184879" y="1736302"/>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9" name="Oval 598"/>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00" name="Freeform 599"/>
                  <p:cNvSpPr/>
                  <p:nvPr/>
                </p:nvSpPr>
                <p:spPr bwMode="auto">
                  <a:xfrm>
                    <a:off x="2491185"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1" name="Freeform 600"/>
                  <p:cNvSpPr/>
                  <p:nvPr/>
                </p:nvSpPr>
                <p:spPr bwMode="auto">
                  <a:xfrm>
                    <a:off x="2430680"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2" name="Freeform 601"/>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3" name="Freeform 602"/>
                  <p:cNvSpPr/>
                  <p:nvPr/>
                </p:nvSpPr>
                <p:spPr bwMode="auto">
                  <a:xfrm>
                    <a:off x="2419334" y="1725039"/>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4" name="Straight Connector 603"/>
                  <p:cNvCxnSpPr>
                    <a:endCxn id="599" idx="2"/>
                  </p:cNvCxnSpPr>
                  <p:nvPr/>
                </p:nvCxnSpPr>
                <p:spPr bwMode="auto">
                  <a:xfrm flipH="1" flipV="1">
                    <a:off x="2184879" y="1722222"/>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p:nvPr/>
                </p:nvCxnSpPr>
                <p:spPr bwMode="auto">
                  <a:xfrm flipH="1" flipV="1">
                    <a:off x="3379845" y="1727853"/>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9" name="Group 48258"/>
              <p:cNvGrpSpPr/>
              <p:nvPr/>
            </p:nvGrpSpPr>
            <p:grpSpPr>
              <a:xfrm>
                <a:off x="6547479" y="3836935"/>
                <a:ext cx="514350" cy="1671638"/>
                <a:chOff x="6547479" y="3836935"/>
                <a:chExt cx="514350" cy="1671638"/>
              </a:xfrm>
            </p:grpSpPr>
            <p:sp>
              <p:nvSpPr>
                <p:cNvPr id="633" name="Rectangle 632"/>
                <p:cNvSpPr/>
                <p:nvPr/>
              </p:nvSpPr>
              <p:spPr bwMode="auto">
                <a:xfrm rot="10800000">
                  <a:off x="6550526" y="3920772"/>
                  <a:ext cx="498084" cy="62924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4" name="Straight Connector 633"/>
                <p:cNvCxnSpPr/>
                <p:nvPr/>
              </p:nvCxnSpPr>
              <p:spPr bwMode="auto">
                <a:xfrm flipH="1">
                  <a:off x="7060241" y="3994098"/>
                  <a:ext cx="1588" cy="13668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87" name="Group 634"/>
                <p:cNvGrpSpPr/>
                <p:nvPr/>
              </p:nvGrpSpPr>
              <p:grpSpPr bwMode="auto">
                <a:xfrm>
                  <a:off x="6552627" y="5286665"/>
                  <a:ext cx="507588" cy="221908"/>
                  <a:chOff x="4128636" y="3606589"/>
                  <a:chExt cx="568145" cy="338667"/>
                </a:xfrm>
              </p:grpSpPr>
              <p:sp>
                <p:nvSpPr>
                  <p:cNvPr id="643" name="Oval 642"/>
                  <p:cNvSpPr/>
                  <p:nvPr/>
                </p:nvSpPr>
                <p:spPr>
                  <a:xfrm>
                    <a:off x="4128204" y="3719937"/>
                    <a:ext cx="568606" cy="225319"/>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4" name="Rectangle 643"/>
                  <p:cNvSpPr/>
                  <p:nvPr/>
                </p:nvSpPr>
                <p:spPr>
                  <a:xfrm>
                    <a:off x="4128204" y="3719937"/>
                    <a:ext cx="568606" cy="11144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5" name="Oval 644"/>
                  <p:cNvSpPr/>
                  <p:nvPr/>
                </p:nvSpPr>
                <p:spPr>
                  <a:xfrm>
                    <a:off x="4128204" y="3606067"/>
                    <a:ext cx="568606" cy="22531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6" name="Straight Connector 645"/>
                  <p:cNvCxnSpPr/>
                  <p:nvPr/>
                </p:nvCxnSpPr>
                <p:spPr>
                  <a:xfrm>
                    <a:off x="4696810"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7" name="Straight Connector 646"/>
                  <p:cNvCxnSpPr/>
                  <p:nvPr/>
                </p:nvCxnSpPr>
                <p:spPr>
                  <a:xfrm>
                    <a:off x="4128204"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36" name="Rectangle 635"/>
                <p:cNvSpPr/>
                <p:nvPr/>
              </p:nvSpPr>
              <p:spPr bwMode="auto">
                <a:xfrm>
                  <a:off x="6553829" y="4551310"/>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8" name="Straight Connector 637"/>
                <p:cNvCxnSpPr/>
                <p:nvPr/>
              </p:nvCxnSpPr>
              <p:spPr bwMode="auto">
                <a:xfrm flipH="1">
                  <a:off x="6547479" y="4002035"/>
                  <a:ext cx="3175" cy="1452563"/>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73" name="Group 622"/>
                <p:cNvGrpSpPr/>
                <p:nvPr/>
              </p:nvGrpSpPr>
              <p:grpSpPr bwMode="auto">
                <a:xfrm>
                  <a:off x="6549992" y="3836935"/>
                  <a:ext cx="503828" cy="248485"/>
                  <a:chOff x="2183302" y="1564542"/>
                  <a:chExt cx="1200154" cy="440314"/>
                </a:xfrm>
              </p:grpSpPr>
              <p:sp>
                <p:nvSpPr>
                  <p:cNvPr id="624" name="Oval 623"/>
                  <p:cNvSpPr/>
                  <p:nvPr/>
                </p:nvSpPr>
                <p:spPr bwMode="auto">
                  <a:xfrm flipV="1">
                    <a:off x="2188659" y="1691130"/>
                    <a:ext cx="1194966" cy="31506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5" name="Rectangle 624"/>
                  <p:cNvSpPr/>
                  <p:nvPr/>
                </p:nvSpPr>
                <p:spPr bwMode="auto">
                  <a:xfrm>
                    <a:off x="2184879" y="1736138"/>
                    <a:ext cx="1198746" cy="11252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6" name="Oval 625"/>
                  <p:cNvSpPr/>
                  <p:nvPr/>
                </p:nvSpPr>
                <p:spPr bwMode="auto">
                  <a:xfrm flipV="1">
                    <a:off x="2184879" y="1564542"/>
                    <a:ext cx="1194966" cy="31506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7" name="Freeform 626"/>
                  <p:cNvSpPr/>
                  <p:nvPr/>
                </p:nvSpPr>
                <p:spPr bwMode="auto">
                  <a:xfrm>
                    <a:off x="2491182" y="1671438"/>
                    <a:ext cx="582357" cy="15753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8" name="Freeform 627"/>
                  <p:cNvSpPr/>
                  <p:nvPr/>
                </p:nvSpPr>
                <p:spPr bwMode="auto">
                  <a:xfrm>
                    <a:off x="2430678" y="1629243"/>
                    <a:ext cx="703366" cy="11252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9" name="Freeform 628"/>
                  <p:cNvSpPr/>
                  <p:nvPr/>
                </p:nvSpPr>
                <p:spPr bwMode="auto">
                  <a:xfrm>
                    <a:off x="2892025" y="1724886"/>
                    <a:ext cx="260927" cy="956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0" name="Freeform 629"/>
                  <p:cNvSpPr/>
                  <p:nvPr/>
                </p:nvSpPr>
                <p:spPr bwMode="auto">
                  <a:xfrm>
                    <a:off x="2419334" y="1727698"/>
                    <a:ext cx="253362" cy="9283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1" name="Straight Connector 630"/>
                  <p:cNvCxnSpPr>
                    <a:endCxn id="626" idx="2"/>
                  </p:cNvCxnSpPr>
                  <p:nvPr/>
                </p:nvCxnSpPr>
                <p:spPr bwMode="auto">
                  <a:xfrm flipH="1" flipV="1">
                    <a:off x="2184879" y="1722072"/>
                    <a:ext cx="3780" cy="12096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p:nvPr/>
                </p:nvCxnSpPr>
                <p:spPr bwMode="auto">
                  <a:xfrm flipH="1" flipV="1">
                    <a:off x="3379845" y="1730512"/>
                    <a:ext cx="3780" cy="12096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grpSp>
          <p:nvGrpSpPr>
            <p:cNvPr id="28" name="Group 27"/>
            <p:cNvGrpSpPr/>
            <p:nvPr/>
          </p:nvGrpSpPr>
          <p:grpSpPr>
            <a:xfrm>
              <a:off x="2381956" y="2010251"/>
              <a:ext cx="4415330" cy="2315048"/>
              <a:chOff x="2381956" y="2435173"/>
              <a:chExt cx="4415330" cy="2315048"/>
            </a:xfrm>
          </p:grpSpPr>
          <p:sp>
            <p:nvSpPr>
              <p:cNvPr id="391" name="Freeform 390"/>
              <p:cNvSpPr/>
              <p:nvPr/>
            </p:nvSpPr>
            <p:spPr>
              <a:xfrm>
                <a:off x="2381956" y="2439629"/>
                <a:ext cx="297540" cy="1743187"/>
              </a:xfrm>
              <a:custGeom>
                <a:avLst/>
                <a:gdLst>
                  <a:gd name="connsiteX0" fmla="*/ 307275 w 307275"/>
                  <a:gd name="connsiteY0" fmla="*/ 0 h 1659441"/>
                  <a:gd name="connsiteX1" fmla="*/ 0 w 307275"/>
                  <a:gd name="connsiteY1" fmla="*/ 0 h 1659441"/>
                  <a:gd name="connsiteX2" fmla="*/ 0 w 307275"/>
                  <a:gd name="connsiteY2" fmla="*/ 1659441 h 1659441"/>
                  <a:gd name="connsiteX0-1" fmla="*/ 307275 w 307275"/>
                  <a:gd name="connsiteY0-2" fmla="*/ 0 h 2015941"/>
                  <a:gd name="connsiteX1-3" fmla="*/ 0 w 307275"/>
                  <a:gd name="connsiteY1-4" fmla="*/ 0 h 2015941"/>
                  <a:gd name="connsiteX2-5" fmla="*/ 0 w 307275"/>
                  <a:gd name="connsiteY2-6" fmla="*/ 2015941 h 2015941"/>
                  <a:gd name="connsiteX0-7" fmla="*/ 228538 w 228538"/>
                  <a:gd name="connsiteY0-8" fmla="*/ 0 h 2022548"/>
                  <a:gd name="connsiteX1-9" fmla="*/ 0 w 228538"/>
                  <a:gd name="connsiteY1-10" fmla="*/ 6607 h 2022548"/>
                  <a:gd name="connsiteX2-11" fmla="*/ 0 w 228538"/>
                  <a:gd name="connsiteY2-12" fmla="*/ 2022548 h 2022548"/>
                </a:gdLst>
                <a:ahLst/>
                <a:cxnLst>
                  <a:cxn ang="0">
                    <a:pos x="connsiteX0-1" y="connsiteY0-2"/>
                  </a:cxn>
                  <a:cxn ang="0">
                    <a:pos x="connsiteX1-3" y="connsiteY1-4"/>
                  </a:cxn>
                  <a:cxn ang="0">
                    <a:pos x="connsiteX2-5" y="connsiteY2-6"/>
                  </a:cxn>
                </a:cxnLst>
                <a:rect l="l" t="t" r="r" b="b"/>
                <a:pathLst>
                  <a:path w="228538" h="2022548">
                    <a:moveTo>
                      <a:pt x="228538" y="0"/>
                    </a:moveTo>
                    <a:lnTo>
                      <a:pt x="0" y="6607"/>
                    </a:lnTo>
                    <a:lnTo>
                      <a:pt x="0" y="2022548"/>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solidFill>
                    <a:srgbClr val="CC0000"/>
                  </a:solidFill>
                </a:endParaRPr>
              </a:p>
            </p:txBody>
          </p:sp>
          <p:sp>
            <p:nvSpPr>
              <p:cNvPr id="392" name="Freeform 391"/>
              <p:cNvSpPr/>
              <p:nvPr/>
            </p:nvSpPr>
            <p:spPr>
              <a:xfrm flipH="1">
                <a:off x="6411524" y="2435173"/>
                <a:ext cx="385762" cy="2300562"/>
              </a:xfrm>
              <a:custGeom>
                <a:avLst/>
                <a:gdLst>
                  <a:gd name="connsiteX0" fmla="*/ 307275 w 307275"/>
                  <a:gd name="connsiteY0" fmla="*/ 0 h 1659441"/>
                  <a:gd name="connsiteX1" fmla="*/ 0 w 307275"/>
                  <a:gd name="connsiteY1" fmla="*/ 0 h 1659441"/>
                  <a:gd name="connsiteX2" fmla="*/ 0 w 307275"/>
                  <a:gd name="connsiteY2" fmla="*/ 1659441 h 1659441"/>
                  <a:gd name="connsiteX0-1" fmla="*/ 307275 w 307275"/>
                  <a:gd name="connsiteY0-2" fmla="*/ 0 h 2117725"/>
                  <a:gd name="connsiteX1-3" fmla="*/ 0 w 307275"/>
                  <a:gd name="connsiteY1-4" fmla="*/ 0 h 2117725"/>
                  <a:gd name="connsiteX2-5" fmla="*/ 0 w 307275"/>
                  <a:gd name="connsiteY2-6" fmla="*/ 2117725 h 2117725"/>
                </a:gdLst>
                <a:ahLst/>
                <a:cxnLst>
                  <a:cxn ang="0">
                    <a:pos x="connsiteX0-1" y="connsiteY0-2"/>
                  </a:cxn>
                  <a:cxn ang="0">
                    <a:pos x="connsiteX1-3" y="connsiteY1-4"/>
                  </a:cxn>
                  <a:cxn ang="0">
                    <a:pos x="connsiteX2-5" y="connsiteY2-6"/>
                  </a:cxn>
                </a:cxnLst>
                <a:rect l="l" t="t" r="r" b="b"/>
                <a:pathLst>
                  <a:path w="307275" h="2117725">
                    <a:moveTo>
                      <a:pt x="307275" y="0"/>
                    </a:moveTo>
                    <a:lnTo>
                      <a:pt x="0" y="0"/>
                    </a:lnTo>
                    <a:lnTo>
                      <a:pt x="0" y="2117725"/>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p>
            </p:txBody>
          </p:sp>
          <p:cxnSp>
            <p:nvCxnSpPr>
              <p:cNvPr id="393" name="Straight Arrow Connector 392"/>
              <p:cNvCxnSpPr/>
              <p:nvPr/>
            </p:nvCxnSpPr>
            <p:spPr>
              <a:xfrm flipV="1">
                <a:off x="5791457" y="2687586"/>
                <a:ext cx="8309" cy="2062635"/>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4" name="Straight Arrow Connector 393"/>
              <p:cNvCxnSpPr/>
              <p:nvPr/>
            </p:nvCxnSpPr>
            <p:spPr>
              <a:xfrm flipV="1">
                <a:off x="4598735" y="2708225"/>
                <a:ext cx="18344" cy="2037167"/>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5" name="Straight Arrow Connector 394"/>
              <p:cNvCxnSpPr/>
              <p:nvPr/>
            </p:nvCxnSpPr>
            <p:spPr>
              <a:xfrm flipH="1" flipV="1">
                <a:off x="3807455" y="2762199"/>
                <a:ext cx="9009" cy="1983193"/>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grpSp>
          <p:nvGrpSpPr>
            <p:cNvPr id="362" name="Group 347"/>
            <p:cNvGrpSpPr/>
            <p:nvPr/>
          </p:nvGrpSpPr>
          <p:grpSpPr bwMode="auto">
            <a:xfrm>
              <a:off x="5856401" y="5478592"/>
              <a:ext cx="588970" cy="242608"/>
              <a:chOff x="1871277" y="1576300"/>
              <a:chExt cx="1128371" cy="437861"/>
            </a:xfrm>
          </p:grpSpPr>
          <p:sp>
            <p:nvSpPr>
              <p:cNvPr id="363" name="Oval 36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4" name="Rectangle 36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Oval 36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6" name="Freeform 36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7" name="Freeform 36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8" name="Freeform 36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9" name="Freeform 36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0" name="Straight Connector 369"/>
              <p:cNvCxnSpPr>
                <a:endCxn id="36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1" name="Straight Connector 37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2" name="Group 347"/>
            <p:cNvGrpSpPr/>
            <p:nvPr/>
          </p:nvGrpSpPr>
          <p:grpSpPr bwMode="auto">
            <a:xfrm>
              <a:off x="4375328" y="5336495"/>
              <a:ext cx="588970" cy="242608"/>
              <a:chOff x="1871277" y="1576300"/>
              <a:chExt cx="1128371" cy="437861"/>
            </a:xfrm>
          </p:grpSpPr>
          <p:sp>
            <p:nvSpPr>
              <p:cNvPr id="373" name="Oval 37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4" name="Rectangle 37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Oval 37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6" name="Freeform 37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7" name="Freeform 3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0" name="Straight Connector 379"/>
              <p:cNvCxnSpPr>
                <a:endCxn id="37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1" name="Straight Connector 3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82" name="Group 347"/>
            <p:cNvGrpSpPr/>
            <p:nvPr/>
          </p:nvGrpSpPr>
          <p:grpSpPr bwMode="auto">
            <a:xfrm>
              <a:off x="2848241" y="5530308"/>
              <a:ext cx="588970" cy="242608"/>
              <a:chOff x="1871277" y="1576300"/>
              <a:chExt cx="1128371" cy="437861"/>
            </a:xfrm>
          </p:grpSpPr>
          <p:sp>
            <p:nvSpPr>
              <p:cNvPr id="383" name="Oval 3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4" name="Rectangle 3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Oval 3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6" name="Freeform 3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7" name="Freeform 3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0" name="Freeform 389"/>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7" name="Freeform 39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99" name="Straight Connector 398"/>
              <p:cNvCxnSpPr>
                <a:endCxn id="3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00" name="Straight Connector 3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01" name="Group 347"/>
            <p:cNvGrpSpPr/>
            <p:nvPr/>
          </p:nvGrpSpPr>
          <p:grpSpPr bwMode="auto">
            <a:xfrm>
              <a:off x="5166757" y="5796647"/>
              <a:ext cx="588970" cy="242608"/>
              <a:chOff x="1871277" y="1576300"/>
              <a:chExt cx="1128371" cy="437861"/>
            </a:xfrm>
          </p:grpSpPr>
          <p:sp>
            <p:nvSpPr>
              <p:cNvPr id="402" name="Oval 40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07" name="Rectangle 40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12" name="Oval 4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17" name="Freeform 41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2" name="Freeform 42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7" name="Freeform 42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8" name="Freeform 42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9" name="Straight Connector 428"/>
              <p:cNvCxnSpPr>
                <a:endCxn id="4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30" name="Straight Connector 42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31" name="Group 347"/>
            <p:cNvGrpSpPr/>
            <p:nvPr/>
          </p:nvGrpSpPr>
          <p:grpSpPr bwMode="auto">
            <a:xfrm>
              <a:off x="3704088" y="5889227"/>
              <a:ext cx="588970" cy="242608"/>
              <a:chOff x="1871277" y="1576300"/>
              <a:chExt cx="1128371" cy="437861"/>
            </a:xfrm>
          </p:grpSpPr>
          <p:sp>
            <p:nvSpPr>
              <p:cNvPr id="432" name="Oval 43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3" name="Rectangle 43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4" name="Oval 43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5" name="Freeform 43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6" name="Freeform 43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7" name="Freeform 43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8" name="Freeform 43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39" name="Straight Connector 438"/>
              <p:cNvCxnSpPr>
                <a:endCxn id="43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40" name="Straight Connector 43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 name="Group 25"/>
            <p:cNvGrpSpPr/>
            <p:nvPr/>
          </p:nvGrpSpPr>
          <p:grpSpPr>
            <a:xfrm>
              <a:off x="1925875" y="1754513"/>
              <a:ext cx="5095391" cy="2833288"/>
              <a:chOff x="1925876" y="2212958"/>
              <a:chExt cx="5095391" cy="2833288"/>
            </a:xfrm>
          </p:grpSpPr>
          <p:grpSp>
            <p:nvGrpSpPr>
              <p:cNvPr id="12" name="Group 11"/>
              <p:cNvGrpSpPr/>
              <p:nvPr/>
            </p:nvGrpSpPr>
            <p:grpSpPr>
              <a:xfrm>
                <a:off x="2745416" y="2212958"/>
                <a:ext cx="3597533" cy="493677"/>
                <a:chOff x="2705100" y="2011398"/>
                <a:chExt cx="3597533" cy="493677"/>
              </a:xfrm>
            </p:grpSpPr>
            <p:sp>
              <p:nvSpPr>
                <p:cNvPr id="342" name="Oval 341"/>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9" name="Oval 388"/>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308" name="TextBox 389"/>
                <p:cNvSpPr txBox="1">
                  <a:spLocks noChangeArrowheads="1"/>
                </p:cNvSpPr>
                <p:nvPr/>
              </p:nvSpPr>
              <p:spPr bwMode="auto">
                <a:xfrm>
                  <a:off x="3452664" y="2127167"/>
                  <a:ext cx="2057700" cy="29612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800" dirty="0">
                      <a:solidFill>
                        <a:schemeClr val="bg1"/>
                      </a:solidFill>
                    </a:rPr>
                    <a:t>Remote Controller</a:t>
                  </a:r>
                </a:p>
              </p:txBody>
            </p:sp>
          </p:grpSp>
          <p:grpSp>
            <p:nvGrpSpPr>
              <p:cNvPr id="442" name="Group 441"/>
              <p:cNvGrpSpPr/>
              <p:nvPr/>
            </p:nvGrpSpPr>
            <p:grpSpPr>
              <a:xfrm>
                <a:off x="1925876" y="4223509"/>
                <a:ext cx="923540" cy="405953"/>
                <a:chOff x="2705100" y="2011398"/>
                <a:chExt cx="3597533" cy="493677"/>
              </a:xfrm>
            </p:grpSpPr>
            <p:sp>
              <p:nvSpPr>
                <p:cNvPr id="443" name="Oval 442"/>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4" name="Oval 443"/>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5" name="TextBox 389"/>
                <p:cNvSpPr txBox="1">
                  <a:spLocks noChangeArrowheads="1"/>
                </p:cNvSpPr>
                <p:nvPr/>
              </p:nvSpPr>
              <p:spPr bwMode="auto">
                <a:xfrm>
                  <a:off x="3901810" y="2127167"/>
                  <a:ext cx="1159411" cy="296128"/>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800" dirty="0">
                      <a:solidFill>
                        <a:schemeClr val="bg1"/>
                      </a:solidFill>
                    </a:rPr>
                    <a:t>CA</a:t>
                  </a:r>
                </a:p>
              </p:txBody>
            </p:sp>
          </p:grpSp>
          <p:grpSp>
            <p:nvGrpSpPr>
              <p:cNvPr id="17" name="Group 16"/>
              <p:cNvGrpSpPr/>
              <p:nvPr/>
            </p:nvGrpSpPr>
            <p:grpSpPr>
              <a:xfrm>
                <a:off x="3589508" y="4760377"/>
                <a:ext cx="463568" cy="285869"/>
                <a:chOff x="3558850" y="4573304"/>
                <a:chExt cx="463568" cy="285869"/>
              </a:xfrm>
            </p:grpSpPr>
            <p:grpSp>
              <p:nvGrpSpPr>
                <p:cNvPr id="13" name="Group 12"/>
                <p:cNvGrpSpPr/>
                <p:nvPr/>
              </p:nvGrpSpPr>
              <p:grpSpPr>
                <a:xfrm>
                  <a:off x="3558850" y="4577634"/>
                  <a:ext cx="463568" cy="262710"/>
                  <a:chOff x="3558850" y="4577634"/>
                  <a:chExt cx="463568" cy="262710"/>
                </a:xfrm>
              </p:grpSpPr>
              <p:sp>
                <p:nvSpPr>
                  <p:cNvPr id="447" name="Oval 446"/>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8" name="Oval 447"/>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49" name="TextBox 389"/>
                <p:cNvSpPr txBox="1">
                  <a:spLocks noChangeArrowheads="1"/>
                </p:cNvSpPr>
                <p:nvPr/>
              </p:nvSpPr>
              <p:spPr bwMode="auto">
                <a:xfrm>
                  <a:off x="3565935" y="4573304"/>
                  <a:ext cx="434071" cy="2858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1" name="Group 450"/>
              <p:cNvGrpSpPr/>
              <p:nvPr/>
            </p:nvGrpSpPr>
            <p:grpSpPr>
              <a:xfrm>
                <a:off x="4369656" y="4758258"/>
                <a:ext cx="463568" cy="285869"/>
                <a:chOff x="3558850" y="4573304"/>
                <a:chExt cx="463568" cy="285869"/>
              </a:xfrm>
            </p:grpSpPr>
            <p:grpSp>
              <p:nvGrpSpPr>
                <p:cNvPr id="452" name="Group 451"/>
                <p:cNvGrpSpPr/>
                <p:nvPr/>
              </p:nvGrpSpPr>
              <p:grpSpPr>
                <a:xfrm>
                  <a:off x="3558850" y="4577634"/>
                  <a:ext cx="463568" cy="262710"/>
                  <a:chOff x="3558850" y="4577634"/>
                  <a:chExt cx="463568" cy="262710"/>
                </a:xfrm>
              </p:grpSpPr>
              <p:sp>
                <p:nvSpPr>
                  <p:cNvPr id="454" name="Oval 45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5" name="Oval 45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3" name="TextBox 389"/>
                <p:cNvSpPr txBox="1">
                  <a:spLocks noChangeArrowheads="1"/>
                </p:cNvSpPr>
                <p:nvPr/>
              </p:nvSpPr>
              <p:spPr bwMode="auto">
                <a:xfrm>
                  <a:off x="3565935" y="4573304"/>
                  <a:ext cx="434071" cy="2858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6" name="Group 455"/>
              <p:cNvGrpSpPr/>
              <p:nvPr/>
            </p:nvGrpSpPr>
            <p:grpSpPr>
              <a:xfrm>
                <a:off x="5569912" y="4756140"/>
                <a:ext cx="463568" cy="285869"/>
                <a:chOff x="3558850" y="4573304"/>
                <a:chExt cx="463568" cy="285869"/>
              </a:xfrm>
            </p:grpSpPr>
            <p:grpSp>
              <p:nvGrpSpPr>
                <p:cNvPr id="457" name="Group 456"/>
                <p:cNvGrpSpPr/>
                <p:nvPr/>
              </p:nvGrpSpPr>
              <p:grpSpPr>
                <a:xfrm>
                  <a:off x="3558850" y="4577634"/>
                  <a:ext cx="463568" cy="262710"/>
                  <a:chOff x="3558850" y="4577634"/>
                  <a:chExt cx="463568" cy="262710"/>
                </a:xfrm>
              </p:grpSpPr>
              <p:sp>
                <p:nvSpPr>
                  <p:cNvPr id="459" name="Oval 458"/>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8" name="TextBox 389"/>
                <p:cNvSpPr txBox="1">
                  <a:spLocks noChangeArrowheads="1"/>
                </p:cNvSpPr>
                <p:nvPr/>
              </p:nvSpPr>
              <p:spPr bwMode="auto">
                <a:xfrm>
                  <a:off x="3565935" y="4573304"/>
                  <a:ext cx="434071" cy="2858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61" name="Group 460"/>
              <p:cNvGrpSpPr/>
              <p:nvPr/>
            </p:nvGrpSpPr>
            <p:grpSpPr>
              <a:xfrm>
                <a:off x="6557699" y="4754022"/>
                <a:ext cx="463568" cy="285869"/>
                <a:chOff x="3558850" y="4573304"/>
                <a:chExt cx="463568" cy="285869"/>
              </a:xfrm>
            </p:grpSpPr>
            <p:grpSp>
              <p:nvGrpSpPr>
                <p:cNvPr id="462" name="Group 461"/>
                <p:cNvGrpSpPr/>
                <p:nvPr/>
              </p:nvGrpSpPr>
              <p:grpSpPr>
                <a:xfrm>
                  <a:off x="3558850" y="4577634"/>
                  <a:ext cx="463568" cy="262710"/>
                  <a:chOff x="3558850" y="4577634"/>
                  <a:chExt cx="463568" cy="262710"/>
                </a:xfrm>
              </p:grpSpPr>
              <p:sp>
                <p:nvSpPr>
                  <p:cNvPr id="464" name="Oval 46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5" name="Oval 46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63" name="TextBox 389"/>
                <p:cNvSpPr txBox="1">
                  <a:spLocks noChangeArrowheads="1"/>
                </p:cNvSpPr>
                <p:nvPr/>
              </p:nvSpPr>
              <p:spPr bwMode="auto">
                <a:xfrm>
                  <a:off x="3565935" y="4573304"/>
                  <a:ext cx="434071" cy="285869"/>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grpSp>
          <p:nvGrpSpPr>
            <p:cNvPr id="2" name="Group 1"/>
            <p:cNvGrpSpPr/>
            <p:nvPr/>
          </p:nvGrpSpPr>
          <p:grpSpPr>
            <a:xfrm>
              <a:off x="2050694" y="4240394"/>
              <a:ext cx="4962309" cy="697609"/>
              <a:chOff x="-3809141" y="1128902"/>
              <a:chExt cx="4962309" cy="697609"/>
            </a:xfrm>
          </p:grpSpPr>
          <p:grpSp>
            <p:nvGrpSpPr>
              <p:cNvPr id="48273" name="Group 554"/>
              <p:cNvGrpSpPr/>
              <p:nvPr/>
            </p:nvGrpSpPr>
            <p:grpSpPr bwMode="auto">
              <a:xfrm>
                <a:off x="-2259184" y="1493681"/>
                <a:ext cx="426647" cy="330722"/>
                <a:chOff x="2932185" y="3913304"/>
                <a:chExt cx="426963" cy="330885"/>
              </a:xfrm>
            </p:grpSpPr>
            <p:sp>
              <p:nvSpPr>
                <p:cNvPr id="558" name="Rectangle 557"/>
                <p:cNvSpPr/>
                <p:nvPr/>
              </p:nvSpPr>
              <p:spPr>
                <a:xfrm>
                  <a:off x="293338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9" name="Straight Connector 5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0" name="Straight Connector 5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1" name="Straight Connector 560"/>
                <p:cNvCxnSpPr/>
                <p:nvPr/>
              </p:nvCxnSpPr>
              <p:spPr>
                <a:xfrm flipH="1" flipV="1">
                  <a:off x="3134122"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0" name="Straight Connector 339"/>
                <p:cNvCxnSpPr/>
                <p:nvPr/>
              </p:nvCxnSpPr>
              <p:spPr>
                <a:xfrm flipH="1" flipV="1">
                  <a:off x="3215190" y="400753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1" name="Straight Connector 340"/>
                <p:cNvCxnSpPr/>
                <p:nvPr/>
              </p:nvCxnSpPr>
              <p:spPr>
                <a:xfrm flipH="1" flipV="1">
                  <a:off x="3290394" y="4007533"/>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57" name="Group 554"/>
              <p:cNvGrpSpPr/>
              <p:nvPr/>
            </p:nvGrpSpPr>
            <p:grpSpPr bwMode="auto">
              <a:xfrm>
                <a:off x="-3809141" y="1128902"/>
                <a:ext cx="675450" cy="526527"/>
                <a:chOff x="2932185" y="3913304"/>
                <a:chExt cx="430533" cy="332666"/>
              </a:xfrm>
            </p:grpSpPr>
            <p:sp>
              <p:nvSpPr>
                <p:cNvPr id="358" name="Rectangle 3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9" name="Straight Connector 3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1" name="Straight Connector 360"/>
                <p:cNvCxnSpPr/>
                <p:nvPr/>
              </p:nvCxnSpPr>
              <p:spPr>
                <a:xfrm flipH="1" flipV="1">
                  <a:off x="3182588"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38" name="Straight Connector 337"/>
                <p:cNvCxnSpPr/>
                <p:nvPr/>
              </p:nvCxnSpPr>
              <p:spPr>
                <a:xfrm flipH="1" flipV="1">
                  <a:off x="3093297" y="4009316"/>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39" name="Straight Connector 338"/>
                <p:cNvCxnSpPr/>
                <p:nvPr/>
              </p:nvCxnSpPr>
              <p:spPr>
                <a:xfrm flipH="1" flipV="1">
                  <a:off x="3278747" y="4008109"/>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43" name="Group 554"/>
              <p:cNvGrpSpPr/>
              <p:nvPr/>
            </p:nvGrpSpPr>
            <p:grpSpPr bwMode="auto">
              <a:xfrm>
                <a:off x="-1475553" y="1495789"/>
                <a:ext cx="430214" cy="330722"/>
                <a:chOff x="2932185" y="3913304"/>
                <a:chExt cx="430533" cy="330885"/>
              </a:xfrm>
            </p:grpSpPr>
            <p:sp>
              <p:nvSpPr>
                <p:cNvPr id="344" name="Rectangle 343"/>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5" name="Straight Connector 344"/>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6" name="Straight Connector 345"/>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p:nvPr/>
              </p:nvCxnSpPr>
              <p:spPr>
                <a:xfrm flipH="1" flipV="1">
                  <a:off x="3134122"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8" name="Straight Connector 347"/>
                <p:cNvCxnSpPr/>
                <p:nvPr/>
              </p:nvCxnSpPr>
              <p:spPr>
                <a:xfrm flipH="1" flipV="1">
                  <a:off x="3215190" y="400753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9" name="Straight Connector 348"/>
                <p:cNvCxnSpPr/>
                <p:nvPr/>
              </p:nvCxnSpPr>
              <p:spPr>
                <a:xfrm flipH="1" flipV="1">
                  <a:off x="3290394" y="4007533"/>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50" name="Group 554"/>
              <p:cNvGrpSpPr/>
              <p:nvPr/>
            </p:nvGrpSpPr>
            <p:grpSpPr bwMode="auto">
              <a:xfrm>
                <a:off x="-271097" y="1490382"/>
                <a:ext cx="430214" cy="330722"/>
                <a:chOff x="2932185" y="3913304"/>
                <a:chExt cx="430533" cy="330885"/>
              </a:xfrm>
            </p:grpSpPr>
            <p:sp>
              <p:nvSpPr>
                <p:cNvPr id="351" name="Rectangle 350"/>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2" name="Straight Connector 351"/>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53" name="Straight Connector 352"/>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54" name="Straight Connector 353"/>
                <p:cNvCxnSpPr/>
                <p:nvPr/>
              </p:nvCxnSpPr>
              <p:spPr>
                <a:xfrm flipH="1" flipV="1">
                  <a:off x="3134122"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p:nvPr/>
              </p:nvCxnSpPr>
              <p:spPr>
                <a:xfrm flipH="1" flipV="1">
                  <a:off x="3215190" y="400753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56" name="Straight Connector 355"/>
                <p:cNvCxnSpPr/>
                <p:nvPr/>
              </p:nvCxnSpPr>
              <p:spPr>
                <a:xfrm flipH="1" flipV="1">
                  <a:off x="3290394" y="4007533"/>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41" name="Group 554"/>
              <p:cNvGrpSpPr/>
              <p:nvPr/>
            </p:nvGrpSpPr>
            <p:grpSpPr bwMode="auto">
              <a:xfrm>
                <a:off x="722954" y="1484975"/>
                <a:ext cx="430214" cy="330722"/>
                <a:chOff x="2932185" y="3913304"/>
                <a:chExt cx="430533" cy="330885"/>
              </a:xfrm>
            </p:grpSpPr>
            <p:sp>
              <p:nvSpPr>
                <p:cNvPr id="446" name="Rectangle 445"/>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50" name="Straight Connector 449"/>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68" name="Straight Connector 467"/>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69" name="Straight Connector 468"/>
                <p:cNvCxnSpPr/>
                <p:nvPr/>
              </p:nvCxnSpPr>
              <p:spPr>
                <a:xfrm flipH="1" flipV="1">
                  <a:off x="3134122"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70" name="Straight Connector 469"/>
                <p:cNvCxnSpPr/>
                <p:nvPr/>
              </p:nvCxnSpPr>
              <p:spPr>
                <a:xfrm flipH="1" flipV="1">
                  <a:off x="3215190" y="400753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71" name="Straight Connector 470"/>
                <p:cNvCxnSpPr/>
                <p:nvPr/>
              </p:nvCxnSpPr>
              <p:spPr>
                <a:xfrm flipH="1" flipV="1">
                  <a:off x="3290394" y="4007533"/>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grpSp>
        <p:nvGrpSpPr>
          <p:cNvPr id="8" name="Group 7"/>
          <p:cNvGrpSpPr/>
          <p:nvPr/>
        </p:nvGrpSpPr>
        <p:grpSpPr>
          <a:xfrm>
            <a:off x="148169" y="4974167"/>
            <a:ext cx="2561167" cy="1458683"/>
            <a:chOff x="148169" y="4974167"/>
            <a:chExt cx="2561167" cy="1458683"/>
          </a:xfrm>
        </p:grpSpPr>
        <p:sp>
          <p:nvSpPr>
            <p:cNvPr id="4" name="TextBox 3"/>
            <p:cNvSpPr txBox="1"/>
            <p:nvPr/>
          </p:nvSpPr>
          <p:spPr>
            <a:xfrm>
              <a:off x="148169" y="5588003"/>
              <a:ext cx="2561167" cy="844847"/>
            </a:xfrm>
            <a:prstGeom prst="rect">
              <a:avLst/>
            </a:prstGeom>
            <a:noFill/>
          </p:spPr>
          <p:txBody>
            <a:bodyPr wrap="square" rtlCol="0">
              <a:spAutoFit/>
            </a:bodyPr>
            <a:lstStyle/>
            <a:p>
              <a:pPr marL="233680" indent="-233680">
                <a:lnSpc>
                  <a:spcPct val="90000"/>
                </a:lnSpc>
              </a:pPr>
              <a:r>
                <a:rPr lang="en-US" b="1" i="1" dirty="0">
                  <a:solidFill>
                    <a:srgbClr val="000090"/>
                  </a:solidFill>
                </a:rPr>
                <a:t>1: </a:t>
              </a:r>
              <a:r>
                <a:rPr lang="en-US" i="1" dirty="0"/>
                <a:t>generalized“ flow-based” forwarding (e.g., OpenFlow)</a:t>
              </a:r>
            </a:p>
          </p:txBody>
        </p:sp>
        <p:cxnSp>
          <p:nvCxnSpPr>
            <p:cNvPr id="6" name="Straight Connector 5"/>
            <p:cNvCxnSpPr>
              <a:stCxn id="4" idx="0"/>
            </p:cNvCxnSpPr>
            <p:nvPr/>
          </p:nvCxnSpPr>
          <p:spPr bwMode="auto">
            <a:xfrm flipV="1">
              <a:off x="1428753" y="4974167"/>
              <a:ext cx="730247" cy="613836"/>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grpSp>
        <p:nvGrpSpPr>
          <p:cNvPr id="472" name="Group 471"/>
          <p:cNvGrpSpPr/>
          <p:nvPr/>
        </p:nvGrpSpPr>
        <p:grpSpPr>
          <a:xfrm>
            <a:off x="7590196" y="3506318"/>
            <a:ext cx="1667931" cy="1399445"/>
            <a:chOff x="69488" y="5026085"/>
            <a:chExt cx="2561167" cy="1399445"/>
          </a:xfrm>
        </p:grpSpPr>
        <p:sp>
          <p:nvSpPr>
            <p:cNvPr id="473" name="TextBox 472"/>
            <p:cNvSpPr txBox="1"/>
            <p:nvPr/>
          </p:nvSpPr>
          <p:spPr>
            <a:xfrm>
              <a:off x="69488" y="5580683"/>
              <a:ext cx="2561167" cy="844847"/>
            </a:xfrm>
            <a:prstGeom prst="rect">
              <a:avLst/>
            </a:prstGeom>
            <a:noFill/>
          </p:spPr>
          <p:txBody>
            <a:bodyPr wrap="square" rtlCol="0">
              <a:spAutoFit/>
            </a:bodyPr>
            <a:lstStyle/>
            <a:p>
              <a:pPr marL="233680" indent="-233680">
                <a:lnSpc>
                  <a:spcPct val="90000"/>
                </a:lnSpc>
              </a:pPr>
              <a:r>
                <a:rPr lang="en-US" b="1" i="1" dirty="0">
                  <a:solidFill>
                    <a:srgbClr val="000090"/>
                  </a:solidFill>
                </a:rPr>
                <a:t>2. </a:t>
              </a:r>
              <a:r>
                <a:rPr lang="en-US" i="1" dirty="0"/>
                <a:t>control, data plane separation</a:t>
              </a:r>
            </a:p>
          </p:txBody>
        </p:sp>
        <p:cxnSp>
          <p:nvCxnSpPr>
            <p:cNvPr id="474" name="Straight Connector 473"/>
            <p:cNvCxnSpPr>
              <a:stCxn id="473" idx="0"/>
            </p:cNvCxnSpPr>
            <p:nvPr/>
          </p:nvCxnSpPr>
          <p:spPr bwMode="auto">
            <a:xfrm flipV="1">
              <a:off x="1350072" y="5026085"/>
              <a:ext cx="1703" cy="554598"/>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sp>
        <p:nvSpPr>
          <p:cNvPr id="476" name="TextBox 475"/>
          <p:cNvSpPr txBox="1"/>
          <p:nvPr/>
        </p:nvSpPr>
        <p:spPr>
          <a:xfrm>
            <a:off x="7057798" y="1089172"/>
            <a:ext cx="2086202" cy="1094146"/>
          </a:xfrm>
          <a:prstGeom prst="rect">
            <a:avLst/>
          </a:prstGeom>
          <a:noFill/>
        </p:spPr>
        <p:txBody>
          <a:bodyPr wrap="square" rtlCol="0">
            <a:spAutoFit/>
          </a:bodyPr>
          <a:lstStyle/>
          <a:p>
            <a:pPr marL="233680" indent="-233680">
              <a:lnSpc>
                <a:spcPct val="90000"/>
              </a:lnSpc>
            </a:pPr>
            <a:r>
              <a:rPr lang="en-US" b="1" i="1" dirty="0">
                <a:solidFill>
                  <a:srgbClr val="000090"/>
                </a:solidFill>
              </a:rPr>
              <a:t>3. </a:t>
            </a:r>
            <a:r>
              <a:rPr lang="en-US" i="1" dirty="0"/>
              <a:t>control plane functions external to data-plane switches</a:t>
            </a:r>
          </a:p>
        </p:txBody>
      </p:sp>
      <p:cxnSp>
        <p:nvCxnSpPr>
          <p:cNvPr id="477" name="Straight Connector 476"/>
          <p:cNvCxnSpPr/>
          <p:nvPr/>
        </p:nvCxnSpPr>
        <p:spPr bwMode="auto">
          <a:xfrm flipV="1">
            <a:off x="6672036" y="1468338"/>
            <a:ext cx="618473" cy="645305"/>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5" name="Oval 14"/>
          <p:cNvSpPr/>
          <p:nvPr/>
        </p:nvSpPr>
        <p:spPr bwMode="auto">
          <a:xfrm>
            <a:off x="2015762" y="1310125"/>
            <a:ext cx="725674" cy="342648"/>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8" name="Oval 477"/>
          <p:cNvSpPr/>
          <p:nvPr/>
        </p:nvSpPr>
        <p:spPr bwMode="auto">
          <a:xfrm>
            <a:off x="3014783" y="1301278"/>
            <a:ext cx="725674" cy="342648"/>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9" name="Oval 478"/>
          <p:cNvSpPr/>
          <p:nvPr/>
        </p:nvSpPr>
        <p:spPr bwMode="auto">
          <a:xfrm>
            <a:off x="5827987" y="1292433"/>
            <a:ext cx="725674" cy="342648"/>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 name="TextBox 15"/>
          <p:cNvSpPr txBox="1"/>
          <p:nvPr/>
        </p:nvSpPr>
        <p:spPr>
          <a:xfrm>
            <a:off x="4633211" y="1065530"/>
            <a:ext cx="595035" cy="584776"/>
          </a:xfrm>
          <a:prstGeom prst="rect">
            <a:avLst/>
          </a:prstGeom>
          <a:noFill/>
        </p:spPr>
        <p:txBody>
          <a:bodyPr wrap="none" rtlCol="0">
            <a:spAutoFit/>
          </a:bodyPr>
          <a:lstStyle/>
          <a:p>
            <a:r>
              <a:rPr lang="en-US" sz="3200" dirty="0">
                <a:solidFill>
                  <a:srgbClr val="008000"/>
                </a:solidFill>
              </a:rPr>
              <a:t>…</a:t>
            </a:r>
          </a:p>
        </p:txBody>
      </p:sp>
      <p:grpSp>
        <p:nvGrpSpPr>
          <p:cNvPr id="22" name="Group 21"/>
          <p:cNvGrpSpPr/>
          <p:nvPr/>
        </p:nvGrpSpPr>
        <p:grpSpPr>
          <a:xfrm>
            <a:off x="111998" y="1037741"/>
            <a:ext cx="2273067" cy="844847"/>
            <a:chOff x="111998" y="1037741"/>
            <a:chExt cx="2273067" cy="844847"/>
          </a:xfrm>
        </p:grpSpPr>
        <p:sp>
          <p:nvSpPr>
            <p:cNvPr id="481" name="TextBox 480"/>
            <p:cNvSpPr txBox="1"/>
            <p:nvPr/>
          </p:nvSpPr>
          <p:spPr>
            <a:xfrm>
              <a:off x="111998" y="1037741"/>
              <a:ext cx="2273067" cy="844847"/>
            </a:xfrm>
            <a:prstGeom prst="rect">
              <a:avLst/>
            </a:prstGeom>
            <a:noFill/>
          </p:spPr>
          <p:txBody>
            <a:bodyPr wrap="square" rtlCol="0">
              <a:spAutoFit/>
            </a:bodyPr>
            <a:lstStyle/>
            <a:p>
              <a:pPr marL="233680" indent="-233680">
                <a:lnSpc>
                  <a:spcPct val="90000"/>
                </a:lnSpc>
              </a:pPr>
              <a:r>
                <a:rPr lang="en-US" b="1" i="1" dirty="0">
                  <a:solidFill>
                    <a:srgbClr val="000090"/>
                  </a:solidFill>
                </a:rPr>
                <a:t>4. </a:t>
              </a:r>
              <a:r>
                <a:rPr lang="en-US" i="1" dirty="0"/>
                <a:t>programmable control applications</a:t>
              </a:r>
            </a:p>
          </p:txBody>
        </p:sp>
        <p:cxnSp>
          <p:nvCxnSpPr>
            <p:cNvPr id="482" name="Straight Connector 481"/>
            <p:cNvCxnSpPr/>
            <p:nvPr/>
          </p:nvCxnSpPr>
          <p:spPr bwMode="auto">
            <a:xfrm flipV="1">
              <a:off x="1182107" y="1458376"/>
              <a:ext cx="652881" cy="11039"/>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cxnSp>
        <p:nvCxnSpPr>
          <p:cNvPr id="483" name="Straight Connector 482"/>
          <p:cNvCxnSpPr/>
          <p:nvPr/>
        </p:nvCxnSpPr>
        <p:spPr bwMode="auto">
          <a:xfrm flipV="1">
            <a:off x="6625009" y="1469572"/>
            <a:ext cx="663883" cy="1006"/>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5" name="TextBox 4"/>
          <p:cNvSpPr txBox="1"/>
          <p:nvPr/>
        </p:nvSpPr>
        <p:spPr>
          <a:xfrm>
            <a:off x="2013724" y="1306405"/>
            <a:ext cx="733619" cy="307777"/>
          </a:xfrm>
          <a:prstGeom prst="rect">
            <a:avLst/>
          </a:prstGeom>
          <a:noFill/>
        </p:spPr>
        <p:txBody>
          <a:bodyPr wrap="none" rtlCol="0">
            <a:spAutoFit/>
          </a:bodyPr>
          <a:lstStyle/>
          <a:p>
            <a:r>
              <a:rPr lang="en-US" sz="1400" dirty="0"/>
              <a:t>routing</a:t>
            </a:r>
          </a:p>
        </p:txBody>
      </p:sp>
      <p:sp>
        <p:nvSpPr>
          <p:cNvPr id="466" name="TextBox 465"/>
          <p:cNvSpPr txBox="1"/>
          <p:nvPr/>
        </p:nvSpPr>
        <p:spPr>
          <a:xfrm>
            <a:off x="3041161" y="1268141"/>
            <a:ext cx="809667" cy="410882"/>
          </a:xfrm>
          <a:prstGeom prst="rect">
            <a:avLst/>
          </a:prstGeom>
          <a:noFill/>
        </p:spPr>
        <p:txBody>
          <a:bodyPr wrap="square" rtlCol="0">
            <a:spAutoFit/>
          </a:bodyPr>
          <a:lstStyle/>
          <a:p>
            <a:pPr>
              <a:lnSpc>
                <a:spcPct val="85000"/>
              </a:lnSpc>
            </a:pPr>
            <a:r>
              <a:rPr lang="en-US" sz="1200" dirty="0"/>
              <a:t>access control</a:t>
            </a:r>
          </a:p>
        </p:txBody>
      </p:sp>
      <p:sp>
        <p:nvSpPr>
          <p:cNvPr id="467" name="TextBox 466"/>
          <p:cNvSpPr txBox="1"/>
          <p:nvPr/>
        </p:nvSpPr>
        <p:spPr>
          <a:xfrm>
            <a:off x="5784611" y="1253711"/>
            <a:ext cx="809667" cy="410882"/>
          </a:xfrm>
          <a:prstGeom prst="rect">
            <a:avLst/>
          </a:prstGeom>
          <a:noFill/>
        </p:spPr>
        <p:txBody>
          <a:bodyPr wrap="square" rtlCol="0">
            <a:spAutoFit/>
          </a:bodyPr>
          <a:lstStyle/>
          <a:p>
            <a:pPr algn="ctr">
              <a:lnSpc>
                <a:spcPct val="85000"/>
              </a:lnSpc>
            </a:pPr>
            <a:r>
              <a:rPr lang="en-US" sz="1200" dirty="0"/>
              <a:t>load</a:t>
            </a:r>
          </a:p>
          <a:p>
            <a:pPr algn="ctr">
              <a:lnSpc>
                <a:spcPct val="85000"/>
              </a:lnSpc>
            </a:pPr>
            <a:r>
              <a:rPr lang="en-US" sz="1200" dirty="0"/>
              <a:t>balance</a:t>
            </a:r>
          </a:p>
        </p:txBody>
      </p:sp>
      <p:sp>
        <p:nvSpPr>
          <p:cNvPr id="475" name="Slide Number Placeholder 5"/>
          <p:cNvSpPr>
            <a:spLocks noGrp="1"/>
          </p:cNvSpPr>
          <p:nvPr>
            <p:ph type="sldNum" sz="quarter" idx="12"/>
          </p:nvPr>
        </p:nvSpPr>
        <p:spPr>
          <a:xfrm>
            <a:off x="8456154" y="6475895"/>
            <a:ext cx="687845" cy="38210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95</a:t>
            </a:fld>
            <a:endParaRPr lang="en-US" sz="1200" dirty="0">
              <a:latin typeface="Tahoma" panose="020B0604030504040204" charset="0"/>
            </a:endParaRPr>
          </a:p>
        </p:txBody>
      </p:sp>
      <p:sp>
        <p:nvSpPr>
          <p:cNvPr id="480"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72"/>
                                        </p:tgtEl>
                                        <p:attrNameLst>
                                          <p:attrName>style.visibility</p:attrName>
                                        </p:attrNameLst>
                                      </p:cBhvr>
                                      <p:to>
                                        <p:strVal val="visible"/>
                                      </p:to>
                                    </p:set>
                                    <p:animEffect transition="in" filter="dissolve">
                                      <p:cBhvr>
                                        <p:cTn id="12" dur="500"/>
                                        <p:tgtEl>
                                          <p:spTgt spid="47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76"/>
                                        </p:tgtEl>
                                        <p:attrNameLst>
                                          <p:attrName>style.visibility</p:attrName>
                                        </p:attrNameLst>
                                      </p:cBhvr>
                                      <p:to>
                                        <p:strVal val="visible"/>
                                      </p:to>
                                    </p:set>
                                    <p:animEffect transition="in" filter="dissolve">
                                      <p:cBhvr>
                                        <p:cTn id="17" dur="500"/>
                                        <p:tgtEl>
                                          <p:spTgt spid="476"/>
                                        </p:tgtEl>
                                      </p:cBhvr>
                                    </p:animEffect>
                                  </p:childTnLst>
                                </p:cTn>
                              </p:par>
                              <p:par>
                                <p:cTn id="18" presetID="9" presetClass="entr" presetSubtype="0" fill="hold" nodeType="withEffect">
                                  <p:stCondLst>
                                    <p:cond delay="0"/>
                                  </p:stCondLst>
                                  <p:childTnLst>
                                    <p:set>
                                      <p:cBhvr>
                                        <p:cTn id="19" dur="1" fill="hold">
                                          <p:stCondLst>
                                            <p:cond delay="0"/>
                                          </p:stCondLst>
                                        </p:cTn>
                                        <p:tgtEl>
                                          <p:spTgt spid="477"/>
                                        </p:tgtEl>
                                        <p:attrNameLst>
                                          <p:attrName>style.visibility</p:attrName>
                                        </p:attrNameLst>
                                      </p:cBhvr>
                                      <p:to>
                                        <p:strVal val="visible"/>
                                      </p:to>
                                    </p:set>
                                    <p:animEffect transition="in" filter="dissolve">
                                      <p:cBhvr>
                                        <p:cTn id="20" dur="500"/>
                                        <p:tgtEl>
                                          <p:spTgt spid="477"/>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nodeType="withEffect">
                                  <p:stCondLst>
                                    <p:cond delay="0"/>
                                  </p:stCondLst>
                                  <p:childTnLst>
                                    <p:set>
                                      <p:cBhvr>
                                        <p:cTn id="27" dur="1" fill="hold">
                                          <p:stCondLst>
                                            <p:cond delay="0"/>
                                          </p:stCondLst>
                                        </p:cTn>
                                        <p:tgtEl>
                                          <p:spTgt spid="483"/>
                                        </p:tgtEl>
                                        <p:attrNameLst>
                                          <p:attrName>style.visibility</p:attrName>
                                        </p:attrNameLst>
                                      </p:cBhvr>
                                      <p:to>
                                        <p:strVal val="visible"/>
                                      </p:to>
                                    </p:set>
                                    <p:animEffect transition="in" filter="dissolve">
                                      <p:cBhvr>
                                        <p:cTn id="28" dur="500"/>
                                        <p:tgtEl>
                                          <p:spTgt spid="4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6"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69" name="Text Box 167"/>
          <p:cNvSpPr txBox="1">
            <a:spLocks noChangeArrowheads="1"/>
          </p:cNvSpPr>
          <p:nvPr/>
        </p:nvSpPr>
        <p:spPr bwMode="auto">
          <a:xfrm>
            <a:off x="542925" y="236538"/>
            <a:ext cx="7162613" cy="6463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3600" dirty="0">
                <a:solidFill>
                  <a:srgbClr val="000099"/>
                </a:solidFill>
                <a:latin typeface="Gill Sans MT" pitchFamily="34" charset="0"/>
              </a:rPr>
              <a:t>SDN perspective: data plane switches</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7"/>
            <a:ext cx="7078870" cy="211346"/>
          </a:xfrm>
          <a:prstGeom prst="rect">
            <a:avLst/>
          </a:prstGeom>
          <a:noFill/>
          <a:ln>
            <a:noFill/>
          </a:ln>
        </p:spPr>
      </p:pic>
      <p:sp>
        <p:nvSpPr>
          <p:cNvPr id="7" name="Content Placeholder 6"/>
          <p:cNvSpPr>
            <a:spLocks noGrp="1"/>
          </p:cNvSpPr>
          <p:nvPr>
            <p:ph idx="1"/>
          </p:nvPr>
        </p:nvSpPr>
        <p:spPr>
          <a:xfrm>
            <a:off x="294684" y="1256540"/>
            <a:ext cx="4571424" cy="5010892"/>
          </a:xfrm>
        </p:spPr>
        <p:txBody>
          <a:bodyPr/>
          <a:lstStyle/>
          <a:p>
            <a:pPr marL="0" indent="0">
              <a:buNone/>
            </a:pPr>
            <a:r>
              <a:rPr lang="en-US" i="1" dirty="0">
                <a:solidFill>
                  <a:srgbClr val="CC0000"/>
                </a:solidFill>
              </a:rPr>
              <a:t>Data plane switches</a:t>
            </a:r>
          </a:p>
          <a:p>
            <a:r>
              <a:rPr lang="en-US" sz="2400" dirty="0"/>
              <a:t>fast, simple, commodity switches implementing generalized data-plane forwarding (Section 4.4) in hardware</a:t>
            </a:r>
          </a:p>
          <a:p>
            <a:r>
              <a:rPr lang="en-US" sz="2400" dirty="0"/>
              <a:t>switch flow table computed, installed by controller</a:t>
            </a:r>
          </a:p>
          <a:p>
            <a:r>
              <a:rPr lang="en-US" sz="2400" dirty="0"/>
              <a:t>API for table-based switch control (e.g., OpenFlow)</a:t>
            </a:r>
          </a:p>
          <a:p>
            <a:pPr lvl="1"/>
            <a:r>
              <a:rPr lang="en-US" sz="2000" dirty="0"/>
              <a:t>defines what is controllable and what is not</a:t>
            </a:r>
          </a:p>
          <a:p>
            <a:r>
              <a:rPr lang="en-US" sz="2400" dirty="0"/>
              <a:t>protocol for communicating with controller (e.g., OpenFlow)</a:t>
            </a:r>
          </a:p>
          <a:p>
            <a:endParaRPr lang="en-US" dirty="0"/>
          </a:p>
        </p:txBody>
      </p:sp>
      <p:grpSp>
        <p:nvGrpSpPr>
          <p:cNvPr id="1053" name="Group 1052"/>
          <p:cNvGrpSpPr/>
          <p:nvPr/>
        </p:nvGrpSpPr>
        <p:grpSpPr>
          <a:xfrm>
            <a:off x="4990227" y="1414364"/>
            <a:ext cx="3846765" cy="5169840"/>
            <a:chOff x="4990227" y="910464"/>
            <a:chExt cx="3846765" cy="5169840"/>
          </a:xfrm>
        </p:grpSpPr>
        <p:sp>
          <p:nvSpPr>
            <p:cNvPr id="1054" name="TextBox 399"/>
            <p:cNvSpPr txBox="1">
              <a:spLocks noChangeArrowheads="1"/>
            </p:cNvSpPr>
            <p:nvPr/>
          </p:nvSpPr>
          <p:spPr bwMode="auto">
            <a:xfrm>
              <a:off x="8518490" y="4936685"/>
              <a:ext cx="286930" cy="47148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dirty="0"/>
                <a:t>data</a:t>
              </a:r>
            </a:p>
            <a:p>
              <a:pPr algn="ctr">
                <a:lnSpc>
                  <a:spcPts val="1465"/>
                </a:lnSpc>
              </a:pPr>
              <a:r>
                <a:rPr lang="en-US" sz="1400" dirty="0"/>
                <a:t>plane</a:t>
              </a:r>
            </a:p>
          </p:txBody>
        </p:sp>
        <p:sp>
          <p:nvSpPr>
            <p:cNvPr id="1055" name="TextBox 400"/>
            <p:cNvSpPr txBox="1">
              <a:spLocks noChangeArrowheads="1"/>
            </p:cNvSpPr>
            <p:nvPr/>
          </p:nvSpPr>
          <p:spPr bwMode="auto">
            <a:xfrm>
              <a:off x="8494972" y="2474327"/>
              <a:ext cx="342020" cy="47148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dirty="0"/>
                <a:t>control</a:t>
              </a:r>
            </a:p>
            <a:p>
              <a:pPr algn="ctr">
                <a:lnSpc>
                  <a:spcPts val="1465"/>
                </a:lnSpc>
              </a:pPr>
              <a:r>
                <a:rPr lang="en-US" sz="1400" dirty="0"/>
                <a:t>plane</a:t>
              </a:r>
            </a:p>
          </p:txBody>
        </p:sp>
        <p:cxnSp>
          <p:nvCxnSpPr>
            <p:cNvPr id="1056" name="Straight Connector 1055"/>
            <p:cNvCxnSpPr/>
            <p:nvPr/>
          </p:nvCxnSpPr>
          <p:spPr bwMode="auto">
            <a:xfrm flipV="1">
              <a:off x="5272718" y="4529666"/>
              <a:ext cx="2791783" cy="14329"/>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057" name="Straight Connector 1056"/>
            <p:cNvCxnSpPr/>
            <p:nvPr/>
          </p:nvCxnSpPr>
          <p:spPr bwMode="auto">
            <a:xfrm flipV="1">
              <a:off x="5192283" y="2709335"/>
              <a:ext cx="3041550" cy="18563"/>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1058" name="Group 1057"/>
            <p:cNvGrpSpPr/>
            <p:nvPr/>
          </p:nvGrpSpPr>
          <p:grpSpPr>
            <a:xfrm>
              <a:off x="5164667" y="4826000"/>
              <a:ext cx="2979208" cy="973667"/>
              <a:chOff x="2592388" y="5601756"/>
              <a:chExt cx="4027487" cy="939800"/>
            </a:xfrm>
          </p:grpSpPr>
          <p:sp>
            <p:nvSpPr>
              <p:cNvPr id="1114" name="Freeform 2"/>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p:spPr>
            <p:txBody>
              <a:bodyPr wrap="none" anchor="ctr"/>
              <a:lstStyle/>
              <a:p>
                <a:endParaRPr lang="en-US"/>
              </a:p>
            </p:txBody>
          </p:sp>
          <p:cxnSp>
            <p:nvCxnSpPr>
              <p:cNvPr id="1115" name="Straight Connector 1114"/>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6" name="Straight Connector 1115"/>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7" name="Straight Connector 1116"/>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8" name="Straight Connector 1117"/>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9" name="Straight Connector 1118"/>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0" name="Straight Connector 1119"/>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1" name="Straight Connector 1120"/>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2" name="Straight Connector 1121"/>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123" name="Group 347"/>
              <p:cNvGrpSpPr/>
              <p:nvPr/>
            </p:nvGrpSpPr>
            <p:grpSpPr bwMode="auto">
              <a:xfrm>
                <a:off x="5856401" y="5796097"/>
                <a:ext cx="588970" cy="242608"/>
                <a:chOff x="1871277" y="1576300"/>
                <a:chExt cx="1128371" cy="437861"/>
              </a:xfrm>
            </p:grpSpPr>
            <p:sp>
              <p:nvSpPr>
                <p:cNvPr id="1164" name="Oval 1163"/>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65" name="Rectangle 1164"/>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6" name="Oval 1165"/>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67" name="Freeform 116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8" name="Freeform 1167"/>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9" name="Freeform 1168"/>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70" name="Freeform 1169"/>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71" name="Straight Connector 1170"/>
                <p:cNvCxnSpPr>
                  <a:endCxn id="1166"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72" name="Straight Connector 1171"/>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24" name="Group 347"/>
              <p:cNvGrpSpPr/>
              <p:nvPr/>
            </p:nvGrpSpPr>
            <p:grpSpPr bwMode="auto">
              <a:xfrm>
                <a:off x="4375328" y="5654000"/>
                <a:ext cx="588970" cy="242608"/>
                <a:chOff x="1871277" y="1576300"/>
                <a:chExt cx="1128371" cy="437861"/>
              </a:xfrm>
            </p:grpSpPr>
            <p:sp>
              <p:nvSpPr>
                <p:cNvPr id="1155" name="Oval 1154"/>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56" name="Rectangle 1155"/>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7" name="Oval 1156"/>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58" name="Freeform 1157"/>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9" name="Freeform 1158"/>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0" name="Freeform 1159"/>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1" name="Freeform 1160"/>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62" name="Straight Connector 1161"/>
                <p:cNvCxnSpPr>
                  <a:endCxn id="1157"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63" name="Straight Connector 1162"/>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25" name="Group 347"/>
              <p:cNvGrpSpPr/>
              <p:nvPr/>
            </p:nvGrpSpPr>
            <p:grpSpPr bwMode="auto">
              <a:xfrm>
                <a:off x="2848241" y="5847813"/>
                <a:ext cx="588970" cy="242608"/>
                <a:chOff x="1871277" y="1576300"/>
                <a:chExt cx="1128371" cy="437861"/>
              </a:xfrm>
            </p:grpSpPr>
            <p:sp>
              <p:nvSpPr>
                <p:cNvPr id="1146" name="Oval 1145"/>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47" name="Rectangle 114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8" name="Oval 1147"/>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49" name="Freeform 1148"/>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0" name="Freeform 1149"/>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1" name="Freeform 1150"/>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2" name="Freeform 1151"/>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53" name="Straight Connector 1152"/>
                <p:cNvCxnSpPr>
                  <a:endCxn id="1148"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54" name="Straight Connector 1153"/>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26" name="Group 347"/>
              <p:cNvGrpSpPr/>
              <p:nvPr/>
            </p:nvGrpSpPr>
            <p:grpSpPr bwMode="auto">
              <a:xfrm>
                <a:off x="5166757" y="6114152"/>
                <a:ext cx="588970" cy="242608"/>
                <a:chOff x="1871277" y="1576300"/>
                <a:chExt cx="1128371" cy="437861"/>
              </a:xfrm>
            </p:grpSpPr>
            <p:sp>
              <p:nvSpPr>
                <p:cNvPr id="1137" name="Oval 1136"/>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38" name="Rectangle 1137"/>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9" name="Oval 1138"/>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40" name="Freeform 1139"/>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1" name="Freeform 1140"/>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2" name="Freeform 1141"/>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3" name="Freeform 1142"/>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44" name="Straight Connector 1143"/>
                <p:cNvCxnSpPr>
                  <a:endCxn id="1139"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45" name="Straight Connector 1144"/>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27" name="Group 347"/>
              <p:cNvGrpSpPr/>
              <p:nvPr/>
            </p:nvGrpSpPr>
            <p:grpSpPr bwMode="auto">
              <a:xfrm>
                <a:off x="3704088" y="6206732"/>
                <a:ext cx="588970" cy="242608"/>
                <a:chOff x="1871277" y="1576300"/>
                <a:chExt cx="1128371" cy="437861"/>
              </a:xfrm>
            </p:grpSpPr>
            <p:sp>
              <p:nvSpPr>
                <p:cNvPr id="1128" name="Oval 1127"/>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29" name="Rectangle 1128"/>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0" name="Oval 1129"/>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31" name="Freeform 1130"/>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2" name="Freeform 113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3" name="Freeform 1132"/>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4" name="Freeform 1133"/>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35" name="Straight Connector 1134"/>
                <p:cNvCxnSpPr>
                  <a:endCxn id="1130"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36" name="Straight Connector 1135"/>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059" name="Group 1058"/>
            <p:cNvGrpSpPr/>
            <p:nvPr/>
          </p:nvGrpSpPr>
          <p:grpSpPr>
            <a:xfrm>
              <a:off x="4990227" y="3046752"/>
              <a:ext cx="3116606" cy="1053561"/>
              <a:chOff x="4990227" y="2877416"/>
              <a:chExt cx="3116606" cy="1053561"/>
            </a:xfrm>
          </p:grpSpPr>
          <p:sp>
            <p:nvSpPr>
              <p:cNvPr id="1078" name="Rectangle 1077"/>
              <p:cNvSpPr/>
              <p:nvPr/>
            </p:nvSpPr>
            <p:spPr bwMode="auto">
              <a:xfrm>
                <a:off x="5418665" y="2913389"/>
                <a:ext cx="268816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079" name="Freeform 1078"/>
              <p:cNvSpPr/>
              <p:nvPr/>
            </p:nvSpPr>
            <p:spPr bwMode="auto">
              <a:xfrm>
                <a:off x="5218221" y="2877416"/>
                <a:ext cx="213773" cy="102816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1" fmla="*/ 0 w 199855"/>
                  <a:gd name="connsiteY0-2" fmla="*/ 733787 h 1367693"/>
                  <a:gd name="connsiteX1-3" fmla="*/ 199855 w 199855"/>
                  <a:gd name="connsiteY1-4" fmla="*/ 0 h 1367693"/>
                  <a:gd name="connsiteX2-5" fmla="*/ 199855 w 199855"/>
                  <a:gd name="connsiteY2-6" fmla="*/ 1016000 h 1367693"/>
                  <a:gd name="connsiteX3-7" fmla="*/ 4470 w 199855"/>
                  <a:gd name="connsiteY3-8" fmla="*/ 1367693 h 1367693"/>
                  <a:gd name="connsiteX4-9" fmla="*/ 0 w 199855"/>
                  <a:gd name="connsiteY4-10" fmla="*/ 733787 h 1367693"/>
                  <a:gd name="connsiteX0-11" fmla="*/ 25203 w 225058"/>
                  <a:gd name="connsiteY0-12" fmla="*/ 733787 h 1361758"/>
                  <a:gd name="connsiteX1-13" fmla="*/ 225058 w 225058"/>
                  <a:gd name="connsiteY1-14" fmla="*/ 0 h 1361758"/>
                  <a:gd name="connsiteX2-15" fmla="*/ 225058 w 225058"/>
                  <a:gd name="connsiteY2-16" fmla="*/ 1016000 h 1361758"/>
                  <a:gd name="connsiteX3-17" fmla="*/ 0 w 225058"/>
                  <a:gd name="connsiteY3-18" fmla="*/ 1361758 h 1361758"/>
                  <a:gd name="connsiteX4-19" fmla="*/ 25203 w 225058"/>
                  <a:gd name="connsiteY4-20" fmla="*/ 733787 h 1361758"/>
                  <a:gd name="connsiteX0-21" fmla="*/ 25203 w 230992"/>
                  <a:gd name="connsiteY0-22" fmla="*/ 787197 h 1415168"/>
                  <a:gd name="connsiteX1-23" fmla="*/ 230992 w 230992"/>
                  <a:gd name="connsiteY1-24" fmla="*/ 0 h 1415168"/>
                  <a:gd name="connsiteX2-25" fmla="*/ 225058 w 230992"/>
                  <a:gd name="connsiteY2-26" fmla="*/ 1069410 h 1415168"/>
                  <a:gd name="connsiteX3-27" fmla="*/ 0 w 230992"/>
                  <a:gd name="connsiteY3-28" fmla="*/ 1415168 h 1415168"/>
                  <a:gd name="connsiteX4-29" fmla="*/ 25203 w 230992"/>
                  <a:gd name="connsiteY4-30" fmla="*/ 787197 h 1415168"/>
                  <a:gd name="connsiteX0-31" fmla="*/ 0 w 205789"/>
                  <a:gd name="connsiteY0-32" fmla="*/ 787197 h 1427037"/>
                  <a:gd name="connsiteX1-33" fmla="*/ 205789 w 205789"/>
                  <a:gd name="connsiteY1-34" fmla="*/ 0 h 1427037"/>
                  <a:gd name="connsiteX2-35" fmla="*/ 199855 w 205789"/>
                  <a:gd name="connsiteY2-36" fmla="*/ 1069410 h 1427037"/>
                  <a:gd name="connsiteX3-37" fmla="*/ 4471 w 205789"/>
                  <a:gd name="connsiteY3-38" fmla="*/ 1427037 h 1427037"/>
                  <a:gd name="connsiteX4-39" fmla="*/ 0 w 205789"/>
                  <a:gd name="connsiteY4-40" fmla="*/ 787197 h 1427037"/>
                  <a:gd name="connsiteX0-41" fmla="*/ 0 w 199855"/>
                  <a:gd name="connsiteY0-42" fmla="*/ 745656 h 1385496"/>
                  <a:gd name="connsiteX1-43" fmla="*/ 193920 w 199855"/>
                  <a:gd name="connsiteY1-44" fmla="*/ 0 h 1385496"/>
                  <a:gd name="connsiteX2-45" fmla="*/ 199855 w 199855"/>
                  <a:gd name="connsiteY2-46" fmla="*/ 1027869 h 1385496"/>
                  <a:gd name="connsiteX3-47" fmla="*/ 4471 w 199855"/>
                  <a:gd name="connsiteY3-48" fmla="*/ 1385496 h 1385496"/>
                  <a:gd name="connsiteX4-49" fmla="*/ 0 w 199855"/>
                  <a:gd name="connsiteY4-50" fmla="*/ 745656 h 1385496"/>
                  <a:gd name="connsiteX0-51" fmla="*/ 20385 w 220240"/>
                  <a:gd name="connsiteY0-52" fmla="*/ 745656 h 1058154"/>
                  <a:gd name="connsiteX1-53" fmla="*/ 214305 w 220240"/>
                  <a:gd name="connsiteY1-54" fmla="*/ 0 h 1058154"/>
                  <a:gd name="connsiteX2-55" fmla="*/ 220240 w 220240"/>
                  <a:gd name="connsiteY2-56" fmla="*/ 1027869 h 1058154"/>
                  <a:gd name="connsiteX3-57" fmla="*/ 68 w 220240"/>
                  <a:gd name="connsiteY3-58" fmla="*/ 986902 h 1058154"/>
                  <a:gd name="connsiteX4-59" fmla="*/ 20385 w 220240"/>
                  <a:gd name="connsiteY4-60" fmla="*/ 745656 h 1058154"/>
                  <a:gd name="connsiteX0-61" fmla="*/ 20385 w 220240"/>
                  <a:gd name="connsiteY0-62" fmla="*/ 745656 h 1068836"/>
                  <a:gd name="connsiteX1-63" fmla="*/ 214305 w 220240"/>
                  <a:gd name="connsiteY1-64" fmla="*/ 0 h 1068836"/>
                  <a:gd name="connsiteX2-65" fmla="*/ 220240 w 220240"/>
                  <a:gd name="connsiteY2-66" fmla="*/ 1027869 h 1068836"/>
                  <a:gd name="connsiteX3-67" fmla="*/ 68 w 220240"/>
                  <a:gd name="connsiteY3-68" fmla="*/ 986902 h 1068836"/>
                  <a:gd name="connsiteX4-69" fmla="*/ 20385 w 220240"/>
                  <a:gd name="connsiteY4-70" fmla="*/ 745656 h 1068836"/>
                  <a:gd name="connsiteX0-71" fmla="*/ 15446 w 215301"/>
                  <a:gd name="connsiteY0-72" fmla="*/ 745656 h 1057581"/>
                  <a:gd name="connsiteX1-73" fmla="*/ 209366 w 215301"/>
                  <a:gd name="connsiteY1-74" fmla="*/ 0 h 1057581"/>
                  <a:gd name="connsiteX2-75" fmla="*/ 215301 w 215301"/>
                  <a:gd name="connsiteY2-76" fmla="*/ 1027869 h 1057581"/>
                  <a:gd name="connsiteX3-77" fmla="*/ 87 w 215301"/>
                  <a:gd name="connsiteY3-78" fmla="*/ 888484 h 1057581"/>
                  <a:gd name="connsiteX4-79" fmla="*/ 15446 w 215301"/>
                  <a:gd name="connsiteY4-80" fmla="*/ 745656 h 1057581"/>
                  <a:gd name="connsiteX0-81" fmla="*/ 15446 w 215301"/>
                  <a:gd name="connsiteY0-82" fmla="*/ 745656 h 1063397"/>
                  <a:gd name="connsiteX1-83" fmla="*/ 209366 w 215301"/>
                  <a:gd name="connsiteY1-84" fmla="*/ 0 h 1063397"/>
                  <a:gd name="connsiteX2-85" fmla="*/ 215301 w 215301"/>
                  <a:gd name="connsiteY2-86" fmla="*/ 1027869 h 1063397"/>
                  <a:gd name="connsiteX3-87" fmla="*/ 87 w 215301"/>
                  <a:gd name="connsiteY3-88" fmla="*/ 888484 h 1063397"/>
                  <a:gd name="connsiteX4-89" fmla="*/ 15446 w 215301"/>
                  <a:gd name="connsiteY4-90" fmla="*/ 745656 h 1063397"/>
                  <a:gd name="connsiteX0-91" fmla="*/ 15446 w 215301"/>
                  <a:gd name="connsiteY0-92" fmla="*/ 745656 h 1027869"/>
                  <a:gd name="connsiteX1-93" fmla="*/ 209366 w 215301"/>
                  <a:gd name="connsiteY1-94" fmla="*/ 0 h 1027869"/>
                  <a:gd name="connsiteX2-95" fmla="*/ 215301 w 215301"/>
                  <a:gd name="connsiteY2-96" fmla="*/ 1027869 h 1027869"/>
                  <a:gd name="connsiteX3-97" fmla="*/ 87 w 215301"/>
                  <a:gd name="connsiteY3-98" fmla="*/ 888484 h 1027869"/>
                  <a:gd name="connsiteX4-99" fmla="*/ 15446 w 215301"/>
                  <a:gd name="connsiteY4-100" fmla="*/ 745656 h 10278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215301" h="1027869">
                    <a:moveTo>
                      <a:pt x="15446" y="745656"/>
                    </a:moveTo>
                    <a:lnTo>
                      <a:pt x="209366" y="0"/>
                    </a:lnTo>
                    <a:cubicBezTo>
                      <a:pt x="211344" y="342623"/>
                      <a:pt x="213323" y="685246"/>
                      <a:pt x="215301" y="1027869"/>
                    </a:cubicBezTo>
                    <a:cubicBezTo>
                      <a:pt x="115469" y="960083"/>
                      <a:pt x="99918" y="931665"/>
                      <a:pt x="87" y="888484"/>
                    </a:cubicBezTo>
                    <a:cubicBezTo>
                      <a:pt x="-1403" y="675204"/>
                      <a:pt x="16936" y="958936"/>
                      <a:pt x="15446"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1080" name="Group 950"/>
              <p:cNvGrpSpPr/>
              <p:nvPr/>
            </p:nvGrpSpPr>
            <p:grpSpPr bwMode="auto">
              <a:xfrm>
                <a:off x="4990227" y="3351862"/>
                <a:ext cx="251561" cy="564103"/>
                <a:chOff x="4140" y="429"/>
                <a:chExt cx="1425" cy="2396"/>
              </a:xfrm>
            </p:grpSpPr>
            <p:sp>
              <p:nvSpPr>
                <p:cNvPr id="1082"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1083"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1084"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1085"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086"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087" name="Group 956"/>
                <p:cNvGrpSpPr/>
                <p:nvPr/>
              </p:nvGrpSpPr>
              <p:grpSpPr bwMode="auto">
                <a:xfrm>
                  <a:off x="4749" y="668"/>
                  <a:ext cx="581" cy="145"/>
                  <a:chOff x="614" y="2568"/>
                  <a:chExt cx="725" cy="139"/>
                </a:xfrm>
              </p:grpSpPr>
              <p:sp>
                <p:nvSpPr>
                  <p:cNvPr id="1112" name="AutoShape 957"/>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1113"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088"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089" name="Group 960"/>
                <p:cNvGrpSpPr/>
                <p:nvPr/>
              </p:nvGrpSpPr>
              <p:grpSpPr bwMode="auto">
                <a:xfrm>
                  <a:off x="4747" y="994"/>
                  <a:ext cx="581" cy="134"/>
                  <a:chOff x="614" y="2568"/>
                  <a:chExt cx="725" cy="139"/>
                </a:xfrm>
              </p:grpSpPr>
              <p:sp>
                <p:nvSpPr>
                  <p:cNvPr id="1110" name="AutoShape 961"/>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1111"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090"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1091"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092" name="Group 965"/>
                <p:cNvGrpSpPr/>
                <p:nvPr/>
              </p:nvGrpSpPr>
              <p:grpSpPr bwMode="auto">
                <a:xfrm>
                  <a:off x="4735" y="1627"/>
                  <a:ext cx="582" cy="151"/>
                  <a:chOff x="614" y="2568"/>
                  <a:chExt cx="725" cy="139"/>
                </a:xfrm>
              </p:grpSpPr>
              <p:sp>
                <p:nvSpPr>
                  <p:cNvPr id="1108" name="AutoShape 966"/>
                  <p:cNvSpPr>
                    <a:spLocks noChangeArrowheads="1"/>
                  </p:cNvSpPr>
                  <p:nvPr/>
                </p:nvSpPr>
                <p:spPr bwMode="auto">
                  <a:xfrm>
                    <a:off x="618" y="2586"/>
                    <a:ext cx="720" cy="124"/>
                  </a:xfrm>
                  <a:prstGeom prst="roundRect">
                    <a:avLst>
                      <a:gd name="adj" fmla="val 50000"/>
                    </a:avLst>
                  </a:prstGeom>
                  <a:solidFill>
                    <a:schemeClr val="tx1"/>
                  </a:solidFill>
                  <a:ln>
                    <a:noFill/>
                  </a:ln>
                </p:spPr>
                <p:txBody>
                  <a:bodyPr wrap="none" anchor="ctr"/>
                  <a:lstStyle/>
                  <a:p>
                    <a:endParaRPr lang="en-US"/>
                  </a:p>
                </p:txBody>
              </p:sp>
              <p:sp>
                <p:nvSpPr>
                  <p:cNvPr id="1109"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093"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1094" name="Group 969"/>
                <p:cNvGrpSpPr/>
                <p:nvPr/>
              </p:nvGrpSpPr>
              <p:grpSpPr bwMode="auto">
                <a:xfrm>
                  <a:off x="4739" y="1327"/>
                  <a:ext cx="582" cy="139"/>
                  <a:chOff x="614" y="2568"/>
                  <a:chExt cx="725" cy="139"/>
                </a:xfrm>
              </p:grpSpPr>
              <p:sp>
                <p:nvSpPr>
                  <p:cNvPr id="1106" name="AutoShape 970"/>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1107"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095"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1096"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097"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098" name="Oval 975"/>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1099"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1100"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1101"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1102" name="Oval 979"/>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1103" name="Oval 980"/>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a:solidFill>
                      <a:srgbClr val="FF0000"/>
                    </a:solidFill>
                  </a:endParaRPr>
                </a:p>
              </p:txBody>
            </p:sp>
            <p:sp>
              <p:nvSpPr>
                <p:cNvPr id="1104" name="Oval 981"/>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1105"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sp>
            <p:nvSpPr>
              <p:cNvPr id="1081" name="TextBox 1080"/>
              <p:cNvSpPr txBox="1"/>
              <p:nvPr/>
            </p:nvSpPr>
            <p:spPr>
              <a:xfrm>
                <a:off x="5377031" y="3090332"/>
                <a:ext cx="2659202" cy="615553"/>
              </a:xfrm>
              <a:prstGeom prst="rect">
                <a:avLst/>
              </a:prstGeom>
              <a:noFill/>
            </p:spPr>
            <p:txBody>
              <a:bodyPr wrap="none" rtlCol="0">
                <a:spAutoFit/>
              </a:bodyPr>
              <a:lstStyle/>
              <a:p>
                <a:pPr algn="ctr"/>
                <a:r>
                  <a:rPr lang="en-US" dirty="0"/>
                  <a:t>SDN Controller</a:t>
                </a:r>
              </a:p>
              <a:p>
                <a:pPr algn="ctr"/>
                <a:r>
                  <a:rPr lang="en-US" sz="1600" dirty="0"/>
                  <a:t>(network operating system)</a:t>
                </a:r>
              </a:p>
            </p:txBody>
          </p:sp>
        </p:grpSp>
        <p:sp>
          <p:nvSpPr>
            <p:cNvPr id="1060" name="TextBox 1059"/>
            <p:cNvSpPr txBox="1"/>
            <p:nvPr/>
          </p:nvSpPr>
          <p:spPr>
            <a:xfrm>
              <a:off x="6837708" y="1058305"/>
              <a:ext cx="595035" cy="584776"/>
            </a:xfrm>
            <a:prstGeom prst="rect">
              <a:avLst/>
            </a:prstGeom>
            <a:noFill/>
          </p:spPr>
          <p:txBody>
            <a:bodyPr wrap="none" rtlCol="0">
              <a:spAutoFit/>
            </a:bodyPr>
            <a:lstStyle/>
            <a:p>
              <a:r>
                <a:rPr lang="en-US" sz="3200" dirty="0">
                  <a:solidFill>
                    <a:srgbClr val="008000"/>
                  </a:solidFill>
                </a:rPr>
                <a:t>…</a:t>
              </a:r>
            </a:p>
          </p:txBody>
        </p:sp>
        <p:grpSp>
          <p:nvGrpSpPr>
            <p:cNvPr id="1061" name="Group 1060"/>
            <p:cNvGrpSpPr/>
            <p:nvPr/>
          </p:nvGrpSpPr>
          <p:grpSpPr>
            <a:xfrm>
              <a:off x="5165914" y="1277466"/>
              <a:ext cx="1023471" cy="590176"/>
              <a:chOff x="4721412" y="1277470"/>
              <a:chExt cx="1023471" cy="590176"/>
            </a:xfrm>
          </p:grpSpPr>
          <p:sp>
            <p:nvSpPr>
              <p:cNvPr id="1076" name="Oval 1075"/>
              <p:cNvSpPr/>
              <p:nvPr/>
            </p:nvSpPr>
            <p:spPr bwMode="auto">
              <a:xfrm>
                <a:off x="4721412" y="1277470"/>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77" name="TextBox 1076"/>
              <p:cNvSpPr txBox="1"/>
              <p:nvPr/>
            </p:nvSpPr>
            <p:spPr>
              <a:xfrm>
                <a:off x="4792385" y="1374585"/>
                <a:ext cx="890463" cy="369332"/>
              </a:xfrm>
              <a:prstGeom prst="rect">
                <a:avLst/>
              </a:prstGeom>
              <a:noFill/>
            </p:spPr>
            <p:txBody>
              <a:bodyPr wrap="none" rtlCol="0">
                <a:spAutoFit/>
              </a:bodyPr>
              <a:lstStyle/>
              <a:p>
                <a:pPr algn="ctr"/>
                <a:r>
                  <a:rPr lang="en-US" dirty="0"/>
                  <a:t>routing</a:t>
                </a:r>
              </a:p>
            </p:txBody>
          </p:sp>
        </p:grpSp>
        <p:grpSp>
          <p:nvGrpSpPr>
            <p:cNvPr id="1062" name="Group 1061"/>
            <p:cNvGrpSpPr/>
            <p:nvPr/>
          </p:nvGrpSpPr>
          <p:grpSpPr>
            <a:xfrm>
              <a:off x="6000628" y="1798416"/>
              <a:ext cx="1023471" cy="590176"/>
              <a:chOff x="6106459" y="1967753"/>
              <a:chExt cx="1023471" cy="590176"/>
            </a:xfrm>
          </p:grpSpPr>
          <p:sp>
            <p:nvSpPr>
              <p:cNvPr id="1074" name="Oval 1073"/>
              <p:cNvSpPr/>
              <p:nvPr/>
            </p:nvSpPr>
            <p:spPr bwMode="auto">
              <a:xfrm>
                <a:off x="6106459" y="19677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75" name="TextBox 1074"/>
              <p:cNvSpPr txBox="1"/>
              <p:nvPr/>
            </p:nvSpPr>
            <p:spPr>
              <a:xfrm>
                <a:off x="6177429" y="1997637"/>
                <a:ext cx="903087" cy="544765"/>
              </a:xfrm>
              <a:prstGeom prst="rect">
                <a:avLst/>
              </a:prstGeom>
              <a:noFill/>
            </p:spPr>
            <p:txBody>
              <a:bodyPr wrap="none" rtlCol="0">
                <a:spAutoFit/>
              </a:bodyPr>
              <a:lstStyle/>
              <a:p>
                <a:pPr algn="ctr">
                  <a:lnSpc>
                    <a:spcPct val="80000"/>
                  </a:lnSpc>
                </a:pPr>
                <a:r>
                  <a:rPr lang="en-US" dirty="0"/>
                  <a:t>access </a:t>
                </a:r>
              </a:p>
              <a:p>
                <a:pPr algn="ctr">
                  <a:lnSpc>
                    <a:spcPct val="80000"/>
                  </a:lnSpc>
                </a:pPr>
                <a:r>
                  <a:rPr lang="en-US" dirty="0"/>
                  <a:t>control</a:t>
                </a:r>
              </a:p>
            </p:txBody>
          </p:sp>
        </p:grpSp>
        <p:grpSp>
          <p:nvGrpSpPr>
            <p:cNvPr id="1063" name="Group 1062"/>
            <p:cNvGrpSpPr/>
            <p:nvPr/>
          </p:nvGrpSpPr>
          <p:grpSpPr>
            <a:xfrm>
              <a:off x="7230837" y="1756871"/>
              <a:ext cx="1023471" cy="590176"/>
              <a:chOff x="6938682" y="977153"/>
              <a:chExt cx="1023471" cy="590176"/>
            </a:xfrm>
          </p:grpSpPr>
          <p:sp>
            <p:nvSpPr>
              <p:cNvPr id="1072" name="Oval 1071"/>
              <p:cNvSpPr/>
              <p:nvPr/>
            </p:nvSpPr>
            <p:spPr bwMode="auto">
              <a:xfrm>
                <a:off x="6938682" y="9771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73" name="TextBox 1072"/>
              <p:cNvSpPr txBox="1"/>
              <p:nvPr/>
            </p:nvSpPr>
            <p:spPr>
              <a:xfrm>
                <a:off x="6964568" y="1007037"/>
                <a:ext cx="993256" cy="544765"/>
              </a:xfrm>
              <a:prstGeom prst="rect">
                <a:avLst/>
              </a:prstGeom>
              <a:noFill/>
            </p:spPr>
            <p:txBody>
              <a:bodyPr wrap="none" rtlCol="0">
                <a:spAutoFit/>
              </a:bodyPr>
              <a:lstStyle/>
              <a:p>
                <a:pPr algn="ctr">
                  <a:lnSpc>
                    <a:spcPct val="80000"/>
                  </a:lnSpc>
                </a:pPr>
                <a:r>
                  <a:rPr lang="en-US" dirty="0"/>
                  <a:t>load</a:t>
                </a:r>
              </a:p>
              <a:p>
                <a:pPr algn="ctr">
                  <a:lnSpc>
                    <a:spcPct val="80000"/>
                  </a:lnSpc>
                </a:pPr>
                <a:r>
                  <a:rPr lang="en-US" dirty="0"/>
                  <a:t>balance</a:t>
                </a:r>
              </a:p>
            </p:txBody>
          </p:sp>
        </p:grpSp>
        <p:cxnSp>
          <p:nvCxnSpPr>
            <p:cNvPr id="1064" name="Straight Arrow Connector 1063"/>
            <p:cNvCxnSpPr/>
            <p:nvPr/>
          </p:nvCxnSpPr>
          <p:spPr bwMode="auto">
            <a:xfrm flipV="1">
              <a:off x="8627245" y="1217948"/>
              <a:ext cx="0" cy="1248832"/>
            </a:xfrm>
            <a:prstGeom prst="straightConnector1">
              <a:avLst/>
            </a:prstGeom>
            <a:solidFill>
              <a:schemeClr val="accent1"/>
            </a:solidFill>
            <a:ln w="9525" cap="flat" cmpd="sng" algn="ctr">
              <a:solidFill>
                <a:schemeClr val="tx1"/>
              </a:solidFill>
              <a:prstDash val="solid"/>
              <a:round/>
              <a:headEnd type="none" w="med" len="med"/>
              <a:tailEnd type="triangle"/>
            </a:ln>
            <a:effectLst/>
          </p:spPr>
        </p:cxnSp>
        <p:cxnSp>
          <p:nvCxnSpPr>
            <p:cNvPr id="1065" name="Straight Arrow Connector 1064"/>
            <p:cNvCxnSpPr/>
            <p:nvPr/>
          </p:nvCxnSpPr>
          <p:spPr bwMode="auto">
            <a:xfrm>
              <a:off x="8652645" y="2966181"/>
              <a:ext cx="0" cy="1524424"/>
            </a:xfrm>
            <a:prstGeom prst="straightConnector1">
              <a:avLst/>
            </a:prstGeom>
            <a:solidFill>
              <a:schemeClr val="accent1"/>
            </a:solidFill>
            <a:ln w="9525" cap="flat" cmpd="sng" algn="ctr">
              <a:solidFill>
                <a:schemeClr val="tx1"/>
              </a:solidFill>
              <a:prstDash val="solid"/>
              <a:round/>
              <a:headEnd type="none" w="med" len="med"/>
              <a:tailEnd type="triangle"/>
            </a:ln>
            <a:effectLst/>
          </p:spPr>
        </p:cxnSp>
        <p:cxnSp>
          <p:nvCxnSpPr>
            <p:cNvPr id="1066" name="Straight Arrow Connector 1065"/>
            <p:cNvCxnSpPr/>
            <p:nvPr/>
          </p:nvCxnSpPr>
          <p:spPr bwMode="auto">
            <a:xfrm>
              <a:off x="8661016" y="5381629"/>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p:spPr>
        </p:cxnSp>
        <p:cxnSp>
          <p:nvCxnSpPr>
            <p:cNvPr id="1067" name="Straight Arrow Connector 1066"/>
            <p:cNvCxnSpPr/>
            <p:nvPr/>
          </p:nvCxnSpPr>
          <p:spPr bwMode="auto">
            <a:xfrm flipV="1">
              <a:off x="8653320" y="4546025"/>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p:spPr>
        </p:cxnSp>
        <p:sp>
          <p:nvSpPr>
            <p:cNvPr id="1068" name="TextBox 399"/>
            <p:cNvSpPr txBox="1">
              <a:spLocks noChangeArrowheads="1"/>
            </p:cNvSpPr>
            <p:nvPr/>
          </p:nvSpPr>
          <p:spPr bwMode="auto">
            <a:xfrm>
              <a:off x="6650715" y="4235599"/>
              <a:ext cx="1635889" cy="284586"/>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i="1" dirty="0"/>
                <a:t>southbound API</a:t>
              </a:r>
            </a:p>
          </p:txBody>
        </p:sp>
        <p:sp>
          <p:nvSpPr>
            <p:cNvPr id="1069" name="TextBox 399"/>
            <p:cNvSpPr txBox="1">
              <a:spLocks noChangeArrowheads="1"/>
            </p:cNvSpPr>
            <p:nvPr/>
          </p:nvSpPr>
          <p:spPr bwMode="auto">
            <a:xfrm>
              <a:off x="6646778" y="2717781"/>
              <a:ext cx="1635889" cy="284586"/>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i="1" dirty="0"/>
                <a:t>northbound API</a:t>
              </a:r>
            </a:p>
          </p:txBody>
        </p:sp>
        <p:sp>
          <p:nvSpPr>
            <p:cNvPr id="1070" name="TextBox 399"/>
            <p:cNvSpPr txBox="1">
              <a:spLocks noChangeArrowheads="1"/>
            </p:cNvSpPr>
            <p:nvPr/>
          </p:nvSpPr>
          <p:spPr bwMode="auto">
            <a:xfrm>
              <a:off x="5507651" y="5795718"/>
              <a:ext cx="2302688" cy="284586"/>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i="1" dirty="0"/>
                <a:t>SDN-controlled switches</a:t>
              </a:r>
            </a:p>
          </p:txBody>
        </p:sp>
        <p:sp>
          <p:nvSpPr>
            <p:cNvPr id="1071" name="TextBox 399"/>
            <p:cNvSpPr txBox="1">
              <a:spLocks noChangeArrowheads="1"/>
            </p:cNvSpPr>
            <p:nvPr/>
          </p:nvSpPr>
          <p:spPr bwMode="auto">
            <a:xfrm>
              <a:off x="5707907" y="910464"/>
              <a:ext cx="2381659" cy="284586"/>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i="1" dirty="0"/>
                <a:t>network-control applications</a:t>
              </a:r>
            </a:p>
          </p:txBody>
        </p:sp>
      </p:grpSp>
      <p:sp>
        <p:nvSpPr>
          <p:cNvPr id="2" name="Rectangle 1"/>
          <p:cNvSpPr/>
          <p:nvPr/>
        </p:nvSpPr>
        <p:spPr bwMode="auto">
          <a:xfrm>
            <a:off x="4785895" y="1147462"/>
            <a:ext cx="4134334" cy="3947271"/>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7" name="Slide Number Placeholder 5"/>
          <p:cNvSpPr>
            <a:spLocks noGrp="1"/>
          </p:cNvSpPr>
          <p:nvPr>
            <p:ph type="sldNum" sz="quarter" idx="12"/>
          </p:nvPr>
        </p:nvSpPr>
        <p:spPr>
          <a:xfrm>
            <a:off x="2226470"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96</a:t>
            </a:fld>
            <a:endParaRPr lang="en-US" sz="1200" dirty="0">
              <a:latin typeface="Tahoma" panose="020B0604030504040204" charset="0"/>
            </a:endParaRPr>
          </a:p>
        </p:txBody>
      </p:sp>
      <p:sp>
        <p:nvSpPr>
          <p:cNvPr id="128" name="Footer Placeholder 2"/>
          <p:cNvSpPr>
            <a:spLocks noGrp="1"/>
          </p:cNvSpPr>
          <p:nvPr>
            <p:ph type="ftr" sz="quarter" idx="11"/>
          </p:nvPr>
        </p:nvSpPr>
        <p:spPr>
          <a:xfrm>
            <a:off x="145812"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69" name="Text Box 167"/>
          <p:cNvSpPr txBox="1">
            <a:spLocks noChangeArrowheads="1"/>
          </p:cNvSpPr>
          <p:nvPr/>
        </p:nvSpPr>
        <p:spPr bwMode="auto">
          <a:xfrm>
            <a:off x="542925" y="236538"/>
            <a:ext cx="6470341" cy="6463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3600" dirty="0">
                <a:solidFill>
                  <a:srgbClr val="000099"/>
                </a:solidFill>
                <a:latin typeface="Gill Sans MT" pitchFamily="34" charset="0"/>
              </a:rPr>
              <a:t>SDN perspective: SDN controller</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6494299" cy="211346"/>
          </a:xfrm>
          <a:prstGeom prst="rect">
            <a:avLst/>
          </a:prstGeom>
          <a:noFill/>
          <a:ln>
            <a:noFill/>
          </a:ln>
        </p:spPr>
      </p:pic>
      <p:sp>
        <p:nvSpPr>
          <p:cNvPr id="466" name="Content Placeholder 6"/>
          <p:cNvSpPr txBox="1"/>
          <p:nvPr/>
        </p:nvSpPr>
        <p:spPr bwMode="auto">
          <a:xfrm>
            <a:off x="524550" y="1248707"/>
            <a:ext cx="4333436" cy="5010892"/>
          </a:xfrm>
          <a:prstGeom prst="rect">
            <a:avLst/>
          </a:prstGeom>
          <a:noFill/>
          <a:ln>
            <a:noFill/>
          </a:ln>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pPr marL="0" indent="0">
              <a:buNone/>
            </a:pPr>
            <a:r>
              <a:rPr lang="en-US" sz="2400" i="1" dirty="0">
                <a:solidFill>
                  <a:srgbClr val="CC0000"/>
                </a:solidFill>
              </a:rPr>
              <a:t>SDN controller (network OS): </a:t>
            </a:r>
          </a:p>
          <a:p>
            <a:r>
              <a:rPr lang="en-US" sz="2000" dirty="0"/>
              <a:t>maintain network state information</a:t>
            </a:r>
          </a:p>
          <a:p>
            <a:r>
              <a:rPr lang="en-US" sz="2000" dirty="0"/>
              <a:t>interacts with network control applications “above” via northbound API</a:t>
            </a:r>
          </a:p>
          <a:p>
            <a:r>
              <a:rPr lang="en-US" sz="2000" dirty="0"/>
              <a:t>interacts with network switches “below” via southbound API</a:t>
            </a:r>
          </a:p>
          <a:p>
            <a:r>
              <a:rPr lang="en-US" sz="2000" dirty="0"/>
              <a:t>implemented as distributed system for performance, scalability, fault-tolerance, robustness</a:t>
            </a:r>
          </a:p>
          <a:p>
            <a:endParaRPr lang="en-US" sz="2000" dirty="0"/>
          </a:p>
        </p:txBody>
      </p:sp>
      <p:sp>
        <p:nvSpPr>
          <p:cNvPr id="9" name="TextBox 399"/>
          <p:cNvSpPr txBox="1">
            <a:spLocks noChangeArrowheads="1"/>
          </p:cNvSpPr>
          <p:nvPr/>
        </p:nvSpPr>
        <p:spPr bwMode="auto">
          <a:xfrm>
            <a:off x="8518490" y="5440585"/>
            <a:ext cx="286930" cy="47148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dirty="0"/>
              <a:t>data</a:t>
            </a:r>
          </a:p>
          <a:p>
            <a:pPr algn="ctr">
              <a:lnSpc>
                <a:spcPts val="1465"/>
              </a:lnSpc>
            </a:pPr>
            <a:r>
              <a:rPr lang="en-US" sz="1400" dirty="0"/>
              <a:t>plane</a:t>
            </a:r>
          </a:p>
        </p:txBody>
      </p:sp>
      <p:sp>
        <p:nvSpPr>
          <p:cNvPr id="10" name="TextBox 400"/>
          <p:cNvSpPr txBox="1">
            <a:spLocks noChangeArrowheads="1"/>
          </p:cNvSpPr>
          <p:nvPr/>
        </p:nvSpPr>
        <p:spPr bwMode="auto">
          <a:xfrm>
            <a:off x="8494972" y="2978227"/>
            <a:ext cx="342020" cy="47148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dirty="0"/>
              <a:t>control</a:t>
            </a:r>
          </a:p>
          <a:p>
            <a:pPr algn="ctr">
              <a:lnSpc>
                <a:spcPts val="1465"/>
              </a:lnSpc>
            </a:pPr>
            <a:r>
              <a:rPr lang="en-US" sz="1400" dirty="0"/>
              <a:t>plane</a:t>
            </a:r>
          </a:p>
        </p:txBody>
      </p:sp>
      <p:cxnSp>
        <p:nvCxnSpPr>
          <p:cNvPr id="11" name="Straight Connector 10"/>
          <p:cNvCxnSpPr/>
          <p:nvPr/>
        </p:nvCxnSpPr>
        <p:spPr bwMode="auto">
          <a:xfrm flipV="1">
            <a:off x="5272718" y="5033566"/>
            <a:ext cx="2791783" cy="14329"/>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bwMode="auto">
          <a:xfrm flipV="1">
            <a:off x="5192283" y="3213235"/>
            <a:ext cx="3041550" cy="18563"/>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13" name="Group 12"/>
          <p:cNvGrpSpPr/>
          <p:nvPr/>
        </p:nvGrpSpPr>
        <p:grpSpPr>
          <a:xfrm>
            <a:off x="5164667" y="5329900"/>
            <a:ext cx="2979208" cy="973667"/>
            <a:chOff x="2592388" y="5601756"/>
            <a:chExt cx="4027487" cy="939800"/>
          </a:xfrm>
        </p:grpSpPr>
        <p:sp>
          <p:nvSpPr>
            <p:cNvPr id="69" name="Freeform 2"/>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p:spPr>
          <p:txBody>
            <a:bodyPr wrap="none" anchor="ctr"/>
            <a:lstStyle/>
            <a:p>
              <a:endParaRPr lang="en-US"/>
            </a:p>
          </p:txBody>
        </p:sp>
        <p:cxnSp>
          <p:nvCxnSpPr>
            <p:cNvPr id="70" name="Straight Connector 69"/>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78" name="Group 347"/>
            <p:cNvGrpSpPr/>
            <p:nvPr/>
          </p:nvGrpSpPr>
          <p:grpSpPr bwMode="auto">
            <a:xfrm>
              <a:off x="5856401" y="5796097"/>
              <a:ext cx="588970" cy="242608"/>
              <a:chOff x="1871277" y="1576300"/>
              <a:chExt cx="1128371" cy="437861"/>
            </a:xfrm>
          </p:grpSpPr>
          <p:sp>
            <p:nvSpPr>
              <p:cNvPr id="119" name="Oval 11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0" name="Rectangle 11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1" name="Oval 12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2" name="Freeform 12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3" name="Freeform 12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4" name="Freeform 12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5" name="Freeform 12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6" name="Straight Connector 125"/>
              <p:cNvCxnSpPr>
                <a:endCxn id="12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7" name="Straight Connector 12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9" name="Group 347"/>
            <p:cNvGrpSpPr/>
            <p:nvPr/>
          </p:nvGrpSpPr>
          <p:grpSpPr bwMode="auto">
            <a:xfrm>
              <a:off x="4375328" y="5654000"/>
              <a:ext cx="588970" cy="242608"/>
              <a:chOff x="1871277" y="1576300"/>
              <a:chExt cx="1128371" cy="437861"/>
            </a:xfrm>
          </p:grpSpPr>
          <p:sp>
            <p:nvSpPr>
              <p:cNvPr id="110" name="Oval 109"/>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1" name="Rectangle 110"/>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2" name="Oval 1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3" name="Freeform 112"/>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 name="Freeform 113"/>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 name="Freeform 11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 name="Freeform 115"/>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7" name="Straight Connector 116"/>
              <p:cNvCxnSpPr>
                <a:endCxn id="1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0" name="Group 347"/>
            <p:cNvGrpSpPr/>
            <p:nvPr/>
          </p:nvGrpSpPr>
          <p:grpSpPr bwMode="auto">
            <a:xfrm>
              <a:off x="2848241" y="5847813"/>
              <a:ext cx="588970" cy="242608"/>
              <a:chOff x="1871277" y="1576300"/>
              <a:chExt cx="1128371" cy="437861"/>
            </a:xfrm>
          </p:grpSpPr>
          <p:sp>
            <p:nvSpPr>
              <p:cNvPr id="101" name="Oval 100"/>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2" name="Rectangle 101"/>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3" name="Oval 102"/>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4" name="Freeform 103"/>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Freeform 104"/>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6" name="Freeform 105"/>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7" name="Freeform 10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8" name="Straight Connector 107"/>
              <p:cNvCxnSpPr>
                <a:endCxn id="103"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9" name="Straight Connector 108"/>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1" name="Group 347"/>
            <p:cNvGrpSpPr/>
            <p:nvPr/>
          </p:nvGrpSpPr>
          <p:grpSpPr bwMode="auto">
            <a:xfrm>
              <a:off x="5166757" y="6114152"/>
              <a:ext cx="588970" cy="242608"/>
              <a:chOff x="1871277" y="1576300"/>
              <a:chExt cx="1128371" cy="437861"/>
            </a:xfrm>
          </p:grpSpPr>
          <p:sp>
            <p:nvSpPr>
              <p:cNvPr id="92" name="Oval 9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3" name="Rectangle 9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4" name="Oval 9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5" name="Freeform 9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6" name="Freeform 9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Freeform 9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9" name="Straight Connector 98"/>
              <p:cNvCxnSpPr>
                <a:endCxn id="9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0" name="Straight Connector 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2" name="Group 347"/>
            <p:cNvGrpSpPr/>
            <p:nvPr/>
          </p:nvGrpSpPr>
          <p:grpSpPr bwMode="auto">
            <a:xfrm>
              <a:off x="3704088" y="6206732"/>
              <a:ext cx="588970" cy="242608"/>
              <a:chOff x="1871277" y="1576300"/>
              <a:chExt cx="1128371" cy="437861"/>
            </a:xfrm>
          </p:grpSpPr>
          <p:sp>
            <p:nvSpPr>
              <p:cNvPr id="83" name="Oval 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4" name="Rectangle 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5" name="Oval 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6" name="Freeform 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7" name="Freeform 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8" name="Freeform 8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9" name="Freeform 8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0" name="Straight Connector 89"/>
              <p:cNvCxnSpPr>
                <a:endCxn id="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1" name="Straight Connector 9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4" name="Group 13"/>
          <p:cNvGrpSpPr/>
          <p:nvPr/>
        </p:nvGrpSpPr>
        <p:grpSpPr>
          <a:xfrm>
            <a:off x="4990227" y="3550652"/>
            <a:ext cx="3116606" cy="1053561"/>
            <a:chOff x="4990227" y="2877416"/>
            <a:chExt cx="3116606" cy="1053561"/>
          </a:xfrm>
        </p:grpSpPr>
        <p:sp>
          <p:nvSpPr>
            <p:cNvPr id="33" name="Rectangle 32"/>
            <p:cNvSpPr/>
            <p:nvPr/>
          </p:nvSpPr>
          <p:spPr bwMode="auto">
            <a:xfrm>
              <a:off x="5418665" y="2913389"/>
              <a:ext cx="268816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4" name="Freeform 33"/>
            <p:cNvSpPr/>
            <p:nvPr/>
          </p:nvSpPr>
          <p:spPr bwMode="auto">
            <a:xfrm>
              <a:off x="5218221" y="2877416"/>
              <a:ext cx="213773" cy="102816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1" fmla="*/ 0 w 199855"/>
                <a:gd name="connsiteY0-2" fmla="*/ 733787 h 1367693"/>
                <a:gd name="connsiteX1-3" fmla="*/ 199855 w 199855"/>
                <a:gd name="connsiteY1-4" fmla="*/ 0 h 1367693"/>
                <a:gd name="connsiteX2-5" fmla="*/ 199855 w 199855"/>
                <a:gd name="connsiteY2-6" fmla="*/ 1016000 h 1367693"/>
                <a:gd name="connsiteX3-7" fmla="*/ 4470 w 199855"/>
                <a:gd name="connsiteY3-8" fmla="*/ 1367693 h 1367693"/>
                <a:gd name="connsiteX4-9" fmla="*/ 0 w 199855"/>
                <a:gd name="connsiteY4-10" fmla="*/ 733787 h 1367693"/>
                <a:gd name="connsiteX0-11" fmla="*/ 25203 w 225058"/>
                <a:gd name="connsiteY0-12" fmla="*/ 733787 h 1361758"/>
                <a:gd name="connsiteX1-13" fmla="*/ 225058 w 225058"/>
                <a:gd name="connsiteY1-14" fmla="*/ 0 h 1361758"/>
                <a:gd name="connsiteX2-15" fmla="*/ 225058 w 225058"/>
                <a:gd name="connsiteY2-16" fmla="*/ 1016000 h 1361758"/>
                <a:gd name="connsiteX3-17" fmla="*/ 0 w 225058"/>
                <a:gd name="connsiteY3-18" fmla="*/ 1361758 h 1361758"/>
                <a:gd name="connsiteX4-19" fmla="*/ 25203 w 225058"/>
                <a:gd name="connsiteY4-20" fmla="*/ 733787 h 1361758"/>
                <a:gd name="connsiteX0-21" fmla="*/ 25203 w 230992"/>
                <a:gd name="connsiteY0-22" fmla="*/ 787197 h 1415168"/>
                <a:gd name="connsiteX1-23" fmla="*/ 230992 w 230992"/>
                <a:gd name="connsiteY1-24" fmla="*/ 0 h 1415168"/>
                <a:gd name="connsiteX2-25" fmla="*/ 225058 w 230992"/>
                <a:gd name="connsiteY2-26" fmla="*/ 1069410 h 1415168"/>
                <a:gd name="connsiteX3-27" fmla="*/ 0 w 230992"/>
                <a:gd name="connsiteY3-28" fmla="*/ 1415168 h 1415168"/>
                <a:gd name="connsiteX4-29" fmla="*/ 25203 w 230992"/>
                <a:gd name="connsiteY4-30" fmla="*/ 787197 h 1415168"/>
                <a:gd name="connsiteX0-31" fmla="*/ 0 w 205789"/>
                <a:gd name="connsiteY0-32" fmla="*/ 787197 h 1427037"/>
                <a:gd name="connsiteX1-33" fmla="*/ 205789 w 205789"/>
                <a:gd name="connsiteY1-34" fmla="*/ 0 h 1427037"/>
                <a:gd name="connsiteX2-35" fmla="*/ 199855 w 205789"/>
                <a:gd name="connsiteY2-36" fmla="*/ 1069410 h 1427037"/>
                <a:gd name="connsiteX3-37" fmla="*/ 4471 w 205789"/>
                <a:gd name="connsiteY3-38" fmla="*/ 1427037 h 1427037"/>
                <a:gd name="connsiteX4-39" fmla="*/ 0 w 205789"/>
                <a:gd name="connsiteY4-40" fmla="*/ 787197 h 1427037"/>
                <a:gd name="connsiteX0-41" fmla="*/ 0 w 199855"/>
                <a:gd name="connsiteY0-42" fmla="*/ 745656 h 1385496"/>
                <a:gd name="connsiteX1-43" fmla="*/ 193920 w 199855"/>
                <a:gd name="connsiteY1-44" fmla="*/ 0 h 1385496"/>
                <a:gd name="connsiteX2-45" fmla="*/ 199855 w 199855"/>
                <a:gd name="connsiteY2-46" fmla="*/ 1027869 h 1385496"/>
                <a:gd name="connsiteX3-47" fmla="*/ 4471 w 199855"/>
                <a:gd name="connsiteY3-48" fmla="*/ 1385496 h 1385496"/>
                <a:gd name="connsiteX4-49" fmla="*/ 0 w 199855"/>
                <a:gd name="connsiteY4-50" fmla="*/ 745656 h 1385496"/>
                <a:gd name="connsiteX0-51" fmla="*/ 20385 w 220240"/>
                <a:gd name="connsiteY0-52" fmla="*/ 745656 h 1058154"/>
                <a:gd name="connsiteX1-53" fmla="*/ 214305 w 220240"/>
                <a:gd name="connsiteY1-54" fmla="*/ 0 h 1058154"/>
                <a:gd name="connsiteX2-55" fmla="*/ 220240 w 220240"/>
                <a:gd name="connsiteY2-56" fmla="*/ 1027869 h 1058154"/>
                <a:gd name="connsiteX3-57" fmla="*/ 68 w 220240"/>
                <a:gd name="connsiteY3-58" fmla="*/ 986902 h 1058154"/>
                <a:gd name="connsiteX4-59" fmla="*/ 20385 w 220240"/>
                <a:gd name="connsiteY4-60" fmla="*/ 745656 h 1058154"/>
                <a:gd name="connsiteX0-61" fmla="*/ 20385 w 220240"/>
                <a:gd name="connsiteY0-62" fmla="*/ 745656 h 1068836"/>
                <a:gd name="connsiteX1-63" fmla="*/ 214305 w 220240"/>
                <a:gd name="connsiteY1-64" fmla="*/ 0 h 1068836"/>
                <a:gd name="connsiteX2-65" fmla="*/ 220240 w 220240"/>
                <a:gd name="connsiteY2-66" fmla="*/ 1027869 h 1068836"/>
                <a:gd name="connsiteX3-67" fmla="*/ 68 w 220240"/>
                <a:gd name="connsiteY3-68" fmla="*/ 986902 h 1068836"/>
                <a:gd name="connsiteX4-69" fmla="*/ 20385 w 220240"/>
                <a:gd name="connsiteY4-70" fmla="*/ 745656 h 1068836"/>
                <a:gd name="connsiteX0-71" fmla="*/ 15446 w 215301"/>
                <a:gd name="connsiteY0-72" fmla="*/ 745656 h 1057581"/>
                <a:gd name="connsiteX1-73" fmla="*/ 209366 w 215301"/>
                <a:gd name="connsiteY1-74" fmla="*/ 0 h 1057581"/>
                <a:gd name="connsiteX2-75" fmla="*/ 215301 w 215301"/>
                <a:gd name="connsiteY2-76" fmla="*/ 1027869 h 1057581"/>
                <a:gd name="connsiteX3-77" fmla="*/ 87 w 215301"/>
                <a:gd name="connsiteY3-78" fmla="*/ 888484 h 1057581"/>
                <a:gd name="connsiteX4-79" fmla="*/ 15446 w 215301"/>
                <a:gd name="connsiteY4-80" fmla="*/ 745656 h 1057581"/>
                <a:gd name="connsiteX0-81" fmla="*/ 15446 w 215301"/>
                <a:gd name="connsiteY0-82" fmla="*/ 745656 h 1063397"/>
                <a:gd name="connsiteX1-83" fmla="*/ 209366 w 215301"/>
                <a:gd name="connsiteY1-84" fmla="*/ 0 h 1063397"/>
                <a:gd name="connsiteX2-85" fmla="*/ 215301 w 215301"/>
                <a:gd name="connsiteY2-86" fmla="*/ 1027869 h 1063397"/>
                <a:gd name="connsiteX3-87" fmla="*/ 87 w 215301"/>
                <a:gd name="connsiteY3-88" fmla="*/ 888484 h 1063397"/>
                <a:gd name="connsiteX4-89" fmla="*/ 15446 w 215301"/>
                <a:gd name="connsiteY4-90" fmla="*/ 745656 h 1063397"/>
                <a:gd name="connsiteX0-91" fmla="*/ 15446 w 215301"/>
                <a:gd name="connsiteY0-92" fmla="*/ 745656 h 1027869"/>
                <a:gd name="connsiteX1-93" fmla="*/ 209366 w 215301"/>
                <a:gd name="connsiteY1-94" fmla="*/ 0 h 1027869"/>
                <a:gd name="connsiteX2-95" fmla="*/ 215301 w 215301"/>
                <a:gd name="connsiteY2-96" fmla="*/ 1027869 h 1027869"/>
                <a:gd name="connsiteX3-97" fmla="*/ 87 w 215301"/>
                <a:gd name="connsiteY3-98" fmla="*/ 888484 h 1027869"/>
                <a:gd name="connsiteX4-99" fmla="*/ 15446 w 215301"/>
                <a:gd name="connsiteY4-100" fmla="*/ 745656 h 10278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215301" h="1027869">
                  <a:moveTo>
                    <a:pt x="15446" y="745656"/>
                  </a:moveTo>
                  <a:lnTo>
                    <a:pt x="209366" y="0"/>
                  </a:lnTo>
                  <a:cubicBezTo>
                    <a:pt x="211344" y="342623"/>
                    <a:pt x="213323" y="685246"/>
                    <a:pt x="215301" y="1027869"/>
                  </a:cubicBezTo>
                  <a:cubicBezTo>
                    <a:pt x="115469" y="960083"/>
                    <a:pt x="99918" y="931665"/>
                    <a:pt x="87" y="888484"/>
                  </a:cubicBezTo>
                  <a:cubicBezTo>
                    <a:pt x="-1403" y="675204"/>
                    <a:pt x="16936" y="958936"/>
                    <a:pt x="15446"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35" name="Group 950"/>
            <p:cNvGrpSpPr/>
            <p:nvPr/>
          </p:nvGrpSpPr>
          <p:grpSpPr bwMode="auto">
            <a:xfrm>
              <a:off x="4990227" y="3351862"/>
              <a:ext cx="251561" cy="564103"/>
              <a:chOff x="4140" y="429"/>
              <a:chExt cx="1425" cy="2396"/>
            </a:xfrm>
          </p:grpSpPr>
          <p:sp>
            <p:nvSpPr>
              <p:cNvPr id="37"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3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39"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40"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2" name="Group 956"/>
              <p:cNvGrpSpPr/>
              <p:nvPr/>
            </p:nvGrpSpPr>
            <p:grpSpPr bwMode="auto">
              <a:xfrm>
                <a:off x="4749" y="668"/>
                <a:ext cx="581" cy="145"/>
                <a:chOff x="614" y="2568"/>
                <a:chExt cx="725" cy="139"/>
              </a:xfrm>
            </p:grpSpPr>
            <p:sp>
              <p:nvSpPr>
                <p:cNvPr id="67" name="AutoShape 957"/>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6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4" name="Group 960"/>
              <p:cNvGrpSpPr/>
              <p:nvPr/>
            </p:nvGrpSpPr>
            <p:grpSpPr bwMode="auto">
              <a:xfrm>
                <a:off x="4747" y="994"/>
                <a:ext cx="581" cy="134"/>
                <a:chOff x="614" y="2568"/>
                <a:chExt cx="725" cy="139"/>
              </a:xfrm>
            </p:grpSpPr>
            <p:sp>
              <p:nvSpPr>
                <p:cNvPr id="65" name="AutoShape 961"/>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6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4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7" name="Group 965"/>
              <p:cNvGrpSpPr/>
              <p:nvPr/>
            </p:nvGrpSpPr>
            <p:grpSpPr bwMode="auto">
              <a:xfrm>
                <a:off x="4735" y="1627"/>
                <a:ext cx="582" cy="151"/>
                <a:chOff x="614" y="2568"/>
                <a:chExt cx="725" cy="139"/>
              </a:xfrm>
            </p:grpSpPr>
            <p:sp>
              <p:nvSpPr>
                <p:cNvPr id="63" name="AutoShape 966"/>
                <p:cNvSpPr>
                  <a:spLocks noChangeArrowheads="1"/>
                </p:cNvSpPr>
                <p:nvPr/>
              </p:nvSpPr>
              <p:spPr bwMode="auto">
                <a:xfrm>
                  <a:off x="618" y="2586"/>
                  <a:ext cx="720" cy="124"/>
                </a:xfrm>
                <a:prstGeom prst="roundRect">
                  <a:avLst>
                    <a:gd name="adj" fmla="val 50000"/>
                  </a:avLst>
                </a:prstGeom>
                <a:solidFill>
                  <a:schemeClr val="tx1"/>
                </a:solidFill>
                <a:ln>
                  <a:noFill/>
                </a:ln>
              </p:spPr>
              <p:txBody>
                <a:bodyPr wrap="none" anchor="ctr"/>
                <a:lstStyle/>
                <a:p>
                  <a:endParaRPr lang="en-US"/>
                </a:p>
              </p:txBody>
            </p:sp>
            <p:sp>
              <p:nvSpPr>
                <p:cNvPr id="6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49" name="Group 969"/>
              <p:cNvGrpSpPr/>
              <p:nvPr/>
            </p:nvGrpSpPr>
            <p:grpSpPr bwMode="auto">
              <a:xfrm>
                <a:off x="4739" y="1327"/>
                <a:ext cx="582" cy="139"/>
                <a:chOff x="614" y="2568"/>
                <a:chExt cx="725" cy="139"/>
              </a:xfrm>
            </p:grpSpPr>
            <p:sp>
              <p:nvSpPr>
                <p:cNvPr id="61" name="AutoShape 970"/>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6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5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51"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52"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53" name="Oval 975"/>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54"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5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5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57" name="Oval 979"/>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58" name="Oval 980"/>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a:solidFill>
                    <a:srgbClr val="FF0000"/>
                  </a:solidFill>
                </a:endParaRPr>
              </a:p>
            </p:txBody>
          </p:sp>
          <p:sp>
            <p:nvSpPr>
              <p:cNvPr id="59" name="Oval 981"/>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6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sp>
          <p:nvSpPr>
            <p:cNvPr id="36" name="TextBox 35"/>
            <p:cNvSpPr txBox="1"/>
            <p:nvPr/>
          </p:nvSpPr>
          <p:spPr>
            <a:xfrm>
              <a:off x="5377031" y="3090332"/>
              <a:ext cx="2659202" cy="615553"/>
            </a:xfrm>
            <a:prstGeom prst="rect">
              <a:avLst/>
            </a:prstGeom>
            <a:noFill/>
          </p:spPr>
          <p:txBody>
            <a:bodyPr wrap="none" rtlCol="0">
              <a:spAutoFit/>
            </a:bodyPr>
            <a:lstStyle/>
            <a:p>
              <a:pPr algn="ctr"/>
              <a:r>
                <a:rPr lang="en-US" dirty="0"/>
                <a:t>SDN Controller</a:t>
              </a:r>
            </a:p>
            <a:p>
              <a:pPr algn="ctr"/>
              <a:r>
                <a:rPr lang="en-US" sz="1600" dirty="0"/>
                <a:t>(network operating system)</a:t>
              </a:r>
            </a:p>
          </p:txBody>
        </p:sp>
      </p:grpSp>
      <p:sp>
        <p:nvSpPr>
          <p:cNvPr id="15" name="TextBox 14"/>
          <p:cNvSpPr txBox="1"/>
          <p:nvPr/>
        </p:nvSpPr>
        <p:spPr>
          <a:xfrm>
            <a:off x="6837708" y="1562205"/>
            <a:ext cx="595035" cy="584776"/>
          </a:xfrm>
          <a:prstGeom prst="rect">
            <a:avLst/>
          </a:prstGeom>
          <a:noFill/>
        </p:spPr>
        <p:txBody>
          <a:bodyPr wrap="none" rtlCol="0">
            <a:spAutoFit/>
          </a:bodyPr>
          <a:lstStyle/>
          <a:p>
            <a:r>
              <a:rPr lang="en-US" sz="3200" dirty="0">
                <a:solidFill>
                  <a:srgbClr val="008000"/>
                </a:solidFill>
              </a:rPr>
              <a:t>…</a:t>
            </a:r>
          </a:p>
        </p:txBody>
      </p:sp>
      <p:grpSp>
        <p:nvGrpSpPr>
          <p:cNvPr id="16" name="Group 15"/>
          <p:cNvGrpSpPr/>
          <p:nvPr/>
        </p:nvGrpSpPr>
        <p:grpSpPr>
          <a:xfrm>
            <a:off x="5165914" y="1781366"/>
            <a:ext cx="1023471" cy="590176"/>
            <a:chOff x="4721412" y="1277470"/>
            <a:chExt cx="1023471" cy="590176"/>
          </a:xfrm>
        </p:grpSpPr>
        <p:sp>
          <p:nvSpPr>
            <p:cNvPr id="31" name="Oval 30"/>
            <p:cNvSpPr/>
            <p:nvPr/>
          </p:nvSpPr>
          <p:spPr bwMode="auto">
            <a:xfrm>
              <a:off x="4721412" y="1277470"/>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 name="TextBox 31"/>
            <p:cNvSpPr txBox="1"/>
            <p:nvPr/>
          </p:nvSpPr>
          <p:spPr>
            <a:xfrm>
              <a:off x="4792385" y="1374585"/>
              <a:ext cx="890463" cy="369332"/>
            </a:xfrm>
            <a:prstGeom prst="rect">
              <a:avLst/>
            </a:prstGeom>
            <a:noFill/>
          </p:spPr>
          <p:txBody>
            <a:bodyPr wrap="none" rtlCol="0">
              <a:spAutoFit/>
            </a:bodyPr>
            <a:lstStyle/>
            <a:p>
              <a:pPr algn="ctr"/>
              <a:r>
                <a:rPr lang="en-US" dirty="0"/>
                <a:t>routing</a:t>
              </a:r>
            </a:p>
          </p:txBody>
        </p:sp>
      </p:grpSp>
      <p:grpSp>
        <p:nvGrpSpPr>
          <p:cNvPr id="17" name="Group 16"/>
          <p:cNvGrpSpPr/>
          <p:nvPr/>
        </p:nvGrpSpPr>
        <p:grpSpPr>
          <a:xfrm>
            <a:off x="6000628" y="2302316"/>
            <a:ext cx="1023471" cy="590176"/>
            <a:chOff x="6106459" y="1967753"/>
            <a:chExt cx="1023471" cy="590176"/>
          </a:xfrm>
        </p:grpSpPr>
        <p:sp>
          <p:nvSpPr>
            <p:cNvPr id="29" name="Oval 28"/>
            <p:cNvSpPr/>
            <p:nvPr/>
          </p:nvSpPr>
          <p:spPr bwMode="auto">
            <a:xfrm>
              <a:off x="6106459" y="19677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 name="TextBox 29"/>
            <p:cNvSpPr txBox="1"/>
            <p:nvPr/>
          </p:nvSpPr>
          <p:spPr>
            <a:xfrm>
              <a:off x="6177429" y="1997637"/>
              <a:ext cx="903087" cy="544765"/>
            </a:xfrm>
            <a:prstGeom prst="rect">
              <a:avLst/>
            </a:prstGeom>
            <a:noFill/>
          </p:spPr>
          <p:txBody>
            <a:bodyPr wrap="none" rtlCol="0">
              <a:spAutoFit/>
            </a:bodyPr>
            <a:lstStyle/>
            <a:p>
              <a:pPr algn="ctr">
                <a:lnSpc>
                  <a:spcPct val="80000"/>
                </a:lnSpc>
              </a:pPr>
              <a:r>
                <a:rPr lang="en-US" dirty="0"/>
                <a:t>access </a:t>
              </a:r>
            </a:p>
            <a:p>
              <a:pPr algn="ctr">
                <a:lnSpc>
                  <a:spcPct val="80000"/>
                </a:lnSpc>
              </a:pPr>
              <a:r>
                <a:rPr lang="en-US" dirty="0"/>
                <a:t>control</a:t>
              </a:r>
            </a:p>
          </p:txBody>
        </p:sp>
      </p:grpSp>
      <p:grpSp>
        <p:nvGrpSpPr>
          <p:cNvPr id="18" name="Group 17"/>
          <p:cNvGrpSpPr/>
          <p:nvPr/>
        </p:nvGrpSpPr>
        <p:grpSpPr>
          <a:xfrm>
            <a:off x="7230837" y="2260771"/>
            <a:ext cx="1023471" cy="590176"/>
            <a:chOff x="6938682" y="977153"/>
            <a:chExt cx="1023471" cy="590176"/>
          </a:xfrm>
        </p:grpSpPr>
        <p:sp>
          <p:nvSpPr>
            <p:cNvPr id="27" name="Oval 26"/>
            <p:cNvSpPr/>
            <p:nvPr/>
          </p:nvSpPr>
          <p:spPr bwMode="auto">
            <a:xfrm>
              <a:off x="6938682" y="9771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 name="TextBox 27"/>
            <p:cNvSpPr txBox="1"/>
            <p:nvPr/>
          </p:nvSpPr>
          <p:spPr>
            <a:xfrm>
              <a:off x="6964568" y="1007037"/>
              <a:ext cx="993256" cy="544765"/>
            </a:xfrm>
            <a:prstGeom prst="rect">
              <a:avLst/>
            </a:prstGeom>
            <a:noFill/>
          </p:spPr>
          <p:txBody>
            <a:bodyPr wrap="none" rtlCol="0">
              <a:spAutoFit/>
            </a:bodyPr>
            <a:lstStyle/>
            <a:p>
              <a:pPr algn="ctr">
                <a:lnSpc>
                  <a:spcPct val="80000"/>
                </a:lnSpc>
              </a:pPr>
              <a:r>
                <a:rPr lang="en-US" dirty="0"/>
                <a:t>load</a:t>
              </a:r>
            </a:p>
            <a:p>
              <a:pPr algn="ctr">
                <a:lnSpc>
                  <a:spcPct val="80000"/>
                </a:lnSpc>
              </a:pPr>
              <a:r>
                <a:rPr lang="en-US" dirty="0"/>
                <a:t>balance</a:t>
              </a:r>
            </a:p>
          </p:txBody>
        </p:sp>
      </p:grpSp>
      <p:cxnSp>
        <p:nvCxnSpPr>
          <p:cNvPr id="19" name="Straight Arrow Connector 18"/>
          <p:cNvCxnSpPr/>
          <p:nvPr/>
        </p:nvCxnSpPr>
        <p:spPr bwMode="auto">
          <a:xfrm flipV="1">
            <a:off x="8627245" y="1721848"/>
            <a:ext cx="0" cy="1248832"/>
          </a:xfrm>
          <a:prstGeom prst="straightConnector1">
            <a:avLst/>
          </a:prstGeom>
          <a:solidFill>
            <a:schemeClr val="accent1"/>
          </a:solidFill>
          <a:ln w="9525" cap="flat" cmpd="sng" algn="ctr">
            <a:solidFill>
              <a:schemeClr val="tx1"/>
            </a:solidFill>
            <a:prstDash val="solid"/>
            <a:round/>
            <a:headEnd type="none" w="med" len="med"/>
            <a:tailEnd type="triangle"/>
          </a:ln>
          <a:effectLst/>
        </p:spPr>
      </p:cxnSp>
      <p:cxnSp>
        <p:nvCxnSpPr>
          <p:cNvPr id="20" name="Straight Arrow Connector 19"/>
          <p:cNvCxnSpPr/>
          <p:nvPr/>
        </p:nvCxnSpPr>
        <p:spPr bwMode="auto">
          <a:xfrm>
            <a:off x="8652645" y="3470081"/>
            <a:ext cx="0" cy="1524424"/>
          </a:xfrm>
          <a:prstGeom prst="straightConnector1">
            <a:avLst/>
          </a:prstGeom>
          <a:solidFill>
            <a:schemeClr val="accent1"/>
          </a:solidFill>
          <a:ln w="9525" cap="flat" cmpd="sng" algn="ctr">
            <a:solidFill>
              <a:schemeClr val="tx1"/>
            </a:solidFill>
            <a:prstDash val="solid"/>
            <a:round/>
            <a:headEnd type="none" w="med" len="med"/>
            <a:tailEnd type="triangle"/>
          </a:ln>
          <a:effectLst/>
        </p:spPr>
      </p:cxnSp>
      <p:cxnSp>
        <p:nvCxnSpPr>
          <p:cNvPr id="21" name="Straight Arrow Connector 20"/>
          <p:cNvCxnSpPr/>
          <p:nvPr/>
        </p:nvCxnSpPr>
        <p:spPr bwMode="auto">
          <a:xfrm>
            <a:off x="8661016" y="5885529"/>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p:spPr>
      </p:cxnSp>
      <p:cxnSp>
        <p:nvCxnSpPr>
          <p:cNvPr id="22" name="Straight Arrow Connector 21"/>
          <p:cNvCxnSpPr/>
          <p:nvPr/>
        </p:nvCxnSpPr>
        <p:spPr bwMode="auto">
          <a:xfrm flipV="1">
            <a:off x="8653320" y="5049925"/>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p:spPr>
      </p:cxnSp>
      <p:sp>
        <p:nvSpPr>
          <p:cNvPr id="23" name="TextBox 399"/>
          <p:cNvSpPr txBox="1">
            <a:spLocks noChangeArrowheads="1"/>
          </p:cNvSpPr>
          <p:nvPr/>
        </p:nvSpPr>
        <p:spPr bwMode="auto">
          <a:xfrm>
            <a:off x="6650715" y="4739499"/>
            <a:ext cx="1635889" cy="284586"/>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i="1" dirty="0"/>
              <a:t>southbound API</a:t>
            </a:r>
          </a:p>
        </p:txBody>
      </p:sp>
      <p:sp>
        <p:nvSpPr>
          <p:cNvPr id="24" name="TextBox 399"/>
          <p:cNvSpPr txBox="1">
            <a:spLocks noChangeArrowheads="1"/>
          </p:cNvSpPr>
          <p:nvPr/>
        </p:nvSpPr>
        <p:spPr bwMode="auto">
          <a:xfrm>
            <a:off x="6646778" y="3221681"/>
            <a:ext cx="1635889" cy="284586"/>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i="1" dirty="0"/>
              <a:t>northbound API</a:t>
            </a:r>
          </a:p>
        </p:txBody>
      </p:sp>
      <p:sp>
        <p:nvSpPr>
          <p:cNvPr id="25" name="TextBox 399"/>
          <p:cNvSpPr txBox="1">
            <a:spLocks noChangeArrowheads="1"/>
          </p:cNvSpPr>
          <p:nvPr/>
        </p:nvSpPr>
        <p:spPr bwMode="auto">
          <a:xfrm>
            <a:off x="5507651" y="6299618"/>
            <a:ext cx="2302688" cy="284586"/>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i="1" dirty="0"/>
              <a:t>SDN-controlled switches</a:t>
            </a:r>
          </a:p>
        </p:txBody>
      </p:sp>
      <p:sp>
        <p:nvSpPr>
          <p:cNvPr id="26" name="TextBox 399"/>
          <p:cNvSpPr txBox="1">
            <a:spLocks noChangeArrowheads="1"/>
          </p:cNvSpPr>
          <p:nvPr/>
        </p:nvSpPr>
        <p:spPr bwMode="auto">
          <a:xfrm>
            <a:off x="5707907" y="1414364"/>
            <a:ext cx="2381659" cy="284586"/>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i="1" dirty="0"/>
              <a:t>network-control applications</a:t>
            </a:r>
          </a:p>
        </p:txBody>
      </p:sp>
      <p:sp>
        <p:nvSpPr>
          <p:cNvPr id="128" name="Rectangle 127"/>
          <p:cNvSpPr/>
          <p:nvPr/>
        </p:nvSpPr>
        <p:spPr bwMode="auto">
          <a:xfrm>
            <a:off x="4574869" y="1147463"/>
            <a:ext cx="3794540" cy="1851240"/>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9" name="Rectangle 128"/>
          <p:cNvSpPr/>
          <p:nvPr/>
        </p:nvSpPr>
        <p:spPr bwMode="auto">
          <a:xfrm>
            <a:off x="4558963" y="1315163"/>
            <a:ext cx="3794540" cy="1851240"/>
          </a:xfrm>
          <a:prstGeom prst="rect">
            <a:avLst/>
          </a:prstGeom>
          <a:solidFill>
            <a:schemeClr val="bg1">
              <a:alpha val="4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30" name="Rectangle 129"/>
          <p:cNvSpPr/>
          <p:nvPr/>
        </p:nvSpPr>
        <p:spPr bwMode="auto">
          <a:xfrm>
            <a:off x="4587026" y="5099336"/>
            <a:ext cx="3794540" cy="1592337"/>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31" name="Slide Number Placeholder 5"/>
          <p:cNvSpPr>
            <a:spLocks noGrp="1"/>
          </p:cNvSpPr>
          <p:nvPr>
            <p:ph type="sldNum" sz="quarter" idx="12"/>
          </p:nvPr>
        </p:nvSpPr>
        <p:spPr>
          <a:xfrm>
            <a:off x="2226470"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97</a:t>
            </a:fld>
            <a:endParaRPr lang="en-US" sz="1200" dirty="0">
              <a:latin typeface="Tahoma" panose="020B0604030504040204" charset="0"/>
            </a:endParaRPr>
          </a:p>
        </p:txBody>
      </p:sp>
      <p:sp>
        <p:nvSpPr>
          <p:cNvPr id="132" name="Footer Placeholder 2"/>
          <p:cNvSpPr>
            <a:spLocks noGrp="1"/>
          </p:cNvSpPr>
          <p:nvPr>
            <p:ph type="ftr" sz="quarter" idx="11"/>
          </p:nvPr>
        </p:nvSpPr>
        <p:spPr>
          <a:xfrm>
            <a:off x="145812"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69" name="Text Box 167"/>
          <p:cNvSpPr txBox="1">
            <a:spLocks noChangeArrowheads="1"/>
          </p:cNvSpPr>
          <p:nvPr/>
        </p:nvSpPr>
        <p:spPr bwMode="auto">
          <a:xfrm>
            <a:off x="542925" y="236538"/>
            <a:ext cx="7220997" cy="6463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3600" dirty="0">
                <a:solidFill>
                  <a:srgbClr val="000099"/>
                </a:solidFill>
                <a:latin typeface="Gill Sans MT" pitchFamily="34" charset="0"/>
              </a:rPr>
              <a:t>SDN perspective: control applications</a:t>
            </a:r>
          </a:p>
        </p:txBody>
      </p:sp>
      <p:pic>
        <p:nvPicPr>
          <p:cNvPr id="48170"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7159501" cy="191189"/>
          </a:xfrm>
          <a:prstGeom prst="rect">
            <a:avLst/>
          </a:prstGeom>
          <a:noFill/>
          <a:ln>
            <a:noFill/>
          </a:ln>
        </p:spPr>
      </p:pic>
      <p:sp>
        <p:nvSpPr>
          <p:cNvPr id="466" name="Content Placeholder 6"/>
          <p:cNvSpPr txBox="1"/>
          <p:nvPr/>
        </p:nvSpPr>
        <p:spPr bwMode="auto">
          <a:xfrm>
            <a:off x="524550" y="1248707"/>
            <a:ext cx="4333436" cy="5010892"/>
          </a:xfrm>
          <a:prstGeom prst="rect">
            <a:avLst/>
          </a:prstGeom>
          <a:noFill/>
          <a:ln>
            <a:noFill/>
          </a:ln>
        </p:spPr>
        <p:txBody>
          <a:bodyPr vert="horz" wrap="square" lIns="91440" tIns="45720" rIns="91440" bIns="45720" numCol="1" anchor="t" anchorCtr="0" compatLnSpc="1"/>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pPr marL="0" indent="0">
              <a:buNone/>
            </a:pPr>
            <a:r>
              <a:rPr lang="en-US" i="1" dirty="0">
                <a:solidFill>
                  <a:srgbClr val="CC0000"/>
                </a:solidFill>
              </a:rPr>
              <a:t>network-control apps:</a:t>
            </a:r>
          </a:p>
          <a:p>
            <a:r>
              <a:rPr lang="en-US" sz="2400" dirty="0"/>
              <a:t>“brains” of control:  implement control functions using lower-level services, API provided by SND controller</a:t>
            </a:r>
          </a:p>
          <a:p>
            <a:r>
              <a:rPr lang="en-US" sz="2400" i="1" dirty="0">
                <a:solidFill>
                  <a:srgbClr val="000000"/>
                </a:solidFill>
              </a:rPr>
              <a:t>unbundled: </a:t>
            </a:r>
            <a:r>
              <a:rPr lang="en-US" sz="2400" dirty="0"/>
              <a:t>can be provided by 3</a:t>
            </a:r>
            <a:r>
              <a:rPr lang="en-US" sz="2400" baseline="30000" dirty="0"/>
              <a:t>rd</a:t>
            </a:r>
            <a:r>
              <a:rPr lang="en-US" sz="2400" dirty="0"/>
              <a:t> party: distinct from routing vendor, or SDN controller</a:t>
            </a:r>
          </a:p>
          <a:p>
            <a:endParaRPr lang="en-US" dirty="0"/>
          </a:p>
        </p:txBody>
      </p:sp>
      <p:sp>
        <p:nvSpPr>
          <p:cNvPr id="9" name="TextBox 399"/>
          <p:cNvSpPr txBox="1">
            <a:spLocks noChangeArrowheads="1"/>
          </p:cNvSpPr>
          <p:nvPr/>
        </p:nvSpPr>
        <p:spPr bwMode="auto">
          <a:xfrm>
            <a:off x="8518490" y="5440585"/>
            <a:ext cx="286930" cy="47148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dirty="0"/>
              <a:t>data</a:t>
            </a:r>
          </a:p>
          <a:p>
            <a:pPr algn="ctr">
              <a:lnSpc>
                <a:spcPts val="1465"/>
              </a:lnSpc>
            </a:pPr>
            <a:r>
              <a:rPr lang="en-US" sz="1400" dirty="0"/>
              <a:t>plane</a:t>
            </a:r>
          </a:p>
        </p:txBody>
      </p:sp>
      <p:sp>
        <p:nvSpPr>
          <p:cNvPr id="10" name="TextBox 400"/>
          <p:cNvSpPr txBox="1">
            <a:spLocks noChangeArrowheads="1"/>
          </p:cNvSpPr>
          <p:nvPr/>
        </p:nvSpPr>
        <p:spPr bwMode="auto">
          <a:xfrm>
            <a:off x="8494972" y="2978227"/>
            <a:ext cx="342020" cy="471487"/>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dirty="0"/>
              <a:t>control</a:t>
            </a:r>
          </a:p>
          <a:p>
            <a:pPr algn="ctr">
              <a:lnSpc>
                <a:spcPts val="1465"/>
              </a:lnSpc>
            </a:pPr>
            <a:r>
              <a:rPr lang="en-US" sz="1400" dirty="0"/>
              <a:t>plane</a:t>
            </a:r>
          </a:p>
        </p:txBody>
      </p:sp>
      <p:cxnSp>
        <p:nvCxnSpPr>
          <p:cNvPr id="11" name="Straight Connector 10"/>
          <p:cNvCxnSpPr/>
          <p:nvPr/>
        </p:nvCxnSpPr>
        <p:spPr bwMode="auto">
          <a:xfrm flipV="1">
            <a:off x="5272718" y="5033566"/>
            <a:ext cx="2791783" cy="14329"/>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bwMode="auto">
          <a:xfrm flipV="1">
            <a:off x="5192283" y="3213235"/>
            <a:ext cx="3041550" cy="18563"/>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13" name="Group 12"/>
          <p:cNvGrpSpPr/>
          <p:nvPr/>
        </p:nvGrpSpPr>
        <p:grpSpPr>
          <a:xfrm>
            <a:off x="5164667" y="5329900"/>
            <a:ext cx="2979208" cy="973667"/>
            <a:chOff x="2592388" y="5601756"/>
            <a:chExt cx="4027487" cy="939800"/>
          </a:xfrm>
        </p:grpSpPr>
        <p:sp>
          <p:nvSpPr>
            <p:cNvPr id="69" name="Freeform 2"/>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p:spPr>
          <p:txBody>
            <a:bodyPr wrap="none" anchor="ctr"/>
            <a:lstStyle/>
            <a:p>
              <a:endParaRPr lang="en-US"/>
            </a:p>
          </p:txBody>
        </p:sp>
        <p:cxnSp>
          <p:nvCxnSpPr>
            <p:cNvPr id="70" name="Straight Connector 69"/>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78" name="Group 347"/>
            <p:cNvGrpSpPr/>
            <p:nvPr/>
          </p:nvGrpSpPr>
          <p:grpSpPr bwMode="auto">
            <a:xfrm>
              <a:off x="5856401" y="5796097"/>
              <a:ext cx="588970" cy="242608"/>
              <a:chOff x="1871277" y="1576300"/>
              <a:chExt cx="1128371" cy="437861"/>
            </a:xfrm>
          </p:grpSpPr>
          <p:sp>
            <p:nvSpPr>
              <p:cNvPr id="119" name="Oval 11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0" name="Rectangle 11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1" name="Oval 12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2" name="Freeform 12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3" name="Freeform 12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4" name="Freeform 12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5" name="Freeform 12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6" name="Straight Connector 125"/>
              <p:cNvCxnSpPr>
                <a:endCxn id="12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7" name="Straight Connector 12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9" name="Group 347"/>
            <p:cNvGrpSpPr/>
            <p:nvPr/>
          </p:nvGrpSpPr>
          <p:grpSpPr bwMode="auto">
            <a:xfrm>
              <a:off x="4375328" y="5654000"/>
              <a:ext cx="588970" cy="242608"/>
              <a:chOff x="1871277" y="1576300"/>
              <a:chExt cx="1128371" cy="437861"/>
            </a:xfrm>
          </p:grpSpPr>
          <p:sp>
            <p:nvSpPr>
              <p:cNvPr id="110" name="Oval 109"/>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1" name="Rectangle 110"/>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2" name="Oval 1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3" name="Freeform 112"/>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 name="Freeform 113"/>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 name="Freeform 11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 name="Freeform 115"/>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7" name="Straight Connector 116"/>
              <p:cNvCxnSpPr>
                <a:endCxn id="1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0" name="Group 347"/>
            <p:cNvGrpSpPr/>
            <p:nvPr/>
          </p:nvGrpSpPr>
          <p:grpSpPr bwMode="auto">
            <a:xfrm>
              <a:off x="2848241" y="5847813"/>
              <a:ext cx="588970" cy="242608"/>
              <a:chOff x="1871277" y="1576300"/>
              <a:chExt cx="1128371" cy="437861"/>
            </a:xfrm>
          </p:grpSpPr>
          <p:sp>
            <p:nvSpPr>
              <p:cNvPr id="101" name="Oval 100"/>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2" name="Rectangle 101"/>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3" name="Oval 102"/>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4" name="Freeform 103"/>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Freeform 104"/>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6" name="Freeform 105"/>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7" name="Freeform 10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8" name="Straight Connector 107"/>
              <p:cNvCxnSpPr>
                <a:endCxn id="103"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9" name="Straight Connector 108"/>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1" name="Group 347"/>
            <p:cNvGrpSpPr/>
            <p:nvPr/>
          </p:nvGrpSpPr>
          <p:grpSpPr bwMode="auto">
            <a:xfrm>
              <a:off x="5166757" y="6114152"/>
              <a:ext cx="588970" cy="242608"/>
              <a:chOff x="1871277" y="1576300"/>
              <a:chExt cx="1128371" cy="437861"/>
            </a:xfrm>
          </p:grpSpPr>
          <p:sp>
            <p:nvSpPr>
              <p:cNvPr id="92" name="Oval 9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3" name="Rectangle 9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4" name="Oval 9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5" name="Freeform 9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6" name="Freeform 9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Freeform 9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9" name="Straight Connector 98"/>
              <p:cNvCxnSpPr>
                <a:endCxn id="9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0" name="Straight Connector 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2" name="Group 347"/>
            <p:cNvGrpSpPr/>
            <p:nvPr/>
          </p:nvGrpSpPr>
          <p:grpSpPr bwMode="auto">
            <a:xfrm>
              <a:off x="3704088" y="6206732"/>
              <a:ext cx="588970" cy="242608"/>
              <a:chOff x="1871277" y="1576300"/>
              <a:chExt cx="1128371" cy="437861"/>
            </a:xfrm>
          </p:grpSpPr>
          <p:sp>
            <p:nvSpPr>
              <p:cNvPr id="83" name="Oval 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4" name="Rectangle 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5" name="Oval 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6" name="Freeform 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7" name="Freeform 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8" name="Freeform 8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9" name="Freeform 8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0" name="Straight Connector 89"/>
              <p:cNvCxnSpPr>
                <a:endCxn id="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1" name="Straight Connector 9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4" name="Group 13"/>
          <p:cNvGrpSpPr/>
          <p:nvPr/>
        </p:nvGrpSpPr>
        <p:grpSpPr>
          <a:xfrm>
            <a:off x="4990227" y="3550652"/>
            <a:ext cx="3116606" cy="1053561"/>
            <a:chOff x="4990227" y="2877416"/>
            <a:chExt cx="3116606" cy="1053561"/>
          </a:xfrm>
        </p:grpSpPr>
        <p:sp>
          <p:nvSpPr>
            <p:cNvPr id="33" name="Rectangle 32"/>
            <p:cNvSpPr/>
            <p:nvPr/>
          </p:nvSpPr>
          <p:spPr bwMode="auto">
            <a:xfrm>
              <a:off x="5418665" y="2913389"/>
              <a:ext cx="268816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4" name="Freeform 33"/>
            <p:cNvSpPr/>
            <p:nvPr/>
          </p:nvSpPr>
          <p:spPr bwMode="auto">
            <a:xfrm>
              <a:off x="5218221" y="2877416"/>
              <a:ext cx="213773" cy="102816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1" fmla="*/ 0 w 199855"/>
                <a:gd name="connsiteY0-2" fmla="*/ 733787 h 1367693"/>
                <a:gd name="connsiteX1-3" fmla="*/ 199855 w 199855"/>
                <a:gd name="connsiteY1-4" fmla="*/ 0 h 1367693"/>
                <a:gd name="connsiteX2-5" fmla="*/ 199855 w 199855"/>
                <a:gd name="connsiteY2-6" fmla="*/ 1016000 h 1367693"/>
                <a:gd name="connsiteX3-7" fmla="*/ 4470 w 199855"/>
                <a:gd name="connsiteY3-8" fmla="*/ 1367693 h 1367693"/>
                <a:gd name="connsiteX4-9" fmla="*/ 0 w 199855"/>
                <a:gd name="connsiteY4-10" fmla="*/ 733787 h 1367693"/>
                <a:gd name="connsiteX0-11" fmla="*/ 25203 w 225058"/>
                <a:gd name="connsiteY0-12" fmla="*/ 733787 h 1361758"/>
                <a:gd name="connsiteX1-13" fmla="*/ 225058 w 225058"/>
                <a:gd name="connsiteY1-14" fmla="*/ 0 h 1361758"/>
                <a:gd name="connsiteX2-15" fmla="*/ 225058 w 225058"/>
                <a:gd name="connsiteY2-16" fmla="*/ 1016000 h 1361758"/>
                <a:gd name="connsiteX3-17" fmla="*/ 0 w 225058"/>
                <a:gd name="connsiteY3-18" fmla="*/ 1361758 h 1361758"/>
                <a:gd name="connsiteX4-19" fmla="*/ 25203 w 225058"/>
                <a:gd name="connsiteY4-20" fmla="*/ 733787 h 1361758"/>
                <a:gd name="connsiteX0-21" fmla="*/ 25203 w 230992"/>
                <a:gd name="connsiteY0-22" fmla="*/ 787197 h 1415168"/>
                <a:gd name="connsiteX1-23" fmla="*/ 230992 w 230992"/>
                <a:gd name="connsiteY1-24" fmla="*/ 0 h 1415168"/>
                <a:gd name="connsiteX2-25" fmla="*/ 225058 w 230992"/>
                <a:gd name="connsiteY2-26" fmla="*/ 1069410 h 1415168"/>
                <a:gd name="connsiteX3-27" fmla="*/ 0 w 230992"/>
                <a:gd name="connsiteY3-28" fmla="*/ 1415168 h 1415168"/>
                <a:gd name="connsiteX4-29" fmla="*/ 25203 w 230992"/>
                <a:gd name="connsiteY4-30" fmla="*/ 787197 h 1415168"/>
                <a:gd name="connsiteX0-31" fmla="*/ 0 w 205789"/>
                <a:gd name="connsiteY0-32" fmla="*/ 787197 h 1427037"/>
                <a:gd name="connsiteX1-33" fmla="*/ 205789 w 205789"/>
                <a:gd name="connsiteY1-34" fmla="*/ 0 h 1427037"/>
                <a:gd name="connsiteX2-35" fmla="*/ 199855 w 205789"/>
                <a:gd name="connsiteY2-36" fmla="*/ 1069410 h 1427037"/>
                <a:gd name="connsiteX3-37" fmla="*/ 4471 w 205789"/>
                <a:gd name="connsiteY3-38" fmla="*/ 1427037 h 1427037"/>
                <a:gd name="connsiteX4-39" fmla="*/ 0 w 205789"/>
                <a:gd name="connsiteY4-40" fmla="*/ 787197 h 1427037"/>
                <a:gd name="connsiteX0-41" fmla="*/ 0 w 199855"/>
                <a:gd name="connsiteY0-42" fmla="*/ 745656 h 1385496"/>
                <a:gd name="connsiteX1-43" fmla="*/ 193920 w 199855"/>
                <a:gd name="connsiteY1-44" fmla="*/ 0 h 1385496"/>
                <a:gd name="connsiteX2-45" fmla="*/ 199855 w 199855"/>
                <a:gd name="connsiteY2-46" fmla="*/ 1027869 h 1385496"/>
                <a:gd name="connsiteX3-47" fmla="*/ 4471 w 199855"/>
                <a:gd name="connsiteY3-48" fmla="*/ 1385496 h 1385496"/>
                <a:gd name="connsiteX4-49" fmla="*/ 0 w 199855"/>
                <a:gd name="connsiteY4-50" fmla="*/ 745656 h 1385496"/>
                <a:gd name="connsiteX0-51" fmla="*/ 20385 w 220240"/>
                <a:gd name="connsiteY0-52" fmla="*/ 745656 h 1058154"/>
                <a:gd name="connsiteX1-53" fmla="*/ 214305 w 220240"/>
                <a:gd name="connsiteY1-54" fmla="*/ 0 h 1058154"/>
                <a:gd name="connsiteX2-55" fmla="*/ 220240 w 220240"/>
                <a:gd name="connsiteY2-56" fmla="*/ 1027869 h 1058154"/>
                <a:gd name="connsiteX3-57" fmla="*/ 68 w 220240"/>
                <a:gd name="connsiteY3-58" fmla="*/ 986902 h 1058154"/>
                <a:gd name="connsiteX4-59" fmla="*/ 20385 w 220240"/>
                <a:gd name="connsiteY4-60" fmla="*/ 745656 h 1058154"/>
                <a:gd name="connsiteX0-61" fmla="*/ 20385 w 220240"/>
                <a:gd name="connsiteY0-62" fmla="*/ 745656 h 1068836"/>
                <a:gd name="connsiteX1-63" fmla="*/ 214305 w 220240"/>
                <a:gd name="connsiteY1-64" fmla="*/ 0 h 1068836"/>
                <a:gd name="connsiteX2-65" fmla="*/ 220240 w 220240"/>
                <a:gd name="connsiteY2-66" fmla="*/ 1027869 h 1068836"/>
                <a:gd name="connsiteX3-67" fmla="*/ 68 w 220240"/>
                <a:gd name="connsiteY3-68" fmla="*/ 986902 h 1068836"/>
                <a:gd name="connsiteX4-69" fmla="*/ 20385 w 220240"/>
                <a:gd name="connsiteY4-70" fmla="*/ 745656 h 1068836"/>
                <a:gd name="connsiteX0-71" fmla="*/ 15446 w 215301"/>
                <a:gd name="connsiteY0-72" fmla="*/ 745656 h 1057581"/>
                <a:gd name="connsiteX1-73" fmla="*/ 209366 w 215301"/>
                <a:gd name="connsiteY1-74" fmla="*/ 0 h 1057581"/>
                <a:gd name="connsiteX2-75" fmla="*/ 215301 w 215301"/>
                <a:gd name="connsiteY2-76" fmla="*/ 1027869 h 1057581"/>
                <a:gd name="connsiteX3-77" fmla="*/ 87 w 215301"/>
                <a:gd name="connsiteY3-78" fmla="*/ 888484 h 1057581"/>
                <a:gd name="connsiteX4-79" fmla="*/ 15446 w 215301"/>
                <a:gd name="connsiteY4-80" fmla="*/ 745656 h 1057581"/>
                <a:gd name="connsiteX0-81" fmla="*/ 15446 w 215301"/>
                <a:gd name="connsiteY0-82" fmla="*/ 745656 h 1063397"/>
                <a:gd name="connsiteX1-83" fmla="*/ 209366 w 215301"/>
                <a:gd name="connsiteY1-84" fmla="*/ 0 h 1063397"/>
                <a:gd name="connsiteX2-85" fmla="*/ 215301 w 215301"/>
                <a:gd name="connsiteY2-86" fmla="*/ 1027869 h 1063397"/>
                <a:gd name="connsiteX3-87" fmla="*/ 87 w 215301"/>
                <a:gd name="connsiteY3-88" fmla="*/ 888484 h 1063397"/>
                <a:gd name="connsiteX4-89" fmla="*/ 15446 w 215301"/>
                <a:gd name="connsiteY4-90" fmla="*/ 745656 h 1063397"/>
                <a:gd name="connsiteX0-91" fmla="*/ 15446 w 215301"/>
                <a:gd name="connsiteY0-92" fmla="*/ 745656 h 1027869"/>
                <a:gd name="connsiteX1-93" fmla="*/ 209366 w 215301"/>
                <a:gd name="connsiteY1-94" fmla="*/ 0 h 1027869"/>
                <a:gd name="connsiteX2-95" fmla="*/ 215301 w 215301"/>
                <a:gd name="connsiteY2-96" fmla="*/ 1027869 h 1027869"/>
                <a:gd name="connsiteX3-97" fmla="*/ 87 w 215301"/>
                <a:gd name="connsiteY3-98" fmla="*/ 888484 h 1027869"/>
                <a:gd name="connsiteX4-99" fmla="*/ 15446 w 215301"/>
                <a:gd name="connsiteY4-100" fmla="*/ 745656 h 1027869"/>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215301" h="1027869">
                  <a:moveTo>
                    <a:pt x="15446" y="745656"/>
                  </a:moveTo>
                  <a:lnTo>
                    <a:pt x="209366" y="0"/>
                  </a:lnTo>
                  <a:cubicBezTo>
                    <a:pt x="211344" y="342623"/>
                    <a:pt x="213323" y="685246"/>
                    <a:pt x="215301" y="1027869"/>
                  </a:cubicBezTo>
                  <a:cubicBezTo>
                    <a:pt x="115469" y="960083"/>
                    <a:pt x="99918" y="931665"/>
                    <a:pt x="87" y="888484"/>
                  </a:cubicBezTo>
                  <a:cubicBezTo>
                    <a:pt x="-1403" y="675204"/>
                    <a:pt x="16936" y="958936"/>
                    <a:pt x="15446"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35" name="Group 950"/>
            <p:cNvGrpSpPr/>
            <p:nvPr/>
          </p:nvGrpSpPr>
          <p:grpSpPr bwMode="auto">
            <a:xfrm>
              <a:off x="4990227" y="3351862"/>
              <a:ext cx="251561" cy="564103"/>
              <a:chOff x="4140" y="429"/>
              <a:chExt cx="1425" cy="2396"/>
            </a:xfrm>
          </p:grpSpPr>
          <p:sp>
            <p:nvSpPr>
              <p:cNvPr id="37"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3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39"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40"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4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2" name="Group 956"/>
              <p:cNvGrpSpPr/>
              <p:nvPr/>
            </p:nvGrpSpPr>
            <p:grpSpPr bwMode="auto">
              <a:xfrm>
                <a:off x="4749" y="668"/>
                <a:ext cx="581" cy="145"/>
                <a:chOff x="614" y="2568"/>
                <a:chExt cx="725" cy="139"/>
              </a:xfrm>
            </p:grpSpPr>
            <p:sp>
              <p:nvSpPr>
                <p:cNvPr id="67" name="AutoShape 957"/>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6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4" name="Group 960"/>
              <p:cNvGrpSpPr/>
              <p:nvPr/>
            </p:nvGrpSpPr>
            <p:grpSpPr bwMode="auto">
              <a:xfrm>
                <a:off x="4747" y="994"/>
                <a:ext cx="581" cy="134"/>
                <a:chOff x="614" y="2568"/>
                <a:chExt cx="725" cy="139"/>
              </a:xfrm>
            </p:grpSpPr>
            <p:sp>
              <p:nvSpPr>
                <p:cNvPr id="65" name="AutoShape 961"/>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6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4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47" name="Group 965"/>
              <p:cNvGrpSpPr/>
              <p:nvPr/>
            </p:nvGrpSpPr>
            <p:grpSpPr bwMode="auto">
              <a:xfrm>
                <a:off x="4735" y="1627"/>
                <a:ext cx="582" cy="151"/>
                <a:chOff x="614" y="2568"/>
                <a:chExt cx="725" cy="139"/>
              </a:xfrm>
            </p:grpSpPr>
            <p:sp>
              <p:nvSpPr>
                <p:cNvPr id="63" name="AutoShape 966"/>
                <p:cNvSpPr>
                  <a:spLocks noChangeArrowheads="1"/>
                </p:cNvSpPr>
                <p:nvPr/>
              </p:nvSpPr>
              <p:spPr bwMode="auto">
                <a:xfrm>
                  <a:off x="618" y="2586"/>
                  <a:ext cx="720" cy="124"/>
                </a:xfrm>
                <a:prstGeom prst="roundRect">
                  <a:avLst>
                    <a:gd name="adj" fmla="val 50000"/>
                  </a:avLst>
                </a:prstGeom>
                <a:solidFill>
                  <a:schemeClr val="tx1"/>
                </a:solidFill>
                <a:ln>
                  <a:noFill/>
                </a:ln>
              </p:spPr>
              <p:txBody>
                <a:bodyPr wrap="none" anchor="ctr"/>
                <a:lstStyle/>
                <a:p>
                  <a:endParaRPr lang="en-US"/>
                </a:p>
              </p:txBody>
            </p:sp>
            <p:sp>
              <p:nvSpPr>
                <p:cNvPr id="6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48"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49" name="Group 969"/>
              <p:cNvGrpSpPr/>
              <p:nvPr/>
            </p:nvGrpSpPr>
            <p:grpSpPr bwMode="auto">
              <a:xfrm>
                <a:off x="4739" y="1327"/>
                <a:ext cx="582" cy="139"/>
                <a:chOff x="614" y="2568"/>
                <a:chExt cx="725" cy="139"/>
              </a:xfrm>
            </p:grpSpPr>
            <p:sp>
              <p:nvSpPr>
                <p:cNvPr id="61" name="AutoShape 970"/>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6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5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51"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52"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53" name="Oval 975"/>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54"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5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5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57" name="Oval 979"/>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58" name="Oval 980"/>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a:solidFill>
                    <a:srgbClr val="FF0000"/>
                  </a:solidFill>
                </a:endParaRPr>
              </a:p>
            </p:txBody>
          </p:sp>
          <p:sp>
            <p:nvSpPr>
              <p:cNvPr id="59" name="Oval 981"/>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6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sp>
          <p:nvSpPr>
            <p:cNvPr id="36" name="TextBox 35"/>
            <p:cNvSpPr txBox="1"/>
            <p:nvPr/>
          </p:nvSpPr>
          <p:spPr>
            <a:xfrm>
              <a:off x="5377031" y="3090332"/>
              <a:ext cx="2659202" cy="615553"/>
            </a:xfrm>
            <a:prstGeom prst="rect">
              <a:avLst/>
            </a:prstGeom>
            <a:noFill/>
          </p:spPr>
          <p:txBody>
            <a:bodyPr wrap="none" rtlCol="0">
              <a:spAutoFit/>
            </a:bodyPr>
            <a:lstStyle/>
            <a:p>
              <a:pPr algn="ctr"/>
              <a:r>
                <a:rPr lang="en-US" dirty="0"/>
                <a:t>SDN Controller</a:t>
              </a:r>
            </a:p>
            <a:p>
              <a:pPr algn="ctr"/>
              <a:r>
                <a:rPr lang="en-US" sz="1600" dirty="0"/>
                <a:t>(network operating system)</a:t>
              </a:r>
            </a:p>
          </p:txBody>
        </p:sp>
      </p:grpSp>
      <p:sp>
        <p:nvSpPr>
          <p:cNvPr id="15" name="TextBox 14"/>
          <p:cNvSpPr txBox="1"/>
          <p:nvPr/>
        </p:nvSpPr>
        <p:spPr>
          <a:xfrm>
            <a:off x="6837708" y="1562205"/>
            <a:ext cx="595035" cy="584776"/>
          </a:xfrm>
          <a:prstGeom prst="rect">
            <a:avLst/>
          </a:prstGeom>
          <a:noFill/>
        </p:spPr>
        <p:txBody>
          <a:bodyPr wrap="none" rtlCol="0">
            <a:spAutoFit/>
          </a:bodyPr>
          <a:lstStyle/>
          <a:p>
            <a:r>
              <a:rPr lang="en-US" sz="3200" dirty="0">
                <a:solidFill>
                  <a:srgbClr val="008000"/>
                </a:solidFill>
              </a:rPr>
              <a:t>…</a:t>
            </a:r>
          </a:p>
        </p:txBody>
      </p:sp>
      <p:grpSp>
        <p:nvGrpSpPr>
          <p:cNvPr id="16" name="Group 15"/>
          <p:cNvGrpSpPr/>
          <p:nvPr/>
        </p:nvGrpSpPr>
        <p:grpSpPr>
          <a:xfrm>
            <a:off x="5165914" y="1781366"/>
            <a:ext cx="1023471" cy="590176"/>
            <a:chOff x="4721412" y="1277470"/>
            <a:chExt cx="1023471" cy="590176"/>
          </a:xfrm>
        </p:grpSpPr>
        <p:sp>
          <p:nvSpPr>
            <p:cNvPr id="31" name="Oval 30"/>
            <p:cNvSpPr/>
            <p:nvPr/>
          </p:nvSpPr>
          <p:spPr bwMode="auto">
            <a:xfrm>
              <a:off x="4721412" y="1277470"/>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 name="TextBox 31"/>
            <p:cNvSpPr txBox="1"/>
            <p:nvPr/>
          </p:nvSpPr>
          <p:spPr>
            <a:xfrm>
              <a:off x="4792385" y="1374585"/>
              <a:ext cx="890463" cy="369332"/>
            </a:xfrm>
            <a:prstGeom prst="rect">
              <a:avLst/>
            </a:prstGeom>
            <a:noFill/>
          </p:spPr>
          <p:txBody>
            <a:bodyPr wrap="none" rtlCol="0">
              <a:spAutoFit/>
            </a:bodyPr>
            <a:lstStyle/>
            <a:p>
              <a:pPr algn="ctr"/>
              <a:r>
                <a:rPr lang="en-US" dirty="0"/>
                <a:t>routing</a:t>
              </a:r>
            </a:p>
          </p:txBody>
        </p:sp>
      </p:grpSp>
      <p:grpSp>
        <p:nvGrpSpPr>
          <p:cNvPr id="17" name="Group 16"/>
          <p:cNvGrpSpPr/>
          <p:nvPr/>
        </p:nvGrpSpPr>
        <p:grpSpPr>
          <a:xfrm>
            <a:off x="6000628" y="2302316"/>
            <a:ext cx="1023471" cy="590176"/>
            <a:chOff x="6106459" y="1967753"/>
            <a:chExt cx="1023471" cy="590176"/>
          </a:xfrm>
        </p:grpSpPr>
        <p:sp>
          <p:nvSpPr>
            <p:cNvPr id="29" name="Oval 28"/>
            <p:cNvSpPr/>
            <p:nvPr/>
          </p:nvSpPr>
          <p:spPr bwMode="auto">
            <a:xfrm>
              <a:off x="6106459" y="19677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 name="TextBox 29"/>
            <p:cNvSpPr txBox="1"/>
            <p:nvPr/>
          </p:nvSpPr>
          <p:spPr>
            <a:xfrm>
              <a:off x="6177429" y="1997637"/>
              <a:ext cx="903087" cy="544765"/>
            </a:xfrm>
            <a:prstGeom prst="rect">
              <a:avLst/>
            </a:prstGeom>
            <a:noFill/>
          </p:spPr>
          <p:txBody>
            <a:bodyPr wrap="none" rtlCol="0">
              <a:spAutoFit/>
            </a:bodyPr>
            <a:lstStyle/>
            <a:p>
              <a:pPr algn="ctr">
                <a:lnSpc>
                  <a:spcPct val="80000"/>
                </a:lnSpc>
              </a:pPr>
              <a:r>
                <a:rPr lang="en-US" dirty="0"/>
                <a:t>access </a:t>
              </a:r>
            </a:p>
            <a:p>
              <a:pPr algn="ctr">
                <a:lnSpc>
                  <a:spcPct val="80000"/>
                </a:lnSpc>
              </a:pPr>
              <a:r>
                <a:rPr lang="en-US" dirty="0"/>
                <a:t>control</a:t>
              </a:r>
            </a:p>
          </p:txBody>
        </p:sp>
      </p:grpSp>
      <p:grpSp>
        <p:nvGrpSpPr>
          <p:cNvPr id="18" name="Group 17"/>
          <p:cNvGrpSpPr/>
          <p:nvPr/>
        </p:nvGrpSpPr>
        <p:grpSpPr>
          <a:xfrm>
            <a:off x="7230837" y="2260771"/>
            <a:ext cx="1023471" cy="590176"/>
            <a:chOff x="6938682" y="977153"/>
            <a:chExt cx="1023471" cy="590176"/>
          </a:xfrm>
        </p:grpSpPr>
        <p:sp>
          <p:nvSpPr>
            <p:cNvPr id="27" name="Oval 26"/>
            <p:cNvSpPr/>
            <p:nvPr/>
          </p:nvSpPr>
          <p:spPr bwMode="auto">
            <a:xfrm>
              <a:off x="6938682" y="9771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 name="TextBox 27"/>
            <p:cNvSpPr txBox="1"/>
            <p:nvPr/>
          </p:nvSpPr>
          <p:spPr>
            <a:xfrm>
              <a:off x="6964568" y="1007037"/>
              <a:ext cx="993256" cy="544765"/>
            </a:xfrm>
            <a:prstGeom prst="rect">
              <a:avLst/>
            </a:prstGeom>
            <a:noFill/>
          </p:spPr>
          <p:txBody>
            <a:bodyPr wrap="none" rtlCol="0">
              <a:spAutoFit/>
            </a:bodyPr>
            <a:lstStyle/>
            <a:p>
              <a:pPr algn="ctr">
                <a:lnSpc>
                  <a:spcPct val="80000"/>
                </a:lnSpc>
              </a:pPr>
              <a:r>
                <a:rPr lang="en-US" dirty="0"/>
                <a:t>load</a:t>
              </a:r>
            </a:p>
            <a:p>
              <a:pPr algn="ctr">
                <a:lnSpc>
                  <a:spcPct val="80000"/>
                </a:lnSpc>
              </a:pPr>
              <a:r>
                <a:rPr lang="en-US" dirty="0"/>
                <a:t>balance</a:t>
              </a:r>
            </a:p>
          </p:txBody>
        </p:sp>
      </p:grpSp>
      <p:cxnSp>
        <p:nvCxnSpPr>
          <p:cNvPr id="19" name="Straight Arrow Connector 18"/>
          <p:cNvCxnSpPr/>
          <p:nvPr/>
        </p:nvCxnSpPr>
        <p:spPr bwMode="auto">
          <a:xfrm flipV="1">
            <a:off x="8627245" y="1721848"/>
            <a:ext cx="0" cy="1248832"/>
          </a:xfrm>
          <a:prstGeom prst="straightConnector1">
            <a:avLst/>
          </a:prstGeom>
          <a:solidFill>
            <a:schemeClr val="accent1"/>
          </a:solidFill>
          <a:ln w="9525" cap="flat" cmpd="sng" algn="ctr">
            <a:solidFill>
              <a:schemeClr val="tx1"/>
            </a:solidFill>
            <a:prstDash val="solid"/>
            <a:round/>
            <a:headEnd type="none" w="med" len="med"/>
            <a:tailEnd type="triangle"/>
          </a:ln>
          <a:effectLst/>
        </p:spPr>
      </p:cxnSp>
      <p:cxnSp>
        <p:nvCxnSpPr>
          <p:cNvPr id="20" name="Straight Arrow Connector 19"/>
          <p:cNvCxnSpPr/>
          <p:nvPr/>
        </p:nvCxnSpPr>
        <p:spPr bwMode="auto">
          <a:xfrm>
            <a:off x="8652645" y="3470081"/>
            <a:ext cx="0" cy="1524424"/>
          </a:xfrm>
          <a:prstGeom prst="straightConnector1">
            <a:avLst/>
          </a:prstGeom>
          <a:solidFill>
            <a:schemeClr val="accent1"/>
          </a:solidFill>
          <a:ln w="9525" cap="flat" cmpd="sng" algn="ctr">
            <a:solidFill>
              <a:schemeClr val="tx1"/>
            </a:solidFill>
            <a:prstDash val="solid"/>
            <a:round/>
            <a:headEnd type="none" w="med" len="med"/>
            <a:tailEnd type="triangle"/>
          </a:ln>
          <a:effectLst/>
        </p:spPr>
      </p:cxnSp>
      <p:cxnSp>
        <p:nvCxnSpPr>
          <p:cNvPr id="21" name="Straight Arrow Connector 20"/>
          <p:cNvCxnSpPr/>
          <p:nvPr/>
        </p:nvCxnSpPr>
        <p:spPr bwMode="auto">
          <a:xfrm>
            <a:off x="8661016" y="5885529"/>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p:spPr>
      </p:cxnSp>
      <p:cxnSp>
        <p:nvCxnSpPr>
          <p:cNvPr id="22" name="Straight Arrow Connector 21"/>
          <p:cNvCxnSpPr/>
          <p:nvPr/>
        </p:nvCxnSpPr>
        <p:spPr bwMode="auto">
          <a:xfrm flipV="1">
            <a:off x="8653320" y="5049925"/>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p:spPr>
      </p:cxnSp>
      <p:sp>
        <p:nvSpPr>
          <p:cNvPr id="23" name="TextBox 399"/>
          <p:cNvSpPr txBox="1">
            <a:spLocks noChangeArrowheads="1"/>
          </p:cNvSpPr>
          <p:nvPr/>
        </p:nvSpPr>
        <p:spPr bwMode="auto">
          <a:xfrm>
            <a:off x="6650715" y="4739499"/>
            <a:ext cx="1635889" cy="284586"/>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i="1" dirty="0"/>
              <a:t>southbound API</a:t>
            </a:r>
          </a:p>
        </p:txBody>
      </p:sp>
      <p:sp>
        <p:nvSpPr>
          <p:cNvPr id="24" name="TextBox 399"/>
          <p:cNvSpPr txBox="1">
            <a:spLocks noChangeArrowheads="1"/>
          </p:cNvSpPr>
          <p:nvPr/>
        </p:nvSpPr>
        <p:spPr bwMode="auto">
          <a:xfrm>
            <a:off x="6646778" y="3221681"/>
            <a:ext cx="1635889" cy="284586"/>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i="1" dirty="0"/>
              <a:t>northbound API</a:t>
            </a:r>
          </a:p>
        </p:txBody>
      </p:sp>
      <p:sp>
        <p:nvSpPr>
          <p:cNvPr id="25" name="TextBox 399"/>
          <p:cNvSpPr txBox="1">
            <a:spLocks noChangeArrowheads="1"/>
          </p:cNvSpPr>
          <p:nvPr/>
        </p:nvSpPr>
        <p:spPr bwMode="auto">
          <a:xfrm>
            <a:off x="5507651" y="6299618"/>
            <a:ext cx="2302688" cy="284586"/>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i="1" dirty="0"/>
              <a:t>SDN-controlled switches</a:t>
            </a:r>
          </a:p>
        </p:txBody>
      </p:sp>
      <p:sp>
        <p:nvSpPr>
          <p:cNvPr id="26" name="TextBox 399"/>
          <p:cNvSpPr txBox="1">
            <a:spLocks noChangeArrowheads="1"/>
          </p:cNvSpPr>
          <p:nvPr/>
        </p:nvSpPr>
        <p:spPr bwMode="auto">
          <a:xfrm>
            <a:off x="5707907" y="1414364"/>
            <a:ext cx="2381659" cy="284586"/>
          </a:xfrm>
          <a:prstGeom prst="rect">
            <a:avLst/>
          </a:prstGeom>
          <a:noFill/>
          <a:ln>
            <a:noFill/>
          </a:ln>
        </p:spPr>
        <p:txBody>
          <a:bodyPr wrap="squar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ctr">
              <a:lnSpc>
                <a:spcPts val="1465"/>
              </a:lnSpc>
            </a:pPr>
            <a:r>
              <a:rPr lang="en-US" sz="1400" i="1" dirty="0"/>
              <a:t>network-control applications</a:t>
            </a:r>
          </a:p>
        </p:txBody>
      </p:sp>
      <p:sp>
        <p:nvSpPr>
          <p:cNvPr id="128" name="Rectangle 127"/>
          <p:cNvSpPr/>
          <p:nvPr/>
        </p:nvSpPr>
        <p:spPr bwMode="auto">
          <a:xfrm>
            <a:off x="4697273" y="3090498"/>
            <a:ext cx="3549731" cy="3442387"/>
          </a:xfrm>
          <a:prstGeom prst="rect">
            <a:avLst/>
          </a:prstGeom>
          <a:solidFill>
            <a:schemeClr val="bg1">
              <a:alpha val="71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9" name="Slide Number Placeholder 5"/>
          <p:cNvSpPr>
            <a:spLocks noGrp="1"/>
          </p:cNvSpPr>
          <p:nvPr>
            <p:ph type="sldNum" sz="quarter" idx="12"/>
          </p:nvPr>
        </p:nvSpPr>
        <p:spPr>
          <a:xfrm>
            <a:off x="2226470"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98</a:t>
            </a:fld>
            <a:endParaRPr lang="en-US" sz="1200" dirty="0">
              <a:latin typeface="Tahoma" panose="020B0604030504040204" charset="0"/>
            </a:endParaRPr>
          </a:p>
        </p:txBody>
      </p:sp>
      <p:sp>
        <p:nvSpPr>
          <p:cNvPr id="130" name="Footer Placeholder 2"/>
          <p:cNvSpPr>
            <a:spLocks noGrp="1"/>
          </p:cNvSpPr>
          <p:nvPr>
            <p:ph type="ftr" sz="quarter" idx="11"/>
          </p:nvPr>
        </p:nvSpPr>
        <p:spPr>
          <a:xfrm>
            <a:off x="145812"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 name="Rectangle 221"/>
          <p:cNvSpPr/>
          <p:nvPr/>
        </p:nvSpPr>
        <p:spPr bwMode="auto">
          <a:xfrm>
            <a:off x="2341231" y="2082088"/>
            <a:ext cx="5228030" cy="356867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cxnSp>
        <p:nvCxnSpPr>
          <p:cNvPr id="438" name="Straight Connector 437"/>
          <p:cNvCxnSpPr>
            <a:endCxn id="217" idx="4"/>
          </p:cNvCxnSpPr>
          <p:nvPr/>
        </p:nvCxnSpPr>
        <p:spPr bwMode="auto">
          <a:xfrm flipH="1" flipV="1">
            <a:off x="5777281" y="1910774"/>
            <a:ext cx="605" cy="407737"/>
          </a:xfrm>
          <a:prstGeom prst="line">
            <a:avLst/>
          </a:prstGeom>
          <a:solidFill>
            <a:schemeClr val="accent1"/>
          </a:solidFill>
          <a:ln w="9525" cap="flat" cmpd="sng" algn="ctr">
            <a:solidFill>
              <a:schemeClr val="bg2">
                <a:lumMod val="75000"/>
              </a:schemeClr>
            </a:solidFill>
            <a:prstDash val="sysDash"/>
            <a:round/>
            <a:headEnd type="none" w="med" len="med"/>
            <a:tailEnd type="none" w="med" len="med"/>
          </a:ln>
          <a:effectLst/>
        </p:spPr>
      </p:cxnSp>
      <p:sp>
        <p:nvSpPr>
          <p:cNvPr id="375" name="Rounded Rectangle 374"/>
          <p:cNvSpPr/>
          <p:nvPr/>
        </p:nvSpPr>
        <p:spPr>
          <a:xfrm>
            <a:off x="2479739" y="3165861"/>
            <a:ext cx="4945030" cy="1553784"/>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380" name="Rounded Rectangle 379"/>
          <p:cNvSpPr/>
          <p:nvPr/>
        </p:nvSpPr>
        <p:spPr>
          <a:xfrm>
            <a:off x="2479739" y="4779178"/>
            <a:ext cx="4959028" cy="737977"/>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cxnSp>
        <p:nvCxnSpPr>
          <p:cNvPr id="386" name="Straight Connector 385"/>
          <p:cNvCxnSpPr/>
          <p:nvPr/>
        </p:nvCxnSpPr>
        <p:spPr bwMode="auto">
          <a:xfrm>
            <a:off x="2564746" y="5687428"/>
            <a:ext cx="4860022" cy="0"/>
          </a:xfrm>
          <a:prstGeom prst="line">
            <a:avLst/>
          </a:prstGeom>
          <a:solidFill>
            <a:schemeClr val="accent1"/>
          </a:solidFill>
          <a:ln w="19050" cap="flat" cmpd="sng" algn="ctr">
            <a:solidFill>
              <a:schemeClr val="tx1"/>
            </a:solidFill>
            <a:prstDash val="dash"/>
            <a:round/>
            <a:headEnd type="none" w="med" len="med"/>
            <a:tailEnd type="none" w="med" len="med"/>
          </a:ln>
          <a:effectLst/>
        </p:spPr>
      </p:cxnSp>
      <p:sp>
        <p:nvSpPr>
          <p:cNvPr id="389" name="TextBox 388"/>
          <p:cNvSpPr txBox="1"/>
          <p:nvPr/>
        </p:nvSpPr>
        <p:spPr>
          <a:xfrm>
            <a:off x="2496429" y="3773215"/>
            <a:ext cx="5089063" cy="325730"/>
          </a:xfrm>
          <a:prstGeom prst="rect">
            <a:avLst/>
          </a:prstGeom>
          <a:noFill/>
        </p:spPr>
        <p:txBody>
          <a:bodyPr wrap="square" rtlCol="0">
            <a:spAutoFit/>
          </a:bodyPr>
          <a:lstStyle/>
          <a:p>
            <a:pPr>
              <a:lnSpc>
                <a:spcPts val="1800"/>
              </a:lnSpc>
            </a:pPr>
            <a:r>
              <a:rPr lang="en-US" sz="1600" dirty="0">
                <a:latin typeface="Arial" panose="020B0604020202090204"/>
                <a:cs typeface="Arial" panose="020B0604020202090204"/>
              </a:rPr>
              <a:t>Network-wide distributed, robust  state management</a:t>
            </a:r>
          </a:p>
        </p:txBody>
      </p:sp>
      <p:sp>
        <p:nvSpPr>
          <p:cNvPr id="390" name="TextBox 389"/>
          <p:cNvSpPr txBox="1"/>
          <p:nvPr/>
        </p:nvSpPr>
        <p:spPr>
          <a:xfrm>
            <a:off x="2884907" y="5171961"/>
            <a:ext cx="4033912" cy="325730"/>
          </a:xfrm>
          <a:prstGeom prst="rect">
            <a:avLst/>
          </a:prstGeom>
          <a:noFill/>
        </p:spPr>
        <p:txBody>
          <a:bodyPr wrap="square" rtlCol="0">
            <a:spAutoFit/>
          </a:bodyPr>
          <a:lstStyle/>
          <a:p>
            <a:pPr>
              <a:lnSpc>
                <a:spcPts val="1800"/>
              </a:lnSpc>
            </a:pPr>
            <a:r>
              <a:rPr lang="en-US" sz="1600" dirty="0">
                <a:latin typeface="Arial" panose="020B0604020202090204"/>
                <a:cs typeface="Arial" panose="020B0604020202090204"/>
              </a:rPr>
              <a:t>Communication to/from controlled devices</a:t>
            </a:r>
          </a:p>
        </p:txBody>
      </p:sp>
      <p:grpSp>
        <p:nvGrpSpPr>
          <p:cNvPr id="401" name="Group 400"/>
          <p:cNvGrpSpPr/>
          <p:nvPr/>
        </p:nvGrpSpPr>
        <p:grpSpPr>
          <a:xfrm>
            <a:off x="2798837" y="4140643"/>
            <a:ext cx="1244650" cy="459826"/>
            <a:chOff x="3128876" y="457817"/>
            <a:chExt cx="1432326" cy="459826"/>
          </a:xfrm>
        </p:grpSpPr>
        <p:sp>
          <p:nvSpPr>
            <p:cNvPr id="402" name="Rounded Rectangle 40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03" name="TextBox 402"/>
            <p:cNvSpPr txBox="1"/>
            <p:nvPr/>
          </p:nvSpPr>
          <p:spPr>
            <a:xfrm>
              <a:off x="3198388" y="541671"/>
              <a:ext cx="1302385"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Link-state info</a:t>
              </a:r>
            </a:p>
          </p:txBody>
        </p:sp>
      </p:grpSp>
      <p:grpSp>
        <p:nvGrpSpPr>
          <p:cNvPr id="404" name="Group 403"/>
          <p:cNvGrpSpPr/>
          <p:nvPr/>
        </p:nvGrpSpPr>
        <p:grpSpPr>
          <a:xfrm>
            <a:off x="5882441" y="4140643"/>
            <a:ext cx="1022824" cy="459826"/>
            <a:chOff x="3086839" y="457817"/>
            <a:chExt cx="1525489" cy="459826"/>
          </a:xfrm>
        </p:grpSpPr>
        <p:sp>
          <p:nvSpPr>
            <p:cNvPr id="405" name="Rounded Rectangle 404"/>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06" name="TextBox 405"/>
            <p:cNvSpPr txBox="1"/>
            <p:nvPr/>
          </p:nvSpPr>
          <p:spPr>
            <a:xfrm>
              <a:off x="3086839" y="541671"/>
              <a:ext cx="1525489"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switch info</a:t>
              </a:r>
            </a:p>
          </p:txBody>
        </p:sp>
      </p:grpSp>
      <p:grpSp>
        <p:nvGrpSpPr>
          <p:cNvPr id="407" name="Group 406"/>
          <p:cNvGrpSpPr/>
          <p:nvPr/>
        </p:nvGrpSpPr>
        <p:grpSpPr>
          <a:xfrm>
            <a:off x="4190969" y="4140643"/>
            <a:ext cx="960359" cy="459826"/>
            <a:chOff x="3128876" y="457817"/>
            <a:chExt cx="1432326" cy="459826"/>
          </a:xfrm>
        </p:grpSpPr>
        <p:sp>
          <p:nvSpPr>
            <p:cNvPr id="408" name="Rounded Rectangle 407"/>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09" name="TextBox 408"/>
            <p:cNvSpPr txBox="1"/>
            <p:nvPr/>
          </p:nvSpPr>
          <p:spPr>
            <a:xfrm>
              <a:off x="3205754" y="541671"/>
              <a:ext cx="1287660"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host info</a:t>
              </a:r>
            </a:p>
          </p:txBody>
        </p:sp>
      </p:grpSp>
      <p:grpSp>
        <p:nvGrpSpPr>
          <p:cNvPr id="410" name="Group 409"/>
          <p:cNvGrpSpPr/>
          <p:nvPr/>
        </p:nvGrpSpPr>
        <p:grpSpPr>
          <a:xfrm>
            <a:off x="3647075" y="3277496"/>
            <a:ext cx="889706" cy="459826"/>
            <a:chOff x="3128876" y="457817"/>
            <a:chExt cx="1432326" cy="459826"/>
          </a:xfrm>
        </p:grpSpPr>
        <p:sp>
          <p:nvSpPr>
            <p:cNvPr id="411" name="Rounded Rectangle 410"/>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12" name="TextBox 411"/>
            <p:cNvSpPr txBox="1"/>
            <p:nvPr/>
          </p:nvSpPr>
          <p:spPr>
            <a:xfrm>
              <a:off x="3198565" y="541671"/>
              <a:ext cx="1302042"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statistics</a:t>
              </a:r>
            </a:p>
          </p:txBody>
        </p:sp>
      </p:grpSp>
      <p:grpSp>
        <p:nvGrpSpPr>
          <p:cNvPr id="413" name="Group 412"/>
          <p:cNvGrpSpPr/>
          <p:nvPr/>
        </p:nvGrpSpPr>
        <p:grpSpPr>
          <a:xfrm>
            <a:off x="5445049" y="3289355"/>
            <a:ext cx="1032905" cy="459826"/>
            <a:chOff x="3079326" y="457817"/>
            <a:chExt cx="1540525" cy="459826"/>
          </a:xfrm>
        </p:grpSpPr>
        <p:sp>
          <p:nvSpPr>
            <p:cNvPr id="414" name="Rounded Rectangle 413"/>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15" name="TextBox 414"/>
            <p:cNvSpPr txBox="1"/>
            <p:nvPr/>
          </p:nvSpPr>
          <p:spPr>
            <a:xfrm>
              <a:off x="3079326" y="541671"/>
              <a:ext cx="1540525"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flow tables</a:t>
              </a:r>
            </a:p>
          </p:txBody>
        </p:sp>
      </p:grpSp>
      <p:sp>
        <p:nvSpPr>
          <p:cNvPr id="416" name="TextBox 415"/>
          <p:cNvSpPr txBox="1"/>
          <p:nvPr/>
        </p:nvSpPr>
        <p:spPr>
          <a:xfrm>
            <a:off x="4667424" y="3073206"/>
            <a:ext cx="570238" cy="1077218"/>
          </a:xfrm>
          <a:prstGeom prst="rect">
            <a:avLst/>
          </a:prstGeom>
          <a:noFill/>
        </p:spPr>
        <p:txBody>
          <a:bodyPr wrap="square" rtlCol="0">
            <a:spAutoFit/>
          </a:bodyPr>
          <a:lstStyle/>
          <a:p>
            <a:r>
              <a:rPr lang="en-US" sz="3200" dirty="0">
                <a:solidFill>
                  <a:schemeClr val="accent1">
                    <a:lumMod val="60000"/>
                    <a:lumOff val="40000"/>
                  </a:schemeClr>
                </a:solidFill>
              </a:rPr>
              <a:t>…  </a:t>
            </a:r>
          </a:p>
        </p:txBody>
      </p:sp>
      <p:sp>
        <p:nvSpPr>
          <p:cNvPr id="417" name="TextBox 416"/>
          <p:cNvSpPr txBox="1"/>
          <p:nvPr/>
        </p:nvSpPr>
        <p:spPr>
          <a:xfrm>
            <a:off x="5213945" y="3979419"/>
            <a:ext cx="595035"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grpSp>
        <p:nvGrpSpPr>
          <p:cNvPr id="418" name="Group 417"/>
          <p:cNvGrpSpPr/>
          <p:nvPr/>
        </p:nvGrpSpPr>
        <p:grpSpPr>
          <a:xfrm>
            <a:off x="3400736" y="4871857"/>
            <a:ext cx="1257452" cy="286824"/>
            <a:chOff x="3128876" y="457775"/>
            <a:chExt cx="1432326" cy="459868"/>
          </a:xfrm>
        </p:grpSpPr>
        <p:sp>
          <p:nvSpPr>
            <p:cNvPr id="419" name="Rounded Rectangle 41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20" name="TextBox 419"/>
            <p:cNvSpPr txBox="1"/>
            <p:nvPr/>
          </p:nvSpPr>
          <p:spPr>
            <a:xfrm>
              <a:off x="3278378" y="457775"/>
              <a:ext cx="1142401"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OpenFlow</a:t>
              </a:r>
            </a:p>
          </p:txBody>
        </p:sp>
      </p:grpSp>
      <p:grpSp>
        <p:nvGrpSpPr>
          <p:cNvPr id="421" name="Group 420"/>
          <p:cNvGrpSpPr/>
          <p:nvPr/>
        </p:nvGrpSpPr>
        <p:grpSpPr>
          <a:xfrm>
            <a:off x="5269968" y="4876640"/>
            <a:ext cx="1244650" cy="307410"/>
            <a:chOff x="3128876" y="457817"/>
            <a:chExt cx="1432326" cy="459826"/>
          </a:xfrm>
        </p:grpSpPr>
        <p:sp>
          <p:nvSpPr>
            <p:cNvPr id="422" name="Rounded Rectangle 42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23" name="TextBox 422"/>
            <p:cNvSpPr txBox="1"/>
            <p:nvPr/>
          </p:nvSpPr>
          <p:spPr>
            <a:xfrm>
              <a:off x="3446730" y="484746"/>
              <a:ext cx="805702"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SNMP</a:t>
              </a:r>
            </a:p>
          </p:txBody>
        </p:sp>
      </p:grpSp>
      <p:sp>
        <p:nvSpPr>
          <p:cNvPr id="424" name="TextBox 423"/>
          <p:cNvSpPr txBox="1"/>
          <p:nvPr/>
        </p:nvSpPr>
        <p:spPr>
          <a:xfrm>
            <a:off x="4652725" y="4585147"/>
            <a:ext cx="595035"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cxnSp>
        <p:nvCxnSpPr>
          <p:cNvPr id="436" name="Straight Connector 435"/>
          <p:cNvCxnSpPr>
            <a:endCxn id="211" idx="4"/>
          </p:cNvCxnSpPr>
          <p:nvPr/>
        </p:nvCxnSpPr>
        <p:spPr bwMode="auto">
          <a:xfrm flipV="1">
            <a:off x="3368749" y="1866354"/>
            <a:ext cx="4943" cy="388092"/>
          </a:xfrm>
          <a:prstGeom prst="line">
            <a:avLst/>
          </a:prstGeom>
          <a:solidFill>
            <a:schemeClr val="accent1"/>
          </a:solidFill>
          <a:ln w="9525" cap="flat" cmpd="sng" algn="ctr">
            <a:solidFill>
              <a:schemeClr val="bg2">
                <a:lumMod val="75000"/>
              </a:schemeClr>
            </a:solidFill>
            <a:prstDash val="sysDash"/>
            <a:round/>
            <a:headEnd type="none" w="med" len="med"/>
            <a:tailEnd type="none" w="med" len="med"/>
          </a:ln>
          <a:effectLst/>
        </p:spPr>
      </p:cxnSp>
      <p:cxnSp>
        <p:nvCxnSpPr>
          <p:cNvPr id="437" name="Straight Connector 436"/>
          <p:cNvCxnSpPr>
            <a:endCxn id="215" idx="2"/>
          </p:cNvCxnSpPr>
          <p:nvPr/>
        </p:nvCxnSpPr>
        <p:spPr bwMode="auto">
          <a:xfrm flipH="1" flipV="1">
            <a:off x="4598166" y="1876324"/>
            <a:ext cx="5609" cy="302391"/>
          </a:xfrm>
          <a:prstGeom prst="line">
            <a:avLst/>
          </a:prstGeom>
          <a:solidFill>
            <a:schemeClr val="accent1"/>
          </a:solidFill>
          <a:ln w="9525" cap="flat" cmpd="sng" algn="ctr">
            <a:solidFill>
              <a:schemeClr val="bg2">
                <a:lumMod val="75000"/>
              </a:schemeClr>
            </a:solidFill>
            <a:prstDash val="sysDash"/>
            <a:round/>
            <a:headEnd type="none" w="med" len="med"/>
            <a:tailEnd type="none" w="med" len="med"/>
          </a:ln>
          <a:effectLst/>
        </p:spPr>
      </p:cxnSp>
      <p:cxnSp>
        <p:nvCxnSpPr>
          <p:cNvPr id="148" name="Straight Connector 147"/>
          <p:cNvCxnSpPr/>
          <p:nvPr/>
        </p:nvCxnSpPr>
        <p:spPr bwMode="auto">
          <a:xfrm>
            <a:off x="2606437" y="2342893"/>
            <a:ext cx="4818331" cy="0"/>
          </a:xfrm>
          <a:prstGeom prst="line">
            <a:avLst/>
          </a:prstGeom>
          <a:solidFill>
            <a:schemeClr val="accent1"/>
          </a:solidFill>
          <a:ln w="19050" cap="flat" cmpd="sng" algn="ctr">
            <a:solidFill>
              <a:schemeClr val="tx1"/>
            </a:solidFill>
            <a:prstDash val="dash"/>
            <a:round/>
            <a:headEnd type="none" w="med" len="med"/>
            <a:tailEnd type="none" w="med" len="med"/>
          </a:ln>
          <a:effectLst/>
        </p:spPr>
      </p:cxnSp>
      <p:sp>
        <p:nvSpPr>
          <p:cNvPr id="146" name="Rounded Rectangle 145"/>
          <p:cNvSpPr/>
          <p:nvPr/>
        </p:nvSpPr>
        <p:spPr>
          <a:xfrm>
            <a:off x="2479739" y="2182258"/>
            <a:ext cx="4951677" cy="932987"/>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grpSp>
        <p:nvGrpSpPr>
          <p:cNvPr id="425" name="Group 424"/>
          <p:cNvGrpSpPr/>
          <p:nvPr/>
        </p:nvGrpSpPr>
        <p:grpSpPr>
          <a:xfrm>
            <a:off x="2969133" y="2550631"/>
            <a:ext cx="1033900" cy="504412"/>
            <a:chOff x="3103238" y="432317"/>
            <a:chExt cx="1461287" cy="504412"/>
          </a:xfrm>
        </p:grpSpPr>
        <p:sp>
          <p:nvSpPr>
            <p:cNvPr id="426" name="Rounded Rectangle 425"/>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27" name="TextBox 426"/>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400" dirty="0">
                  <a:latin typeface="Arial" panose="020B0604020202090204"/>
                  <a:cs typeface="Arial" panose="020B0604020202090204"/>
                </a:rPr>
                <a:t>network graph</a:t>
              </a:r>
            </a:p>
          </p:txBody>
        </p:sp>
      </p:grpSp>
      <p:grpSp>
        <p:nvGrpSpPr>
          <p:cNvPr id="428" name="Group 427"/>
          <p:cNvGrpSpPr/>
          <p:nvPr/>
        </p:nvGrpSpPr>
        <p:grpSpPr>
          <a:xfrm>
            <a:off x="5936687" y="2596585"/>
            <a:ext cx="1033900" cy="459826"/>
            <a:chOff x="3103238" y="457817"/>
            <a:chExt cx="1461287" cy="459826"/>
          </a:xfrm>
        </p:grpSpPr>
        <p:sp>
          <p:nvSpPr>
            <p:cNvPr id="429" name="Rounded Rectangle 42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30" name="TextBox 429"/>
            <p:cNvSpPr txBox="1"/>
            <p:nvPr/>
          </p:nvSpPr>
          <p:spPr>
            <a:xfrm>
              <a:off x="3103238" y="553253"/>
              <a:ext cx="1461287" cy="299227"/>
            </a:xfrm>
            <a:prstGeom prst="rect">
              <a:avLst/>
            </a:prstGeom>
            <a:noFill/>
          </p:spPr>
          <p:txBody>
            <a:bodyPr wrap="square" rtlCol="0">
              <a:spAutoFit/>
            </a:bodyPr>
            <a:lstStyle/>
            <a:p>
              <a:pPr algn="ctr">
                <a:lnSpc>
                  <a:spcPts val="1600"/>
                </a:lnSpc>
              </a:pPr>
              <a:r>
                <a:rPr lang="en-US" sz="1400" dirty="0">
                  <a:latin typeface="Arial" panose="020B0604020202090204"/>
                  <a:cs typeface="Arial" panose="020B0604020202090204"/>
                </a:rPr>
                <a:t>intent</a:t>
              </a:r>
            </a:p>
          </p:txBody>
        </p:sp>
      </p:grpSp>
      <p:grpSp>
        <p:nvGrpSpPr>
          <p:cNvPr id="431" name="Group 430"/>
          <p:cNvGrpSpPr/>
          <p:nvPr/>
        </p:nvGrpSpPr>
        <p:grpSpPr>
          <a:xfrm>
            <a:off x="4160760" y="2549087"/>
            <a:ext cx="1033900" cy="504412"/>
            <a:chOff x="3103238" y="432317"/>
            <a:chExt cx="1461287" cy="504412"/>
          </a:xfrm>
        </p:grpSpPr>
        <p:sp>
          <p:nvSpPr>
            <p:cNvPr id="432" name="Rounded Rectangle 43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33" name="TextBox 432"/>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400" dirty="0" err="1">
                  <a:latin typeface="Arial" panose="020B0604020202090204"/>
                  <a:cs typeface="Arial" panose="020B0604020202090204"/>
                </a:rPr>
                <a:t>RESTful</a:t>
              </a:r>
              <a:endParaRPr lang="en-US" sz="1400" dirty="0">
                <a:latin typeface="Arial" panose="020B0604020202090204"/>
                <a:cs typeface="Arial" panose="020B0604020202090204"/>
              </a:endParaRPr>
            </a:p>
            <a:p>
              <a:pPr algn="ctr">
                <a:lnSpc>
                  <a:spcPts val="1600"/>
                </a:lnSpc>
              </a:pPr>
              <a:r>
                <a:rPr lang="en-US" sz="1400" dirty="0">
                  <a:latin typeface="Arial" panose="020B0604020202090204"/>
                  <a:cs typeface="Arial" panose="020B0604020202090204"/>
                </a:rPr>
                <a:t>API</a:t>
              </a:r>
            </a:p>
          </p:txBody>
        </p:sp>
      </p:grpSp>
      <p:sp>
        <p:nvSpPr>
          <p:cNvPr id="434" name="TextBox 433"/>
          <p:cNvSpPr txBox="1"/>
          <p:nvPr/>
        </p:nvSpPr>
        <p:spPr>
          <a:xfrm>
            <a:off x="5282722" y="2399633"/>
            <a:ext cx="627904"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sp>
        <p:nvSpPr>
          <p:cNvPr id="391" name="TextBox 390"/>
          <p:cNvSpPr txBox="1"/>
          <p:nvPr/>
        </p:nvSpPr>
        <p:spPr>
          <a:xfrm>
            <a:off x="2710618" y="2216488"/>
            <a:ext cx="4914815" cy="325730"/>
          </a:xfrm>
          <a:prstGeom prst="rect">
            <a:avLst/>
          </a:prstGeom>
          <a:noFill/>
        </p:spPr>
        <p:txBody>
          <a:bodyPr wrap="square" rtlCol="0">
            <a:spAutoFit/>
          </a:bodyPr>
          <a:lstStyle/>
          <a:p>
            <a:pPr>
              <a:lnSpc>
                <a:spcPts val="1800"/>
              </a:lnSpc>
            </a:pPr>
            <a:r>
              <a:rPr lang="en-US" sz="1600" dirty="0">
                <a:latin typeface="Arial" panose="020B0604020202090204"/>
                <a:cs typeface="Arial" panose="020B0604020202090204"/>
              </a:rPr>
              <a:t>Interface, abstractions for network control apps</a:t>
            </a:r>
          </a:p>
        </p:txBody>
      </p:sp>
      <p:cxnSp>
        <p:nvCxnSpPr>
          <p:cNvPr id="549" name="Straight Connector 548"/>
          <p:cNvCxnSpPr/>
          <p:nvPr/>
        </p:nvCxnSpPr>
        <p:spPr bwMode="auto">
          <a:xfrm>
            <a:off x="2561183" y="2010842"/>
            <a:ext cx="4753400" cy="19546"/>
          </a:xfrm>
          <a:prstGeom prst="line">
            <a:avLst/>
          </a:prstGeom>
          <a:solidFill>
            <a:schemeClr val="accent1"/>
          </a:solidFill>
          <a:ln w="19050" cap="flat" cmpd="sng" algn="ctr">
            <a:solidFill>
              <a:schemeClr val="tx1"/>
            </a:solidFill>
            <a:prstDash val="dash"/>
            <a:round/>
            <a:headEnd type="none" w="med" len="med"/>
            <a:tailEnd type="none" w="med" len="med"/>
          </a:ln>
          <a:effectLst/>
        </p:spPr>
      </p:cxnSp>
      <p:sp>
        <p:nvSpPr>
          <p:cNvPr id="16" name="TextBox 15"/>
          <p:cNvSpPr txBox="1"/>
          <p:nvPr/>
        </p:nvSpPr>
        <p:spPr>
          <a:xfrm>
            <a:off x="7493875" y="3521589"/>
            <a:ext cx="1462270" cy="830997"/>
          </a:xfrm>
          <a:prstGeom prst="rect">
            <a:avLst/>
          </a:prstGeom>
          <a:noFill/>
        </p:spPr>
        <p:txBody>
          <a:bodyPr wrap="square" rtlCol="0">
            <a:spAutoFit/>
          </a:bodyPr>
          <a:lstStyle/>
          <a:p>
            <a:pPr algn="ctr"/>
            <a:r>
              <a:rPr lang="en-US" sz="2400" dirty="0"/>
              <a:t>SDN</a:t>
            </a:r>
          </a:p>
          <a:p>
            <a:pPr algn="ctr"/>
            <a:r>
              <a:rPr lang="en-US" sz="2400" dirty="0"/>
              <a:t>controller</a:t>
            </a:r>
          </a:p>
        </p:txBody>
      </p:sp>
      <p:grpSp>
        <p:nvGrpSpPr>
          <p:cNvPr id="147" name="Group 146"/>
          <p:cNvGrpSpPr/>
          <p:nvPr/>
        </p:nvGrpSpPr>
        <p:grpSpPr>
          <a:xfrm>
            <a:off x="3471457" y="5780474"/>
            <a:ext cx="2979208" cy="973667"/>
            <a:chOff x="2592388" y="5601756"/>
            <a:chExt cx="4027487" cy="939800"/>
          </a:xfrm>
        </p:grpSpPr>
        <p:sp>
          <p:nvSpPr>
            <p:cNvPr id="149" name="Freeform 2"/>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p:spPr>
          <p:txBody>
            <a:bodyPr wrap="none" anchor="ctr"/>
            <a:lstStyle/>
            <a:p>
              <a:endParaRPr lang="en-US"/>
            </a:p>
          </p:txBody>
        </p:sp>
        <p:cxnSp>
          <p:nvCxnSpPr>
            <p:cNvPr id="150" name="Straight Connector 149"/>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1" name="Straight Connector 150"/>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2" name="Straight Connector 151"/>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4" name="Straight Connector 153"/>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5" name="Straight Connector 154"/>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6" name="Straight Connector 155"/>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58" name="Group 347"/>
            <p:cNvGrpSpPr/>
            <p:nvPr/>
          </p:nvGrpSpPr>
          <p:grpSpPr bwMode="auto">
            <a:xfrm>
              <a:off x="5856401" y="5796097"/>
              <a:ext cx="588970" cy="242608"/>
              <a:chOff x="1871277" y="1576300"/>
              <a:chExt cx="1128371" cy="437861"/>
            </a:xfrm>
          </p:grpSpPr>
          <p:sp>
            <p:nvSpPr>
              <p:cNvPr id="200" name="Oval 199"/>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1" name="Rectangle 200"/>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2" name="Oval 20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3" name="Freeform 202"/>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4" name="Freeform 203"/>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5" name="Freeform 20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6" name="Freeform 205"/>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07" name="Straight Connector 206"/>
              <p:cNvCxnSpPr>
                <a:endCxn id="20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8" name="Straight Connector 207"/>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347"/>
            <p:cNvGrpSpPr/>
            <p:nvPr/>
          </p:nvGrpSpPr>
          <p:grpSpPr bwMode="auto">
            <a:xfrm>
              <a:off x="4375328" y="5654000"/>
              <a:ext cx="588970" cy="242608"/>
              <a:chOff x="1871277" y="1576300"/>
              <a:chExt cx="1128371" cy="437861"/>
            </a:xfrm>
          </p:grpSpPr>
          <p:sp>
            <p:nvSpPr>
              <p:cNvPr id="191" name="Oval 190"/>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2" name="Rectangle 191"/>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Oval 192"/>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4" name="Freeform 193"/>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5" name="Freeform 194"/>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6" name="Freeform 195"/>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7" name="Freeform 19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8" name="Straight Connector 197"/>
              <p:cNvCxnSpPr>
                <a:endCxn id="193"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9" name="Straight Connector 198"/>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0" name="Group 347"/>
            <p:cNvGrpSpPr/>
            <p:nvPr/>
          </p:nvGrpSpPr>
          <p:grpSpPr bwMode="auto">
            <a:xfrm>
              <a:off x="2848241" y="5847813"/>
              <a:ext cx="588970" cy="242608"/>
              <a:chOff x="1871277" y="1576300"/>
              <a:chExt cx="1128371" cy="437861"/>
            </a:xfrm>
          </p:grpSpPr>
          <p:sp>
            <p:nvSpPr>
              <p:cNvPr id="182" name="Oval 18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3" name="Rectangle 18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4" name="Oval 18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5" name="Freeform 18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6" name="Freeform 18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7" name="Freeform 18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8" name="Freeform 18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9" name="Straight Connector 188"/>
              <p:cNvCxnSpPr>
                <a:endCxn id="18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0" name="Straight Connector 18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1" name="Group 347"/>
            <p:cNvGrpSpPr/>
            <p:nvPr/>
          </p:nvGrpSpPr>
          <p:grpSpPr bwMode="auto">
            <a:xfrm>
              <a:off x="5166757" y="6114152"/>
              <a:ext cx="588970" cy="242608"/>
              <a:chOff x="1871277" y="1576300"/>
              <a:chExt cx="1128371" cy="437861"/>
            </a:xfrm>
          </p:grpSpPr>
          <p:sp>
            <p:nvSpPr>
              <p:cNvPr id="172" name="Oval 17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3" name="Rectangle 17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4" name="Oval 17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5" name="Freeform 17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Freeform 1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8" name="Freeform 1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0" name="Straight Connector 179"/>
              <p:cNvCxnSpPr>
                <a:endCxn id="17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1" name="Straight Connector 1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2" name="Group 347"/>
            <p:cNvGrpSpPr/>
            <p:nvPr/>
          </p:nvGrpSpPr>
          <p:grpSpPr bwMode="auto">
            <a:xfrm>
              <a:off x="3704088" y="6206732"/>
              <a:ext cx="588970" cy="242608"/>
              <a:chOff x="1871277" y="1576300"/>
              <a:chExt cx="1128371" cy="437861"/>
            </a:xfrm>
          </p:grpSpPr>
          <p:sp>
            <p:nvSpPr>
              <p:cNvPr id="163" name="Oval 16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4" name="Rectangle 16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5" name="Oval 16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6" name="Freeform 16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Freeform 16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0" name="Straight Connector 169"/>
              <p:cNvCxnSpPr>
                <a:endCxn id="16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1" name="Straight Connector 17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sp>
        <p:nvSpPr>
          <p:cNvPr id="631" name="Rectangle 630"/>
          <p:cNvSpPr/>
          <p:nvPr/>
        </p:nvSpPr>
        <p:spPr>
          <a:xfrm>
            <a:off x="2606860" y="5724971"/>
            <a:ext cx="5334198" cy="1133029"/>
          </a:xfrm>
          <a:prstGeom prst="rect">
            <a:avLst/>
          </a:prstGeom>
          <a:solidFill>
            <a:schemeClr val="bg1">
              <a:alpha val="80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grpSp>
        <p:nvGrpSpPr>
          <p:cNvPr id="210" name="Group 209"/>
          <p:cNvGrpSpPr/>
          <p:nvPr/>
        </p:nvGrpSpPr>
        <p:grpSpPr>
          <a:xfrm>
            <a:off x="2861956" y="1276178"/>
            <a:ext cx="1023471" cy="590176"/>
            <a:chOff x="4721412" y="1277470"/>
            <a:chExt cx="1023471" cy="590176"/>
          </a:xfrm>
        </p:grpSpPr>
        <p:sp>
          <p:nvSpPr>
            <p:cNvPr id="211" name="Oval 210"/>
            <p:cNvSpPr/>
            <p:nvPr/>
          </p:nvSpPr>
          <p:spPr bwMode="auto">
            <a:xfrm>
              <a:off x="4721412" y="1277470"/>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4792385" y="1374585"/>
              <a:ext cx="890463" cy="369332"/>
            </a:xfrm>
            <a:prstGeom prst="rect">
              <a:avLst/>
            </a:prstGeom>
            <a:noFill/>
          </p:spPr>
          <p:txBody>
            <a:bodyPr wrap="none" rtlCol="0">
              <a:spAutoFit/>
            </a:bodyPr>
            <a:lstStyle/>
            <a:p>
              <a:pPr algn="ctr"/>
              <a:r>
                <a:rPr lang="en-US" dirty="0"/>
                <a:t>routing</a:t>
              </a:r>
            </a:p>
          </p:txBody>
        </p:sp>
      </p:grpSp>
      <p:grpSp>
        <p:nvGrpSpPr>
          <p:cNvPr id="213" name="Group 212"/>
          <p:cNvGrpSpPr/>
          <p:nvPr/>
        </p:nvGrpSpPr>
        <p:grpSpPr>
          <a:xfrm>
            <a:off x="4075652" y="1301675"/>
            <a:ext cx="1023471" cy="590176"/>
            <a:chOff x="6106459" y="1967753"/>
            <a:chExt cx="1023471" cy="590176"/>
          </a:xfrm>
        </p:grpSpPr>
        <p:sp>
          <p:nvSpPr>
            <p:cNvPr id="214" name="Oval 213"/>
            <p:cNvSpPr/>
            <p:nvPr/>
          </p:nvSpPr>
          <p:spPr bwMode="auto">
            <a:xfrm>
              <a:off x="6106459" y="19677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5" name="TextBox 214"/>
            <p:cNvSpPr txBox="1"/>
            <p:nvPr/>
          </p:nvSpPr>
          <p:spPr>
            <a:xfrm>
              <a:off x="6177429" y="1997637"/>
              <a:ext cx="903087" cy="544765"/>
            </a:xfrm>
            <a:prstGeom prst="rect">
              <a:avLst/>
            </a:prstGeom>
            <a:noFill/>
          </p:spPr>
          <p:txBody>
            <a:bodyPr wrap="none" rtlCol="0">
              <a:spAutoFit/>
            </a:bodyPr>
            <a:lstStyle/>
            <a:p>
              <a:pPr algn="ctr">
                <a:lnSpc>
                  <a:spcPct val="80000"/>
                </a:lnSpc>
              </a:pPr>
              <a:r>
                <a:rPr lang="en-US" dirty="0"/>
                <a:t>access </a:t>
              </a:r>
            </a:p>
            <a:p>
              <a:pPr algn="ctr">
                <a:lnSpc>
                  <a:spcPct val="80000"/>
                </a:lnSpc>
              </a:pPr>
              <a:r>
                <a:rPr lang="en-US" dirty="0"/>
                <a:t>control</a:t>
              </a:r>
            </a:p>
          </p:txBody>
        </p:sp>
      </p:grpSp>
      <p:grpSp>
        <p:nvGrpSpPr>
          <p:cNvPr id="216" name="Group 215"/>
          <p:cNvGrpSpPr/>
          <p:nvPr/>
        </p:nvGrpSpPr>
        <p:grpSpPr>
          <a:xfrm>
            <a:off x="5265545" y="1320598"/>
            <a:ext cx="1023471" cy="590176"/>
            <a:chOff x="6938682" y="977153"/>
            <a:chExt cx="1023471" cy="590176"/>
          </a:xfrm>
        </p:grpSpPr>
        <p:sp>
          <p:nvSpPr>
            <p:cNvPr id="217" name="Oval 216"/>
            <p:cNvSpPr/>
            <p:nvPr/>
          </p:nvSpPr>
          <p:spPr bwMode="auto">
            <a:xfrm>
              <a:off x="6938682" y="9771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8" name="TextBox 217"/>
            <p:cNvSpPr txBox="1"/>
            <p:nvPr/>
          </p:nvSpPr>
          <p:spPr>
            <a:xfrm>
              <a:off x="6964568" y="1007037"/>
              <a:ext cx="993256" cy="544765"/>
            </a:xfrm>
            <a:prstGeom prst="rect">
              <a:avLst/>
            </a:prstGeom>
            <a:noFill/>
          </p:spPr>
          <p:txBody>
            <a:bodyPr wrap="none" rtlCol="0">
              <a:spAutoFit/>
            </a:bodyPr>
            <a:lstStyle/>
            <a:p>
              <a:pPr algn="ctr">
                <a:lnSpc>
                  <a:spcPct val="80000"/>
                </a:lnSpc>
              </a:pPr>
              <a:r>
                <a:rPr lang="en-US" dirty="0"/>
                <a:t>load</a:t>
              </a:r>
            </a:p>
            <a:p>
              <a:pPr algn="ctr">
                <a:lnSpc>
                  <a:spcPct val="80000"/>
                </a:lnSpc>
              </a:pPr>
              <a:r>
                <a:rPr lang="en-US" dirty="0"/>
                <a:t>balance</a:t>
              </a:r>
            </a:p>
          </p:txBody>
        </p:sp>
      </p:grpSp>
      <p:sp>
        <p:nvSpPr>
          <p:cNvPr id="15" name="Rectangle 14"/>
          <p:cNvSpPr/>
          <p:nvPr/>
        </p:nvSpPr>
        <p:spPr>
          <a:xfrm>
            <a:off x="2243683" y="1143000"/>
            <a:ext cx="4965002" cy="783590"/>
          </a:xfrm>
          <a:prstGeom prst="rect">
            <a:avLst/>
          </a:prstGeom>
          <a:solidFill>
            <a:schemeClr val="bg1">
              <a:alpha val="80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223" name="Freeform 222"/>
          <p:cNvSpPr/>
          <p:nvPr/>
        </p:nvSpPr>
        <p:spPr bwMode="auto">
          <a:xfrm rot="10800000">
            <a:off x="7562568" y="4626242"/>
            <a:ext cx="222179" cy="1166655"/>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1" fmla="*/ 0 w 199855"/>
              <a:gd name="connsiteY0-2" fmla="*/ 733787 h 1367693"/>
              <a:gd name="connsiteX1-3" fmla="*/ 199855 w 199855"/>
              <a:gd name="connsiteY1-4" fmla="*/ 0 h 1367693"/>
              <a:gd name="connsiteX2-5" fmla="*/ 199855 w 199855"/>
              <a:gd name="connsiteY2-6" fmla="*/ 1016000 h 1367693"/>
              <a:gd name="connsiteX3-7" fmla="*/ 4470 w 199855"/>
              <a:gd name="connsiteY3-8" fmla="*/ 1367693 h 1367693"/>
              <a:gd name="connsiteX4-9" fmla="*/ 0 w 199855"/>
              <a:gd name="connsiteY4-10" fmla="*/ 733787 h 1367693"/>
              <a:gd name="connsiteX0-11" fmla="*/ 25203 w 225058"/>
              <a:gd name="connsiteY0-12" fmla="*/ 733787 h 1361758"/>
              <a:gd name="connsiteX1-13" fmla="*/ 225058 w 225058"/>
              <a:gd name="connsiteY1-14" fmla="*/ 0 h 1361758"/>
              <a:gd name="connsiteX2-15" fmla="*/ 225058 w 225058"/>
              <a:gd name="connsiteY2-16" fmla="*/ 1016000 h 1361758"/>
              <a:gd name="connsiteX3-17" fmla="*/ 0 w 225058"/>
              <a:gd name="connsiteY3-18" fmla="*/ 1361758 h 1361758"/>
              <a:gd name="connsiteX4-19" fmla="*/ 25203 w 225058"/>
              <a:gd name="connsiteY4-20" fmla="*/ 733787 h 1361758"/>
              <a:gd name="connsiteX0-21" fmla="*/ 25203 w 230992"/>
              <a:gd name="connsiteY0-22" fmla="*/ 787197 h 1415168"/>
              <a:gd name="connsiteX1-23" fmla="*/ 230992 w 230992"/>
              <a:gd name="connsiteY1-24" fmla="*/ 0 h 1415168"/>
              <a:gd name="connsiteX2-25" fmla="*/ 225058 w 230992"/>
              <a:gd name="connsiteY2-26" fmla="*/ 1069410 h 1415168"/>
              <a:gd name="connsiteX3-27" fmla="*/ 0 w 230992"/>
              <a:gd name="connsiteY3-28" fmla="*/ 1415168 h 1415168"/>
              <a:gd name="connsiteX4-29" fmla="*/ 25203 w 230992"/>
              <a:gd name="connsiteY4-30" fmla="*/ 787197 h 1415168"/>
              <a:gd name="connsiteX0-31" fmla="*/ 0 w 205789"/>
              <a:gd name="connsiteY0-32" fmla="*/ 787197 h 1427037"/>
              <a:gd name="connsiteX1-33" fmla="*/ 205789 w 205789"/>
              <a:gd name="connsiteY1-34" fmla="*/ 0 h 1427037"/>
              <a:gd name="connsiteX2-35" fmla="*/ 199855 w 205789"/>
              <a:gd name="connsiteY2-36" fmla="*/ 1069410 h 1427037"/>
              <a:gd name="connsiteX3-37" fmla="*/ 4471 w 205789"/>
              <a:gd name="connsiteY3-38" fmla="*/ 1427037 h 1427037"/>
              <a:gd name="connsiteX4-39" fmla="*/ 0 w 205789"/>
              <a:gd name="connsiteY4-40" fmla="*/ 787197 h 1427037"/>
              <a:gd name="connsiteX0-41" fmla="*/ 0 w 199855"/>
              <a:gd name="connsiteY0-42" fmla="*/ 745656 h 1385496"/>
              <a:gd name="connsiteX1-43" fmla="*/ 193920 w 199855"/>
              <a:gd name="connsiteY1-44" fmla="*/ 0 h 1385496"/>
              <a:gd name="connsiteX2-45" fmla="*/ 199855 w 199855"/>
              <a:gd name="connsiteY2-46" fmla="*/ 1027869 h 1385496"/>
              <a:gd name="connsiteX3-47" fmla="*/ 4471 w 199855"/>
              <a:gd name="connsiteY3-48" fmla="*/ 1385496 h 1385496"/>
              <a:gd name="connsiteX4-49" fmla="*/ 0 w 199855"/>
              <a:gd name="connsiteY4-50" fmla="*/ 745656 h 1385496"/>
              <a:gd name="connsiteX0-51" fmla="*/ 20385 w 220240"/>
              <a:gd name="connsiteY0-52" fmla="*/ 745656 h 1058154"/>
              <a:gd name="connsiteX1-53" fmla="*/ 214305 w 220240"/>
              <a:gd name="connsiteY1-54" fmla="*/ 0 h 1058154"/>
              <a:gd name="connsiteX2-55" fmla="*/ 220240 w 220240"/>
              <a:gd name="connsiteY2-56" fmla="*/ 1027869 h 1058154"/>
              <a:gd name="connsiteX3-57" fmla="*/ 68 w 220240"/>
              <a:gd name="connsiteY3-58" fmla="*/ 986902 h 1058154"/>
              <a:gd name="connsiteX4-59" fmla="*/ 20385 w 220240"/>
              <a:gd name="connsiteY4-60" fmla="*/ 745656 h 1058154"/>
              <a:gd name="connsiteX0-61" fmla="*/ 20385 w 220240"/>
              <a:gd name="connsiteY0-62" fmla="*/ 745656 h 1068836"/>
              <a:gd name="connsiteX1-63" fmla="*/ 214305 w 220240"/>
              <a:gd name="connsiteY1-64" fmla="*/ 0 h 1068836"/>
              <a:gd name="connsiteX2-65" fmla="*/ 220240 w 220240"/>
              <a:gd name="connsiteY2-66" fmla="*/ 1027869 h 1068836"/>
              <a:gd name="connsiteX3-67" fmla="*/ 68 w 220240"/>
              <a:gd name="connsiteY3-68" fmla="*/ 986902 h 1068836"/>
              <a:gd name="connsiteX4-69" fmla="*/ 20385 w 220240"/>
              <a:gd name="connsiteY4-70" fmla="*/ 745656 h 1068836"/>
              <a:gd name="connsiteX0-71" fmla="*/ 15446 w 215301"/>
              <a:gd name="connsiteY0-72" fmla="*/ 745656 h 1057581"/>
              <a:gd name="connsiteX1-73" fmla="*/ 209366 w 215301"/>
              <a:gd name="connsiteY1-74" fmla="*/ 0 h 1057581"/>
              <a:gd name="connsiteX2-75" fmla="*/ 215301 w 215301"/>
              <a:gd name="connsiteY2-76" fmla="*/ 1027869 h 1057581"/>
              <a:gd name="connsiteX3-77" fmla="*/ 87 w 215301"/>
              <a:gd name="connsiteY3-78" fmla="*/ 888484 h 1057581"/>
              <a:gd name="connsiteX4-79" fmla="*/ 15446 w 215301"/>
              <a:gd name="connsiteY4-80" fmla="*/ 745656 h 1057581"/>
              <a:gd name="connsiteX0-81" fmla="*/ 15446 w 215301"/>
              <a:gd name="connsiteY0-82" fmla="*/ 745656 h 1063397"/>
              <a:gd name="connsiteX1-83" fmla="*/ 209366 w 215301"/>
              <a:gd name="connsiteY1-84" fmla="*/ 0 h 1063397"/>
              <a:gd name="connsiteX2-85" fmla="*/ 215301 w 215301"/>
              <a:gd name="connsiteY2-86" fmla="*/ 1027869 h 1063397"/>
              <a:gd name="connsiteX3-87" fmla="*/ 87 w 215301"/>
              <a:gd name="connsiteY3-88" fmla="*/ 888484 h 1063397"/>
              <a:gd name="connsiteX4-89" fmla="*/ 15446 w 215301"/>
              <a:gd name="connsiteY4-90" fmla="*/ 745656 h 1063397"/>
              <a:gd name="connsiteX0-91" fmla="*/ 15446 w 215301"/>
              <a:gd name="connsiteY0-92" fmla="*/ 745656 h 1027869"/>
              <a:gd name="connsiteX1-93" fmla="*/ 209366 w 215301"/>
              <a:gd name="connsiteY1-94" fmla="*/ 0 h 1027869"/>
              <a:gd name="connsiteX2-95" fmla="*/ 215301 w 215301"/>
              <a:gd name="connsiteY2-96" fmla="*/ 1027869 h 1027869"/>
              <a:gd name="connsiteX3-97" fmla="*/ 87 w 215301"/>
              <a:gd name="connsiteY3-98" fmla="*/ 888484 h 1027869"/>
              <a:gd name="connsiteX4-99" fmla="*/ 15446 w 215301"/>
              <a:gd name="connsiteY4-100" fmla="*/ 745656 h 1027869"/>
              <a:gd name="connsiteX0-101" fmla="*/ 2945 w 215465"/>
              <a:gd name="connsiteY0-102" fmla="*/ 0 h 1166325"/>
              <a:gd name="connsiteX1-103" fmla="*/ 209530 w 215465"/>
              <a:gd name="connsiteY1-104" fmla="*/ 138456 h 1166325"/>
              <a:gd name="connsiteX2-105" fmla="*/ 215465 w 215465"/>
              <a:gd name="connsiteY2-106" fmla="*/ 1166325 h 1166325"/>
              <a:gd name="connsiteX3-107" fmla="*/ 251 w 215465"/>
              <a:gd name="connsiteY3-108" fmla="*/ 1026940 h 1166325"/>
              <a:gd name="connsiteX4-109" fmla="*/ 2945 w 215465"/>
              <a:gd name="connsiteY4-110" fmla="*/ 0 h 1166325"/>
              <a:gd name="connsiteX0-111" fmla="*/ 11247 w 223767"/>
              <a:gd name="connsiteY0-112" fmla="*/ 0 h 1166325"/>
              <a:gd name="connsiteX1-113" fmla="*/ 217832 w 223767"/>
              <a:gd name="connsiteY1-114" fmla="*/ 138456 h 1166325"/>
              <a:gd name="connsiteX2-115" fmla="*/ 223767 w 223767"/>
              <a:gd name="connsiteY2-116" fmla="*/ 1166325 h 1166325"/>
              <a:gd name="connsiteX3-117" fmla="*/ 110 w 223767"/>
              <a:gd name="connsiteY3-118" fmla="*/ 226631 h 1166325"/>
              <a:gd name="connsiteX4-119" fmla="*/ 11247 w 223767"/>
              <a:gd name="connsiteY4-120" fmla="*/ 0 h 1166325"/>
              <a:gd name="connsiteX0-121" fmla="*/ 11247 w 223767"/>
              <a:gd name="connsiteY0-122" fmla="*/ 0 h 1166325"/>
              <a:gd name="connsiteX1-123" fmla="*/ 217832 w 223767"/>
              <a:gd name="connsiteY1-124" fmla="*/ 138456 h 1166325"/>
              <a:gd name="connsiteX2-125" fmla="*/ 223767 w 223767"/>
              <a:gd name="connsiteY2-126" fmla="*/ 1166325 h 1166325"/>
              <a:gd name="connsiteX3-127" fmla="*/ 110 w 223767"/>
              <a:gd name="connsiteY3-128" fmla="*/ 226631 h 1166325"/>
              <a:gd name="connsiteX4-129" fmla="*/ 11247 w 223767"/>
              <a:gd name="connsiteY4-130" fmla="*/ 0 h 1166325"/>
              <a:gd name="connsiteX0-131" fmla="*/ 11247 w 223767"/>
              <a:gd name="connsiteY0-132" fmla="*/ 0 h 1166325"/>
              <a:gd name="connsiteX1-133" fmla="*/ 217832 w 223767"/>
              <a:gd name="connsiteY1-134" fmla="*/ 138456 h 1166325"/>
              <a:gd name="connsiteX2-135" fmla="*/ 223767 w 223767"/>
              <a:gd name="connsiteY2-136" fmla="*/ 1166325 h 1166325"/>
              <a:gd name="connsiteX3-137" fmla="*/ 110 w 223767"/>
              <a:gd name="connsiteY3-138" fmla="*/ 226631 h 1166325"/>
              <a:gd name="connsiteX4-139" fmla="*/ 11247 w 223767"/>
              <a:gd name="connsiteY4-140" fmla="*/ 0 h 116632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223767" h="1166325">
                <a:moveTo>
                  <a:pt x="11247" y="0"/>
                </a:moveTo>
                <a:lnTo>
                  <a:pt x="217832" y="138456"/>
                </a:lnTo>
                <a:cubicBezTo>
                  <a:pt x="219810" y="481079"/>
                  <a:pt x="221789" y="823702"/>
                  <a:pt x="223767" y="1166325"/>
                </a:cubicBezTo>
                <a:cubicBezTo>
                  <a:pt x="98607" y="641817"/>
                  <a:pt x="99941" y="672062"/>
                  <a:pt x="110" y="226631"/>
                </a:cubicBezTo>
                <a:cubicBezTo>
                  <a:pt x="-1380" y="13351"/>
                  <a:pt x="12737" y="213280"/>
                  <a:pt x="11247" y="0"/>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224" name="Group 950"/>
          <p:cNvGrpSpPr/>
          <p:nvPr/>
        </p:nvGrpSpPr>
        <p:grpSpPr bwMode="auto">
          <a:xfrm>
            <a:off x="7763077" y="5170004"/>
            <a:ext cx="251561" cy="564103"/>
            <a:chOff x="4140" y="429"/>
            <a:chExt cx="1425" cy="2396"/>
          </a:xfrm>
        </p:grpSpPr>
        <p:sp>
          <p:nvSpPr>
            <p:cNvPr id="226" name="Freeform 951"/>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227"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228" name="Freeform 953"/>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229" name="Freeform 954"/>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230"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231" name="Group 956"/>
            <p:cNvGrpSpPr/>
            <p:nvPr/>
          </p:nvGrpSpPr>
          <p:grpSpPr bwMode="auto">
            <a:xfrm>
              <a:off x="4749" y="668"/>
              <a:ext cx="581" cy="145"/>
              <a:chOff x="614" y="2568"/>
              <a:chExt cx="725" cy="139"/>
            </a:xfrm>
          </p:grpSpPr>
          <p:sp>
            <p:nvSpPr>
              <p:cNvPr id="256" name="AutoShape 957"/>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257"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232"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233" name="Group 960"/>
            <p:cNvGrpSpPr/>
            <p:nvPr/>
          </p:nvGrpSpPr>
          <p:grpSpPr bwMode="auto">
            <a:xfrm>
              <a:off x="4747" y="994"/>
              <a:ext cx="581" cy="134"/>
              <a:chOff x="614" y="2568"/>
              <a:chExt cx="725" cy="139"/>
            </a:xfrm>
          </p:grpSpPr>
          <p:sp>
            <p:nvSpPr>
              <p:cNvPr id="254" name="AutoShape 961"/>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255"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234"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235"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236" name="Group 965"/>
            <p:cNvGrpSpPr/>
            <p:nvPr/>
          </p:nvGrpSpPr>
          <p:grpSpPr bwMode="auto">
            <a:xfrm>
              <a:off x="4735" y="1627"/>
              <a:ext cx="582" cy="151"/>
              <a:chOff x="614" y="2568"/>
              <a:chExt cx="725" cy="139"/>
            </a:xfrm>
          </p:grpSpPr>
          <p:sp>
            <p:nvSpPr>
              <p:cNvPr id="252" name="AutoShape 966"/>
              <p:cNvSpPr>
                <a:spLocks noChangeArrowheads="1"/>
              </p:cNvSpPr>
              <p:nvPr/>
            </p:nvSpPr>
            <p:spPr bwMode="auto">
              <a:xfrm>
                <a:off x="618" y="2586"/>
                <a:ext cx="720" cy="124"/>
              </a:xfrm>
              <a:prstGeom prst="roundRect">
                <a:avLst>
                  <a:gd name="adj" fmla="val 50000"/>
                </a:avLst>
              </a:prstGeom>
              <a:solidFill>
                <a:schemeClr val="tx1"/>
              </a:solidFill>
              <a:ln>
                <a:noFill/>
              </a:ln>
            </p:spPr>
            <p:txBody>
              <a:bodyPr wrap="none" anchor="ctr"/>
              <a:lstStyle/>
              <a:p>
                <a:endParaRPr lang="en-US"/>
              </a:p>
            </p:txBody>
          </p:sp>
          <p:sp>
            <p:nvSpPr>
              <p:cNvPr id="253"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237" name="Freeform 968"/>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238" name="Group 969"/>
            <p:cNvGrpSpPr/>
            <p:nvPr/>
          </p:nvGrpSpPr>
          <p:grpSpPr bwMode="auto">
            <a:xfrm>
              <a:off x="4739" y="1327"/>
              <a:ext cx="582" cy="139"/>
              <a:chOff x="614" y="2568"/>
              <a:chExt cx="725" cy="139"/>
            </a:xfrm>
          </p:grpSpPr>
          <p:sp>
            <p:nvSpPr>
              <p:cNvPr id="250" name="AutoShape 970"/>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251"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239"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240" name="Freeform 973"/>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241" name="Freeform 974"/>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242" name="Oval 975"/>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243" name="Freeform 976"/>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244"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245"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246" name="Oval 979"/>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247" name="Oval 980"/>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a:solidFill>
                  <a:srgbClr val="FF0000"/>
                </a:solidFill>
              </a:endParaRPr>
            </a:p>
          </p:txBody>
        </p:sp>
        <p:sp>
          <p:nvSpPr>
            <p:cNvPr id="248" name="Oval 981"/>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249"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sp>
        <p:nvSpPr>
          <p:cNvPr id="176" name="Text Box 167"/>
          <p:cNvSpPr txBox="1">
            <a:spLocks noChangeArrowheads="1"/>
          </p:cNvSpPr>
          <p:nvPr/>
        </p:nvSpPr>
        <p:spPr bwMode="auto">
          <a:xfrm>
            <a:off x="542925" y="236538"/>
            <a:ext cx="6168952" cy="646331"/>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3600" dirty="0">
                <a:solidFill>
                  <a:srgbClr val="000099"/>
                </a:solidFill>
                <a:latin typeface="Gill Sans MT" pitchFamily="34" charset="0"/>
              </a:rPr>
              <a:t>Components of SDN controller</a:t>
            </a:r>
          </a:p>
        </p:txBody>
      </p:sp>
      <p:pic>
        <p:nvPicPr>
          <p:cNvPr id="209" name="Picture 5"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025" y="776288"/>
            <a:ext cx="6181825" cy="156981"/>
          </a:xfrm>
          <a:prstGeom prst="rect">
            <a:avLst/>
          </a:prstGeom>
          <a:noFill/>
          <a:ln>
            <a:noFill/>
          </a:ln>
        </p:spPr>
      </p:pic>
      <p:sp>
        <p:nvSpPr>
          <p:cNvPr id="2" name="TextBox 1"/>
          <p:cNvSpPr txBox="1"/>
          <p:nvPr/>
        </p:nvSpPr>
        <p:spPr>
          <a:xfrm>
            <a:off x="229508" y="4804221"/>
            <a:ext cx="1989074" cy="1639570"/>
          </a:xfrm>
          <a:prstGeom prst="rect">
            <a:avLst/>
          </a:prstGeom>
          <a:noFill/>
        </p:spPr>
        <p:txBody>
          <a:bodyPr wrap="square" rtlCol="0">
            <a:spAutoFit/>
          </a:bodyPr>
          <a:lstStyle/>
          <a:p>
            <a:pPr>
              <a:lnSpc>
                <a:spcPct val="90000"/>
              </a:lnSpc>
            </a:pPr>
            <a:r>
              <a:rPr lang="en-US" sz="1600" i="1" dirty="0">
                <a:solidFill>
                  <a:srgbClr val="CC0000"/>
                </a:solidFill>
                <a:latin typeface="+mn-lt"/>
              </a:rPr>
              <a:t>communication layer</a:t>
            </a:r>
            <a:r>
              <a:rPr lang="en-US" sz="1600" dirty="0">
                <a:latin typeface="+mn-lt"/>
              </a:rPr>
              <a:t>: communicate between SDN controller and controlled switches</a:t>
            </a:r>
          </a:p>
        </p:txBody>
      </p:sp>
      <p:sp>
        <p:nvSpPr>
          <p:cNvPr id="219" name="TextBox 218"/>
          <p:cNvSpPr txBox="1"/>
          <p:nvPr/>
        </p:nvSpPr>
        <p:spPr>
          <a:xfrm>
            <a:off x="213602" y="3120682"/>
            <a:ext cx="2127384" cy="1639570"/>
          </a:xfrm>
          <a:prstGeom prst="rect">
            <a:avLst/>
          </a:prstGeom>
          <a:noFill/>
        </p:spPr>
        <p:txBody>
          <a:bodyPr wrap="square" rtlCol="0">
            <a:spAutoFit/>
          </a:bodyPr>
          <a:lstStyle/>
          <a:p>
            <a:pPr>
              <a:lnSpc>
                <a:spcPct val="90000"/>
              </a:lnSpc>
            </a:pPr>
            <a:r>
              <a:rPr lang="en-US" sz="1600" dirty="0">
                <a:solidFill>
                  <a:srgbClr val="CC0000"/>
                </a:solidFill>
                <a:latin typeface="+mn-lt"/>
              </a:rPr>
              <a:t>Network-wide state management layer</a:t>
            </a:r>
            <a:r>
              <a:rPr lang="en-US" sz="1600" dirty="0">
                <a:latin typeface="+mn-lt"/>
              </a:rPr>
              <a:t>: state of networks links, switches, services: a </a:t>
            </a:r>
            <a:r>
              <a:rPr lang="en-US" sz="1600" i="1" dirty="0">
                <a:solidFill>
                  <a:srgbClr val="000099"/>
                </a:solidFill>
                <a:latin typeface="+mn-lt"/>
              </a:rPr>
              <a:t>distributed database</a:t>
            </a:r>
          </a:p>
        </p:txBody>
      </p:sp>
      <p:sp>
        <p:nvSpPr>
          <p:cNvPr id="220" name="TextBox 219"/>
          <p:cNvSpPr txBox="1"/>
          <p:nvPr/>
        </p:nvSpPr>
        <p:spPr>
          <a:xfrm>
            <a:off x="267459" y="1957325"/>
            <a:ext cx="2127384" cy="975995"/>
          </a:xfrm>
          <a:prstGeom prst="rect">
            <a:avLst/>
          </a:prstGeom>
          <a:noFill/>
        </p:spPr>
        <p:txBody>
          <a:bodyPr wrap="square" rtlCol="0">
            <a:spAutoFit/>
          </a:bodyPr>
          <a:lstStyle/>
          <a:p>
            <a:pPr>
              <a:lnSpc>
                <a:spcPct val="90000"/>
              </a:lnSpc>
            </a:pPr>
            <a:r>
              <a:rPr lang="en-US" sz="1600" dirty="0">
                <a:solidFill>
                  <a:srgbClr val="CC0000"/>
                </a:solidFill>
                <a:latin typeface="+mn-lt"/>
              </a:rPr>
              <a:t>Interface layer to network control apps:  </a:t>
            </a:r>
            <a:r>
              <a:rPr lang="en-US" sz="1600" dirty="0">
                <a:latin typeface="+mn-lt"/>
              </a:rPr>
              <a:t>abstractions API</a:t>
            </a:r>
            <a:endParaRPr lang="en-US" sz="1600" i="1" dirty="0">
              <a:latin typeface="+mn-lt"/>
            </a:endParaRPr>
          </a:p>
        </p:txBody>
      </p:sp>
      <p:sp>
        <p:nvSpPr>
          <p:cNvPr id="221" name="Slide Number Placeholder 5"/>
          <p:cNvSpPr>
            <a:spLocks noGrp="1"/>
          </p:cNvSpPr>
          <p:nvPr>
            <p:ph type="sldNum" sz="quarter" idx="12"/>
          </p:nvPr>
        </p:nvSpPr>
        <p:spPr>
          <a:xfrm>
            <a:off x="8456154" y="6475895"/>
            <a:ext cx="548655" cy="272319"/>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99</a:t>
            </a:fld>
            <a:endParaRPr lang="en-US" sz="1200" dirty="0">
              <a:latin typeface="Tahoma" panose="020B0604030504040204" charset="0"/>
            </a:endParaRPr>
          </a:p>
        </p:txBody>
      </p:sp>
      <p:sp>
        <p:nvSpPr>
          <p:cNvPr id="225"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19"/>
                                        </p:tgtEl>
                                        <p:attrNameLst>
                                          <p:attrName>style.visibility</p:attrName>
                                        </p:attrNameLst>
                                      </p:cBhvr>
                                      <p:to>
                                        <p:strVal val="visible"/>
                                      </p:to>
                                    </p:set>
                                    <p:animEffect transition="in" filter="dissolve">
                                      <p:cBhvr>
                                        <p:cTn id="12" dur="500"/>
                                        <p:tgtEl>
                                          <p:spTgt spid="2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0"/>
                                        </p:tgtEl>
                                        <p:attrNameLst>
                                          <p:attrName>style.visibility</p:attrName>
                                        </p:attrNameLst>
                                      </p:cBhvr>
                                      <p:to>
                                        <p:strVal val="visible"/>
                                      </p:to>
                                    </p:set>
                                    <p:animEffect transition="in" filter="dissolve">
                                      <p:cBhvr>
                                        <p:cTn id="17" dur="500"/>
                                        <p:tgtEl>
                                          <p:spTgt spid="2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19" grpId="0"/>
      <p:bldP spid="220"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6"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4058" y="854421"/>
            <a:ext cx="4626765" cy="242741"/>
          </a:xfrm>
          <a:prstGeom prst="rect">
            <a:avLst/>
          </a:prstGeom>
          <a:noFill/>
          <a:ln>
            <a:noFill/>
          </a:ln>
        </p:spPr>
      </p:pic>
      <p:sp>
        <p:nvSpPr>
          <p:cNvPr id="2" name="Title 1"/>
          <p:cNvSpPr>
            <a:spLocks noGrp="1"/>
          </p:cNvSpPr>
          <p:nvPr>
            <p:ph type="title"/>
          </p:nvPr>
        </p:nvSpPr>
        <p:spPr>
          <a:xfrm>
            <a:off x="533400" y="16916"/>
            <a:ext cx="7772400" cy="1143000"/>
          </a:xfrm>
        </p:spPr>
        <p:txBody>
          <a:bodyPr/>
          <a:lstStyle/>
          <a:p>
            <a:r>
              <a:rPr lang="en-US" dirty="0"/>
              <a:t>OpenFlow protocol</a:t>
            </a:r>
          </a:p>
        </p:txBody>
      </p:sp>
      <p:sp>
        <p:nvSpPr>
          <p:cNvPr id="4" name="Content Placeholder 3"/>
          <p:cNvSpPr>
            <a:spLocks noGrp="1"/>
          </p:cNvSpPr>
          <p:nvPr>
            <p:ph sz="half" idx="2"/>
          </p:nvPr>
        </p:nvSpPr>
        <p:spPr>
          <a:xfrm>
            <a:off x="4495800" y="1350693"/>
            <a:ext cx="3810000" cy="4648200"/>
          </a:xfrm>
        </p:spPr>
        <p:txBody>
          <a:bodyPr/>
          <a:lstStyle/>
          <a:p>
            <a:r>
              <a:rPr lang="en-US" sz="2400" dirty="0"/>
              <a:t>operates between controller, switch</a:t>
            </a:r>
          </a:p>
          <a:p>
            <a:r>
              <a:rPr lang="en-US" sz="2400" dirty="0"/>
              <a:t>TCP used to exchange messages</a:t>
            </a:r>
          </a:p>
          <a:p>
            <a:pPr lvl="1"/>
            <a:r>
              <a:rPr lang="en-US" sz="2000" dirty="0"/>
              <a:t>optional encryption</a:t>
            </a:r>
          </a:p>
          <a:p>
            <a:r>
              <a:rPr lang="en-US" sz="2400" dirty="0"/>
              <a:t>three classes of  OpenFlow messages:</a:t>
            </a:r>
          </a:p>
          <a:p>
            <a:pPr lvl="1"/>
            <a:r>
              <a:rPr lang="en-US" sz="2000" dirty="0"/>
              <a:t>controller-to-switch</a:t>
            </a:r>
          </a:p>
          <a:p>
            <a:pPr lvl="1"/>
            <a:r>
              <a:rPr lang="en-US" sz="2000" dirty="0"/>
              <a:t>asynchronous (switch to controller)</a:t>
            </a:r>
          </a:p>
          <a:p>
            <a:pPr lvl="1"/>
            <a:r>
              <a:rPr lang="en-US" sz="2000" dirty="0"/>
              <a:t>symmetric (</a:t>
            </a:r>
            <a:r>
              <a:rPr lang="en-US" sz="2000" dirty="0" err="1"/>
              <a:t>misc</a:t>
            </a:r>
            <a:r>
              <a:rPr lang="en-US" sz="2000" dirty="0"/>
              <a:t>)</a:t>
            </a:r>
          </a:p>
        </p:txBody>
      </p:sp>
      <p:grpSp>
        <p:nvGrpSpPr>
          <p:cNvPr id="3" name="Group 2"/>
          <p:cNvGrpSpPr/>
          <p:nvPr/>
        </p:nvGrpSpPr>
        <p:grpSpPr>
          <a:xfrm>
            <a:off x="460628" y="1850015"/>
            <a:ext cx="3899341" cy="4512949"/>
            <a:chOff x="460628" y="1850015"/>
            <a:chExt cx="3899341" cy="4512949"/>
          </a:xfrm>
        </p:grpSpPr>
        <p:sp>
          <p:nvSpPr>
            <p:cNvPr id="9" name="Cloud 8"/>
            <p:cNvSpPr/>
            <p:nvPr/>
          </p:nvSpPr>
          <p:spPr>
            <a:xfrm>
              <a:off x="460628" y="4246149"/>
              <a:ext cx="3899341" cy="2116815"/>
            </a:xfrm>
            <a:prstGeom prst="cloud">
              <a:avLst/>
            </a:prstGeom>
            <a:noFill/>
            <a:ln>
              <a:solidFill>
                <a:srgbClr val="000090"/>
              </a:solidFill>
            </a:ln>
            <a:effectLst>
              <a:outerShdw blurRad="40000" dist="23000" dir="5400000" rotWithShape="0">
                <a:schemeClr val="accent6">
                  <a:lumMod val="40000"/>
                  <a:lumOff val="60000"/>
                  <a:alpha val="35000"/>
                </a:schemeClr>
              </a:outerShdw>
            </a:effectLst>
          </p:spPr>
          <p:style>
            <a:lnRef idx="1">
              <a:schemeClr val="accent1"/>
            </a:lnRef>
            <a:fillRef idx="3">
              <a:schemeClr val="accent1"/>
            </a:fillRef>
            <a:effectRef idx="2">
              <a:schemeClr val="accent1"/>
            </a:effectRef>
            <a:fontRef idx="minor">
              <a:schemeClr val="lt1"/>
            </a:fontRef>
          </p:style>
          <p:txBody>
            <a:bodyPr anchor="ctr"/>
            <a:lstStyle/>
            <a:p>
              <a:pPr>
                <a:defRPr/>
              </a:pPr>
              <a:endParaRPr lang="en-US"/>
            </a:p>
          </p:txBody>
        </p:sp>
        <p:cxnSp>
          <p:nvCxnSpPr>
            <p:cNvPr id="13" name="Straight Connector 12"/>
            <p:cNvCxnSpPr/>
            <p:nvPr/>
          </p:nvCxnSpPr>
          <p:spPr>
            <a:xfrm flipV="1">
              <a:off x="1124345" y="4538650"/>
              <a:ext cx="1203228" cy="819025"/>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1124345" y="5357675"/>
              <a:ext cx="1203228" cy="642373"/>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2133750" y="4795599"/>
              <a:ext cx="319671" cy="102779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15"/>
            <p:cNvCxnSpPr/>
            <p:nvPr/>
          </p:nvCxnSpPr>
          <p:spPr>
            <a:xfrm>
              <a:off x="2404480" y="4715303"/>
              <a:ext cx="1307416" cy="33724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flipV="1">
              <a:off x="2596747" y="5245260"/>
              <a:ext cx="1115149" cy="754789"/>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94" name="Group 950"/>
            <p:cNvGrpSpPr/>
            <p:nvPr/>
          </p:nvGrpSpPr>
          <p:grpSpPr bwMode="auto">
            <a:xfrm>
              <a:off x="1839080" y="2785594"/>
              <a:ext cx="549038" cy="880838"/>
              <a:chOff x="4140" y="429"/>
              <a:chExt cx="1425" cy="2396"/>
            </a:xfrm>
          </p:grpSpPr>
          <p:sp>
            <p:nvSpPr>
              <p:cNvPr id="227" name="Freeform 951"/>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22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229" name="Freeform 953"/>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230" name="Freeform 954"/>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23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232" name="Group 956"/>
              <p:cNvGrpSpPr/>
              <p:nvPr/>
            </p:nvGrpSpPr>
            <p:grpSpPr bwMode="auto">
              <a:xfrm>
                <a:off x="4749" y="668"/>
                <a:ext cx="581" cy="145"/>
                <a:chOff x="614" y="2568"/>
                <a:chExt cx="725" cy="139"/>
              </a:xfrm>
            </p:grpSpPr>
            <p:sp>
              <p:nvSpPr>
                <p:cNvPr id="257" name="AutoShape 957"/>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25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23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234" name="Group 960"/>
              <p:cNvGrpSpPr/>
              <p:nvPr/>
            </p:nvGrpSpPr>
            <p:grpSpPr bwMode="auto">
              <a:xfrm>
                <a:off x="4747" y="994"/>
                <a:ext cx="581" cy="134"/>
                <a:chOff x="614" y="2568"/>
                <a:chExt cx="725" cy="139"/>
              </a:xfrm>
            </p:grpSpPr>
            <p:sp>
              <p:nvSpPr>
                <p:cNvPr id="255" name="AutoShape 961"/>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25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23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23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237" name="Group 965"/>
              <p:cNvGrpSpPr/>
              <p:nvPr/>
            </p:nvGrpSpPr>
            <p:grpSpPr bwMode="auto">
              <a:xfrm>
                <a:off x="4735" y="1627"/>
                <a:ext cx="582" cy="151"/>
                <a:chOff x="614" y="2568"/>
                <a:chExt cx="725" cy="139"/>
              </a:xfrm>
            </p:grpSpPr>
            <p:sp>
              <p:nvSpPr>
                <p:cNvPr id="253" name="AutoShape 966"/>
                <p:cNvSpPr>
                  <a:spLocks noChangeArrowheads="1"/>
                </p:cNvSpPr>
                <p:nvPr/>
              </p:nvSpPr>
              <p:spPr bwMode="auto">
                <a:xfrm>
                  <a:off x="618" y="2586"/>
                  <a:ext cx="720" cy="124"/>
                </a:xfrm>
                <a:prstGeom prst="roundRect">
                  <a:avLst>
                    <a:gd name="adj" fmla="val 50000"/>
                  </a:avLst>
                </a:prstGeom>
                <a:solidFill>
                  <a:schemeClr val="tx1"/>
                </a:solidFill>
                <a:ln>
                  <a:noFill/>
                </a:ln>
              </p:spPr>
              <p:txBody>
                <a:bodyPr wrap="none" anchor="ctr"/>
                <a:lstStyle/>
                <a:p>
                  <a:endParaRPr lang="en-US"/>
                </a:p>
              </p:txBody>
            </p:sp>
            <p:sp>
              <p:nvSpPr>
                <p:cNvPr id="25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238" name="Freeform 968"/>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239" name="Group 969"/>
              <p:cNvGrpSpPr/>
              <p:nvPr/>
            </p:nvGrpSpPr>
            <p:grpSpPr bwMode="auto">
              <a:xfrm>
                <a:off x="4739" y="1327"/>
                <a:ext cx="582" cy="139"/>
                <a:chOff x="614" y="2568"/>
                <a:chExt cx="725" cy="139"/>
              </a:xfrm>
            </p:grpSpPr>
            <p:sp>
              <p:nvSpPr>
                <p:cNvPr id="251" name="AutoShape 970"/>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25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24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241" name="Freeform 973"/>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242" name="Freeform 974"/>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243" name="Oval 975"/>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244" name="Freeform 976"/>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24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24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247" name="Oval 979"/>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248" name="Oval 980"/>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sz="1800">
                  <a:solidFill>
                    <a:srgbClr val="FF0000"/>
                  </a:solidFill>
                </a:endParaRPr>
              </a:p>
            </p:txBody>
          </p:sp>
          <p:sp>
            <p:nvSpPr>
              <p:cNvPr id="249" name="Oval 981"/>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25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pic>
          <p:nvPicPr>
            <p:cNvPr id="389"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304880" y="2227106"/>
              <a:ext cx="1629624" cy="431371"/>
            </a:xfrm>
            <a:prstGeom prst="rect">
              <a:avLst/>
            </a:prstGeom>
            <a:noFill/>
            <a:ln>
              <a:noFill/>
            </a:ln>
          </p:spPr>
        </p:pic>
        <p:sp>
          <p:nvSpPr>
            <p:cNvPr id="390" name="TextBox 389"/>
            <p:cNvSpPr txBox="1"/>
            <p:nvPr/>
          </p:nvSpPr>
          <p:spPr>
            <a:xfrm>
              <a:off x="994856" y="1850015"/>
              <a:ext cx="2456797" cy="400110"/>
            </a:xfrm>
            <a:prstGeom prst="rect">
              <a:avLst/>
            </a:prstGeom>
            <a:noFill/>
          </p:spPr>
          <p:txBody>
            <a:bodyPr wrap="none" rtlCol="0">
              <a:spAutoFit/>
            </a:bodyPr>
            <a:lstStyle/>
            <a:p>
              <a:r>
                <a:rPr lang="en-US" sz="2000" dirty="0">
                  <a:solidFill>
                    <a:srgbClr val="CC0000"/>
                  </a:solidFill>
                </a:rPr>
                <a:t>OpenFlow Controller</a:t>
              </a:r>
            </a:p>
          </p:txBody>
        </p:sp>
        <p:grpSp>
          <p:nvGrpSpPr>
            <p:cNvPr id="58" name="Group 327"/>
            <p:cNvGrpSpPr/>
            <p:nvPr/>
          </p:nvGrpSpPr>
          <p:grpSpPr bwMode="auto">
            <a:xfrm>
              <a:off x="2112211" y="5801894"/>
              <a:ext cx="736172" cy="452961"/>
              <a:chOff x="1871277" y="1576300"/>
              <a:chExt cx="1128371" cy="437861"/>
            </a:xfrm>
          </p:grpSpPr>
          <p:sp>
            <p:nvSpPr>
              <p:cNvPr id="62" name="Oval 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3" name="Rectangle 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 name="Oval 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5" name="Freeform 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6" name="Freeform 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7" name="Freeform 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8" name="Freeform 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9" name="Straight Connector 68"/>
              <p:cNvCxnSpPr>
                <a:endCxn id="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70" name="Straight Connector 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1" name="Group 327"/>
            <p:cNvGrpSpPr/>
            <p:nvPr/>
          </p:nvGrpSpPr>
          <p:grpSpPr bwMode="auto">
            <a:xfrm>
              <a:off x="3547978" y="4938294"/>
              <a:ext cx="736172" cy="452961"/>
              <a:chOff x="1871277" y="1576300"/>
              <a:chExt cx="1128371" cy="437861"/>
            </a:xfrm>
          </p:grpSpPr>
          <p:sp>
            <p:nvSpPr>
              <p:cNvPr id="72" name="Oval 7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73" name="Rectangle 7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74" name="Oval 7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75" name="Freeform 7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76" name="Freeform 7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77" name="Freeform 7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78" name="Freeform 7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79" name="Straight Connector 78"/>
              <p:cNvCxnSpPr>
                <a:endCxn id="7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80" name="Straight Connector 7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1" name="Group 327"/>
            <p:cNvGrpSpPr/>
            <p:nvPr/>
          </p:nvGrpSpPr>
          <p:grpSpPr bwMode="auto">
            <a:xfrm>
              <a:off x="665747" y="5144167"/>
              <a:ext cx="736172" cy="452961"/>
              <a:chOff x="1871277" y="1576300"/>
              <a:chExt cx="1128371" cy="437861"/>
            </a:xfrm>
          </p:grpSpPr>
          <p:sp>
            <p:nvSpPr>
              <p:cNvPr id="82" name="Oval 8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3" name="Rectangle 8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4" name="Oval 8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5" name="Freeform 8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6" name="Freeform 8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7" name="Freeform 8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8" name="Freeform 8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89" name="Straight Connector 88"/>
              <p:cNvCxnSpPr>
                <a:endCxn id="8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0" name="Straight Connector 8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91" name="Group 327"/>
            <p:cNvGrpSpPr/>
            <p:nvPr/>
          </p:nvGrpSpPr>
          <p:grpSpPr bwMode="auto">
            <a:xfrm>
              <a:off x="1753937" y="4440989"/>
              <a:ext cx="736172" cy="452961"/>
              <a:chOff x="1871277" y="1576300"/>
              <a:chExt cx="1128371" cy="437861"/>
            </a:xfrm>
          </p:grpSpPr>
          <p:sp>
            <p:nvSpPr>
              <p:cNvPr id="92" name="Oval 9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3" name="Rectangle 9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Oval 9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6" name="Freeform 9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Freeform 9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9" name="Freeform 9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0" name="Straight Connector 99"/>
              <p:cNvCxnSpPr>
                <a:endCxn id="9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395" name="Up-Down Arrow 394"/>
            <p:cNvSpPr/>
            <p:nvPr/>
          </p:nvSpPr>
          <p:spPr>
            <a:xfrm rot="21141209">
              <a:off x="2269785" y="3718179"/>
              <a:ext cx="191874" cy="2107535"/>
            </a:xfrm>
            <a:prstGeom prst="upDownArrow">
              <a:avLst/>
            </a:prstGeom>
            <a:solidFill>
              <a:srgbClr val="CC0000">
                <a:alpha val="78000"/>
              </a:srgbClr>
            </a:solidFill>
            <a:ln>
              <a:noFill/>
            </a:ln>
          </p:spPr>
          <p:txBody>
            <a:bodyPr rtlCol="0" anchor="ctr"/>
            <a:lstStyle/>
            <a:p>
              <a:pPr algn="ctr"/>
              <a:endParaRPr lang="en-US" dirty="0"/>
            </a:p>
          </p:txBody>
        </p:sp>
        <p:sp>
          <p:nvSpPr>
            <p:cNvPr id="392" name="Up-Down Arrow 391"/>
            <p:cNvSpPr/>
            <p:nvPr/>
          </p:nvSpPr>
          <p:spPr>
            <a:xfrm>
              <a:off x="1974262" y="3714785"/>
              <a:ext cx="191874" cy="823865"/>
            </a:xfrm>
            <a:prstGeom prst="upDownArrow">
              <a:avLst/>
            </a:prstGeom>
            <a:solidFill>
              <a:srgbClr val="CC0000">
                <a:alpha val="78000"/>
              </a:srgbClr>
            </a:solidFill>
            <a:ln>
              <a:noFill/>
            </a:ln>
          </p:spPr>
          <p:txBody>
            <a:bodyPr rtlCol="0" anchor="ctr"/>
            <a:lstStyle/>
            <a:p>
              <a:pPr algn="ctr"/>
              <a:endParaRPr lang="en-US" dirty="0"/>
            </a:p>
          </p:txBody>
        </p:sp>
        <p:sp>
          <p:nvSpPr>
            <p:cNvPr id="393" name="Up-Down Arrow 392"/>
            <p:cNvSpPr/>
            <p:nvPr/>
          </p:nvSpPr>
          <p:spPr>
            <a:xfrm rot="19054398">
              <a:off x="2872397" y="3460483"/>
              <a:ext cx="196901" cy="1849334"/>
            </a:xfrm>
            <a:prstGeom prst="upDownArrow">
              <a:avLst/>
            </a:prstGeom>
            <a:solidFill>
              <a:srgbClr val="CC0000">
                <a:alpha val="78000"/>
              </a:srgbClr>
            </a:solidFill>
            <a:ln>
              <a:noFill/>
            </a:ln>
          </p:spPr>
          <p:txBody>
            <a:bodyPr rtlCol="0" anchor="ctr"/>
            <a:lstStyle/>
            <a:p>
              <a:pPr algn="ctr"/>
              <a:endParaRPr lang="en-US" dirty="0"/>
            </a:p>
          </p:txBody>
        </p:sp>
        <p:sp>
          <p:nvSpPr>
            <p:cNvPr id="394" name="Up-Down Arrow 393"/>
            <p:cNvSpPr/>
            <p:nvPr/>
          </p:nvSpPr>
          <p:spPr>
            <a:xfrm rot="1537304" flipH="1">
              <a:off x="1441528" y="3583584"/>
              <a:ext cx="196901" cy="1720974"/>
            </a:xfrm>
            <a:prstGeom prst="upDownArrow">
              <a:avLst/>
            </a:prstGeom>
            <a:solidFill>
              <a:srgbClr val="CC0000">
                <a:alpha val="78000"/>
              </a:srgbClr>
            </a:solidFill>
            <a:ln>
              <a:noFill/>
            </a:ln>
          </p:spPr>
          <p:txBody>
            <a:bodyPr rtlCol="0" anchor="ctr"/>
            <a:lstStyle/>
            <a:p>
              <a:pPr algn="ctr"/>
              <a:endParaRPr lang="en-US" dirty="0"/>
            </a:p>
          </p:txBody>
        </p:sp>
      </p:grpSp>
      <p:sp>
        <p:nvSpPr>
          <p:cNvPr id="102" name="Slide Number Placeholder 5"/>
          <p:cNvSpPr>
            <a:spLocks noGrp="1"/>
          </p:cNvSpPr>
          <p:nvPr>
            <p:ph type="sldNum" sz="quarter" idx="12"/>
          </p:nvPr>
        </p:nvSpPr>
        <p:spPr>
          <a:xfrm>
            <a:off x="8456295" y="6465570"/>
            <a:ext cx="610235"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100</a:t>
            </a:fld>
            <a:endParaRPr lang="en-US" sz="1200" dirty="0">
              <a:latin typeface="Tahoma" panose="020B0604030504040204" charset="0"/>
            </a:endParaRPr>
          </a:p>
        </p:txBody>
      </p:sp>
      <p:sp>
        <p:nvSpPr>
          <p:cNvPr id="103"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07772" y="16916"/>
            <a:ext cx="8220982" cy="1143000"/>
          </a:xfrm>
        </p:spPr>
        <p:txBody>
          <a:bodyPr/>
          <a:lstStyle/>
          <a:p>
            <a:r>
              <a:rPr lang="en-US" sz="3200" dirty="0"/>
              <a:t>OpenFlow: controller-to-switch messages</a:t>
            </a:r>
          </a:p>
        </p:txBody>
      </p:sp>
      <p:sp>
        <p:nvSpPr>
          <p:cNvPr id="4" name="Content Placeholder 3"/>
          <p:cNvSpPr>
            <a:spLocks noGrp="1"/>
          </p:cNvSpPr>
          <p:nvPr>
            <p:ph sz="half" idx="2"/>
          </p:nvPr>
        </p:nvSpPr>
        <p:spPr>
          <a:xfrm>
            <a:off x="396929" y="1527156"/>
            <a:ext cx="5124230" cy="4648200"/>
          </a:xfrm>
        </p:spPr>
        <p:txBody>
          <a:bodyPr/>
          <a:lstStyle/>
          <a:p>
            <a:pPr marL="0" indent="0">
              <a:buNone/>
            </a:pPr>
            <a:r>
              <a:rPr lang="en-US" sz="2400" i="1" dirty="0">
                <a:solidFill>
                  <a:srgbClr val="000090"/>
                </a:solidFill>
              </a:rPr>
              <a:t>Key controller-to-switch messages</a:t>
            </a:r>
          </a:p>
          <a:p>
            <a:r>
              <a:rPr lang="en-US" sz="2400" i="1" dirty="0">
                <a:solidFill>
                  <a:srgbClr val="CC0000"/>
                </a:solidFill>
              </a:rPr>
              <a:t>features: </a:t>
            </a:r>
            <a:r>
              <a:rPr lang="en-US" sz="2400" dirty="0"/>
              <a:t>controller queries switch features, switch replies</a:t>
            </a:r>
          </a:p>
          <a:p>
            <a:r>
              <a:rPr lang="en-US" sz="2400" i="1" dirty="0">
                <a:solidFill>
                  <a:srgbClr val="CC0000"/>
                </a:solidFill>
              </a:rPr>
              <a:t>configure: </a:t>
            </a:r>
            <a:r>
              <a:rPr lang="en-US" sz="2400" dirty="0"/>
              <a:t>controller queries/sets switch configuration parameters</a:t>
            </a:r>
          </a:p>
          <a:p>
            <a:r>
              <a:rPr lang="en-US" sz="2400" i="1" dirty="0">
                <a:solidFill>
                  <a:srgbClr val="CC0000"/>
                </a:solidFill>
              </a:rPr>
              <a:t>modify-state: </a:t>
            </a:r>
            <a:r>
              <a:rPr lang="en-US" sz="2400" dirty="0"/>
              <a:t>add, delete, modify flow entries in the OpenFlow tables</a:t>
            </a:r>
          </a:p>
          <a:p>
            <a:r>
              <a:rPr lang="en-US" sz="2400" i="1" dirty="0">
                <a:solidFill>
                  <a:srgbClr val="CC0000"/>
                </a:solidFill>
              </a:rPr>
              <a:t>packet-out: </a:t>
            </a:r>
            <a:r>
              <a:rPr lang="en-US" sz="2400" dirty="0"/>
              <a:t>controller can send this packet out of specific switch port</a:t>
            </a:r>
          </a:p>
          <a:p>
            <a:endParaRPr lang="en-US" sz="2400" dirty="0"/>
          </a:p>
        </p:txBody>
      </p:sp>
      <p:pic>
        <p:nvPicPr>
          <p:cNvPr id="57"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4058" y="854421"/>
            <a:ext cx="7651267" cy="242741"/>
          </a:xfrm>
          <a:prstGeom prst="rect">
            <a:avLst/>
          </a:prstGeom>
          <a:noFill/>
          <a:ln>
            <a:noFill/>
          </a:ln>
        </p:spPr>
      </p:pic>
      <p:grpSp>
        <p:nvGrpSpPr>
          <p:cNvPr id="3" name="Group 2"/>
          <p:cNvGrpSpPr/>
          <p:nvPr/>
        </p:nvGrpSpPr>
        <p:grpSpPr>
          <a:xfrm>
            <a:off x="5841999" y="1871579"/>
            <a:ext cx="2822601" cy="3194648"/>
            <a:chOff x="5841999" y="1871579"/>
            <a:chExt cx="2822601" cy="3194648"/>
          </a:xfrm>
        </p:grpSpPr>
        <p:sp>
          <p:nvSpPr>
            <p:cNvPr id="56" name="Oval 55"/>
            <p:cNvSpPr/>
            <p:nvPr/>
          </p:nvSpPr>
          <p:spPr>
            <a:xfrm flipH="1">
              <a:off x="6510423" y="2429821"/>
              <a:ext cx="1078571" cy="751277"/>
            </a:xfrm>
            <a:prstGeom prst="ellipse">
              <a:avLst/>
            </a:prstGeom>
            <a:ln w="22225">
              <a:solidFill>
                <a:srgbClr val="CC0000"/>
              </a:solidFill>
              <a:prstDash val="dash"/>
            </a:ln>
          </p:spPr>
          <p:txBody>
            <a:bodyPr rtlCol="0" anchor="ctr"/>
            <a:lstStyle/>
            <a:p>
              <a:pPr algn="ctr"/>
              <a:endParaRPr lang="en-US" dirty="0"/>
            </a:p>
          </p:txBody>
        </p:sp>
        <p:grpSp>
          <p:nvGrpSpPr>
            <p:cNvPr id="72" name="Group 71"/>
            <p:cNvGrpSpPr/>
            <p:nvPr/>
          </p:nvGrpSpPr>
          <p:grpSpPr>
            <a:xfrm>
              <a:off x="5841999" y="1871579"/>
              <a:ext cx="2822601" cy="3194648"/>
              <a:chOff x="460628" y="1850015"/>
              <a:chExt cx="3899341" cy="4512949"/>
            </a:xfrm>
          </p:grpSpPr>
          <p:sp>
            <p:nvSpPr>
              <p:cNvPr id="73" name="Cloud 72"/>
              <p:cNvSpPr/>
              <p:nvPr/>
            </p:nvSpPr>
            <p:spPr>
              <a:xfrm>
                <a:off x="460628" y="4246149"/>
                <a:ext cx="3899341" cy="2116815"/>
              </a:xfrm>
              <a:prstGeom prst="cloud">
                <a:avLst/>
              </a:prstGeom>
              <a:noFill/>
              <a:ln>
                <a:solidFill>
                  <a:srgbClr val="000090"/>
                </a:solidFill>
              </a:ln>
              <a:effectLst>
                <a:outerShdw blurRad="40000" dist="23000" dir="5400000" rotWithShape="0">
                  <a:schemeClr val="accent6">
                    <a:lumMod val="40000"/>
                    <a:lumOff val="60000"/>
                    <a:alpha val="35000"/>
                  </a:schemeClr>
                </a:outerShdw>
              </a:effectLst>
            </p:spPr>
            <p:style>
              <a:lnRef idx="1">
                <a:schemeClr val="accent1"/>
              </a:lnRef>
              <a:fillRef idx="3">
                <a:schemeClr val="accent1"/>
              </a:fillRef>
              <a:effectRef idx="2">
                <a:schemeClr val="accent1"/>
              </a:effectRef>
              <a:fontRef idx="minor">
                <a:schemeClr val="lt1"/>
              </a:fontRef>
            </p:style>
            <p:txBody>
              <a:bodyPr anchor="ctr"/>
              <a:lstStyle/>
              <a:p>
                <a:pPr>
                  <a:defRPr/>
                </a:pPr>
                <a:endParaRPr lang="en-US"/>
              </a:p>
            </p:txBody>
          </p:sp>
          <p:cxnSp>
            <p:nvCxnSpPr>
              <p:cNvPr id="74" name="Straight Connector 73"/>
              <p:cNvCxnSpPr/>
              <p:nvPr/>
            </p:nvCxnSpPr>
            <p:spPr>
              <a:xfrm flipV="1">
                <a:off x="1124345" y="4538650"/>
                <a:ext cx="1203228" cy="819025"/>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1124345" y="5357675"/>
                <a:ext cx="1203228" cy="642373"/>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2133750" y="4795599"/>
                <a:ext cx="319671" cy="102779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a:off x="2404480" y="4715303"/>
                <a:ext cx="1307416" cy="33724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p:cNvCxnSpPr/>
              <p:nvPr/>
            </p:nvCxnSpPr>
            <p:spPr>
              <a:xfrm flipV="1">
                <a:off x="2596747" y="5245260"/>
                <a:ext cx="1115149" cy="754789"/>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79" name="Group 950"/>
              <p:cNvGrpSpPr/>
              <p:nvPr/>
            </p:nvGrpSpPr>
            <p:grpSpPr bwMode="auto">
              <a:xfrm>
                <a:off x="1839080" y="2785594"/>
                <a:ext cx="549038" cy="880838"/>
                <a:chOff x="4140" y="429"/>
                <a:chExt cx="1425" cy="2396"/>
              </a:xfrm>
            </p:grpSpPr>
            <p:sp>
              <p:nvSpPr>
                <p:cNvPr id="127" name="Freeform 951"/>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12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129" name="Freeform 953"/>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130" name="Freeform 954"/>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3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32" name="Group 956"/>
                <p:cNvGrpSpPr/>
                <p:nvPr/>
              </p:nvGrpSpPr>
              <p:grpSpPr bwMode="auto">
                <a:xfrm>
                  <a:off x="4749" y="668"/>
                  <a:ext cx="581" cy="145"/>
                  <a:chOff x="614" y="2568"/>
                  <a:chExt cx="725" cy="139"/>
                </a:xfrm>
              </p:grpSpPr>
              <p:sp>
                <p:nvSpPr>
                  <p:cNvPr id="157" name="AutoShape 957"/>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15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3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34" name="Group 960"/>
                <p:cNvGrpSpPr/>
                <p:nvPr/>
              </p:nvGrpSpPr>
              <p:grpSpPr bwMode="auto">
                <a:xfrm>
                  <a:off x="4747" y="994"/>
                  <a:ext cx="581" cy="134"/>
                  <a:chOff x="614" y="2568"/>
                  <a:chExt cx="725" cy="139"/>
                </a:xfrm>
              </p:grpSpPr>
              <p:sp>
                <p:nvSpPr>
                  <p:cNvPr id="155" name="AutoShape 961"/>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15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3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13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37" name="Group 965"/>
                <p:cNvGrpSpPr/>
                <p:nvPr/>
              </p:nvGrpSpPr>
              <p:grpSpPr bwMode="auto">
                <a:xfrm>
                  <a:off x="4735" y="1627"/>
                  <a:ext cx="582" cy="151"/>
                  <a:chOff x="614" y="2568"/>
                  <a:chExt cx="725" cy="139"/>
                </a:xfrm>
              </p:grpSpPr>
              <p:sp>
                <p:nvSpPr>
                  <p:cNvPr id="153" name="AutoShape 966"/>
                  <p:cNvSpPr>
                    <a:spLocks noChangeArrowheads="1"/>
                  </p:cNvSpPr>
                  <p:nvPr/>
                </p:nvSpPr>
                <p:spPr bwMode="auto">
                  <a:xfrm>
                    <a:off x="618" y="2586"/>
                    <a:ext cx="720" cy="124"/>
                  </a:xfrm>
                  <a:prstGeom prst="roundRect">
                    <a:avLst>
                      <a:gd name="adj" fmla="val 50000"/>
                    </a:avLst>
                  </a:prstGeom>
                  <a:solidFill>
                    <a:schemeClr val="tx1"/>
                  </a:solidFill>
                  <a:ln>
                    <a:noFill/>
                  </a:ln>
                </p:spPr>
                <p:txBody>
                  <a:bodyPr wrap="none" anchor="ctr"/>
                  <a:lstStyle/>
                  <a:p>
                    <a:endParaRPr lang="en-US"/>
                  </a:p>
                </p:txBody>
              </p:sp>
              <p:sp>
                <p:nvSpPr>
                  <p:cNvPr id="15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38" name="Freeform 968"/>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139" name="Group 969"/>
                <p:cNvGrpSpPr/>
                <p:nvPr/>
              </p:nvGrpSpPr>
              <p:grpSpPr bwMode="auto">
                <a:xfrm>
                  <a:off x="4739" y="1327"/>
                  <a:ext cx="582" cy="139"/>
                  <a:chOff x="614" y="2568"/>
                  <a:chExt cx="725" cy="139"/>
                </a:xfrm>
              </p:grpSpPr>
              <p:sp>
                <p:nvSpPr>
                  <p:cNvPr id="151" name="AutoShape 970"/>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15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4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141" name="Freeform 973"/>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42" name="Freeform 974"/>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43" name="Oval 975"/>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144" name="Freeform 976"/>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14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14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147" name="Oval 979"/>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148" name="Oval 980"/>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sz="1800">
                    <a:solidFill>
                      <a:srgbClr val="FF0000"/>
                    </a:solidFill>
                  </a:endParaRPr>
                </a:p>
              </p:txBody>
            </p:sp>
            <p:sp>
              <p:nvSpPr>
                <p:cNvPr id="149" name="Oval 981"/>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15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pic>
            <p:nvPicPr>
              <p:cNvPr id="80"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304880" y="2227106"/>
                <a:ext cx="1629624" cy="431371"/>
              </a:xfrm>
              <a:prstGeom prst="rect">
                <a:avLst/>
              </a:prstGeom>
              <a:noFill/>
              <a:ln>
                <a:noFill/>
              </a:ln>
            </p:spPr>
          </p:pic>
          <p:sp>
            <p:nvSpPr>
              <p:cNvPr id="81" name="TextBox 80"/>
              <p:cNvSpPr txBox="1"/>
              <p:nvPr/>
            </p:nvSpPr>
            <p:spPr>
              <a:xfrm>
                <a:off x="994856" y="1850015"/>
                <a:ext cx="2456797" cy="400110"/>
              </a:xfrm>
              <a:prstGeom prst="rect">
                <a:avLst/>
              </a:prstGeom>
              <a:noFill/>
            </p:spPr>
            <p:txBody>
              <a:bodyPr wrap="none" rtlCol="0">
                <a:spAutoFit/>
              </a:bodyPr>
              <a:lstStyle/>
              <a:p>
                <a:r>
                  <a:rPr lang="en-US" sz="2000" dirty="0">
                    <a:solidFill>
                      <a:srgbClr val="CC0000"/>
                    </a:solidFill>
                  </a:rPr>
                  <a:t>OpenFlow Controller</a:t>
                </a:r>
              </a:p>
            </p:txBody>
          </p:sp>
          <p:grpSp>
            <p:nvGrpSpPr>
              <p:cNvPr id="82" name="Group 327"/>
              <p:cNvGrpSpPr/>
              <p:nvPr/>
            </p:nvGrpSpPr>
            <p:grpSpPr bwMode="auto">
              <a:xfrm>
                <a:off x="2112211" y="5801894"/>
                <a:ext cx="736172" cy="452961"/>
                <a:chOff x="1871277" y="1576300"/>
                <a:chExt cx="1128371" cy="437861"/>
              </a:xfrm>
            </p:grpSpPr>
            <p:sp>
              <p:nvSpPr>
                <p:cNvPr id="118" name="Oval 11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9" name="Rectangle 11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0" name="Oval 11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1" name="Freeform 12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2" name="Freeform 12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3" name="Freeform 12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4" name="Freeform 12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5" name="Straight Connector 124"/>
                <p:cNvCxnSpPr>
                  <a:endCxn id="12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6" name="Straight Connector 12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3" name="Group 327"/>
              <p:cNvGrpSpPr/>
              <p:nvPr/>
            </p:nvGrpSpPr>
            <p:grpSpPr bwMode="auto">
              <a:xfrm>
                <a:off x="3547978" y="4938294"/>
                <a:ext cx="736172" cy="452961"/>
                <a:chOff x="1871277" y="1576300"/>
                <a:chExt cx="1128371" cy="437861"/>
              </a:xfrm>
            </p:grpSpPr>
            <p:sp>
              <p:nvSpPr>
                <p:cNvPr id="109" name="Oval 10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0" name="Rectangle 10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1" name="Oval 11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2" name="Freeform 11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 name="Freeform 11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 name="Freeform 11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 name="Freeform 11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6" name="Straight Connector 115"/>
                <p:cNvCxnSpPr>
                  <a:endCxn id="11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7" name="Straight Connector 11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4" name="Group 327"/>
              <p:cNvGrpSpPr/>
              <p:nvPr/>
            </p:nvGrpSpPr>
            <p:grpSpPr bwMode="auto">
              <a:xfrm>
                <a:off x="665747" y="5144167"/>
                <a:ext cx="736172" cy="452961"/>
                <a:chOff x="1871277" y="1576300"/>
                <a:chExt cx="1128371" cy="437861"/>
              </a:xfrm>
            </p:grpSpPr>
            <p:sp>
              <p:nvSpPr>
                <p:cNvPr id="100" name="Oval 9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1" name="Rectangle 10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2" name="Oval 10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3" name="Freeform 10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4" name="Freeform 10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Freeform 10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6" name="Freeform 10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7" name="Straight Connector 106"/>
                <p:cNvCxnSpPr>
                  <a:endCxn id="10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8" name="Straight Connector 10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5" name="Group 327"/>
              <p:cNvGrpSpPr/>
              <p:nvPr/>
            </p:nvGrpSpPr>
            <p:grpSpPr bwMode="auto">
              <a:xfrm>
                <a:off x="1753937" y="4440989"/>
                <a:ext cx="736172" cy="452961"/>
                <a:chOff x="1871277" y="1576300"/>
                <a:chExt cx="1128371" cy="437861"/>
              </a:xfrm>
            </p:grpSpPr>
            <p:sp>
              <p:nvSpPr>
                <p:cNvPr id="90" name="Oval 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1" name="Rectangle 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2" name="Oval 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3" name="Freeform 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Freeform 94"/>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6" name="Freeform 95"/>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8" name="Straight Connector 97"/>
                <p:cNvCxnSpPr>
                  <a:endCxn id="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9" name="Straight Connector 98"/>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86" name="Up-Down Arrow 85"/>
              <p:cNvSpPr/>
              <p:nvPr/>
            </p:nvSpPr>
            <p:spPr>
              <a:xfrm rot="21141209">
                <a:off x="2269785" y="3718179"/>
                <a:ext cx="191874" cy="2107535"/>
              </a:xfrm>
              <a:prstGeom prst="upDownArrow">
                <a:avLst/>
              </a:prstGeom>
              <a:solidFill>
                <a:srgbClr val="CC0000">
                  <a:alpha val="78000"/>
                </a:srgbClr>
              </a:solidFill>
              <a:ln>
                <a:noFill/>
              </a:ln>
            </p:spPr>
            <p:txBody>
              <a:bodyPr rtlCol="0" anchor="ctr"/>
              <a:lstStyle/>
              <a:p>
                <a:pPr algn="ctr"/>
                <a:endParaRPr lang="en-US" dirty="0"/>
              </a:p>
            </p:txBody>
          </p:sp>
          <p:sp>
            <p:nvSpPr>
              <p:cNvPr id="87" name="Up-Down Arrow 86"/>
              <p:cNvSpPr/>
              <p:nvPr/>
            </p:nvSpPr>
            <p:spPr>
              <a:xfrm>
                <a:off x="1974262" y="3714785"/>
                <a:ext cx="191874" cy="823865"/>
              </a:xfrm>
              <a:prstGeom prst="upDownArrow">
                <a:avLst/>
              </a:prstGeom>
              <a:solidFill>
                <a:srgbClr val="CC0000">
                  <a:alpha val="78000"/>
                </a:srgbClr>
              </a:solidFill>
              <a:ln>
                <a:noFill/>
              </a:ln>
            </p:spPr>
            <p:txBody>
              <a:bodyPr rtlCol="0" anchor="ctr"/>
              <a:lstStyle/>
              <a:p>
                <a:pPr algn="ctr"/>
                <a:endParaRPr lang="en-US" dirty="0"/>
              </a:p>
            </p:txBody>
          </p:sp>
          <p:sp>
            <p:nvSpPr>
              <p:cNvPr id="88" name="Up-Down Arrow 87"/>
              <p:cNvSpPr/>
              <p:nvPr/>
            </p:nvSpPr>
            <p:spPr>
              <a:xfrm rot="19054398">
                <a:off x="2872397" y="3460483"/>
                <a:ext cx="196901" cy="1849334"/>
              </a:xfrm>
              <a:prstGeom prst="upDownArrow">
                <a:avLst/>
              </a:prstGeom>
              <a:solidFill>
                <a:srgbClr val="CC0000">
                  <a:alpha val="78000"/>
                </a:srgbClr>
              </a:solidFill>
              <a:ln>
                <a:noFill/>
              </a:ln>
            </p:spPr>
            <p:txBody>
              <a:bodyPr rtlCol="0" anchor="ctr"/>
              <a:lstStyle/>
              <a:p>
                <a:pPr algn="ctr"/>
                <a:endParaRPr lang="en-US" dirty="0"/>
              </a:p>
            </p:txBody>
          </p:sp>
          <p:sp>
            <p:nvSpPr>
              <p:cNvPr id="89" name="Up-Down Arrow 88"/>
              <p:cNvSpPr/>
              <p:nvPr/>
            </p:nvSpPr>
            <p:spPr>
              <a:xfrm rot="1537304" flipH="1">
                <a:off x="1441528" y="3583584"/>
                <a:ext cx="196901" cy="1720974"/>
              </a:xfrm>
              <a:prstGeom prst="upDownArrow">
                <a:avLst/>
              </a:prstGeom>
              <a:solidFill>
                <a:srgbClr val="CC0000">
                  <a:alpha val="78000"/>
                </a:srgbClr>
              </a:solidFill>
              <a:ln>
                <a:noFill/>
              </a:ln>
            </p:spPr>
            <p:txBody>
              <a:bodyPr rtlCol="0" anchor="ctr"/>
              <a:lstStyle/>
              <a:p>
                <a:pPr algn="ctr"/>
                <a:endParaRPr lang="en-US" dirty="0"/>
              </a:p>
            </p:txBody>
          </p:sp>
        </p:grpSp>
      </p:grpSp>
      <p:sp>
        <p:nvSpPr>
          <p:cNvPr id="159" name="Slide Number Placeholder 5"/>
          <p:cNvSpPr>
            <a:spLocks noGrp="1"/>
          </p:cNvSpPr>
          <p:nvPr>
            <p:ph type="sldNum" sz="quarter" idx="12"/>
          </p:nvPr>
        </p:nvSpPr>
        <p:spPr>
          <a:xfrm>
            <a:off x="8456295" y="6475730"/>
            <a:ext cx="65532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101</a:t>
            </a:fld>
            <a:endParaRPr lang="en-US" sz="1200" dirty="0">
              <a:latin typeface="Tahoma" panose="020B0604030504040204" charset="0"/>
            </a:endParaRPr>
          </a:p>
        </p:txBody>
      </p:sp>
      <p:sp>
        <p:nvSpPr>
          <p:cNvPr id="160"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274" y="795640"/>
            <a:ext cx="8154854" cy="193624"/>
          </a:xfrm>
          <a:prstGeom prst="rect">
            <a:avLst/>
          </a:prstGeom>
          <a:noFill/>
          <a:ln>
            <a:noFill/>
          </a:ln>
        </p:spPr>
      </p:pic>
      <p:sp>
        <p:nvSpPr>
          <p:cNvPr id="2" name="Title 1"/>
          <p:cNvSpPr>
            <a:spLocks noGrp="1"/>
          </p:cNvSpPr>
          <p:nvPr>
            <p:ph type="title"/>
          </p:nvPr>
        </p:nvSpPr>
        <p:spPr>
          <a:xfrm>
            <a:off x="354146" y="16916"/>
            <a:ext cx="8220982" cy="1143000"/>
          </a:xfrm>
        </p:spPr>
        <p:txBody>
          <a:bodyPr/>
          <a:lstStyle/>
          <a:p>
            <a:r>
              <a:rPr lang="en-US" sz="3200" dirty="0"/>
              <a:t>OpenFlow: switch-to-controller messages</a:t>
            </a:r>
          </a:p>
        </p:txBody>
      </p:sp>
      <p:sp>
        <p:nvSpPr>
          <p:cNvPr id="4" name="Content Placeholder 3"/>
          <p:cNvSpPr>
            <a:spLocks noGrp="1"/>
          </p:cNvSpPr>
          <p:nvPr>
            <p:ph sz="half" idx="2"/>
          </p:nvPr>
        </p:nvSpPr>
        <p:spPr>
          <a:xfrm>
            <a:off x="396928" y="1160200"/>
            <a:ext cx="5732959" cy="4648200"/>
          </a:xfrm>
        </p:spPr>
        <p:txBody>
          <a:bodyPr/>
          <a:lstStyle/>
          <a:p>
            <a:pPr marL="0" indent="0">
              <a:buNone/>
            </a:pPr>
            <a:r>
              <a:rPr lang="en-US" i="1" dirty="0">
                <a:solidFill>
                  <a:srgbClr val="000090"/>
                </a:solidFill>
              </a:rPr>
              <a:t>Key switch-to-controller messages</a:t>
            </a:r>
          </a:p>
          <a:p>
            <a:r>
              <a:rPr lang="en-US" i="1" dirty="0">
                <a:solidFill>
                  <a:srgbClr val="CC0000"/>
                </a:solidFill>
              </a:rPr>
              <a:t>packet-in: </a:t>
            </a:r>
            <a:r>
              <a:rPr lang="en-US" dirty="0"/>
              <a:t>transfer packet (and its control) to controller.  See packet-out message from controller</a:t>
            </a:r>
          </a:p>
          <a:p>
            <a:r>
              <a:rPr lang="en-US" i="1" dirty="0">
                <a:solidFill>
                  <a:srgbClr val="CC0000"/>
                </a:solidFill>
              </a:rPr>
              <a:t>flow-removed: </a:t>
            </a:r>
            <a:r>
              <a:rPr lang="en-US" dirty="0"/>
              <a:t>flow table entry deleted at switch</a:t>
            </a:r>
          </a:p>
          <a:p>
            <a:r>
              <a:rPr lang="en-US" i="1" dirty="0">
                <a:solidFill>
                  <a:srgbClr val="CC0000"/>
                </a:solidFill>
              </a:rPr>
              <a:t>port status: </a:t>
            </a:r>
            <a:r>
              <a:rPr lang="en-US" dirty="0"/>
              <a:t>inform controller of a change on a port.</a:t>
            </a:r>
          </a:p>
        </p:txBody>
      </p:sp>
      <p:sp>
        <p:nvSpPr>
          <p:cNvPr id="19" name="TextBox 18"/>
          <p:cNvSpPr txBox="1"/>
          <p:nvPr/>
        </p:nvSpPr>
        <p:spPr>
          <a:xfrm>
            <a:off x="679538" y="5108719"/>
            <a:ext cx="7876252" cy="1200328"/>
          </a:xfrm>
          <a:prstGeom prst="rect">
            <a:avLst/>
          </a:prstGeom>
          <a:noFill/>
        </p:spPr>
        <p:txBody>
          <a:bodyPr wrap="square" rtlCol="0">
            <a:spAutoFit/>
          </a:bodyPr>
          <a:lstStyle/>
          <a:p>
            <a:r>
              <a:rPr lang="en-US" sz="2400" dirty="0">
                <a:solidFill>
                  <a:srgbClr val="000090"/>
                </a:solidFill>
                <a:latin typeface="+mn-lt"/>
              </a:rPr>
              <a:t>Fortunately, network operators don’t “program” switches by creating/sending OpenFlow messages directly.  Instead use higher-level abstraction at controller</a:t>
            </a:r>
          </a:p>
        </p:txBody>
      </p:sp>
      <p:grpSp>
        <p:nvGrpSpPr>
          <p:cNvPr id="58" name="Group 57"/>
          <p:cNvGrpSpPr/>
          <p:nvPr/>
        </p:nvGrpSpPr>
        <p:grpSpPr>
          <a:xfrm>
            <a:off x="5841999" y="1644323"/>
            <a:ext cx="2822601" cy="3194648"/>
            <a:chOff x="5841999" y="1871579"/>
            <a:chExt cx="2822601" cy="3194648"/>
          </a:xfrm>
        </p:grpSpPr>
        <p:sp>
          <p:nvSpPr>
            <p:cNvPr id="59" name="Oval 58"/>
            <p:cNvSpPr/>
            <p:nvPr/>
          </p:nvSpPr>
          <p:spPr>
            <a:xfrm flipH="1">
              <a:off x="6510423" y="2429821"/>
              <a:ext cx="1078571" cy="751277"/>
            </a:xfrm>
            <a:prstGeom prst="ellipse">
              <a:avLst/>
            </a:prstGeom>
            <a:ln w="22225">
              <a:solidFill>
                <a:srgbClr val="CC0000"/>
              </a:solidFill>
              <a:prstDash val="dash"/>
            </a:ln>
          </p:spPr>
          <p:txBody>
            <a:bodyPr rtlCol="0" anchor="ctr"/>
            <a:lstStyle/>
            <a:p>
              <a:pPr algn="ctr"/>
              <a:endParaRPr lang="en-US" dirty="0"/>
            </a:p>
          </p:txBody>
        </p:sp>
        <p:grpSp>
          <p:nvGrpSpPr>
            <p:cNvPr id="61" name="Group 60"/>
            <p:cNvGrpSpPr/>
            <p:nvPr/>
          </p:nvGrpSpPr>
          <p:grpSpPr>
            <a:xfrm>
              <a:off x="5841999" y="1871579"/>
              <a:ext cx="2822601" cy="3194648"/>
              <a:chOff x="460628" y="1850015"/>
              <a:chExt cx="3899341" cy="4512949"/>
            </a:xfrm>
          </p:grpSpPr>
          <p:sp>
            <p:nvSpPr>
              <p:cNvPr id="62" name="Cloud 61"/>
              <p:cNvSpPr/>
              <p:nvPr/>
            </p:nvSpPr>
            <p:spPr>
              <a:xfrm>
                <a:off x="460628" y="4246149"/>
                <a:ext cx="3899341" cy="2116815"/>
              </a:xfrm>
              <a:prstGeom prst="cloud">
                <a:avLst/>
              </a:prstGeom>
              <a:noFill/>
              <a:ln>
                <a:solidFill>
                  <a:srgbClr val="000090"/>
                </a:solidFill>
              </a:ln>
              <a:effectLst>
                <a:outerShdw blurRad="40000" dist="23000" dir="5400000" rotWithShape="0">
                  <a:schemeClr val="accent6">
                    <a:lumMod val="40000"/>
                    <a:lumOff val="60000"/>
                    <a:alpha val="35000"/>
                  </a:schemeClr>
                </a:outerShdw>
              </a:effectLst>
            </p:spPr>
            <p:style>
              <a:lnRef idx="1">
                <a:schemeClr val="accent1"/>
              </a:lnRef>
              <a:fillRef idx="3">
                <a:schemeClr val="accent1"/>
              </a:fillRef>
              <a:effectRef idx="2">
                <a:schemeClr val="accent1"/>
              </a:effectRef>
              <a:fontRef idx="minor">
                <a:schemeClr val="lt1"/>
              </a:fontRef>
            </p:style>
            <p:txBody>
              <a:bodyPr anchor="ctr"/>
              <a:lstStyle/>
              <a:p>
                <a:pPr>
                  <a:defRPr/>
                </a:pPr>
                <a:endParaRPr lang="en-US"/>
              </a:p>
            </p:txBody>
          </p:sp>
          <p:cxnSp>
            <p:nvCxnSpPr>
              <p:cNvPr id="63" name="Straight Connector 62"/>
              <p:cNvCxnSpPr/>
              <p:nvPr/>
            </p:nvCxnSpPr>
            <p:spPr>
              <a:xfrm flipV="1">
                <a:off x="1124345" y="4538650"/>
                <a:ext cx="1203228" cy="819025"/>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 name="Straight Connector 63"/>
              <p:cNvCxnSpPr/>
              <p:nvPr/>
            </p:nvCxnSpPr>
            <p:spPr>
              <a:xfrm>
                <a:off x="1124345" y="5357675"/>
                <a:ext cx="1203228" cy="642373"/>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5" name="Straight Connector 64"/>
              <p:cNvCxnSpPr/>
              <p:nvPr/>
            </p:nvCxnSpPr>
            <p:spPr>
              <a:xfrm>
                <a:off x="2133750" y="4795599"/>
                <a:ext cx="319671" cy="102779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6" name="Straight Connector 65"/>
              <p:cNvCxnSpPr/>
              <p:nvPr/>
            </p:nvCxnSpPr>
            <p:spPr>
              <a:xfrm>
                <a:off x="2404480" y="4715303"/>
                <a:ext cx="1307416" cy="33724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7" name="Straight Connector 66"/>
              <p:cNvCxnSpPr/>
              <p:nvPr/>
            </p:nvCxnSpPr>
            <p:spPr>
              <a:xfrm flipV="1">
                <a:off x="2596747" y="5245260"/>
                <a:ext cx="1115149" cy="754789"/>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68" name="Group 950"/>
              <p:cNvGrpSpPr/>
              <p:nvPr/>
            </p:nvGrpSpPr>
            <p:grpSpPr bwMode="auto">
              <a:xfrm>
                <a:off x="1839080" y="2785594"/>
                <a:ext cx="549038" cy="880838"/>
                <a:chOff x="4140" y="429"/>
                <a:chExt cx="1425" cy="2396"/>
              </a:xfrm>
            </p:grpSpPr>
            <p:sp>
              <p:nvSpPr>
                <p:cNvPr id="116" name="Freeform 951"/>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p:spPr>
              <p:txBody>
                <a:bodyPr/>
                <a:lstStyle/>
                <a:p>
                  <a:endParaRPr lang="en-US"/>
                </a:p>
              </p:txBody>
            </p:sp>
            <p:sp>
              <p:nvSpPr>
                <p:cNvPr id="117"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p:spPr>
              <p:txBody>
                <a:bodyPr wrap="none" anchor="ctr"/>
                <a:lstStyle/>
                <a:p>
                  <a:endParaRPr lang="en-US"/>
                </a:p>
              </p:txBody>
            </p:sp>
            <p:sp>
              <p:nvSpPr>
                <p:cNvPr id="118" name="Freeform 953"/>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p:spPr>
              <p:txBody>
                <a:bodyPr/>
                <a:lstStyle/>
                <a:p>
                  <a:endParaRPr lang="en-US"/>
                </a:p>
              </p:txBody>
            </p:sp>
            <p:sp>
              <p:nvSpPr>
                <p:cNvPr id="119" name="Freeform 954"/>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20"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21" name="Group 956"/>
                <p:cNvGrpSpPr/>
                <p:nvPr/>
              </p:nvGrpSpPr>
              <p:grpSpPr bwMode="auto">
                <a:xfrm>
                  <a:off x="4749" y="668"/>
                  <a:ext cx="581" cy="145"/>
                  <a:chOff x="614" y="2568"/>
                  <a:chExt cx="725" cy="139"/>
                </a:xfrm>
              </p:grpSpPr>
              <p:sp>
                <p:nvSpPr>
                  <p:cNvPr id="146" name="AutoShape 957"/>
                  <p:cNvSpPr>
                    <a:spLocks noChangeArrowheads="1"/>
                  </p:cNvSpPr>
                  <p:nvPr/>
                </p:nvSpPr>
                <p:spPr bwMode="auto">
                  <a:xfrm>
                    <a:off x="613" y="2566"/>
                    <a:ext cx="721" cy="144"/>
                  </a:xfrm>
                  <a:prstGeom prst="roundRect">
                    <a:avLst>
                      <a:gd name="adj" fmla="val 50000"/>
                    </a:avLst>
                  </a:prstGeom>
                  <a:solidFill>
                    <a:schemeClr val="tx1"/>
                  </a:solidFill>
                  <a:ln>
                    <a:noFill/>
                  </a:ln>
                </p:spPr>
                <p:txBody>
                  <a:bodyPr wrap="none" anchor="ctr"/>
                  <a:lstStyle/>
                  <a:p>
                    <a:endParaRPr lang="en-US"/>
                  </a:p>
                </p:txBody>
              </p:sp>
              <p:sp>
                <p:nvSpPr>
                  <p:cNvPr id="147"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22"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23" name="Group 960"/>
                <p:cNvGrpSpPr/>
                <p:nvPr/>
              </p:nvGrpSpPr>
              <p:grpSpPr bwMode="auto">
                <a:xfrm>
                  <a:off x="4747" y="994"/>
                  <a:ext cx="581" cy="134"/>
                  <a:chOff x="614" y="2568"/>
                  <a:chExt cx="725" cy="139"/>
                </a:xfrm>
              </p:grpSpPr>
              <p:sp>
                <p:nvSpPr>
                  <p:cNvPr id="144" name="AutoShape 961"/>
                  <p:cNvSpPr>
                    <a:spLocks noChangeArrowheads="1"/>
                  </p:cNvSpPr>
                  <p:nvPr/>
                </p:nvSpPr>
                <p:spPr bwMode="auto">
                  <a:xfrm>
                    <a:off x="615" y="2564"/>
                    <a:ext cx="721" cy="139"/>
                  </a:xfrm>
                  <a:prstGeom prst="roundRect">
                    <a:avLst>
                      <a:gd name="adj" fmla="val 50000"/>
                    </a:avLst>
                  </a:prstGeom>
                  <a:solidFill>
                    <a:schemeClr val="tx1"/>
                  </a:solidFill>
                  <a:ln>
                    <a:noFill/>
                  </a:ln>
                </p:spPr>
                <p:txBody>
                  <a:bodyPr wrap="none" anchor="ctr"/>
                  <a:lstStyle/>
                  <a:p>
                    <a:endParaRPr lang="en-US"/>
                  </a:p>
                </p:txBody>
              </p:sp>
              <p:sp>
                <p:nvSpPr>
                  <p:cNvPr id="145"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24"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ln>
              </p:spPr>
              <p:txBody>
                <a:bodyPr wrap="none" anchor="ctr"/>
                <a:lstStyle/>
                <a:p>
                  <a:endParaRPr lang="en-US"/>
                </a:p>
              </p:txBody>
            </p:sp>
            <p:sp>
              <p:nvSpPr>
                <p:cNvPr id="125"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ln>
              </p:spPr>
              <p:txBody>
                <a:bodyPr wrap="none" anchor="ctr"/>
                <a:lstStyle/>
                <a:p>
                  <a:endParaRPr lang="en-US"/>
                </a:p>
              </p:txBody>
            </p:sp>
            <p:grpSp>
              <p:nvGrpSpPr>
                <p:cNvPr id="126" name="Group 965"/>
                <p:cNvGrpSpPr/>
                <p:nvPr/>
              </p:nvGrpSpPr>
              <p:grpSpPr bwMode="auto">
                <a:xfrm>
                  <a:off x="4735" y="1627"/>
                  <a:ext cx="582" cy="151"/>
                  <a:chOff x="614" y="2568"/>
                  <a:chExt cx="725" cy="139"/>
                </a:xfrm>
              </p:grpSpPr>
              <p:sp>
                <p:nvSpPr>
                  <p:cNvPr id="142" name="AutoShape 966"/>
                  <p:cNvSpPr>
                    <a:spLocks noChangeArrowheads="1"/>
                  </p:cNvSpPr>
                  <p:nvPr/>
                </p:nvSpPr>
                <p:spPr bwMode="auto">
                  <a:xfrm>
                    <a:off x="618" y="2586"/>
                    <a:ext cx="720" cy="124"/>
                  </a:xfrm>
                  <a:prstGeom prst="roundRect">
                    <a:avLst>
                      <a:gd name="adj" fmla="val 50000"/>
                    </a:avLst>
                  </a:prstGeom>
                  <a:solidFill>
                    <a:schemeClr val="tx1"/>
                  </a:solidFill>
                  <a:ln>
                    <a:noFill/>
                  </a:ln>
                </p:spPr>
                <p:txBody>
                  <a:bodyPr wrap="none" anchor="ctr"/>
                  <a:lstStyle/>
                  <a:p>
                    <a:endParaRPr lang="en-US"/>
                  </a:p>
                </p:txBody>
              </p:sp>
              <p:sp>
                <p:nvSpPr>
                  <p:cNvPr id="143"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27" name="Freeform 968"/>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grpSp>
              <p:nvGrpSpPr>
                <p:cNvPr id="128" name="Group 969"/>
                <p:cNvGrpSpPr/>
                <p:nvPr/>
              </p:nvGrpSpPr>
              <p:grpSpPr bwMode="auto">
                <a:xfrm>
                  <a:off x="4739" y="1327"/>
                  <a:ext cx="582" cy="139"/>
                  <a:chOff x="614" y="2568"/>
                  <a:chExt cx="725" cy="139"/>
                </a:xfrm>
              </p:grpSpPr>
              <p:sp>
                <p:nvSpPr>
                  <p:cNvPr id="140" name="AutoShape 970"/>
                  <p:cNvSpPr>
                    <a:spLocks noChangeArrowheads="1"/>
                  </p:cNvSpPr>
                  <p:nvPr/>
                </p:nvSpPr>
                <p:spPr bwMode="auto">
                  <a:xfrm>
                    <a:off x="613" y="2571"/>
                    <a:ext cx="732" cy="134"/>
                  </a:xfrm>
                  <a:prstGeom prst="roundRect">
                    <a:avLst>
                      <a:gd name="adj" fmla="val 50000"/>
                    </a:avLst>
                  </a:prstGeom>
                  <a:solidFill>
                    <a:schemeClr val="tx1"/>
                  </a:solidFill>
                  <a:ln>
                    <a:noFill/>
                  </a:ln>
                </p:spPr>
                <p:txBody>
                  <a:bodyPr wrap="none" anchor="ctr"/>
                  <a:lstStyle/>
                  <a:p>
                    <a:endParaRPr lang="en-US"/>
                  </a:p>
                </p:txBody>
              </p:sp>
              <p:sp>
                <p:nvSpPr>
                  <p:cNvPr id="141"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p:spPr>
                <p:txBody>
                  <a:bodyPr wrap="none" anchor="ctr"/>
                  <a:lstStyle/>
                  <a:p>
                    <a:endParaRPr lang="en-US"/>
                  </a:p>
                </p:txBody>
              </p:sp>
            </p:grpSp>
            <p:sp>
              <p:nvSpPr>
                <p:cNvPr id="129"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p:spPr>
              <p:txBody>
                <a:bodyPr wrap="none" anchor="ctr"/>
                <a:lstStyle/>
                <a:p>
                  <a:endParaRPr lang="en-US"/>
                </a:p>
              </p:txBody>
            </p:sp>
            <p:sp>
              <p:nvSpPr>
                <p:cNvPr id="130" name="Freeform 973"/>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31" name="Freeform 974"/>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p:spPr>
              <p:txBody>
                <a:bodyPr/>
                <a:lstStyle/>
                <a:p>
                  <a:endParaRPr lang="en-US"/>
                </a:p>
              </p:txBody>
            </p:sp>
            <p:sp>
              <p:nvSpPr>
                <p:cNvPr id="132" name="Oval 975"/>
                <p:cNvSpPr>
                  <a:spLocks noChangeArrowheads="1"/>
                </p:cNvSpPr>
                <p:nvPr/>
              </p:nvSpPr>
              <p:spPr bwMode="auto">
                <a:xfrm>
                  <a:off x="5515" y="2611"/>
                  <a:ext cx="50" cy="95"/>
                </a:xfrm>
                <a:prstGeom prst="ellipse">
                  <a:avLst/>
                </a:prstGeom>
                <a:solidFill>
                  <a:srgbClr val="333333"/>
                </a:solidFill>
                <a:ln>
                  <a:noFill/>
                </a:ln>
              </p:spPr>
              <p:txBody>
                <a:bodyPr wrap="none" anchor="ctr"/>
                <a:lstStyle/>
                <a:p>
                  <a:endParaRPr lang="en-US"/>
                </a:p>
              </p:txBody>
            </p:sp>
            <p:sp>
              <p:nvSpPr>
                <p:cNvPr id="133" name="Freeform 976"/>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p:spPr>
              <p:txBody>
                <a:bodyPr/>
                <a:lstStyle/>
                <a:p>
                  <a:endParaRPr lang="en-US"/>
                </a:p>
              </p:txBody>
            </p:sp>
            <p:sp>
              <p:nvSpPr>
                <p:cNvPr id="134"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ln>
              </p:spPr>
              <p:txBody>
                <a:bodyPr wrap="none" anchor="ctr"/>
                <a:lstStyle/>
                <a:p>
                  <a:endParaRPr lang="en-US"/>
                </a:p>
              </p:txBody>
            </p:sp>
            <p:sp>
              <p:nvSpPr>
                <p:cNvPr id="135"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p:spPr>
              <p:txBody>
                <a:bodyPr wrap="none" anchor="ctr"/>
                <a:lstStyle/>
                <a:p>
                  <a:endParaRPr lang="en-US"/>
                </a:p>
              </p:txBody>
            </p:sp>
            <p:sp>
              <p:nvSpPr>
                <p:cNvPr id="136" name="Oval 979"/>
                <p:cNvSpPr>
                  <a:spLocks noChangeArrowheads="1"/>
                </p:cNvSpPr>
                <p:nvPr/>
              </p:nvSpPr>
              <p:spPr bwMode="auto">
                <a:xfrm>
                  <a:off x="4309" y="2382"/>
                  <a:ext cx="159" cy="142"/>
                </a:xfrm>
                <a:prstGeom prst="ellipse">
                  <a:avLst/>
                </a:prstGeom>
                <a:solidFill>
                  <a:srgbClr val="33CC33"/>
                </a:solidFill>
                <a:ln>
                  <a:noFill/>
                </a:ln>
              </p:spPr>
              <p:txBody>
                <a:bodyPr wrap="none" anchor="ctr"/>
                <a:lstStyle/>
                <a:p>
                  <a:endParaRPr lang="en-US"/>
                </a:p>
              </p:txBody>
            </p:sp>
            <p:sp>
              <p:nvSpPr>
                <p:cNvPr id="137" name="Oval 980"/>
                <p:cNvSpPr>
                  <a:spLocks noChangeArrowheads="1"/>
                </p:cNvSpPr>
                <p:nvPr/>
              </p:nvSpPr>
              <p:spPr bwMode="auto">
                <a:xfrm>
                  <a:off x="4489" y="2382"/>
                  <a:ext cx="159" cy="142"/>
                </a:xfrm>
                <a:prstGeom prst="ellipse">
                  <a:avLst/>
                </a:prstGeom>
                <a:solidFill>
                  <a:srgbClr val="FF0000"/>
                </a:solidFill>
                <a:ln>
                  <a:noFill/>
                </a:ln>
              </p:spPr>
              <p:txBody>
                <a:bodyPr wrap="none" anchor="ctr"/>
                <a:lstStyle/>
                <a:p>
                  <a:pPr algn="ctr" eaLnBrk="1" hangingPunct="1"/>
                  <a:endParaRPr lang="en-US" sz="1800">
                    <a:solidFill>
                      <a:srgbClr val="FF0000"/>
                    </a:solidFill>
                  </a:endParaRPr>
                </a:p>
              </p:txBody>
            </p:sp>
            <p:sp>
              <p:nvSpPr>
                <p:cNvPr id="138" name="Oval 981"/>
                <p:cNvSpPr>
                  <a:spLocks noChangeArrowheads="1"/>
                </p:cNvSpPr>
                <p:nvPr/>
              </p:nvSpPr>
              <p:spPr bwMode="auto">
                <a:xfrm>
                  <a:off x="4658" y="2382"/>
                  <a:ext cx="159" cy="142"/>
                </a:xfrm>
                <a:prstGeom prst="ellipse">
                  <a:avLst/>
                </a:prstGeom>
                <a:solidFill>
                  <a:srgbClr val="33CC33"/>
                </a:solidFill>
                <a:ln>
                  <a:noFill/>
                </a:ln>
              </p:spPr>
              <p:txBody>
                <a:bodyPr wrap="none" anchor="ctr"/>
                <a:lstStyle/>
                <a:p>
                  <a:endParaRPr lang="en-US"/>
                </a:p>
              </p:txBody>
            </p:sp>
            <p:sp>
              <p:nvSpPr>
                <p:cNvPr id="139"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ln>
              </p:spPr>
              <p:txBody>
                <a:bodyPr wrap="none" anchor="ctr"/>
                <a:lstStyle/>
                <a:p>
                  <a:endParaRPr lang="en-US"/>
                </a:p>
              </p:txBody>
            </p:sp>
          </p:grpSp>
          <p:pic>
            <p:nvPicPr>
              <p:cNvPr id="69"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304880" y="2227106"/>
                <a:ext cx="1629624" cy="431371"/>
              </a:xfrm>
              <a:prstGeom prst="rect">
                <a:avLst/>
              </a:prstGeom>
              <a:noFill/>
              <a:ln>
                <a:noFill/>
              </a:ln>
            </p:spPr>
          </p:pic>
          <p:sp>
            <p:nvSpPr>
              <p:cNvPr id="70" name="TextBox 69"/>
              <p:cNvSpPr txBox="1"/>
              <p:nvPr/>
            </p:nvSpPr>
            <p:spPr>
              <a:xfrm>
                <a:off x="994856" y="1850015"/>
                <a:ext cx="2456797" cy="400110"/>
              </a:xfrm>
              <a:prstGeom prst="rect">
                <a:avLst/>
              </a:prstGeom>
              <a:noFill/>
            </p:spPr>
            <p:txBody>
              <a:bodyPr wrap="none" rtlCol="0">
                <a:spAutoFit/>
              </a:bodyPr>
              <a:lstStyle/>
              <a:p>
                <a:r>
                  <a:rPr lang="en-US" sz="2000" dirty="0">
                    <a:solidFill>
                      <a:srgbClr val="CC0000"/>
                    </a:solidFill>
                  </a:rPr>
                  <a:t>OpenFlow Controller</a:t>
                </a:r>
              </a:p>
            </p:txBody>
          </p:sp>
          <p:grpSp>
            <p:nvGrpSpPr>
              <p:cNvPr id="71" name="Group 327"/>
              <p:cNvGrpSpPr/>
              <p:nvPr/>
            </p:nvGrpSpPr>
            <p:grpSpPr bwMode="auto">
              <a:xfrm>
                <a:off x="2112211" y="5801894"/>
                <a:ext cx="736172" cy="452961"/>
                <a:chOff x="1871277" y="1576300"/>
                <a:chExt cx="1128371" cy="437861"/>
              </a:xfrm>
            </p:grpSpPr>
            <p:sp>
              <p:nvSpPr>
                <p:cNvPr id="107" name="Oval 10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8" name="Rectangle 10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9" name="Oval 10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0" name="Freeform 10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1" name="Freeform 11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2" name="Freeform 11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 name="Freeform 11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4" name="Straight Connector 113"/>
                <p:cNvCxnSpPr>
                  <a:endCxn id="10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5" name="Straight Connector 11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2" name="Group 327"/>
              <p:cNvGrpSpPr/>
              <p:nvPr/>
            </p:nvGrpSpPr>
            <p:grpSpPr bwMode="auto">
              <a:xfrm>
                <a:off x="3547978" y="4938294"/>
                <a:ext cx="736172" cy="452961"/>
                <a:chOff x="1871277" y="1576300"/>
                <a:chExt cx="1128371" cy="437861"/>
              </a:xfrm>
            </p:grpSpPr>
            <p:sp>
              <p:nvSpPr>
                <p:cNvPr id="98" name="Oval 9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9" name="Rectangle 9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0" name="Oval 9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1" name="Freeform 10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2" name="Freeform 10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3" name="Freeform 10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4" name="Freeform 10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5" name="Straight Connector 104"/>
                <p:cNvCxnSpPr>
                  <a:endCxn id="10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6" name="Straight Connector 10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3" name="Group 327"/>
              <p:cNvGrpSpPr/>
              <p:nvPr/>
            </p:nvGrpSpPr>
            <p:grpSpPr bwMode="auto">
              <a:xfrm>
                <a:off x="665747" y="5144167"/>
                <a:ext cx="736172" cy="452961"/>
                <a:chOff x="1871277" y="1576300"/>
                <a:chExt cx="1128371" cy="437861"/>
              </a:xfrm>
            </p:grpSpPr>
            <p:sp>
              <p:nvSpPr>
                <p:cNvPr id="88" name="Oval 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9" name="Rectangle 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0" name="Oval 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1" name="Freeform 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2" name="Freeform 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3" name="Freeform 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Freeform 9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6" name="Straight Connector 95"/>
                <p:cNvCxnSpPr>
                  <a:endCxn id="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7" name="Straight Connector 9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4" name="Group 327"/>
              <p:cNvGrpSpPr/>
              <p:nvPr/>
            </p:nvGrpSpPr>
            <p:grpSpPr bwMode="auto">
              <a:xfrm>
                <a:off x="1753937" y="4440989"/>
                <a:ext cx="736172" cy="452961"/>
                <a:chOff x="1871277" y="1576300"/>
                <a:chExt cx="1128371" cy="437861"/>
              </a:xfrm>
            </p:grpSpPr>
            <p:sp>
              <p:nvSpPr>
                <p:cNvPr id="79" name="Oval 7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0" name="Rectangle 7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1" name="Oval 8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2" name="Freeform 8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3" name="Freeform 8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4" name="Freeform 8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5" name="Freeform 8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86" name="Straight Connector 85"/>
                <p:cNvCxnSpPr>
                  <a:endCxn id="8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87" name="Straight Connector 8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75" name="Up-Down Arrow 74"/>
              <p:cNvSpPr/>
              <p:nvPr/>
            </p:nvSpPr>
            <p:spPr>
              <a:xfrm rot="21141209">
                <a:off x="2269785" y="3718179"/>
                <a:ext cx="191874" cy="2107535"/>
              </a:xfrm>
              <a:prstGeom prst="upDownArrow">
                <a:avLst/>
              </a:prstGeom>
              <a:solidFill>
                <a:srgbClr val="CC0000">
                  <a:alpha val="78000"/>
                </a:srgbClr>
              </a:solidFill>
              <a:ln>
                <a:noFill/>
              </a:ln>
            </p:spPr>
            <p:txBody>
              <a:bodyPr rtlCol="0" anchor="ctr"/>
              <a:lstStyle/>
              <a:p>
                <a:pPr algn="ctr"/>
                <a:endParaRPr lang="en-US" dirty="0"/>
              </a:p>
            </p:txBody>
          </p:sp>
          <p:sp>
            <p:nvSpPr>
              <p:cNvPr id="76" name="Up-Down Arrow 75"/>
              <p:cNvSpPr/>
              <p:nvPr/>
            </p:nvSpPr>
            <p:spPr>
              <a:xfrm>
                <a:off x="1974262" y="3714785"/>
                <a:ext cx="191874" cy="823865"/>
              </a:xfrm>
              <a:prstGeom prst="upDownArrow">
                <a:avLst/>
              </a:prstGeom>
              <a:solidFill>
                <a:srgbClr val="CC0000">
                  <a:alpha val="78000"/>
                </a:srgbClr>
              </a:solidFill>
              <a:ln>
                <a:noFill/>
              </a:ln>
            </p:spPr>
            <p:txBody>
              <a:bodyPr rtlCol="0" anchor="ctr"/>
              <a:lstStyle/>
              <a:p>
                <a:pPr algn="ctr"/>
                <a:endParaRPr lang="en-US" dirty="0"/>
              </a:p>
            </p:txBody>
          </p:sp>
          <p:sp>
            <p:nvSpPr>
              <p:cNvPr id="77" name="Up-Down Arrow 76"/>
              <p:cNvSpPr/>
              <p:nvPr/>
            </p:nvSpPr>
            <p:spPr>
              <a:xfrm rot="19054398">
                <a:off x="2872397" y="3460483"/>
                <a:ext cx="196901" cy="1849334"/>
              </a:xfrm>
              <a:prstGeom prst="upDownArrow">
                <a:avLst/>
              </a:prstGeom>
              <a:solidFill>
                <a:srgbClr val="CC0000">
                  <a:alpha val="78000"/>
                </a:srgbClr>
              </a:solidFill>
              <a:ln>
                <a:noFill/>
              </a:ln>
            </p:spPr>
            <p:txBody>
              <a:bodyPr rtlCol="0" anchor="ctr"/>
              <a:lstStyle/>
              <a:p>
                <a:pPr algn="ctr"/>
                <a:endParaRPr lang="en-US" dirty="0"/>
              </a:p>
            </p:txBody>
          </p:sp>
          <p:sp>
            <p:nvSpPr>
              <p:cNvPr id="78" name="Up-Down Arrow 77"/>
              <p:cNvSpPr/>
              <p:nvPr/>
            </p:nvSpPr>
            <p:spPr>
              <a:xfrm rot="1537304" flipH="1">
                <a:off x="1441528" y="3583584"/>
                <a:ext cx="196901" cy="1720974"/>
              </a:xfrm>
              <a:prstGeom prst="upDownArrow">
                <a:avLst/>
              </a:prstGeom>
              <a:solidFill>
                <a:srgbClr val="CC0000">
                  <a:alpha val="78000"/>
                </a:srgbClr>
              </a:solidFill>
              <a:ln>
                <a:noFill/>
              </a:ln>
            </p:spPr>
            <p:txBody>
              <a:bodyPr rtlCol="0" anchor="ctr"/>
              <a:lstStyle/>
              <a:p>
                <a:pPr algn="ctr"/>
                <a:endParaRPr lang="en-US" dirty="0"/>
              </a:p>
            </p:txBody>
          </p:sp>
        </p:grpSp>
      </p:grpSp>
      <p:sp>
        <p:nvSpPr>
          <p:cNvPr id="148" name="Slide Number Placeholder 5"/>
          <p:cNvSpPr>
            <a:spLocks noGrp="1"/>
          </p:cNvSpPr>
          <p:nvPr>
            <p:ph type="sldNum" sz="quarter" idx="12"/>
          </p:nvPr>
        </p:nvSpPr>
        <p:spPr>
          <a:xfrm>
            <a:off x="8456295" y="6475730"/>
            <a:ext cx="65532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102</a:t>
            </a:fld>
            <a:endParaRPr lang="en-US" sz="1200" dirty="0">
              <a:latin typeface="Tahoma" panose="020B0604030504040204" charset="0"/>
            </a:endParaRPr>
          </a:p>
        </p:txBody>
      </p:sp>
      <p:sp>
        <p:nvSpPr>
          <p:cNvPr id="14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 name="Rounded Rectangle 374"/>
          <p:cNvSpPr/>
          <p:nvPr/>
        </p:nvSpPr>
        <p:spPr>
          <a:xfrm>
            <a:off x="441168" y="2793983"/>
            <a:ext cx="4211052" cy="1062452"/>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380" name="Rounded Rectangle 379"/>
          <p:cNvSpPr/>
          <p:nvPr/>
        </p:nvSpPr>
        <p:spPr>
          <a:xfrm>
            <a:off x="467904" y="3990524"/>
            <a:ext cx="4184316" cy="545543"/>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cxnSp>
        <p:nvCxnSpPr>
          <p:cNvPr id="386" name="Straight Connector 385"/>
          <p:cNvCxnSpPr/>
          <p:nvPr/>
        </p:nvCxnSpPr>
        <p:spPr bwMode="auto">
          <a:xfrm>
            <a:off x="508006" y="4638847"/>
            <a:ext cx="4104106" cy="0"/>
          </a:xfrm>
          <a:prstGeom prst="line">
            <a:avLst/>
          </a:prstGeom>
          <a:solidFill>
            <a:schemeClr val="accent1"/>
          </a:solidFill>
          <a:ln w="19050" cap="flat" cmpd="sng" algn="ctr">
            <a:solidFill>
              <a:schemeClr val="tx1"/>
            </a:solidFill>
            <a:prstDash val="dash"/>
            <a:round/>
            <a:headEnd type="none" w="med" len="med"/>
            <a:tailEnd type="none" w="med" len="med"/>
          </a:ln>
          <a:effectLst/>
        </p:spPr>
      </p:cxnSp>
      <p:grpSp>
        <p:nvGrpSpPr>
          <p:cNvPr id="401" name="Group 400"/>
          <p:cNvGrpSpPr/>
          <p:nvPr/>
        </p:nvGrpSpPr>
        <p:grpSpPr>
          <a:xfrm>
            <a:off x="590136" y="3368823"/>
            <a:ext cx="1244650" cy="411995"/>
            <a:chOff x="3128876" y="457817"/>
            <a:chExt cx="1432326" cy="459826"/>
          </a:xfrm>
        </p:grpSpPr>
        <p:sp>
          <p:nvSpPr>
            <p:cNvPr id="402" name="Rounded Rectangle 40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03" name="TextBox 402"/>
            <p:cNvSpPr txBox="1"/>
            <p:nvPr/>
          </p:nvSpPr>
          <p:spPr>
            <a:xfrm>
              <a:off x="3178769" y="541671"/>
              <a:ext cx="1302385"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Link-state info</a:t>
              </a:r>
            </a:p>
          </p:txBody>
        </p:sp>
      </p:grpSp>
      <p:grpSp>
        <p:nvGrpSpPr>
          <p:cNvPr id="404" name="Group 403"/>
          <p:cNvGrpSpPr/>
          <p:nvPr/>
        </p:nvGrpSpPr>
        <p:grpSpPr>
          <a:xfrm>
            <a:off x="3459852" y="3382192"/>
            <a:ext cx="1165638" cy="398626"/>
            <a:chOff x="3034354" y="534843"/>
            <a:chExt cx="1525489" cy="382800"/>
          </a:xfrm>
        </p:grpSpPr>
        <p:sp>
          <p:nvSpPr>
            <p:cNvPr id="405" name="Rounded Rectangle 404"/>
            <p:cNvSpPr/>
            <p:nvPr/>
          </p:nvSpPr>
          <p:spPr>
            <a:xfrm>
              <a:off x="3128876" y="534843"/>
              <a:ext cx="1325987" cy="382800"/>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06" name="TextBox 405"/>
            <p:cNvSpPr txBox="1"/>
            <p:nvPr/>
          </p:nvSpPr>
          <p:spPr>
            <a:xfrm>
              <a:off x="3034354" y="593020"/>
              <a:ext cx="1525489"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switch info</a:t>
              </a:r>
            </a:p>
          </p:txBody>
        </p:sp>
      </p:grpSp>
      <p:grpSp>
        <p:nvGrpSpPr>
          <p:cNvPr id="407" name="Group 406"/>
          <p:cNvGrpSpPr/>
          <p:nvPr/>
        </p:nvGrpSpPr>
        <p:grpSpPr>
          <a:xfrm>
            <a:off x="1982268" y="3368823"/>
            <a:ext cx="960359" cy="411995"/>
            <a:chOff x="3128876" y="457817"/>
            <a:chExt cx="1432326" cy="459826"/>
          </a:xfrm>
        </p:grpSpPr>
        <p:sp>
          <p:nvSpPr>
            <p:cNvPr id="408" name="Rounded Rectangle 407"/>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09" name="TextBox 408"/>
            <p:cNvSpPr txBox="1"/>
            <p:nvPr/>
          </p:nvSpPr>
          <p:spPr>
            <a:xfrm>
              <a:off x="3205754" y="541671"/>
              <a:ext cx="1287660"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host info</a:t>
              </a:r>
            </a:p>
          </p:txBody>
        </p:sp>
      </p:grpSp>
      <p:grpSp>
        <p:nvGrpSpPr>
          <p:cNvPr id="410" name="Group 409"/>
          <p:cNvGrpSpPr/>
          <p:nvPr/>
        </p:nvGrpSpPr>
        <p:grpSpPr>
          <a:xfrm>
            <a:off x="521932" y="2874191"/>
            <a:ext cx="889706" cy="382826"/>
            <a:chOff x="3128876" y="457817"/>
            <a:chExt cx="1432326" cy="459826"/>
          </a:xfrm>
        </p:grpSpPr>
        <p:sp>
          <p:nvSpPr>
            <p:cNvPr id="411" name="Rounded Rectangle 410"/>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12" name="TextBox 411"/>
            <p:cNvSpPr txBox="1"/>
            <p:nvPr/>
          </p:nvSpPr>
          <p:spPr>
            <a:xfrm>
              <a:off x="3198565" y="509557"/>
              <a:ext cx="1302043"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statistics</a:t>
              </a:r>
            </a:p>
          </p:txBody>
        </p:sp>
      </p:grpSp>
      <p:grpSp>
        <p:nvGrpSpPr>
          <p:cNvPr id="413" name="Group 412"/>
          <p:cNvGrpSpPr/>
          <p:nvPr/>
        </p:nvGrpSpPr>
        <p:grpSpPr>
          <a:xfrm>
            <a:off x="3249716" y="2860821"/>
            <a:ext cx="1032905" cy="404965"/>
            <a:chOff x="3099264" y="457817"/>
            <a:chExt cx="1540525" cy="459826"/>
          </a:xfrm>
        </p:grpSpPr>
        <p:sp>
          <p:nvSpPr>
            <p:cNvPr id="414" name="Rounded Rectangle 413"/>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15" name="TextBox 414"/>
            <p:cNvSpPr txBox="1"/>
            <p:nvPr/>
          </p:nvSpPr>
          <p:spPr>
            <a:xfrm>
              <a:off x="3099264" y="526493"/>
              <a:ext cx="1540525"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flow tables</a:t>
              </a:r>
            </a:p>
          </p:txBody>
        </p:sp>
      </p:grpSp>
      <p:sp>
        <p:nvSpPr>
          <p:cNvPr id="416" name="TextBox 415"/>
          <p:cNvSpPr txBox="1"/>
          <p:nvPr/>
        </p:nvSpPr>
        <p:spPr>
          <a:xfrm>
            <a:off x="2458723" y="2496236"/>
            <a:ext cx="570238" cy="1077218"/>
          </a:xfrm>
          <a:prstGeom prst="rect">
            <a:avLst/>
          </a:prstGeom>
          <a:noFill/>
        </p:spPr>
        <p:txBody>
          <a:bodyPr wrap="square" rtlCol="0">
            <a:spAutoFit/>
          </a:bodyPr>
          <a:lstStyle/>
          <a:p>
            <a:r>
              <a:rPr lang="en-US" sz="3200" dirty="0">
                <a:solidFill>
                  <a:schemeClr val="accent1">
                    <a:lumMod val="60000"/>
                    <a:lumOff val="40000"/>
                  </a:schemeClr>
                </a:solidFill>
              </a:rPr>
              <a:t>…  </a:t>
            </a:r>
          </a:p>
        </p:txBody>
      </p:sp>
      <p:sp>
        <p:nvSpPr>
          <p:cNvPr id="417" name="TextBox 416"/>
          <p:cNvSpPr txBox="1"/>
          <p:nvPr/>
        </p:nvSpPr>
        <p:spPr>
          <a:xfrm>
            <a:off x="3005244" y="3133033"/>
            <a:ext cx="595035"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grpSp>
        <p:nvGrpSpPr>
          <p:cNvPr id="418" name="Group 417"/>
          <p:cNvGrpSpPr/>
          <p:nvPr/>
        </p:nvGrpSpPr>
        <p:grpSpPr>
          <a:xfrm>
            <a:off x="1076595" y="4121691"/>
            <a:ext cx="1257452" cy="286824"/>
            <a:chOff x="3128876" y="457775"/>
            <a:chExt cx="1432326" cy="459868"/>
          </a:xfrm>
        </p:grpSpPr>
        <p:sp>
          <p:nvSpPr>
            <p:cNvPr id="419" name="Rounded Rectangle 41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20" name="TextBox 419"/>
            <p:cNvSpPr txBox="1"/>
            <p:nvPr/>
          </p:nvSpPr>
          <p:spPr>
            <a:xfrm>
              <a:off x="3278378" y="457775"/>
              <a:ext cx="1142401"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OpenFlow</a:t>
              </a:r>
            </a:p>
          </p:txBody>
        </p:sp>
      </p:grpSp>
      <p:grpSp>
        <p:nvGrpSpPr>
          <p:cNvPr id="421" name="Group 420"/>
          <p:cNvGrpSpPr/>
          <p:nvPr/>
        </p:nvGrpSpPr>
        <p:grpSpPr>
          <a:xfrm>
            <a:off x="2945827" y="4126474"/>
            <a:ext cx="1244650" cy="307410"/>
            <a:chOff x="3128876" y="457817"/>
            <a:chExt cx="1432326" cy="459826"/>
          </a:xfrm>
        </p:grpSpPr>
        <p:sp>
          <p:nvSpPr>
            <p:cNvPr id="422" name="Rounded Rectangle 42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23" name="TextBox 422"/>
            <p:cNvSpPr txBox="1"/>
            <p:nvPr/>
          </p:nvSpPr>
          <p:spPr>
            <a:xfrm>
              <a:off x="3446730" y="484746"/>
              <a:ext cx="805702"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SNMP</a:t>
              </a:r>
            </a:p>
          </p:txBody>
        </p:sp>
      </p:grpSp>
      <p:sp>
        <p:nvSpPr>
          <p:cNvPr id="424" name="TextBox 423"/>
          <p:cNvSpPr txBox="1"/>
          <p:nvPr/>
        </p:nvSpPr>
        <p:spPr>
          <a:xfrm>
            <a:off x="2328584" y="3796493"/>
            <a:ext cx="595035"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sp>
        <p:nvSpPr>
          <p:cNvPr id="146" name="Rounded Rectangle 145"/>
          <p:cNvSpPr/>
          <p:nvPr/>
        </p:nvSpPr>
        <p:spPr>
          <a:xfrm>
            <a:off x="441167" y="2098823"/>
            <a:ext cx="4211053" cy="574748"/>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grpSp>
        <p:nvGrpSpPr>
          <p:cNvPr id="425" name="Group 424"/>
          <p:cNvGrpSpPr/>
          <p:nvPr/>
        </p:nvGrpSpPr>
        <p:grpSpPr>
          <a:xfrm>
            <a:off x="535393" y="2131433"/>
            <a:ext cx="1033900" cy="504412"/>
            <a:chOff x="3103238" y="432317"/>
            <a:chExt cx="1461287" cy="504412"/>
          </a:xfrm>
        </p:grpSpPr>
        <p:sp>
          <p:nvSpPr>
            <p:cNvPr id="426" name="Rounded Rectangle 425"/>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27" name="TextBox 426"/>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400" dirty="0">
                  <a:latin typeface="Arial" panose="020B0604020202090204"/>
                  <a:cs typeface="Arial" panose="020B0604020202090204"/>
                </a:rPr>
                <a:t>network graph</a:t>
              </a:r>
            </a:p>
          </p:txBody>
        </p:sp>
      </p:grpSp>
      <p:grpSp>
        <p:nvGrpSpPr>
          <p:cNvPr id="428" name="Group 427"/>
          <p:cNvGrpSpPr/>
          <p:nvPr/>
        </p:nvGrpSpPr>
        <p:grpSpPr>
          <a:xfrm>
            <a:off x="3508898" y="2156720"/>
            <a:ext cx="1033900" cy="459826"/>
            <a:chOff x="3103238" y="457817"/>
            <a:chExt cx="1461287" cy="459826"/>
          </a:xfrm>
        </p:grpSpPr>
        <p:sp>
          <p:nvSpPr>
            <p:cNvPr id="429" name="Rounded Rectangle 42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30" name="TextBox 429"/>
            <p:cNvSpPr txBox="1"/>
            <p:nvPr/>
          </p:nvSpPr>
          <p:spPr>
            <a:xfrm>
              <a:off x="3103238" y="553253"/>
              <a:ext cx="1461287" cy="299227"/>
            </a:xfrm>
            <a:prstGeom prst="rect">
              <a:avLst/>
            </a:prstGeom>
            <a:noFill/>
          </p:spPr>
          <p:txBody>
            <a:bodyPr wrap="square" rtlCol="0">
              <a:spAutoFit/>
            </a:bodyPr>
            <a:lstStyle/>
            <a:p>
              <a:pPr algn="ctr">
                <a:lnSpc>
                  <a:spcPts val="1600"/>
                </a:lnSpc>
              </a:pPr>
              <a:r>
                <a:rPr lang="en-US" sz="1400" dirty="0">
                  <a:latin typeface="Arial" panose="020B0604020202090204"/>
                  <a:cs typeface="Arial" panose="020B0604020202090204"/>
                </a:rPr>
                <a:t>intent</a:t>
              </a:r>
            </a:p>
          </p:txBody>
        </p:sp>
      </p:grpSp>
      <p:grpSp>
        <p:nvGrpSpPr>
          <p:cNvPr id="431" name="Group 430"/>
          <p:cNvGrpSpPr/>
          <p:nvPr/>
        </p:nvGrpSpPr>
        <p:grpSpPr>
          <a:xfrm>
            <a:off x="1952059" y="2129889"/>
            <a:ext cx="1033900" cy="504412"/>
            <a:chOff x="3103238" y="432317"/>
            <a:chExt cx="1461287" cy="504412"/>
          </a:xfrm>
        </p:grpSpPr>
        <p:sp>
          <p:nvSpPr>
            <p:cNvPr id="432" name="Rounded Rectangle 43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33" name="TextBox 432"/>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400" dirty="0" err="1">
                  <a:latin typeface="Arial" panose="020B0604020202090204"/>
                  <a:cs typeface="Arial" panose="020B0604020202090204"/>
                </a:rPr>
                <a:t>RESTful</a:t>
              </a:r>
              <a:endParaRPr lang="en-US" sz="1400" dirty="0">
                <a:latin typeface="Arial" panose="020B0604020202090204"/>
                <a:cs typeface="Arial" panose="020B0604020202090204"/>
              </a:endParaRPr>
            </a:p>
            <a:p>
              <a:pPr algn="ctr">
                <a:lnSpc>
                  <a:spcPts val="1600"/>
                </a:lnSpc>
              </a:pPr>
              <a:r>
                <a:rPr lang="en-US" sz="1400" dirty="0">
                  <a:latin typeface="Arial" panose="020B0604020202090204"/>
                  <a:cs typeface="Arial" panose="020B0604020202090204"/>
                </a:rPr>
                <a:t>API</a:t>
              </a:r>
            </a:p>
          </p:txBody>
        </p:sp>
      </p:grpSp>
      <p:sp>
        <p:nvSpPr>
          <p:cNvPr id="434" name="TextBox 433"/>
          <p:cNvSpPr txBox="1"/>
          <p:nvPr/>
        </p:nvSpPr>
        <p:spPr>
          <a:xfrm>
            <a:off x="3007181" y="1957959"/>
            <a:ext cx="627904"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cxnSp>
        <p:nvCxnSpPr>
          <p:cNvPr id="154" name="Straight Connector 153"/>
          <p:cNvCxnSpPr/>
          <p:nvPr/>
        </p:nvCxnSpPr>
        <p:spPr bwMode="auto">
          <a:xfrm flipV="1">
            <a:off x="521378" y="1925056"/>
            <a:ext cx="4117474" cy="1"/>
          </a:xfrm>
          <a:prstGeom prst="line">
            <a:avLst/>
          </a:prstGeom>
          <a:solidFill>
            <a:schemeClr val="accent1"/>
          </a:solidFill>
          <a:ln w="19050" cap="flat" cmpd="sng" algn="ctr">
            <a:solidFill>
              <a:schemeClr val="tx1"/>
            </a:solidFill>
            <a:prstDash val="dash"/>
            <a:round/>
            <a:headEnd type="none" w="med" len="med"/>
            <a:tailEnd type="none" w="med" len="med"/>
          </a:ln>
          <a:effectLst/>
        </p:spPr>
      </p:cxnSp>
      <p:sp>
        <p:nvSpPr>
          <p:cNvPr id="157" name="Freeform 2"/>
          <p:cNvSpPr/>
          <p:nvPr/>
        </p:nvSpPr>
        <p:spPr bwMode="auto">
          <a:xfrm>
            <a:off x="509074" y="5069969"/>
            <a:ext cx="4057421" cy="1393030"/>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p:spPr>
        <p:txBody>
          <a:bodyPr wrap="none" anchor="ctr"/>
          <a:lstStyle/>
          <a:p>
            <a:pPr defTabSz="914400" eaLnBrk="0" fontAlgn="base" hangingPunct="0">
              <a:spcBef>
                <a:spcPct val="0"/>
              </a:spcBef>
              <a:spcAft>
                <a:spcPct val="0"/>
              </a:spcAft>
            </a:pPr>
            <a:endParaRPr lang="en-US">
              <a:solidFill>
                <a:srgbClr val="000000"/>
              </a:solidFill>
              <a:latin typeface="Arial" panose="020B0604020202090204" pitchFamily="34" charset="0"/>
              <a:ea typeface="MS PGothic" charset="0"/>
              <a:cs typeface="MS PGothic" charset="0"/>
            </a:endParaRPr>
          </a:p>
        </p:txBody>
      </p:sp>
      <p:cxnSp>
        <p:nvCxnSpPr>
          <p:cNvPr id="166" name="Straight Connector 165"/>
          <p:cNvCxnSpPr/>
          <p:nvPr/>
        </p:nvCxnSpPr>
        <p:spPr bwMode="auto">
          <a:xfrm flipV="1">
            <a:off x="1592143" y="5453530"/>
            <a:ext cx="615520" cy="282224"/>
          </a:xfrm>
          <a:prstGeom prst="line">
            <a:avLst/>
          </a:prstGeom>
          <a:solidFill>
            <a:schemeClr val="accent1"/>
          </a:solidFill>
          <a:ln w="34925" cap="flat" cmpd="sng" algn="ctr">
            <a:solidFill>
              <a:srgbClr val="FF0000"/>
            </a:solidFill>
            <a:prstDash val="solid"/>
            <a:round/>
            <a:headEnd type="none" w="med" len="med"/>
            <a:tailEnd type="none" w="med" len="med"/>
          </a:ln>
          <a:effectLst/>
        </p:spPr>
      </p:cxnSp>
      <p:cxnSp>
        <p:nvCxnSpPr>
          <p:cNvPr id="167" name="Straight Connector 166"/>
          <p:cNvCxnSpPr/>
          <p:nvPr/>
        </p:nvCxnSpPr>
        <p:spPr bwMode="auto">
          <a:xfrm>
            <a:off x="1581927" y="5759398"/>
            <a:ext cx="1651340" cy="138604"/>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p:spPr>
      </p:cxnSp>
      <p:cxnSp>
        <p:nvCxnSpPr>
          <p:cNvPr id="168" name="Straight Connector 167"/>
          <p:cNvCxnSpPr>
            <a:endCxn id="353" idx="1"/>
          </p:cNvCxnSpPr>
          <p:nvPr/>
        </p:nvCxnSpPr>
        <p:spPr bwMode="auto">
          <a:xfrm>
            <a:off x="1592143" y="5816064"/>
            <a:ext cx="318002" cy="387552"/>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p:spPr>
      </p:cxnSp>
      <p:cxnSp>
        <p:nvCxnSpPr>
          <p:cNvPr id="169" name="Straight Connector 168"/>
          <p:cNvCxnSpPr>
            <a:stCxn id="339" idx="3"/>
          </p:cNvCxnSpPr>
          <p:nvPr/>
        </p:nvCxnSpPr>
        <p:spPr bwMode="auto">
          <a:xfrm>
            <a:off x="2893995" y="5449380"/>
            <a:ext cx="333142" cy="421301"/>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p:spPr>
      </p:cxnSp>
      <p:cxnSp>
        <p:nvCxnSpPr>
          <p:cNvPr id="170" name="Straight Connector 169"/>
          <p:cNvCxnSpPr/>
          <p:nvPr/>
        </p:nvCxnSpPr>
        <p:spPr bwMode="auto">
          <a:xfrm flipV="1">
            <a:off x="2371572" y="5956693"/>
            <a:ext cx="861695" cy="275422"/>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p:spPr>
      </p:cxnSp>
      <p:sp>
        <p:nvSpPr>
          <p:cNvPr id="224" name="Freeform 223"/>
          <p:cNvSpPr/>
          <p:nvPr/>
        </p:nvSpPr>
        <p:spPr>
          <a:xfrm>
            <a:off x="1449442" y="1774754"/>
            <a:ext cx="710887" cy="3730652"/>
          </a:xfrm>
          <a:custGeom>
            <a:avLst/>
            <a:gdLst>
              <a:gd name="connsiteX0" fmla="*/ 3902322 w 3902322"/>
              <a:gd name="connsiteY0" fmla="*/ 0 h 449814"/>
              <a:gd name="connsiteX1" fmla="*/ 3452563 w 3902322"/>
              <a:gd name="connsiteY1" fmla="*/ 449814 h 449814"/>
              <a:gd name="connsiteX2" fmla="*/ 343934 w 3902322"/>
              <a:gd name="connsiteY2" fmla="*/ 423354 h 449814"/>
              <a:gd name="connsiteX3" fmla="*/ 0 w 3902322"/>
              <a:gd name="connsiteY3" fmla="*/ 39690 h 449814"/>
              <a:gd name="connsiteX0-1" fmla="*/ 3902322 w 3902322"/>
              <a:gd name="connsiteY0-2" fmla="*/ 0 h 423354"/>
              <a:gd name="connsiteX1-3" fmla="*/ 3565324 w 3902322"/>
              <a:gd name="connsiteY1-4" fmla="*/ 402338 h 423354"/>
              <a:gd name="connsiteX2-5" fmla="*/ 343934 w 3902322"/>
              <a:gd name="connsiteY2-6" fmla="*/ 423354 h 423354"/>
              <a:gd name="connsiteX3-7" fmla="*/ 0 w 3902322"/>
              <a:gd name="connsiteY3-8" fmla="*/ 39690 h 423354"/>
              <a:gd name="connsiteX0-9" fmla="*/ 3902322 w 3902322"/>
              <a:gd name="connsiteY0-10" fmla="*/ 0 h 423354"/>
              <a:gd name="connsiteX1-11" fmla="*/ 3600933 w 3902322"/>
              <a:gd name="connsiteY1-12" fmla="*/ 384535 h 423354"/>
              <a:gd name="connsiteX2-13" fmla="*/ 343934 w 3902322"/>
              <a:gd name="connsiteY2-14" fmla="*/ 423354 h 423354"/>
              <a:gd name="connsiteX3-15" fmla="*/ 0 w 3902322"/>
              <a:gd name="connsiteY3-16" fmla="*/ 39690 h 423354"/>
              <a:gd name="connsiteX0-17" fmla="*/ 3943865 w 3943865"/>
              <a:gd name="connsiteY0-18" fmla="*/ 1851 h 383664"/>
              <a:gd name="connsiteX1-19" fmla="*/ 3600933 w 3943865"/>
              <a:gd name="connsiteY1-20" fmla="*/ 344845 h 383664"/>
              <a:gd name="connsiteX2-21" fmla="*/ 343934 w 3943865"/>
              <a:gd name="connsiteY2-22" fmla="*/ 383664 h 383664"/>
              <a:gd name="connsiteX3-23" fmla="*/ 0 w 3943865"/>
              <a:gd name="connsiteY3-24" fmla="*/ 0 h 383664"/>
              <a:gd name="connsiteX0-25" fmla="*/ 4015082 w 4015082"/>
              <a:gd name="connsiteY0-26" fmla="*/ 29941 h 383664"/>
              <a:gd name="connsiteX1-27" fmla="*/ 3600933 w 4015082"/>
              <a:gd name="connsiteY1-28" fmla="*/ 344845 h 383664"/>
              <a:gd name="connsiteX2-29" fmla="*/ 343934 w 4015082"/>
              <a:gd name="connsiteY2-30" fmla="*/ 383664 h 383664"/>
              <a:gd name="connsiteX3-31" fmla="*/ 0 w 4015082"/>
              <a:gd name="connsiteY3-32" fmla="*/ 0 h 383664"/>
              <a:gd name="connsiteX0-33" fmla="*/ 4187190 w 4187190"/>
              <a:gd name="connsiteY0-34" fmla="*/ 15896 h 369619"/>
              <a:gd name="connsiteX1-35" fmla="*/ 3773041 w 4187190"/>
              <a:gd name="connsiteY1-36" fmla="*/ 330800 h 369619"/>
              <a:gd name="connsiteX2-37" fmla="*/ 516042 w 4187190"/>
              <a:gd name="connsiteY2-38" fmla="*/ 369619 h 369619"/>
              <a:gd name="connsiteX3-39" fmla="*/ 0 w 4187190"/>
              <a:gd name="connsiteY3-40" fmla="*/ 0 h 369619"/>
              <a:gd name="connsiteX0-41" fmla="*/ 4187190 w 4187190"/>
              <a:gd name="connsiteY0-42" fmla="*/ 15896 h 369619"/>
              <a:gd name="connsiteX1-43" fmla="*/ 3749302 w 4187190"/>
              <a:gd name="connsiteY1-44" fmla="*/ 349527 h 369619"/>
              <a:gd name="connsiteX2-45" fmla="*/ 516042 w 4187190"/>
              <a:gd name="connsiteY2-46" fmla="*/ 369619 h 369619"/>
              <a:gd name="connsiteX3-47" fmla="*/ 0 w 4187190"/>
              <a:gd name="connsiteY3-48" fmla="*/ 0 h 369619"/>
              <a:gd name="connsiteX0-49" fmla="*/ 0 w 6265284"/>
              <a:gd name="connsiteY0-50" fmla="*/ 0 h 1092877"/>
              <a:gd name="connsiteX1-51" fmla="*/ 6265284 w 6265284"/>
              <a:gd name="connsiteY1-52" fmla="*/ 1072785 h 1092877"/>
              <a:gd name="connsiteX2-53" fmla="*/ 3032024 w 6265284"/>
              <a:gd name="connsiteY2-54" fmla="*/ 1092877 h 1092877"/>
              <a:gd name="connsiteX3-55" fmla="*/ 2515982 w 6265284"/>
              <a:gd name="connsiteY3-56" fmla="*/ 723258 h 1092877"/>
              <a:gd name="connsiteX0-57" fmla="*/ 0 w 3032024"/>
              <a:gd name="connsiteY0-58" fmla="*/ 1193950 h 2286827"/>
              <a:gd name="connsiteX1-59" fmla="*/ 1581391 w 3032024"/>
              <a:gd name="connsiteY1-60" fmla="*/ 0 h 2286827"/>
              <a:gd name="connsiteX2-61" fmla="*/ 3032024 w 3032024"/>
              <a:gd name="connsiteY2-62" fmla="*/ 2286827 h 2286827"/>
              <a:gd name="connsiteX3-63" fmla="*/ 2515982 w 3032024"/>
              <a:gd name="connsiteY3-64" fmla="*/ 1917208 h 2286827"/>
              <a:gd name="connsiteX0-65" fmla="*/ 0 w 2515982"/>
              <a:gd name="connsiteY0-66" fmla="*/ 1896586 h 2619844"/>
              <a:gd name="connsiteX1-67" fmla="*/ 1581391 w 2515982"/>
              <a:gd name="connsiteY1-68" fmla="*/ 702636 h 2619844"/>
              <a:gd name="connsiteX2-69" fmla="*/ 1241736 w 2515982"/>
              <a:gd name="connsiteY2-70" fmla="*/ 0 h 2619844"/>
              <a:gd name="connsiteX3-71" fmla="*/ 2515982 w 2515982"/>
              <a:gd name="connsiteY3-72" fmla="*/ 2619844 h 2619844"/>
              <a:gd name="connsiteX0-73" fmla="*/ 0 w 1581391"/>
              <a:gd name="connsiteY0-74" fmla="*/ 2890379 h 2890379"/>
              <a:gd name="connsiteX1-75" fmla="*/ 1581391 w 1581391"/>
              <a:gd name="connsiteY1-76" fmla="*/ 1696429 h 2890379"/>
              <a:gd name="connsiteX2-77" fmla="*/ 1241736 w 1581391"/>
              <a:gd name="connsiteY2-78" fmla="*/ 993793 h 2890379"/>
              <a:gd name="connsiteX3-79" fmla="*/ 1579203 w 1581391"/>
              <a:gd name="connsiteY3-80" fmla="*/ 0 h 2890379"/>
              <a:gd name="connsiteX0-81" fmla="*/ 0 w 1581391"/>
              <a:gd name="connsiteY0-82" fmla="*/ 2973211 h 2973211"/>
              <a:gd name="connsiteX1-83" fmla="*/ 1581391 w 1581391"/>
              <a:gd name="connsiteY1-84" fmla="*/ 1779261 h 2973211"/>
              <a:gd name="connsiteX2-85" fmla="*/ 1241736 w 1581391"/>
              <a:gd name="connsiteY2-86" fmla="*/ 1076625 h 2973211"/>
              <a:gd name="connsiteX3-87" fmla="*/ 1229193 w 1581391"/>
              <a:gd name="connsiteY3-88" fmla="*/ 0 h 2973211"/>
              <a:gd name="connsiteX0-89" fmla="*/ 0 w 1581391"/>
              <a:gd name="connsiteY0-90" fmla="*/ 3276927 h 3276927"/>
              <a:gd name="connsiteX1-91" fmla="*/ 1581391 w 1581391"/>
              <a:gd name="connsiteY1-92" fmla="*/ 2082977 h 3276927"/>
              <a:gd name="connsiteX2-93" fmla="*/ 1241736 w 1581391"/>
              <a:gd name="connsiteY2-94" fmla="*/ 1380341 h 3276927"/>
              <a:gd name="connsiteX3-95" fmla="*/ 1249193 w 1581391"/>
              <a:gd name="connsiteY3-96" fmla="*/ 0 h 3276927"/>
              <a:gd name="connsiteX0-97" fmla="*/ 0 w 1581391"/>
              <a:gd name="connsiteY0-98" fmla="*/ 2973211 h 2973211"/>
              <a:gd name="connsiteX1-99" fmla="*/ 1581391 w 1581391"/>
              <a:gd name="connsiteY1-100" fmla="*/ 1779261 h 2973211"/>
              <a:gd name="connsiteX2-101" fmla="*/ 1241736 w 1581391"/>
              <a:gd name="connsiteY2-102" fmla="*/ 1076625 h 2973211"/>
              <a:gd name="connsiteX3-103" fmla="*/ 1234193 w 1581391"/>
              <a:gd name="connsiteY3-104" fmla="*/ 0 h 2973211"/>
              <a:gd name="connsiteX0-105" fmla="*/ 0 w 1581391"/>
              <a:gd name="connsiteY0-106" fmla="*/ 3008710 h 3008710"/>
              <a:gd name="connsiteX1-107" fmla="*/ 1581391 w 1581391"/>
              <a:gd name="connsiteY1-108" fmla="*/ 1814760 h 3008710"/>
              <a:gd name="connsiteX2-109" fmla="*/ 1241736 w 1581391"/>
              <a:gd name="connsiteY2-110" fmla="*/ 1112124 h 3008710"/>
              <a:gd name="connsiteX3-111" fmla="*/ 1239193 w 1581391"/>
              <a:gd name="connsiteY3-112" fmla="*/ 0 h 3008710"/>
              <a:gd name="connsiteX0-113" fmla="*/ 0 w 1581391"/>
              <a:gd name="connsiteY0-114" fmla="*/ 3008710 h 3008710"/>
              <a:gd name="connsiteX1-115" fmla="*/ 1581391 w 1581391"/>
              <a:gd name="connsiteY1-116" fmla="*/ 1814760 h 3008710"/>
              <a:gd name="connsiteX2-117" fmla="*/ 1320792 w 1581391"/>
              <a:gd name="connsiteY2-118" fmla="*/ 1270181 h 3008710"/>
              <a:gd name="connsiteX3-119" fmla="*/ 1241736 w 1581391"/>
              <a:gd name="connsiteY3-120" fmla="*/ 1112124 h 3008710"/>
              <a:gd name="connsiteX4" fmla="*/ 1239193 w 1581391"/>
              <a:gd name="connsiteY4" fmla="*/ 0 h 3008710"/>
              <a:gd name="connsiteX0-121" fmla="*/ 0 w 1581391"/>
              <a:gd name="connsiteY0-122" fmla="*/ 3008710 h 3008710"/>
              <a:gd name="connsiteX1-123" fmla="*/ 1581391 w 1581391"/>
              <a:gd name="connsiteY1-124" fmla="*/ 1814760 h 3008710"/>
              <a:gd name="connsiteX2-125" fmla="*/ 1565798 w 1581391"/>
              <a:gd name="connsiteY2-126" fmla="*/ 1270181 h 3008710"/>
              <a:gd name="connsiteX3-127" fmla="*/ 1241736 w 1581391"/>
              <a:gd name="connsiteY3-128" fmla="*/ 1112124 h 3008710"/>
              <a:gd name="connsiteX4-129" fmla="*/ 1239193 w 1581391"/>
              <a:gd name="connsiteY4-130" fmla="*/ 0 h 3008710"/>
              <a:gd name="connsiteX0-131" fmla="*/ 0 w 1581391"/>
              <a:gd name="connsiteY0-132" fmla="*/ 3008710 h 3008710"/>
              <a:gd name="connsiteX1-133" fmla="*/ 1581391 w 1581391"/>
              <a:gd name="connsiteY1-134" fmla="*/ 1747705 h 3008710"/>
              <a:gd name="connsiteX2-135" fmla="*/ 1565798 w 1581391"/>
              <a:gd name="connsiteY2-136" fmla="*/ 1270181 h 3008710"/>
              <a:gd name="connsiteX3-137" fmla="*/ 1241736 w 1581391"/>
              <a:gd name="connsiteY3-138" fmla="*/ 1112124 h 3008710"/>
              <a:gd name="connsiteX4-139" fmla="*/ 1239193 w 1581391"/>
              <a:gd name="connsiteY4-140" fmla="*/ 0 h 3008710"/>
              <a:gd name="connsiteX0-141" fmla="*/ 0 w 1566390"/>
              <a:gd name="connsiteY0-142" fmla="*/ 3008710 h 3008710"/>
              <a:gd name="connsiteX1-143" fmla="*/ 1566390 w 1566390"/>
              <a:gd name="connsiteY1-144" fmla="*/ 1747705 h 3008710"/>
              <a:gd name="connsiteX2-145" fmla="*/ 1565798 w 1566390"/>
              <a:gd name="connsiteY2-146" fmla="*/ 1270181 h 3008710"/>
              <a:gd name="connsiteX3-147" fmla="*/ 1241736 w 1566390"/>
              <a:gd name="connsiteY3-148" fmla="*/ 1112124 h 3008710"/>
              <a:gd name="connsiteX4-149" fmla="*/ 1239193 w 1566390"/>
              <a:gd name="connsiteY4-150" fmla="*/ 0 h 3008710"/>
              <a:gd name="connsiteX0-151" fmla="*/ 0 w 1766395"/>
              <a:gd name="connsiteY0-152" fmla="*/ 2988988 h 2988988"/>
              <a:gd name="connsiteX1-153" fmla="*/ 1766395 w 1766395"/>
              <a:gd name="connsiteY1-154" fmla="*/ 1747705 h 2988988"/>
              <a:gd name="connsiteX2-155" fmla="*/ 1765803 w 1766395"/>
              <a:gd name="connsiteY2-156" fmla="*/ 1270181 h 2988988"/>
              <a:gd name="connsiteX3-157" fmla="*/ 1441741 w 1766395"/>
              <a:gd name="connsiteY3-158" fmla="*/ 1112124 h 2988988"/>
              <a:gd name="connsiteX4-159" fmla="*/ 1439198 w 1766395"/>
              <a:gd name="connsiteY4-160" fmla="*/ 0 h 2988988"/>
              <a:gd name="connsiteX0-161" fmla="*/ 0 w 725529"/>
              <a:gd name="connsiteY0-162" fmla="*/ 2874009 h 2874009"/>
              <a:gd name="connsiteX1-163" fmla="*/ 725529 w 725529"/>
              <a:gd name="connsiteY1-164" fmla="*/ 1747705 h 2874009"/>
              <a:gd name="connsiteX2-165" fmla="*/ 724937 w 725529"/>
              <a:gd name="connsiteY2-166" fmla="*/ 1270181 h 2874009"/>
              <a:gd name="connsiteX3-167" fmla="*/ 400875 w 725529"/>
              <a:gd name="connsiteY3-168" fmla="*/ 1112124 h 2874009"/>
              <a:gd name="connsiteX4-169" fmla="*/ 398332 w 725529"/>
              <a:gd name="connsiteY4-170" fmla="*/ 0 h 2874009"/>
              <a:gd name="connsiteX0-171" fmla="*/ 0 w 725529"/>
              <a:gd name="connsiteY0-172" fmla="*/ 2854234 h 2854234"/>
              <a:gd name="connsiteX1-173" fmla="*/ 725529 w 725529"/>
              <a:gd name="connsiteY1-174" fmla="*/ 1727930 h 2854234"/>
              <a:gd name="connsiteX2-175" fmla="*/ 724937 w 725529"/>
              <a:gd name="connsiteY2-176" fmla="*/ 1250406 h 2854234"/>
              <a:gd name="connsiteX3-177" fmla="*/ 400875 w 725529"/>
              <a:gd name="connsiteY3-178" fmla="*/ 1092349 h 2854234"/>
              <a:gd name="connsiteX4-179" fmla="*/ 181090 w 725529"/>
              <a:gd name="connsiteY4-180" fmla="*/ 0 h 2854234"/>
              <a:gd name="connsiteX0-181" fmla="*/ 0 w 725529"/>
              <a:gd name="connsiteY0-182" fmla="*/ 2854234 h 2854234"/>
              <a:gd name="connsiteX1-183" fmla="*/ 725529 w 725529"/>
              <a:gd name="connsiteY1-184" fmla="*/ 1727930 h 2854234"/>
              <a:gd name="connsiteX2-185" fmla="*/ 724937 w 725529"/>
              <a:gd name="connsiteY2-186" fmla="*/ 1250406 h 2854234"/>
              <a:gd name="connsiteX3-187" fmla="*/ 242121 w 725529"/>
              <a:gd name="connsiteY3-188" fmla="*/ 1079165 h 2854234"/>
              <a:gd name="connsiteX4-189" fmla="*/ 181090 w 725529"/>
              <a:gd name="connsiteY4-190" fmla="*/ 0 h 2854234"/>
              <a:gd name="connsiteX0-191" fmla="*/ 0 w 725529"/>
              <a:gd name="connsiteY0-192" fmla="*/ 2854234 h 2854234"/>
              <a:gd name="connsiteX1-193" fmla="*/ 725529 w 725529"/>
              <a:gd name="connsiteY1-194" fmla="*/ 1727930 h 2854234"/>
              <a:gd name="connsiteX2-195" fmla="*/ 724937 w 725529"/>
              <a:gd name="connsiteY2-196" fmla="*/ 1250406 h 2854234"/>
              <a:gd name="connsiteX3-197" fmla="*/ 208699 w 725529"/>
              <a:gd name="connsiteY3-198" fmla="*/ 1105532 h 2854234"/>
              <a:gd name="connsiteX4-199" fmla="*/ 181090 w 725529"/>
              <a:gd name="connsiteY4-200" fmla="*/ 0 h 2854234"/>
              <a:gd name="connsiteX0-201" fmla="*/ 0 w 725529"/>
              <a:gd name="connsiteY0-202" fmla="*/ 2854234 h 2854234"/>
              <a:gd name="connsiteX1-203" fmla="*/ 725529 w 725529"/>
              <a:gd name="connsiteY1-204" fmla="*/ 1727930 h 2854234"/>
              <a:gd name="connsiteX2-205" fmla="*/ 724937 w 725529"/>
              <a:gd name="connsiteY2-206" fmla="*/ 1250406 h 2854234"/>
              <a:gd name="connsiteX3-207" fmla="*/ 208699 w 725529"/>
              <a:gd name="connsiteY3-208" fmla="*/ 1105532 h 2854234"/>
              <a:gd name="connsiteX4-209" fmla="*/ 181090 w 725529"/>
              <a:gd name="connsiteY4-210" fmla="*/ 0 h 2854234"/>
              <a:gd name="connsiteX0-211" fmla="*/ 0 w 725529"/>
              <a:gd name="connsiteY0-212" fmla="*/ 2854234 h 2854234"/>
              <a:gd name="connsiteX1-213" fmla="*/ 725529 w 725529"/>
              <a:gd name="connsiteY1-214" fmla="*/ 1727930 h 2854234"/>
              <a:gd name="connsiteX2-215" fmla="*/ 724937 w 725529"/>
              <a:gd name="connsiteY2-216" fmla="*/ 1250406 h 2854234"/>
              <a:gd name="connsiteX3-217" fmla="*/ 233766 w 725529"/>
              <a:gd name="connsiteY3-218" fmla="*/ 1105532 h 2854234"/>
              <a:gd name="connsiteX4-219" fmla="*/ 181090 w 725529"/>
              <a:gd name="connsiteY4-220" fmla="*/ 0 h 2854234"/>
              <a:gd name="connsiteX0-221" fmla="*/ 0 w 725529"/>
              <a:gd name="connsiteY0-222" fmla="*/ 2854234 h 2854234"/>
              <a:gd name="connsiteX1-223" fmla="*/ 725529 w 725529"/>
              <a:gd name="connsiteY1-224" fmla="*/ 1727930 h 2854234"/>
              <a:gd name="connsiteX2-225" fmla="*/ 724937 w 725529"/>
              <a:gd name="connsiteY2-226" fmla="*/ 1250406 h 2854234"/>
              <a:gd name="connsiteX3-227" fmla="*/ 200344 w 725529"/>
              <a:gd name="connsiteY3-228" fmla="*/ 1118716 h 2854234"/>
              <a:gd name="connsiteX4-229" fmla="*/ 181090 w 725529"/>
              <a:gd name="connsiteY4-230" fmla="*/ 0 h 2854234"/>
              <a:gd name="connsiteX0-231" fmla="*/ 0 w 725529"/>
              <a:gd name="connsiteY0-232" fmla="*/ 2854234 h 2854234"/>
              <a:gd name="connsiteX1-233" fmla="*/ 725529 w 725529"/>
              <a:gd name="connsiteY1-234" fmla="*/ 1727930 h 2854234"/>
              <a:gd name="connsiteX2-235" fmla="*/ 724937 w 725529"/>
              <a:gd name="connsiteY2-236" fmla="*/ 1250406 h 2854234"/>
              <a:gd name="connsiteX3-237" fmla="*/ 175278 w 725529"/>
              <a:gd name="connsiteY3-238" fmla="*/ 1105533 h 2854234"/>
              <a:gd name="connsiteX4-239" fmla="*/ 181090 w 725529"/>
              <a:gd name="connsiteY4-240" fmla="*/ 0 h 2854234"/>
              <a:gd name="connsiteX0-241" fmla="*/ 0 w 725529"/>
              <a:gd name="connsiteY0-242" fmla="*/ 2854234 h 2854234"/>
              <a:gd name="connsiteX1-243" fmla="*/ 725529 w 725529"/>
              <a:gd name="connsiteY1-244" fmla="*/ 1727930 h 2854234"/>
              <a:gd name="connsiteX2-245" fmla="*/ 724937 w 725529"/>
              <a:gd name="connsiteY2-246" fmla="*/ 1250406 h 2854234"/>
              <a:gd name="connsiteX3-247" fmla="*/ 275543 w 725529"/>
              <a:gd name="connsiteY3-248" fmla="*/ 1112125 h 2854234"/>
              <a:gd name="connsiteX4-249" fmla="*/ 181090 w 725529"/>
              <a:gd name="connsiteY4-250" fmla="*/ 0 h 2854234"/>
              <a:gd name="connsiteX0-251" fmla="*/ 0 w 725529"/>
              <a:gd name="connsiteY0-252" fmla="*/ 2854234 h 2854234"/>
              <a:gd name="connsiteX1-253" fmla="*/ 725529 w 725529"/>
              <a:gd name="connsiteY1-254" fmla="*/ 1727930 h 2854234"/>
              <a:gd name="connsiteX2-255" fmla="*/ 724937 w 725529"/>
              <a:gd name="connsiteY2-256" fmla="*/ 1250406 h 2854234"/>
              <a:gd name="connsiteX3-257" fmla="*/ 275543 w 725529"/>
              <a:gd name="connsiteY3-258" fmla="*/ 1112125 h 2854234"/>
              <a:gd name="connsiteX4-259" fmla="*/ 264644 w 725529"/>
              <a:gd name="connsiteY4-260" fmla="*/ 0 h 2854234"/>
              <a:gd name="connsiteX0-261" fmla="*/ 0 w 725529"/>
              <a:gd name="connsiteY0-262" fmla="*/ 2854234 h 2854234"/>
              <a:gd name="connsiteX1-263" fmla="*/ 725529 w 725529"/>
              <a:gd name="connsiteY1-264" fmla="*/ 1727930 h 2854234"/>
              <a:gd name="connsiteX2-265" fmla="*/ 724937 w 725529"/>
              <a:gd name="connsiteY2-266" fmla="*/ 1250406 h 2854234"/>
              <a:gd name="connsiteX3-267" fmla="*/ 292254 w 725529"/>
              <a:gd name="connsiteY3-268" fmla="*/ 1125309 h 2854234"/>
              <a:gd name="connsiteX4-269" fmla="*/ 264644 w 725529"/>
              <a:gd name="connsiteY4-270" fmla="*/ 0 h 2854234"/>
              <a:gd name="connsiteX0-271" fmla="*/ 0 w 725529"/>
              <a:gd name="connsiteY0-272" fmla="*/ 2854234 h 2854234"/>
              <a:gd name="connsiteX1-273" fmla="*/ 725529 w 725529"/>
              <a:gd name="connsiteY1-274" fmla="*/ 1727930 h 2854234"/>
              <a:gd name="connsiteX2-275" fmla="*/ 724937 w 725529"/>
              <a:gd name="connsiteY2-276" fmla="*/ 1250406 h 2854234"/>
              <a:gd name="connsiteX3-277" fmla="*/ 22889 w 725529"/>
              <a:gd name="connsiteY3-278" fmla="*/ 1125309 h 2854234"/>
              <a:gd name="connsiteX4-279" fmla="*/ 264644 w 725529"/>
              <a:gd name="connsiteY4-280" fmla="*/ 0 h 2854234"/>
              <a:gd name="connsiteX0-281" fmla="*/ 43202 w 768731"/>
              <a:gd name="connsiteY0-282" fmla="*/ 2975683 h 2975683"/>
              <a:gd name="connsiteX1-283" fmla="*/ 768731 w 768731"/>
              <a:gd name="connsiteY1-284" fmla="*/ 1849379 h 2975683"/>
              <a:gd name="connsiteX2-285" fmla="*/ 768139 w 768731"/>
              <a:gd name="connsiteY2-286" fmla="*/ 1371855 h 2975683"/>
              <a:gd name="connsiteX3-287" fmla="*/ 66091 w 768731"/>
              <a:gd name="connsiteY3-288" fmla="*/ 1246758 h 2975683"/>
              <a:gd name="connsiteX4-289" fmla="*/ 0 w 768731"/>
              <a:gd name="connsiteY4-290" fmla="*/ 0 h 2975683"/>
              <a:gd name="connsiteX0-291" fmla="*/ 54072 w 779601"/>
              <a:gd name="connsiteY0-292" fmla="*/ 2975683 h 2975683"/>
              <a:gd name="connsiteX1-293" fmla="*/ 779601 w 779601"/>
              <a:gd name="connsiteY1-294" fmla="*/ 1849379 h 2975683"/>
              <a:gd name="connsiteX2-295" fmla="*/ 779009 w 779601"/>
              <a:gd name="connsiteY2-296" fmla="*/ 1371855 h 2975683"/>
              <a:gd name="connsiteX3-297" fmla="*/ 0 w 779601"/>
              <a:gd name="connsiteY3-298" fmla="*/ 1277120 h 2975683"/>
              <a:gd name="connsiteX4-299" fmla="*/ 10870 w 779601"/>
              <a:gd name="connsiteY4-300" fmla="*/ 0 h 2975683"/>
              <a:gd name="connsiteX0-301" fmla="*/ 62442 w 787971"/>
              <a:gd name="connsiteY0-302" fmla="*/ 2763147 h 2763147"/>
              <a:gd name="connsiteX1-303" fmla="*/ 787971 w 787971"/>
              <a:gd name="connsiteY1-304" fmla="*/ 1636843 h 2763147"/>
              <a:gd name="connsiteX2-305" fmla="*/ 787379 w 787971"/>
              <a:gd name="connsiteY2-306" fmla="*/ 1159319 h 2763147"/>
              <a:gd name="connsiteX3-307" fmla="*/ 8370 w 787971"/>
              <a:gd name="connsiteY3-308" fmla="*/ 1064584 h 2763147"/>
              <a:gd name="connsiteX4-309" fmla="*/ 0 w 787971"/>
              <a:gd name="connsiteY4-310" fmla="*/ 0 h 2763147"/>
              <a:gd name="connsiteX0-311" fmla="*/ 54072 w 779601"/>
              <a:gd name="connsiteY0-312" fmla="*/ 2808691 h 2808691"/>
              <a:gd name="connsiteX1-313" fmla="*/ 779601 w 779601"/>
              <a:gd name="connsiteY1-314" fmla="*/ 1682387 h 2808691"/>
              <a:gd name="connsiteX2-315" fmla="*/ 779009 w 779601"/>
              <a:gd name="connsiteY2-316" fmla="*/ 1204863 h 2808691"/>
              <a:gd name="connsiteX3-317" fmla="*/ 0 w 779601"/>
              <a:gd name="connsiteY3-318" fmla="*/ 1110128 h 2808691"/>
              <a:gd name="connsiteX4-319" fmla="*/ 30111 w 779601"/>
              <a:gd name="connsiteY4-320" fmla="*/ 0 h 2808691"/>
              <a:gd name="connsiteX0-321" fmla="*/ 62830 w 788359"/>
              <a:gd name="connsiteY0-322" fmla="*/ 2896348 h 2896348"/>
              <a:gd name="connsiteX1-323" fmla="*/ 788359 w 788359"/>
              <a:gd name="connsiteY1-324" fmla="*/ 1770044 h 2896348"/>
              <a:gd name="connsiteX2-325" fmla="*/ 787767 w 788359"/>
              <a:gd name="connsiteY2-326" fmla="*/ 1292520 h 2896348"/>
              <a:gd name="connsiteX3-327" fmla="*/ 8758 w 788359"/>
              <a:gd name="connsiteY3-328" fmla="*/ 1197785 h 2896348"/>
              <a:gd name="connsiteX4-329" fmla="*/ 38869 w 788359"/>
              <a:gd name="connsiteY4-330" fmla="*/ 87657 h 2896348"/>
              <a:gd name="connsiteX5" fmla="*/ 0 w 788359"/>
              <a:gd name="connsiteY5" fmla="*/ 69436 h 2896348"/>
              <a:gd name="connsiteX0-331" fmla="*/ 54072 w 818640"/>
              <a:gd name="connsiteY0-332" fmla="*/ 3100173 h 3100173"/>
              <a:gd name="connsiteX1-333" fmla="*/ 779601 w 818640"/>
              <a:gd name="connsiteY1-334" fmla="*/ 1973869 h 3100173"/>
              <a:gd name="connsiteX2-335" fmla="*/ 779009 w 818640"/>
              <a:gd name="connsiteY2-336" fmla="*/ 1496345 h 3100173"/>
              <a:gd name="connsiteX3-337" fmla="*/ 0 w 818640"/>
              <a:gd name="connsiteY3-338" fmla="*/ 1401610 h 3100173"/>
              <a:gd name="connsiteX4-339" fmla="*/ 30111 w 818640"/>
              <a:gd name="connsiteY4-340" fmla="*/ 291482 h 3100173"/>
              <a:gd name="connsiteX5-341" fmla="*/ 818579 w 818640"/>
              <a:gd name="connsiteY5-342" fmla="*/ 0 h 3100173"/>
              <a:gd name="connsiteX0-343" fmla="*/ 54072 w 818579"/>
              <a:gd name="connsiteY0-344" fmla="*/ 3100173 h 3100173"/>
              <a:gd name="connsiteX1-345" fmla="*/ 779601 w 818579"/>
              <a:gd name="connsiteY1-346" fmla="*/ 1973869 h 3100173"/>
              <a:gd name="connsiteX2-347" fmla="*/ 779009 w 818579"/>
              <a:gd name="connsiteY2-348" fmla="*/ 1496345 h 3100173"/>
              <a:gd name="connsiteX3-349" fmla="*/ 0 w 818579"/>
              <a:gd name="connsiteY3-350" fmla="*/ 1401610 h 3100173"/>
              <a:gd name="connsiteX4-351" fmla="*/ 30111 w 818579"/>
              <a:gd name="connsiteY4-352" fmla="*/ 291482 h 3100173"/>
              <a:gd name="connsiteX5-353" fmla="*/ 510732 w 818579"/>
              <a:gd name="connsiteY5-354" fmla="*/ 60725 h 3100173"/>
              <a:gd name="connsiteX6" fmla="*/ 818579 w 818579"/>
              <a:gd name="connsiteY6" fmla="*/ 0 h 3100173"/>
              <a:gd name="connsiteX0-355" fmla="*/ 54072 w 779601"/>
              <a:gd name="connsiteY0-356" fmla="*/ 3510065 h 3510065"/>
              <a:gd name="connsiteX1-357" fmla="*/ 779601 w 779601"/>
              <a:gd name="connsiteY1-358" fmla="*/ 2383761 h 3510065"/>
              <a:gd name="connsiteX2-359" fmla="*/ 779009 w 779601"/>
              <a:gd name="connsiteY2-360" fmla="*/ 1906237 h 3510065"/>
              <a:gd name="connsiteX3-361" fmla="*/ 0 w 779601"/>
              <a:gd name="connsiteY3-362" fmla="*/ 1811502 h 3510065"/>
              <a:gd name="connsiteX4-363" fmla="*/ 30111 w 779601"/>
              <a:gd name="connsiteY4-364" fmla="*/ 701374 h 3510065"/>
              <a:gd name="connsiteX5-365" fmla="*/ 510732 w 779601"/>
              <a:gd name="connsiteY5-366" fmla="*/ 470617 h 3510065"/>
              <a:gd name="connsiteX6-367" fmla="*/ 760858 w 779601"/>
              <a:gd name="connsiteY6-368" fmla="*/ 0 h 3510065"/>
              <a:gd name="connsiteX0-369" fmla="*/ 54072 w 809403"/>
              <a:gd name="connsiteY0-370" fmla="*/ 3510065 h 3510065"/>
              <a:gd name="connsiteX1-371" fmla="*/ 779601 w 809403"/>
              <a:gd name="connsiteY1-372" fmla="*/ 2383761 h 3510065"/>
              <a:gd name="connsiteX2-373" fmla="*/ 779009 w 809403"/>
              <a:gd name="connsiteY2-374" fmla="*/ 1906237 h 3510065"/>
              <a:gd name="connsiteX3-375" fmla="*/ 0 w 809403"/>
              <a:gd name="connsiteY3-376" fmla="*/ 1811502 h 3510065"/>
              <a:gd name="connsiteX4-377" fmla="*/ 30111 w 809403"/>
              <a:gd name="connsiteY4-378" fmla="*/ 701374 h 3510065"/>
              <a:gd name="connsiteX5-379" fmla="*/ 760857 w 809403"/>
              <a:gd name="connsiteY5-380" fmla="*/ 440254 h 3510065"/>
              <a:gd name="connsiteX6-381" fmla="*/ 760858 w 809403"/>
              <a:gd name="connsiteY6-382" fmla="*/ 0 h 3510065"/>
              <a:gd name="connsiteX0-383" fmla="*/ 54072 w 809403"/>
              <a:gd name="connsiteY0-384" fmla="*/ 3510065 h 3510065"/>
              <a:gd name="connsiteX1-385" fmla="*/ 779601 w 809403"/>
              <a:gd name="connsiteY1-386" fmla="*/ 2383761 h 3510065"/>
              <a:gd name="connsiteX2-387" fmla="*/ 779009 w 809403"/>
              <a:gd name="connsiteY2-388" fmla="*/ 1906237 h 3510065"/>
              <a:gd name="connsiteX3-389" fmla="*/ 0 w 809403"/>
              <a:gd name="connsiteY3-390" fmla="*/ 1811502 h 3510065"/>
              <a:gd name="connsiteX4-391" fmla="*/ 30111 w 809403"/>
              <a:gd name="connsiteY4-392" fmla="*/ 701374 h 3510065"/>
              <a:gd name="connsiteX5-393" fmla="*/ 760857 w 809403"/>
              <a:gd name="connsiteY5-394" fmla="*/ 440254 h 3510065"/>
              <a:gd name="connsiteX6-395" fmla="*/ 760858 w 809403"/>
              <a:gd name="connsiteY6-396" fmla="*/ 0 h 3510065"/>
              <a:gd name="connsiteX0-397" fmla="*/ 54072 w 779601"/>
              <a:gd name="connsiteY0-398" fmla="*/ 3510065 h 3510065"/>
              <a:gd name="connsiteX1-399" fmla="*/ 779601 w 779601"/>
              <a:gd name="connsiteY1-400" fmla="*/ 2383761 h 3510065"/>
              <a:gd name="connsiteX2-401" fmla="*/ 779009 w 779601"/>
              <a:gd name="connsiteY2-402" fmla="*/ 1906237 h 3510065"/>
              <a:gd name="connsiteX3-403" fmla="*/ 0 w 779601"/>
              <a:gd name="connsiteY3-404" fmla="*/ 1811502 h 3510065"/>
              <a:gd name="connsiteX4-405" fmla="*/ 30111 w 779601"/>
              <a:gd name="connsiteY4-406" fmla="*/ 701374 h 3510065"/>
              <a:gd name="connsiteX5-407" fmla="*/ 760857 w 779601"/>
              <a:gd name="connsiteY5-408" fmla="*/ 440254 h 3510065"/>
              <a:gd name="connsiteX6-409" fmla="*/ 760858 w 779601"/>
              <a:gd name="connsiteY6-410" fmla="*/ 0 h 3510065"/>
              <a:gd name="connsiteX0-411" fmla="*/ 54072 w 779601"/>
              <a:gd name="connsiteY0-412" fmla="*/ 3579994 h 3579994"/>
              <a:gd name="connsiteX1-413" fmla="*/ 779601 w 779601"/>
              <a:gd name="connsiteY1-414" fmla="*/ 2453690 h 3579994"/>
              <a:gd name="connsiteX2-415" fmla="*/ 779009 w 779601"/>
              <a:gd name="connsiteY2-416" fmla="*/ 1976166 h 3579994"/>
              <a:gd name="connsiteX3-417" fmla="*/ 0 w 779601"/>
              <a:gd name="connsiteY3-418" fmla="*/ 1881431 h 3579994"/>
              <a:gd name="connsiteX4-419" fmla="*/ 30111 w 779601"/>
              <a:gd name="connsiteY4-420" fmla="*/ 771303 h 3579994"/>
              <a:gd name="connsiteX5-421" fmla="*/ 760857 w 779601"/>
              <a:gd name="connsiteY5-422" fmla="*/ 510183 h 3579994"/>
              <a:gd name="connsiteX6-423" fmla="*/ 760858 w 779601"/>
              <a:gd name="connsiteY6-424" fmla="*/ 69929 h 3579994"/>
              <a:gd name="connsiteX0-425" fmla="*/ 54072 w 779601"/>
              <a:gd name="connsiteY0-426" fmla="*/ 3707204 h 3707204"/>
              <a:gd name="connsiteX1-427" fmla="*/ 779601 w 779601"/>
              <a:gd name="connsiteY1-428" fmla="*/ 2580900 h 3707204"/>
              <a:gd name="connsiteX2-429" fmla="*/ 779009 w 779601"/>
              <a:gd name="connsiteY2-430" fmla="*/ 2103376 h 3707204"/>
              <a:gd name="connsiteX3-431" fmla="*/ 0 w 779601"/>
              <a:gd name="connsiteY3-432" fmla="*/ 2008641 h 3707204"/>
              <a:gd name="connsiteX4-433" fmla="*/ 30111 w 779601"/>
              <a:gd name="connsiteY4-434" fmla="*/ 898513 h 3707204"/>
              <a:gd name="connsiteX5-435" fmla="*/ 760857 w 779601"/>
              <a:gd name="connsiteY5-436" fmla="*/ 637393 h 3707204"/>
              <a:gd name="connsiteX6-437" fmla="*/ 739550 w 779601"/>
              <a:gd name="connsiteY6-438" fmla="*/ 59300 h 3707204"/>
              <a:gd name="connsiteX0-439" fmla="*/ 54072 w 779601"/>
              <a:gd name="connsiteY0-440" fmla="*/ 3647904 h 3647904"/>
              <a:gd name="connsiteX1-441" fmla="*/ 779601 w 779601"/>
              <a:gd name="connsiteY1-442" fmla="*/ 2521600 h 3647904"/>
              <a:gd name="connsiteX2-443" fmla="*/ 779009 w 779601"/>
              <a:gd name="connsiteY2-444" fmla="*/ 2044076 h 3647904"/>
              <a:gd name="connsiteX3-445" fmla="*/ 0 w 779601"/>
              <a:gd name="connsiteY3-446" fmla="*/ 1949341 h 3647904"/>
              <a:gd name="connsiteX4-447" fmla="*/ 30111 w 779601"/>
              <a:gd name="connsiteY4-448" fmla="*/ 839213 h 3647904"/>
              <a:gd name="connsiteX5-449" fmla="*/ 760857 w 779601"/>
              <a:gd name="connsiteY5-450" fmla="*/ 578093 h 3647904"/>
              <a:gd name="connsiteX6-451" fmla="*/ 739550 w 779601"/>
              <a:gd name="connsiteY6-452" fmla="*/ 0 h 3647904"/>
              <a:gd name="connsiteX0-453" fmla="*/ 54072 w 779601"/>
              <a:gd name="connsiteY0-454" fmla="*/ 3557132 h 3557132"/>
              <a:gd name="connsiteX1-455" fmla="*/ 779601 w 779601"/>
              <a:gd name="connsiteY1-456" fmla="*/ 2430828 h 3557132"/>
              <a:gd name="connsiteX2-457" fmla="*/ 779009 w 779601"/>
              <a:gd name="connsiteY2-458" fmla="*/ 1953304 h 3557132"/>
              <a:gd name="connsiteX3-459" fmla="*/ 0 w 779601"/>
              <a:gd name="connsiteY3-460" fmla="*/ 1858569 h 3557132"/>
              <a:gd name="connsiteX4-461" fmla="*/ 30111 w 779601"/>
              <a:gd name="connsiteY4-462" fmla="*/ 748441 h 3557132"/>
              <a:gd name="connsiteX5-463" fmla="*/ 760857 w 779601"/>
              <a:gd name="connsiteY5-464" fmla="*/ 487321 h 3557132"/>
              <a:gd name="connsiteX6-465" fmla="*/ 739550 w 779601"/>
              <a:gd name="connsiteY6-466" fmla="*/ 0 h 3557132"/>
              <a:gd name="connsiteX0-467" fmla="*/ 54072 w 779601"/>
              <a:gd name="connsiteY0-468" fmla="*/ 3557132 h 3557132"/>
              <a:gd name="connsiteX1-469" fmla="*/ 779601 w 779601"/>
              <a:gd name="connsiteY1-470" fmla="*/ 2430828 h 3557132"/>
              <a:gd name="connsiteX2-471" fmla="*/ 779009 w 779601"/>
              <a:gd name="connsiteY2-472" fmla="*/ 1953304 h 3557132"/>
              <a:gd name="connsiteX3-473" fmla="*/ 0 w 779601"/>
              <a:gd name="connsiteY3-474" fmla="*/ 1858569 h 3557132"/>
              <a:gd name="connsiteX4-475" fmla="*/ 30111 w 779601"/>
              <a:gd name="connsiteY4-476" fmla="*/ 748441 h 3557132"/>
              <a:gd name="connsiteX5-477" fmla="*/ 760857 w 779601"/>
              <a:gd name="connsiteY5-478" fmla="*/ 487321 h 3557132"/>
              <a:gd name="connsiteX6-479" fmla="*/ 739550 w 779601"/>
              <a:gd name="connsiteY6-480" fmla="*/ 0 h 3557132"/>
              <a:gd name="connsiteX0-481" fmla="*/ 54072 w 779601"/>
              <a:gd name="connsiteY0-482" fmla="*/ 3580665 h 3580665"/>
              <a:gd name="connsiteX1-483" fmla="*/ 779601 w 779601"/>
              <a:gd name="connsiteY1-484" fmla="*/ 2454361 h 3580665"/>
              <a:gd name="connsiteX2-485" fmla="*/ 779009 w 779601"/>
              <a:gd name="connsiteY2-486" fmla="*/ 1976837 h 3580665"/>
              <a:gd name="connsiteX3-487" fmla="*/ 0 w 779601"/>
              <a:gd name="connsiteY3-488" fmla="*/ 1882102 h 3580665"/>
              <a:gd name="connsiteX4-489" fmla="*/ 30111 w 779601"/>
              <a:gd name="connsiteY4-490" fmla="*/ 771974 h 3580665"/>
              <a:gd name="connsiteX5-491" fmla="*/ 760857 w 779601"/>
              <a:gd name="connsiteY5-492" fmla="*/ 510854 h 3580665"/>
              <a:gd name="connsiteX6-493" fmla="*/ 735288 w 779601"/>
              <a:gd name="connsiteY6-494" fmla="*/ 0 h 3580665"/>
              <a:gd name="connsiteX0-495" fmla="*/ 54072 w 779601"/>
              <a:gd name="connsiteY0-496" fmla="*/ 3580665 h 3580665"/>
              <a:gd name="connsiteX1-497" fmla="*/ 779601 w 779601"/>
              <a:gd name="connsiteY1-498" fmla="*/ 2454361 h 3580665"/>
              <a:gd name="connsiteX2-499" fmla="*/ 779009 w 779601"/>
              <a:gd name="connsiteY2-500" fmla="*/ 1976837 h 3580665"/>
              <a:gd name="connsiteX3-501" fmla="*/ 0 w 779601"/>
              <a:gd name="connsiteY3-502" fmla="*/ 1882102 h 3580665"/>
              <a:gd name="connsiteX4-503" fmla="*/ 30111 w 779601"/>
              <a:gd name="connsiteY4-504" fmla="*/ 771974 h 3580665"/>
              <a:gd name="connsiteX5-505" fmla="*/ 760857 w 779601"/>
              <a:gd name="connsiteY5-506" fmla="*/ 510854 h 3580665"/>
              <a:gd name="connsiteX6-507" fmla="*/ 735288 w 779601"/>
              <a:gd name="connsiteY6-508" fmla="*/ 0 h 3580665"/>
              <a:gd name="connsiteX0-509" fmla="*/ 23961 w 749490"/>
              <a:gd name="connsiteY0-510" fmla="*/ 3580665 h 3580665"/>
              <a:gd name="connsiteX1-511" fmla="*/ 749490 w 749490"/>
              <a:gd name="connsiteY1-512" fmla="*/ 2454361 h 3580665"/>
              <a:gd name="connsiteX2-513" fmla="*/ 748898 w 749490"/>
              <a:gd name="connsiteY2-514" fmla="*/ 1976837 h 3580665"/>
              <a:gd name="connsiteX3-515" fmla="*/ 46599 w 749490"/>
              <a:gd name="connsiteY3-516" fmla="*/ 1835036 h 3580665"/>
              <a:gd name="connsiteX4-517" fmla="*/ 0 w 749490"/>
              <a:gd name="connsiteY4-518" fmla="*/ 771974 h 3580665"/>
              <a:gd name="connsiteX5-519" fmla="*/ 730746 w 749490"/>
              <a:gd name="connsiteY5-520" fmla="*/ 510854 h 3580665"/>
              <a:gd name="connsiteX6-521" fmla="*/ 705177 w 749490"/>
              <a:gd name="connsiteY6-522" fmla="*/ 0 h 3580665"/>
              <a:gd name="connsiteX0-523" fmla="*/ 23961 w 749490"/>
              <a:gd name="connsiteY0-524" fmla="*/ 3580665 h 3580665"/>
              <a:gd name="connsiteX1-525" fmla="*/ 749490 w 749490"/>
              <a:gd name="connsiteY1-526" fmla="*/ 2454361 h 3580665"/>
              <a:gd name="connsiteX2-527" fmla="*/ 748898 w 749490"/>
              <a:gd name="connsiteY2-528" fmla="*/ 1976837 h 3580665"/>
              <a:gd name="connsiteX3-529" fmla="*/ 46599 w 749490"/>
              <a:gd name="connsiteY3-530" fmla="*/ 1835036 h 3580665"/>
              <a:gd name="connsiteX4-531" fmla="*/ 0 w 749490"/>
              <a:gd name="connsiteY4-532" fmla="*/ 771974 h 3580665"/>
              <a:gd name="connsiteX5-533" fmla="*/ 730746 w 749490"/>
              <a:gd name="connsiteY5-534" fmla="*/ 510854 h 3580665"/>
              <a:gd name="connsiteX6-535" fmla="*/ 705177 w 749490"/>
              <a:gd name="connsiteY6-536" fmla="*/ 0 h 3580665"/>
              <a:gd name="connsiteX0-537" fmla="*/ 23961 w 749490"/>
              <a:gd name="connsiteY0-538" fmla="*/ 3580665 h 3580665"/>
              <a:gd name="connsiteX1-539" fmla="*/ 749490 w 749490"/>
              <a:gd name="connsiteY1-540" fmla="*/ 2454361 h 3580665"/>
              <a:gd name="connsiteX2-541" fmla="*/ 748898 w 749490"/>
              <a:gd name="connsiteY2-542" fmla="*/ 1976837 h 3580665"/>
              <a:gd name="connsiteX3-543" fmla="*/ 46599 w 749490"/>
              <a:gd name="connsiteY3-544" fmla="*/ 1835036 h 3580665"/>
              <a:gd name="connsiteX4-545" fmla="*/ 0 w 749490"/>
              <a:gd name="connsiteY4-546" fmla="*/ 771974 h 3580665"/>
              <a:gd name="connsiteX5-547" fmla="*/ 730746 w 749490"/>
              <a:gd name="connsiteY5-548" fmla="*/ 510854 h 3580665"/>
              <a:gd name="connsiteX6-549" fmla="*/ 705177 w 749490"/>
              <a:gd name="connsiteY6-550" fmla="*/ 0 h 3580665"/>
              <a:gd name="connsiteX0-551" fmla="*/ 23961 w 749490"/>
              <a:gd name="connsiteY0-552" fmla="*/ 3580665 h 3580665"/>
              <a:gd name="connsiteX1-553" fmla="*/ 749490 w 749490"/>
              <a:gd name="connsiteY1-554" fmla="*/ 2454361 h 3580665"/>
              <a:gd name="connsiteX2-555" fmla="*/ 748898 w 749490"/>
              <a:gd name="connsiteY2-556" fmla="*/ 1976837 h 3580665"/>
              <a:gd name="connsiteX3-557" fmla="*/ 67907 w 749490"/>
              <a:gd name="connsiteY3-558" fmla="*/ 1835036 h 3580665"/>
              <a:gd name="connsiteX4-559" fmla="*/ 0 w 749490"/>
              <a:gd name="connsiteY4-560" fmla="*/ 771974 h 3580665"/>
              <a:gd name="connsiteX5-561" fmla="*/ 730746 w 749490"/>
              <a:gd name="connsiteY5-562" fmla="*/ 510854 h 3580665"/>
              <a:gd name="connsiteX6-563" fmla="*/ 705177 w 749490"/>
              <a:gd name="connsiteY6-564" fmla="*/ 0 h 3580665"/>
              <a:gd name="connsiteX0-565" fmla="*/ 23961 w 749490"/>
              <a:gd name="connsiteY0-566" fmla="*/ 3580665 h 3580665"/>
              <a:gd name="connsiteX1-567" fmla="*/ 749490 w 749490"/>
              <a:gd name="connsiteY1-568" fmla="*/ 2454361 h 3580665"/>
              <a:gd name="connsiteX2-569" fmla="*/ 748898 w 749490"/>
              <a:gd name="connsiteY2-570" fmla="*/ 1976837 h 3580665"/>
              <a:gd name="connsiteX3-571" fmla="*/ 12505 w 749490"/>
              <a:gd name="connsiteY3-572" fmla="*/ 1835036 h 3580665"/>
              <a:gd name="connsiteX4-573" fmla="*/ 0 w 749490"/>
              <a:gd name="connsiteY4-574" fmla="*/ 771974 h 3580665"/>
              <a:gd name="connsiteX5-575" fmla="*/ 730746 w 749490"/>
              <a:gd name="connsiteY5-576" fmla="*/ 510854 h 3580665"/>
              <a:gd name="connsiteX6-577" fmla="*/ 705177 w 749490"/>
              <a:gd name="connsiteY6-578" fmla="*/ 0 h 3580665"/>
              <a:gd name="connsiteX0-579" fmla="*/ 23961 w 749490"/>
              <a:gd name="connsiteY0-580" fmla="*/ 3580665 h 3580665"/>
              <a:gd name="connsiteX1-581" fmla="*/ 749490 w 749490"/>
              <a:gd name="connsiteY1-582" fmla="*/ 2454361 h 3580665"/>
              <a:gd name="connsiteX2-583" fmla="*/ 748898 w 749490"/>
              <a:gd name="connsiteY2-584" fmla="*/ 1976837 h 3580665"/>
              <a:gd name="connsiteX3-585" fmla="*/ 12505 w 749490"/>
              <a:gd name="connsiteY3-586" fmla="*/ 1835036 h 3580665"/>
              <a:gd name="connsiteX4-587" fmla="*/ 0 w 749490"/>
              <a:gd name="connsiteY4-588" fmla="*/ 771974 h 3580665"/>
              <a:gd name="connsiteX5-589" fmla="*/ 730746 w 749490"/>
              <a:gd name="connsiteY5-590" fmla="*/ 510854 h 3580665"/>
              <a:gd name="connsiteX6-591" fmla="*/ 705177 w 749490"/>
              <a:gd name="connsiteY6-592" fmla="*/ 0 h 3580665"/>
              <a:gd name="connsiteX0-593" fmla="*/ 23961 w 749490"/>
              <a:gd name="connsiteY0-594" fmla="*/ 3580665 h 3580665"/>
              <a:gd name="connsiteX1-595" fmla="*/ 749490 w 749490"/>
              <a:gd name="connsiteY1-596" fmla="*/ 2454361 h 3580665"/>
              <a:gd name="connsiteX2-597" fmla="*/ 748898 w 749490"/>
              <a:gd name="connsiteY2-598" fmla="*/ 1976837 h 3580665"/>
              <a:gd name="connsiteX3-599" fmla="*/ 42337 w 749490"/>
              <a:gd name="connsiteY3-600" fmla="*/ 1835036 h 3580665"/>
              <a:gd name="connsiteX4-601" fmla="*/ 0 w 749490"/>
              <a:gd name="connsiteY4-602" fmla="*/ 771974 h 3580665"/>
              <a:gd name="connsiteX5-603" fmla="*/ 730746 w 749490"/>
              <a:gd name="connsiteY5-604" fmla="*/ 510854 h 3580665"/>
              <a:gd name="connsiteX6-605" fmla="*/ 705177 w 749490"/>
              <a:gd name="connsiteY6-606" fmla="*/ 0 h 3580665"/>
              <a:gd name="connsiteX0-607" fmla="*/ 49532 w 775061"/>
              <a:gd name="connsiteY0-608" fmla="*/ 3580665 h 3580665"/>
              <a:gd name="connsiteX1-609" fmla="*/ 775061 w 775061"/>
              <a:gd name="connsiteY1-610" fmla="*/ 2454361 h 3580665"/>
              <a:gd name="connsiteX2-611" fmla="*/ 774469 w 775061"/>
              <a:gd name="connsiteY2-612" fmla="*/ 1976837 h 3580665"/>
              <a:gd name="connsiteX3-613" fmla="*/ 67908 w 775061"/>
              <a:gd name="connsiteY3-614" fmla="*/ 1835036 h 3580665"/>
              <a:gd name="connsiteX4-615" fmla="*/ 0 w 775061"/>
              <a:gd name="connsiteY4-616" fmla="*/ 775336 h 3580665"/>
              <a:gd name="connsiteX5-617" fmla="*/ 756317 w 775061"/>
              <a:gd name="connsiteY5-618" fmla="*/ 510854 h 3580665"/>
              <a:gd name="connsiteX6-619" fmla="*/ 730748 w 775061"/>
              <a:gd name="connsiteY6-620" fmla="*/ 0 h 3580665"/>
              <a:gd name="connsiteX0-621" fmla="*/ 49532 w 775061"/>
              <a:gd name="connsiteY0-622" fmla="*/ 3580665 h 3580665"/>
              <a:gd name="connsiteX1-623" fmla="*/ 775061 w 775061"/>
              <a:gd name="connsiteY1-624" fmla="*/ 2454361 h 3580665"/>
              <a:gd name="connsiteX2-625" fmla="*/ 774469 w 775061"/>
              <a:gd name="connsiteY2-626" fmla="*/ 1976837 h 3580665"/>
              <a:gd name="connsiteX3-627" fmla="*/ 67908 w 775061"/>
              <a:gd name="connsiteY3-628" fmla="*/ 1835036 h 3580665"/>
              <a:gd name="connsiteX4-629" fmla="*/ 0 w 775061"/>
              <a:gd name="connsiteY4-630" fmla="*/ 775336 h 3580665"/>
              <a:gd name="connsiteX5-631" fmla="*/ 756317 w 775061"/>
              <a:gd name="connsiteY5-632" fmla="*/ 510854 h 3580665"/>
              <a:gd name="connsiteX6-633" fmla="*/ 730748 w 775061"/>
              <a:gd name="connsiteY6-634" fmla="*/ 0 h 3580665"/>
              <a:gd name="connsiteX0-635" fmla="*/ 49532 w 775061"/>
              <a:gd name="connsiteY0-636" fmla="*/ 3580665 h 3580665"/>
              <a:gd name="connsiteX1-637" fmla="*/ 775061 w 775061"/>
              <a:gd name="connsiteY1-638" fmla="*/ 2454361 h 3580665"/>
              <a:gd name="connsiteX2-639" fmla="*/ 774469 w 775061"/>
              <a:gd name="connsiteY2-640" fmla="*/ 1976837 h 3580665"/>
              <a:gd name="connsiteX3-641" fmla="*/ 67908 w 775061"/>
              <a:gd name="connsiteY3-642" fmla="*/ 1835036 h 3580665"/>
              <a:gd name="connsiteX4-643" fmla="*/ 0 w 775061"/>
              <a:gd name="connsiteY4-644" fmla="*/ 775336 h 3580665"/>
              <a:gd name="connsiteX5-645" fmla="*/ 756317 w 775061"/>
              <a:gd name="connsiteY5-646" fmla="*/ 510854 h 3580665"/>
              <a:gd name="connsiteX6-647" fmla="*/ 730748 w 775061"/>
              <a:gd name="connsiteY6-648" fmla="*/ 0 h 3580665"/>
              <a:gd name="connsiteX0-649" fmla="*/ 49532 w 775061"/>
              <a:gd name="connsiteY0-650" fmla="*/ 3580665 h 3580665"/>
              <a:gd name="connsiteX1-651" fmla="*/ 775061 w 775061"/>
              <a:gd name="connsiteY1-652" fmla="*/ 2454361 h 3580665"/>
              <a:gd name="connsiteX2-653" fmla="*/ 774469 w 775061"/>
              <a:gd name="connsiteY2-654" fmla="*/ 1976837 h 3580665"/>
              <a:gd name="connsiteX3-655" fmla="*/ 38076 w 775061"/>
              <a:gd name="connsiteY3-656" fmla="*/ 1835036 h 3580665"/>
              <a:gd name="connsiteX4-657" fmla="*/ 0 w 775061"/>
              <a:gd name="connsiteY4-658" fmla="*/ 775336 h 3580665"/>
              <a:gd name="connsiteX5-659" fmla="*/ 756317 w 775061"/>
              <a:gd name="connsiteY5-660" fmla="*/ 510854 h 3580665"/>
              <a:gd name="connsiteX6-661" fmla="*/ 730748 w 775061"/>
              <a:gd name="connsiteY6-662" fmla="*/ 0 h 3580665"/>
              <a:gd name="connsiteX0-663" fmla="*/ 49532 w 775061"/>
              <a:gd name="connsiteY0-664" fmla="*/ 3580665 h 3580665"/>
              <a:gd name="connsiteX1-665" fmla="*/ 775061 w 775061"/>
              <a:gd name="connsiteY1-666" fmla="*/ 2454361 h 3580665"/>
              <a:gd name="connsiteX2-667" fmla="*/ 774469 w 775061"/>
              <a:gd name="connsiteY2-668" fmla="*/ 1976837 h 3580665"/>
              <a:gd name="connsiteX3-669" fmla="*/ 38076 w 775061"/>
              <a:gd name="connsiteY3-670" fmla="*/ 1835036 h 3580665"/>
              <a:gd name="connsiteX4-671" fmla="*/ 0 w 775061"/>
              <a:gd name="connsiteY4-672" fmla="*/ 775336 h 3580665"/>
              <a:gd name="connsiteX5-673" fmla="*/ 756317 w 775061"/>
              <a:gd name="connsiteY5-674" fmla="*/ 510854 h 3580665"/>
              <a:gd name="connsiteX6-675" fmla="*/ 730748 w 775061"/>
              <a:gd name="connsiteY6-676" fmla="*/ 0 h 3580665"/>
              <a:gd name="connsiteX0-677" fmla="*/ 49532 w 872488"/>
              <a:gd name="connsiteY0-678" fmla="*/ 3580665 h 3580665"/>
              <a:gd name="connsiteX1-679" fmla="*/ 775061 w 872488"/>
              <a:gd name="connsiteY1-680" fmla="*/ 2454361 h 3580665"/>
              <a:gd name="connsiteX2-681" fmla="*/ 872488 w 872488"/>
              <a:gd name="connsiteY2-682" fmla="*/ 2054161 h 3580665"/>
              <a:gd name="connsiteX3-683" fmla="*/ 38076 w 872488"/>
              <a:gd name="connsiteY3-684" fmla="*/ 1835036 h 3580665"/>
              <a:gd name="connsiteX4-685" fmla="*/ 0 w 872488"/>
              <a:gd name="connsiteY4-686" fmla="*/ 775336 h 3580665"/>
              <a:gd name="connsiteX5-687" fmla="*/ 756317 w 872488"/>
              <a:gd name="connsiteY5-688" fmla="*/ 510854 h 3580665"/>
              <a:gd name="connsiteX6-689" fmla="*/ 730748 w 872488"/>
              <a:gd name="connsiteY6-690" fmla="*/ 0 h 3580665"/>
              <a:gd name="connsiteX0-691" fmla="*/ 49532 w 873080"/>
              <a:gd name="connsiteY0-692" fmla="*/ 3580665 h 3580665"/>
              <a:gd name="connsiteX1-693" fmla="*/ 873080 w 873080"/>
              <a:gd name="connsiteY1-694" fmla="*/ 2414018 h 3580665"/>
              <a:gd name="connsiteX2-695" fmla="*/ 872488 w 873080"/>
              <a:gd name="connsiteY2-696" fmla="*/ 2054161 h 3580665"/>
              <a:gd name="connsiteX3-697" fmla="*/ 38076 w 873080"/>
              <a:gd name="connsiteY3-698" fmla="*/ 1835036 h 3580665"/>
              <a:gd name="connsiteX4-699" fmla="*/ 0 w 873080"/>
              <a:gd name="connsiteY4-700" fmla="*/ 775336 h 3580665"/>
              <a:gd name="connsiteX5-701" fmla="*/ 756317 w 873080"/>
              <a:gd name="connsiteY5-702" fmla="*/ 510854 h 3580665"/>
              <a:gd name="connsiteX6-703" fmla="*/ 730748 w 873080"/>
              <a:gd name="connsiteY6-704" fmla="*/ 0 h 3580665"/>
              <a:gd name="connsiteX0-705" fmla="*/ 49532 w 873080"/>
              <a:gd name="connsiteY0-706" fmla="*/ 3580665 h 3580665"/>
              <a:gd name="connsiteX1-707" fmla="*/ 873080 w 873080"/>
              <a:gd name="connsiteY1-708" fmla="*/ 2414018 h 3580665"/>
              <a:gd name="connsiteX2-709" fmla="*/ 872488 w 873080"/>
              <a:gd name="connsiteY2-710" fmla="*/ 2054161 h 3580665"/>
              <a:gd name="connsiteX3-711" fmla="*/ 38076 w 873080"/>
              <a:gd name="connsiteY3-712" fmla="*/ 1835036 h 3580665"/>
              <a:gd name="connsiteX4-713" fmla="*/ 0 w 873080"/>
              <a:gd name="connsiteY4-714" fmla="*/ 775336 h 3580665"/>
              <a:gd name="connsiteX5-715" fmla="*/ 730748 w 873080"/>
              <a:gd name="connsiteY5-716" fmla="*/ 0 h 3580665"/>
              <a:gd name="connsiteX0-717" fmla="*/ 12167 w 835715"/>
              <a:gd name="connsiteY0-718" fmla="*/ 3580665 h 3580665"/>
              <a:gd name="connsiteX1-719" fmla="*/ 835715 w 835715"/>
              <a:gd name="connsiteY1-720" fmla="*/ 2414018 h 3580665"/>
              <a:gd name="connsiteX2-721" fmla="*/ 835123 w 835715"/>
              <a:gd name="connsiteY2-722" fmla="*/ 2054161 h 3580665"/>
              <a:gd name="connsiteX3-723" fmla="*/ 711 w 835715"/>
              <a:gd name="connsiteY3-724" fmla="*/ 1835036 h 3580665"/>
              <a:gd name="connsiteX4-725" fmla="*/ 693383 w 835715"/>
              <a:gd name="connsiteY4-726" fmla="*/ 0 h 3580665"/>
              <a:gd name="connsiteX0-727" fmla="*/ 0 w 823548"/>
              <a:gd name="connsiteY0-728" fmla="*/ 3580665 h 3580665"/>
              <a:gd name="connsiteX1-729" fmla="*/ 823548 w 823548"/>
              <a:gd name="connsiteY1-730" fmla="*/ 2414018 h 3580665"/>
              <a:gd name="connsiteX2-731" fmla="*/ 822956 w 823548"/>
              <a:gd name="connsiteY2-732" fmla="*/ 2054161 h 3580665"/>
              <a:gd name="connsiteX3-733" fmla="*/ 287809 w 823548"/>
              <a:gd name="connsiteY3-734" fmla="*/ 1835036 h 3580665"/>
              <a:gd name="connsiteX4-735" fmla="*/ 681216 w 823548"/>
              <a:gd name="connsiteY4-736" fmla="*/ 0 h 3580665"/>
              <a:gd name="connsiteX0-737" fmla="*/ 0 w 823548"/>
              <a:gd name="connsiteY0-738" fmla="*/ 3569150 h 3569150"/>
              <a:gd name="connsiteX1-739" fmla="*/ 823548 w 823548"/>
              <a:gd name="connsiteY1-740" fmla="*/ 2402503 h 3569150"/>
              <a:gd name="connsiteX2-741" fmla="*/ 822956 w 823548"/>
              <a:gd name="connsiteY2-742" fmla="*/ 2042646 h 3569150"/>
              <a:gd name="connsiteX3-743" fmla="*/ 287809 w 823548"/>
              <a:gd name="connsiteY3-744" fmla="*/ 1823521 h 3569150"/>
              <a:gd name="connsiteX4-745" fmla="*/ 206772 w 823548"/>
              <a:gd name="connsiteY4-746" fmla="*/ 0 h 3569150"/>
              <a:gd name="connsiteX0-747" fmla="*/ 0 w 823548"/>
              <a:gd name="connsiteY0-748" fmla="*/ 3569150 h 3569150"/>
              <a:gd name="connsiteX1-749" fmla="*/ 823548 w 823548"/>
              <a:gd name="connsiteY1-750" fmla="*/ 2402503 h 3569150"/>
              <a:gd name="connsiteX2-751" fmla="*/ 822956 w 823548"/>
              <a:gd name="connsiteY2-752" fmla="*/ 2042646 h 3569150"/>
              <a:gd name="connsiteX3-753" fmla="*/ 287809 w 823548"/>
              <a:gd name="connsiteY3-754" fmla="*/ 1823521 h 3569150"/>
              <a:gd name="connsiteX4-755" fmla="*/ 206772 w 823548"/>
              <a:gd name="connsiteY4-756" fmla="*/ 0 h 3569150"/>
              <a:gd name="connsiteX0-757" fmla="*/ 0 w 823548"/>
              <a:gd name="connsiteY0-758" fmla="*/ 3569150 h 3569150"/>
              <a:gd name="connsiteX1-759" fmla="*/ 823548 w 823548"/>
              <a:gd name="connsiteY1-760" fmla="*/ 2402503 h 3569150"/>
              <a:gd name="connsiteX2-761" fmla="*/ 822956 w 823548"/>
              <a:gd name="connsiteY2-762" fmla="*/ 2042646 h 3569150"/>
              <a:gd name="connsiteX3-763" fmla="*/ 287809 w 823548"/>
              <a:gd name="connsiteY3-764" fmla="*/ 1823521 h 3569150"/>
              <a:gd name="connsiteX4-765" fmla="*/ 126482 w 823548"/>
              <a:gd name="connsiteY4-766" fmla="*/ 0 h 3569150"/>
              <a:gd name="connsiteX0-767" fmla="*/ 0 w 823548"/>
              <a:gd name="connsiteY0-768" fmla="*/ 3569150 h 3569150"/>
              <a:gd name="connsiteX1-769" fmla="*/ 823548 w 823548"/>
              <a:gd name="connsiteY1-770" fmla="*/ 2402503 h 3569150"/>
              <a:gd name="connsiteX2-771" fmla="*/ 822956 w 823548"/>
              <a:gd name="connsiteY2-772" fmla="*/ 2042646 h 3569150"/>
              <a:gd name="connsiteX3-773" fmla="*/ 229416 w 823548"/>
              <a:gd name="connsiteY3-774" fmla="*/ 1817763 h 3569150"/>
              <a:gd name="connsiteX4-775" fmla="*/ 126482 w 823548"/>
              <a:gd name="connsiteY4-776" fmla="*/ 0 h 3569150"/>
              <a:gd name="connsiteX0-777" fmla="*/ 0 w 823548"/>
              <a:gd name="connsiteY0-778" fmla="*/ 3569150 h 3569150"/>
              <a:gd name="connsiteX1-779" fmla="*/ 823548 w 823548"/>
              <a:gd name="connsiteY1-780" fmla="*/ 2402503 h 3569150"/>
              <a:gd name="connsiteX2-781" fmla="*/ 822956 w 823548"/>
              <a:gd name="connsiteY2-782" fmla="*/ 2042646 h 3569150"/>
              <a:gd name="connsiteX3-783" fmla="*/ 178322 w 823548"/>
              <a:gd name="connsiteY3-784" fmla="*/ 1806247 h 3569150"/>
              <a:gd name="connsiteX4-785" fmla="*/ 126482 w 823548"/>
              <a:gd name="connsiteY4-786" fmla="*/ 0 h 3569150"/>
              <a:gd name="connsiteX0-787" fmla="*/ 0 w 823548"/>
              <a:gd name="connsiteY0-788" fmla="*/ 3569150 h 3569150"/>
              <a:gd name="connsiteX1-789" fmla="*/ 823548 w 823548"/>
              <a:gd name="connsiteY1-790" fmla="*/ 2402503 h 3569150"/>
              <a:gd name="connsiteX2-791" fmla="*/ 822956 w 823548"/>
              <a:gd name="connsiteY2-792" fmla="*/ 2042646 h 3569150"/>
              <a:gd name="connsiteX3-793" fmla="*/ 149125 w 823548"/>
              <a:gd name="connsiteY3-794" fmla="*/ 1806247 h 3569150"/>
              <a:gd name="connsiteX4-795" fmla="*/ 126482 w 823548"/>
              <a:gd name="connsiteY4-796" fmla="*/ 0 h 3569150"/>
              <a:gd name="connsiteX0-797" fmla="*/ 0 w 823548"/>
              <a:gd name="connsiteY0-798" fmla="*/ 3569150 h 3569150"/>
              <a:gd name="connsiteX1-799" fmla="*/ 823548 w 823548"/>
              <a:gd name="connsiteY1-800" fmla="*/ 2402503 h 3569150"/>
              <a:gd name="connsiteX2-801" fmla="*/ 822956 w 823548"/>
              <a:gd name="connsiteY2-802" fmla="*/ 2042646 h 3569150"/>
              <a:gd name="connsiteX3-803" fmla="*/ 149125 w 823548"/>
              <a:gd name="connsiteY3-804" fmla="*/ 1829278 h 3569150"/>
              <a:gd name="connsiteX4-805" fmla="*/ 126482 w 823548"/>
              <a:gd name="connsiteY4-806" fmla="*/ 0 h 3569150"/>
              <a:gd name="connsiteX0-807" fmla="*/ 0 w 823548"/>
              <a:gd name="connsiteY0-808" fmla="*/ 3569150 h 3569150"/>
              <a:gd name="connsiteX1-809" fmla="*/ 823548 w 823548"/>
              <a:gd name="connsiteY1-810" fmla="*/ 2402503 h 3569150"/>
              <a:gd name="connsiteX2-811" fmla="*/ 822956 w 823548"/>
              <a:gd name="connsiteY2-812" fmla="*/ 2042646 h 3569150"/>
              <a:gd name="connsiteX3-813" fmla="*/ 149125 w 823548"/>
              <a:gd name="connsiteY3-814" fmla="*/ 1829278 h 3569150"/>
              <a:gd name="connsiteX4-815" fmla="*/ 126482 w 823548"/>
              <a:gd name="connsiteY4-816" fmla="*/ 0 h 3569150"/>
              <a:gd name="connsiteX0-817" fmla="*/ 0 w 823548"/>
              <a:gd name="connsiteY0-818" fmla="*/ 3574908 h 3574908"/>
              <a:gd name="connsiteX1-819" fmla="*/ 823548 w 823548"/>
              <a:gd name="connsiteY1-820" fmla="*/ 2408261 h 3574908"/>
              <a:gd name="connsiteX2-821" fmla="*/ 822956 w 823548"/>
              <a:gd name="connsiteY2-822" fmla="*/ 2048404 h 3574908"/>
              <a:gd name="connsiteX3-823" fmla="*/ 149125 w 823548"/>
              <a:gd name="connsiteY3-824" fmla="*/ 1835036 h 3574908"/>
              <a:gd name="connsiteX4-825" fmla="*/ 68088 w 823548"/>
              <a:gd name="connsiteY4-826" fmla="*/ 0 h 3574908"/>
              <a:gd name="connsiteX0-827" fmla="*/ 0 w 823548"/>
              <a:gd name="connsiteY0-828" fmla="*/ 3574908 h 3574908"/>
              <a:gd name="connsiteX1-829" fmla="*/ 823548 w 823548"/>
              <a:gd name="connsiteY1-830" fmla="*/ 2408261 h 3574908"/>
              <a:gd name="connsiteX2-831" fmla="*/ 822956 w 823548"/>
              <a:gd name="connsiteY2-832" fmla="*/ 2048404 h 3574908"/>
              <a:gd name="connsiteX3-833" fmla="*/ 134526 w 823548"/>
              <a:gd name="connsiteY3-834" fmla="*/ 1858067 h 3574908"/>
              <a:gd name="connsiteX4-835" fmla="*/ 68088 w 823548"/>
              <a:gd name="connsiteY4-836" fmla="*/ 0 h 3574908"/>
              <a:gd name="connsiteX0-837" fmla="*/ 0 w 823548"/>
              <a:gd name="connsiteY0-838" fmla="*/ 3580665 h 3580665"/>
              <a:gd name="connsiteX1-839" fmla="*/ 823548 w 823548"/>
              <a:gd name="connsiteY1-840" fmla="*/ 2414018 h 3580665"/>
              <a:gd name="connsiteX2-841" fmla="*/ 822956 w 823548"/>
              <a:gd name="connsiteY2-842" fmla="*/ 2054161 h 3580665"/>
              <a:gd name="connsiteX3-843" fmla="*/ 134526 w 823548"/>
              <a:gd name="connsiteY3-844" fmla="*/ 1863824 h 3580665"/>
              <a:gd name="connsiteX4-845" fmla="*/ 104584 w 823548"/>
              <a:gd name="connsiteY4-846" fmla="*/ 0 h 3580665"/>
              <a:gd name="connsiteX0-847" fmla="*/ 29101 w 718964"/>
              <a:gd name="connsiteY0-848" fmla="*/ 3359195 h 3359195"/>
              <a:gd name="connsiteX1-849" fmla="*/ 718964 w 718964"/>
              <a:gd name="connsiteY1-850" fmla="*/ 2414018 h 3359195"/>
              <a:gd name="connsiteX2-851" fmla="*/ 718372 w 718964"/>
              <a:gd name="connsiteY2-852" fmla="*/ 2054161 h 3359195"/>
              <a:gd name="connsiteX3-853" fmla="*/ 29942 w 718964"/>
              <a:gd name="connsiteY3-854" fmla="*/ 1863824 h 3359195"/>
              <a:gd name="connsiteX4-855" fmla="*/ 0 w 718964"/>
              <a:gd name="connsiteY4-856" fmla="*/ 0 h 3359195"/>
              <a:gd name="connsiteX0-857" fmla="*/ 15733 w 705596"/>
              <a:gd name="connsiteY0-858" fmla="*/ 2968987 h 2968987"/>
              <a:gd name="connsiteX1-859" fmla="*/ 705596 w 705596"/>
              <a:gd name="connsiteY1-860" fmla="*/ 2023810 h 2968987"/>
              <a:gd name="connsiteX2-861" fmla="*/ 705004 w 705596"/>
              <a:gd name="connsiteY2-862" fmla="*/ 1663953 h 2968987"/>
              <a:gd name="connsiteX3-863" fmla="*/ 16574 w 705596"/>
              <a:gd name="connsiteY3-864" fmla="*/ 1473616 h 2968987"/>
              <a:gd name="connsiteX4-865" fmla="*/ 0 w 705596"/>
              <a:gd name="connsiteY4-866" fmla="*/ 0 h 2968987"/>
              <a:gd name="connsiteX0-867" fmla="*/ 21024 w 710887"/>
              <a:gd name="connsiteY0-868" fmla="*/ 3027431 h 3027431"/>
              <a:gd name="connsiteX1-869" fmla="*/ 710887 w 710887"/>
              <a:gd name="connsiteY1-870" fmla="*/ 2082254 h 3027431"/>
              <a:gd name="connsiteX2-871" fmla="*/ 710295 w 710887"/>
              <a:gd name="connsiteY2-872" fmla="*/ 1722397 h 3027431"/>
              <a:gd name="connsiteX3-873" fmla="*/ 21865 w 710887"/>
              <a:gd name="connsiteY3-874" fmla="*/ 1532060 h 3027431"/>
              <a:gd name="connsiteX4-875" fmla="*/ 0 w 710887"/>
              <a:gd name="connsiteY4-876" fmla="*/ 0 h 3027431"/>
              <a:gd name="connsiteX0-877" fmla="*/ 34392 w 710887"/>
              <a:gd name="connsiteY0-878" fmla="*/ 2943061 h 2943061"/>
              <a:gd name="connsiteX1-879" fmla="*/ 710887 w 710887"/>
              <a:gd name="connsiteY1-880" fmla="*/ 2082254 h 2943061"/>
              <a:gd name="connsiteX2-881" fmla="*/ 710295 w 710887"/>
              <a:gd name="connsiteY2-882" fmla="*/ 1722397 h 2943061"/>
              <a:gd name="connsiteX3-883" fmla="*/ 21865 w 710887"/>
              <a:gd name="connsiteY3-884" fmla="*/ 1532060 h 2943061"/>
              <a:gd name="connsiteX4-885" fmla="*/ 0 w 710887"/>
              <a:gd name="connsiteY4-886" fmla="*/ 0 h 2943061"/>
              <a:gd name="connsiteX0-887" fmla="*/ 34392 w 710887"/>
              <a:gd name="connsiteY0-888" fmla="*/ 2943061 h 2943061"/>
              <a:gd name="connsiteX1-889" fmla="*/ 710887 w 710887"/>
              <a:gd name="connsiteY1-890" fmla="*/ 2082254 h 2943061"/>
              <a:gd name="connsiteX2-891" fmla="*/ 710295 w 710887"/>
              <a:gd name="connsiteY2-892" fmla="*/ 1722397 h 2943061"/>
              <a:gd name="connsiteX3-893" fmla="*/ 21865 w 710887"/>
              <a:gd name="connsiteY3-894" fmla="*/ 1532060 h 2943061"/>
              <a:gd name="connsiteX4-895" fmla="*/ 0 w 710887"/>
              <a:gd name="connsiteY4-896" fmla="*/ 0 h 2943061"/>
            </a:gdLst>
            <a:ahLst/>
            <a:cxnLst>
              <a:cxn ang="0">
                <a:pos x="connsiteX0-1" y="connsiteY0-2"/>
              </a:cxn>
              <a:cxn ang="0">
                <a:pos x="connsiteX1-3" y="connsiteY1-4"/>
              </a:cxn>
              <a:cxn ang="0">
                <a:pos x="connsiteX2-5" y="connsiteY2-6"/>
              </a:cxn>
              <a:cxn ang="0">
                <a:pos x="connsiteX3-7" y="connsiteY3-8"/>
              </a:cxn>
              <a:cxn ang="0">
                <a:pos x="connsiteX4-129" y="connsiteY4-130"/>
              </a:cxn>
            </a:cxnLst>
            <a:rect l="l" t="t" r="r" b="b"/>
            <a:pathLst>
              <a:path w="710887" h="2943061">
                <a:moveTo>
                  <a:pt x="34392" y="2943061"/>
                </a:moveTo>
                <a:cubicBezTo>
                  <a:pt x="643118" y="2216702"/>
                  <a:pt x="436371" y="2471136"/>
                  <a:pt x="710887" y="2082254"/>
                </a:cubicBezTo>
                <a:cubicBezTo>
                  <a:pt x="710690" y="1923079"/>
                  <a:pt x="710492" y="1881572"/>
                  <a:pt x="710295" y="1722397"/>
                </a:cubicBezTo>
                <a:cubicBezTo>
                  <a:pt x="566067" y="1680698"/>
                  <a:pt x="166093" y="1573759"/>
                  <a:pt x="21865" y="1532060"/>
                </a:cubicBezTo>
                <a:cubicBezTo>
                  <a:pt x="5542" y="849989"/>
                  <a:pt x="1676" y="727768"/>
                  <a:pt x="0" y="0"/>
                </a:cubicBezTo>
              </a:path>
            </a:pathLst>
          </a:custGeom>
          <a:ln w="12700">
            <a:solidFill>
              <a:schemeClr val="tx1"/>
            </a:solidFill>
            <a:tailEnd type="triangle"/>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grpSp>
        <p:nvGrpSpPr>
          <p:cNvPr id="225" name="Group 224"/>
          <p:cNvGrpSpPr/>
          <p:nvPr/>
        </p:nvGrpSpPr>
        <p:grpSpPr>
          <a:xfrm>
            <a:off x="1672399" y="4825035"/>
            <a:ext cx="313044" cy="369332"/>
            <a:chOff x="418816" y="1964112"/>
            <a:chExt cx="313044" cy="369332"/>
          </a:xfrm>
        </p:grpSpPr>
        <p:sp>
          <p:nvSpPr>
            <p:cNvPr id="226" name="Oval 22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227" name="TextBox 226"/>
            <p:cNvSpPr txBox="1"/>
            <p:nvPr/>
          </p:nvSpPr>
          <p:spPr>
            <a:xfrm>
              <a:off x="418816" y="1964112"/>
              <a:ext cx="313044" cy="369332"/>
            </a:xfrm>
            <a:prstGeom prst="rect">
              <a:avLst/>
            </a:prstGeom>
            <a:noFill/>
          </p:spPr>
          <p:txBody>
            <a:bodyPr wrap="none" rtlCol="0">
              <a:spAutoFit/>
            </a:bodyPr>
            <a:lstStyle/>
            <a:p>
              <a:r>
                <a:rPr lang="en-US" dirty="0">
                  <a:latin typeface="Arial" panose="020B0604020202090204"/>
                  <a:cs typeface="Arial" panose="020B0604020202090204"/>
                </a:rPr>
                <a:t>1</a:t>
              </a:r>
            </a:p>
          </p:txBody>
        </p:sp>
      </p:grpSp>
      <p:grpSp>
        <p:nvGrpSpPr>
          <p:cNvPr id="228" name="Group 227"/>
          <p:cNvGrpSpPr/>
          <p:nvPr/>
        </p:nvGrpSpPr>
        <p:grpSpPr>
          <a:xfrm>
            <a:off x="1765227" y="3717809"/>
            <a:ext cx="313044" cy="369332"/>
            <a:chOff x="418816" y="1964112"/>
            <a:chExt cx="313044" cy="369332"/>
          </a:xfrm>
        </p:grpSpPr>
        <p:sp>
          <p:nvSpPr>
            <p:cNvPr id="229" name="Oval 228"/>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230" name="TextBox 229"/>
            <p:cNvSpPr txBox="1"/>
            <p:nvPr/>
          </p:nvSpPr>
          <p:spPr>
            <a:xfrm>
              <a:off x="418816" y="1964112"/>
              <a:ext cx="313044" cy="369332"/>
            </a:xfrm>
            <a:prstGeom prst="rect">
              <a:avLst/>
            </a:prstGeom>
            <a:noFill/>
          </p:spPr>
          <p:txBody>
            <a:bodyPr wrap="none" rtlCol="0">
              <a:spAutoFit/>
            </a:bodyPr>
            <a:lstStyle/>
            <a:p>
              <a:r>
                <a:rPr lang="en-US" dirty="0">
                  <a:latin typeface="Arial" panose="020B0604020202090204"/>
                  <a:cs typeface="Arial" panose="020B0604020202090204"/>
                </a:rPr>
                <a:t>2</a:t>
              </a:r>
            </a:p>
          </p:txBody>
        </p:sp>
      </p:grpSp>
      <p:grpSp>
        <p:nvGrpSpPr>
          <p:cNvPr id="231" name="Group 230"/>
          <p:cNvGrpSpPr/>
          <p:nvPr/>
        </p:nvGrpSpPr>
        <p:grpSpPr>
          <a:xfrm>
            <a:off x="1285507" y="2532088"/>
            <a:ext cx="313044" cy="369332"/>
            <a:chOff x="418816" y="1964112"/>
            <a:chExt cx="313044" cy="369332"/>
          </a:xfrm>
        </p:grpSpPr>
        <p:sp>
          <p:nvSpPr>
            <p:cNvPr id="232" name="Oval 231"/>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233" name="TextBox 232"/>
            <p:cNvSpPr txBox="1"/>
            <p:nvPr/>
          </p:nvSpPr>
          <p:spPr>
            <a:xfrm>
              <a:off x="418816" y="1964112"/>
              <a:ext cx="313044" cy="369332"/>
            </a:xfrm>
            <a:prstGeom prst="rect">
              <a:avLst/>
            </a:prstGeom>
            <a:noFill/>
          </p:spPr>
          <p:txBody>
            <a:bodyPr wrap="none" rtlCol="0">
              <a:spAutoFit/>
            </a:bodyPr>
            <a:lstStyle/>
            <a:p>
              <a:r>
                <a:rPr lang="en-US" dirty="0">
                  <a:latin typeface="Arial" panose="020B0604020202090204"/>
                  <a:cs typeface="Arial" panose="020B0604020202090204"/>
                </a:rPr>
                <a:t>3</a:t>
              </a:r>
            </a:p>
          </p:txBody>
        </p:sp>
      </p:grpSp>
      <p:cxnSp>
        <p:nvCxnSpPr>
          <p:cNvPr id="4" name="Straight Arrow Connector 3"/>
          <p:cNvCxnSpPr/>
          <p:nvPr/>
        </p:nvCxnSpPr>
        <p:spPr bwMode="auto">
          <a:xfrm>
            <a:off x="1635543" y="1382172"/>
            <a:ext cx="36856" cy="1995939"/>
          </a:xfrm>
          <a:prstGeom prst="straightConnector1">
            <a:avLst/>
          </a:prstGeom>
          <a:solidFill>
            <a:schemeClr val="accent1"/>
          </a:solidFill>
          <a:ln w="12700" cap="flat" cmpd="sng" algn="ctr">
            <a:solidFill>
              <a:schemeClr val="tx1"/>
            </a:solidFill>
            <a:prstDash val="solid"/>
            <a:round/>
            <a:headEnd type="triangle"/>
            <a:tailEnd type="triangle"/>
          </a:ln>
          <a:effectLst/>
        </p:spPr>
      </p:cxnSp>
      <p:grpSp>
        <p:nvGrpSpPr>
          <p:cNvPr id="235" name="Group 234"/>
          <p:cNvGrpSpPr/>
          <p:nvPr/>
        </p:nvGrpSpPr>
        <p:grpSpPr>
          <a:xfrm>
            <a:off x="1506590" y="1883932"/>
            <a:ext cx="313044" cy="369332"/>
            <a:chOff x="418816" y="1964112"/>
            <a:chExt cx="313044" cy="369332"/>
          </a:xfrm>
        </p:grpSpPr>
        <p:sp>
          <p:nvSpPr>
            <p:cNvPr id="236" name="Oval 23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237" name="TextBox 236"/>
            <p:cNvSpPr txBox="1"/>
            <p:nvPr/>
          </p:nvSpPr>
          <p:spPr>
            <a:xfrm>
              <a:off x="418816" y="1964112"/>
              <a:ext cx="313044" cy="369332"/>
            </a:xfrm>
            <a:prstGeom prst="rect">
              <a:avLst/>
            </a:prstGeom>
            <a:noFill/>
          </p:spPr>
          <p:txBody>
            <a:bodyPr wrap="none" rtlCol="0">
              <a:spAutoFit/>
            </a:bodyPr>
            <a:lstStyle/>
            <a:p>
              <a:r>
                <a:rPr lang="en-US" dirty="0">
                  <a:latin typeface="Arial" panose="020B0604020202090204"/>
                  <a:cs typeface="Arial" panose="020B0604020202090204"/>
                </a:rPr>
                <a:t>4</a:t>
              </a:r>
            </a:p>
          </p:txBody>
        </p:sp>
      </p:grpSp>
      <p:sp>
        <p:nvSpPr>
          <p:cNvPr id="238" name="Freeform 237"/>
          <p:cNvSpPr/>
          <p:nvPr/>
        </p:nvSpPr>
        <p:spPr>
          <a:xfrm>
            <a:off x="2295799" y="1680415"/>
            <a:ext cx="1029459" cy="3309980"/>
          </a:xfrm>
          <a:custGeom>
            <a:avLst/>
            <a:gdLst>
              <a:gd name="connsiteX0" fmla="*/ 3902322 w 3902322"/>
              <a:gd name="connsiteY0" fmla="*/ 0 h 449814"/>
              <a:gd name="connsiteX1" fmla="*/ 3452563 w 3902322"/>
              <a:gd name="connsiteY1" fmla="*/ 449814 h 449814"/>
              <a:gd name="connsiteX2" fmla="*/ 343934 w 3902322"/>
              <a:gd name="connsiteY2" fmla="*/ 423354 h 449814"/>
              <a:gd name="connsiteX3" fmla="*/ 0 w 3902322"/>
              <a:gd name="connsiteY3" fmla="*/ 39690 h 449814"/>
              <a:gd name="connsiteX0-1" fmla="*/ 3902322 w 3902322"/>
              <a:gd name="connsiteY0-2" fmla="*/ 0 h 423354"/>
              <a:gd name="connsiteX1-3" fmla="*/ 3565324 w 3902322"/>
              <a:gd name="connsiteY1-4" fmla="*/ 402338 h 423354"/>
              <a:gd name="connsiteX2-5" fmla="*/ 343934 w 3902322"/>
              <a:gd name="connsiteY2-6" fmla="*/ 423354 h 423354"/>
              <a:gd name="connsiteX3-7" fmla="*/ 0 w 3902322"/>
              <a:gd name="connsiteY3-8" fmla="*/ 39690 h 423354"/>
              <a:gd name="connsiteX0-9" fmla="*/ 3902322 w 3902322"/>
              <a:gd name="connsiteY0-10" fmla="*/ 0 h 423354"/>
              <a:gd name="connsiteX1-11" fmla="*/ 3600933 w 3902322"/>
              <a:gd name="connsiteY1-12" fmla="*/ 384535 h 423354"/>
              <a:gd name="connsiteX2-13" fmla="*/ 343934 w 3902322"/>
              <a:gd name="connsiteY2-14" fmla="*/ 423354 h 423354"/>
              <a:gd name="connsiteX3-15" fmla="*/ 0 w 3902322"/>
              <a:gd name="connsiteY3-16" fmla="*/ 39690 h 423354"/>
              <a:gd name="connsiteX0-17" fmla="*/ 3943865 w 3943865"/>
              <a:gd name="connsiteY0-18" fmla="*/ 1851 h 383664"/>
              <a:gd name="connsiteX1-19" fmla="*/ 3600933 w 3943865"/>
              <a:gd name="connsiteY1-20" fmla="*/ 344845 h 383664"/>
              <a:gd name="connsiteX2-21" fmla="*/ 343934 w 3943865"/>
              <a:gd name="connsiteY2-22" fmla="*/ 383664 h 383664"/>
              <a:gd name="connsiteX3-23" fmla="*/ 0 w 3943865"/>
              <a:gd name="connsiteY3-24" fmla="*/ 0 h 383664"/>
              <a:gd name="connsiteX0-25" fmla="*/ 4015082 w 4015082"/>
              <a:gd name="connsiteY0-26" fmla="*/ 29941 h 383664"/>
              <a:gd name="connsiteX1-27" fmla="*/ 3600933 w 4015082"/>
              <a:gd name="connsiteY1-28" fmla="*/ 344845 h 383664"/>
              <a:gd name="connsiteX2-29" fmla="*/ 343934 w 4015082"/>
              <a:gd name="connsiteY2-30" fmla="*/ 383664 h 383664"/>
              <a:gd name="connsiteX3-31" fmla="*/ 0 w 4015082"/>
              <a:gd name="connsiteY3-32" fmla="*/ 0 h 383664"/>
              <a:gd name="connsiteX0-33" fmla="*/ 4187190 w 4187190"/>
              <a:gd name="connsiteY0-34" fmla="*/ 15896 h 369619"/>
              <a:gd name="connsiteX1-35" fmla="*/ 3773041 w 4187190"/>
              <a:gd name="connsiteY1-36" fmla="*/ 330800 h 369619"/>
              <a:gd name="connsiteX2-37" fmla="*/ 516042 w 4187190"/>
              <a:gd name="connsiteY2-38" fmla="*/ 369619 h 369619"/>
              <a:gd name="connsiteX3-39" fmla="*/ 0 w 4187190"/>
              <a:gd name="connsiteY3-40" fmla="*/ 0 h 369619"/>
              <a:gd name="connsiteX0-41" fmla="*/ 4187190 w 4187190"/>
              <a:gd name="connsiteY0-42" fmla="*/ 15896 h 369619"/>
              <a:gd name="connsiteX1-43" fmla="*/ 3749302 w 4187190"/>
              <a:gd name="connsiteY1-44" fmla="*/ 349527 h 369619"/>
              <a:gd name="connsiteX2-45" fmla="*/ 516042 w 4187190"/>
              <a:gd name="connsiteY2-46" fmla="*/ 369619 h 369619"/>
              <a:gd name="connsiteX3-47" fmla="*/ 0 w 4187190"/>
              <a:gd name="connsiteY3-48" fmla="*/ 0 h 369619"/>
              <a:gd name="connsiteX0-49" fmla="*/ 0 w 6265284"/>
              <a:gd name="connsiteY0-50" fmla="*/ 0 h 1092877"/>
              <a:gd name="connsiteX1-51" fmla="*/ 6265284 w 6265284"/>
              <a:gd name="connsiteY1-52" fmla="*/ 1072785 h 1092877"/>
              <a:gd name="connsiteX2-53" fmla="*/ 3032024 w 6265284"/>
              <a:gd name="connsiteY2-54" fmla="*/ 1092877 h 1092877"/>
              <a:gd name="connsiteX3-55" fmla="*/ 2515982 w 6265284"/>
              <a:gd name="connsiteY3-56" fmla="*/ 723258 h 1092877"/>
              <a:gd name="connsiteX0-57" fmla="*/ 0 w 3032024"/>
              <a:gd name="connsiteY0-58" fmla="*/ 1193950 h 2286827"/>
              <a:gd name="connsiteX1-59" fmla="*/ 1581391 w 3032024"/>
              <a:gd name="connsiteY1-60" fmla="*/ 0 h 2286827"/>
              <a:gd name="connsiteX2-61" fmla="*/ 3032024 w 3032024"/>
              <a:gd name="connsiteY2-62" fmla="*/ 2286827 h 2286827"/>
              <a:gd name="connsiteX3-63" fmla="*/ 2515982 w 3032024"/>
              <a:gd name="connsiteY3-64" fmla="*/ 1917208 h 2286827"/>
              <a:gd name="connsiteX0-65" fmla="*/ 0 w 2515982"/>
              <a:gd name="connsiteY0-66" fmla="*/ 1896586 h 2619844"/>
              <a:gd name="connsiteX1-67" fmla="*/ 1581391 w 2515982"/>
              <a:gd name="connsiteY1-68" fmla="*/ 702636 h 2619844"/>
              <a:gd name="connsiteX2-69" fmla="*/ 1241736 w 2515982"/>
              <a:gd name="connsiteY2-70" fmla="*/ 0 h 2619844"/>
              <a:gd name="connsiteX3-71" fmla="*/ 2515982 w 2515982"/>
              <a:gd name="connsiteY3-72" fmla="*/ 2619844 h 2619844"/>
              <a:gd name="connsiteX0-73" fmla="*/ 0 w 1581391"/>
              <a:gd name="connsiteY0-74" fmla="*/ 2890379 h 2890379"/>
              <a:gd name="connsiteX1-75" fmla="*/ 1581391 w 1581391"/>
              <a:gd name="connsiteY1-76" fmla="*/ 1696429 h 2890379"/>
              <a:gd name="connsiteX2-77" fmla="*/ 1241736 w 1581391"/>
              <a:gd name="connsiteY2-78" fmla="*/ 993793 h 2890379"/>
              <a:gd name="connsiteX3-79" fmla="*/ 1579203 w 1581391"/>
              <a:gd name="connsiteY3-80" fmla="*/ 0 h 2890379"/>
              <a:gd name="connsiteX0-81" fmla="*/ 0 w 1581391"/>
              <a:gd name="connsiteY0-82" fmla="*/ 2973211 h 2973211"/>
              <a:gd name="connsiteX1-83" fmla="*/ 1581391 w 1581391"/>
              <a:gd name="connsiteY1-84" fmla="*/ 1779261 h 2973211"/>
              <a:gd name="connsiteX2-85" fmla="*/ 1241736 w 1581391"/>
              <a:gd name="connsiteY2-86" fmla="*/ 1076625 h 2973211"/>
              <a:gd name="connsiteX3-87" fmla="*/ 1229193 w 1581391"/>
              <a:gd name="connsiteY3-88" fmla="*/ 0 h 2973211"/>
              <a:gd name="connsiteX0-89" fmla="*/ 0 w 1581391"/>
              <a:gd name="connsiteY0-90" fmla="*/ 3276927 h 3276927"/>
              <a:gd name="connsiteX1-91" fmla="*/ 1581391 w 1581391"/>
              <a:gd name="connsiteY1-92" fmla="*/ 2082977 h 3276927"/>
              <a:gd name="connsiteX2-93" fmla="*/ 1241736 w 1581391"/>
              <a:gd name="connsiteY2-94" fmla="*/ 1380341 h 3276927"/>
              <a:gd name="connsiteX3-95" fmla="*/ 1249193 w 1581391"/>
              <a:gd name="connsiteY3-96" fmla="*/ 0 h 3276927"/>
              <a:gd name="connsiteX0-97" fmla="*/ 0 w 1581391"/>
              <a:gd name="connsiteY0-98" fmla="*/ 2973211 h 2973211"/>
              <a:gd name="connsiteX1-99" fmla="*/ 1581391 w 1581391"/>
              <a:gd name="connsiteY1-100" fmla="*/ 1779261 h 2973211"/>
              <a:gd name="connsiteX2-101" fmla="*/ 1241736 w 1581391"/>
              <a:gd name="connsiteY2-102" fmla="*/ 1076625 h 2973211"/>
              <a:gd name="connsiteX3-103" fmla="*/ 1234193 w 1581391"/>
              <a:gd name="connsiteY3-104" fmla="*/ 0 h 2973211"/>
              <a:gd name="connsiteX0-105" fmla="*/ 0 w 1581391"/>
              <a:gd name="connsiteY0-106" fmla="*/ 3008710 h 3008710"/>
              <a:gd name="connsiteX1-107" fmla="*/ 1581391 w 1581391"/>
              <a:gd name="connsiteY1-108" fmla="*/ 1814760 h 3008710"/>
              <a:gd name="connsiteX2-109" fmla="*/ 1241736 w 1581391"/>
              <a:gd name="connsiteY2-110" fmla="*/ 1112124 h 3008710"/>
              <a:gd name="connsiteX3-111" fmla="*/ 1239193 w 1581391"/>
              <a:gd name="connsiteY3-112" fmla="*/ 0 h 3008710"/>
              <a:gd name="connsiteX0-113" fmla="*/ 0 w 1581391"/>
              <a:gd name="connsiteY0-114" fmla="*/ 3008710 h 3008710"/>
              <a:gd name="connsiteX1-115" fmla="*/ 1581391 w 1581391"/>
              <a:gd name="connsiteY1-116" fmla="*/ 1814760 h 3008710"/>
              <a:gd name="connsiteX2-117" fmla="*/ 1320792 w 1581391"/>
              <a:gd name="connsiteY2-118" fmla="*/ 1270181 h 3008710"/>
              <a:gd name="connsiteX3-119" fmla="*/ 1241736 w 1581391"/>
              <a:gd name="connsiteY3-120" fmla="*/ 1112124 h 3008710"/>
              <a:gd name="connsiteX4" fmla="*/ 1239193 w 1581391"/>
              <a:gd name="connsiteY4" fmla="*/ 0 h 3008710"/>
              <a:gd name="connsiteX0-121" fmla="*/ 0 w 1581391"/>
              <a:gd name="connsiteY0-122" fmla="*/ 3008710 h 3008710"/>
              <a:gd name="connsiteX1-123" fmla="*/ 1581391 w 1581391"/>
              <a:gd name="connsiteY1-124" fmla="*/ 1814760 h 3008710"/>
              <a:gd name="connsiteX2-125" fmla="*/ 1565798 w 1581391"/>
              <a:gd name="connsiteY2-126" fmla="*/ 1270181 h 3008710"/>
              <a:gd name="connsiteX3-127" fmla="*/ 1241736 w 1581391"/>
              <a:gd name="connsiteY3-128" fmla="*/ 1112124 h 3008710"/>
              <a:gd name="connsiteX4-129" fmla="*/ 1239193 w 1581391"/>
              <a:gd name="connsiteY4-130" fmla="*/ 0 h 3008710"/>
              <a:gd name="connsiteX0-131" fmla="*/ 0 w 1581391"/>
              <a:gd name="connsiteY0-132" fmla="*/ 3008710 h 3008710"/>
              <a:gd name="connsiteX1-133" fmla="*/ 1581391 w 1581391"/>
              <a:gd name="connsiteY1-134" fmla="*/ 1747705 h 3008710"/>
              <a:gd name="connsiteX2-135" fmla="*/ 1565798 w 1581391"/>
              <a:gd name="connsiteY2-136" fmla="*/ 1270181 h 3008710"/>
              <a:gd name="connsiteX3-137" fmla="*/ 1241736 w 1581391"/>
              <a:gd name="connsiteY3-138" fmla="*/ 1112124 h 3008710"/>
              <a:gd name="connsiteX4-139" fmla="*/ 1239193 w 1581391"/>
              <a:gd name="connsiteY4-140" fmla="*/ 0 h 3008710"/>
              <a:gd name="connsiteX0-141" fmla="*/ 0 w 1566390"/>
              <a:gd name="connsiteY0-142" fmla="*/ 3008710 h 3008710"/>
              <a:gd name="connsiteX1-143" fmla="*/ 1566390 w 1566390"/>
              <a:gd name="connsiteY1-144" fmla="*/ 1747705 h 3008710"/>
              <a:gd name="connsiteX2-145" fmla="*/ 1565798 w 1566390"/>
              <a:gd name="connsiteY2-146" fmla="*/ 1270181 h 3008710"/>
              <a:gd name="connsiteX3-147" fmla="*/ 1241736 w 1566390"/>
              <a:gd name="connsiteY3-148" fmla="*/ 1112124 h 3008710"/>
              <a:gd name="connsiteX4-149" fmla="*/ 1239193 w 1566390"/>
              <a:gd name="connsiteY4-150" fmla="*/ 0 h 3008710"/>
              <a:gd name="connsiteX0-151" fmla="*/ 0 w 1766395"/>
              <a:gd name="connsiteY0-152" fmla="*/ 2988988 h 2988988"/>
              <a:gd name="connsiteX1-153" fmla="*/ 1766395 w 1766395"/>
              <a:gd name="connsiteY1-154" fmla="*/ 1747705 h 2988988"/>
              <a:gd name="connsiteX2-155" fmla="*/ 1765803 w 1766395"/>
              <a:gd name="connsiteY2-156" fmla="*/ 1270181 h 2988988"/>
              <a:gd name="connsiteX3-157" fmla="*/ 1441741 w 1766395"/>
              <a:gd name="connsiteY3-158" fmla="*/ 1112124 h 2988988"/>
              <a:gd name="connsiteX4-159" fmla="*/ 1439198 w 1766395"/>
              <a:gd name="connsiteY4-160" fmla="*/ 0 h 2988988"/>
              <a:gd name="connsiteX0-161" fmla="*/ 0 w 1766395"/>
              <a:gd name="connsiteY0-162" fmla="*/ 2988988 h 2988988"/>
              <a:gd name="connsiteX1-163" fmla="*/ 1766395 w 1766395"/>
              <a:gd name="connsiteY1-164" fmla="*/ 1747705 h 2988988"/>
              <a:gd name="connsiteX2-165" fmla="*/ 579217 w 1766395"/>
              <a:gd name="connsiteY2-166" fmla="*/ 1319458 h 2988988"/>
              <a:gd name="connsiteX3-167" fmla="*/ 1441741 w 1766395"/>
              <a:gd name="connsiteY3-168" fmla="*/ 1112124 h 2988988"/>
              <a:gd name="connsiteX4-169" fmla="*/ 1439198 w 1766395"/>
              <a:gd name="connsiteY4-170" fmla="*/ 0 h 2988988"/>
              <a:gd name="connsiteX0-171" fmla="*/ 0 w 1442252"/>
              <a:gd name="connsiteY0-172" fmla="*/ 2988988 h 2988988"/>
              <a:gd name="connsiteX1-173" fmla="*/ 621443 w 1442252"/>
              <a:gd name="connsiteY1-174" fmla="*/ 1829833 h 2988988"/>
              <a:gd name="connsiteX2-175" fmla="*/ 579217 w 1442252"/>
              <a:gd name="connsiteY2-176" fmla="*/ 1319458 h 2988988"/>
              <a:gd name="connsiteX3-177" fmla="*/ 1441741 w 1442252"/>
              <a:gd name="connsiteY3-178" fmla="*/ 1112124 h 2988988"/>
              <a:gd name="connsiteX4-179" fmla="*/ 1439198 w 1442252"/>
              <a:gd name="connsiteY4-180" fmla="*/ 0 h 2988988"/>
              <a:gd name="connsiteX0-181" fmla="*/ 0 w 1442252"/>
              <a:gd name="connsiteY0-182" fmla="*/ 2988988 h 2988988"/>
              <a:gd name="connsiteX1-183" fmla="*/ 621443 w 1442252"/>
              <a:gd name="connsiteY1-184" fmla="*/ 1829833 h 2988988"/>
              <a:gd name="connsiteX2-185" fmla="*/ 579217 w 1442252"/>
              <a:gd name="connsiteY2-186" fmla="*/ 1319458 h 2988988"/>
              <a:gd name="connsiteX3-187" fmla="*/ 1441741 w 1442252"/>
              <a:gd name="connsiteY3-188" fmla="*/ 1112124 h 2988988"/>
              <a:gd name="connsiteX4-189" fmla="*/ 1439198 w 1442252"/>
              <a:gd name="connsiteY4-190" fmla="*/ 0 h 2988988"/>
              <a:gd name="connsiteX0-191" fmla="*/ 0 w 1442252"/>
              <a:gd name="connsiteY0-192" fmla="*/ 2988988 h 2988988"/>
              <a:gd name="connsiteX1-193" fmla="*/ 608074 w 1442252"/>
              <a:gd name="connsiteY1-194" fmla="*/ 1780618 h 2988988"/>
              <a:gd name="connsiteX2-195" fmla="*/ 579217 w 1442252"/>
              <a:gd name="connsiteY2-196" fmla="*/ 1319458 h 2988988"/>
              <a:gd name="connsiteX3-197" fmla="*/ 1441741 w 1442252"/>
              <a:gd name="connsiteY3-198" fmla="*/ 1112124 h 2988988"/>
              <a:gd name="connsiteX4-199" fmla="*/ 1439198 w 1442252"/>
              <a:gd name="connsiteY4-200" fmla="*/ 0 h 2988988"/>
              <a:gd name="connsiteX0-201" fmla="*/ 0 w 1442252"/>
              <a:gd name="connsiteY0-202" fmla="*/ 2988988 h 2988988"/>
              <a:gd name="connsiteX1-203" fmla="*/ 608074 w 1442252"/>
              <a:gd name="connsiteY1-204" fmla="*/ 1780618 h 2988988"/>
              <a:gd name="connsiteX2-205" fmla="*/ 579217 w 1442252"/>
              <a:gd name="connsiteY2-206" fmla="*/ 1319458 h 2988988"/>
              <a:gd name="connsiteX3-207" fmla="*/ 1441741 w 1442252"/>
              <a:gd name="connsiteY3-208" fmla="*/ 1112124 h 2988988"/>
              <a:gd name="connsiteX4-209" fmla="*/ 1439198 w 1442252"/>
              <a:gd name="connsiteY4-210" fmla="*/ 0 h 2988988"/>
              <a:gd name="connsiteX0-211" fmla="*/ 0 w 1442252"/>
              <a:gd name="connsiteY0-212" fmla="*/ 2988988 h 2988988"/>
              <a:gd name="connsiteX1-213" fmla="*/ 585794 w 1442252"/>
              <a:gd name="connsiteY1-214" fmla="*/ 1780618 h 2988988"/>
              <a:gd name="connsiteX2-215" fmla="*/ 579217 w 1442252"/>
              <a:gd name="connsiteY2-216" fmla="*/ 1319458 h 2988988"/>
              <a:gd name="connsiteX3-217" fmla="*/ 1441741 w 1442252"/>
              <a:gd name="connsiteY3-218" fmla="*/ 1112124 h 2988988"/>
              <a:gd name="connsiteX4-219" fmla="*/ 1439198 w 1442252"/>
              <a:gd name="connsiteY4-220" fmla="*/ 0 h 2988988"/>
              <a:gd name="connsiteX0-221" fmla="*/ 0 w 1442252"/>
              <a:gd name="connsiteY0-222" fmla="*/ 2988988 h 2988988"/>
              <a:gd name="connsiteX1-223" fmla="*/ 585794 w 1442252"/>
              <a:gd name="connsiteY1-224" fmla="*/ 1714700 h 2988988"/>
              <a:gd name="connsiteX2-225" fmla="*/ 579217 w 1442252"/>
              <a:gd name="connsiteY2-226" fmla="*/ 1319458 h 2988988"/>
              <a:gd name="connsiteX3-227" fmla="*/ 1441741 w 1442252"/>
              <a:gd name="connsiteY3-228" fmla="*/ 1112124 h 2988988"/>
              <a:gd name="connsiteX4-229" fmla="*/ 1439198 w 1442252"/>
              <a:gd name="connsiteY4-230" fmla="*/ 0 h 2988988"/>
              <a:gd name="connsiteX0-231" fmla="*/ 0 w 2035489"/>
              <a:gd name="connsiteY0-232" fmla="*/ 2876928 h 2876928"/>
              <a:gd name="connsiteX1-233" fmla="*/ 1179031 w 2035489"/>
              <a:gd name="connsiteY1-234" fmla="*/ 1714700 h 2876928"/>
              <a:gd name="connsiteX2-235" fmla="*/ 1172454 w 2035489"/>
              <a:gd name="connsiteY2-236" fmla="*/ 1319458 h 2876928"/>
              <a:gd name="connsiteX3-237" fmla="*/ 2034978 w 2035489"/>
              <a:gd name="connsiteY3-238" fmla="*/ 1112124 h 2876928"/>
              <a:gd name="connsiteX4-239" fmla="*/ 2032435 w 2035489"/>
              <a:gd name="connsiteY4-240" fmla="*/ 0 h 2876928"/>
              <a:gd name="connsiteX0-241" fmla="*/ 0 w 2095517"/>
              <a:gd name="connsiteY0-242" fmla="*/ 2876928 h 2876928"/>
              <a:gd name="connsiteX1-243" fmla="*/ 1179031 w 2095517"/>
              <a:gd name="connsiteY1-244" fmla="*/ 1714700 h 2876928"/>
              <a:gd name="connsiteX2-245" fmla="*/ 1172454 w 2095517"/>
              <a:gd name="connsiteY2-246" fmla="*/ 1319458 h 2876928"/>
              <a:gd name="connsiteX3-247" fmla="*/ 2095451 w 2095517"/>
              <a:gd name="connsiteY3-248" fmla="*/ 1525541 h 2876928"/>
              <a:gd name="connsiteX4-249" fmla="*/ 2032435 w 2095517"/>
              <a:gd name="connsiteY4-250" fmla="*/ 0 h 2876928"/>
              <a:gd name="connsiteX0-251" fmla="*/ 0 w 2095517"/>
              <a:gd name="connsiteY0-252" fmla="*/ 2876928 h 2876928"/>
              <a:gd name="connsiteX1-253" fmla="*/ 1179031 w 2095517"/>
              <a:gd name="connsiteY1-254" fmla="*/ 1714700 h 2876928"/>
              <a:gd name="connsiteX2-255" fmla="*/ 1757025 w 2095517"/>
              <a:gd name="connsiteY2-256" fmla="*/ 2019085 h 2876928"/>
              <a:gd name="connsiteX3-257" fmla="*/ 2095451 w 2095517"/>
              <a:gd name="connsiteY3-258" fmla="*/ 1525541 h 2876928"/>
              <a:gd name="connsiteX4-259" fmla="*/ 2032435 w 2095517"/>
              <a:gd name="connsiteY4-260" fmla="*/ 0 h 2876928"/>
              <a:gd name="connsiteX0-261" fmla="*/ 0 w 2095517"/>
              <a:gd name="connsiteY0-262" fmla="*/ 2876928 h 2876928"/>
              <a:gd name="connsiteX1-263" fmla="*/ 1058086 w 2095517"/>
              <a:gd name="connsiteY1-264" fmla="*/ 2128116 h 2876928"/>
              <a:gd name="connsiteX2-265" fmla="*/ 1757025 w 2095517"/>
              <a:gd name="connsiteY2-266" fmla="*/ 2019085 h 2876928"/>
              <a:gd name="connsiteX3-267" fmla="*/ 2095451 w 2095517"/>
              <a:gd name="connsiteY3-268" fmla="*/ 1525541 h 2876928"/>
              <a:gd name="connsiteX4-269" fmla="*/ 2032435 w 2095517"/>
              <a:gd name="connsiteY4-270" fmla="*/ 0 h 2876928"/>
              <a:gd name="connsiteX0-271" fmla="*/ 0 w 1732679"/>
              <a:gd name="connsiteY0-272" fmla="*/ 3528853 h 3528853"/>
              <a:gd name="connsiteX1-273" fmla="*/ 695248 w 1732679"/>
              <a:gd name="connsiteY1-274" fmla="*/ 2128116 h 3528853"/>
              <a:gd name="connsiteX2-275" fmla="*/ 1394187 w 1732679"/>
              <a:gd name="connsiteY2-276" fmla="*/ 2019085 h 3528853"/>
              <a:gd name="connsiteX3-277" fmla="*/ 1732613 w 1732679"/>
              <a:gd name="connsiteY3-278" fmla="*/ 1525541 h 3528853"/>
              <a:gd name="connsiteX4-279" fmla="*/ 1669597 w 1732679"/>
              <a:gd name="connsiteY4-280" fmla="*/ 0 h 3528853"/>
              <a:gd name="connsiteX0-281" fmla="*/ 0 w 1732679"/>
              <a:gd name="connsiteY0-282" fmla="*/ 3528853 h 3528853"/>
              <a:gd name="connsiteX1-283" fmla="*/ 695248 w 1732679"/>
              <a:gd name="connsiteY1-284" fmla="*/ 2128116 h 3528853"/>
              <a:gd name="connsiteX2-285" fmla="*/ 1394187 w 1732679"/>
              <a:gd name="connsiteY2-286" fmla="*/ 2019085 h 3528853"/>
              <a:gd name="connsiteX3-287" fmla="*/ 1732613 w 1732679"/>
              <a:gd name="connsiteY3-288" fmla="*/ 1525541 h 3528853"/>
              <a:gd name="connsiteX4-289" fmla="*/ 1669597 w 1732679"/>
              <a:gd name="connsiteY4-290" fmla="*/ 0 h 3528853"/>
              <a:gd name="connsiteX0-291" fmla="*/ 0 w 1732679"/>
              <a:gd name="connsiteY0-292" fmla="*/ 3528853 h 3528853"/>
              <a:gd name="connsiteX1-293" fmla="*/ 695248 w 1732679"/>
              <a:gd name="connsiteY1-294" fmla="*/ 2128116 h 3528853"/>
              <a:gd name="connsiteX2-295" fmla="*/ 1394187 w 1732679"/>
              <a:gd name="connsiteY2-296" fmla="*/ 2019085 h 3528853"/>
              <a:gd name="connsiteX3-297" fmla="*/ 1732613 w 1732679"/>
              <a:gd name="connsiteY3-298" fmla="*/ 1525541 h 3528853"/>
              <a:gd name="connsiteX4-299" fmla="*/ 1669597 w 1732679"/>
              <a:gd name="connsiteY4-300" fmla="*/ 0 h 3528853"/>
              <a:gd name="connsiteX0-301" fmla="*/ 0 w 1732679"/>
              <a:gd name="connsiteY0-302" fmla="*/ 3528853 h 3528853"/>
              <a:gd name="connsiteX1-303" fmla="*/ 695248 w 1732679"/>
              <a:gd name="connsiteY1-304" fmla="*/ 2128116 h 3528853"/>
              <a:gd name="connsiteX2-305" fmla="*/ 1394187 w 1732679"/>
              <a:gd name="connsiteY2-306" fmla="*/ 2064629 h 3528853"/>
              <a:gd name="connsiteX3-307" fmla="*/ 1732613 w 1732679"/>
              <a:gd name="connsiteY3-308" fmla="*/ 1525541 h 3528853"/>
              <a:gd name="connsiteX4-309" fmla="*/ 1669597 w 1732679"/>
              <a:gd name="connsiteY4-310" fmla="*/ 0 h 3528853"/>
              <a:gd name="connsiteX0-311" fmla="*/ 0 w 1732679"/>
              <a:gd name="connsiteY0-312" fmla="*/ 3528853 h 3528853"/>
              <a:gd name="connsiteX1-313" fmla="*/ 695248 w 1732679"/>
              <a:gd name="connsiteY1-314" fmla="*/ 2128116 h 3528853"/>
              <a:gd name="connsiteX2-315" fmla="*/ 1394187 w 1732679"/>
              <a:gd name="connsiteY2-316" fmla="*/ 2064629 h 3528853"/>
              <a:gd name="connsiteX3-317" fmla="*/ 1732613 w 1732679"/>
              <a:gd name="connsiteY3-318" fmla="*/ 1525541 h 3528853"/>
              <a:gd name="connsiteX4-319" fmla="*/ 1669597 w 1732679"/>
              <a:gd name="connsiteY4-320" fmla="*/ 0 h 3528853"/>
              <a:gd name="connsiteX0-321" fmla="*/ 0 w 1732679"/>
              <a:gd name="connsiteY0-322" fmla="*/ 3528853 h 3528853"/>
              <a:gd name="connsiteX1-323" fmla="*/ 703415 w 1732679"/>
              <a:gd name="connsiteY1-324" fmla="*/ 2070128 h 3528853"/>
              <a:gd name="connsiteX2-325" fmla="*/ 1394187 w 1732679"/>
              <a:gd name="connsiteY2-326" fmla="*/ 2064629 h 3528853"/>
              <a:gd name="connsiteX3-327" fmla="*/ 1732613 w 1732679"/>
              <a:gd name="connsiteY3-328" fmla="*/ 1525541 h 3528853"/>
              <a:gd name="connsiteX4-329" fmla="*/ 1669597 w 1732679"/>
              <a:gd name="connsiteY4-330" fmla="*/ 0 h 3528853"/>
              <a:gd name="connsiteX0-331" fmla="*/ 0 w 1732679"/>
              <a:gd name="connsiteY0-332" fmla="*/ 3528853 h 3528853"/>
              <a:gd name="connsiteX1-333" fmla="*/ 703415 w 1732679"/>
              <a:gd name="connsiteY1-334" fmla="*/ 2070128 h 3528853"/>
              <a:gd name="connsiteX2-335" fmla="*/ 1394187 w 1732679"/>
              <a:gd name="connsiteY2-336" fmla="*/ 2064629 h 3528853"/>
              <a:gd name="connsiteX3-337" fmla="*/ 1732613 w 1732679"/>
              <a:gd name="connsiteY3-338" fmla="*/ 1525541 h 3528853"/>
              <a:gd name="connsiteX4-339" fmla="*/ 1669597 w 1732679"/>
              <a:gd name="connsiteY4-340" fmla="*/ 0 h 3528853"/>
              <a:gd name="connsiteX0-341" fmla="*/ 0 w 1732679"/>
              <a:gd name="connsiteY0-342" fmla="*/ 3528853 h 3528853"/>
              <a:gd name="connsiteX1-343" fmla="*/ 703415 w 1732679"/>
              <a:gd name="connsiteY1-344" fmla="*/ 2070128 h 3528853"/>
              <a:gd name="connsiteX2-345" fmla="*/ 1394187 w 1732679"/>
              <a:gd name="connsiteY2-346" fmla="*/ 2064629 h 3528853"/>
              <a:gd name="connsiteX3-347" fmla="*/ 1732613 w 1732679"/>
              <a:gd name="connsiteY3-348" fmla="*/ 1525541 h 3528853"/>
              <a:gd name="connsiteX4-349" fmla="*/ 1669597 w 1732679"/>
              <a:gd name="connsiteY4-350" fmla="*/ 0 h 3528853"/>
              <a:gd name="connsiteX0-351" fmla="*/ 19366 w 1029264"/>
              <a:gd name="connsiteY0-352" fmla="*/ 2961861 h 2961861"/>
              <a:gd name="connsiteX1-353" fmla="*/ 0 w 1029264"/>
              <a:gd name="connsiteY1-354" fmla="*/ 2070128 h 2961861"/>
              <a:gd name="connsiteX2-355" fmla="*/ 690772 w 1029264"/>
              <a:gd name="connsiteY2-356" fmla="*/ 2064629 h 2961861"/>
              <a:gd name="connsiteX3-357" fmla="*/ 1029198 w 1029264"/>
              <a:gd name="connsiteY3-358" fmla="*/ 1525541 h 2961861"/>
              <a:gd name="connsiteX4-359" fmla="*/ 966182 w 1029264"/>
              <a:gd name="connsiteY4-360" fmla="*/ 0 h 2961861"/>
              <a:gd name="connsiteX0-361" fmla="*/ 19366 w 1029276"/>
              <a:gd name="connsiteY0-362" fmla="*/ 2611201 h 2611201"/>
              <a:gd name="connsiteX1-363" fmla="*/ 0 w 1029276"/>
              <a:gd name="connsiteY1-364" fmla="*/ 1719468 h 2611201"/>
              <a:gd name="connsiteX2-365" fmla="*/ 690772 w 1029276"/>
              <a:gd name="connsiteY2-366" fmla="*/ 1713969 h 2611201"/>
              <a:gd name="connsiteX3-367" fmla="*/ 1029198 w 1029276"/>
              <a:gd name="connsiteY3-368" fmla="*/ 1174881 h 2611201"/>
              <a:gd name="connsiteX4-369" fmla="*/ 976765 w 1029276"/>
              <a:gd name="connsiteY4-370" fmla="*/ 0 h 2611201"/>
              <a:gd name="connsiteX0-371" fmla="*/ 19366 w 1029459"/>
              <a:gd name="connsiteY0-372" fmla="*/ 2611201 h 2611201"/>
              <a:gd name="connsiteX1-373" fmla="*/ 0 w 1029459"/>
              <a:gd name="connsiteY1-374" fmla="*/ 1719468 h 2611201"/>
              <a:gd name="connsiteX2-375" fmla="*/ 690772 w 1029459"/>
              <a:gd name="connsiteY2-376" fmla="*/ 1713969 h 2611201"/>
              <a:gd name="connsiteX3-377" fmla="*/ 1029198 w 1029459"/>
              <a:gd name="connsiteY3-378" fmla="*/ 1174881 h 2611201"/>
              <a:gd name="connsiteX4-379" fmla="*/ 976765 w 1029459"/>
              <a:gd name="connsiteY4-380" fmla="*/ 0 h 2611201"/>
            </a:gdLst>
            <a:ahLst/>
            <a:cxnLst>
              <a:cxn ang="0">
                <a:pos x="connsiteX0-1" y="connsiteY0-2"/>
              </a:cxn>
              <a:cxn ang="0">
                <a:pos x="connsiteX1-3" y="connsiteY1-4"/>
              </a:cxn>
              <a:cxn ang="0">
                <a:pos x="connsiteX2-5" y="connsiteY2-6"/>
              </a:cxn>
              <a:cxn ang="0">
                <a:pos x="connsiteX3-7" y="connsiteY3-8"/>
              </a:cxn>
              <a:cxn ang="0">
                <a:pos x="connsiteX4-129" y="connsiteY4-130"/>
              </a:cxn>
            </a:cxnLst>
            <a:rect l="l" t="t" r="r" b="b"/>
            <a:pathLst>
              <a:path w="1029459" h="2611201">
                <a:moveTo>
                  <a:pt x="19366" y="2611201"/>
                </a:moveTo>
                <a:lnTo>
                  <a:pt x="0" y="1719468"/>
                </a:lnTo>
                <a:lnTo>
                  <a:pt x="690772" y="1713969"/>
                </a:lnTo>
                <a:cubicBezTo>
                  <a:pt x="953779" y="1301650"/>
                  <a:pt x="837892" y="1502072"/>
                  <a:pt x="1029198" y="1174881"/>
                </a:cubicBezTo>
                <a:cubicBezTo>
                  <a:pt x="1031684" y="714767"/>
                  <a:pt x="1016613" y="902614"/>
                  <a:pt x="976765" y="0"/>
                </a:cubicBezTo>
              </a:path>
            </a:pathLst>
          </a:custGeom>
          <a:ln w="12700">
            <a:solidFill>
              <a:schemeClr val="tx1"/>
            </a:solidFill>
            <a:headEnd type="triangle"/>
            <a:tailEnd type="none"/>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cxnSp>
        <p:nvCxnSpPr>
          <p:cNvPr id="239" name="Straight Arrow Connector 238"/>
          <p:cNvCxnSpPr/>
          <p:nvPr/>
        </p:nvCxnSpPr>
        <p:spPr bwMode="auto">
          <a:xfrm>
            <a:off x="2334047" y="4796373"/>
            <a:ext cx="165857" cy="444033"/>
          </a:xfrm>
          <a:prstGeom prst="straightConnector1">
            <a:avLst/>
          </a:prstGeom>
          <a:solidFill>
            <a:schemeClr val="accent1"/>
          </a:solidFill>
          <a:ln w="9525" cap="flat" cmpd="sng" algn="ctr">
            <a:solidFill>
              <a:schemeClr val="tx1"/>
            </a:solidFill>
            <a:prstDash val="solid"/>
            <a:round/>
            <a:headEnd type="none"/>
            <a:tailEnd type="triangle"/>
          </a:ln>
          <a:effectLst/>
        </p:spPr>
      </p:cxnSp>
      <p:cxnSp>
        <p:nvCxnSpPr>
          <p:cNvPr id="243" name="Straight Arrow Connector 242"/>
          <p:cNvCxnSpPr/>
          <p:nvPr/>
        </p:nvCxnSpPr>
        <p:spPr bwMode="auto">
          <a:xfrm flipH="1">
            <a:off x="1630957" y="4825035"/>
            <a:ext cx="697629" cy="762950"/>
          </a:xfrm>
          <a:prstGeom prst="straightConnector1">
            <a:avLst/>
          </a:prstGeom>
          <a:solidFill>
            <a:schemeClr val="accent1"/>
          </a:solidFill>
          <a:ln w="9525" cap="flat" cmpd="sng" algn="ctr">
            <a:solidFill>
              <a:schemeClr val="tx1"/>
            </a:solidFill>
            <a:prstDash val="solid"/>
            <a:round/>
            <a:headEnd type="none"/>
            <a:tailEnd type="triangle"/>
          </a:ln>
          <a:effectLst/>
        </p:spPr>
      </p:cxnSp>
      <p:grpSp>
        <p:nvGrpSpPr>
          <p:cNvPr id="246" name="Group 245"/>
          <p:cNvGrpSpPr/>
          <p:nvPr/>
        </p:nvGrpSpPr>
        <p:grpSpPr>
          <a:xfrm rot="21446362">
            <a:off x="2189794" y="4667337"/>
            <a:ext cx="313044" cy="369332"/>
            <a:chOff x="418816" y="1964112"/>
            <a:chExt cx="313044" cy="369332"/>
          </a:xfrm>
        </p:grpSpPr>
        <p:sp>
          <p:nvSpPr>
            <p:cNvPr id="247" name="Oval 246"/>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248" name="TextBox 247"/>
            <p:cNvSpPr txBox="1"/>
            <p:nvPr/>
          </p:nvSpPr>
          <p:spPr>
            <a:xfrm>
              <a:off x="418816" y="1964112"/>
              <a:ext cx="313044" cy="369332"/>
            </a:xfrm>
            <a:prstGeom prst="rect">
              <a:avLst/>
            </a:prstGeom>
            <a:noFill/>
          </p:spPr>
          <p:txBody>
            <a:bodyPr wrap="none" rtlCol="0">
              <a:spAutoFit/>
            </a:bodyPr>
            <a:lstStyle/>
            <a:p>
              <a:r>
                <a:rPr lang="en-US" dirty="0">
                  <a:latin typeface="Arial" panose="020B0604020202090204"/>
                  <a:cs typeface="Arial" panose="020B0604020202090204"/>
                </a:rPr>
                <a:t>6</a:t>
              </a:r>
            </a:p>
          </p:txBody>
        </p:sp>
      </p:grpSp>
      <p:grpSp>
        <p:nvGrpSpPr>
          <p:cNvPr id="249" name="Group 248"/>
          <p:cNvGrpSpPr/>
          <p:nvPr/>
        </p:nvGrpSpPr>
        <p:grpSpPr>
          <a:xfrm>
            <a:off x="3130061" y="1900424"/>
            <a:ext cx="313044" cy="369332"/>
            <a:chOff x="418816" y="1964112"/>
            <a:chExt cx="313044" cy="369332"/>
          </a:xfrm>
        </p:grpSpPr>
        <p:sp>
          <p:nvSpPr>
            <p:cNvPr id="250" name="Oval 249"/>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251" name="TextBox 250"/>
            <p:cNvSpPr txBox="1"/>
            <p:nvPr/>
          </p:nvSpPr>
          <p:spPr>
            <a:xfrm>
              <a:off x="418816" y="1964112"/>
              <a:ext cx="313044" cy="369332"/>
            </a:xfrm>
            <a:prstGeom prst="rect">
              <a:avLst/>
            </a:prstGeom>
            <a:noFill/>
          </p:spPr>
          <p:txBody>
            <a:bodyPr wrap="none" rtlCol="0">
              <a:spAutoFit/>
            </a:bodyPr>
            <a:lstStyle/>
            <a:p>
              <a:r>
                <a:rPr lang="en-US" dirty="0">
                  <a:latin typeface="Arial" panose="020B0604020202090204"/>
                  <a:cs typeface="Arial" panose="020B0604020202090204"/>
                </a:rPr>
                <a:t>5</a:t>
              </a:r>
            </a:p>
          </p:txBody>
        </p:sp>
      </p:grpSp>
      <p:sp>
        <p:nvSpPr>
          <p:cNvPr id="253" name="Oval 252"/>
          <p:cNvSpPr/>
          <p:nvPr/>
        </p:nvSpPr>
        <p:spPr>
          <a:xfrm rot="5400000">
            <a:off x="1970416" y="419579"/>
            <a:ext cx="631007" cy="2235263"/>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153" name="TextBox 152"/>
          <p:cNvSpPr txBox="1"/>
          <p:nvPr/>
        </p:nvSpPr>
        <p:spPr>
          <a:xfrm>
            <a:off x="1336780" y="1336100"/>
            <a:ext cx="1891162" cy="509541"/>
          </a:xfrm>
          <a:prstGeom prst="rect">
            <a:avLst/>
          </a:prstGeom>
          <a:noFill/>
        </p:spPr>
        <p:txBody>
          <a:bodyPr wrap="none" rtlCol="0">
            <a:spAutoFit/>
          </a:bodyPr>
          <a:lstStyle/>
          <a:p>
            <a:pPr algn="ctr">
              <a:lnSpc>
                <a:spcPts val="1600"/>
              </a:lnSpc>
            </a:pPr>
            <a:r>
              <a:rPr lang="en-US" sz="1600" dirty="0">
                <a:latin typeface="Arial" panose="020B0604020202090204"/>
                <a:cs typeface="Arial" panose="020B0604020202090204"/>
              </a:rPr>
              <a:t>Dijkstra’s link-state </a:t>
            </a:r>
          </a:p>
          <a:p>
            <a:pPr algn="ctr">
              <a:lnSpc>
                <a:spcPts val="1600"/>
              </a:lnSpc>
            </a:pPr>
            <a:r>
              <a:rPr lang="en-US" sz="1600" dirty="0">
                <a:latin typeface="Arial" panose="020B0604020202090204"/>
                <a:cs typeface="Arial" panose="020B0604020202090204"/>
              </a:rPr>
              <a:t>Routing</a:t>
            </a:r>
          </a:p>
        </p:txBody>
      </p:sp>
      <p:grpSp>
        <p:nvGrpSpPr>
          <p:cNvPr id="319" name="Group 318"/>
          <p:cNvGrpSpPr/>
          <p:nvPr/>
        </p:nvGrpSpPr>
        <p:grpSpPr>
          <a:xfrm>
            <a:off x="921872" y="5536490"/>
            <a:ext cx="687402" cy="470408"/>
            <a:chOff x="1736090" y="2893762"/>
            <a:chExt cx="565150" cy="340093"/>
          </a:xfrm>
        </p:grpSpPr>
        <p:grpSp>
          <p:nvGrpSpPr>
            <p:cNvPr id="320" name="Group 327"/>
            <p:cNvGrpSpPr/>
            <p:nvPr/>
          </p:nvGrpSpPr>
          <p:grpSpPr bwMode="auto">
            <a:xfrm>
              <a:off x="1736090" y="2893762"/>
              <a:ext cx="565150" cy="292100"/>
              <a:chOff x="1871277" y="1576300"/>
              <a:chExt cx="1128371" cy="437861"/>
            </a:xfrm>
          </p:grpSpPr>
          <p:sp>
            <p:nvSpPr>
              <p:cNvPr id="324" name="Oval 32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5" name="Rectangle 32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6" name="Oval 32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7" name="Freeform 32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8" name="Freeform 32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9" name="Freeform 32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0" name="Freeform 32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31" name="Straight Connector 330"/>
              <p:cNvCxnSpPr>
                <a:endCxn id="32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2" name="Straight Connector 33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21" name="Group 320"/>
            <p:cNvGrpSpPr/>
            <p:nvPr/>
          </p:nvGrpSpPr>
          <p:grpSpPr>
            <a:xfrm>
              <a:off x="1828502" y="2944584"/>
              <a:ext cx="374530" cy="289271"/>
              <a:chOff x="725185" y="1779875"/>
              <a:chExt cx="374530" cy="289271"/>
            </a:xfrm>
          </p:grpSpPr>
          <p:sp>
            <p:nvSpPr>
              <p:cNvPr id="322" name="Oval 321"/>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3" name="TextBox 322"/>
              <p:cNvSpPr txBox="1"/>
              <p:nvPr/>
            </p:nvSpPr>
            <p:spPr>
              <a:xfrm>
                <a:off x="725185" y="1779875"/>
                <a:ext cx="374530" cy="289271"/>
              </a:xfrm>
              <a:prstGeom prst="rect">
                <a:avLst/>
              </a:prstGeom>
              <a:noFill/>
            </p:spPr>
            <p:txBody>
              <a:bodyPr wrap="none" rtlCol="0">
                <a:spAutoFit/>
              </a:bodyPr>
              <a:lstStyle/>
              <a:p>
                <a:r>
                  <a:rPr lang="en-US" sz="2000" dirty="0"/>
                  <a:t>s1</a:t>
                </a:r>
              </a:p>
            </p:txBody>
          </p:sp>
        </p:grpSp>
      </p:grpSp>
      <p:grpSp>
        <p:nvGrpSpPr>
          <p:cNvPr id="333" name="Group 332"/>
          <p:cNvGrpSpPr/>
          <p:nvPr/>
        </p:nvGrpSpPr>
        <p:grpSpPr>
          <a:xfrm>
            <a:off x="2206593" y="5245170"/>
            <a:ext cx="687402" cy="470406"/>
            <a:chOff x="1736090" y="2893762"/>
            <a:chExt cx="565150" cy="340091"/>
          </a:xfrm>
        </p:grpSpPr>
        <p:grpSp>
          <p:nvGrpSpPr>
            <p:cNvPr id="334" name="Group 327"/>
            <p:cNvGrpSpPr/>
            <p:nvPr/>
          </p:nvGrpSpPr>
          <p:grpSpPr bwMode="auto">
            <a:xfrm>
              <a:off x="1736090" y="2893762"/>
              <a:ext cx="565150" cy="292100"/>
              <a:chOff x="1871277" y="1576300"/>
              <a:chExt cx="1128371" cy="437861"/>
            </a:xfrm>
          </p:grpSpPr>
          <p:sp>
            <p:nvSpPr>
              <p:cNvPr id="338" name="Oval 33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9" name="Rectangle 33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0" name="Oval 33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1" name="Freeform 34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2" name="Freeform 34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3" name="Freeform 34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4" name="Freeform 34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5" name="Straight Connector 344"/>
              <p:cNvCxnSpPr>
                <a:endCxn id="34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46" name="Straight Connector 34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35" name="Group 334"/>
            <p:cNvGrpSpPr/>
            <p:nvPr/>
          </p:nvGrpSpPr>
          <p:grpSpPr>
            <a:xfrm>
              <a:off x="1828502" y="2944584"/>
              <a:ext cx="374531" cy="289269"/>
              <a:chOff x="725185" y="1779875"/>
              <a:chExt cx="374531" cy="289269"/>
            </a:xfrm>
          </p:grpSpPr>
          <p:sp>
            <p:nvSpPr>
              <p:cNvPr id="336" name="Oval 335"/>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37" name="TextBox 336"/>
              <p:cNvSpPr txBox="1"/>
              <p:nvPr/>
            </p:nvSpPr>
            <p:spPr>
              <a:xfrm>
                <a:off x="725185" y="1779875"/>
                <a:ext cx="374531" cy="289269"/>
              </a:xfrm>
              <a:prstGeom prst="rect">
                <a:avLst/>
              </a:prstGeom>
              <a:noFill/>
            </p:spPr>
            <p:txBody>
              <a:bodyPr wrap="none" rtlCol="0">
                <a:spAutoFit/>
              </a:bodyPr>
              <a:lstStyle/>
              <a:p>
                <a:r>
                  <a:rPr lang="en-US" sz="2000" dirty="0"/>
                  <a:t>s2</a:t>
                </a:r>
              </a:p>
            </p:txBody>
          </p:sp>
        </p:grpSp>
      </p:grpSp>
      <p:grpSp>
        <p:nvGrpSpPr>
          <p:cNvPr id="347" name="Group 346"/>
          <p:cNvGrpSpPr/>
          <p:nvPr/>
        </p:nvGrpSpPr>
        <p:grpSpPr>
          <a:xfrm>
            <a:off x="1910145" y="5999406"/>
            <a:ext cx="687402" cy="470406"/>
            <a:chOff x="1736090" y="2893762"/>
            <a:chExt cx="565150" cy="340091"/>
          </a:xfrm>
        </p:grpSpPr>
        <p:grpSp>
          <p:nvGrpSpPr>
            <p:cNvPr id="348" name="Group 327"/>
            <p:cNvGrpSpPr/>
            <p:nvPr/>
          </p:nvGrpSpPr>
          <p:grpSpPr bwMode="auto">
            <a:xfrm>
              <a:off x="1736090" y="2893762"/>
              <a:ext cx="565150" cy="292100"/>
              <a:chOff x="1871277" y="1576300"/>
              <a:chExt cx="1128371" cy="437861"/>
            </a:xfrm>
          </p:grpSpPr>
          <p:sp>
            <p:nvSpPr>
              <p:cNvPr id="352" name="Oval 3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3" name="Rectangle 3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4" name="Oval 3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5" name="Freeform 3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6" name="Freeform 3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7" name="Freeform 3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8" name="Freeform 3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9" name="Straight Connector 358"/>
              <p:cNvCxnSpPr>
                <a:endCxn id="3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49" name="Group 348"/>
            <p:cNvGrpSpPr/>
            <p:nvPr/>
          </p:nvGrpSpPr>
          <p:grpSpPr>
            <a:xfrm>
              <a:off x="1828502" y="2944584"/>
              <a:ext cx="374531" cy="289269"/>
              <a:chOff x="725185" y="1779875"/>
              <a:chExt cx="374531" cy="289269"/>
            </a:xfrm>
          </p:grpSpPr>
          <p:sp>
            <p:nvSpPr>
              <p:cNvPr id="350" name="Oval 349"/>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51" name="TextBox 350"/>
              <p:cNvSpPr txBox="1"/>
              <p:nvPr/>
            </p:nvSpPr>
            <p:spPr>
              <a:xfrm>
                <a:off x="725185" y="1779875"/>
                <a:ext cx="374531" cy="289269"/>
              </a:xfrm>
              <a:prstGeom prst="rect">
                <a:avLst/>
              </a:prstGeom>
              <a:noFill/>
            </p:spPr>
            <p:txBody>
              <a:bodyPr wrap="none" rtlCol="0">
                <a:spAutoFit/>
              </a:bodyPr>
              <a:lstStyle/>
              <a:p>
                <a:r>
                  <a:rPr lang="en-US" sz="2000" dirty="0"/>
                  <a:t>s3</a:t>
                </a:r>
              </a:p>
            </p:txBody>
          </p:sp>
        </p:grpSp>
      </p:grpSp>
      <p:grpSp>
        <p:nvGrpSpPr>
          <p:cNvPr id="361" name="Group 360"/>
          <p:cNvGrpSpPr/>
          <p:nvPr/>
        </p:nvGrpSpPr>
        <p:grpSpPr>
          <a:xfrm>
            <a:off x="3077553" y="5718280"/>
            <a:ext cx="687402" cy="470406"/>
            <a:chOff x="1736090" y="2893762"/>
            <a:chExt cx="565150" cy="340091"/>
          </a:xfrm>
        </p:grpSpPr>
        <p:grpSp>
          <p:nvGrpSpPr>
            <p:cNvPr id="362" name="Group 327"/>
            <p:cNvGrpSpPr/>
            <p:nvPr/>
          </p:nvGrpSpPr>
          <p:grpSpPr bwMode="auto">
            <a:xfrm>
              <a:off x="1736090" y="2893762"/>
              <a:ext cx="565150" cy="292100"/>
              <a:chOff x="1871277" y="1576300"/>
              <a:chExt cx="1128371" cy="437861"/>
            </a:xfrm>
          </p:grpSpPr>
          <p:sp>
            <p:nvSpPr>
              <p:cNvPr id="366" name="Oval 36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7" name="Rectangle 36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8" name="Oval 36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9" name="Freeform 36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0" name="Freeform 36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1" name="Freeform 37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2" name="Freeform 37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3" name="Straight Connector 372"/>
              <p:cNvCxnSpPr>
                <a:endCxn id="36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4" name="Straight Connector 37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63" name="Group 362"/>
            <p:cNvGrpSpPr/>
            <p:nvPr/>
          </p:nvGrpSpPr>
          <p:grpSpPr>
            <a:xfrm>
              <a:off x="1828502" y="2944584"/>
              <a:ext cx="374531" cy="289269"/>
              <a:chOff x="725185" y="1779875"/>
              <a:chExt cx="374531" cy="289269"/>
            </a:xfrm>
          </p:grpSpPr>
          <p:sp>
            <p:nvSpPr>
              <p:cNvPr id="364" name="Oval 363"/>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65" name="TextBox 364"/>
              <p:cNvSpPr txBox="1"/>
              <p:nvPr/>
            </p:nvSpPr>
            <p:spPr>
              <a:xfrm>
                <a:off x="725185" y="1779875"/>
                <a:ext cx="374531" cy="289269"/>
              </a:xfrm>
              <a:prstGeom prst="rect">
                <a:avLst/>
              </a:prstGeom>
              <a:noFill/>
            </p:spPr>
            <p:txBody>
              <a:bodyPr wrap="none" rtlCol="0">
                <a:spAutoFit/>
              </a:bodyPr>
              <a:lstStyle/>
              <a:p>
                <a:r>
                  <a:rPr lang="en-US" sz="2000" dirty="0"/>
                  <a:t>s4</a:t>
                </a:r>
              </a:p>
            </p:txBody>
          </p:sp>
        </p:grpSp>
      </p:grpSp>
      <p:cxnSp>
        <p:nvCxnSpPr>
          <p:cNvPr id="240" name="Straight Arrow Connector 239"/>
          <p:cNvCxnSpPr/>
          <p:nvPr/>
        </p:nvCxnSpPr>
        <p:spPr bwMode="auto">
          <a:xfrm>
            <a:off x="2475946" y="4898482"/>
            <a:ext cx="906274" cy="769733"/>
          </a:xfrm>
          <a:prstGeom prst="straightConnector1">
            <a:avLst/>
          </a:prstGeom>
          <a:solidFill>
            <a:schemeClr val="accent1"/>
          </a:solidFill>
          <a:ln w="9525" cap="flat" cmpd="sng" algn="ctr">
            <a:solidFill>
              <a:schemeClr val="tx1"/>
            </a:solidFill>
            <a:prstDash val="solid"/>
            <a:round/>
            <a:headEnd type="none"/>
            <a:tailEnd type="triangle"/>
          </a:ln>
          <a:effectLst/>
        </p:spPr>
      </p:cxnSp>
      <p:pic>
        <p:nvPicPr>
          <p:cNvPr id="376"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274" y="702064"/>
            <a:ext cx="8154854" cy="193624"/>
          </a:xfrm>
          <a:prstGeom prst="rect">
            <a:avLst/>
          </a:prstGeom>
          <a:noFill/>
          <a:ln>
            <a:noFill/>
          </a:ln>
        </p:spPr>
      </p:pic>
      <p:sp>
        <p:nvSpPr>
          <p:cNvPr id="377" name="Title 1"/>
          <p:cNvSpPr txBox="1"/>
          <p:nvPr/>
        </p:nvSpPr>
        <p:spPr>
          <a:xfrm>
            <a:off x="354145" y="177332"/>
            <a:ext cx="8642801" cy="1143000"/>
          </a:xfrm>
          <a:prstGeom prst="rect">
            <a:avLst/>
          </a:prstGeom>
        </p:spPr>
        <p:txBody>
          <a:bodyPr/>
          <a:lstStyle>
            <a:lvl1pPr algn="l" rtl="0" eaLnBrk="0" fontAlgn="base" hangingPunct="0">
              <a:spcBef>
                <a:spcPct val="0"/>
              </a:spcBef>
              <a:spcAft>
                <a:spcPct val="0"/>
              </a:spcAft>
              <a:defRPr sz="4400">
                <a:solidFill>
                  <a:srgbClr val="000099"/>
                </a:solidFill>
                <a:latin typeface="+mj-lt"/>
                <a:ea typeface="MS PGothic" charset="0"/>
                <a:cs typeface="MS PGothic" charset="0"/>
              </a:defRPr>
            </a:lvl1pPr>
            <a:lvl2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2pPr>
            <a:lvl3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3pPr>
            <a:lvl4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4pPr>
            <a:lvl5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5pPr>
            <a:lvl6pPr marL="457200" algn="l" rtl="0" eaLnBrk="0" fontAlgn="base" hangingPunct="0">
              <a:spcBef>
                <a:spcPct val="0"/>
              </a:spcBef>
              <a:spcAft>
                <a:spcPct val="0"/>
              </a:spcAft>
              <a:defRPr sz="4400">
                <a:solidFill>
                  <a:srgbClr val="000099"/>
                </a:solidFill>
                <a:latin typeface="Gill Sans MT" pitchFamily="34" charset="0"/>
              </a:defRPr>
            </a:lvl6pPr>
            <a:lvl7pPr marL="914400" algn="l" rtl="0" eaLnBrk="0" fontAlgn="base" hangingPunct="0">
              <a:spcBef>
                <a:spcPct val="0"/>
              </a:spcBef>
              <a:spcAft>
                <a:spcPct val="0"/>
              </a:spcAft>
              <a:defRPr sz="4400">
                <a:solidFill>
                  <a:srgbClr val="000099"/>
                </a:solidFill>
                <a:latin typeface="Gill Sans MT" pitchFamily="34" charset="0"/>
              </a:defRPr>
            </a:lvl7pPr>
            <a:lvl8pPr marL="1371600" algn="l" rtl="0" eaLnBrk="0" fontAlgn="base" hangingPunct="0">
              <a:spcBef>
                <a:spcPct val="0"/>
              </a:spcBef>
              <a:spcAft>
                <a:spcPct val="0"/>
              </a:spcAft>
              <a:defRPr sz="4400">
                <a:solidFill>
                  <a:srgbClr val="000099"/>
                </a:solidFill>
                <a:latin typeface="Gill Sans MT" pitchFamily="34" charset="0"/>
              </a:defRPr>
            </a:lvl8pPr>
            <a:lvl9pPr marL="1828800" algn="l" rtl="0" eaLnBrk="0" fontAlgn="base" hangingPunct="0">
              <a:spcBef>
                <a:spcPct val="0"/>
              </a:spcBef>
              <a:spcAft>
                <a:spcPct val="0"/>
              </a:spcAft>
              <a:defRPr sz="4400">
                <a:solidFill>
                  <a:srgbClr val="000099"/>
                </a:solidFill>
                <a:latin typeface="Gill Sans MT" pitchFamily="34" charset="0"/>
              </a:defRPr>
            </a:lvl9pPr>
          </a:lstStyle>
          <a:p>
            <a:r>
              <a:rPr lang="en-US" sz="3200" dirty="0"/>
              <a:t>SDN: control/data plane interaction example</a:t>
            </a:r>
          </a:p>
        </p:txBody>
      </p:sp>
      <p:grpSp>
        <p:nvGrpSpPr>
          <p:cNvPr id="22" name="Group 21"/>
          <p:cNvGrpSpPr/>
          <p:nvPr/>
        </p:nvGrpSpPr>
        <p:grpSpPr>
          <a:xfrm>
            <a:off x="5313965" y="1104104"/>
            <a:ext cx="3388878" cy="858751"/>
            <a:chOff x="5313965" y="1301119"/>
            <a:chExt cx="3388878" cy="858751"/>
          </a:xfrm>
        </p:grpSpPr>
        <p:sp>
          <p:nvSpPr>
            <p:cNvPr id="9" name="TextBox 8"/>
            <p:cNvSpPr txBox="1"/>
            <p:nvPr/>
          </p:nvSpPr>
          <p:spPr>
            <a:xfrm>
              <a:off x="5654651" y="1315023"/>
              <a:ext cx="3048192" cy="844847"/>
            </a:xfrm>
            <a:prstGeom prst="rect">
              <a:avLst/>
            </a:prstGeom>
            <a:noFill/>
          </p:spPr>
          <p:txBody>
            <a:bodyPr wrap="square" rtlCol="0">
              <a:spAutoFit/>
            </a:bodyPr>
            <a:lstStyle/>
            <a:p>
              <a:pPr>
                <a:lnSpc>
                  <a:spcPct val="90000"/>
                </a:lnSpc>
              </a:pPr>
              <a:r>
                <a:rPr lang="en-US" dirty="0">
                  <a:solidFill>
                    <a:srgbClr val="000000"/>
                  </a:solidFill>
                  <a:latin typeface="+mn-lt"/>
                </a:rPr>
                <a:t>S1, experiencing link failure using OpenFlow port status message to notify controller</a:t>
              </a:r>
            </a:p>
          </p:txBody>
        </p:sp>
        <p:grpSp>
          <p:nvGrpSpPr>
            <p:cNvPr id="378" name="Group 377"/>
            <p:cNvGrpSpPr/>
            <p:nvPr/>
          </p:nvGrpSpPr>
          <p:grpSpPr>
            <a:xfrm>
              <a:off x="5313965" y="1301119"/>
              <a:ext cx="338263" cy="369332"/>
              <a:chOff x="418816" y="1964112"/>
              <a:chExt cx="313044" cy="369332"/>
            </a:xfrm>
          </p:grpSpPr>
          <p:sp>
            <p:nvSpPr>
              <p:cNvPr id="379" name="Oval 378"/>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381" name="TextBox 380"/>
              <p:cNvSpPr txBox="1"/>
              <p:nvPr/>
            </p:nvSpPr>
            <p:spPr>
              <a:xfrm>
                <a:off x="418816" y="1964112"/>
                <a:ext cx="313044" cy="369332"/>
              </a:xfrm>
              <a:prstGeom prst="rect">
                <a:avLst/>
              </a:prstGeom>
              <a:noFill/>
            </p:spPr>
            <p:txBody>
              <a:bodyPr wrap="none" rtlCol="0">
                <a:spAutoFit/>
              </a:bodyPr>
              <a:lstStyle/>
              <a:p>
                <a:r>
                  <a:rPr lang="en-US" dirty="0">
                    <a:latin typeface="Arial" panose="020B0604020202090204"/>
                    <a:cs typeface="Arial" panose="020B0604020202090204"/>
                  </a:rPr>
                  <a:t>1</a:t>
                </a:r>
              </a:p>
            </p:txBody>
          </p:sp>
        </p:grpSp>
      </p:grpSp>
      <p:grpSp>
        <p:nvGrpSpPr>
          <p:cNvPr id="382" name="Group 381"/>
          <p:cNvGrpSpPr/>
          <p:nvPr/>
        </p:nvGrpSpPr>
        <p:grpSpPr>
          <a:xfrm>
            <a:off x="5359418" y="2259370"/>
            <a:ext cx="3388878" cy="858751"/>
            <a:chOff x="5313965" y="1301119"/>
            <a:chExt cx="3388878" cy="858751"/>
          </a:xfrm>
        </p:grpSpPr>
        <p:sp>
          <p:nvSpPr>
            <p:cNvPr id="383" name="TextBox 382"/>
            <p:cNvSpPr txBox="1"/>
            <p:nvPr/>
          </p:nvSpPr>
          <p:spPr>
            <a:xfrm>
              <a:off x="5654651" y="1315023"/>
              <a:ext cx="3048192" cy="844847"/>
            </a:xfrm>
            <a:prstGeom prst="rect">
              <a:avLst/>
            </a:prstGeom>
            <a:noFill/>
          </p:spPr>
          <p:txBody>
            <a:bodyPr wrap="square" rtlCol="0">
              <a:spAutoFit/>
            </a:bodyPr>
            <a:lstStyle/>
            <a:p>
              <a:pPr>
                <a:lnSpc>
                  <a:spcPct val="90000"/>
                </a:lnSpc>
              </a:pPr>
              <a:r>
                <a:rPr lang="en-US" dirty="0">
                  <a:solidFill>
                    <a:srgbClr val="000000"/>
                  </a:solidFill>
                  <a:latin typeface="+mn-lt"/>
                </a:rPr>
                <a:t>SDN controller receives OpenFlow message, updates link status info</a:t>
              </a:r>
            </a:p>
          </p:txBody>
        </p:sp>
        <p:grpSp>
          <p:nvGrpSpPr>
            <p:cNvPr id="384" name="Group 383"/>
            <p:cNvGrpSpPr/>
            <p:nvPr/>
          </p:nvGrpSpPr>
          <p:grpSpPr>
            <a:xfrm>
              <a:off x="5313965" y="1301119"/>
              <a:ext cx="313044" cy="369332"/>
              <a:chOff x="418816" y="1964112"/>
              <a:chExt cx="289705" cy="369332"/>
            </a:xfrm>
          </p:grpSpPr>
          <p:sp>
            <p:nvSpPr>
              <p:cNvPr id="385" name="Oval 384"/>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387" name="TextBox 386"/>
              <p:cNvSpPr txBox="1"/>
              <p:nvPr/>
            </p:nvSpPr>
            <p:spPr>
              <a:xfrm>
                <a:off x="418816" y="1964112"/>
                <a:ext cx="289705" cy="369332"/>
              </a:xfrm>
              <a:prstGeom prst="rect">
                <a:avLst/>
              </a:prstGeom>
              <a:noFill/>
            </p:spPr>
            <p:txBody>
              <a:bodyPr wrap="none" rtlCol="0">
                <a:spAutoFit/>
              </a:bodyPr>
              <a:lstStyle/>
              <a:p>
                <a:r>
                  <a:rPr lang="en-US" dirty="0">
                    <a:latin typeface="Arial" panose="020B0604020202090204"/>
                    <a:cs typeface="Arial" panose="020B0604020202090204"/>
                  </a:rPr>
                  <a:t>2</a:t>
                </a:r>
              </a:p>
            </p:txBody>
          </p:sp>
        </p:grpSp>
      </p:grpSp>
      <p:grpSp>
        <p:nvGrpSpPr>
          <p:cNvPr id="388" name="Group 387"/>
          <p:cNvGrpSpPr/>
          <p:nvPr/>
        </p:nvGrpSpPr>
        <p:grpSpPr>
          <a:xfrm>
            <a:off x="5364768" y="3187138"/>
            <a:ext cx="3388878" cy="1357349"/>
            <a:chOff x="5313965" y="1301119"/>
            <a:chExt cx="3388878" cy="1357349"/>
          </a:xfrm>
        </p:grpSpPr>
        <p:sp>
          <p:nvSpPr>
            <p:cNvPr id="389" name="TextBox 388"/>
            <p:cNvSpPr txBox="1"/>
            <p:nvPr/>
          </p:nvSpPr>
          <p:spPr>
            <a:xfrm>
              <a:off x="5654651" y="1315023"/>
              <a:ext cx="3048192" cy="1343445"/>
            </a:xfrm>
            <a:prstGeom prst="rect">
              <a:avLst/>
            </a:prstGeom>
            <a:noFill/>
          </p:spPr>
          <p:txBody>
            <a:bodyPr wrap="square" rtlCol="0">
              <a:spAutoFit/>
            </a:bodyPr>
            <a:lstStyle/>
            <a:p>
              <a:pPr>
                <a:lnSpc>
                  <a:spcPct val="90000"/>
                </a:lnSpc>
              </a:pPr>
              <a:r>
                <a:rPr lang="en-US" dirty="0">
                  <a:solidFill>
                    <a:srgbClr val="000000"/>
                  </a:solidFill>
                  <a:latin typeface="+mn-lt"/>
                </a:rPr>
                <a:t>Dijkstra’s routing algorithm application has previously registered to be called when ever link status changes.  It is called.</a:t>
              </a:r>
            </a:p>
          </p:txBody>
        </p:sp>
        <p:grpSp>
          <p:nvGrpSpPr>
            <p:cNvPr id="390" name="Group 389"/>
            <p:cNvGrpSpPr/>
            <p:nvPr/>
          </p:nvGrpSpPr>
          <p:grpSpPr>
            <a:xfrm>
              <a:off x="5313965" y="1301119"/>
              <a:ext cx="313044" cy="369332"/>
              <a:chOff x="418816" y="1964112"/>
              <a:chExt cx="289705" cy="369332"/>
            </a:xfrm>
          </p:grpSpPr>
          <p:sp>
            <p:nvSpPr>
              <p:cNvPr id="391" name="Oval 390"/>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392" name="TextBox 391"/>
              <p:cNvSpPr txBox="1"/>
              <p:nvPr/>
            </p:nvSpPr>
            <p:spPr>
              <a:xfrm>
                <a:off x="418816" y="1964112"/>
                <a:ext cx="289705" cy="369332"/>
              </a:xfrm>
              <a:prstGeom prst="rect">
                <a:avLst/>
              </a:prstGeom>
              <a:noFill/>
            </p:spPr>
            <p:txBody>
              <a:bodyPr wrap="none" rtlCol="0">
                <a:spAutoFit/>
              </a:bodyPr>
              <a:lstStyle/>
              <a:p>
                <a:r>
                  <a:rPr lang="en-US" dirty="0">
                    <a:latin typeface="Arial" panose="020B0604020202090204"/>
                    <a:cs typeface="Arial" panose="020B0604020202090204"/>
                  </a:rPr>
                  <a:t>3</a:t>
                </a:r>
              </a:p>
            </p:txBody>
          </p:sp>
        </p:grpSp>
      </p:grpSp>
      <p:grpSp>
        <p:nvGrpSpPr>
          <p:cNvPr id="393" name="Group 392"/>
          <p:cNvGrpSpPr/>
          <p:nvPr/>
        </p:nvGrpSpPr>
        <p:grpSpPr>
          <a:xfrm>
            <a:off x="5345319" y="4775804"/>
            <a:ext cx="3388878" cy="1108050"/>
            <a:chOff x="5313965" y="1301119"/>
            <a:chExt cx="3388878" cy="1108050"/>
          </a:xfrm>
        </p:grpSpPr>
        <p:sp>
          <p:nvSpPr>
            <p:cNvPr id="394" name="TextBox 393"/>
            <p:cNvSpPr txBox="1"/>
            <p:nvPr/>
          </p:nvSpPr>
          <p:spPr>
            <a:xfrm>
              <a:off x="5654651" y="1315023"/>
              <a:ext cx="3048192" cy="1094146"/>
            </a:xfrm>
            <a:prstGeom prst="rect">
              <a:avLst/>
            </a:prstGeom>
            <a:noFill/>
          </p:spPr>
          <p:txBody>
            <a:bodyPr wrap="square" rtlCol="0">
              <a:spAutoFit/>
            </a:bodyPr>
            <a:lstStyle/>
            <a:p>
              <a:pPr>
                <a:lnSpc>
                  <a:spcPct val="90000"/>
                </a:lnSpc>
              </a:pPr>
              <a:r>
                <a:rPr lang="en-US" dirty="0">
                  <a:solidFill>
                    <a:srgbClr val="000000"/>
                  </a:solidFill>
                  <a:latin typeface="+mn-lt"/>
                </a:rPr>
                <a:t>Dijkstra’s routing algorithm access network graph info, link state info in controller,  computes new routes</a:t>
              </a:r>
            </a:p>
          </p:txBody>
        </p:sp>
        <p:grpSp>
          <p:nvGrpSpPr>
            <p:cNvPr id="395" name="Group 394"/>
            <p:cNvGrpSpPr/>
            <p:nvPr/>
          </p:nvGrpSpPr>
          <p:grpSpPr>
            <a:xfrm>
              <a:off x="5313965" y="1301119"/>
              <a:ext cx="313044" cy="369332"/>
              <a:chOff x="418816" y="1964112"/>
              <a:chExt cx="289705" cy="369332"/>
            </a:xfrm>
          </p:grpSpPr>
          <p:sp>
            <p:nvSpPr>
              <p:cNvPr id="396" name="Oval 39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397" name="TextBox 396"/>
              <p:cNvSpPr txBox="1"/>
              <p:nvPr/>
            </p:nvSpPr>
            <p:spPr>
              <a:xfrm>
                <a:off x="418816" y="1964112"/>
                <a:ext cx="289705" cy="369332"/>
              </a:xfrm>
              <a:prstGeom prst="rect">
                <a:avLst/>
              </a:prstGeom>
              <a:noFill/>
            </p:spPr>
            <p:txBody>
              <a:bodyPr wrap="none" rtlCol="0">
                <a:spAutoFit/>
              </a:bodyPr>
              <a:lstStyle/>
              <a:p>
                <a:r>
                  <a:rPr lang="en-US" dirty="0">
                    <a:latin typeface="Arial" panose="020B0604020202090204"/>
                    <a:cs typeface="Arial" panose="020B0604020202090204"/>
                  </a:rPr>
                  <a:t>4</a:t>
                </a:r>
              </a:p>
            </p:txBody>
          </p:sp>
        </p:grpSp>
      </p:grpSp>
      <p:sp>
        <p:nvSpPr>
          <p:cNvPr id="398" name="Slide Number Placeholder 5"/>
          <p:cNvSpPr>
            <a:spLocks noGrp="1"/>
          </p:cNvSpPr>
          <p:nvPr>
            <p:ph type="sldNum" sz="quarter" idx="12"/>
          </p:nvPr>
        </p:nvSpPr>
        <p:spPr>
          <a:xfrm>
            <a:off x="8456295" y="6475730"/>
            <a:ext cx="61595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103</a:t>
            </a:fld>
            <a:endParaRPr lang="en-US" sz="1200" dirty="0">
              <a:latin typeface="Tahoma" panose="020B0604030504040204" charset="0"/>
            </a:endParaRPr>
          </a:p>
        </p:txBody>
      </p:sp>
      <p:sp>
        <p:nvSpPr>
          <p:cNvPr id="39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dissolve">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82"/>
                                        </p:tgtEl>
                                        <p:attrNameLst>
                                          <p:attrName>style.visibility</p:attrName>
                                        </p:attrNameLst>
                                      </p:cBhvr>
                                      <p:to>
                                        <p:strVal val="visible"/>
                                      </p:to>
                                    </p:set>
                                    <p:animEffect transition="in" filter="dissolve">
                                      <p:cBhvr>
                                        <p:cTn id="12" dur="500"/>
                                        <p:tgtEl>
                                          <p:spTgt spid="38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8"/>
                                        </p:tgtEl>
                                        <p:attrNameLst>
                                          <p:attrName>style.visibility</p:attrName>
                                        </p:attrNameLst>
                                      </p:cBhvr>
                                      <p:to>
                                        <p:strVal val="visible"/>
                                      </p:to>
                                    </p:set>
                                    <p:animEffect transition="in" filter="dissolve">
                                      <p:cBhvr>
                                        <p:cTn id="17" dur="500"/>
                                        <p:tgtEl>
                                          <p:spTgt spid="38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93"/>
                                        </p:tgtEl>
                                        <p:attrNameLst>
                                          <p:attrName>style.visibility</p:attrName>
                                        </p:attrNameLst>
                                      </p:cBhvr>
                                      <p:to>
                                        <p:strVal val="visible"/>
                                      </p:to>
                                    </p:set>
                                    <p:animEffect transition="in" filter="dissolve">
                                      <p:cBhvr>
                                        <p:cTn id="22" dur="500"/>
                                        <p:tgtEl>
                                          <p:spTgt spid="3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 name="Rounded Rectangle 374"/>
          <p:cNvSpPr/>
          <p:nvPr/>
        </p:nvSpPr>
        <p:spPr>
          <a:xfrm>
            <a:off x="441168" y="2793983"/>
            <a:ext cx="4211052" cy="1062452"/>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380" name="Rounded Rectangle 379"/>
          <p:cNvSpPr/>
          <p:nvPr/>
        </p:nvSpPr>
        <p:spPr>
          <a:xfrm>
            <a:off x="467904" y="3990524"/>
            <a:ext cx="4184316" cy="545543"/>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cxnSp>
        <p:nvCxnSpPr>
          <p:cNvPr id="386" name="Straight Connector 385"/>
          <p:cNvCxnSpPr/>
          <p:nvPr/>
        </p:nvCxnSpPr>
        <p:spPr bwMode="auto">
          <a:xfrm>
            <a:off x="508006" y="4638847"/>
            <a:ext cx="4104106" cy="0"/>
          </a:xfrm>
          <a:prstGeom prst="line">
            <a:avLst/>
          </a:prstGeom>
          <a:solidFill>
            <a:schemeClr val="accent1"/>
          </a:solidFill>
          <a:ln w="19050" cap="flat" cmpd="sng" algn="ctr">
            <a:solidFill>
              <a:schemeClr val="tx1"/>
            </a:solidFill>
            <a:prstDash val="dash"/>
            <a:round/>
            <a:headEnd type="none" w="med" len="med"/>
            <a:tailEnd type="none" w="med" len="med"/>
          </a:ln>
          <a:effectLst/>
        </p:spPr>
      </p:cxnSp>
      <p:grpSp>
        <p:nvGrpSpPr>
          <p:cNvPr id="401" name="Group 400"/>
          <p:cNvGrpSpPr/>
          <p:nvPr/>
        </p:nvGrpSpPr>
        <p:grpSpPr>
          <a:xfrm>
            <a:off x="590136" y="3368823"/>
            <a:ext cx="1244650" cy="411995"/>
            <a:chOff x="3128876" y="457817"/>
            <a:chExt cx="1432326" cy="459826"/>
          </a:xfrm>
        </p:grpSpPr>
        <p:sp>
          <p:nvSpPr>
            <p:cNvPr id="402" name="Rounded Rectangle 40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03" name="TextBox 402"/>
            <p:cNvSpPr txBox="1"/>
            <p:nvPr/>
          </p:nvSpPr>
          <p:spPr>
            <a:xfrm>
              <a:off x="3178769" y="541671"/>
              <a:ext cx="1302385"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Link-state info</a:t>
              </a:r>
            </a:p>
          </p:txBody>
        </p:sp>
      </p:grpSp>
      <p:grpSp>
        <p:nvGrpSpPr>
          <p:cNvPr id="404" name="Group 403"/>
          <p:cNvGrpSpPr/>
          <p:nvPr/>
        </p:nvGrpSpPr>
        <p:grpSpPr>
          <a:xfrm>
            <a:off x="3459852" y="3382192"/>
            <a:ext cx="1165638" cy="398626"/>
            <a:chOff x="3034354" y="534843"/>
            <a:chExt cx="1525489" cy="382800"/>
          </a:xfrm>
        </p:grpSpPr>
        <p:sp>
          <p:nvSpPr>
            <p:cNvPr id="405" name="Rounded Rectangle 404"/>
            <p:cNvSpPr/>
            <p:nvPr/>
          </p:nvSpPr>
          <p:spPr>
            <a:xfrm>
              <a:off x="3128876" y="534843"/>
              <a:ext cx="1325987" cy="382800"/>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06" name="TextBox 405"/>
            <p:cNvSpPr txBox="1"/>
            <p:nvPr/>
          </p:nvSpPr>
          <p:spPr>
            <a:xfrm>
              <a:off x="3034354" y="593020"/>
              <a:ext cx="1525489"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switch info</a:t>
              </a:r>
            </a:p>
          </p:txBody>
        </p:sp>
      </p:grpSp>
      <p:grpSp>
        <p:nvGrpSpPr>
          <p:cNvPr id="407" name="Group 406"/>
          <p:cNvGrpSpPr/>
          <p:nvPr/>
        </p:nvGrpSpPr>
        <p:grpSpPr>
          <a:xfrm>
            <a:off x="1982268" y="3368823"/>
            <a:ext cx="960359" cy="411995"/>
            <a:chOff x="3128876" y="457817"/>
            <a:chExt cx="1432326" cy="459826"/>
          </a:xfrm>
        </p:grpSpPr>
        <p:sp>
          <p:nvSpPr>
            <p:cNvPr id="408" name="Rounded Rectangle 407"/>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09" name="TextBox 408"/>
            <p:cNvSpPr txBox="1"/>
            <p:nvPr/>
          </p:nvSpPr>
          <p:spPr>
            <a:xfrm>
              <a:off x="3205754" y="541671"/>
              <a:ext cx="1287660"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host info</a:t>
              </a:r>
            </a:p>
          </p:txBody>
        </p:sp>
      </p:grpSp>
      <p:grpSp>
        <p:nvGrpSpPr>
          <p:cNvPr id="410" name="Group 409"/>
          <p:cNvGrpSpPr/>
          <p:nvPr/>
        </p:nvGrpSpPr>
        <p:grpSpPr>
          <a:xfrm>
            <a:off x="521932" y="2874191"/>
            <a:ext cx="889706" cy="382826"/>
            <a:chOff x="3128876" y="457817"/>
            <a:chExt cx="1432326" cy="459826"/>
          </a:xfrm>
        </p:grpSpPr>
        <p:sp>
          <p:nvSpPr>
            <p:cNvPr id="411" name="Rounded Rectangle 410"/>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12" name="TextBox 411"/>
            <p:cNvSpPr txBox="1"/>
            <p:nvPr/>
          </p:nvSpPr>
          <p:spPr>
            <a:xfrm>
              <a:off x="3198565" y="509557"/>
              <a:ext cx="1302043"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statistics</a:t>
              </a:r>
            </a:p>
          </p:txBody>
        </p:sp>
      </p:grpSp>
      <p:grpSp>
        <p:nvGrpSpPr>
          <p:cNvPr id="413" name="Group 412"/>
          <p:cNvGrpSpPr/>
          <p:nvPr/>
        </p:nvGrpSpPr>
        <p:grpSpPr>
          <a:xfrm>
            <a:off x="3249716" y="2860821"/>
            <a:ext cx="1032905" cy="404965"/>
            <a:chOff x="3099264" y="457817"/>
            <a:chExt cx="1540525" cy="459826"/>
          </a:xfrm>
        </p:grpSpPr>
        <p:sp>
          <p:nvSpPr>
            <p:cNvPr id="414" name="Rounded Rectangle 413"/>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15" name="TextBox 414"/>
            <p:cNvSpPr txBox="1"/>
            <p:nvPr/>
          </p:nvSpPr>
          <p:spPr>
            <a:xfrm>
              <a:off x="3099264" y="526493"/>
              <a:ext cx="1540525"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flow tables</a:t>
              </a:r>
            </a:p>
          </p:txBody>
        </p:sp>
      </p:grpSp>
      <p:sp>
        <p:nvSpPr>
          <p:cNvPr id="416" name="TextBox 415"/>
          <p:cNvSpPr txBox="1"/>
          <p:nvPr/>
        </p:nvSpPr>
        <p:spPr>
          <a:xfrm>
            <a:off x="2458723" y="2496236"/>
            <a:ext cx="570238" cy="1077218"/>
          </a:xfrm>
          <a:prstGeom prst="rect">
            <a:avLst/>
          </a:prstGeom>
          <a:noFill/>
        </p:spPr>
        <p:txBody>
          <a:bodyPr wrap="square" rtlCol="0">
            <a:spAutoFit/>
          </a:bodyPr>
          <a:lstStyle/>
          <a:p>
            <a:r>
              <a:rPr lang="en-US" sz="3200" dirty="0">
                <a:solidFill>
                  <a:schemeClr val="accent1">
                    <a:lumMod val="60000"/>
                    <a:lumOff val="40000"/>
                  </a:schemeClr>
                </a:solidFill>
              </a:rPr>
              <a:t>…  </a:t>
            </a:r>
          </a:p>
        </p:txBody>
      </p:sp>
      <p:sp>
        <p:nvSpPr>
          <p:cNvPr id="417" name="TextBox 416"/>
          <p:cNvSpPr txBox="1"/>
          <p:nvPr/>
        </p:nvSpPr>
        <p:spPr>
          <a:xfrm>
            <a:off x="3005244" y="3133033"/>
            <a:ext cx="595035"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grpSp>
        <p:nvGrpSpPr>
          <p:cNvPr id="418" name="Group 417"/>
          <p:cNvGrpSpPr/>
          <p:nvPr/>
        </p:nvGrpSpPr>
        <p:grpSpPr>
          <a:xfrm>
            <a:off x="1076595" y="4121691"/>
            <a:ext cx="1257452" cy="286824"/>
            <a:chOff x="3128876" y="457775"/>
            <a:chExt cx="1432326" cy="459868"/>
          </a:xfrm>
        </p:grpSpPr>
        <p:sp>
          <p:nvSpPr>
            <p:cNvPr id="419" name="Rounded Rectangle 41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20" name="TextBox 419"/>
            <p:cNvSpPr txBox="1"/>
            <p:nvPr/>
          </p:nvSpPr>
          <p:spPr>
            <a:xfrm>
              <a:off x="3278378" y="457775"/>
              <a:ext cx="1142401"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OpenFlow</a:t>
              </a:r>
            </a:p>
          </p:txBody>
        </p:sp>
      </p:grpSp>
      <p:grpSp>
        <p:nvGrpSpPr>
          <p:cNvPr id="421" name="Group 420"/>
          <p:cNvGrpSpPr/>
          <p:nvPr/>
        </p:nvGrpSpPr>
        <p:grpSpPr>
          <a:xfrm>
            <a:off x="2945827" y="4126474"/>
            <a:ext cx="1244650" cy="307410"/>
            <a:chOff x="3128876" y="457817"/>
            <a:chExt cx="1432326" cy="459826"/>
          </a:xfrm>
        </p:grpSpPr>
        <p:sp>
          <p:nvSpPr>
            <p:cNvPr id="422" name="Rounded Rectangle 42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23" name="TextBox 422"/>
            <p:cNvSpPr txBox="1"/>
            <p:nvPr/>
          </p:nvSpPr>
          <p:spPr>
            <a:xfrm>
              <a:off x="3446730" y="484746"/>
              <a:ext cx="805702" cy="299227"/>
            </a:xfrm>
            <a:prstGeom prst="rect">
              <a:avLst/>
            </a:prstGeom>
            <a:noFill/>
          </p:spPr>
          <p:txBody>
            <a:bodyPr wrap="none" rtlCol="0">
              <a:spAutoFit/>
            </a:bodyPr>
            <a:lstStyle/>
            <a:p>
              <a:pPr algn="ctr">
                <a:lnSpc>
                  <a:spcPts val="1600"/>
                </a:lnSpc>
              </a:pPr>
              <a:r>
                <a:rPr lang="en-US" sz="1400" dirty="0">
                  <a:latin typeface="Arial" panose="020B0604020202090204"/>
                  <a:cs typeface="Arial" panose="020B0604020202090204"/>
                </a:rPr>
                <a:t>SNMP</a:t>
              </a:r>
            </a:p>
          </p:txBody>
        </p:sp>
      </p:grpSp>
      <p:sp>
        <p:nvSpPr>
          <p:cNvPr id="424" name="TextBox 423"/>
          <p:cNvSpPr txBox="1"/>
          <p:nvPr/>
        </p:nvSpPr>
        <p:spPr>
          <a:xfrm>
            <a:off x="2328584" y="3796493"/>
            <a:ext cx="595035"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sp>
        <p:nvSpPr>
          <p:cNvPr id="146" name="Rounded Rectangle 145"/>
          <p:cNvSpPr/>
          <p:nvPr/>
        </p:nvSpPr>
        <p:spPr>
          <a:xfrm>
            <a:off x="441167" y="2098823"/>
            <a:ext cx="4211053" cy="574748"/>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grpSp>
        <p:nvGrpSpPr>
          <p:cNvPr id="425" name="Group 424"/>
          <p:cNvGrpSpPr/>
          <p:nvPr/>
        </p:nvGrpSpPr>
        <p:grpSpPr>
          <a:xfrm>
            <a:off x="535393" y="2131433"/>
            <a:ext cx="1033900" cy="504412"/>
            <a:chOff x="3103238" y="432317"/>
            <a:chExt cx="1461287" cy="504412"/>
          </a:xfrm>
        </p:grpSpPr>
        <p:sp>
          <p:nvSpPr>
            <p:cNvPr id="426" name="Rounded Rectangle 425"/>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27" name="TextBox 426"/>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400" dirty="0">
                  <a:latin typeface="Arial" panose="020B0604020202090204"/>
                  <a:cs typeface="Arial" panose="020B0604020202090204"/>
                </a:rPr>
                <a:t>network graph</a:t>
              </a:r>
            </a:p>
          </p:txBody>
        </p:sp>
      </p:grpSp>
      <p:grpSp>
        <p:nvGrpSpPr>
          <p:cNvPr id="428" name="Group 427"/>
          <p:cNvGrpSpPr/>
          <p:nvPr/>
        </p:nvGrpSpPr>
        <p:grpSpPr>
          <a:xfrm>
            <a:off x="3508898" y="2156720"/>
            <a:ext cx="1033900" cy="459826"/>
            <a:chOff x="3103238" y="457817"/>
            <a:chExt cx="1461287" cy="459826"/>
          </a:xfrm>
        </p:grpSpPr>
        <p:sp>
          <p:nvSpPr>
            <p:cNvPr id="429" name="Rounded Rectangle 42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30" name="TextBox 429"/>
            <p:cNvSpPr txBox="1"/>
            <p:nvPr/>
          </p:nvSpPr>
          <p:spPr>
            <a:xfrm>
              <a:off x="3103238" y="553253"/>
              <a:ext cx="1461287" cy="299227"/>
            </a:xfrm>
            <a:prstGeom prst="rect">
              <a:avLst/>
            </a:prstGeom>
            <a:noFill/>
          </p:spPr>
          <p:txBody>
            <a:bodyPr wrap="square" rtlCol="0">
              <a:spAutoFit/>
            </a:bodyPr>
            <a:lstStyle/>
            <a:p>
              <a:pPr algn="ctr">
                <a:lnSpc>
                  <a:spcPts val="1600"/>
                </a:lnSpc>
              </a:pPr>
              <a:r>
                <a:rPr lang="en-US" sz="1400" dirty="0">
                  <a:latin typeface="Arial" panose="020B0604020202090204"/>
                  <a:cs typeface="Arial" panose="020B0604020202090204"/>
                </a:rPr>
                <a:t>intent</a:t>
              </a:r>
            </a:p>
          </p:txBody>
        </p:sp>
      </p:grpSp>
      <p:grpSp>
        <p:nvGrpSpPr>
          <p:cNvPr id="431" name="Group 430"/>
          <p:cNvGrpSpPr/>
          <p:nvPr/>
        </p:nvGrpSpPr>
        <p:grpSpPr>
          <a:xfrm>
            <a:off x="1952059" y="2129889"/>
            <a:ext cx="1033900" cy="504412"/>
            <a:chOff x="3103238" y="432317"/>
            <a:chExt cx="1461287" cy="504412"/>
          </a:xfrm>
        </p:grpSpPr>
        <p:sp>
          <p:nvSpPr>
            <p:cNvPr id="432" name="Rounded Rectangle 43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433" name="TextBox 432"/>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400" dirty="0" err="1">
                  <a:latin typeface="Arial" panose="020B0604020202090204"/>
                  <a:cs typeface="Arial" panose="020B0604020202090204"/>
                </a:rPr>
                <a:t>RESTful</a:t>
              </a:r>
              <a:endParaRPr lang="en-US" sz="1400" dirty="0">
                <a:latin typeface="Arial" panose="020B0604020202090204"/>
                <a:cs typeface="Arial" panose="020B0604020202090204"/>
              </a:endParaRPr>
            </a:p>
            <a:p>
              <a:pPr algn="ctr">
                <a:lnSpc>
                  <a:spcPts val="1600"/>
                </a:lnSpc>
              </a:pPr>
              <a:r>
                <a:rPr lang="en-US" sz="1400" dirty="0">
                  <a:latin typeface="Arial" panose="020B0604020202090204"/>
                  <a:cs typeface="Arial" panose="020B0604020202090204"/>
                </a:rPr>
                <a:t>API</a:t>
              </a:r>
            </a:p>
          </p:txBody>
        </p:sp>
      </p:grpSp>
      <p:sp>
        <p:nvSpPr>
          <p:cNvPr id="434" name="TextBox 433"/>
          <p:cNvSpPr txBox="1"/>
          <p:nvPr/>
        </p:nvSpPr>
        <p:spPr>
          <a:xfrm>
            <a:off x="3007181" y="1957959"/>
            <a:ext cx="627904" cy="584776"/>
          </a:xfrm>
          <a:prstGeom prst="rect">
            <a:avLst/>
          </a:prstGeom>
          <a:noFill/>
        </p:spPr>
        <p:txBody>
          <a:bodyPr wrap="none" rtlCol="0">
            <a:spAutoFit/>
          </a:bodyPr>
          <a:lstStyle/>
          <a:p>
            <a:r>
              <a:rPr lang="en-US" sz="3200" dirty="0">
                <a:solidFill>
                  <a:schemeClr val="accent1">
                    <a:lumMod val="60000"/>
                    <a:lumOff val="40000"/>
                  </a:schemeClr>
                </a:solidFill>
              </a:rPr>
              <a:t>…  </a:t>
            </a:r>
          </a:p>
        </p:txBody>
      </p:sp>
      <p:cxnSp>
        <p:nvCxnSpPr>
          <p:cNvPr id="154" name="Straight Connector 153"/>
          <p:cNvCxnSpPr/>
          <p:nvPr/>
        </p:nvCxnSpPr>
        <p:spPr bwMode="auto">
          <a:xfrm flipV="1">
            <a:off x="521378" y="1925056"/>
            <a:ext cx="4117474" cy="1"/>
          </a:xfrm>
          <a:prstGeom prst="line">
            <a:avLst/>
          </a:prstGeom>
          <a:solidFill>
            <a:schemeClr val="accent1"/>
          </a:solidFill>
          <a:ln w="19050" cap="flat" cmpd="sng" algn="ctr">
            <a:solidFill>
              <a:schemeClr val="tx1"/>
            </a:solidFill>
            <a:prstDash val="dash"/>
            <a:round/>
            <a:headEnd type="none" w="med" len="med"/>
            <a:tailEnd type="none" w="med" len="med"/>
          </a:ln>
          <a:effectLst/>
        </p:spPr>
      </p:cxnSp>
      <p:sp>
        <p:nvSpPr>
          <p:cNvPr id="157" name="Freeform 2"/>
          <p:cNvSpPr/>
          <p:nvPr/>
        </p:nvSpPr>
        <p:spPr bwMode="auto">
          <a:xfrm>
            <a:off x="509074" y="5069969"/>
            <a:ext cx="4057421" cy="1393030"/>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p:spPr>
        <p:txBody>
          <a:bodyPr wrap="none" anchor="ctr"/>
          <a:lstStyle/>
          <a:p>
            <a:pPr defTabSz="914400" eaLnBrk="0" fontAlgn="base" hangingPunct="0">
              <a:spcBef>
                <a:spcPct val="0"/>
              </a:spcBef>
              <a:spcAft>
                <a:spcPct val="0"/>
              </a:spcAft>
            </a:pPr>
            <a:endParaRPr lang="en-US">
              <a:solidFill>
                <a:srgbClr val="000000"/>
              </a:solidFill>
              <a:latin typeface="Arial" panose="020B0604020202090204" pitchFamily="34" charset="0"/>
              <a:ea typeface="MS PGothic" charset="0"/>
              <a:cs typeface="MS PGothic" charset="0"/>
            </a:endParaRPr>
          </a:p>
        </p:txBody>
      </p:sp>
      <p:cxnSp>
        <p:nvCxnSpPr>
          <p:cNvPr id="166" name="Straight Connector 165"/>
          <p:cNvCxnSpPr/>
          <p:nvPr/>
        </p:nvCxnSpPr>
        <p:spPr bwMode="auto">
          <a:xfrm flipV="1">
            <a:off x="1592143" y="5453530"/>
            <a:ext cx="615520" cy="282224"/>
          </a:xfrm>
          <a:prstGeom prst="line">
            <a:avLst/>
          </a:prstGeom>
          <a:solidFill>
            <a:schemeClr val="accent1"/>
          </a:solidFill>
          <a:ln w="34925" cap="flat" cmpd="sng" algn="ctr">
            <a:solidFill>
              <a:srgbClr val="FF0000"/>
            </a:solidFill>
            <a:prstDash val="solid"/>
            <a:round/>
            <a:headEnd type="none" w="med" len="med"/>
            <a:tailEnd type="none" w="med" len="med"/>
          </a:ln>
          <a:effectLst/>
        </p:spPr>
      </p:cxnSp>
      <p:cxnSp>
        <p:nvCxnSpPr>
          <p:cNvPr id="167" name="Straight Connector 166"/>
          <p:cNvCxnSpPr/>
          <p:nvPr/>
        </p:nvCxnSpPr>
        <p:spPr bwMode="auto">
          <a:xfrm>
            <a:off x="1581927" y="5759398"/>
            <a:ext cx="1651340" cy="138604"/>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p:spPr>
      </p:cxnSp>
      <p:cxnSp>
        <p:nvCxnSpPr>
          <p:cNvPr id="168" name="Straight Connector 167"/>
          <p:cNvCxnSpPr>
            <a:endCxn id="353" idx="1"/>
          </p:cNvCxnSpPr>
          <p:nvPr/>
        </p:nvCxnSpPr>
        <p:spPr bwMode="auto">
          <a:xfrm>
            <a:off x="1592143" y="5816064"/>
            <a:ext cx="318002" cy="387552"/>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p:spPr>
      </p:cxnSp>
      <p:cxnSp>
        <p:nvCxnSpPr>
          <p:cNvPr id="169" name="Straight Connector 168"/>
          <p:cNvCxnSpPr>
            <a:stCxn id="339" idx="3"/>
          </p:cNvCxnSpPr>
          <p:nvPr/>
        </p:nvCxnSpPr>
        <p:spPr bwMode="auto">
          <a:xfrm>
            <a:off x="2893995" y="5449380"/>
            <a:ext cx="333142" cy="421301"/>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p:spPr>
      </p:cxnSp>
      <p:cxnSp>
        <p:nvCxnSpPr>
          <p:cNvPr id="170" name="Straight Connector 169"/>
          <p:cNvCxnSpPr/>
          <p:nvPr/>
        </p:nvCxnSpPr>
        <p:spPr bwMode="auto">
          <a:xfrm flipV="1">
            <a:off x="2371572" y="5956693"/>
            <a:ext cx="861695" cy="275422"/>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p:spPr>
      </p:cxnSp>
      <p:sp>
        <p:nvSpPr>
          <p:cNvPr id="224" name="Freeform 223"/>
          <p:cNvSpPr/>
          <p:nvPr/>
        </p:nvSpPr>
        <p:spPr>
          <a:xfrm>
            <a:off x="1449442" y="1774754"/>
            <a:ext cx="710887" cy="3730652"/>
          </a:xfrm>
          <a:custGeom>
            <a:avLst/>
            <a:gdLst>
              <a:gd name="connsiteX0" fmla="*/ 3902322 w 3902322"/>
              <a:gd name="connsiteY0" fmla="*/ 0 h 449814"/>
              <a:gd name="connsiteX1" fmla="*/ 3452563 w 3902322"/>
              <a:gd name="connsiteY1" fmla="*/ 449814 h 449814"/>
              <a:gd name="connsiteX2" fmla="*/ 343934 w 3902322"/>
              <a:gd name="connsiteY2" fmla="*/ 423354 h 449814"/>
              <a:gd name="connsiteX3" fmla="*/ 0 w 3902322"/>
              <a:gd name="connsiteY3" fmla="*/ 39690 h 449814"/>
              <a:gd name="connsiteX0-1" fmla="*/ 3902322 w 3902322"/>
              <a:gd name="connsiteY0-2" fmla="*/ 0 h 423354"/>
              <a:gd name="connsiteX1-3" fmla="*/ 3565324 w 3902322"/>
              <a:gd name="connsiteY1-4" fmla="*/ 402338 h 423354"/>
              <a:gd name="connsiteX2-5" fmla="*/ 343934 w 3902322"/>
              <a:gd name="connsiteY2-6" fmla="*/ 423354 h 423354"/>
              <a:gd name="connsiteX3-7" fmla="*/ 0 w 3902322"/>
              <a:gd name="connsiteY3-8" fmla="*/ 39690 h 423354"/>
              <a:gd name="connsiteX0-9" fmla="*/ 3902322 w 3902322"/>
              <a:gd name="connsiteY0-10" fmla="*/ 0 h 423354"/>
              <a:gd name="connsiteX1-11" fmla="*/ 3600933 w 3902322"/>
              <a:gd name="connsiteY1-12" fmla="*/ 384535 h 423354"/>
              <a:gd name="connsiteX2-13" fmla="*/ 343934 w 3902322"/>
              <a:gd name="connsiteY2-14" fmla="*/ 423354 h 423354"/>
              <a:gd name="connsiteX3-15" fmla="*/ 0 w 3902322"/>
              <a:gd name="connsiteY3-16" fmla="*/ 39690 h 423354"/>
              <a:gd name="connsiteX0-17" fmla="*/ 3943865 w 3943865"/>
              <a:gd name="connsiteY0-18" fmla="*/ 1851 h 383664"/>
              <a:gd name="connsiteX1-19" fmla="*/ 3600933 w 3943865"/>
              <a:gd name="connsiteY1-20" fmla="*/ 344845 h 383664"/>
              <a:gd name="connsiteX2-21" fmla="*/ 343934 w 3943865"/>
              <a:gd name="connsiteY2-22" fmla="*/ 383664 h 383664"/>
              <a:gd name="connsiteX3-23" fmla="*/ 0 w 3943865"/>
              <a:gd name="connsiteY3-24" fmla="*/ 0 h 383664"/>
              <a:gd name="connsiteX0-25" fmla="*/ 4015082 w 4015082"/>
              <a:gd name="connsiteY0-26" fmla="*/ 29941 h 383664"/>
              <a:gd name="connsiteX1-27" fmla="*/ 3600933 w 4015082"/>
              <a:gd name="connsiteY1-28" fmla="*/ 344845 h 383664"/>
              <a:gd name="connsiteX2-29" fmla="*/ 343934 w 4015082"/>
              <a:gd name="connsiteY2-30" fmla="*/ 383664 h 383664"/>
              <a:gd name="connsiteX3-31" fmla="*/ 0 w 4015082"/>
              <a:gd name="connsiteY3-32" fmla="*/ 0 h 383664"/>
              <a:gd name="connsiteX0-33" fmla="*/ 4187190 w 4187190"/>
              <a:gd name="connsiteY0-34" fmla="*/ 15896 h 369619"/>
              <a:gd name="connsiteX1-35" fmla="*/ 3773041 w 4187190"/>
              <a:gd name="connsiteY1-36" fmla="*/ 330800 h 369619"/>
              <a:gd name="connsiteX2-37" fmla="*/ 516042 w 4187190"/>
              <a:gd name="connsiteY2-38" fmla="*/ 369619 h 369619"/>
              <a:gd name="connsiteX3-39" fmla="*/ 0 w 4187190"/>
              <a:gd name="connsiteY3-40" fmla="*/ 0 h 369619"/>
              <a:gd name="connsiteX0-41" fmla="*/ 4187190 w 4187190"/>
              <a:gd name="connsiteY0-42" fmla="*/ 15896 h 369619"/>
              <a:gd name="connsiteX1-43" fmla="*/ 3749302 w 4187190"/>
              <a:gd name="connsiteY1-44" fmla="*/ 349527 h 369619"/>
              <a:gd name="connsiteX2-45" fmla="*/ 516042 w 4187190"/>
              <a:gd name="connsiteY2-46" fmla="*/ 369619 h 369619"/>
              <a:gd name="connsiteX3-47" fmla="*/ 0 w 4187190"/>
              <a:gd name="connsiteY3-48" fmla="*/ 0 h 369619"/>
              <a:gd name="connsiteX0-49" fmla="*/ 0 w 6265284"/>
              <a:gd name="connsiteY0-50" fmla="*/ 0 h 1092877"/>
              <a:gd name="connsiteX1-51" fmla="*/ 6265284 w 6265284"/>
              <a:gd name="connsiteY1-52" fmla="*/ 1072785 h 1092877"/>
              <a:gd name="connsiteX2-53" fmla="*/ 3032024 w 6265284"/>
              <a:gd name="connsiteY2-54" fmla="*/ 1092877 h 1092877"/>
              <a:gd name="connsiteX3-55" fmla="*/ 2515982 w 6265284"/>
              <a:gd name="connsiteY3-56" fmla="*/ 723258 h 1092877"/>
              <a:gd name="connsiteX0-57" fmla="*/ 0 w 3032024"/>
              <a:gd name="connsiteY0-58" fmla="*/ 1193950 h 2286827"/>
              <a:gd name="connsiteX1-59" fmla="*/ 1581391 w 3032024"/>
              <a:gd name="connsiteY1-60" fmla="*/ 0 h 2286827"/>
              <a:gd name="connsiteX2-61" fmla="*/ 3032024 w 3032024"/>
              <a:gd name="connsiteY2-62" fmla="*/ 2286827 h 2286827"/>
              <a:gd name="connsiteX3-63" fmla="*/ 2515982 w 3032024"/>
              <a:gd name="connsiteY3-64" fmla="*/ 1917208 h 2286827"/>
              <a:gd name="connsiteX0-65" fmla="*/ 0 w 2515982"/>
              <a:gd name="connsiteY0-66" fmla="*/ 1896586 h 2619844"/>
              <a:gd name="connsiteX1-67" fmla="*/ 1581391 w 2515982"/>
              <a:gd name="connsiteY1-68" fmla="*/ 702636 h 2619844"/>
              <a:gd name="connsiteX2-69" fmla="*/ 1241736 w 2515982"/>
              <a:gd name="connsiteY2-70" fmla="*/ 0 h 2619844"/>
              <a:gd name="connsiteX3-71" fmla="*/ 2515982 w 2515982"/>
              <a:gd name="connsiteY3-72" fmla="*/ 2619844 h 2619844"/>
              <a:gd name="connsiteX0-73" fmla="*/ 0 w 1581391"/>
              <a:gd name="connsiteY0-74" fmla="*/ 2890379 h 2890379"/>
              <a:gd name="connsiteX1-75" fmla="*/ 1581391 w 1581391"/>
              <a:gd name="connsiteY1-76" fmla="*/ 1696429 h 2890379"/>
              <a:gd name="connsiteX2-77" fmla="*/ 1241736 w 1581391"/>
              <a:gd name="connsiteY2-78" fmla="*/ 993793 h 2890379"/>
              <a:gd name="connsiteX3-79" fmla="*/ 1579203 w 1581391"/>
              <a:gd name="connsiteY3-80" fmla="*/ 0 h 2890379"/>
              <a:gd name="connsiteX0-81" fmla="*/ 0 w 1581391"/>
              <a:gd name="connsiteY0-82" fmla="*/ 2973211 h 2973211"/>
              <a:gd name="connsiteX1-83" fmla="*/ 1581391 w 1581391"/>
              <a:gd name="connsiteY1-84" fmla="*/ 1779261 h 2973211"/>
              <a:gd name="connsiteX2-85" fmla="*/ 1241736 w 1581391"/>
              <a:gd name="connsiteY2-86" fmla="*/ 1076625 h 2973211"/>
              <a:gd name="connsiteX3-87" fmla="*/ 1229193 w 1581391"/>
              <a:gd name="connsiteY3-88" fmla="*/ 0 h 2973211"/>
              <a:gd name="connsiteX0-89" fmla="*/ 0 w 1581391"/>
              <a:gd name="connsiteY0-90" fmla="*/ 3276927 h 3276927"/>
              <a:gd name="connsiteX1-91" fmla="*/ 1581391 w 1581391"/>
              <a:gd name="connsiteY1-92" fmla="*/ 2082977 h 3276927"/>
              <a:gd name="connsiteX2-93" fmla="*/ 1241736 w 1581391"/>
              <a:gd name="connsiteY2-94" fmla="*/ 1380341 h 3276927"/>
              <a:gd name="connsiteX3-95" fmla="*/ 1249193 w 1581391"/>
              <a:gd name="connsiteY3-96" fmla="*/ 0 h 3276927"/>
              <a:gd name="connsiteX0-97" fmla="*/ 0 w 1581391"/>
              <a:gd name="connsiteY0-98" fmla="*/ 2973211 h 2973211"/>
              <a:gd name="connsiteX1-99" fmla="*/ 1581391 w 1581391"/>
              <a:gd name="connsiteY1-100" fmla="*/ 1779261 h 2973211"/>
              <a:gd name="connsiteX2-101" fmla="*/ 1241736 w 1581391"/>
              <a:gd name="connsiteY2-102" fmla="*/ 1076625 h 2973211"/>
              <a:gd name="connsiteX3-103" fmla="*/ 1234193 w 1581391"/>
              <a:gd name="connsiteY3-104" fmla="*/ 0 h 2973211"/>
              <a:gd name="connsiteX0-105" fmla="*/ 0 w 1581391"/>
              <a:gd name="connsiteY0-106" fmla="*/ 3008710 h 3008710"/>
              <a:gd name="connsiteX1-107" fmla="*/ 1581391 w 1581391"/>
              <a:gd name="connsiteY1-108" fmla="*/ 1814760 h 3008710"/>
              <a:gd name="connsiteX2-109" fmla="*/ 1241736 w 1581391"/>
              <a:gd name="connsiteY2-110" fmla="*/ 1112124 h 3008710"/>
              <a:gd name="connsiteX3-111" fmla="*/ 1239193 w 1581391"/>
              <a:gd name="connsiteY3-112" fmla="*/ 0 h 3008710"/>
              <a:gd name="connsiteX0-113" fmla="*/ 0 w 1581391"/>
              <a:gd name="connsiteY0-114" fmla="*/ 3008710 h 3008710"/>
              <a:gd name="connsiteX1-115" fmla="*/ 1581391 w 1581391"/>
              <a:gd name="connsiteY1-116" fmla="*/ 1814760 h 3008710"/>
              <a:gd name="connsiteX2-117" fmla="*/ 1320792 w 1581391"/>
              <a:gd name="connsiteY2-118" fmla="*/ 1270181 h 3008710"/>
              <a:gd name="connsiteX3-119" fmla="*/ 1241736 w 1581391"/>
              <a:gd name="connsiteY3-120" fmla="*/ 1112124 h 3008710"/>
              <a:gd name="connsiteX4" fmla="*/ 1239193 w 1581391"/>
              <a:gd name="connsiteY4" fmla="*/ 0 h 3008710"/>
              <a:gd name="connsiteX0-121" fmla="*/ 0 w 1581391"/>
              <a:gd name="connsiteY0-122" fmla="*/ 3008710 h 3008710"/>
              <a:gd name="connsiteX1-123" fmla="*/ 1581391 w 1581391"/>
              <a:gd name="connsiteY1-124" fmla="*/ 1814760 h 3008710"/>
              <a:gd name="connsiteX2-125" fmla="*/ 1565798 w 1581391"/>
              <a:gd name="connsiteY2-126" fmla="*/ 1270181 h 3008710"/>
              <a:gd name="connsiteX3-127" fmla="*/ 1241736 w 1581391"/>
              <a:gd name="connsiteY3-128" fmla="*/ 1112124 h 3008710"/>
              <a:gd name="connsiteX4-129" fmla="*/ 1239193 w 1581391"/>
              <a:gd name="connsiteY4-130" fmla="*/ 0 h 3008710"/>
              <a:gd name="connsiteX0-131" fmla="*/ 0 w 1581391"/>
              <a:gd name="connsiteY0-132" fmla="*/ 3008710 h 3008710"/>
              <a:gd name="connsiteX1-133" fmla="*/ 1581391 w 1581391"/>
              <a:gd name="connsiteY1-134" fmla="*/ 1747705 h 3008710"/>
              <a:gd name="connsiteX2-135" fmla="*/ 1565798 w 1581391"/>
              <a:gd name="connsiteY2-136" fmla="*/ 1270181 h 3008710"/>
              <a:gd name="connsiteX3-137" fmla="*/ 1241736 w 1581391"/>
              <a:gd name="connsiteY3-138" fmla="*/ 1112124 h 3008710"/>
              <a:gd name="connsiteX4-139" fmla="*/ 1239193 w 1581391"/>
              <a:gd name="connsiteY4-140" fmla="*/ 0 h 3008710"/>
              <a:gd name="connsiteX0-141" fmla="*/ 0 w 1566390"/>
              <a:gd name="connsiteY0-142" fmla="*/ 3008710 h 3008710"/>
              <a:gd name="connsiteX1-143" fmla="*/ 1566390 w 1566390"/>
              <a:gd name="connsiteY1-144" fmla="*/ 1747705 h 3008710"/>
              <a:gd name="connsiteX2-145" fmla="*/ 1565798 w 1566390"/>
              <a:gd name="connsiteY2-146" fmla="*/ 1270181 h 3008710"/>
              <a:gd name="connsiteX3-147" fmla="*/ 1241736 w 1566390"/>
              <a:gd name="connsiteY3-148" fmla="*/ 1112124 h 3008710"/>
              <a:gd name="connsiteX4-149" fmla="*/ 1239193 w 1566390"/>
              <a:gd name="connsiteY4-150" fmla="*/ 0 h 3008710"/>
              <a:gd name="connsiteX0-151" fmla="*/ 0 w 1766395"/>
              <a:gd name="connsiteY0-152" fmla="*/ 2988988 h 2988988"/>
              <a:gd name="connsiteX1-153" fmla="*/ 1766395 w 1766395"/>
              <a:gd name="connsiteY1-154" fmla="*/ 1747705 h 2988988"/>
              <a:gd name="connsiteX2-155" fmla="*/ 1765803 w 1766395"/>
              <a:gd name="connsiteY2-156" fmla="*/ 1270181 h 2988988"/>
              <a:gd name="connsiteX3-157" fmla="*/ 1441741 w 1766395"/>
              <a:gd name="connsiteY3-158" fmla="*/ 1112124 h 2988988"/>
              <a:gd name="connsiteX4-159" fmla="*/ 1439198 w 1766395"/>
              <a:gd name="connsiteY4-160" fmla="*/ 0 h 2988988"/>
              <a:gd name="connsiteX0-161" fmla="*/ 0 w 725529"/>
              <a:gd name="connsiteY0-162" fmla="*/ 2874009 h 2874009"/>
              <a:gd name="connsiteX1-163" fmla="*/ 725529 w 725529"/>
              <a:gd name="connsiteY1-164" fmla="*/ 1747705 h 2874009"/>
              <a:gd name="connsiteX2-165" fmla="*/ 724937 w 725529"/>
              <a:gd name="connsiteY2-166" fmla="*/ 1270181 h 2874009"/>
              <a:gd name="connsiteX3-167" fmla="*/ 400875 w 725529"/>
              <a:gd name="connsiteY3-168" fmla="*/ 1112124 h 2874009"/>
              <a:gd name="connsiteX4-169" fmla="*/ 398332 w 725529"/>
              <a:gd name="connsiteY4-170" fmla="*/ 0 h 2874009"/>
              <a:gd name="connsiteX0-171" fmla="*/ 0 w 725529"/>
              <a:gd name="connsiteY0-172" fmla="*/ 2854234 h 2854234"/>
              <a:gd name="connsiteX1-173" fmla="*/ 725529 w 725529"/>
              <a:gd name="connsiteY1-174" fmla="*/ 1727930 h 2854234"/>
              <a:gd name="connsiteX2-175" fmla="*/ 724937 w 725529"/>
              <a:gd name="connsiteY2-176" fmla="*/ 1250406 h 2854234"/>
              <a:gd name="connsiteX3-177" fmla="*/ 400875 w 725529"/>
              <a:gd name="connsiteY3-178" fmla="*/ 1092349 h 2854234"/>
              <a:gd name="connsiteX4-179" fmla="*/ 181090 w 725529"/>
              <a:gd name="connsiteY4-180" fmla="*/ 0 h 2854234"/>
              <a:gd name="connsiteX0-181" fmla="*/ 0 w 725529"/>
              <a:gd name="connsiteY0-182" fmla="*/ 2854234 h 2854234"/>
              <a:gd name="connsiteX1-183" fmla="*/ 725529 w 725529"/>
              <a:gd name="connsiteY1-184" fmla="*/ 1727930 h 2854234"/>
              <a:gd name="connsiteX2-185" fmla="*/ 724937 w 725529"/>
              <a:gd name="connsiteY2-186" fmla="*/ 1250406 h 2854234"/>
              <a:gd name="connsiteX3-187" fmla="*/ 242121 w 725529"/>
              <a:gd name="connsiteY3-188" fmla="*/ 1079165 h 2854234"/>
              <a:gd name="connsiteX4-189" fmla="*/ 181090 w 725529"/>
              <a:gd name="connsiteY4-190" fmla="*/ 0 h 2854234"/>
              <a:gd name="connsiteX0-191" fmla="*/ 0 w 725529"/>
              <a:gd name="connsiteY0-192" fmla="*/ 2854234 h 2854234"/>
              <a:gd name="connsiteX1-193" fmla="*/ 725529 w 725529"/>
              <a:gd name="connsiteY1-194" fmla="*/ 1727930 h 2854234"/>
              <a:gd name="connsiteX2-195" fmla="*/ 724937 w 725529"/>
              <a:gd name="connsiteY2-196" fmla="*/ 1250406 h 2854234"/>
              <a:gd name="connsiteX3-197" fmla="*/ 208699 w 725529"/>
              <a:gd name="connsiteY3-198" fmla="*/ 1105532 h 2854234"/>
              <a:gd name="connsiteX4-199" fmla="*/ 181090 w 725529"/>
              <a:gd name="connsiteY4-200" fmla="*/ 0 h 2854234"/>
              <a:gd name="connsiteX0-201" fmla="*/ 0 w 725529"/>
              <a:gd name="connsiteY0-202" fmla="*/ 2854234 h 2854234"/>
              <a:gd name="connsiteX1-203" fmla="*/ 725529 w 725529"/>
              <a:gd name="connsiteY1-204" fmla="*/ 1727930 h 2854234"/>
              <a:gd name="connsiteX2-205" fmla="*/ 724937 w 725529"/>
              <a:gd name="connsiteY2-206" fmla="*/ 1250406 h 2854234"/>
              <a:gd name="connsiteX3-207" fmla="*/ 208699 w 725529"/>
              <a:gd name="connsiteY3-208" fmla="*/ 1105532 h 2854234"/>
              <a:gd name="connsiteX4-209" fmla="*/ 181090 w 725529"/>
              <a:gd name="connsiteY4-210" fmla="*/ 0 h 2854234"/>
              <a:gd name="connsiteX0-211" fmla="*/ 0 w 725529"/>
              <a:gd name="connsiteY0-212" fmla="*/ 2854234 h 2854234"/>
              <a:gd name="connsiteX1-213" fmla="*/ 725529 w 725529"/>
              <a:gd name="connsiteY1-214" fmla="*/ 1727930 h 2854234"/>
              <a:gd name="connsiteX2-215" fmla="*/ 724937 w 725529"/>
              <a:gd name="connsiteY2-216" fmla="*/ 1250406 h 2854234"/>
              <a:gd name="connsiteX3-217" fmla="*/ 233766 w 725529"/>
              <a:gd name="connsiteY3-218" fmla="*/ 1105532 h 2854234"/>
              <a:gd name="connsiteX4-219" fmla="*/ 181090 w 725529"/>
              <a:gd name="connsiteY4-220" fmla="*/ 0 h 2854234"/>
              <a:gd name="connsiteX0-221" fmla="*/ 0 w 725529"/>
              <a:gd name="connsiteY0-222" fmla="*/ 2854234 h 2854234"/>
              <a:gd name="connsiteX1-223" fmla="*/ 725529 w 725529"/>
              <a:gd name="connsiteY1-224" fmla="*/ 1727930 h 2854234"/>
              <a:gd name="connsiteX2-225" fmla="*/ 724937 w 725529"/>
              <a:gd name="connsiteY2-226" fmla="*/ 1250406 h 2854234"/>
              <a:gd name="connsiteX3-227" fmla="*/ 200344 w 725529"/>
              <a:gd name="connsiteY3-228" fmla="*/ 1118716 h 2854234"/>
              <a:gd name="connsiteX4-229" fmla="*/ 181090 w 725529"/>
              <a:gd name="connsiteY4-230" fmla="*/ 0 h 2854234"/>
              <a:gd name="connsiteX0-231" fmla="*/ 0 w 725529"/>
              <a:gd name="connsiteY0-232" fmla="*/ 2854234 h 2854234"/>
              <a:gd name="connsiteX1-233" fmla="*/ 725529 w 725529"/>
              <a:gd name="connsiteY1-234" fmla="*/ 1727930 h 2854234"/>
              <a:gd name="connsiteX2-235" fmla="*/ 724937 w 725529"/>
              <a:gd name="connsiteY2-236" fmla="*/ 1250406 h 2854234"/>
              <a:gd name="connsiteX3-237" fmla="*/ 175278 w 725529"/>
              <a:gd name="connsiteY3-238" fmla="*/ 1105533 h 2854234"/>
              <a:gd name="connsiteX4-239" fmla="*/ 181090 w 725529"/>
              <a:gd name="connsiteY4-240" fmla="*/ 0 h 2854234"/>
              <a:gd name="connsiteX0-241" fmla="*/ 0 w 725529"/>
              <a:gd name="connsiteY0-242" fmla="*/ 2854234 h 2854234"/>
              <a:gd name="connsiteX1-243" fmla="*/ 725529 w 725529"/>
              <a:gd name="connsiteY1-244" fmla="*/ 1727930 h 2854234"/>
              <a:gd name="connsiteX2-245" fmla="*/ 724937 w 725529"/>
              <a:gd name="connsiteY2-246" fmla="*/ 1250406 h 2854234"/>
              <a:gd name="connsiteX3-247" fmla="*/ 275543 w 725529"/>
              <a:gd name="connsiteY3-248" fmla="*/ 1112125 h 2854234"/>
              <a:gd name="connsiteX4-249" fmla="*/ 181090 w 725529"/>
              <a:gd name="connsiteY4-250" fmla="*/ 0 h 2854234"/>
              <a:gd name="connsiteX0-251" fmla="*/ 0 w 725529"/>
              <a:gd name="connsiteY0-252" fmla="*/ 2854234 h 2854234"/>
              <a:gd name="connsiteX1-253" fmla="*/ 725529 w 725529"/>
              <a:gd name="connsiteY1-254" fmla="*/ 1727930 h 2854234"/>
              <a:gd name="connsiteX2-255" fmla="*/ 724937 w 725529"/>
              <a:gd name="connsiteY2-256" fmla="*/ 1250406 h 2854234"/>
              <a:gd name="connsiteX3-257" fmla="*/ 275543 w 725529"/>
              <a:gd name="connsiteY3-258" fmla="*/ 1112125 h 2854234"/>
              <a:gd name="connsiteX4-259" fmla="*/ 264644 w 725529"/>
              <a:gd name="connsiteY4-260" fmla="*/ 0 h 2854234"/>
              <a:gd name="connsiteX0-261" fmla="*/ 0 w 725529"/>
              <a:gd name="connsiteY0-262" fmla="*/ 2854234 h 2854234"/>
              <a:gd name="connsiteX1-263" fmla="*/ 725529 w 725529"/>
              <a:gd name="connsiteY1-264" fmla="*/ 1727930 h 2854234"/>
              <a:gd name="connsiteX2-265" fmla="*/ 724937 w 725529"/>
              <a:gd name="connsiteY2-266" fmla="*/ 1250406 h 2854234"/>
              <a:gd name="connsiteX3-267" fmla="*/ 292254 w 725529"/>
              <a:gd name="connsiteY3-268" fmla="*/ 1125309 h 2854234"/>
              <a:gd name="connsiteX4-269" fmla="*/ 264644 w 725529"/>
              <a:gd name="connsiteY4-270" fmla="*/ 0 h 2854234"/>
              <a:gd name="connsiteX0-271" fmla="*/ 0 w 725529"/>
              <a:gd name="connsiteY0-272" fmla="*/ 2854234 h 2854234"/>
              <a:gd name="connsiteX1-273" fmla="*/ 725529 w 725529"/>
              <a:gd name="connsiteY1-274" fmla="*/ 1727930 h 2854234"/>
              <a:gd name="connsiteX2-275" fmla="*/ 724937 w 725529"/>
              <a:gd name="connsiteY2-276" fmla="*/ 1250406 h 2854234"/>
              <a:gd name="connsiteX3-277" fmla="*/ 22889 w 725529"/>
              <a:gd name="connsiteY3-278" fmla="*/ 1125309 h 2854234"/>
              <a:gd name="connsiteX4-279" fmla="*/ 264644 w 725529"/>
              <a:gd name="connsiteY4-280" fmla="*/ 0 h 2854234"/>
              <a:gd name="connsiteX0-281" fmla="*/ 43202 w 768731"/>
              <a:gd name="connsiteY0-282" fmla="*/ 2975683 h 2975683"/>
              <a:gd name="connsiteX1-283" fmla="*/ 768731 w 768731"/>
              <a:gd name="connsiteY1-284" fmla="*/ 1849379 h 2975683"/>
              <a:gd name="connsiteX2-285" fmla="*/ 768139 w 768731"/>
              <a:gd name="connsiteY2-286" fmla="*/ 1371855 h 2975683"/>
              <a:gd name="connsiteX3-287" fmla="*/ 66091 w 768731"/>
              <a:gd name="connsiteY3-288" fmla="*/ 1246758 h 2975683"/>
              <a:gd name="connsiteX4-289" fmla="*/ 0 w 768731"/>
              <a:gd name="connsiteY4-290" fmla="*/ 0 h 2975683"/>
              <a:gd name="connsiteX0-291" fmla="*/ 54072 w 779601"/>
              <a:gd name="connsiteY0-292" fmla="*/ 2975683 h 2975683"/>
              <a:gd name="connsiteX1-293" fmla="*/ 779601 w 779601"/>
              <a:gd name="connsiteY1-294" fmla="*/ 1849379 h 2975683"/>
              <a:gd name="connsiteX2-295" fmla="*/ 779009 w 779601"/>
              <a:gd name="connsiteY2-296" fmla="*/ 1371855 h 2975683"/>
              <a:gd name="connsiteX3-297" fmla="*/ 0 w 779601"/>
              <a:gd name="connsiteY3-298" fmla="*/ 1277120 h 2975683"/>
              <a:gd name="connsiteX4-299" fmla="*/ 10870 w 779601"/>
              <a:gd name="connsiteY4-300" fmla="*/ 0 h 2975683"/>
              <a:gd name="connsiteX0-301" fmla="*/ 62442 w 787971"/>
              <a:gd name="connsiteY0-302" fmla="*/ 2763147 h 2763147"/>
              <a:gd name="connsiteX1-303" fmla="*/ 787971 w 787971"/>
              <a:gd name="connsiteY1-304" fmla="*/ 1636843 h 2763147"/>
              <a:gd name="connsiteX2-305" fmla="*/ 787379 w 787971"/>
              <a:gd name="connsiteY2-306" fmla="*/ 1159319 h 2763147"/>
              <a:gd name="connsiteX3-307" fmla="*/ 8370 w 787971"/>
              <a:gd name="connsiteY3-308" fmla="*/ 1064584 h 2763147"/>
              <a:gd name="connsiteX4-309" fmla="*/ 0 w 787971"/>
              <a:gd name="connsiteY4-310" fmla="*/ 0 h 2763147"/>
              <a:gd name="connsiteX0-311" fmla="*/ 54072 w 779601"/>
              <a:gd name="connsiteY0-312" fmla="*/ 2808691 h 2808691"/>
              <a:gd name="connsiteX1-313" fmla="*/ 779601 w 779601"/>
              <a:gd name="connsiteY1-314" fmla="*/ 1682387 h 2808691"/>
              <a:gd name="connsiteX2-315" fmla="*/ 779009 w 779601"/>
              <a:gd name="connsiteY2-316" fmla="*/ 1204863 h 2808691"/>
              <a:gd name="connsiteX3-317" fmla="*/ 0 w 779601"/>
              <a:gd name="connsiteY3-318" fmla="*/ 1110128 h 2808691"/>
              <a:gd name="connsiteX4-319" fmla="*/ 30111 w 779601"/>
              <a:gd name="connsiteY4-320" fmla="*/ 0 h 2808691"/>
              <a:gd name="connsiteX0-321" fmla="*/ 62830 w 788359"/>
              <a:gd name="connsiteY0-322" fmla="*/ 2896348 h 2896348"/>
              <a:gd name="connsiteX1-323" fmla="*/ 788359 w 788359"/>
              <a:gd name="connsiteY1-324" fmla="*/ 1770044 h 2896348"/>
              <a:gd name="connsiteX2-325" fmla="*/ 787767 w 788359"/>
              <a:gd name="connsiteY2-326" fmla="*/ 1292520 h 2896348"/>
              <a:gd name="connsiteX3-327" fmla="*/ 8758 w 788359"/>
              <a:gd name="connsiteY3-328" fmla="*/ 1197785 h 2896348"/>
              <a:gd name="connsiteX4-329" fmla="*/ 38869 w 788359"/>
              <a:gd name="connsiteY4-330" fmla="*/ 87657 h 2896348"/>
              <a:gd name="connsiteX5" fmla="*/ 0 w 788359"/>
              <a:gd name="connsiteY5" fmla="*/ 69436 h 2896348"/>
              <a:gd name="connsiteX0-331" fmla="*/ 54072 w 818640"/>
              <a:gd name="connsiteY0-332" fmla="*/ 3100173 h 3100173"/>
              <a:gd name="connsiteX1-333" fmla="*/ 779601 w 818640"/>
              <a:gd name="connsiteY1-334" fmla="*/ 1973869 h 3100173"/>
              <a:gd name="connsiteX2-335" fmla="*/ 779009 w 818640"/>
              <a:gd name="connsiteY2-336" fmla="*/ 1496345 h 3100173"/>
              <a:gd name="connsiteX3-337" fmla="*/ 0 w 818640"/>
              <a:gd name="connsiteY3-338" fmla="*/ 1401610 h 3100173"/>
              <a:gd name="connsiteX4-339" fmla="*/ 30111 w 818640"/>
              <a:gd name="connsiteY4-340" fmla="*/ 291482 h 3100173"/>
              <a:gd name="connsiteX5-341" fmla="*/ 818579 w 818640"/>
              <a:gd name="connsiteY5-342" fmla="*/ 0 h 3100173"/>
              <a:gd name="connsiteX0-343" fmla="*/ 54072 w 818579"/>
              <a:gd name="connsiteY0-344" fmla="*/ 3100173 h 3100173"/>
              <a:gd name="connsiteX1-345" fmla="*/ 779601 w 818579"/>
              <a:gd name="connsiteY1-346" fmla="*/ 1973869 h 3100173"/>
              <a:gd name="connsiteX2-347" fmla="*/ 779009 w 818579"/>
              <a:gd name="connsiteY2-348" fmla="*/ 1496345 h 3100173"/>
              <a:gd name="connsiteX3-349" fmla="*/ 0 w 818579"/>
              <a:gd name="connsiteY3-350" fmla="*/ 1401610 h 3100173"/>
              <a:gd name="connsiteX4-351" fmla="*/ 30111 w 818579"/>
              <a:gd name="connsiteY4-352" fmla="*/ 291482 h 3100173"/>
              <a:gd name="connsiteX5-353" fmla="*/ 510732 w 818579"/>
              <a:gd name="connsiteY5-354" fmla="*/ 60725 h 3100173"/>
              <a:gd name="connsiteX6" fmla="*/ 818579 w 818579"/>
              <a:gd name="connsiteY6" fmla="*/ 0 h 3100173"/>
              <a:gd name="connsiteX0-355" fmla="*/ 54072 w 779601"/>
              <a:gd name="connsiteY0-356" fmla="*/ 3510065 h 3510065"/>
              <a:gd name="connsiteX1-357" fmla="*/ 779601 w 779601"/>
              <a:gd name="connsiteY1-358" fmla="*/ 2383761 h 3510065"/>
              <a:gd name="connsiteX2-359" fmla="*/ 779009 w 779601"/>
              <a:gd name="connsiteY2-360" fmla="*/ 1906237 h 3510065"/>
              <a:gd name="connsiteX3-361" fmla="*/ 0 w 779601"/>
              <a:gd name="connsiteY3-362" fmla="*/ 1811502 h 3510065"/>
              <a:gd name="connsiteX4-363" fmla="*/ 30111 w 779601"/>
              <a:gd name="connsiteY4-364" fmla="*/ 701374 h 3510065"/>
              <a:gd name="connsiteX5-365" fmla="*/ 510732 w 779601"/>
              <a:gd name="connsiteY5-366" fmla="*/ 470617 h 3510065"/>
              <a:gd name="connsiteX6-367" fmla="*/ 760858 w 779601"/>
              <a:gd name="connsiteY6-368" fmla="*/ 0 h 3510065"/>
              <a:gd name="connsiteX0-369" fmla="*/ 54072 w 809403"/>
              <a:gd name="connsiteY0-370" fmla="*/ 3510065 h 3510065"/>
              <a:gd name="connsiteX1-371" fmla="*/ 779601 w 809403"/>
              <a:gd name="connsiteY1-372" fmla="*/ 2383761 h 3510065"/>
              <a:gd name="connsiteX2-373" fmla="*/ 779009 w 809403"/>
              <a:gd name="connsiteY2-374" fmla="*/ 1906237 h 3510065"/>
              <a:gd name="connsiteX3-375" fmla="*/ 0 w 809403"/>
              <a:gd name="connsiteY3-376" fmla="*/ 1811502 h 3510065"/>
              <a:gd name="connsiteX4-377" fmla="*/ 30111 w 809403"/>
              <a:gd name="connsiteY4-378" fmla="*/ 701374 h 3510065"/>
              <a:gd name="connsiteX5-379" fmla="*/ 760857 w 809403"/>
              <a:gd name="connsiteY5-380" fmla="*/ 440254 h 3510065"/>
              <a:gd name="connsiteX6-381" fmla="*/ 760858 w 809403"/>
              <a:gd name="connsiteY6-382" fmla="*/ 0 h 3510065"/>
              <a:gd name="connsiteX0-383" fmla="*/ 54072 w 809403"/>
              <a:gd name="connsiteY0-384" fmla="*/ 3510065 h 3510065"/>
              <a:gd name="connsiteX1-385" fmla="*/ 779601 w 809403"/>
              <a:gd name="connsiteY1-386" fmla="*/ 2383761 h 3510065"/>
              <a:gd name="connsiteX2-387" fmla="*/ 779009 w 809403"/>
              <a:gd name="connsiteY2-388" fmla="*/ 1906237 h 3510065"/>
              <a:gd name="connsiteX3-389" fmla="*/ 0 w 809403"/>
              <a:gd name="connsiteY3-390" fmla="*/ 1811502 h 3510065"/>
              <a:gd name="connsiteX4-391" fmla="*/ 30111 w 809403"/>
              <a:gd name="connsiteY4-392" fmla="*/ 701374 h 3510065"/>
              <a:gd name="connsiteX5-393" fmla="*/ 760857 w 809403"/>
              <a:gd name="connsiteY5-394" fmla="*/ 440254 h 3510065"/>
              <a:gd name="connsiteX6-395" fmla="*/ 760858 w 809403"/>
              <a:gd name="connsiteY6-396" fmla="*/ 0 h 3510065"/>
              <a:gd name="connsiteX0-397" fmla="*/ 54072 w 779601"/>
              <a:gd name="connsiteY0-398" fmla="*/ 3510065 h 3510065"/>
              <a:gd name="connsiteX1-399" fmla="*/ 779601 w 779601"/>
              <a:gd name="connsiteY1-400" fmla="*/ 2383761 h 3510065"/>
              <a:gd name="connsiteX2-401" fmla="*/ 779009 w 779601"/>
              <a:gd name="connsiteY2-402" fmla="*/ 1906237 h 3510065"/>
              <a:gd name="connsiteX3-403" fmla="*/ 0 w 779601"/>
              <a:gd name="connsiteY3-404" fmla="*/ 1811502 h 3510065"/>
              <a:gd name="connsiteX4-405" fmla="*/ 30111 w 779601"/>
              <a:gd name="connsiteY4-406" fmla="*/ 701374 h 3510065"/>
              <a:gd name="connsiteX5-407" fmla="*/ 760857 w 779601"/>
              <a:gd name="connsiteY5-408" fmla="*/ 440254 h 3510065"/>
              <a:gd name="connsiteX6-409" fmla="*/ 760858 w 779601"/>
              <a:gd name="connsiteY6-410" fmla="*/ 0 h 3510065"/>
              <a:gd name="connsiteX0-411" fmla="*/ 54072 w 779601"/>
              <a:gd name="connsiteY0-412" fmla="*/ 3579994 h 3579994"/>
              <a:gd name="connsiteX1-413" fmla="*/ 779601 w 779601"/>
              <a:gd name="connsiteY1-414" fmla="*/ 2453690 h 3579994"/>
              <a:gd name="connsiteX2-415" fmla="*/ 779009 w 779601"/>
              <a:gd name="connsiteY2-416" fmla="*/ 1976166 h 3579994"/>
              <a:gd name="connsiteX3-417" fmla="*/ 0 w 779601"/>
              <a:gd name="connsiteY3-418" fmla="*/ 1881431 h 3579994"/>
              <a:gd name="connsiteX4-419" fmla="*/ 30111 w 779601"/>
              <a:gd name="connsiteY4-420" fmla="*/ 771303 h 3579994"/>
              <a:gd name="connsiteX5-421" fmla="*/ 760857 w 779601"/>
              <a:gd name="connsiteY5-422" fmla="*/ 510183 h 3579994"/>
              <a:gd name="connsiteX6-423" fmla="*/ 760858 w 779601"/>
              <a:gd name="connsiteY6-424" fmla="*/ 69929 h 3579994"/>
              <a:gd name="connsiteX0-425" fmla="*/ 54072 w 779601"/>
              <a:gd name="connsiteY0-426" fmla="*/ 3707204 h 3707204"/>
              <a:gd name="connsiteX1-427" fmla="*/ 779601 w 779601"/>
              <a:gd name="connsiteY1-428" fmla="*/ 2580900 h 3707204"/>
              <a:gd name="connsiteX2-429" fmla="*/ 779009 w 779601"/>
              <a:gd name="connsiteY2-430" fmla="*/ 2103376 h 3707204"/>
              <a:gd name="connsiteX3-431" fmla="*/ 0 w 779601"/>
              <a:gd name="connsiteY3-432" fmla="*/ 2008641 h 3707204"/>
              <a:gd name="connsiteX4-433" fmla="*/ 30111 w 779601"/>
              <a:gd name="connsiteY4-434" fmla="*/ 898513 h 3707204"/>
              <a:gd name="connsiteX5-435" fmla="*/ 760857 w 779601"/>
              <a:gd name="connsiteY5-436" fmla="*/ 637393 h 3707204"/>
              <a:gd name="connsiteX6-437" fmla="*/ 739550 w 779601"/>
              <a:gd name="connsiteY6-438" fmla="*/ 59300 h 3707204"/>
              <a:gd name="connsiteX0-439" fmla="*/ 54072 w 779601"/>
              <a:gd name="connsiteY0-440" fmla="*/ 3647904 h 3647904"/>
              <a:gd name="connsiteX1-441" fmla="*/ 779601 w 779601"/>
              <a:gd name="connsiteY1-442" fmla="*/ 2521600 h 3647904"/>
              <a:gd name="connsiteX2-443" fmla="*/ 779009 w 779601"/>
              <a:gd name="connsiteY2-444" fmla="*/ 2044076 h 3647904"/>
              <a:gd name="connsiteX3-445" fmla="*/ 0 w 779601"/>
              <a:gd name="connsiteY3-446" fmla="*/ 1949341 h 3647904"/>
              <a:gd name="connsiteX4-447" fmla="*/ 30111 w 779601"/>
              <a:gd name="connsiteY4-448" fmla="*/ 839213 h 3647904"/>
              <a:gd name="connsiteX5-449" fmla="*/ 760857 w 779601"/>
              <a:gd name="connsiteY5-450" fmla="*/ 578093 h 3647904"/>
              <a:gd name="connsiteX6-451" fmla="*/ 739550 w 779601"/>
              <a:gd name="connsiteY6-452" fmla="*/ 0 h 3647904"/>
              <a:gd name="connsiteX0-453" fmla="*/ 54072 w 779601"/>
              <a:gd name="connsiteY0-454" fmla="*/ 3557132 h 3557132"/>
              <a:gd name="connsiteX1-455" fmla="*/ 779601 w 779601"/>
              <a:gd name="connsiteY1-456" fmla="*/ 2430828 h 3557132"/>
              <a:gd name="connsiteX2-457" fmla="*/ 779009 w 779601"/>
              <a:gd name="connsiteY2-458" fmla="*/ 1953304 h 3557132"/>
              <a:gd name="connsiteX3-459" fmla="*/ 0 w 779601"/>
              <a:gd name="connsiteY3-460" fmla="*/ 1858569 h 3557132"/>
              <a:gd name="connsiteX4-461" fmla="*/ 30111 w 779601"/>
              <a:gd name="connsiteY4-462" fmla="*/ 748441 h 3557132"/>
              <a:gd name="connsiteX5-463" fmla="*/ 760857 w 779601"/>
              <a:gd name="connsiteY5-464" fmla="*/ 487321 h 3557132"/>
              <a:gd name="connsiteX6-465" fmla="*/ 739550 w 779601"/>
              <a:gd name="connsiteY6-466" fmla="*/ 0 h 3557132"/>
              <a:gd name="connsiteX0-467" fmla="*/ 54072 w 779601"/>
              <a:gd name="connsiteY0-468" fmla="*/ 3557132 h 3557132"/>
              <a:gd name="connsiteX1-469" fmla="*/ 779601 w 779601"/>
              <a:gd name="connsiteY1-470" fmla="*/ 2430828 h 3557132"/>
              <a:gd name="connsiteX2-471" fmla="*/ 779009 w 779601"/>
              <a:gd name="connsiteY2-472" fmla="*/ 1953304 h 3557132"/>
              <a:gd name="connsiteX3-473" fmla="*/ 0 w 779601"/>
              <a:gd name="connsiteY3-474" fmla="*/ 1858569 h 3557132"/>
              <a:gd name="connsiteX4-475" fmla="*/ 30111 w 779601"/>
              <a:gd name="connsiteY4-476" fmla="*/ 748441 h 3557132"/>
              <a:gd name="connsiteX5-477" fmla="*/ 760857 w 779601"/>
              <a:gd name="connsiteY5-478" fmla="*/ 487321 h 3557132"/>
              <a:gd name="connsiteX6-479" fmla="*/ 739550 w 779601"/>
              <a:gd name="connsiteY6-480" fmla="*/ 0 h 3557132"/>
              <a:gd name="connsiteX0-481" fmla="*/ 54072 w 779601"/>
              <a:gd name="connsiteY0-482" fmla="*/ 3580665 h 3580665"/>
              <a:gd name="connsiteX1-483" fmla="*/ 779601 w 779601"/>
              <a:gd name="connsiteY1-484" fmla="*/ 2454361 h 3580665"/>
              <a:gd name="connsiteX2-485" fmla="*/ 779009 w 779601"/>
              <a:gd name="connsiteY2-486" fmla="*/ 1976837 h 3580665"/>
              <a:gd name="connsiteX3-487" fmla="*/ 0 w 779601"/>
              <a:gd name="connsiteY3-488" fmla="*/ 1882102 h 3580665"/>
              <a:gd name="connsiteX4-489" fmla="*/ 30111 w 779601"/>
              <a:gd name="connsiteY4-490" fmla="*/ 771974 h 3580665"/>
              <a:gd name="connsiteX5-491" fmla="*/ 760857 w 779601"/>
              <a:gd name="connsiteY5-492" fmla="*/ 510854 h 3580665"/>
              <a:gd name="connsiteX6-493" fmla="*/ 735288 w 779601"/>
              <a:gd name="connsiteY6-494" fmla="*/ 0 h 3580665"/>
              <a:gd name="connsiteX0-495" fmla="*/ 54072 w 779601"/>
              <a:gd name="connsiteY0-496" fmla="*/ 3580665 h 3580665"/>
              <a:gd name="connsiteX1-497" fmla="*/ 779601 w 779601"/>
              <a:gd name="connsiteY1-498" fmla="*/ 2454361 h 3580665"/>
              <a:gd name="connsiteX2-499" fmla="*/ 779009 w 779601"/>
              <a:gd name="connsiteY2-500" fmla="*/ 1976837 h 3580665"/>
              <a:gd name="connsiteX3-501" fmla="*/ 0 w 779601"/>
              <a:gd name="connsiteY3-502" fmla="*/ 1882102 h 3580665"/>
              <a:gd name="connsiteX4-503" fmla="*/ 30111 w 779601"/>
              <a:gd name="connsiteY4-504" fmla="*/ 771974 h 3580665"/>
              <a:gd name="connsiteX5-505" fmla="*/ 760857 w 779601"/>
              <a:gd name="connsiteY5-506" fmla="*/ 510854 h 3580665"/>
              <a:gd name="connsiteX6-507" fmla="*/ 735288 w 779601"/>
              <a:gd name="connsiteY6-508" fmla="*/ 0 h 3580665"/>
              <a:gd name="connsiteX0-509" fmla="*/ 23961 w 749490"/>
              <a:gd name="connsiteY0-510" fmla="*/ 3580665 h 3580665"/>
              <a:gd name="connsiteX1-511" fmla="*/ 749490 w 749490"/>
              <a:gd name="connsiteY1-512" fmla="*/ 2454361 h 3580665"/>
              <a:gd name="connsiteX2-513" fmla="*/ 748898 w 749490"/>
              <a:gd name="connsiteY2-514" fmla="*/ 1976837 h 3580665"/>
              <a:gd name="connsiteX3-515" fmla="*/ 46599 w 749490"/>
              <a:gd name="connsiteY3-516" fmla="*/ 1835036 h 3580665"/>
              <a:gd name="connsiteX4-517" fmla="*/ 0 w 749490"/>
              <a:gd name="connsiteY4-518" fmla="*/ 771974 h 3580665"/>
              <a:gd name="connsiteX5-519" fmla="*/ 730746 w 749490"/>
              <a:gd name="connsiteY5-520" fmla="*/ 510854 h 3580665"/>
              <a:gd name="connsiteX6-521" fmla="*/ 705177 w 749490"/>
              <a:gd name="connsiteY6-522" fmla="*/ 0 h 3580665"/>
              <a:gd name="connsiteX0-523" fmla="*/ 23961 w 749490"/>
              <a:gd name="connsiteY0-524" fmla="*/ 3580665 h 3580665"/>
              <a:gd name="connsiteX1-525" fmla="*/ 749490 w 749490"/>
              <a:gd name="connsiteY1-526" fmla="*/ 2454361 h 3580665"/>
              <a:gd name="connsiteX2-527" fmla="*/ 748898 w 749490"/>
              <a:gd name="connsiteY2-528" fmla="*/ 1976837 h 3580665"/>
              <a:gd name="connsiteX3-529" fmla="*/ 46599 w 749490"/>
              <a:gd name="connsiteY3-530" fmla="*/ 1835036 h 3580665"/>
              <a:gd name="connsiteX4-531" fmla="*/ 0 w 749490"/>
              <a:gd name="connsiteY4-532" fmla="*/ 771974 h 3580665"/>
              <a:gd name="connsiteX5-533" fmla="*/ 730746 w 749490"/>
              <a:gd name="connsiteY5-534" fmla="*/ 510854 h 3580665"/>
              <a:gd name="connsiteX6-535" fmla="*/ 705177 w 749490"/>
              <a:gd name="connsiteY6-536" fmla="*/ 0 h 3580665"/>
              <a:gd name="connsiteX0-537" fmla="*/ 23961 w 749490"/>
              <a:gd name="connsiteY0-538" fmla="*/ 3580665 h 3580665"/>
              <a:gd name="connsiteX1-539" fmla="*/ 749490 w 749490"/>
              <a:gd name="connsiteY1-540" fmla="*/ 2454361 h 3580665"/>
              <a:gd name="connsiteX2-541" fmla="*/ 748898 w 749490"/>
              <a:gd name="connsiteY2-542" fmla="*/ 1976837 h 3580665"/>
              <a:gd name="connsiteX3-543" fmla="*/ 46599 w 749490"/>
              <a:gd name="connsiteY3-544" fmla="*/ 1835036 h 3580665"/>
              <a:gd name="connsiteX4-545" fmla="*/ 0 w 749490"/>
              <a:gd name="connsiteY4-546" fmla="*/ 771974 h 3580665"/>
              <a:gd name="connsiteX5-547" fmla="*/ 730746 w 749490"/>
              <a:gd name="connsiteY5-548" fmla="*/ 510854 h 3580665"/>
              <a:gd name="connsiteX6-549" fmla="*/ 705177 w 749490"/>
              <a:gd name="connsiteY6-550" fmla="*/ 0 h 3580665"/>
              <a:gd name="connsiteX0-551" fmla="*/ 23961 w 749490"/>
              <a:gd name="connsiteY0-552" fmla="*/ 3580665 h 3580665"/>
              <a:gd name="connsiteX1-553" fmla="*/ 749490 w 749490"/>
              <a:gd name="connsiteY1-554" fmla="*/ 2454361 h 3580665"/>
              <a:gd name="connsiteX2-555" fmla="*/ 748898 w 749490"/>
              <a:gd name="connsiteY2-556" fmla="*/ 1976837 h 3580665"/>
              <a:gd name="connsiteX3-557" fmla="*/ 67907 w 749490"/>
              <a:gd name="connsiteY3-558" fmla="*/ 1835036 h 3580665"/>
              <a:gd name="connsiteX4-559" fmla="*/ 0 w 749490"/>
              <a:gd name="connsiteY4-560" fmla="*/ 771974 h 3580665"/>
              <a:gd name="connsiteX5-561" fmla="*/ 730746 w 749490"/>
              <a:gd name="connsiteY5-562" fmla="*/ 510854 h 3580665"/>
              <a:gd name="connsiteX6-563" fmla="*/ 705177 w 749490"/>
              <a:gd name="connsiteY6-564" fmla="*/ 0 h 3580665"/>
              <a:gd name="connsiteX0-565" fmla="*/ 23961 w 749490"/>
              <a:gd name="connsiteY0-566" fmla="*/ 3580665 h 3580665"/>
              <a:gd name="connsiteX1-567" fmla="*/ 749490 w 749490"/>
              <a:gd name="connsiteY1-568" fmla="*/ 2454361 h 3580665"/>
              <a:gd name="connsiteX2-569" fmla="*/ 748898 w 749490"/>
              <a:gd name="connsiteY2-570" fmla="*/ 1976837 h 3580665"/>
              <a:gd name="connsiteX3-571" fmla="*/ 12505 w 749490"/>
              <a:gd name="connsiteY3-572" fmla="*/ 1835036 h 3580665"/>
              <a:gd name="connsiteX4-573" fmla="*/ 0 w 749490"/>
              <a:gd name="connsiteY4-574" fmla="*/ 771974 h 3580665"/>
              <a:gd name="connsiteX5-575" fmla="*/ 730746 w 749490"/>
              <a:gd name="connsiteY5-576" fmla="*/ 510854 h 3580665"/>
              <a:gd name="connsiteX6-577" fmla="*/ 705177 w 749490"/>
              <a:gd name="connsiteY6-578" fmla="*/ 0 h 3580665"/>
              <a:gd name="connsiteX0-579" fmla="*/ 23961 w 749490"/>
              <a:gd name="connsiteY0-580" fmla="*/ 3580665 h 3580665"/>
              <a:gd name="connsiteX1-581" fmla="*/ 749490 w 749490"/>
              <a:gd name="connsiteY1-582" fmla="*/ 2454361 h 3580665"/>
              <a:gd name="connsiteX2-583" fmla="*/ 748898 w 749490"/>
              <a:gd name="connsiteY2-584" fmla="*/ 1976837 h 3580665"/>
              <a:gd name="connsiteX3-585" fmla="*/ 12505 w 749490"/>
              <a:gd name="connsiteY3-586" fmla="*/ 1835036 h 3580665"/>
              <a:gd name="connsiteX4-587" fmla="*/ 0 w 749490"/>
              <a:gd name="connsiteY4-588" fmla="*/ 771974 h 3580665"/>
              <a:gd name="connsiteX5-589" fmla="*/ 730746 w 749490"/>
              <a:gd name="connsiteY5-590" fmla="*/ 510854 h 3580665"/>
              <a:gd name="connsiteX6-591" fmla="*/ 705177 w 749490"/>
              <a:gd name="connsiteY6-592" fmla="*/ 0 h 3580665"/>
              <a:gd name="connsiteX0-593" fmla="*/ 23961 w 749490"/>
              <a:gd name="connsiteY0-594" fmla="*/ 3580665 h 3580665"/>
              <a:gd name="connsiteX1-595" fmla="*/ 749490 w 749490"/>
              <a:gd name="connsiteY1-596" fmla="*/ 2454361 h 3580665"/>
              <a:gd name="connsiteX2-597" fmla="*/ 748898 w 749490"/>
              <a:gd name="connsiteY2-598" fmla="*/ 1976837 h 3580665"/>
              <a:gd name="connsiteX3-599" fmla="*/ 42337 w 749490"/>
              <a:gd name="connsiteY3-600" fmla="*/ 1835036 h 3580665"/>
              <a:gd name="connsiteX4-601" fmla="*/ 0 w 749490"/>
              <a:gd name="connsiteY4-602" fmla="*/ 771974 h 3580665"/>
              <a:gd name="connsiteX5-603" fmla="*/ 730746 w 749490"/>
              <a:gd name="connsiteY5-604" fmla="*/ 510854 h 3580665"/>
              <a:gd name="connsiteX6-605" fmla="*/ 705177 w 749490"/>
              <a:gd name="connsiteY6-606" fmla="*/ 0 h 3580665"/>
              <a:gd name="connsiteX0-607" fmla="*/ 49532 w 775061"/>
              <a:gd name="connsiteY0-608" fmla="*/ 3580665 h 3580665"/>
              <a:gd name="connsiteX1-609" fmla="*/ 775061 w 775061"/>
              <a:gd name="connsiteY1-610" fmla="*/ 2454361 h 3580665"/>
              <a:gd name="connsiteX2-611" fmla="*/ 774469 w 775061"/>
              <a:gd name="connsiteY2-612" fmla="*/ 1976837 h 3580665"/>
              <a:gd name="connsiteX3-613" fmla="*/ 67908 w 775061"/>
              <a:gd name="connsiteY3-614" fmla="*/ 1835036 h 3580665"/>
              <a:gd name="connsiteX4-615" fmla="*/ 0 w 775061"/>
              <a:gd name="connsiteY4-616" fmla="*/ 775336 h 3580665"/>
              <a:gd name="connsiteX5-617" fmla="*/ 756317 w 775061"/>
              <a:gd name="connsiteY5-618" fmla="*/ 510854 h 3580665"/>
              <a:gd name="connsiteX6-619" fmla="*/ 730748 w 775061"/>
              <a:gd name="connsiteY6-620" fmla="*/ 0 h 3580665"/>
              <a:gd name="connsiteX0-621" fmla="*/ 49532 w 775061"/>
              <a:gd name="connsiteY0-622" fmla="*/ 3580665 h 3580665"/>
              <a:gd name="connsiteX1-623" fmla="*/ 775061 w 775061"/>
              <a:gd name="connsiteY1-624" fmla="*/ 2454361 h 3580665"/>
              <a:gd name="connsiteX2-625" fmla="*/ 774469 w 775061"/>
              <a:gd name="connsiteY2-626" fmla="*/ 1976837 h 3580665"/>
              <a:gd name="connsiteX3-627" fmla="*/ 67908 w 775061"/>
              <a:gd name="connsiteY3-628" fmla="*/ 1835036 h 3580665"/>
              <a:gd name="connsiteX4-629" fmla="*/ 0 w 775061"/>
              <a:gd name="connsiteY4-630" fmla="*/ 775336 h 3580665"/>
              <a:gd name="connsiteX5-631" fmla="*/ 756317 w 775061"/>
              <a:gd name="connsiteY5-632" fmla="*/ 510854 h 3580665"/>
              <a:gd name="connsiteX6-633" fmla="*/ 730748 w 775061"/>
              <a:gd name="connsiteY6-634" fmla="*/ 0 h 3580665"/>
              <a:gd name="connsiteX0-635" fmla="*/ 49532 w 775061"/>
              <a:gd name="connsiteY0-636" fmla="*/ 3580665 h 3580665"/>
              <a:gd name="connsiteX1-637" fmla="*/ 775061 w 775061"/>
              <a:gd name="connsiteY1-638" fmla="*/ 2454361 h 3580665"/>
              <a:gd name="connsiteX2-639" fmla="*/ 774469 w 775061"/>
              <a:gd name="connsiteY2-640" fmla="*/ 1976837 h 3580665"/>
              <a:gd name="connsiteX3-641" fmla="*/ 67908 w 775061"/>
              <a:gd name="connsiteY3-642" fmla="*/ 1835036 h 3580665"/>
              <a:gd name="connsiteX4-643" fmla="*/ 0 w 775061"/>
              <a:gd name="connsiteY4-644" fmla="*/ 775336 h 3580665"/>
              <a:gd name="connsiteX5-645" fmla="*/ 756317 w 775061"/>
              <a:gd name="connsiteY5-646" fmla="*/ 510854 h 3580665"/>
              <a:gd name="connsiteX6-647" fmla="*/ 730748 w 775061"/>
              <a:gd name="connsiteY6-648" fmla="*/ 0 h 3580665"/>
              <a:gd name="connsiteX0-649" fmla="*/ 49532 w 775061"/>
              <a:gd name="connsiteY0-650" fmla="*/ 3580665 h 3580665"/>
              <a:gd name="connsiteX1-651" fmla="*/ 775061 w 775061"/>
              <a:gd name="connsiteY1-652" fmla="*/ 2454361 h 3580665"/>
              <a:gd name="connsiteX2-653" fmla="*/ 774469 w 775061"/>
              <a:gd name="connsiteY2-654" fmla="*/ 1976837 h 3580665"/>
              <a:gd name="connsiteX3-655" fmla="*/ 38076 w 775061"/>
              <a:gd name="connsiteY3-656" fmla="*/ 1835036 h 3580665"/>
              <a:gd name="connsiteX4-657" fmla="*/ 0 w 775061"/>
              <a:gd name="connsiteY4-658" fmla="*/ 775336 h 3580665"/>
              <a:gd name="connsiteX5-659" fmla="*/ 756317 w 775061"/>
              <a:gd name="connsiteY5-660" fmla="*/ 510854 h 3580665"/>
              <a:gd name="connsiteX6-661" fmla="*/ 730748 w 775061"/>
              <a:gd name="connsiteY6-662" fmla="*/ 0 h 3580665"/>
              <a:gd name="connsiteX0-663" fmla="*/ 49532 w 775061"/>
              <a:gd name="connsiteY0-664" fmla="*/ 3580665 h 3580665"/>
              <a:gd name="connsiteX1-665" fmla="*/ 775061 w 775061"/>
              <a:gd name="connsiteY1-666" fmla="*/ 2454361 h 3580665"/>
              <a:gd name="connsiteX2-667" fmla="*/ 774469 w 775061"/>
              <a:gd name="connsiteY2-668" fmla="*/ 1976837 h 3580665"/>
              <a:gd name="connsiteX3-669" fmla="*/ 38076 w 775061"/>
              <a:gd name="connsiteY3-670" fmla="*/ 1835036 h 3580665"/>
              <a:gd name="connsiteX4-671" fmla="*/ 0 w 775061"/>
              <a:gd name="connsiteY4-672" fmla="*/ 775336 h 3580665"/>
              <a:gd name="connsiteX5-673" fmla="*/ 756317 w 775061"/>
              <a:gd name="connsiteY5-674" fmla="*/ 510854 h 3580665"/>
              <a:gd name="connsiteX6-675" fmla="*/ 730748 w 775061"/>
              <a:gd name="connsiteY6-676" fmla="*/ 0 h 3580665"/>
              <a:gd name="connsiteX0-677" fmla="*/ 49532 w 872488"/>
              <a:gd name="connsiteY0-678" fmla="*/ 3580665 h 3580665"/>
              <a:gd name="connsiteX1-679" fmla="*/ 775061 w 872488"/>
              <a:gd name="connsiteY1-680" fmla="*/ 2454361 h 3580665"/>
              <a:gd name="connsiteX2-681" fmla="*/ 872488 w 872488"/>
              <a:gd name="connsiteY2-682" fmla="*/ 2054161 h 3580665"/>
              <a:gd name="connsiteX3-683" fmla="*/ 38076 w 872488"/>
              <a:gd name="connsiteY3-684" fmla="*/ 1835036 h 3580665"/>
              <a:gd name="connsiteX4-685" fmla="*/ 0 w 872488"/>
              <a:gd name="connsiteY4-686" fmla="*/ 775336 h 3580665"/>
              <a:gd name="connsiteX5-687" fmla="*/ 756317 w 872488"/>
              <a:gd name="connsiteY5-688" fmla="*/ 510854 h 3580665"/>
              <a:gd name="connsiteX6-689" fmla="*/ 730748 w 872488"/>
              <a:gd name="connsiteY6-690" fmla="*/ 0 h 3580665"/>
              <a:gd name="connsiteX0-691" fmla="*/ 49532 w 873080"/>
              <a:gd name="connsiteY0-692" fmla="*/ 3580665 h 3580665"/>
              <a:gd name="connsiteX1-693" fmla="*/ 873080 w 873080"/>
              <a:gd name="connsiteY1-694" fmla="*/ 2414018 h 3580665"/>
              <a:gd name="connsiteX2-695" fmla="*/ 872488 w 873080"/>
              <a:gd name="connsiteY2-696" fmla="*/ 2054161 h 3580665"/>
              <a:gd name="connsiteX3-697" fmla="*/ 38076 w 873080"/>
              <a:gd name="connsiteY3-698" fmla="*/ 1835036 h 3580665"/>
              <a:gd name="connsiteX4-699" fmla="*/ 0 w 873080"/>
              <a:gd name="connsiteY4-700" fmla="*/ 775336 h 3580665"/>
              <a:gd name="connsiteX5-701" fmla="*/ 756317 w 873080"/>
              <a:gd name="connsiteY5-702" fmla="*/ 510854 h 3580665"/>
              <a:gd name="connsiteX6-703" fmla="*/ 730748 w 873080"/>
              <a:gd name="connsiteY6-704" fmla="*/ 0 h 3580665"/>
              <a:gd name="connsiteX0-705" fmla="*/ 49532 w 873080"/>
              <a:gd name="connsiteY0-706" fmla="*/ 3580665 h 3580665"/>
              <a:gd name="connsiteX1-707" fmla="*/ 873080 w 873080"/>
              <a:gd name="connsiteY1-708" fmla="*/ 2414018 h 3580665"/>
              <a:gd name="connsiteX2-709" fmla="*/ 872488 w 873080"/>
              <a:gd name="connsiteY2-710" fmla="*/ 2054161 h 3580665"/>
              <a:gd name="connsiteX3-711" fmla="*/ 38076 w 873080"/>
              <a:gd name="connsiteY3-712" fmla="*/ 1835036 h 3580665"/>
              <a:gd name="connsiteX4-713" fmla="*/ 0 w 873080"/>
              <a:gd name="connsiteY4-714" fmla="*/ 775336 h 3580665"/>
              <a:gd name="connsiteX5-715" fmla="*/ 730748 w 873080"/>
              <a:gd name="connsiteY5-716" fmla="*/ 0 h 3580665"/>
              <a:gd name="connsiteX0-717" fmla="*/ 12167 w 835715"/>
              <a:gd name="connsiteY0-718" fmla="*/ 3580665 h 3580665"/>
              <a:gd name="connsiteX1-719" fmla="*/ 835715 w 835715"/>
              <a:gd name="connsiteY1-720" fmla="*/ 2414018 h 3580665"/>
              <a:gd name="connsiteX2-721" fmla="*/ 835123 w 835715"/>
              <a:gd name="connsiteY2-722" fmla="*/ 2054161 h 3580665"/>
              <a:gd name="connsiteX3-723" fmla="*/ 711 w 835715"/>
              <a:gd name="connsiteY3-724" fmla="*/ 1835036 h 3580665"/>
              <a:gd name="connsiteX4-725" fmla="*/ 693383 w 835715"/>
              <a:gd name="connsiteY4-726" fmla="*/ 0 h 3580665"/>
              <a:gd name="connsiteX0-727" fmla="*/ 0 w 823548"/>
              <a:gd name="connsiteY0-728" fmla="*/ 3580665 h 3580665"/>
              <a:gd name="connsiteX1-729" fmla="*/ 823548 w 823548"/>
              <a:gd name="connsiteY1-730" fmla="*/ 2414018 h 3580665"/>
              <a:gd name="connsiteX2-731" fmla="*/ 822956 w 823548"/>
              <a:gd name="connsiteY2-732" fmla="*/ 2054161 h 3580665"/>
              <a:gd name="connsiteX3-733" fmla="*/ 287809 w 823548"/>
              <a:gd name="connsiteY3-734" fmla="*/ 1835036 h 3580665"/>
              <a:gd name="connsiteX4-735" fmla="*/ 681216 w 823548"/>
              <a:gd name="connsiteY4-736" fmla="*/ 0 h 3580665"/>
              <a:gd name="connsiteX0-737" fmla="*/ 0 w 823548"/>
              <a:gd name="connsiteY0-738" fmla="*/ 3569150 h 3569150"/>
              <a:gd name="connsiteX1-739" fmla="*/ 823548 w 823548"/>
              <a:gd name="connsiteY1-740" fmla="*/ 2402503 h 3569150"/>
              <a:gd name="connsiteX2-741" fmla="*/ 822956 w 823548"/>
              <a:gd name="connsiteY2-742" fmla="*/ 2042646 h 3569150"/>
              <a:gd name="connsiteX3-743" fmla="*/ 287809 w 823548"/>
              <a:gd name="connsiteY3-744" fmla="*/ 1823521 h 3569150"/>
              <a:gd name="connsiteX4-745" fmla="*/ 206772 w 823548"/>
              <a:gd name="connsiteY4-746" fmla="*/ 0 h 3569150"/>
              <a:gd name="connsiteX0-747" fmla="*/ 0 w 823548"/>
              <a:gd name="connsiteY0-748" fmla="*/ 3569150 h 3569150"/>
              <a:gd name="connsiteX1-749" fmla="*/ 823548 w 823548"/>
              <a:gd name="connsiteY1-750" fmla="*/ 2402503 h 3569150"/>
              <a:gd name="connsiteX2-751" fmla="*/ 822956 w 823548"/>
              <a:gd name="connsiteY2-752" fmla="*/ 2042646 h 3569150"/>
              <a:gd name="connsiteX3-753" fmla="*/ 287809 w 823548"/>
              <a:gd name="connsiteY3-754" fmla="*/ 1823521 h 3569150"/>
              <a:gd name="connsiteX4-755" fmla="*/ 206772 w 823548"/>
              <a:gd name="connsiteY4-756" fmla="*/ 0 h 3569150"/>
              <a:gd name="connsiteX0-757" fmla="*/ 0 w 823548"/>
              <a:gd name="connsiteY0-758" fmla="*/ 3569150 h 3569150"/>
              <a:gd name="connsiteX1-759" fmla="*/ 823548 w 823548"/>
              <a:gd name="connsiteY1-760" fmla="*/ 2402503 h 3569150"/>
              <a:gd name="connsiteX2-761" fmla="*/ 822956 w 823548"/>
              <a:gd name="connsiteY2-762" fmla="*/ 2042646 h 3569150"/>
              <a:gd name="connsiteX3-763" fmla="*/ 287809 w 823548"/>
              <a:gd name="connsiteY3-764" fmla="*/ 1823521 h 3569150"/>
              <a:gd name="connsiteX4-765" fmla="*/ 126482 w 823548"/>
              <a:gd name="connsiteY4-766" fmla="*/ 0 h 3569150"/>
              <a:gd name="connsiteX0-767" fmla="*/ 0 w 823548"/>
              <a:gd name="connsiteY0-768" fmla="*/ 3569150 h 3569150"/>
              <a:gd name="connsiteX1-769" fmla="*/ 823548 w 823548"/>
              <a:gd name="connsiteY1-770" fmla="*/ 2402503 h 3569150"/>
              <a:gd name="connsiteX2-771" fmla="*/ 822956 w 823548"/>
              <a:gd name="connsiteY2-772" fmla="*/ 2042646 h 3569150"/>
              <a:gd name="connsiteX3-773" fmla="*/ 229416 w 823548"/>
              <a:gd name="connsiteY3-774" fmla="*/ 1817763 h 3569150"/>
              <a:gd name="connsiteX4-775" fmla="*/ 126482 w 823548"/>
              <a:gd name="connsiteY4-776" fmla="*/ 0 h 3569150"/>
              <a:gd name="connsiteX0-777" fmla="*/ 0 w 823548"/>
              <a:gd name="connsiteY0-778" fmla="*/ 3569150 h 3569150"/>
              <a:gd name="connsiteX1-779" fmla="*/ 823548 w 823548"/>
              <a:gd name="connsiteY1-780" fmla="*/ 2402503 h 3569150"/>
              <a:gd name="connsiteX2-781" fmla="*/ 822956 w 823548"/>
              <a:gd name="connsiteY2-782" fmla="*/ 2042646 h 3569150"/>
              <a:gd name="connsiteX3-783" fmla="*/ 178322 w 823548"/>
              <a:gd name="connsiteY3-784" fmla="*/ 1806247 h 3569150"/>
              <a:gd name="connsiteX4-785" fmla="*/ 126482 w 823548"/>
              <a:gd name="connsiteY4-786" fmla="*/ 0 h 3569150"/>
              <a:gd name="connsiteX0-787" fmla="*/ 0 w 823548"/>
              <a:gd name="connsiteY0-788" fmla="*/ 3569150 h 3569150"/>
              <a:gd name="connsiteX1-789" fmla="*/ 823548 w 823548"/>
              <a:gd name="connsiteY1-790" fmla="*/ 2402503 h 3569150"/>
              <a:gd name="connsiteX2-791" fmla="*/ 822956 w 823548"/>
              <a:gd name="connsiteY2-792" fmla="*/ 2042646 h 3569150"/>
              <a:gd name="connsiteX3-793" fmla="*/ 149125 w 823548"/>
              <a:gd name="connsiteY3-794" fmla="*/ 1806247 h 3569150"/>
              <a:gd name="connsiteX4-795" fmla="*/ 126482 w 823548"/>
              <a:gd name="connsiteY4-796" fmla="*/ 0 h 3569150"/>
              <a:gd name="connsiteX0-797" fmla="*/ 0 w 823548"/>
              <a:gd name="connsiteY0-798" fmla="*/ 3569150 h 3569150"/>
              <a:gd name="connsiteX1-799" fmla="*/ 823548 w 823548"/>
              <a:gd name="connsiteY1-800" fmla="*/ 2402503 h 3569150"/>
              <a:gd name="connsiteX2-801" fmla="*/ 822956 w 823548"/>
              <a:gd name="connsiteY2-802" fmla="*/ 2042646 h 3569150"/>
              <a:gd name="connsiteX3-803" fmla="*/ 149125 w 823548"/>
              <a:gd name="connsiteY3-804" fmla="*/ 1829278 h 3569150"/>
              <a:gd name="connsiteX4-805" fmla="*/ 126482 w 823548"/>
              <a:gd name="connsiteY4-806" fmla="*/ 0 h 3569150"/>
              <a:gd name="connsiteX0-807" fmla="*/ 0 w 823548"/>
              <a:gd name="connsiteY0-808" fmla="*/ 3569150 h 3569150"/>
              <a:gd name="connsiteX1-809" fmla="*/ 823548 w 823548"/>
              <a:gd name="connsiteY1-810" fmla="*/ 2402503 h 3569150"/>
              <a:gd name="connsiteX2-811" fmla="*/ 822956 w 823548"/>
              <a:gd name="connsiteY2-812" fmla="*/ 2042646 h 3569150"/>
              <a:gd name="connsiteX3-813" fmla="*/ 149125 w 823548"/>
              <a:gd name="connsiteY3-814" fmla="*/ 1829278 h 3569150"/>
              <a:gd name="connsiteX4-815" fmla="*/ 126482 w 823548"/>
              <a:gd name="connsiteY4-816" fmla="*/ 0 h 3569150"/>
              <a:gd name="connsiteX0-817" fmla="*/ 0 w 823548"/>
              <a:gd name="connsiteY0-818" fmla="*/ 3574908 h 3574908"/>
              <a:gd name="connsiteX1-819" fmla="*/ 823548 w 823548"/>
              <a:gd name="connsiteY1-820" fmla="*/ 2408261 h 3574908"/>
              <a:gd name="connsiteX2-821" fmla="*/ 822956 w 823548"/>
              <a:gd name="connsiteY2-822" fmla="*/ 2048404 h 3574908"/>
              <a:gd name="connsiteX3-823" fmla="*/ 149125 w 823548"/>
              <a:gd name="connsiteY3-824" fmla="*/ 1835036 h 3574908"/>
              <a:gd name="connsiteX4-825" fmla="*/ 68088 w 823548"/>
              <a:gd name="connsiteY4-826" fmla="*/ 0 h 3574908"/>
              <a:gd name="connsiteX0-827" fmla="*/ 0 w 823548"/>
              <a:gd name="connsiteY0-828" fmla="*/ 3574908 h 3574908"/>
              <a:gd name="connsiteX1-829" fmla="*/ 823548 w 823548"/>
              <a:gd name="connsiteY1-830" fmla="*/ 2408261 h 3574908"/>
              <a:gd name="connsiteX2-831" fmla="*/ 822956 w 823548"/>
              <a:gd name="connsiteY2-832" fmla="*/ 2048404 h 3574908"/>
              <a:gd name="connsiteX3-833" fmla="*/ 134526 w 823548"/>
              <a:gd name="connsiteY3-834" fmla="*/ 1858067 h 3574908"/>
              <a:gd name="connsiteX4-835" fmla="*/ 68088 w 823548"/>
              <a:gd name="connsiteY4-836" fmla="*/ 0 h 3574908"/>
              <a:gd name="connsiteX0-837" fmla="*/ 0 w 823548"/>
              <a:gd name="connsiteY0-838" fmla="*/ 3580665 h 3580665"/>
              <a:gd name="connsiteX1-839" fmla="*/ 823548 w 823548"/>
              <a:gd name="connsiteY1-840" fmla="*/ 2414018 h 3580665"/>
              <a:gd name="connsiteX2-841" fmla="*/ 822956 w 823548"/>
              <a:gd name="connsiteY2-842" fmla="*/ 2054161 h 3580665"/>
              <a:gd name="connsiteX3-843" fmla="*/ 134526 w 823548"/>
              <a:gd name="connsiteY3-844" fmla="*/ 1863824 h 3580665"/>
              <a:gd name="connsiteX4-845" fmla="*/ 104584 w 823548"/>
              <a:gd name="connsiteY4-846" fmla="*/ 0 h 3580665"/>
              <a:gd name="connsiteX0-847" fmla="*/ 29101 w 718964"/>
              <a:gd name="connsiteY0-848" fmla="*/ 3359195 h 3359195"/>
              <a:gd name="connsiteX1-849" fmla="*/ 718964 w 718964"/>
              <a:gd name="connsiteY1-850" fmla="*/ 2414018 h 3359195"/>
              <a:gd name="connsiteX2-851" fmla="*/ 718372 w 718964"/>
              <a:gd name="connsiteY2-852" fmla="*/ 2054161 h 3359195"/>
              <a:gd name="connsiteX3-853" fmla="*/ 29942 w 718964"/>
              <a:gd name="connsiteY3-854" fmla="*/ 1863824 h 3359195"/>
              <a:gd name="connsiteX4-855" fmla="*/ 0 w 718964"/>
              <a:gd name="connsiteY4-856" fmla="*/ 0 h 3359195"/>
              <a:gd name="connsiteX0-857" fmla="*/ 15733 w 705596"/>
              <a:gd name="connsiteY0-858" fmla="*/ 2968987 h 2968987"/>
              <a:gd name="connsiteX1-859" fmla="*/ 705596 w 705596"/>
              <a:gd name="connsiteY1-860" fmla="*/ 2023810 h 2968987"/>
              <a:gd name="connsiteX2-861" fmla="*/ 705004 w 705596"/>
              <a:gd name="connsiteY2-862" fmla="*/ 1663953 h 2968987"/>
              <a:gd name="connsiteX3-863" fmla="*/ 16574 w 705596"/>
              <a:gd name="connsiteY3-864" fmla="*/ 1473616 h 2968987"/>
              <a:gd name="connsiteX4-865" fmla="*/ 0 w 705596"/>
              <a:gd name="connsiteY4-866" fmla="*/ 0 h 2968987"/>
              <a:gd name="connsiteX0-867" fmla="*/ 21024 w 710887"/>
              <a:gd name="connsiteY0-868" fmla="*/ 3027431 h 3027431"/>
              <a:gd name="connsiteX1-869" fmla="*/ 710887 w 710887"/>
              <a:gd name="connsiteY1-870" fmla="*/ 2082254 h 3027431"/>
              <a:gd name="connsiteX2-871" fmla="*/ 710295 w 710887"/>
              <a:gd name="connsiteY2-872" fmla="*/ 1722397 h 3027431"/>
              <a:gd name="connsiteX3-873" fmla="*/ 21865 w 710887"/>
              <a:gd name="connsiteY3-874" fmla="*/ 1532060 h 3027431"/>
              <a:gd name="connsiteX4-875" fmla="*/ 0 w 710887"/>
              <a:gd name="connsiteY4-876" fmla="*/ 0 h 3027431"/>
              <a:gd name="connsiteX0-877" fmla="*/ 34392 w 710887"/>
              <a:gd name="connsiteY0-878" fmla="*/ 2943061 h 2943061"/>
              <a:gd name="connsiteX1-879" fmla="*/ 710887 w 710887"/>
              <a:gd name="connsiteY1-880" fmla="*/ 2082254 h 2943061"/>
              <a:gd name="connsiteX2-881" fmla="*/ 710295 w 710887"/>
              <a:gd name="connsiteY2-882" fmla="*/ 1722397 h 2943061"/>
              <a:gd name="connsiteX3-883" fmla="*/ 21865 w 710887"/>
              <a:gd name="connsiteY3-884" fmla="*/ 1532060 h 2943061"/>
              <a:gd name="connsiteX4-885" fmla="*/ 0 w 710887"/>
              <a:gd name="connsiteY4-886" fmla="*/ 0 h 2943061"/>
              <a:gd name="connsiteX0-887" fmla="*/ 34392 w 710887"/>
              <a:gd name="connsiteY0-888" fmla="*/ 2943061 h 2943061"/>
              <a:gd name="connsiteX1-889" fmla="*/ 710887 w 710887"/>
              <a:gd name="connsiteY1-890" fmla="*/ 2082254 h 2943061"/>
              <a:gd name="connsiteX2-891" fmla="*/ 710295 w 710887"/>
              <a:gd name="connsiteY2-892" fmla="*/ 1722397 h 2943061"/>
              <a:gd name="connsiteX3-893" fmla="*/ 21865 w 710887"/>
              <a:gd name="connsiteY3-894" fmla="*/ 1532060 h 2943061"/>
              <a:gd name="connsiteX4-895" fmla="*/ 0 w 710887"/>
              <a:gd name="connsiteY4-896" fmla="*/ 0 h 2943061"/>
            </a:gdLst>
            <a:ahLst/>
            <a:cxnLst>
              <a:cxn ang="0">
                <a:pos x="connsiteX0-1" y="connsiteY0-2"/>
              </a:cxn>
              <a:cxn ang="0">
                <a:pos x="connsiteX1-3" y="connsiteY1-4"/>
              </a:cxn>
              <a:cxn ang="0">
                <a:pos x="connsiteX2-5" y="connsiteY2-6"/>
              </a:cxn>
              <a:cxn ang="0">
                <a:pos x="connsiteX3-7" y="connsiteY3-8"/>
              </a:cxn>
              <a:cxn ang="0">
                <a:pos x="connsiteX4-129" y="connsiteY4-130"/>
              </a:cxn>
            </a:cxnLst>
            <a:rect l="l" t="t" r="r" b="b"/>
            <a:pathLst>
              <a:path w="710887" h="2943061">
                <a:moveTo>
                  <a:pt x="34392" y="2943061"/>
                </a:moveTo>
                <a:cubicBezTo>
                  <a:pt x="643118" y="2216702"/>
                  <a:pt x="436371" y="2471136"/>
                  <a:pt x="710887" y="2082254"/>
                </a:cubicBezTo>
                <a:cubicBezTo>
                  <a:pt x="710690" y="1923079"/>
                  <a:pt x="710492" y="1881572"/>
                  <a:pt x="710295" y="1722397"/>
                </a:cubicBezTo>
                <a:cubicBezTo>
                  <a:pt x="566067" y="1680698"/>
                  <a:pt x="166093" y="1573759"/>
                  <a:pt x="21865" y="1532060"/>
                </a:cubicBezTo>
                <a:cubicBezTo>
                  <a:pt x="5542" y="849989"/>
                  <a:pt x="1676" y="727768"/>
                  <a:pt x="0" y="0"/>
                </a:cubicBezTo>
              </a:path>
            </a:pathLst>
          </a:custGeom>
          <a:ln w="12700">
            <a:solidFill>
              <a:schemeClr val="tx1"/>
            </a:solidFill>
            <a:tailEnd type="triangle"/>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grpSp>
        <p:nvGrpSpPr>
          <p:cNvPr id="225" name="Group 224"/>
          <p:cNvGrpSpPr/>
          <p:nvPr/>
        </p:nvGrpSpPr>
        <p:grpSpPr>
          <a:xfrm>
            <a:off x="1672399" y="4825035"/>
            <a:ext cx="313044" cy="369332"/>
            <a:chOff x="418816" y="1964112"/>
            <a:chExt cx="313044" cy="369332"/>
          </a:xfrm>
        </p:grpSpPr>
        <p:sp>
          <p:nvSpPr>
            <p:cNvPr id="226" name="Oval 22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227" name="TextBox 226"/>
            <p:cNvSpPr txBox="1"/>
            <p:nvPr/>
          </p:nvSpPr>
          <p:spPr>
            <a:xfrm>
              <a:off x="418816" y="1964112"/>
              <a:ext cx="313044" cy="369332"/>
            </a:xfrm>
            <a:prstGeom prst="rect">
              <a:avLst/>
            </a:prstGeom>
            <a:noFill/>
          </p:spPr>
          <p:txBody>
            <a:bodyPr wrap="none" rtlCol="0">
              <a:spAutoFit/>
            </a:bodyPr>
            <a:lstStyle/>
            <a:p>
              <a:r>
                <a:rPr lang="en-US" dirty="0">
                  <a:latin typeface="Arial" panose="020B0604020202090204"/>
                  <a:cs typeface="Arial" panose="020B0604020202090204"/>
                </a:rPr>
                <a:t>1</a:t>
              </a:r>
            </a:p>
          </p:txBody>
        </p:sp>
      </p:grpSp>
      <p:grpSp>
        <p:nvGrpSpPr>
          <p:cNvPr id="228" name="Group 227"/>
          <p:cNvGrpSpPr/>
          <p:nvPr/>
        </p:nvGrpSpPr>
        <p:grpSpPr>
          <a:xfrm>
            <a:off x="1765227" y="3717809"/>
            <a:ext cx="313044" cy="369332"/>
            <a:chOff x="418816" y="1964112"/>
            <a:chExt cx="313044" cy="369332"/>
          </a:xfrm>
        </p:grpSpPr>
        <p:sp>
          <p:nvSpPr>
            <p:cNvPr id="229" name="Oval 228"/>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230" name="TextBox 229"/>
            <p:cNvSpPr txBox="1"/>
            <p:nvPr/>
          </p:nvSpPr>
          <p:spPr>
            <a:xfrm>
              <a:off x="418816" y="1964112"/>
              <a:ext cx="313044" cy="369332"/>
            </a:xfrm>
            <a:prstGeom prst="rect">
              <a:avLst/>
            </a:prstGeom>
            <a:noFill/>
          </p:spPr>
          <p:txBody>
            <a:bodyPr wrap="none" rtlCol="0">
              <a:spAutoFit/>
            </a:bodyPr>
            <a:lstStyle/>
            <a:p>
              <a:r>
                <a:rPr lang="en-US" dirty="0">
                  <a:latin typeface="Arial" panose="020B0604020202090204"/>
                  <a:cs typeface="Arial" panose="020B0604020202090204"/>
                </a:rPr>
                <a:t>2</a:t>
              </a:r>
            </a:p>
          </p:txBody>
        </p:sp>
      </p:grpSp>
      <p:grpSp>
        <p:nvGrpSpPr>
          <p:cNvPr id="231" name="Group 230"/>
          <p:cNvGrpSpPr/>
          <p:nvPr/>
        </p:nvGrpSpPr>
        <p:grpSpPr>
          <a:xfrm>
            <a:off x="1285507" y="2532088"/>
            <a:ext cx="313044" cy="369332"/>
            <a:chOff x="418816" y="1964112"/>
            <a:chExt cx="313044" cy="369332"/>
          </a:xfrm>
        </p:grpSpPr>
        <p:sp>
          <p:nvSpPr>
            <p:cNvPr id="232" name="Oval 231"/>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233" name="TextBox 232"/>
            <p:cNvSpPr txBox="1"/>
            <p:nvPr/>
          </p:nvSpPr>
          <p:spPr>
            <a:xfrm>
              <a:off x="418816" y="1964112"/>
              <a:ext cx="313044" cy="369332"/>
            </a:xfrm>
            <a:prstGeom prst="rect">
              <a:avLst/>
            </a:prstGeom>
            <a:noFill/>
          </p:spPr>
          <p:txBody>
            <a:bodyPr wrap="none" rtlCol="0">
              <a:spAutoFit/>
            </a:bodyPr>
            <a:lstStyle/>
            <a:p>
              <a:r>
                <a:rPr lang="en-US" dirty="0">
                  <a:latin typeface="Arial" panose="020B0604020202090204"/>
                  <a:cs typeface="Arial" panose="020B0604020202090204"/>
                </a:rPr>
                <a:t>3</a:t>
              </a:r>
            </a:p>
          </p:txBody>
        </p:sp>
      </p:grpSp>
      <p:cxnSp>
        <p:nvCxnSpPr>
          <p:cNvPr id="4" name="Straight Arrow Connector 3"/>
          <p:cNvCxnSpPr/>
          <p:nvPr/>
        </p:nvCxnSpPr>
        <p:spPr bwMode="auto">
          <a:xfrm>
            <a:off x="1635543" y="1382172"/>
            <a:ext cx="36856" cy="1995939"/>
          </a:xfrm>
          <a:prstGeom prst="straightConnector1">
            <a:avLst/>
          </a:prstGeom>
          <a:solidFill>
            <a:schemeClr val="accent1"/>
          </a:solidFill>
          <a:ln w="12700" cap="flat" cmpd="sng" algn="ctr">
            <a:solidFill>
              <a:schemeClr val="tx1"/>
            </a:solidFill>
            <a:prstDash val="solid"/>
            <a:round/>
            <a:headEnd type="triangle"/>
            <a:tailEnd type="triangle"/>
          </a:ln>
          <a:effectLst/>
        </p:spPr>
      </p:cxnSp>
      <p:grpSp>
        <p:nvGrpSpPr>
          <p:cNvPr id="235" name="Group 234"/>
          <p:cNvGrpSpPr/>
          <p:nvPr/>
        </p:nvGrpSpPr>
        <p:grpSpPr>
          <a:xfrm>
            <a:off x="1506590" y="1883932"/>
            <a:ext cx="313044" cy="369332"/>
            <a:chOff x="418816" y="1964112"/>
            <a:chExt cx="313044" cy="369332"/>
          </a:xfrm>
        </p:grpSpPr>
        <p:sp>
          <p:nvSpPr>
            <p:cNvPr id="236" name="Oval 23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237" name="TextBox 236"/>
            <p:cNvSpPr txBox="1"/>
            <p:nvPr/>
          </p:nvSpPr>
          <p:spPr>
            <a:xfrm>
              <a:off x="418816" y="1964112"/>
              <a:ext cx="313044" cy="369332"/>
            </a:xfrm>
            <a:prstGeom prst="rect">
              <a:avLst/>
            </a:prstGeom>
            <a:noFill/>
          </p:spPr>
          <p:txBody>
            <a:bodyPr wrap="none" rtlCol="0">
              <a:spAutoFit/>
            </a:bodyPr>
            <a:lstStyle/>
            <a:p>
              <a:r>
                <a:rPr lang="en-US" dirty="0">
                  <a:latin typeface="Arial" panose="020B0604020202090204"/>
                  <a:cs typeface="Arial" panose="020B0604020202090204"/>
                </a:rPr>
                <a:t>4</a:t>
              </a:r>
            </a:p>
          </p:txBody>
        </p:sp>
      </p:grpSp>
      <p:sp>
        <p:nvSpPr>
          <p:cNvPr id="238" name="Freeform 237"/>
          <p:cNvSpPr/>
          <p:nvPr/>
        </p:nvSpPr>
        <p:spPr>
          <a:xfrm>
            <a:off x="2295799" y="1680415"/>
            <a:ext cx="1029459" cy="3309980"/>
          </a:xfrm>
          <a:custGeom>
            <a:avLst/>
            <a:gdLst>
              <a:gd name="connsiteX0" fmla="*/ 3902322 w 3902322"/>
              <a:gd name="connsiteY0" fmla="*/ 0 h 449814"/>
              <a:gd name="connsiteX1" fmla="*/ 3452563 w 3902322"/>
              <a:gd name="connsiteY1" fmla="*/ 449814 h 449814"/>
              <a:gd name="connsiteX2" fmla="*/ 343934 w 3902322"/>
              <a:gd name="connsiteY2" fmla="*/ 423354 h 449814"/>
              <a:gd name="connsiteX3" fmla="*/ 0 w 3902322"/>
              <a:gd name="connsiteY3" fmla="*/ 39690 h 449814"/>
              <a:gd name="connsiteX0-1" fmla="*/ 3902322 w 3902322"/>
              <a:gd name="connsiteY0-2" fmla="*/ 0 h 423354"/>
              <a:gd name="connsiteX1-3" fmla="*/ 3565324 w 3902322"/>
              <a:gd name="connsiteY1-4" fmla="*/ 402338 h 423354"/>
              <a:gd name="connsiteX2-5" fmla="*/ 343934 w 3902322"/>
              <a:gd name="connsiteY2-6" fmla="*/ 423354 h 423354"/>
              <a:gd name="connsiteX3-7" fmla="*/ 0 w 3902322"/>
              <a:gd name="connsiteY3-8" fmla="*/ 39690 h 423354"/>
              <a:gd name="connsiteX0-9" fmla="*/ 3902322 w 3902322"/>
              <a:gd name="connsiteY0-10" fmla="*/ 0 h 423354"/>
              <a:gd name="connsiteX1-11" fmla="*/ 3600933 w 3902322"/>
              <a:gd name="connsiteY1-12" fmla="*/ 384535 h 423354"/>
              <a:gd name="connsiteX2-13" fmla="*/ 343934 w 3902322"/>
              <a:gd name="connsiteY2-14" fmla="*/ 423354 h 423354"/>
              <a:gd name="connsiteX3-15" fmla="*/ 0 w 3902322"/>
              <a:gd name="connsiteY3-16" fmla="*/ 39690 h 423354"/>
              <a:gd name="connsiteX0-17" fmla="*/ 3943865 w 3943865"/>
              <a:gd name="connsiteY0-18" fmla="*/ 1851 h 383664"/>
              <a:gd name="connsiteX1-19" fmla="*/ 3600933 w 3943865"/>
              <a:gd name="connsiteY1-20" fmla="*/ 344845 h 383664"/>
              <a:gd name="connsiteX2-21" fmla="*/ 343934 w 3943865"/>
              <a:gd name="connsiteY2-22" fmla="*/ 383664 h 383664"/>
              <a:gd name="connsiteX3-23" fmla="*/ 0 w 3943865"/>
              <a:gd name="connsiteY3-24" fmla="*/ 0 h 383664"/>
              <a:gd name="connsiteX0-25" fmla="*/ 4015082 w 4015082"/>
              <a:gd name="connsiteY0-26" fmla="*/ 29941 h 383664"/>
              <a:gd name="connsiteX1-27" fmla="*/ 3600933 w 4015082"/>
              <a:gd name="connsiteY1-28" fmla="*/ 344845 h 383664"/>
              <a:gd name="connsiteX2-29" fmla="*/ 343934 w 4015082"/>
              <a:gd name="connsiteY2-30" fmla="*/ 383664 h 383664"/>
              <a:gd name="connsiteX3-31" fmla="*/ 0 w 4015082"/>
              <a:gd name="connsiteY3-32" fmla="*/ 0 h 383664"/>
              <a:gd name="connsiteX0-33" fmla="*/ 4187190 w 4187190"/>
              <a:gd name="connsiteY0-34" fmla="*/ 15896 h 369619"/>
              <a:gd name="connsiteX1-35" fmla="*/ 3773041 w 4187190"/>
              <a:gd name="connsiteY1-36" fmla="*/ 330800 h 369619"/>
              <a:gd name="connsiteX2-37" fmla="*/ 516042 w 4187190"/>
              <a:gd name="connsiteY2-38" fmla="*/ 369619 h 369619"/>
              <a:gd name="connsiteX3-39" fmla="*/ 0 w 4187190"/>
              <a:gd name="connsiteY3-40" fmla="*/ 0 h 369619"/>
              <a:gd name="connsiteX0-41" fmla="*/ 4187190 w 4187190"/>
              <a:gd name="connsiteY0-42" fmla="*/ 15896 h 369619"/>
              <a:gd name="connsiteX1-43" fmla="*/ 3749302 w 4187190"/>
              <a:gd name="connsiteY1-44" fmla="*/ 349527 h 369619"/>
              <a:gd name="connsiteX2-45" fmla="*/ 516042 w 4187190"/>
              <a:gd name="connsiteY2-46" fmla="*/ 369619 h 369619"/>
              <a:gd name="connsiteX3-47" fmla="*/ 0 w 4187190"/>
              <a:gd name="connsiteY3-48" fmla="*/ 0 h 369619"/>
              <a:gd name="connsiteX0-49" fmla="*/ 0 w 6265284"/>
              <a:gd name="connsiteY0-50" fmla="*/ 0 h 1092877"/>
              <a:gd name="connsiteX1-51" fmla="*/ 6265284 w 6265284"/>
              <a:gd name="connsiteY1-52" fmla="*/ 1072785 h 1092877"/>
              <a:gd name="connsiteX2-53" fmla="*/ 3032024 w 6265284"/>
              <a:gd name="connsiteY2-54" fmla="*/ 1092877 h 1092877"/>
              <a:gd name="connsiteX3-55" fmla="*/ 2515982 w 6265284"/>
              <a:gd name="connsiteY3-56" fmla="*/ 723258 h 1092877"/>
              <a:gd name="connsiteX0-57" fmla="*/ 0 w 3032024"/>
              <a:gd name="connsiteY0-58" fmla="*/ 1193950 h 2286827"/>
              <a:gd name="connsiteX1-59" fmla="*/ 1581391 w 3032024"/>
              <a:gd name="connsiteY1-60" fmla="*/ 0 h 2286827"/>
              <a:gd name="connsiteX2-61" fmla="*/ 3032024 w 3032024"/>
              <a:gd name="connsiteY2-62" fmla="*/ 2286827 h 2286827"/>
              <a:gd name="connsiteX3-63" fmla="*/ 2515982 w 3032024"/>
              <a:gd name="connsiteY3-64" fmla="*/ 1917208 h 2286827"/>
              <a:gd name="connsiteX0-65" fmla="*/ 0 w 2515982"/>
              <a:gd name="connsiteY0-66" fmla="*/ 1896586 h 2619844"/>
              <a:gd name="connsiteX1-67" fmla="*/ 1581391 w 2515982"/>
              <a:gd name="connsiteY1-68" fmla="*/ 702636 h 2619844"/>
              <a:gd name="connsiteX2-69" fmla="*/ 1241736 w 2515982"/>
              <a:gd name="connsiteY2-70" fmla="*/ 0 h 2619844"/>
              <a:gd name="connsiteX3-71" fmla="*/ 2515982 w 2515982"/>
              <a:gd name="connsiteY3-72" fmla="*/ 2619844 h 2619844"/>
              <a:gd name="connsiteX0-73" fmla="*/ 0 w 1581391"/>
              <a:gd name="connsiteY0-74" fmla="*/ 2890379 h 2890379"/>
              <a:gd name="connsiteX1-75" fmla="*/ 1581391 w 1581391"/>
              <a:gd name="connsiteY1-76" fmla="*/ 1696429 h 2890379"/>
              <a:gd name="connsiteX2-77" fmla="*/ 1241736 w 1581391"/>
              <a:gd name="connsiteY2-78" fmla="*/ 993793 h 2890379"/>
              <a:gd name="connsiteX3-79" fmla="*/ 1579203 w 1581391"/>
              <a:gd name="connsiteY3-80" fmla="*/ 0 h 2890379"/>
              <a:gd name="connsiteX0-81" fmla="*/ 0 w 1581391"/>
              <a:gd name="connsiteY0-82" fmla="*/ 2973211 h 2973211"/>
              <a:gd name="connsiteX1-83" fmla="*/ 1581391 w 1581391"/>
              <a:gd name="connsiteY1-84" fmla="*/ 1779261 h 2973211"/>
              <a:gd name="connsiteX2-85" fmla="*/ 1241736 w 1581391"/>
              <a:gd name="connsiteY2-86" fmla="*/ 1076625 h 2973211"/>
              <a:gd name="connsiteX3-87" fmla="*/ 1229193 w 1581391"/>
              <a:gd name="connsiteY3-88" fmla="*/ 0 h 2973211"/>
              <a:gd name="connsiteX0-89" fmla="*/ 0 w 1581391"/>
              <a:gd name="connsiteY0-90" fmla="*/ 3276927 h 3276927"/>
              <a:gd name="connsiteX1-91" fmla="*/ 1581391 w 1581391"/>
              <a:gd name="connsiteY1-92" fmla="*/ 2082977 h 3276927"/>
              <a:gd name="connsiteX2-93" fmla="*/ 1241736 w 1581391"/>
              <a:gd name="connsiteY2-94" fmla="*/ 1380341 h 3276927"/>
              <a:gd name="connsiteX3-95" fmla="*/ 1249193 w 1581391"/>
              <a:gd name="connsiteY3-96" fmla="*/ 0 h 3276927"/>
              <a:gd name="connsiteX0-97" fmla="*/ 0 w 1581391"/>
              <a:gd name="connsiteY0-98" fmla="*/ 2973211 h 2973211"/>
              <a:gd name="connsiteX1-99" fmla="*/ 1581391 w 1581391"/>
              <a:gd name="connsiteY1-100" fmla="*/ 1779261 h 2973211"/>
              <a:gd name="connsiteX2-101" fmla="*/ 1241736 w 1581391"/>
              <a:gd name="connsiteY2-102" fmla="*/ 1076625 h 2973211"/>
              <a:gd name="connsiteX3-103" fmla="*/ 1234193 w 1581391"/>
              <a:gd name="connsiteY3-104" fmla="*/ 0 h 2973211"/>
              <a:gd name="connsiteX0-105" fmla="*/ 0 w 1581391"/>
              <a:gd name="connsiteY0-106" fmla="*/ 3008710 h 3008710"/>
              <a:gd name="connsiteX1-107" fmla="*/ 1581391 w 1581391"/>
              <a:gd name="connsiteY1-108" fmla="*/ 1814760 h 3008710"/>
              <a:gd name="connsiteX2-109" fmla="*/ 1241736 w 1581391"/>
              <a:gd name="connsiteY2-110" fmla="*/ 1112124 h 3008710"/>
              <a:gd name="connsiteX3-111" fmla="*/ 1239193 w 1581391"/>
              <a:gd name="connsiteY3-112" fmla="*/ 0 h 3008710"/>
              <a:gd name="connsiteX0-113" fmla="*/ 0 w 1581391"/>
              <a:gd name="connsiteY0-114" fmla="*/ 3008710 h 3008710"/>
              <a:gd name="connsiteX1-115" fmla="*/ 1581391 w 1581391"/>
              <a:gd name="connsiteY1-116" fmla="*/ 1814760 h 3008710"/>
              <a:gd name="connsiteX2-117" fmla="*/ 1320792 w 1581391"/>
              <a:gd name="connsiteY2-118" fmla="*/ 1270181 h 3008710"/>
              <a:gd name="connsiteX3-119" fmla="*/ 1241736 w 1581391"/>
              <a:gd name="connsiteY3-120" fmla="*/ 1112124 h 3008710"/>
              <a:gd name="connsiteX4" fmla="*/ 1239193 w 1581391"/>
              <a:gd name="connsiteY4" fmla="*/ 0 h 3008710"/>
              <a:gd name="connsiteX0-121" fmla="*/ 0 w 1581391"/>
              <a:gd name="connsiteY0-122" fmla="*/ 3008710 h 3008710"/>
              <a:gd name="connsiteX1-123" fmla="*/ 1581391 w 1581391"/>
              <a:gd name="connsiteY1-124" fmla="*/ 1814760 h 3008710"/>
              <a:gd name="connsiteX2-125" fmla="*/ 1565798 w 1581391"/>
              <a:gd name="connsiteY2-126" fmla="*/ 1270181 h 3008710"/>
              <a:gd name="connsiteX3-127" fmla="*/ 1241736 w 1581391"/>
              <a:gd name="connsiteY3-128" fmla="*/ 1112124 h 3008710"/>
              <a:gd name="connsiteX4-129" fmla="*/ 1239193 w 1581391"/>
              <a:gd name="connsiteY4-130" fmla="*/ 0 h 3008710"/>
              <a:gd name="connsiteX0-131" fmla="*/ 0 w 1581391"/>
              <a:gd name="connsiteY0-132" fmla="*/ 3008710 h 3008710"/>
              <a:gd name="connsiteX1-133" fmla="*/ 1581391 w 1581391"/>
              <a:gd name="connsiteY1-134" fmla="*/ 1747705 h 3008710"/>
              <a:gd name="connsiteX2-135" fmla="*/ 1565798 w 1581391"/>
              <a:gd name="connsiteY2-136" fmla="*/ 1270181 h 3008710"/>
              <a:gd name="connsiteX3-137" fmla="*/ 1241736 w 1581391"/>
              <a:gd name="connsiteY3-138" fmla="*/ 1112124 h 3008710"/>
              <a:gd name="connsiteX4-139" fmla="*/ 1239193 w 1581391"/>
              <a:gd name="connsiteY4-140" fmla="*/ 0 h 3008710"/>
              <a:gd name="connsiteX0-141" fmla="*/ 0 w 1566390"/>
              <a:gd name="connsiteY0-142" fmla="*/ 3008710 h 3008710"/>
              <a:gd name="connsiteX1-143" fmla="*/ 1566390 w 1566390"/>
              <a:gd name="connsiteY1-144" fmla="*/ 1747705 h 3008710"/>
              <a:gd name="connsiteX2-145" fmla="*/ 1565798 w 1566390"/>
              <a:gd name="connsiteY2-146" fmla="*/ 1270181 h 3008710"/>
              <a:gd name="connsiteX3-147" fmla="*/ 1241736 w 1566390"/>
              <a:gd name="connsiteY3-148" fmla="*/ 1112124 h 3008710"/>
              <a:gd name="connsiteX4-149" fmla="*/ 1239193 w 1566390"/>
              <a:gd name="connsiteY4-150" fmla="*/ 0 h 3008710"/>
              <a:gd name="connsiteX0-151" fmla="*/ 0 w 1766395"/>
              <a:gd name="connsiteY0-152" fmla="*/ 2988988 h 2988988"/>
              <a:gd name="connsiteX1-153" fmla="*/ 1766395 w 1766395"/>
              <a:gd name="connsiteY1-154" fmla="*/ 1747705 h 2988988"/>
              <a:gd name="connsiteX2-155" fmla="*/ 1765803 w 1766395"/>
              <a:gd name="connsiteY2-156" fmla="*/ 1270181 h 2988988"/>
              <a:gd name="connsiteX3-157" fmla="*/ 1441741 w 1766395"/>
              <a:gd name="connsiteY3-158" fmla="*/ 1112124 h 2988988"/>
              <a:gd name="connsiteX4-159" fmla="*/ 1439198 w 1766395"/>
              <a:gd name="connsiteY4-160" fmla="*/ 0 h 2988988"/>
              <a:gd name="connsiteX0-161" fmla="*/ 0 w 1766395"/>
              <a:gd name="connsiteY0-162" fmla="*/ 2988988 h 2988988"/>
              <a:gd name="connsiteX1-163" fmla="*/ 1766395 w 1766395"/>
              <a:gd name="connsiteY1-164" fmla="*/ 1747705 h 2988988"/>
              <a:gd name="connsiteX2-165" fmla="*/ 579217 w 1766395"/>
              <a:gd name="connsiteY2-166" fmla="*/ 1319458 h 2988988"/>
              <a:gd name="connsiteX3-167" fmla="*/ 1441741 w 1766395"/>
              <a:gd name="connsiteY3-168" fmla="*/ 1112124 h 2988988"/>
              <a:gd name="connsiteX4-169" fmla="*/ 1439198 w 1766395"/>
              <a:gd name="connsiteY4-170" fmla="*/ 0 h 2988988"/>
              <a:gd name="connsiteX0-171" fmla="*/ 0 w 1442252"/>
              <a:gd name="connsiteY0-172" fmla="*/ 2988988 h 2988988"/>
              <a:gd name="connsiteX1-173" fmla="*/ 621443 w 1442252"/>
              <a:gd name="connsiteY1-174" fmla="*/ 1829833 h 2988988"/>
              <a:gd name="connsiteX2-175" fmla="*/ 579217 w 1442252"/>
              <a:gd name="connsiteY2-176" fmla="*/ 1319458 h 2988988"/>
              <a:gd name="connsiteX3-177" fmla="*/ 1441741 w 1442252"/>
              <a:gd name="connsiteY3-178" fmla="*/ 1112124 h 2988988"/>
              <a:gd name="connsiteX4-179" fmla="*/ 1439198 w 1442252"/>
              <a:gd name="connsiteY4-180" fmla="*/ 0 h 2988988"/>
              <a:gd name="connsiteX0-181" fmla="*/ 0 w 1442252"/>
              <a:gd name="connsiteY0-182" fmla="*/ 2988988 h 2988988"/>
              <a:gd name="connsiteX1-183" fmla="*/ 621443 w 1442252"/>
              <a:gd name="connsiteY1-184" fmla="*/ 1829833 h 2988988"/>
              <a:gd name="connsiteX2-185" fmla="*/ 579217 w 1442252"/>
              <a:gd name="connsiteY2-186" fmla="*/ 1319458 h 2988988"/>
              <a:gd name="connsiteX3-187" fmla="*/ 1441741 w 1442252"/>
              <a:gd name="connsiteY3-188" fmla="*/ 1112124 h 2988988"/>
              <a:gd name="connsiteX4-189" fmla="*/ 1439198 w 1442252"/>
              <a:gd name="connsiteY4-190" fmla="*/ 0 h 2988988"/>
              <a:gd name="connsiteX0-191" fmla="*/ 0 w 1442252"/>
              <a:gd name="connsiteY0-192" fmla="*/ 2988988 h 2988988"/>
              <a:gd name="connsiteX1-193" fmla="*/ 608074 w 1442252"/>
              <a:gd name="connsiteY1-194" fmla="*/ 1780618 h 2988988"/>
              <a:gd name="connsiteX2-195" fmla="*/ 579217 w 1442252"/>
              <a:gd name="connsiteY2-196" fmla="*/ 1319458 h 2988988"/>
              <a:gd name="connsiteX3-197" fmla="*/ 1441741 w 1442252"/>
              <a:gd name="connsiteY3-198" fmla="*/ 1112124 h 2988988"/>
              <a:gd name="connsiteX4-199" fmla="*/ 1439198 w 1442252"/>
              <a:gd name="connsiteY4-200" fmla="*/ 0 h 2988988"/>
              <a:gd name="connsiteX0-201" fmla="*/ 0 w 1442252"/>
              <a:gd name="connsiteY0-202" fmla="*/ 2988988 h 2988988"/>
              <a:gd name="connsiteX1-203" fmla="*/ 608074 w 1442252"/>
              <a:gd name="connsiteY1-204" fmla="*/ 1780618 h 2988988"/>
              <a:gd name="connsiteX2-205" fmla="*/ 579217 w 1442252"/>
              <a:gd name="connsiteY2-206" fmla="*/ 1319458 h 2988988"/>
              <a:gd name="connsiteX3-207" fmla="*/ 1441741 w 1442252"/>
              <a:gd name="connsiteY3-208" fmla="*/ 1112124 h 2988988"/>
              <a:gd name="connsiteX4-209" fmla="*/ 1439198 w 1442252"/>
              <a:gd name="connsiteY4-210" fmla="*/ 0 h 2988988"/>
              <a:gd name="connsiteX0-211" fmla="*/ 0 w 1442252"/>
              <a:gd name="connsiteY0-212" fmla="*/ 2988988 h 2988988"/>
              <a:gd name="connsiteX1-213" fmla="*/ 585794 w 1442252"/>
              <a:gd name="connsiteY1-214" fmla="*/ 1780618 h 2988988"/>
              <a:gd name="connsiteX2-215" fmla="*/ 579217 w 1442252"/>
              <a:gd name="connsiteY2-216" fmla="*/ 1319458 h 2988988"/>
              <a:gd name="connsiteX3-217" fmla="*/ 1441741 w 1442252"/>
              <a:gd name="connsiteY3-218" fmla="*/ 1112124 h 2988988"/>
              <a:gd name="connsiteX4-219" fmla="*/ 1439198 w 1442252"/>
              <a:gd name="connsiteY4-220" fmla="*/ 0 h 2988988"/>
              <a:gd name="connsiteX0-221" fmla="*/ 0 w 1442252"/>
              <a:gd name="connsiteY0-222" fmla="*/ 2988988 h 2988988"/>
              <a:gd name="connsiteX1-223" fmla="*/ 585794 w 1442252"/>
              <a:gd name="connsiteY1-224" fmla="*/ 1714700 h 2988988"/>
              <a:gd name="connsiteX2-225" fmla="*/ 579217 w 1442252"/>
              <a:gd name="connsiteY2-226" fmla="*/ 1319458 h 2988988"/>
              <a:gd name="connsiteX3-227" fmla="*/ 1441741 w 1442252"/>
              <a:gd name="connsiteY3-228" fmla="*/ 1112124 h 2988988"/>
              <a:gd name="connsiteX4-229" fmla="*/ 1439198 w 1442252"/>
              <a:gd name="connsiteY4-230" fmla="*/ 0 h 2988988"/>
              <a:gd name="connsiteX0-231" fmla="*/ 0 w 2035489"/>
              <a:gd name="connsiteY0-232" fmla="*/ 2876928 h 2876928"/>
              <a:gd name="connsiteX1-233" fmla="*/ 1179031 w 2035489"/>
              <a:gd name="connsiteY1-234" fmla="*/ 1714700 h 2876928"/>
              <a:gd name="connsiteX2-235" fmla="*/ 1172454 w 2035489"/>
              <a:gd name="connsiteY2-236" fmla="*/ 1319458 h 2876928"/>
              <a:gd name="connsiteX3-237" fmla="*/ 2034978 w 2035489"/>
              <a:gd name="connsiteY3-238" fmla="*/ 1112124 h 2876928"/>
              <a:gd name="connsiteX4-239" fmla="*/ 2032435 w 2035489"/>
              <a:gd name="connsiteY4-240" fmla="*/ 0 h 2876928"/>
              <a:gd name="connsiteX0-241" fmla="*/ 0 w 2095517"/>
              <a:gd name="connsiteY0-242" fmla="*/ 2876928 h 2876928"/>
              <a:gd name="connsiteX1-243" fmla="*/ 1179031 w 2095517"/>
              <a:gd name="connsiteY1-244" fmla="*/ 1714700 h 2876928"/>
              <a:gd name="connsiteX2-245" fmla="*/ 1172454 w 2095517"/>
              <a:gd name="connsiteY2-246" fmla="*/ 1319458 h 2876928"/>
              <a:gd name="connsiteX3-247" fmla="*/ 2095451 w 2095517"/>
              <a:gd name="connsiteY3-248" fmla="*/ 1525541 h 2876928"/>
              <a:gd name="connsiteX4-249" fmla="*/ 2032435 w 2095517"/>
              <a:gd name="connsiteY4-250" fmla="*/ 0 h 2876928"/>
              <a:gd name="connsiteX0-251" fmla="*/ 0 w 2095517"/>
              <a:gd name="connsiteY0-252" fmla="*/ 2876928 h 2876928"/>
              <a:gd name="connsiteX1-253" fmla="*/ 1179031 w 2095517"/>
              <a:gd name="connsiteY1-254" fmla="*/ 1714700 h 2876928"/>
              <a:gd name="connsiteX2-255" fmla="*/ 1757025 w 2095517"/>
              <a:gd name="connsiteY2-256" fmla="*/ 2019085 h 2876928"/>
              <a:gd name="connsiteX3-257" fmla="*/ 2095451 w 2095517"/>
              <a:gd name="connsiteY3-258" fmla="*/ 1525541 h 2876928"/>
              <a:gd name="connsiteX4-259" fmla="*/ 2032435 w 2095517"/>
              <a:gd name="connsiteY4-260" fmla="*/ 0 h 2876928"/>
              <a:gd name="connsiteX0-261" fmla="*/ 0 w 2095517"/>
              <a:gd name="connsiteY0-262" fmla="*/ 2876928 h 2876928"/>
              <a:gd name="connsiteX1-263" fmla="*/ 1058086 w 2095517"/>
              <a:gd name="connsiteY1-264" fmla="*/ 2128116 h 2876928"/>
              <a:gd name="connsiteX2-265" fmla="*/ 1757025 w 2095517"/>
              <a:gd name="connsiteY2-266" fmla="*/ 2019085 h 2876928"/>
              <a:gd name="connsiteX3-267" fmla="*/ 2095451 w 2095517"/>
              <a:gd name="connsiteY3-268" fmla="*/ 1525541 h 2876928"/>
              <a:gd name="connsiteX4-269" fmla="*/ 2032435 w 2095517"/>
              <a:gd name="connsiteY4-270" fmla="*/ 0 h 2876928"/>
              <a:gd name="connsiteX0-271" fmla="*/ 0 w 1732679"/>
              <a:gd name="connsiteY0-272" fmla="*/ 3528853 h 3528853"/>
              <a:gd name="connsiteX1-273" fmla="*/ 695248 w 1732679"/>
              <a:gd name="connsiteY1-274" fmla="*/ 2128116 h 3528853"/>
              <a:gd name="connsiteX2-275" fmla="*/ 1394187 w 1732679"/>
              <a:gd name="connsiteY2-276" fmla="*/ 2019085 h 3528853"/>
              <a:gd name="connsiteX3-277" fmla="*/ 1732613 w 1732679"/>
              <a:gd name="connsiteY3-278" fmla="*/ 1525541 h 3528853"/>
              <a:gd name="connsiteX4-279" fmla="*/ 1669597 w 1732679"/>
              <a:gd name="connsiteY4-280" fmla="*/ 0 h 3528853"/>
              <a:gd name="connsiteX0-281" fmla="*/ 0 w 1732679"/>
              <a:gd name="connsiteY0-282" fmla="*/ 3528853 h 3528853"/>
              <a:gd name="connsiteX1-283" fmla="*/ 695248 w 1732679"/>
              <a:gd name="connsiteY1-284" fmla="*/ 2128116 h 3528853"/>
              <a:gd name="connsiteX2-285" fmla="*/ 1394187 w 1732679"/>
              <a:gd name="connsiteY2-286" fmla="*/ 2019085 h 3528853"/>
              <a:gd name="connsiteX3-287" fmla="*/ 1732613 w 1732679"/>
              <a:gd name="connsiteY3-288" fmla="*/ 1525541 h 3528853"/>
              <a:gd name="connsiteX4-289" fmla="*/ 1669597 w 1732679"/>
              <a:gd name="connsiteY4-290" fmla="*/ 0 h 3528853"/>
              <a:gd name="connsiteX0-291" fmla="*/ 0 w 1732679"/>
              <a:gd name="connsiteY0-292" fmla="*/ 3528853 h 3528853"/>
              <a:gd name="connsiteX1-293" fmla="*/ 695248 w 1732679"/>
              <a:gd name="connsiteY1-294" fmla="*/ 2128116 h 3528853"/>
              <a:gd name="connsiteX2-295" fmla="*/ 1394187 w 1732679"/>
              <a:gd name="connsiteY2-296" fmla="*/ 2019085 h 3528853"/>
              <a:gd name="connsiteX3-297" fmla="*/ 1732613 w 1732679"/>
              <a:gd name="connsiteY3-298" fmla="*/ 1525541 h 3528853"/>
              <a:gd name="connsiteX4-299" fmla="*/ 1669597 w 1732679"/>
              <a:gd name="connsiteY4-300" fmla="*/ 0 h 3528853"/>
              <a:gd name="connsiteX0-301" fmla="*/ 0 w 1732679"/>
              <a:gd name="connsiteY0-302" fmla="*/ 3528853 h 3528853"/>
              <a:gd name="connsiteX1-303" fmla="*/ 695248 w 1732679"/>
              <a:gd name="connsiteY1-304" fmla="*/ 2128116 h 3528853"/>
              <a:gd name="connsiteX2-305" fmla="*/ 1394187 w 1732679"/>
              <a:gd name="connsiteY2-306" fmla="*/ 2064629 h 3528853"/>
              <a:gd name="connsiteX3-307" fmla="*/ 1732613 w 1732679"/>
              <a:gd name="connsiteY3-308" fmla="*/ 1525541 h 3528853"/>
              <a:gd name="connsiteX4-309" fmla="*/ 1669597 w 1732679"/>
              <a:gd name="connsiteY4-310" fmla="*/ 0 h 3528853"/>
              <a:gd name="connsiteX0-311" fmla="*/ 0 w 1732679"/>
              <a:gd name="connsiteY0-312" fmla="*/ 3528853 h 3528853"/>
              <a:gd name="connsiteX1-313" fmla="*/ 695248 w 1732679"/>
              <a:gd name="connsiteY1-314" fmla="*/ 2128116 h 3528853"/>
              <a:gd name="connsiteX2-315" fmla="*/ 1394187 w 1732679"/>
              <a:gd name="connsiteY2-316" fmla="*/ 2064629 h 3528853"/>
              <a:gd name="connsiteX3-317" fmla="*/ 1732613 w 1732679"/>
              <a:gd name="connsiteY3-318" fmla="*/ 1525541 h 3528853"/>
              <a:gd name="connsiteX4-319" fmla="*/ 1669597 w 1732679"/>
              <a:gd name="connsiteY4-320" fmla="*/ 0 h 3528853"/>
              <a:gd name="connsiteX0-321" fmla="*/ 0 w 1732679"/>
              <a:gd name="connsiteY0-322" fmla="*/ 3528853 h 3528853"/>
              <a:gd name="connsiteX1-323" fmla="*/ 703415 w 1732679"/>
              <a:gd name="connsiteY1-324" fmla="*/ 2070128 h 3528853"/>
              <a:gd name="connsiteX2-325" fmla="*/ 1394187 w 1732679"/>
              <a:gd name="connsiteY2-326" fmla="*/ 2064629 h 3528853"/>
              <a:gd name="connsiteX3-327" fmla="*/ 1732613 w 1732679"/>
              <a:gd name="connsiteY3-328" fmla="*/ 1525541 h 3528853"/>
              <a:gd name="connsiteX4-329" fmla="*/ 1669597 w 1732679"/>
              <a:gd name="connsiteY4-330" fmla="*/ 0 h 3528853"/>
              <a:gd name="connsiteX0-331" fmla="*/ 0 w 1732679"/>
              <a:gd name="connsiteY0-332" fmla="*/ 3528853 h 3528853"/>
              <a:gd name="connsiteX1-333" fmla="*/ 703415 w 1732679"/>
              <a:gd name="connsiteY1-334" fmla="*/ 2070128 h 3528853"/>
              <a:gd name="connsiteX2-335" fmla="*/ 1394187 w 1732679"/>
              <a:gd name="connsiteY2-336" fmla="*/ 2064629 h 3528853"/>
              <a:gd name="connsiteX3-337" fmla="*/ 1732613 w 1732679"/>
              <a:gd name="connsiteY3-338" fmla="*/ 1525541 h 3528853"/>
              <a:gd name="connsiteX4-339" fmla="*/ 1669597 w 1732679"/>
              <a:gd name="connsiteY4-340" fmla="*/ 0 h 3528853"/>
              <a:gd name="connsiteX0-341" fmla="*/ 0 w 1732679"/>
              <a:gd name="connsiteY0-342" fmla="*/ 3528853 h 3528853"/>
              <a:gd name="connsiteX1-343" fmla="*/ 703415 w 1732679"/>
              <a:gd name="connsiteY1-344" fmla="*/ 2070128 h 3528853"/>
              <a:gd name="connsiteX2-345" fmla="*/ 1394187 w 1732679"/>
              <a:gd name="connsiteY2-346" fmla="*/ 2064629 h 3528853"/>
              <a:gd name="connsiteX3-347" fmla="*/ 1732613 w 1732679"/>
              <a:gd name="connsiteY3-348" fmla="*/ 1525541 h 3528853"/>
              <a:gd name="connsiteX4-349" fmla="*/ 1669597 w 1732679"/>
              <a:gd name="connsiteY4-350" fmla="*/ 0 h 3528853"/>
              <a:gd name="connsiteX0-351" fmla="*/ 19366 w 1029264"/>
              <a:gd name="connsiteY0-352" fmla="*/ 2961861 h 2961861"/>
              <a:gd name="connsiteX1-353" fmla="*/ 0 w 1029264"/>
              <a:gd name="connsiteY1-354" fmla="*/ 2070128 h 2961861"/>
              <a:gd name="connsiteX2-355" fmla="*/ 690772 w 1029264"/>
              <a:gd name="connsiteY2-356" fmla="*/ 2064629 h 2961861"/>
              <a:gd name="connsiteX3-357" fmla="*/ 1029198 w 1029264"/>
              <a:gd name="connsiteY3-358" fmla="*/ 1525541 h 2961861"/>
              <a:gd name="connsiteX4-359" fmla="*/ 966182 w 1029264"/>
              <a:gd name="connsiteY4-360" fmla="*/ 0 h 2961861"/>
              <a:gd name="connsiteX0-361" fmla="*/ 19366 w 1029276"/>
              <a:gd name="connsiteY0-362" fmla="*/ 2611201 h 2611201"/>
              <a:gd name="connsiteX1-363" fmla="*/ 0 w 1029276"/>
              <a:gd name="connsiteY1-364" fmla="*/ 1719468 h 2611201"/>
              <a:gd name="connsiteX2-365" fmla="*/ 690772 w 1029276"/>
              <a:gd name="connsiteY2-366" fmla="*/ 1713969 h 2611201"/>
              <a:gd name="connsiteX3-367" fmla="*/ 1029198 w 1029276"/>
              <a:gd name="connsiteY3-368" fmla="*/ 1174881 h 2611201"/>
              <a:gd name="connsiteX4-369" fmla="*/ 976765 w 1029276"/>
              <a:gd name="connsiteY4-370" fmla="*/ 0 h 2611201"/>
              <a:gd name="connsiteX0-371" fmla="*/ 19366 w 1029459"/>
              <a:gd name="connsiteY0-372" fmla="*/ 2611201 h 2611201"/>
              <a:gd name="connsiteX1-373" fmla="*/ 0 w 1029459"/>
              <a:gd name="connsiteY1-374" fmla="*/ 1719468 h 2611201"/>
              <a:gd name="connsiteX2-375" fmla="*/ 690772 w 1029459"/>
              <a:gd name="connsiteY2-376" fmla="*/ 1713969 h 2611201"/>
              <a:gd name="connsiteX3-377" fmla="*/ 1029198 w 1029459"/>
              <a:gd name="connsiteY3-378" fmla="*/ 1174881 h 2611201"/>
              <a:gd name="connsiteX4-379" fmla="*/ 976765 w 1029459"/>
              <a:gd name="connsiteY4-380" fmla="*/ 0 h 2611201"/>
            </a:gdLst>
            <a:ahLst/>
            <a:cxnLst>
              <a:cxn ang="0">
                <a:pos x="connsiteX0-1" y="connsiteY0-2"/>
              </a:cxn>
              <a:cxn ang="0">
                <a:pos x="connsiteX1-3" y="connsiteY1-4"/>
              </a:cxn>
              <a:cxn ang="0">
                <a:pos x="connsiteX2-5" y="connsiteY2-6"/>
              </a:cxn>
              <a:cxn ang="0">
                <a:pos x="connsiteX3-7" y="connsiteY3-8"/>
              </a:cxn>
              <a:cxn ang="0">
                <a:pos x="connsiteX4-129" y="connsiteY4-130"/>
              </a:cxn>
            </a:cxnLst>
            <a:rect l="l" t="t" r="r" b="b"/>
            <a:pathLst>
              <a:path w="1029459" h="2611201">
                <a:moveTo>
                  <a:pt x="19366" y="2611201"/>
                </a:moveTo>
                <a:lnTo>
                  <a:pt x="0" y="1719468"/>
                </a:lnTo>
                <a:lnTo>
                  <a:pt x="690772" y="1713969"/>
                </a:lnTo>
                <a:cubicBezTo>
                  <a:pt x="953779" y="1301650"/>
                  <a:pt x="837892" y="1502072"/>
                  <a:pt x="1029198" y="1174881"/>
                </a:cubicBezTo>
                <a:cubicBezTo>
                  <a:pt x="1031684" y="714767"/>
                  <a:pt x="1016613" y="902614"/>
                  <a:pt x="976765" y="0"/>
                </a:cubicBezTo>
              </a:path>
            </a:pathLst>
          </a:custGeom>
          <a:ln w="12700">
            <a:solidFill>
              <a:schemeClr val="tx1"/>
            </a:solidFill>
            <a:headEnd type="triangle"/>
            <a:tailEnd type="none"/>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cxnSp>
        <p:nvCxnSpPr>
          <p:cNvPr id="239" name="Straight Arrow Connector 238"/>
          <p:cNvCxnSpPr/>
          <p:nvPr/>
        </p:nvCxnSpPr>
        <p:spPr bwMode="auto">
          <a:xfrm>
            <a:off x="2334047" y="4796373"/>
            <a:ext cx="165857" cy="444033"/>
          </a:xfrm>
          <a:prstGeom prst="straightConnector1">
            <a:avLst/>
          </a:prstGeom>
          <a:solidFill>
            <a:schemeClr val="accent1"/>
          </a:solidFill>
          <a:ln w="9525" cap="flat" cmpd="sng" algn="ctr">
            <a:solidFill>
              <a:schemeClr val="tx1"/>
            </a:solidFill>
            <a:prstDash val="solid"/>
            <a:round/>
            <a:headEnd type="none"/>
            <a:tailEnd type="triangle"/>
          </a:ln>
          <a:effectLst/>
        </p:spPr>
      </p:cxnSp>
      <p:cxnSp>
        <p:nvCxnSpPr>
          <p:cNvPr id="243" name="Straight Arrow Connector 242"/>
          <p:cNvCxnSpPr/>
          <p:nvPr/>
        </p:nvCxnSpPr>
        <p:spPr bwMode="auto">
          <a:xfrm flipH="1">
            <a:off x="1630957" y="4825035"/>
            <a:ext cx="697629" cy="762950"/>
          </a:xfrm>
          <a:prstGeom prst="straightConnector1">
            <a:avLst/>
          </a:prstGeom>
          <a:solidFill>
            <a:schemeClr val="accent1"/>
          </a:solidFill>
          <a:ln w="9525" cap="flat" cmpd="sng" algn="ctr">
            <a:solidFill>
              <a:schemeClr val="tx1"/>
            </a:solidFill>
            <a:prstDash val="solid"/>
            <a:round/>
            <a:headEnd type="none"/>
            <a:tailEnd type="triangle"/>
          </a:ln>
          <a:effectLst/>
        </p:spPr>
      </p:cxnSp>
      <p:grpSp>
        <p:nvGrpSpPr>
          <p:cNvPr id="246" name="Group 245"/>
          <p:cNvGrpSpPr/>
          <p:nvPr/>
        </p:nvGrpSpPr>
        <p:grpSpPr>
          <a:xfrm rot="21446362">
            <a:off x="2189794" y="4667337"/>
            <a:ext cx="313044" cy="369332"/>
            <a:chOff x="418816" y="1964112"/>
            <a:chExt cx="313044" cy="369332"/>
          </a:xfrm>
        </p:grpSpPr>
        <p:sp>
          <p:nvSpPr>
            <p:cNvPr id="247" name="Oval 246"/>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248" name="TextBox 247"/>
            <p:cNvSpPr txBox="1"/>
            <p:nvPr/>
          </p:nvSpPr>
          <p:spPr>
            <a:xfrm>
              <a:off x="418816" y="1964112"/>
              <a:ext cx="313044" cy="369332"/>
            </a:xfrm>
            <a:prstGeom prst="rect">
              <a:avLst/>
            </a:prstGeom>
            <a:noFill/>
          </p:spPr>
          <p:txBody>
            <a:bodyPr wrap="none" rtlCol="0">
              <a:spAutoFit/>
            </a:bodyPr>
            <a:lstStyle/>
            <a:p>
              <a:r>
                <a:rPr lang="en-US" dirty="0">
                  <a:latin typeface="Arial" panose="020B0604020202090204"/>
                  <a:cs typeface="Arial" panose="020B0604020202090204"/>
                </a:rPr>
                <a:t>6</a:t>
              </a:r>
            </a:p>
          </p:txBody>
        </p:sp>
      </p:grpSp>
      <p:grpSp>
        <p:nvGrpSpPr>
          <p:cNvPr id="249" name="Group 248"/>
          <p:cNvGrpSpPr/>
          <p:nvPr/>
        </p:nvGrpSpPr>
        <p:grpSpPr>
          <a:xfrm>
            <a:off x="3130061" y="1900424"/>
            <a:ext cx="313044" cy="369332"/>
            <a:chOff x="418816" y="1964112"/>
            <a:chExt cx="313044" cy="369332"/>
          </a:xfrm>
        </p:grpSpPr>
        <p:sp>
          <p:nvSpPr>
            <p:cNvPr id="250" name="Oval 249"/>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251" name="TextBox 250"/>
            <p:cNvSpPr txBox="1"/>
            <p:nvPr/>
          </p:nvSpPr>
          <p:spPr>
            <a:xfrm>
              <a:off x="418816" y="1964112"/>
              <a:ext cx="313044" cy="369332"/>
            </a:xfrm>
            <a:prstGeom prst="rect">
              <a:avLst/>
            </a:prstGeom>
            <a:noFill/>
          </p:spPr>
          <p:txBody>
            <a:bodyPr wrap="none" rtlCol="0">
              <a:spAutoFit/>
            </a:bodyPr>
            <a:lstStyle/>
            <a:p>
              <a:r>
                <a:rPr lang="en-US" dirty="0">
                  <a:latin typeface="Arial" panose="020B0604020202090204"/>
                  <a:cs typeface="Arial" panose="020B0604020202090204"/>
                </a:rPr>
                <a:t>5</a:t>
              </a:r>
            </a:p>
          </p:txBody>
        </p:sp>
      </p:grpSp>
      <p:sp>
        <p:nvSpPr>
          <p:cNvPr id="253" name="Oval 252"/>
          <p:cNvSpPr/>
          <p:nvPr/>
        </p:nvSpPr>
        <p:spPr>
          <a:xfrm rot="5400000">
            <a:off x="1970416" y="419579"/>
            <a:ext cx="631007" cy="2235263"/>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153" name="TextBox 152"/>
          <p:cNvSpPr txBox="1"/>
          <p:nvPr/>
        </p:nvSpPr>
        <p:spPr>
          <a:xfrm>
            <a:off x="1336780" y="1336100"/>
            <a:ext cx="1891162" cy="509541"/>
          </a:xfrm>
          <a:prstGeom prst="rect">
            <a:avLst/>
          </a:prstGeom>
          <a:noFill/>
        </p:spPr>
        <p:txBody>
          <a:bodyPr wrap="none" rtlCol="0">
            <a:spAutoFit/>
          </a:bodyPr>
          <a:lstStyle/>
          <a:p>
            <a:pPr algn="ctr">
              <a:lnSpc>
                <a:spcPts val="1600"/>
              </a:lnSpc>
            </a:pPr>
            <a:r>
              <a:rPr lang="en-US" sz="1600" dirty="0">
                <a:latin typeface="Arial" panose="020B0604020202090204"/>
                <a:cs typeface="Arial" panose="020B0604020202090204"/>
              </a:rPr>
              <a:t>Dijkstra’s link-state </a:t>
            </a:r>
          </a:p>
          <a:p>
            <a:pPr algn="ctr">
              <a:lnSpc>
                <a:spcPts val="1600"/>
              </a:lnSpc>
            </a:pPr>
            <a:r>
              <a:rPr lang="en-US" sz="1600" dirty="0">
                <a:latin typeface="Arial" panose="020B0604020202090204"/>
                <a:cs typeface="Arial" panose="020B0604020202090204"/>
              </a:rPr>
              <a:t>Routing</a:t>
            </a:r>
          </a:p>
        </p:txBody>
      </p:sp>
      <p:grpSp>
        <p:nvGrpSpPr>
          <p:cNvPr id="319" name="Group 318"/>
          <p:cNvGrpSpPr/>
          <p:nvPr/>
        </p:nvGrpSpPr>
        <p:grpSpPr>
          <a:xfrm>
            <a:off x="921872" y="5536490"/>
            <a:ext cx="687402" cy="470408"/>
            <a:chOff x="1736090" y="2893762"/>
            <a:chExt cx="565150" cy="340093"/>
          </a:xfrm>
        </p:grpSpPr>
        <p:grpSp>
          <p:nvGrpSpPr>
            <p:cNvPr id="320" name="Group 327"/>
            <p:cNvGrpSpPr/>
            <p:nvPr/>
          </p:nvGrpSpPr>
          <p:grpSpPr bwMode="auto">
            <a:xfrm>
              <a:off x="1736090" y="2893762"/>
              <a:ext cx="565150" cy="292100"/>
              <a:chOff x="1871277" y="1576300"/>
              <a:chExt cx="1128371" cy="437861"/>
            </a:xfrm>
          </p:grpSpPr>
          <p:sp>
            <p:nvSpPr>
              <p:cNvPr id="324" name="Oval 32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5" name="Rectangle 32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6" name="Oval 32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7" name="Freeform 32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8" name="Freeform 32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9" name="Freeform 32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0" name="Freeform 32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31" name="Straight Connector 330"/>
              <p:cNvCxnSpPr>
                <a:endCxn id="32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2" name="Straight Connector 33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21" name="Group 320"/>
            <p:cNvGrpSpPr/>
            <p:nvPr/>
          </p:nvGrpSpPr>
          <p:grpSpPr>
            <a:xfrm>
              <a:off x="1828502" y="2944584"/>
              <a:ext cx="374530" cy="289271"/>
              <a:chOff x="725185" y="1779875"/>
              <a:chExt cx="374530" cy="289271"/>
            </a:xfrm>
          </p:grpSpPr>
          <p:sp>
            <p:nvSpPr>
              <p:cNvPr id="322" name="Oval 321"/>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3" name="TextBox 322"/>
              <p:cNvSpPr txBox="1"/>
              <p:nvPr/>
            </p:nvSpPr>
            <p:spPr>
              <a:xfrm>
                <a:off x="725185" y="1779875"/>
                <a:ext cx="374530" cy="289271"/>
              </a:xfrm>
              <a:prstGeom prst="rect">
                <a:avLst/>
              </a:prstGeom>
              <a:noFill/>
            </p:spPr>
            <p:txBody>
              <a:bodyPr wrap="none" rtlCol="0">
                <a:spAutoFit/>
              </a:bodyPr>
              <a:lstStyle/>
              <a:p>
                <a:r>
                  <a:rPr lang="en-US" sz="2000" dirty="0"/>
                  <a:t>s1</a:t>
                </a:r>
              </a:p>
            </p:txBody>
          </p:sp>
        </p:grpSp>
      </p:grpSp>
      <p:grpSp>
        <p:nvGrpSpPr>
          <p:cNvPr id="333" name="Group 332"/>
          <p:cNvGrpSpPr/>
          <p:nvPr/>
        </p:nvGrpSpPr>
        <p:grpSpPr>
          <a:xfrm>
            <a:off x="2206593" y="5245170"/>
            <a:ext cx="687402" cy="470406"/>
            <a:chOff x="1736090" y="2893762"/>
            <a:chExt cx="565150" cy="340091"/>
          </a:xfrm>
        </p:grpSpPr>
        <p:grpSp>
          <p:nvGrpSpPr>
            <p:cNvPr id="334" name="Group 327"/>
            <p:cNvGrpSpPr/>
            <p:nvPr/>
          </p:nvGrpSpPr>
          <p:grpSpPr bwMode="auto">
            <a:xfrm>
              <a:off x="1736090" y="2893762"/>
              <a:ext cx="565150" cy="292100"/>
              <a:chOff x="1871277" y="1576300"/>
              <a:chExt cx="1128371" cy="437861"/>
            </a:xfrm>
          </p:grpSpPr>
          <p:sp>
            <p:nvSpPr>
              <p:cNvPr id="338" name="Oval 33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9" name="Rectangle 33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0" name="Oval 33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1" name="Freeform 34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2" name="Freeform 34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3" name="Freeform 34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4" name="Freeform 34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5" name="Straight Connector 344"/>
              <p:cNvCxnSpPr>
                <a:endCxn id="34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46" name="Straight Connector 34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35" name="Group 334"/>
            <p:cNvGrpSpPr/>
            <p:nvPr/>
          </p:nvGrpSpPr>
          <p:grpSpPr>
            <a:xfrm>
              <a:off x="1828502" y="2944584"/>
              <a:ext cx="374531" cy="289269"/>
              <a:chOff x="725185" y="1779875"/>
              <a:chExt cx="374531" cy="289269"/>
            </a:xfrm>
          </p:grpSpPr>
          <p:sp>
            <p:nvSpPr>
              <p:cNvPr id="336" name="Oval 335"/>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37" name="TextBox 336"/>
              <p:cNvSpPr txBox="1"/>
              <p:nvPr/>
            </p:nvSpPr>
            <p:spPr>
              <a:xfrm>
                <a:off x="725185" y="1779875"/>
                <a:ext cx="374531" cy="289269"/>
              </a:xfrm>
              <a:prstGeom prst="rect">
                <a:avLst/>
              </a:prstGeom>
              <a:noFill/>
            </p:spPr>
            <p:txBody>
              <a:bodyPr wrap="none" rtlCol="0">
                <a:spAutoFit/>
              </a:bodyPr>
              <a:lstStyle/>
              <a:p>
                <a:r>
                  <a:rPr lang="en-US" sz="2000" dirty="0"/>
                  <a:t>s2</a:t>
                </a:r>
              </a:p>
            </p:txBody>
          </p:sp>
        </p:grpSp>
      </p:grpSp>
      <p:grpSp>
        <p:nvGrpSpPr>
          <p:cNvPr id="347" name="Group 346"/>
          <p:cNvGrpSpPr/>
          <p:nvPr/>
        </p:nvGrpSpPr>
        <p:grpSpPr>
          <a:xfrm>
            <a:off x="1910145" y="5999406"/>
            <a:ext cx="687402" cy="470406"/>
            <a:chOff x="1736090" y="2893762"/>
            <a:chExt cx="565150" cy="340091"/>
          </a:xfrm>
        </p:grpSpPr>
        <p:grpSp>
          <p:nvGrpSpPr>
            <p:cNvPr id="348" name="Group 327"/>
            <p:cNvGrpSpPr/>
            <p:nvPr/>
          </p:nvGrpSpPr>
          <p:grpSpPr bwMode="auto">
            <a:xfrm>
              <a:off x="1736090" y="2893762"/>
              <a:ext cx="565150" cy="292100"/>
              <a:chOff x="1871277" y="1576300"/>
              <a:chExt cx="1128371" cy="437861"/>
            </a:xfrm>
          </p:grpSpPr>
          <p:sp>
            <p:nvSpPr>
              <p:cNvPr id="352" name="Oval 3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3" name="Rectangle 3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4" name="Oval 3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5" name="Freeform 3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6" name="Freeform 3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7" name="Freeform 3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8" name="Freeform 3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9" name="Straight Connector 358"/>
              <p:cNvCxnSpPr>
                <a:endCxn id="3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49" name="Group 348"/>
            <p:cNvGrpSpPr/>
            <p:nvPr/>
          </p:nvGrpSpPr>
          <p:grpSpPr>
            <a:xfrm>
              <a:off x="1828502" y="2944584"/>
              <a:ext cx="374531" cy="289269"/>
              <a:chOff x="725185" y="1779875"/>
              <a:chExt cx="374531" cy="289269"/>
            </a:xfrm>
          </p:grpSpPr>
          <p:sp>
            <p:nvSpPr>
              <p:cNvPr id="350" name="Oval 349"/>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51" name="TextBox 350"/>
              <p:cNvSpPr txBox="1"/>
              <p:nvPr/>
            </p:nvSpPr>
            <p:spPr>
              <a:xfrm>
                <a:off x="725185" y="1779875"/>
                <a:ext cx="374531" cy="289269"/>
              </a:xfrm>
              <a:prstGeom prst="rect">
                <a:avLst/>
              </a:prstGeom>
              <a:noFill/>
            </p:spPr>
            <p:txBody>
              <a:bodyPr wrap="none" rtlCol="0">
                <a:spAutoFit/>
              </a:bodyPr>
              <a:lstStyle/>
              <a:p>
                <a:r>
                  <a:rPr lang="en-US" sz="2000" dirty="0"/>
                  <a:t>s3</a:t>
                </a:r>
              </a:p>
            </p:txBody>
          </p:sp>
        </p:grpSp>
      </p:grpSp>
      <p:grpSp>
        <p:nvGrpSpPr>
          <p:cNvPr id="361" name="Group 360"/>
          <p:cNvGrpSpPr/>
          <p:nvPr/>
        </p:nvGrpSpPr>
        <p:grpSpPr>
          <a:xfrm>
            <a:off x="3077553" y="5718280"/>
            <a:ext cx="687402" cy="470406"/>
            <a:chOff x="1736090" y="2893762"/>
            <a:chExt cx="565150" cy="340091"/>
          </a:xfrm>
        </p:grpSpPr>
        <p:grpSp>
          <p:nvGrpSpPr>
            <p:cNvPr id="362" name="Group 327"/>
            <p:cNvGrpSpPr/>
            <p:nvPr/>
          </p:nvGrpSpPr>
          <p:grpSpPr bwMode="auto">
            <a:xfrm>
              <a:off x="1736090" y="2893762"/>
              <a:ext cx="565150" cy="292100"/>
              <a:chOff x="1871277" y="1576300"/>
              <a:chExt cx="1128371" cy="437861"/>
            </a:xfrm>
          </p:grpSpPr>
          <p:sp>
            <p:nvSpPr>
              <p:cNvPr id="366" name="Oval 36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7" name="Rectangle 36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8" name="Oval 36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9" name="Freeform 36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0" name="Freeform 36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1" name="Freeform 37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2" name="Freeform 37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3" name="Straight Connector 372"/>
              <p:cNvCxnSpPr>
                <a:endCxn id="36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4" name="Straight Connector 37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63" name="Group 362"/>
            <p:cNvGrpSpPr/>
            <p:nvPr/>
          </p:nvGrpSpPr>
          <p:grpSpPr>
            <a:xfrm>
              <a:off x="1828502" y="2944584"/>
              <a:ext cx="374531" cy="289269"/>
              <a:chOff x="725185" y="1779875"/>
              <a:chExt cx="374531" cy="289269"/>
            </a:xfrm>
          </p:grpSpPr>
          <p:sp>
            <p:nvSpPr>
              <p:cNvPr id="364" name="Oval 363"/>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65" name="TextBox 364"/>
              <p:cNvSpPr txBox="1"/>
              <p:nvPr/>
            </p:nvSpPr>
            <p:spPr>
              <a:xfrm>
                <a:off x="725185" y="1779875"/>
                <a:ext cx="374531" cy="289269"/>
              </a:xfrm>
              <a:prstGeom prst="rect">
                <a:avLst/>
              </a:prstGeom>
              <a:noFill/>
            </p:spPr>
            <p:txBody>
              <a:bodyPr wrap="none" rtlCol="0">
                <a:spAutoFit/>
              </a:bodyPr>
              <a:lstStyle/>
              <a:p>
                <a:r>
                  <a:rPr lang="en-US" sz="2000" dirty="0"/>
                  <a:t>s4</a:t>
                </a:r>
              </a:p>
            </p:txBody>
          </p:sp>
        </p:grpSp>
      </p:grpSp>
      <p:cxnSp>
        <p:nvCxnSpPr>
          <p:cNvPr id="240" name="Straight Arrow Connector 239"/>
          <p:cNvCxnSpPr/>
          <p:nvPr/>
        </p:nvCxnSpPr>
        <p:spPr bwMode="auto">
          <a:xfrm>
            <a:off x="2475946" y="4898482"/>
            <a:ext cx="906274" cy="769733"/>
          </a:xfrm>
          <a:prstGeom prst="straightConnector1">
            <a:avLst/>
          </a:prstGeom>
          <a:solidFill>
            <a:schemeClr val="accent1"/>
          </a:solidFill>
          <a:ln w="9525" cap="flat" cmpd="sng" algn="ctr">
            <a:solidFill>
              <a:schemeClr val="tx1"/>
            </a:solidFill>
            <a:prstDash val="solid"/>
            <a:round/>
            <a:headEnd type="none"/>
            <a:tailEnd type="triangle"/>
          </a:ln>
          <a:effectLst/>
        </p:spPr>
      </p:cxnSp>
      <p:pic>
        <p:nvPicPr>
          <p:cNvPr id="376"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274" y="702064"/>
            <a:ext cx="8154854" cy="193624"/>
          </a:xfrm>
          <a:prstGeom prst="rect">
            <a:avLst/>
          </a:prstGeom>
          <a:noFill/>
          <a:ln>
            <a:noFill/>
          </a:ln>
        </p:spPr>
      </p:pic>
      <p:sp>
        <p:nvSpPr>
          <p:cNvPr id="377" name="Title 1"/>
          <p:cNvSpPr txBox="1"/>
          <p:nvPr/>
        </p:nvSpPr>
        <p:spPr>
          <a:xfrm>
            <a:off x="354145" y="177332"/>
            <a:ext cx="8642801" cy="1143000"/>
          </a:xfrm>
          <a:prstGeom prst="rect">
            <a:avLst/>
          </a:prstGeom>
        </p:spPr>
        <p:txBody>
          <a:bodyPr/>
          <a:lstStyle>
            <a:lvl1pPr algn="l" rtl="0" eaLnBrk="0" fontAlgn="base" hangingPunct="0">
              <a:spcBef>
                <a:spcPct val="0"/>
              </a:spcBef>
              <a:spcAft>
                <a:spcPct val="0"/>
              </a:spcAft>
              <a:defRPr sz="4400">
                <a:solidFill>
                  <a:srgbClr val="000099"/>
                </a:solidFill>
                <a:latin typeface="+mj-lt"/>
                <a:ea typeface="MS PGothic" charset="0"/>
                <a:cs typeface="MS PGothic" charset="0"/>
              </a:defRPr>
            </a:lvl1pPr>
            <a:lvl2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2pPr>
            <a:lvl3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3pPr>
            <a:lvl4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4pPr>
            <a:lvl5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5pPr>
            <a:lvl6pPr marL="457200" algn="l" rtl="0" eaLnBrk="0" fontAlgn="base" hangingPunct="0">
              <a:spcBef>
                <a:spcPct val="0"/>
              </a:spcBef>
              <a:spcAft>
                <a:spcPct val="0"/>
              </a:spcAft>
              <a:defRPr sz="4400">
                <a:solidFill>
                  <a:srgbClr val="000099"/>
                </a:solidFill>
                <a:latin typeface="Gill Sans MT" pitchFamily="34" charset="0"/>
              </a:defRPr>
            </a:lvl6pPr>
            <a:lvl7pPr marL="914400" algn="l" rtl="0" eaLnBrk="0" fontAlgn="base" hangingPunct="0">
              <a:spcBef>
                <a:spcPct val="0"/>
              </a:spcBef>
              <a:spcAft>
                <a:spcPct val="0"/>
              </a:spcAft>
              <a:defRPr sz="4400">
                <a:solidFill>
                  <a:srgbClr val="000099"/>
                </a:solidFill>
                <a:latin typeface="Gill Sans MT" pitchFamily="34" charset="0"/>
              </a:defRPr>
            </a:lvl7pPr>
            <a:lvl8pPr marL="1371600" algn="l" rtl="0" eaLnBrk="0" fontAlgn="base" hangingPunct="0">
              <a:spcBef>
                <a:spcPct val="0"/>
              </a:spcBef>
              <a:spcAft>
                <a:spcPct val="0"/>
              </a:spcAft>
              <a:defRPr sz="4400">
                <a:solidFill>
                  <a:srgbClr val="000099"/>
                </a:solidFill>
                <a:latin typeface="Gill Sans MT" pitchFamily="34" charset="0"/>
              </a:defRPr>
            </a:lvl8pPr>
            <a:lvl9pPr marL="1828800" algn="l" rtl="0" eaLnBrk="0" fontAlgn="base" hangingPunct="0">
              <a:spcBef>
                <a:spcPct val="0"/>
              </a:spcBef>
              <a:spcAft>
                <a:spcPct val="0"/>
              </a:spcAft>
              <a:defRPr sz="4400">
                <a:solidFill>
                  <a:srgbClr val="000099"/>
                </a:solidFill>
                <a:latin typeface="Gill Sans MT" pitchFamily="34" charset="0"/>
              </a:defRPr>
            </a:lvl9pPr>
          </a:lstStyle>
          <a:p>
            <a:r>
              <a:rPr lang="en-US" sz="3200" dirty="0"/>
              <a:t>SDN: control/data plane interaction example</a:t>
            </a:r>
          </a:p>
        </p:txBody>
      </p:sp>
      <p:grpSp>
        <p:nvGrpSpPr>
          <p:cNvPr id="382" name="Group 381"/>
          <p:cNvGrpSpPr/>
          <p:nvPr/>
        </p:nvGrpSpPr>
        <p:grpSpPr>
          <a:xfrm>
            <a:off x="5359418" y="2228890"/>
            <a:ext cx="3388878" cy="1357349"/>
            <a:chOff x="5313965" y="1301119"/>
            <a:chExt cx="3388878" cy="1357349"/>
          </a:xfrm>
        </p:grpSpPr>
        <p:sp>
          <p:nvSpPr>
            <p:cNvPr id="383" name="TextBox 382"/>
            <p:cNvSpPr txBox="1"/>
            <p:nvPr/>
          </p:nvSpPr>
          <p:spPr>
            <a:xfrm>
              <a:off x="5654651" y="1315023"/>
              <a:ext cx="3048192" cy="1343445"/>
            </a:xfrm>
            <a:prstGeom prst="rect">
              <a:avLst/>
            </a:prstGeom>
            <a:noFill/>
          </p:spPr>
          <p:txBody>
            <a:bodyPr wrap="square" rtlCol="0">
              <a:spAutoFit/>
            </a:bodyPr>
            <a:lstStyle/>
            <a:p>
              <a:pPr>
                <a:lnSpc>
                  <a:spcPct val="90000"/>
                </a:lnSpc>
              </a:pPr>
              <a:r>
                <a:rPr lang="en-US" dirty="0">
                  <a:solidFill>
                    <a:srgbClr val="000000"/>
                  </a:solidFill>
                  <a:latin typeface="+mn-lt"/>
                </a:rPr>
                <a:t>link state routing app interacts with flow-table-computation component in SDN controller, which computes new flow tables needed</a:t>
              </a:r>
            </a:p>
          </p:txBody>
        </p:sp>
        <p:grpSp>
          <p:nvGrpSpPr>
            <p:cNvPr id="384" name="Group 383"/>
            <p:cNvGrpSpPr/>
            <p:nvPr/>
          </p:nvGrpSpPr>
          <p:grpSpPr>
            <a:xfrm>
              <a:off x="5313965" y="1301119"/>
              <a:ext cx="313044" cy="369332"/>
              <a:chOff x="418816" y="1964112"/>
              <a:chExt cx="289705" cy="369332"/>
            </a:xfrm>
          </p:grpSpPr>
          <p:sp>
            <p:nvSpPr>
              <p:cNvPr id="385" name="Oval 384"/>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387" name="TextBox 386"/>
              <p:cNvSpPr txBox="1"/>
              <p:nvPr/>
            </p:nvSpPr>
            <p:spPr>
              <a:xfrm>
                <a:off x="418816" y="1964112"/>
                <a:ext cx="289705" cy="369332"/>
              </a:xfrm>
              <a:prstGeom prst="rect">
                <a:avLst/>
              </a:prstGeom>
              <a:noFill/>
            </p:spPr>
            <p:txBody>
              <a:bodyPr wrap="none" rtlCol="0">
                <a:spAutoFit/>
              </a:bodyPr>
              <a:lstStyle/>
              <a:p>
                <a:r>
                  <a:rPr lang="en-US" dirty="0">
                    <a:latin typeface="Arial" panose="020B0604020202090204"/>
                    <a:cs typeface="Arial" panose="020B0604020202090204"/>
                  </a:rPr>
                  <a:t>5</a:t>
                </a:r>
              </a:p>
            </p:txBody>
          </p:sp>
        </p:grpSp>
      </p:grpSp>
      <p:grpSp>
        <p:nvGrpSpPr>
          <p:cNvPr id="393" name="Group 392"/>
          <p:cNvGrpSpPr/>
          <p:nvPr/>
        </p:nvGrpSpPr>
        <p:grpSpPr>
          <a:xfrm>
            <a:off x="5391274" y="3937504"/>
            <a:ext cx="3388878" cy="858751"/>
            <a:chOff x="5313965" y="1301119"/>
            <a:chExt cx="3388878" cy="858751"/>
          </a:xfrm>
        </p:grpSpPr>
        <p:sp>
          <p:nvSpPr>
            <p:cNvPr id="394" name="TextBox 393"/>
            <p:cNvSpPr txBox="1"/>
            <p:nvPr/>
          </p:nvSpPr>
          <p:spPr>
            <a:xfrm>
              <a:off x="5654651" y="1315023"/>
              <a:ext cx="3048192" cy="844847"/>
            </a:xfrm>
            <a:prstGeom prst="rect">
              <a:avLst/>
            </a:prstGeom>
            <a:noFill/>
          </p:spPr>
          <p:txBody>
            <a:bodyPr wrap="square" rtlCol="0">
              <a:spAutoFit/>
            </a:bodyPr>
            <a:lstStyle/>
            <a:p>
              <a:pPr>
                <a:lnSpc>
                  <a:spcPct val="90000"/>
                </a:lnSpc>
              </a:pPr>
              <a:r>
                <a:rPr lang="en-US" dirty="0">
                  <a:solidFill>
                    <a:srgbClr val="000000"/>
                  </a:solidFill>
                  <a:latin typeface="+mn-lt"/>
                </a:rPr>
                <a:t>Controller uses OpenFlow to install new tables in switches that need updating</a:t>
              </a:r>
            </a:p>
          </p:txBody>
        </p:sp>
        <p:grpSp>
          <p:nvGrpSpPr>
            <p:cNvPr id="395" name="Group 394"/>
            <p:cNvGrpSpPr/>
            <p:nvPr/>
          </p:nvGrpSpPr>
          <p:grpSpPr>
            <a:xfrm>
              <a:off x="5313965" y="1301119"/>
              <a:ext cx="313044" cy="369332"/>
              <a:chOff x="418816" y="1964112"/>
              <a:chExt cx="289705" cy="369332"/>
            </a:xfrm>
          </p:grpSpPr>
          <p:sp>
            <p:nvSpPr>
              <p:cNvPr id="396" name="Oval 39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a:cs typeface="Arial" panose="020B0604020202090204"/>
                </a:endParaRPr>
              </a:p>
            </p:txBody>
          </p:sp>
          <p:sp>
            <p:nvSpPr>
              <p:cNvPr id="397" name="TextBox 396"/>
              <p:cNvSpPr txBox="1"/>
              <p:nvPr/>
            </p:nvSpPr>
            <p:spPr>
              <a:xfrm>
                <a:off x="418816" y="1964112"/>
                <a:ext cx="289705" cy="369332"/>
              </a:xfrm>
              <a:prstGeom prst="rect">
                <a:avLst/>
              </a:prstGeom>
              <a:noFill/>
            </p:spPr>
            <p:txBody>
              <a:bodyPr wrap="none" rtlCol="0">
                <a:spAutoFit/>
              </a:bodyPr>
              <a:lstStyle/>
              <a:p>
                <a:r>
                  <a:rPr lang="en-US" dirty="0">
                    <a:latin typeface="Arial" panose="020B0604020202090204"/>
                    <a:cs typeface="Arial" panose="020B0604020202090204"/>
                  </a:rPr>
                  <a:t>6</a:t>
                </a:r>
              </a:p>
            </p:txBody>
          </p:sp>
        </p:grpSp>
      </p:grpSp>
      <p:sp>
        <p:nvSpPr>
          <p:cNvPr id="151" name="Slide Number Placeholder 5"/>
          <p:cNvSpPr>
            <a:spLocks noGrp="1"/>
          </p:cNvSpPr>
          <p:nvPr>
            <p:ph type="sldNum" sz="quarter" idx="12"/>
          </p:nvPr>
        </p:nvSpPr>
        <p:spPr>
          <a:xfrm>
            <a:off x="8456295" y="6475730"/>
            <a:ext cx="62738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104</a:t>
            </a:fld>
            <a:endParaRPr lang="en-US" sz="1200" dirty="0">
              <a:latin typeface="Tahoma" panose="020B0604030504040204" charset="0"/>
            </a:endParaRPr>
          </a:p>
        </p:txBody>
      </p:sp>
      <p:sp>
        <p:nvSpPr>
          <p:cNvPr id="152"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82"/>
                                        </p:tgtEl>
                                        <p:attrNameLst>
                                          <p:attrName>style.visibility</p:attrName>
                                        </p:attrNameLst>
                                      </p:cBhvr>
                                      <p:to>
                                        <p:strVal val="visible"/>
                                      </p:to>
                                    </p:set>
                                    <p:animEffect transition="in" filter="dissolve">
                                      <p:cBhvr>
                                        <p:cTn id="7" dur="500"/>
                                        <p:tgtEl>
                                          <p:spTgt spid="38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93"/>
                                        </p:tgtEl>
                                        <p:attrNameLst>
                                          <p:attrName>style.visibility</p:attrName>
                                        </p:attrNameLst>
                                      </p:cBhvr>
                                      <p:to>
                                        <p:strVal val="visible"/>
                                      </p:to>
                                    </p:set>
                                    <p:animEffect transition="in" filter="dissolve">
                                      <p:cBhvr>
                                        <p:cTn id="12" dur="500"/>
                                        <p:tgtEl>
                                          <p:spTgt spid="3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Rounded Rectangle 102"/>
          <p:cNvSpPr/>
          <p:nvPr/>
        </p:nvSpPr>
        <p:spPr>
          <a:xfrm>
            <a:off x="441164" y="2526628"/>
            <a:ext cx="5253789" cy="2392948"/>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14" name="Rounded Rectangle 13"/>
          <p:cNvSpPr/>
          <p:nvPr/>
        </p:nvSpPr>
        <p:spPr>
          <a:xfrm>
            <a:off x="2099837" y="2566732"/>
            <a:ext cx="3421328" cy="1774553"/>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grpSp>
        <p:nvGrpSpPr>
          <p:cNvPr id="9" name="Group 8"/>
          <p:cNvGrpSpPr/>
          <p:nvPr/>
        </p:nvGrpSpPr>
        <p:grpSpPr>
          <a:xfrm>
            <a:off x="2163980" y="3041095"/>
            <a:ext cx="991851" cy="563864"/>
            <a:chOff x="-2789389" y="3644860"/>
            <a:chExt cx="991851" cy="563864"/>
          </a:xfrm>
        </p:grpSpPr>
        <p:sp>
          <p:nvSpPr>
            <p:cNvPr id="4" name="Rounded Rectangle 3"/>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196" name="TextBox 195"/>
            <p:cNvSpPr txBox="1"/>
            <p:nvPr/>
          </p:nvSpPr>
          <p:spPr>
            <a:xfrm>
              <a:off x="-2789389" y="3644860"/>
              <a:ext cx="991851" cy="516830"/>
            </a:xfrm>
            <a:prstGeom prst="rect">
              <a:avLst/>
            </a:prstGeom>
            <a:noFill/>
          </p:spPr>
          <p:txBody>
            <a:bodyPr wrap="none" rtlCol="0">
              <a:spAutoFit/>
            </a:bodyPr>
            <a:lstStyle/>
            <a:p>
              <a:pPr algn="ctr">
                <a:lnSpc>
                  <a:spcPts val="1800"/>
                </a:lnSpc>
              </a:pPr>
              <a:r>
                <a:rPr lang="en-US" sz="1400" dirty="0">
                  <a:latin typeface="Arial" panose="020B0604020202090204"/>
                  <a:cs typeface="Arial" panose="020B0604020202090204"/>
                </a:rPr>
                <a:t>topology</a:t>
              </a:r>
            </a:p>
            <a:p>
              <a:pPr algn="ctr">
                <a:lnSpc>
                  <a:spcPts val="1800"/>
                </a:lnSpc>
              </a:pPr>
              <a:r>
                <a:rPr lang="en-US" sz="1400" dirty="0">
                  <a:solidFill>
                    <a:srgbClr val="000000"/>
                  </a:solidFill>
                  <a:latin typeface="Arial" panose="020B0604020202090204"/>
                  <a:cs typeface="Arial" panose="020B0604020202090204"/>
                </a:rPr>
                <a:t>manager</a:t>
              </a:r>
            </a:p>
          </p:txBody>
        </p:sp>
      </p:grpSp>
      <p:sp>
        <p:nvSpPr>
          <p:cNvPr id="218" name="TextBox 217"/>
          <p:cNvSpPr txBox="1"/>
          <p:nvPr/>
        </p:nvSpPr>
        <p:spPr>
          <a:xfrm>
            <a:off x="2501202" y="2675114"/>
            <a:ext cx="2846484" cy="277854"/>
          </a:xfrm>
          <a:prstGeom prst="rect">
            <a:avLst/>
          </a:prstGeom>
          <a:noFill/>
        </p:spPr>
        <p:txBody>
          <a:bodyPr wrap="square" rtlCol="0">
            <a:spAutoFit/>
          </a:bodyPr>
          <a:lstStyle/>
          <a:p>
            <a:pPr>
              <a:lnSpc>
                <a:spcPts val="1400"/>
              </a:lnSpc>
            </a:pPr>
            <a:r>
              <a:rPr lang="en-US" sz="1400" dirty="0">
                <a:solidFill>
                  <a:schemeClr val="bg1"/>
                </a:solidFill>
                <a:latin typeface="Arial" panose="020B0604020202090204"/>
                <a:cs typeface="Arial" panose="020B0604020202090204"/>
              </a:rPr>
              <a:t>Basic Network Service Functions</a:t>
            </a:r>
          </a:p>
        </p:txBody>
      </p:sp>
      <p:grpSp>
        <p:nvGrpSpPr>
          <p:cNvPr id="5" name="Group 4"/>
          <p:cNvGrpSpPr/>
          <p:nvPr/>
        </p:nvGrpSpPr>
        <p:grpSpPr>
          <a:xfrm>
            <a:off x="441163" y="1938421"/>
            <a:ext cx="5160211" cy="515156"/>
            <a:chOff x="1045007" y="1459973"/>
            <a:chExt cx="6401028" cy="554537"/>
          </a:xfrm>
        </p:grpSpPr>
        <p:sp>
          <p:nvSpPr>
            <p:cNvPr id="99" name="Rounded Rectangle 98"/>
            <p:cNvSpPr/>
            <p:nvPr/>
          </p:nvSpPr>
          <p:spPr>
            <a:xfrm>
              <a:off x="1045007" y="1459973"/>
              <a:ext cx="6401028" cy="554537"/>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grpSp>
          <p:nvGrpSpPr>
            <p:cNvPr id="224" name="Group 223"/>
            <p:cNvGrpSpPr/>
            <p:nvPr/>
          </p:nvGrpSpPr>
          <p:grpSpPr>
            <a:xfrm>
              <a:off x="2827550" y="1535145"/>
              <a:ext cx="2597382" cy="375164"/>
              <a:chOff x="2793561" y="3559145"/>
              <a:chExt cx="2597382" cy="375164"/>
            </a:xfrm>
          </p:grpSpPr>
          <p:sp>
            <p:nvSpPr>
              <p:cNvPr id="225" name="Rounded Rectangle 224"/>
              <p:cNvSpPr/>
              <p:nvPr/>
            </p:nvSpPr>
            <p:spPr>
              <a:xfrm>
                <a:off x="2793561" y="3559145"/>
                <a:ext cx="2597382" cy="375164"/>
              </a:xfrm>
              <a:prstGeom prst="roundRect">
                <a:avLst/>
              </a:prstGeom>
              <a:solidFill>
                <a:srgbClr val="008000"/>
              </a:solidFill>
              <a:ln w="12700">
                <a:solidFill>
                  <a:schemeClr val="accent5">
                    <a:lumMod val="75000"/>
                  </a:schemeClr>
                </a:solidFill>
              </a:ln>
              <a:effectLst>
                <a:outerShdw blurRad="50800" dist="38100" dir="2700000" algn="tl" rotWithShape="0">
                  <a:srgbClr val="000000">
                    <a:alpha val="43000"/>
                  </a:srgb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226" name="TextBox 225"/>
              <p:cNvSpPr txBox="1"/>
              <p:nvPr/>
            </p:nvSpPr>
            <p:spPr>
              <a:xfrm>
                <a:off x="3269326" y="3583069"/>
                <a:ext cx="1701413" cy="346556"/>
              </a:xfrm>
              <a:prstGeom prst="rect">
                <a:avLst/>
              </a:prstGeom>
              <a:noFill/>
            </p:spPr>
            <p:txBody>
              <a:bodyPr wrap="square" rtlCol="0">
                <a:spAutoFit/>
              </a:bodyPr>
              <a:lstStyle/>
              <a:p>
                <a:pPr>
                  <a:lnSpc>
                    <a:spcPts val="1800"/>
                  </a:lnSpc>
                </a:pPr>
                <a:r>
                  <a:rPr lang="en-US" sz="1600" dirty="0">
                    <a:solidFill>
                      <a:schemeClr val="bg1"/>
                    </a:solidFill>
                    <a:latin typeface="Arial" panose="020B0604020202090204"/>
                    <a:cs typeface="Arial" panose="020B0604020202090204"/>
                  </a:rPr>
                  <a:t>REST    API</a:t>
                </a:r>
              </a:p>
            </p:txBody>
          </p:sp>
        </p:grpSp>
      </p:grpSp>
      <p:sp>
        <p:nvSpPr>
          <p:cNvPr id="100" name="Rounded Rectangle 99"/>
          <p:cNvSpPr/>
          <p:nvPr/>
        </p:nvSpPr>
        <p:spPr>
          <a:xfrm>
            <a:off x="427796" y="4998554"/>
            <a:ext cx="5293895" cy="627346"/>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grpSp>
        <p:nvGrpSpPr>
          <p:cNvPr id="10" name="Group 9"/>
          <p:cNvGrpSpPr/>
          <p:nvPr/>
        </p:nvGrpSpPr>
        <p:grpSpPr>
          <a:xfrm>
            <a:off x="1297733" y="5114776"/>
            <a:ext cx="1410942" cy="456940"/>
            <a:chOff x="2740484" y="4054371"/>
            <a:chExt cx="1574963" cy="373904"/>
          </a:xfrm>
        </p:grpSpPr>
        <p:sp>
          <p:nvSpPr>
            <p:cNvPr id="6" name="Rectangle 5"/>
            <p:cNvSpPr/>
            <p:nvPr/>
          </p:nvSpPr>
          <p:spPr>
            <a:xfrm>
              <a:off x="2785250" y="4054371"/>
              <a:ext cx="1530197" cy="373904"/>
            </a:xfrm>
            <a:prstGeom prst="rect">
              <a:avLst/>
            </a:prstGeom>
            <a:solidFill>
              <a:srgbClr val="008000"/>
            </a:solidFill>
            <a:ln w="12700">
              <a:solidFill>
                <a:schemeClr val="accent1">
                  <a:lumMod val="60000"/>
                  <a:lumOff val="40000"/>
                </a:schemeClr>
              </a:solidFill>
            </a:ln>
            <a:effectLst>
              <a:outerShdw blurRad="50800" dist="38100" dir="2700000" algn="tl" rotWithShape="0">
                <a:schemeClr val="bg1">
                  <a:alpha val="43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8" name="TextBox 7"/>
            <p:cNvSpPr txBox="1"/>
            <p:nvPr/>
          </p:nvSpPr>
          <p:spPr>
            <a:xfrm>
              <a:off x="2740484" y="4076248"/>
              <a:ext cx="1462059" cy="338554"/>
            </a:xfrm>
            <a:prstGeom prst="rect">
              <a:avLst/>
            </a:prstGeom>
            <a:noFill/>
          </p:spPr>
          <p:txBody>
            <a:bodyPr wrap="none" rtlCol="0">
              <a:spAutoFit/>
            </a:bodyPr>
            <a:lstStyle/>
            <a:p>
              <a:r>
                <a:rPr lang="en-US" sz="1600" dirty="0">
                  <a:solidFill>
                    <a:schemeClr val="bg1"/>
                  </a:solidFill>
                  <a:latin typeface="Arial" panose="020B0604020202090204"/>
                  <a:cs typeface="Arial" panose="020B0604020202090204"/>
                </a:rPr>
                <a:t>OpenFlow 1.0</a:t>
              </a:r>
            </a:p>
          </p:txBody>
        </p:sp>
      </p:grpSp>
      <p:sp>
        <p:nvSpPr>
          <p:cNvPr id="11" name="TextBox 10"/>
          <p:cNvSpPr txBox="1"/>
          <p:nvPr/>
        </p:nvSpPr>
        <p:spPr>
          <a:xfrm>
            <a:off x="2783284" y="4825720"/>
            <a:ext cx="533066" cy="714642"/>
          </a:xfrm>
          <a:prstGeom prst="rect">
            <a:avLst/>
          </a:prstGeom>
          <a:noFill/>
        </p:spPr>
        <p:txBody>
          <a:bodyPr wrap="none" rtlCol="0">
            <a:spAutoFit/>
          </a:bodyPr>
          <a:lstStyle/>
          <a:p>
            <a:r>
              <a:rPr lang="en-US" sz="3200" dirty="0">
                <a:solidFill>
                  <a:srgbClr val="008000"/>
                </a:solidFill>
                <a:latin typeface="Arial" panose="020B0604020202090204"/>
                <a:cs typeface="Arial" panose="020B0604020202090204"/>
              </a:rPr>
              <a:t>…</a:t>
            </a:r>
          </a:p>
        </p:txBody>
      </p:sp>
      <p:grpSp>
        <p:nvGrpSpPr>
          <p:cNvPr id="162" name="Group 161"/>
          <p:cNvGrpSpPr/>
          <p:nvPr/>
        </p:nvGrpSpPr>
        <p:grpSpPr>
          <a:xfrm>
            <a:off x="3430771" y="5114776"/>
            <a:ext cx="811437" cy="433015"/>
            <a:chOff x="5082411" y="4394035"/>
            <a:chExt cx="905766" cy="354327"/>
          </a:xfrm>
        </p:grpSpPr>
        <p:sp>
          <p:nvSpPr>
            <p:cNvPr id="256" name="Rectangle 255"/>
            <p:cNvSpPr/>
            <p:nvPr/>
          </p:nvSpPr>
          <p:spPr>
            <a:xfrm>
              <a:off x="5082411" y="4394035"/>
              <a:ext cx="905766" cy="354327"/>
            </a:xfrm>
            <a:prstGeom prst="rect">
              <a:avLst/>
            </a:prstGeom>
            <a:solidFill>
              <a:srgbClr val="008000"/>
            </a:solidFill>
            <a:ln w="12700">
              <a:solidFill>
                <a:schemeClr val="accent1">
                  <a:lumMod val="60000"/>
                  <a:lumOff val="40000"/>
                </a:schemeClr>
              </a:solidFill>
            </a:ln>
            <a:effectLst>
              <a:outerShdw blurRad="50800" dist="38100" dir="2700000" algn="tl" rotWithShape="0">
                <a:schemeClr val="bg1">
                  <a:alpha val="43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257" name="TextBox 256"/>
            <p:cNvSpPr txBox="1"/>
            <p:nvPr/>
          </p:nvSpPr>
          <p:spPr>
            <a:xfrm>
              <a:off x="5121486" y="4394035"/>
              <a:ext cx="774571" cy="354327"/>
            </a:xfrm>
            <a:prstGeom prst="rect">
              <a:avLst/>
            </a:prstGeom>
            <a:noFill/>
          </p:spPr>
          <p:txBody>
            <a:bodyPr wrap="none" rtlCol="0">
              <a:spAutoFit/>
            </a:bodyPr>
            <a:lstStyle/>
            <a:p>
              <a:r>
                <a:rPr lang="en-US" sz="1600" dirty="0">
                  <a:solidFill>
                    <a:schemeClr val="bg1"/>
                  </a:solidFill>
                  <a:latin typeface="Arial" panose="020B0604020202090204"/>
                  <a:cs typeface="Arial" panose="020B0604020202090204"/>
                </a:rPr>
                <a:t>SNMP</a:t>
              </a:r>
            </a:p>
          </p:txBody>
        </p:sp>
      </p:grpSp>
      <p:grpSp>
        <p:nvGrpSpPr>
          <p:cNvPr id="263" name="Group 262"/>
          <p:cNvGrpSpPr/>
          <p:nvPr/>
        </p:nvGrpSpPr>
        <p:grpSpPr>
          <a:xfrm>
            <a:off x="4289994" y="5109661"/>
            <a:ext cx="864376" cy="467213"/>
            <a:chOff x="5023318" y="4394035"/>
            <a:chExt cx="964859" cy="382310"/>
          </a:xfrm>
        </p:grpSpPr>
        <p:sp>
          <p:nvSpPr>
            <p:cNvPr id="264" name="Rectangle 263"/>
            <p:cNvSpPr/>
            <p:nvPr/>
          </p:nvSpPr>
          <p:spPr>
            <a:xfrm>
              <a:off x="5082411" y="4394035"/>
              <a:ext cx="905766" cy="354327"/>
            </a:xfrm>
            <a:prstGeom prst="rect">
              <a:avLst/>
            </a:prstGeom>
            <a:solidFill>
              <a:srgbClr val="008000"/>
            </a:solidFill>
            <a:ln w="12700">
              <a:solidFill>
                <a:schemeClr val="accent1">
                  <a:lumMod val="60000"/>
                  <a:lumOff val="40000"/>
                </a:schemeClr>
              </a:solidFill>
            </a:ln>
            <a:effectLst>
              <a:outerShdw blurRad="50800" dist="38100" dir="2700000" algn="tl" rotWithShape="0">
                <a:schemeClr val="bg1">
                  <a:alpha val="43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265" name="TextBox 264"/>
            <p:cNvSpPr txBox="1"/>
            <p:nvPr/>
          </p:nvSpPr>
          <p:spPr>
            <a:xfrm>
              <a:off x="5023318" y="4437791"/>
              <a:ext cx="903012" cy="338554"/>
            </a:xfrm>
            <a:prstGeom prst="rect">
              <a:avLst/>
            </a:prstGeom>
            <a:noFill/>
          </p:spPr>
          <p:txBody>
            <a:bodyPr wrap="none" rtlCol="0">
              <a:spAutoFit/>
            </a:bodyPr>
            <a:lstStyle/>
            <a:p>
              <a:r>
                <a:rPr lang="en-US" sz="1600" dirty="0">
                  <a:solidFill>
                    <a:schemeClr val="bg1"/>
                  </a:solidFill>
                  <a:latin typeface="Arial" panose="020B0604020202090204"/>
                  <a:cs typeface="Arial" panose="020B0604020202090204"/>
                </a:rPr>
                <a:t>OVSDB</a:t>
              </a:r>
            </a:p>
          </p:txBody>
        </p:sp>
      </p:grpSp>
      <p:grpSp>
        <p:nvGrpSpPr>
          <p:cNvPr id="114" name="Group 113"/>
          <p:cNvGrpSpPr/>
          <p:nvPr/>
        </p:nvGrpSpPr>
        <p:grpSpPr>
          <a:xfrm>
            <a:off x="2704254" y="3663505"/>
            <a:ext cx="1022911" cy="563864"/>
            <a:chOff x="-2804918" y="3644860"/>
            <a:chExt cx="1022911" cy="563864"/>
          </a:xfrm>
        </p:grpSpPr>
        <p:sp>
          <p:nvSpPr>
            <p:cNvPr id="115" name="Rounded Rectangle 114"/>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116" name="TextBox 115"/>
            <p:cNvSpPr txBox="1"/>
            <p:nvPr/>
          </p:nvSpPr>
          <p:spPr>
            <a:xfrm>
              <a:off x="-2804918" y="3644860"/>
              <a:ext cx="1022911" cy="551433"/>
            </a:xfrm>
            <a:prstGeom prst="rect">
              <a:avLst/>
            </a:prstGeom>
            <a:noFill/>
          </p:spPr>
          <p:txBody>
            <a:bodyPr wrap="none" rtlCol="0">
              <a:spAutoFit/>
            </a:bodyPr>
            <a:lstStyle/>
            <a:p>
              <a:pPr algn="ctr">
                <a:lnSpc>
                  <a:spcPts val="1800"/>
                </a:lnSpc>
              </a:pPr>
              <a:r>
                <a:rPr lang="en-US" sz="1400" dirty="0">
                  <a:latin typeface="Arial" panose="020B0604020202090204"/>
                  <a:cs typeface="Arial" panose="020B0604020202090204"/>
                </a:rPr>
                <a:t>forwarding</a:t>
              </a:r>
            </a:p>
            <a:p>
              <a:pPr algn="ctr">
                <a:lnSpc>
                  <a:spcPts val="1800"/>
                </a:lnSpc>
              </a:pPr>
              <a:r>
                <a:rPr lang="en-US" sz="1400" dirty="0">
                  <a:solidFill>
                    <a:srgbClr val="000000"/>
                  </a:solidFill>
                  <a:latin typeface="Arial" panose="020B0604020202090204"/>
                  <a:cs typeface="Arial" panose="020B0604020202090204"/>
                </a:rPr>
                <a:t>manager</a:t>
              </a:r>
            </a:p>
          </p:txBody>
        </p:sp>
      </p:grpSp>
      <p:grpSp>
        <p:nvGrpSpPr>
          <p:cNvPr id="117" name="Group 116"/>
          <p:cNvGrpSpPr/>
          <p:nvPr/>
        </p:nvGrpSpPr>
        <p:grpSpPr>
          <a:xfrm>
            <a:off x="3312541" y="3029086"/>
            <a:ext cx="975975" cy="563864"/>
            <a:chOff x="-2789389" y="3644860"/>
            <a:chExt cx="975975" cy="563864"/>
          </a:xfrm>
        </p:grpSpPr>
        <p:sp>
          <p:nvSpPr>
            <p:cNvPr id="118" name="Rounded Rectangle 117"/>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119" name="TextBox 118"/>
            <p:cNvSpPr txBox="1"/>
            <p:nvPr/>
          </p:nvSpPr>
          <p:spPr>
            <a:xfrm>
              <a:off x="-2744868" y="3644860"/>
              <a:ext cx="902811" cy="551433"/>
            </a:xfrm>
            <a:prstGeom prst="rect">
              <a:avLst/>
            </a:prstGeom>
            <a:noFill/>
          </p:spPr>
          <p:txBody>
            <a:bodyPr wrap="none" rtlCol="0">
              <a:spAutoFit/>
            </a:bodyPr>
            <a:lstStyle/>
            <a:p>
              <a:pPr algn="ctr">
                <a:lnSpc>
                  <a:spcPts val="1800"/>
                </a:lnSpc>
              </a:pPr>
              <a:r>
                <a:rPr lang="en-US" sz="1400" dirty="0">
                  <a:latin typeface="Arial" panose="020B0604020202090204"/>
                  <a:cs typeface="Arial" panose="020B0604020202090204"/>
                </a:rPr>
                <a:t>switch</a:t>
              </a:r>
            </a:p>
            <a:p>
              <a:pPr algn="ctr">
                <a:lnSpc>
                  <a:spcPts val="1800"/>
                </a:lnSpc>
              </a:pPr>
              <a:r>
                <a:rPr lang="en-US" sz="1400" dirty="0">
                  <a:solidFill>
                    <a:srgbClr val="000000"/>
                  </a:solidFill>
                  <a:latin typeface="Arial" panose="020B0604020202090204"/>
                  <a:cs typeface="Arial" panose="020B0604020202090204"/>
                </a:rPr>
                <a:t>manager</a:t>
              </a:r>
            </a:p>
          </p:txBody>
        </p:sp>
      </p:grpSp>
      <p:grpSp>
        <p:nvGrpSpPr>
          <p:cNvPr id="120" name="Group 119"/>
          <p:cNvGrpSpPr/>
          <p:nvPr/>
        </p:nvGrpSpPr>
        <p:grpSpPr>
          <a:xfrm>
            <a:off x="3913381" y="3651496"/>
            <a:ext cx="975975" cy="563864"/>
            <a:chOff x="-2789389" y="3644860"/>
            <a:chExt cx="975975" cy="563864"/>
          </a:xfrm>
        </p:grpSpPr>
        <p:sp>
          <p:nvSpPr>
            <p:cNvPr id="121" name="Rounded Rectangle 120"/>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122" name="TextBox 121"/>
            <p:cNvSpPr txBox="1"/>
            <p:nvPr/>
          </p:nvSpPr>
          <p:spPr>
            <a:xfrm>
              <a:off x="-2744868" y="3644860"/>
              <a:ext cx="902811" cy="551433"/>
            </a:xfrm>
            <a:prstGeom prst="rect">
              <a:avLst/>
            </a:prstGeom>
            <a:noFill/>
          </p:spPr>
          <p:txBody>
            <a:bodyPr wrap="none" rtlCol="0">
              <a:spAutoFit/>
            </a:bodyPr>
            <a:lstStyle/>
            <a:p>
              <a:pPr algn="ctr">
                <a:lnSpc>
                  <a:spcPts val="1800"/>
                </a:lnSpc>
              </a:pPr>
              <a:r>
                <a:rPr lang="en-US" sz="1400" dirty="0">
                  <a:latin typeface="Arial" panose="020B0604020202090204"/>
                  <a:cs typeface="Arial" panose="020B0604020202090204"/>
                </a:rPr>
                <a:t>host</a:t>
              </a:r>
            </a:p>
            <a:p>
              <a:pPr algn="ctr">
                <a:lnSpc>
                  <a:spcPts val="1800"/>
                </a:lnSpc>
              </a:pPr>
              <a:r>
                <a:rPr lang="en-US" sz="1400" dirty="0">
                  <a:solidFill>
                    <a:srgbClr val="000000"/>
                  </a:solidFill>
                  <a:latin typeface="Arial" panose="020B0604020202090204"/>
                  <a:cs typeface="Arial" panose="020B0604020202090204"/>
                </a:rPr>
                <a:t>manager</a:t>
              </a:r>
            </a:p>
          </p:txBody>
        </p:sp>
      </p:grpSp>
      <p:grpSp>
        <p:nvGrpSpPr>
          <p:cNvPr id="123" name="Group 122"/>
          <p:cNvGrpSpPr/>
          <p:nvPr/>
        </p:nvGrpSpPr>
        <p:grpSpPr>
          <a:xfrm>
            <a:off x="4466158" y="3017077"/>
            <a:ext cx="975975" cy="563864"/>
            <a:chOff x="-2789389" y="3644860"/>
            <a:chExt cx="975975" cy="563864"/>
          </a:xfrm>
        </p:grpSpPr>
        <p:sp>
          <p:nvSpPr>
            <p:cNvPr id="124" name="Rounded Rectangle 123"/>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125" name="TextBox 124"/>
            <p:cNvSpPr txBox="1"/>
            <p:nvPr/>
          </p:nvSpPr>
          <p:spPr>
            <a:xfrm>
              <a:off x="-2744868" y="3644860"/>
              <a:ext cx="902811" cy="551433"/>
            </a:xfrm>
            <a:prstGeom prst="rect">
              <a:avLst/>
            </a:prstGeom>
            <a:noFill/>
          </p:spPr>
          <p:txBody>
            <a:bodyPr wrap="none" rtlCol="0">
              <a:spAutoFit/>
            </a:bodyPr>
            <a:lstStyle/>
            <a:p>
              <a:pPr algn="ctr">
                <a:lnSpc>
                  <a:spcPts val="1800"/>
                </a:lnSpc>
              </a:pPr>
              <a:r>
                <a:rPr lang="en-US" sz="1400" dirty="0">
                  <a:latin typeface="Arial" panose="020B0604020202090204"/>
                  <a:cs typeface="Arial" panose="020B0604020202090204"/>
                </a:rPr>
                <a:t>stats</a:t>
              </a:r>
            </a:p>
            <a:p>
              <a:pPr algn="ctr">
                <a:lnSpc>
                  <a:spcPts val="1800"/>
                </a:lnSpc>
              </a:pPr>
              <a:r>
                <a:rPr lang="en-US" sz="1400" dirty="0">
                  <a:solidFill>
                    <a:srgbClr val="000000"/>
                  </a:solidFill>
                  <a:latin typeface="Arial" panose="020B0604020202090204"/>
                  <a:cs typeface="Arial" panose="020B0604020202090204"/>
                </a:rPr>
                <a:t>manager</a:t>
              </a:r>
            </a:p>
          </p:txBody>
        </p:sp>
      </p:grpSp>
      <p:sp>
        <p:nvSpPr>
          <p:cNvPr id="142" name="Rounded Rectangle 141"/>
          <p:cNvSpPr/>
          <p:nvPr/>
        </p:nvSpPr>
        <p:spPr>
          <a:xfrm>
            <a:off x="561484" y="2566733"/>
            <a:ext cx="1470518" cy="176607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143" name="TextBox 142"/>
          <p:cNvSpPr txBox="1"/>
          <p:nvPr/>
        </p:nvSpPr>
        <p:spPr>
          <a:xfrm>
            <a:off x="604415" y="2578421"/>
            <a:ext cx="1375017" cy="523220"/>
          </a:xfrm>
          <a:prstGeom prst="rect">
            <a:avLst/>
          </a:prstGeom>
          <a:noFill/>
        </p:spPr>
        <p:txBody>
          <a:bodyPr wrap="square" rtlCol="0">
            <a:spAutoFit/>
          </a:bodyPr>
          <a:lstStyle/>
          <a:p>
            <a:pPr algn="ctr"/>
            <a:r>
              <a:rPr lang="en-US" sz="1400" dirty="0">
                <a:solidFill>
                  <a:schemeClr val="bg1"/>
                </a:solidFill>
                <a:latin typeface="Arial" panose="020B0604020202090204"/>
                <a:cs typeface="Arial" panose="020B0604020202090204"/>
              </a:rPr>
              <a:t>Network service apps </a:t>
            </a:r>
          </a:p>
        </p:txBody>
      </p:sp>
      <p:grpSp>
        <p:nvGrpSpPr>
          <p:cNvPr id="28" name="Group 27"/>
          <p:cNvGrpSpPr/>
          <p:nvPr/>
        </p:nvGrpSpPr>
        <p:grpSpPr>
          <a:xfrm>
            <a:off x="561479" y="4412544"/>
            <a:ext cx="5013159" cy="404700"/>
            <a:chOff x="1092699" y="3559145"/>
            <a:chExt cx="6178678" cy="404700"/>
          </a:xfrm>
        </p:grpSpPr>
        <p:sp>
          <p:nvSpPr>
            <p:cNvPr id="20" name="Rounded Rectangle 19"/>
            <p:cNvSpPr/>
            <p:nvPr/>
          </p:nvSpPr>
          <p:spPr>
            <a:xfrm>
              <a:off x="1092699" y="3559145"/>
              <a:ext cx="6178678" cy="404700"/>
            </a:xfrm>
            <a:prstGeom prst="roundRect">
              <a:avLst/>
            </a:prstGeom>
            <a:solidFill>
              <a:srgbClr val="008000"/>
            </a:solidFill>
            <a:ln w="12700">
              <a:solidFill>
                <a:schemeClr val="accent5">
                  <a:lumMod val="75000"/>
                </a:schemeClr>
              </a:solidFill>
            </a:ln>
            <a:effectLst>
              <a:outerShdw blurRad="50800" dist="38100" dir="2700000" algn="tl" rotWithShape="0">
                <a:srgbClr val="000000">
                  <a:alpha val="43000"/>
                </a:srgb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193" name="TextBox 192"/>
            <p:cNvSpPr txBox="1"/>
            <p:nvPr/>
          </p:nvSpPr>
          <p:spPr>
            <a:xfrm>
              <a:off x="2426534" y="3588680"/>
              <a:ext cx="3800001" cy="325730"/>
            </a:xfrm>
            <a:prstGeom prst="rect">
              <a:avLst/>
            </a:prstGeom>
            <a:noFill/>
          </p:spPr>
          <p:txBody>
            <a:bodyPr wrap="square" rtlCol="0">
              <a:spAutoFit/>
            </a:bodyPr>
            <a:lstStyle/>
            <a:p>
              <a:pPr>
                <a:lnSpc>
                  <a:spcPts val="1800"/>
                </a:lnSpc>
              </a:pPr>
              <a:r>
                <a:rPr lang="en-US" sz="1600" dirty="0">
                  <a:solidFill>
                    <a:schemeClr val="bg1"/>
                  </a:solidFill>
                  <a:latin typeface="Arial" panose="020B0604020202090204"/>
                  <a:cs typeface="Arial" panose="020B0604020202090204"/>
                </a:rPr>
                <a:t>Service Abstraction Layer (SAL)</a:t>
              </a:r>
            </a:p>
          </p:txBody>
        </p:sp>
      </p:grpSp>
      <p:cxnSp>
        <p:nvCxnSpPr>
          <p:cNvPr id="16" name="Straight Connector 15"/>
          <p:cNvCxnSpPr/>
          <p:nvPr/>
        </p:nvCxnSpPr>
        <p:spPr bwMode="auto">
          <a:xfrm>
            <a:off x="1016318" y="3561284"/>
            <a:ext cx="0" cy="919152"/>
          </a:xfrm>
          <a:prstGeom prst="line">
            <a:avLst/>
          </a:prstGeom>
          <a:solidFill>
            <a:schemeClr val="accent1"/>
          </a:solidFill>
          <a:ln w="19050" cap="flat" cmpd="sng" algn="ctr">
            <a:solidFill>
              <a:schemeClr val="accent1">
                <a:lumMod val="50000"/>
              </a:schemeClr>
            </a:solidFill>
            <a:prstDash val="solid"/>
            <a:round/>
            <a:headEnd type="none" w="med" len="med"/>
            <a:tailEnd type="none" w="med" len="med"/>
          </a:ln>
          <a:effectLst/>
        </p:spPr>
      </p:cxnSp>
      <p:cxnSp>
        <p:nvCxnSpPr>
          <p:cNvPr id="144" name="Straight Connector 143"/>
          <p:cNvCxnSpPr/>
          <p:nvPr/>
        </p:nvCxnSpPr>
        <p:spPr bwMode="auto">
          <a:xfrm>
            <a:off x="1632306" y="4032908"/>
            <a:ext cx="0" cy="388921"/>
          </a:xfrm>
          <a:prstGeom prst="line">
            <a:avLst/>
          </a:prstGeom>
          <a:solidFill>
            <a:schemeClr val="accent1"/>
          </a:solidFill>
          <a:ln w="19050" cap="flat" cmpd="sng" algn="ctr">
            <a:solidFill>
              <a:schemeClr val="accent1">
                <a:lumMod val="50000"/>
              </a:schemeClr>
            </a:solidFill>
            <a:prstDash val="solid"/>
            <a:round/>
            <a:headEnd type="none" w="med" len="med"/>
            <a:tailEnd type="none" w="med" len="med"/>
          </a:ln>
          <a:effectLst/>
        </p:spPr>
      </p:cxnSp>
      <p:cxnSp>
        <p:nvCxnSpPr>
          <p:cNvPr id="130" name="Straight Connector 129"/>
          <p:cNvCxnSpPr/>
          <p:nvPr/>
        </p:nvCxnSpPr>
        <p:spPr bwMode="auto">
          <a:xfrm>
            <a:off x="2658231" y="3604959"/>
            <a:ext cx="0" cy="837120"/>
          </a:xfrm>
          <a:prstGeom prst="line">
            <a:avLst/>
          </a:prstGeom>
          <a:solidFill>
            <a:schemeClr val="accent1"/>
          </a:solidFill>
          <a:ln w="19050" cap="flat" cmpd="sng" algn="ctr">
            <a:solidFill>
              <a:srgbClr val="CCFFCC"/>
            </a:solidFill>
            <a:prstDash val="solid"/>
            <a:round/>
            <a:headEnd type="none" w="med" len="med"/>
            <a:tailEnd type="none" w="med" len="med"/>
          </a:ln>
          <a:effectLst/>
        </p:spPr>
      </p:cxnSp>
      <p:cxnSp>
        <p:nvCxnSpPr>
          <p:cNvPr id="131" name="Straight Connector 130"/>
          <p:cNvCxnSpPr/>
          <p:nvPr/>
        </p:nvCxnSpPr>
        <p:spPr bwMode="auto">
          <a:xfrm>
            <a:off x="4988035" y="3580519"/>
            <a:ext cx="0" cy="908139"/>
          </a:xfrm>
          <a:prstGeom prst="line">
            <a:avLst/>
          </a:prstGeom>
          <a:solidFill>
            <a:schemeClr val="accent1"/>
          </a:solidFill>
          <a:ln w="19050" cap="flat" cmpd="sng" algn="ctr">
            <a:solidFill>
              <a:srgbClr val="CCFFCC"/>
            </a:solidFill>
            <a:prstDash val="solid"/>
            <a:round/>
            <a:headEnd type="none" w="med" len="med"/>
            <a:tailEnd type="none" w="med" len="med"/>
          </a:ln>
          <a:effectLst/>
        </p:spPr>
      </p:cxnSp>
      <p:cxnSp>
        <p:nvCxnSpPr>
          <p:cNvPr id="132" name="Straight Connector 131"/>
          <p:cNvCxnSpPr/>
          <p:nvPr/>
        </p:nvCxnSpPr>
        <p:spPr bwMode="auto">
          <a:xfrm>
            <a:off x="3792442" y="3590225"/>
            <a:ext cx="0" cy="851854"/>
          </a:xfrm>
          <a:prstGeom prst="line">
            <a:avLst/>
          </a:prstGeom>
          <a:solidFill>
            <a:schemeClr val="accent1"/>
          </a:solidFill>
          <a:ln w="19050" cap="flat" cmpd="sng" algn="ctr">
            <a:solidFill>
              <a:srgbClr val="CCFFCC"/>
            </a:solidFill>
            <a:prstDash val="solid"/>
            <a:round/>
            <a:headEnd type="none" w="med" len="med"/>
            <a:tailEnd type="none" w="med" len="med"/>
          </a:ln>
          <a:effectLst/>
        </p:spPr>
      </p:cxnSp>
      <p:cxnSp>
        <p:nvCxnSpPr>
          <p:cNvPr id="133" name="Straight Connector 132"/>
          <p:cNvCxnSpPr/>
          <p:nvPr/>
        </p:nvCxnSpPr>
        <p:spPr bwMode="auto">
          <a:xfrm>
            <a:off x="4400399" y="4209886"/>
            <a:ext cx="0" cy="278772"/>
          </a:xfrm>
          <a:prstGeom prst="line">
            <a:avLst/>
          </a:prstGeom>
          <a:solidFill>
            <a:schemeClr val="accent1"/>
          </a:solidFill>
          <a:ln w="19050" cap="flat" cmpd="sng" algn="ctr">
            <a:solidFill>
              <a:srgbClr val="CCFFCC"/>
            </a:solidFill>
            <a:prstDash val="solid"/>
            <a:round/>
            <a:headEnd type="none" w="med" len="med"/>
            <a:tailEnd type="none" w="med" len="med"/>
          </a:ln>
          <a:effectLst/>
        </p:spPr>
      </p:cxnSp>
      <p:cxnSp>
        <p:nvCxnSpPr>
          <p:cNvPr id="137" name="Straight Connector 136"/>
          <p:cNvCxnSpPr/>
          <p:nvPr/>
        </p:nvCxnSpPr>
        <p:spPr bwMode="auto">
          <a:xfrm>
            <a:off x="3218224" y="4215360"/>
            <a:ext cx="0" cy="226719"/>
          </a:xfrm>
          <a:prstGeom prst="line">
            <a:avLst/>
          </a:prstGeom>
          <a:solidFill>
            <a:schemeClr val="accent1"/>
          </a:solidFill>
          <a:ln w="19050" cap="flat" cmpd="sng" algn="ctr">
            <a:solidFill>
              <a:srgbClr val="CCFFCC"/>
            </a:solidFill>
            <a:prstDash val="solid"/>
            <a:round/>
            <a:headEnd type="none" w="med" len="med"/>
            <a:tailEnd type="none" w="med" len="med"/>
          </a:ln>
          <a:effectLst/>
        </p:spPr>
      </p:cxnSp>
      <p:cxnSp>
        <p:nvCxnSpPr>
          <p:cNvPr id="104" name="Straight Connector 103"/>
          <p:cNvCxnSpPr/>
          <p:nvPr/>
        </p:nvCxnSpPr>
        <p:spPr bwMode="auto">
          <a:xfrm>
            <a:off x="467901" y="5681579"/>
            <a:ext cx="5186947" cy="0"/>
          </a:xfrm>
          <a:prstGeom prst="line">
            <a:avLst/>
          </a:prstGeom>
          <a:solidFill>
            <a:schemeClr val="accent1"/>
          </a:solidFill>
          <a:ln w="19050" cap="flat" cmpd="sng" algn="ctr">
            <a:solidFill>
              <a:schemeClr val="tx1"/>
            </a:solidFill>
            <a:prstDash val="dash"/>
            <a:round/>
            <a:headEnd type="none" w="med" len="med"/>
            <a:tailEnd type="none" w="med" len="med"/>
          </a:ln>
          <a:effectLst/>
        </p:spPr>
      </p:cxnSp>
      <p:cxnSp>
        <p:nvCxnSpPr>
          <p:cNvPr id="213" name="Straight Connector 212"/>
          <p:cNvCxnSpPr/>
          <p:nvPr/>
        </p:nvCxnSpPr>
        <p:spPr bwMode="auto">
          <a:xfrm>
            <a:off x="454533" y="1871579"/>
            <a:ext cx="5026526" cy="0"/>
          </a:xfrm>
          <a:prstGeom prst="line">
            <a:avLst/>
          </a:prstGeom>
          <a:solidFill>
            <a:schemeClr val="accent1"/>
          </a:solidFill>
          <a:ln w="19050" cap="flat" cmpd="sng" algn="ctr">
            <a:solidFill>
              <a:schemeClr val="tx1"/>
            </a:solidFill>
            <a:prstDash val="dash"/>
            <a:round/>
            <a:headEnd type="none" w="med" len="med"/>
            <a:tailEnd type="none" w="med" len="med"/>
          </a:ln>
          <a:effectLst/>
        </p:spPr>
      </p:cxnSp>
      <p:grpSp>
        <p:nvGrpSpPr>
          <p:cNvPr id="13" name="Group 12"/>
          <p:cNvGrpSpPr/>
          <p:nvPr/>
        </p:nvGrpSpPr>
        <p:grpSpPr>
          <a:xfrm>
            <a:off x="629185" y="3141575"/>
            <a:ext cx="1108720" cy="553739"/>
            <a:chOff x="-1602715" y="2206422"/>
            <a:chExt cx="1179425" cy="631007"/>
          </a:xfrm>
        </p:grpSpPr>
        <p:sp>
          <p:nvSpPr>
            <p:cNvPr id="214" name="Oval 213"/>
            <p:cNvSpPr/>
            <p:nvPr/>
          </p:nvSpPr>
          <p:spPr>
            <a:xfrm rot="5400000">
              <a:off x="-1328506" y="1932213"/>
              <a:ext cx="631007" cy="1179425"/>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254" name="TextBox 253"/>
            <p:cNvSpPr txBox="1"/>
            <p:nvPr/>
          </p:nvSpPr>
          <p:spPr>
            <a:xfrm>
              <a:off x="-1381328" y="2261840"/>
              <a:ext cx="763425" cy="483722"/>
            </a:xfrm>
            <a:prstGeom prst="rect">
              <a:avLst/>
            </a:prstGeom>
            <a:noFill/>
          </p:spPr>
          <p:txBody>
            <a:bodyPr wrap="none" rtlCol="0">
              <a:spAutoFit/>
            </a:bodyPr>
            <a:lstStyle/>
            <a:p>
              <a:pPr algn="ctr">
                <a:lnSpc>
                  <a:spcPct val="90000"/>
                </a:lnSpc>
              </a:pPr>
              <a:r>
                <a:rPr lang="en-US" sz="1400" dirty="0">
                  <a:latin typeface="Arial" panose="020B0604020202090204"/>
                  <a:cs typeface="Arial" panose="020B0604020202090204"/>
                </a:rPr>
                <a:t>Access</a:t>
              </a:r>
            </a:p>
            <a:p>
              <a:pPr algn="ctr">
                <a:lnSpc>
                  <a:spcPct val="90000"/>
                </a:lnSpc>
              </a:pPr>
              <a:r>
                <a:rPr lang="en-US" sz="1400" dirty="0">
                  <a:latin typeface="Arial" panose="020B0604020202090204"/>
                  <a:cs typeface="Arial" panose="020B0604020202090204"/>
                </a:rPr>
                <a:t>Control</a:t>
              </a:r>
            </a:p>
          </p:txBody>
        </p:sp>
      </p:grpSp>
      <p:sp>
        <p:nvSpPr>
          <p:cNvPr id="215" name="Oval 214"/>
          <p:cNvSpPr/>
          <p:nvPr/>
        </p:nvSpPr>
        <p:spPr>
          <a:xfrm rot="5400000">
            <a:off x="1237809" y="3522133"/>
            <a:ext cx="534744" cy="905600"/>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grpSp>
        <p:nvGrpSpPr>
          <p:cNvPr id="21" name="Group 20"/>
          <p:cNvGrpSpPr/>
          <p:nvPr/>
        </p:nvGrpSpPr>
        <p:grpSpPr>
          <a:xfrm>
            <a:off x="1181540" y="1016000"/>
            <a:ext cx="3296896" cy="785006"/>
            <a:chOff x="2625315" y="928382"/>
            <a:chExt cx="3262119" cy="779044"/>
          </a:xfrm>
        </p:grpSpPr>
        <p:grpSp>
          <p:nvGrpSpPr>
            <p:cNvPr id="17" name="Group 16"/>
            <p:cNvGrpSpPr/>
            <p:nvPr/>
          </p:nvGrpSpPr>
          <p:grpSpPr>
            <a:xfrm>
              <a:off x="2625315" y="1073061"/>
              <a:ext cx="1442229" cy="631007"/>
              <a:chOff x="9766434" y="1112781"/>
              <a:chExt cx="1442229" cy="631007"/>
            </a:xfrm>
          </p:grpSpPr>
          <p:sp>
            <p:nvSpPr>
              <p:cNvPr id="217" name="Oval 216"/>
              <p:cNvSpPr/>
              <p:nvPr/>
            </p:nvSpPr>
            <p:spPr>
              <a:xfrm rot="5400000">
                <a:off x="10172045" y="707170"/>
                <a:ext cx="631007" cy="1442229"/>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253" name="TextBox 252"/>
              <p:cNvSpPr txBox="1"/>
              <p:nvPr/>
            </p:nvSpPr>
            <p:spPr>
              <a:xfrm>
                <a:off x="9865113" y="1189921"/>
                <a:ext cx="1279817" cy="509541"/>
              </a:xfrm>
              <a:prstGeom prst="rect">
                <a:avLst/>
              </a:prstGeom>
              <a:noFill/>
            </p:spPr>
            <p:txBody>
              <a:bodyPr wrap="none" rtlCol="0">
                <a:spAutoFit/>
              </a:bodyPr>
              <a:lstStyle/>
              <a:p>
                <a:pPr algn="ctr">
                  <a:lnSpc>
                    <a:spcPts val="1600"/>
                  </a:lnSpc>
                </a:pPr>
                <a:r>
                  <a:rPr lang="en-US" sz="1600" dirty="0">
                    <a:latin typeface="Arial" panose="020B0604020202090204"/>
                    <a:cs typeface="Arial" panose="020B0604020202090204"/>
                  </a:rPr>
                  <a:t>Traffic</a:t>
                </a:r>
              </a:p>
              <a:p>
                <a:pPr algn="ctr">
                  <a:lnSpc>
                    <a:spcPts val="1600"/>
                  </a:lnSpc>
                </a:pPr>
                <a:r>
                  <a:rPr lang="en-US" sz="1600" dirty="0">
                    <a:latin typeface="Arial" panose="020B0604020202090204"/>
                    <a:cs typeface="Arial" panose="020B0604020202090204"/>
                  </a:rPr>
                  <a:t>Engineering</a:t>
                </a:r>
              </a:p>
            </p:txBody>
          </p:sp>
        </p:grpSp>
        <p:sp>
          <p:nvSpPr>
            <p:cNvPr id="160" name="TextBox 159"/>
            <p:cNvSpPr txBox="1"/>
            <p:nvPr/>
          </p:nvSpPr>
          <p:spPr>
            <a:xfrm>
              <a:off x="4112974" y="928382"/>
              <a:ext cx="595035" cy="584776"/>
            </a:xfrm>
            <a:prstGeom prst="rect">
              <a:avLst/>
            </a:prstGeom>
            <a:noFill/>
          </p:spPr>
          <p:txBody>
            <a:bodyPr wrap="none" rtlCol="0">
              <a:spAutoFit/>
            </a:bodyPr>
            <a:lstStyle/>
            <a:p>
              <a:r>
                <a:rPr lang="en-US" sz="3200" dirty="0">
                  <a:solidFill>
                    <a:schemeClr val="accent1">
                      <a:lumMod val="75000"/>
                    </a:schemeClr>
                  </a:solidFill>
                </a:rPr>
                <a:t>…  </a:t>
              </a:r>
            </a:p>
          </p:txBody>
        </p:sp>
        <p:sp>
          <p:nvSpPr>
            <p:cNvPr id="216" name="Oval 215"/>
            <p:cNvSpPr/>
            <p:nvPr/>
          </p:nvSpPr>
          <p:spPr>
            <a:xfrm rot="5400000">
              <a:off x="4982218" y="802210"/>
              <a:ext cx="631007" cy="1179425"/>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grpSp>
      <p:grpSp>
        <p:nvGrpSpPr>
          <p:cNvPr id="15" name="Group 14"/>
          <p:cNvGrpSpPr/>
          <p:nvPr/>
        </p:nvGrpSpPr>
        <p:grpSpPr>
          <a:xfrm>
            <a:off x="1470534" y="5735053"/>
            <a:ext cx="3248526" cy="1029368"/>
            <a:chOff x="-1550737" y="5173579"/>
            <a:chExt cx="3248526" cy="1029368"/>
          </a:xfrm>
        </p:grpSpPr>
        <p:grpSp>
          <p:nvGrpSpPr>
            <p:cNvPr id="221" name="Group 220"/>
            <p:cNvGrpSpPr/>
            <p:nvPr/>
          </p:nvGrpSpPr>
          <p:grpSpPr>
            <a:xfrm>
              <a:off x="-1425965" y="5182847"/>
              <a:ext cx="2979208" cy="973667"/>
              <a:chOff x="2592388" y="5601756"/>
              <a:chExt cx="4027487" cy="939800"/>
            </a:xfrm>
          </p:grpSpPr>
          <p:sp>
            <p:nvSpPr>
              <p:cNvPr id="222" name="Freeform 2"/>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p:spPr>
            <p:txBody>
              <a:bodyPr wrap="none" anchor="ctr"/>
              <a:lstStyle/>
              <a:p>
                <a:endParaRPr lang="en-US"/>
              </a:p>
            </p:txBody>
          </p:sp>
          <p:cxnSp>
            <p:nvCxnSpPr>
              <p:cNvPr id="223" name="Straight Connector 222"/>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7" name="Straight Connector 226"/>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8" name="Straight Connector 227"/>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9" name="Straight Connector 228"/>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0" name="Straight Connector 229"/>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1" name="Straight Connector 230"/>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2" name="Straight Connector 231"/>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3" name="Straight Connector 232"/>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34" name="Group 347"/>
              <p:cNvGrpSpPr/>
              <p:nvPr/>
            </p:nvGrpSpPr>
            <p:grpSpPr bwMode="auto">
              <a:xfrm>
                <a:off x="5856401" y="5796097"/>
                <a:ext cx="588970" cy="242608"/>
                <a:chOff x="1871277" y="1576300"/>
                <a:chExt cx="1128371" cy="437861"/>
              </a:xfrm>
            </p:grpSpPr>
            <p:sp>
              <p:nvSpPr>
                <p:cNvPr id="282" name="Oval 28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3" name="Rectangle 28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4" name="Oval 28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5" name="Freeform 28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6" name="Freeform 28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7" name="Freeform 28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8" name="Freeform 28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9" name="Straight Connector 288"/>
                <p:cNvCxnSpPr>
                  <a:endCxn id="28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0" name="Straight Connector 28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5" name="Group 347"/>
              <p:cNvGrpSpPr/>
              <p:nvPr/>
            </p:nvGrpSpPr>
            <p:grpSpPr bwMode="auto">
              <a:xfrm>
                <a:off x="4375328" y="5654000"/>
                <a:ext cx="588970" cy="242608"/>
                <a:chOff x="1871277" y="1576300"/>
                <a:chExt cx="1128371" cy="437861"/>
              </a:xfrm>
            </p:grpSpPr>
            <p:sp>
              <p:nvSpPr>
                <p:cNvPr id="273" name="Oval 27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4" name="Rectangle 27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Oval 27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6" name="Freeform 27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7" name="Freeform 2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8" name="Freeform 2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Freeform 2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0" name="Straight Connector 279"/>
                <p:cNvCxnSpPr>
                  <a:endCxn id="27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1" name="Straight Connector 2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347"/>
              <p:cNvGrpSpPr/>
              <p:nvPr/>
            </p:nvGrpSpPr>
            <p:grpSpPr bwMode="auto">
              <a:xfrm>
                <a:off x="2848241" y="5847813"/>
                <a:ext cx="588970" cy="242608"/>
                <a:chOff x="1871277" y="1576300"/>
                <a:chExt cx="1128371" cy="437861"/>
              </a:xfrm>
            </p:grpSpPr>
            <p:sp>
              <p:nvSpPr>
                <p:cNvPr id="261" name="Oval 260"/>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2" name="Rectangle 261"/>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6" name="Oval 265"/>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7" name="Freeform 26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8" name="Freeform 267"/>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9" name="Freeform 268"/>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0" name="Freeform 269"/>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71" name="Straight Connector 270"/>
                <p:cNvCxnSpPr>
                  <a:endCxn id="266"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72" name="Straight Connector 271"/>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7" name="Group 347"/>
              <p:cNvGrpSpPr/>
              <p:nvPr/>
            </p:nvGrpSpPr>
            <p:grpSpPr bwMode="auto">
              <a:xfrm>
                <a:off x="5166757" y="6114152"/>
                <a:ext cx="588970" cy="242608"/>
                <a:chOff x="1871277" y="1576300"/>
                <a:chExt cx="1128371" cy="437861"/>
              </a:xfrm>
            </p:grpSpPr>
            <p:sp>
              <p:nvSpPr>
                <p:cNvPr id="248" name="Oval 247"/>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9" name="Rectangle 248"/>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0" name="Oval 249"/>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1" name="Freeform 250"/>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2" name="Freeform 25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5" name="Freeform 25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0"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8" name="Group 347"/>
              <p:cNvGrpSpPr/>
              <p:nvPr/>
            </p:nvGrpSpPr>
            <p:grpSpPr bwMode="auto">
              <a:xfrm>
                <a:off x="3704088" y="6206732"/>
                <a:ext cx="588970" cy="242608"/>
                <a:chOff x="1871277" y="1576300"/>
                <a:chExt cx="1128371" cy="437861"/>
              </a:xfrm>
            </p:grpSpPr>
            <p:sp>
              <p:nvSpPr>
                <p:cNvPr id="239" name="Oval 23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sp>
          <p:nvSpPr>
            <p:cNvPr id="295" name="Rectangle 294"/>
            <p:cNvSpPr/>
            <p:nvPr/>
          </p:nvSpPr>
          <p:spPr bwMode="auto">
            <a:xfrm>
              <a:off x="-1550737" y="5173579"/>
              <a:ext cx="3248526" cy="1029368"/>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pic>
        <p:nvPicPr>
          <p:cNvPr id="296"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7218" y="707374"/>
            <a:ext cx="7253205" cy="188316"/>
          </a:xfrm>
          <a:prstGeom prst="rect">
            <a:avLst/>
          </a:prstGeom>
          <a:noFill/>
          <a:ln>
            <a:noFill/>
          </a:ln>
        </p:spPr>
      </p:pic>
      <p:sp>
        <p:nvSpPr>
          <p:cNvPr id="297" name="Title 1"/>
          <p:cNvSpPr txBox="1"/>
          <p:nvPr/>
        </p:nvSpPr>
        <p:spPr>
          <a:xfrm>
            <a:off x="399720" y="120318"/>
            <a:ext cx="7772400" cy="972758"/>
          </a:xfrm>
          <a:prstGeom prst="rect">
            <a:avLst/>
          </a:prstGeom>
        </p:spPr>
        <p:txBody>
          <a:bodyPr/>
          <a:lstStyle>
            <a:lvl1pPr algn="l" rtl="0" eaLnBrk="0" fontAlgn="base" hangingPunct="0">
              <a:spcBef>
                <a:spcPct val="0"/>
              </a:spcBef>
              <a:spcAft>
                <a:spcPct val="0"/>
              </a:spcAft>
              <a:defRPr sz="4400">
                <a:solidFill>
                  <a:srgbClr val="000099"/>
                </a:solidFill>
                <a:latin typeface="+mj-lt"/>
                <a:ea typeface="MS PGothic" charset="0"/>
                <a:cs typeface="MS PGothic" charset="0"/>
              </a:defRPr>
            </a:lvl1pPr>
            <a:lvl2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2pPr>
            <a:lvl3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3pPr>
            <a:lvl4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4pPr>
            <a:lvl5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5pPr>
            <a:lvl6pPr marL="457200" algn="l" rtl="0" eaLnBrk="0" fontAlgn="base" hangingPunct="0">
              <a:spcBef>
                <a:spcPct val="0"/>
              </a:spcBef>
              <a:spcAft>
                <a:spcPct val="0"/>
              </a:spcAft>
              <a:defRPr sz="4400">
                <a:solidFill>
                  <a:srgbClr val="000099"/>
                </a:solidFill>
                <a:latin typeface="Gill Sans MT" pitchFamily="34" charset="0"/>
              </a:defRPr>
            </a:lvl6pPr>
            <a:lvl7pPr marL="914400" algn="l" rtl="0" eaLnBrk="0" fontAlgn="base" hangingPunct="0">
              <a:spcBef>
                <a:spcPct val="0"/>
              </a:spcBef>
              <a:spcAft>
                <a:spcPct val="0"/>
              </a:spcAft>
              <a:defRPr sz="4400">
                <a:solidFill>
                  <a:srgbClr val="000099"/>
                </a:solidFill>
                <a:latin typeface="Gill Sans MT" pitchFamily="34" charset="0"/>
              </a:defRPr>
            </a:lvl7pPr>
            <a:lvl8pPr marL="1371600" algn="l" rtl="0" eaLnBrk="0" fontAlgn="base" hangingPunct="0">
              <a:spcBef>
                <a:spcPct val="0"/>
              </a:spcBef>
              <a:spcAft>
                <a:spcPct val="0"/>
              </a:spcAft>
              <a:defRPr sz="4400">
                <a:solidFill>
                  <a:srgbClr val="000099"/>
                </a:solidFill>
                <a:latin typeface="Gill Sans MT" pitchFamily="34" charset="0"/>
              </a:defRPr>
            </a:lvl8pPr>
            <a:lvl9pPr marL="1828800" algn="l" rtl="0" eaLnBrk="0" fontAlgn="base" hangingPunct="0">
              <a:spcBef>
                <a:spcPct val="0"/>
              </a:spcBef>
              <a:spcAft>
                <a:spcPct val="0"/>
              </a:spcAft>
              <a:defRPr sz="4400">
                <a:solidFill>
                  <a:srgbClr val="000099"/>
                </a:solidFill>
                <a:latin typeface="Gill Sans MT" pitchFamily="34" charset="0"/>
              </a:defRPr>
            </a:lvl9pPr>
          </a:lstStyle>
          <a:p>
            <a:r>
              <a:rPr lang="en-US" sz="4000" dirty="0"/>
              <a:t>OpenDaylight (ODL) controller</a:t>
            </a:r>
          </a:p>
        </p:txBody>
      </p:sp>
      <p:sp>
        <p:nvSpPr>
          <p:cNvPr id="298" name="Content Placeholder 3"/>
          <p:cNvSpPr txBox="1"/>
          <p:nvPr/>
        </p:nvSpPr>
        <p:spPr>
          <a:xfrm>
            <a:off x="5915061" y="1433585"/>
            <a:ext cx="3135360" cy="4648200"/>
          </a:xfrm>
          <a:prstGeom prst="rect">
            <a:avLst/>
          </a:prstGeom>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r>
              <a:rPr lang="en-US" sz="2200" dirty="0">
                <a:solidFill>
                  <a:srgbClr val="000000"/>
                </a:solidFill>
              </a:rPr>
              <a:t>ODL Lithium controller</a:t>
            </a:r>
          </a:p>
          <a:p>
            <a:r>
              <a:rPr lang="en-US" sz="2200" dirty="0">
                <a:solidFill>
                  <a:srgbClr val="000000"/>
                </a:solidFill>
              </a:rPr>
              <a:t>network apps may be contained within, or be external to SDN controller</a:t>
            </a:r>
          </a:p>
          <a:p>
            <a:r>
              <a:rPr lang="en-US" sz="2200" dirty="0">
                <a:solidFill>
                  <a:srgbClr val="000000"/>
                </a:solidFill>
              </a:rPr>
              <a:t>Service Abstraction Layer: interconnects internal, external applications and services</a:t>
            </a:r>
          </a:p>
        </p:txBody>
      </p:sp>
      <p:sp>
        <p:nvSpPr>
          <p:cNvPr id="299" name="Slide Number Placeholder 5"/>
          <p:cNvSpPr>
            <a:spLocks noGrp="1"/>
          </p:cNvSpPr>
          <p:nvPr>
            <p:ph type="sldNum" sz="quarter" idx="12"/>
          </p:nvPr>
        </p:nvSpPr>
        <p:spPr>
          <a:xfrm>
            <a:off x="8456295" y="6475730"/>
            <a:ext cx="60198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105</a:t>
            </a:fld>
            <a:endParaRPr lang="en-US" sz="1200" dirty="0">
              <a:latin typeface="Tahoma" panose="020B0604030504040204" charset="0"/>
            </a:endParaRPr>
          </a:p>
        </p:txBody>
      </p:sp>
      <p:sp>
        <p:nvSpPr>
          <p:cNvPr id="300"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Rounded Rectangle 102"/>
          <p:cNvSpPr/>
          <p:nvPr/>
        </p:nvSpPr>
        <p:spPr>
          <a:xfrm>
            <a:off x="404938" y="2840593"/>
            <a:ext cx="4898361" cy="1408726"/>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31" name="TextBox 30"/>
          <p:cNvSpPr txBox="1"/>
          <p:nvPr/>
        </p:nvSpPr>
        <p:spPr>
          <a:xfrm>
            <a:off x="386925" y="1301692"/>
            <a:ext cx="1302460" cy="584776"/>
          </a:xfrm>
          <a:prstGeom prst="rect">
            <a:avLst/>
          </a:prstGeom>
          <a:noFill/>
        </p:spPr>
        <p:txBody>
          <a:bodyPr wrap="none" rtlCol="0">
            <a:spAutoFit/>
          </a:bodyPr>
          <a:lstStyle/>
          <a:p>
            <a:r>
              <a:rPr lang="en-US" sz="1600" dirty="0">
                <a:latin typeface="Arial" panose="020B0604020202090204"/>
                <a:cs typeface="Arial" panose="020B0604020202090204"/>
              </a:rPr>
              <a:t>Network </a:t>
            </a:r>
          </a:p>
          <a:p>
            <a:r>
              <a:rPr lang="en-US" sz="1600" dirty="0">
                <a:latin typeface="Arial" panose="020B0604020202090204"/>
                <a:cs typeface="Arial" panose="020B0604020202090204"/>
              </a:rPr>
              <a:t>control apps </a:t>
            </a:r>
          </a:p>
        </p:txBody>
      </p:sp>
      <p:sp>
        <p:nvSpPr>
          <p:cNvPr id="217" name="Oval 216"/>
          <p:cNvSpPr/>
          <p:nvPr/>
        </p:nvSpPr>
        <p:spPr>
          <a:xfrm rot="5400000">
            <a:off x="2177010" y="841271"/>
            <a:ext cx="631007" cy="1442229"/>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160" name="TextBox 159"/>
          <p:cNvSpPr txBox="1"/>
          <p:nvPr/>
        </p:nvSpPr>
        <p:spPr>
          <a:xfrm>
            <a:off x="3259058" y="1102203"/>
            <a:ext cx="595035" cy="584776"/>
          </a:xfrm>
          <a:prstGeom prst="rect">
            <a:avLst/>
          </a:prstGeom>
          <a:noFill/>
        </p:spPr>
        <p:txBody>
          <a:bodyPr wrap="none" rtlCol="0">
            <a:spAutoFit/>
          </a:bodyPr>
          <a:lstStyle/>
          <a:p>
            <a:r>
              <a:rPr lang="en-US" sz="3200" dirty="0">
                <a:solidFill>
                  <a:schemeClr val="accent1">
                    <a:lumMod val="75000"/>
                  </a:schemeClr>
                </a:solidFill>
              </a:rPr>
              <a:t>…  </a:t>
            </a:r>
          </a:p>
        </p:txBody>
      </p:sp>
      <p:sp>
        <p:nvSpPr>
          <p:cNvPr id="99" name="Rounded Rectangle 98"/>
          <p:cNvSpPr/>
          <p:nvPr/>
        </p:nvSpPr>
        <p:spPr>
          <a:xfrm>
            <a:off x="404938" y="2058742"/>
            <a:ext cx="4811594" cy="665305"/>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grpSp>
        <p:nvGrpSpPr>
          <p:cNvPr id="224" name="Group 223"/>
          <p:cNvGrpSpPr/>
          <p:nvPr/>
        </p:nvGrpSpPr>
        <p:grpSpPr>
          <a:xfrm>
            <a:off x="666771" y="2244682"/>
            <a:ext cx="1503376" cy="375164"/>
            <a:chOff x="2793562" y="3559145"/>
            <a:chExt cx="1607438" cy="375164"/>
          </a:xfrm>
        </p:grpSpPr>
        <p:sp>
          <p:nvSpPr>
            <p:cNvPr id="225" name="Rounded Rectangle 224"/>
            <p:cNvSpPr/>
            <p:nvPr/>
          </p:nvSpPr>
          <p:spPr>
            <a:xfrm>
              <a:off x="2793562" y="3559145"/>
              <a:ext cx="1457313" cy="375164"/>
            </a:xfrm>
            <a:prstGeom prst="roundRect">
              <a:avLst/>
            </a:prstGeom>
            <a:solidFill>
              <a:srgbClr val="008000"/>
            </a:solidFill>
            <a:ln w="12700">
              <a:solidFill>
                <a:schemeClr val="accent5">
                  <a:lumMod val="75000"/>
                </a:schemeClr>
              </a:solidFill>
            </a:ln>
            <a:effectLst>
              <a:outerShdw blurRad="50800" dist="38100" dir="2700000" algn="tl" rotWithShape="0">
                <a:srgbClr val="000000">
                  <a:alpha val="43000"/>
                </a:srgb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226" name="TextBox 225"/>
            <p:cNvSpPr txBox="1"/>
            <p:nvPr/>
          </p:nvSpPr>
          <p:spPr>
            <a:xfrm>
              <a:off x="2840280" y="3583293"/>
              <a:ext cx="1560720" cy="330860"/>
            </a:xfrm>
            <a:prstGeom prst="rect">
              <a:avLst/>
            </a:prstGeom>
            <a:noFill/>
          </p:spPr>
          <p:txBody>
            <a:bodyPr wrap="square" rtlCol="0">
              <a:spAutoFit/>
            </a:bodyPr>
            <a:lstStyle/>
            <a:p>
              <a:pPr>
                <a:lnSpc>
                  <a:spcPts val="1800"/>
                </a:lnSpc>
              </a:pPr>
              <a:r>
                <a:rPr lang="en-US" sz="1600" dirty="0">
                  <a:solidFill>
                    <a:schemeClr val="bg1"/>
                  </a:solidFill>
                  <a:latin typeface="Arial" panose="020B0604020202090204"/>
                  <a:cs typeface="Arial" panose="020B0604020202090204"/>
                </a:rPr>
                <a:t>REST    API</a:t>
              </a:r>
            </a:p>
          </p:txBody>
        </p:sp>
      </p:grpSp>
      <p:sp>
        <p:nvSpPr>
          <p:cNvPr id="100" name="Rounded Rectangle 99"/>
          <p:cNvSpPr/>
          <p:nvPr/>
        </p:nvSpPr>
        <p:spPr>
          <a:xfrm>
            <a:off x="383727" y="4578311"/>
            <a:ext cx="5005602" cy="880097"/>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cxnSp>
        <p:nvCxnSpPr>
          <p:cNvPr id="104" name="Straight Connector 103"/>
          <p:cNvCxnSpPr/>
          <p:nvPr/>
        </p:nvCxnSpPr>
        <p:spPr bwMode="auto">
          <a:xfrm>
            <a:off x="505728" y="4402051"/>
            <a:ext cx="4811594" cy="0"/>
          </a:xfrm>
          <a:prstGeom prst="line">
            <a:avLst/>
          </a:prstGeom>
          <a:solidFill>
            <a:schemeClr val="accent1"/>
          </a:solidFill>
          <a:ln w="19050" cap="flat" cmpd="sng" algn="ctr">
            <a:solidFill>
              <a:schemeClr val="tx1"/>
            </a:solidFill>
            <a:prstDash val="dash"/>
            <a:round/>
            <a:headEnd type="none" w="med" len="med"/>
            <a:tailEnd type="none" w="med" len="med"/>
          </a:ln>
          <a:effectLst/>
        </p:spPr>
      </p:cxnSp>
      <p:cxnSp>
        <p:nvCxnSpPr>
          <p:cNvPr id="213" name="Straight Connector 212"/>
          <p:cNvCxnSpPr/>
          <p:nvPr/>
        </p:nvCxnSpPr>
        <p:spPr bwMode="auto">
          <a:xfrm>
            <a:off x="404938" y="2002183"/>
            <a:ext cx="4811594" cy="0"/>
          </a:xfrm>
          <a:prstGeom prst="line">
            <a:avLst/>
          </a:prstGeom>
          <a:solidFill>
            <a:schemeClr val="accent1"/>
          </a:solidFill>
          <a:ln w="19050" cap="flat" cmpd="sng" algn="ctr">
            <a:solidFill>
              <a:schemeClr val="tx1"/>
            </a:solidFill>
            <a:prstDash val="dash"/>
            <a:round/>
            <a:headEnd type="none" w="med" len="med"/>
            <a:tailEnd type="none" w="med" len="med"/>
          </a:ln>
          <a:effectLst/>
        </p:spPr>
      </p:cxnSp>
      <p:sp>
        <p:nvSpPr>
          <p:cNvPr id="216" name="Oval 215"/>
          <p:cNvSpPr/>
          <p:nvPr/>
        </p:nvSpPr>
        <p:spPr>
          <a:xfrm rot="5400000">
            <a:off x="4128302" y="976031"/>
            <a:ext cx="631007" cy="1179425"/>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219" name="TextBox 218"/>
          <p:cNvSpPr txBox="1"/>
          <p:nvPr/>
        </p:nvSpPr>
        <p:spPr>
          <a:xfrm>
            <a:off x="4076818" y="3493314"/>
            <a:ext cx="1356273" cy="761234"/>
          </a:xfrm>
          <a:prstGeom prst="rect">
            <a:avLst/>
          </a:prstGeom>
          <a:noFill/>
        </p:spPr>
        <p:txBody>
          <a:bodyPr wrap="square" rtlCol="0">
            <a:spAutoFit/>
          </a:bodyPr>
          <a:lstStyle/>
          <a:p>
            <a:pPr>
              <a:lnSpc>
                <a:spcPct val="90000"/>
              </a:lnSpc>
            </a:pPr>
            <a:r>
              <a:rPr lang="en-US" sz="1600" dirty="0">
                <a:latin typeface="Arial" panose="020B0604020202090204"/>
                <a:cs typeface="Arial" panose="020B0604020202090204"/>
              </a:rPr>
              <a:t>ONOS</a:t>
            </a:r>
          </a:p>
          <a:p>
            <a:pPr>
              <a:lnSpc>
                <a:spcPct val="90000"/>
              </a:lnSpc>
            </a:pPr>
            <a:r>
              <a:rPr lang="en-US" sz="1600" dirty="0">
                <a:latin typeface="Arial" panose="020B0604020202090204"/>
                <a:cs typeface="Arial" panose="020B0604020202090204"/>
              </a:rPr>
              <a:t>distributed core</a:t>
            </a:r>
          </a:p>
        </p:txBody>
      </p:sp>
      <p:sp>
        <p:nvSpPr>
          <p:cNvPr id="181" name="TextBox 180"/>
          <p:cNvSpPr txBox="1"/>
          <p:nvPr/>
        </p:nvSpPr>
        <p:spPr>
          <a:xfrm>
            <a:off x="4012781" y="4621982"/>
            <a:ext cx="1610917" cy="761234"/>
          </a:xfrm>
          <a:prstGeom prst="rect">
            <a:avLst/>
          </a:prstGeom>
          <a:noFill/>
        </p:spPr>
        <p:txBody>
          <a:bodyPr wrap="square" rtlCol="0">
            <a:spAutoFit/>
          </a:bodyPr>
          <a:lstStyle/>
          <a:p>
            <a:pPr>
              <a:lnSpc>
                <a:spcPct val="90000"/>
              </a:lnSpc>
            </a:pPr>
            <a:r>
              <a:rPr lang="en-US" sz="1600" dirty="0">
                <a:latin typeface="Arial" panose="020B0604020202090204"/>
                <a:cs typeface="Arial" panose="020B0604020202090204"/>
              </a:rPr>
              <a:t>southbound abstractions,</a:t>
            </a:r>
          </a:p>
          <a:p>
            <a:pPr>
              <a:lnSpc>
                <a:spcPct val="90000"/>
              </a:lnSpc>
            </a:pPr>
            <a:r>
              <a:rPr lang="en-US" sz="1600" dirty="0">
                <a:latin typeface="Arial" panose="020B0604020202090204"/>
                <a:cs typeface="Arial" panose="020B0604020202090204"/>
              </a:rPr>
              <a:t>protocols</a:t>
            </a:r>
          </a:p>
        </p:txBody>
      </p:sp>
      <p:grpSp>
        <p:nvGrpSpPr>
          <p:cNvPr id="2" name="Group 1"/>
          <p:cNvGrpSpPr/>
          <p:nvPr/>
        </p:nvGrpSpPr>
        <p:grpSpPr>
          <a:xfrm>
            <a:off x="514814" y="5040198"/>
            <a:ext cx="1119818" cy="338554"/>
            <a:chOff x="1929852" y="4542126"/>
            <a:chExt cx="1119818" cy="338554"/>
          </a:xfrm>
        </p:grpSpPr>
        <p:sp>
          <p:nvSpPr>
            <p:cNvPr id="220" name="Rounded Rectangle 219"/>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8" name="TextBox 7"/>
            <p:cNvSpPr txBox="1"/>
            <p:nvPr/>
          </p:nvSpPr>
          <p:spPr>
            <a:xfrm>
              <a:off x="1929852" y="4542126"/>
              <a:ext cx="1119818" cy="338554"/>
            </a:xfrm>
            <a:prstGeom prst="rect">
              <a:avLst/>
            </a:prstGeom>
            <a:noFill/>
          </p:spPr>
          <p:txBody>
            <a:bodyPr wrap="none" rtlCol="0">
              <a:spAutoFit/>
            </a:bodyPr>
            <a:lstStyle/>
            <a:p>
              <a:r>
                <a:rPr lang="en-US" sz="1600" dirty="0">
                  <a:solidFill>
                    <a:schemeClr val="bg1"/>
                  </a:solidFill>
                  <a:latin typeface="Arial" panose="020B0604020202090204"/>
                  <a:cs typeface="Arial" panose="020B0604020202090204"/>
                </a:rPr>
                <a:t>OpenFlow</a:t>
              </a:r>
            </a:p>
          </p:txBody>
        </p:sp>
      </p:grpSp>
      <p:grpSp>
        <p:nvGrpSpPr>
          <p:cNvPr id="7" name="Group 6"/>
          <p:cNvGrpSpPr/>
          <p:nvPr/>
        </p:nvGrpSpPr>
        <p:grpSpPr>
          <a:xfrm>
            <a:off x="1726606" y="5041658"/>
            <a:ext cx="1062275" cy="338554"/>
            <a:chOff x="2774641" y="4248836"/>
            <a:chExt cx="1062275" cy="338554"/>
          </a:xfrm>
        </p:grpSpPr>
        <p:sp>
          <p:nvSpPr>
            <p:cNvPr id="223" name="Rounded Rectangle 222"/>
            <p:cNvSpPr/>
            <p:nvPr/>
          </p:nvSpPr>
          <p:spPr>
            <a:xfrm>
              <a:off x="2774641" y="4279216"/>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221" name="TextBox 220"/>
            <p:cNvSpPr txBox="1"/>
            <p:nvPr/>
          </p:nvSpPr>
          <p:spPr>
            <a:xfrm>
              <a:off x="2873106" y="4248836"/>
              <a:ext cx="902811" cy="338554"/>
            </a:xfrm>
            <a:prstGeom prst="rect">
              <a:avLst/>
            </a:prstGeom>
            <a:noFill/>
          </p:spPr>
          <p:txBody>
            <a:bodyPr wrap="none" rtlCol="0">
              <a:spAutoFit/>
            </a:bodyPr>
            <a:lstStyle/>
            <a:p>
              <a:r>
                <a:rPr lang="en-US" sz="1600" dirty="0">
                  <a:solidFill>
                    <a:schemeClr val="bg1"/>
                  </a:solidFill>
                  <a:latin typeface="Arial" panose="020B0604020202090204"/>
                  <a:cs typeface="Arial" panose="020B0604020202090204"/>
                </a:rPr>
                <a:t>Netconf</a:t>
              </a:r>
            </a:p>
          </p:txBody>
        </p:sp>
      </p:grpSp>
      <p:grpSp>
        <p:nvGrpSpPr>
          <p:cNvPr id="12" name="Group 11"/>
          <p:cNvGrpSpPr/>
          <p:nvPr/>
        </p:nvGrpSpPr>
        <p:grpSpPr>
          <a:xfrm>
            <a:off x="2979322" y="5053826"/>
            <a:ext cx="858974" cy="413739"/>
            <a:chOff x="4304185" y="4617263"/>
            <a:chExt cx="858974" cy="413739"/>
          </a:xfrm>
        </p:grpSpPr>
        <p:sp>
          <p:nvSpPr>
            <p:cNvPr id="222" name="Rounded Rectangle 221"/>
            <p:cNvSpPr/>
            <p:nvPr/>
          </p:nvSpPr>
          <p:spPr>
            <a:xfrm>
              <a:off x="4304185" y="4647691"/>
              <a:ext cx="858974"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265" name="TextBox 264"/>
            <p:cNvSpPr txBox="1"/>
            <p:nvPr/>
          </p:nvSpPr>
          <p:spPr>
            <a:xfrm>
              <a:off x="4307335" y="4617263"/>
              <a:ext cx="842600" cy="413739"/>
            </a:xfrm>
            <a:prstGeom prst="rect">
              <a:avLst/>
            </a:prstGeom>
            <a:noFill/>
          </p:spPr>
          <p:txBody>
            <a:bodyPr wrap="none" rtlCol="0">
              <a:spAutoFit/>
            </a:bodyPr>
            <a:lstStyle/>
            <a:p>
              <a:r>
                <a:rPr lang="en-US" sz="1600" dirty="0">
                  <a:solidFill>
                    <a:schemeClr val="bg1"/>
                  </a:solidFill>
                  <a:latin typeface="Arial" panose="020B0604020202090204"/>
                  <a:cs typeface="Arial" panose="020B0604020202090204"/>
                </a:rPr>
                <a:t>OVSDB</a:t>
              </a:r>
            </a:p>
          </p:txBody>
        </p:sp>
      </p:grpSp>
      <p:grpSp>
        <p:nvGrpSpPr>
          <p:cNvPr id="227" name="Group 226"/>
          <p:cNvGrpSpPr/>
          <p:nvPr/>
        </p:nvGrpSpPr>
        <p:grpSpPr>
          <a:xfrm>
            <a:off x="524833" y="4631710"/>
            <a:ext cx="777777" cy="338554"/>
            <a:chOff x="1929852" y="4542126"/>
            <a:chExt cx="1083553" cy="338554"/>
          </a:xfrm>
        </p:grpSpPr>
        <p:sp>
          <p:nvSpPr>
            <p:cNvPr id="228" name="Rounded Rectangle 227"/>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229" name="TextBox 228"/>
            <p:cNvSpPr txBox="1"/>
            <p:nvPr/>
          </p:nvSpPr>
          <p:spPr>
            <a:xfrm>
              <a:off x="1929852" y="4542126"/>
              <a:ext cx="777777" cy="338554"/>
            </a:xfrm>
            <a:prstGeom prst="rect">
              <a:avLst/>
            </a:prstGeom>
            <a:noFill/>
          </p:spPr>
          <p:txBody>
            <a:bodyPr wrap="none" rtlCol="0">
              <a:spAutoFit/>
            </a:bodyPr>
            <a:lstStyle/>
            <a:p>
              <a:r>
                <a:rPr lang="en-US" sz="1600" dirty="0">
                  <a:solidFill>
                    <a:schemeClr val="bg1"/>
                  </a:solidFill>
                  <a:latin typeface="Arial" panose="020B0604020202090204"/>
                  <a:cs typeface="Arial" panose="020B0604020202090204"/>
                </a:rPr>
                <a:t>device</a:t>
              </a:r>
            </a:p>
          </p:txBody>
        </p:sp>
      </p:grpSp>
      <p:grpSp>
        <p:nvGrpSpPr>
          <p:cNvPr id="230" name="Group 229"/>
          <p:cNvGrpSpPr/>
          <p:nvPr/>
        </p:nvGrpSpPr>
        <p:grpSpPr>
          <a:xfrm>
            <a:off x="1356003" y="4629752"/>
            <a:ext cx="573691" cy="338554"/>
            <a:chOff x="1951130" y="4538598"/>
            <a:chExt cx="1062275" cy="338554"/>
          </a:xfrm>
        </p:grpSpPr>
        <p:sp>
          <p:nvSpPr>
            <p:cNvPr id="231" name="Rounded Rectangle 230"/>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232" name="TextBox 231"/>
            <p:cNvSpPr txBox="1"/>
            <p:nvPr/>
          </p:nvSpPr>
          <p:spPr>
            <a:xfrm>
              <a:off x="2014708" y="4538598"/>
              <a:ext cx="703908" cy="338554"/>
            </a:xfrm>
            <a:prstGeom prst="rect">
              <a:avLst/>
            </a:prstGeom>
            <a:noFill/>
          </p:spPr>
          <p:txBody>
            <a:bodyPr wrap="none" rtlCol="0">
              <a:spAutoFit/>
            </a:bodyPr>
            <a:lstStyle/>
            <a:p>
              <a:r>
                <a:rPr lang="en-US" sz="1600" dirty="0">
                  <a:solidFill>
                    <a:schemeClr val="bg1"/>
                  </a:solidFill>
                  <a:latin typeface="Arial" panose="020B0604020202090204"/>
                  <a:cs typeface="Arial" panose="020B0604020202090204"/>
                </a:rPr>
                <a:t>link</a:t>
              </a:r>
            </a:p>
          </p:txBody>
        </p:sp>
      </p:grpSp>
      <p:grpSp>
        <p:nvGrpSpPr>
          <p:cNvPr id="233" name="Group 232"/>
          <p:cNvGrpSpPr/>
          <p:nvPr/>
        </p:nvGrpSpPr>
        <p:grpSpPr>
          <a:xfrm>
            <a:off x="1964566" y="4630736"/>
            <a:ext cx="561323" cy="338554"/>
            <a:chOff x="1921370" y="4542126"/>
            <a:chExt cx="1092035" cy="338554"/>
          </a:xfrm>
        </p:grpSpPr>
        <p:sp>
          <p:nvSpPr>
            <p:cNvPr id="234" name="Rounded Rectangle 233"/>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235" name="TextBox 234"/>
            <p:cNvSpPr txBox="1"/>
            <p:nvPr/>
          </p:nvSpPr>
          <p:spPr>
            <a:xfrm>
              <a:off x="1921370" y="4542126"/>
              <a:ext cx="797563" cy="338554"/>
            </a:xfrm>
            <a:prstGeom prst="rect">
              <a:avLst/>
            </a:prstGeom>
            <a:noFill/>
          </p:spPr>
          <p:txBody>
            <a:bodyPr wrap="none" rtlCol="0">
              <a:spAutoFit/>
            </a:bodyPr>
            <a:lstStyle/>
            <a:p>
              <a:r>
                <a:rPr lang="en-US" sz="1600" dirty="0">
                  <a:solidFill>
                    <a:schemeClr val="bg1"/>
                  </a:solidFill>
                  <a:latin typeface="Arial" panose="020B0604020202090204"/>
                  <a:cs typeface="Arial" panose="020B0604020202090204"/>
                </a:rPr>
                <a:t>host</a:t>
              </a:r>
            </a:p>
          </p:txBody>
        </p:sp>
      </p:grpSp>
      <p:grpSp>
        <p:nvGrpSpPr>
          <p:cNvPr id="236" name="Group 235"/>
          <p:cNvGrpSpPr/>
          <p:nvPr/>
        </p:nvGrpSpPr>
        <p:grpSpPr>
          <a:xfrm>
            <a:off x="2571425" y="4630736"/>
            <a:ext cx="533020" cy="338554"/>
            <a:chOff x="1933590" y="4542126"/>
            <a:chExt cx="1079815" cy="338554"/>
          </a:xfrm>
        </p:grpSpPr>
        <p:sp>
          <p:nvSpPr>
            <p:cNvPr id="237" name="Rounded Rectangle 236"/>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238" name="TextBox 237"/>
            <p:cNvSpPr txBox="1"/>
            <p:nvPr/>
          </p:nvSpPr>
          <p:spPr>
            <a:xfrm>
              <a:off x="1933590" y="4542126"/>
              <a:ext cx="765598" cy="338554"/>
            </a:xfrm>
            <a:prstGeom prst="rect">
              <a:avLst/>
            </a:prstGeom>
            <a:noFill/>
          </p:spPr>
          <p:txBody>
            <a:bodyPr wrap="none" rtlCol="0">
              <a:spAutoFit/>
            </a:bodyPr>
            <a:lstStyle/>
            <a:p>
              <a:r>
                <a:rPr lang="en-US" sz="1600" dirty="0">
                  <a:solidFill>
                    <a:schemeClr val="bg1"/>
                  </a:solidFill>
                  <a:latin typeface="Arial" panose="020B0604020202090204"/>
                  <a:cs typeface="Arial" panose="020B0604020202090204"/>
                </a:rPr>
                <a:t>flow</a:t>
              </a:r>
            </a:p>
          </p:txBody>
        </p:sp>
      </p:grpSp>
      <p:grpSp>
        <p:nvGrpSpPr>
          <p:cNvPr id="239" name="Group 238"/>
          <p:cNvGrpSpPr/>
          <p:nvPr/>
        </p:nvGrpSpPr>
        <p:grpSpPr>
          <a:xfrm>
            <a:off x="3122581" y="4615304"/>
            <a:ext cx="768563" cy="341965"/>
            <a:chOff x="1907908" y="4523169"/>
            <a:chExt cx="1105497" cy="341965"/>
          </a:xfrm>
        </p:grpSpPr>
        <p:sp>
          <p:nvSpPr>
            <p:cNvPr id="240" name="Rounded Rectangle 239"/>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241" name="TextBox 240"/>
            <p:cNvSpPr txBox="1"/>
            <p:nvPr/>
          </p:nvSpPr>
          <p:spPr>
            <a:xfrm>
              <a:off x="1907908" y="4523169"/>
              <a:ext cx="1099465" cy="338554"/>
            </a:xfrm>
            <a:prstGeom prst="rect">
              <a:avLst/>
            </a:prstGeom>
            <a:noFill/>
          </p:spPr>
          <p:txBody>
            <a:bodyPr wrap="none" rtlCol="0">
              <a:spAutoFit/>
            </a:bodyPr>
            <a:lstStyle/>
            <a:p>
              <a:r>
                <a:rPr lang="en-US" sz="1600" dirty="0">
                  <a:solidFill>
                    <a:schemeClr val="bg1"/>
                  </a:solidFill>
                  <a:latin typeface="Arial" panose="020B0604020202090204"/>
                  <a:cs typeface="Arial" panose="020B0604020202090204"/>
                </a:rPr>
                <a:t>packet</a:t>
              </a:r>
            </a:p>
          </p:txBody>
        </p:sp>
      </p:grpSp>
      <p:sp>
        <p:nvSpPr>
          <p:cNvPr id="243" name="TextBox 242"/>
          <p:cNvSpPr txBox="1"/>
          <p:nvPr/>
        </p:nvSpPr>
        <p:spPr>
          <a:xfrm>
            <a:off x="3905769" y="2005996"/>
            <a:ext cx="1610917" cy="761234"/>
          </a:xfrm>
          <a:prstGeom prst="rect">
            <a:avLst/>
          </a:prstGeom>
          <a:noFill/>
        </p:spPr>
        <p:txBody>
          <a:bodyPr wrap="square" rtlCol="0">
            <a:spAutoFit/>
          </a:bodyPr>
          <a:lstStyle/>
          <a:p>
            <a:pPr>
              <a:lnSpc>
                <a:spcPct val="90000"/>
              </a:lnSpc>
            </a:pPr>
            <a:r>
              <a:rPr lang="en-US" sz="1600" dirty="0">
                <a:latin typeface="Arial" panose="020B0604020202090204"/>
                <a:cs typeface="Arial" panose="020B0604020202090204"/>
              </a:rPr>
              <a:t>northbound abstractions,</a:t>
            </a:r>
          </a:p>
          <a:p>
            <a:pPr>
              <a:lnSpc>
                <a:spcPct val="90000"/>
              </a:lnSpc>
            </a:pPr>
            <a:r>
              <a:rPr lang="en-US" sz="1600" dirty="0">
                <a:latin typeface="Arial" panose="020B0604020202090204"/>
                <a:cs typeface="Arial" panose="020B0604020202090204"/>
              </a:rPr>
              <a:t>protocols</a:t>
            </a:r>
          </a:p>
        </p:txBody>
      </p:sp>
      <p:grpSp>
        <p:nvGrpSpPr>
          <p:cNvPr id="245" name="Group 244"/>
          <p:cNvGrpSpPr/>
          <p:nvPr/>
        </p:nvGrpSpPr>
        <p:grpSpPr>
          <a:xfrm>
            <a:off x="2270558" y="2244682"/>
            <a:ext cx="1362970" cy="375164"/>
            <a:chOff x="2793562" y="3559145"/>
            <a:chExt cx="1457313" cy="375164"/>
          </a:xfrm>
        </p:grpSpPr>
        <p:sp>
          <p:nvSpPr>
            <p:cNvPr id="246" name="Rounded Rectangle 245"/>
            <p:cNvSpPr/>
            <p:nvPr/>
          </p:nvSpPr>
          <p:spPr>
            <a:xfrm>
              <a:off x="2793562" y="3559145"/>
              <a:ext cx="1457313" cy="375164"/>
            </a:xfrm>
            <a:prstGeom prst="roundRect">
              <a:avLst/>
            </a:prstGeom>
            <a:solidFill>
              <a:srgbClr val="008000"/>
            </a:solidFill>
            <a:ln w="12700">
              <a:solidFill>
                <a:schemeClr val="accent5">
                  <a:lumMod val="75000"/>
                </a:schemeClr>
              </a:solidFill>
            </a:ln>
            <a:effectLst>
              <a:outerShdw blurRad="50800" dist="38100" dir="2700000" algn="tl" rotWithShape="0">
                <a:srgbClr val="000000">
                  <a:alpha val="43000"/>
                </a:srgb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600" b="0" i="0" u="none" strike="noStrike" cap="none" normalizeH="0" baseline="0">
                <a:ln>
                  <a:noFill/>
                </a:ln>
                <a:solidFill>
                  <a:schemeClr val="tx1"/>
                </a:solidFill>
                <a:effectLst/>
                <a:latin typeface="Arial" panose="020B0604020202090204"/>
                <a:cs typeface="Arial" panose="020B0604020202090204"/>
              </a:endParaRPr>
            </a:p>
          </p:txBody>
        </p:sp>
        <p:sp>
          <p:nvSpPr>
            <p:cNvPr id="247" name="TextBox 246"/>
            <p:cNvSpPr txBox="1"/>
            <p:nvPr/>
          </p:nvSpPr>
          <p:spPr>
            <a:xfrm>
              <a:off x="3085361" y="3583293"/>
              <a:ext cx="895069" cy="330860"/>
            </a:xfrm>
            <a:prstGeom prst="rect">
              <a:avLst/>
            </a:prstGeom>
            <a:noFill/>
          </p:spPr>
          <p:txBody>
            <a:bodyPr wrap="square" rtlCol="0">
              <a:spAutoFit/>
            </a:bodyPr>
            <a:lstStyle/>
            <a:p>
              <a:pPr>
                <a:lnSpc>
                  <a:spcPts val="1800"/>
                </a:lnSpc>
              </a:pPr>
              <a:r>
                <a:rPr lang="en-US" sz="1600" dirty="0">
                  <a:solidFill>
                    <a:schemeClr val="bg1"/>
                  </a:solidFill>
                  <a:latin typeface="Arial" panose="020B0604020202090204"/>
                  <a:cs typeface="Arial" panose="020B0604020202090204"/>
                </a:rPr>
                <a:t>Intent</a:t>
              </a:r>
            </a:p>
          </p:txBody>
        </p:sp>
      </p:grpSp>
      <p:grpSp>
        <p:nvGrpSpPr>
          <p:cNvPr id="248" name="Group 247"/>
          <p:cNvGrpSpPr/>
          <p:nvPr/>
        </p:nvGrpSpPr>
        <p:grpSpPr>
          <a:xfrm>
            <a:off x="2879342" y="3577951"/>
            <a:ext cx="971340" cy="459826"/>
            <a:chOff x="3067713" y="457817"/>
            <a:chExt cx="1563748" cy="459826"/>
          </a:xfrm>
        </p:grpSpPr>
        <p:sp>
          <p:nvSpPr>
            <p:cNvPr id="249" name="Rounded Rectangle 24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250" name="TextBox 249"/>
            <p:cNvSpPr txBox="1"/>
            <p:nvPr/>
          </p:nvSpPr>
          <p:spPr>
            <a:xfrm>
              <a:off x="3067713" y="541671"/>
              <a:ext cx="1563748" cy="304357"/>
            </a:xfrm>
            <a:prstGeom prst="rect">
              <a:avLst/>
            </a:prstGeom>
            <a:noFill/>
          </p:spPr>
          <p:txBody>
            <a:bodyPr wrap="none" rtlCol="0">
              <a:spAutoFit/>
            </a:bodyPr>
            <a:lstStyle/>
            <a:p>
              <a:pPr algn="ctr">
                <a:lnSpc>
                  <a:spcPts val="1600"/>
                </a:lnSpc>
              </a:pPr>
              <a:r>
                <a:rPr lang="en-US" sz="1600" dirty="0">
                  <a:latin typeface="Arial" panose="020B0604020202090204"/>
                  <a:cs typeface="Arial" panose="020B0604020202090204"/>
                </a:rPr>
                <a:t>statistics</a:t>
              </a:r>
              <a:endParaRPr lang="en-US" sz="1400" dirty="0">
                <a:latin typeface="Arial" panose="020B0604020202090204"/>
                <a:cs typeface="Arial" panose="020B0604020202090204"/>
              </a:endParaRPr>
            </a:p>
          </p:txBody>
        </p:sp>
      </p:grpSp>
      <p:grpSp>
        <p:nvGrpSpPr>
          <p:cNvPr id="251" name="Group 250"/>
          <p:cNvGrpSpPr/>
          <p:nvPr/>
        </p:nvGrpSpPr>
        <p:grpSpPr>
          <a:xfrm>
            <a:off x="637141" y="3564396"/>
            <a:ext cx="889706" cy="459826"/>
            <a:chOff x="3128876" y="457817"/>
            <a:chExt cx="1432326" cy="459826"/>
          </a:xfrm>
        </p:grpSpPr>
        <p:sp>
          <p:nvSpPr>
            <p:cNvPr id="252" name="Rounded Rectangle 25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255" name="TextBox 254"/>
            <p:cNvSpPr txBox="1"/>
            <p:nvPr/>
          </p:nvSpPr>
          <p:spPr>
            <a:xfrm>
              <a:off x="3140940" y="541671"/>
              <a:ext cx="1417294" cy="304357"/>
            </a:xfrm>
            <a:prstGeom prst="rect">
              <a:avLst/>
            </a:prstGeom>
            <a:noFill/>
          </p:spPr>
          <p:txBody>
            <a:bodyPr wrap="none" rtlCol="0">
              <a:spAutoFit/>
            </a:bodyPr>
            <a:lstStyle/>
            <a:p>
              <a:pPr algn="ctr">
                <a:lnSpc>
                  <a:spcPts val="1600"/>
                </a:lnSpc>
              </a:pPr>
              <a:r>
                <a:rPr lang="en-US" sz="1600" dirty="0">
                  <a:latin typeface="Arial" panose="020B0604020202090204"/>
                  <a:cs typeface="Arial" panose="020B0604020202090204"/>
                </a:rPr>
                <a:t>devices</a:t>
              </a:r>
              <a:endParaRPr lang="en-US" sz="1400" dirty="0">
                <a:latin typeface="Arial" panose="020B0604020202090204"/>
                <a:cs typeface="Arial" panose="020B0604020202090204"/>
              </a:endParaRPr>
            </a:p>
          </p:txBody>
        </p:sp>
      </p:grpSp>
      <p:grpSp>
        <p:nvGrpSpPr>
          <p:cNvPr id="259" name="Group 258"/>
          <p:cNvGrpSpPr/>
          <p:nvPr/>
        </p:nvGrpSpPr>
        <p:grpSpPr>
          <a:xfrm>
            <a:off x="648682" y="3004281"/>
            <a:ext cx="889706" cy="459826"/>
            <a:chOff x="3128876" y="457817"/>
            <a:chExt cx="1432326" cy="459826"/>
          </a:xfrm>
        </p:grpSpPr>
        <p:sp>
          <p:nvSpPr>
            <p:cNvPr id="260" name="Rounded Rectangle 259"/>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261" name="TextBox 260"/>
            <p:cNvSpPr txBox="1"/>
            <p:nvPr/>
          </p:nvSpPr>
          <p:spPr>
            <a:xfrm>
              <a:off x="3306184" y="541671"/>
              <a:ext cx="1086810" cy="304357"/>
            </a:xfrm>
            <a:prstGeom prst="rect">
              <a:avLst/>
            </a:prstGeom>
            <a:noFill/>
          </p:spPr>
          <p:txBody>
            <a:bodyPr wrap="none" rtlCol="0">
              <a:spAutoFit/>
            </a:bodyPr>
            <a:lstStyle/>
            <a:p>
              <a:pPr algn="ctr">
                <a:lnSpc>
                  <a:spcPts val="1600"/>
                </a:lnSpc>
              </a:pPr>
              <a:r>
                <a:rPr lang="en-US" sz="1600" dirty="0">
                  <a:latin typeface="Arial" panose="020B0604020202090204"/>
                  <a:cs typeface="Arial" panose="020B0604020202090204"/>
                </a:rPr>
                <a:t>hosts</a:t>
              </a:r>
              <a:endParaRPr lang="en-US" sz="1400" dirty="0">
                <a:latin typeface="Arial" panose="020B0604020202090204"/>
                <a:cs typeface="Arial" panose="020B0604020202090204"/>
              </a:endParaRPr>
            </a:p>
          </p:txBody>
        </p:sp>
      </p:grpSp>
      <p:grpSp>
        <p:nvGrpSpPr>
          <p:cNvPr id="266" name="Group 265"/>
          <p:cNvGrpSpPr/>
          <p:nvPr/>
        </p:nvGrpSpPr>
        <p:grpSpPr>
          <a:xfrm>
            <a:off x="1778595" y="3564396"/>
            <a:ext cx="889706" cy="459826"/>
            <a:chOff x="3128876" y="457817"/>
            <a:chExt cx="1432326" cy="459826"/>
          </a:xfrm>
        </p:grpSpPr>
        <p:sp>
          <p:nvSpPr>
            <p:cNvPr id="267" name="Rounded Rectangle 266"/>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268" name="TextBox 267"/>
            <p:cNvSpPr txBox="1"/>
            <p:nvPr/>
          </p:nvSpPr>
          <p:spPr>
            <a:xfrm>
              <a:off x="3370539" y="541671"/>
              <a:ext cx="958100" cy="304357"/>
            </a:xfrm>
            <a:prstGeom prst="rect">
              <a:avLst/>
            </a:prstGeom>
            <a:noFill/>
          </p:spPr>
          <p:txBody>
            <a:bodyPr wrap="none" rtlCol="0">
              <a:spAutoFit/>
            </a:bodyPr>
            <a:lstStyle/>
            <a:p>
              <a:pPr algn="ctr">
                <a:lnSpc>
                  <a:spcPts val="1600"/>
                </a:lnSpc>
              </a:pPr>
              <a:r>
                <a:rPr lang="en-US" sz="1600" dirty="0">
                  <a:latin typeface="Arial" panose="020B0604020202090204"/>
                  <a:cs typeface="Arial" panose="020B0604020202090204"/>
                </a:rPr>
                <a:t>links</a:t>
              </a:r>
              <a:endParaRPr lang="en-US" sz="1400" dirty="0">
                <a:latin typeface="Arial" panose="020B0604020202090204"/>
                <a:cs typeface="Arial" panose="020B0604020202090204"/>
              </a:endParaRPr>
            </a:p>
          </p:txBody>
        </p:sp>
      </p:grpSp>
      <p:grpSp>
        <p:nvGrpSpPr>
          <p:cNvPr id="269" name="Group 268"/>
          <p:cNvGrpSpPr/>
          <p:nvPr/>
        </p:nvGrpSpPr>
        <p:grpSpPr>
          <a:xfrm>
            <a:off x="1778595" y="3004281"/>
            <a:ext cx="889706" cy="459826"/>
            <a:chOff x="3128876" y="457817"/>
            <a:chExt cx="1432326" cy="459826"/>
          </a:xfrm>
        </p:grpSpPr>
        <p:sp>
          <p:nvSpPr>
            <p:cNvPr id="270" name="Rounded Rectangle 269"/>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271" name="TextBox 270"/>
            <p:cNvSpPr txBox="1"/>
            <p:nvPr/>
          </p:nvSpPr>
          <p:spPr>
            <a:xfrm>
              <a:off x="3296911" y="541671"/>
              <a:ext cx="1105358" cy="304357"/>
            </a:xfrm>
            <a:prstGeom prst="rect">
              <a:avLst/>
            </a:prstGeom>
            <a:noFill/>
          </p:spPr>
          <p:txBody>
            <a:bodyPr wrap="none" rtlCol="0">
              <a:spAutoFit/>
            </a:bodyPr>
            <a:lstStyle/>
            <a:p>
              <a:pPr algn="ctr">
                <a:lnSpc>
                  <a:spcPts val="1600"/>
                </a:lnSpc>
              </a:pPr>
              <a:r>
                <a:rPr lang="en-US" sz="1600" dirty="0">
                  <a:latin typeface="Arial" panose="020B0604020202090204"/>
                  <a:cs typeface="Arial" panose="020B0604020202090204"/>
                </a:rPr>
                <a:t>paths</a:t>
              </a:r>
              <a:endParaRPr lang="en-US" sz="1400" dirty="0">
                <a:latin typeface="Arial" panose="020B0604020202090204"/>
                <a:cs typeface="Arial" panose="020B0604020202090204"/>
              </a:endParaRPr>
            </a:p>
          </p:txBody>
        </p:sp>
      </p:grpSp>
      <p:grpSp>
        <p:nvGrpSpPr>
          <p:cNvPr id="272" name="Group 271"/>
          <p:cNvGrpSpPr/>
          <p:nvPr/>
        </p:nvGrpSpPr>
        <p:grpSpPr>
          <a:xfrm>
            <a:off x="2809351" y="3004281"/>
            <a:ext cx="1166221" cy="459826"/>
            <a:chOff x="3003364" y="457817"/>
            <a:chExt cx="1692457" cy="459826"/>
          </a:xfrm>
        </p:grpSpPr>
        <p:sp>
          <p:nvSpPr>
            <p:cNvPr id="273" name="Rounded Rectangle 272"/>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274" name="TextBox 273"/>
            <p:cNvSpPr txBox="1"/>
            <p:nvPr/>
          </p:nvSpPr>
          <p:spPr>
            <a:xfrm>
              <a:off x="3003364" y="541671"/>
              <a:ext cx="1692457" cy="304357"/>
            </a:xfrm>
            <a:prstGeom prst="rect">
              <a:avLst/>
            </a:prstGeom>
            <a:noFill/>
          </p:spPr>
          <p:txBody>
            <a:bodyPr wrap="none" rtlCol="0">
              <a:spAutoFit/>
            </a:bodyPr>
            <a:lstStyle/>
            <a:p>
              <a:pPr algn="ctr">
                <a:lnSpc>
                  <a:spcPts val="1600"/>
                </a:lnSpc>
              </a:pPr>
              <a:r>
                <a:rPr lang="en-US" sz="1600" dirty="0">
                  <a:latin typeface="Arial" panose="020B0604020202090204"/>
                  <a:cs typeface="Arial" panose="020B0604020202090204"/>
                </a:rPr>
                <a:t>flow rules</a:t>
              </a:r>
              <a:endParaRPr lang="en-US" sz="1400" dirty="0">
                <a:latin typeface="Arial" panose="020B0604020202090204"/>
                <a:cs typeface="Arial" panose="020B0604020202090204"/>
              </a:endParaRPr>
            </a:p>
          </p:txBody>
        </p:sp>
      </p:grpSp>
      <p:grpSp>
        <p:nvGrpSpPr>
          <p:cNvPr id="275" name="Group 274"/>
          <p:cNvGrpSpPr/>
          <p:nvPr/>
        </p:nvGrpSpPr>
        <p:grpSpPr>
          <a:xfrm>
            <a:off x="4110124" y="3008876"/>
            <a:ext cx="986973" cy="459826"/>
            <a:chOff x="3128876" y="457817"/>
            <a:chExt cx="1432326" cy="459826"/>
          </a:xfrm>
        </p:grpSpPr>
        <p:sp>
          <p:nvSpPr>
            <p:cNvPr id="276" name="Rounded Rectangle 275"/>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lstStyle/>
            <a:p>
              <a:pPr marL="0" marR="0" indent="0" algn="l" defTabSz="914400" rtl="0" eaLnBrk="0" fontAlgn="base" latinLnBrk="0" hangingPunct="0">
                <a:lnSpc>
                  <a:spcPct val="100000"/>
                </a:lnSpc>
                <a:spcBef>
                  <a:spcPct val="0"/>
                </a:spcBef>
                <a:spcAft>
                  <a:spcPct val="0"/>
                </a:spcAft>
                <a:buClrTx/>
                <a:buSzTx/>
                <a:buFontTx/>
                <a:buNone/>
              </a:pPr>
              <a:endParaRPr kumimoji="0" lang="en-US" sz="1800" b="0" i="0" u="none" strike="noStrike" cap="none" normalizeH="0" baseline="0">
                <a:ln>
                  <a:noFill/>
                </a:ln>
                <a:solidFill>
                  <a:schemeClr val="tx1"/>
                </a:solidFill>
                <a:effectLst/>
                <a:latin typeface="Arial" panose="020B0604020202090204" pitchFamily="34" charset="0"/>
              </a:endParaRPr>
            </a:p>
          </p:txBody>
        </p:sp>
        <p:sp>
          <p:nvSpPr>
            <p:cNvPr id="277" name="TextBox 276"/>
            <p:cNvSpPr txBox="1"/>
            <p:nvPr/>
          </p:nvSpPr>
          <p:spPr>
            <a:xfrm>
              <a:off x="3152699" y="541671"/>
              <a:ext cx="1393790" cy="304357"/>
            </a:xfrm>
            <a:prstGeom prst="rect">
              <a:avLst/>
            </a:prstGeom>
            <a:noFill/>
          </p:spPr>
          <p:txBody>
            <a:bodyPr wrap="none" rtlCol="0">
              <a:spAutoFit/>
            </a:bodyPr>
            <a:lstStyle/>
            <a:p>
              <a:pPr algn="ctr">
                <a:lnSpc>
                  <a:spcPts val="1600"/>
                </a:lnSpc>
              </a:pPr>
              <a:r>
                <a:rPr lang="en-US" sz="1600" dirty="0">
                  <a:latin typeface="Arial" panose="020B0604020202090204"/>
                  <a:cs typeface="Arial" panose="020B0604020202090204"/>
                </a:rPr>
                <a:t>topology</a:t>
              </a:r>
              <a:endParaRPr lang="en-US" sz="1400" dirty="0">
                <a:latin typeface="Arial" panose="020B0604020202090204"/>
                <a:cs typeface="Arial" panose="020B0604020202090204"/>
              </a:endParaRPr>
            </a:p>
          </p:txBody>
        </p:sp>
      </p:grpSp>
      <p:grpSp>
        <p:nvGrpSpPr>
          <p:cNvPr id="193" name="Group 192"/>
          <p:cNvGrpSpPr/>
          <p:nvPr/>
        </p:nvGrpSpPr>
        <p:grpSpPr>
          <a:xfrm>
            <a:off x="1470534" y="5574637"/>
            <a:ext cx="3248526" cy="1029368"/>
            <a:chOff x="-1550737" y="5173579"/>
            <a:chExt cx="3248526" cy="1029368"/>
          </a:xfrm>
        </p:grpSpPr>
        <p:grpSp>
          <p:nvGrpSpPr>
            <p:cNvPr id="196" name="Group 195"/>
            <p:cNvGrpSpPr/>
            <p:nvPr/>
          </p:nvGrpSpPr>
          <p:grpSpPr>
            <a:xfrm>
              <a:off x="-1425965" y="5182847"/>
              <a:ext cx="2979208" cy="973667"/>
              <a:chOff x="2592388" y="5601756"/>
              <a:chExt cx="4027487" cy="939800"/>
            </a:xfrm>
          </p:grpSpPr>
          <p:sp>
            <p:nvSpPr>
              <p:cNvPr id="215" name="Freeform 2"/>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p:spPr>
            <p:txBody>
              <a:bodyPr wrap="none" anchor="ctr"/>
              <a:lstStyle/>
              <a:p>
                <a:endParaRPr lang="en-US"/>
              </a:p>
            </p:txBody>
          </p:sp>
          <p:cxnSp>
            <p:nvCxnSpPr>
              <p:cNvPr id="218" name="Straight Connector 217"/>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2" name="Straight Connector 241"/>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4" name="Straight Connector 243"/>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3" name="Straight Connector 252"/>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4" name="Straight Connector 253"/>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6" name="Straight Connector 255"/>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7" name="Straight Connector 256"/>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8" name="Straight Connector 257"/>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2" name="Group 347"/>
              <p:cNvGrpSpPr/>
              <p:nvPr/>
            </p:nvGrpSpPr>
            <p:grpSpPr bwMode="auto">
              <a:xfrm>
                <a:off x="5856401" y="5796097"/>
                <a:ext cx="588970" cy="242608"/>
                <a:chOff x="1871277" y="1576300"/>
                <a:chExt cx="1128371" cy="437861"/>
              </a:xfrm>
            </p:grpSpPr>
            <p:sp>
              <p:nvSpPr>
                <p:cNvPr id="316" name="Oval 315"/>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3" name="Group 347"/>
              <p:cNvGrpSpPr/>
              <p:nvPr/>
            </p:nvGrpSpPr>
            <p:grpSpPr bwMode="auto">
              <a:xfrm>
                <a:off x="4375328" y="5654000"/>
                <a:ext cx="588970" cy="242608"/>
                <a:chOff x="1871277" y="1576300"/>
                <a:chExt cx="1128371" cy="437861"/>
              </a:xfrm>
            </p:grpSpPr>
            <p:sp>
              <p:nvSpPr>
                <p:cNvPr id="307" name="Oval 306"/>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8" name="Rectangle 307"/>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Oval 308"/>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0" name="Freeform 309"/>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1" name="Freeform 310"/>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2" name="Freeform 311"/>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3" name="Freeform 312"/>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4" name="Straight Connector 313"/>
                <p:cNvCxnSpPr>
                  <a:endCxn id="309"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5" name="Straight Connector 314"/>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4" name="Group 347"/>
              <p:cNvGrpSpPr/>
              <p:nvPr/>
            </p:nvGrpSpPr>
            <p:grpSpPr bwMode="auto">
              <a:xfrm>
                <a:off x="2848241" y="5847813"/>
                <a:ext cx="588970" cy="242608"/>
                <a:chOff x="1871277" y="1576300"/>
                <a:chExt cx="1128371" cy="437861"/>
              </a:xfrm>
            </p:grpSpPr>
            <p:sp>
              <p:nvSpPr>
                <p:cNvPr id="298" name="Oval 297"/>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9" name="Rectangle 298"/>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0" name="Oval 299"/>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1" name="Freeform 300"/>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2" name="Freeform 30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3" name="Freeform 302"/>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4" name="Freeform 303"/>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05" name="Straight Connector 304"/>
                <p:cNvCxnSpPr>
                  <a:endCxn id="300"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06" name="Straight Connector 305"/>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8" name="Group 347"/>
              <p:cNvGrpSpPr/>
              <p:nvPr/>
            </p:nvGrpSpPr>
            <p:grpSpPr bwMode="auto">
              <a:xfrm>
                <a:off x="5166757" y="6114152"/>
                <a:ext cx="588970" cy="242608"/>
                <a:chOff x="1871277" y="1576300"/>
                <a:chExt cx="1128371" cy="437861"/>
              </a:xfrm>
            </p:grpSpPr>
            <p:sp>
              <p:nvSpPr>
                <p:cNvPr id="289" name="Oval 28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0" name="Rectangle 28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1" name="Oval 29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2" name="Freeform 29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3" name="Freeform 29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6" name="Straight Connector 295"/>
                <p:cNvCxnSpPr>
                  <a:endCxn id="29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7" name="Straight Connector 29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9" name="Group 347"/>
              <p:cNvGrpSpPr/>
              <p:nvPr/>
            </p:nvGrpSpPr>
            <p:grpSpPr bwMode="auto">
              <a:xfrm>
                <a:off x="3704088" y="6206732"/>
                <a:ext cx="588970" cy="242608"/>
                <a:chOff x="1871277" y="1576300"/>
                <a:chExt cx="1128371" cy="437861"/>
              </a:xfrm>
            </p:grpSpPr>
            <p:sp>
              <p:nvSpPr>
                <p:cNvPr id="280" name="Oval 279"/>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1" name="Rectangle 280"/>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Oval 28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3" name="Freeform 282"/>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4" name="Freeform 283"/>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5" name="Freeform 28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6" name="Freeform 285"/>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7" name="Straight Connector 286"/>
                <p:cNvCxnSpPr>
                  <a:endCxn id="28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8" name="Straight Connector 287"/>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sp>
          <p:nvSpPr>
            <p:cNvPr id="214" name="Rectangle 213"/>
            <p:cNvSpPr/>
            <p:nvPr/>
          </p:nvSpPr>
          <p:spPr bwMode="auto">
            <a:xfrm>
              <a:off x="-1550737" y="5173579"/>
              <a:ext cx="3248526" cy="1029368"/>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pic>
        <p:nvPicPr>
          <p:cNvPr id="325"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7114" y="720742"/>
            <a:ext cx="4579519" cy="188310"/>
          </a:xfrm>
          <a:prstGeom prst="rect">
            <a:avLst/>
          </a:prstGeom>
          <a:noFill/>
          <a:ln>
            <a:noFill/>
          </a:ln>
        </p:spPr>
      </p:pic>
      <p:sp>
        <p:nvSpPr>
          <p:cNvPr id="326" name="Title 1"/>
          <p:cNvSpPr txBox="1"/>
          <p:nvPr/>
        </p:nvSpPr>
        <p:spPr>
          <a:xfrm>
            <a:off x="399720" y="120318"/>
            <a:ext cx="7772400" cy="972758"/>
          </a:xfrm>
          <a:prstGeom prst="rect">
            <a:avLst/>
          </a:prstGeom>
        </p:spPr>
        <p:txBody>
          <a:bodyPr/>
          <a:lstStyle>
            <a:lvl1pPr algn="l" rtl="0" eaLnBrk="0" fontAlgn="base" hangingPunct="0">
              <a:spcBef>
                <a:spcPct val="0"/>
              </a:spcBef>
              <a:spcAft>
                <a:spcPct val="0"/>
              </a:spcAft>
              <a:defRPr sz="4400">
                <a:solidFill>
                  <a:srgbClr val="000099"/>
                </a:solidFill>
                <a:latin typeface="+mj-lt"/>
                <a:ea typeface="MS PGothic" charset="0"/>
                <a:cs typeface="MS PGothic" charset="0"/>
              </a:defRPr>
            </a:lvl1pPr>
            <a:lvl2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2pPr>
            <a:lvl3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3pPr>
            <a:lvl4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4pPr>
            <a:lvl5pPr algn="l" rtl="0" eaLnBrk="0" fontAlgn="base" hangingPunct="0">
              <a:spcBef>
                <a:spcPct val="0"/>
              </a:spcBef>
              <a:spcAft>
                <a:spcPct val="0"/>
              </a:spcAft>
              <a:defRPr sz="4400">
                <a:solidFill>
                  <a:srgbClr val="000099"/>
                </a:solidFill>
                <a:latin typeface="Gill Sans MT" pitchFamily="34" charset="0"/>
                <a:ea typeface="MS PGothic" charset="0"/>
                <a:cs typeface="MS PGothic" charset="0"/>
              </a:defRPr>
            </a:lvl5pPr>
            <a:lvl6pPr marL="457200" algn="l" rtl="0" eaLnBrk="0" fontAlgn="base" hangingPunct="0">
              <a:spcBef>
                <a:spcPct val="0"/>
              </a:spcBef>
              <a:spcAft>
                <a:spcPct val="0"/>
              </a:spcAft>
              <a:defRPr sz="4400">
                <a:solidFill>
                  <a:srgbClr val="000099"/>
                </a:solidFill>
                <a:latin typeface="Gill Sans MT" pitchFamily="34" charset="0"/>
              </a:defRPr>
            </a:lvl6pPr>
            <a:lvl7pPr marL="914400" algn="l" rtl="0" eaLnBrk="0" fontAlgn="base" hangingPunct="0">
              <a:spcBef>
                <a:spcPct val="0"/>
              </a:spcBef>
              <a:spcAft>
                <a:spcPct val="0"/>
              </a:spcAft>
              <a:defRPr sz="4400">
                <a:solidFill>
                  <a:srgbClr val="000099"/>
                </a:solidFill>
                <a:latin typeface="Gill Sans MT" pitchFamily="34" charset="0"/>
              </a:defRPr>
            </a:lvl7pPr>
            <a:lvl8pPr marL="1371600" algn="l" rtl="0" eaLnBrk="0" fontAlgn="base" hangingPunct="0">
              <a:spcBef>
                <a:spcPct val="0"/>
              </a:spcBef>
              <a:spcAft>
                <a:spcPct val="0"/>
              </a:spcAft>
              <a:defRPr sz="4400">
                <a:solidFill>
                  <a:srgbClr val="000099"/>
                </a:solidFill>
                <a:latin typeface="Gill Sans MT" pitchFamily="34" charset="0"/>
              </a:defRPr>
            </a:lvl8pPr>
            <a:lvl9pPr marL="1828800" algn="l" rtl="0" eaLnBrk="0" fontAlgn="base" hangingPunct="0">
              <a:spcBef>
                <a:spcPct val="0"/>
              </a:spcBef>
              <a:spcAft>
                <a:spcPct val="0"/>
              </a:spcAft>
              <a:defRPr sz="4400">
                <a:solidFill>
                  <a:srgbClr val="000099"/>
                </a:solidFill>
                <a:latin typeface="Gill Sans MT" pitchFamily="34" charset="0"/>
              </a:defRPr>
            </a:lvl9pPr>
          </a:lstStyle>
          <a:p>
            <a:r>
              <a:rPr lang="en-US" sz="4000" dirty="0"/>
              <a:t>ONOS controller</a:t>
            </a:r>
          </a:p>
        </p:txBody>
      </p:sp>
      <p:sp>
        <p:nvSpPr>
          <p:cNvPr id="327" name="Content Placeholder 3"/>
          <p:cNvSpPr txBox="1"/>
          <p:nvPr/>
        </p:nvSpPr>
        <p:spPr>
          <a:xfrm>
            <a:off x="5768007" y="1394749"/>
            <a:ext cx="3135360" cy="4648200"/>
          </a:xfrm>
          <a:prstGeom prst="rect">
            <a:avLst/>
          </a:prstGeom>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panose="05000000000000000000" pitchFamily="2" charset="2"/>
              <a:buChar char="§"/>
              <a:defRPr sz="2800">
                <a:solidFill>
                  <a:schemeClr val="tx1"/>
                </a:solidFill>
                <a:latin typeface="+mn-lt"/>
                <a:ea typeface="MS PGothic" charset="0"/>
                <a:cs typeface="MS PGothic" charset="0"/>
              </a:defRPr>
            </a:lvl1pPr>
            <a:lvl2pPr marL="742950" indent="-285750" algn="l" rtl="0" eaLnBrk="0" fontAlgn="base" hangingPunct="0">
              <a:lnSpc>
                <a:spcPct val="85000"/>
              </a:lnSpc>
              <a:spcBef>
                <a:spcPct val="20000"/>
              </a:spcBef>
              <a:spcAft>
                <a:spcPct val="0"/>
              </a:spcAft>
              <a:buClr>
                <a:srgbClr val="000099"/>
              </a:buClr>
              <a:buFont typeface="Arial" panose="020B0604020202090204"/>
              <a:buChar char="•"/>
              <a:defRPr sz="2400">
                <a:solidFill>
                  <a:schemeClr val="tx1"/>
                </a:solidFill>
                <a:latin typeface="+mn-lt"/>
                <a:ea typeface="MS PGothic" charset="0"/>
              </a:defRPr>
            </a:lvl2pPr>
            <a:lvl3pPr marL="1143000" indent="-228600" algn="l" rtl="0" eaLnBrk="0" fontAlgn="base" hangingPunct="0">
              <a:spcBef>
                <a:spcPct val="20000"/>
              </a:spcBef>
              <a:spcAft>
                <a:spcPct val="0"/>
              </a:spcAft>
              <a:buChar char="•"/>
              <a:defRPr sz="2000">
                <a:solidFill>
                  <a:schemeClr val="tx1"/>
                </a:solidFill>
                <a:latin typeface="Comic Sans MS" panose="030F0902030302020204" pitchFamily="66" charset="0"/>
                <a:ea typeface="MS PGothic" charset="0"/>
              </a:defRPr>
            </a:lvl3pPr>
            <a:lvl4pPr marL="16002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4pPr>
            <a:lvl5pPr marL="2057400" indent="-228600" algn="l" rtl="0" eaLnBrk="0" fontAlgn="base" hangingPunct="0">
              <a:spcBef>
                <a:spcPct val="20000"/>
              </a:spcBef>
              <a:spcAft>
                <a:spcPct val="0"/>
              </a:spcAft>
              <a:buChar char="»"/>
              <a:defRPr sz="2000">
                <a:solidFill>
                  <a:schemeClr val="tx1"/>
                </a:solidFill>
                <a:latin typeface="Times New Roman" panose="02020503050405090304" charset="0"/>
                <a:ea typeface="MS PGothic" charset="0"/>
              </a:defRPr>
            </a:lvl5pPr>
            <a:lvl6pPr marL="2514600" indent="-228600" algn="l" rtl="0" eaLnBrk="0" fontAlgn="base" hangingPunct="0">
              <a:spcBef>
                <a:spcPct val="20000"/>
              </a:spcBef>
              <a:spcAft>
                <a:spcPct val="0"/>
              </a:spcAft>
              <a:buChar char="»"/>
              <a:defRPr sz="2000">
                <a:solidFill>
                  <a:schemeClr val="tx1"/>
                </a:solidFill>
                <a:latin typeface="Times New Roman" panose="02020503050405090304"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503050405090304"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503050405090304"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503050405090304" charset="0"/>
              </a:defRPr>
            </a:lvl9pPr>
          </a:lstStyle>
          <a:p>
            <a:r>
              <a:rPr lang="en-US" sz="2200" dirty="0">
                <a:solidFill>
                  <a:srgbClr val="000000"/>
                </a:solidFill>
              </a:rPr>
              <a:t>control apps separate from controller</a:t>
            </a:r>
          </a:p>
          <a:p>
            <a:r>
              <a:rPr lang="en-US" sz="2200" dirty="0">
                <a:solidFill>
                  <a:srgbClr val="000000"/>
                </a:solidFill>
              </a:rPr>
              <a:t>intent framework: high-level specification of service: what rather than how</a:t>
            </a:r>
          </a:p>
          <a:p>
            <a:r>
              <a:rPr lang="en-US" sz="2200" dirty="0">
                <a:solidFill>
                  <a:srgbClr val="000000"/>
                </a:solidFill>
              </a:rPr>
              <a:t>considerable emphasis on distributed core: service reliability, replication performance scaling</a:t>
            </a:r>
          </a:p>
        </p:txBody>
      </p:sp>
      <p:sp>
        <p:nvSpPr>
          <p:cNvPr id="328" name="Slide Number Placeholder 5"/>
          <p:cNvSpPr>
            <a:spLocks noGrp="1"/>
          </p:cNvSpPr>
          <p:nvPr>
            <p:ph type="sldNum" sz="quarter" idx="12"/>
          </p:nvPr>
        </p:nvSpPr>
        <p:spPr>
          <a:xfrm>
            <a:off x="8456295" y="6475730"/>
            <a:ext cx="60198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106</a:t>
            </a:fld>
            <a:endParaRPr lang="en-US" sz="1200" dirty="0">
              <a:latin typeface="Tahoma" panose="020B0604030504040204" charset="0"/>
            </a:endParaRPr>
          </a:p>
        </p:txBody>
      </p:sp>
      <p:sp>
        <p:nvSpPr>
          <p:cNvPr id="32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Title 1"/>
          <p:cNvSpPr txBox="1"/>
          <p:nvPr/>
        </p:nvSpPr>
        <p:spPr>
          <a:xfrm>
            <a:off x="371475" y="179919"/>
            <a:ext cx="8229600" cy="1143000"/>
          </a:xfrm>
          <a:prstGeom prst="rect">
            <a:avLst/>
          </a:prstGeom>
        </p:spPr>
        <p:txBody>
          <a:bodyPr/>
          <a:lstStyle>
            <a:lvl1pPr algn="l" rtl="0" eaLnBrk="0" fontAlgn="base" hangingPunct="0">
              <a:spcBef>
                <a:spcPct val="0"/>
              </a:spcBef>
              <a:spcAft>
                <a:spcPct val="0"/>
              </a:spcAft>
              <a:defRPr sz="4400">
                <a:solidFill>
                  <a:srgbClr val="000099"/>
                </a:solidFill>
                <a:latin typeface="+mj-lt"/>
                <a:ea typeface="MS PGothic" charset="0"/>
                <a:cs typeface="+mj-cs"/>
              </a:defRPr>
            </a:lvl1pPr>
            <a:lvl2pPr algn="l" rtl="0" eaLnBrk="0" fontAlgn="base" hangingPunct="0">
              <a:spcBef>
                <a:spcPct val="0"/>
              </a:spcBef>
              <a:spcAft>
                <a:spcPct val="0"/>
              </a:spcAft>
              <a:defRPr sz="4400">
                <a:solidFill>
                  <a:srgbClr val="000099"/>
                </a:solidFill>
                <a:latin typeface="Gill Sans MT" pitchFamily="34" charset="0"/>
                <a:ea typeface="MS PGothic" charset="0"/>
                <a:cs typeface="Arial" panose="020B0604020202090204" pitchFamily="34" charset="0"/>
              </a:defRPr>
            </a:lvl2pPr>
            <a:lvl3pPr algn="l" rtl="0" eaLnBrk="0" fontAlgn="base" hangingPunct="0">
              <a:spcBef>
                <a:spcPct val="0"/>
              </a:spcBef>
              <a:spcAft>
                <a:spcPct val="0"/>
              </a:spcAft>
              <a:defRPr sz="4400">
                <a:solidFill>
                  <a:srgbClr val="000099"/>
                </a:solidFill>
                <a:latin typeface="Gill Sans MT" pitchFamily="34" charset="0"/>
                <a:ea typeface="MS PGothic" charset="0"/>
                <a:cs typeface="Arial" panose="020B0604020202090204" pitchFamily="34" charset="0"/>
              </a:defRPr>
            </a:lvl3pPr>
            <a:lvl4pPr algn="l" rtl="0" eaLnBrk="0" fontAlgn="base" hangingPunct="0">
              <a:spcBef>
                <a:spcPct val="0"/>
              </a:spcBef>
              <a:spcAft>
                <a:spcPct val="0"/>
              </a:spcAft>
              <a:defRPr sz="4400">
                <a:solidFill>
                  <a:srgbClr val="000099"/>
                </a:solidFill>
                <a:latin typeface="Gill Sans MT" pitchFamily="34" charset="0"/>
                <a:ea typeface="MS PGothic" charset="0"/>
                <a:cs typeface="Arial" panose="020B0604020202090204" pitchFamily="34" charset="0"/>
              </a:defRPr>
            </a:lvl4pPr>
            <a:lvl5pPr algn="l" rtl="0" eaLnBrk="0" fontAlgn="base" hangingPunct="0">
              <a:spcBef>
                <a:spcPct val="0"/>
              </a:spcBef>
              <a:spcAft>
                <a:spcPct val="0"/>
              </a:spcAft>
              <a:defRPr sz="4400">
                <a:solidFill>
                  <a:srgbClr val="000099"/>
                </a:solidFill>
                <a:latin typeface="Gill Sans MT" pitchFamily="34" charset="0"/>
                <a:ea typeface="MS PGothic" charset="0"/>
                <a:cs typeface="Arial" panose="020B0604020202090204" pitchFamily="34" charset="0"/>
              </a:defRPr>
            </a:lvl5pPr>
            <a:lvl6pPr marL="457200" algn="l" rtl="0" fontAlgn="base">
              <a:spcBef>
                <a:spcPct val="0"/>
              </a:spcBef>
              <a:spcAft>
                <a:spcPct val="0"/>
              </a:spcAft>
              <a:defRPr sz="4400">
                <a:solidFill>
                  <a:srgbClr val="000099"/>
                </a:solidFill>
                <a:latin typeface="Gill Sans MT" pitchFamily="34" charset="0"/>
                <a:cs typeface="Arial" panose="020B0604020202090204" pitchFamily="34" charset="0"/>
              </a:defRPr>
            </a:lvl6pPr>
            <a:lvl7pPr marL="914400" algn="l" rtl="0" fontAlgn="base">
              <a:spcBef>
                <a:spcPct val="0"/>
              </a:spcBef>
              <a:spcAft>
                <a:spcPct val="0"/>
              </a:spcAft>
              <a:defRPr sz="4400">
                <a:solidFill>
                  <a:srgbClr val="000099"/>
                </a:solidFill>
                <a:latin typeface="Gill Sans MT" pitchFamily="34" charset="0"/>
                <a:cs typeface="Arial" panose="020B0604020202090204" pitchFamily="34" charset="0"/>
              </a:defRPr>
            </a:lvl7pPr>
            <a:lvl8pPr marL="1371600" algn="l" rtl="0" fontAlgn="base">
              <a:spcBef>
                <a:spcPct val="0"/>
              </a:spcBef>
              <a:spcAft>
                <a:spcPct val="0"/>
              </a:spcAft>
              <a:defRPr sz="4400">
                <a:solidFill>
                  <a:srgbClr val="000099"/>
                </a:solidFill>
                <a:latin typeface="Gill Sans MT" pitchFamily="34" charset="0"/>
                <a:cs typeface="Arial" panose="020B0604020202090204" pitchFamily="34" charset="0"/>
              </a:defRPr>
            </a:lvl8pPr>
            <a:lvl9pPr marL="1828800" algn="l" rtl="0" fontAlgn="base">
              <a:spcBef>
                <a:spcPct val="0"/>
              </a:spcBef>
              <a:spcAft>
                <a:spcPct val="0"/>
              </a:spcAft>
              <a:defRPr sz="4400">
                <a:solidFill>
                  <a:srgbClr val="000099"/>
                </a:solidFill>
                <a:latin typeface="Gill Sans MT" pitchFamily="34" charset="0"/>
                <a:cs typeface="Arial" panose="020B0604020202090204" pitchFamily="34" charset="0"/>
              </a:defRPr>
            </a:lvl9pPr>
          </a:lstStyle>
          <a:p>
            <a:r>
              <a:rPr lang="en-US" dirty="0">
                <a:latin typeface="Gill Sans MT" pitchFamily="34" charset="0"/>
              </a:rPr>
              <a:t>SDN:  selected challenges</a:t>
            </a:r>
          </a:p>
        </p:txBody>
      </p:sp>
      <p:pic>
        <p:nvPicPr>
          <p:cNvPr id="42" name="Picture 1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6740" y="836758"/>
            <a:ext cx="5845283" cy="186921"/>
          </a:xfrm>
          <a:prstGeom prst="rect">
            <a:avLst/>
          </a:prstGeom>
          <a:noFill/>
          <a:ln>
            <a:noFill/>
          </a:ln>
        </p:spPr>
      </p:pic>
      <p:sp>
        <p:nvSpPr>
          <p:cNvPr id="3" name="Content Placeholder 2"/>
          <p:cNvSpPr>
            <a:spLocks noGrp="1"/>
          </p:cNvSpPr>
          <p:nvPr>
            <p:ph idx="1"/>
          </p:nvPr>
        </p:nvSpPr>
        <p:spPr>
          <a:xfrm>
            <a:off x="533400" y="1287145"/>
            <a:ext cx="8067675" cy="4648200"/>
          </a:xfrm>
        </p:spPr>
        <p:txBody>
          <a:bodyPr/>
          <a:lstStyle/>
          <a:p>
            <a:pPr>
              <a:lnSpc>
                <a:spcPct val="100000"/>
              </a:lnSpc>
            </a:pPr>
            <a:r>
              <a:rPr lang="en-US" dirty="0"/>
              <a:t>hardening the control plane: dependable, reliable, performance-scalable, secure distributed system</a:t>
            </a:r>
          </a:p>
          <a:p>
            <a:pPr lvl="1">
              <a:lnSpc>
                <a:spcPct val="100000"/>
              </a:lnSpc>
            </a:pPr>
            <a:r>
              <a:rPr lang="en-US" dirty="0"/>
              <a:t>robustness to failures: leverage strong theory of reliable distributed system for control plane</a:t>
            </a:r>
          </a:p>
          <a:p>
            <a:pPr lvl="1">
              <a:lnSpc>
                <a:spcPct val="100000"/>
              </a:lnSpc>
            </a:pPr>
            <a:r>
              <a:rPr lang="en-US" dirty="0"/>
              <a:t>dependability, security: “baked in” from day one? </a:t>
            </a:r>
          </a:p>
          <a:p>
            <a:pPr>
              <a:lnSpc>
                <a:spcPct val="100000"/>
              </a:lnSpc>
            </a:pPr>
            <a:r>
              <a:rPr lang="en-US" dirty="0"/>
              <a:t>networks, protocols meeting mission-specific requirements</a:t>
            </a:r>
          </a:p>
          <a:p>
            <a:pPr lvl="1">
              <a:lnSpc>
                <a:spcPct val="100000"/>
              </a:lnSpc>
            </a:pPr>
            <a:r>
              <a:rPr lang="en-US" dirty="0"/>
              <a:t>e.g., real-time, ultra-reliable, ultra-secure</a:t>
            </a:r>
          </a:p>
          <a:p>
            <a:pPr>
              <a:lnSpc>
                <a:spcPct val="100000"/>
              </a:lnSpc>
            </a:pPr>
            <a:r>
              <a:rPr lang="en-US" dirty="0"/>
              <a:t>Internet-scaling </a:t>
            </a:r>
          </a:p>
          <a:p>
            <a:pPr>
              <a:lnSpc>
                <a:spcPct val="100000"/>
              </a:lnSpc>
            </a:pPr>
            <a:endParaRPr lang="en-US" dirty="0"/>
          </a:p>
          <a:p>
            <a:pPr lvl="1">
              <a:lnSpc>
                <a:spcPct val="100000"/>
              </a:lnSpc>
            </a:pPr>
            <a:endParaRPr lang="en-US" dirty="0"/>
          </a:p>
          <a:p>
            <a:endParaRPr lang="en-US" dirty="0"/>
          </a:p>
        </p:txBody>
      </p:sp>
      <p:sp>
        <p:nvSpPr>
          <p:cNvPr id="6" name="Slide Number Placeholder 5"/>
          <p:cNvSpPr>
            <a:spLocks noGrp="1"/>
          </p:cNvSpPr>
          <p:nvPr>
            <p:ph type="sldNum" sz="quarter" idx="12"/>
          </p:nvPr>
        </p:nvSpPr>
        <p:spPr>
          <a:xfrm>
            <a:off x="8456295" y="6475730"/>
            <a:ext cx="57912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107</a:t>
            </a:fld>
            <a:endParaRPr lang="en-US" sz="1200" dirty="0">
              <a:latin typeface="Tahoma" panose="020B0604030504040204" charset="0"/>
            </a:endParaRPr>
          </a:p>
        </p:txBody>
      </p:sp>
      <p:sp>
        <p:nvSpPr>
          <p:cNvPr id="7"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p:spPr>
      </p:pic>
      <p:sp>
        <p:nvSpPr>
          <p:cNvPr id="43012" name="Rectangle 3"/>
          <p:cNvSpPr>
            <a:spLocks noGrp="1" noChangeArrowheads="1"/>
          </p:cNvSpPr>
          <p:nvPr>
            <p:ph type="body" sz="half" idx="1"/>
          </p:nvPr>
        </p:nvSpPr>
        <p:spPr/>
        <p:txBody>
          <a:bodyPr/>
          <a:lstStyle/>
          <a:p>
            <a:pPr>
              <a:lnSpc>
                <a:spcPct val="100000"/>
              </a:lnSpc>
              <a:buFont typeface="Wingdings" panose="05000000000000000000" charset="0"/>
              <a:buNone/>
            </a:pPr>
            <a:r>
              <a:rPr lang="en-US" sz="2400" dirty="0">
                <a:latin typeface="Gill Sans MT" pitchFamily="34" charset="0"/>
              </a:rPr>
              <a:t>5.1 introduction</a:t>
            </a:r>
          </a:p>
          <a:p>
            <a:pPr>
              <a:lnSpc>
                <a:spcPct val="100000"/>
              </a:lnSpc>
              <a:buFont typeface="Wingdings" panose="05000000000000000000" charset="0"/>
              <a:buNone/>
            </a:pPr>
            <a:r>
              <a:rPr lang="en-US" sz="2400" dirty="0">
                <a:latin typeface="Gill Sans MT" pitchFamily="34" charset="0"/>
              </a:rPr>
              <a:t>5.2 routing protocols</a:t>
            </a:r>
          </a:p>
          <a:p>
            <a:pPr>
              <a:lnSpc>
                <a:spcPct val="100000"/>
              </a:lnSpc>
            </a:pPr>
            <a:r>
              <a:rPr lang="en-US" sz="2400" dirty="0">
                <a:latin typeface="Gill Sans MT" pitchFamily="34" charset="0"/>
              </a:rPr>
              <a:t>link state</a:t>
            </a:r>
          </a:p>
          <a:p>
            <a:pPr>
              <a:lnSpc>
                <a:spcPct val="100000"/>
              </a:lnSpc>
            </a:pPr>
            <a:r>
              <a:rPr lang="en-US" sz="2400" dirty="0">
                <a:latin typeface="Gill Sans MT" pitchFamily="34" charset="0"/>
              </a:rPr>
              <a:t>distance vector</a:t>
            </a:r>
          </a:p>
          <a:p>
            <a:pPr marL="462280" indent="-462280">
              <a:lnSpc>
                <a:spcPct val="100000"/>
              </a:lnSpc>
              <a:buNone/>
            </a:pPr>
            <a:r>
              <a:rPr lang="en-US" sz="2400" dirty="0"/>
              <a:t>5.3 intra-AS routing in the Internet: OSPF</a:t>
            </a:r>
          </a:p>
          <a:p>
            <a:pPr marL="462280" indent="-462280">
              <a:lnSpc>
                <a:spcPct val="100000"/>
              </a:lnSpc>
              <a:buNone/>
            </a:pPr>
            <a:r>
              <a:rPr lang="en-US" sz="2400" dirty="0"/>
              <a:t>5.4 routing among the ISPs: BGP</a:t>
            </a:r>
            <a:endParaRPr lang="en-US" sz="2400" dirty="0">
              <a:latin typeface="Gill Sans MT" pitchFamily="34" charset="0"/>
            </a:endParaRPr>
          </a:p>
        </p:txBody>
      </p:sp>
      <p:sp>
        <p:nvSpPr>
          <p:cNvPr id="43013" name="Rectangle 4"/>
          <p:cNvSpPr>
            <a:spLocks noGrp="1" noChangeArrowheads="1"/>
          </p:cNvSpPr>
          <p:nvPr>
            <p:ph type="body" sz="half" idx="2"/>
          </p:nvPr>
        </p:nvSpPr>
        <p:spPr/>
        <p:txBody>
          <a:bodyPr/>
          <a:lstStyle/>
          <a:p>
            <a:pPr marL="462280" indent="-462280">
              <a:lnSpc>
                <a:spcPct val="100000"/>
              </a:lnSpc>
              <a:buFont typeface="Wingdings" panose="05000000000000000000" charset="0"/>
              <a:buNone/>
            </a:pPr>
            <a:r>
              <a:rPr lang="en-US" sz="2400" dirty="0">
                <a:latin typeface="Gill Sans MT" pitchFamily="34" charset="0"/>
              </a:rPr>
              <a:t>5.5 The SDN control plane</a:t>
            </a:r>
          </a:p>
          <a:p>
            <a:pPr marL="462280" indent="-462280">
              <a:lnSpc>
                <a:spcPct val="100000"/>
              </a:lnSpc>
              <a:buNone/>
            </a:pPr>
            <a:r>
              <a:rPr lang="en-US" sz="2400" dirty="0">
                <a:solidFill>
                  <a:srgbClr val="CC0000"/>
                </a:solidFill>
              </a:rPr>
              <a:t>5.6 ICMP: The Internet Control Message Protocol </a:t>
            </a:r>
          </a:p>
          <a:p>
            <a:pPr marL="462280" indent="-462280">
              <a:lnSpc>
                <a:spcPct val="100000"/>
              </a:lnSpc>
              <a:buNone/>
            </a:pPr>
            <a:r>
              <a:rPr lang="en-US" sz="2400" dirty="0"/>
              <a:t>5.7 Network management and SNMP</a:t>
            </a:r>
            <a:endParaRPr lang="en-US" sz="2400" dirty="0">
              <a:latin typeface="Gill Sans MT" pitchFamily="34" charset="0"/>
            </a:endParaRPr>
          </a:p>
        </p:txBody>
      </p:sp>
      <p:sp>
        <p:nvSpPr>
          <p:cNvPr id="43014" name="Rectangle 2"/>
          <p:cNvSpPr>
            <a:spLocks noChangeArrowheads="1"/>
          </p:cNvSpPr>
          <p:nvPr/>
        </p:nvSpPr>
        <p:spPr bwMode="auto">
          <a:xfrm>
            <a:off x="533400" y="228600"/>
            <a:ext cx="7772400" cy="1143000"/>
          </a:xfrm>
          <a:prstGeom prst="rect">
            <a:avLst/>
          </a:prstGeom>
          <a:noFill/>
          <a:ln>
            <a:noFill/>
          </a:ln>
        </p:spPr>
        <p:txBody>
          <a:bodyPr anchor="ctr"/>
          <a:lstStyle/>
          <a:p>
            <a:r>
              <a:rPr lang="en-US" sz="4400" dirty="0">
                <a:solidFill>
                  <a:srgbClr val="000099"/>
                </a:solidFill>
                <a:latin typeface="Gill Sans MT" pitchFamily="34" charset="0"/>
              </a:rPr>
              <a:t>Chapter 5: outline</a:t>
            </a:r>
          </a:p>
        </p:txBody>
      </p:sp>
      <p:sp>
        <p:nvSpPr>
          <p:cNvPr id="6" name="Slide Number Placeholder 5"/>
          <p:cNvSpPr>
            <a:spLocks noGrp="1"/>
          </p:cNvSpPr>
          <p:nvPr>
            <p:ph type="sldNum" sz="quarter" idx="12"/>
          </p:nvPr>
        </p:nvSpPr>
        <p:spPr>
          <a:xfrm>
            <a:off x="8456295" y="6475730"/>
            <a:ext cx="68707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108</a:t>
            </a:fld>
            <a:endParaRPr lang="en-US" sz="1200" dirty="0">
              <a:latin typeface="Tahoma" panose="020B0604030504040204" charset="0"/>
            </a:endParaRPr>
          </a:p>
        </p:txBody>
      </p:sp>
      <p:sp>
        <p:nvSpPr>
          <p:cNvPr id="7"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lvl="1" algn="l" rtl="0">
              <a:lnSpc>
                <a:spcPct val="120000"/>
              </a:lnSpc>
              <a:spcBef>
                <a:spcPct val="0"/>
              </a:spcBef>
            </a:pPr>
            <a:r>
              <a:rPr lang="en-US" altLang="zh-CN" sz="3000" dirty="0">
                <a:latin typeface="微软雅黑" panose="020B0503020204020204" pitchFamily="34" charset="-122"/>
                <a:ea typeface="微软雅黑" panose="020B0503020204020204" pitchFamily="34" charset="-122"/>
              </a:rPr>
              <a:t>ICMP</a:t>
            </a:r>
            <a:r>
              <a:rPr lang="zh-CN" altLang="en-US" sz="3000" dirty="0">
                <a:latin typeface="微软雅黑" panose="020B0503020204020204" pitchFamily="34" charset="-122"/>
                <a:ea typeface="微软雅黑" panose="020B0503020204020204" pitchFamily="34" charset="-122"/>
              </a:rPr>
              <a:t>协议</a:t>
            </a:r>
            <a:endParaRPr lang="en-US" altLang="zh-CN" sz="3000" dirty="0">
              <a:latin typeface="微软雅黑" panose="020B0503020204020204" pitchFamily="34" charset="-122"/>
              <a:ea typeface="微软雅黑" panose="020B0503020204020204" pitchFamily="34" charset="-122"/>
            </a:endParaRPr>
          </a:p>
        </p:txBody>
      </p:sp>
      <p:sp>
        <p:nvSpPr>
          <p:cNvPr id="3" name="内容占位符 2"/>
          <p:cNvSpPr>
            <a:spLocks noGrp="1"/>
          </p:cNvSpPr>
          <p:nvPr>
            <p:ph idx="1"/>
          </p:nvPr>
        </p:nvSpPr>
        <p:spPr>
          <a:xfrm>
            <a:off x="628648" y="1990318"/>
            <a:ext cx="7886702" cy="3440021"/>
          </a:xfrm>
        </p:spPr>
        <p:txBody>
          <a:bodyPr>
            <a:normAutofit/>
          </a:bodyPr>
          <a:lstStyle/>
          <a:p>
            <a:pPr marL="171450" lvl="1">
              <a:lnSpc>
                <a:spcPct val="120000"/>
              </a:lnSpc>
              <a:buFont typeface="Wingdings" panose="05000000000000000000" pitchFamily="2" charset="2"/>
              <a:buChar char="Ø"/>
            </a:pPr>
            <a:r>
              <a:rPr lang="en-US" altLang="zh-CN" sz="1950" dirty="0">
                <a:cs typeface="Times New Roman" panose="02020503050405090304" charset="0"/>
              </a:rPr>
              <a:t>ICMP: </a:t>
            </a:r>
            <a:r>
              <a:rPr lang="zh-CN" altLang="en-US" sz="1950" dirty="0">
                <a:cs typeface="Times New Roman" panose="02020503050405090304" charset="0"/>
              </a:rPr>
              <a:t>互联网控制报文协议</a:t>
            </a:r>
            <a:endParaRPr lang="en-US" altLang="zh-CN" sz="1950" dirty="0">
              <a:cs typeface="Times New Roman" panose="02020503050405090304" charset="0"/>
            </a:endParaRPr>
          </a:p>
          <a:p>
            <a:pPr lvl="1">
              <a:lnSpc>
                <a:spcPct val="120000"/>
              </a:lnSpc>
            </a:pPr>
            <a:r>
              <a:rPr lang="en-US" altLang="zh-CN" sz="1650" dirty="0"/>
              <a:t>ICMP </a:t>
            </a:r>
            <a:r>
              <a:rPr lang="zh-CN" altLang="en-US" sz="1650" dirty="0"/>
              <a:t>允许主机或路由器报告差错情况和提供有关异常情况的报告</a:t>
            </a:r>
            <a:endParaRPr lang="en-US" altLang="zh-CN" sz="1650" dirty="0"/>
          </a:p>
          <a:p>
            <a:pPr lvl="1">
              <a:lnSpc>
                <a:spcPct val="120000"/>
              </a:lnSpc>
            </a:pPr>
            <a:r>
              <a:rPr lang="zh-CN" altLang="en-US" sz="1650" dirty="0"/>
              <a:t>由主机和路由器用于网络层信息的通信</a:t>
            </a:r>
          </a:p>
          <a:p>
            <a:pPr lvl="1">
              <a:lnSpc>
                <a:spcPct val="120000"/>
              </a:lnSpc>
            </a:pPr>
            <a:r>
              <a:rPr lang="en-US" altLang="zh-CN" sz="1650" dirty="0"/>
              <a:t>ICMP </a:t>
            </a:r>
            <a:r>
              <a:rPr lang="zh-CN" altLang="en-US" sz="1650" dirty="0"/>
              <a:t>报文携带在</a:t>
            </a:r>
            <a:r>
              <a:rPr lang="en-US" altLang="zh-CN" sz="1650" dirty="0"/>
              <a:t>IP </a:t>
            </a:r>
            <a:r>
              <a:rPr lang="zh-CN" altLang="en-US" sz="1650" dirty="0"/>
              <a:t>数据报中：</a:t>
            </a:r>
            <a:r>
              <a:rPr lang="en-US" altLang="zh-CN" sz="1650" dirty="0"/>
              <a:t> IP</a:t>
            </a:r>
            <a:r>
              <a:rPr lang="zh-CN" altLang="en-US" sz="1650" dirty="0"/>
              <a:t>上层协议号为</a:t>
            </a:r>
            <a:r>
              <a:rPr lang="en-US" altLang="zh-CN" sz="1650" dirty="0"/>
              <a:t>1</a:t>
            </a:r>
            <a:endParaRPr lang="zh-CN" altLang="en-US" sz="1650" dirty="0"/>
          </a:p>
          <a:p>
            <a:pPr marL="171450" lvl="1">
              <a:lnSpc>
                <a:spcPct val="120000"/>
              </a:lnSpc>
              <a:buFont typeface="Wingdings" panose="05000000000000000000" pitchFamily="2" charset="2"/>
              <a:buChar char="Ø"/>
            </a:pPr>
            <a:r>
              <a:rPr lang="en-US" altLang="zh-CN" sz="1950" dirty="0">
                <a:cs typeface="Times New Roman" panose="02020503050405090304" charset="0"/>
              </a:rPr>
              <a:t>ICMP</a:t>
            </a:r>
            <a:r>
              <a:rPr lang="zh-CN" altLang="en-US" sz="1950" dirty="0">
                <a:cs typeface="Times New Roman" panose="02020503050405090304" charset="0"/>
              </a:rPr>
              <a:t>报文类型</a:t>
            </a:r>
            <a:endParaRPr lang="en-US" altLang="zh-CN" sz="1950" dirty="0">
              <a:cs typeface="Times New Roman" panose="02020503050405090304" charset="0"/>
            </a:endParaRPr>
          </a:p>
          <a:p>
            <a:pPr lvl="1">
              <a:lnSpc>
                <a:spcPct val="120000"/>
              </a:lnSpc>
            </a:pPr>
            <a:r>
              <a:rPr lang="en-US" altLang="zh-CN" sz="1650" dirty="0">
                <a:solidFill>
                  <a:srgbClr val="C00000"/>
                </a:solidFill>
              </a:rPr>
              <a:t>ICMP </a:t>
            </a:r>
            <a:r>
              <a:rPr lang="zh-CN" altLang="en-US" sz="1650" dirty="0">
                <a:solidFill>
                  <a:srgbClr val="C00000"/>
                </a:solidFill>
              </a:rPr>
              <a:t>差错报告报文</a:t>
            </a:r>
            <a:endParaRPr lang="en-US" altLang="zh-CN" sz="1650" dirty="0">
              <a:solidFill>
                <a:srgbClr val="C00000"/>
              </a:solidFill>
            </a:endParaRPr>
          </a:p>
          <a:p>
            <a:pPr lvl="2">
              <a:lnSpc>
                <a:spcPct val="120000"/>
              </a:lnSpc>
            </a:pPr>
            <a:r>
              <a:rPr lang="zh-CN" altLang="en-US" dirty="0"/>
              <a:t>终点不可达：不可达主机、不可达网络，无效端口、协议</a:t>
            </a:r>
            <a:endParaRPr lang="en-US" altLang="zh-CN" dirty="0"/>
          </a:p>
          <a:p>
            <a:pPr lvl="1">
              <a:lnSpc>
                <a:spcPct val="120000"/>
              </a:lnSpc>
            </a:pPr>
            <a:r>
              <a:rPr lang="en-US" altLang="zh-CN" sz="1650" dirty="0">
                <a:solidFill>
                  <a:srgbClr val="C00000"/>
                </a:solidFill>
              </a:rPr>
              <a:t>ICMP </a:t>
            </a:r>
            <a:r>
              <a:rPr lang="zh-CN" altLang="en-US" sz="1650" dirty="0">
                <a:solidFill>
                  <a:srgbClr val="C00000"/>
                </a:solidFill>
              </a:rPr>
              <a:t>询问报文</a:t>
            </a:r>
            <a:endParaRPr lang="en-US" altLang="zh-CN" sz="1650" dirty="0">
              <a:solidFill>
                <a:srgbClr val="C00000"/>
              </a:solidFill>
            </a:endParaRPr>
          </a:p>
          <a:p>
            <a:pPr lvl="2">
              <a:lnSpc>
                <a:spcPct val="120000"/>
              </a:lnSpc>
            </a:pPr>
            <a:r>
              <a:rPr lang="zh-CN" altLang="en-US" dirty="0"/>
              <a:t>回送请求</a:t>
            </a:r>
            <a:r>
              <a:rPr lang="en-US" altLang="zh-CN" dirty="0"/>
              <a:t>/</a:t>
            </a:r>
            <a:r>
              <a:rPr lang="zh-CN" altLang="en-US" dirty="0"/>
              <a:t>回答</a:t>
            </a:r>
            <a:r>
              <a:rPr lang="en-US" altLang="zh-CN" dirty="0"/>
              <a:t> (ping</a:t>
            </a:r>
            <a:r>
              <a:rPr lang="zh-CN" altLang="en-US" dirty="0"/>
              <a:t>使用</a:t>
            </a:r>
            <a:r>
              <a:rPr lang="en-US" altLang="zh-CN" dirty="0"/>
              <a:t>)</a:t>
            </a:r>
          </a:p>
          <a:p>
            <a:pPr marL="685800" lvl="2" indent="0" eaLnBrk="0" hangingPunct="0">
              <a:lnSpc>
                <a:spcPct val="130000"/>
              </a:lnSpc>
              <a:buClr>
                <a:srgbClr val="0070C0"/>
              </a:buClr>
              <a:buNone/>
            </a:pPr>
            <a:endParaRPr lang="en-US" altLang="zh-CN" sz="1650" dirty="0">
              <a:solidFill>
                <a:srgbClr val="C00000"/>
              </a:solidFill>
              <a:latin typeface="微软雅黑" panose="020B0503020204020204" pitchFamily="34" charset="-122"/>
              <a:ea typeface="微软雅黑" panose="020B0503020204020204" pitchFamily="34" charset="-122"/>
            </a:endParaRPr>
          </a:p>
          <a:p>
            <a:pPr lvl="2" eaLnBrk="0" hangingPunct="0">
              <a:lnSpc>
                <a:spcPct val="130000"/>
              </a:lnSpc>
              <a:buClr>
                <a:srgbClr val="0070C0"/>
              </a:buClr>
            </a:pPr>
            <a:endParaRPr lang="en-US" altLang="zh-CN" sz="1650" dirty="0">
              <a:solidFill>
                <a:srgbClr val="C00000"/>
              </a:solidFill>
              <a:latin typeface="微软雅黑" panose="020B0503020204020204" pitchFamily="34" charset="-122"/>
              <a:ea typeface="微软雅黑" panose="020B0503020204020204" pitchFamily="34" charset="-122"/>
            </a:endParaRPr>
          </a:p>
          <a:p>
            <a:pPr marL="685800" lvl="2" indent="0" eaLnBrk="0" hangingPunct="0">
              <a:lnSpc>
                <a:spcPct val="130000"/>
              </a:lnSpc>
              <a:buClr>
                <a:srgbClr val="0070C0"/>
              </a:buClr>
              <a:buNone/>
            </a:pPr>
            <a:endParaRPr lang="en-US" altLang="zh-CN" dirty="0">
              <a:latin typeface="微软雅黑" panose="020B0503020204020204" pitchFamily="34" charset="-122"/>
              <a:ea typeface="微软雅黑" panose="020B0503020204020204" pitchFamily="34" charset="-122"/>
            </a:endParaRPr>
          </a:p>
          <a:p>
            <a:pPr lvl="1" eaLnBrk="0" hangingPunct="0">
              <a:lnSpc>
                <a:spcPct val="130000"/>
              </a:lnSpc>
              <a:buClr>
                <a:srgbClr val="0070C0"/>
              </a:buClr>
              <a:buFont typeface="Wingdings" panose="05000000000000000000" pitchFamily="2" charset="2"/>
              <a:buChar char="Ø"/>
            </a:pPr>
            <a:endParaRPr lang="en-US" altLang="zh-CN" sz="2100" dirty="0">
              <a:latin typeface="微软雅黑" panose="020B0503020204020204" pitchFamily="34" charset="-122"/>
              <a:ea typeface="微软雅黑" panose="020B0503020204020204" pitchFamily="34" charset="-122"/>
            </a:endParaRPr>
          </a:p>
          <a:p>
            <a:pPr lvl="1" eaLnBrk="0" hangingPunct="0">
              <a:lnSpc>
                <a:spcPct val="130000"/>
              </a:lnSpc>
              <a:buClr>
                <a:srgbClr val="0070C0"/>
              </a:buClr>
              <a:buFont typeface="Wingdings" panose="05000000000000000000" pitchFamily="2" charset="2"/>
              <a:buChar char="Ø"/>
            </a:pPr>
            <a:endParaRPr lang="zh-CN" altLang="en-US" sz="2100" dirty="0">
              <a:latin typeface="微软雅黑" panose="020B0503020204020204" pitchFamily="34" charset="-122"/>
              <a:ea typeface="微软雅黑" panose="020B0503020204020204" pitchFamily="34" charset="-122"/>
            </a:endParaRPr>
          </a:p>
          <a:p>
            <a:pPr marL="0" indent="0">
              <a:buNone/>
            </a:pPr>
            <a:endParaRPr lang="zh-CN" altLang="en-US" dirty="0"/>
          </a:p>
        </p:txBody>
      </p:sp>
      <p:sp>
        <p:nvSpPr>
          <p:cNvPr id="6" name="Slide Number Placeholder 5"/>
          <p:cNvSpPr>
            <a:spLocks noGrp="1"/>
          </p:cNvSpPr>
          <p:nvPr>
            <p:ph type="sldNum" sz="quarter" idx="12"/>
          </p:nvPr>
        </p:nvSpPr>
        <p:spPr>
          <a:xfrm>
            <a:off x="8456295" y="6475730"/>
            <a:ext cx="68707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109</a:t>
            </a:fld>
            <a:endParaRPr lang="en-US" sz="1200" dirty="0">
              <a:latin typeface="Tahoma" panose="020B060403050404020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1622580" y="1836850"/>
            <a:ext cx="5951385" cy="3045166"/>
            <a:chOff x="3046627" y="1659155"/>
            <a:chExt cx="6977496" cy="4060221"/>
          </a:xfrm>
        </p:grpSpPr>
        <p:sp>
          <p:nvSpPr>
            <p:cNvPr id="9" name="AutoShape 31"/>
            <p:cNvSpPr>
              <a:spLocks noChangeArrowheads="1"/>
            </p:cNvSpPr>
            <p:nvPr/>
          </p:nvSpPr>
          <p:spPr bwMode="auto">
            <a:xfrm rot="5400000">
              <a:off x="3160823" y="4798117"/>
              <a:ext cx="302127" cy="530520"/>
            </a:xfrm>
            <a:prstGeom prst="downArrow">
              <a:avLst>
                <a:gd name="adj1" fmla="val 47222"/>
                <a:gd name="adj2" fmla="val 83745"/>
              </a:avLst>
            </a:prstGeom>
            <a:solidFill>
              <a:srgbClr val="00FFFF"/>
            </a:solidFill>
            <a:ln w="9525">
              <a:solidFill>
                <a:schemeClr val="tx1"/>
              </a:solidFill>
              <a:miter lim="800000"/>
            </a:ln>
            <a:effectLst/>
          </p:spPr>
          <p:txBody>
            <a:bodyPr vert="eaVert"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anose="020B0503020204020204" pitchFamily="34" charset="-122"/>
                <a:ea typeface="微软雅黑" panose="020B0503020204020204" pitchFamily="34" charset="-122"/>
                <a:cs typeface="+mn-cs"/>
              </a:endParaRPr>
            </a:p>
          </p:txBody>
        </p:sp>
        <p:sp>
          <p:nvSpPr>
            <p:cNvPr id="10" name="Rectangle 2"/>
            <p:cNvSpPr>
              <a:spLocks noChangeArrowheads="1"/>
            </p:cNvSpPr>
            <p:nvPr/>
          </p:nvSpPr>
          <p:spPr bwMode="auto">
            <a:xfrm>
              <a:off x="3546574" y="4877454"/>
              <a:ext cx="4812447" cy="408369"/>
            </a:xfrm>
            <a:prstGeom prst="rect">
              <a:avLst/>
            </a:prstGeom>
            <a:solidFill>
              <a:srgbClr val="0000FF"/>
            </a:solidFill>
          </p:spPr>
          <p:style>
            <a:lnRef idx="2">
              <a:schemeClr val="dk1"/>
            </a:lnRef>
            <a:fillRef idx="1">
              <a:schemeClr val="lt1"/>
            </a:fillRef>
            <a:effectRef idx="0">
              <a:schemeClr val="dk1"/>
            </a:effectRef>
            <a:fontRef idx="minor">
              <a:schemeClr val="dk1"/>
            </a:fontRef>
          </p:style>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anose="020B0503020204020204" pitchFamily="34" charset="-122"/>
                <a:ea typeface="微软雅黑" panose="020B0503020204020204" pitchFamily="34" charset="-122"/>
              </a:endParaRPr>
            </a:p>
          </p:txBody>
        </p:sp>
        <p:sp>
          <p:nvSpPr>
            <p:cNvPr id="11" name="Rectangle 4"/>
            <p:cNvSpPr>
              <a:spLocks noChangeArrowheads="1"/>
            </p:cNvSpPr>
            <p:nvPr/>
          </p:nvSpPr>
          <p:spPr bwMode="auto">
            <a:xfrm>
              <a:off x="4859387" y="4902354"/>
              <a:ext cx="3478053" cy="383468"/>
            </a:xfrm>
            <a:prstGeom prst="rect">
              <a:avLst/>
            </a:prstGeom>
            <a:solidFill>
              <a:srgbClr val="99FFCC"/>
            </a:solidFill>
            <a:ln>
              <a:noFill/>
            </a:ln>
            <a:effec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anose="020B0503020204020204" pitchFamily="34" charset="-122"/>
                <a:ea typeface="微软雅黑" panose="020B0503020204020204" pitchFamily="34" charset="-122"/>
                <a:cs typeface="+mn-cs"/>
              </a:endParaRPr>
            </a:p>
          </p:txBody>
        </p:sp>
        <p:sp>
          <p:nvSpPr>
            <p:cNvPr id="12" name="Freeform 5"/>
            <p:cNvSpPr/>
            <p:nvPr/>
          </p:nvSpPr>
          <p:spPr bwMode="auto">
            <a:xfrm>
              <a:off x="3573550" y="3600886"/>
              <a:ext cx="6359047" cy="489711"/>
            </a:xfrm>
            <a:custGeom>
              <a:avLst/>
              <a:gdLst>
                <a:gd name="T0" fmla="*/ 0 w 2790"/>
                <a:gd name="T1" fmla="*/ 6 h 279"/>
                <a:gd name="T2" fmla="*/ 561 w 2790"/>
                <a:gd name="T3" fmla="*/ 279 h 279"/>
                <a:gd name="T4" fmla="*/ 2100 w 2790"/>
                <a:gd name="T5" fmla="*/ 276 h 279"/>
                <a:gd name="T6" fmla="*/ 2790 w 2790"/>
                <a:gd name="T7" fmla="*/ 0 h 279"/>
                <a:gd name="T8" fmla="*/ 0 w 2790"/>
                <a:gd name="T9" fmla="*/ 6 h 279"/>
              </a:gdLst>
              <a:ahLst/>
              <a:cxnLst>
                <a:cxn ang="0">
                  <a:pos x="T0" y="T1"/>
                </a:cxn>
                <a:cxn ang="0">
                  <a:pos x="T2" y="T3"/>
                </a:cxn>
                <a:cxn ang="0">
                  <a:pos x="T4" y="T5"/>
                </a:cxn>
                <a:cxn ang="0">
                  <a:pos x="T6" y="T7"/>
                </a:cxn>
                <a:cxn ang="0">
                  <a:pos x="T8" y="T9"/>
                </a:cxn>
              </a:cxnLst>
              <a:rect l="0" t="0" r="r" b="b"/>
              <a:pathLst>
                <a:path w="2790" h="279">
                  <a:moveTo>
                    <a:pt x="0" y="6"/>
                  </a:moveTo>
                  <a:lnTo>
                    <a:pt x="561" y="279"/>
                  </a:lnTo>
                  <a:lnTo>
                    <a:pt x="2100" y="276"/>
                  </a:lnTo>
                  <a:lnTo>
                    <a:pt x="2790" y="0"/>
                  </a:lnTo>
                  <a:lnTo>
                    <a:pt x="0" y="6"/>
                  </a:lnTo>
                  <a:close/>
                </a:path>
              </a:pathLst>
            </a:custGeom>
            <a:gradFill flip="none" rotWithShape="1">
              <a:gsLst>
                <a:gs pos="0">
                  <a:srgbClr val="00B0F0"/>
                </a:gs>
                <a:gs pos="100000">
                  <a:srgbClr val="99FFCC"/>
                </a:gs>
              </a:gsLst>
              <a:lin ang="16200000" scaled="1"/>
              <a:tileRect/>
            </a:gradFill>
            <a:ln>
              <a:noFill/>
            </a:ln>
            <a:effectLst/>
          </p:spPr>
          <p:txBody>
            <a:bodyPr lIns="91438" tIns="45719" rIns="91438" bIns="45719"/>
            <a:lstStyle/>
            <a:p>
              <a:pPr algn="ctr" defTabSz="685800" eaLnBrk="1" fontAlgn="auto" hangingPunct="1">
                <a:spcBef>
                  <a:spcPts val="0"/>
                </a:spcBef>
                <a:spcAft>
                  <a:spcPts val="0"/>
                </a:spcAft>
              </a:pPr>
              <a:endParaRPr lang="zh-CN" altLang="en-US" sz="1425" b="1">
                <a:solidFill>
                  <a:prstClr val="black"/>
                </a:solidFill>
                <a:latin typeface="微软雅黑" panose="020B0503020204020204" pitchFamily="34" charset="-122"/>
                <a:ea typeface="微软雅黑" panose="020B0503020204020204" pitchFamily="34" charset="-122"/>
                <a:cs typeface="+mn-cs"/>
              </a:endParaRPr>
            </a:p>
          </p:txBody>
        </p:sp>
        <p:sp>
          <p:nvSpPr>
            <p:cNvPr id="13" name="Line 6"/>
            <p:cNvSpPr>
              <a:spLocks noChangeShapeType="1"/>
            </p:cNvSpPr>
            <p:nvPr/>
          </p:nvSpPr>
          <p:spPr bwMode="auto">
            <a:xfrm>
              <a:off x="3546574" y="5529848"/>
              <a:ext cx="4812447" cy="0"/>
            </a:xfrm>
            <a:prstGeom prst="line">
              <a:avLst/>
            </a:prstGeom>
            <a:noFill/>
            <a:ln w="28575">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dirty="0">
                <a:solidFill>
                  <a:prstClr val="black"/>
                </a:solidFill>
                <a:latin typeface="微软雅黑" panose="020B0503020204020204" pitchFamily="34" charset="-122"/>
                <a:ea typeface="微软雅黑" panose="020B0503020204020204" pitchFamily="34" charset="-122"/>
                <a:cs typeface="+mn-cs"/>
              </a:endParaRPr>
            </a:p>
          </p:txBody>
        </p:sp>
        <p:sp>
          <p:nvSpPr>
            <p:cNvPr id="14" name="Text Box 7"/>
            <p:cNvSpPr txBox="1">
              <a:spLocks noChangeArrowheads="1"/>
            </p:cNvSpPr>
            <p:nvPr/>
          </p:nvSpPr>
          <p:spPr bwMode="auto">
            <a:xfrm>
              <a:off x="3839350" y="4874133"/>
              <a:ext cx="772800" cy="4154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zh-CN" altLang="en-US" sz="1425" dirty="0">
                  <a:solidFill>
                    <a:prstClr val="white"/>
                  </a:solidFill>
                  <a:latin typeface="微软雅黑" panose="020B0503020204020204" pitchFamily="34" charset="-122"/>
                  <a:ea typeface="微软雅黑" panose="020B0503020204020204" pitchFamily="34" charset="-122"/>
                  <a:cs typeface="+mn-cs"/>
                </a:rPr>
                <a:t>首  部</a:t>
              </a:r>
            </a:p>
          </p:txBody>
        </p:sp>
        <p:sp>
          <p:nvSpPr>
            <p:cNvPr id="15" name="Rectangle 8"/>
            <p:cNvSpPr>
              <a:spLocks noChangeArrowheads="1"/>
            </p:cNvSpPr>
            <p:nvPr/>
          </p:nvSpPr>
          <p:spPr bwMode="auto">
            <a:xfrm>
              <a:off x="4859387" y="4065695"/>
              <a:ext cx="3499635" cy="410028"/>
            </a:xfrm>
            <a:prstGeom prst="rect">
              <a:avLst/>
            </a:prstGeom>
            <a:solidFill>
              <a:srgbClr val="99FFCC"/>
            </a:solidFill>
            <a:ln w="9525">
              <a:solidFill>
                <a:schemeClr val="tx1"/>
              </a:solidFill>
              <a:miter lim="800000"/>
            </a:ln>
            <a:effectLst/>
          </p:spPr>
          <p:txBody>
            <a:bodyPr wrap="none" lIns="91438" tIns="45719" rIns="91438" bIns="45719" anchor="ctr"/>
            <a:lstStyle/>
            <a:p>
              <a:pPr algn="ctr" defTabSz="685800" eaLnBrk="1" fontAlgn="auto" hangingPunct="1">
                <a:spcBef>
                  <a:spcPts val="0"/>
                </a:spcBef>
                <a:spcAft>
                  <a:spcPts val="0"/>
                </a:spcAft>
              </a:pPr>
              <a:r>
                <a:rPr kumimoji="1" lang="en-US" altLang="zh-CN" sz="1425" dirty="0">
                  <a:solidFill>
                    <a:prstClr val="black"/>
                  </a:solidFill>
                  <a:latin typeface="微软雅黑" panose="020B0503020204020204" pitchFamily="34" charset="-122"/>
                  <a:ea typeface="微软雅黑" panose="020B0503020204020204" pitchFamily="34" charset="-122"/>
                  <a:cs typeface="+mn-cs"/>
                </a:rPr>
                <a:t>ICMP </a:t>
              </a:r>
              <a:r>
                <a:rPr kumimoji="1" lang="zh-CN" altLang="en-US" sz="1425" dirty="0">
                  <a:solidFill>
                    <a:prstClr val="black"/>
                  </a:solidFill>
                  <a:latin typeface="微软雅黑" panose="020B0503020204020204" pitchFamily="34" charset="-122"/>
                  <a:ea typeface="微软雅黑" panose="020B0503020204020204" pitchFamily="34" charset="-122"/>
                  <a:cs typeface="+mn-cs"/>
                </a:rPr>
                <a:t>报文</a:t>
              </a:r>
            </a:p>
          </p:txBody>
        </p:sp>
        <p:sp>
          <p:nvSpPr>
            <p:cNvPr id="16" name="Text Box 9"/>
            <p:cNvSpPr txBox="1">
              <a:spLocks noChangeArrowheads="1"/>
            </p:cNvSpPr>
            <p:nvPr/>
          </p:nvSpPr>
          <p:spPr bwMode="auto">
            <a:xfrm>
              <a:off x="3405576" y="1659155"/>
              <a:ext cx="327385" cy="36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en-US" altLang="zh-CN" sz="1200" b="1" dirty="0">
                  <a:solidFill>
                    <a:srgbClr val="0000FF"/>
                  </a:solidFill>
                  <a:latin typeface="微软雅黑" panose="020B0503020204020204" pitchFamily="34" charset="-122"/>
                  <a:ea typeface="微软雅黑" panose="020B0503020204020204" pitchFamily="34" charset="-122"/>
                  <a:cs typeface="+mn-cs"/>
                </a:rPr>
                <a:t>0</a:t>
              </a:r>
            </a:p>
          </p:txBody>
        </p:sp>
        <p:sp>
          <p:nvSpPr>
            <p:cNvPr id="17" name="Line 10"/>
            <p:cNvSpPr>
              <a:spLocks noChangeShapeType="1"/>
            </p:cNvSpPr>
            <p:nvPr/>
          </p:nvSpPr>
          <p:spPr bwMode="auto">
            <a:xfrm>
              <a:off x="4859387" y="4877454"/>
              <a:ext cx="0" cy="408369"/>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anose="020B0503020204020204" pitchFamily="34" charset="-122"/>
                <a:ea typeface="微软雅黑" panose="020B0503020204020204" pitchFamily="34" charset="-122"/>
                <a:cs typeface="+mn-cs"/>
              </a:endParaRPr>
            </a:p>
          </p:txBody>
        </p:sp>
        <p:sp>
          <p:nvSpPr>
            <p:cNvPr id="18" name="Text Box 11"/>
            <p:cNvSpPr txBox="1">
              <a:spLocks noChangeArrowheads="1"/>
            </p:cNvSpPr>
            <p:nvPr/>
          </p:nvSpPr>
          <p:spPr bwMode="auto">
            <a:xfrm>
              <a:off x="5959729" y="4874133"/>
              <a:ext cx="1456895" cy="4154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zh-CN" altLang="en-US" sz="1425" dirty="0">
                  <a:solidFill>
                    <a:prstClr val="black"/>
                  </a:solidFill>
                  <a:latin typeface="微软雅黑" panose="020B0503020204020204" pitchFamily="34" charset="-122"/>
                  <a:ea typeface="微软雅黑" panose="020B0503020204020204" pitchFamily="34" charset="-122"/>
                  <a:cs typeface="+mn-cs"/>
                </a:rPr>
                <a:t>数  据  部  分</a:t>
              </a:r>
            </a:p>
          </p:txBody>
        </p:sp>
        <p:sp>
          <p:nvSpPr>
            <p:cNvPr id="19" name="AutoShape 12"/>
            <p:cNvSpPr>
              <a:spLocks noChangeArrowheads="1"/>
            </p:cNvSpPr>
            <p:nvPr/>
          </p:nvSpPr>
          <p:spPr bwMode="auto">
            <a:xfrm>
              <a:off x="6389801" y="4475725"/>
              <a:ext cx="327304" cy="489711"/>
            </a:xfrm>
            <a:prstGeom prst="downArrow">
              <a:avLst>
                <a:gd name="adj1" fmla="val 47222"/>
                <a:gd name="adj2" fmla="val 83746"/>
              </a:avLst>
            </a:prstGeom>
            <a:solidFill>
              <a:srgbClr val="FF99FF"/>
            </a:solidFill>
            <a:ln w="9525">
              <a:solidFill>
                <a:schemeClr val="tx1"/>
              </a:solidFill>
              <a:miter lim="800000"/>
            </a:ln>
            <a:effectLst/>
          </p:spPr>
          <p:txBody>
            <a:bodyPr vert="eaVert"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anose="020B0503020204020204" pitchFamily="34" charset="-122"/>
                <a:ea typeface="微软雅黑" panose="020B0503020204020204" pitchFamily="34" charset="-122"/>
                <a:cs typeface="+mn-cs"/>
              </a:endParaRPr>
            </a:p>
          </p:txBody>
        </p:sp>
        <p:sp>
          <p:nvSpPr>
            <p:cNvPr id="20" name="Rectangle 13"/>
            <p:cNvSpPr>
              <a:spLocks noChangeArrowheads="1"/>
            </p:cNvSpPr>
            <p:nvPr/>
          </p:nvSpPr>
          <p:spPr bwMode="auto">
            <a:xfrm>
              <a:off x="3546574" y="1997291"/>
              <a:ext cx="6344660" cy="1635136"/>
            </a:xfrm>
            <a:prstGeom prst="rect">
              <a:avLst/>
            </a:prstGeom>
            <a:solidFill>
              <a:srgbClr val="99FFCC"/>
            </a:solidFill>
            <a:ln w="9525">
              <a:solidFill>
                <a:schemeClr val="tx1"/>
              </a:solidFill>
              <a:miter lim="800000"/>
            </a:ln>
            <a:effec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anose="020B0503020204020204" pitchFamily="34" charset="-122"/>
                <a:ea typeface="微软雅黑" panose="020B0503020204020204" pitchFamily="34" charset="-122"/>
                <a:cs typeface="+mn-cs"/>
              </a:endParaRPr>
            </a:p>
          </p:txBody>
        </p:sp>
        <p:sp>
          <p:nvSpPr>
            <p:cNvPr id="21" name="Line 14"/>
            <p:cNvSpPr>
              <a:spLocks noChangeShapeType="1"/>
            </p:cNvSpPr>
            <p:nvPr/>
          </p:nvSpPr>
          <p:spPr bwMode="auto">
            <a:xfrm rot="5400000" flipV="1">
              <a:off x="6718904" y="-798213"/>
              <a:ext cx="0" cy="63446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anose="020B0503020204020204" pitchFamily="34" charset="-122"/>
                <a:ea typeface="微软雅黑" panose="020B0503020204020204" pitchFamily="34" charset="-122"/>
                <a:cs typeface="+mn-cs"/>
              </a:endParaRPr>
            </a:p>
          </p:txBody>
        </p:sp>
        <p:sp>
          <p:nvSpPr>
            <p:cNvPr id="22" name="Line 15"/>
            <p:cNvSpPr>
              <a:spLocks noChangeShapeType="1"/>
            </p:cNvSpPr>
            <p:nvPr/>
          </p:nvSpPr>
          <p:spPr bwMode="auto">
            <a:xfrm flipV="1">
              <a:off x="5130940" y="1965750"/>
              <a:ext cx="0" cy="408369"/>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anose="020B0503020204020204" pitchFamily="34" charset="-122"/>
                <a:ea typeface="微软雅黑" panose="020B0503020204020204" pitchFamily="34" charset="-122"/>
                <a:cs typeface="+mn-cs"/>
              </a:endParaRPr>
            </a:p>
          </p:txBody>
        </p:sp>
        <p:sp>
          <p:nvSpPr>
            <p:cNvPr id="23" name="Line 16"/>
            <p:cNvSpPr>
              <a:spLocks noChangeShapeType="1"/>
            </p:cNvSpPr>
            <p:nvPr/>
          </p:nvSpPr>
          <p:spPr bwMode="auto">
            <a:xfrm flipV="1">
              <a:off x="6717104" y="1965750"/>
              <a:ext cx="0" cy="408369"/>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anose="020B0503020204020204" pitchFamily="34" charset="-122"/>
                <a:ea typeface="微软雅黑" panose="020B0503020204020204" pitchFamily="34" charset="-122"/>
                <a:cs typeface="+mn-cs"/>
              </a:endParaRPr>
            </a:p>
          </p:txBody>
        </p:sp>
        <p:sp>
          <p:nvSpPr>
            <p:cNvPr id="24" name="Line 17"/>
            <p:cNvSpPr>
              <a:spLocks noChangeShapeType="1"/>
            </p:cNvSpPr>
            <p:nvPr/>
          </p:nvSpPr>
          <p:spPr bwMode="auto">
            <a:xfrm flipV="1">
              <a:off x="6717104" y="1965750"/>
              <a:ext cx="0" cy="408369"/>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anose="020B0503020204020204" pitchFamily="34" charset="-122"/>
                <a:ea typeface="微软雅黑" panose="020B0503020204020204" pitchFamily="34" charset="-122"/>
                <a:cs typeface="+mn-cs"/>
              </a:endParaRPr>
            </a:p>
          </p:txBody>
        </p:sp>
        <p:sp>
          <p:nvSpPr>
            <p:cNvPr id="25" name="Text Box 21"/>
            <p:cNvSpPr txBox="1">
              <a:spLocks noChangeArrowheads="1"/>
            </p:cNvSpPr>
            <p:nvPr/>
          </p:nvSpPr>
          <p:spPr bwMode="auto">
            <a:xfrm>
              <a:off x="4758682" y="2399430"/>
              <a:ext cx="4144417" cy="4154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zh-CN" altLang="en-US" sz="1425" dirty="0">
                  <a:solidFill>
                    <a:prstClr val="black"/>
                  </a:solidFill>
                  <a:latin typeface="微软雅黑" panose="020B0503020204020204" pitchFamily="34" charset="-122"/>
                  <a:ea typeface="微软雅黑" panose="020B0503020204020204" pitchFamily="34" charset="-122"/>
                  <a:cs typeface="+mn-cs"/>
                </a:rPr>
                <a:t>（这 </a:t>
              </a:r>
              <a:r>
                <a:rPr kumimoji="1" lang="en-US" altLang="zh-CN" sz="1425" dirty="0">
                  <a:solidFill>
                    <a:prstClr val="black"/>
                  </a:solidFill>
                  <a:latin typeface="微软雅黑" panose="020B0503020204020204" pitchFamily="34" charset="-122"/>
                  <a:ea typeface="微软雅黑" panose="020B0503020204020204" pitchFamily="34" charset="-122"/>
                  <a:cs typeface="+mn-cs"/>
                </a:rPr>
                <a:t>4 </a:t>
              </a:r>
              <a:r>
                <a:rPr kumimoji="1" lang="zh-CN" altLang="en-US" sz="1425" dirty="0">
                  <a:solidFill>
                    <a:prstClr val="black"/>
                  </a:solidFill>
                  <a:latin typeface="微软雅黑" panose="020B0503020204020204" pitchFamily="34" charset="-122"/>
                  <a:ea typeface="微软雅黑" panose="020B0503020204020204" pitchFamily="34" charset="-122"/>
                  <a:cs typeface="+mn-cs"/>
                </a:rPr>
                <a:t>个字节取决于 </a:t>
              </a:r>
              <a:r>
                <a:rPr kumimoji="1" lang="en-US" altLang="zh-CN" sz="1425" dirty="0">
                  <a:solidFill>
                    <a:prstClr val="black"/>
                  </a:solidFill>
                  <a:latin typeface="微软雅黑" panose="020B0503020204020204" pitchFamily="34" charset="-122"/>
                  <a:ea typeface="微软雅黑" panose="020B0503020204020204" pitchFamily="34" charset="-122"/>
                  <a:cs typeface="+mn-cs"/>
                </a:rPr>
                <a:t>ICMP </a:t>
              </a:r>
              <a:r>
                <a:rPr kumimoji="1" lang="zh-CN" altLang="en-US" sz="1425" dirty="0">
                  <a:solidFill>
                    <a:prstClr val="black"/>
                  </a:solidFill>
                  <a:latin typeface="微软雅黑" panose="020B0503020204020204" pitchFamily="34" charset="-122"/>
                  <a:ea typeface="微软雅黑" panose="020B0503020204020204" pitchFamily="34" charset="-122"/>
                  <a:cs typeface="+mn-cs"/>
                </a:rPr>
                <a:t>报文的类型）</a:t>
              </a:r>
            </a:p>
          </p:txBody>
        </p:sp>
        <p:sp>
          <p:nvSpPr>
            <p:cNvPr id="26" name="Text Box 22"/>
            <p:cNvSpPr txBox="1">
              <a:spLocks noChangeArrowheads="1"/>
            </p:cNvSpPr>
            <p:nvPr/>
          </p:nvSpPr>
          <p:spPr bwMode="auto">
            <a:xfrm>
              <a:off x="4970162" y="1659155"/>
              <a:ext cx="327385" cy="36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en-US" altLang="zh-CN" sz="1200" b="1">
                  <a:solidFill>
                    <a:srgbClr val="0000FF"/>
                  </a:solidFill>
                  <a:latin typeface="微软雅黑" panose="020B0503020204020204" pitchFamily="34" charset="-122"/>
                  <a:ea typeface="微软雅黑" panose="020B0503020204020204" pitchFamily="34" charset="-122"/>
                  <a:cs typeface="+mn-cs"/>
                </a:rPr>
                <a:t>8</a:t>
              </a:r>
            </a:p>
          </p:txBody>
        </p:sp>
        <p:sp>
          <p:nvSpPr>
            <p:cNvPr id="27" name="Text Box 23"/>
            <p:cNvSpPr txBox="1">
              <a:spLocks noChangeArrowheads="1"/>
            </p:cNvSpPr>
            <p:nvPr/>
          </p:nvSpPr>
          <p:spPr bwMode="auto">
            <a:xfrm>
              <a:off x="6525757" y="1659155"/>
              <a:ext cx="438268" cy="36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en-US" altLang="zh-CN" sz="1200" b="1">
                  <a:solidFill>
                    <a:srgbClr val="0000FF"/>
                  </a:solidFill>
                  <a:latin typeface="微软雅黑" panose="020B0503020204020204" pitchFamily="34" charset="-122"/>
                  <a:ea typeface="微软雅黑" panose="020B0503020204020204" pitchFamily="34" charset="-122"/>
                  <a:cs typeface="+mn-cs"/>
                </a:rPr>
                <a:t>16</a:t>
              </a:r>
            </a:p>
          </p:txBody>
        </p:sp>
        <p:sp>
          <p:nvSpPr>
            <p:cNvPr id="28" name="Rectangle 24"/>
            <p:cNvSpPr>
              <a:spLocks noChangeArrowheads="1"/>
            </p:cNvSpPr>
            <p:nvPr/>
          </p:nvSpPr>
          <p:spPr bwMode="auto">
            <a:xfrm>
              <a:off x="5166909" y="5367165"/>
              <a:ext cx="1442295" cy="29880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anose="020B0503020204020204" pitchFamily="34" charset="-122"/>
                <a:ea typeface="微软雅黑" panose="020B0503020204020204" pitchFamily="34" charset="-122"/>
                <a:cs typeface="+mn-cs"/>
              </a:endParaRPr>
            </a:p>
          </p:txBody>
        </p:sp>
        <p:sp>
          <p:nvSpPr>
            <p:cNvPr id="29" name="Text Box 25"/>
            <p:cNvSpPr txBox="1">
              <a:spLocks noChangeArrowheads="1"/>
            </p:cNvSpPr>
            <p:nvPr/>
          </p:nvSpPr>
          <p:spPr bwMode="auto">
            <a:xfrm>
              <a:off x="9585855" y="1659155"/>
              <a:ext cx="438268" cy="369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en-US" altLang="zh-CN" sz="1200" b="1" dirty="0">
                  <a:solidFill>
                    <a:srgbClr val="0000FF"/>
                  </a:solidFill>
                  <a:latin typeface="微软雅黑" panose="020B0503020204020204" pitchFamily="34" charset="-122"/>
                  <a:ea typeface="微软雅黑" panose="020B0503020204020204" pitchFamily="34" charset="-122"/>
                  <a:cs typeface="+mn-cs"/>
                </a:rPr>
                <a:t>31</a:t>
              </a:r>
            </a:p>
          </p:txBody>
        </p:sp>
        <p:sp>
          <p:nvSpPr>
            <p:cNvPr id="30" name="Text Box 26"/>
            <p:cNvSpPr txBox="1">
              <a:spLocks noChangeArrowheads="1"/>
            </p:cNvSpPr>
            <p:nvPr/>
          </p:nvSpPr>
          <p:spPr bwMode="auto">
            <a:xfrm>
              <a:off x="5356792" y="5303880"/>
              <a:ext cx="1118605" cy="4154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en-US" altLang="zh-CN" sz="1425" dirty="0">
                  <a:solidFill>
                    <a:srgbClr val="C00000"/>
                  </a:solidFill>
                  <a:latin typeface="微软雅黑" panose="020B0503020204020204" pitchFamily="34" charset="-122"/>
                  <a:ea typeface="微软雅黑" panose="020B0503020204020204" pitchFamily="34" charset="-122"/>
                  <a:cs typeface="+mn-cs"/>
                </a:rPr>
                <a:t>IP </a:t>
              </a:r>
              <a:r>
                <a:rPr kumimoji="1" lang="zh-CN" altLang="en-US" sz="1425" dirty="0">
                  <a:solidFill>
                    <a:srgbClr val="C00000"/>
                  </a:solidFill>
                  <a:latin typeface="微软雅黑" panose="020B0503020204020204" pitchFamily="34" charset="-122"/>
                  <a:ea typeface="微软雅黑" panose="020B0503020204020204" pitchFamily="34" charset="-122"/>
                  <a:cs typeface="+mn-cs"/>
                </a:rPr>
                <a:t>数据报</a:t>
              </a:r>
            </a:p>
          </p:txBody>
        </p:sp>
        <p:sp>
          <p:nvSpPr>
            <p:cNvPr id="31" name="Line 27"/>
            <p:cNvSpPr>
              <a:spLocks noChangeShapeType="1"/>
            </p:cNvSpPr>
            <p:nvPr/>
          </p:nvSpPr>
          <p:spPr bwMode="auto">
            <a:xfrm rot="16200000">
              <a:off x="6718904" y="-388182"/>
              <a:ext cx="0" cy="63446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nchor="ctr"/>
            <a:lstStyle/>
            <a:p>
              <a:pPr algn="ctr" defTabSz="685800" eaLnBrk="1" fontAlgn="auto" hangingPunct="1">
                <a:spcBef>
                  <a:spcPts val="0"/>
                </a:spcBef>
                <a:spcAft>
                  <a:spcPts val="0"/>
                </a:spcAft>
              </a:pPr>
              <a:endParaRPr lang="zh-CN" altLang="en-US" sz="1425" b="1">
                <a:solidFill>
                  <a:prstClr val="black"/>
                </a:solidFill>
                <a:latin typeface="微软雅黑" panose="020B0503020204020204" pitchFamily="34" charset="-122"/>
                <a:ea typeface="微软雅黑" panose="020B0503020204020204" pitchFamily="34" charset="-122"/>
                <a:cs typeface="+mn-cs"/>
              </a:endParaRPr>
            </a:p>
          </p:txBody>
        </p:sp>
        <p:sp>
          <p:nvSpPr>
            <p:cNvPr id="32" name="Text Box 29"/>
            <p:cNvSpPr txBox="1">
              <a:spLocks noChangeArrowheads="1"/>
            </p:cNvSpPr>
            <p:nvPr/>
          </p:nvSpPr>
          <p:spPr bwMode="auto">
            <a:xfrm>
              <a:off x="4998428" y="2991654"/>
              <a:ext cx="3826801" cy="4154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kumimoji="1" lang="en-US" altLang="zh-CN" sz="1425" dirty="0">
                  <a:solidFill>
                    <a:prstClr val="black"/>
                  </a:solidFill>
                  <a:latin typeface="微软雅黑" panose="020B0503020204020204" pitchFamily="34" charset="-122"/>
                  <a:ea typeface="微软雅黑" panose="020B0503020204020204" pitchFamily="34" charset="-122"/>
                  <a:cs typeface="+mn-cs"/>
                </a:rPr>
                <a:t>ICMP </a:t>
              </a:r>
              <a:r>
                <a:rPr kumimoji="1" lang="zh-CN" altLang="en-US" sz="1425" dirty="0">
                  <a:solidFill>
                    <a:prstClr val="black"/>
                  </a:solidFill>
                  <a:latin typeface="微软雅黑" panose="020B0503020204020204" pitchFamily="34" charset="-122"/>
                  <a:ea typeface="微软雅黑" panose="020B0503020204020204" pitchFamily="34" charset="-122"/>
                  <a:cs typeface="+mn-cs"/>
                </a:rPr>
                <a:t>的数据部分（长度取决于类型）</a:t>
              </a:r>
            </a:p>
          </p:txBody>
        </p:sp>
        <p:grpSp>
          <p:nvGrpSpPr>
            <p:cNvPr id="33" name="组合 32"/>
            <p:cNvGrpSpPr/>
            <p:nvPr/>
          </p:nvGrpSpPr>
          <p:grpSpPr>
            <a:xfrm>
              <a:off x="4016457" y="1984428"/>
              <a:ext cx="4751850" cy="415499"/>
              <a:chOff x="3012344" y="1488315"/>
              <a:chExt cx="3563888" cy="311623"/>
            </a:xfrm>
          </p:grpSpPr>
          <p:sp>
            <p:nvSpPr>
              <p:cNvPr id="34" name="Text Box 18"/>
              <p:cNvSpPr txBox="1">
                <a:spLocks noChangeArrowheads="1"/>
              </p:cNvSpPr>
              <p:nvPr/>
            </p:nvSpPr>
            <p:spPr bwMode="auto">
              <a:xfrm>
                <a:off x="5931790" y="1488315"/>
                <a:ext cx="644442" cy="3116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spcBef>
                    <a:spcPts val="0"/>
                  </a:spcBef>
                  <a:spcAft>
                    <a:spcPts val="0"/>
                  </a:spcAft>
                </a:pPr>
                <a:r>
                  <a:rPr kumimoji="1" lang="zh-CN" altLang="en-US" sz="1425" dirty="0">
                    <a:solidFill>
                      <a:prstClr val="black"/>
                    </a:solidFill>
                    <a:latin typeface="微软雅黑" panose="020B0503020204020204" pitchFamily="34" charset="-122"/>
                    <a:ea typeface="微软雅黑" panose="020B0503020204020204" pitchFamily="34" charset="-122"/>
                    <a:cs typeface="+mn-cs"/>
                  </a:rPr>
                  <a:t>检验和</a:t>
                </a:r>
              </a:p>
            </p:txBody>
          </p:sp>
          <p:sp>
            <p:nvSpPr>
              <p:cNvPr id="35" name="Text Box 19"/>
              <p:cNvSpPr txBox="1">
                <a:spLocks noChangeArrowheads="1"/>
              </p:cNvSpPr>
              <p:nvPr/>
            </p:nvSpPr>
            <p:spPr bwMode="auto">
              <a:xfrm>
                <a:off x="3012344" y="1488315"/>
                <a:ext cx="483754" cy="3116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spcBef>
                    <a:spcPts val="0"/>
                  </a:spcBef>
                  <a:spcAft>
                    <a:spcPts val="0"/>
                  </a:spcAft>
                </a:pPr>
                <a:r>
                  <a:rPr kumimoji="1" lang="zh-CN" altLang="en-US" sz="1425" dirty="0">
                    <a:solidFill>
                      <a:prstClr val="black"/>
                    </a:solidFill>
                    <a:latin typeface="微软雅黑" panose="020B0503020204020204" pitchFamily="34" charset="-122"/>
                    <a:ea typeface="微软雅黑" panose="020B0503020204020204" pitchFamily="34" charset="-122"/>
                    <a:cs typeface="+mn-cs"/>
                  </a:rPr>
                  <a:t>类型</a:t>
                </a:r>
              </a:p>
            </p:txBody>
          </p:sp>
          <p:sp>
            <p:nvSpPr>
              <p:cNvPr id="36" name="Text Box 20"/>
              <p:cNvSpPr txBox="1">
                <a:spLocks noChangeArrowheads="1"/>
              </p:cNvSpPr>
              <p:nvPr/>
            </p:nvSpPr>
            <p:spPr bwMode="auto">
              <a:xfrm>
                <a:off x="4269407" y="1488315"/>
                <a:ext cx="483754" cy="3116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spcBef>
                    <a:spcPts val="0"/>
                  </a:spcBef>
                  <a:spcAft>
                    <a:spcPts val="0"/>
                  </a:spcAft>
                </a:pPr>
                <a:r>
                  <a:rPr kumimoji="1" lang="zh-CN" altLang="en-US" sz="1425" dirty="0">
                    <a:solidFill>
                      <a:prstClr val="black"/>
                    </a:solidFill>
                    <a:latin typeface="微软雅黑" panose="020B0503020204020204" pitchFamily="34" charset="-122"/>
                    <a:ea typeface="微软雅黑" panose="020B0503020204020204" pitchFamily="34" charset="-122"/>
                    <a:cs typeface="+mn-cs"/>
                  </a:rPr>
                  <a:t>代码</a:t>
                </a:r>
              </a:p>
            </p:txBody>
          </p:sp>
        </p:grpSp>
      </p:grpSp>
      <p:sp>
        <p:nvSpPr>
          <p:cNvPr id="39" name="标题 1"/>
          <p:cNvSpPr txBox="1"/>
          <p:nvPr/>
        </p:nvSpPr>
        <p:spPr>
          <a:xfrm>
            <a:off x="970645" y="1118395"/>
            <a:ext cx="6165609" cy="659315"/>
          </a:xfrm>
          <a:prstGeom prst="rect">
            <a:avLst/>
          </a:prstGeom>
        </p:spPr>
        <p:txBody>
          <a:bodyPr vert="horz" lIns="68580" tIns="34290" rIns="68580" bIns="34290" rtlCol="0" anchor="ctr">
            <a:normAutofit/>
          </a:bodyPr>
          <a:lstStyle>
            <a:lvl1pPr algn="l" defTabSz="914400" rtl="0" eaLnBrk="1" latinLnBrk="0" hangingPunct="1">
              <a:lnSpc>
                <a:spcPct val="90000"/>
              </a:lnSpc>
              <a:spcBef>
                <a:spcPct val="0"/>
              </a:spcBef>
              <a:buNone/>
              <a:defRPr sz="4000" kern="1200">
                <a:solidFill>
                  <a:schemeClr val="tx1"/>
                </a:solidFill>
                <a:latin typeface="Microsoft YaHei" panose="020B0503020204020204" pitchFamily="34" charset="-122"/>
                <a:ea typeface="Microsoft YaHei" panose="020B0503020204020204" pitchFamily="34" charset="-122"/>
                <a:cs typeface="+mj-cs"/>
              </a:defRPr>
            </a:lvl1pPr>
          </a:lstStyle>
          <a:p>
            <a:pPr defTabSz="685800" fontAlgn="auto">
              <a:spcAft>
                <a:spcPts val="0"/>
              </a:spcAft>
            </a:pPr>
            <a:r>
              <a:rPr lang="en-US" altLang="zh-CN" sz="3000" dirty="0">
                <a:solidFill>
                  <a:prstClr val="black"/>
                </a:solidFill>
                <a:latin typeface="微软雅黑" panose="020B0503020204020204" pitchFamily="34" charset="-122"/>
                <a:ea typeface="微软雅黑" panose="020B0503020204020204" pitchFamily="34" charset="-122"/>
              </a:rPr>
              <a:t>ICMP </a:t>
            </a:r>
            <a:r>
              <a:rPr lang="zh-CN" altLang="en-US" sz="3000" dirty="0">
                <a:solidFill>
                  <a:prstClr val="black"/>
                </a:solidFill>
                <a:latin typeface="微软雅黑" panose="020B0503020204020204" pitchFamily="34" charset="-122"/>
                <a:ea typeface="微软雅黑" panose="020B0503020204020204" pitchFamily="34" charset="-122"/>
              </a:rPr>
              <a:t>报文格式 </a:t>
            </a:r>
            <a:r>
              <a:rPr lang="zh-CN" altLang="en-US" sz="3000" dirty="0">
                <a:solidFill>
                  <a:prstClr val="white"/>
                </a:solidFill>
                <a:latin typeface="微软雅黑" panose="020B0503020204020204" pitchFamily="34" charset="-122"/>
                <a:ea typeface="微软雅黑" panose="020B0503020204020204" pitchFamily="34" charset="-122"/>
              </a:rPr>
              <a:t>格式 </a:t>
            </a:r>
          </a:p>
        </p:txBody>
      </p:sp>
      <p:sp>
        <p:nvSpPr>
          <p:cNvPr id="40" name="内容占位符 2"/>
          <p:cNvSpPr>
            <a:spLocks noGrp="1"/>
          </p:cNvSpPr>
          <p:nvPr>
            <p:ph idx="1"/>
          </p:nvPr>
        </p:nvSpPr>
        <p:spPr>
          <a:xfrm>
            <a:off x="628651" y="4882014"/>
            <a:ext cx="7441461" cy="661536"/>
          </a:xfrm>
        </p:spPr>
        <p:txBody>
          <a:bodyPr>
            <a:normAutofit fontScale="85000" lnSpcReduction="10000"/>
          </a:bodyPr>
          <a:lstStyle/>
          <a:p>
            <a:pPr>
              <a:lnSpc>
                <a:spcPct val="120000"/>
              </a:lnSpc>
            </a:pPr>
            <a:r>
              <a:rPr lang="en-US" altLang="zh-CN" sz="1800" dirty="0">
                <a:latin typeface="微软雅黑" panose="020B0503020204020204" pitchFamily="34" charset="-122"/>
                <a:ea typeface="微软雅黑" panose="020B0503020204020204" pitchFamily="34" charset="-122"/>
              </a:rPr>
              <a:t>ICMP</a:t>
            </a:r>
            <a:r>
              <a:rPr lang="zh-CN" altLang="en-US" sz="1800" dirty="0">
                <a:latin typeface="微软雅黑" panose="020B0503020204020204" pitchFamily="34" charset="-122"/>
                <a:ea typeface="微软雅黑" panose="020B0503020204020204" pitchFamily="34" charset="-122"/>
              </a:rPr>
              <a:t>报文的前 </a:t>
            </a:r>
            <a:r>
              <a:rPr lang="en-US" altLang="zh-CN" sz="1800" dirty="0">
                <a:latin typeface="微软雅黑" panose="020B0503020204020204" pitchFamily="34" charset="-122"/>
                <a:ea typeface="微软雅黑" panose="020B0503020204020204" pitchFamily="34" charset="-122"/>
              </a:rPr>
              <a:t>4 </a:t>
            </a:r>
            <a:r>
              <a:rPr lang="zh-CN" altLang="en-US" sz="1800" dirty="0">
                <a:latin typeface="微软雅黑" panose="020B0503020204020204" pitchFamily="34" charset="-122"/>
                <a:ea typeface="微软雅黑" panose="020B0503020204020204" pitchFamily="34" charset="-122"/>
              </a:rPr>
              <a:t>个字节包含格式统一的三个字段：类型、代码、检验和</a:t>
            </a:r>
            <a:endParaRPr lang="en-US" altLang="zh-CN" sz="1800" dirty="0">
              <a:latin typeface="微软雅黑" panose="020B0503020204020204" pitchFamily="34" charset="-122"/>
              <a:ea typeface="微软雅黑" panose="020B0503020204020204" pitchFamily="34" charset="-122"/>
            </a:endParaRPr>
          </a:p>
          <a:p>
            <a:pPr>
              <a:lnSpc>
                <a:spcPct val="120000"/>
              </a:lnSpc>
            </a:pPr>
            <a:r>
              <a:rPr lang="zh-CN" altLang="en-US" sz="1800" dirty="0">
                <a:latin typeface="微软雅黑" panose="020B0503020204020204" pitchFamily="34" charset="-122"/>
                <a:ea typeface="微软雅黑" panose="020B0503020204020204" pitchFamily="34" charset="-122"/>
              </a:rPr>
              <a:t>相邻的后四个字节内容与</a:t>
            </a:r>
            <a:r>
              <a:rPr lang="en-US" altLang="zh-CN" sz="1800" dirty="0">
                <a:latin typeface="微软雅黑" panose="020B0503020204020204" pitchFamily="34" charset="-122"/>
                <a:ea typeface="微软雅黑" panose="020B0503020204020204" pitchFamily="34" charset="-122"/>
              </a:rPr>
              <a:t>ICMP</a:t>
            </a:r>
            <a:r>
              <a:rPr lang="zh-CN" altLang="en-US" sz="1800" dirty="0">
                <a:latin typeface="微软雅黑" panose="020B0503020204020204" pitchFamily="34" charset="-122"/>
                <a:ea typeface="微软雅黑" panose="020B0503020204020204" pitchFamily="34" charset="-122"/>
              </a:rPr>
              <a:t>的报文类型有关</a:t>
            </a:r>
            <a:endParaRPr lang="en-US" altLang="zh-CN" dirty="0">
              <a:latin typeface="微软雅黑" panose="020B0503020204020204" pitchFamily="34" charset="-122"/>
              <a:ea typeface="微软雅黑" panose="020B0503020204020204" pitchFamily="34" charset="-122"/>
            </a:endParaRPr>
          </a:p>
          <a:p>
            <a:endParaRPr lang="en-US" altLang="zh-CN" dirty="0">
              <a:latin typeface="微软雅黑" panose="020B0503020204020204" pitchFamily="34" charset="-122"/>
              <a:ea typeface="微软雅黑" panose="020B0503020204020204" pitchFamily="34" charset="-122"/>
            </a:endParaRPr>
          </a:p>
          <a:p>
            <a:endParaRPr lang="en-US" altLang="zh-CN" dirty="0">
              <a:latin typeface="微软雅黑" panose="020B0503020204020204" pitchFamily="34" charset="-122"/>
              <a:ea typeface="微软雅黑" panose="020B0503020204020204" pitchFamily="34" charset="-122"/>
            </a:endParaRPr>
          </a:p>
          <a:p>
            <a:endParaRPr lang="zh-CN" altLang="en-US" dirty="0"/>
          </a:p>
        </p:txBody>
      </p:sp>
      <p:sp>
        <p:nvSpPr>
          <p:cNvPr id="6" name="Slide Number Placeholder 5"/>
          <p:cNvSpPr>
            <a:spLocks noGrp="1"/>
          </p:cNvSpPr>
          <p:nvPr>
            <p:ph type="sldNum" sz="quarter" idx="12"/>
          </p:nvPr>
        </p:nvSpPr>
        <p:spPr>
          <a:xfrm>
            <a:off x="8456295" y="6475730"/>
            <a:ext cx="68707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110</a:t>
            </a:fld>
            <a:endParaRPr lang="en-US" sz="1200" dirty="0">
              <a:latin typeface="Tahoma" panose="020B060403050404020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0">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0">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build="p"/>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pPr lvl="1" algn="l" rtl="0">
              <a:lnSpc>
                <a:spcPct val="90000"/>
              </a:lnSpc>
              <a:spcBef>
                <a:spcPct val="0"/>
              </a:spcBef>
            </a:pPr>
            <a:r>
              <a:rPr lang="en-US" altLang="zh-CN" sz="3000" dirty="0">
                <a:latin typeface="微软雅黑" panose="020B0503020204020204" pitchFamily="34" charset="-122"/>
                <a:ea typeface="微软雅黑" panose="020B0503020204020204" pitchFamily="34" charset="-122"/>
              </a:rPr>
              <a:t>ICMP</a:t>
            </a:r>
            <a:r>
              <a:rPr lang="zh-CN" altLang="en-US" sz="3000" dirty="0">
                <a:latin typeface="微软雅黑" panose="020B0503020204020204" pitchFamily="34" charset="-122"/>
                <a:ea typeface="微软雅黑" panose="020B0503020204020204" pitchFamily="34" charset="-122"/>
              </a:rPr>
              <a:t>报文类型及功能</a:t>
            </a:r>
          </a:p>
        </p:txBody>
      </p:sp>
      <p:graphicFrame>
        <p:nvGraphicFramePr>
          <p:cNvPr id="6" name="内容占位符 5"/>
          <p:cNvGraphicFramePr>
            <a:graphicFrameLocks noGrp="1"/>
          </p:cNvGraphicFramePr>
          <p:nvPr>
            <p:ph idx="1"/>
          </p:nvPr>
        </p:nvGraphicFramePr>
        <p:xfrm>
          <a:off x="616246" y="2015756"/>
          <a:ext cx="5005719" cy="2458296"/>
        </p:xfrm>
        <a:graphic>
          <a:graphicData uri="http://schemas.openxmlformats.org/drawingml/2006/table">
            <a:tbl>
              <a:tblPr firstRow="1" bandRow="1">
                <a:tableStyleId>{5C22544A-7EE6-4342-B048-85BDC9FD1C3A}</a:tableStyleId>
              </a:tblPr>
              <a:tblGrid>
                <a:gridCol w="1036590">
                  <a:extLst>
                    <a:ext uri="{9D8B030D-6E8A-4147-A177-3AD203B41FA5}">
                      <a16:colId xmlns:a16="http://schemas.microsoft.com/office/drawing/2014/main" val="20000"/>
                    </a:ext>
                  </a:extLst>
                </a:gridCol>
                <a:gridCol w="1031231">
                  <a:extLst>
                    <a:ext uri="{9D8B030D-6E8A-4147-A177-3AD203B41FA5}">
                      <a16:colId xmlns:a16="http://schemas.microsoft.com/office/drawing/2014/main" val="20001"/>
                    </a:ext>
                  </a:extLst>
                </a:gridCol>
                <a:gridCol w="2937898">
                  <a:extLst>
                    <a:ext uri="{9D8B030D-6E8A-4147-A177-3AD203B41FA5}">
                      <a16:colId xmlns:a16="http://schemas.microsoft.com/office/drawing/2014/main" val="20002"/>
                    </a:ext>
                  </a:extLst>
                </a:gridCol>
              </a:tblGrid>
              <a:tr h="525780">
                <a:tc>
                  <a:txBody>
                    <a:bodyPr/>
                    <a:lstStyle/>
                    <a:p>
                      <a:pPr algn="ctr"/>
                      <a:r>
                        <a:rPr lang="en-US" altLang="zh-CN" sz="1500" dirty="0">
                          <a:latin typeface="微软雅黑" panose="020B0503020204020204" pitchFamily="34" charset="-122"/>
                          <a:ea typeface="微软雅黑" panose="020B0503020204020204" pitchFamily="34" charset="-122"/>
                        </a:rPr>
                        <a:t>ICMP</a:t>
                      </a:r>
                      <a:r>
                        <a:rPr lang="zh-CN" altLang="en-US" sz="1500" dirty="0">
                          <a:latin typeface="微软雅黑" panose="020B0503020204020204" pitchFamily="34" charset="-122"/>
                          <a:ea typeface="微软雅黑" panose="020B0503020204020204" pitchFamily="34" charset="-122"/>
                        </a:rPr>
                        <a:t>报文类型</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500" dirty="0">
                          <a:latin typeface="微软雅黑" panose="020B0503020204020204" pitchFamily="34" charset="-122"/>
                          <a:ea typeface="微软雅黑" panose="020B0503020204020204" pitchFamily="34" charset="-122"/>
                        </a:rPr>
                        <a:t>类型值</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500" dirty="0">
                          <a:latin typeface="微软雅黑" panose="020B0503020204020204" pitchFamily="34" charset="-122"/>
                          <a:ea typeface="微软雅黑" panose="020B0503020204020204" pitchFamily="34" charset="-122"/>
                        </a:rPr>
                        <a:t>功能描述</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322086">
                <a:tc rowSpan="4">
                  <a:txBody>
                    <a:bodyPr/>
                    <a:lstStyle/>
                    <a:p>
                      <a:pPr algn="ctr"/>
                      <a:r>
                        <a:rPr lang="zh-CN" altLang="en-US" sz="1000" b="0" dirty="0">
                          <a:latin typeface="微软雅黑" panose="020B0503020204020204" pitchFamily="34" charset="-122"/>
                          <a:ea typeface="微软雅黑" panose="020B0503020204020204" pitchFamily="34" charset="-122"/>
                        </a:rPr>
                        <a:t>差错报告报文</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000" dirty="0">
                          <a:latin typeface="微软雅黑" panose="020B0503020204020204" pitchFamily="34" charset="-122"/>
                          <a:ea typeface="微软雅黑" panose="020B0503020204020204" pitchFamily="34" charset="-122"/>
                        </a:rPr>
                        <a:t>3</a:t>
                      </a:r>
                      <a:endParaRPr lang="zh-CN" altLang="en-US" sz="1000" dirty="0">
                        <a:latin typeface="微软雅黑" panose="020B0503020204020204" pitchFamily="34" charset="-122"/>
                        <a:ea typeface="微软雅黑" panose="020B0503020204020204" pitchFamily="34" charset="-122"/>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00" dirty="0">
                          <a:latin typeface="微软雅黑" panose="020B0503020204020204" pitchFamily="34" charset="-122"/>
                          <a:ea typeface="微软雅黑" panose="020B0503020204020204" pitchFamily="34" charset="-122"/>
                        </a:rPr>
                        <a:t>终点不可达</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322086">
                <a:tc vMerge="1">
                  <a:txBody>
                    <a:bodyPr/>
                    <a:lstStyle/>
                    <a:p>
                      <a:endParaRPr lang="zh-CN"/>
                    </a:p>
                  </a:txBody>
                  <a:tcPr/>
                </a:tc>
                <a:tc>
                  <a:txBody>
                    <a:bodyPr/>
                    <a:lstStyle/>
                    <a:p>
                      <a:pPr algn="ctr"/>
                      <a:r>
                        <a:rPr lang="en-US" altLang="zh-CN" sz="1000" dirty="0">
                          <a:latin typeface="微软雅黑" panose="020B0503020204020204" pitchFamily="34" charset="-122"/>
                          <a:ea typeface="微软雅黑" panose="020B0503020204020204" pitchFamily="34" charset="-122"/>
                        </a:rPr>
                        <a:t>5</a:t>
                      </a:r>
                      <a:endParaRPr lang="zh-CN" altLang="en-US" sz="1000" dirty="0">
                        <a:latin typeface="微软雅黑" panose="020B0503020204020204" pitchFamily="34" charset="-122"/>
                        <a:ea typeface="微软雅黑" panose="020B0503020204020204" pitchFamily="34" charset="-122"/>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00" dirty="0">
                          <a:latin typeface="微软雅黑" panose="020B0503020204020204" pitchFamily="34" charset="-122"/>
                          <a:ea typeface="微软雅黑" panose="020B0503020204020204" pitchFamily="34" charset="-122"/>
                        </a:rPr>
                        <a:t>改变路由</a:t>
                      </a:r>
                      <a:r>
                        <a:rPr lang="en-US" altLang="zh-CN" sz="1000" dirty="0">
                          <a:latin typeface="微软雅黑" panose="020B0503020204020204" pitchFamily="34" charset="-122"/>
                          <a:ea typeface="微软雅黑" panose="020B0503020204020204" pitchFamily="34" charset="-122"/>
                        </a:rPr>
                        <a:t>(Redirect)</a:t>
                      </a:r>
                      <a:endParaRPr lang="zh-CN" altLang="en-US" sz="1000" dirty="0">
                        <a:latin typeface="微软雅黑" panose="020B0503020204020204" pitchFamily="34" charset="-122"/>
                        <a:ea typeface="微软雅黑" panose="020B0503020204020204" pitchFamily="34" charset="-122"/>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322086">
                <a:tc vMerge="1">
                  <a:txBody>
                    <a:bodyPr/>
                    <a:lstStyle/>
                    <a:p>
                      <a:endParaRPr lang="zh-CN"/>
                    </a:p>
                  </a:txBody>
                  <a:tcPr/>
                </a:tc>
                <a:tc>
                  <a:txBody>
                    <a:bodyPr/>
                    <a:lstStyle/>
                    <a:p>
                      <a:pPr algn="ctr"/>
                      <a:r>
                        <a:rPr lang="en-US" altLang="zh-CN" sz="1000" dirty="0">
                          <a:latin typeface="微软雅黑" panose="020B0503020204020204" pitchFamily="34" charset="-122"/>
                          <a:ea typeface="微软雅黑" panose="020B0503020204020204" pitchFamily="34" charset="-122"/>
                        </a:rPr>
                        <a:t>11</a:t>
                      </a:r>
                      <a:endParaRPr lang="zh-CN" altLang="en-US" sz="1000" dirty="0">
                        <a:latin typeface="微软雅黑" panose="020B0503020204020204" pitchFamily="34" charset="-122"/>
                        <a:ea typeface="微软雅黑" panose="020B0503020204020204" pitchFamily="34" charset="-122"/>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00" dirty="0">
                          <a:latin typeface="微软雅黑" panose="020B0503020204020204" pitchFamily="34" charset="-122"/>
                          <a:ea typeface="微软雅黑" panose="020B0503020204020204" pitchFamily="34" charset="-122"/>
                        </a:rPr>
                        <a:t>时间超时</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322086">
                <a:tc vMerge="1">
                  <a:txBody>
                    <a:bodyPr/>
                    <a:lstStyle/>
                    <a:p>
                      <a:endParaRPr lang="zh-CN"/>
                    </a:p>
                  </a:txBody>
                  <a:tcPr/>
                </a:tc>
                <a:tc>
                  <a:txBody>
                    <a:bodyPr/>
                    <a:lstStyle/>
                    <a:p>
                      <a:pPr algn="ctr"/>
                      <a:r>
                        <a:rPr lang="en-US" altLang="zh-CN" sz="1000" dirty="0">
                          <a:latin typeface="微软雅黑" panose="020B0503020204020204" pitchFamily="34" charset="-122"/>
                          <a:ea typeface="微软雅黑" panose="020B0503020204020204" pitchFamily="34" charset="-122"/>
                        </a:rPr>
                        <a:t>12</a:t>
                      </a:r>
                      <a:endParaRPr lang="zh-CN" altLang="en-US" sz="1000" dirty="0">
                        <a:latin typeface="微软雅黑" panose="020B0503020204020204" pitchFamily="34" charset="-122"/>
                        <a:ea typeface="微软雅黑" panose="020B0503020204020204" pitchFamily="34" charset="-122"/>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00" dirty="0">
                          <a:latin typeface="微软雅黑" panose="020B0503020204020204" pitchFamily="34" charset="-122"/>
                          <a:ea typeface="微软雅黑" panose="020B0503020204020204" pitchFamily="34" charset="-122"/>
                        </a:rPr>
                        <a:t>参数问题</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322086">
                <a:tc rowSpan="2">
                  <a:txBody>
                    <a:bodyPr/>
                    <a:lstStyle/>
                    <a:p>
                      <a:pPr algn="ctr"/>
                      <a:r>
                        <a:rPr lang="zh-CN" altLang="en-US" sz="1000" b="0" dirty="0">
                          <a:latin typeface="微软雅黑" panose="020B0503020204020204" pitchFamily="34" charset="-122"/>
                          <a:ea typeface="微软雅黑" panose="020B0503020204020204" pitchFamily="34" charset="-122"/>
                        </a:rPr>
                        <a:t>询问报文</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000" dirty="0">
                          <a:latin typeface="微软雅黑" panose="020B0503020204020204" pitchFamily="34" charset="-122"/>
                          <a:ea typeface="微软雅黑" panose="020B0503020204020204" pitchFamily="34" charset="-122"/>
                        </a:rPr>
                        <a:t>8</a:t>
                      </a:r>
                      <a:r>
                        <a:rPr lang="zh-CN" altLang="en-US" sz="1000" dirty="0">
                          <a:latin typeface="微软雅黑" panose="020B0503020204020204" pitchFamily="34" charset="-122"/>
                          <a:ea typeface="微软雅黑" panose="020B0503020204020204" pitchFamily="34" charset="-122"/>
                        </a:rPr>
                        <a:t>或</a:t>
                      </a:r>
                      <a:r>
                        <a:rPr lang="en-US" altLang="zh-CN" sz="1000" dirty="0">
                          <a:latin typeface="微软雅黑" panose="020B0503020204020204" pitchFamily="34" charset="-122"/>
                          <a:ea typeface="微软雅黑" panose="020B0503020204020204" pitchFamily="34" charset="-122"/>
                        </a:rPr>
                        <a:t>0</a:t>
                      </a:r>
                      <a:endParaRPr lang="zh-CN" altLang="en-US" sz="1000" dirty="0">
                        <a:latin typeface="微软雅黑" panose="020B0503020204020204" pitchFamily="34" charset="-122"/>
                        <a:ea typeface="微软雅黑" panose="020B0503020204020204" pitchFamily="34" charset="-122"/>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00" dirty="0">
                          <a:latin typeface="微软雅黑" panose="020B0503020204020204" pitchFamily="34" charset="-122"/>
                          <a:ea typeface="微软雅黑" panose="020B0503020204020204" pitchFamily="34" charset="-122"/>
                        </a:rPr>
                        <a:t>回送</a:t>
                      </a:r>
                      <a:r>
                        <a:rPr lang="en-US" altLang="zh-CN" sz="1000" dirty="0">
                          <a:latin typeface="微软雅黑" panose="020B0503020204020204" pitchFamily="34" charset="-122"/>
                          <a:ea typeface="微软雅黑" panose="020B0503020204020204" pitchFamily="34" charset="-122"/>
                        </a:rPr>
                        <a:t>(Echo)</a:t>
                      </a:r>
                      <a:r>
                        <a:rPr lang="zh-CN" altLang="en-US" sz="1000" dirty="0">
                          <a:latin typeface="微软雅黑" panose="020B0503020204020204" pitchFamily="34" charset="-122"/>
                          <a:ea typeface="微软雅黑" panose="020B0503020204020204" pitchFamily="34" charset="-122"/>
                        </a:rPr>
                        <a:t>请求或应答</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322086">
                <a:tc vMerge="1">
                  <a:txBody>
                    <a:bodyPr/>
                    <a:lstStyle/>
                    <a:p>
                      <a:endParaRPr lang="zh-CN"/>
                    </a:p>
                  </a:txBody>
                  <a:tcPr/>
                </a:tc>
                <a:tc>
                  <a:txBody>
                    <a:bodyPr/>
                    <a:lstStyle/>
                    <a:p>
                      <a:pPr algn="ctr"/>
                      <a:r>
                        <a:rPr lang="en-US" altLang="zh-CN" sz="1000" dirty="0">
                          <a:latin typeface="微软雅黑" panose="020B0503020204020204" pitchFamily="34" charset="-122"/>
                          <a:ea typeface="微软雅黑" panose="020B0503020204020204" pitchFamily="34" charset="-122"/>
                        </a:rPr>
                        <a:t>13</a:t>
                      </a:r>
                      <a:r>
                        <a:rPr lang="zh-CN" altLang="en-US" sz="1000" dirty="0">
                          <a:latin typeface="微软雅黑" panose="020B0503020204020204" pitchFamily="34" charset="-122"/>
                          <a:ea typeface="微软雅黑" panose="020B0503020204020204" pitchFamily="34" charset="-122"/>
                        </a:rPr>
                        <a:t>或</a:t>
                      </a:r>
                      <a:r>
                        <a:rPr lang="en-US" altLang="zh-CN" sz="1000" dirty="0">
                          <a:latin typeface="微软雅黑" panose="020B0503020204020204" pitchFamily="34" charset="-122"/>
                          <a:ea typeface="微软雅黑" panose="020B0503020204020204" pitchFamily="34" charset="-122"/>
                        </a:rPr>
                        <a:t>14</a:t>
                      </a:r>
                      <a:endParaRPr lang="zh-CN" altLang="en-US" sz="1000" dirty="0">
                        <a:latin typeface="微软雅黑" panose="020B0503020204020204" pitchFamily="34" charset="-122"/>
                        <a:ea typeface="微软雅黑" panose="020B0503020204020204" pitchFamily="34" charset="-122"/>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zh-CN" altLang="en-US" sz="1000" dirty="0">
                          <a:latin typeface="微软雅黑" panose="020B0503020204020204" pitchFamily="34" charset="-122"/>
                          <a:ea typeface="微软雅黑" panose="020B0503020204020204" pitchFamily="34" charset="-122"/>
                        </a:rPr>
                        <a:t>时间戳</a:t>
                      </a:r>
                      <a:r>
                        <a:rPr lang="en-US" altLang="zh-CN" sz="1000" dirty="0">
                          <a:latin typeface="微软雅黑" panose="020B0503020204020204" pitchFamily="34" charset="-122"/>
                          <a:ea typeface="微软雅黑" panose="020B0503020204020204" pitchFamily="34" charset="-122"/>
                        </a:rPr>
                        <a:t>(Timestamp)</a:t>
                      </a:r>
                      <a:r>
                        <a:rPr lang="zh-CN" altLang="en-US" sz="1000" dirty="0">
                          <a:latin typeface="微软雅黑" panose="020B0503020204020204" pitchFamily="34" charset="-122"/>
                          <a:ea typeface="微软雅黑" panose="020B0503020204020204" pitchFamily="34" charset="-122"/>
                        </a:rPr>
                        <a:t>请求或回答</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bl>
          </a:graphicData>
        </a:graphic>
      </p:graphicFrame>
      <p:sp>
        <p:nvSpPr>
          <p:cNvPr id="8" name="TextBox 7"/>
          <p:cNvSpPr txBox="1"/>
          <p:nvPr/>
        </p:nvSpPr>
        <p:spPr>
          <a:xfrm>
            <a:off x="725450" y="4710332"/>
            <a:ext cx="4553615" cy="507831"/>
          </a:xfrm>
          <a:prstGeom prst="rect">
            <a:avLst/>
          </a:prstGeom>
          <a:noFill/>
        </p:spPr>
        <p:txBody>
          <a:bodyPr wrap="square" rtlCol="0">
            <a:spAutoFit/>
          </a:bodyPr>
          <a:lstStyle/>
          <a:p>
            <a:pPr defTabSz="685800" eaLnBrk="1" fontAlgn="auto" hangingPunct="1">
              <a:spcBef>
                <a:spcPts val="0"/>
              </a:spcBef>
              <a:spcAft>
                <a:spcPts val="0"/>
              </a:spcAft>
            </a:pPr>
            <a:r>
              <a:rPr lang="zh-CN" altLang="en-US" sz="1350" dirty="0">
                <a:solidFill>
                  <a:prstClr val="black"/>
                </a:solidFill>
                <a:latin typeface="等线" panose="020F0502020204030204"/>
                <a:ea typeface="微软雅黑" panose="020B0503020204020204" pitchFamily="34" charset="-122"/>
                <a:cs typeface="+mn-cs"/>
              </a:rPr>
              <a:t>注：根据</a:t>
            </a:r>
            <a:r>
              <a:rPr lang="en-US" altLang="zh-CN" sz="1350" dirty="0">
                <a:solidFill>
                  <a:prstClr val="black"/>
                </a:solidFill>
                <a:latin typeface="等线" panose="020F0502020204030204"/>
                <a:ea typeface="微软雅黑" panose="020B0503020204020204" pitchFamily="34" charset="-122"/>
                <a:cs typeface="+mn-cs"/>
              </a:rPr>
              <a:t>RFC 6633</a:t>
            </a:r>
            <a:r>
              <a:rPr lang="zh-CN" altLang="en-US" sz="1350" dirty="0">
                <a:solidFill>
                  <a:prstClr val="black"/>
                </a:solidFill>
                <a:latin typeface="等线" panose="020F0502020204030204"/>
                <a:ea typeface="微软雅黑" panose="020B0503020204020204" pitchFamily="34" charset="-122"/>
                <a:cs typeface="+mn-cs"/>
              </a:rPr>
              <a:t>规定，已不再使用类型值为</a:t>
            </a:r>
            <a:r>
              <a:rPr lang="en-US" altLang="zh-CN" sz="1350" dirty="0">
                <a:solidFill>
                  <a:prstClr val="black"/>
                </a:solidFill>
                <a:latin typeface="等线" panose="020F0502020204030204"/>
                <a:ea typeface="微软雅黑" panose="020B0503020204020204" pitchFamily="34" charset="-122"/>
                <a:cs typeface="+mn-cs"/>
              </a:rPr>
              <a:t>4</a:t>
            </a:r>
            <a:r>
              <a:rPr lang="zh-CN" altLang="en-US" sz="1350" dirty="0">
                <a:solidFill>
                  <a:prstClr val="black"/>
                </a:solidFill>
                <a:latin typeface="等线" panose="020F0502020204030204"/>
                <a:ea typeface="微软雅黑" panose="020B0503020204020204" pitchFamily="34" charset="-122"/>
                <a:cs typeface="+mn-cs"/>
              </a:rPr>
              <a:t>、</a:t>
            </a:r>
            <a:r>
              <a:rPr lang="en-US" altLang="zh-CN" sz="1350" dirty="0">
                <a:solidFill>
                  <a:prstClr val="black"/>
                </a:solidFill>
                <a:latin typeface="等线" panose="020F0502020204030204"/>
                <a:ea typeface="微软雅黑" panose="020B0503020204020204" pitchFamily="34" charset="-122"/>
                <a:cs typeface="+mn-cs"/>
              </a:rPr>
              <a:t>10</a:t>
            </a:r>
            <a:r>
              <a:rPr lang="zh-CN" altLang="en-US" sz="1350" dirty="0">
                <a:solidFill>
                  <a:prstClr val="black"/>
                </a:solidFill>
                <a:latin typeface="等线" panose="020F0502020204030204"/>
                <a:ea typeface="微软雅黑" panose="020B0503020204020204" pitchFamily="34" charset="-122"/>
                <a:cs typeface="+mn-cs"/>
              </a:rPr>
              <a:t>或</a:t>
            </a:r>
            <a:r>
              <a:rPr lang="en-US" altLang="zh-CN" sz="1350" dirty="0">
                <a:solidFill>
                  <a:prstClr val="black"/>
                </a:solidFill>
                <a:latin typeface="等线" panose="020F0502020204030204"/>
                <a:ea typeface="微软雅黑" panose="020B0503020204020204" pitchFamily="34" charset="-122"/>
                <a:cs typeface="+mn-cs"/>
              </a:rPr>
              <a:t>9</a:t>
            </a:r>
            <a:r>
              <a:rPr lang="zh-CN" altLang="en-US" sz="1350" dirty="0">
                <a:solidFill>
                  <a:prstClr val="black"/>
                </a:solidFill>
                <a:latin typeface="等线" panose="020F0502020204030204"/>
                <a:ea typeface="微软雅黑" panose="020B0503020204020204" pitchFamily="34" charset="-122"/>
                <a:cs typeface="+mn-cs"/>
              </a:rPr>
              <a:t>、</a:t>
            </a:r>
            <a:r>
              <a:rPr lang="en-US" altLang="zh-CN" sz="1350" dirty="0">
                <a:solidFill>
                  <a:prstClr val="black"/>
                </a:solidFill>
                <a:latin typeface="等线" panose="020F0502020204030204"/>
                <a:ea typeface="微软雅黑" panose="020B0503020204020204" pitchFamily="34" charset="-122"/>
                <a:cs typeface="+mn-cs"/>
              </a:rPr>
              <a:t>15</a:t>
            </a:r>
            <a:r>
              <a:rPr lang="zh-CN" altLang="en-US" sz="1350" dirty="0">
                <a:solidFill>
                  <a:prstClr val="black"/>
                </a:solidFill>
                <a:latin typeface="等线" panose="020F0502020204030204"/>
                <a:ea typeface="微软雅黑" panose="020B0503020204020204" pitchFamily="34" charset="-122"/>
                <a:cs typeface="+mn-cs"/>
              </a:rPr>
              <a:t>或</a:t>
            </a:r>
            <a:r>
              <a:rPr lang="en-US" altLang="zh-CN" sz="1350" dirty="0">
                <a:solidFill>
                  <a:prstClr val="black"/>
                </a:solidFill>
                <a:latin typeface="等线" panose="020F0502020204030204"/>
                <a:ea typeface="微软雅黑" panose="020B0503020204020204" pitchFamily="34" charset="-122"/>
                <a:cs typeface="+mn-cs"/>
              </a:rPr>
              <a:t>16</a:t>
            </a:r>
            <a:r>
              <a:rPr lang="zh-CN" altLang="en-US" sz="1350" dirty="0">
                <a:solidFill>
                  <a:prstClr val="black"/>
                </a:solidFill>
                <a:latin typeface="等线" panose="020F0502020204030204"/>
                <a:ea typeface="微软雅黑" panose="020B0503020204020204" pitchFamily="34" charset="-122"/>
                <a:cs typeface="+mn-cs"/>
              </a:rPr>
              <a:t>、</a:t>
            </a:r>
            <a:r>
              <a:rPr lang="en-US" altLang="zh-CN" sz="1350" dirty="0">
                <a:solidFill>
                  <a:prstClr val="black"/>
                </a:solidFill>
                <a:latin typeface="等线" panose="020F0502020204030204"/>
                <a:ea typeface="微软雅黑" panose="020B0503020204020204" pitchFamily="34" charset="-122"/>
                <a:cs typeface="+mn-cs"/>
              </a:rPr>
              <a:t>17</a:t>
            </a:r>
            <a:r>
              <a:rPr lang="zh-CN" altLang="en-US" sz="1350" dirty="0">
                <a:solidFill>
                  <a:prstClr val="black"/>
                </a:solidFill>
                <a:latin typeface="等线" panose="020F0502020204030204"/>
                <a:ea typeface="微软雅黑" panose="020B0503020204020204" pitchFamily="34" charset="-122"/>
                <a:cs typeface="+mn-cs"/>
              </a:rPr>
              <a:t>或</a:t>
            </a:r>
            <a:r>
              <a:rPr lang="en-US" altLang="zh-CN" sz="1350" dirty="0">
                <a:solidFill>
                  <a:prstClr val="black"/>
                </a:solidFill>
                <a:latin typeface="等线" panose="020F0502020204030204"/>
                <a:ea typeface="微软雅黑" panose="020B0503020204020204" pitchFamily="34" charset="-122"/>
                <a:cs typeface="+mn-cs"/>
              </a:rPr>
              <a:t>18</a:t>
            </a:r>
            <a:r>
              <a:rPr lang="zh-CN" altLang="en-US" sz="1350" dirty="0">
                <a:solidFill>
                  <a:prstClr val="black"/>
                </a:solidFill>
                <a:latin typeface="等线" panose="020F0502020204030204"/>
                <a:ea typeface="微软雅黑" panose="020B0503020204020204" pitchFamily="34" charset="-122"/>
                <a:cs typeface="+mn-cs"/>
              </a:rPr>
              <a:t>的报文。</a:t>
            </a:r>
          </a:p>
        </p:txBody>
      </p:sp>
      <p:sp>
        <p:nvSpPr>
          <p:cNvPr id="7" name="Text Box 4"/>
          <p:cNvSpPr txBox="1">
            <a:spLocks noChangeArrowheads="1"/>
          </p:cNvSpPr>
          <p:nvPr/>
        </p:nvSpPr>
        <p:spPr bwMode="auto">
          <a:xfrm>
            <a:off x="5714604" y="1925638"/>
            <a:ext cx="2965847" cy="3364767"/>
          </a:xfrm>
          <a:prstGeom prst="rect">
            <a:avLst/>
          </a:prstGeom>
          <a:solidFill>
            <a:srgbClr val="FFC000"/>
          </a:solidFill>
          <a:ln>
            <a:noFill/>
          </a:ln>
        </p:spPr>
        <p:txBody>
          <a:bodyPr>
            <a:spAutoFit/>
          </a:bodyPr>
          <a:lstStyle>
            <a:lvl1pPr>
              <a:defRPr sz="2800">
                <a:solidFill>
                  <a:schemeClr val="tx1"/>
                </a:solidFill>
                <a:latin typeface="Comic Sans MS" panose="030F0902030302020204" pitchFamily="66" charset="0"/>
              </a:defRPr>
            </a:lvl1pPr>
            <a:lvl2pPr>
              <a:defRPr sz="2400">
                <a:solidFill>
                  <a:schemeClr val="tx1"/>
                </a:solidFill>
                <a:latin typeface="Comic Sans MS" panose="030F0902030302020204" pitchFamily="66" charset="0"/>
              </a:defRPr>
            </a:lvl2pPr>
            <a:lvl3pPr>
              <a:defRPr sz="2000">
                <a:solidFill>
                  <a:schemeClr val="tx1"/>
                </a:solidFill>
                <a:latin typeface="Comic Sans MS" panose="030F0902030302020204" pitchFamily="66" charset="0"/>
              </a:defRPr>
            </a:lvl3pPr>
            <a:lvl4pPr>
              <a:defRPr sz="2000">
                <a:solidFill>
                  <a:schemeClr val="tx1"/>
                </a:solidFill>
                <a:latin typeface="Times New Roman" panose="02020503050405090304" charset="0"/>
              </a:defRPr>
            </a:lvl4pPr>
            <a:lvl5pPr>
              <a:defRPr sz="2000">
                <a:solidFill>
                  <a:schemeClr val="tx1"/>
                </a:solidFill>
                <a:latin typeface="Times New Roman" panose="02020503050405090304" charset="0"/>
              </a:defRPr>
            </a:lvl5pPr>
            <a:lvl6pPr>
              <a:defRPr sz="2000">
                <a:solidFill>
                  <a:schemeClr val="tx1"/>
                </a:solidFill>
                <a:latin typeface="Times New Roman" panose="02020503050405090304" charset="0"/>
              </a:defRPr>
            </a:lvl6pPr>
            <a:lvl7pPr>
              <a:defRPr sz="2000">
                <a:solidFill>
                  <a:schemeClr val="tx1"/>
                </a:solidFill>
                <a:latin typeface="Times New Roman" panose="02020503050405090304" charset="0"/>
              </a:defRPr>
            </a:lvl7pPr>
            <a:lvl8pPr>
              <a:defRPr sz="2000">
                <a:solidFill>
                  <a:schemeClr val="tx1"/>
                </a:solidFill>
                <a:latin typeface="Times New Roman" panose="02020503050405090304" charset="0"/>
              </a:defRPr>
            </a:lvl8pPr>
            <a:lvl9pPr>
              <a:defRPr sz="2000">
                <a:solidFill>
                  <a:schemeClr val="tx1"/>
                </a:solidFill>
                <a:latin typeface="Times New Roman" panose="02020503050405090304" charset="0"/>
              </a:defRPr>
            </a:lvl9pPr>
          </a:lstStyle>
          <a:p>
            <a:pPr defTabSz="685800" eaLnBrk="1" fontAlgn="auto" hangingPunct="1">
              <a:lnSpc>
                <a:spcPct val="120000"/>
              </a:lnSpc>
              <a:spcBef>
                <a:spcPts val="0"/>
              </a:spcBef>
              <a:spcAft>
                <a:spcPts val="0"/>
              </a:spcAft>
            </a:pPr>
            <a:r>
              <a:rPr lang="zh-CN" altLang="en-US" sz="1500" dirty="0">
                <a:solidFill>
                  <a:prstClr val="black"/>
                </a:solidFill>
                <a:latin typeface="微软雅黑" panose="020B0503020204020204" pitchFamily="34" charset="-122"/>
                <a:ea typeface="微软雅黑" panose="020B0503020204020204" pitchFamily="34" charset="-122"/>
                <a:cs typeface="+mn-cs"/>
              </a:rPr>
              <a:t>类型  代码    功能描述</a:t>
            </a:r>
          </a:p>
          <a:p>
            <a:pPr defTabSz="685800" eaLnBrk="1" fontAlgn="auto" hangingPunct="1">
              <a:lnSpc>
                <a:spcPct val="120000"/>
              </a:lnSpc>
              <a:spcBef>
                <a:spcPts val="0"/>
              </a:spcBef>
              <a:spcAft>
                <a:spcPts val="0"/>
              </a:spcAft>
            </a:pPr>
            <a:r>
              <a:rPr lang="en-US" altLang="zh-CN" sz="1350" dirty="0">
                <a:solidFill>
                  <a:prstClr val="black"/>
                </a:solidFill>
                <a:latin typeface="微软雅黑" panose="020B0503020204020204" pitchFamily="34" charset="-122"/>
                <a:ea typeface="微软雅黑" panose="020B0503020204020204" pitchFamily="34" charset="-122"/>
                <a:cs typeface="+mn-cs"/>
              </a:rPr>
              <a:t>0        0         </a:t>
            </a:r>
            <a:r>
              <a:rPr lang="zh-CN" altLang="en-US" sz="1350" dirty="0">
                <a:solidFill>
                  <a:prstClr val="black"/>
                </a:solidFill>
                <a:latin typeface="微软雅黑" panose="020B0503020204020204" pitchFamily="34" charset="-122"/>
                <a:ea typeface="微软雅黑" panose="020B0503020204020204" pitchFamily="34" charset="-122"/>
                <a:cs typeface="+mn-cs"/>
              </a:rPr>
              <a:t>回送应答 </a:t>
            </a:r>
            <a:r>
              <a:rPr lang="en-US" altLang="zh-CN" sz="1350" dirty="0">
                <a:solidFill>
                  <a:prstClr val="black"/>
                </a:solidFill>
                <a:latin typeface="微软雅黑" panose="020B0503020204020204" pitchFamily="34" charset="-122"/>
                <a:ea typeface="微软雅黑" panose="020B0503020204020204" pitchFamily="34" charset="-122"/>
                <a:cs typeface="+mn-cs"/>
              </a:rPr>
              <a:t>(ping)</a:t>
            </a:r>
          </a:p>
          <a:p>
            <a:pPr defTabSz="685800" eaLnBrk="1" fontAlgn="auto" hangingPunct="1">
              <a:lnSpc>
                <a:spcPct val="120000"/>
              </a:lnSpc>
              <a:spcBef>
                <a:spcPts val="0"/>
              </a:spcBef>
              <a:spcAft>
                <a:spcPts val="0"/>
              </a:spcAft>
            </a:pPr>
            <a:r>
              <a:rPr lang="en-US" altLang="zh-CN" sz="1350" dirty="0">
                <a:solidFill>
                  <a:prstClr val="black"/>
                </a:solidFill>
                <a:latin typeface="微软雅黑" panose="020B0503020204020204" pitchFamily="34" charset="-122"/>
                <a:ea typeface="微软雅黑" panose="020B0503020204020204" pitchFamily="34" charset="-122"/>
                <a:cs typeface="+mn-cs"/>
              </a:rPr>
              <a:t>3        0         </a:t>
            </a:r>
            <a:r>
              <a:rPr lang="zh-CN" altLang="en-US" sz="1350" dirty="0">
                <a:solidFill>
                  <a:prstClr val="black"/>
                </a:solidFill>
                <a:latin typeface="微软雅黑" panose="020B0503020204020204" pitchFamily="34" charset="-122"/>
                <a:ea typeface="微软雅黑" panose="020B0503020204020204" pitchFamily="34" charset="-122"/>
                <a:cs typeface="+mn-cs"/>
              </a:rPr>
              <a:t>目的网络不可达</a:t>
            </a:r>
          </a:p>
          <a:p>
            <a:pPr defTabSz="685800" eaLnBrk="1" fontAlgn="auto" hangingPunct="1">
              <a:lnSpc>
                <a:spcPct val="120000"/>
              </a:lnSpc>
              <a:spcBef>
                <a:spcPts val="0"/>
              </a:spcBef>
              <a:spcAft>
                <a:spcPts val="0"/>
              </a:spcAft>
            </a:pPr>
            <a:r>
              <a:rPr lang="en-US" altLang="zh-CN" sz="1350" dirty="0">
                <a:solidFill>
                  <a:prstClr val="black"/>
                </a:solidFill>
                <a:latin typeface="微软雅黑" panose="020B0503020204020204" pitchFamily="34" charset="-122"/>
                <a:ea typeface="微软雅黑" panose="020B0503020204020204" pitchFamily="34" charset="-122"/>
                <a:cs typeface="+mn-cs"/>
              </a:rPr>
              <a:t>3        1         </a:t>
            </a:r>
            <a:r>
              <a:rPr lang="zh-CN" altLang="en-US" sz="1350" dirty="0">
                <a:solidFill>
                  <a:prstClr val="black"/>
                </a:solidFill>
                <a:latin typeface="微软雅黑" panose="020B0503020204020204" pitchFamily="34" charset="-122"/>
                <a:ea typeface="微软雅黑" panose="020B0503020204020204" pitchFamily="34" charset="-122"/>
                <a:cs typeface="+mn-cs"/>
              </a:rPr>
              <a:t>目的主机不可达</a:t>
            </a:r>
            <a:endParaRPr lang="en-US" altLang="zh-CN" sz="1350" dirty="0">
              <a:solidFill>
                <a:prstClr val="black"/>
              </a:solidFill>
              <a:latin typeface="微软雅黑" panose="020B0503020204020204" pitchFamily="34" charset="-122"/>
              <a:ea typeface="微软雅黑" panose="020B0503020204020204" pitchFamily="34" charset="-122"/>
              <a:cs typeface="+mn-cs"/>
            </a:endParaRPr>
          </a:p>
          <a:p>
            <a:pPr defTabSz="685800" eaLnBrk="1" fontAlgn="auto" hangingPunct="1">
              <a:lnSpc>
                <a:spcPct val="120000"/>
              </a:lnSpc>
              <a:spcBef>
                <a:spcPts val="0"/>
              </a:spcBef>
              <a:spcAft>
                <a:spcPts val="0"/>
              </a:spcAft>
            </a:pPr>
            <a:r>
              <a:rPr lang="en-US" altLang="zh-CN" sz="1350" dirty="0">
                <a:solidFill>
                  <a:prstClr val="black"/>
                </a:solidFill>
                <a:latin typeface="微软雅黑" panose="020B0503020204020204" pitchFamily="34" charset="-122"/>
                <a:ea typeface="微软雅黑" panose="020B0503020204020204" pitchFamily="34" charset="-122"/>
                <a:cs typeface="+mn-cs"/>
              </a:rPr>
              <a:t>3        2         </a:t>
            </a:r>
            <a:r>
              <a:rPr lang="zh-CN" altLang="en-US" sz="1350" dirty="0">
                <a:solidFill>
                  <a:prstClr val="black"/>
                </a:solidFill>
                <a:latin typeface="微软雅黑" panose="020B0503020204020204" pitchFamily="34" charset="-122"/>
                <a:ea typeface="微软雅黑" panose="020B0503020204020204" pitchFamily="34" charset="-122"/>
                <a:cs typeface="+mn-cs"/>
              </a:rPr>
              <a:t>目的协议不可达</a:t>
            </a:r>
            <a:endParaRPr lang="en-US" altLang="zh-CN" sz="1350" dirty="0">
              <a:solidFill>
                <a:prstClr val="black"/>
              </a:solidFill>
              <a:latin typeface="微软雅黑" panose="020B0503020204020204" pitchFamily="34" charset="-122"/>
              <a:ea typeface="微软雅黑" panose="020B0503020204020204" pitchFamily="34" charset="-122"/>
              <a:cs typeface="+mn-cs"/>
            </a:endParaRPr>
          </a:p>
          <a:p>
            <a:pPr defTabSz="685800" eaLnBrk="1" fontAlgn="auto" hangingPunct="1">
              <a:lnSpc>
                <a:spcPct val="120000"/>
              </a:lnSpc>
              <a:spcBef>
                <a:spcPts val="0"/>
              </a:spcBef>
              <a:spcAft>
                <a:spcPts val="0"/>
              </a:spcAft>
            </a:pPr>
            <a:r>
              <a:rPr lang="en-US" altLang="zh-CN" sz="1350" dirty="0">
                <a:solidFill>
                  <a:prstClr val="black"/>
                </a:solidFill>
                <a:latin typeface="微软雅黑" panose="020B0503020204020204" pitchFamily="34" charset="-122"/>
                <a:ea typeface="微软雅黑" panose="020B0503020204020204" pitchFamily="34" charset="-122"/>
                <a:cs typeface="+mn-cs"/>
              </a:rPr>
              <a:t>3        3         </a:t>
            </a:r>
            <a:r>
              <a:rPr lang="zh-CN" altLang="en-US" sz="1350" dirty="0">
                <a:solidFill>
                  <a:prstClr val="black"/>
                </a:solidFill>
                <a:latin typeface="微软雅黑" panose="020B0503020204020204" pitchFamily="34" charset="-122"/>
                <a:ea typeface="微软雅黑" panose="020B0503020204020204" pitchFamily="34" charset="-122"/>
                <a:cs typeface="+mn-cs"/>
              </a:rPr>
              <a:t>目的端口不可达</a:t>
            </a:r>
            <a:endParaRPr lang="en-US" altLang="zh-CN" sz="1350" dirty="0">
              <a:solidFill>
                <a:prstClr val="black"/>
              </a:solidFill>
              <a:latin typeface="微软雅黑" panose="020B0503020204020204" pitchFamily="34" charset="-122"/>
              <a:ea typeface="微软雅黑" panose="020B0503020204020204" pitchFamily="34" charset="-122"/>
              <a:cs typeface="+mn-cs"/>
            </a:endParaRPr>
          </a:p>
          <a:p>
            <a:pPr defTabSz="685800" eaLnBrk="1" fontAlgn="auto" hangingPunct="1">
              <a:lnSpc>
                <a:spcPct val="120000"/>
              </a:lnSpc>
              <a:spcBef>
                <a:spcPts val="0"/>
              </a:spcBef>
              <a:spcAft>
                <a:spcPts val="0"/>
              </a:spcAft>
            </a:pPr>
            <a:r>
              <a:rPr lang="en-US" altLang="zh-CN" sz="1350" dirty="0">
                <a:solidFill>
                  <a:prstClr val="black"/>
                </a:solidFill>
                <a:latin typeface="微软雅黑" panose="020B0503020204020204" pitchFamily="34" charset="-122"/>
                <a:ea typeface="微软雅黑" panose="020B0503020204020204" pitchFamily="34" charset="-122"/>
                <a:cs typeface="+mn-cs"/>
              </a:rPr>
              <a:t>3        6         </a:t>
            </a:r>
            <a:r>
              <a:rPr lang="zh-CN" altLang="en-US" sz="1350" dirty="0">
                <a:solidFill>
                  <a:prstClr val="black"/>
                </a:solidFill>
                <a:latin typeface="微软雅黑" panose="020B0503020204020204" pitchFamily="34" charset="-122"/>
                <a:ea typeface="微软雅黑" panose="020B0503020204020204" pitchFamily="34" charset="-122"/>
                <a:cs typeface="+mn-cs"/>
              </a:rPr>
              <a:t>目的网络未知</a:t>
            </a:r>
            <a:endParaRPr lang="en-US" altLang="zh-CN" sz="1350" dirty="0">
              <a:solidFill>
                <a:prstClr val="black"/>
              </a:solidFill>
              <a:latin typeface="微软雅黑" panose="020B0503020204020204" pitchFamily="34" charset="-122"/>
              <a:ea typeface="微软雅黑" panose="020B0503020204020204" pitchFamily="34" charset="-122"/>
              <a:cs typeface="+mn-cs"/>
            </a:endParaRPr>
          </a:p>
          <a:p>
            <a:pPr defTabSz="685800" eaLnBrk="1" fontAlgn="auto" hangingPunct="1">
              <a:lnSpc>
                <a:spcPct val="120000"/>
              </a:lnSpc>
              <a:spcBef>
                <a:spcPts val="0"/>
              </a:spcBef>
              <a:spcAft>
                <a:spcPts val="0"/>
              </a:spcAft>
            </a:pPr>
            <a:r>
              <a:rPr lang="en-US" altLang="zh-CN" sz="1350" dirty="0">
                <a:solidFill>
                  <a:prstClr val="black"/>
                </a:solidFill>
                <a:latin typeface="微软雅黑" panose="020B0503020204020204" pitchFamily="34" charset="-122"/>
                <a:ea typeface="微软雅黑" panose="020B0503020204020204" pitchFamily="34" charset="-122"/>
                <a:cs typeface="+mn-cs"/>
              </a:rPr>
              <a:t>3        7         </a:t>
            </a:r>
            <a:r>
              <a:rPr lang="zh-CN" altLang="en-US" sz="1350" dirty="0">
                <a:solidFill>
                  <a:prstClr val="black"/>
                </a:solidFill>
                <a:latin typeface="微软雅黑" panose="020B0503020204020204" pitchFamily="34" charset="-122"/>
                <a:ea typeface="微软雅黑" panose="020B0503020204020204" pitchFamily="34" charset="-122"/>
                <a:cs typeface="+mn-cs"/>
              </a:rPr>
              <a:t>目的主机未知</a:t>
            </a:r>
            <a:endParaRPr lang="en-US" altLang="zh-CN" sz="1350" dirty="0">
              <a:solidFill>
                <a:prstClr val="black"/>
              </a:solidFill>
              <a:latin typeface="微软雅黑" panose="020B0503020204020204" pitchFamily="34" charset="-122"/>
              <a:ea typeface="微软雅黑" panose="020B0503020204020204" pitchFamily="34" charset="-122"/>
              <a:cs typeface="+mn-cs"/>
            </a:endParaRPr>
          </a:p>
          <a:p>
            <a:pPr defTabSz="685800" eaLnBrk="1" fontAlgn="auto" hangingPunct="1">
              <a:lnSpc>
                <a:spcPct val="120000"/>
              </a:lnSpc>
              <a:spcBef>
                <a:spcPts val="0"/>
              </a:spcBef>
              <a:spcAft>
                <a:spcPts val="0"/>
              </a:spcAft>
            </a:pPr>
            <a:r>
              <a:rPr lang="en-US" altLang="zh-CN" sz="1350" dirty="0">
                <a:solidFill>
                  <a:prstClr val="black"/>
                </a:solidFill>
                <a:latin typeface="微软雅黑" panose="020B0503020204020204" pitchFamily="34" charset="-122"/>
                <a:ea typeface="微软雅黑" panose="020B0503020204020204" pitchFamily="34" charset="-122"/>
                <a:cs typeface="+mn-cs"/>
              </a:rPr>
              <a:t>8        0         </a:t>
            </a:r>
            <a:r>
              <a:rPr lang="zh-CN" altLang="en-US" sz="1350" dirty="0">
                <a:solidFill>
                  <a:prstClr val="black"/>
                </a:solidFill>
                <a:latin typeface="微软雅黑" panose="020B0503020204020204" pitchFamily="34" charset="-122"/>
                <a:ea typeface="微软雅黑" panose="020B0503020204020204" pitchFamily="34" charset="-122"/>
                <a:cs typeface="+mn-cs"/>
              </a:rPr>
              <a:t>回送请求</a:t>
            </a:r>
            <a:r>
              <a:rPr lang="en-US" altLang="zh-CN" sz="1350" dirty="0">
                <a:solidFill>
                  <a:prstClr val="black"/>
                </a:solidFill>
                <a:latin typeface="微软雅黑" panose="020B0503020204020204" pitchFamily="34" charset="-122"/>
                <a:ea typeface="微软雅黑" panose="020B0503020204020204" pitchFamily="34" charset="-122"/>
                <a:cs typeface="+mn-cs"/>
              </a:rPr>
              <a:t> (ping)</a:t>
            </a:r>
          </a:p>
          <a:p>
            <a:pPr defTabSz="685800" eaLnBrk="1" fontAlgn="auto" hangingPunct="1">
              <a:lnSpc>
                <a:spcPct val="120000"/>
              </a:lnSpc>
              <a:spcBef>
                <a:spcPts val="0"/>
              </a:spcBef>
              <a:spcAft>
                <a:spcPts val="0"/>
              </a:spcAft>
            </a:pPr>
            <a:r>
              <a:rPr lang="en-US" altLang="zh-CN" sz="1350" dirty="0">
                <a:solidFill>
                  <a:prstClr val="black"/>
                </a:solidFill>
                <a:latin typeface="微软雅黑" panose="020B0503020204020204" pitchFamily="34" charset="-122"/>
                <a:ea typeface="微软雅黑" panose="020B0503020204020204" pitchFamily="34" charset="-122"/>
                <a:cs typeface="+mn-cs"/>
              </a:rPr>
              <a:t>9        0         </a:t>
            </a:r>
            <a:r>
              <a:rPr lang="zh-CN" altLang="en-US" sz="1350" dirty="0">
                <a:solidFill>
                  <a:prstClr val="black"/>
                </a:solidFill>
                <a:latin typeface="微软雅黑" panose="020B0503020204020204" pitchFamily="34" charset="-122"/>
                <a:ea typeface="微软雅黑" panose="020B0503020204020204" pitchFamily="34" charset="-122"/>
                <a:cs typeface="Times New Roman" panose="02020503050405090304" charset="0"/>
              </a:rPr>
              <a:t>路由通告</a:t>
            </a:r>
            <a:endParaRPr lang="en-US" altLang="zh-CN" sz="1350" dirty="0">
              <a:solidFill>
                <a:prstClr val="black"/>
              </a:solidFill>
              <a:latin typeface="微软雅黑" panose="020B0503020204020204" pitchFamily="34" charset="-122"/>
              <a:ea typeface="微软雅黑" panose="020B0503020204020204" pitchFamily="34" charset="-122"/>
              <a:cs typeface="+mn-cs"/>
            </a:endParaRPr>
          </a:p>
          <a:p>
            <a:pPr defTabSz="685800" eaLnBrk="1" fontAlgn="auto" hangingPunct="1">
              <a:lnSpc>
                <a:spcPct val="120000"/>
              </a:lnSpc>
              <a:spcBef>
                <a:spcPts val="0"/>
              </a:spcBef>
              <a:spcAft>
                <a:spcPts val="0"/>
              </a:spcAft>
            </a:pPr>
            <a:r>
              <a:rPr lang="en-US" altLang="zh-CN" sz="1350" dirty="0">
                <a:solidFill>
                  <a:prstClr val="black"/>
                </a:solidFill>
                <a:latin typeface="微软雅黑" panose="020B0503020204020204" pitchFamily="34" charset="-122"/>
                <a:ea typeface="微软雅黑" panose="020B0503020204020204" pitchFamily="34" charset="-122"/>
                <a:cs typeface="+mn-cs"/>
              </a:rPr>
              <a:t>10      0         </a:t>
            </a:r>
            <a:r>
              <a:rPr lang="zh-CN" altLang="en-US" sz="1350" dirty="0">
                <a:solidFill>
                  <a:prstClr val="black"/>
                </a:solidFill>
                <a:latin typeface="微软雅黑" panose="020B0503020204020204" pitchFamily="34" charset="-122"/>
                <a:ea typeface="微软雅黑" panose="020B0503020204020204" pitchFamily="34" charset="-122"/>
                <a:cs typeface="Times New Roman" panose="02020503050405090304" charset="0"/>
              </a:rPr>
              <a:t>路由发现</a:t>
            </a:r>
            <a:endParaRPr lang="en-US" altLang="zh-CN" sz="1350" dirty="0">
              <a:solidFill>
                <a:prstClr val="black"/>
              </a:solidFill>
              <a:latin typeface="微软雅黑" panose="020B0503020204020204" pitchFamily="34" charset="-122"/>
              <a:ea typeface="微软雅黑" panose="020B0503020204020204" pitchFamily="34" charset="-122"/>
              <a:cs typeface="Times New Roman" panose="02020503050405090304" charset="0"/>
            </a:endParaRPr>
          </a:p>
          <a:p>
            <a:pPr defTabSz="685800" eaLnBrk="1" fontAlgn="auto" hangingPunct="1">
              <a:lnSpc>
                <a:spcPct val="120000"/>
              </a:lnSpc>
              <a:spcBef>
                <a:spcPts val="0"/>
              </a:spcBef>
              <a:spcAft>
                <a:spcPts val="0"/>
              </a:spcAft>
            </a:pPr>
            <a:r>
              <a:rPr lang="en-US" altLang="zh-CN" sz="1350" dirty="0">
                <a:solidFill>
                  <a:prstClr val="black"/>
                </a:solidFill>
                <a:latin typeface="微软雅黑" panose="020B0503020204020204" pitchFamily="34" charset="-122"/>
                <a:ea typeface="微软雅黑" panose="020B0503020204020204" pitchFamily="34" charset="-122"/>
                <a:cs typeface="+mn-cs"/>
              </a:rPr>
              <a:t>11      0         TTL</a:t>
            </a:r>
            <a:r>
              <a:rPr lang="zh-CN" altLang="en-US" sz="1350" dirty="0">
                <a:solidFill>
                  <a:prstClr val="black"/>
                </a:solidFill>
                <a:latin typeface="微软雅黑" panose="020B0503020204020204" pitchFamily="34" charset="-122"/>
                <a:ea typeface="微软雅黑" panose="020B0503020204020204" pitchFamily="34" charset="-122"/>
                <a:cs typeface="+mn-cs"/>
              </a:rPr>
              <a:t>过期</a:t>
            </a:r>
          </a:p>
          <a:p>
            <a:pPr defTabSz="685800" eaLnBrk="1" fontAlgn="auto" hangingPunct="1">
              <a:lnSpc>
                <a:spcPct val="120000"/>
              </a:lnSpc>
              <a:spcBef>
                <a:spcPts val="0"/>
              </a:spcBef>
              <a:spcAft>
                <a:spcPts val="0"/>
              </a:spcAft>
            </a:pPr>
            <a:r>
              <a:rPr lang="en-US" altLang="zh-CN" sz="1500" dirty="0">
                <a:solidFill>
                  <a:prstClr val="black"/>
                </a:solidFill>
                <a:latin typeface="微软雅黑" panose="020B0503020204020204" pitchFamily="34" charset="-122"/>
                <a:ea typeface="微软雅黑" panose="020B0503020204020204" pitchFamily="34" charset="-122"/>
                <a:cs typeface="+mn-cs"/>
              </a:rPr>
              <a:t>12     0        </a:t>
            </a:r>
            <a:r>
              <a:rPr lang="zh-CN" altLang="en-US" sz="1500" dirty="0">
                <a:solidFill>
                  <a:prstClr val="black"/>
                </a:solidFill>
                <a:latin typeface="微软雅黑" panose="020B0503020204020204" pitchFamily="34" charset="-122"/>
                <a:ea typeface="微软雅黑" panose="020B0503020204020204" pitchFamily="34" charset="-122"/>
                <a:cs typeface="+mn-cs"/>
              </a:rPr>
              <a:t>坏的</a:t>
            </a:r>
            <a:r>
              <a:rPr lang="en-US" altLang="zh-CN" sz="1500" dirty="0">
                <a:solidFill>
                  <a:prstClr val="black"/>
                </a:solidFill>
                <a:latin typeface="微软雅黑" panose="020B0503020204020204" pitchFamily="34" charset="-122"/>
                <a:ea typeface="微软雅黑" panose="020B0503020204020204" pitchFamily="34" charset="-122"/>
                <a:cs typeface="+mn-cs"/>
              </a:rPr>
              <a:t>IP</a:t>
            </a:r>
            <a:r>
              <a:rPr lang="zh-CN" altLang="en-US" sz="1500" dirty="0">
                <a:solidFill>
                  <a:prstClr val="black"/>
                </a:solidFill>
                <a:latin typeface="微软雅黑" panose="020B0503020204020204" pitchFamily="34" charset="-122"/>
                <a:ea typeface="微软雅黑" panose="020B0503020204020204" pitchFamily="34" charset="-122"/>
                <a:cs typeface="+mn-cs"/>
              </a:rPr>
              <a:t>首部</a:t>
            </a:r>
            <a:endParaRPr lang="en-US" altLang="zh-CN" sz="1350" b="1" dirty="0">
              <a:solidFill>
                <a:prstClr val="black"/>
              </a:solidFill>
              <a:latin typeface="Arial" panose="020B0604020202090204" pitchFamily="34" charset="0"/>
              <a:ea typeface="宋体" pitchFamily="2" charset="-122"/>
              <a:cs typeface="+mn-cs"/>
            </a:endParaRPr>
          </a:p>
        </p:txBody>
      </p:sp>
      <p:sp>
        <p:nvSpPr>
          <p:cNvPr id="3" name="Slide Number Placeholder 5"/>
          <p:cNvSpPr>
            <a:spLocks noGrp="1"/>
          </p:cNvSpPr>
          <p:nvPr>
            <p:ph type="sldNum" sz="quarter" idx="12"/>
          </p:nvPr>
        </p:nvSpPr>
        <p:spPr>
          <a:xfrm>
            <a:off x="8456295" y="6475730"/>
            <a:ext cx="68707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111</a:t>
            </a:fld>
            <a:endParaRPr lang="en-US" sz="1200" dirty="0">
              <a:latin typeface="Tahoma" panose="020B060403050404020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down)">
                                      <p:cBhvr>
                                        <p:cTn id="1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7"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a:bodyPr>
          <a:lstStyle/>
          <a:p>
            <a:r>
              <a:rPr lang="zh-CN" altLang="en-US" dirty="0">
                <a:latin typeface="微软雅黑" panose="020B0503020204020204" pitchFamily="34" charset="-122"/>
                <a:ea typeface="微软雅黑" panose="020B0503020204020204" pitchFamily="34" charset="-122"/>
              </a:rPr>
              <a:t>差错报告报文</a:t>
            </a:r>
            <a:endParaRPr lang="zh-CN" altLang="en-US" dirty="0"/>
          </a:p>
        </p:txBody>
      </p:sp>
      <p:grpSp>
        <p:nvGrpSpPr>
          <p:cNvPr id="5" name="组合 4"/>
          <p:cNvGrpSpPr/>
          <p:nvPr/>
        </p:nvGrpSpPr>
        <p:grpSpPr>
          <a:xfrm>
            <a:off x="1042384" y="1711429"/>
            <a:ext cx="7039786" cy="3521086"/>
            <a:chOff x="1389845" y="844965"/>
            <a:chExt cx="9386381" cy="4694782"/>
          </a:xfrm>
        </p:grpSpPr>
        <p:sp>
          <p:nvSpPr>
            <p:cNvPr id="7" name="Rectangle 6"/>
            <p:cNvSpPr>
              <a:spLocks noChangeArrowheads="1"/>
            </p:cNvSpPr>
            <p:nvPr/>
          </p:nvSpPr>
          <p:spPr bwMode="auto">
            <a:xfrm>
              <a:off x="3044382" y="844965"/>
              <a:ext cx="6128169" cy="538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8" tIns="45719" rIns="91438" bIns="45719">
              <a:spAutoFit/>
            </a:bodyPr>
            <a:lstStyle/>
            <a:p>
              <a:pPr algn="ctr" defTabSz="685800" eaLnBrk="1" fontAlgn="auto" hangingPunct="1">
                <a:spcBef>
                  <a:spcPts val="0"/>
                </a:spcBef>
                <a:spcAft>
                  <a:spcPts val="0"/>
                </a:spcAft>
              </a:pPr>
              <a:r>
                <a:rPr lang="en-US" altLang="zh-CN" sz="2025" b="1" dirty="0">
                  <a:solidFill>
                    <a:prstClr val="white"/>
                  </a:solidFill>
                  <a:latin typeface="微软雅黑" panose="020B0503020204020204" pitchFamily="34" charset="-122"/>
                  <a:ea typeface="微软雅黑" panose="020B0503020204020204" pitchFamily="34" charset="-122"/>
                  <a:cs typeface="+mn-cs"/>
                </a:rPr>
                <a:t>ICMP </a:t>
              </a:r>
              <a:r>
                <a:rPr lang="zh-CN" altLang="en-US" sz="2025" b="1" dirty="0">
                  <a:solidFill>
                    <a:prstClr val="white"/>
                  </a:solidFill>
                  <a:latin typeface="微软雅黑" panose="020B0503020204020204" pitchFamily="34" charset="-122"/>
                  <a:ea typeface="微软雅黑" panose="020B0503020204020204" pitchFamily="34" charset="-122"/>
                  <a:cs typeface="+mn-cs"/>
                </a:rPr>
                <a:t>差错报告报文的数据字段的内容</a:t>
              </a:r>
            </a:p>
          </p:txBody>
        </p:sp>
        <p:grpSp>
          <p:nvGrpSpPr>
            <p:cNvPr id="9" name="组合 8"/>
            <p:cNvGrpSpPr/>
            <p:nvPr/>
          </p:nvGrpSpPr>
          <p:grpSpPr>
            <a:xfrm>
              <a:off x="1389845" y="1631049"/>
              <a:ext cx="9386381" cy="3908698"/>
              <a:chOff x="585628" y="1556792"/>
              <a:chExt cx="8759860" cy="3647800"/>
            </a:xfrm>
          </p:grpSpPr>
          <p:sp>
            <p:nvSpPr>
              <p:cNvPr id="10" name="Rectangle 2"/>
              <p:cNvSpPr>
                <a:spLocks noChangeArrowheads="1"/>
              </p:cNvSpPr>
              <p:nvPr/>
            </p:nvSpPr>
            <p:spPr bwMode="auto">
              <a:xfrm>
                <a:off x="662260" y="4195216"/>
                <a:ext cx="4531651" cy="596900"/>
              </a:xfrm>
              <a:prstGeom prst="rect">
                <a:avLst/>
              </a:prstGeom>
              <a:solidFill>
                <a:srgbClr val="0000FF"/>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11" name="Rectangle 5"/>
              <p:cNvSpPr>
                <a:spLocks noChangeArrowheads="1"/>
              </p:cNvSpPr>
              <p:nvPr/>
            </p:nvSpPr>
            <p:spPr bwMode="auto">
              <a:xfrm>
                <a:off x="1412089" y="4195216"/>
                <a:ext cx="3781821" cy="596900"/>
              </a:xfrm>
              <a:prstGeom prst="rect">
                <a:avLst/>
              </a:prstGeom>
              <a:solidFill>
                <a:srgbClr val="00FF99"/>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12" name="Line 6"/>
              <p:cNvSpPr>
                <a:spLocks noChangeShapeType="1"/>
              </p:cNvSpPr>
              <p:nvPr/>
            </p:nvSpPr>
            <p:spPr bwMode="auto">
              <a:xfrm>
                <a:off x="662260" y="5001667"/>
                <a:ext cx="4531651" cy="20637"/>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13" name="Text Box 7"/>
              <p:cNvSpPr txBox="1">
                <a:spLocks noChangeArrowheads="1"/>
              </p:cNvSpPr>
              <p:nvPr/>
            </p:nvSpPr>
            <p:spPr bwMode="auto">
              <a:xfrm>
                <a:off x="585628" y="4323803"/>
                <a:ext cx="909971" cy="333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lnSpc>
                    <a:spcPct val="80000"/>
                  </a:lnSpc>
                  <a:spcBef>
                    <a:spcPts val="0"/>
                  </a:spcBef>
                  <a:spcAft>
                    <a:spcPts val="0"/>
                  </a:spcAft>
                </a:pPr>
                <a:r>
                  <a:rPr kumimoji="1" lang="en-US" altLang="zh-CN" sz="1425" b="1" dirty="0">
                    <a:solidFill>
                      <a:prstClr val="white"/>
                    </a:solidFill>
                    <a:latin typeface="微软雅黑" panose="020B0503020204020204" pitchFamily="34" charset="-122"/>
                    <a:ea typeface="微软雅黑" panose="020B0503020204020204" pitchFamily="34" charset="-122"/>
                    <a:cs typeface="+mn-cs"/>
                  </a:rPr>
                  <a:t>IP</a:t>
                </a:r>
                <a:r>
                  <a:rPr kumimoji="1" lang="zh-CN" altLang="en-US" sz="1425" b="1" dirty="0">
                    <a:solidFill>
                      <a:prstClr val="white"/>
                    </a:solidFill>
                    <a:latin typeface="微软雅黑" panose="020B0503020204020204" pitchFamily="34" charset="-122"/>
                    <a:ea typeface="微软雅黑" panose="020B0503020204020204" pitchFamily="34" charset="-122"/>
                    <a:cs typeface="+mn-cs"/>
                  </a:rPr>
                  <a:t>首部</a:t>
                </a:r>
              </a:p>
            </p:txBody>
          </p:sp>
          <p:sp>
            <p:nvSpPr>
              <p:cNvPr id="14" name="Line 8"/>
              <p:cNvSpPr>
                <a:spLocks noChangeShapeType="1"/>
              </p:cNvSpPr>
              <p:nvPr/>
            </p:nvSpPr>
            <p:spPr bwMode="auto">
              <a:xfrm>
                <a:off x="1412089" y="4195216"/>
                <a:ext cx="0" cy="5969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15" name="Rectangle 9"/>
              <p:cNvSpPr>
                <a:spLocks noChangeArrowheads="1"/>
              </p:cNvSpPr>
              <p:nvPr/>
            </p:nvSpPr>
            <p:spPr bwMode="auto">
              <a:xfrm>
                <a:off x="2342496" y="4850853"/>
                <a:ext cx="1214173" cy="3111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16" name="Text Box 10"/>
              <p:cNvSpPr txBox="1">
                <a:spLocks noChangeArrowheads="1"/>
              </p:cNvSpPr>
              <p:nvPr/>
            </p:nvSpPr>
            <p:spPr bwMode="auto">
              <a:xfrm>
                <a:off x="2362323" y="4816827"/>
                <a:ext cx="1187230" cy="3877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defTabSz="685800" eaLnBrk="1" fontAlgn="auto" hangingPunct="1">
                  <a:spcBef>
                    <a:spcPts val="0"/>
                  </a:spcBef>
                  <a:spcAft>
                    <a:spcPts val="0"/>
                  </a:spcAft>
                </a:pPr>
                <a:r>
                  <a:rPr kumimoji="1" lang="en-US" altLang="zh-CN" sz="1425" dirty="0">
                    <a:solidFill>
                      <a:prstClr val="black"/>
                    </a:solidFill>
                    <a:latin typeface="微软雅黑" panose="020B0503020204020204" pitchFamily="34" charset="-122"/>
                    <a:ea typeface="微软雅黑" panose="020B0503020204020204" pitchFamily="34" charset="-122"/>
                    <a:cs typeface="+mn-cs"/>
                  </a:rPr>
                  <a:t>IP </a:t>
                </a:r>
                <a:r>
                  <a:rPr kumimoji="1" lang="zh-CN" altLang="en-US" sz="1425" dirty="0">
                    <a:solidFill>
                      <a:prstClr val="black"/>
                    </a:solidFill>
                    <a:latin typeface="微软雅黑" panose="020B0503020204020204" pitchFamily="34" charset="-122"/>
                    <a:ea typeface="微软雅黑" panose="020B0503020204020204" pitchFamily="34" charset="-122"/>
                    <a:cs typeface="+mn-cs"/>
                  </a:rPr>
                  <a:t>数据报</a:t>
                </a:r>
              </a:p>
            </p:txBody>
          </p:sp>
          <p:sp>
            <p:nvSpPr>
              <p:cNvPr id="17" name="Rectangle 11"/>
              <p:cNvSpPr>
                <a:spLocks noChangeArrowheads="1"/>
              </p:cNvSpPr>
              <p:nvPr/>
            </p:nvSpPr>
            <p:spPr bwMode="auto">
              <a:xfrm>
                <a:off x="1412089" y="3174454"/>
                <a:ext cx="3781821" cy="607000"/>
              </a:xfrm>
              <a:prstGeom prst="rect">
                <a:avLst/>
              </a:prstGeom>
              <a:solidFill>
                <a:srgbClr val="DDDDDD"/>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18" name="Rectangle 12"/>
              <p:cNvSpPr>
                <a:spLocks noChangeArrowheads="1"/>
              </p:cNvSpPr>
              <p:nvPr/>
            </p:nvSpPr>
            <p:spPr bwMode="auto">
              <a:xfrm>
                <a:off x="1412089" y="3174454"/>
                <a:ext cx="3781821" cy="595313"/>
              </a:xfrm>
              <a:prstGeom prst="rect">
                <a:avLst/>
              </a:prstGeom>
              <a:solidFill>
                <a:srgbClr val="00FF99"/>
              </a:solidFill>
              <a:ln w="12700">
                <a:solidFill>
                  <a:schemeClr val="tx2"/>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19" name="Text Box 13"/>
              <p:cNvSpPr txBox="1">
                <a:spLocks noChangeArrowheads="1"/>
              </p:cNvSpPr>
              <p:nvPr/>
            </p:nvSpPr>
            <p:spPr bwMode="auto">
              <a:xfrm>
                <a:off x="1546662" y="3218559"/>
                <a:ext cx="1139359" cy="55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lnSpc>
                    <a:spcPct val="80000"/>
                  </a:lnSpc>
                  <a:spcBef>
                    <a:spcPts val="0"/>
                  </a:spcBef>
                  <a:spcAft>
                    <a:spcPts val="0"/>
                  </a:spcAft>
                </a:pPr>
                <a:r>
                  <a:rPr kumimoji="1" lang="en-US" altLang="zh-CN" sz="1425" dirty="0">
                    <a:solidFill>
                      <a:prstClr val="black"/>
                    </a:solidFill>
                    <a:latin typeface="微软雅黑" panose="020B0503020204020204" pitchFamily="34" charset="-122"/>
                    <a:ea typeface="微软雅黑" panose="020B0503020204020204" pitchFamily="34" charset="-122"/>
                    <a:cs typeface="+mn-cs"/>
                  </a:rPr>
                  <a:t>ICMP </a:t>
                </a:r>
                <a:r>
                  <a:rPr kumimoji="1" lang="zh-CN" altLang="en-US" sz="1425" dirty="0">
                    <a:solidFill>
                      <a:prstClr val="black"/>
                    </a:solidFill>
                    <a:latin typeface="微软雅黑" panose="020B0503020204020204" pitchFamily="34" charset="-122"/>
                    <a:ea typeface="微软雅黑" panose="020B0503020204020204" pitchFamily="34" charset="-122"/>
                    <a:cs typeface="+mn-cs"/>
                  </a:rPr>
                  <a:t>的</a:t>
                </a:r>
              </a:p>
              <a:p>
                <a:pPr algn="ctr" defTabSz="685800" eaLnBrk="1" fontAlgn="auto" hangingPunct="1">
                  <a:lnSpc>
                    <a:spcPct val="80000"/>
                  </a:lnSpc>
                  <a:spcBef>
                    <a:spcPts val="0"/>
                  </a:spcBef>
                  <a:spcAft>
                    <a:spcPts val="0"/>
                  </a:spcAft>
                </a:pPr>
                <a:r>
                  <a:rPr kumimoji="1" lang="zh-CN" altLang="en-US" sz="1425" dirty="0">
                    <a:solidFill>
                      <a:prstClr val="black"/>
                    </a:solidFill>
                    <a:latin typeface="微软雅黑" panose="020B0503020204020204" pitchFamily="34" charset="-122"/>
                    <a:ea typeface="微软雅黑" panose="020B0503020204020204" pitchFamily="34" charset="-122"/>
                    <a:cs typeface="+mn-cs"/>
                  </a:rPr>
                  <a:t>头部字段</a:t>
                </a:r>
              </a:p>
            </p:txBody>
          </p:sp>
          <p:sp>
            <p:nvSpPr>
              <p:cNvPr id="20" name="Line 14"/>
              <p:cNvSpPr>
                <a:spLocks noChangeShapeType="1"/>
              </p:cNvSpPr>
              <p:nvPr/>
            </p:nvSpPr>
            <p:spPr bwMode="auto">
              <a:xfrm>
                <a:off x="2794801" y="3174454"/>
                <a:ext cx="0" cy="59531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21" name="Text Box 15"/>
              <p:cNvSpPr txBox="1">
                <a:spLocks noChangeArrowheads="1"/>
              </p:cNvSpPr>
              <p:nvPr/>
            </p:nvSpPr>
            <p:spPr bwMode="auto">
              <a:xfrm>
                <a:off x="5775149" y="4296514"/>
                <a:ext cx="3255708" cy="4021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defTabSz="685800" eaLnBrk="1" fontAlgn="auto" hangingPunct="1">
                  <a:spcBef>
                    <a:spcPts val="0"/>
                  </a:spcBef>
                  <a:spcAft>
                    <a:spcPts val="0"/>
                  </a:spcAft>
                </a:pPr>
                <a:r>
                  <a:rPr kumimoji="1" lang="zh-CN" altLang="en-US" sz="1500" dirty="0">
                    <a:solidFill>
                      <a:srgbClr val="C00000"/>
                    </a:solidFill>
                    <a:latin typeface="微软雅黑" panose="020B0503020204020204" pitchFamily="34" charset="-122"/>
                    <a:ea typeface="微软雅黑" panose="020B0503020204020204" pitchFamily="34" charset="-122"/>
                    <a:cs typeface="+mn-cs"/>
                  </a:rPr>
                  <a:t>装入 </a:t>
                </a:r>
                <a:r>
                  <a:rPr kumimoji="1" lang="en-US" altLang="zh-CN" sz="1500" dirty="0">
                    <a:solidFill>
                      <a:srgbClr val="C00000"/>
                    </a:solidFill>
                    <a:latin typeface="微软雅黑" panose="020B0503020204020204" pitchFamily="34" charset="-122"/>
                    <a:ea typeface="微软雅黑" panose="020B0503020204020204" pitchFamily="34" charset="-122"/>
                    <a:cs typeface="+mn-cs"/>
                  </a:rPr>
                  <a:t>ICMP </a:t>
                </a:r>
                <a:r>
                  <a:rPr kumimoji="1" lang="zh-CN" altLang="en-US" sz="1500" dirty="0">
                    <a:solidFill>
                      <a:srgbClr val="C00000"/>
                    </a:solidFill>
                    <a:latin typeface="微软雅黑" panose="020B0503020204020204" pitchFamily="34" charset="-122"/>
                    <a:ea typeface="微软雅黑" panose="020B0503020204020204" pitchFamily="34" charset="-122"/>
                    <a:cs typeface="+mn-cs"/>
                  </a:rPr>
                  <a:t>报文的 </a:t>
                </a:r>
                <a:r>
                  <a:rPr kumimoji="1" lang="en-US" altLang="zh-CN" sz="1500" dirty="0">
                    <a:solidFill>
                      <a:srgbClr val="C00000"/>
                    </a:solidFill>
                    <a:latin typeface="微软雅黑" panose="020B0503020204020204" pitchFamily="34" charset="-122"/>
                    <a:ea typeface="微软雅黑" panose="020B0503020204020204" pitchFamily="34" charset="-122"/>
                    <a:cs typeface="+mn-cs"/>
                  </a:rPr>
                  <a:t>IP </a:t>
                </a:r>
                <a:r>
                  <a:rPr kumimoji="1" lang="zh-CN" altLang="en-US" sz="1500" dirty="0">
                    <a:solidFill>
                      <a:srgbClr val="C00000"/>
                    </a:solidFill>
                    <a:latin typeface="微软雅黑" panose="020B0503020204020204" pitchFamily="34" charset="-122"/>
                    <a:ea typeface="微软雅黑" panose="020B0503020204020204" pitchFamily="34" charset="-122"/>
                    <a:cs typeface="+mn-cs"/>
                  </a:rPr>
                  <a:t>数据报</a:t>
                </a:r>
              </a:p>
            </p:txBody>
          </p:sp>
          <p:sp>
            <p:nvSpPr>
              <p:cNvPr id="22" name="Rectangle 16"/>
              <p:cNvSpPr>
                <a:spLocks noChangeArrowheads="1"/>
              </p:cNvSpPr>
              <p:nvPr/>
            </p:nvSpPr>
            <p:spPr bwMode="auto">
              <a:xfrm>
                <a:off x="2794802" y="2152103"/>
                <a:ext cx="6550686" cy="596900"/>
              </a:xfrm>
              <a:prstGeom prst="rect">
                <a:avLst/>
              </a:prstGeom>
              <a:solidFill>
                <a:srgbClr val="00FFFF"/>
              </a:solidFill>
              <a:ln w="190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23" name="Text Box 17"/>
              <p:cNvSpPr txBox="1">
                <a:spLocks noChangeArrowheads="1"/>
              </p:cNvSpPr>
              <p:nvPr/>
            </p:nvSpPr>
            <p:spPr bwMode="auto">
              <a:xfrm>
                <a:off x="2838563" y="2296087"/>
                <a:ext cx="1648910" cy="333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defTabSz="685800" eaLnBrk="1" fontAlgn="auto" hangingPunct="1">
                  <a:lnSpc>
                    <a:spcPct val="80000"/>
                  </a:lnSpc>
                  <a:spcBef>
                    <a:spcPts val="0"/>
                  </a:spcBef>
                  <a:spcAft>
                    <a:spcPts val="0"/>
                  </a:spcAft>
                </a:pPr>
                <a:r>
                  <a:rPr kumimoji="1" lang="en-US" altLang="zh-CN" sz="1425" dirty="0">
                    <a:solidFill>
                      <a:prstClr val="black"/>
                    </a:solidFill>
                    <a:latin typeface="微软雅黑" panose="020B0503020204020204" pitchFamily="34" charset="-122"/>
                    <a:ea typeface="微软雅黑" panose="020B0503020204020204" pitchFamily="34" charset="-122"/>
                    <a:cs typeface="+mn-cs"/>
                  </a:rPr>
                  <a:t>IP </a:t>
                </a:r>
                <a:r>
                  <a:rPr kumimoji="1" lang="zh-CN" altLang="en-US" sz="1425" dirty="0">
                    <a:solidFill>
                      <a:prstClr val="black"/>
                    </a:solidFill>
                    <a:latin typeface="微软雅黑" panose="020B0503020204020204" pitchFamily="34" charset="-122"/>
                    <a:ea typeface="微软雅黑" panose="020B0503020204020204" pitchFamily="34" charset="-122"/>
                    <a:cs typeface="+mn-cs"/>
                  </a:rPr>
                  <a:t>数据报首部</a:t>
                </a:r>
              </a:p>
            </p:txBody>
          </p:sp>
          <p:sp>
            <p:nvSpPr>
              <p:cNvPr id="24" name="Line 18"/>
              <p:cNvSpPr>
                <a:spLocks noChangeShapeType="1"/>
              </p:cNvSpPr>
              <p:nvPr/>
            </p:nvSpPr>
            <p:spPr bwMode="auto">
              <a:xfrm>
                <a:off x="4547269" y="2152103"/>
                <a:ext cx="0" cy="59690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25" name="Text Box 19"/>
              <p:cNvSpPr txBox="1">
                <a:spLocks noChangeArrowheads="1"/>
              </p:cNvSpPr>
              <p:nvPr/>
            </p:nvSpPr>
            <p:spPr bwMode="auto">
              <a:xfrm>
                <a:off x="5792002" y="3292589"/>
                <a:ext cx="2346137" cy="4021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defTabSz="685800" eaLnBrk="1" fontAlgn="auto" hangingPunct="1">
                  <a:spcBef>
                    <a:spcPts val="0"/>
                  </a:spcBef>
                  <a:spcAft>
                    <a:spcPts val="0"/>
                  </a:spcAft>
                </a:pPr>
                <a:r>
                  <a:rPr kumimoji="1" lang="en-US" altLang="zh-CN" sz="1500" dirty="0">
                    <a:solidFill>
                      <a:srgbClr val="C00000"/>
                    </a:solidFill>
                    <a:latin typeface="微软雅黑" panose="020B0503020204020204" pitchFamily="34" charset="-122"/>
                    <a:ea typeface="微软雅黑" panose="020B0503020204020204" pitchFamily="34" charset="-122"/>
                    <a:cs typeface="+mn-cs"/>
                  </a:rPr>
                  <a:t>ICMP </a:t>
                </a:r>
                <a:r>
                  <a:rPr kumimoji="1" lang="zh-CN" altLang="en-US" sz="1500" dirty="0">
                    <a:solidFill>
                      <a:srgbClr val="C00000"/>
                    </a:solidFill>
                    <a:latin typeface="微软雅黑" panose="020B0503020204020204" pitchFamily="34" charset="-122"/>
                    <a:ea typeface="微软雅黑" panose="020B0503020204020204" pitchFamily="34" charset="-122"/>
                    <a:cs typeface="+mn-cs"/>
                  </a:rPr>
                  <a:t>差错报告报文</a:t>
                </a:r>
              </a:p>
            </p:txBody>
          </p:sp>
          <p:sp>
            <p:nvSpPr>
              <p:cNvPr id="26" name="Text Box 20"/>
              <p:cNvSpPr txBox="1">
                <a:spLocks noChangeArrowheads="1"/>
              </p:cNvSpPr>
              <p:nvPr/>
            </p:nvSpPr>
            <p:spPr bwMode="auto">
              <a:xfrm>
                <a:off x="4547221" y="2156867"/>
                <a:ext cx="684573" cy="55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lnSpc>
                    <a:spcPct val="80000"/>
                  </a:lnSpc>
                  <a:spcBef>
                    <a:spcPts val="0"/>
                  </a:spcBef>
                  <a:spcAft>
                    <a:spcPts val="0"/>
                  </a:spcAft>
                </a:pPr>
                <a:r>
                  <a:rPr kumimoji="1" lang="en-US" altLang="zh-CN" sz="1425" dirty="0">
                    <a:solidFill>
                      <a:prstClr val="black"/>
                    </a:solidFill>
                    <a:latin typeface="微软雅黑" panose="020B0503020204020204" pitchFamily="34" charset="-122"/>
                    <a:ea typeface="微软雅黑" panose="020B0503020204020204" pitchFamily="34" charset="-122"/>
                    <a:cs typeface="+mn-cs"/>
                  </a:rPr>
                  <a:t>8</a:t>
                </a:r>
              </a:p>
              <a:p>
                <a:pPr algn="ctr" defTabSz="685800" eaLnBrk="1" fontAlgn="auto" hangingPunct="1">
                  <a:lnSpc>
                    <a:spcPct val="80000"/>
                  </a:lnSpc>
                  <a:spcBef>
                    <a:spcPts val="0"/>
                  </a:spcBef>
                  <a:spcAft>
                    <a:spcPts val="0"/>
                  </a:spcAft>
                </a:pPr>
                <a:r>
                  <a:rPr kumimoji="1" lang="zh-CN" altLang="en-US" sz="1425" dirty="0">
                    <a:solidFill>
                      <a:prstClr val="black"/>
                    </a:solidFill>
                    <a:latin typeface="微软雅黑" panose="020B0503020204020204" pitchFamily="34" charset="-122"/>
                    <a:ea typeface="微软雅黑" panose="020B0503020204020204" pitchFamily="34" charset="-122"/>
                    <a:cs typeface="+mn-cs"/>
                  </a:rPr>
                  <a:t>字节</a:t>
                </a:r>
              </a:p>
            </p:txBody>
          </p:sp>
          <p:sp>
            <p:nvSpPr>
              <p:cNvPr id="27" name="Line 21"/>
              <p:cNvSpPr>
                <a:spLocks noChangeShapeType="1"/>
              </p:cNvSpPr>
              <p:nvPr/>
            </p:nvSpPr>
            <p:spPr bwMode="auto">
              <a:xfrm>
                <a:off x="5193910" y="2152103"/>
                <a:ext cx="0" cy="596900"/>
              </a:xfrm>
              <a:prstGeom prst="line">
                <a:avLst/>
              </a:prstGeom>
              <a:noFill/>
              <a:ln w="1270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28" name="Text Box 22"/>
              <p:cNvSpPr txBox="1">
                <a:spLocks noChangeArrowheads="1"/>
              </p:cNvSpPr>
              <p:nvPr/>
            </p:nvSpPr>
            <p:spPr bwMode="auto">
              <a:xfrm>
                <a:off x="1023357" y="2091783"/>
                <a:ext cx="1457413" cy="6893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defTabSz="685800" eaLnBrk="1" fontAlgn="auto" hangingPunct="1">
                  <a:spcBef>
                    <a:spcPts val="0"/>
                  </a:spcBef>
                  <a:spcAft>
                    <a:spcPts val="0"/>
                  </a:spcAft>
                </a:pPr>
                <a:r>
                  <a:rPr kumimoji="1" lang="zh-CN" altLang="en-US" sz="1500" dirty="0">
                    <a:solidFill>
                      <a:srgbClr val="C00000"/>
                    </a:solidFill>
                    <a:latin typeface="微软雅黑" panose="020B0503020204020204" pitchFamily="34" charset="-122"/>
                    <a:ea typeface="微软雅黑" panose="020B0503020204020204" pitchFamily="34" charset="-122"/>
                    <a:cs typeface="+mn-cs"/>
                  </a:rPr>
                  <a:t>收到的 </a:t>
                </a:r>
                <a:r>
                  <a:rPr kumimoji="1" lang="en-US" altLang="zh-CN" sz="1500" dirty="0">
                    <a:solidFill>
                      <a:srgbClr val="C00000"/>
                    </a:solidFill>
                    <a:latin typeface="微软雅黑" panose="020B0503020204020204" pitchFamily="34" charset="-122"/>
                    <a:ea typeface="微软雅黑" panose="020B0503020204020204" pitchFamily="34" charset="-122"/>
                    <a:cs typeface="+mn-cs"/>
                  </a:rPr>
                  <a:t>IP </a:t>
                </a:r>
                <a:r>
                  <a:rPr kumimoji="1" lang="zh-CN" altLang="en-US" sz="1500" dirty="0">
                    <a:solidFill>
                      <a:srgbClr val="C00000"/>
                    </a:solidFill>
                    <a:latin typeface="微软雅黑" panose="020B0503020204020204" pitchFamily="34" charset="-122"/>
                    <a:ea typeface="微软雅黑" panose="020B0503020204020204" pitchFamily="34" charset="-122"/>
                    <a:cs typeface="+mn-cs"/>
                  </a:rPr>
                  <a:t>原始数据报</a:t>
                </a:r>
              </a:p>
            </p:txBody>
          </p:sp>
          <p:sp>
            <p:nvSpPr>
              <p:cNvPr id="29" name="Line 23"/>
              <p:cNvSpPr>
                <a:spLocks noChangeShapeType="1"/>
              </p:cNvSpPr>
              <p:nvPr/>
            </p:nvSpPr>
            <p:spPr bwMode="auto">
              <a:xfrm>
                <a:off x="5193910" y="2749003"/>
                <a:ext cx="0" cy="425450"/>
              </a:xfrm>
              <a:prstGeom prst="line">
                <a:avLst/>
              </a:prstGeom>
              <a:noFill/>
              <a:ln w="1270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30" name="Line 24"/>
              <p:cNvSpPr>
                <a:spLocks noChangeShapeType="1"/>
              </p:cNvSpPr>
              <p:nvPr/>
            </p:nvSpPr>
            <p:spPr bwMode="auto">
              <a:xfrm>
                <a:off x="4547269" y="3174454"/>
                <a:ext cx="0" cy="595313"/>
              </a:xfrm>
              <a:prstGeom prst="line">
                <a:avLst/>
              </a:prstGeom>
              <a:noFill/>
              <a:ln w="1270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31" name="Text Box 25"/>
              <p:cNvSpPr txBox="1">
                <a:spLocks noChangeArrowheads="1"/>
              </p:cNvSpPr>
              <p:nvPr/>
            </p:nvSpPr>
            <p:spPr bwMode="auto">
              <a:xfrm>
                <a:off x="2862975" y="3317021"/>
                <a:ext cx="1642016" cy="333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lnSpc>
                    <a:spcPct val="80000"/>
                  </a:lnSpc>
                  <a:spcBef>
                    <a:spcPts val="0"/>
                  </a:spcBef>
                  <a:spcAft>
                    <a:spcPts val="0"/>
                  </a:spcAft>
                </a:pPr>
                <a:r>
                  <a:rPr kumimoji="1" lang="en-US" altLang="zh-CN" sz="1425" dirty="0">
                    <a:solidFill>
                      <a:prstClr val="black"/>
                    </a:solidFill>
                    <a:latin typeface="微软雅黑" panose="020B0503020204020204" pitchFamily="34" charset="-122"/>
                    <a:ea typeface="微软雅黑" panose="020B0503020204020204" pitchFamily="34" charset="-122"/>
                    <a:cs typeface="+mn-cs"/>
                  </a:rPr>
                  <a:t>IP </a:t>
                </a:r>
                <a:r>
                  <a:rPr kumimoji="1" lang="zh-CN" altLang="en-US" sz="1425" dirty="0">
                    <a:solidFill>
                      <a:prstClr val="black"/>
                    </a:solidFill>
                    <a:latin typeface="微软雅黑" panose="020B0503020204020204" pitchFamily="34" charset="-122"/>
                    <a:ea typeface="微软雅黑" panose="020B0503020204020204" pitchFamily="34" charset="-122"/>
                    <a:cs typeface="+mn-cs"/>
                  </a:rPr>
                  <a:t>数据报首部</a:t>
                </a:r>
              </a:p>
            </p:txBody>
          </p:sp>
          <p:sp>
            <p:nvSpPr>
              <p:cNvPr id="32" name="Text Box 26"/>
              <p:cNvSpPr txBox="1">
                <a:spLocks noChangeArrowheads="1"/>
              </p:cNvSpPr>
              <p:nvPr/>
            </p:nvSpPr>
            <p:spPr bwMode="auto">
              <a:xfrm>
                <a:off x="4555819" y="3196679"/>
                <a:ext cx="684573" cy="55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lnSpc>
                    <a:spcPct val="80000"/>
                  </a:lnSpc>
                  <a:spcBef>
                    <a:spcPts val="0"/>
                  </a:spcBef>
                  <a:spcAft>
                    <a:spcPts val="0"/>
                  </a:spcAft>
                </a:pPr>
                <a:r>
                  <a:rPr kumimoji="1" lang="en-US" altLang="zh-CN" sz="1425" dirty="0">
                    <a:solidFill>
                      <a:prstClr val="black"/>
                    </a:solidFill>
                    <a:latin typeface="微软雅黑" panose="020B0503020204020204" pitchFamily="34" charset="-122"/>
                    <a:ea typeface="微软雅黑" panose="020B0503020204020204" pitchFamily="34" charset="-122"/>
                    <a:cs typeface="+mn-cs"/>
                  </a:rPr>
                  <a:t>8</a:t>
                </a:r>
              </a:p>
              <a:p>
                <a:pPr algn="ctr" defTabSz="685800" eaLnBrk="1" fontAlgn="auto" hangingPunct="1">
                  <a:lnSpc>
                    <a:spcPct val="80000"/>
                  </a:lnSpc>
                  <a:spcBef>
                    <a:spcPts val="0"/>
                  </a:spcBef>
                  <a:spcAft>
                    <a:spcPts val="0"/>
                  </a:spcAft>
                </a:pPr>
                <a:r>
                  <a:rPr kumimoji="1" lang="zh-CN" altLang="en-US" sz="1425" dirty="0">
                    <a:solidFill>
                      <a:prstClr val="black"/>
                    </a:solidFill>
                    <a:latin typeface="微软雅黑" panose="020B0503020204020204" pitchFamily="34" charset="-122"/>
                    <a:ea typeface="微软雅黑" panose="020B0503020204020204" pitchFamily="34" charset="-122"/>
                    <a:cs typeface="+mn-cs"/>
                  </a:rPr>
                  <a:t>字节</a:t>
                </a:r>
              </a:p>
            </p:txBody>
          </p:sp>
          <p:sp>
            <p:nvSpPr>
              <p:cNvPr id="33" name="AutoShape 27"/>
              <p:cNvSpPr>
                <a:spLocks noChangeArrowheads="1"/>
              </p:cNvSpPr>
              <p:nvPr/>
            </p:nvSpPr>
            <p:spPr bwMode="auto">
              <a:xfrm>
                <a:off x="3441444" y="2720428"/>
                <a:ext cx="276886" cy="509588"/>
              </a:xfrm>
              <a:prstGeom prst="downArrow">
                <a:avLst>
                  <a:gd name="adj1" fmla="val 47222"/>
                  <a:gd name="adj2" fmla="val 103013"/>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34" name="AutoShape 28"/>
              <p:cNvSpPr>
                <a:spLocks noChangeArrowheads="1"/>
              </p:cNvSpPr>
              <p:nvPr/>
            </p:nvSpPr>
            <p:spPr bwMode="auto">
              <a:xfrm>
                <a:off x="4763962" y="2720428"/>
                <a:ext cx="275167" cy="509588"/>
              </a:xfrm>
              <a:prstGeom prst="downArrow">
                <a:avLst>
                  <a:gd name="adj1" fmla="val 47222"/>
                  <a:gd name="adj2" fmla="val 103656"/>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35" name="Text Box 29"/>
              <p:cNvSpPr txBox="1">
                <a:spLocks noChangeArrowheads="1"/>
              </p:cNvSpPr>
              <p:nvPr/>
            </p:nvSpPr>
            <p:spPr bwMode="auto">
              <a:xfrm>
                <a:off x="2181412" y="4334744"/>
                <a:ext cx="2242413" cy="333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685800" eaLnBrk="1" fontAlgn="auto" hangingPunct="1">
                  <a:lnSpc>
                    <a:spcPct val="80000"/>
                  </a:lnSpc>
                  <a:spcBef>
                    <a:spcPts val="0"/>
                  </a:spcBef>
                  <a:spcAft>
                    <a:spcPts val="0"/>
                  </a:spcAft>
                </a:pPr>
                <a:r>
                  <a:rPr kumimoji="1" lang="en-US" altLang="zh-CN" sz="1425" dirty="0">
                    <a:solidFill>
                      <a:prstClr val="black"/>
                    </a:solidFill>
                    <a:latin typeface="微软雅黑" panose="020B0503020204020204" pitchFamily="34" charset="-122"/>
                    <a:ea typeface="微软雅黑" panose="020B0503020204020204" pitchFamily="34" charset="-122"/>
                    <a:cs typeface="+mn-cs"/>
                  </a:rPr>
                  <a:t>ICMP </a:t>
                </a:r>
                <a:r>
                  <a:rPr kumimoji="1" lang="zh-CN" altLang="en-US" sz="1425" dirty="0">
                    <a:solidFill>
                      <a:prstClr val="black"/>
                    </a:solidFill>
                    <a:latin typeface="微软雅黑" panose="020B0503020204020204" pitchFamily="34" charset="-122"/>
                    <a:ea typeface="微软雅黑" panose="020B0503020204020204" pitchFamily="34" charset="-122"/>
                    <a:cs typeface="+mn-cs"/>
                  </a:rPr>
                  <a:t>差错报告报文</a:t>
                </a:r>
              </a:p>
            </p:txBody>
          </p:sp>
          <p:sp>
            <p:nvSpPr>
              <p:cNvPr id="36" name="Text Box 30"/>
              <p:cNvSpPr txBox="1">
                <a:spLocks noChangeArrowheads="1"/>
              </p:cNvSpPr>
              <p:nvPr/>
            </p:nvSpPr>
            <p:spPr bwMode="auto">
              <a:xfrm>
                <a:off x="5721222" y="1556792"/>
                <a:ext cx="2910629" cy="4021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defTabSz="685800" eaLnBrk="1" fontAlgn="auto" hangingPunct="1">
                  <a:spcBef>
                    <a:spcPts val="0"/>
                  </a:spcBef>
                  <a:spcAft>
                    <a:spcPts val="0"/>
                  </a:spcAft>
                </a:pPr>
                <a:r>
                  <a:rPr kumimoji="1" lang="en-US" altLang="zh-CN" sz="1500" dirty="0">
                    <a:solidFill>
                      <a:srgbClr val="C00000"/>
                    </a:solidFill>
                    <a:latin typeface="微软雅黑" panose="020B0503020204020204" pitchFamily="34" charset="-122"/>
                    <a:ea typeface="微软雅黑" panose="020B0503020204020204" pitchFamily="34" charset="-122"/>
                    <a:cs typeface="+mn-cs"/>
                  </a:rPr>
                  <a:t>IP </a:t>
                </a:r>
                <a:r>
                  <a:rPr kumimoji="1" lang="zh-CN" altLang="en-US" sz="1500" dirty="0">
                    <a:solidFill>
                      <a:srgbClr val="C00000"/>
                    </a:solidFill>
                    <a:latin typeface="微软雅黑" panose="020B0503020204020204" pitchFamily="34" charset="-122"/>
                    <a:ea typeface="微软雅黑" panose="020B0503020204020204" pitchFamily="34" charset="-122"/>
                    <a:cs typeface="+mn-cs"/>
                  </a:rPr>
                  <a:t>原始数据报的数据字段</a:t>
                </a:r>
              </a:p>
            </p:txBody>
          </p:sp>
          <p:sp>
            <p:nvSpPr>
              <p:cNvPr id="37" name="AutoShape 31"/>
              <p:cNvSpPr/>
              <p:nvPr/>
            </p:nvSpPr>
            <p:spPr bwMode="auto">
              <a:xfrm rot="5400000">
                <a:off x="6815013" y="-371228"/>
                <a:ext cx="169862" cy="4705350"/>
              </a:xfrm>
              <a:prstGeom prst="leftBrace">
                <a:avLst>
                  <a:gd name="adj1" fmla="val 213085"/>
                  <a:gd name="adj2" fmla="val 50000"/>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38" name="Line 32"/>
              <p:cNvSpPr>
                <a:spLocks noChangeShapeType="1"/>
              </p:cNvSpPr>
              <p:nvPr/>
            </p:nvSpPr>
            <p:spPr bwMode="auto">
              <a:xfrm>
                <a:off x="2794801" y="2749003"/>
                <a:ext cx="0" cy="425450"/>
              </a:xfrm>
              <a:prstGeom prst="line">
                <a:avLst/>
              </a:prstGeom>
              <a:noFill/>
              <a:ln w="1270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39" name="Line 33"/>
              <p:cNvSpPr>
                <a:spLocks noChangeShapeType="1"/>
              </p:cNvSpPr>
              <p:nvPr/>
            </p:nvSpPr>
            <p:spPr bwMode="auto">
              <a:xfrm>
                <a:off x="1412089" y="3769766"/>
                <a:ext cx="0" cy="425450"/>
              </a:xfrm>
              <a:prstGeom prst="line">
                <a:avLst/>
              </a:prstGeom>
              <a:noFill/>
              <a:ln w="1270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40" name="Line 34"/>
              <p:cNvSpPr>
                <a:spLocks noChangeShapeType="1"/>
              </p:cNvSpPr>
              <p:nvPr/>
            </p:nvSpPr>
            <p:spPr bwMode="auto">
              <a:xfrm>
                <a:off x="5193910" y="3769766"/>
                <a:ext cx="0" cy="425450"/>
              </a:xfrm>
              <a:prstGeom prst="line">
                <a:avLst/>
              </a:prstGeom>
              <a:noFill/>
              <a:ln w="1270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sp>
            <p:nvSpPr>
              <p:cNvPr id="41" name="AutoShape 35"/>
              <p:cNvSpPr>
                <a:spLocks noChangeArrowheads="1"/>
              </p:cNvSpPr>
              <p:nvPr/>
            </p:nvSpPr>
            <p:spPr bwMode="auto">
              <a:xfrm>
                <a:off x="3255706" y="3744367"/>
                <a:ext cx="278606" cy="511175"/>
              </a:xfrm>
              <a:prstGeom prst="downArrow">
                <a:avLst>
                  <a:gd name="adj1" fmla="val 47222"/>
                  <a:gd name="adj2" fmla="val 102695"/>
                </a:avLst>
              </a:prstGeom>
              <a:solidFill>
                <a:schemeClr val="accent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defTabSz="685800" eaLnBrk="1" fontAlgn="auto" hangingPunct="1">
                  <a:spcBef>
                    <a:spcPts val="0"/>
                  </a:spcBef>
                  <a:spcAft>
                    <a:spcPts val="0"/>
                  </a:spcAft>
                </a:pPr>
                <a:endParaRPr lang="zh-CN" altLang="en-US" sz="1425" b="1">
                  <a:solidFill>
                    <a:srgbClr val="0000CC"/>
                  </a:solidFill>
                  <a:latin typeface="微软雅黑" panose="020B0503020204020204" pitchFamily="34" charset="-122"/>
                  <a:ea typeface="微软雅黑" panose="020B0503020204020204" pitchFamily="34" charset="-122"/>
                  <a:cs typeface="+mn-cs"/>
                </a:endParaRPr>
              </a:p>
            </p:txBody>
          </p:sp>
        </p:grpSp>
      </p:grpSp>
      <p:sp>
        <p:nvSpPr>
          <p:cNvPr id="3" name="左箭头 2"/>
          <p:cNvSpPr/>
          <p:nvPr/>
        </p:nvSpPr>
        <p:spPr>
          <a:xfrm>
            <a:off x="4921641" y="3772460"/>
            <a:ext cx="247919" cy="130929"/>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eaLnBrk="1" fontAlgn="auto" hangingPunct="1">
              <a:spcBef>
                <a:spcPts val="0"/>
              </a:spcBef>
              <a:spcAft>
                <a:spcPts val="0"/>
              </a:spcAft>
            </a:pPr>
            <a:endParaRPr lang="zh-CN" altLang="en-US" sz="1350">
              <a:solidFill>
                <a:prstClr val="white"/>
              </a:solidFill>
              <a:latin typeface="等线" panose="020F0502020204030204"/>
              <a:ea typeface="等线" panose="02010600030101010101" pitchFamily="2" charset="-122"/>
            </a:endParaRPr>
          </a:p>
        </p:txBody>
      </p:sp>
      <p:sp>
        <p:nvSpPr>
          <p:cNvPr id="42" name="左箭头 41"/>
          <p:cNvSpPr/>
          <p:nvPr/>
        </p:nvSpPr>
        <p:spPr>
          <a:xfrm rot="10800000">
            <a:off x="2565399" y="2984846"/>
            <a:ext cx="193675" cy="126959"/>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eaLnBrk="1" fontAlgn="auto" hangingPunct="1">
              <a:spcBef>
                <a:spcPts val="0"/>
              </a:spcBef>
              <a:spcAft>
                <a:spcPts val="0"/>
              </a:spcAft>
            </a:pPr>
            <a:endParaRPr lang="zh-CN" altLang="en-US" sz="1350">
              <a:solidFill>
                <a:prstClr val="white"/>
              </a:solidFill>
              <a:latin typeface="等线" panose="020F0502020204030204"/>
              <a:ea typeface="等线" panose="02010600030101010101" pitchFamily="2" charset="-122"/>
            </a:endParaRPr>
          </a:p>
        </p:txBody>
      </p:sp>
      <p:sp>
        <p:nvSpPr>
          <p:cNvPr id="43" name="左箭头 42"/>
          <p:cNvSpPr/>
          <p:nvPr/>
        </p:nvSpPr>
        <p:spPr>
          <a:xfrm>
            <a:off x="4928382" y="4595721"/>
            <a:ext cx="241178" cy="130929"/>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eaLnBrk="1" fontAlgn="auto" hangingPunct="1">
              <a:spcBef>
                <a:spcPts val="0"/>
              </a:spcBef>
              <a:spcAft>
                <a:spcPts val="0"/>
              </a:spcAft>
            </a:pPr>
            <a:endParaRPr lang="zh-CN" altLang="en-US" sz="1350">
              <a:solidFill>
                <a:prstClr val="white"/>
              </a:solidFill>
              <a:latin typeface="等线" panose="020F0502020204030204"/>
              <a:ea typeface="等线" panose="02010600030101010101" pitchFamily="2" charset="-122"/>
            </a:endParaRPr>
          </a:p>
        </p:txBody>
      </p:sp>
      <p:sp>
        <p:nvSpPr>
          <p:cNvPr id="6" name="Slide Number Placeholder 5"/>
          <p:cNvSpPr>
            <a:spLocks noGrp="1"/>
          </p:cNvSpPr>
          <p:nvPr>
            <p:ph type="sldNum" sz="quarter" idx="12"/>
          </p:nvPr>
        </p:nvSpPr>
        <p:spPr>
          <a:xfrm>
            <a:off x="8456295" y="6475730"/>
            <a:ext cx="68707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112</a:t>
            </a:fld>
            <a:endParaRPr lang="en-US" sz="1200" dirty="0">
              <a:latin typeface="Tahoma" panose="020B0604030504040204" charset="0"/>
            </a:endParaRPr>
          </a:p>
        </p:txBody>
      </p:sp>
    </p:spTree>
  </p:cSld>
  <p:clrMapOvr>
    <a:masterClrMapping/>
  </p:clrMapOvr>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defRPr/>
            </a:pPr>
            <a:r>
              <a:rPr lang="en-GB" altLang="zh-CN" kern="0" dirty="0">
                <a:latin typeface="微软雅黑" panose="020B0503020204020204" pitchFamily="34" charset="-122"/>
                <a:ea typeface="微软雅黑" panose="020B0503020204020204" pitchFamily="34" charset="-122"/>
              </a:rPr>
              <a:t>Ping</a:t>
            </a:r>
            <a:r>
              <a:rPr lang="zh-CN" altLang="en-US" kern="0" dirty="0">
                <a:latin typeface="微软雅黑" panose="020B0503020204020204" pitchFamily="34" charset="-122"/>
                <a:ea typeface="微软雅黑" panose="020B0503020204020204" pitchFamily="34" charset="-122"/>
              </a:rPr>
              <a:t>和</a:t>
            </a:r>
            <a:r>
              <a:rPr lang="en-GB" altLang="zh-CN" kern="0" dirty="0">
                <a:latin typeface="微软雅黑" panose="020B0503020204020204" pitchFamily="34" charset="-122"/>
                <a:ea typeface="微软雅黑" panose="020B0503020204020204" pitchFamily="34" charset="-122"/>
              </a:rPr>
              <a:t>ICMP</a:t>
            </a:r>
            <a:endParaRPr lang="en-US" altLang="zh-CN" sz="2400" kern="0" dirty="0">
              <a:latin typeface="微软雅黑" panose="020B0503020204020204" pitchFamily="34" charset="-122"/>
              <a:ea typeface="微软雅黑" panose="020B0503020204020204" pitchFamily="34" charset="-122"/>
            </a:endParaRPr>
          </a:p>
        </p:txBody>
      </p:sp>
      <p:sp>
        <p:nvSpPr>
          <p:cNvPr id="3" name="内容占位符 2"/>
          <p:cNvSpPr>
            <a:spLocks noGrp="1"/>
          </p:cNvSpPr>
          <p:nvPr>
            <p:ph idx="1"/>
          </p:nvPr>
        </p:nvSpPr>
        <p:spPr>
          <a:xfrm>
            <a:off x="628650" y="1990319"/>
            <a:ext cx="7886700" cy="3083332"/>
          </a:xfrm>
        </p:spPr>
        <p:txBody>
          <a:bodyPr/>
          <a:lstStyle/>
          <a:p>
            <a:pPr marL="171450" lvl="1">
              <a:lnSpc>
                <a:spcPct val="120000"/>
              </a:lnSpc>
              <a:buFont typeface="Wingdings" panose="05000000000000000000" pitchFamily="2" charset="2"/>
              <a:buChar char="Ø"/>
            </a:pPr>
            <a:r>
              <a:rPr lang="en-US" altLang="zh-CN" dirty="0">
                <a:latin typeface="微软雅黑" panose="020B0503020204020204" pitchFamily="34" charset="-122"/>
                <a:ea typeface="微软雅黑" panose="020B0503020204020204" pitchFamily="34" charset="-122"/>
              </a:rPr>
              <a:t>PING (Packet </a:t>
            </a:r>
            <a:r>
              <a:rPr lang="en-US" altLang="zh-CN" dirty="0" err="1">
                <a:latin typeface="微软雅黑" panose="020B0503020204020204" pitchFamily="34" charset="-122"/>
                <a:ea typeface="微软雅黑" panose="020B0503020204020204" pitchFamily="34" charset="-122"/>
              </a:rPr>
              <a:t>InterNet</a:t>
            </a:r>
            <a:r>
              <a:rPr lang="en-US" altLang="zh-CN" dirty="0">
                <a:latin typeface="微软雅黑" panose="020B0503020204020204" pitchFamily="34" charset="-122"/>
                <a:ea typeface="微软雅黑" panose="020B0503020204020204" pitchFamily="34" charset="-122"/>
              </a:rPr>
              <a:t> Groper) </a:t>
            </a:r>
          </a:p>
          <a:p>
            <a:pPr lvl="1">
              <a:lnSpc>
                <a:spcPct val="120000"/>
              </a:lnSpc>
            </a:pPr>
            <a:r>
              <a:rPr lang="en-US" altLang="zh-CN" sz="1500" dirty="0">
                <a:solidFill>
                  <a:srgbClr val="C00000"/>
                </a:solidFill>
                <a:latin typeface="微软雅黑" panose="020B0503020204020204" pitchFamily="34" charset="-122"/>
                <a:ea typeface="微软雅黑" panose="020B0503020204020204" pitchFamily="34" charset="-122"/>
              </a:rPr>
              <a:t>PING </a:t>
            </a:r>
            <a:r>
              <a:rPr lang="zh-CN" altLang="en-US" sz="1500" dirty="0">
                <a:solidFill>
                  <a:srgbClr val="C00000"/>
                </a:solidFill>
                <a:latin typeface="微软雅黑" panose="020B0503020204020204" pitchFamily="34" charset="-122"/>
                <a:ea typeface="微软雅黑" panose="020B0503020204020204" pitchFamily="34" charset="-122"/>
              </a:rPr>
              <a:t>用来测试两个主机之间的连通性</a:t>
            </a:r>
          </a:p>
          <a:p>
            <a:pPr lvl="1">
              <a:lnSpc>
                <a:spcPct val="120000"/>
              </a:lnSpc>
            </a:pPr>
            <a:r>
              <a:rPr lang="en-US" altLang="zh-CN" sz="1500" dirty="0">
                <a:latin typeface="微软雅黑" panose="020B0503020204020204" pitchFamily="34" charset="-122"/>
                <a:ea typeface="微软雅黑" panose="020B0503020204020204" pitchFamily="34" charset="-122"/>
              </a:rPr>
              <a:t>PING </a:t>
            </a:r>
            <a:r>
              <a:rPr lang="zh-CN" altLang="en-US" sz="1500" dirty="0">
                <a:latin typeface="微软雅黑" panose="020B0503020204020204" pitchFamily="34" charset="-122"/>
                <a:ea typeface="微软雅黑" panose="020B0503020204020204" pitchFamily="34" charset="-122"/>
              </a:rPr>
              <a:t>使用了 </a:t>
            </a:r>
            <a:r>
              <a:rPr lang="en-US" altLang="zh-CN" sz="1500" dirty="0">
                <a:latin typeface="微软雅黑" panose="020B0503020204020204" pitchFamily="34" charset="-122"/>
                <a:ea typeface="微软雅黑" panose="020B0503020204020204" pitchFamily="34" charset="-122"/>
              </a:rPr>
              <a:t>ICMP </a:t>
            </a:r>
            <a:r>
              <a:rPr lang="zh-CN" altLang="en-US" sz="1500" dirty="0">
                <a:latin typeface="微软雅黑" panose="020B0503020204020204" pitchFamily="34" charset="-122"/>
                <a:ea typeface="微软雅黑" panose="020B0503020204020204" pitchFamily="34" charset="-122"/>
              </a:rPr>
              <a:t>回送请求与回送回答报文</a:t>
            </a:r>
            <a:endParaRPr lang="en-US" altLang="zh-CN" sz="1500" dirty="0">
              <a:latin typeface="微软雅黑" panose="020B0503020204020204" pitchFamily="34" charset="-122"/>
              <a:ea typeface="微软雅黑" panose="020B0503020204020204" pitchFamily="34" charset="-122"/>
            </a:endParaRPr>
          </a:p>
          <a:p>
            <a:pPr marL="342900" lvl="1" indent="0">
              <a:lnSpc>
                <a:spcPct val="120000"/>
              </a:lnSpc>
              <a:buClr>
                <a:srgbClr val="0070C0"/>
              </a:buClr>
              <a:buNone/>
            </a:pPr>
            <a:endParaRPr lang="zh-CN" altLang="en-US" dirty="0">
              <a:latin typeface="微软雅黑" panose="020B0503020204020204" pitchFamily="34" charset="-122"/>
              <a:ea typeface="微软雅黑" panose="020B0503020204020204" pitchFamily="34" charset="-122"/>
            </a:endParaRPr>
          </a:p>
          <a:p>
            <a:endParaRPr lang="zh-CN" altLang="en-US" dirty="0">
              <a:latin typeface="微软雅黑" panose="020B0503020204020204" pitchFamily="34" charset="-122"/>
              <a:ea typeface="微软雅黑" panose="020B0503020204020204" pitchFamily="34" charset="-122"/>
            </a:endParaRPr>
          </a:p>
          <a:p>
            <a:endParaRPr lang="zh-CN" altLang="en-US" dirty="0"/>
          </a:p>
        </p:txBody>
      </p:sp>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6449" y="3067050"/>
            <a:ext cx="4504053" cy="1898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Box 5"/>
          <p:cNvSpPr txBox="1"/>
          <p:nvPr/>
        </p:nvSpPr>
        <p:spPr>
          <a:xfrm>
            <a:off x="5765799" y="2412409"/>
            <a:ext cx="1968500" cy="2129365"/>
          </a:xfrm>
          <a:prstGeom prst="rect">
            <a:avLst/>
          </a:prstGeom>
          <a:noFill/>
          <a:ln w="12700">
            <a:solidFill>
              <a:schemeClr val="tx1"/>
            </a:solidFill>
          </a:ln>
        </p:spPr>
        <p:txBody>
          <a:bodyPr wrap="square" rtlCol="0">
            <a:spAutoFit/>
          </a:bodyPr>
          <a:lstStyle/>
          <a:p>
            <a:pPr defTabSz="685800" eaLnBrk="1" fontAlgn="auto" hangingPunct="1">
              <a:lnSpc>
                <a:spcPct val="120000"/>
              </a:lnSpc>
              <a:spcBef>
                <a:spcPts val="450"/>
              </a:spcBef>
              <a:spcAft>
                <a:spcPts val="0"/>
              </a:spcAft>
            </a:pPr>
            <a:r>
              <a:rPr lang="zh-CN" altLang="en-US" dirty="0">
                <a:solidFill>
                  <a:srgbClr val="C00000"/>
                </a:solidFill>
                <a:latin typeface="等线" panose="020F0502020204030204"/>
                <a:ea typeface="等线" panose="02010600030101010101" pitchFamily="2" charset="-122"/>
                <a:cs typeface="+mn-cs"/>
              </a:rPr>
              <a:t>思考：</a:t>
            </a:r>
            <a:endParaRPr lang="en-US" altLang="zh-CN" dirty="0">
              <a:solidFill>
                <a:srgbClr val="C00000"/>
              </a:solidFill>
              <a:latin typeface="等线" panose="020F0502020204030204"/>
              <a:ea typeface="等线" panose="02010600030101010101" pitchFamily="2" charset="-122"/>
              <a:cs typeface="+mn-cs"/>
            </a:endParaRPr>
          </a:p>
          <a:p>
            <a:pPr defTabSz="685800" eaLnBrk="1" fontAlgn="auto" hangingPunct="1">
              <a:lnSpc>
                <a:spcPct val="120000"/>
              </a:lnSpc>
              <a:spcBef>
                <a:spcPts val="450"/>
              </a:spcBef>
              <a:spcAft>
                <a:spcPts val="0"/>
              </a:spcAft>
            </a:pPr>
            <a:r>
              <a:rPr lang="zh-CN" altLang="en-US" dirty="0">
                <a:solidFill>
                  <a:srgbClr val="C00000"/>
                </a:solidFill>
                <a:latin typeface="等线" panose="020F0502020204030204"/>
                <a:ea typeface="等线" panose="02010600030101010101" pitchFamily="2" charset="-122"/>
                <a:cs typeface="+mn-cs"/>
              </a:rPr>
              <a:t>如何利用</a:t>
            </a:r>
            <a:r>
              <a:rPr lang="en-US" altLang="zh-CN" dirty="0">
                <a:solidFill>
                  <a:srgbClr val="C00000"/>
                </a:solidFill>
                <a:latin typeface="等线" panose="020F0502020204030204"/>
                <a:ea typeface="等线" panose="02010600030101010101" pitchFamily="2" charset="-122"/>
                <a:cs typeface="+mn-cs"/>
              </a:rPr>
              <a:t>Ping</a:t>
            </a:r>
            <a:r>
              <a:rPr lang="zh-CN" altLang="en-US" dirty="0">
                <a:solidFill>
                  <a:srgbClr val="C00000"/>
                </a:solidFill>
                <a:latin typeface="等线" panose="020F0502020204030204"/>
                <a:ea typeface="等线" panose="02010600030101010101" pitchFamily="2" charset="-122"/>
                <a:cs typeface="+mn-cs"/>
              </a:rPr>
              <a:t>命令返回的</a:t>
            </a:r>
            <a:r>
              <a:rPr lang="en-US" altLang="zh-CN" dirty="0">
                <a:solidFill>
                  <a:srgbClr val="C00000"/>
                </a:solidFill>
                <a:latin typeface="等线" panose="020F0502020204030204"/>
                <a:ea typeface="等线" panose="02010600030101010101" pitchFamily="2" charset="-122"/>
                <a:cs typeface="+mn-cs"/>
              </a:rPr>
              <a:t>TTL</a:t>
            </a:r>
            <a:r>
              <a:rPr lang="zh-CN" altLang="en-US" dirty="0">
                <a:solidFill>
                  <a:srgbClr val="C00000"/>
                </a:solidFill>
                <a:latin typeface="等线" panose="020F0502020204030204"/>
                <a:ea typeface="等线" panose="02010600030101010101" pitchFamily="2" charset="-122"/>
                <a:cs typeface="+mn-cs"/>
              </a:rPr>
              <a:t>值</a:t>
            </a:r>
            <a:r>
              <a:rPr lang="en-US" altLang="zh-CN" dirty="0">
                <a:solidFill>
                  <a:srgbClr val="C00000"/>
                </a:solidFill>
                <a:latin typeface="等线" panose="020F0502020204030204"/>
                <a:ea typeface="等线" panose="02010600030101010101" pitchFamily="2" charset="-122"/>
                <a:cs typeface="+mn-cs"/>
              </a:rPr>
              <a:t>(</a:t>
            </a:r>
            <a:r>
              <a:rPr lang="zh-CN" altLang="en-US" dirty="0">
                <a:solidFill>
                  <a:srgbClr val="C00000"/>
                </a:solidFill>
                <a:latin typeface="等线" panose="020F0502020204030204"/>
                <a:ea typeface="等线" panose="02010600030101010101" pitchFamily="2" charset="-122"/>
                <a:cs typeface="+mn-cs"/>
              </a:rPr>
              <a:t>报文剩余跳数</a:t>
            </a:r>
            <a:r>
              <a:rPr lang="en-US" altLang="zh-CN" dirty="0">
                <a:solidFill>
                  <a:srgbClr val="C00000"/>
                </a:solidFill>
                <a:latin typeface="等线" panose="020F0502020204030204"/>
                <a:ea typeface="等线" panose="02010600030101010101" pitchFamily="2" charset="-122"/>
                <a:cs typeface="+mn-cs"/>
              </a:rPr>
              <a:t>)</a:t>
            </a:r>
            <a:r>
              <a:rPr lang="zh-CN" altLang="en-US" dirty="0">
                <a:solidFill>
                  <a:srgbClr val="C00000"/>
                </a:solidFill>
                <a:latin typeface="等线" panose="020F0502020204030204"/>
                <a:ea typeface="等线" panose="02010600030101010101" pitchFamily="2" charset="-122"/>
                <a:cs typeface="+mn-cs"/>
              </a:rPr>
              <a:t>，来判断对方主机操作系统的类型？</a:t>
            </a:r>
          </a:p>
        </p:txBody>
      </p:sp>
      <p:sp>
        <p:nvSpPr>
          <p:cNvPr id="7" name="TextBox 6"/>
          <p:cNvSpPr txBox="1">
            <a:spLocks noChangeArrowheads="1"/>
          </p:cNvSpPr>
          <p:nvPr/>
        </p:nvSpPr>
        <p:spPr bwMode="auto">
          <a:xfrm>
            <a:off x="806449" y="5099862"/>
            <a:ext cx="856059" cy="323165"/>
          </a:xfrm>
          <a:prstGeom prst="rect">
            <a:avLst/>
          </a:prstGeom>
          <a:solidFill>
            <a:srgbClr val="C00000"/>
          </a:solidFill>
          <a:ln>
            <a:noFill/>
          </a:ln>
        </p:spPr>
        <p:txBody>
          <a:bodyPr anchor="b" anchorCtr="0">
            <a:spAutoFit/>
          </a:bodyPr>
          <a:lstStyle>
            <a:lvl1pPr>
              <a:defRPr sz="2800">
                <a:solidFill>
                  <a:schemeClr val="tx1"/>
                </a:solidFill>
                <a:latin typeface="Comic Sans MS" panose="030F0902030302020204" pitchFamily="66" charset="0"/>
              </a:defRPr>
            </a:lvl1pPr>
            <a:lvl2pPr>
              <a:defRPr sz="2400">
                <a:solidFill>
                  <a:schemeClr val="tx1"/>
                </a:solidFill>
                <a:latin typeface="Comic Sans MS" panose="030F0902030302020204" pitchFamily="66" charset="0"/>
              </a:defRPr>
            </a:lvl2pPr>
            <a:lvl3pPr>
              <a:defRPr sz="2000">
                <a:solidFill>
                  <a:schemeClr val="tx1"/>
                </a:solidFill>
                <a:latin typeface="Comic Sans MS" panose="030F0902030302020204" pitchFamily="66" charset="0"/>
              </a:defRPr>
            </a:lvl3pPr>
            <a:lvl4pPr>
              <a:defRPr sz="2000">
                <a:solidFill>
                  <a:schemeClr val="tx1"/>
                </a:solidFill>
                <a:latin typeface="Times New Roman" panose="02020503050405090304" charset="0"/>
              </a:defRPr>
            </a:lvl4pPr>
            <a:lvl5pPr>
              <a:defRPr sz="2000">
                <a:solidFill>
                  <a:schemeClr val="tx1"/>
                </a:solidFill>
                <a:latin typeface="Times New Roman" panose="02020503050405090304" charset="0"/>
              </a:defRPr>
            </a:lvl5pPr>
            <a:lvl6pPr>
              <a:defRPr sz="2000">
                <a:solidFill>
                  <a:schemeClr val="tx1"/>
                </a:solidFill>
                <a:latin typeface="Times New Roman" panose="02020503050405090304" charset="0"/>
              </a:defRPr>
            </a:lvl6pPr>
            <a:lvl7pPr>
              <a:defRPr sz="2000">
                <a:solidFill>
                  <a:schemeClr val="tx1"/>
                </a:solidFill>
                <a:latin typeface="Times New Roman" panose="02020503050405090304" charset="0"/>
              </a:defRPr>
            </a:lvl7pPr>
            <a:lvl8pPr>
              <a:defRPr sz="2000">
                <a:solidFill>
                  <a:schemeClr val="tx1"/>
                </a:solidFill>
                <a:latin typeface="Times New Roman" panose="02020503050405090304" charset="0"/>
              </a:defRPr>
            </a:lvl8pPr>
            <a:lvl9pPr>
              <a:defRPr sz="2000">
                <a:solidFill>
                  <a:schemeClr val="tx1"/>
                </a:solidFill>
                <a:latin typeface="Times New Roman" panose="02020503050405090304" charset="0"/>
              </a:defRPr>
            </a:lvl9pPr>
          </a:lstStyle>
          <a:p>
            <a:pPr algn="ctr" defTabSz="685800" eaLnBrk="1" fontAlgn="auto" hangingPunct="1">
              <a:spcBef>
                <a:spcPts val="0"/>
              </a:spcBef>
              <a:spcAft>
                <a:spcPts val="0"/>
              </a:spcAft>
            </a:pPr>
            <a:r>
              <a:rPr lang="zh-CN" altLang="en-US" sz="1500" dirty="0">
                <a:solidFill>
                  <a:prstClr val="white"/>
                </a:solidFill>
                <a:latin typeface="微软雅黑" panose="020B0503020204020204" pitchFamily="34" charset="-122"/>
                <a:ea typeface="微软雅黑" panose="020B0503020204020204" pitchFamily="34" charset="-122"/>
                <a:cs typeface="+mn-cs"/>
              </a:rPr>
              <a:t>连通性</a:t>
            </a:r>
          </a:p>
        </p:txBody>
      </p:sp>
      <p:sp>
        <p:nvSpPr>
          <p:cNvPr id="8" name="TextBox 7"/>
          <p:cNvSpPr txBox="1">
            <a:spLocks noChangeArrowheads="1"/>
          </p:cNvSpPr>
          <p:nvPr/>
        </p:nvSpPr>
        <p:spPr bwMode="auto">
          <a:xfrm>
            <a:off x="2030688" y="5099862"/>
            <a:ext cx="1115615" cy="323165"/>
          </a:xfrm>
          <a:prstGeom prst="rect">
            <a:avLst/>
          </a:prstGeom>
          <a:solidFill>
            <a:srgbClr val="C00000"/>
          </a:solidFill>
          <a:ln w="9525">
            <a:noFill/>
            <a:miter lim="800000"/>
          </a:ln>
        </p:spPr>
        <p:txBody>
          <a:bodyPr anchor="b" anchorCtr="0">
            <a:spAutoFit/>
          </a:bodyPr>
          <a:lstStyle/>
          <a:p>
            <a:pPr algn="ctr" defTabSz="685800" eaLnBrk="1" fontAlgn="auto" hangingPunct="1">
              <a:spcBef>
                <a:spcPts val="0"/>
              </a:spcBef>
              <a:spcAft>
                <a:spcPts val="0"/>
              </a:spcAft>
              <a:defRPr/>
            </a:pPr>
            <a:r>
              <a:rPr lang="zh-CN" altLang="en-US" sz="1500" dirty="0">
                <a:solidFill>
                  <a:prstClr val="white"/>
                </a:solidFill>
                <a:latin typeface="微软雅黑" panose="020B0503020204020204" pitchFamily="34" charset="-122"/>
                <a:ea typeface="微软雅黑" panose="020B0503020204020204" pitchFamily="34" charset="-122"/>
                <a:cs typeface="+mn-cs"/>
              </a:rPr>
              <a:t>往返时延</a:t>
            </a:r>
          </a:p>
        </p:txBody>
      </p:sp>
      <p:sp>
        <p:nvSpPr>
          <p:cNvPr id="9" name="TextBox 8"/>
          <p:cNvSpPr txBox="1">
            <a:spLocks noChangeArrowheads="1"/>
          </p:cNvSpPr>
          <p:nvPr/>
        </p:nvSpPr>
        <p:spPr bwMode="auto">
          <a:xfrm>
            <a:off x="3482181" y="5099862"/>
            <a:ext cx="1603772" cy="323165"/>
          </a:xfrm>
          <a:prstGeom prst="rect">
            <a:avLst/>
          </a:prstGeom>
          <a:solidFill>
            <a:srgbClr val="C00000"/>
          </a:solidFill>
          <a:ln w="9525">
            <a:noFill/>
            <a:miter lim="800000"/>
          </a:ln>
        </p:spPr>
        <p:txBody>
          <a:bodyPr anchor="b" anchorCtr="0">
            <a:spAutoFit/>
          </a:bodyPr>
          <a:lstStyle/>
          <a:p>
            <a:pPr algn="ctr" defTabSz="685800" eaLnBrk="1" fontAlgn="auto" hangingPunct="1">
              <a:spcBef>
                <a:spcPts val="0"/>
              </a:spcBef>
              <a:spcAft>
                <a:spcPts val="0"/>
              </a:spcAft>
              <a:defRPr/>
            </a:pPr>
            <a:r>
              <a:rPr lang="zh-CN" altLang="en-US" sz="1500" dirty="0">
                <a:solidFill>
                  <a:prstClr val="white"/>
                </a:solidFill>
                <a:latin typeface="微软雅黑" panose="020B0503020204020204" pitchFamily="34" charset="-122"/>
                <a:ea typeface="微软雅黑" panose="020B0503020204020204" pitchFamily="34" charset="-122"/>
                <a:cs typeface="+mn-cs"/>
              </a:rPr>
              <a:t>单向转发跳数</a:t>
            </a:r>
          </a:p>
        </p:txBody>
      </p:sp>
      <p:sp>
        <p:nvSpPr>
          <p:cNvPr id="5" name="Slide Number Placeholder 5"/>
          <p:cNvSpPr>
            <a:spLocks noGrp="1"/>
          </p:cNvSpPr>
          <p:nvPr>
            <p:ph type="sldNum" sz="quarter" idx="12"/>
          </p:nvPr>
        </p:nvSpPr>
        <p:spPr>
          <a:xfrm>
            <a:off x="8456295" y="6475730"/>
            <a:ext cx="68707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113</a:t>
            </a:fld>
            <a:endParaRPr lang="en-US" sz="1200" dirty="0">
              <a:latin typeface="Tahoma" panose="020B060403050404020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par>
                          <p:cTn id="8" fill="hold">
                            <p:stCondLst>
                              <p:cond delay="500"/>
                            </p:stCondLst>
                            <p:childTnLst>
                              <p:par>
                                <p:cTn id="9" presetID="3" presetClass="entr" presetSubtype="1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linds(horizontal)">
                                      <p:cBhvr>
                                        <p:cTn id="11" dur="500"/>
                                        <p:tgtEl>
                                          <p:spTgt spid="8"/>
                                        </p:tgtEl>
                                      </p:cBhvr>
                                    </p:animEffect>
                                  </p:childTnLst>
                                </p:cTn>
                              </p:par>
                            </p:childTnLst>
                          </p:cTn>
                        </p:par>
                        <p:par>
                          <p:cTn id="12" fill="hold">
                            <p:stCondLst>
                              <p:cond delay="1000"/>
                            </p:stCondLst>
                            <p:childTnLst>
                              <p:par>
                                <p:cTn id="13" presetID="3" presetClass="entr" presetSubtype="10"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blinds(horizontal)">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ea typeface="宋体" pitchFamily="2" charset="-122"/>
              </a:rPr>
              <a:t>Traceroute</a:t>
            </a:r>
            <a:r>
              <a:rPr lang="zh-CN" altLang="en-US" dirty="0">
                <a:ea typeface="宋体" pitchFamily="2" charset="-122"/>
              </a:rPr>
              <a:t>和</a:t>
            </a:r>
            <a:r>
              <a:rPr lang="en-US" altLang="zh-CN" dirty="0">
                <a:ea typeface="宋体" pitchFamily="2" charset="-122"/>
              </a:rPr>
              <a:t>ICMP</a:t>
            </a:r>
            <a:endParaRPr lang="zh-CN" altLang="en-US" dirty="0"/>
          </a:p>
        </p:txBody>
      </p:sp>
      <p:sp>
        <p:nvSpPr>
          <p:cNvPr id="6" name="内容占位符 2"/>
          <p:cNvSpPr txBox="1"/>
          <p:nvPr/>
        </p:nvSpPr>
        <p:spPr>
          <a:xfrm>
            <a:off x="628650" y="1990319"/>
            <a:ext cx="4545106" cy="392415"/>
          </a:xfrm>
          <a:prstGeom prst="rect">
            <a:avLst/>
          </a:prstGeom>
        </p:spPr>
        <p:txBody>
          <a:bodyPr vert="horz" lIns="68580" tIns="34290" rIns="68580" bIns="34290" rtlCol="0">
            <a:normAutofit fontScale="90000"/>
          </a:bodyPr>
          <a:lstStyle>
            <a:lvl1pPr marL="360680" indent="-360680" algn="l" defTabSz="914400" rtl="0" eaLnBrk="1" latinLnBrk="0" hangingPunct="1">
              <a:lnSpc>
                <a:spcPct val="100000"/>
              </a:lnSpc>
              <a:spcBef>
                <a:spcPts val="600"/>
              </a:spcBef>
              <a:buFont typeface="Wingdings" panose="05000000000000000000"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270510" indent="-270510" defTabSz="685800" fontAlgn="auto">
              <a:spcBef>
                <a:spcPts val="450"/>
              </a:spcBef>
              <a:spcAft>
                <a:spcPts val="0"/>
              </a:spcAft>
            </a:pPr>
            <a:r>
              <a:rPr lang="zh-CN" altLang="zh-CN" sz="2100" dirty="0">
                <a:solidFill>
                  <a:srgbClr val="C00000"/>
                </a:solidFill>
              </a:rPr>
              <a:t>如何知道整个路径上路由器的地址？</a:t>
            </a:r>
            <a:endParaRPr lang="zh-CN" altLang="en-US" sz="2100" dirty="0">
              <a:solidFill>
                <a:srgbClr val="C00000"/>
              </a:solidFill>
            </a:endParaRPr>
          </a:p>
        </p:txBody>
      </p:sp>
      <p:sp>
        <p:nvSpPr>
          <p:cNvPr id="7" name="TextBox 6"/>
          <p:cNvSpPr txBox="1"/>
          <p:nvPr/>
        </p:nvSpPr>
        <p:spPr>
          <a:xfrm>
            <a:off x="5325036" y="1990318"/>
            <a:ext cx="2561665" cy="415498"/>
          </a:xfrm>
          <a:prstGeom prst="rect">
            <a:avLst/>
          </a:prstGeom>
          <a:noFill/>
        </p:spPr>
        <p:txBody>
          <a:bodyPr wrap="square" rtlCol="0">
            <a:spAutoFit/>
          </a:bodyPr>
          <a:lstStyle/>
          <a:p>
            <a:pPr defTabSz="685800" eaLnBrk="1" fontAlgn="auto" hangingPunct="1">
              <a:spcBef>
                <a:spcPts val="0"/>
              </a:spcBef>
              <a:spcAft>
                <a:spcPts val="0"/>
              </a:spcAft>
            </a:pPr>
            <a:r>
              <a:rPr lang="zh-CN" altLang="en-US" sz="2100" dirty="0">
                <a:solidFill>
                  <a:srgbClr val="C00000"/>
                </a:solidFill>
                <a:latin typeface="微软雅黑" panose="020B0503020204020204" pitchFamily="34" charset="-122"/>
                <a:ea typeface="微软雅黑" panose="020B0503020204020204" pitchFamily="34" charset="-122"/>
                <a:cs typeface="+mn-cs"/>
              </a:rPr>
              <a:t>使用</a:t>
            </a:r>
            <a:r>
              <a:rPr lang="en-US" altLang="zh-CN" sz="2100" dirty="0" err="1">
                <a:solidFill>
                  <a:srgbClr val="C00000"/>
                </a:solidFill>
                <a:latin typeface="微软雅黑" panose="020B0503020204020204" pitchFamily="34" charset="-122"/>
                <a:ea typeface="微软雅黑" panose="020B0503020204020204" pitchFamily="34" charset="-122"/>
                <a:cs typeface="+mn-cs"/>
              </a:rPr>
              <a:t>TraceRT</a:t>
            </a:r>
            <a:r>
              <a:rPr lang="zh-CN" altLang="en-US" sz="2100" dirty="0">
                <a:solidFill>
                  <a:srgbClr val="C00000"/>
                </a:solidFill>
                <a:latin typeface="微软雅黑" panose="020B0503020204020204" pitchFamily="34" charset="-122"/>
                <a:ea typeface="微软雅黑" panose="020B0503020204020204" pitchFamily="34" charset="-122"/>
                <a:cs typeface="+mn-cs"/>
              </a:rPr>
              <a:t>命令</a:t>
            </a:r>
          </a:p>
        </p:txBody>
      </p:sp>
      <p:graphicFrame>
        <p:nvGraphicFramePr>
          <p:cNvPr id="96" name="Object 11"/>
          <p:cNvGraphicFramePr>
            <a:graphicFrameLocks noChangeAspect="1"/>
          </p:cNvGraphicFramePr>
          <p:nvPr/>
        </p:nvGraphicFramePr>
        <p:xfrm>
          <a:off x="1108351" y="2752356"/>
          <a:ext cx="415925" cy="239315"/>
        </p:xfrm>
        <a:graphic>
          <a:graphicData uri="http://schemas.openxmlformats.org/presentationml/2006/ole">
            <mc:AlternateContent xmlns:mc="http://schemas.openxmlformats.org/markup-compatibility/2006">
              <mc:Choice xmlns:v="urn:schemas-microsoft-com:vml" Requires="v">
                <p:oleObj name="Clip" r:id="rId3" imgW="1307465" imgH="1083945" progId="MS_ClipArt_Gallery.2">
                  <p:embed/>
                </p:oleObj>
              </mc:Choice>
              <mc:Fallback>
                <p:oleObj name="Clip" r:id="rId3" imgW="1307465" imgH="1083945" progId="MS_ClipArt_Gallery.2">
                  <p:embed/>
                  <p:pic>
                    <p:nvPicPr>
                      <p:cNvPr id="0" name="Object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8351" y="2752356"/>
                        <a:ext cx="415925" cy="239315"/>
                      </a:xfrm>
                      <a:prstGeom prst="rect">
                        <a:avLst/>
                      </a:prstGeom>
                      <a:noFill/>
                      <a:ln>
                        <a:noFill/>
                      </a:ln>
                      <a:effectLst/>
                    </p:spPr>
                  </p:pic>
                </p:oleObj>
              </mc:Fallback>
            </mc:AlternateContent>
          </a:graphicData>
        </a:graphic>
      </p:graphicFrame>
      <p:sp>
        <p:nvSpPr>
          <p:cNvPr id="97" name="Line 38"/>
          <p:cNvSpPr>
            <a:spLocks noChangeShapeType="1"/>
          </p:cNvSpPr>
          <p:nvPr/>
        </p:nvSpPr>
        <p:spPr bwMode="auto">
          <a:xfrm>
            <a:off x="1409976" y="2933330"/>
            <a:ext cx="288925" cy="198834"/>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98" name="Line 105"/>
          <p:cNvSpPr>
            <a:spLocks noChangeShapeType="1"/>
          </p:cNvSpPr>
          <p:nvPr/>
        </p:nvSpPr>
        <p:spPr bwMode="auto">
          <a:xfrm flipV="1">
            <a:off x="2203725" y="2971429"/>
            <a:ext cx="458787" cy="155972"/>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99" name="Line 106"/>
          <p:cNvSpPr>
            <a:spLocks noChangeShapeType="1"/>
          </p:cNvSpPr>
          <p:nvPr/>
        </p:nvSpPr>
        <p:spPr bwMode="auto">
          <a:xfrm>
            <a:off x="3138762" y="2959523"/>
            <a:ext cx="485775" cy="155972"/>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00" name="Line 108"/>
          <p:cNvSpPr>
            <a:spLocks noChangeShapeType="1"/>
          </p:cNvSpPr>
          <p:nvPr/>
        </p:nvSpPr>
        <p:spPr bwMode="auto">
          <a:xfrm flipH="1">
            <a:off x="2900638" y="2758307"/>
            <a:ext cx="349250" cy="11430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01" name="Line 113"/>
          <p:cNvSpPr>
            <a:spLocks noChangeShapeType="1"/>
          </p:cNvSpPr>
          <p:nvPr/>
        </p:nvSpPr>
        <p:spPr bwMode="auto">
          <a:xfrm flipH="1">
            <a:off x="4115075" y="3004767"/>
            <a:ext cx="620712" cy="108347"/>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nvGrpSpPr>
          <p:cNvPr id="102" name="Group 144"/>
          <p:cNvGrpSpPr/>
          <p:nvPr/>
        </p:nvGrpSpPr>
        <p:grpSpPr bwMode="auto">
          <a:xfrm>
            <a:off x="1684612" y="3044059"/>
            <a:ext cx="501650" cy="175022"/>
            <a:chOff x="3600" y="219"/>
            <a:chExt cx="360" cy="175"/>
          </a:xfrm>
        </p:grpSpPr>
        <p:sp>
          <p:nvSpPr>
            <p:cNvPr id="103" name="Oval 145"/>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04" name="Line 146"/>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05" name="Line 147"/>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06" name="Rectangle 148"/>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07" name="Oval 149"/>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grpSp>
          <p:nvGrpSpPr>
            <p:cNvPr id="108" name="Group 150"/>
            <p:cNvGrpSpPr/>
            <p:nvPr/>
          </p:nvGrpSpPr>
          <p:grpSpPr bwMode="auto">
            <a:xfrm>
              <a:off x="3686" y="244"/>
              <a:ext cx="177" cy="66"/>
              <a:chOff x="2848" y="848"/>
              <a:chExt cx="140" cy="98"/>
            </a:xfrm>
          </p:grpSpPr>
          <p:sp>
            <p:nvSpPr>
              <p:cNvPr id="113" name="Line 151"/>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14" name="Line 152"/>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15" name="Line 153"/>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nvGrpSpPr>
            <p:cNvPr id="109" name="Group 154"/>
            <p:cNvGrpSpPr/>
            <p:nvPr/>
          </p:nvGrpSpPr>
          <p:grpSpPr bwMode="auto">
            <a:xfrm flipV="1">
              <a:off x="3686" y="243"/>
              <a:ext cx="177" cy="66"/>
              <a:chOff x="2848" y="848"/>
              <a:chExt cx="140" cy="98"/>
            </a:xfrm>
          </p:grpSpPr>
          <p:sp>
            <p:nvSpPr>
              <p:cNvPr id="110" name="Line 155"/>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11" name="Line 156"/>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12" name="Line 157"/>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grpSp>
        <p:nvGrpSpPr>
          <p:cNvPr id="116" name="Group 158"/>
          <p:cNvGrpSpPr/>
          <p:nvPr/>
        </p:nvGrpSpPr>
        <p:grpSpPr bwMode="auto">
          <a:xfrm>
            <a:off x="2637112" y="2872609"/>
            <a:ext cx="501650" cy="175022"/>
            <a:chOff x="3600" y="219"/>
            <a:chExt cx="360" cy="175"/>
          </a:xfrm>
        </p:grpSpPr>
        <p:sp>
          <p:nvSpPr>
            <p:cNvPr id="117" name="Oval 159"/>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18" name="Line 160"/>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19" name="Line 161"/>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20" name="Rectangle 162"/>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21" name="Oval 163"/>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grpSp>
          <p:nvGrpSpPr>
            <p:cNvPr id="122" name="Group 164"/>
            <p:cNvGrpSpPr/>
            <p:nvPr/>
          </p:nvGrpSpPr>
          <p:grpSpPr bwMode="auto">
            <a:xfrm>
              <a:off x="3686" y="244"/>
              <a:ext cx="177" cy="66"/>
              <a:chOff x="2848" y="848"/>
              <a:chExt cx="140" cy="98"/>
            </a:xfrm>
          </p:grpSpPr>
          <p:sp>
            <p:nvSpPr>
              <p:cNvPr id="127" name="Line 165"/>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28" name="Line 166"/>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29" name="Line 167"/>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nvGrpSpPr>
            <p:cNvPr id="123" name="Group 168"/>
            <p:cNvGrpSpPr/>
            <p:nvPr/>
          </p:nvGrpSpPr>
          <p:grpSpPr bwMode="auto">
            <a:xfrm flipV="1">
              <a:off x="3686" y="243"/>
              <a:ext cx="177" cy="66"/>
              <a:chOff x="2848" y="848"/>
              <a:chExt cx="140" cy="98"/>
            </a:xfrm>
          </p:grpSpPr>
          <p:sp>
            <p:nvSpPr>
              <p:cNvPr id="124" name="Line 169"/>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25" name="Line 170"/>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26" name="Line 17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grpSp>
        <p:nvGrpSpPr>
          <p:cNvPr id="130" name="Group 186"/>
          <p:cNvGrpSpPr/>
          <p:nvPr/>
        </p:nvGrpSpPr>
        <p:grpSpPr bwMode="auto">
          <a:xfrm>
            <a:off x="3624538" y="3028579"/>
            <a:ext cx="500063" cy="175022"/>
            <a:chOff x="3600" y="219"/>
            <a:chExt cx="360" cy="175"/>
          </a:xfrm>
        </p:grpSpPr>
        <p:sp>
          <p:nvSpPr>
            <p:cNvPr id="131" name="Oval 187"/>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32" name="Line 188"/>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33" name="Line 189"/>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34" name="Rectangle 190"/>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35" name="Oval 191"/>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grpSp>
          <p:nvGrpSpPr>
            <p:cNvPr id="136" name="Group 192"/>
            <p:cNvGrpSpPr/>
            <p:nvPr/>
          </p:nvGrpSpPr>
          <p:grpSpPr bwMode="auto">
            <a:xfrm>
              <a:off x="3686" y="244"/>
              <a:ext cx="177" cy="66"/>
              <a:chOff x="2848" y="848"/>
              <a:chExt cx="140" cy="98"/>
            </a:xfrm>
          </p:grpSpPr>
          <p:sp>
            <p:nvSpPr>
              <p:cNvPr id="141" name="Line 19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42" name="Line 19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43" name="Line 195"/>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nvGrpSpPr>
            <p:cNvPr id="137" name="Group 196"/>
            <p:cNvGrpSpPr/>
            <p:nvPr/>
          </p:nvGrpSpPr>
          <p:grpSpPr bwMode="auto">
            <a:xfrm flipV="1">
              <a:off x="3686" y="243"/>
              <a:ext cx="177" cy="66"/>
              <a:chOff x="2848" y="848"/>
              <a:chExt cx="140" cy="98"/>
            </a:xfrm>
          </p:grpSpPr>
          <p:sp>
            <p:nvSpPr>
              <p:cNvPr id="138" name="Line 197"/>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39" name="Line 198"/>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40" name="Line 199"/>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sp>
        <p:nvSpPr>
          <p:cNvPr id="144" name="Line 260"/>
          <p:cNvSpPr>
            <a:spLocks noChangeShapeType="1"/>
          </p:cNvSpPr>
          <p:nvPr/>
        </p:nvSpPr>
        <p:spPr bwMode="auto">
          <a:xfrm>
            <a:off x="5234262" y="2978573"/>
            <a:ext cx="485775" cy="155972"/>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45" name="Line 261"/>
          <p:cNvSpPr>
            <a:spLocks noChangeShapeType="1"/>
          </p:cNvSpPr>
          <p:nvPr/>
        </p:nvSpPr>
        <p:spPr bwMode="auto">
          <a:xfrm flipH="1">
            <a:off x="6172476" y="2938092"/>
            <a:ext cx="557212" cy="208359"/>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nvGrpSpPr>
          <p:cNvPr id="146" name="Group 262"/>
          <p:cNvGrpSpPr/>
          <p:nvPr/>
        </p:nvGrpSpPr>
        <p:grpSpPr bwMode="auto">
          <a:xfrm>
            <a:off x="4732612" y="2891659"/>
            <a:ext cx="501650" cy="175022"/>
            <a:chOff x="3600" y="219"/>
            <a:chExt cx="360" cy="175"/>
          </a:xfrm>
        </p:grpSpPr>
        <p:sp>
          <p:nvSpPr>
            <p:cNvPr id="147" name="Oval 263"/>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48" name="Line 264"/>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49" name="Line 265"/>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50" name="Rectangle 266"/>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51" name="Oval 267"/>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grpSp>
          <p:nvGrpSpPr>
            <p:cNvPr id="152" name="Group 268"/>
            <p:cNvGrpSpPr/>
            <p:nvPr/>
          </p:nvGrpSpPr>
          <p:grpSpPr bwMode="auto">
            <a:xfrm>
              <a:off x="3686" y="244"/>
              <a:ext cx="177" cy="66"/>
              <a:chOff x="2848" y="848"/>
              <a:chExt cx="140" cy="98"/>
            </a:xfrm>
          </p:grpSpPr>
          <p:sp>
            <p:nvSpPr>
              <p:cNvPr id="157" name="Line 269"/>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58" name="Line 270"/>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59" name="Line 27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nvGrpSpPr>
            <p:cNvPr id="153" name="Group 272"/>
            <p:cNvGrpSpPr/>
            <p:nvPr/>
          </p:nvGrpSpPr>
          <p:grpSpPr bwMode="auto">
            <a:xfrm flipV="1">
              <a:off x="3686" y="243"/>
              <a:ext cx="177" cy="66"/>
              <a:chOff x="2848" y="848"/>
              <a:chExt cx="140" cy="98"/>
            </a:xfrm>
          </p:grpSpPr>
          <p:sp>
            <p:nvSpPr>
              <p:cNvPr id="154" name="Line 27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55" name="Line 27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56" name="Line 275"/>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grpSp>
        <p:nvGrpSpPr>
          <p:cNvPr id="160" name="Group 276"/>
          <p:cNvGrpSpPr/>
          <p:nvPr/>
        </p:nvGrpSpPr>
        <p:grpSpPr bwMode="auto">
          <a:xfrm>
            <a:off x="5720038" y="3047629"/>
            <a:ext cx="500063" cy="175022"/>
            <a:chOff x="3600" y="219"/>
            <a:chExt cx="360" cy="175"/>
          </a:xfrm>
        </p:grpSpPr>
        <p:sp>
          <p:nvSpPr>
            <p:cNvPr id="161" name="Oval 277"/>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62" name="Line 278"/>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63" name="Line 279"/>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64" name="Rectangle 280"/>
            <p:cNvSpPr>
              <a:spLocks noChangeArrowheads="1"/>
            </p:cNvSpPr>
            <p:nvPr/>
          </p:nvSpPr>
          <p:spPr bwMode="auto">
            <a:xfrm>
              <a:off x="3603" y="289"/>
              <a:ext cx="354"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pPr algn="ct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sp>
          <p:nvSpPr>
            <p:cNvPr id="165" name="Oval 281"/>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宋体" pitchFamily="2" charset="-122"/>
                <a:cs typeface="+mn-cs"/>
              </a:endParaRPr>
            </a:p>
          </p:txBody>
        </p:sp>
        <p:grpSp>
          <p:nvGrpSpPr>
            <p:cNvPr id="166" name="Group 282"/>
            <p:cNvGrpSpPr/>
            <p:nvPr/>
          </p:nvGrpSpPr>
          <p:grpSpPr bwMode="auto">
            <a:xfrm>
              <a:off x="3686" y="244"/>
              <a:ext cx="177" cy="66"/>
              <a:chOff x="2848" y="848"/>
              <a:chExt cx="140" cy="98"/>
            </a:xfrm>
          </p:grpSpPr>
          <p:sp>
            <p:nvSpPr>
              <p:cNvPr id="171" name="Line 28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72" name="Line 28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73" name="Line 285"/>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nvGrpSpPr>
            <p:cNvPr id="167" name="Group 286"/>
            <p:cNvGrpSpPr/>
            <p:nvPr/>
          </p:nvGrpSpPr>
          <p:grpSpPr bwMode="auto">
            <a:xfrm flipV="1">
              <a:off x="3686" y="243"/>
              <a:ext cx="177" cy="66"/>
              <a:chOff x="2848" y="848"/>
              <a:chExt cx="140" cy="98"/>
            </a:xfrm>
          </p:grpSpPr>
          <p:sp>
            <p:nvSpPr>
              <p:cNvPr id="168" name="Line 287"/>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69" name="Line 288"/>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70" name="Line 289"/>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grpSp>
      </p:grpSp>
      <p:graphicFrame>
        <p:nvGraphicFramePr>
          <p:cNvPr id="174" name="Object 290"/>
          <p:cNvGraphicFramePr>
            <a:graphicFrameLocks noChangeAspect="1"/>
          </p:cNvGraphicFramePr>
          <p:nvPr/>
        </p:nvGraphicFramePr>
        <p:xfrm>
          <a:off x="6721751" y="2828556"/>
          <a:ext cx="415925" cy="239315"/>
        </p:xfrm>
        <a:graphic>
          <a:graphicData uri="http://schemas.openxmlformats.org/presentationml/2006/ole">
            <mc:AlternateContent xmlns:mc="http://schemas.openxmlformats.org/markup-compatibility/2006">
              <mc:Choice xmlns:v="urn:schemas-microsoft-com:vml" Requires="v">
                <p:oleObj name="Clip" r:id="rId3" imgW="1307465" imgH="1083945" progId="MS_ClipArt_Gallery.2">
                  <p:embed/>
                </p:oleObj>
              </mc:Choice>
              <mc:Fallback>
                <p:oleObj name="Clip" r:id="rId3" imgW="1307465" imgH="1083945" progId="MS_ClipArt_Gallery.2">
                  <p:embed/>
                  <p:pic>
                    <p:nvPicPr>
                      <p:cNvPr id="0" name="Object 29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1751" y="2828556"/>
                        <a:ext cx="415925" cy="239315"/>
                      </a:xfrm>
                      <a:prstGeom prst="rect">
                        <a:avLst/>
                      </a:prstGeom>
                      <a:noFill/>
                      <a:ln>
                        <a:noFill/>
                      </a:ln>
                      <a:effectLst/>
                    </p:spPr>
                  </p:pic>
                </p:oleObj>
              </mc:Fallback>
            </mc:AlternateContent>
          </a:graphicData>
        </a:graphic>
      </p:graphicFrame>
      <p:sp>
        <p:nvSpPr>
          <p:cNvPr id="175" name="Line 291"/>
          <p:cNvSpPr>
            <a:spLocks noChangeShapeType="1"/>
          </p:cNvSpPr>
          <p:nvPr/>
        </p:nvSpPr>
        <p:spPr bwMode="auto">
          <a:xfrm>
            <a:off x="2868887" y="3058345"/>
            <a:ext cx="228600" cy="23336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76" name="Line 292"/>
          <p:cNvSpPr>
            <a:spLocks noChangeShapeType="1"/>
          </p:cNvSpPr>
          <p:nvPr/>
        </p:nvSpPr>
        <p:spPr bwMode="auto">
          <a:xfrm>
            <a:off x="4792937" y="2748782"/>
            <a:ext cx="228600" cy="23336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77" name="Line 294"/>
          <p:cNvSpPr>
            <a:spLocks noChangeShapeType="1"/>
          </p:cNvSpPr>
          <p:nvPr/>
        </p:nvSpPr>
        <p:spPr bwMode="auto">
          <a:xfrm flipH="1">
            <a:off x="3510238" y="3201220"/>
            <a:ext cx="349250" cy="11430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78" name="Line 295"/>
          <p:cNvSpPr>
            <a:spLocks noChangeShapeType="1"/>
          </p:cNvSpPr>
          <p:nvPr/>
        </p:nvSpPr>
        <p:spPr bwMode="auto">
          <a:xfrm>
            <a:off x="3865837" y="2829745"/>
            <a:ext cx="6350" cy="195263"/>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pPr defTabSz="685800" eaLnBrk="1" fontAlgn="auto" hangingPunct="1">
              <a:spcBef>
                <a:spcPts val="0"/>
              </a:spcBef>
              <a:spcAft>
                <a:spcPts val="0"/>
              </a:spcAft>
            </a:pPr>
            <a:endParaRPr lang="zh-CN" altLang="en-US" sz="1350">
              <a:solidFill>
                <a:prstClr val="black"/>
              </a:solidFill>
              <a:latin typeface="等线" panose="020F0502020204030204"/>
              <a:ea typeface="等线" panose="02010600030101010101" pitchFamily="2" charset="-122"/>
              <a:cs typeface="+mn-cs"/>
            </a:endParaRPr>
          </a:p>
        </p:txBody>
      </p:sp>
      <p:sp>
        <p:nvSpPr>
          <p:cNvPr id="179" name="Freeform 299"/>
          <p:cNvSpPr/>
          <p:nvPr/>
        </p:nvSpPr>
        <p:spPr bwMode="auto">
          <a:xfrm>
            <a:off x="1413150" y="2915470"/>
            <a:ext cx="419100" cy="314325"/>
          </a:xfrm>
          <a:custGeom>
            <a:avLst/>
            <a:gdLst>
              <a:gd name="T0" fmla="*/ 2147483646 w 264"/>
              <a:gd name="T1" fmla="*/ 0 h 264"/>
              <a:gd name="T2" fmla="*/ 2147483646 w 264"/>
              <a:gd name="T3" fmla="*/ 2147483646 h 264"/>
              <a:gd name="T4" fmla="*/ 0 w 264"/>
              <a:gd name="T5" fmla="*/ 2147483646 h 264"/>
              <a:gd name="T6" fmla="*/ 0 60000 65536"/>
              <a:gd name="T7" fmla="*/ 0 60000 65536"/>
              <a:gd name="T8" fmla="*/ 0 60000 65536"/>
              <a:gd name="T9" fmla="*/ 0 w 264"/>
              <a:gd name="T10" fmla="*/ 0 h 264"/>
              <a:gd name="T11" fmla="*/ 264 w 264"/>
              <a:gd name="T12" fmla="*/ 264 h 264"/>
            </a:gdLst>
            <a:ahLst/>
            <a:cxnLst>
              <a:cxn ang="T6">
                <a:pos x="T0" y="T1"/>
              </a:cxn>
              <a:cxn ang="T7">
                <a:pos x="T2" y="T3"/>
              </a:cxn>
              <a:cxn ang="T8">
                <a:pos x="T4" y="T5"/>
              </a:cxn>
            </a:cxnLst>
            <a:rect l="T9" t="T10" r="T11" b="T12"/>
            <a:pathLst>
              <a:path w="264" h="264">
                <a:moveTo>
                  <a:pt x="60" y="0"/>
                </a:moveTo>
                <a:cubicBezTo>
                  <a:pt x="86" y="31"/>
                  <a:pt x="264" y="176"/>
                  <a:pt x="228" y="220"/>
                </a:cubicBezTo>
                <a:cubicBezTo>
                  <a:pt x="192" y="264"/>
                  <a:pt x="60" y="109"/>
                  <a:pt x="0" y="88"/>
                </a:cubicBezTo>
              </a:path>
            </a:pathLst>
          </a:custGeom>
          <a:noFill/>
          <a:ln w="28575"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defTabSz="685800" eaLnBrk="1" fontAlgn="auto" hangingPunct="1">
              <a:spcBef>
                <a:spcPts val="0"/>
              </a:spcBef>
              <a:spcAft>
                <a:spcPts val="0"/>
              </a:spcAft>
            </a:pPr>
            <a:endParaRPr lang="zh-CN" altLang="en-US" sz="1350">
              <a:solidFill>
                <a:srgbClr val="C00000"/>
              </a:solidFill>
              <a:latin typeface="等线" panose="020F0502020204030204"/>
              <a:ea typeface="等线" panose="02010600030101010101" pitchFamily="2" charset="-122"/>
              <a:cs typeface="+mn-cs"/>
            </a:endParaRPr>
          </a:p>
        </p:txBody>
      </p:sp>
      <p:sp>
        <p:nvSpPr>
          <p:cNvPr id="180" name="Text Box 300"/>
          <p:cNvSpPr txBox="1">
            <a:spLocks noChangeArrowheads="1"/>
          </p:cNvSpPr>
          <p:nvPr/>
        </p:nvSpPr>
        <p:spPr bwMode="auto">
          <a:xfrm>
            <a:off x="1511575" y="2722589"/>
            <a:ext cx="1034257"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Comic Sans MS" panose="030F0902030302020204" pitchFamily="66" charset="0"/>
              </a:defRPr>
            </a:lvl1pPr>
            <a:lvl2pPr>
              <a:defRPr sz="2400">
                <a:solidFill>
                  <a:schemeClr val="tx1"/>
                </a:solidFill>
                <a:latin typeface="Comic Sans MS" panose="030F0902030302020204" pitchFamily="66" charset="0"/>
              </a:defRPr>
            </a:lvl2pPr>
            <a:lvl3pPr>
              <a:defRPr sz="2000">
                <a:solidFill>
                  <a:schemeClr val="tx1"/>
                </a:solidFill>
                <a:latin typeface="Comic Sans MS" panose="030F0902030302020204" pitchFamily="66" charset="0"/>
              </a:defRPr>
            </a:lvl3pPr>
            <a:lvl4pPr>
              <a:defRPr sz="2000">
                <a:solidFill>
                  <a:schemeClr val="tx1"/>
                </a:solidFill>
                <a:latin typeface="Times New Roman" panose="02020503050405090304" charset="0"/>
              </a:defRPr>
            </a:lvl4pPr>
            <a:lvl5pPr>
              <a:defRPr sz="2000">
                <a:solidFill>
                  <a:schemeClr val="tx1"/>
                </a:solidFill>
                <a:latin typeface="Times New Roman" panose="02020503050405090304" charset="0"/>
              </a:defRPr>
            </a:lvl5pPr>
            <a:lvl6pPr>
              <a:defRPr sz="2000">
                <a:solidFill>
                  <a:schemeClr val="tx1"/>
                </a:solidFill>
                <a:latin typeface="Times New Roman" panose="02020503050405090304" charset="0"/>
              </a:defRPr>
            </a:lvl6pPr>
            <a:lvl7pPr>
              <a:defRPr sz="2000">
                <a:solidFill>
                  <a:schemeClr val="tx1"/>
                </a:solidFill>
                <a:latin typeface="Times New Roman" panose="02020503050405090304" charset="0"/>
              </a:defRPr>
            </a:lvl7pPr>
            <a:lvl8pPr>
              <a:defRPr sz="2000">
                <a:solidFill>
                  <a:schemeClr val="tx1"/>
                </a:solidFill>
                <a:latin typeface="Times New Roman" panose="02020503050405090304" charset="0"/>
              </a:defRPr>
            </a:lvl8pPr>
            <a:lvl9pPr>
              <a:defRPr sz="2000">
                <a:solidFill>
                  <a:schemeClr val="tx1"/>
                </a:solidFill>
                <a:latin typeface="Times New Roman" panose="02020503050405090304" charset="0"/>
              </a:defRPr>
            </a:lvl9pPr>
          </a:lstStyle>
          <a:p>
            <a:pPr defTabSz="685800" eaLnBrk="1" fontAlgn="auto" hangingPunct="1">
              <a:spcBef>
                <a:spcPts val="0"/>
              </a:spcBef>
              <a:spcAft>
                <a:spcPts val="0"/>
              </a:spcAft>
            </a:pPr>
            <a:r>
              <a:rPr lang="en-US" altLang="zh-CN" sz="1350" dirty="0">
                <a:solidFill>
                  <a:srgbClr val="C00000"/>
                </a:solidFill>
                <a:ea typeface="宋体" pitchFamily="2" charset="-122"/>
                <a:cs typeface="+mn-cs"/>
              </a:rPr>
              <a:t>3 </a:t>
            </a:r>
            <a:r>
              <a:rPr lang="zh-CN" altLang="en-US" sz="1350" dirty="0">
                <a:solidFill>
                  <a:srgbClr val="C00000"/>
                </a:solidFill>
                <a:ea typeface="宋体" pitchFamily="2" charset="-122"/>
                <a:cs typeface="+mn-cs"/>
              </a:rPr>
              <a:t>探测分组</a:t>
            </a:r>
          </a:p>
        </p:txBody>
      </p:sp>
      <p:sp>
        <p:nvSpPr>
          <p:cNvPr id="181" name="Freeform 301"/>
          <p:cNvSpPr/>
          <p:nvPr/>
        </p:nvSpPr>
        <p:spPr bwMode="auto">
          <a:xfrm>
            <a:off x="1406800" y="2858321"/>
            <a:ext cx="1346200" cy="355997"/>
          </a:xfrm>
          <a:custGeom>
            <a:avLst/>
            <a:gdLst>
              <a:gd name="T0" fmla="*/ 2147483646 w 848"/>
              <a:gd name="T1" fmla="*/ 2147483646 h 299"/>
              <a:gd name="T2" fmla="*/ 2147483646 w 848"/>
              <a:gd name="T3" fmla="*/ 2147483646 h 299"/>
              <a:gd name="T4" fmla="*/ 2147483646 w 848"/>
              <a:gd name="T5" fmla="*/ 2147483646 h 299"/>
              <a:gd name="T6" fmla="*/ 2147483646 w 848"/>
              <a:gd name="T7" fmla="*/ 2147483646 h 299"/>
              <a:gd name="T8" fmla="*/ 0 w 848"/>
              <a:gd name="T9" fmla="*/ 2147483646 h 299"/>
              <a:gd name="T10" fmla="*/ 0 60000 65536"/>
              <a:gd name="T11" fmla="*/ 0 60000 65536"/>
              <a:gd name="T12" fmla="*/ 0 60000 65536"/>
              <a:gd name="T13" fmla="*/ 0 60000 65536"/>
              <a:gd name="T14" fmla="*/ 0 60000 65536"/>
              <a:gd name="T15" fmla="*/ 0 w 848"/>
              <a:gd name="T16" fmla="*/ 0 h 299"/>
              <a:gd name="T17" fmla="*/ 848 w 848"/>
              <a:gd name="T18" fmla="*/ 299 h 299"/>
            </a:gdLst>
            <a:ahLst/>
            <a:cxnLst>
              <a:cxn ang="T10">
                <a:pos x="T0" y="T1"/>
              </a:cxn>
              <a:cxn ang="T11">
                <a:pos x="T2" y="T3"/>
              </a:cxn>
              <a:cxn ang="T12">
                <a:pos x="T4" y="T5"/>
              </a:cxn>
              <a:cxn ang="T13">
                <a:pos x="T6" y="T7"/>
              </a:cxn>
              <a:cxn ang="T14">
                <a:pos x="T8" y="T9"/>
              </a:cxn>
            </a:cxnLst>
            <a:rect l="T15" t="T16" r="T17" b="T18"/>
            <a:pathLst>
              <a:path w="848" h="299">
                <a:moveTo>
                  <a:pt x="76" y="76"/>
                </a:moveTo>
                <a:cubicBezTo>
                  <a:pt x="137" y="57"/>
                  <a:pt x="200" y="216"/>
                  <a:pt x="324" y="216"/>
                </a:cubicBezTo>
                <a:cubicBezTo>
                  <a:pt x="448" y="216"/>
                  <a:pt x="792" y="0"/>
                  <a:pt x="820" y="76"/>
                </a:cubicBezTo>
                <a:cubicBezTo>
                  <a:pt x="848" y="152"/>
                  <a:pt x="469" y="245"/>
                  <a:pt x="340" y="296"/>
                </a:cubicBezTo>
                <a:cubicBezTo>
                  <a:pt x="203" y="299"/>
                  <a:pt x="62" y="78"/>
                  <a:pt x="0" y="96"/>
                </a:cubicBezTo>
              </a:path>
            </a:pathLst>
          </a:custGeom>
          <a:noFill/>
          <a:ln w="28575"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defTabSz="685800" eaLnBrk="1" fontAlgn="auto" hangingPunct="1">
              <a:spcBef>
                <a:spcPts val="0"/>
              </a:spcBef>
              <a:spcAft>
                <a:spcPts val="0"/>
              </a:spcAft>
            </a:pPr>
            <a:endParaRPr lang="zh-CN" altLang="en-US" sz="1350">
              <a:solidFill>
                <a:srgbClr val="C00000"/>
              </a:solidFill>
              <a:latin typeface="等线" panose="020F0502020204030204"/>
              <a:ea typeface="等线" panose="02010600030101010101" pitchFamily="2" charset="-122"/>
              <a:cs typeface="+mn-cs"/>
            </a:endParaRPr>
          </a:p>
        </p:txBody>
      </p:sp>
      <p:sp>
        <p:nvSpPr>
          <p:cNvPr id="182" name="Text Box 302"/>
          <p:cNvSpPr txBox="1">
            <a:spLocks noChangeArrowheads="1"/>
          </p:cNvSpPr>
          <p:nvPr/>
        </p:nvSpPr>
        <p:spPr bwMode="auto">
          <a:xfrm>
            <a:off x="2083075" y="3089302"/>
            <a:ext cx="1034257"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Comic Sans MS" panose="030F0902030302020204" pitchFamily="66" charset="0"/>
              </a:defRPr>
            </a:lvl1pPr>
            <a:lvl2pPr>
              <a:defRPr sz="2400">
                <a:solidFill>
                  <a:schemeClr val="tx1"/>
                </a:solidFill>
                <a:latin typeface="Comic Sans MS" panose="030F0902030302020204" pitchFamily="66" charset="0"/>
              </a:defRPr>
            </a:lvl2pPr>
            <a:lvl3pPr>
              <a:defRPr sz="2000">
                <a:solidFill>
                  <a:schemeClr val="tx1"/>
                </a:solidFill>
                <a:latin typeface="Comic Sans MS" panose="030F0902030302020204" pitchFamily="66" charset="0"/>
              </a:defRPr>
            </a:lvl3pPr>
            <a:lvl4pPr>
              <a:defRPr sz="2000">
                <a:solidFill>
                  <a:schemeClr val="tx1"/>
                </a:solidFill>
                <a:latin typeface="Times New Roman" panose="02020503050405090304" charset="0"/>
              </a:defRPr>
            </a:lvl4pPr>
            <a:lvl5pPr>
              <a:defRPr sz="2000">
                <a:solidFill>
                  <a:schemeClr val="tx1"/>
                </a:solidFill>
                <a:latin typeface="Times New Roman" panose="02020503050405090304" charset="0"/>
              </a:defRPr>
            </a:lvl5pPr>
            <a:lvl6pPr>
              <a:defRPr sz="2000">
                <a:solidFill>
                  <a:schemeClr val="tx1"/>
                </a:solidFill>
                <a:latin typeface="Times New Roman" panose="02020503050405090304" charset="0"/>
              </a:defRPr>
            </a:lvl6pPr>
            <a:lvl7pPr>
              <a:defRPr sz="2000">
                <a:solidFill>
                  <a:schemeClr val="tx1"/>
                </a:solidFill>
                <a:latin typeface="Times New Roman" panose="02020503050405090304" charset="0"/>
              </a:defRPr>
            </a:lvl7pPr>
            <a:lvl8pPr>
              <a:defRPr sz="2000">
                <a:solidFill>
                  <a:schemeClr val="tx1"/>
                </a:solidFill>
                <a:latin typeface="Times New Roman" panose="02020503050405090304" charset="0"/>
              </a:defRPr>
            </a:lvl8pPr>
            <a:lvl9pPr>
              <a:defRPr sz="2000">
                <a:solidFill>
                  <a:schemeClr val="tx1"/>
                </a:solidFill>
                <a:latin typeface="Times New Roman" panose="02020503050405090304" charset="0"/>
              </a:defRPr>
            </a:lvl9pPr>
          </a:lstStyle>
          <a:p>
            <a:pPr defTabSz="685800" eaLnBrk="1" fontAlgn="auto" hangingPunct="1">
              <a:spcBef>
                <a:spcPts val="0"/>
              </a:spcBef>
              <a:spcAft>
                <a:spcPts val="0"/>
              </a:spcAft>
            </a:pPr>
            <a:r>
              <a:rPr lang="en-US" altLang="zh-CN" sz="1350" dirty="0">
                <a:solidFill>
                  <a:srgbClr val="C00000"/>
                </a:solidFill>
                <a:ea typeface="宋体" pitchFamily="2" charset="-122"/>
                <a:cs typeface="+mn-cs"/>
              </a:rPr>
              <a:t>3 </a:t>
            </a:r>
            <a:r>
              <a:rPr lang="zh-CN" altLang="en-US" sz="1350" dirty="0">
                <a:solidFill>
                  <a:srgbClr val="C00000"/>
                </a:solidFill>
                <a:ea typeface="宋体" pitchFamily="2" charset="-122"/>
                <a:cs typeface="+mn-cs"/>
              </a:rPr>
              <a:t>探测分组</a:t>
            </a:r>
          </a:p>
        </p:txBody>
      </p:sp>
      <p:sp>
        <p:nvSpPr>
          <p:cNvPr id="183" name="Freeform 303"/>
          <p:cNvSpPr/>
          <p:nvPr/>
        </p:nvSpPr>
        <p:spPr bwMode="auto">
          <a:xfrm>
            <a:off x="1400450" y="2898802"/>
            <a:ext cx="2247900" cy="302419"/>
          </a:xfrm>
          <a:custGeom>
            <a:avLst/>
            <a:gdLst>
              <a:gd name="T0" fmla="*/ 2147483646 w 1416"/>
              <a:gd name="T1" fmla="*/ 2147483646 h 254"/>
              <a:gd name="T2" fmla="*/ 2147483646 w 1416"/>
              <a:gd name="T3" fmla="*/ 2147483646 h 254"/>
              <a:gd name="T4" fmla="*/ 2147483646 w 1416"/>
              <a:gd name="T5" fmla="*/ 2147483646 h 254"/>
              <a:gd name="T6" fmla="*/ 2147483646 w 1416"/>
              <a:gd name="T7" fmla="*/ 2147483646 h 254"/>
              <a:gd name="T8" fmla="*/ 2147483646 w 1416"/>
              <a:gd name="T9" fmla="*/ 2147483646 h 254"/>
              <a:gd name="T10" fmla="*/ 2147483646 w 1416"/>
              <a:gd name="T11" fmla="*/ 2147483646 h 254"/>
              <a:gd name="T12" fmla="*/ 0 w 1416"/>
              <a:gd name="T13" fmla="*/ 2147483646 h 254"/>
              <a:gd name="T14" fmla="*/ 0 60000 65536"/>
              <a:gd name="T15" fmla="*/ 0 60000 65536"/>
              <a:gd name="T16" fmla="*/ 0 60000 65536"/>
              <a:gd name="T17" fmla="*/ 0 60000 65536"/>
              <a:gd name="T18" fmla="*/ 0 60000 65536"/>
              <a:gd name="T19" fmla="*/ 0 60000 65536"/>
              <a:gd name="T20" fmla="*/ 0 60000 65536"/>
              <a:gd name="T21" fmla="*/ 0 w 1416"/>
              <a:gd name="T22" fmla="*/ 0 h 254"/>
              <a:gd name="T23" fmla="*/ 1416 w 1416"/>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6" h="254">
                <a:moveTo>
                  <a:pt x="76" y="30"/>
                </a:moveTo>
                <a:cubicBezTo>
                  <a:pt x="137" y="11"/>
                  <a:pt x="200" y="170"/>
                  <a:pt x="324" y="170"/>
                </a:cubicBezTo>
                <a:cubicBezTo>
                  <a:pt x="461" y="165"/>
                  <a:pt x="717" y="0"/>
                  <a:pt x="896" y="2"/>
                </a:cubicBezTo>
                <a:cubicBezTo>
                  <a:pt x="1075" y="4"/>
                  <a:pt x="1416" y="122"/>
                  <a:pt x="1400" y="182"/>
                </a:cubicBezTo>
                <a:cubicBezTo>
                  <a:pt x="1384" y="242"/>
                  <a:pt x="1073" y="63"/>
                  <a:pt x="896" y="74"/>
                </a:cubicBezTo>
                <a:cubicBezTo>
                  <a:pt x="719" y="85"/>
                  <a:pt x="489" y="254"/>
                  <a:pt x="340" y="250"/>
                </a:cubicBezTo>
                <a:cubicBezTo>
                  <a:pt x="191" y="246"/>
                  <a:pt x="62" y="32"/>
                  <a:pt x="0" y="50"/>
                </a:cubicBezTo>
              </a:path>
            </a:pathLst>
          </a:custGeom>
          <a:noFill/>
          <a:ln w="28575"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defTabSz="685800" eaLnBrk="1" fontAlgn="auto" hangingPunct="1">
              <a:spcBef>
                <a:spcPts val="0"/>
              </a:spcBef>
              <a:spcAft>
                <a:spcPts val="0"/>
              </a:spcAft>
            </a:pPr>
            <a:endParaRPr lang="zh-CN" altLang="en-US" sz="1350">
              <a:solidFill>
                <a:srgbClr val="C00000"/>
              </a:solidFill>
              <a:latin typeface="等线" panose="020F0502020204030204"/>
              <a:ea typeface="等线" panose="02010600030101010101" pitchFamily="2" charset="-122"/>
              <a:cs typeface="+mn-cs"/>
            </a:endParaRPr>
          </a:p>
        </p:txBody>
      </p:sp>
      <p:sp>
        <p:nvSpPr>
          <p:cNvPr id="184" name="Text Box 304"/>
          <p:cNvSpPr txBox="1">
            <a:spLocks noChangeArrowheads="1"/>
          </p:cNvSpPr>
          <p:nvPr/>
        </p:nvSpPr>
        <p:spPr bwMode="auto">
          <a:xfrm>
            <a:off x="3149875" y="2703539"/>
            <a:ext cx="1034257"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Comic Sans MS" panose="030F0902030302020204" pitchFamily="66" charset="0"/>
              </a:defRPr>
            </a:lvl1pPr>
            <a:lvl2pPr>
              <a:defRPr sz="2400">
                <a:solidFill>
                  <a:schemeClr val="tx1"/>
                </a:solidFill>
                <a:latin typeface="Comic Sans MS" panose="030F0902030302020204" pitchFamily="66" charset="0"/>
              </a:defRPr>
            </a:lvl2pPr>
            <a:lvl3pPr>
              <a:defRPr sz="2000">
                <a:solidFill>
                  <a:schemeClr val="tx1"/>
                </a:solidFill>
                <a:latin typeface="Comic Sans MS" panose="030F0902030302020204" pitchFamily="66" charset="0"/>
              </a:defRPr>
            </a:lvl3pPr>
            <a:lvl4pPr>
              <a:defRPr sz="2000">
                <a:solidFill>
                  <a:schemeClr val="tx1"/>
                </a:solidFill>
                <a:latin typeface="Times New Roman" panose="02020503050405090304" charset="0"/>
              </a:defRPr>
            </a:lvl4pPr>
            <a:lvl5pPr>
              <a:defRPr sz="2000">
                <a:solidFill>
                  <a:schemeClr val="tx1"/>
                </a:solidFill>
                <a:latin typeface="Times New Roman" panose="02020503050405090304" charset="0"/>
              </a:defRPr>
            </a:lvl5pPr>
            <a:lvl6pPr>
              <a:defRPr sz="2000">
                <a:solidFill>
                  <a:schemeClr val="tx1"/>
                </a:solidFill>
                <a:latin typeface="Times New Roman" panose="02020503050405090304" charset="0"/>
              </a:defRPr>
            </a:lvl6pPr>
            <a:lvl7pPr>
              <a:defRPr sz="2000">
                <a:solidFill>
                  <a:schemeClr val="tx1"/>
                </a:solidFill>
                <a:latin typeface="Times New Roman" panose="02020503050405090304" charset="0"/>
              </a:defRPr>
            </a:lvl7pPr>
            <a:lvl8pPr>
              <a:defRPr sz="2000">
                <a:solidFill>
                  <a:schemeClr val="tx1"/>
                </a:solidFill>
                <a:latin typeface="Times New Roman" panose="02020503050405090304" charset="0"/>
              </a:defRPr>
            </a:lvl8pPr>
            <a:lvl9pPr>
              <a:defRPr sz="2000">
                <a:solidFill>
                  <a:schemeClr val="tx1"/>
                </a:solidFill>
                <a:latin typeface="Times New Roman" panose="02020503050405090304" charset="0"/>
              </a:defRPr>
            </a:lvl9pPr>
          </a:lstStyle>
          <a:p>
            <a:pPr defTabSz="685800" eaLnBrk="1" fontAlgn="auto" hangingPunct="1">
              <a:spcBef>
                <a:spcPts val="0"/>
              </a:spcBef>
              <a:spcAft>
                <a:spcPts val="0"/>
              </a:spcAft>
            </a:pPr>
            <a:r>
              <a:rPr lang="en-US" altLang="zh-CN" sz="1350" dirty="0">
                <a:solidFill>
                  <a:srgbClr val="C00000"/>
                </a:solidFill>
                <a:ea typeface="宋体" pitchFamily="2" charset="-122"/>
                <a:cs typeface="+mn-cs"/>
              </a:rPr>
              <a:t>3 </a:t>
            </a:r>
            <a:r>
              <a:rPr lang="zh-CN" altLang="en-US" sz="1350" dirty="0">
                <a:solidFill>
                  <a:srgbClr val="C00000"/>
                </a:solidFill>
                <a:ea typeface="宋体" pitchFamily="2" charset="-122"/>
                <a:cs typeface="+mn-cs"/>
              </a:rPr>
              <a:t>探测分组</a:t>
            </a:r>
          </a:p>
        </p:txBody>
      </p:sp>
      <p:sp>
        <p:nvSpPr>
          <p:cNvPr id="185" name="Rectangle 3"/>
          <p:cNvSpPr txBox="1">
            <a:spLocks noChangeArrowheads="1"/>
          </p:cNvSpPr>
          <p:nvPr/>
        </p:nvSpPr>
        <p:spPr>
          <a:xfrm>
            <a:off x="628650" y="3835940"/>
            <a:ext cx="4108450" cy="1621388"/>
          </a:xfrm>
          <a:prstGeom prst="rect">
            <a:avLst/>
          </a:prstGeom>
        </p:spPr>
        <p:txBody>
          <a:bodyPr vert="horz" lIns="68580" tIns="34290" rIns="68580" bIns="34290" rtlCol="0">
            <a:normAutofit/>
          </a:bodyPr>
          <a:lstStyle>
            <a:lvl1pPr marL="228600" indent="-228600" algn="l" defTabSz="914400" rtl="0" eaLnBrk="1" latinLnBrk="0" hangingPunct="1">
              <a:lnSpc>
                <a:spcPct val="100000"/>
              </a:lnSpc>
              <a:spcBef>
                <a:spcPts val="600"/>
              </a:spcBef>
              <a:buFont typeface="Wingdings" panose="05000000000000000000"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171450" indent="-171450" defTabSz="685800" fontAlgn="auto">
              <a:lnSpc>
                <a:spcPct val="110000"/>
              </a:lnSpc>
              <a:spcBef>
                <a:spcPts val="450"/>
              </a:spcBef>
              <a:spcAft>
                <a:spcPts val="0"/>
              </a:spcAft>
            </a:pPr>
            <a:r>
              <a:rPr lang="zh-CN" altLang="en-US" sz="1800" dirty="0">
                <a:solidFill>
                  <a:prstClr val="black"/>
                </a:solidFill>
                <a:latin typeface="微软雅黑" panose="020B0503020204020204" pitchFamily="34" charset="-122"/>
                <a:ea typeface="微软雅黑" panose="020B0503020204020204" pitchFamily="34" charset="-122"/>
              </a:rPr>
              <a:t>源向目的地发送一系列</a:t>
            </a:r>
            <a:r>
              <a:rPr lang="en-US" altLang="zh-CN" sz="1800" dirty="0">
                <a:solidFill>
                  <a:prstClr val="black"/>
                </a:solidFill>
                <a:latin typeface="微软雅黑" panose="020B0503020204020204" pitchFamily="34" charset="-122"/>
                <a:ea typeface="微软雅黑" panose="020B0503020204020204" pitchFamily="34" charset="-122"/>
              </a:rPr>
              <a:t>UDP</a:t>
            </a:r>
            <a:r>
              <a:rPr lang="zh-CN" altLang="en-US" sz="1800" dirty="0">
                <a:solidFill>
                  <a:prstClr val="black"/>
                </a:solidFill>
                <a:latin typeface="微软雅黑" panose="020B0503020204020204" pitchFamily="34" charset="-122"/>
                <a:ea typeface="微软雅黑" panose="020B0503020204020204" pitchFamily="34" charset="-122"/>
              </a:rPr>
              <a:t>段</a:t>
            </a:r>
            <a:r>
              <a:rPr lang="en-US" altLang="zh-CN" sz="1800" dirty="0">
                <a:solidFill>
                  <a:prstClr val="black"/>
                </a:solidFill>
                <a:latin typeface="微软雅黑" panose="020B0503020204020204" pitchFamily="34" charset="-122"/>
                <a:ea typeface="微软雅黑" panose="020B0503020204020204" pitchFamily="34" charset="-122"/>
              </a:rPr>
              <a:t>(</a:t>
            </a:r>
            <a:r>
              <a:rPr lang="zh-CN" altLang="en-US" sz="1800" dirty="0">
                <a:solidFill>
                  <a:prstClr val="black"/>
                </a:solidFill>
                <a:latin typeface="微软雅黑" panose="020B0503020204020204" pitchFamily="34" charset="-122"/>
                <a:ea typeface="微软雅黑" panose="020B0503020204020204" pitchFamily="34" charset="-122"/>
              </a:rPr>
              <a:t>不可能的端口号</a:t>
            </a:r>
            <a:r>
              <a:rPr lang="en-US" altLang="zh-CN" sz="1800" dirty="0">
                <a:solidFill>
                  <a:prstClr val="black"/>
                </a:solidFill>
                <a:latin typeface="微软雅黑" panose="020B0503020204020204" pitchFamily="34" charset="-122"/>
                <a:ea typeface="微软雅黑" panose="020B0503020204020204" pitchFamily="34" charset="-122"/>
              </a:rPr>
              <a:t>)</a:t>
            </a:r>
          </a:p>
          <a:p>
            <a:pPr marL="514350" lvl="1" indent="-171450" defTabSz="685800" fontAlgn="auto">
              <a:lnSpc>
                <a:spcPct val="110000"/>
              </a:lnSpc>
              <a:spcBef>
                <a:spcPts val="450"/>
              </a:spcBef>
              <a:spcAft>
                <a:spcPts val="0"/>
              </a:spcAft>
            </a:pPr>
            <a:r>
              <a:rPr lang="zh-CN" altLang="en-US" sz="1650" dirty="0">
                <a:solidFill>
                  <a:prstClr val="black"/>
                </a:solidFill>
                <a:latin typeface="微软雅黑" panose="020B0503020204020204" pitchFamily="34" charset="-122"/>
                <a:ea typeface="微软雅黑" panose="020B0503020204020204" pitchFamily="34" charset="-122"/>
              </a:rPr>
              <a:t>第一个 </a:t>
            </a:r>
            <a:r>
              <a:rPr lang="en-US" altLang="zh-CN" sz="1650" dirty="0">
                <a:solidFill>
                  <a:prstClr val="black"/>
                </a:solidFill>
                <a:latin typeface="微软雅黑" panose="020B0503020204020204" pitchFamily="34" charset="-122"/>
                <a:ea typeface="微软雅黑" panose="020B0503020204020204" pitchFamily="34" charset="-122"/>
              </a:rPr>
              <a:t>TTL =1</a:t>
            </a:r>
          </a:p>
          <a:p>
            <a:pPr marL="514350" lvl="1" indent="-171450" defTabSz="685800" fontAlgn="auto">
              <a:lnSpc>
                <a:spcPct val="110000"/>
              </a:lnSpc>
              <a:spcBef>
                <a:spcPts val="450"/>
              </a:spcBef>
              <a:spcAft>
                <a:spcPts val="0"/>
              </a:spcAft>
            </a:pPr>
            <a:r>
              <a:rPr lang="zh-CN" altLang="en-US" sz="1650" dirty="0">
                <a:solidFill>
                  <a:prstClr val="black"/>
                </a:solidFill>
                <a:latin typeface="微软雅黑" panose="020B0503020204020204" pitchFamily="34" charset="-122"/>
                <a:ea typeface="微软雅黑" panose="020B0503020204020204" pitchFamily="34" charset="-122"/>
              </a:rPr>
              <a:t>第二个 </a:t>
            </a:r>
            <a:r>
              <a:rPr lang="en-US" altLang="zh-CN" sz="1650" dirty="0">
                <a:solidFill>
                  <a:prstClr val="black"/>
                </a:solidFill>
                <a:latin typeface="微软雅黑" panose="020B0503020204020204" pitchFamily="34" charset="-122"/>
                <a:ea typeface="微软雅黑" panose="020B0503020204020204" pitchFamily="34" charset="-122"/>
              </a:rPr>
              <a:t>TTL=2, </a:t>
            </a:r>
            <a:r>
              <a:rPr lang="zh-CN" altLang="en-US" sz="1650" dirty="0">
                <a:solidFill>
                  <a:prstClr val="black"/>
                </a:solidFill>
                <a:latin typeface="微软雅黑" panose="020B0503020204020204" pitchFamily="34" charset="-122"/>
                <a:ea typeface="微软雅黑" panose="020B0503020204020204" pitchFamily="34" charset="-122"/>
              </a:rPr>
              <a:t>等</a:t>
            </a:r>
          </a:p>
        </p:txBody>
      </p:sp>
      <p:sp>
        <p:nvSpPr>
          <p:cNvPr id="186" name="Rectangle 3"/>
          <p:cNvSpPr txBox="1">
            <a:spLocks noChangeArrowheads="1"/>
          </p:cNvSpPr>
          <p:nvPr/>
        </p:nvSpPr>
        <p:spPr>
          <a:xfrm>
            <a:off x="4723086" y="3849552"/>
            <a:ext cx="4108450" cy="1607776"/>
          </a:xfrm>
          <a:prstGeom prst="rect">
            <a:avLst/>
          </a:prstGeom>
        </p:spPr>
        <p:txBody>
          <a:bodyPr vert="horz" lIns="68580" tIns="34290" rIns="68580" bIns="34290" rtlCol="0">
            <a:normAutofit fontScale="92500"/>
          </a:bodyPr>
          <a:lstStyle>
            <a:lvl1pPr marL="228600" indent="-228600" algn="l" defTabSz="914400" rtl="0" eaLnBrk="1" latinLnBrk="0" hangingPunct="1">
              <a:lnSpc>
                <a:spcPct val="100000"/>
              </a:lnSpc>
              <a:spcBef>
                <a:spcPts val="600"/>
              </a:spcBef>
              <a:buFont typeface="Wingdings" panose="05000000000000000000"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171450" indent="-171450" defTabSz="685800" fontAlgn="auto">
              <a:lnSpc>
                <a:spcPct val="110000"/>
              </a:lnSpc>
              <a:spcBef>
                <a:spcPts val="450"/>
              </a:spcBef>
              <a:spcAft>
                <a:spcPts val="0"/>
              </a:spcAft>
            </a:pPr>
            <a:r>
              <a:rPr lang="zh-CN" altLang="en-US" sz="1800" dirty="0">
                <a:solidFill>
                  <a:prstClr val="black"/>
                </a:solidFill>
                <a:latin typeface="微软雅黑" panose="020B0503020204020204" pitchFamily="34" charset="-122"/>
                <a:ea typeface="微软雅黑" panose="020B0503020204020204" pitchFamily="34" charset="-122"/>
              </a:rPr>
              <a:t>当第</a:t>
            </a:r>
            <a:r>
              <a:rPr lang="en-US" altLang="zh-CN" sz="1800" dirty="0">
                <a:solidFill>
                  <a:prstClr val="black"/>
                </a:solidFill>
                <a:latin typeface="微软雅黑" panose="020B0503020204020204" pitchFamily="34" charset="-122"/>
                <a:ea typeface="微软雅黑" panose="020B0503020204020204" pitchFamily="34" charset="-122"/>
              </a:rPr>
              <a:t>n</a:t>
            </a:r>
            <a:r>
              <a:rPr lang="zh-CN" altLang="en-US" sz="1800" dirty="0">
                <a:solidFill>
                  <a:prstClr val="black"/>
                </a:solidFill>
                <a:latin typeface="微软雅黑" panose="020B0503020204020204" pitchFamily="34" charset="-122"/>
                <a:ea typeface="微软雅黑" panose="020B0503020204020204" pitchFamily="34" charset="-122"/>
              </a:rPr>
              <a:t>个数据报到达第</a:t>
            </a:r>
            <a:r>
              <a:rPr lang="en-US" altLang="zh-CN" sz="1800" dirty="0">
                <a:solidFill>
                  <a:prstClr val="black"/>
                </a:solidFill>
                <a:latin typeface="微软雅黑" panose="020B0503020204020204" pitchFamily="34" charset="-122"/>
                <a:ea typeface="微软雅黑" panose="020B0503020204020204" pitchFamily="34" charset="-122"/>
              </a:rPr>
              <a:t>n</a:t>
            </a:r>
            <a:r>
              <a:rPr lang="zh-CN" altLang="en-US" sz="1800" dirty="0">
                <a:solidFill>
                  <a:prstClr val="black"/>
                </a:solidFill>
                <a:latin typeface="微软雅黑" panose="020B0503020204020204" pitchFamily="34" charset="-122"/>
                <a:ea typeface="微软雅黑" panose="020B0503020204020204" pitchFamily="34" charset="-122"/>
              </a:rPr>
              <a:t>和路由器</a:t>
            </a:r>
            <a:r>
              <a:rPr lang="en-US" altLang="zh-CN" sz="1800" dirty="0">
                <a:solidFill>
                  <a:prstClr val="black"/>
                </a:solidFill>
                <a:latin typeface="微软雅黑" panose="020B0503020204020204" pitchFamily="34" charset="-122"/>
                <a:ea typeface="微软雅黑" panose="020B0503020204020204" pitchFamily="34" charset="-122"/>
              </a:rPr>
              <a:t>:</a:t>
            </a:r>
          </a:p>
          <a:p>
            <a:pPr marL="514350" lvl="1" indent="-171450" defTabSz="685800" fontAlgn="auto">
              <a:lnSpc>
                <a:spcPct val="110000"/>
              </a:lnSpc>
              <a:spcBef>
                <a:spcPts val="450"/>
              </a:spcBef>
              <a:spcAft>
                <a:spcPts val="0"/>
              </a:spcAft>
            </a:pPr>
            <a:r>
              <a:rPr lang="zh-CN" altLang="en-US" sz="1650" dirty="0">
                <a:solidFill>
                  <a:prstClr val="black"/>
                </a:solidFill>
                <a:latin typeface="微软雅黑" panose="020B0503020204020204" pitchFamily="34" charset="-122"/>
                <a:ea typeface="微软雅黑" panose="020B0503020204020204" pitchFamily="34" charset="-122"/>
              </a:rPr>
              <a:t>路由器丢弃数据报</a:t>
            </a:r>
          </a:p>
          <a:p>
            <a:pPr marL="514350" lvl="1" indent="-171450" defTabSz="685800" fontAlgn="auto">
              <a:lnSpc>
                <a:spcPct val="110000"/>
              </a:lnSpc>
              <a:spcBef>
                <a:spcPts val="450"/>
              </a:spcBef>
              <a:spcAft>
                <a:spcPts val="0"/>
              </a:spcAft>
            </a:pPr>
            <a:r>
              <a:rPr lang="zh-CN" altLang="en-US" sz="1650" dirty="0">
                <a:solidFill>
                  <a:prstClr val="black"/>
                </a:solidFill>
                <a:latin typeface="微软雅黑" panose="020B0503020204020204" pitchFamily="34" charset="-122"/>
                <a:ea typeface="微软雅黑" panose="020B0503020204020204" pitchFamily="34" charset="-122"/>
              </a:rPr>
              <a:t>并向源发送一个</a:t>
            </a:r>
            <a:r>
              <a:rPr lang="en-US" altLang="zh-CN" sz="1650" dirty="0">
                <a:solidFill>
                  <a:prstClr val="black"/>
                </a:solidFill>
                <a:latin typeface="微软雅黑" panose="020B0503020204020204" pitchFamily="34" charset="-122"/>
                <a:ea typeface="微软雅黑" panose="020B0503020204020204" pitchFamily="34" charset="-122"/>
              </a:rPr>
              <a:t>ICMP</a:t>
            </a:r>
            <a:r>
              <a:rPr lang="zh-CN" altLang="en-US" sz="1650" dirty="0">
                <a:solidFill>
                  <a:prstClr val="black"/>
                </a:solidFill>
                <a:latin typeface="微软雅黑" panose="020B0503020204020204" pitchFamily="34" charset="-122"/>
                <a:ea typeface="微软雅黑" panose="020B0503020204020204" pitchFamily="34" charset="-122"/>
              </a:rPr>
              <a:t>报文</a:t>
            </a:r>
            <a:r>
              <a:rPr lang="en-US" altLang="zh-CN" sz="1650" dirty="0">
                <a:solidFill>
                  <a:prstClr val="black"/>
                </a:solidFill>
                <a:latin typeface="微软雅黑" panose="020B0503020204020204" pitchFamily="34" charset="-122"/>
                <a:ea typeface="微软雅黑" panose="020B0503020204020204" pitchFamily="34" charset="-122"/>
              </a:rPr>
              <a:t> (</a:t>
            </a:r>
            <a:r>
              <a:rPr lang="zh-CN" altLang="en-US" sz="1650" dirty="0">
                <a:solidFill>
                  <a:prstClr val="black"/>
                </a:solidFill>
                <a:latin typeface="微软雅黑" panose="020B0503020204020204" pitchFamily="34" charset="-122"/>
                <a:ea typeface="微软雅黑" panose="020B0503020204020204" pitchFamily="34" charset="-122"/>
              </a:rPr>
              <a:t>类型 </a:t>
            </a:r>
            <a:r>
              <a:rPr lang="en-US" altLang="zh-CN" sz="1650" dirty="0">
                <a:solidFill>
                  <a:prstClr val="black"/>
                </a:solidFill>
                <a:latin typeface="微软雅黑" panose="020B0503020204020204" pitchFamily="34" charset="-122"/>
                <a:ea typeface="微软雅黑" panose="020B0503020204020204" pitchFamily="34" charset="-122"/>
              </a:rPr>
              <a:t>11, </a:t>
            </a:r>
            <a:r>
              <a:rPr lang="zh-CN" altLang="en-US" sz="1650" dirty="0">
                <a:solidFill>
                  <a:prstClr val="black"/>
                </a:solidFill>
                <a:latin typeface="微软雅黑" panose="020B0503020204020204" pitchFamily="34" charset="-122"/>
                <a:ea typeface="微软雅黑" panose="020B0503020204020204" pitchFamily="34" charset="-122"/>
              </a:rPr>
              <a:t>编码</a:t>
            </a:r>
            <a:r>
              <a:rPr lang="en-US" altLang="zh-CN" sz="1650" dirty="0">
                <a:solidFill>
                  <a:prstClr val="black"/>
                </a:solidFill>
                <a:latin typeface="微软雅黑" panose="020B0503020204020204" pitchFamily="34" charset="-122"/>
                <a:ea typeface="微软雅黑" panose="020B0503020204020204" pitchFamily="34" charset="-122"/>
              </a:rPr>
              <a:t>0)</a:t>
            </a:r>
          </a:p>
          <a:p>
            <a:pPr marL="514350" lvl="1" indent="-171450" defTabSz="685800" fontAlgn="auto">
              <a:lnSpc>
                <a:spcPct val="110000"/>
              </a:lnSpc>
              <a:spcBef>
                <a:spcPts val="450"/>
              </a:spcBef>
              <a:spcAft>
                <a:spcPts val="0"/>
              </a:spcAft>
            </a:pPr>
            <a:r>
              <a:rPr lang="zh-CN" altLang="en-US" sz="1650" dirty="0">
                <a:solidFill>
                  <a:prstClr val="black"/>
                </a:solidFill>
                <a:latin typeface="微软雅黑" panose="020B0503020204020204" pitchFamily="34" charset="-122"/>
                <a:ea typeface="微软雅黑" panose="020B0503020204020204" pitchFamily="34" charset="-122"/>
              </a:rPr>
              <a:t>报文的源</a:t>
            </a:r>
            <a:r>
              <a:rPr lang="en-US" altLang="zh-CN" sz="1650" dirty="0">
                <a:solidFill>
                  <a:prstClr val="black"/>
                </a:solidFill>
                <a:latin typeface="微软雅黑" panose="020B0503020204020204" pitchFamily="34" charset="-122"/>
                <a:ea typeface="微软雅黑" panose="020B0503020204020204" pitchFamily="34" charset="-122"/>
              </a:rPr>
              <a:t>IP</a:t>
            </a:r>
            <a:r>
              <a:rPr lang="zh-CN" altLang="en-US" sz="1650" dirty="0">
                <a:solidFill>
                  <a:prstClr val="black"/>
                </a:solidFill>
                <a:latin typeface="微软雅黑" panose="020B0503020204020204" pitchFamily="34" charset="-122"/>
                <a:ea typeface="微软雅黑" panose="020B0503020204020204" pitchFamily="34" charset="-122"/>
              </a:rPr>
              <a:t>地址就是该路由器的</a:t>
            </a:r>
            <a:r>
              <a:rPr lang="en-US" altLang="zh-CN" sz="1650" dirty="0">
                <a:solidFill>
                  <a:prstClr val="black"/>
                </a:solidFill>
                <a:latin typeface="微软雅黑" panose="020B0503020204020204" pitchFamily="34" charset="-122"/>
                <a:ea typeface="微软雅黑" panose="020B0503020204020204" pitchFamily="34" charset="-122"/>
              </a:rPr>
              <a:t>IP</a:t>
            </a:r>
            <a:r>
              <a:rPr lang="zh-CN" altLang="en-US" sz="1650" dirty="0">
                <a:solidFill>
                  <a:prstClr val="black"/>
                </a:solidFill>
                <a:latin typeface="微软雅黑" panose="020B0503020204020204" pitchFamily="34" charset="-122"/>
                <a:ea typeface="微软雅黑" panose="020B0503020204020204" pitchFamily="34" charset="-122"/>
              </a:rPr>
              <a:t>地址</a:t>
            </a:r>
          </a:p>
        </p:txBody>
      </p:sp>
      <p:sp>
        <p:nvSpPr>
          <p:cNvPr id="4" name="Slide Number Placeholder 5"/>
          <p:cNvSpPr>
            <a:spLocks noGrp="1"/>
          </p:cNvSpPr>
          <p:nvPr>
            <p:ph type="sldNum" sz="quarter" idx="12"/>
          </p:nvPr>
        </p:nvSpPr>
        <p:spPr>
          <a:xfrm>
            <a:off x="8456295" y="6475730"/>
            <a:ext cx="68707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114</a:t>
            </a:fld>
            <a:endParaRPr lang="en-US" sz="1200" dirty="0">
              <a:latin typeface="Tahoma" panose="020B060403050404020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barn(inVertical)">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179"/>
                                        </p:tgtEl>
                                        <p:attrNameLst>
                                          <p:attrName>style.visibility</p:attrName>
                                        </p:attrNameLst>
                                      </p:cBhvr>
                                      <p:to>
                                        <p:strVal val="visible"/>
                                      </p:to>
                                    </p:set>
                                  </p:childTnLst>
                                  <p:subTnLst>
                                    <p:set>
                                      <p:cBhvr override="childStyle">
                                        <p:cTn dur="1" fill="hold" display="0" masterRel="nextClick" afterEffect="1"/>
                                        <p:tgtEl>
                                          <p:spTgt spid="179"/>
                                        </p:tgtEl>
                                        <p:attrNameLst>
                                          <p:attrName>style.visibility</p:attrName>
                                        </p:attrNameLst>
                                      </p:cBhvr>
                                      <p:to>
                                        <p:strVal val="hidden"/>
                                      </p:to>
                                    </p:set>
                                  </p:subTnLst>
                                </p:cTn>
                              </p:par>
                              <p:par>
                                <p:cTn id="16" presetID="1" presetClass="entr" presetSubtype="0" fill="hold" grpId="0" nodeType="withEffect">
                                  <p:stCondLst>
                                    <p:cond delay="0"/>
                                  </p:stCondLst>
                                  <p:childTnLst>
                                    <p:set>
                                      <p:cBhvr>
                                        <p:cTn id="17" dur="1" fill="hold">
                                          <p:stCondLst>
                                            <p:cond delay="0"/>
                                          </p:stCondLst>
                                        </p:cTn>
                                        <p:tgtEl>
                                          <p:spTgt spid="180"/>
                                        </p:tgtEl>
                                        <p:attrNameLst>
                                          <p:attrName>style.visibility</p:attrName>
                                        </p:attrNameLst>
                                      </p:cBhvr>
                                      <p:to>
                                        <p:strVal val="visible"/>
                                      </p:to>
                                    </p:se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181"/>
                                        </p:tgtEl>
                                        <p:attrNameLst>
                                          <p:attrName>style.visibility</p:attrName>
                                        </p:attrNameLst>
                                      </p:cBhvr>
                                      <p:to>
                                        <p:strVal val="visible"/>
                                      </p:to>
                                    </p:set>
                                  </p:childTnLst>
                                  <p:subTnLst>
                                    <p:set>
                                      <p:cBhvr override="childStyle">
                                        <p:cTn dur="1" fill="hold" display="0" masterRel="nextClick" afterEffect="1"/>
                                        <p:tgtEl>
                                          <p:spTgt spid="181"/>
                                        </p:tgtEl>
                                        <p:attrNameLst>
                                          <p:attrName>style.visibility</p:attrName>
                                        </p:attrNameLst>
                                      </p:cBhvr>
                                      <p:to>
                                        <p:strVal val="hidden"/>
                                      </p:to>
                                    </p:set>
                                  </p:subTnLst>
                                </p:cTn>
                              </p:par>
                              <p:par>
                                <p:cTn id="22" presetID="1" presetClass="entr" presetSubtype="0" fill="hold" grpId="0" nodeType="withEffect">
                                  <p:stCondLst>
                                    <p:cond delay="0"/>
                                  </p:stCondLst>
                                  <p:childTnLst>
                                    <p:set>
                                      <p:cBhvr>
                                        <p:cTn id="23" dur="1" fill="hold">
                                          <p:stCondLst>
                                            <p:cond delay="0"/>
                                          </p:stCondLst>
                                        </p:cTn>
                                        <p:tgtEl>
                                          <p:spTgt spid="182"/>
                                        </p:tgtEl>
                                        <p:attrNameLst>
                                          <p:attrName>style.visibility</p:attrName>
                                        </p:attrNameLst>
                                      </p:cBhvr>
                                      <p:to>
                                        <p:strVal val="visible"/>
                                      </p:to>
                                    </p:set>
                                  </p:childTnLst>
                                  <p:subTnLst>
                                    <p:set>
                                      <p:cBhvr override="childStyle">
                                        <p:cTn dur="1" fill="hold" display="0" masterRel="nextClick" afterEffect="1"/>
                                        <p:tgtEl>
                                          <p:spTgt spid="182"/>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83"/>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184"/>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3" presetClass="entr" presetSubtype="10" fill="hold" nodeType="clickEffect">
                                  <p:stCondLst>
                                    <p:cond delay="0"/>
                                  </p:stCondLst>
                                  <p:childTnLst>
                                    <p:set>
                                      <p:cBhvr>
                                        <p:cTn id="33" dur="1" fill="hold">
                                          <p:stCondLst>
                                            <p:cond delay="0"/>
                                          </p:stCondLst>
                                        </p:cTn>
                                        <p:tgtEl>
                                          <p:spTgt spid="185">
                                            <p:txEl>
                                              <p:pRg st="0" end="0"/>
                                            </p:txEl>
                                          </p:spTgt>
                                        </p:tgtEl>
                                        <p:attrNameLst>
                                          <p:attrName>style.visibility</p:attrName>
                                        </p:attrNameLst>
                                      </p:cBhvr>
                                      <p:to>
                                        <p:strVal val="visible"/>
                                      </p:to>
                                    </p:set>
                                    <p:animEffect transition="in" filter="blinds(horizontal)">
                                      <p:cBhvr>
                                        <p:cTn id="34" dur="500"/>
                                        <p:tgtEl>
                                          <p:spTgt spid="185">
                                            <p:txEl>
                                              <p:pRg st="0" end="0"/>
                                            </p:txEl>
                                          </p:spTgt>
                                        </p:tgtEl>
                                      </p:cBhvr>
                                    </p:animEffect>
                                  </p:childTnLst>
                                </p:cTn>
                              </p:par>
                              <p:par>
                                <p:cTn id="35" presetID="3" presetClass="entr" presetSubtype="10" fill="hold" nodeType="withEffect">
                                  <p:stCondLst>
                                    <p:cond delay="0"/>
                                  </p:stCondLst>
                                  <p:childTnLst>
                                    <p:set>
                                      <p:cBhvr>
                                        <p:cTn id="36" dur="1" fill="hold">
                                          <p:stCondLst>
                                            <p:cond delay="0"/>
                                          </p:stCondLst>
                                        </p:cTn>
                                        <p:tgtEl>
                                          <p:spTgt spid="185">
                                            <p:txEl>
                                              <p:pRg st="1" end="1"/>
                                            </p:txEl>
                                          </p:spTgt>
                                        </p:tgtEl>
                                        <p:attrNameLst>
                                          <p:attrName>style.visibility</p:attrName>
                                        </p:attrNameLst>
                                      </p:cBhvr>
                                      <p:to>
                                        <p:strVal val="visible"/>
                                      </p:to>
                                    </p:set>
                                    <p:animEffect transition="in" filter="blinds(horizontal)">
                                      <p:cBhvr>
                                        <p:cTn id="37" dur="500"/>
                                        <p:tgtEl>
                                          <p:spTgt spid="185">
                                            <p:txEl>
                                              <p:pRg st="1" end="1"/>
                                            </p:txEl>
                                          </p:spTgt>
                                        </p:tgtEl>
                                      </p:cBhvr>
                                    </p:animEffect>
                                  </p:childTnLst>
                                </p:cTn>
                              </p:par>
                              <p:par>
                                <p:cTn id="38" presetID="3" presetClass="entr" presetSubtype="10" fill="hold" nodeType="withEffect">
                                  <p:stCondLst>
                                    <p:cond delay="0"/>
                                  </p:stCondLst>
                                  <p:childTnLst>
                                    <p:set>
                                      <p:cBhvr>
                                        <p:cTn id="39" dur="1" fill="hold">
                                          <p:stCondLst>
                                            <p:cond delay="0"/>
                                          </p:stCondLst>
                                        </p:cTn>
                                        <p:tgtEl>
                                          <p:spTgt spid="185">
                                            <p:txEl>
                                              <p:pRg st="2" end="2"/>
                                            </p:txEl>
                                          </p:spTgt>
                                        </p:tgtEl>
                                        <p:attrNameLst>
                                          <p:attrName>style.visibility</p:attrName>
                                        </p:attrNameLst>
                                      </p:cBhvr>
                                      <p:to>
                                        <p:strVal val="visible"/>
                                      </p:to>
                                    </p:set>
                                    <p:animEffect transition="in" filter="blinds(horizontal)">
                                      <p:cBhvr>
                                        <p:cTn id="40" dur="500"/>
                                        <p:tgtEl>
                                          <p:spTgt spid="185">
                                            <p:txEl>
                                              <p:pRg st="2" end="2"/>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3" presetClass="entr" presetSubtype="10" fill="hold" nodeType="clickEffect">
                                  <p:stCondLst>
                                    <p:cond delay="0"/>
                                  </p:stCondLst>
                                  <p:childTnLst>
                                    <p:set>
                                      <p:cBhvr>
                                        <p:cTn id="44" dur="1" fill="hold">
                                          <p:stCondLst>
                                            <p:cond delay="0"/>
                                          </p:stCondLst>
                                        </p:cTn>
                                        <p:tgtEl>
                                          <p:spTgt spid="186">
                                            <p:txEl>
                                              <p:pRg st="0" end="0"/>
                                            </p:txEl>
                                          </p:spTgt>
                                        </p:tgtEl>
                                        <p:attrNameLst>
                                          <p:attrName>style.visibility</p:attrName>
                                        </p:attrNameLst>
                                      </p:cBhvr>
                                      <p:to>
                                        <p:strVal val="visible"/>
                                      </p:to>
                                    </p:set>
                                    <p:animEffect transition="in" filter="blinds(horizontal)">
                                      <p:cBhvr>
                                        <p:cTn id="45" dur="500"/>
                                        <p:tgtEl>
                                          <p:spTgt spid="186">
                                            <p:txEl>
                                              <p:pRg st="0" end="0"/>
                                            </p:txEl>
                                          </p:spTgt>
                                        </p:tgtEl>
                                      </p:cBhvr>
                                    </p:animEffect>
                                  </p:childTnLst>
                                </p:cTn>
                              </p:par>
                              <p:par>
                                <p:cTn id="46" presetID="3" presetClass="entr" presetSubtype="10" fill="hold" nodeType="withEffect">
                                  <p:stCondLst>
                                    <p:cond delay="0"/>
                                  </p:stCondLst>
                                  <p:childTnLst>
                                    <p:set>
                                      <p:cBhvr>
                                        <p:cTn id="47" dur="1" fill="hold">
                                          <p:stCondLst>
                                            <p:cond delay="0"/>
                                          </p:stCondLst>
                                        </p:cTn>
                                        <p:tgtEl>
                                          <p:spTgt spid="186">
                                            <p:txEl>
                                              <p:pRg st="1" end="1"/>
                                            </p:txEl>
                                          </p:spTgt>
                                        </p:tgtEl>
                                        <p:attrNameLst>
                                          <p:attrName>style.visibility</p:attrName>
                                        </p:attrNameLst>
                                      </p:cBhvr>
                                      <p:to>
                                        <p:strVal val="visible"/>
                                      </p:to>
                                    </p:set>
                                    <p:animEffect transition="in" filter="blinds(horizontal)">
                                      <p:cBhvr>
                                        <p:cTn id="48" dur="500"/>
                                        <p:tgtEl>
                                          <p:spTgt spid="186">
                                            <p:txEl>
                                              <p:pRg st="1" end="1"/>
                                            </p:txEl>
                                          </p:spTgt>
                                        </p:tgtEl>
                                      </p:cBhvr>
                                    </p:animEffect>
                                  </p:childTnLst>
                                </p:cTn>
                              </p:par>
                              <p:par>
                                <p:cTn id="49" presetID="3" presetClass="entr" presetSubtype="10" fill="hold" nodeType="withEffect">
                                  <p:stCondLst>
                                    <p:cond delay="0"/>
                                  </p:stCondLst>
                                  <p:childTnLst>
                                    <p:set>
                                      <p:cBhvr>
                                        <p:cTn id="50" dur="1" fill="hold">
                                          <p:stCondLst>
                                            <p:cond delay="0"/>
                                          </p:stCondLst>
                                        </p:cTn>
                                        <p:tgtEl>
                                          <p:spTgt spid="186">
                                            <p:txEl>
                                              <p:pRg st="2" end="2"/>
                                            </p:txEl>
                                          </p:spTgt>
                                        </p:tgtEl>
                                        <p:attrNameLst>
                                          <p:attrName>style.visibility</p:attrName>
                                        </p:attrNameLst>
                                      </p:cBhvr>
                                      <p:to>
                                        <p:strVal val="visible"/>
                                      </p:to>
                                    </p:set>
                                    <p:animEffect transition="in" filter="blinds(horizontal)">
                                      <p:cBhvr>
                                        <p:cTn id="51" dur="500"/>
                                        <p:tgtEl>
                                          <p:spTgt spid="186">
                                            <p:txEl>
                                              <p:pRg st="2" end="2"/>
                                            </p:txEl>
                                          </p:spTgt>
                                        </p:tgtEl>
                                      </p:cBhvr>
                                    </p:animEffect>
                                  </p:childTnLst>
                                </p:cTn>
                              </p:par>
                              <p:par>
                                <p:cTn id="52" presetID="3" presetClass="entr" presetSubtype="10" fill="hold" nodeType="withEffect">
                                  <p:stCondLst>
                                    <p:cond delay="0"/>
                                  </p:stCondLst>
                                  <p:childTnLst>
                                    <p:set>
                                      <p:cBhvr>
                                        <p:cTn id="53" dur="1" fill="hold">
                                          <p:stCondLst>
                                            <p:cond delay="0"/>
                                          </p:stCondLst>
                                        </p:cTn>
                                        <p:tgtEl>
                                          <p:spTgt spid="186">
                                            <p:txEl>
                                              <p:pRg st="3" end="3"/>
                                            </p:txEl>
                                          </p:spTgt>
                                        </p:tgtEl>
                                        <p:attrNameLst>
                                          <p:attrName>style.visibility</p:attrName>
                                        </p:attrNameLst>
                                      </p:cBhvr>
                                      <p:to>
                                        <p:strVal val="visible"/>
                                      </p:to>
                                    </p:set>
                                    <p:animEffect transition="in" filter="blinds(horizontal)">
                                      <p:cBhvr>
                                        <p:cTn id="54" dur="500"/>
                                        <p:tgtEl>
                                          <p:spTgt spid="18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79" grpId="0" animBg="1"/>
      <p:bldP spid="180" grpId="0"/>
      <p:bldP spid="181" grpId="0" animBg="1"/>
      <p:bldP spid="182" grpId="0"/>
      <p:bldP spid="183" grpId="0" animBg="1"/>
      <p:bldP spid="184"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err="1">
                <a:ea typeface="宋体" pitchFamily="2" charset="-122"/>
              </a:rPr>
              <a:t>Traceroute</a:t>
            </a:r>
            <a:r>
              <a:rPr lang="zh-CN" altLang="en-US" dirty="0">
                <a:ea typeface="宋体" pitchFamily="2" charset="-122"/>
              </a:rPr>
              <a:t>和</a:t>
            </a:r>
            <a:r>
              <a:rPr lang="en-US" altLang="zh-CN" dirty="0">
                <a:ea typeface="宋体" pitchFamily="2" charset="-122"/>
              </a:rPr>
              <a:t>ICMP</a:t>
            </a:r>
            <a:endParaRPr lang="zh-CN" altLang="en-US" dirty="0"/>
          </a:p>
        </p:txBody>
      </p:sp>
      <p:sp>
        <p:nvSpPr>
          <p:cNvPr id="14" name="Rectangle 4"/>
          <p:cNvSpPr txBox="1">
            <a:spLocks noChangeArrowheads="1"/>
          </p:cNvSpPr>
          <p:nvPr/>
        </p:nvSpPr>
        <p:spPr>
          <a:xfrm>
            <a:off x="5183953" y="2517383"/>
            <a:ext cx="2857500" cy="150376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anose="05000000000000000000" pitchFamily="2" charset="2"/>
              <a:buChar char="§"/>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9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212090" indent="-212090" defTabSz="685800" fontAlgn="auto">
              <a:spcBef>
                <a:spcPts val="750"/>
              </a:spcBef>
              <a:spcAft>
                <a:spcPts val="0"/>
              </a:spcAft>
              <a:defRPr/>
            </a:pPr>
            <a:endParaRPr lang="en-US" sz="1800" dirty="0">
              <a:solidFill>
                <a:prstClr val="black"/>
              </a:solidFill>
              <a:latin typeface="等线" panose="020F0502020204030204"/>
            </a:endParaRPr>
          </a:p>
        </p:txBody>
      </p:sp>
      <p:sp>
        <p:nvSpPr>
          <p:cNvPr id="320" name="内容占位符 2"/>
          <p:cNvSpPr txBox="1"/>
          <p:nvPr/>
        </p:nvSpPr>
        <p:spPr>
          <a:xfrm>
            <a:off x="657499" y="1901205"/>
            <a:ext cx="3771900" cy="3536857"/>
          </a:xfrm>
          <a:prstGeom prst="rect">
            <a:avLst/>
          </a:prstGeom>
        </p:spPr>
        <p:txBody>
          <a:bodyPr vert="horz" lIns="68580" tIns="34290" rIns="68580" bIns="34290" rtlCol="0">
            <a:normAutofit fontScale="25000" lnSpcReduction="20000"/>
          </a:bodyPr>
          <a:lstStyle>
            <a:lvl1pPr marL="228600" indent="-228600" algn="l" defTabSz="914400" rtl="0" eaLnBrk="1" latinLnBrk="0" hangingPunct="1">
              <a:lnSpc>
                <a:spcPct val="100000"/>
              </a:lnSpc>
              <a:spcBef>
                <a:spcPts val="600"/>
              </a:spcBef>
              <a:buFont typeface="Wingdings" panose="05000000000000000000" pitchFamily="2" charset="2"/>
              <a:buChar char="Ø"/>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0" indent="0" defTabSz="685800" fontAlgn="auto">
              <a:lnSpc>
                <a:spcPct val="140000"/>
              </a:lnSpc>
              <a:spcBef>
                <a:spcPts val="0"/>
              </a:spcBef>
              <a:spcAft>
                <a:spcPts val="0"/>
              </a:spcAft>
              <a:buNone/>
            </a:pPr>
            <a:endParaRPr lang="en-US" altLang="zh-CN" sz="3000" dirty="0">
              <a:solidFill>
                <a:prstClr val="black"/>
              </a:solidFill>
            </a:endParaRPr>
          </a:p>
          <a:p>
            <a:pPr marL="0" indent="0" defTabSz="685800" fontAlgn="auto">
              <a:lnSpc>
                <a:spcPct val="140000"/>
              </a:lnSpc>
              <a:spcBef>
                <a:spcPts val="0"/>
              </a:spcBef>
              <a:spcAft>
                <a:spcPts val="0"/>
              </a:spcAft>
              <a:buNone/>
            </a:pPr>
            <a:r>
              <a:rPr lang="en-US" altLang="zh-CN" sz="4200" dirty="0">
                <a:solidFill>
                  <a:prstClr val="black"/>
                </a:solidFill>
              </a:rPr>
              <a:t>C:\&gt;tracert </a:t>
            </a:r>
            <a:r>
              <a:rPr lang="en-US" altLang="zh-CN" sz="4200" dirty="0">
                <a:solidFill>
                  <a:prstClr val="black"/>
                </a:solidFill>
                <a:hlinkClick r:id="rId3"/>
              </a:rPr>
              <a:t>www.taobao.com</a:t>
            </a:r>
            <a:endParaRPr lang="en-US" altLang="zh-CN" sz="4200" dirty="0">
              <a:solidFill>
                <a:prstClr val="black"/>
              </a:solidFill>
            </a:endParaRPr>
          </a:p>
          <a:p>
            <a:pPr marL="0" indent="0" defTabSz="685800" fontAlgn="auto">
              <a:lnSpc>
                <a:spcPct val="140000"/>
              </a:lnSpc>
              <a:spcBef>
                <a:spcPts val="0"/>
              </a:spcBef>
              <a:spcAft>
                <a:spcPts val="0"/>
              </a:spcAft>
              <a:buNone/>
            </a:pPr>
            <a:endParaRPr lang="en-US" altLang="zh-CN" sz="4200" dirty="0">
              <a:solidFill>
                <a:prstClr val="black"/>
              </a:solidFill>
            </a:endParaRPr>
          </a:p>
          <a:p>
            <a:pPr marL="0" indent="0" defTabSz="685800" fontAlgn="auto">
              <a:lnSpc>
                <a:spcPct val="140000"/>
              </a:lnSpc>
              <a:spcBef>
                <a:spcPts val="0"/>
              </a:spcBef>
              <a:spcAft>
                <a:spcPts val="0"/>
              </a:spcAft>
              <a:buNone/>
            </a:pPr>
            <a:r>
              <a:rPr lang="zh-CN" altLang="en-US" sz="4200" dirty="0">
                <a:solidFill>
                  <a:prstClr val="black"/>
                </a:solidFill>
              </a:rPr>
              <a:t>通过最多 </a:t>
            </a:r>
            <a:r>
              <a:rPr lang="en-US" altLang="zh-CN" sz="4200" dirty="0">
                <a:solidFill>
                  <a:prstClr val="black"/>
                </a:solidFill>
              </a:rPr>
              <a:t>30 </a:t>
            </a:r>
            <a:r>
              <a:rPr lang="zh-CN" altLang="en-US" sz="4200" dirty="0">
                <a:solidFill>
                  <a:prstClr val="black"/>
                </a:solidFill>
              </a:rPr>
              <a:t>个跃点跟踪</a:t>
            </a:r>
          </a:p>
          <a:p>
            <a:pPr marL="0" indent="0" defTabSz="685800" fontAlgn="auto">
              <a:lnSpc>
                <a:spcPct val="140000"/>
              </a:lnSpc>
              <a:spcBef>
                <a:spcPts val="0"/>
              </a:spcBef>
              <a:spcAft>
                <a:spcPts val="0"/>
              </a:spcAft>
              <a:buNone/>
            </a:pPr>
            <a:r>
              <a:rPr lang="zh-CN" altLang="en-US" sz="4200" dirty="0">
                <a:solidFill>
                  <a:prstClr val="black"/>
                </a:solidFill>
              </a:rPr>
              <a:t>到 </a:t>
            </a:r>
            <a:r>
              <a:rPr lang="en-US" altLang="zh-CN" sz="4200" dirty="0">
                <a:solidFill>
                  <a:prstClr val="black"/>
                </a:solidFill>
              </a:rPr>
              <a:t>www.taobao.com.danuoyi.tbcache.com [27.211.197.171] </a:t>
            </a:r>
            <a:r>
              <a:rPr lang="zh-CN" altLang="en-US" sz="4200" dirty="0">
                <a:solidFill>
                  <a:prstClr val="black"/>
                </a:solidFill>
              </a:rPr>
              <a:t>的路由</a:t>
            </a:r>
            <a:r>
              <a:rPr lang="en-US" altLang="zh-CN" sz="4200" dirty="0">
                <a:solidFill>
                  <a:prstClr val="black"/>
                </a:solidFill>
              </a:rPr>
              <a:t>:</a:t>
            </a:r>
          </a:p>
          <a:p>
            <a:pPr marL="0" indent="0" defTabSz="685800" fontAlgn="auto">
              <a:lnSpc>
                <a:spcPct val="140000"/>
              </a:lnSpc>
              <a:spcBef>
                <a:spcPts val="0"/>
              </a:spcBef>
              <a:spcAft>
                <a:spcPts val="0"/>
              </a:spcAft>
              <a:buNone/>
            </a:pPr>
            <a:endParaRPr lang="en-US" altLang="zh-CN" sz="4200" dirty="0">
              <a:solidFill>
                <a:prstClr val="black"/>
              </a:solidFill>
            </a:endParaRPr>
          </a:p>
          <a:p>
            <a:pPr marL="0" indent="0" defTabSz="685800" fontAlgn="auto">
              <a:lnSpc>
                <a:spcPct val="140000"/>
              </a:lnSpc>
              <a:spcBef>
                <a:spcPts val="0"/>
              </a:spcBef>
              <a:spcAft>
                <a:spcPts val="0"/>
              </a:spcAft>
              <a:buNone/>
            </a:pPr>
            <a:r>
              <a:rPr lang="en-US" altLang="zh-CN" sz="4200" dirty="0">
                <a:solidFill>
                  <a:prstClr val="black"/>
                </a:solidFill>
              </a:rPr>
              <a:t>  1     3 </a:t>
            </a:r>
            <a:r>
              <a:rPr lang="en-US" altLang="zh-CN" sz="4200" dirty="0" err="1">
                <a:solidFill>
                  <a:prstClr val="black"/>
                </a:solidFill>
              </a:rPr>
              <a:t>ms</a:t>
            </a:r>
            <a:r>
              <a:rPr lang="en-US" altLang="zh-CN" sz="4200" dirty="0">
                <a:solidFill>
                  <a:prstClr val="black"/>
                </a:solidFill>
              </a:rPr>
              <a:t>     2 </a:t>
            </a:r>
            <a:r>
              <a:rPr lang="en-US" altLang="zh-CN" sz="4200" dirty="0" err="1">
                <a:solidFill>
                  <a:prstClr val="black"/>
                </a:solidFill>
              </a:rPr>
              <a:t>ms</a:t>
            </a:r>
            <a:r>
              <a:rPr lang="en-US" altLang="zh-CN" sz="4200" dirty="0">
                <a:solidFill>
                  <a:prstClr val="black"/>
                </a:solidFill>
              </a:rPr>
              <a:t>     4 </a:t>
            </a:r>
            <a:r>
              <a:rPr lang="en-US" altLang="zh-CN" sz="4200" dirty="0" err="1">
                <a:solidFill>
                  <a:prstClr val="black"/>
                </a:solidFill>
              </a:rPr>
              <a:t>ms</a:t>
            </a:r>
            <a:r>
              <a:rPr lang="en-US" altLang="zh-CN" sz="4200" dirty="0">
                <a:solidFill>
                  <a:prstClr val="black"/>
                </a:solidFill>
              </a:rPr>
              <a:t>  192.168.3.1</a:t>
            </a:r>
          </a:p>
          <a:p>
            <a:pPr marL="0" indent="0" defTabSz="685800" fontAlgn="auto">
              <a:lnSpc>
                <a:spcPct val="140000"/>
              </a:lnSpc>
              <a:spcBef>
                <a:spcPts val="0"/>
              </a:spcBef>
              <a:spcAft>
                <a:spcPts val="0"/>
              </a:spcAft>
              <a:buNone/>
            </a:pPr>
            <a:r>
              <a:rPr lang="en-US" altLang="zh-CN" sz="4200" dirty="0">
                <a:solidFill>
                  <a:prstClr val="black"/>
                </a:solidFill>
              </a:rPr>
              <a:t>  2     3 </a:t>
            </a:r>
            <a:r>
              <a:rPr lang="en-US" altLang="zh-CN" sz="4200" dirty="0" err="1">
                <a:solidFill>
                  <a:prstClr val="black"/>
                </a:solidFill>
              </a:rPr>
              <a:t>ms</a:t>
            </a:r>
            <a:r>
              <a:rPr lang="en-US" altLang="zh-CN" sz="4200" dirty="0">
                <a:solidFill>
                  <a:prstClr val="black"/>
                </a:solidFill>
              </a:rPr>
              <a:t>     6 </a:t>
            </a:r>
            <a:r>
              <a:rPr lang="en-US" altLang="zh-CN" sz="4200" dirty="0" err="1">
                <a:solidFill>
                  <a:prstClr val="black"/>
                </a:solidFill>
              </a:rPr>
              <a:t>ms</a:t>
            </a:r>
            <a:r>
              <a:rPr lang="en-US" altLang="zh-CN" sz="4200" dirty="0">
                <a:solidFill>
                  <a:prstClr val="black"/>
                </a:solidFill>
              </a:rPr>
              <a:t>     3 </a:t>
            </a:r>
            <a:r>
              <a:rPr lang="en-US" altLang="zh-CN" sz="4200" dirty="0" err="1">
                <a:solidFill>
                  <a:prstClr val="black"/>
                </a:solidFill>
              </a:rPr>
              <a:t>ms</a:t>
            </a:r>
            <a:r>
              <a:rPr lang="en-US" altLang="zh-CN" sz="4200" dirty="0">
                <a:solidFill>
                  <a:prstClr val="black"/>
                </a:solidFill>
              </a:rPr>
              <a:t>  SMBSHARE [192.168.1.1]</a:t>
            </a:r>
          </a:p>
          <a:p>
            <a:pPr marL="0" indent="0" defTabSz="685800" fontAlgn="auto">
              <a:lnSpc>
                <a:spcPct val="140000"/>
              </a:lnSpc>
              <a:spcBef>
                <a:spcPts val="0"/>
              </a:spcBef>
              <a:spcAft>
                <a:spcPts val="0"/>
              </a:spcAft>
              <a:buNone/>
            </a:pPr>
            <a:r>
              <a:rPr lang="en-US" altLang="zh-CN" sz="4200" dirty="0">
                <a:solidFill>
                  <a:prstClr val="black"/>
                </a:solidFill>
              </a:rPr>
              <a:t>  3     6 </a:t>
            </a:r>
            <a:r>
              <a:rPr lang="en-US" altLang="zh-CN" sz="4200" dirty="0" err="1">
                <a:solidFill>
                  <a:prstClr val="black"/>
                </a:solidFill>
              </a:rPr>
              <a:t>ms</a:t>
            </a:r>
            <a:r>
              <a:rPr lang="en-US" altLang="zh-CN" sz="4200" dirty="0">
                <a:solidFill>
                  <a:prstClr val="black"/>
                </a:solidFill>
              </a:rPr>
              <a:t>     9 </a:t>
            </a:r>
            <a:r>
              <a:rPr lang="en-US" altLang="zh-CN" sz="4200" dirty="0" err="1">
                <a:solidFill>
                  <a:prstClr val="black"/>
                </a:solidFill>
              </a:rPr>
              <a:t>ms</a:t>
            </a:r>
            <a:r>
              <a:rPr lang="en-US" altLang="zh-CN" sz="4200" dirty="0">
                <a:solidFill>
                  <a:prstClr val="black"/>
                </a:solidFill>
              </a:rPr>
              <a:t>     5 </a:t>
            </a:r>
            <a:r>
              <a:rPr lang="en-US" altLang="zh-CN" sz="4200" dirty="0" err="1">
                <a:solidFill>
                  <a:prstClr val="black"/>
                </a:solidFill>
              </a:rPr>
              <a:t>ms</a:t>
            </a:r>
            <a:r>
              <a:rPr lang="en-US" altLang="zh-CN" sz="4200" dirty="0">
                <a:solidFill>
                  <a:prstClr val="black"/>
                </a:solidFill>
              </a:rPr>
              <a:t>  27.215.136.1</a:t>
            </a:r>
          </a:p>
          <a:p>
            <a:pPr marL="0" indent="0" defTabSz="685800" fontAlgn="auto">
              <a:lnSpc>
                <a:spcPct val="140000"/>
              </a:lnSpc>
              <a:spcBef>
                <a:spcPts val="0"/>
              </a:spcBef>
              <a:spcAft>
                <a:spcPts val="0"/>
              </a:spcAft>
              <a:buNone/>
            </a:pPr>
            <a:r>
              <a:rPr lang="en-US" altLang="zh-CN" sz="4200" dirty="0">
                <a:solidFill>
                  <a:prstClr val="black"/>
                </a:solidFill>
              </a:rPr>
              <a:t>  4     6 </a:t>
            </a:r>
            <a:r>
              <a:rPr lang="en-US" altLang="zh-CN" sz="4200" dirty="0" err="1">
                <a:solidFill>
                  <a:prstClr val="black"/>
                </a:solidFill>
              </a:rPr>
              <a:t>ms</a:t>
            </a:r>
            <a:r>
              <a:rPr lang="en-US" altLang="zh-CN" sz="4200" dirty="0">
                <a:solidFill>
                  <a:prstClr val="black"/>
                </a:solidFill>
              </a:rPr>
              <a:t>    11 </a:t>
            </a:r>
            <a:r>
              <a:rPr lang="en-US" altLang="zh-CN" sz="4200" dirty="0" err="1">
                <a:solidFill>
                  <a:prstClr val="black"/>
                </a:solidFill>
              </a:rPr>
              <a:t>ms</a:t>
            </a:r>
            <a:r>
              <a:rPr lang="en-US" altLang="zh-CN" sz="4200" dirty="0">
                <a:solidFill>
                  <a:prstClr val="black"/>
                </a:solidFill>
              </a:rPr>
              <a:t>     7 </a:t>
            </a:r>
            <a:r>
              <a:rPr lang="en-US" altLang="zh-CN" sz="4200" dirty="0" err="1">
                <a:solidFill>
                  <a:prstClr val="black"/>
                </a:solidFill>
              </a:rPr>
              <a:t>ms</a:t>
            </a:r>
            <a:r>
              <a:rPr lang="en-US" altLang="zh-CN" sz="4200" dirty="0">
                <a:solidFill>
                  <a:prstClr val="black"/>
                </a:solidFill>
              </a:rPr>
              <a:t>  61.162.199.89</a:t>
            </a:r>
          </a:p>
          <a:p>
            <a:pPr marL="0" indent="0" defTabSz="685800" fontAlgn="auto">
              <a:lnSpc>
                <a:spcPct val="140000"/>
              </a:lnSpc>
              <a:spcBef>
                <a:spcPts val="0"/>
              </a:spcBef>
              <a:spcAft>
                <a:spcPts val="0"/>
              </a:spcAft>
              <a:buNone/>
            </a:pPr>
            <a:r>
              <a:rPr lang="en-US" altLang="zh-CN" sz="4200" dirty="0">
                <a:solidFill>
                  <a:prstClr val="black"/>
                </a:solidFill>
              </a:rPr>
              <a:t>  5     7 </a:t>
            </a:r>
            <a:r>
              <a:rPr lang="en-US" altLang="zh-CN" sz="4200" dirty="0" err="1">
                <a:solidFill>
                  <a:prstClr val="black"/>
                </a:solidFill>
              </a:rPr>
              <a:t>ms</a:t>
            </a:r>
            <a:r>
              <a:rPr lang="en-US" altLang="zh-CN" sz="4200" dirty="0">
                <a:solidFill>
                  <a:prstClr val="black"/>
                </a:solidFill>
              </a:rPr>
              <a:t>    18 </a:t>
            </a:r>
            <a:r>
              <a:rPr lang="en-US" altLang="zh-CN" sz="4200" dirty="0" err="1">
                <a:solidFill>
                  <a:prstClr val="black"/>
                </a:solidFill>
              </a:rPr>
              <a:t>ms</a:t>
            </a:r>
            <a:r>
              <a:rPr lang="en-US" altLang="zh-CN" sz="4200" dirty="0">
                <a:solidFill>
                  <a:prstClr val="black"/>
                </a:solidFill>
              </a:rPr>
              <a:t>   21 </a:t>
            </a:r>
            <a:r>
              <a:rPr lang="en-US" altLang="zh-CN" sz="4200" dirty="0" err="1">
                <a:solidFill>
                  <a:prstClr val="black"/>
                </a:solidFill>
              </a:rPr>
              <a:t>ms</a:t>
            </a:r>
            <a:r>
              <a:rPr lang="en-US" altLang="zh-CN" sz="4200" dirty="0">
                <a:solidFill>
                  <a:prstClr val="black"/>
                </a:solidFill>
              </a:rPr>
              <a:t>   61.162.199.9</a:t>
            </a:r>
          </a:p>
          <a:p>
            <a:pPr marL="0" indent="0" defTabSz="685800" fontAlgn="auto">
              <a:lnSpc>
                <a:spcPct val="140000"/>
              </a:lnSpc>
              <a:spcBef>
                <a:spcPts val="0"/>
              </a:spcBef>
              <a:spcAft>
                <a:spcPts val="0"/>
              </a:spcAft>
              <a:buNone/>
            </a:pPr>
            <a:r>
              <a:rPr lang="en-US" altLang="zh-CN" sz="4200" dirty="0">
                <a:solidFill>
                  <a:prstClr val="black"/>
                </a:solidFill>
              </a:rPr>
              <a:t>  6    23 </a:t>
            </a:r>
            <a:r>
              <a:rPr lang="en-US" altLang="zh-CN" sz="4200" dirty="0" err="1">
                <a:solidFill>
                  <a:prstClr val="black"/>
                </a:solidFill>
              </a:rPr>
              <a:t>ms</a:t>
            </a:r>
            <a:r>
              <a:rPr lang="en-US" altLang="zh-CN" sz="4200" dirty="0">
                <a:solidFill>
                  <a:prstClr val="black"/>
                </a:solidFill>
              </a:rPr>
              <a:t>    29 </a:t>
            </a:r>
            <a:r>
              <a:rPr lang="en-US" altLang="zh-CN" sz="4200" dirty="0" err="1">
                <a:solidFill>
                  <a:prstClr val="black"/>
                </a:solidFill>
              </a:rPr>
              <a:t>ms</a:t>
            </a:r>
            <a:r>
              <a:rPr lang="en-US" altLang="zh-CN" sz="4200" dirty="0">
                <a:solidFill>
                  <a:prstClr val="black"/>
                </a:solidFill>
              </a:rPr>
              <a:t>  22 </a:t>
            </a:r>
            <a:r>
              <a:rPr lang="en-US" altLang="zh-CN" sz="4200" dirty="0" err="1">
                <a:solidFill>
                  <a:prstClr val="black"/>
                </a:solidFill>
              </a:rPr>
              <a:t>ms</a:t>
            </a:r>
            <a:r>
              <a:rPr lang="en-US" altLang="zh-CN" sz="4200" dirty="0">
                <a:solidFill>
                  <a:prstClr val="black"/>
                </a:solidFill>
              </a:rPr>
              <a:t>   61.156.223.69</a:t>
            </a:r>
          </a:p>
          <a:p>
            <a:pPr marL="0" indent="0" defTabSz="685800" fontAlgn="auto">
              <a:lnSpc>
                <a:spcPct val="140000"/>
              </a:lnSpc>
              <a:spcBef>
                <a:spcPts val="0"/>
              </a:spcBef>
              <a:spcAft>
                <a:spcPts val="0"/>
              </a:spcAft>
              <a:buNone/>
            </a:pPr>
            <a:r>
              <a:rPr lang="en-US" altLang="zh-CN" sz="4200" dirty="0">
                <a:solidFill>
                  <a:prstClr val="black"/>
                </a:solidFill>
              </a:rPr>
              <a:t>  7    28 </a:t>
            </a:r>
            <a:r>
              <a:rPr lang="en-US" altLang="zh-CN" sz="4200" dirty="0" err="1">
                <a:solidFill>
                  <a:prstClr val="black"/>
                </a:solidFill>
              </a:rPr>
              <a:t>ms</a:t>
            </a:r>
            <a:r>
              <a:rPr lang="en-US" altLang="zh-CN" sz="4200" dirty="0">
                <a:solidFill>
                  <a:prstClr val="black"/>
                </a:solidFill>
              </a:rPr>
              <a:t>    31 </a:t>
            </a:r>
            <a:r>
              <a:rPr lang="en-US" altLang="zh-CN" sz="4200" dirty="0" err="1">
                <a:solidFill>
                  <a:prstClr val="black"/>
                </a:solidFill>
              </a:rPr>
              <a:t>ms</a:t>
            </a:r>
            <a:r>
              <a:rPr lang="en-US" altLang="zh-CN" sz="4200" dirty="0">
                <a:solidFill>
                  <a:prstClr val="black"/>
                </a:solidFill>
              </a:rPr>
              <a:t>  20 </a:t>
            </a:r>
            <a:r>
              <a:rPr lang="en-US" altLang="zh-CN" sz="4200" dirty="0" err="1">
                <a:solidFill>
                  <a:prstClr val="black"/>
                </a:solidFill>
              </a:rPr>
              <a:t>ms</a:t>
            </a:r>
            <a:r>
              <a:rPr lang="en-US" altLang="zh-CN" sz="4200" dirty="0">
                <a:solidFill>
                  <a:prstClr val="black"/>
                </a:solidFill>
              </a:rPr>
              <a:t>  112.230.160.54</a:t>
            </a:r>
          </a:p>
          <a:p>
            <a:pPr marL="0" indent="0" defTabSz="685800" fontAlgn="auto">
              <a:lnSpc>
                <a:spcPct val="140000"/>
              </a:lnSpc>
              <a:spcBef>
                <a:spcPts val="0"/>
              </a:spcBef>
              <a:spcAft>
                <a:spcPts val="0"/>
              </a:spcAft>
              <a:buNone/>
            </a:pPr>
            <a:r>
              <a:rPr lang="en-US" altLang="zh-CN" sz="4200" dirty="0">
                <a:solidFill>
                  <a:prstClr val="black"/>
                </a:solidFill>
              </a:rPr>
              <a:t>  8    19 </a:t>
            </a:r>
            <a:r>
              <a:rPr lang="en-US" altLang="zh-CN" sz="4200" dirty="0" err="1">
                <a:solidFill>
                  <a:prstClr val="black"/>
                </a:solidFill>
              </a:rPr>
              <a:t>ms</a:t>
            </a:r>
            <a:r>
              <a:rPr lang="en-US" altLang="zh-CN" sz="4200" dirty="0">
                <a:solidFill>
                  <a:prstClr val="black"/>
                </a:solidFill>
              </a:rPr>
              <a:t>    27 </a:t>
            </a:r>
            <a:r>
              <a:rPr lang="en-US" altLang="zh-CN" sz="4200" dirty="0" err="1">
                <a:solidFill>
                  <a:prstClr val="black"/>
                </a:solidFill>
              </a:rPr>
              <a:t>ms</a:t>
            </a:r>
            <a:r>
              <a:rPr lang="en-US" altLang="zh-CN" sz="4200" dirty="0">
                <a:solidFill>
                  <a:prstClr val="black"/>
                </a:solidFill>
              </a:rPr>
              <a:t>  36 </a:t>
            </a:r>
            <a:r>
              <a:rPr lang="en-US" altLang="zh-CN" sz="4200" dirty="0" err="1">
                <a:solidFill>
                  <a:prstClr val="black"/>
                </a:solidFill>
              </a:rPr>
              <a:t>ms</a:t>
            </a:r>
            <a:r>
              <a:rPr lang="en-US" altLang="zh-CN" sz="4200" dirty="0">
                <a:solidFill>
                  <a:prstClr val="black"/>
                </a:solidFill>
              </a:rPr>
              <a:t>   60.208.64.230</a:t>
            </a:r>
          </a:p>
          <a:p>
            <a:pPr marL="0" indent="0" defTabSz="685800" fontAlgn="auto">
              <a:lnSpc>
                <a:spcPct val="140000"/>
              </a:lnSpc>
              <a:spcBef>
                <a:spcPts val="0"/>
              </a:spcBef>
              <a:spcAft>
                <a:spcPts val="0"/>
              </a:spcAft>
              <a:buNone/>
            </a:pPr>
            <a:r>
              <a:rPr lang="en-US" altLang="zh-CN" sz="4200" dirty="0">
                <a:solidFill>
                  <a:prstClr val="black"/>
                </a:solidFill>
              </a:rPr>
              <a:t>  9    15 </a:t>
            </a:r>
            <a:r>
              <a:rPr lang="en-US" altLang="zh-CN" sz="4200" dirty="0" err="1">
                <a:solidFill>
                  <a:prstClr val="black"/>
                </a:solidFill>
              </a:rPr>
              <a:t>ms</a:t>
            </a:r>
            <a:r>
              <a:rPr lang="en-US" altLang="zh-CN" sz="4200" dirty="0">
                <a:solidFill>
                  <a:prstClr val="black"/>
                </a:solidFill>
              </a:rPr>
              <a:t>    15 </a:t>
            </a:r>
            <a:r>
              <a:rPr lang="en-US" altLang="zh-CN" sz="4200" dirty="0" err="1">
                <a:solidFill>
                  <a:prstClr val="black"/>
                </a:solidFill>
              </a:rPr>
              <a:t>ms</a:t>
            </a:r>
            <a:r>
              <a:rPr lang="en-US" altLang="zh-CN" sz="4200" dirty="0">
                <a:solidFill>
                  <a:prstClr val="black"/>
                </a:solidFill>
              </a:rPr>
              <a:t>  16 </a:t>
            </a:r>
            <a:r>
              <a:rPr lang="en-US" altLang="zh-CN" sz="4200" dirty="0" err="1">
                <a:solidFill>
                  <a:prstClr val="black"/>
                </a:solidFill>
              </a:rPr>
              <a:t>ms</a:t>
            </a:r>
            <a:r>
              <a:rPr lang="en-US" altLang="zh-CN" sz="4200" dirty="0">
                <a:solidFill>
                  <a:prstClr val="black"/>
                </a:solidFill>
              </a:rPr>
              <a:t>  119.164.254.86</a:t>
            </a:r>
          </a:p>
          <a:p>
            <a:pPr marL="0" indent="0" defTabSz="685800" fontAlgn="auto">
              <a:lnSpc>
                <a:spcPct val="140000"/>
              </a:lnSpc>
              <a:spcBef>
                <a:spcPts val="0"/>
              </a:spcBef>
              <a:spcAft>
                <a:spcPts val="0"/>
              </a:spcAft>
              <a:buNone/>
            </a:pPr>
            <a:r>
              <a:rPr lang="en-US" altLang="zh-CN" sz="4200" dirty="0">
                <a:solidFill>
                  <a:prstClr val="black"/>
                </a:solidFill>
              </a:rPr>
              <a:t> 10   19 </a:t>
            </a:r>
            <a:r>
              <a:rPr lang="en-US" altLang="zh-CN" sz="4200" dirty="0" err="1">
                <a:solidFill>
                  <a:prstClr val="black"/>
                </a:solidFill>
              </a:rPr>
              <a:t>ms</a:t>
            </a:r>
            <a:r>
              <a:rPr lang="en-US" altLang="zh-CN" sz="4200" dirty="0">
                <a:solidFill>
                  <a:prstClr val="black"/>
                </a:solidFill>
              </a:rPr>
              <a:t>    13 </a:t>
            </a:r>
            <a:r>
              <a:rPr lang="en-US" altLang="zh-CN" sz="4200" dirty="0" err="1">
                <a:solidFill>
                  <a:prstClr val="black"/>
                </a:solidFill>
              </a:rPr>
              <a:t>ms</a:t>
            </a:r>
            <a:r>
              <a:rPr lang="en-US" altLang="zh-CN" sz="4200" dirty="0">
                <a:solidFill>
                  <a:prstClr val="black"/>
                </a:solidFill>
              </a:rPr>
              <a:t>  13 </a:t>
            </a:r>
            <a:r>
              <a:rPr lang="en-US" altLang="zh-CN" sz="4200" dirty="0" err="1">
                <a:solidFill>
                  <a:prstClr val="black"/>
                </a:solidFill>
              </a:rPr>
              <a:t>ms</a:t>
            </a:r>
            <a:r>
              <a:rPr lang="en-US" altLang="zh-CN" sz="4200" dirty="0">
                <a:solidFill>
                  <a:prstClr val="black"/>
                </a:solidFill>
              </a:rPr>
              <a:t>  27.211.197.171</a:t>
            </a:r>
          </a:p>
          <a:p>
            <a:pPr marL="0" indent="0" defTabSz="685800" fontAlgn="auto">
              <a:lnSpc>
                <a:spcPct val="140000"/>
              </a:lnSpc>
              <a:spcBef>
                <a:spcPts val="0"/>
              </a:spcBef>
              <a:spcAft>
                <a:spcPts val="0"/>
              </a:spcAft>
              <a:buNone/>
            </a:pPr>
            <a:endParaRPr lang="en-US" altLang="zh-CN" sz="4200" dirty="0">
              <a:solidFill>
                <a:prstClr val="black"/>
              </a:solidFill>
            </a:endParaRPr>
          </a:p>
          <a:p>
            <a:pPr marL="0" indent="0" defTabSz="685800" fontAlgn="auto">
              <a:lnSpc>
                <a:spcPct val="140000"/>
              </a:lnSpc>
              <a:spcBef>
                <a:spcPts val="0"/>
              </a:spcBef>
              <a:spcAft>
                <a:spcPts val="0"/>
              </a:spcAft>
              <a:buNone/>
            </a:pPr>
            <a:r>
              <a:rPr lang="zh-CN" altLang="en-US" sz="4200" dirty="0">
                <a:solidFill>
                  <a:prstClr val="black"/>
                </a:solidFill>
              </a:rPr>
              <a:t>跟踪完成。</a:t>
            </a:r>
          </a:p>
          <a:p>
            <a:pPr marL="171450" indent="-171450" defTabSz="685800" fontAlgn="auto">
              <a:spcBef>
                <a:spcPts val="450"/>
              </a:spcBef>
              <a:spcAft>
                <a:spcPts val="0"/>
              </a:spcAft>
            </a:pPr>
            <a:endParaRPr lang="zh-CN" altLang="en-US" sz="2100" dirty="0">
              <a:solidFill>
                <a:prstClr val="black"/>
              </a:solidFill>
            </a:endParaRPr>
          </a:p>
          <a:p>
            <a:pPr marL="0" indent="0" defTabSz="685800" fontAlgn="auto">
              <a:spcBef>
                <a:spcPts val="450"/>
              </a:spcBef>
              <a:spcAft>
                <a:spcPts val="0"/>
              </a:spcAft>
              <a:buNone/>
            </a:pPr>
            <a:endParaRPr lang="zh-CN" altLang="en-US" sz="2100" dirty="0">
              <a:solidFill>
                <a:prstClr val="black"/>
              </a:solidFill>
            </a:endParaRPr>
          </a:p>
        </p:txBody>
      </p:sp>
      <p:sp>
        <p:nvSpPr>
          <p:cNvPr id="98" name="Rectangle 4"/>
          <p:cNvSpPr txBox="1">
            <a:spLocks noChangeArrowheads="1"/>
          </p:cNvSpPr>
          <p:nvPr/>
        </p:nvSpPr>
        <p:spPr>
          <a:xfrm>
            <a:off x="4743422" y="2269191"/>
            <a:ext cx="3738562" cy="3257551"/>
          </a:xfrm>
          <a:prstGeom prst="rect">
            <a:avLst/>
          </a:prstGeom>
        </p:spPr>
        <p:txBody>
          <a:bodyPr/>
          <a:lstStyle>
            <a:lvl1pPr marL="228600" indent="-228600" algn="l" defTabSz="914400" rtl="0" eaLnBrk="1" latinLnBrk="0" hangingPunct="1">
              <a:lnSpc>
                <a:spcPct val="100000"/>
              </a:lnSpc>
              <a:spcBef>
                <a:spcPts val="600"/>
              </a:spcBef>
              <a:buFont typeface="Arial" panose="020B0604020202090204" pitchFamily="34" charset="0"/>
              <a:buChar char="•"/>
              <a:defRPr sz="2800" kern="1200">
                <a:solidFill>
                  <a:schemeClr val="tx1"/>
                </a:solidFill>
                <a:latin typeface="Microsoft YaHei" panose="020B0503020204020204" pitchFamily="34" charset="-122"/>
                <a:ea typeface="Microsoft YaHei" panose="020B0503020204020204" pitchFamily="34" charset="-122"/>
                <a:cs typeface="+mn-cs"/>
              </a:defRPr>
            </a:lvl1pPr>
            <a:lvl2pPr marL="685800" indent="-228600" algn="l" defTabSz="914400" rtl="0" eaLnBrk="1" latinLnBrk="0" hangingPunct="1">
              <a:lnSpc>
                <a:spcPct val="100000"/>
              </a:lnSpc>
              <a:spcBef>
                <a:spcPts val="600"/>
              </a:spcBef>
              <a:buFont typeface="Arial" panose="020B0604020202090204" pitchFamily="34" charset="0"/>
              <a:buChar char="•"/>
              <a:defRPr sz="2400" kern="1200">
                <a:solidFill>
                  <a:schemeClr val="tx1"/>
                </a:solidFill>
                <a:latin typeface="Microsoft YaHei" panose="020B0503020204020204" pitchFamily="34" charset="-122"/>
                <a:ea typeface="Microsoft YaHei" panose="020B0503020204020204" pitchFamily="34" charset="-122"/>
                <a:cs typeface="+mn-cs"/>
              </a:defRPr>
            </a:lvl2pPr>
            <a:lvl3pPr marL="1143000" indent="-228600" algn="l" defTabSz="914400" rtl="0" eaLnBrk="1" latinLnBrk="0" hangingPunct="1">
              <a:lnSpc>
                <a:spcPct val="100000"/>
              </a:lnSpc>
              <a:spcBef>
                <a:spcPts val="600"/>
              </a:spcBef>
              <a:buFont typeface="Arial" panose="020B0604020202090204" pitchFamily="34" charset="0"/>
              <a:buChar char="•"/>
              <a:defRPr sz="2000" kern="1200">
                <a:solidFill>
                  <a:schemeClr val="tx1"/>
                </a:solidFill>
                <a:latin typeface="Microsoft YaHei" panose="020B0503020204020204" pitchFamily="34" charset="-122"/>
                <a:ea typeface="Microsoft YaHei" panose="020B0503020204020204" pitchFamily="34" charset="-122"/>
                <a:cs typeface="+mn-cs"/>
              </a:defRPr>
            </a:lvl3pPr>
            <a:lvl4pPr marL="16002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4pPr>
            <a:lvl5pPr marL="2057400" indent="-228600" algn="l" defTabSz="914400" rtl="0" eaLnBrk="1" latinLnBrk="0" hangingPunct="1">
              <a:lnSpc>
                <a:spcPct val="100000"/>
              </a:lnSpc>
              <a:spcBef>
                <a:spcPts val="600"/>
              </a:spcBef>
              <a:buFont typeface="Arial" panose="020B0604020202090204" pitchFamily="34" charset="0"/>
              <a:buChar char="•"/>
              <a:defRPr sz="1800" kern="1200">
                <a:solidFill>
                  <a:schemeClr val="tx1"/>
                </a:solidFill>
                <a:latin typeface="Microsoft YaHei" panose="020B0503020204020204" pitchFamily="34" charset="-122"/>
                <a:ea typeface="Microsoft YaHei"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171450" indent="-171450" defTabSz="685800" fontAlgn="auto">
              <a:lnSpc>
                <a:spcPct val="110000"/>
              </a:lnSpc>
              <a:spcBef>
                <a:spcPts val="450"/>
              </a:spcBef>
              <a:spcAft>
                <a:spcPts val="0"/>
              </a:spcAft>
              <a:buFont typeface="Wingdings" panose="05000000000000000000" pitchFamily="2" charset="2"/>
              <a:buChar char="Ø"/>
            </a:pPr>
            <a:r>
              <a:rPr lang="zh-CN" altLang="en-US" sz="1800" dirty="0">
                <a:solidFill>
                  <a:prstClr val="black"/>
                </a:solidFill>
                <a:latin typeface="微软雅黑" panose="020B0503020204020204" pitchFamily="34" charset="-122"/>
                <a:ea typeface="微软雅黑" panose="020B0503020204020204" pitchFamily="34" charset="-122"/>
              </a:rPr>
              <a:t>当源收到</a:t>
            </a:r>
            <a:r>
              <a:rPr lang="en-US" altLang="zh-CN" sz="1800" dirty="0">
                <a:solidFill>
                  <a:prstClr val="black"/>
                </a:solidFill>
                <a:latin typeface="微软雅黑" panose="020B0503020204020204" pitchFamily="34" charset="-122"/>
                <a:ea typeface="微软雅黑" panose="020B0503020204020204" pitchFamily="34" charset="-122"/>
              </a:rPr>
              <a:t>ICMP</a:t>
            </a:r>
            <a:r>
              <a:rPr lang="zh-CN" altLang="en-US" sz="1800" dirty="0">
                <a:solidFill>
                  <a:prstClr val="black"/>
                </a:solidFill>
                <a:latin typeface="微软雅黑" panose="020B0503020204020204" pitchFamily="34" charset="-122"/>
                <a:ea typeface="微软雅黑" panose="020B0503020204020204" pitchFamily="34" charset="-122"/>
              </a:rPr>
              <a:t>报文，计算 </a:t>
            </a:r>
            <a:r>
              <a:rPr lang="en-US" altLang="zh-CN" sz="1800" dirty="0">
                <a:solidFill>
                  <a:prstClr val="black"/>
                </a:solidFill>
                <a:latin typeface="微软雅黑" panose="020B0503020204020204" pitchFamily="34" charset="-122"/>
                <a:ea typeface="微软雅黑" panose="020B0503020204020204" pitchFamily="34" charset="-122"/>
              </a:rPr>
              <a:t>RTT</a:t>
            </a:r>
          </a:p>
          <a:p>
            <a:pPr marL="171450" indent="-171450" defTabSz="685800" fontAlgn="auto">
              <a:lnSpc>
                <a:spcPct val="110000"/>
              </a:lnSpc>
              <a:spcBef>
                <a:spcPts val="450"/>
              </a:spcBef>
              <a:spcAft>
                <a:spcPts val="0"/>
              </a:spcAft>
              <a:buFont typeface="Wingdings" panose="05000000000000000000" pitchFamily="2" charset="2"/>
              <a:buChar char="Ø"/>
            </a:pPr>
            <a:r>
              <a:rPr lang="en-US" altLang="zh-CN" sz="1800" dirty="0" err="1">
                <a:solidFill>
                  <a:prstClr val="black"/>
                </a:solidFill>
                <a:latin typeface="微软雅黑" panose="020B0503020204020204" pitchFamily="34" charset="-122"/>
                <a:ea typeface="微软雅黑" panose="020B0503020204020204" pitchFamily="34" charset="-122"/>
              </a:rPr>
              <a:t>Tracert</a:t>
            </a:r>
            <a:r>
              <a:rPr lang="zh-CN" altLang="en-US" sz="1800" dirty="0">
                <a:solidFill>
                  <a:prstClr val="black"/>
                </a:solidFill>
                <a:latin typeface="微软雅黑" panose="020B0503020204020204" pitchFamily="34" charset="-122"/>
                <a:ea typeface="微软雅黑" panose="020B0503020204020204" pitchFamily="34" charset="-122"/>
              </a:rPr>
              <a:t>针对同一</a:t>
            </a:r>
            <a:r>
              <a:rPr lang="en-US" altLang="zh-CN" sz="1800" dirty="0">
                <a:solidFill>
                  <a:prstClr val="black"/>
                </a:solidFill>
                <a:latin typeface="微软雅黑" panose="020B0503020204020204" pitchFamily="34" charset="-122"/>
                <a:ea typeface="微软雅黑" panose="020B0503020204020204" pitchFamily="34" charset="-122"/>
              </a:rPr>
              <a:t>RTT</a:t>
            </a:r>
            <a:r>
              <a:rPr lang="zh-CN" altLang="en-US" sz="1800" dirty="0">
                <a:solidFill>
                  <a:prstClr val="black"/>
                </a:solidFill>
                <a:latin typeface="微软雅黑" panose="020B0503020204020204" pitchFamily="34" charset="-122"/>
                <a:ea typeface="微软雅黑" panose="020B0503020204020204" pitchFamily="34" charset="-122"/>
              </a:rPr>
              <a:t>值执行上述过程</a:t>
            </a:r>
            <a:r>
              <a:rPr lang="en-US" altLang="zh-CN" sz="1800" dirty="0">
                <a:solidFill>
                  <a:prstClr val="black"/>
                </a:solidFill>
                <a:latin typeface="微软雅黑" panose="020B0503020204020204" pitchFamily="34" charset="-122"/>
                <a:ea typeface="微软雅黑" panose="020B0503020204020204" pitchFamily="34" charset="-122"/>
              </a:rPr>
              <a:t>3</a:t>
            </a:r>
            <a:r>
              <a:rPr lang="zh-CN" altLang="en-US" sz="1800" dirty="0">
                <a:solidFill>
                  <a:prstClr val="black"/>
                </a:solidFill>
                <a:latin typeface="微软雅黑" panose="020B0503020204020204" pitchFamily="34" charset="-122"/>
                <a:ea typeface="微软雅黑" panose="020B0503020204020204" pitchFamily="34" charset="-122"/>
              </a:rPr>
              <a:t>次</a:t>
            </a:r>
            <a:endParaRPr lang="en-US" altLang="zh-CN" sz="1800" dirty="0">
              <a:solidFill>
                <a:prstClr val="black"/>
              </a:solidFill>
              <a:latin typeface="微软雅黑" panose="020B0503020204020204" pitchFamily="34" charset="-122"/>
              <a:ea typeface="微软雅黑" panose="020B0503020204020204" pitchFamily="34" charset="-122"/>
            </a:endParaRPr>
          </a:p>
          <a:p>
            <a:pPr marL="171450" indent="-171450" defTabSz="685800" fontAlgn="auto">
              <a:lnSpc>
                <a:spcPct val="110000"/>
              </a:lnSpc>
              <a:spcBef>
                <a:spcPts val="450"/>
              </a:spcBef>
              <a:spcAft>
                <a:spcPts val="0"/>
              </a:spcAft>
              <a:buFont typeface="Wingdings" panose="05000000000000000000" pitchFamily="2" charset="2"/>
              <a:buChar char="Ø"/>
            </a:pPr>
            <a:endParaRPr lang="en-US" altLang="zh-CN" sz="1800" dirty="0">
              <a:solidFill>
                <a:prstClr val="black"/>
              </a:solidFill>
              <a:latin typeface="微软雅黑" panose="020B0503020204020204" pitchFamily="34" charset="-122"/>
              <a:ea typeface="微软雅黑" panose="020B0503020204020204" pitchFamily="34" charset="-122"/>
            </a:endParaRPr>
          </a:p>
          <a:p>
            <a:pPr marL="171450" indent="-171450" defTabSz="685800" fontAlgn="auto">
              <a:lnSpc>
                <a:spcPct val="110000"/>
              </a:lnSpc>
              <a:spcBef>
                <a:spcPts val="450"/>
              </a:spcBef>
              <a:spcAft>
                <a:spcPts val="0"/>
              </a:spcAft>
              <a:buNone/>
            </a:pPr>
            <a:r>
              <a:rPr lang="zh-CN" altLang="en-US" sz="2250" dirty="0">
                <a:solidFill>
                  <a:srgbClr val="C00000"/>
                </a:solidFill>
                <a:latin typeface="微软雅黑" panose="020B0503020204020204" pitchFamily="34" charset="-122"/>
                <a:ea typeface="微软雅黑" panose="020B0503020204020204" pitchFamily="34" charset="-122"/>
              </a:rPr>
              <a:t>停止条件</a:t>
            </a:r>
            <a:endParaRPr lang="en-US" altLang="zh-CN" sz="2250" dirty="0">
              <a:solidFill>
                <a:srgbClr val="C00000"/>
              </a:solidFill>
              <a:latin typeface="微软雅黑" panose="020B0503020204020204" pitchFamily="34" charset="-122"/>
              <a:ea typeface="微软雅黑" panose="020B0503020204020204" pitchFamily="34" charset="-122"/>
            </a:endParaRPr>
          </a:p>
          <a:p>
            <a:pPr marL="171450" indent="-171450" defTabSz="685800" fontAlgn="auto">
              <a:lnSpc>
                <a:spcPct val="110000"/>
              </a:lnSpc>
              <a:spcBef>
                <a:spcPts val="450"/>
              </a:spcBef>
              <a:spcAft>
                <a:spcPts val="0"/>
              </a:spcAft>
              <a:buFont typeface="Wingdings" panose="05000000000000000000" pitchFamily="2" charset="2"/>
              <a:buChar char="Ø"/>
            </a:pPr>
            <a:r>
              <a:rPr lang="en-US" altLang="zh-CN" sz="1800" dirty="0">
                <a:solidFill>
                  <a:prstClr val="black"/>
                </a:solidFill>
                <a:latin typeface="微软雅黑" panose="020B0503020204020204" pitchFamily="34" charset="-122"/>
                <a:ea typeface="微软雅黑" panose="020B0503020204020204" pitchFamily="34" charset="-122"/>
              </a:rPr>
              <a:t>UDP</a:t>
            </a:r>
            <a:r>
              <a:rPr lang="zh-CN" altLang="en-US" sz="1800" dirty="0">
                <a:solidFill>
                  <a:prstClr val="black"/>
                </a:solidFill>
                <a:latin typeface="微软雅黑" panose="020B0503020204020204" pitchFamily="34" charset="-122"/>
                <a:ea typeface="微软雅黑" panose="020B0503020204020204" pitchFamily="34" charset="-122"/>
              </a:rPr>
              <a:t>段最终到达目的地主机</a:t>
            </a:r>
            <a:endParaRPr lang="en-US" altLang="zh-CN" sz="1800" dirty="0">
              <a:solidFill>
                <a:prstClr val="black"/>
              </a:solidFill>
              <a:latin typeface="微软雅黑" panose="020B0503020204020204" pitchFamily="34" charset="-122"/>
              <a:ea typeface="微软雅黑" panose="020B0503020204020204" pitchFamily="34" charset="-122"/>
            </a:endParaRPr>
          </a:p>
          <a:p>
            <a:pPr marL="171450" indent="-171450" defTabSz="685800" fontAlgn="auto">
              <a:lnSpc>
                <a:spcPct val="110000"/>
              </a:lnSpc>
              <a:spcBef>
                <a:spcPts val="450"/>
              </a:spcBef>
              <a:spcAft>
                <a:spcPts val="0"/>
              </a:spcAft>
              <a:buFont typeface="Wingdings" panose="05000000000000000000" pitchFamily="2" charset="2"/>
              <a:buChar char="Ø"/>
            </a:pPr>
            <a:r>
              <a:rPr lang="zh-CN" altLang="en-US" sz="1800" dirty="0">
                <a:solidFill>
                  <a:prstClr val="black"/>
                </a:solidFill>
                <a:latin typeface="微软雅黑" panose="020B0503020204020204" pitchFamily="34" charset="-122"/>
                <a:ea typeface="微软雅黑" panose="020B0503020204020204" pitchFamily="34" charset="-122"/>
              </a:rPr>
              <a:t>目的地返回</a:t>
            </a:r>
            <a:r>
              <a:rPr lang="en-US" altLang="zh-CN" sz="1800" dirty="0">
                <a:solidFill>
                  <a:prstClr val="black"/>
                </a:solidFill>
                <a:latin typeface="微软雅黑" panose="020B0503020204020204" pitchFamily="34" charset="-122"/>
                <a:ea typeface="微软雅黑" panose="020B0503020204020204" pitchFamily="34" charset="-122"/>
              </a:rPr>
              <a:t>ICMP </a:t>
            </a:r>
            <a:r>
              <a:rPr lang="zh-CN" altLang="en-US" sz="1800" dirty="0">
                <a:solidFill>
                  <a:prstClr val="black"/>
                </a:solidFill>
                <a:latin typeface="微软雅黑" panose="020B0503020204020204" pitchFamily="34" charset="-122"/>
                <a:ea typeface="微软雅黑" panose="020B0503020204020204" pitchFamily="34" charset="-122"/>
              </a:rPr>
              <a:t>“端口不可达”分组 </a:t>
            </a:r>
            <a:r>
              <a:rPr lang="en-US" altLang="zh-CN" sz="1800" dirty="0">
                <a:solidFill>
                  <a:prstClr val="black"/>
                </a:solidFill>
                <a:latin typeface="微软雅黑" panose="020B0503020204020204" pitchFamily="34" charset="-122"/>
                <a:ea typeface="微软雅黑" panose="020B0503020204020204" pitchFamily="34" charset="-122"/>
              </a:rPr>
              <a:t>(</a:t>
            </a:r>
            <a:r>
              <a:rPr lang="zh-CN" altLang="en-US" sz="1800" dirty="0">
                <a:solidFill>
                  <a:prstClr val="black"/>
                </a:solidFill>
                <a:latin typeface="微软雅黑" panose="020B0503020204020204" pitchFamily="34" charset="-122"/>
                <a:ea typeface="微软雅黑" panose="020B0503020204020204" pitchFamily="34" charset="-122"/>
              </a:rPr>
              <a:t>类型</a:t>
            </a:r>
            <a:r>
              <a:rPr lang="en-US" altLang="zh-CN" sz="1800" dirty="0">
                <a:solidFill>
                  <a:prstClr val="black"/>
                </a:solidFill>
                <a:latin typeface="微软雅黑" panose="020B0503020204020204" pitchFamily="34" charset="-122"/>
                <a:ea typeface="微软雅黑" panose="020B0503020204020204" pitchFamily="34" charset="-122"/>
              </a:rPr>
              <a:t>3, </a:t>
            </a:r>
            <a:r>
              <a:rPr lang="zh-CN" altLang="en-US" sz="1800" dirty="0">
                <a:solidFill>
                  <a:prstClr val="black"/>
                </a:solidFill>
                <a:latin typeface="微软雅黑" panose="020B0503020204020204" pitchFamily="34" charset="-122"/>
                <a:ea typeface="微软雅黑" panose="020B0503020204020204" pitchFamily="34" charset="-122"/>
              </a:rPr>
              <a:t>编码</a:t>
            </a:r>
            <a:r>
              <a:rPr lang="en-US" altLang="zh-CN" sz="1800" dirty="0">
                <a:solidFill>
                  <a:prstClr val="black"/>
                </a:solidFill>
                <a:latin typeface="微软雅黑" panose="020B0503020204020204" pitchFamily="34" charset="-122"/>
                <a:ea typeface="微软雅黑" panose="020B0503020204020204" pitchFamily="34" charset="-122"/>
              </a:rPr>
              <a:t>3)</a:t>
            </a:r>
          </a:p>
          <a:p>
            <a:pPr marL="171450" indent="-171450" defTabSz="685800" fontAlgn="auto">
              <a:lnSpc>
                <a:spcPct val="110000"/>
              </a:lnSpc>
              <a:spcBef>
                <a:spcPts val="450"/>
              </a:spcBef>
              <a:spcAft>
                <a:spcPts val="0"/>
              </a:spcAft>
              <a:buFont typeface="Wingdings" panose="05000000000000000000" pitchFamily="2" charset="2"/>
              <a:buChar char="Ø"/>
            </a:pPr>
            <a:r>
              <a:rPr lang="zh-CN" altLang="en-US" sz="1800" dirty="0">
                <a:solidFill>
                  <a:prstClr val="black"/>
                </a:solidFill>
                <a:latin typeface="微软雅黑" panose="020B0503020204020204" pitchFamily="34" charset="-122"/>
                <a:ea typeface="微软雅黑" panose="020B0503020204020204" pitchFamily="34" charset="-122"/>
              </a:rPr>
              <a:t>当源得到该</a:t>
            </a:r>
            <a:r>
              <a:rPr lang="en-US" altLang="zh-CN" sz="1800" dirty="0">
                <a:solidFill>
                  <a:prstClr val="black"/>
                </a:solidFill>
                <a:latin typeface="微软雅黑" panose="020B0503020204020204" pitchFamily="34" charset="-122"/>
                <a:ea typeface="微软雅黑" panose="020B0503020204020204" pitchFamily="34" charset="-122"/>
              </a:rPr>
              <a:t>ICMP</a:t>
            </a:r>
            <a:r>
              <a:rPr lang="zh-CN" altLang="en-US" sz="1800" dirty="0">
                <a:solidFill>
                  <a:prstClr val="black"/>
                </a:solidFill>
                <a:latin typeface="微软雅黑" panose="020B0503020204020204" pitchFamily="34" charset="-122"/>
                <a:ea typeface="微软雅黑" panose="020B0503020204020204" pitchFamily="34" charset="-122"/>
              </a:rPr>
              <a:t>，停止</a:t>
            </a:r>
            <a:endParaRPr lang="en-US" altLang="zh-CN" sz="1800" dirty="0">
              <a:solidFill>
                <a:prstClr val="black"/>
              </a:solidFill>
              <a:latin typeface="微软雅黑" panose="020B0503020204020204" pitchFamily="34" charset="-122"/>
              <a:ea typeface="微软雅黑" panose="020B0503020204020204" pitchFamily="34" charset="-122"/>
            </a:endParaRPr>
          </a:p>
        </p:txBody>
      </p:sp>
      <p:sp>
        <p:nvSpPr>
          <p:cNvPr id="101" name="TextBox 100"/>
          <p:cNvSpPr txBox="1">
            <a:spLocks noChangeArrowheads="1"/>
          </p:cNvSpPr>
          <p:nvPr/>
        </p:nvSpPr>
        <p:spPr bwMode="auto">
          <a:xfrm>
            <a:off x="6174864" y="3689491"/>
            <a:ext cx="2467770" cy="369332"/>
          </a:xfrm>
          <a:prstGeom prst="rect">
            <a:avLst/>
          </a:prstGeom>
          <a:solidFill>
            <a:srgbClr val="C00000"/>
          </a:solidFill>
          <a:ln>
            <a:noFill/>
          </a:ln>
        </p:spPr>
        <p:txBody>
          <a:bodyPr wrap="square">
            <a:spAutoFit/>
          </a:bodyPr>
          <a:lstStyle>
            <a:lvl1pPr>
              <a:defRPr sz="2800">
                <a:solidFill>
                  <a:schemeClr val="tx1"/>
                </a:solidFill>
                <a:latin typeface="Comic Sans MS" panose="030F0902030302020204" pitchFamily="66" charset="0"/>
              </a:defRPr>
            </a:lvl1pPr>
            <a:lvl2pPr>
              <a:defRPr sz="2400">
                <a:solidFill>
                  <a:schemeClr val="tx1"/>
                </a:solidFill>
                <a:latin typeface="Comic Sans MS" panose="030F0902030302020204" pitchFamily="66" charset="0"/>
              </a:defRPr>
            </a:lvl2pPr>
            <a:lvl3pPr>
              <a:defRPr sz="2000">
                <a:solidFill>
                  <a:schemeClr val="tx1"/>
                </a:solidFill>
                <a:latin typeface="Comic Sans MS" panose="030F0902030302020204" pitchFamily="66" charset="0"/>
              </a:defRPr>
            </a:lvl3pPr>
            <a:lvl4pPr>
              <a:defRPr sz="2000">
                <a:solidFill>
                  <a:schemeClr val="tx1"/>
                </a:solidFill>
                <a:latin typeface="Times New Roman" panose="02020503050405090304" charset="0"/>
              </a:defRPr>
            </a:lvl4pPr>
            <a:lvl5pPr>
              <a:defRPr sz="2000">
                <a:solidFill>
                  <a:schemeClr val="tx1"/>
                </a:solidFill>
                <a:latin typeface="Times New Roman" panose="02020503050405090304" charset="0"/>
              </a:defRPr>
            </a:lvl5pPr>
            <a:lvl6pPr>
              <a:defRPr sz="2000">
                <a:solidFill>
                  <a:schemeClr val="tx1"/>
                </a:solidFill>
                <a:latin typeface="Times New Roman" panose="02020503050405090304" charset="0"/>
              </a:defRPr>
            </a:lvl6pPr>
            <a:lvl7pPr>
              <a:defRPr sz="2000">
                <a:solidFill>
                  <a:schemeClr val="tx1"/>
                </a:solidFill>
                <a:latin typeface="Times New Roman" panose="02020503050405090304" charset="0"/>
              </a:defRPr>
            </a:lvl7pPr>
            <a:lvl8pPr>
              <a:defRPr sz="2000">
                <a:solidFill>
                  <a:schemeClr val="tx1"/>
                </a:solidFill>
                <a:latin typeface="Times New Roman" panose="02020503050405090304" charset="0"/>
              </a:defRPr>
            </a:lvl8pPr>
            <a:lvl9pPr>
              <a:defRPr sz="2000">
                <a:solidFill>
                  <a:schemeClr val="tx1"/>
                </a:solidFill>
                <a:latin typeface="Times New Roman" panose="02020503050405090304" charset="0"/>
              </a:defRPr>
            </a:lvl9pPr>
          </a:lstStyle>
          <a:p>
            <a:pPr defTabSz="685800" eaLnBrk="1" fontAlgn="auto" hangingPunct="1">
              <a:spcBef>
                <a:spcPts val="0"/>
              </a:spcBef>
              <a:spcAft>
                <a:spcPts val="0"/>
              </a:spcAft>
            </a:pPr>
            <a:r>
              <a:rPr lang="en-US" altLang="zh-CN" sz="1800" dirty="0">
                <a:solidFill>
                  <a:srgbClr val="FAF4FF"/>
                </a:solidFill>
                <a:latin typeface="微软雅黑" panose="020B0503020204020204" pitchFamily="34" charset="-122"/>
                <a:ea typeface="微软雅黑" panose="020B0503020204020204" pitchFamily="34" charset="-122"/>
                <a:cs typeface="+mn-cs"/>
              </a:rPr>
              <a:t>Windows</a:t>
            </a:r>
            <a:r>
              <a:rPr lang="zh-CN" altLang="en-US" sz="1800" dirty="0">
                <a:solidFill>
                  <a:srgbClr val="FAF4FF"/>
                </a:solidFill>
                <a:latin typeface="微软雅黑" panose="020B0503020204020204" pitchFamily="34" charset="-122"/>
                <a:ea typeface="微软雅黑" panose="020B0503020204020204" pitchFamily="34" charset="-122"/>
                <a:cs typeface="+mn-cs"/>
              </a:rPr>
              <a:t>是</a:t>
            </a:r>
            <a:r>
              <a:rPr lang="en-US" altLang="zh-CN" sz="1800" dirty="0">
                <a:solidFill>
                  <a:srgbClr val="FAF4FF"/>
                </a:solidFill>
                <a:latin typeface="微软雅黑" panose="020B0503020204020204" pitchFamily="34" charset="-122"/>
                <a:ea typeface="微软雅黑" panose="020B0503020204020204" pitchFamily="34" charset="-122"/>
                <a:cs typeface="+mn-cs"/>
              </a:rPr>
              <a:t>ping</a:t>
            </a:r>
            <a:r>
              <a:rPr lang="zh-CN" altLang="en-US" sz="1800" dirty="0">
                <a:solidFill>
                  <a:srgbClr val="FAF4FF"/>
                </a:solidFill>
                <a:latin typeface="微软雅黑" panose="020B0503020204020204" pitchFamily="34" charset="-122"/>
                <a:ea typeface="微软雅黑" panose="020B0503020204020204" pitchFamily="34" charset="-122"/>
                <a:cs typeface="+mn-cs"/>
              </a:rPr>
              <a:t>机制</a:t>
            </a:r>
          </a:p>
        </p:txBody>
      </p:sp>
      <p:sp>
        <p:nvSpPr>
          <p:cNvPr id="6" name="Slide Number Placeholder 5"/>
          <p:cNvSpPr>
            <a:spLocks noGrp="1"/>
          </p:cNvSpPr>
          <p:nvPr>
            <p:ph type="sldNum" sz="quarter" idx="12"/>
          </p:nvPr>
        </p:nvSpPr>
        <p:spPr>
          <a:xfrm>
            <a:off x="8456295" y="6475730"/>
            <a:ext cx="68707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115</a:t>
            </a:fld>
            <a:endParaRPr lang="en-US" sz="1200" dirty="0">
              <a:latin typeface="Tahoma" panose="020B060403050404020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3" presetClass="entr" presetSubtype="10" fill="hold" nodeType="clickEffect">
                                  <p:stCondLst>
                                    <p:cond delay="0"/>
                                  </p:stCondLst>
                                  <p:childTnLst>
                                    <p:set>
                                      <p:cBhvr>
                                        <p:cTn id="10" dur="1" fill="hold">
                                          <p:stCondLst>
                                            <p:cond delay="0"/>
                                          </p:stCondLst>
                                        </p:cTn>
                                        <p:tgtEl>
                                          <p:spTgt spid="98">
                                            <p:txEl>
                                              <p:pRg st="0" end="0"/>
                                            </p:txEl>
                                          </p:spTgt>
                                        </p:tgtEl>
                                        <p:attrNameLst>
                                          <p:attrName>style.visibility</p:attrName>
                                        </p:attrNameLst>
                                      </p:cBhvr>
                                      <p:to>
                                        <p:strVal val="visible"/>
                                      </p:to>
                                    </p:set>
                                    <p:animEffect transition="in" filter="blinds(horizontal)">
                                      <p:cBhvr>
                                        <p:cTn id="11" dur="500"/>
                                        <p:tgtEl>
                                          <p:spTgt spid="98">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98">
                                            <p:txEl>
                                              <p:pRg st="1" end="1"/>
                                            </p:txEl>
                                          </p:spTgt>
                                        </p:tgtEl>
                                        <p:attrNameLst>
                                          <p:attrName>style.visibility</p:attrName>
                                        </p:attrNameLst>
                                      </p:cBhvr>
                                      <p:to>
                                        <p:strVal val="visible"/>
                                      </p:to>
                                    </p:set>
                                    <p:animEffect transition="in" filter="blinds(horizontal)">
                                      <p:cBhvr>
                                        <p:cTn id="16" dur="500"/>
                                        <p:tgtEl>
                                          <p:spTgt spid="98">
                                            <p:txEl>
                                              <p:pRg st="1" end="1"/>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nodeType="clickEffect">
                                  <p:stCondLst>
                                    <p:cond delay="0"/>
                                  </p:stCondLst>
                                  <p:childTnLst>
                                    <p:set>
                                      <p:cBhvr>
                                        <p:cTn id="20" dur="1" fill="hold">
                                          <p:stCondLst>
                                            <p:cond delay="0"/>
                                          </p:stCondLst>
                                        </p:cTn>
                                        <p:tgtEl>
                                          <p:spTgt spid="98">
                                            <p:txEl>
                                              <p:pRg st="3" end="3"/>
                                            </p:txEl>
                                          </p:spTgt>
                                        </p:tgtEl>
                                        <p:attrNameLst>
                                          <p:attrName>style.visibility</p:attrName>
                                        </p:attrNameLst>
                                      </p:cBhvr>
                                      <p:to>
                                        <p:strVal val="visible"/>
                                      </p:to>
                                    </p:set>
                                    <p:animEffect transition="in" filter="blinds(horizontal)">
                                      <p:cBhvr>
                                        <p:cTn id="21" dur="500"/>
                                        <p:tgtEl>
                                          <p:spTgt spid="98">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3" presetClass="entr" presetSubtype="10" fill="hold" nodeType="clickEffect">
                                  <p:stCondLst>
                                    <p:cond delay="0"/>
                                  </p:stCondLst>
                                  <p:childTnLst>
                                    <p:set>
                                      <p:cBhvr>
                                        <p:cTn id="25" dur="1" fill="hold">
                                          <p:stCondLst>
                                            <p:cond delay="0"/>
                                          </p:stCondLst>
                                        </p:cTn>
                                        <p:tgtEl>
                                          <p:spTgt spid="98">
                                            <p:txEl>
                                              <p:pRg st="4" end="4"/>
                                            </p:txEl>
                                          </p:spTgt>
                                        </p:tgtEl>
                                        <p:attrNameLst>
                                          <p:attrName>style.visibility</p:attrName>
                                        </p:attrNameLst>
                                      </p:cBhvr>
                                      <p:to>
                                        <p:strVal val="visible"/>
                                      </p:to>
                                    </p:set>
                                    <p:animEffect transition="in" filter="blinds(horizontal)">
                                      <p:cBhvr>
                                        <p:cTn id="26" dur="500"/>
                                        <p:tgtEl>
                                          <p:spTgt spid="98">
                                            <p:txEl>
                                              <p:pRg st="4" end="4"/>
                                            </p:txEl>
                                          </p:spTgt>
                                        </p:tgtEl>
                                      </p:cBhvr>
                                    </p:animEffect>
                                  </p:childTnLst>
                                </p:cTn>
                              </p:par>
                              <p:par>
                                <p:cTn id="27" presetID="3" presetClass="entr" presetSubtype="10" fill="hold" nodeType="withEffect">
                                  <p:stCondLst>
                                    <p:cond delay="0"/>
                                  </p:stCondLst>
                                  <p:childTnLst>
                                    <p:set>
                                      <p:cBhvr>
                                        <p:cTn id="28" dur="1" fill="hold">
                                          <p:stCondLst>
                                            <p:cond delay="0"/>
                                          </p:stCondLst>
                                        </p:cTn>
                                        <p:tgtEl>
                                          <p:spTgt spid="98">
                                            <p:txEl>
                                              <p:pRg st="5" end="5"/>
                                            </p:txEl>
                                          </p:spTgt>
                                        </p:tgtEl>
                                        <p:attrNameLst>
                                          <p:attrName>style.visibility</p:attrName>
                                        </p:attrNameLst>
                                      </p:cBhvr>
                                      <p:to>
                                        <p:strVal val="visible"/>
                                      </p:to>
                                    </p:set>
                                    <p:animEffect transition="in" filter="blinds(horizontal)">
                                      <p:cBhvr>
                                        <p:cTn id="29" dur="500"/>
                                        <p:tgtEl>
                                          <p:spTgt spid="98">
                                            <p:txEl>
                                              <p:pRg st="5" end="5"/>
                                            </p:txEl>
                                          </p:spTgt>
                                        </p:tgtEl>
                                      </p:cBhvr>
                                    </p:animEffect>
                                  </p:childTnLst>
                                </p:cTn>
                              </p:par>
                              <p:par>
                                <p:cTn id="30" presetID="3" presetClass="entr" presetSubtype="10" fill="hold" nodeType="withEffect">
                                  <p:stCondLst>
                                    <p:cond delay="0"/>
                                  </p:stCondLst>
                                  <p:childTnLst>
                                    <p:set>
                                      <p:cBhvr>
                                        <p:cTn id="31" dur="1" fill="hold">
                                          <p:stCondLst>
                                            <p:cond delay="0"/>
                                          </p:stCondLst>
                                        </p:cTn>
                                        <p:tgtEl>
                                          <p:spTgt spid="98">
                                            <p:txEl>
                                              <p:pRg st="6" end="6"/>
                                            </p:txEl>
                                          </p:spTgt>
                                        </p:tgtEl>
                                        <p:attrNameLst>
                                          <p:attrName>style.visibility</p:attrName>
                                        </p:attrNameLst>
                                      </p:cBhvr>
                                      <p:to>
                                        <p:strVal val="visible"/>
                                      </p:to>
                                    </p:set>
                                    <p:animEffect transition="in" filter="blinds(horizontal)">
                                      <p:cBhvr>
                                        <p:cTn id="32" dur="500"/>
                                        <p:tgtEl>
                                          <p:spTgt spid="98">
                                            <p:txEl>
                                              <p:pRg st="6" end="6"/>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101"/>
                                        </p:tgtEl>
                                        <p:attrNameLst>
                                          <p:attrName>style.visibility</p:attrName>
                                        </p:attrNameLst>
                                      </p:cBhvr>
                                      <p:to>
                                        <p:strVal val="visible"/>
                                      </p:to>
                                    </p:set>
                                    <p:animEffect transition="in" filter="blinds(horizontal)">
                                      <p:cBhvr>
                                        <p:cTn id="37" dur="500"/>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0" grpId="0"/>
      <p:bldP spid="101"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1" name="Rectangle 2"/>
          <p:cNvSpPr>
            <a:spLocks noGrp="1" noChangeArrowheads="1"/>
          </p:cNvSpPr>
          <p:nvPr>
            <p:ph type="title"/>
          </p:nvPr>
        </p:nvSpPr>
        <p:spPr>
          <a:xfrm>
            <a:off x="533400" y="228600"/>
            <a:ext cx="8124825" cy="876300"/>
          </a:xfrm>
        </p:spPr>
        <p:txBody>
          <a:bodyPr/>
          <a:lstStyle/>
          <a:p>
            <a:r>
              <a:rPr lang="en-US" sz="3200">
                <a:latin typeface="Gill Sans MT" pitchFamily="34" charset="0"/>
              </a:rPr>
              <a:t>ICMP: internet control message protocol</a:t>
            </a:r>
          </a:p>
        </p:txBody>
      </p:sp>
      <p:sp>
        <p:nvSpPr>
          <p:cNvPr id="109572" name="Rectangle 3"/>
          <p:cNvSpPr>
            <a:spLocks noGrp="1" noChangeArrowheads="1"/>
          </p:cNvSpPr>
          <p:nvPr>
            <p:ph type="body" sz="half" idx="1"/>
          </p:nvPr>
        </p:nvSpPr>
        <p:spPr>
          <a:xfrm>
            <a:off x="347980" y="1369060"/>
            <a:ext cx="4261485" cy="4648200"/>
          </a:xfrm>
        </p:spPr>
        <p:txBody>
          <a:bodyPr/>
          <a:lstStyle/>
          <a:p>
            <a:r>
              <a:rPr lang="en-US" sz="2400">
                <a:latin typeface="Gill Sans MT" pitchFamily="34" charset="0"/>
              </a:rPr>
              <a:t>used by hosts &amp; routers to communicate network-level information</a:t>
            </a:r>
          </a:p>
          <a:p>
            <a:pPr lvl="1"/>
            <a:r>
              <a:rPr lang="en-US" sz="2000">
                <a:latin typeface="Gill Sans MT" pitchFamily="34" charset="0"/>
              </a:rPr>
              <a:t>error reporting: unreachable host, network, port, protocol</a:t>
            </a:r>
          </a:p>
          <a:p>
            <a:pPr lvl="1"/>
            <a:r>
              <a:rPr lang="en-US" sz="2000">
                <a:latin typeface="Gill Sans MT" pitchFamily="34" charset="0"/>
              </a:rPr>
              <a:t>echo request/reply (used by ping)</a:t>
            </a:r>
          </a:p>
          <a:p>
            <a:r>
              <a:rPr lang="en-US" sz="2400">
                <a:latin typeface="Gill Sans MT" pitchFamily="34" charset="0"/>
              </a:rPr>
              <a:t>network-layer </a:t>
            </a:r>
            <a:r>
              <a:rPr lang="ja-JP" altLang="en-US" sz="2400">
                <a:latin typeface="Gill Sans MT" pitchFamily="34" charset="0"/>
              </a:rPr>
              <a:t>“</a:t>
            </a:r>
            <a:r>
              <a:rPr lang="en-US" altLang="ja-JP" sz="2400">
                <a:latin typeface="Gill Sans MT" pitchFamily="34" charset="0"/>
              </a:rPr>
              <a:t>above</a:t>
            </a:r>
            <a:r>
              <a:rPr lang="ja-JP" altLang="en-US" sz="2400">
                <a:latin typeface="Gill Sans MT" pitchFamily="34" charset="0"/>
              </a:rPr>
              <a:t>”</a:t>
            </a:r>
            <a:r>
              <a:rPr lang="en-US" altLang="ja-JP" sz="2400">
                <a:latin typeface="Gill Sans MT" pitchFamily="34" charset="0"/>
              </a:rPr>
              <a:t> IP:</a:t>
            </a:r>
          </a:p>
          <a:p>
            <a:pPr lvl="1"/>
            <a:r>
              <a:rPr lang="en-US" sz="2000">
                <a:latin typeface="Gill Sans MT" pitchFamily="34" charset="0"/>
              </a:rPr>
              <a:t>ICMP msgs carried in IP datagrams</a:t>
            </a:r>
          </a:p>
          <a:p>
            <a:r>
              <a:rPr lang="en-US" sz="2400">
                <a:solidFill>
                  <a:srgbClr val="000099"/>
                </a:solidFill>
                <a:latin typeface="Gill Sans MT" pitchFamily="34" charset="0"/>
              </a:rPr>
              <a:t>ICMP message:</a:t>
            </a:r>
            <a:r>
              <a:rPr lang="en-US" sz="2400">
                <a:latin typeface="Gill Sans MT" pitchFamily="34" charset="0"/>
              </a:rPr>
              <a:t> type, code plus first 8 bytes of IP datagram causing error</a:t>
            </a:r>
          </a:p>
        </p:txBody>
      </p:sp>
      <p:sp>
        <p:nvSpPr>
          <p:cNvPr id="109573" name="Text Box 4"/>
          <p:cNvSpPr txBox="1">
            <a:spLocks noChangeArrowheads="1"/>
          </p:cNvSpPr>
          <p:nvPr/>
        </p:nvSpPr>
        <p:spPr bwMode="auto">
          <a:xfrm>
            <a:off x="4867910" y="1791970"/>
            <a:ext cx="4137025" cy="4372610"/>
          </a:xfrm>
          <a:prstGeom prst="rect">
            <a:avLst/>
          </a:prstGeom>
          <a:noFill/>
          <a:ln>
            <a:noFill/>
          </a:ln>
        </p:spPr>
        <p:txBody>
          <a:bodyPr wrap="none">
            <a:no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u="sng"/>
              <a:t>Type</a:t>
            </a:r>
            <a:r>
              <a:rPr lang="en-US" sz="1800"/>
              <a:t>  </a:t>
            </a:r>
            <a:r>
              <a:rPr lang="en-US" sz="1800" u="sng"/>
              <a:t>Code</a:t>
            </a:r>
            <a:r>
              <a:rPr lang="en-US" sz="1800"/>
              <a:t>  </a:t>
            </a:r>
            <a:r>
              <a:rPr lang="en-US" sz="1800" u="sng"/>
              <a:t>description</a:t>
            </a:r>
            <a:endParaRPr lang="en-US" sz="1800"/>
          </a:p>
          <a:p>
            <a:r>
              <a:rPr lang="en-US" sz="1800"/>
              <a:t>0        0         echo reply (ping)</a:t>
            </a:r>
          </a:p>
          <a:p>
            <a:r>
              <a:rPr lang="en-US" sz="1800"/>
              <a:t>3        0         dest. network unreachable</a:t>
            </a:r>
          </a:p>
          <a:p>
            <a:r>
              <a:rPr lang="en-US" sz="1800"/>
              <a:t>3        1         dest host unreachable</a:t>
            </a:r>
          </a:p>
          <a:p>
            <a:r>
              <a:rPr lang="en-US" sz="1800"/>
              <a:t>3        2         dest protocol unreachable</a:t>
            </a:r>
          </a:p>
          <a:p>
            <a:r>
              <a:rPr lang="en-US" sz="1800"/>
              <a:t>3        3         dest port unreachable</a:t>
            </a:r>
          </a:p>
          <a:p>
            <a:r>
              <a:rPr lang="en-US" sz="1800"/>
              <a:t>3        6         dest network unknown</a:t>
            </a:r>
          </a:p>
          <a:p>
            <a:r>
              <a:rPr lang="en-US" sz="1800"/>
              <a:t>3        7         dest host unknown</a:t>
            </a:r>
          </a:p>
          <a:p>
            <a:r>
              <a:rPr lang="en-US" sz="1800"/>
              <a:t>4        0         source quench (congestion</a:t>
            </a:r>
          </a:p>
          <a:p>
            <a:r>
              <a:rPr lang="en-US" sz="1800"/>
              <a:t>                     control - not used)</a:t>
            </a:r>
          </a:p>
          <a:p>
            <a:r>
              <a:rPr lang="en-US" sz="1800"/>
              <a:t>8        0         echo request (ping)</a:t>
            </a:r>
          </a:p>
          <a:p>
            <a:r>
              <a:rPr lang="en-US" sz="1800"/>
              <a:t>9        0         route advertisement</a:t>
            </a:r>
          </a:p>
          <a:p>
            <a:r>
              <a:rPr lang="en-US" sz="1800"/>
              <a:t>10      0         router discovery</a:t>
            </a:r>
          </a:p>
          <a:p>
            <a:r>
              <a:rPr lang="en-US" sz="1800"/>
              <a:t>11      0         TTL expired</a:t>
            </a:r>
          </a:p>
          <a:p>
            <a:r>
              <a:rPr lang="en-US" sz="1800"/>
              <a:t>12      0         bad IP header</a:t>
            </a:r>
          </a:p>
          <a:p>
            <a:endParaRPr lang="en-US" sz="1800"/>
          </a:p>
        </p:txBody>
      </p:sp>
      <p:pic>
        <p:nvPicPr>
          <p:cNvPr id="109574" name="Picture 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1825" y="955675"/>
            <a:ext cx="7769225" cy="173038"/>
          </a:xfrm>
          <a:prstGeom prst="rect">
            <a:avLst/>
          </a:prstGeom>
          <a:noFill/>
          <a:ln>
            <a:noFill/>
          </a:ln>
        </p:spPr>
      </p:pic>
      <p:sp>
        <p:nvSpPr>
          <p:cNvPr id="8" name="Slide Number Placeholder 5"/>
          <p:cNvSpPr>
            <a:spLocks noGrp="1"/>
          </p:cNvSpPr>
          <p:nvPr>
            <p:ph type="sldNum" sz="quarter" idx="12"/>
          </p:nvPr>
        </p:nvSpPr>
        <p:spPr>
          <a:xfrm>
            <a:off x="8456295" y="6475730"/>
            <a:ext cx="68707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116</a:t>
            </a:fld>
            <a:endParaRPr lang="en-US" sz="1200" dirty="0">
              <a:latin typeface="Tahoma" panose="020B0604030504040204" charset="0"/>
            </a:endParaRPr>
          </a:p>
        </p:txBody>
      </p:sp>
      <p:sp>
        <p:nvSpPr>
          <p:cNvPr id="9"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4" name="Rectangle 2"/>
          <p:cNvSpPr>
            <a:spLocks noGrp="1" noChangeArrowheads="1"/>
          </p:cNvSpPr>
          <p:nvPr>
            <p:ph type="title"/>
          </p:nvPr>
        </p:nvSpPr>
        <p:spPr>
          <a:xfrm>
            <a:off x="533400" y="85725"/>
            <a:ext cx="7772400" cy="974725"/>
          </a:xfrm>
        </p:spPr>
        <p:txBody>
          <a:bodyPr/>
          <a:lstStyle/>
          <a:p>
            <a:pPr>
              <a:defRPr/>
            </a:pPr>
            <a:r>
              <a:rPr lang="en-US">
                <a:cs typeface="+mj-cs"/>
              </a:rPr>
              <a:t>Traceroute and ICMP</a:t>
            </a:r>
          </a:p>
        </p:txBody>
      </p:sp>
      <p:sp>
        <p:nvSpPr>
          <p:cNvPr id="66565" name="Rectangle 3"/>
          <p:cNvSpPr>
            <a:spLocks noGrp="1" noChangeArrowheads="1"/>
          </p:cNvSpPr>
          <p:nvPr>
            <p:ph type="body" sz="half" idx="1"/>
          </p:nvPr>
        </p:nvSpPr>
        <p:spPr>
          <a:xfrm>
            <a:off x="511175" y="1167130"/>
            <a:ext cx="4157980" cy="4648200"/>
          </a:xfrm>
        </p:spPr>
        <p:txBody>
          <a:bodyPr/>
          <a:lstStyle/>
          <a:p>
            <a:pPr marL="282575" indent="-282575">
              <a:defRPr/>
            </a:pPr>
            <a:r>
              <a:rPr lang="en-US" sz="2400" dirty="0">
                <a:cs typeface="+mn-cs"/>
              </a:rPr>
              <a:t>source sends series of UDP segments to destination</a:t>
            </a:r>
          </a:p>
          <a:p>
            <a:pPr marL="565150" lvl="1" indent="-222250">
              <a:defRPr/>
            </a:pPr>
            <a:r>
              <a:rPr lang="en-US" sz="2000" dirty="0"/>
              <a:t>first set has TTL =1</a:t>
            </a:r>
          </a:p>
          <a:p>
            <a:pPr marL="565150" lvl="1" indent="-222250">
              <a:defRPr/>
            </a:pPr>
            <a:r>
              <a:rPr lang="en-US" sz="2000" dirty="0"/>
              <a:t>second set has TTL=2, etc.</a:t>
            </a:r>
          </a:p>
          <a:p>
            <a:pPr marL="565150" lvl="1" indent="-222250">
              <a:defRPr/>
            </a:pPr>
            <a:r>
              <a:rPr lang="en-US" sz="2000" dirty="0"/>
              <a:t>unlikely port number</a:t>
            </a:r>
          </a:p>
          <a:p>
            <a:pPr marL="282575" indent="-282575">
              <a:defRPr/>
            </a:pPr>
            <a:r>
              <a:rPr lang="en-US" sz="2400" dirty="0">
                <a:cs typeface="+mn-cs"/>
              </a:rPr>
              <a:t>when datagram in </a:t>
            </a:r>
            <a:r>
              <a:rPr lang="en-US" sz="2400" i="1" dirty="0">
                <a:cs typeface="+mn-cs"/>
              </a:rPr>
              <a:t>n</a:t>
            </a:r>
            <a:r>
              <a:rPr lang="en-US" sz="2400" dirty="0">
                <a:cs typeface="+mn-cs"/>
              </a:rPr>
              <a:t>th set arrives to nth router:</a:t>
            </a:r>
          </a:p>
          <a:p>
            <a:pPr marL="523875" lvl="1" indent="-180975">
              <a:defRPr/>
            </a:pPr>
            <a:r>
              <a:rPr lang="en-US" sz="2000" dirty="0"/>
              <a:t>router discards datagram and sends source ICMP message (type 11, code 0)</a:t>
            </a:r>
          </a:p>
          <a:p>
            <a:pPr marL="523875" lvl="1" indent="-180975">
              <a:defRPr/>
            </a:pPr>
            <a:r>
              <a:rPr lang="en-US" sz="2000" dirty="0"/>
              <a:t>ICMP message include name of router &amp; IP address</a:t>
            </a:r>
          </a:p>
        </p:txBody>
      </p:sp>
      <p:sp>
        <p:nvSpPr>
          <p:cNvPr id="66566" name="Rectangle 4"/>
          <p:cNvSpPr>
            <a:spLocks noGrp="1" noChangeArrowheads="1"/>
          </p:cNvSpPr>
          <p:nvPr>
            <p:ph type="body" sz="half" idx="2"/>
          </p:nvPr>
        </p:nvSpPr>
        <p:spPr>
          <a:xfrm>
            <a:off x="5014595" y="1060450"/>
            <a:ext cx="3810000" cy="2005013"/>
          </a:xfrm>
        </p:spPr>
        <p:txBody>
          <a:bodyPr/>
          <a:lstStyle/>
          <a:p>
            <a:pPr marL="282575" indent="-282575">
              <a:defRPr/>
            </a:pPr>
            <a:r>
              <a:rPr lang="en-US" sz="2400" dirty="0">
                <a:cs typeface="+mn-cs"/>
              </a:rPr>
              <a:t>when ICMP message arrives, source records RTTs</a:t>
            </a:r>
          </a:p>
        </p:txBody>
      </p:sp>
      <p:sp>
        <p:nvSpPr>
          <p:cNvPr id="655365" name="Rectangle 5"/>
          <p:cNvSpPr>
            <a:spLocks noChangeArrowheads="1"/>
          </p:cNvSpPr>
          <p:nvPr/>
        </p:nvSpPr>
        <p:spPr bwMode="auto">
          <a:xfrm>
            <a:off x="5014595" y="2297113"/>
            <a:ext cx="3810000" cy="3043237"/>
          </a:xfrm>
          <a:prstGeom prst="rect">
            <a:avLst/>
          </a:prstGeom>
          <a:noFill/>
          <a:ln>
            <a:noFill/>
          </a:ln>
        </p:spPr>
        <p:txBody>
          <a:bodyPr/>
          <a:lstStyle/>
          <a:p>
            <a:pPr marL="342900" indent="-342900">
              <a:lnSpc>
                <a:spcPct val="85000"/>
              </a:lnSpc>
              <a:spcBef>
                <a:spcPct val="20000"/>
              </a:spcBef>
              <a:buClr>
                <a:srgbClr val="000099"/>
              </a:buClr>
              <a:buSzPct val="65000"/>
              <a:buFont typeface="Wingdings" panose="05000000000000000000" charset="0"/>
              <a:buNone/>
            </a:pPr>
            <a:r>
              <a:rPr lang="en-US" sz="2400" i="1" dirty="0">
                <a:solidFill>
                  <a:srgbClr val="000099"/>
                </a:solidFill>
                <a:latin typeface="Gill Sans MT" pitchFamily="34" charset="0"/>
              </a:rPr>
              <a:t>stopping criteria:</a:t>
            </a:r>
          </a:p>
          <a:p>
            <a:pPr marL="342900" indent="-342900">
              <a:lnSpc>
                <a:spcPct val="85000"/>
              </a:lnSpc>
              <a:spcBef>
                <a:spcPct val="20000"/>
              </a:spcBef>
              <a:buClr>
                <a:srgbClr val="000099"/>
              </a:buClr>
              <a:buSzPct val="100000"/>
              <a:buFont typeface="Wingdings" panose="05000000000000000000" pitchFamily="2" charset="2"/>
              <a:buChar char="§"/>
            </a:pPr>
            <a:r>
              <a:rPr lang="en-US" sz="2400" dirty="0">
                <a:latin typeface="Gill Sans MT" pitchFamily="34" charset="0"/>
              </a:rPr>
              <a:t>UDP segment eventually arrives at destination host</a:t>
            </a:r>
          </a:p>
          <a:p>
            <a:pPr marL="342900" indent="-342900">
              <a:lnSpc>
                <a:spcPct val="85000"/>
              </a:lnSpc>
              <a:spcBef>
                <a:spcPct val="20000"/>
              </a:spcBef>
              <a:buClr>
                <a:srgbClr val="000099"/>
              </a:buClr>
              <a:buSzPct val="100000"/>
              <a:buFont typeface="Wingdings" panose="05000000000000000000" pitchFamily="2" charset="2"/>
              <a:buChar char="§"/>
            </a:pPr>
            <a:r>
              <a:rPr lang="en-US" sz="2400" dirty="0">
                <a:latin typeface="Gill Sans MT" pitchFamily="34" charset="0"/>
              </a:rPr>
              <a:t>destination returns ICMP </a:t>
            </a:r>
            <a:r>
              <a:rPr lang="ja-JP" altLang="en-US" sz="2400" dirty="0">
                <a:latin typeface="Gill Sans MT" pitchFamily="34" charset="0"/>
              </a:rPr>
              <a:t>“</a:t>
            </a:r>
            <a:r>
              <a:rPr lang="en-US" altLang="ja-JP" sz="2400" dirty="0">
                <a:latin typeface="Gill Sans MT" pitchFamily="34" charset="0"/>
              </a:rPr>
              <a:t>port unreachable</a:t>
            </a:r>
            <a:r>
              <a:rPr lang="ja-JP" altLang="en-US" sz="2400" dirty="0">
                <a:latin typeface="Gill Sans MT" pitchFamily="34" charset="0"/>
              </a:rPr>
              <a:t>”</a:t>
            </a:r>
            <a:r>
              <a:rPr lang="en-US" altLang="ja-JP" sz="2400" dirty="0">
                <a:latin typeface="Gill Sans MT" pitchFamily="34" charset="0"/>
              </a:rPr>
              <a:t> message (type 3, code 3)</a:t>
            </a:r>
          </a:p>
          <a:p>
            <a:pPr marL="342900" indent="-342900">
              <a:lnSpc>
                <a:spcPct val="85000"/>
              </a:lnSpc>
              <a:spcBef>
                <a:spcPct val="20000"/>
              </a:spcBef>
              <a:buClr>
                <a:srgbClr val="000099"/>
              </a:buClr>
              <a:buSzPct val="100000"/>
              <a:buFont typeface="Wingdings" panose="05000000000000000000" pitchFamily="2" charset="2"/>
              <a:buChar char="§"/>
            </a:pPr>
            <a:r>
              <a:rPr lang="en-US" sz="2400" dirty="0">
                <a:latin typeface="Gill Sans MT" pitchFamily="34" charset="0"/>
              </a:rPr>
              <a:t>source stops</a:t>
            </a:r>
          </a:p>
        </p:txBody>
      </p:sp>
      <p:pic>
        <p:nvPicPr>
          <p:cNvPr id="110599" name="Picture 6"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9763" y="811213"/>
            <a:ext cx="5484812" cy="173037"/>
          </a:xfrm>
          <a:prstGeom prst="rect">
            <a:avLst/>
          </a:prstGeom>
          <a:noFill/>
          <a:ln>
            <a:noFill/>
          </a:ln>
        </p:spPr>
      </p:pic>
      <p:sp>
        <p:nvSpPr>
          <p:cNvPr id="110600" name="Line 38"/>
          <p:cNvSpPr>
            <a:spLocks noChangeShapeType="1"/>
          </p:cNvSpPr>
          <p:nvPr/>
        </p:nvSpPr>
        <p:spPr bwMode="auto">
          <a:xfrm>
            <a:off x="1285875" y="5684890"/>
            <a:ext cx="288925" cy="265113"/>
          </a:xfrm>
          <a:prstGeom prst="line">
            <a:avLst/>
          </a:prstGeom>
          <a:noFill/>
          <a:ln w="12700">
            <a:solidFill>
              <a:schemeClr val="tx1"/>
            </a:solidFill>
            <a:round/>
          </a:ln>
        </p:spPr>
        <p:txBody>
          <a:bodyPr wrap="none" anchor="ctr"/>
          <a:lstStyle/>
          <a:p>
            <a:endParaRPr lang="en-US"/>
          </a:p>
        </p:txBody>
      </p:sp>
      <p:sp>
        <p:nvSpPr>
          <p:cNvPr id="110601" name="Line 105"/>
          <p:cNvSpPr>
            <a:spLocks noChangeShapeType="1"/>
          </p:cNvSpPr>
          <p:nvPr/>
        </p:nvSpPr>
        <p:spPr bwMode="auto">
          <a:xfrm flipV="1">
            <a:off x="2079625" y="5735690"/>
            <a:ext cx="458788" cy="207963"/>
          </a:xfrm>
          <a:prstGeom prst="line">
            <a:avLst/>
          </a:prstGeom>
          <a:noFill/>
          <a:ln w="12700">
            <a:solidFill>
              <a:schemeClr val="tx1"/>
            </a:solidFill>
            <a:round/>
          </a:ln>
        </p:spPr>
        <p:txBody>
          <a:bodyPr wrap="none" anchor="ctr"/>
          <a:lstStyle/>
          <a:p>
            <a:endParaRPr lang="en-US"/>
          </a:p>
        </p:txBody>
      </p:sp>
      <p:sp>
        <p:nvSpPr>
          <p:cNvPr id="110602" name="Line 106"/>
          <p:cNvSpPr>
            <a:spLocks noChangeShapeType="1"/>
          </p:cNvSpPr>
          <p:nvPr/>
        </p:nvSpPr>
        <p:spPr bwMode="auto">
          <a:xfrm>
            <a:off x="3014663" y="5719815"/>
            <a:ext cx="485775" cy="207963"/>
          </a:xfrm>
          <a:prstGeom prst="line">
            <a:avLst/>
          </a:prstGeom>
          <a:noFill/>
          <a:ln w="12700">
            <a:solidFill>
              <a:schemeClr val="tx1"/>
            </a:solidFill>
            <a:round/>
          </a:ln>
        </p:spPr>
        <p:txBody>
          <a:bodyPr wrap="none" anchor="ctr"/>
          <a:lstStyle/>
          <a:p>
            <a:endParaRPr lang="en-US"/>
          </a:p>
        </p:txBody>
      </p:sp>
      <p:sp>
        <p:nvSpPr>
          <p:cNvPr id="110603" name="Line 108"/>
          <p:cNvSpPr>
            <a:spLocks noChangeShapeType="1"/>
          </p:cNvSpPr>
          <p:nvPr/>
        </p:nvSpPr>
        <p:spPr bwMode="auto">
          <a:xfrm flipH="1">
            <a:off x="2776538" y="5451528"/>
            <a:ext cx="349250" cy="152400"/>
          </a:xfrm>
          <a:prstGeom prst="line">
            <a:avLst/>
          </a:prstGeom>
          <a:noFill/>
          <a:ln w="12700">
            <a:solidFill>
              <a:schemeClr val="tx1"/>
            </a:solidFill>
            <a:round/>
          </a:ln>
        </p:spPr>
        <p:txBody>
          <a:bodyPr wrap="none" anchor="ctr"/>
          <a:lstStyle/>
          <a:p>
            <a:endParaRPr lang="en-US"/>
          </a:p>
        </p:txBody>
      </p:sp>
      <p:sp>
        <p:nvSpPr>
          <p:cNvPr id="110604" name="Line 113"/>
          <p:cNvSpPr>
            <a:spLocks noChangeShapeType="1"/>
          </p:cNvSpPr>
          <p:nvPr/>
        </p:nvSpPr>
        <p:spPr bwMode="auto">
          <a:xfrm flipH="1">
            <a:off x="3990975" y="5780140"/>
            <a:ext cx="620713" cy="144463"/>
          </a:xfrm>
          <a:prstGeom prst="line">
            <a:avLst/>
          </a:prstGeom>
          <a:noFill/>
          <a:ln w="12700">
            <a:solidFill>
              <a:schemeClr val="tx1"/>
            </a:solidFill>
            <a:round/>
          </a:ln>
        </p:spPr>
        <p:txBody>
          <a:bodyPr wrap="none" anchor="ctr"/>
          <a:lstStyle/>
          <a:p>
            <a:endParaRPr lang="en-US"/>
          </a:p>
        </p:txBody>
      </p:sp>
      <p:sp>
        <p:nvSpPr>
          <p:cNvPr id="110605" name="Line 260"/>
          <p:cNvSpPr>
            <a:spLocks noChangeShapeType="1"/>
          </p:cNvSpPr>
          <p:nvPr/>
        </p:nvSpPr>
        <p:spPr bwMode="auto">
          <a:xfrm>
            <a:off x="5110163" y="5745215"/>
            <a:ext cx="485775" cy="207963"/>
          </a:xfrm>
          <a:prstGeom prst="line">
            <a:avLst/>
          </a:prstGeom>
          <a:noFill/>
          <a:ln w="12700">
            <a:solidFill>
              <a:schemeClr val="tx1"/>
            </a:solidFill>
            <a:round/>
          </a:ln>
        </p:spPr>
        <p:txBody>
          <a:bodyPr wrap="none" anchor="ctr"/>
          <a:lstStyle/>
          <a:p>
            <a:endParaRPr lang="en-US"/>
          </a:p>
        </p:txBody>
      </p:sp>
      <p:sp>
        <p:nvSpPr>
          <p:cNvPr id="110606" name="Line 261"/>
          <p:cNvSpPr>
            <a:spLocks noChangeShapeType="1"/>
          </p:cNvSpPr>
          <p:nvPr/>
        </p:nvSpPr>
        <p:spPr bwMode="auto">
          <a:xfrm flipH="1">
            <a:off x="6048375" y="5691240"/>
            <a:ext cx="557213" cy="277813"/>
          </a:xfrm>
          <a:prstGeom prst="line">
            <a:avLst/>
          </a:prstGeom>
          <a:noFill/>
          <a:ln w="12700">
            <a:solidFill>
              <a:schemeClr val="tx1"/>
            </a:solidFill>
            <a:round/>
          </a:ln>
        </p:spPr>
        <p:txBody>
          <a:bodyPr wrap="none" anchor="ctr"/>
          <a:lstStyle/>
          <a:p>
            <a:endParaRPr lang="en-US"/>
          </a:p>
        </p:txBody>
      </p:sp>
      <p:sp>
        <p:nvSpPr>
          <p:cNvPr id="110607" name="Line 291"/>
          <p:cNvSpPr>
            <a:spLocks noChangeShapeType="1"/>
          </p:cNvSpPr>
          <p:nvPr/>
        </p:nvSpPr>
        <p:spPr bwMode="auto">
          <a:xfrm>
            <a:off x="2744788" y="5851578"/>
            <a:ext cx="228600" cy="311150"/>
          </a:xfrm>
          <a:prstGeom prst="line">
            <a:avLst/>
          </a:prstGeom>
          <a:noFill/>
          <a:ln w="12700">
            <a:solidFill>
              <a:schemeClr val="tx1"/>
            </a:solidFill>
            <a:round/>
          </a:ln>
        </p:spPr>
        <p:txBody>
          <a:bodyPr wrap="none" anchor="ctr"/>
          <a:lstStyle/>
          <a:p>
            <a:endParaRPr lang="en-US"/>
          </a:p>
        </p:txBody>
      </p:sp>
      <p:sp>
        <p:nvSpPr>
          <p:cNvPr id="110608" name="Line 292"/>
          <p:cNvSpPr>
            <a:spLocks noChangeShapeType="1"/>
          </p:cNvSpPr>
          <p:nvPr/>
        </p:nvSpPr>
        <p:spPr bwMode="auto">
          <a:xfrm>
            <a:off x="4668838" y="5438828"/>
            <a:ext cx="228600" cy="311150"/>
          </a:xfrm>
          <a:prstGeom prst="line">
            <a:avLst/>
          </a:prstGeom>
          <a:noFill/>
          <a:ln w="12700">
            <a:solidFill>
              <a:schemeClr val="tx1"/>
            </a:solidFill>
            <a:round/>
          </a:ln>
        </p:spPr>
        <p:txBody>
          <a:bodyPr wrap="none" anchor="ctr"/>
          <a:lstStyle/>
          <a:p>
            <a:endParaRPr lang="en-US"/>
          </a:p>
        </p:txBody>
      </p:sp>
      <p:sp>
        <p:nvSpPr>
          <p:cNvPr id="110609" name="Line 294"/>
          <p:cNvSpPr>
            <a:spLocks noChangeShapeType="1"/>
          </p:cNvSpPr>
          <p:nvPr/>
        </p:nvSpPr>
        <p:spPr bwMode="auto">
          <a:xfrm flipH="1">
            <a:off x="3386138" y="6042078"/>
            <a:ext cx="349250" cy="152400"/>
          </a:xfrm>
          <a:prstGeom prst="line">
            <a:avLst/>
          </a:prstGeom>
          <a:noFill/>
          <a:ln w="12700">
            <a:solidFill>
              <a:schemeClr val="tx1"/>
            </a:solidFill>
            <a:round/>
          </a:ln>
        </p:spPr>
        <p:txBody>
          <a:bodyPr wrap="none" anchor="ctr"/>
          <a:lstStyle/>
          <a:p>
            <a:endParaRPr lang="en-US"/>
          </a:p>
        </p:txBody>
      </p:sp>
      <p:sp>
        <p:nvSpPr>
          <p:cNvPr id="110610" name="Line 295"/>
          <p:cNvSpPr>
            <a:spLocks noChangeShapeType="1"/>
          </p:cNvSpPr>
          <p:nvPr/>
        </p:nvSpPr>
        <p:spPr bwMode="auto">
          <a:xfrm>
            <a:off x="3741738" y="5546778"/>
            <a:ext cx="6350" cy="260350"/>
          </a:xfrm>
          <a:prstGeom prst="line">
            <a:avLst/>
          </a:prstGeom>
          <a:noFill/>
          <a:ln w="12700">
            <a:solidFill>
              <a:schemeClr val="tx1"/>
            </a:solidFill>
            <a:round/>
          </a:ln>
        </p:spPr>
        <p:txBody>
          <a:bodyPr wrap="none" anchor="ctr"/>
          <a:lstStyle/>
          <a:p>
            <a:endParaRPr lang="en-US"/>
          </a:p>
        </p:txBody>
      </p:sp>
      <p:sp>
        <p:nvSpPr>
          <p:cNvPr id="83244" name="Text Box 300"/>
          <p:cNvSpPr txBox="1">
            <a:spLocks noChangeArrowheads="1"/>
          </p:cNvSpPr>
          <p:nvPr/>
        </p:nvSpPr>
        <p:spPr bwMode="auto">
          <a:xfrm>
            <a:off x="1387475" y="5403903"/>
            <a:ext cx="1073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solidFill>
                  <a:srgbClr val="CC0000"/>
                </a:solidFill>
              </a:rPr>
              <a:t>3 probes</a:t>
            </a:r>
          </a:p>
        </p:txBody>
      </p:sp>
      <p:sp>
        <p:nvSpPr>
          <p:cNvPr id="83246" name="Text Box 302"/>
          <p:cNvSpPr txBox="1">
            <a:spLocks noChangeArrowheads="1"/>
          </p:cNvSpPr>
          <p:nvPr/>
        </p:nvSpPr>
        <p:spPr bwMode="auto">
          <a:xfrm>
            <a:off x="2001838" y="5964290"/>
            <a:ext cx="1073150" cy="366713"/>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solidFill>
                  <a:srgbClr val="CC0000"/>
                </a:solidFill>
              </a:rPr>
              <a:t>3 probes</a:t>
            </a:r>
          </a:p>
        </p:txBody>
      </p:sp>
      <p:sp>
        <p:nvSpPr>
          <p:cNvPr id="83248" name="Text Box 304"/>
          <p:cNvSpPr txBox="1">
            <a:spLocks noChangeArrowheads="1"/>
          </p:cNvSpPr>
          <p:nvPr/>
        </p:nvSpPr>
        <p:spPr bwMode="auto">
          <a:xfrm>
            <a:off x="3025775" y="5378503"/>
            <a:ext cx="1073150" cy="366712"/>
          </a:xfrm>
          <a:prstGeom prst="rect">
            <a:avLst/>
          </a:prstGeom>
          <a:noFill/>
          <a:ln>
            <a:noFill/>
          </a:ln>
        </p:spPr>
        <p:txBody>
          <a:bodyPr wrap="none">
            <a:spAutoFit/>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800">
                <a:solidFill>
                  <a:srgbClr val="CC0000"/>
                </a:solidFill>
              </a:rPr>
              <a:t>3 probes</a:t>
            </a:r>
          </a:p>
        </p:txBody>
      </p:sp>
      <p:grpSp>
        <p:nvGrpSpPr>
          <p:cNvPr id="110614" name="Group 21"/>
          <p:cNvGrpSpPr/>
          <p:nvPr/>
        </p:nvGrpSpPr>
        <p:grpSpPr bwMode="auto">
          <a:xfrm>
            <a:off x="517525" y="5340403"/>
            <a:ext cx="820738" cy="688975"/>
            <a:chOff x="-44" y="1473"/>
            <a:chExt cx="981" cy="1105"/>
          </a:xfrm>
        </p:grpSpPr>
        <p:pic>
          <p:nvPicPr>
            <p:cNvPr id="110666" name="Picture 22"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p:spPr>
        </p:pic>
        <p:sp>
          <p:nvSpPr>
            <p:cNvPr id="110667" name="Freeform 23"/>
            <p:cNvSpPr/>
            <p:nvPr/>
          </p:nvSpPr>
          <p:spPr bwMode="auto">
            <a:xfrm flipH="1">
              <a:off x="374" y="1579"/>
              <a:ext cx="477" cy="506"/>
            </a:xfrm>
            <a:custGeom>
              <a:avLst/>
              <a:gdLst>
                <a:gd name="T0" fmla="*/ 0 w 356"/>
                <a:gd name="T1" fmla="*/ 0 h 368"/>
                <a:gd name="T2" fmla="*/ 4176 w 356"/>
                <a:gd name="T3" fmla="*/ 248 h 368"/>
                <a:gd name="T4" fmla="*/ 4954 w 356"/>
                <a:gd name="T5" fmla="*/ 5173 h 368"/>
                <a:gd name="T6" fmla="*/ 1092 w 356"/>
                <a:gd name="T7" fmla="*/ 6469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p:spPr>
          <p:txBody>
            <a:bodyPr wrap="none"/>
            <a:lstStyle/>
            <a:p>
              <a:endParaRPr lang="en-US"/>
            </a:p>
          </p:txBody>
        </p:sp>
      </p:grpSp>
      <p:grpSp>
        <p:nvGrpSpPr>
          <p:cNvPr id="110615" name="Group 24"/>
          <p:cNvGrpSpPr/>
          <p:nvPr/>
        </p:nvGrpSpPr>
        <p:grpSpPr bwMode="auto">
          <a:xfrm flipH="1">
            <a:off x="6565900" y="5378503"/>
            <a:ext cx="754063" cy="669925"/>
            <a:chOff x="-44" y="1473"/>
            <a:chExt cx="981" cy="1105"/>
          </a:xfrm>
        </p:grpSpPr>
        <p:pic>
          <p:nvPicPr>
            <p:cNvPr id="110664" name="Picture 25"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p:spPr>
        </p:pic>
        <p:sp>
          <p:nvSpPr>
            <p:cNvPr id="110665" name="Freeform 26"/>
            <p:cNvSpPr/>
            <p:nvPr/>
          </p:nvSpPr>
          <p:spPr bwMode="auto">
            <a:xfrm flipH="1">
              <a:off x="374" y="1579"/>
              <a:ext cx="477" cy="506"/>
            </a:xfrm>
            <a:custGeom>
              <a:avLst/>
              <a:gdLst>
                <a:gd name="T0" fmla="*/ 0 w 356"/>
                <a:gd name="T1" fmla="*/ 0 h 368"/>
                <a:gd name="T2" fmla="*/ 4176 w 356"/>
                <a:gd name="T3" fmla="*/ 248 h 368"/>
                <a:gd name="T4" fmla="*/ 4954 w 356"/>
                <a:gd name="T5" fmla="*/ 5173 h 368"/>
                <a:gd name="T6" fmla="*/ 1092 w 356"/>
                <a:gd name="T7" fmla="*/ 6469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p:spPr>
          <p:txBody>
            <a:bodyPr wrap="none"/>
            <a:lstStyle/>
            <a:p>
              <a:endParaRPr lang="en-US"/>
            </a:p>
          </p:txBody>
        </p:sp>
      </p:grpSp>
      <p:grpSp>
        <p:nvGrpSpPr>
          <p:cNvPr id="110616" name="Group 27"/>
          <p:cNvGrpSpPr/>
          <p:nvPr/>
        </p:nvGrpSpPr>
        <p:grpSpPr bwMode="auto">
          <a:xfrm>
            <a:off x="5513388" y="5878565"/>
            <a:ext cx="617537" cy="250825"/>
            <a:chOff x="2356" y="1300"/>
            <a:chExt cx="555" cy="194"/>
          </a:xfrm>
        </p:grpSpPr>
        <p:sp>
          <p:nvSpPr>
            <p:cNvPr id="110656"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10657"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10658"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10659" name="Group 31"/>
            <p:cNvGrpSpPr/>
            <p:nvPr/>
          </p:nvGrpSpPr>
          <p:grpSpPr bwMode="auto">
            <a:xfrm>
              <a:off x="2468" y="1332"/>
              <a:ext cx="310" cy="60"/>
              <a:chOff x="2468" y="1332"/>
              <a:chExt cx="310" cy="60"/>
            </a:xfrm>
          </p:grpSpPr>
          <p:sp>
            <p:nvSpPr>
              <p:cNvPr id="110662" name="Freeform 32"/>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ln>
            </p:spPr>
            <p:txBody>
              <a:bodyPr/>
              <a:lstStyle/>
              <a:p>
                <a:endParaRPr lang="en-US"/>
              </a:p>
            </p:txBody>
          </p:sp>
          <p:sp>
            <p:nvSpPr>
              <p:cNvPr id="110663" name="Freeform 33"/>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ln>
            </p:spPr>
            <p:txBody>
              <a:bodyPr/>
              <a:lstStyle/>
              <a:p>
                <a:endParaRPr lang="en-US"/>
              </a:p>
            </p:txBody>
          </p:sp>
        </p:grpSp>
        <p:sp>
          <p:nvSpPr>
            <p:cNvPr id="110660" name="Line 34"/>
            <p:cNvSpPr>
              <a:spLocks noChangeShapeType="1"/>
            </p:cNvSpPr>
            <p:nvPr/>
          </p:nvSpPr>
          <p:spPr bwMode="auto">
            <a:xfrm>
              <a:off x="2357" y="1361"/>
              <a:ext cx="0" cy="82"/>
            </a:xfrm>
            <a:prstGeom prst="line">
              <a:avLst/>
            </a:prstGeom>
            <a:noFill/>
            <a:ln w="9525">
              <a:solidFill>
                <a:schemeClr val="tx1"/>
              </a:solidFill>
              <a:round/>
            </a:ln>
          </p:spPr>
          <p:txBody>
            <a:bodyPr/>
            <a:lstStyle/>
            <a:p>
              <a:endParaRPr lang="en-US"/>
            </a:p>
          </p:txBody>
        </p:sp>
        <p:sp>
          <p:nvSpPr>
            <p:cNvPr id="110661" name="Line 35"/>
            <p:cNvSpPr>
              <a:spLocks noChangeShapeType="1"/>
            </p:cNvSpPr>
            <p:nvPr/>
          </p:nvSpPr>
          <p:spPr bwMode="auto">
            <a:xfrm>
              <a:off x="2907" y="1363"/>
              <a:ext cx="0" cy="86"/>
            </a:xfrm>
            <a:prstGeom prst="line">
              <a:avLst/>
            </a:prstGeom>
            <a:noFill/>
            <a:ln w="9525">
              <a:solidFill>
                <a:schemeClr val="tx1"/>
              </a:solidFill>
              <a:round/>
            </a:ln>
          </p:spPr>
          <p:txBody>
            <a:bodyPr/>
            <a:lstStyle/>
            <a:p>
              <a:endParaRPr lang="en-US"/>
            </a:p>
          </p:txBody>
        </p:sp>
      </p:grpSp>
      <p:grpSp>
        <p:nvGrpSpPr>
          <p:cNvPr id="110617" name="Group 36"/>
          <p:cNvGrpSpPr/>
          <p:nvPr/>
        </p:nvGrpSpPr>
        <p:grpSpPr bwMode="auto">
          <a:xfrm>
            <a:off x="4545013" y="5607103"/>
            <a:ext cx="617537" cy="250825"/>
            <a:chOff x="2356" y="1300"/>
            <a:chExt cx="555" cy="194"/>
          </a:xfrm>
        </p:grpSpPr>
        <p:sp>
          <p:nvSpPr>
            <p:cNvPr id="110648"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10649"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10650"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10651" name="Group 40"/>
            <p:cNvGrpSpPr/>
            <p:nvPr/>
          </p:nvGrpSpPr>
          <p:grpSpPr bwMode="auto">
            <a:xfrm>
              <a:off x="2468" y="1332"/>
              <a:ext cx="310" cy="60"/>
              <a:chOff x="2468" y="1332"/>
              <a:chExt cx="310" cy="60"/>
            </a:xfrm>
          </p:grpSpPr>
          <p:sp>
            <p:nvSpPr>
              <p:cNvPr id="110654" name="Freeform 41"/>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ln>
            </p:spPr>
            <p:txBody>
              <a:bodyPr/>
              <a:lstStyle/>
              <a:p>
                <a:endParaRPr lang="en-US"/>
              </a:p>
            </p:txBody>
          </p:sp>
          <p:sp>
            <p:nvSpPr>
              <p:cNvPr id="110655" name="Freeform 42"/>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ln>
            </p:spPr>
            <p:txBody>
              <a:bodyPr/>
              <a:lstStyle/>
              <a:p>
                <a:endParaRPr lang="en-US"/>
              </a:p>
            </p:txBody>
          </p:sp>
        </p:grpSp>
        <p:sp>
          <p:nvSpPr>
            <p:cNvPr id="110652" name="Line 43"/>
            <p:cNvSpPr>
              <a:spLocks noChangeShapeType="1"/>
            </p:cNvSpPr>
            <p:nvPr/>
          </p:nvSpPr>
          <p:spPr bwMode="auto">
            <a:xfrm>
              <a:off x="2357" y="1361"/>
              <a:ext cx="0" cy="82"/>
            </a:xfrm>
            <a:prstGeom prst="line">
              <a:avLst/>
            </a:prstGeom>
            <a:noFill/>
            <a:ln w="9525">
              <a:solidFill>
                <a:schemeClr val="tx1"/>
              </a:solidFill>
              <a:round/>
            </a:ln>
          </p:spPr>
          <p:txBody>
            <a:bodyPr/>
            <a:lstStyle/>
            <a:p>
              <a:endParaRPr lang="en-US"/>
            </a:p>
          </p:txBody>
        </p:sp>
        <p:sp>
          <p:nvSpPr>
            <p:cNvPr id="110653" name="Line 44"/>
            <p:cNvSpPr>
              <a:spLocks noChangeShapeType="1"/>
            </p:cNvSpPr>
            <p:nvPr/>
          </p:nvSpPr>
          <p:spPr bwMode="auto">
            <a:xfrm>
              <a:off x="2907" y="1363"/>
              <a:ext cx="0" cy="86"/>
            </a:xfrm>
            <a:prstGeom prst="line">
              <a:avLst/>
            </a:prstGeom>
            <a:noFill/>
            <a:ln w="9525">
              <a:solidFill>
                <a:schemeClr val="tx1"/>
              </a:solidFill>
              <a:round/>
            </a:ln>
          </p:spPr>
          <p:txBody>
            <a:bodyPr/>
            <a:lstStyle/>
            <a:p>
              <a:endParaRPr lang="en-US"/>
            </a:p>
          </p:txBody>
        </p:sp>
      </p:grpSp>
      <p:grpSp>
        <p:nvGrpSpPr>
          <p:cNvPr id="110618" name="Group 45"/>
          <p:cNvGrpSpPr/>
          <p:nvPr/>
        </p:nvGrpSpPr>
        <p:grpSpPr bwMode="auto">
          <a:xfrm>
            <a:off x="3394075" y="5816653"/>
            <a:ext cx="617538" cy="250825"/>
            <a:chOff x="2356" y="1300"/>
            <a:chExt cx="555" cy="194"/>
          </a:xfrm>
        </p:grpSpPr>
        <p:sp>
          <p:nvSpPr>
            <p:cNvPr id="110640"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10641"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10642"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10643" name="Group 49"/>
            <p:cNvGrpSpPr/>
            <p:nvPr/>
          </p:nvGrpSpPr>
          <p:grpSpPr bwMode="auto">
            <a:xfrm>
              <a:off x="2468" y="1332"/>
              <a:ext cx="310" cy="60"/>
              <a:chOff x="2468" y="1332"/>
              <a:chExt cx="310" cy="60"/>
            </a:xfrm>
          </p:grpSpPr>
          <p:sp>
            <p:nvSpPr>
              <p:cNvPr id="110646" name="Freeform 50"/>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ln>
            </p:spPr>
            <p:txBody>
              <a:bodyPr/>
              <a:lstStyle/>
              <a:p>
                <a:endParaRPr lang="en-US"/>
              </a:p>
            </p:txBody>
          </p:sp>
          <p:sp>
            <p:nvSpPr>
              <p:cNvPr id="110647" name="Freeform 51"/>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ln>
            </p:spPr>
            <p:txBody>
              <a:bodyPr/>
              <a:lstStyle/>
              <a:p>
                <a:endParaRPr lang="en-US"/>
              </a:p>
            </p:txBody>
          </p:sp>
        </p:grpSp>
        <p:sp>
          <p:nvSpPr>
            <p:cNvPr id="110644" name="Line 52"/>
            <p:cNvSpPr>
              <a:spLocks noChangeShapeType="1"/>
            </p:cNvSpPr>
            <p:nvPr/>
          </p:nvSpPr>
          <p:spPr bwMode="auto">
            <a:xfrm>
              <a:off x="2357" y="1361"/>
              <a:ext cx="0" cy="82"/>
            </a:xfrm>
            <a:prstGeom prst="line">
              <a:avLst/>
            </a:prstGeom>
            <a:noFill/>
            <a:ln w="9525">
              <a:solidFill>
                <a:schemeClr val="tx1"/>
              </a:solidFill>
              <a:round/>
            </a:ln>
          </p:spPr>
          <p:txBody>
            <a:bodyPr/>
            <a:lstStyle/>
            <a:p>
              <a:endParaRPr lang="en-US"/>
            </a:p>
          </p:txBody>
        </p:sp>
        <p:sp>
          <p:nvSpPr>
            <p:cNvPr id="110645" name="Line 53"/>
            <p:cNvSpPr>
              <a:spLocks noChangeShapeType="1"/>
            </p:cNvSpPr>
            <p:nvPr/>
          </p:nvSpPr>
          <p:spPr bwMode="auto">
            <a:xfrm>
              <a:off x="2907" y="1363"/>
              <a:ext cx="0" cy="86"/>
            </a:xfrm>
            <a:prstGeom prst="line">
              <a:avLst/>
            </a:prstGeom>
            <a:noFill/>
            <a:ln w="9525">
              <a:solidFill>
                <a:schemeClr val="tx1"/>
              </a:solidFill>
              <a:round/>
            </a:ln>
          </p:spPr>
          <p:txBody>
            <a:bodyPr/>
            <a:lstStyle/>
            <a:p>
              <a:endParaRPr lang="en-US"/>
            </a:p>
          </p:txBody>
        </p:sp>
      </p:grpSp>
      <p:grpSp>
        <p:nvGrpSpPr>
          <p:cNvPr id="110619" name="Group 54"/>
          <p:cNvGrpSpPr/>
          <p:nvPr/>
        </p:nvGrpSpPr>
        <p:grpSpPr bwMode="auto">
          <a:xfrm>
            <a:off x="2392363" y="5570590"/>
            <a:ext cx="617537" cy="250825"/>
            <a:chOff x="2356" y="1300"/>
            <a:chExt cx="555" cy="194"/>
          </a:xfrm>
        </p:grpSpPr>
        <p:sp>
          <p:nvSpPr>
            <p:cNvPr id="110632"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10633"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10634"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10635" name="Group 58"/>
            <p:cNvGrpSpPr/>
            <p:nvPr/>
          </p:nvGrpSpPr>
          <p:grpSpPr bwMode="auto">
            <a:xfrm>
              <a:off x="2468" y="1332"/>
              <a:ext cx="310" cy="60"/>
              <a:chOff x="2468" y="1332"/>
              <a:chExt cx="310" cy="60"/>
            </a:xfrm>
          </p:grpSpPr>
          <p:sp>
            <p:nvSpPr>
              <p:cNvPr id="110638" name="Freeform 59"/>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ln>
            </p:spPr>
            <p:txBody>
              <a:bodyPr/>
              <a:lstStyle/>
              <a:p>
                <a:endParaRPr lang="en-US"/>
              </a:p>
            </p:txBody>
          </p:sp>
          <p:sp>
            <p:nvSpPr>
              <p:cNvPr id="110639" name="Freeform 60"/>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ln>
            </p:spPr>
            <p:txBody>
              <a:bodyPr/>
              <a:lstStyle/>
              <a:p>
                <a:endParaRPr lang="en-US"/>
              </a:p>
            </p:txBody>
          </p:sp>
        </p:grpSp>
        <p:sp>
          <p:nvSpPr>
            <p:cNvPr id="110636" name="Line 61"/>
            <p:cNvSpPr>
              <a:spLocks noChangeShapeType="1"/>
            </p:cNvSpPr>
            <p:nvPr/>
          </p:nvSpPr>
          <p:spPr bwMode="auto">
            <a:xfrm>
              <a:off x="2357" y="1361"/>
              <a:ext cx="0" cy="82"/>
            </a:xfrm>
            <a:prstGeom prst="line">
              <a:avLst/>
            </a:prstGeom>
            <a:noFill/>
            <a:ln w="9525">
              <a:solidFill>
                <a:schemeClr val="tx1"/>
              </a:solidFill>
              <a:round/>
            </a:ln>
          </p:spPr>
          <p:txBody>
            <a:bodyPr/>
            <a:lstStyle/>
            <a:p>
              <a:endParaRPr lang="en-US"/>
            </a:p>
          </p:txBody>
        </p:sp>
        <p:sp>
          <p:nvSpPr>
            <p:cNvPr id="110637" name="Line 62"/>
            <p:cNvSpPr>
              <a:spLocks noChangeShapeType="1"/>
            </p:cNvSpPr>
            <p:nvPr/>
          </p:nvSpPr>
          <p:spPr bwMode="auto">
            <a:xfrm>
              <a:off x="2907" y="1363"/>
              <a:ext cx="0" cy="86"/>
            </a:xfrm>
            <a:prstGeom prst="line">
              <a:avLst/>
            </a:prstGeom>
            <a:noFill/>
            <a:ln w="9525">
              <a:solidFill>
                <a:schemeClr val="tx1"/>
              </a:solidFill>
              <a:round/>
            </a:ln>
          </p:spPr>
          <p:txBody>
            <a:bodyPr/>
            <a:lstStyle/>
            <a:p>
              <a:endParaRPr lang="en-US"/>
            </a:p>
          </p:txBody>
        </p:sp>
      </p:grpSp>
      <p:grpSp>
        <p:nvGrpSpPr>
          <p:cNvPr id="110620" name="Group 63"/>
          <p:cNvGrpSpPr/>
          <p:nvPr/>
        </p:nvGrpSpPr>
        <p:grpSpPr bwMode="auto">
          <a:xfrm>
            <a:off x="1517650" y="5837290"/>
            <a:ext cx="617538" cy="250825"/>
            <a:chOff x="2356" y="1300"/>
            <a:chExt cx="555" cy="194"/>
          </a:xfrm>
        </p:grpSpPr>
        <p:sp>
          <p:nvSpPr>
            <p:cNvPr id="110624"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p>
              <a:endParaRPr lang="en-US" sz="2400">
                <a:latin typeface="Times New Roman" panose="02020503050405090304" charset="0"/>
                <a:cs typeface="Arial" panose="020B0604020202090204" pitchFamily="34" charset="0"/>
              </a:endParaRPr>
            </a:p>
          </p:txBody>
        </p:sp>
        <p:sp>
          <p:nvSpPr>
            <p:cNvPr id="110625"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p:spPr>
          <p:txBody>
            <a:bodyPr wrap="none" anchor="ctr"/>
            <a:lstStyle/>
            <a:p>
              <a:pPr algn="ctr"/>
              <a:endParaRPr lang="en-US" sz="2400">
                <a:latin typeface="Times New Roman" panose="02020503050405090304" charset="0"/>
                <a:cs typeface="Arial" panose="020B0604020202090204" pitchFamily="34" charset="0"/>
              </a:endParaRPr>
            </a:p>
          </p:txBody>
        </p:sp>
        <p:sp>
          <p:nvSpPr>
            <p:cNvPr id="110626"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ln>
          </p:spPr>
          <p:txBody>
            <a:bodyPr wrap="none" anchor="ctr"/>
            <a:lstStyle/>
            <a:p>
              <a:endParaRPr lang="en-US" sz="2400">
                <a:latin typeface="Times New Roman" panose="02020503050405090304" charset="0"/>
                <a:cs typeface="Arial" panose="020B0604020202090204" pitchFamily="34" charset="0"/>
              </a:endParaRPr>
            </a:p>
          </p:txBody>
        </p:sp>
        <p:grpSp>
          <p:nvGrpSpPr>
            <p:cNvPr id="110627" name="Group 67"/>
            <p:cNvGrpSpPr/>
            <p:nvPr/>
          </p:nvGrpSpPr>
          <p:grpSpPr bwMode="auto">
            <a:xfrm>
              <a:off x="2468" y="1332"/>
              <a:ext cx="310" cy="60"/>
              <a:chOff x="2468" y="1332"/>
              <a:chExt cx="310" cy="60"/>
            </a:xfrm>
          </p:grpSpPr>
          <p:sp>
            <p:nvSpPr>
              <p:cNvPr id="110630" name="Freeform 68"/>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ln>
            </p:spPr>
            <p:txBody>
              <a:bodyPr/>
              <a:lstStyle/>
              <a:p>
                <a:endParaRPr lang="en-US"/>
              </a:p>
            </p:txBody>
          </p:sp>
          <p:sp>
            <p:nvSpPr>
              <p:cNvPr id="110631" name="Freeform 69"/>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ln>
            </p:spPr>
            <p:txBody>
              <a:bodyPr/>
              <a:lstStyle/>
              <a:p>
                <a:endParaRPr lang="en-US"/>
              </a:p>
            </p:txBody>
          </p:sp>
        </p:grpSp>
        <p:sp>
          <p:nvSpPr>
            <p:cNvPr id="110628" name="Line 70"/>
            <p:cNvSpPr>
              <a:spLocks noChangeShapeType="1"/>
            </p:cNvSpPr>
            <p:nvPr/>
          </p:nvSpPr>
          <p:spPr bwMode="auto">
            <a:xfrm>
              <a:off x="2357" y="1361"/>
              <a:ext cx="0" cy="82"/>
            </a:xfrm>
            <a:prstGeom prst="line">
              <a:avLst/>
            </a:prstGeom>
            <a:noFill/>
            <a:ln w="9525">
              <a:solidFill>
                <a:schemeClr val="tx1"/>
              </a:solidFill>
              <a:round/>
            </a:ln>
          </p:spPr>
          <p:txBody>
            <a:bodyPr/>
            <a:lstStyle/>
            <a:p>
              <a:endParaRPr lang="en-US"/>
            </a:p>
          </p:txBody>
        </p:sp>
        <p:sp>
          <p:nvSpPr>
            <p:cNvPr id="110629" name="Line 71"/>
            <p:cNvSpPr>
              <a:spLocks noChangeShapeType="1"/>
            </p:cNvSpPr>
            <p:nvPr/>
          </p:nvSpPr>
          <p:spPr bwMode="auto">
            <a:xfrm>
              <a:off x="2907" y="1363"/>
              <a:ext cx="0" cy="86"/>
            </a:xfrm>
            <a:prstGeom prst="line">
              <a:avLst/>
            </a:prstGeom>
            <a:noFill/>
            <a:ln w="9525">
              <a:solidFill>
                <a:schemeClr val="tx1"/>
              </a:solidFill>
              <a:round/>
            </a:ln>
          </p:spPr>
          <p:txBody>
            <a:bodyPr/>
            <a:lstStyle/>
            <a:p>
              <a:endParaRPr lang="en-US"/>
            </a:p>
          </p:txBody>
        </p:sp>
      </p:grpSp>
      <p:sp>
        <p:nvSpPr>
          <p:cNvPr id="83247" name="Freeform 303"/>
          <p:cNvSpPr/>
          <p:nvPr/>
        </p:nvSpPr>
        <p:spPr bwMode="auto">
          <a:xfrm>
            <a:off x="1257300" y="5624565"/>
            <a:ext cx="2247900" cy="403225"/>
          </a:xfrm>
          <a:custGeom>
            <a:avLst/>
            <a:gdLst>
              <a:gd name="T0" fmla="*/ 2147483647 w 1416"/>
              <a:gd name="T1" fmla="*/ 2147483647 h 254"/>
              <a:gd name="T2" fmla="*/ 2147483647 w 1416"/>
              <a:gd name="T3" fmla="*/ 2147483647 h 254"/>
              <a:gd name="T4" fmla="*/ 2147483647 w 1416"/>
              <a:gd name="T5" fmla="*/ 2147483647 h 254"/>
              <a:gd name="T6" fmla="*/ 2147483647 w 1416"/>
              <a:gd name="T7" fmla="*/ 2147483647 h 254"/>
              <a:gd name="T8" fmla="*/ 2147483647 w 1416"/>
              <a:gd name="T9" fmla="*/ 2147483647 h 254"/>
              <a:gd name="T10" fmla="*/ 2147483647 w 1416"/>
              <a:gd name="T11" fmla="*/ 2147483647 h 254"/>
              <a:gd name="T12" fmla="*/ 0 w 1416"/>
              <a:gd name="T13" fmla="*/ 2147483647 h 254"/>
              <a:gd name="T14" fmla="*/ 0 60000 65536"/>
              <a:gd name="T15" fmla="*/ 0 60000 65536"/>
              <a:gd name="T16" fmla="*/ 0 60000 65536"/>
              <a:gd name="T17" fmla="*/ 0 60000 65536"/>
              <a:gd name="T18" fmla="*/ 0 60000 65536"/>
              <a:gd name="T19" fmla="*/ 0 60000 65536"/>
              <a:gd name="T20" fmla="*/ 0 60000 65536"/>
              <a:gd name="T21" fmla="*/ 0 w 1416"/>
              <a:gd name="T22" fmla="*/ 0 h 254"/>
              <a:gd name="T23" fmla="*/ 1416 w 1416"/>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6" h="254">
                <a:moveTo>
                  <a:pt x="76" y="30"/>
                </a:moveTo>
                <a:cubicBezTo>
                  <a:pt x="137" y="11"/>
                  <a:pt x="200" y="170"/>
                  <a:pt x="324" y="170"/>
                </a:cubicBezTo>
                <a:cubicBezTo>
                  <a:pt x="461" y="165"/>
                  <a:pt x="717" y="0"/>
                  <a:pt x="896" y="2"/>
                </a:cubicBezTo>
                <a:cubicBezTo>
                  <a:pt x="1075" y="4"/>
                  <a:pt x="1416" y="122"/>
                  <a:pt x="1400" y="182"/>
                </a:cubicBezTo>
                <a:cubicBezTo>
                  <a:pt x="1384" y="242"/>
                  <a:pt x="1073" y="63"/>
                  <a:pt x="896" y="74"/>
                </a:cubicBezTo>
                <a:cubicBezTo>
                  <a:pt x="719" y="85"/>
                  <a:pt x="489" y="254"/>
                  <a:pt x="340" y="250"/>
                </a:cubicBezTo>
                <a:cubicBezTo>
                  <a:pt x="191" y="246"/>
                  <a:pt x="62" y="32"/>
                  <a:pt x="0" y="50"/>
                </a:cubicBezTo>
              </a:path>
            </a:pathLst>
          </a:custGeom>
          <a:noFill/>
          <a:ln w="28575">
            <a:solidFill>
              <a:srgbClr val="CC0000"/>
            </a:solidFill>
            <a:round/>
            <a:tailEnd type="triangle" w="med" len="med"/>
          </a:ln>
        </p:spPr>
        <p:txBody>
          <a:bodyPr/>
          <a:lstStyle/>
          <a:p>
            <a:endParaRPr lang="en-US"/>
          </a:p>
        </p:txBody>
      </p:sp>
      <p:sp>
        <p:nvSpPr>
          <p:cNvPr id="83243" name="Freeform 299"/>
          <p:cNvSpPr/>
          <p:nvPr/>
        </p:nvSpPr>
        <p:spPr bwMode="auto">
          <a:xfrm>
            <a:off x="1289050" y="5661078"/>
            <a:ext cx="419100" cy="419100"/>
          </a:xfrm>
          <a:custGeom>
            <a:avLst/>
            <a:gdLst>
              <a:gd name="T0" fmla="*/ 2147483647 w 264"/>
              <a:gd name="T1" fmla="*/ 0 h 264"/>
              <a:gd name="T2" fmla="*/ 2147483647 w 264"/>
              <a:gd name="T3" fmla="*/ 2147483647 h 264"/>
              <a:gd name="T4" fmla="*/ 0 w 264"/>
              <a:gd name="T5" fmla="*/ 2147483647 h 264"/>
              <a:gd name="T6" fmla="*/ 0 60000 65536"/>
              <a:gd name="T7" fmla="*/ 0 60000 65536"/>
              <a:gd name="T8" fmla="*/ 0 60000 65536"/>
              <a:gd name="T9" fmla="*/ 0 w 264"/>
              <a:gd name="T10" fmla="*/ 0 h 264"/>
              <a:gd name="T11" fmla="*/ 264 w 264"/>
              <a:gd name="T12" fmla="*/ 264 h 264"/>
            </a:gdLst>
            <a:ahLst/>
            <a:cxnLst>
              <a:cxn ang="T6">
                <a:pos x="T0" y="T1"/>
              </a:cxn>
              <a:cxn ang="T7">
                <a:pos x="T2" y="T3"/>
              </a:cxn>
              <a:cxn ang="T8">
                <a:pos x="T4" y="T5"/>
              </a:cxn>
            </a:cxnLst>
            <a:rect l="T9" t="T10" r="T11" b="T12"/>
            <a:pathLst>
              <a:path w="264" h="264">
                <a:moveTo>
                  <a:pt x="60" y="0"/>
                </a:moveTo>
                <a:cubicBezTo>
                  <a:pt x="86" y="31"/>
                  <a:pt x="264" y="176"/>
                  <a:pt x="228" y="220"/>
                </a:cubicBezTo>
                <a:cubicBezTo>
                  <a:pt x="192" y="264"/>
                  <a:pt x="60" y="109"/>
                  <a:pt x="0" y="88"/>
                </a:cubicBezTo>
              </a:path>
            </a:pathLst>
          </a:custGeom>
          <a:noFill/>
          <a:ln w="28575">
            <a:solidFill>
              <a:srgbClr val="CC0000"/>
            </a:solidFill>
            <a:round/>
            <a:tailEnd type="triangle" w="med" len="med"/>
          </a:ln>
        </p:spPr>
        <p:txBody>
          <a:bodyPr/>
          <a:lstStyle/>
          <a:p>
            <a:endParaRPr lang="en-US"/>
          </a:p>
        </p:txBody>
      </p:sp>
      <p:sp>
        <p:nvSpPr>
          <p:cNvPr id="83245" name="Freeform 301"/>
          <p:cNvSpPr/>
          <p:nvPr/>
        </p:nvSpPr>
        <p:spPr bwMode="auto">
          <a:xfrm>
            <a:off x="1282700" y="5575353"/>
            <a:ext cx="1346200" cy="474662"/>
          </a:xfrm>
          <a:custGeom>
            <a:avLst/>
            <a:gdLst>
              <a:gd name="T0" fmla="*/ 2147483647 w 848"/>
              <a:gd name="T1" fmla="*/ 2147483647 h 299"/>
              <a:gd name="T2" fmla="*/ 2147483647 w 848"/>
              <a:gd name="T3" fmla="*/ 2147483647 h 299"/>
              <a:gd name="T4" fmla="*/ 2147483647 w 848"/>
              <a:gd name="T5" fmla="*/ 2147483647 h 299"/>
              <a:gd name="T6" fmla="*/ 2147483647 w 848"/>
              <a:gd name="T7" fmla="*/ 2147483647 h 299"/>
              <a:gd name="T8" fmla="*/ 0 w 848"/>
              <a:gd name="T9" fmla="*/ 2147483647 h 299"/>
              <a:gd name="T10" fmla="*/ 0 60000 65536"/>
              <a:gd name="T11" fmla="*/ 0 60000 65536"/>
              <a:gd name="T12" fmla="*/ 0 60000 65536"/>
              <a:gd name="T13" fmla="*/ 0 60000 65536"/>
              <a:gd name="T14" fmla="*/ 0 60000 65536"/>
              <a:gd name="T15" fmla="*/ 0 w 848"/>
              <a:gd name="T16" fmla="*/ 0 h 299"/>
              <a:gd name="T17" fmla="*/ 848 w 848"/>
              <a:gd name="T18" fmla="*/ 299 h 299"/>
            </a:gdLst>
            <a:ahLst/>
            <a:cxnLst>
              <a:cxn ang="T10">
                <a:pos x="T0" y="T1"/>
              </a:cxn>
              <a:cxn ang="T11">
                <a:pos x="T2" y="T3"/>
              </a:cxn>
              <a:cxn ang="T12">
                <a:pos x="T4" y="T5"/>
              </a:cxn>
              <a:cxn ang="T13">
                <a:pos x="T6" y="T7"/>
              </a:cxn>
              <a:cxn ang="T14">
                <a:pos x="T8" y="T9"/>
              </a:cxn>
            </a:cxnLst>
            <a:rect l="T15" t="T16" r="T17" b="T18"/>
            <a:pathLst>
              <a:path w="848" h="299">
                <a:moveTo>
                  <a:pt x="76" y="76"/>
                </a:moveTo>
                <a:cubicBezTo>
                  <a:pt x="137" y="57"/>
                  <a:pt x="200" y="216"/>
                  <a:pt x="324" y="216"/>
                </a:cubicBezTo>
                <a:cubicBezTo>
                  <a:pt x="448" y="216"/>
                  <a:pt x="792" y="0"/>
                  <a:pt x="820" y="76"/>
                </a:cubicBezTo>
                <a:cubicBezTo>
                  <a:pt x="848" y="152"/>
                  <a:pt x="469" y="245"/>
                  <a:pt x="340" y="296"/>
                </a:cubicBezTo>
                <a:cubicBezTo>
                  <a:pt x="203" y="299"/>
                  <a:pt x="62" y="78"/>
                  <a:pt x="0" y="96"/>
                </a:cubicBezTo>
              </a:path>
            </a:pathLst>
          </a:custGeom>
          <a:noFill/>
          <a:ln w="28575">
            <a:solidFill>
              <a:srgbClr val="CC0000"/>
            </a:solidFill>
            <a:round/>
            <a:tailEnd type="triangle" w="med" len="med"/>
          </a:ln>
        </p:spPr>
        <p:txBody>
          <a:bodyPr/>
          <a:lstStyle/>
          <a:p>
            <a:endParaRPr lang="en-US"/>
          </a:p>
        </p:txBody>
      </p:sp>
      <p:sp>
        <p:nvSpPr>
          <p:cNvPr id="77" name="Slide Number Placeholder 5"/>
          <p:cNvSpPr>
            <a:spLocks noGrp="1"/>
          </p:cNvSpPr>
          <p:nvPr>
            <p:ph type="sldNum" sz="quarter" idx="12"/>
          </p:nvPr>
        </p:nvSpPr>
        <p:spPr>
          <a:xfrm>
            <a:off x="8456295" y="6475730"/>
            <a:ext cx="612775"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117</a:t>
            </a:fld>
            <a:endParaRPr lang="en-US" sz="1200" dirty="0">
              <a:latin typeface="Tahoma" panose="020B0604030504040204" charset="0"/>
            </a:endParaRPr>
          </a:p>
        </p:txBody>
      </p:sp>
      <p:sp>
        <p:nvSpPr>
          <p:cNvPr id="78"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243"/>
                                        </p:tgtEl>
                                        <p:attrNameLst>
                                          <p:attrName>style.visibility</p:attrName>
                                        </p:attrNameLst>
                                      </p:cBhvr>
                                      <p:to>
                                        <p:strVal val="visible"/>
                                      </p:to>
                                    </p:set>
                                  </p:childTnLst>
                                  <p:subTnLst>
                                    <p:set>
                                      <p:cBhvr override="childStyle">
                                        <p:cTn dur="1" fill="hold" display="0" masterRel="nextClick" afterEffect="1"/>
                                        <p:tgtEl>
                                          <p:spTgt spid="83243"/>
                                        </p:tgtEl>
                                        <p:attrNameLst>
                                          <p:attrName>style.visibility</p:attrName>
                                        </p:attrNameLst>
                                      </p:cBhvr>
                                      <p:to>
                                        <p:strVal val="hidden"/>
                                      </p:to>
                                    </p:set>
                                  </p:subTnLst>
                                </p:cTn>
                              </p:par>
                              <p:par>
                                <p:cTn id="7" presetID="1" presetClass="entr" presetSubtype="0" fill="hold" grpId="0" nodeType="withEffect">
                                  <p:stCondLst>
                                    <p:cond delay="0"/>
                                  </p:stCondLst>
                                  <p:childTnLst>
                                    <p:set>
                                      <p:cBhvr>
                                        <p:cTn id="8" dur="1" fill="hold">
                                          <p:stCondLst>
                                            <p:cond delay="0"/>
                                          </p:stCondLst>
                                        </p:cTn>
                                        <p:tgtEl>
                                          <p:spTgt spid="83244"/>
                                        </p:tgtEl>
                                        <p:attrNameLst>
                                          <p:attrName>style.visibility</p:attrName>
                                        </p:attrNameLst>
                                      </p:cBhvr>
                                      <p:to>
                                        <p:strVal val="visible"/>
                                      </p:to>
                                    </p:set>
                                  </p:childTnLst>
                                  <p:subTnLst>
                                    <p:set>
                                      <p:cBhvr override="childStyle">
                                        <p:cTn dur="1" fill="hold" display="0" masterRel="nextClick" afterEffect="1"/>
                                        <p:tgtEl>
                                          <p:spTgt spid="83244"/>
                                        </p:tgtEl>
                                        <p:attrNameLst>
                                          <p:attrName>style.visibility</p:attrName>
                                        </p:attrNameLst>
                                      </p:cBhvr>
                                      <p:to>
                                        <p:strVal val="hidden"/>
                                      </p:to>
                                    </p:set>
                                  </p:sub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83245"/>
                                        </p:tgtEl>
                                        <p:attrNameLst>
                                          <p:attrName>style.visibility</p:attrName>
                                        </p:attrNameLst>
                                      </p:cBhvr>
                                      <p:to>
                                        <p:strVal val="visible"/>
                                      </p:to>
                                    </p:set>
                                  </p:childTnLst>
                                  <p:subTnLst>
                                    <p:set>
                                      <p:cBhvr override="childStyle">
                                        <p:cTn dur="1" fill="hold" display="0" masterRel="nextClick" afterEffect="1"/>
                                        <p:tgtEl>
                                          <p:spTgt spid="83245"/>
                                        </p:tgtEl>
                                        <p:attrNameLst>
                                          <p:attrName>style.visibility</p:attrName>
                                        </p:attrNameLst>
                                      </p:cBhvr>
                                      <p:to>
                                        <p:strVal val="hidden"/>
                                      </p:to>
                                    </p:set>
                                  </p:subTnLst>
                                </p:cTn>
                              </p:par>
                              <p:par>
                                <p:cTn id="13" presetID="1" presetClass="entr" presetSubtype="0" fill="hold" grpId="0" nodeType="withEffect">
                                  <p:stCondLst>
                                    <p:cond delay="0"/>
                                  </p:stCondLst>
                                  <p:childTnLst>
                                    <p:set>
                                      <p:cBhvr>
                                        <p:cTn id="14" dur="1" fill="hold">
                                          <p:stCondLst>
                                            <p:cond delay="0"/>
                                          </p:stCondLst>
                                        </p:cTn>
                                        <p:tgtEl>
                                          <p:spTgt spid="83246"/>
                                        </p:tgtEl>
                                        <p:attrNameLst>
                                          <p:attrName>style.visibility</p:attrName>
                                        </p:attrNameLst>
                                      </p:cBhvr>
                                      <p:to>
                                        <p:strVal val="visible"/>
                                      </p:to>
                                    </p:set>
                                  </p:childTnLst>
                                  <p:subTnLst>
                                    <p:set>
                                      <p:cBhvr override="childStyle">
                                        <p:cTn dur="1" fill="hold" display="0" masterRel="nextClick" afterEffect="1"/>
                                        <p:tgtEl>
                                          <p:spTgt spid="83246"/>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324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8324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55365"/>
                                        </p:tgtEl>
                                        <p:attrNameLst>
                                          <p:attrName>style.visibility</p:attrName>
                                        </p:attrNameLst>
                                      </p:cBhvr>
                                      <p:to>
                                        <p:strVal val="visible"/>
                                      </p:to>
                                    </p:set>
                                    <p:animEffect transition="in" filter="dissolve">
                                      <p:cBhvr>
                                        <p:cTn id="25" dur="500"/>
                                        <p:tgtEl>
                                          <p:spTgt spid="655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365" grpId="0"/>
      <p:bldP spid="83244" grpId="0"/>
      <p:bldP spid="83246" grpId="0"/>
      <p:bldP spid="83248" grpId="0"/>
      <p:bldP spid="83247" grpId="0" animBg="1"/>
      <p:bldP spid="83243" grpId="0" animBg="1"/>
      <p:bldP spid="83245"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2"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3" y="1025525"/>
            <a:ext cx="4113212" cy="173038"/>
          </a:xfrm>
          <a:prstGeom prst="rect">
            <a:avLst/>
          </a:prstGeom>
          <a:noFill/>
          <a:ln>
            <a:noFill/>
          </a:ln>
        </p:spPr>
      </p:pic>
      <p:sp>
        <p:nvSpPr>
          <p:cNvPr id="43012" name="Rectangle 3"/>
          <p:cNvSpPr>
            <a:spLocks noGrp="1" noChangeArrowheads="1"/>
          </p:cNvSpPr>
          <p:nvPr>
            <p:ph type="body" sz="half" idx="1"/>
          </p:nvPr>
        </p:nvSpPr>
        <p:spPr/>
        <p:txBody>
          <a:bodyPr/>
          <a:lstStyle/>
          <a:p>
            <a:pPr>
              <a:lnSpc>
                <a:spcPct val="100000"/>
              </a:lnSpc>
              <a:buFont typeface="Wingdings" panose="05000000000000000000" charset="0"/>
              <a:buNone/>
            </a:pPr>
            <a:r>
              <a:rPr lang="en-US" sz="2400" dirty="0">
                <a:latin typeface="Gill Sans MT" pitchFamily="34" charset="0"/>
              </a:rPr>
              <a:t>5.1 introduction</a:t>
            </a:r>
          </a:p>
          <a:p>
            <a:pPr>
              <a:lnSpc>
                <a:spcPct val="100000"/>
              </a:lnSpc>
              <a:buFont typeface="Wingdings" panose="05000000000000000000" charset="0"/>
              <a:buNone/>
            </a:pPr>
            <a:r>
              <a:rPr lang="en-US" sz="2400" dirty="0">
                <a:latin typeface="Gill Sans MT" pitchFamily="34" charset="0"/>
              </a:rPr>
              <a:t>5.2 routing protocols</a:t>
            </a:r>
          </a:p>
          <a:p>
            <a:pPr>
              <a:lnSpc>
                <a:spcPct val="100000"/>
              </a:lnSpc>
            </a:pPr>
            <a:r>
              <a:rPr lang="en-US" sz="2400" dirty="0">
                <a:latin typeface="Gill Sans MT" pitchFamily="34" charset="0"/>
              </a:rPr>
              <a:t>link state</a:t>
            </a:r>
          </a:p>
          <a:p>
            <a:pPr>
              <a:lnSpc>
                <a:spcPct val="100000"/>
              </a:lnSpc>
            </a:pPr>
            <a:r>
              <a:rPr lang="en-US" sz="2400" dirty="0">
                <a:latin typeface="Gill Sans MT" pitchFamily="34" charset="0"/>
              </a:rPr>
              <a:t>distance vector</a:t>
            </a:r>
          </a:p>
          <a:p>
            <a:pPr marL="462280" indent="-462280">
              <a:lnSpc>
                <a:spcPct val="100000"/>
              </a:lnSpc>
              <a:buNone/>
            </a:pPr>
            <a:r>
              <a:rPr lang="en-US" sz="2400" dirty="0"/>
              <a:t>5.3 intra-AS routing in the Internet: OSPF</a:t>
            </a:r>
          </a:p>
          <a:p>
            <a:pPr marL="462280" indent="-462280">
              <a:lnSpc>
                <a:spcPct val="100000"/>
              </a:lnSpc>
              <a:buNone/>
            </a:pPr>
            <a:r>
              <a:rPr lang="en-US" sz="2400" dirty="0"/>
              <a:t>5.4 routing among the ISPs: BGP</a:t>
            </a:r>
            <a:endParaRPr lang="en-US" sz="2400" dirty="0">
              <a:latin typeface="Gill Sans MT" pitchFamily="34" charset="0"/>
            </a:endParaRPr>
          </a:p>
        </p:txBody>
      </p:sp>
      <p:sp>
        <p:nvSpPr>
          <p:cNvPr id="43013" name="Rectangle 4"/>
          <p:cNvSpPr>
            <a:spLocks noGrp="1" noChangeArrowheads="1"/>
          </p:cNvSpPr>
          <p:nvPr>
            <p:ph type="body" sz="half" idx="2"/>
          </p:nvPr>
        </p:nvSpPr>
        <p:spPr/>
        <p:txBody>
          <a:bodyPr/>
          <a:lstStyle/>
          <a:p>
            <a:pPr marL="462280" indent="-462280">
              <a:lnSpc>
                <a:spcPct val="100000"/>
              </a:lnSpc>
              <a:buFont typeface="Wingdings" panose="05000000000000000000" charset="0"/>
              <a:buNone/>
            </a:pPr>
            <a:r>
              <a:rPr lang="en-US" sz="2400" dirty="0">
                <a:latin typeface="Gill Sans MT" pitchFamily="34" charset="0"/>
              </a:rPr>
              <a:t>5.5 The SDN control plane</a:t>
            </a:r>
          </a:p>
          <a:p>
            <a:pPr marL="462280" indent="-462280">
              <a:lnSpc>
                <a:spcPct val="100000"/>
              </a:lnSpc>
              <a:buNone/>
            </a:pPr>
            <a:r>
              <a:rPr lang="en-US" sz="2400" dirty="0">
                <a:solidFill>
                  <a:srgbClr val="000000"/>
                </a:solidFill>
              </a:rPr>
              <a:t>5.6 ICMP: The Internet Control Message Protocol </a:t>
            </a:r>
          </a:p>
          <a:p>
            <a:pPr marL="462280" indent="-462280">
              <a:lnSpc>
                <a:spcPct val="100000"/>
              </a:lnSpc>
              <a:buNone/>
            </a:pPr>
            <a:r>
              <a:rPr lang="en-US" sz="2400" dirty="0">
                <a:solidFill>
                  <a:srgbClr val="CC0000"/>
                </a:solidFill>
              </a:rPr>
              <a:t>5.7 Network management and SNMP</a:t>
            </a:r>
            <a:endParaRPr lang="en-US" sz="2400" dirty="0">
              <a:solidFill>
                <a:srgbClr val="CC0000"/>
              </a:solidFill>
              <a:latin typeface="Gill Sans MT" pitchFamily="34" charset="0"/>
            </a:endParaRPr>
          </a:p>
        </p:txBody>
      </p:sp>
      <p:sp>
        <p:nvSpPr>
          <p:cNvPr id="43014" name="Rectangle 2"/>
          <p:cNvSpPr>
            <a:spLocks noChangeArrowheads="1"/>
          </p:cNvSpPr>
          <p:nvPr/>
        </p:nvSpPr>
        <p:spPr bwMode="auto">
          <a:xfrm>
            <a:off x="533400" y="228600"/>
            <a:ext cx="7772400" cy="1143000"/>
          </a:xfrm>
          <a:prstGeom prst="rect">
            <a:avLst/>
          </a:prstGeom>
          <a:noFill/>
          <a:ln>
            <a:noFill/>
          </a:ln>
        </p:spPr>
        <p:txBody>
          <a:bodyPr anchor="ctr"/>
          <a:lstStyle/>
          <a:p>
            <a:r>
              <a:rPr lang="en-US" sz="4400" dirty="0">
                <a:solidFill>
                  <a:srgbClr val="000099"/>
                </a:solidFill>
                <a:latin typeface="Gill Sans MT" pitchFamily="34" charset="0"/>
              </a:rPr>
              <a:t>Chapter 5: outline</a:t>
            </a:r>
          </a:p>
        </p:txBody>
      </p:sp>
      <p:sp>
        <p:nvSpPr>
          <p:cNvPr id="6" name="Slide Number Placeholder 5"/>
          <p:cNvSpPr>
            <a:spLocks noGrp="1"/>
          </p:cNvSpPr>
          <p:nvPr>
            <p:ph type="sldNum" sz="quarter" idx="12"/>
          </p:nvPr>
        </p:nvSpPr>
        <p:spPr>
          <a:xfrm>
            <a:off x="8456295" y="6475730"/>
            <a:ext cx="610235"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118</a:t>
            </a:fld>
            <a:endParaRPr lang="en-US" sz="1200" dirty="0">
              <a:latin typeface="Tahoma" panose="020B0604030504040204" charset="0"/>
            </a:endParaRPr>
          </a:p>
        </p:txBody>
      </p:sp>
      <p:sp>
        <p:nvSpPr>
          <p:cNvPr id="7"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3" name="Picture 16"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7225" y="870123"/>
            <a:ext cx="7313613" cy="173038"/>
          </a:xfrm>
          <a:prstGeom prst="rect">
            <a:avLst/>
          </a:prstGeom>
          <a:noFill/>
          <a:ln>
            <a:noFill/>
          </a:ln>
        </p:spPr>
      </p:pic>
      <p:sp>
        <p:nvSpPr>
          <p:cNvPr id="54274" name="Rectangle 2"/>
          <p:cNvSpPr>
            <a:spLocks noGrp="1" noChangeArrowheads="1"/>
          </p:cNvSpPr>
          <p:nvPr>
            <p:ph type="title"/>
          </p:nvPr>
        </p:nvSpPr>
        <p:spPr>
          <a:xfrm>
            <a:off x="533400" y="41448"/>
            <a:ext cx="7772400" cy="1143000"/>
          </a:xfrm>
        </p:spPr>
        <p:txBody>
          <a:bodyPr/>
          <a:lstStyle/>
          <a:p>
            <a:pPr>
              <a:defRPr/>
            </a:pPr>
            <a:r>
              <a:rPr lang="en-US" sz="4000" dirty="0"/>
              <a:t>What is network management?</a:t>
            </a:r>
          </a:p>
        </p:txBody>
      </p:sp>
      <p:sp>
        <p:nvSpPr>
          <p:cNvPr id="54275" name="Rectangle 3"/>
          <p:cNvSpPr>
            <a:spLocks noGrp="1" noChangeArrowheads="1"/>
          </p:cNvSpPr>
          <p:nvPr>
            <p:ph type="body" idx="1"/>
          </p:nvPr>
        </p:nvSpPr>
        <p:spPr>
          <a:xfrm>
            <a:off x="533400" y="1252632"/>
            <a:ext cx="8191500" cy="3067050"/>
          </a:xfrm>
        </p:spPr>
        <p:txBody>
          <a:bodyPr/>
          <a:lstStyle/>
          <a:p>
            <a:pPr>
              <a:defRPr/>
            </a:pPr>
            <a:r>
              <a:rPr lang="en-US" sz="2400" dirty="0">
                <a:solidFill>
                  <a:srgbClr val="CC0000"/>
                </a:solidFill>
              </a:rPr>
              <a:t>autonomous systems (aka </a:t>
            </a:r>
            <a:r>
              <a:rPr lang="ja-JP" altLang="en-US" sz="2400" dirty="0">
                <a:solidFill>
                  <a:srgbClr val="CC0000"/>
                </a:solidFill>
                <a:latin typeface="Arial" panose="020B0604020202090204"/>
              </a:rPr>
              <a:t>“</a:t>
            </a:r>
            <a:r>
              <a:rPr lang="en-US" sz="2400" dirty="0">
                <a:solidFill>
                  <a:srgbClr val="CC0000"/>
                </a:solidFill>
              </a:rPr>
              <a:t>network</a:t>
            </a:r>
            <a:r>
              <a:rPr lang="ja-JP" altLang="en-US" sz="2400" dirty="0">
                <a:solidFill>
                  <a:srgbClr val="CC0000"/>
                </a:solidFill>
                <a:latin typeface="Arial" panose="020B0604020202090204"/>
              </a:rPr>
              <a:t>”</a:t>
            </a:r>
            <a:r>
              <a:rPr lang="en-US" sz="2400" dirty="0">
                <a:solidFill>
                  <a:srgbClr val="CC0000"/>
                </a:solidFill>
              </a:rPr>
              <a:t>): </a:t>
            </a:r>
            <a:r>
              <a:rPr lang="en-US" sz="2400" dirty="0"/>
              <a:t>1000s of interacting hardware/software components</a:t>
            </a:r>
          </a:p>
          <a:p>
            <a:pPr>
              <a:defRPr/>
            </a:pPr>
            <a:r>
              <a:rPr lang="en-US" sz="2400" dirty="0"/>
              <a:t>other complex systems requiring monitoring, control:</a:t>
            </a:r>
          </a:p>
          <a:p>
            <a:pPr lvl="1">
              <a:defRPr/>
            </a:pPr>
            <a:r>
              <a:rPr lang="en-US" dirty="0"/>
              <a:t>jet airplane</a:t>
            </a:r>
          </a:p>
          <a:p>
            <a:pPr lvl="1">
              <a:defRPr/>
            </a:pPr>
            <a:r>
              <a:rPr lang="en-US" dirty="0"/>
              <a:t>nuclear power plant</a:t>
            </a:r>
          </a:p>
          <a:p>
            <a:pPr lvl="1">
              <a:defRPr/>
            </a:pPr>
            <a:r>
              <a:rPr lang="en-US" dirty="0"/>
              <a:t>others?</a:t>
            </a:r>
          </a:p>
        </p:txBody>
      </p:sp>
      <p:sp>
        <p:nvSpPr>
          <p:cNvPr id="54277" name="Text Box 5"/>
          <p:cNvSpPr txBox="1">
            <a:spLocks noChangeArrowheads="1"/>
          </p:cNvSpPr>
          <p:nvPr/>
        </p:nvSpPr>
        <p:spPr bwMode="auto">
          <a:xfrm>
            <a:off x="1522413" y="3845193"/>
            <a:ext cx="6962775" cy="2000250"/>
          </a:xfrm>
          <a:prstGeom prst="rect">
            <a:avLst/>
          </a:prstGeom>
          <a:noFill/>
          <a:ln>
            <a:noFill/>
          </a:ln>
          <a:effectLst/>
        </p:spPr>
        <p:txBody>
          <a:bodyPr wrap="none">
            <a:spAutoFit/>
          </a:bodyPr>
          <a:lstStyle/>
          <a:p>
            <a:pPr algn="l">
              <a:defRPr/>
            </a:pPr>
            <a:r>
              <a:rPr lang="en-US" sz="2000" dirty="0">
                <a:latin typeface="Arial" panose="020B0604020202090204"/>
                <a:cs typeface="Arial" panose="020B0604020202090204"/>
              </a:rPr>
              <a:t>"</a:t>
            </a:r>
            <a:r>
              <a:rPr lang="en-US" sz="2000" dirty="0">
                <a:solidFill>
                  <a:srgbClr val="000099"/>
                </a:solidFill>
                <a:latin typeface="Arial" panose="020B0604020202090204"/>
                <a:cs typeface="Arial" panose="020B0604020202090204"/>
              </a:rPr>
              <a:t>Network management</a:t>
            </a:r>
            <a:r>
              <a:rPr lang="en-US" sz="2000" dirty="0">
                <a:latin typeface="Arial" panose="020B0604020202090204"/>
                <a:cs typeface="Arial" panose="020B0604020202090204"/>
              </a:rPr>
              <a:t> includes the deployment, integration </a:t>
            </a:r>
          </a:p>
          <a:p>
            <a:pPr algn="l">
              <a:defRPr/>
            </a:pPr>
            <a:r>
              <a:rPr lang="en-US" sz="2000" dirty="0">
                <a:latin typeface="Arial" panose="020B0604020202090204"/>
                <a:cs typeface="Arial" panose="020B0604020202090204"/>
              </a:rPr>
              <a:t>and coordination of the hardware, software, and human </a:t>
            </a:r>
          </a:p>
          <a:p>
            <a:pPr algn="l">
              <a:defRPr/>
            </a:pPr>
            <a:r>
              <a:rPr lang="en-US" sz="2000" dirty="0">
                <a:latin typeface="Arial" panose="020B0604020202090204"/>
                <a:cs typeface="Arial" panose="020B0604020202090204"/>
              </a:rPr>
              <a:t>elements to monitor, test, poll, configure, analyze, evaluate, </a:t>
            </a:r>
          </a:p>
          <a:p>
            <a:pPr algn="l">
              <a:defRPr/>
            </a:pPr>
            <a:r>
              <a:rPr lang="en-US" sz="2000" dirty="0">
                <a:latin typeface="Arial" panose="020B0604020202090204"/>
                <a:cs typeface="Arial" panose="020B0604020202090204"/>
              </a:rPr>
              <a:t>and control the network and element resources to meet the </a:t>
            </a:r>
          </a:p>
          <a:p>
            <a:pPr algn="l">
              <a:defRPr/>
            </a:pPr>
            <a:r>
              <a:rPr lang="en-US" sz="2000" dirty="0">
                <a:latin typeface="Arial" panose="020B0604020202090204"/>
                <a:cs typeface="Arial" panose="020B0604020202090204"/>
              </a:rPr>
              <a:t>real-time, operational performance, and Quality of Service </a:t>
            </a:r>
          </a:p>
          <a:p>
            <a:pPr algn="l">
              <a:defRPr/>
            </a:pPr>
            <a:r>
              <a:rPr lang="en-US" sz="2000" dirty="0">
                <a:latin typeface="Arial" panose="020B0604020202090204"/>
                <a:cs typeface="Arial" panose="020B0604020202090204"/>
              </a:rPr>
              <a:t>requirements at a reasonable cost."</a:t>
            </a:r>
            <a:r>
              <a:rPr lang="en-US" dirty="0">
                <a:latin typeface="Arial" panose="020B0604020202090204"/>
                <a:cs typeface="Arial" panose="020B0604020202090204"/>
              </a:rPr>
              <a:t> </a:t>
            </a:r>
          </a:p>
        </p:txBody>
      </p:sp>
      <p:sp>
        <p:nvSpPr>
          <p:cNvPr id="54278" name="Rectangle 6"/>
          <p:cNvSpPr>
            <a:spLocks noChangeArrowheads="1"/>
          </p:cNvSpPr>
          <p:nvPr/>
        </p:nvSpPr>
        <p:spPr bwMode="auto">
          <a:xfrm>
            <a:off x="1427163" y="3815030"/>
            <a:ext cx="7148512" cy="2093913"/>
          </a:xfrm>
          <a:prstGeom prst="rect">
            <a:avLst/>
          </a:prstGeom>
          <a:noFill/>
          <a:ln w="28575">
            <a:solidFill>
              <a:srgbClr val="CC0000"/>
            </a:solidFill>
            <a:miter lim="800000"/>
          </a:ln>
          <a:effectLst/>
        </p:spPr>
        <p:txBody>
          <a:bodyPr wrap="none" anchor="ctr"/>
          <a:lstStyle/>
          <a:p>
            <a:pPr>
              <a:defRPr/>
            </a:pPr>
            <a:endParaRPr lang="en-US">
              <a:cs typeface="+mn-cs"/>
            </a:endParaRPr>
          </a:p>
        </p:txBody>
      </p:sp>
      <p:graphicFrame>
        <p:nvGraphicFramePr>
          <p:cNvPr id="33800" name="Object 8"/>
          <p:cNvGraphicFramePr>
            <a:graphicFrameLocks noChangeAspect="1"/>
          </p:cNvGraphicFramePr>
          <p:nvPr/>
        </p:nvGraphicFramePr>
        <p:xfrm>
          <a:off x="342900" y="4008705"/>
          <a:ext cx="1123950" cy="1600200"/>
        </p:xfrm>
        <a:graphic>
          <a:graphicData uri="http://schemas.openxmlformats.org/presentationml/2006/ole">
            <mc:AlternateContent xmlns:mc="http://schemas.openxmlformats.org/markup-compatibility/2006">
              <mc:Choice xmlns:v="urn:schemas-microsoft-com:vml" Requires="v">
                <p:oleObj name="Clip" r:id="rId4" imgW="2861945" imgH="4077970" progId="MS_ClipArt_Gallery.2">
                  <p:embed/>
                </p:oleObj>
              </mc:Choice>
              <mc:Fallback>
                <p:oleObj name="Clip" r:id="rId4" imgW="2861945" imgH="4077970" progId="MS_ClipArt_Gallery.2">
                  <p:embed/>
                  <p:pic>
                    <p:nvPicPr>
                      <p:cNvPr id="0" name="图片 308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2900" y="4008705"/>
                        <a:ext cx="1123950" cy="1600200"/>
                      </a:xfrm>
                      <a:prstGeom prst="rect">
                        <a:avLst/>
                      </a:prstGeom>
                      <a:noFill/>
                      <a:ln>
                        <a:noFill/>
                      </a:ln>
                      <a:effectLst/>
                    </p:spPr>
                  </p:pic>
                </p:oleObj>
              </mc:Fallback>
            </mc:AlternateContent>
          </a:graphicData>
        </a:graphic>
      </p:graphicFrame>
      <p:sp>
        <p:nvSpPr>
          <p:cNvPr id="10" name="Slide Number Placeholder 5"/>
          <p:cNvSpPr>
            <a:spLocks noGrp="1"/>
          </p:cNvSpPr>
          <p:nvPr>
            <p:ph type="sldNum" sz="quarter" idx="12"/>
          </p:nvPr>
        </p:nvSpPr>
        <p:spPr>
          <a:xfrm>
            <a:off x="8456295" y="6475730"/>
            <a:ext cx="68834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119</a:t>
            </a:fld>
            <a:endParaRPr lang="en-US" sz="1200" dirty="0">
              <a:latin typeface="Tahoma" panose="020B0604030504040204" charset="0"/>
            </a:endParaRPr>
          </a:p>
        </p:txBody>
      </p:sp>
      <p:sp>
        <p:nvSpPr>
          <p:cNvPr id="11"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 name="Freeform 2"/>
          <p:cNvSpPr/>
          <p:nvPr/>
        </p:nvSpPr>
        <p:spPr bwMode="auto">
          <a:xfrm rot="16383367">
            <a:off x="1251820" y="2563335"/>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p:spPr>
        <p:txBody>
          <a:bodyPr wrap="none" anchor="ctr"/>
          <a:lstStyle/>
          <a:p>
            <a:pPr defTabSz="914400" eaLnBrk="0" fontAlgn="base" hangingPunct="0">
              <a:spcBef>
                <a:spcPct val="0"/>
              </a:spcBef>
              <a:spcAft>
                <a:spcPct val="0"/>
              </a:spcAft>
            </a:pPr>
            <a:endParaRPr lang="en-US">
              <a:solidFill>
                <a:srgbClr val="000000"/>
              </a:solidFill>
              <a:latin typeface="Arial" panose="020B0604020202090204" pitchFamily="34" charset="0"/>
              <a:ea typeface="MS PGothic" charset="0"/>
              <a:cs typeface="MS PGothic" charset="0"/>
            </a:endParaRPr>
          </a:p>
        </p:txBody>
      </p:sp>
      <p:pic>
        <p:nvPicPr>
          <p:cNvPr id="35841" name="Picture 6" descr="underline_bas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3225" y="898525"/>
            <a:ext cx="8228013" cy="173038"/>
          </a:xfrm>
          <a:prstGeom prst="rect">
            <a:avLst/>
          </a:prstGeom>
          <a:noFill/>
          <a:ln>
            <a:noFill/>
          </a:ln>
        </p:spPr>
      </p:pic>
      <p:sp>
        <p:nvSpPr>
          <p:cNvPr id="34818" name="Rectangle 2"/>
          <p:cNvSpPr>
            <a:spLocks noGrp="1" noChangeArrowheads="1"/>
          </p:cNvSpPr>
          <p:nvPr>
            <p:ph type="title"/>
          </p:nvPr>
        </p:nvSpPr>
        <p:spPr>
          <a:xfrm>
            <a:off x="304800" y="188913"/>
            <a:ext cx="8631238" cy="947737"/>
          </a:xfrm>
        </p:spPr>
        <p:txBody>
          <a:bodyPr/>
          <a:lstStyle/>
          <a:p>
            <a:pPr>
              <a:defRPr/>
            </a:pPr>
            <a:r>
              <a:rPr lang="en-US" sz="3600" dirty="0"/>
              <a:t>Infrastructure for network management</a:t>
            </a:r>
          </a:p>
        </p:txBody>
      </p:sp>
      <p:sp>
        <p:nvSpPr>
          <p:cNvPr id="35068" name="Line 252"/>
          <p:cNvSpPr>
            <a:spLocks noChangeShapeType="1"/>
          </p:cNvSpPr>
          <p:nvPr/>
        </p:nvSpPr>
        <p:spPr bwMode="auto">
          <a:xfrm flipV="1">
            <a:off x="3308350" y="2808288"/>
            <a:ext cx="338138" cy="1042987"/>
          </a:xfrm>
          <a:prstGeom prst="line">
            <a:avLst/>
          </a:prstGeom>
          <a:noFill/>
          <a:ln w="19050">
            <a:solidFill>
              <a:schemeClr val="tx1"/>
            </a:solidFill>
            <a:round/>
          </a:ln>
          <a:effectLst/>
        </p:spPr>
        <p:txBody>
          <a:bodyPr wrap="none" anchor="ctr"/>
          <a:lstStyle/>
          <a:p>
            <a:pPr>
              <a:defRPr/>
            </a:pPr>
            <a:endParaRPr lang="en-US" sz="1600">
              <a:latin typeface="Arial" panose="020B0604020202090204"/>
              <a:cs typeface="Arial" panose="020B0604020202090204"/>
            </a:endParaRPr>
          </a:p>
        </p:txBody>
      </p:sp>
      <p:sp>
        <p:nvSpPr>
          <p:cNvPr id="35070" name="Line 254"/>
          <p:cNvSpPr>
            <a:spLocks noChangeShapeType="1"/>
          </p:cNvSpPr>
          <p:nvPr/>
        </p:nvSpPr>
        <p:spPr bwMode="auto">
          <a:xfrm flipV="1">
            <a:off x="3641725" y="3762375"/>
            <a:ext cx="187325" cy="211138"/>
          </a:xfrm>
          <a:prstGeom prst="line">
            <a:avLst/>
          </a:prstGeom>
          <a:noFill/>
          <a:ln w="19050">
            <a:solidFill>
              <a:schemeClr val="tx1"/>
            </a:solidFill>
            <a:round/>
          </a:ln>
          <a:effectLst/>
        </p:spPr>
        <p:txBody>
          <a:bodyPr wrap="none" anchor="ctr"/>
          <a:lstStyle/>
          <a:p>
            <a:pPr>
              <a:defRPr/>
            </a:pPr>
            <a:endParaRPr lang="en-US" sz="1600">
              <a:latin typeface="Arial" panose="020B0604020202090204"/>
              <a:cs typeface="Arial" panose="020B0604020202090204"/>
            </a:endParaRPr>
          </a:p>
        </p:txBody>
      </p:sp>
      <p:sp>
        <p:nvSpPr>
          <p:cNvPr id="35072" name="Line 256"/>
          <p:cNvSpPr>
            <a:spLocks noChangeShapeType="1"/>
          </p:cNvSpPr>
          <p:nvPr/>
        </p:nvSpPr>
        <p:spPr bwMode="auto">
          <a:xfrm flipV="1">
            <a:off x="3117850" y="5441950"/>
            <a:ext cx="350838" cy="3175"/>
          </a:xfrm>
          <a:prstGeom prst="line">
            <a:avLst/>
          </a:prstGeom>
          <a:noFill/>
          <a:ln w="19050">
            <a:solidFill>
              <a:schemeClr val="tx1"/>
            </a:solidFill>
            <a:round/>
          </a:ln>
          <a:effectLst/>
        </p:spPr>
        <p:txBody>
          <a:bodyPr wrap="none" anchor="ctr"/>
          <a:lstStyle/>
          <a:p>
            <a:pPr>
              <a:defRPr/>
            </a:pPr>
            <a:endParaRPr lang="en-US" sz="1600">
              <a:latin typeface="Arial" panose="020B0604020202090204"/>
              <a:cs typeface="Arial" panose="020B0604020202090204"/>
            </a:endParaRPr>
          </a:p>
        </p:txBody>
      </p:sp>
      <p:sp>
        <p:nvSpPr>
          <p:cNvPr id="35088" name="Line 272"/>
          <p:cNvSpPr>
            <a:spLocks noChangeShapeType="1"/>
          </p:cNvSpPr>
          <p:nvPr/>
        </p:nvSpPr>
        <p:spPr bwMode="auto">
          <a:xfrm>
            <a:off x="3541713" y="4252913"/>
            <a:ext cx="373062" cy="554037"/>
          </a:xfrm>
          <a:prstGeom prst="line">
            <a:avLst/>
          </a:prstGeom>
          <a:noFill/>
          <a:ln w="19050">
            <a:solidFill>
              <a:schemeClr val="tx1"/>
            </a:solidFill>
            <a:round/>
          </a:ln>
          <a:effectLst/>
        </p:spPr>
        <p:txBody>
          <a:bodyPr wrap="none" anchor="ctr"/>
          <a:lstStyle/>
          <a:p>
            <a:pPr>
              <a:defRPr/>
            </a:pPr>
            <a:endParaRPr lang="en-US" sz="1600">
              <a:latin typeface="Arial" panose="020B0604020202090204"/>
              <a:cs typeface="Arial" panose="020B0604020202090204"/>
            </a:endParaRPr>
          </a:p>
        </p:txBody>
      </p:sp>
      <p:sp>
        <p:nvSpPr>
          <p:cNvPr id="35149" name="Text Box 333"/>
          <p:cNvSpPr txBox="1">
            <a:spLocks noChangeArrowheads="1"/>
          </p:cNvSpPr>
          <p:nvPr/>
        </p:nvSpPr>
        <p:spPr bwMode="auto">
          <a:xfrm>
            <a:off x="2014538" y="5565775"/>
            <a:ext cx="1690387" cy="338554"/>
          </a:xfrm>
          <a:prstGeom prst="rect">
            <a:avLst/>
          </a:prstGeom>
          <a:noFill/>
          <a:ln>
            <a:noFill/>
          </a:ln>
          <a:effectLst/>
        </p:spPr>
        <p:txBody>
          <a:bodyPr wrap="none">
            <a:spAutoFit/>
          </a:bodyPr>
          <a:lstStyle/>
          <a:p>
            <a:pPr>
              <a:defRPr/>
            </a:pPr>
            <a:r>
              <a:rPr lang="en-US" sz="1600" dirty="0">
                <a:latin typeface="Arial" panose="020B0604020202090204"/>
                <a:cs typeface="Arial" panose="020B0604020202090204"/>
              </a:rPr>
              <a:t>managed device</a:t>
            </a:r>
          </a:p>
        </p:txBody>
      </p:sp>
      <p:sp>
        <p:nvSpPr>
          <p:cNvPr id="35154" name="Text Box 338"/>
          <p:cNvSpPr txBox="1">
            <a:spLocks noChangeArrowheads="1"/>
          </p:cNvSpPr>
          <p:nvPr/>
        </p:nvSpPr>
        <p:spPr bwMode="auto">
          <a:xfrm>
            <a:off x="3860800" y="5299075"/>
            <a:ext cx="1690387" cy="338554"/>
          </a:xfrm>
          <a:prstGeom prst="rect">
            <a:avLst/>
          </a:prstGeom>
          <a:noFill/>
          <a:ln>
            <a:noFill/>
          </a:ln>
          <a:effectLst/>
        </p:spPr>
        <p:txBody>
          <a:bodyPr wrap="none">
            <a:spAutoFit/>
          </a:bodyPr>
          <a:lstStyle/>
          <a:p>
            <a:pPr>
              <a:defRPr/>
            </a:pPr>
            <a:r>
              <a:rPr lang="en-US" sz="1600" dirty="0">
                <a:latin typeface="Arial" panose="020B0604020202090204"/>
                <a:cs typeface="Arial" panose="020B0604020202090204"/>
              </a:rPr>
              <a:t>managed device</a:t>
            </a:r>
          </a:p>
        </p:txBody>
      </p:sp>
      <p:sp>
        <p:nvSpPr>
          <p:cNvPr id="35155" name="Text Box 339"/>
          <p:cNvSpPr txBox="1">
            <a:spLocks noChangeArrowheads="1"/>
          </p:cNvSpPr>
          <p:nvPr/>
        </p:nvSpPr>
        <p:spPr bwMode="auto">
          <a:xfrm>
            <a:off x="4079792" y="2506245"/>
            <a:ext cx="1690387" cy="338554"/>
          </a:xfrm>
          <a:prstGeom prst="rect">
            <a:avLst/>
          </a:prstGeom>
          <a:noFill/>
          <a:ln>
            <a:noFill/>
          </a:ln>
          <a:effectLst/>
        </p:spPr>
        <p:txBody>
          <a:bodyPr wrap="none">
            <a:spAutoFit/>
          </a:bodyPr>
          <a:lstStyle/>
          <a:p>
            <a:pPr>
              <a:defRPr/>
            </a:pPr>
            <a:r>
              <a:rPr lang="en-US" sz="1600" dirty="0">
                <a:latin typeface="Arial" panose="020B0604020202090204"/>
                <a:cs typeface="Arial" panose="020B0604020202090204"/>
              </a:rPr>
              <a:t>managed device</a:t>
            </a:r>
          </a:p>
        </p:txBody>
      </p:sp>
      <p:sp>
        <p:nvSpPr>
          <p:cNvPr id="35156" name="Text Box 340"/>
          <p:cNvSpPr txBox="1">
            <a:spLocks noChangeArrowheads="1"/>
          </p:cNvSpPr>
          <p:nvPr/>
        </p:nvSpPr>
        <p:spPr bwMode="auto">
          <a:xfrm>
            <a:off x="4033838" y="3765550"/>
            <a:ext cx="1690387" cy="338554"/>
          </a:xfrm>
          <a:prstGeom prst="rect">
            <a:avLst/>
          </a:prstGeom>
          <a:noFill/>
          <a:ln>
            <a:noFill/>
          </a:ln>
          <a:effectLst/>
        </p:spPr>
        <p:txBody>
          <a:bodyPr wrap="none">
            <a:spAutoFit/>
          </a:bodyPr>
          <a:lstStyle/>
          <a:p>
            <a:pPr>
              <a:defRPr/>
            </a:pPr>
            <a:r>
              <a:rPr lang="en-US" sz="1600">
                <a:latin typeface="Arial" panose="020B0604020202090204"/>
                <a:cs typeface="Arial" panose="020B0604020202090204"/>
              </a:rPr>
              <a:t>managed device</a:t>
            </a:r>
          </a:p>
        </p:txBody>
      </p:sp>
      <p:sp>
        <p:nvSpPr>
          <p:cNvPr id="35163" name="Text Box 347"/>
          <p:cNvSpPr txBox="1">
            <a:spLocks noChangeArrowheads="1"/>
          </p:cNvSpPr>
          <p:nvPr/>
        </p:nvSpPr>
        <p:spPr bwMode="auto">
          <a:xfrm>
            <a:off x="436563" y="1217613"/>
            <a:ext cx="1770062" cy="523875"/>
          </a:xfrm>
          <a:prstGeom prst="rect">
            <a:avLst/>
          </a:prstGeom>
          <a:noFill/>
          <a:ln>
            <a:noFill/>
          </a:ln>
          <a:effectLst/>
        </p:spPr>
        <p:txBody>
          <a:bodyPr wrap="none">
            <a:spAutoFit/>
          </a:bodyPr>
          <a:lstStyle/>
          <a:p>
            <a:pPr>
              <a:defRPr/>
            </a:pPr>
            <a:r>
              <a:rPr lang="en-US" sz="2800" dirty="0">
                <a:latin typeface="Gill Sans" panose="020B0502020104020203"/>
                <a:cs typeface="Gill Sans" panose="020B0502020104020203"/>
              </a:rPr>
              <a:t>definitions:</a:t>
            </a:r>
          </a:p>
        </p:txBody>
      </p:sp>
      <p:sp>
        <p:nvSpPr>
          <p:cNvPr id="35164" name="Text Box 348"/>
          <p:cNvSpPr txBox="1">
            <a:spLocks noChangeArrowheads="1"/>
          </p:cNvSpPr>
          <p:nvPr/>
        </p:nvSpPr>
        <p:spPr bwMode="auto">
          <a:xfrm>
            <a:off x="5996822" y="2283242"/>
            <a:ext cx="2973388" cy="2616101"/>
          </a:xfrm>
          <a:prstGeom prst="rect">
            <a:avLst/>
          </a:prstGeom>
          <a:noFill/>
          <a:ln>
            <a:noFill/>
          </a:ln>
          <a:effectLst/>
        </p:spPr>
        <p:txBody>
          <a:bodyPr>
            <a:spAutoFit/>
          </a:bodyPr>
          <a:lstStyle/>
          <a:p>
            <a:pPr algn="ctr">
              <a:defRPr/>
            </a:pPr>
            <a:r>
              <a:rPr lang="en-US" sz="2400" i="1" dirty="0">
                <a:solidFill>
                  <a:srgbClr val="000099"/>
                </a:solidFill>
                <a:latin typeface="Gill Sans" panose="020B0502020104020203"/>
                <a:cs typeface="Gill Sans" panose="020B0502020104020203"/>
              </a:rPr>
              <a:t>managed devices</a:t>
            </a:r>
            <a:r>
              <a:rPr lang="en-US" sz="2400" dirty="0">
                <a:latin typeface="Gill Sans" panose="020B0502020104020203"/>
                <a:cs typeface="Gill Sans" panose="020B0502020104020203"/>
              </a:rPr>
              <a:t> contain </a:t>
            </a:r>
            <a:r>
              <a:rPr lang="en-US" sz="2400" i="1" dirty="0">
                <a:solidFill>
                  <a:srgbClr val="000099"/>
                </a:solidFill>
                <a:latin typeface="Gill Sans" panose="020B0502020104020203"/>
                <a:cs typeface="Gill Sans" panose="020B0502020104020203"/>
              </a:rPr>
              <a:t>managed objects</a:t>
            </a:r>
            <a:r>
              <a:rPr lang="en-US" sz="2400" dirty="0">
                <a:latin typeface="Gill Sans" panose="020B0502020104020203"/>
                <a:cs typeface="Gill Sans" panose="020B0502020104020203"/>
              </a:rPr>
              <a:t> whose  data is gathered into a </a:t>
            </a:r>
            <a:r>
              <a:rPr lang="en-US" sz="2400" i="1" dirty="0">
                <a:solidFill>
                  <a:srgbClr val="000099"/>
                </a:solidFill>
                <a:latin typeface="Gill Sans" panose="020B0502020104020203"/>
                <a:cs typeface="Gill Sans" panose="020B0502020104020203"/>
              </a:rPr>
              <a:t>Management Information Base (MIB)</a:t>
            </a:r>
            <a:r>
              <a:rPr lang="en-US" sz="2400" i="1" dirty="0">
                <a:latin typeface="Gill Sans" panose="020B0502020104020203"/>
                <a:cs typeface="Gill Sans" panose="020B0502020104020203"/>
              </a:rPr>
              <a:t> </a:t>
            </a:r>
          </a:p>
          <a:p>
            <a:pPr>
              <a:defRPr/>
            </a:pPr>
            <a:endParaRPr lang="en-US" sz="2000" dirty="0">
              <a:cs typeface="+mn-cs"/>
            </a:endParaRPr>
          </a:p>
        </p:txBody>
      </p:sp>
      <p:grpSp>
        <p:nvGrpSpPr>
          <p:cNvPr id="5" name="Group 4"/>
          <p:cNvGrpSpPr/>
          <p:nvPr/>
        </p:nvGrpSpPr>
        <p:grpSpPr bwMode="auto">
          <a:xfrm>
            <a:off x="428625" y="1933575"/>
            <a:ext cx="2047875" cy="1133475"/>
            <a:chOff x="428625" y="1933980"/>
            <a:chExt cx="2047875" cy="1133070"/>
          </a:xfrm>
        </p:grpSpPr>
        <p:grpSp>
          <p:nvGrpSpPr>
            <p:cNvPr id="35941" name="Group 345"/>
            <p:cNvGrpSpPr/>
            <p:nvPr/>
          </p:nvGrpSpPr>
          <p:grpSpPr bwMode="auto">
            <a:xfrm>
              <a:off x="428625" y="2295525"/>
              <a:ext cx="2047875" cy="771525"/>
              <a:chOff x="396" y="1116"/>
              <a:chExt cx="1290" cy="486"/>
            </a:xfrm>
          </p:grpSpPr>
          <p:sp>
            <p:nvSpPr>
              <p:cNvPr id="35096" name="Oval 280"/>
              <p:cNvSpPr>
                <a:spLocks noChangeArrowheads="1"/>
              </p:cNvSpPr>
              <p:nvPr/>
            </p:nvSpPr>
            <p:spPr bwMode="auto">
              <a:xfrm>
                <a:off x="396" y="1116"/>
                <a:ext cx="1290" cy="486"/>
              </a:xfrm>
              <a:prstGeom prst="ellipse">
                <a:avLst/>
              </a:prstGeom>
              <a:solidFill>
                <a:schemeClr val="bg1"/>
              </a:solidFill>
              <a:ln w="19050">
                <a:solidFill>
                  <a:srgbClr val="FF0000"/>
                </a:solidFill>
                <a:round/>
              </a:ln>
              <a:effectLst/>
            </p:spPr>
            <p:txBody>
              <a:bodyPr wrap="none" anchor="ctr"/>
              <a:lstStyle/>
              <a:p>
                <a:pPr>
                  <a:defRPr/>
                </a:pPr>
                <a:endParaRPr lang="en-US" sz="1600">
                  <a:latin typeface="Arial" panose="020B0604020202090204"/>
                  <a:cs typeface="Arial" panose="020B0604020202090204"/>
                </a:endParaRPr>
              </a:p>
            </p:txBody>
          </p:sp>
          <p:sp>
            <p:nvSpPr>
              <p:cNvPr id="35092" name="Text Box 276"/>
              <p:cNvSpPr txBox="1">
                <a:spLocks noChangeArrowheads="1"/>
              </p:cNvSpPr>
              <p:nvPr/>
            </p:nvSpPr>
            <p:spPr bwMode="auto">
              <a:xfrm>
                <a:off x="445" y="1142"/>
                <a:ext cx="684" cy="368"/>
              </a:xfrm>
              <a:prstGeom prst="rect">
                <a:avLst/>
              </a:prstGeom>
              <a:noFill/>
              <a:ln>
                <a:noFill/>
              </a:ln>
              <a:effectLst/>
            </p:spPr>
            <p:txBody>
              <a:bodyPr wrap="none">
                <a:spAutoFit/>
              </a:bodyPr>
              <a:lstStyle/>
              <a:p>
                <a:pPr>
                  <a:defRPr/>
                </a:pPr>
                <a:r>
                  <a:rPr lang="en-US" sz="1600" dirty="0">
                    <a:latin typeface="Arial" panose="020B0604020202090204"/>
                    <a:cs typeface="Arial" panose="020B0604020202090204"/>
                  </a:rPr>
                  <a:t>managing</a:t>
                </a:r>
              </a:p>
              <a:p>
                <a:pPr>
                  <a:defRPr/>
                </a:pPr>
                <a:r>
                  <a:rPr lang="en-US" sz="1600" dirty="0">
                    <a:latin typeface="Arial" panose="020B0604020202090204"/>
                    <a:cs typeface="Arial" panose="020B0604020202090204"/>
                  </a:rPr>
                  <a:t>entity</a:t>
                </a:r>
              </a:p>
            </p:txBody>
          </p:sp>
          <p:sp>
            <p:nvSpPr>
              <p:cNvPr id="35093" name="Text Box 277"/>
              <p:cNvSpPr txBox="1">
                <a:spLocks noChangeArrowheads="1"/>
              </p:cNvSpPr>
              <p:nvPr/>
            </p:nvSpPr>
            <p:spPr bwMode="auto">
              <a:xfrm>
                <a:off x="1160" y="1262"/>
                <a:ext cx="368" cy="213"/>
              </a:xfrm>
              <a:prstGeom prst="rect">
                <a:avLst/>
              </a:prstGeom>
              <a:solidFill>
                <a:schemeClr val="accent2"/>
              </a:solidFill>
              <a:ln>
                <a:noFill/>
              </a:ln>
              <a:effectLst/>
            </p:spPr>
            <p:txBody>
              <a:bodyPr wrap="none">
                <a:spAutoFit/>
              </a:bodyPr>
              <a:lstStyle/>
              <a:p>
                <a:pPr>
                  <a:defRPr/>
                </a:pPr>
                <a:r>
                  <a:rPr lang="en-US" sz="1600">
                    <a:solidFill>
                      <a:schemeClr val="bg1"/>
                    </a:solidFill>
                    <a:latin typeface="Arial" panose="020B0604020202090204"/>
                    <a:cs typeface="Arial" panose="020B0604020202090204"/>
                  </a:rPr>
                  <a:t>data</a:t>
                </a:r>
                <a:endParaRPr lang="en-US" sz="1600">
                  <a:latin typeface="Arial" panose="020B0604020202090204"/>
                  <a:cs typeface="Arial" panose="020B0604020202090204"/>
                </a:endParaRPr>
              </a:p>
            </p:txBody>
          </p:sp>
        </p:grpSp>
        <p:sp>
          <p:nvSpPr>
            <p:cNvPr id="35165" name="Text Box 349"/>
            <p:cNvSpPr txBox="1">
              <a:spLocks noChangeArrowheads="1"/>
            </p:cNvSpPr>
            <p:nvPr/>
          </p:nvSpPr>
          <p:spPr bwMode="auto">
            <a:xfrm>
              <a:off x="455613" y="1933980"/>
              <a:ext cx="1657486" cy="338433"/>
            </a:xfrm>
            <a:prstGeom prst="rect">
              <a:avLst/>
            </a:prstGeom>
            <a:noFill/>
            <a:ln>
              <a:noFill/>
            </a:ln>
            <a:effectLst/>
          </p:spPr>
          <p:txBody>
            <a:bodyPr wrap="none">
              <a:spAutoFit/>
            </a:bodyPr>
            <a:lstStyle/>
            <a:p>
              <a:pPr>
                <a:defRPr/>
              </a:pPr>
              <a:r>
                <a:rPr lang="en-US" sz="1600" i="1" dirty="0">
                  <a:solidFill>
                    <a:srgbClr val="000099"/>
                  </a:solidFill>
                  <a:latin typeface="Arial" panose="020B0604020202090204"/>
                  <a:cs typeface="Arial" panose="020B0604020202090204"/>
                </a:rPr>
                <a:t>managing entity</a:t>
              </a:r>
              <a:endParaRPr lang="en-US" sz="1600" dirty="0">
                <a:solidFill>
                  <a:srgbClr val="000099"/>
                </a:solidFill>
                <a:latin typeface="Arial" panose="020B0604020202090204"/>
                <a:cs typeface="Arial" panose="020B0604020202090204"/>
              </a:endParaRPr>
            </a:p>
          </p:txBody>
        </p:sp>
      </p:grpSp>
      <p:pic>
        <p:nvPicPr>
          <p:cNvPr id="96"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24163" y="3857625"/>
            <a:ext cx="876300" cy="388938"/>
          </a:xfrm>
          <a:prstGeom prst="rect">
            <a:avLst/>
          </a:prstGeom>
          <a:noFill/>
          <a:ln>
            <a:noFill/>
          </a:ln>
          <a:effectLst/>
        </p:spPr>
      </p:pic>
      <p:grpSp>
        <p:nvGrpSpPr>
          <p:cNvPr id="35862" name="Group 906"/>
          <p:cNvGrpSpPr/>
          <p:nvPr/>
        </p:nvGrpSpPr>
        <p:grpSpPr bwMode="auto">
          <a:xfrm>
            <a:off x="3786188" y="4800600"/>
            <a:ext cx="366712" cy="579438"/>
            <a:chOff x="4140" y="429"/>
            <a:chExt cx="1425" cy="2396"/>
          </a:xfrm>
        </p:grpSpPr>
        <p:sp>
          <p:nvSpPr>
            <p:cNvPr id="35909" name="Freeform 907"/>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p:spPr>
          <p:txBody>
            <a:bodyPr/>
            <a:lstStyle/>
            <a:p>
              <a:endParaRPr lang="en-US" sz="1600"/>
            </a:p>
          </p:txBody>
        </p:sp>
        <p:sp>
          <p:nvSpPr>
            <p:cNvPr id="99" name="Rectangle 908"/>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p:spPr>
          <p:txBody>
            <a:bodyPr wrap="none" anchor="ctr"/>
            <a:lstStyle/>
            <a:p>
              <a:pPr>
                <a:defRPr/>
              </a:pPr>
              <a:endParaRPr lang="en-US" sz="1600">
                <a:solidFill>
                  <a:srgbClr val="000000"/>
                </a:solidFill>
                <a:latin typeface="Arial" panose="020B0604020202090204"/>
                <a:cs typeface="Arial" panose="020B0604020202090204"/>
              </a:endParaRPr>
            </a:p>
          </p:txBody>
        </p:sp>
        <p:sp>
          <p:nvSpPr>
            <p:cNvPr id="35911" name="Freeform 909"/>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p:spPr>
          <p:txBody>
            <a:bodyPr/>
            <a:lstStyle/>
            <a:p>
              <a:endParaRPr lang="en-US" sz="1600"/>
            </a:p>
          </p:txBody>
        </p:sp>
        <p:sp>
          <p:nvSpPr>
            <p:cNvPr id="35912" name="Freeform 910"/>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p:spPr>
          <p:txBody>
            <a:bodyPr/>
            <a:lstStyle/>
            <a:p>
              <a:endParaRPr lang="en-US" sz="1600"/>
            </a:p>
          </p:txBody>
        </p:sp>
        <p:sp>
          <p:nvSpPr>
            <p:cNvPr id="102" name="Rectangle 911"/>
            <p:cNvSpPr>
              <a:spLocks noChangeArrowheads="1"/>
            </p:cNvSpPr>
            <p:nvPr/>
          </p:nvSpPr>
          <p:spPr bwMode="auto">
            <a:xfrm>
              <a:off x="4214" y="692"/>
              <a:ext cx="592" cy="46"/>
            </a:xfrm>
            <a:prstGeom prst="rect">
              <a:avLst/>
            </a:prstGeom>
            <a:solidFill>
              <a:schemeClr val="tx1"/>
            </a:solidFill>
            <a:ln w="9525">
              <a:solidFill>
                <a:schemeClr val="tx1"/>
              </a:solidFill>
              <a:miter lim="800000"/>
            </a:ln>
            <a:effectLst/>
          </p:spPr>
          <p:txBody>
            <a:bodyPr wrap="none" anchor="ctr"/>
            <a:lstStyle/>
            <a:p>
              <a:pPr>
                <a:defRPr/>
              </a:pPr>
              <a:endParaRPr lang="en-US" sz="1600">
                <a:solidFill>
                  <a:srgbClr val="000000"/>
                </a:solidFill>
                <a:latin typeface="Arial" panose="020B0604020202090204"/>
                <a:cs typeface="Arial" panose="020B0604020202090204"/>
              </a:endParaRPr>
            </a:p>
          </p:txBody>
        </p:sp>
        <p:grpSp>
          <p:nvGrpSpPr>
            <p:cNvPr id="35914" name="Group 912"/>
            <p:cNvGrpSpPr/>
            <p:nvPr/>
          </p:nvGrpSpPr>
          <p:grpSpPr bwMode="auto">
            <a:xfrm>
              <a:off x="4749" y="668"/>
              <a:ext cx="581" cy="145"/>
              <a:chOff x="614" y="2568"/>
              <a:chExt cx="725" cy="139"/>
            </a:xfrm>
          </p:grpSpPr>
          <p:sp>
            <p:nvSpPr>
              <p:cNvPr id="128" name="AutoShape 913"/>
              <p:cNvSpPr>
                <a:spLocks noChangeArrowheads="1"/>
              </p:cNvSpPr>
              <p:nvPr/>
            </p:nvSpPr>
            <p:spPr bwMode="auto">
              <a:xfrm>
                <a:off x="616" y="2565"/>
                <a:ext cx="724" cy="126"/>
              </a:xfrm>
              <a:prstGeom prst="roundRect">
                <a:avLst>
                  <a:gd name="adj" fmla="val 50000"/>
                </a:avLst>
              </a:prstGeom>
              <a:solidFill>
                <a:schemeClr val="tx1"/>
              </a:solidFill>
              <a:ln>
                <a:noFill/>
              </a:ln>
              <a:effectLst/>
            </p:spPr>
            <p:txBody>
              <a:bodyPr wrap="none" anchor="ctr"/>
              <a:lstStyle/>
              <a:p>
                <a:pPr>
                  <a:defRPr/>
                </a:pPr>
                <a:endParaRPr lang="en-US" sz="1600">
                  <a:solidFill>
                    <a:srgbClr val="000000"/>
                  </a:solidFill>
                  <a:latin typeface="Arial" panose="020B0604020202090204"/>
                  <a:cs typeface="Arial" panose="020B0604020202090204"/>
                </a:endParaRPr>
              </a:p>
            </p:txBody>
          </p:sp>
          <p:sp>
            <p:nvSpPr>
              <p:cNvPr id="129" name="AutoShape 914"/>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sz="1600">
                  <a:solidFill>
                    <a:srgbClr val="000000"/>
                  </a:solidFill>
                  <a:latin typeface="Arial" panose="020B0604020202090204"/>
                  <a:cs typeface="Arial" panose="020B0604020202090204"/>
                </a:endParaRPr>
              </a:p>
            </p:txBody>
          </p:sp>
        </p:grpSp>
        <p:sp>
          <p:nvSpPr>
            <p:cNvPr id="104" name="Rectangle 915"/>
            <p:cNvSpPr>
              <a:spLocks noChangeArrowheads="1"/>
            </p:cNvSpPr>
            <p:nvPr/>
          </p:nvSpPr>
          <p:spPr bwMode="auto">
            <a:xfrm>
              <a:off x="4226" y="1020"/>
              <a:ext cx="592" cy="46"/>
            </a:xfrm>
            <a:prstGeom prst="rect">
              <a:avLst/>
            </a:prstGeom>
            <a:solidFill>
              <a:schemeClr val="tx1"/>
            </a:solidFill>
            <a:ln w="9525">
              <a:solidFill>
                <a:schemeClr val="tx1"/>
              </a:solidFill>
              <a:miter lim="800000"/>
            </a:ln>
            <a:effectLst/>
          </p:spPr>
          <p:txBody>
            <a:bodyPr wrap="none" anchor="ctr"/>
            <a:lstStyle/>
            <a:p>
              <a:pPr>
                <a:defRPr/>
              </a:pPr>
              <a:endParaRPr lang="en-US" sz="1600">
                <a:solidFill>
                  <a:srgbClr val="000000"/>
                </a:solidFill>
                <a:latin typeface="Arial" panose="020B0604020202090204"/>
                <a:cs typeface="Arial" panose="020B0604020202090204"/>
              </a:endParaRPr>
            </a:p>
          </p:txBody>
        </p:sp>
        <p:grpSp>
          <p:nvGrpSpPr>
            <p:cNvPr id="35916" name="Group 916"/>
            <p:cNvGrpSpPr/>
            <p:nvPr/>
          </p:nvGrpSpPr>
          <p:grpSpPr bwMode="auto">
            <a:xfrm>
              <a:off x="4747" y="994"/>
              <a:ext cx="581" cy="134"/>
              <a:chOff x="614" y="2568"/>
              <a:chExt cx="725" cy="139"/>
            </a:xfrm>
          </p:grpSpPr>
          <p:sp>
            <p:nvSpPr>
              <p:cNvPr id="126" name="AutoShape 917"/>
              <p:cNvSpPr>
                <a:spLocks noChangeArrowheads="1"/>
              </p:cNvSpPr>
              <p:nvPr/>
            </p:nvSpPr>
            <p:spPr bwMode="auto">
              <a:xfrm>
                <a:off x="611" y="2568"/>
                <a:ext cx="731" cy="136"/>
              </a:xfrm>
              <a:prstGeom prst="roundRect">
                <a:avLst>
                  <a:gd name="adj" fmla="val 50000"/>
                </a:avLst>
              </a:prstGeom>
              <a:solidFill>
                <a:schemeClr val="tx1"/>
              </a:solidFill>
              <a:ln>
                <a:noFill/>
              </a:ln>
              <a:effectLst/>
            </p:spPr>
            <p:txBody>
              <a:bodyPr wrap="none" anchor="ctr"/>
              <a:lstStyle/>
              <a:p>
                <a:pPr>
                  <a:defRPr/>
                </a:pPr>
                <a:endParaRPr lang="en-US" sz="1600">
                  <a:solidFill>
                    <a:srgbClr val="000000"/>
                  </a:solidFill>
                  <a:latin typeface="Arial" panose="020B0604020202090204"/>
                  <a:cs typeface="Arial" panose="020B0604020202090204"/>
                </a:endParaRPr>
              </a:p>
            </p:txBody>
          </p:sp>
          <p:sp>
            <p:nvSpPr>
              <p:cNvPr id="127" name="AutoShape 918"/>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sz="1600">
                  <a:solidFill>
                    <a:srgbClr val="000000"/>
                  </a:solidFill>
                  <a:latin typeface="Arial" panose="020B0604020202090204"/>
                  <a:cs typeface="Arial" panose="020B0604020202090204"/>
                </a:endParaRPr>
              </a:p>
            </p:txBody>
          </p:sp>
        </p:grpSp>
        <p:sp>
          <p:nvSpPr>
            <p:cNvPr id="106" name="Rectangle 919"/>
            <p:cNvSpPr>
              <a:spLocks noChangeArrowheads="1"/>
            </p:cNvSpPr>
            <p:nvPr/>
          </p:nvSpPr>
          <p:spPr bwMode="auto">
            <a:xfrm>
              <a:off x="4214" y="1361"/>
              <a:ext cx="598" cy="46"/>
            </a:xfrm>
            <a:prstGeom prst="rect">
              <a:avLst/>
            </a:prstGeom>
            <a:solidFill>
              <a:schemeClr val="tx1"/>
            </a:solidFill>
            <a:ln w="9525">
              <a:solidFill>
                <a:schemeClr val="tx1"/>
              </a:solidFill>
              <a:miter lim="800000"/>
            </a:ln>
            <a:effectLst/>
          </p:spPr>
          <p:txBody>
            <a:bodyPr wrap="none" anchor="ctr"/>
            <a:lstStyle/>
            <a:p>
              <a:pPr>
                <a:defRPr/>
              </a:pPr>
              <a:endParaRPr lang="en-US" sz="1600">
                <a:solidFill>
                  <a:srgbClr val="000000"/>
                </a:solidFill>
                <a:latin typeface="Arial" panose="020B0604020202090204"/>
                <a:cs typeface="Arial" panose="020B0604020202090204"/>
              </a:endParaRPr>
            </a:p>
          </p:txBody>
        </p:sp>
        <p:sp>
          <p:nvSpPr>
            <p:cNvPr id="107" name="Rectangle 920"/>
            <p:cNvSpPr>
              <a:spLocks noChangeArrowheads="1"/>
            </p:cNvSpPr>
            <p:nvPr/>
          </p:nvSpPr>
          <p:spPr bwMode="auto">
            <a:xfrm>
              <a:off x="4226" y="1657"/>
              <a:ext cx="598" cy="46"/>
            </a:xfrm>
            <a:prstGeom prst="rect">
              <a:avLst/>
            </a:prstGeom>
            <a:solidFill>
              <a:schemeClr val="tx1"/>
            </a:solidFill>
            <a:ln w="9525">
              <a:solidFill>
                <a:schemeClr val="tx1"/>
              </a:solidFill>
              <a:miter lim="800000"/>
            </a:ln>
            <a:effectLst/>
          </p:spPr>
          <p:txBody>
            <a:bodyPr wrap="none" anchor="ctr"/>
            <a:lstStyle/>
            <a:p>
              <a:pPr>
                <a:defRPr/>
              </a:pPr>
              <a:endParaRPr lang="en-US" sz="1600">
                <a:solidFill>
                  <a:srgbClr val="000000"/>
                </a:solidFill>
                <a:latin typeface="Arial" panose="020B0604020202090204"/>
                <a:cs typeface="Arial" panose="020B0604020202090204"/>
              </a:endParaRPr>
            </a:p>
          </p:txBody>
        </p:sp>
        <p:grpSp>
          <p:nvGrpSpPr>
            <p:cNvPr id="35919" name="Group 921"/>
            <p:cNvGrpSpPr/>
            <p:nvPr/>
          </p:nvGrpSpPr>
          <p:grpSpPr bwMode="auto">
            <a:xfrm>
              <a:off x="4735" y="1627"/>
              <a:ext cx="582" cy="151"/>
              <a:chOff x="614" y="2568"/>
              <a:chExt cx="725" cy="139"/>
            </a:xfrm>
          </p:grpSpPr>
          <p:sp>
            <p:nvSpPr>
              <p:cNvPr id="124" name="AutoShape 922"/>
              <p:cNvSpPr>
                <a:spLocks noChangeArrowheads="1"/>
              </p:cNvSpPr>
              <p:nvPr/>
            </p:nvSpPr>
            <p:spPr bwMode="auto">
              <a:xfrm>
                <a:off x="611" y="2571"/>
                <a:ext cx="730" cy="139"/>
              </a:xfrm>
              <a:prstGeom prst="roundRect">
                <a:avLst>
                  <a:gd name="adj" fmla="val 50000"/>
                </a:avLst>
              </a:prstGeom>
              <a:solidFill>
                <a:schemeClr val="tx1"/>
              </a:solidFill>
              <a:ln>
                <a:noFill/>
              </a:ln>
              <a:effectLst/>
            </p:spPr>
            <p:txBody>
              <a:bodyPr wrap="none" anchor="ctr"/>
              <a:lstStyle/>
              <a:p>
                <a:pPr>
                  <a:defRPr/>
                </a:pPr>
                <a:endParaRPr lang="en-US" sz="1600">
                  <a:solidFill>
                    <a:srgbClr val="000000"/>
                  </a:solidFill>
                  <a:latin typeface="Arial" panose="020B0604020202090204"/>
                  <a:cs typeface="Arial" panose="020B0604020202090204"/>
                </a:endParaRPr>
              </a:p>
            </p:txBody>
          </p:sp>
          <p:sp>
            <p:nvSpPr>
              <p:cNvPr id="125" name="AutoShape 923"/>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sz="1600">
                  <a:solidFill>
                    <a:srgbClr val="000000"/>
                  </a:solidFill>
                  <a:latin typeface="Arial" panose="020B0604020202090204"/>
                  <a:cs typeface="Arial" panose="020B0604020202090204"/>
                </a:endParaRPr>
              </a:p>
            </p:txBody>
          </p:sp>
        </p:grpSp>
        <p:sp>
          <p:nvSpPr>
            <p:cNvPr id="35920" name="Freeform 924"/>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p:spPr>
          <p:txBody>
            <a:bodyPr/>
            <a:lstStyle/>
            <a:p>
              <a:endParaRPr lang="en-US" sz="1600"/>
            </a:p>
          </p:txBody>
        </p:sp>
        <p:grpSp>
          <p:nvGrpSpPr>
            <p:cNvPr id="35921" name="Group 925"/>
            <p:cNvGrpSpPr/>
            <p:nvPr/>
          </p:nvGrpSpPr>
          <p:grpSpPr bwMode="auto">
            <a:xfrm>
              <a:off x="4739" y="1327"/>
              <a:ext cx="582" cy="139"/>
              <a:chOff x="614" y="2568"/>
              <a:chExt cx="725" cy="139"/>
            </a:xfrm>
          </p:grpSpPr>
          <p:sp>
            <p:nvSpPr>
              <p:cNvPr id="122" name="AutoShape 926"/>
              <p:cNvSpPr>
                <a:spLocks noChangeArrowheads="1"/>
              </p:cNvSpPr>
              <p:nvPr/>
            </p:nvSpPr>
            <p:spPr bwMode="auto">
              <a:xfrm>
                <a:off x="613" y="2569"/>
                <a:ext cx="715" cy="138"/>
              </a:xfrm>
              <a:prstGeom prst="roundRect">
                <a:avLst>
                  <a:gd name="adj" fmla="val 50000"/>
                </a:avLst>
              </a:prstGeom>
              <a:solidFill>
                <a:schemeClr val="tx1"/>
              </a:solidFill>
              <a:ln>
                <a:noFill/>
              </a:ln>
              <a:effectLst/>
            </p:spPr>
            <p:txBody>
              <a:bodyPr wrap="none" anchor="ctr"/>
              <a:lstStyle/>
              <a:p>
                <a:pPr>
                  <a:defRPr/>
                </a:pPr>
                <a:endParaRPr lang="en-US" sz="1600">
                  <a:solidFill>
                    <a:srgbClr val="000000"/>
                  </a:solidFill>
                  <a:latin typeface="Arial" panose="020B0604020202090204"/>
                  <a:cs typeface="Arial" panose="020B0604020202090204"/>
                </a:endParaRPr>
              </a:p>
            </p:txBody>
          </p:sp>
          <p:sp>
            <p:nvSpPr>
              <p:cNvPr id="123" name="AutoShape 927"/>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sz="1600">
                  <a:solidFill>
                    <a:srgbClr val="000000"/>
                  </a:solidFill>
                  <a:latin typeface="Arial" panose="020B0604020202090204"/>
                  <a:cs typeface="Arial" panose="020B0604020202090204"/>
                </a:endParaRPr>
              </a:p>
            </p:txBody>
          </p:sp>
        </p:grpSp>
        <p:sp>
          <p:nvSpPr>
            <p:cNvPr id="111" name="Rectangle 928"/>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defRPr/>
              </a:pPr>
              <a:endParaRPr lang="en-US" sz="1600">
                <a:solidFill>
                  <a:srgbClr val="000000"/>
                </a:solidFill>
                <a:latin typeface="Arial" panose="020B0604020202090204"/>
                <a:cs typeface="Arial" panose="020B0604020202090204"/>
              </a:endParaRPr>
            </a:p>
          </p:txBody>
        </p:sp>
        <p:sp>
          <p:nvSpPr>
            <p:cNvPr id="35923" name="Freeform 929"/>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p:spPr>
          <p:txBody>
            <a:bodyPr/>
            <a:lstStyle/>
            <a:p>
              <a:endParaRPr lang="en-US" sz="1600"/>
            </a:p>
          </p:txBody>
        </p:sp>
        <p:sp>
          <p:nvSpPr>
            <p:cNvPr id="35924" name="Freeform 930"/>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p:spPr>
          <p:txBody>
            <a:bodyPr/>
            <a:lstStyle/>
            <a:p>
              <a:endParaRPr lang="en-US" sz="1600"/>
            </a:p>
          </p:txBody>
        </p:sp>
        <p:sp>
          <p:nvSpPr>
            <p:cNvPr id="114" name="Oval 931"/>
            <p:cNvSpPr>
              <a:spLocks noChangeArrowheads="1"/>
            </p:cNvSpPr>
            <p:nvPr/>
          </p:nvSpPr>
          <p:spPr bwMode="auto">
            <a:xfrm>
              <a:off x="5516" y="2608"/>
              <a:ext cx="49" cy="98"/>
            </a:xfrm>
            <a:prstGeom prst="ellipse">
              <a:avLst/>
            </a:prstGeom>
            <a:solidFill>
              <a:srgbClr val="333333"/>
            </a:solidFill>
            <a:ln>
              <a:noFill/>
            </a:ln>
            <a:effectLst/>
          </p:spPr>
          <p:txBody>
            <a:bodyPr wrap="none" anchor="ctr"/>
            <a:lstStyle/>
            <a:p>
              <a:pPr>
                <a:defRPr/>
              </a:pPr>
              <a:endParaRPr lang="en-US" sz="1600">
                <a:solidFill>
                  <a:srgbClr val="000000"/>
                </a:solidFill>
                <a:latin typeface="Arial" panose="020B0604020202090204"/>
                <a:cs typeface="Arial" panose="020B0604020202090204"/>
              </a:endParaRPr>
            </a:p>
          </p:txBody>
        </p:sp>
        <p:sp>
          <p:nvSpPr>
            <p:cNvPr id="35926" name="Freeform 932"/>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p:spPr>
          <p:txBody>
            <a:bodyPr/>
            <a:lstStyle/>
            <a:p>
              <a:endParaRPr lang="en-US" sz="1600"/>
            </a:p>
          </p:txBody>
        </p:sp>
        <p:sp>
          <p:nvSpPr>
            <p:cNvPr id="116" name="AutoShape 933"/>
            <p:cNvSpPr>
              <a:spLocks noChangeArrowheads="1"/>
            </p:cNvSpPr>
            <p:nvPr/>
          </p:nvSpPr>
          <p:spPr bwMode="auto">
            <a:xfrm>
              <a:off x="4140" y="2681"/>
              <a:ext cx="1197" cy="144"/>
            </a:xfrm>
            <a:prstGeom prst="roundRect">
              <a:avLst>
                <a:gd name="adj" fmla="val 50000"/>
              </a:avLst>
            </a:prstGeom>
            <a:solidFill>
              <a:srgbClr val="DDDDDD"/>
            </a:solidFill>
            <a:ln w="9525">
              <a:solidFill>
                <a:schemeClr val="tx1"/>
              </a:solidFill>
              <a:round/>
            </a:ln>
            <a:effectLst/>
          </p:spPr>
          <p:txBody>
            <a:bodyPr wrap="none" anchor="ctr"/>
            <a:lstStyle/>
            <a:p>
              <a:pPr>
                <a:defRPr/>
              </a:pPr>
              <a:endParaRPr lang="en-US" sz="1600">
                <a:solidFill>
                  <a:srgbClr val="000000"/>
                </a:solidFill>
                <a:latin typeface="Arial" panose="020B0604020202090204"/>
                <a:cs typeface="Arial" panose="020B0604020202090204"/>
              </a:endParaRPr>
            </a:p>
          </p:txBody>
        </p:sp>
        <p:sp>
          <p:nvSpPr>
            <p:cNvPr id="117" name="AutoShape 934"/>
            <p:cNvSpPr>
              <a:spLocks noChangeArrowheads="1"/>
            </p:cNvSpPr>
            <p:nvPr/>
          </p:nvSpPr>
          <p:spPr bwMode="auto">
            <a:xfrm>
              <a:off x="4208" y="2713"/>
              <a:ext cx="1067" cy="79"/>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defRPr/>
              </a:pPr>
              <a:endParaRPr lang="en-US" sz="1600">
                <a:solidFill>
                  <a:srgbClr val="000000"/>
                </a:solidFill>
                <a:latin typeface="Arial" panose="020B0604020202090204"/>
                <a:cs typeface="Arial" panose="020B0604020202090204"/>
              </a:endParaRPr>
            </a:p>
          </p:txBody>
        </p:sp>
        <p:sp>
          <p:nvSpPr>
            <p:cNvPr id="118" name="Oval 935"/>
            <p:cNvSpPr>
              <a:spLocks noChangeArrowheads="1"/>
            </p:cNvSpPr>
            <p:nvPr/>
          </p:nvSpPr>
          <p:spPr bwMode="auto">
            <a:xfrm>
              <a:off x="4307" y="2385"/>
              <a:ext cx="160" cy="138"/>
            </a:xfrm>
            <a:prstGeom prst="ellipse">
              <a:avLst/>
            </a:prstGeom>
            <a:solidFill>
              <a:srgbClr val="33CC33"/>
            </a:solidFill>
            <a:ln>
              <a:noFill/>
            </a:ln>
            <a:effectLst/>
          </p:spPr>
          <p:txBody>
            <a:bodyPr wrap="none" anchor="ctr"/>
            <a:lstStyle/>
            <a:p>
              <a:pPr>
                <a:defRPr/>
              </a:pPr>
              <a:endParaRPr lang="en-US" sz="1600">
                <a:solidFill>
                  <a:srgbClr val="000000"/>
                </a:solidFill>
                <a:latin typeface="Arial" panose="020B0604020202090204"/>
                <a:cs typeface="Arial" panose="020B0604020202090204"/>
              </a:endParaRPr>
            </a:p>
          </p:txBody>
        </p:sp>
        <p:sp>
          <p:nvSpPr>
            <p:cNvPr id="119" name="Oval 936"/>
            <p:cNvSpPr>
              <a:spLocks noChangeArrowheads="1"/>
            </p:cNvSpPr>
            <p:nvPr/>
          </p:nvSpPr>
          <p:spPr bwMode="auto">
            <a:xfrm>
              <a:off x="4485" y="2385"/>
              <a:ext cx="160" cy="144"/>
            </a:xfrm>
            <a:prstGeom prst="ellipse">
              <a:avLst/>
            </a:prstGeom>
            <a:solidFill>
              <a:srgbClr val="FF0000"/>
            </a:solidFill>
            <a:ln>
              <a:noFill/>
            </a:ln>
            <a:effectLst/>
          </p:spPr>
          <p:txBody>
            <a:bodyPr wrap="none" anchor="ctr"/>
            <a:lstStyle/>
            <a:p>
              <a:pPr eaLnBrk="1" hangingPunct="1">
                <a:defRPr/>
              </a:pPr>
              <a:endParaRPr lang="en-US" sz="1600">
                <a:solidFill>
                  <a:srgbClr val="FF0000"/>
                </a:solidFill>
                <a:latin typeface="Arial" panose="020B0604020202090204"/>
                <a:cs typeface="Arial" panose="020B0604020202090204"/>
              </a:endParaRPr>
            </a:p>
          </p:txBody>
        </p:sp>
        <p:sp>
          <p:nvSpPr>
            <p:cNvPr id="120" name="Oval 937"/>
            <p:cNvSpPr>
              <a:spLocks noChangeArrowheads="1"/>
            </p:cNvSpPr>
            <p:nvPr/>
          </p:nvSpPr>
          <p:spPr bwMode="auto">
            <a:xfrm>
              <a:off x="4664" y="2379"/>
              <a:ext cx="154" cy="144"/>
            </a:xfrm>
            <a:prstGeom prst="ellipse">
              <a:avLst/>
            </a:prstGeom>
            <a:solidFill>
              <a:srgbClr val="33CC33"/>
            </a:solidFill>
            <a:ln>
              <a:noFill/>
            </a:ln>
            <a:effectLst/>
          </p:spPr>
          <p:txBody>
            <a:bodyPr wrap="none" anchor="ctr"/>
            <a:lstStyle/>
            <a:p>
              <a:pPr>
                <a:defRPr/>
              </a:pPr>
              <a:endParaRPr lang="en-US" sz="1600">
                <a:solidFill>
                  <a:srgbClr val="000000"/>
                </a:solidFill>
                <a:latin typeface="Arial" panose="020B0604020202090204"/>
                <a:cs typeface="Arial" panose="020B0604020202090204"/>
              </a:endParaRPr>
            </a:p>
          </p:txBody>
        </p:sp>
        <p:sp>
          <p:nvSpPr>
            <p:cNvPr id="121" name="Rectangle 938"/>
            <p:cNvSpPr>
              <a:spLocks noChangeArrowheads="1"/>
            </p:cNvSpPr>
            <p:nvPr/>
          </p:nvSpPr>
          <p:spPr bwMode="auto">
            <a:xfrm>
              <a:off x="5059" y="1834"/>
              <a:ext cx="86" cy="761"/>
            </a:xfrm>
            <a:prstGeom prst="rect">
              <a:avLst/>
            </a:prstGeom>
            <a:solidFill>
              <a:srgbClr val="292929"/>
            </a:solidFill>
            <a:ln w="9525">
              <a:solidFill>
                <a:schemeClr val="tx1"/>
              </a:solidFill>
              <a:miter lim="800000"/>
            </a:ln>
            <a:effectLst/>
          </p:spPr>
          <p:txBody>
            <a:bodyPr wrap="none" anchor="ctr"/>
            <a:lstStyle/>
            <a:p>
              <a:pPr>
                <a:defRPr/>
              </a:pPr>
              <a:endParaRPr lang="en-US" sz="1600">
                <a:solidFill>
                  <a:srgbClr val="000000"/>
                </a:solidFill>
                <a:latin typeface="Arial" panose="020B0604020202090204"/>
                <a:cs typeface="Arial" panose="020B0604020202090204"/>
              </a:endParaRPr>
            </a:p>
          </p:txBody>
        </p:sp>
      </p:grpSp>
      <p:grpSp>
        <p:nvGrpSpPr>
          <p:cNvPr id="35863" name="Group 44"/>
          <p:cNvGrpSpPr/>
          <p:nvPr/>
        </p:nvGrpSpPr>
        <p:grpSpPr bwMode="auto">
          <a:xfrm>
            <a:off x="3251200" y="2220913"/>
            <a:ext cx="903288" cy="727075"/>
            <a:chOff x="-44" y="1473"/>
            <a:chExt cx="981" cy="1105"/>
          </a:xfrm>
        </p:grpSpPr>
        <p:pic>
          <p:nvPicPr>
            <p:cNvPr id="35907" name="Picture 45" descr="desktop_computer_stylized_medium"/>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p:spPr>
        </p:pic>
        <p:sp>
          <p:nvSpPr>
            <p:cNvPr id="35908" name="Freeform 46"/>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p:spPr>
          <p:txBody>
            <a:bodyPr wrap="none"/>
            <a:lstStyle/>
            <a:p>
              <a:endParaRPr lang="en-US" sz="1600"/>
            </a:p>
          </p:txBody>
        </p:sp>
      </p:grpSp>
      <p:grpSp>
        <p:nvGrpSpPr>
          <p:cNvPr id="35864" name="Group 44"/>
          <p:cNvGrpSpPr/>
          <p:nvPr/>
        </p:nvGrpSpPr>
        <p:grpSpPr bwMode="auto">
          <a:xfrm>
            <a:off x="2055813" y="2655888"/>
            <a:ext cx="903287" cy="727075"/>
            <a:chOff x="-44" y="1473"/>
            <a:chExt cx="981" cy="1105"/>
          </a:xfrm>
        </p:grpSpPr>
        <p:pic>
          <p:nvPicPr>
            <p:cNvPr id="35905" name="Picture 45" descr="desktop_computer_stylized_medium"/>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p:spPr>
        </p:pic>
        <p:sp>
          <p:nvSpPr>
            <p:cNvPr id="35906" name="Freeform 46"/>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p:spPr>
          <p:txBody>
            <a:bodyPr wrap="none"/>
            <a:lstStyle/>
            <a:p>
              <a:endParaRPr lang="en-US" sz="1600"/>
            </a:p>
          </p:txBody>
        </p:sp>
      </p:grpSp>
      <p:sp>
        <p:nvSpPr>
          <p:cNvPr id="136" name="Line 272"/>
          <p:cNvSpPr>
            <a:spLocks noChangeShapeType="1"/>
          </p:cNvSpPr>
          <p:nvPr/>
        </p:nvSpPr>
        <p:spPr bwMode="auto">
          <a:xfrm>
            <a:off x="2733675" y="3303588"/>
            <a:ext cx="371475" cy="554037"/>
          </a:xfrm>
          <a:prstGeom prst="line">
            <a:avLst/>
          </a:prstGeom>
          <a:noFill/>
          <a:ln w="19050">
            <a:solidFill>
              <a:schemeClr val="tx1"/>
            </a:solidFill>
            <a:round/>
          </a:ln>
          <a:effectLst/>
        </p:spPr>
        <p:txBody>
          <a:bodyPr wrap="none" anchor="ctr"/>
          <a:lstStyle/>
          <a:p>
            <a:pPr>
              <a:defRPr/>
            </a:pPr>
            <a:endParaRPr lang="en-US" sz="1600">
              <a:latin typeface="Arial" panose="020B0604020202090204"/>
              <a:cs typeface="Arial" panose="020B0604020202090204"/>
            </a:endParaRPr>
          </a:p>
        </p:txBody>
      </p:sp>
      <p:sp>
        <p:nvSpPr>
          <p:cNvPr id="137" name="Line 272"/>
          <p:cNvSpPr>
            <a:spLocks noChangeShapeType="1"/>
          </p:cNvSpPr>
          <p:nvPr/>
        </p:nvSpPr>
        <p:spPr bwMode="auto">
          <a:xfrm flipH="1">
            <a:off x="2947988" y="4241800"/>
            <a:ext cx="309562" cy="1023938"/>
          </a:xfrm>
          <a:prstGeom prst="line">
            <a:avLst/>
          </a:prstGeom>
          <a:noFill/>
          <a:ln w="19050">
            <a:solidFill>
              <a:schemeClr val="tx1"/>
            </a:solidFill>
            <a:round/>
          </a:ln>
          <a:effectLst/>
        </p:spPr>
        <p:txBody>
          <a:bodyPr wrap="none" anchor="ctr"/>
          <a:lstStyle/>
          <a:p>
            <a:pPr>
              <a:defRPr/>
            </a:pPr>
            <a:endParaRPr lang="en-US" sz="1600">
              <a:latin typeface="Arial" panose="020B0604020202090204"/>
              <a:cs typeface="Arial" panose="020B0604020202090204"/>
            </a:endParaRPr>
          </a:p>
        </p:txBody>
      </p:sp>
      <p:grpSp>
        <p:nvGrpSpPr>
          <p:cNvPr id="3" name="Group 2"/>
          <p:cNvGrpSpPr/>
          <p:nvPr/>
        </p:nvGrpSpPr>
        <p:grpSpPr bwMode="auto">
          <a:xfrm>
            <a:off x="4006850" y="4752975"/>
            <a:ext cx="1293813" cy="615950"/>
            <a:chOff x="6563312" y="4346525"/>
            <a:chExt cx="1292995" cy="615298"/>
          </a:xfrm>
        </p:grpSpPr>
        <p:sp>
          <p:nvSpPr>
            <p:cNvPr id="35122"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ln>
            <a:effectLst/>
          </p:spPr>
          <p:txBody>
            <a:bodyPr wrap="none" anchor="ctr"/>
            <a:lstStyle/>
            <a:p>
              <a:pPr>
                <a:defRPr/>
              </a:pPr>
              <a:endParaRPr lang="en-US" sz="1600">
                <a:latin typeface="Arial" panose="020B0604020202090204"/>
                <a:cs typeface="Arial" panose="020B0604020202090204"/>
              </a:endParaRPr>
            </a:p>
          </p:txBody>
        </p:sp>
        <p:sp>
          <p:nvSpPr>
            <p:cNvPr id="35118" name="Text Box 302"/>
            <p:cNvSpPr txBox="1">
              <a:spLocks noChangeArrowheads="1"/>
            </p:cNvSpPr>
            <p:nvPr/>
          </p:nvSpPr>
          <p:spPr bwMode="auto">
            <a:xfrm>
              <a:off x="6607734" y="4465462"/>
              <a:ext cx="633544" cy="307451"/>
            </a:xfrm>
            <a:prstGeom prst="rect">
              <a:avLst/>
            </a:prstGeom>
            <a:noFill/>
            <a:ln>
              <a:noFill/>
            </a:ln>
            <a:effectLst/>
          </p:spPr>
          <p:txBody>
            <a:bodyPr wrap="none">
              <a:spAutoFit/>
            </a:bodyPr>
            <a:lstStyle/>
            <a:p>
              <a:pPr>
                <a:defRPr/>
              </a:pPr>
              <a:r>
                <a:rPr lang="en-US" sz="1400" dirty="0">
                  <a:latin typeface="Arial" panose="020B0604020202090204"/>
                  <a:cs typeface="Arial" panose="020B0604020202090204"/>
                </a:rPr>
                <a:t>agent</a:t>
              </a:r>
            </a:p>
          </p:txBody>
        </p:sp>
        <p:grpSp>
          <p:nvGrpSpPr>
            <p:cNvPr id="35902" name="Group 303"/>
            <p:cNvGrpSpPr/>
            <p:nvPr/>
          </p:nvGrpSpPr>
          <p:grpSpPr bwMode="auto">
            <a:xfrm>
              <a:off x="7112206" y="4464844"/>
              <a:ext cx="567758" cy="370756"/>
              <a:chOff x="714" y="2006"/>
              <a:chExt cx="347" cy="219"/>
            </a:xfrm>
          </p:grpSpPr>
          <p:sp>
            <p:nvSpPr>
              <p:cNvPr id="35120" name="Rectangle 304"/>
              <p:cNvSpPr>
                <a:spLocks noChangeArrowheads="1"/>
              </p:cNvSpPr>
              <p:nvPr/>
            </p:nvSpPr>
            <p:spPr bwMode="auto">
              <a:xfrm>
                <a:off x="747" y="2026"/>
                <a:ext cx="314" cy="199"/>
              </a:xfrm>
              <a:prstGeom prst="rect">
                <a:avLst/>
              </a:prstGeom>
              <a:solidFill>
                <a:schemeClr val="accent2"/>
              </a:solidFill>
              <a:ln w="9525">
                <a:solidFill>
                  <a:schemeClr val="accent2"/>
                </a:solidFill>
                <a:miter lim="800000"/>
              </a:ln>
              <a:effectLst/>
            </p:spPr>
            <p:txBody>
              <a:bodyPr wrap="none" anchor="ctr"/>
              <a:lstStyle/>
              <a:p>
                <a:pPr>
                  <a:defRPr/>
                </a:pPr>
                <a:endParaRPr lang="en-US" sz="1600">
                  <a:latin typeface="Arial" panose="020B0604020202090204"/>
                  <a:cs typeface="Arial" panose="020B0604020202090204"/>
                </a:endParaRPr>
              </a:p>
            </p:txBody>
          </p:sp>
          <p:sp>
            <p:nvSpPr>
              <p:cNvPr id="35121" name="Text Box 305"/>
              <p:cNvSpPr txBox="1">
                <a:spLocks noChangeArrowheads="1"/>
              </p:cNvSpPr>
              <p:nvPr/>
            </p:nvSpPr>
            <p:spPr bwMode="auto">
              <a:xfrm>
                <a:off x="714" y="2006"/>
                <a:ext cx="326" cy="182"/>
              </a:xfrm>
              <a:prstGeom prst="rect">
                <a:avLst/>
              </a:prstGeom>
              <a:noFill/>
              <a:ln>
                <a:noFill/>
              </a:ln>
              <a:effectLst/>
            </p:spPr>
            <p:txBody>
              <a:bodyPr wrap="none">
                <a:spAutoFit/>
              </a:bodyPr>
              <a:lstStyle/>
              <a:p>
                <a:pPr>
                  <a:defRPr/>
                </a:pPr>
                <a:r>
                  <a:rPr lang="en-US" sz="1400" dirty="0">
                    <a:solidFill>
                      <a:schemeClr val="bg1"/>
                    </a:solidFill>
                    <a:latin typeface="Arial" panose="020B0604020202090204"/>
                    <a:cs typeface="Arial" panose="020B0604020202090204"/>
                  </a:rPr>
                  <a:t>data</a:t>
                </a:r>
                <a:endParaRPr lang="en-US" sz="1400" dirty="0">
                  <a:latin typeface="Arial" panose="020B0604020202090204"/>
                  <a:cs typeface="Arial" panose="020B0604020202090204"/>
                </a:endParaRPr>
              </a:p>
            </p:txBody>
          </p:sp>
        </p:grpSp>
      </p:grpSp>
      <p:grpSp>
        <p:nvGrpSpPr>
          <p:cNvPr id="145" name="Group 144"/>
          <p:cNvGrpSpPr/>
          <p:nvPr/>
        </p:nvGrpSpPr>
        <p:grpSpPr bwMode="auto">
          <a:xfrm>
            <a:off x="3856038" y="1949450"/>
            <a:ext cx="1293812" cy="614363"/>
            <a:chOff x="6563312" y="4346525"/>
            <a:chExt cx="1292995" cy="615298"/>
          </a:xfrm>
        </p:grpSpPr>
        <p:sp>
          <p:nvSpPr>
            <p:cNvPr id="146"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ln>
            <a:effectLst/>
          </p:spPr>
          <p:txBody>
            <a:bodyPr wrap="none" anchor="ctr"/>
            <a:lstStyle/>
            <a:p>
              <a:pPr>
                <a:defRPr/>
              </a:pPr>
              <a:endParaRPr lang="en-US" sz="1600">
                <a:latin typeface="Arial" panose="020B0604020202090204"/>
                <a:cs typeface="Arial" panose="020B0604020202090204"/>
              </a:endParaRPr>
            </a:p>
          </p:txBody>
        </p:sp>
        <p:sp>
          <p:nvSpPr>
            <p:cNvPr id="147" name="Text Box 302"/>
            <p:cNvSpPr txBox="1">
              <a:spLocks noChangeArrowheads="1"/>
            </p:cNvSpPr>
            <p:nvPr/>
          </p:nvSpPr>
          <p:spPr bwMode="auto">
            <a:xfrm>
              <a:off x="6607734" y="4465769"/>
              <a:ext cx="633545" cy="308245"/>
            </a:xfrm>
            <a:prstGeom prst="rect">
              <a:avLst/>
            </a:prstGeom>
            <a:noFill/>
            <a:ln>
              <a:noFill/>
            </a:ln>
            <a:effectLst/>
          </p:spPr>
          <p:txBody>
            <a:bodyPr wrap="none">
              <a:spAutoFit/>
            </a:bodyPr>
            <a:lstStyle/>
            <a:p>
              <a:pPr>
                <a:defRPr/>
              </a:pPr>
              <a:r>
                <a:rPr lang="en-US" sz="1400" dirty="0">
                  <a:latin typeface="Arial" panose="020B0604020202090204"/>
                  <a:cs typeface="Arial" panose="020B0604020202090204"/>
                </a:rPr>
                <a:t>agent</a:t>
              </a:r>
            </a:p>
          </p:txBody>
        </p:sp>
        <p:grpSp>
          <p:nvGrpSpPr>
            <p:cNvPr id="35892" name="Group 303"/>
            <p:cNvGrpSpPr/>
            <p:nvPr/>
          </p:nvGrpSpPr>
          <p:grpSpPr bwMode="auto">
            <a:xfrm>
              <a:off x="7112206" y="4464844"/>
              <a:ext cx="567758" cy="370756"/>
              <a:chOff x="714" y="2006"/>
              <a:chExt cx="347" cy="219"/>
            </a:xfrm>
          </p:grpSpPr>
          <p:sp>
            <p:nvSpPr>
              <p:cNvPr id="149" name="Rectangle 304"/>
              <p:cNvSpPr>
                <a:spLocks noChangeArrowheads="1"/>
              </p:cNvSpPr>
              <p:nvPr/>
            </p:nvSpPr>
            <p:spPr bwMode="auto">
              <a:xfrm>
                <a:off x="747" y="2025"/>
                <a:ext cx="314" cy="200"/>
              </a:xfrm>
              <a:prstGeom prst="rect">
                <a:avLst/>
              </a:prstGeom>
              <a:solidFill>
                <a:schemeClr val="accent2"/>
              </a:solidFill>
              <a:ln w="9525">
                <a:solidFill>
                  <a:schemeClr val="accent2"/>
                </a:solidFill>
                <a:miter lim="800000"/>
              </a:ln>
              <a:effectLst/>
            </p:spPr>
            <p:txBody>
              <a:bodyPr wrap="none" anchor="ctr"/>
              <a:lstStyle/>
              <a:p>
                <a:pPr>
                  <a:defRPr/>
                </a:pPr>
                <a:endParaRPr lang="en-US" sz="1600">
                  <a:latin typeface="Arial" panose="020B0604020202090204"/>
                  <a:cs typeface="Arial" panose="020B0604020202090204"/>
                </a:endParaRPr>
              </a:p>
            </p:txBody>
          </p:sp>
          <p:sp>
            <p:nvSpPr>
              <p:cNvPr id="150" name="Text Box 305"/>
              <p:cNvSpPr txBox="1">
                <a:spLocks noChangeArrowheads="1"/>
              </p:cNvSpPr>
              <p:nvPr/>
            </p:nvSpPr>
            <p:spPr bwMode="auto">
              <a:xfrm>
                <a:off x="714" y="2006"/>
                <a:ext cx="326" cy="182"/>
              </a:xfrm>
              <a:prstGeom prst="rect">
                <a:avLst/>
              </a:prstGeom>
              <a:noFill/>
              <a:ln>
                <a:noFill/>
              </a:ln>
              <a:effectLst/>
            </p:spPr>
            <p:txBody>
              <a:bodyPr wrap="none">
                <a:spAutoFit/>
              </a:bodyPr>
              <a:lstStyle/>
              <a:p>
                <a:pPr>
                  <a:defRPr/>
                </a:pPr>
                <a:r>
                  <a:rPr lang="en-US" sz="1400" dirty="0">
                    <a:solidFill>
                      <a:schemeClr val="bg1"/>
                    </a:solidFill>
                    <a:latin typeface="Arial" panose="020B0604020202090204"/>
                    <a:cs typeface="Arial" panose="020B0604020202090204"/>
                  </a:rPr>
                  <a:t>data</a:t>
                </a:r>
                <a:endParaRPr lang="en-US" sz="1400" dirty="0">
                  <a:latin typeface="Arial" panose="020B0604020202090204"/>
                  <a:cs typeface="Arial" panose="020B0604020202090204"/>
                </a:endParaRPr>
              </a:p>
            </p:txBody>
          </p:sp>
        </p:grpSp>
      </p:grpSp>
      <p:grpSp>
        <p:nvGrpSpPr>
          <p:cNvPr id="4" name="Group 3"/>
          <p:cNvGrpSpPr/>
          <p:nvPr/>
        </p:nvGrpSpPr>
        <p:grpSpPr bwMode="auto">
          <a:xfrm>
            <a:off x="-231252" y="2262188"/>
            <a:ext cx="4327002" cy="2670175"/>
            <a:chOff x="-230765" y="2262935"/>
            <a:chExt cx="4326515" cy="2669941"/>
          </a:xfrm>
        </p:grpSpPr>
        <p:sp>
          <p:nvSpPr>
            <p:cNvPr id="35162" name="Text Box 346"/>
            <p:cNvSpPr txBox="1">
              <a:spLocks noChangeArrowheads="1"/>
            </p:cNvSpPr>
            <p:nvPr/>
          </p:nvSpPr>
          <p:spPr bwMode="auto">
            <a:xfrm>
              <a:off x="-230765" y="3396311"/>
              <a:ext cx="1926485" cy="830924"/>
            </a:xfrm>
            <a:prstGeom prst="rect">
              <a:avLst/>
            </a:prstGeom>
            <a:noFill/>
            <a:ln>
              <a:noFill/>
            </a:ln>
            <a:effectLst/>
          </p:spPr>
          <p:txBody>
            <a:bodyPr wrap="none">
              <a:spAutoFit/>
            </a:bodyPr>
            <a:lstStyle/>
            <a:p>
              <a:pPr algn="r">
                <a:defRPr/>
              </a:pPr>
              <a:r>
                <a:rPr lang="en-US" sz="1600" i="1" dirty="0">
                  <a:solidFill>
                    <a:srgbClr val="000099"/>
                  </a:solidFill>
                  <a:latin typeface="Arial" panose="020B0604020202090204"/>
                  <a:cs typeface="Arial" panose="020B0604020202090204"/>
                </a:rPr>
                <a:t>network</a:t>
              </a:r>
            </a:p>
            <a:p>
              <a:pPr algn="r">
                <a:defRPr/>
              </a:pPr>
              <a:r>
                <a:rPr lang="en-US" sz="1600" i="1" dirty="0">
                  <a:solidFill>
                    <a:srgbClr val="000099"/>
                  </a:solidFill>
                  <a:latin typeface="Arial" panose="020B0604020202090204"/>
                  <a:cs typeface="Arial" panose="020B0604020202090204"/>
                </a:rPr>
                <a:t>management</a:t>
              </a:r>
            </a:p>
            <a:p>
              <a:pPr algn="r">
                <a:defRPr/>
              </a:pPr>
              <a:r>
                <a:rPr lang="en-US" sz="1600" i="1" dirty="0">
                  <a:solidFill>
                    <a:srgbClr val="000099"/>
                  </a:solidFill>
                  <a:latin typeface="Arial" panose="020B0604020202090204"/>
                  <a:cs typeface="Arial" panose="020B0604020202090204"/>
                </a:rPr>
                <a:t>protocol</a:t>
              </a:r>
              <a:endParaRPr lang="en-US" sz="1600" dirty="0">
                <a:solidFill>
                  <a:srgbClr val="000099"/>
                </a:solidFill>
                <a:latin typeface="Arial" panose="020B0604020202090204"/>
                <a:cs typeface="Arial" panose="020B0604020202090204"/>
              </a:endParaRPr>
            </a:p>
          </p:txBody>
        </p:sp>
        <p:sp>
          <p:nvSpPr>
            <p:cNvPr id="35159" name="Line 343"/>
            <p:cNvSpPr>
              <a:spLocks noChangeShapeType="1"/>
            </p:cNvSpPr>
            <p:nvPr/>
          </p:nvSpPr>
          <p:spPr bwMode="auto">
            <a:xfrm>
              <a:off x="2210012" y="2934388"/>
              <a:ext cx="1885738" cy="1657205"/>
            </a:xfrm>
            <a:prstGeom prst="line">
              <a:avLst/>
            </a:prstGeom>
            <a:noFill/>
            <a:ln w="38100">
              <a:solidFill>
                <a:schemeClr val="accent2"/>
              </a:solidFill>
              <a:round/>
              <a:headEnd type="triangle" w="med" len="med"/>
              <a:tailEnd type="triangle" w="med" len="med"/>
            </a:ln>
            <a:effectLst/>
          </p:spPr>
          <p:txBody>
            <a:bodyPr wrap="none" anchor="ctr"/>
            <a:lstStyle/>
            <a:p>
              <a:pPr>
                <a:defRPr/>
              </a:pPr>
              <a:endParaRPr lang="en-US" sz="1600">
                <a:latin typeface="Arial" panose="020B0604020202090204"/>
                <a:cs typeface="Arial" panose="020B0604020202090204"/>
              </a:endParaRPr>
            </a:p>
          </p:txBody>
        </p:sp>
        <p:sp>
          <p:nvSpPr>
            <p:cNvPr id="35157" name="Line 341"/>
            <p:cNvSpPr>
              <a:spLocks noChangeShapeType="1"/>
            </p:cNvSpPr>
            <p:nvPr/>
          </p:nvSpPr>
          <p:spPr bwMode="auto">
            <a:xfrm flipV="1">
              <a:off x="2410014" y="2262935"/>
              <a:ext cx="1431764" cy="242866"/>
            </a:xfrm>
            <a:prstGeom prst="line">
              <a:avLst/>
            </a:prstGeom>
            <a:noFill/>
            <a:ln w="38100">
              <a:solidFill>
                <a:schemeClr val="accent2"/>
              </a:solidFill>
              <a:round/>
              <a:headEnd type="triangle" w="med" len="med"/>
              <a:tailEnd type="triangle" w="med" len="med"/>
            </a:ln>
            <a:effectLst/>
          </p:spPr>
          <p:txBody>
            <a:bodyPr wrap="none" anchor="ctr"/>
            <a:lstStyle/>
            <a:p>
              <a:pPr>
                <a:defRPr/>
              </a:pPr>
              <a:endParaRPr lang="en-US" sz="1600">
                <a:latin typeface="Arial" panose="020B0604020202090204"/>
                <a:cs typeface="Arial" panose="020B0604020202090204"/>
              </a:endParaRPr>
            </a:p>
          </p:txBody>
        </p:sp>
        <p:sp>
          <p:nvSpPr>
            <p:cNvPr id="35158" name="Line 342"/>
            <p:cNvSpPr>
              <a:spLocks noChangeShapeType="1"/>
            </p:cNvSpPr>
            <p:nvPr/>
          </p:nvSpPr>
          <p:spPr bwMode="auto">
            <a:xfrm>
              <a:off x="2429062" y="2762953"/>
              <a:ext cx="1666688" cy="638119"/>
            </a:xfrm>
            <a:prstGeom prst="line">
              <a:avLst/>
            </a:prstGeom>
            <a:noFill/>
            <a:ln w="38100">
              <a:solidFill>
                <a:schemeClr val="accent2"/>
              </a:solidFill>
              <a:round/>
              <a:headEnd type="triangle" w="med" len="med"/>
              <a:tailEnd type="triangle" w="med" len="med"/>
            </a:ln>
            <a:effectLst/>
          </p:spPr>
          <p:txBody>
            <a:bodyPr wrap="none" anchor="ctr"/>
            <a:lstStyle/>
            <a:p>
              <a:pPr>
                <a:defRPr/>
              </a:pPr>
              <a:endParaRPr lang="en-US" sz="1600">
                <a:latin typeface="Arial" panose="020B0604020202090204"/>
                <a:cs typeface="Arial" panose="020B0604020202090204"/>
              </a:endParaRPr>
            </a:p>
          </p:txBody>
        </p:sp>
        <p:sp>
          <p:nvSpPr>
            <p:cNvPr id="35160" name="Line 344"/>
            <p:cNvSpPr>
              <a:spLocks noChangeShapeType="1"/>
            </p:cNvSpPr>
            <p:nvPr/>
          </p:nvSpPr>
          <p:spPr bwMode="auto">
            <a:xfrm>
              <a:off x="1486193" y="3051853"/>
              <a:ext cx="369846" cy="1881023"/>
            </a:xfrm>
            <a:prstGeom prst="line">
              <a:avLst/>
            </a:prstGeom>
            <a:noFill/>
            <a:ln w="38100">
              <a:solidFill>
                <a:schemeClr val="accent2"/>
              </a:solidFill>
              <a:round/>
              <a:headEnd type="triangle" w="med" len="med"/>
              <a:tailEnd type="triangle" w="med" len="med"/>
            </a:ln>
            <a:effectLst/>
          </p:spPr>
          <p:txBody>
            <a:bodyPr wrap="none" anchor="ctr"/>
            <a:lstStyle/>
            <a:p>
              <a:pPr>
                <a:defRPr/>
              </a:pPr>
              <a:endParaRPr lang="en-US" sz="1600">
                <a:latin typeface="Arial" panose="020B0604020202090204"/>
                <a:cs typeface="Arial" panose="020B0604020202090204"/>
              </a:endParaRPr>
            </a:p>
          </p:txBody>
        </p:sp>
        <p:sp>
          <p:nvSpPr>
            <p:cNvPr id="163" name="Line 342"/>
            <p:cNvSpPr>
              <a:spLocks noChangeShapeType="1"/>
            </p:cNvSpPr>
            <p:nvPr/>
          </p:nvSpPr>
          <p:spPr bwMode="auto">
            <a:xfrm>
              <a:off x="1800483" y="3045503"/>
              <a:ext cx="479371" cy="763521"/>
            </a:xfrm>
            <a:prstGeom prst="line">
              <a:avLst/>
            </a:prstGeom>
            <a:noFill/>
            <a:ln w="38100">
              <a:solidFill>
                <a:schemeClr val="accent2"/>
              </a:solidFill>
              <a:round/>
              <a:headEnd type="triangle" w="med" len="med"/>
              <a:tailEnd type="triangle" w="med" len="med"/>
            </a:ln>
            <a:effectLst/>
          </p:spPr>
          <p:txBody>
            <a:bodyPr wrap="none" anchor="ctr"/>
            <a:lstStyle/>
            <a:p>
              <a:pPr>
                <a:defRPr/>
              </a:pPr>
              <a:endParaRPr lang="en-US" sz="1600">
                <a:latin typeface="Arial" panose="020B0604020202090204"/>
                <a:cs typeface="Arial" panose="020B0604020202090204"/>
              </a:endParaRPr>
            </a:p>
          </p:txBody>
        </p:sp>
      </p:grpSp>
      <p:sp>
        <p:nvSpPr>
          <p:cNvPr id="167" name="Text Box 338"/>
          <p:cNvSpPr txBox="1">
            <a:spLocks noChangeArrowheads="1"/>
          </p:cNvSpPr>
          <p:nvPr/>
        </p:nvSpPr>
        <p:spPr bwMode="auto">
          <a:xfrm>
            <a:off x="1475707" y="4334377"/>
            <a:ext cx="1690387" cy="338554"/>
          </a:xfrm>
          <a:prstGeom prst="rect">
            <a:avLst/>
          </a:prstGeom>
          <a:noFill/>
          <a:ln>
            <a:noFill/>
          </a:ln>
          <a:effectLst/>
        </p:spPr>
        <p:txBody>
          <a:bodyPr wrap="none">
            <a:spAutoFit/>
          </a:bodyPr>
          <a:lstStyle/>
          <a:p>
            <a:pPr>
              <a:defRPr/>
            </a:pPr>
            <a:r>
              <a:rPr lang="en-US" sz="1600" dirty="0">
                <a:latin typeface="Arial" panose="020B0604020202090204"/>
                <a:cs typeface="Arial" panose="020B0604020202090204"/>
              </a:rPr>
              <a:t>managed device</a:t>
            </a:r>
          </a:p>
        </p:txBody>
      </p:sp>
      <p:grpSp>
        <p:nvGrpSpPr>
          <p:cNvPr id="151" name="Group 150"/>
          <p:cNvGrpSpPr/>
          <p:nvPr/>
        </p:nvGrpSpPr>
        <p:grpSpPr bwMode="auto">
          <a:xfrm>
            <a:off x="1858963" y="3810000"/>
            <a:ext cx="1293812" cy="615950"/>
            <a:chOff x="6563312" y="4346525"/>
            <a:chExt cx="1292995" cy="615298"/>
          </a:xfrm>
        </p:grpSpPr>
        <p:sp>
          <p:nvSpPr>
            <p:cNvPr id="152"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ln>
            <a:effectLst/>
          </p:spPr>
          <p:txBody>
            <a:bodyPr wrap="none" anchor="ctr"/>
            <a:lstStyle/>
            <a:p>
              <a:pPr>
                <a:defRPr/>
              </a:pPr>
              <a:endParaRPr lang="en-US" sz="1600">
                <a:latin typeface="Arial" panose="020B0604020202090204"/>
                <a:cs typeface="Arial" panose="020B0604020202090204"/>
              </a:endParaRPr>
            </a:p>
          </p:txBody>
        </p:sp>
        <p:sp>
          <p:nvSpPr>
            <p:cNvPr id="153" name="Text Box 302"/>
            <p:cNvSpPr txBox="1">
              <a:spLocks noChangeArrowheads="1"/>
            </p:cNvSpPr>
            <p:nvPr/>
          </p:nvSpPr>
          <p:spPr bwMode="auto">
            <a:xfrm>
              <a:off x="6607734" y="4465462"/>
              <a:ext cx="633545" cy="307451"/>
            </a:xfrm>
            <a:prstGeom prst="rect">
              <a:avLst/>
            </a:prstGeom>
            <a:noFill/>
            <a:ln>
              <a:noFill/>
            </a:ln>
            <a:effectLst/>
          </p:spPr>
          <p:txBody>
            <a:bodyPr wrap="none">
              <a:spAutoFit/>
            </a:bodyPr>
            <a:lstStyle/>
            <a:p>
              <a:pPr>
                <a:defRPr/>
              </a:pPr>
              <a:r>
                <a:rPr lang="en-US" sz="1400" dirty="0">
                  <a:latin typeface="Arial" panose="020B0604020202090204"/>
                  <a:cs typeface="Arial" panose="020B0604020202090204"/>
                </a:rPr>
                <a:t>agent</a:t>
              </a:r>
            </a:p>
          </p:txBody>
        </p:sp>
        <p:grpSp>
          <p:nvGrpSpPr>
            <p:cNvPr id="35876" name="Group 303"/>
            <p:cNvGrpSpPr/>
            <p:nvPr/>
          </p:nvGrpSpPr>
          <p:grpSpPr bwMode="auto">
            <a:xfrm>
              <a:off x="7112206" y="4464844"/>
              <a:ext cx="567758" cy="370756"/>
              <a:chOff x="714" y="2006"/>
              <a:chExt cx="347" cy="219"/>
            </a:xfrm>
          </p:grpSpPr>
          <p:sp>
            <p:nvSpPr>
              <p:cNvPr id="155" name="Rectangle 304"/>
              <p:cNvSpPr>
                <a:spLocks noChangeArrowheads="1"/>
              </p:cNvSpPr>
              <p:nvPr/>
            </p:nvSpPr>
            <p:spPr bwMode="auto">
              <a:xfrm>
                <a:off x="747" y="2026"/>
                <a:ext cx="314" cy="199"/>
              </a:xfrm>
              <a:prstGeom prst="rect">
                <a:avLst/>
              </a:prstGeom>
              <a:solidFill>
                <a:schemeClr val="accent2"/>
              </a:solidFill>
              <a:ln w="9525">
                <a:solidFill>
                  <a:schemeClr val="accent2"/>
                </a:solidFill>
                <a:miter lim="800000"/>
              </a:ln>
              <a:effectLst/>
            </p:spPr>
            <p:txBody>
              <a:bodyPr wrap="none" anchor="ctr"/>
              <a:lstStyle/>
              <a:p>
                <a:pPr>
                  <a:defRPr/>
                </a:pPr>
                <a:endParaRPr lang="en-US" sz="1600">
                  <a:latin typeface="Arial" panose="020B0604020202090204"/>
                  <a:cs typeface="Arial" panose="020B0604020202090204"/>
                </a:endParaRPr>
              </a:p>
            </p:txBody>
          </p:sp>
          <p:sp>
            <p:nvSpPr>
              <p:cNvPr id="156" name="Text Box 305"/>
              <p:cNvSpPr txBox="1">
                <a:spLocks noChangeArrowheads="1"/>
              </p:cNvSpPr>
              <p:nvPr/>
            </p:nvSpPr>
            <p:spPr bwMode="auto">
              <a:xfrm>
                <a:off x="714" y="2006"/>
                <a:ext cx="326" cy="182"/>
              </a:xfrm>
              <a:prstGeom prst="rect">
                <a:avLst/>
              </a:prstGeom>
              <a:noFill/>
              <a:ln>
                <a:noFill/>
              </a:ln>
              <a:effectLst/>
            </p:spPr>
            <p:txBody>
              <a:bodyPr wrap="none">
                <a:spAutoFit/>
              </a:bodyPr>
              <a:lstStyle/>
              <a:p>
                <a:pPr>
                  <a:defRPr/>
                </a:pPr>
                <a:r>
                  <a:rPr lang="en-US" sz="1400" dirty="0">
                    <a:solidFill>
                      <a:schemeClr val="bg1"/>
                    </a:solidFill>
                    <a:latin typeface="Arial" panose="020B0604020202090204"/>
                    <a:cs typeface="Arial" panose="020B0604020202090204"/>
                  </a:rPr>
                  <a:t>data</a:t>
                </a:r>
                <a:endParaRPr lang="en-US" sz="1400" dirty="0">
                  <a:latin typeface="Arial" panose="020B0604020202090204"/>
                  <a:cs typeface="Arial" panose="020B0604020202090204"/>
                </a:endParaRPr>
              </a:p>
            </p:txBody>
          </p:sp>
        </p:grpSp>
      </p:grpSp>
      <p:grpSp>
        <p:nvGrpSpPr>
          <p:cNvPr id="135" name="Group 327"/>
          <p:cNvGrpSpPr/>
          <p:nvPr/>
        </p:nvGrpSpPr>
        <p:grpSpPr bwMode="auto">
          <a:xfrm>
            <a:off x="2526083" y="5188911"/>
            <a:ext cx="687402" cy="404026"/>
            <a:chOff x="1871277" y="1576300"/>
            <a:chExt cx="1128371" cy="437861"/>
          </a:xfrm>
        </p:grpSpPr>
        <p:sp>
          <p:nvSpPr>
            <p:cNvPr id="154" name="Oval 15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0" name="Rectangle 15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Freeform 16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0" name="Straight Connector 169"/>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1" name="Straight Connector 17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35087" name="Line 271"/>
          <p:cNvSpPr>
            <a:spLocks noChangeShapeType="1"/>
          </p:cNvSpPr>
          <p:nvPr/>
        </p:nvSpPr>
        <p:spPr bwMode="auto">
          <a:xfrm flipV="1">
            <a:off x="2201863" y="5435600"/>
            <a:ext cx="350837" cy="4763"/>
          </a:xfrm>
          <a:prstGeom prst="line">
            <a:avLst/>
          </a:prstGeom>
          <a:noFill/>
          <a:ln w="19050">
            <a:solidFill>
              <a:schemeClr val="tx1"/>
            </a:solidFill>
            <a:round/>
          </a:ln>
          <a:effectLst/>
        </p:spPr>
        <p:txBody>
          <a:bodyPr wrap="none" anchor="ctr"/>
          <a:lstStyle/>
          <a:p>
            <a:pPr>
              <a:defRPr/>
            </a:pPr>
            <a:endParaRPr lang="en-US" sz="1600">
              <a:latin typeface="Arial" panose="020B0604020202090204"/>
              <a:cs typeface="Arial" panose="020B0604020202090204"/>
            </a:endParaRPr>
          </a:p>
        </p:txBody>
      </p:sp>
      <p:grpSp>
        <p:nvGrpSpPr>
          <p:cNvPr id="157" name="Group 156"/>
          <p:cNvGrpSpPr/>
          <p:nvPr/>
        </p:nvGrpSpPr>
        <p:grpSpPr bwMode="auto">
          <a:xfrm>
            <a:off x="1458913" y="4940300"/>
            <a:ext cx="1292225" cy="614363"/>
            <a:chOff x="6563312" y="4346525"/>
            <a:chExt cx="1292995" cy="615298"/>
          </a:xfrm>
        </p:grpSpPr>
        <p:sp>
          <p:nvSpPr>
            <p:cNvPr id="158"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ln>
            <a:effectLst/>
          </p:spPr>
          <p:txBody>
            <a:bodyPr wrap="none" anchor="ctr"/>
            <a:lstStyle/>
            <a:p>
              <a:pPr>
                <a:defRPr/>
              </a:pPr>
              <a:endParaRPr lang="en-US" sz="1600">
                <a:latin typeface="Arial" panose="020B0604020202090204"/>
                <a:cs typeface="Arial" panose="020B0604020202090204"/>
              </a:endParaRPr>
            </a:p>
          </p:txBody>
        </p:sp>
        <p:sp>
          <p:nvSpPr>
            <p:cNvPr id="159" name="Text Box 302"/>
            <p:cNvSpPr txBox="1">
              <a:spLocks noChangeArrowheads="1"/>
            </p:cNvSpPr>
            <p:nvPr/>
          </p:nvSpPr>
          <p:spPr bwMode="auto">
            <a:xfrm>
              <a:off x="6607788" y="4465769"/>
              <a:ext cx="634323" cy="308245"/>
            </a:xfrm>
            <a:prstGeom prst="rect">
              <a:avLst/>
            </a:prstGeom>
            <a:noFill/>
            <a:ln>
              <a:noFill/>
            </a:ln>
            <a:effectLst/>
          </p:spPr>
          <p:txBody>
            <a:bodyPr wrap="none">
              <a:spAutoFit/>
            </a:bodyPr>
            <a:lstStyle/>
            <a:p>
              <a:pPr>
                <a:defRPr/>
              </a:pPr>
              <a:r>
                <a:rPr lang="en-US" sz="1400" dirty="0">
                  <a:latin typeface="Arial" panose="020B0604020202090204"/>
                  <a:cs typeface="Arial" panose="020B0604020202090204"/>
                </a:rPr>
                <a:t>agent</a:t>
              </a:r>
            </a:p>
          </p:txBody>
        </p:sp>
        <p:grpSp>
          <p:nvGrpSpPr>
            <p:cNvPr id="35887" name="Group 303"/>
            <p:cNvGrpSpPr/>
            <p:nvPr/>
          </p:nvGrpSpPr>
          <p:grpSpPr bwMode="auto">
            <a:xfrm>
              <a:off x="7112206" y="4464844"/>
              <a:ext cx="567758" cy="370756"/>
              <a:chOff x="714" y="2006"/>
              <a:chExt cx="347" cy="219"/>
            </a:xfrm>
          </p:grpSpPr>
          <p:sp>
            <p:nvSpPr>
              <p:cNvPr id="161" name="Rectangle 304"/>
              <p:cNvSpPr>
                <a:spLocks noChangeArrowheads="1"/>
              </p:cNvSpPr>
              <p:nvPr/>
            </p:nvSpPr>
            <p:spPr bwMode="auto">
              <a:xfrm>
                <a:off x="747" y="2025"/>
                <a:ext cx="314" cy="200"/>
              </a:xfrm>
              <a:prstGeom prst="rect">
                <a:avLst/>
              </a:prstGeom>
              <a:solidFill>
                <a:schemeClr val="accent2"/>
              </a:solidFill>
              <a:ln w="9525">
                <a:solidFill>
                  <a:schemeClr val="accent2"/>
                </a:solidFill>
                <a:miter lim="800000"/>
              </a:ln>
              <a:effectLst/>
            </p:spPr>
            <p:txBody>
              <a:bodyPr wrap="none" anchor="ctr"/>
              <a:lstStyle/>
              <a:p>
                <a:pPr>
                  <a:defRPr/>
                </a:pPr>
                <a:endParaRPr lang="en-US" sz="1600">
                  <a:latin typeface="Arial" panose="020B0604020202090204"/>
                  <a:cs typeface="Arial" panose="020B0604020202090204"/>
                </a:endParaRPr>
              </a:p>
            </p:txBody>
          </p:sp>
          <p:sp>
            <p:nvSpPr>
              <p:cNvPr id="162" name="Text Box 305"/>
              <p:cNvSpPr txBox="1">
                <a:spLocks noChangeArrowheads="1"/>
              </p:cNvSpPr>
              <p:nvPr/>
            </p:nvSpPr>
            <p:spPr bwMode="auto">
              <a:xfrm>
                <a:off x="714" y="2006"/>
                <a:ext cx="327" cy="182"/>
              </a:xfrm>
              <a:prstGeom prst="rect">
                <a:avLst/>
              </a:prstGeom>
              <a:noFill/>
              <a:ln>
                <a:noFill/>
              </a:ln>
              <a:effectLst/>
            </p:spPr>
            <p:txBody>
              <a:bodyPr wrap="none">
                <a:spAutoFit/>
              </a:bodyPr>
              <a:lstStyle/>
              <a:p>
                <a:pPr>
                  <a:defRPr/>
                </a:pPr>
                <a:r>
                  <a:rPr lang="en-US" sz="1400" dirty="0">
                    <a:solidFill>
                      <a:schemeClr val="bg1"/>
                    </a:solidFill>
                    <a:latin typeface="Arial" panose="020B0604020202090204"/>
                    <a:cs typeface="Arial" panose="020B0604020202090204"/>
                  </a:rPr>
                  <a:t>data</a:t>
                </a:r>
                <a:endParaRPr lang="en-US" sz="1400" dirty="0">
                  <a:latin typeface="Arial" panose="020B0604020202090204"/>
                  <a:cs typeface="Arial" panose="020B0604020202090204"/>
                </a:endParaRPr>
              </a:p>
            </p:txBody>
          </p:sp>
        </p:grpSp>
      </p:grpSp>
      <p:grpSp>
        <p:nvGrpSpPr>
          <p:cNvPr id="174" name="Group 327"/>
          <p:cNvGrpSpPr/>
          <p:nvPr/>
        </p:nvGrpSpPr>
        <p:grpSpPr bwMode="auto">
          <a:xfrm>
            <a:off x="3715872" y="3464385"/>
            <a:ext cx="687402" cy="404025"/>
            <a:chOff x="1871277" y="1576300"/>
            <a:chExt cx="1128371" cy="437861"/>
          </a:xfrm>
        </p:grpSpPr>
        <p:sp>
          <p:nvSpPr>
            <p:cNvPr id="178" name="Oval 17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9" name="Rectangle 17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Oval 17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1" name="Freeform 18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Freeform 18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Freeform 18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4" name="Freeform 18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5" name="Straight Connector 184"/>
            <p:cNvCxnSpPr>
              <a:endCxn id="18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6" name="Straight Connector 18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35071" name="Line 255"/>
          <p:cNvSpPr>
            <a:spLocks noChangeShapeType="1"/>
          </p:cNvSpPr>
          <p:nvPr/>
        </p:nvSpPr>
        <p:spPr bwMode="auto">
          <a:xfrm flipV="1">
            <a:off x="4410075" y="3738563"/>
            <a:ext cx="350838" cy="3175"/>
          </a:xfrm>
          <a:prstGeom prst="line">
            <a:avLst/>
          </a:prstGeom>
          <a:noFill/>
          <a:ln w="19050">
            <a:solidFill>
              <a:schemeClr val="tx1"/>
            </a:solidFill>
            <a:round/>
          </a:ln>
          <a:effectLst/>
        </p:spPr>
        <p:txBody>
          <a:bodyPr wrap="none" anchor="ctr"/>
          <a:lstStyle/>
          <a:p>
            <a:pPr>
              <a:defRPr/>
            </a:pPr>
            <a:endParaRPr lang="en-US" sz="1600">
              <a:latin typeface="Arial" panose="020B0604020202090204"/>
              <a:cs typeface="Arial" panose="020B0604020202090204"/>
            </a:endParaRPr>
          </a:p>
        </p:txBody>
      </p:sp>
      <p:grpSp>
        <p:nvGrpSpPr>
          <p:cNvPr id="139" name="Group 138"/>
          <p:cNvGrpSpPr/>
          <p:nvPr/>
        </p:nvGrpSpPr>
        <p:grpSpPr bwMode="auto">
          <a:xfrm>
            <a:off x="4013200" y="3148013"/>
            <a:ext cx="1292225" cy="614362"/>
            <a:chOff x="6563312" y="4346525"/>
            <a:chExt cx="1292995" cy="615298"/>
          </a:xfrm>
        </p:grpSpPr>
        <p:sp>
          <p:nvSpPr>
            <p:cNvPr id="140"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ln>
            <a:effectLst/>
          </p:spPr>
          <p:txBody>
            <a:bodyPr wrap="none" anchor="ctr"/>
            <a:lstStyle/>
            <a:p>
              <a:pPr>
                <a:defRPr/>
              </a:pPr>
              <a:endParaRPr lang="en-US" sz="1600">
                <a:latin typeface="Arial" panose="020B0604020202090204"/>
                <a:cs typeface="Arial" panose="020B0604020202090204"/>
              </a:endParaRPr>
            </a:p>
          </p:txBody>
        </p:sp>
        <p:sp>
          <p:nvSpPr>
            <p:cNvPr id="141" name="Text Box 302"/>
            <p:cNvSpPr txBox="1">
              <a:spLocks noChangeArrowheads="1"/>
            </p:cNvSpPr>
            <p:nvPr/>
          </p:nvSpPr>
          <p:spPr bwMode="auto">
            <a:xfrm>
              <a:off x="6607788" y="4465768"/>
              <a:ext cx="634323" cy="308246"/>
            </a:xfrm>
            <a:prstGeom prst="rect">
              <a:avLst/>
            </a:prstGeom>
            <a:noFill/>
            <a:ln>
              <a:noFill/>
            </a:ln>
            <a:effectLst/>
          </p:spPr>
          <p:txBody>
            <a:bodyPr wrap="none">
              <a:spAutoFit/>
            </a:bodyPr>
            <a:lstStyle/>
            <a:p>
              <a:pPr>
                <a:defRPr/>
              </a:pPr>
              <a:r>
                <a:rPr lang="en-US" sz="1400" dirty="0">
                  <a:latin typeface="Arial" panose="020B0604020202090204"/>
                  <a:cs typeface="Arial" panose="020B0604020202090204"/>
                </a:rPr>
                <a:t>agent</a:t>
              </a:r>
            </a:p>
          </p:txBody>
        </p:sp>
        <p:grpSp>
          <p:nvGrpSpPr>
            <p:cNvPr id="35897" name="Group 303"/>
            <p:cNvGrpSpPr/>
            <p:nvPr/>
          </p:nvGrpSpPr>
          <p:grpSpPr bwMode="auto">
            <a:xfrm>
              <a:off x="7112206" y="4464844"/>
              <a:ext cx="567758" cy="370756"/>
              <a:chOff x="714" y="2006"/>
              <a:chExt cx="347" cy="219"/>
            </a:xfrm>
          </p:grpSpPr>
          <p:sp>
            <p:nvSpPr>
              <p:cNvPr id="143" name="Rectangle 304"/>
              <p:cNvSpPr>
                <a:spLocks noChangeArrowheads="1"/>
              </p:cNvSpPr>
              <p:nvPr/>
            </p:nvSpPr>
            <p:spPr bwMode="auto">
              <a:xfrm>
                <a:off x="747" y="2025"/>
                <a:ext cx="314" cy="200"/>
              </a:xfrm>
              <a:prstGeom prst="rect">
                <a:avLst/>
              </a:prstGeom>
              <a:solidFill>
                <a:schemeClr val="accent2"/>
              </a:solidFill>
              <a:ln w="9525">
                <a:solidFill>
                  <a:schemeClr val="accent2"/>
                </a:solidFill>
                <a:miter lim="800000"/>
              </a:ln>
              <a:effectLst/>
            </p:spPr>
            <p:txBody>
              <a:bodyPr wrap="none" anchor="ctr"/>
              <a:lstStyle/>
              <a:p>
                <a:pPr>
                  <a:defRPr/>
                </a:pPr>
                <a:endParaRPr lang="en-US" sz="1600">
                  <a:latin typeface="Arial" panose="020B0604020202090204"/>
                  <a:cs typeface="Arial" panose="020B0604020202090204"/>
                </a:endParaRPr>
              </a:p>
            </p:txBody>
          </p:sp>
          <p:sp>
            <p:nvSpPr>
              <p:cNvPr id="144" name="Text Box 305"/>
              <p:cNvSpPr txBox="1">
                <a:spLocks noChangeArrowheads="1"/>
              </p:cNvSpPr>
              <p:nvPr/>
            </p:nvSpPr>
            <p:spPr bwMode="auto">
              <a:xfrm>
                <a:off x="714" y="2006"/>
                <a:ext cx="327" cy="182"/>
              </a:xfrm>
              <a:prstGeom prst="rect">
                <a:avLst/>
              </a:prstGeom>
              <a:noFill/>
              <a:ln>
                <a:noFill/>
              </a:ln>
              <a:effectLst/>
            </p:spPr>
            <p:txBody>
              <a:bodyPr wrap="none">
                <a:spAutoFit/>
              </a:bodyPr>
              <a:lstStyle/>
              <a:p>
                <a:pPr>
                  <a:defRPr/>
                </a:pPr>
                <a:r>
                  <a:rPr lang="en-US" sz="1400" dirty="0">
                    <a:solidFill>
                      <a:schemeClr val="bg1"/>
                    </a:solidFill>
                    <a:latin typeface="Arial" panose="020B0604020202090204"/>
                    <a:cs typeface="Arial" panose="020B0604020202090204"/>
                  </a:rPr>
                  <a:t>data</a:t>
                </a:r>
                <a:endParaRPr lang="en-US" sz="1400" dirty="0">
                  <a:latin typeface="Arial" panose="020B0604020202090204"/>
                  <a:cs typeface="Arial" panose="020B0604020202090204"/>
                </a:endParaRPr>
              </a:p>
            </p:txBody>
          </p:sp>
        </p:grpSp>
      </p:grpSp>
      <p:sp>
        <p:nvSpPr>
          <p:cNvPr id="187" name="Slide Number Placeholder 5"/>
          <p:cNvSpPr>
            <a:spLocks noGrp="1"/>
          </p:cNvSpPr>
          <p:nvPr>
            <p:ph type="sldNum" sz="quarter" idx="12"/>
          </p:nvPr>
        </p:nvSpPr>
        <p:spPr>
          <a:xfrm>
            <a:off x="8456295" y="6475730"/>
            <a:ext cx="583565"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120</a:t>
            </a:fld>
            <a:endParaRPr lang="en-US" sz="1200" dirty="0">
              <a:latin typeface="Tahoma" panose="020B0604030504040204" charset="0"/>
            </a:endParaRPr>
          </a:p>
        </p:txBody>
      </p:sp>
      <p:sp>
        <p:nvSpPr>
          <p:cNvPr id="188"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par>
                                <p:cTn id="8" presetID="9" presetClass="entr" presetSubtype="0" fill="hold" nodeType="withEffect">
                                  <p:stCondLst>
                                    <p:cond delay="0"/>
                                  </p:stCondLst>
                                  <p:childTnLst>
                                    <p:set>
                                      <p:cBhvr>
                                        <p:cTn id="9" dur="1" fill="hold">
                                          <p:stCondLst>
                                            <p:cond delay="0"/>
                                          </p:stCondLst>
                                        </p:cTn>
                                        <p:tgtEl>
                                          <p:spTgt spid="139"/>
                                        </p:tgtEl>
                                        <p:attrNameLst>
                                          <p:attrName>style.visibility</p:attrName>
                                        </p:attrNameLst>
                                      </p:cBhvr>
                                      <p:to>
                                        <p:strVal val="visible"/>
                                      </p:to>
                                    </p:set>
                                    <p:animEffect transition="in" filter="dissolve">
                                      <p:cBhvr>
                                        <p:cTn id="10" dur="500"/>
                                        <p:tgtEl>
                                          <p:spTgt spid="139"/>
                                        </p:tgtEl>
                                      </p:cBhvr>
                                    </p:animEffect>
                                  </p:childTnLst>
                                </p:cTn>
                              </p:par>
                              <p:par>
                                <p:cTn id="11" presetID="9" presetClass="entr" presetSubtype="0" fill="hold" nodeType="withEffect">
                                  <p:stCondLst>
                                    <p:cond delay="0"/>
                                  </p:stCondLst>
                                  <p:childTnLst>
                                    <p:set>
                                      <p:cBhvr>
                                        <p:cTn id="12" dur="1" fill="hold">
                                          <p:stCondLst>
                                            <p:cond delay="0"/>
                                          </p:stCondLst>
                                        </p:cTn>
                                        <p:tgtEl>
                                          <p:spTgt spid="145"/>
                                        </p:tgtEl>
                                        <p:attrNameLst>
                                          <p:attrName>style.visibility</p:attrName>
                                        </p:attrNameLst>
                                      </p:cBhvr>
                                      <p:to>
                                        <p:strVal val="visible"/>
                                      </p:to>
                                    </p:set>
                                    <p:animEffect transition="in" filter="dissolve">
                                      <p:cBhvr>
                                        <p:cTn id="13" dur="500"/>
                                        <p:tgtEl>
                                          <p:spTgt spid="145"/>
                                        </p:tgtEl>
                                      </p:cBhvr>
                                    </p:animEffect>
                                  </p:childTnLst>
                                </p:cTn>
                              </p:par>
                              <p:par>
                                <p:cTn id="14" presetID="9" presetClass="entr" presetSubtype="0" fill="hold" nodeType="withEffect">
                                  <p:stCondLst>
                                    <p:cond delay="0"/>
                                  </p:stCondLst>
                                  <p:childTnLst>
                                    <p:set>
                                      <p:cBhvr>
                                        <p:cTn id="15" dur="1" fill="hold">
                                          <p:stCondLst>
                                            <p:cond delay="0"/>
                                          </p:stCondLst>
                                        </p:cTn>
                                        <p:tgtEl>
                                          <p:spTgt spid="151"/>
                                        </p:tgtEl>
                                        <p:attrNameLst>
                                          <p:attrName>style.visibility</p:attrName>
                                        </p:attrNameLst>
                                      </p:cBhvr>
                                      <p:to>
                                        <p:strVal val="visible"/>
                                      </p:to>
                                    </p:set>
                                    <p:animEffect transition="in" filter="dissolve">
                                      <p:cBhvr>
                                        <p:cTn id="16" dur="500"/>
                                        <p:tgtEl>
                                          <p:spTgt spid="151"/>
                                        </p:tgtEl>
                                      </p:cBhvr>
                                    </p:animEffect>
                                  </p:childTnLst>
                                </p:cTn>
                              </p:par>
                              <p:par>
                                <p:cTn id="17" presetID="9" presetClass="entr" presetSubtype="0" fill="hold" nodeType="withEffect">
                                  <p:stCondLst>
                                    <p:cond delay="0"/>
                                  </p:stCondLst>
                                  <p:childTnLst>
                                    <p:set>
                                      <p:cBhvr>
                                        <p:cTn id="18" dur="1" fill="hold">
                                          <p:stCondLst>
                                            <p:cond delay="0"/>
                                          </p:stCondLst>
                                        </p:cTn>
                                        <p:tgtEl>
                                          <p:spTgt spid="157"/>
                                        </p:tgtEl>
                                        <p:attrNameLst>
                                          <p:attrName>style.visibility</p:attrName>
                                        </p:attrNameLst>
                                      </p:cBhvr>
                                      <p:to>
                                        <p:strVal val="visible"/>
                                      </p:to>
                                    </p:set>
                                    <p:animEffect transition="in" filter="dissolve">
                                      <p:cBhvr>
                                        <p:cTn id="19" dur="500"/>
                                        <p:tgtEl>
                                          <p:spTgt spid="157"/>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dissolve">
                                      <p:cBhvr>
                                        <p:cTn id="24" dur="500"/>
                                        <p:tgtEl>
                                          <p:spTgt spid="5"/>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dissolve">
                                      <p:cBhvr>
                                        <p:cTn id="2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 name="Freeform 2"/>
          <p:cNvSpPr/>
          <p:nvPr/>
        </p:nvSpPr>
        <p:spPr bwMode="auto">
          <a:xfrm rot="16383367">
            <a:off x="5235611" y="2469756"/>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p:spPr>
        <p:txBody>
          <a:bodyPr wrap="none" anchor="ctr"/>
          <a:lstStyle/>
          <a:p>
            <a:pPr defTabSz="914400" eaLnBrk="0" fontAlgn="base" hangingPunct="0">
              <a:spcBef>
                <a:spcPct val="0"/>
              </a:spcBef>
              <a:spcAft>
                <a:spcPct val="0"/>
              </a:spcAft>
            </a:pPr>
            <a:endParaRPr lang="en-US">
              <a:solidFill>
                <a:srgbClr val="000000"/>
              </a:solidFill>
              <a:latin typeface="Arial" panose="020B0604020202090204" pitchFamily="34" charset="0"/>
              <a:ea typeface="MS PGothic" charset="0"/>
              <a:cs typeface="MS PGothic" charset="0"/>
            </a:endParaRPr>
          </a:p>
        </p:txBody>
      </p:sp>
      <p:sp>
        <p:nvSpPr>
          <p:cNvPr id="291" name="Freeform 2"/>
          <p:cNvSpPr/>
          <p:nvPr/>
        </p:nvSpPr>
        <p:spPr bwMode="auto">
          <a:xfrm rot="16383367">
            <a:off x="1011196" y="2563335"/>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p:spPr>
        <p:txBody>
          <a:bodyPr wrap="none" anchor="ctr"/>
          <a:lstStyle/>
          <a:p>
            <a:pPr defTabSz="914400" eaLnBrk="0" fontAlgn="base" hangingPunct="0">
              <a:spcBef>
                <a:spcPct val="0"/>
              </a:spcBef>
              <a:spcAft>
                <a:spcPct val="0"/>
              </a:spcAft>
            </a:pPr>
            <a:endParaRPr lang="en-US">
              <a:solidFill>
                <a:srgbClr val="000000"/>
              </a:solidFill>
              <a:latin typeface="Arial" panose="020B0604020202090204" pitchFamily="34" charset="0"/>
              <a:ea typeface="MS PGothic" charset="0"/>
              <a:cs typeface="MS PGothic" charset="0"/>
            </a:endParaRPr>
          </a:p>
        </p:txBody>
      </p:sp>
      <p:sp>
        <p:nvSpPr>
          <p:cNvPr id="203" name="Line 252"/>
          <p:cNvSpPr>
            <a:spLocks noChangeShapeType="1"/>
          </p:cNvSpPr>
          <p:nvPr/>
        </p:nvSpPr>
        <p:spPr bwMode="auto">
          <a:xfrm flipV="1">
            <a:off x="7246938" y="2713038"/>
            <a:ext cx="327025" cy="962025"/>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sp>
        <p:nvSpPr>
          <p:cNvPr id="204" name="Line 254"/>
          <p:cNvSpPr>
            <a:spLocks noChangeShapeType="1"/>
          </p:cNvSpPr>
          <p:nvPr/>
        </p:nvSpPr>
        <p:spPr bwMode="auto">
          <a:xfrm flipV="1">
            <a:off x="7567613" y="3592513"/>
            <a:ext cx="182562" cy="195262"/>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sp>
        <p:nvSpPr>
          <p:cNvPr id="205" name="Line 255"/>
          <p:cNvSpPr>
            <a:spLocks noChangeShapeType="1"/>
          </p:cNvSpPr>
          <p:nvPr/>
        </p:nvSpPr>
        <p:spPr bwMode="auto">
          <a:xfrm flipV="1">
            <a:off x="8388350" y="3576638"/>
            <a:ext cx="339725" cy="1587"/>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sp>
        <p:nvSpPr>
          <p:cNvPr id="206" name="Line 256"/>
          <p:cNvSpPr>
            <a:spLocks noChangeShapeType="1"/>
          </p:cNvSpPr>
          <p:nvPr/>
        </p:nvSpPr>
        <p:spPr bwMode="auto">
          <a:xfrm flipV="1">
            <a:off x="7061200" y="5143500"/>
            <a:ext cx="339725" cy="3175"/>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sp>
        <p:nvSpPr>
          <p:cNvPr id="207" name="Line 271"/>
          <p:cNvSpPr>
            <a:spLocks noChangeShapeType="1"/>
          </p:cNvSpPr>
          <p:nvPr/>
        </p:nvSpPr>
        <p:spPr bwMode="auto">
          <a:xfrm flipV="1">
            <a:off x="6175375" y="5138738"/>
            <a:ext cx="339725" cy="3175"/>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sp>
        <p:nvSpPr>
          <p:cNvPr id="208" name="Line 272"/>
          <p:cNvSpPr>
            <a:spLocks noChangeShapeType="1"/>
          </p:cNvSpPr>
          <p:nvPr/>
        </p:nvSpPr>
        <p:spPr bwMode="auto">
          <a:xfrm>
            <a:off x="7364413" y="3983038"/>
            <a:ext cx="468312" cy="574675"/>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pic>
        <p:nvPicPr>
          <p:cNvPr id="20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4513" y="3681413"/>
            <a:ext cx="712787" cy="303212"/>
          </a:xfrm>
          <a:prstGeom prst="rect">
            <a:avLst/>
          </a:prstGeom>
          <a:noFill/>
          <a:ln>
            <a:noFill/>
          </a:ln>
          <a:effectLst/>
        </p:spPr>
      </p:pic>
      <p:grpSp>
        <p:nvGrpSpPr>
          <p:cNvPr id="56449" name="Group 906"/>
          <p:cNvGrpSpPr/>
          <p:nvPr/>
        </p:nvGrpSpPr>
        <p:grpSpPr bwMode="auto">
          <a:xfrm>
            <a:off x="7707395" y="4551854"/>
            <a:ext cx="354740" cy="534865"/>
            <a:chOff x="4140" y="429"/>
            <a:chExt cx="1425" cy="2396"/>
          </a:xfrm>
        </p:grpSpPr>
        <p:sp>
          <p:nvSpPr>
            <p:cNvPr id="56472" name="Freeform 907"/>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p:spPr>
          <p:txBody>
            <a:bodyPr/>
            <a:lstStyle/>
            <a:p>
              <a:endParaRPr lang="en-US"/>
            </a:p>
          </p:txBody>
        </p:sp>
        <p:sp>
          <p:nvSpPr>
            <p:cNvPr id="234" name="Rectangle 908"/>
            <p:cNvSpPr>
              <a:spLocks noChangeArrowheads="1"/>
            </p:cNvSpPr>
            <p:nvPr/>
          </p:nvSpPr>
          <p:spPr bwMode="auto">
            <a:xfrm>
              <a:off x="4210" y="427"/>
              <a:ext cx="1046" cy="2283"/>
            </a:xfrm>
            <a:prstGeom prst="rect">
              <a:avLst/>
            </a:prstGeom>
            <a:gradFill rotWithShape="1">
              <a:gsLst>
                <a:gs pos="0">
                  <a:srgbClr val="292929"/>
                </a:gs>
                <a:gs pos="100000">
                  <a:srgbClr val="808080"/>
                </a:gs>
              </a:gsLst>
              <a:lin ang="0" scaled="1"/>
            </a:gra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56474" name="Freeform 909"/>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p:spPr>
          <p:txBody>
            <a:bodyPr/>
            <a:lstStyle/>
            <a:p>
              <a:endParaRPr lang="en-US"/>
            </a:p>
          </p:txBody>
        </p:sp>
        <p:sp>
          <p:nvSpPr>
            <p:cNvPr id="56475" name="Freeform 910"/>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p:spPr>
          <p:txBody>
            <a:bodyPr/>
            <a:lstStyle/>
            <a:p>
              <a:endParaRPr lang="en-US"/>
            </a:p>
          </p:txBody>
        </p:sp>
        <p:sp>
          <p:nvSpPr>
            <p:cNvPr id="237" name="Rectangle 911"/>
            <p:cNvSpPr>
              <a:spLocks noChangeArrowheads="1"/>
            </p:cNvSpPr>
            <p:nvPr/>
          </p:nvSpPr>
          <p:spPr bwMode="auto">
            <a:xfrm>
              <a:off x="4216" y="690"/>
              <a:ext cx="593" cy="43"/>
            </a:xfrm>
            <a:prstGeom prst="rect">
              <a:avLst/>
            </a:prstGeom>
            <a:solidFill>
              <a:schemeClr val="tx1"/>
            </a:solidFill>
            <a:ln w="9525">
              <a:solidFill>
                <a:schemeClr val="tx1"/>
              </a:solidFill>
              <a:miter lim="800000"/>
            </a:ln>
            <a:effectLst/>
          </p:spPr>
          <p:txBody>
            <a:bodyPr wrap="none" anchor="ctr"/>
            <a:lstStyle/>
            <a:p>
              <a:pPr>
                <a:defRPr/>
              </a:pPr>
              <a:endParaRPr lang="en-US">
                <a:solidFill>
                  <a:srgbClr val="000000"/>
                </a:solidFill>
                <a:latin typeface="Arial" panose="020B0604020202090204"/>
                <a:cs typeface="Arial" panose="020B0604020202090204"/>
              </a:endParaRPr>
            </a:p>
          </p:txBody>
        </p:sp>
        <p:grpSp>
          <p:nvGrpSpPr>
            <p:cNvPr id="56477" name="Group 912"/>
            <p:cNvGrpSpPr/>
            <p:nvPr/>
          </p:nvGrpSpPr>
          <p:grpSpPr bwMode="auto">
            <a:xfrm>
              <a:off x="4749" y="668"/>
              <a:ext cx="581" cy="145"/>
              <a:chOff x="614" y="2568"/>
              <a:chExt cx="725" cy="139"/>
            </a:xfrm>
          </p:grpSpPr>
          <p:sp>
            <p:nvSpPr>
              <p:cNvPr id="263" name="AutoShape 913"/>
              <p:cNvSpPr>
                <a:spLocks noChangeArrowheads="1"/>
              </p:cNvSpPr>
              <p:nvPr/>
            </p:nvSpPr>
            <p:spPr bwMode="auto">
              <a:xfrm>
                <a:off x="618" y="2569"/>
                <a:ext cx="724" cy="130"/>
              </a:xfrm>
              <a:prstGeom prst="roundRect">
                <a:avLst>
                  <a:gd name="adj" fmla="val 50000"/>
                </a:avLst>
              </a:prstGeom>
              <a:solidFill>
                <a:schemeClr val="tx1"/>
              </a:soli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264" name="AutoShape 914"/>
              <p:cNvSpPr>
                <a:spLocks noChangeArrowheads="1"/>
              </p:cNvSpPr>
              <p:nvPr/>
            </p:nvSpPr>
            <p:spPr bwMode="auto">
              <a:xfrm>
                <a:off x="633" y="2582"/>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grpSp>
        <p:sp>
          <p:nvSpPr>
            <p:cNvPr id="239" name="Rectangle 915"/>
            <p:cNvSpPr>
              <a:spLocks noChangeArrowheads="1"/>
            </p:cNvSpPr>
            <p:nvPr/>
          </p:nvSpPr>
          <p:spPr bwMode="auto">
            <a:xfrm>
              <a:off x="4229" y="1017"/>
              <a:ext cx="593" cy="50"/>
            </a:xfrm>
            <a:prstGeom prst="rect">
              <a:avLst/>
            </a:prstGeom>
            <a:solidFill>
              <a:schemeClr val="tx1"/>
            </a:solidFill>
            <a:ln w="9525">
              <a:solidFill>
                <a:schemeClr val="tx1"/>
              </a:solidFill>
              <a:miter lim="800000"/>
            </a:ln>
            <a:effectLst/>
          </p:spPr>
          <p:txBody>
            <a:bodyPr wrap="none" anchor="ctr"/>
            <a:lstStyle/>
            <a:p>
              <a:pPr>
                <a:defRPr/>
              </a:pPr>
              <a:endParaRPr lang="en-US">
                <a:solidFill>
                  <a:srgbClr val="000000"/>
                </a:solidFill>
                <a:latin typeface="Arial" panose="020B0604020202090204"/>
                <a:cs typeface="Arial" panose="020B0604020202090204"/>
              </a:endParaRPr>
            </a:p>
          </p:txBody>
        </p:sp>
        <p:grpSp>
          <p:nvGrpSpPr>
            <p:cNvPr id="56479" name="Group 916"/>
            <p:cNvGrpSpPr/>
            <p:nvPr/>
          </p:nvGrpSpPr>
          <p:grpSpPr bwMode="auto">
            <a:xfrm>
              <a:off x="4747" y="994"/>
              <a:ext cx="581" cy="134"/>
              <a:chOff x="614" y="2568"/>
              <a:chExt cx="725" cy="139"/>
            </a:xfrm>
          </p:grpSpPr>
          <p:sp>
            <p:nvSpPr>
              <p:cNvPr id="261" name="AutoShape 917"/>
              <p:cNvSpPr>
                <a:spLocks noChangeArrowheads="1"/>
              </p:cNvSpPr>
              <p:nvPr/>
            </p:nvSpPr>
            <p:spPr bwMode="auto">
              <a:xfrm>
                <a:off x="612" y="2562"/>
                <a:ext cx="732" cy="140"/>
              </a:xfrm>
              <a:prstGeom prst="roundRect">
                <a:avLst>
                  <a:gd name="adj" fmla="val 50000"/>
                </a:avLst>
              </a:prstGeom>
              <a:solidFill>
                <a:schemeClr val="tx1"/>
              </a:soli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262" name="AutoShape 918"/>
              <p:cNvSpPr>
                <a:spLocks noChangeArrowheads="1"/>
              </p:cNvSpPr>
              <p:nvPr/>
            </p:nvSpPr>
            <p:spPr bwMode="auto">
              <a:xfrm>
                <a:off x="628" y="2577"/>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grpSp>
        <p:sp>
          <p:nvSpPr>
            <p:cNvPr id="241" name="Rectangle 919"/>
            <p:cNvSpPr>
              <a:spLocks noChangeArrowheads="1"/>
            </p:cNvSpPr>
            <p:nvPr/>
          </p:nvSpPr>
          <p:spPr bwMode="auto">
            <a:xfrm>
              <a:off x="4216" y="1358"/>
              <a:ext cx="599" cy="50"/>
            </a:xfrm>
            <a:prstGeom prst="rect">
              <a:avLst/>
            </a:prstGeom>
            <a:solidFill>
              <a:schemeClr val="tx1"/>
            </a:solidFill>
            <a:ln w="9525">
              <a:solidFill>
                <a:schemeClr val="tx1"/>
              </a:solidFill>
              <a:miter lim="800000"/>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242" name="Rectangle 920"/>
            <p:cNvSpPr>
              <a:spLocks noChangeArrowheads="1"/>
            </p:cNvSpPr>
            <p:nvPr/>
          </p:nvSpPr>
          <p:spPr bwMode="auto">
            <a:xfrm>
              <a:off x="4229" y="1657"/>
              <a:ext cx="599" cy="43"/>
            </a:xfrm>
            <a:prstGeom prst="rect">
              <a:avLst/>
            </a:prstGeom>
            <a:solidFill>
              <a:schemeClr val="tx1"/>
            </a:solidFill>
            <a:ln w="9525">
              <a:solidFill>
                <a:schemeClr val="tx1"/>
              </a:solidFill>
              <a:miter lim="800000"/>
            </a:ln>
            <a:effectLst/>
          </p:spPr>
          <p:txBody>
            <a:bodyPr wrap="none" anchor="ctr"/>
            <a:lstStyle/>
            <a:p>
              <a:pPr>
                <a:defRPr/>
              </a:pPr>
              <a:endParaRPr lang="en-US">
                <a:solidFill>
                  <a:srgbClr val="000000"/>
                </a:solidFill>
                <a:latin typeface="Arial" panose="020B0604020202090204"/>
                <a:cs typeface="Arial" panose="020B0604020202090204"/>
              </a:endParaRPr>
            </a:p>
          </p:txBody>
        </p:sp>
        <p:grpSp>
          <p:nvGrpSpPr>
            <p:cNvPr id="56482" name="Group 921"/>
            <p:cNvGrpSpPr/>
            <p:nvPr/>
          </p:nvGrpSpPr>
          <p:grpSpPr bwMode="auto">
            <a:xfrm>
              <a:off x="4735" y="1627"/>
              <a:ext cx="582" cy="151"/>
              <a:chOff x="614" y="2568"/>
              <a:chExt cx="725" cy="139"/>
            </a:xfrm>
          </p:grpSpPr>
          <p:sp>
            <p:nvSpPr>
              <p:cNvPr id="259" name="AutoShape 922"/>
              <p:cNvSpPr>
                <a:spLocks noChangeArrowheads="1"/>
              </p:cNvSpPr>
              <p:nvPr/>
            </p:nvSpPr>
            <p:spPr bwMode="auto">
              <a:xfrm>
                <a:off x="619" y="2569"/>
                <a:ext cx="723" cy="137"/>
              </a:xfrm>
              <a:prstGeom prst="roundRect">
                <a:avLst>
                  <a:gd name="adj" fmla="val 50000"/>
                </a:avLst>
              </a:prstGeom>
              <a:solidFill>
                <a:schemeClr val="tx1"/>
              </a:soli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260" name="AutoShape 923"/>
              <p:cNvSpPr>
                <a:spLocks noChangeArrowheads="1"/>
              </p:cNvSpPr>
              <p:nvPr/>
            </p:nvSpPr>
            <p:spPr bwMode="auto">
              <a:xfrm>
                <a:off x="635" y="2589"/>
                <a:ext cx="691"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grpSp>
        <p:sp>
          <p:nvSpPr>
            <p:cNvPr id="56483" name="Freeform 924"/>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p:spPr>
          <p:txBody>
            <a:bodyPr/>
            <a:lstStyle/>
            <a:p>
              <a:endParaRPr lang="en-US"/>
            </a:p>
          </p:txBody>
        </p:sp>
        <p:grpSp>
          <p:nvGrpSpPr>
            <p:cNvPr id="56484" name="Group 925"/>
            <p:cNvGrpSpPr/>
            <p:nvPr/>
          </p:nvGrpSpPr>
          <p:grpSpPr bwMode="auto">
            <a:xfrm>
              <a:off x="4739" y="1327"/>
              <a:ext cx="582" cy="139"/>
              <a:chOff x="614" y="2568"/>
              <a:chExt cx="725" cy="139"/>
            </a:xfrm>
          </p:grpSpPr>
          <p:sp>
            <p:nvSpPr>
              <p:cNvPr id="257" name="AutoShape 926"/>
              <p:cNvSpPr>
                <a:spLocks noChangeArrowheads="1"/>
              </p:cNvSpPr>
              <p:nvPr/>
            </p:nvSpPr>
            <p:spPr bwMode="auto">
              <a:xfrm>
                <a:off x="614" y="2564"/>
                <a:ext cx="723" cy="142"/>
              </a:xfrm>
              <a:prstGeom prst="roundRect">
                <a:avLst>
                  <a:gd name="adj" fmla="val 50000"/>
                </a:avLst>
              </a:prstGeom>
              <a:solidFill>
                <a:schemeClr val="tx1"/>
              </a:soli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258" name="AutoShape 927"/>
              <p:cNvSpPr>
                <a:spLocks noChangeArrowheads="1"/>
              </p:cNvSpPr>
              <p:nvPr/>
            </p:nvSpPr>
            <p:spPr bwMode="auto">
              <a:xfrm>
                <a:off x="630" y="2578"/>
                <a:ext cx="699"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grpSp>
        <p:sp>
          <p:nvSpPr>
            <p:cNvPr id="246" name="Rectangle 928"/>
            <p:cNvSpPr>
              <a:spLocks noChangeArrowheads="1"/>
            </p:cNvSpPr>
            <p:nvPr/>
          </p:nvSpPr>
          <p:spPr bwMode="auto">
            <a:xfrm>
              <a:off x="5249" y="427"/>
              <a:ext cx="70"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56486" name="Freeform 929"/>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p:spPr>
          <p:txBody>
            <a:bodyPr/>
            <a:lstStyle/>
            <a:p>
              <a:endParaRPr lang="en-US"/>
            </a:p>
          </p:txBody>
        </p:sp>
        <p:sp>
          <p:nvSpPr>
            <p:cNvPr id="56487" name="Freeform 930"/>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p:spPr>
          <p:txBody>
            <a:bodyPr/>
            <a:lstStyle/>
            <a:p>
              <a:endParaRPr lang="en-US"/>
            </a:p>
          </p:txBody>
        </p:sp>
        <p:sp>
          <p:nvSpPr>
            <p:cNvPr id="249" name="Oval 931"/>
            <p:cNvSpPr>
              <a:spLocks noChangeArrowheads="1"/>
            </p:cNvSpPr>
            <p:nvPr/>
          </p:nvSpPr>
          <p:spPr bwMode="auto">
            <a:xfrm>
              <a:off x="5517" y="2603"/>
              <a:ext cx="51" cy="100"/>
            </a:xfrm>
            <a:prstGeom prst="ellipse">
              <a:avLst/>
            </a:prstGeom>
            <a:solidFill>
              <a:srgbClr val="333333"/>
            </a:soli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56489" name="Freeform 932"/>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p:spPr>
          <p:txBody>
            <a:bodyPr/>
            <a:lstStyle/>
            <a:p>
              <a:endParaRPr lang="en-US"/>
            </a:p>
          </p:txBody>
        </p:sp>
        <p:sp>
          <p:nvSpPr>
            <p:cNvPr id="251" name="AutoShape 933"/>
            <p:cNvSpPr>
              <a:spLocks noChangeArrowheads="1"/>
            </p:cNvSpPr>
            <p:nvPr/>
          </p:nvSpPr>
          <p:spPr bwMode="auto">
            <a:xfrm>
              <a:off x="4140" y="2681"/>
              <a:ext cx="1199" cy="142"/>
            </a:xfrm>
            <a:prstGeom prst="roundRect">
              <a:avLst>
                <a:gd name="adj" fmla="val 50000"/>
              </a:avLst>
            </a:prstGeom>
            <a:solidFill>
              <a:srgbClr val="DDDDDD"/>
            </a:solidFill>
            <a:ln w="9525">
              <a:solidFill>
                <a:schemeClr val="tx1"/>
              </a:solidFill>
              <a:round/>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252" name="AutoShape 934"/>
            <p:cNvSpPr>
              <a:spLocks noChangeArrowheads="1"/>
            </p:cNvSpPr>
            <p:nvPr/>
          </p:nvSpPr>
          <p:spPr bwMode="auto">
            <a:xfrm>
              <a:off x="4210" y="2710"/>
              <a:ext cx="1065" cy="78"/>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253" name="Oval 935"/>
            <p:cNvSpPr>
              <a:spLocks noChangeArrowheads="1"/>
            </p:cNvSpPr>
            <p:nvPr/>
          </p:nvSpPr>
          <p:spPr bwMode="auto">
            <a:xfrm>
              <a:off x="4305" y="2382"/>
              <a:ext cx="159" cy="142"/>
            </a:xfrm>
            <a:prstGeom prst="ellipse">
              <a:avLst/>
            </a:prstGeom>
            <a:solidFill>
              <a:srgbClr val="33CC33"/>
            </a:soli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254" name="Oval 936"/>
            <p:cNvSpPr>
              <a:spLocks noChangeArrowheads="1"/>
            </p:cNvSpPr>
            <p:nvPr/>
          </p:nvSpPr>
          <p:spPr bwMode="auto">
            <a:xfrm>
              <a:off x="4484" y="2382"/>
              <a:ext cx="159" cy="142"/>
            </a:xfrm>
            <a:prstGeom prst="ellipse">
              <a:avLst/>
            </a:prstGeom>
            <a:solidFill>
              <a:srgbClr val="FF0000"/>
            </a:solidFill>
            <a:ln>
              <a:noFill/>
            </a:ln>
            <a:effectLst/>
          </p:spPr>
          <p:txBody>
            <a:bodyPr wrap="none" anchor="ctr"/>
            <a:lstStyle/>
            <a:p>
              <a:pPr eaLnBrk="1" hangingPunct="1">
                <a:defRPr/>
              </a:pPr>
              <a:endParaRPr lang="en-US">
                <a:solidFill>
                  <a:srgbClr val="FF0000"/>
                </a:solidFill>
                <a:latin typeface="Arial" panose="020B0604020202090204"/>
                <a:cs typeface="Arial" panose="020B0604020202090204"/>
              </a:endParaRPr>
            </a:p>
          </p:txBody>
        </p:sp>
        <p:sp>
          <p:nvSpPr>
            <p:cNvPr id="255" name="Oval 937"/>
            <p:cNvSpPr>
              <a:spLocks noChangeArrowheads="1"/>
            </p:cNvSpPr>
            <p:nvPr/>
          </p:nvSpPr>
          <p:spPr bwMode="auto">
            <a:xfrm>
              <a:off x="4663" y="2375"/>
              <a:ext cx="159" cy="149"/>
            </a:xfrm>
            <a:prstGeom prst="ellipse">
              <a:avLst/>
            </a:prstGeom>
            <a:solidFill>
              <a:srgbClr val="33CC33"/>
            </a:soli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256" name="Rectangle 938"/>
            <p:cNvSpPr>
              <a:spLocks noChangeArrowheads="1"/>
            </p:cNvSpPr>
            <p:nvPr/>
          </p:nvSpPr>
          <p:spPr bwMode="auto">
            <a:xfrm>
              <a:off x="5058" y="1835"/>
              <a:ext cx="89" cy="761"/>
            </a:xfrm>
            <a:prstGeom prst="rect">
              <a:avLst/>
            </a:prstGeom>
            <a:solidFill>
              <a:srgbClr val="292929"/>
            </a:solidFill>
            <a:ln w="9525">
              <a:solidFill>
                <a:schemeClr val="tx1"/>
              </a:solidFill>
              <a:miter lim="800000"/>
            </a:ln>
            <a:effectLst/>
          </p:spPr>
          <p:txBody>
            <a:bodyPr wrap="none" anchor="ctr"/>
            <a:lstStyle/>
            <a:p>
              <a:pPr>
                <a:defRPr/>
              </a:pPr>
              <a:endParaRPr lang="en-US">
                <a:solidFill>
                  <a:srgbClr val="000000"/>
                </a:solidFill>
                <a:latin typeface="Arial" panose="020B0604020202090204"/>
                <a:cs typeface="Arial" panose="020B0604020202090204"/>
              </a:endParaRPr>
            </a:p>
          </p:txBody>
        </p:sp>
      </p:grpSp>
      <p:grpSp>
        <p:nvGrpSpPr>
          <p:cNvPr id="56450" name="Group 44"/>
          <p:cNvGrpSpPr/>
          <p:nvPr/>
        </p:nvGrpSpPr>
        <p:grpSpPr bwMode="auto">
          <a:xfrm>
            <a:off x="7190928" y="2171180"/>
            <a:ext cx="873545" cy="670537"/>
            <a:chOff x="-44" y="1473"/>
            <a:chExt cx="981" cy="1105"/>
          </a:xfrm>
        </p:grpSpPr>
        <p:pic>
          <p:nvPicPr>
            <p:cNvPr id="56470" name="Picture 45"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p:spPr>
        </p:pic>
        <p:sp>
          <p:nvSpPr>
            <p:cNvPr id="56471" name="Freeform 46"/>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p:spPr>
          <p:txBody>
            <a:bodyPr wrap="none"/>
            <a:lstStyle/>
            <a:p>
              <a:endParaRPr lang="en-US"/>
            </a:p>
          </p:txBody>
        </p:sp>
      </p:grpSp>
      <p:grpSp>
        <p:nvGrpSpPr>
          <p:cNvPr id="56451" name="Group 44"/>
          <p:cNvGrpSpPr/>
          <p:nvPr/>
        </p:nvGrpSpPr>
        <p:grpSpPr bwMode="auto">
          <a:xfrm>
            <a:off x="6034088" y="2572384"/>
            <a:ext cx="873545" cy="670537"/>
            <a:chOff x="-44" y="1473"/>
            <a:chExt cx="981" cy="1105"/>
          </a:xfrm>
        </p:grpSpPr>
        <p:pic>
          <p:nvPicPr>
            <p:cNvPr id="56468" name="Picture 45"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p:spPr>
        </p:pic>
        <p:sp>
          <p:nvSpPr>
            <p:cNvPr id="56469" name="Freeform 46"/>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p:spPr>
          <p:txBody>
            <a:bodyPr wrap="none"/>
            <a:lstStyle/>
            <a:p>
              <a:endParaRPr lang="en-US"/>
            </a:p>
          </p:txBody>
        </p:sp>
      </p:grpSp>
      <p:sp>
        <p:nvSpPr>
          <p:cNvPr id="213" name="Line 272"/>
          <p:cNvSpPr>
            <a:spLocks noChangeShapeType="1"/>
          </p:cNvSpPr>
          <p:nvPr/>
        </p:nvSpPr>
        <p:spPr bwMode="auto">
          <a:xfrm>
            <a:off x="6689725" y="3170238"/>
            <a:ext cx="360363" cy="511175"/>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sp>
        <p:nvSpPr>
          <p:cNvPr id="214" name="Line 272"/>
          <p:cNvSpPr>
            <a:spLocks noChangeShapeType="1"/>
          </p:cNvSpPr>
          <p:nvPr/>
        </p:nvSpPr>
        <p:spPr bwMode="auto">
          <a:xfrm flipH="1">
            <a:off x="6897688" y="3975100"/>
            <a:ext cx="257175" cy="1006475"/>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sp>
        <p:nvSpPr>
          <p:cNvPr id="121" name="Line 252"/>
          <p:cNvSpPr>
            <a:spLocks noChangeShapeType="1"/>
          </p:cNvSpPr>
          <p:nvPr/>
        </p:nvSpPr>
        <p:spPr bwMode="auto">
          <a:xfrm flipV="1">
            <a:off x="3033713" y="2732088"/>
            <a:ext cx="327025" cy="962025"/>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sp>
        <p:nvSpPr>
          <p:cNvPr id="122" name="Line 254"/>
          <p:cNvSpPr>
            <a:spLocks noChangeShapeType="1"/>
          </p:cNvSpPr>
          <p:nvPr/>
        </p:nvSpPr>
        <p:spPr bwMode="auto">
          <a:xfrm flipV="1">
            <a:off x="3354388" y="3611563"/>
            <a:ext cx="182562" cy="195262"/>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sp>
        <p:nvSpPr>
          <p:cNvPr id="123" name="Line 255"/>
          <p:cNvSpPr>
            <a:spLocks noChangeShapeType="1"/>
          </p:cNvSpPr>
          <p:nvPr/>
        </p:nvSpPr>
        <p:spPr bwMode="auto">
          <a:xfrm flipV="1">
            <a:off x="4175125" y="3595688"/>
            <a:ext cx="339725" cy="1587"/>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sp>
        <p:nvSpPr>
          <p:cNvPr id="124" name="Line 256"/>
          <p:cNvSpPr>
            <a:spLocks noChangeShapeType="1"/>
          </p:cNvSpPr>
          <p:nvPr/>
        </p:nvSpPr>
        <p:spPr bwMode="auto">
          <a:xfrm flipV="1">
            <a:off x="2847975" y="5162550"/>
            <a:ext cx="339725" cy="3175"/>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sp>
        <p:nvSpPr>
          <p:cNvPr id="125" name="Line 271"/>
          <p:cNvSpPr>
            <a:spLocks noChangeShapeType="1"/>
          </p:cNvSpPr>
          <p:nvPr/>
        </p:nvSpPr>
        <p:spPr bwMode="auto">
          <a:xfrm flipV="1">
            <a:off x="2055726" y="5171156"/>
            <a:ext cx="339725" cy="3175"/>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sp>
        <p:nvSpPr>
          <p:cNvPr id="126" name="Line 272"/>
          <p:cNvSpPr>
            <a:spLocks noChangeShapeType="1"/>
          </p:cNvSpPr>
          <p:nvPr/>
        </p:nvSpPr>
        <p:spPr bwMode="auto">
          <a:xfrm>
            <a:off x="3151188" y="4002088"/>
            <a:ext cx="468312" cy="574675"/>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pic>
        <p:nvPicPr>
          <p:cNvPr id="1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81288" y="3700463"/>
            <a:ext cx="712787" cy="303212"/>
          </a:xfrm>
          <a:prstGeom prst="rect">
            <a:avLst/>
          </a:prstGeom>
          <a:noFill/>
          <a:ln>
            <a:noFill/>
          </a:ln>
          <a:effectLst/>
        </p:spPr>
      </p:pic>
      <p:grpSp>
        <p:nvGrpSpPr>
          <p:cNvPr id="56372" name="Group 906"/>
          <p:cNvGrpSpPr/>
          <p:nvPr/>
        </p:nvGrpSpPr>
        <p:grpSpPr bwMode="auto">
          <a:xfrm>
            <a:off x="3494170" y="4570904"/>
            <a:ext cx="354740" cy="534865"/>
            <a:chOff x="4140" y="429"/>
            <a:chExt cx="1425" cy="2396"/>
          </a:xfrm>
        </p:grpSpPr>
        <p:sp>
          <p:nvSpPr>
            <p:cNvPr id="56395" name="Freeform 907"/>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p:spPr>
          <p:txBody>
            <a:bodyPr/>
            <a:lstStyle/>
            <a:p>
              <a:endParaRPr lang="en-US"/>
            </a:p>
          </p:txBody>
        </p:sp>
        <p:sp>
          <p:nvSpPr>
            <p:cNvPr id="152" name="Rectangle 908"/>
            <p:cNvSpPr>
              <a:spLocks noChangeArrowheads="1"/>
            </p:cNvSpPr>
            <p:nvPr/>
          </p:nvSpPr>
          <p:spPr bwMode="auto">
            <a:xfrm>
              <a:off x="4210" y="427"/>
              <a:ext cx="1046" cy="2283"/>
            </a:xfrm>
            <a:prstGeom prst="rect">
              <a:avLst/>
            </a:prstGeom>
            <a:gradFill rotWithShape="1">
              <a:gsLst>
                <a:gs pos="0">
                  <a:srgbClr val="292929"/>
                </a:gs>
                <a:gs pos="100000">
                  <a:srgbClr val="808080"/>
                </a:gs>
              </a:gsLst>
              <a:lin ang="0" scaled="1"/>
            </a:gra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56397" name="Freeform 909"/>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p:spPr>
          <p:txBody>
            <a:bodyPr/>
            <a:lstStyle/>
            <a:p>
              <a:endParaRPr lang="en-US"/>
            </a:p>
          </p:txBody>
        </p:sp>
        <p:sp>
          <p:nvSpPr>
            <p:cNvPr id="56398" name="Freeform 910"/>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p:spPr>
          <p:txBody>
            <a:bodyPr/>
            <a:lstStyle/>
            <a:p>
              <a:endParaRPr lang="en-US"/>
            </a:p>
          </p:txBody>
        </p:sp>
        <p:sp>
          <p:nvSpPr>
            <p:cNvPr id="155" name="Rectangle 911"/>
            <p:cNvSpPr>
              <a:spLocks noChangeArrowheads="1"/>
            </p:cNvSpPr>
            <p:nvPr/>
          </p:nvSpPr>
          <p:spPr bwMode="auto">
            <a:xfrm>
              <a:off x="4216" y="690"/>
              <a:ext cx="593" cy="43"/>
            </a:xfrm>
            <a:prstGeom prst="rect">
              <a:avLst/>
            </a:prstGeom>
            <a:solidFill>
              <a:schemeClr val="tx1"/>
            </a:solidFill>
            <a:ln w="9525">
              <a:solidFill>
                <a:schemeClr val="tx1"/>
              </a:solidFill>
              <a:miter lim="800000"/>
            </a:ln>
            <a:effectLst/>
          </p:spPr>
          <p:txBody>
            <a:bodyPr wrap="none" anchor="ctr"/>
            <a:lstStyle/>
            <a:p>
              <a:pPr>
                <a:defRPr/>
              </a:pPr>
              <a:endParaRPr lang="en-US">
                <a:solidFill>
                  <a:srgbClr val="000000"/>
                </a:solidFill>
                <a:latin typeface="Arial" panose="020B0604020202090204"/>
                <a:cs typeface="Arial" panose="020B0604020202090204"/>
              </a:endParaRPr>
            </a:p>
          </p:txBody>
        </p:sp>
        <p:grpSp>
          <p:nvGrpSpPr>
            <p:cNvPr id="56400" name="Group 912"/>
            <p:cNvGrpSpPr/>
            <p:nvPr/>
          </p:nvGrpSpPr>
          <p:grpSpPr bwMode="auto">
            <a:xfrm>
              <a:off x="4749" y="668"/>
              <a:ext cx="581" cy="145"/>
              <a:chOff x="614" y="2568"/>
              <a:chExt cx="725" cy="139"/>
            </a:xfrm>
          </p:grpSpPr>
          <p:sp>
            <p:nvSpPr>
              <p:cNvPr id="181" name="AutoShape 913"/>
              <p:cNvSpPr>
                <a:spLocks noChangeArrowheads="1"/>
              </p:cNvSpPr>
              <p:nvPr/>
            </p:nvSpPr>
            <p:spPr bwMode="auto">
              <a:xfrm>
                <a:off x="618" y="2569"/>
                <a:ext cx="724" cy="130"/>
              </a:xfrm>
              <a:prstGeom prst="roundRect">
                <a:avLst>
                  <a:gd name="adj" fmla="val 50000"/>
                </a:avLst>
              </a:prstGeom>
              <a:solidFill>
                <a:schemeClr val="tx1"/>
              </a:soli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182" name="AutoShape 914"/>
              <p:cNvSpPr>
                <a:spLocks noChangeArrowheads="1"/>
              </p:cNvSpPr>
              <p:nvPr/>
            </p:nvSpPr>
            <p:spPr bwMode="auto">
              <a:xfrm>
                <a:off x="633" y="2582"/>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grpSp>
        <p:sp>
          <p:nvSpPr>
            <p:cNvPr id="157" name="Rectangle 915"/>
            <p:cNvSpPr>
              <a:spLocks noChangeArrowheads="1"/>
            </p:cNvSpPr>
            <p:nvPr/>
          </p:nvSpPr>
          <p:spPr bwMode="auto">
            <a:xfrm>
              <a:off x="4229" y="1017"/>
              <a:ext cx="593" cy="50"/>
            </a:xfrm>
            <a:prstGeom prst="rect">
              <a:avLst/>
            </a:prstGeom>
            <a:solidFill>
              <a:schemeClr val="tx1"/>
            </a:solidFill>
            <a:ln w="9525">
              <a:solidFill>
                <a:schemeClr val="tx1"/>
              </a:solidFill>
              <a:miter lim="800000"/>
            </a:ln>
            <a:effectLst/>
          </p:spPr>
          <p:txBody>
            <a:bodyPr wrap="none" anchor="ctr"/>
            <a:lstStyle/>
            <a:p>
              <a:pPr>
                <a:defRPr/>
              </a:pPr>
              <a:endParaRPr lang="en-US">
                <a:solidFill>
                  <a:srgbClr val="000000"/>
                </a:solidFill>
                <a:latin typeface="Arial" panose="020B0604020202090204"/>
                <a:cs typeface="Arial" panose="020B0604020202090204"/>
              </a:endParaRPr>
            </a:p>
          </p:txBody>
        </p:sp>
        <p:grpSp>
          <p:nvGrpSpPr>
            <p:cNvPr id="56402" name="Group 916"/>
            <p:cNvGrpSpPr/>
            <p:nvPr/>
          </p:nvGrpSpPr>
          <p:grpSpPr bwMode="auto">
            <a:xfrm>
              <a:off x="4747" y="994"/>
              <a:ext cx="581" cy="134"/>
              <a:chOff x="614" y="2568"/>
              <a:chExt cx="725" cy="139"/>
            </a:xfrm>
          </p:grpSpPr>
          <p:sp>
            <p:nvSpPr>
              <p:cNvPr id="179" name="AutoShape 917"/>
              <p:cNvSpPr>
                <a:spLocks noChangeArrowheads="1"/>
              </p:cNvSpPr>
              <p:nvPr/>
            </p:nvSpPr>
            <p:spPr bwMode="auto">
              <a:xfrm>
                <a:off x="612" y="2562"/>
                <a:ext cx="732" cy="140"/>
              </a:xfrm>
              <a:prstGeom prst="roundRect">
                <a:avLst>
                  <a:gd name="adj" fmla="val 50000"/>
                </a:avLst>
              </a:prstGeom>
              <a:solidFill>
                <a:schemeClr val="tx1"/>
              </a:soli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180" name="AutoShape 918"/>
              <p:cNvSpPr>
                <a:spLocks noChangeArrowheads="1"/>
              </p:cNvSpPr>
              <p:nvPr/>
            </p:nvSpPr>
            <p:spPr bwMode="auto">
              <a:xfrm>
                <a:off x="628" y="2577"/>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grpSp>
        <p:sp>
          <p:nvSpPr>
            <p:cNvPr id="159" name="Rectangle 919"/>
            <p:cNvSpPr>
              <a:spLocks noChangeArrowheads="1"/>
            </p:cNvSpPr>
            <p:nvPr/>
          </p:nvSpPr>
          <p:spPr bwMode="auto">
            <a:xfrm>
              <a:off x="4216" y="1358"/>
              <a:ext cx="599" cy="50"/>
            </a:xfrm>
            <a:prstGeom prst="rect">
              <a:avLst/>
            </a:prstGeom>
            <a:solidFill>
              <a:schemeClr val="tx1"/>
            </a:solidFill>
            <a:ln w="9525">
              <a:solidFill>
                <a:schemeClr val="tx1"/>
              </a:solidFill>
              <a:miter lim="800000"/>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160" name="Rectangle 920"/>
            <p:cNvSpPr>
              <a:spLocks noChangeArrowheads="1"/>
            </p:cNvSpPr>
            <p:nvPr/>
          </p:nvSpPr>
          <p:spPr bwMode="auto">
            <a:xfrm>
              <a:off x="4229" y="1657"/>
              <a:ext cx="599" cy="43"/>
            </a:xfrm>
            <a:prstGeom prst="rect">
              <a:avLst/>
            </a:prstGeom>
            <a:solidFill>
              <a:schemeClr val="tx1"/>
            </a:solidFill>
            <a:ln w="9525">
              <a:solidFill>
                <a:schemeClr val="tx1"/>
              </a:solidFill>
              <a:miter lim="800000"/>
            </a:ln>
            <a:effectLst/>
          </p:spPr>
          <p:txBody>
            <a:bodyPr wrap="none" anchor="ctr"/>
            <a:lstStyle/>
            <a:p>
              <a:pPr>
                <a:defRPr/>
              </a:pPr>
              <a:endParaRPr lang="en-US">
                <a:solidFill>
                  <a:srgbClr val="000000"/>
                </a:solidFill>
                <a:latin typeface="Arial" panose="020B0604020202090204"/>
                <a:cs typeface="Arial" panose="020B0604020202090204"/>
              </a:endParaRPr>
            </a:p>
          </p:txBody>
        </p:sp>
        <p:grpSp>
          <p:nvGrpSpPr>
            <p:cNvPr id="56405" name="Group 921"/>
            <p:cNvGrpSpPr/>
            <p:nvPr/>
          </p:nvGrpSpPr>
          <p:grpSpPr bwMode="auto">
            <a:xfrm>
              <a:off x="4735" y="1627"/>
              <a:ext cx="582" cy="151"/>
              <a:chOff x="614" y="2568"/>
              <a:chExt cx="725" cy="139"/>
            </a:xfrm>
          </p:grpSpPr>
          <p:sp>
            <p:nvSpPr>
              <p:cNvPr id="177" name="AutoShape 922"/>
              <p:cNvSpPr>
                <a:spLocks noChangeArrowheads="1"/>
              </p:cNvSpPr>
              <p:nvPr/>
            </p:nvSpPr>
            <p:spPr bwMode="auto">
              <a:xfrm>
                <a:off x="619" y="2569"/>
                <a:ext cx="723" cy="137"/>
              </a:xfrm>
              <a:prstGeom prst="roundRect">
                <a:avLst>
                  <a:gd name="adj" fmla="val 50000"/>
                </a:avLst>
              </a:prstGeom>
              <a:solidFill>
                <a:schemeClr val="tx1"/>
              </a:soli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178" name="AutoShape 923"/>
              <p:cNvSpPr>
                <a:spLocks noChangeArrowheads="1"/>
              </p:cNvSpPr>
              <p:nvPr/>
            </p:nvSpPr>
            <p:spPr bwMode="auto">
              <a:xfrm>
                <a:off x="635" y="2589"/>
                <a:ext cx="691"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grpSp>
        <p:sp>
          <p:nvSpPr>
            <p:cNvPr id="56406" name="Freeform 924"/>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p:spPr>
          <p:txBody>
            <a:bodyPr/>
            <a:lstStyle/>
            <a:p>
              <a:endParaRPr lang="en-US"/>
            </a:p>
          </p:txBody>
        </p:sp>
        <p:grpSp>
          <p:nvGrpSpPr>
            <p:cNvPr id="56407" name="Group 925"/>
            <p:cNvGrpSpPr/>
            <p:nvPr/>
          </p:nvGrpSpPr>
          <p:grpSpPr bwMode="auto">
            <a:xfrm>
              <a:off x="4739" y="1327"/>
              <a:ext cx="582" cy="139"/>
              <a:chOff x="614" y="2568"/>
              <a:chExt cx="725" cy="139"/>
            </a:xfrm>
          </p:grpSpPr>
          <p:sp>
            <p:nvSpPr>
              <p:cNvPr id="175" name="AutoShape 926"/>
              <p:cNvSpPr>
                <a:spLocks noChangeArrowheads="1"/>
              </p:cNvSpPr>
              <p:nvPr/>
            </p:nvSpPr>
            <p:spPr bwMode="auto">
              <a:xfrm>
                <a:off x="614" y="2564"/>
                <a:ext cx="723" cy="142"/>
              </a:xfrm>
              <a:prstGeom prst="roundRect">
                <a:avLst>
                  <a:gd name="adj" fmla="val 50000"/>
                </a:avLst>
              </a:prstGeom>
              <a:solidFill>
                <a:schemeClr val="tx1"/>
              </a:soli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176" name="AutoShape 927"/>
              <p:cNvSpPr>
                <a:spLocks noChangeArrowheads="1"/>
              </p:cNvSpPr>
              <p:nvPr/>
            </p:nvSpPr>
            <p:spPr bwMode="auto">
              <a:xfrm>
                <a:off x="630" y="2578"/>
                <a:ext cx="699"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grpSp>
        <p:sp>
          <p:nvSpPr>
            <p:cNvPr id="164" name="Rectangle 928"/>
            <p:cNvSpPr>
              <a:spLocks noChangeArrowheads="1"/>
            </p:cNvSpPr>
            <p:nvPr/>
          </p:nvSpPr>
          <p:spPr bwMode="auto">
            <a:xfrm>
              <a:off x="5249" y="427"/>
              <a:ext cx="70"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56409" name="Freeform 929"/>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p:spPr>
          <p:txBody>
            <a:bodyPr/>
            <a:lstStyle/>
            <a:p>
              <a:endParaRPr lang="en-US"/>
            </a:p>
          </p:txBody>
        </p:sp>
        <p:sp>
          <p:nvSpPr>
            <p:cNvPr id="56410" name="Freeform 930"/>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p:spPr>
          <p:txBody>
            <a:bodyPr/>
            <a:lstStyle/>
            <a:p>
              <a:endParaRPr lang="en-US"/>
            </a:p>
          </p:txBody>
        </p:sp>
        <p:sp>
          <p:nvSpPr>
            <p:cNvPr id="167" name="Oval 931"/>
            <p:cNvSpPr>
              <a:spLocks noChangeArrowheads="1"/>
            </p:cNvSpPr>
            <p:nvPr/>
          </p:nvSpPr>
          <p:spPr bwMode="auto">
            <a:xfrm>
              <a:off x="5517" y="2603"/>
              <a:ext cx="51" cy="100"/>
            </a:xfrm>
            <a:prstGeom prst="ellipse">
              <a:avLst/>
            </a:prstGeom>
            <a:solidFill>
              <a:srgbClr val="333333"/>
            </a:soli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56412" name="Freeform 932"/>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p:spPr>
          <p:txBody>
            <a:bodyPr/>
            <a:lstStyle/>
            <a:p>
              <a:endParaRPr lang="en-US"/>
            </a:p>
          </p:txBody>
        </p:sp>
        <p:sp>
          <p:nvSpPr>
            <p:cNvPr id="169" name="AutoShape 933"/>
            <p:cNvSpPr>
              <a:spLocks noChangeArrowheads="1"/>
            </p:cNvSpPr>
            <p:nvPr/>
          </p:nvSpPr>
          <p:spPr bwMode="auto">
            <a:xfrm>
              <a:off x="4140" y="2681"/>
              <a:ext cx="1199" cy="142"/>
            </a:xfrm>
            <a:prstGeom prst="roundRect">
              <a:avLst>
                <a:gd name="adj" fmla="val 50000"/>
              </a:avLst>
            </a:prstGeom>
            <a:solidFill>
              <a:srgbClr val="DDDDDD"/>
            </a:solidFill>
            <a:ln w="9525">
              <a:solidFill>
                <a:schemeClr val="tx1"/>
              </a:solidFill>
              <a:round/>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170" name="AutoShape 934"/>
            <p:cNvSpPr>
              <a:spLocks noChangeArrowheads="1"/>
            </p:cNvSpPr>
            <p:nvPr/>
          </p:nvSpPr>
          <p:spPr bwMode="auto">
            <a:xfrm>
              <a:off x="4210" y="2710"/>
              <a:ext cx="1065" cy="78"/>
            </a:xfrm>
            <a:prstGeom prst="roundRect">
              <a:avLst>
                <a:gd name="adj" fmla="val 50000"/>
              </a:avLst>
            </a:prstGeom>
            <a:gradFill rotWithShape="1">
              <a:gsLst>
                <a:gs pos="0">
                  <a:schemeClr val="tx2"/>
                </a:gs>
                <a:gs pos="100000">
                  <a:schemeClr val="bg2"/>
                </a:gs>
              </a:gsLst>
              <a:lin ang="0" scaled="1"/>
            </a:gradFill>
            <a:ln w="9525">
              <a:solidFill>
                <a:schemeClr val="tx1"/>
              </a:solidFill>
              <a:round/>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171" name="Oval 935"/>
            <p:cNvSpPr>
              <a:spLocks noChangeArrowheads="1"/>
            </p:cNvSpPr>
            <p:nvPr/>
          </p:nvSpPr>
          <p:spPr bwMode="auto">
            <a:xfrm>
              <a:off x="4305" y="2382"/>
              <a:ext cx="159" cy="142"/>
            </a:xfrm>
            <a:prstGeom prst="ellipse">
              <a:avLst/>
            </a:prstGeom>
            <a:solidFill>
              <a:srgbClr val="33CC33"/>
            </a:soli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172" name="Oval 936"/>
            <p:cNvSpPr>
              <a:spLocks noChangeArrowheads="1"/>
            </p:cNvSpPr>
            <p:nvPr/>
          </p:nvSpPr>
          <p:spPr bwMode="auto">
            <a:xfrm>
              <a:off x="4484" y="2382"/>
              <a:ext cx="159" cy="142"/>
            </a:xfrm>
            <a:prstGeom prst="ellipse">
              <a:avLst/>
            </a:prstGeom>
            <a:solidFill>
              <a:srgbClr val="FF0000"/>
            </a:solidFill>
            <a:ln>
              <a:noFill/>
            </a:ln>
            <a:effectLst/>
          </p:spPr>
          <p:txBody>
            <a:bodyPr wrap="none" anchor="ctr"/>
            <a:lstStyle/>
            <a:p>
              <a:pPr eaLnBrk="1" hangingPunct="1">
                <a:defRPr/>
              </a:pPr>
              <a:endParaRPr lang="en-US">
                <a:solidFill>
                  <a:srgbClr val="FF0000"/>
                </a:solidFill>
                <a:latin typeface="Arial" panose="020B0604020202090204"/>
                <a:cs typeface="Arial" panose="020B0604020202090204"/>
              </a:endParaRPr>
            </a:p>
          </p:txBody>
        </p:sp>
        <p:sp>
          <p:nvSpPr>
            <p:cNvPr id="173" name="Oval 937"/>
            <p:cNvSpPr>
              <a:spLocks noChangeArrowheads="1"/>
            </p:cNvSpPr>
            <p:nvPr/>
          </p:nvSpPr>
          <p:spPr bwMode="auto">
            <a:xfrm>
              <a:off x="4663" y="2375"/>
              <a:ext cx="159" cy="149"/>
            </a:xfrm>
            <a:prstGeom prst="ellipse">
              <a:avLst/>
            </a:prstGeom>
            <a:solidFill>
              <a:srgbClr val="33CC33"/>
            </a:solidFill>
            <a:ln>
              <a:noFill/>
            </a:ln>
            <a:effectLst/>
          </p:spPr>
          <p:txBody>
            <a:bodyPr wrap="none" anchor="ctr"/>
            <a:lstStyle/>
            <a:p>
              <a:pPr>
                <a:defRPr/>
              </a:pPr>
              <a:endParaRPr lang="en-US">
                <a:solidFill>
                  <a:srgbClr val="000000"/>
                </a:solidFill>
                <a:latin typeface="Arial" panose="020B0604020202090204"/>
                <a:cs typeface="Arial" panose="020B0604020202090204"/>
              </a:endParaRPr>
            </a:p>
          </p:txBody>
        </p:sp>
        <p:sp>
          <p:nvSpPr>
            <p:cNvPr id="174" name="Rectangle 938"/>
            <p:cNvSpPr>
              <a:spLocks noChangeArrowheads="1"/>
            </p:cNvSpPr>
            <p:nvPr/>
          </p:nvSpPr>
          <p:spPr bwMode="auto">
            <a:xfrm>
              <a:off x="5058" y="1835"/>
              <a:ext cx="89" cy="761"/>
            </a:xfrm>
            <a:prstGeom prst="rect">
              <a:avLst/>
            </a:prstGeom>
            <a:solidFill>
              <a:srgbClr val="292929"/>
            </a:solidFill>
            <a:ln w="9525">
              <a:solidFill>
                <a:schemeClr val="tx1"/>
              </a:solidFill>
              <a:miter lim="800000"/>
            </a:ln>
            <a:effectLst/>
          </p:spPr>
          <p:txBody>
            <a:bodyPr wrap="none" anchor="ctr"/>
            <a:lstStyle/>
            <a:p>
              <a:pPr>
                <a:defRPr/>
              </a:pPr>
              <a:endParaRPr lang="en-US">
                <a:solidFill>
                  <a:srgbClr val="000000"/>
                </a:solidFill>
                <a:latin typeface="Arial" panose="020B0604020202090204"/>
                <a:cs typeface="Arial" panose="020B0604020202090204"/>
              </a:endParaRPr>
            </a:p>
          </p:txBody>
        </p:sp>
      </p:grpSp>
      <p:grpSp>
        <p:nvGrpSpPr>
          <p:cNvPr id="56373" name="Group 44"/>
          <p:cNvGrpSpPr/>
          <p:nvPr/>
        </p:nvGrpSpPr>
        <p:grpSpPr bwMode="auto">
          <a:xfrm>
            <a:off x="2977703" y="2190230"/>
            <a:ext cx="873545" cy="670537"/>
            <a:chOff x="-44" y="1473"/>
            <a:chExt cx="981" cy="1105"/>
          </a:xfrm>
        </p:grpSpPr>
        <p:pic>
          <p:nvPicPr>
            <p:cNvPr id="56393" name="Picture 45"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p:spPr>
        </p:pic>
        <p:sp>
          <p:nvSpPr>
            <p:cNvPr id="56394" name="Freeform 46"/>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p:spPr>
          <p:txBody>
            <a:bodyPr wrap="none"/>
            <a:lstStyle/>
            <a:p>
              <a:endParaRPr lang="en-US"/>
            </a:p>
          </p:txBody>
        </p:sp>
      </p:grpSp>
      <p:grpSp>
        <p:nvGrpSpPr>
          <p:cNvPr id="56374" name="Group 44"/>
          <p:cNvGrpSpPr/>
          <p:nvPr/>
        </p:nvGrpSpPr>
        <p:grpSpPr bwMode="auto">
          <a:xfrm>
            <a:off x="1820863" y="2591434"/>
            <a:ext cx="873545" cy="670537"/>
            <a:chOff x="-44" y="1473"/>
            <a:chExt cx="981" cy="1105"/>
          </a:xfrm>
        </p:grpSpPr>
        <p:pic>
          <p:nvPicPr>
            <p:cNvPr id="56391" name="Picture 45"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p:spPr>
        </p:pic>
        <p:sp>
          <p:nvSpPr>
            <p:cNvPr id="56392" name="Freeform 46"/>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p:spPr>
          <p:txBody>
            <a:bodyPr wrap="none"/>
            <a:lstStyle/>
            <a:p>
              <a:endParaRPr lang="en-US"/>
            </a:p>
          </p:txBody>
        </p:sp>
      </p:grpSp>
      <p:sp>
        <p:nvSpPr>
          <p:cNvPr id="131" name="Line 272"/>
          <p:cNvSpPr>
            <a:spLocks noChangeShapeType="1"/>
          </p:cNvSpPr>
          <p:nvPr/>
        </p:nvSpPr>
        <p:spPr bwMode="auto">
          <a:xfrm>
            <a:off x="2476500" y="3189288"/>
            <a:ext cx="360363" cy="511175"/>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sp>
        <p:nvSpPr>
          <p:cNvPr id="132" name="Line 272"/>
          <p:cNvSpPr>
            <a:spLocks noChangeShapeType="1"/>
          </p:cNvSpPr>
          <p:nvPr/>
        </p:nvSpPr>
        <p:spPr bwMode="auto">
          <a:xfrm flipH="1">
            <a:off x="2684463" y="3994150"/>
            <a:ext cx="257175" cy="1006475"/>
          </a:xfrm>
          <a:prstGeom prst="line">
            <a:avLst/>
          </a:prstGeom>
          <a:noFill/>
          <a:ln w="19050">
            <a:solidFill>
              <a:schemeClr val="tx1"/>
            </a:solidFill>
            <a:round/>
          </a:ln>
          <a:effectLst/>
        </p:spPr>
        <p:txBody>
          <a:bodyPr wrap="none" anchor="ctr"/>
          <a:lstStyle/>
          <a:p>
            <a:pPr>
              <a:defRPr/>
            </a:pPr>
            <a:endParaRPr lang="en-US">
              <a:latin typeface="Arial" panose="020B0604020202090204"/>
              <a:cs typeface="Arial" panose="020B0604020202090204"/>
            </a:endParaRPr>
          </a:p>
        </p:txBody>
      </p:sp>
      <p:pic>
        <p:nvPicPr>
          <p:cNvPr id="56323" name="Picture 24" descr="underline_base"/>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6900" y="767101"/>
            <a:ext cx="3656013" cy="173037"/>
          </a:xfrm>
          <a:prstGeom prst="rect">
            <a:avLst/>
          </a:prstGeom>
          <a:noFill/>
          <a:ln>
            <a:noFill/>
          </a:ln>
        </p:spPr>
      </p:pic>
      <p:sp>
        <p:nvSpPr>
          <p:cNvPr id="66562" name="Rectangle 2"/>
          <p:cNvSpPr>
            <a:spLocks noGrp="1" noChangeArrowheads="1"/>
          </p:cNvSpPr>
          <p:nvPr>
            <p:ph type="title"/>
          </p:nvPr>
        </p:nvSpPr>
        <p:spPr>
          <a:xfrm>
            <a:off x="533400" y="82888"/>
            <a:ext cx="4827588" cy="901700"/>
          </a:xfrm>
        </p:spPr>
        <p:txBody>
          <a:bodyPr/>
          <a:lstStyle/>
          <a:p>
            <a:pPr>
              <a:defRPr/>
            </a:pPr>
            <a:r>
              <a:rPr lang="en-US" sz="4400" dirty="0"/>
              <a:t>SNMP protocol</a:t>
            </a:r>
          </a:p>
        </p:txBody>
      </p:sp>
      <p:sp>
        <p:nvSpPr>
          <p:cNvPr id="66563" name="Rectangle 3"/>
          <p:cNvSpPr>
            <a:spLocks noGrp="1" noChangeArrowheads="1"/>
          </p:cNvSpPr>
          <p:nvPr>
            <p:ph type="body" idx="1"/>
          </p:nvPr>
        </p:nvSpPr>
        <p:spPr>
          <a:xfrm>
            <a:off x="597067" y="1156453"/>
            <a:ext cx="7772400" cy="603250"/>
          </a:xfrm>
        </p:spPr>
        <p:txBody>
          <a:bodyPr/>
          <a:lstStyle/>
          <a:p>
            <a:pPr>
              <a:buFont typeface="Wingdings" panose="05000000000000000000" charset="0"/>
              <a:buNone/>
              <a:defRPr/>
            </a:pPr>
            <a:r>
              <a:rPr lang="en-US" sz="2400" dirty="0"/>
              <a:t>Two ways to convey MIB info, commands:</a:t>
            </a:r>
            <a:endParaRPr lang="en-US" dirty="0"/>
          </a:p>
        </p:txBody>
      </p:sp>
      <p:grpSp>
        <p:nvGrpSpPr>
          <p:cNvPr id="56328" name="Group 84"/>
          <p:cNvGrpSpPr/>
          <p:nvPr/>
        </p:nvGrpSpPr>
        <p:grpSpPr bwMode="auto">
          <a:xfrm>
            <a:off x="925513" y="4475163"/>
            <a:ext cx="1704975" cy="627062"/>
            <a:chOff x="1189" y="3477"/>
            <a:chExt cx="1074" cy="395"/>
          </a:xfrm>
        </p:grpSpPr>
        <p:sp>
          <p:nvSpPr>
            <p:cNvPr id="66605" name="Oval 45"/>
            <p:cNvSpPr>
              <a:spLocks noChangeArrowheads="1"/>
            </p:cNvSpPr>
            <p:nvPr/>
          </p:nvSpPr>
          <p:spPr bwMode="auto">
            <a:xfrm>
              <a:off x="1189" y="3477"/>
              <a:ext cx="1074" cy="395"/>
            </a:xfrm>
            <a:prstGeom prst="ellipse">
              <a:avLst/>
            </a:prstGeom>
            <a:solidFill>
              <a:schemeClr val="bg1"/>
            </a:solidFill>
            <a:ln w="19050">
              <a:solidFill>
                <a:srgbClr val="FF0000"/>
              </a:solidFill>
              <a:round/>
            </a:ln>
            <a:effectLst/>
          </p:spPr>
          <p:txBody>
            <a:bodyPr wrap="none" anchor="ctr"/>
            <a:lstStyle/>
            <a:p>
              <a:pPr>
                <a:defRPr/>
              </a:pPr>
              <a:endParaRPr lang="en-US">
                <a:latin typeface="Arial" panose="020B0604020202090204"/>
                <a:cs typeface="Arial" panose="020B0604020202090204"/>
              </a:endParaRPr>
            </a:p>
          </p:txBody>
        </p:sp>
        <p:sp>
          <p:nvSpPr>
            <p:cNvPr id="66606" name="Text Box 46"/>
            <p:cNvSpPr txBox="1">
              <a:spLocks noChangeArrowheads="1"/>
            </p:cNvSpPr>
            <p:nvPr/>
          </p:nvSpPr>
          <p:spPr bwMode="auto">
            <a:xfrm>
              <a:off x="1216" y="3545"/>
              <a:ext cx="488" cy="231"/>
            </a:xfrm>
            <a:prstGeom prst="rect">
              <a:avLst/>
            </a:prstGeom>
            <a:noFill/>
            <a:ln>
              <a:noFill/>
            </a:ln>
            <a:effectLst/>
          </p:spPr>
          <p:txBody>
            <a:bodyPr wrap="none">
              <a:spAutoFit/>
            </a:bodyPr>
            <a:lstStyle/>
            <a:p>
              <a:pPr>
                <a:defRPr/>
              </a:pPr>
              <a:r>
                <a:rPr lang="en-US" sz="1800">
                  <a:latin typeface="Arial" panose="020B0604020202090204"/>
                  <a:cs typeface="Arial" panose="020B0604020202090204"/>
                </a:rPr>
                <a:t>agent</a:t>
              </a:r>
              <a:endParaRPr lang="en-US">
                <a:latin typeface="Arial" panose="020B0604020202090204"/>
                <a:cs typeface="Arial" panose="020B0604020202090204"/>
              </a:endParaRPr>
            </a:p>
          </p:txBody>
        </p:sp>
        <p:grpSp>
          <p:nvGrpSpPr>
            <p:cNvPr id="56360" name="Group 47"/>
            <p:cNvGrpSpPr/>
            <p:nvPr/>
          </p:nvGrpSpPr>
          <p:grpSpPr bwMode="auto">
            <a:xfrm>
              <a:off x="1701" y="3547"/>
              <a:ext cx="399" cy="244"/>
              <a:chOff x="698" y="2006"/>
              <a:chExt cx="399" cy="244"/>
            </a:xfrm>
          </p:grpSpPr>
          <p:sp>
            <p:nvSpPr>
              <p:cNvPr id="66608" name="Rectangle 48"/>
              <p:cNvSpPr>
                <a:spLocks noChangeArrowheads="1"/>
              </p:cNvSpPr>
              <p:nvPr/>
            </p:nvSpPr>
            <p:spPr bwMode="auto">
              <a:xfrm>
                <a:off x="714" y="2016"/>
                <a:ext cx="372" cy="234"/>
              </a:xfrm>
              <a:prstGeom prst="rect">
                <a:avLst/>
              </a:prstGeom>
              <a:solidFill>
                <a:schemeClr val="accent2"/>
              </a:solidFill>
              <a:ln w="9525">
                <a:solidFill>
                  <a:schemeClr val="accent2"/>
                </a:solidFill>
                <a:miter lim="800000"/>
              </a:ln>
              <a:effectLst/>
            </p:spPr>
            <p:txBody>
              <a:bodyPr wrap="none" anchor="ctr"/>
              <a:lstStyle/>
              <a:p>
                <a:pPr>
                  <a:defRPr/>
                </a:pPr>
                <a:endParaRPr lang="en-US">
                  <a:latin typeface="Arial" panose="020B0604020202090204"/>
                  <a:cs typeface="Arial" panose="020B0604020202090204"/>
                </a:endParaRPr>
              </a:p>
            </p:txBody>
          </p:sp>
          <p:sp>
            <p:nvSpPr>
              <p:cNvPr id="66609" name="Text Box 49"/>
              <p:cNvSpPr txBox="1">
                <a:spLocks noChangeArrowheads="1"/>
              </p:cNvSpPr>
              <p:nvPr/>
            </p:nvSpPr>
            <p:spPr bwMode="auto">
              <a:xfrm>
                <a:off x="698" y="2006"/>
                <a:ext cx="399" cy="233"/>
              </a:xfrm>
              <a:prstGeom prst="rect">
                <a:avLst/>
              </a:prstGeom>
              <a:noFill/>
              <a:ln>
                <a:noFill/>
              </a:ln>
              <a:effectLst/>
            </p:spPr>
            <p:txBody>
              <a:bodyPr wrap="none">
                <a:spAutoFit/>
              </a:bodyPr>
              <a:lstStyle/>
              <a:p>
                <a:pPr>
                  <a:defRPr/>
                </a:pPr>
                <a:r>
                  <a:rPr lang="en-US" sz="1800">
                    <a:solidFill>
                      <a:schemeClr val="bg1"/>
                    </a:solidFill>
                    <a:latin typeface="Arial" panose="020B0604020202090204"/>
                    <a:cs typeface="Arial" panose="020B0604020202090204"/>
                  </a:rPr>
                  <a:t>data</a:t>
                </a:r>
                <a:endParaRPr lang="en-US">
                  <a:latin typeface="Arial" panose="020B0604020202090204"/>
                  <a:cs typeface="Arial" panose="020B0604020202090204"/>
                </a:endParaRPr>
              </a:p>
            </p:txBody>
          </p:sp>
        </p:grpSp>
      </p:grpSp>
      <p:sp>
        <p:nvSpPr>
          <p:cNvPr id="66629" name="Text Box 69"/>
          <p:cNvSpPr txBox="1">
            <a:spLocks noChangeArrowheads="1"/>
          </p:cNvSpPr>
          <p:nvPr/>
        </p:nvSpPr>
        <p:spPr bwMode="auto">
          <a:xfrm>
            <a:off x="1322388" y="5259388"/>
            <a:ext cx="1866900" cy="366712"/>
          </a:xfrm>
          <a:prstGeom prst="rect">
            <a:avLst/>
          </a:prstGeom>
          <a:noFill/>
          <a:ln>
            <a:noFill/>
          </a:ln>
          <a:effectLst/>
        </p:spPr>
        <p:txBody>
          <a:bodyPr wrap="none">
            <a:spAutoFit/>
          </a:bodyPr>
          <a:lstStyle/>
          <a:p>
            <a:pPr algn="l">
              <a:defRPr/>
            </a:pPr>
            <a:r>
              <a:rPr lang="en-US" sz="1800" dirty="0">
                <a:latin typeface="Arial" panose="020B0604020202090204"/>
                <a:cs typeface="Arial" panose="020B0604020202090204"/>
              </a:rPr>
              <a:t>managed device</a:t>
            </a:r>
            <a:endParaRPr lang="en-US" dirty="0">
              <a:latin typeface="Arial" panose="020B0604020202090204"/>
              <a:cs typeface="Arial" panose="020B0604020202090204"/>
            </a:endParaRPr>
          </a:p>
        </p:txBody>
      </p:sp>
      <p:grpSp>
        <p:nvGrpSpPr>
          <p:cNvPr id="56330" name="Group 83"/>
          <p:cNvGrpSpPr/>
          <p:nvPr/>
        </p:nvGrpSpPr>
        <p:grpSpPr bwMode="auto">
          <a:xfrm>
            <a:off x="839788" y="2232025"/>
            <a:ext cx="1941512" cy="646113"/>
            <a:chOff x="728" y="1420"/>
            <a:chExt cx="1223" cy="407"/>
          </a:xfrm>
        </p:grpSpPr>
        <p:sp>
          <p:nvSpPr>
            <p:cNvPr id="66637" name="Oval 77"/>
            <p:cNvSpPr>
              <a:spLocks noChangeArrowheads="1"/>
            </p:cNvSpPr>
            <p:nvPr/>
          </p:nvSpPr>
          <p:spPr bwMode="auto">
            <a:xfrm>
              <a:off x="728" y="1446"/>
              <a:ext cx="1223" cy="375"/>
            </a:xfrm>
            <a:prstGeom prst="ellipse">
              <a:avLst/>
            </a:prstGeom>
            <a:solidFill>
              <a:schemeClr val="bg1"/>
            </a:solidFill>
            <a:ln w="19050">
              <a:solidFill>
                <a:srgbClr val="FF0000"/>
              </a:solidFill>
              <a:round/>
            </a:ln>
            <a:effectLst/>
          </p:spPr>
          <p:txBody>
            <a:bodyPr wrap="none" anchor="ctr"/>
            <a:lstStyle/>
            <a:p>
              <a:pPr>
                <a:defRPr/>
              </a:pPr>
              <a:endParaRPr lang="en-US">
                <a:latin typeface="Arial" panose="020B0604020202090204"/>
                <a:cs typeface="Arial" panose="020B0604020202090204"/>
              </a:endParaRPr>
            </a:p>
          </p:txBody>
        </p:sp>
        <p:sp>
          <p:nvSpPr>
            <p:cNvPr id="66638" name="Text Box 78"/>
            <p:cNvSpPr txBox="1">
              <a:spLocks noChangeArrowheads="1"/>
            </p:cNvSpPr>
            <p:nvPr/>
          </p:nvSpPr>
          <p:spPr bwMode="auto">
            <a:xfrm>
              <a:off x="944" y="1420"/>
              <a:ext cx="755" cy="407"/>
            </a:xfrm>
            <a:prstGeom prst="rect">
              <a:avLst/>
            </a:prstGeom>
            <a:noFill/>
            <a:ln>
              <a:noFill/>
            </a:ln>
            <a:effectLst/>
          </p:spPr>
          <p:txBody>
            <a:bodyPr wrap="none">
              <a:spAutoFit/>
            </a:bodyPr>
            <a:lstStyle/>
            <a:p>
              <a:pPr>
                <a:defRPr/>
              </a:pPr>
              <a:r>
                <a:rPr lang="en-US" sz="1800">
                  <a:latin typeface="Arial" panose="020B0604020202090204"/>
                  <a:cs typeface="Arial" panose="020B0604020202090204"/>
                </a:rPr>
                <a:t>managing</a:t>
              </a:r>
            </a:p>
            <a:p>
              <a:pPr>
                <a:defRPr/>
              </a:pPr>
              <a:r>
                <a:rPr lang="en-US" sz="1800">
                  <a:latin typeface="Arial" panose="020B0604020202090204"/>
                  <a:cs typeface="Arial" panose="020B0604020202090204"/>
                </a:rPr>
                <a:t>entity</a:t>
              </a:r>
              <a:endParaRPr lang="en-US">
                <a:latin typeface="Arial" panose="020B0604020202090204"/>
                <a:cs typeface="Arial" panose="020B0604020202090204"/>
              </a:endParaRPr>
            </a:p>
          </p:txBody>
        </p:sp>
      </p:grpSp>
      <p:grpSp>
        <p:nvGrpSpPr>
          <p:cNvPr id="56331" name="Group 119"/>
          <p:cNvGrpSpPr/>
          <p:nvPr/>
        </p:nvGrpSpPr>
        <p:grpSpPr bwMode="auto">
          <a:xfrm>
            <a:off x="5064125" y="4448175"/>
            <a:ext cx="1704975" cy="627063"/>
            <a:chOff x="1189" y="3477"/>
            <a:chExt cx="1074" cy="395"/>
          </a:xfrm>
        </p:grpSpPr>
        <p:sp>
          <p:nvSpPr>
            <p:cNvPr id="66680" name="Oval 120"/>
            <p:cNvSpPr>
              <a:spLocks noChangeArrowheads="1"/>
            </p:cNvSpPr>
            <p:nvPr/>
          </p:nvSpPr>
          <p:spPr bwMode="auto">
            <a:xfrm>
              <a:off x="1189" y="3477"/>
              <a:ext cx="1074" cy="395"/>
            </a:xfrm>
            <a:prstGeom prst="ellipse">
              <a:avLst/>
            </a:prstGeom>
            <a:solidFill>
              <a:schemeClr val="bg1"/>
            </a:solidFill>
            <a:ln w="19050">
              <a:solidFill>
                <a:srgbClr val="FF0000"/>
              </a:solidFill>
              <a:round/>
            </a:ln>
            <a:effectLst/>
          </p:spPr>
          <p:txBody>
            <a:bodyPr wrap="none" anchor="ctr"/>
            <a:lstStyle/>
            <a:p>
              <a:pPr>
                <a:defRPr/>
              </a:pPr>
              <a:endParaRPr lang="en-US">
                <a:latin typeface="Arial" panose="020B0604020202090204"/>
                <a:cs typeface="Arial" panose="020B0604020202090204"/>
              </a:endParaRPr>
            </a:p>
          </p:txBody>
        </p:sp>
        <p:sp>
          <p:nvSpPr>
            <p:cNvPr id="66681" name="Text Box 121"/>
            <p:cNvSpPr txBox="1">
              <a:spLocks noChangeArrowheads="1"/>
            </p:cNvSpPr>
            <p:nvPr/>
          </p:nvSpPr>
          <p:spPr bwMode="auto">
            <a:xfrm>
              <a:off x="1216" y="3545"/>
              <a:ext cx="488" cy="231"/>
            </a:xfrm>
            <a:prstGeom prst="rect">
              <a:avLst/>
            </a:prstGeom>
            <a:noFill/>
            <a:ln>
              <a:noFill/>
            </a:ln>
            <a:effectLst/>
          </p:spPr>
          <p:txBody>
            <a:bodyPr wrap="none">
              <a:spAutoFit/>
            </a:bodyPr>
            <a:lstStyle/>
            <a:p>
              <a:pPr>
                <a:defRPr/>
              </a:pPr>
              <a:r>
                <a:rPr lang="en-US" sz="1800">
                  <a:latin typeface="Arial" panose="020B0604020202090204"/>
                  <a:cs typeface="Arial" panose="020B0604020202090204"/>
                </a:rPr>
                <a:t>agent</a:t>
              </a:r>
              <a:endParaRPr lang="en-US">
                <a:latin typeface="Arial" panose="020B0604020202090204"/>
                <a:cs typeface="Arial" panose="020B0604020202090204"/>
              </a:endParaRPr>
            </a:p>
          </p:txBody>
        </p:sp>
        <p:grpSp>
          <p:nvGrpSpPr>
            <p:cNvPr id="56353" name="Group 122"/>
            <p:cNvGrpSpPr/>
            <p:nvPr/>
          </p:nvGrpSpPr>
          <p:grpSpPr bwMode="auto">
            <a:xfrm>
              <a:off x="1701" y="3547"/>
              <a:ext cx="399" cy="244"/>
              <a:chOff x="698" y="2006"/>
              <a:chExt cx="399" cy="244"/>
            </a:xfrm>
          </p:grpSpPr>
          <p:sp>
            <p:nvSpPr>
              <p:cNvPr id="66683" name="Rectangle 123"/>
              <p:cNvSpPr>
                <a:spLocks noChangeArrowheads="1"/>
              </p:cNvSpPr>
              <p:nvPr/>
            </p:nvSpPr>
            <p:spPr bwMode="auto">
              <a:xfrm>
                <a:off x="714" y="2016"/>
                <a:ext cx="372" cy="234"/>
              </a:xfrm>
              <a:prstGeom prst="rect">
                <a:avLst/>
              </a:prstGeom>
              <a:solidFill>
                <a:schemeClr val="accent2"/>
              </a:solidFill>
              <a:ln w="9525">
                <a:solidFill>
                  <a:schemeClr val="accent2"/>
                </a:solidFill>
                <a:miter lim="800000"/>
              </a:ln>
              <a:effectLst/>
            </p:spPr>
            <p:txBody>
              <a:bodyPr wrap="none" anchor="ctr"/>
              <a:lstStyle/>
              <a:p>
                <a:pPr>
                  <a:defRPr/>
                </a:pPr>
                <a:endParaRPr lang="en-US">
                  <a:latin typeface="Arial" panose="020B0604020202090204"/>
                  <a:cs typeface="Arial" panose="020B0604020202090204"/>
                </a:endParaRPr>
              </a:p>
            </p:txBody>
          </p:sp>
          <p:sp>
            <p:nvSpPr>
              <p:cNvPr id="66684" name="Text Box 124"/>
              <p:cNvSpPr txBox="1">
                <a:spLocks noChangeArrowheads="1"/>
              </p:cNvSpPr>
              <p:nvPr/>
            </p:nvSpPr>
            <p:spPr bwMode="auto">
              <a:xfrm>
                <a:off x="698" y="2006"/>
                <a:ext cx="399" cy="233"/>
              </a:xfrm>
              <a:prstGeom prst="rect">
                <a:avLst/>
              </a:prstGeom>
              <a:noFill/>
              <a:ln>
                <a:noFill/>
              </a:ln>
              <a:effectLst/>
            </p:spPr>
            <p:txBody>
              <a:bodyPr wrap="none">
                <a:spAutoFit/>
              </a:bodyPr>
              <a:lstStyle/>
              <a:p>
                <a:pPr>
                  <a:defRPr/>
                </a:pPr>
                <a:r>
                  <a:rPr lang="en-US" sz="1800">
                    <a:solidFill>
                      <a:schemeClr val="bg1"/>
                    </a:solidFill>
                    <a:latin typeface="Arial" panose="020B0604020202090204"/>
                    <a:cs typeface="Arial" panose="020B0604020202090204"/>
                  </a:rPr>
                  <a:t>data</a:t>
                </a:r>
                <a:endParaRPr lang="en-US">
                  <a:latin typeface="Arial" panose="020B0604020202090204"/>
                  <a:cs typeface="Arial" panose="020B0604020202090204"/>
                </a:endParaRPr>
              </a:p>
            </p:txBody>
          </p:sp>
        </p:grpSp>
      </p:grpSp>
      <p:sp>
        <p:nvSpPr>
          <p:cNvPr id="66685" name="Text Box 125"/>
          <p:cNvSpPr txBox="1">
            <a:spLocks noChangeArrowheads="1"/>
          </p:cNvSpPr>
          <p:nvPr/>
        </p:nvSpPr>
        <p:spPr bwMode="auto">
          <a:xfrm>
            <a:off x="5461000" y="5232400"/>
            <a:ext cx="1878013" cy="369888"/>
          </a:xfrm>
          <a:prstGeom prst="rect">
            <a:avLst/>
          </a:prstGeom>
          <a:noFill/>
          <a:ln>
            <a:noFill/>
          </a:ln>
          <a:effectLst/>
        </p:spPr>
        <p:txBody>
          <a:bodyPr wrap="none">
            <a:spAutoFit/>
          </a:bodyPr>
          <a:lstStyle/>
          <a:p>
            <a:pPr algn="l">
              <a:defRPr/>
            </a:pPr>
            <a:r>
              <a:rPr lang="en-US" sz="1800" dirty="0">
                <a:latin typeface="Arial" panose="020B0604020202090204"/>
                <a:cs typeface="Arial" panose="020B0604020202090204"/>
              </a:rPr>
              <a:t>managed device</a:t>
            </a:r>
            <a:endParaRPr lang="en-US" dirty="0">
              <a:latin typeface="Arial" panose="020B0604020202090204"/>
              <a:cs typeface="Arial" panose="020B0604020202090204"/>
            </a:endParaRPr>
          </a:p>
        </p:txBody>
      </p:sp>
      <p:grpSp>
        <p:nvGrpSpPr>
          <p:cNvPr id="56333" name="Group 127"/>
          <p:cNvGrpSpPr/>
          <p:nvPr/>
        </p:nvGrpSpPr>
        <p:grpSpPr bwMode="auto">
          <a:xfrm>
            <a:off x="4978400" y="2205038"/>
            <a:ext cx="1941513" cy="646112"/>
            <a:chOff x="728" y="1420"/>
            <a:chExt cx="1223" cy="407"/>
          </a:xfrm>
        </p:grpSpPr>
        <p:sp>
          <p:nvSpPr>
            <p:cNvPr id="66688" name="Oval 128"/>
            <p:cNvSpPr>
              <a:spLocks noChangeArrowheads="1"/>
            </p:cNvSpPr>
            <p:nvPr/>
          </p:nvSpPr>
          <p:spPr bwMode="auto">
            <a:xfrm>
              <a:off x="728" y="1446"/>
              <a:ext cx="1223" cy="375"/>
            </a:xfrm>
            <a:prstGeom prst="ellipse">
              <a:avLst/>
            </a:prstGeom>
            <a:solidFill>
              <a:schemeClr val="bg1"/>
            </a:solidFill>
            <a:ln w="19050">
              <a:solidFill>
                <a:srgbClr val="FF0000"/>
              </a:solidFill>
              <a:round/>
            </a:ln>
            <a:effectLst/>
          </p:spPr>
          <p:txBody>
            <a:bodyPr wrap="none" anchor="ctr"/>
            <a:lstStyle/>
            <a:p>
              <a:pPr>
                <a:defRPr/>
              </a:pPr>
              <a:endParaRPr lang="en-US">
                <a:latin typeface="Arial" panose="020B0604020202090204"/>
                <a:cs typeface="Arial" panose="020B0604020202090204"/>
              </a:endParaRPr>
            </a:p>
          </p:txBody>
        </p:sp>
        <p:sp>
          <p:nvSpPr>
            <p:cNvPr id="66689" name="Text Box 129"/>
            <p:cNvSpPr txBox="1">
              <a:spLocks noChangeArrowheads="1"/>
            </p:cNvSpPr>
            <p:nvPr/>
          </p:nvSpPr>
          <p:spPr bwMode="auto">
            <a:xfrm>
              <a:off x="944" y="1420"/>
              <a:ext cx="755" cy="407"/>
            </a:xfrm>
            <a:prstGeom prst="rect">
              <a:avLst/>
            </a:prstGeom>
            <a:noFill/>
            <a:ln>
              <a:noFill/>
            </a:ln>
            <a:effectLst/>
          </p:spPr>
          <p:txBody>
            <a:bodyPr wrap="none">
              <a:spAutoFit/>
            </a:bodyPr>
            <a:lstStyle/>
            <a:p>
              <a:pPr>
                <a:defRPr/>
              </a:pPr>
              <a:r>
                <a:rPr lang="en-US" sz="1800">
                  <a:latin typeface="Arial" panose="020B0604020202090204"/>
                  <a:cs typeface="Arial" panose="020B0604020202090204"/>
                </a:rPr>
                <a:t>managing</a:t>
              </a:r>
            </a:p>
            <a:p>
              <a:pPr>
                <a:defRPr/>
              </a:pPr>
              <a:r>
                <a:rPr lang="en-US" sz="1800">
                  <a:latin typeface="Arial" panose="020B0604020202090204"/>
                  <a:cs typeface="Arial" panose="020B0604020202090204"/>
                </a:rPr>
                <a:t>entity</a:t>
              </a:r>
              <a:endParaRPr lang="en-US">
                <a:latin typeface="Arial" panose="020B0604020202090204"/>
                <a:cs typeface="Arial" panose="020B0604020202090204"/>
              </a:endParaRPr>
            </a:p>
          </p:txBody>
        </p:sp>
      </p:grpSp>
      <p:grpSp>
        <p:nvGrpSpPr>
          <p:cNvPr id="7" name="Group 6"/>
          <p:cNvGrpSpPr/>
          <p:nvPr/>
        </p:nvGrpSpPr>
        <p:grpSpPr bwMode="auto">
          <a:xfrm>
            <a:off x="5186363" y="2870200"/>
            <a:ext cx="2455681" cy="1538288"/>
            <a:chOff x="5186363" y="2870200"/>
            <a:chExt cx="2455681" cy="1538288"/>
          </a:xfrm>
        </p:grpSpPr>
        <p:sp>
          <p:nvSpPr>
            <p:cNvPr id="66705" name="Freeform 145"/>
            <p:cNvSpPr/>
            <p:nvPr/>
          </p:nvSpPr>
          <p:spPr bwMode="auto">
            <a:xfrm>
              <a:off x="5784850" y="2870200"/>
              <a:ext cx="74613" cy="1538288"/>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FF0000"/>
              </a:solidFill>
              <a:round/>
              <a:headEnd type="triangle" w="med" len="med"/>
              <a:tailEnd type="none" w="med" len="med"/>
            </a:ln>
            <a:effectLst/>
          </p:spPr>
          <p:txBody>
            <a:bodyPr wrap="none" anchor="ctr"/>
            <a:lstStyle/>
            <a:p>
              <a:pPr>
                <a:defRPr/>
              </a:pPr>
              <a:endParaRPr lang="en-US">
                <a:latin typeface="Arial" panose="020B0604020202090204"/>
                <a:cs typeface="Arial" panose="020B0604020202090204"/>
              </a:endParaRPr>
            </a:p>
          </p:txBody>
        </p:sp>
        <p:sp>
          <p:nvSpPr>
            <p:cNvPr id="66706" name="Rectangle 146"/>
            <p:cNvSpPr>
              <a:spLocks noChangeArrowheads="1"/>
            </p:cNvSpPr>
            <p:nvPr/>
          </p:nvSpPr>
          <p:spPr bwMode="auto">
            <a:xfrm>
              <a:off x="5186363" y="3503613"/>
              <a:ext cx="1693862" cy="387350"/>
            </a:xfrm>
            <a:prstGeom prst="rect">
              <a:avLst/>
            </a:prstGeom>
            <a:solidFill>
              <a:srgbClr val="FFFFFF"/>
            </a:solidFill>
            <a:ln w="19050">
              <a:solidFill>
                <a:srgbClr val="FF0000"/>
              </a:solidFill>
              <a:miter lim="800000"/>
            </a:ln>
            <a:effectLst/>
          </p:spPr>
          <p:txBody>
            <a:bodyPr wrap="none" anchor="ctr"/>
            <a:lstStyle/>
            <a:p>
              <a:pPr>
                <a:defRPr/>
              </a:pPr>
              <a:endParaRPr lang="en-US">
                <a:latin typeface="Arial" panose="020B0604020202090204"/>
                <a:cs typeface="Arial" panose="020B0604020202090204"/>
              </a:endParaRPr>
            </a:p>
          </p:txBody>
        </p:sp>
        <p:sp>
          <p:nvSpPr>
            <p:cNvPr id="66707" name="Text Box 147"/>
            <p:cNvSpPr txBox="1">
              <a:spLocks noChangeArrowheads="1"/>
            </p:cNvSpPr>
            <p:nvPr/>
          </p:nvSpPr>
          <p:spPr bwMode="auto">
            <a:xfrm>
              <a:off x="5384619" y="3466849"/>
              <a:ext cx="2257425" cy="457200"/>
            </a:xfrm>
            <a:prstGeom prst="rect">
              <a:avLst/>
            </a:prstGeom>
            <a:noFill/>
            <a:ln>
              <a:noFill/>
            </a:ln>
            <a:effectLst/>
          </p:spPr>
          <p:txBody>
            <a:bodyPr>
              <a:spAutoFit/>
            </a:bodyPr>
            <a:lstStyle/>
            <a:p>
              <a:pPr>
                <a:spcBef>
                  <a:spcPct val="50000"/>
                </a:spcBef>
                <a:defRPr/>
              </a:pPr>
              <a:r>
                <a:rPr lang="en-US" dirty="0">
                  <a:solidFill>
                    <a:srgbClr val="CC0000"/>
                  </a:solidFill>
                  <a:latin typeface="Arial" panose="020B0604020202090204"/>
                  <a:cs typeface="Arial" panose="020B0604020202090204"/>
                </a:rPr>
                <a:t>trap </a:t>
              </a:r>
              <a:r>
                <a:rPr lang="en-US" dirty="0" err="1">
                  <a:solidFill>
                    <a:srgbClr val="CC0000"/>
                  </a:solidFill>
                  <a:latin typeface="Arial" panose="020B0604020202090204"/>
                  <a:cs typeface="Arial" panose="020B0604020202090204"/>
                </a:rPr>
                <a:t>msg</a:t>
              </a:r>
              <a:endParaRPr lang="en-US" dirty="0">
                <a:solidFill>
                  <a:srgbClr val="CC0000"/>
                </a:solidFill>
                <a:latin typeface="Arial" panose="020B0604020202090204"/>
                <a:cs typeface="Arial" panose="020B0604020202090204"/>
              </a:endParaRPr>
            </a:p>
          </p:txBody>
        </p:sp>
      </p:grpSp>
      <p:grpSp>
        <p:nvGrpSpPr>
          <p:cNvPr id="2" name="Group 1"/>
          <p:cNvGrpSpPr/>
          <p:nvPr/>
        </p:nvGrpSpPr>
        <p:grpSpPr bwMode="auto">
          <a:xfrm>
            <a:off x="261939" y="2786063"/>
            <a:ext cx="1601788" cy="1657350"/>
            <a:chOff x="419102" y="2801938"/>
            <a:chExt cx="1601788" cy="1657350"/>
          </a:xfrm>
        </p:grpSpPr>
        <p:sp>
          <p:nvSpPr>
            <p:cNvPr id="66635" name="Freeform 75"/>
            <p:cNvSpPr/>
            <p:nvPr/>
          </p:nvSpPr>
          <p:spPr bwMode="auto">
            <a:xfrm>
              <a:off x="1143001" y="2801938"/>
              <a:ext cx="1587" cy="1657350"/>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FF0000"/>
              </a:solidFill>
              <a:round/>
              <a:headEnd type="none" w="med" len="med"/>
              <a:tailEnd type="triangle" w="med" len="med"/>
            </a:ln>
            <a:effectLst/>
          </p:spPr>
          <p:txBody>
            <a:bodyPr wrap="none" anchor="ctr"/>
            <a:lstStyle/>
            <a:p>
              <a:pPr>
                <a:defRPr/>
              </a:pPr>
              <a:endParaRPr lang="en-US">
                <a:latin typeface="Arial" panose="020B0604020202090204"/>
                <a:cs typeface="Arial" panose="020B0604020202090204"/>
              </a:endParaRPr>
            </a:p>
          </p:txBody>
        </p:sp>
        <p:grpSp>
          <p:nvGrpSpPr>
            <p:cNvPr id="56343" name="Group 148"/>
            <p:cNvGrpSpPr/>
            <p:nvPr/>
          </p:nvGrpSpPr>
          <p:grpSpPr bwMode="auto">
            <a:xfrm>
              <a:off x="419102" y="3213100"/>
              <a:ext cx="1601788" cy="457200"/>
              <a:chOff x="3657" y="439"/>
              <a:chExt cx="1009" cy="288"/>
            </a:xfrm>
          </p:grpSpPr>
          <p:sp>
            <p:nvSpPr>
              <p:cNvPr id="66647" name="Rectangle 87"/>
              <p:cNvSpPr>
                <a:spLocks noChangeArrowheads="1"/>
              </p:cNvSpPr>
              <p:nvPr/>
            </p:nvSpPr>
            <p:spPr bwMode="auto">
              <a:xfrm>
                <a:off x="3657" y="446"/>
                <a:ext cx="844" cy="244"/>
              </a:xfrm>
              <a:prstGeom prst="rect">
                <a:avLst/>
              </a:prstGeom>
              <a:solidFill>
                <a:srgbClr val="FFFFFF"/>
              </a:solidFill>
              <a:ln w="19050">
                <a:solidFill>
                  <a:srgbClr val="FF0000"/>
                </a:solidFill>
                <a:miter lim="800000"/>
              </a:ln>
              <a:effectLst/>
            </p:spPr>
            <p:txBody>
              <a:bodyPr wrap="none" anchor="ctr"/>
              <a:lstStyle/>
              <a:p>
                <a:pPr>
                  <a:defRPr/>
                </a:pPr>
                <a:endParaRPr lang="en-US">
                  <a:latin typeface="Arial" panose="020B0604020202090204"/>
                  <a:cs typeface="Arial" panose="020B0604020202090204"/>
                </a:endParaRPr>
              </a:p>
            </p:txBody>
          </p:sp>
          <p:sp>
            <p:nvSpPr>
              <p:cNvPr id="66646" name="Text Box 86"/>
              <p:cNvSpPr txBox="1">
                <a:spLocks noChangeArrowheads="1"/>
              </p:cNvSpPr>
              <p:nvPr/>
            </p:nvSpPr>
            <p:spPr bwMode="auto">
              <a:xfrm>
                <a:off x="3750" y="439"/>
                <a:ext cx="916" cy="288"/>
              </a:xfrm>
              <a:prstGeom prst="rect">
                <a:avLst/>
              </a:prstGeom>
              <a:noFill/>
              <a:ln>
                <a:noFill/>
              </a:ln>
              <a:effectLst/>
            </p:spPr>
            <p:txBody>
              <a:bodyPr>
                <a:spAutoFit/>
              </a:bodyPr>
              <a:lstStyle/>
              <a:p>
                <a:pPr>
                  <a:spcBef>
                    <a:spcPct val="50000"/>
                  </a:spcBef>
                  <a:defRPr/>
                </a:pPr>
                <a:r>
                  <a:rPr lang="en-US" dirty="0">
                    <a:solidFill>
                      <a:srgbClr val="CC0000"/>
                    </a:solidFill>
                    <a:latin typeface="Arial" panose="020B0604020202090204"/>
                    <a:cs typeface="Arial" panose="020B0604020202090204"/>
                  </a:rPr>
                  <a:t>request</a:t>
                </a:r>
              </a:p>
            </p:txBody>
          </p:sp>
        </p:grpSp>
      </p:grpSp>
      <p:sp>
        <p:nvSpPr>
          <p:cNvPr id="66709" name="Text Box 149"/>
          <p:cNvSpPr txBox="1">
            <a:spLocks noChangeArrowheads="1"/>
          </p:cNvSpPr>
          <p:nvPr/>
        </p:nvSpPr>
        <p:spPr bwMode="auto">
          <a:xfrm>
            <a:off x="1687596" y="6047457"/>
            <a:ext cx="2609872" cy="369332"/>
          </a:xfrm>
          <a:prstGeom prst="rect">
            <a:avLst/>
          </a:prstGeom>
          <a:noFill/>
          <a:ln>
            <a:noFill/>
          </a:ln>
          <a:effectLst/>
        </p:spPr>
        <p:txBody>
          <a:bodyPr wrap="none">
            <a:spAutoFit/>
          </a:bodyPr>
          <a:lstStyle/>
          <a:p>
            <a:pPr>
              <a:defRPr/>
            </a:pPr>
            <a:r>
              <a:rPr lang="en-US" dirty="0">
                <a:solidFill>
                  <a:srgbClr val="000099"/>
                </a:solidFill>
                <a:latin typeface="Arial" panose="020B0604020202090204"/>
                <a:cs typeface="Arial" panose="020B0604020202090204"/>
              </a:rPr>
              <a:t>request/response mode</a:t>
            </a:r>
          </a:p>
        </p:txBody>
      </p:sp>
      <p:sp>
        <p:nvSpPr>
          <p:cNvPr id="66710" name="Text Box 150"/>
          <p:cNvSpPr txBox="1">
            <a:spLocks noChangeArrowheads="1"/>
          </p:cNvSpPr>
          <p:nvPr/>
        </p:nvSpPr>
        <p:spPr bwMode="auto">
          <a:xfrm>
            <a:off x="6735512" y="6035674"/>
            <a:ext cx="1223975" cy="369332"/>
          </a:xfrm>
          <a:prstGeom prst="rect">
            <a:avLst/>
          </a:prstGeom>
          <a:noFill/>
          <a:ln>
            <a:noFill/>
          </a:ln>
          <a:effectLst/>
        </p:spPr>
        <p:txBody>
          <a:bodyPr wrap="none">
            <a:spAutoFit/>
          </a:bodyPr>
          <a:lstStyle/>
          <a:p>
            <a:pPr>
              <a:defRPr/>
            </a:pPr>
            <a:r>
              <a:rPr lang="en-US" dirty="0">
                <a:solidFill>
                  <a:srgbClr val="000099"/>
                </a:solidFill>
                <a:latin typeface="Arial" panose="020B0604020202090204"/>
                <a:cs typeface="Arial" panose="020B0604020202090204"/>
              </a:rPr>
              <a:t>trap mode</a:t>
            </a:r>
          </a:p>
        </p:txBody>
      </p:sp>
      <p:grpSp>
        <p:nvGrpSpPr>
          <p:cNvPr id="6" name="Group 5"/>
          <p:cNvGrpSpPr/>
          <p:nvPr/>
        </p:nvGrpSpPr>
        <p:grpSpPr bwMode="auto">
          <a:xfrm>
            <a:off x="1084263" y="2936875"/>
            <a:ext cx="2383238" cy="1466850"/>
            <a:chOff x="9064738" y="1353594"/>
            <a:chExt cx="2383238" cy="1466850"/>
          </a:xfrm>
        </p:grpSpPr>
        <p:sp>
          <p:nvSpPr>
            <p:cNvPr id="66649" name="Freeform 89"/>
            <p:cNvSpPr/>
            <p:nvPr/>
          </p:nvSpPr>
          <p:spPr bwMode="auto">
            <a:xfrm>
              <a:off x="9820388" y="1353594"/>
              <a:ext cx="74612" cy="1466850"/>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FF0000"/>
              </a:solidFill>
              <a:round/>
              <a:headEnd type="triangle" w="med" len="med"/>
              <a:tailEnd type="none" w="med" len="med"/>
            </a:ln>
            <a:effectLst/>
          </p:spPr>
          <p:txBody>
            <a:bodyPr wrap="none" anchor="ctr"/>
            <a:lstStyle/>
            <a:p>
              <a:pPr>
                <a:defRPr/>
              </a:pPr>
              <a:endParaRPr lang="en-US">
                <a:latin typeface="Arial" panose="020B0604020202090204"/>
                <a:cs typeface="Arial" panose="020B0604020202090204"/>
              </a:endParaRPr>
            </a:p>
          </p:txBody>
        </p:sp>
        <p:sp>
          <p:nvSpPr>
            <p:cNvPr id="66651" name="Rectangle 91"/>
            <p:cNvSpPr>
              <a:spLocks noChangeArrowheads="1"/>
            </p:cNvSpPr>
            <p:nvPr/>
          </p:nvSpPr>
          <p:spPr bwMode="auto">
            <a:xfrm>
              <a:off x="9064738" y="2155282"/>
              <a:ext cx="1422400" cy="387350"/>
            </a:xfrm>
            <a:prstGeom prst="rect">
              <a:avLst/>
            </a:prstGeom>
            <a:solidFill>
              <a:srgbClr val="FFFFFF"/>
            </a:solidFill>
            <a:ln w="19050">
              <a:solidFill>
                <a:srgbClr val="FF0000"/>
              </a:solidFill>
              <a:miter lim="800000"/>
            </a:ln>
            <a:effectLst/>
          </p:spPr>
          <p:txBody>
            <a:bodyPr wrap="none" anchor="ctr"/>
            <a:lstStyle/>
            <a:p>
              <a:pPr>
                <a:defRPr/>
              </a:pPr>
              <a:endParaRPr lang="en-US">
                <a:latin typeface="Arial" panose="020B0604020202090204"/>
                <a:cs typeface="Arial" panose="020B0604020202090204"/>
              </a:endParaRPr>
            </a:p>
          </p:txBody>
        </p:sp>
        <p:sp>
          <p:nvSpPr>
            <p:cNvPr id="66652" name="Text Box 92"/>
            <p:cNvSpPr txBox="1">
              <a:spLocks noChangeArrowheads="1"/>
            </p:cNvSpPr>
            <p:nvPr/>
          </p:nvSpPr>
          <p:spPr bwMode="auto">
            <a:xfrm>
              <a:off x="9190551" y="2152272"/>
              <a:ext cx="2257425" cy="457200"/>
            </a:xfrm>
            <a:prstGeom prst="rect">
              <a:avLst/>
            </a:prstGeom>
            <a:noFill/>
            <a:ln>
              <a:noFill/>
            </a:ln>
            <a:effectLst/>
          </p:spPr>
          <p:txBody>
            <a:bodyPr>
              <a:spAutoFit/>
            </a:bodyPr>
            <a:lstStyle/>
            <a:p>
              <a:pPr>
                <a:spcBef>
                  <a:spcPct val="50000"/>
                </a:spcBef>
                <a:defRPr/>
              </a:pPr>
              <a:r>
                <a:rPr lang="en-US" dirty="0">
                  <a:solidFill>
                    <a:srgbClr val="CC0000"/>
                  </a:solidFill>
                  <a:latin typeface="Arial" panose="020B0604020202090204"/>
                  <a:cs typeface="Arial" panose="020B0604020202090204"/>
                </a:rPr>
                <a:t>response</a:t>
              </a:r>
            </a:p>
          </p:txBody>
        </p:sp>
      </p:grpSp>
      <p:grpSp>
        <p:nvGrpSpPr>
          <p:cNvPr id="198" name="Group 327"/>
          <p:cNvGrpSpPr/>
          <p:nvPr/>
        </p:nvGrpSpPr>
        <p:grpSpPr bwMode="auto">
          <a:xfrm>
            <a:off x="2365660" y="4961649"/>
            <a:ext cx="687402" cy="404025"/>
            <a:chOff x="1871277" y="1576300"/>
            <a:chExt cx="1128371" cy="437861"/>
          </a:xfrm>
        </p:grpSpPr>
        <p:sp>
          <p:nvSpPr>
            <p:cNvPr id="199" name="Oval 19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0" name="Rectangle 19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2" name="Oval 20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0" name="Freeform 20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1" name="Freeform 21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2" name="Freeform 21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Freeform 21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1" name="Straight Connector 220"/>
            <p:cNvCxnSpPr>
              <a:endCxn id="20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2" name="Straight Connector 22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9" name="Group 327"/>
          <p:cNvGrpSpPr/>
          <p:nvPr/>
        </p:nvGrpSpPr>
        <p:grpSpPr bwMode="auto">
          <a:xfrm>
            <a:off x="3534062" y="3389522"/>
            <a:ext cx="687402" cy="404025"/>
            <a:chOff x="1871277" y="1576300"/>
            <a:chExt cx="1128371" cy="437861"/>
          </a:xfrm>
        </p:grpSpPr>
        <p:sp>
          <p:nvSpPr>
            <p:cNvPr id="230" name="Oval 22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1" name="Rectangle 23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Oval 23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3" name="Freeform 23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5" name="Freeform 234"/>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6" name="Freeform 235"/>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8" name="Freeform 23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0" name="Straight Connector 239"/>
            <p:cNvCxnSpPr>
              <a:endCxn id="23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3" name="Straight Connector 24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4" name="Group 327"/>
          <p:cNvGrpSpPr/>
          <p:nvPr/>
        </p:nvGrpSpPr>
        <p:grpSpPr bwMode="auto">
          <a:xfrm>
            <a:off x="7670251" y="3394869"/>
            <a:ext cx="687402" cy="404025"/>
            <a:chOff x="1871277" y="1576300"/>
            <a:chExt cx="1128371" cy="437861"/>
          </a:xfrm>
        </p:grpSpPr>
        <p:sp>
          <p:nvSpPr>
            <p:cNvPr id="245" name="Oval 24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7" name="Rectangle 24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8" name="Oval 24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0" name="Freeform 24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0" name="Freeform 26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1" name="Freeform 27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8" name="Freeform 27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79" name="Straight Connector 278"/>
            <p:cNvCxnSpPr>
              <a:endCxn id="24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0" name="Straight Connector 27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1" name="Group 327"/>
          <p:cNvGrpSpPr/>
          <p:nvPr/>
        </p:nvGrpSpPr>
        <p:grpSpPr bwMode="auto">
          <a:xfrm>
            <a:off x="6525914" y="4937584"/>
            <a:ext cx="687402" cy="404025"/>
            <a:chOff x="1871277" y="1576300"/>
            <a:chExt cx="1128371" cy="437861"/>
          </a:xfrm>
        </p:grpSpPr>
        <p:sp>
          <p:nvSpPr>
            <p:cNvPr id="282" name="Oval 28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3" name="Rectangle 28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4" name="Oval 28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5" name="Freeform 28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1" fmla="*/ 1486231 w 2944854"/>
                <a:gd name="connsiteY0-2" fmla="*/ 727041 h 1316375"/>
                <a:gd name="connsiteX1-3" fmla="*/ 257675 w 2944854"/>
                <a:gd name="connsiteY1-4" fmla="*/ 1302232 h 1316375"/>
                <a:gd name="connsiteX2-5" fmla="*/ 0 w 2944854"/>
                <a:gd name="connsiteY2-6" fmla="*/ 1228607 h 1316375"/>
                <a:gd name="connsiteX3-7" fmla="*/ 911064 w 2944854"/>
                <a:gd name="connsiteY3-8" fmla="*/ 837478 h 1316375"/>
                <a:gd name="connsiteX4-9" fmla="*/ 883456 w 2944854"/>
                <a:gd name="connsiteY4-10" fmla="*/ 450949 h 1316375"/>
                <a:gd name="connsiteX5-11" fmla="*/ 161047 w 2944854"/>
                <a:gd name="connsiteY5-12" fmla="*/ 119640 h 1316375"/>
                <a:gd name="connsiteX6-13" fmla="*/ 404917 w 2944854"/>
                <a:gd name="connsiteY6-14" fmla="*/ 50617 h 1316375"/>
                <a:gd name="connsiteX7-15" fmla="*/ 1477028 w 2944854"/>
                <a:gd name="connsiteY7-16" fmla="*/ 501566 h 1316375"/>
                <a:gd name="connsiteX8-17" fmla="*/ 2572146 w 2944854"/>
                <a:gd name="connsiteY8-18" fmla="*/ 0 h 1316375"/>
                <a:gd name="connsiteX9-19" fmla="*/ 2875834 w 2944854"/>
                <a:gd name="connsiteY9-20" fmla="*/ 96632 h 1316375"/>
                <a:gd name="connsiteX10-21" fmla="*/ 2079803 w 2944854"/>
                <a:gd name="connsiteY10-22" fmla="*/ 432543 h 1316375"/>
                <a:gd name="connsiteX11-23" fmla="*/ 2240850 w 2944854"/>
                <a:gd name="connsiteY11-24" fmla="*/ 920305 h 1316375"/>
                <a:gd name="connsiteX12-25" fmla="*/ 2944854 w 2944854"/>
                <a:gd name="connsiteY12-26" fmla="*/ 1228607 h 1316375"/>
                <a:gd name="connsiteX13-27" fmla="*/ 2756623 w 2944854"/>
                <a:gd name="connsiteY13-28" fmla="*/ 1316375 h 1316375"/>
                <a:gd name="connsiteX14-29" fmla="*/ 1486231 w 2944854"/>
                <a:gd name="connsiteY14-30" fmla="*/ 727041 h 1316375"/>
                <a:gd name="connsiteX0-31" fmla="*/ 1486231 w 3024520"/>
                <a:gd name="connsiteY0-32" fmla="*/ 727041 h 1316375"/>
                <a:gd name="connsiteX1-33" fmla="*/ 257675 w 3024520"/>
                <a:gd name="connsiteY1-34" fmla="*/ 1302232 h 1316375"/>
                <a:gd name="connsiteX2-35" fmla="*/ 0 w 3024520"/>
                <a:gd name="connsiteY2-36" fmla="*/ 1228607 h 1316375"/>
                <a:gd name="connsiteX3-37" fmla="*/ 911064 w 3024520"/>
                <a:gd name="connsiteY3-38" fmla="*/ 837478 h 1316375"/>
                <a:gd name="connsiteX4-39" fmla="*/ 883456 w 3024520"/>
                <a:gd name="connsiteY4-40" fmla="*/ 450949 h 1316375"/>
                <a:gd name="connsiteX5-41" fmla="*/ 161047 w 3024520"/>
                <a:gd name="connsiteY5-42" fmla="*/ 119640 h 1316375"/>
                <a:gd name="connsiteX6-43" fmla="*/ 404917 w 3024520"/>
                <a:gd name="connsiteY6-44" fmla="*/ 50617 h 1316375"/>
                <a:gd name="connsiteX7-45" fmla="*/ 1477028 w 3024520"/>
                <a:gd name="connsiteY7-46" fmla="*/ 501566 h 1316375"/>
                <a:gd name="connsiteX8-47" fmla="*/ 2572146 w 3024520"/>
                <a:gd name="connsiteY8-48" fmla="*/ 0 h 1316375"/>
                <a:gd name="connsiteX9-49" fmla="*/ 2875834 w 3024520"/>
                <a:gd name="connsiteY9-50" fmla="*/ 96632 h 1316375"/>
                <a:gd name="connsiteX10-51" fmla="*/ 2079803 w 3024520"/>
                <a:gd name="connsiteY10-52" fmla="*/ 432543 h 1316375"/>
                <a:gd name="connsiteX11-53" fmla="*/ 2240850 w 3024520"/>
                <a:gd name="connsiteY11-54" fmla="*/ 920305 h 1316375"/>
                <a:gd name="connsiteX12-55" fmla="*/ 3024520 w 3024520"/>
                <a:gd name="connsiteY12-56" fmla="*/ 1228607 h 1316375"/>
                <a:gd name="connsiteX13-57" fmla="*/ 2756623 w 3024520"/>
                <a:gd name="connsiteY13-58" fmla="*/ 1316375 h 1316375"/>
                <a:gd name="connsiteX14-59" fmla="*/ 1486231 w 3024520"/>
                <a:gd name="connsiteY14-60" fmla="*/ 727041 h 1316375"/>
                <a:gd name="connsiteX0-61" fmla="*/ 1537780 w 3076069"/>
                <a:gd name="connsiteY0-62" fmla="*/ 727041 h 1316375"/>
                <a:gd name="connsiteX1-63" fmla="*/ 309224 w 3076069"/>
                <a:gd name="connsiteY1-64" fmla="*/ 1302232 h 1316375"/>
                <a:gd name="connsiteX2-65" fmla="*/ 0 w 3076069"/>
                <a:gd name="connsiteY2-66" fmla="*/ 1228607 h 1316375"/>
                <a:gd name="connsiteX3-67" fmla="*/ 962613 w 3076069"/>
                <a:gd name="connsiteY3-68" fmla="*/ 837478 h 1316375"/>
                <a:gd name="connsiteX4-69" fmla="*/ 935005 w 3076069"/>
                <a:gd name="connsiteY4-70" fmla="*/ 450949 h 1316375"/>
                <a:gd name="connsiteX5-71" fmla="*/ 212596 w 3076069"/>
                <a:gd name="connsiteY5-72" fmla="*/ 119640 h 1316375"/>
                <a:gd name="connsiteX6-73" fmla="*/ 456466 w 3076069"/>
                <a:gd name="connsiteY6-74" fmla="*/ 50617 h 1316375"/>
                <a:gd name="connsiteX7-75" fmla="*/ 1528577 w 3076069"/>
                <a:gd name="connsiteY7-76" fmla="*/ 501566 h 1316375"/>
                <a:gd name="connsiteX8-77" fmla="*/ 2623695 w 3076069"/>
                <a:gd name="connsiteY8-78" fmla="*/ 0 h 1316375"/>
                <a:gd name="connsiteX9-79" fmla="*/ 2927383 w 3076069"/>
                <a:gd name="connsiteY9-80" fmla="*/ 96632 h 1316375"/>
                <a:gd name="connsiteX10-81" fmla="*/ 2131352 w 3076069"/>
                <a:gd name="connsiteY10-82" fmla="*/ 432543 h 1316375"/>
                <a:gd name="connsiteX11-83" fmla="*/ 2292399 w 3076069"/>
                <a:gd name="connsiteY11-84" fmla="*/ 920305 h 1316375"/>
                <a:gd name="connsiteX12-85" fmla="*/ 3076069 w 3076069"/>
                <a:gd name="connsiteY12-86" fmla="*/ 1228607 h 1316375"/>
                <a:gd name="connsiteX13-87" fmla="*/ 2808172 w 3076069"/>
                <a:gd name="connsiteY13-88" fmla="*/ 1316375 h 1316375"/>
                <a:gd name="connsiteX14-89" fmla="*/ 1537780 w 3076069"/>
                <a:gd name="connsiteY14-90" fmla="*/ 727041 h 1316375"/>
                <a:gd name="connsiteX0-91" fmla="*/ 1537780 w 3076069"/>
                <a:gd name="connsiteY0-92" fmla="*/ 727041 h 1321259"/>
                <a:gd name="connsiteX1-93" fmla="*/ 313981 w 3076069"/>
                <a:gd name="connsiteY1-94" fmla="*/ 1321259 h 1321259"/>
                <a:gd name="connsiteX2-95" fmla="*/ 0 w 3076069"/>
                <a:gd name="connsiteY2-96" fmla="*/ 1228607 h 1321259"/>
                <a:gd name="connsiteX3-97" fmla="*/ 962613 w 3076069"/>
                <a:gd name="connsiteY3-98" fmla="*/ 837478 h 1321259"/>
                <a:gd name="connsiteX4-99" fmla="*/ 935005 w 3076069"/>
                <a:gd name="connsiteY4-100" fmla="*/ 450949 h 1321259"/>
                <a:gd name="connsiteX5-101" fmla="*/ 212596 w 3076069"/>
                <a:gd name="connsiteY5-102" fmla="*/ 119640 h 1321259"/>
                <a:gd name="connsiteX6-103" fmla="*/ 456466 w 3076069"/>
                <a:gd name="connsiteY6-104" fmla="*/ 50617 h 1321259"/>
                <a:gd name="connsiteX7-105" fmla="*/ 1528577 w 3076069"/>
                <a:gd name="connsiteY7-106" fmla="*/ 501566 h 1321259"/>
                <a:gd name="connsiteX8-107" fmla="*/ 2623695 w 3076069"/>
                <a:gd name="connsiteY8-108" fmla="*/ 0 h 1321259"/>
                <a:gd name="connsiteX9-109" fmla="*/ 2927383 w 3076069"/>
                <a:gd name="connsiteY9-110" fmla="*/ 96632 h 1321259"/>
                <a:gd name="connsiteX10-111" fmla="*/ 2131352 w 3076069"/>
                <a:gd name="connsiteY10-112" fmla="*/ 432543 h 1321259"/>
                <a:gd name="connsiteX11-113" fmla="*/ 2292399 w 3076069"/>
                <a:gd name="connsiteY11-114" fmla="*/ 920305 h 1321259"/>
                <a:gd name="connsiteX12-115" fmla="*/ 3076069 w 3076069"/>
                <a:gd name="connsiteY12-116" fmla="*/ 1228607 h 1321259"/>
                <a:gd name="connsiteX13-117" fmla="*/ 2808172 w 3076069"/>
                <a:gd name="connsiteY13-118" fmla="*/ 1316375 h 1321259"/>
                <a:gd name="connsiteX14-119" fmla="*/ 1537780 w 3076069"/>
                <a:gd name="connsiteY14-120" fmla="*/ 727041 h 1321259"/>
                <a:gd name="connsiteX0-121" fmla="*/ 1537780 w 3076069"/>
                <a:gd name="connsiteY0-122" fmla="*/ 750825 h 1321259"/>
                <a:gd name="connsiteX1-123" fmla="*/ 313981 w 3076069"/>
                <a:gd name="connsiteY1-124" fmla="*/ 1321259 h 1321259"/>
                <a:gd name="connsiteX2-125" fmla="*/ 0 w 3076069"/>
                <a:gd name="connsiteY2-126" fmla="*/ 1228607 h 1321259"/>
                <a:gd name="connsiteX3-127" fmla="*/ 962613 w 3076069"/>
                <a:gd name="connsiteY3-128" fmla="*/ 837478 h 1321259"/>
                <a:gd name="connsiteX4-129" fmla="*/ 935005 w 3076069"/>
                <a:gd name="connsiteY4-130" fmla="*/ 450949 h 1321259"/>
                <a:gd name="connsiteX5-131" fmla="*/ 212596 w 3076069"/>
                <a:gd name="connsiteY5-132" fmla="*/ 119640 h 1321259"/>
                <a:gd name="connsiteX6-133" fmla="*/ 456466 w 3076069"/>
                <a:gd name="connsiteY6-134" fmla="*/ 50617 h 1321259"/>
                <a:gd name="connsiteX7-135" fmla="*/ 1528577 w 3076069"/>
                <a:gd name="connsiteY7-136" fmla="*/ 501566 h 1321259"/>
                <a:gd name="connsiteX8-137" fmla="*/ 2623695 w 3076069"/>
                <a:gd name="connsiteY8-138" fmla="*/ 0 h 1321259"/>
                <a:gd name="connsiteX9-139" fmla="*/ 2927383 w 3076069"/>
                <a:gd name="connsiteY9-140" fmla="*/ 96632 h 1321259"/>
                <a:gd name="connsiteX10-141" fmla="*/ 2131352 w 3076069"/>
                <a:gd name="connsiteY10-142" fmla="*/ 432543 h 1321259"/>
                <a:gd name="connsiteX11-143" fmla="*/ 2292399 w 3076069"/>
                <a:gd name="connsiteY11-144" fmla="*/ 920305 h 1321259"/>
                <a:gd name="connsiteX12-145" fmla="*/ 3076069 w 3076069"/>
                <a:gd name="connsiteY12-146" fmla="*/ 1228607 h 1321259"/>
                <a:gd name="connsiteX13-147" fmla="*/ 2808172 w 3076069"/>
                <a:gd name="connsiteY13-148" fmla="*/ 1316375 h 1321259"/>
                <a:gd name="connsiteX14-149" fmla="*/ 1537780 w 3076069"/>
                <a:gd name="connsiteY14-150" fmla="*/ 750825 h 132125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6" name="Freeform 28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1" fmla="*/ 0 w 3640627"/>
                <a:gd name="connsiteY0-2" fmla="*/ 242051 h 923747"/>
                <a:gd name="connsiteX1-3" fmla="*/ 655168 w 3640627"/>
                <a:gd name="connsiteY1-4" fmla="*/ 16495 h 923747"/>
                <a:gd name="connsiteX2-5" fmla="*/ 1809765 w 3640627"/>
                <a:gd name="connsiteY2-6" fmla="*/ 511360 h 923747"/>
                <a:gd name="connsiteX3-7" fmla="*/ 2964363 w 3640627"/>
                <a:gd name="connsiteY3-8" fmla="*/ 0 h 923747"/>
                <a:gd name="connsiteX4-9" fmla="*/ 3640627 w 3640627"/>
                <a:gd name="connsiteY4-10" fmla="*/ 197946 h 923747"/>
                <a:gd name="connsiteX5-11" fmla="*/ 3195282 w 3640627"/>
                <a:gd name="connsiteY5-12" fmla="*/ 461874 h 923747"/>
                <a:gd name="connsiteX6-13" fmla="*/ 2980857 w 3640627"/>
                <a:gd name="connsiteY6-14" fmla="*/ 379396 h 923747"/>
                <a:gd name="connsiteX7-15" fmla="*/ 1826259 w 3640627"/>
                <a:gd name="connsiteY7-16" fmla="*/ 923747 h 923747"/>
                <a:gd name="connsiteX8-17" fmla="*/ 671662 w 3640627"/>
                <a:gd name="connsiteY8-18" fmla="*/ 412387 h 923747"/>
                <a:gd name="connsiteX9-19" fmla="*/ 523214 w 3640627"/>
                <a:gd name="connsiteY9-20" fmla="*/ 478369 h 923747"/>
                <a:gd name="connsiteX10-21" fmla="*/ 0 w 3640627"/>
                <a:gd name="connsiteY10-22" fmla="*/ 242051 h 923747"/>
                <a:gd name="connsiteX0-23" fmla="*/ 0 w 3640627"/>
                <a:gd name="connsiteY0-24" fmla="*/ 242051 h 923747"/>
                <a:gd name="connsiteX1-25" fmla="*/ 655168 w 3640627"/>
                <a:gd name="connsiteY1-26" fmla="*/ 16495 h 923747"/>
                <a:gd name="connsiteX2-27" fmla="*/ 1809765 w 3640627"/>
                <a:gd name="connsiteY2-28" fmla="*/ 511360 h 923747"/>
                <a:gd name="connsiteX3-29" fmla="*/ 2964363 w 3640627"/>
                <a:gd name="connsiteY3-30" fmla="*/ 0 h 923747"/>
                <a:gd name="connsiteX4-31" fmla="*/ 3640627 w 3640627"/>
                <a:gd name="connsiteY4-32" fmla="*/ 197946 h 923747"/>
                <a:gd name="connsiteX5-33" fmla="*/ 3195282 w 3640627"/>
                <a:gd name="connsiteY5-34" fmla="*/ 461874 h 923747"/>
                <a:gd name="connsiteX6-35" fmla="*/ 2980857 w 3640627"/>
                <a:gd name="connsiteY6-36" fmla="*/ 379396 h 923747"/>
                <a:gd name="connsiteX7-37" fmla="*/ 1826259 w 3640627"/>
                <a:gd name="connsiteY7-38" fmla="*/ 923747 h 923747"/>
                <a:gd name="connsiteX8-39" fmla="*/ 671662 w 3640627"/>
                <a:gd name="connsiteY8-40" fmla="*/ 412387 h 923747"/>
                <a:gd name="connsiteX9-41" fmla="*/ 523214 w 3640627"/>
                <a:gd name="connsiteY9-42" fmla="*/ 482971 h 923747"/>
                <a:gd name="connsiteX10-43" fmla="*/ 0 w 3640627"/>
                <a:gd name="connsiteY10-44" fmla="*/ 242051 h 923747"/>
                <a:gd name="connsiteX0-45" fmla="*/ 0 w 3640627"/>
                <a:gd name="connsiteY0-46" fmla="*/ 242051 h 923747"/>
                <a:gd name="connsiteX1-47" fmla="*/ 655168 w 3640627"/>
                <a:gd name="connsiteY1-48" fmla="*/ 16495 h 923747"/>
                <a:gd name="connsiteX2-49" fmla="*/ 1809765 w 3640627"/>
                <a:gd name="connsiteY2-50" fmla="*/ 511360 h 923747"/>
                <a:gd name="connsiteX3-51" fmla="*/ 2964363 w 3640627"/>
                <a:gd name="connsiteY3-52" fmla="*/ 0 h 923747"/>
                <a:gd name="connsiteX4-53" fmla="*/ 3640627 w 3640627"/>
                <a:gd name="connsiteY4-54" fmla="*/ 197946 h 923747"/>
                <a:gd name="connsiteX5-55" fmla="*/ 3195282 w 3640627"/>
                <a:gd name="connsiteY5-56" fmla="*/ 461874 h 923747"/>
                <a:gd name="connsiteX6-57" fmla="*/ 2980857 w 3640627"/>
                <a:gd name="connsiteY6-58" fmla="*/ 379396 h 923747"/>
                <a:gd name="connsiteX7-59" fmla="*/ 1826259 w 3640627"/>
                <a:gd name="connsiteY7-60" fmla="*/ 923747 h 923747"/>
                <a:gd name="connsiteX8-61" fmla="*/ 690067 w 3640627"/>
                <a:gd name="connsiteY8-62" fmla="*/ 412387 h 923747"/>
                <a:gd name="connsiteX9-63" fmla="*/ 523214 w 3640627"/>
                <a:gd name="connsiteY9-64" fmla="*/ 482971 h 923747"/>
                <a:gd name="connsiteX10-65" fmla="*/ 0 w 3640627"/>
                <a:gd name="connsiteY10-66" fmla="*/ 242051 h 923747"/>
                <a:gd name="connsiteX0-67" fmla="*/ 0 w 3640627"/>
                <a:gd name="connsiteY0-68" fmla="*/ 242051 h 946755"/>
                <a:gd name="connsiteX1-69" fmla="*/ 655168 w 3640627"/>
                <a:gd name="connsiteY1-70" fmla="*/ 16495 h 946755"/>
                <a:gd name="connsiteX2-71" fmla="*/ 1809765 w 3640627"/>
                <a:gd name="connsiteY2-72" fmla="*/ 511360 h 946755"/>
                <a:gd name="connsiteX3-73" fmla="*/ 2964363 w 3640627"/>
                <a:gd name="connsiteY3-74" fmla="*/ 0 h 946755"/>
                <a:gd name="connsiteX4-75" fmla="*/ 3640627 w 3640627"/>
                <a:gd name="connsiteY4-76" fmla="*/ 197946 h 946755"/>
                <a:gd name="connsiteX5-77" fmla="*/ 3195282 w 3640627"/>
                <a:gd name="connsiteY5-78" fmla="*/ 461874 h 946755"/>
                <a:gd name="connsiteX6-79" fmla="*/ 2980857 w 3640627"/>
                <a:gd name="connsiteY6-80" fmla="*/ 379396 h 946755"/>
                <a:gd name="connsiteX7-81" fmla="*/ 1876873 w 3640627"/>
                <a:gd name="connsiteY7-82" fmla="*/ 946755 h 946755"/>
                <a:gd name="connsiteX8-83" fmla="*/ 690067 w 3640627"/>
                <a:gd name="connsiteY8-84" fmla="*/ 412387 h 946755"/>
                <a:gd name="connsiteX9-85" fmla="*/ 523214 w 3640627"/>
                <a:gd name="connsiteY9-86" fmla="*/ 482971 h 946755"/>
                <a:gd name="connsiteX10-87" fmla="*/ 0 w 3640627"/>
                <a:gd name="connsiteY10-88" fmla="*/ 242051 h 946755"/>
                <a:gd name="connsiteX0-89" fmla="*/ 0 w 3640627"/>
                <a:gd name="connsiteY0-90" fmla="*/ 242051 h 946755"/>
                <a:gd name="connsiteX1-91" fmla="*/ 655168 w 3640627"/>
                <a:gd name="connsiteY1-92" fmla="*/ 16495 h 946755"/>
                <a:gd name="connsiteX2-93" fmla="*/ 1855778 w 3640627"/>
                <a:gd name="connsiteY2-94" fmla="*/ 534367 h 946755"/>
                <a:gd name="connsiteX3-95" fmla="*/ 2964363 w 3640627"/>
                <a:gd name="connsiteY3-96" fmla="*/ 0 h 946755"/>
                <a:gd name="connsiteX4-97" fmla="*/ 3640627 w 3640627"/>
                <a:gd name="connsiteY4-98" fmla="*/ 197946 h 946755"/>
                <a:gd name="connsiteX5-99" fmla="*/ 3195282 w 3640627"/>
                <a:gd name="connsiteY5-100" fmla="*/ 461874 h 946755"/>
                <a:gd name="connsiteX6-101" fmla="*/ 2980857 w 3640627"/>
                <a:gd name="connsiteY6-102" fmla="*/ 379396 h 946755"/>
                <a:gd name="connsiteX7-103" fmla="*/ 1876873 w 3640627"/>
                <a:gd name="connsiteY7-104" fmla="*/ 946755 h 946755"/>
                <a:gd name="connsiteX8-105" fmla="*/ 690067 w 3640627"/>
                <a:gd name="connsiteY8-106" fmla="*/ 412387 h 946755"/>
                <a:gd name="connsiteX9-107" fmla="*/ 523214 w 3640627"/>
                <a:gd name="connsiteY9-108" fmla="*/ 482971 h 946755"/>
                <a:gd name="connsiteX10-109" fmla="*/ 0 w 3640627"/>
                <a:gd name="connsiteY10-110" fmla="*/ 242051 h 946755"/>
                <a:gd name="connsiteX0-111" fmla="*/ 0 w 3640627"/>
                <a:gd name="connsiteY0-112" fmla="*/ 242051 h 946755"/>
                <a:gd name="connsiteX1-113" fmla="*/ 655168 w 3640627"/>
                <a:gd name="connsiteY1-114" fmla="*/ 16495 h 946755"/>
                <a:gd name="connsiteX2-115" fmla="*/ 1855778 w 3640627"/>
                <a:gd name="connsiteY2-116" fmla="*/ 534367 h 946755"/>
                <a:gd name="connsiteX3-117" fmla="*/ 2964363 w 3640627"/>
                <a:gd name="connsiteY3-118" fmla="*/ 0 h 946755"/>
                <a:gd name="connsiteX4-119" fmla="*/ 3640627 w 3640627"/>
                <a:gd name="connsiteY4-120" fmla="*/ 197946 h 946755"/>
                <a:gd name="connsiteX5-121" fmla="*/ 3195282 w 3640627"/>
                <a:gd name="connsiteY5-122" fmla="*/ 461874 h 946755"/>
                <a:gd name="connsiteX6-123" fmla="*/ 3008465 w 3640627"/>
                <a:gd name="connsiteY6-124" fmla="*/ 402404 h 946755"/>
                <a:gd name="connsiteX7-125" fmla="*/ 1876873 w 3640627"/>
                <a:gd name="connsiteY7-126" fmla="*/ 946755 h 946755"/>
                <a:gd name="connsiteX8-127" fmla="*/ 690067 w 3640627"/>
                <a:gd name="connsiteY8-128" fmla="*/ 412387 h 946755"/>
                <a:gd name="connsiteX9-129" fmla="*/ 523214 w 3640627"/>
                <a:gd name="connsiteY9-130" fmla="*/ 482971 h 946755"/>
                <a:gd name="connsiteX10-131" fmla="*/ 0 w 3640627"/>
                <a:gd name="connsiteY10-132" fmla="*/ 242051 h 946755"/>
                <a:gd name="connsiteX0-133" fmla="*/ 0 w 3723451"/>
                <a:gd name="connsiteY0-134" fmla="*/ 242051 h 946755"/>
                <a:gd name="connsiteX1-135" fmla="*/ 655168 w 3723451"/>
                <a:gd name="connsiteY1-136" fmla="*/ 16495 h 946755"/>
                <a:gd name="connsiteX2-137" fmla="*/ 1855778 w 3723451"/>
                <a:gd name="connsiteY2-138" fmla="*/ 534367 h 946755"/>
                <a:gd name="connsiteX3-139" fmla="*/ 2964363 w 3723451"/>
                <a:gd name="connsiteY3-140" fmla="*/ 0 h 946755"/>
                <a:gd name="connsiteX4-141" fmla="*/ 3723451 w 3723451"/>
                <a:gd name="connsiteY4-142" fmla="*/ 220954 h 946755"/>
                <a:gd name="connsiteX5-143" fmla="*/ 3195282 w 3723451"/>
                <a:gd name="connsiteY5-144" fmla="*/ 461874 h 946755"/>
                <a:gd name="connsiteX6-145" fmla="*/ 3008465 w 3723451"/>
                <a:gd name="connsiteY6-146" fmla="*/ 402404 h 946755"/>
                <a:gd name="connsiteX7-147" fmla="*/ 1876873 w 3723451"/>
                <a:gd name="connsiteY7-148" fmla="*/ 946755 h 946755"/>
                <a:gd name="connsiteX8-149" fmla="*/ 690067 w 3723451"/>
                <a:gd name="connsiteY8-150" fmla="*/ 412387 h 946755"/>
                <a:gd name="connsiteX9-151" fmla="*/ 523214 w 3723451"/>
                <a:gd name="connsiteY9-152" fmla="*/ 482971 h 946755"/>
                <a:gd name="connsiteX10-153" fmla="*/ 0 w 3723451"/>
                <a:gd name="connsiteY10-154" fmla="*/ 242051 h 946755"/>
                <a:gd name="connsiteX0-155" fmla="*/ 0 w 3723451"/>
                <a:gd name="connsiteY0-156" fmla="*/ 228246 h 932950"/>
                <a:gd name="connsiteX1-157" fmla="*/ 655168 w 3723451"/>
                <a:gd name="connsiteY1-158" fmla="*/ 2690 h 932950"/>
                <a:gd name="connsiteX2-159" fmla="*/ 1855778 w 3723451"/>
                <a:gd name="connsiteY2-160" fmla="*/ 520562 h 932950"/>
                <a:gd name="connsiteX3-161" fmla="*/ 3001174 w 3723451"/>
                <a:gd name="connsiteY3-162" fmla="*/ 0 h 932950"/>
                <a:gd name="connsiteX4-163" fmla="*/ 3723451 w 3723451"/>
                <a:gd name="connsiteY4-164" fmla="*/ 207149 h 932950"/>
                <a:gd name="connsiteX5-165" fmla="*/ 3195282 w 3723451"/>
                <a:gd name="connsiteY5-166" fmla="*/ 448069 h 932950"/>
                <a:gd name="connsiteX6-167" fmla="*/ 3008465 w 3723451"/>
                <a:gd name="connsiteY6-168" fmla="*/ 388599 h 932950"/>
                <a:gd name="connsiteX7-169" fmla="*/ 1876873 w 3723451"/>
                <a:gd name="connsiteY7-170" fmla="*/ 932950 h 932950"/>
                <a:gd name="connsiteX8-171" fmla="*/ 690067 w 3723451"/>
                <a:gd name="connsiteY8-172" fmla="*/ 398582 h 932950"/>
                <a:gd name="connsiteX9-173" fmla="*/ 523214 w 3723451"/>
                <a:gd name="connsiteY9-174" fmla="*/ 469166 h 932950"/>
                <a:gd name="connsiteX10-175" fmla="*/ 0 w 3723451"/>
                <a:gd name="connsiteY10-176" fmla="*/ 228246 h 932950"/>
                <a:gd name="connsiteX0-177" fmla="*/ 0 w 3723451"/>
                <a:gd name="connsiteY0-178" fmla="*/ 228246 h 932950"/>
                <a:gd name="connsiteX1-179" fmla="*/ 655168 w 3723451"/>
                <a:gd name="connsiteY1-180" fmla="*/ 2690 h 932950"/>
                <a:gd name="connsiteX2-181" fmla="*/ 1855778 w 3723451"/>
                <a:gd name="connsiteY2-182" fmla="*/ 520562 h 932950"/>
                <a:gd name="connsiteX3-183" fmla="*/ 3001174 w 3723451"/>
                <a:gd name="connsiteY3-184" fmla="*/ 0 h 932950"/>
                <a:gd name="connsiteX4-185" fmla="*/ 3723451 w 3723451"/>
                <a:gd name="connsiteY4-186" fmla="*/ 207149 h 932950"/>
                <a:gd name="connsiteX5-187" fmla="*/ 3195282 w 3723451"/>
                <a:gd name="connsiteY5-188" fmla="*/ 448069 h 932950"/>
                <a:gd name="connsiteX6-189" fmla="*/ 3013067 w 3723451"/>
                <a:gd name="connsiteY6-190" fmla="*/ 393200 h 932950"/>
                <a:gd name="connsiteX7-191" fmla="*/ 1876873 w 3723451"/>
                <a:gd name="connsiteY7-192" fmla="*/ 932950 h 932950"/>
                <a:gd name="connsiteX8-193" fmla="*/ 690067 w 3723451"/>
                <a:gd name="connsiteY8-194" fmla="*/ 398582 h 932950"/>
                <a:gd name="connsiteX9-195" fmla="*/ 523214 w 3723451"/>
                <a:gd name="connsiteY9-196" fmla="*/ 469166 h 932950"/>
                <a:gd name="connsiteX10-197" fmla="*/ 0 w 3723451"/>
                <a:gd name="connsiteY10-198" fmla="*/ 228246 h 932950"/>
                <a:gd name="connsiteX0-199" fmla="*/ 0 w 3723451"/>
                <a:gd name="connsiteY0-200" fmla="*/ 228246 h 932950"/>
                <a:gd name="connsiteX1-201" fmla="*/ 655168 w 3723451"/>
                <a:gd name="connsiteY1-202" fmla="*/ 2690 h 932950"/>
                <a:gd name="connsiteX2-203" fmla="*/ 1855778 w 3723451"/>
                <a:gd name="connsiteY2-204" fmla="*/ 520562 h 932950"/>
                <a:gd name="connsiteX3-205" fmla="*/ 3001174 w 3723451"/>
                <a:gd name="connsiteY3-206" fmla="*/ 0 h 932950"/>
                <a:gd name="connsiteX4-207" fmla="*/ 3723451 w 3723451"/>
                <a:gd name="connsiteY4-208" fmla="*/ 207149 h 932950"/>
                <a:gd name="connsiteX5-209" fmla="*/ 3186079 w 3723451"/>
                <a:gd name="connsiteY5-210" fmla="*/ 461874 h 932950"/>
                <a:gd name="connsiteX6-211" fmla="*/ 3013067 w 3723451"/>
                <a:gd name="connsiteY6-212" fmla="*/ 393200 h 932950"/>
                <a:gd name="connsiteX7-213" fmla="*/ 1876873 w 3723451"/>
                <a:gd name="connsiteY7-214" fmla="*/ 932950 h 932950"/>
                <a:gd name="connsiteX8-215" fmla="*/ 690067 w 3723451"/>
                <a:gd name="connsiteY8-216" fmla="*/ 398582 h 932950"/>
                <a:gd name="connsiteX9-217" fmla="*/ 523214 w 3723451"/>
                <a:gd name="connsiteY9-218" fmla="*/ 469166 h 932950"/>
                <a:gd name="connsiteX10-219" fmla="*/ 0 w 3723451"/>
                <a:gd name="connsiteY10-220" fmla="*/ 228246 h 932950"/>
                <a:gd name="connsiteX0-221" fmla="*/ 0 w 3723451"/>
                <a:gd name="connsiteY0-222" fmla="*/ 228246 h 932950"/>
                <a:gd name="connsiteX1-223" fmla="*/ 655168 w 3723451"/>
                <a:gd name="connsiteY1-224" fmla="*/ 2690 h 932950"/>
                <a:gd name="connsiteX2-225" fmla="*/ 1855778 w 3723451"/>
                <a:gd name="connsiteY2-226" fmla="*/ 520562 h 932950"/>
                <a:gd name="connsiteX3-227" fmla="*/ 3001174 w 3723451"/>
                <a:gd name="connsiteY3-228" fmla="*/ 0 h 932950"/>
                <a:gd name="connsiteX4-229" fmla="*/ 3723451 w 3723451"/>
                <a:gd name="connsiteY4-230" fmla="*/ 207149 h 932950"/>
                <a:gd name="connsiteX5-231" fmla="*/ 3186079 w 3723451"/>
                <a:gd name="connsiteY5-232" fmla="*/ 461874 h 932950"/>
                <a:gd name="connsiteX6-233" fmla="*/ 3013067 w 3723451"/>
                <a:gd name="connsiteY6-234" fmla="*/ 393200 h 932950"/>
                <a:gd name="connsiteX7-235" fmla="*/ 1876873 w 3723451"/>
                <a:gd name="connsiteY7-236" fmla="*/ 932950 h 932950"/>
                <a:gd name="connsiteX8-237" fmla="*/ 711613 w 3723451"/>
                <a:gd name="connsiteY8-238" fmla="*/ 413055 h 932950"/>
                <a:gd name="connsiteX9-239" fmla="*/ 523214 w 3723451"/>
                <a:gd name="connsiteY9-240" fmla="*/ 469166 h 932950"/>
                <a:gd name="connsiteX10-241" fmla="*/ 0 w 3723451"/>
                <a:gd name="connsiteY10-242" fmla="*/ 228246 h 9329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7" name="Freeform 28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1" fmla="*/ 4602 w 1371198"/>
                <a:gd name="connsiteY0-2" fmla="*/ 0 h 800665"/>
                <a:gd name="connsiteX1-3" fmla="*/ 1371198 w 1371198"/>
                <a:gd name="connsiteY1-4" fmla="*/ 625807 h 800665"/>
                <a:gd name="connsiteX2-5" fmla="*/ 897260 w 1371198"/>
                <a:gd name="connsiteY2-6" fmla="*/ 800665 h 800665"/>
                <a:gd name="connsiteX3-7" fmla="*/ 0 w 1371198"/>
                <a:gd name="connsiteY3-8" fmla="*/ 404934 h 800665"/>
                <a:gd name="connsiteX4-9" fmla="*/ 4602 w 1371198"/>
                <a:gd name="connsiteY4-10" fmla="*/ 0 h 800665"/>
                <a:gd name="connsiteX0-11" fmla="*/ 0 w 1366596"/>
                <a:gd name="connsiteY0-12" fmla="*/ 0 h 800665"/>
                <a:gd name="connsiteX1-13" fmla="*/ 1366596 w 1366596"/>
                <a:gd name="connsiteY1-14" fmla="*/ 625807 h 800665"/>
                <a:gd name="connsiteX2-15" fmla="*/ 892658 w 1366596"/>
                <a:gd name="connsiteY2-16" fmla="*/ 800665 h 800665"/>
                <a:gd name="connsiteX3-17" fmla="*/ 4601 w 1366596"/>
                <a:gd name="connsiteY3-18" fmla="*/ 427942 h 800665"/>
                <a:gd name="connsiteX4-19" fmla="*/ 0 w 1366596"/>
                <a:gd name="connsiteY4-20" fmla="*/ 0 h 800665"/>
                <a:gd name="connsiteX0-21" fmla="*/ 0 w 1366596"/>
                <a:gd name="connsiteY0-22" fmla="*/ 0 h 800665"/>
                <a:gd name="connsiteX1-23" fmla="*/ 1366596 w 1366596"/>
                <a:gd name="connsiteY1-24" fmla="*/ 625807 h 800665"/>
                <a:gd name="connsiteX2-25" fmla="*/ 892658 w 1366596"/>
                <a:gd name="connsiteY2-26" fmla="*/ 800665 h 800665"/>
                <a:gd name="connsiteX3-27" fmla="*/ 4601 w 1366596"/>
                <a:gd name="connsiteY3-28" fmla="*/ 427942 h 800665"/>
                <a:gd name="connsiteX4-29" fmla="*/ 0 w 1366596"/>
                <a:gd name="connsiteY4-30" fmla="*/ 0 h 800665"/>
                <a:gd name="connsiteX0-31" fmla="*/ 0 w 1366596"/>
                <a:gd name="connsiteY0-32" fmla="*/ 0 h 800665"/>
                <a:gd name="connsiteX1-33" fmla="*/ 1366596 w 1366596"/>
                <a:gd name="connsiteY1-34" fmla="*/ 625807 h 800665"/>
                <a:gd name="connsiteX2-35" fmla="*/ 892658 w 1366596"/>
                <a:gd name="connsiteY2-36" fmla="*/ 800665 h 800665"/>
                <a:gd name="connsiteX3-37" fmla="*/ 4601 w 1366596"/>
                <a:gd name="connsiteY3-38" fmla="*/ 427942 h 800665"/>
                <a:gd name="connsiteX4-39" fmla="*/ 0 w 1366596"/>
                <a:gd name="connsiteY4-40" fmla="*/ 0 h 800665"/>
                <a:gd name="connsiteX0-41" fmla="*/ 0 w 1366596"/>
                <a:gd name="connsiteY0-42" fmla="*/ 0 h 809868"/>
                <a:gd name="connsiteX1-43" fmla="*/ 1366596 w 1366596"/>
                <a:gd name="connsiteY1-44" fmla="*/ 625807 h 809868"/>
                <a:gd name="connsiteX2-45" fmla="*/ 865050 w 1366596"/>
                <a:gd name="connsiteY2-46" fmla="*/ 809868 h 809868"/>
                <a:gd name="connsiteX3-47" fmla="*/ 4601 w 1366596"/>
                <a:gd name="connsiteY3-48" fmla="*/ 427942 h 809868"/>
                <a:gd name="connsiteX4-49" fmla="*/ 0 w 1366596"/>
                <a:gd name="connsiteY4-50" fmla="*/ 0 h 80986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8" name="Freeform 28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1" fmla="*/ 1329786 w 1348191"/>
                <a:gd name="connsiteY0-2" fmla="*/ 0 h 791462"/>
                <a:gd name="connsiteX1-3" fmla="*/ 1348191 w 1348191"/>
                <a:gd name="connsiteY1-4" fmla="*/ 381926 h 791462"/>
                <a:gd name="connsiteX2-5" fmla="*/ 487742 w 1348191"/>
                <a:gd name="connsiteY2-6" fmla="*/ 791462 h 791462"/>
                <a:gd name="connsiteX3-7" fmla="*/ 0 w 1348191"/>
                <a:gd name="connsiteY3-8" fmla="*/ 612002 h 791462"/>
                <a:gd name="connsiteX4-9" fmla="*/ 1329786 w 1348191"/>
                <a:gd name="connsiteY4-10" fmla="*/ 0 h 791462"/>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9" name="Straight Connector 288"/>
            <p:cNvCxnSpPr>
              <a:endCxn id="28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0" name="Straight Connector 28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293" name="Slide Number Placeholder 5"/>
          <p:cNvSpPr>
            <a:spLocks noGrp="1"/>
          </p:cNvSpPr>
          <p:nvPr>
            <p:ph type="sldNum" sz="quarter" idx="12"/>
          </p:nvPr>
        </p:nvSpPr>
        <p:spPr>
          <a:xfrm>
            <a:off x="8456295" y="6475730"/>
            <a:ext cx="63246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121</a:t>
            </a:fld>
            <a:endParaRPr lang="en-US" sz="1200" dirty="0">
              <a:latin typeface="Tahoma" panose="020B0604030504040204" charset="0"/>
            </a:endParaRPr>
          </a:p>
        </p:txBody>
      </p:sp>
      <p:sp>
        <p:nvSpPr>
          <p:cNvPr id="294"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down)">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69" name="Picture 16"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3725" y="822325"/>
            <a:ext cx="7313613" cy="173038"/>
          </a:xfrm>
          <a:prstGeom prst="rect">
            <a:avLst/>
          </a:prstGeom>
          <a:noFill/>
          <a:ln>
            <a:noFill/>
          </a:ln>
        </p:spPr>
      </p:pic>
      <p:sp>
        <p:nvSpPr>
          <p:cNvPr id="67586" name="Rectangle 2"/>
          <p:cNvSpPr>
            <a:spLocks noGrp="1" noChangeArrowheads="1"/>
          </p:cNvSpPr>
          <p:nvPr>
            <p:ph type="title"/>
          </p:nvPr>
        </p:nvSpPr>
        <p:spPr>
          <a:xfrm>
            <a:off x="533400" y="0"/>
            <a:ext cx="7772400" cy="1143000"/>
          </a:xfrm>
        </p:spPr>
        <p:txBody>
          <a:bodyPr/>
          <a:lstStyle/>
          <a:p>
            <a:pPr>
              <a:defRPr/>
            </a:pPr>
            <a:r>
              <a:rPr lang="en-US" sz="4000" dirty="0"/>
              <a:t>SNMP protocol: message types</a:t>
            </a:r>
          </a:p>
        </p:txBody>
      </p:sp>
      <p:sp>
        <p:nvSpPr>
          <p:cNvPr id="67699" name="Text Box 115"/>
          <p:cNvSpPr txBox="1">
            <a:spLocks noChangeArrowheads="1"/>
          </p:cNvSpPr>
          <p:nvPr/>
        </p:nvSpPr>
        <p:spPr bwMode="auto">
          <a:xfrm>
            <a:off x="506413" y="1806575"/>
            <a:ext cx="2468562" cy="1200150"/>
          </a:xfrm>
          <a:prstGeom prst="rect">
            <a:avLst/>
          </a:prstGeom>
          <a:noFill/>
          <a:ln>
            <a:noFill/>
          </a:ln>
          <a:effectLst/>
        </p:spPr>
        <p:txBody>
          <a:bodyPr wrap="none">
            <a:spAutoFit/>
          </a:bodyPr>
          <a:lstStyle/>
          <a:p>
            <a:pPr algn="r">
              <a:defRPr/>
            </a:pPr>
            <a:r>
              <a:rPr lang="en-US">
                <a:latin typeface="Arial" panose="020B0604020202090204"/>
                <a:cs typeface="Arial" panose="020B0604020202090204"/>
              </a:rPr>
              <a:t>GetRequest</a:t>
            </a:r>
          </a:p>
          <a:p>
            <a:pPr algn="r">
              <a:defRPr/>
            </a:pPr>
            <a:r>
              <a:rPr lang="en-US">
                <a:latin typeface="Arial" panose="020B0604020202090204"/>
                <a:cs typeface="Arial" panose="020B0604020202090204"/>
              </a:rPr>
              <a:t>GetNextRequest</a:t>
            </a:r>
          </a:p>
          <a:p>
            <a:pPr algn="r">
              <a:defRPr/>
            </a:pPr>
            <a:r>
              <a:rPr lang="en-US">
                <a:latin typeface="Arial" panose="020B0604020202090204"/>
                <a:cs typeface="Arial" panose="020B0604020202090204"/>
              </a:rPr>
              <a:t>GetBulkRequest</a:t>
            </a:r>
          </a:p>
        </p:txBody>
      </p:sp>
      <p:sp>
        <p:nvSpPr>
          <p:cNvPr id="67700" name="Text Box 116"/>
          <p:cNvSpPr txBox="1">
            <a:spLocks noChangeArrowheads="1"/>
          </p:cNvSpPr>
          <p:nvPr/>
        </p:nvSpPr>
        <p:spPr bwMode="auto">
          <a:xfrm>
            <a:off x="3453732" y="1971675"/>
            <a:ext cx="4816756" cy="646331"/>
          </a:xfrm>
          <a:prstGeom prst="rect">
            <a:avLst/>
          </a:prstGeom>
          <a:noFill/>
          <a:ln>
            <a:noFill/>
          </a:ln>
          <a:effectLst/>
        </p:spPr>
        <p:txBody>
          <a:bodyPr wrap="none">
            <a:spAutoFit/>
          </a:bodyPr>
          <a:lstStyle/>
          <a:p>
            <a:pPr algn="l">
              <a:defRPr/>
            </a:pPr>
            <a:r>
              <a:rPr lang="en-US" dirty="0">
                <a:latin typeface="Arial" panose="020B0604020202090204"/>
                <a:cs typeface="Arial" panose="020B0604020202090204"/>
              </a:rPr>
              <a:t>manager-to-agent: </a:t>
            </a:r>
            <a:r>
              <a:rPr lang="ja-JP" altLang="en-US" dirty="0">
                <a:latin typeface="Arial" panose="020B0604020202090204"/>
                <a:cs typeface="Arial" panose="020B0604020202090204"/>
              </a:rPr>
              <a:t>“</a:t>
            </a:r>
            <a:r>
              <a:rPr lang="en-US" dirty="0">
                <a:latin typeface="Arial" panose="020B0604020202090204"/>
                <a:cs typeface="Arial" panose="020B0604020202090204"/>
              </a:rPr>
              <a:t>get me data</a:t>
            </a:r>
            <a:r>
              <a:rPr lang="ja-JP" altLang="en-US" dirty="0">
                <a:latin typeface="Arial" panose="020B0604020202090204"/>
                <a:cs typeface="Arial" panose="020B0604020202090204"/>
              </a:rPr>
              <a:t>”</a:t>
            </a:r>
            <a:endParaRPr lang="en-US" dirty="0">
              <a:latin typeface="Arial" panose="020B0604020202090204"/>
              <a:cs typeface="Arial" panose="020B0604020202090204"/>
            </a:endParaRPr>
          </a:p>
          <a:p>
            <a:pPr algn="l">
              <a:defRPr/>
            </a:pPr>
            <a:r>
              <a:rPr lang="en-US" dirty="0">
                <a:latin typeface="Arial" panose="020B0604020202090204"/>
                <a:cs typeface="Arial" panose="020B0604020202090204"/>
              </a:rPr>
              <a:t>(data instance, next data in list, block of data)</a:t>
            </a:r>
          </a:p>
        </p:txBody>
      </p:sp>
      <p:sp>
        <p:nvSpPr>
          <p:cNvPr id="67702" name="Text Box 118"/>
          <p:cNvSpPr txBox="1">
            <a:spLocks noChangeArrowheads="1"/>
          </p:cNvSpPr>
          <p:nvPr/>
        </p:nvSpPr>
        <p:spPr bwMode="auto">
          <a:xfrm>
            <a:off x="568325" y="1265238"/>
            <a:ext cx="2419350" cy="523875"/>
          </a:xfrm>
          <a:prstGeom prst="rect">
            <a:avLst/>
          </a:prstGeom>
          <a:noFill/>
          <a:ln>
            <a:noFill/>
          </a:ln>
          <a:effectLst/>
        </p:spPr>
        <p:txBody>
          <a:bodyPr wrap="none">
            <a:spAutoFit/>
          </a:bodyPr>
          <a:lstStyle/>
          <a:p>
            <a:pPr algn="r">
              <a:defRPr/>
            </a:pPr>
            <a:r>
              <a:rPr lang="en-US" sz="2800" u="sng" dirty="0">
                <a:solidFill>
                  <a:srgbClr val="CC0000"/>
                </a:solidFill>
                <a:latin typeface="Arial" panose="020B0604020202090204"/>
                <a:cs typeface="Arial" panose="020B0604020202090204"/>
              </a:rPr>
              <a:t>Message type</a:t>
            </a:r>
            <a:endParaRPr lang="en-US" sz="2800" dirty="0">
              <a:solidFill>
                <a:srgbClr val="CC0000"/>
              </a:solidFill>
              <a:latin typeface="Arial" panose="020B0604020202090204"/>
              <a:cs typeface="Arial" panose="020B0604020202090204"/>
            </a:endParaRPr>
          </a:p>
        </p:txBody>
      </p:sp>
      <p:sp>
        <p:nvSpPr>
          <p:cNvPr id="67703" name="Text Box 119"/>
          <p:cNvSpPr txBox="1">
            <a:spLocks noChangeArrowheads="1"/>
          </p:cNvSpPr>
          <p:nvPr/>
        </p:nvSpPr>
        <p:spPr bwMode="auto">
          <a:xfrm>
            <a:off x="3614738" y="1263650"/>
            <a:ext cx="1562100" cy="523875"/>
          </a:xfrm>
          <a:prstGeom prst="rect">
            <a:avLst/>
          </a:prstGeom>
          <a:noFill/>
          <a:ln>
            <a:noFill/>
          </a:ln>
          <a:effectLst/>
        </p:spPr>
        <p:txBody>
          <a:bodyPr wrap="none">
            <a:spAutoFit/>
          </a:bodyPr>
          <a:lstStyle/>
          <a:p>
            <a:pPr algn="l">
              <a:defRPr/>
            </a:pPr>
            <a:r>
              <a:rPr lang="en-US" sz="2800" u="sng" dirty="0">
                <a:solidFill>
                  <a:srgbClr val="CC0000"/>
                </a:solidFill>
                <a:latin typeface="Arial" panose="020B0604020202090204"/>
                <a:cs typeface="Arial" panose="020B0604020202090204"/>
              </a:rPr>
              <a:t>Function</a:t>
            </a:r>
            <a:endParaRPr lang="en-US" sz="2800" dirty="0">
              <a:solidFill>
                <a:srgbClr val="CC0000"/>
              </a:solidFill>
              <a:latin typeface="Arial" panose="020B0604020202090204"/>
              <a:cs typeface="Arial" panose="020B0604020202090204"/>
            </a:endParaRPr>
          </a:p>
        </p:txBody>
      </p:sp>
      <p:sp>
        <p:nvSpPr>
          <p:cNvPr id="67704" name="Line 120"/>
          <p:cNvSpPr>
            <a:spLocks noChangeShapeType="1"/>
          </p:cNvSpPr>
          <p:nvPr/>
        </p:nvSpPr>
        <p:spPr bwMode="auto">
          <a:xfrm>
            <a:off x="1330325" y="3081338"/>
            <a:ext cx="5373688" cy="0"/>
          </a:xfrm>
          <a:prstGeom prst="line">
            <a:avLst/>
          </a:prstGeom>
          <a:noFill/>
          <a:ln w="12700">
            <a:solidFill>
              <a:srgbClr val="FF0000"/>
            </a:solidFill>
            <a:round/>
          </a:ln>
          <a:effectLst/>
        </p:spPr>
        <p:txBody>
          <a:bodyPr wrap="none" anchor="ctr"/>
          <a:lstStyle/>
          <a:p>
            <a:pPr>
              <a:defRPr/>
            </a:pPr>
            <a:endParaRPr lang="en-US">
              <a:latin typeface="Arial" panose="020B0604020202090204"/>
              <a:cs typeface="Arial" panose="020B0604020202090204"/>
            </a:endParaRPr>
          </a:p>
        </p:txBody>
      </p:sp>
      <p:sp>
        <p:nvSpPr>
          <p:cNvPr id="67705" name="Text Box 121"/>
          <p:cNvSpPr txBox="1">
            <a:spLocks noChangeArrowheads="1"/>
          </p:cNvSpPr>
          <p:nvPr/>
        </p:nvSpPr>
        <p:spPr bwMode="auto">
          <a:xfrm>
            <a:off x="361950" y="3225800"/>
            <a:ext cx="2578100" cy="457200"/>
          </a:xfrm>
          <a:prstGeom prst="rect">
            <a:avLst/>
          </a:prstGeom>
          <a:noFill/>
          <a:ln>
            <a:noFill/>
          </a:ln>
          <a:effectLst/>
        </p:spPr>
        <p:txBody>
          <a:bodyPr>
            <a:spAutoFit/>
          </a:bodyPr>
          <a:lstStyle/>
          <a:p>
            <a:pPr algn="r">
              <a:defRPr/>
            </a:pPr>
            <a:r>
              <a:rPr lang="en-US">
                <a:latin typeface="Arial" panose="020B0604020202090204"/>
                <a:cs typeface="Arial" panose="020B0604020202090204"/>
              </a:rPr>
              <a:t>InformRequest</a:t>
            </a:r>
          </a:p>
        </p:txBody>
      </p:sp>
      <p:sp>
        <p:nvSpPr>
          <p:cNvPr id="67706" name="Text Box 122"/>
          <p:cNvSpPr txBox="1">
            <a:spLocks noChangeArrowheads="1"/>
          </p:cNvSpPr>
          <p:nvPr/>
        </p:nvSpPr>
        <p:spPr bwMode="auto">
          <a:xfrm>
            <a:off x="3537786" y="3240088"/>
            <a:ext cx="4508500" cy="369332"/>
          </a:xfrm>
          <a:prstGeom prst="rect">
            <a:avLst/>
          </a:prstGeom>
          <a:noFill/>
          <a:ln>
            <a:noFill/>
          </a:ln>
          <a:effectLst/>
        </p:spPr>
        <p:txBody>
          <a:bodyPr>
            <a:spAutoFit/>
          </a:bodyPr>
          <a:lstStyle/>
          <a:p>
            <a:pPr>
              <a:defRPr/>
            </a:pPr>
            <a:r>
              <a:rPr lang="en-US" dirty="0">
                <a:latin typeface="Arial" panose="020B0604020202090204"/>
                <a:cs typeface="Arial" panose="020B0604020202090204"/>
              </a:rPr>
              <a:t>manager-to-manager: here</a:t>
            </a:r>
            <a:r>
              <a:rPr lang="ja-JP" altLang="en-US" dirty="0">
                <a:latin typeface="Arial" panose="020B0604020202090204"/>
                <a:cs typeface="Arial" panose="020B0604020202090204"/>
              </a:rPr>
              <a:t>’</a:t>
            </a:r>
            <a:r>
              <a:rPr lang="en-US" dirty="0">
                <a:latin typeface="Arial" panose="020B0604020202090204"/>
                <a:cs typeface="Arial" panose="020B0604020202090204"/>
              </a:rPr>
              <a:t>s MIB value</a:t>
            </a:r>
          </a:p>
        </p:txBody>
      </p:sp>
      <p:sp>
        <p:nvSpPr>
          <p:cNvPr id="67707" name="Line 123"/>
          <p:cNvSpPr>
            <a:spLocks noChangeShapeType="1"/>
          </p:cNvSpPr>
          <p:nvPr/>
        </p:nvSpPr>
        <p:spPr bwMode="auto">
          <a:xfrm>
            <a:off x="1363663" y="3797300"/>
            <a:ext cx="5373687" cy="0"/>
          </a:xfrm>
          <a:prstGeom prst="line">
            <a:avLst/>
          </a:prstGeom>
          <a:noFill/>
          <a:ln w="12700">
            <a:solidFill>
              <a:srgbClr val="FF0000"/>
            </a:solidFill>
            <a:round/>
          </a:ln>
          <a:effectLst/>
        </p:spPr>
        <p:txBody>
          <a:bodyPr wrap="none" anchor="ctr"/>
          <a:lstStyle/>
          <a:p>
            <a:pPr>
              <a:defRPr/>
            </a:pPr>
            <a:endParaRPr lang="en-US">
              <a:latin typeface="Arial" panose="020B0604020202090204"/>
              <a:cs typeface="Arial" panose="020B0604020202090204"/>
            </a:endParaRPr>
          </a:p>
        </p:txBody>
      </p:sp>
      <p:sp>
        <p:nvSpPr>
          <p:cNvPr id="67708" name="Text Box 124"/>
          <p:cNvSpPr txBox="1">
            <a:spLocks noChangeArrowheads="1"/>
          </p:cNvSpPr>
          <p:nvPr/>
        </p:nvSpPr>
        <p:spPr bwMode="auto">
          <a:xfrm>
            <a:off x="417513" y="3886200"/>
            <a:ext cx="2578100" cy="457200"/>
          </a:xfrm>
          <a:prstGeom prst="rect">
            <a:avLst/>
          </a:prstGeom>
          <a:noFill/>
          <a:ln>
            <a:noFill/>
          </a:ln>
          <a:effectLst/>
        </p:spPr>
        <p:txBody>
          <a:bodyPr>
            <a:spAutoFit/>
          </a:bodyPr>
          <a:lstStyle/>
          <a:p>
            <a:pPr algn="r">
              <a:defRPr/>
            </a:pPr>
            <a:r>
              <a:rPr lang="en-US">
                <a:latin typeface="Arial" panose="020B0604020202090204"/>
                <a:cs typeface="Arial" panose="020B0604020202090204"/>
              </a:rPr>
              <a:t>SetRequest</a:t>
            </a:r>
          </a:p>
        </p:txBody>
      </p:sp>
      <p:sp>
        <p:nvSpPr>
          <p:cNvPr id="67709" name="Text Box 125"/>
          <p:cNvSpPr txBox="1">
            <a:spLocks noChangeArrowheads="1"/>
          </p:cNvSpPr>
          <p:nvPr/>
        </p:nvSpPr>
        <p:spPr bwMode="auto">
          <a:xfrm>
            <a:off x="3557923" y="3921794"/>
            <a:ext cx="4273550" cy="369332"/>
          </a:xfrm>
          <a:prstGeom prst="rect">
            <a:avLst/>
          </a:prstGeom>
          <a:noFill/>
          <a:ln>
            <a:noFill/>
          </a:ln>
          <a:effectLst/>
        </p:spPr>
        <p:txBody>
          <a:bodyPr>
            <a:spAutoFit/>
          </a:bodyPr>
          <a:lstStyle/>
          <a:p>
            <a:pPr>
              <a:defRPr/>
            </a:pPr>
            <a:r>
              <a:rPr lang="en-US" dirty="0">
                <a:latin typeface="Arial" panose="020B0604020202090204"/>
                <a:cs typeface="Arial" panose="020B0604020202090204"/>
              </a:rPr>
              <a:t>manager-to-agent: set MIB value</a:t>
            </a:r>
          </a:p>
        </p:txBody>
      </p:sp>
      <p:sp>
        <p:nvSpPr>
          <p:cNvPr id="67710" name="Line 126"/>
          <p:cNvSpPr>
            <a:spLocks noChangeShapeType="1"/>
          </p:cNvSpPr>
          <p:nvPr/>
        </p:nvSpPr>
        <p:spPr bwMode="auto">
          <a:xfrm>
            <a:off x="1327150" y="4491038"/>
            <a:ext cx="5373688" cy="0"/>
          </a:xfrm>
          <a:prstGeom prst="line">
            <a:avLst/>
          </a:prstGeom>
          <a:noFill/>
          <a:ln w="12700">
            <a:solidFill>
              <a:srgbClr val="FF0000"/>
            </a:solidFill>
            <a:round/>
          </a:ln>
          <a:effectLst/>
        </p:spPr>
        <p:txBody>
          <a:bodyPr wrap="none" anchor="ctr"/>
          <a:lstStyle/>
          <a:p>
            <a:pPr>
              <a:defRPr/>
            </a:pPr>
            <a:endParaRPr lang="en-US">
              <a:latin typeface="Arial" panose="020B0604020202090204"/>
              <a:cs typeface="Arial" panose="020B0604020202090204"/>
            </a:endParaRPr>
          </a:p>
        </p:txBody>
      </p:sp>
      <p:sp>
        <p:nvSpPr>
          <p:cNvPr id="67711" name="Text Box 127"/>
          <p:cNvSpPr txBox="1">
            <a:spLocks noChangeArrowheads="1"/>
          </p:cNvSpPr>
          <p:nvPr/>
        </p:nvSpPr>
        <p:spPr bwMode="auto">
          <a:xfrm>
            <a:off x="395288" y="4675188"/>
            <a:ext cx="2578100" cy="457200"/>
          </a:xfrm>
          <a:prstGeom prst="rect">
            <a:avLst/>
          </a:prstGeom>
          <a:noFill/>
          <a:ln>
            <a:noFill/>
          </a:ln>
          <a:effectLst/>
        </p:spPr>
        <p:txBody>
          <a:bodyPr>
            <a:spAutoFit/>
          </a:bodyPr>
          <a:lstStyle/>
          <a:p>
            <a:pPr algn="r">
              <a:defRPr/>
            </a:pPr>
            <a:r>
              <a:rPr lang="en-US">
                <a:latin typeface="Arial" panose="020B0604020202090204"/>
                <a:cs typeface="Arial" panose="020B0604020202090204"/>
              </a:rPr>
              <a:t>Response</a:t>
            </a:r>
          </a:p>
        </p:txBody>
      </p:sp>
      <p:sp>
        <p:nvSpPr>
          <p:cNvPr id="67712" name="Text Box 128"/>
          <p:cNvSpPr txBox="1">
            <a:spLocks noChangeArrowheads="1"/>
          </p:cNvSpPr>
          <p:nvPr/>
        </p:nvSpPr>
        <p:spPr bwMode="auto">
          <a:xfrm>
            <a:off x="3516313" y="4578350"/>
            <a:ext cx="4237371" cy="646331"/>
          </a:xfrm>
          <a:prstGeom prst="rect">
            <a:avLst/>
          </a:prstGeom>
          <a:noFill/>
          <a:ln>
            <a:noFill/>
          </a:ln>
          <a:effectLst/>
        </p:spPr>
        <p:txBody>
          <a:bodyPr wrap="square">
            <a:spAutoFit/>
          </a:bodyPr>
          <a:lstStyle/>
          <a:p>
            <a:pPr algn="l">
              <a:defRPr/>
            </a:pPr>
            <a:r>
              <a:rPr lang="en-US" dirty="0">
                <a:latin typeface="Arial" panose="020B0604020202090204"/>
                <a:cs typeface="Arial" panose="020B0604020202090204"/>
              </a:rPr>
              <a:t>Agent-to-manager: value, response to </a:t>
            </a:r>
          </a:p>
          <a:p>
            <a:pPr algn="l">
              <a:defRPr/>
            </a:pPr>
            <a:r>
              <a:rPr lang="en-US" dirty="0">
                <a:latin typeface="Arial" panose="020B0604020202090204"/>
                <a:cs typeface="Arial" panose="020B0604020202090204"/>
              </a:rPr>
              <a:t>Request</a:t>
            </a:r>
          </a:p>
        </p:txBody>
      </p:sp>
      <p:sp>
        <p:nvSpPr>
          <p:cNvPr id="67713" name="Line 129"/>
          <p:cNvSpPr>
            <a:spLocks noChangeShapeType="1"/>
          </p:cNvSpPr>
          <p:nvPr/>
        </p:nvSpPr>
        <p:spPr bwMode="auto">
          <a:xfrm>
            <a:off x="1387475" y="5407025"/>
            <a:ext cx="5373688" cy="0"/>
          </a:xfrm>
          <a:prstGeom prst="line">
            <a:avLst/>
          </a:prstGeom>
          <a:noFill/>
          <a:ln w="12700">
            <a:solidFill>
              <a:srgbClr val="FF0000"/>
            </a:solidFill>
            <a:round/>
          </a:ln>
          <a:effectLst/>
        </p:spPr>
        <p:txBody>
          <a:bodyPr wrap="none" anchor="ctr"/>
          <a:lstStyle/>
          <a:p>
            <a:pPr>
              <a:defRPr/>
            </a:pPr>
            <a:endParaRPr lang="en-US">
              <a:latin typeface="Arial" panose="020B0604020202090204"/>
              <a:cs typeface="Arial" panose="020B0604020202090204"/>
            </a:endParaRPr>
          </a:p>
        </p:txBody>
      </p:sp>
      <p:sp>
        <p:nvSpPr>
          <p:cNvPr id="67714" name="Text Box 130"/>
          <p:cNvSpPr txBox="1">
            <a:spLocks noChangeArrowheads="1"/>
          </p:cNvSpPr>
          <p:nvPr/>
        </p:nvSpPr>
        <p:spPr bwMode="auto">
          <a:xfrm>
            <a:off x="411163" y="5553075"/>
            <a:ext cx="2578100" cy="457200"/>
          </a:xfrm>
          <a:prstGeom prst="rect">
            <a:avLst/>
          </a:prstGeom>
          <a:noFill/>
          <a:ln>
            <a:noFill/>
          </a:ln>
          <a:effectLst/>
        </p:spPr>
        <p:txBody>
          <a:bodyPr>
            <a:spAutoFit/>
          </a:bodyPr>
          <a:lstStyle/>
          <a:p>
            <a:pPr algn="r">
              <a:defRPr/>
            </a:pPr>
            <a:r>
              <a:rPr lang="en-US">
                <a:latin typeface="Arial" panose="020B0604020202090204"/>
                <a:cs typeface="Arial" panose="020B0604020202090204"/>
              </a:rPr>
              <a:t>Trap</a:t>
            </a:r>
          </a:p>
        </p:txBody>
      </p:sp>
      <p:sp>
        <p:nvSpPr>
          <p:cNvPr id="67715" name="Line 131"/>
          <p:cNvSpPr>
            <a:spLocks noChangeShapeType="1"/>
          </p:cNvSpPr>
          <p:nvPr/>
        </p:nvSpPr>
        <p:spPr bwMode="auto">
          <a:xfrm>
            <a:off x="3279775" y="1352550"/>
            <a:ext cx="0" cy="4964113"/>
          </a:xfrm>
          <a:prstGeom prst="line">
            <a:avLst/>
          </a:prstGeom>
          <a:noFill/>
          <a:ln w="25400">
            <a:solidFill>
              <a:srgbClr val="CC0000"/>
            </a:solidFill>
            <a:round/>
          </a:ln>
          <a:effectLst/>
        </p:spPr>
        <p:txBody>
          <a:bodyPr wrap="none" anchor="ctr"/>
          <a:lstStyle/>
          <a:p>
            <a:pPr>
              <a:defRPr/>
            </a:pPr>
            <a:endParaRPr lang="en-US">
              <a:latin typeface="Arial" panose="020B0604020202090204"/>
              <a:cs typeface="Arial" panose="020B0604020202090204"/>
            </a:endParaRPr>
          </a:p>
        </p:txBody>
      </p:sp>
      <p:sp>
        <p:nvSpPr>
          <p:cNvPr id="67716" name="Text Box 132"/>
          <p:cNvSpPr txBox="1">
            <a:spLocks noChangeArrowheads="1"/>
          </p:cNvSpPr>
          <p:nvPr/>
        </p:nvSpPr>
        <p:spPr bwMode="auto">
          <a:xfrm>
            <a:off x="3505200" y="5541963"/>
            <a:ext cx="4792663" cy="646331"/>
          </a:xfrm>
          <a:prstGeom prst="rect">
            <a:avLst/>
          </a:prstGeom>
          <a:noFill/>
          <a:ln>
            <a:noFill/>
          </a:ln>
          <a:effectLst/>
        </p:spPr>
        <p:txBody>
          <a:bodyPr>
            <a:spAutoFit/>
          </a:bodyPr>
          <a:lstStyle/>
          <a:p>
            <a:pPr algn="l">
              <a:defRPr/>
            </a:pPr>
            <a:r>
              <a:rPr lang="en-US" dirty="0">
                <a:latin typeface="Arial" panose="020B0604020202090204"/>
                <a:cs typeface="Arial" panose="020B0604020202090204"/>
              </a:rPr>
              <a:t>Agent-to-manager: inform manager</a:t>
            </a:r>
          </a:p>
          <a:p>
            <a:pPr algn="l">
              <a:defRPr/>
            </a:pPr>
            <a:r>
              <a:rPr lang="en-US" dirty="0">
                <a:latin typeface="Arial" panose="020B0604020202090204"/>
                <a:cs typeface="Arial" panose="020B0604020202090204"/>
              </a:rPr>
              <a:t>of exceptional event</a:t>
            </a:r>
          </a:p>
        </p:txBody>
      </p:sp>
      <p:sp>
        <p:nvSpPr>
          <p:cNvPr id="23" name="Slide Number Placeholder 5"/>
          <p:cNvSpPr>
            <a:spLocks noGrp="1"/>
          </p:cNvSpPr>
          <p:nvPr>
            <p:ph type="sldNum" sz="quarter" idx="12"/>
          </p:nvPr>
        </p:nvSpPr>
        <p:spPr>
          <a:xfrm>
            <a:off x="8456295" y="6475730"/>
            <a:ext cx="60071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122</a:t>
            </a:fld>
            <a:endParaRPr lang="en-US" sz="1200" dirty="0">
              <a:latin typeface="Tahoma" panose="020B0604030504040204" charset="0"/>
            </a:endParaRPr>
          </a:p>
        </p:txBody>
      </p:sp>
      <p:sp>
        <p:nvSpPr>
          <p:cNvPr id="24"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7" name="Picture 15" descr="underline_base"/>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8475" y="889000"/>
            <a:ext cx="7769225" cy="173038"/>
          </a:xfrm>
          <a:prstGeom prst="rect">
            <a:avLst/>
          </a:prstGeom>
          <a:noFill/>
          <a:ln>
            <a:noFill/>
          </a:ln>
        </p:spPr>
      </p:pic>
      <p:sp>
        <p:nvSpPr>
          <p:cNvPr id="68610" name="Rectangle 2"/>
          <p:cNvSpPr>
            <a:spLocks noGrp="1" noChangeArrowheads="1"/>
          </p:cNvSpPr>
          <p:nvPr>
            <p:ph type="title"/>
          </p:nvPr>
        </p:nvSpPr>
        <p:spPr>
          <a:xfrm>
            <a:off x="415925" y="219075"/>
            <a:ext cx="7772400" cy="835025"/>
          </a:xfrm>
        </p:spPr>
        <p:txBody>
          <a:bodyPr/>
          <a:lstStyle/>
          <a:p>
            <a:pPr>
              <a:defRPr/>
            </a:pPr>
            <a:r>
              <a:rPr lang="en-US" sz="3600" dirty="0"/>
              <a:t>SNMP protocol: message formats</a:t>
            </a:r>
          </a:p>
        </p:txBody>
      </p:sp>
      <p:sp>
        <p:nvSpPr>
          <p:cNvPr id="60421" name="Rectangle 1"/>
          <p:cNvSpPr>
            <a:spLocks noChangeArrowheads="1"/>
          </p:cNvSpPr>
          <p:nvPr/>
        </p:nvSpPr>
        <p:spPr bwMode="auto">
          <a:xfrm>
            <a:off x="939392" y="1751775"/>
            <a:ext cx="6943725" cy="1004888"/>
          </a:xfrm>
          <a:prstGeom prst="rect">
            <a:avLst/>
          </a:prstGeom>
          <a:solidFill>
            <a:srgbClr val="006633"/>
          </a:solidFill>
          <a:ln w="9525">
            <a:solidFill>
              <a:schemeClr val="bg1"/>
            </a:solidFill>
            <a:round/>
          </a:ln>
        </p:spPr>
        <p:txBody>
          <a:bodyPr wrap="none"/>
          <a:lstStyle/>
          <a:p>
            <a:endParaRPr lang="en-US"/>
          </a:p>
        </p:txBody>
      </p:sp>
      <p:cxnSp>
        <p:nvCxnSpPr>
          <p:cNvPr id="9" name="Straight Connector 3"/>
          <p:cNvCxnSpPr>
            <a:cxnSpLocks noChangeShapeType="1"/>
          </p:cNvCxnSpPr>
          <p:nvPr/>
        </p:nvCxnSpPr>
        <p:spPr bwMode="auto">
          <a:xfrm>
            <a:off x="1856967" y="1756538"/>
            <a:ext cx="0" cy="1020762"/>
          </a:xfrm>
          <a:prstGeom prst="line">
            <a:avLst/>
          </a:prstGeom>
          <a:noFill/>
          <a:ln w="25400">
            <a:solidFill>
              <a:schemeClr val="bg1"/>
            </a:solidFill>
            <a:round/>
          </a:ln>
          <a:effectLst/>
        </p:spPr>
      </p:cxnSp>
      <p:sp>
        <p:nvSpPr>
          <p:cNvPr id="60423" name="TextBox 39"/>
          <p:cNvSpPr txBox="1">
            <a:spLocks noChangeArrowheads="1"/>
          </p:cNvSpPr>
          <p:nvPr/>
        </p:nvSpPr>
        <p:spPr bwMode="auto">
          <a:xfrm>
            <a:off x="7386229" y="2110550"/>
            <a:ext cx="496888" cy="261938"/>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pPr>
              <a:lnSpc>
                <a:spcPts val="1200"/>
              </a:lnSpc>
            </a:pPr>
            <a:r>
              <a:rPr lang="en-US" sz="1600" i="1">
                <a:solidFill>
                  <a:schemeClr val="bg1"/>
                </a:solidFill>
                <a:latin typeface="Arial" panose="020B0604020202090204" pitchFamily="34" charset="0"/>
                <a:cs typeface="Arial" panose="020B0604020202090204" pitchFamily="34" charset="0"/>
              </a:rPr>
              <a:t>….</a:t>
            </a:r>
          </a:p>
        </p:txBody>
      </p:sp>
      <p:sp>
        <p:nvSpPr>
          <p:cNvPr id="60424" name="TextBox 40"/>
          <p:cNvSpPr txBox="1">
            <a:spLocks noChangeArrowheads="1"/>
          </p:cNvSpPr>
          <p:nvPr/>
        </p:nvSpPr>
        <p:spPr bwMode="auto">
          <a:xfrm>
            <a:off x="1152117" y="1778763"/>
            <a:ext cx="584200" cy="923925"/>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PDU</a:t>
            </a:r>
          </a:p>
          <a:p>
            <a:r>
              <a:rPr lang="en-US" sz="1800">
                <a:solidFill>
                  <a:schemeClr val="bg1"/>
                </a:solidFill>
                <a:latin typeface="Arial Narrow" panose="020B0606020202030204" charset="0"/>
                <a:cs typeface="Arial Narrow" panose="020B0606020202030204" charset="0"/>
              </a:rPr>
              <a:t>type</a:t>
            </a:r>
          </a:p>
          <a:p>
            <a:r>
              <a:rPr lang="en-US" sz="1800">
                <a:solidFill>
                  <a:schemeClr val="bg1"/>
                </a:solidFill>
                <a:latin typeface="Arial Narrow" panose="020B0606020202030204" charset="0"/>
                <a:cs typeface="Arial Narrow" panose="020B0606020202030204" charset="0"/>
              </a:rPr>
              <a:t>(0-3)</a:t>
            </a:r>
          </a:p>
        </p:txBody>
      </p:sp>
      <p:cxnSp>
        <p:nvCxnSpPr>
          <p:cNvPr id="20" name="Straight Connector 3"/>
          <p:cNvCxnSpPr>
            <a:cxnSpLocks noChangeShapeType="1"/>
          </p:cNvCxnSpPr>
          <p:nvPr/>
        </p:nvCxnSpPr>
        <p:spPr bwMode="auto">
          <a:xfrm>
            <a:off x="2750729" y="1743838"/>
            <a:ext cx="0" cy="1019175"/>
          </a:xfrm>
          <a:prstGeom prst="line">
            <a:avLst/>
          </a:prstGeom>
          <a:noFill/>
          <a:ln w="25400">
            <a:solidFill>
              <a:schemeClr val="bg1"/>
            </a:solidFill>
            <a:round/>
          </a:ln>
          <a:effectLst/>
        </p:spPr>
      </p:cxnSp>
      <p:cxnSp>
        <p:nvCxnSpPr>
          <p:cNvPr id="21" name="Straight Connector 3"/>
          <p:cNvCxnSpPr>
            <a:cxnSpLocks noChangeShapeType="1"/>
          </p:cNvCxnSpPr>
          <p:nvPr/>
        </p:nvCxnSpPr>
        <p:spPr bwMode="auto">
          <a:xfrm>
            <a:off x="3644492" y="1735900"/>
            <a:ext cx="0" cy="1019175"/>
          </a:xfrm>
          <a:prstGeom prst="line">
            <a:avLst/>
          </a:prstGeom>
          <a:noFill/>
          <a:ln w="25400">
            <a:solidFill>
              <a:schemeClr val="bg1"/>
            </a:solidFill>
            <a:round/>
          </a:ln>
          <a:effectLst/>
        </p:spPr>
      </p:cxnSp>
      <p:cxnSp>
        <p:nvCxnSpPr>
          <p:cNvPr id="22" name="Straight Connector 3"/>
          <p:cNvCxnSpPr>
            <a:cxnSpLocks noChangeShapeType="1"/>
          </p:cNvCxnSpPr>
          <p:nvPr/>
        </p:nvCxnSpPr>
        <p:spPr bwMode="auto">
          <a:xfrm>
            <a:off x="4546192" y="1758125"/>
            <a:ext cx="0" cy="1019175"/>
          </a:xfrm>
          <a:prstGeom prst="line">
            <a:avLst/>
          </a:prstGeom>
          <a:noFill/>
          <a:ln w="25400">
            <a:solidFill>
              <a:schemeClr val="bg1"/>
            </a:solidFill>
            <a:round/>
          </a:ln>
          <a:effectLst/>
        </p:spPr>
      </p:cxnSp>
      <p:cxnSp>
        <p:nvCxnSpPr>
          <p:cNvPr id="23" name="Straight Connector 3"/>
          <p:cNvCxnSpPr>
            <a:cxnSpLocks noChangeShapeType="1"/>
          </p:cNvCxnSpPr>
          <p:nvPr/>
        </p:nvCxnSpPr>
        <p:spPr bwMode="auto">
          <a:xfrm>
            <a:off x="5255804" y="1750188"/>
            <a:ext cx="0" cy="1019175"/>
          </a:xfrm>
          <a:prstGeom prst="line">
            <a:avLst/>
          </a:prstGeom>
          <a:noFill/>
          <a:ln w="25400">
            <a:solidFill>
              <a:schemeClr val="bg1"/>
            </a:solidFill>
            <a:round/>
          </a:ln>
          <a:effectLst/>
        </p:spPr>
      </p:cxnSp>
      <p:cxnSp>
        <p:nvCxnSpPr>
          <p:cNvPr id="24" name="Straight Connector 3"/>
          <p:cNvCxnSpPr>
            <a:cxnSpLocks noChangeShapeType="1"/>
          </p:cNvCxnSpPr>
          <p:nvPr/>
        </p:nvCxnSpPr>
        <p:spPr bwMode="auto">
          <a:xfrm>
            <a:off x="5978117" y="1742250"/>
            <a:ext cx="0" cy="1019175"/>
          </a:xfrm>
          <a:prstGeom prst="line">
            <a:avLst/>
          </a:prstGeom>
          <a:noFill/>
          <a:ln w="25400">
            <a:solidFill>
              <a:schemeClr val="bg1"/>
            </a:solidFill>
            <a:round/>
          </a:ln>
          <a:effectLst/>
        </p:spPr>
      </p:cxnSp>
      <p:cxnSp>
        <p:nvCxnSpPr>
          <p:cNvPr id="25" name="Straight Connector 3"/>
          <p:cNvCxnSpPr>
            <a:cxnSpLocks noChangeShapeType="1"/>
          </p:cNvCxnSpPr>
          <p:nvPr/>
        </p:nvCxnSpPr>
        <p:spPr bwMode="auto">
          <a:xfrm>
            <a:off x="6681379" y="1734313"/>
            <a:ext cx="0" cy="1019175"/>
          </a:xfrm>
          <a:prstGeom prst="line">
            <a:avLst/>
          </a:prstGeom>
          <a:noFill/>
          <a:ln w="25400">
            <a:solidFill>
              <a:schemeClr val="bg1"/>
            </a:solidFill>
            <a:round/>
          </a:ln>
          <a:effectLst/>
        </p:spPr>
      </p:cxnSp>
      <p:cxnSp>
        <p:nvCxnSpPr>
          <p:cNvPr id="26" name="Straight Connector 3"/>
          <p:cNvCxnSpPr>
            <a:cxnSpLocks noChangeShapeType="1"/>
          </p:cNvCxnSpPr>
          <p:nvPr/>
        </p:nvCxnSpPr>
        <p:spPr bwMode="auto">
          <a:xfrm>
            <a:off x="7403692" y="1761300"/>
            <a:ext cx="0" cy="1019175"/>
          </a:xfrm>
          <a:prstGeom prst="line">
            <a:avLst/>
          </a:prstGeom>
          <a:noFill/>
          <a:ln w="25400">
            <a:solidFill>
              <a:schemeClr val="bg1"/>
            </a:solidFill>
            <a:round/>
          </a:ln>
          <a:effectLst/>
        </p:spPr>
      </p:cxnSp>
      <p:sp>
        <p:nvSpPr>
          <p:cNvPr id="60432" name="TextBox 40"/>
          <p:cNvSpPr txBox="1">
            <a:spLocks noChangeArrowheads="1"/>
          </p:cNvSpPr>
          <p:nvPr/>
        </p:nvSpPr>
        <p:spPr bwMode="auto">
          <a:xfrm>
            <a:off x="1858554" y="1926400"/>
            <a:ext cx="889000" cy="646113"/>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Request</a:t>
            </a:r>
          </a:p>
          <a:p>
            <a:r>
              <a:rPr lang="en-US" sz="1800">
                <a:solidFill>
                  <a:schemeClr val="bg1"/>
                </a:solidFill>
                <a:latin typeface="Arial Narrow" panose="020B0606020202030204" charset="0"/>
                <a:cs typeface="Arial Narrow" panose="020B0606020202030204" charset="0"/>
              </a:rPr>
              <a:t>ID</a:t>
            </a:r>
          </a:p>
        </p:txBody>
      </p:sp>
      <p:sp>
        <p:nvSpPr>
          <p:cNvPr id="60433" name="TextBox 40"/>
          <p:cNvSpPr txBox="1">
            <a:spLocks noChangeArrowheads="1"/>
          </p:cNvSpPr>
          <p:nvPr/>
        </p:nvSpPr>
        <p:spPr bwMode="auto">
          <a:xfrm>
            <a:off x="2842804" y="1781938"/>
            <a:ext cx="720725" cy="922337"/>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Error</a:t>
            </a:r>
          </a:p>
          <a:p>
            <a:r>
              <a:rPr lang="en-US" sz="1800">
                <a:solidFill>
                  <a:schemeClr val="bg1"/>
                </a:solidFill>
                <a:latin typeface="Arial Narrow" panose="020B0606020202030204" charset="0"/>
                <a:cs typeface="Arial Narrow" panose="020B0606020202030204" charset="0"/>
              </a:rPr>
              <a:t>Status</a:t>
            </a:r>
          </a:p>
          <a:p>
            <a:r>
              <a:rPr lang="en-US" sz="1800">
                <a:solidFill>
                  <a:schemeClr val="bg1"/>
                </a:solidFill>
                <a:latin typeface="Arial Narrow" panose="020B0606020202030204" charset="0"/>
                <a:cs typeface="Arial Narrow" panose="020B0606020202030204" charset="0"/>
              </a:rPr>
              <a:t>(0-5)</a:t>
            </a:r>
          </a:p>
        </p:txBody>
      </p:sp>
      <p:sp>
        <p:nvSpPr>
          <p:cNvPr id="60434" name="TextBox 40"/>
          <p:cNvSpPr txBox="1">
            <a:spLocks noChangeArrowheads="1"/>
          </p:cNvSpPr>
          <p:nvPr/>
        </p:nvSpPr>
        <p:spPr bwMode="auto">
          <a:xfrm>
            <a:off x="3774667" y="1929575"/>
            <a:ext cx="647700" cy="646113"/>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Error</a:t>
            </a:r>
          </a:p>
          <a:p>
            <a:r>
              <a:rPr lang="en-US" sz="1800">
                <a:solidFill>
                  <a:schemeClr val="bg1"/>
                </a:solidFill>
                <a:latin typeface="Arial Narrow" panose="020B0606020202030204" charset="0"/>
                <a:cs typeface="Arial Narrow" panose="020B0606020202030204" charset="0"/>
              </a:rPr>
              <a:t>Index</a:t>
            </a:r>
          </a:p>
        </p:txBody>
      </p:sp>
      <p:sp>
        <p:nvSpPr>
          <p:cNvPr id="60435" name="TextBox 40"/>
          <p:cNvSpPr txBox="1">
            <a:spLocks noChangeArrowheads="1"/>
          </p:cNvSpPr>
          <p:nvPr/>
        </p:nvSpPr>
        <p:spPr bwMode="auto">
          <a:xfrm>
            <a:off x="4549367" y="2064513"/>
            <a:ext cx="690562" cy="368300"/>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Name</a:t>
            </a:r>
          </a:p>
        </p:txBody>
      </p:sp>
      <p:sp>
        <p:nvSpPr>
          <p:cNvPr id="60436" name="TextBox 40"/>
          <p:cNvSpPr txBox="1">
            <a:spLocks noChangeArrowheads="1"/>
          </p:cNvSpPr>
          <p:nvPr/>
        </p:nvSpPr>
        <p:spPr bwMode="auto">
          <a:xfrm>
            <a:off x="5289142" y="2074038"/>
            <a:ext cx="655637" cy="369887"/>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Value</a:t>
            </a:r>
          </a:p>
        </p:txBody>
      </p:sp>
      <p:sp>
        <p:nvSpPr>
          <p:cNvPr id="60437" name="TextBox 40"/>
          <p:cNvSpPr txBox="1">
            <a:spLocks noChangeArrowheads="1"/>
          </p:cNvSpPr>
          <p:nvPr/>
        </p:nvSpPr>
        <p:spPr bwMode="auto">
          <a:xfrm>
            <a:off x="5984467" y="2074038"/>
            <a:ext cx="688975" cy="369887"/>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Name</a:t>
            </a:r>
          </a:p>
        </p:txBody>
      </p:sp>
      <p:sp>
        <p:nvSpPr>
          <p:cNvPr id="60438" name="TextBox 40"/>
          <p:cNvSpPr txBox="1">
            <a:spLocks noChangeArrowheads="1"/>
          </p:cNvSpPr>
          <p:nvPr/>
        </p:nvSpPr>
        <p:spPr bwMode="auto">
          <a:xfrm>
            <a:off x="6717892" y="2083563"/>
            <a:ext cx="654050" cy="369887"/>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Value</a:t>
            </a:r>
          </a:p>
        </p:txBody>
      </p:sp>
      <p:sp>
        <p:nvSpPr>
          <p:cNvPr id="60439" name="Rectangle 1"/>
          <p:cNvSpPr>
            <a:spLocks noChangeArrowheads="1"/>
          </p:cNvSpPr>
          <p:nvPr/>
        </p:nvSpPr>
        <p:spPr bwMode="auto">
          <a:xfrm>
            <a:off x="902879" y="3267838"/>
            <a:ext cx="6943725" cy="1004887"/>
          </a:xfrm>
          <a:prstGeom prst="rect">
            <a:avLst/>
          </a:prstGeom>
          <a:solidFill>
            <a:srgbClr val="006633"/>
          </a:solidFill>
          <a:ln w="9525">
            <a:solidFill>
              <a:schemeClr val="bg1"/>
            </a:solidFill>
            <a:round/>
          </a:ln>
        </p:spPr>
        <p:txBody>
          <a:bodyPr wrap="none"/>
          <a:lstStyle/>
          <a:p>
            <a:endParaRPr lang="en-US"/>
          </a:p>
        </p:txBody>
      </p:sp>
      <p:cxnSp>
        <p:nvCxnSpPr>
          <p:cNvPr id="59" name="Straight Connector 3"/>
          <p:cNvCxnSpPr>
            <a:cxnSpLocks noChangeShapeType="1"/>
          </p:cNvCxnSpPr>
          <p:nvPr/>
        </p:nvCxnSpPr>
        <p:spPr bwMode="auto">
          <a:xfrm>
            <a:off x="1820454" y="3274188"/>
            <a:ext cx="0" cy="1019175"/>
          </a:xfrm>
          <a:prstGeom prst="line">
            <a:avLst/>
          </a:prstGeom>
          <a:noFill/>
          <a:ln w="25400">
            <a:solidFill>
              <a:schemeClr val="bg1"/>
            </a:solidFill>
            <a:round/>
          </a:ln>
          <a:effectLst/>
        </p:spPr>
      </p:cxnSp>
      <p:sp>
        <p:nvSpPr>
          <p:cNvPr id="60441" name="TextBox 39"/>
          <p:cNvSpPr txBox="1">
            <a:spLocks noChangeArrowheads="1"/>
          </p:cNvSpPr>
          <p:nvPr/>
        </p:nvSpPr>
        <p:spPr bwMode="auto">
          <a:xfrm>
            <a:off x="7349717" y="3628200"/>
            <a:ext cx="496887" cy="260350"/>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pPr>
              <a:lnSpc>
                <a:spcPts val="1200"/>
              </a:lnSpc>
            </a:pPr>
            <a:r>
              <a:rPr lang="en-US" sz="1600" i="1">
                <a:solidFill>
                  <a:schemeClr val="bg1"/>
                </a:solidFill>
                <a:latin typeface="Arial" panose="020B0604020202090204" pitchFamily="34" charset="0"/>
                <a:cs typeface="Arial" panose="020B0604020202090204" pitchFamily="34" charset="0"/>
              </a:rPr>
              <a:t>….</a:t>
            </a:r>
          </a:p>
        </p:txBody>
      </p:sp>
      <p:sp>
        <p:nvSpPr>
          <p:cNvPr id="60442" name="TextBox 40"/>
          <p:cNvSpPr txBox="1">
            <a:spLocks noChangeArrowheads="1"/>
          </p:cNvSpPr>
          <p:nvPr/>
        </p:nvSpPr>
        <p:spPr bwMode="auto">
          <a:xfrm>
            <a:off x="1115604" y="3296413"/>
            <a:ext cx="584200" cy="922337"/>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PDU</a:t>
            </a:r>
          </a:p>
          <a:p>
            <a:r>
              <a:rPr lang="en-US" sz="1800">
                <a:solidFill>
                  <a:schemeClr val="bg1"/>
                </a:solidFill>
                <a:latin typeface="Arial Narrow" panose="020B0606020202030204" charset="0"/>
                <a:cs typeface="Arial Narrow" panose="020B0606020202030204" charset="0"/>
              </a:rPr>
              <a:t>type</a:t>
            </a:r>
          </a:p>
          <a:p>
            <a:r>
              <a:rPr lang="en-US" sz="1800">
                <a:solidFill>
                  <a:schemeClr val="bg1"/>
                </a:solidFill>
                <a:latin typeface="Arial Narrow" panose="020B0606020202030204" charset="0"/>
                <a:cs typeface="Arial Narrow" panose="020B0606020202030204" charset="0"/>
              </a:rPr>
              <a:t>4</a:t>
            </a:r>
          </a:p>
        </p:txBody>
      </p:sp>
      <p:cxnSp>
        <p:nvCxnSpPr>
          <p:cNvPr id="62" name="Straight Connector 3"/>
          <p:cNvCxnSpPr>
            <a:cxnSpLocks noChangeShapeType="1"/>
          </p:cNvCxnSpPr>
          <p:nvPr/>
        </p:nvCxnSpPr>
        <p:spPr bwMode="auto">
          <a:xfrm>
            <a:off x="2714217" y="3259900"/>
            <a:ext cx="0" cy="1019175"/>
          </a:xfrm>
          <a:prstGeom prst="line">
            <a:avLst/>
          </a:prstGeom>
          <a:noFill/>
          <a:ln w="25400">
            <a:solidFill>
              <a:schemeClr val="bg1"/>
            </a:solidFill>
            <a:round/>
          </a:ln>
          <a:effectLst/>
        </p:spPr>
      </p:cxnSp>
      <p:cxnSp>
        <p:nvCxnSpPr>
          <p:cNvPr id="63" name="Straight Connector 3"/>
          <p:cNvCxnSpPr>
            <a:cxnSpLocks noChangeShapeType="1"/>
          </p:cNvCxnSpPr>
          <p:nvPr/>
        </p:nvCxnSpPr>
        <p:spPr bwMode="auto">
          <a:xfrm>
            <a:off x="3433354" y="3258313"/>
            <a:ext cx="0" cy="1020762"/>
          </a:xfrm>
          <a:prstGeom prst="line">
            <a:avLst/>
          </a:prstGeom>
          <a:noFill/>
          <a:ln w="25400">
            <a:solidFill>
              <a:schemeClr val="bg1"/>
            </a:solidFill>
            <a:round/>
          </a:ln>
          <a:effectLst/>
        </p:spPr>
      </p:cxnSp>
      <p:cxnSp>
        <p:nvCxnSpPr>
          <p:cNvPr id="64" name="Straight Connector 3"/>
          <p:cNvCxnSpPr>
            <a:cxnSpLocks noChangeShapeType="1"/>
          </p:cNvCxnSpPr>
          <p:nvPr/>
        </p:nvCxnSpPr>
        <p:spPr bwMode="auto">
          <a:xfrm>
            <a:off x="4327117" y="3267838"/>
            <a:ext cx="0" cy="1019175"/>
          </a:xfrm>
          <a:prstGeom prst="line">
            <a:avLst/>
          </a:prstGeom>
          <a:noFill/>
          <a:ln w="25400">
            <a:solidFill>
              <a:schemeClr val="bg1"/>
            </a:solidFill>
            <a:round/>
          </a:ln>
          <a:effectLst/>
        </p:spPr>
      </p:cxnSp>
      <p:cxnSp>
        <p:nvCxnSpPr>
          <p:cNvPr id="65" name="Straight Connector 3"/>
          <p:cNvCxnSpPr>
            <a:cxnSpLocks noChangeShapeType="1"/>
          </p:cNvCxnSpPr>
          <p:nvPr/>
        </p:nvCxnSpPr>
        <p:spPr bwMode="auto">
          <a:xfrm>
            <a:off x="5179604" y="3266250"/>
            <a:ext cx="0" cy="1019175"/>
          </a:xfrm>
          <a:prstGeom prst="line">
            <a:avLst/>
          </a:prstGeom>
          <a:noFill/>
          <a:ln w="25400">
            <a:solidFill>
              <a:schemeClr val="bg1"/>
            </a:solidFill>
            <a:round/>
          </a:ln>
          <a:effectLst/>
        </p:spPr>
      </p:cxnSp>
      <p:cxnSp>
        <p:nvCxnSpPr>
          <p:cNvPr id="66" name="Straight Connector 3"/>
          <p:cNvCxnSpPr>
            <a:cxnSpLocks noChangeShapeType="1"/>
          </p:cNvCxnSpPr>
          <p:nvPr/>
        </p:nvCxnSpPr>
        <p:spPr bwMode="auto">
          <a:xfrm>
            <a:off x="6013042" y="3258313"/>
            <a:ext cx="0" cy="1019175"/>
          </a:xfrm>
          <a:prstGeom prst="line">
            <a:avLst/>
          </a:prstGeom>
          <a:noFill/>
          <a:ln w="25400">
            <a:solidFill>
              <a:schemeClr val="bg1"/>
            </a:solidFill>
            <a:round/>
          </a:ln>
          <a:effectLst/>
        </p:spPr>
      </p:cxnSp>
      <p:cxnSp>
        <p:nvCxnSpPr>
          <p:cNvPr id="67" name="Straight Connector 3"/>
          <p:cNvCxnSpPr>
            <a:cxnSpLocks noChangeShapeType="1"/>
          </p:cNvCxnSpPr>
          <p:nvPr/>
        </p:nvCxnSpPr>
        <p:spPr bwMode="auto">
          <a:xfrm>
            <a:off x="6722654" y="3244025"/>
            <a:ext cx="0" cy="1019175"/>
          </a:xfrm>
          <a:prstGeom prst="line">
            <a:avLst/>
          </a:prstGeom>
          <a:noFill/>
          <a:ln w="25400">
            <a:solidFill>
              <a:schemeClr val="bg1"/>
            </a:solidFill>
            <a:round/>
          </a:ln>
          <a:effectLst/>
        </p:spPr>
      </p:cxnSp>
      <p:cxnSp>
        <p:nvCxnSpPr>
          <p:cNvPr id="68" name="Straight Connector 3"/>
          <p:cNvCxnSpPr>
            <a:cxnSpLocks noChangeShapeType="1"/>
          </p:cNvCxnSpPr>
          <p:nvPr/>
        </p:nvCxnSpPr>
        <p:spPr bwMode="auto">
          <a:xfrm>
            <a:off x="7373529" y="3272600"/>
            <a:ext cx="0" cy="1019175"/>
          </a:xfrm>
          <a:prstGeom prst="line">
            <a:avLst/>
          </a:prstGeom>
          <a:noFill/>
          <a:ln w="25400">
            <a:solidFill>
              <a:schemeClr val="bg1"/>
            </a:solidFill>
            <a:round/>
          </a:ln>
          <a:effectLst/>
        </p:spPr>
      </p:cxnSp>
      <p:sp>
        <p:nvSpPr>
          <p:cNvPr id="60450" name="TextBox 40"/>
          <p:cNvSpPr txBox="1">
            <a:spLocks noChangeArrowheads="1"/>
          </p:cNvSpPr>
          <p:nvPr/>
        </p:nvSpPr>
        <p:spPr bwMode="auto">
          <a:xfrm>
            <a:off x="1788704" y="3578988"/>
            <a:ext cx="954088" cy="338137"/>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600">
                <a:solidFill>
                  <a:schemeClr val="bg1"/>
                </a:solidFill>
                <a:latin typeface="Arial Narrow" panose="020B0606020202030204" charset="0"/>
                <a:cs typeface="Arial Narrow" panose="020B0606020202030204" charset="0"/>
              </a:rPr>
              <a:t>Enterprise</a:t>
            </a:r>
          </a:p>
        </p:txBody>
      </p:sp>
      <p:sp>
        <p:nvSpPr>
          <p:cNvPr id="60451" name="TextBox 40"/>
          <p:cNvSpPr txBox="1">
            <a:spLocks noChangeArrowheads="1"/>
          </p:cNvSpPr>
          <p:nvPr/>
        </p:nvSpPr>
        <p:spPr bwMode="auto">
          <a:xfrm>
            <a:off x="2749142" y="3453575"/>
            <a:ext cx="679450" cy="646113"/>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Agent</a:t>
            </a:r>
          </a:p>
          <a:p>
            <a:r>
              <a:rPr lang="en-US" sz="1800">
                <a:solidFill>
                  <a:schemeClr val="bg1"/>
                </a:solidFill>
                <a:latin typeface="Arial Narrow" panose="020B0606020202030204" charset="0"/>
                <a:cs typeface="Arial Narrow" panose="020B0606020202030204" charset="0"/>
              </a:rPr>
              <a:t>Addr</a:t>
            </a:r>
          </a:p>
        </p:txBody>
      </p:sp>
      <p:sp>
        <p:nvSpPr>
          <p:cNvPr id="60452" name="TextBox 40"/>
          <p:cNvSpPr txBox="1">
            <a:spLocks noChangeArrowheads="1"/>
          </p:cNvSpPr>
          <p:nvPr/>
        </p:nvSpPr>
        <p:spPr bwMode="auto">
          <a:xfrm>
            <a:off x="3563529" y="3317050"/>
            <a:ext cx="595313" cy="922338"/>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Trap</a:t>
            </a:r>
          </a:p>
          <a:p>
            <a:r>
              <a:rPr lang="en-US" sz="1800">
                <a:solidFill>
                  <a:schemeClr val="bg1"/>
                </a:solidFill>
                <a:latin typeface="Arial Narrow" panose="020B0606020202030204" charset="0"/>
                <a:cs typeface="Arial Narrow" panose="020B0606020202030204" charset="0"/>
              </a:rPr>
              <a:t>Type</a:t>
            </a:r>
          </a:p>
          <a:p>
            <a:r>
              <a:rPr lang="en-US" sz="1800">
                <a:solidFill>
                  <a:schemeClr val="bg1"/>
                </a:solidFill>
                <a:latin typeface="Arial Narrow" panose="020B0606020202030204" charset="0"/>
                <a:cs typeface="Arial Narrow" panose="020B0606020202030204" charset="0"/>
              </a:rPr>
              <a:t>(0-7)</a:t>
            </a:r>
          </a:p>
        </p:txBody>
      </p:sp>
      <p:sp>
        <p:nvSpPr>
          <p:cNvPr id="60453" name="TextBox 40"/>
          <p:cNvSpPr txBox="1">
            <a:spLocks noChangeArrowheads="1"/>
          </p:cNvSpPr>
          <p:nvPr/>
        </p:nvSpPr>
        <p:spPr bwMode="auto">
          <a:xfrm>
            <a:off x="4330292" y="3458338"/>
            <a:ext cx="847725" cy="646112"/>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Specific</a:t>
            </a:r>
          </a:p>
          <a:p>
            <a:r>
              <a:rPr lang="en-US" sz="1800">
                <a:solidFill>
                  <a:schemeClr val="bg1"/>
                </a:solidFill>
                <a:latin typeface="Arial Narrow" panose="020B0606020202030204" charset="0"/>
                <a:cs typeface="Arial Narrow" panose="020B0606020202030204" charset="0"/>
              </a:rPr>
              <a:t>code</a:t>
            </a:r>
          </a:p>
        </p:txBody>
      </p:sp>
      <p:sp>
        <p:nvSpPr>
          <p:cNvPr id="60454" name="TextBox 40"/>
          <p:cNvSpPr txBox="1">
            <a:spLocks noChangeArrowheads="1"/>
          </p:cNvSpPr>
          <p:nvPr/>
        </p:nvSpPr>
        <p:spPr bwMode="auto">
          <a:xfrm>
            <a:off x="5249454" y="3467863"/>
            <a:ext cx="700088" cy="646112"/>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Time</a:t>
            </a:r>
          </a:p>
          <a:p>
            <a:r>
              <a:rPr lang="en-US" sz="1800">
                <a:solidFill>
                  <a:schemeClr val="bg1"/>
                </a:solidFill>
                <a:latin typeface="Arial Narrow" panose="020B0606020202030204" charset="0"/>
                <a:cs typeface="Arial Narrow" panose="020B0606020202030204" charset="0"/>
              </a:rPr>
              <a:t>stamp</a:t>
            </a:r>
          </a:p>
        </p:txBody>
      </p:sp>
      <p:sp>
        <p:nvSpPr>
          <p:cNvPr id="60455" name="TextBox 40"/>
          <p:cNvSpPr txBox="1">
            <a:spLocks noChangeArrowheads="1"/>
          </p:cNvSpPr>
          <p:nvPr/>
        </p:nvSpPr>
        <p:spPr bwMode="auto">
          <a:xfrm>
            <a:off x="6032092" y="3591688"/>
            <a:ext cx="688975" cy="368300"/>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Name</a:t>
            </a:r>
          </a:p>
        </p:txBody>
      </p:sp>
      <p:sp>
        <p:nvSpPr>
          <p:cNvPr id="60456" name="TextBox 40"/>
          <p:cNvSpPr txBox="1">
            <a:spLocks noChangeArrowheads="1"/>
          </p:cNvSpPr>
          <p:nvPr/>
        </p:nvSpPr>
        <p:spPr bwMode="auto">
          <a:xfrm>
            <a:off x="6713129" y="3601213"/>
            <a:ext cx="655638" cy="369887"/>
          </a:xfrm>
          <a:prstGeom prst="rect">
            <a:avLst/>
          </a:prstGeom>
          <a:no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solidFill>
                  <a:schemeClr val="bg1"/>
                </a:solidFill>
                <a:latin typeface="Arial Narrow" panose="020B0606020202030204" charset="0"/>
                <a:cs typeface="Arial Narrow" panose="020B0606020202030204" charset="0"/>
              </a:rPr>
              <a:t>Value</a:t>
            </a:r>
          </a:p>
        </p:txBody>
      </p:sp>
      <p:cxnSp>
        <p:nvCxnSpPr>
          <p:cNvPr id="34" name="Straight Connector 33"/>
          <p:cNvCxnSpPr/>
          <p:nvPr/>
        </p:nvCxnSpPr>
        <p:spPr bwMode="auto">
          <a:xfrm>
            <a:off x="1836329" y="4482692"/>
            <a:ext cx="4170363" cy="0"/>
          </a:xfrm>
          <a:prstGeom prst="line">
            <a:avLst/>
          </a:prstGeom>
          <a:solidFill>
            <a:schemeClr val="accent1"/>
          </a:solidFill>
          <a:ln w="31750" cap="flat" cmpd="sng" algn="ctr">
            <a:solidFill>
              <a:srgbClr val="CC0000"/>
            </a:solidFill>
            <a:prstDash val="solid"/>
            <a:round/>
            <a:headEnd type="triangle" w="med" len="med"/>
            <a:tailEnd type="triangle" w="med" len="med"/>
          </a:ln>
          <a:effectLst/>
        </p:spPr>
      </p:cxnSp>
      <p:cxnSp>
        <p:nvCxnSpPr>
          <p:cNvPr id="78" name="Straight Connector 77"/>
          <p:cNvCxnSpPr/>
          <p:nvPr/>
        </p:nvCxnSpPr>
        <p:spPr bwMode="auto">
          <a:xfrm>
            <a:off x="6016217" y="4479517"/>
            <a:ext cx="1817687" cy="0"/>
          </a:xfrm>
          <a:prstGeom prst="line">
            <a:avLst/>
          </a:prstGeom>
          <a:solidFill>
            <a:schemeClr val="accent1"/>
          </a:solidFill>
          <a:ln w="31750" cap="flat" cmpd="sng" algn="ctr">
            <a:solidFill>
              <a:srgbClr val="CC0000"/>
            </a:solidFill>
            <a:prstDash val="solid"/>
            <a:round/>
            <a:headEnd type="triangle" w="med" len="med"/>
            <a:tailEnd type="triangle" w="med" len="med"/>
          </a:ln>
          <a:effectLst/>
        </p:spPr>
      </p:cxnSp>
      <p:cxnSp>
        <p:nvCxnSpPr>
          <p:cNvPr id="81" name="Straight Connector 80"/>
          <p:cNvCxnSpPr/>
          <p:nvPr/>
        </p:nvCxnSpPr>
        <p:spPr bwMode="auto">
          <a:xfrm>
            <a:off x="1831567" y="1537463"/>
            <a:ext cx="2709862" cy="0"/>
          </a:xfrm>
          <a:prstGeom prst="line">
            <a:avLst/>
          </a:prstGeom>
          <a:solidFill>
            <a:schemeClr val="accent1"/>
          </a:solidFill>
          <a:ln w="31750" cap="flat" cmpd="sng" algn="ctr">
            <a:solidFill>
              <a:srgbClr val="CC0000"/>
            </a:solidFill>
            <a:prstDash val="solid"/>
            <a:round/>
            <a:headEnd type="triangle" w="med" len="med"/>
            <a:tailEnd type="triangle" w="med" len="med"/>
          </a:ln>
          <a:effectLst/>
        </p:spPr>
      </p:cxnSp>
      <p:cxnSp>
        <p:nvCxnSpPr>
          <p:cNvPr id="83" name="Straight Connector 82"/>
          <p:cNvCxnSpPr/>
          <p:nvPr/>
        </p:nvCxnSpPr>
        <p:spPr bwMode="auto">
          <a:xfrm>
            <a:off x="4533492" y="1553338"/>
            <a:ext cx="3309937" cy="0"/>
          </a:xfrm>
          <a:prstGeom prst="line">
            <a:avLst/>
          </a:prstGeom>
          <a:solidFill>
            <a:schemeClr val="accent1"/>
          </a:solidFill>
          <a:ln w="31750" cap="flat" cmpd="sng" algn="ctr">
            <a:solidFill>
              <a:srgbClr val="CC0000"/>
            </a:solidFill>
            <a:prstDash val="solid"/>
            <a:round/>
            <a:headEnd type="triangle" w="med" len="med"/>
            <a:tailEnd type="triangle" w="med" len="med"/>
          </a:ln>
          <a:effectLst/>
        </p:spPr>
      </p:cxnSp>
      <p:sp>
        <p:nvSpPr>
          <p:cNvPr id="60461" name="TextBox 68612"/>
          <p:cNvSpPr txBox="1">
            <a:spLocks noChangeArrowheads="1"/>
          </p:cNvSpPr>
          <p:nvPr/>
        </p:nvSpPr>
        <p:spPr bwMode="auto">
          <a:xfrm>
            <a:off x="2401479" y="1345375"/>
            <a:ext cx="1711325" cy="369888"/>
          </a:xfrm>
          <a:prstGeom prst="rect">
            <a:avLst/>
          </a:prstGeom>
          <a:solidFill>
            <a:schemeClr val="bg1"/>
          </a:solid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latin typeface="Arial" panose="020B0604020202090204" pitchFamily="34" charset="0"/>
                <a:cs typeface="Arial" panose="020B0604020202090204" pitchFamily="34" charset="0"/>
              </a:rPr>
              <a:t>Get/set header</a:t>
            </a:r>
          </a:p>
        </p:txBody>
      </p:sp>
      <p:sp>
        <p:nvSpPr>
          <p:cNvPr id="60462" name="TextBox 85"/>
          <p:cNvSpPr txBox="1">
            <a:spLocks noChangeArrowheads="1"/>
          </p:cNvSpPr>
          <p:nvPr/>
        </p:nvSpPr>
        <p:spPr bwMode="auto">
          <a:xfrm>
            <a:off x="5104992" y="1342200"/>
            <a:ext cx="2157412" cy="369888"/>
          </a:xfrm>
          <a:prstGeom prst="rect">
            <a:avLst/>
          </a:prstGeom>
          <a:solidFill>
            <a:schemeClr val="bg1"/>
          </a:solid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latin typeface="Arial" panose="020B0604020202090204" pitchFamily="34" charset="0"/>
                <a:cs typeface="Arial" panose="020B0604020202090204" pitchFamily="34" charset="0"/>
              </a:rPr>
              <a:t>Variables to get/set</a:t>
            </a:r>
          </a:p>
        </p:txBody>
      </p:sp>
      <p:sp>
        <p:nvSpPr>
          <p:cNvPr id="60463" name="TextBox 87"/>
          <p:cNvSpPr txBox="1">
            <a:spLocks noChangeArrowheads="1"/>
          </p:cNvSpPr>
          <p:nvPr/>
        </p:nvSpPr>
        <p:spPr bwMode="auto">
          <a:xfrm>
            <a:off x="3246029" y="4290604"/>
            <a:ext cx="1433513" cy="368300"/>
          </a:xfrm>
          <a:prstGeom prst="rect">
            <a:avLst/>
          </a:prstGeom>
          <a:solidFill>
            <a:schemeClr val="bg1"/>
          </a:solid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latin typeface="Arial" panose="020B0604020202090204" pitchFamily="34" charset="0"/>
                <a:cs typeface="Arial" panose="020B0604020202090204" pitchFamily="34" charset="0"/>
              </a:rPr>
              <a:t>Trap header</a:t>
            </a:r>
          </a:p>
        </p:txBody>
      </p:sp>
      <p:sp>
        <p:nvSpPr>
          <p:cNvPr id="60464" name="TextBox 88"/>
          <p:cNvSpPr txBox="1">
            <a:spLocks noChangeArrowheads="1"/>
          </p:cNvSpPr>
          <p:nvPr/>
        </p:nvSpPr>
        <p:spPr bwMode="auto">
          <a:xfrm>
            <a:off x="6282917" y="4279492"/>
            <a:ext cx="1087437" cy="369887"/>
          </a:xfrm>
          <a:prstGeom prst="rect">
            <a:avLst/>
          </a:prstGeom>
          <a:solidFill>
            <a:schemeClr val="bg1"/>
          </a:solid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latin typeface="Arial" panose="020B0604020202090204" pitchFamily="34" charset="0"/>
                <a:cs typeface="Arial" panose="020B0604020202090204" pitchFamily="34" charset="0"/>
              </a:rPr>
              <a:t>Trap info</a:t>
            </a:r>
          </a:p>
        </p:txBody>
      </p:sp>
      <p:cxnSp>
        <p:nvCxnSpPr>
          <p:cNvPr id="90" name="Straight Connector 89"/>
          <p:cNvCxnSpPr/>
          <p:nvPr/>
        </p:nvCxnSpPr>
        <p:spPr bwMode="auto">
          <a:xfrm>
            <a:off x="913992" y="5083938"/>
            <a:ext cx="6932612" cy="0"/>
          </a:xfrm>
          <a:prstGeom prst="line">
            <a:avLst/>
          </a:prstGeom>
          <a:solidFill>
            <a:schemeClr val="accent1"/>
          </a:solidFill>
          <a:ln w="31750" cap="flat" cmpd="sng" algn="ctr">
            <a:solidFill>
              <a:srgbClr val="CC0000"/>
            </a:solidFill>
            <a:prstDash val="solid"/>
            <a:round/>
            <a:headEnd type="triangle" w="med" len="med"/>
            <a:tailEnd type="triangle" w="med" len="med"/>
          </a:ln>
          <a:effectLst/>
        </p:spPr>
      </p:cxnSp>
      <p:sp>
        <p:nvSpPr>
          <p:cNvPr id="60466" name="TextBox 91"/>
          <p:cNvSpPr txBox="1">
            <a:spLocks noChangeArrowheads="1"/>
          </p:cNvSpPr>
          <p:nvPr/>
        </p:nvSpPr>
        <p:spPr bwMode="auto">
          <a:xfrm>
            <a:off x="3641317" y="4896613"/>
            <a:ext cx="1398587" cy="369887"/>
          </a:xfrm>
          <a:prstGeom prst="rect">
            <a:avLst/>
          </a:prstGeom>
          <a:solidFill>
            <a:schemeClr val="bg1"/>
          </a:solidFill>
          <a:ln>
            <a:noFill/>
          </a:ln>
        </p:spPr>
        <p:txBody>
          <a:bodyPr wrap="none">
            <a:spAutoFit/>
          </a:bodyPr>
          <a:lstStyle>
            <a:lvl1pPr>
              <a:defRPr sz="2400">
                <a:solidFill>
                  <a:schemeClr val="tx1"/>
                </a:solidFill>
                <a:latin typeface="Times New Roman" panose="02020503050405090304" charset="0"/>
                <a:ea typeface="MS PGothic" charset="0"/>
                <a:cs typeface="MS PGothic" charset="0"/>
              </a:defRPr>
            </a:lvl1pPr>
            <a:lvl2pPr marL="742950" indent="-285750">
              <a:defRPr sz="2400">
                <a:solidFill>
                  <a:schemeClr val="tx1"/>
                </a:solidFill>
                <a:latin typeface="Times New Roman" panose="02020503050405090304" charset="0"/>
                <a:ea typeface="MS PGothic" charset="0"/>
              </a:defRPr>
            </a:lvl2pPr>
            <a:lvl3pPr marL="1143000" indent="-228600">
              <a:defRPr sz="2400">
                <a:solidFill>
                  <a:schemeClr val="tx1"/>
                </a:solidFill>
                <a:latin typeface="Times New Roman" panose="02020503050405090304" charset="0"/>
                <a:ea typeface="MS PGothic" charset="0"/>
              </a:defRPr>
            </a:lvl3pPr>
            <a:lvl4pPr marL="1600200" indent="-228600">
              <a:defRPr sz="2400">
                <a:solidFill>
                  <a:schemeClr val="tx1"/>
                </a:solidFill>
                <a:latin typeface="Times New Roman" panose="02020503050405090304" charset="0"/>
                <a:ea typeface="MS PGothic" charset="0"/>
              </a:defRPr>
            </a:lvl4pPr>
            <a:lvl5pPr marL="2057400" indent="-228600">
              <a:defRPr sz="2400">
                <a:solidFill>
                  <a:schemeClr val="tx1"/>
                </a:solidFill>
                <a:latin typeface="Times New Roman" panose="02020503050405090304" charset="0"/>
                <a:ea typeface="MS PGothic" charset="0"/>
              </a:defRPr>
            </a:lvl5pPr>
            <a:lvl6pPr marL="25146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6pPr>
            <a:lvl7pPr marL="29718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7pPr>
            <a:lvl8pPr marL="34290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8pPr>
            <a:lvl9pPr marL="3886200" indent="-228600" algn="ctr" eaLnBrk="0" fontAlgn="base" hangingPunct="0">
              <a:spcBef>
                <a:spcPct val="0"/>
              </a:spcBef>
              <a:spcAft>
                <a:spcPct val="0"/>
              </a:spcAft>
              <a:defRPr sz="2400">
                <a:solidFill>
                  <a:schemeClr val="tx1"/>
                </a:solidFill>
                <a:latin typeface="Times New Roman" panose="02020503050405090304" charset="0"/>
                <a:ea typeface="MS PGothic" charset="0"/>
              </a:defRPr>
            </a:lvl9pPr>
          </a:lstStyle>
          <a:p>
            <a:r>
              <a:rPr lang="en-US" sz="1800">
                <a:latin typeface="Arial" panose="020B0604020202090204" pitchFamily="34" charset="0"/>
                <a:cs typeface="Arial" panose="020B0604020202090204" pitchFamily="34" charset="0"/>
              </a:rPr>
              <a:t>SNMP PDU</a:t>
            </a:r>
          </a:p>
        </p:txBody>
      </p:sp>
      <p:sp>
        <p:nvSpPr>
          <p:cNvPr id="52" name="Slide Number Placeholder 5"/>
          <p:cNvSpPr>
            <a:spLocks noGrp="1"/>
          </p:cNvSpPr>
          <p:nvPr>
            <p:ph type="sldNum" sz="quarter" idx="12"/>
          </p:nvPr>
        </p:nvSpPr>
        <p:spPr>
          <a:xfrm>
            <a:off x="8456295" y="6475730"/>
            <a:ext cx="59436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123</a:t>
            </a:fld>
            <a:endParaRPr lang="en-US" sz="1200" dirty="0">
              <a:latin typeface="Tahoma" panose="020B0604030504040204" charset="0"/>
            </a:endParaRPr>
          </a:p>
        </p:txBody>
      </p:sp>
      <p:sp>
        <p:nvSpPr>
          <p:cNvPr id="53"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
        <p:nvSpPr>
          <p:cNvPr id="2" name="TextBox 1"/>
          <p:cNvSpPr txBox="1"/>
          <p:nvPr/>
        </p:nvSpPr>
        <p:spPr>
          <a:xfrm>
            <a:off x="655052" y="5708316"/>
            <a:ext cx="6138068" cy="369332"/>
          </a:xfrm>
          <a:prstGeom prst="rect">
            <a:avLst/>
          </a:prstGeom>
          <a:noFill/>
        </p:spPr>
        <p:txBody>
          <a:bodyPr wrap="none" rtlCol="0">
            <a:spAutoFit/>
          </a:bodyPr>
          <a:lstStyle/>
          <a:p>
            <a:r>
              <a:rPr lang="en-US" i="1" dirty="0"/>
              <a:t>More on network management: </a:t>
            </a:r>
            <a:r>
              <a:rPr lang="en-US" dirty="0"/>
              <a:t>see earlier editions of text!</a:t>
            </a:r>
          </a:p>
        </p:txBody>
      </p:sp>
    </p:spTree>
  </p:cSld>
  <p:clrMapOvr>
    <a:masterClrMapping/>
  </p:clrMapOvr>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7" name="Picture 7" descr="underline_base"/>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0400" y="866696"/>
            <a:ext cx="4165600" cy="189413"/>
          </a:xfrm>
          <a:prstGeom prst="rect">
            <a:avLst/>
          </a:prstGeom>
          <a:noFill/>
          <a:ln>
            <a:noFill/>
          </a:ln>
        </p:spPr>
      </p:pic>
      <p:sp>
        <p:nvSpPr>
          <p:cNvPr id="2053" name="Rectangle 2"/>
          <p:cNvSpPr>
            <a:spLocks noGrp="1" noChangeArrowheads="1"/>
          </p:cNvSpPr>
          <p:nvPr>
            <p:ph type="title"/>
          </p:nvPr>
        </p:nvSpPr>
        <p:spPr>
          <a:xfrm>
            <a:off x="533400" y="68184"/>
            <a:ext cx="7772400" cy="1143000"/>
          </a:xfrm>
        </p:spPr>
        <p:txBody>
          <a:bodyPr/>
          <a:lstStyle/>
          <a:p>
            <a:pPr>
              <a:defRPr/>
            </a:pPr>
            <a:r>
              <a:rPr lang="en-US" sz="4000" dirty="0">
                <a:cs typeface="+mj-cs"/>
              </a:rPr>
              <a:t>Chapter 5: </a:t>
            </a:r>
            <a:r>
              <a:rPr lang="en-US" sz="3600" dirty="0">
                <a:cs typeface="+mj-cs"/>
              </a:rPr>
              <a:t>summary</a:t>
            </a:r>
          </a:p>
        </p:txBody>
      </p:sp>
      <p:sp>
        <p:nvSpPr>
          <p:cNvPr id="2054" name="Rectangle 3"/>
          <p:cNvSpPr>
            <a:spLocks noGrp="1" noChangeArrowheads="1"/>
          </p:cNvSpPr>
          <p:nvPr>
            <p:ph type="body" idx="1"/>
          </p:nvPr>
        </p:nvSpPr>
        <p:spPr>
          <a:xfrm>
            <a:off x="640347" y="1199153"/>
            <a:ext cx="8503653" cy="3680326"/>
          </a:xfrm>
        </p:spPr>
        <p:txBody>
          <a:bodyPr/>
          <a:lstStyle/>
          <a:p>
            <a:pPr>
              <a:buFont typeface="Wingdings" panose="05000000000000000000" charset="0"/>
              <a:buNone/>
              <a:defRPr/>
            </a:pPr>
            <a:r>
              <a:rPr lang="en-US" sz="3200" i="1" dirty="0">
                <a:solidFill>
                  <a:srgbClr val="CC0000"/>
                </a:solidFill>
                <a:cs typeface="+mn-cs"/>
              </a:rPr>
              <a:t>we’ve learned a lot!</a:t>
            </a:r>
            <a:endParaRPr lang="en-US" dirty="0">
              <a:cs typeface="+mn-cs"/>
            </a:endParaRPr>
          </a:p>
          <a:p>
            <a:pPr>
              <a:defRPr/>
            </a:pPr>
            <a:r>
              <a:rPr lang="en-US" dirty="0">
                <a:cs typeface="+mn-cs"/>
              </a:rPr>
              <a:t>approaches to network control plane</a:t>
            </a:r>
          </a:p>
          <a:p>
            <a:pPr marL="746125" lvl="1" indent="-346075">
              <a:buClr>
                <a:srgbClr val="000090"/>
              </a:buClr>
            </a:pPr>
            <a:r>
              <a:rPr lang="en-US" dirty="0">
                <a:cs typeface="Gill Sans MT"/>
              </a:rPr>
              <a:t>per-router control (traditional)</a:t>
            </a:r>
          </a:p>
          <a:p>
            <a:pPr marL="746125" lvl="1" indent="-346075">
              <a:buClr>
                <a:srgbClr val="000090"/>
              </a:buClr>
            </a:pPr>
            <a:r>
              <a:rPr lang="en-US" dirty="0">
                <a:cs typeface="Gill Sans MT"/>
              </a:rPr>
              <a:t>logically centralized control (software defined networking)</a:t>
            </a:r>
            <a:endParaRPr lang="en-US" dirty="0">
              <a:cs typeface="+mn-cs"/>
            </a:endParaRPr>
          </a:p>
          <a:p>
            <a:pPr>
              <a:defRPr/>
            </a:pPr>
            <a:r>
              <a:rPr lang="en-US" dirty="0">
                <a:cs typeface="+mn-cs"/>
              </a:rPr>
              <a:t>traditional routing algorithms</a:t>
            </a:r>
          </a:p>
          <a:p>
            <a:pPr lvl="1">
              <a:defRPr/>
            </a:pPr>
            <a:r>
              <a:rPr lang="en-US" dirty="0">
                <a:cs typeface="+mn-cs"/>
              </a:rPr>
              <a:t>implementation in Internet: OSPF, BGP</a:t>
            </a:r>
          </a:p>
          <a:p>
            <a:pPr>
              <a:defRPr/>
            </a:pPr>
            <a:r>
              <a:rPr lang="en-US" dirty="0">
                <a:cs typeface="+mn-cs"/>
              </a:rPr>
              <a:t>SDN controllers</a:t>
            </a:r>
          </a:p>
          <a:p>
            <a:pPr lvl="1">
              <a:defRPr/>
            </a:pPr>
            <a:r>
              <a:rPr lang="en-US" dirty="0">
                <a:cs typeface="+mn-cs"/>
              </a:rPr>
              <a:t>implementation in practice: ODL, ONOS</a:t>
            </a:r>
          </a:p>
          <a:p>
            <a:pPr>
              <a:defRPr/>
            </a:pPr>
            <a:r>
              <a:rPr lang="en-US" dirty="0"/>
              <a:t>Internet Control Message Protocol</a:t>
            </a:r>
            <a:endParaRPr lang="en-US" dirty="0">
              <a:cs typeface="+mn-cs"/>
            </a:endParaRPr>
          </a:p>
          <a:p>
            <a:pPr>
              <a:defRPr/>
            </a:pPr>
            <a:r>
              <a:rPr lang="en-US" dirty="0">
                <a:cs typeface="+mn-cs"/>
              </a:rPr>
              <a:t>network management</a:t>
            </a:r>
          </a:p>
          <a:p>
            <a:pPr marL="0" indent="0">
              <a:buNone/>
              <a:defRPr/>
            </a:pPr>
            <a:endParaRPr lang="en-US" dirty="0">
              <a:cs typeface="+mn-cs"/>
            </a:endParaRPr>
          </a:p>
        </p:txBody>
      </p:sp>
      <p:sp>
        <p:nvSpPr>
          <p:cNvPr id="2" name="TextBox 1"/>
          <p:cNvSpPr txBox="1"/>
          <p:nvPr/>
        </p:nvSpPr>
        <p:spPr>
          <a:xfrm>
            <a:off x="708530" y="5721690"/>
            <a:ext cx="3544746" cy="523220"/>
          </a:xfrm>
          <a:prstGeom prst="rect">
            <a:avLst/>
          </a:prstGeom>
          <a:noFill/>
        </p:spPr>
        <p:txBody>
          <a:bodyPr wrap="none" rtlCol="0">
            <a:spAutoFit/>
          </a:bodyPr>
          <a:lstStyle/>
          <a:p>
            <a:r>
              <a:rPr lang="en-US" sz="2800" i="1" dirty="0">
                <a:solidFill>
                  <a:srgbClr val="000099"/>
                </a:solidFill>
              </a:rPr>
              <a:t>next stop:  link layer!</a:t>
            </a:r>
          </a:p>
        </p:txBody>
      </p:sp>
      <p:sp>
        <p:nvSpPr>
          <p:cNvPr id="9" name="Slide Number Placeholder 5"/>
          <p:cNvSpPr>
            <a:spLocks noGrp="1"/>
          </p:cNvSpPr>
          <p:nvPr>
            <p:ph type="sldNum" sz="quarter" idx="12"/>
          </p:nvPr>
        </p:nvSpPr>
        <p:spPr>
          <a:xfrm>
            <a:off x="8456295" y="6475730"/>
            <a:ext cx="687070" cy="272415"/>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r>
              <a:rPr lang="en-US" sz="1200" dirty="0">
                <a:latin typeface="Tahoma" panose="020B0604030504040204" charset="0"/>
              </a:rPr>
              <a:t>5-</a:t>
            </a:r>
            <a:fld id="{8E8C6E93-DF5B-BC4B-80F9-500DED1EEDCC}" type="slidenum">
              <a:rPr lang="en-US" sz="1200">
                <a:latin typeface="Tahoma" panose="020B0604030504040204" charset="0"/>
              </a:rPr>
              <a:t>124</a:t>
            </a:fld>
            <a:endParaRPr lang="en-US" sz="1200" dirty="0">
              <a:latin typeface="Tahoma" panose="020B0604030504040204" charset="0"/>
            </a:endParaRPr>
          </a:p>
        </p:txBody>
      </p:sp>
      <p:sp>
        <p:nvSpPr>
          <p:cNvPr id="10" name="Footer Placeholder 2"/>
          <p:cNvSpPr>
            <a:spLocks noGrp="1"/>
          </p:cNvSpPr>
          <p:nvPr>
            <p:ph type="ftr" sz="quarter" idx="11"/>
          </p:nvPr>
        </p:nvSpPr>
        <p:spPr>
          <a:xfrm>
            <a:off x="6375496" y="6475081"/>
            <a:ext cx="2177473" cy="241541"/>
          </a:xfrm>
          <a:noFill/>
        </p:spPr>
        <p:txBody>
          <a:bodyPr/>
          <a:lstStyle>
            <a:lvl1pPr>
              <a:defRPr sz="2400">
                <a:solidFill>
                  <a:schemeClr val="tx1"/>
                </a:solidFill>
                <a:latin typeface="Arial" panose="020B0604020202090204" pitchFamily="34" charset="0"/>
                <a:ea typeface="MS PGothic" charset="0"/>
                <a:cs typeface="MS PGothic" charset="0"/>
              </a:defRPr>
            </a:lvl1pPr>
            <a:lvl2pPr marL="742950" indent="-285750">
              <a:defRPr sz="2400">
                <a:solidFill>
                  <a:schemeClr val="tx1"/>
                </a:solidFill>
                <a:latin typeface="Arial" panose="020B0604020202090204" pitchFamily="34" charset="0"/>
                <a:ea typeface="MS PGothic" charset="0"/>
              </a:defRPr>
            </a:lvl2pPr>
            <a:lvl3pPr marL="1143000" indent="-228600">
              <a:defRPr sz="2400">
                <a:solidFill>
                  <a:schemeClr val="tx1"/>
                </a:solidFill>
                <a:latin typeface="Arial" panose="020B0604020202090204" pitchFamily="34" charset="0"/>
                <a:ea typeface="MS PGothic" charset="0"/>
              </a:defRPr>
            </a:lvl3pPr>
            <a:lvl4pPr marL="1600200" indent="-228600">
              <a:defRPr sz="2400">
                <a:solidFill>
                  <a:schemeClr val="tx1"/>
                </a:solidFill>
                <a:latin typeface="Arial" panose="020B0604020202090204" pitchFamily="34" charset="0"/>
                <a:ea typeface="MS PGothic" charset="0"/>
              </a:defRPr>
            </a:lvl4pPr>
            <a:lvl5pPr marL="2057400" indent="-228600">
              <a:defRPr sz="2400">
                <a:solidFill>
                  <a:schemeClr val="tx1"/>
                </a:solidFill>
                <a:latin typeface="Arial" panose="020B0604020202090204" pitchFamily="34" charset="0"/>
                <a:ea typeface="MS PGothic" charset="0"/>
              </a:defRPr>
            </a:lvl5pPr>
            <a:lvl6pPr marL="25146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6pPr>
            <a:lvl7pPr marL="29718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7pPr>
            <a:lvl8pPr marL="34290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8pPr>
            <a:lvl9pPr marL="3886200" indent="-228600" eaLnBrk="0" fontAlgn="base" hangingPunct="0">
              <a:spcBef>
                <a:spcPct val="0"/>
              </a:spcBef>
              <a:spcAft>
                <a:spcPct val="0"/>
              </a:spcAft>
              <a:defRPr sz="2400">
                <a:solidFill>
                  <a:schemeClr val="tx1"/>
                </a:solidFill>
                <a:latin typeface="Arial" panose="020B0604020202090204" pitchFamily="34" charset="0"/>
                <a:ea typeface="MS PGothic" charset="0"/>
              </a:defRPr>
            </a:lvl9pPr>
          </a:lstStyle>
          <a:p>
            <a:pPr algn="r"/>
            <a:r>
              <a:rPr lang="en-US" sz="1200" dirty="0">
                <a:solidFill>
                  <a:srgbClr val="000000"/>
                </a:solidFill>
                <a:latin typeface="Tahoma" panose="020B0604030504040204" charset="0"/>
                <a:cs typeface="Arial" panose="020B0604020202090204" pitchFamily="34" charset="0"/>
              </a:rPr>
              <a:t>Network Layer: Control Plane</a:t>
            </a:r>
          </a:p>
        </p:txBody>
      </p:sp>
    </p:spTree>
  </p:cSld>
  <p:clrMapOvr>
    <a:masterClrMapping/>
  </p:clrMapOvr>
  <p:transition/>
</p:sld>
</file>

<file path=ppt/theme/theme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Gill Sans MT"/>
        <a:ea typeface=""/>
        <a:cs typeface=""/>
      </a:majorFont>
      <a:minorFont>
        <a:latin typeface="Gill Sans M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gradFill>
          <a:gsLst>
            <a:gs pos="0">
              <a:schemeClr val="bg1">
                <a:lumMod val="95000"/>
              </a:schemeClr>
            </a:gs>
            <a:gs pos="100000">
              <a:schemeClr val="accent5">
                <a:lumMod val="75000"/>
              </a:schemeClr>
            </a:gs>
          </a:gsLst>
        </a:gradFill>
        <a:ln>
          <a:noFill/>
        </a:ln>
      </a:spPr>
      <a:bodyPr anchor="ctr"/>
      <a:lstStyle>
        <a:defPPr algn="ctr">
          <a:defRPr dirty="0"/>
        </a:defPPr>
      </a:lstStyle>
      <a:style>
        <a:lnRef idx="1">
          <a:schemeClr val="accent1"/>
        </a:lnRef>
        <a:fillRef idx="3">
          <a:schemeClr val="accent1"/>
        </a:fillRef>
        <a:effectRef idx="2">
          <a:schemeClr val="accent1"/>
        </a:effectRef>
        <a:fontRef idx="minor">
          <a:schemeClr val="lt1"/>
        </a:fontRef>
      </a: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Arial" panose="020B0604020202090204" pitchFamily="34"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Comic Sans MS"/>
        <a:ea typeface=""/>
        <a:cs typeface=""/>
      </a:majorFont>
      <a:minorFont>
        <a:latin typeface="Comic Sans M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Comic Sans MS" panose="030F0902030302020204" pitchFamily="6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Comic Sans MS" panose="030F0902030302020204" pitchFamily="66"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Default Design">
  <a:themeElements>
    <a:clrScheme name="1_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_Default Design">
      <a:majorFont>
        <a:latin typeface="Comic Sans MS"/>
        <a:ea typeface=""/>
        <a:cs typeface="Arial"/>
      </a:majorFont>
      <a:minorFont>
        <a:latin typeface="Comic Sans MS"/>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Comic Sans MS" panose="030F0902030302020204" pitchFamily="6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non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1800" b="0" i="0" u="none" strike="noStrike" cap="none" normalizeH="0" baseline="0" smtClean="0">
            <a:ln>
              <a:noFill/>
            </a:ln>
            <a:solidFill>
              <a:schemeClr val="tx1"/>
            </a:solidFill>
            <a:effectLst/>
            <a:latin typeface="Comic Sans MS" panose="030F0902030302020204" pitchFamily="66" charset="0"/>
          </a:defRPr>
        </a:defPPr>
      </a:lstStyle>
    </a:lnDef>
  </a:objectDefaults>
  <a:extraClrSchemeLst>
    <a:extraClrScheme>
      <a:clrScheme name="1_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_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_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_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_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_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_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111</TotalTime>
  <Words>10568</Words>
  <Application>Microsoft Office PowerPoint</Application>
  <PresentationFormat>全屏显示(4:3)</PresentationFormat>
  <Paragraphs>2648</Paragraphs>
  <Slides>124</Slides>
  <Notes>28</Notes>
  <HiddenSlides>0</HiddenSlides>
  <MMClips>0</MMClips>
  <ScaleCrop>false</ScaleCrop>
  <HeadingPairs>
    <vt:vector size="8" baseType="variant">
      <vt:variant>
        <vt:lpstr>已用的字体</vt:lpstr>
      </vt:variant>
      <vt:variant>
        <vt:i4>25</vt:i4>
      </vt:variant>
      <vt:variant>
        <vt:lpstr>主题</vt:lpstr>
      </vt:variant>
      <vt:variant>
        <vt:i4>4</vt:i4>
      </vt:variant>
      <vt:variant>
        <vt:lpstr>嵌入 OLE 服务器</vt:lpstr>
      </vt:variant>
      <vt:variant>
        <vt:i4>1</vt:i4>
      </vt:variant>
      <vt:variant>
        <vt:lpstr>幻灯片标题</vt:lpstr>
      </vt:variant>
      <vt:variant>
        <vt:i4>124</vt:i4>
      </vt:variant>
    </vt:vector>
  </HeadingPairs>
  <TitlesOfParts>
    <vt:vector size="154" baseType="lpstr">
      <vt:lpstr>Adelle Sans Devanagari</vt:lpstr>
      <vt:lpstr>Arial Regular</vt:lpstr>
      <vt:lpstr>Bodoni 72 Book</vt:lpstr>
      <vt:lpstr>FZKai-Z03</vt:lpstr>
      <vt:lpstr>Gill Sans</vt:lpstr>
      <vt:lpstr>Hiragino Sans GB W3</vt:lpstr>
      <vt:lpstr>Kaiti SC</vt:lpstr>
      <vt:lpstr>MS Mincho</vt:lpstr>
      <vt:lpstr>PingFang SC</vt:lpstr>
      <vt:lpstr>ZapfDingbats</vt:lpstr>
      <vt:lpstr>等线</vt:lpstr>
      <vt:lpstr>黑体</vt:lpstr>
      <vt:lpstr>华文楷体</vt:lpstr>
      <vt:lpstr>KaiTi</vt:lpstr>
      <vt:lpstr>宋体</vt:lpstr>
      <vt:lpstr>Microsoft YaHei</vt:lpstr>
      <vt:lpstr>Microsoft YaHei</vt:lpstr>
      <vt:lpstr>Arial</vt:lpstr>
      <vt:lpstr>Arial Narrow</vt:lpstr>
      <vt:lpstr>Calibri</vt:lpstr>
      <vt:lpstr>Comic Sans MS</vt:lpstr>
      <vt:lpstr>Gill Sans MT</vt:lpstr>
      <vt:lpstr>Tahoma</vt:lpstr>
      <vt:lpstr>Times New Roman</vt:lpstr>
      <vt:lpstr>Wingdings</vt:lpstr>
      <vt:lpstr>Default Design</vt:lpstr>
      <vt:lpstr>1_Default Design</vt:lpstr>
      <vt:lpstr>2_Default Design</vt:lpstr>
      <vt:lpstr>1_Office 主题​​</vt:lpstr>
      <vt:lpstr>Clip</vt:lpstr>
      <vt:lpstr>PowerPoint 演示文稿</vt:lpstr>
      <vt:lpstr>Chapter 5: network layer control plane</vt:lpstr>
      <vt:lpstr>PowerPoint 演示文稿</vt:lpstr>
      <vt:lpstr>Network-layer functions</vt:lpstr>
      <vt:lpstr>PowerPoint 演示文稿</vt:lpstr>
      <vt:lpstr>PowerPoint 演示文稿</vt:lpstr>
      <vt:lpstr>PowerPoint 演示文稿</vt:lpstr>
      <vt:lpstr>Routing protocols</vt:lpstr>
      <vt:lpstr>Graph abstraction of the network</vt:lpstr>
      <vt:lpstr>Graph abstraction: costs</vt:lpstr>
      <vt:lpstr>Routing algorithm classification</vt:lpstr>
      <vt:lpstr>理想的路由算法</vt:lpstr>
      <vt:lpstr>关于“最佳路由” </vt:lpstr>
      <vt:lpstr>从自适应性考虑的算法分类</vt:lpstr>
      <vt:lpstr>分层角度的路由选择协议</vt:lpstr>
      <vt:lpstr>自治系统基本概念</vt:lpstr>
      <vt:lpstr>大类路由选择协议</vt:lpstr>
      <vt:lpstr>大类路由选择协议</vt:lpstr>
      <vt:lpstr>路由算法与协议</vt:lpstr>
      <vt:lpstr>关于网络、路由的应用</vt:lpstr>
      <vt:lpstr>关于网络、路由的应用</vt:lpstr>
      <vt:lpstr>关于网络、路由的应用</vt:lpstr>
      <vt:lpstr>PowerPoint 演示文稿</vt:lpstr>
      <vt:lpstr>A link-state routing algorithm</vt:lpstr>
      <vt:lpstr>A link-state routing algorithm</vt:lpstr>
      <vt:lpstr>Dijsktra’s algorithm</vt:lpstr>
      <vt:lpstr>Dijsktra’s algorithm</vt:lpstr>
      <vt:lpstr>PowerPoint 演示文稿</vt:lpstr>
      <vt:lpstr>Dijkstra’s algorithm: another example</vt:lpstr>
      <vt:lpstr>Dijkstra’s algorithm: another example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Dijkstra’s algorithm: example (2) </vt:lpstr>
      <vt:lpstr>Dijkstra’s algorithm, discussion</vt:lpstr>
      <vt:lpstr>PowerPoint 演示文稿</vt:lpstr>
      <vt:lpstr>Distance vector algorithm </vt:lpstr>
      <vt:lpstr>Distance vector algorithm </vt:lpstr>
      <vt:lpstr>Bellman-Ford example </vt:lpstr>
      <vt:lpstr>Distance vector algorithm </vt:lpstr>
      <vt:lpstr>Distance vector algorithm </vt:lpstr>
      <vt:lpstr>Distance vector algorithm </vt:lpstr>
      <vt:lpstr>PowerPoint 演示文稿</vt:lpstr>
      <vt:lpstr>PowerPoint 演示文稿</vt:lpstr>
      <vt:lpstr>Distance vector: link cost changes</vt:lpstr>
      <vt:lpstr>Distance vector: link cost changes</vt:lpstr>
      <vt:lpstr>Comparison of LS and DV algorithms</vt:lpstr>
      <vt:lpstr>Chapter 4: Network Layer</vt:lpstr>
      <vt:lpstr>Intra-AS Routing</vt:lpstr>
      <vt:lpstr>RIP ( Routing Information Protocol)</vt:lpstr>
      <vt:lpstr>RIP: Example </vt:lpstr>
      <vt:lpstr>RIP: Example </vt:lpstr>
      <vt:lpstr>RIP: Link Failure and Recovery </vt:lpstr>
      <vt:lpstr>RIP Table processing</vt:lpstr>
      <vt:lpstr>PowerPoint 演示文稿</vt:lpstr>
      <vt:lpstr>Making routing scalable</vt:lpstr>
      <vt:lpstr>Internet approach to scalable routing</vt:lpstr>
      <vt:lpstr>Interconnected ASes</vt:lpstr>
      <vt:lpstr>Inter-AS tasks</vt:lpstr>
      <vt:lpstr>Intra-AS Routing</vt:lpstr>
      <vt:lpstr>OSPF (Open Shortest Path First)</vt:lpstr>
      <vt:lpstr>OSPF “advanced” features</vt:lpstr>
      <vt:lpstr>Hierarchical OSPF</vt:lpstr>
      <vt:lpstr>Hierarchical OSPF</vt:lpstr>
      <vt:lpstr>PowerPoint 演示文稿</vt:lpstr>
      <vt:lpstr>Internet inter-AS routing: BGP</vt:lpstr>
      <vt:lpstr>eBGP, iBGP connections</vt:lpstr>
      <vt:lpstr>BGP basics</vt:lpstr>
      <vt:lpstr>Path attributes and BGP routes</vt:lpstr>
      <vt:lpstr>BGP path advertisement</vt:lpstr>
      <vt:lpstr>BGP path advertisement</vt:lpstr>
      <vt:lpstr>BGP messages</vt:lpstr>
      <vt:lpstr>BGP, OSPF, forwarding table entries</vt:lpstr>
      <vt:lpstr>BGP, OSPF, forwarding table entries</vt:lpstr>
      <vt:lpstr>BGP route selection</vt:lpstr>
      <vt:lpstr>Hot Potato Routing</vt:lpstr>
      <vt:lpstr>BGP: achieving policy via advertisements</vt:lpstr>
      <vt:lpstr>BGP: achieving policy via advertisements</vt:lpstr>
      <vt:lpstr>Why different Intra-, Inter-AS routing ? </vt:lpstr>
      <vt:lpstr>PowerPoint 演示文稿</vt:lpstr>
      <vt:lpstr>PowerPoint 演示文稿</vt:lpstr>
      <vt:lpstr>PowerPoint 演示文稿</vt:lpstr>
      <vt:lpstr>PowerPoint 演示文稿</vt:lpstr>
      <vt:lpstr>PowerPoint 演示文稿</vt:lpstr>
      <vt:lpstr>Analogy: mainframe to PC evolution*</vt:lpstr>
      <vt:lpstr>Traffic engineering: difficult traditional routing</vt:lpstr>
      <vt:lpstr>Traffic engineering: difficult</vt:lpstr>
      <vt:lpstr>Traffic engineering: difficult</vt:lpstr>
      <vt:lpstr>PowerPoint 演示文稿</vt:lpstr>
      <vt:lpstr>PowerPoint 演示文稿</vt:lpstr>
      <vt:lpstr>PowerPoint 演示文稿</vt:lpstr>
      <vt:lpstr>PowerPoint 演示文稿</vt:lpstr>
      <vt:lpstr>PowerPoint 演示文稿</vt:lpstr>
      <vt:lpstr>OpenFlow protocol</vt:lpstr>
      <vt:lpstr>OpenFlow: controller-to-switch messages</vt:lpstr>
      <vt:lpstr>OpenFlow: switch-to-controller messages</vt:lpstr>
      <vt:lpstr>PowerPoint 演示文稿</vt:lpstr>
      <vt:lpstr>PowerPoint 演示文稿</vt:lpstr>
      <vt:lpstr>PowerPoint 演示文稿</vt:lpstr>
      <vt:lpstr>PowerPoint 演示文稿</vt:lpstr>
      <vt:lpstr>PowerPoint 演示文稿</vt:lpstr>
      <vt:lpstr>PowerPoint 演示文稿</vt:lpstr>
      <vt:lpstr>ICMP协议</vt:lpstr>
      <vt:lpstr>PowerPoint 演示文稿</vt:lpstr>
      <vt:lpstr>ICMP报文类型及功能</vt:lpstr>
      <vt:lpstr>差错报告报文</vt:lpstr>
      <vt:lpstr>Ping和ICMP</vt:lpstr>
      <vt:lpstr>Traceroute和ICMP</vt:lpstr>
      <vt:lpstr>Traceroute和ICMP</vt:lpstr>
      <vt:lpstr>ICMP: internet control message protocol</vt:lpstr>
      <vt:lpstr>Traceroute and ICMP</vt:lpstr>
      <vt:lpstr>PowerPoint 演示文稿</vt:lpstr>
      <vt:lpstr>What is network management?</vt:lpstr>
      <vt:lpstr>Infrastructure for network management</vt:lpstr>
      <vt:lpstr>SNMP protocol</vt:lpstr>
      <vt:lpstr>SNMP protocol: message types</vt:lpstr>
      <vt:lpstr>SNMP protocol: message formats</vt:lpstr>
      <vt:lpstr>Chapter 5: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3rd Edition: Chapter 4</dc:title>
  <dc:creator>Jim Kurose and Keith Ross</dc:creator>
  <cp:lastModifiedBy>Qianhao Sun</cp:lastModifiedBy>
  <cp:revision>499</cp:revision>
  <cp:lastPrinted>2025-11-25T11:46:17Z</cp:lastPrinted>
  <dcterms:created xsi:type="dcterms:W3CDTF">2025-11-25T11:46:17Z</dcterms:created>
  <dcterms:modified xsi:type="dcterms:W3CDTF">2025-12-24T03:21:26Z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C34C4EC91F886ECD089725694DE4ACED_42</vt:lpwstr>
  </property>
  <property fmtid="{D5CDD505-2E9C-101B-9397-08002B2CF9AE}" pid="3" name="KSOProductBuildVer">
    <vt:lpwstr>2052-12.1.23540.23540</vt:lpwstr>
  </property>
</Properties>
</file>