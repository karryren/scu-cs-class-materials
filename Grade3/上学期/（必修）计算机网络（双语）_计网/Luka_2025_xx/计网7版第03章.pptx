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101"/>
  </p:handoutMasterIdLst>
  <p:sldIdLst>
    <p:sldId id="500" r:id="rId3"/>
    <p:sldId id="365" r:id="rId4"/>
    <p:sldId id="258" r:id="rId5"/>
    <p:sldId id="368" r:id="rId6"/>
    <p:sldId id="259" r:id="rId7"/>
    <p:sldId id="466" r:id="rId8"/>
    <p:sldId id="467" r:id="rId9"/>
    <p:sldId id="261" r:id="rId10"/>
    <p:sldId id="371" r:id="rId11"/>
    <p:sldId id="372" r:id="rId12"/>
    <p:sldId id="373" r:id="rId13"/>
    <p:sldId id="468" r:id="rId14"/>
    <p:sldId id="469" r:id="rId15"/>
    <p:sldId id="470" r:id="rId16"/>
    <p:sldId id="263" r:id="rId17"/>
    <p:sldId id="264" r:id="rId18"/>
    <p:sldId id="265" r:id="rId19"/>
    <p:sldId id="445" r:id="rId20"/>
    <p:sldId id="471" r:id="rId22"/>
    <p:sldId id="408" r:id="rId23"/>
    <p:sldId id="446" r:id="rId24"/>
    <p:sldId id="447" r:id="rId25"/>
    <p:sldId id="409" r:id="rId26"/>
    <p:sldId id="410" r:id="rId27"/>
    <p:sldId id="411" r:id="rId28"/>
    <p:sldId id="412" r:id="rId29"/>
    <p:sldId id="477" r:id="rId30"/>
    <p:sldId id="413" r:id="rId31"/>
    <p:sldId id="414" r:id="rId32"/>
    <p:sldId id="415" r:id="rId33"/>
    <p:sldId id="454" r:id="rId34"/>
    <p:sldId id="417" r:id="rId35"/>
    <p:sldId id="418" r:id="rId36"/>
    <p:sldId id="419" r:id="rId37"/>
    <p:sldId id="420" r:id="rId38"/>
    <p:sldId id="453" r:id="rId39"/>
    <p:sldId id="452" r:id="rId40"/>
    <p:sldId id="423" r:id="rId41"/>
    <p:sldId id="472" r:id="rId42"/>
    <p:sldId id="473" r:id="rId43"/>
    <p:sldId id="456" r:id="rId44"/>
    <p:sldId id="427" r:id="rId45"/>
    <p:sldId id="428" r:id="rId46"/>
    <p:sldId id="429" r:id="rId47"/>
    <p:sldId id="457" r:id="rId48"/>
    <p:sldId id="458" r:id="rId49"/>
    <p:sldId id="431" r:id="rId50"/>
    <p:sldId id="432" r:id="rId51"/>
    <p:sldId id="433" r:id="rId52"/>
    <p:sldId id="434" r:id="rId53"/>
    <p:sldId id="459" r:id="rId54"/>
    <p:sldId id="436" r:id="rId55"/>
    <p:sldId id="437" r:id="rId56"/>
    <p:sldId id="474" r:id="rId57"/>
    <p:sldId id="475" r:id="rId58"/>
    <p:sldId id="320" r:id="rId59"/>
    <p:sldId id="321" r:id="rId60"/>
    <p:sldId id="322" r:id="rId61"/>
    <p:sldId id="485" r:id="rId62"/>
    <p:sldId id="378" r:id="rId63"/>
    <p:sldId id="379" r:id="rId64"/>
    <p:sldId id="381" r:id="rId65"/>
    <p:sldId id="476" r:id="rId66"/>
    <p:sldId id="383" r:id="rId67"/>
    <p:sldId id="384" r:id="rId68"/>
    <p:sldId id="478" r:id="rId69"/>
    <p:sldId id="326" r:id="rId70"/>
    <p:sldId id="480" r:id="rId71"/>
    <p:sldId id="325" r:id="rId72"/>
    <p:sldId id="386" r:id="rId73"/>
    <p:sldId id="451" r:id="rId74"/>
    <p:sldId id="481" r:id="rId75"/>
    <p:sldId id="482" r:id="rId76"/>
    <p:sldId id="483" r:id="rId77"/>
    <p:sldId id="484" r:id="rId78"/>
    <p:sldId id="486" r:id="rId79"/>
    <p:sldId id="487" r:id="rId80"/>
    <p:sldId id="488" r:id="rId81"/>
    <p:sldId id="489" r:id="rId82"/>
    <p:sldId id="490" r:id="rId83"/>
    <p:sldId id="492" r:id="rId84"/>
    <p:sldId id="491" r:id="rId85"/>
    <p:sldId id="498" r:id="rId86"/>
    <p:sldId id="334" r:id="rId87"/>
    <p:sldId id="395" r:id="rId88"/>
    <p:sldId id="394" r:id="rId89"/>
    <p:sldId id="398" r:id="rId90"/>
    <p:sldId id="397" r:id="rId91"/>
    <p:sldId id="399" r:id="rId92"/>
    <p:sldId id="400" r:id="rId93"/>
    <p:sldId id="443" r:id="rId94"/>
    <p:sldId id="444" r:id="rId95"/>
    <p:sldId id="347" r:id="rId96"/>
    <p:sldId id="348" r:id="rId97"/>
    <p:sldId id="401" r:id="rId98"/>
    <p:sldId id="501" r:id="rId99"/>
    <p:sldId id="354" r:id="rId100"/>
  </p:sldIdLst>
  <p:sldSz cx="9144000" cy="6858000" type="screen4x3"/>
  <p:notesSz cx="7048500" cy="9296400"/>
  <p:custDataLst>
    <p:tags r:id="rId105"/>
  </p:custDataLst>
  <p:defaultTextStyle>
    <a:defPPr>
      <a:defRPr lang="en-US"/>
    </a:defPPr>
    <a:lvl1pPr marL="0" lvl="0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1pPr>
    <a:lvl2pPr marL="457200" lvl="1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2pPr>
    <a:lvl3pPr marL="914400" lvl="2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3pPr>
    <a:lvl4pPr marL="1371600" lvl="3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4pPr>
    <a:lvl5pPr marL="1828800" lvl="4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5pPr>
    <a:lvl6pPr marL="2286000" lvl="5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6pPr>
    <a:lvl7pPr marL="2743200" lvl="6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7pPr>
    <a:lvl8pPr marL="3200400" lvl="7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8pPr>
    <a:lvl9pPr marL="3657600" lvl="8" indent="0" algn="ctr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Tahoma" panose="020B0604030504040204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000099"/>
    <a:srgbClr val="CC0000"/>
    <a:srgbClr val="FF66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6" d="100"/>
          <a:sy n="46" d="100"/>
        </p:scale>
        <p:origin x="-23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00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5" Type="http://schemas.openxmlformats.org/officeDocument/2006/relationships/tags" Target="tags/tag1.xml"/><Relationship Id="rId104" Type="http://schemas.openxmlformats.org/officeDocument/2006/relationships/tableStyles" Target="tableStyles.xml"/><Relationship Id="rId103" Type="http://schemas.openxmlformats.org/officeDocument/2006/relationships/viewProps" Target="viewProps.xml"/><Relationship Id="rId102" Type="http://schemas.openxmlformats.org/officeDocument/2006/relationships/presProps" Target="presProps.xml"/><Relationship Id="rId101" Type="http://schemas.openxmlformats.org/officeDocument/2006/relationships/handoutMaster" Target="handoutMasters/handoutMaster1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/>
          <a:p>
            <a:pPr lvl="0" algn="l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type="dt" sz="quarter" idx="1"/>
          </p:nvPr>
        </p:nvSpPr>
        <p:spPr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/>
          <a:p>
            <a:pPr lvl="0" algn="r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3316" name="Rectangle 4"/>
          <p:cNvSpPr>
            <a:spLocks noGrp="1"/>
          </p:cNvSpPr>
          <p:nvPr>
            <p:ph type="ftr" sz="quarter" idx="2"/>
          </p:nvPr>
        </p:nvSpPr>
        <p:spPr>
          <a:xfrm>
            <a:off x="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 anchor="b" anchorCtr="0"/>
          <a:p>
            <a:pPr lvl="0" algn="l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3317" name="Rectangle 5"/>
          <p:cNvSpPr>
            <a:spLocks noGrp="1"/>
          </p:cNvSpPr>
          <p:nvPr>
            <p:ph type="sldNum" sz="quarter" idx="3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 anchor="b" anchorCtr="0"/>
          <a:p>
            <a:pPr lvl="0" algn="r" defTabSz="933450"/>
            <a:fld id="{9A0DB2DC-4C9A-4742-B13C-FB6460FD3503}" type="slidenum">
              <a:rPr lang="en-US" sz="1200" dirty="0">
                <a:latin typeface="Times New Roman" panose="02020503050405090304" charset="0"/>
              </a:rPr>
            </a:fld>
            <a:endParaRPr lang="en-US" sz="1200" dirty="0">
              <a:latin typeface="Times New Roman" panose="0202050305040509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/>
          <a:p>
            <a:pPr lvl="0" algn="l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type="dt" idx="1"/>
          </p:nvPr>
        </p:nvSpPr>
        <p:spPr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/>
          <a:p>
            <a:pPr lvl="0" algn="r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136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4341" name="Rectangle 5"/>
          <p:cNvSpPr>
            <a:spLocks noGrp="1"/>
          </p:cNvSpPr>
          <p:nvPr>
            <p:ph type="body" sz="quarter" idx="3"/>
          </p:nvPr>
        </p:nvSpPr>
        <p:spPr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434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 anchor="b" anchorCtr="0"/>
          <a:p>
            <a:pPr lvl="0" algn="l" defTabSz="933450"/>
            <a:endParaRPr sz="1200" dirty="0">
              <a:latin typeface="Times New Roman" panose="02020503050405090304" charset="0"/>
            </a:endParaRPr>
          </a:p>
        </p:txBody>
      </p:sp>
      <p:sp>
        <p:nvSpPr>
          <p:cNvPr id="14343" name="Rectangle 7"/>
          <p:cNvSpPr>
            <a:spLocks noGrp="1"/>
          </p:cNvSpPr>
          <p:nvPr>
            <p:ph type="sldNum" sz="quarter" idx="5"/>
          </p:nvPr>
        </p:nvSpPr>
        <p:spPr>
          <a:xfrm>
            <a:off x="3994150" y="8831263"/>
            <a:ext cx="3054350" cy="465137"/>
          </a:xfrm>
          <a:prstGeom prst="rect">
            <a:avLst/>
          </a:prstGeom>
          <a:noFill/>
          <a:ln w="9525">
            <a:noFill/>
          </a:ln>
        </p:spPr>
        <p:txBody>
          <a:bodyPr lIns="93397" tIns="46698" rIns="93397" bIns="46698" anchor="b" anchorCtr="0"/>
          <a:p>
            <a:pPr lvl="0" algn="r" defTabSz="933450"/>
            <a:fld id="{9A0DB2DC-4C9A-4742-B13C-FB6460FD3503}" type="slidenum">
              <a:rPr lang="en-US" sz="1200" dirty="0">
                <a:latin typeface="Times New Roman" panose="02020503050405090304" charset="0"/>
              </a:rPr>
            </a:fld>
            <a:endParaRPr lang="en-US" sz="1200" dirty="0">
              <a:latin typeface="Times New Roman" panose="0202050305040509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994150" y="8831263"/>
            <a:ext cx="3054350" cy="465138"/>
          </a:xfrm>
        </p:spPr>
        <p:txBody>
          <a:bodyPr vert="horz" wrap="square" lIns="93397" tIns="46698" rIns="93397" bIns="46698" numCol="1" anchor="b" anchorCtr="0" compatLnSpc="1"/>
          <a:p>
            <a:pPr lvl="0" algn="r" defTabSz="933450"/>
            <a:fld id="{9A0DB2DC-4C9A-4742-B13C-FB6460FD3503}" type="slidenum">
              <a:rPr lang="en-US" sz="1200" dirty="0">
                <a:latin typeface="Times New Roman" panose="02020503050405090304" charset="0"/>
              </a:rPr>
            </a:fld>
            <a:endParaRPr lang="en-US" sz="1200" dirty="0">
              <a:latin typeface="Times New Roman" panose="0202050305040509030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3397" tIns="46698" rIns="93397" bIns="46698" anchor="t" anchorCtr="0"/>
          <a:p>
            <a:pPr lvl="0"/>
            <a:r>
              <a:rPr lang="en-US" altLang="zh-CN" dirty="0"/>
              <a:t>Kurose and Ross forgot to say anything about wrapping the carry and adding it to low order bit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994150" y="8831263"/>
            <a:ext cx="3054350" cy="465138"/>
          </a:xfrm>
        </p:spPr>
        <p:txBody>
          <a:bodyPr vert="horz" wrap="square" lIns="93397" tIns="46698" rIns="93397" bIns="46698" numCol="1" anchor="b" anchorCtr="0" compatLnSpc="1"/>
          <a:p>
            <a:pPr lvl="0" algn="r" defTabSz="933450"/>
            <a:fld id="{9A0DB2DC-4C9A-4742-B13C-FB6460FD3503}" type="slidenum">
              <a:rPr lang="en-US" sz="1200" dirty="0">
                <a:latin typeface="Times New Roman" panose="02020503050405090304" charset="0"/>
              </a:rPr>
            </a:fld>
            <a:endParaRPr lang="en-US" sz="1200" dirty="0">
              <a:latin typeface="Times New Roman" panose="0202050305040509030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3397" tIns="46698" rIns="93397" bIns="46698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994150" y="8831263"/>
            <a:ext cx="3054350" cy="465138"/>
          </a:xfrm>
        </p:spPr>
        <p:txBody>
          <a:bodyPr vert="horz" wrap="square" lIns="93397" tIns="46698" rIns="93397" bIns="46698" numCol="1" anchor="b" anchorCtr="0" compatLnSpc="1"/>
          <a:p>
            <a:pPr lvl="0" algn="r" defTabSz="933450"/>
            <a:fld id="{9A0DB2DC-4C9A-4742-B13C-FB6460FD3503}" type="slidenum">
              <a:rPr lang="en-US" sz="1200" dirty="0">
                <a:latin typeface="Times New Roman" panose="02020503050405090304" charset="0"/>
              </a:rPr>
            </a:fld>
            <a:endParaRPr lang="en-US" sz="1200" dirty="0">
              <a:latin typeface="Times New Roman" panose="0202050305040509030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/>
          </p:cNvSpPr>
          <p:nvPr>
            <p:ph type="body" idx="1"/>
          </p:nvPr>
        </p:nvSpPr>
        <p:spPr/>
        <p:txBody>
          <a:bodyPr vert="horz" wrap="square" lIns="93397" tIns="46698" rIns="93397" bIns="46698" anchor="t" anchorCtr="0"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400">
                <a:latin typeface="Times New Roman" panose="02020503050405090304" charset="0"/>
              </a:defRPr>
            </a:lvl1pPr>
          </a:lstStyle>
          <a:p>
            <a:pPr lvl="0"/>
            <a:endParaRPr dirty="0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5576888" y="6445250"/>
            <a:ext cx="2895600" cy="28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/>
            </a:lvl1pPr>
          </a:lstStyle>
          <a:p>
            <a:pPr lvl="0"/>
            <a:r>
              <a:rPr lang="en-US" altLang="zh-CN" dirty="0">
                <a:latin typeface="Tahoma" panose="020B0604030504040204" charset="0"/>
              </a:rPr>
              <a:t>Transport</a:t>
            </a:r>
            <a:r>
              <a:rPr lang="en-US" altLang="zh-CN" sz="1400" dirty="0">
                <a:latin typeface="Tahoma" panose="020B0604030504040204" charset="0"/>
              </a:rPr>
              <a:t> </a:t>
            </a:r>
            <a:r>
              <a:rPr lang="en-US" altLang="zh-CN" sz="1200" dirty="0">
                <a:latin typeface="Tahoma" panose="020B0604030504040204" charset="0"/>
              </a:rPr>
              <a:t>Layer</a:t>
            </a:r>
            <a:endParaRPr lang="en-US" altLang="zh-CN" sz="1200" dirty="0">
              <a:latin typeface="Tahoma" panose="020B0604030504040204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200"/>
            </a:lvl1pPr>
          </a:lstStyle>
          <a:p>
            <a:pPr lvl="0"/>
            <a:r>
              <a:rPr lang="en-US" altLang="zh-CN" dirty="0">
                <a:latin typeface="Tahoma" panose="020B0604030504040204" charset="0"/>
              </a:rPr>
              <a:t>3-</a:t>
            </a:r>
            <a:fld id="{9A0DB2DC-4C9A-4742-B13C-FB6460FD3503}" type="slidenum">
              <a:rPr lang="en-US" sz="1200" dirty="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charset="0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  <a:ea typeface="MS PGothic" charset="0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  <a:ea typeface="MS PGothic" charset="0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  <a:ea typeface="MS PGothic" charset="0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  <a:ea typeface="MS PGothic" charset="0"/>
          <a:cs typeface="MS PGothic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charset="0"/>
        </a:defRPr>
      </a:lvl9pPr>
    </p:titleStyle>
    <p:bodyStyle>
      <a:lvl1pPr marL="284480" indent="-28448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panose="05000000000000000000" charset="0"/>
        <a:buChar char="§"/>
        <a:defRPr sz="3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687705" indent="-23050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 panose="020B0604020202090204" pitchFamily="34" charset="0"/>
        <a:buChar char="•"/>
        <a:defRPr sz="2800">
          <a:solidFill>
            <a:schemeClr val="tx1"/>
          </a:solidFill>
          <a:latin typeface="+mn-lt"/>
          <a:ea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503050405090304" charset="0"/>
          <a:ea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  <a:ea typeface="MS PGothic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3.pn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3.pn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34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3.png"/><Relationship Id="rId3" Type="http://schemas.openxmlformats.org/officeDocument/2006/relationships/image" Target="../media/image3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37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4"/>
          <p:cNvSpPr/>
          <p:nvPr/>
        </p:nvSpPr>
        <p:spPr>
          <a:xfrm>
            <a:off x="5608638" y="3489325"/>
            <a:ext cx="3260725" cy="2860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l" eaLnBrk="1" hangingPunct="1">
              <a:lnSpc>
                <a:spcPts val="3065"/>
              </a:lnSpc>
            </a:pPr>
            <a:r>
              <a:rPr lang="en-US" altLang="zh-CN" sz="2800" i="1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Computer Networking: A Top Down Approach </a:t>
            </a:r>
            <a:br>
              <a:rPr lang="en-US" altLang="zh-CN" sz="2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</a:br>
            <a:endParaRPr lang="en-US" altLang="zh-CN" sz="2000" dirty="0">
              <a:solidFill>
                <a:srgbClr val="008000"/>
              </a:solidFill>
              <a:latin typeface="Tahoma" panose="020B0604030504040204" charset="0"/>
              <a:ea typeface="Arial" panose="020B0604020202090204" pitchFamily="34" charset="0"/>
            </a:endParaRPr>
          </a:p>
        </p:txBody>
      </p:sp>
      <p:sp>
        <p:nvSpPr>
          <p:cNvPr id="15362" name="Text Box 6"/>
          <p:cNvSpPr txBox="1"/>
          <p:nvPr/>
        </p:nvSpPr>
        <p:spPr>
          <a:xfrm>
            <a:off x="369888" y="3241675"/>
            <a:ext cx="5378450" cy="1481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sz="1800" dirty="0">
                <a:latin typeface="Arial" panose="020B0604020202090204" pitchFamily="34" charset="0"/>
              </a:rPr>
              <a:t>A note on the use of these Powerpoint slides:</a:t>
            </a:r>
            <a:endParaRPr lang="en-US" altLang="zh-CN" sz="18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200" dirty="0">
                <a:latin typeface="Arial" panose="020B0604020202090204" pitchFamily="34" charset="0"/>
              </a:rPr>
              <a:t>We</a:t>
            </a:r>
            <a:r>
              <a:rPr lang="ja-JP" altLang="en-US" sz="1200" dirty="0">
                <a:latin typeface="Arial" panose="020B0604020202090204" pitchFamily="34" charset="0"/>
              </a:rPr>
              <a:t>’</a:t>
            </a:r>
            <a:r>
              <a:rPr lang="en-US" altLang="ja-JP" sz="1200" dirty="0">
                <a:latin typeface="Arial" panose="020B0604020202090204" pitchFamily="34" charset="0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>
                <a:latin typeface="Arial" panose="020B0604020202090204" pitchFamily="34" charset="0"/>
              </a:rPr>
              <a:t>lot</a:t>
            </a:r>
            <a:r>
              <a:rPr lang="en-US" altLang="ja-JP" sz="1200" dirty="0">
                <a:latin typeface="Arial" panose="020B0604020202090204" pitchFamily="34" charset="0"/>
              </a:rPr>
              <a:t> of work on our part. In return for use, we only ask the following:</a:t>
            </a:r>
            <a:endParaRPr lang="en-US" altLang="ja-JP" sz="1200" dirty="0">
              <a:latin typeface="Arial" panose="020B0604020202090204" pitchFamily="34" charset="0"/>
            </a:endParaRPr>
          </a:p>
          <a:p>
            <a:pPr algn="l">
              <a:lnSpc>
                <a:spcPct val="85000"/>
              </a:lnSpc>
            </a:pPr>
            <a:endParaRPr lang="en-US" altLang="zh-CN" sz="1400" dirty="0">
              <a:latin typeface="Arial" panose="020B0604020202090204" pitchFamily="34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p>
            <a:pPr marL="173355" indent="-173355"/>
            <a:endParaRPr lang="en-US" altLang="zh-CN" sz="1400">
              <a:latin typeface="Gill Sans MT" charset="0"/>
            </a:endParaRPr>
          </a:p>
          <a:p>
            <a:pPr marL="173355" indent="-173355" algn="l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 sz="1200">
                <a:latin typeface="Arial" panose="020B0604020202090204" pitchFamily="34" charset="0"/>
              </a:rPr>
              <a:t>If you use these slides (e.g., in a class) that you mention their source (after all, we</a:t>
            </a:r>
            <a:r>
              <a:rPr lang="ja-JP" altLang="en-US" sz="1200">
                <a:latin typeface="Arial" panose="020B0604020202090204" pitchFamily="34" charset="0"/>
              </a:rPr>
              <a:t>’</a:t>
            </a:r>
            <a:r>
              <a:rPr lang="en-US" altLang="ja-JP" sz="1200">
                <a:latin typeface="Arial" panose="020B0604020202090204" pitchFamily="34" charset="0"/>
              </a:rPr>
              <a:t>d like people to use our book!)</a:t>
            </a:r>
            <a:endParaRPr lang="en-US" altLang="ja-JP" sz="1200">
              <a:latin typeface="Arial" panose="020B0604020202090204" pitchFamily="34" charset="0"/>
            </a:endParaRPr>
          </a:p>
          <a:p>
            <a:pPr marL="173355" indent="-173355" algn="l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 sz="1200">
                <a:latin typeface="Arial" panose="020B0604020202090204" pitchFamily="34" charset="0"/>
              </a:rPr>
              <a:t>If you post any slides on a www site, that you note that they are adapted from (or perhaps identical to) our slides, and note our copyright of this material.</a:t>
            </a:r>
            <a:endParaRPr lang="en-US" altLang="zh-CN" sz="1200">
              <a:latin typeface="Arial" panose="020B0604020202090204" pitchFamily="34" charset="0"/>
            </a:endParaRPr>
          </a:p>
          <a:p>
            <a:pPr marL="173355" indent="-173355" algn="l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altLang="zh-CN" sz="1200">
              <a:latin typeface="Arial" panose="020B0604020202090204" pitchFamily="34" charset="0"/>
            </a:endParaRPr>
          </a:p>
          <a:p>
            <a:pPr marL="173355" indent="-173355" algn="l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1200">
                <a:latin typeface="Arial" panose="020B0604020202090204" pitchFamily="34" charset="0"/>
              </a:rPr>
              <a:t>Thanks and enjoy!  JFK/KWR</a:t>
            </a:r>
            <a:endParaRPr lang="en-US" altLang="zh-CN" sz="1200">
              <a:latin typeface="Arial" panose="020B0604020202090204" pitchFamily="34" charset="0"/>
            </a:endParaRPr>
          </a:p>
          <a:p>
            <a:pPr marL="173355" indent="-173355" algn="l">
              <a:lnSpc>
                <a:spcPct val="85000"/>
              </a:lnSpc>
            </a:pPr>
            <a:endParaRPr lang="en-US" altLang="zh-CN" sz="1200">
              <a:latin typeface="Arial" panose="020B0604020202090204" pitchFamily="34" charset="0"/>
            </a:endParaRPr>
          </a:p>
          <a:p>
            <a:pPr marL="173355" indent="-173355" algn="l"/>
            <a:r>
              <a:rPr lang="en-US" altLang="zh-CN" sz="1200">
                <a:latin typeface="Arial" panose="020B0604020202090204" pitchFamily="34" charset="0"/>
              </a:rPr>
              <a:t>     All material copyright 1996-2016</a:t>
            </a:r>
            <a:endParaRPr lang="en-US" altLang="zh-CN" sz="1200">
              <a:latin typeface="Arial" panose="020B0604020202090204" pitchFamily="34" charset="0"/>
            </a:endParaRPr>
          </a:p>
          <a:p>
            <a:pPr marL="173355" indent="-173355" algn="l"/>
            <a:r>
              <a:rPr lang="en-US" altLang="zh-CN" sz="1200">
                <a:latin typeface="Arial" panose="020B0604020202090204" pitchFamily="34" charset="0"/>
              </a:rPr>
              <a:t>     J.F Kurose and K.W. Ross, All Rights Reserved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pic>
        <p:nvPicPr>
          <p:cNvPr id="15364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963" y="6146800"/>
            <a:ext cx="187325" cy="187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Picture 1" descr="kurose7e_cover_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238" y="325438"/>
            <a:ext cx="3087687" cy="3819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6" name="Rectangle 4"/>
          <p:cNvSpPr/>
          <p:nvPr/>
        </p:nvSpPr>
        <p:spPr>
          <a:xfrm>
            <a:off x="5634038" y="4510088"/>
            <a:ext cx="3260725" cy="2860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l" eaLnBrk="1" hangingPunct="1"/>
            <a:r>
              <a:rPr lang="en-US" altLang="zh-CN" sz="1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7</a:t>
            </a:r>
            <a:r>
              <a:rPr lang="en-US" altLang="zh-CN" sz="1800" baseline="300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 edition </a:t>
            </a:r>
            <a:br>
              <a:rPr lang="en-US" altLang="zh-CN" sz="1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</a:br>
            <a:r>
              <a:rPr lang="en-US" altLang="zh-CN" sz="1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Jim Kurose, Keith Ross</a:t>
            </a:r>
            <a:br>
              <a:rPr lang="en-US" altLang="zh-CN" sz="18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</a:br>
            <a:r>
              <a:rPr lang="en-US" altLang="zh-CN" sz="14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Pearson/Addison Wesley</a:t>
            </a:r>
            <a:br>
              <a:rPr lang="en-US" altLang="zh-CN" sz="14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</a:br>
            <a:r>
              <a:rPr lang="en-US" altLang="zh-CN" sz="1400" dirty="0">
                <a:solidFill>
                  <a:srgbClr val="008000"/>
                </a:solidFill>
                <a:latin typeface="Tahoma" panose="020B0604030504040204" charset="0"/>
                <a:cs typeface="Arial" panose="020B0604020202090204" pitchFamily="34" charset="0"/>
              </a:rPr>
              <a:t>April 2016</a:t>
            </a:r>
            <a:endParaRPr lang="en-US" altLang="zh-CN" sz="1400" dirty="0">
              <a:solidFill>
                <a:srgbClr val="008000"/>
              </a:solidFill>
              <a:latin typeface="Tahoma" panose="020B0604030504040204" charset="0"/>
              <a:ea typeface="Arial" panose="020B0604020202090204" pitchFamily="34" charset="0"/>
            </a:endParaRPr>
          </a:p>
        </p:txBody>
      </p:sp>
      <p:sp>
        <p:nvSpPr>
          <p:cNvPr id="15367" name="Rectangle 3"/>
          <p:cNvSpPr/>
          <p:nvPr/>
        </p:nvSpPr>
        <p:spPr>
          <a:xfrm>
            <a:off x="371475" y="715963"/>
            <a:ext cx="4487863" cy="1724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l" eaLnBrk="1" hangingPunct="1">
              <a:lnSpc>
                <a:spcPct val="85000"/>
              </a:lnSpc>
            </a:pPr>
            <a:r>
              <a:rPr lang="en-US" altLang="zh-CN" sz="4400" dirty="0">
                <a:solidFill>
                  <a:srgbClr val="000099"/>
                </a:solidFill>
                <a:latin typeface="Gill Sans MT" charset="0"/>
                <a:cs typeface="Arial" panose="020B0604020202090204" pitchFamily="34" charset="0"/>
              </a:rPr>
              <a:t>Chapter 3</a:t>
            </a:r>
            <a:br>
              <a:rPr lang="en-US" altLang="zh-CN" sz="4800" dirty="0">
                <a:solidFill>
                  <a:srgbClr val="000099"/>
                </a:solidFill>
                <a:latin typeface="Gill Sans MT" charset="0"/>
                <a:cs typeface="Arial" panose="020B0604020202090204" pitchFamily="34" charset="0"/>
              </a:rPr>
            </a:br>
            <a:r>
              <a:rPr lang="en-US" altLang="zh-CN" sz="4400" dirty="0">
                <a:solidFill>
                  <a:srgbClr val="000099"/>
                </a:solidFill>
                <a:latin typeface="Gill Sans MT" charset="0"/>
                <a:cs typeface="Arial" panose="020B0604020202090204" pitchFamily="34" charset="0"/>
              </a:rPr>
              <a:t>Transport Layer</a:t>
            </a:r>
            <a:endParaRPr lang="en-US" altLang="zh-CN" sz="4400" dirty="0">
              <a:solidFill>
                <a:srgbClr val="000099"/>
              </a:solidFill>
              <a:latin typeface="Gill Sans MT" charset="0"/>
              <a:ea typeface="Arial" panose="020B0604020202090204" pitchFamily="34" charset="0"/>
            </a:endParaRPr>
          </a:p>
        </p:txBody>
      </p:sp>
      <p:pic>
        <p:nvPicPr>
          <p:cNvPr id="15368" name="Picture 9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452438" y="2097088"/>
            <a:ext cx="3890962" cy="23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9" name="Footer Placeholder 2"/>
          <p:cNvSpPr txBox="1">
            <a:spLocks noGrp="1"/>
          </p:cNvSpPr>
          <p:nvPr>
            <p:ph type="ftr" sz="quarter" idx="11"/>
          </p:nvPr>
        </p:nvSpPr>
        <p:spPr>
          <a:xfrm>
            <a:off x="5562600" y="6453188"/>
            <a:ext cx="2895600" cy="287337"/>
          </a:xfrm>
        </p:spPr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r"/>
            <a:r>
              <a:rPr lang="en-US" altLang="zh-CN" sz="1200" dirty="0">
                <a:solidFill>
                  <a:srgbClr val="000000"/>
                </a:solidFill>
                <a:cs typeface="Arial" panose="020B0604020202090204" pitchFamily="34" charset="0"/>
              </a:rPr>
              <a:t>Transport Layer</a:t>
            </a:r>
            <a:endParaRPr lang="en-US" altLang="zh-CN" sz="1200" dirty="0">
              <a:solidFill>
                <a:srgbClr val="000000"/>
              </a:solidFill>
              <a:ea typeface="Arial" panose="020B0604020202090204" pitchFamily="34" charset="0"/>
            </a:endParaRPr>
          </a:p>
        </p:txBody>
      </p:sp>
      <p:sp>
        <p:nvSpPr>
          <p:cNvPr id="15370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>
                <a:solidFill>
                  <a:srgbClr val="000000"/>
                </a:solidFill>
                <a:cs typeface="Arial" panose="020B0604020202090204" pitchFamily="34" charset="0"/>
              </a:rPr>
              <a:t>2-</a:t>
            </a:r>
            <a:fld id="{9A0DB2DC-4C9A-4742-B13C-FB6460FD3503}" type="slidenum">
              <a:rPr lang="en-US" sz="1200" dirty="0">
                <a:solidFill>
                  <a:srgbClr val="000000"/>
                </a:solidFill>
                <a:cs typeface="Arial" panose="020B0604020202090204" pitchFamily="34" charset="0"/>
              </a:rPr>
            </a:fld>
            <a:endParaRPr lang="en-US" sz="1200" dirty="0">
              <a:solidFill>
                <a:srgbClr val="000000"/>
              </a:solidFill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07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7411" name="Picture 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1663" y="1025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grpSp>
        <p:nvGrpSpPr>
          <p:cNvPr id="18435" name="Group 894"/>
          <p:cNvGrpSpPr/>
          <p:nvPr/>
        </p:nvGrpSpPr>
        <p:grpSpPr>
          <a:xfrm>
            <a:off x="5102225" y="1601788"/>
            <a:ext cx="3540125" cy="4545012"/>
            <a:chOff x="3277" y="974"/>
            <a:chExt cx="2230" cy="2863"/>
          </a:xfrm>
        </p:grpSpPr>
        <p:sp>
          <p:nvSpPr>
            <p:cNvPr id="18464" name="Freeform 895"/>
            <p:cNvSpPr/>
            <p:nvPr/>
          </p:nvSpPr>
          <p:spPr>
            <a:xfrm>
              <a:off x="3277" y="1079"/>
              <a:ext cx="1094" cy="675"/>
            </a:xfrm>
            <a:custGeom>
              <a:avLst/>
              <a:gdLst/>
              <a:ahLst/>
              <a:cxnLst>
                <a:cxn ang="0">
                  <a:pos x="1116" y="11"/>
                </a:cxn>
                <a:cxn ang="0">
                  <a:pos x="673" y="53"/>
                </a:cxn>
                <a:cxn ang="0">
                  <a:pos x="356" y="129"/>
                </a:cxn>
                <a:cxn ang="0">
                  <a:pos x="264" y="229"/>
                </a:cxn>
                <a:cxn ang="0">
                  <a:pos x="37" y="297"/>
                </a:cxn>
                <a:cxn ang="0">
                  <a:pos x="29" y="459"/>
                </a:cxn>
                <a:cxn ang="0">
                  <a:pos x="227" y="489"/>
                </a:cxn>
                <a:cxn ang="0">
                  <a:pos x="792" y="489"/>
                </a:cxn>
                <a:cxn ang="0">
                  <a:pos x="1030" y="555"/>
                </a:cxn>
                <a:cxn ang="0">
                  <a:pos x="1296" y="657"/>
                </a:cxn>
                <a:cxn ang="0">
                  <a:pos x="1499" y="661"/>
                </a:cxn>
                <a:cxn ang="0">
                  <a:pos x="1640" y="603"/>
                </a:cxn>
                <a:cxn ang="0">
                  <a:pos x="1711" y="445"/>
                </a:cxn>
                <a:cxn ang="0">
                  <a:pos x="1755" y="291"/>
                </a:cxn>
                <a:cxn ang="0">
                  <a:pos x="1760" y="107"/>
                </a:cxn>
                <a:cxn ang="0">
                  <a:pos x="1611" y="17"/>
                </a:cxn>
                <a:cxn ang="0">
                  <a:pos x="1337" y="3"/>
                </a:cxn>
                <a:cxn ang="0">
                  <a:pos x="1116" y="11"/>
                </a:cxn>
              </a:cxnLst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8465" name="Group 896"/>
            <p:cNvGrpSpPr/>
            <p:nvPr/>
          </p:nvGrpSpPr>
          <p:grpSpPr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4508" name="Rectangle 897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09" name="AutoShape 898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CCFF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8466" name="Freeform 899"/>
            <p:cNvSpPr/>
            <p:nvPr/>
          </p:nvSpPr>
          <p:spPr>
            <a:xfrm>
              <a:off x="3379" y="2788"/>
              <a:ext cx="2032" cy="1049"/>
            </a:xfrm>
            <a:custGeom>
              <a:avLst/>
              <a:gdLst/>
              <a:ahLst/>
              <a:cxnLst>
                <a:cxn ang="0">
                  <a:pos x="1044" y="26"/>
                </a:cxn>
                <a:cxn ang="0">
                  <a:pos x="847" y="125"/>
                </a:cxn>
                <a:cxn ang="0">
                  <a:pos x="580" y="68"/>
                </a:cxn>
                <a:cxn ang="0">
                  <a:pos x="143" y="170"/>
                </a:cxn>
                <a:cxn ang="0">
                  <a:pos x="48" y="374"/>
                </a:cxn>
                <a:cxn ang="0">
                  <a:pos x="41" y="680"/>
                </a:cxn>
                <a:cxn ang="0">
                  <a:pos x="294" y="744"/>
                </a:cxn>
                <a:cxn ang="0">
                  <a:pos x="660" y="893"/>
                </a:cxn>
                <a:cxn ang="0">
                  <a:pos x="1088" y="1014"/>
                </a:cxn>
                <a:cxn ang="0">
                  <a:pos x="1525" y="1031"/>
                </a:cxn>
                <a:cxn ang="0">
                  <a:pos x="1831" y="907"/>
                </a:cxn>
                <a:cxn ang="0">
                  <a:pos x="2015" y="714"/>
                </a:cxn>
                <a:cxn ang="0">
                  <a:pos x="1931" y="251"/>
                </a:cxn>
                <a:cxn ang="0">
                  <a:pos x="1658" y="114"/>
                </a:cxn>
                <a:cxn ang="0">
                  <a:pos x="1355" y="15"/>
                </a:cxn>
                <a:cxn ang="0">
                  <a:pos x="1044" y="26"/>
                </a:cxn>
              </a:cxnLst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32" name="Line 900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3" name="Line 901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4" name="Line 902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5" name="Line 903"/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6" name="Line 904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7" name="Line 905"/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8" name="Line 906"/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39" name="Line 907"/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0" name="Line 908"/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1" name="Line 909"/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2" name="Line 910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3" name="Line 911"/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4" name="Line 912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45" name="Line 913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8481" name="Group 914"/>
            <p:cNvGrpSpPr/>
            <p:nvPr/>
          </p:nvGrpSpPr>
          <p:grpSpPr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18841" name="Picture 915" descr="access_point_stylized_smal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842" name="Picture 916" descr="antenna_radiation_stylized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8482" name="Freeform 917"/>
            <p:cNvSpPr/>
            <p:nvPr/>
          </p:nvSpPr>
          <p:spPr>
            <a:xfrm>
              <a:off x="4419" y="2224"/>
              <a:ext cx="828" cy="425"/>
            </a:xfrm>
            <a:custGeom>
              <a:avLst/>
              <a:gdLst/>
              <a:ahLst/>
              <a:cxnLst>
                <a:cxn ang="0">
                  <a:pos x="382" y="30"/>
                </a:cxn>
                <a:cxn ang="0">
                  <a:pos x="370" y="30"/>
                </a:cxn>
                <a:cxn ang="0">
                  <a:pos x="126" y="32"/>
                </a:cxn>
                <a:cxn ang="0">
                  <a:pos x="6" y="126"/>
                </a:cxn>
                <a:cxn ang="0">
                  <a:pos x="92" y="274"/>
                </a:cxn>
                <a:cxn ang="0">
                  <a:pos x="292" y="384"/>
                </a:cxn>
                <a:cxn ang="0">
                  <a:pos x="540" y="416"/>
                </a:cxn>
                <a:cxn ang="0">
                  <a:pos x="698" y="330"/>
                </a:cxn>
                <a:cxn ang="0">
                  <a:pos x="776" y="170"/>
                </a:cxn>
                <a:cxn ang="0">
                  <a:pos x="792" y="22"/>
                </a:cxn>
                <a:cxn ang="0">
                  <a:pos x="560" y="38"/>
                </a:cxn>
                <a:cxn ang="0">
                  <a:pos x="382" y="30"/>
                </a:cxn>
              </a:cxnLst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3" name="Freeform 918"/>
            <p:cNvSpPr/>
            <p:nvPr/>
          </p:nvSpPr>
          <p:spPr>
            <a:xfrm>
              <a:off x="4417" y="1263"/>
              <a:ext cx="1090" cy="709"/>
            </a:xfrm>
            <a:custGeom>
              <a:avLst/>
              <a:gdLst/>
              <a:ahLst/>
              <a:cxnLst>
                <a:cxn ang="0">
                  <a:pos x="14627" y="763"/>
                </a:cxn>
                <a:cxn ang="0">
                  <a:pos x="9913" y="5420"/>
                </a:cxn>
                <a:cxn ang="0">
                  <a:pos x="3316" y="7714"/>
                </a:cxn>
                <a:cxn ang="0">
                  <a:pos x="474" y="25995"/>
                </a:cxn>
                <a:cxn ang="0">
                  <a:pos x="6202" y="34346"/>
                </a:cxn>
                <a:cxn ang="0">
                  <a:pos x="11922" y="32921"/>
                </a:cxn>
                <a:cxn ang="0">
                  <a:pos x="20124" y="34346"/>
                </a:cxn>
                <a:cxn ang="0">
                  <a:pos x="24081" y="33549"/>
                </a:cxn>
                <a:cxn ang="0">
                  <a:pos x="25921" y="28785"/>
                </a:cxn>
                <a:cxn ang="0">
                  <a:pos x="25875" y="12218"/>
                </a:cxn>
                <a:cxn ang="0">
                  <a:pos x="22836" y="2665"/>
                </a:cxn>
                <a:cxn ang="0">
                  <a:pos x="14627" y="763"/>
                </a:cxn>
              </a:cxnLst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49" name="Line 919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0" name="Line 920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1" name="Line 921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2" name="Line 922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3" name="Line 923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4" name="Line 924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5" name="Line 925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6" name="Line 926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7" name="Line 927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8" name="Line 928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59" name="Line 929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0" name="Line 930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1" name="Line 931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2" name="Line 932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3" name="Line 933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4" name="Line 934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65" name="Line 935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8501" name="Group 936"/>
            <p:cNvGrpSpPr/>
            <p:nvPr/>
          </p:nvGrpSpPr>
          <p:grpSpPr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18824" name="Line 270"/>
              <p:cNvSpPr/>
              <p:nvPr/>
            </p:nvSpPr>
            <p:spPr>
              <a:xfrm flipH="1">
                <a:off x="1766" y="3287"/>
                <a:ext cx="188" cy="586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25" name="Line 271"/>
              <p:cNvSpPr/>
              <p:nvPr/>
            </p:nvSpPr>
            <p:spPr>
              <a:xfrm>
                <a:off x="1954" y="3287"/>
                <a:ext cx="188" cy="583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26" name="Line 272"/>
              <p:cNvSpPr/>
              <p:nvPr/>
            </p:nvSpPr>
            <p:spPr>
              <a:xfrm>
                <a:off x="1766" y="3870"/>
                <a:ext cx="188" cy="6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27" name="Line 273"/>
              <p:cNvSpPr/>
              <p:nvPr/>
            </p:nvSpPr>
            <p:spPr>
              <a:xfrm flipH="1">
                <a:off x="1954" y="3870"/>
                <a:ext cx="188" cy="6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28" name="Line 274"/>
              <p:cNvSpPr/>
              <p:nvPr/>
            </p:nvSpPr>
            <p:spPr>
              <a:xfrm>
                <a:off x="1954" y="3300"/>
                <a:ext cx="0" cy="63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29" name="Line 275"/>
              <p:cNvSpPr/>
              <p:nvPr/>
            </p:nvSpPr>
            <p:spPr>
              <a:xfrm flipV="1">
                <a:off x="1766" y="3810"/>
                <a:ext cx="188" cy="63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0" name="Line 276"/>
              <p:cNvSpPr/>
              <p:nvPr/>
            </p:nvSpPr>
            <p:spPr>
              <a:xfrm flipH="1" flipV="1">
                <a:off x="1954" y="3810"/>
                <a:ext cx="188" cy="60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1" name="Line 277"/>
              <p:cNvSpPr/>
              <p:nvPr/>
            </p:nvSpPr>
            <p:spPr>
              <a:xfrm>
                <a:off x="1846" y="3618"/>
                <a:ext cx="108" cy="4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2" name="Line 278"/>
              <p:cNvSpPr/>
              <p:nvPr/>
            </p:nvSpPr>
            <p:spPr>
              <a:xfrm flipV="1">
                <a:off x="1954" y="3618"/>
                <a:ext cx="114" cy="4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3" name="Line 279"/>
              <p:cNvSpPr/>
              <p:nvPr/>
            </p:nvSpPr>
            <p:spPr>
              <a:xfrm>
                <a:off x="1810" y="3704"/>
                <a:ext cx="139" cy="65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4" name="Line 280"/>
              <p:cNvSpPr/>
              <p:nvPr/>
            </p:nvSpPr>
            <p:spPr>
              <a:xfrm flipV="1">
                <a:off x="1954" y="3717"/>
                <a:ext cx="140" cy="57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5" name="Line 281"/>
              <p:cNvSpPr/>
              <p:nvPr/>
            </p:nvSpPr>
            <p:spPr>
              <a:xfrm flipV="1">
                <a:off x="1954" y="3530"/>
                <a:ext cx="72" cy="2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6" name="Line 282"/>
              <p:cNvSpPr/>
              <p:nvPr/>
            </p:nvSpPr>
            <p:spPr>
              <a:xfrm flipV="1">
                <a:off x="1954" y="3409"/>
                <a:ext cx="45" cy="1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7" name="Line 283"/>
              <p:cNvSpPr/>
              <p:nvPr/>
            </p:nvSpPr>
            <p:spPr>
              <a:xfrm>
                <a:off x="1873" y="3522"/>
                <a:ext cx="87" cy="32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838" name="Line 284"/>
              <p:cNvSpPr/>
              <p:nvPr/>
            </p:nvSpPr>
            <p:spPr>
              <a:xfrm>
                <a:off x="1912" y="3404"/>
                <a:ext cx="50" cy="31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4" name="Oval 952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pic>
            <p:nvPicPr>
              <p:cNvPr id="18840" name="Picture 953" descr="cell_tower_radiation_gray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3" y="3023"/>
                <a:ext cx="622" cy="503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8502" name="Group 954"/>
            <p:cNvGrpSpPr/>
            <p:nvPr/>
          </p:nvGrpSpPr>
          <p:grpSpPr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4480" name="Line 955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816" name="Oval 407"/>
              <p:cNvSpPr/>
              <p:nvPr/>
            </p:nvSpPr>
            <p:spPr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17" name="Rectangle 410"/>
              <p:cNvSpPr/>
              <p:nvPr/>
            </p:nvSpPr>
            <p:spPr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18" name="Oval 411"/>
              <p:cNvSpPr/>
              <p:nvPr/>
            </p:nvSpPr>
            <p:spPr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819" name="Group 959"/>
              <p:cNvGrpSpPr/>
              <p:nvPr/>
            </p:nvGrpSpPr>
            <p:grpSpPr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18822" name="Freeform 96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823" name="Freeform 96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85" name="Line 962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86" name="Line 963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03" name="Group 964"/>
            <p:cNvGrpSpPr/>
            <p:nvPr/>
          </p:nvGrpSpPr>
          <p:grpSpPr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18807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08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09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810" name="Group 968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813" name="Freeform 969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814" name="Freeform 97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76" name="Line 97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77" name="Line 97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04" name="Group 973"/>
            <p:cNvGrpSpPr/>
            <p:nvPr/>
          </p:nvGrpSpPr>
          <p:grpSpPr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18799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00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801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802" name="Group 977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805" name="Freeform 978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806" name="Freeform 979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68" name="Line 98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69" name="Line 98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05" name="Group 982"/>
            <p:cNvGrpSpPr/>
            <p:nvPr/>
          </p:nvGrpSpPr>
          <p:grpSpPr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18791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92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93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94" name="Group 986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97" name="Freeform 987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98" name="Freeform 988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60" name="Line 98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61" name="Line 99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06" name="Group 991"/>
            <p:cNvGrpSpPr/>
            <p:nvPr/>
          </p:nvGrpSpPr>
          <p:grpSpPr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18783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84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85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86" name="Group 995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89" name="Freeform 996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90" name="Freeform 997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52" name="Line 99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53" name="Line 99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07" name="Group 1000"/>
            <p:cNvGrpSpPr/>
            <p:nvPr/>
          </p:nvGrpSpPr>
          <p:grpSpPr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18775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76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77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78" name="Group 1004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81" name="Freeform 100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82" name="Freeform 1006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44" name="Line 100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45" name="Line 100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173" name="Line 1009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8509" name="Group 1010"/>
            <p:cNvGrpSpPr/>
            <p:nvPr/>
          </p:nvGrpSpPr>
          <p:grpSpPr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18767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68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69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70" name="Group 1014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73" name="Freeform 101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74" name="Freeform 1016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36" name="Line 101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37" name="Line 101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0" name="Group 1019"/>
            <p:cNvGrpSpPr/>
            <p:nvPr/>
          </p:nvGrpSpPr>
          <p:grpSpPr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18759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60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61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62" name="Group 1023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65" name="Freeform 10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66" name="Freeform 102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28" name="Line 102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29" name="Line 102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1" name="Group 1028"/>
            <p:cNvGrpSpPr/>
            <p:nvPr/>
          </p:nvGrpSpPr>
          <p:grpSpPr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18751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52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53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54" name="Group 1032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57" name="Freeform 103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58" name="Freeform 103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20" name="Line 103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21" name="Line 103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2" name="Group 1037"/>
            <p:cNvGrpSpPr/>
            <p:nvPr/>
          </p:nvGrpSpPr>
          <p:grpSpPr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18743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44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45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46" name="Group 1041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49" name="Freeform 1042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50" name="Freeform 104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12" name="Line 104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13" name="Line 104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3" name="Group 1046"/>
            <p:cNvGrpSpPr/>
            <p:nvPr/>
          </p:nvGrpSpPr>
          <p:grpSpPr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18735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36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37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38" name="Group 1050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41" name="Freeform 105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42" name="Freeform 1052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404" name="Line 105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405" name="Line 105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4" name="Group 1055"/>
            <p:cNvGrpSpPr/>
            <p:nvPr/>
          </p:nvGrpSpPr>
          <p:grpSpPr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18727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28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18729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18730" name="Group 1059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18733" name="Freeform 106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34" name="Freeform 106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396" name="Line 106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97" name="Line 106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15" name="Group 1064"/>
            <p:cNvGrpSpPr/>
            <p:nvPr/>
          </p:nvGrpSpPr>
          <p:grpSpPr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18713" name="Group 1065"/>
              <p:cNvGrpSpPr/>
              <p:nvPr/>
            </p:nvGrpSpPr>
            <p:grpSpPr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8715" name="Freeform 1066"/>
                <p:cNvSpPr/>
                <p:nvPr/>
              </p:nvSpPr>
              <p:spPr>
                <a:xfrm>
                  <a:off x="5134" y="2657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6" name="Freeform 1067"/>
                <p:cNvSpPr/>
                <p:nvPr/>
              </p:nvSpPr>
              <p:spPr>
                <a:xfrm>
                  <a:off x="5252" y="2656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7" name="Freeform 1068"/>
                <p:cNvSpPr/>
                <p:nvPr/>
              </p:nvSpPr>
              <p:spPr>
                <a:xfrm>
                  <a:off x="5089" y="2646"/>
                  <a:ext cx="114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8" name="Freeform 1069"/>
                <p:cNvSpPr/>
                <p:nvPr/>
              </p:nvSpPr>
              <p:spPr>
                <a:xfrm>
                  <a:off x="5250" y="2643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9" name="Freeform 1070"/>
                <p:cNvSpPr/>
                <p:nvPr/>
              </p:nvSpPr>
              <p:spPr>
                <a:xfrm>
                  <a:off x="5047" y="2671"/>
                  <a:ext cx="40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0" name="Freeform 1071"/>
                <p:cNvSpPr/>
                <p:nvPr/>
              </p:nvSpPr>
              <p:spPr>
                <a:xfrm>
                  <a:off x="5330" y="2639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1" name="Freeform 1072"/>
                <p:cNvSpPr/>
                <p:nvPr/>
              </p:nvSpPr>
              <p:spPr>
                <a:xfrm>
                  <a:off x="5115" y="2660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2" name="Freeform 1073"/>
                <p:cNvSpPr/>
                <p:nvPr/>
              </p:nvSpPr>
              <p:spPr>
                <a:xfrm>
                  <a:off x="5233" y="2660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3" name="Freeform 1074"/>
                <p:cNvSpPr/>
                <p:nvPr/>
              </p:nvSpPr>
              <p:spPr>
                <a:xfrm>
                  <a:off x="5070" y="2650"/>
                  <a:ext cx="112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4" name="Freeform 1075"/>
                <p:cNvSpPr/>
                <p:nvPr/>
              </p:nvSpPr>
              <p:spPr>
                <a:xfrm>
                  <a:off x="5229" y="2647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5" name="Freeform 1076"/>
                <p:cNvSpPr/>
                <p:nvPr/>
              </p:nvSpPr>
              <p:spPr>
                <a:xfrm>
                  <a:off x="5030" y="2680"/>
                  <a:ext cx="4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26" name="Freeform 1077"/>
                <p:cNvSpPr/>
                <p:nvPr/>
              </p:nvSpPr>
              <p:spPr>
                <a:xfrm>
                  <a:off x="5311" y="2643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pic>
            <p:nvPicPr>
              <p:cNvPr id="18714" name="Picture 1078" descr="access_point_stylized_gray_small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2" y="3642"/>
                <a:ext cx="430" cy="34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8516" name="Group 1079"/>
            <p:cNvGrpSpPr/>
            <p:nvPr/>
          </p:nvGrpSpPr>
          <p:grpSpPr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18699" name="Group 1080"/>
              <p:cNvGrpSpPr/>
              <p:nvPr/>
            </p:nvGrpSpPr>
            <p:grpSpPr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18701" name="Freeform 1081"/>
                <p:cNvSpPr/>
                <p:nvPr/>
              </p:nvSpPr>
              <p:spPr>
                <a:xfrm>
                  <a:off x="5134" y="2657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2" name="Freeform 1082"/>
                <p:cNvSpPr/>
                <p:nvPr/>
              </p:nvSpPr>
              <p:spPr>
                <a:xfrm>
                  <a:off x="5252" y="2656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3" name="Freeform 1083"/>
                <p:cNvSpPr/>
                <p:nvPr/>
              </p:nvSpPr>
              <p:spPr>
                <a:xfrm>
                  <a:off x="5089" y="2646"/>
                  <a:ext cx="114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4" name="Freeform 1084"/>
                <p:cNvSpPr/>
                <p:nvPr/>
              </p:nvSpPr>
              <p:spPr>
                <a:xfrm>
                  <a:off x="5250" y="2643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5" name="Freeform 1085"/>
                <p:cNvSpPr/>
                <p:nvPr/>
              </p:nvSpPr>
              <p:spPr>
                <a:xfrm>
                  <a:off x="5047" y="2671"/>
                  <a:ext cx="40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6" name="Freeform 1086"/>
                <p:cNvSpPr/>
                <p:nvPr/>
              </p:nvSpPr>
              <p:spPr>
                <a:xfrm>
                  <a:off x="5330" y="2639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7" name="Freeform 1087"/>
                <p:cNvSpPr/>
                <p:nvPr/>
              </p:nvSpPr>
              <p:spPr>
                <a:xfrm>
                  <a:off x="5115" y="2660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8" name="Freeform 1088"/>
                <p:cNvSpPr/>
                <p:nvPr/>
              </p:nvSpPr>
              <p:spPr>
                <a:xfrm>
                  <a:off x="5233" y="2660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09" name="Freeform 1089"/>
                <p:cNvSpPr/>
                <p:nvPr/>
              </p:nvSpPr>
              <p:spPr>
                <a:xfrm>
                  <a:off x="5070" y="2650"/>
                  <a:ext cx="112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0" name="Freeform 1090"/>
                <p:cNvSpPr/>
                <p:nvPr/>
              </p:nvSpPr>
              <p:spPr>
                <a:xfrm>
                  <a:off x="5229" y="2647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1" name="Freeform 1091"/>
                <p:cNvSpPr/>
                <p:nvPr/>
              </p:nvSpPr>
              <p:spPr>
                <a:xfrm>
                  <a:off x="5030" y="2680"/>
                  <a:ext cx="4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712" name="Freeform 1092"/>
                <p:cNvSpPr/>
                <p:nvPr/>
              </p:nvSpPr>
              <p:spPr>
                <a:xfrm>
                  <a:off x="5311" y="2643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pic>
            <p:nvPicPr>
              <p:cNvPr id="18700" name="Picture 1093" descr="access_point_stylized_gray_small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2" y="3642"/>
                <a:ext cx="430" cy="34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182" name="Line 1094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8518" name="Group 1095"/>
            <p:cNvGrpSpPr/>
            <p:nvPr/>
          </p:nvGrpSpPr>
          <p:grpSpPr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18697" name="Picture 1096" descr="desktop_computer_stylized_medium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98" name="Freeform 1097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19" name="Group 1098"/>
            <p:cNvGrpSpPr/>
            <p:nvPr/>
          </p:nvGrpSpPr>
          <p:grpSpPr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18695" name="Picture 1099" descr="desktop_computer_stylized_medium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96" name="Freeform 110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20" name="Group 1101"/>
            <p:cNvGrpSpPr/>
            <p:nvPr/>
          </p:nvGrpSpPr>
          <p:grpSpPr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18693" name="Picture 1102" descr="desktop_computer_stylized_medium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94" name="Freeform 110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21" name="Group 1104"/>
            <p:cNvGrpSpPr/>
            <p:nvPr/>
          </p:nvGrpSpPr>
          <p:grpSpPr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18691" name="Picture 1105" descr="desktop_computer_stylized_medium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92" name="Freeform 1106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pic>
          <p:nvPicPr>
            <p:cNvPr id="18522" name="Picture 1107" descr="car_icon_sma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95" y="1084"/>
              <a:ext cx="535" cy="10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8523" name="Group 1108"/>
            <p:cNvGrpSpPr/>
            <p:nvPr/>
          </p:nvGrpSpPr>
          <p:grpSpPr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18689" name="Picture 1109" descr="iphone_stylized_small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690" name="Picture 1110" descr="antenna_radiation_stylized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8524" name="Group 1111"/>
            <p:cNvGrpSpPr/>
            <p:nvPr/>
          </p:nvGrpSpPr>
          <p:grpSpPr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18657" name="Freeform 111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23" name="Rectangle 1113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59" name="Freeform 111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60" name="Freeform 11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26" name="Rectangle 1116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62" name="Group 1117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52" name="AutoShape 1118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53" name="AutoShape 1119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328" name="Rectangle 1120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64" name="Group 1121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350" name="AutoShape 1122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51" name="AutoShape 1123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330" name="Rectangle 1124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31" name="Rectangle 1125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67" name="Group 1126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348" name="AutoShape 1127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49" name="AutoShape 1128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18668" name="Freeform 112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669" name="Group 1130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46" name="AutoShape 1131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47" name="AutoShape 1132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335" name="Rectangle 1133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71" name="Freeform 113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72" name="Freeform 1135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38" name="Oval 1136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74" name="Freeform 113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40" name="AutoShape 1138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41" name="AutoShape 1139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42" name="Oval 1140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43" name="Oval 1141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44" name="Oval 1142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45" name="Rectangle 1143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25" name="Group 1144"/>
            <p:cNvGrpSpPr/>
            <p:nvPr/>
          </p:nvGrpSpPr>
          <p:grpSpPr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18625" name="Freeform 114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91" name="Rectangle 1146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27" name="Freeform 114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28" name="Freeform 114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94" name="Rectangle 1149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30" name="Group 1150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20" name="AutoShape 115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21" name="AutoShape 1152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296" name="Rectangle 1153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32" name="Group 1154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318" name="AutoShape 1155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19" name="AutoShape 1156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298" name="Rectangle 1157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99" name="Rectangle 1158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8635" name="Group 1159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316" name="AutoShape 1160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17" name="AutoShape 1161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18636" name="Freeform 116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637" name="Group 1163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14" name="AutoShape 1164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4315" name="AutoShape 1165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4303" name="Rectangle 1166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39" name="Freeform 116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40" name="Freeform 1168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6" name="Oval 1169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8642" name="Freeform 117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308" name="AutoShape 1171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9" name="AutoShape 1172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10" name="Oval 1173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11" name="Oval 1174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12" name="Oval 1175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13" name="Rectangle 1176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8526" name="Group 1177"/>
            <p:cNvGrpSpPr/>
            <p:nvPr/>
          </p:nvGrpSpPr>
          <p:grpSpPr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18602" name="Picture 1178" descr="antenna_stylized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603" name="Picture 1179" descr="laptop_keyboard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04" name="Freeform 1180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18605" name="Picture 1181" descr="screen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606" name="Freeform 1182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07" name="Freeform 118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08" name="Freeform 1184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09" name="Freeform 1185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0" name="Freeform 1186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1" name="Freeform 1187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612" name="Group 1188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619" name="Freeform 1189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20" name="Freeform 119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21" name="Freeform 119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22" name="Freeform 119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23" name="Freeform 119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24" name="Freeform 1194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8613" name="Freeform 1195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4" name="Freeform 1196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5" name="Freeform 1197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6" name="Freeform 1198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7" name="Freeform 1199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618" name="Freeform 1200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27" name="Group 1201"/>
            <p:cNvGrpSpPr/>
            <p:nvPr/>
          </p:nvGrpSpPr>
          <p:grpSpPr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18579" name="Picture 1202" descr="antenna_stylized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580" name="Picture 1203" descr="laptop_keyboard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81" name="Freeform 1204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18582" name="Picture 1205" descr="screen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83" name="Freeform 1206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84" name="Freeform 1207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85" name="Freeform 1208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86" name="Freeform 1209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87" name="Freeform 1210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88" name="Freeform 1211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589" name="Group 1212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96" name="Freeform 12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97" name="Freeform 121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98" name="Freeform 121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99" name="Freeform 121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00" name="Freeform 121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601" name="Freeform 12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8590" name="Freeform 1219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91" name="Freeform 1220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92" name="Freeform 1221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93" name="Freeform 1222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94" name="Freeform 12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95" name="Freeform 1224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28" name="Group 1225"/>
            <p:cNvGrpSpPr/>
            <p:nvPr/>
          </p:nvGrpSpPr>
          <p:grpSpPr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18556" name="Picture 1226" descr="antenna_stylized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557" name="Picture 1227" descr="laptop_keyboard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58" name="Freeform 1228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18559" name="Picture 1229" descr="screen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60" name="Freeform 1230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1" name="Freeform 1231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2" name="Freeform 1232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3" name="Freeform 123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4" name="Freeform 1234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5" name="Freeform 1235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566" name="Group 1236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73" name="Freeform 123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74" name="Freeform 123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75" name="Freeform 1239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76" name="Freeform 124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77" name="Freeform 124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78" name="Freeform 124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8567" name="Freeform 124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8" name="Freeform 1244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9" name="Freeform 1245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70" name="Freeform 1246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71" name="Freeform 1247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72" name="Freeform 1248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29" name="Group 1249"/>
            <p:cNvGrpSpPr/>
            <p:nvPr/>
          </p:nvGrpSpPr>
          <p:grpSpPr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18554" name="Picture 1250" descr="desktop_computer_stylized_medium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55" name="Freeform 125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30" name="Group 1252"/>
            <p:cNvGrpSpPr/>
            <p:nvPr/>
          </p:nvGrpSpPr>
          <p:grpSpPr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18531" name="Picture 1253" descr="antenna_stylized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8532" name="Picture 1254" descr="laptop_keyboard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33" name="Freeform 1255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18534" name="Picture 1256" descr="screen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535" name="Freeform 1257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36" name="Freeform 1258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37" name="Freeform 1259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38" name="Freeform 1260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39" name="Freeform 1261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0" name="Freeform 1262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541" name="Group 126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48" name="Freeform 1264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49" name="Freeform 126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50" name="Freeform 1266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51" name="Freeform 126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52" name="Freeform 126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553" name="Freeform 1269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8542" name="Freeform 1270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3" name="Freeform 1271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4" name="Freeform 1272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5" name="Freeform 127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6" name="Freeform 1274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7" name="Freeform 1275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pic>
        <p:nvPicPr>
          <p:cNvPr id="18436" name="Picture 864" descr="underline_base"/>
          <p:cNvPicPr/>
          <p:nvPr/>
        </p:nvPicPr>
        <p:blipFill>
          <a:blip r:embed="rId20"/>
          <a:stretch>
            <a:fillRect/>
          </a:stretch>
        </p:blipFill>
        <p:spPr>
          <a:xfrm>
            <a:off x="404813" y="1035050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Transport services and protocols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1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8150" y="1511300"/>
            <a:ext cx="4086225" cy="5114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provide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logical communication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between app processes running on different hosts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transport protocols run in end systems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 side: breaks app messages into 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, passes to  network layer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rcv side: reassembles segments into messages, passes to app layer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more than one transport protocol available to apps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Internet: TCP and UDP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grpSp>
        <p:nvGrpSpPr>
          <p:cNvPr id="35485" name="Group 669"/>
          <p:cNvGrpSpPr/>
          <p:nvPr/>
        </p:nvGrpSpPr>
        <p:grpSpPr>
          <a:xfrm>
            <a:off x="7856538" y="4454525"/>
            <a:ext cx="1057275" cy="957263"/>
            <a:chOff x="-153" y="1680"/>
            <a:chExt cx="666" cy="603"/>
          </a:xfrm>
        </p:grpSpPr>
        <p:grpSp>
          <p:nvGrpSpPr>
            <p:cNvPr id="18455" name="Group 670"/>
            <p:cNvGrpSpPr/>
            <p:nvPr/>
          </p:nvGrpSpPr>
          <p:grpSpPr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4122" name="Rectangle 671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3" name="Rectangle 672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4" name="Rectangle 673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5" name="Text Box 674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application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transport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network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data link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physical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6" name="Line 675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7" name="Line 676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28" name="Line 677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8456" name="Freeform 678"/>
            <p:cNvSpPr/>
            <p:nvPr/>
          </p:nvSpPr>
          <p:spPr>
            <a:xfrm>
              <a:off x="-153" y="1689"/>
              <a:ext cx="192" cy="594"/>
            </a:xfrm>
            <a:custGeom>
              <a:avLst/>
              <a:gdLst/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5114" name="Group 298"/>
          <p:cNvGrpSpPr/>
          <p:nvPr/>
        </p:nvGrpSpPr>
        <p:grpSpPr>
          <a:xfrm rot="2937887">
            <a:off x="5389563" y="3022600"/>
            <a:ext cx="3781425" cy="434975"/>
            <a:chOff x="2937" y="3579"/>
            <a:chExt cx="2382" cy="274"/>
          </a:xfrm>
        </p:grpSpPr>
        <p:sp>
          <p:nvSpPr>
            <p:cNvPr id="4116" name="Rectangle 295"/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17" name="Text Box 293"/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logical end-end transport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8453" name="Freeform 296"/>
            <p:cNvSpPr/>
            <p:nvPr/>
          </p:nvSpPr>
          <p:spPr>
            <a:xfrm>
              <a:off x="2937" y="3579"/>
              <a:ext cx="282" cy="264"/>
            </a:xfrm>
            <a:custGeom>
              <a:avLst/>
              <a:gdLst/>
              <a:ahLst/>
              <a:cxnLst>
                <a:cxn ang="0">
                  <a:pos x="282" y="0"/>
                </a:cxn>
                <a:cxn ang="0">
                  <a:pos x="282" y="264"/>
                </a:cxn>
                <a:cxn ang="0">
                  <a:pos x="0" y="129"/>
                </a:cxn>
                <a:cxn ang="0">
                  <a:pos x="282" y="0"/>
                </a:cxn>
              </a:cxnLst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4" name="Freeform 297"/>
            <p:cNvSpPr/>
            <p:nvPr/>
          </p:nvSpPr>
          <p:spPr>
            <a:xfrm flipH="1">
              <a:off x="5037" y="3589"/>
              <a:ext cx="282" cy="264"/>
            </a:xfrm>
            <a:custGeom>
              <a:avLst/>
              <a:gdLst/>
              <a:ahLst/>
              <a:cxnLst>
                <a:cxn ang="0">
                  <a:pos x="282" y="0"/>
                </a:cxn>
                <a:cxn ang="0">
                  <a:pos x="282" y="264"/>
                </a:cxn>
                <a:cxn ang="0">
                  <a:pos x="0" y="129"/>
                </a:cxn>
                <a:cxn ang="0">
                  <a:pos x="282" y="0"/>
                </a:cxn>
              </a:cxnLst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5681" name="Group 865"/>
          <p:cNvGrpSpPr/>
          <p:nvPr/>
        </p:nvGrpSpPr>
        <p:grpSpPr>
          <a:xfrm>
            <a:off x="5462588" y="1296988"/>
            <a:ext cx="1057275" cy="957262"/>
            <a:chOff x="-153" y="1680"/>
            <a:chExt cx="666" cy="603"/>
          </a:xfrm>
        </p:grpSpPr>
        <p:grpSp>
          <p:nvGrpSpPr>
            <p:cNvPr id="18442" name="Group 866"/>
            <p:cNvGrpSpPr/>
            <p:nvPr/>
          </p:nvGrpSpPr>
          <p:grpSpPr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4109" name="Rectangle 867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0" name="Rectangle 868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1" name="Rectangle 869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2" name="Text Box 870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application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transport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network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data link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physical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3" name="Line 871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4" name="Line 872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115" name="Line 873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8443" name="Freeform 874"/>
            <p:cNvSpPr/>
            <p:nvPr/>
          </p:nvSpPr>
          <p:spPr>
            <a:xfrm>
              <a:off x="-153" y="1689"/>
              <a:ext cx="192" cy="594"/>
            </a:xfrm>
            <a:custGeom>
              <a:avLst/>
              <a:gdLst/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9459" name="Picture 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1039813"/>
            <a:ext cx="658177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Transport vs. network layer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589088"/>
            <a:ext cx="3810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32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network layer: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logical communication between hosts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32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transport layer: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logical communication between processes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relies on, enhances, network 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512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760913" y="2230438"/>
            <a:ext cx="3967163" cy="4249738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i="1" dirty="0">
                <a:latin typeface="+mn-lt"/>
                <a:ea typeface="MS PGothic" charset="0"/>
                <a:cs typeface="MS PGothic" charset="0"/>
              </a:rPr>
              <a:t>12 kids in Ann</a:t>
            </a:r>
            <a:r>
              <a:rPr lang="ja-JP" altLang="en-US" sz="2400" i="1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i="1" dirty="0">
                <a:latin typeface="+mn-lt"/>
                <a:ea typeface="MS PGothic" charset="0"/>
                <a:cs typeface="MS PGothic" charset="0"/>
              </a:rPr>
              <a:t>s house sending letters to 12 kids in Bill</a:t>
            </a:r>
            <a:r>
              <a:rPr lang="ja-JP" altLang="en-US" sz="2400" i="1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i="1" dirty="0">
                <a:latin typeface="+mn-lt"/>
                <a:ea typeface="MS PGothic" charset="0"/>
                <a:cs typeface="MS PGothic" charset="0"/>
              </a:rPr>
              <a:t>s house: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hosts = houses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processes = kids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app messages = letters in envelopes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transport protocol = Ann and Bill who demux to in-house siblings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network-layer protocol = postal service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4779963" y="1947863"/>
            <a:ext cx="4016375" cy="3836988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4900613" y="1724025"/>
            <a:ext cx="2695575" cy="433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household analogy:</a:t>
            </a:r>
            <a:endParaRPr kumimoji="0" lang="en-US" sz="28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grpSp>
        <p:nvGrpSpPr>
          <p:cNvPr id="20483" name="Group 940"/>
          <p:cNvGrpSpPr/>
          <p:nvPr/>
        </p:nvGrpSpPr>
        <p:grpSpPr>
          <a:xfrm>
            <a:off x="5048250" y="1524000"/>
            <a:ext cx="3540125" cy="4545013"/>
            <a:chOff x="3277" y="974"/>
            <a:chExt cx="2230" cy="2863"/>
          </a:xfrm>
        </p:grpSpPr>
        <p:sp>
          <p:nvSpPr>
            <p:cNvPr id="20613" name="Freeform 941"/>
            <p:cNvSpPr/>
            <p:nvPr/>
          </p:nvSpPr>
          <p:spPr>
            <a:xfrm>
              <a:off x="3277" y="1079"/>
              <a:ext cx="1094" cy="675"/>
            </a:xfrm>
            <a:custGeom>
              <a:avLst/>
              <a:gdLst/>
              <a:ahLst/>
              <a:cxnLst>
                <a:cxn ang="0">
                  <a:pos x="1116" y="11"/>
                </a:cxn>
                <a:cxn ang="0">
                  <a:pos x="673" y="53"/>
                </a:cxn>
                <a:cxn ang="0">
                  <a:pos x="356" y="129"/>
                </a:cxn>
                <a:cxn ang="0">
                  <a:pos x="264" y="229"/>
                </a:cxn>
                <a:cxn ang="0">
                  <a:pos x="37" y="297"/>
                </a:cxn>
                <a:cxn ang="0">
                  <a:pos x="29" y="459"/>
                </a:cxn>
                <a:cxn ang="0">
                  <a:pos x="227" y="489"/>
                </a:cxn>
                <a:cxn ang="0">
                  <a:pos x="792" y="489"/>
                </a:cxn>
                <a:cxn ang="0">
                  <a:pos x="1030" y="555"/>
                </a:cxn>
                <a:cxn ang="0">
                  <a:pos x="1296" y="657"/>
                </a:cxn>
                <a:cxn ang="0">
                  <a:pos x="1499" y="661"/>
                </a:cxn>
                <a:cxn ang="0">
                  <a:pos x="1640" y="603"/>
                </a:cxn>
                <a:cxn ang="0">
                  <a:pos x="1711" y="445"/>
                </a:cxn>
                <a:cxn ang="0">
                  <a:pos x="1755" y="291"/>
                </a:cxn>
                <a:cxn ang="0">
                  <a:pos x="1760" y="107"/>
                </a:cxn>
                <a:cxn ang="0">
                  <a:pos x="1611" y="17"/>
                </a:cxn>
                <a:cxn ang="0">
                  <a:pos x="1337" y="3"/>
                </a:cxn>
                <a:cxn ang="0">
                  <a:pos x="1116" y="11"/>
                </a:cxn>
              </a:cxnLst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14" name="Group 942"/>
            <p:cNvGrpSpPr/>
            <p:nvPr/>
          </p:nvGrpSpPr>
          <p:grpSpPr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6657" name="Rectangle 943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58" name="AutoShape 944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CCFF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0615" name="Freeform 945"/>
            <p:cNvSpPr/>
            <p:nvPr/>
          </p:nvSpPr>
          <p:spPr>
            <a:xfrm>
              <a:off x="3379" y="2788"/>
              <a:ext cx="2032" cy="1049"/>
            </a:xfrm>
            <a:custGeom>
              <a:avLst/>
              <a:gdLst/>
              <a:ahLst/>
              <a:cxnLst>
                <a:cxn ang="0">
                  <a:pos x="1044" y="26"/>
                </a:cxn>
                <a:cxn ang="0">
                  <a:pos x="847" y="125"/>
                </a:cxn>
                <a:cxn ang="0">
                  <a:pos x="580" y="68"/>
                </a:cxn>
                <a:cxn ang="0">
                  <a:pos x="143" y="170"/>
                </a:cxn>
                <a:cxn ang="0">
                  <a:pos x="48" y="374"/>
                </a:cxn>
                <a:cxn ang="0">
                  <a:pos x="41" y="680"/>
                </a:cxn>
                <a:cxn ang="0">
                  <a:pos x="294" y="744"/>
                </a:cxn>
                <a:cxn ang="0">
                  <a:pos x="660" y="893"/>
                </a:cxn>
                <a:cxn ang="0">
                  <a:pos x="1088" y="1014"/>
                </a:cxn>
                <a:cxn ang="0">
                  <a:pos x="1525" y="1031"/>
                </a:cxn>
                <a:cxn ang="0">
                  <a:pos x="1831" y="907"/>
                </a:cxn>
                <a:cxn ang="0">
                  <a:pos x="2015" y="714"/>
                </a:cxn>
                <a:cxn ang="0">
                  <a:pos x="1931" y="251"/>
                </a:cxn>
                <a:cxn ang="0">
                  <a:pos x="1658" y="114"/>
                </a:cxn>
                <a:cxn ang="0">
                  <a:pos x="1355" y="15"/>
                </a:cxn>
                <a:cxn ang="0">
                  <a:pos x="1044" y="26"/>
                </a:cxn>
              </a:cxnLst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81" name="Line 946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2" name="Line 947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3" name="Line 948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4" name="Line 949"/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5" name="Line 950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6" name="Line 951"/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7" name="Line 952"/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8" name="Line 953"/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89" name="Line 954"/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0" name="Line 955"/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1" name="Line 956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2" name="Line 957"/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3" name="Line 958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4" name="Line 959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0630" name="Group 960"/>
            <p:cNvGrpSpPr/>
            <p:nvPr/>
          </p:nvGrpSpPr>
          <p:grpSpPr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20990" name="Picture 961" descr="access_point_stylized_smal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991" name="Picture 962" descr="antenna_radiation_stylized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0631" name="Freeform 963"/>
            <p:cNvSpPr/>
            <p:nvPr/>
          </p:nvSpPr>
          <p:spPr>
            <a:xfrm>
              <a:off x="4419" y="2224"/>
              <a:ext cx="828" cy="425"/>
            </a:xfrm>
            <a:custGeom>
              <a:avLst/>
              <a:gdLst/>
              <a:ahLst/>
              <a:cxnLst>
                <a:cxn ang="0">
                  <a:pos x="382" y="30"/>
                </a:cxn>
                <a:cxn ang="0">
                  <a:pos x="370" y="30"/>
                </a:cxn>
                <a:cxn ang="0">
                  <a:pos x="126" y="32"/>
                </a:cxn>
                <a:cxn ang="0">
                  <a:pos x="6" y="126"/>
                </a:cxn>
                <a:cxn ang="0">
                  <a:pos x="92" y="274"/>
                </a:cxn>
                <a:cxn ang="0">
                  <a:pos x="292" y="384"/>
                </a:cxn>
                <a:cxn ang="0">
                  <a:pos x="540" y="416"/>
                </a:cxn>
                <a:cxn ang="0">
                  <a:pos x="698" y="330"/>
                </a:cxn>
                <a:cxn ang="0">
                  <a:pos x="776" y="170"/>
                </a:cxn>
                <a:cxn ang="0">
                  <a:pos x="792" y="22"/>
                </a:cxn>
                <a:cxn ang="0">
                  <a:pos x="560" y="38"/>
                </a:cxn>
                <a:cxn ang="0">
                  <a:pos x="382" y="30"/>
                </a:cxn>
              </a:cxnLst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2" name="Freeform 964"/>
            <p:cNvSpPr/>
            <p:nvPr/>
          </p:nvSpPr>
          <p:spPr>
            <a:xfrm>
              <a:off x="4417" y="1263"/>
              <a:ext cx="1090" cy="709"/>
            </a:xfrm>
            <a:custGeom>
              <a:avLst/>
              <a:gdLst/>
              <a:ahLst/>
              <a:cxnLst>
                <a:cxn ang="0">
                  <a:pos x="14627" y="763"/>
                </a:cxn>
                <a:cxn ang="0">
                  <a:pos x="9913" y="5420"/>
                </a:cxn>
                <a:cxn ang="0">
                  <a:pos x="3316" y="7714"/>
                </a:cxn>
                <a:cxn ang="0">
                  <a:pos x="474" y="25995"/>
                </a:cxn>
                <a:cxn ang="0">
                  <a:pos x="6202" y="34346"/>
                </a:cxn>
                <a:cxn ang="0">
                  <a:pos x="11922" y="32921"/>
                </a:cxn>
                <a:cxn ang="0">
                  <a:pos x="20124" y="34346"/>
                </a:cxn>
                <a:cxn ang="0">
                  <a:pos x="24081" y="33549"/>
                </a:cxn>
                <a:cxn ang="0">
                  <a:pos x="25921" y="28785"/>
                </a:cxn>
                <a:cxn ang="0">
                  <a:pos x="25875" y="12218"/>
                </a:cxn>
                <a:cxn ang="0">
                  <a:pos x="22836" y="2665"/>
                </a:cxn>
                <a:cxn ang="0">
                  <a:pos x="14627" y="763"/>
                </a:cxn>
              </a:cxnLst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>
                    <a:alpha val="100000"/>
                  </a:scheme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98" name="Line 965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99" name="Line 966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0" name="Line 967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1" name="Line 968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2" name="Line 969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3" name="Line 970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4" name="Line 971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5" name="Line 972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6" name="Line 973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7" name="Line 974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8" name="Line 975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09" name="Line 976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10" name="Line 977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11" name="Line 978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12" name="Line 979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13" name="Line 980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14" name="Line 981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0650" name="Group 982"/>
            <p:cNvGrpSpPr/>
            <p:nvPr/>
          </p:nvGrpSpPr>
          <p:grpSpPr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20973" name="Line 270"/>
              <p:cNvSpPr/>
              <p:nvPr/>
            </p:nvSpPr>
            <p:spPr>
              <a:xfrm flipH="1">
                <a:off x="1766" y="3287"/>
                <a:ext cx="188" cy="586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4" name="Line 271"/>
              <p:cNvSpPr/>
              <p:nvPr/>
            </p:nvSpPr>
            <p:spPr>
              <a:xfrm>
                <a:off x="1954" y="3287"/>
                <a:ext cx="188" cy="583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5" name="Line 272"/>
              <p:cNvSpPr/>
              <p:nvPr/>
            </p:nvSpPr>
            <p:spPr>
              <a:xfrm>
                <a:off x="1766" y="3870"/>
                <a:ext cx="188" cy="6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6" name="Line 273"/>
              <p:cNvSpPr/>
              <p:nvPr/>
            </p:nvSpPr>
            <p:spPr>
              <a:xfrm flipH="1">
                <a:off x="1954" y="3870"/>
                <a:ext cx="188" cy="6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7" name="Line 274"/>
              <p:cNvSpPr/>
              <p:nvPr/>
            </p:nvSpPr>
            <p:spPr>
              <a:xfrm>
                <a:off x="1954" y="3300"/>
                <a:ext cx="0" cy="63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8" name="Line 275"/>
              <p:cNvSpPr/>
              <p:nvPr/>
            </p:nvSpPr>
            <p:spPr>
              <a:xfrm flipV="1">
                <a:off x="1766" y="3810"/>
                <a:ext cx="188" cy="63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9" name="Line 276"/>
              <p:cNvSpPr/>
              <p:nvPr/>
            </p:nvSpPr>
            <p:spPr>
              <a:xfrm flipH="1" flipV="1">
                <a:off x="1954" y="3810"/>
                <a:ext cx="188" cy="60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0" name="Line 277"/>
              <p:cNvSpPr/>
              <p:nvPr/>
            </p:nvSpPr>
            <p:spPr>
              <a:xfrm>
                <a:off x="1846" y="3618"/>
                <a:ext cx="108" cy="4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1" name="Line 278"/>
              <p:cNvSpPr/>
              <p:nvPr/>
            </p:nvSpPr>
            <p:spPr>
              <a:xfrm flipV="1">
                <a:off x="1954" y="3618"/>
                <a:ext cx="114" cy="4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2" name="Line 279"/>
              <p:cNvSpPr/>
              <p:nvPr/>
            </p:nvSpPr>
            <p:spPr>
              <a:xfrm>
                <a:off x="1810" y="3704"/>
                <a:ext cx="139" cy="65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3" name="Line 280"/>
              <p:cNvSpPr/>
              <p:nvPr/>
            </p:nvSpPr>
            <p:spPr>
              <a:xfrm flipV="1">
                <a:off x="1954" y="3717"/>
                <a:ext cx="140" cy="57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4" name="Line 281"/>
              <p:cNvSpPr/>
              <p:nvPr/>
            </p:nvSpPr>
            <p:spPr>
              <a:xfrm flipV="1">
                <a:off x="1954" y="3530"/>
                <a:ext cx="72" cy="24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5" name="Line 282"/>
              <p:cNvSpPr/>
              <p:nvPr/>
            </p:nvSpPr>
            <p:spPr>
              <a:xfrm flipV="1">
                <a:off x="1954" y="3409"/>
                <a:ext cx="45" cy="18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6" name="Line 283"/>
              <p:cNvSpPr/>
              <p:nvPr/>
            </p:nvSpPr>
            <p:spPr>
              <a:xfrm>
                <a:off x="1873" y="3522"/>
                <a:ext cx="87" cy="32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7" name="Line 284"/>
              <p:cNvSpPr/>
              <p:nvPr/>
            </p:nvSpPr>
            <p:spPr>
              <a:xfrm>
                <a:off x="1912" y="3404"/>
                <a:ext cx="50" cy="31"/>
              </a:xfrm>
              <a:prstGeom prst="line">
                <a:avLst/>
              </a:prstGeom>
              <a:ln w="19050" cap="flat" cmpd="sng">
                <a:solidFill>
                  <a:srgbClr val="80808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53" name="Oval 998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pic>
            <p:nvPicPr>
              <p:cNvPr id="20989" name="Picture 999" descr="cell_tower_radiation_gray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3" y="3023"/>
                <a:ext cx="622" cy="503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0651" name="Group 1000"/>
            <p:cNvGrpSpPr/>
            <p:nvPr/>
          </p:nvGrpSpPr>
          <p:grpSpPr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6629" name="Line 1001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965" name="Oval 407"/>
              <p:cNvSpPr/>
              <p:nvPr/>
            </p:nvSpPr>
            <p:spPr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66" name="Rectangle 410"/>
              <p:cNvSpPr/>
              <p:nvPr/>
            </p:nvSpPr>
            <p:spPr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67" name="Oval 411"/>
              <p:cNvSpPr/>
              <p:nvPr/>
            </p:nvSpPr>
            <p:spPr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68" name="Group 1005"/>
              <p:cNvGrpSpPr/>
              <p:nvPr/>
            </p:nvGrpSpPr>
            <p:grpSpPr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20971" name="Freeform 1006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72" name="Freeform 1007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634" name="Line 1008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35" name="Line 1009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2" name="Group 1010"/>
            <p:cNvGrpSpPr/>
            <p:nvPr/>
          </p:nvGrpSpPr>
          <p:grpSpPr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20956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57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58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59" name="Group 1014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62" name="Freeform 1015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63" name="Freeform 1016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625" name="Line 101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26" name="Line 101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3" name="Group 1019"/>
            <p:cNvGrpSpPr/>
            <p:nvPr/>
          </p:nvGrpSpPr>
          <p:grpSpPr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20948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49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50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51" name="Group 1023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54" name="Freeform 1024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55" name="Freeform 1025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617" name="Line 102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18" name="Line 102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4" name="Group 1028"/>
            <p:cNvGrpSpPr/>
            <p:nvPr/>
          </p:nvGrpSpPr>
          <p:grpSpPr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20940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41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42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43" name="Group 1032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46" name="Freeform 1033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47" name="Freeform 1034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609" name="Line 103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10" name="Line 103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5" name="Group 1037"/>
            <p:cNvGrpSpPr/>
            <p:nvPr/>
          </p:nvGrpSpPr>
          <p:grpSpPr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20932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33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34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35" name="Group 1041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38" name="Freeform 1042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39" name="Freeform 1043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601" name="Line 104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602" name="Line 104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6" name="Group 1046"/>
            <p:cNvGrpSpPr/>
            <p:nvPr/>
          </p:nvGrpSpPr>
          <p:grpSpPr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20924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25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26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27" name="Group 1050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30" name="Freeform 105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31" name="Freeform 1052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93" name="Line 105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94" name="Line 105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6322" name="Line 1055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0658" name="Group 1056"/>
            <p:cNvGrpSpPr/>
            <p:nvPr/>
          </p:nvGrpSpPr>
          <p:grpSpPr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20916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17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18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19" name="Group 1060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22" name="Freeform 106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23" name="Freeform 1062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85" name="Line 106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86" name="Line 106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59" name="Group 1065"/>
            <p:cNvGrpSpPr/>
            <p:nvPr/>
          </p:nvGrpSpPr>
          <p:grpSpPr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20908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09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10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11" name="Group 1069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14" name="Freeform 107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15" name="Freeform 107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77" name="Line 107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78" name="Line 107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60" name="Group 1074"/>
            <p:cNvGrpSpPr/>
            <p:nvPr/>
          </p:nvGrpSpPr>
          <p:grpSpPr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20900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01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902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903" name="Group 1078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906" name="Freeform 1079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907" name="Freeform 108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69" name="Line 108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70" name="Line 108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61" name="Group 1083"/>
            <p:cNvGrpSpPr/>
            <p:nvPr/>
          </p:nvGrpSpPr>
          <p:grpSpPr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20892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93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94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895" name="Group 1087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98" name="Freeform 1088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99" name="Freeform 1089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61" name="Line 109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62" name="Line 109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62" name="Group 1092"/>
            <p:cNvGrpSpPr/>
            <p:nvPr/>
          </p:nvGrpSpPr>
          <p:grpSpPr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20884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85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86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887" name="Group 1096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90" name="Freeform 1097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91" name="Freeform 1098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53" name="Line 109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54" name="Line 110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63" name="Group 1101"/>
            <p:cNvGrpSpPr/>
            <p:nvPr/>
          </p:nvGrpSpPr>
          <p:grpSpPr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20876" name="Oval 407"/>
              <p:cNvSpPr/>
              <p:nvPr/>
            </p:nvSpPr>
            <p:spPr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77" name="Rectangle 410"/>
              <p:cNvSpPr/>
              <p:nvPr/>
            </p:nvSpPr>
            <p:spPr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sp>
            <p:nvSpPr>
              <p:cNvPr id="20878" name="Oval 411"/>
              <p:cNvSpPr/>
              <p:nvPr/>
            </p:nvSpPr>
            <p:spPr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  <a:tileRect/>
              </a:gradFill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l"/>
                <a:endParaRPr sz="2400" dirty="0">
                  <a:latin typeface="Times New Roman" panose="02020503050405090304" charset="0"/>
                  <a:ea typeface="Arial" panose="020B0604020202090204" pitchFamily="34" charset="0"/>
                </a:endParaRPr>
              </a:p>
            </p:txBody>
          </p:sp>
          <p:grpSp>
            <p:nvGrpSpPr>
              <p:cNvPr id="20879" name="Group 1105"/>
              <p:cNvGrpSpPr/>
              <p:nvPr/>
            </p:nvGrpSpPr>
            <p:grpSpPr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0882" name="Freeform 1106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6" y="60"/>
                    </a:cxn>
                    <a:cxn ang="0">
                      <a:pos x="192" y="0"/>
                    </a:cxn>
                    <a:cxn ang="0">
                      <a:pos x="310" y="0"/>
                    </a:cxn>
                  </a:cxnLst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83" name="Freeform 1107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0"/>
                    </a:cxn>
                    <a:cxn ang="0">
                      <a:pos x="192" y="60"/>
                    </a:cxn>
                    <a:cxn ang="0">
                      <a:pos x="282" y="60"/>
                    </a:cxn>
                  </a:cxnLst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>
                        <a:alpha val="100000"/>
                      </a:schemeClr>
                    </a:gs>
                    <a:gs pos="100000">
                      <a:srgbClr val="EAEAEA">
                        <a:alpha val="100000"/>
                      </a:srgbClr>
                    </a:gs>
                  </a:gsLst>
                  <a:lin ang="0" scaled="1"/>
                  <a:tileRect/>
                </a:gradFill>
                <a:ln w="12700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6545" name="Line 110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546" name="Line 110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3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64" name="Group 1110"/>
            <p:cNvGrpSpPr/>
            <p:nvPr/>
          </p:nvGrpSpPr>
          <p:grpSpPr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20862" name="Group 1111"/>
              <p:cNvGrpSpPr/>
              <p:nvPr/>
            </p:nvGrpSpPr>
            <p:grpSpPr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0864" name="Freeform 1112"/>
                <p:cNvSpPr/>
                <p:nvPr/>
              </p:nvSpPr>
              <p:spPr>
                <a:xfrm>
                  <a:off x="5134" y="2657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5" name="Freeform 1113"/>
                <p:cNvSpPr/>
                <p:nvPr/>
              </p:nvSpPr>
              <p:spPr>
                <a:xfrm>
                  <a:off x="5252" y="2656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6" name="Freeform 1114"/>
                <p:cNvSpPr/>
                <p:nvPr/>
              </p:nvSpPr>
              <p:spPr>
                <a:xfrm>
                  <a:off x="5089" y="2646"/>
                  <a:ext cx="114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7" name="Freeform 1115"/>
                <p:cNvSpPr/>
                <p:nvPr/>
              </p:nvSpPr>
              <p:spPr>
                <a:xfrm>
                  <a:off x="5250" y="2643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8" name="Freeform 1116"/>
                <p:cNvSpPr/>
                <p:nvPr/>
              </p:nvSpPr>
              <p:spPr>
                <a:xfrm>
                  <a:off x="5047" y="2671"/>
                  <a:ext cx="40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9" name="Freeform 1117"/>
                <p:cNvSpPr/>
                <p:nvPr/>
              </p:nvSpPr>
              <p:spPr>
                <a:xfrm>
                  <a:off x="5330" y="2639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0" name="Freeform 1118"/>
                <p:cNvSpPr/>
                <p:nvPr/>
              </p:nvSpPr>
              <p:spPr>
                <a:xfrm>
                  <a:off x="5115" y="2660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1" name="Freeform 1119"/>
                <p:cNvSpPr/>
                <p:nvPr/>
              </p:nvSpPr>
              <p:spPr>
                <a:xfrm>
                  <a:off x="5233" y="2660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2" name="Freeform 1120"/>
                <p:cNvSpPr/>
                <p:nvPr/>
              </p:nvSpPr>
              <p:spPr>
                <a:xfrm>
                  <a:off x="5070" y="2650"/>
                  <a:ext cx="112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3" name="Freeform 1121"/>
                <p:cNvSpPr/>
                <p:nvPr/>
              </p:nvSpPr>
              <p:spPr>
                <a:xfrm>
                  <a:off x="5229" y="2647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4" name="Freeform 1122"/>
                <p:cNvSpPr/>
                <p:nvPr/>
              </p:nvSpPr>
              <p:spPr>
                <a:xfrm>
                  <a:off x="5030" y="2680"/>
                  <a:ext cx="4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75" name="Freeform 1123"/>
                <p:cNvSpPr/>
                <p:nvPr/>
              </p:nvSpPr>
              <p:spPr>
                <a:xfrm>
                  <a:off x="5311" y="2643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pic>
            <p:nvPicPr>
              <p:cNvPr id="20863" name="Picture 1124" descr="access_point_stylized_gray_small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2" y="3642"/>
                <a:ext cx="430" cy="34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0665" name="Group 1125"/>
            <p:cNvGrpSpPr/>
            <p:nvPr/>
          </p:nvGrpSpPr>
          <p:grpSpPr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20848" name="Group 1126"/>
              <p:cNvGrpSpPr/>
              <p:nvPr/>
            </p:nvGrpSpPr>
            <p:grpSpPr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0850" name="Freeform 1127"/>
                <p:cNvSpPr/>
                <p:nvPr/>
              </p:nvSpPr>
              <p:spPr>
                <a:xfrm>
                  <a:off x="5134" y="2657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1" name="Freeform 1128"/>
                <p:cNvSpPr/>
                <p:nvPr/>
              </p:nvSpPr>
              <p:spPr>
                <a:xfrm>
                  <a:off x="5252" y="2656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2" name="Freeform 1129"/>
                <p:cNvSpPr/>
                <p:nvPr/>
              </p:nvSpPr>
              <p:spPr>
                <a:xfrm>
                  <a:off x="5089" y="2646"/>
                  <a:ext cx="114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3" name="Freeform 1130"/>
                <p:cNvSpPr/>
                <p:nvPr/>
              </p:nvSpPr>
              <p:spPr>
                <a:xfrm>
                  <a:off x="5250" y="2643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4" name="Freeform 1131"/>
                <p:cNvSpPr/>
                <p:nvPr/>
              </p:nvSpPr>
              <p:spPr>
                <a:xfrm>
                  <a:off x="5047" y="2671"/>
                  <a:ext cx="40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5" name="Freeform 1132"/>
                <p:cNvSpPr/>
                <p:nvPr/>
              </p:nvSpPr>
              <p:spPr>
                <a:xfrm>
                  <a:off x="5330" y="2639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6" name="Freeform 1133"/>
                <p:cNvSpPr/>
                <p:nvPr/>
              </p:nvSpPr>
              <p:spPr>
                <a:xfrm>
                  <a:off x="5115" y="2660"/>
                  <a:ext cx="69" cy="5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7" name="Freeform 1134"/>
                <p:cNvSpPr/>
                <p:nvPr/>
              </p:nvSpPr>
              <p:spPr>
                <a:xfrm>
                  <a:off x="5233" y="2660"/>
                  <a:ext cx="47" cy="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8" name="Freeform 1135"/>
                <p:cNvSpPr/>
                <p:nvPr/>
              </p:nvSpPr>
              <p:spPr>
                <a:xfrm>
                  <a:off x="5070" y="2650"/>
                  <a:ext cx="112" cy="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59" name="Freeform 1136"/>
                <p:cNvSpPr/>
                <p:nvPr/>
              </p:nvSpPr>
              <p:spPr>
                <a:xfrm>
                  <a:off x="5229" y="2647"/>
                  <a:ext cx="99" cy="5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0" name="Freeform 1137"/>
                <p:cNvSpPr/>
                <p:nvPr/>
              </p:nvSpPr>
              <p:spPr>
                <a:xfrm>
                  <a:off x="5030" y="2680"/>
                  <a:ext cx="40" cy="5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861" name="Freeform 1138"/>
                <p:cNvSpPr/>
                <p:nvPr/>
              </p:nvSpPr>
              <p:spPr>
                <a:xfrm>
                  <a:off x="5311" y="2643"/>
                  <a:ext cx="87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chemeClr val="bg2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pic>
            <p:nvPicPr>
              <p:cNvPr id="20849" name="Picture 1139" descr="access_point_stylized_gray_small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2" y="3642"/>
                <a:ext cx="430" cy="34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6331" name="Line 1140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0667" name="Group 1141"/>
            <p:cNvGrpSpPr/>
            <p:nvPr/>
          </p:nvGrpSpPr>
          <p:grpSpPr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20846" name="Picture 1142" descr="desktop_computer_stylized_medium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847" name="Freeform 114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68" name="Group 1144"/>
            <p:cNvGrpSpPr/>
            <p:nvPr/>
          </p:nvGrpSpPr>
          <p:grpSpPr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20844" name="Picture 1145" descr="desktop_computer_stylized_medium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845" name="Freeform 1146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69" name="Group 1147"/>
            <p:cNvGrpSpPr/>
            <p:nvPr/>
          </p:nvGrpSpPr>
          <p:grpSpPr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20842" name="Picture 1148" descr="desktop_computer_stylized_medium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843" name="Freeform 1149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70" name="Group 1150"/>
            <p:cNvGrpSpPr/>
            <p:nvPr/>
          </p:nvGrpSpPr>
          <p:grpSpPr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20840" name="Picture 1151" descr="desktop_computer_stylized_medium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841" name="Freeform 115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pic>
          <p:nvPicPr>
            <p:cNvPr id="20671" name="Picture 1153" descr="car_icon_small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95" y="1084"/>
              <a:ext cx="535" cy="10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0672" name="Group 1154"/>
            <p:cNvGrpSpPr/>
            <p:nvPr/>
          </p:nvGrpSpPr>
          <p:grpSpPr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20838" name="Picture 1155" descr="iphone_stylized_small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839" name="Picture 1156" descr="antenna_radiation_stylized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0673" name="Group 1157"/>
            <p:cNvGrpSpPr/>
            <p:nvPr/>
          </p:nvGrpSpPr>
          <p:grpSpPr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20806" name="Freeform 115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72" name="Rectangle 115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808" name="Freeform 116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809" name="Freeform 116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75" name="Rectangle 116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811" name="Group 1163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501" name="AutoShape 116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502" name="AutoShape 116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77" name="Rectangle 116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813" name="Group 1167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99" name="AutoShape 116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500" name="AutoShape 116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79" name="Rectangle 117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80" name="Rectangle 117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816" name="Group 1172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497" name="AutoShape 1173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98" name="AutoShape 117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20817" name="Freeform 117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818" name="Group 1176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495" name="AutoShape 117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96" name="AutoShape 117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84" name="Rectangle 117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820" name="Freeform 11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821" name="Freeform 1181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87" name="Oval 118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823" name="Freeform 118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89" name="AutoShape 118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90" name="AutoShape 118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91" name="Oval 118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92" name="Oval 118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493" name="Oval 118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94" name="Rectangle 118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74" name="Group 1190"/>
            <p:cNvGrpSpPr/>
            <p:nvPr/>
          </p:nvGrpSpPr>
          <p:grpSpPr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20774" name="Freeform 11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40" name="Rectangle 119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776" name="Freeform 119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7" name="Freeform 119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43" name="Rectangle 119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779" name="Group 1196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469" name="AutoShape 119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70" name="AutoShape 119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45" name="Rectangle 119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781" name="Group 120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67" name="AutoShape 120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68" name="AutoShape 120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47" name="Rectangle 120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48" name="Rectangle 120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20784" name="Group 1205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465" name="AutoShape 120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66" name="AutoShape 120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20785" name="Freeform 12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786" name="Group 1209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463" name="AutoShape 121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6464" name="AutoShape 121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6452" name="Rectangle 121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788" name="Freeform 12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89" name="Freeform 1214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55" name="Oval 121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0791" name="Freeform 12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57" name="AutoShape 121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58" name="AutoShape 121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59" name="Oval 121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60" name="Oval 122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461" name="Oval 122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462" name="Rectangle 122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20675" name="Group 1223"/>
            <p:cNvGrpSpPr/>
            <p:nvPr/>
          </p:nvGrpSpPr>
          <p:grpSpPr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20751" name="Picture 1224" descr="antenna_stylized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752" name="Picture 1225" descr="laptop_keyboard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53" name="Freeform 1226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20754" name="Picture 1227" descr="screen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55" name="Freeform 1228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6" name="Freeform 1229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7" name="Freeform 1230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8" name="Freeform 1231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9" name="Freeform 1232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0" name="Freeform 123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761" name="Group 1234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68" name="Freeform 123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69" name="Freeform 1236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70" name="Freeform 123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71" name="Freeform 123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72" name="Freeform 1239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73" name="Freeform 124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762" name="Freeform 1241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3" name="Freeform 1242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4" name="Freeform 1243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5" name="Freeform 1244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6" name="Freeform 1245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7" name="Freeform 1246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76" name="Group 1247"/>
            <p:cNvGrpSpPr/>
            <p:nvPr/>
          </p:nvGrpSpPr>
          <p:grpSpPr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20728" name="Picture 1248" descr="antenna_stylized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729" name="Picture 1249" descr="laptop_keyboard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30" name="Freeform 1250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20731" name="Picture 1251" descr="screen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32" name="Freeform 1252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33" name="Freeform 125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34" name="Freeform 1254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35" name="Freeform 1255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36" name="Freeform 1256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37" name="Freeform 1257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738" name="Group 1258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45" name="Freeform 1259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46" name="Freeform 126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47" name="Freeform 126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48" name="Freeform 126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49" name="Freeform 126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50" name="Freeform 1264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739" name="Freeform 1265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0" name="Freeform 1266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1" name="Freeform 1267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2" name="Freeform 1268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3" name="Freeform 1269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4" name="Freeform 1270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77" name="Group 1271"/>
            <p:cNvGrpSpPr/>
            <p:nvPr/>
          </p:nvGrpSpPr>
          <p:grpSpPr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20705" name="Picture 1272" descr="antenna_stylized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706" name="Picture 1273" descr="laptop_keyboard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07" name="Freeform 1274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20708" name="Picture 1275" descr="screen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09" name="Freeform 1276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0" name="Freeform 1277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1" name="Freeform 1278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2" name="Freeform 1279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3" name="Freeform 1280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4" name="Freeform 1281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715" name="Group 1282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22" name="Freeform 128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23" name="Freeform 128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24" name="Freeform 128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25" name="Freeform 128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26" name="Freeform 128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27" name="Freeform 128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716" name="Freeform 1289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7" name="Freeform 1290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8" name="Freeform 1291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19" name="Freeform 1292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20" name="Freeform 129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21" name="Freeform 1294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78" name="Group 1295"/>
            <p:cNvGrpSpPr/>
            <p:nvPr/>
          </p:nvGrpSpPr>
          <p:grpSpPr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20703" name="Picture 1296" descr="desktop_computer_stylized_medium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704" name="Freeform 1297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679" name="Group 1298"/>
            <p:cNvGrpSpPr/>
            <p:nvPr/>
          </p:nvGrpSpPr>
          <p:grpSpPr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20680" name="Picture 1299" descr="antenna_stylized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681" name="Picture 1300" descr="laptop_keyboard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682" name="Freeform 1301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6" y="5"/>
                  </a:cxn>
                  <a:cxn ang="0">
                    <a:pos x="20" y="1"/>
                  </a:cxn>
                  <a:cxn ang="0">
                    <a:pos x="4" y="0"/>
                  </a:cxn>
                </a:cxnLst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20683" name="Picture 1302" descr="screen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0684" name="Freeform 130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5" name="Freeform 1304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1" y="4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6" name="Freeform 1305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5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7" name="Freeform 1306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16" y="2"/>
                  </a:cxn>
                  <a:cxn ang="0">
                    <a:pos x="16" y="1"/>
                  </a:cxn>
                  <a:cxn ang="0">
                    <a:pos x="1" y="0"/>
                  </a:cxn>
                </a:cxnLst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8" name="Freeform 1307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1" y="59"/>
                  </a:cxn>
                  <a:cxn ang="0">
                    <a:pos x="0" y="57"/>
                  </a:cxn>
                  <a:cxn ang="0">
                    <a:pos x="12" y="0"/>
                  </a:cxn>
                </a:cxnLst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9" name="Freeform 1308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2"/>
                  </a:cxn>
                  <a:cxn ang="0">
                    <a:pos x="42" y="20"/>
                  </a:cxn>
                  <a:cxn ang="0">
                    <a:pos x="42" y="17"/>
                  </a:cxn>
                  <a:cxn ang="0">
                    <a:pos x="0" y="0"/>
                  </a:cxn>
                </a:cxnLst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20690" name="Group 1309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697" name="Freeform 13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/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698" name="Freeform 13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/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699" name="Freeform 13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/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00" name="Freeform 13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01" name="Freeform 1314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/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702" name="Freeform 131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/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691" name="Freeform 1316"/>
              <p:cNvSpPr/>
              <p:nvPr/>
            </p:nvSpPr>
            <p:spPr>
              <a:xfrm>
                <a:off x="2577" y="3043"/>
                <a:ext cx="614" cy="514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9" y="0"/>
                  </a:cxn>
                  <a:cxn ang="0">
                    <a:pos x="9" y="1"/>
                  </a:cxn>
                  <a:cxn ang="0">
                    <a:pos x="0" y="10"/>
                  </a:cxn>
                  <a:cxn ang="0">
                    <a:pos x="1" y="10"/>
                  </a:cxn>
                </a:cxnLst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2" name="Freeform 1317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22" y="9"/>
                  </a:cxn>
                  <a:cxn ang="0">
                    <a:pos x="22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3" name="Freeform 1318"/>
              <p:cNvSpPr/>
              <p:nvPr/>
            </p:nvSpPr>
            <p:spPr>
              <a:xfrm>
                <a:off x="1011" y="2998"/>
                <a:ext cx="17" cy="95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1" y="1"/>
                  </a:cxn>
                </a:cxnLst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4" name="Freeform 1319"/>
              <p:cNvSpPr/>
              <p:nvPr/>
            </p:nvSpPr>
            <p:spPr>
              <a:xfrm>
                <a:off x="1012" y="2611"/>
                <a:ext cx="730" cy="39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0" y="8"/>
                  </a:cxn>
                  <a:cxn ang="0">
                    <a:pos x="1" y="8"/>
                  </a:cxn>
                  <a:cxn ang="0">
                    <a:pos x="10" y="1"/>
                  </a:cxn>
                  <a:cxn ang="0">
                    <a:pos x="10" y="0"/>
                  </a:cxn>
                </a:cxnLst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5" name="Freeform 1320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2" y="6"/>
                  </a:cxn>
                  <a:cxn ang="0">
                    <a:pos x="12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6" name="Freeform 1321"/>
              <p:cNvSpPr/>
              <p:nvPr/>
            </p:nvSpPr>
            <p:spPr>
              <a:xfrm flipV="1">
                <a:off x="2549" y="2986"/>
                <a:ext cx="608" cy="4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pic>
        <p:nvPicPr>
          <p:cNvPr id="20484" name="Picture 939" descr="underline_bas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0200" y="936625"/>
            <a:ext cx="8228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122238"/>
            <a:ext cx="85661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Internet transport-layer protocols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1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8150" y="1400175"/>
            <a:ext cx="3971925" cy="5114925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reliable, in-order delivery (TCP)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congestion control 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flow control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connection setup</a:t>
            </a:r>
            <a:endParaRPr lang="en-US" altLang="zh-CN" sz="2800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unreliable, unordered delivery: UDP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no-frills extension of </a:t>
            </a:r>
            <a:r>
              <a:rPr lang="ja-JP" altLang="en-US" dirty="0">
                <a:latin typeface="+mn-lt"/>
                <a:ea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</a:rPr>
              <a:t>best-effort</a:t>
            </a:r>
            <a:r>
              <a:rPr lang="ja-JP" altLang="en-US" dirty="0">
                <a:latin typeface="+mn-lt"/>
                <a:ea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</a:rPr>
              <a:t> IP</a:t>
            </a:r>
            <a:endParaRPr lang="en-US" altLang="ja-JP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services not available: 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delay guarantees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bandwidth guarantees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6152" name="Line 677"/>
          <p:cNvSpPr>
            <a:spLocks noChangeShapeType="1"/>
          </p:cNvSpPr>
          <p:nvPr/>
        </p:nvSpPr>
        <p:spPr bwMode="auto">
          <a:xfrm>
            <a:off x="6456363" y="2490788"/>
            <a:ext cx="509588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53" name="Line 683"/>
          <p:cNvSpPr>
            <a:spLocks noChangeShapeType="1"/>
          </p:cNvSpPr>
          <p:nvPr/>
        </p:nvSpPr>
        <p:spPr bwMode="auto">
          <a:xfrm>
            <a:off x="7091363" y="4600575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54" name="Line 684"/>
          <p:cNvSpPr>
            <a:spLocks noChangeShapeType="1"/>
          </p:cNvSpPr>
          <p:nvPr/>
        </p:nvSpPr>
        <p:spPr bwMode="auto">
          <a:xfrm flipV="1">
            <a:off x="6470650" y="4587875"/>
            <a:ext cx="322263" cy="1984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55" name="Line 704"/>
          <p:cNvSpPr>
            <a:spLocks noChangeShapeType="1"/>
          </p:cNvSpPr>
          <p:nvPr/>
        </p:nvSpPr>
        <p:spPr bwMode="auto">
          <a:xfrm flipH="1">
            <a:off x="7029450" y="2836863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0491" name="Group 737"/>
          <p:cNvGrpSpPr/>
          <p:nvPr/>
        </p:nvGrpSpPr>
        <p:grpSpPr>
          <a:xfrm>
            <a:off x="6943725" y="2416175"/>
            <a:ext cx="382588" cy="171450"/>
            <a:chOff x="3855" y="1486"/>
            <a:chExt cx="241" cy="108"/>
          </a:xfrm>
        </p:grpSpPr>
        <p:sp>
          <p:nvSpPr>
            <p:cNvPr id="20605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606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607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608" name="Group 741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611" name="Freeform 742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12" name="Freeform 743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74" name="Line 744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75" name="Line 745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492" name="Group 746"/>
          <p:cNvGrpSpPr/>
          <p:nvPr/>
        </p:nvGrpSpPr>
        <p:grpSpPr>
          <a:xfrm>
            <a:off x="6969125" y="2660650"/>
            <a:ext cx="382588" cy="171450"/>
            <a:chOff x="3855" y="1486"/>
            <a:chExt cx="241" cy="108"/>
          </a:xfrm>
        </p:grpSpPr>
        <p:sp>
          <p:nvSpPr>
            <p:cNvPr id="20597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98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99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600" name="Group 750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603" name="Freeform 751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04" name="Freeform 752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66" name="Line 753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67" name="Line 754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493" name="Group 782"/>
          <p:cNvGrpSpPr/>
          <p:nvPr/>
        </p:nvGrpSpPr>
        <p:grpSpPr>
          <a:xfrm>
            <a:off x="6824663" y="3557588"/>
            <a:ext cx="427037" cy="177800"/>
            <a:chOff x="3855" y="1486"/>
            <a:chExt cx="241" cy="108"/>
          </a:xfrm>
        </p:grpSpPr>
        <p:sp>
          <p:nvSpPr>
            <p:cNvPr id="20589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90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91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592" name="Group 786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95" name="Freeform 787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96" name="Freeform 788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58" name="Line 789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59" name="Line 790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494" name="Group 791"/>
          <p:cNvGrpSpPr/>
          <p:nvPr/>
        </p:nvGrpSpPr>
        <p:grpSpPr>
          <a:xfrm>
            <a:off x="7148513" y="3805238"/>
            <a:ext cx="484187" cy="196850"/>
            <a:chOff x="3855" y="1486"/>
            <a:chExt cx="241" cy="108"/>
          </a:xfrm>
        </p:grpSpPr>
        <p:sp>
          <p:nvSpPr>
            <p:cNvPr id="20581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82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83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584" name="Group 795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87" name="Freeform 796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88" name="Freeform 797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50" name="Line 798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51" name="Line 799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160" name="Line 813"/>
          <p:cNvSpPr>
            <a:spLocks noChangeShapeType="1"/>
          </p:cNvSpPr>
          <p:nvPr/>
        </p:nvSpPr>
        <p:spPr bwMode="auto">
          <a:xfrm flipV="1">
            <a:off x="7005638" y="3978275"/>
            <a:ext cx="227013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0496" name="Group 814"/>
          <p:cNvGrpSpPr/>
          <p:nvPr/>
        </p:nvGrpSpPr>
        <p:grpSpPr>
          <a:xfrm>
            <a:off x="6653213" y="4414838"/>
            <a:ext cx="617537" cy="241300"/>
            <a:chOff x="3855" y="1486"/>
            <a:chExt cx="241" cy="108"/>
          </a:xfrm>
        </p:grpSpPr>
        <p:sp>
          <p:nvSpPr>
            <p:cNvPr id="20573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74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75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576" name="Group 818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79" name="Freeform 819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80" name="Freeform 820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42" name="Line 821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43" name="Line 822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497" name="Group 823"/>
          <p:cNvGrpSpPr/>
          <p:nvPr/>
        </p:nvGrpSpPr>
        <p:grpSpPr>
          <a:xfrm>
            <a:off x="7307263" y="4751388"/>
            <a:ext cx="617537" cy="241300"/>
            <a:chOff x="3855" y="1486"/>
            <a:chExt cx="241" cy="108"/>
          </a:xfrm>
        </p:grpSpPr>
        <p:sp>
          <p:nvSpPr>
            <p:cNvPr id="20565" name="Oval 407"/>
            <p:cNvSpPr/>
            <p:nvPr/>
          </p:nvSpPr>
          <p:spPr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66" name="Rectangle 410"/>
            <p:cNvSpPr/>
            <p:nvPr/>
          </p:nvSpPr>
          <p:spPr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20567" name="Oval 411"/>
            <p:cNvSpPr/>
            <p:nvPr/>
          </p:nvSpPr>
          <p:spPr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rgbClr val="808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20568" name="Group 827"/>
            <p:cNvGrpSpPr/>
            <p:nvPr/>
          </p:nvGrpSpPr>
          <p:grpSpPr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20571" name="Freeform 828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72" name="Freeform 829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ap="flat" cmpd="sng">
                <a:solidFill>
                  <a:srgbClr val="808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234" name="Line 830"/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35" name="Line 831"/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498" name="Group 876"/>
          <p:cNvGrpSpPr/>
          <p:nvPr/>
        </p:nvGrpSpPr>
        <p:grpSpPr>
          <a:xfrm>
            <a:off x="5359400" y="1330325"/>
            <a:ext cx="1057275" cy="957263"/>
            <a:chOff x="-153" y="1680"/>
            <a:chExt cx="666" cy="603"/>
          </a:xfrm>
        </p:grpSpPr>
        <p:grpSp>
          <p:nvGrpSpPr>
            <p:cNvPr id="20556" name="Group 877"/>
            <p:cNvGrpSpPr/>
            <p:nvPr/>
          </p:nvGrpSpPr>
          <p:grpSpPr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6223" name="Rectangle 878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4" name="Rectangle 879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5" name="Rectangle 880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6" name="Text Box 881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application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transport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network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data link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physical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7" name="Line 882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8" name="Line 883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9" name="Line 884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0557" name="Freeform 885"/>
            <p:cNvSpPr/>
            <p:nvPr/>
          </p:nvSpPr>
          <p:spPr>
            <a:xfrm>
              <a:off x="-153" y="1689"/>
              <a:ext cx="192" cy="594"/>
            </a:xfrm>
            <a:custGeom>
              <a:avLst/>
              <a:gdLst/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499" name="Group 886"/>
          <p:cNvGrpSpPr/>
          <p:nvPr/>
        </p:nvGrpSpPr>
        <p:grpSpPr>
          <a:xfrm>
            <a:off x="7869238" y="4343400"/>
            <a:ext cx="1057275" cy="957263"/>
            <a:chOff x="-153" y="1680"/>
            <a:chExt cx="666" cy="603"/>
          </a:xfrm>
        </p:grpSpPr>
        <p:grpSp>
          <p:nvGrpSpPr>
            <p:cNvPr id="20547" name="Group 887"/>
            <p:cNvGrpSpPr/>
            <p:nvPr/>
          </p:nvGrpSpPr>
          <p:grpSpPr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6214" name="Rectangle 888"/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15" name="Rectangle 889"/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16" name="Rectangle 890"/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17" name="Text Box 891"/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application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transport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network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data link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physical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18" name="Line 892"/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19" name="Line 893"/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220" name="Line 894"/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0548" name="Freeform 895"/>
            <p:cNvSpPr/>
            <p:nvPr/>
          </p:nvSpPr>
          <p:spPr>
            <a:xfrm>
              <a:off x="-153" y="1689"/>
              <a:ext cx="192" cy="594"/>
            </a:xfrm>
            <a:custGeom>
              <a:avLst/>
              <a:gdLst/>
              <a:ahLst/>
              <a:cxnLst>
                <a:cxn ang="0">
                  <a:pos x="0" y="594"/>
                </a:cxn>
                <a:cxn ang="0">
                  <a:pos x="192" y="0"/>
                </a:cxn>
                <a:cxn ang="0">
                  <a:pos x="192" y="515"/>
                </a:cxn>
                <a:cxn ang="0">
                  <a:pos x="0" y="594"/>
                </a:cxn>
              </a:cxnLst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100000"/>
                  </a:schemeClr>
                </a:gs>
                <a:gs pos="100000">
                  <a:srgbClr val="FF0000">
                    <a:alpha val="100000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500" name="Group 661"/>
          <p:cNvGrpSpPr/>
          <p:nvPr/>
        </p:nvGrpSpPr>
        <p:grpSpPr>
          <a:xfrm>
            <a:off x="5913438" y="2057400"/>
            <a:ext cx="814387" cy="701675"/>
            <a:chOff x="2923" y="3345"/>
            <a:chExt cx="513" cy="442"/>
          </a:xfrm>
        </p:grpSpPr>
        <p:sp>
          <p:nvSpPr>
            <p:cNvPr id="6207" name="Rectangle 66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8" name="Rectangle 66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9" name="Text Box 66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10" name="Line 66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11" name="Line 66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1" name="Group 901"/>
          <p:cNvGrpSpPr/>
          <p:nvPr/>
        </p:nvGrpSpPr>
        <p:grpSpPr>
          <a:xfrm>
            <a:off x="6729413" y="2479675"/>
            <a:ext cx="814387" cy="701675"/>
            <a:chOff x="2923" y="3345"/>
            <a:chExt cx="513" cy="442"/>
          </a:xfrm>
        </p:grpSpPr>
        <p:sp>
          <p:nvSpPr>
            <p:cNvPr id="6202" name="Rectangle 90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3" name="Rectangle 90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4" name="Text Box 90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5" name="Line 90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6" name="Line 90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2" name="Group 907"/>
          <p:cNvGrpSpPr/>
          <p:nvPr/>
        </p:nvGrpSpPr>
        <p:grpSpPr>
          <a:xfrm>
            <a:off x="6738938" y="1901825"/>
            <a:ext cx="814387" cy="701675"/>
            <a:chOff x="2923" y="3345"/>
            <a:chExt cx="513" cy="442"/>
          </a:xfrm>
        </p:grpSpPr>
        <p:sp>
          <p:nvSpPr>
            <p:cNvPr id="6197" name="Rectangle 908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8" name="Rectangle 909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9" name="Text Box 910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0" name="Line 911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201" name="Line 912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3" name="Group 913"/>
          <p:cNvGrpSpPr/>
          <p:nvPr/>
        </p:nvGrpSpPr>
        <p:grpSpPr>
          <a:xfrm>
            <a:off x="6513513" y="3089275"/>
            <a:ext cx="814387" cy="701675"/>
            <a:chOff x="2923" y="3345"/>
            <a:chExt cx="513" cy="442"/>
          </a:xfrm>
        </p:grpSpPr>
        <p:sp>
          <p:nvSpPr>
            <p:cNvPr id="6192" name="Rectangle 914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3" name="Rectangle 915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4" name="Text Box 916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5" name="Line 917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6" name="Line 918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4" name="Group 919"/>
          <p:cNvGrpSpPr/>
          <p:nvPr/>
        </p:nvGrpSpPr>
        <p:grpSpPr>
          <a:xfrm>
            <a:off x="7100888" y="3594100"/>
            <a:ext cx="814387" cy="701675"/>
            <a:chOff x="2923" y="3345"/>
            <a:chExt cx="513" cy="442"/>
          </a:xfrm>
        </p:grpSpPr>
        <p:sp>
          <p:nvSpPr>
            <p:cNvPr id="6187" name="Rectangle 920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8" name="Rectangle 921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9" name="Text Box 922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0" name="Line 923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91" name="Line 924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5" name="Group 925"/>
          <p:cNvGrpSpPr/>
          <p:nvPr/>
        </p:nvGrpSpPr>
        <p:grpSpPr>
          <a:xfrm>
            <a:off x="6589713" y="4003675"/>
            <a:ext cx="814387" cy="701675"/>
            <a:chOff x="2923" y="3345"/>
            <a:chExt cx="513" cy="442"/>
          </a:xfrm>
        </p:grpSpPr>
        <p:sp>
          <p:nvSpPr>
            <p:cNvPr id="6182" name="Rectangle 926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3" name="Rectangle 927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4" name="Text Box 928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5" name="Line 929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6" name="Line 930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6" name="Group 931"/>
          <p:cNvGrpSpPr/>
          <p:nvPr/>
        </p:nvGrpSpPr>
        <p:grpSpPr>
          <a:xfrm>
            <a:off x="7237413" y="4400550"/>
            <a:ext cx="814387" cy="701675"/>
            <a:chOff x="2923" y="3345"/>
            <a:chExt cx="513" cy="442"/>
          </a:xfrm>
        </p:grpSpPr>
        <p:sp>
          <p:nvSpPr>
            <p:cNvPr id="6177" name="Rectangle 932"/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78" name="Rectangle 933"/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79" name="Text Box 934"/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network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link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physical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0" name="Line 935"/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81" name="Line 936"/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0507" name="Group 896"/>
          <p:cNvGrpSpPr/>
          <p:nvPr/>
        </p:nvGrpSpPr>
        <p:grpSpPr>
          <a:xfrm rot="2937887">
            <a:off x="5389563" y="2911475"/>
            <a:ext cx="3781425" cy="434975"/>
            <a:chOff x="2937" y="3579"/>
            <a:chExt cx="2382" cy="274"/>
          </a:xfrm>
        </p:grpSpPr>
        <p:sp>
          <p:nvSpPr>
            <p:cNvPr id="6173" name="Rectangle 897"/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174" name="Text Box 898"/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logical end-end transport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0510" name="Freeform 899"/>
            <p:cNvSpPr/>
            <p:nvPr/>
          </p:nvSpPr>
          <p:spPr>
            <a:xfrm>
              <a:off x="2937" y="3579"/>
              <a:ext cx="282" cy="264"/>
            </a:xfrm>
            <a:custGeom>
              <a:avLst/>
              <a:gdLst/>
              <a:ahLst/>
              <a:cxnLst>
                <a:cxn ang="0">
                  <a:pos x="282" y="0"/>
                </a:cxn>
                <a:cxn ang="0">
                  <a:pos x="282" y="264"/>
                </a:cxn>
                <a:cxn ang="0">
                  <a:pos x="0" y="129"/>
                </a:cxn>
                <a:cxn ang="0">
                  <a:pos x="282" y="0"/>
                </a:cxn>
              </a:cxnLst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11" name="Freeform 900"/>
            <p:cNvSpPr/>
            <p:nvPr/>
          </p:nvSpPr>
          <p:spPr>
            <a:xfrm flipH="1">
              <a:off x="5037" y="3589"/>
              <a:ext cx="282" cy="264"/>
            </a:xfrm>
            <a:custGeom>
              <a:avLst/>
              <a:gdLst/>
              <a:ahLst/>
              <a:cxnLst>
                <a:cxn ang="0">
                  <a:pos x="282" y="0"/>
                </a:cxn>
                <a:cxn ang="0">
                  <a:pos x="282" y="264"/>
                </a:cxn>
                <a:cxn ang="0">
                  <a:pos x="0" y="129"/>
                </a:cxn>
                <a:cxn ang="0">
                  <a:pos x="282" y="0"/>
                </a:cxn>
              </a:cxnLst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1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173" name="Rectangle 4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7174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21510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17588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19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22531" name="Picture 17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328613" y="936625"/>
            <a:ext cx="6399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Freeform 157"/>
          <p:cNvSpPr/>
          <p:nvPr/>
        </p:nvSpPr>
        <p:spPr>
          <a:xfrm>
            <a:off x="2767013" y="3143250"/>
            <a:ext cx="552450" cy="2082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3688" y="142875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Multiplexing/demultiplexing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8199" name="Text Box 37"/>
          <p:cNvSpPr txBox="1">
            <a:spLocks noChangeArrowheads="1"/>
          </p:cNvSpPr>
          <p:nvPr/>
        </p:nvSpPr>
        <p:spPr bwMode="auto">
          <a:xfrm>
            <a:off x="8007350" y="4068763"/>
            <a:ext cx="8953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process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8200" name="Text Box 38"/>
          <p:cNvSpPr txBox="1">
            <a:spLocks noChangeArrowheads="1"/>
          </p:cNvSpPr>
          <p:nvPr/>
        </p:nvSpPr>
        <p:spPr bwMode="auto">
          <a:xfrm>
            <a:off x="7981950" y="3667125"/>
            <a:ext cx="7556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socket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2673" name="Group 177"/>
          <p:cNvGrpSpPr/>
          <p:nvPr/>
        </p:nvGrpSpPr>
        <p:grpSpPr>
          <a:xfrm>
            <a:off x="4908550" y="1571625"/>
            <a:ext cx="3808413" cy="1468438"/>
            <a:chOff x="3092" y="990"/>
            <a:chExt cx="2399" cy="925"/>
          </a:xfrm>
        </p:grpSpPr>
        <p:sp>
          <p:nvSpPr>
            <p:cNvPr id="8323" name="Rectangle 41"/>
            <p:cNvSpPr>
              <a:spLocks noChangeArrowheads="1"/>
            </p:cNvSpPr>
            <p:nvPr/>
          </p:nvSpPr>
          <p:spPr bwMode="auto">
            <a:xfrm>
              <a:off x="3092" y="1163"/>
              <a:ext cx="2399" cy="752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use header info to deliver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received segments to correct 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socket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  <p:grpSp>
          <p:nvGrpSpPr>
            <p:cNvPr id="22659" name="Group 42"/>
            <p:cNvGrpSpPr/>
            <p:nvPr/>
          </p:nvGrpSpPr>
          <p:grpSpPr>
            <a:xfrm>
              <a:off x="3188" y="990"/>
              <a:ext cx="1994" cy="288"/>
              <a:chOff x="1136" y="3681"/>
              <a:chExt cx="1600" cy="288"/>
            </a:xfrm>
          </p:grpSpPr>
          <p:sp>
            <p:nvSpPr>
              <p:cNvPr id="8325" name="Rectangle 43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2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326" name="Text Box 44"/>
              <p:cNvSpPr txBox="1">
                <a:spLocks noChangeArrowheads="1"/>
              </p:cNvSpPr>
              <p:nvPr/>
            </p:nvSpPr>
            <p:spPr bwMode="auto">
              <a:xfrm>
                <a:off x="1136" y="3681"/>
                <a:ext cx="1600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Gill Sans MT" charset="0"/>
                    <a:ea typeface="MS PGothic" charset="0"/>
                    <a:cs typeface="+mn-cs"/>
                  </a:rPr>
                  <a:t>demultiplexing at receiver: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362672" name="Group 176"/>
          <p:cNvGrpSpPr/>
          <p:nvPr/>
        </p:nvGrpSpPr>
        <p:grpSpPr>
          <a:xfrm>
            <a:off x="411163" y="1335088"/>
            <a:ext cx="4029075" cy="1466850"/>
            <a:chOff x="259" y="841"/>
            <a:chExt cx="2538" cy="924"/>
          </a:xfrm>
        </p:grpSpPr>
        <p:sp>
          <p:nvSpPr>
            <p:cNvPr id="8318" name="Text Box 45"/>
            <p:cNvSpPr txBox="1">
              <a:spLocks noChangeArrowheads="1"/>
            </p:cNvSpPr>
            <p:nvPr/>
          </p:nvSpPr>
          <p:spPr bwMode="auto">
            <a:xfrm>
              <a:off x="264" y="1068"/>
              <a:ext cx="2533" cy="6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handle data from multiple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sockets, add transport header (later used for demultiplexing)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  <p:sp>
          <p:nvSpPr>
            <p:cNvPr id="8319" name="Rectangle 46"/>
            <p:cNvSpPr>
              <a:spLocks noChangeArrowheads="1"/>
            </p:cNvSpPr>
            <p:nvPr/>
          </p:nvSpPr>
          <p:spPr bwMode="auto">
            <a:xfrm>
              <a:off x="259" y="1009"/>
              <a:ext cx="2479" cy="756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2655" name="Group 47"/>
            <p:cNvGrpSpPr/>
            <p:nvPr/>
          </p:nvGrpSpPr>
          <p:grpSpPr>
            <a:xfrm>
              <a:off x="332" y="841"/>
              <a:ext cx="1742" cy="288"/>
              <a:chOff x="1101" y="3681"/>
              <a:chExt cx="1673" cy="288"/>
            </a:xfrm>
          </p:grpSpPr>
          <p:sp>
            <p:nvSpPr>
              <p:cNvPr id="8321" name="Rectangle 48"/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322" name="Text Box 49"/>
              <p:cNvSpPr txBox="1">
                <a:spLocks noChangeArrowheads="1"/>
              </p:cNvSpPr>
              <p:nvPr/>
            </p:nvSpPr>
            <p:spPr bwMode="auto">
              <a:xfrm>
                <a:off x="1101" y="3681"/>
                <a:ext cx="1673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Gill Sans MT" charset="0"/>
                    <a:ea typeface="MS PGothic" charset="0"/>
                    <a:cs typeface="+mn-cs"/>
                  </a:rPr>
                  <a:t>multiplexing at sender: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2538" name="Group 57"/>
          <p:cNvGrpSpPr/>
          <p:nvPr/>
        </p:nvGrpSpPr>
        <p:grpSpPr>
          <a:xfrm>
            <a:off x="7481888" y="3741738"/>
            <a:ext cx="533400" cy="206375"/>
            <a:chOff x="344" y="1846"/>
            <a:chExt cx="336" cy="130"/>
          </a:xfrm>
        </p:grpSpPr>
        <p:sp>
          <p:nvSpPr>
            <p:cNvPr id="8314" name="Rectangle 35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5" name="Rectangle 54"/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6" name="Rectangle 55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7" name="Rectangle 56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2539" name="Rectangle 23"/>
          <p:cNvSpPr/>
          <p:nvPr/>
        </p:nvSpPr>
        <p:spPr>
          <a:xfrm>
            <a:off x="3314700" y="3194050"/>
            <a:ext cx="1497013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40" name="Rectangle 24"/>
          <p:cNvSpPr/>
          <p:nvPr/>
        </p:nvSpPr>
        <p:spPr>
          <a:xfrm>
            <a:off x="3279775" y="3248025"/>
            <a:ext cx="1473200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41" name="Line 25"/>
          <p:cNvSpPr/>
          <p:nvPr/>
        </p:nvSpPr>
        <p:spPr>
          <a:xfrm>
            <a:off x="3286125" y="4017963"/>
            <a:ext cx="146050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2" name="Text Box 26"/>
          <p:cNvSpPr txBox="1"/>
          <p:nvPr/>
        </p:nvSpPr>
        <p:spPr>
          <a:xfrm>
            <a:off x="3357563" y="40005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43" name="Line 27"/>
          <p:cNvSpPr/>
          <p:nvPr/>
        </p:nvSpPr>
        <p:spPr>
          <a:xfrm>
            <a:off x="3287713" y="4335463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4" name="Text Box 26"/>
          <p:cNvSpPr txBox="1"/>
          <p:nvPr/>
        </p:nvSpPr>
        <p:spPr>
          <a:xfrm>
            <a:off x="3354388" y="32146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45" name="Text Box 26"/>
          <p:cNvSpPr txBox="1"/>
          <p:nvPr/>
        </p:nvSpPr>
        <p:spPr>
          <a:xfrm>
            <a:off x="3351213" y="49053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46" name="Text Box 26"/>
          <p:cNvSpPr txBox="1"/>
          <p:nvPr/>
        </p:nvSpPr>
        <p:spPr>
          <a:xfrm>
            <a:off x="3351213" y="46196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47" name="Text Box 26"/>
          <p:cNvSpPr txBox="1"/>
          <p:nvPr/>
        </p:nvSpPr>
        <p:spPr>
          <a:xfrm>
            <a:off x="3351213" y="43211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8213" name="Oval 120"/>
          <p:cNvSpPr>
            <a:spLocks noChangeArrowheads="1"/>
          </p:cNvSpPr>
          <p:nvPr/>
        </p:nvSpPr>
        <p:spPr bwMode="auto">
          <a:xfrm>
            <a:off x="405130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P2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22549" name="Line 27"/>
          <p:cNvSpPr/>
          <p:nvPr/>
        </p:nvSpPr>
        <p:spPr>
          <a:xfrm>
            <a:off x="3284538" y="4646613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0" name="Line 27"/>
          <p:cNvSpPr/>
          <p:nvPr/>
        </p:nvSpPr>
        <p:spPr>
          <a:xfrm>
            <a:off x="3281363" y="4945063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6" name="Oval 128"/>
          <p:cNvSpPr>
            <a:spLocks noChangeArrowheads="1"/>
          </p:cNvSpPr>
          <p:nvPr/>
        </p:nvSpPr>
        <p:spPr bwMode="auto">
          <a:xfrm>
            <a:off x="334645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P1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grpSp>
        <p:nvGrpSpPr>
          <p:cNvPr id="22552" name="Group 134"/>
          <p:cNvGrpSpPr/>
          <p:nvPr/>
        </p:nvGrpSpPr>
        <p:grpSpPr>
          <a:xfrm>
            <a:off x="4127500" y="3948113"/>
            <a:ext cx="412750" cy="158750"/>
            <a:chOff x="1383" y="2620"/>
            <a:chExt cx="260" cy="100"/>
          </a:xfrm>
        </p:grpSpPr>
        <p:sp>
          <p:nvSpPr>
            <p:cNvPr id="8310" name="Rectangle 130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1" name="Rectangle 131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2" name="Rectangle 132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13" name="Rectangle 133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2553" name="Group 135"/>
          <p:cNvGrpSpPr/>
          <p:nvPr/>
        </p:nvGrpSpPr>
        <p:grpSpPr>
          <a:xfrm>
            <a:off x="3425825" y="3940175"/>
            <a:ext cx="412750" cy="158750"/>
            <a:chOff x="1383" y="2620"/>
            <a:chExt cx="260" cy="100"/>
          </a:xfrm>
        </p:grpSpPr>
        <p:sp>
          <p:nvSpPr>
            <p:cNvPr id="8306" name="Rectangle 136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7" name="Rectangle 137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8" name="Rectangle 138"/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9" name="Rectangle 139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2554" name="Freeform 141"/>
          <p:cNvSpPr/>
          <p:nvPr/>
        </p:nvSpPr>
        <p:spPr>
          <a:xfrm>
            <a:off x="1793875" y="4003675"/>
            <a:ext cx="2160588" cy="19891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555" name="Freeform 142"/>
          <p:cNvSpPr/>
          <p:nvPr/>
        </p:nvSpPr>
        <p:spPr>
          <a:xfrm>
            <a:off x="1857375" y="4029075"/>
            <a:ext cx="1962150" cy="18970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556" name="Rectangle 23"/>
          <p:cNvSpPr/>
          <p:nvPr/>
        </p:nvSpPr>
        <p:spPr>
          <a:xfrm>
            <a:off x="5576888" y="3563938"/>
            <a:ext cx="1296987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57" name="Rectangle 24"/>
          <p:cNvSpPr/>
          <p:nvPr/>
        </p:nvSpPr>
        <p:spPr>
          <a:xfrm>
            <a:off x="5538788" y="3617913"/>
            <a:ext cx="1273175" cy="19796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58" name="Line 25"/>
          <p:cNvSpPr/>
          <p:nvPr/>
        </p:nvSpPr>
        <p:spPr>
          <a:xfrm>
            <a:off x="5548313" y="437832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59" name="Text Box 26"/>
          <p:cNvSpPr txBox="1"/>
          <p:nvPr/>
        </p:nvSpPr>
        <p:spPr>
          <a:xfrm>
            <a:off x="5505450" y="43608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60" name="Line 27"/>
          <p:cNvSpPr/>
          <p:nvPr/>
        </p:nvSpPr>
        <p:spPr>
          <a:xfrm>
            <a:off x="5556250" y="4699000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1" name="Line 28"/>
          <p:cNvSpPr/>
          <p:nvPr/>
        </p:nvSpPr>
        <p:spPr>
          <a:xfrm>
            <a:off x="5541963" y="500856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2" name="Line 29"/>
          <p:cNvSpPr/>
          <p:nvPr/>
        </p:nvSpPr>
        <p:spPr>
          <a:xfrm>
            <a:off x="5541963" y="529431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3" name="Text Box 26"/>
          <p:cNvSpPr txBox="1"/>
          <p:nvPr/>
        </p:nvSpPr>
        <p:spPr>
          <a:xfrm>
            <a:off x="5540375" y="36083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64" name="Text Box 26"/>
          <p:cNvSpPr txBox="1"/>
          <p:nvPr/>
        </p:nvSpPr>
        <p:spPr>
          <a:xfrm>
            <a:off x="5495925" y="52657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65" name="Text Box 26"/>
          <p:cNvSpPr txBox="1"/>
          <p:nvPr/>
        </p:nvSpPr>
        <p:spPr>
          <a:xfrm>
            <a:off x="5514975" y="49799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66" name="Text Box 26"/>
          <p:cNvSpPr txBox="1"/>
          <p:nvPr/>
        </p:nvSpPr>
        <p:spPr>
          <a:xfrm>
            <a:off x="5505450" y="46847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8232" name="Oval 101"/>
          <p:cNvSpPr>
            <a:spLocks noChangeArrowheads="1"/>
          </p:cNvSpPr>
          <p:nvPr/>
        </p:nvSpPr>
        <p:spPr bwMode="auto">
          <a:xfrm>
            <a:off x="5875338" y="39497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P4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22568" name="Freeform 103"/>
          <p:cNvSpPr/>
          <p:nvPr/>
        </p:nvSpPr>
        <p:spPr>
          <a:xfrm>
            <a:off x="6824663" y="3595688"/>
            <a:ext cx="581025" cy="203835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569" name="Freeform 70"/>
          <p:cNvSpPr/>
          <p:nvPr/>
        </p:nvSpPr>
        <p:spPr>
          <a:xfrm>
            <a:off x="635000" y="3616325"/>
            <a:ext cx="552450" cy="2082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570" name="Rectangle 23"/>
          <p:cNvSpPr/>
          <p:nvPr/>
        </p:nvSpPr>
        <p:spPr>
          <a:xfrm>
            <a:off x="1231900" y="3571875"/>
            <a:ext cx="1296988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71" name="Rectangle 24"/>
          <p:cNvSpPr/>
          <p:nvPr/>
        </p:nvSpPr>
        <p:spPr>
          <a:xfrm>
            <a:off x="1193800" y="3625850"/>
            <a:ext cx="12731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2572" name="Line 25"/>
          <p:cNvSpPr/>
          <p:nvPr/>
        </p:nvSpPr>
        <p:spPr>
          <a:xfrm>
            <a:off x="1203325" y="438626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3" name="Text Box 26"/>
          <p:cNvSpPr txBox="1"/>
          <p:nvPr/>
        </p:nvSpPr>
        <p:spPr>
          <a:xfrm>
            <a:off x="1160463" y="43688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74" name="Line 27"/>
          <p:cNvSpPr/>
          <p:nvPr/>
        </p:nvSpPr>
        <p:spPr>
          <a:xfrm>
            <a:off x="1211263" y="470693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5" name="Line 28"/>
          <p:cNvSpPr/>
          <p:nvPr/>
        </p:nvSpPr>
        <p:spPr>
          <a:xfrm>
            <a:off x="1196975" y="5016500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6" name="Line 29"/>
          <p:cNvSpPr/>
          <p:nvPr/>
        </p:nvSpPr>
        <p:spPr>
          <a:xfrm>
            <a:off x="1196975" y="5302250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77" name="Text Box 26"/>
          <p:cNvSpPr txBox="1"/>
          <p:nvPr/>
        </p:nvSpPr>
        <p:spPr>
          <a:xfrm>
            <a:off x="1195388" y="36163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78" name="Text Box 26"/>
          <p:cNvSpPr txBox="1"/>
          <p:nvPr/>
        </p:nvSpPr>
        <p:spPr>
          <a:xfrm>
            <a:off x="1150938" y="52736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79" name="Text Box 26"/>
          <p:cNvSpPr txBox="1"/>
          <p:nvPr/>
        </p:nvSpPr>
        <p:spPr>
          <a:xfrm>
            <a:off x="1169988" y="49879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2580" name="Text Box 26"/>
          <p:cNvSpPr txBox="1"/>
          <p:nvPr/>
        </p:nvSpPr>
        <p:spPr>
          <a:xfrm>
            <a:off x="1160463" y="46926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8246" name="Oval 23"/>
          <p:cNvSpPr>
            <a:spLocks noChangeArrowheads="1"/>
          </p:cNvSpPr>
          <p:nvPr/>
        </p:nvSpPr>
        <p:spPr bwMode="auto">
          <a:xfrm>
            <a:off x="1530350" y="39576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grpSp>
        <p:nvGrpSpPr>
          <p:cNvPr id="22582" name="Group 149"/>
          <p:cNvGrpSpPr/>
          <p:nvPr/>
        </p:nvGrpSpPr>
        <p:grpSpPr>
          <a:xfrm>
            <a:off x="1620838" y="4295775"/>
            <a:ext cx="412750" cy="158750"/>
            <a:chOff x="1287" y="2524"/>
            <a:chExt cx="260" cy="100"/>
          </a:xfrm>
        </p:grpSpPr>
        <p:sp>
          <p:nvSpPr>
            <p:cNvPr id="8302" name="Rectangle 73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3" name="Rectangle 74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4" name="Rectangle 75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5" name="Rectangle 129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2583" name="Group 150"/>
          <p:cNvGrpSpPr/>
          <p:nvPr/>
        </p:nvGrpSpPr>
        <p:grpSpPr>
          <a:xfrm>
            <a:off x="5961063" y="4294188"/>
            <a:ext cx="412750" cy="158750"/>
            <a:chOff x="1287" y="2524"/>
            <a:chExt cx="260" cy="100"/>
          </a:xfrm>
        </p:grpSpPr>
        <p:sp>
          <p:nvSpPr>
            <p:cNvPr id="8298" name="Rectangle 15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9" name="Rectangle 15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0" name="Rectangle 153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301" name="Rectangle 15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2584" name="Freeform 146"/>
          <p:cNvSpPr/>
          <p:nvPr/>
        </p:nvSpPr>
        <p:spPr>
          <a:xfrm>
            <a:off x="4008438" y="3995738"/>
            <a:ext cx="2173287" cy="19891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585" name="Freeform 147"/>
          <p:cNvSpPr/>
          <p:nvPr/>
        </p:nvSpPr>
        <p:spPr>
          <a:xfrm>
            <a:off x="4127500" y="4027488"/>
            <a:ext cx="1984375" cy="18764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51" name="Oval 36"/>
          <p:cNvSpPr>
            <a:spLocks noChangeArrowheads="1"/>
          </p:cNvSpPr>
          <p:nvPr/>
        </p:nvSpPr>
        <p:spPr bwMode="auto">
          <a:xfrm>
            <a:off x="7467600" y="410686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grpSp>
        <p:nvGrpSpPr>
          <p:cNvPr id="362665" name="Group 169"/>
          <p:cNvGrpSpPr/>
          <p:nvPr/>
        </p:nvGrpSpPr>
        <p:grpSpPr>
          <a:xfrm>
            <a:off x="2962275" y="2854325"/>
            <a:ext cx="1292225" cy="1454150"/>
            <a:chOff x="1868" y="1796"/>
            <a:chExt cx="814" cy="916"/>
          </a:xfrm>
        </p:grpSpPr>
        <p:sp>
          <p:nvSpPr>
            <p:cNvPr id="8295" name="Oval 166"/>
            <p:cNvSpPr>
              <a:spLocks noChangeArrowheads="1"/>
            </p:cNvSpPr>
            <p:nvPr/>
          </p:nvSpPr>
          <p:spPr bwMode="auto">
            <a:xfrm>
              <a:off x="231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6" name="Oval 167"/>
            <p:cNvSpPr>
              <a:spLocks noChangeArrowheads="1"/>
            </p:cNvSpPr>
            <p:nvPr/>
          </p:nvSpPr>
          <p:spPr bwMode="auto">
            <a:xfrm>
              <a:off x="255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2632" name="Freeform 168"/>
            <p:cNvSpPr/>
            <p:nvPr/>
          </p:nvSpPr>
          <p:spPr>
            <a:xfrm>
              <a:off x="1868" y="1796"/>
              <a:ext cx="434" cy="904"/>
            </a:xfrm>
            <a:custGeom>
              <a:avLst/>
              <a:gdLst/>
              <a:ahLst/>
              <a:cxnLst>
                <a:cxn ang="0">
                  <a:pos x="434" y="904"/>
                </a:cxn>
                <a:cxn ang="0">
                  <a:pos x="2" y="902"/>
                </a:cxn>
                <a:cxn ang="0">
                  <a:pos x="0" y="0"/>
                </a:cxn>
              </a:cxnLst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62668" name="Group 172"/>
          <p:cNvGrpSpPr/>
          <p:nvPr/>
        </p:nvGrpSpPr>
        <p:grpSpPr>
          <a:xfrm>
            <a:off x="3870325" y="2809875"/>
            <a:ext cx="1047750" cy="1441450"/>
            <a:chOff x="2432" y="1758"/>
            <a:chExt cx="660" cy="908"/>
          </a:xfrm>
        </p:grpSpPr>
        <p:sp>
          <p:nvSpPr>
            <p:cNvPr id="8293" name="Oval 170"/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2629" name="Freeform 171"/>
            <p:cNvSpPr/>
            <p:nvPr/>
          </p:nvSpPr>
          <p:spPr>
            <a:xfrm>
              <a:off x="2506" y="1758"/>
              <a:ext cx="586" cy="810"/>
            </a:xfrm>
            <a:custGeom>
              <a:avLst/>
              <a:gdLst/>
              <a:ahLst/>
              <a:cxnLst>
                <a:cxn ang="0">
                  <a:pos x="0" y="810"/>
                </a:cxn>
                <a:cxn ang="0">
                  <a:pos x="2" y="808"/>
                </a:cxn>
                <a:cxn ang="0">
                  <a:pos x="2" y="170"/>
                </a:cxn>
                <a:cxn ang="0">
                  <a:pos x="586" y="0"/>
                </a:cxn>
              </a:cxnLst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2589" name="Group 179"/>
          <p:cNvGrpSpPr/>
          <p:nvPr/>
        </p:nvGrpSpPr>
        <p:grpSpPr>
          <a:xfrm>
            <a:off x="169863" y="5126038"/>
            <a:ext cx="800100" cy="828675"/>
            <a:chOff x="-44" y="1473"/>
            <a:chExt cx="981" cy="1105"/>
          </a:xfrm>
        </p:grpSpPr>
        <p:pic>
          <p:nvPicPr>
            <p:cNvPr id="22626" name="Picture 18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27" name="Freeform 18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2590" name="Group 182"/>
          <p:cNvGrpSpPr/>
          <p:nvPr/>
        </p:nvGrpSpPr>
        <p:grpSpPr>
          <a:xfrm flipH="1">
            <a:off x="7151688" y="5040313"/>
            <a:ext cx="788987" cy="782637"/>
            <a:chOff x="-44" y="1473"/>
            <a:chExt cx="981" cy="1105"/>
          </a:xfrm>
        </p:grpSpPr>
        <p:pic>
          <p:nvPicPr>
            <p:cNvPr id="22624" name="Picture 183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625" name="Freeform 18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2591" name="Group 185"/>
          <p:cNvGrpSpPr/>
          <p:nvPr/>
        </p:nvGrpSpPr>
        <p:grpSpPr>
          <a:xfrm>
            <a:off x="2741613" y="4625975"/>
            <a:ext cx="358775" cy="704850"/>
            <a:chOff x="4140" y="429"/>
            <a:chExt cx="1425" cy="2396"/>
          </a:xfrm>
        </p:grpSpPr>
        <p:sp>
          <p:nvSpPr>
            <p:cNvPr id="22592" name="Freeform 18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58" name="Rectangle 187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2594" name="Freeform 18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95" name="Freeform 18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61" name="Rectangle 190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2597" name="Group 191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87" name="AutoShape 1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288" name="AutoShape 19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263" name="Rectangle 194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2599" name="Group 195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85" name="AutoShape 196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286" name="AutoShape 19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265" name="Rectangle 198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66" name="Rectangle 199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2602" name="Group 200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283" name="AutoShape 201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284" name="AutoShape 20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2603" name="Freeform 20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2604" name="Group 204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281" name="AutoShape 205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282" name="AutoShape 206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270" name="Rectangle 207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2606" name="Freeform 20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607" name="Freeform 20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3" name="Oval 210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2609" name="Freeform 21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5" name="AutoShape 212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76" name="AutoShape 213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77" name="Oval 214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78" name="Oval 215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8279" name="Oval 216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80" name="Rectangle 217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1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23555" name="Picture 8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82613" y="1022350"/>
            <a:ext cx="5942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Rectangle 75"/>
          <p:cNvSpPr>
            <a:spLocks noChangeArrowheads="1"/>
          </p:cNvSpPr>
          <p:nvPr/>
        </p:nvSpPr>
        <p:spPr bwMode="auto">
          <a:xfrm>
            <a:off x="5343525" y="2000250"/>
            <a:ext cx="3324225" cy="32004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2" name="Rectangle 65"/>
          <p:cNvSpPr>
            <a:spLocks noChangeArrowheads="1"/>
          </p:cNvSpPr>
          <p:nvPr/>
        </p:nvSpPr>
        <p:spPr bwMode="auto">
          <a:xfrm>
            <a:off x="5267325" y="2095500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3" name="Rectangle 2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How demultiplexing works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9224" name="Rectangle 23"/>
          <p:cNvSpPr>
            <a:spLocks noGrp="1" noChangeArrowheads="1"/>
          </p:cNvSpPr>
          <p:nvPr>
            <p:ph sz="half" idx="1"/>
          </p:nvPr>
        </p:nvSpPr>
        <p:spPr>
          <a:xfrm>
            <a:off x="485775" y="1595438"/>
            <a:ext cx="4438650" cy="2790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 receives IP datagrams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each datagram has source IP address, destination IP address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each datagram carries one transport-layer segment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each segment has source, destination port number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 uses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IP addresses &amp; port numbers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to direct segment to appropriate socket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9225" name="Text Box 63"/>
          <p:cNvSpPr txBox="1">
            <a:spLocks noChangeArrowheads="1"/>
          </p:cNvSpPr>
          <p:nvPr/>
        </p:nvSpPr>
        <p:spPr bwMode="auto">
          <a:xfrm>
            <a:off x="5307013" y="2108200"/>
            <a:ext cx="156368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source port #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6" name="Text Box 64"/>
          <p:cNvSpPr txBox="1">
            <a:spLocks noChangeArrowheads="1"/>
          </p:cNvSpPr>
          <p:nvPr/>
        </p:nvSpPr>
        <p:spPr bwMode="auto">
          <a:xfrm>
            <a:off x="7092950" y="2108200"/>
            <a:ext cx="13287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dest port #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7" name="Line 66"/>
          <p:cNvSpPr>
            <a:spLocks noChangeShapeType="1"/>
          </p:cNvSpPr>
          <p:nvPr/>
        </p:nvSpPr>
        <p:spPr bwMode="auto">
          <a:xfrm flipV="1">
            <a:off x="5257800" y="2495550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8" name="Line 68"/>
          <p:cNvSpPr>
            <a:spLocks noChangeShapeType="1"/>
          </p:cNvSpPr>
          <p:nvPr/>
        </p:nvSpPr>
        <p:spPr bwMode="auto">
          <a:xfrm flipV="1">
            <a:off x="5267325" y="3486150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29" name="Line 69"/>
          <p:cNvSpPr>
            <a:spLocks noChangeShapeType="1"/>
          </p:cNvSpPr>
          <p:nvPr/>
        </p:nvSpPr>
        <p:spPr bwMode="auto">
          <a:xfrm flipV="1">
            <a:off x="6905625" y="209550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0" name="Text Box 70"/>
          <p:cNvSpPr txBox="1">
            <a:spLocks noChangeArrowheads="1"/>
          </p:cNvSpPr>
          <p:nvPr/>
        </p:nvSpPr>
        <p:spPr bwMode="auto">
          <a:xfrm>
            <a:off x="6450013" y="1655763"/>
            <a:ext cx="86360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32 bits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1" name="Line 71"/>
          <p:cNvSpPr>
            <a:spLocks noChangeShapeType="1"/>
          </p:cNvSpPr>
          <p:nvPr/>
        </p:nvSpPr>
        <p:spPr bwMode="auto">
          <a:xfrm>
            <a:off x="7362825" y="1862138"/>
            <a:ext cx="12001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2" name="Line 72"/>
          <p:cNvSpPr>
            <a:spLocks noChangeShapeType="1"/>
          </p:cNvSpPr>
          <p:nvPr/>
        </p:nvSpPr>
        <p:spPr bwMode="auto">
          <a:xfrm rot="10800000">
            <a:off x="5253038" y="1871663"/>
            <a:ext cx="11287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3" name="Text Box 73"/>
          <p:cNvSpPr txBox="1">
            <a:spLocks noChangeArrowheads="1"/>
          </p:cNvSpPr>
          <p:nvPr/>
        </p:nvSpPr>
        <p:spPr bwMode="auto">
          <a:xfrm>
            <a:off x="6161088" y="3816350"/>
            <a:ext cx="1389063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application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data 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(payload)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4" name="Text Box 74"/>
          <p:cNvSpPr txBox="1">
            <a:spLocks noChangeArrowheads="1"/>
          </p:cNvSpPr>
          <p:nvPr/>
        </p:nvSpPr>
        <p:spPr bwMode="auto">
          <a:xfrm>
            <a:off x="5776913" y="2849563"/>
            <a:ext cx="22907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other header fields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235" name="Text Box 76"/>
          <p:cNvSpPr txBox="1">
            <a:spLocks noChangeArrowheads="1"/>
          </p:cNvSpPr>
          <p:nvPr/>
        </p:nvSpPr>
        <p:spPr bwMode="auto">
          <a:xfrm>
            <a:off x="5480050" y="5380038"/>
            <a:ext cx="30607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TCP/UDP segment format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24579" name="Picture 1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42913" y="935038"/>
            <a:ext cx="7313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50" y="14605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Connectionless </a:t>
            </a:r>
            <a:r>
              <a:rPr kumimoji="0" lang="en-US" sz="44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demultiplexing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7000" y="1495425"/>
            <a:ext cx="4940300" cy="1858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7980" marR="0" lvl="0" indent="-2908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recall: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created socket has host-local port #: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7980" marR="0" lvl="0" indent="-2908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 DatagramSocket mySocket1        = new DatagramSocket(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12534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);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347980" marR="0" lvl="0" indent="-2908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240745" name="Rectangle 105"/>
          <p:cNvSpPr>
            <a:spLocks noGrp="1" noChangeArrowheads="1"/>
          </p:cNvSpPr>
          <p:nvPr>
            <p:ph sz="half" idx="2"/>
          </p:nvPr>
        </p:nvSpPr>
        <p:spPr>
          <a:xfrm>
            <a:off x="312738" y="3862388"/>
            <a:ext cx="4114800" cy="2368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when host receives UDP segment: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checks destination port # in segment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directs UDP segment to socket with that port #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10248" name="Rectangle 108"/>
          <p:cNvSpPr>
            <a:spLocks noChangeArrowheads="1"/>
          </p:cNvSpPr>
          <p:nvPr/>
        </p:nvSpPr>
        <p:spPr bwMode="auto">
          <a:xfrm>
            <a:off x="4678363" y="1162050"/>
            <a:ext cx="4465638" cy="16970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7980" marR="0" lvl="0" indent="-2908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recall: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when creating datagram to send into UDP socket, must specify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859155" marR="0" lvl="1" indent="-2400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destination IP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859155" marR="0" lvl="1" indent="-24003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destination port #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240751" name="Rectangle 111"/>
          <p:cNvSpPr>
            <a:spLocks noChangeArrowheads="1"/>
          </p:cNvSpPr>
          <p:nvPr/>
        </p:nvSpPr>
        <p:spPr bwMode="auto">
          <a:xfrm>
            <a:off x="5260975" y="3895725"/>
            <a:ext cx="3432175" cy="21478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IP datagrams with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same dest. port #,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but different source IP addresses and/or source port numbers will be directed to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same socket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at dest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250" name="Line 112"/>
          <p:cNvSpPr>
            <a:spLocks noChangeShapeType="1"/>
          </p:cNvSpPr>
          <p:nvPr/>
        </p:nvSpPr>
        <p:spPr bwMode="auto">
          <a:xfrm>
            <a:off x="1400175" y="3644900"/>
            <a:ext cx="5845175" cy="0"/>
          </a:xfrm>
          <a:prstGeom prst="line">
            <a:avLst/>
          </a:prstGeom>
          <a:noFill/>
          <a:ln w="28575">
            <a:solidFill>
              <a:schemeClr val="bg1">
                <a:lumMod val="65000"/>
              </a:schemeClr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0753" name="AutoShape 113"/>
          <p:cNvSpPr>
            <a:spLocks noChangeArrowheads="1"/>
          </p:cNvSpPr>
          <p:nvPr/>
        </p:nvSpPr>
        <p:spPr bwMode="auto">
          <a:xfrm>
            <a:off x="4467225" y="4770438"/>
            <a:ext cx="560388" cy="311150"/>
          </a:xfrm>
          <a:prstGeom prst="rightArrow">
            <a:avLst>
              <a:gd name="adj1" fmla="val 50000"/>
              <a:gd name="adj2" fmla="val 45026"/>
            </a:avLst>
          </a:prstGeom>
          <a:solidFill>
            <a:srgbClr val="CC0000"/>
          </a:solidFill>
          <a:ln w="9525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45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45">
                                            <p:txEl>
                                              <p:charRg st="3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45">
                                            <p:txEl>
                                              <p:charRg st="69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51">
                                            <p:txEl>
                                              <p:charRg st="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745" grpId="0" build="p"/>
      <p:bldP spid="2407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267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25603" name="Picture 21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327025" y="885825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7772400" cy="9350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Connectionless demux: example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41708" name="Rectangle 44"/>
          <p:cNvSpPr>
            <a:spLocks noGrp="1" noChangeArrowheads="1"/>
          </p:cNvSpPr>
          <p:nvPr>
            <p:ph idx="1"/>
          </p:nvPr>
        </p:nvSpPr>
        <p:spPr>
          <a:xfrm>
            <a:off x="2870200" y="1320800"/>
            <a:ext cx="3211513" cy="725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3355" marR="0" lvl="0" indent="-1733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DatagramSocket serverSocket = new DatagramSocket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173355" marR="0" lvl="0" indent="-1733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(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6428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);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173355" marR="0" lvl="0" indent="-1733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25606" name="Freeform 89"/>
          <p:cNvSpPr/>
          <p:nvPr/>
        </p:nvSpPr>
        <p:spPr>
          <a:xfrm>
            <a:off x="3189288" y="2478088"/>
            <a:ext cx="552450" cy="2082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07" name="Freeform 97"/>
          <p:cNvSpPr/>
          <p:nvPr/>
        </p:nvSpPr>
        <p:spPr>
          <a:xfrm>
            <a:off x="404813" y="2782888"/>
            <a:ext cx="460375" cy="21939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08" name="Rectangle 23"/>
          <p:cNvSpPr/>
          <p:nvPr/>
        </p:nvSpPr>
        <p:spPr>
          <a:xfrm>
            <a:off x="909638" y="2749550"/>
            <a:ext cx="1296987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09" name="Rectangle 24"/>
          <p:cNvSpPr/>
          <p:nvPr/>
        </p:nvSpPr>
        <p:spPr>
          <a:xfrm>
            <a:off x="871538" y="2803525"/>
            <a:ext cx="12731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10" name="Line 25"/>
          <p:cNvSpPr/>
          <p:nvPr/>
        </p:nvSpPr>
        <p:spPr>
          <a:xfrm>
            <a:off x="881063" y="356393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1" name="Text Box 26"/>
          <p:cNvSpPr txBox="1"/>
          <p:nvPr/>
        </p:nvSpPr>
        <p:spPr>
          <a:xfrm>
            <a:off x="838200" y="35464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12" name="Line 27"/>
          <p:cNvSpPr/>
          <p:nvPr/>
        </p:nvSpPr>
        <p:spPr>
          <a:xfrm>
            <a:off x="889000" y="388461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3" name="Line 28"/>
          <p:cNvSpPr/>
          <p:nvPr/>
        </p:nvSpPr>
        <p:spPr>
          <a:xfrm>
            <a:off x="874713" y="419417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4" name="Line 29"/>
          <p:cNvSpPr/>
          <p:nvPr/>
        </p:nvSpPr>
        <p:spPr>
          <a:xfrm>
            <a:off x="874713" y="447992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5" name="Text Box 26"/>
          <p:cNvSpPr txBox="1"/>
          <p:nvPr/>
        </p:nvSpPr>
        <p:spPr>
          <a:xfrm>
            <a:off x="873125" y="27940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16" name="Text Box 26"/>
          <p:cNvSpPr txBox="1"/>
          <p:nvPr/>
        </p:nvSpPr>
        <p:spPr>
          <a:xfrm>
            <a:off x="828675" y="44513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17" name="Text Box 26"/>
          <p:cNvSpPr txBox="1"/>
          <p:nvPr/>
        </p:nvSpPr>
        <p:spPr>
          <a:xfrm>
            <a:off x="847725" y="41656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18" name="Text Box 26"/>
          <p:cNvSpPr txBox="1"/>
          <p:nvPr/>
        </p:nvSpPr>
        <p:spPr>
          <a:xfrm>
            <a:off x="838200" y="38703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1284" name="Oval 110"/>
          <p:cNvSpPr>
            <a:spLocks noChangeArrowheads="1"/>
          </p:cNvSpPr>
          <p:nvPr/>
        </p:nvSpPr>
        <p:spPr bwMode="auto">
          <a:xfrm>
            <a:off x="1208088" y="30797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41775" name="Group 111"/>
          <p:cNvGrpSpPr/>
          <p:nvPr/>
        </p:nvGrpSpPr>
        <p:grpSpPr>
          <a:xfrm>
            <a:off x="1176338" y="3403600"/>
            <a:ext cx="620712" cy="228600"/>
            <a:chOff x="1287" y="2524"/>
            <a:chExt cx="260" cy="100"/>
          </a:xfrm>
        </p:grpSpPr>
        <p:sp>
          <p:nvSpPr>
            <p:cNvPr id="11390" name="Rectangle 112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91" name="Rectangle 113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92" name="Rectangle 114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93" name="Rectangle 115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5621" name="Rectangle 23"/>
          <p:cNvSpPr/>
          <p:nvPr/>
        </p:nvSpPr>
        <p:spPr>
          <a:xfrm>
            <a:off x="3736975" y="2516188"/>
            <a:ext cx="1497013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22" name="Rectangle 24"/>
          <p:cNvSpPr/>
          <p:nvPr/>
        </p:nvSpPr>
        <p:spPr>
          <a:xfrm>
            <a:off x="3702050" y="2570163"/>
            <a:ext cx="1473200" cy="19796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23" name="Line 25"/>
          <p:cNvSpPr/>
          <p:nvPr/>
        </p:nvSpPr>
        <p:spPr>
          <a:xfrm>
            <a:off x="3708400" y="3340100"/>
            <a:ext cx="146050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4" name="Text Box 26"/>
          <p:cNvSpPr txBox="1"/>
          <p:nvPr/>
        </p:nvSpPr>
        <p:spPr>
          <a:xfrm>
            <a:off x="3779838" y="33226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25" name="Line 27"/>
          <p:cNvSpPr/>
          <p:nvPr/>
        </p:nvSpPr>
        <p:spPr>
          <a:xfrm>
            <a:off x="3709988" y="3657600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6" name="Text Box 26"/>
          <p:cNvSpPr txBox="1"/>
          <p:nvPr/>
        </p:nvSpPr>
        <p:spPr>
          <a:xfrm>
            <a:off x="3776663" y="25368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27" name="Text Box 26"/>
          <p:cNvSpPr txBox="1"/>
          <p:nvPr/>
        </p:nvSpPr>
        <p:spPr>
          <a:xfrm>
            <a:off x="3773488" y="42275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28" name="Text Box 26"/>
          <p:cNvSpPr txBox="1"/>
          <p:nvPr/>
        </p:nvSpPr>
        <p:spPr>
          <a:xfrm>
            <a:off x="3773488" y="39417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29" name="Text Box 26"/>
          <p:cNvSpPr txBox="1"/>
          <p:nvPr/>
        </p:nvSpPr>
        <p:spPr>
          <a:xfrm>
            <a:off x="3773488" y="36433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30" name="Line 27"/>
          <p:cNvSpPr/>
          <p:nvPr/>
        </p:nvSpPr>
        <p:spPr>
          <a:xfrm>
            <a:off x="3706813" y="3968750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1" name="Line 27"/>
          <p:cNvSpPr/>
          <p:nvPr/>
        </p:nvSpPr>
        <p:spPr>
          <a:xfrm>
            <a:off x="3703638" y="4267200"/>
            <a:ext cx="1457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97" name="Oval 128"/>
          <p:cNvSpPr>
            <a:spLocks noChangeArrowheads="1"/>
          </p:cNvSpPr>
          <p:nvPr/>
        </p:nvSpPr>
        <p:spPr bwMode="auto">
          <a:xfrm>
            <a:off x="4121150" y="2876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P1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41798" name="Group 134"/>
          <p:cNvGrpSpPr/>
          <p:nvPr/>
        </p:nvGrpSpPr>
        <p:grpSpPr>
          <a:xfrm>
            <a:off x="3992563" y="3192463"/>
            <a:ext cx="887412" cy="228600"/>
            <a:chOff x="1383" y="2620"/>
            <a:chExt cx="260" cy="100"/>
          </a:xfrm>
        </p:grpSpPr>
        <p:sp>
          <p:nvSpPr>
            <p:cNvPr id="11386" name="Rectangle 135"/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7" name="Rectangle 136"/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8" name="Rectangle 137"/>
            <p:cNvSpPr>
              <a:spLocks noChangeArrowheads="1"/>
            </p:cNvSpPr>
            <p:nvPr/>
          </p:nvSpPr>
          <p:spPr bwMode="auto"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9" name="Rectangle 138"/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5634" name="Rectangle 23"/>
          <p:cNvSpPr/>
          <p:nvPr/>
        </p:nvSpPr>
        <p:spPr>
          <a:xfrm>
            <a:off x="6743700" y="2741613"/>
            <a:ext cx="1296988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35" name="Rectangle 24"/>
          <p:cNvSpPr/>
          <p:nvPr/>
        </p:nvSpPr>
        <p:spPr>
          <a:xfrm>
            <a:off x="6705600" y="2795588"/>
            <a:ext cx="1273175" cy="19796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5636" name="Line 25"/>
          <p:cNvSpPr/>
          <p:nvPr/>
        </p:nvSpPr>
        <p:spPr>
          <a:xfrm>
            <a:off x="6715125" y="3556000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7" name="Text Box 26"/>
          <p:cNvSpPr txBox="1"/>
          <p:nvPr/>
        </p:nvSpPr>
        <p:spPr>
          <a:xfrm>
            <a:off x="6672263" y="35385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38" name="Line 27"/>
          <p:cNvSpPr/>
          <p:nvPr/>
        </p:nvSpPr>
        <p:spPr>
          <a:xfrm>
            <a:off x="6723063" y="387667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39" name="Line 28"/>
          <p:cNvSpPr/>
          <p:nvPr/>
        </p:nvSpPr>
        <p:spPr>
          <a:xfrm>
            <a:off x="6708775" y="418623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40" name="Line 29"/>
          <p:cNvSpPr/>
          <p:nvPr/>
        </p:nvSpPr>
        <p:spPr>
          <a:xfrm>
            <a:off x="6708775" y="447198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41" name="Text Box 26"/>
          <p:cNvSpPr txBox="1"/>
          <p:nvPr/>
        </p:nvSpPr>
        <p:spPr>
          <a:xfrm>
            <a:off x="6707188" y="27860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42" name="Text Box 26"/>
          <p:cNvSpPr txBox="1"/>
          <p:nvPr/>
        </p:nvSpPr>
        <p:spPr>
          <a:xfrm>
            <a:off x="6662738" y="44434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43" name="Text Box 26"/>
          <p:cNvSpPr txBox="1"/>
          <p:nvPr/>
        </p:nvSpPr>
        <p:spPr>
          <a:xfrm>
            <a:off x="6681788" y="41576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5644" name="Text Box 26"/>
          <p:cNvSpPr txBox="1"/>
          <p:nvPr/>
        </p:nvSpPr>
        <p:spPr>
          <a:xfrm>
            <a:off x="6672263" y="38623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1310" name="Oval 153"/>
          <p:cNvSpPr>
            <a:spLocks noChangeArrowheads="1"/>
          </p:cNvSpPr>
          <p:nvPr/>
        </p:nvSpPr>
        <p:spPr bwMode="auto">
          <a:xfrm>
            <a:off x="7042150" y="30940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5646" name="Freeform 154"/>
          <p:cNvSpPr/>
          <p:nvPr/>
        </p:nvSpPr>
        <p:spPr>
          <a:xfrm>
            <a:off x="8002588" y="2762250"/>
            <a:ext cx="504825" cy="213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41820" name="Group 156"/>
          <p:cNvGrpSpPr/>
          <p:nvPr/>
        </p:nvGrpSpPr>
        <p:grpSpPr>
          <a:xfrm>
            <a:off x="7035800" y="3425825"/>
            <a:ext cx="620713" cy="204788"/>
            <a:chOff x="1287" y="2524"/>
            <a:chExt cx="260" cy="100"/>
          </a:xfrm>
        </p:grpSpPr>
        <p:sp>
          <p:nvSpPr>
            <p:cNvPr id="11382" name="Rectangle 157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3" name="Rectangle 158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4" name="Rectangle 159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5" name="Rectangle 160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41837" name="Rectangle 173"/>
          <p:cNvSpPr>
            <a:spLocks noChangeArrowheads="1"/>
          </p:cNvSpPr>
          <p:nvPr/>
        </p:nvSpPr>
        <p:spPr bwMode="auto">
          <a:xfrm>
            <a:off x="6162675" y="1752600"/>
            <a:ext cx="2659063" cy="6556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116205" marR="0" lvl="0" indent="-1162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DatagramSocket mySocket1 = new DatagramSocket (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5775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);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116205" marR="0" lvl="0" indent="-1162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241838" name="Rectangle 174"/>
          <p:cNvSpPr>
            <a:spLocks noChangeArrowheads="1"/>
          </p:cNvSpPr>
          <p:nvPr/>
        </p:nvSpPr>
        <p:spPr bwMode="auto">
          <a:xfrm>
            <a:off x="196850" y="1703388"/>
            <a:ext cx="2613025" cy="6556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116205" marR="0" lvl="0" indent="-1162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DatagramSocket mySocket2 = new DatagramSocket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116205" marR="0" lvl="0" indent="-1162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(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9157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);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116205" marR="0" lvl="0" indent="-1162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241841" name="Line 177"/>
          <p:cNvSpPr>
            <a:spLocks noChangeShapeType="1"/>
          </p:cNvSpPr>
          <p:nvPr/>
        </p:nvSpPr>
        <p:spPr bwMode="auto">
          <a:xfrm>
            <a:off x="1412875" y="3506788"/>
            <a:ext cx="0" cy="21764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2" name="Line 178"/>
          <p:cNvSpPr>
            <a:spLocks noChangeShapeType="1"/>
          </p:cNvSpPr>
          <p:nvPr/>
        </p:nvSpPr>
        <p:spPr bwMode="auto">
          <a:xfrm>
            <a:off x="4343400" y="3265488"/>
            <a:ext cx="12700" cy="24082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4" name="Line 180"/>
          <p:cNvSpPr>
            <a:spLocks noChangeShapeType="1"/>
          </p:cNvSpPr>
          <p:nvPr/>
        </p:nvSpPr>
        <p:spPr bwMode="auto">
          <a:xfrm>
            <a:off x="1412875" y="5665788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5" name="Line 181"/>
          <p:cNvSpPr>
            <a:spLocks noChangeShapeType="1"/>
          </p:cNvSpPr>
          <p:nvPr/>
        </p:nvSpPr>
        <p:spPr bwMode="auto">
          <a:xfrm>
            <a:off x="4219575" y="3278188"/>
            <a:ext cx="0" cy="224631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6" name="Line 182"/>
          <p:cNvSpPr>
            <a:spLocks noChangeShapeType="1"/>
          </p:cNvSpPr>
          <p:nvPr/>
        </p:nvSpPr>
        <p:spPr bwMode="auto">
          <a:xfrm>
            <a:off x="1520825" y="5507038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7" name="Line 183"/>
          <p:cNvSpPr>
            <a:spLocks noChangeShapeType="1"/>
          </p:cNvSpPr>
          <p:nvPr/>
        </p:nvSpPr>
        <p:spPr bwMode="auto">
          <a:xfrm>
            <a:off x="1514475" y="3494088"/>
            <a:ext cx="12700" cy="201771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8" name="Line 184"/>
          <p:cNvSpPr>
            <a:spLocks noChangeShapeType="1"/>
          </p:cNvSpPr>
          <p:nvPr/>
        </p:nvSpPr>
        <p:spPr bwMode="auto">
          <a:xfrm>
            <a:off x="7423150" y="3544888"/>
            <a:ext cx="0" cy="21764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49" name="Line 185"/>
          <p:cNvSpPr>
            <a:spLocks noChangeShapeType="1"/>
          </p:cNvSpPr>
          <p:nvPr/>
        </p:nvSpPr>
        <p:spPr bwMode="auto">
          <a:xfrm>
            <a:off x="7305675" y="3513138"/>
            <a:ext cx="12700" cy="201771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50" name="Line 186"/>
          <p:cNvSpPr>
            <a:spLocks noChangeShapeType="1"/>
          </p:cNvSpPr>
          <p:nvPr/>
        </p:nvSpPr>
        <p:spPr bwMode="auto">
          <a:xfrm>
            <a:off x="4486275" y="3284538"/>
            <a:ext cx="12700" cy="24082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51" name="Line 187"/>
          <p:cNvSpPr>
            <a:spLocks noChangeShapeType="1"/>
          </p:cNvSpPr>
          <p:nvPr/>
        </p:nvSpPr>
        <p:spPr bwMode="auto">
          <a:xfrm>
            <a:off x="4619625" y="3297238"/>
            <a:ext cx="0" cy="224631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52" name="Line 188"/>
          <p:cNvSpPr>
            <a:spLocks noChangeShapeType="1"/>
          </p:cNvSpPr>
          <p:nvPr/>
        </p:nvSpPr>
        <p:spPr bwMode="auto">
          <a:xfrm>
            <a:off x="4508500" y="5684838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1853" name="Line 189"/>
          <p:cNvSpPr>
            <a:spLocks noChangeShapeType="1"/>
          </p:cNvSpPr>
          <p:nvPr/>
        </p:nvSpPr>
        <p:spPr bwMode="auto">
          <a:xfrm>
            <a:off x="4594225" y="5516563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41860" name="Group 196"/>
          <p:cNvGrpSpPr/>
          <p:nvPr/>
        </p:nvGrpSpPr>
        <p:grpSpPr>
          <a:xfrm>
            <a:off x="1130300" y="5765800"/>
            <a:ext cx="1644650" cy="652463"/>
            <a:chOff x="1318" y="3697"/>
            <a:chExt cx="1036" cy="411"/>
          </a:xfrm>
        </p:grpSpPr>
        <p:sp>
          <p:nvSpPr>
            <p:cNvPr id="11379" name="Rectangle 19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0" name="Line 19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81" name="Text Box 195"/>
            <p:cNvSpPr txBox="1">
              <a:spLocks noChangeArrowheads="1"/>
            </p:cNvSpPr>
            <p:nvPr/>
          </p:nvSpPr>
          <p:spPr bwMode="auto">
            <a:xfrm>
              <a:off x="1318" y="3822"/>
              <a:ext cx="994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port: 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port: 6428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41865" name="Group 201"/>
          <p:cNvGrpSpPr/>
          <p:nvPr/>
        </p:nvGrpSpPr>
        <p:grpSpPr>
          <a:xfrm>
            <a:off x="2428875" y="4889500"/>
            <a:ext cx="1692275" cy="652463"/>
            <a:chOff x="2741" y="3750"/>
            <a:chExt cx="1066" cy="411"/>
          </a:xfrm>
        </p:grpSpPr>
        <p:sp>
          <p:nvSpPr>
            <p:cNvPr id="11376" name="Rectangle 19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7" name="Line 19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8" name="Text Box 200"/>
            <p:cNvSpPr txBox="1">
              <a:spLocks noChangeArrowheads="1"/>
            </p:cNvSpPr>
            <p:nvPr/>
          </p:nvSpPr>
          <p:spPr bwMode="auto">
            <a:xfrm>
              <a:off x="2813" y="3875"/>
              <a:ext cx="994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port: 6428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port: 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41866" name="Group 202"/>
          <p:cNvGrpSpPr/>
          <p:nvPr/>
        </p:nvGrpSpPr>
        <p:grpSpPr>
          <a:xfrm>
            <a:off x="5453063" y="4889500"/>
            <a:ext cx="1341437" cy="652463"/>
            <a:chOff x="1509" y="3697"/>
            <a:chExt cx="845" cy="411"/>
          </a:xfrm>
        </p:grpSpPr>
        <p:sp>
          <p:nvSpPr>
            <p:cNvPr id="11373" name="Rectangle 20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4" name="Line 20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5" name="Text Box 205"/>
            <p:cNvSpPr txBox="1">
              <a:spLocks noChangeArrowheads="1"/>
            </p:cNvSpPr>
            <p:nvPr/>
          </p:nvSpPr>
          <p:spPr bwMode="auto">
            <a:xfrm>
              <a:off x="1509" y="3822"/>
              <a:ext cx="80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port: ?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port: ?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41870" name="Group 206"/>
          <p:cNvGrpSpPr/>
          <p:nvPr/>
        </p:nvGrpSpPr>
        <p:grpSpPr>
          <a:xfrm>
            <a:off x="4694238" y="5743575"/>
            <a:ext cx="1389062" cy="652463"/>
            <a:chOff x="2741" y="3750"/>
            <a:chExt cx="875" cy="411"/>
          </a:xfrm>
        </p:grpSpPr>
        <p:sp>
          <p:nvSpPr>
            <p:cNvPr id="11370" name="Rectangle 207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1" name="Line 208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72" name="Text Box 209"/>
            <p:cNvSpPr txBox="1">
              <a:spLocks noChangeArrowheads="1"/>
            </p:cNvSpPr>
            <p:nvPr/>
          </p:nvSpPr>
          <p:spPr bwMode="auto">
            <a:xfrm>
              <a:off x="2813" y="3875"/>
              <a:ext cx="80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port: ?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port: ?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5666" name="Group 214"/>
          <p:cNvGrpSpPr/>
          <p:nvPr/>
        </p:nvGrpSpPr>
        <p:grpSpPr>
          <a:xfrm>
            <a:off x="0" y="4381500"/>
            <a:ext cx="711200" cy="669925"/>
            <a:chOff x="-44" y="1473"/>
            <a:chExt cx="981" cy="1105"/>
          </a:xfrm>
        </p:grpSpPr>
        <p:pic>
          <p:nvPicPr>
            <p:cNvPr id="25703" name="Picture 21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704" name="Freeform 21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7" name="Group 217"/>
          <p:cNvGrpSpPr/>
          <p:nvPr/>
        </p:nvGrpSpPr>
        <p:grpSpPr>
          <a:xfrm flipH="1">
            <a:off x="8269288" y="4505325"/>
            <a:ext cx="711200" cy="669925"/>
            <a:chOff x="-44" y="1473"/>
            <a:chExt cx="981" cy="1105"/>
          </a:xfrm>
        </p:grpSpPr>
        <p:pic>
          <p:nvPicPr>
            <p:cNvPr id="25701" name="Picture 21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702" name="Freeform 21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668" name="Group 220"/>
          <p:cNvGrpSpPr/>
          <p:nvPr/>
        </p:nvGrpSpPr>
        <p:grpSpPr>
          <a:xfrm>
            <a:off x="3092450" y="3903663"/>
            <a:ext cx="358775" cy="704850"/>
            <a:chOff x="4140" y="429"/>
            <a:chExt cx="1425" cy="2396"/>
          </a:xfrm>
        </p:grpSpPr>
        <p:sp>
          <p:nvSpPr>
            <p:cNvPr id="25669" name="Freeform 22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35" name="Rectangle 222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5671" name="Freeform 22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72" name="Freeform 22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38" name="Rectangle 225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5674" name="Group 226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364" name="AutoShape 22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1365" name="AutoShape 228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1340" name="Rectangle 229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5676" name="Group 230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362" name="AutoShape 231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1363" name="AutoShape 232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1342" name="Rectangle 233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43" name="Rectangle 234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5679" name="Group 235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360" name="AutoShape 236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1361" name="AutoShape 237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5680" name="Freeform 23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5681" name="Group 239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58" name="AutoShape 24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1359" name="AutoShape 241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1347" name="Rectangle 242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5683" name="Freeform 24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4" name="Freeform 24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50" name="Oval 245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5686" name="Freeform 24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52" name="AutoShape 247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53" name="AutoShape 248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54" name="Oval 249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55" name="Oval 250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11356" name="Oval 251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357" name="Rectangle 252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37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>
                                            <p:txEl>
                                              <p:charRg st="4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4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4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4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4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4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4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4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4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08" grpId="0" build="p"/>
      <p:bldP spid="2418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229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Connection-oriented demux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600200"/>
            <a:ext cx="3962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TCP socket identified by 4-tuple: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source IP address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source port number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dest IP address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dest port number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demux: receiver uses all four values to direct segment to appropriate socket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229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508500" y="1587500"/>
            <a:ext cx="411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server host may support many simultaneous TCP sockets: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each socket identified by its own 4-tuple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web servers have different sockets for each connecting client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non-persistent HTTP will have different socket for each request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pic>
        <p:nvPicPr>
          <p:cNvPr id="26630" name="Picture 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6425" y="1057275"/>
            <a:ext cx="6856413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15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27651" name="Picture 159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881063"/>
            <a:ext cx="82280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Rectangle 3"/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8085138" cy="9350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Connection-oriented demux: example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7653" name="Freeform 5"/>
          <p:cNvSpPr/>
          <p:nvPr/>
        </p:nvSpPr>
        <p:spPr>
          <a:xfrm>
            <a:off x="2819400" y="1765300"/>
            <a:ext cx="552450" cy="2082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654" name="Freeform 6"/>
          <p:cNvSpPr/>
          <p:nvPr/>
        </p:nvSpPr>
        <p:spPr>
          <a:xfrm>
            <a:off x="417513" y="1944688"/>
            <a:ext cx="460375" cy="21939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655" name="Rectangle 23"/>
          <p:cNvSpPr/>
          <p:nvPr/>
        </p:nvSpPr>
        <p:spPr>
          <a:xfrm>
            <a:off x="933450" y="1911350"/>
            <a:ext cx="1296988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56" name="Rectangle 24"/>
          <p:cNvSpPr/>
          <p:nvPr/>
        </p:nvSpPr>
        <p:spPr>
          <a:xfrm>
            <a:off x="895350" y="1965325"/>
            <a:ext cx="12731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57" name="Line 25"/>
          <p:cNvSpPr/>
          <p:nvPr/>
        </p:nvSpPr>
        <p:spPr>
          <a:xfrm>
            <a:off x="904875" y="272573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8" name="Text Box 26"/>
          <p:cNvSpPr txBox="1"/>
          <p:nvPr/>
        </p:nvSpPr>
        <p:spPr>
          <a:xfrm>
            <a:off x="862013" y="27082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59" name="Line 27"/>
          <p:cNvSpPr/>
          <p:nvPr/>
        </p:nvSpPr>
        <p:spPr>
          <a:xfrm>
            <a:off x="912813" y="304641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0" name="Line 28"/>
          <p:cNvSpPr/>
          <p:nvPr/>
        </p:nvSpPr>
        <p:spPr>
          <a:xfrm>
            <a:off x="898525" y="335597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1" name="Line 29"/>
          <p:cNvSpPr/>
          <p:nvPr/>
        </p:nvSpPr>
        <p:spPr>
          <a:xfrm>
            <a:off x="898525" y="364172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2" name="Text Box 26"/>
          <p:cNvSpPr txBox="1"/>
          <p:nvPr/>
        </p:nvSpPr>
        <p:spPr>
          <a:xfrm>
            <a:off x="896938" y="19558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63" name="Text Box 26"/>
          <p:cNvSpPr txBox="1"/>
          <p:nvPr/>
        </p:nvSpPr>
        <p:spPr>
          <a:xfrm>
            <a:off x="852488" y="36131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64" name="Text Box 26"/>
          <p:cNvSpPr txBox="1"/>
          <p:nvPr/>
        </p:nvSpPr>
        <p:spPr>
          <a:xfrm>
            <a:off x="871538" y="33274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65" name="Text Box 26"/>
          <p:cNvSpPr txBox="1"/>
          <p:nvPr/>
        </p:nvSpPr>
        <p:spPr>
          <a:xfrm>
            <a:off x="862013" y="30321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3331" name="Oval 19"/>
          <p:cNvSpPr>
            <a:spLocks noChangeArrowheads="1"/>
          </p:cNvSpPr>
          <p:nvPr/>
        </p:nvSpPr>
        <p:spPr bwMode="auto">
          <a:xfrm>
            <a:off x="12319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7667" name="Group 20"/>
          <p:cNvGrpSpPr/>
          <p:nvPr/>
        </p:nvGrpSpPr>
        <p:grpSpPr>
          <a:xfrm>
            <a:off x="1200150" y="2565400"/>
            <a:ext cx="620713" cy="228600"/>
            <a:chOff x="1287" y="2524"/>
            <a:chExt cx="260" cy="100"/>
          </a:xfrm>
        </p:grpSpPr>
        <p:sp>
          <p:nvSpPr>
            <p:cNvPr id="13451" name="Rectangle 2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52" name="Rectangle 2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53" name="Rectangle 23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54" name="Rectangle 2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7668" name="Rectangle 23"/>
          <p:cNvSpPr/>
          <p:nvPr/>
        </p:nvSpPr>
        <p:spPr>
          <a:xfrm>
            <a:off x="3432175" y="1677988"/>
            <a:ext cx="2254250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69" name="Rectangle 24"/>
          <p:cNvSpPr/>
          <p:nvPr/>
        </p:nvSpPr>
        <p:spPr>
          <a:xfrm>
            <a:off x="3378200" y="1755775"/>
            <a:ext cx="22256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70" name="Text Box 26"/>
          <p:cNvSpPr txBox="1"/>
          <p:nvPr/>
        </p:nvSpPr>
        <p:spPr>
          <a:xfrm>
            <a:off x="3803650" y="24844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71" name="Text Box 26"/>
          <p:cNvSpPr txBox="1"/>
          <p:nvPr/>
        </p:nvSpPr>
        <p:spPr>
          <a:xfrm>
            <a:off x="3857625" y="17081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72" name="Text Box 26"/>
          <p:cNvSpPr txBox="1"/>
          <p:nvPr/>
        </p:nvSpPr>
        <p:spPr>
          <a:xfrm>
            <a:off x="3797300" y="33893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73" name="Text Box 26"/>
          <p:cNvSpPr txBox="1"/>
          <p:nvPr/>
        </p:nvSpPr>
        <p:spPr>
          <a:xfrm>
            <a:off x="3797300" y="31035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3339" name="Oval 36"/>
          <p:cNvSpPr>
            <a:spLocks noChangeArrowheads="1"/>
          </p:cNvSpPr>
          <p:nvPr/>
        </p:nvSpPr>
        <p:spPr bwMode="auto">
          <a:xfrm>
            <a:off x="3497263" y="20145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7675" name="Rectangle 23"/>
          <p:cNvSpPr/>
          <p:nvPr/>
        </p:nvSpPr>
        <p:spPr>
          <a:xfrm>
            <a:off x="6567488" y="1903413"/>
            <a:ext cx="1296987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76" name="Rectangle 24"/>
          <p:cNvSpPr/>
          <p:nvPr/>
        </p:nvSpPr>
        <p:spPr>
          <a:xfrm>
            <a:off x="6370638" y="1944688"/>
            <a:ext cx="1631950" cy="19796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7677" name="Text Box 26"/>
          <p:cNvSpPr txBox="1"/>
          <p:nvPr/>
        </p:nvSpPr>
        <p:spPr>
          <a:xfrm>
            <a:off x="6496050" y="27003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78" name="Text Box 26"/>
          <p:cNvSpPr txBox="1"/>
          <p:nvPr/>
        </p:nvSpPr>
        <p:spPr>
          <a:xfrm>
            <a:off x="6530975" y="19478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79" name="Text Box 26"/>
          <p:cNvSpPr txBox="1"/>
          <p:nvPr/>
        </p:nvSpPr>
        <p:spPr>
          <a:xfrm>
            <a:off x="6538913" y="36052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80" name="Text Box 26"/>
          <p:cNvSpPr txBox="1"/>
          <p:nvPr/>
        </p:nvSpPr>
        <p:spPr>
          <a:xfrm>
            <a:off x="6505575" y="33194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7681" name="Text Box 26"/>
          <p:cNvSpPr txBox="1"/>
          <p:nvPr/>
        </p:nvSpPr>
        <p:spPr>
          <a:xfrm>
            <a:off x="6496050" y="30241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3347" name="Oval 53"/>
          <p:cNvSpPr>
            <a:spLocks noChangeArrowheads="1"/>
          </p:cNvSpPr>
          <p:nvPr/>
        </p:nvSpPr>
        <p:spPr bwMode="auto">
          <a:xfrm>
            <a:off x="64516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7683" name="Freeform 54"/>
          <p:cNvSpPr/>
          <p:nvPr/>
        </p:nvSpPr>
        <p:spPr>
          <a:xfrm>
            <a:off x="8026400" y="1924050"/>
            <a:ext cx="504825" cy="213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7684" name="Group 76"/>
          <p:cNvGrpSpPr/>
          <p:nvPr/>
        </p:nvGrpSpPr>
        <p:grpSpPr>
          <a:xfrm>
            <a:off x="1816100" y="5170488"/>
            <a:ext cx="2024063" cy="652462"/>
            <a:chOff x="1079" y="3697"/>
            <a:chExt cx="1275" cy="411"/>
          </a:xfrm>
        </p:grpSpPr>
        <p:sp>
          <p:nvSpPr>
            <p:cNvPr id="13448" name="Rectangle 77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9" name="Line 78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50" name="Text Box 79"/>
            <p:cNvSpPr txBox="1">
              <a:spLocks noChangeArrowheads="1"/>
            </p:cNvSpPr>
            <p:nvPr/>
          </p:nvSpPr>
          <p:spPr bwMode="auto">
            <a:xfrm>
              <a:off x="1079" y="3822"/>
              <a:ext cx="123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A,9157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 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685" name="Group 80"/>
          <p:cNvGrpSpPr/>
          <p:nvPr/>
        </p:nvGrpSpPr>
        <p:grpSpPr>
          <a:xfrm>
            <a:off x="1666875" y="4479925"/>
            <a:ext cx="1887538" cy="652463"/>
            <a:chOff x="2741" y="3750"/>
            <a:chExt cx="1189" cy="411"/>
          </a:xfrm>
        </p:grpSpPr>
        <p:sp>
          <p:nvSpPr>
            <p:cNvPr id="13445" name="Rectangle 81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6" name="Line 82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7" name="Text Box 83"/>
            <p:cNvSpPr txBox="1">
              <a:spLocks noChangeArrowheads="1"/>
            </p:cNvSpPr>
            <p:nvPr/>
          </p:nvSpPr>
          <p:spPr bwMode="auto">
            <a:xfrm>
              <a:off x="2813" y="3875"/>
              <a:ext cx="1117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IP,port: A,9157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3351" name="Text Box 93"/>
          <p:cNvSpPr txBox="1">
            <a:spLocks noChangeArrowheads="1"/>
          </p:cNvSpPr>
          <p:nvPr/>
        </p:nvSpPr>
        <p:spPr bwMode="auto">
          <a:xfrm flipH="1">
            <a:off x="88900" y="4705350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host: IP address A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3352" name="Text Box 94"/>
          <p:cNvSpPr txBox="1">
            <a:spLocks noChangeArrowheads="1"/>
          </p:cNvSpPr>
          <p:nvPr/>
        </p:nvSpPr>
        <p:spPr bwMode="auto">
          <a:xfrm flipH="1">
            <a:off x="7845425" y="4602163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host: IP address C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3353" name="Line 96"/>
          <p:cNvSpPr>
            <a:spLocks noChangeShapeType="1"/>
          </p:cNvSpPr>
          <p:nvPr/>
        </p:nvSpPr>
        <p:spPr bwMode="auto">
          <a:xfrm>
            <a:off x="3354388" y="3432175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54" name="Line 97"/>
          <p:cNvSpPr>
            <a:spLocks noChangeShapeType="1"/>
          </p:cNvSpPr>
          <p:nvPr/>
        </p:nvSpPr>
        <p:spPr bwMode="auto">
          <a:xfrm>
            <a:off x="3370263" y="3130550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7690" name="Text Box 26"/>
          <p:cNvSpPr txBox="1"/>
          <p:nvPr/>
        </p:nvSpPr>
        <p:spPr>
          <a:xfrm>
            <a:off x="3757613" y="27955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3356" name="Line 99"/>
          <p:cNvSpPr>
            <a:spLocks noChangeShapeType="1"/>
          </p:cNvSpPr>
          <p:nvPr/>
        </p:nvSpPr>
        <p:spPr bwMode="auto">
          <a:xfrm>
            <a:off x="3373438" y="2808288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57" name="Line 100"/>
          <p:cNvSpPr>
            <a:spLocks noChangeShapeType="1"/>
          </p:cNvSpPr>
          <p:nvPr/>
        </p:nvSpPr>
        <p:spPr bwMode="auto">
          <a:xfrm>
            <a:off x="3376613" y="2486025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7693" name="Group 101"/>
          <p:cNvGrpSpPr/>
          <p:nvPr/>
        </p:nvGrpSpPr>
        <p:grpSpPr>
          <a:xfrm>
            <a:off x="3552825" y="2347913"/>
            <a:ext cx="473075" cy="228600"/>
            <a:chOff x="1287" y="2524"/>
            <a:chExt cx="260" cy="100"/>
          </a:xfrm>
        </p:grpSpPr>
        <p:sp>
          <p:nvSpPr>
            <p:cNvPr id="13441" name="Rectangle 102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2" name="Rectangle 103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3" name="Rectangle 104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4" name="Rectangle 105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3359" name="Oval 106"/>
          <p:cNvSpPr>
            <a:spLocks noChangeArrowheads="1"/>
          </p:cNvSpPr>
          <p:nvPr/>
        </p:nvSpPr>
        <p:spPr bwMode="auto">
          <a:xfrm>
            <a:off x="4864100" y="20193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P6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3360" name="Oval 112"/>
          <p:cNvSpPr>
            <a:spLocks noChangeArrowheads="1"/>
          </p:cNvSpPr>
          <p:nvPr/>
        </p:nvSpPr>
        <p:spPr bwMode="auto">
          <a:xfrm>
            <a:off x="4192588" y="201771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P5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7696" name="Group 118"/>
          <p:cNvGrpSpPr/>
          <p:nvPr/>
        </p:nvGrpSpPr>
        <p:grpSpPr>
          <a:xfrm>
            <a:off x="4257675" y="2352675"/>
            <a:ext cx="473075" cy="228600"/>
            <a:chOff x="1287" y="2524"/>
            <a:chExt cx="260" cy="100"/>
          </a:xfrm>
        </p:grpSpPr>
        <p:sp>
          <p:nvSpPr>
            <p:cNvPr id="13437" name="Rectangle 11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8" name="Rectangle 12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9" name="Rectangle 12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40" name="Rectangle 12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697" name="Group 123"/>
          <p:cNvGrpSpPr/>
          <p:nvPr/>
        </p:nvGrpSpPr>
        <p:grpSpPr>
          <a:xfrm>
            <a:off x="4929188" y="2357438"/>
            <a:ext cx="473075" cy="228600"/>
            <a:chOff x="1287" y="2524"/>
            <a:chExt cx="260" cy="100"/>
          </a:xfrm>
        </p:grpSpPr>
        <p:sp>
          <p:nvSpPr>
            <p:cNvPr id="13433" name="Rectangle 124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4" name="Rectangle 125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5" name="Rectangle 126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6" name="Rectangle 127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3363" name="Line 133"/>
          <p:cNvSpPr>
            <a:spLocks noChangeShapeType="1"/>
          </p:cNvSpPr>
          <p:nvPr/>
        </p:nvSpPr>
        <p:spPr bwMode="auto">
          <a:xfrm>
            <a:off x="6362700" y="364807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64" name="Line 134"/>
          <p:cNvSpPr>
            <a:spLocks noChangeShapeType="1"/>
          </p:cNvSpPr>
          <p:nvPr/>
        </p:nvSpPr>
        <p:spPr bwMode="auto">
          <a:xfrm>
            <a:off x="6353175" y="3352800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65" name="Line 135"/>
          <p:cNvSpPr>
            <a:spLocks noChangeShapeType="1"/>
          </p:cNvSpPr>
          <p:nvPr/>
        </p:nvSpPr>
        <p:spPr bwMode="auto">
          <a:xfrm>
            <a:off x="6353175" y="30575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66" name="Line 136"/>
          <p:cNvSpPr>
            <a:spLocks noChangeShapeType="1"/>
          </p:cNvSpPr>
          <p:nvPr/>
        </p:nvSpPr>
        <p:spPr bwMode="auto">
          <a:xfrm>
            <a:off x="6353175" y="27527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7702" name="Group 128"/>
          <p:cNvGrpSpPr/>
          <p:nvPr/>
        </p:nvGrpSpPr>
        <p:grpSpPr>
          <a:xfrm>
            <a:off x="6505575" y="2579688"/>
            <a:ext cx="473075" cy="228600"/>
            <a:chOff x="1287" y="2524"/>
            <a:chExt cx="260" cy="100"/>
          </a:xfrm>
        </p:grpSpPr>
        <p:sp>
          <p:nvSpPr>
            <p:cNvPr id="13429" name="Rectangle 12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0" name="Rectangle 13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1" name="Rectangle 13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32" name="Rectangle 13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703" name="Group 137"/>
          <p:cNvGrpSpPr/>
          <p:nvPr/>
        </p:nvGrpSpPr>
        <p:grpSpPr>
          <a:xfrm>
            <a:off x="7300913" y="2570163"/>
            <a:ext cx="473075" cy="228600"/>
            <a:chOff x="1287" y="2524"/>
            <a:chExt cx="260" cy="100"/>
          </a:xfrm>
        </p:grpSpPr>
        <p:sp>
          <p:nvSpPr>
            <p:cNvPr id="13425" name="Rectangle 138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6" name="Rectangle 139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7" name="Rectangle 140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8" name="Rectangle 141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3369" name="Oval 143"/>
          <p:cNvSpPr>
            <a:spLocks noChangeArrowheads="1"/>
          </p:cNvSpPr>
          <p:nvPr/>
        </p:nvSpPr>
        <p:spPr bwMode="auto">
          <a:xfrm>
            <a:off x="7242175" y="22367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7705" name="Freeform 144"/>
          <p:cNvSpPr/>
          <p:nvPr/>
        </p:nvSpPr>
        <p:spPr>
          <a:xfrm>
            <a:off x="1493838" y="2439988"/>
            <a:ext cx="2695575" cy="269557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06" name="Freeform 145"/>
          <p:cNvSpPr/>
          <p:nvPr/>
        </p:nvSpPr>
        <p:spPr>
          <a:xfrm>
            <a:off x="4479925" y="2471738"/>
            <a:ext cx="3089275" cy="3252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707" name="Freeform 146"/>
          <p:cNvSpPr/>
          <p:nvPr/>
        </p:nvSpPr>
        <p:spPr>
          <a:xfrm>
            <a:off x="5138738" y="2460625"/>
            <a:ext cx="1609725" cy="24653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7708" name="Group 147"/>
          <p:cNvGrpSpPr/>
          <p:nvPr/>
        </p:nvGrpSpPr>
        <p:grpSpPr>
          <a:xfrm>
            <a:off x="5237163" y="4684713"/>
            <a:ext cx="2071687" cy="652462"/>
            <a:chOff x="2741" y="3750"/>
            <a:chExt cx="1305" cy="411"/>
          </a:xfrm>
        </p:grpSpPr>
        <p:sp>
          <p:nvSpPr>
            <p:cNvPr id="13422" name="Rectangle 14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3" name="Line 14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4" name="Text Box 150"/>
            <p:cNvSpPr txBox="1">
              <a:spLocks noChangeArrowheads="1"/>
            </p:cNvSpPr>
            <p:nvPr/>
          </p:nvSpPr>
          <p:spPr bwMode="auto">
            <a:xfrm>
              <a:off x="2813" y="3875"/>
              <a:ext cx="123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C,5775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709" name="Group 151"/>
          <p:cNvGrpSpPr/>
          <p:nvPr/>
        </p:nvGrpSpPr>
        <p:grpSpPr>
          <a:xfrm>
            <a:off x="5307013" y="5473700"/>
            <a:ext cx="2063750" cy="661988"/>
            <a:chOff x="2741" y="3750"/>
            <a:chExt cx="1300" cy="417"/>
          </a:xfrm>
        </p:grpSpPr>
        <p:sp>
          <p:nvSpPr>
            <p:cNvPr id="13419" name="Rectangle 152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0" name="Line 153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21" name="Text Box 154"/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IP,port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: C,9157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IP,port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: B,80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364699" name="Text Box 155"/>
          <p:cNvSpPr txBox="1">
            <a:spLocks noChangeArrowheads="1"/>
          </p:cNvSpPr>
          <p:nvPr/>
        </p:nvSpPr>
        <p:spPr bwMode="auto">
          <a:xfrm>
            <a:off x="508000" y="6081713"/>
            <a:ext cx="4859338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three segments, all destined to IP address: B,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dest port: 80 are demultiplexed to </a:t>
            </a: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different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sockets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4700" name="Line 156"/>
          <p:cNvSpPr>
            <a:spLocks noChangeShapeType="1"/>
          </p:cNvSpPr>
          <p:nvPr/>
        </p:nvSpPr>
        <p:spPr bwMode="auto">
          <a:xfrm>
            <a:off x="3502025" y="5770563"/>
            <a:ext cx="28575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4701" name="Line 157"/>
          <p:cNvSpPr>
            <a:spLocks noChangeShapeType="1"/>
          </p:cNvSpPr>
          <p:nvPr/>
        </p:nvSpPr>
        <p:spPr bwMode="auto">
          <a:xfrm>
            <a:off x="6570663" y="5292725"/>
            <a:ext cx="28575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4702" name="Line 158"/>
          <p:cNvSpPr>
            <a:spLocks noChangeShapeType="1"/>
          </p:cNvSpPr>
          <p:nvPr/>
        </p:nvSpPr>
        <p:spPr bwMode="auto">
          <a:xfrm>
            <a:off x="6646863" y="6086475"/>
            <a:ext cx="28575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3379" name="Text Box 160"/>
          <p:cNvSpPr txBox="1">
            <a:spLocks noChangeArrowheads="1"/>
          </p:cNvSpPr>
          <p:nvPr/>
        </p:nvSpPr>
        <p:spPr bwMode="auto">
          <a:xfrm flipH="1">
            <a:off x="5046663" y="3702050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server: IP address B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grpSp>
        <p:nvGrpSpPr>
          <p:cNvPr id="27715" name="Group 161"/>
          <p:cNvGrpSpPr/>
          <p:nvPr/>
        </p:nvGrpSpPr>
        <p:grpSpPr>
          <a:xfrm>
            <a:off x="2820988" y="3192463"/>
            <a:ext cx="358775" cy="704850"/>
            <a:chOff x="4140" y="429"/>
            <a:chExt cx="1425" cy="2396"/>
          </a:xfrm>
        </p:grpSpPr>
        <p:sp>
          <p:nvSpPr>
            <p:cNvPr id="27722" name="Freeform 16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88" name="Rectangle 163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7724" name="Freeform 164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25" name="Freeform 165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91" name="Rectangle 166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7727" name="Group 167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417" name="AutoShape 16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3418" name="AutoShape 169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3393" name="Rectangle 170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7729" name="Group 171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415" name="AutoShape 172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3416" name="AutoShape 173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3395" name="Rectangle 174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396" name="Rectangle 175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7732" name="Group 176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13" name="AutoShape 17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3414" name="AutoShape 178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7733" name="Freeform 17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7734" name="Group 180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411" name="AutoShape 181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3412" name="AutoShape 18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3400" name="Rectangle 183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7736" name="Freeform 184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37" name="Freeform 185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403" name="Oval 186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7739" name="Freeform 187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405" name="AutoShape 188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06" name="AutoShape 189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07" name="Oval 190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08" name="Oval 191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13409" name="Oval 192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3410" name="Rectangle 193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716" name="Group 194"/>
          <p:cNvGrpSpPr/>
          <p:nvPr/>
        </p:nvGrpSpPr>
        <p:grpSpPr>
          <a:xfrm>
            <a:off x="-44450" y="3613150"/>
            <a:ext cx="711200" cy="669925"/>
            <a:chOff x="-44" y="1473"/>
            <a:chExt cx="981" cy="1105"/>
          </a:xfrm>
        </p:grpSpPr>
        <p:pic>
          <p:nvPicPr>
            <p:cNvPr id="27720" name="Picture 19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21" name="Freeform 19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717" name="Group 197"/>
          <p:cNvGrpSpPr/>
          <p:nvPr/>
        </p:nvGrpSpPr>
        <p:grpSpPr>
          <a:xfrm flipH="1">
            <a:off x="8258175" y="3529013"/>
            <a:ext cx="711200" cy="669925"/>
            <a:chOff x="-44" y="1473"/>
            <a:chExt cx="981" cy="1105"/>
          </a:xfrm>
        </p:grpSpPr>
        <p:pic>
          <p:nvPicPr>
            <p:cNvPr id="27718" name="Picture 19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19" name="Freeform 19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6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39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8085138" cy="9350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Connection-oriented demux: example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8676" name="Freeform 4"/>
          <p:cNvSpPr/>
          <p:nvPr/>
        </p:nvSpPr>
        <p:spPr>
          <a:xfrm>
            <a:off x="2830513" y="1754188"/>
            <a:ext cx="552450" cy="2082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677" name="Freeform 5"/>
          <p:cNvSpPr/>
          <p:nvPr/>
        </p:nvSpPr>
        <p:spPr>
          <a:xfrm>
            <a:off x="438150" y="1933575"/>
            <a:ext cx="460375" cy="21939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folHlink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678" name="Rectangle 23"/>
          <p:cNvSpPr/>
          <p:nvPr/>
        </p:nvSpPr>
        <p:spPr>
          <a:xfrm>
            <a:off x="933450" y="1911350"/>
            <a:ext cx="1296988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79" name="Rectangle 24"/>
          <p:cNvSpPr/>
          <p:nvPr/>
        </p:nvSpPr>
        <p:spPr>
          <a:xfrm>
            <a:off x="895350" y="1965325"/>
            <a:ext cx="12731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80" name="Line 25"/>
          <p:cNvSpPr/>
          <p:nvPr/>
        </p:nvSpPr>
        <p:spPr>
          <a:xfrm>
            <a:off x="904875" y="2725738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Text Box 26"/>
          <p:cNvSpPr txBox="1"/>
          <p:nvPr/>
        </p:nvSpPr>
        <p:spPr>
          <a:xfrm>
            <a:off x="862013" y="270827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82" name="Line 27"/>
          <p:cNvSpPr/>
          <p:nvPr/>
        </p:nvSpPr>
        <p:spPr>
          <a:xfrm>
            <a:off x="912813" y="3046413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Line 28"/>
          <p:cNvSpPr/>
          <p:nvPr/>
        </p:nvSpPr>
        <p:spPr>
          <a:xfrm>
            <a:off x="898525" y="335597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Line 29"/>
          <p:cNvSpPr/>
          <p:nvPr/>
        </p:nvSpPr>
        <p:spPr>
          <a:xfrm>
            <a:off x="898525" y="3641725"/>
            <a:ext cx="1263650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5" name="Text Box 26"/>
          <p:cNvSpPr txBox="1"/>
          <p:nvPr/>
        </p:nvSpPr>
        <p:spPr>
          <a:xfrm>
            <a:off x="896938" y="19558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86" name="Text Box 26"/>
          <p:cNvSpPr txBox="1"/>
          <p:nvPr/>
        </p:nvSpPr>
        <p:spPr>
          <a:xfrm>
            <a:off x="852488" y="36131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87" name="Text Box 26"/>
          <p:cNvSpPr txBox="1"/>
          <p:nvPr/>
        </p:nvSpPr>
        <p:spPr>
          <a:xfrm>
            <a:off x="871538" y="332740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88" name="Text Box 26"/>
          <p:cNvSpPr txBox="1"/>
          <p:nvPr/>
        </p:nvSpPr>
        <p:spPr>
          <a:xfrm>
            <a:off x="862013" y="3032125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4354" name="Oval 18"/>
          <p:cNvSpPr>
            <a:spLocks noChangeArrowheads="1"/>
          </p:cNvSpPr>
          <p:nvPr/>
        </p:nvSpPr>
        <p:spPr bwMode="auto">
          <a:xfrm>
            <a:off x="12319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8690" name="Group 19"/>
          <p:cNvGrpSpPr/>
          <p:nvPr/>
        </p:nvGrpSpPr>
        <p:grpSpPr>
          <a:xfrm>
            <a:off x="1200150" y="2565400"/>
            <a:ext cx="620713" cy="228600"/>
            <a:chOff x="1287" y="2524"/>
            <a:chExt cx="260" cy="100"/>
          </a:xfrm>
        </p:grpSpPr>
        <p:sp>
          <p:nvSpPr>
            <p:cNvPr id="14471" name="Rectangle 2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72" name="Rectangle 21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73" name="Rectangle 22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74" name="Rectangle 23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28691" name="Rectangle 23"/>
          <p:cNvSpPr/>
          <p:nvPr/>
        </p:nvSpPr>
        <p:spPr>
          <a:xfrm>
            <a:off x="3432175" y="1677988"/>
            <a:ext cx="2254250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92" name="Rectangle 24"/>
          <p:cNvSpPr/>
          <p:nvPr/>
        </p:nvSpPr>
        <p:spPr>
          <a:xfrm>
            <a:off x="3378200" y="1755775"/>
            <a:ext cx="2225675" cy="1979613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93" name="Text Box 26"/>
          <p:cNvSpPr txBox="1"/>
          <p:nvPr/>
        </p:nvSpPr>
        <p:spPr>
          <a:xfrm>
            <a:off x="3803650" y="24844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94" name="Text Box 26"/>
          <p:cNvSpPr txBox="1"/>
          <p:nvPr/>
        </p:nvSpPr>
        <p:spPr>
          <a:xfrm>
            <a:off x="3857625" y="1708150"/>
            <a:ext cx="1317625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95" name="Text Box 26"/>
          <p:cNvSpPr txBox="1"/>
          <p:nvPr/>
        </p:nvSpPr>
        <p:spPr>
          <a:xfrm>
            <a:off x="3797300" y="33893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96" name="Text Box 26"/>
          <p:cNvSpPr txBox="1"/>
          <p:nvPr/>
        </p:nvSpPr>
        <p:spPr>
          <a:xfrm>
            <a:off x="3797300" y="31035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697" name="Rectangle 23"/>
          <p:cNvSpPr/>
          <p:nvPr/>
        </p:nvSpPr>
        <p:spPr>
          <a:xfrm>
            <a:off x="6567488" y="1903413"/>
            <a:ext cx="1296987" cy="19812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98" name="Rectangle 24"/>
          <p:cNvSpPr/>
          <p:nvPr/>
        </p:nvSpPr>
        <p:spPr>
          <a:xfrm>
            <a:off x="6370638" y="1944688"/>
            <a:ext cx="1631950" cy="19796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l"/>
            <a:endParaRPr sz="2400" dirty="0">
              <a:latin typeface="Times New Roman" panose="02020503050405090304" charset="0"/>
            </a:endParaRPr>
          </a:p>
        </p:txBody>
      </p:sp>
      <p:sp>
        <p:nvSpPr>
          <p:cNvPr id="28699" name="Text Box 26"/>
          <p:cNvSpPr txBox="1"/>
          <p:nvPr/>
        </p:nvSpPr>
        <p:spPr>
          <a:xfrm>
            <a:off x="6496050" y="270033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transport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700" name="Text Box 26"/>
          <p:cNvSpPr txBox="1"/>
          <p:nvPr/>
        </p:nvSpPr>
        <p:spPr>
          <a:xfrm>
            <a:off x="6530975" y="19478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application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701" name="Text Box 26"/>
          <p:cNvSpPr txBox="1"/>
          <p:nvPr/>
        </p:nvSpPr>
        <p:spPr>
          <a:xfrm>
            <a:off x="6538913" y="360521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physical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702" name="Text Box 26"/>
          <p:cNvSpPr txBox="1"/>
          <p:nvPr/>
        </p:nvSpPr>
        <p:spPr>
          <a:xfrm>
            <a:off x="6505575" y="3319463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link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28703" name="Text Box 26"/>
          <p:cNvSpPr txBox="1"/>
          <p:nvPr/>
        </p:nvSpPr>
        <p:spPr>
          <a:xfrm>
            <a:off x="6496050" y="30241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4369" name="Oval 38"/>
          <p:cNvSpPr>
            <a:spLocks noChangeArrowheads="1"/>
          </p:cNvSpPr>
          <p:nvPr/>
        </p:nvSpPr>
        <p:spPr bwMode="auto">
          <a:xfrm>
            <a:off x="64516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8705" name="Freeform 39"/>
          <p:cNvSpPr/>
          <p:nvPr/>
        </p:nvSpPr>
        <p:spPr>
          <a:xfrm>
            <a:off x="8004175" y="1924050"/>
            <a:ext cx="504825" cy="213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706" name="Group 42"/>
          <p:cNvGrpSpPr/>
          <p:nvPr/>
        </p:nvGrpSpPr>
        <p:grpSpPr>
          <a:xfrm>
            <a:off x="1816100" y="5170488"/>
            <a:ext cx="2024063" cy="652462"/>
            <a:chOff x="1079" y="3697"/>
            <a:chExt cx="1275" cy="411"/>
          </a:xfrm>
        </p:grpSpPr>
        <p:sp>
          <p:nvSpPr>
            <p:cNvPr id="14468" name="Rectangle 43"/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9" name="Line 44"/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70" name="Text Box 45"/>
            <p:cNvSpPr txBox="1">
              <a:spLocks noChangeArrowheads="1"/>
            </p:cNvSpPr>
            <p:nvPr/>
          </p:nvSpPr>
          <p:spPr bwMode="auto">
            <a:xfrm>
              <a:off x="1079" y="3822"/>
              <a:ext cx="123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A,9157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 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8707" name="Group 46"/>
          <p:cNvGrpSpPr/>
          <p:nvPr/>
        </p:nvGrpSpPr>
        <p:grpSpPr>
          <a:xfrm>
            <a:off x="1666875" y="4479925"/>
            <a:ext cx="1887538" cy="652463"/>
            <a:chOff x="2741" y="3750"/>
            <a:chExt cx="1189" cy="411"/>
          </a:xfrm>
        </p:grpSpPr>
        <p:sp>
          <p:nvSpPr>
            <p:cNvPr id="14465" name="Rectangle 47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6" name="Line 48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7" name="Text Box 49"/>
            <p:cNvSpPr txBox="1">
              <a:spLocks noChangeArrowheads="1"/>
            </p:cNvSpPr>
            <p:nvPr/>
          </p:nvSpPr>
          <p:spPr bwMode="auto">
            <a:xfrm>
              <a:off x="2813" y="3875"/>
              <a:ext cx="1117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IP,port: A,9157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4373" name="Text Box 50"/>
          <p:cNvSpPr txBox="1">
            <a:spLocks noChangeArrowheads="1"/>
          </p:cNvSpPr>
          <p:nvPr/>
        </p:nvSpPr>
        <p:spPr bwMode="auto">
          <a:xfrm flipH="1">
            <a:off x="88900" y="4705350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host: IP address A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4374" name="Text Box 51"/>
          <p:cNvSpPr txBox="1">
            <a:spLocks noChangeArrowheads="1"/>
          </p:cNvSpPr>
          <p:nvPr/>
        </p:nvSpPr>
        <p:spPr bwMode="auto">
          <a:xfrm flipH="1">
            <a:off x="7845425" y="4602163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host: IP address C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4375" name="Text Box 52"/>
          <p:cNvSpPr txBox="1">
            <a:spLocks noChangeArrowheads="1"/>
          </p:cNvSpPr>
          <p:nvPr/>
        </p:nvSpPr>
        <p:spPr bwMode="auto">
          <a:xfrm flipH="1">
            <a:off x="5046663" y="3702050"/>
            <a:ext cx="1147763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server: IP address B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4376" name="Line 53"/>
          <p:cNvSpPr>
            <a:spLocks noChangeShapeType="1"/>
          </p:cNvSpPr>
          <p:nvPr/>
        </p:nvSpPr>
        <p:spPr bwMode="auto">
          <a:xfrm>
            <a:off x="3354388" y="3432175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77" name="Line 54"/>
          <p:cNvSpPr>
            <a:spLocks noChangeShapeType="1"/>
          </p:cNvSpPr>
          <p:nvPr/>
        </p:nvSpPr>
        <p:spPr bwMode="auto">
          <a:xfrm>
            <a:off x="3370263" y="3130550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8713" name="Text Box 26"/>
          <p:cNvSpPr txBox="1"/>
          <p:nvPr/>
        </p:nvSpPr>
        <p:spPr>
          <a:xfrm>
            <a:off x="3757613" y="2795588"/>
            <a:ext cx="1317625" cy="325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1400" dirty="0">
                <a:latin typeface="Tahoma" panose="020B0604030504040204" charset="0"/>
              </a:rPr>
              <a:t>network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4379" name="Line 56"/>
          <p:cNvSpPr>
            <a:spLocks noChangeShapeType="1"/>
          </p:cNvSpPr>
          <p:nvPr/>
        </p:nvSpPr>
        <p:spPr bwMode="auto">
          <a:xfrm>
            <a:off x="3373438" y="2808288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80" name="Line 57"/>
          <p:cNvSpPr>
            <a:spLocks noChangeShapeType="1"/>
          </p:cNvSpPr>
          <p:nvPr/>
        </p:nvSpPr>
        <p:spPr bwMode="auto">
          <a:xfrm>
            <a:off x="3376613" y="2486025"/>
            <a:ext cx="22336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8716" name="Group 58"/>
          <p:cNvGrpSpPr/>
          <p:nvPr/>
        </p:nvGrpSpPr>
        <p:grpSpPr>
          <a:xfrm>
            <a:off x="3552825" y="2347913"/>
            <a:ext cx="473075" cy="228600"/>
            <a:chOff x="1287" y="2524"/>
            <a:chExt cx="260" cy="100"/>
          </a:xfrm>
        </p:grpSpPr>
        <p:sp>
          <p:nvSpPr>
            <p:cNvPr id="14461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2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3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4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8717" name="Group 65"/>
          <p:cNvGrpSpPr/>
          <p:nvPr/>
        </p:nvGrpSpPr>
        <p:grpSpPr>
          <a:xfrm>
            <a:off x="4257675" y="2352675"/>
            <a:ext cx="473075" cy="228600"/>
            <a:chOff x="1287" y="2524"/>
            <a:chExt cx="260" cy="100"/>
          </a:xfrm>
        </p:grpSpPr>
        <p:sp>
          <p:nvSpPr>
            <p:cNvPr id="14457" name="Rectangle 66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8" name="Rectangle 67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9" name="Rectangle 68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60" name="Rectangle 69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8718" name="Group 70"/>
          <p:cNvGrpSpPr/>
          <p:nvPr/>
        </p:nvGrpSpPr>
        <p:grpSpPr>
          <a:xfrm>
            <a:off x="4929188" y="2357438"/>
            <a:ext cx="473075" cy="228600"/>
            <a:chOff x="1287" y="2524"/>
            <a:chExt cx="260" cy="100"/>
          </a:xfrm>
        </p:grpSpPr>
        <p:sp>
          <p:nvSpPr>
            <p:cNvPr id="14453" name="Rectangle 71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4" name="Rectangle 72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5" name="Rectangle 73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6" name="Rectangle 74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4384" name="Line 75"/>
          <p:cNvSpPr>
            <a:spLocks noChangeShapeType="1"/>
          </p:cNvSpPr>
          <p:nvPr/>
        </p:nvSpPr>
        <p:spPr bwMode="auto">
          <a:xfrm>
            <a:off x="6362700" y="364807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85" name="Line 76"/>
          <p:cNvSpPr>
            <a:spLocks noChangeShapeType="1"/>
          </p:cNvSpPr>
          <p:nvPr/>
        </p:nvSpPr>
        <p:spPr bwMode="auto">
          <a:xfrm>
            <a:off x="6353175" y="3352800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86" name="Line 77"/>
          <p:cNvSpPr>
            <a:spLocks noChangeShapeType="1"/>
          </p:cNvSpPr>
          <p:nvPr/>
        </p:nvSpPr>
        <p:spPr bwMode="auto">
          <a:xfrm>
            <a:off x="6353175" y="30575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87" name="Line 78"/>
          <p:cNvSpPr>
            <a:spLocks noChangeShapeType="1"/>
          </p:cNvSpPr>
          <p:nvPr/>
        </p:nvSpPr>
        <p:spPr bwMode="auto">
          <a:xfrm>
            <a:off x="6353175" y="27527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8723" name="Group 79"/>
          <p:cNvGrpSpPr/>
          <p:nvPr/>
        </p:nvGrpSpPr>
        <p:grpSpPr>
          <a:xfrm>
            <a:off x="6505575" y="2579688"/>
            <a:ext cx="473075" cy="228600"/>
            <a:chOff x="1287" y="2524"/>
            <a:chExt cx="260" cy="100"/>
          </a:xfrm>
        </p:grpSpPr>
        <p:sp>
          <p:nvSpPr>
            <p:cNvPr id="14449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0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1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52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8724" name="Group 84"/>
          <p:cNvGrpSpPr/>
          <p:nvPr/>
        </p:nvGrpSpPr>
        <p:grpSpPr>
          <a:xfrm>
            <a:off x="7300913" y="2570163"/>
            <a:ext cx="473075" cy="228600"/>
            <a:chOff x="1287" y="2524"/>
            <a:chExt cx="260" cy="100"/>
          </a:xfrm>
        </p:grpSpPr>
        <p:sp>
          <p:nvSpPr>
            <p:cNvPr id="14445" name="Rectangle 85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6" name="Rectangle 86"/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7" name="Rectangle 87"/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8" name="Rectangle 88"/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4390" name="Oval 89"/>
          <p:cNvSpPr>
            <a:spLocks noChangeArrowheads="1"/>
          </p:cNvSpPr>
          <p:nvPr/>
        </p:nvSpPr>
        <p:spPr bwMode="auto">
          <a:xfrm>
            <a:off x="7242175" y="22367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8726" name="Freeform 90"/>
          <p:cNvSpPr/>
          <p:nvPr/>
        </p:nvSpPr>
        <p:spPr>
          <a:xfrm>
            <a:off x="1493838" y="2439988"/>
            <a:ext cx="2695575" cy="269557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727" name="Freeform 91"/>
          <p:cNvSpPr/>
          <p:nvPr/>
        </p:nvSpPr>
        <p:spPr>
          <a:xfrm>
            <a:off x="4479925" y="2471738"/>
            <a:ext cx="3089275" cy="3252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728" name="Freeform 92"/>
          <p:cNvSpPr/>
          <p:nvPr/>
        </p:nvSpPr>
        <p:spPr>
          <a:xfrm>
            <a:off x="5138738" y="2460625"/>
            <a:ext cx="1609725" cy="24653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729" name="Group 93"/>
          <p:cNvGrpSpPr/>
          <p:nvPr/>
        </p:nvGrpSpPr>
        <p:grpSpPr>
          <a:xfrm>
            <a:off x="5237163" y="4684713"/>
            <a:ext cx="2071687" cy="652462"/>
            <a:chOff x="2741" y="3750"/>
            <a:chExt cx="1305" cy="411"/>
          </a:xfrm>
        </p:grpSpPr>
        <p:sp>
          <p:nvSpPr>
            <p:cNvPr id="14442" name="Rectangle 94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3" name="Line 95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4" name="Text Box 96"/>
            <p:cNvSpPr txBox="1">
              <a:spLocks noChangeArrowheads="1"/>
            </p:cNvSpPr>
            <p:nvPr/>
          </p:nvSpPr>
          <p:spPr bwMode="auto">
            <a:xfrm>
              <a:off x="2813" y="3875"/>
              <a:ext cx="1233" cy="2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IP,port: C,5775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 IP,port: B,80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8730" name="Group 97"/>
          <p:cNvGrpSpPr/>
          <p:nvPr/>
        </p:nvGrpSpPr>
        <p:grpSpPr>
          <a:xfrm>
            <a:off x="5307013" y="5473700"/>
            <a:ext cx="2063750" cy="661988"/>
            <a:chOff x="2741" y="3750"/>
            <a:chExt cx="1300" cy="417"/>
          </a:xfrm>
        </p:grpSpPr>
        <p:sp>
          <p:nvSpPr>
            <p:cNvPr id="14439" name="Rectangle 98"/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0" name="Line 99"/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41" name="Text Box 100"/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source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IP,port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: C,9157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dest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IP,port</a:t>
              </a: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: B,80</a:t>
              </a:r>
              <a:endPara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4396" name="Oval 30"/>
          <p:cNvSpPr>
            <a:spLocks noChangeArrowheads="1"/>
          </p:cNvSpPr>
          <p:nvPr/>
        </p:nvSpPr>
        <p:spPr bwMode="auto">
          <a:xfrm>
            <a:off x="3497263" y="2103438"/>
            <a:ext cx="20335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4397" name="Text Box 101"/>
          <p:cNvSpPr txBox="1">
            <a:spLocks noChangeArrowheads="1"/>
          </p:cNvSpPr>
          <p:nvPr/>
        </p:nvSpPr>
        <p:spPr bwMode="auto">
          <a:xfrm>
            <a:off x="4970463" y="1171575"/>
            <a:ext cx="1952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threaded server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4398" name="Line 102"/>
          <p:cNvSpPr>
            <a:spLocks noChangeShapeType="1"/>
          </p:cNvSpPr>
          <p:nvPr/>
        </p:nvSpPr>
        <p:spPr bwMode="auto">
          <a:xfrm flipH="1">
            <a:off x="4779963" y="1516063"/>
            <a:ext cx="579438" cy="7524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28734" name="Picture 103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881063"/>
            <a:ext cx="82280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735" name="Group 104"/>
          <p:cNvGrpSpPr/>
          <p:nvPr/>
        </p:nvGrpSpPr>
        <p:grpSpPr>
          <a:xfrm flipH="1">
            <a:off x="8258175" y="3529013"/>
            <a:ext cx="711200" cy="669925"/>
            <a:chOff x="-44" y="1473"/>
            <a:chExt cx="981" cy="1105"/>
          </a:xfrm>
        </p:grpSpPr>
        <p:pic>
          <p:nvPicPr>
            <p:cNvPr id="28772" name="Picture 10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73" name="Freeform 10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8736" name="Group 107"/>
          <p:cNvGrpSpPr/>
          <p:nvPr/>
        </p:nvGrpSpPr>
        <p:grpSpPr>
          <a:xfrm>
            <a:off x="-44450" y="3613150"/>
            <a:ext cx="711200" cy="669925"/>
            <a:chOff x="-44" y="1473"/>
            <a:chExt cx="981" cy="1105"/>
          </a:xfrm>
        </p:grpSpPr>
        <p:pic>
          <p:nvPicPr>
            <p:cNvPr id="28770" name="Picture 10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71" name="Freeform 10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8737" name="Group 110"/>
          <p:cNvGrpSpPr/>
          <p:nvPr/>
        </p:nvGrpSpPr>
        <p:grpSpPr>
          <a:xfrm>
            <a:off x="2820988" y="3192463"/>
            <a:ext cx="358775" cy="704850"/>
            <a:chOff x="4140" y="429"/>
            <a:chExt cx="1425" cy="2396"/>
          </a:xfrm>
        </p:grpSpPr>
        <p:sp>
          <p:nvSpPr>
            <p:cNvPr id="28738" name="Freeform 11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4" name="Rectangle 112"/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8740" name="Freeform 11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41" name="Freeform 11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7" name="Rectangle 115"/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8743" name="Group 116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433" name="AutoShape 117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4434" name="AutoShape 118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4409" name="Rectangle 119"/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8745" name="Group 120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431" name="AutoShape 121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4432" name="AutoShape 122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4411" name="Rectangle 123"/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12" name="Rectangle 124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28748" name="Group 125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429" name="AutoShape 126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4430" name="AutoShape 127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28749" name="Freeform 12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8750" name="Group 129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427" name="AutoShape 13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4428" name="AutoShape 131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4416" name="Rectangle 132"/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8752" name="Freeform 13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53" name="Freeform 13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19" name="Oval 135"/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28755" name="Freeform 13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21" name="AutoShape 137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22" name="AutoShape 138"/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23" name="Oval 139"/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24" name="Oval 140"/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14425" name="Oval 141"/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4426" name="Rectangle 142"/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536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5365" name="Rectangle 4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5366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29702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17588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638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30723" name="Picture 10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847725"/>
            <a:ext cx="8228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3" y="182563"/>
            <a:ext cx="8529638" cy="9223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UDP: User Datagram Protocol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[RFC 768]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28625" y="1325563"/>
            <a:ext cx="381000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no frills,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 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bare bones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 Internet transport protocol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best effort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 service, UDP segments may be: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lost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delivered out-of-order to app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connectionless: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no handshaking between UDP sender, receiver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each UDP segment handled independently of others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>
            <a:off x="4745038" y="1271588"/>
            <a:ext cx="4052888" cy="51847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UDP use: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streaming multimedia apps (loss tolerant, rate sensitive)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SNMP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reliable transfer over UDP: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add reliability at application layer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application-specific error recovery!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1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31747" name="Picture 31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82600" y="950913"/>
            <a:ext cx="45704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249238"/>
            <a:ext cx="8343900" cy="993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UDP: segment header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714375" y="1852613"/>
            <a:ext cx="3324225" cy="32004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638175" y="1947863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17416" name="Text Box 9"/>
          <p:cNvSpPr txBox="1">
            <a:spLocks noChangeArrowheads="1"/>
          </p:cNvSpPr>
          <p:nvPr/>
        </p:nvSpPr>
        <p:spPr bwMode="auto">
          <a:xfrm>
            <a:off x="677863" y="1960563"/>
            <a:ext cx="156368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source port #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17" name="Text Box 10"/>
          <p:cNvSpPr txBox="1">
            <a:spLocks noChangeArrowheads="1"/>
          </p:cNvSpPr>
          <p:nvPr/>
        </p:nvSpPr>
        <p:spPr bwMode="auto">
          <a:xfrm>
            <a:off x="2463800" y="1960563"/>
            <a:ext cx="13287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dest port #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18" name="Line 11"/>
          <p:cNvSpPr>
            <a:spLocks noChangeShapeType="1"/>
          </p:cNvSpPr>
          <p:nvPr/>
        </p:nvSpPr>
        <p:spPr bwMode="auto">
          <a:xfrm flipV="1">
            <a:off x="628650" y="2347913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19" name="Line 12"/>
          <p:cNvSpPr>
            <a:spLocks noChangeShapeType="1"/>
          </p:cNvSpPr>
          <p:nvPr/>
        </p:nvSpPr>
        <p:spPr bwMode="auto">
          <a:xfrm flipV="1">
            <a:off x="619125" y="2747963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0" name="Line 13"/>
          <p:cNvSpPr>
            <a:spLocks noChangeShapeType="1"/>
          </p:cNvSpPr>
          <p:nvPr/>
        </p:nvSpPr>
        <p:spPr bwMode="auto">
          <a:xfrm flipV="1">
            <a:off x="2276475" y="1947863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1" name="Text Box 14"/>
          <p:cNvSpPr txBox="1">
            <a:spLocks noChangeArrowheads="1"/>
          </p:cNvSpPr>
          <p:nvPr/>
        </p:nvSpPr>
        <p:spPr bwMode="auto">
          <a:xfrm>
            <a:off x="1784350" y="1482725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32 bits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2" name="Line 15"/>
          <p:cNvSpPr>
            <a:spLocks noChangeShapeType="1"/>
          </p:cNvSpPr>
          <p:nvPr/>
        </p:nvSpPr>
        <p:spPr bwMode="auto">
          <a:xfrm>
            <a:off x="2733675" y="1714500"/>
            <a:ext cx="12001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3" name="Line 16"/>
          <p:cNvSpPr>
            <a:spLocks noChangeShapeType="1"/>
          </p:cNvSpPr>
          <p:nvPr/>
        </p:nvSpPr>
        <p:spPr bwMode="auto">
          <a:xfrm rot="10800000">
            <a:off x="623888" y="1724025"/>
            <a:ext cx="11287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4" name="Text Box 17"/>
          <p:cNvSpPr txBox="1">
            <a:spLocks noChangeArrowheads="1"/>
          </p:cNvSpPr>
          <p:nvPr/>
        </p:nvSpPr>
        <p:spPr bwMode="auto">
          <a:xfrm>
            <a:off x="1481138" y="3306763"/>
            <a:ext cx="1389063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application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data 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(payload)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5" name="Text Box 19"/>
          <p:cNvSpPr txBox="1">
            <a:spLocks noChangeArrowheads="1"/>
          </p:cNvSpPr>
          <p:nvPr/>
        </p:nvSpPr>
        <p:spPr bwMode="auto">
          <a:xfrm>
            <a:off x="1074738" y="5222875"/>
            <a:ext cx="25241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UDP segment format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6" name="Line 20"/>
          <p:cNvSpPr>
            <a:spLocks noChangeShapeType="1"/>
          </p:cNvSpPr>
          <p:nvPr/>
        </p:nvSpPr>
        <p:spPr bwMode="auto">
          <a:xfrm flipV="1">
            <a:off x="2276475" y="2357438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7" name="Text Box 22"/>
          <p:cNvSpPr txBox="1">
            <a:spLocks noChangeArrowheads="1"/>
          </p:cNvSpPr>
          <p:nvPr/>
        </p:nvSpPr>
        <p:spPr bwMode="auto">
          <a:xfrm>
            <a:off x="1020763" y="2351088"/>
            <a:ext cx="81438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length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8" name="Text Box 23"/>
          <p:cNvSpPr txBox="1">
            <a:spLocks noChangeArrowheads="1"/>
          </p:cNvSpPr>
          <p:nvPr/>
        </p:nvSpPr>
        <p:spPr bwMode="auto">
          <a:xfrm>
            <a:off x="2566988" y="2341563"/>
            <a:ext cx="11763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checksum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29" name="Text Box 24"/>
          <p:cNvSpPr txBox="1">
            <a:spLocks noChangeArrowheads="1"/>
          </p:cNvSpPr>
          <p:nvPr/>
        </p:nvSpPr>
        <p:spPr bwMode="auto">
          <a:xfrm>
            <a:off x="4260850" y="1316038"/>
            <a:ext cx="2406650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length, in bytes of UDP segment, including header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30" name="Line 25"/>
          <p:cNvSpPr>
            <a:spLocks noChangeShapeType="1"/>
          </p:cNvSpPr>
          <p:nvPr/>
        </p:nvSpPr>
        <p:spPr bwMode="auto">
          <a:xfrm flipH="1">
            <a:off x="1878013" y="1631950"/>
            <a:ext cx="2873375" cy="89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31" name="Rectangle 26"/>
          <p:cNvSpPr>
            <a:spLocks noGrp="1" noChangeArrowheads="1"/>
          </p:cNvSpPr>
          <p:nvPr>
            <p:ph sz="half" idx="2"/>
          </p:nvPr>
        </p:nvSpPr>
        <p:spPr>
          <a:xfrm>
            <a:off x="4865688" y="3044825"/>
            <a:ext cx="3810000" cy="304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no connection establishment (which can add delay)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simple: no connection state at sender, receiver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small header size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no congestion control: UDP can blast away as fast as desired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7432" name="Rectangle 27"/>
          <p:cNvSpPr>
            <a:spLocks noChangeArrowheads="1"/>
          </p:cNvSpPr>
          <p:nvPr/>
        </p:nvSpPr>
        <p:spPr bwMode="auto">
          <a:xfrm>
            <a:off x="4703763" y="2924175"/>
            <a:ext cx="4048125" cy="3259138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7433" name="Text Box 28"/>
          <p:cNvSpPr txBox="1">
            <a:spLocks noChangeArrowheads="1"/>
          </p:cNvSpPr>
          <p:nvPr/>
        </p:nvSpPr>
        <p:spPr bwMode="auto">
          <a:xfrm>
            <a:off x="4935538" y="2643188"/>
            <a:ext cx="3130550" cy="433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why is there a UDP?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843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UDP checksum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2557463"/>
            <a:ext cx="3657600" cy="3495675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sender:</a:t>
            </a:r>
            <a:endParaRPr lang="en-US" altLang="zh-CN" sz="3200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treat segment contents, including header fields,  as sequence of 16-bit integers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checksum: addition (one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s complement sum) of segment contents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sender puts checksum value into UDP checksum field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sz="3200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1843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48200" y="2552700"/>
            <a:ext cx="4057650" cy="325755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receiver: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compute checksum of received segment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check if computed checksum equals checksum field value: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NO - error detected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YES - no error detected. </a:t>
            </a:r>
            <a:r>
              <a:rPr lang="en-US" altLang="zh-CN" i="1" dirty="0">
                <a:latin typeface="+mn-lt"/>
                <a:ea typeface="MS PGothic" charset="0"/>
              </a:rPr>
              <a:t>But maybe errors nonetheless?</a:t>
            </a:r>
            <a:r>
              <a:rPr lang="en-US" altLang="zh-CN" dirty="0">
                <a:latin typeface="+mn-lt"/>
                <a:ea typeface="MS PGothic" charset="0"/>
              </a:rPr>
              <a:t> More later ….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695325" y="1512888"/>
            <a:ext cx="7924800" cy="847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marL="342900" indent="-3429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</a:pPr>
            <a:r>
              <a:rPr lang="en-US" altLang="zh-CN" sz="2800" i="1" dirty="0">
                <a:solidFill>
                  <a:srgbClr val="CC0000"/>
                </a:solidFill>
                <a:latin typeface="Gill Sans MT" charset="0"/>
              </a:rPr>
              <a:t>Goal:</a:t>
            </a:r>
            <a:r>
              <a:rPr lang="en-US" altLang="zh-CN" sz="2800" dirty="0">
                <a:latin typeface="Gill Sans MT" charset="0"/>
              </a:rPr>
              <a:t> detect </a:t>
            </a:r>
            <a:r>
              <a:rPr lang="ja-JP" altLang="en-US" sz="2800" dirty="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errors</a:t>
            </a:r>
            <a:r>
              <a:rPr lang="ja-JP" altLang="en-US" sz="2800" dirty="0">
                <a:latin typeface="Gill Sans MT" charset="0"/>
              </a:rPr>
              <a:t>”</a:t>
            </a:r>
            <a:r>
              <a:rPr lang="en-US" altLang="ja-JP" sz="2800" dirty="0">
                <a:latin typeface="Gill Sans MT" charset="0"/>
              </a:rPr>
              <a:t> (e.g., flipped bits) in transmitted segment</a:t>
            </a:r>
            <a:endParaRPr lang="en-US" altLang="ja-JP" sz="2800" dirty="0">
              <a:latin typeface="Gill Sans MT" charset="0"/>
            </a:endParaRPr>
          </a:p>
          <a:p>
            <a:pPr marL="342900" indent="-3429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zh-CN" sz="2800" dirty="0">
              <a:latin typeface="Gill Sans MT" charset="0"/>
            </a:endParaRPr>
          </a:p>
        </p:txBody>
      </p:sp>
      <p:pic>
        <p:nvPicPr>
          <p:cNvPr id="32775" name="Picture 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34988" y="1027113"/>
            <a:ext cx="3838575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9459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33795" name="Picture 1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398463" y="849313"/>
            <a:ext cx="68564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273050"/>
            <a:ext cx="77724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Internet checksum: example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00175"/>
            <a:ext cx="7772400" cy="274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example: add two 16-bit integers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1860550" y="2190750"/>
            <a:ext cx="6400800" cy="2346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  1  1  1  0  0  1  1  0  0  1  1  0  0  1  1  0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  1  1  0  1  0  1  0  1  0  1  0  1  0  1  0  1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1  1  0  1  1  1  0  1  1  1  0  1  1  1  0  1  1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  1  0  1  1  1  0  1  1  1  0  1  1  1  1  0  0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  0  1  0  0  0  1  0  0  0  1  0  0  0  0  1  1</a:t>
            </a:r>
            <a:endParaRPr kumimoji="0" lang="en-US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 flipH="1">
            <a:off x="1784350" y="3017838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9465" name="Oval 6"/>
          <p:cNvSpPr>
            <a:spLocks noChangeArrowheads="1"/>
          </p:cNvSpPr>
          <p:nvPr/>
        </p:nvSpPr>
        <p:spPr bwMode="auto">
          <a:xfrm>
            <a:off x="1860550" y="319405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9466" name="Text Box 7"/>
          <p:cNvSpPr txBox="1">
            <a:spLocks noChangeArrowheads="1"/>
          </p:cNvSpPr>
          <p:nvPr/>
        </p:nvSpPr>
        <p:spPr bwMode="auto">
          <a:xfrm>
            <a:off x="260350" y="3149600"/>
            <a:ext cx="15462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wraparound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19467" name="Text Box 8"/>
          <p:cNvSpPr txBox="1">
            <a:spLocks noChangeArrowheads="1"/>
          </p:cNvSpPr>
          <p:nvPr/>
        </p:nvSpPr>
        <p:spPr bwMode="auto">
          <a:xfrm>
            <a:off x="1169988" y="3757613"/>
            <a:ext cx="63658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sum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19468" name="Text Box 9"/>
          <p:cNvSpPr txBox="1">
            <a:spLocks noChangeArrowheads="1"/>
          </p:cNvSpPr>
          <p:nvPr/>
        </p:nvSpPr>
        <p:spPr bwMode="auto">
          <a:xfrm>
            <a:off x="487363" y="4110038"/>
            <a:ext cx="131921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902030302020204" charset="0"/>
                <a:ea typeface="MS PGothic" charset="0"/>
                <a:cs typeface="+mn-cs"/>
              </a:rPr>
              <a:t>checksum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902030302020204" charset="0"/>
              <a:ea typeface="MS PGothic" charset="0"/>
              <a:cs typeface="+mn-cs"/>
            </a:endParaRPr>
          </a:p>
        </p:txBody>
      </p:sp>
      <p:sp>
        <p:nvSpPr>
          <p:cNvPr id="19469" name="Line 10"/>
          <p:cNvSpPr>
            <a:spLocks noChangeShapeType="1"/>
          </p:cNvSpPr>
          <p:nvPr/>
        </p:nvSpPr>
        <p:spPr bwMode="auto">
          <a:xfrm flipH="1">
            <a:off x="1784350" y="3736975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3805" name="Freeform 11"/>
          <p:cNvSpPr/>
          <p:nvPr/>
        </p:nvSpPr>
        <p:spPr>
          <a:xfrm>
            <a:off x="2022475" y="3500438"/>
            <a:ext cx="6013450" cy="920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sm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849313" y="5043488"/>
            <a:ext cx="7688263" cy="1079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Note: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when adding numbers, a carryout from the most significant bit needs to be added to the result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3807" name="TextBox 1"/>
          <p:cNvSpPr txBox="1"/>
          <p:nvPr/>
        </p:nvSpPr>
        <p:spPr>
          <a:xfrm>
            <a:off x="339725" y="6199188"/>
            <a:ext cx="450691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>
                <a:latin typeface="Arial" panose="020B0604020202090204" pitchFamily="34" charset="0"/>
              </a:rPr>
              <a:t>* Check out the online interactive exercises for more examples: h</a:t>
            </a:r>
            <a:r>
              <a:rPr lang="en-US" altLang="zh-CN" sz="1200">
                <a:latin typeface="Arial" panose="020B0604020202090204" pitchFamily="34" charset="0"/>
              </a:rPr>
              <a:t>ttp://gaia.cs.umass.edu/kurose_ross/interactive/</a:t>
            </a:r>
            <a:endParaRPr lang="en-US" altLang="zh-CN" sz="120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048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0485" name="Rectangle 4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20486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35846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17588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36867" name="Picture 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30213" y="885825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Principles of reliable data transfer</a:t>
            </a:r>
            <a:endParaRPr kumimoji="0" lang="en-US" sz="4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177925"/>
            <a:ext cx="7658100" cy="83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important in application, transport, link layers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top-10 list of important networking topics!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21511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04825" y="5619750"/>
            <a:ext cx="7781925" cy="466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characteristics of unreliable channel will determine complexity of reliable data transfer protocol (rdt)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36871" name="Picture 5" descr="rdt_serv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114550"/>
            <a:ext cx="7623175" cy="336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3962400" y="3276600"/>
            <a:ext cx="4800600" cy="220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253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04825" y="5619750"/>
            <a:ext cx="7781925" cy="466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characteristics of unreliable channel will determine complexity of reliable data transfer protocol (rdt)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37892" name="Picture 5" descr="rdt_serv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114550"/>
            <a:ext cx="7623175" cy="336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962400" y="3352800"/>
            <a:ext cx="4648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37894" name="Picture 9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430213" y="885825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Rectangle 10"/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Principles of reliable data transfer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2537" name="Rectangle 11"/>
          <p:cNvSpPr>
            <a:spLocks noGrp="1" noChangeArrowheads="1"/>
          </p:cNvSpPr>
          <p:nvPr>
            <p:ph sz="half" idx="1"/>
          </p:nvPr>
        </p:nvSpPr>
        <p:spPr>
          <a:xfrm>
            <a:off x="457200" y="1177925"/>
            <a:ext cx="7658100" cy="83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important in application, transport, link layers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top-10 list of important networking topics!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355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04825" y="5619750"/>
            <a:ext cx="7781925" cy="466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characteristics of unreliable channel will determine complexity of reliable data transfer protocol (rdt)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38916" name="Picture 5" descr="rdt_serv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114550"/>
            <a:ext cx="7623175" cy="336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8" name="Rectangle 10"/>
          <p:cNvSpPr>
            <a:spLocks noGrp="1" noChangeArrowheads="1"/>
          </p:cNvSpPr>
          <p:nvPr>
            <p:ph sz="half" idx="1"/>
          </p:nvPr>
        </p:nvSpPr>
        <p:spPr>
          <a:xfrm>
            <a:off x="457200" y="1177925"/>
            <a:ext cx="7658100" cy="83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important in application, transport, link layers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top-10 list of important networking topics!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38918" name="Picture 14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430213" y="885825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0" name="Rectangle 15"/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Principles of reliable data transfer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457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39939" name="Picture 2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12750" y="831850"/>
            <a:ext cx="7313613" cy="134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63" y="193675"/>
            <a:ext cx="7772400" cy="889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Reliable data transfer: getting started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39941" name="Picture 3" descr="rdt_par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652713"/>
            <a:ext cx="5969000" cy="2386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Text Box 4"/>
          <p:cNvSpPr txBox="1">
            <a:spLocks noChangeArrowheads="1"/>
          </p:cNvSpPr>
          <p:nvPr/>
        </p:nvSpPr>
        <p:spPr bwMode="auto">
          <a:xfrm>
            <a:off x="1017588" y="3106738"/>
            <a:ext cx="84613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send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side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4584" name="Text Box 5"/>
          <p:cNvSpPr txBox="1">
            <a:spLocks noChangeArrowheads="1"/>
          </p:cNvSpPr>
          <p:nvPr/>
        </p:nvSpPr>
        <p:spPr bwMode="auto">
          <a:xfrm>
            <a:off x="7192963" y="3116263"/>
            <a:ext cx="11684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receive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side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283654" name="Group 6"/>
          <p:cNvGrpSpPr/>
          <p:nvPr/>
        </p:nvGrpSpPr>
        <p:grpSpPr>
          <a:xfrm>
            <a:off x="227013" y="1460500"/>
            <a:ext cx="3965575" cy="1416050"/>
            <a:chOff x="143" y="920"/>
            <a:chExt cx="2498" cy="892"/>
          </a:xfrm>
        </p:grpSpPr>
        <p:sp>
          <p:nvSpPr>
            <p:cNvPr id="24601" name="Text Box 7"/>
            <p:cNvSpPr txBox="1">
              <a:spLocks noChangeArrowheads="1"/>
            </p:cNvSpPr>
            <p:nvPr/>
          </p:nvSpPr>
          <p:spPr bwMode="auto">
            <a:xfrm>
              <a:off x="143" y="920"/>
              <a:ext cx="2498" cy="5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409020205090404" charset="0"/>
                  <a:ea typeface="MS PGothic" charset="0"/>
                  <a:cs typeface="+mn-cs"/>
                </a:rPr>
                <a:t>rdt_send():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called from above, (e.g., by app.). Passed data to 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deliver to receiver upper layer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39961" name="Group 8"/>
            <p:cNvGrpSpPr/>
            <p:nvPr/>
          </p:nvGrpSpPr>
          <p:grpSpPr>
            <a:xfrm>
              <a:off x="240" y="930"/>
              <a:ext cx="2370" cy="882"/>
              <a:chOff x="240" y="942"/>
              <a:chExt cx="2370" cy="882"/>
            </a:xfrm>
          </p:grpSpPr>
          <p:sp>
            <p:nvSpPr>
              <p:cNvPr id="24603" name="Line 9"/>
              <p:cNvSpPr>
                <a:spLocks noChangeShapeType="1"/>
              </p:cNvSpPr>
              <p:nvPr/>
            </p:nvSpPr>
            <p:spPr bwMode="auto">
              <a:xfrm>
                <a:off x="942" y="1500"/>
                <a:ext cx="174" cy="32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4604" name="Rectangle 10"/>
              <p:cNvSpPr>
                <a:spLocks noChangeArrowheads="1"/>
              </p:cNvSpPr>
              <p:nvPr/>
            </p:nvSpPr>
            <p:spPr bwMode="auto">
              <a:xfrm>
                <a:off x="240" y="94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83659" name="Group 11"/>
          <p:cNvGrpSpPr/>
          <p:nvPr/>
        </p:nvGrpSpPr>
        <p:grpSpPr>
          <a:xfrm>
            <a:off x="276225" y="4381500"/>
            <a:ext cx="3762375" cy="1862138"/>
            <a:chOff x="174" y="2760"/>
            <a:chExt cx="2370" cy="1173"/>
          </a:xfrm>
        </p:grpSpPr>
        <p:sp>
          <p:nvSpPr>
            <p:cNvPr id="24597" name="Text Box 12"/>
            <p:cNvSpPr txBox="1">
              <a:spLocks noChangeArrowheads="1"/>
            </p:cNvSpPr>
            <p:nvPr/>
          </p:nvSpPr>
          <p:spPr bwMode="auto">
            <a:xfrm>
              <a:off x="233" y="3356"/>
              <a:ext cx="2144" cy="57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409020205090404" charset="0"/>
                  <a:ea typeface="MS PGothic" charset="0"/>
                  <a:cs typeface="+mn-cs"/>
                </a:rPr>
                <a:t>udt_send():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called by rdt,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to transfer packet over 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unreliable channel to receiver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39957" name="Group 13"/>
            <p:cNvGrpSpPr/>
            <p:nvPr/>
          </p:nvGrpSpPr>
          <p:grpSpPr>
            <a:xfrm>
              <a:off x="174" y="2760"/>
              <a:ext cx="2370" cy="1170"/>
              <a:chOff x="174" y="2760"/>
              <a:chExt cx="2370" cy="1170"/>
            </a:xfrm>
          </p:grpSpPr>
          <p:sp>
            <p:nvSpPr>
              <p:cNvPr id="24599" name="Line 14"/>
              <p:cNvSpPr>
                <a:spLocks noChangeShapeType="1"/>
              </p:cNvSpPr>
              <p:nvPr/>
            </p:nvSpPr>
            <p:spPr bwMode="auto">
              <a:xfrm flipV="1">
                <a:off x="882" y="2760"/>
                <a:ext cx="228" cy="60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4600" name="Rectangle 15"/>
              <p:cNvSpPr>
                <a:spLocks noChangeArrowheads="1"/>
              </p:cNvSpPr>
              <p:nvPr/>
            </p:nvSpPr>
            <p:spPr bwMode="auto">
              <a:xfrm>
                <a:off x="174" y="337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83664" name="Group 16"/>
          <p:cNvGrpSpPr/>
          <p:nvPr/>
        </p:nvGrpSpPr>
        <p:grpSpPr>
          <a:xfrm>
            <a:off x="4922838" y="4362450"/>
            <a:ext cx="3965575" cy="1647825"/>
            <a:chOff x="3101" y="2748"/>
            <a:chExt cx="2498" cy="1038"/>
          </a:xfrm>
        </p:grpSpPr>
        <p:sp>
          <p:nvSpPr>
            <p:cNvPr id="24593" name="Text Box 17"/>
            <p:cNvSpPr txBox="1">
              <a:spLocks noChangeArrowheads="1"/>
            </p:cNvSpPr>
            <p:nvPr/>
          </p:nvSpPr>
          <p:spPr bwMode="auto">
            <a:xfrm>
              <a:off x="3101" y="3368"/>
              <a:ext cx="2498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409020205090404" charset="0"/>
                  <a:ea typeface="MS PGothic" charset="0"/>
                  <a:cs typeface="+mn-cs"/>
                </a:rPr>
                <a:t>rdt_rcv():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called when packet arrives on rcv-side of channel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39953" name="Group 18"/>
            <p:cNvGrpSpPr/>
            <p:nvPr/>
          </p:nvGrpSpPr>
          <p:grpSpPr>
            <a:xfrm>
              <a:off x="3162" y="2748"/>
              <a:ext cx="2370" cy="1038"/>
              <a:chOff x="3162" y="2748"/>
              <a:chExt cx="2370" cy="1038"/>
            </a:xfrm>
          </p:grpSpPr>
          <p:sp>
            <p:nvSpPr>
              <p:cNvPr id="24595" name="Line 19"/>
              <p:cNvSpPr>
                <a:spLocks noChangeShapeType="1"/>
              </p:cNvSpPr>
              <p:nvPr/>
            </p:nvSpPr>
            <p:spPr bwMode="auto">
              <a:xfrm flipH="1" flipV="1">
                <a:off x="4596" y="2748"/>
                <a:ext cx="300" cy="63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4596" name="Rectangle 20"/>
              <p:cNvSpPr>
                <a:spLocks noChangeArrowheads="1"/>
              </p:cNvSpPr>
              <p:nvPr/>
            </p:nvSpPr>
            <p:spPr bwMode="auto">
              <a:xfrm>
                <a:off x="3162" y="3390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83669" name="Group 21"/>
          <p:cNvGrpSpPr/>
          <p:nvPr/>
        </p:nvGrpSpPr>
        <p:grpSpPr>
          <a:xfrm>
            <a:off x="4981575" y="1470025"/>
            <a:ext cx="3762375" cy="1349375"/>
            <a:chOff x="3138" y="926"/>
            <a:chExt cx="2370" cy="850"/>
          </a:xfrm>
        </p:grpSpPr>
        <p:sp>
          <p:nvSpPr>
            <p:cNvPr id="24589" name="Text Box 22"/>
            <p:cNvSpPr txBox="1">
              <a:spLocks noChangeArrowheads="1"/>
            </p:cNvSpPr>
            <p:nvPr/>
          </p:nvSpPr>
          <p:spPr bwMode="auto">
            <a:xfrm>
              <a:off x="3215" y="926"/>
              <a:ext cx="2078" cy="4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409020205090404" charset="0"/>
                  <a:ea typeface="MS PGothic" charset="0"/>
                  <a:cs typeface="+mn-cs"/>
                </a:rPr>
                <a:t>deliver_data():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called by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rdt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to deliver data to upper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39949" name="Group 23"/>
            <p:cNvGrpSpPr/>
            <p:nvPr/>
          </p:nvGrpSpPr>
          <p:grpSpPr>
            <a:xfrm>
              <a:off x="3138" y="942"/>
              <a:ext cx="2370" cy="834"/>
              <a:chOff x="3138" y="942"/>
              <a:chExt cx="2370" cy="834"/>
            </a:xfrm>
          </p:grpSpPr>
          <p:sp>
            <p:nvSpPr>
              <p:cNvPr id="24591" name="Line 24"/>
              <p:cNvSpPr>
                <a:spLocks noChangeShapeType="1"/>
              </p:cNvSpPr>
              <p:nvPr/>
            </p:nvSpPr>
            <p:spPr bwMode="auto">
              <a:xfrm flipH="1">
                <a:off x="4560" y="1344"/>
                <a:ext cx="150" cy="43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24592" name="Rectangle 25"/>
              <p:cNvSpPr>
                <a:spLocks noChangeArrowheads="1"/>
              </p:cNvSpPr>
              <p:nvPr/>
            </p:nvSpPr>
            <p:spPr bwMode="auto">
              <a:xfrm>
                <a:off x="3138" y="942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0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14350" y="1193800"/>
            <a:ext cx="7947025" cy="33528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we</a:t>
            </a:r>
            <a:r>
              <a:rPr lang="ja-JP" altLang="en-US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ll:</a:t>
            </a:r>
            <a:endParaRPr lang="en-US" altLang="ja-JP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incrementally develop sender, receiver sides of </a:t>
            </a: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r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eliable </a:t>
            </a: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d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ata </a:t>
            </a: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t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ransfer protocol (rdt)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consider only unidirectional data transfer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but control info will flow on both directions!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use finite state machines (FSM)  to specify sender, receiver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3160713" y="4652963"/>
            <a:ext cx="809625" cy="8763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3095625" y="4686300"/>
            <a:ext cx="809625" cy="8763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3103563" y="4816475"/>
            <a:ext cx="73501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state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67" name="Freeform 8"/>
          <p:cNvSpPr/>
          <p:nvPr/>
        </p:nvSpPr>
        <p:spPr>
          <a:xfrm>
            <a:off x="3981450" y="4638675"/>
            <a:ext cx="3952875" cy="2857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1446" h="180">
                <a:moveTo>
                  <a:pt x="0" y="180"/>
                </a:moveTo>
                <a:cubicBezTo>
                  <a:pt x="540" y="30"/>
                  <a:pt x="972" y="0"/>
                  <a:pt x="1446" y="168"/>
                </a:cubicBez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09" name="Oval 10"/>
          <p:cNvSpPr>
            <a:spLocks noChangeArrowheads="1"/>
          </p:cNvSpPr>
          <p:nvPr/>
        </p:nvSpPr>
        <p:spPr bwMode="auto">
          <a:xfrm>
            <a:off x="7913688" y="4746625"/>
            <a:ext cx="809625" cy="87630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0" name="Oval 11"/>
          <p:cNvSpPr>
            <a:spLocks noChangeArrowheads="1"/>
          </p:cNvSpPr>
          <p:nvPr/>
        </p:nvSpPr>
        <p:spPr bwMode="auto">
          <a:xfrm>
            <a:off x="7848600" y="4791075"/>
            <a:ext cx="809625" cy="8763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1" name="Text Box 12"/>
          <p:cNvSpPr txBox="1">
            <a:spLocks noChangeArrowheads="1"/>
          </p:cNvSpPr>
          <p:nvPr/>
        </p:nvSpPr>
        <p:spPr bwMode="auto">
          <a:xfrm>
            <a:off x="7856538" y="4921250"/>
            <a:ext cx="735013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state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2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2" name="Text Box 13"/>
          <p:cNvSpPr txBox="1">
            <a:spLocks noChangeArrowheads="1"/>
          </p:cNvSpPr>
          <p:nvPr/>
        </p:nvSpPr>
        <p:spPr bwMode="auto">
          <a:xfrm>
            <a:off x="4211638" y="4003675"/>
            <a:ext cx="31527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event causing state transition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3" name="Text Box 14"/>
          <p:cNvSpPr txBox="1">
            <a:spLocks noChangeArrowheads="1"/>
          </p:cNvSpPr>
          <p:nvPr/>
        </p:nvSpPr>
        <p:spPr bwMode="auto">
          <a:xfrm>
            <a:off x="4138613" y="4298950"/>
            <a:ext cx="342106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actions taken on state transition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4" name="Line 15"/>
          <p:cNvSpPr>
            <a:spLocks noChangeShapeType="1"/>
          </p:cNvSpPr>
          <p:nvPr/>
        </p:nvSpPr>
        <p:spPr bwMode="auto">
          <a:xfrm>
            <a:off x="4105275" y="4352925"/>
            <a:ext cx="33813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5" name="Rectangle 16"/>
          <p:cNvSpPr>
            <a:spLocks noChangeArrowheads="1"/>
          </p:cNvSpPr>
          <p:nvPr/>
        </p:nvSpPr>
        <p:spPr bwMode="auto">
          <a:xfrm>
            <a:off x="123825" y="4686300"/>
            <a:ext cx="2771775" cy="1238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marL="342900" indent="-342900" algn="r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</a:pPr>
            <a:r>
              <a:rPr lang="en-US" altLang="zh-CN" sz="1800" dirty="0">
                <a:solidFill>
                  <a:srgbClr val="CC0000"/>
                </a:solidFill>
                <a:latin typeface="Tahoma" panose="020B0604030504040204" charset="0"/>
              </a:rPr>
              <a:t>state:</a:t>
            </a:r>
            <a:r>
              <a:rPr lang="en-US" altLang="zh-CN" sz="1800" dirty="0">
                <a:latin typeface="Tahoma" panose="020B0604030504040204" charset="0"/>
              </a:rPr>
              <a:t> when in this </a:t>
            </a:r>
            <a:r>
              <a:rPr lang="ja-JP" altLang="en-US" sz="1800" dirty="0">
                <a:latin typeface="Tahoma" panose="020B0604030504040204" charset="0"/>
              </a:rPr>
              <a:t>“</a:t>
            </a:r>
            <a:r>
              <a:rPr lang="en-US" altLang="ja-JP" sz="1800" dirty="0">
                <a:latin typeface="Tahoma" panose="020B0604030504040204" charset="0"/>
              </a:rPr>
              <a:t>state</a:t>
            </a:r>
            <a:r>
              <a:rPr lang="ja-JP" altLang="en-US" sz="1800" dirty="0">
                <a:latin typeface="Tahoma" panose="020B0604030504040204" charset="0"/>
              </a:rPr>
              <a:t>”</a:t>
            </a:r>
            <a:r>
              <a:rPr lang="en-US" altLang="ja-JP" sz="1800" dirty="0">
                <a:latin typeface="Tahoma" panose="020B0604030504040204" charset="0"/>
              </a:rPr>
              <a:t> next state uniquely determined by next event</a:t>
            </a:r>
            <a:endParaRPr lang="en-US" altLang="zh-CN" sz="1800" dirty="0">
              <a:latin typeface="Tahoma" panose="020B0604030504040204" charset="0"/>
            </a:endParaRPr>
          </a:p>
        </p:txBody>
      </p:sp>
      <p:sp>
        <p:nvSpPr>
          <p:cNvPr id="40975" name="Freeform 17"/>
          <p:cNvSpPr/>
          <p:nvPr/>
        </p:nvSpPr>
        <p:spPr>
          <a:xfrm>
            <a:off x="3381375" y="5562600"/>
            <a:ext cx="95250" cy="5810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0976" name="Freeform 18"/>
          <p:cNvSpPr/>
          <p:nvPr/>
        </p:nvSpPr>
        <p:spPr>
          <a:xfrm flipH="1" flipV="1">
            <a:off x="8524875" y="5600700"/>
            <a:ext cx="95250" cy="5810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18" name="Line 19"/>
          <p:cNvSpPr>
            <a:spLocks noChangeShapeType="1"/>
          </p:cNvSpPr>
          <p:nvPr/>
        </p:nvSpPr>
        <p:spPr bwMode="auto">
          <a:xfrm>
            <a:off x="3905250" y="5305425"/>
            <a:ext cx="1571625" cy="7524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19" name="Text Box 21"/>
          <p:cNvSpPr txBox="1">
            <a:spLocks noChangeArrowheads="1"/>
          </p:cNvSpPr>
          <p:nvPr/>
        </p:nvSpPr>
        <p:spPr bwMode="auto">
          <a:xfrm>
            <a:off x="4672013" y="5099050"/>
            <a:ext cx="742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event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20" name="Text Box 22"/>
          <p:cNvSpPr txBox="1">
            <a:spLocks noChangeArrowheads="1"/>
          </p:cNvSpPr>
          <p:nvPr/>
        </p:nvSpPr>
        <p:spPr bwMode="auto">
          <a:xfrm>
            <a:off x="4632325" y="5403850"/>
            <a:ext cx="89058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actions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5621" name="Line 23"/>
          <p:cNvSpPr>
            <a:spLocks noChangeShapeType="1"/>
          </p:cNvSpPr>
          <p:nvPr/>
        </p:nvSpPr>
        <p:spPr bwMode="auto">
          <a:xfrm>
            <a:off x="4581525" y="5457825"/>
            <a:ext cx="9429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40981" name="Picture 2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12750" y="831850"/>
            <a:ext cx="7313613" cy="134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23" name="Rectangle 28"/>
          <p:cNvSpPr>
            <a:spLocks noGrp="1" noChangeArrowheads="1"/>
          </p:cNvSpPr>
          <p:nvPr>
            <p:ph type="title"/>
          </p:nvPr>
        </p:nvSpPr>
        <p:spPr>
          <a:xfrm>
            <a:off x="411163" y="193675"/>
            <a:ext cx="7772400" cy="889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Reliable data transfer: getting started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62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63" y="188913"/>
            <a:ext cx="8001000" cy="10048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rdt1.0: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reliable transfer over a reliable channel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1800" y="1331913"/>
            <a:ext cx="7896225" cy="3019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underlying channel perfectly reliable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no bit errors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no loss of packets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separate FSMs for sender, receiver: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sender sends data into underlying channel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receiver reads data from underlying channel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41989" name="Oval 4"/>
          <p:cNvSpPr/>
          <p:nvPr/>
        </p:nvSpPr>
        <p:spPr>
          <a:xfrm>
            <a:off x="808038" y="4246563"/>
            <a:ext cx="955675" cy="1011237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1990" name="Text Box 5"/>
          <p:cNvSpPr txBox="1"/>
          <p:nvPr/>
        </p:nvSpPr>
        <p:spPr>
          <a:xfrm>
            <a:off x="744538" y="4332288"/>
            <a:ext cx="1098550" cy="9128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above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1991" name="Freeform 6"/>
          <p:cNvSpPr/>
          <p:nvPr/>
        </p:nvSpPr>
        <p:spPr>
          <a:xfrm>
            <a:off x="1617663" y="4230688"/>
            <a:ext cx="611187" cy="1027112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992" name="Text Box 7"/>
          <p:cNvSpPr txBox="1"/>
          <p:nvPr/>
        </p:nvSpPr>
        <p:spPr>
          <a:xfrm>
            <a:off x="2070100" y="4754563"/>
            <a:ext cx="2682875" cy="5984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packet = make_pkt(data)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udt_send(packet)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1993" name="Text Box 8"/>
          <p:cNvSpPr txBox="1"/>
          <p:nvPr/>
        </p:nvSpPr>
        <p:spPr>
          <a:xfrm>
            <a:off x="2028825" y="4287838"/>
            <a:ext cx="2255838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1994" name="Line 9"/>
          <p:cNvSpPr/>
          <p:nvPr/>
        </p:nvSpPr>
        <p:spPr>
          <a:xfrm>
            <a:off x="2128838" y="4630738"/>
            <a:ext cx="1296987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5" name="Line 10"/>
          <p:cNvSpPr/>
          <p:nvPr/>
        </p:nvSpPr>
        <p:spPr>
          <a:xfrm>
            <a:off x="484188" y="4230688"/>
            <a:ext cx="385762" cy="242887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41996" name="Text Box 11"/>
          <p:cNvSpPr txBox="1"/>
          <p:nvPr/>
        </p:nvSpPr>
        <p:spPr>
          <a:xfrm>
            <a:off x="6335713" y="4613275"/>
            <a:ext cx="2487612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extract (packet,data)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deliver_data(data)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1997" name="Oval 12"/>
          <p:cNvSpPr/>
          <p:nvPr/>
        </p:nvSpPr>
        <p:spPr>
          <a:xfrm>
            <a:off x="5116513" y="4232275"/>
            <a:ext cx="955675" cy="1011238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1998" name="Text Box 13"/>
          <p:cNvSpPr txBox="1"/>
          <p:nvPr/>
        </p:nvSpPr>
        <p:spPr>
          <a:xfrm>
            <a:off x="5053013" y="4318000"/>
            <a:ext cx="1098550" cy="9128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below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1999" name="Freeform 14"/>
          <p:cNvSpPr/>
          <p:nvPr/>
        </p:nvSpPr>
        <p:spPr>
          <a:xfrm>
            <a:off x="5926138" y="4216400"/>
            <a:ext cx="611187" cy="10271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2000" name="Text Box 15"/>
          <p:cNvSpPr txBox="1"/>
          <p:nvPr/>
        </p:nvSpPr>
        <p:spPr>
          <a:xfrm>
            <a:off x="6337300" y="4273550"/>
            <a:ext cx="2255838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endParaRPr dirty="0">
              <a:latin typeface="Times New Roman" panose="02020503050405090304" charset="0"/>
            </a:endParaRPr>
          </a:p>
        </p:txBody>
      </p:sp>
      <p:sp>
        <p:nvSpPr>
          <p:cNvPr id="42001" name="Line 16"/>
          <p:cNvSpPr/>
          <p:nvPr/>
        </p:nvSpPr>
        <p:spPr>
          <a:xfrm>
            <a:off x="6437313" y="4616450"/>
            <a:ext cx="1296987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02" name="Line 17"/>
          <p:cNvSpPr/>
          <p:nvPr/>
        </p:nvSpPr>
        <p:spPr>
          <a:xfrm>
            <a:off x="4792663" y="4216400"/>
            <a:ext cx="385762" cy="242888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26644" name="Rectangle 18"/>
          <p:cNvSpPr>
            <a:spLocks noChangeArrowheads="1"/>
          </p:cNvSpPr>
          <p:nvPr/>
        </p:nvSpPr>
        <p:spPr bwMode="auto">
          <a:xfrm>
            <a:off x="6351588" y="4292600"/>
            <a:ext cx="15414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rdt_rcv(packet)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6645" name="Text Box 19"/>
          <p:cNvSpPr txBox="1">
            <a:spLocks noChangeArrowheads="1"/>
          </p:cNvSpPr>
          <p:nvPr/>
        </p:nvSpPr>
        <p:spPr bwMode="auto">
          <a:xfrm>
            <a:off x="2116138" y="5540375"/>
            <a:ext cx="10890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646" name="Text Box 20"/>
          <p:cNvSpPr txBox="1">
            <a:spLocks noChangeArrowheads="1"/>
          </p:cNvSpPr>
          <p:nvPr/>
        </p:nvSpPr>
        <p:spPr bwMode="auto">
          <a:xfrm>
            <a:off x="5961063" y="5537200"/>
            <a:ext cx="12477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42006" name="Picture 21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88950" y="904875"/>
            <a:ext cx="7313613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765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366838"/>
            <a:ext cx="7896225" cy="4448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underlying channel may flip bits in packet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checksum to detect bit errors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the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question: how to recover from errors: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acknowledgements (ACKs):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receiver explicitly tells sender that pkt received OK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negative acknowledgements (NAKs):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receiver explicitly tells sender that pkt had errors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sender retransmits pkt on receipt of NAK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new mechanisms in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rdt2.0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(beyond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rdt1.0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):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error detection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receiver feedback: control msgs (ACK,NAK) rcvr-&gt;sender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27653" name="Rectangle 7"/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8001000" cy="996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rdt2.0: channel with bit errors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43013" name="Picture 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44513" y="871538"/>
            <a:ext cx="68564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5" name="Rectangle 9"/>
          <p:cNvSpPr>
            <a:spLocks noChangeArrowheads="1"/>
          </p:cNvSpPr>
          <p:nvPr/>
        </p:nvSpPr>
        <p:spPr bwMode="auto">
          <a:xfrm>
            <a:off x="11113" y="2516188"/>
            <a:ext cx="9144000" cy="3786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1735138" y="3678238"/>
            <a:ext cx="6084888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r>
              <a:rPr lang="en-US" altLang="zh-CN" sz="3200" i="1" dirty="0">
                <a:solidFill>
                  <a:srgbClr val="CC0000"/>
                </a:solidFill>
                <a:latin typeface="Gill Sans MT" charset="0"/>
              </a:rPr>
              <a:t>How do humans recover from </a:t>
            </a:r>
            <a:r>
              <a:rPr lang="ja-JP" altLang="en-US" sz="3200" i="1" dirty="0">
                <a:solidFill>
                  <a:srgbClr val="CC0000"/>
                </a:solidFill>
                <a:latin typeface="Gill Sans MT" charset="0"/>
              </a:rPr>
              <a:t>“</a:t>
            </a:r>
            <a:r>
              <a:rPr lang="en-US" altLang="ja-JP" sz="3200" i="1" dirty="0">
                <a:solidFill>
                  <a:srgbClr val="CC0000"/>
                </a:solidFill>
                <a:latin typeface="Gill Sans MT" charset="0"/>
              </a:rPr>
              <a:t>errors</a:t>
            </a:r>
            <a:r>
              <a:rPr lang="ja-JP" altLang="en-US" sz="3200" i="1" dirty="0">
                <a:solidFill>
                  <a:srgbClr val="CC0000"/>
                </a:solidFill>
                <a:latin typeface="Gill Sans MT" charset="0"/>
              </a:rPr>
              <a:t>”</a:t>
            </a:r>
            <a:endParaRPr lang="en-US" altLang="ja-JP" sz="3200" i="1" dirty="0">
              <a:solidFill>
                <a:srgbClr val="CC0000"/>
              </a:solidFill>
              <a:latin typeface="Gill Sans MT" charset="0"/>
            </a:endParaRPr>
          </a:p>
          <a:p>
            <a:r>
              <a:rPr lang="en-US" altLang="zh-CN" sz="3200" i="1" dirty="0">
                <a:solidFill>
                  <a:srgbClr val="CC0000"/>
                </a:solidFill>
                <a:latin typeface="Gill Sans MT" charset="0"/>
              </a:rPr>
              <a:t>during conversation?</a:t>
            </a:r>
            <a:endParaRPr lang="en-US" altLang="zh-CN" sz="3200" i="1" dirty="0">
              <a:solidFill>
                <a:srgbClr val="CC0000"/>
              </a:solidFill>
              <a:latin typeface="Gill Sans MT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867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8676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609600" y="1366838"/>
            <a:ext cx="7896225" cy="4448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underlying channel may flip bits in packet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checksum to detect bit errors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the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question: how to recover from errors: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acknowledgements (ACKs):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receiver explicitly tells sender that pkt received OK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negative acknowledgements (NAKs):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receiver explicitly tells sender that pkt had errors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sender retransmits pkt on receipt of NAK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new mechanisms in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rdt2.0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(beyond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rdt1.0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):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error detection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feedback: control msgs (ACK,NAK) from receiver to sender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8001000" cy="9969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rdt2.0: channel with bit errors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44037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44513" y="871538"/>
            <a:ext cx="6856412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9699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45059" name="Picture 3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63563" y="855663"/>
            <a:ext cx="54848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41288"/>
            <a:ext cx="7772400" cy="10302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rdt2.0: FSM specification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5061" name="Oval 3"/>
          <p:cNvSpPr/>
          <p:nvPr/>
        </p:nvSpPr>
        <p:spPr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5062" name="Text Box 4"/>
          <p:cNvSpPr txBox="1"/>
          <p:nvPr/>
        </p:nvSpPr>
        <p:spPr>
          <a:xfrm>
            <a:off x="595313" y="2293938"/>
            <a:ext cx="12001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above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63" name="Text Box 5"/>
          <p:cNvSpPr txBox="1"/>
          <p:nvPr/>
        </p:nvSpPr>
        <p:spPr>
          <a:xfrm>
            <a:off x="1004888" y="1490663"/>
            <a:ext cx="3643312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sndpkt = make_pkt(data, checksum)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64" name="Line 6"/>
          <p:cNvSpPr/>
          <p:nvPr/>
        </p:nvSpPr>
        <p:spPr>
          <a:xfrm>
            <a:off x="1109663" y="1535113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5" name="Text Box 7"/>
          <p:cNvSpPr txBox="1"/>
          <p:nvPr/>
        </p:nvSpPr>
        <p:spPr>
          <a:xfrm>
            <a:off x="6319838" y="5314950"/>
            <a:ext cx="2143125" cy="6191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extract(rcvpkt,data)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deliver_data(data)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udt_send(ACK)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66" name="Text Box 8"/>
          <p:cNvSpPr txBox="1"/>
          <p:nvPr/>
        </p:nvSpPr>
        <p:spPr>
          <a:xfrm>
            <a:off x="6297613" y="4781550"/>
            <a:ext cx="2157412" cy="701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notcorrupt(rcvpkt)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67" name="Line 9"/>
          <p:cNvSpPr/>
          <p:nvPr/>
        </p:nvSpPr>
        <p:spPr>
          <a:xfrm>
            <a:off x="6419850" y="5370513"/>
            <a:ext cx="148907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8" name="Freeform 10"/>
          <p:cNvSpPr/>
          <p:nvPr/>
        </p:nvSpPr>
        <p:spPr>
          <a:xfrm flipV="1">
            <a:off x="1057275" y="1979613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5069" name="Freeform 11"/>
          <p:cNvSpPr/>
          <p:nvPr/>
        </p:nvSpPr>
        <p:spPr>
          <a:xfrm>
            <a:off x="1104900" y="3140075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5070" name="Text Box 12"/>
          <p:cNvSpPr txBox="1"/>
          <p:nvPr/>
        </p:nvSpPr>
        <p:spPr>
          <a:xfrm>
            <a:off x="1071563" y="3492500"/>
            <a:ext cx="3548062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isACK(rcvpkt)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71" name="Line 13"/>
          <p:cNvSpPr/>
          <p:nvPr/>
        </p:nvSpPr>
        <p:spPr>
          <a:xfrm>
            <a:off x="1173163" y="38163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2" name="Freeform 14"/>
          <p:cNvSpPr/>
          <p:nvPr/>
        </p:nvSpPr>
        <p:spPr>
          <a:xfrm>
            <a:off x="3252788" y="2286000"/>
            <a:ext cx="466725" cy="893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5073" name="Text Box 15"/>
          <p:cNvSpPr txBox="1"/>
          <p:nvPr/>
        </p:nvSpPr>
        <p:spPr>
          <a:xfrm>
            <a:off x="3562350" y="2600325"/>
            <a:ext cx="176371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74" name="Text Box 16"/>
          <p:cNvSpPr txBox="1"/>
          <p:nvPr/>
        </p:nvSpPr>
        <p:spPr>
          <a:xfrm>
            <a:off x="3536950" y="1925638"/>
            <a:ext cx="2085975" cy="631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isNAK(rcvpkt)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5075" name="Line 17"/>
          <p:cNvSpPr/>
          <p:nvPr/>
        </p:nvSpPr>
        <p:spPr>
          <a:xfrm>
            <a:off x="3656013" y="2600325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5076" name="Group 18"/>
          <p:cNvGrpSpPr/>
          <p:nvPr/>
        </p:nvGrpSpPr>
        <p:grpSpPr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45091" name="Text Box 19"/>
            <p:cNvSpPr txBox="1"/>
            <p:nvPr/>
          </p:nvSpPr>
          <p:spPr>
            <a:xfrm>
              <a:off x="2222" y="3039"/>
              <a:ext cx="1152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udt_send(NAK)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5092" name="Text Box 20"/>
            <p:cNvSpPr txBox="1"/>
            <p:nvPr/>
          </p:nvSpPr>
          <p:spPr>
            <a:xfrm>
              <a:off x="2225" y="2660"/>
              <a:ext cx="1209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&amp;&amp;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corrupt(rcvpkt)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5093" name="Line 21"/>
            <p:cNvSpPr/>
            <p:nvPr/>
          </p:nvSpPr>
          <p:spPr>
            <a:xfrm>
              <a:off x="2285" y="3040"/>
              <a:ext cx="62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5077" name="Group 22"/>
          <p:cNvGrpSpPr/>
          <p:nvPr/>
        </p:nvGrpSpPr>
        <p:grpSpPr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45089" name="Oval 2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5090" name="Text Box 24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dirty="0">
                  <a:latin typeface="Arial" panose="020B0604020202090204" pitchFamily="34" charset="0"/>
                </a:rPr>
                <a:t>Wait for ACK or NAK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</p:grpSp>
      <p:sp>
        <p:nvSpPr>
          <p:cNvPr id="45078" name="Line 25"/>
          <p:cNvSpPr/>
          <p:nvPr/>
        </p:nvSpPr>
        <p:spPr>
          <a:xfrm>
            <a:off x="6334125" y="3497263"/>
            <a:ext cx="433388" cy="244475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45079" name="Freeform 26"/>
          <p:cNvSpPr/>
          <p:nvPr/>
        </p:nvSpPr>
        <p:spPr>
          <a:xfrm>
            <a:off x="6672263" y="3148013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45080" name="Group 27"/>
          <p:cNvGrpSpPr/>
          <p:nvPr/>
        </p:nvGrpSpPr>
        <p:grpSpPr>
          <a:xfrm>
            <a:off x="6677025" y="3568700"/>
            <a:ext cx="1200150" cy="962025"/>
            <a:chOff x="1335" y="3347"/>
            <a:chExt cx="756" cy="606"/>
          </a:xfrm>
        </p:grpSpPr>
        <p:sp>
          <p:nvSpPr>
            <p:cNvPr id="45087" name="Oval 28"/>
            <p:cNvSpPr/>
            <p:nvPr/>
          </p:nvSpPr>
          <p:spPr>
            <a:xfrm>
              <a:off x="1390" y="3347"/>
              <a:ext cx="621" cy="60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5088" name="Text Box 29"/>
            <p:cNvSpPr txBox="1"/>
            <p:nvPr/>
          </p:nvSpPr>
          <p:spPr>
            <a:xfrm>
              <a:off x="1335" y="3400"/>
              <a:ext cx="75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dirty="0">
                  <a:latin typeface="Arial" panose="020B0604020202090204" pitchFamily="34" charset="0"/>
                </a:rPr>
                <a:t>Wait for call from below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</p:grpSp>
      <p:sp>
        <p:nvSpPr>
          <p:cNvPr id="45081" name="Freeform 30"/>
          <p:cNvSpPr/>
          <p:nvPr/>
        </p:nvSpPr>
        <p:spPr>
          <a:xfrm flipV="1">
            <a:off x="6684963" y="4464050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723" name="Text Box 31"/>
          <p:cNvSpPr txBox="1">
            <a:spLocks noChangeArrowheads="1"/>
          </p:cNvSpPr>
          <p:nvPr/>
        </p:nvSpPr>
        <p:spPr bwMode="auto">
          <a:xfrm>
            <a:off x="896938" y="4154488"/>
            <a:ext cx="10890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9724" name="Text Box 32"/>
          <p:cNvSpPr txBox="1">
            <a:spLocks noChangeArrowheads="1"/>
          </p:cNvSpPr>
          <p:nvPr/>
        </p:nvSpPr>
        <p:spPr bwMode="auto">
          <a:xfrm>
            <a:off x="6972300" y="1466850"/>
            <a:ext cx="12477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5084" name="Line 33"/>
          <p:cNvSpPr/>
          <p:nvPr/>
        </p:nvSpPr>
        <p:spPr>
          <a:xfrm>
            <a:off x="349250" y="2166938"/>
            <a:ext cx="433388" cy="244475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45085" name="Text Box 34"/>
          <p:cNvSpPr txBox="1"/>
          <p:nvPr/>
        </p:nvSpPr>
        <p:spPr>
          <a:xfrm>
            <a:off x="1031875" y="1212850"/>
            <a:ext cx="2255838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29727" name="Text Box 35"/>
          <p:cNvSpPr txBox="1">
            <a:spLocks noChangeArrowheads="1"/>
          </p:cNvSpPr>
          <p:nvPr/>
        </p:nvSpPr>
        <p:spPr bwMode="auto">
          <a:xfrm>
            <a:off x="1462088" y="3786188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0723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46083" name="Picture 4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03238" y="798513"/>
            <a:ext cx="68564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63" y="185738"/>
            <a:ext cx="7772400" cy="8286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rdt2.0: operation with no errors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6085" name="Oval 3"/>
          <p:cNvSpPr/>
          <p:nvPr/>
        </p:nvSpPr>
        <p:spPr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6086" name="Text Box 4"/>
          <p:cNvSpPr txBox="1"/>
          <p:nvPr/>
        </p:nvSpPr>
        <p:spPr>
          <a:xfrm>
            <a:off x="595313" y="2293938"/>
            <a:ext cx="12001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above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87" name="Text Box 5"/>
          <p:cNvSpPr txBox="1"/>
          <p:nvPr/>
        </p:nvSpPr>
        <p:spPr>
          <a:xfrm>
            <a:off x="1004888" y="1490663"/>
            <a:ext cx="3643312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snkpkt = make_pkt(data, checksum)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88" name="Line 6"/>
          <p:cNvSpPr/>
          <p:nvPr/>
        </p:nvSpPr>
        <p:spPr>
          <a:xfrm>
            <a:off x="1109663" y="1535113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9" name="Text Box 7"/>
          <p:cNvSpPr txBox="1"/>
          <p:nvPr/>
        </p:nvSpPr>
        <p:spPr>
          <a:xfrm>
            <a:off x="6319838" y="5314950"/>
            <a:ext cx="2143125" cy="6191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extract(rcvpkt,data)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deliver_data(data)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udt_send(ACK)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90" name="Text Box 8"/>
          <p:cNvSpPr txBox="1"/>
          <p:nvPr/>
        </p:nvSpPr>
        <p:spPr>
          <a:xfrm>
            <a:off x="6297613" y="4781550"/>
            <a:ext cx="2157412" cy="701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notcorrupt(rcvpkt)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91" name="Line 9"/>
          <p:cNvSpPr/>
          <p:nvPr/>
        </p:nvSpPr>
        <p:spPr>
          <a:xfrm>
            <a:off x="6419850" y="5370513"/>
            <a:ext cx="148907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2" name="Freeform 10"/>
          <p:cNvSpPr/>
          <p:nvPr/>
        </p:nvSpPr>
        <p:spPr>
          <a:xfrm flipV="1">
            <a:off x="1057275" y="1979613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6093" name="Freeform 11"/>
          <p:cNvSpPr/>
          <p:nvPr/>
        </p:nvSpPr>
        <p:spPr>
          <a:xfrm>
            <a:off x="1104900" y="3140075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6094" name="Text Box 12"/>
          <p:cNvSpPr txBox="1"/>
          <p:nvPr/>
        </p:nvSpPr>
        <p:spPr>
          <a:xfrm>
            <a:off x="1071563" y="3492500"/>
            <a:ext cx="3548062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isACK(rcvpkt)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95" name="Line 13"/>
          <p:cNvSpPr/>
          <p:nvPr/>
        </p:nvSpPr>
        <p:spPr>
          <a:xfrm>
            <a:off x="1173163" y="38163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6" name="Freeform 14"/>
          <p:cNvSpPr/>
          <p:nvPr/>
        </p:nvSpPr>
        <p:spPr>
          <a:xfrm>
            <a:off x="3252788" y="2286000"/>
            <a:ext cx="466725" cy="893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6097" name="Text Box 15"/>
          <p:cNvSpPr txBox="1"/>
          <p:nvPr/>
        </p:nvSpPr>
        <p:spPr>
          <a:xfrm>
            <a:off x="3562350" y="2600325"/>
            <a:ext cx="176371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98" name="Text Box 16"/>
          <p:cNvSpPr txBox="1"/>
          <p:nvPr/>
        </p:nvSpPr>
        <p:spPr>
          <a:xfrm>
            <a:off x="3536950" y="1925638"/>
            <a:ext cx="2085975" cy="631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isNAK(rcvpkt)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099" name="Line 17"/>
          <p:cNvSpPr/>
          <p:nvPr/>
        </p:nvSpPr>
        <p:spPr>
          <a:xfrm>
            <a:off x="3656013" y="2600325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6100" name="Group 18"/>
          <p:cNvGrpSpPr/>
          <p:nvPr/>
        </p:nvGrpSpPr>
        <p:grpSpPr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46128" name="Text Box 19"/>
            <p:cNvSpPr txBox="1"/>
            <p:nvPr/>
          </p:nvSpPr>
          <p:spPr>
            <a:xfrm>
              <a:off x="2222" y="3039"/>
              <a:ext cx="1152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udt_send(NAK)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6129" name="Text Box 20"/>
            <p:cNvSpPr txBox="1"/>
            <p:nvPr/>
          </p:nvSpPr>
          <p:spPr>
            <a:xfrm>
              <a:off x="2225" y="2660"/>
              <a:ext cx="1209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&amp;&amp;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corrupt(rcvpkt)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6130" name="Line 21"/>
            <p:cNvSpPr/>
            <p:nvPr/>
          </p:nvSpPr>
          <p:spPr>
            <a:xfrm>
              <a:off x="2285" y="3040"/>
              <a:ext cx="62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6101" name="Group 22"/>
          <p:cNvGrpSpPr/>
          <p:nvPr/>
        </p:nvGrpSpPr>
        <p:grpSpPr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46126" name="Oval 2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6127" name="Text Box 24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dirty="0">
                  <a:latin typeface="Arial" panose="020B0604020202090204" pitchFamily="34" charset="0"/>
                </a:rPr>
                <a:t>Wait for ACK or NAK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</p:grpSp>
      <p:sp>
        <p:nvSpPr>
          <p:cNvPr id="46102" name="Freeform 25"/>
          <p:cNvSpPr/>
          <p:nvPr/>
        </p:nvSpPr>
        <p:spPr>
          <a:xfrm>
            <a:off x="6672263" y="3148013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6103" name="Oval 26"/>
          <p:cNvSpPr/>
          <p:nvPr/>
        </p:nvSpPr>
        <p:spPr>
          <a:xfrm>
            <a:off x="6764338" y="3568700"/>
            <a:ext cx="985837" cy="9620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6104" name="Text Box 27"/>
          <p:cNvSpPr txBox="1"/>
          <p:nvPr/>
        </p:nvSpPr>
        <p:spPr>
          <a:xfrm>
            <a:off x="6677025" y="3652838"/>
            <a:ext cx="12001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below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105" name="Freeform 28"/>
          <p:cNvSpPr/>
          <p:nvPr/>
        </p:nvSpPr>
        <p:spPr>
          <a:xfrm flipV="1">
            <a:off x="6684963" y="4464050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8797" name="Group 29"/>
          <p:cNvGrpSpPr/>
          <p:nvPr/>
        </p:nvGrpSpPr>
        <p:grpSpPr>
          <a:xfrm>
            <a:off x="349250" y="2166938"/>
            <a:ext cx="1333500" cy="1004887"/>
            <a:chOff x="220" y="1365"/>
            <a:chExt cx="840" cy="633"/>
          </a:xfrm>
        </p:grpSpPr>
        <p:sp>
          <p:nvSpPr>
            <p:cNvPr id="46124" name="Line 30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6125" name="Oval 31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grpSp>
        <p:nvGrpSpPr>
          <p:cNvPr id="288800" name="Group 32"/>
          <p:cNvGrpSpPr/>
          <p:nvPr/>
        </p:nvGrpSpPr>
        <p:grpSpPr>
          <a:xfrm>
            <a:off x="6334125" y="3497263"/>
            <a:ext cx="1414463" cy="1033462"/>
            <a:chOff x="3990" y="2203"/>
            <a:chExt cx="891" cy="651"/>
          </a:xfrm>
        </p:grpSpPr>
        <p:sp>
          <p:nvSpPr>
            <p:cNvPr id="46122" name="Line 33"/>
            <p:cNvSpPr/>
            <p:nvPr/>
          </p:nvSpPr>
          <p:spPr>
            <a:xfrm>
              <a:off x="3990" y="2203"/>
              <a:ext cx="273" cy="15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6123" name="Oval 34"/>
            <p:cNvSpPr/>
            <p:nvPr/>
          </p:nvSpPr>
          <p:spPr>
            <a:xfrm>
              <a:off x="4260" y="2248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46108" name="Text Box 35"/>
          <p:cNvSpPr txBox="1"/>
          <p:nvPr/>
        </p:nvSpPr>
        <p:spPr>
          <a:xfrm>
            <a:off x="1030288" y="1200150"/>
            <a:ext cx="2255837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288804" name="Line 36"/>
          <p:cNvSpPr>
            <a:spLocks noChangeShapeType="1"/>
          </p:cNvSpPr>
          <p:nvPr/>
        </p:nvSpPr>
        <p:spPr bwMode="auto">
          <a:xfrm>
            <a:off x="1011238" y="1289050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6110" name="Freeform 37"/>
          <p:cNvSpPr/>
          <p:nvPr/>
        </p:nvSpPr>
        <p:spPr>
          <a:xfrm>
            <a:off x="1011238" y="2006600"/>
            <a:ext cx="6697662" cy="30607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219" h="1928">
                <a:moveTo>
                  <a:pt x="0" y="10"/>
                </a:moveTo>
                <a:lnTo>
                  <a:pt x="1003" y="0"/>
                </a:lnTo>
                <a:lnTo>
                  <a:pt x="3387" y="1928"/>
                </a:lnTo>
                <a:lnTo>
                  <a:pt x="4219" y="1928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8806" name="Group 38"/>
          <p:cNvGrpSpPr/>
          <p:nvPr/>
        </p:nvGrpSpPr>
        <p:grpSpPr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46120" name="Line 39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6121" name="Oval 40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288809" name="Oval 41"/>
          <p:cNvSpPr/>
          <p:nvPr/>
        </p:nvSpPr>
        <p:spPr>
          <a:xfrm>
            <a:off x="2332038" y="2222500"/>
            <a:ext cx="985837" cy="9620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288810" name="Line 42"/>
          <p:cNvSpPr>
            <a:spLocks noChangeShapeType="1"/>
          </p:cNvSpPr>
          <p:nvPr/>
        </p:nvSpPr>
        <p:spPr bwMode="auto">
          <a:xfrm flipH="1">
            <a:off x="6261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6114" name="Freeform 43"/>
          <p:cNvSpPr/>
          <p:nvPr/>
        </p:nvSpPr>
        <p:spPr>
          <a:xfrm>
            <a:off x="1155700" y="3886200"/>
            <a:ext cx="6667500" cy="2260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8812" name="Group 44"/>
          <p:cNvGrpSpPr/>
          <p:nvPr/>
        </p:nvGrpSpPr>
        <p:grpSpPr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46118" name="Line 45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6119" name="Oval 46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288815" name="Oval 47"/>
          <p:cNvSpPr/>
          <p:nvPr/>
        </p:nvSpPr>
        <p:spPr>
          <a:xfrm>
            <a:off x="2328863" y="2227263"/>
            <a:ext cx="985837" cy="962025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30758" name="Text Box 48"/>
          <p:cNvSpPr txBox="1">
            <a:spLocks noChangeArrowheads="1"/>
          </p:cNvSpPr>
          <p:nvPr/>
        </p:nvSpPr>
        <p:spPr bwMode="auto">
          <a:xfrm>
            <a:off x="1409700" y="3854450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8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9" grpId="0" animBg="1"/>
      <p:bldP spid="288815" grpId="0" animBg="1"/>
      <p:bldP spid="28881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1747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85738"/>
            <a:ext cx="7772400" cy="885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rdt2.0: error scenario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7108" name="Oval 3"/>
          <p:cNvSpPr/>
          <p:nvPr/>
        </p:nvSpPr>
        <p:spPr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7109" name="Text Box 4"/>
          <p:cNvSpPr txBox="1"/>
          <p:nvPr/>
        </p:nvSpPr>
        <p:spPr>
          <a:xfrm>
            <a:off x="595313" y="2293938"/>
            <a:ext cx="12001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above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10" name="Text Box 5"/>
          <p:cNvSpPr txBox="1"/>
          <p:nvPr/>
        </p:nvSpPr>
        <p:spPr>
          <a:xfrm>
            <a:off x="1004888" y="1490663"/>
            <a:ext cx="3643312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snkpkt = make_pkt(data, checksum)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11" name="Line 6"/>
          <p:cNvSpPr/>
          <p:nvPr/>
        </p:nvSpPr>
        <p:spPr>
          <a:xfrm>
            <a:off x="1109663" y="1535113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2" name="Text Box 7"/>
          <p:cNvSpPr txBox="1"/>
          <p:nvPr/>
        </p:nvSpPr>
        <p:spPr>
          <a:xfrm>
            <a:off x="6319838" y="5314950"/>
            <a:ext cx="2143125" cy="6191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extract(rcvpkt,data)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deliver_data(data)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udt_send(ACK)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13" name="Text Box 8"/>
          <p:cNvSpPr txBox="1"/>
          <p:nvPr/>
        </p:nvSpPr>
        <p:spPr>
          <a:xfrm>
            <a:off x="6297613" y="4781550"/>
            <a:ext cx="2157412" cy="701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notcorrupt(rcvpkt)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14" name="Line 9"/>
          <p:cNvSpPr/>
          <p:nvPr/>
        </p:nvSpPr>
        <p:spPr>
          <a:xfrm>
            <a:off x="6419850" y="5370513"/>
            <a:ext cx="148907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5" name="Freeform 10"/>
          <p:cNvSpPr/>
          <p:nvPr/>
        </p:nvSpPr>
        <p:spPr>
          <a:xfrm flipV="1">
            <a:off x="1057275" y="1979613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7116" name="Freeform 11"/>
          <p:cNvSpPr/>
          <p:nvPr/>
        </p:nvSpPr>
        <p:spPr>
          <a:xfrm>
            <a:off x="1104900" y="3140075"/>
            <a:ext cx="1800225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7117" name="Text Box 12"/>
          <p:cNvSpPr txBox="1"/>
          <p:nvPr/>
        </p:nvSpPr>
        <p:spPr>
          <a:xfrm>
            <a:off x="1071563" y="3492500"/>
            <a:ext cx="3548062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isACK(rcvpkt)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18" name="Line 13"/>
          <p:cNvSpPr/>
          <p:nvPr/>
        </p:nvSpPr>
        <p:spPr>
          <a:xfrm>
            <a:off x="1173163" y="38163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19" name="Freeform 14"/>
          <p:cNvSpPr/>
          <p:nvPr/>
        </p:nvSpPr>
        <p:spPr>
          <a:xfrm>
            <a:off x="3252788" y="2286000"/>
            <a:ext cx="466725" cy="8937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7120" name="Text Box 15"/>
          <p:cNvSpPr txBox="1"/>
          <p:nvPr/>
        </p:nvSpPr>
        <p:spPr>
          <a:xfrm>
            <a:off x="3562350" y="2600325"/>
            <a:ext cx="176371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21" name="Text Box 16"/>
          <p:cNvSpPr txBox="1"/>
          <p:nvPr/>
        </p:nvSpPr>
        <p:spPr>
          <a:xfrm>
            <a:off x="3536950" y="1925638"/>
            <a:ext cx="2085975" cy="631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   isNAK(rcvpkt)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22" name="Line 17"/>
          <p:cNvSpPr/>
          <p:nvPr/>
        </p:nvSpPr>
        <p:spPr>
          <a:xfrm>
            <a:off x="3656013" y="2600325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7123" name="Group 18"/>
          <p:cNvGrpSpPr/>
          <p:nvPr/>
        </p:nvGrpSpPr>
        <p:grpSpPr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47156" name="Text Box 19"/>
            <p:cNvSpPr txBox="1"/>
            <p:nvPr/>
          </p:nvSpPr>
          <p:spPr>
            <a:xfrm>
              <a:off x="2222" y="3039"/>
              <a:ext cx="1152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udt_send(NAK)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7157" name="Text Box 20"/>
            <p:cNvSpPr txBox="1"/>
            <p:nvPr/>
          </p:nvSpPr>
          <p:spPr>
            <a:xfrm>
              <a:off x="2225" y="2660"/>
              <a:ext cx="1209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&amp;&amp;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corrupt(rcvpkt)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47158" name="Line 21"/>
            <p:cNvSpPr/>
            <p:nvPr/>
          </p:nvSpPr>
          <p:spPr>
            <a:xfrm>
              <a:off x="2285" y="3040"/>
              <a:ext cx="62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7124" name="Group 22"/>
          <p:cNvGrpSpPr/>
          <p:nvPr/>
        </p:nvGrpSpPr>
        <p:grpSpPr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47154" name="Oval 2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7155" name="Text Box 24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dirty="0">
                  <a:latin typeface="Arial" panose="020B0604020202090204" pitchFamily="34" charset="0"/>
                </a:rPr>
                <a:t>Wait for ACK or NAK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</p:grpSp>
      <p:sp>
        <p:nvSpPr>
          <p:cNvPr id="47125" name="Freeform 25"/>
          <p:cNvSpPr/>
          <p:nvPr/>
        </p:nvSpPr>
        <p:spPr>
          <a:xfrm>
            <a:off x="6672263" y="3148013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7126" name="Oval 26"/>
          <p:cNvSpPr/>
          <p:nvPr/>
        </p:nvSpPr>
        <p:spPr>
          <a:xfrm>
            <a:off x="6764338" y="3568700"/>
            <a:ext cx="985837" cy="9620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7127" name="Text Box 27"/>
          <p:cNvSpPr txBox="1"/>
          <p:nvPr/>
        </p:nvSpPr>
        <p:spPr>
          <a:xfrm>
            <a:off x="6677025" y="3652838"/>
            <a:ext cx="120015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 for call from below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7128" name="Freeform 28"/>
          <p:cNvSpPr/>
          <p:nvPr/>
        </p:nvSpPr>
        <p:spPr>
          <a:xfrm flipV="1">
            <a:off x="6684963" y="4464050"/>
            <a:ext cx="12573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9821" name="Group 29"/>
          <p:cNvGrpSpPr/>
          <p:nvPr/>
        </p:nvGrpSpPr>
        <p:grpSpPr>
          <a:xfrm>
            <a:off x="349250" y="2166938"/>
            <a:ext cx="1333500" cy="1004887"/>
            <a:chOff x="220" y="1365"/>
            <a:chExt cx="840" cy="633"/>
          </a:xfrm>
        </p:grpSpPr>
        <p:sp>
          <p:nvSpPr>
            <p:cNvPr id="47152" name="Line 30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7153" name="Oval 31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grpSp>
        <p:nvGrpSpPr>
          <p:cNvPr id="289824" name="Group 32"/>
          <p:cNvGrpSpPr/>
          <p:nvPr/>
        </p:nvGrpSpPr>
        <p:grpSpPr>
          <a:xfrm>
            <a:off x="6334125" y="3497263"/>
            <a:ext cx="1414463" cy="1033462"/>
            <a:chOff x="3990" y="2203"/>
            <a:chExt cx="891" cy="651"/>
          </a:xfrm>
        </p:grpSpPr>
        <p:sp>
          <p:nvSpPr>
            <p:cNvPr id="47150" name="Line 33"/>
            <p:cNvSpPr/>
            <p:nvPr/>
          </p:nvSpPr>
          <p:spPr>
            <a:xfrm>
              <a:off x="3990" y="2203"/>
              <a:ext cx="273" cy="15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7151" name="Oval 34"/>
            <p:cNvSpPr/>
            <p:nvPr/>
          </p:nvSpPr>
          <p:spPr>
            <a:xfrm>
              <a:off x="4260" y="2248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47131" name="Text Box 35"/>
          <p:cNvSpPr txBox="1"/>
          <p:nvPr/>
        </p:nvSpPr>
        <p:spPr>
          <a:xfrm>
            <a:off x="1030288" y="1200150"/>
            <a:ext cx="2255837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289828" name="Line 36"/>
          <p:cNvSpPr>
            <a:spLocks noChangeShapeType="1"/>
          </p:cNvSpPr>
          <p:nvPr/>
        </p:nvSpPr>
        <p:spPr bwMode="auto">
          <a:xfrm>
            <a:off x="1011238" y="1289050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7133" name="Freeform 37"/>
          <p:cNvSpPr/>
          <p:nvPr/>
        </p:nvSpPr>
        <p:spPr>
          <a:xfrm>
            <a:off x="1011238" y="2006600"/>
            <a:ext cx="6940550" cy="6540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372" h="412">
                <a:moveTo>
                  <a:pt x="0" y="10"/>
                </a:moveTo>
                <a:lnTo>
                  <a:pt x="1003" y="0"/>
                </a:lnTo>
                <a:lnTo>
                  <a:pt x="3508" y="412"/>
                </a:lnTo>
                <a:lnTo>
                  <a:pt x="4372" y="412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9830" name="Group 38"/>
          <p:cNvGrpSpPr/>
          <p:nvPr/>
        </p:nvGrpSpPr>
        <p:grpSpPr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47148" name="Line 39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7149" name="Oval 40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289833" name="Oval 41"/>
          <p:cNvSpPr/>
          <p:nvPr/>
        </p:nvSpPr>
        <p:spPr>
          <a:xfrm>
            <a:off x="2332038" y="2222500"/>
            <a:ext cx="985837" cy="9620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289834" name="Line 42"/>
          <p:cNvSpPr>
            <a:spLocks noChangeShapeType="1"/>
          </p:cNvSpPr>
          <p:nvPr/>
        </p:nvSpPr>
        <p:spPr bwMode="auto">
          <a:xfrm flipH="1">
            <a:off x="6261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7137" name="Freeform 43"/>
          <p:cNvSpPr/>
          <p:nvPr/>
        </p:nvSpPr>
        <p:spPr>
          <a:xfrm>
            <a:off x="1155700" y="3886200"/>
            <a:ext cx="6667500" cy="2260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289836" name="Group 44"/>
          <p:cNvGrpSpPr/>
          <p:nvPr/>
        </p:nvGrpSpPr>
        <p:grpSpPr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47146" name="Line 45"/>
            <p:cNvSpPr/>
            <p:nvPr/>
          </p:nvSpPr>
          <p:spPr>
            <a:xfrm>
              <a:off x="220" y="1365"/>
              <a:ext cx="273" cy="15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47147" name="Oval 46"/>
            <p:cNvSpPr/>
            <p:nvPr/>
          </p:nvSpPr>
          <p:spPr>
            <a:xfrm>
              <a:off x="439" y="1392"/>
              <a:ext cx="621" cy="606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</p:grpSp>
      <p:sp>
        <p:nvSpPr>
          <p:cNvPr id="289839" name="Oval 47"/>
          <p:cNvSpPr/>
          <p:nvPr/>
        </p:nvSpPr>
        <p:spPr>
          <a:xfrm>
            <a:off x="2328863" y="2227263"/>
            <a:ext cx="985837" cy="962025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289840" name="Line 48"/>
          <p:cNvSpPr>
            <a:spLocks noChangeShapeType="1"/>
          </p:cNvSpPr>
          <p:nvPr/>
        </p:nvSpPr>
        <p:spPr bwMode="auto">
          <a:xfrm>
            <a:off x="6553200" y="2493963"/>
            <a:ext cx="0" cy="81756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7141" name="Freeform 49"/>
          <p:cNvSpPr/>
          <p:nvPr/>
        </p:nvSpPr>
        <p:spPr>
          <a:xfrm>
            <a:off x="3657600" y="2216150"/>
            <a:ext cx="4378325" cy="10255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pathLst>
              <a:path w="2758" h="646">
                <a:moveTo>
                  <a:pt x="2758" y="646"/>
                </a:moveTo>
                <a:lnTo>
                  <a:pt x="1763" y="629"/>
                </a:lnTo>
                <a:lnTo>
                  <a:pt x="1039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9842" name="Line 50"/>
          <p:cNvSpPr>
            <a:spLocks noChangeShapeType="1"/>
          </p:cNvSpPr>
          <p:nvPr/>
        </p:nvSpPr>
        <p:spPr bwMode="auto">
          <a:xfrm>
            <a:off x="3548063" y="2090738"/>
            <a:ext cx="0" cy="846138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7143" name="Freeform 51"/>
          <p:cNvSpPr/>
          <p:nvPr/>
        </p:nvSpPr>
        <p:spPr>
          <a:xfrm>
            <a:off x="3643313" y="2951163"/>
            <a:ext cx="4073525" cy="2133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566" h="1344">
                <a:moveTo>
                  <a:pt x="0" y="0"/>
                </a:moveTo>
                <a:lnTo>
                  <a:pt x="1013" y="0"/>
                </a:lnTo>
                <a:lnTo>
                  <a:pt x="1650" y="1344"/>
                </a:lnTo>
                <a:lnTo>
                  <a:pt x="2566" y="1344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785" name="Text Box 52"/>
          <p:cNvSpPr txBox="1">
            <a:spLocks noChangeArrowheads="1"/>
          </p:cNvSpPr>
          <p:nvPr/>
        </p:nvSpPr>
        <p:spPr bwMode="auto">
          <a:xfrm>
            <a:off x="1435100" y="3868738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pic>
        <p:nvPicPr>
          <p:cNvPr id="47145" name="Picture 5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8488" y="847725"/>
            <a:ext cx="4570412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9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9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9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9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898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89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3" grpId="0" animBg="1"/>
      <p:bldP spid="289839" grpId="0" animBg="1"/>
      <p:bldP spid="289839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27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185738"/>
            <a:ext cx="7772400" cy="1019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rdt2.0 has a fatal flaw!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34713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11175" y="1589088"/>
            <a:ext cx="381000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what happens if ACK/NAK corrupted?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sender doesn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t know what happened at receiver!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can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t just retransmit: possible duplicate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spcBef>
                <a:spcPct val="6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34714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3810000" cy="2562225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handling duplicates</a:t>
            </a:r>
            <a:r>
              <a:rPr lang="en-US" altLang="zh-CN" sz="3200" dirty="0">
                <a:solidFill>
                  <a:srgbClr val="FF0000"/>
                </a:solidFill>
                <a:latin typeface="+mn-lt"/>
                <a:ea typeface="MS PGothic" charset="0"/>
                <a:cs typeface="MS PGothic" charset="0"/>
              </a:rPr>
              <a:t>: </a:t>
            </a:r>
            <a:endParaRPr lang="en-US" altLang="zh-CN" sz="3200" dirty="0">
              <a:solidFill>
                <a:srgbClr val="FF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sender retransmits current pkt if ACK/NAK corrupted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sender adds </a:t>
            </a:r>
            <a:r>
              <a:rPr lang="en-US" altLang="zh-CN" sz="2400" i="1" dirty="0">
                <a:solidFill>
                  <a:srgbClr val="000099"/>
                </a:solidFill>
                <a:latin typeface="+mn-lt"/>
                <a:ea typeface="MS PGothic" charset="0"/>
                <a:cs typeface="MS PGothic" charset="0"/>
              </a:rPr>
              <a:t>sequence number</a:t>
            </a: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 to each pkt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receiver discards (doesn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t deliver up) duplicate pkt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48134" name="Picture 11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85775" y="928688"/>
            <a:ext cx="50276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47149" name="Group 13"/>
          <p:cNvGrpSpPr/>
          <p:nvPr/>
        </p:nvGrpSpPr>
        <p:grpSpPr>
          <a:xfrm>
            <a:off x="2463800" y="4445000"/>
            <a:ext cx="4092575" cy="1603375"/>
            <a:chOff x="1552" y="2800"/>
            <a:chExt cx="2578" cy="1010"/>
          </a:xfrm>
        </p:grpSpPr>
        <p:sp>
          <p:nvSpPr>
            <p:cNvPr id="32777" name="Rectangle 7"/>
            <p:cNvSpPr>
              <a:spLocks noChangeArrowheads="1"/>
            </p:cNvSpPr>
            <p:nvPr/>
          </p:nvSpPr>
          <p:spPr bwMode="auto">
            <a:xfrm>
              <a:off x="1552" y="2974"/>
              <a:ext cx="2578" cy="836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32778" name="Rectangle 9"/>
            <p:cNvSpPr>
              <a:spLocks noChangeArrowheads="1"/>
            </p:cNvSpPr>
            <p:nvPr/>
          </p:nvSpPr>
          <p:spPr bwMode="auto">
            <a:xfrm>
              <a:off x="2226" y="2913"/>
              <a:ext cx="1038" cy="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32779" name="Text Box 10"/>
            <p:cNvSpPr txBox="1">
              <a:spLocks noChangeArrowheads="1"/>
            </p:cNvSpPr>
            <p:nvPr/>
          </p:nvSpPr>
          <p:spPr bwMode="auto">
            <a:xfrm>
              <a:off x="1724" y="2800"/>
              <a:ext cx="1340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stop and wait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  <p:sp>
          <p:nvSpPr>
            <p:cNvPr id="32780" name="Text Box 6"/>
            <p:cNvSpPr txBox="1">
              <a:spLocks noChangeArrowheads="1"/>
            </p:cNvSpPr>
            <p:nvPr/>
          </p:nvSpPr>
          <p:spPr bwMode="auto">
            <a:xfrm>
              <a:off x="1665" y="3052"/>
              <a:ext cx="2452" cy="7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sender sends one packet, 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then waits for receiver 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response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/>
      <p:bldP spid="3471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379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49155" name="Picture 39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63" y="825500"/>
            <a:ext cx="8228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161925"/>
            <a:ext cx="8277225" cy="9747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rdt2.1: sender, handles garbled ACK/NAKs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9157" name="Oval 3"/>
          <p:cNvSpPr/>
          <p:nvPr/>
        </p:nvSpPr>
        <p:spPr>
          <a:xfrm>
            <a:off x="2868613" y="2306638"/>
            <a:ext cx="901700" cy="836612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49158" name="Text Box 4"/>
          <p:cNvSpPr txBox="1"/>
          <p:nvPr/>
        </p:nvSpPr>
        <p:spPr>
          <a:xfrm>
            <a:off x="2816225" y="2395538"/>
            <a:ext cx="1090613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1400" dirty="0">
                <a:latin typeface="Arial" panose="020B0604020202090204" pitchFamily="34" charset="0"/>
              </a:rPr>
              <a:t>Wait for call 0 from above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49159" name="Text Box 5"/>
          <p:cNvSpPr txBox="1"/>
          <p:nvPr/>
        </p:nvSpPr>
        <p:spPr>
          <a:xfrm>
            <a:off x="3124200" y="1577975"/>
            <a:ext cx="369411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sndpkt = make_pkt(0, data, checksum)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60" name="Text Box 6"/>
          <p:cNvSpPr txBox="1"/>
          <p:nvPr/>
        </p:nvSpPr>
        <p:spPr>
          <a:xfrm>
            <a:off x="3138488" y="1265238"/>
            <a:ext cx="2111375" cy="3000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61" name="Line 7"/>
          <p:cNvSpPr/>
          <p:nvPr/>
        </p:nvSpPr>
        <p:spPr>
          <a:xfrm>
            <a:off x="3255963" y="1630363"/>
            <a:ext cx="2735262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62" name="Line 8"/>
          <p:cNvSpPr/>
          <p:nvPr/>
        </p:nvSpPr>
        <p:spPr>
          <a:xfrm>
            <a:off x="2593975" y="2262188"/>
            <a:ext cx="377825" cy="190500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49163" name="Freeform 9"/>
          <p:cNvSpPr/>
          <p:nvPr/>
        </p:nvSpPr>
        <p:spPr>
          <a:xfrm rot="-6989453">
            <a:off x="2179638" y="4603750"/>
            <a:ext cx="952500" cy="4699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49164" name="Group 10"/>
          <p:cNvGrpSpPr/>
          <p:nvPr/>
        </p:nvGrpSpPr>
        <p:grpSpPr>
          <a:xfrm>
            <a:off x="4702175" y="2254250"/>
            <a:ext cx="1089025" cy="865188"/>
            <a:chOff x="2848" y="1499"/>
            <a:chExt cx="660" cy="510"/>
          </a:xfrm>
        </p:grpSpPr>
        <p:sp>
          <p:nvSpPr>
            <p:cNvPr id="49191" name="Oval 11"/>
            <p:cNvSpPr/>
            <p:nvPr/>
          </p:nvSpPr>
          <p:spPr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9192" name="Text Box 12"/>
            <p:cNvSpPr txBox="1"/>
            <p:nvPr/>
          </p:nvSpPr>
          <p:spPr>
            <a:xfrm>
              <a:off x="2848" y="1535"/>
              <a:ext cx="6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ACK or NAK 0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49165" name="Freeform 13"/>
          <p:cNvSpPr/>
          <p:nvPr/>
        </p:nvSpPr>
        <p:spPr>
          <a:xfrm flipV="1">
            <a:off x="3425825" y="2132013"/>
            <a:ext cx="1482725" cy="2206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6" name="Freeform 14"/>
          <p:cNvSpPr/>
          <p:nvPr/>
        </p:nvSpPr>
        <p:spPr>
          <a:xfrm rot="-1357180">
            <a:off x="5589588" y="2116138"/>
            <a:ext cx="466725" cy="6858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0" y="2147483647"/>
              </a:cxn>
            </a:cxnLst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7" name="Text Box 15"/>
          <p:cNvSpPr txBox="1"/>
          <p:nvPr/>
        </p:nvSpPr>
        <p:spPr>
          <a:xfrm>
            <a:off x="5913438" y="2678113"/>
            <a:ext cx="2262187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68" name="Text Box 16"/>
          <p:cNvSpPr txBox="1"/>
          <p:nvPr/>
        </p:nvSpPr>
        <p:spPr>
          <a:xfrm>
            <a:off x="5875338" y="1920875"/>
            <a:ext cx="2563812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( corrupt(rcvpkt) ||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isNAK(rcvpkt) 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69" name="Line 17"/>
          <p:cNvSpPr/>
          <p:nvPr/>
        </p:nvSpPr>
        <p:spPr>
          <a:xfrm>
            <a:off x="6045200" y="2717800"/>
            <a:ext cx="1433513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0" name="Freeform 18"/>
          <p:cNvSpPr/>
          <p:nvPr/>
        </p:nvSpPr>
        <p:spPr>
          <a:xfrm rot="-5400000" flipV="1">
            <a:off x="2201863" y="3492500"/>
            <a:ext cx="1266825" cy="1238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71" name="Freeform 19"/>
          <p:cNvSpPr/>
          <p:nvPr/>
        </p:nvSpPr>
        <p:spPr>
          <a:xfrm>
            <a:off x="3600450" y="4779963"/>
            <a:ext cx="1606550" cy="247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72" name="Freeform 20"/>
          <p:cNvSpPr/>
          <p:nvPr/>
        </p:nvSpPr>
        <p:spPr>
          <a:xfrm rot="5400000" flipH="1" flipV="1">
            <a:off x="4970463" y="3440113"/>
            <a:ext cx="1363662" cy="2047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73" name="Text Box 21"/>
          <p:cNvSpPr txBox="1"/>
          <p:nvPr/>
        </p:nvSpPr>
        <p:spPr>
          <a:xfrm>
            <a:off x="3365500" y="5364163"/>
            <a:ext cx="376396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sndpkt = make_pkt(1, data, checksum)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74" name="Text Box 22"/>
          <p:cNvSpPr txBox="1"/>
          <p:nvPr/>
        </p:nvSpPr>
        <p:spPr>
          <a:xfrm>
            <a:off x="3435350" y="5026025"/>
            <a:ext cx="2389188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rdt_send(data)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75" name="Line 23"/>
          <p:cNvSpPr/>
          <p:nvPr/>
        </p:nvSpPr>
        <p:spPr>
          <a:xfrm>
            <a:off x="3482975" y="5378450"/>
            <a:ext cx="290353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6" name="Text Box 24"/>
          <p:cNvSpPr txBox="1"/>
          <p:nvPr/>
        </p:nvSpPr>
        <p:spPr>
          <a:xfrm>
            <a:off x="5692775" y="3173413"/>
            <a:ext cx="2995613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 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&amp;&amp; notcorrupt(rcvpkt)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&amp;&amp; isACK(rcvpkt) 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49177" name="Line 25"/>
          <p:cNvSpPr/>
          <p:nvPr/>
        </p:nvSpPr>
        <p:spPr>
          <a:xfrm>
            <a:off x="5821363" y="3984625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78" name="Text Box 26"/>
          <p:cNvSpPr txBox="1"/>
          <p:nvPr/>
        </p:nvSpPr>
        <p:spPr>
          <a:xfrm>
            <a:off x="720725" y="5435600"/>
            <a:ext cx="1819275" cy="276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udt_send(sndpkt)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79" name="Text Box 27"/>
          <p:cNvSpPr txBox="1"/>
          <p:nvPr/>
        </p:nvSpPr>
        <p:spPr>
          <a:xfrm>
            <a:off x="695325" y="4618038"/>
            <a:ext cx="2011363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&amp;&amp; 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( corrupt(rcvpkt) ||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isNAK(rcvpkt) )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9180" name="Line 28"/>
          <p:cNvSpPr/>
          <p:nvPr/>
        </p:nvSpPr>
        <p:spPr>
          <a:xfrm>
            <a:off x="811213" y="5443538"/>
            <a:ext cx="1557337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81" name="Text Box 29"/>
          <p:cNvSpPr txBox="1"/>
          <p:nvPr/>
        </p:nvSpPr>
        <p:spPr>
          <a:xfrm>
            <a:off x="638175" y="3016250"/>
            <a:ext cx="2109788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rdt_rcv(rcvpkt)  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&amp;&amp; notcorrupt(rcvpkt)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l"/>
            <a:r>
              <a:rPr lang="en-US" altLang="zh-CN" dirty="0">
                <a:latin typeface="Arial" panose="020B0604020202090204" pitchFamily="34" charset="0"/>
              </a:rPr>
              <a:t>&amp;&amp; isACK(rcvpkt)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49182" name="Line 30"/>
          <p:cNvSpPr/>
          <p:nvPr/>
        </p:nvSpPr>
        <p:spPr>
          <a:xfrm>
            <a:off x="782638" y="3854450"/>
            <a:ext cx="1738312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9183" name="Group 31"/>
          <p:cNvGrpSpPr/>
          <p:nvPr/>
        </p:nvGrpSpPr>
        <p:grpSpPr>
          <a:xfrm>
            <a:off x="4852988" y="4200525"/>
            <a:ext cx="1117600" cy="823913"/>
            <a:chOff x="4156" y="2812"/>
            <a:chExt cx="704" cy="519"/>
          </a:xfrm>
        </p:grpSpPr>
        <p:sp>
          <p:nvSpPr>
            <p:cNvPr id="49189" name="Oval 32"/>
            <p:cNvSpPr/>
            <p:nvPr/>
          </p:nvSpPr>
          <p:spPr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9190" name="Text Box 33"/>
            <p:cNvSpPr txBox="1"/>
            <p:nvPr/>
          </p:nvSpPr>
          <p:spPr>
            <a:xfrm>
              <a:off x="4156" y="2870"/>
              <a:ext cx="70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</a:t>
              </a:r>
              <a:endParaRPr lang="en-US" altLang="zh-CN" sz="1400" dirty="0">
                <a:latin typeface="Arial" panose="020B0604020202090204" pitchFamily="34" charset="0"/>
              </a:endParaRPr>
            </a:p>
            <a:p>
              <a:r>
                <a:rPr lang="en-US" altLang="zh-CN" sz="1400" dirty="0">
                  <a:latin typeface="Arial" panose="020B0604020202090204" pitchFamily="34" charset="0"/>
                </a:rPr>
                <a:t> call 1 from above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grpSp>
        <p:nvGrpSpPr>
          <p:cNvPr id="49184" name="Group 34"/>
          <p:cNvGrpSpPr/>
          <p:nvPr/>
        </p:nvGrpSpPr>
        <p:grpSpPr>
          <a:xfrm>
            <a:off x="2663825" y="4146550"/>
            <a:ext cx="1046163" cy="823913"/>
            <a:chOff x="4916" y="3266"/>
            <a:chExt cx="659" cy="519"/>
          </a:xfrm>
        </p:grpSpPr>
        <p:sp>
          <p:nvSpPr>
            <p:cNvPr id="49187" name="Oval 35"/>
            <p:cNvSpPr/>
            <p:nvPr/>
          </p:nvSpPr>
          <p:spPr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49188" name="Text Box 36"/>
            <p:cNvSpPr txBox="1"/>
            <p:nvPr/>
          </p:nvSpPr>
          <p:spPr>
            <a:xfrm>
              <a:off x="4916" y="3319"/>
              <a:ext cx="65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ACK or NAK 1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33826" name="Text Box 37"/>
          <p:cNvSpPr txBox="1">
            <a:spLocks noChangeArrowheads="1"/>
          </p:cNvSpPr>
          <p:nvPr/>
        </p:nvSpPr>
        <p:spPr bwMode="auto">
          <a:xfrm>
            <a:off x="6203950" y="3994150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sp>
        <p:nvSpPr>
          <p:cNvPr id="33827" name="Text Box 38"/>
          <p:cNvSpPr txBox="1">
            <a:spLocks noChangeArrowheads="1"/>
          </p:cNvSpPr>
          <p:nvPr/>
        </p:nvSpPr>
        <p:spPr bwMode="auto">
          <a:xfrm>
            <a:off x="1354138" y="3868738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4819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grpSp>
        <p:nvGrpSpPr>
          <p:cNvPr id="50179" name="Group 3"/>
          <p:cNvGrpSpPr/>
          <p:nvPr/>
        </p:nvGrpSpPr>
        <p:grpSpPr>
          <a:xfrm>
            <a:off x="3038475" y="3352800"/>
            <a:ext cx="817563" cy="795338"/>
            <a:chOff x="963" y="1131"/>
            <a:chExt cx="515" cy="501"/>
          </a:xfrm>
        </p:grpSpPr>
        <p:sp>
          <p:nvSpPr>
            <p:cNvPr id="50210" name="Oval 4"/>
            <p:cNvSpPr/>
            <p:nvPr/>
          </p:nvSpPr>
          <p:spPr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0211" name="Text Box 5"/>
            <p:cNvSpPr txBox="1"/>
            <p:nvPr/>
          </p:nvSpPr>
          <p:spPr>
            <a:xfrm>
              <a:off x="974" y="1153"/>
              <a:ext cx="50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</a:t>
              </a:r>
              <a:endParaRPr lang="en-US" altLang="zh-CN" sz="1400" dirty="0">
                <a:latin typeface="Arial" panose="020B0604020202090204" pitchFamily="34" charset="0"/>
              </a:endParaRPr>
            </a:p>
            <a:p>
              <a:r>
                <a:rPr lang="en-US" altLang="zh-CN" sz="1400" dirty="0">
                  <a:latin typeface="Arial" panose="020B0604020202090204" pitchFamily="34" charset="0"/>
                </a:rPr>
                <a:t>0 from below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0180" name="Line 6"/>
          <p:cNvSpPr/>
          <p:nvPr/>
        </p:nvSpPr>
        <p:spPr>
          <a:xfrm>
            <a:off x="2874963" y="2282825"/>
            <a:ext cx="419100" cy="1079500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50181" name="Freeform 7"/>
          <p:cNvSpPr/>
          <p:nvPr/>
        </p:nvSpPr>
        <p:spPr>
          <a:xfrm flipV="1">
            <a:off x="3556000" y="2600325"/>
            <a:ext cx="1590675" cy="7858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182" name="Text Box 8"/>
          <p:cNvSpPr txBox="1"/>
          <p:nvPr/>
        </p:nvSpPr>
        <p:spPr>
          <a:xfrm>
            <a:off x="6116638" y="2959100"/>
            <a:ext cx="3027362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make_pkt(NAK,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183" name="Text Box 9"/>
          <p:cNvSpPr txBox="1"/>
          <p:nvPr/>
        </p:nvSpPr>
        <p:spPr>
          <a:xfrm>
            <a:off x="6119813" y="3671888"/>
            <a:ext cx="2624137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not corrupt(rcvpkt) &amp;&amp;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has_seq0(rcvpkt)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0184" name="Line 10"/>
          <p:cNvSpPr/>
          <p:nvPr/>
        </p:nvSpPr>
        <p:spPr>
          <a:xfrm>
            <a:off x="6203950" y="4370388"/>
            <a:ext cx="193833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5" name="Freeform 11"/>
          <p:cNvSpPr/>
          <p:nvPr/>
        </p:nvSpPr>
        <p:spPr>
          <a:xfrm>
            <a:off x="3573463" y="4168775"/>
            <a:ext cx="1590675" cy="688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186" name="Text Box 12"/>
          <p:cNvSpPr txBox="1"/>
          <p:nvPr/>
        </p:nvSpPr>
        <p:spPr>
          <a:xfrm>
            <a:off x="2962275" y="4749800"/>
            <a:ext cx="358140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notcorrupt(rcvpkt)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&amp;&amp; has_seq1(rcvpkt)</a:t>
            </a:r>
            <a:r>
              <a:rPr lang="en-US" altLang="zh-CN" dirty="0">
                <a:latin typeface="Arial" panose="020B0604020202090204" pitchFamily="34" charset="0"/>
              </a:rPr>
              <a:t> 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0187" name="Line 13"/>
          <p:cNvSpPr/>
          <p:nvPr/>
        </p:nvSpPr>
        <p:spPr>
          <a:xfrm>
            <a:off x="3028950" y="5307013"/>
            <a:ext cx="289877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8" name="Text Box 14"/>
          <p:cNvSpPr txBox="1"/>
          <p:nvPr/>
        </p:nvSpPr>
        <p:spPr>
          <a:xfrm>
            <a:off x="2971800" y="5362575"/>
            <a:ext cx="3852863" cy="9937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extract(rcvpkt,data)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deliver_data(data)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make_pkt(ACK,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grpSp>
        <p:nvGrpSpPr>
          <p:cNvPr id="50189" name="Group 15"/>
          <p:cNvGrpSpPr/>
          <p:nvPr/>
        </p:nvGrpSpPr>
        <p:grpSpPr>
          <a:xfrm>
            <a:off x="4737100" y="3387725"/>
            <a:ext cx="825500" cy="796925"/>
            <a:chOff x="4398" y="3133"/>
            <a:chExt cx="520" cy="502"/>
          </a:xfrm>
        </p:grpSpPr>
        <p:sp>
          <p:nvSpPr>
            <p:cNvPr id="50208" name="Oval 16"/>
            <p:cNvSpPr/>
            <p:nvPr/>
          </p:nvSpPr>
          <p:spPr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0209" name="Text Box 17"/>
            <p:cNvSpPr txBox="1"/>
            <p:nvPr/>
          </p:nvSpPr>
          <p:spPr>
            <a:xfrm>
              <a:off x="4414" y="3163"/>
              <a:ext cx="50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</a:t>
              </a:r>
              <a:endParaRPr lang="en-US" altLang="zh-CN" sz="1400" dirty="0">
                <a:latin typeface="Arial" panose="020B0604020202090204" pitchFamily="34" charset="0"/>
              </a:endParaRPr>
            </a:p>
            <a:p>
              <a:r>
                <a:rPr lang="en-US" altLang="zh-CN" sz="1400" dirty="0">
                  <a:latin typeface="Arial" panose="020B0604020202090204" pitchFamily="34" charset="0"/>
                </a:rPr>
                <a:t>1 from below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0190" name="Freeform 18"/>
          <p:cNvSpPr/>
          <p:nvPr/>
        </p:nvSpPr>
        <p:spPr>
          <a:xfrm rot="-1361013">
            <a:off x="5437188" y="2979738"/>
            <a:ext cx="839787" cy="86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191" name="Text Box 19"/>
          <p:cNvSpPr txBox="1"/>
          <p:nvPr/>
        </p:nvSpPr>
        <p:spPr>
          <a:xfrm>
            <a:off x="3124200" y="1284288"/>
            <a:ext cx="398145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notcorrupt(rcvpkt)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&amp;&amp; has_seq0(rcvpkt) 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192" name="Line 20"/>
          <p:cNvSpPr/>
          <p:nvPr/>
        </p:nvSpPr>
        <p:spPr>
          <a:xfrm>
            <a:off x="3233738" y="1854200"/>
            <a:ext cx="19145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3" name="Text Box 21"/>
          <p:cNvSpPr txBox="1"/>
          <p:nvPr/>
        </p:nvSpPr>
        <p:spPr>
          <a:xfrm>
            <a:off x="3136900" y="1811338"/>
            <a:ext cx="3475038" cy="7048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extract(rcvpkt,data)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deliver_data(data)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make_pkt(ACK,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194" name="Freeform 22"/>
          <p:cNvSpPr/>
          <p:nvPr/>
        </p:nvSpPr>
        <p:spPr>
          <a:xfrm rot="1020547">
            <a:off x="5461000" y="3703638"/>
            <a:ext cx="839788" cy="86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195" name="Text Box 23"/>
          <p:cNvSpPr txBox="1"/>
          <p:nvPr/>
        </p:nvSpPr>
        <p:spPr>
          <a:xfrm>
            <a:off x="6067425" y="2662238"/>
            <a:ext cx="2871788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(corrupt(rcvpkt)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196" name="Line 24"/>
          <p:cNvSpPr/>
          <p:nvPr/>
        </p:nvSpPr>
        <p:spPr>
          <a:xfrm>
            <a:off x="6205538" y="2973388"/>
            <a:ext cx="1938337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7" name="Text Box 25"/>
          <p:cNvSpPr txBox="1"/>
          <p:nvPr/>
        </p:nvSpPr>
        <p:spPr>
          <a:xfrm>
            <a:off x="6075363" y="4424363"/>
            <a:ext cx="29400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make_pkt(ACK,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198" name="Text Box 26"/>
          <p:cNvSpPr txBox="1"/>
          <p:nvPr/>
        </p:nvSpPr>
        <p:spPr>
          <a:xfrm>
            <a:off x="193675" y="3651250"/>
            <a:ext cx="2624138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not corrupt(rcvpkt) &amp;&amp;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has_seq1(rcvpkt)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0199" name="Line 27"/>
          <p:cNvSpPr/>
          <p:nvPr/>
        </p:nvSpPr>
        <p:spPr>
          <a:xfrm>
            <a:off x="277813" y="4359275"/>
            <a:ext cx="1938337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0" name="Text Box 28"/>
          <p:cNvSpPr txBox="1"/>
          <p:nvPr/>
        </p:nvSpPr>
        <p:spPr>
          <a:xfrm>
            <a:off x="141288" y="2598738"/>
            <a:ext cx="2871787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(corrupt(rcvpkt)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201" name="Line 29"/>
          <p:cNvSpPr/>
          <p:nvPr/>
        </p:nvSpPr>
        <p:spPr>
          <a:xfrm>
            <a:off x="279400" y="2973388"/>
            <a:ext cx="193833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2" name="Text Box 30"/>
          <p:cNvSpPr txBox="1"/>
          <p:nvPr/>
        </p:nvSpPr>
        <p:spPr>
          <a:xfrm>
            <a:off x="225425" y="4381500"/>
            <a:ext cx="294005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make_pkt(ACK,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203" name="Text Box 31"/>
          <p:cNvSpPr txBox="1"/>
          <p:nvPr/>
        </p:nvSpPr>
        <p:spPr>
          <a:xfrm>
            <a:off x="201613" y="2940050"/>
            <a:ext cx="3027362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make_pkt(NAK, 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0204" name="Freeform 32"/>
          <p:cNvSpPr/>
          <p:nvPr/>
        </p:nvSpPr>
        <p:spPr>
          <a:xfrm rot="-1020547" flipH="1">
            <a:off x="2235200" y="3640138"/>
            <a:ext cx="839788" cy="86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0205" name="Freeform 33"/>
          <p:cNvSpPr/>
          <p:nvPr/>
        </p:nvSpPr>
        <p:spPr>
          <a:xfrm rot="1361013" flipH="1">
            <a:off x="2222500" y="2992438"/>
            <a:ext cx="839788" cy="8636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50206" name="Picture 34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63" y="825500"/>
            <a:ext cx="8228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4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85738"/>
            <a:ext cx="8324850" cy="9413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rdt2.1: receiver, handles garbled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ACK/NAKs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584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9088"/>
            <a:ext cx="7772400" cy="9525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rdt2.1: discussion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3584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sender: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seq # added to pkt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two seq. #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s (0,1) will suffice.  Why?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must check if received ACK/NAK corrupted 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twice as many states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state must </a:t>
            </a:r>
            <a:r>
              <a:rPr lang="ja-JP" altLang="en-US" dirty="0">
                <a:latin typeface="+mn-lt"/>
                <a:ea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</a:rPr>
              <a:t>remember</a:t>
            </a:r>
            <a:r>
              <a:rPr lang="ja-JP" altLang="en-US" dirty="0">
                <a:latin typeface="+mn-lt"/>
                <a:ea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</a:rPr>
              <a:t> whether </a:t>
            </a:r>
            <a:r>
              <a:rPr lang="ja-JP" altLang="en-US" dirty="0">
                <a:latin typeface="+mn-lt"/>
                <a:ea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</a:rPr>
              <a:t>expected</a:t>
            </a:r>
            <a:r>
              <a:rPr lang="ja-JP" altLang="en-US" dirty="0">
                <a:latin typeface="+mn-lt"/>
                <a:ea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</a:rPr>
              <a:t> pkt should have seq # of 0 or 1 </a:t>
            </a:r>
            <a:endParaRPr lang="en-US" altLang="ja-JP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35846" name="Rectangle 4"/>
          <p:cNvSpPr>
            <a:spLocks noGrp="1" noChangeArrowheads="1"/>
          </p:cNvSpPr>
          <p:nvPr>
            <p:ph sz="half" idx="2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sng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receiver: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must check if received packet is duplicate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state indicates whether 0 or 1 is expected pkt seq #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note: receiver can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not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know if its last ACK/NAK received OK at sender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51206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8013" y="1017588"/>
            <a:ext cx="4113212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52227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73088" y="922338"/>
            <a:ext cx="59420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0188"/>
            <a:ext cx="7772400" cy="9858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rdt2.2: a NAK-free protocol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19100" y="1581150"/>
            <a:ext cx="8064500" cy="2749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same functionality as rdt2.1, using ACKs only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instead of NAK, receiver sends ACK for last pkt received OK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receiver must </a:t>
            </a: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explicitly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include seq # of pkt being ACKed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duplicate ACK at sender results in same action as NAK: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retransmit current pkt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7891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53251" name="Picture 4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60388" y="804863"/>
            <a:ext cx="63992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174625"/>
            <a:ext cx="7772400" cy="885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rdt2.2: sender, receiver fragments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grpSp>
        <p:nvGrpSpPr>
          <p:cNvPr id="53253" name="Group 3"/>
          <p:cNvGrpSpPr/>
          <p:nvPr/>
        </p:nvGrpSpPr>
        <p:grpSpPr>
          <a:xfrm>
            <a:off x="2427288" y="1238250"/>
            <a:ext cx="6508750" cy="2841625"/>
            <a:chOff x="1529" y="780"/>
            <a:chExt cx="4100" cy="1790"/>
          </a:xfrm>
        </p:grpSpPr>
        <p:grpSp>
          <p:nvGrpSpPr>
            <p:cNvPr id="53271" name="Group 4"/>
            <p:cNvGrpSpPr/>
            <p:nvPr/>
          </p:nvGrpSpPr>
          <p:grpSpPr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53288" name="Oval 5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dirty="0">
                  <a:latin typeface="Tahoma" panose="020B0604030504040204" charset="0"/>
                </a:endParaRPr>
              </a:p>
            </p:txBody>
          </p:sp>
          <p:sp>
            <p:nvSpPr>
              <p:cNvPr id="53289" name="Text Box 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sz="1400" dirty="0">
                    <a:latin typeface="Arial" panose="020B0604020202090204" pitchFamily="34" charset="0"/>
                  </a:rPr>
                  <a:t>Wait for call 0 from above</a:t>
                </a:r>
                <a:endParaRPr lang="en-US" altLang="zh-CN" sz="1400" dirty="0">
                  <a:latin typeface="Times New Roman" panose="02020503050405090304" charset="0"/>
                </a:endParaRPr>
              </a:p>
            </p:txBody>
          </p:sp>
        </p:grpSp>
        <p:sp>
          <p:nvSpPr>
            <p:cNvPr id="53272" name="Text Box 7"/>
            <p:cNvSpPr txBox="1"/>
            <p:nvPr/>
          </p:nvSpPr>
          <p:spPr>
            <a:xfrm>
              <a:off x="1863" y="957"/>
              <a:ext cx="234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sndpkt = make_pkt(0, data, checksum)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udt_send(sndpkt)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53273" name="Text Box 8"/>
            <p:cNvSpPr txBox="1"/>
            <p:nvPr/>
          </p:nvSpPr>
          <p:spPr>
            <a:xfrm>
              <a:off x="1871" y="780"/>
              <a:ext cx="108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rdt_send(data)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53274" name="Line 9"/>
            <p:cNvSpPr/>
            <p:nvPr/>
          </p:nvSpPr>
          <p:spPr>
            <a:xfrm>
              <a:off x="1910" y="992"/>
              <a:ext cx="223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5" name="Line 10"/>
            <p:cNvSpPr/>
            <p:nvPr/>
          </p:nvSpPr>
          <p:spPr>
            <a:xfrm>
              <a:off x="1529" y="1313"/>
              <a:ext cx="264" cy="14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53276" name="Freeform 11"/>
            <p:cNvSpPr/>
            <p:nvPr/>
          </p:nvSpPr>
          <p:spPr>
            <a:xfrm flipV="1">
              <a:off x="2096" y="1272"/>
              <a:ext cx="1195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</a:cxnLst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77" name="Freeform 12"/>
            <p:cNvSpPr/>
            <p:nvPr/>
          </p:nvSpPr>
          <p:spPr>
            <a:xfrm rot="-1357180">
              <a:off x="3655" y="1225"/>
              <a:ext cx="285" cy="54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78" name="Text Box 13"/>
            <p:cNvSpPr txBox="1"/>
            <p:nvPr/>
          </p:nvSpPr>
          <p:spPr>
            <a:xfrm>
              <a:off x="3978" y="1670"/>
              <a:ext cx="133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udt_send(sndpkt)</a:t>
              </a:r>
              <a:endParaRPr lang="en-US" altLang="zh-CN" b="1" dirty="0">
                <a:solidFill>
                  <a:srgbClr val="FF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53279" name="Text Box 14"/>
            <p:cNvSpPr txBox="1"/>
            <p:nvPr/>
          </p:nvSpPr>
          <p:spPr>
            <a:xfrm>
              <a:off x="3917" y="1174"/>
              <a:ext cx="1712" cy="3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&amp;&amp; 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( corrupt(rcvpkt) ||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isACK(rcvpkt,1)</a:t>
              </a:r>
              <a:r>
                <a:rPr lang="en-US" altLang="zh-CN" dirty="0">
                  <a:latin typeface="Arial" panose="020B0604020202090204" pitchFamily="34" charset="0"/>
                </a:rPr>
                <a:t> 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53280" name="Line 15"/>
            <p:cNvSpPr/>
            <p:nvPr/>
          </p:nvSpPr>
          <p:spPr>
            <a:xfrm flipV="1">
              <a:off x="4043" y="1666"/>
              <a:ext cx="895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1" name="Freeform 16"/>
            <p:cNvSpPr/>
            <p:nvPr/>
          </p:nvSpPr>
          <p:spPr>
            <a:xfrm>
              <a:off x="3747" y="1792"/>
              <a:ext cx="128" cy="774"/>
            </a:xfrm>
            <a:custGeom>
              <a:avLst/>
              <a:gdLst/>
              <a:ahLst/>
              <a:cxnLst>
                <a:cxn ang="0">
                  <a:pos x="67" y="774"/>
                </a:cxn>
                <a:cxn ang="0">
                  <a:pos x="0" y="0"/>
                </a:cxn>
              </a:cxnLst>
              <a:pathLst>
                <a:path w="128" h="774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3282" name="Text Box 17"/>
            <p:cNvSpPr txBox="1"/>
            <p:nvPr/>
          </p:nvSpPr>
          <p:spPr>
            <a:xfrm>
              <a:off x="3838" y="2051"/>
              <a:ext cx="1520" cy="3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 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&amp;&amp; notcorrupt(rcvpkt)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&amp;&amp; 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isACK(rcvpkt,0)</a:t>
              </a:r>
              <a:r>
                <a:rPr lang="en-US" altLang="zh-CN" sz="1000" dirty="0">
                  <a:latin typeface="Arial" panose="020B0604020202090204" pitchFamily="34" charset="0"/>
                </a:rPr>
                <a:t> </a:t>
              </a:r>
              <a:endParaRPr lang="en-US" altLang="zh-CN" sz="2400" dirty="0">
                <a:latin typeface="Times New Roman" panose="02020503050405090304" charset="0"/>
              </a:endParaRPr>
            </a:p>
          </p:txBody>
        </p:sp>
        <p:sp>
          <p:nvSpPr>
            <p:cNvPr id="53283" name="Line 18"/>
            <p:cNvSpPr/>
            <p:nvPr/>
          </p:nvSpPr>
          <p:spPr>
            <a:xfrm>
              <a:off x="3894" y="2570"/>
              <a:ext cx="117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3284" name="Group 19"/>
            <p:cNvGrpSpPr/>
            <p:nvPr/>
          </p:nvGrpSpPr>
          <p:grpSpPr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53286" name="Oval 20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dirty="0">
                  <a:latin typeface="Tahoma" panose="020B0604030504040204" charset="0"/>
                </a:endParaRPr>
              </a:p>
            </p:txBody>
          </p:sp>
          <p:sp>
            <p:nvSpPr>
              <p:cNvPr id="53287" name="Text Box 21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sz="1400" dirty="0">
                    <a:latin typeface="Arial" panose="020B0604020202090204" pitchFamily="34" charset="0"/>
                  </a:rPr>
                  <a:t>Wait for ACK</a:t>
                </a:r>
                <a:endParaRPr lang="en-US" altLang="zh-CN" sz="1400" dirty="0">
                  <a:latin typeface="Arial" panose="020B0604020202090204" pitchFamily="34" charset="0"/>
                </a:endParaRPr>
              </a:p>
              <a:p>
                <a:r>
                  <a:rPr lang="en-US" altLang="zh-CN" sz="1400" dirty="0">
                    <a:latin typeface="Arial" panose="020B0604020202090204" pitchFamily="34" charset="0"/>
                  </a:rPr>
                  <a:t>0</a:t>
                </a:r>
                <a:endParaRPr lang="en-US" altLang="zh-CN" sz="1400" dirty="0">
                  <a:latin typeface="Times New Roman" panose="02020503050405090304" charset="0"/>
                </a:endParaRPr>
              </a:p>
            </p:txBody>
          </p:sp>
        </p:grpSp>
        <p:sp>
          <p:nvSpPr>
            <p:cNvPr id="37926" name="Text Box 22"/>
            <p:cNvSpPr txBox="1">
              <a:spLocks noChangeArrowheads="1"/>
            </p:cNvSpPr>
            <p:nvPr/>
          </p:nvSpPr>
          <p:spPr bwMode="auto"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sender FSM</a:t>
              </a:r>
              <a:endPara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fragment</a:t>
              </a:r>
              <a:endPara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37895" name="Line 23"/>
          <p:cNvSpPr>
            <a:spLocks noChangeShapeType="1"/>
          </p:cNvSpPr>
          <p:nvPr/>
        </p:nvSpPr>
        <p:spPr bwMode="auto">
          <a:xfrm>
            <a:off x="665163" y="2603500"/>
            <a:ext cx="7883525" cy="27574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46136" name="Group 24"/>
          <p:cNvGrpSpPr/>
          <p:nvPr/>
        </p:nvGrpSpPr>
        <p:grpSpPr>
          <a:xfrm>
            <a:off x="0" y="3824288"/>
            <a:ext cx="7234238" cy="2535237"/>
            <a:chOff x="0" y="2409"/>
            <a:chExt cx="4557" cy="1597"/>
          </a:xfrm>
        </p:grpSpPr>
        <p:sp>
          <p:nvSpPr>
            <p:cNvPr id="53256" name="Text Box 25"/>
            <p:cNvSpPr txBox="1"/>
            <p:nvPr/>
          </p:nvSpPr>
          <p:spPr>
            <a:xfrm>
              <a:off x="1849" y="3217"/>
              <a:ext cx="2482" cy="3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rdt_rcv(rcvpkt) &amp;&amp; notcorrupt(rcvpkt)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&amp;&amp; has_seq1(rcvpkt) 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sp>
          <p:nvSpPr>
            <p:cNvPr id="53257" name="Text Box 26"/>
            <p:cNvSpPr txBox="1"/>
            <p:nvPr/>
          </p:nvSpPr>
          <p:spPr>
            <a:xfrm>
              <a:off x="1829" y="3568"/>
              <a:ext cx="2630" cy="4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extract(rcvpkt,data)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deliver_data(data)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b="1" dirty="0">
                  <a:solidFill>
                    <a:srgbClr val="FF0000"/>
                  </a:solidFill>
                  <a:latin typeface="Arial" panose="020B0604020202090204" pitchFamily="34" charset="0"/>
                </a:rPr>
                <a:t>sndpkt = make_pkt(ACK1, chksum)</a:t>
              </a:r>
              <a:endParaRPr lang="en-US" altLang="zh-CN" b="1" dirty="0">
                <a:solidFill>
                  <a:srgbClr val="FF0000"/>
                </a:solidFill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udt_send(sndpkt)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  <p:grpSp>
          <p:nvGrpSpPr>
            <p:cNvPr id="53258" name="Group 27"/>
            <p:cNvGrpSpPr/>
            <p:nvPr/>
          </p:nvGrpSpPr>
          <p:grpSpPr>
            <a:xfrm>
              <a:off x="0" y="2409"/>
              <a:ext cx="3510" cy="1168"/>
              <a:chOff x="0" y="2409"/>
              <a:chExt cx="3510" cy="1168"/>
            </a:xfrm>
          </p:grpSpPr>
          <p:grpSp>
            <p:nvGrpSpPr>
              <p:cNvPr id="53260" name="Group 28"/>
              <p:cNvGrpSpPr/>
              <p:nvPr/>
            </p:nvGrpSpPr>
            <p:grpSpPr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53269" name="Oval 29"/>
                <p:cNvSpPr/>
                <p:nvPr/>
              </p:nvSpPr>
              <p:spPr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w="190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dirty="0">
                    <a:latin typeface="Tahoma" panose="020B0604030504040204" charset="0"/>
                  </a:endParaRPr>
                </a:p>
              </p:txBody>
            </p:sp>
            <p:sp>
              <p:nvSpPr>
                <p:cNvPr id="53270" name="Text Box 30"/>
                <p:cNvSpPr txBox="1"/>
                <p:nvPr/>
              </p:nvSpPr>
              <p:spPr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r>
                    <a:rPr lang="en-US" altLang="zh-CN" sz="1400" dirty="0">
                      <a:latin typeface="Arial" panose="020B0604020202090204" pitchFamily="34" charset="0"/>
                    </a:rPr>
                    <a:t>Wait for </a:t>
                  </a:r>
                  <a:endParaRPr lang="en-US" altLang="zh-CN" sz="1400" dirty="0">
                    <a:latin typeface="Arial" panose="020B0604020202090204" pitchFamily="34" charset="0"/>
                  </a:endParaRPr>
                </a:p>
                <a:p>
                  <a:r>
                    <a:rPr lang="en-US" altLang="zh-CN" sz="1400" dirty="0">
                      <a:latin typeface="Arial" panose="020B0604020202090204" pitchFamily="34" charset="0"/>
                    </a:rPr>
                    <a:t>0 from below</a:t>
                  </a:r>
                  <a:endParaRPr lang="en-US" altLang="zh-CN" sz="1400" dirty="0">
                    <a:latin typeface="Times New Roman" panose="02020503050405090304" charset="0"/>
                  </a:endParaRPr>
                </a:p>
              </p:txBody>
            </p:sp>
          </p:grpSp>
          <p:sp>
            <p:nvSpPr>
              <p:cNvPr id="53261" name="Freeform 31"/>
              <p:cNvSpPr/>
              <p:nvPr/>
            </p:nvSpPr>
            <p:spPr>
              <a:xfrm>
                <a:off x="1925" y="2618"/>
                <a:ext cx="520" cy="117"/>
              </a:xfrm>
              <a:custGeom>
                <a:avLst/>
                <a:gdLst/>
                <a:ahLst/>
                <a:cxnLst>
                  <a:cxn ang="0">
                    <a:pos x="0" y="117"/>
                  </a:cxn>
                  <a:cxn ang="0">
                    <a:pos x="520" y="17"/>
                  </a:cxn>
                </a:cxnLst>
                <a:pathLst>
                  <a:path w="520" h="117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62" name="Freeform 32"/>
              <p:cNvSpPr/>
              <p:nvPr/>
            </p:nvSpPr>
            <p:spPr>
              <a:xfrm>
                <a:off x="1996" y="3125"/>
                <a:ext cx="1514" cy="1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14" y="17"/>
                  </a:cxn>
                </a:cxnLst>
                <a:pathLst>
                  <a:path w="1514" h="130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63" name="Line 33"/>
              <p:cNvSpPr/>
              <p:nvPr/>
            </p:nvSpPr>
            <p:spPr>
              <a:xfrm>
                <a:off x="1919" y="3577"/>
                <a:ext cx="1206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64" name="Freeform 34"/>
              <p:cNvSpPr/>
              <p:nvPr/>
            </p:nvSpPr>
            <p:spPr>
              <a:xfrm flipH="1">
                <a:off x="1237" y="2468"/>
                <a:ext cx="309" cy="8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619" h="1815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65" name="Line 35"/>
              <p:cNvSpPr/>
              <p:nvPr/>
            </p:nvSpPr>
            <p:spPr>
              <a:xfrm>
                <a:off x="57" y="2936"/>
                <a:ext cx="121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66" name="Text Box 36"/>
              <p:cNvSpPr txBox="1"/>
              <p:nvPr/>
            </p:nvSpPr>
            <p:spPr>
              <a:xfrm>
                <a:off x="6" y="2409"/>
                <a:ext cx="1487" cy="4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l"/>
                <a:r>
                  <a:rPr lang="en-US" altLang="zh-CN" dirty="0">
                    <a:latin typeface="Arial" panose="020B0604020202090204" pitchFamily="34" charset="0"/>
                  </a:rPr>
                  <a:t>rdt_rcv(rcvpkt) &amp;&amp; </a:t>
                </a:r>
                <a:endParaRPr lang="en-US" altLang="zh-CN" dirty="0">
                  <a:latin typeface="Arial" panose="020B0604020202090204" pitchFamily="34" charset="0"/>
                </a:endParaRPr>
              </a:p>
              <a:p>
                <a:pPr algn="l"/>
                <a:r>
                  <a:rPr lang="en-US" altLang="zh-CN" dirty="0">
                    <a:latin typeface="Arial" panose="020B0604020202090204" pitchFamily="34" charset="0"/>
                  </a:rPr>
                  <a:t>   (corrupt(rcvpkt) ||</a:t>
                </a:r>
                <a:endParaRPr lang="en-US" altLang="zh-CN" dirty="0">
                  <a:latin typeface="Arial" panose="020B0604020202090204" pitchFamily="34" charset="0"/>
                </a:endParaRPr>
              </a:p>
              <a:p>
                <a:pPr algn="l"/>
                <a:r>
                  <a:rPr lang="en-US" altLang="zh-CN" dirty="0">
                    <a:latin typeface="Arial" panose="020B0604020202090204" pitchFamily="34" charset="0"/>
                  </a:rPr>
                  <a:t>    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90204" pitchFamily="34" charset="0"/>
                  </a:rPr>
                  <a:t>has_seq1(rcvpkt))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53267" name="Text Box 37"/>
              <p:cNvSpPr txBox="1"/>
              <p:nvPr/>
            </p:nvSpPr>
            <p:spPr>
              <a:xfrm>
                <a:off x="0" y="2954"/>
                <a:ext cx="1284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l"/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90204" pitchFamily="34" charset="0"/>
                  </a:rPr>
                  <a:t>udt_send(sndpkt)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37909" name="Text Box 38"/>
              <p:cNvSpPr txBox="1">
                <a:spLocks noChangeArrowheads="1"/>
              </p:cNvSpPr>
              <p:nvPr/>
            </p:nvSpPr>
            <p:spPr bwMode="auto"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0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receiver FSM</a:t>
                </a:r>
                <a:endPara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0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fragment</a:t>
                </a:r>
                <a:endPara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37900" name="Text Box 39"/>
            <p:cNvSpPr txBox="1">
              <a:spLocks noChangeArrowheads="1"/>
            </p:cNvSpPr>
            <p:nvPr/>
          </p:nvSpPr>
          <p:spPr bwMode="auto"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charset="0"/>
                  <a:ea typeface="MS PGothic" charset="0"/>
                  <a:cs typeface="+mn-cs"/>
                </a:rPr>
                <a:t>L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891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219075"/>
            <a:ext cx="7772400" cy="963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rdt3.0: channels with errors </a:t>
            </a:r>
            <a:r>
              <a:rPr kumimoji="0" lang="en-US" sz="36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and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 loss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new assumption: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underlying channel can also lose packets (data, ACKs)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lnSpc>
                <a:spcPct val="90000"/>
              </a:lnSpc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checksum, seq. #, ACKs, retransmissions will be of help … but not enough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34509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09575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approach: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sender waits 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reasonable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 amount of time for ACK 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retransmits if no ACK received in this time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if pkt (or ACK) just delayed (not lost):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retransmission will be  duplicate, but seq. #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s already handles this</a:t>
            </a:r>
            <a:endParaRPr lang="en-US" altLang="ja-JP" sz="2000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receiver must specify seq # of pkt being ACKed</a:t>
            </a:r>
            <a:endParaRPr lang="en-US" altLang="zh-CN" sz="2000" dirty="0">
              <a:latin typeface="+mn-lt"/>
              <a:ea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requires countdown timer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54278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81025" y="879475"/>
            <a:ext cx="6856413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9939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242888"/>
            <a:ext cx="3560763" cy="8937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rdt3.0 sender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5300" name="Text Box 3"/>
          <p:cNvSpPr txBox="1"/>
          <p:nvPr/>
        </p:nvSpPr>
        <p:spPr>
          <a:xfrm>
            <a:off x="3019425" y="1384300"/>
            <a:ext cx="3860800" cy="5619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make_pkt(0, data, checksum)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start_timer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01" name="Text Box 4"/>
          <p:cNvSpPr txBox="1"/>
          <p:nvPr/>
        </p:nvSpPr>
        <p:spPr>
          <a:xfrm>
            <a:off x="3060700" y="1090613"/>
            <a:ext cx="1724025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rdt_send(data)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02" name="Line 5"/>
          <p:cNvSpPr/>
          <p:nvPr/>
        </p:nvSpPr>
        <p:spPr>
          <a:xfrm>
            <a:off x="3162300" y="14287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3" name="Line 6"/>
          <p:cNvSpPr/>
          <p:nvPr/>
        </p:nvSpPr>
        <p:spPr>
          <a:xfrm>
            <a:off x="2749550" y="1544638"/>
            <a:ext cx="157163" cy="576262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grpSp>
        <p:nvGrpSpPr>
          <p:cNvPr id="55304" name="Group 7"/>
          <p:cNvGrpSpPr/>
          <p:nvPr/>
        </p:nvGrpSpPr>
        <p:grpSpPr>
          <a:xfrm>
            <a:off x="5360988" y="2090738"/>
            <a:ext cx="889000" cy="865187"/>
            <a:chOff x="445" y="1273"/>
            <a:chExt cx="560" cy="545"/>
          </a:xfrm>
        </p:grpSpPr>
        <p:sp>
          <p:nvSpPr>
            <p:cNvPr id="55352" name="Oval 8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5353" name="Text Box 9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ACK0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5305" name="Freeform 10"/>
          <p:cNvSpPr/>
          <p:nvPr/>
        </p:nvSpPr>
        <p:spPr>
          <a:xfrm flipV="1">
            <a:off x="3384550" y="2071688"/>
            <a:ext cx="2090738" cy="1635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06" name="Freeform 11"/>
          <p:cNvSpPr/>
          <p:nvPr/>
        </p:nvSpPr>
        <p:spPr>
          <a:xfrm>
            <a:off x="6069013" y="1674813"/>
            <a:ext cx="871537" cy="6667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549" h="420">
                <a:moveTo>
                  <a:pt x="0" y="306"/>
                </a:moveTo>
                <a:cubicBezTo>
                  <a:pt x="78" y="0"/>
                  <a:pt x="549" y="315"/>
                  <a:pt x="87" y="42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07" name="Text Box 12"/>
          <p:cNvSpPr txBox="1"/>
          <p:nvPr/>
        </p:nvSpPr>
        <p:spPr>
          <a:xfrm>
            <a:off x="6481763" y="1196975"/>
            <a:ext cx="1704975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( corrupt(rcvpkt) ||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isACK(rcvpkt,1) 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08" name="Line 13"/>
          <p:cNvSpPr/>
          <p:nvPr/>
        </p:nvSpPr>
        <p:spPr>
          <a:xfrm>
            <a:off x="6691313" y="1898650"/>
            <a:ext cx="1350962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5309" name="Group 14"/>
          <p:cNvGrpSpPr/>
          <p:nvPr/>
        </p:nvGrpSpPr>
        <p:grpSpPr>
          <a:xfrm>
            <a:off x="5453063" y="4005263"/>
            <a:ext cx="1189037" cy="850900"/>
            <a:chOff x="4090" y="3230"/>
            <a:chExt cx="749" cy="536"/>
          </a:xfrm>
        </p:grpSpPr>
        <p:sp>
          <p:nvSpPr>
            <p:cNvPr id="55350" name="Oval 15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5351" name="Text Box 16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</a:t>
              </a:r>
              <a:endParaRPr lang="en-US" altLang="zh-CN" sz="1400" dirty="0">
                <a:latin typeface="Arial" panose="020B0604020202090204" pitchFamily="34" charset="0"/>
              </a:endParaRPr>
            </a:p>
            <a:p>
              <a:r>
                <a:rPr lang="en-US" altLang="zh-CN" sz="1400" dirty="0">
                  <a:latin typeface="Arial" panose="020B0604020202090204" pitchFamily="34" charset="0"/>
                </a:rPr>
                <a:t>call 1 from above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5310" name="Freeform 17"/>
          <p:cNvSpPr/>
          <p:nvPr/>
        </p:nvSpPr>
        <p:spPr>
          <a:xfrm rot="-5400000" flipV="1">
            <a:off x="2139950" y="3402013"/>
            <a:ext cx="1254125" cy="1508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11" name="Freeform 18"/>
          <p:cNvSpPr/>
          <p:nvPr/>
        </p:nvSpPr>
        <p:spPr>
          <a:xfrm>
            <a:off x="3370263" y="4738688"/>
            <a:ext cx="2312987" cy="2746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12" name="Freeform 19"/>
          <p:cNvSpPr/>
          <p:nvPr/>
        </p:nvSpPr>
        <p:spPr>
          <a:xfrm rot="5400000" flipH="1" flipV="1">
            <a:off x="5610225" y="3327400"/>
            <a:ext cx="1184275" cy="1666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</a:cxnLst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13" name="Text Box 20"/>
          <p:cNvSpPr txBox="1"/>
          <p:nvPr/>
        </p:nvSpPr>
        <p:spPr>
          <a:xfrm>
            <a:off x="3316288" y="5224463"/>
            <a:ext cx="3444875" cy="552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make_pkt(1, data, checksum)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start_timer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14" name="Text Box 21"/>
          <p:cNvSpPr txBox="1"/>
          <p:nvPr/>
        </p:nvSpPr>
        <p:spPr>
          <a:xfrm>
            <a:off x="3316288" y="4941888"/>
            <a:ext cx="1724025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rdt_send(data)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15" name="Line 22"/>
          <p:cNvSpPr/>
          <p:nvPr/>
        </p:nvSpPr>
        <p:spPr>
          <a:xfrm>
            <a:off x="3435350" y="5253038"/>
            <a:ext cx="2598738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6" name="Text Box 23"/>
          <p:cNvSpPr txBox="1"/>
          <p:nvPr/>
        </p:nvSpPr>
        <p:spPr>
          <a:xfrm>
            <a:off x="6280150" y="3106738"/>
            <a:ext cx="2149475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 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&amp;&amp; notcorrupt(rcvpkt)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&amp;&amp; isACK(rcvpkt,0)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55317" name="Line 24"/>
          <p:cNvSpPr/>
          <p:nvPr/>
        </p:nvSpPr>
        <p:spPr>
          <a:xfrm>
            <a:off x="6396038" y="3817938"/>
            <a:ext cx="14192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18" name="Text Box 25"/>
          <p:cNvSpPr txBox="1"/>
          <p:nvPr/>
        </p:nvSpPr>
        <p:spPr>
          <a:xfrm>
            <a:off x="1290638" y="5062538"/>
            <a:ext cx="1622425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( corrupt(rcvpkt) ||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isACK(rcvpkt,0) 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19" name="Line 26"/>
          <p:cNvSpPr/>
          <p:nvPr/>
        </p:nvSpPr>
        <p:spPr>
          <a:xfrm>
            <a:off x="1393825" y="5788025"/>
            <a:ext cx="12541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0" name="Text Box 27"/>
          <p:cNvSpPr txBox="1"/>
          <p:nvPr/>
        </p:nvSpPr>
        <p:spPr>
          <a:xfrm>
            <a:off x="908050" y="2865438"/>
            <a:ext cx="1912938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 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&amp;&amp; notcorrupt(rcvpkt)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&amp;&amp; isACK(rcvpkt,1)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55321" name="Line 28"/>
          <p:cNvSpPr/>
          <p:nvPr/>
        </p:nvSpPr>
        <p:spPr>
          <a:xfrm>
            <a:off x="1035050" y="3605213"/>
            <a:ext cx="151765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2" name="Text Box 29"/>
          <p:cNvSpPr txBox="1"/>
          <p:nvPr/>
        </p:nvSpPr>
        <p:spPr>
          <a:xfrm>
            <a:off x="6300788" y="3798888"/>
            <a:ext cx="1514475" cy="1793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stop_timer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23" name="Text Box 30"/>
          <p:cNvSpPr txBox="1"/>
          <p:nvPr/>
        </p:nvSpPr>
        <p:spPr>
          <a:xfrm>
            <a:off x="900113" y="3578225"/>
            <a:ext cx="1514475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stop_timer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24" name="Freeform 31"/>
          <p:cNvSpPr/>
          <p:nvPr/>
        </p:nvSpPr>
        <p:spPr>
          <a:xfrm>
            <a:off x="6238875" y="2338388"/>
            <a:ext cx="461963" cy="6826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</a:cxnLst>
            <a:pathLst>
              <a:path w="291" h="430">
                <a:moveTo>
                  <a:pt x="0" y="120"/>
                </a:moveTo>
                <a:cubicBezTo>
                  <a:pt x="291" y="0"/>
                  <a:pt x="259" y="430"/>
                  <a:pt x="15" y="25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25" name="Text Box 32"/>
          <p:cNvSpPr txBox="1"/>
          <p:nvPr/>
        </p:nvSpPr>
        <p:spPr>
          <a:xfrm>
            <a:off x="6570663" y="2516188"/>
            <a:ext cx="2116137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start_timer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26" name="Text Box 33"/>
          <p:cNvSpPr txBox="1"/>
          <p:nvPr/>
        </p:nvSpPr>
        <p:spPr>
          <a:xfrm>
            <a:off x="6592888" y="2279650"/>
            <a:ext cx="1114425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timeout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27" name="Line 34"/>
          <p:cNvSpPr/>
          <p:nvPr/>
        </p:nvSpPr>
        <p:spPr>
          <a:xfrm>
            <a:off x="6681788" y="25336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28" name="Freeform 35"/>
          <p:cNvSpPr/>
          <p:nvPr/>
        </p:nvSpPr>
        <p:spPr>
          <a:xfrm>
            <a:off x="2230438" y="4702175"/>
            <a:ext cx="692150" cy="6318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436" h="398">
                <a:moveTo>
                  <a:pt x="436" y="101"/>
                </a:moveTo>
                <a:cubicBezTo>
                  <a:pt x="367" y="398"/>
                  <a:pt x="0" y="31"/>
                  <a:pt x="300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29" name="Freeform 36"/>
          <p:cNvSpPr/>
          <p:nvPr/>
        </p:nvSpPr>
        <p:spPr>
          <a:xfrm>
            <a:off x="2030413" y="4413250"/>
            <a:ext cx="571500" cy="420688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900" h="662">
                <a:moveTo>
                  <a:pt x="900" y="360"/>
                </a:moveTo>
                <a:cubicBezTo>
                  <a:pt x="171" y="662"/>
                  <a:pt x="0" y="0"/>
                  <a:pt x="825" y="1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30" name="Text Box 37"/>
          <p:cNvSpPr txBox="1"/>
          <p:nvPr/>
        </p:nvSpPr>
        <p:spPr>
          <a:xfrm>
            <a:off x="628650" y="4460875"/>
            <a:ext cx="1824038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start_timer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31" name="Text Box 38"/>
          <p:cNvSpPr txBox="1"/>
          <p:nvPr/>
        </p:nvSpPr>
        <p:spPr>
          <a:xfrm>
            <a:off x="642938" y="4206875"/>
            <a:ext cx="1114425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timeout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32" name="Line 39"/>
          <p:cNvSpPr/>
          <p:nvPr/>
        </p:nvSpPr>
        <p:spPr>
          <a:xfrm>
            <a:off x="746125" y="4489450"/>
            <a:ext cx="990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33" name="Freeform 40"/>
          <p:cNvSpPr/>
          <p:nvPr/>
        </p:nvSpPr>
        <p:spPr>
          <a:xfrm>
            <a:off x="6426200" y="4373563"/>
            <a:ext cx="579438" cy="8905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34" name="Text Box 41"/>
          <p:cNvSpPr txBox="1"/>
          <p:nvPr/>
        </p:nvSpPr>
        <p:spPr>
          <a:xfrm>
            <a:off x="1036638" y="1874838"/>
            <a:ext cx="142875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grpSp>
        <p:nvGrpSpPr>
          <p:cNvPr id="55335" name="Group 42"/>
          <p:cNvGrpSpPr/>
          <p:nvPr/>
        </p:nvGrpSpPr>
        <p:grpSpPr>
          <a:xfrm>
            <a:off x="2419350" y="2135188"/>
            <a:ext cx="1189038" cy="850900"/>
            <a:chOff x="4090" y="3230"/>
            <a:chExt cx="749" cy="536"/>
          </a:xfrm>
        </p:grpSpPr>
        <p:sp>
          <p:nvSpPr>
            <p:cNvPr id="55348" name="Oval 43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5349" name="Text Box 44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</a:t>
              </a:r>
              <a:endParaRPr lang="en-US" altLang="zh-CN" sz="1400" dirty="0">
                <a:latin typeface="Arial" panose="020B0604020202090204" pitchFamily="34" charset="0"/>
              </a:endParaRPr>
            </a:p>
            <a:p>
              <a:r>
                <a:rPr lang="en-US" altLang="zh-CN" sz="1400" dirty="0">
                  <a:latin typeface="Arial" panose="020B0604020202090204" pitchFamily="34" charset="0"/>
                </a:rPr>
                <a:t>call 0from above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5336" name="Line 45"/>
          <p:cNvSpPr/>
          <p:nvPr/>
        </p:nvSpPr>
        <p:spPr>
          <a:xfrm>
            <a:off x="1123950" y="2160588"/>
            <a:ext cx="11017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5337" name="Group 46"/>
          <p:cNvGrpSpPr/>
          <p:nvPr/>
        </p:nvGrpSpPr>
        <p:grpSpPr>
          <a:xfrm>
            <a:off x="2630488" y="3989388"/>
            <a:ext cx="889000" cy="865187"/>
            <a:chOff x="445" y="1273"/>
            <a:chExt cx="560" cy="545"/>
          </a:xfrm>
        </p:grpSpPr>
        <p:sp>
          <p:nvSpPr>
            <p:cNvPr id="55346" name="Oval 4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55347" name="Text Box 48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1400" dirty="0">
                  <a:latin typeface="Arial" panose="020B0604020202090204" pitchFamily="34" charset="0"/>
                </a:rPr>
                <a:t>Wait for ACK1</a:t>
              </a:r>
              <a:endParaRPr lang="en-US" altLang="zh-CN" sz="1400" dirty="0">
                <a:latin typeface="Times New Roman" panose="02020503050405090304" charset="0"/>
              </a:endParaRPr>
            </a:p>
          </p:txBody>
        </p:sp>
      </p:grpSp>
      <p:sp>
        <p:nvSpPr>
          <p:cNvPr id="55338" name="Freeform 49"/>
          <p:cNvSpPr/>
          <p:nvPr/>
        </p:nvSpPr>
        <p:spPr>
          <a:xfrm flipH="1" flipV="1">
            <a:off x="2006600" y="1782763"/>
            <a:ext cx="579438" cy="8905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9980" name="Text Box 50"/>
          <p:cNvSpPr txBox="1">
            <a:spLocks noChangeArrowheads="1"/>
          </p:cNvSpPr>
          <p:nvPr/>
        </p:nvSpPr>
        <p:spPr bwMode="auto">
          <a:xfrm>
            <a:off x="7224713" y="4852988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sp>
        <p:nvSpPr>
          <p:cNvPr id="55340" name="Text Box 51"/>
          <p:cNvSpPr txBox="1"/>
          <p:nvPr/>
        </p:nvSpPr>
        <p:spPr>
          <a:xfrm>
            <a:off x="6757988" y="4603750"/>
            <a:ext cx="142875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55341" name="Line 52"/>
          <p:cNvSpPr/>
          <p:nvPr/>
        </p:nvSpPr>
        <p:spPr>
          <a:xfrm>
            <a:off x="6845300" y="4889500"/>
            <a:ext cx="11017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83" name="Text Box 53"/>
          <p:cNvSpPr txBox="1">
            <a:spLocks noChangeArrowheads="1"/>
          </p:cNvSpPr>
          <p:nvPr/>
        </p:nvSpPr>
        <p:spPr bwMode="auto">
          <a:xfrm>
            <a:off x="7127875" y="1847850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sp>
        <p:nvSpPr>
          <p:cNvPr id="39984" name="Text Box 54"/>
          <p:cNvSpPr txBox="1">
            <a:spLocks noChangeArrowheads="1"/>
          </p:cNvSpPr>
          <p:nvPr/>
        </p:nvSpPr>
        <p:spPr bwMode="auto">
          <a:xfrm>
            <a:off x="1476375" y="2124075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sp>
        <p:nvSpPr>
          <p:cNvPr id="39985" name="Text Box 55"/>
          <p:cNvSpPr txBox="1">
            <a:spLocks noChangeArrowheads="1"/>
          </p:cNvSpPr>
          <p:nvPr/>
        </p:nvSpPr>
        <p:spPr bwMode="auto">
          <a:xfrm>
            <a:off x="1879600" y="5794375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pic>
        <p:nvPicPr>
          <p:cNvPr id="55345" name="Picture 5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00050" y="877888"/>
            <a:ext cx="30162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63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371475" y="1330325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65" name="Text Box 6"/>
          <p:cNvSpPr txBox="1">
            <a:spLocks noChangeArrowheads="1"/>
          </p:cNvSpPr>
          <p:nvPr/>
        </p:nvSpPr>
        <p:spPr bwMode="auto">
          <a:xfrm>
            <a:off x="2811463" y="1325563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48" name="Text Box 8"/>
          <p:cNvSpPr txBox="1">
            <a:spLocks noChangeArrowheads="1"/>
          </p:cNvSpPr>
          <p:nvPr/>
        </p:nvSpPr>
        <p:spPr bwMode="auto">
          <a:xfrm>
            <a:off x="2814638" y="2949575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0" name="Text Box 10"/>
          <p:cNvSpPr txBox="1">
            <a:spLocks noChangeArrowheads="1"/>
          </p:cNvSpPr>
          <p:nvPr/>
        </p:nvSpPr>
        <p:spPr bwMode="auto">
          <a:xfrm>
            <a:off x="2820988" y="3805238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1" name="Text Box 11"/>
          <p:cNvSpPr txBox="1">
            <a:spLocks noChangeArrowheads="1"/>
          </p:cNvSpPr>
          <p:nvPr/>
        </p:nvSpPr>
        <p:spPr bwMode="auto">
          <a:xfrm>
            <a:off x="2817813" y="2263775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2" name="Text Box 12"/>
          <p:cNvSpPr txBox="1">
            <a:spLocks noChangeArrowheads="1"/>
          </p:cNvSpPr>
          <p:nvPr/>
        </p:nvSpPr>
        <p:spPr bwMode="auto">
          <a:xfrm>
            <a:off x="2814638" y="3175000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3" name="Text Box 13"/>
          <p:cNvSpPr txBox="1">
            <a:spLocks noChangeArrowheads="1"/>
          </p:cNvSpPr>
          <p:nvPr/>
        </p:nvSpPr>
        <p:spPr bwMode="auto">
          <a:xfrm>
            <a:off x="2814638" y="4000500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4" name="Text Box 14"/>
          <p:cNvSpPr txBox="1">
            <a:spLocks noChangeArrowheads="1"/>
          </p:cNvSpPr>
          <p:nvPr/>
        </p:nvSpPr>
        <p:spPr bwMode="auto">
          <a:xfrm>
            <a:off x="300038" y="2513013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5" name="Text Box 15"/>
          <p:cNvSpPr txBox="1">
            <a:spLocks noChangeArrowheads="1"/>
          </p:cNvSpPr>
          <p:nvPr/>
        </p:nvSpPr>
        <p:spPr bwMode="auto">
          <a:xfrm>
            <a:off x="144463" y="3606800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7" name="Text Box 17"/>
          <p:cNvSpPr txBox="1">
            <a:spLocks noChangeArrowheads="1"/>
          </p:cNvSpPr>
          <p:nvPr/>
        </p:nvSpPr>
        <p:spPr bwMode="auto">
          <a:xfrm>
            <a:off x="144463" y="2732088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58" name="Text Box 18"/>
          <p:cNvSpPr txBox="1">
            <a:spLocks noChangeArrowheads="1"/>
          </p:cNvSpPr>
          <p:nvPr/>
        </p:nvSpPr>
        <p:spPr bwMode="auto">
          <a:xfrm>
            <a:off x="288925" y="3367088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75" name="Text Box 7"/>
          <p:cNvSpPr txBox="1">
            <a:spLocks noChangeArrowheads="1"/>
          </p:cNvSpPr>
          <p:nvPr/>
        </p:nvSpPr>
        <p:spPr bwMode="auto">
          <a:xfrm>
            <a:off x="133350" y="1770063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49" name="Text Box 9"/>
          <p:cNvSpPr txBox="1">
            <a:spLocks noChangeArrowheads="1"/>
          </p:cNvSpPr>
          <p:nvPr/>
        </p:nvSpPr>
        <p:spPr bwMode="auto">
          <a:xfrm>
            <a:off x="2809875" y="2052638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8677" name="Group 37"/>
          <p:cNvGrpSpPr/>
          <p:nvPr/>
        </p:nvGrpSpPr>
        <p:grpSpPr>
          <a:xfrm>
            <a:off x="1349375" y="1839913"/>
            <a:ext cx="1471613" cy="512762"/>
            <a:chOff x="850" y="1159"/>
            <a:chExt cx="927" cy="323"/>
          </a:xfrm>
        </p:grpSpPr>
        <p:sp>
          <p:nvSpPr>
            <p:cNvPr id="41040" name="Line 19"/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41" name="Text Box 28"/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683" name="Group 43"/>
          <p:cNvGrpSpPr/>
          <p:nvPr/>
        </p:nvGrpSpPr>
        <p:grpSpPr>
          <a:xfrm>
            <a:off x="1343025" y="3576638"/>
            <a:ext cx="1471613" cy="487362"/>
            <a:chOff x="846" y="2253"/>
            <a:chExt cx="927" cy="307"/>
          </a:xfrm>
        </p:grpSpPr>
        <p:sp>
          <p:nvSpPr>
            <p:cNvPr id="41038" name="Line 24"/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39" name="Text Box 29"/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679" name="Group 39"/>
          <p:cNvGrpSpPr/>
          <p:nvPr/>
        </p:nvGrpSpPr>
        <p:grpSpPr>
          <a:xfrm>
            <a:off x="1357313" y="2714625"/>
            <a:ext cx="1471612" cy="504825"/>
            <a:chOff x="855" y="1710"/>
            <a:chExt cx="927" cy="318"/>
          </a:xfrm>
        </p:grpSpPr>
        <p:sp>
          <p:nvSpPr>
            <p:cNvPr id="41036" name="Line 23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37" name="Text Box 30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680" name="Group 40"/>
          <p:cNvGrpSpPr/>
          <p:nvPr/>
        </p:nvGrpSpPr>
        <p:grpSpPr>
          <a:xfrm>
            <a:off x="1343025" y="3179763"/>
            <a:ext cx="1471613" cy="471487"/>
            <a:chOff x="846" y="2003"/>
            <a:chExt cx="927" cy="297"/>
          </a:xfrm>
        </p:grpSpPr>
        <p:sp>
          <p:nvSpPr>
            <p:cNvPr id="41034" name="Line 26"/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35" name="Text Box 31"/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678" name="Group 38"/>
          <p:cNvGrpSpPr/>
          <p:nvPr/>
        </p:nvGrpSpPr>
        <p:grpSpPr>
          <a:xfrm>
            <a:off x="1335088" y="2339975"/>
            <a:ext cx="1471612" cy="455613"/>
            <a:chOff x="841" y="1474"/>
            <a:chExt cx="927" cy="287"/>
          </a:xfrm>
        </p:grpSpPr>
        <p:sp>
          <p:nvSpPr>
            <p:cNvPr id="41032" name="Line 25"/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33" name="Text Box 32"/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684" name="Group 44"/>
          <p:cNvGrpSpPr/>
          <p:nvPr/>
        </p:nvGrpSpPr>
        <p:grpSpPr>
          <a:xfrm>
            <a:off x="1328738" y="4032250"/>
            <a:ext cx="1471612" cy="461963"/>
            <a:chOff x="837" y="2540"/>
            <a:chExt cx="927" cy="291"/>
          </a:xfrm>
        </p:grpSpPr>
        <p:sp>
          <p:nvSpPr>
            <p:cNvPr id="41030" name="Line 27"/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31" name="Text Box 33"/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40983" name="Text Box 45"/>
          <p:cNvSpPr txBox="1">
            <a:spLocks noChangeArrowheads="1"/>
          </p:cNvSpPr>
          <p:nvPr/>
        </p:nvSpPr>
        <p:spPr bwMode="auto">
          <a:xfrm>
            <a:off x="1636713" y="5111750"/>
            <a:ext cx="12525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(a) no loss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84" name="Text Box 46"/>
          <p:cNvSpPr txBox="1">
            <a:spLocks noChangeArrowheads="1"/>
          </p:cNvSpPr>
          <p:nvPr/>
        </p:nvSpPr>
        <p:spPr bwMode="auto">
          <a:xfrm>
            <a:off x="4929188" y="1327150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85" name="Text Box 47"/>
          <p:cNvSpPr txBox="1">
            <a:spLocks noChangeArrowheads="1"/>
          </p:cNvSpPr>
          <p:nvPr/>
        </p:nvSpPr>
        <p:spPr bwMode="auto">
          <a:xfrm>
            <a:off x="7369175" y="1322388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88" name="Text Box 48"/>
          <p:cNvSpPr txBox="1">
            <a:spLocks noChangeArrowheads="1"/>
          </p:cNvSpPr>
          <p:nvPr/>
        </p:nvSpPr>
        <p:spPr bwMode="auto">
          <a:xfrm>
            <a:off x="7370763" y="4238625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89" name="Text Box 49"/>
          <p:cNvSpPr txBox="1">
            <a:spLocks noChangeArrowheads="1"/>
          </p:cNvSpPr>
          <p:nvPr/>
        </p:nvSpPr>
        <p:spPr bwMode="auto">
          <a:xfrm>
            <a:off x="7378700" y="5080000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0" name="Text Box 50"/>
          <p:cNvSpPr txBox="1">
            <a:spLocks noChangeArrowheads="1"/>
          </p:cNvSpPr>
          <p:nvPr/>
        </p:nvSpPr>
        <p:spPr bwMode="auto">
          <a:xfrm>
            <a:off x="7375525" y="2260600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1" name="Text Box 51"/>
          <p:cNvSpPr txBox="1">
            <a:spLocks noChangeArrowheads="1"/>
          </p:cNvSpPr>
          <p:nvPr/>
        </p:nvSpPr>
        <p:spPr bwMode="auto">
          <a:xfrm>
            <a:off x="7372350" y="4449763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2" name="Text Box 52"/>
          <p:cNvSpPr txBox="1">
            <a:spLocks noChangeArrowheads="1"/>
          </p:cNvSpPr>
          <p:nvPr/>
        </p:nvSpPr>
        <p:spPr bwMode="auto">
          <a:xfrm>
            <a:off x="7372350" y="5275263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3" name="Text Box 53"/>
          <p:cNvSpPr txBox="1">
            <a:spLocks noChangeArrowheads="1"/>
          </p:cNvSpPr>
          <p:nvPr/>
        </p:nvSpPr>
        <p:spPr bwMode="auto">
          <a:xfrm>
            <a:off x="4857750" y="2509838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4" name="Text Box 54"/>
          <p:cNvSpPr txBox="1">
            <a:spLocks noChangeArrowheads="1"/>
          </p:cNvSpPr>
          <p:nvPr/>
        </p:nvSpPr>
        <p:spPr bwMode="auto">
          <a:xfrm>
            <a:off x="4702175" y="4881563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5" name="Text Box 55"/>
          <p:cNvSpPr txBox="1">
            <a:spLocks noChangeArrowheads="1"/>
          </p:cNvSpPr>
          <p:nvPr/>
        </p:nvSpPr>
        <p:spPr bwMode="auto">
          <a:xfrm>
            <a:off x="4702175" y="2728913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6" name="Text Box 56"/>
          <p:cNvSpPr txBox="1">
            <a:spLocks noChangeArrowheads="1"/>
          </p:cNvSpPr>
          <p:nvPr/>
        </p:nvSpPr>
        <p:spPr bwMode="auto">
          <a:xfrm>
            <a:off x="4846638" y="4641850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0995" name="Text Box 57"/>
          <p:cNvSpPr txBox="1">
            <a:spLocks noChangeArrowheads="1"/>
          </p:cNvSpPr>
          <p:nvPr/>
        </p:nvSpPr>
        <p:spPr bwMode="auto">
          <a:xfrm>
            <a:off x="4691063" y="1766888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8698" name="Text Box 58"/>
          <p:cNvSpPr txBox="1">
            <a:spLocks noChangeArrowheads="1"/>
          </p:cNvSpPr>
          <p:nvPr/>
        </p:nvSpPr>
        <p:spPr bwMode="auto">
          <a:xfrm>
            <a:off x="7367588" y="2049463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8699" name="Group 59"/>
          <p:cNvGrpSpPr/>
          <p:nvPr/>
        </p:nvGrpSpPr>
        <p:grpSpPr>
          <a:xfrm>
            <a:off x="5907088" y="1836738"/>
            <a:ext cx="1471612" cy="512762"/>
            <a:chOff x="850" y="1159"/>
            <a:chExt cx="927" cy="323"/>
          </a:xfrm>
        </p:grpSpPr>
        <p:sp>
          <p:nvSpPr>
            <p:cNvPr id="41028" name="Line 60"/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29" name="Text Box 61"/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02" name="Group 62"/>
          <p:cNvGrpSpPr/>
          <p:nvPr/>
        </p:nvGrpSpPr>
        <p:grpSpPr>
          <a:xfrm>
            <a:off x="5900738" y="4851400"/>
            <a:ext cx="1471612" cy="487363"/>
            <a:chOff x="846" y="2253"/>
            <a:chExt cx="927" cy="307"/>
          </a:xfrm>
        </p:grpSpPr>
        <p:sp>
          <p:nvSpPr>
            <p:cNvPr id="41026" name="Line 63"/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27" name="Text Box 64"/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08" name="Group 68"/>
          <p:cNvGrpSpPr/>
          <p:nvPr/>
        </p:nvGrpSpPr>
        <p:grpSpPr>
          <a:xfrm>
            <a:off x="5900738" y="4454525"/>
            <a:ext cx="1471612" cy="471488"/>
            <a:chOff x="846" y="2003"/>
            <a:chExt cx="927" cy="297"/>
          </a:xfrm>
        </p:grpSpPr>
        <p:sp>
          <p:nvSpPr>
            <p:cNvPr id="41024" name="Line 69"/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25" name="Text Box 70"/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11" name="Group 71"/>
          <p:cNvGrpSpPr/>
          <p:nvPr/>
        </p:nvGrpSpPr>
        <p:grpSpPr>
          <a:xfrm>
            <a:off x="5892800" y="2336800"/>
            <a:ext cx="1471613" cy="455613"/>
            <a:chOff x="841" y="1474"/>
            <a:chExt cx="927" cy="287"/>
          </a:xfrm>
        </p:grpSpPr>
        <p:sp>
          <p:nvSpPr>
            <p:cNvPr id="41022" name="Line 72"/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23" name="Text Box 73"/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14" name="Group 74"/>
          <p:cNvGrpSpPr/>
          <p:nvPr/>
        </p:nvGrpSpPr>
        <p:grpSpPr>
          <a:xfrm>
            <a:off x="5886450" y="5302250"/>
            <a:ext cx="1471613" cy="466725"/>
            <a:chOff x="837" y="2537"/>
            <a:chExt cx="927" cy="294"/>
          </a:xfrm>
        </p:grpSpPr>
        <p:sp>
          <p:nvSpPr>
            <p:cNvPr id="41020" name="Line 75"/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21" name="Text Box 76"/>
            <p:cNvSpPr txBox="1">
              <a:spLocks noChangeArrowheads="1"/>
            </p:cNvSpPr>
            <p:nvPr/>
          </p:nvSpPr>
          <p:spPr bwMode="auto">
            <a:xfrm>
              <a:off x="1091" y="2537"/>
              <a:ext cx="37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41002" name="Text Box 78"/>
          <p:cNvSpPr txBox="1">
            <a:spLocks noChangeArrowheads="1"/>
          </p:cNvSpPr>
          <p:nvPr/>
        </p:nvSpPr>
        <p:spPr bwMode="auto">
          <a:xfrm>
            <a:off x="5980113" y="6019800"/>
            <a:ext cx="16716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(b) packet loss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8721" name="Group 81"/>
          <p:cNvGrpSpPr/>
          <p:nvPr/>
        </p:nvGrpSpPr>
        <p:grpSpPr>
          <a:xfrm>
            <a:off x="5915025" y="2711450"/>
            <a:ext cx="1157288" cy="738188"/>
            <a:chOff x="3726" y="1687"/>
            <a:chExt cx="729" cy="465"/>
          </a:xfrm>
        </p:grpSpPr>
        <p:sp>
          <p:nvSpPr>
            <p:cNvPr id="41016" name="Line 66"/>
            <p:cNvSpPr>
              <a:spLocks noChangeShapeType="1"/>
            </p:cNvSpPr>
            <p:nvPr/>
          </p:nvSpPr>
          <p:spPr bwMode="auto">
            <a:xfrm>
              <a:off x="3726" y="1780"/>
              <a:ext cx="548" cy="14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17" name="Text Box 67"/>
            <p:cNvSpPr txBox="1">
              <a:spLocks noChangeArrowheads="1"/>
            </p:cNvSpPr>
            <p:nvPr/>
          </p:nvSpPr>
          <p:spPr bwMode="auto">
            <a:xfrm>
              <a:off x="3965" y="1687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41018" name="Text Box 79"/>
            <p:cNvSpPr txBox="1">
              <a:spLocks noChangeArrowheads="1"/>
            </p:cNvSpPr>
            <p:nvPr/>
          </p:nvSpPr>
          <p:spPr bwMode="auto">
            <a:xfrm>
              <a:off x="4185" y="1808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19" name="Text Box 80"/>
            <p:cNvSpPr txBox="1">
              <a:spLocks noChangeArrowheads="1"/>
            </p:cNvSpPr>
            <p:nvPr/>
          </p:nvSpPr>
          <p:spPr bwMode="auto">
            <a:xfrm>
              <a:off x="4126" y="1940"/>
              <a:ext cx="32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loss</a:t>
              </a: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26" name="Group 86"/>
          <p:cNvGrpSpPr/>
          <p:nvPr/>
        </p:nvGrpSpPr>
        <p:grpSpPr>
          <a:xfrm>
            <a:off x="5795963" y="3014663"/>
            <a:ext cx="122237" cy="1033462"/>
            <a:chOff x="3651" y="1878"/>
            <a:chExt cx="78" cy="963"/>
          </a:xfrm>
        </p:grpSpPr>
        <p:sp>
          <p:nvSpPr>
            <p:cNvPr id="41013" name="Line 82"/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14" name="Line 84"/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15" name="Line 85"/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28" name="Group 88"/>
          <p:cNvGrpSpPr/>
          <p:nvPr/>
        </p:nvGrpSpPr>
        <p:grpSpPr>
          <a:xfrm>
            <a:off x="5924550" y="4003675"/>
            <a:ext cx="1471613" cy="504825"/>
            <a:chOff x="855" y="1710"/>
            <a:chExt cx="927" cy="318"/>
          </a:xfrm>
        </p:grpSpPr>
        <p:sp>
          <p:nvSpPr>
            <p:cNvPr id="41011" name="Line 89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1012" name="Text Box 90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8732" name="Group 92"/>
          <p:cNvGrpSpPr/>
          <p:nvPr/>
        </p:nvGrpSpPr>
        <p:grpSpPr>
          <a:xfrm>
            <a:off x="4492625" y="3627438"/>
            <a:ext cx="1377950" cy="731837"/>
            <a:chOff x="2802" y="2348"/>
            <a:chExt cx="868" cy="461"/>
          </a:xfrm>
        </p:grpSpPr>
        <p:pic>
          <p:nvPicPr>
            <p:cNvPr id="56368" name="Picture 87" descr="alarm_clock_ringi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0" name="Text Box 91"/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resend pkt1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41007" name="Rectangle 95"/>
          <p:cNvSpPr>
            <a:spLocks noGrp="1" noChangeArrowheads="1"/>
          </p:cNvSpPr>
          <p:nvPr>
            <p:ph type="title"/>
          </p:nvPr>
        </p:nvSpPr>
        <p:spPr>
          <a:xfrm>
            <a:off x="377825" y="252413"/>
            <a:ext cx="3937000" cy="6191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rdt3.0 in action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56367" name="Picture 96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422275" y="768350"/>
            <a:ext cx="3382963" cy="138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64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6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64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6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6865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6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6869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6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6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36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6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6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6868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6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36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6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6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6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6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6869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36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0" grpId="0"/>
      <p:bldP spid="368651" grpId="0"/>
      <p:bldP spid="368652" grpId="0"/>
      <p:bldP spid="368654" grpId="0"/>
      <p:bldP spid="368655" grpId="0"/>
      <p:bldP spid="368657" grpId="0"/>
      <p:bldP spid="368658" grpId="0"/>
      <p:bldP spid="368689" grpId="0"/>
      <p:bldP spid="368690" grpId="0"/>
      <p:bldP spid="368691" grpId="0"/>
      <p:bldP spid="368693" grpId="0"/>
      <p:bldP spid="368694" grpId="0"/>
      <p:bldP spid="368695" grpId="0"/>
      <p:bldP spid="36869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1987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252413"/>
            <a:ext cx="3937000" cy="6191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rdt3.0 in action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57348" name="Picture 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22275" y="768350"/>
            <a:ext cx="3382963" cy="138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9670" name="Text Box 6"/>
          <p:cNvSpPr txBox="1">
            <a:spLocks noChangeArrowheads="1"/>
          </p:cNvSpPr>
          <p:nvPr/>
        </p:nvSpPr>
        <p:spPr bwMode="auto">
          <a:xfrm>
            <a:off x="2892425" y="2713038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673" name="Text Box 9"/>
          <p:cNvSpPr txBox="1">
            <a:spLocks noChangeArrowheads="1"/>
          </p:cNvSpPr>
          <p:nvPr/>
        </p:nvSpPr>
        <p:spPr bwMode="auto">
          <a:xfrm>
            <a:off x="2892425" y="2938463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678" name="Text Box 14"/>
          <p:cNvSpPr txBox="1">
            <a:spLocks noChangeArrowheads="1"/>
          </p:cNvSpPr>
          <p:nvPr/>
        </p:nvSpPr>
        <p:spPr bwMode="auto">
          <a:xfrm>
            <a:off x="2873375" y="4129088"/>
            <a:ext cx="15684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(detect duplicate)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687" name="Group 23"/>
          <p:cNvGrpSpPr/>
          <p:nvPr/>
        </p:nvGrpSpPr>
        <p:grpSpPr>
          <a:xfrm>
            <a:off x="1423988" y="2486025"/>
            <a:ext cx="1471612" cy="504825"/>
            <a:chOff x="855" y="1710"/>
            <a:chExt cx="927" cy="318"/>
          </a:xfrm>
        </p:grpSpPr>
        <p:sp>
          <p:nvSpPr>
            <p:cNvPr id="42103" name="Line 24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104" name="Text Box 25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41994" name="Text Box 36"/>
          <p:cNvSpPr txBox="1">
            <a:spLocks noChangeArrowheads="1"/>
          </p:cNvSpPr>
          <p:nvPr/>
        </p:nvSpPr>
        <p:spPr bwMode="auto">
          <a:xfrm>
            <a:off x="436563" y="1104900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1995" name="Text Box 37"/>
          <p:cNvSpPr txBox="1">
            <a:spLocks noChangeArrowheads="1"/>
          </p:cNvSpPr>
          <p:nvPr/>
        </p:nvSpPr>
        <p:spPr bwMode="auto">
          <a:xfrm>
            <a:off x="2876550" y="1100138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2" name="Text Box 38"/>
          <p:cNvSpPr txBox="1">
            <a:spLocks noChangeArrowheads="1"/>
          </p:cNvSpPr>
          <p:nvPr/>
        </p:nvSpPr>
        <p:spPr bwMode="auto">
          <a:xfrm>
            <a:off x="2889250" y="3860800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3" name="Text Box 39"/>
          <p:cNvSpPr txBox="1">
            <a:spLocks noChangeArrowheads="1"/>
          </p:cNvSpPr>
          <p:nvPr/>
        </p:nvSpPr>
        <p:spPr bwMode="auto">
          <a:xfrm>
            <a:off x="2886075" y="4857750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4" name="Text Box 40"/>
          <p:cNvSpPr txBox="1">
            <a:spLocks noChangeArrowheads="1"/>
          </p:cNvSpPr>
          <p:nvPr/>
        </p:nvSpPr>
        <p:spPr bwMode="auto">
          <a:xfrm>
            <a:off x="2882900" y="2038350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5" name="Text Box 41"/>
          <p:cNvSpPr txBox="1">
            <a:spLocks noChangeArrowheads="1"/>
          </p:cNvSpPr>
          <p:nvPr/>
        </p:nvSpPr>
        <p:spPr bwMode="auto">
          <a:xfrm>
            <a:off x="2901950" y="4283075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6" name="Text Box 42"/>
          <p:cNvSpPr txBox="1">
            <a:spLocks noChangeArrowheads="1"/>
          </p:cNvSpPr>
          <p:nvPr/>
        </p:nvSpPr>
        <p:spPr bwMode="auto">
          <a:xfrm>
            <a:off x="2879725" y="5053013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7" name="Text Box 43"/>
          <p:cNvSpPr txBox="1">
            <a:spLocks noChangeArrowheads="1"/>
          </p:cNvSpPr>
          <p:nvPr/>
        </p:nvSpPr>
        <p:spPr bwMode="auto">
          <a:xfrm>
            <a:off x="365125" y="2287588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8" name="Text Box 44"/>
          <p:cNvSpPr txBox="1">
            <a:spLocks noChangeArrowheads="1"/>
          </p:cNvSpPr>
          <p:nvPr/>
        </p:nvSpPr>
        <p:spPr bwMode="auto">
          <a:xfrm>
            <a:off x="209550" y="4659313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09" name="Text Box 45"/>
          <p:cNvSpPr txBox="1">
            <a:spLocks noChangeArrowheads="1"/>
          </p:cNvSpPr>
          <p:nvPr/>
        </p:nvSpPr>
        <p:spPr bwMode="auto">
          <a:xfrm>
            <a:off x="209550" y="2506663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10" name="Text Box 46"/>
          <p:cNvSpPr txBox="1">
            <a:spLocks noChangeArrowheads="1"/>
          </p:cNvSpPr>
          <p:nvPr/>
        </p:nvSpPr>
        <p:spPr bwMode="auto">
          <a:xfrm>
            <a:off x="354013" y="4419600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2005" name="Text Box 47"/>
          <p:cNvSpPr txBox="1">
            <a:spLocks noChangeArrowheads="1"/>
          </p:cNvSpPr>
          <p:nvPr/>
        </p:nvSpPr>
        <p:spPr bwMode="auto">
          <a:xfrm>
            <a:off x="198438" y="1544638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12" name="Text Box 48"/>
          <p:cNvSpPr txBox="1">
            <a:spLocks noChangeArrowheads="1"/>
          </p:cNvSpPr>
          <p:nvPr/>
        </p:nvSpPr>
        <p:spPr bwMode="auto">
          <a:xfrm>
            <a:off x="2874963" y="1827213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713" name="Group 49"/>
          <p:cNvGrpSpPr/>
          <p:nvPr/>
        </p:nvGrpSpPr>
        <p:grpSpPr>
          <a:xfrm>
            <a:off x="1414463" y="1614488"/>
            <a:ext cx="1471612" cy="512762"/>
            <a:chOff x="850" y="1159"/>
            <a:chExt cx="927" cy="323"/>
          </a:xfrm>
        </p:grpSpPr>
        <p:sp>
          <p:nvSpPr>
            <p:cNvPr id="42101" name="Line 50"/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102" name="Text Box 51"/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16" name="Group 52"/>
          <p:cNvGrpSpPr/>
          <p:nvPr/>
        </p:nvGrpSpPr>
        <p:grpSpPr>
          <a:xfrm>
            <a:off x="1408113" y="4629150"/>
            <a:ext cx="1471612" cy="487363"/>
            <a:chOff x="846" y="2253"/>
            <a:chExt cx="927" cy="307"/>
          </a:xfrm>
        </p:grpSpPr>
        <p:sp>
          <p:nvSpPr>
            <p:cNvPr id="42099" name="Line 53"/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100" name="Text Box 54"/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19" name="Group 55"/>
          <p:cNvGrpSpPr/>
          <p:nvPr/>
        </p:nvGrpSpPr>
        <p:grpSpPr>
          <a:xfrm>
            <a:off x="1408113" y="4232275"/>
            <a:ext cx="1471612" cy="471488"/>
            <a:chOff x="846" y="2003"/>
            <a:chExt cx="927" cy="297"/>
          </a:xfrm>
        </p:grpSpPr>
        <p:sp>
          <p:nvSpPr>
            <p:cNvPr id="42097" name="Line 56"/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98" name="Text Box 57"/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22" name="Group 58"/>
          <p:cNvGrpSpPr/>
          <p:nvPr/>
        </p:nvGrpSpPr>
        <p:grpSpPr>
          <a:xfrm>
            <a:off x="1400175" y="2114550"/>
            <a:ext cx="1471613" cy="455613"/>
            <a:chOff x="841" y="1474"/>
            <a:chExt cx="927" cy="287"/>
          </a:xfrm>
        </p:grpSpPr>
        <p:sp>
          <p:nvSpPr>
            <p:cNvPr id="42095" name="Line 59"/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96" name="Text Box 60"/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25" name="Group 61"/>
          <p:cNvGrpSpPr/>
          <p:nvPr/>
        </p:nvGrpSpPr>
        <p:grpSpPr>
          <a:xfrm>
            <a:off x="1393825" y="5084763"/>
            <a:ext cx="1471613" cy="461962"/>
            <a:chOff x="837" y="2540"/>
            <a:chExt cx="927" cy="291"/>
          </a:xfrm>
        </p:grpSpPr>
        <p:sp>
          <p:nvSpPr>
            <p:cNvPr id="42093" name="Line 62"/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94" name="Text Box 63"/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42012" name="Text Box 64"/>
          <p:cNvSpPr txBox="1">
            <a:spLocks noChangeArrowheads="1"/>
          </p:cNvSpPr>
          <p:nvPr/>
        </p:nvSpPr>
        <p:spPr bwMode="auto">
          <a:xfrm>
            <a:off x="1192213" y="5797550"/>
            <a:ext cx="13938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(c) ACK loss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745" name="Group 81"/>
          <p:cNvGrpSpPr/>
          <p:nvPr/>
        </p:nvGrpSpPr>
        <p:grpSpPr>
          <a:xfrm>
            <a:off x="1679575" y="2886075"/>
            <a:ext cx="1212850" cy="719138"/>
            <a:chOff x="1324" y="1931"/>
            <a:chExt cx="764" cy="453"/>
          </a:xfrm>
        </p:grpSpPr>
        <p:sp>
          <p:nvSpPr>
            <p:cNvPr id="42089" name="Line 27"/>
            <p:cNvSpPr>
              <a:spLocks noChangeShapeType="1"/>
            </p:cNvSpPr>
            <p:nvPr/>
          </p:nvSpPr>
          <p:spPr bwMode="auto">
            <a:xfrm flipH="1">
              <a:off x="1514" y="2031"/>
              <a:ext cx="574" cy="13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90" name="Text Box 28"/>
            <p:cNvSpPr txBox="1">
              <a:spLocks noChangeArrowheads="1"/>
            </p:cNvSpPr>
            <p:nvPr/>
          </p:nvSpPr>
          <p:spPr bwMode="auto">
            <a:xfrm>
              <a:off x="1456" y="1931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42091" name="Text Box 68"/>
            <p:cNvSpPr txBox="1">
              <a:spLocks noChangeArrowheads="1"/>
            </p:cNvSpPr>
            <p:nvPr/>
          </p:nvSpPr>
          <p:spPr bwMode="auto">
            <a:xfrm>
              <a:off x="1383" y="2040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92" name="Text Box 69"/>
            <p:cNvSpPr txBox="1">
              <a:spLocks noChangeArrowheads="1"/>
            </p:cNvSpPr>
            <p:nvPr/>
          </p:nvSpPr>
          <p:spPr bwMode="auto">
            <a:xfrm>
              <a:off x="1324" y="2172"/>
              <a:ext cx="32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loss</a:t>
              </a: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34" name="Group 70"/>
          <p:cNvGrpSpPr/>
          <p:nvPr/>
        </p:nvGrpSpPr>
        <p:grpSpPr>
          <a:xfrm>
            <a:off x="1303338" y="2792413"/>
            <a:ext cx="122237" cy="1033462"/>
            <a:chOff x="3651" y="1878"/>
            <a:chExt cx="78" cy="963"/>
          </a:xfrm>
        </p:grpSpPr>
        <p:sp>
          <p:nvSpPr>
            <p:cNvPr id="42086" name="Line 71"/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87" name="Line 72"/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88" name="Line 73"/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38" name="Group 74"/>
          <p:cNvGrpSpPr/>
          <p:nvPr/>
        </p:nvGrpSpPr>
        <p:grpSpPr>
          <a:xfrm>
            <a:off x="1431925" y="3781425"/>
            <a:ext cx="1471613" cy="504825"/>
            <a:chOff x="855" y="1710"/>
            <a:chExt cx="927" cy="318"/>
          </a:xfrm>
        </p:grpSpPr>
        <p:sp>
          <p:nvSpPr>
            <p:cNvPr id="42084" name="Line 75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85" name="Text Box 76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41" name="Group 77"/>
          <p:cNvGrpSpPr/>
          <p:nvPr/>
        </p:nvGrpSpPr>
        <p:grpSpPr>
          <a:xfrm>
            <a:off x="0" y="3405188"/>
            <a:ext cx="1377950" cy="731837"/>
            <a:chOff x="2802" y="2348"/>
            <a:chExt cx="868" cy="461"/>
          </a:xfrm>
        </p:grpSpPr>
        <p:pic>
          <p:nvPicPr>
            <p:cNvPr id="57441" name="Picture 78" descr="alarm_clock_ringi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83" name="Text Box 79"/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resend pkt1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369746" name="Text Box 82"/>
          <p:cNvSpPr txBox="1">
            <a:spLocks noChangeArrowheads="1"/>
          </p:cNvSpPr>
          <p:nvPr/>
        </p:nvSpPr>
        <p:spPr bwMode="auto">
          <a:xfrm>
            <a:off x="7594600" y="2374900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47" name="Text Box 83"/>
          <p:cNvSpPr txBox="1">
            <a:spLocks noChangeArrowheads="1"/>
          </p:cNvSpPr>
          <p:nvPr/>
        </p:nvSpPr>
        <p:spPr bwMode="auto">
          <a:xfrm>
            <a:off x="7594600" y="2600325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48" name="Text Box 84"/>
          <p:cNvSpPr txBox="1">
            <a:spLocks noChangeArrowheads="1"/>
          </p:cNvSpPr>
          <p:nvPr/>
        </p:nvSpPr>
        <p:spPr bwMode="auto">
          <a:xfrm>
            <a:off x="7556500" y="3810000"/>
            <a:ext cx="15684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(detect duplicate)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749" name="Group 85"/>
          <p:cNvGrpSpPr/>
          <p:nvPr/>
        </p:nvGrpSpPr>
        <p:grpSpPr>
          <a:xfrm>
            <a:off x="6126163" y="2147888"/>
            <a:ext cx="1471612" cy="504825"/>
            <a:chOff x="855" y="1710"/>
            <a:chExt cx="927" cy="318"/>
          </a:xfrm>
        </p:grpSpPr>
        <p:sp>
          <p:nvSpPr>
            <p:cNvPr id="42080" name="Line 86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81" name="Text Box 87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42021" name="Text Box 88"/>
          <p:cNvSpPr txBox="1">
            <a:spLocks noChangeArrowheads="1"/>
          </p:cNvSpPr>
          <p:nvPr/>
        </p:nvSpPr>
        <p:spPr bwMode="auto">
          <a:xfrm>
            <a:off x="5138738" y="766763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2022" name="Text Box 89"/>
          <p:cNvSpPr txBox="1">
            <a:spLocks noChangeArrowheads="1"/>
          </p:cNvSpPr>
          <p:nvPr/>
        </p:nvSpPr>
        <p:spPr bwMode="auto">
          <a:xfrm>
            <a:off x="7578725" y="762000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54" name="Text Box 90"/>
          <p:cNvSpPr txBox="1">
            <a:spLocks noChangeArrowheads="1"/>
          </p:cNvSpPr>
          <p:nvPr/>
        </p:nvSpPr>
        <p:spPr bwMode="auto">
          <a:xfrm>
            <a:off x="7572375" y="3541713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56" name="Text Box 92"/>
          <p:cNvSpPr txBox="1">
            <a:spLocks noChangeArrowheads="1"/>
          </p:cNvSpPr>
          <p:nvPr/>
        </p:nvSpPr>
        <p:spPr bwMode="auto">
          <a:xfrm>
            <a:off x="7585075" y="1700213"/>
            <a:ext cx="11969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59" name="Text Box 95"/>
          <p:cNvSpPr txBox="1">
            <a:spLocks noChangeArrowheads="1"/>
          </p:cNvSpPr>
          <p:nvPr/>
        </p:nvSpPr>
        <p:spPr bwMode="auto">
          <a:xfrm>
            <a:off x="5067300" y="1949450"/>
            <a:ext cx="10223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61" name="Text Box 97"/>
          <p:cNvSpPr txBox="1">
            <a:spLocks noChangeArrowheads="1"/>
          </p:cNvSpPr>
          <p:nvPr/>
        </p:nvSpPr>
        <p:spPr bwMode="auto">
          <a:xfrm>
            <a:off x="4911725" y="2168525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2027" name="Text Box 99"/>
          <p:cNvSpPr txBox="1">
            <a:spLocks noChangeArrowheads="1"/>
          </p:cNvSpPr>
          <p:nvPr/>
        </p:nvSpPr>
        <p:spPr bwMode="auto">
          <a:xfrm>
            <a:off x="4900613" y="1206500"/>
            <a:ext cx="11747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69764" name="Text Box 100"/>
          <p:cNvSpPr txBox="1">
            <a:spLocks noChangeArrowheads="1"/>
          </p:cNvSpPr>
          <p:nvPr/>
        </p:nvSpPr>
        <p:spPr bwMode="auto">
          <a:xfrm>
            <a:off x="7577138" y="1489075"/>
            <a:ext cx="100012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765" name="Group 101"/>
          <p:cNvGrpSpPr/>
          <p:nvPr/>
        </p:nvGrpSpPr>
        <p:grpSpPr>
          <a:xfrm>
            <a:off x="6116638" y="1276350"/>
            <a:ext cx="1471612" cy="512763"/>
            <a:chOff x="850" y="1159"/>
            <a:chExt cx="927" cy="323"/>
          </a:xfrm>
        </p:grpSpPr>
        <p:sp>
          <p:nvSpPr>
            <p:cNvPr id="42078" name="Line 102"/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79" name="Text Box 103"/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74" name="Group 110"/>
          <p:cNvGrpSpPr/>
          <p:nvPr/>
        </p:nvGrpSpPr>
        <p:grpSpPr>
          <a:xfrm>
            <a:off x="6102350" y="1776413"/>
            <a:ext cx="1471613" cy="455612"/>
            <a:chOff x="841" y="1474"/>
            <a:chExt cx="927" cy="287"/>
          </a:xfrm>
        </p:grpSpPr>
        <p:sp>
          <p:nvSpPr>
            <p:cNvPr id="42076" name="Line 111"/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77" name="Text Box 112"/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ack0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42031" name="Text Box 116"/>
          <p:cNvSpPr txBox="1">
            <a:spLocks noChangeArrowheads="1"/>
          </p:cNvSpPr>
          <p:nvPr/>
        </p:nvSpPr>
        <p:spPr bwMode="auto">
          <a:xfrm>
            <a:off x="4757738" y="5764213"/>
            <a:ext cx="38671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(d) premature timeout/ delayed ACK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786" name="Group 122"/>
          <p:cNvGrpSpPr/>
          <p:nvPr/>
        </p:nvGrpSpPr>
        <p:grpSpPr>
          <a:xfrm>
            <a:off x="6005513" y="2454275"/>
            <a:ext cx="122237" cy="1033463"/>
            <a:chOff x="3651" y="1878"/>
            <a:chExt cx="78" cy="963"/>
          </a:xfrm>
        </p:grpSpPr>
        <p:sp>
          <p:nvSpPr>
            <p:cNvPr id="42073" name="Line 123"/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74" name="Line 124"/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75" name="Line 125"/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90" name="Group 126"/>
          <p:cNvGrpSpPr/>
          <p:nvPr/>
        </p:nvGrpSpPr>
        <p:grpSpPr>
          <a:xfrm>
            <a:off x="6134100" y="3443288"/>
            <a:ext cx="1471613" cy="504825"/>
            <a:chOff x="855" y="1710"/>
            <a:chExt cx="927" cy="318"/>
          </a:xfrm>
        </p:grpSpPr>
        <p:sp>
          <p:nvSpPr>
            <p:cNvPr id="42071" name="Line 127"/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72" name="Text Box 128"/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pkt1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93" name="Group 129"/>
          <p:cNvGrpSpPr/>
          <p:nvPr/>
        </p:nvGrpSpPr>
        <p:grpSpPr>
          <a:xfrm>
            <a:off x="4702175" y="3067050"/>
            <a:ext cx="1377950" cy="731838"/>
            <a:chOff x="2802" y="2348"/>
            <a:chExt cx="868" cy="461"/>
          </a:xfrm>
        </p:grpSpPr>
        <p:pic>
          <p:nvPicPr>
            <p:cNvPr id="57428" name="Picture 130" descr="alarm_clock_ringi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70" name="Text Box 131"/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resend pkt1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69797" name="Group 133"/>
          <p:cNvGrpSpPr/>
          <p:nvPr/>
        </p:nvGrpSpPr>
        <p:grpSpPr>
          <a:xfrm>
            <a:off x="6523038" y="2706688"/>
            <a:ext cx="1071562" cy="752475"/>
            <a:chOff x="4081" y="1705"/>
            <a:chExt cx="703" cy="453"/>
          </a:xfrm>
        </p:grpSpPr>
        <p:sp>
          <p:nvSpPr>
            <p:cNvPr id="42066" name="Line 118"/>
            <p:cNvSpPr>
              <a:spLocks noChangeShapeType="1"/>
            </p:cNvSpPr>
            <p:nvPr/>
          </p:nvSpPr>
          <p:spPr bwMode="auto">
            <a:xfrm flipH="1">
              <a:off x="4343" y="1705"/>
              <a:ext cx="441" cy="329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67" name="Text Box 119"/>
            <p:cNvSpPr txBox="1">
              <a:spLocks noChangeArrowheads="1"/>
            </p:cNvSpPr>
            <p:nvPr/>
          </p:nvSpPr>
          <p:spPr bwMode="auto">
            <a:xfrm>
              <a:off x="4081" y="1794"/>
              <a:ext cx="435" cy="20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42068" name="Line 132"/>
            <p:cNvSpPr>
              <a:spLocks noChangeShapeType="1"/>
            </p:cNvSpPr>
            <p:nvPr/>
          </p:nvSpPr>
          <p:spPr bwMode="auto">
            <a:xfrm flipH="1">
              <a:off x="4186" y="2047"/>
              <a:ext cx="146" cy="11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sysDot"/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369800" name="Line 136"/>
          <p:cNvSpPr>
            <a:spLocks noChangeShapeType="1"/>
          </p:cNvSpPr>
          <p:nvPr/>
        </p:nvSpPr>
        <p:spPr bwMode="auto">
          <a:xfrm flipH="1">
            <a:off x="6024563" y="3251200"/>
            <a:ext cx="909638" cy="7397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69817" name="Group 153"/>
          <p:cNvGrpSpPr/>
          <p:nvPr/>
        </p:nvGrpSpPr>
        <p:grpSpPr>
          <a:xfrm>
            <a:off x="4892675" y="3738563"/>
            <a:ext cx="4227513" cy="1752600"/>
            <a:chOff x="3082" y="2355"/>
            <a:chExt cx="2663" cy="1104"/>
          </a:xfrm>
        </p:grpSpPr>
        <p:sp>
          <p:nvSpPr>
            <p:cNvPr id="42038" name="Text Box 93"/>
            <p:cNvSpPr txBox="1">
              <a:spLocks noChangeArrowheads="1"/>
            </p:cNvSpPr>
            <p:nvPr/>
          </p:nvSpPr>
          <p:spPr bwMode="auto">
            <a:xfrm>
              <a:off x="4790" y="2491"/>
              <a:ext cx="75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ack1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39" name="Text Box 96"/>
            <p:cNvSpPr txBox="1">
              <a:spLocks noChangeArrowheads="1"/>
            </p:cNvSpPr>
            <p:nvPr/>
          </p:nvSpPr>
          <p:spPr bwMode="auto">
            <a:xfrm>
              <a:off x="3082" y="2842"/>
              <a:ext cx="74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pkt0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2040" name="Text Box 98"/>
            <p:cNvSpPr txBox="1">
              <a:spLocks noChangeArrowheads="1"/>
            </p:cNvSpPr>
            <p:nvPr/>
          </p:nvSpPr>
          <p:spPr bwMode="auto">
            <a:xfrm>
              <a:off x="3155" y="2703"/>
              <a:ext cx="64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rcv ack1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57400" name="Group 148"/>
            <p:cNvGrpSpPr/>
            <p:nvPr/>
          </p:nvGrpSpPr>
          <p:grpSpPr>
            <a:xfrm>
              <a:off x="3843" y="2895"/>
              <a:ext cx="927" cy="247"/>
              <a:chOff x="3849" y="2883"/>
              <a:chExt cx="927" cy="247"/>
            </a:xfrm>
          </p:grpSpPr>
          <p:sp>
            <p:nvSpPr>
              <p:cNvPr id="42064" name="Line 105"/>
              <p:cNvSpPr>
                <a:spLocks noChangeShapeType="1"/>
              </p:cNvSpPr>
              <p:nvPr/>
            </p:nvSpPr>
            <p:spPr bwMode="auto">
              <a:xfrm>
                <a:off x="3849" y="2905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65" name="Text Box 106"/>
              <p:cNvSpPr txBox="1">
                <a:spLocks noChangeArrowheads="1"/>
              </p:cNvSpPr>
              <p:nvPr/>
            </p:nvSpPr>
            <p:spPr bwMode="auto">
              <a:xfrm>
                <a:off x="4334" y="2883"/>
                <a:ext cx="358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pkt0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1" name="Group 150"/>
            <p:cNvGrpSpPr/>
            <p:nvPr/>
          </p:nvGrpSpPr>
          <p:grpSpPr>
            <a:xfrm>
              <a:off x="3873" y="2603"/>
              <a:ext cx="927" cy="261"/>
              <a:chOff x="2229" y="3431"/>
              <a:chExt cx="927" cy="261"/>
            </a:xfrm>
          </p:grpSpPr>
          <p:sp>
            <p:nvSpPr>
              <p:cNvPr id="42062" name="Line 108"/>
              <p:cNvSpPr>
                <a:spLocks noChangeShapeType="1"/>
              </p:cNvSpPr>
              <p:nvPr/>
            </p:nvSpPr>
            <p:spPr bwMode="auto">
              <a:xfrm flipH="1">
                <a:off x="2229" y="3467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63" name="Text Box 109"/>
              <p:cNvSpPr txBox="1">
                <a:spLocks noChangeArrowheads="1"/>
              </p:cNvSpPr>
              <p:nvPr/>
            </p:nvSpPr>
            <p:spPr bwMode="auto">
              <a:xfrm>
                <a:off x="2283" y="3431"/>
                <a:ext cx="386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ack1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2" name="Group 113"/>
            <p:cNvGrpSpPr/>
            <p:nvPr/>
          </p:nvGrpSpPr>
          <p:grpSpPr>
            <a:xfrm>
              <a:off x="3840" y="3110"/>
              <a:ext cx="927" cy="291"/>
              <a:chOff x="837" y="2540"/>
              <a:chExt cx="927" cy="291"/>
            </a:xfrm>
          </p:grpSpPr>
          <p:sp>
            <p:nvSpPr>
              <p:cNvPr id="42060" name="Line 114"/>
              <p:cNvSpPr>
                <a:spLocks noChangeShapeType="1"/>
              </p:cNvSpPr>
              <p:nvPr/>
            </p:nvSpPr>
            <p:spPr bwMode="auto">
              <a:xfrm flipH="1">
                <a:off x="837" y="2606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61" name="Text Box 115"/>
              <p:cNvSpPr txBox="1">
                <a:spLocks noChangeArrowheads="1"/>
              </p:cNvSpPr>
              <p:nvPr/>
            </p:nvSpPr>
            <p:spPr bwMode="auto">
              <a:xfrm>
                <a:off x="1086" y="2540"/>
                <a:ext cx="386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ack0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3" name="Group 137"/>
            <p:cNvGrpSpPr/>
            <p:nvPr/>
          </p:nvGrpSpPr>
          <p:grpSpPr>
            <a:xfrm>
              <a:off x="3121" y="2355"/>
              <a:ext cx="740" cy="375"/>
              <a:chOff x="2839" y="3285"/>
              <a:chExt cx="740" cy="375"/>
            </a:xfrm>
          </p:grpSpPr>
          <p:sp>
            <p:nvSpPr>
              <p:cNvPr id="42058" name="Text Box 134"/>
              <p:cNvSpPr txBox="1">
                <a:spLocks noChangeArrowheads="1"/>
              </p:cNvSpPr>
              <p:nvPr/>
            </p:nvSpPr>
            <p:spPr bwMode="auto">
              <a:xfrm>
                <a:off x="2839" y="3429"/>
                <a:ext cx="740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send pkt0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9" name="Text Box 135"/>
              <p:cNvSpPr txBox="1">
                <a:spLocks noChangeArrowheads="1"/>
              </p:cNvSpPr>
              <p:nvPr/>
            </p:nvSpPr>
            <p:spPr bwMode="auto">
              <a:xfrm>
                <a:off x="2916" y="3285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rcv ack1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4" name="Group 138"/>
            <p:cNvGrpSpPr/>
            <p:nvPr/>
          </p:nvGrpSpPr>
          <p:grpSpPr>
            <a:xfrm>
              <a:off x="3817" y="2418"/>
              <a:ext cx="975" cy="359"/>
              <a:chOff x="850" y="1159"/>
              <a:chExt cx="927" cy="323"/>
            </a:xfrm>
          </p:grpSpPr>
          <p:sp>
            <p:nvSpPr>
              <p:cNvPr id="42056" name="Line 139"/>
              <p:cNvSpPr>
                <a:spLocks noChangeShapeType="1"/>
              </p:cNvSpPr>
              <p:nvPr/>
            </p:nvSpPr>
            <p:spPr bwMode="auto">
              <a:xfrm>
                <a:off x="850" y="1257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7" name="Text Box 140"/>
              <p:cNvSpPr txBox="1">
                <a:spLocks noChangeArrowheads="1"/>
              </p:cNvSpPr>
              <p:nvPr/>
            </p:nvSpPr>
            <p:spPr bwMode="auto">
              <a:xfrm>
                <a:off x="1109" y="1159"/>
                <a:ext cx="340" cy="1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pkt0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5" name="Group 142"/>
            <p:cNvGrpSpPr/>
            <p:nvPr/>
          </p:nvGrpSpPr>
          <p:grpSpPr>
            <a:xfrm>
              <a:off x="4782" y="2661"/>
              <a:ext cx="754" cy="354"/>
              <a:chOff x="4776" y="2967"/>
              <a:chExt cx="754" cy="354"/>
            </a:xfrm>
          </p:grpSpPr>
          <p:sp>
            <p:nvSpPr>
              <p:cNvPr id="42054" name="Text Box 143"/>
              <p:cNvSpPr txBox="1">
                <a:spLocks noChangeArrowheads="1"/>
              </p:cNvSpPr>
              <p:nvPr/>
            </p:nvSpPr>
            <p:spPr bwMode="auto">
              <a:xfrm>
                <a:off x="4780" y="2967"/>
                <a:ext cx="630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rcv pkt0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5" name="Text Box 144"/>
              <p:cNvSpPr txBox="1">
                <a:spLocks noChangeArrowheads="1"/>
              </p:cNvSpPr>
              <p:nvPr/>
            </p:nvSpPr>
            <p:spPr bwMode="auto">
              <a:xfrm>
                <a:off x="4776" y="3090"/>
                <a:ext cx="754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send ack0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6" name="Group 149"/>
            <p:cNvGrpSpPr/>
            <p:nvPr/>
          </p:nvGrpSpPr>
          <p:grpSpPr>
            <a:xfrm>
              <a:off x="3840" y="2756"/>
              <a:ext cx="927" cy="309"/>
              <a:chOff x="3792" y="2738"/>
              <a:chExt cx="927" cy="309"/>
            </a:xfrm>
          </p:grpSpPr>
          <p:sp>
            <p:nvSpPr>
              <p:cNvPr id="42052" name="Line 146"/>
              <p:cNvSpPr>
                <a:spLocks noChangeShapeType="1"/>
              </p:cNvSpPr>
              <p:nvPr/>
            </p:nvSpPr>
            <p:spPr bwMode="auto">
              <a:xfrm flipH="1">
                <a:off x="3792" y="2822"/>
                <a:ext cx="927" cy="225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3" name="Text Box 147"/>
              <p:cNvSpPr txBox="1">
                <a:spLocks noChangeArrowheads="1"/>
              </p:cNvSpPr>
              <p:nvPr/>
            </p:nvSpPr>
            <p:spPr bwMode="auto">
              <a:xfrm>
                <a:off x="4089" y="2738"/>
                <a:ext cx="386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ack0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7407" name="Group 152"/>
            <p:cNvGrpSpPr/>
            <p:nvPr/>
          </p:nvGrpSpPr>
          <p:grpSpPr>
            <a:xfrm>
              <a:off x="4757" y="2967"/>
              <a:ext cx="988" cy="492"/>
              <a:chOff x="4757" y="2967"/>
              <a:chExt cx="988" cy="492"/>
            </a:xfrm>
          </p:grpSpPr>
          <p:sp>
            <p:nvSpPr>
              <p:cNvPr id="42049" name="Text Box 91"/>
              <p:cNvSpPr txBox="1">
                <a:spLocks noChangeArrowheads="1"/>
              </p:cNvSpPr>
              <p:nvPr/>
            </p:nvSpPr>
            <p:spPr bwMode="auto">
              <a:xfrm>
                <a:off x="4780" y="2967"/>
                <a:ext cx="630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rcv pkt0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0" name="Text Box 94"/>
              <p:cNvSpPr txBox="1">
                <a:spLocks noChangeArrowheads="1"/>
              </p:cNvSpPr>
              <p:nvPr/>
            </p:nvSpPr>
            <p:spPr bwMode="auto">
              <a:xfrm>
                <a:off x="4782" y="3228"/>
                <a:ext cx="754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send ack0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2051" name="Text Box 151"/>
              <p:cNvSpPr txBox="1">
                <a:spLocks noChangeArrowheads="1"/>
              </p:cNvSpPr>
              <p:nvPr/>
            </p:nvSpPr>
            <p:spPr bwMode="auto">
              <a:xfrm>
                <a:off x="4757" y="3128"/>
                <a:ext cx="98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(detect duplicate)</a:t>
                </a:r>
                <a:endPara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971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6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6967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6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6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970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6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6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6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6970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36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6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6976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6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6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6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36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6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697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6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36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36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5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69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6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6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6975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6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36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3" grpId="0"/>
      <p:bldP spid="369678" grpId="0"/>
      <p:bldP spid="369703" grpId="0"/>
      <p:bldP spid="369704" grpId="0"/>
      <p:bldP spid="369705" grpId="0"/>
      <p:bldP spid="369707" grpId="0"/>
      <p:bldP spid="369708" grpId="0"/>
      <p:bldP spid="369709" grpId="0"/>
      <p:bldP spid="369710" grpId="0"/>
      <p:bldP spid="369747" grpId="0"/>
      <p:bldP spid="369748" grpId="0"/>
      <p:bldP spid="369756" grpId="0"/>
      <p:bldP spid="369759" grpId="0"/>
      <p:bldP spid="3697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301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Performance of rdt3.0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455738"/>
            <a:ext cx="8372475" cy="99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rdt3.0 is correct, but performance stinks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e.g.: 1 Gbps link, 15 ms prop. delay, 8000 bit packet: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43014" name="Rectangle 4"/>
          <p:cNvSpPr>
            <a:spLocks noChangeArrowheads="1"/>
          </p:cNvSpPr>
          <p:nvPr/>
        </p:nvSpPr>
        <p:spPr bwMode="auto">
          <a:xfrm>
            <a:off x="457200" y="3513138"/>
            <a:ext cx="83724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marL="688975" lvl="1" indent="-231775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2400" dirty="0">
                <a:latin typeface="Gill Sans MT" charset="0"/>
              </a:rPr>
              <a:t>U </a:t>
            </a:r>
            <a:r>
              <a:rPr lang="en-US" altLang="zh-CN" sz="2400" baseline="-25000" dirty="0">
                <a:latin typeface="Gill Sans MT" charset="0"/>
              </a:rPr>
              <a:t>sender</a:t>
            </a:r>
            <a:r>
              <a:rPr lang="en-US" altLang="zh-CN" sz="2400" dirty="0">
                <a:latin typeface="Gill Sans MT" charset="0"/>
              </a:rPr>
              <a:t>: </a:t>
            </a:r>
            <a:r>
              <a:rPr lang="en-US" altLang="zh-CN" sz="2400" i="1" dirty="0">
                <a:solidFill>
                  <a:srgbClr val="CC0000"/>
                </a:solidFill>
                <a:latin typeface="Gill Sans MT" charset="0"/>
              </a:rPr>
              <a:t>utilization</a:t>
            </a:r>
            <a:r>
              <a:rPr lang="en-US" altLang="zh-CN" sz="2400" dirty="0">
                <a:latin typeface="Gill Sans MT" charset="0"/>
              </a:rPr>
              <a:t> – fraction of time sender busy sending</a:t>
            </a:r>
            <a:endParaRPr lang="en-US" altLang="zh-CN" sz="2400" dirty="0">
              <a:latin typeface="Gill Sans MT" charset="0"/>
            </a:endParaRPr>
          </a:p>
        </p:txBody>
      </p:sp>
      <p:graphicFrame>
        <p:nvGraphicFramePr>
          <p:cNvPr id="58374" name="Object 5"/>
          <p:cNvGraphicFramePr>
            <a:graphicFrameLocks noChangeAspect="1"/>
          </p:cNvGraphicFramePr>
          <p:nvPr/>
        </p:nvGraphicFramePr>
        <p:xfrm>
          <a:off x="1690688" y="3970338"/>
          <a:ext cx="67484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581400" imgH="495300" progId="Word.Picture.8">
                  <p:embed/>
                </p:oleObj>
              </mc:Choice>
              <mc:Fallback>
                <p:oleObj name="" r:id="rId1" imgW="3581400" imgH="4953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0688" y="3970338"/>
                        <a:ext cx="6748462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Rectangle 7"/>
          <p:cNvSpPr>
            <a:spLocks noChangeArrowheads="1"/>
          </p:cNvSpPr>
          <p:nvPr/>
        </p:nvSpPr>
        <p:spPr bwMode="auto">
          <a:xfrm>
            <a:off x="533400" y="4960938"/>
            <a:ext cx="83724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68897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if RTT=30 msec, 1KB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pkt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every 30 msec: 33kB/sec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thruput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over 1 Gbps link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network protocol limits use of physical resources!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58376" name="Picture 9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619125" y="1006475"/>
            <a:ext cx="5027613" cy="1730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8377" name="Group 24"/>
          <p:cNvGrpSpPr/>
          <p:nvPr/>
        </p:nvGrpSpPr>
        <p:grpSpPr>
          <a:xfrm>
            <a:off x="1789113" y="2438400"/>
            <a:ext cx="5903912" cy="812800"/>
            <a:chOff x="137" y="1675"/>
            <a:chExt cx="3719" cy="512"/>
          </a:xfrm>
        </p:grpSpPr>
        <p:sp>
          <p:nvSpPr>
            <p:cNvPr id="43019" name="Text Box 10"/>
            <p:cNvSpPr txBox="1">
              <a:spLocks noChangeArrowheads="1"/>
            </p:cNvSpPr>
            <p:nvPr/>
          </p:nvSpPr>
          <p:spPr bwMode="auto">
            <a:xfrm>
              <a:off x="137" y="1795"/>
              <a:ext cx="705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D</a:t>
              </a:r>
              <a:r>
                <a:rPr kumimoji="0" lang="en-US" sz="2400" b="0" i="1" u="none" strike="noStrike" kern="1200" cap="none" spc="0" normalizeH="0" baseline="-2500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trans</a:t>
              </a:r>
              <a:r>
                <a: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=</a:t>
              </a:r>
              <a:endPara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grpSp>
          <p:nvGrpSpPr>
            <p:cNvPr id="58379" name="Group 14"/>
            <p:cNvGrpSpPr/>
            <p:nvPr/>
          </p:nvGrpSpPr>
          <p:grpSpPr>
            <a:xfrm>
              <a:off x="827" y="1677"/>
              <a:ext cx="255" cy="496"/>
              <a:chOff x="155" y="2937"/>
              <a:chExt cx="255" cy="496"/>
            </a:xfrm>
          </p:grpSpPr>
          <p:sp>
            <p:nvSpPr>
              <p:cNvPr id="43029" name="Text Box 11"/>
              <p:cNvSpPr txBox="1">
                <a:spLocks noChangeArrowheads="1"/>
              </p:cNvSpPr>
              <p:nvPr/>
            </p:nvSpPr>
            <p:spPr bwMode="auto">
              <a:xfrm>
                <a:off x="176" y="293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L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30" name="Text Box 12"/>
              <p:cNvSpPr txBox="1">
                <a:spLocks noChangeArrowheads="1"/>
              </p:cNvSpPr>
              <p:nvPr/>
            </p:nvSpPr>
            <p:spPr bwMode="auto">
              <a:xfrm>
                <a:off x="155" y="3145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31" name="Line 13"/>
              <p:cNvSpPr>
                <a:spLocks noChangeShapeType="1"/>
              </p:cNvSpPr>
              <p:nvPr/>
            </p:nvSpPr>
            <p:spPr bwMode="auto">
              <a:xfrm>
                <a:off x="204" y="3192"/>
                <a:ext cx="18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58380" name="Group 19"/>
            <p:cNvGrpSpPr/>
            <p:nvPr/>
          </p:nvGrpSpPr>
          <p:grpSpPr>
            <a:xfrm>
              <a:off x="1233" y="1675"/>
              <a:ext cx="1225" cy="512"/>
              <a:chOff x="1401" y="1693"/>
              <a:chExt cx="1225" cy="512"/>
            </a:xfrm>
          </p:grpSpPr>
          <p:sp>
            <p:nvSpPr>
              <p:cNvPr id="43025" name="Text Box 6"/>
              <p:cNvSpPr txBox="1">
                <a:spLocks noChangeArrowheads="1"/>
              </p:cNvSpPr>
              <p:nvPr/>
            </p:nvSpPr>
            <p:spPr bwMode="auto">
              <a:xfrm>
                <a:off x="2085" y="1748"/>
                <a:ext cx="164" cy="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 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26" name="Text Box 16"/>
              <p:cNvSpPr txBox="1">
                <a:spLocks noChangeArrowheads="1"/>
              </p:cNvSpPr>
              <p:nvPr/>
            </p:nvSpPr>
            <p:spPr bwMode="auto">
              <a:xfrm>
                <a:off x="1563" y="1693"/>
                <a:ext cx="89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8000 bits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27" name="Text Box 17"/>
              <p:cNvSpPr txBox="1">
                <a:spLocks noChangeArrowheads="1"/>
              </p:cNvSpPr>
              <p:nvPr/>
            </p:nvSpPr>
            <p:spPr bwMode="auto">
              <a:xfrm>
                <a:off x="1401" y="1917"/>
                <a:ext cx="1225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10</a:t>
                </a:r>
                <a:r>
                  <a:rPr kumimoji="0" lang="en-US" sz="2400" b="0" i="1" u="none" strike="noStrike" kern="1200" cap="none" spc="0" normalizeH="0" baseline="3000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9 </a:t>
                </a:r>
                <a:r>
                  <a:rPr kumimoji="0" lang="en-US" sz="2400" b="0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bits/sec</a:t>
                </a:r>
                <a:endPara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3028" name="Line 18"/>
              <p:cNvSpPr>
                <a:spLocks noChangeShapeType="1"/>
              </p:cNvSpPr>
              <p:nvPr/>
            </p:nvSpPr>
            <p:spPr bwMode="auto">
              <a:xfrm>
                <a:off x="1604" y="1950"/>
                <a:ext cx="9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3022" name="Text Box 20"/>
            <p:cNvSpPr txBox="1">
              <a:spLocks noChangeArrowheads="1"/>
            </p:cNvSpPr>
            <p:nvPr/>
          </p:nvSpPr>
          <p:spPr bwMode="auto">
            <a:xfrm>
              <a:off x="1093" y="1789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=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43023" name="Text Box 22"/>
            <p:cNvSpPr txBox="1">
              <a:spLocks noChangeArrowheads="1"/>
            </p:cNvSpPr>
            <p:nvPr/>
          </p:nvSpPr>
          <p:spPr bwMode="auto">
            <a:xfrm>
              <a:off x="2509" y="1789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=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43024" name="Text Box 23"/>
            <p:cNvSpPr txBox="1">
              <a:spLocks noChangeArrowheads="1"/>
            </p:cNvSpPr>
            <p:nvPr/>
          </p:nvSpPr>
          <p:spPr bwMode="auto">
            <a:xfrm>
              <a:off x="2715" y="1777"/>
              <a:ext cx="1141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8 microsecs</a:t>
              </a:r>
              <a:endPara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4035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59395" name="Picture 3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15950" y="960438"/>
            <a:ext cx="667226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63525"/>
            <a:ext cx="7772400" cy="10080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rdt3.0: stop-and-wait operation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9397" name="Line 3"/>
          <p:cNvSpPr/>
          <p:nvPr/>
        </p:nvSpPr>
        <p:spPr>
          <a:xfrm>
            <a:off x="3557588" y="2001838"/>
            <a:ext cx="2227262" cy="9223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98" name="Text Box 4"/>
          <p:cNvSpPr txBox="1"/>
          <p:nvPr/>
        </p:nvSpPr>
        <p:spPr>
          <a:xfrm>
            <a:off x="233363" y="1797050"/>
            <a:ext cx="3232150" cy="3524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first packet bit transmitted, t = 0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sp>
        <p:nvSpPr>
          <p:cNvPr id="59399" name="Line 5"/>
          <p:cNvSpPr/>
          <p:nvPr/>
        </p:nvSpPr>
        <p:spPr>
          <a:xfrm>
            <a:off x="3546475" y="1782763"/>
            <a:ext cx="23813" cy="29130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0" name="Line 6"/>
          <p:cNvSpPr/>
          <p:nvPr/>
        </p:nvSpPr>
        <p:spPr>
          <a:xfrm>
            <a:off x="5773738" y="1795463"/>
            <a:ext cx="22225" cy="28908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01" name="Text Box 7"/>
          <p:cNvSpPr txBox="1"/>
          <p:nvPr/>
        </p:nvSpPr>
        <p:spPr>
          <a:xfrm>
            <a:off x="3017838" y="1446213"/>
            <a:ext cx="885825" cy="3508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sender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9402" name="Text Box 8"/>
          <p:cNvSpPr txBox="1"/>
          <p:nvPr/>
        </p:nvSpPr>
        <p:spPr>
          <a:xfrm>
            <a:off x="5195888" y="1446213"/>
            <a:ext cx="946150" cy="350837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receiver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9403" name="Line 9"/>
          <p:cNvSpPr/>
          <p:nvPr/>
        </p:nvSpPr>
        <p:spPr>
          <a:xfrm>
            <a:off x="3570288" y="1997075"/>
            <a:ext cx="2190750" cy="3175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04" name="Line 10"/>
          <p:cNvSpPr/>
          <p:nvPr/>
        </p:nvSpPr>
        <p:spPr>
          <a:xfrm>
            <a:off x="3575050" y="4108450"/>
            <a:ext cx="2192338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05" name="Line 11"/>
          <p:cNvSpPr/>
          <p:nvPr/>
        </p:nvSpPr>
        <p:spPr>
          <a:xfrm flipV="1">
            <a:off x="3575050" y="3165475"/>
            <a:ext cx="2209800" cy="9223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6" name="Freeform 12"/>
          <p:cNvSpPr/>
          <p:nvPr/>
        </p:nvSpPr>
        <p:spPr>
          <a:xfrm>
            <a:off x="3552825" y="1995488"/>
            <a:ext cx="2232025" cy="1155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</a:cxnLst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07" name="Line 13"/>
          <p:cNvSpPr/>
          <p:nvPr/>
        </p:nvSpPr>
        <p:spPr>
          <a:xfrm flipH="1">
            <a:off x="3408363" y="1995488"/>
            <a:ext cx="1317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8" name="Line 14"/>
          <p:cNvSpPr/>
          <p:nvPr/>
        </p:nvSpPr>
        <p:spPr>
          <a:xfrm flipH="1">
            <a:off x="3408363" y="2236788"/>
            <a:ext cx="1317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9" name="Line 15"/>
          <p:cNvSpPr/>
          <p:nvPr/>
        </p:nvSpPr>
        <p:spPr>
          <a:xfrm flipH="1">
            <a:off x="3419475" y="4095750"/>
            <a:ext cx="1333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0" name="Text Box 16"/>
          <p:cNvSpPr txBox="1"/>
          <p:nvPr/>
        </p:nvSpPr>
        <p:spPr>
          <a:xfrm>
            <a:off x="2755900" y="2968625"/>
            <a:ext cx="847725" cy="336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solidFill>
                  <a:srgbClr val="CC0000"/>
                </a:solidFill>
                <a:latin typeface="Arial" panose="020B0604020202090204" pitchFamily="34" charset="0"/>
              </a:rPr>
              <a:t>RTT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59411" name="Line 17"/>
          <p:cNvSpPr/>
          <p:nvPr/>
        </p:nvSpPr>
        <p:spPr>
          <a:xfrm>
            <a:off x="3443288" y="3276600"/>
            <a:ext cx="11112" cy="8112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12" name="Line 18"/>
          <p:cNvSpPr/>
          <p:nvPr/>
        </p:nvSpPr>
        <p:spPr>
          <a:xfrm flipV="1">
            <a:off x="3448050" y="2259013"/>
            <a:ext cx="3175" cy="7683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13" name="Text Box 19"/>
          <p:cNvSpPr txBox="1"/>
          <p:nvPr/>
        </p:nvSpPr>
        <p:spPr>
          <a:xfrm>
            <a:off x="0" y="2074863"/>
            <a:ext cx="3465513" cy="352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last packet bit transmitted, </a:t>
            </a:r>
            <a:r>
              <a:rPr lang="en-US" altLang="zh-CN" dirty="0">
                <a:solidFill>
                  <a:srgbClr val="CC0000"/>
                </a:solidFill>
                <a:latin typeface="Arial" panose="020B0604020202090204" pitchFamily="34" charset="0"/>
              </a:rPr>
              <a:t>t = L / R</a:t>
            </a:r>
            <a:endParaRPr lang="en-US" altLang="zh-CN" dirty="0">
              <a:solidFill>
                <a:srgbClr val="CC0000"/>
              </a:solidFill>
              <a:latin typeface="Times New Roman" panose="02020503050405090304" charset="0"/>
            </a:endParaRPr>
          </a:p>
        </p:txBody>
      </p:sp>
      <p:sp>
        <p:nvSpPr>
          <p:cNvPr id="59414" name="Line 20"/>
          <p:cNvSpPr/>
          <p:nvPr/>
        </p:nvSpPr>
        <p:spPr>
          <a:xfrm flipH="1">
            <a:off x="5761038" y="2909888"/>
            <a:ext cx="1333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5" name="Text Box 21"/>
          <p:cNvSpPr txBox="1"/>
          <p:nvPr/>
        </p:nvSpPr>
        <p:spPr>
          <a:xfrm>
            <a:off x="5842000" y="2733675"/>
            <a:ext cx="2425700" cy="352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first packet bit arrives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9416" name="Line 22"/>
          <p:cNvSpPr/>
          <p:nvPr/>
        </p:nvSpPr>
        <p:spPr>
          <a:xfrm>
            <a:off x="5784850" y="3159125"/>
            <a:ext cx="1270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7" name="Text Box 23"/>
          <p:cNvSpPr txBox="1"/>
          <p:nvPr/>
        </p:nvSpPr>
        <p:spPr>
          <a:xfrm>
            <a:off x="5848350" y="2986088"/>
            <a:ext cx="3114675" cy="5699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last packet bit arrives, send ACK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59418" name="Text Box 24"/>
          <p:cNvSpPr txBox="1"/>
          <p:nvPr/>
        </p:nvSpPr>
        <p:spPr>
          <a:xfrm>
            <a:off x="825500" y="3768725"/>
            <a:ext cx="2686050" cy="635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ACK arrives, send next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r"/>
            <a:r>
              <a:rPr lang="en-US" altLang="zh-CN" dirty="0">
                <a:latin typeface="Arial" panose="020B0604020202090204" pitchFamily="34" charset="0"/>
              </a:rPr>
              <a:t>packet, </a:t>
            </a:r>
            <a:r>
              <a:rPr lang="en-US" altLang="zh-CN" dirty="0">
                <a:solidFill>
                  <a:srgbClr val="CC0000"/>
                </a:solidFill>
                <a:latin typeface="Arial" panose="020B0604020202090204" pitchFamily="34" charset="0"/>
              </a:rPr>
              <a:t>t = RTT + L / R</a:t>
            </a:r>
            <a:endParaRPr lang="en-US" altLang="zh-CN" dirty="0">
              <a:solidFill>
                <a:srgbClr val="CC0000"/>
              </a:solidFill>
              <a:latin typeface="Times New Roman" panose="02020503050405090304" charset="0"/>
            </a:endParaRPr>
          </a:p>
        </p:txBody>
      </p:sp>
      <p:sp>
        <p:nvSpPr>
          <p:cNvPr id="59419" name="Freeform 25"/>
          <p:cNvSpPr/>
          <p:nvPr/>
        </p:nvSpPr>
        <p:spPr>
          <a:xfrm>
            <a:off x="3570288" y="4103688"/>
            <a:ext cx="1419225" cy="577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</a:cxnLst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59420" name="Group 26"/>
          <p:cNvGrpSpPr/>
          <p:nvPr/>
        </p:nvGrpSpPr>
        <p:grpSpPr>
          <a:xfrm>
            <a:off x="3563938" y="4095750"/>
            <a:ext cx="1281112" cy="534988"/>
            <a:chOff x="12315" y="13225"/>
            <a:chExt cx="2775" cy="913"/>
          </a:xfrm>
        </p:grpSpPr>
        <p:sp>
          <p:nvSpPr>
            <p:cNvPr id="59424" name="Line 27"/>
            <p:cNvSpPr/>
            <p:nvPr/>
          </p:nvSpPr>
          <p:spPr>
            <a:xfrm>
              <a:off x="12315" y="13225"/>
              <a:ext cx="1587" cy="5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5" name="Line 28"/>
            <p:cNvSpPr/>
            <p:nvPr/>
          </p:nvSpPr>
          <p:spPr>
            <a:xfrm>
              <a:off x="13915" y="13737"/>
              <a:ext cx="1175" cy="40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59421" name="Line 29"/>
          <p:cNvSpPr/>
          <p:nvPr/>
        </p:nvSpPr>
        <p:spPr>
          <a:xfrm>
            <a:off x="3563938" y="4337050"/>
            <a:ext cx="317500" cy="1238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22" name="Line 30"/>
          <p:cNvSpPr/>
          <p:nvPr/>
        </p:nvSpPr>
        <p:spPr>
          <a:xfrm>
            <a:off x="3887788" y="4460875"/>
            <a:ext cx="541337" cy="234950"/>
          </a:xfrm>
          <a:prstGeom prst="line">
            <a:avLst/>
          </a:prstGeom>
          <a:ln w="9525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  <p:graphicFrame>
        <p:nvGraphicFramePr>
          <p:cNvPr id="59423" name="Object 35"/>
          <p:cNvGraphicFramePr>
            <a:graphicFrameLocks noChangeAspect="1"/>
          </p:cNvGraphicFramePr>
          <p:nvPr/>
        </p:nvGraphicFramePr>
        <p:xfrm>
          <a:off x="1255713" y="4862513"/>
          <a:ext cx="67484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3581400" imgH="495300" progId="Word.Picture.8">
                  <p:embed/>
                </p:oleObj>
              </mc:Choice>
              <mc:Fallback>
                <p:oleObj name="" r:id="rId2" imgW="3581400" imgH="49530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55713" y="4862513"/>
                        <a:ext cx="6748462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505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60419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42925" y="803275"/>
            <a:ext cx="4570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5725"/>
            <a:ext cx="7772400" cy="10080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Pipelined protocols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23875" y="1304925"/>
            <a:ext cx="7591425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pipelining: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sender allows multiple, 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in-flight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, yet-to-be-acknowledged pkts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range of sequence numbers must be increased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buffering at sender and/or receiver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45063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90550" y="5419725"/>
            <a:ext cx="8286750" cy="1076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two generic forms of pipelined protocols: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go-Back-N, selective repeat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60423" name="Picture 5" descr="rdt_pipeline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8" y="2946400"/>
            <a:ext cx="6105525" cy="23701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0424" name="Group 44"/>
          <p:cNvGrpSpPr/>
          <p:nvPr/>
        </p:nvGrpSpPr>
        <p:grpSpPr>
          <a:xfrm>
            <a:off x="1398588" y="3624263"/>
            <a:ext cx="469900" cy="465137"/>
            <a:chOff x="881" y="2283"/>
            <a:chExt cx="296" cy="293"/>
          </a:xfrm>
        </p:grpSpPr>
        <p:sp>
          <p:nvSpPr>
            <p:cNvPr id="45138" name="Rectangle 43"/>
            <p:cNvSpPr>
              <a:spLocks noChangeArrowheads="1"/>
            </p:cNvSpPr>
            <p:nvPr/>
          </p:nvSpPr>
          <p:spPr bwMode="auto">
            <a:xfrm>
              <a:off x="1026" y="2283"/>
              <a:ext cx="122" cy="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98" name="Group 36"/>
            <p:cNvGrpSpPr/>
            <p:nvPr/>
          </p:nvGrpSpPr>
          <p:grpSpPr>
            <a:xfrm flipH="1">
              <a:off x="881" y="2283"/>
              <a:ext cx="296" cy="293"/>
              <a:chOff x="2839" y="3501"/>
              <a:chExt cx="755" cy="803"/>
            </a:xfrm>
          </p:grpSpPr>
          <p:pic>
            <p:nvPicPr>
              <p:cNvPr id="60499" name="Picture 37" descr="desktop_computer_stylized_medium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0500" name="Freeform 3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0425" name="Freeform 48"/>
          <p:cNvSpPr/>
          <p:nvPr/>
        </p:nvSpPr>
        <p:spPr>
          <a:xfrm>
            <a:off x="7339013" y="3636963"/>
            <a:ext cx="185737" cy="431800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117" h="272">
                <a:moveTo>
                  <a:pt x="6" y="6"/>
                </a:moveTo>
                <a:lnTo>
                  <a:pt x="3" y="77"/>
                </a:lnTo>
                <a:lnTo>
                  <a:pt x="59" y="120"/>
                </a:lnTo>
                <a:lnTo>
                  <a:pt x="0" y="146"/>
                </a:lnTo>
                <a:lnTo>
                  <a:pt x="3" y="270"/>
                </a:lnTo>
                <a:lnTo>
                  <a:pt x="117" y="272"/>
                </a:lnTo>
                <a:lnTo>
                  <a:pt x="114" y="0"/>
                </a:lnTo>
                <a:lnTo>
                  <a:pt x="6" y="6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60426" name="Group 50"/>
          <p:cNvGrpSpPr/>
          <p:nvPr/>
        </p:nvGrpSpPr>
        <p:grpSpPr>
          <a:xfrm>
            <a:off x="4510088" y="3641725"/>
            <a:ext cx="469900" cy="465138"/>
            <a:chOff x="881" y="2283"/>
            <a:chExt cx="296" cy="293"/>
          </a:xfrm>
        </p:grpSpPr>
        <p:sp>
          <p:nvSpPr>
            <p:cNvPr id="45134" name="Rectangle 51"/>
            <p:cNvSpPr>
              <a:spLocks noChangeArrowheads="1"/>
            </p:cNvSpPr>
            <p:nvPr/>
          </p:nvSpPr>
          <p:spPr bwMode="auto">
            <a:xfrm>
              <a:off x="1026" y="2283"/>
              <a:ext cx="122" cy="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94" name="Group 52"/>
            <p:cNvGrpSpPr/>
            <p:nvPr/>
          </p:nvGrpSpPr>
          <p:grpSpPr>
            <a:xfrm flipH="1">
              <a:off x="881" y="2283"/>
              <a:ext cx="296" cy="293"/>
              <a:chOff x="2839" y="3501"/>
              <a:chExt cx="755" cy="803"/>
            </a:xfrm>
          </p:grpSpPr>
          <p:pic>
            <p:nvPicPr>
              <p:cNvPr id="60495" name="Picture 53" descr="desktop_computer_stylized_medium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0496" name="Freeform 5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0" y="14"/>
                  </a:cxn>
                  <a:cxn ang="0">
                    <a:pos x="356" y="294"/>
                  </a:cxn>
                  <a:cxn ang="0">
                    <a:pos x="78" y="368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60427" name="Group 55"/>
          <p:cNvGrpSpPr/>
          <p:nvPr/>
        </p:nvGrpSpPr>
        <p:grpSpPr>
          <a:xfrm>
            <a:off x="4321175" y="3508375"/>
            <a:ext cx="223838" cy="501650"/>
            <a:chOff x="4140" y="429"/>
            <a:chExt cx="1425" cy="2396"/>
          </a:xfrm>
        </p:grpSpPr>
        <p:sp>
          <p:nvSpPr>
            <p:cNvPr id="60461" name="Freeform 5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103" name="Rectangle 57"/>
            <p:cNvSpPr>
              <a:spLocks noChangeArrowheads="1"/>
            </p:cNvSpPr>
            <p:nvPr/>
          </p:nvSpPr>
          <p:spPr bwMode="auto">
            <a:xfrm>
              <a:off x="4211" y="429"/>
              <a:ext cx="1041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63" name="Freeform 5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64" name="Freeform 5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106" name="Rectangle 60"/>
            <p:cNvSpPr>
              <a:spLocks noChangeArrowheads="1"/>
            </p:cNvSpPr>
            <p:nvPr/>
          </p:nvSpPr>
          <p:spPr bwMode="auto">
            <a:xfrm>
              <a:off x="4211" y="694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66" name="Group 61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32" name="AutoShape 6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133" name="AutoShape 63"/>
              <p:cNvSpPr>
                <a:spLocks noChangeArrowheads="1"/>
              </p:cNvSpPr>
              <p:nvPr/>
            </p:nvSpPr>
            <p:spPr bwMode="auto">
              <a:xfrm>
                <a:off x="623" y="2586"/>
                <a:ext cx="706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108" name="Rectangle 64"/>
            <p:cNvSpPr>
              <a:spLocks noChangeArrowheads="1"/>
            </p:cNvSpPr>
            <p:nvPr/>
          </p:nvSpPr>
          <p:spPr bwMode="auto">
            <a:xfrm>
              <a:off x="4221" y="1020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68" name="Group 65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130" name="AutoShape 66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131" name="AutoShape 67"/>
              <p:cNvSpPr>
                <a:spLocks noChangeArrowheads="1"/>
              </p:cNvSpPr>
              <p:nvPr/>
            </p:nvSpPr>
            <p:spPr bwMode="auto">
              <a:xfrm>
                <a:off x="626" y="2588"/>
                <a:ext cx="706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110" name="Rectangle 68"/>
            <p:cNvSpPr>
              <a:spLocks noChangeArrowheads="1"/>
            </p:cNvSpPr>
            <p:nvPr/>
          </p:nvSpPr>
          <p:spPr bwMode="auto">
            <a:xfrm>
              <a:off x="4221" y="1362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111" name="Rectangle 69"/>
            <p:cNvSpPr>
              <a:spLocks noChangeArrowheads="1"/>
            </p:cNvSpPr>
            <p:nvPr/>
          </p:nvSpPr>
          <p:spPr bwMode="auto">
            <a:xfrm>
              <a:off x="4231" y="1657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71" name="Group 70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28" name="AutoShape 7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1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129" name="AutoShape 72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2" cy="1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60472" name="Freeform 7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0473" name="Group 74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126" name="AutoShape 75"/>
              <p:cNvSpPr>
                <a:spLocks noChangeArrowheads="1"/>
              </p:cNvSpPr>
              <p:nvPr/>
            </p:nvSpPr>
            <p:spPr bwMode="auto">
              <a:xfrm>
                <a:off x="611" y="2565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127" name="AutoShape 76"/>
              <p:cNvSpPr>
                <a:spLocks noChangeArrowheads="1"/>
              </p:cNvSpPr>
              <p:nvPr/>
            </p:nvSpPr>
            <p:spPr bwMode="auto">
              <a:xfrm>
                <a:off x="623" y="2580"/>
                <a:ext cx="705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115" name="Rectangle 77"/>
            <p:cNvSpPr>
              <a:spLocks noChangeArrowheads="1"/>
            </p:cNvSpPr>
            <p:nvPr/>
          </p:nvSpPr>
          <p:spPr bwMode="auto">
            <a:xfrm>
              <a:off x="5252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75" name="Freeform 7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76" name="Freeform 7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118" name="Oval 80"/>
            <p:cNvSpPr>
              <a:spLocks noChangeArrowheads="1"/>
            </p:cNvSpPr>
            <p:nvPr/>
          </p:nvSpPr>
          <p:spPr bwMode="auto">
            <a:xfrm>
              <a:off x="5514" y="2613"/>
              <a:ext cx="51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78" name="Freeform 8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120" name="AutoShape 82"/>
            <p:cNvSpPr>
              <a:spLocks noChangeArrowheads="1"/>
            </p:cNvSpPr>
            <p:nvPr/>
          </p:nvSpPr>
          <p:spPr bwMode="auto">
            <a:xfrm>
              <a:off x="4140" y="2681"/>
              <a:ext cx="1203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121" name="AutoShape 83"/>
            <p:cNvSpPr>
              <a:spLocks noChangeArrowheads="1"/>
            </p:cNvSpPr>
            <p:nvPr/>
          </p:nvSpPr>
          <p:spPr bwMode="auto">
            <a:xfrm>
              <a:off x="4211" y="2711"/>
              <a:ext cx="106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122" name="Oval 84"/>
            <p:cNvSpPr>
              <a:spLocks noChangeArrowheads="1"/>
            </p:cNvSpPr>
            <p:nvPr/>
          </p:nvSpPr>
          <p:spPr bwMode="auto">
            <a:xfrm>
              <a:off x="4312" y="2385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123" name="Oval 85"/>
            <p:cNvSpPr>
              <a:spLocks noChangeArrowheads="1"/>
            </p:cNvSpPr>
            <p:nvPr/>
          </p:nvSpPr>
          <p:spPr bwMode="auto">
            <a:xfrm>
              <a:off x="4484" y="2385"/>
              <a:ext cx="162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45124" name="Oval 86"/>
            <p:cNvSpPr>
              <a:spLocks noChangeArrowheads="1"/>
            </p:cNvSpPr>
            <p:nvPr/>
          </p:nvSpPr>
          <p:spPr bwMode="auto">
            <a:xfrm>
              <a:off x="4666" y="2378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125" name="Rectangle 87"/>
            <p:cNvSpPr>
              <a:spLocks noChangeArrowheads="1"/>
            </p:cNvSpPr>
            <p:nvPr/>
          </p:nvSpPr>
          <p:spPr bwMode="auto">
            <a:xfrm>
              <a:off x="5060" y="1832"/>
              <a:ext cx="9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0428" name="Group 88"/>
          <p:cNvGrpSpPr/>
          <p:nvPr/>
        </p:nvGrpSpPr>
        <p:grpSpPr>
          <a:xfrm>
            <a:off x="7385050" y="3503613"/>
            <a:ext cx="223838" cy="501650"/>
            <a:chOff x="4140" y="429"/>
            <a:chExt cx="1425" cy="2396"/>
          </a:xfrm>
        </p:grpSpPr>
        <p:sp>
          <p:nvSpPr>
            <p:cNvPr id="60429" name="Freeform 89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1" name="Rectangle 90"/>
            <p:cNvSpPr>
              <a:spLocks noChangeArrowheads="1"/>
            </p:cNvSpPr>
            <p:nvPr/>
          </p:nvSpPr>
          <p:spPr bwMode="auto">
            <a:xfrm>
              <a:off x="4211" y="429"/>
              <a:ext cx="1041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31" name="Freeform 91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32" name="Freeform 92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4" name="Rectangle 93"/>
            <p:cNvSpPr>
              <a:spLocks noChangeArrowheads="1"/>
            </p:cNvSpPr>
            <p:nvPr/>
          </p:nvSpPr>
          <p:spPr bwMode="auto">
            <a:xfrm>
              <a:off x="4211" y="694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34" name="Group 94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00" name="AutoShape 95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101" name="AutoShape 96"/>
              <p:cNvSpPr>
                <a:spLocks noChangeArrowheads="1"/>
              </p:cNvSpPr>
              <p:nvPr/>
            </p:nvSpPr>
            <p:spPr bwMode="auto">
              <a:xfrm>
                <a:off x="623" y="2586"/>
                <a:ext cx="706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076" name="Rectangle 97"/>
            <p:cNvSpPr>
              <a:spLocks noChangeArrowheads="1"/>
            </p:cNvSpPr>
            <p:nvPr/>
          </p:nvSpPr>
          <p:spPr bwMode="auto">
            <a:xfrm>
              <a:off x="4221" y="1020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36" name="Group 98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098" name="AutoShape 99"/>
              <p:cNvSpPr>
                <a:spLocks noChangeArrowheads="1"/>
              </p:cNvSpPr>
              <p:nvPr/>
            </p:nvSpPr>
            <p:spPr bwMode="auto">
              <a:xfrm>
                <a:off x="613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099" name="AutoShape 100"/>
              <p:cNvSpPr>
                <a:spLocks noChangeArrowheads="1"/>
              </p:cNvSpPr>
              <p:nvPr/>
            </p:nvSpPr>
            <p:spPr bwMode="auto">
              <a:xfrm>
                <a:off x="626" y="2588"/>
                <a:ext cx="706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078" name="Rectangle 101"/>
            <p:cNvSpPr>
              <a:spLocks noChangeArrowheads="1"/>
            </p:cNvSpPr>
            <p:nvPr/>
          </p:nvSpPr>
          <p:spPr bwMode="auto">
            <a:xfrm>
              <a:off x="4221" y="1362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079" name="Rectangle 102"/>
            <p:cNvSpPr>
              <a:spLocks noChangeArrowheads="1"/>
            </p:cNvSpPr>
            <p:nvPr/>
          </p:nvSpPr>
          <p:spPr bwMode="auto">
            <a:xfrm>
              <a:off x="4231" y="1657"/>
              <a:ext cx="596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60439" name="Group 103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096" name="AutoShape 10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1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097" name="AutoShape 105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2" cy="1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60440" name="Freeform 106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0441" name="Group 107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094" name="AutoShape 108"/>
              <p:cNvSpPr>
                <a:spLocks noChangeArrowheads="1"/>
              </p:cNvSpPr>
              <p:nvPr/>
            </p:nvSpPr>
            <p:spPr bwMode="auto">
              <a:xfrm>
                <a:off x="611" y="2565"/>
                <a:ext cx="730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45095" name="AutoShape 109"/>
              <p:cNvSpPr>
                <a:spLocks noChangeArrowheads="1"/>
              </p:cNvSpPr>
              <p:nvPr/>
            </p:nvSpPr>
            <p:spPr bwMode="auto">
              <a:xfrm>
                <a:off x="623" y="2580"/>
                <a:ext cx="705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45083" name="Rectangle 110"/>
            <p:cNvSpPr>
              <a:spLocks noChangeArrowheads="1"/>
            </p:cNvSpPr>
            <p:nvPr/>
          </p:nvSpPr>
          <p:spPr bwMode="auto">
            <a:xfrm>
              <a:off x="5252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43" name="Freeform 111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44" name="Freeform 112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86" name="Oval 113"/>
            <p:cNvSpPr>
              <a:spLocks noChangeArrowheads="1"/>
            </p:cNvSpPr>
            <p:nvPr/>
          </p:nvSpPr>
          <p:spPr bwMode="auto">
            <a:xfrm>
              <a:off x="5514" y="2613"/>
              <a:ext cx="51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446" name="Freeform 114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88" name="AutoShape 115"/>
            <p:cNvSpPr>
              <a:spLocks noChangeArrowheads="1"/>
            </p:cNvSpPr>
            <p:nvPr/>
          </p:nvSpPr>
          <p:spPr bwMode="auto">
            <a:xfrm>
              <a:off x="4140" y="2681"/>
              <a:ext cx="1203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089" name="AutoShape 116"/>
            <p:cNvSpPr>
              <a:spLocks noChangeArrowheads="1"/>
            </p:cNvSpPr>
            <p:nvPr/>
          </p:nvSpPr>
          <p:spPr bwMode="auto">
            <a:xfrm>
              <a:off x="4211" y="2711"/>
              <a:ext cx="106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090" name="Oval 117"/>
            <p:cNvSpPr>
              <a:spLocks noChangeArrowheads="1"/>
            </p:cNvSpPr>
            <p:nvPr/>
          </p:nvSpPr>
          <p:spPr bwMode="auto">
            <a:xfrm>
              <a:off x="4312" y="2385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091" name="Oval 118"/>
            <p:cNvSpPr>
              <a:spLocks noChangeArrowheads="1"/>
            </p:cNvSpPr>
            <p:nvPr/>
          </p:nvSpPr>
          <p:spPr bwMode="auto">
            <a:xfrm>
              <a:off x="4484" y="2385"/>
              <a:ext cx="162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45092" name="Oval 119"/>
            <p:cNvSpPr>
              <a:spLocks noChangeArrowheads="1"/>
            </p:cNvSpPr>
            <p:nvPr/>
          </p:nvSpPr>
          <p:spPr bwMode="auto">
            <a:xfrm>
              <a:off x="4666" y="2378"/>
              <a:ext cx="152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45093" name="Rectangle 120"/>
            <p:cNvSpPr>
              <a:spLocks noChangeArrowheads="1"/>
            </p:cNvSpPr>
            <p:nvPr/>
          </p:nvSpPr>
          <p:spPr bwMode="auto">
            <a:xfrm>
              <a:off x="5060" y="1832"/>
              <a:ext cx="9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6083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61443" name="Picture 6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69913" y="842963"/>
            <a:ext cx="63992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7772400" cy="963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Pipelining: increased utilization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1445" name="Line 3"/>
          <p:cNvSpPr/>
          <p:nvPr/>
        </p:nvSpPr>
        <p:spPr>
          <a:xfrm>
            <a:off x="3171825" y="1778000"/>
            <a:ext cx="2082800" cy="9318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6" name="Text Box 4"/>
          <p:cNvSpPr txBox="1"/>
          <p:nvPr/>
        </p:nvSpPr>
        <p:spPr>
          <a:xfrm>
            <a:off x="0" y="1571625"/>
            <a:ext cx="3086100" cy="35401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first packet bit transmitted, t = 0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47" name="Line 5"/>
          <p:cNvSpPr/>
          <p:nvPr/>
        </p:nvSpPr>
        <p:spPr>
          <a:xfrm>
            <a:off x="3162300" y="1555750"/>
            <a:ext cx="20638" cy="32845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8" name="Line 6"/>
          <p:cNvSpPr/>
          <p:nvPr/>
        </p:nvSpPr>
        <p:spPr>
          <a:xfrm>
            <a:off x="5243513" y="1568450"/>
            <a:ext cx="22225" cy="33512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9" name="Text Box 7"/>
          <p:cNvSpPr txBox="1"/>
          <p:nvPr/>
        </p:nvSpPr>
        <p:spPr>
          <a:xfrm>
            <a:off x="2701925" y="1228725"/>
            <a:ext cx="1042988" cy="355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sender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50" name="Text Box 8"/>
          <p:cNvSpPr txBox="1"/>
          <p:nvPr/>
        </p:nvSpPr>
        <p:spPr>
          <a:xfrm>
            <a:off x="4730750" y="1228725"/>
            <a:ext cx="1108075" cy="355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receiver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51" name="Line 9"/>
          <p:cNvSpPr/>
          <p:nvPr/>
        </p:nvSpPr>
        <p:spPr>
          <a:xfrm>
            <a:off x="3182938" y="1773238"/>
            <a:ext cx="2049462" cy="3175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452" name="Line 10"/>
          <p:cNvSpPr/>
          <p:nvPr/>
        </p:nvSpPr>
        <p:spPr>
          <a:xfrm>
            <a:off x="3189288" y="3905250"/>
            <a:ext cx="20494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1453" name="Freeform 11"/>
          <p:cNvSpPr/>
          <p:nvPr/>
        </p:nvSpPr>
        <p:spPr>
          <a:xfrm>
            <a:off x="3167063" y="1770063"/>
            <a:ext cx="2087562" cy="11699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</a:cxnLst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454" name="Line 12"/>
          <p:cNvSpPr/>
          <p:nvPr/>
        </p:nvSpPr>
        <p:spPr>
          <a:xfrm flipH="1">
            <a:off x="3032125" y="1770063"/>
            <a:ext cx="123825" cy="31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5" name="Line 13"/>
          <p:cNvSpPr/>
          <p:nvPr/>
        </p:nvSpPr>
        <p:spPr>
          <a:xfrm flipH="1">
            <a:off x="3032125" y="2014538"/>
            <a:ext cx="1238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6" name="Text Box 14"/>
          <p:cNvSpPr txBox="1"/>
          <p:nvPr/>
        </p:nvSpPr>
        <p:spPr>
          <a:xfrm>
            <a:off x="2251075" y="2754313"/>
            <a:ext cx="965200" cy="339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RTT 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57" name="Line 15"/>
          <p:cNvSpPr/>
          <p:nvPr/>
        </p:nvSpPr>
        <p:spPr>
          <a:xfrm>
            <a:off x="3065463" y="3065463"/>
            <a:ext cx="9525" cy="8207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8" name="Line 16"/>
          <p:cNvSpPr/>
          <p:nvPr/>
        </p:nvSpPr>
        <p:spPr>
          <a:xfrm flipV="1">
            <a:off x="3070225" y="2036763"/>
            <a:ext cx="1588" cy="7762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59" name="Text Box 17"/>
          <p:cNvSpPr txBox="1"/>
          <p:nvPr/>
        </p:nvSpPr>
        <p:spPr>
          <a:xfrm>
            <a:off x="346075" y="1852613"/>
            <a:ext cx="2740025" cy="3540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last bit transmitted, t = L / R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60" name="Line 18"/>
          <p:cNvSpPr/>
          <p:nvPr/>
        </p:nvSpPr>
        <p:spPr>
          <a:xfrm flipH="1">
            <a:off x="5232400" y="2695575"/>
            <a:ext cx="1254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1" name="Text Box 19"/>
          <p:cNvSpPr txBox="1"/>
          <p:nvPr/>
        </p:nvSpPr>
        <p:spPr>
          <a:xfrm>
            <a:off x="5308600" y="2517775"/>
            <a:ext cx="2641600" cy="355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first packet bit arrives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62" name="Line 20"/>
          <p:cNvSpPr/>
          <p:nvPr/>
        </p:nvSpPr>
        <p:spPr>
          <a:xfrm>
            <a:off x="5254625" y="2946400"/>
            <a:ext cx="11906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3" name="Text Box 21"/>
          <p:cNvSpPr txBox="1"/>
          <p:nvPr/>
        </p:nvSpPr>
        <p:spPr>
          <a:xfrm>
            <a:off x="5313363" y="2770188"/>
            <a:ext cx="3581400" cy="38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last packet bit arrives, send ACK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64" name="Text Box 22"/>
          <p:cNvSpPr txBox="1"/>
          <p:nvPr/>
        </p:nvSpPr>
        <p:spPr>
          <a:xfrm>
            <a:off x="493713" y="3562350"/>
            <a:ext cx="2635250" cy="641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r>
              <a:rPr lang="en-US" altLang="zh-CN" dirty="0">
                <a:latin typeface="Arial" panose="020B0604020202090204" pitchFamily="34" charset="0"/>
              </a:rPr>
              <a:t>ACK arrives, send next </a:t>
            </a:r>
            <a:endParaRPr lang="en-US" altLang="zh-CN" dirty="0">
              <a:latin typeface="Arial" panose="020B0604020202090204" pitchFamily="34" charset="0"/>
            </a:endParaRPr>
          </a:p>
          <a:p>
            <a:pPr algn="r"/>
            <a:r>
              <a:rPr lang="en-US" altLang="zh-CN" dirty="0">
                <a:latin typeface="Arial" panose="020B0604020202090204" pitchFamily="34" charset="0"/>
              </a:rPr>
              <a:t>packet, t = RTT + L / R</a:t>
            </a:r>
            <a:endParaRPr lang="en-US" altLang="zh-CN" dirty="0">
              <a:latin typeface="Times New Roman" panose="02020503050405090304" charset="0"/>
            </a:endParaRPr>
          </a:p>
        </p:txBody>
      </p:sp>
      <p:grpSp>
        <p:nvGrpSpPr>
          <p:cNvPr id="61465" name="Group 23"/>
          <p:cNvGrpSpPr/>
          <p:nvPr/>
        </p:nvGrpSpPr>
        <p:grpSpPr>
          <a:xfrm>
            <a:off x="3043238" y="3892550"/>
            <a:ext cx="1466850" cy="608013"/>
            <a:chOff x="12502" y="21425"/>
            <a:chExt cx="3400" cy="1025"/>
          </a:xfrm>
        </p:grpSpPr>
        <p:sp>
          <p:nvSpPr>
            <p:cNvPr id="61494" name="Line 24"/>
            <p:cNvSpPr/>
            <p:nvPr/>
          </p:nvSpPr>
          <p:spPr>
            <a:xfrm flipH="1">
              <a:off x="12502" y="21425"/>
              <a:ext cx="288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95" name="Freeform 25"/>
            <p:cNvSpPr/>
            <p:nvPr/>
          </p:nvSpPr>
          <p:spPr>
            <a:xfrm>
              <a:off x="12827" y="21438"/>
              <a:ext cx="3075" cy="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5147" y="98267"/>
                </a:cxn>
                <a:cxn ang="0">
                  <a:pos x="181112" y="98267"/>
                </a:cxn>
                <a:cxn ang="0">
                  <a:pos x="0" y="41006"/>
                </a:cxn>
                <a:cxn ang="0">
                  <a:pos x="0" y="0"/>
                </a:cxn>
              </a:cxnLst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1496" name="Group 26"/>
            <p:cNvGrpSpPr/>
            <p:nvPr/>
          </p:nvGrpSpPr>
          <p:grpSpPr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61499" name="Line 27"/>
              <p:cNvSpPr/>
              <p:nvPr/>
            </p:nvSpPr>
            <p:spPr>
              <a:xfrm>
                <a:off x="12315" y="13225"/>
                <a:ext cx="1587" cy="51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00" name="Line 28"/>
              <p:cNvSpPr/>
              <p:nvPr/>
            </p:nvSpPr>
            <p:spPr>
              <a:xfrm>
                <a:off x="13915" y="13737"/>
                <a:ext cx="1175" cy="40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61497" name="Line 29"/>
            <p:cNvSpPr/>
            <p:nvPr/>
          </p:nvSpPr>
          <p:spPr>
            <a:xfrm>
              <a:off x="12815" y="21837"/>
              <a:ext cx="687" cy="2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98" name="Line 30"/>
            <p:cNvSpPr/>
            <p:nvPr/>
          </p:nvSpPr>
          <p:spPr>
            <a:xfrm>
              <a:off x="13515" y="22048"/>
              <a:ext cx="1175" cy="40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61466" name="Freeform 31"/>
          <p:cNvSpPr/>
          <p:nvPr/>
        </p:nvSpPr>
        <p:spPr>
          <a:xfrm>
            <a:off x="3171825" y="2022475"/>
            <a:ext cx="2087563" cy="1168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</a:cxnLst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1467" name="Freeform 32"/>
          <p:cNvSpPr/>
          <p:nvPr/>
        </p:nvSpPr>
        <p:spPr>
          <a:xfrm>
            <a:off x="3171825" y="2273300"/>
            <a:ext cx="2087563" cy="1168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</a:cxnLst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468" name="Line 33"/>
          <p:cNvSpPr/>
          <p:nvPr/>
        </p:nvSpPr>
        <p:spPr>
          <a:xfrm flipV="1">
            <a:off x="3189288" y="2954338"/>
            <a:ext cx="2065337" cy="9318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69" name="Line 34"/>
          <p:cNvSpPr/>
          <p:nvPr/>
        </p:nvSpPr>
        <p:spPr>
          <a:xfrm flipV="1">
            <a:off x="3189288" y="3205163"/>
            <a:ext cx="2065337" cy="9318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1470" name="Group 35"/>
          <p:cNvGrpSpPr/>
          <p:nvPr/>
        </p:nvGrpSpPr>
        <p:grpSpPr>
          <a:xfrm>
            <a:off x="3032125" y="4130675"/>
            <a:ext cx="1466850" cy="606425"/>
            <a:chOff x="12502" y="21425"/>
            <a:chExt cx="3400" cy="1025"/>
          </a:xfrm>
        </p:grpSpPr>
        <p:sp>
          <p:nvSpPr>
            <p:cNvPr id="61487" name="Line 36"/>
            <p:cNvSpPr/>
            <p:nvPr/>
          </p:nvSpPr>
          <p:spPr>
            <a:xfrm flipH="1">
              <a:off x="12502" y="21425"/>
              <a:ext cx="288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88" name="Freeform 37"/>
            <p:cNvSpPr/>
            <p:nvPr/>
          </p:nvSpPr>
          <p:spPr>
            <a:xfrm>
              <a:off x="12827" y="21438"/>
              <a:ext cx="3075" cy="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5147" y="98267"/>
                </a:cxn>
                <a:cxn ang="0">
                  <a:pos x="181112" y="98267"/>
                </a:cxn>
                <a:cxn ang="0">
                  <a:pos x="0" y="41006"/>
                </a:cxn>
                <a:cxn ang="0">
                  <a:pos x="0" y="0"/>
                </a:cxn>
              </a:cxnLst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1489" name="Group 38"/>
            <p:cNvGrpSpPr/>
            <p:nvPr/>
          </p:nvGrpSpPr>
          <p:grpSpPr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61492" name="Line 39"/>
              <p:cNvSpPr/>
              <p:nvPr/>
            </p:nvSpPr>
            <p:spPr>
              <a:xfrm>
                <a:off x="12315" y="13225"/>
                <a:ext cx="1587" cy="51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93" name="Line 40"/>
              <p:cNvSpPr/>
              <p:nvPr/>
            </p:nvSpPr>
            <p:spPr>
              <a:xfrm>
                <a:off x="13915" y="13737"/>
                <a:ext cx="1175" cy="40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61490" name="Line 41"/>
            <p:cNvSpPr/>
            <p:nvPr/>
          </p:nvSpPr>
          <p:spPr>
            <a:xfrm>
              <a:off x="12815" y="21837"/>
              <a:ext cx="687" cy="2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91" name="Line 42"/>
            <p:cNvSpPr/>
            <p:nvPr/>
          </p:nvSpPr>
          <p:spPr>
            <a:xfrm>
              <a:off x="13515" y="22048"/>
              <a:ext cx="1175" cy="40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61471" name="Group 43"/>
          <p:cNvGrpSpPr/>
          <p:nvPr/>
        </p:nvGrpSpPr>
        <p:grpSpPr>
          <a:xfrm>
            <a:off x="3043238" y="4381500"/>
            <a:ext cx="1466850" cy="606425"/>
            <a:chOff x="12502" y="21425"/>
            <a:chExt cx="3400" cy="1025"/>
          </a:xfrm>
        </p:grpSpPr>
        <p:sp>
          <p:nvSpPr>
            <p:cNvPr id="61480" name="Line 44"/>
            <p:cNvSpPr/>
            <p:nvPr/>
          </p:nvSpPr>
          <p:spPr>
            <a:xfrm flipH="1">
              <a:off x="12502" y="21425"/>
              <a:ext cx="288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81" name="Freeform 45"/>
            <p:cNvSpPr/>
            <p:nvPr/>
          </p:nvSpPr>
          <p:spPr>
            <a:xfrm>
              <a:off x="12827" y="21438"/>
              <a:ext cx="3075" cy="9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5147" y="98267"/>
                </a:cxn>
                <a:cxn ang="0">
                  <a:pos x="181112" y="98267"/>
                </a:cxn>
                <a:cxn ang="0">
                  <a:pos x="0" y="41006"/>
                </a:cxn>
                <a:cxn ang="0">
                  <a:pos x="0" y="0"/>
                </a:cxn>
              </a:cxnLst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1482" name="Group 46"/>
            <p:cNvGrpSpPr/>
            <p:nvPr/>
          </p:nvGrpSpPr>
          <p:grpSpPr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61485" name="Line 47"/>
              <p:cNvSpPr/>
              <p:nvPr/>
            </p:nvSpPr>
            <p:spPr>
              <a:xfrm>
                <a:off x="12315" y="13225"/>
                <a:ext cx="1587" cy="51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6" name="Line 48"/>
              <p:cNvSpPr/>
              <p:nvPr/>
            </p:nvSpPr>
            <p:spPr>
              <a:xfrm>
                <a:off x="13915" y="13737"/>
                <a:ext cx="1175" cy="40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61483" name="Line 49"/>
            <p:cNvSpPr/>
            <p:nvPr/>
          </p:nvSpPr>
          <p:spPr>
            <a:xfrm>
              <a:off x="12815" y="21837"/>
              <a:ext cx="687" cy="2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84" name="Line 50"/>
            <p:cNvSpPr/>
            <p:nvPr/>
          </p:nvSpPr>
          <p:spPr>
            <a:xfrm>
              <a:off x="13515" y="22048"/>
              <a:ext cx="1175" cy="40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61472" name="Line 51"/>
          <p:cNvSpPr/>
          <p:nvPr/>
        </p:nvSpPr>
        <p:spPr>
          <a:xfrm flipV="1">
            <a:off x="3194050" y="3457575"/>
            <a:ext cx="2065338" cy="93186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3" name="Text Box 52"/>
          <p:cNvSpPr txBox="1"/>
          <p:nvPr/>
        </p:nvSpPr>
        <p:spPr>
          <a:xfrm>
            <a:off x="5310188" y="3024188"/>
            <a:ext cx="3833812" cy="38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last bit of 2</a:t>
            </a:r>
            <a:r>
              <a:rPr lang="en-US" altLang="zh-CN" baseline="30000" dirty="0">
                <a:latin typeface="Arial" panose="020B0604020202090204" pitchFamily="34" charset="0"/>
              </a:rPr>
              <a:t>nd</a:t>
            </a:r>
            <a:r>
              <a:rPr lang="en-US" altLang="zh-CN" dirty="0">
                <a:latin typeface="Arial" panose="020B0604020202090204" pitchFamily="34" charset="0"/>
              </a:rPr>
              <a:t> packet arrives, send ACK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1474" name="Line 53"/>
          <p:cNvSpPr/>
          <p:nvPr/>
        </p:nvSpPr>
        <p:spPr>
          <a:xfrm flipV="1">
            <a:off x="5254625" y="3182938"/>
            <a:ext cx="1127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5" name="Line 54"/>
          <p:cNvSpPr/>
          <p:nvPr/>
        </p:nvSpPr>
        <p:spPr>
          <a:xfrm flipV="1">
            <a:off x="5265738" y="3435350"/>
            <a:ext cx="11271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6" name="Text Box 55"/>
          <p:cNvSpPr txBox="1"/>
          <p:nvPr/>
        </p:nvSpPr>
        <p:spPr>
          <a:xfrm>
            <a:off x="5305425" y="3257550"/>
            <a:ext cx="3838575" cy="384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dirty="0">
                <a:latin typeface="Arial" panose="020B0604020202090204" pitchFamily="34" charset="0"/>
              </a:rPr>
              <a:t>last bit of 3</a:t>
            </a:r>
            <a:r>
              <a:rPr lang="en-US" altLang="zh-CN" baseline="30000" dirty="0">
                <a:latin typeface="Arial" panose="020B0604020202090204" pitchFamily="34" charset="0"/>
              </a:rPr>
              <a:t>rd</a:t>
            </a:r>
            <a:r>
              <a:rPr lang="en-US" altLang="zh-CN" dirty="0">
                <a:latin typeface="Arial" panose="020B0604020202090204" pitchFamily="34" charset="0"/>
              </a:rPr>
              <a:t> packet arrives, send ACK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46118" name="Text Box 57"/>
          <p:cNvSpPr txBox="1">
            <a:spLocks noChangeArrowheads="1"/>
          </p:cNvSpPr>
          <p:nvPr/>
        </p:nvSpPr>
        <p:spPr bwMode="auto">
          <a:xfrm>
            <a:off x="5518150" y="4152900"/>
            <a:ext cx="3460750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3-packet pipelining increases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utilization by a factor of 3!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46119" name="Line 58"/>
          <p:cNvSpPr>
            <a:spLocks noChangeShapeType="1"/>
          </p:cNvSpPr>
          <p:nvPr/>
        </p:nvSpPr>
        <p:spPr bwMode="auto">
          <a:xfrm flipH="1">
            <a:off x="6386513" y="4821238"/>
            <a:ext cx="125413" cy="5127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aphicFrame>
        <p:nvGraphicFramePr>
          <p:cNvPr id="61479" name="Object 61"/>
          <p:cNvGraphicFramePr>
            <a:graphicFrameLocks noChangeAspect="1"/>
          </p:cNvGraphicFramePr>
          <p:nvPr/>
        </p:nvGraphicFramePr>
        <p:xfrm>
          <a:off x="1555750" y="5087938"/>
          <a:ext cx="6748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3581400" imgH="495300" progId="Word.Picture.8">
                  <p:embed/>
                </p:oleObj>
              </mc:Choice>
              <mc:Fallback>
                <p:oleObj name="" r:id="rId2" imgW="3581400" imgH="49530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5750" y="5087938"/>
                        <a:ext cx="6748463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710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62467" name="Picture 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55613" y="904875"/>
            <a:ext cx="73136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963"/>
            <a:ext cx="7772400" cy="9302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Pipelined protocols: overview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455738"/>
            <a:ext cx="3954463" cy="4848225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Go-back-N:</a:t>
            </a:r>
            <a:endParaRPr lang="en-US" altLang="zh-CN" u="sng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5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can have up to N unacked packets in pipeline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5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receiver only sends </a:t>
            </a:r>
            <a:r>
              <a:rPr lang="en-US" altLang="zh-CN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cumulative ack</a:t>
            </a:r>
            <a:endParaRPr lang="en-US" altLang="zh-CN" i="1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doesn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t ack packet if there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s a gap</a:t>
            </a:r>
            <a:endParaRPr lang="en-US" altLang="ja-JP" dirty="0">
              <a:latin typeface="+mn-lt"/>
              <a:ea typeface="MS PGothic" charset="0"/>
            </a:endParaRPr>
          </a:p>
          <a:p>
            <a:pPr>
              <a:lnSpc>
                <a:spcPct val="75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has timer for oldest unacked packet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when timer expires, retransmit </a:t>
            </a:r>
            <a:r>
              <a:rPr lang="en-US" altLang="zh-CN" i="1" dirty="0">
                <a:latin typeface="+mn-lt"/>
                <a:ea typeface="MS PGothic" charset="0"/>
              </a:rPr>
              <a:t>all</a:t>
            </a:r>
            <a:r>
              <a:rPr lang="en-US" altLang="zh-CN" dirty="0">
                <a:latin typeface="+mn-lt"/>
                <a:ea typeface="MS PGothic" charset="0"/>
              </a:rPr>
              <a:t> unacked packets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47111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73600" y="1455738"/>
            <a:ext cx="4289425" cy="4648200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Selective Repeat:</a:t>
            </a:r>
            <a:endParaRPr lang="en-US" altLang="zh-CN" u="sng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5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can have up to N unack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ed packets in pipeline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5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rcvr sends </a:t>
            </a:r>
            <a:r>
              <a:rPr lang="en-US" altLang="zh-CN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individual ack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for each packet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75000"/>
              </a:lnSpc>
              <a:spcBef>
                <a:spcPct val="0"/>
              </a:spcBef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maintains timer for each unacked packet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lnSpc>
                <a:spcPct val="80000"/>
              </a:lnSpc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when timer expires, retransmit only that unacked packet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lnSpc>
                <a:spcPct val="7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813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9525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Go-Back-N: sender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4813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314450"/>
            <a:ext cx="8324850" cy="1219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k-bit seq # in pkt header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window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 of up to N, consecutive unack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ed pkts allowed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63493" name="Picture 4" descr="gbn_seqnu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2263775"/>
            <a:ext cx="8099425" cy="163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476250" y="4149725"/>
            <a:ext cx="8324850" cy="1219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marL="292100" indent="-2921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 sz="2400">
                <a:latin typeface="Gill Sans MT" charset="0"/>
              </a:rPr>
              <a:t>ACK(n): ACKs all </a:t>
            </a:r>
            <a:r>
              <a:rPr lang="en-US" altLang="zh-CN" sz="2400" err="1">
                <a:latin typeface="Gill Sans MT" charset="0"/>
              </a:rPr>
              <a:t>pkts</a:t>
            </a:r>
            <a:r>
              <a:rPr lang="en-US" altLang="zh-CN" sz="2400">
                <a:latin typeface="Gill Sans MT" charset="0"/>
              </a:rPr>
              <a:t> up to, including </a:t>
            </a:r>
            <a:r>
              <a:rPr lang="en-US" altLang="zh-CN" sz="2400" err="1">
                <a:latin typeface="Gill Sans MT" charset="0"/>
              </a:rPr>
              <a:t>seq</a:t>
            </a:r>
            <a:r>
              <a:rPr lang="en-US" altLang="zh-CN" sz="2400">
                <a:latin typeface="Gill Sans MT" charset="0"/>
              </a:rPr>
              <a:t> # n - </a:t>
            </a:r>
            <a:r>
              <a:rPr lang="ja-JP" altLang="en-US" sz="2400" i="1">
                <a:solidFill>
                  <a:srgbClr val="CC0000"/>
                </a:solidFill>
                <a:latin typeface="Gill Sans MT" charset="0"/>
              </a:rPr>
              <a:t>“</a:t>
            </a:r>
            <a:r>
              <a:rPr lang="en-US" altLang="ja-JP" sz="2400" i="1">
                <a:solidFill>
                  <a:srgbClr val="CC0000"/>
                </a:solidFill>
                <a:latin typeface="Gill Sans MT" charset="0"/>
              </a:rPr>
              <a:t>cumulative ACK</a:t>
            </a:r>
            <a:r>
              <a:rPr lang="ja-JP" altLang="en-US" sz="2400" i="1">
                <a:solidFill>
                  <a:srgbClr val="CC0000"/>
                </a:solidFill>
                <a:latin typeface="Gill Sans MT" charset="0"/>
              </a:rPr>
              <a:t>”</a:t>
            </a:r>
            <a:endParaRPr lang="en-US" altLang="ja-JP" sz="2400" i="1">
              <a:solidFill>
                <a:srgbClr val="CC0000"/>
              </a:solidFill>
              <a:latin typeface="Gill Sans MT" charset="0"/>
            </a:endParaRPr>
          </a:p>
          <a:p>
            <a:pPr marL="685800" lvl="1" indent="-2286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90204" pitchFamily="34" charset="0"/>
              <a:buChar char="•"/>
            </a:pPr>
            <a:r>
              <a:rPr lang="en-US" altLang="zh-CN" sz="2400">
                <a:latin typeface="Gill Sans MT" charset="0"/>
              </a:rPr>
              <a:t>may receive duplicate ACKs (see receiver)</a:t>
            </a:r>
            <a:endParaRPr lang="en-US" altLang="zh-CN" sz="2000">
              <a:latin typeface="Gill Sans MT" charset="0"/>
            </a:endParaRPr>
          </a:p>
          <a:p>
            <a:pPr marL="292100" indent="-2921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 sz="2400">
                <a:latin typeface="Gill Sans MT" charset="0"/>
              </a:rPr>
              <a:t>timer for oldest in-flight </a:t>
            </a:r>
            <a:r>
              <a:rPr lang="en-US" altLang="zh-CN" sz="2400" err="1">
                <a:latin typeface="Gill Sans MT" charset="0"/>
              </a:rPr>
              <a:t>pkt</a:t>
            </a:r>
            <a:endParaRPr lang="en-US" altLang="zh-CN" sz="2400">
              <a:latin typeface="Gill Sans MT" charset="0"/>
            </a:endParaRPr>
          </a:p>
          <a:p>
            <a:pPr marL="292100" indent="-2921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 sz="2400" i="1">
                <a:latin typeface="Gill Sans MT" charset="0"/>
              </a:rPr>
              <a:t>timeout(n):</a:t>
            </a:r>
            <a:r>
              <a:rPr lang="en-US" altLang="zh-CN" sz="2400">
                <a:latin typeface="Gill Sans MT" charset="0"/>
              </a:rPr>
              <a:t> retransmit packet n and all higher </a:t>
            </a:r>
            <a:r>
              <a:rPr lang="en-US" altLang="zh-CN" sz="2400" err="1">
                <a:latin typeface="Gill Sans MT" charset="0"/>
              </a:rPr>
              <a:t>seq</a:t>
            </a:r>
            <a:r>
              <a:rPr lang="en-US" altLang="zh-CN" sz="2400">
                <a:latin typeface="Gill Sans MT" charset="0"/>
              </a:rPr>
              <a:t> # </a:t>
            </a:r>
            <a:r>
              <a:rPr lang="en-US" altLang="zh-CN" sz="2400" err="1">
                <a:latin typeface="Gill Sans MT" charset="0"/>
              </a:rPr>
              <a:t>pkts</a:t>
            </a:r>
            <a:r>
              <a:rPr lang="en-US" altLang="zh-CN" sz="2400">
                <a:latin typeface="Gill Sans MT" charset="0"/>
              </a:rPr>
              <a:t> in window</a:t>
            </a:r>
            <a:endParaRPr lang="en-US" altLang="zh-CN" sz="2800">
              <a:latin typeface="Gill Sans MT" charset="0"/>
            </a:endParaRPr>
          </a:p>
          <a:p>
            <a:pPr marL="292100" indent="-292100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zh-CN" sz="2800">
              <a:latin typeface="Gill Sans MT" charset="0"/>
            </a:endParaRPr>
          </a:p>
        </p:txBody>
      </p:sp>
      <p:sp>
        <p:nvSpPr>
          <p:cNvPr id="48136" name="Rectangle 6"/>
          <p:cNvSpPr>
            <a:spLocks noChangeArrowheads="1"/>
          </p:cNvSpPr>
          <p:nvPr/>
        </p:nvSpPr>
        <p:spPr bwMode="auto">
          <a:xfrm>
            <a:off x="1639888" y="2789238"/>
            <a:ext cx="2206625" cy="636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63496" name="Picture 9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563563" y="850900"/>
            <a:ext cx="5027612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49155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7000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GBN: sender extended FSM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grpSp>
        <p:nvGrpSpPr>
          <p:cNvPr id="64516" name="Group 3"/>
          <p:cNvGrpSpPr/>
          <p:nvPr/>
        </p:nvGrpSpPr>
        <p:grpSpPr>
          <a:xfrm>
            <a:off x="3535363" y="3743325"/>
            <a:ext cx="800100" cy="657225"/>
            <a:chOff x="1939" y="2515"/>
            <a:chExt cx="504" cy="414"/>
          </a:xfrm>
        </p:grpSpPr>
        <p:sp>
          <p:nvSpPr>
            <p:cNvPr id="64537" name="Oval 4"/>
            <p:cNvSpPr/>
            <p:nvPr/>
          </p:nvSpPr>
          <p:spPr>
            <a:xfrm>
              <a:off x="2004" y="2515"/>
              <a:ext cx="420" cy="41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dirty="0">
                <a:latin typeface="Tahoma" panose="020B0604030504040204" charset="0"/>
              </a:endParaRPr>
            </a:p>
          </p:txBody>
        </p:sp>
        <p:sp>
          <p:nvSpPr>
            <p:cNvPr id="64538" name="Text Box 5"/>
            <p:cNvSpPr txBox="1"/>
            <p:nvPr/>
          </p:nvSpPr>
          <p:spPr>
            <a:xfrm>
              <a:off x="1939" y="2611"/>
              <a:ext cx="504" cy="15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dirty="0">
                  <a:latin typeface="Arial" panose="020B0604020202090204" pitchFamily="34" charset="0"/>
                </a:rPr>
                <a:t>Wait</a:t>
              </a:r>
              <a:endParaRPr lang="en-US" altLang="zh-CN" dirty="0">
                <a:latin typeface="Times New Roman" panose="02020503050405090304" charset="0"/>
              </a:endParaRPr>
            </a:p>
          </p:txBody>
        </p:sp>
      </p:grpSp>
      <p:sp>
        <p:nvSpPr>
          <p:cNvPr id="64517" name="Line 6"/>
          <p:cNvSpPr/>
          <p:nvPr/>
        </p:nvSpPr>
        <p:spPr>
          <a:xfrm>
            <a:off x="2028825" y="2830513"/>
            <a:ext cx="1624013" cy="1069975"/>
          </a:xfrm>
          <a:prstGeom prst="line">
            <a:avLst/>
          </a:prstGeom>
          <a:ln w="28575" cap="flat" cmpd="sng">
            <a:solidFill>
              <a:srgbClr val="0000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64518" name="Text Box 7"/>
          <p:cNvSpPr txBox="1"/>
          <p:nvPr/>
        </p:nvSpPr>
        <p:spPr>
          <a:xfrm>
            <a:off x="4751388" y="3810000"/>
            <a:ext cx="2776537" cy="828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start_timer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udt_send(sndpkt[base])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udt_send(sndpkt[base+1])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…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udt_send(sndpkt[nextseqnum-1])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4519" name="Text Box 8"/>
          <p:cNvSpPr txBox="1"/>
          <p:nvPr/>
        </p:nvSpPr>
        <p:spPr>
          <a:xfrm>
            <a:off x="4773613" y="3575050"/>
            <a:ext cx="1100137" cy="2746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timeout</a:t>
            </a:r>
            <a:endParaRPr lang="en-US" altLang="zh-CN" sz="1400" dirty="0">
              <a:latin typeface="Times New Roman" panose="02020503050405090304" charset="0"/>
            </a:endParaRPr>
          </a:p>
          <a:p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4520" name="Line 9"/>
          <p:cNvSpPr/>
          <p:nvPr/>
        </p:nvSpPr>
        <p:spPr>
          <a:xfrm>
            <a:off x="4857750" y="3851275"/>
            <a:ext cx="161925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1" name="Freeform 10"/>
          <p:cNvSpPr/>
          <p:nvPr/>
        </p:nvSpPr>
        <p:spPr>
          <a:xfrm>
            <a:off x="4360863" y="3498850"/>
            <a:ext cx="393700" cy="11525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2" name="Text Box 11"/>
          <p:cNvSpPr txBox="1"/>
          <p:nvPr/>
        </p:nvSpPr>
        <p:spPr>
          <a:xfrm>
            <a:off x="3194050" y="1069975"/>
            <a:ext cx="2333625" cy="257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rdt_send(data)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64523" name="Line 12"/>
          <p:cNvSpPr/>
          <p:nvPr/>
        </p:nvSpPr>
        <p:spPr>
          <a:xfrm>
            <a:off x="3302000" y="1389063"/>
            <a:ext cx="191452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4" name="Text Box 13"/>
          <p:cNvSpPr txBox="1"/>
          <p:nvPr/>
        </p:nvSpPr>
        <p:spPr>
          <a:xfrm>
            <a:off x="3194050" y="1411288"/>
            <a:ext cx="5521325" cy="14668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if (nextseqnum &lt; base+N) {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sndpkt[nextseqnum] = make_pkt(nextseqnum,data,chksum)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udt_send(sndpkt[nextseqnum])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if (base == nextseqnum)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   start_timer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nextseqnum++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}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else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refuse_data(data)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4525" name="Freeform 14"/>
          <p:cNvSpPr/>
          <p:nvPr/>
        </p:nvSpPr>
        <p:spPr>
          <a:xfrm rot="5142103" flipH="1">
            <a:off x="3787775" y="2933700"/>
            <a:ext cx="393700" cy="11525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6" name="Text Box 15"/>
          <p:cNvSpPr txBox="1"/>
          <p:nvPr/>
        </p:nvSpPr>
        <p:spPr>
          <a:xfrm>
            <a:off x="3343275" y="5478463"/>
            <a:ext cx="3686175" cy="828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base = getacknum(rcvpkt)+1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If (base == nextseqnum)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stop_timer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else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 start_timer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4527" name="Text Box 16"/>
          <p:cNvSpPr txBox="1"/>
          <p:nvPr/>
        </p:nvSpPr>
        <p:spPr>
          <a:xfrm>
            <a:off x="3355975" y="4978400"/>
            <a:ext cx="2833688" cy="447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&amp;&amp;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notcorrupt(rcvpkt)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4528" name="Line 17"/>
          <p:cNvSpPr/>
          <p:nvPr/>
        </p:nvSpPr>
        <p:spPr>
          <a:xfrm>
            <a:off x="3448050" y="5502275"/>
            <a:ext cx="161925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9" name="Freeform 18"/>
          <p:cNvSpPr/>
          <p:nvPr/>
        </p:nvSpPr>
        <p:spPr>
          <a:xfrm>
            <a:off x="3505200" y="4446588"/>
            <a:ext cx="1054100" cy="6746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30" name="Line 19"/>
          <p:cNvSpPr/>
          <p:nvPr/>
        </p:nvSpPr>
        <p:spPr>
          <a:xfrm>
            <a:off x="1614488" y="3257550"/>
            <a:ext cx="803275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31" name="Text Box 20"/>
          <p:cNvSpPr txBox="1"/>
          <p:nvPr/>
        </p:nvSpPr>
        <p:spPr>
          <a:xfrm>
            <a:off x="1487488" y="3227388"/>
            <a:ext cx="1485900" cy="501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base=1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nextseqnum=1</a:t>
            </a:r>
            <a:endParaRPr lang="en-US" altLang="zh-CN" sz="1400" dirty="0">
              <a:latin typeface="Times New Roman" panose="02020503050405090304" charset="0"/>
            </a:endParaRPr>
          </a:p>
          <a:p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64532" name="Text Box 21"/>
          <p:cNvSpPr txBox="1"/>
          <p:nvPr/>
        </p:nvSpPr>
        <p:spPr>
          <a:xfrm>
            <a:off x="1250950" y="4289425"/>
            <a:ext cx="2047875" cy="447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 &amp;&amp; corrupt(rcvpkt)</a:t>
            </a:r>
            <a:r>
              <a:rPr lang="en-US" altLang="zh-CN" sz="1000" dirty="0">
                <a:latin typeface="Arial" panose="020B0604020202090204" pitchFamily="34" charset="0"/>
              </a:rPr>
              <a:t> </a:t>
            </a:r>
            <a:endParaRPr lang="en-US" altLang="zh-CN" sz="1000" dirty="0">
              <a:latin typeface="Arial" panose="020B0604020202090204" pitchFamily="34" charset="0"/>
            </a:endParaRPr>
          </a:p>
          <a:p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64533" name="Line 22"/>
          <p:cNvSpPr/>
          <p:nvPr/>
        </p:nvSpPr>
        <p:spPr>
          <a:xfrm flipV="1">
            <a:off x="1343025" y="4787900"/>
            <a:ext cx="1520825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34" name="Freeform 23"/>
          <p:cNvSpPr/>
          <p:nvPr/>
        </p:nvSpPr>
        <p:spPr>
          <a:xfrm>
            <a:off x="2898775" y="4221163"/>
            <a:ext cx="695325" cy="63817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76" name="Text Box 24"/>
          <p:cNvSpPr txBox="1">
            <a:spLocks noChangeArrowheads="1"/>
          </p:cNvSpPr>
          <p:nvPr/>
        </p:nvSpPr>
        <p:spPr bwMode="auto">
          <a:xfrm>
            <a:off x="1530350" y="2927350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pic>
        <p:nvPicPr>
          <p:cNvPr id="64536" name="Picture 2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49263" y="760413"/>
            <a:ext cx="5484812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017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0180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801688" y="3641725"/>
            <a:ext cx="8148638" cy="2854325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ACK-only: always send ACK for correctly-received pkt with highest </a:t>
            </a:r>
            <a:r>
              <a:rPr lang="en-US" altLang="zh-CN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in-order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seq #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may generate duplicate ACKs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need only remember </a:t>
            </a:r>
            <a:r>
              <a:rPr lang="en-US" altLang="zh-CN" b="1" dirty="0">
                <a:latin typeface="Courier New" panose="02070409020205090404" charset="0"/>
                <a:ea typeface="MS PGothic" charset="0"/>
              </a:rPr>
              <a:t>expectedseqnum</a:t>
            </a:r>
            <a:endParaRPr lang="en-US" altLang="zh-CN" b="1" dirty="0">
              <a:latin typeface="Courier New" panose="02070409020205090404" charset="0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out-of-order pkt: 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discard (don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t buffer): </a:t>
            </a:r>
            <a:r>
              <a:rPr lang="en-US" altLang="ja-JP" i="1" dirty="0">
                <a:solidFill>
                  <a:srgbClr val="CC0000"/>
                </a:solidFill>
                <a:latin typeface="+mn-lt"/>
                <a:ea typeface="MS PGothic" charset="0"/>
              </a:rPr>
              <a:t>no receiver buffering!</a:t>
            </a:r>
            <a:endParaRPr lang="en-US" altLang="ja-JP" i="1" dirty="0">
              <a:solidFill>
                <a:srgbClr val="CC0000"/>
              </a:solidFill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re-ACK pkt with highest in-order seq #</a:t>
            </a:r>
            <a:endParaRPr lang="en-US" altLang="zh-CN" dirty="0">
              <a:latin typeface="+mn-lt"/>
              <a:ea typeface="MS PGothic" charset="0"/>
            </a:endParaRPr>
          </a:p>
        </p:txBody>
      </p:sp>
      <p:sp>
        <p:nvSpPr>
          <p:cNvPr id="65540" name="Oval 4"/>
          <p:cNvSpPr/>
          <p:nvPr/>
        </p:nvSpPr>
        <p:spPr>
          <a:xfrm>
            <a:off x="3159125" y="2041525"/>
            <a:ext cx="666750" cy="657225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dirty="0">
              <a:latin typeface="Tahoma" panose="020B0604030504040204" charset="0"/>
            </a:endParaRPr>
          </a:p>
        </p:txBody>
      </p:sp>
      <p:sp>
        <p:nvSpPr>
          <p:cNvPr id="65541" name="Text Box 5"/>
          <p:cNvSpPr txBox="1"/>
          <p:nvPr/>
        </p:nvSpPr>
        <p:spPr>
          <a:xfrm>
            <a:off x="3068638" y="2209800"/>
            <a:ext cx="800100" cy="2381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dirty="0">
                <a:latin typeface="Arial" panose="020B0604020202090204" pitchFamily="34" charset="0"/>
              </a:rPr>
              <a:t>Wait</a:t>
            </a:r>
            <a:endParaRPr lang="en-US" altLang="zh-CN" dirty="0">
              <a:latin typeface="Times New Roman" panose="02020503050405090304" charset="0"/>
            </a:endParaRPr>
          </a:p>
        </p:txBody>
      </p:sp>
      <p:sp>
        <p:nvSpPr>
          <p:cNvPr id="65542" name="Line 6"/>
          <p:cNvSpPr/>
          <p:nvPr/>
        </p:nvSpPr>
        <p:spPr>
          <a:xfrm>
            <a:off x="844550" y="1881188"/>
            <a:ext cx="2298700" cy="474662"/>
          </a:xfrm>
          <a:prstGeom prst="line">
            <a:avLst/>
          </a:prstGeom>
          <a:ln w="28575" cap="flat" cmpd="sng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65543" name="Text Box 7"/>
          <p:cNvSpPr txBox="1"/>
          <p:nvPr/>
        </p:nvSpPr>
        <p:spPr>
          <a:xfrm>
            <a:off x="2557463" y="1468438"/>
            <a:ext cx="1617662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5544" name="Text Box 8"/>
          <p:cNvSpPr txBox="1"/>
          <p:nvPr/>
        </p:nvSpPr>
        <p:spPr>
          <a:xfrm>
            <a:off x="2597150" y="1192213"/>
            <a:ext cx="725488" cy="247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default</a:t>
            </a:r>
            <a:endParaRPr lang="en-US" altLang="zh-CN" sz="1400" dirty="0">
              <a:latin typeface="Times New Roman" panose="02020503050405090304" charset="0"/>
            </a:endParaRPr>
          </a:p>
          <a:p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65545" name="Line 9"/>
          <p:cNvSpPr/>
          <p:nvPr/>
        </p:nvSpPr>
        <p:spPr>
          <a:xfrm>
            <a:off x="2678113" y="1489075"/>
            <a:ext cx="815975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6" name="Freeform 10"/>
          <p:cNvSpPr/>
          <p:nvPr/>
        </p:nvSpPr>
        <p:spPr>
          <a:xfrm>
            <a:off x="3832225" y="1784350"/>
            <a:ext cx="828675" cy="11525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5547" name="Text Box 11"/>
          <p:cNvSpPr txBox="1"/>
          <p:nvPr/>
        </p:nvSpPr>
        <p:spPr>
          <a:xfrm>
            <a:off x="4325938" y="1554163"/>
            <a:ext cx="3570287" cy="5635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rdt_rcv(rcvpkt)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&amp;&amp; notcurrupt(rcvpkt)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&amp;&amp; hasseqnum(rcvpkt,expectedseqnum) 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5548" name="Line 12"/>
          <p:cNvSpPr/>
          <p:nvPr/>
        </p:nvSpPr>
        <p:spPr>
          <a:xfrm>
            <a:off x="4395788" y="2246313"/>
            <a:ext cx="3175000" cy="1587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9" name="Text Box 13"/>
          <p:cNvSpPr txBox="1"/>
          <p:nvPr/>
        </p:nvSpPr>
        <p:spPr>
          <a:xfrm>
            <a:off x="4330700" y="2289175"/>
            <a:ext cx="4314825" cy="8588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extract(rcvpkt,data)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deliver_data(data)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make_pkt(expectedseqnum,ACK,chksum)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udt_send(sndpkt)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expectedseqnum++</a:t>
            </a:r>
            <a:endParaRPr lang="en-US" altLang="zh-CN" sz="1400" dirty="0">
              <a:latin typeface="Times New Roman" panose="02020503050405090304" charset="0"/>
            </a:endParaRPr>
          </a:p>
        </p:txBody>
      </p:sp>
      <p:sp>
        <p:nvSpPr>
          <p:cNvPr id="65550" name="Freeform 14"/>
          <p:cNvSpPr/>
          <p:nvPr/>
        </p:nvSpPr>
        <p:spPr>
          <a:xfrm rot="5142103" flipH="1">
            <a:off x="3305175" y="1260475"/>
            <a:ext cx="393700" cy="11525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5551" name="Line 15"/>
          <p:cNvSpPr/>
          <p:nvPr/>
        </p:nvSpPr>
        <p:spPr>
          <a:xfrm>
            <a:off x="784225" y="2293938"/>
            <a:ext cx="123825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2" name="Text Box 16"/>
          <p:cNvSpPr txBox="1"/>
          <p:nvPr/>
        </p:nvSpPr>
        <p:spPr>
          <a:xfrm>
            <a:off x="693738" y="2314575"/>
            <a:ext cx="3641725" cy="981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expectedseqnum=1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sndpkt =    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r>
              <a:rPr lang="en-US" altLang="zh-CN" sz="1400" dirty="0">
                <a:latin typeface="Arial" panose="020B0604020202090204" pitchFamily="34" charset="0"/>
              </a:rPr>
              <a:t>  make_pkt(expectedseqnum,ACK,chksum)</a:t>
            </a:r>
            <a:endParaRPr lang="en-US" altLang="zh-CN" sz="1400" dirty="0">
              <a:latin typeface="Arial" panose="020B0604020202090204" pitchFamily="34" charset="0"/>
            </a:endParaRPr>
          </a:p>
          <a:p>
            <a:pPr algn="l"/>
            <a:endParaRPr lang="en-US" altLang="zh-CN" sz="1400" dirty="0">
              <a:latin typeface="Times New Roman" panose="02020503050405090304" charset="0"/>
            </a:endParaRPr>
          </a:p>
          <a:p>
            <a:endParaRPr lang="en-US" altLang="zh-CN" sz="2400" dirty="0">
              <a:latin typeface="Times New Roman" panose="02020503050405090304" charset="0"/>
            </a:endParaRPr>
          </a:p>
        </p:txBody>
      </p:sp>
      <p:sp>
        <p:nvSpPr>
          <p:cNvPr id="50194" name="Text Box 17"/>
          <p:cNvSpPr txBox="1">
            <a:spLocks noChangeArrowheads="1"/>
          </p:cNvSpPr>
          <p:nvPr/>
        </p:nvSpPr>
        <p:spPr bwMode="auto">
          <a:xfrm>
            <a:off x="730250" y="1990725"/>
            <a:ext cx="323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sp>
        <p:nvSpPr>
          <p:cNvPr id="50195" name="Rectangle 19"/>
          <p:cNvSpPr>
            <a:spLocks noGrp="1" noChangeArrowheads="1"/>
          </p:cNvSpPr>
          <p:nvPr>
            <p:ph type="title"/>
          </p:nvPr>
        </p:nvSpPr>
        <p:spPr>
          <a:xfrm>
            <a:off x="444500" y="207963"/>
            <a:ext cx="7772400" cy="7000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GBN: receiver extended FSM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65555" name="Picture 2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77850" y="806450"/>
            <a:ext cx="7313613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03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204788"/>
            <a:ext cx="7772400" cy="6508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GBN in action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1205" name="Text Box 4"/>
          <p:cNvSpPr txBox="1">
            <a:spLocks noChangeArrowheads="1"/>
          </p:cNvSpPr>
          <p:nvPr/>
        </p:nvSpPr>
        <p:spPr bwMode="auto">
          <a:xfrm>
            <a:off x="2632075" y="1412875"/>
            <a:ext cx="1246188" cy="1465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pkt3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(wait)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06" name="Text Box 5"/>
          <p:cNvSpPr txBox="1">
            <a:spLocks noChangeArrowheads="1"/>
          </p:cNvSpPr>
          <p:nvPr/>
        </p:nvSpPr>
        <p:spPr bwMode="auto">
          <a:xfrm>
            <a:off x="2952750" y="1041400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07" name="Text Box 6"/>
          <p:cNvSpPr txBox="1">
            <a:spLocks noChangeArrowheads="1"/>
          </p:cNvSpPr>
          <p:nvPr/>
        </p:nvSpPr>
        <p:spPr bwMode="auto">
          <a:xfrm>
            <a:off x="5983288" y="1060450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08" name="Line 14"/>
          <p:cNvSpPr>
            <a:spLocks noChangeShapeType="1"/>
          </p:cNvSpPr>
          <p:nvPr/>
        </p:nvSpPr>
        <p:spPr bwMode="auto">
          <a:xfrm>
            <a:off x="6057900" y="1658938"/>
            <a:ext cx="11113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09" name="Text Box 15"/>
          <p:cNvSpPr txBox="1">
            <a:spLocks noChangeArrowheads="1"/>
          </p:cNvSpPr>
          <p:nvPr/>
        </p:nvSpPr>
        <p:spPr bwMode="auto">
          <a:xfrm>
            <a:off x="6000750" y="1854200"/>
            <a:ext cx="2568575" cy="1465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pkt0, 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pkt1, 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pkt3, discard,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(re)send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0" name="Text Box 22"/>
          <p:cNvSpPr txBox="1">
            <a:spLocks noChangeArrowheads="1"/>
          </p:cNvSpPr>
          <p:nvPr/>
        </p:nvSpPr>
        <p:spPr bwMode="auto">
          <a:xfrm>
            <a:off x="1776413" y="3016250"/>
            <a:ext cx="2154238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ack0, send pkt4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ack1, send pkt5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66570" name="Picture 34" descr="alarm_clock_ring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4164013"/>
            <a:ext cx="436563" cy="481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12" name="Text Box 35"/>
          <p:cNvSpPr txBox="1">
            <a:spLocks noChangeArrowheads="1"/>
          </p:cNvSpPr>
          <p:nvPr/>
        </p:nvSpPr>
        <p:spPr bwMode="auto">
          <a:xfrm>
            <a:off x="2311400" y="4379913"/>
            <a:ext cx="153828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pkt 2 timeout</a:t>
            </a: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3" name="Text Box 36"/>
          <p:cNvSpPr txBox="1">
            <a:spLocks noChangeArrowheads="1"/>
          </p:cNvSpPr>
          <p:nvPr/>
        </p:nvSpPr>
        <p:spPr bwMode="auto">
          <a:xfrm>
            <a:off x="2636838" y="4594225"/>
            <a:ext cx="1246188" cy="1082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pkt3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pkt4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pkt5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4" name="Line 7"/>
          <p:cNvSpPr>
            <a:spLocks noChangeShapeType="1"/>
          </p:cNvSpPr>
          <p:nvPr/>
        </p:nvSpPr>
        <p:spPr bwMode="auto">
          <a:xfrm>
            <a:off x="3922713" y="1606550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5" name="Line 11"/>
          <p:cNvSpPr>
            <a:spLocks noChangeShapeType="1"/>
          </p:cNvSpPr>
          <p:nvPr/>
        </p:nvSpPr>
        <p:spPr bwMode="auto">
          <a:xfrm>
            <a:off x="3921125" y="1881188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6" name="Line 12"/>
          <p:cNvSpPr>
            <a:spLocks noChangeShapeType="1"/>
          </p:cNvSpPr>
          <p:nvPr/>
        </p:nvSpPr>
        <p:spPr bwMode="auto">
          <a:xfrm>
            <a:off x="3937000" y="2144713"/>
            <a:ext cx="876300" cy="2000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7" name="Line 13"/>
          <p:cNvSpPr>
            <a:spLocks noChangeShapeType="1"/>
          </p:cNvSpPr>
          <p:nvPr/>
        </p:nvSpPr>
        <p:spPr bwMode="auto">
          <a:xfrm>
            <a:off x="3943350" y="2430463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8" name="Line 17"/>
          <p:cNvSpPr>
            <a:spLocks noChangeShapeType="1"/>
          </p:cNvSpPr>
          <p:nvPr/>
        </p:nvSpPr>
        <p:spPr bwMode="auto">
          <a:xfrm flipH="1">
            <a:off x="3929063" y="2130425"/>
            <a:ext cx="2014538" cy="1066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4699000" y="2179638"/>
            <a:ext cx="3413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X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4857750" y="2200275"/>
            <a:ext cx="522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loss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1" name="Line 21"/>
          <p:cNvSpPr>
            <a:spLocks noChangeShapeType="1"/>
          </p:cNvSpPr>
          <p:nvPr/>
        </p:nvSpPr>
        <p:spPr bwMode="auto">
          <a:xfrm flipH="1">
            <a:off x="3925888" y="2416175"/>
            <a:ext cx="2014538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2" name="Line 24"/>
          <p:cNvSpPr>
            <a:spLocks noChangeShapeType="1"/>
          </p:cNvSpPr>
          <p:nvPr/>
        </p:nvSpPr>
        <p:spPr bwMode="auto">
          <a:xfrm>
            <a:off x="3929063" y="3252788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3" name="Line 25"/>
          <p:cNvSpPr>
            <a:spLocks noChangeShapeType="1"/>
          </p:cNvSpPr>
          <p:nvPr/>
        </p:nvSpPr>
        <p:spPr bwMode="auto">
          <a:xfrm>
            <a:off x="3960813" y="3571875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4" name="Line 26"/>
          <p:cNvSpPr>
            <a:spLocks noChangeShapeType="1"/>
          </p:cNvSpPr>
          <p:nvPr/>
        </p:nvSpPr>
        <p:spPr bwMode="auto">
          <a:xfrm flipH="1">
            <a:off x="3957638" y="2946400"/>
            <a:ext cx="2014538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66584" name="Group 29"/>
          <p:cNvGrpSpPr/>
          <p:nvPr/>
        </p:nvGrpSpPr>
        <p:grpSpPr>
          <a:xfrm>
            <a:off x="3817938" y="2135188"/>
            <a:ext cx="103187" cy="2462212"/>
            <a:chOff x="3651" y="1878"/>
            <a:chExt cx="78" cy="963"/>
          </a:xfrm>
        </p:grpSpPr>
        <p:sp>
          <p:nvSpPr>
            <p:cNvPr id="51271" name="Line 30"/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72" name="Line 31"/>
            <p:cNvSpPr>
              <a:spLocks noChangeShapeType="1"/>
            </p:cNvSpPr>
            <p:nvPr/>
          </p:nvSpPr>
          <p:spPr bwMode="auto">
            <a:xfrm flipH="1">
              <a:off x="3651" y="187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73" name="Line 32"/>
            <p:cNvSpPr>
              <a:spLocks noChangeShapeType="1"/>
            </p:cNvSpPr>
            <p:nvPr/>
          </p:nvSpPr>
          <p:spPr bwMode="auto">
            <a:xfrm flipH="1">
              <a:off x="3651" y="2841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51226" name="Line 37"/>
          <p:cNvSpPr>
            <a:spLocks noChangeShapeType="1"/>
          </p:cNvSpPr>
          <p:nvPr/>
        </p:nvSpPr>
        <p:spPr bwMode="auto">
          <a:xfrm>
            <a:off x="3937000" y="4765675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7" name="Line 38"/>
          <p:cNvSpPr>
            <a:spLocks noChangeShapeType="1"/>
          </p:cNvSpPr>
          <p:nvPr/>
        </p:nvSpPr>
        <p:spPr bwMode="auto">
          <a:xfrm>
            <a:off x="3929063" y="5010150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8" name="Line 39"/>
          <p:cNvSpPr>
            <a:spLocks noChangeShapeType="1"/>
          </p:cNvSpPr>
          <p:nvPr/>
        </p:nvSpPr>
        <p:spPr bwMode="auto">
          <a:xfrm>
            <a:off x="3922713" y="5243513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29" name="Line 40"/>
          <p:cNvSpPr>
            <a:spLocks noChangeShapeType="1"/>
          </p:cNvSpPr>
          <p:nvPr/>
        </p:nvSpPr>
        <p:spPr bwMode="auto">
          <a:xfrm>
            <a:off x="3925888" y="5476875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30" name="Text Box 41"/>
          <p:cNvSpPr txBox="1">
            <a:spLocks noChangeArrowheads="1"/>
          </p:cNvSpPr>
          <p:nvPr/>
        </p:nvSpPr>
        <p:spPr bwMode="auto">
          <a:xfrm>
            <a:off x="5997575" y="3378200"/>
            <a:ext cx="24130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pkt4, discard,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(re)send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31" name="Text Box 42"/>
          <p:cNvSpPr txBox="1">
            <a:spLocks noChangeArrowheads="1"/>
          </p:cNvSpPr>
          <p:nvPr/>
        </p:nvSpPr>
        <p:spPr bwMode="auto">
          <a:xfrm>
            <a:off x="6016625" y="3898900"/>
            <a:ext cx="24130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pkt5, discard,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(re)send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32" name="Text Box 43"/>
          <p:cNvSpPr txBox="1">
            <a:spLocks noChangeArrowheads="1"/>
          </p:cNvSpPr>
          <p:nvPr/>
        </p:nvSpPr>
        <p:spPr bwMode="auto">
          <a:xfrm>
            <a:off x="6027738" y="5053013"/>
            <a:ext cx="2965450" cy="10826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pkt2, deliver, send ack2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pkt3, deliver, send ack3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pkt4, deliver, send ack4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pkt5, deliver, send ack5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33" name="Text Box 44"/>
          <p:cNvSpPr txBox="1">
            <a:spLocks noChangeArrowheads="1"/>
          </p:cNvSpPr>
          <p:nvPr/>
        </p:nvSpPr>
        <p:spPr bwMode="auto">
          <a:xfrm>
            <a:off x="2079625" y="3881438"/>
            <a:ext cx="18113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ignore duplicate ACK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66593" name="Group 65"/>
          <p:cNvGrpSpPr/>
          <p:nvPr/>
        </p:nvGrpSpPr>
        <p:grpSpPr>
          <a:xfrm>
            <a:off x="182563" y="1450975"/>
            <a:ext cx="1512887" cy="304800"/>
            <a:chOff x="115" y="914"/>
            <a:chExt cx="953" cy="192"/>
          </a:xfrm>
        </p:grpSpPr>
        <p:sp>
          <p:nvSpPr>
            <p:cNvPr id="51269" name="Rectangle 60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70" name="Text Box 46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51235" name="Text Box 59"/>
          <p:cNvSpPr txBox="1">
            <a:spLocks noChangeArrowheads="1"/>
          </p:cNvSpPr>
          <p:nvPr/>
        </p:nvSpPr>
        <p:spPr bwMode="auto">
          <a:xfrm>
            <a:off x="139700" y="1104900"/>
            <a:ext cx="21463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 window (N=4)</a:t>
            </a:r>
            <a:endParaRPr kumimoji="0" lang="en-US" sz="16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66595" name="Group 67"/>
          <p:cNvGrpSpPr/>
          <p:nvPr/>
        </p:nvGrpSpPr>
        <p:grpSpPr>
          <a:xfrm>
            <a:off x="179388" y="1736725"/>
            <a:ext cx="1512887" cy="304800"/>
            <a:chOff x="115" y="914"/>
            <a:chExt cx="953" cy="192"/>
          </a:xfrm>
        </p:grpSpPr>
        <p:sp>
          <p:nvSpPr>
            <p:cNvPr id="51267" name="Rectangle 68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68" name="Text Box 69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596" name="Group 70"/>
          <p:cNvGrpSpPr/>
          <p:nvPr/>
        </p:nvGrpSpPr>
        <p:grpSpPr>
          <a:xfrm>
            <a:off x="187325" y="2022475"/>
            <a:ext cx="1512888" cy="304800"/>
            <a:chOff x="115" y="914"/>
            <a:chExt cx="953" cy="192"/>
          </a:xfrm>
        </p:grpSpPr>
        <p:sp>
          <p:nvSpPr>
            <p:cNvPr id="51265" name="Rectangle 71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66" name="Text Box 72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597" name="Group 73"/>
          <p:cNvGrpSpPr/>
          <p:nvPr/>
        </p:nvGrpSpPr>
        <p:grpSpPr>
          <a:xfrm>
            <a:off x="184150" y="2297113"/>
            <a:ext cx="1512888" cy="304800"/>
            <a:chOff x="115" y="914"/>
            <a:chExt cx="953" cy="192"/>
          </a:xfrm>
        </p:grpSpPr>
        <p:sp>
          <p:nvSpPr>
            <p:cNvPr id="51263" name="Rectangle 74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64" name="Text Box 75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51239" name="Rectangle 79"/>
          <p:cNvSpPr>
            <a:spLocks noChangeArrowheads="1"/>
          </p:cNvSpPr>
          <p:nvPr/>
        </p:nvSpPr>
        <p:spPr bwMode="auto">
          <a:xfrm>
            <a:off x="395288" y="3101975"/>
            <a:ext cx="628650" cy="2286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40" name="Text Box 80"/>
          <p:cNvSpPr txBox="1">
            <a:spLocks noChangeArrowheads="1"/>
          </p:cNvSpPr>
          <p:nvPr/>
        </p:nvSpPr>
        <p:spPr bwMode="auto">
          <a:xfrm>
            <a:off x="180975" y="3067050"/>
            <a:ext cx="15128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0 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1 2 3 4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5 6 7 8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66600" name="Group 84"/>
          <p:cNvGrpSpPr/>
          <p:nvPr/>
        </p:nvGrpSpPr>
        <p:grpSpPr>
          <a:xfrm>
            <a:off x="177800" y="3341688"/>
            <a:ext cx="1512888" cy="304800"/>
            <a:chOff x="112" y="2105"/>
            <a:chExt cx="953" cy="192"/>
          </a:xfrm>
        </p:grpSpPr>
        <p:sp>
          <p:nvSpPr>
            <p:cNvPr id="51261" name="Rectangle 82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62" name="Text Box 83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601" name="Group 85"/>
          <p:cNvGrpSpPr/>
          <p:nvPr/>
        </p:nvGrpSpPr>
        <p:grpSpPr>
          <a:xfrm>
            <a:off x="166688" y="4635500"/>
            <a:ext cx="1512887" cy="304800"/>
            <a:chOff x="112" y="2105"/>
            <a:chExt cx="953" cy="192"/>
          </a:xfrm>
        </p:grpSpPr>
        <p:sp>
          <p:nvSpPr>
            <p:cNvPr id="51259" name="Rectangle 86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60" name="Text Box 87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602" name="Group 88"/>
          <p:cNvGrpSpPr/>
          <p:nvPr/>
        </p:nvGrpSpPr>
        <p:grpSpPr>
          <a:xfrm>
            <a:off x="174625" y="4876800"/>
            <a:ext cx="1512888" cy="304800"/>
            <a:chOff x="112" y="2105"/>
            <a:chExt cx="953" cy="192"/>
          </a:xfrm>
        </p:grpSpPr>
        <p:sp>
          <p:nvSpPr>
            <p:cNvPr id="51257" name="Rectangle 89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58" name="Text Box 90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603" name="Group 91"/>
          <p:cNvGrpSpPr/>
          <p:nvPr/>
        </p:nvGrpSpPr>
        <p:grpSpPr>
          <a:xfrm>
            <a:off x="171450" y="5140325"/>
            <a:ext cx="1512888" cy="304800"/>
            <a:chOff x="112" y="2105"/>
            <a:chExt cx="953" cy="192"/>
          </a:xfrm>
        </p:grpSpPr>
        <p:sp>
          <p:nvSpPr>
            <p:cNvPr id="51255" name="Rectangle 92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56" name="Text Box 93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66604" name="Group 94"/>
          <p:cNvGrpSpPr/>
          <p:nvPr/>
        </p:nvGrpSpPr>
        <p:grpSpPr>
          <a:xfrm>
            <a:off x="168275" y="5381625"/>
            <a:ext cx="1512888" cy="304800"/>
            <a:chOff x="112" y="2105"/>
            <a:chExt cx="953" cy="192"/>
          </a:xfrm>
        </p:grpSpPr>
        <p:sp>
          <p:nvSpPr>
            <p:cNvPr id="51253" name="Rectangle 95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1254" name="Text Box 96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pic>
        <p:nvPicPr>
          <p:cNvPr id="66605" name="Picture 97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544513" y="744538"/>
            <a:ext cx="36560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7" name="Line 98"/>
          <p:cNvSpPr>
            <a:spLocks noChangeShapeType="1"/>
          </p:cNvSpPr>
          <p:nvPr/>
        </p:nvSpPr>
        <p:spPr bwMode="auto">
          <a:xfrm flipH="1">
            <a:off x="4991100" y="3757613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48" name="Line 99"/>
          <p:cNvSpPr>
            <a:spLocks noChangeShapeType="1"/>
          </p:cNvSpPr>
          <p:nvPr/>
        </p:nvSpPr>
        <p:spPr bwMode="auto">
          <a:xfrm flipH="1">
            <a:off x="4997450" y="4067175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49" name="Line 100"/>
          <p:cNvSpPr>
            <a:spLocks noChangeShapeType="1"/>
          </p:cNvSpPr>
          <p:nvPr/>
        </p:nvSpPr>
        <p:spPr bwMode="auto">
          <a:xfrm flipH="1">
            <a:off x="4992688" y="5257800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50" name="Line 101"/>
          <p:cNvSpPr>
            <a:spLocks noChangeShapeType="1"/>
          </p:cNvSpPr>
          <p:nvPr/>
        </p:nvSpPr>
        <p:spPr bwMode="auto">
          <a:xfrm flipH="1">
            <a:off x="4976813" y="5511800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51" name="Line 102"/>
          <p:cNvSpPr>
            <a:spLocks noChangeShapeType="1"/>
          </p:cNvSpPr>
          <p:nvPr/>
        </p:nvSpPr>
        <p:spPr bwMode="auto">
          <a:xfrm flipH="1">
            <a:off x="4960938" y="5754688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1252" name="Line 103"/>
          <p:cNvSpPr>
            <a:spLocks noChangeShapeType="1"/>
          </p:cNvSpPr>
          <p:nvPr/>
        </p:nvSpPr>
        <p:spPr bwMode="auto">
          <a:xfrm flipH="1">
            <a:off x="4945063" y="5997575"/>
            <a:ext cx="1033463" cy="5635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222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67587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77850" y="1000125"/>
            <a:ext cx="3656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Selective repeat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223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52450" y="1466850"/>
            <a:ext cx="756285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receiver </a:t>
            </a:r>
            <a:r>
              <a:rPr lang="en-US" altLang="zh-CN" i="1" dirty="0">
                <a:latin typeface="+mn-lt"/>
                <a:ea typeface="MS PGothic" charset="0"/>
                <a:cs typeface="MS PGothic" charset="0"/>
              </a:rPr>
              <a:t>individually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acknowledges all correctly received pkts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buffers pkts, as needed, for eventual in-order delivery to upper layer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only resends pkts for which ACK not received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sender timer for each unACKed pkt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sender window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i="1" dirty="0">
                <a:latin typeface="+mn-lt"/>
                <a:ea typeface="MS PGothic" charset="0"/>
              </a:rPr>
              <a:t>N</a:t>
            </a:r>
            <a:r>
              <a:rPr lang="en-US" altLang="zh-CN" dirty="0">
                <a:latin typeface="+mn-lt"/>
                <a:ea typeface="MS PGothic" charset="0"/>
              </a:rPr>
              <a:t> consecutive seq #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s</a:t>
            </a:r>
            <a:endParaRPr lang="en-US" altLang="ja-JP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limits seq #s of sent, unACKed pkts</a:t>
            </a:r>
            <a:endParaRPr lang="en-US" altLang="zh-CN" dirty="0">
              <a:latin typeface="+mn-lt"/>
              <a:ea typeface="MS PGothic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3251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82563"/>
            <a:ext cx="8486775" cy="898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Selective repeat: sender, receiver windows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68612" name="Picture 3" descr="sr_seqnu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1404938"/>
            <a:ext cx="8235950" cy="491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4" name="Rectangle 4"/>
          <p:cNvSpPr>
            <a:spLocks noChangeArrowheads="1"/>
          </p:cNvSpPr>
          <p:nvPr/>
        </p:nvSpPr>
        <p:spPr bwMode="auto">
          <a:xfrm>
            <a:off x="1393825" y="1917700"/>
            <a:ext cx="2141538" cy="61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3255" name="Rectangle 5"/>
          <p:cNvSpPr>
            <a:spLocks noChangeArrowheads="1"/>
          </p:cNvSpPr>
          <p:nvPr/>
        </p:nvSpPr>
        <p:spPr bwMode="auto">
          <a:xfrm>
            <a:off x="2028825" y="4516438"/>
            <a:ext cx="2130425" cy="579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68615" name="Picture 6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376238" y="822325"/>
            <a:ext cx="7769225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427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69635" name="Picture 1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77838" y="898525"/>
            <a:ext cx="41132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447675" y="247650"/>
            <a:ext cx="77724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Selective repeat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427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data from above: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if next available seq # in window, send pkt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timeout(n):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resend pkt n, restart timer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ACK(n)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[sendbase,sendbase+N]: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mark pkt n as received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if n smallest unACKed pkt, advance window base to next unACKed seq #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54279" name="Rectangle 4"/>
          <p:cNvSpPr>
            <a:spLocks noChangeArrowheads="1"/>
          </p:cNvSpPr>
          <p:nvPr/>
        </p:nvSpPr>
        <p:spPr bwMode="auto">
          <a:xfrm>
            <a:off x="495300" y="1457325"/>
            <a:ext cx="3838575" cy="4610100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69639" name="Group 5"/>
          <p:cNvGrpSpPr/>
          <p:nvPr/>
        </p:nvGrpSpPr>
        <p:grpSpPr>
          <a:xfrm>
            <a:off x="698500" y="1155700"/>
            <a:ext cx="1160463" cy="519113"/>
            <a:chOff x="1100" y="3896"/>
            <a:chExt cx="731" cy="327"/>
          </a:xfrm>
        </p:grpSpPr>
        <p:sp>
          <p:nvSpPr>
            <p:cNvPr id="54286" name="Rectangle 6"/>
            <p:cNvSpPr>
              <a:spLocks noChangeArrowheads="1"/>
            </p:cNvSpPr>
            <p:nvPr/>
          </p:nvSpPr>
          <p:spPr bwMode="auto">
            <a:xfrm>
              <a:off x="1146" y="3984"/>
              <a:ext cx="61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4287" name="Text Box 7"/>
            <p:cNvSpPr txBox="1">
              <a:spLocks noChangeArrowheads="1"/>
            </p:cNvSpPr>
            <p:nvPr/>
          </p:nvSpPr>
          <p:spPr bwMode="auto">
            <a:xfrm>
              <a:off x="1100" y="3896"/>
              <a:ext cx="731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sender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</p:grpSp>
      <p:sp>
        <p:nvSpPr>
          <p:cNvPr id="54281" name="Rectangle 8"/>
          <p:cNvSpPr>
            <a:spLocks noChangeArrowheads="1"/>
          </p:cNvSpPr>
          <p:nvPr/>
        </p:nvSpPr>
        <p:spPr bwMode="auto">
          <a:xfrm>
            <a:off x="5000625" y="1581150"/>
            <a:ext cx="38100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pkt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n in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rcvbase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, rcvbase+N-1]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send ACK(n)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out-of-order: buffer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in-order: deliver (also deliver buffered, in-order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pkts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), advance window to next not-yet-received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pkt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pkt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n in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[rcvbase-N,rcvbase-1]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ACK(n)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otherwise: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ignore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54282" name="Rectangle 9"/>
          <p:cNvSpPr>
            <a:spLocks noChangeArrowheads="1"/>
          </p:cNvSpPr>
          <p:nvPr/>
        </p:nvSpPr>
        <p:spPr bwMode="auto">
          <a:xfrm>
            <a:off x="4962525" y="1438275"/>
            <a:ext cx="3838575" cy="4610100"/>
          </a:xfrm>
          <a:prstGeom prst="rect">
            <a:avLst/>
          </a:prstGeom>
          <a:noFill/>
          <a:ln w="28575">
            <a:solidFill>
              <a:srgbClr val="000099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69642" name="Group 10"/>
          <p:cNvGrpSpPr/>
          <p:nvPr/>
        </p:nvGrpSpPr>
        <p:grpSpPr>
          <a:xfrm>
            <a:off x="5186363" y="1127125"/>
            <a:ext cx="1365250" cy="519113"/>
            <a:chOff x="3339" y="158"/>
            <a:chExt cx="860" cy="327"/>
          </a:xfrm>
        </p:grpSpPr>
        <p:sp>
          <p:nvSpPr>
            <p:cNvPr id="54284" name="Rectangle 11"/>
            <p:cNvSpPr>
              <a:spLocks noChangeArrowheads="1"/>
            </p:cNvSpPr>
            <p:nvPr/>
          </p:nvSpPr>
          <p:spPr bwMode="auto">
            <a:xfrm>
              <a:off x="3360" y="264"/>
              <a:ext cx="82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4285" name="Text Box 12"/>
            <p:cNvSpPr txBox="1">
              <a:spLocks noChangeArrowheads="1"/>
            </p:cNvSpPr>
            <p:nvPr/>
          </p:nvSpPr>
          <p:spPr bwMode="auto">
            <a:xfrm>
              <a:off x="3339" y="158"/>
              <a:ext cx="860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rPr>
                <a:t>receiver</a:t>
              </a: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299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70659" name="Picture 9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374650" y="806450"/>
            <a:ext cx="50276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198438"/>
            <a:ext cx="77724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Selective repeat in action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5302" name="Text Box 4"/>
          <p:cNvSpPr txBox="1">
            <a:spLocks noChangeArrowheads="1"/>
          </p:cNvSpPr>
          <p:nvPr/>
        </p:nvSpPr>
        <p:spPr bwMode="auto">
          <a:xfrm>
            <a:off x="2665413" y="1490663"/>
            <a:ext cx="1246188" cy="1465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pkt3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(wait)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03" name="Text Box 5"/>
          <p:cNvSpPr txBox="1">
            <a:spLocks noChangeArrowheads="1"/>
          </p:cNvSpPr>
          <p:nvPr/>
        </p:nvSpPr>
        <p:spPr bwMode="auto">
          <a:xfrm>
            <a:off x="2986088" y="1119188"/>
            <a:ext cx="936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04" name="Text Box 6"/>
          <p:cNvSpPr txBox="1">
            <a:spLocks noChangeArrowheads="1"/>
          </p:cNvSpPr>
          <p:nvPr/>
        </p:nvSpPr>
        <p:spPr bwMode="auto">
          <a:xfrm>
            <a:off x="6016625" y="1138238"/>
            <a:ext cx="107156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sng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</a:t>
            </a:r>
            <a:endParaRPr kumimoji="0" lang="en-US" sz="2000" b="0" i="1" u="sng" strike="noStrike" kern="1200" cap="none" spc="0" normalizeH="0" baseline="0" noProof="0" smtClean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05" name="Line 7"/>
          <p:cNvSpPr>
            <a:spLocks noChangeShapeType="1"/>
          </p:cNvSpPr>
          <p:nvPr/>
        </p:nvSpPr>
        <p:spPr bwMode="auto">
          <a:xfrm>
            <a:off x="6091238" y="1736725"/>
            <a:ext cx="11113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06" name="Text Box 8"/>
          <p:cNvSpPr txBox="1">
            <a:spLocks noChangeArrowheads="1"/>
          </p:cNvSpPr>
          <p:nvPr/>
        </p:nvSpPr>
        <p:spPr bwMode="auto">
          <a:xfrm>
            <a:off x="6034088" y="1931988"/>
            <a:ext cx="2568575" cy="1465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pkt0, send ack0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pkt1, send ack1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pkt3, buffer,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send ack3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07" name="Text Box 9"/>
          <p:cNvSpPr txBox="1">
            <a:spLocks noChangeArrowheads="1"/>
          </p:cNvSpPr>
          <p:nvPr/>
        </p:nvSpPr>
        <p:spPr bwMode="auto">
          <a:xfrm>
            <a:off x="1809750" y="3094038"/>
            <a:ext cx="2154238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ack0, send pkt4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ack1, send pkt5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70667" name="Picture 10" descr="alarm_clock_ring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8" y="4241800"/>
            <a:ext cx="436562" cy="481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9" name="Text Box 11"/>
          <p:cNvSpPr txBox="1">
            <a:spLocks noChangeArrowheads="1"/>
          </p:cNvSpPr>
          <p:nvPr/>
        </p:nvSpPr>
        <p:spPr bwMode="auto">
          <a:xfrm>
            <a:off x="2344738" y="4457700"/>
            <a:ext cx="153828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pkt 2 timeout</a:t>
            </a: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0" name="Text Box 12"/>
          <p:cNvSpPr txBox="1">
            <a:spLocks noChangeArrowheads="1"/>
          </p:cNvSpPr>
          <p:nvPr/>
        </p:nvSpPr>
        <p:spPr bwMode="auto">
          <a:xfrm>
            <a:off x="2670175" y="4672013"/>
            <a:ext cx="1246188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  pkt2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1" name="Line 14"/>
          <p:cNvSpPr>
            <a:spLocks noChangeShapeType="1"/>
          </p:cNvSpPr>
          <p:nvPr/>
        </p:nvSpPr>
        <p:spPr bwMode="auto">
          <a:xfrm>
            <a:off x="3956050" y="1684338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2" name="Line 15"/>
          <p:cNvSpPr>
            <a:spLocks noChangeShapeType="1"/>
          </p:cNvSpPr>
          <p:nvPr/>
        </p:nvSpPr>
        <p:spPr bwMode="auto">
          <a:xfrm>
            <a:off x="3954463" y="1958975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3" name="Line 16"/>
          <p:cNvSpPr>
            <a:spLocks noChangeShapeType="1"/>
          </p:cNvSpPr>
          <p:nvPr/>
        </p:nvSpPr>
        <p:spPr bwMode="auto">
          <a:xfrm>
            <a:off x="3970338" y="2222500"/>
            <a:ext cx="876300" cy="2000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4" name="Line 17"/>
          <p:cNvSpPr>
            <a:spLocks noChangeShapeType="1"/>
          </p:cNvSpPr>
          <p:nvPr/>
        </p:nvSpPr>
        <p:spPr bwMode="auto">
          <a:xfrm>
            <a:off x="3976688" y="2508250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5" name="Line 18"/>
          <p:cNvSpPr>
            <a:spLocks noChangeShapeType="1"/>
          </p:cNvSpPr>
          <p:nvPr/>
        </p:nvSpPr>
        <p:spPr bwMode="auto">
          <a:xfrm flipH="1">
            <a:off x="3962400" y="2208213"/>
            <a:ext cx="2014538" cy="1066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6" name="Text Box 19"/>
          <p:cNvSpPr txBox="1">
            <a:spLocks noChangeArrowheads="1"/>
          </p:cNvSpPr>
          <p:nvPr/>
        </p:nvSpPr>
        <p:spPr bwMode="auto">
          <a:xfrm>
            <a:off x="4732338" y="2257425"/>
            <a:ext cx="3413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X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7" name="Text Box 20"/>
          <p:cNvSpPr txBox="1">
            <a:spLocks noChangeArrowheads="1"/>
          </p:cNvSpPr>
          <p:nvPr/>
        </p:nvSpPr>
        <p:spPr bwMode="auto">
          <a:xfrm>
            <a:off x="4891088" y="2278063"/>
            <a:ext cx="522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loss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8" name="Line 21"/>
          <p:cNvSpPr>
            <a:spLocks noChangeShapeType="1"/>
          </p:cNvSpPr>
          <p:nvPr/>
        </p:nvSpPr>
        <p:spPr bwMode="auto">
          <a:xfrm flipH="1">
            <a:off x="3959225" y="2493963"/>
            <a:ext cx="2014538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19" name="Line 22"/>
          <p:cNvSpPr>
            <a:spLocks noChangeShapeType="1"/>
          </p:cNvSpPr>
          <p:nvPr/>
        </p:nvSpPr>
        <p:spPr bwMode="auto">
          <a:xfrm>
            <a:off x="3962400" y="3330575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0" name="Line 23"/>
          <p:cNvSpPr>
            <a:spLocks noChangeShapeType="1"/>
          </p:cNvSpPr>
          <p:nvPr/>
        </p:nvSpPr>
        <p:spPr bwMode="auto">
          <a:xfrm>
            <a:off x="3994150" y="3649663"/>
            <a:ext cx="2101850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1" name="Line 24"/>
          <p:cNvSpPr>
            <a:spLocks noChangeShapeType="1"/>
          </p:cNvSpPr>
          <p:nvPr/>
        </p:nvSpPr>
        <p:spPr bwMode="auto">
          <a:xfrm flipH="1">
            <a:off x="3990975" y="3024188"/>
            <a:ext cx="2014538" cy="11001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0681" name="Group 25"/>
          <p:cNvGrpSpPr/>
          <p:nvPr/>
        </p:nvGrpSpPr>
        <p:grpSpPr>
          <a:xfrm>
            <a:off x="3851275" y="2212975"/>
            <a:ext cx="103188" cy="2462213"/>
            <a:chOff x="3651" y="1878"/>
            <a:chExt cx="78" cy="963"/>
          </a:xfrm>
        </p:grpSpPr>
        <p:sp>
          <p:nvSpPr>
            <p:cNvPr id="55365" name="Line 26"/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66" name="Line 27"/>
            <p:cNvSpPr>
              <a:spLocks noChangeShapeType="1"/>
            </p:cNvSpPr>
            <p:nvPr/>
          </p:nvSpPr>
          <p:spPr bwMode="auto">
            <a:xfrm flipH="1">
              <a:off x="3651" y="1878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67" name="Line 28"/>
            <p:cNvSpPr>
              <a:spLocks noChangeShapeType="1"/>
            </p:cNvSpPr>
            <p:nvPr/>
          </p:nvSpPr>
          <p:spPr bwMode="auto">
            <a:xfrm flipH="1">
              <a:off x="3651" y="2841"/>
              <a:ext cx="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55323" name="Line 29"/>
          <p:cNvSpPr>
            <a:spLocks noChangeShapeType="1"/>
          </p:cNvSpPr>
          <p:nvPr/>
        </p:nvSpPr>
        <p:spPr bwMode="auto">
          <a:xfrm>
            <a:off x="3992563" y="4843463"/>
            <a:ext cx="2100263" cy="4683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4" name="Text Box 33"/>
          <p:cNvSpPr txBox="1">
            <a:spLocks noChangeArrowheads="1"/>
          </p:cNvSpPr>
          <p:nvPr/>
        </p:nvSpPr>
        <p:spPr bwMode="auto">
          <a:xfrm>
            <a:off x="6030913" y="3455988"/>
            <a:ext cx="2300288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pkt4, buffer,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send ack4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5" name="Text Box 34"/>
          <p:cNvSpPr txBox="1">
            <a:spLocks noChangeArrowheads="1"/>
          </p:cNvSpPr>
          <p:nvPr/>
        </p:nvSpPr>
        <p:spPr bwMode="auto">
          <a:xfrm>
            <a:off x="6049963" y="3976688"/>
            <a:ext cx="2300288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 pkt5, buffer,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send ack5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6" name="Text Box 35"/>
          <p:cNvSpPr txBox="1">
            <a:spLocks noChangeArrowheads="1"/>
          </p:cNvSpPr>
          <p:nvPr/>
        </p:nvSpPr>
        <p:spPr bwMode="auto">
          <a:xfrm>
            <a:off x="6061075" y="5130800"/>
            <a:ext cx="2960688" cy="587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rcv pkt2; deliver pkt2,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pkt3, pkt4, pkt5; send ack2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27" name="Text Box 36"/>
          <p:cNvSpPr txBox="1">
            <a:spLocks noChangeArrowheads="1"/>
          </p:cNvSpPr>
          <p:nvPr/>
        </p:nvSpPr>
        <p:spPr bwMode="auto">
          <a:xfrm>
            <a:off x="2174875" y="3959225"/>
            <a:ext cx="16986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record ack3 arrived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0687" name="Group 37"/>
          <p:cNvGrpSpPr/>
          <p:nvPr/>
        </p:nvGrpSpPr>
        <p:grpSpPr>
          <a:xfrm>
            <a:off x="215900" y="1528763"/>
            <a:ext cx="1512888" cy="304800"/>
            <a:chOff x="115" y="914"/>
            <a:chExt cx="953" cy="192"/>
          </a:xfrm>
        </p:grpSpPr>
        <p:sp>
          <p:nvSpPr>
            <p:cNvPr id="55363" name="Rectangle 38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64" name="Text Box 39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55329" name="Text Box 40"/>
          <p:cNvSpPr txBox="1">
            <a:spLocks noChangeArrowheads="1"/>
          </p:cNvSpPr>
          <p:nvPr/>
        </p:nvSpPr>
        <p:spPr bwMode="auto">
          <a:xfrm>
            <a:off x="173038" y="1182688"/>
            <a:ext cx="21463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sng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 window (N=4)</a:t>
            </a:r>
            <a:endParaRPr kumimoji="0" lang="en-US" sz="1600" b="0" i="1" u="sng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30" name="Rectangle 41"/>
          <p:cNvSpPr>
            <a:spLocks noChangeArrowheads="1"/>
          </p:cNvSpPr>
          <p:nvPr/>
        </p:nvSpPr>
        <p:spPr bwMode="auto">
          <a:xfrm>
            <a:off x="287338" y="2692400"/>
            <a:ext cx="606425" cy="2286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0690" name="Group 42"/>
          <p:cNvGrpSpPr/>
          <p:nvPr/>
        </p:nvGrpSpPr>
        <p:grpSpPr>
          <a:xfrm>
            <a:off x="212725" y="1814513"/>
            <a:ext cx="1512888" cy="304800"/>
            <a:chOff x="115" y="914"/>
            <a:chExt cx="953" cy="192"/>
          </a:xfrm>
        </p:grpSpPr>
        <p:sp>
          <p:nvSpPr>
            <p:cNvPr id="55361" name="Rectangle 43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62" name="Text Box 44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1" name="Group 45"/>
          <p:cNvGrpSpPr/>
          <p:nvPr/>
        </p:nvGrpSpPr>
        <p:grpSpPr>
          <a:xfrm>
            <a:off x="220663" y="2100263"/>
            <a:ext cx="1512887" cy="304800"/>
            <a:chOff x="115" y="914"/>
            <a:chExt cx="953" cy="192"/>
          </a:xfrm>
        </p:grpSpPr>
        <p:sp>
          <p:nvSpPr>
            <p:cNvPr id="55359" name="Rectangle 46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60" name="Text Box 47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2" name="Group 48"/>
          <p:cNvGrpSpPr/>
          <p:nvPr/>
        </p:nvGrpSpPr>
        <p:grpSpPr>
          <a:xfrm>
            <a:off x="217488" y="2374900"/>
            <a:ext cx="1512887" cy="304800"/>
            <a:chOff x="115" y="914"/>
            <a:chExt cx="953" cy="192"/>
          </a:xfrm>
        </p:grpSpPr>
        <p:sp>
          <p:nvSpPr>
            <p:cNvPr id="55357" name="Rectangle 49"/>
            <p:cNvSpPr>
              <a:spLocks noChangeArrowheads="1"/>
            </p:cNvSpPr>
            <p:nvPr/>
          </p:nvSpPr>
          <p:spPr bwMode="auto">
            <a:xfrm>
              <a:off x="152" y="936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58" name="Text Box 50"/>
            <p:cNvSpPr txBox="1">
              <a:spLocks noChangeArrowheads="1"/>
            </p:cNvSpPr>
            <p:nvPr/>
          </p:nvSpPr>
          <p:spPr bwMode="auto">
            <a:xfrm>
              <a:off x="115" y="914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0 1 2 3 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4 5 6 7 8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55334" name="Rectangle 51"/>
          <p:cNvSpPr>
            <a:spLocks noChangeArrowheads="1"/>
          </p:cNvSpPr>
          <p:nvPr/>
        </p:nvSpPr>
        <p:spPr bwMode="auto">
          <a:xfrm>
            <a:off x="428625" y="3179763"/>
            <a:ext cx="628650" cy="2286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35" name="Text Box 52"/>
          <p:cNvSpPr txBox="1">
            <a:spLocks noChangeArrowheads="1"/>
          </p:cNvSpPr>
          <p:nvPr/>
        </p:nvSpPr>
        <p:spPr bwMode="auto">
          <a:xfrm>
            <a:off x="214313" y="3144838"/>
            <a:ext cx="15128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0 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1 2 3 4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5 6 7 8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70695" name="Group 53"/>
          <p:cNvGrpSpPr/>
          <p:nvPr/>
        </p:nvGrpSpPr>
        <p:grpSpPr>
          <a:xfrm>
            <a:off x="211138" y="3419475"/>
            <a:ext cx="1512887" cy="304800"/>
            <a:chOff x="112" y="2105"/>
            <a:chExt cx="953" cy="192"/>
          </a:xfrm>
        </p:grpSpPr>
        <p:sp>
          <p:nvSpPr>
            <p:cNvPr id="55355" name="Rectangle 54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56" name="Text Box 55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6" name="Group 56"/>
          <p:cNvGrpSpPr/>
          <p:nvPr/>
        </p:nvGrpSpPr>
        <p:grpSpPr>
          <a:xfrm>
            <a:off x="200025" y="4713288"/>
            <a:ext cx="1512888" cy="304800"/>
            <a:chOff x="112" y="2105"/>
            <a:chExt cx="953" cy="192"/>
          </a:xfrm>
        </p:grpSpPr>
        <p:sp>
          <p:nvSpPr>
            <p:cNvPr id="55353" name="Rectangle 57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54" name="Text Box 58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7" name="Group 59"/>
          <p:cNvGrpSpPr/>
          <p:nvPr/>
        </p:nvGrpSpPr>
        <p:grpSpPr>
          <a:xfrm>
            <a:off x="207963" y="4954588"/>
            <a:ext cx="1512887" cy="304800"/>
            <a:chOff x="112" y="2105"/>
            <a:chExt cx="953" cy="192"/>
          </a:xfrm>
        </p:grpSpPr>
        <p:sp>
          <p:nvSpPr>
            <p:cNvPr id="55351" name="Rectangle 60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52" name="Text Box 61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8" name="Group 62"/>
          <p:cNvGrpSpPr/>
          <p:nvPr/>
        </p:nvGrpSpPr>
        <p:grpSpPr>
          <a:xfrm>
            <a:off x="204788" y="5218113"/>
            <a:ext cx="1512887" cy="304800"/>
            <a:chOff x="112" y="2105"/>
            <a:chExt cx="953" cy="192"/>
          </a:xfrm>
        </p:grpSpPr>
        <p:sp>
          <p:nvSpPr>
            <p:cNvPr id="55349" name="Rectangle 63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50" name="Text Box 64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0699" name="Group 65"/>
          <p:cNvGrpSpPr/>
          <p:nvPr/>
        </p:nvGrpSpPr>
        <p:grpSpPr>
          <a:xfrm>
            <a:off x="201613" y="5459413"/>
            <a:ext cx="1512887" cy="304800"/>
            <a:chOff x="112" y="2105"/>
            <a:chExt cx="953" cy="192"/>
          </a:xfrm>
        </p:grpSpPr>
        <p:sp>
          <p:nvSpPr>
            <p:cNvPr id="55347" name="Rectangle 66"/>
            <p:cNvSpPr>
              <a:spLocks noChangeArrowheads="1"/>
            </p:cNvSpPr>
            <p:nvPr/>
          </p:nvSpPr>
          <p:spPr bwMode="auto">
            <a:xfrm>
              <a:off x="338" y="2127"/>
              <a:ext cx="396" cy="14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5348" name="Text Box 67"/>
            <p:cNvSpPr txBox="1">
              <a:spLocks noChangeArrowheads="1"/>
            </p:cNvSpPr>
            <p:nvPr/>
          </p:nvSpPr>
          <p:spPr bwMode="auto">
            <a:xfrm>
              <a:off x="112" y="2105"/>
              <a:ext cx="95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2 3 4 5</a:t>
              </a: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6 7 8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55341" name="Line 88"/>
          <p:cNvSpPr>
            <a:spLocks noChangeShapeType="1"/>
          </p:cNvSpPr>
          <p:nvPr/>
        </p:nvSpPr>
        <p:spPr bwMode="auto">
          <a:xfrm flipH="1">
            <a:off x="3965575" y="3833813"/>
            <a:ext cx="2070100" cy="134461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42" name="Line 89"/>
          <p:cNvSpPr>
            <a:spLocks noChangeShapeType="1"/>
          </p:cNvSpPr>
          <p:nvPr/>
        </p:nvSpPr>
        <p:spPr bwMode="auto">
          <a:xfrm flipH="1">
            <a:off x="4017963" y="4141788"/>
            <a:ext cx="2070100" cy="134461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43" name="Text Box 90"/>
          <p:cNvSpPr txBox="1">
            <a:spLocks noChangeArrowheads="1"/>
          </p:cNvSpPr>
          <p:nvPr/>
        </p:nvSpPr>
        <p:spPr bwMode="auto">
          <a:xfrm>
            <a:off x="2290763" y="5003800"/>
            <a:ext cx="16986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record ack4 arrived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44" name="Text Box 91"/>
          <p:cNvSpPr txBox="1">
            <a:spLocks noChangeArrowheads="1"/>
          </p:cNvSpPr>
          <p:nvPr/>
        </p:nvSpPr>
        <p:spPr bwMode="auto">
          <a:xfrm>
            <a:off x="2309813" y="5300663"/>
            <a:ext cx="16986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record ack5 arrived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45" name="Line 92"/>
          <p:cNvSpPr>
            <a:spLocks noChangeShapeType="1"/>
          </p:cNvSpPr>
          <p:nvPr/>
        </p:nvSpPr>
        <p:spPr bwMode="auto">
          <a:xfrm flipH="1">
            <a:off x="5129213" y="5353050"/>
            <a:ext cx="922338" cy="5746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5346" name="Text Box 93"/>
          <p:cNvSpPr txBox="1">
            <a:spLocks noChangeArrowheads="1"/>
          </p:cNvSpPr>
          <p:nvPr/>
        </p:nvSpPr>
        <p:spPr bwMode="auto">
          <a:xfrm>
            <a:off x="2384425" y="5861050"/>
            <a:ext cx="3498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Q: what happens when ack2 arrives?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632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217488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Selective repeat:</a:t>
            </a:r>
            <a:b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</a:b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dilemma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42925" y="1524000"/>
            <a:ext cx="3276600" cy="35306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example: 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seq #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s: 0, 1, 2, 3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window size=3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56326" name="Text Box 40"/>
          <p:cNvSpPr txBox="1">
            <a:spLocks noChangeArrowheads="1"/>
          </p:cNvSpPr>
          <p:nvPr/>
        </p:nvSpPr>
        <p:spPr bwMode="auto">
          <a:xfrm>
            <a:off x="7094538" y="195263"/>
            <a:ext cx="1458913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 window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(after receipt)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6327" name="Text Box 41"/>
          <p:cNvSpPr txBox="1">
            <a:spLocks noChangeArrowheads="1"/>
          </p:cNvSpPr>
          <p:nvPr/>
        </p:nvSpPr>
        <p:spPr bwMode="auto">
          <a:xfrm>
            <a:off x="4333875" y="198438"/>
            <a:ext cx="136525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 window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(after receipt)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6328" name="Line 58"/>
          <p:cNvSpPr>
            <a:spLocks noChangeShapeType="1"/>
          </p:cNvSpPr>
          <p:nvPr/>
        </p:nvSpPr>
        <p:spPr bwMode="auto">
          <a:xfrm>
            <a:off x="4419600" y="688975"/>
            <a:ext cx="1109663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6329" name="Line 59"/>
          <p:cNvSpPr>
            <a:spLocks noChangeShapeType="1"/>
          </p:cNvSpPr>
          <p:nvPr/>
        </p:nvSpPr>
        <p:spPr bwMode="auto">
          <a:xfrm>
            <a:off x="7200900" y="688975"/>
            <a:ext cx="1109663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73889" name="Group 129"/>
          <p:cNvGrpSpPr/>
          <p:nvPr/>
        </p:nvGrpSpPr>
        <p:grpSpPr>
          <a:xfrm>
            <a:off x="4438650" y="4025900"/>
            <a:ext cx="4276725" cy="2363788"/>
            <a:chOff x="2796" y="2536"/>
            <a:chExt cx="2694" cy="1489"/>
          </a:xfrm>
        </p:grpSpPr>
        <p:grpSp>
          <p:nvGrpSpPr>
            <p:cNvPr id="71733" name="Group 8"/>
            <p:cNvGrpSpPr/>
            <p:nvPr/>
          </p:nvGrpSpPr>
          <p:grpSpPr>
            <a:xfrm>
              <a:off x="2808" y="2584"/>
              <a:ext cx="649" cy="173"/>
              <a:chOff x="1895" y="3931"/>
              <a:chExt cx="649" cy="173"/>
            </a:xfrm>
          </p:grpSpPr>
          <p:sp>
            <p:nvSpPr>
              <p:cNvPr id="56408" name="Rectangle 7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409" name="Text Box 6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71734" name="Group 9"/>
            <p:cNvGrpSpPr/>
            <p:nvPr/>
          </p:nvGrpSpPr>
          <p:grpSpPr>
            <a:xfrm>
              <a:off x="2820" y="2757"/>
              <a:ext cx="649" cy="173"/>
              <a:chOff x="1895" y="3931"/>
              <a:chExt cx="649" cy="173"/>
            </a:xfrm>
          </p:grpSpPr>
          <p:sp>
            <p:nvSpPr>
              <p:cNvPr id="56406" name="Rectangle 10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407" name="Text Box 11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71735" name="Group 12"/>
            <p:cNvGrpSpPr/>
            <p:nvPr/>
          </p:nvGrpSpPr>
          <p:grpSpPr>
            <a:xfrm>
              <a:off x="2825" y="2923"/>
              <a:ext cx="649" cy="173"/>
              <a:chOff x="1895" y="3931"/>
              <a:chExt cx="649" cy="173"/>
            </a:xfrm>
          </p:grpSpPr>
          <p:sp>
            <p:nvSpPr>
              <p:cNvPr id="56404" name="Rectangle 13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405" name="Text Box 14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56377" name="Line 15"/>
            <p:cNvSpPr>
              <a:spLocks noChangeShapeType="1"/>
            </p:cNvSpPr>
            <p:nvPr/>
          </p:nvSpPr>
          <p:spPr bwMode="auto">
            <a:xfrm>
              <a:off x="3449" y="2671"/>
              <a:ext cx="1151" cy="1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78" name="Line 16"/>
            <p:cNvSpPr>
              <a:spLocks noChangeShapeType="1"/>
            </p:cNvSpPr>
            <p:nvPr/>
          </p:nvSpPr>
          <p:spPr bwMode="auto">
            <a:xfrm>
              <a:off x="3468" y="2851"/>
              <a:ext cx="1139" cy="14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79" name="Line 17"/>
            <p:cNvSpPr>
              <a:spLocks noChangeShapeType="1"/>
            </p:cNvSpPr>
            <p:nvPr/>
          </p:nvSpPr>
          <p:spPr bwMode="auto">
            <a:xfrm>
              <a:off x="3487" y="3031"/>
              <a:ext cx="1124" cy="132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0" name="Text Box 18"/>
            <p:cNvSpPr txBox="1">
              <a:spLocks noChangeArrowheads="1"/>
            </p:cNvSpPr>
            <p:nvPr/>
          </p:nvSpPr>
          <p:spPr bwMode="auto">
            <a:xfrm>
              <a:off x="3520" y="2536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1" name="Text Box 19"/>
            <p:cNvSpPr txBox="1">
              <a:spLocks noChangeArrowheads="1"/>
            </p:cNvSpPr>
            <p:nvPr/>
          </p:nvSpPr>
          <p:spPr bwMode="auto">
            <a:xfrm>
              <a:off x="3518" y="2716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pkt1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2" name="Text Box 20"/>
            <p:cNvSpPr txBox="1">
              <a:spLocks noChangeArrowheads="1"/>
            </p:cNvSpPr>
            <p:nvPr/>
          </p:nvSpPr>
          <p:spPr bwMode="auto">
            <a:xfrm>
              <a:off x="3516" y="2896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pkt2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71742" name="Group 23"/>
            <p:cNvGrpSpPr/>
            <p:nvPr/>
          </p:nvGrpSpPr>
          <p:grpSpPr>
            <a:xfrm>
              <a:off x="2827" y="3573"/>
              <a:ext cx="649" cy="173"/>
              <a:chOff x="1895" y="3931"/>
              <a:chExt cx="649" cy="173"/>
            </a:xfrm>
          </p:grpSpPr>
          <p:sp>
            <p:nvSpPr>
              <p:cNvPr id="56402" name="Rectangle 24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403" name="Text Box 25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56384" name="Line 32"/>
            <p:cNvSpPr>
              <a:spLocks noChangeShapeType="1"/>
            </p:cNvSpPr>
            <p:nvPr/>
          </p:nvSpPr>
          <p:spPr bwMode="auto">
            <a:xfrm>
              <a:off x="3489" y="3657"/>
              <a:ext cx="1124" cy="14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5" name="Text Box 35"/>
            <p:cNvSpPr txBox="1">
              <a:spLocks noChangeArrowheads="1"/>
            </p:cNvSpPr>
            <p:nvPr/>
          </p:nvSpPr>
          <p:spPr bwMode="auto">
            <a:xfrm>
              <a:off x="3542" y="3522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6" name="Text Box 39"/>
            <p:cNvSpPr txBox="1">
              <a:spLocks noChangeArrowheads="1"/>
            </p:cNvSpPr>
            <p:nvPr/>
          </p:nvSpPr>
          <p:spPr bwMode="auto">
            <a:xfrm>
              <a:off x="2817" y="3322"/>
              <a:ext cx="871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retransmit pkt0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7" name="Rectangle 45"/>
            <p:cNvSpPr>
              <a:spLocks noChangeArrowheads="1"/>
            </p:cNvSpPr>
            <p:nvPr/>
          </p:nvSpPr>
          <p:spPr bwMode="auto">
            <a:xfrm>
              <a:off x="4729" y="2774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88" name="Text Box 46"/>
            <p:cNvSpPr txBox="1">
              <a:spLocks noChangeArrowheads="1"/>
            </p:cNvSpPr>
            <p:nvPr/>
          </p:nvSpPr>
          <p:spPr bwMode="auto">
            <a:xfrm>
              <a:off x="4610" y="2743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1 2 3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0 1 2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89" name="Rectangle 50"/>
            <p:cNvSpPr>
              <a:spLocks noChangeArrowheads="1"/>
            </p:cNvSpPr>
            <p:nvPr/>
          </p:nvSpPr>
          <p:spPr bwMode="auto">
            <a:xfrm>
              <a:off x="4805" y="2945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0" name="Text Box 51"/>
            <p:cNvSpPr txBox="1">
              <a:spLocks noChangeArrowheads="1"/>
            </p:cNvSpPr>
            <p:nvPr/>
          </p:nvSpPr>
          <p:spPr bwMode="auto">
            <a:xfrm>
              <a:off x="4608" y="2916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2 3 0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1 2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91" name="Rectangle 53"/>
            <p:cNvSpPr>
              <a:spLocks noChangeArrowheads="1"/>
            </p:cNvSpPr>
            <p:nvPr/>
          </p:nvSpPr>
          <p:spPr bwMode="auto">
            <a:xfrm>
              <a:off x="4887" y="3111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2" name="Text Box 54"/>
            <p:cNvSpPr txBox="1">
              <a:spLocks noChangeArrowheads="1"/>
            </p:cNvSpPr>
            <p:nvPr/>
          </p:nvSpPr>
          <p:spPr bwMode="auto">
            <a:xfrm>
              <a:off x="4610" y="3082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3 0 1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93" name="Line 62"/>
            <p:cNvSpPr>
              <a:spLocks noChangeShapeType="1"/>
            </p:cNvSpPr>
            <p:nvPr/>
          </p:nvSpPr>
          <p:spPr bwMode="auto">
            <a:xfrm flipH="1">
              <a:off x="3744" y="2826"/>
              <a:ext cx="822" cy="3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4" name="Line 63"/>
            <p:cNvSpPr>
              <a:spLocks noChangeShapeType="1"/>
            </p:cNvSpPr>
            <p:nvPr/>
          </p:nvSpPr>
          <p:spPr bwMode="auto">
            <a:xfrm flipH="1">
              <a:off x="3763" y="2992"/>
              <a:ext cx="822" cy="3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5" name="Line 64"/>
            <p:cNvSpPr>
              <a:spLocks noChangeShapeType="1"/>
            </p:cNvSpPr>
            <p:nvPr/>
          </p:nvSpPr>
          <p:spPr bwMode="auto">
            <a:xfrm flipH="1">
              <a:off x="3782" y="3158"/>
              <a:ext cx="822" cy="3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6" name="Text Box 65"/>
            <p:cNvSpPr txBox="1">
              <a:spLocks noChangeArrowheads="1"/>
            </p:cNvSpPr>
            <p:nvPr/>
          </p:nvSpPr>
          <p:spPr bwMode="auto">
            <a:xfrm>
              <a:off x="3628" y="3048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7" name="Text Box 66"/>
            <p:cNvSpPr txBox="1">
              <a:spLocks noChangeArrowheads="1"/>
            </p:cNvSpPr>
            <p:nvPr/>
          </p:nvSpPr>
          <p:spPr bwMode="auto">
            <a:xfrm>
              <a:off x="3640" y="3228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8" name="Text Box 67"/>
            <p:cNvSpPr txBox="1">
              <a:spLocks noChangeArrowheads="1"/>
            </p:cNvSpPr>
            <p:nvPr/>
          </p:nvSpPr>
          <p:spPr bwMode="auto">
            <a:xfrm>
              <a:off x="3659" y="3387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99" name="Text Box 68"/>
            <p:cNvSpPr txBox="1">
              <a:spLocks noChangeArrowheads="1"/>
            </p:cNvSpPr>
            <p:nvPr/>
          </p:nvSpPr>
          <p:spPr bwMode="auto">
            <a:xfrm>
              <a:off x="4578" y="365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will accept packet</a:t>
              </a:r>
              <a:endPara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with seq number 0</a:t>
              </a:r>
              <a:endPara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400" name="Line 69"/>
            <p:cNvSpPr>
              <a:spLocks noChangeShapeType="1"/>
            </p:cNvSpPr>
            <p:nvPr/>
          </p:nvSpPr>
          <p:spPr bwMode="auto">
            <a:xfrm flipV="1">
              <a:off x="5022" y="3269"/>
              <a:ext cx="0" cy="4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401" name="Text Box 117"/>
            <p:cNvSpPr txBox="1">
              <a:spLocks noChangeArrowheads="1"/>
            </p:cNvSpPr>
            <p:nvPr/>
          </p:nvSpPr>
          <p:spPr bwMode="auto">
            <a:xfrm>
              <a:off x="2796" y="3813"/>
              <a:ext cx="63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(b) oops!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1690" name="Group 128"/>
          <p:cNvGrpSpPr/>
          <p:nvPr/>
        </p:nvGrpSpPr>
        <p:grpSpPr>
          <a:xfrm>
            <a:off x="4449763" y="825500"/>
            <a:ext cx="4294187" cy="2138363"/>
            <a:chOff x="2803" y="520"/>
            <a:chExt cx="2705" cy="1347"/>
          </a:xfrm>
        </p:grpSpPr>
        <p:grpSp>
          <p:nvGrpSpPr>
            <p:cNvPr id="71697" name="Group 72"/>
            <p:cNvGrpSpPr/>
            <p:nvPr/>
          </p:nvGrpSpPr>
          <p:grpSpPr>
            <a:xfrm>
              <a:off x="2819" y="568"/>
              <a:ext cx="649" cy="173"/>
              <a:chOff x="1895" y="3931"/>
              <a:chExt cx="649" cy="173"/>
            </a:xfrm>
          </p:grpSpPr>
          <p:sp>
            <p:nvSpPr>
              <p:cNvPr id="56372" name="Rectangle 73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373" name="Text Box 74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71698" name="Group 75"/>
            <p:cNvGrpSpPr/>
            <p:nvPr/>
          </p:nvGrpSpPr>
          <p:grpSpPr>
            <a:xfrm>
              <a:off x="2831" y="741"/>
              <a:ext cx="649" cy="173"/>
              <a:chOff x="1895" y="3931"/>
              <a:chExt cx="649" cy="173"/>
            </a:xfrm>
          </p:grpSpPr>
          <p:sp>
            <p:nvSpPr>
              <p:cNvPr id="56370" name="Rectangle 76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371" name="Text Box 77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71699" name="Group 78"/>
            <p:cNvGrpSpPr/>
            <p:nvPr/>
          </p:nvGrpSpPr>
          <p:grpSpPr>
            <a:xfrm>
              <a:off x="2836" y="907"/>
              <a:ext cx="649" cy="173"/>
              <a:chOff x="1895" y="3931"/>
              <a:chExt cx="649" cy="173"/>
            </a:xfrm>
          </p:grpSpPr>
          <p:sp>
            <p:nvSpPr>
              <p:cNvPr id="56368" name="Rectangle 79"/>
              <p:cNvSpPr>
                <a:spLocks noChangeArrowheads="1"/>
              </p:cNvSpPr>
              <p:nvPr/>
            </p:nvSpPr>
            <p:spPr bwMode="auto">
              <a:xfrm>
                <a:off x="1936" y="3962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369" name="Text Box 80"/>
              <p:cNvSpPr txBox="1">
                <a:spLocks noChangeArrowheads="1"/>
              </p:cNvSpPr>
              <p:nvPr/>
            </p:nvSpPr>
            <p:spPr bwMode="auto">
              <a:xfrm>
                <a:off x="1895" y="3931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3 0 1 2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56341" name="Line 81"/>
            <p:cNvSpPr>
              <a:spLocks noChangeShapeType="1"/>
            </p:cNvSpPr>
            <p:nvPr/>
          </p:nvSpPr>
          <p:spPr bwMode="auto">
            <a:xfrm>
              <a:off x="3460" y="655"/>
              <a:ext cx="1151" cy="15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2" name="Line 82"/>
            <p:cNvSpPr>
              <a:spLocks noChangeShapeType="1"/>
            </p:cNvSpPr>
            <p:nvPr/>
          </p:nvSpPr>
          <p:spPr bwMode="auto">
            <a:xfrm>
              <a:off x="3479" y="835"/>
              <a:ext cx="1139" cy="14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3" name="Line 83"/>
            <p:cNvSpPr>
              <a:spLocks noChangeShapeType="1"/>
            </p:cNvSpPr>
            <p:nvPr/>
          </p:nvSpPr>
          <p:spPr bwMode="auto">
            <a:xfrm>
              <a:off x="3498" y="1015"/>
              <a:ext cx="1124" cy="132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4" name="Text Box 84"/>
            <p:cNvSpPr txBox="1">
              <a:spLocks noChangeArrowheads="1"/>
            </p:cNvSpPr>
            <p:nvPr/>
          </p:nvSpPr>
          <p:spPr bwMode="auto">
            <a:xfrm>
              <a:off x="3489" y="520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5" name="Text Box 85"/>
            <p:cNvSpPr txBox="1">
              <a:spLocks noChangeArrowheads="1"/>
            </p:cNvSpPr>
            <p:nvPr/>
          </p:nvSpPr>
          <p:spPr bwMode="auto">
            <a:xfrm>
              <a:off x="3529" y="700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pkt1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6" name="Text Box 86"/>
            <p:cNvSpPr txBox="1">
              <a:spLocks noChangeArrowheads="1"/>
            </p:cNvSpPr>
            <p:nvPr/>
          </p:nvSpPr>
          <p:spPr bwMode="auto">
            <a:xfrm>
              <a:off x="3527" y="880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pkt2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7" name="Rectangle 88"/>
            <p:cNvSpPr>
              <a:spLocks noChangeArrowheads="1"/>
            </p:cNvSpPr>
            <p:nvPr/>
          </p:nvSpPr>
          <p:spPr bwMode="auto">
            <a:xfrm>
              <a:off x="3035" y="1394"/>
              <a:ext cx="253" cy="11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48" name="Text Box 89"/>
            <p:cNvSpPr txBox="1">
              <a:spLocks noChangeArrowheads="1"/>
            </p:cNvSpPr>
            <p:nvPr/>
          </p:nvSpPr>
          <p:spPr bwMode="auto">
            <a:xfrm>
              <a:off x="2838" y="1365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3 0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1 2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49" name="Line 90"/>
            <p:cNvSpPr>
              <a:spLocks noChangeShapeType="1"/>
            </p:cNvSpPr>
            <p:nvPr/>
          </p:nvSpPr>
          <p:spPr bwMode="auto">
            <a:xfrm>
              <a:off x="3480" y="1473"/>
              <a:ext cx="1124" cy="14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0" name="Text Box 91"/>
            <p:cNvSpPr txBox="1">
              <a:spLocks noChangeArrowheads="1"/>
            </p:cNvSpPr>
            <p:nvPr/>
          </p:nvSpPr>
          <p:spPr bwMode="auto">
            <a:xfrm>
              <a:off x="3545" y="1478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pkt0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1" name="Rectangle 95"/>
            <p:cNvSpPr>
              <a:spLocks noChangeArrowheads="1"/>
            </p:cNvSpPr>
            <p:nvPr/>
          </p:nvSpPr>
          <p:spPr bwMode="auto">
            <a:xfrm>
              <a:off x="4740" y="758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2" name="Text Box 96"/>
            <p:cNvSpPr txBox="1">
              <a:spLocks noChangeArrowheads="1"/>
            </p:cNvSpPr>
            <p:nvPr/>
          </p:nvSpPr>
          <p:spPr bwMode="auto">
            <a:xfrm>
              <a:off x="4621" y="727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1 2 3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0 1 2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53" name="Rectangle 97"/>
            <p:cNvSpPr>
              <a:spLocks noChangeArrowheads="1"/>
            </p:cNvSpPr>
            <p:nvPr/>
          </p:nvSpPr>
          <p:spPr bwMode="auto">
            <a:xfrm>
              <a:off x="4816" y="929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4" name="Text Box 98"/>
            <p:cNvSpPr txBox="1">
              <a:spLocks noChangeArrowheads="1"/>
            </p:cNvSpPr>
            <p:nvPr/>
          </p:nvSpPr>
          <p:spPr bwMode="auto">
            <a:xfrm>
              <a:off x="4619" y="900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2 3 0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1 2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55" name="Rectangle 99"/>
            <p:cNvSpPr>
              <a:spLocks noChangeArrowheads="1"/>
            </p:cNvSpPr>
            <p:nvPr/>
          </p:nvSpPr>
          <p:spPr bwMode="auto">
            <a:xfrm>
              <a:off x="4898" y="1095"/>
              <a:ext cx="253" cy="1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6" name="Text Box 100"/>
            <p:cNvSpPr txBox="1">
              <a:spLocks noChangeArrowheads="1"/>
            </p:cNvSpPr>
            <p:nvPr/>
          </p:nvSpPr>
          <p:spPr bwMode="auto">
            <a:xfrm>
              <a:off x="4621" y="1066"/>
              <a:ext cx="649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0 1 2 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3 0 1</a:t>
              </a: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 2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56357" name="Line 103"/>
            <p:cNvSpPr>
              <a:spLocks noChangeShapeType="1"/>
            </p:cNvSpPr>
            <p:nvPr/>
          </p:nvSpPr>
          <p:spPr bwMode="auto">
            <a:xfrm flipH="1">
              <a:off x="3453" y="810"/>
              <a:ext cx="1124" cy="463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8" name="Line 104"/>
            <p:cNvSpPr>
              <a:spLocks noChangeShapeType="1"/>
            </p:cNvSpPr>
            <p:nvPr/>
          </p:nvSpPr>
          <p:spPr bwMode="auto">
            <a:xfrm flipH="1">
              <a:off x="3465" y="976"/>
              <a:ext cx="1131" cy="478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59" name="Text Box 107"/>
            <p:cNvSpPr txBox="1">
              <a:spLocks noChangeArrowheads="1"/>
            </p:cNvSpPr>
            <p:nvPr/>
          </p:nvSpPr>
          <p:spPr bwMode="auto">
            <a:xfrm>
              <a:off x="3780" y="1245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</a:t>
              </a:r>
              <a:endPara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60" name="Text Box 109"/>
            <p:cNvSpPr txBox="1">
              <a:spLocks noChangeArrowheads="1"/>
            </p:cNvSpPr>
            <p:nvPr/>
          </p:nvSpPr>
          <p:spPr bwMode="auto">
            <a:xfrm>
              <a:off x="4596" y="1501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will accept packet</a:t>
              </a:r>
              <a:endPara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with seq number 0</a:t>
              </a:r>
              <a:endPara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61" name="Line 110"/>
            <p:cNvSpPr>
              <a:spLocks noChangeShapeType="1"/>
            </p:cNvSpPr>
            <p:nvPr/>
          </p:nvSpPr>
          <p:spPr bwMode="auto">
            <a:xfrm flipH="1" flipV="1">
              <a:off x="5033" y="1253"/>
              <a:ext cx="0" cy="28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62" name="Line 112"/>
            <p:cNvSpPr>
              <a:spLocks noChangeShapeType="1"/>
            </p:cNvSpPr>
            <p:nvPr/>
          </p:nvSpPr>
          <p:spPr bwMode="auto">
            <a:xfrm>
              <a:off x="3475" y="1290"/>
              <a:ext cx="372" cy="46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71722" name="Group 115"/>
            <p:cNvGrpSpPr/>
            <p:nvPr/>
          </p:nvGrpSpPr>
          <p:grpSpPr>
            <a:xfrm>
              <a:off x="2838" y="1185"/>
              <a:ext cx="649" cy="173"/>
              <a:chOff x="2667" y="3750"/>
              <a:chExt cx="649" cy="173"/>
            </a:xfrm>
          </p:grpSpPr>
          <p:sp>
            <p:nvSpPr>
              <p:cNvPr id="56366" name="Rectangle 113"/>
              <p:cNvSpPr>
                <a:spLocks noChangeArrowheads="1"/>
              </p:cNvSpPr>
              <p:nvPr/>
            </p:nvSpPr>
            <p:spPr bwMode="auto">
              <a:xfrm>
                <a:off x="2786" y="3779"/>
                <a:ext cx="253" cy="119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56367" name="Text Box 114"/>
              <p:cNvSpPr txBox="1">
                <a:spLocks noChangeArrowheads="1"/>
              </p:cNvSpPr>
              <p:nvPr/>
            </p:nvSpPr>
            <p:spPr bwMode="auto">
              <a:xfrm>
                <a:off x="2667" y="3750"/>
                <a:ext cx="649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1 2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3 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0 1 2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56364" name="Text Box 116"/>
            <p:cNvSpPr txBox="1">
              <a:spLocks noChangeArrowheads="1"/>
            </p:cNvSpPr>
            <p:nvPr/>
          </p:nvSpPr>
          <p:spPr bwMode="auto">
            <a:xfrm>
              <a:off x="3547" y="1154"/>
              <a:ext cx="332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pkt3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56365" name="Text Box 119"/>
            <p:cNvSpPr txBox="1">
              <a:spLocks noChangeArrowheads="1"/>
            </p:cNvSpPr>
            <p:nvPr/>
          </p:nvSpPr>
          <p:spPr bwMode="auto">
            <a:xfrm>
              <a:off x="2803" y="1655"/>
              <a:ext cx="96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(a) no problem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73882" name="Group 122"/>
          <p:cNvGrpSpPr/>
          <p:nvPr/>
        </p:nvGrpSpPr>
        <p:grpSpPr>
          <a:xfrm>
            <a:off x="6434138" y="890588"/>
            <a:ext cx="517525" cy="5278437"/>
            <a:chOff x="3821" y="550"/>
            <a:chExt cx="326" cy="3325"/>
          </a:xfrm>
        </p:grpSpPr>
        <p:pic>
          <p:nvPicPr>
            <p:cNvPr id="71695" name="Picture 5" descr="curtai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23" y="550"/>
              <a:ext cx="284" cy="136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696" name="Picture 111" descr="curtai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21" y="2564"/>
              <a:ext cx="326" cy="131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73881" name="Text Box 121"/>
          <p:cNvSpPr txBox="1">
            <a:spLocks noChangeArrowheads="1"/>
          </p:cNvSpPr>
          <p:nvPr/>
        </p:nvSpPr>
        <p:spPr bwMode="auto">
          <a:xfrm>
            <a:off x="4695825" y="3049588"/>
            <a:ext cx="3835400" cy="8255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r>
              <a:rPr lang="en-US" altLang="zh-CN" i="1" dirty="0">
                <a:latin typeface="Tahoma" panose="020B0604030504040204" charset="0"/>
              </a:rPr>
              <a:t>receiver can</a:t>
            </a:r>
            <a:r>
              <a:rPr lang="ja-JP" altLang="en-US" i="1" dirty="0">
                <a:latin typeface="Tahoma" panose="020B0604030504040204" charset="0"/>
              </a:rPr>
              <a:t>’</a:t>
            </a:r>
            <a:r>
              <a:rPr lang="en-US" altLang="ja-JP" i="1" dirty="0">
                <a:latin typeface="Tahoma" panose="020B0604030504040204" charset="0"/>
              </a:rPr>
              <a:t>t see sender side.</a:t>
            </a:r>
            <a:endParaRPr lang="en-US" altLang="ja-JP" i="1" dirty="0">
              <a:latin typeface="Tahoma" panose="020B0604030504040204" charset="0"/>
            </a:endParaRPr>
          </a:p>
          <a:p>
            <a:r>
              <a:rPr lang="en-US" altLang="zh-CN" i="1" dirty="0">
                <a:latin typeface="Tahoma" panose="020B0604030504040204" charset="0"/>
              </a:rPr>
              <a:t>receiver behavior identical in both cases!</a:t>
            </a:r>
            <a:endParaRPr lang="en-US" altLang="zh-CN" i="1" dirty="0">
              <a:latin typeface="Tahoma" panose="020B0604030504040204" charset="0"/>
            </a:endParaRPr>
          </a:p>
          <a:p>
            <a:r>
              <a:rPr lang="en-US" altLang="zh-CN" i="1" dirty="0">
                <a:solidFill>
                  <a:srgbClr val="CC0000"/>
                </a:solidFill>
                <a:latin typeface="Tahoma" panose="020B0604030504040204" charset="0"/>
              </a:rPr>
              <a:t>something</a:t>
            </a:r>
            <a:r>
              <a:rPr lang="ja-JP" altLang="en-US" i="1" dirty="0">
                <a:solidFill>
                  <a:srgbClr val="CC0000"/>
                </a:solidFill>
                <a:latin typeface="Tahoma" panose="020B0604030504040204" charset="0"/>
              </a:rPr>
              <a:t>’</a:t>
            </a:r>
            <a:r>
              <a:rPr lang="en-US" altLang="ja-JP" i="1" dirty="0">
                <a:solidFill>
                  <a:srgbClr val="CC0000"/>
                </a:solidFill>
                <a:latin typeface="Tahoma" panose="020B0604030504040204" charset="0"/>
              </a:rPr>
              <a:t>s (very) wrong!</a:t>
            </a:r>
            <a:endParaRPr lang="en-US" altLang="zh-CN" i="1" dirty="0">
              <a:solidFill>
                <a:srgbClr val="CC0000"/>
              </a:solidFill>
              <a:latin typeface="Tahoma" panose="020B0604030504040204" charset="0"/>
            </a:endParaRPr>
          </a:p>
        </p:txBody>
      </p:sp>
      <p:pic>
        <p:nvPicPr>
          <p:cNvPr id="71693" name="Picture 123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631825" y="1157288"/>
            <a:ext cx="3076575" cy="150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3884" name="Rectangle 124"/>
          <p:cNvSpPr>
            <a:spLocks noChangeArrowheads="1"/>
          </p:cNvSpPr>
          <p:nvPr/>
        </p:nvSpPr>
        <p:spPr bwMode="auto">
          <a:xfrm>
            <a:off x="546100" y="2732088"/>
            <a:ext cx="3276600" cy="1554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receiver sees no difference in two scenarios!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duplicate data accepted as new in (b)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Q: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what relationship between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seq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# size and window size to avoid problem in (b)?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7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7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881" grpId="0"/>
      <p:bldP spid="37388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734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734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5735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72710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17588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83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252413"/>
            <a:ext cx="8243888" cy="885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Overview 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RFCs: 793,1122,1323, 2018, 2581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837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810125" y="1552575"/>
            <a:ext cx="38957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full duplex data: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bi-directional data flow in same connection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MSS: maximum segment size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connection-oriented: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handshaking (exchange of control msgs) inits sender, receiver state before data exchange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flow controlled: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sender will not overwhelm receiver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5837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71500" y="1543050"/>
            <a:ext cx="398145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point-to-point: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one sender, one receiver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MS PGothic" charset="0"/>
              </a:rPr>
              <a:t> </a:t>
            </a:r>
            <a:endParaRPr lang="en-US" altLang="zh-CN" dirty="0">
              <a:solidFill>
                <a:srgbClr val="FF0000"/>
              </a:solidFill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reliable, in-order </a:t>
            </a:r>
            <a:r>
              <a:rPr lang="en-US" altLang="zh-CN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byte steam:</a:t>
            </a:r>
            <a:endParaRPr lang="en-US" altLang="zh-CN" i="1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no </a:t>
            </a:r>
            <a:r>
              <a:rPr lang="ja-JP" altLang="en-US" dirty="0">
                <a:latin typeface="+mn-lt"/>
                <a:ea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</a:rPr>
              <a:t>message boundaries</a:t>
            </a:r>
            <a:r>
              <a:rPr lang="ja-JP" altLang="en-US" dirty="0">
                <a:latin typeface="+mn-lt"/>
                <a:ea typeface="MS PGothic" charset="0"/>
              </a:rPr>
              <a:t>”</a:t>
            </a:r>
            <a:endParaRPr lang="en-US" altLang="ja-JP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pipelined: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TCP congestion and flow control set window size</a:t>
            </a:r>
            <a:endParaRPr lang="en-US" altLang="zh-CN" i="1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73734" name="Picture 6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8" y="925513"/>
            <a:ext cx="8228012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395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74755" name="Picture 5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30238" y="773113"/>
            <a:ext cx="5027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0500"/>
            <a:ext cx="7772400" cy="7810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segment structure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59398" name="Rectangle 4"/>
          <p:cNvSpPr>
            <a:spLocks noChangeArrowheads="1"/>
          </p:cNvSpPr>
          <p:nvPr/>
        </p:nvSpPr>
        <p:spPr bwMode="auto">
          <a:xfrm>
            <a:off x="2897188" y="1512888"/>
            <a:ext cx="3951288" cy="4824413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399" name="Rectangle 5"/>
          <p:cNvSpPr>
            <a:spLocks noChangeArrowheads="1"/>
          </p:cNvSpPr>
          <p:nvPr/>
        </p:nvSpPr>
        <p:spPr bwMode="auto">
          <a:xfrm>
            <a:off x="2811463" y="1628775"/>
            <a:ext cx="3951288" cy="4805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00" name="Text Box 6"/>
          <p:cNvSpPr txBox="1">
            <a:spLocks noChangeArrowheads="1"/>
          </p:cNvSpPr>
          <p:nvPr/>
        </p:nvSpPr>
        <p:spPr bwMode="auto">
          <a:xfrm>
            <a:off x="2955925" y="1587500"/>
            <a:ext cx="16637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source port #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01" name="Text Box 7"/>
          <p:cNvSpPr txBox="1">
            <a:spLocks noChangeArrowheads="1"/>
          </p:cNvSpPr>
          <p:nvPr/>
        </p:nvSpPr>
        <p:spPr bwMode="auto">
          <a:xfrm>
            <a:off x="5056188" y="1592263"/>
            <a:ext cx="13811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dest port #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02" name="Line 8"/>
          <p:cNvSpPr>
            <a:spLocks noChangeShapeType="1"/>
          </p:cNvSpPr>
          <p:nvPr/>
        </p:nvSpPr>
        <p:spPr bwMode="auto">
          <a:xfrm>
            <a:off x="2814638" y="2003425"/>
            <a:ext cx="394652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03" name="Line 9"/>
          <p:cNvSpPr>
            <a:spLocks noChangeShapeType="1"/>
          </p:cNvSpPr>
          <p:nvPr/>
        </p:nvSpPr>
        <p:spPr bwMode="auto">
          <a:xfrm flipV="1">
            <a:off x="2808288" y="2382838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04" name="Line 10"/>
          <p:cNvSpPr>
            <a:spLocks noChangeShapeType="1"/>
          </p:cNvSpPr>
          <p:nvPr/>
        </p:nvSpPr>
        <p:spPr bwMode="auto">
          <a:xfrm flipV="1">
            <a:off x="4754563" y="1628775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05" name="Text Box 11"/>
          <p:cNvSpPr txBox="1">
            <a:spLocks noChangeArrowheads="1"/>
          </p:cNvSpPr>
          <p:nvPr/>
        </p:nvSpPr>
        <p:spPr bwMode="auto">
          <a:xfrm>
            <a:off x="4297363" y="1098550"/>
            <a:ext cx="857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32 bits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06" name="Line 12"/>
          <p:cNvSpPr>
            <a:spLocks noChangeShapeType="1"/>
          </p:cNvSpPr>
          <p:nvPr/>
        </p:nvSpPr>
        <p:spPr bwMode="auto">
          <a:xfrm>
            <a:off x="5297488" y="1344613"/>
            <a:ext cx="142716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07" name="Line 13"/>
          <p:cNvSpPr>
            <a:spLocks noChangeShapeType="1"/>
          </p:cNvSpPr>
          <p:nvPr/>
        </p:nvSpPr>
        <p:spPr bwMode="auto">
          <a:xfrm rot="10800000">
            <a:off x="2789238" y="1355725"/>
            <a:ext cx="13414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08" name="Text Box 14"/>
          <p:cNvSpPr txBox="1">
            <a:spLocks noChangeArrowheads="1"/>
          </p:cNvSpPr>
          <p:nvPr/>
        </p:nvSpPr>
        <p:spPr bwMode="auto">
          <a:xfrm>
            <a:off x="3863975" y="4567238"/>
            <a:ext cx="2005013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application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data 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(variable length)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09" name="Text Box 15"/>
          <p:cNvSpPr txBox="1">
            <a:spLocks noChangeArrowheads="1"/>
          </p:cNvSpPr>
          <p:nvPr/>
        </p:nvSpPr>
        <p:spPr bwMode="auto">
          <a:xfrm>
            <a:off x="3444875" y="1982788"/>
            <a:ext cx="24860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sequence number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10" name="Line 16"/>
          <p:cNvSpPr>
            <a:spLocks noChangeShapeType="1"/>
          </p:cNvSpPr>
          <p:nvPr/>
        </p:nvSpPr>
        <p:spPr bwMode="auto">
          <a:xfrm flipV="1">
            <a:off x="2817813" y="2763838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11" name="Text Box 17"/>
          <p:cNvSpPr txBox="1">
            <a:spLocks noChangeArrowheads="1"/>
          </p:cNvSpPr>
          <p:nvPr/>
        </p:nvSpPr>
        <p:spPr bwMode="auto">
          <a:xfrm>
            <a:off x="3044825" y="2382838"/>
            <a:ext cx="340995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acknowledgement number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12" name="Line 18"/>
          <p:cNvSpPr>
            <a:spLocks noChangeShapeType="1"/>
          </p:cNvSpPr>
          <p:nvPr/>
        </p:nvSpPr>
        <p:spPr bwMode="auto">
          <a:xfrm flipV="1">
            <a:off x="2813050" y="3159125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13" name="Line 19"/>
          <p:cNvSpPr>
            <a:spLocks noChangeShapeType="1"/>
          </p:cNvSpPr>
          <p:nvPr/>
        </p:nvSpPr>
        <p:spPr bwMode="auto">
          <a:xfrm flipV="1">
            <a:off x="2808288" y="3549650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14" name="Line 20"/>
          <p:cNvSpPr>
            <a:spLocks noChangeShapeType="1"/>
          </p:cNvSpPr>
          <p:nvPr/>
        </p:nvSpPr>
        <p:spPr bwMode="auto">
          <a:xfrm flipV="1">
            <a:off x="2808288" y="4111625"/>
            <a:ext cx="3951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15" name="Line 21"/>
          <p:cNvSpPr>
            <a:spLocks noChangeShapeType="1"/>
          </p:cNvSpPr>
          <p:nvPr/>
        </p:nvSpPr>
        <p:spPr bwMode="auto">
          <a:xfrm flipH="1" flipV="1">
            <a:off x="4768850" y="2767013"/>
            <a:ext cx="4763" cy="777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16" name="Text Box 22"/>
          <p:cNvSpPr txBox="1">
            <a:spLocks noChangeArrowheads="1"/>
          </p:cNvSpPr>
          <p:nvPr/>
        </p:nvSpPr>
        <p:spPr bwMode="auto">
          <a:xfrm>
            <a:off x="4870450" y="2770188"/>
            <a:ext cx="1746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receive window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17" name="Text Box 23"/>
          <p:cNvSpPr txBox="1">
            <a:spLocks noChangeArrowheads="1"/>
          </p:cNvSpPr>
          <p:nvPr/>
        </p:nvSpPr>
        <p:spPr bwMode="auto">
          <a:xfrm>
            <a:off x="4895850" y="3165475"/>
            <a:ext cx="18224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Urg data pointer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18" name="Text Box 24"/>
          <p:cNvSpPr txBox="1">
            <a:spLocks noChangeArrowheads="1"/>
          </p:cNvSpPr>
          <p:nvPr/>
        </p:nvSpPr>
        <p:spPr bwMode="auto">
          <a:xfrm>
            <a:off x="3179763" y="3146425"/>
            <a:ext cx="12128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checksum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19" name="Text Box 25"/>
          <p:cNvSpPr txBox="1">
            <a:spLocks noChangeArrowheads="1"/>
          </p:cNvSpPr>
          <p:nvPr/>
        </p:nvSpPr>
        <p:spPr bwMode="auto">
          <a:xfrm>
            <a:off x="4532313" y="2798763"/>
            <a:ext cx="3079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20" name="Line 26"/>
          <p:cNvSpPr>
            <a:spLocks noChangeShapeType="1"/>
          </p:cNvSpPr>
          <p:nvPr/>
        </p:nvSpPr>
        <p:spPr bwMode="auto">
          <a:xfrm flipV="1">
            <a:off x="4611688" y="2757488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1" name="Line 27"/>
          <p:cNvSpPr>
            <a:spLocks noChangeShapeType="1"/>
          </p:cNvSpPr>
          <p:nvPr/>
        </p:nvSpPr>
        <p:spPr bwMode="auto">
          <a:xfrm flipV="1">
            <a:off x="4449763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2" name="Line 28"/>
          <p:cNvSpPr>
            <a:spLocks noChangeShapeType="1"/>
          </p:cNvSpPr>
          <p:nvPr/>
        </p:nvSpPr>
        <p:spPr bwMode="auto">
          <a:xfrm flipV="1">
            <a:off x="4283075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3" name="Line 29"/>
          <p:cNvSpPr>
            <a:spLocks noChangeShapeType="1"/>
          </p:cNvSpPr>
          <p:nvPr/>
        </p:nvSpPr>
        <p:spPr bwMode="auto">
          <a:xfrm flipV="1">
            <a:off x="4121150" y="2767013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4" name="Line 30"/>
          <p:cNvSpPr>
            <a:spLocks noChangeShapeType="1"/>
          </p:cNvSpPr>
          <p:nvPr/>
        </p:nvSpPr>
        <p:spPr bwMode="auto">
          <a:xfrm flipV="1">
            <a:off x="3963988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5" name="Line 31"/>
          <p:cNvSpPr>
            <a:spLocks noChangeShapeType="1"/>
          </p:cNvSpPr>
          <p:nvPr/>
        </p:nvSpPr>
        <p:spPr bwMode="auto">
          <a:xfrm flipV="1">
            <a:off x="3792538" y="2771775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26" name="Text Box 32"/>
          <p:cNvSpPr txBox="1">
            <a:spLocks noChangeArrowheads="1"/>
          </p:cNvSpPr>
          <p:nvPr/>
        </p:nvSpPr>
        <p:spPr bwMode="auto">
          <a:xfrm>
            <a:off x="4365625" y="2794000"/>
            <a:ext cx="3190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27" name="Text Box 33"/>
          <p:cNvSpPr txBox="1">
            <a:spLocks noChangeArrowheads="1"/>
          </p:cNvSpPr>
          <p:nvPr/>
        </p:nvSpPr>
        <p:spPr bwMode="auto">
          <a:xfrm>
            <a:off x="4192588" y="2794000"/>
            <a:ext cx="3302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28" name="Text Box 34"/>
          <p:cNvSpPr txBox="1">
            <a:spLocks noChangeArrowheads="1"/>
          </p:cNvSpPr>
          <p:nvPr/>
        </p:nvSpPr>
        <p:spPr bwMode="auto">
          <a:xfrm>
            <a:off x="4030663" y="2789238"/>
            <a:ext cx="3190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29" name="Text Box 35"/>
          <p:cNvSpPr txBox="1">
            <a:spLocks noChangeArrowheads="1"/>
          </p:cNvSpPr>
          <p:nvPr/>
        </p:nvSpPr>
        <p:spPr bwMode="auto">
          <a:xfrm>
            <a:off x="3878263" y="2789238"/>
            <a:ext cx="3190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0" name="Text Box 36"/>
          <p:cNvSpPr txBox="1">
            <a:spLocks noChangeArrowheads="1"/>
          </p:cNvSpPr>
          <p:nvPr/>
        </p:nvSpPr>
        <p:spPr bwMode="auto">
          <a:xfrm>
            <a:off x="3711575" y="2789238"/>
            <a:ext cx="3302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U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1" name="Text Box 37"/>
          <p:cNvSpPr txBox="1">
            <a:spLocks noChangeArrowheads="1"/>
          </p:cNvSpPr>
          <p:nvPr/>
        </p:nvSpPr>
        <p:spPr bwMode="auto">
          <a:xfrm>
            <a:off x="2759075" y="2697163"/>
            <a:ext cx="57785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head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len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2" name="Text Box 38"/>
          <p:cNvSpPr txBox="1">
            <a:spLocks noChangeArrowheads="1"/>
          </p:cNvSpPr>
          <p:nvPr/>
        </p:nvSpPr>
        <p:spPr bwMode="auto">
          <a:xfrm>
            <a:off x="3238500" y="2697163"/>
            <a:ext cx="568325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not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used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3" name="Line 39"/>
          <p:cNvSpPr>
            <a:spLocks noChangeShapeType="1"/>
          </p:cNvSpPr>
          <p:nvPr/>
        </p:nvSpPr>
        <p:spPr bwMode="auto">
          <a:xfrm flipV="1">
            <a:off x="3287713" y="2762250"/>
            <a:ext cx="0" cy="392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34" name="Text Box 40"/>
          <p:cNvSpPr txBox="1">
            <a:spLocks noChangeArrowheads="1"/>
          </p:cNvSpPr>
          <p:nvPr/>
        </p:nvSpPr>
        <p:spPr bwMode="auto">
          <a:xfrm>
            <a:off x="3317875" y="3648075"/>
            <a:ext cx="2894013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options (variable length)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5" name="Text Box 41"/>
          <p:cNvSpPr txBox="1">
            <a:spLocks noChangeArrowheads="1"/>
          </p:cNvSpPr>
          <p:nvPr/>
        </p:nvSpPr>
        <p:spPr bwMode="auto">
          <a:xfrm>
            <a:off x="261938" y="1427163"/>
            <a:ext cx="22034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URG: urgent data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(generally not used)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6" name="Text Box 42"/>
          <p:cNvSpPr txBox="1">
            <a:spLocks noChangeArrowheads="1"/>
          </p:cNvSpPr>
          <p:nvPr/>
        </p:nvSpPr>
        <p:spPr bwMode="auto">
          <a:xfrm>
            <a:off x="976313" y="2151063"/>
            <a:ext cx="14414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ACK: ACK #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valid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7" name="Text Box 43"/>
          <p:cNvSpPr txBox="1">
            <a:spLocks noChangeArrowheads="1"/>
          </p:cNvSpPr>
          <p:nvPr/>
        </p:nvSpPr>
        <p:spPr bwMode="auto">
          <a:xfrm>
            <a:off x="169863" y="2827338"/>
            <a:ext cx="22669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PSH: push data now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(generally not used)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8" name="Text Box 44"/>
          <p:cNvSpPr txBox="1">
            <a:spLocks noChangeArrowheads="1"/>
          </p:cNvSpPr>
          <p:nvPr/>
        </p:nvSpPr>
        <p:spPr bwMode="auto">
          <a:xfrm>
            <a:off x="544513" y="3627438"/>
            <a:ext cx="1911350" cy="11906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RST, SYN, FIN: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connection estab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(setup, teardown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commands)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39" name="Line 45"/>
          <p:cNvSpPr>
            <a:spLocks noChangeShapeType="1"/>
          </p:cNvSpPr>
          <p:nvPr/>
        </p:nvSpPr>
        <p:spPr bwMode="auto">
          <a:xfrm>
            <a:off x="2371725" y="1800225"/>
            <a:ext cx="1495425" cy="1028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40" name="Line 46"/>
          <p:cNvSpPr>
            <a:spLocks noChangeShapeType="1"/>
          </p:cNvSpPr>
          <p:nvPr/>
        </p:nvSpPr>
        <p:spPr bwMode="auto">
          <a:xfrm>
            <a:off x="2376488" y="2487613"/>
            <a:ext cx="1658938" cy="4413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41" name="Line 47"/>
          <p:cNvSpPr>
            <a:spLocks noChangeShapeType="1"/>
          </p:cNvSpPr>
          <p:nvPr/>
        </p:nvSpPr>
        <p:spPr bwMode="auto">
          <a:xfrm flipV="1">
            <a:off x="2397125" y="3041650"/>
            <a:ext cx="1827213" cy="2444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4801" name="Freeform 48"/>
          <p:cNvSpPr/>
          <p:nvPr/>
        </p:nvSpPr>
        <p:spPr>
          <a:xfrm>
            <a:off x="2390775" y="3105150"/>
            <a:ext cx="2314575" cy="7048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1458" h="444">
                <a:moveTo>
                  <a:pt x="0" y="444"/>
                </a:moveTo>
                <a:lnTo>
                  <a:pt x="1248" y="0"/>
                </a:lnTo>
                <a:lnTo>
                  <a:pt x="1458" y="6"/>
                </a:lnTo>
              </a:path>
            </a:pathLst>
          </a:cu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43" name="Text Box 49"/>
          <p:cNvSpPr txBox="1">
            <a:spLocks noChangeArrowheads="1"/>
          </p:cNvSpPr>
          <p:nvPr/>
        </p:nvSpPr>
        <p:spPr bwMode="auto">
          <a:xfrm>
            <a:off x="7439025" y="3008313"/>
            <a:ext cx="1250950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# bytes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rcvr willing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to accept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44" name="Text Box 50"/>
          <p:cNvSpPr txBox="1">
            <a:spLocks noChangeArrowheads="1"/>
          </p:cNvSpPr>
          <p:nvPr/>
        </p:nvSpPr>
        <p:spPr bwMode="auto">
          <a:xfrm>
            <a:off x="7132638" y="1522413"/>
            <a:ext cx="1771650" cy="11906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counting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by bytes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of data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(not segments!)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45" name="Text Box 51"/>
          <p:cNvSpPr txBox="1">
            <a:spLocks noChangeArrowheads="1"/>
          </p:cNvSpPr>
          <p:nvPr/>
        </p:nvSpPr>
        <p:spPr bwMode="auto">
          <a:xfrm>
            <a:off x="982663" y="4960938"/>
            <a:ext cx="1365250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Internet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checksum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(as in UDP)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59446" name="Line 52"/>
          <p:cNvSpPr>
            <a:spLocks noChangeShapeType="1"/>
          </p:cNvSpPr>
          <p:nvPr/>
        </p:nvSpPr>
        <p:spPr bwMode="auto">
          <a:xfrm flipV="1">
            <a:off x="2266950" y="3429000"/>
            <a:ext cx="2105025" cy="1981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47" name="Line 53"/>
          <p:cNvSpPr>
            <a:spLocks noChangeShapeType="1"/>
          </p:cNvSpPr>
          <p:nvPr/>
        </p:nvSpPr>
        <p:spPr bwMode="auto">
          <a:xfrm flipH="1" flipV="1">
            <a:off x="6686550" y="3019425"/>
            <a:ext cx="809625" cy="4667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48" name="Line 54"/>
          <p:cNvSpPr>
            <a:spLocks noChangeShapeType="1"/>
          </p:cNvSpPr>
          <p:nvPr/>
        </p:nvSpPr>
        <p:spPr bwMode="auto">
          <a:xfrm flipH="1">
            <a:off x="6619875" y="1724025"/>
            <a:ext cx="552450" cy="885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59449" name="Line 55"/>
          <p:cNvSpPr>
            <a:spLocks noChangeShapeType="1"/>
          </p:cNvSpPr>
          <p:nvPr/>
        </p:nvSpPr>
        <p:spPr bwMode="auto">
          <a:xfrm flipH="1">
            <a:off x="6581775" y="1714500"/>
            <a:ext cx="571500" cy="523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1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75779" name="Picture 3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04825" y="815975"/>
            <a:ext cx="5942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1" name="Rectangle 4"/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seq. numbers, ACKs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0422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355600" y="1339850"/>
            <a:ext cx="3927475" cy="4648200"/>
          </a:xfrm>
        </p:spPr>
        <p:txBody>
          <a:bodyPr vert="horz" wrap="square" lIns="91440" tIns="45720" rIns="91440" bIns="45720" numCol="1" anchor="t" anchorCtr="0" compatLnSpc="1"/>
          <a:p>
            <a:pPr marL="234950" indent="-123825"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sequence numbers:</a:t>
            </a:r>
            <a:endParaRPr lang="en-US" altLang="zh-CN" sz="2400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marL="513080" lvl="1" indent="-163830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byte stream </a:t>
            </a:r>
            <a:r>
              <a:rPr lang="ja-JP" altLang="en-US" dirty="0">
                <a:latin typeface="+mn-lt"/>
                <a:ea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</a:rPr>
              <a:t>number</a:t>
            </a:r>
            <a:r>
              <a:rPr lang="ja-JP" altLang="en-US" dirty="0">
                <a:latin typeface="+mn-lt"/>
                <a:ea typeface="MS PGothic" charset="0"/>
              </a:rPr>
              <a:t>”</a:t>
            </a:r>
            <a:r>
              <a:rPr lang="en-US" altLang="ja-JP" dirty="0">
                <a:latin typeface="+mn-lt"/>
                <a:ea typeface="MS PGothic" charset="0"/>
              </a:rPr>
              <a:t> of first byte in segment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s data</a:t>
            </a:r>
            <a:endParaRPr lang="en-US" altLang="ja-JP" sz="2000" dirty="0">
              <a:latin typeface="+mn-lt"/>
              <a:ea typeface="MS PGothic" charset="0"/>
            </a:endParaRPr>
          </a:p>
          <a:p>
            <a:pPr marL="234950" indent="-123825"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acknowledgements:</a:t>
            </a:r>
            <a:endParaRPr lang="en-US" altLang="zh-CN" sz="2400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 marL="513080" lvl="1" indent="-163830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seq # of next byte expected from other side</a:t>
            </a:r>
            <a:endParaRPr lang="en-US" altLang="zh-CN" dirty="0">
              <a:latin typeface="+mn-lt"/>
              <a:ea typeface="MS PGothic" charset="0"/>
            </a:endParaRPr>
          </a:p>
          <a:p>
            <a:pPr marL="513080" lvl="1" indent="-163830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cumulative ACK</a:t>
            </a:r>
            <a:endParaRPr lang="en-US" altLang="zh-CN" dirty="0">
              <a:latin typeface="+mn-lt"/>
              <a:ea typeface="MS PGothic" charset="0"/>
            </a:endParaRPr>
          </a:p>
          <a:p>
            <a:pPr marL="234950" indent="-123825"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Q:</a:t>
            </a: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 how receiver handles out-of-order segments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 marL="513080" lvl="1" indent="-163830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A: TCP spec doesn</a:t>
            </a:r>
            <a:r>
              <a:rPr lang="ja-JP" altLang="en-US" dirty="0">
                <a:latin typeface="+mn-lt"/>
                <a:ea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</a:rPr>
              <a:t>t say, - up to implementor</a:t>
            </a:r>
            <a:endParaRPr lang="en-US" altLang="zh-CN" dirty="0">
              <a:latin typeface="+mn-lt"/>
              <a:ea typeface="MS PGothic" charset="0"/>
            </a:endParaRPr>
          </a:p>
        </p:txBody>
      </p:sp>
      <p:grpSp>
        <p:nvGrpSpPr>
          <p:cNvPr id="187584" name="Group 192"/>
          <p:cNvGrpSpPr/>
          <p:nvPr/>
        </p:nvGrpSpPr>
        <p:grpSpPr>
          <a:xfrm>
            <a:off x="5770563" y="3816350"/>
            <a:ext cx="2897187" cy="2541588"/>
            <a:chOff x="3599" y="2404"/>
            <a:chExt cx="1825" cy="1601"/>
          </a:xfrm>
        </p:grpSpPr>
        <p:sp>
          <p:nvSpPr>
            <p:cNvPr id="60505" name="Rectangle 167"/>
            <p:cNvSpPr>
              <a:spLocks noChangeArrowheads="1"/>
            </p:cNvSpPr>
            <p:nvPr/>
          </p:nvSpPr>
          <p:spPr bwMode="auto">
            <a:xfrm>
              <a:off x="3753" y="3587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75865" name="Group 148"/>
            <p:cNvGrpSpPr/>
            <p:nvPr/>
          </p:nvGrpSpPr>
          <p:grpSpPr>
            <a:xfrm>
              <a:off x="3733" y="3291"/>
              <a:ext cx="1252" cy="714"/>
              <a:chOff x="1976" y="2984"/>
              <a:chExt cx="1252" cy="714"/>
            </a:xfrm>
          </p:grpSpPr>
          <p:sp>
            <p:nvSpPr>
              <p:cNvPr id="60509" name="Rectangle 149"/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0" name="Text Box 150"/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source port #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1" name="Text Box 151"/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dest port #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2" name="Text Box 152"/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sequence number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3" name="Text Box 153"/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acknowledgement number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4" name="Text Box 154"/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checksum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5" name="Line 155"/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6" name="Line 156"/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7" name="Line 157"/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8" name="Line 158"/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19" name="Line 159"/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20" name="Line 160"/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21" name="Text Box 161"/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rwnd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22" name="Text Box 162"/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urg pointer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23" name="Line 163"/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524" name="Line 164"/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60507" name="Text Box 166"/>
            <p:cNvSpPr txBox="1">
              <a:spLocks noChangeArrowheads="1"/>
            </p:cNvSpPr>
            <p:nvPr/>
          </p:nvSpPr>
          <p:spPr bwMode="auto">
            <a:xfrm>
              <a:off x="3704" y="3092"/>
              <a:ext cx="1720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incoming segment to sender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67" name="Freeform 168"/>
            <p:cNvSpPr/>
            <p:nvPr/>
          </p:nvSpPr>
          <p:spPr>
            <a:xfrm flipH="1" flipV="1">
              <a:off x="3599" y="2404"/>
              <a:ext cx="107" cy="11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" y="0"/>
                </a:cxn>
                <a:cxn ang="0">
                  <a:pos x="107" y="13768"/>
                </a:cxn>
              </a:cxnLst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7587" name="Group 195"/>
          <p:cNvGrpSpPr/>
          <p:nvPr/>
        </p:nvGrpSpPr>
        <p:grpSpPr>
          <a:xfrm>
            <a:off x="6546850" y="5849938"/>
            <a:ext cx="358775" cy="304800"/>
            <a:chOff x="5144" y="3677"/>
            <a:chExt cx="226" cy="192"/>
          </a:xfrm>
        </p:grpSpPr>
        <p:sp>
          <p:nvSpPr>
            <p:cNvPr id="60503" name="Rectangle 194"/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504" name="Text Box 193"/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 Narrow" panose="020B0606020202030204" charset="0"/>
                  <a:ea typeface="MS PGothic" charset="0"/>
                  <a:cs typeface="+mn-cs"/>
                </a:rPr>
                <a:t>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0425" name="Rectangle 37"/>
          <p:cNvSpPr>
            <a:spLocks noChangeArrowheads="1"/>
          </p:cNvSpPr>
          <p:nvPr/>
        </p:nvSpPr>
        <p:spPr bwMode="auto">
          <a:xfrm>
            <a:off x="4697413" y="3038475"/>
            <a:ext cx="65088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26" name="Rectangle 39"/>
          <p:cNvSpPr>
            <a:spLocks noChangeArrowheads="1"/>
          </p:cNvSpPr>
          <p:nvPr/>
        </p:nvSpPr>
        <p:spPr bwMode="auto">
          <a:xfrm>
            <a:off x="4794250" y="304006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27" name="Rectangle 40"/>
          <p:cNvSpPr>
            <a:spLocks noChangeArrowheads="1"/>
          </p:cNvSpPr>
          <p:nvPr/>
        </p:nvSpPr>
        <p:spPr bwMode="auto">
          <a:xfrm>
            <a:off x="48926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28" name="Rectangle 41"/>
          <p:cNvSpPr>
            <a:spLocks noChangeArrowheads="1"/>
          </p:cNvSpPr>
          <p:nvPr/>
        </p:nvSpPr>
        <p:spPr bwMode="auto">
          <a:xfrm>
            <a:off x="4989513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29" name="Rectangle 42"/>
          <p:cNvSpPr>
            <a:spLocks noChangeArrowheads="1"/>
          </p:cNvSpPr>
          <p:nvPr/>
        </p:nvSpPr>
        <p:spPr bwMode="auto">
          <a:xfrm>
            <a:off x="5084763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0" name="Rectangle 43"/>
          <p:cNvSpPr>
            <a:spLocks noChangeArrowheads="1"/>
          </p:cNvSpPr>
          <p:nvPr/>
        </p:nvSpPr>
        <p:spPr bwMode="auto">
          <a:xfrm>
            <a:off x="518160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1" name="Rectangle 45"/>
          <p:cNvSpPr>
            <a:spLocks noChangeArrowheads="1"/>
          </p:cNvSpPr>
          <p:nvPr/>
        </p:nvSpPr>
        <p:spPr bwMode="auto">
          <a:xfrm>
            <a:off x="52736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2" name="Rectangle 46"/>
          <p:cNvSpPr>
            <a:spLocks noChangeArrowheads="1"/>
          </p:cNvSpPr>
          <p:nvPr/>
        </p:nvSpPr>
        <p:spPr bwMode="auto">
          <a:xfrm>
            <a:off x="536892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3" name="Rectangle 47"/>
          <p:cNvSpPr>
            <a:spLocks noChangeArrowheads="1"/>
          </p:cNvSpPr>
          <p:nvPr/>
        </p:nvSpPr>
        <p:spPr bwMode="auto">
          <a:xfrm>
            <a:off x="546417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4" name="Rectangle 50"/>
          <p:cNvSpPr>
            <a:spLocks noChangeArrowheads="1"/>
          </p:cNvSpPr>
          <p:nvPr/>
        </p:nvSpPr>
        <p:spPr bwMode="auto">
          <a:xfrm>
            <a:off x="5570538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5" name="Rectangle 51"/>
          <p:cNvSpPr>
            <a:spLocks noChangeArrowheads="1"/>
          </p:cNvSpPr>
          <p:nvPr/>
        </p:nvSpPr>
        <p:spPr bwMode="auto">
          <a:xfrm>
            <a:off x="5668963" y="304006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6" name="Rectangle 52"/>
          <p:cNvSpPr>
            <a:spLocks noChangeArrowheads="1"/>
          </p:cNvSpPr>
          <p:nvPr/>
        </p:nvSpPr>
        <p:spPr bwMode="auto">
          <a:xfrm>
            <a:off x="576580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7" name="Rectangle 53"/>
          <p:cNvSpPr>
            <a:spLocks noChangeArrowheads="1"/>
          </p:cNvSpPr>
          <p:nvPr/>
        </p:nvSpPr>
        <p:spPr bwMode="auto">
          <a:xfrm>
            <a:off x="5862638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8" name="Rectangle 54"/>
          <p:cNvSpPr>
            <a:spLocks noChangeArrowheads="1"/>
          </p:cNvSpPr>
          <p:nvPr/>
        </p:nvSpPr>
        <p:spPr bwMode="auto">
          <a:xfrm>
            <a:off x="595947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39" name="Rectangle 55"/>
          <p:cNvSpPr>
            <a:spLocks noChangeArrowheads="1"/>
          </p:cNvSpPr>
          <p:nvPr/>
        </p:nvSpPr>
        <p:spPr bwMode="auto">
          <a:xfrm>
            <a:off x="605472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0" name="Rectangle 56"/>
          <p:cNvSpPr>
            <a:spLocks noChangeArrowheads="1"/>
          </p:cNvSpPr>
          <p:nvPr/>
        </p:nvSpPr>
        <p:spPr bwMode="auto">
          <a:xfrm>
            <a:off x="614680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1" name="Rectangle 57"/>
          <p:cNvSpPr>
            <a:spLocks noChangeArrowheads="1"/>
          </p:cNvSpPr>
          <p:nvPr/>
        </p:nvSpPr>
        <p:spPr bwMode="auto">
          <a:xfrm>
            <a:off x="624205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2" name="Rectangle 58"/>
          <p:cNvSpPr>
            <a:spLocks noChangeArrowheads="1"/>
          </p:cNvSpPr>
          <p:nvPr/>
        </p:nvSpPr>
        <p:spPr bwMode="auto">
          <a:xfrm>
            <a:off x="6338888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3" name="Rectangle 59"/>
          <p:cNvSpPr>
            <a:spLocks noChangeArrowheads="1"/>
          </p:cNvSpPr>
          <p:nvPr/>
        </p:nvSpPr>
        <p:spPr bwMode="auto">
          <a:xfrm>
            <a:off x="6427788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4" name="Rectangle 60"/>
          <p:cNvSpPr>
            <a:spLocks noChangeArrowheads="1"/>
          </p:cNvSpPr>
          <p:nvPr/>
        </p:nvSpPr>
        <p:spPr bwMode="auto">
          <a:xfrm>
            <a:off x="6523038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5" name="Rectangle 61"/>
          <p:cNvSpPr>
            <a:spLocks noChangeArrowheads="1"/>
          </p:cNvSpPr>
          <p:nvPr/>
        </p:nvSpPr>
        <p:spPr bwMode="auto">
          <a:xfrm>
            <a:off x="661670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6" name="Rectangle 62"/>
          <p:cNvSpPr>
            <a:spLocks noChangeArrowheads="1"/>
          </p:cNvSpPr>
          <p:nvPr/>
        </p:nvSpPr>
        <p:spPr bwMode="auto">
          <a:xfrm>
            <a:off x="6708775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7" name="Rectangle 63"/>
          <p:cNvSpPr>
            <a:spLocks noChangeArrowheads="1"/>
          </p:cNvSpPr>
          <p:nvPr/>
        </p:nvSpPr>
        <p:spPr bwMode="auto">
          <a:xfrm>
            <a:off x="6805613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8" name="Rectangle 64"/>
          <p:cNvSpPr>
            <a:spLocks noChangeArrowheads="1"/>
          </p:cNvSpPr>
          <p:nvPr/>
        </p:nvSpPr>
        <p:spPr bwMode="auto">
          <a:xfrm>
            <a:off x="6900863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49" name="Rectangle 65"/>
          <p:cNvSpPr>
            <a:spLocks noChangeArrowheads="1"/>
          </p:cNvSpPr>
          <p:nvPr/>
        </p:nvSpPr>
        <p:spPr bwMode="auto">
          <a:xfrm>
            <a:off x="6989763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0" name="Rectangle 66"/>
          <p:cNvSpPr>
            <a:spLocks noChangeArrowheads="1"/>
          </p:cNvSpPr>
          <p:nvPr/>
        </p:nvSpPr>
        <p:spPr bwMode="auto">
          <a:xfrm>
            <a:off x="7085013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1" name="Rectangle 68"/>
          <p:cNvSpPr>
            <a:spLocks noChangeArrowheads="1"/>
          </p:cNvSpPr>
          <p:nvPr/>
        </p:nvSpPr>
        <p:spPr bwMode="auto">
          <a:xfrm>
            <a:off x="71818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2" name="Rectangle 69"/>
          <p:cNvSpPr>
            <a:spLocks noChangeArrowheads="1"/>
          </p:cNvSpPr>
          <p:nvPr/>
        </p:nvSpPr>
        <p:spPr bwMode="auto">
          <a:xfrm>
            <a:off x="7278688" y="304006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3" name="Rectangle 70"/>
          <p:cNvSpPr>
            <a:spLocks noChangeArrowheads="1"/>
          </p:cNvSpPr>
          <p:nvPr/>
        </p:nvSpPr>
        <p:spPr bwMode="auto">
          <a:xfrm>
            <a:off x="737552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4" name="Rectangle 71"/>
          <p:cNvSpPr>
            <a:spLocks noChangeArrowheads="1"/>
          </p:cNvSpPr>
          <p:nvPr/>
        </p:nvSpPr>
        <p:spPr bwMode="auto">
          <a:xfrm>
            <a:off x="74739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5" name="Rectangle 72"/>
          <p:cNvSpPr>
            <a:spLocks noChangeArrowheads="1"/>
          </p:cNvSpPr>
          <p:nvPr/>
        </p:nvSpPr>
        <p:spPr bwMode="auto">
          <a:xfrm>
            <a:off x="756920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6" name="Rectangle 73"/>
          <p:cNvSpPr>
            <a:spLocks noChangeArrowheads="1"/>
          </p:cNvSpPr>
          <p:nvPr/>
        </p:nvSpPr>
        <p:spPr bwMode="auto">
          <a:xfrm>
            <a:off x="766445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7" name="Rectangle 74"/>
          <p:cNvSpPr>
            <a:spLocks noChangeArrowheads="1"/>
          </p:cNvSpPr>
          <p:nvPr/>
        </p:nvSpPr>
        <p:spPr bwMode="auto">
          <a:xfrm>
            <a:off x="775652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8" name="Rectangle 75"/>
          <p:cNvSpPr>
            <a:spLocks noChangeArrowheads="1"/>
          </p:cNvSpPr>
          <p:nvPr/>
        </p:nvSpPr>
        <p:spPr bwMode="auto">
          <a:xfrm>
            <a:off x="7853363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59" name="Rectangle 76"/>
          <p:cNvSpPr>
            <a:spLocks noChangeArrowheads="1"/>
          </p:cNvSpPr>
          <p:nvPr/>
        </p:nvSpPr>
        <p:spPr bwMode="auto">
          <a:xfrm>
            <a:off x="7948613" y="3038475"/>
            <a:ext cx="65088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0" name="Rectangle 78"/>
          <p:cNvSpPr>
            <a:spLocks noChangeArrowheads="1"/>
          </p:cNvSpPr>
          <p:nvPr/>
        </p:nvSpPr>
        <p:spPr bwMode="auto">
          <a:xfrm>
            <a:off x="4654550" y="3776663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1" name="Rectangle 79"/>
          <p:cNvSpPr>
            <a:spLocks noChangeArrowheads="1"/>
          </p:cNvSpPr>
          <p:nvPr/>
        </p:nvSpPr>
        <p:spPr bwMode="auto">
          <a:xfrm>
            <a:off x="4740275" y="2928938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2" name="Line 80"/>
          <p:cNvSpPr>
            <a:spLocks noChangeShapeType="1"/>
          </p:cNvSpPr>
          <p:nvPr/>
        </p:nvSpPr>
        <p:spPr bwMode="auto">
          <a:xfrm>
            <a:off x="4762500" y="3890963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3" name="Line 82"/>
          <p:cNvSpPr>
            <a:spLocks noChangeShapeType="1"/>
          </p:cNvSpPr>
          <p:nvPr/>
        </p:nvSpPr>
        <p:spPr bwMode="auto">
          <a:xfrm>
            <a:off x="5697538" y="3892550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4" name="Line 83"/>
          <p:cNvSpPr>
            <a:spLocks noChangeShapeType="1"/>
          </p:cNvSpPr>
          <p:nvPr/>
        </p:nvSpPr>
        <p:spPr bwMode="auto">
          <a:xfrm>
            <a:off x="7191375" y="3890963"/>
            <a:ext cx="801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5" name="Line 84"/>
          <p:cNvSpPr>
            <a:spLocks noChangeShapeType="1"/>
          </p:cNvSpPr>
          <p:nvPr/>
        </p:nvSpPr>
        <p:spPr bwMode="auto">
          <a:xfrm>
            <a:off x="6621463" y="3892550"/>
            <a:ext cx="52863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6" name="Line 87"/>
          <p:cNvSpPr>
            <a:spLocks noChangeShapeType="1"/>
          </p:cNvSpPr>
          <p:nvPr/>
        </p:nvSpPr>
        <p:spPr bwMode="auto">
          <a:xfrm>
            <a:off x="4854575" y="3914775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7" name="Line 88"/>
          <p:cNvSpPr>
            <a:spLocks noChangeShapeType="1"/>
          </p:cNvSpPr>
          <p:nvPr/>
        </p:nvSpPr>
        <p:spPr bwMode="auto">
          <a:xfrm>
            <a:off x="6083300" y="3910013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8" name="Line 89"/>
          <p:cNvSpPr>
            <a:spLocks noChangeShapeType="1"/>
          </p:cNvSpPr>
          <p:nvPr/>
        </p:nvSpPr>
        <p:spPr bwMode="auto">
          <a:xfrm>
            <a:off x="6902450" y="3910013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69" name="Line 90"/>
          <p:cNvSpPr>
            <a:spLocks noChangeShapeType="1"/>
          </p:cNvSpPr>
          <p:nvPr/>
        </p:nvSpPr>
        <p:spPr bwMode="auto">
          <a:xfrm>
            <a:off x="7559675" y="3910013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70" name="Text Box 91"/>
          <p:cNvSpPr txBox="1">
            <a:spLocks noChangeArrowheads="1"/>
          </p:cNvSpPr>
          <p:nvPr/>
        </p:nvSpPr>
        <p:spPr bwMode="auto">
          <a:xfrm>
            <a:off x="4730750" y="4138613"/>
            <a:ext cx="693738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sent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ACKed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71" name="Text Box 92"/>
          <p:cNvSpPr txBox="1">
            <a:spLocks noChangeArrowheads="1"/>
          </p:cNvSpPr>
          <p:nvPr/>
        </p:nvSpPr>
        <p:spPr bwMode="auto">
          <a:xfrm>
            <a:off x="5711825" y="4144963"/>
            <a:ext cx="1066800" cy="668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p>
            <a:pPr algn="l">
              <a:lnSpc>
                <a:spcPct val="90000"/>
              </a:lnSpc>
            </a:pPr>
            <a:r>
              <a:rPr lang="en-US" altLang="zh-CN" sz="1400" dirty="0">
                <a:latin typeface="Tahoma" panose="020B0604030504040204" charset="0"/>
              </a:rPr>
              <a:t>sent, not-yet ACKed</a:t>
            </a:r>
            <a:endParaRPr lang="en-US" altLang="zh-CN" sz="1400" dirty="0">
              <a:latin typeface="Tahoma" panose="020B0604030504040204" charset="0"/>
            </a:endParaRPr>
          </a:p>
          <a:p>
            <a:pPr algn="l">
              <a:lnSpc>
                <a:spcPct val="90000"/>
              </a:lnSpc>
            </a:pPr>
            <a:r>
              <a:rPr lang="en-US" altLang="zh-CN" sz="1400" dirty="0">
                <a:latin typeface="Tahoma" panose="020B0604030504040204" charset="0"/>
              </a:rPr>
              <a:t>(</a:t>
            </a:r>
            <a:r>
              <a:rPr lang="ja-JP" altLang="en-US" sz="1400" dirty="0">
                <a:latin typeface="Tahoma" panose="020B0604030504040204" charset="0"/>
              </a:rPr>
              <a:t>“</a:t>
            </a:r>
            <a:r>
              <a:rPr lang="en-US" altLang="ja-JP" sz="1400" dirty="0">
                <a:latin typeface="Tahoma" panose="020B0604030504040204" charset="0"/>
              </a:rPr>
              <a:t>in-flight</a:t>
            </a:r>
            <a:r>
              <a:rPr lang="ja-JP" altLang="en-US" sz="1400" dirty="0">
                <a:latin typeface="Tahoma" panose="020B0604030504040204" charset="0"/>
              </a:rPr>
              <a:t>”</a:t>
            </a:r>
            <a:r>
              <a:rPr lang="en-US" altLang="ja-JP" sz="1400" dirty="0">
                <a:latin typeface="Tahoma" panose="020B0604030504040204" charset="0"/>
              </a:rPr>
              <a:t>)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60472" name="Text Box 93"/>
          <p:cNvSpPr txBox="1">
            <a:spLocks noChangeArrowheads="1"/>
          </p:cNvSpPr>
          <p:nvPr/>
        </p:nvSpPr>
        <p:spPr bwMode="auto">
          <a:xfrm>
            <a:off x="6691313" y="4140200"/>
            <a:ext cx="1066800" cy="668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usable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but not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yet sent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73" name="Text Box 94"/>
          <p:cNvSpPr txBox="1">
            <a:spLocks noChangeArrowheads="1"/>
          </p:cNvSpPr>
          <p:nvPr/>
        </p:nvSpPr>
        <p:spPr bwMode="auto">
          <a:xfrm>
            <a:off x="7448550" y="4144963"/>
            <a:ext cx="819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not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usable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0474" name="Text Box 96"/>
          <p:cNvSpPr txBox="1">
            <a:spLocks noChangeArrowheads="1"/>
          </p:cNvSpPr>
          <p:nvPr/>
        </p:nvSpPr>
        <p:spPr bwMode="auto">
          <a:xfrm>
            <a:off x="5791200" y="2573338"/>
            <a:ext cx="1131888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window size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N</a:t>
            </a:r>
            <a:endParaRPr kumimoji="0" lang="en-US" sz="14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5834" name="Group 99"/>
          <p:cNvGrpSpPr/>
          <p:nvPr/>
        </p:nvGrpSpPr>
        <p:grpSpPr>
          <a:xfrm>
            <a:off x="6557963" y="2797175"/>
            <a:ext cx="593725" cy="136525"/>
            <a:chOff x="4250" y="1692"/>
            <a:chExt cx="374" cy="86"/>
          </a:xfrm>
        </p:grpSpPr>
        <p:sp>
          <p:nvSpPr>
            <p:cNvPr id="60501" name="Line 97"/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502" name="Line 98"/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75835" name="Group 100"/>
          <p:cNvGrpSpPr/>
          <p:nvPr/>
        </p:nvGrpSpPr>
        <p:grpSpPr>
          <a:xfrm rot="10800000">
            <a:off x="5665788" y="2822575"/>
            <a:ext cx="593725" cy="136525"/>
            <a:chOff x="4250" y="1692"/>
            <a:chExt cx="374" cy="86"/>
          </a:xfrm>
        </p:grpSpPr>
        <p:sp>
          <p:nvSpPr>
            <p:cNvPr id="60499" name="Line 101"/>
            <p:cNvSpPr>
              <a:spLocks noChangeShapeType="1"/>
            </p:cNvSpPr>
            <p:nvPr/>
          </p:nvSpPr>
          <p:spPr bwMode="auto">
            <a:xfrm>
              <a:off x="4257" y="1745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0500" name="Line 102"/>
            <p:cNvSpPr>
              <a:spLocks noChangeShapeType="1"/>
            </p:cNvSpPr>
            <p:nvPr/>
          </p:nvSpPr>
          <p:spPr bwMode="auto">
            <a:xfrm>
              <a:off x="4629" y="1699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0477" name="Text Box 196"/>
          <p:cNvSpPr txBox="1">
            <a:spLocks noChangeArrowheads="1"/>
          </p:cNvSpPr>
          <p:nvPr/>
        </p:nvSpPr>
        <p:spPr bwMode="auto">
          <a:xfrm>
            <a:off x="4946650" y="3592513"/>
            <a:ext cx="3178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 sequence number space </a:t>
            </a:r>
            <a:endParaRPr kumimoji="0" lang="en-US" sz="14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187591" name="Group 199"/>
          <p:cNvGrpSpPr/>
          <p:nvPr/>
        </p:nvGrpSpPr>
        <p:grpSpPr>
          <a:xfrm>
            <a:off x="4449763" y="1068388"/>
            <a:ext cx="2952750" cy="1954212"/>
            <a:chOff x="2768" y="673"/>
            <a:chExt cx="1860" cy="1231"/>
          </a:xfrm>
        </p:grpSpPr>
        <p:sp>
          <p:nvSpPr>
            <p:cNvPr id="60479" name="Rectangle 171"/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75839" name="Group 172"/>
            <p:cNvGrpSpPr/>
            <p:nvPr/>
          </p:nvGrpSpPr>
          <p:grpSpPr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60483" name="Rectangle 173"/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4" name="Text Box 174"/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source port #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5" name="Text Box 175"/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dest port #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6" name="Text Box 176"/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sequence number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7" name="Text Box 177"/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acknowledgement number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8" name="Text Box 178"/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checksum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89" name="Line 179"/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0" name="Line 180"/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1" name="Line 181"/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2" name="Line 182"/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3" name="Line 183"/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4" name="Line 184"/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5" name="Text Box 185"/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rwnd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6" name="Text Box 186"/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urg pointer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7" name="Line 187"/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60498" name="Line 188"/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60481" name="Text Box 189"/>
            <p:cNvSpPr txBox="1">
              <a:spLocks noChangeArrowheads="1"/>
            </p:cNvSpPr>
            <p:nvPr/>
          </p:nvSpPr>
          <p:spPr bwMode="auto">
            <a:xfrm>
              <a:off x="2768" y="673"/>
              <a:ext cx="1860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outgoing segment from sender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41" name="Freeform 190"/>
            <p:cNvSpPr/>
            <p:nvPr/>
          </p:nvSpPr>
          <p:spPr>
            <a:xfrm>
              <a:off x="4050" y="1080"/>
              <a:ext cx="107" cy="8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7" y="0"/>
                </a:cxn>
                <a:cxn ang="0">
                  <a:pos x="107" y="337"/>
                </a:cxn>
              </a:cxnLst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4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76803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04825" y="815975"/>
            <a:ext cx="59420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5" name="Line 3"/>
          <p:cNvSpPr>
            <a:spLocks noChangeShapeType="1"/>
          </p:cNvSpPr>
          <p:nvPr/>
        </p:nvSpPr>
        <p:spPr bwMode="auto">
          <a:xfrm>
            <a:off x="3279775" y="4483100"/>
            <a:ext cx="2590800" cy="506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46" name="Line 4"/>
          <p:cNvSpPr>
            <a:spLocks noChangeShapeType="1"/>
          </p:cNvSpPr>
          <p:nvPr/>
        </p:nvSpPr>
        <p:spPr bwMode="auto">
          <a:xfrm>
            <a:off x="3294063" y="2714625"/>
            <a:ext cx="2586038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47" name="Rectangle 5"/>
          <p:cNvSpPr>
            <a:spLocks noGrp="1" noChangeArrowheads="1"/>
          </p:cNvSpPr>
          <p:nvPr>
            <p:ph type="title"/>
          </p:nvPr>
        </p:nvSpPr>
        <p:spPr>
          <a:xfrm>
            <a:off x="366713" y="150813"/>
            <a:ext cx="7772400" cy="885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seq. numbers, 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ACK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1448" name="Text Box 7"/>
          <p:cNvSpPr txBox="1">
            <a:spLocks noChangeArrowheads="1"/>
          </p:cNvSpPr>
          <p:nvPr/>
        </p:nvSpPr>
        <p:spPr bwMode="auto">
          <a:xfrm>
            <a:off x="2484438" y="2320925"/>
            <a:ext cx="809625" cy="7540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p>
            <a:pPr algn="r">
              <a:lnSpc>
                <a:spcPct val="90000"/>
              </a:lnSpc>
            </a:pPr>
            <a:r>
              <a:rPr lang="en-US" altLang="zh-CN" dirty="0">
                <a:latin typeface="Tahoma" panose="020B0604030504040204" charset="0"/>
              </a:rPr>
              <a:t>User</a:t>
            </a:r>
            <a:endParaRPr lang="en-US" altLang="zh-CN" dirty="0">
              <a:latin typeface="Tahoma" panose="020B0604030504040204" charset="0"/>
            </a:endParaRPr>
          </a:p>
          <a:p>
            <a:pPr algn="r">
              <a:lnSpc>
                <a:spcPct val="90000"/>
              </a:lnSpc>
            </a:pPr>
            <a:r>
              <a:rPr lang="en-US" altLang="zh-CN" dirty="0">
                <a:latin typeface="Tahoma" panose="020B0604030504040204" charset="0"/>
              </a:rPr>
              <a:t>types</a:t>
            </a:r>
            <a:endParaRPr lang="en-US" altLang="zh-CN" dirty="0">
              <a:latin typeface="Tahoma" panose="020B0604030504040204" charset="0"/>
            </a:endParaRPr>
          </a:p>
          <a:p>
            <a:pPr algn="r">
              <a:lnSpc>
                <a:spcPct val="90000"/>
              </a:lnSpc>
            </a:pPr>
            <a:r>
              <a:rPr lang="ja-JP" altLang="en-US" dirty="0">
                <a:latin typeface="Tahoma" panose="020B0604030504040204" charset="0"/>
              </a:rPr>
              <a:t>‘</a:t>
            </a:r>
            <a:r>
              <a:rPr lang="en-US" altLang="ja-JP" dirty="0">
                <a:latin typeface="Tahoma" panose="020B0604030504040204" charset="0"/>
              </a:rPr>
              <a:t>C</a:t>
            </a:r>
            <a:r>
              <a:rPr lang="ja-JP" altLang="en-US" dirty="0">
                <a:latin typeface="Tahoma" panose="020B0604030504040204" charset="0"/>
              </a:rPr>
              <a:t>’</a:t>
            </a:r>
            <a:endParaRPr lang="zh-CN" altLang="en-US" sz="1000" dirty="0">
              <a:latin typeface="Tahoma" panose="020B0604030504040204" charset="0"/>
            </a:endParaRPr>
          </a:p>
        </p:txBody>
      </p:sp>
      <p:sp>
        <p:nvSpPr>
          <p:cNvPr id="61449" name="Text Box 8"/>
          <p:cNvSpPr txBox="1">
            <a:spLocks noChangeArrowheads="1"/>
          </p:cNvSpPr>
          <p:nvPr/>
        </p:nvSpPr>
        <p:spPr bwMode="auto">
          <a:xfrm>
            <a:off x="2233613" y="3933825"/>
            <a:ext cx="1084263" cy="9747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pPr algn="r">
              <a:lnSpc>
                <a:spcPct val="90000"/>
              </a:lnSpc>
            </a:pPr>
            <a:r>
              <a:rPr lang="en-US" altLang="zh-CN" dirty="0">
                <a:latin typeface="Tahoma" panose="020B0604030504040204" charset="0"/>
              </a:rPr>
              <a:t>host ACKs</a:t>
            </a:r>
            <a:endParaRPr lang="en-US" altLang="zh-CN" dirty="0">
              <a:latin typeface="Tahoma" panose="020B0604030504040204" charset="0"/>
            </a:endParaRPr>
          </a:p>
          <a:p>
            <a:pPr algn="r">
              <a:lnSpc>
                <a:spcPct val="90000"/>
              </a:lnSpc>
            </a:pPr>
            <a:r>
              <a:rPr lang="en-US" altLang="zh-CN" dirty="0">
                <a:latin typeface="Tahoma" panose="020B0604030504040204" charset="0"/>
              </a:rPr>
              <a:t>receipt </a:t>
            </a:r>
            <a:endParaRPr lang="en-US" altLang="zh-CN" dirty="0">
              <a:latin typeface="Tahoma" panose="020B0604030504040204" charset="0"/>
            </a:endParaRPr>
          </a:p>
          <a:p>
            <a:pPr algn="r">
              <a:lnSpc>
                <a:spcPct val="90000"/>
              </a:lnSpc>
            </a:pPr>
            <a:r>
              <a:rPr lang="en-US" altLang="zh-CN" dirty="0">
                <a:latin typeface="Tahoma" panose="020B0604030504040204" charset="0"/>
              </a:rPr>
              <a:t>of echoed</a:t>
            </a:r>
            <a:endParaRPr lang="en-US" altLang="zh-CN" dirty="0">
              <a:latin typeface="Tahoma" panose="020B0604030504040204" charset="0"/>
            </a:endParaRPr>
          </a:p>
          <a:p>
            <a:pPr algn="r">
              <a:lnSpc>
                <a:spcPct val="90000"/>
              </a:lnSpc>
            </a:pPr>
            <a:r>
              <a:rPr lang="ja-JP" altLang="en-US" dirty="0">
                <a:latin typeface="Tahoma" panose="020B0604030504040204" charset="0"/>
              </a:rPr>
              <a:t>‘</a:t>
            </a:r>
            <a:r>
              <a:rPr lang="en-US" altLang="ja-JP" dirty="0">
                <a:latin typeface="Tahoma" panose="020B0604030504040204" charset="0"/>
              </a:rPr>
              <a:t>C</a:t>
            </a:r>
            <a:r>
              <a:rPr lang="ja-JP" altLang="en-US" dirty="0">
                <a:latin typeface="Tahoma" panose="020B0604030504040204" charset="0"/>
              </a:rPr>
              <a:t>’</a:t>
            </a:r>
            <a:endParaRPr lang="zh-CN" altLang="en-US" sz="1000" dirty="0">
              <a:latin typeface="Tahoma" panose="020B0604030504040204" charset="0"/>
            </a:endParaRPr>
          </a:p>
        </p:txBody>
      </p:sp>
      <p:sp>
        <p:nvSpPr>
          <p:cNvPr id="61450" name="Text Box 9"/>
          <p:cNvSpPr txBox="1">
            <a:spLocks noChangeArrowheads="1"/>
          </p:cNvSpPr>
          <p:nvPr/>
        </p:nvSpPr>
        <p:spPr bwMode="auto">
          <a:xfrm>
            <a:off x="5894388" y="3055938"/>
            <a:ext cx="1138238" cy="1069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pPr algn="l"/>
            <a:r>
              <a:rPr lang="en-US" altLang="zh-CN" dirty="0">
                <a:latin typeface="Tahoma" panose="020B0604030504040204" charset="0"/>
              </a:rPr>
              <a:t>host ACKs</a:t>
            </a:r>
            <a:endParaRPr lang="en-US" altLang="zh-CN" dirty="0">
              <a:latin typeface="Tahoma" panose="020B0604030504040204" charset="0"/>
            </a:endParaRPr>
          </a:p>
          <a:p>
            <a:pPr algn="l"/>
            <a:r>
              <a:rPr lang="en-US" altLang="zh-CN" dirty="0">
                <a:latin typeface="Tahoma" panose="020B0604030504040204" charset="0"/>
              </a:rPr>
              <a:t>receipt of</a:t>
            </a:r>
            <a:endParaRPr lang="en-US" altLang="zh-CN" dirty="0">
              <a:latin typeface="Tahoma" panose="020B0604030504040204" charset="0"/>
            </a:endParaRPr>
          </a:p>
          <a:p>
            <a:pPr algn="l"/>
            <a:r>
              <a:rPr lang="ja-JP" altLang="en-US" dirty="0">
                <a:latin typeface="Tahoma" panose="020B0604030504040204" charset="0"/>
              </a:rPr>
              <a:t>‘</a:t>
            </a:r>
            <a:r>
              <a:rPr lang="en-US" altLang="ja-JP" dirty="0">
                <a:latin typeface="Tahoma" panose="020B0604030504040204" charset="0"/>
              </a:rPr>
              <a:t>C</a:t>
            </a:r>
            <a:r>
              <a:rPr lang="ja-JP" altLang="en-US" dirty="0">
                <a:latin typeface="Tahoma" panose="020B0604030504040204" charset="0"/>
              </a:rPr>
              <a:t>’</a:t>
            </a:r>
            <a:r>
              <a:rPr lang="en-US" altLang="ja-JP" dirty="0">
                <a:latin typeface="Tahoma" panose="020B0604030504040204" charset="0"/>
              </a:rPr>
              <a:t>, echoes</a:t>
            </a:r>
            <a:endParaRPr lang="en-US" altLang="ja-JP" dirty="0">
              <a:latin typeface="Tahoma" panose="020B0604030504040204" charset="0"/>
            </a:endParaRPr>
          </a:p>
          <a:p>
            <a:pPr algn="l"/>
            <a:r>
              <a:rPr lang="en-US" altLang="zh-CN" dirty="0">
                <a:latin typeface="Tahoma" panose="020B0604030504040204" charset="0"/>
              </a:rPr>
              <a:t>back </a:t>
            </a:r>
            <a:r>
              <a:rPr lang="ja-JP" altLang="en-US" dirty="0">
                <a:latin typeface="Tahoma" panose="020B0604030504040204" charset="0"/>
              </a:rPr>
              <a:t>‘</a:t>
            </a:r>
            <a:r>
              <a:rPr lang="en-US" altLang="ja-JP" dirty="0">
                <a:latin typeface="Tahoma" panose="020B0604030504040204" charset="0"/>
              </a:rPr>
              <a:t>C</a:t>
            </a:r>
            <a:r>
              <a:rPr lang="ja-JP" altLang="en-US" dirty="0">
                <a:latin typeface="Tahoma" panose="020B0604030504040204" charset="0"/>
              </a:rPr>
              <a:t>’</a:t>
            </a:r>
            <a:endParaRPr lang="zh-CN" altLang="en-US" dirty="0">
              <a:latin typeface="Tahoma" panose="020B0604030504040204" charset="0"/>
            </a:endParaRPr>
          </a:p>
        </p:txBody>
      </p:sp>
      <p:sp>
        <p:nvSpPr>
          <p:cNvPr id="61451" name="Line 10"/>
          <p:cNvSpPr>
            <a:spLocks noChangeShapeType="1"/>
          </p:cNvSpPr>
          <p:nvPr/>
        </p:nvSpPr>
        <p:spPr bwMode="auto">
          <a:xfrm flipH="1">
            <a:off x="3284538" y="3487738"/>
            <a:ext cx="2554288" cy="800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2" name="Text Box 11"/>
          <p:cNvSpPr txBox="1">
            <a:spLocks noChangeArrowheads="1"/>
          </p:cNvSpPr>
          <p:nvPr/>
        </p:nvSpPr>
        <p:spPr bwMode="auto">
          <a:xfrm>
            <a:off x="3478213" y="5291138"/>
            <a:ext cx="237966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simple telnet scenario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5468938" y="1430338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4" name="Text Box 17"/>
          <p:cNvSpPr txBox="1">
            <a:spLocks noChangeArrowheads="1"/>
          </p:cNvSpPr>
          <p:nvPr/>
        </p:nvSpPr>
        <p:spPr bwMode="auto">
          <a:xfrm>
            <a:off x="2898775" y="1436688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A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5" name="Rectangle 18"/>
          <p:cNvSpPr>
            <a:spLocks noChangeArrowheads="1"/>
          </p:cNvSpPr>
          <p:nvPr/>
        </p:nvSpPr>
        <p:spPr bwMode="auto">
          <a:xfrm>
            <a:off x="4106863" y="2806700"/>
            <a:ext cx="814388" cy="3794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6" name="Text Box 19"/>
          <p:cNvSpPr txBox="1">
            <a:spLocks noChangeArrowheads="1"/>
          </p:cNvSpPr>
          <p:nvPr/>
        </p:nvSpPr>
        <p:spPr bwMode="auto">
          <a:xfrm>
            <a:off x="3398838" y="2859088"/>
            <a:ext cx="2422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r>
              <a:rPr lang="en-US" altLang="zh-CN" sz="1400" dirty="0">
                <a:latin typeface="Tahoma" panose="020B0604030504040204" charset="0"/>
              </a:rPr>
              <a:t>Seq=42, ACK=79, data = </a:t>
            </a:r>
            <a:r>
              <a:rPr lang="ja-JP" altLang="en-US" sz="1400" dirty="0">
                <a:latin typeface="Tahoma" panose="020B0604030504040204" charset="0"/>
              </a:rPr>
              <a:t>‘</a:t>
            </a:r>
            <a:r>
              <a:rPr lang="en-US" altLang="ja-JP" sz="1400" dirty="0">
                <a:latin typeface="Tahoma" panose="020B0604030504040204" charset="0"/>
              </a:rPr>
              <a:t>C</a:t>
            </a:r>
            <a:r>
              <a:rPr lang="ja-JP" altLang="en-US" sz="1400" dirty="0">
                <a:latin typeface="Tahoma" panose="020B0604030504040204" charset="0"/>
              </a:rPr>
              <a:t>’</a:t>
            </a:r>
            <a:endParaRPr lang="zh-CN" altLang="en-US" sz="1400" dirty="0">
              <a:latin typeface="Tahoma" panose="020B0604030504040204" charset="0"/>
            </a:endParaRPr>
          </a:p>
        </p:txBody>
      </p:sp>
      <p:sp>
        <p:nvSpPr>
          <p:cNvPr id="61457" name="Rectangle 20"/>
          <p:cNvSpPr>
            <a:spLocks noChangeArrowheads="1"/>
          </p:cNvSpPr>
          <p:nvPr/>
        </p:nvSpPr>
        <p:spPr bwMode="auto">
          <a:xfrm>
            <a:off x="4141788" y="3765550"/>
            <a:ext cx="823913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58" name="Text Box 21"/>
          <p:cNvSpPr txBox="1">
            <a:spLocks noChangeArrowheads="1"/>
          </p:cNvSpPr>
          <p:nvPr/>
        </p:nvSpPr>
        <p:spPr bwMode="auto">
          <a:xfrm>
            <a:off x="3402013" y="3754438"/>
            <a:ext cx="241776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r>
              <a:rPr lang="en-US" altLang="zh-CN" sz="1400" dirty="0">
                <a:latin typeface="Arial" panose="020B0604020202090204" pitchFamily="34" charset="0"/>
              </a:rPr>
              <a:t>Seq=79, ACK=43, data = </a:t>
            </a:r>
            <a:r>
              <a:rPr lang="ja-JP" altLang="en-US" sz="1400" dirty="0">
                <a:latin typeface="Arial" panose="020B0604020202090204" pitchFamily="34" charset="0"/>
              </a:rPr>
              <a:t>‘</a:t>
            </a:r>
            <a:r>
              <a:rPr lang="en-US" altLang="ja-JP" sz="1400" dirty="0">
                <a:latin typeface="Arial" panose="020B0604020202090204" pitchFamily="34" charset="0"/>
              </a:rPr>
              <a:t>C</a:t>
            </a:r>
            <a:r>
              <a:rPr lang="ja-JP" altLang="en-US" sz="1400" dirty="0">
                <a:latin typeface="Arial" panose="020B0604020202090204" pitchFamily="34" charset="0"/>
              </a:rPr>
              <a:t>’</a:t>
            </a:r>
            <a:endParaRPr lang="zh-CN" altLang="en-US" sz="1000" dirty="0">
              <a:latin typeface="Times New Roman" panose="02020503050405090304" charset="0"/>
            </a:endParaRPr>
          </a:p>
        </p:txBody>
      </p:sp>
      <p:sp>
        <p:nvSpPr>
          <p:cNvPr id="61459" name="Rectangle 22"/>
          <p:cNvSpPr>
            <a:spLocks noChangeArrowheads="1"/>
          </p:cNvSpPr>
          <p:nvPr/>
        </p:nvSpPr>
        <p:spPr bwMode="auto">
          <a:xfrm>
            <a:off x="4208463" y="4613275"/>
            <a:ext cx="958850" cy="357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60" name="Text Box 23"/>
          <p:cNvSpPr txBox="1">
            <a:spLocks noChangeArrowheads="1"/>
          </p:cNvSpPr>
          <p:nvPr/>
        </p:nvSpPr>
        <p:spPr bwMode="auto">
          <a:xfrm>
            <a:off x="3887788" y="4627563"/>
            <a:ext cx="15652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Seq=43, ACK=80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61461" name="Line 24"/>
          <p:cNvSpPr>
            <a:spLocks noChangeShapeType="1"/>
          </p:cNvSpPr>
          <p:nvPr/>
        </p:nvSpPr>
        <p:spPr bwMode="auto">
          <a:xfrm>
            <a:off x="3271838" y="2473325"/>
            <a:ext cx="0" cy="2587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1462" name="Line 25"/>
          <p:cNvSpPr>
            <a:spLocks noChangeShapeType="1"/>
          </p:cNvSpPr>
          <p:nvPr/>
        </p:nvSpPr>
        <p:spPr bwMode="auto">
          <a:xfrm>
            <a:off x="5934075" y="2525713"/>
            <a:ext cx="0" cy="2587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6822" name="Group 27"/>
          <p:cNvGrpSpPr/>
          <p:nvPr/>
        </p:nvGrpSpPr>
        <p:grpSpPr>
          <a:xfrm>
            <a:off x="2763838" y="1652588"/>
            <a:ext cx="755650" cy="782637"/>
            <a:chOff x="-44" y="1473"/>
            <a:chExt cx="981" cy="1105"/>
          </a:xfrm>
        </p:grpSpPr>
        <p:pic>
          <p:nvPicPr>
            <p:cNvPr id="76826" name="Picture 2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27" name="Freeform 2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76823" name="Group 30"/>
          <p:cNvGrpSpPr/>
          <p:nvPr/>
        </p:nvGrpSpPr>
        <p:grpSpPr>
          <a:xfrm flipH="1">
            <a:off x="5626100" y="1692275"/>
            <a:ext cx="788988" cy="862013"/>
            <a:chOff x="-44" y="1473"/>
            <a:chExt cx="981" cy="1105"/>
          </a:xfrm>
        </p:grpSpPr>
        <p:pic>
          <p:nvPicPr>
            <p:cNvPr id="76824" name="Picture 31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25" name="Freeform 3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246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77827" name="Picture 102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947738"/>
            <a:ext cx="6935788" cy="16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round trip time, timeout</a:t>
            </a:r>
            <a:endParaRPr kumimoji="0" lang="en-US" sz="4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2470" name="Rectangle 1027"/>
          <p:cNvSpPr>
            <a:spLocks noGrp="1" noChangeArrowheads="1"/>
          </p:cNvSpPr>
          <p:nvPr>
            <p:ph sz="half" idx="1"/>
          </p:nvPr>
        </p:nvSpPr>
        <p:spPr>
          <a:xfrm>
            <a:off x="581025" y="1436688"/>
            <a:ext cx="3716338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3200" b="0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Q: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how to set TCP timeout value?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longer than RTT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but RTT varies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too short: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premature timeout, unnecessary retransmissions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too long: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slow reaction to segment loss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62471" name="Rectangle 1028"/>
          <p:cNvSpPr>
            <a:spLocks noGrp="1" noChangeArrowheads="1"/>
          </p:cNvSpPr>
          <p:nvPr>
            <p:ph sz="half" idx="2"/>
          </p:nvPr>
        </p:nvSpPr>
        <p:spPr>
          <a:xfrm>
            <a:off x="4646613" y="1485900"/>
            <a:ext cx="4059238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FF0000"/>
                </a:solidFill>
                <a:latin typeface="+mn-lt"/>
                <a:ea typeface="MS PGothic" charset="0"/>
                <a:cs typeface="MS PGothic" charset="0"/>
              </a:rPr>
              <a:t>Q: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how to estimate RTT?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99"/>
                </a:solidFill>
                <a:latin typeface="Courier New" panose="02070409020205090404" charset="0"/>
                <a:ea typeface="MS PGothic" charset="0"/>
                <a:cs typeface="MS PGothic" charset="0"/>
              </a:rPr>
              <a:t>SampleRTT</a:t>
            </a:r>
            <a:r>
              <a:rPr lang="en-US" altLang="zh-CN" sz="2400" dirty="0">
                <a:solidFill>
                  <a:srgbClr val="000099"/>
                </a:solidFill>
                <a:latin typeface="+mn-lt"/>
                <a:ea typeface="MS PGothic" charset="0"/>
                <a:cs typeface="MS PGothic" charset="0"/>
              </a:rPr>
              <a:t>:</a:t>
            </a: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 measured time from segment transmission until ACK receipt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ignore retransmissions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b="1" dirty="0">
                <a:latin typeface="Courier New" panose="02070409020205090404" charset="0"/>
                <a:ea typeface="MS PGothic" charset="0"/>
                <a:cs typeface="MS PGothic" charset="0"/>
              </a:rPr>
              <a:t>SampleRTT</a:t>
            </a: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 will vary, want estimated RTT 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smoother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average several </a:t>
            </a:r>
            <a:r>
              <a:rPr lang="en-US" altLang="zh-CN" i="1" dirty="0">
                <a:latin typeface="+mn-lt"/>
                <a:ea typeface="MS PGothic" charset="0"/>
              </a:rPr>
              <a:t>recent</a:t>
            </a:r>
            <a:r>
              <a:rPr lang="en-US" altLang="zh-CN" dirty="0">
                <a:latin typeface="+mn-lt"/>
                <a:ea typeface="MS PGothic" charset="0"/>
              </a:rPr>
              <a:t> measurements, not just current </a:t>
            </a:r>
            <a:r>
              <a:rPr lang="en-US" altLang="zh-CN" b="1" dirty="0">
                <a:latin typeface="Courier New" panose="02070409020205090404" charset="0"/>
                <a:ea typeface="MS PGothic" charset="0"/>
              </a:rPr>
              <a:t>SampleRTT</a:t>
            </a:r>
            <a:endParaRPr lang="en-US" altLang="zh-CN" dirty="0">
              <a:latin typeface="+mn-lt"/>
              <a:ea typeface="MS PGothic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49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grpSp>
        <p:nvGrpSpPr>
          <p:cNvPr id="78851" name="Group 14"/>
          <p:cNvGrpSpPr/>
          <p:nvPr/>
        </p:nvGrpSpPr>
        <p:grpSpPr>
          <a:xfrm>
            <a:off x="1708150" y="2565400"/>
            <a:ext cx="6272213" cy="4292600"/>
            <a:chOff x="782" y="1865"/>
            <a:chExt cx="3951" cy="2704"/>
          </a:xfrm>
        </p:grpSpPr>
        <p:pic>
          <p:nvPicPr>
            <p:cNvPr id="78866" name="Picture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2" y="1865"/>
              <a:ext cx="3951" cy="27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8" name="Rectangle 13"/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3493" name="Text Box 3"/>
          <p:cNvSpPr txBox="1">
            <a:spLocks noChangeArrowheads="1"/>
          </p:cNvSpPr>
          <p:nvPr/>
        </p:nvSpPr>
        <p:spPr bwMode="auto">
          <a:xfrm>
            <a:off x="533400" y="1362075"/>
            <a:ext cx="75152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EstimatedRTT = (1-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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)*EstimatedRTT +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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*SampleRTT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63494" name="Rectangle 4"/>
          <p:cNvSpPr>
            <a:spLocks noChangeArrowheads="1"/>
          </p:cNvSpPr>
          <p:nvPr/>
        </p:nvSpPr>
        <p:spPr bwMode="auto">
          <a:xfrm>
            <a:off x="1163638" y="1836738"/>
            <a:ext cx="7067550" cy="12668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exponential weighted moving average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influence of past sample decreases exponentially fast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92100" marR="0" lvl="0" indent="-2921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typical value: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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0.125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78854" name="Picture 10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" y="947738"/>
            <a:ext cx="6935788" cy="16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6" name="Rectangle 11"/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round trip time, timeout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3497" name="Text Box 18"/>
          <p:cNvSpPr txBox="1">
            <a:spLocks noChangeArrowheads="1"/>
          </p:cNvSpPr>
          <p:nvPr/>
        </p:nvSpPr>
        <p:spPr bwMode="auto">
          <a:xfrm rot="10800000">
            <a:off x="1531938" y="3535363"/>
            <a:ext cx="428625" cy="17478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RTT (milliseconds)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498" name="Text Box 19"/>
          <p:cNvSpPr txBox="1">
            <a:spLocks noChangeArrowheads="1"/>
          </p:cNvSpPr>
          <p:nvPr/>
        </p:nvSpPr>
        <p:spPr bwMode="auto">
          <a:xfrm>
            <a:off x="2265363" y="3168650"/>
            <a:ext cx="38671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RTT: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gaia.cs.umass.edu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to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fantasia.eurecom.fr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63499" name="Text Box 20"/>
          <p:cNvSpPr txBox="1">
            <a:spLocks noChangeArrowheads="1"/>
          </p:cNvSpPr>
          <p:nvPr/>
        </p:nvSpPr>
        <p:spPr bwMode="auto">
          <a:xfrm>
            <a:off x="6221413" y="5230813"/>
            <a:ext cx="11811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sampleRTT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500" name="Text Box 21"/>
          <p:cNvSpPr txBox="1">
            <a:spLocks noChangeArrowheads="1"/>
          </p:cNvSpPr>
          <p:nvPr/>
        </p:nvSpPr>
        <p:spPr bwMode="auto">
          <a:xfrm>
            <a:off x="6215063" y="5548313"/>
            <a:ext cx="14319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EstimatedRTT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501" name="AutoShape 22"/>
          <p:cNvSpPr>
            <a:spLocks noChangeArrowheads="1"/>
          </p:cNvSpPr>
          <p:nvPr/>
        </p:nvSpPr>
        <p:spPr bwMode="auto">
          <a:xfrm>
            <a:off x="6005513" y="5343525"/>
            <a:ext cx="147638" cy="142875"/>
          </a:xfrm>
          <a:prstGeom prst="diamond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502" name="AutoShape 23"/>
          <p:cNvSpPr>
            <a:spLocks noChangeArrowheads="1"/>
          </p:cNvSpPr>
          <p:nvPr/>
        </p:nvSpPr>
        <p:spPr bwMode="auto">
          <a:xfrm rot="2776382">
            <a:off x="6011069" y="5633244"/>
            <a:ext cx="147638" cy="142875"/>
          </a:xfrm>
          <a:prstGeom prst="diamond">
            <a:avLst/>
          </a:prstGeom>
          <a:solidFill>
            <a:srgbClr val="FF66FF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3503" name="Rectangle 24"/>
          <p:cNvSpPr>
            <a:spLocks noChangeArrowheads="1"/>
          </p:cNvSpPr>
          <p:nvPr/>
        </p:nvSpPr>
        <p:spPr bwMode="auto">
          <a:xfrm>
            <a:off x="4108450" y="6389688"/>
            <a:ext cx="1863725" cy="4683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78863" name="Group 15"/>
          <p:cNvGrpSpPr/>
          <p:nvPr/>
        </p:nvGrpSpPr>
        <p:grpSpPr>
          <a:xfrm>
            <a:off x="4041775" y="6386513"/>
            <a:ext cx="1512888" cy="336550"/>
            <a:chOff x="2343" y="3645"/>
            <a:chExt cx="953" cy="212"/>
          </a:xfrm>
        </p:grpSpPr>
        <p:sp>
          <p:nvSpPr>
            <p:cNvPr id="63505" name="Rectangle 16"/>
            <p:cNvSpPr>
              <a:spLocks noChangeArrowheads="1"/>
            </p:cNvSpPr>
            <p:nvPr/>
          </p:nvSpPr>
          <p:spPr bwMode="auto">
            <a:xfrm>
              <a:off x="2592" y="3695"/>
              <a:ext cx="527" cy="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3506" name="Text Box 17"/>
            <p:cNvSpPr txBox="1">
              <a:spLocks noChangeArrowheads="1"/>
            </p:cNvSpPr>
            <p:nvPr/>
          </p:nvSpPr>
          <p:spPr bwMode="auto">
            <a:xfrm>
              <a:off x="2343" y="3645"/>
              <a:ext cx="953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 (seconds)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451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4516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555625" y="1595438"/>
            <a:ext cx="7918450" cy="1495425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90000"/>
              </a:lnSpc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solidFill>
                  <a:srgbClr val="000099"/>
                </a:solidFill>
                <a:latin typeface="+mn-lt"/>
                <a:ea typeface="MS PGothic" charset="0"/>
                <a:cs typeface="MS PGothic" charset="0"/>
              </a:rPr>
              <a:t>timeout interval:</a:t>
            </a:r>
            <a:r>
              <a:rPr lang="en-US" altLang="zh-CN" sz="2400" b="1" dirty="0">
                <a:latin typeface="Courier New" panose="02070409020205090404" charset="0"/>
                <a:ea typeface="MS PGothic" charset="0"/>
                <a:cs typeface="MS PGothic" charset="0"/>
              </a:rPr>
              <a:t> EstimatedRTT</a:t>
            </a: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 plus 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safety margin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endParaRPr lang="en-US" altLang="ja-JP" sz="2400" dirty="0">
              <a:latin typeface="+mn-lt"/>
              <a:ea typeface="MS PGothic" charset="0"/>
              <a:cs typeface="MS PGothic" charset="0"/>
            </a:endParaRPr>
          </a:p>
          <a:p>
            <a:pPr lvl="1">
              <a:lnSpc>
                <a:spcPct val="90000"/>
              </a:lnSpc>
              <a:buClr>
                <a:srgbClr val="000099"/>
              </a:buClr>
              <a:buSzTx/>
            </a:pPr>
            <a:r>
              <a:rPr lang="en-US" altLang="zh-CN" sz="2000" dirty="0">
                <a:latin typeface="+mn-lt"/>
                <a:ea typeface="MS PGothic" charset="0"/>
              </a:rPr>
              <a:t>large variation in </a:t>
            </a:r>
            <a:r>
              <a:rPr lang="en-US" altLang="zh-CN" sz="2000" b="1" dirty="0">
                <a:latin typeface="Courier New" panose="02070409020205090404" charset="0"/>
                <a:ea typeface="MS PGothic" charset="0"/>
              </a:rPr>
              <a:t>EstimatedRTT -&gt;</a:t>
            </a:r>
            <a:r>
              <a:rPr lang="en-US" altLang="zh-CN" sz="2000" dirty="0">
                <a:latin typeface="+mn-lt"/>
                <a:ea typeface="MS PGothic" charset="0"/>
              </a:rPr>
              <a:t> larger safety margin</a:t>
            </a:r>
            <a:endParaRPr lang="en-US" altLang="zh-CN" sz="2000" dirty="0">
              <a:latin typeface="+mn-lt"/>
              <a:ea typeface="MS PGothic" charset="0"/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estimate SampleRTT deviation from EstimatedRTT: 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64517" name="Text Box 7"/>
          <p:cNvSpPr txBox="1">
            <a:spLocks noChangeArrowheads="1"/>
          </p:cNvSpPr>
          <p:nvPr/>
        </p:nvSpPr>
        <p:spPr bwMode="auto">
          <a:xfrm>
            <a:off x="1169988" y="2871788"/>
            <a:ext cx="6975475" cy="701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DevRTT = (1-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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)*DevRTT +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           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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*|SampleRTT-EstimatedRTT|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pic>
        <p:nvPicPr>
          <p:cNvPr id="79877" name="Picture 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947738"/>
            <a:ext cx="6935788" cy="16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9" name="Rectangle 11"/>
          <p:cNvSpPr>
            <a:spLocks noGrp="1" noChangeArrowheads="1"/>
          </p:cNvSpPr>
          <p:nvPr>
            <p:ph type="title"/>
          </p:nvPr>
        </p:nvSpPr>
        <p:spPr>
          <a:xfrm>
            <a:off x="542925" y="233363"/>
            <a:ext cx="7772400" cy="9207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round trip time, timeout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4520" name="Text Box 12"/>
          <p:cNvSpPr txBox="1">
            <a:spLocks noChangeArrowheads="1"/>
          </p:cNvSpPr>
          <p:nvPr/>
        </p:nvSpPr>
        <p:spPr bwMode="auto">
          <a:xfrm>
            <a:off x="3084513" y="3592513"/>
            <a:ext cx="338613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(typically,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  <a:sym typeface="Symbol" charset="0"/>
              </a:rPr>
              <a:t> = 0.25)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  <a:sym typeface="Symbol" charset="0"/>
            </a:endParaRPr>
          </a:p>
        </p:txBody>
      </p:sp>
      <p:sp>
        <p:nvSpPr>
          <p:cNvPr id="64521" name="Rectangle 13"/>
          <p:cNvSpPr>
            <a:spLocks noChangeArrowheads="1"/>
          </p:cNvSpPr>
          <p:nvPr/>
        </p:nvSpPr>
        <p:spPr bwMode="auto">
          <a:xfrm>
            <a:off x="565150" y="4368800"/>
            <a:ext cx="791845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TimeoutInterval = EstimatedRTT + 4*DevRTT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64522" name="Text Box 14"/>
          <p:cNvSpPr txBox="1">
            <a:spLocks noChangeArrowheads="1"/>
          </p:cNvSpPr>
          <p:nvPr/>
        </p:nvSpPr>
        <p:spPr bwMode="auto">
          <a:xfrm>
            <a:off x="4010025" y="5122863"/>
            <a:ext cx="181133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estimated RTT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4523" name="Text Box 16"/>
          <p:cNvSpPr txBox="1">
            <a:spLocks noChangeArrowheads="1"/>
          </p:cNvSpPr>
          <p:nvPr/>
        </p:nvSpPr>
        <p:spPr bwMode="auto">
          <a:xfrm>
            <a:off x="6442075" y="5141913"/>
            <a:ext cx="19177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r>
              <a:rPr lang="ja-JP" altLang="en-US" sz="2000" dirty="0">
                <a:solidFill>
                  <a:srgbClr val="000099"/>
                </a:solidFill>
                <a:latin typeface="Tahoma" panose="020B0604030504040204" charset="0"/>
              </a:rPr>
              <a:t>“</a:t>
            </a:r>
            <a:r>
              <a:rPr lang="en-US" altLang="ja-JP" sz="2000" dirty="0">
                <a:solidFill>
                  <a:srgbClr val="000099"/>
                </a:solidFill>
                <a:latin typeface="Tahoma" panose="020B0604030504040204" charset="0"/>
              </a:rPr>
              <a:t>safety margin</a:t>
            </a:r>
            <a:r>
              <a:rPr lang="ja-JP" altLang="en-US" sz="2000" dirty="0">
                <a:solidFill>
                  <a:srgbClr val="000099"/>
                </a:solidFill>
                <a:latin typeface="Tahoma" panose="020B0604030504040204" charset="0"/>
              </a:rPr>
              <a:t>”</a:t>
            </a:r>
            <a:endParaRPr lang="zh-CN" altLang="en-US" sz="2000" dirty="0">
              <a:solidFill>
                <a:srgbClr val="000099"/>
              </a:solidFill>
              <a:latin typeface="Tahoma" panose="020B0604030504040204" charset="0"/>
            </a:endParaRPr>
          </a:p>
        </p:txBody>
      </p:sp>
      <p:sp>
        <p:nvSpPr>
          <p:cNvPr id="64524" name="Line 17"/>
          <p:cNvSpPr>
            <a:spLocks noChangeShapeType="1"/>
          </p:cNvSpPr>
          <p:nvPr/>
        </p:nvSpPr>
        <p:spPr bwMode="auto">
          <a:xfrm flipV="1">
            <a:off x="4806950" y="476250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4525" name="Line 19"/>
          <p:cNvSpPr>
            <a:spLocks noChangeShapeType="1"/>
          </p:cNvSpPr>
          <p:nvPr/>
        </p:nvSpPr>
        <p:spPr bwMode="auto">
          <a:xfrm flipV="1">
            <a:off x="7378700" y="4768850"/>
            <a:ext cx="0" cy="44608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79885" name="Picture 20" descr="alarm_clock_ring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3" y="4773613"/>
            <a:ext cx="752475" cy="828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86" name="TextBox 1"/>
          <p:cNvSpPr txBox="1"/>
          <p:nvPr/>
        </p:nvSpPr>
        <p:spPr>
          <a:xfrm>
            <a:off x="339725" y="6199188"/>
            <a:ext cx="450691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>
                <a:latin typeface="Arial" panose="020B0604020202090204" pitchFamily="34" charset="0"/>
              </a:rPr>
              <a:t>* Check out the online interactive exercises for more examples: h</a:t>
            </a:r>
            <a:r>
              <a:rPr lang="en-US" altLang="zh-CN" sz="1200">
                <a:latin typeface="Arial" panose="020B0604020202090204" pitchFamily="34" charset="0"/>
              </a:rPr>
              <a:t>ttp://gaia.cs.umass.edu/kurose_ross/interactive/</a:t>
            </a:r>
            <a:endParaRPr lang="en-US" altLang="zh-CN" sz="120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553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554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6554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80902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39813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656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3038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reliable data transfer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656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500188"/>
            <a:ext cx="4070350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TCP creates rdt service on top of IP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s unreliable service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pipelined segments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cumulative acks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single retransmission timer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retransmissions  triggered by: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timeout events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duplicate acks</a:t>
            </a:r>
            <a:endParaRPr lang="en-US" altLang="zh-CN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dirty="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6656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54550" y="2911475"/>
            <a:ext cx="3933825" cy="2119313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let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s initially consider simplified TCP sender: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ignore duplicate acks</a:t>
            </a:r>
            <a:endParaRPr lang="en-US" altLang="zh-CN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dirty="0">
                <a:latin typeface="+mn-lt"/>
                <a:ea typeface="MS PGothic" charset="0"/>
              </a:rPr>
              <a:t>ignore flow control, congestion control</a:t>
            </a:r>
            <a:endParaRPr lang="en-US" altLang="zh-CN" dirty="0">
              <a:latin typeface="+mn-lt"/>
              <a:ea typeface="MS PGothic" charset="0"/>
            </a:endParaRPr>
          </a:p>
        </p:txBody>
      </p:sp>
      <p:pic>
        <p:nvPicPr>
          <p:cNvPr id="81926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96913" y="996950"/>
            <a:ext cx="5942012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sender events: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758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166813"/>
            <a:ext cx="3810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data rcvd from app: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create segment with seq #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seq # is byte-stream number of first data byte in  segment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start timer if not already running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think of timer as for oldest unacked segment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expiration interval: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TimeOutInterval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6759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19600" y="1166813"/>
            <a:ext cx="3810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timeout: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retransmit segment that caused timeout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restart timer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ack rcvd: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if ack acknowledges previously unacked segments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update what is known to be ACKed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start timer if there are  still unacked segments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anose="05000000000000000000" charset="0"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pic>
        <p:nvPicPr>
          <p:cNvPr id="82950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42938" y="808038"/>
            <a:ext cx="5027612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861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83971" name="Picture 2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28638" y="898525"/>
            <a:ext cx="50276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3" name="Oval 7"/>
          <p:cNvSpPr>
            <a:spLocks noChangeArrowheads="1"/>
          </p:cNvSpPr>
          <p:nvPr/>
        </p:nvSpPr>
        <p:spPr bwMode="auto">
          <a:xfrm>
            <a:off x="2897188" y="2730500"/>
            <a:ext cx="1071563" cy="97155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8614" name="Oval 6"/>
          <p:cNvSpPr>
            <a:spLocks noChangeArrowheads="1"/>
          </p:cNvSpPr>
          <p:nvPr/>
        </p:nvSpPr>
        <p:spPr bwMode="auto">
          <a:xfrm>
            <a:off x="2822575" y="2778125"/>
            <a:ext cx="1071563" cy="9715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8615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187325"/>
            <a:ext cx="7734300" cy="898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sender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(simplified)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8616" name="Text Box 5"/>
          <p:cNvSpPr txBox="1">
            <a:spLocks noChangeArrowheads="1"/>
          </p:cNvSpPr>
          <p:nvPr/>
        </p:nvSpPr>
        <p:spPr bwMode="auto">
          <a:xfrm>
            <a:off x="2979738" y="2781300"/>
            <a:ext cx="742950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wait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for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event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68617" name="Line 8"/>
          <p:cNvSpPr>
            <a:spLocks noChangeShapeType="1"/>
          </p:cNvSpPr>
          <p:nvPr/>
        </p:nvSpPr>
        <p:spPr bwMode="auto">
          <a:xfrm>
            <a:off x="1855788" y="2247900"/>
            <a:ext cx="1071563" cy="6889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8618" name="Text Box 9"/>
          <p:cNvSpPr txBox="1">
            <a:spLocks noChangeArrowheads="1"/>
          </p:cNvSpPr>
          <p:nvPr/>
        </p:nvSpPr>
        <p:spPr bwMode="auto">
          <a:xfrm>
            <a:off x="314325" y="2874963"/>
            <a:ext cx="254635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NextSeqNum = InitialSeqNum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SendBase = InitialSeqNum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68619" name="Line 10"/>
          <p:cNvSpPr>
            <a:spLocks noChangeShapeType="1"/>
          </p:cNvSpPr>
          <p:nvPr/>
        </p:nvSpPr>
        <p:spPr bwMode="auto">
          <a:xfrm>
            <a:off x="417513" y="2889250"/>
            <a:ext cx="2179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8620" name="Text Box 11"/>
          <p:cNvSpPr txBox="1">
            <a:spLocks noChangeArrowheads="1"/>
          </p:cNvSpPr>
          <p:nvPr/>
        </p:nvSpPr>
        <p:spPr bwMode="auto">
          <a:xfrm>
            <a:off x="1287463" y="2571750"/>
            <a:ext cx="3413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grpSp>
        <p:nvGrpSpPr>
          <p:cNvPr id="83980" name="Group 23"/>
          <p:cNvGrpSpPr/>
          <p:nvPr/>
        </p:nvGrpSpPr>
        <p:grpSpPr>
          <a:xfrm>
            <a:off x="4605338" y="1333500"/>
            <a:ext cx="4251325" cy="1928813"/>
            <a:chOff x="3003" y="1263"/>
            <a:chExt cx="2678" cy="1215"/>
          </a:xfrm>
        </p:grpSpPr>
        <p:sp>
          <p:nvSpPr>
            <p:cNvPr id="68633" name="Text Box 12"/>
            <p:cNvSpPr txBox="1">
              <a:spLocks noChangeArrowheads="1"/>
            </p:cNvSpPr>
            <p:nvPr/>
          </p:nvSpPr>
          <p:spPr bwMode="auto">
            <a:xfrm>
              <a:off x="3019" y="1456"/>
              <a:ext cx="2662" cy="10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p>
              <a:pPr algn="l">
                <a:lnSpc>
                  <a:spcPct val="105000"/>
                </a:lnSpc>
              </a:pPr>
              <a:r>
                <a:rPr lang="en-US" altLang="zh-CN" dirty="0">
                  <a:latin typeface="Tahoma" panose="020B0604030504040204" charset="0"/>
                </a:rPr>
                <a:t>create segment, seq. #: NextSeqNum</a:t>
              </a:r>
              <a:endParaRPr lang="en-US" altLang="zh-CN" dirty="0">
                <a:latin typeface="Tahoma" panose="020B0604030504040204" charset="0"/>
              </a:endParaRPr>
            </a:p>
            <a:p>
              <a:pPr algn="l">
                <a:lnSpc>
                  <a:spcPct val="105000"/>
                </a:lnSpc>
              </a:pPr>
              <a:r>
                <a:rPr lang="en-US" altLang="zh-CN" dirty="0">
                  <a:latin typeface="Tahoma" panose="020B0604030504040204" charset="0"/>
                </a:rPr>
                <a:t>pass segment to IP (i.e., </a:t>
              </a:r>
              <a:r>
                <a:rPr lang="ja-JP" altLang="en-US" dirty="0">
                  <a:latin typeface="Tahoma" panose="020B0604030504040204" charset="0"/>
                </a:rPr>
                <a:t>“</a:t>
              </a:r>
              <a:r>
                <a:rPr lang="en-US" altLang="ja-JP" dirty="0">
                  <a:latin typeface="Tahoma" panose="020B0604030504040204" charset="0"/>
                </a:rPr>
                <a:t>send</a:t>
              </a:r>
              <a:r>
                <a:rPr lang="ja-JP" altLang="en-US" dirty="0">
                  <a:latin typeface="Tahoma" panose="020B0604030504040204" charset="0"/>
                </a:rPr>
                <a:t>”</a:t>
              </a:r>
              <a:r>
                <a:rPr lang="en-US" altLang="ja-JP" dirty="0">
                  <a:latin typeface="Tahoma" panose="020B0604030504040204" charset="0"/>
                </a:rPr>
                <a:t>)</a:t>
              </a:r>
              <a:endParaRPr lang="en-US" altLang="ja-JP" dirty="0">
                <a:latin typeface="Tahoma" panose="020B0604030504040204" charset="0"/>
              </a:endParaRPr>
            </a:p>
            <a:p>
              <a:pPr algn="l">
                <a:lnSpc>
                  <a:spcPct val="105000"/>
                </a:lnSpc>
              </a:pPr>
              <a:r>
                <a:rPr lang="en-US" altLang="zh-CN" dirty="0">
                  <a:latin typeface="Tahoma" panose="020B0604030504040204" charset="0"/>
                </a:rPr>
                <a:t>NextSeqNum = NextSeqNum + length(data) </a:t>
              </a:r>
              <a:endParaRPr lang="en-US" altLang="zh-CN" dirty="0">
                <a:latin typeface="Tahoma" panose="020B0604030504040204" charset="0"/>
              </a:endParaRPr>
            </a:p>
            <a:p>
              <a:pPr algn="l">
                <a:lnSpc>
                  <a:spcPct val="105000"/>
                </a:lnSpc>
              </a:pPr>
              <a:r>
                <a:rPr lang="en-US" altLang="zh-CN" dirty="0">
                  <a:latin typeface="Tahoma" panose="020B0604030504040204" charset="0"/>
                </a:rPr>
                <a:t>if (timer currently not running)</a:t>
              </a:r>
              <a:endParaRPr lang="en-US" altLang="zh-CN" dirty="0">
                <a:latin typeface="Tahoma" panose="020B0604030504040204" charset="0"/>
              </a:endParaRPr>
            </a:p>
            <a:p>
              <a:pPr algn="l">
                <a:lnSpc>
                  <a:spcPct val="105000"/>
                </a:lnSpc>
              </a:pPr>
              <a:r>
                <a:rPr lang="en-US" altLang="zh-CN" dirty="0">
                  <a:latin typeface="Tahoma" panose="020B0604030504040204" charset="0"/>
                </a:rPr>
                <a:t>    start timer</a:t>
              </a:r>
              <a:endParaRPr lang="en-US" altLang="zh-CN" dirty="0">
                <a:latin typeface="Tahoma" panose="020B0604030504040204" charset="0"/>
              </a:endParaRPr>
            </a:p>
            <a:p>
              <a:pPr algn="l"/>
              <a:r>
                <a:rPr lang="en-US" altLang="zh-CN" dirty="0">
                  <a:latin typeface="Tahoma" panose="020B0604030504040204" charset="0"/>
                </a:rPr>
                <a:t>                 </a:t>
              </a:r>
              <a:endParaRPr lang="en-US" altLang="zh-CN" dirty="0">
                <a:latin typeface="Tahoma" panose="020B0604030504040204" charset="0"/>
              </a:endParaRPr>
            </a:p>
          </p:txBody>
        </p:sp>
        <p:sp>
          <p:nvSpPr>
            <p:cNvPr id="68634" name="Text Box 13"/>
            <p:cNvSpPr txBox="1">
              <a:spLocks noChangeArrowheads="1"/>
            </p:cNvSpPr>
            <p:nvPr/>
          </p:nvSpPr>
          <p:spPr bwMode="auto">
            <a:xfrm>
              <a:off x="3003" y="1263"/>
              <a:ext cx="220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 received from application above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8635" name="Line 15"/>
            <p:cNvSpPr>
              <a:spLocks noChangeShapeType="1"/>
            </p:cNvSpPr>
            <p:nvPr/>
          </p:nvSpPr>
          <p:spPr bwMode="auto">
            <a:xfrm>
              <a:off x="3081" y="1490"/>
              <a:ext cx="17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83981" name="Group 20"/>
          <p:cNvGrpSpPr/>
          <p:nvPr/>
        </p:nvGrpSpPr>
        <p:grpSpPr>
          <a:xfrm>
            <a:off x="4805363" y="3406775"/>
            <a:ext cx="3298825" cy="1147763"/>
            <a:chOff x="1270" y="3518"/>
            <a:chExt cx="2078" cy="723"/>
          </a:xfrm>
        </p:grpSpPr>
        <p:sp>
          <p:nvSpPr>
            <p:cNvPr id="68630" name="Text Box 16"/>
            <p:cNvSpPr txBox="1">
              <a:spLocks noChangeArrowheads="1"/>
            </p:cNvSpPr>
            <p:nvPr/>
          </p:nvSpPr>
          <p:spPr bwMode="auto">
            <a:xfrm>
              <a:off x="1275" y="3721"/>
              <a:ext cx="2073" cy="5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retransmit not-yet-acked segment         	with smallest seq. #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start timer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8631" name="Text Box 17"/>
            <p:cNvSpPr txBox="1">
              <a:spLocks noChangeArrowheads="1"/>
            </p:cNvSpPr>
            <p:nvPr/>
          </p:nvSpPr>
          <p:spPr bwMode="auto">
            <a:xfrm>
              <a:off x="1270" y="3518"/>
              <a:ext cx="547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8632" name="Line 18"/>
            <p:cNvSpPr>
              <a:spLocks noChangeShapeType="1"/>
            </p:cNvSpPr>
            <p:nvPr/>
          </p:nvSpPr>
          <p:spPr bwMode="auto">
            <a:xfrm>
              <a:off x="1342" y="3741"/>
              <a:ext cx="1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83982" name="Group 24"/>
          <p:cNvGrpSpPr/>
          <p:nvPr/>
        </p:nvGrpSpPr>
        <p:grpSpPr>
          <a:xfrm>
            <a:off x="952500" y="4513263"/>
            <a:ext cx="4703763" cy="2181225"/>
            <a:chOff x="678" y="2592"/>
            <a:chExt cx="2963" cy="1374"/>
          </a:xfrm>
        </p:grpSpPr>
        <p:sp>
          <p:nvSpPr>
            <p:cNvPr id="68627" name="Text Box 3"/>
            <p:cNvSpPr txBox="1">
              <a:spLocks noChangeArrowheads="1"/>
            </p:cNvSpPr>
            <p:nvPr/>
          </p:nvSpPr>
          <p:spPr bwMode="auto">
            <a:xfrm>
              <a:off x="678" y="2830"/>
              <a:ext cx="2963" cy="11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if (y &gt; SendBase) {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SendBase = y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/* SendBase–1: last cumulatively ACKed byte */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if (there are currently not-yet-acked segments)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     start timer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   else stop timer </a:t>
              </a:r>
              <a:endParaRPr lang="en-US" altLang="zh-CN" dirty="0">
                <a:latin typeface="Arial" panose="020B0604020202090204" pitchFamily="34" charset="0"/>
              </a:endParaRPr>
            </a:p>
            <a:p>
              <a:pPr algn="l"/>
              <a:r>
                <a:rPr lang="en-US" altLang="zh-CN" dirty="0">
                  <a:latin typeface="Arial" panose="020B0604020202090204" pitchFamily="34" charset="0"/>
                </a:rPr>
                <a:t>     } 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  <p:sp>
          <p:nvSpPr>
            <p:cNvPr id="68628" name="Text Box 21"/>
            <p:cNvSpPr txBox="1">
              <a:spLocks noChangeArrowheads="1"/>
            </p:cNvSpPr>
            <p:nvPr/>
          </p:nvSpPr>
          <p:spPr bwMode="auto">
            <a:xfrm>
              <a:off x="705" y="2592"/>
              <a:ext cx="2200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 received, with ACK field value y 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8629" name="Line 22"/>
            <p:cNvSpPr>
              <a:spLocks noChangeShapeType="1"/>
            </p:cNvSpPr>
            <p:nvPr/>
          </p:nvSpPr>
          <p:spPr bwMode="auto">
            <a:xfrm>
              <a:off x="748" y="2815"/>
              <a:ext cx="20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3983" name="Freeform 26"/>
          <p:cNvSpPr/>
          <p:nvPr/>
        </p:nvSpPr>
        <p:spPr>
          <a:xfrm>
            <a:off x="3649663" y="1644650"/>
            <a:ext cx="1254125" cy="1258888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3984" name="Freeform 27"/>
          <p:cNvSpPr/>
          <p:nvPr/>
        </p:nvSpPr>
        <p:spPr>
          <a:xfrm rot="4468137">
            <a:off x="3971925" y="3116263"/>
            <a:ext cx="1254125" cy="12588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3985" name="Freeform 28"/>
          <p:cNvSpPr/>
          <p:nvPr/>
        </p:nvSpPr>
        <p:spPr>
          <a:xfrm rot="10674503">
            <a:off x="1914525" y="3616325"/>
            <a:ext cx="1254125" cy="1258888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35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title"/>
          </p:nvPr>
        </p:nvSpPr>
        <p:spPr>
          <a:xfrm>
            <a:off x="476250" y="238125"/>
            <a:ext cx="7772400" cy="9048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retransmission scenarios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69637" name="Text Box 105"/>
          <p:cNvSpPr txBox="1">
            <a:spLocks noChangeArrowheads="1"/>
          </p:cNvSpPr>
          <p:nvPr/>
        </p:nvSpPr>
        <p:spPr bwMode="auto">
          <a:xfrm>
            <a:off x="1282700" y="5946775"/>
            <a:ext cx="192246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lost ACK scenario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38" name="Line 99"/>
          <p:cNvSpPr>
            <a:spLocks noChangeShapeType="1"/>
          </p:cNvSpPr>
          <p:nvPr/>
        </p:nvSpPr>
        <p:spPr bwMode="auto">
          <a:xfrm>
            <a:off x="1065213" y="4184650"/>
            <a:ext cx="2351088" cy="506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39" name="Line 100"/>
          <p:cNvSpPr>
            <a:spLocks noChangeShapeType="1"/>
          </p:cNvSpPr>
          <p:nvPr/>
        </p:nvSpPr>
        <p:spPr bwMode="auto">
          <a:xfrm>
            <a:off x="1077913" y="2416175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0" name="Line 104"/>
          <p:cNvSpPr>
            <a:spLocks noChangeShapeType="1"/>
          </p:cNvSpPr>
          <p:nvPr/>
        </p:nvSpPr>
        <p:spPr bwMode="auto">
          <a:xfrm flipH="1">
            <a:off x="2114550" y="3078163"/>
            <a:ext cx="1273175" cy="4270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1" name="Text Box 107"/>
          <p:cNvSpPr txBox="1">
            <a:spLocks noChangeArrowheads="1"/>
          </p:cNvSpPr>
          <p:nvPr/>
        </p:nvSpPr>
        <p:spPr bwMode="auto">
          <a:xfrm>
            <a:off x="3016250" y="1257300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2" name="Text Box 111"/>
          <p:cNvSpPr txBox="1">
            <a:spLocks noChangeArrowheads="1"/>
          </p:cNvSpPr>
          <p:nvPr/>
        </p:nvSpPr>
        <p:spPr bwMode="auto">
          <a:xfrm>
            <a:off x="682625" y="1274763"/>
            <a:ext cx="776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A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3" name="Rectangle 112"/>
          <p:cNvSpPr>
            <a:spLocks noChangeArrowheads="1"/>
          </p:cNvSpPr>
          <p:nvPr/>
        </p:nvSpPr>
        <p:spPr bwMode="auto">
          <a:xfrm>
            <a:off x="1781175" y="2497138"/>
            <a:ext cx="869950" cy="401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4" name="Text Box 113"/>
          <p:cNvSpPr txBox="1">
            <a:spLocks noChangeArrowheads="1"/>
          </p:cNvSpPr>
          <p:nvPr/>
        </p:nvSpPr>
        <p:spPr bwMode="auto">
          <a:xfrm>
            <a:off x="1222375" y="2549525"/>
            <a:ext cx="2085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8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5" name="Rectangle 114"/>
          <p:cNvSpPr>
            <a:spLocks noChangeArrowheads="1"/>
          </p:cNvSpPr>
          <p:nvPr/>
        </p:nvSpPr>
        <p:spPr bwMode="auto">
          <a:xfrm>
            <a:off x="2349500" y="3163888"/>
            <a:ext cx="747713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6" name="Text Box 115"/>
          <p:cNvSpPr txBox="1">
            <a:spLocks noChangeArrowheads="1"/>
          </p:cNvSpPr>
          <p:nvPr/>
        </p:nvSpPr>
        <p:spPr bwMode="auto">
          <a:xfrm>
            <a:off x="2270125" y="3119438"/>
            <a:ext cx="9493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ACK=100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69647" name="Line 118"/>
          <p:cNvSpPr>
            <a:spLocks noChangeShapeType="1"/>
          </p:cNvSpPr>
          <p:nvPr/>
        </p:nvSpPr>
        <p:spPr bwMode="auto">
          <a:xfrm>
            <a:off x="1057275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8" name="Line 119"/>
          <p:cNvSpPr>
            <a:spLocks noChangeShapeType="1"/>
          </p:cNvSpPr>
          <p:nvPr/>
        </p:nvSpPr>
        <p:spPr bwMode="auto">
          <a:xfrm>
            <a:off x="3484563" y="2170113"/>
            <a:ext cx="0" cy="3538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49" name="Rectangle 122"/>
          <p:cNvSpPr>
            <a:spLocks noChangeArrowheads="1"/>
          </p:cNvSpPr>
          <p:nvPr/>
        </p:nvSpPr>
        <p:spPr bwMode="auto">
          <a:xfrm>
            <a:off x="1674813" y="4178300"/>
            <a:ext cx="989013" cy="430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0" name="Text Box 123"/>
          <p:cNvSpPr txBox="1">
            <a:spLocks noChangeArrowheads="1"/>
          </p:cNvSpPr>
          <p:nvPr/>
        </p:nvSpPr>
        <p:spPr bwMode="auto">
          <a:xfrm>
            <a:off x="1211263" y="4259263"/>
            <a:ext cx="2085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8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1" name="Text Box 124"/>
          <p:cNvSpPr txBox="1">
            <a:spLocks noChangeArrowheads="1"/>
          </p:cNvSpPr>
          <p:nvPr/>
        </p:nvSpPr>
        <p:spPr bwMode="auto">
          <a:xfrm>
            <a:off x="1903413" y="3309938"/>
            <a:ext cx="35877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X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2" name="Text Box 126"/>
          <p:cNvSpPr txBox="1">
            <a:spLocks noChangeArrowheads="1"/>
          </p:cNvSpPr>
          <p:nvPr/>
        </p:nvSpPr>
        <p:spPr bwMode="auto">
          <a:xfrm rot="10800000">
            <a:off x="684213" y="2963863"/>
            <a:ext cx="396875" cy="688975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timeout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3" name="Line 127"/>
          <p:cNvSpPr>
            <a:spLocks noChangeShapeType="1"/>
          </p:cNvSpPr>
          <p:nvPr/>
        </p:nvSpPr>
        <p:spPr bwMode="auto">
          <a:xfrm flipH="1">
            <a:off x="1054100" y="4776788"/>
            <a:ext cx="2338388" cy="7826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4" name="Rectangle 128"/>
          <p:cNvSpPr>
            <a:spLocks noChangeArrowheads="1"/>
          </p:cNvSpPr>
          <p:nvPr/>
        </p:nvSpPr>
        <p:spPr bwMode="auto">
          <a:xfrm>
            <a:off x="1887538" y="5033963"/>
            <a:ext cx="747713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5" name="Text Box 129"/>
          <p:cNvSpPr txBox="1">
            <a:spLocks noChangeArrowheads="1"/>
          </p:cNvSpPr>
          <p:nvPr/>
        </p:nvSpPr>
        <p:spPr bwMode="auto">
          <a:xfrm>
            <a:off x="1808163" y="4989513"/>
            <a:ext cx="9493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ACK=100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grpSp>
        <p:nvGrpSpPr>
          <p:cNvPr id="85015" name="Group 134"/>
          <p:cNvGrpSpPr/>
          <p:nvPr/>
        </p:nvGrpSpPr>
        <p:grpSpPr>
          <a:xfrm>
            <a:off x="825500" y="2420938"/>
            <a:ext cx="104775" cy="508000"/>
            <a:chOff x="3099" y="1749"/>
            <a:chExt cx="66" cy="320"/>
          </a:xfrm>
        </p:grpSpPr>
        <p:sp>
          <p:nvSpPr>
            <p:cNvPr id="69710" name="Line 132"/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11" name="Line 133"/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85016" name="Group 135"/>
          <p:cNvGrpSpPr/>
          <p:nvPr/>
        </p:nvGrpSpPr>
        <p:grpSpPr>
          <a:xfrm rot="10800000">
            <a:off x="820738" y="3663950"/>
            <a:ext cx="104775" cy="508000"/>
            <a:chOff x="3099" y="1749"/>
            <a:chExt cx="66" cy="320"/>
          </a:xfrm>
        </p:grpSpPr>
        <p:sp>
          <p:nvSpPr>
            <p:cNvPr id="69708" name="Line 136"/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9" name="Line 137"/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9658" name="Text Box 172"/>
          <p:cNvSpPr txBox="1">
            <a:spLocks noChangeArrowheads="1"/>
          </p:cNvSpPr>
          <p:nvPr/>
        </p:nvSpPr>
        <p:spPr bwMode="auto">
          <a:xfrm>
            <a:off x="5945188" y="5953125"/>
            <a:ext cx="20732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premature timeout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59" name="Line 173"/>
          <p:cNvSpPr>
            <a:spLocks noChangeShapeType="1"/>
          </p:cNvSpPr>
          <p:nvPr/>
        </p:nvSpPr>
        <p:spPr bwMode="auto">
          <a:xfrm>
            <a:off x="5781675" y="4191000"/>
            <a:ext cx="2441575" cy="665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0" name="Line 174"/>
          <p:cNvSpPr>
            <a:spLocks noChangeShapeType="1"/>
          </p:cNvSpPr>
          <p:nvPr/>
        </p:nvSpPr>
        <p:spPr bwMode="auto">
          <a:xfrm>
            <a:off x="5815013" y="2422525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1" name="Line 175"/>
          <p:cNvSpPr>
            <a:spLocks noChangeShapeType="1"/>
          </p:cNvSpPr>
          <p:nvPr/>
        </p:nvSpPr>
        <p:spPr bwMode="auto">
          <a:xfrm flipH="1">
            <a:off x="5789613" y="3084513"/>
            <a:ext cx="2335213" cy="15890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2" name="Text Box 177"/>
          <p:cNvSpPr txBox="1">
            <a:spLocks noChangeArrowheads="1"/>
          </p:cNvSpPr>
          <p:nvPr/>
        </p:nvSpPr>
        <p:spPr bwMode="auto">
          <a:xfrm>
            <a:off x="7753350" y="1263650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3" name="Text Box 181"/>
          <p:cNvSpPr txBox="1">
            <a:spLocks noChangeArrowheads="1"/>
          </p:cNvSpPr>
          <p:nvPr/>
        </p:nvSpPr>
        <p:spPr bwMode="auto">
          <a:xfrm>
            <a:off x="5419725" y="1281113"/>
            <a:ext cx="776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A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4" name="Rectangle 182"/>
          <p:cNvSpPr>
            <a:spLocks noChangeArrowheads="1"/>
          </p:cNvSpPr>
          <p:nvPr/>
        </p:nvSpPr>
        <p:spPr bwMode="auto">
          <a:xfrm>
            <a:off x="6518275" y="2503488"/>
            <a:ext cx="869950" cy="401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5" name="Text Box 183"/>
          <p:cNvSpPr txBox="1">
            <a:spLocks noChangeArrowheads="1"/>
          </p:cNvSpPr>
          <p:nvPr/>
        </p:nvSpPr>
        <p:spPr bwMode="auto">
          <a:xfrm>
            <a:off x="5959475" y="2555875"/>
            <a:ext cx="2085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8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85025" name="Group 202"/>
          <p:cNvGrpSpPr/>
          <p:nvPr/>
        </p:nvGrpSpPr>
        <p:grpSpPr>
          <a:xfrm>
            <a:off x="6691313" y="3576638"/>
            <a:ext cx="949325" cy="304800"/>
            <a:chOff x="4215" y="2253"/>
            <a:chExt cx="598" cy="192"/>
          </a:xfrm>
        </p:grpSpPr>
        <p:sp>
          <p:nvSpPr>
            <p:cNvPr id="69706" name="Rectangle 184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7" name="Text Box 185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sp>
        <p:nvSpPr>
          <p:cNvPr id="69667" name="Line 186"/>
          <p:cNvSpPr>
            <a:spLocks noChangeShapeType="1"/>
          </p:cNvSpPr>
          <p:nvPr/>
        </p:nvSpPr>
        <p:spPr bwMode="auto">
          <a:xfrm>
            <a:off x="5794375" y="218122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8" name="Line 187"/>
          <p:cNvSpPr>
            <a:spLocks noChangeShapeType="1"/>
          </p:cNvSpPr>
          <p:nvPr/>
        </p:nvSpPr>
        <p:spPr bwMode="auto">
          <a:xfrm>
            <a:off x="8199438" y="2176463"/>
            <a:ext cx="0" cy="3538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69" name="Rectangle 188"/>
          <p:cNvSpPr>
            <a:spLocks noChangeArrowheads="1"/>
          </p:cNvSpPr>
          <p:nvPr/>
        </p:nvSpPr>
        <p:spPr bwMode="auto">
          <a:xfrm>
            <a:off x="6807200" y="4308475"/>
            <a:ext cx="1057275" cy="5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70" name="Text Box 189"/>
          <p:cNvSpPr txBox="1">
            <a:spLocks noChangeArrowheads="1"/>
          </p:cNvSpPr>
          <p:nvPr/>
        </p:nvSpPr>
        <p:spPr bwMode="auto">
          <a:xfrm>
            <a:off x="6727825" y="4341813"/>
            <a:ext cx="121285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 8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71" name="Text Box 191"/>
          <p:cNvSpPr txBox="1">
            <a:spLocks noChangeArrowheads="1"/>
          </p:cNvSpPr>
          <p:nvPr/>
        </p:nvSpPr>
        <p:spPr bwMode="auto">
          <a:xfrm rot="10800000">
            <a:off x="5421313" y="2970213"/>
            <a:ext cx="396875" cy="688975"/>
          </a:xfrm>
          <a:prstGeom prst="rect">
            <a:avLst/>
          </a:prstGeom>
          <a:noFill/>
          <a:ln>
            <a:noFill/>
          </a:ln>
          <a:effectLst/>
        </p:spPr>
        <p:txBody>
          <a:bodyPr vert="eaVert"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timeout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72" name="Line 192"/>
          <p:cNvSpPr>
            <a:spLocks noChangeShapeType="1"/>
          </p:cNvSpPr>
          <p:nvPr/>
        </p:nvSpPr>
        <p:spPr bwMode="auto">
          <a:xfrm flipH="1">
            <a:off x="5813425" y="4894263"/>
            <a:ext cx="2338388" cy="7826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73" name="Rectangle 193"/>
          <p:cNvSpPr>
            <a:spLocks noChangeArrowheads="1"/>
          </p:cNvSpPr>
          <p:nvPr/>
        </p:nvSpPr>
        <p:spPr bwMode="auto">
          <a:xfrm>
            <a:off x="6646863" y="5151438"/>
            <a:ext cx="747713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74" name="Text Box 194"/>
          <p:cNvSpPr txBox="1">
            <a:spLocks noChangeArrowheads="1"/>
          </p:cNvSpPr>
          <p:nvPr/>
        </p:nvSpPr>
        <p:spPr bwMode="auto">
          <a:xfrm>
            <a:off x="6567488" y="5106988"/>
            <a:ext cx="9493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ACK=120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grpSp>
        <p:nvGrpSpPr>
          <p:cNvPr id="85034" name="Group 195"/>
          <p:cNvGrpSpPr/>
          <p:nvPr/>
        </p:nvGrpSpPr>
        <p:grpSpPr>
          <a:xfrm>
            <a:off x="5562600" y="2427288"/>
            <a:ext cx="104775" cy="508000"/>
            <a:chOff x="3099" y="1749"/>
            <a:chExt cx="66" cy="320"/>
          </a:xfrm>
        </p:grpSpPr>
        <p:sp>
          <p:nvSpPr>
            <p:cNvPr id="69704" name="Line 196"/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5" name="Line 197"/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85035" name="Group 198"/>
          <p:cNvGrpSpPr/>
          <p:nvPr/>
        </p:nvGrpSpPr>
        <p:grpSpPr>
          <a:xfrm rot="10800000">
            <a:off x="5557838" y="3670300"/>
            <a:ext cx="104775" cy="508000"/>
            <a:chOff x="3099" y="1749"/>
            <a:chExt cx="66" cy="320"/>
          </a:xfrm>
        </p:grpSpPr>
        <p:sp>
          <p:nvSpPr>
            <p:cNvPr id="69702" name="Line 199"/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3" name="Line 200"/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85036" name="Group 206"/>
          <p:cNvGrpSpPr/>
          <p:nvPr/>
        </p:nvGrpSpPr>
        <p:grpSpPr>
          <a:xfrm>
            <a:off x="5800725" y="2808288"/>
            <a:ext cx="2346325" cy="571500"/>
            <a:chOff x="3759" y="1622"/>
            <a:chExt cx="1478" cy="360"/>
          </a:xfrm>
        </p:grpSpPr>
        <p:sp>
          <p:nvSpPr>
            <p:cNvPr id="69699" name="Line 203"/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0" name="Rectangle 204"/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701" name="Text Box 205"/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Seq=100, 20 bytes of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69678" name="Line 207"/>
          <p:cNvSpPr>
            <a:spLocks noChangeShapeType="1"/>
          </p:cNvSpPr>
          <p:nvPr/>
        </p:nvSpPr>
        <p:spPr bwMode="auto">
          <a:xfrm flipH="1">
            <a:off x="5794375" y="3440113"/>
            <a:ext cx="2335213" cy="15890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85038" name="Group 208"/>
          <p:cNvGrpSpPr/>
          <p:nvPr/>
        </p:nvGrpSpPr>
        <p:grpSpPr>
          <a:xfrm>
            <a:off x="6931025" y="3852863"/>
            <a:ext cx="949325" cy="304800"/>
            <a:chOff x="4215" y="2253"/>
            <a:chExt cx="598" cy="192"/>
          </a:xfrm>
        </p:grpSpPr>
        <p:sp>
          <p:nvSpPr>
            <p:cNvPr id="69697" name="Rectangle 209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69698" name="Text Box 210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ACK=120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sp>
        <p:nvSpPr>
          <p:cNvPr id="69680" name="Text Box 211"/>
          <p:cNvSpPr txBox="1">
            <a:spLocks noChangeArrowheads="1"/>
          </p:cNvSpPr>
          <p:nvPr/>
        </p:nvSpPr>
        <p:spPr bwMode="auto">
          <a:xfrm>
            <a:off x="4427538" y="4495800"/>
            <a:ext cx="136366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SendBase=100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81" name="Text Box 212"/>
          <p:cNvSpPr txBox="1">
            <a:spLocks noChangeArrowheads="1"/>
          </p:cNvSpPr>
          <p:nvPr/>
        </p:nvSpPr>
        <p:spPr bwMode="auto">
          <a:xfrm>
            <a:off x="4446588" y="4837113"/>
            <a:ext cx="136366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SendBase=120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82" name="Text Box 213"/>
          <p:cNvSpPr txBox="1">
            <a:spLocks noChangeArrowheads="1"/>
          </p:cNvSpPr>
          <p:nvPr/>
        </p:nvSpPr>
        <p:spPr bwMode="auto">
          <a:xfrm>
            <a:off x="4465638" y="5511800"/>
            <a:ext cx="136366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SendBase=120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69683" name="Text Box 214"/>
          <p:cNvSpPr txBox="1">
            <a:spLocks noChangeArrowheads="1"/>
          </p:cNvSpPr>
          <p:nvPr/>
        </p:nvSpPr>
        <p:spPr bwMode="auto">
          <a:xfrm>
            <a:off x="4492625" y="2266950"/>
            <a:ext cx="126682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SendBase=92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85043" name="Picture 21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4838" y="912813"/>
            <a:ext cx="6399212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5044" name="Group 219"/>
          <p:cNvGrpSpPr/>
          <p:nvPr/>
        </p:nvGrpSpPr>
        <p:grpSpPr>
          <a:xfrm>
            <a:off x="5372100" y="1543050"/>
            <a:ext cx="630238" cy="533400"/>
            <a:chOff x="-44" y="1473"/>
            <a:chExt cx="981" cy="1105"/>
          </a:xfrm>
        </p:grpSpPr>
        <p:pic>
          <p:nvPicPr>
            <p:cNvPr id="85054" name="Picture 22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55" name="Freeform 22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5045" name="Group 225"/>
          <p:cNvGrpSpPr/>
          <p:nvPr/>
        </p:nvGrpSpPr>
        <p:grpSpPr>
          <a:xfrm flipH="1">
            <a:off x="7939088" y="1549400"/>
            <a:ext cx="631825" cy="622300"/>
            <a:chOff x="-44" y="1473"/>
            <a:chExt cx="981" cy="1105"/>
          </a:xfrm>
        </p:grpSpPr>
        <p:pic>
          <p:nvPicPr>
            <p:cNvPr id="85052" name="Picture 226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53" name="Freeform 22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5046" name="Group 228"/>
          <p:cNvGrpSpPr/>
          <p:nvPr/>
        </p:nvGrpSpPr>
        <p:grpSpPr>
          <a:xfrm>
            <a:off x="647700" y="1547813"/>
            <a:ext cx="630238" cy="533400"/>
            <a:chOff x="-44" y="1473"/>
            <a:chExt cx="981" cy="1105"/>
          </a:xfrm>
        </p:grpSpPr>
        <p:pic>
          <p:nvPicPr>
            <p:cNvPr id="85050" name="Picture 229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51" name="Freeform 23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5047" name="Group 231"/>
          <p:cNvGrpSpPr/>
          <p:nvPr/>
        </p:nvGrpSpPr>
        <p:grpSpPr>
          <a:xfrm flipH="1">
            <a:off x="3225800" y="1531938"/>
            <a:ext cx="709613" cy="600075"/>
            <a:chOff x="-44" y="1473"/>
            <a:chExt cx="981" cy="1105"/>
          </a:xfrm>
        </p:grpSpPr>
        <p:pic>
          <p:nvPicPr>
            <p:cNvPr id="85048" name="Picture 232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49" name="Freeform 23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59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476250" y="238125"/>
            <a:ext cx="7772400" cy="9048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retransmission scenarios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0661" name="Text Box 22"/>
          <p:cNvSpPr txBox="1">
            <a:spLocks noChangeArrowheads="1"/>
          </p:cNvSpPr>
          <p:nvPr/>
        </p:nvSpPr>
        <p:spPr bwMode="auto">
          <a:xfrm>
            <a:off x="1958975" y="3468688"/>
            <a:ext cx="35877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X</a:t>
            </a:r>
            <a:endParaRPr kumimoji="0" lang="en-US" sz="20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2" name="Text Box 34"/>
          <p:cNvSpPr txBox="1">
            <a:spLocks noChangeArrowheads="1"/>
          </p:cNvSpPr>
          <p:nvPr/>
        </p:nvSpPr>
        <p:spPr bwMode="auto">
          <a:xfrm>
            <a:off x="1639888" y="5975350"/>
            <a:ext cx="17510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cumulative ACK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3" name="Line 35"/>
          <p:cNvSpPr>
            <a:spLocks noChangeShapeType="1"/>
          </p:cNvSpPr>
          <p:nvPr/>
        </p:nvSpPr>
        <p:spPr bwMode="auto">
          <a:xfrm>
            <a:off x="1368425" y="4540250"/>
            <a:ext cx="2441575" cy="665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4" name="Line 36"/>
          <p:cNvSpPr>
            <a:spLocks noChangeShapeType="1"/>
          </p:cNvSpPr>
          <p:nvPr/>
        </p:nvSpPr>
        <p:spPr bwMode="auto">
          <a:xfrm>
            <a:off x="1344613" y="2444750"/>
            <a:ext cx="2346325" cy="5715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5" name="Line 37"/>
          <p:cNvSpPr>
            <a:spLocks noChangeShapeType="1"/>
          </p:cNvSpPr>
          <p:nvPr/>
        </p:nvSpPr>
        <p:spPr bwMode="auto">
          <a:xfrm flipH="1">
            <a:off x="2222500" y="3106738"/>
            <a:ext cx="1431925" cy="5730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6" name="Text Box 39"/>
          <p:cNvSpPr txBox="1">
            <a:spLocks noChangeArrowheads="1"/>
          </p:cNvSpPr>
          <p:nvPr/>
        </p:nvSpPr>
        <p:spPr bwMode="auto">
          <a:xfrm>
            <a:off x="3270250" y="1273175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7" name="Text Box 43"/>
          <p:cNvSpPr txBox="1">
            <a:spLocks noChangeArrowheads="1"/>
          </p:cNvSpPr>
          <p:nvPr/>
        </p:nvSpPr>
        <p:spPr bwMode="auto">
          <a:xfrm>
            <a:off x="949325" y="1303338"/>
            <a:ext cx="776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A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8" name="Rectangle 44"/>
          <p:cNvSpPr>
            <a:spLocks noChangeArrowheads="1"/>
          </p:cNvSpPr>
          <p:nvPr/>
        </p:nvSpPr>
        <p:spPr bwMode="auto">
          <a:xfrm>
            <a:off x="2047875" y="2525713"/>
            <a:ext cx="869950" cy="401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69" name="Text Box 45"/>
          <p:cNvSpPr txBox="1">
            <a:spLocks noChangeArrowheads="1"/>
          </p:cNvSpPr>
          <p:nvPr/>
        </p:nvSpPr>
        <p:spPr bwMode="auto">
          <a:xfrm>
            <a:off x="1489075" y="2578100"/>
            <a:ext cx="2085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8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87053" name="Group 46"/>
          <p:cNvGrpSpPr/>
          <p:nvPr/>
        </p:nvGrpSpPr>
        <p:grpSpPr>
          <a:xfrm>
            <a:off x="2244725" y="3306763"/>
            <a:ext cx="949325" cy="304800"/>
            <a:chOff x="4215" y="2253"/>
            <a:chExt cx="598" cy="192"/>
          </a:xfrm>
        </p:grpSpPr>
        <p:sp>
          <p:nvSpPr>
            <p:cNvPr id="70699" name="Rectangle 47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0700" name="Text Box 48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sp>
        <p:nvSpPr>
          <p:cNvPr id="70671" name="Line 49"/>
          <p:cNvSpPr>
            <a:spLocks noChangeShapeType="1"/>
          </p:cNvSpPr>
          <p:nvPr/>
        </p:nvSpPr>
        <p:spPr bwMode="auto">
          <a:xfrm>
            <a:off x="1323975" y="2203450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72" name="Line 50"/>
          <p:cNvSpPr>
            <a:spLocks noChangeShapeType="1"/>
          </p:cNvSpPr>
          <p:nvPr/>
        </p:nvSpPr>
        <p:spPr bwMode="auto">
          <a:xfrm>
            <a:off x="3729038" y="2198688"/>
            <a:ext cx="0" cy="3538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73" name="Rectangle 51"/>
          <p:cNvSpPr>
            <a:spLocks noChangeArrowheads="1"/>
          </p:cNvSpPr>
          <p:nvPr/>
        </p:nvSpPr>
        <p:spPr bwMode="auto">
          <a:xfrm>
            <a:off x="2065338" y="4613275"/>
            <a:ext cx="933450" cy="5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74" name="Text Box 52"/>
          <p:cNvSpPr txBox="1">
            <a:spLocks noChangeArrowheads="1"/>
          </p:cNvSpPr>
          <p:nvPr/>
        </p:nvSpPr>
        <p:spPr bwMode="auto">
          <a:xfrm>
            <a:off x="1339850" y="4700588"/>
            <a:ext cx="265271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Seq=120,  15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0675" name="Rectangle 55"/>
          <p:cNvSpPr>
            <a:spLocks noChangeArrowheads="1"/>
          </p:cNvSpPr>
          <p:nvPr/>
        </p:nvSpPr>
        <p:spPr bwMode="auto">
          <a:xfrm>
            <a:off x="2176463" y="5173663"/>
            <a:ext cx="747713" cy="246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87059" name="Group 75"/>
          <p:cNvGrpSpPr/>
          <p:nvPr/>
        </p:nvGrpSpPr>
        <p:grpSpPr>
          <a:xfrm>
            <a:off x="949325" y="2449513"/>
            <a:ext cx="396875" cy="2406650"/>
            <a:chOff x="3414" y="1529"/>
            <a:chExt cx="250" cy="1103"/>
          </a:xfrm>
        </p:grpSpPr>
        <p:sp>
          <p:nvSpPr>
            <p:cNvPr id="70692" name="Text Box 53"/>
            <p:cNvSpPr txBox="1">
              <a:spLocks noChangeArrowheads="1"/>
            </p:cNvSpPr>
            <p:nvPr/>
          </p:nvSpPr>
          <p:spPr bwMode="auto">
            <a:xfrm rot="10800000">
              <a:off x="3414" y="1931"/>
              <a:ext cx="250" cy="31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87076" name="Group 57"/>
            <p:cNvGrpSpPr/>
            <p:nvPr/>
          </p:nvGrpSpPr>
          <p:grpSpPr>
            <a:xfrm>
              <a:off x="3504" y="1529"/>
              <a:ext cx="66" cy="320"/>
              <a:chOff x="3099" y="1749"/>
              <a:chExt cx="66" cy="320"/>
            </a:xfrm>
          </p:grpSpPr>
          <p:sp>
            <p:nvSpPr>
              <p:cNvPr id="70697" name="Line 58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0698" name="Line 59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87077" name="Group 60"/>
            <p:cNvGrpSpPr/>
            <p:nvPr/>
          </p:nvGrpSpPr>
          <p:grpSpPr>
            <a:xfrm rot="10800000">
              <a:off x="3501" y="2312"/>
              <a:ext cx="66" cy="320"/>
              <a:chOff x="3099" y="1749"/>
              <a:chExt cx="66" cy="320"/>
            </a:xfrm>
          </p:grpSpPr>
          <p:sp>
            <p:nvSpPr>
              <p:cNvPr id="70695" name="Line 61"/>
              <p:cNvSpPr>
                <a:spLocks noChangeShapeType="1"/>
              </p:cNvSpPr>
              <p:nvPr/>
            </p:nvSpPr>
            <p:spPr bwMode="auto">
              <a:xfrm flipV="1">
                <a:off x="3136" y="1750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0696" name="Line 62"/>
              <p:cNvSpPr>
                <a:spLocks noChangeShapeType="1"/>
              </p:cNvSpPr>
              <p:nvPr/>
            </p:nvSpPr>
            <p:spPr bwMode="auto">
              <a:xfrm>
                <a:off x="3106" y="1758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87060" name="Group 63"/>
          <p:cNvGrpSpPr/>
          <p:nvPr/>
        </p:nvGrpSpPr>
        <p:grpSpPr>
          <a:xfrm>
            <a:off x="1330325" y="2830513"/>
            <a:ext cx="2346325" cy="571500"/>
            <a:chOff x="3759" y="1622"/>
            <a:chExt cx="1478" cy="360"/>
          </a:xfrm>
        </p:grpSpPr>
        <p:sp>
          <p:nvSpPr>
            <p:cNvPr id="70689" name="Line 64"/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0690" name="Rectangle 65"/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0691" name="Text Box 66"/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Seq=100, 20 bytes of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0678" name="Line 67"/>
          <p:cNvSpPr>
            <a:spLocks noChangeShapeType="1"/>
          </p:cNvSpPr>
          <p:nvPr/>
        </p:nvSpPr>
        <p:spPr bwMode="auto">
          <a:xfrm flipH="1">
            <a:off x="1335088" y="3462338"/>
            <a:ext cx="2324100" cy="1025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87062" name="Group 68"/>
          <p:cNvGrpSpPr/>
          <p:nvPr/>
        </p:nvGrpSpPr>
        <p:grpSpPr>
          <a:xfrm>
            <a:off x="1978025" y="3863975"/>
            <a:ext cx="949325" cy="304800"/>
            <a:chOff x="4215" y="2253"/>
            <a:chExt cx="598" cy="192"/>
          </a:xfrm>
        </p:grpSpPr>
        <p:sp>
          <p:nvSpPr>
            <p:cNvPr id="70687" name="Rectangle 69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0688" name="Text Box 70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ACK=120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pic>
        <p:nvPicPr>
          <p:cNvPr id="87063" name="Picture 77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4838" y="912813"/>
            <a:ext cx="6399212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7064" name="Group 84"/>
          <p:cNvGrpSpPr/>
          <p:nvPr/>
        </p:nvGrpSpPr>
        <p:grpSpPr>
          <a:xfrm>
            <a:off x="903288" y="1565275"/>
            <a:ext cx="630237" cy="533400"/>
            <a:chOff x="-44" y="1473"/>
            <a:chExt cx="981" cy="1105"/>
          </a:xfrm>
        </p:grpSpPr>
        <p:pic>
          <p:nvPicPr>
            <p:cNvPr id="87068" name="Picture 8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069" name="Freeform 8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7065" name="Group 87"/>
          <p:cNvGrpSpPr/>
          <p:nvPr/>
        </p:nvGrpSpPr>
        <p:grpSpPr>
          <a:xfrm flipH="1">
            <a:off x="3481388" y="1560513"/>
            <a:ext cx="674687" cy="590550"/>
            <a:chOff x="-44" y="1473"/>
            <a:chExt cx="981" cy="1105"/>
          </a:xfrm>
        </p:grpSpPr>
        <p:pic>
          <p:nvPicPr>
            <p:cNvPr id="87066" name="Picture 88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067" name="Freeform 8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1683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50838"/>
            <a:ext cx="7772400" cy="6699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ACK generation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 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[RFC 1122, RFC 2581]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1685" name="Text Box 3"/>
          <p:cNvSpPr txBox="1">
            <a:spLocks noChangeArrowheads="1"/>
          </p:cNvSpPr>
          <p:nvPr/>
        </p:nvSpPr>
        <p:spPr bwMode="auto">
          <a:xfrm>
            <a:off x="752475" y="1554163"/>
            <a:ext cx="3333750" cy="5003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event at receiver</a:t>
            </a: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arrival of in-order segment with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expected seq #. All data up to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expected seq # already ACKed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arrival of in-order segment with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expected seq #. One other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segment has ACK pending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arrival of out-of-order segment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higher-than-expect seq. # .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Gap detected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arrival of segment that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partially or completely fills gap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71686" name="Text Box 4"/>
          <p:cNvSpPr txBox="1">
            <a:spLocks noChangeArrowheads="1"/>
          </p:cNvSpPr>
          <p:nvPr/>
        </p:nvSpPr>
        <p:spPr bwMode="auto">
          <a:xfrm>
            <a:off x="4514850" y="1544638"/>
            <a:ext cx="4070350" cy="5003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TCP receiver action</a:t>
            </a: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1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delayed ACK. Wait up to 500ms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for next segment. If no next segment,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send ACK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immediately send single cumulative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ACK, ACKing both in-order segments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immediately send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duplicate ACK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,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indicating seq. # of next expected byte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immediate send ACK, provided that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segment starts at lower end of gap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71687" name="Line 9"/>
          <p:cNvSpPr>
            <a:spLocks noChangeShapeType="1"/>
          </p:cNvSpPr>
          <p:nvPr/>
        </p:nvSpPr>
        <p:spPr bwMode="auto">
          <a:xfrm>
            <a:off x="4324350" y="1704975"/>
            <a:ext cx="0" cy="435292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89095" name="Picture 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952500"/>
            <a:ext cx="73136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9" name="Line 11"/>
          <p:cNvSpPr>
            <a:spLocks noChangeShapeType="1"/>
          </p:cNvSpPr>
          <p:nvPr/>
        </p:nvSpPr>
        <p:spPr bwMode="auto">
          <a:xfrm>
            <a:off x="768350" y="2144713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1690" name="Line 12"/>
          <p:cNvSpPr>
            <a:spLocks noChangeShapeType="1"/>
          </p:cNvSpPr>
          <p:nvPr/>
        </p:nvSpPr>
        <p:spPr bwMode="auto">
          <a:xfrm>
            <a:off x="752475" y="3198813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1691" name="Line 13"/>
          <p:cNvSpPr>
            <a:spLocks noChangeShapeType="1"/>
          </p:cNvSpPr>
          <p:nvPr/>
        </p:nvSpPr>
        <p:spPr bwMode="auto">
          <a:xfrm>
            <a:off x="769938" y="4297363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1692" name="Line 14"/>
          <p:cNvSpPr>
            <a:spLocks noChangeShapeType="1"/>
          </p:cNvSpPr>
          <p:nvPr/>
        </p:nvSpPr>
        <p:spPr bwMode="auto">
          <a:xfrm>
            <a:off x="763588" y="5386388"/>
            <a:ext cx="74945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270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0663"/>
            <a:ext cx="5040313" cy="9064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fast retransmit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270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88950" y="1397000"/>
            <a:ext cx="3810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time-out period  often relatively long: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long delay before resending lost packet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detect lost segments via duplicate ACKs.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sender often sends many segments back-to-back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if segment is lost, there will likely be many duplicate ACKs.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4827588" y="2143125"/>
            <a:ext cx="3567113" cy="3813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</a:pPr>
            <a:r>
              <a:rPr lang="en-US" altLang="zh-CN" sz="2800" dirty="0">
                <a:latin typeface="Gill Sans MT" charset="0"/>
              </a:rPr>
              <a:t>if sender receives 3 ACKs for same data</a:t>
            </a:r>
            <a:endParaRPr lang="en-US" altLang="zh-CN" sz="2800" dirty="0">
              <a:latin typeface="Gill Sans MT" charset="0"/>
            </a:endParaRPr>
          </a:p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Gill Sans MT" charset="0"/>
              </a:rPr>
              <a:t>(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triple duplicate ACKs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),</a:t>
            </a:r>
            <a:r>
              <a:rPr lang="en-US" altLang="ja-JP" sz="2800" dirty="0">
                <a:latin typeface="Gill Sans MT" charset="0"/>
              </a:rPr>
              <a:t> resend unacked segment with smallest seq #</a:t>
            </a:r>
            <a:endParaRPr lang="en-US" altLang="ja-JP" sz="2800" dirty="0">
              <a:latin typeface="Gill Sans MT" charset="0"/>
            </a:endParaRPr>
          </a:p>
          <a:p>
            <a:pPr marL="463550" lvl="1" indent="-238125"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2400" dirty="0">
                <a:latin typeface="Gill Sans MT" charset="0"/>
              </a:rPr>
              <a:t>likely that unacked segment lost, so don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t wait for timeout</a:t>
            </a:r>
            <a:endParaRPr lang="en-US" altLang="zh-CN" sz="2400" dirty="0">
              <a:latin typeface="Gill Sans MT" charset="0"/>
            </a:endParaRPr>
          </a:p>
        </p:txBody>
      </p:sp>
      <p:sp>
        <p:nvSpPr>
          <p:cNvPr id="72711" name="Rectangle 6"/>
          <p:cNvSpPr>
            <a:spLocks noChangeArrowheads="1"/>
          </p:cNvSpPr>
          <p:nvPr/>
        </p:nvSpPr>
        <p:spPr bwMode="auto">
          <a:xfrm>
            <a:off x="4751388" y="1914525"/>
            <a:ext cx="3509963" cy="3681413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2712" name="Text Box 7"/>
          <p:cNvSpPr txBox="1">
            <a:spLocks noChangeArrowheads="1"/>
          </p:cNvSpPr>
          <p:nvPr/>
        </p:nvSpPr>
        <p:spPr bwMode="auto">
          <a:xfrm>
            <a:off x="4883150" y="1679575"/>
            <a:ext cx="27733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TCP fast retransmit</a:t>
            </a:r>
            <a:endParaRPr kumimoji="0" lang="en-US" sz="2400" b="0" i="1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4794250" y="2925763"/>
            <a:ext cx="3408363" cy="54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>
            <a:pPr algn="l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</a:pPr>
            <a:r>
              <a:rPr lang="en-US" altLang="zh-CN" sz="2400" dirty="0">
                <a:latin typeface="Gill Sans MT" charset="0"/>
              </a:rPr>
              <a:t>(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triple duplicate ACKs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),</a:t>
            </a:r>
            <a:r>
              <a:rPr lang="en-US" altLang="ja-JP" sz="2800" dirty="0">
                <a:latin typeface="Gill Sans MT" charset="0"/>
              </a:rPr>
              <a:t> </a:t>
            </a:r>
            <a:endParaRPr lang="en-US" altLang="zh-CN" sz="2800" dirty="0">
              <a:latin typeface="Gill Sans MT" charset="0"/>
            </a:endParaRPr>
          </a:p>
        </p:txBody>
      </p:sp>
      <p:pic>
        <p:nvPicPr>
          <p:cNvPr id="90121" name="Picture 1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903288"/>
            <a:ext cx="4570413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Footer Placeholder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1" name="Slide Number Placeholder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3732" name="Line 3"/>
          <p:cNvSpPr>
            <a:spLocks noChangeShapeType="1"/>
          </p:cNvSpPr>
          <p:nvPr/>
        </p:nvSpPr>
        <p:spPr bwMode="auto">
          <a:xfrm>
            <a:off x="3068638" y="23193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3" name="Line 9"/>
          <p:cNvSpPr>
            <a:spLocks noChangeShapeType="1"/>
          </p:cNvSpPr>
          <p:nvPr/>
        </p:nvSpPr>
        <p:spPr bwMode="auto">
          <a:xfrm>
            <a:off x="3068638" y="2547938"/>
            <a:ext cx="1757363" cy="414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4" name="Line 10"/>
          <p:cNvSpPr>
            <a:spLocks noChangeShapeType="1"/>
          </p:cNvSpPr>
          <p:nvPr/>
        </p:nvSpPr>
        <p:spPr bwMode="auto">
          <a:xfrm flipH="1">
            <a:off x="3065463" y="2014538"/>
            <a:ext cx="3175" cy="399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5" name="Line 11"/>
          <p:cNvSpPr>
            <a:spLocks noChangeShapeType="1"/>
          </p:cNvSpPr>
          <p:nvPr/>
        </p:nvSpPr>
        <p:spPr bwMode="auto">
          <a:xfrm>
            <a:off x="5583238" y="2090738"/>
            <a:ext cx="11113" cy="390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6" name="Line 12"/>
          <p:cNvSpPr>
            <a:spLocks noChangeShapeType="1"/>
          </p:cNvSpPr>
          <p:nvPr/>
        </p:nvSpPr>
        <p:spPr bwMode="auto">
          <a:xfrm flipH="1">
            <a:off x="3032125" y="2962275"/>
            <a:ext cx="2519363" cy="809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7" name="Line 14"/>
          <p:cNvSpPr>
            <a:spLocks noChangeShapeType="1"/>
          </p:cNvSpPr>
          <p:nvPr/>
        </p:nvSpPr>
        <p:spPr bwMode="auto">
          <a:xfrm>
            <a:off x="3068638" y="27765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8" name="Line 15"/>
          <p:cNvSpPr>
            <a:spLocks noChangeShapeType="1"/>
          </p:cNvSpPr>
          <p:nvPr/>
        </p:nvSpPr>
        <p:spPr bwMode="auto">
          <a:xfrm>
            <a:off x="3068638" y="32337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39" name="Line 16"/>
          <p:cNvSpPr>
            <a:spLocks noChangeShapeType="1"/>
          </p:cNvSpPr>
          <p:nvPr/>
        </p:nvSpPr>
        <p:spPr bwMode="auto">
          <a:xfrm>
            <a:off x="3068638" y="3005138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0" name="Line 17"/>
          <p:cNvSpPr>
            <a:spLocks noChangeShapeType="1"/>
          </p:cNvSpPr>
          <p:nvPr/>
        </p:nvSpPr>
        <p:spPr bwMode="auto">
          <a:xfrm flipH="1">
            <a:off x="3033713" y="3386138"/>
            <a:ext cx="2530475" cy="8302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1" name="Line 18"/>
          <p:cNvSpPr>
            <a:spLocks noChangeShapeType="1"/>
          </p:cNvSpPr>
          <p:nvPr/>
        </p:nvSpPr>
        <p:spPr bwMode="auto">
          <a:xfrm flipH="1">
            <a:off x="3068638" y="3614738"/>
            <a:ext cx="2506663" cy="8874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2" name="Line 19"/>
          <p:cNvSpPr>
            <a:spLocks noChangeShapeType="1"/>
          </p:cNvSpPr>
          <p:nvPr/>
        </p:nvSpPr>
        <p:spPr bwMode="auto">
          <a:xfrm flipH="1">
            <a:off x="3068638" y="3843338"/>
            <a:ext cx="2495550" cy="90011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3" name="Text Box 20"/>
          <p:cNvSpPr txBox="1">
            <a:spLocks noChangeArrowheads="1"/>
          </p:cNvSpPr>
          <p:nvPr/>
        </p:nvSpPr>
        <p:spPr bwMode="auto">
          <a:xfrm>
            <a:off x="4741863" y="2714625"/>
            <a:ext cx="282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X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73744" name="Line 24"/>
          <p:cNvSpPr>
            <a:spLocks noChangeShapeType="1"/>
          </p:cNvSpPr>
          <p:nvPr/>
        </p:nvSpPr>
        <p:spPr bwMode="auto">
          <a:xfrm>
            <a:off x="3094038" y="4784725"/>
            <a:ext cx="2533650" cy="590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5" name="Text Box 29"/>
          <p:cNvSpPr txBox="1">
            <a:spLocks noChangeArrowheads="1"/>
          </p:cNvSpPr>
          <p:nvPr/>
        </p:nvSpPr>
        <p:spPr bwMode="auto">
          <a:xfrm>
            <a:off x="2806700" y="5986463"/>
            <a:ext cx="3178175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fast retransmit after sender 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receipt of triple duplicate ACK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6" name="Text Box 34"/>
          <p:cNvSpPr txBox="1">
            <a:spLocks noChangeArrowheads="1"/>
          </p:cNvSpPr>
          <p:nvPr/>
        </p:nvSpPr>
        <p:spPr bwMode="auto">
          <a:xfrm>
            <a:off x="5110163" y="1139825"/>
            <a:ext cx="7731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7" name="Text Box 38"/>
          <p:cNvSpPr txBox="1">
            <a:spLocks noChangeArrowheads="1"/>
          </p:cNvSpPr>
          <p:nvPr/>
        </p:nvSpPr>
        <p:spPr bwMode="auto">
          <a:xfrm>
            <a:off x="2776538" y="1157288"/>
            <a:ext cx="776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Host A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48" name="Text Box 40"/>
          <p:cNvSpPr txBox="1">
            <a:spLocks noChangeArrowheads="1"/>
          </p:cNvSpPr>
          <p:nvPr/>
        </p:nvSpPr>
        <p:spPr bwMode="auto">
          <a:xfrm>
            <a:off x="3216275" y="2239963"/>
            <a:ext cx="208597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Seq=92, 8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1156" name="Group 41"/>
          <p:cNvGrpSpPr/>
          <p:nvPr/>
        </p:nvGrpSpPr>
        <p:grpSpPr>
          <a:xfrm>
            <a:off x="3170238" y="3489325"/>
            <a:ext cx="949325" cy="304800"/>
            <a:chOff x="4215" y="2253"/>
            <a:chExt cx="598" cy="192"/>
          </a:xfrm>
        </p:grpSpPr>
        <p:sp>
          <p:nvSpPr>
            <p:cNvPr id="73779" name="Rectangle 42"/>
            <p:cNvSpPr>
              <a:spLocks noChangeArrowheads="1"/>
            </p:cNvSpPr>
            <p:nvPr/>
          </p:nvSpPr>
          <p:spPr bwMode="auto">
            <a:xfrm>
              <a:off x="4265" y="2274"/>
              <a:ext cx="471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3780" name="Text Box 43"/>
            <p:cNvSpPr txBox="1">
              <a:spLocks noChangeArrowheads="1"/>
            </p:cNvSpPr>
            <p:nvPr/>
          </p:nvSpPr>
          <p:spPr bwMode="auto">
            <a:xfrm>
              <a:off x="4215" y="2253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91157" name="Group 78"/>
          <p:cNvGrpSpPr/>
          <p:nvPr/>
        </p:nvGrpSpPr>
        <p:grpSpPr>
          <a:xfrm>
            <a:off x="2684463" y="2292350"/>
            <a:ext cx="396875" cy="3524250"/>
            <a:chOff x="397" y="868"/>
            <a:chExt cx="250" cy="2220"/>
          </a:xfrm>
        </p:grpSpPr>
        <p:sp>
          <p:nvSpPr>
            <p:cNvPr id="73772" name="Text Box 50"/>
            <p:cNvSpPr txBox="1">
              <a:spLocks noChangeArrowheads="1"/>
            </p:cNvSpPr>
            <p:nvPr/>
          </p:nvSpPr>
          <p:spPr bwMode="auto">
            <a:xfrm rot="10800000">
              <a:off x="397" y="1778"/>
              <a:ext cx="250" cy="4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timeout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1180" name="Group 51"/>
            <p:cNvGrpSpPr/>
            <p:nvPr/>
          </p:nvGrpSpPr>
          <p:grpSpPr>
            <a:xfrm>
              <a:off x="488" y="868"/>
              <a:ext cx="66" cy="893"/>
              <a:chOff x="3099" y="1749"/>
              <a:chExt cx="66" cy="320"/>
            </a:xfrm>
          </p:grpSpPr>
          <p:sp>
            <p:nvSpPr>
              <p:cNvPr id="73777" name="Line 52"/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3778" name="Line 53"/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91181" name="Group 54"/>
            <p:cNvGrpSpPr/>
            <p:nvPr/>
          </p:nvGrpSpPr>
          <p:grpSpPr>
            <a:xfrm rot="10800000">
              <a:off x="485" y="2224"/>
              <a:ext cx="66" cy="864"/>
              <a:chOff x="3099" y="1749"/>
              <a:chExt cx="66" cy="320"/>
            </a:xfrm>
          </p:grpSpPr>
          <p:sp>
            <p:nvSpPr>
              <p:cNvPr id="73775" name="Line 55"/>
              <p:cNvSpPr>
                <a:spLocks noChangeShapeType="1"/>
              </p:cNvSpPr>
              <p:nvPr/>
            </p:nvSpPr>
            <p:spPr bwMode="auto">
              <a:xfrm flipV="1">
                <a:off x="3132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3776" name="Line 56"/>
              <p:cNvSpPr>
                <a:spLocks noChangeShapeType="1"/>
              </p:cNvSpPr>
              <p:nvPr/>
            </p:nvSpPr>
            <p:spPr bwMode="auto">
              <a:xfrm>
                <a:off x="3106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91158" name="Group 71"/>
          <p:cNvGrpSpPr/>
          <p:nvPr/>
        </p:nvGrpSpPr>
        <p:grpSpPr>
          <a:xfrm>
            <a:off x="3181350" y="3800475"/>
            <a:ext cx="949325" cy="304800"/>
            <a:chOff x="35" y="1825"/>
            <a:chExt cx="598" cy="192"/>
          </a:xfrm>
        </p:grpSpPr>
        <p:sp>
          <p:nvSpPr>
            <p:cNvPr id="73770" name="Rectangle 66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3771" name="Text Box 67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91159" name="Group 72"/>
          <p:cNvGrpSpPr/>
          <p:nvPr/>
        </p:nvGrpSpPr>
        <p:grpSpPr>
          <a:xfrm>
            <a:off x="3167063" y="4130675"/>
            <a:ext cx="949325" cy="304800"/>
            <a:chOff x="35" y="1825"/>
            <a:chExt cx="598" cy="192"/>
          </a:xfrm>
        </p:grpSpPr>
        <p:sp>
          <p:nvSpPr>
            <p:cNvPr id="73768" name="Rectangle 73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3769" name="Text Box 74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91160" name="Group 75"/>
          <p:cNvGrpSpPr/>
          <p:nvPr/>
        </p:nvGrpSpPr>
        <p:grpSpPr>
          <a:xfrm>
            <a:off x="3175000" y="4427538"/>
            <a:ext cx="949325" cy="304800"/>
            <a:chOff x="35" y="1825"/>
            <a:chExt cx="598" cy="192"/>
          </a:xfrm>
        </p:grpSpPr>
        <p:sp>
          <p:nvSpPr>
            <p:cNvPr id="73766" name="Rectangle 76"/>
            <p:cNvSpPr>
              <a:spLocks noChangeArrowheads="1"/>
            </p:cNvSpPr>
            <p:nvPr/>
          </p:nvSpPr>
          <p:spPr bwMode="auto">
            <a:xfrm>
              <a:off x="101" y="1859"/>
              <a:ext cx="471" cy="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3767" name="Text Box 77"/>
            <p:cNvSpPr txBox="1">
              <a:spLocks noChangeArrowheads="1"/>
            </p:cNvSpPr>
            <p:nvPr/>
          </p:nvSpPr>
          <p:spPr bwMode="auto">
            <a:xfrm>
              <a:off x="35" y="1825"/>
              <a:ext cx="598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MS PGothic" charset="0"/>
                <a:cs typeface="+mn-cs"/>
              </a:endParaRPr>
            </a:p>
          </p:txBody>
        </p:sp>
      </p:grpSp>
      <p:sp>
        <p:nvSpPr>
          <p:cNvPr id="73754" name="Rectangle 81"/>
          <p:cNvSpPr>
            <a:spLocks noGrp="1" noChangeArrowheads="1"/>
          </p:cNvSpPr>
          <p:nvPr>
            <p:ph type="title"/>
          </p:nvPr>
        </p:nvSpPr>
        <p:spPr>
          <a:xfrm>
            <a:off x="533400" y="220663"/>
            <a:ext cx="5040313" cy="9064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fast retransmit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91162" name="Picture 8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57225" y="903288"/>
            <a:ext cx="45704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56" name="Rectangle 84"/>
          <p:cNvSpPr>
            <a:spLocks noChangeArrowheads="1"/>
          </p:cNvSpPr>
          <p:nvPr/>
        </p:nvSpPr>
        <p:spPr bwMode="auto">
          <a:xfrm>
            <a:off x="3284538" y="2562225"/>
            <a:ext cx="757238" cy="22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57" name="Text Box 83"/>
          <p:cNvSpPr txBox="1">
            <a:spLocks noChangeArrowheads="1"/>
          </p:cNvSpPr>
          <p:nvPr/>
        </p:nvSpPr>
        <p:spPr bwMode="auto">
          <a:xfrm>
            <a:off x="3192463" y="2506663"/>
            <a:ext cx="22812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Seq=100, 20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58" name="Rectangle 85"/>
          <p:cNvSpPr>
            <a:spLocks noChangeArrowheads="1"/>
          </p:cNvSpPr>
          <p:nvPr/>
        </p:nvSpPr>
        <p:spPr bwMode="auto">
          <a:xfrm>
            <a:off x="3246438" y="4770438"/>
            <a:ext cx="757238" cy="2254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3759" name="Text Box 86"/>
          <p:cNvSpPr txBox="1">
            <a:spLocks noChangeArrowheads="1"/>
          </p:cNvSpPr>
          <p:nvPr/>
        </p:nvSpPr>
        <p:spPr bwMode="auto">
          <a:xfrm>
            <a:off x="3154363" y="4714875"/>
            <a:ext cx="22812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Seq=100, 20 bytes of data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1167" name="Group 93"/>
          <p:cNvGrpSpPr/>
          <p:nvPr/>
        </p:nvGrpSpPr>
        <p:grpSpPr>
          <a:xfrm>
            <a:off x="2686050" y="1397000"/>
            <a:ext cx="630238" cy="533400"/>
            <a:chOff x="-44" y="1473"/>
            <a:chExt cx="981" cy="1105"/>
          </a:xfrm>
        </p:grpSpPr>
        <p:pic>
          <p:nvPicPr>
            <p:cNvPr id="91171" name="Picture 94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172" name="Freeform 9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1168" name="Group 96"/>
          <p:cNvGrpSpPr/>
          <p:nvPr/>
        </p:nvGrpSpPr>
        <p:grpSpPr>
          <a:xfrm flipH="1">
            <a:off x="5264150" y="1423988"/>
            <a:ext cx="654050" cy="579437"/>
            <a:chOff x="-44" y="1473"/>
            <a:chExt cx="981" cy="1105"/>
          </a:xfrm>
        </p:grpSpPr>
        <p:pic>
          <p:nvPicPr>
            <p:cNvPr id="91169" name="Picture 97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170" name="Freeform 9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475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475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7475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principles of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3.7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92166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39813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7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171450"/>
            <a:ext cx="7772400" cy="9747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flow control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5781" name="Rectangle 72"/>
          <p:cNvSpPr>
            <a:spLocks noChangeArrowheads="1"/>
          </p:cNvSpPr>
          <p:nvPr/>
        </p:nvSpPr>
        <p:spPr bwMode="auto">
          <a:xfrm>
            <a:off x="5410200" y="855663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3189" name="Freeform 32"/>
          <p:cNvSpPr/>
          <p:nvPr/>
        </p:nvSpPr>
        <p:spPr>
          <a:xfrm>
            <a:off x="7851775" y="849313"/>
            <a:ext cx="581025" cy="42068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5783" name="Rectangle 40"/>
          <p:cNvSpPr>
            <a:spLocks noChangeArrowheads="1"/>
          </p:cNvSpPr>
          <p:nvPr/>
        </p:nvSpPr>
        <p:spPr bwMode="auto">
          <a:xfrm>
            <a:off x="5324475" y="957263"/>
            <a:ext cx="2533650" cy="38147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84" name="Oval 31"/>
          <p:cNvSpPr>
            <a:spLocks noChangeArrowheads="1"/>
          </p:cNvSpPr>
          <p:nvPr/>
        </p:nvSpPr>
        <p:spPr bwMode="auto">
          <a:xfrm>
            <a:off x="5864225" y="1014413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application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process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93192" name="Group 47"/>
          <p:cNvGrpSpPr/>
          <p:nvPr/>
        </p:nvGrpSpPr>
        <p:grpSpPr>
          <a:xfrm>
            <a:off x="5632450" y="2082800"/>
            <a:ext cx="1795463" cy="688975"/>
            <a:chOff x="1173" y="2345"/>
            <a:chExt cx="1131" cy="434"/>
          </a:xfrm>
        </p:grpSpPr>
        <p:sp>
          <p:nvSpPr>
            <p:cNvPr id="75832" name="Rectangle 44"/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33" name="Text Box 46"/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TCP socket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receiver buffers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5786" name="Oval 48"/>
          <p:cNvSpPr>
            <a:spLocks noChangeArrowheads="1"/>
          </p:cNvSpPr>
          <p:nvPr/>
        </p:nvSpPr>
        <p:spPr bwMode="auto">
          <a:xfrm>
            <a:off x="5800725" y="3106738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75787" name="Text Box 64"/>
          <p:cNvSpPr txBox="1">
            <a:spLocks noChangeArrowheads="1"/>
          </p:cNvSpPr>
          <p:nvPr/>
        </p:nvSpPr>
        <p:spPr bwMode="auto">
          <a:xfrm>
            <a:off x="6704013" y="3130550"/>
            <a:ext cx="555625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TCP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code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88" name="Oval 65"/>
          <p:cNvSpPr>
            <a:spLocks noChangeArrowheads="1"/>
          </p:cNvSpPr>
          <p:nvPr/>
        </p:nvSpPr>
        <p:spPr bwMode="auto">
          <a:xfrm>
            <a:off x="5808663" y="4092575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75789" name="Text Box 66"/>
          <p:cNvSpPr txBox="1">
            <a:spLocks noChangeArrowheads="1"/>
          </p:cNvSpPr>
          <p:nvPr/>
        </p:nvSpPr>
        <p:spPr bwMode="auto">
          <a:xfrm>
            <a:off x="6711950" y="4116388"/>
            <a:ext cx="555625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IP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code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3197" name="Freeform 61"/>
          <p:cNvSpPr/>
          <p:nvPr/>
        </p:nvSpPr>
        <p:spPr>
          <a:xfrm>
            <a:off x="6310313" y="2649538"/>
            <a:ext cx="530225" cy="25050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412" h="2005">
                <a:moveTo>
                  <a:pt x="56" y="2005"/>
                </a:moveTo>
                <a:cubicBezTo>
                  <a:pt x="80" y="1671"/>
                  <a:pt x="0" y="0"/>
                  <a:pt x="206" y="0"/>
                </a:cubicBezTo>
                <a:cubicBezTo>
                  <a:pt x="412" y="0"/>
                  <a:pt x="307" y="1587"/>
                  <a:pt x="334" y="2005"/>
                </a:cubicBezTo>
              </a:path>
            </a:pathLst>
          </a:custGeom>
          <a:noFill/>
          <a:ln w="38100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5791" name="Line 68"/>
          <p:cNvSpPr>
            <a:spLocks noChangeShapeType="1"/>
          </p:cNvSpPr>
          <p:nvPr/>
        </p:nvSpPr>
        <p:spPr bwMode="auto">
          <a:xfrm>
            <a:off x="5318125" y="3841750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92" name="Line 69"/>
          <p:cNvSpPr>
            <a:spLocks noChangeShapeType="1"/>
          </p:cNvSpPr>
          <p:nvPr/>
        </p:nvSpPr>
        <p:spPr bwMode="auto">
          <a:xfrm>
            <a:off x="5330825" y="1990725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3200" name="Group 56"/>
          <p:cNvGrpSpPr/>
          <p:nvPr/>
        </p:nvGrpSpPr>
        <p:grpSpPr>
          <a:xfrm>
            <a:off x="6307138" y="1874838"/>
            <a:ext cx="533400" cy="206375"/>
            <a:chOff x="2003" y="1816"/>
            <a:chExt cx="336" cy="130"/>
          </a:xfrm>
        </p:grpSpPr>
        <p:sp>
          <p:nvSpPr>
            <p:cNvPr id="75828" name="Rectangle 16"/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29" name="Rectangle 17"/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30" name="Rectangle 18"/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31" name="Rectangle 19"/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93201" name="Freeform 63"/>
          <p:cNvSpPr/>
          <p:nvPr/>
        </p:nvSpPr>
        <p:spPr>
          <a:xfrm rot="10800000">
            <a:off x="6299200" y="1544638"/>
            <a:ext cx="530225" cy="595312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412" h="2005">
                <a:moveTo>
                  <a:pt x="56" y="2005"/>
                </a:moveTo>
                <a:cubicBezTo>
                  <a:pt x="80" y="1671"/>
                  <a:pt x="0" y="0"/>
                  <a:pt x="206" y="0"/>
                </a:cubicBezTo>
                <a:cubicBezTo>
                  <a:pt x="412" y="0"/>
                  <a:pt x="307" y="1587"/>
                  <a:pt x="334" y="2005"/>
                </a:cubicBezTo>
              </a:path>
            </a:pathLst>
          </a:custGeom>
          <a:noFill/>
          <a:ln w="38100" cap="flat" cmpd="sng">
            <a:solidFill>
              <a:srgbClr val="CC0000">
                <a:alpha val="100000"/>
              </a:srgb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3202" name="Group 77"/>
          <p:cNvGrpSpPr/>
          <p:nvPr/>
        </p:nvGrpSpPr>
        <p:grpSpPr>
          <a:xfrm>
            <a:off x="5489575" y="4827588"/>
            <a:ext cx="1006475" cy="211137"/>
            <a:chOff x="314" y="1591"/>
            <a:chExt cx="634" cy="133"/>
          </a:xfrm>
        </p:grpSpPr>
        <p:sp>
          <p:nvSpPr>
            <p:cNvPr id="75825" name="Rectangle 74"/>
            <p:cNvSpPr>
              <a:spLocks noChangeArrowheads="1"/>
            </p:cNvSpPr>
            <p:nvPr/>
          </p:nvSpPr>
          <p:spPr bwMode="auto">
            <a:xfrm>
              <a:off x="314" y="1591"/>
              <a:ext cx="634" cy="1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26" name="Line 75"/>
            <p:cNvSpPr>
              <a:spLocks noChangeShapeType="1"/>
            </p:cNvSpPr>
            <p:nvPr/>
          </p:nvSpPr>
          <p:spPr bwMode="auto">
            <a:xfrm>
              <a:off x="388" y="1594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27" name="Line 76"/>
            <p:cNvSpPr>
              <a:spLocks noChangeShapeType="1"/>
            </p:cNvSpPr>
            <p:nvPr/>
          </p:nvSpPr>
          <p:spPr bwMode="auto">
            <a:xfrm>
              <a:off x="484" y="1594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5796" name="Rectangle 80"/>
          <p:cNvSpPr>
            <a:spLocks noChangeArrowheads="1"/>
          </p:cNvSpPr>
          <p:nvPr/>
        </p:nvSpPr>
        <p:spPr bwMode="auto">
          <a:xfrm>
            <a:off x="5608638" y="3892550"/>
            <a:ext cx="876300" cy="209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97" name="Rectangle 86"/>
          <p:cNvSpPr>
            <a:spLocks noChangeArrowheads="1"/>
          </p:cNvSpPr>
          <p:nvPr/>
        </p:nvSpPr>
        <p:spPr bwMode="auto">
          <a:xfrm>
            <a:off x="5765800" y="2851150"/>
            <a:ext cx="720725" cy="2095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98" name="Rectangle 91"/>
          <p:cNvSpPr>
            <a:spLocks noChangeArrowheads="1"/>
          </p:cNvSpPr>
          <p:nvPr/>
        </p:nvSpPr>
        <p:spPr bwMode="auto">
          <a:xfrm>
            <a:off x="5773738" y="3892550"/>
            <a:ext cx="720725" cy="2095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799" name="Rectangle 92"/>
          <p:cNvSpPr>
            <a:spLocks noChangeArrowheads="1"/>
          </p:cNvSpPr>
          <p:nvPr/>
        </p:nvSpPr>
        <p:spPr bwMode="auto">
          <a:xfrm>
            <a:off x="5768975" y="4824413"/>
            <a:ext cx="733425" cy="2127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3207" name="Group 99"/>
          <p:cNvGrpSpPr/>
          <p:nvPr/>
        </p:nvGrpSpPr>
        <p:grpSpPr>
          <a:xfrm>
            <a:off x="8002588" y="1657350"/>
            <a:ext cx="1146175" cy="703263"/>
            <a:chOff x="638" y="1651"/>
            <a:chExt cx="722" cy="443"/>
          </a:xfrm>
        </p:grpSpPr>
        <p:sp>
          <p:nvSpPr>
            <p:cNvPr id="75822" name="Text Box 95"/>
            <p:cNvSpPr txBox="1">
              <a:spLocks noChangeArrowheads="1"/>
            </p:cNvSpPr>
            <p:nvPr/>
          </p:nvSpPr>
          <p:spPr bwMode="auto">
            <a:xfrm>
              <a:off x="638" y="1651"/>
              <a:ext cx="72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application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23" name="Text Box 96"/>
            <p:cNvSpPr txBox="1">
              <a:spLocks noChangeArrowheads="1"/>
            </p:cNvSpPr>
            <p:nvPr/>
          </p:nvSpPr>
          <p:spPr bwMode="auto">
            <a:xfrm>
              <a:off x="647" y="1882"/>
              <a:ext cx="27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OS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24" name="Line 98"/>
            <p:cNvSpPr>
              <a:spLocks noChangeShapeType="1"/>
            </p:cNvSpPr>
            <p:nvPr/>
          </p:nvSpPr>
          <p:spPr bwMode="auto">
            <a:xfrm>
              <a:off x="711" y="1870"/>
              <a:ext cx="5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5801" name="Text Box 103"/>
          <p:cNvSpPr txBox="1">
            <a:spLocks noChangeArrowheads="1"/>
          </p:cNvSpPr>
          <p:nvPr/>
        </p:nvSpPr>
        <p:spPr bwMode="auto">
          <a:xfrm>
            <a:off x="5305425" y="5637213"/>
            <a:ext cx="27146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 protocol stack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802" name="Text Box 104"/>
          <p:cNvSpPr txBox="1">
            <a:spLocks noChangeArrowheads="1"/>
          </p:cNvSpPr>
          <p:nvPr/>
        </p:nvSpPr>
        <p:spPr bwMode="auto">
          <a:xfrm>
            <a:off x="2014538" y="1314450"/>
            <a:ext cx="3192463" cy="825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p>
            <a:pPr algn="r"/>
            <a:r>
              <a:rPr lang="en-US" altLang="zh-CN" dirty="0">
                <a:latin typeface="Tahoma" panose="020B0604030504040204" charset="0"/>
              </a:rPr>
              <a:t>application may </a:t>
            </a:r>
            <a:endParaRPr lang="en-US" altLang="zh-CN" dirty="0">
              <a:latin typeface="Tahoma" panose="020B0604030504040204" charset="0"/>
            </a:endParaRPr>
          </a:p>
          <a:p>
            <a:pPr algn="r"/>
            <a:r>
              <a:rPr lang="en-US" altLang="zh-CN" dirty="0">
                <a:latin typeface="Tahoma" panose="020B0604030504040204" charset="0"/>
              </a:rPr>
              <a:t>remove data from </a:t>
            </a:r>
            <a:endParaRPr lang="en-US" altLang="zh-CN" dirty="0">
              <a:latin typeface="Tahoma" panose="020B0604030504040204" charset="0"/>
            </a:endParaRPr>
          </a:p>
          <a:p>
            <a:pPr algn="r"/>
            <a:r>
              <a:rPr lang="en-US" altLang="zh-CN" dirty="0">
                <a:latin typeface="Tahoma" panose="020B0604030504040204" charset="0"/>
              </a:rPr>
              <a:t>TCP socket buffers …. </a:t>
            </a:r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5803" name="Line 105"/>
          <p:cNvSpPr>
            <a:spLocks noChangeShapeType="1"/>
          </p:cNvSpPr>
          <p:nvPr/>
        </p:nvSpPr>
        <p:spPr bwMode="auto">
          <a:xfrm>
            <a:off x="5224463" y="1730375"/>
            <a:ext cx="10414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804" name="Text Box 106"/>
          <p:cNvSpPr txBox="1">
            <a:spLocks noChangeArrowheads="1"/>
          </p:cNvSpPr>
          <p:nvPr/>
        </p:nvSpPr>
        <p:spPr bwMode="auto">
          <a:xfrm>
            <a:off x="3098800" y="2525713"/>
            <a:ext cx="2081213" cy="825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p>
            <a:pPr algn="r"/>
            <a:r>
              <a:rPr lang="en-US" altLang="zh-CN" dirty="0">
                <a:latin typeface="Tahoma" panose="020B0604030504040204" charset="0"/>
              </a:rPr>
              <a:t>… slower than TCP </a:t>
            </a:r>
            <a:endParaRPr lang="en-US" altLang="zh-CN" dirty="0">
              <a:latin typeface="Tahoma" panose="020B0604030504040204" charset="0"/>
            </a:endParaRPr>
          </a:p>
          <a:p>
            <a:pPr algn="r"/>
            <a:r>
              <a:rPr lang="en-US" altLang="zh-CN" dirty="0">
                <a:latin typeface="Tahoma" panose="020B0604030504040204" charset="0"/>
              </a:rPr>
              <a:t>receiver is delivering</a:t>
            </a:r>
            <a:endParaRPr lang="en-US" altLang="zh-CN" dirty="0">
              <a:latin typeface="Tahoma" panose="020B0604030504040204" charset="0"/>
            </a:endParaRPr>
          </a:p>
          <a:p>
            <a:pPr algn="r"/>
            <a:r>
              <a:rPr lang="en-US" altLang="zh-CN" dirty="0">
                <a:latin typeface="Tahoma" panose="020B0604030504040204" charset="0"/>
              </a:rPr>
              <a:t>(sender is sending)</a:t>
            </a:r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5805" name="Line 108"/>
          <p:cNvSpPr>
            <a:spLocks noChangeShapeType="1"/>
          </p:cNvSpPr>
          <p:nvPr/>
        </p:nvSpPr>
        <p:spPr bwMode="auto">
          <a:xfrm>
            <a:off x="5145088" y="2935288"/>
            <a:ext cx="544513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806" name="Line 115"/>
          <p:cNvSpPr>
            <a:spLocks noChangeShapeType="1"/>
          </p:cNvSpPr>
          <p:nvPr/>
        </p:nvSpPr>
        <p:spPr bwMode="auto">
          <a:xfrm>
            <a:off x="6383338" y="5189538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5807" name="Text Box 116"/>
          <p:cNvSpPr txBox="1">
            <a:spLocks noChangeArrowheads="1"/>
          </p:cNvSpPr>
          <p:nvPr/>
        </p:nvSpPr>
        <p:spPr bwMode="auto">
          <a:xfrm>
            <a:off x="5291138" y="5249863"/>
            <a:ext cx="11334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from sender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84123" name="Group 123"/>
          <p:cNvGrpSpPr/>
          <p:nvPr/>
        </p:nvGrpSpPr>
        <p:grpSpPr>
          <a:xfrm>
            <a:off x="363538" y="4194175"/>
            <a:ext cx="5395912" cy="1755775"/>
            <a:chOff x="221" y="2091"/>
            <a:chExt cx="3399" cy="1106"/>
          </a:xfrm>
        </p:grpSpPr>
        <p:sp>
          <p:nvSpPr>
            <p:cNvPr id="75815" name="Line 82"/>
            <p:cNvSpPr>
              <a:spLocks noChangeShapeType="1"/>
            </p:cNvSpPr>
            <p:nvPr/>
          </p:nvSpPr>
          <p:spPr bwMode="auto">
            <a:xfrm>
              <a:off x="3620" y="2455"/>
              <a:ext cx="0" cy="1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16" name="Rectangle 110"/>
            <p:cNvSpPr>
              <a:spLocks noChangeArrowheads="1"/>
            </p:cNvSpPr>
            <p:nvPr/>
          </p:nvSpPr>
          <p:spPr bwMode="auto">
            <a:xfrm>
              <a:off x="221" y="2219"/>
              <a:ext cx="2295" cy="97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5817" name="Text Box 111"/>
            <p:cNvSpPr txBox="1">
              <a:spLocks noChangeArrowheads="1"/>
            </p:cNvSpPr>
            <p:nvPr/>
          </p:nvSpPr>
          <p:spPr bwMode="auto">
            <a:xfrm>
              <a:off x="279" y="2315"/>
              <a:ext cx="2263" cy="8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p>
              <a:pPr algn="l"/>
              <a:r>
                <a:rPr lang="en-US" altLang="zh-CN" sz="2000" dirty="0">
                  <a:latin typeface="Gill Sans MT" charset="0"/>
                </a:rPr>
                <a:t>receiver controls sender, so sender won</a:t>
              </a:r>
              <a:r>
                <a:rPr lang="ja-JP" altLang="en-US" sz="2000" dirty="0">
                  <a:latin typeface="Gill Sans MT" charset="0"/>
                </a:rPr>
                <a:t>’</a:t>
              </a:r>
              <a:r>
                <a:rPr lang="en-US" altLang="ja-JP" sz="2000" dirty="0">
                  <a:latin typeface="Gill Sans MT" charset="0"/>
                </a:rPr>
                <a:t>t overflow receiver</a:t>
              </a:r>
              <a:r>
                <a:rPr lang="ja-JP" altLang="en-US" sz="2000" dirty="0">
                  <a:latin typeface="Gill Sans MT" charset="0"/>
                </a:rPr>
                <a:t>’</a:t>
              </a:r>
              <a:r>
                <a:rPr lang="en-US" altLang="ja-JP" sz="2000" dirty="0">
                  <a:latin typeface="Gill Sans MT" charset="0"/>
                </a:rPr>
                <a:t>s buffer by transmitting too much, too fast</a:t>
              </a:r>
              <a:endParaRPr lang="en-US" altLang="zh-CN" sz="1000" dirty="0">
                <a:latin typeface="Gill Sans MT" charset="0"/>
              </a:endParaRPr>
            </a:p>
          </p:txBody>
        </p:sp>
        <p:grpSp>
          <p:nvGrpSpPr>
            <p:cNvPr id="93224" name="Group 112"/>
            <p:cNvGrpSpPr/>
            <p:nvPr/>
          </p:nvGrpSpPr>
          <p:grpSpPr>
            <a:xfrm>
              <a:off x="510" y="2091"/>
              <a:ext cx="1217" cy="327"/>
              <a:chOff x="3486" y="272"/>
              <a:chExt cx="1134" cy="327"/>
            </a:xfrm>
          </p:grpSpPr>
          <p:sp>
            <p:nvSpPr>
              <p:cNvPr id="75820" name="Rectangle 113"/>
              <p:cNvSpPr>
                <a:spLocks noChangeArrowheads="1"/>
              </p:cNvSpPr>
              <p:nvPr/>
            </p:nvSpPr>
            <p:spPr bwMode="auto">
              <a:xfrm>
                <a:off x="3486" y="330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5821" name="Text Box 114"/>
              <p:cNvSpPr txBox="1">
                <a:spLocks noChangeArrowheads="1"/>
              </p:cNvSpPr>
              <p:nvPr/>
            </p:nvSpPr>
            <p:spPr bwMode="auto">
              <a:xfrm>
                <a:off x="3539" y="272"/>
                <a:ext cx="1011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8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Gill Sans MT" charset="0"/>
                    <a:ea typeface="MS PGothic" charset="0"/>
                    <a:cs typeface="+mn-cs"/>
                  </a:rPr>
                  <a:t>flow control</a:t>
                </a:r>
                <a:endParaRPr kumimoji="0" lang="en-US" sz="2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5819" name="Line 117"/>
            <p:cNvSpPr>
              <a:spLocks noChangeShapeType="1"/>
            </p:cNvSpPr>
            <p:nvPr/>
          </p:nvSpPr>
          <p:spPr bwMode="auto">
            <a:xfrm>
              <a:off x="3445" y="2578"/>
              <a:ext cx="0" cy="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5809" name="Line 118"/>
          <p:cNvSpPr>
            <a:spLocks noChangeShapeType="1"/>
          </p:cNvSpPr>
          <p:nvPr/>
        </p:nvSpPr>
        <p:spPr bwMode="auto">
          <a:xfrm>
            <a:off x="7847013" y="4767263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93217" name="Picture 12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98475" y="893763"/>
            <a:ext cx="45704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3218" name="Group 124"/>
          <p:cNvGrpSpPr/>
          <p:nvPr/>
        </p:nvGrpSpPr>
        <p:grpSpPr>
          <a:xfrm flipH="1">
            <a:off x="8085138" y="4360863"/>
            <a:ext cx="869950" cy="906462"/>
            <a:chOff x="-44" y="1473"/>
            <a:chExt cx="981" cy="1105"/>
          </a:xfrm>
        </p:grpSpPr>
        <p:pic>
          <p:nvPicPr>
            <p:cNvPr id="93219" name="Picture 125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220" name="Freeform 12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0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171450"/>
            <a:ext cx="7772400" cy="9747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flow control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94212" name="Picture 51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98475" y="893763"/>
            <a:ext cx="45704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4213" name="Group 72"/>
          <p:cNvGrpSpPr/>
          <p:nvPr/>
        </p:nvGrpSpPr>
        <p:grpSpPr>
          <a:xfrm>
            <a:off x="5995988" y="2230438"/>
            <a:ext cx="2578100" cy="2155825"/>
            <a:chOff x="512" y="1294"/>
            <a:chExt cx="1888" cy="1358"/>
          </a:xfrm>
        </p:grpSpPr>
        <p:grpSp>
          <p:nvGrpSpPr>
            <p:cNvPr id="94227" name="Group 17"/>
            <p:cNvGrpSpPr/>
            <p:nvPr/>
          </p:nvGrpSpPr>
          <p:grpSpPr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76829" name="Rectangle 18"/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6830" name="Rectangle 19"/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6831" name="Rectangle 20"/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6832" name="Rectangle 21"/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6821" name="Rectangle 52"/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2" name="Line 53"/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3" name="AutoShape 54"/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4" name="Rectangle 55" descr="Dark upward diagonal"/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pattFill prst="dkUpDiag">
              <a:fgClr>
                <a:srgbClr val="FFFF00"/>
              </a:fgClr>
              <a:bgClr>
                <a:schemeClr val="bg1"/>
              </a:bgClr>
            </a:patt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5" name="AutoShape 56"/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6" name="Text Box 57"/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buffered data</a:t>
              </a:r>
              <a:endPara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7" name="Line 58"/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6828" name="Text Box 59"/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free buffer space</a:t>
              </a:r>
              <a:endPara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6807" name="Text Box 62"/>
          <p:cNvSpPr txBox="1">
            <a:spLocks noChangeArrowheads="1"/>
          </p:cNvSpPr>
          <p:nvPr/>
        </p:nvSpPr>
        <p:spPr bwMode="auto">
          <a:xfrm>
            <a:off x="5108575" y="3375025"/>
            <a:ext cx="67310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rwnd</a:t>
            </a:r>
            <a:endParaRPr kumimoji="0" lang="en-US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76808" name="Line 64"/>
          <p:cNvSpPr>
            <a:spLocks noChangeShapeType="1"/>
          </p:cNvSpPr>
          <p:nvPr/>
        </p:nvSpPr>
        <p:spPr bwMode="auto">
          <a:xfrm>
            <a:off x="5619750" y="3108325"/>
            <a:ext cx="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09" name="Line 65"/>
          <p:cNvSpPr>
            <a:spLocks noChangeShapeType="1"/>
          </p:cNvSpPr>
          <p:nvPr/>
        </p:nvSpPr>
        <p:spPr bwMode="auto">
          <a:xfrm flipV="1">
            <a:off x="5619750" y="3633788"/>
            <a:ext cx="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0" name="Line 66"/>
          <p:cNvSpPr>
            <a:spLocks noChangeShapeType="1"/>
          </p:cNvSpPr>
          <p:nvPr/>
        </p:nvSpPr>
        <p:spPr bwMode="auto">
          <a:xfrm>
            <a:off x="5465763" y="3965575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1" name="Line 67"/>
          <p:cNvSpPr>
            <a:spLocks noChangeShapeType="1"/>
          </p:cNvSpPr>
          <p:nvPr/>
        </p:nvSpPr>
        <p:spPr bwMode="auto">
          <a:xfrm>
            <a:off x="5514975" y="3097213"/>
            <a:ext cx="196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2" name="Line 68"/>
          <p:cNvSpPr>
            <a:spLocks noChangeShapeType="1"/>
          </p:cNvSpPr>
          <p:nvPr/>
        </p:nvSpPr>
        <p:spPr bwMode="auto">
          <a:xfrm>
            <a:off x="5487988" y="2571750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3" name="Line 69"/>
          <p:cNvSpPr>
            <a:spLocks noChangeShapeType="1"/>
          </p:cNvSpPr>
          <p:nvPr/>
        </p:nvSpPr>
        <p:spPr bwMode="auto">
          <a:xfrm>
            <a:off x="5876925" y="2576513"/>
            <a:ext cx="0" cy="17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4" name="Line 70"/>
          <p:cNvSpPr>
            <a:spLocks noChangeShapeType="1"/>
          </p:cNvSpPr>
          <p:nvPr/>
        </p:nvSpPr>
        <p:spPr bwMode="auto">
          <a:xfrm flipH="1">
            <a:off x="5875338" y="3000375"/>
            <a:ext cx="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5" name="Text Box 71"/>
          <p:cNvSpPr txBox="1">
            <a:spLocks noChangeArrowheads="1"/>
          </p:cNvSpPr>
          <p:nvPr/>
        </p:nvSpPr>
        <p:spPr bwMode="auto">
          <a:xfrm>
            <a:off x="4722813" y="2736850"/>
            <a:ext cx="1284288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RcvBuffer</a:t>
            </a:r>
            <a:endParaRPr kumimoji="0" lang="en-US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76816" name="Text Box 73"/>
          <p:cNvSpPr txBox="1">
            <a:spLocks noChangeArrowheads="1"/>
          </p:cNvSpPr>
          <p:nvPr/>
        </p:nvSpPr>
        <p:spPr bwMode="auto">
          <a:xfrm>
            <a:off x="6153150" y="4365625"/>
            <a:ext cx="222091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TCP segment payloads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7" name="Text Box 74"/>
          <p:cNvSpPr txBox="1">
            <a:spLocks noChangeArrowheads="1"/>
          </p:cNvSpPr>
          <p:nvPr/>
        </p:nvSpPr>
        <p:spPr bwMode="auto">
          <a:xfrm>
            <a:off x="6226175" y="1865313"/>
            <a:ext cx="21304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to application process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6818" name="Rectangle 75"/>
          <p:cNvSpPr>
            <a:spLocks noGrp="1" noChangeArrowheads="1"/>
          </p:cNvSpPr>
          <p:nvPr>
            <p:ph sz="half" idx="2"/>
          </p:nvPr>
        </p:nvSpPr>
        <p:spPr>
          <a:xfrm>
            <a:off x="493713" y="1549400"/>
            <a:ext cx="4054475" cy="4906963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>
                <a:latin typeface="+mn-lt"/>
                <a:ea typeface="MS PGothic" charset="0"/>
                <a:cs typeface="MS PGothic" charset="0"/>
              </a:rPr>
              <a:t>receiver </a:t>
            </a:r>
            <a:r>
              <a:rPr lang="ja-JP" altLang="en-US" sz="240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advertises</a:t>
            </a:r>
            <a:r>
              <a:rPr lang="ja-JP" altLang="en-US" sz="240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 free buffer space by including </a:t>
            </a:r>
            <a:r>
              <a:rPr lang="en-US" altLang="ja-JP" sz="2400" b="1" err="1">
                <a:latin typeface="Courier New" panose="02070409020205090404" charset="0"/>
                <a:ea typeface="MS PGothic" charset="0"/>
                <a:cs typeface="MS PGothic" charset="0"/>
              </a:rPr>
              <a:t>rwnd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 value in TCP header of receiver-to-sender segments</a:t>
            </a:r>
            <a:endParaRPr lang="en-US" altLang="ja-JP" sz="240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sz="2000" b="1" err="1">
                <a:latin typeface="Courier New" panose="02070409020205090404" charset="0"/>
                <a:ea typeface="MS PGothic" charset="0"/>
              </a:rPr>
              <a:t>RcvBuffer</a:t>
            </a:r>
            <a:r>
              <a:rPr lang="en-US" altLang="zh-CN" sz="2000" b="1">
                <a:latin typeface="Courier New" panose="02070409020205090404" charset="0"/>
                <a:ea typeface="MS PGothic" charset="0"/>
              </a:rPr>
              <a:t> </a:t>
            </a:r>
            <a:r>
              <a:rPr lang="en-US" altLang="zh-CN" sz="2000">
                <a:latin typeface="+mn-lt"/>
                <a:ea typeface="MS PGothic" charset="0"/>
              </a:rPr>
              <a:t>size set via socket options (typical default is 4096 bytes)</a:t>
            </a:r>
            <a:endParaRPr lang="en-US" altLang="zh-CN" sz="200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sz="2000">
                <a:latin typeface="+mn-lt"/>
                <a:ea typeface="MS PGothic" charset="0"/>
              </a:rPr>
              <a:t>many operating systems </a:t>
            </a:r>
            <a:r>
              <a:rPr lang="en-US" altLang="zh-CN" sz="2000" err="1">
                <a:latin typeface="+mn-lt"/>
                <a:ea typeface="MS PGothic" charset="0"/>
              </a:rPr>
              <a:t>autoadjust</a:t>
            </a:r>
            <a:r>
              <a:rPr lang="en-US" altLang="zh-CN" sz="2000">
                <a:latin typeface="+mn-lt"/>
                <a:ea typeface="MS PGothic" charset="0"/>
              </a:rPr>
              <a:t> </a:t>
            </a:r>
            <a:r>
              <a:rPr lang="en-US" altLang="zh-CN" sz="2000" b="1" err="1">
                <a:latin typeface="Courier New" panose="02070409020205090404" charset="0"/>
                <a:ea typeface="MS PGothic" charset="0"/>
              </a:rPr>
              <a:t>RcvBuffer</a:t>
            </a:r>
            <a:endParaRPr lang="en-US" altLang="zh-CN" sz="200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>
                <a:latin typeface="+mn-lt"/>
                <a:ea typeface="MS PGothic" charset="0"/>
                <a:cs typeface="MS PGothic" charset="0"/>
              </a:rPr>
              <a:t>sender limits amount of </a:t>
            </a:r>
            <a:r>
              <a:rPr lang="en-US" altLang="zh-CN" sz="2400" err="1">
                <a:latin typeface="+mn-lt"/>
                <a:ea typeface="MS PGothic" charset="0"/>
                <a:cs typeface="MS PGothic" charset="0"/>
              </a:rPr>
              <a:t>unacked</a:t>
            </a:r>
            <a:r>
              <a:rPr lang="en-US" altLang="zh-CN" sz="2400">
                <a:latin typeface="+mn-lt"/>
                <a:ea typeface="MS PGothic" charset="0"/>
                <a:cs typeface="MS PGothic" charset="0"/>
              </a:rPr>
              <a:t> (</a:t>
            </a:r>
            <a:r>
              <a:rPr lang="ja-JP" altLang="en-US" sz="240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in-flight</a:t>
            </a:r>
            <a:r>
              <a:rPr lang="ja-JP" altLang="en-US" sz="240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) data to receiver</a:t>
            </a:r>
            <a:r>
              <a:rPr lang="ja-JP" altLang="en-US" sz="240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s </a:t>
            </a:r>
            <a:r>
              <a:rPr lang="en-US" altLang="ja-JP" sz="2400" b="1" err="1">
                <a:latin typeface="Courier New" panose="02070409020205090404" charset="0"/>
                <a:ea typeface="MS PGothic" charset="0"/>
                <a:cs typeface="MS PGothic" charset="0"/>
              </a:rPr>
              <a:t>rwnd</a:t>
            </a:r>
            <a:r>
              <a:rPr lang="en-US" altLang="ja-JP" sz="2400" b="1">
                <a:latin typeface="Courier New" panose="02070409020205090404" charset="0"/>
                <a:ea typeface="MS PGothic" charset="0"/>
                <a:cs typeface="MS PGothic" charset="0"/>
              </a:rPr>
              <a:t> </a:t>
            </a:r>
            <a:r>
              <a:rPr lang="en-US" altLang="ja-JP" sz="2400">
                <a:latin typeface="+mn-lt"/>
                <a:ea typeface="MS PGothic" charset="0"/>
                <a:cs typeface="MS PGothic" charset="0"/>
              </a:rPr>
              <a:t>value </a:t>
            </a:r>
            <a:endParaRPr lang="en-US" altLang="ja-JP" sz="240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>
                <a:latin typeface="+mn-lt"/>
                <a:ea typeface="MS PGothic" charset="0"/>
                <a:cs typeface="MS PGothic" charset="0"/>
              </a:rPr>
              <a:t>guarantees receive buffer will not overflow</a:t>
            </a:r>
            <a:endParaRPr lang="en-US" altLang="zh-CN" sz="2400"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76819" name="Text Box 76"/>
          <p:cNvSpPr txBox="1">
            <a:spLocks noChangeArrowheads="1"/>
          </p:cNvSpPr>
          <p:nvPr/>
        </p:nvSpPr>
        <p:spPr bwMode="auto">
          <a:xfrm>
            <a:off x="5837238" y="5018088"/>
            <a:ext cx="269557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receiver-side buffering</a:t>
            </a:r>
            <a:endParaRPr kumimoji="0" lang="en-US" sz="20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782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782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7783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95238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39813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51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96259" name="Picture 88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74675" y="833438"/>
            <a:ext cx="50276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3" name="Rectangle 62"/>
          <p:cNvSpPr>
            <a:spLocks noChangeArrowheads="1"/>
          </p:cNvSpPr>
          <p:nvPr/>
        </p:nvSpPr>
        <p:spPr bwMode="auto">
          <a:xfrm>
            <a:off x="1249363" y="2936875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54" name="Rectangle 45"/>
          <p:cNvSpPr>
            <a:spLocks noChangeArrowheads="1"/>
          </p:cNvSpPr>
          <p:nvPr/>
        </p:nvSpPr>
        <p:spPr bwMode="auto">
          <a:xfrm>
            <a:off x="1209675" y="2990850"/>
            <a:ext cx="2270125" cy="24717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55" name="Rectangle 2"/>
          <p:cNvSpPr>
            <a:spLocks noGrp="1" noChangeArrowheads="1"/>
          </p:cNvSpPr>
          <p:nvPr>
            <p:ph type="title"/>
          </p:nvPr>
        </p:nvSpPr>
        <p:spPr>
          <a:xfrm>
            <a:off x="511175" y="193675"/>
            <a:ext cx="7772400" cy="9112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Connection Management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78856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60400" y="1073150"/>
            <a:ext cx="8335963" cy="2187575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800" dirty="0"/>
              <a:t>before exchanging data, sender/receiver </a:t>
            </a:r>
            <a:r>
              <a:rPr lang="ja-JP" altLang="en-US" sz="2800" dirty="0"/>
              <a:t>“</a:t>
            </a:r>
            <a:r>
              <a:rPr lang="en-US" altLang="ja-JP" sz="2800" dirty="0"/>
              <a:t>handshake</a:t>
            </a:r>
            <a:r>
              <a:rPr lang="ja-JP" altLang="en-US" sz="2800" dirty="0"/>
              <a:t>”</a:t>
            </a:r>
            <a:r>
              <a:rPr lang="en-US" altLang="ja-JP" sz="2800" dirty="0"/>
              <a:t>:</a:t>
            </a:r>
            <a:endParaRPr lang="en-US" altLang="ja-JP" sz="2800" dirty="0"/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/>
              <a:t>agree to establish connection (each knowing the other willing to establish connection)</a:t>
            </a:r>
            <a:endParaRPr lang="en-US" altLang="zh-CN" sz="2400" dirty="0"/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/>
              <a:t>agree on connection parameters</a:t>
            </a:r>
            <a:endParaRPr lang="en-US" altLang="zh-CN" sz="2400" dirty="0"/>
          </a:p>
        </p:txBody>
      </p:sp>
      <p:sp>
        <p:nvSpPr>
          <p:cNvPr id="78857" name="Line 55"/>
          <p:cNvSpPr>
            <a:spLocks noChangeShapeType="1"/>
          </p:cNvSpPr>
          <p:nvPr/>
        </p:nvSpPr>
        <p:spPr bwMode="auto">
          <a:xfrm>
            <a:off x="1209675" y="3432175"/>
            <a:ext cx="227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58" name="Text Box 6"/>
          <p:cNvSpPr txBox="1">
            <a:spLocks noChangeArrowheads="1"/>
          </p:cNvSpPr>
          <p:nvPr/>
        </p:nvSpPr>
        <p:spPr bwMode="auto">
          <a:xfrm>
            <a:off x="1223963" y="3544888"/>
            <a:ext cx="2335213" cy="1581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23050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connection state: ESTAB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connection variables: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 # client-to-server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server-to-client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rcvBuffer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size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at server,client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6266" name="Group 46"/>
          <p:cNvGrpSpPr/>
          <p:nvPr/>
        </p:nvGrpSpPr>
        <p:grpSpPr>
          <a:xfrm>
            <a:off x="2157413" y="3346450"/>
            <a:ext cx="438150" cy="206375"/>
            <a:chOff x="344" y="1846"/>
            <a:chExt cx="336" cy="130"/>
          </a:xfrm>
        </p:grpSpPr>
        <p:sp>
          <p:nvSpPr>
            <p:cNvPr id="78921" name="Rectangle 47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22" name="Rectangle 48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23" name="Rectangle 49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24" name="Rectangle 50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8860" name="Text Box 54"/>
          <p:cNvSpPr txBox="1">
            <a:spLocks noChangeArrowheads="1"/>
          </p:cNvSpPr>
          <p:nvPr/>
        </p:nvSpPr>
        <p:spPr bwMode="auto">
          <a:xfrm>
            <a:off x="1154113" y="3048000"/>
            <a:ext cx="11461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application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1" name="Line 56"/>
          <p:cNvSpPr>
            <a:spLocks noChangeShapeType="1"/>
          </p:cNvSpPr>
          <p:nvPr/>
        </p:nvSpPr>
        <p:spPr bwMode="auto">
          <a:xfrm>
            <a:off x="1216025" y="4927600"/>
            <a:ext cx="2268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2" name="Text Box 57"/>
          <p:cNvSpPr txBox="1">
            <a:spLocks noChangeArrowheads="1"/>
          </p:cNvSpPr>
          <p:nvPr/>
        </p:nvSpPr>
        <p:spPr bwMode="auto">
          <a:xfrm>
            <a:off x="1168400" y="4995863"/>
            <a:ext cx="9080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network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3" name="Rectangle 58"/>
          <p:cNvSpPr>
            <a:spLocks noChangeArrowheads="1"/>
          </p:cNvSpPr>
          <p:nvPr/>
        </p:nvSpPr>
        <p:spPr bwMode="auto">
          <a:xfrm>
            <a:off x="1181100" y="5349875"/>
            <a:ext cx="2335213" cy="180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4" name="Line 59"/>
          <p:cNvSpPr>
            <a:spLocks noChangeShapeType="1"/>
          </p:cNvSpPr>
          <p:nvPr/>
        </p:nvSpPr>
        <p:spPr bwMode="auto">
          <a:xfrm>
            <a:off x="1209675" y="5338763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5" name="Line 60"/>
          <p:cNvSpPr>
            <a:spLocks noChangeShapeType="1"/>
          </p:cNvSpPr>
          <p:nvPr/>
        </p:nvSpPr>
        <p:spPr bwMode="auto">
          <a:xfrm>
            <a:off x="3473450" y="5310188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6273" name="Freeform 8"/>
          <p:cNvSpPr/>
          <p:nvPr/>
        </p:nvSpPr>
        <p:spPr>
          <a:xfrm flipH="1">
            <a:off x="736600" y="2994025"/>
            <a:ext cx="468313" cy="2490788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8867" name="Rectangle 63"/>
          <p:cNvSpPr>
            <a:spLocks noChangeArrowheads="1"/>
          </p:cNvSpPr>
          <p:nvPr/>
        </p:nvSpPr>
        <p:spPr bwMode="auto">
          <a:xfrm>
            <a:off x="5551488" y="2943225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8" name="Rectangle 64"/>
          <p:cNvSpPr>
            <a:spLocks noChangeArrowheads="1"/>
          </p:cNvSpPr>
          <p:nvPr/>
        </p:nvSpPr>
        <p:spPr bwMode="auto">
          <a:xfrm>
            <a:off x="5511800" y="2997200"/>
            <a:ext cx="2270125" cy="24717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69" name="Line 65"/>
          <p:cNvSpPr>
            <a:spLocks noChangeShapeType="1"/>
          </p:cNvSpPr>
          <p:nvPr/>
        </p:nvSpPr>
        <p:spPr bwMode="auto">
          <a:xfrm>
            <a:off x="5511800" y="3438525"/>
            <a:ext cx="227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0" name="Text Box 66"/>
          <p:cNvSpPr txBox="1">
            <a:spLocks noChangeArrowheads="1"/>
          </p:cNvSpPr>
          <p:nvPr/>
        </p:nvSpPr>
        <p:spPr bwMode="auto">
          <a:xfrm>
            <a:off x="5526088" y="3551238"/>
            <a:ext cx="2335213" cy="1581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23050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connection state: ESTAB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connection Variables: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seq # client-to-server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server-to-client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rcvBuffer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size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at server,client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230505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         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6278" name="Group 67"/>
          <p:cNvGrpSpPr/>
          <p:nvPr/>
        </p:nvGrpSpPr>
        <p:grpSpPr>
          <a:xfrm>
            <a:off x="6459538" y="3352800"/>
            <a:ext cx="438150" cy="206375"/>
            <a:chOff x="344" y="1846"/>
            <a:chExt cx="336" cy="130"/>
          </a:xfrm>
        </p:grpSpPr>
        <p:sp>
          <p:nvSpPr>
            <p:cNvPr id="78917" name="Rectangle 68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18" name="Rectangle 69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19" name="Rectangle 70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20" name="Rectangle 71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78872" name="Text Box 72"/>
          <p:cNvSpPr txBox="1">
            <a:spLocks noChangeArrowheads="1"/>
          </p:cNvSpPr>
          <p:nvPr/>
        </p:nvSpPr>
        <p:spPr bwMode="auto">
          <a:xfrm>
            <a:off x="5456238" y="3054350"/>
            <a:ext cx="11461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application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3" name="Line 73"/>
          <p:cNvSpPr>
            <a:spLocks noChangeShapeType="1"/>
          </p:cNvSpPr>
          <p:nvPr/>
        </p:nvSpPr>
        <p:spPr bwMode="auto">
          <a:xfrm>
            <a:off x="5518150" y="4933950"/>
            <a:ext cx="2268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4" name="Text Box 74"/>
          <p:cNvSpPr txBox="1">
            <a:spLocks noChangeArrowheads="1"/>
          </p:cNvSpPr>
          <p:nvPr/>
        </p:nvSpPr>
        <p:spPr bwMode="auto">
          <a:xfrm>
            <a:off x="5470525" y="5002213"/>
            <a:ext cx="9080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network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5" name="Rectangle 75"/>
          <p:cNvSpPr>
            <a:spLocks noChangeArrowheads="1"/>
          </p:cNvSpPr>
          <p:nvPr/>
        </p:nvSpPr>
        <p:spPr bwMode="auto">
          <a:xfrm>
            <a:off x="5483225" y="5356225"/>
            <a:ext cx="2335213" cy="180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6" name="Line 76"/>
          <p:cNvSpPr>
            <a:spLocks noChangeShapeType="1"/>
          </p:cNvSpPr>
          <p:nvPr/>
        </p:nvSpPr>
        <p:spPr bwMode="auto">
          <a:xfrm>
            <a:off x="5511800" y="5345113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8877" name="Line 77"/>
          <p:cNvSpPr>
            <a:spLocks noChangeShapeType="1"/>
          </p:cNvSpPr>
          <p:nvPr/>
        </p:nvSpPr>
        <p:spPr bwMode="auto">
          <a:xfrm>
            <a:off x="7775575" y="5316538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96285" name="Freeform 78"/>
          <p:cNvSpPr/>
          <p:nvPr/>
        </p:nvSpPr>
        <p:spPr>
          <a:xfrm>
            <a:off x="7793038" y="2933700"/>
            <a:ext cx="468312" cy="2490788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 cap="flat" cmpd="sng">
            <a:solidFill>
              <a:srgbClr val="DDDD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8879" name="Text Box 83"/>
          <p:cNvSpPr txBox="1">
            <a:spLocks noChangeArrowheads="1"/>
          </p:cNvSpPr>
          <p:nvPr/>
        </p:nvSpPr>
        <p:spPr bwMode="auto">
          <a:xfrm>
            <a:off x="1087438" y="5815013"/>
            <a:ext cx="2894013" cy="6397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Socket clientSocket =   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 newSocket("hostname","port number");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78880" name="Text Box 85"/>
          <p:cNvSpPr txBox="1">
            <a:spLocks noChangeArrowheads="1"/>
          </p:cNvSpPr>
          <p:nvPr/>
        </p:nvSpPr>
        <p:spPr bwMode="auto">
          <a:xfrm>
            <a:off x="5387975" y="5829300"/>
            <a:ext cx="28940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Socket connectionSocket = welcomeSocket.accept();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grpSp>
        <p:nvGrpSpPr>
          <p:cNvPr id="96288" name="Group 89"/>
          <p:cNvGrpSpPr/>
          <p:nvPr/>
        </p:nvGrpSpPr>
        <p:grpSpPr>
          <a:xfrm>
            <a:off x="260350" y="5026025"/>
            <a:ext cx="698500" cy="612775"/>
            <a:chOff x="-44" y="1473"/>
            <a:chExt cx="981" cy="1105"/>
          </a:xfrm>
        </p:grpSpPr>
        <p:pic>
          <p:nvPicPr>
            <p:cNvPr id="96322" name="Picture 9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6323" name="Freeform 9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6289" name="Group 92"/>
          <p:cNvGrpSpPr/>
          <p:nvPr/>
        </p:nvGrpSpPr>
        <p:grpSpPr>
          <a:xfrm>
            <a:off x="8075613" y="4924425"/>
            <a:ext cx="415925" cy="627063"/>
            <a:chOff x="4140" y="429"/>
            <a:chExt cx="1425" cy="2396"/>
          </a:xfrm>
        </p:grpSpPr>
        <p:sp>
          <p:nvSpPr>
            <p:cNvPr id="96290" name="Freeform 9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884" name="Rectangle 94"/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6292" name="Freeform 95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293" name="Freeform 96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887" name="Rectangle 97"/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6295" name="Group 98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8913" name="AutoShape 99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8914" name="AutoShape 10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8889" name="Rectangle 101"/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6297" name="Group 102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8911" name="AutoShape 103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8912" name="AutoShape 10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8891" name="Rectangle 105"/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892" name="Rectangle 106"/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6300" name="Group 107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8909" name="AutoShape 108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8910" name="AutoShape 109"/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96301" name="Freeform 11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6302" name="Group 111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8907" name="AutoShape 112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8908" name="AutoShape 113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8896" name="Rectangle 114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6304" name="Freeform 115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6305" name="Freeform 116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899" name="Oval 117"/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6307" name="Freeform 11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8901" name="AutoShape 119"/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02" name="AutoShape 120"/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03" name="Oval 121"/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04" name="Oval 122"/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78905" name="Oval 123"/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8906" name="Rectangle 124"/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7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9876" name="Rectangle 63"/>
          <p:cNvSpPr>
            <a:spLocks noGrp="1" noChangeArrowheads="1"/>
          </p:cNvSpPr>
          <p:nvPr>
            <p:ph sz="half" idx="1"/>
          </p:nvPr>
        </p:nvSpPr>
        <p:spPr>
          <a:xfrm>
            <a:off x="4508500" y="1674813"/>
            <a:ext cx="4014788" cy="2503488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i="1" u="sng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Q:</a:t>
            </a: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 will 2-way handshake always work in network?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variable delays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retransmitted messages (e.g. req_conn(x)) due to message loss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message reordering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sz="2400" dirty="0">
                <a:latin typeface="+mn-lt"/>
                <a:ea typeface="MS PGothic" charset="0"/>
                <a:cs typeface="MS PGothic" charset="0"/>
              </a:rPr>
              <a:t>can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’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t 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see</a:t>
            </a:r>
            <a:r>
              <a:rPr lang="ja-JP" altLang="en-US" sz="2400" dirty="0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 sz="2400" dirty="0">
                <a:latin typeface="+mn-lt"/>
                <a:ea typeface="MS PGothic" charset="0"/>
                <a:cs typeface="MS PGothic" charset="0"/>
              </a:rPr>
              <a:t> other side</a:t>
            </a: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97284" name="Picture 62" descr="Al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13" y="1957388"/>
            <a:ext cx="508000" cy="627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285" name="Picture 63" descr="Bo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992313"/>
            <a:ext cx="622300" cy="63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9" name="Text Box 49"/>
          <p:cNvSpPr txBox="1">
            <a:spLocks noChangeArrowheads="1"/>
          </p:cNvSpPr>
          <p:nvPr/>
        </p:nvSpPr>
        <p:spPr bwMode="auto">
          <a:xfrm>
            <a:off x="541338" y="1335088"/>
            <a:ext cx="26527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2-way handshake: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0" name="Line 50"/>
          <p:cNvSpPr>
            <a:spLocks noChangeShapeType="1"/>
          </p:cNvSpPr>
          <p:nvPr/>
        </p:nvSpPr>
        <p:spPr bwMode="auto">
          <a:xfrm>
            <a:off x="1590675" y="2689225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1" name="Line 51"/>
          <p:cNvSpPr>
            <a:spLocks noChangeShapeType="1"/>
          </p:cNvSpPr>
          <p:nvPr/>
        </p:nvSpPr>
        <p:spPr bwMode="auto">
          <a:xfrm>
            <a:off x="1546225" y="2606675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2" name="Line 53"/>
          <p:cNvSpPr>
            <a:spLocks noChangeShapeType="1"/>
          </p:cNvSpPr>
          <p:nvPr/>
        </p:nvSpPr>
        <p:spPr bwMode="auto">
          <a:xfrm>
            <a:off x="3076575" y="2633663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3" name="Line 54"/>
          <p:cNvSpPr>
            <a:spLocks noChangeShapeType="1"/>
          </p:cNvSpPr>
          <p:nvPr/>
        </p:nvSpPr>
        <p:spPr bwMode="auto">
          <a:xfrm flipH="1">
            <a:off x="1543050" y="3086100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4" name="Rectangle 56"/>
          <p:cNvSpPr>
            <a:spLocks noChangeArrowheads="1"/>
          </p:cNvSpPr>
          <p:nvPr/>
        </p:nvSpPr>
        <p:spPr bwMode="auto">
          <a:xfrm>
            <a:off x="1828800" y="2674938"/>
            <a:ext cx="89058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5" name="Text Box 55"/>
          <p:cNvSpPr txBox="1">
            <a:spLocks noChangeArrowheads="1"/>
          </p:cNvSpPr>
          <p:nvPr/>
        </p:nvSpPr>
        <p:spPr bwMode="auto">
          <a:xfrm>
            <a:off x="1795463" y="2652713"/>
            <a:ext cx="979488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p>
            <a:r>
              <a:rPr lang="en-US" altLang="zh-CN" dirty="0">
                <a:latin typeface="Tahoma" panose="020B0604030504040204" charset="0"/>
              </a:rPr>
              <a:t>Let</a:t>
            </a:r>
            <a:r>
              <a:rPr lang="ja-JP" altLang="en-US" dirty="0">
                <a:latin typeface="Tahoma" panose="020B0604030504040204" charset="0"/>
              </a:rPr>
              <a:t>’</a:t>
            </a:r>
            <a:r>
              <a:rPr lang="en-US" altLang="ja-JP" dirty="0">
                <a:latin typeface="Tahoma" panose="020B0604030504040204" charset="0"/>
              </a:rPr>
              <a:t>s talk</a:t>
            </a:r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79886" name="Rectangle 57"/>
          <p:cNvSpPr>
            <a:spLocks noChangeArrowheads="1"/>
          </p:cNvSpPr>
          <p:nvPr/>
        </p:nvSpPr>
        <p:spPr bwMode="auto">
          <a:xfrm>
            <a:off x="2085975" y="3098800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7" name="Text Box 58"/>
          <p:cNvSpPr txBox="1">
            <a:spLocks noChangeArrowheads="1"/>
          </p:cNvSpPr>
          <p:nvPr/>
        </p:nvSpPr>
        <p:spPr bwMode="auto">
          <a:xfrm>
            <a:off x="2070100" y="3076575"/>
            <a:ext cx="447675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OK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8" name="Text Box 60"/>
          <p:cNvSpPr txBox="1">
            <a:spLocks noChangeArrowheads="1"/>
          </p:cNvSpPr>
          <p:nvPr/>
        </p:nvSpPr>
        <p:spPr bwMode="auto">
          <a:xfrm>
            <a:off x="3081338" y="2909888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89" name="Text Box 61"/>
          <p:cNvSpPr txBox="1">
            <a:spLocks noChangeArrowheads="1"/>
          </p:cNvSpPr>
          <p:nvPr/>
        </p:nvSpPr>
        <p:spPr bwMode="auto">
          <a:xfrm>
            <a:off x="688975" y="3243263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0" name="Oval 66"/>
          <p:cNvSpPr>
            <a:spLocks noChangeArrowheads="1"/>
          </p:cNvSpPr>
          <p:nvPr/>
        </p:nvSpPr>
        <p:spPr bwMode="auto">
          <a:xfrm>
            <a:off x="1500188" y="3360738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1" name="Oval 67"/>
          <p:cNvSpPr>
            <a:spLocks noChangeArrowheads="1"/>
          </p:cNvSpPr>
          <p:nvPr/>
        </p:nvSpPr>
        <p:spPr bwMode="auto">
          <a:xfrm>
            <a:off x="3028950" y="3017838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2" name="Text Box 72"/>
          <p:cNvSpPr txBox="1">
            <a:spLocks noChangeArrowheads="1"/>
          </p:cNvSpPr>
          <p:nvPr/>
        </p:nvSpPr>
        <p:spPr bwMode="auto">
          <a:xfrm>
            <a:off x="512763" y="4645025"/>
            <a:ext cx="973138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choose x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3" name="Line 73"/>
          <p:cNvSpPr>
            <a:spLocks noChangeShapeType="1"/>
          </p:cNvSpPr>
          <p:nvPr/>
        </p:nvSpPr>
        <p:spPr bwMode="auto">
          <a:xfrm>
            <a:off x="1619250" y="4818063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4" name="Line 74"/>
          <p:cNvSpPr>
            <a:spLocks noChangeShapeType="1"/>
          </p:cNvSpPr>
          <p:nvPr/>
        </p:nvSpPr>
        <p:spPr bwMode="auto">
          <a:xfrm>
            <a:off x="1574800" y="4735513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5" name="Line 75"/>
          <p:cNvSpPr>
            <a:spLocks noChangeShapeType="1"/>
          </p:cNvSpPr>
          <p:nvPr/>
        </p:nvSpPr>
        <p:spPr bwMode="auto">
          <a:xfrm>
            <a:off x="3105150" y="4762500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6" name="Line 76"/>
          <p:cNvSpPr>
            <a:spLocks noChangeShapeType="1"/>
          </p:cNvSpPr>
          <p:nvPr/>
        </p:nvSpPr>
        <p:spPr bwMode="auto">
          <a:xfrm flipH="1">
            <a:off x="1571625" y="5214938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7" name="Rectangle 77"/>
          <p:cNvSpPr>
            <a:spLocks noChangeArrowheads="1"/>
          </p:cNvSpPr>
          <p:nvPr/>
        </p:nvSpPr>
        <p:spPr bwMode="auto">
          <a:xfrm>
            <a:off x="1936750" y="4803775"/>
            <a:ext cx="777875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8" name="Text Box 78"/>
          <p:cNvSpPr txBox="1">
            <a:spLocks noChangeArrowheads="1"/>
          </p:cNvSpPr>
          <p:nvPr/>
        </p:nvSpPr>
        <p:spPr bwMode="auto">
          <a:xfrm>
            <a:off x="1706563" y="4770438"/>
            <a:ext cx="12731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req_conn(x)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899" name="Rectangle 79"/>
          <p:cNvSpPr>
            <a:spLocks noChangeArrowheads="1"/>
          </p:cNvSpPr>
          <p:nvPr/>
        </p:nvSpPr>
        <p:spPr bwMode="auto">
          <a:xfrm>
            <a:off x="2114550" y="5227638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0" name="Text Box 81"/>
          <p:cNvSpPr txBox="1">
            <a:spLocks noChangeArrowheads="1"/>
          </p:cNvSpPr>
          <p:nvPr/>
        </p:nvSpPr>
        <p:spPr bwMode="auto">
          <a:xfrm>
            <a:off x="3109913" y="5038725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1" name="Text Box 82"/>
          <p:cNvSpPr txBox="1">
            <a:spLocks noChangeArrowheads="1"/>
          </p:cNvSpPr>
          <p:nvPr/>
        </p:nvSpPr>
        <p:spPr bwMode="auto">
          <a:xfrm>
            <a:off x="717550" y="5372100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2" name="Oval 83"/>
          <p:cNvSpPr>
            <a:spLocks noChangeArrowheads="1"/>
          </p:cNvSpPr>
          <p:nvPr/>
        </p:nvSpPr>
        <p:spPr bwMode="auto">
          <a:xfrm>
            <a:off x="1528763" y="5489575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3" name="Oval 84"/>
          <p:cNvSpPr>
            <a:spLocks noChangeArrowheads="1"/>
          </p:cNvSpPr>
          <p:nvPr/>
        </p:nvSpPr>
        <p:spPr bwMode="auto">
          <a:xfrm>
            <a:off x="3057525" y="5146675"/>
            <a:ext cx="90488" cy="88900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4" name="Rectangle 86"/>
          <p:cNvSpPr>
            <a:spLocks noChangeArrowheads="1"/>
          </p:cNvSpPr>
          <p:nvPr/>
        </p:nvSpPr>
        <p:spPr bwMode="auto">
          <a:xfrm>
            <a:off x="1816100" y="5233988"/>
            <a:ext cx="1071563" cy="260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79905" name="Text Box 85"/>
          <p:cNvSpPr txBox="1">
            <a:spLocks noChangeArrowheads="1"/>
          </p:cNvSpPr>
          <p:nvPr/>
        </p:nvSpPr>
        <p:spPr bwMode="auto">
          <a:xfrm>
            <a:off x="1700213" y="5195888"/>
            <a:ext cx="12747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acc_conn(x)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pic>
        <p:nvPicPr>
          <p:cNvPr id="97313" name="Picture 90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479425" y="733425"/>
            <a:ext cx="6856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907" name="Rectangle 91"/>
          <p:cNvSpPr>
            <a:spLocks noGrp="1" noChangeArrowheads="1"/>
          </p:cNvSpPr>
          <p:nvPr>
            <p:ph type="title"/>
          </p:nvPr>
        </p:nvSpPr>
        <p:spPr>
          <a:xfrm>
            <a:off x="533400" y="133350"/>
            <a:ext cx="7772400" cy="8493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Agreeing to establish a connection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grpSp>
        <p:nvGrpSpPr>
          <p:cNvPr id="97315" name="Group 92"/>
          <p:cNvGrpSpPr/>
          <p:nvPr/>
        </p:nvGrpSpPr>
        <p:grpSpPr>
          <a:xfrm>
            <a:off x="1209675" y="4202113"/>
            <a:ext cx="574675" cy="520700"/>
            <a:chOff x="-44" y="1473"/>
            <a:chExt cx="981" cy="1105"/>
          </a:xfrm>
        </p:grpSpPr>
        <p:pic>
          <p:nvPicPr>
            <p:cNvPr id="97349" name="Picture 93" descr="desktop_computer_stylized_medium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7350" name="Freeform 9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7316" name="Group 95"/>
          <p:cNvGrpSpPr/>
          <p:nvPr/>
        </p:nvGrpSpPr>
        <p:grpSpPr>
          <a:xfrm>
            <a:off x="2971800" y="4183063"/>
            <a:ext cx="336550" cy="512762"/>
            <a:chOff x="4140" y="429"/>
            <a:chExt cx="1425" cy="2396"/>
          </a:xfrm>
        </p:grpSpPr>
        <p:sp>
          <p:nvSpPr>
            <p:cNvPr id="97317" name="Freeform 9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911" name="Rectangle 97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7319" name="Freeform 9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20" name="Freeform 9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914" name="Rectangle 100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7322" name="Group 101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940" name="AutoShape 102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9941" name="AutoShape 103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9916" name="Rectangle 104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7324" name="Group 105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938" name="AutoShape 106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9939" name="AutoShape 107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9918" name="Rectangle 108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9919" name="Rectangle 109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7327" name="Group 110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936" name="AutoShape 111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9937" name="AutoShape 112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97328" name="Freeform 11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7329" name="Group 114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934" name="AutoShape 115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79935" name="AutoShape 116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79923" name="Rectangle 117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7331" name="Freeform 11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32" name="Freeform 11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926" name="Oval 120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7334" name="Freeform 12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928" name="AutoShape 122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9929" name="AutoShape 123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9930" name="Oval 124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9931" name="Oval 125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79932" name="Oval 126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79933" name="Rectangle 127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089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98307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79425" y="733425"/>
            <a:ext cx="6856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90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33350"/>
            <a:ext cx="7772400" cy="8493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Agreeing to establish a connection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80902" name="Text Box 7"/>
          <p:cNvSpPr txBox="1">
            <a:spLocks noChangeArrowheads="1"/>
          </p:cNvSpPr>
          <p:nvPr/>
        </p:nvSpPr>
        <p:spPr bwMode="auto">
          <a:xfrm>
            <a:off x="595313" y="1076325"/>
            <a:ext cx="49291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2-way handshake failure scenarios: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0903" name="Line 25"/>
          <p:cNvSpPr>
            <a:spLocks noChangeShapeType="1"/>
          </p:cNvSpPr>
          <p:nvPr/>
        </p:nvSpPr>
        <p:spPr bwMode="auto">
          <a:xfrm flipH="1">
            <a:off x="1793875" y="2301875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0904" name="Line 39"/>
          <p:cNvSpPr>
            <a:spLocks noChangeShapeType="1"/>
          </p:cNvSpPr>
          <p:nvPr/>
        </p:nvSpPr>
        <p:spPr bwMode="auto">
          <a:xfrm flipH="1">
            <a:off x="3322638" y="2374900"/>
            <a:ext cx="1588" cy="3960813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93311" name="Group 95"/>
          <p:cNvGrpSpPr/>
          <p:nvPr/>
        </p:nvGrpSpPr>
        <p:grpSpPr>
          <a:xfrm>
            <a:off x="490538" y="2927350"/>
            <a:ext cx="3646487" cy="3549650"/>
            <a:chOff x="309" y="1844"/>
            <a:chExt cx="2297" cy="2236"/>
          </a:xfrm>
        </p:grpSpPr>
        <p:sp>
          <p:nvSpPr>
            <p:cNvPr id="81035" name="Text Box 42"/>
            <p:cNvSpPr txBox="1">
              <a:spLocks noChangeArrowheads="1"/>
            </p:cNvSpPr>
            <p:nvPr/>
          </p:nvSpPr>
          <p:spPr bwMode="auto">
            <a:xfrm>
              <a:off x="309" y="1844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retransmit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req_conn(x)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8443" name="Freeform 43"/>
            <p:cNvSpPr/>
            <p:nvPr/>
          </p:nvSpPr>
          <p:spPr>
            <a:xfrm>
              <a:off x="1137" y="2027"/>
              <a:ext cx="962" cy="1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6" y="234"/>
                </a:cxn>
                <a:cxn ang="0">
                  <a:pos x="467" y="1342"/>
                </a:cxn>
                <a:cxn ang="0">
                  <a:pos x="962" y="1612"/>
                </a:cxn>
              </a:cxnLst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037" name="Text Box 44"/>
            <p:cNvSpPr txBox="1">
              <a:spLocks noChangeArrowheads="1"/>
            </p:cNvSpPr>
            <p:nvPr/>
          </p:nvSpPr>
          <p:spPr bwMode="auto">
            <a:xfrm>
              <a:off x="2120" y="3517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38" name="Oval 45"/>
            <p:cNvSpPr>
              <a:spLocks noChangeArrowheads="1"/>
            </p:cNvSpPr>
            <p:nvPr/>
          </p:nvSpPr>
          <p:spPr bwMode="auto">
            <a:xfrm>
              <a:off x="2072" y="3597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8446" name="Group 46"/>
            <p:cNvGrpSpPr/>
            <p:nvPr/>
          </p:nvGrpSpPr>
          <p:grpSpPr>
            <a:xfrm>
              <a:off x="1198" y="2407"/>
              <a:ext cx="802" cy="212"/>
              <a:chOff x="1065" y="2085"/>
              <a:chExt cx="802" cy="212"/>
            </a:xfrm>
          </p:grpSpPr>
          <p:sp>
            <p:nvSpPr>
              <p:cNvPr id="81041" name="Rectangle 4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42" name="Text Box 48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req_conn(x)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1040" name="Text Box 49"/>
            <p:cNvSpPr txBox="1">
              <a:spLocks noChangeArrowheads="1"/>
            </p:cNvSpPr>
            <p:nvPr/>
          </p:nvSpPr>
          <p:spPr bwMode="auto">
            <a:xfrm>
              <a:off x="980" y="3714"/>
              <a:ext cx="1336" cy="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half open connection!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(no client!)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3309" name="Group 93"/>
          <p:cNvGrpSpPr/>
          <p:nvPr/>
        </p:nvGrpSpPr>
        <p:grpSpPr>
          <a:xfrm>
            <a:off x="622300" y="4456113"/>
            <a:ext cx="3830638" cy="715962"/>
            <a:chOff x="406" y="2807"/>
            <a:chExt cx="2413" cy="451"/>
          </a:xfrm>
        </p:grpSpPr>
        <p:sp>
          <p:nvSpPr>
            <p:cNvPr id="81031" name="Line 40"/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32" name="Text Box 83"/>
            <p:cNvSpPr txBox="1">
              <a:spLocks noChangeArrowheads="1"/>
            </p:cNvSpPr>
            <p:nvPr/>
          </p:nvSpPr>
          <p:spPr bwMode="auto">
            <a:xfrm>
              <a:off x="406" y="2937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client terminates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33" name="Text Box 84"/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server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forgets 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34" name="Text Box 85"/>
            <p:cNvSpPr txBox="1">
              <a:spLocks noChangeArrowheads="1"/>
            </p:cNvSpPr>
            <p:nvPr/>
          </p:nvSpPr>
          <p:spPr bwMode="auto">
            <a:xfrm>
              <a:off x="1269" y="2807"/>
              <a:ext cx="706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connection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x completes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3315" name="Group 99"/>
          <p:cNvGrpSpPr/>
          <p:nvPr/>
        </p:nvGrpSpPr>
        <p:grpSpPr>
          <a:xfrm>
            <a:off x="4810125" y="2914650"/>
            <a:ext cx="4048125" cy="3417888"/>
            <a:chOff x="3030" y="1831"/>
            <a:chExt cx="2550" cy="2153"/>
          </a:xfrm>
        </p:grpSpPr>
        <p:sp>
          <p:nvSpPr>
            <p:cNvPr id="81020" name="Text Box 69"/>
            <p:cNvSpPr txBox="1">
              <a:spLocks noChangeArrowheads="1"/>
            </p:cNvSpPr>
            <p:nvPr/>
          </p:nvSpPr>
          <p:spPr bwMode="auto">
            <a:xfrm>
              <a:off x="3030" y="1831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retransmit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req_conn(x)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8428" name="Freeform 70"/>
            <p:cNvSpPr/>
            <p:nvPr/>
          </p:nvSpPr>
          <p:spPr>
            <a:xfrm>
              <a:off x="3858" y="2021"/>
              <a:ext cx="962" cy="1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6" y="234"/>
                </a:cxn>
                <a:cxn ang="0">
                  <a:pos x="467" y="1342"/>
                </a:cxn>
                <a:cxn ang="0">
                  <a:pos x="962" y="1612"/>
                </a:cxn>
              </a:cxnLst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022" name="Text Box 71"/>
            <p:cNvSpPr txBox="1">
              <a:spLocks noChangeArrowheads="1"/>
            </p:cNvSpPr>
            <p:nvPr/>
          </p:nvSpPr>
          <p:spPr bwMode="auto">
            <a:xfrm>
              <a:off x="4841" y="350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23" name="Oval 72"/>
            <p:cNvSpPr>
              <a:spLocks noChangeArrowheads="1"/>
            </p:cNvSpPr>
            <p:nvPr/>
          </p:nvSpPr>
          <p:spPr bwMode="auto">
            <a:xfrm>
              <a:off x="4793" y="358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24" name="Rectangle 74"/>
            <p:cNvSpPr>
              <a:spLocks noChangeArrowheads="1"/>
            </p:cNvSpPr>
            <p:nvPr/>
          </p:nvSpPr>
          <p:spPr bwMode="auto">
            <a:xfrm>
              <a:off x="3991" y="3178"/>
              <a:ext cx="675" cy="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25" name="Text Box 75"/>
            <p:cNvSpPr txBox="1">
              <a:spLocks noChangeArrowheads="1"/>
            </p:cNvSpPr>
            <p:nvPr/>
          </p:nvSpPr>
          <p:spPr bwMode="auto">
            <a:xfrm>
              <a:off x="4059" y="3140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req_conn(x)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98433" name="Freeform 86"/>
            <p:cNvSpPr/>
            <p:nvPr/>
          </p:nvSpPr>
          <p:spPr>
            <a:xfrm>
              <a:off x="3847" y="2645"/>
              <a:ext cx="946" cy="119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199" y="164"/>
                </a:cxn>
                <a:cxn ang="0">
                  <a:pos x="320" y="960"/>
                </a:cxn>
                <a:cxn ang="0">
                  <a:pos x="946" y="1138"/>
                </a:cxn>
              </a:cxnLst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 cap="flat" cmpd="sng">
              <a:solidFill>
                <a:srgbClr val="000099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027" name="Rectangle 88"/>
            <p:cNvSpPr>
              <a:spLocks noChangeArrowheads="1"/>
            </p:cNvSpPr>
            <p:nvPr/>
          </p:nvSpPr>
          <p:spPr bwMode="auto">
            <a:xfrm>
              <a:off x="4068" y="3612"/>
              <a:ext cx="448" cy="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28" name="Text Box 87"/>
            <p:cNvSpPr txBox="1">
              <a:spLocks noChangeArrowheads="1"/>
            </p:cNvSpPr>
            <p:nvPr/>
          </p:nvSpPr>
          <p:spPr bwMode="auto">
            <a:xfrm>
              <a:off x="3870" y="3584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data(x+1)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29" name="Text Box 89"/>
            <p:cNvSpPr txBox="1">
              <a:spLocks noChangeArrowheads="1"/>
            </p:cNvSpPr>
            <p:nvPr/>
          </p:nvSpPr>
          <p:spPr bwMode="auto">
            <a:xfrm>
              <a:off x="3062" y="2494"/>
              <a:ext cx="802" cy="4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retransmit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data(x+1)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030" name="Text Box 90"/>
            <p:cNvSpPr txBox="1">
              <a:spLocks noChangeArrowheads="1"/>
            </p:cNvSpPr>
            <p:nvPr/>
          </p:nvSpPr>
          <p:spPr bwMode="auto">
            <a:xfrm>
              <a:off x="4842" y="3664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accept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data(x+1)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98315" name="Group 102"/>
          <p:cNvGrpSpPr/>
          <p:nvPr/>
        </p:nvGrpSpPr>
        <p:grpSpPr>
          <a:xfrm>
            <a:off x="768350" y="1746250"/>
            <a:ext cx="3389313" cy="2136775"/>
            <a:chOff x="484" y="1100"/>
            <a:chExt cx="2135" cy="1346"/>
          </a:xfrm>
        </p:grpSpPr>
        <p:sp>
          <p:nvSpPr>
            <p:cNvPr id="80971" name="Text Box 103"/>
            <p:cNvSpPr txBox="1">
              <a:spLocks noChangeArrowheads="1"/>
            </p:cNvSpPr>
            <p:nvPr/>
          </p:nvSpPr>
          <p:spPr bwMode="auto">
            <a:xfrm>
              <a:off x="484" y="1393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choose 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2" name="Line 104"/>
            <p:cNvSpPr>
              <a:spLocks noChangeShapeType="1"/>
            </p:cNvSpPr>
            <p:nvPr/>
          </p:nvSpPr>
          <p:spPr bwMode="auto">
            <a:xfrm>
              <a:off x="1159" y="1516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3" name="Line 105"/>
            <p:cNvSpPr>
              <a:spLocks noChangeShapeType="1"/>
            </p:cNvSpPr>
            <p:nvPr/>
          </p:nvSpPr>
          <p:spPr bwMode="auto">
            <a:xfrm flipH="1">
              <a:off x="1121" y="1739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4" name="Rectangle 106"/>
            <p:cNvSpPr>
              <a:spLocks noChangeArrowheads="1"/>
            </p:cNvSpPr>
            <p:nvPr/>
          </p:nvSpPr>
          <p:spPr bwMode="auto">
            <a:xfrm>
              <a:off x="1359" y="1507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5" name="Text Box 107"/>
            <p:cNvSpPr txBox="1">
              <a:spLocks noChangeArrowheads="1"/>
            </p:cNvSpPr>
            <p:nvPr/>
          </p:nvSpPr>
          <p:spPr bwMode="auto">
            <a:xfrm>
              <a:off x="1214" y="1486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req_conn(x)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6" name="Rectangle 108"/>
            <p:cNvSpPr>
              <a:spLocks noChangeArrowheads="1"/>
            </p:cNvSpPr>
            <p:nvPr/>
          </p:nvSpPr>
          <p:spPr bwMode="auto">
            <a:xfrm>
              <a:off x="1471" y="1774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7" name="Text Box 109"/>
            <p:cNvSpPr txBox="1">
              <a:spLocks noChangeArrowheads="1"/>
            </p:cNvSpPr>
            <p:nvPr/>
          </p:nvSpPr>
          <p:spPr bwMode="auto">
            <a:xfrm>
              <a:off x="2133" y="1649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8" name="Text Box 110"/>
            <p:cNvSpPr txBox="1">
              <a:spLocks noChangeArrowheads="1"/>
            </p:cNvSpPr>
            <p:nvPr/>
          </p:nvSpPr>
          <p:spPr bwMode="auto">
            <a:xfrm>
              <a:off x="583" y="223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79" name="Oval 111"/>
            <p:cNvSpPr>
              <a:spLocks noChangeArrowheads="1"/>
            </p:cNvSpPr>
            <p:nvPr/>
          </p:nvSpPr>
          <p:spPr bwMode="auto">
            <a:xfrm>
              <a:off x="1095" y="2298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80" name="Oval 112"/>
            <p:cNvSpPr>
              <a:spLocks noChangeArrowheads="1"/>
            </p:cNvSpPr>
            <p:nvPr/>
          </p:nvSpPr>
          <p:spPr bwMode="auto">
            <a:xfrm>
              <a:off x="2065" y="1723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8388" name="Group 113"/>
            <p:cNvGrpSpPr/>
            <p:nvPr/>
          </p:nvGrpSpPr>
          <p:grpSpPr>
            <a:xfrm>
              <a:off x="1277" y="1861"/>
              <a:ext cx="803" cy="212"/>
              <a:chOff x="1065" y="2085"/>
              <a:chExt cx="803" cy="212"/>
            </a:xfrm>
          </p:grpSpPr>
          <p:sp>
            <p:nvSpPr>
              <p:cNvPr id="81018" name="Rectangle 114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19" name="Text Box 115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acc_conn(x)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98389" name="Group 116"/>
            <p:cNvGrpSpPr/>
            <p:nvPr/>
          </p:nvGrpSpPr>
          <p:grpSpPr>
            <a:xfrm>
              <a:off x="834" y="1112"/>
              <a:ext cx="391" cy="307"/>
              <a:chOff x="-44" y="1473"/>
              <a:chExt cx="981" cy="1105"/>
            </a:xfrm>
          </p:grpSpPr>
          <p:pic>
            <p:nvPicPr>
              <p:cNvPr id="98423" name="Picture 117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8424" name="Freeform 11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595" y="341"/>
                  </a:cxn>
                  <a:cxn ang="0">
                    <a:pos x="6638" y="7113"/>
                  </a:cxn>
                  <a:cxn ang="0">
                    <a:pos x="1463" y="8895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8390" name="Group 119"/>
            <p:cNvGrpSpPr/>
            <p:nvPr/>
          </p:nvGrpSpPr>
          <p:grpSpPr>
            <a:xfrm>
              <a:off x="1973" y="1100"/>
              <a:ext cx="212" cy="323"/>
              <a:chOff x="4140" y="429"/>
              <a:chExt cx="1425" cy="2396"/>
            </a:xfrm>
          </p:grpSpPr>
          <p:sp>
            <p:nvSpPr>
              <p:cNvPr id="98391" name="Freeform 12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85" name="Rectangle 121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393" name="Freeform 12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94" name="Freeform 12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88" name="Rectangle 124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396" name="Group 125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1014" name="AutoShape 126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015" name="AutoShape 127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90" name="Rectangle 128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398" name="Group 129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1012" name="AutoShape 130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013" name="AutoShape 131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92" name="Rectangle 132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93" name="Rectangle 133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401" name="Group 134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1010" name="AutoShape 135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011" name="AutoShape 136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98402" name="Freeform 13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98403" name="Group 138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1008" name="AutoShape 139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009" name="AutoShape 140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97" name="Rectangle 141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405" name="Freeform 1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406" name="Freeform 143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000" name="Oval 144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408" name="Freeform 14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002" name="AutoShape 146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03" name="AutoShape 147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04" name="Oval 148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05" name="Oval 149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81006" name="Oval 150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007" name="Rectangle 151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393368" name="Group 152"/>
          <p:cNvGrpSpPr/>
          <p:nvPr/>
        </p:nvGrpSpPr>
        <p:grpSpPr>
          <a:xfrm>
            <a:off x="5000625" y="1757363"/>
            <a:ext cx="3933825" cy="4568825"/>
            <a:chOff x="3150" y="1107"/>
            <a:chExt cx="2478" cy="2878"/>
          </a:xfrm>
        </p:grpSpPr>
        <p:sp>
          <p:nvSpPr>
            <p:cNvPr id="80910" name="Line 153"/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1" name="Text Box 154"/>
            <p:cNvSpPr txBox="1">
              <a:spLocks noChangeArrowheads="1"/>
            </p:cNvSpPr>
            <p:nvPr/>
          </p:nvSpPr>
          <p:spPr bwMode="auto">
            <a:xfrm>
              <a:off x="3150" y="298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client terminates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2" name="Line 155"/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3" name="Line 156"/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4" name="Rectangle 157"/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5" name="Text Box 158"/>
            <p:cNvSpPr txBox="1">
              <a:spLocks noChangeArrowheads="1"/>
            </p:cNvSpPr>
            <p:nvPr/>
          </p:nvSpPr>
          <p:spPr bwMode="auto">
            <a:xfrm>
              <a:off x="3312" y="2221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6" name="Oval 159"/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7" name="Text Box 160"/>
            <p:cNvSpPr txBox="1">
              <a:spLocks noChangeArrowheads="1"/>
            </p:cNvSpPr>
            <p:nvPr/>
          </p:nvSpPr>
          <p:spPr bwMode="auto">
            <a:xfrm>
              <a:off x="3213" y="1380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choose 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8" name="Line 161"/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19" name="Rectangle 162"/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0" name="Text Box 163"/>
            <p:cNvSpPr txBox="1">
              <a:spLocks noChangeArrowheads="1"/>
            </p:cNvSpPr>
            <p:nvPr/>
          </p:nvSpPr>
          <p:spPr bwMode="auto">
            <a:xfrm>
              <a:off x="3943" y="1473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req_conn(x)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1" name="Text Box 164"/>
            <p:cNvSpPr txBox="1">
              <a:spLocks noChangeArrowheads="1"/>
            </p:cNvSpPr>
            <p:nvPr/>
          </p:nvSpPr>
          <p:spPr bwMode="auto">
            <a:xfrm>
              <a:off x="4862" y="1636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2" name="Oval 165"/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8330" name="Group 166"/>
            <p:cNvGrpSpPr/>
            <p:nvPr/>
          </p:nvGrpSpPr>
          <p:grpSpPr>
            <a:xfrm>
              <a:off x="4006" y="1848"/>
              <a:ext cx="803" cy="212"/>
              <a:chOff x="1065" y="2085"/>
              <a:chExt cx="803" cy="212"/>
            </a:xfrm>
          </p:grpSpPr>
          <p:sp>
            <p:nvSpPr>
              <p:cNvPr id="80969" name="Rectangle 167"/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70" name="Text Box 168"/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acc_conn(x)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0924" name="Line 169"/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5" name="Rectangle 170"/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6" name="Text Box 171"/>
            <p:cNvSpPr txBox="1">
              <a:spLocks noChangeArrowheads="1"/>
            </p:cNvSpPr>
            <p:nvPr/>
          </p:nvSpPr>
          <p:spPr bwMode="auto">
            <a:xfrm>
              <a:off x="3989" y="2315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data(x+1)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7" name="Oval 172"/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0928" name="Text Box 173"/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accept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data(x+1)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8336" name="Group 174"/>
            <p:cNvGrpSpPr/>
            <p:nvPr/>
          </p:nvGrpSpPr>
          <p:grpSpPr>
            <a:xfrm>
              <a:off x="3826" y="2803"/>
              <a:ext cx="1515" cy="300"/>
              <a:chOff x="3818" y="2796"/>
              <a:chExt cx="1515" cy="300"/>
            </a:xfrm>
          </p:grpSpPr>
          <p:sp>
            <p:nvSpPr>
              <p:cNvPr id="80967" name="Line 175"/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68" name="Text Box 176"/>
              <p:cNvSpPr txBox="1">
                <a:spLocks noChangeArrowheads="1"/>
              </p:cNvSpPr>
              <p:nvPr/>
            </p:nvSpPr>
            <p:spPr bwMode="auto">
              <a:xfrm>
                <a:off x="3989" y="2796"/>
                <a:ext cx="706" cy="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connection </a:t>
                </a:r>
                <a:endPara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x completes</a:t>
                </a:r>
                <a:endPara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0930" name="Text Box 177"/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server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forgets 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8338" name="Group 178"/>
            <p:cNvGrpSpPr/>
            <p:nvPr/>
          </p:nvGrpSpPr>
          <p:grpSpPr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98372" name="Picture 179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8373" name="Freeform 18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595" y="341"/>
                  </a:cxn>
                  <a:cxn ang="0">
                    <a:pos x="6638" y="7113"/>
                  </a:cxn>
                  <a:cxn ang="0">
                    <a:pos x="1463" y="8895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8339" name="Group 181"/>
            <p:cNvGrpSpPr/>
            <p:nvPr/>
          </p:nvGrpSpPr>
          <p:grpSpPr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98340" name="Freeform 18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34" name="Rectangle 18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342" name="Freeform 18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43" name="Freeform 18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37" name="Rectangle 18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345" name="Group 187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0963" name="AutoShape 18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0964" name="AutoShape 18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39" name="Rectangle 19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347" name="Group 191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0961" name="AutoShape 19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0962" name="AutoShape 19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41" name="Rectangle 19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42" name="Rectangle 19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8350" name="Group 196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0959" name="AutoShape 19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0960" name="AutoShape 19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98351" name="Freeform 19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98352" name="Group 200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0957" name="AutoShape 20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0958" name="AutoShape 20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0946" name="Rectangle 20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354" name="Freeform 20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8355" name="Freeform 205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49" name="Oval 20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8357" name="Freeform 2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0951" name="AutoShape 20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52" name="AutoShape 20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53" name="Oval 21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54" name="Oval 21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80955" name="Oval 21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0956" name="Rectangle 21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9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9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192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99331" name="Picture 8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779463"/>
            <a:ext cx="45704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5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3" y="166688"/>
            <a:ext cx="5356225" cy="8493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3-way handshake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81926" name="Line 5"/>
          <p:cNvSpPr>
            <a:spLocks noChangeShapeType="1"/>
          </p:cNvSpPr>
          <p:nvPr/>
        </p:nvSpPr>
        <p:spPr bwMode="auto">
          <a:xfrm flipH="1">
            <a:off x="3282950" y="2314575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94342" name="Group 102"/>
          <p:cNvGrpSpPr/>
          <p:nvPr/>
        </p:nvGrpSpPr>
        <p:grpSpPr>
          <a:xfrm>
            <a:off x="1296988" y="2241550"/>
            <a:ext cx="4494212" cy="955675"/>
            <a:chOff x="810" y="1363"/>
            <a:chExt cx="2831" cy="602"/>
          </a:xfrm>
        </p:grpSpPr>
        <p:sp>
          <p:nvSpPr>
            <p:cNvPr id="81992" name="Line 10"/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93" name="Rectangle 12"/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94" name="Text Box 13"/>
            <p:cNvSpPr txBox="1">
              <a:spLocks noChangeArrowheads="1"/>
            </p:cNvSpPr>
            <p:nvPr/>
          </p:nvSpPr>
          <p:spPr bwMode="auto">
            <a:xfrm>
              <a:off x="2310" y="1624"/>
              <a:ext cx="109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SYNbit=1, Seq=x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95" name="Text Box 21"/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choose init seq num, x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TCP SYN msg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1928" name="Line 22"/>
          <p:cNvSpPr>
            <a:spLocks noChangeShapeType="1"/>
          </p:cNvSpPr>
          <p:nvPr/>
        </p:nvSpPr>
        <p:spPr bwMode="auto">
          <a:xfrm flipH="1">
            <a:off x="5872163" y="2384425"/>
            <a:ext cx="1588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394332" name="Text Box 92"/>
          <p:cNvSpPr txBox="1">
            <a:spLocks noChangeArrowheads="1"/>
          </p:cNvSpPr>
          <p:nvPr/>
        </p:nvSpPr>
        <p:spPr bwMode="auto">
          <a:xfrm>
            <a:off x="8058150" y="5222875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94349" name="Group 109"/>
          <p:cNvGrpSpPr/>
          <p:nvPr/>
        </p:nvGrpSpPr>
        <p:grpSpPr>
          <a:xfrm>
            <a:off x="3281363" y="2911475"/>
            <a:ext cx="4519612" cy="1425575"/>
            <a:chOff x="2060" y="1785"/>
            <a:chExt cx="2847" cy="898"/>
          </a:xfrm>
        </p:grpSpPr>
        <p:sp>
          <p:nvSpPr>
            <p:cNvPr id="81988" name="Line 11"/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9" name="Rectangle 14"/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90" name="Text Box 83"/>
            <p:cNvSpPr txBox="1">
              <a:spLocks noChangeArrowheads="1"/>
            </p:cNvSpPr>
            <p:nvPr/>
          </p:nvSpPr>
          <p:spPr bwMode="auto">
            <a:xfrm>
              <a:off x="2159" y="2169"/>
              <a:ext cx="1534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SYNbit=1, Seq=y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ACKbit=1; ACKnum=x+1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91" name="Text Box 93"/>
            <p:cNvSpPr txBox="1">
              <a:spLocks noChangeArrowheads="1"/>
            </p:cNvSpPr>
            <p:nvPr/>
          </p:nvSpPr>
          <p:spPr bwMode="auto">
            <a:xfrm>
              <a:off x="3676" y="1785"/>
              <a:ext cx="1231" cy="4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choose init seq num, y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TCP SYNACK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msg, acking SYN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4350" name="Group 110"/>
          <p:cNvGrpSpPr/>
          <p:nvPr/>
        </p:nvGrpSpPr>
        <p:grpSpPr>
          <a:xfrm>
            <a:off x="998538" y="4010025"/>
            <a:ext cx="6630987" cy="1373188"/>
            <a:chOff x="622" y="2477"/>
            <a:chExt cx="4177" cy="865"/>
          </a:xfrm>
        </p:grpSpPr>
        <p:sp>
          <p:nvSpPr>
            <p:cNvPr id="81983" name="Line 84"/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4" name="Rectangle 89"/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5" name="Text Box 90"/>
            <p:cNvSpPr txBox="1">
              <a:spLocks noChangeArrowheads="1"/>
            </p:cNvSpPr>
            <p:nvPr/>
          </p:nvSpPr>
          <p:spPr bwMode="auto">
            <a:xfrm>
              <a:off x="2092" y="285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ACKbit=1, ACKnum=y+1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6" name="Text Box 94"/>
            <p:cNvSpPr txBox="1">
              <a:spLocks noChangeArrowheads="1"/>
            </p:cNvSpPr>
            <p:nvPr/>
          </p:nvSpPr>
          <p:spPr bwMode="auto">
            <a:xfrm>
              <a:off x="622" y="2477"/>
              <a:ext cx="1422" cy="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received SYNACK(x)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indicates server is live;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ACK for SYNACK;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this segment may contain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client-to-server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7" name="Text Box 95"/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received ACK(y)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indicates client is live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4345" name="Group 105"/>
          <p:cNvGrpSpPr/>
          <p:nvPr/>
        </p:nvGrpSpPr>
        <p:grpSpPr>
          <a:xfrm>
            <a:off x="300038" y="2279650"/>
            <a:ext cx="1030287" cy="700088"/>
            <a:chOff x="182" y="1387"/>
            <a:chExt cx="649" cy="441"/>
          </a:xfrm>
        </p:grpSpPr>
        <p:sp>
          <p:nvSpPr>
            <p:cNvPr id="81981" name="Text Box 91"/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SYNSENT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2" name="Line 103"/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4351" name="Group 111"/>
          <p:cNvGrpSpPr/>
          <p:nvPr/>
        </p:nvGrpSpPr>
        <p:grpSpPr>
          <a:xfrm>
            <a:off x="301625" y="2940050"/>
            <a:ext cx="771525" cy="1622425"/>
            <a:chOff x="183" y="1803"/>
            <a:chExt cx="486" cy="1022"/>
          </a:xfrm>
        </p:grpSpPr>
        <p:sp>
          <p:nvSpPr>
            <p:cNvPr id="81979" name="Text Box 16"/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ESTAB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80" name="Line 104"/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4348" name="Group 108"/>
          <p:cNvGrpSpPr/>
          <p:nvPr/>
        </p:nvGrpSpPr>
        <p:grpSpPr>
          <a:xfrm>
            <a:off x="7754938" y="2335213"/>
            <a:ext cx="1119187" cy="1192212"/>
            <a:chOff x="4878" y="1422"/>
            <a:chExt cx="705" cy="751"/>
          </a:xfrm>
        </p:grpSpPr>
        <p:sp>
          <p:nvSpPr>
            <p:cNvPr id="81977" name="Text Box 99"/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SYN RCVD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78" name="Line 106"/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394347" name="Line 107"/>
          <p:cNvSpPr>
            <a:spLocks noChangeShapeType="1"/>
          </p:cNvSpPr>
          <p:nvPr/>
        </p:nvSpPr>
        <p:spPr bwMode="auto">
          <a:xfrm>
            <a:off x="8469313" y="3536950"/>
            <a:ext cx="0" cy="170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99343" name="Group 113"/>
          <p:cNvGrpSpPr/>
          <p:nvPr/>
        </p:nvGrpSpPr>
        <p:grpSpPr>
          <a:xfrm>
            <a:off x="306388" y="1590675"/>
            <a:ext cx="8551862" cy="736600"/>
            <a:chOff x="193" y="1002"/>
            <a:chExt cx="5387" cy="464"/>
          </a:xfrm>
        </p:grpSpPr>
        <p:sp>
          <p:nvSpPr>
            <p:cNvPr id="81937" name="Text Box 114"/>
            <p:cNvSpPr txBox="1">
              <a:spLocks noChangeArrowheads="1"/>
            </p:cNvSpPr>
            <p:nvPr/>
          </p:nvSpPr>
          <p:spPr bwMode="auto">
            <a:xfrm>
              <a:off x="195" y="1002"/>
              <a:ext cx="731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client state</a:t>
              </a: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38" name="Text Box 115"/>
            <p:cNvSpPr txBox="1">
              <a:spLocks noChangeArrowheads="1"/>
            </p:cNvSpPr>
            <p:nvPr/>
          </p:nvSpPr>
          <p:spPr bwMode="auto">
            <a:xfrm>
              <a:off x="193" y="1243"/>
              <a:ext cx="53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LISTEN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39" name="Text Box 116"/>
            <p:cNvSpPr txBox="1">
              <a:spLocks noChangeArrowheads="1"/>
            </p:cNvSpPr>
            <p:nvPr/>
          </p:nvSpPr>
          <p:spPr bwMode="auto">
            <a:xfrm>
              <a:off x="4800" y="1013"/>
              <a:ext cx="780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server state</a:t>
              </a: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1940" name="Text Box 117"/>
            <p:cNvSpPr txBox="1">
              <a:spLocks noChangeArrowheads="1"/>
            </p:cNvSpPr>
            <p:nvPr/>
          </p:nvSpPr>
          <p:spPr bwMode="auto">
            <a:xfrm>
              <a:off x="5038" y="1254"/>
              <a:ext cx="53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LISTEN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99348" name="Group 118"/>
            <p:cNvGrpSpPr/>
            <p:nvPr/>
          </p:nvGrpSpPr>
          <p:grpSpPr>
            <a:xfrm>
              <a:off x="1914" y="1049"/>
              <a:ext cx="405" cy="378"/>
              <a:chOff x="-44" y="1473"/>
              <a:chExt cx="981" cy="1105"/>
            </a:xfrm>
          </p:grpSpPr>
          <p:pic>
            <p:nvPicPr>
              <p:cNvPr id="99382" name="Picture 119" descr="desktop_computer_stylized_medium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9383" name="Freeform 1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595" y="341"/>
                  </a:cxn>
                  <a:cxn ang="0">
                    <a:pos x="6638" y="7113"/>
                  </a:cxn>
                  <a:cxn ang="0">
                    <a:pos x="1463" y="8895"/>
                  </a:cxn>
                  <a:cxn ang="0">
                    <a:pos x="0" y="0"/>
                  </a:cxn>
                </a:cxnLst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9349" name="Group 121"/>
            <p:cNvGrpSpPr/>
            <p:nvPr/>
          </p:nvGrpSpPr>
          <p:grpSpPr>
            <a:xfrm>
              <a:off x="3572" y="1051"/>
              <a:ext cx="212" cy="323"/>
              <a:chOff x="4140" y="429"/>
              <a:chExt cx="1425" cy="2396"/>
            </a:xfrm>
          </p:grpSpPr>
          <p:sp>
            <p:nvSpPr>
              <p:cNvPr id="99350" name="Freeform 12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8" y="55"/>
                  </a:cxn>
                  <a:cxn ang="0">
                    <a:pos x="37" y="425"/>
                  </a:cxn>
                  <a:cxn ang="0">
                    <a:pos x="0" y="445"/>
                  </a:cxn>
                  <a:cxn ang="0">
                    <a:pos x="7" y="0"/>
                  </a:cxn>
                </a:cxnLst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rgbClr val="333333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44" name="Rectangle 12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9352" name="Freeform 12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3" y="36"/>
                  </a:cxn>
                  <a:cxn ang="0">
                    <a:pos x="2" y="405"/>
                  </a:cxn>
                  <a:cxn ang="0">
                    <a:pos x="2" y="0"/>
                  </a:cxn>
                </a:cxnLst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>
                      <a:alpha val="100000"/>
                    </a:srgbClr>
                  </a:gs>
                  <a:gs pos="100000">
                    <a:srgbClr val="F8F8F8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9353" name="Freeform 12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1"/>
                  </a:cxn>
                  <a:cxn ang="0">
                    <a:pos x="36" y="38"/>
                  </a:cxn>
                  <a:cxn ang="0">
                    <a:pos x="0" y="16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47" name="Rectangle 12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9355" name="Group 127"/>
              <p:cNvGrpSpPr/>
              <p:nvPr/>
            </p:nvGrpSpPr>
            <p:grpSpPr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1973" name="AutoShape 12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974" name="AutoShape 12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1949" name="Rectangle 13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9357" name="Group 131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1971" name="AutoShape 13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972" name="AutoShape 13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1951" name="Rectangle 13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952" name="Rectangle 13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99360" name="Group 136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1969" name="AutoShape 13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970" name="AutoShape 13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99361" name="Freeform 13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6" y="20"/>
                  </a:cxn>
                  <a:cxn ang="0">
                    <a:pos x="36" y="36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99362" name="Group 140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1967" name="AutoShape 14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81968" name="AutoShape 14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81956" name="Rectangle 14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9364" name="Freeform 14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32" y="22"/>
                  </a:cxn>
                  <a:cxn ang="0">
                    <a:pos x="32" y="41"/>
                  </a:cxn>
                  <a:cxn ang="0">
                    <a:pos x="0" y="15"/>
                  </a:cxn>
                  <a:cxn ang="0">
                    <a:pos x="2" y="0"/>
                  </a:cxn>
                </a:cxnLst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9365" name="Freeform 145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" y="27"/>
                  </a:cxn>
                  <a:cxn ang="0">
                    <a:pos x="31" y="48"/>
                  </a:cxn>
                  <a:cxn ang="0">
                    <a:pos x="2" y="20"/>
                  </a:cxn>
                  <a:cxn ang="0">
                    <a:pos x="0" y="0"/>
                  </a:cxn>
                </a:cxnLst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59" name="Oval 14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99367" name="Freeform 14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" y="40"/>
                  </a:cxn>
                  <a:cxn ang="0">
                    <a:pos x="34" y="18"/>
                  </a:cxn>
                  <a:cxn ang="0">
                    <a:pos x="32" y="0"/>
                  </a:cxn>
                  <a:cxn ang="0">
                    <a:pos x="0" y="18"/>
                  </a:cxn>
                </a:cxnLst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61" name="AutoShape 14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962" name="AutoShape 14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963" name="Oval 15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964" name="Oval 15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81965" name="Oval 15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1966" name="Rectangle 15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9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9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33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4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3" y="166688"/>
            <a:ext cx="5356225" cy="8493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3-way handshake: FSM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100356" name="Picture 40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27050" y="827088"/>
            <a:ext cx="59420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0357" name="Group 47"/>
          <p:cNvGrpSpPr/>
          <p:nvPr/>
        </p:nvGrpSpPr>
        <p:grpSpPr>
          <a:xfrm>
            <a:off x="3690938" y="1246188"/>
            <a:ext cx="876300" cy="827087"/>
            <a:chOff x="1778" y="1720"/>
            <a:chExt cx="722" cy="642"/>
          </a:xfrm>
        </p:grpSpPr>
        <p:sp>
          <p:nvSpPr>
            <p:cNvPr id="82988" name="Oval 41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89" name="Oval 42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2951" name="Text Box 43"/>
          <p:cNvSpPr txBox="1">
            <a:spLocks noChangeArrowheads="1"/>
          </p:cNvSpPr>
          <p:nvPr/>
        </p:nvSpPr>
        <p:spPr bwMode="auto">
          <a:xfrm>
            <a:off x="3686175" y="1466850"/>
            <a:ext cx="8445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closed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82952" name="Text Box 46"/>
          <p:cNvSpPr txBox="1">
            <a:spLocks noChangeArrowheads="1"/>
          </p:cNvSpPr>
          <p:nvPr/>
        </p:nvSpPr>
        <p:spPr bwMode="auto">
          <a:xfrm>
            <a:off x="3597275" y="2498725"/>
            <a:ext cx="3413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  <p:grpSp>
        <p:nvGrpSpPr>
          <p:cNvPr id="100360" name="Group 48"/>
          <p:cNvGrpSpPr/>
          <p:nvPr/>
        </p:nvGrpSpPr>
        <p:grpSpPr>
          <a:xfrm>
            <a:off x="3652838" y="3175000"/>
            <a:ext cx="876300" cy="827088"/>
            <a:chOff x="1778" y="1720"/>
            <a:chExt cx="722" cy="642"/>
          </a:xfrm>
        </p:grpSpPr>
        <p:sp>
          <p:nvSpPr>
            <p:cNvPr id="82986" name="Oval 49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87" name="Oval 50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2954" name="Text Box 51"/>
          <p:cNvSpPr txBox="1">
            <a:spLocks noChangeArrowheads="1"/>
          </p:cNvSpPr>
          <p:nvPr/>
        </p:nvSpPr>
        <p:spPr bwMode="auto">
          <a:xfrm>
            <a:off x="3711575" y="3395663"/>
            <a:ext cx="7175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listen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100362" name="Group 52"/>
          <p:cNvGrpSpPr/>
          <p:nvPr/>
        </p:nvGrpSpPr>
        <p:grpSpPr>
          <a:xfrm>
            <a:off x="1643063" y="4227513"/>
            <a:ext cx="876300" cy="827087"/>
            <a:chOff x="1778" y="1720"/>
            <a:chExt cx="722" cy="642"/>
          </a:xfrm>
        </p:grpSpPr>
        <p:sp>
          <p:nvSpPr>
            <p:cNvPr id="82984" name="Oval 53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85" name="Oval 54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2956" name="Text Box 55"/>
          <p:cNvSpPr txBox="1">
            <a:spLocks noChangeArrowheads="1"/>
          </p:cNvSpPr>
          <p:nvPr/>
        </p:nvSpPr>
        <p:spPr bwMode="auto">
          <a:xfrm>
            <a:off x="1733550" y="4425950"/>
            <a:ext cx="6540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SYN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rcvd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100364" name="Group 56"/>
          <p:cNvGrpSpPr/>
          <p:nvPr/>
        </p:nvGrpSpPr>
        <p:grpSpPr>
          <a:xfrm>
            <a:off x="5119688" y="4189413"/>
            <a:ext cx="876300" cy="827087"/>
            <a:chOff x="1778" y="1720"/>
            <a:chExt cx="722" cy="642"/>
          </a:xfrm>
        </p:grpSpPr>
        <p:sp>
          <p:nvSpPr>
            <p:cNvPr id="82982" name="Oval 57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83" name="Oval 58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2958" name="Text Box 59"/>
          <p:cNvSpPr txBox="1">
            <a:spLocks noChangeArrowheads="1"/>
          </p:cNvSpPr>
          <p:nvPr/>
        </p:nvSpPr>
        <p:spPr bwMode="auto">
          <a:xfrm>
            <a:off x="5210175" y="4387850"/>
            <a:ext cx="6540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SYN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sent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100366" name="Group 60"/>
          <p:cNvGrpSpPr/>
          <p:nvPr/>
        </p:nvGrpSpPr>
        <p:grpSpPr>
          <a:xfrm>
            <a:off x="3686175" y="5060950"/>
            <a:ext cx="876300" cy="827088"/>
            <a:chOff x="1778" y="1720"/>
            <a:chExt cx="722" cy="642"/>
          </a:xfrm>
        </p:grpSpPr>
        <p:sp>
          <p:nvSpPr>
            <p:cNvPr id="82980" name="Oval 61"/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2981" name="Oval 62"/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2960" name="Text Box 63"/>
          <p:cNvSpPr txBox="1">
            <a:spLocks noChangeArrowheads="1"/>
          </p:cNvSpPr>
          <p:nvPr/>
        </p:nvSpPr>
        <p:spPr bwMode="auto">
          <a:xfrm>
            <a:off x="3648075" y="5348288"/>
            <a:ext cx="93345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ESTAB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82961" name="Text Box 66"/>
          <p:cNvSpPr txBox="1">
            <a:spLocks noChangeArrowheads="1"/>
          </p:cNvSpPr>
          <p:nvPr/>
        </p:nvSpPr>
        <p:spPr bwMode="auto">
          <a:xfrm>
            <a:off x="5526088" y="2687638"/>
            <a:ext cx="2894013" cy="6397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Socket clientSocket =   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 newSocket("hostname","port number");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82962" name="Line 67"/>
          <p:cNvSpPr>
            <a:spLocks noChangeShapeType="1"/>
          </p:cNvSpPr>
          <p:nvPr/>
        </p:nvSpPr>
        <p:spPr bwMode="auto">
          <a:xfrm>
            <a:off x="5656263" y="3317875"/>
            <a:ext cx="2528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63" name="Text Box 68"/>
          <p:cNvSpPr txBox="1">
            <a:spLocks noChangeArrowheads="1"/>
          </p:cNvSpPr>
          <p:nvPr/>
        </p:nvSpPr>
        <p:spPr bwMode="auto">
          <a:xfrm>
            <a:off x="5621338" y="3351213"/>
            <a:ext cx="12620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SYN(seq=x)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0371" name="Freeform 69"/>
          <p:cNvSpPr/>
          <p:nvPr/>
        </p:nvSpPr>
        <p:spPr>
          <a:xfrm>
            <a:off x="4583113" y="1727200"/>
            <a:ext cx="914400" cy="2384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576" h="1138">
                <a:moveTo>
                  <a:pt x="0" y="0"/>
                </a:moveTo>
                <a:lnTo>
                  <a:pt x="576" y="0"/>
                </a:lnTo>
                <a:lnTo>
                  <a:pt x="576" y="1138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65" name="Line 70"/>
          <p:cNvSpPr>
            <a:spLocks noChangeShapeType="1"/>
          </p:cNvSpPr>
          <p:nvPr/>
        </p:nvSpPr>
        <p:spPr bwMode="auto">
          <a:xfrm>
            <a:off x="4075113" y="2133600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66" name="Text Box 71"/>
          <p:cNvSpPr txBox="1">
            <a:spLocks noChangeArrowheads="1"/>
          </p:cNvSpPr>
          <p:nvPr/>
        </p:nvSpPr>
        <p:spPr bwMode="auto">
          <a:xfrm>
            <a:off x="1524000" y="2074863"/>
            <a:ext cx="2578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Socket connectionSocket = welcomeSocket.accept();</a:t>
            </a:r>
            <a:endParaRPr kumimoji="0" 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82967" name="Line 72"/>
          <p:cNvSpPr>
            <a:spLocks noChangeShapeType="1"/>
          </p:cNvSpPr>
          <p:nvPr/>
        </p:nvSpPr>
        <p:spPr bwMode="auto">
          <a:xfrm>
            <a:off x="1882775" y="2522538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0375" name="Freeform 73"/>
          <p:cNvSpPr/>
          <p:nvPr/>
        </p:nvSpPr>
        <p:spPr>
          <a:xfrm>
            <a:off x="2051050" y="3836988"/>
            <a:ext cx="1579563" cy="373062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</a:cxnLst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69" name="Text Box 74"/>
          <p:cNvSpPr txBox="1">
            <a:spLocks noChangeArrowheads="1"/>
          </p:cNvSpPr>
          <p:nvPr/>
        </p:nvSpPr>
        <p:spPr bwMode="auto">
          <a:xfrm>
            <a:off x="1785938" y="2838450"/>
            <a:ext cx="8048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SYN(x)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0" name="Line 75"/>
          <p:cNvSpPr>
            <a:spLocks noChangeShapeType="1"/>
          </p:cNvSpPr>
          <p:nvPr/>
        </p:nvSpPr>
        <p:spPr bwMode="auto">
          <a:xfrm>
            <a:off x="1246188" y="3136900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1" name="Text Box 76"/>
          <p:cNvSpPr txBox="1">
            <a:spLocks noChangeArrowheads="1"/>
          </p:cNvSpPr>
          <p:nvPr/>
        </p:nvSpPr>
        <p:spPr bwMode="auto">
          <a:xfrm>
            <a:off x="930275" y="2989263"/>
            <a:ext cx="2606675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SYNACK(seq=y,ACKnum=x+1)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create new socket for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communication back to client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0379" name="Freeform 77"/>
          <p:cNvSpPr/>
          <p:nvPr/>
        </p:nvSpPr>
        <p:spPr>
          <a:xfrm flipV="1">
            <a:off x="2046288" y="5076825"/>
            <a:ext cx="1579562" cy="37306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</a:cxnLst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0380" name="Freeform 78"/>
          <p:cNvSpPr/>
          <p:nvPr/>
        </p:nvSpPr>
        <p:spPr>
          <a:xfrm flipH="1" flipV="1">
            <a:off x="4613275" y="5094288"/>
            <a:ext cx="947738" cy="373062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</a:cxnLst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2974" name="Text Box 79"/>
          <p:cNvSpPr txBox="1">
            <a:spLocks noChangeArrowheads="1"/>
          </p:cNvSpPr>
          <p:nvPr/>
        </p:nvSpPr>
        <p:spPr bwMode="auto">
          <a:xfrm>
            <a:off x="5608638" y="4970463"/>
            <a:ext cx="2606675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SYNACK(seq=y,ACKnum=x+1)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5" name="Line 80"/>
          <p:cNvSpPr>
            <a:spLocks noChangeShapeType="1"/>
          </p:cNvSpPr>
          <p:nvPr/>
        </p:nvSpPr>
        <p:spPr bwMode="auto">
          <a:xfrm>
            <a:off x="5718175" y="5435600"/>
            <a:ext cx="2528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6" name="Text Box 81"/>
          <p:cNvSpPr txBox="1">
            <a:spLocks noChangeArrowheads="1"/>
          </p:cNvSpPr>
          <p:nvPr/>
        </p:nvSpPr>
        <p:spPr bwMode="auto">
          <a:xfrm>
            <a:off x="6018213" y="5248275"/>
            <a:ext cx="1744663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ACK(ACKnum=y+1)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7" name="Line 82"/>
          <p:cNvSpPr>
            <a:spLocks noChangeShapeType="1"/>
          </p:cNvSpPr>
          <p:nvPr/>
        </p:nvSpPr>
        <p:spPr bwMode="auto">
          <a:xfrm>
            <a:off x="849313" y="5822950"/>
            <a:ext cx="1965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8" name="Text Box 83"/>
          <p:cNvSpPr txBox="1">
            <a:spLocks noChangeArrowheads="1"/>
          </p:cNvSpPr>
          <p:nvPr/>
        </p:nvSpPr>
        <p:spPr bwMode="auto">
          <a:xfrm>
            <a:off x="909638" y="5356225"/>
            <a:ext cx="1744663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ACK(ACKnum=y+1)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2979" name="Text Box 84"/>
          <p:cNvSpPr txBox="1">
            <a:spLocks noChangeArrowheads="1"/>
          </p:cNvSpPr>
          <p:nvPr/>
        </p:nvSpPr>
        <p:spPr bwMode="auto">
          <a:xfrm>
            <a:off x="1560513" y="5788025"/>
            <a:ext cx="341313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rPr>
              <a:t>L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ymbol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39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01379" name="Picture 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3725" y="838200"/>
            <a:ext cx="63992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3" name="Rectangle 45"/>
          <p:cNvSpPr>
            <a:spLocks noGrp="1" noChangeArrowheads="1"/>
          </p:cNvSpPr>
          <p:nvPr>
            <p:ph type="title"/>
          </p:nvPr>
        </p:nvSpPr>
        <p:spPr>
          <a:xfrm>
            <a:off x="433388" y="241300"/>
            <a:ext cx="7772400" cy="727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closing a connection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83974" name="Rectangle 47"/>
          <p:cNvSpPr>
            <a:spLocks noGrp="1" noChangeArrowheads="1"/>
          </p:cNvSpPr>
          <p:nvPr>
            <p:ph sz="half" idx="2"/>
          </p:nvPr>
        </p:nvSpPr>
        <p:spPr>
          <a:xfrm>
            <a:off x="736600" y="1328738"/>
            <a:ext cx="76835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client, server each close their side of connection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 TCP segment with FIN bit = 1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respond to received FIN with ACK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on receiving FIN, ACK can be combined with own FIN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simultaneous FIN exchanges can be handled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499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02403" name="Picture 63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3725" y="838200"/>
            <a:ext cx="63992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7" name="Line 4"/>
          <p:cNvSpPr>
            <a:spLocks noChangeShapeType="1"/>
          </p:cNvSpPr>
          <p:nvPr/>
        </p:nvSpPr>
        <p:spPr bwMode="auto">
          <a:xfrm flipH="1">
            <a:off x="3471863" y="2081213"/>
            <a:ext cx="1588" cy="3948113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4998" name="Line 10"/>
          <p:cNvSpPr>
            <a:spLocks noChangeShapeType="1"/>
          </p:cNvSpPr>
          <p:nvPr/>
        </p:nvSpPr>
        <p:spPr bwMode="auto">
          <a:xfrm flipH="1">
            <a:off x="6061075" y="2151063"/>
            <a:ext cx="1588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396362" name="Group 74"/>
          <p:cNvGrpSpPr/>
          <p:nvPr/>
        </p:nvGrpSpPr>
        <p:grpSpPr>
          <a:xfrm>
            <a:off x="544513" y="2762250"/>
            <a:ext cx="1335087" cy="854075"/>
            <a:chOff x="343" y="1740"/>
            <a:chExt cx="841" cy="538"/>
          </a:xfrm>
        </p:grpSpPr>
        <p:sp>
          <p:nvSpPr>
            <p:cNvPr id="85085" name="Text Box 34"/>
            <p:cNvSpPr txBox="1">
              <a:spLocks noChangeArrowheads="1"/>
            </p:cNvSpPr>
            <p:nvPr/>
          </p:nvSpPr>
          <p:spPr bwMode="auto">
            <a:xfrm>
              <a:off x="343" y="2066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FIN_WAIT_2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86" name="Line 35"/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1" name="Group 73"/>
          <p:cNvGrpSpPr/>
          <p:nvPr/>
        </p:nvGrpSpPr>
        <p:grpSpPr>
          <a:xfrm>
            <a:off x="7175500" y="2101850"/>
            <a:ext cx="1390650" cy="960438"/>
            <a:chOff x="4520" y="1324"/>
            <a:chExt cx="876" cy="605"/>
          </a:xfrm>
        </p:grpSpPr>
        <p:sp>
          <p:nvSpPr>
            <p:cNvPr id="85083" name="Text Box 37"/>
            <p:cNvSpPr txBox="1">
              <a:spLocks noChangeArrowheads="1"/>
            </p:cNvSpPr>
            <p:nvPr/>
          </p:nvSpPr>
          <p:spPr bwMode="auto">
            <a:xfrm>
              <a:off x="4520" y="1717"/>
              <a:ext cx="876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CLOSE_WAIT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84" name="Line 38"/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3" name="Group 75"/>
          <p:cNvGrpSpPr/>
          <p:nvPr/>
        </p:nvGrpSpPr>
        <p:grpSpPr>
          <a:xfrm>
            <a:off x="3513138" y="3870325"/>
            <a:ext cx="2495550" cy="579438"/>
            <a:chOff x="2213" y="2438"/>
            <a:chExt cx="1572" cy="365"/>
          </a:xfrm>
        </p:grpSpPr>
        <p:sp>
          <p:nvSpPr>
            <p:cNvPr id="85080" name="Line 41"/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81" name="Rectangle 42"/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82" name="Text Box 43"/>
            <p:cNvSpPr txBox="1">
              <a:spLocks noChangeArrowheads="1"/>
            </p:cNvSpPr>
            <p:nvPr/>
          </p:nvSpPr>
          <p:spPr bwMode="auto">
            <a:xfrm>
              <a:off x="2455" y="2562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FINbit=1, seq=y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8" name="Group 80"/>
          <p:cNvGrpSpPr/>
          <p:nvPr/>
        </p:nvGrpSpPr>
        <p:grpSpPr>
          <a:xfrm>
            <a:off x="3543300" y="4578350"/>
            <a:ext cx="2508250" cy="582613"/>
            <a:chOff x="2232" y="2884"/>
            <a:chExt cx="1580" cy="367"/>
          </a:xfrm>
        </p:grpSpPr>
        <p:sp>
          <p:nvSpPr>
            <p:cNvPr id="85077" name="Line 44"/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8" name="Rectangle 46"/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9" name="Text Box 47"/>
            <p:cNvSpPr txBox="1">
              <a:spLocks noChangeArrowheads="1"/>
            </p:cNvSpPr>
            <p:nvPr/>
          </p:nvSpPr>
          <p:spPr bwMode="auto">
            <a:xfrm>
              <a:off x="2246" y="2958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ACKbit=1; ACKnum=y+1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0" name="Group 72"/>
          <p:cNvGrpSpPr/>
          <p:nvPr/>
        </p:nvGrpSpPr>
        <p:grpSpPr>
          <a:xfrm>
            <a:off x="2090738" y="2901950"/>
            <a:ext cx="4930775" cy="854075"/>
            <a:chOff x="1317" y="1828"/>
            <a:chExt cx="3106" cy="538"/>
          </a:xfrm>
        </p:grpSpPr>
        <p:sp>
          <p:nvSpPr>
            <p:cNvPr id="85072" name="Line 13"/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3" name="Rectangle 14"/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4" name="Text Box 15"/>
            <p:cNvSpPr txBox="1">
              <a:spLocks noChangeArrowheads="1"/>
            </p:cNvSpPr>
            <p:nvPr/>
          </p:nvSpPr>
          <p:spPr bwMode="auto">
            <a:xfrm>
              <a:off x="2200" y="1875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ACKbit=1; ACKnum=x+1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5" name="Text Box 21"/>
            <p:cNvSpPr txBox="1">
              <a:spLocks noChangeArrowheads="1"/>
            </p:cNvSpPr>
            <p:nvPr/>
          </p:nvSpPr>
          <p:spPr bwMode="auto">
            <a:xfrm>
              <a:off x="1317" y="2066"/>
              <a:ext cx="867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wait for server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close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76" name="Text Box 49"/>
            <p:cNvSpPr txBox="1">
              <a:spLocks noChangeArrowheads="1"/>
            </p:cNvSpPr>
            <p:nvPr/>
          </p:nvSpPr>
          <p:spPr bwMode="auto">
            <a:xfrm>
              <a:off x="3822" y="1979"/>
              <a:ext cx="601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can still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6" name="Group 78"/>
          <p:cNvGrpSpPr/>
          <p:nvPr/>
        </p:nvGrpSpPr>
        <p:grpSpPr>
          <a:xfrm>
            <a:off x="6059488" y="3032125"/>
            <a:ext cx="2501900" cy="1735138"/>
            <a:chOff x="3817" y="1910"/>
            <a:chExt cx="1576" cy="1093"/>
          </a:xfrm>
        </p:grpSpPr>
        <p:sp>
          <p:nvSpPr>
            <p:cNvPr id="85068" name="Text Box 50"/>
            <p:cNvSpPr txBox="1">
              <a:spLocks noChangeArrowheads="1"/>
            </p:cNvSpPr>
            <p:nvPr/>
          </p:nvSpPr>
          <p:spPr bwMode="auto">
            <a:xfrm>
              <a:off x="3817" y="2703"/>
              <a:ext cx="792" cy="3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can no longer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02476" name="Group 76"/>
            <p:cNvGrpSpPr/>
            <p:nvPr/>
          </p:nvGrpSpPr>
          <p:grpSpPr>
            <a:xfrm>
              <a:off x="4691" y="1910"/>
              <a:ext cx="702" cy="723"/>
              <a:chOff x="4691" y="1910"/>
              <a:chExt cx="702" cy="723"/>
            </a:xfrm>
          </p:grpSpPr>
          <p:sp>
            <p:nvSpPr>
              <p:cNvPr id="85070" name="Line 39"/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5071" name="Text Box 55"/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02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LAST_ACK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396370" name="Group 82"/>
          <p:cNvGrpSpPr/>
          <p:nvPr/>
        </p:nvGrpSpPr>
        <p:grpSpPr>
          <a:xfrm>
            <a:off x="7642225" y="4213225"/>
            <a:ext cx="917575" cy="1223963"/>
            <a:chOff x="4814" y="2654"/>
            <a:chExt cx="578" cy="771"/>
          </a:xfrm>
        </p:grpSpPr>
        <p:sp>
          <p:nvSpPr>
            <p:cNvPr id="85066" name="Text Box 11"/>
            <p:cNvSpPr txBox="1">
              <a:spLocks noChangeArrowheads="1"/>
            </p:cNvSpPr>
            <p:nvPr/>
          </p:nvSpPr>
          <p:spPr bwMode="auto">
            <a:xfrm>
              <a:off x="4814" y="3213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CLOSED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7" name="Line 57"/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5" name="Group 77"/>
          <p:cNvGrpSpPr/>
          <p:nvPr/>
        </p:nvGrpSpPr>
        <p:grpSpPr>
          <a:xfrm>
            <a:off x="585788" y="3605213"/>
            <a:ext cx="1400175" cy="1044575"/>
            <a:chOff x="369" y="2271"/>
            <a:chExt cx="882" cy="658"/>
          </a:xfrm>
        </p:grpSpPr>
        <p:sp>
          <p:nvSpPr>
            <p:cNvPr id="85064" name="Text Box 58"/>
            <p:cNvSpPr txBox="1">
              <a:spLocks noChangeArrowheads="1"/>
            </p:cNvSpPr>
            <p:nvPr/>
          </p:nvSpPr>
          <p:spPr bwMode="auto">
            <a:xfrm>
              <a:off x="369" y="2717"/>
              <a:ext cx="88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TIMED_WAIT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5" name="Line 60"/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69" name="Group 81"/>
          <p:cNvGrpSpPr/>
          <p:nvPr/>
        </p:nvGrpSpPr>
        <p:grpSpPr>
          <a:xfrm>
            <a:off x="674688" y="4486275"/>
            <a:ext cx="2743200" cy="1768475"/>
            <a:chOff x="425" y="2826"/>
            <a:chExt cx="1728" cy="1114"/>
          </a:xfrm>
        </p:grpSpPr>
        <p:sp>
          <p:nvSpPr>
            <p:cNvPr id="85058" name="Line 52"/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9" name="Text Box 51"/>
            <p:cNvSpPr txBox="1">
              <a:spLocks noChangeArrowheads="1"/>
            </p:cNvSpPr>
            <p:nvPr/>
          </p:nvSpPr>
          <p:spPr bwMode="auto">
            <a:xfrm>
              <a:off x="1216" y="3093"/>
              <a:ext cx="937" cy="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timed wait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for 2*max 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segment lifetime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0" name="Line 53"/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1" name="Line 54"/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2" name="Text Box 59"/>
            <p:cNvSpPr txBox="1">
              <a:spLocks noChangeArrowheads="1"/>
            </p:cNvSpPr>
            <p:nvPr/>
          </p:nvSpPr>
          <p:spPr bwMode="auto">
            <a:xfrm>
              <a:off x="425" y="3728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CLOSED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63" name="Line 61"/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85008" name="Rectangle 62"/>
          <p:cNvSpPr>
            <a:spLocks noGrp="1" noChangeArrowheads="1"/>
          </p:cNvSpPr>
          <p:nvPr>
            <p:ph type="title"/>
          </p:nvPr>
        </p:nvSpPr>
        <p:spPr>
          <a:xfrm>
            <a:off x="433388" y="241300"/>
            <a:ext cx="7772400" cy="727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closing a connection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grpSp>
        <p:nvGrpSpPr>
          <p:cNvPr id="396359" name="Group 71"/>
          <p:cNvGrpSpPr/>
          <p:nvPr/>
        </p:nvGrpSpPr>
        <p:grpSpPr>
          <a:xfrm>
            <a:off x="550863" y="2046288"/>
            <a:ext cx="1335087" cy="700087"/>
            <a:chOff x="347" y="1289"/>
            <a:chExt cx="841" cy="441"/>
          </a:xfrm>
        </p:grpSpPr>
        <p:sp>
          <p:nvSpPr>
            <p:cNvPr id="85056" name="Text Box 31"/>
            <p:cNvSpPr txBox="1">
              <a:spLocks noChangeArrowheads="1"/>
            </p:cNvSpPr>
            <p:nvPr/>
          </p:nvSpPr>
          <p:spPr bwMode="auto">
            <a:xfrm>
              <a:off x="347" y="1518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FIN_WAIT_1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7" name="Line 32"/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396358" name="Group 70"/>
          <p:cNvGrpSpPr/>
          <p:nvPr/>
        </p:nvGrpSpPr>
        <p:grpSpPr>
          <a:xfrm>
            <a:off x="1204913" y="2100263"/>
            <a:ext cx="4775200" cy="1014412"/>
            <a:chOff x="759" y="1323"/>
            <a:chExt cx="3008" cy="639"/>
          </a:xfrm>
        </p:grpSpPr>
        <p:sp>
          <p:nvSpPr>
            <p:cNvPr id="85051" name="Line 6"/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2" name="Rectangle 7"/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3" name="Text Box 8"/>
            <p:cNvSpPr txBox="1">
              <a:spLocks noChangeArrowheads="1"/>
            </p:cNvSpPr>
            <p:nvPr/>
          </p:nvSpPr>
          <p:spPr bwMode="auto">
            <a:xfrm>
              <a:off x="2430" y="1493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FINbit=1, seq=x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4" name="Text Box 9"/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4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can no longer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send but can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 receive data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55" name="Text Box 67"/>
            <p:cNvSpPr txBox="1">
              <a:spLocks noChangeArrowheads="1"/>
            </p:cNvSpPr>
            <p:nvPr/>
          </p:nvSpPr>
          <p:spPr bwMode="auto">
            <a:xfrm>
              <a:off x="759" y="1323"/>
              <a:ext cx="1456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urier New" panose="02070409020205090404" charset="0"/>
                  <a:ea typeface="MS PGothic" charset="0"/>
                  <a:cs typeface="+mn-cs"/>
                </a:rPr>
                <a:t>clientSocket.close()</a:t>
              </a:r>
              <a:endPara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endParaRPr>
            </a:p>
          </p:txBody>
        </p:sp>
      </p:grpSp>
      <p:sp>
        <p:nvSpPr>
          <p:cNvPr id="85011" name="Text Box 84"/>
          <p:cNvSpPr txBox="1">
            <a:spLocks noChangeArrowheads="1"/>
          </p:cNvSpPr>
          <p:nvPr/>
        </p:nvSpPr>
        <p:spPr bwMode="auto">
          <a:xfrm>
            <a:off x="498475" y="1368425"/>
            <a:ext cx="1160463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client state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5012" name="Text Box 85"/>
          <p:cNvSpPr txBox="1">
            <a:spLocks noChangeArrowheads="1"/>
          </p:cNvSpPr>
          <p:nvPr/>
        </p:nvSpPr>
        <p:spPr bwMode="auto">
          <a:xfrm>
            <a:off x="7353300" y="1385888"/>
            <a:ext cx="123825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server state</a:t>
            </a: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1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5013" name="Text Box 86"/>
          <p:cNvSpPr txBox="1">
            <a:spLocks noChangeArrowheads="1"/>
          </p:cNvSpPr>
          <p:nvPr/>
        </p:nvSpPr>
        <p:spPr bwMode="auto">
          <a:xfrm>
            <a:off x="7769225" y="1768475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5014" name="Text Box 87"/>
          <p:cNvSpPr txBox="1">
            <a:spLocks noChangeArrowheads="1"/>
          </p:cNvSpPr>
          <p:nvPr/>
        </p:nvSpPr>
        <p:spPr bwMode="auto">
          <a:xfrm>
            <a:off x="533400" y="1751013"/>
            <a:ext cx="7715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ESTAB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102422" name="Group 88"/>
          <p:cNvGrpSpPr/>
          <p:nvPr/>
        </p:nvGrpSpPr>
        <p:grpSpPr>
          <a:xfrm>
            <a:off x="3140075" y="1443038"/>
            <a:ext cx="642938" cy="600075"/>
            <a:chOff x="-44" y="1473"/>
            <a:chExt cx="981" cy="1105"/>
          </a:xfrm>
        </p:grpSpPr>
        <p:pic>
          <p:nvPicPr>
            <p:cNvPr id="102456" name="Picture 89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57" name="Freeform 9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2423" name="Group 91"/>
          <p:cNvGrpSpPr/>
          <p:nvPr/>
        </p:nvGrpSpPr>
        <p:grpSpPr>
          <a:xfrm>
            <a:off x="5772150" y="1446213"/>
            <a:ext cx="336550" cy="512762"/>
            <a:chOff x="4140" y="429"/>
            <a:chExt cx="1425" cy="2396"/>
          </a:xfrm>
        </p:grpSpPr>
        <p:sp>
          <p:nvSpPr>
            <p:cNvPr id="102424" name="Freeform 9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18" name="Rectangle 93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26" name="Freeform 94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27" name="Freeform 95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21" name="Rectangle 96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02429" name="Group 97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5047" name="AutoShape 9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5048" name="AutoShape 99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5023" name="Rectangle 100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02431" name="Group 101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5045" name="AutoShape 102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5046" name="AutoShape 103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5025" name="Rectangle 104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26" name="Rectangle 105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02434" name="Group 106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043" name="AutoShape 107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5044" name="AutoShape 108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02435" name="Freeform 109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2436" name="Group 110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5041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85042" name="AutoShape 11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85030" name="Rectangle 113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38" name="Freeform 114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39" name="Freeform 115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33" name="Oval 116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41" name="Freeform 117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35" name="AutoShape 118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36" name="AutoShape 119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37" name="Oval 120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38" name="Oval 121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85039" name="Oval 122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85040" name="Rectangle 123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9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9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9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9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035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035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 outline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035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3.1 transport-layer services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3.2 multiplexing and demultiplexing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3.3 connectionless transport: UDP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3.4 principles of reliable data transfer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035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495800" y="1600200"/>
            <a:ext cx="42513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3.5 connection-oriented transport: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segment structure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913130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connection management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567055" marR="0" lvl="0" indent="-56705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3.6 TCP congestion control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114694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3" y="1039813"/>
            <a:ext cx="4387850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8704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704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600200"/>
            <a:ext cx="7762875" cy="4648200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3200" i="1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congestion</a:t>
            </a:r>
            <a:r>
              <a:rPr lang="en-US" altLang="zh-CN" sz="3200" dirty="0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:</a:t>
            </a:r>
            <a:endParaRPr lang="en-US" altLang="zh-CN" dirty="0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informally: 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too many sources sending too much data too fast for </a:t>
            </a:r>
            <a:r>
              <a:rPr lang="en-US" altLang="ja-JP" i="1" dirty="0">
                <a:solidFill>
                  <a:srgbClr val="000099"/>
                </a:solidFill>
                <a:latin typeface="+mn-lt"/>
                <a:ea typeface="MS PGothic" charset="0"/>
                <a:cs typeface="MS PGothic" charset="0"/>
              </a:rPr>
              <a:t>network</a:t>
            </a:r>
            <a:r>
              <a:rPr lang="en-US" altLang="ja-JP" dirty="0">
                <a:latin typeface="+mn-lt"/>
                <a:ea typeface="MS PGothic" charset="0"/>
                <a:cs typeface="MS PGothic" charset="0"/>
              </a:rPr>
              <a:t> to handle</a:t>
            </a:r>
            <a:r>
              <a:rPr lang="ja-JP" altLang="en-US" dirty="0">
                <a:latin typeface="+mn-lt"/>
                <a:ea typeface="MS PGothic" charset="0"/>
                <a:cs typeface="MS PGothic" charset="0"/>
              </a:rPr>
              <a:t>”</a:t>
            </a:r>
            <a:endParaRPr lang="en-US" altLang="ja-JP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different from flow control!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manifestations: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sz="2800" dirty="0">
                <a:latin typeface="+mn-lt"/>
                <a:ea typeface="MS PGothic" charset="0"/>
              </a:rPr>
              <a:t>lost packets (buffer overflow at routers)</a:t>
            </a:r>
            <a:endParaRPr lang="en-US" altLang="zh-CN" sz="2800" dirty="0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 sz="2800" dirty="0">
                <a:latin typeface="+mn-lt"/>
                <a:ea typeface="MS PGothic" charset="0"/>
              </a:rPr>
              <a:t>long delays (queueing in router buffers)</a:t>
            </a:r>
            <a:endParaRPr lang="en-US" altLang="zh-CN" sz="2800" dirty="0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 dirty="0">
                <a:latin typeface="+mn-lt"/>
                <a:ea typeface="MS PGothic" charset="0"/>
                <a:cs typeface="MS PGothic" charset="0"/>
              </a:rPr>
              <a:t>a top-10 problem!</a:t>
            </a:r>
            <a:endParaRPr lang="en-US" altLang="zh-CN" dirty="0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 sz="2400" dirty="0">
              <a:latin typeface="+mn-lt"/>
              <a:ea typeface="MS PGothic" charset="0"/>
              <a:cs typeface="MS PGothic" charset="0"/>
            </a:endParaRPr>
          </a:p>
        </p:txBody>
      </p:sp>
      <p:pic>
        <p:nvPicPr>
          <p:cNvPr id="104452" name="Picture 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38175" y="1092200"/>
            <a:ext cx="68564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6738" y="352425"/>
            <a:ext cx="7772400" cy="10302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Principles of congestion control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1379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15715" name="Picture 14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44525" y="741363"/>
            <a:ext cx="50276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congestion control: 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additive increase multiplicative decrease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1382" name="Rectangle 8"/>
          <p:cNvSpPr>
            <a:spLocks noChangeArrowheads="1"/>
          </p:cNvSpPr>
          <p:nvPr/>
        </p:nvSpPr>
        <p:spPr bwMode="auto">
          <a:xfrm>
            <a:off x="457200" y="1371600"/>
            <a:ext cx="8375650" cy="1447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approach: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sender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increases transmission rate (window size), probing for usable bandwidth, until loss occurs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additive increase: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increase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by 1 MSS every RTT until loss detected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multiplicative decrease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cut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 half after loss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1383" name="Rectangle 11"/>
          <p:cNvSpPr>
            <a:spLocks noChangeArrowheads="1"/>
          </p:cNvSpPr>
          <p:nvPr/>
        </p:nvSpPr>
        <p:spPr bwMode="auto">
          <a:xfrm>
            <a:off x="3663950" y="3659188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1384" name="Text Box 12"/>
          <p:cNvSpPr txBox="1">
            <a:spLocks noChangeArrowheads="1"/>
          </p:cNvSpPr>
          <p:nvPr/>
        </p:nvSpPr>
        <p:spPr bwMode="auto">
          <a:xfrm rot="-5400000">
            <a:off x="2074863" y="4784725"/>
            <a:ext cx="2047875" cy="5175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cwnd:</a:t>
            </a: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 TCP sender 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congestion window size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1385" name="Text Box 13"/>
          <p:cNvSpPr txBox="1">
            <a:spLocks noChangeArrowheads="1"/>
          </p:cNvSpPr>
          <p:nvPr/>
        </p:nvSpPr>
        <p:spPr bwMode="auto">
          <a:xfrm>
            <a:off x="425450" y="4448175"/>
            <a:ext cx="2146300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AIMD saw tooth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behavior: probing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for bandwidth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1386" name="Line 17"/>
          <p:cNvSpPr>
            <a:spLocks noChangeShapeType="1"/>
          </p:cNvSpPr>
          <p:nvPr/>
        </p:nvSpPr>
        <p:spPr bwMode="auto">
          <a:xfrm>
            <a:off x="3505200" y="6149975"/>
            <a:ext cx="4143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1387" name="Line 18"/>
          <p:cNvSpPr>
            <a:spLocks noChangeShapeType="1"/>
          </p:cNvSpPr>
          <p:nvPr/>
        </p:nvSpPr>
        <p:spPr bwMode="auto">
          <a:xfrm>
            <a:off x="3494088" y="3735388"/>
            <a:ext cx="0" cy="2416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8307" name="Line 19"/>
          <p:cNvSpPr>
            <a:spLocks noChangeShapeType="1"/>
          </p:cNvSpPr>
          <p:nvPr/>
        </p:nvSpPr>
        <p:spPr bwMode="auto">
          <a:xfrm flipV="1">
            <a:off x="3505200" y="4852988"/>
            <a:ext cx="169863" cy="16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8308" name="Line 20"/>
          <p:cNvSpPr>
            <a:spLocks noChangeShapeType="1"/>
          </p:cNvSpPr>
          <p:nvPr/>
        </p:nvSpPr>
        <p:spPr bwMode="auto">
          <a:xfrm>
            <a:off x="3686175" y="4841875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8309" name="Line 21"/>
          <p:cNvSpPr>
            <a:spLocks noChangeShapeType="1"/>
          </p:cNvSpPr>
          <p:nvPr/>
        </p:nvSpPr>
        <p:spPr bwMode="auto">
          <a:xfrm flipV="1">
            <a:off x="3675063" y="4525963"/>
            <a:ext cx="9826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68310" name="Line 22"/>
          <p:cNvSpPr>
            <a:spLocks noChangeShapeType="1"/>
          </p:cNvSpPr>
          <p:nvPr/>
        </p:nvSpPr>
        <p:spPr bwMode="auto">
          <a:xfrm>
            <a:off x="4646613" y="4527550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268326" name="Group 38"/>
          <p:cNvGrpSpPr/>
          <p:nvPr/>
        </p:nvGrpSpPr>
        <p:grpSpPr>
          <a:xfrm>
            <a:off x="4638675" y="4402138"/>
            <a:ext cx="3040063" cy="1106487"/>
            <a:chOff x="2720" y="2730"/>
            <a:chExt cx="1915" cy="697"/>
          </a:xfrm>
        </p:grpSpPr>
        <p:sp>
          <p:nvSpPr>
            <p:cNvPr id="101399" name="Line 23"/>
            <p:cNvSpPr>
              <a:spLocks noChangeShapeType="1"/>
            </p:cNvSpPr>
            <p:nvPr/>
          </p:nvSpPr>
          <p:spPr bwMode="auto">
            <a:xfrm flipV="1">
              <a:off x="2720" y="2996"/>
              <a:ext cx="331" cy="3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15735" name="Group 37"/>
            <p:cNvGrpSpPr/>
            <p:nvPr/>
          </p:nvGrpSpPr>
          <p:grpSpPr>
            <a:xfrm>
              <a:off x="3051" y="2730"/>
              <a:ext cx="1584" cy="697"/>
              <a:chOff x="3051" y="2730"/>
              <a:chExt cx="1584" cy="697"/>
            </a:xfrm>
          </p:grpSpPr>
          <p:sp>
            <p:nvSpPr>
              <p:cNvPr id="101401" name="Line 24"/>
              <p:cNvSpPr>
                <a:spLocks noChangeShapeType="1"/>
              </p:cNvSpPr>
              <p:nvPr/>
            </p:nvSpPr>
            <p:spPr bwMode="auto">
              <a:xfrm>
                <a:off x="3051" y="2993"/>
                <a:ext cx="0" cy="43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1402" name="Line 25"/>
              <p:cNvSpPr>
                <a:spLocks noChangeShapeType="1"/>
              </p:cNvSpPr>
              <p:nvPr/>
            </p:nvSpPr>
            <p:spPr bwMode="auto">
              <a:xfrm flipV="1">
                <a:off x="3058" y="2795"/>
                <a:ext cx="611" cy="6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1403" name="Line 26"/>
              <p:cNvSpPr>
                <a:spLocks noChangeShapeType="1"/>
              </p:cNvSpPr>
              <p:nvPr/>
            </p:nvSpPr>
            <p:spPr bwMode="auto">
              <a:xfrm>
                <a:off x="3666" y="2795"/>
                <a:ext cx="7" cy="5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1404" name="Line 29"/>
              <p:cNvSpPr>
                <a:spLocks noChangeShapeType="1"/>
              </p:cNvSpPr>
              <p:nvPr/>
            </p:nvSpPr>
            <p:spPr bwMode="auto">
              <a:xfrm flipV="1">
                <a:off x="3669" y="2898"/>
                <a:ext cx="420" cy="4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1405" name="Line 30"/>
              <p:cNvSpPr>
                <a:spLocks noChangeShapeType="1"/>
              </p:cNvSpPr>
              <p:nvPr/>
            </p:nvSpPr>
            <p:spPr bwMode="auto">
              <a:xfrm>
                <a:off x="4089" y="2889"/>
                <a:ext cx="0" cy="4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1406" name="Line 31"/>
              <p:cNvSpPr>
                <a:spLocks noChangeShapeType="1"/>
              </p:cNvSpPr>
              <p:nvPr/>
            </p:nvSpPr>
            <p:spPr bwMode="auto">
              <a:xfrm flipV="1">
                <a:off x="4083" y="2730"/>
                <a:ext cx="552" cy="6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sp>
        <p:nvSpPr>
          <p:cNvPr id="101393" name="Text Box 32"/>
          <p:cNvSpPr txBox="1">
            <a:spLocks noChangeArrowheads="1"/>
          </p:cNvSpPr>
          <p:nvPr/>
        </p:nvSpPr>
        <p:spPr bwMode="auto">
          <a:xfrm>
            <a:off x="4403725" y="3622675"/>
            <a:ext cx="422275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p>
            <a:pPr algn="l"/>
            <a:r>
              <a:rPr lang="en-US" altLang="zh-CN" dirty="0">
                <a:latin typeface="Tahoma" panose="020B0604030504040204" charset="0"/>
              </a:rPr>
              <a:t>additively increase window size …</a:t>
            </a:r>
            <a:endParaRPr lang="en-US" altLang="zh-CN" dirty="0">
              <a:latin typeface="Tahoma" panose="020B0604030504040204" charset="0"/>
            </a:endParaRPr>
          </a:p>
          <a:p>
            <a:pPr algn="l"/>
            <a:r>
              <a:rPr lang="en-US" altLang="zh-CN" dirty="0">
                <a:latin typeface="Tahoma" panose="020B0604030504040204" charset="0"/>
              </a:rPr>
              <a:t>…. until loss occurs (then cut window in half)</a:t>
            </a:r>
            <a:endParaRPr lang="en-US" altLang="zh-CN" dirty="0">
              <a:latin typeface="Tahoma" panose="020B0604030504040204" charset="0"/>
            </a:endParaRPr>
          </a:p>
        </p:txBody>
      </p:sp>
      <p:sp>
        <p:nvSpPr>
          <p:cNvPr id="115729" name="Freeform 33"/>
          <p:cNvSpPr/>
          <p:nvPr/>
        </p:nvSpPr>
        <p:spPr>
          <a:xfrm>
            <a:off x="3598863" y="3816350"/>
            <a:ext cx="858837" cy="10160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</a:cxnLst>
            <a:pathLst>
              <a:path w="541" h="640">
                <a:moveTo>
                  <a:pt x="541" y="0"/>
                </a:moveTo>
                <a:lnTo>
                  <a:pt x="0" y="0"/>
                </a:lnTo>
                <a:lnTo>
                  <a:pt x="0" y="64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5730" name="Freeform 34"/>
          <p:cNvSpPr/>
          <p:nvPr/>
        </p:nvSpPr>
        <p:spPr>
          <a:xfrm>
            <a:off x="3743325" y="4019550"/>
            <a:ext cx="796925" cy="100012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502" h="630">
                <a:moveTo>
                  <a:pt x="502" y="0"/>
                </a:moveTo>
                <a:lnTo>
                  <a:pt x="56" y="2"/>
                </a:lnTo>
                <a:lnTo>
                  <a:pt x="54" y="630"/>
                </a:lnTo>
                <a:lnTo>
                  <a:pt x="0" y="63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5731" name="Freeform 35"/>
          <p:cNvSpPr/>
          <p:nvPr/>
        </p:nvSpPr>
        <p:spPr>
          <a:xfrm>
            <a:off x="4051300" y="3814763"/>
            <a:ext cx="406400" cy="11684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0" y="0"/>
              </a:cxn>
              <a:cxn ang="0">
                <a:pos x="0" y="2147483647"/>
              </a:cxn>
            </a:cxnLst>
            <a:pathLst>
              <a:path w="256" h="736">
                <a:moveTo>
                  <a:pt x="256" y="0"/>
                </a:moveTo>
                <a:lnTo>
                  <a:pt x="0" y="0"/>
                </a:lnTo>
                <a:lnTo>
                  <a:pt x="0" y="736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15732" name="Freeform 36"/>
          <p:cNvSpPr/>
          <p:nvPr/>
        </p:nvSpPr>
        <p:spPr>
          <a:xfrm>
            <a:off x="4689475" y="4179888"/>
            <a:ext cx="168275" cy="635000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106" h="400">
                <a:moveTo>
                  <a:pt x="106" y="0"/>
                </a:moveTo>
                <a:lnTo>
                  <a:pt x="106" y="400"/>
                </a:lnTo>
                <a:lnTo>
                  <a:pt x="0" y="40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1398" name="Text Box 40"/>
          <p:cNvSpPr txBox="1">
            <a:spLocks noChangeArrowheads="1"/>
          </p:cNvSpPr>
          <p:nvPr/>
        </p:nvSpPr>
        <p:spPr bwMode="auto">
          <a:xfrm>
            <a:off x="5072063" y="6140450"/>
            <a:ext cx="5762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time</a:t>
            </a: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0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16739" name="Picture 8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477838" y="817563"/>
            <a:ext cx="7313612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231775"/>
            <a:ext cx="7772400" cy="7699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Congestion Control: details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240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12750" y="3784600"/>
            <a:ext cx="4532313" cy="1695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sender limits transmission: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is dynamic, function of perceived network congestion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240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159375" y="1485900"/>
            <a:ext cx="3810000" cy="2447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TCP sending rate: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roughly: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send cwnd bytes, wait RTT for ACKS, then send more bytes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2408" name="Rectangle 12"/>
          <p:cNvSpPr>
            <a:spLocks noChangeArrowheads="1"/>
          </p:cNvSpPr>
          <p:nvPr/>
        </p:nvSpPr>
        <p:spPr bwMode="auto">
          <a:xfrm>
            <a:off x="768350" y="1941513"/>
            <a:ext cx="65088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09" name="Rectangle 13"/>
          <p:cNvSpPr>
            <a:spLocks noChangeArrowheads="1"/>
          </p:cNvSpPr>
          <p:nvPr/>
        </p:nvSpPr>
        <p:spPr bwMode="auto">
          <a:xfrm>
            <a:off x="865188" y="1943100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0" name="Rectangle 14"/>
          <p:cNvSpPr>
            <a:spLocks noChangeArrowheads="1"/>
          </p:cNvSpPr>
          <p:nvPr/>
        </p:nvSpPr>
        <p:spPr bwMode="auto">
          <a:xfrm>
            <a:off x="963613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1" name="Rectangle 15"/>
          <p:cNvSpPr>
            <a:spLocks noChangeArrowheads="1"/>
          </p:cNvSpPr>
          <p:nvPr/>
        </p:nvSpPr>
        <p:spPr bwMode="auto">
          <a:xfrm>
            <a:off x="1060450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2" name="Rectangle 16"/>
          <p:cNvSpPr>
            <a:spLocks noChangeArrowheads="1"/>
          </p:cNvSpPr>
          <p:nvPr/>
        </p:nvSpPr>
        <p:spPr bwMode="auto">
          <a:xfrm>
            <a:off x="1155700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3" name="Rectangle 17"/>
          <p:cNvSpPr>
            <a:spLocks noChangeArrowheads="1"/>
          </p:cNvSpPr>
          <p:nvPr/>
        </p:nvSpPr>
        <p:spPr bwMode="auto">
          <a:xfrm>
            <a:off x="1252538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4" name="Rectangle 18"/>
          <p:cNvSpPr>
            <a:spLocks noChangeArrowheads="1"/>
          </p:cNvSpPr>
          <p:nvPr/>
        </p:nvSpPr>
        <p:spPr bwMode="auto">
          <a:xfrm>
            <a:off x="1344613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5" name="Rectangle 19"/>
          <p:cNvSpPr>
            <a:spLocks noChangeArrowheads="1"/>
          </p:cNvSpPr>
          <p:nvPr/>
        </p:nvSpPr>
        <p:spPr bwMode="auto">
          <a:xfrm>
            <a:off x="1439863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6" name="Rectangle 20"/>
          <p:cNvSpPr>
            <a:spLocks noChangeArrowheads="1"/>
          </p:cNvSpPr>
          <p:nvPr/>
        </p:nvSpPr>
        <p:spPr bwMode="auto">
          <a:xfrm>
            <a:off x="1535113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7" name="Rectangle 21"/>
          <p:cNvSpPr>
            <a:spLocks noChangeArrowheads="1"/>
          </p:cNvSpPr>
          <p:nvPr/>
        </p:nvSpPr>
        <p:spPr bwMode="auto">
          <a:xfrm>
            <a:off x="1641475" y="194151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8" name="Rectangle 22"/>
          <p:cNvSpPr>
            <a:spLocks noChangeArrowheads="1"/>
          </p:cNvSpPr>
          <p:nvPr/>
        </p:nvSpPr>
        <p:spPr bwMode="auto">
          <a:xfrm>
            <a:off x="1739900" y="1943100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19" name="Rectangle 23"/>
          <p:cNvSpPr>
            <a:spLocks noChangeArrowheads="1"/>
          </p:cNvSpPr>
          <p:nvPr/>
        </p:nvSpPr>
        <p:spPr bwMode="auto">
          <a:xfrm>
            <a:off x="1836738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0" name="Rectangle 24"/>
          <p:cNvSpPr>
            <a:spLocks noChangeArrowheads="1"/>
          </p:cNvSpPr>
          <p:nvPr/>
        </p:nvSpPr>
        <p:spPr bwMode="auto">
          <a:xfrm>
            <a:off x="193357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1" name="Rectangle 25"/>
          <p:cNvSpPr>
            <a:spLocks noChangeArrowheads="1"/>
          </p:cNvSpPr>
          <p:nvPr/>
        </p:nvSpPr>
        <p:spPr bwMode="auto">
          <a:xfrm>
            <a:off x="2030413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2" name="Rectangle 26"/>
          <p:cNvSpPr>
            <a:spLocks noChangeArrowheads="1"/>
          </p:cNvSpPr>
          <p:nvPr/>
        </p:nvSpPr>
        <p:spPr bwMode="auto">
          <a:xfrm>
            <a:off x="2125663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3" name="Rectangle 27"/>
          <p:cNvSpPr>
            <a:spLocks noChangeArrowheads="1"/>
          </p:cNvSpPr>
          <p:nvPr/>
        </p:nvSpPr>
        <p:spPr bwMode="auto">
          <a:xfrm>
            <a:off x="2217738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4" name="Rectangle 28"/>
          <p:cNvSpPr>
            <a:spLocks noChangeArrowheads="1"/>
          </p:cNvSpPr>
          <p:nvPr/>
        </p:nvSpPr>
        <p:spPr bwMode="auto">
          <a:xfrm>
            <a:off x="2312988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5" name="Rectangle 29"/>
          <p:cNvSpPr>
            <a:spLocks noChangeArrowheads="1"/>
          </p:cNvSpPr>
          <p:nvPr/>
        </p:nvSpPr>
        <p:spPr bwMode="auto">
          <a:xfrm>
            <a:off x="240982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6" name="Rectangle 30"/>
          <p:cNvSpPr>
            <a:spLocks noChangeArrowheads="1"/>
          </p:cNvSpPr>
          <p:nvPr/>
        </p:nvSpPr>
        <p:spPr bwMode="auto">
          <a:xfrm>
            <a:off x="249872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7" name="Rectangle 31"/>
          <p:cNvSpPr>
            <a:spLocks noChangeArrowheads="1"/>
          </p:cNvSpPr>
          <p:nvPr/>
        </p:nvSpPr>
        <p:spPr bwMode="auto">
          <a:xfrm>
            <a:off x="2593975" y="1941513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8" name="Rectangle 32"/>
          <p:cNvSpPr>
            <a:spLocks noChangeArrowheads="1"/>
          </p:cNvSpPr>
          <p:nvPr/>
        </p:nvSpPr>
        <p:spPr bwMode="auto">
          <a:xfrm>
            <a:off x="2687638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29" name="Rectangle 33"/>
          <p:cNvSpPr>
            <a:spLocks noChangeArrowheads="1"/>
          </p:cNvSpPr>
          <p:nvPr/>
        </p:nvSpPr>
        <p:spPr bwMode="auto">
          <a:xfrm>
            <a:off x="2779713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0" name="Rectangle 34"/>
          <p:cNvSpPr>
            <a:spLocks noChangeArrowheads="1"/>
          </p:cNvSpPr>
          <p:nvPr/>
        </p:nvSpPr>
        <p:spPr bwMode="auto">
          <a:xfrm>
            <a:off x="287655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1" name="Rectangle 35"/>
          <p:cNvSpPr>
            <a:spLocks noChangeArrowheads="1"/>
          </p:cNvSpPr>
          <p:nvPr/>
        </p:nvSpPr>
        <p:spPr bwMode="auto">
          <a:xfrm>
            <a:off x="297180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2" name="Rectangle 36"/>
          <p:cNvSpPr>
            <a:spLocks noChangeArrowheads="1"/>
          </p:cNvSpPr>
          <p:nvPr/>
        </p:nvSpPr>
        <p:spPr bwMode="auto">
          <a:xfrm>
            <a:off x="306070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3" name="Rectangle 37"/>
          <p:cNvSpPr>
            <a:spLocks noChangeArrowheads="1"/>
          </p:cNvSpPr>
          <p:nvPr/>
        </p:nvSpPr>
        <p:spPr bwMode="auto">
          <a:xfrm>
            <a:off x="3155950" y="1939925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4" name="Rectangle 38"/>
          <p:cNvSpPr>
            <a:spLocks noChangeArrowheads="1"/>
          </p:cNvSpPr>
          <p:nvPr/>
        </p:nvSpPr>
        <p:spPr bwMode="auto">
          <a:xfrm>
            <a:off x="3252788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5" name="Rectangle 39"/>
          <p:cNvSpPr>
            <a:spLocks noChangeArrowheads="1"/>
          </p:cNvSpPr>
          <p:nvPr/>
        </p:nvSpPr>
        <p:spPr bwMode="auto">
          <a:xfrm>
            <a:off x="3349625" y="1943100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6" name="Rectangle 40"/>
          <p:cNvSpPr>
            <a:spLocks noChangeArrowheads="1"/>
          </p:cNvSpPr>
          <p:nvPr/>
        </p:nvSpPr>
        <p:spPr bwMode="auto">
          <a:xfrm>
            <a:off x="3446463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7" name="Rectangle 41"/>
          <p:cNvSpPr>
            <a:spLocks noChangeArrowheads="1"/>
          </p:cNvSpPr>
          <p:nvPr/>
        </p:nvSpPr>
        <p:spPr bwMode="auto">
          <a:xfrm>
            <a:off x="3544888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8" name="Rectangle 42"/>
          <p:cNvSpPr>
            <a:spLocks noChangeArrowheads="1"/>
          </p:cNvSpPr>
          <p:nvPr/>
        </p:nvSpPr>
        <p:spPr bwMode="auto">
          <a:xfrm>
            <a:off x="3640138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39" name="Rectangle 43"/>
          <p:cNvSpPr>
            <a:spLocks noChangeArrowheads="1"/>
          </p:cNvSpPr>
          <p:nvPr/>
        </p:nvSpPr>
        <p:spPr bwMode="auto">
          <a:xfrm>
            <a:off x="3735388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0" name="Rectangle 44"/>
          <p:cNvSpPr>
            <a:spLocks noChangeArrowheads="1"/>
          </p:cNvSpPr>
          <p:nvPr/>
        </p:nvSpPr>
        <p:spPr bwMode="auto">
          <a:xfrm>
            <a:off x="3827463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1" name="Rectangle 45"/>
          <p:cNvSpPr>
            <a:spLocks noChangeArrowheads="1"/>
          </p:cNvSpPr>
          <p:nvPr/>
        </p:nvSpPr>
        <p:spPr bwMode="auto">
          <a:xfrm>
            <a:off x="3924300" y="1941513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2" name="Rectangle 46"/>
          <p:cNvSpPr>
            <a:spLocks noChangeArrowheads="1"/>
          </p:cNvSpPr>
          <p:nvPr/>
        </p:nvSpPr>
        <p:spPr bwMode="auto">
          <a:xfrm>
            <a:off x="4019550" y="1941513"/>
            <a:ext cx="65088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3" name="Rectangle 47"/>
          <p:cNvSpPr>
            <a:spLocks noChangeArrowheads="1"/>
          </p:cNvSpPr>
          <p:nvPr/>
        </p:nvSpPr>
        <p:spPr bwMode="auto">
          <a:xfrm>
            <a:off x="725488" y="2679700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4" name="Rectangle 48"/>
          <p:cNvSpPr>
            <a:spLocks noChangeArrowheads="1"/>
          </p:cNvSpPr>
          <p:nvPr/>
        </p:nvSpPr>
        <p:spPr bwMode="auto">
          <a:xfrm>
            <a:off x="811213" y="1831975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5" name="Line 51"/>
          <p:cNvSpPr>
            <a:spLocks noChangeShapeType="1"/>
          </p:cNvSpPr>
          <p:nvPr/>
        </p:nvSpPr>
        <p:spPr bwMode="auto">
          <a:xfrm>
            <a:off x="1731963" y="2635250"/>
            <a:ext cx="90963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6781" name="Freeform 53"/>
          <p:cNvSpPr/>
          <p:nvPr/>
        </p:nvSpPr>
        <p:spPr>
          <a:xfrm>
            <a:off x="1524000" y="2614613"/>
            <a:ext cx="144463" cy="38417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91" h="242">
                <a:moveTo>
                  <a:pt x="91" y="0"/>
                </a:moveTo>
                <a:lnTo>
                  <a:pt x="88" y="242"/>
                </a:lnTo>
                <a:lnTo>
                  <a:pt x="0" y="242"/>
                </a:lnTo>
              </a:path>
            </a:pathLst>
          </a:custGeom>
          <a:noFill/>
          <a:ln w="12700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447" name="Line 56"/>
          <p:cNvSpPr>
            <a:spLocks noChangeShapeType="1"/>
          </p:cNvSpPr>
          <p:nvPr/>
        </p:nvSpPr>
        <p:spPr bwMode="auto">
          <a:xfrm>
            <a:off x="2201863" y="2654300"/>
            <a:ext cx="12700" cy="4302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8" name="Text Box 57"/>
          <p:cNvSpPr txBox="1">
            <a:spLocks noChangeArrowheads="1"/>
          </p:cNvSpPr>
          <p:nvPr/>
        </p:nvSpPr>
        <p:spPr bwMode="auto">
          <a:xfrm>
            <a:off x="706438" y="2838450"/>
            <a:ext cx="852488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last byte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ACKed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49" name="Text Box 58"/>
          <p:cNvSpPr txBox="1">
            <a:spLocks noChangeArrowheads="1"/>
          </p:cNvSpPr>
          <p:nvPr/>
        </p:nvSpPr>
        <p:spPr bwMode="auto">
          <a:xfrm>
            <a:off x="1731963" y="3016250"/>
            <a:ext cx="1066800" cy="668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p>
            <a:pPr algn="l">
              <a:lnSpc>
                <a:spcPct val="90000"/>
              </a:lnSpc>
            </a:pPr>
            <a:r>
              <a:rPr lang="en-US" altLang="zh-CN" sz="1400" dirty="0">
                <a:latin typeface="Tahoma" panose="020B0604030504040204" charset="0"/>
              </a:rPr>
              <a:t>sent, not-yet ACKed</a:t>
            </a:r>
            <a:endParaRPr lang="en-US" altLang="zh-CN" sz="1400" dirty="0">
              <a:latin typeface="Tahoma" panose="020B0604030504040204" charset="0"/>
            </a:endParaRPr>
          </a:p>
          <a:p>
            <a:pPr algn="l">
              <a:lnSpc>
                <a:spcPct val="90000"/>
              </a:lnSpc>
            </a:pPr>
            <a:r>
              <a:rPr lang="en-US" altLang="zh-CN" sz="1400" dirty="0">
                <a:latin typeface="Tahoma" panose="020B0604030504040204" charset="0"/>
              </a:rPr>
              <a:t>(</a:t>
            </a:r>
            <a:r>
              <a:rPr lang="ja-JP" altLang="en-US" sz="1400" dirty="0">
                <a:latin typeface="Tahoma" panose="020B0604030504040204" charset="0"/>
              </a:rPr>
              <a:t>“</a:t>
            </a:r>
            <a:r>
              <a:rPr lang="en-US" altLang="ja-JP" sz="1400" dirty="0">
                <a:latin typeface="Tahoma" panose="020B0604030504040204" charset="0"/>
              </a:rPr>
              <a:t>in-flight</a:t>
            </a:r>
            <a:r>
              <a:rPr lang="ja-JP" altLang="en-US" sz="1400" dirty="0">
                <a:latin typeface="Tahoma" panose="020B0604030504040204" charset="0"/>
              </a:rPr>
              <a:t>”</a:t>
            </a:r>
            <a:r>
              <a:rPr lang="en-US" altLang="ja-JP" sz="1400" dirty="0">
                <a:latin typeface="Tahoma" panose="020B0604030504040204" charset="0"/>
              </a:rPr>
              <a:t>)</a:t>
            </a:r>
            <a:endParaRPr lang="en-US" altLang="zh-CN" sz="1400" dirty="0">
              <a:latin typeface="Tahoma" panose="020B0604030504040204" charset="0"/>
            </a:endParaRPr>
          </a:p>
        </p:txBody>
      </p:sp>
      <p:sp>
        <p:nvSpPr>
          <p:cNvPr id="102450" name="Text Box 59"/>
          <p:cNvSpPr txBox="1">
            <a:spLocks noChangeArrowheads="1"/>
          </p:cNvSpPr>
          <p:nvPr/>
        </p:nvSpPr>
        <p:spPr bwMode="auto">
          <a:xfrm>
            <a:off x="2774950" y="2878138"/>
            <a:ext cx="1066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last byte sent</a:t>
            </a:r>
            <a:endParaRPr kumimoji="0" 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51" name="Text Box 61"/>
          <p:cNvSpPr txBox="1">
            <a:spLocks noChangeArrowheads="1"/>
          </p:cNvSpPr>
          <p:nvPr/>
        </p:nvSpPr>
        <p:spPr bwMode="auto">
          <a:xfrm>
            <a:off x="2168525" y="1622425"/>
            <a:ext cx="609600" cy="284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endParaRPr kumimoji="0" lang="en-US" sz="1400" b="1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grpSp>
        <p:nvGrpSpPr>
          <p:cNvPr id="116787" name="Group 62"/>
          <p:cNvGrpSpPr/>
          <p:nvPr/>
        </p:nvGrpSpPr>
        <p:grpSpPr>
          <a:xfrm>
            <a:off x="2774950" y="1706563"/>
            <a:ext cx="447675" cy="117475"/>
            <a:chOff x="4250" y="1692"/>
            <a:chExt cx="374" cy="86"/>
          </a:xfrm>
        </p:grpSpPr>
        <p:sp>
          <p:nvSpPr>
            <p:cNvPr id="102474" name="Line 63"/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75" name="Line 64"/>
            <p:cNvSpPr>
              <a:spLocks noChangeShapeType="1"/>
            </p:cNvSpPr>
            <p:nvPr/>
          </p:nvSpPr>
          <p:spPr bwMode="auto">
            <a:xfrm>
              <a:off x="4621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116788" name="Group 65"/>
          <p:cNvGrpSpPr/>
          <p:nvPr/>
        </p:nvGrpSpPr>
        <p:grpSpPr>
          <a:xfrm rot="10800000">
            <a:off x="1736725" y="1725613"/>
            <a:ext cx="466725" cy="123825"/>
            <a:chOff x="4250" y="1692"/>
            <a:chExt cx="374" cy="86"/>
          </a:xfrm>
        </p:grpSpPr>
        <p:sp>
          <p:nvSpPr>
            <p:cNvPr id="102472" name="Line 66"/>
            <p:cNvSpPr>
              <a:spLocks noChangeShapeType="1"/>
            </p:cNvSpPr>
            <p:nvPr/>
          </p:nvSpPr>
          <p:spPr bwMode="auto">
            <a:xfrm>
              <a:off x="4259" y="1746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73" name="Line 67"/>
            <p:cNvSpPr>
              <a:spLocks noChangeShapeType="1"/>
            </p:cNvSpPr>
            <p:nvPr/>
          </p:nvSpPr>
          <p:spPr bwMode="auto">
            <a:xfrm>
              <a:off x="4630" y="1700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16789" name="Freeform 69"/>
          <p:cNvSpPr/>
          <p:nvPr/>
        </p:nvSpPr>
        <p:spPr>
          <a:xfrm flipH="1">
            <a:off x="2628900" y="2703513"/>
            <a:ext cx="144463" cy="301625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pathLst>
              <a:path w="91" h="242">
                <a:moveTo>
                  <a:pt x="91" y="0"/>
                </a:moveTo>
                <a:lnTo>
                  <a:pt x="88" y="242"/>
                </a:lnTo>
                <a:lnTo>
                  <a:pt x="0" y="242"/>
                </a:lnTo>
              </a:path>
            </a:pathLst>
          </a:custGeom>
          <a:noFill/>
          <a:ln w="12700" cap="flat" cmpd="sng">
            <a:solidFill>
              <a:srgbClr val="CC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455" name="Text Box 71"/>
          <p:cNvSpPr txBox="1">
            <a:spLocks noChangeArrowheads="1"/>
          </p:cNvSpPr>
          <p:nvPr/>
        </p:nvSpPr>
        <p:spPr bwMode="auto">
          <a:xfrm>
            <a:off x="1033463" y="4316413"/>
            <a:ext cx="2816225" cy="6143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25425" indent="-225425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225425" marR="0" lvl="0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LastByteSent-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225425" marR="0" lvl="0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	LastByteAcked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grpSp>
        <p:nvGrpSpPr>
          <p:cNvPr id="116791" name="Group 74"/>
          <p:cNvGrpSpPr/>
          <p:nvPr/>
        </p:nvGrpSpPr>
        <p:grpSpPr>
          <a:xfrm>
            <a:off x="3160713" y="4386263"/>
            <a:ext cx="350837" cy="336550"/>
            <a:chOff x="2059" y="2097"/>
            <a:chExt cx="221" cy="212"/>
          </a:xfrm>
        </p:grpSpPr>
        <p:sp>
          <p:nvSpPr>
            <p:cNvPr id="102470" name="Text Box 72"/>
            <p:cNvSpPr txBox="1">
              <a:spLocks noChangeArrowheads="1"/>
            </p:cNvSpPr>
            <p:nvPr/>
          </p:nvSpPr>
          <p:spPr bwMode="auto">
            <a:xfrm>
              <a:off x="2059" y="2097"/>
              <a:ext cx="22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&lt;</a:t>
              </a:r>
              <a:endPara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71" name="Line 73"/>
            <p:cNvSpPr>
              <a:spLocks noChangeShapeType="1"/>
            </p:cNvSpPr>
            <p:nvPr/>
          </p:nvSpPr>
          <p:spPr bwMode="auto">
            <a:xfrm>
              <a:off x="2133" y="2269"/>
              <a:ext cx="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02457" name="Text Box 75"/>
          <p:cNvSpPr txBox="1">
            <a:spLocks noChangeArrowheads="1"/>
          </p:cNvSpPr>
          <p:nvPr/>
        </p:nvSpPr>
        <p:spPr bwMode="auto">
          <a:xfrm>
            <a:off x="3516313" y="4365625"/>
            <a:ext cx="730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</p:txBody>
      </p:sp>
      <p:sp>
        <p:nvSpPr>
          <p:cNvPr id="102458" name="Rectangle 76"/>
          <p:cNvSpPr>
            <a:spLocks noChangeArrowheads="1"/>
          </p:cNvSpPr>
          <p:nvPr/>
        </p:nvSpPr>
        <p:spPr bwMode="auto">
          <a:xfrm>
            <a:off x="896938" y="4306888"/>
            <a:ext cx="3725863" cy="642938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59" name="Text Box 78"/>
          <p:cNvSpPr txBox="1">
            <a:spLocks noChangeArrowheads="1"/>
          </p:cNvSpPr>
          <p:nvPr/>
        </p:nvSpPr>
        <p:spPr bwMode="auto">
          <a:xfrm>
            <a:off x="714375" y="1390650"/>
            <a:ext cx="2720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sender sequence number space </a:t>
            </a:r>
            <a:endParaRPr kumimoji="0" lang="en-US" sz="1400" b="0" i="1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60" name="Text Box 79"/>
          <p:cNvSpPr txBox="1">
            <a:spLocks noChangeArrowheads="1"/>
          </p:cNvSpPr>
          <p:nvPr/>
        </p:nvSpPr>
        <p:spPr bwMode="auto">
          <a:xfrm>
            <a:off x="5495925" y="3727450"/>
            <a:ext cx="7096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rate</a:t>
            </a: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116796" name="Group 82"/>
          <p:cNvGrpSpPr/>
          <p:nvPr/>
        </p:nvGrpSpPr>
        <p:grpSpPr>
          <a:xfrm>
            <a:off x="5902325" y="3752850"/>
            <a:ext cx="931863" cy="441325"/>
            <a:chOff x="4214" y="2517"/>
            <a:chExt cx="587" cy="278"/>
          </a:xfrm>
        </p:grpSpPr>
        <p:sp>
          <p:nvSpPr>
            <p:cNvPr id="102468" name="Text Box 80"/>
            <p:cNvSpPr txBox="1">
              <a:spLocks noChangeArrowheads="1"/>
            </p:cNvSpPr>
            <p:nvPr/>
          </p:nvSpPr>
          <p:spPr bwMode="auto">
            <a:xfrm>
              <a:off x="4216" y="2517"/>
              <a:ext cx="585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~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69" name="Text Box 81"/>
            <p:cNvSpPr txBox="1">
              <a:spLocks noChangeArrowheads="1"/>
            </p:cNvSpPr>
            <p:nvPr/>
          </p:nvSpPr>
          <p:spPr bwMode="auto">
            <a:xfrm>
              <a:off x="4214" y="2564"/>
              <a:ext cx="585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~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116797" name="Group 86"/>
          <p:cNvGrpSpPr/>
          <p:nvPr/>
        </p:nvGrpSpPr>
        <p:grpSpPr>
          <a:xfrm>
            <a:off x="6577013" y="3603625"/>
            <a:ext cx="712787" cy="715963"/>
            <a:chOff x="4400" y="2509"/>
            <a:chExt cx="449" cy="451"/>
          </a:xfrm>
        </p:grpSpPr>
        <p:sp>
          <p:nvSpPr>
            <p:cNvPr id="102465" name="Text Box 83"/>
            <p:cNvSpPr txBox="1">
              <a:spLocks noChangeArrowheads="1"/>
            </p:cNvSpPr>
            <p:nvPr/>
          </p:nvSpPr>
          <p:spPr bwMode="auto">
            <a:xfrm>
              <a:off x="4400" y="2509"/>
              <a:ext cx="449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cwnd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66" name="Text Box 84"/>
            <p:cNvSpPr txBox="1">
              <a:spLocks noChangeArrowheads="1"/>
            </p:cNvSpPr>
            <p:nvPr/>
          </p:nvSpPr>
          <p:spPr bwMode="auto">
            <a:xfrm>
              <a:off x="4443" y="2729"/>
              <a:ext cx="373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RTT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2467" name="Line 85"/>
            <p:cNvSpPr>
              <a:spLocks noChangeShapeType="1"/>
            </p:cNvSpPr>
            <p:nvPr/>
          </p:nvSpPr>
          <p:spPr bwMode="auto">
            <a:xfrm>
              <a:off x="4430" y="2731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02463" name="Text Box 87"/>
          <p:cNvSpPr txBox="1">
            <a:spLocks noChangeArrowheads="1"/>
          </p:cNvSpPr>
          <p:nvPr/>
        </p:nvSpPr>
        <p:spPr bwMode="auto">
          <a:xfrm>
            <a:off x="7294563" y="3762375"/>
            <a:ext cx="1138238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bytes/sec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2464" name="Rectangle 88"/>
          <p:cNvSpPr>
            <a:spLocks noChangeArrowheads="1"/>
          </p:cNvSpPr>
          <p:nvPr/>
        </p:nvSpPr>
        <p:spPr bwMode="auto">
          <a:xfrm>
            <a:off x="5451475" y="3638550"/>
            <a:ext cx="3035300" cy="644525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27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>
          <a:xfrm>
            <a:off x="350838" y="149225"/>
            <a:ext cx="7772400" cy="1041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Slow Start 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342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1663" y="1397000"/>
            <a:ext cx="4249738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when connection begins, increase rate exponentially until first loss event: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initially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cwnd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= 1 MSS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double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cwnd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every RTT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done by incrementing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cwnd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for every ACK received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summary: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initial rate is slow but ramps up exponentially fast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3430" name="Line 6"/>
          <p:cNvSpPr>
            <a:spLocks noChangeShapeType="1"/>
          </p:cNvSpPr>
          <p:nvPr/>
        </p:nvSpPr>
        <p:spPr bwMode="auto">
          <a:xfrm>
            <a:off x="5616575" y="2309813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31" name="Text Box 8"/>
          <p:cNvSpPr txBox="1">
            <a:spLocks noChangeArrowheads="1"/>
          </p:cNvSpPr>
          <p:nvPr/>
        </p:nvSpPr>
        <p:spPr bwMode="auto">
          <a:xfrm>
            <a:off x="5213350" y="1171575"/>
            <a:ext cx="869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Host A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3432" name="Text Box 9"/>
          <p:cNvSpPr txBox="1">
            <a:spLocks noChangeArrowheads="1"/>
          </p:cNvSpPr>
          <p:nvPr/>
        </p:nvSpPr>
        <p:spPr bwMode="auto">
          <a:xfrm rot="408567">
            <a:off x="6623050" y="2276475"/>
            <a:ext cx="120808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103433" name="Text Box 10"/>
          <p:cNvSpPr txBox="1">
            <a:spLocks noChangeArrowheads="1"/>
          </p:cNvSpPr>
          <p:nvPr/>
        </p:nvSpPr>
        <p:spPr bwMode="auto">
          <a:xfrm rot="-5400000">
            <a:off x="5174456" y="2513806"/>
            <a:ext cx="5286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RTT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3434" name="Text Box 12"/>
          <p:cNvSpPr txBox="1">
            <a:spLocks noChangeArrowheads="1"/>
          </p:cNvSpPr>
          <p:nvPr/>
        </p:nvSpPr>
        <p:spPr bwMode="auto">
          <a:xfrm>
            <a:off x="7650163" y="1157288"/>
            <a:ext cx="8699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Host B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3435" name="Line 13"/>
          <p:cNvSpPr>
            <a:spLocks noChangeShapeType="1"/>
          </p:cNvSpPr>
          <p:nvPr/>
        </p:nvSpPr>
        <p:spPr bwMode="auto">
          <a:xfrm>
            <a:off x="5611813" y="21240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36" name="Line 14"/>
          <p:cNvSpPr>
            <a:spLocks noChangeShapeType="1"/>
          </p:cNvSpPr>
          <p:nvPr/>
        </p:nvSpPr>
        <p:spPr bwMode="auto">
          <a:xfrm>
            <a:off x="8126413" y="21621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37" name="Line 15"/>
          <p:cNvSpPr>
            <a:spLocks noChangeShapeType="1"/>
          </p:cNvSpPr>
          <p:nvPr/>
        </p:nvSpPr>
        <p:spPr bwMode="auto">
          <a:xfrm flipH="1" flipV="1">
            <a:off x="5430838" y="2273300"/>
            <a:ext cx="4763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38" name="Line 16"/>
          <p:cNvSpPr>
            <a:spLocks noChangeShapeType="1"/>
          </p:cNvSpPr>
          <p:nvPr/>
        </p:nvSpPr>
        <p:spPr bwMode="auto">
          <a:xfrm>
            <a:off x="5440363" y="2879725"/>
            <a:ext cx="4763" cy="223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39" name="Line 17"/>
          <p:cNvSpPr>
            <a:spLocks noChangeShapeType="1"/>
          </p:cNvSpPr>
          <p:nvPr/>
        </p:nvSpPr>
        <p:spPr bwMode="auto">
          <a:xfrm flipV="1">
            <a:off x="5592763" y="2714625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117775" name="Group 18"/>
          <p:cNvGrpSpPr/>
          <p:nvPr/>
        </p:nvGrpSpPr>
        <p:grpSpPr>
          <a:xfrm>
            <a:off x="7840663" y="5456238"/>
            <a:ext cx="615950" cy="366712"/>
            <a:chOff x="3317" y="3527"/>
            <a:chExt cx="388" cy="231"/>
          </a:xfrm>
        </p:grpSpPr>
        <p:sp>
          <p:nvSpPr>
            <p:cNvPr id="103494" name="Rectangle 19"/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95" name="Text Box 20"/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time</a:t>
              </a:r>
              <a:endPara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</p:grpSp>
      <p:sp>
        <p:nvSpPr>
          <p:cNvPr id="103441" name="Line 21"/>
          <p:cNvSpPr>
            <a:spLocks noChangeShapeType="1"/>
          </p:cNvSpPr>
          <p:nvPr/>
        </p:nvSpPr>
        <p:spPr bwMode="auto">
          <a:xfrm>
            <a:off x="5621338" y="3090863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42" name="Line 22"/>
          <p:cNvSpPr>
            <a:spLocks noChangeShapeType="1"/>
          </p:cNvSpPr>
          <p:nvPr/>
        </p:nvSpPr>
        <p:spPr bwMode="auto">
          <a:xfrm>
            <a:off x="5616575" y="3176588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43" name="Line 23"/>
          <p:cNvSpPr>
            <a:spLocks noChangeShapeType="1"/>
          </p:cNvSpPr>
          <p:nvPr/>
        </p:nvSpPr>
        <p:spPr bwMode="auto">
          <a:xfrm flipV="1">
            <a:off x="5616575" y="3700463"/>
            <a:ext cx="2528888" cy="3619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44" name="Line 24"/>
          <p:cNvSpPr>
            <a:spLocks noChangeShapeType="1"/>
          </p:cNvSpPr>
          <p:nvPr/>
        </p:nvSpPr>
        <p:spPr bwMode="auto">
          <a:xfrm flipV="1">
            <a:off x="5589588" y="3960813"/>
            <a:ext cx="2505075" cy="3524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3445" name="Text Box 25"/>
          <p:cNvSpPr txBox="1">
            <a:spLocks noChangeArrowheads="1"/>
          </p:cNvSpPr>
          <p:nvPr/>
        </p:nvSpPr>
        <p:spPr bwMode="auto">
          <a:xfrm rot="408567">
            <a:off x="6621463" y="3062288"/>
            <a:ext cx="12779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sp>
        <p:nvSpPr>
          <p:cNvPr id="103446" name="Text Box 26"/>
          <p:cNvSpPr txBox="1">
            <a:spLocks noChangeArrowheads="1"/>
          </p:cNvSpPr>
          <p:nvPr/>
        </p:nvSpPr>
        <p:spPr bwMode="auto">
          <a:xfrm rot="408567">
            <a:off x="6713538" y="4076700"/>
            <a:ext cx="130651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charset="0"/>
              <a:ea typeface="MS PGothic" charset="0"/>
              <a:cs typeface="+mn-cs"/>
            </a:endParaRPr>
          </a:p>
        </p:txBody>
      </p:sp>
      <p:grpSp>
        <p:nvGrpSpPr>
          <p:cNvPr id="117782" name="Group 27"/>
          <p:cNvGrpSpPr/>
          <p:nvPr/>
        </p:nvGrpSpPr>
        <p:grpSpPr>
          <a:xfrm>
            <a:off x="5611813" y="4095750"/>
            <a:ext cx="2519362" cy="652463"/>
            <a:chOff x="3954" y="2214"/>
            <a:chExt cx="1587" cy="411"/>
          </a:xfrm>
        </p:grpSpPr>
        <p:sp>
          <p:nvSpPr>
            <p:cNvPr id="103490" name="Line 28"/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91" name="Line 29"/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92" name="Line 30"/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93" name="Line 31"/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117783" name="Group 32"/>
          <p:cNvGrpSpPr/>
          <p:nvPr/>
        </p:nvGrpSpPr>
        <p:grpSpPr>
          <a:xfrm flipV="1">
            <a:off x="5897563" y="4476750"/>
            <a:ext cx="2228850" cy="604838"/>
            <a:chOff x="3954" y="2214"/>
            <a:chExt cx="1587" cy="411"/>
          </a:xfrm>
        </p:grpSpPr>
        <p:sp>
          <p:nvSpPr>
            <p:cNvPr id="103486" name="Line 33"/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87" name="Line 34"/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88" name="Line 35"/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89" name="Line 36"/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pic>
        <p:nvPicPr>
          <p:cNvPr id="117784" name="Picture 39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09588" y="927100"/>
            <a:ext cx="3656012" cy="1730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7785" name="Group 43"/>
          <p:cNvGrpSpPr/>
          <p:nvPr/>
        </p:nvGrpSpPr>
        <p:grpSpPr>
          <a:xfrm>
            <a:off x="5173663" y="1495425"/>
            <a:ext cx="654050" cy="601663"/>
            <a:chOff x="-44" y="1473"/>
            <a:chExt cx="981" cy="1105"/>
          </a:xfrm>
        </p:grpSpPr>
        <p:pic>
          <p:nvPicPr>
            <p:cNvPr id="117819" name="Picture 44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7820" name="Freeform 45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17786" name="Group 46"/>
          <p:cNvGrpSpPr/>
          <p:nvPr/>
        </p:nvGrpSpPr>
        <p:grpSpPr>
          <a:xfrm>
            <a:off x="7908925" y="1509713"/>
            <a:ext cx="382588" cy="547687"/>
            <a:chOff x="4140" y="429"/>
            <a:chExt cx="1425" cy="2396"/>
          </a:xfrm>
        </p:grpSpPr>
        <p:sp>
          <p:nvSpPr>
            <p:cNvPr id="117787" name="Freeform 47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8" y="55"/>
                </a:cxn>
                <a:cxn ang="0">
                  <a:pos x="37" y="425"/>
                </a:cxn>
                <a:cxn ang="0">
                  <a:pos x="0" y="445"/>
                </a:cxn>
                <a:cxn ang="0">
                  <a:pos x="7" y="0"/>
                </a:cxn>
              </a:cxnLst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53" name="Rectangle 48"/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7789" name="Freeform 49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3" y="36"/>
                </a:cxn>
                <a:cxn ang="0">
                  <a:pos x="2" y="405"/>
                </a:cxn>
                <a:cxn ang="0">
                  <a:pos x="2" y="0"/>
                </a:cxn>
              </a:cxnLst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790" name="Freeform 5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1"/>
                </a:cxn>
                <a:cxn ang="0">
                  <a:pos x="36" y="38"/>
                </a:cxn>
                <a:cxn ang="0">
                  <a:pos x="0" y="16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56" name="Rectangle 51"/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17792" name="Group 52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482" name="AutoShape 53"/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3483" name="AutoShape 54"/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03458" name="Rectangle 55"/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17794" name="Group 56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480" name="AutoShape 57"/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3481" name="AutoShape 58"/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03460" name="Rectangle 59"/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61" name="Rectangle 60"/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17797" name="Group 61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478" name="AutoShape 62"/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3479" name="AutoShape 63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17798" name="Freeform 64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6" y="20"/>
                </a:cxn>
                <a:cxn ang="0">
                  <a:pos x="36" y="36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17799" name="Group 65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3476" name="AutoShape 66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3477" name="AutoShape 67"/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03465" name="Rectangle 68"/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7801" name="Freeform 69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2" y="22"/>
                </a:cxn>
                <a:cxn ang="0">
                  <a:pos x="32" y="41"/>
                </a:cxn>
                <a:cxn ang="0">
                  <a:pos x="0" y="15"/>
                </a:cxn>
                <a:cxn ang="0">
                  <a:pos x="2" y="0"/>
                </a:cxn>
              </a:cxnLst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7802" name="Freeform 7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27"/>
                </a:cxn>
                <a:cxn ang="0">
                  <a:pos x="31" y="48"/>
                </a:cxn>
                <a:cxn ang="0">
                  <a:pos x="2" y="20"/>
                </a:cxn>
                <a:cxn ang="0">
                  <a:pos x="0" y="0"/>
                </a:cxn>
              </a:cxnLst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68" name="Oval 71"/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17804" name="Freeform 7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" y="40"/>
                </a:cxn>
                <a:cxn ang="0">
                  <a:pos x="34" y="18"/>
                </a:cxn>
                <a:cxn ang="0">
                  <a:pos x="32" y="0"/>
                </a:cxn>
                <a:cxn ang="0">
                  <a:pos x="0" y="18"/>
                </a:cxn>
              </a:cxnLst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70" name="AutoShape 73"/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71" name="AutoShape 74"/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72" name="Oval 75"/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73" name="Oval 76"/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endParaRPr>
            </a:p>
          </p:txBody>
        </p:sp>
        <p:sp>
          <p:nvSpPr>
            <p:cNvPr id="103474" name="Oval 77"/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3475" name="Rectangle 78"/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445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18787" name="Picture 12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69925" y="1031875"/>
            <a:ext cx="73136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detecting, reacting to loss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445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524000"/>
            <a:ext cx="8577263" cy="2438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loss indicated by timeout: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cwnd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set to 1 MSS;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window then grows exponentially (as in slow start) to threshold, then grows linearly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loss indicated by 3 duplicate ACKs: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TCP RENO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dup ACKs indicate network capable of  delivering some segments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</a:rPr>
              <a:t>cwnd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 is cut in half window then grows linearly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TCP Tahoe always sets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to 1 (timeout or 3 duplicate acks)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547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219200"/>
            <a:ext cx="2819400" cy="2514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Q: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when should the exponential increase switch to linear?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when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gets to 1/2 of its value before timeout.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547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33400" y="3962400"/>
            <a:ext cx="3810000" cy="190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Implementation: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variable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ssthresh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on loss event,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ssthresh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is set to 1/2 of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cwnd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charset="0"/>
                <a:ea typeface="MS PGothic" charset="0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just before loss event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pic>
        <p:nvPicPr>
          <p:cNvPr id="105478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025" y="1770063"/>
            <a:ext cx="5105400" cy="2911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9814" name="Picture 9" descr="underline_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669925" y="942975"/>
            <a:ext cx="7313613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480" name="Rectangle 10"/>
          <p:cNvSpPr>
            <a:spLocks noGrp="1" noChangeArrowheads="1"/>
          </p:cNvSpPr>
          <p:nvPr>
            <p:ph type="title"/>
          </p:nvPr>
        </p:nvSpPr>
        <p:spPr>
          <a:xfrm>
            <a:off x="533400" y="139700"/>
            <a:ext cx="8043863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TCP: switching from slow start to CA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19816" name="TextBox 1"/>
          <p:cNvSpPr txBox="1"/>
          <p:nvPr/>
        </p:nvSpPr>
        <p:spPr>
          <a:xfrm>
            <a:off x="339725" y="6199188"/>
            <a:ext cx="450691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400">
                <a:latin typeface="Arial" panose="020B0604020202090204" pitchFamily="34" charset="0"/>
              </a:rPr>
              <a:t>* Check out the online interactive exercises for more examples: h</a:t>
            </a:r>
            <a:r>
              <a:rPr lang="en-US" altLang="zh-CN" sz="1200">
                <a:latin typeface="Arial" panose="020B0604020202090204" pitchFamily="34" charset="0"/>
              </a:rPr>
              <a:t>ttp://gaia.cs.umass.edu/kurose_ross/interactive/</a:t>
            </a:r>
            <a:endParaRPr lang="en-US" altLang="zh-CN" sz="120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6499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675" y="187325"/>
            <a:ext cx="7772400" cy="8604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Summary: TCP Congestion Control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grpSp>
        <p:nvGrpSpPr>
          <p:cNvPr id="274672" name="Group 240"/>
          <p:cNvGrpSpPr/>
          <p:nvPr/>
        </p:nvGrpSpPr>
        <p:grpSpPr>
          <a:xfrm>
            <a:off x="3441700" y="2908300"/>
            <a:ext cx="2133600" cy="814388"/>
            <a:chOff x="2168" y="1727"/>
            <a:chExt cx="1344" cy="513"/>
          </a:xfrm>
        </p:grpSpPr>
        <p:grpSp>
          <p:nvGrpSpPr>
            <p:cNvPr id="120938" name="Group 171"/>
            <p:cNvGrpSpPr/>
            <p:nvPr/>
          </p:nvGrpSpPr>
          <p:grpSpPr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106605" name="Text Box 172"/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timeout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606" name="Text Box 173"/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 = cwnd/2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1 MSS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607" name="Line 174"/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06604" name="Line 175"/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274671" name="Group 239"/>
          <p:cNvGrpSpPr/>
          <p:nvPr/>
        </p:nvGrpSpPr>
        <p:grpSpPr>
          <a:xfrm>
            <a:off x="3471863" y="2432050"/>
            <a:ext cx="2133600" cy="398463"/>
            <a:chOff x="2187" y="1427"/>
            <a:chExt cx="1344" cy="251"/>
          </a:xfrm>
        </p:grpSpPr>
        <p:sp>
          <p:nvSpPr>
            <p:cNvPr id="106597" name="Line 176"/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6598" name="Text Box 181"/>
            <p:cNvSpPr txBox="1">
              <a:spLocks noChangeArrowheads="1"/>
            </p:cNvSpPr>
            <p:nvPr/>
          </p:nvSpPr>
          <p:spPr bwMode="auto"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charset="0"/>
                  <a:ea typeface="MS PGothic" charset="0"/>
                  <a:cs typeface="+mn-cs"/>
                </a:rPr>
                <a:t>L</a:t>
              </a:r>
              <a:endPara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charset="0"/>
                <a:ea typeface="MS PGothic" charset="0"/>
                <a:cs typeface="+mn-cs"/>
              </a:endParaRPr>
            </a:p>
          </p:txBody>
        </p:sp>
        <p:sp>
          <p:nvSpPr>
            <p:cNvPr id="106599" name="Line 182"/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20935" name="Group 183"/>
            <p:cNvGrpSpPr/>
            <p:nvPr/>
          </p:nvGrpSpPr>
          <p:grpSpPr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106601" name="Text Box 184"/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&gt; ssthresh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602" name="Line 185"/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74674" name="Group 242"/>
          <p:cNvGrpSpPr/>
          <p:nvPr/>
        </p:nvGrpSpPr>
        <p:grpSpPr>
          <a:xfrm>
            <a:off x="5586413" y="1370013"/>
            <a:ext cx="2682875" cy="2365375"/>
            <a:chOff x="3519" y="786"/>
            <a:chExt cx="1690" cy="1490"/>
          </a:xfrm>
        </p:grpSpPr>
        <p:grpSp>
          <p:nvGrpSpPr>
            <p:cNvPr id="120918" name="Group 164"/>
            <p:cNvGrpSpPr/>
            <p:nvPr/>
          </p:nvGrpSpPr>
          <p:grpSpPr>
            <a:xfrm>
              <a:off x="3602" y="1330"/>
              <a:ext cx="817" cy="754"/>
              <a:chOff x="2293" y="2021"/>
              <a:chExt cx="817" cy="754"/>
            </a:xfrm>
          </p:grpSpPr>
          <p:sp>
            <p:nvSpPr>
              <p:cNvPr id="106595" name="Oval 165"/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96" name="Text Box 166"/>
              <p:cNvSpPr txBox="1">
                <a:spLocks noChangeArrowheads="1"/>
              </p:cNvSpPr>
              <p:nvPr/>
            </p:nvSpPr>
            <p:spPr bwMode="auto">
              <a:xfrm>
                <a:off x="2298" y="2191"/>
                <a:ext cx="812" cy="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congestion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avoidance 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919" name="Group 190"/>
            <p:cNvGrpSpPr/>
            <p:nvPr/>
          </p:nvGrpSpPr>
          <p:grpSpPr>
            <a:xfrm>
              <a:off x="3519" y="786"/>
              <a:ext cx="1409" cy="541"/>
              <a:chOff x="3542" y="904"/>
              <a:chExt cx="1409" cy="541"/>
            </a:xfrm>
          </p:grpSpPr>
          <p:sp>
            <p:nvSpPr>
              <p:cNvPr id="106591" name="Text Box 191"/>
              <p:cNvSpPr txBox="1">
                <a:spLocks noChangeArrowheads="1"/>
              </p:cNvSpPr>
              <p:nvPr/>
            </p:nvSpPr>
            <p:spPr bwMode="auto">
              <a:xfrm>
                <a:off x="3542" y="1037"/>
                <a:ext cx="1409" cy="4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cwnd + MSS    (MSS/cwnd)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transmit new segment(s), as allowed</a:t>
                </a:r>
                <a:endParaRPr kumimoji="0" lang="en-US" sz="10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92" name="Line 192"/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93" name="Text Box 193"/>
              <p:cNvSpPr txBox="1">
                <a:spLocks noChangeArrowheads="1"/>
              </p:cNvSpPr>
              <p:nvPr/>
            </p:nvSpPr>
            <p:spPr bwMode="auto">
              <a:xfrm>
                <a:off x="4014" y="923"/>
                <a:ext cx="448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new ACK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94" name="Text Box 194"/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16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503050405090304" charset="0"/>
                    <a:ea typeface="MS PGothic" charset="0"/>
                    <a:cs typeface="+mn-cs"/>
                  </a:rPr>
                  <a:t>.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920" name="Freeform 195"/>
            <p:cNvSpPr/>
            <p:nvPr/>
          </p:nvSpPr>
          <p:spPr>
            <a:xfrm rot="9705213">
              <a:off x="4212" y="1145"/>
              <a:ext cx="333" cy="452"/>
            </a:xfrm>
            <a:custGeom>
              <a:avLst/>
              <a:gdLst/>
              <a:ahLst/>
              <a:cxnLst>
                <a:cxn ang="0">
                  <a:pos x="112" y="306"/>
                </a:cxn>
                <a:cxn ang="0">
                  <a:pos x="24" y="269"/>
                </a:cxn>
                <a:cxn ang="0">
                  <a:pos x="62" y="0"/>
                </a:cxn>
              </a:cxnLst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0921" name="Group 196"/>
            <p:cNvGrpSpPr/>
            <p:nvPr/>
          </p:nvGrpSpPr>
          <p:grpSpPr>
            <a:xfrm>
              <a:off x="4509" y="1909"/>
              <a:ext cx="700" cy="367"/>
              <a:chOff x="4274" y="2922"/>
              <a:chExt cx="700" cy="367"/>
            </a:xfrm>
          </p:grpSpPr>
          <p:sp>
            <p:nvSpPr>
              <p:cNvPr id="106588" name="Text Box 197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00" cy="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dupACKcount++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89" name="Line 198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90" name="Text Box 199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duplicate ACK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922" name="Freeform 200"/>
            <p:cNvSpPr/>
            <p:nvPr/>
          </p:nvSpPr>
          <p:spPr>
            <a:xfrm rot="-7516021">
              <a:off x="4290" y="1672"/>
              <a:ext cx="333" cy="452"/>
            </a:xfrm>
            <a:custGeom>
              <a:avLst/>
              <a:gdLst/>
              <a:ahLst/>
              <a:cxnLst>
                <a:cxn ang="0">
                  <a:pos x="112" y="306"/>
                </a:cxn>
                <a:cxn ang="0">
                  <a:pos x="24" y="269"/>
                </a:cxn>
                <a:cxn ang="0">
                  <a:pos x="62" y="0"/>
                </a:cxn>
              </a:cxnLst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4677" name="Group 245"/>
          <p:cNvGrpSpPr/>
          <p:nvPr/>
        </p:nvGrpSpPr>
        <p:grpSpPr>
          <a:xfrm>
            <a:off x="4029075" y="4821238"/>
            <a:ext cx="3279775" cy="1717675"/>
            <a:chOff x="2538" y="2960"/>
            <a:chExt cx="2066" cy="1082"/>
          </a:xfrm>
        </p:grpSpPr>
        <p:grpSp>
          <p:nvGrpSpPr>
            <p:cNvPr id="120909" name="Group 167"/>
            <p:cNvGrpSpPr/>
            <p:nvPr/>
          </p:nvGrpSpPr>
          <p:grpSpPr>
            <a:xfrm>
              <a:off x="2538" y="2960"/>
              <a:ext cx="800" cy="754"/>
              <a:chOff x="2454" y="3045"/>
              <a:chExt cx="800" cy="754"/>
            </a:xfrm>
          </p:grpSpPr>
          <p:sp>
            <p:nvSpPr>
              <p:cNvPr id="106580" name="Oval 168"/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81" name="Text Box 169"/>
              <p:cNvSpPr txBox="1">
                <a:spLocks noChangeArrowheads="1"/>
              </p:cNvSpPr>
              <p:nvPr/>
            </p:nvSpPr>
            <p:spPr bwMode="auto">
              <a:xfrm>
                <a:off x="2796" y="3212"/>
                <a:ext cx="156" cy="4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82" name="Text Box 170"/>
              <p:cNvSpPr txBox="1">
                <a:spLocks noChangeArrowheads="1"/>
              </p:cNvSpPr>
              <p:nvPr/>
            </p:nvSpPr>
            <p:spPr bwMode="auto">
              <a:xfrm>
                <a:off x="2510" y="3204"/>
                <a:ext cx="708" cy="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fast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recovery 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910" name="Freeform 220"/>
            <p:cNvSpPr/>
            <p:nvPr/>
          </p:nvSpPr>
          <p:spPr>
            <a:xfrm>
              <a:off x="2775" y="3708"/>
              <a:ext cx="384" cy="161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189" y="155"/>
                </a:cxn>
                <a:cxn ang="0">
                  <a:pos x="59" y="13"/>
                </a:cxn>
              </a:cxnLst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0911" name="Group 221"/>
            <p:cNvGrpSpPr/>
            <p:nvPr/>
          </p:nvGrpSpPr>
          <p:grpSpPr>
            <a:xfrm>
              <a:off x="3191" y="3592"/>
              <a:ext cx="1413" cy="450"/>
              <a:chOff x="3542" y="3496"/>
              <a:chExt cx="1413" cy="450"/>
            </a:xfrm>
          </p:grpSpPr>
          <p:sp>
            <p:nvSpPr>
              <p:cNvPr id="106577" name="Text Box 222"/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09" cy="3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cwnd + MSS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transmit new segment(s), as allowed</a:t>
                </a:r>
                <a:endParaRPr kumimoji="0" lang="en-US" sz="10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78" name="Line 223"/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79" name="Text Box 224"/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duplicate ACK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74678" name="Group 246"/>
          <p:cNvGrpSpPr/>
          <p:nvPr/>
        </p:nvGrpSpPr>
        <p:grpSpPr>
          <a:xfrm>
            <a:off x="928688" y="3502025"/>
            <a:ext cx="3724275" cy="1927225"/>
            <a:chOff x="585" y="2129"/>
            <a:chExt cx="2346" cy="1214"/>
          </a:xfrm>
        </p:grpSpPr>
        <p:grpSp>
          <p:nvGrpSpPr>
            <p:cNvPr id="120899" name="Group 212"/>
            <p:cNvGrpSpPr/>
            <p:nvPr/>
          </p:nvGrpSpPr>
          <p:grpSpPr>
            <a:xfrm>
              <a:off x="585" y="2818"/>
              <a:ext cx="1095" cy="525"/>
              <a:chOff x="444" y="2768"/>
              <a:chExt cx="1095" cy="525"/>
            </a:xfrm>
          </p:grpSpPr>
          <p:sp>
            <p:nvSpPr>
              <p:cNvPr id="106571" name="Text Box 213"/>
              <p:cNvSpPr txBox="1">
                <a:spLocks noChangeArrowheads="1"/>
              </p:cNvSpPr>
              <p:nvPr/>
            </p:nvSpPr>
            <p:spPr bwMode="auto">
              <a:xfrm>
                <a:off x="444" y="2912"/>
                <a:ext cx="1091" cy="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ssthresh= cwnd/2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ssthresh + 3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retransmit missing segment</a:t>
                </a:r>
                <a:endParaRPr kumimoji="0" lang="en-US" sz="10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72" name="Line 214"/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73" name="Text Box 215"/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788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== 3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900" name="Group 216"/>
            <p:cNvGrpSpPr/>
            <p:nvPr/>
          </p:nvGrpSpPr>
          <p:grpSpPr>
            <a:xfrm>
              <a:off x="1813" y="2454"/>
              <a:ext cx="1118" cy="519"/>
              <a:chOff x="419" y="2872"/>
              <a:chExt cx="1118" cy="519"/>
            </a:xfrm>
          </p:grpSpPr>
          <p:sp>
            <p:nvSpPr>
              <p:cNvPr id="106568" name="Text Box 217"/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timeout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69" name="Text Box 218"/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 = cwnd/2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1 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70" name="Line 219"/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901" name="Freeform 225"/>
            <p:cNvSpPr/>
            <p:nvPr/>
          </p:nvSpPr>
          <p:spPr>
            <a:xfrm>
              <a:off x="1722" y="2129"/>
              <a:ext cx="740" cy="1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46"/>
                </a:cxn>
                <a:cxn ang="0">
                  <a:pos x="740" y="1146"/>
                </a:cxn>
              </a:cxnLst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0902" name="Freeform 226"/>
            <p:cNvSpPr/>
            <p:nvPr/>
          </p:nvSpPr>
          <p:spPr>
            <a:xfrm>
              <a:off x="1791" y="2146"/>
              <a:ext cx="700" cy="1051"/>
            </a:xfrm>
            <a:custGeom>
              <a:avLst/>
              <a:gdLst/>
              <a:ahLst/>
              <a:cxnLst>
                <a:cxn ang="0">
                  <a:pos x="700" y="1051"/>
                </a:cxn>
                <a:cxn ang="0">
                  <a:pos x="0" y="1051"/>
                </a:cxn>
                <a:cxn ang="0">
                  <a:pos x="0" y="0"/>
                </a:cxn>
              </a:cxnLst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4676" name="Group 244"/>
          <p:cNvGrpSpPr/>
          <p:nvPr/>
        </p:nvGrpSpPr>
        <p:grpSpPr>
          <a:xfrm>
            <a:off x="5351463" y="3494088"/>
            <a:ext cx="2921000" cy="1916112"/>
            <a:chOff x="3371" y="2124"/>
            <a:chExt cx="1840" cy="1207"/>
          </a:xfrm>
        </p:grpSpPr>
        <p:grpSp>
          <p:nvGrpSpPr>
            <p:cNvPr id="120894" name="Group 201"/>
            <p:cNvGrpSpPr/>
            <p:nvPr/>
          </p:nvGrpSpPr>
          <p:grpSpPr>
            <a:xfrm>
              <a:off x="4120" y="2796"/>
              <a:ext cx="1091" cy="535"/>
              <a:chOff x="4142" y="2802"/>
              <a:chExt cx="1091" cy="535"/>
            </a:xfrm>
          </p:grpSpPr>
          <p:sp>
            <p:nvSpPr>
              <p:cNvPr id="106561" name="Text Box 202"/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091" cy="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ssthresh= cwnd/2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ssthresh + 3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retransmit missing segment</a:t>
                </a:r>
                <a:endParaRPr kumimoji="0" lang="en-US" sz="10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1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62" name="Line 203"/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63" name="Text Box 204"/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788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== 3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895" name="Freeform 227"/>
            <p:cNvSpPr/>
            <p:nvPr/>
          </p:nvSpPr>
          <p:spPr>
            <a:xfrm flipH="1">
              <a:off x="3371" y="2124"/>
              <a:ext cx="740" cy="1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46"/>
                </a:cxn>
                <a:cxn ang="0">
                  <a:pos x="740" y="1146"/>
                </a:cxn>
              </a:cxnLst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4675" name="Group 243"/>
          <p:cNvGrpSpPr/>
          <p:nvPr/>
        </p:nvGrpSpPr>
        <p:grpSpPr>
          <a:xfrm>
            <a:off x="5186363" y="3519488"/>
            <a:ext cx="1206500" cy="1668462"/>
            <a:chOff x="3267" y="2140"/>
            <a:chExt cx="760" cy="1051"/>
          </a:xfrm>
        </p:grpSpPr>
        <p:sp>
          <p:nvSpPr>
            <p:cNvPr id="120888" name="Freeform 228"/>
            <p:cNvSpPr/>
            <p:nvPr/>
          </p:nvSpPr>
          <p:spPr>
            <a:xfrm flipH="1">
              <a:off x="3327" y="2140"/>
              <a:ext cx="700" cy="1051"/>
            </a:xfrm>
            <a:custGeom>
              <a:avLst/>
              <a:gdLst/>
              <a:ahLst/>
              <a:cxnLst>
                <a:cxn ang="0">
                  <a:pos x="700" y="1051"/>
                </a:cxn>
                <a:cxn ang="0">
                  <a:pos x="0" y="1051"/>
                </a:cxn>
                <a:cxn ang="0">
                  <a:pos x="0" y="0"/>
                </a:cxn>
              </a:cxnLst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0889" name="Group 229"/>
            <p:cNvGrpSpPr/>
            <p:nvPr/>
          </p:nvGrpSpPr>
          <p:grpSpPr>
            <a:xfrm>
              <a:off x="3267" y="2649"/>
              <a:ext cx="741" cy="525"/>
              <a:chOff x="1059" y="3496"/>
              <a:chExt cx="741" cy="525"/>
            </a:xfrm>
          </p:grpSpPr>
          <p:sp>
            <p:nvSpPr>
              <p:cNvPr id="106555" name="Text Box 230"/>
              <p:cNvSpPr txBox="1">
                <a:spLocks noChangeArrowheads="1"/>
              </p:cNvSpPr>
              <p:nvPr/>
            </p:nvSpPr>
            <p:spPr bwMode="auto">
              <a:xfrm>
                <a:off x="1059" y="3640"/>
                <a:ext cx="741" cy="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ssthresh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grpSp>
            <p:nvGrpSpPr>
              <p:cNvPr id="120891" name="Group 231"/>
              <p:cNvGrpSpPr/>
              <p:nvPr/>
            </p:nvGrpSpPr>
            <p:grpSpPr>
              <a:xfrm>
                <a:off x="1190" y="3496"/>
                <a:ext cx="582" cy="154"/>
                <a:chOff x="1190" y="3496"/>
                <a:chExt cx="582" cy="154"/>
              </a:xfrm>
            </p:grpSpPr>
            <p:sp>
              <p:nvSpPr>
                <p:cNvPr id="106557" name="Line 232"/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  <p:sp>
              <p:nvSpPr>
                <p:cNvPr id="10655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310" y="3496"/>
                  <a:ext cx="462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charset="0"/>
                    </a:defRPr>
                  </a:lvl9pPr>
                </a:lstStyle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90204" pitchFamily="34" charset="0"/>
                      <a:ea typeface="MS PGothic" charset="0"/>
                      <a:cs typeface="+mn-cs"/>
                    </a:rPr>
                    <a:t>New ACK</a:t>
                  </a:r>
                  <a:endPara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endParaRPr>
                </a:p>
              </p:txBody>
            </p:sp>
          </p:grpSp>
        </p:grpSp>
      </p:grpSp>
      <p:grpSp>
        <p:nvGrpSpPr>
          <p:cNvPr id="274673" name="Group 241"/>
          <p:cNvGrpSpPr/>
          <p:nvPr/>
        </p:nvGrpSpPr>
        <p:grpSpPr>
          <a:xfrm>
            <a:off x="820738" y="1485900"/>
            <a:ext cx="4865687" cy="2659063"/>
            <a:chOff x="517" y="859"/>
            <a:chExt cx="3065" cy="1675"/>
          </a:xfrm>
        </p:grpSpPr>
        <p:grpSp>
          <p:nvGrpSpPr>
            <p:cNvPr id="120865" name="Group 161"/>
            <p:cNvGrpSpPr/>
            <p:nvPr/>
          </p:nvGrpSpPr>
          <p:grpSpPr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106551" name="Oval 162"/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52" name="Text Box 163"/>
              <p:cNvSpPr txBox="1">
                <a:spLocks noChangeArrowheads="1"/>
              </p:cNvSpPr>
              <p:nvPr/>
            </p:nvSpPr>
            <p:spPr bwMode="auto">
              <a:xfrm>
                <a:off x="1179" y="1946"/>
                <a:ext cx="444" cy="4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slow 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start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866" name="Group 177"/>
            <p:cNvGrpSpPr/>
            <p:nvPr/>
          </p:nvGrpSpPr>
          <p:grpSpPr>
            <a:xfrm>
              <a:off x="530" y="2026"/>
              <a:ext cx="1118" cy="508"/>
              <a:chOff x="418" y="2713"/>
              <a:chExt cx="1118" cy="508"/>
            </a:xfrm>
          </p:grpSpPr>
          <p:sp>
            <p:nvSpPr>
              <p:cNvPr id="106548" name="Text Box 178"/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timeout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9" name="Text Box 179"/>
              <p:cNvSpPr txBox="1">
                <a:spLocks noChangeArrowheads="1"/>
              </p:cNvSpPr>
              <p:nvPr/>
            </p:nvSpPr>
            <p:spPr bwMode="auto">
              <a:xfrm>
                <a:off x="418" y="2840"/>
                <a:ext cx="1118" cy="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 = cwnd/2 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1 MSS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 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50" name="Line 180"/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867" name="Group 186"/>
            <p:cNvGrpSpPr/>
            <p:nvPr/>
          </p:nvGrpSpPr>
          <p:grpSpPr>
            <a:xfrm>
              <a:off x="2173" y="960"/>
              <a:ext cx="1409" cy="527"/>
              <a:chOff x="2683" y="798"/>
              <a:chExt cx="1409" cy="527"/>
            </a:xfrm>
          </p:grpSpPr>
          <p:sp>
            <p:nvSpPr>
              <p:cNvPr id="106545" name="Text Box 187"/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09" cy="4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cwnd+MSS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transmit new segment(s), as allowed</a:t>
                </a:r>
                <a:endParaRPr kumimoji="0" lang="en-US" sz="1000" b="0" i="1" u="none" strike="noStrike" kern="1200" cap="none" spc="0" normalizeH="0" baseline="0" noProof="0" smtClean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6" name="Line 188"/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7" name="Text Box 189"/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48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new ACK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868" name="Freeform 205"/>
            <p:cNvSpPr/>
            <p:nvPr/>
          </p:nvSpPr>
          <p:spPr>
            <a:xfrm>
              <a:off x="1601" y="1129"/>
              <a:ext cx="313" cy="201"/>
            </a:xfrm>
            <a:custGeom>
              <a:avLst/>
              <a:gdLst/>
              <a:ahLst/>
              <a:cxnLst>
                <a:cxn ang="0">
                  <a:pos x="25" y="169"/>
                </a:cxn>
                <a:cxn ang="0">
                  <a:pos x="153" y="7"/>
                </a:cxn>
                <a:cxn ang="0">
                  <a:pos x="258" y="201"/>
                </a:cxn>
              </a:cxnLst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0869" name="Freeform 206"/>
            <p:cNvSpPr/>
            <p:nvPr/>
          </p:nvSpPr>
          <p:spPr>
            <a:xfrm rot="2575893">
              <a:off x="1950" y="1316"/>
              <a:ext cx="313" cy="201"/>
            </a:xfrm>
            <a:custGeom>
              <a:avLst/>
              <a:gdLst/>
              <a:ahLst/>
              <a:cxnLst>
                <a:cxn ang="0">
                  <a:pos x="25" y="169"/>
                </a:cxn>
                <a:cxn ang="0">
                  <a:pos x="153" y="7"/>
                </a:cxn>
                <a:cxn ang="0">
                  <a:pos x="258" y="201"/>
                </a:cxn>
              </a:cxnLst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20870" name="Group 207"/>
            <p:cNvGrpSpPr/>
            <p:nvPr/>
          </p:nvGrpSpPr>
          <p:grpSpPr>
            <a:xfrm>
              <a:off x="1465" y="859"/>
              <a:ext cx="700" cy="367"/>
              <a:chOff x="4274" y="2922"/>
              <a:chExt cx="700" cy="367"/>
            </a:xfrm>
          </p:grpSpPr>
          <p:sp>
            <p:nvSpPr>
              <p:cNvPr id="106542" name="Text Box 208"/>
              <p:cNvSpPr txBox="1">
                <a:spLocks noChangeArrowheads="1"/>
              </p:cNvSpPr>
              <p:nvPr/>
            </p:nvSpPr>
            <p:spPr bwMode="auto">
              <a:xfrm>
                <a:off x="4274" y="3062"/>
                <a:ext cx="700" cy="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dupACKcount++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3" name="Line 209"/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4" name="Text Box 210"/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2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duplicate ACK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  <p:sp>
          <p:nvSpPr>
            <p:cNvPr id="120871" name="Freeform 211"/>
            <p:cNvSpPr/>
            <p:nvPr/>
          </p:nvSpPr>
          <p:spPr>
            <a:xfrm rot="-8222029">
              <a:off x="1204" y="1903"/>
              <a:ext cx="313" cy="201"/>
            </a:xfrm>
            <a:custGeom>
              <a:avLst/>
              <a:gdLst/>
              <a:ahLst/>
              <a:cxnLst>
                <a:cxn ang="0">
                  <a:pos x="25" y="169"/>
                </a:cxn>
                <a:cxn ang="0">
                  <a:pos x="153" y="7"/>
                </a:cxn>
                <a:cxn ang="0">
                  <a:pos x="258" y="201"/>
                </a:cxn>
              </a:cxnLst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37" name="Line 234"/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20873" name="Group 235"/>
            <p:cNvGrpSpPr/>
            <p:nvPr/>
          </p:nvGrpSpPr>
          <p:grpSpPr>
            <a:xfrm>
              <a:off x="517" y="1255"/>
              <a:ext cx="741" cy="416"/>
              <a:chOff x="539" y="936"/>
              <a:chExt cx="741" cy="416"/>
            </a:xfrm>
          </p:grpSpPr>
          <p:sp>
            <p:nvSpPr>
              <p:cNvPr id="106539" name="Text Box 236"/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171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ymbol" charset="0"/>
                    <a:ea typeface="MS PGothic" charset="0"/>
                    <a:cs typeface="+mn-cs"/>
                  </a:rPr>
                  <a:t>L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0" name="Text Box 237"/>
              <p:cNvSpPr txBox="1">
                <a:spLocks noChangeArrowheads="1"/>
              </p:cNvSpPr>
              <p:nvPr/>
            </p:nvSpPr>
            <p:spPr bwMode="auto">
              <a:xfrm>
                <a:off x="539" y="1063"/>
                <a:ext cx="741" cy="2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cwnd = 1 MSS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ssthresh = 64 KB</a:t>
                </a:r>
                <a:endParaRPr kumimoji="0" lang="en-US" sz="10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dupACKcount = 0</a:t>
                </a:r>
                <a:endPara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6541" name="Line 238"/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  <p:grpSp>
        <p:nvGrpSpPr>
          <p:cNvPr id="274687" name="Group 255"/>
          <p:cNvGrpSpPr/>
          <p:nvPr/>
        </p:nvGrpSpPr>
        <p:grpSpPr>
          <a:xfrm>
            <a:off x="804863" y="2922588"/>
            <a:ext cx="3167062" cy="1312862"/>
            <a:chOff x="509" y="1766"/>
            <a:chExt cx="1995" cy="827"/>
          </a:xfrm>
        </p:grpSpPr>
        <p:pic>
          <p:nvPicPr>
            <p:cNvPr id="106527" name="Picture 25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6528" name="Picture 25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06529" name="Picture 25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274729" name="Group 297"/>
          <p:cNvGrpSpPr/>
          <p:nvPr/>
        </p:nvGrpSpPr>
        <p:grpSpPr>
          <a:xfrm>
            <a:off x="3502025" y="1149350"/>
            <a:ext cx="4333875" cy="3243263"/>
            <a:chOff x="2205" y="641"/>
            <a:chExt cx="2730" cy="2043"/>
          </a:xfrm>
        </p:grpSpPr>
        <p:grpSp>
          <p:nvGrpSpPr>
            <p:cNvPr id="120847" name="Group 282"/>
            <p:cNvGrpSpPr/>
            <p:nvPr/>
          </p:nvGrpSpPr>
          <p:grpSpPr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120858" name="Group 283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25" name="Picture 284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06526" name="Rectangle 28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106524" name="Text Box 28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New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ACK!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848" name="Group 287"/>
            <p:cNvGrpSpPr/>
            <p:nvPr/>
          </p:nvGrpSpPr>
          <p:grpSpPr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120854" name="Group 28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21" name="Picture 289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06522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106520" name="Text Box 291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New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ACK!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</p:txBody>
          </p:sp>
        </p:grpSp>
        <p:grpSp>
          <p:nvGrpSpPr>
            <p:cNvPr id="120849" name="Group 292"/>
            <p:cNvGrpSpPr/>
            <p:nvPr/>
          </p:nvGrpSpPr>
          <p:grpSpPr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120850" name="Group 293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106517" name="Picture 294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106518" name="Rectangle 295"/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endParaRPr>
                </a:p>
              </p:txBody>
            </p:sp>
          </p:grpSp>
          <p:sp>
            <p:nvSpPr>
              <p:cNvPr id="106516" name="Text Box 296"/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New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mic Sans MS" panose="030F0902030302020204" charset="0"/>
                    <a:ea typeface="MS PGothic" charset="0"/>
                    <a:cs typeface="+mn-cs"/>
                  </a:rPr>
                  <a:t>ACK!</a:t>
                </a:r>
                <a:endParaRPr kumimoji="0" lang="en-US" sz="12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Comic Sans MS" panose="030F0902030302020204" charset="0"/>
                  <a:ea typeface="MS PGothic" charset="0"/>
                  <a:cs typeface="+mn-cs"/>
                </a:endParaRPr>
              </a:p>
            </p:txBody>
          </p:sp>
        </p:grpSp>
      </p:grpSp>
      <p:pic>
        <p:nvPicPr>
          <p:cNvPr id="120846" name="Picture 298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376238" y="828675"/>
            <a:ext cx="7313612" cy="17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7523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21859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88963" y="925513"/>
            <a:ext cx="3824287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5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4025" y="239713"/>
            <a:ext cx="7772400" cy="9286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throughput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07526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362075"/>
            <a:ext cx="8269288" cy="4648200"/>
          </a:xfrm>
        </p:spPr>
        <p:txBody>
          <a:bodyPr vert="horz" wrap="square" lIns="91440" tIns="45720" rIns="91440" bIns="45720" numCol="1" anchor="t" anchorCtr="0" compatLnSpc="1"/>
          <a:p>
            <a:r>
              <a:rPr lang="en-US" altLang="zh-CN" sz="2800" dirty="0"/>
              <a:t>avg. TCP thruput as function of window size, RTT?</a:t>
            </a:r>
            <a:endParaRPr lang="en-US" altLang="zh-CN" sz="2800" dirty="0"/>
          </a:p>
          <a:p>
            <a:pPr lvl="1"/>
            <a:r>
              <a:rPr lang="en-US" altLang="zh-CN" sz="2400" dirty="0"/>
              <a:t>ignore slow start, assume always data to send</a:t>
            </a:r>
            <a:endParaRPr lang="en-US" altLang="zh-CN" sz="2400" dirty="0"/>
          </a:p>
          <a:p>
            <a:r>
              <a:rPr lang="en-US" altLang="zh-CN" sz="2800" dirty="0"/>
              <a:t>W: window size </a:t>
            </a:r>
            <a:r>
              <a:rPr lang="en-US" altLang="zh-CN" sz="1600" dirty="0"/>
              <a:t>(measured in bytes)</a:t>
            </a:r>
            <a:r>
              <a:rPr lang="en-US" altLang="zh-CN" sz="2800" dirty="0"/>
              <a:t> where loss occurs</a:t>
            </a:r>
            <a:endParaRPr lang="en-US" altLang="zh-CN" sz="2800" dirty="0"/>
          </a:p>
          <a:p>
            <a:pPr lvl="1"/>
            <a:r>
              <a:rPr lang="en-US" altLang="zh-CN" sz="2400" dirty="0"/>
              <a:t>avg. window size (# in-flight bytes) is ¾ W</a:t>
            </a:r>
            <a:endParaRPr lang="en-US" altLang="zh-CN" sz="2400" dirty="0"/>
          </a:p>
          <a:p>
            <a:pPr lvl="1"/>
            <a:r>
              <a:rPr lang="en-US" altLang="zh-CN" sz="2400" dirty="0"/>
              <a:t>avg. thruput is 3/4W per RTT</a:t>
            </a:r>
            <a:endParaRPr lang="en-US" altLang="zh-CN" sz="2400" dirty="0"/>
          </a:p>
        </p:txBody>
      </p:sp>
      <p:grpSp>
        <p:nvGrpSpPr>
          <p:cNvPr id="121862" name="Group 35"/>
          <p:cNvGrpSpPr/>
          <p:nvPr/>
        </p:nvGrpSpPr>
        <p:grpSpPr>
          <a:xfrm>
            <a:off x="1830388" y="4300538"/>
            <a:ext cx="4873625" cy="1998662"/>
            <a:chOff x="279" y="2432"/>
            <a:chExt cx="3070" cy="1259"/>
          </a:xfrm>
        </p:grpSpPr>
        <p:sp>
          <p:nvSpPr>
            <p:cNvPr id="121873" name="Freeform 26"/>
            <p:cNvSpPr/>
            <p:nvPr/>
          </p:nvSpPr>
          <p:spPr>
            <a:xfrm>
              <a:off x="678" y="2556"/>
              <a:ext cx="2481" cy="579"/>
            </a:xfrm>
            <a:custGeom>
              <a:avLst/>
              <a:gdLst/>
              <a:ahLst/>
              <a:cxnLst>
                <a:cxn ang="0">
                  <a:pos x="0" y="573"/>
                </a:cxn>
                <a:cxn ang="0">
                  <a:pos x="414" y="18"/>
                </a:cxn>
                <a:cxn ang="0">
                  <a:pos x="414" y="579"/>
                </a:cxn>
                <a:cxn ang="0">
                  <a:pos x="819" y="18"/>
                </a:cxn>
                <a:cxn ang="0">
                  <a:pos x="825" y="579"/>
                </a:cxn>
                <a:cxn ang="0">
                  <a:pos x="1245" y="15"/>
                </a:cxn>
                <a:cxn ang="0">
                  <a:pos x="1245" y="576"/>
                </a:cxn>
                <a:cxn ang="0">
                  <a:pos x="1647" y="6"/>
                </a:cxn>
                <a:cxn ang="0">
                  <a:pos x="1647" y="570"/>
                </a:cxn>
                <a:cxn ang="0">
                  <a:pos x="2064" y="6"/>
                </a:cxn>
                <a:cxn ang="0">
                  <a:pos x="2064" y="564"/>
                </a:cxn>
                <a:cxn ang="0">
                  <a:pos x="2481" y="0"/>
                </a:cxn>
              </a:cxnLst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539" name="Line 28"/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7540" name="Line 29"/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7541" name="Line 31"/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7542" name="Line 32"/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7543" name="Text Box 33"/>
            <p:cNvSpPr txBox="1">
              <a:spLocks noChangeArrowheads="1"/>
            </p:cNvSpPr>
            <p:nvPr/>
          </p:nvSpPr>
          <p:spPr bwMode="auto">
            <a:xfrm>
              <a:off x="380" y="2453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7544" name="Text Box 34"/>
            <p:cNvSpPr txBox="1">
              <a:spLocks noChangeArrowheads="1"/>
            </p:cNvSpPr>
            <p:nvPr/>
          </p:nvSpPr>
          <p:spPr bwMode="auto">
            <a:xfrm>
              <a:off x="279" y="3008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W/2</a:t>
              </a:r>
              <a:endPara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121863" name="Group 45"/>
          <p:cNvGrpSpPr/>
          <p:nvPr/>
        </p:nvGrpSpPr>
        <p:grpSpPr>
          <a:xfrm>
            <a:off x="2733675" y="3440113"/>
            <a:ext cx="3795713" cy="620712"/>
            <a:chOff x="1722" y="2139"/>
            <a:chExt cx="2391" cy="391"/>
          </a:xfrm>
        </p:grpSpPr>
        <p:sp>
          <p:nvSpPr>
            <p:cNvPr id="107529" name="Text Box 36"/>
            <p:cNvSpPr txBox="1">
              <a:spLocks noChangeArrowheads="1"/>
            </p:cNvSpPr>
            <p:nvPr/>
          </p:nvSpPr>
          <p:spPr bwMode="auto">
            <a:xfrm>
              <a:off x="1722" y="2219"/>
              <a:ext cx="1346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rPr>
                <a:t>avg TCP thruput = </a:t>
              </a: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grpSp>
          <p:nvGrpSpPr>
            <p:cNvPr id="121865" name="Group 44"/>
            <p:cNvGrpSpPr/>
            <p:nvPr/>
          </p:nvGrpSpPr>
          <p:grpSpPr>
            <a:xfrm>
              <a:off x="2986" y="2139"/>
              <a:ext cx="1127" cy="391"/>
              <a:chOff x="3498" y="2153"/>
              <a:chExt cx="1127" cy="391"/>
            </a:xfrm>
          </p:grpSpPr>
          <p:sp>
            <p:nvSpPr>
              <p:cNvPr id="107531" name="Text Box 37"/>
              <p:cNvSpPr txBox="1">
                <a:spLocks noChangeArrowheads="1"/>
              </p:cNvSpPr>
              <p:nvPr/>
            </p:nvSpPr>
            <p:spPr bwMode="auto">
              <a:xfrm>
                <a:off x="3501" y="215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3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2" name="Text Box 38"/>
              <p:cNvSpPr txBox="1">
                <a:spLocks noChangeArrowheads="1"/>
              </p:cNvSpPr>
              <p:nvPr/>
            </p:nvSpPr>
            <p:spPr bwMode="auto">
              <a:xfrm>
                <a:off x="3498" y="231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4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3" name="Line 39"/>
              <p:cNvSpPr>
                <a:spLocks noChangeShapeType="1"/>
              </p:cNvSpPr>
              <p:nvPr/>
            </p:nvSpPr>
            <p:spPr bwMode="auto">
              <a:xfrm>
                <a:off x="3550" y="2352"/>
                <a:ext cx="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4" name="Text Box 40"/>
              <p:cNvSpPr txBox="1">
                <a:spLocks noChangeArrowheads="1"/>
              </p:cNvSpPr>
              <p:nvPr/>
            </p:nvSpPr>
            <p:spPr bwMode="auto">
              <a:xfrm>
                <a:off x="3702" y="2157"/>
                <a:ext cx="246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W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5" name="Text Box 41"/>
              <p:cNvSpPr txBox="1">
                <a:spLocks noChangeArrowheads="1"/>
              </p:cNvSpPr>
              <p:nvPr/>
            </p:nvSpPr>
            <p:spPr bwMode="auto">
              <a:xfrm>
                <a:off x="3658" y="2309"/>
                <a:ext cx="373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RTT</a:t>
                </a: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6" name="Line 42"/>
              <p:cNvSpPr>
                <a:spLocks noChangeShapeType="1"/>
              </p:cNvSpPr>
              <p:nvPr/>
            </p:nvSpPr>
            <p:spPr bwMode="auto">
              <a:xfrm>
                <a:off x="3726" y="2352"/>
                <a:ext cx="2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7537" name="Text Box 43"/>
              <p:cNvSpPr txBox="1">
                <a:spLocks noChangeArrowheads="1"/>
              </p:cNvSpPr>
              <p:nvPr/>
            </p:nvSpPr>
            <p:spPr bwMode="auto">
              <a:xfrm>
                <a:off x="3975" y="2243"/>
                <a:ext cx="650" cy="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+mn-cs"/>
                  </a:rPr>
                  <a:t>bytes/sec</a:t>
                </a:r>
                <a:endParaRPr kumimoji="0" lang="en-US" sz="16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Footer Placeholder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8547" name="Slide Number Placeholder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22883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00075" y="952500"/>
            <a:ext cx="7769225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4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p>
            <a:r>
              <a:rPr lang="en-US" altLang="zh-CN" sz="3600" dirty="0"/>
              <a:t>TCP Futures: TCP over </a:t>
            </a:r>
            <a:r>
              <a:rPr lang="ja-JP" altLang="en-US" sz="3600" dirty="0"/>
              <a:t>“</a:t>
            </a:r>
            <a:r>
              <a:rPr lang="en-US" altLang="ja-JP" sz="3600" dirty="0"/>
              <a:t>long, fat pipes</a:t>
            </a:r>
            <a:r>
              <a:rPr lang="ja-JP" altLang="en-US" sz="3600" dirty="0"/>
              <a:t>”</a:t>
            </a:r>
            <a:endParaRPr lang="zh-CN" altLang="en-US" sz="3600" dirty="0"/>
          </a:p>
        </p:txBody>
      </p:sp>
      <p:sp>
        <p:nvSpPr>
          <p:cNvPr id="108550" name="Rectangle 3"/>
          <p:cNvSpPr>
            <a:spLocks noGrp="1" noChangeArrowheads="1"/>
          </p:cNvSpPr>
          <p:nvPr>
            <p:ph idx="1"/>
          </p:nvPr>
        </p:nvSpPr>
        <p:spPr>
          <a:xfrm>
            <a:off x="547688" y="1600200"/>
            <a:ext cx="7772400" cy="4648200"/>
          </a:xfrm>
        </p:spPr>
        <p:txBody>
          <a:bodyPr vert="horz" wrap="square" lIns="91440" tIns="45720" rIns="91440" bIns="45720" numCol="1" anchor="t" anchorCtr="0" compatLnSpc="1"/>
          <a:p>
            <a:r>
              <a:rPr lang="en-US" altLang="zh-CN" sz="2800" dirty="0"/>
              <a:t>example: 1500 byte segments, 100ms RTT, want 10 Gbps throughput</a:t>
            </a:r>
            <a:endParaRPr lang="en-US" altLang="zh-CN" sz="2800" dirty="0"/>
          </a:p>
          <a:p>
            <a:r>
              <a:rPr lang="en-US" altLang="zh-CN" sz="2800" dirty="0"/>
              <a:t>requires W = 83,333 in-flight segments</a:t>
            </a:r>
            <a:endParaRPr lang="en-US" altLang="zh-CN" sz="2800" dirty="0"/>
          </a:p>
          <a:p>
            <a:r>
              <a:rPr lang="en-US" altLang="zh-CN" sz="2800" dirty="0"/>
              <a:t>throughput in terms of segment loss probability, L </a:t>
            </a:r>
            <a:r>
              <a:rPr lang="en-US" altLang="zh-CN" sz="2000" dirty="0"/>
              <a:t>[Mathis 1997]:</a:t>
            </a:r>
            <a:br>
              <a:rPr lang="en-US" altLang="zh-CN" sz="2800" dirty="0"/>
            </a:br>
            <a:br>
              <a:rPr lang="en-US" altLang="zh-CN" sz="2800" dirty="0"/>
            </a:br>
            <a:br>
              <a:rPr lang="en-US" altLang="zh-CN" sz="2800" dirty="0"/>
            </a:br>
            <a:endParaRPr lang="en-US" altLang="zh-CN" sz="28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MS Mincho" charset="-128"/>
                <a:ea typeface="MS Mincho" charset="-128"/>
              </a:rPr>
              <a:t>➜ </a:t>
            </a:r>
            <a:r>
              <a:rPr lang="en-US" altLang="zh-CN" sz="2400" dirty="0">
                <a:ea typeface="MS Mincho" charset="-128"/>
              </a:rPr>
              <a:t>to achieve 10 Gbps throughput, need a loss rate of </a:t>
            </a:r>
            <a:r>
              <a:rPr lang="en-US" altLang="zh-CN" sz="2400" dirty="0"/>
              <a:t>L = 2</a:t>
            </a:r>
            <a:r>
              <a:rPr lang="el-GR" altLang="zh-CN" sz="2400" dirty="0"/>
              <a:t>·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-10  </a:t>
            </a:r>
            <a:r>
              <a:rPr lang="en-US" altLang="zh-CN" sz="2400" i="1" dirty="0">
                <a:solidFill>
                  <a:srgbClr val="FF0000"/>
                </a:solidFill>
              </a:rPr>
              <a:t> – a very small loss rate!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new versions of TCP for high-speed</a:t>
            </a:r>
            <a:endParaRPr lang="en-US" altLang="zh-CN" sz="2800" baseline="30000" dirty="0"/>
          </a:p>
          <a:p>
            <a:endParaRPr lang="en-US" altLang="zh-CN" sz="2800" dirty="0"/>
          </a:p>
        </p:txBody>
      </p:sp>
      <p:grpSp>
        <p:nvGrpSpPr>
          <p:cNvPr id="122886" name="Group 16"/>
          <p:cNvGrpSpPr/>
          <p:nvPr/>
        </p:nvGrpSpPr>
        <p:grpSpPr>
          <a:xfrm>
            <a:off x="1947863" y="3462338"/>
            <a:ext cx="4160837" cy="962025"/>
            <a:chOff x="422" y="3400"/>
            <a:chExt cx="2621" cy="606"/>
          </a:xfrm>
        </p:grpSpPr>
        <p:sp>
          <p:nvSpPr>
            <p:cNvPr id="108552" name="Text Box 6"/>
            <p:cNvSpPr txBox="1">
              <a:spLocks noChangeArrowheads="1"/>
            </p:cNvSpPr>
            <p:nvPr/>
          </p:nvSpPr>
          <p:spPr bwMode="auto">
            <a:xfrm>
              <a:off x="422" y="3566"/>
              <a:ext cx="16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TCP throughput = 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sp>
          <p:nvSpPr>
            <p:cNvPr id="108553" name="Text Box 7"/>
            <p:cNvSpPr txBox="1">
              <a:spLocks noChangeArrowheads="1"/>
            </p:cNvSpPr>
            <p:nvPr/>
          </p:nvSpPr>
          <p:spPr bwMode="auto">
            <a:xfrm>
              <a:off x="2010" y="3470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rPr>
                <a:t>1.22</a:t>
              </a:r>
              <a:endPara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endParaRPr>
            </a:p>
          </p:txBody>
        </p:sp>
        <p:grpSp>
          <p:nvGrpSpPr>
            <p:cNvPr id="122889" name="Group 15"/>
            <p:cNvGrpSpPr/>
            <p:nvPr/>
          </p:nvGrpSpPr>
          <p:grpSpPr>
            <a:xfrm>
              <a:off x="2092" y="3400"/>
              <a:ext cx="951" cy="606"/>
              <a:chOff x="2092" y="3400"/>
              <a:chExt cx="951" cy="606"/>
            </a:xfrm>
          </p:grpSpPr>
          <p:sp>
            <p:nvSpPr>
              <p:cNvPr id="108555" name="Text Box 8"/>
              <p:cNvSpPr txBox="1">
                <a:spLocks noChangeArrowheads="1"/>
              </p:cNvSpPr>
              <p:nvPr/>
            </p:nvSpPr>
            <p:spPr bwMode="auto">
              <a:xfrm>
                <a:off x="2423" y="3400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.</a:t>
                </a:r>
                <a:endPara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8556" name="Text Box 9"/>
              <p:cNvSpPr txBox="1">
                <a:spLocks noChangeArrowheads="1"/>
              </p:cNvSpPr>
              <p:nvPr/>
            </p:nvSpPr>
            <p:spPr bwMode="auto">
              <a:xfrm>
                <a:off x="2511" y="3472"/>
                <a:ext cx="5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MSS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8557" name="Line 10"/>
              <p:cNvSpPr>
                <a:spLocks noChangeShapeType="1"/>
              </p:cNvSpPr>
              <p:nvPr/>
            </p:nvSpPr>
            <p:spPr bwMode="auto">
              <a:xfrm>
                <a:off x="2092" y="3720"/>
                <a:ext cx="8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08558" name="Text Box 11"/>
              <p:cNvSpPr txBox="1">
                <a:spLocks noChangeArrowheads="1"/>
              </p:cNvSpPr>
              <p:nvPr/>
            </p:nvSpPr>
            <p:spPr bwMode="auto">
              <a:xfrm>
                <a:off x="2133" y="3696"/>
                <a:ext cx="489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RTT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  <p:sp>
            <p:nvSpPr>
              <p:cNvPr id="122894" name="Freeform 13"/>
              <p:cNvSpPr/>
              <p:nvPr/>
            </p:nvSpPr>
            <p:spPr>
              <a:xfrm>
                <a:off x="2607" y="3740"/>
                <a:ext cx="294" cy="220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32" y="140"/>
                  </a:cxn>
                  <a:cxn ang="0">
                    <a:pos x="72" y="220"/>
                  </a:cxn>
                  <a:cxn ang="0">
                    <a:pos x="132" y="0"/>
                  </a:cxn>
                  <a:cxn ang="0">
                    <a:pos x="294" y="0"/>
                  </a:cxn>
                </a:cxnLst>
                <a:pathLst>
                  <a:path w="294" h="220">
                    <a:moveTo>
                      <a:pt x="0" y="158"/>
                    </a:moveTo>
                    <a:lnTo>
                      <a:pt x="32" y="140"/>
                    </a:lnTo>
                    <a:lnTo>
                      <a:pt x="72" y="220"/>
                    </a:lnTo>
                    <a:lnTo>
                      <a:pt x="132" y="0"/>
                    </a:lnTo>
                    <a:lnTo>
                      <a:pt x="294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8560" name="Text Box 14"/>
              <p:cNvSpPr txBox="1">
                <a:spLocks noChangeArrowheads="1"/>
              </p:cNvSpPr>
              <p:nvPr/>
            </p:nvSpPr>
            <p:spPr bwMode="auto">
              <a:xfrm>
                <a:off x="2704" y="371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+mn-cs"/>
                  </a:rPr>
                  <a:t>L</a:t>
                </a:r>
                <a:endParaRPr kumimoji="0" 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95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9572" name="Line 68"/>
          <p:cNvSpPr>
            <a:spLocks noChangeShapeType="1"/>
          </p:cNvSpPr>
          <p:nvPr/>
        </p:nvSpPr>
        <p:spPr bwMode="auto">
          <a:xfrm>
            <a:off x="4857750" y="4229100"/>
            <a:ext cx="5588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grpSp>
        <p:nvGrpSpPr>
          <p:cNvPr id="123908" name="Group 59"/>
          <p:cNvGrpSpPr/>
          <p:nvPr/>
        </p:nvGrpSpPr>
        <p:grpSpPr>
          <a:xfrm>
            <a:off x="3779838" y="3898900"/>
            <a:ext cx="1082675" cy="538163"/>
            <a:chOff x="2356" y="1300"/>
            <a:chExt cx="555" cy="194"/>
          </a:xfrm>
        </p:grpSpPr>
        <p:sp>
          <p:nvSpPr>
            <p:cNvPr id="123936" name="Oval 407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123937" name="Rectangle 410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123938" name="Oval 411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123939" name="Group 63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3942" name="Freeform 64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943" name="Freeform 65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9605" name="Line 66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9606" name="Line 67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grpSp>
        <p:nvGrpSpPr>
          <p:cNvPr id="123909" name="Group 50"/>
          <p:cNvGrpSpPr/>
          <p:nvPr/>
        </p:nvGrpSpPr>
        <p:grpSpPr>
          <a:xfrm>
            <a:off x="5413375" y="3883025"/>
            <a:ext cx="1082675" cy="538163"/>
            <a:chOff x="2356" y="1300"/>
            <a:chExt cx="555" cy="194"/>
          </a:xfrm>
        </p:grpSpPr>
        <p:sp>
          <p:nvSpPr>
            <p:cNvPr id="123928" name="Oval 407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123929" name="Rectangle 410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sp>
          <p:nvSpPr>
            <p:cNvPr id="123930" name="Oval 411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l"/>
              <a:endParaRPr sz="2400" dirty="0">
                <a:latin typeface="Times New Roman" panose="02020503050405090304" charset="0"/>
                <a:ea typeface="Arial" panose="020B0604020202090204" pitchFamily="34" charset="0"/>
              </a:endParaRPr>
            </a:p>
          </p:txBody>
        </p:sp>
        <p:grpSp>
          <p:nvGrpSpPr>
            <p:cNvPr id="123931" name="Group 54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3934" name="Freeform 5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935" name="Freeform 5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9597" name="Line 57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  <p:sp>
          <p:nvSpPr>
            <p:cNvPr id="109598" name="Line 58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endParaRPr>
            </a:p>
          </p:txBody>
        </p:sp>
      </p:grpSp>
      <p:sp>
        <p:nvSpPr>
          <p:cNvPr id="109575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544513" y="1412875"/>
            <a:ext cx="7620000" cy="2190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fairness goal: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if K TCP sessions share same bottleneck link of bandwidth R, each should have average rate of R/K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9576" name="Rectangle 25"/>
          <p:cNvSpPr>
            <a:spLocks noChangeArrowheads="1"/>
          </p:cNvSpPr>
          <p:nvPr/>
        </p:nvSpPr>
        <p:spPr bwMode="auto">
          <a:xfrm>
            <a:off x="5068888" y="4025900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9577" name="Rectangle 26"/>
          <p:cNvSpPr>
            <a:spLocks noChangeArrowheads="1"/>
          </p:cNvSpPr>
          <p:nvPr/>
        </p:nvSpPr>
        <p:spPr bwMode="auto">
          <a:xfrm>
            <a:off x="4378325" y="4087813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9578" name="Rectangle 27"/>
          <p:cNvSpPr>
            <a:spLocks noChangeArrowheads="1"/>
          </p:cNvSpPr>
          <p:nvPr/>
        </p:nvSpPr>
        <p:spPr bwMode="auto">
          <a:xfrm>
            <a:off x="4668838" y="4025900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9579" name="Text Box 28"/>
          <p:cNvSpPr txBox="1">
            <a:spLocks noChangeArrowheads="1"/>
          </p:cNvSpPr>
          <p:nvPr/>
        </p:nvSpPr>
        <p:spPr bwMode="auto">
          <a:xfrm>
            <a:off x="1131888" y="3017838"/>
            <a:ext cx="2000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TCP connection 1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09580" name="Text Box 29"/>
          <p:cNvSpPr txBox="1">
            <a:spLocks noChangeArrowheads="1"/>
          </p:cNvSpPr>
          <p:nvPr/>
        </p:nvSpPr>
        <p:spPr bwMode="auto">
          <a:xfrm>
            <a:off x="3529013" y="4471988"/>
            <a:ext cx="1250950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bottleneck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router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capacity R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23916" name="Freeform 40"/>
          <p:cNvSpPr/>
          <p:nvPr/>
        </p:nvSpPr>
        <p:spPr>
          <a:xfrm>
            <a:off x="2863850" y="3502025"/>
            <a:ext cx="4003675" cy="7191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9582" name="Rectangle 41"/>
          <p:cNvSpPr>
            <a:spLocks noChangeArrowheads="1"/>
          </p:cNvSpPr>
          <p:nvPr/>
        </p:nvSpPr>
        <p:spPr bwMode="auto">
          <a:xfrm>
            <a:off x="4540250" y="408781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23918" name="Freeform 42"/>
          <p:cNvSpPr/>
          <p:nvPr/>
        </p:nvSpPr>
        <p:spPr>
          <a:xfrm>
            <a:off x="2806700" y="4237038"/>
            <a:ext cx="4044950" cy="7191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9584" name="Rectangle 43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TCP Fairness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123920" name="Picture 4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87375" y="969963"/>
            <a:ext cx="36560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9586" name="Text Box 48"/>
          <p:cNvSpPr txBox="1">
            <a:spLocks noChangeArrowheads="1"/>
          </p:cNvSpPr>
          <p:nvPr/>
        </p:nvSpPr>
        <p:spPr bwMode="auto">
          <a:xfrm>
            <a:off x="1125538" y="5146675"/>
            <a:ext cx="2000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TCP connection 2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grpSp>
        <p:nvGrpSpPr>
          <p:cNvPr id="123922" name="Group 69"/>
          <p:cNvGrpSpPr/>
          <p:nvPr/>
        </p:nvGrpSpPr>
        <p:grpSpPr>
          <a:xfrm>
            <a:off x="2057400" y="3333750"/>
            <a:ext cx="766763" cy="704850"/>
            <a:chOff x="-44" y="1473"/>
            <a:chExt cx="981" cy="1105"/>
          </a:xfrm>
        </p:grpSpPr>
        <p:pic>
          <p:nvPicPr>
            <p:cNvPr id="123926" name="Picture 70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927" name="Freeform 7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3923" name="Group 72"/>
          <p:cNvGrpSpPr/>
          <p:nvPr/>
        </p:nvGrpSpPr>
        <p:grpSpPr>
          <a:xfrm>
            <a:off x="2073275" y="4579938"/>
            <a:ext cx="766763" cy="704850"/>
            <a:chOff x="-44" y="1473"/>
            <a:chExt cx="981" cy="1105"/>
          </a:xfrm>
        </p:grpSpPr>
        <p:pic>
          <p:nvPicPr>
            <p:cNvPr id="123924" name="Picture 73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925" name="Freeform 7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95" y="341"/>
                </a:cxn>
                <a:cxn ang="0">
                  <a:pos x="6638" y="7113"/>
                </a:cxn>
                <a:cxn ang="0">
                  <a:pos x="1463" y="8895"/>
                </a:cxn>
                <a:cxn ang="0">
                  <a:pos x="0" y="0"/>
                </a:cxn>
              </a:cxnLst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0595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24931" name="Picture 2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15950" y="1027113"/>
            <a:ext cx="41132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Why is TCP fair?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1059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400175"/>
            <a:ext cx="8305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two competing sessions: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additive increase gives slope of 1, as throughout increases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multiplicative decrease decreases throughput proportionally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10599" name="Line 4"/>
          <p:cNvSpPr>
            <a:spLocks noChangeShapeType="1"/>
          </p:cNvSpPr>
          <p:nvPr/>
        </p:nvSpPr>
        <p:spPr bwMode="auto">
          <a:xfrm>
            <a:off x="2400300" y="5848350"/>
            <a:ext cx="3638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0600" name="Line 5"/>
          <p:cNvSpPr>
            <a:spLocks noChangeShapeType="1"/>
          </p:cNvSpPr>
          <p:nvPr/>
        </p:nvSpPr>
        <p:spPr bwMode="auto">
          <a:xfrm flipV="1">
            <a:off x="2400300" y="2752725"/>
            <a:ext cx="0" cy="3086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0601" name="Line 6"/>
          <p:cNvSpPr>
            <a:spLocks noChangeShapeType="1"/>
          </p:cNvSpPr>
          <p:nvPr/>
        </p:nvSpPr>
        <p:spPr bwMode="auto">
          <a:xfrm rot="-2938105" flipH="1" flipV="1">
            <a:off x="1793875" y="4487863"/>
            <a:ext cx="3560763" cy="14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0602" name="Line 7"/>
          <p:cNvSpPr>
            <a:spLocks noChangeShapeType="1"/>
          </p:cNvSpPr>
          <p:nvPr/>
        </p:nvSpPr>
        <p:spPr bwMode="auto">
          <a:xfrm>
            <a:off x="2381250" y="3000375"/>
            <a:ext cx="2819400" cy="28098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0603" name="Text Box 8"/>
          <p:cNvSpPr txBox="1">
            <a:spLocks noChangeArrowheads="1"/>
          </p:cNvSpPr>
          <p:nvPr/>
        </p:nvSpPr>
        <p:spPr bwMode="auto">
          <a:xfrm>
            <a:off x="2030413" y="2828925"/>
            <a:ext cx="4032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10604" name="Text Box 9"/>
          <p:cNvSpPr txBox="1">
            <a:spLocks noChangeArrowheads="1"/>
          </p:cNvSpPr>
          <p:nvPr/>
        </p:nvSpPr>
        <p:spPr bwMode="auto">
          <a:xfrm>
            <a:off x="4983163" y="5876925"/>
            <a:ext cx="40322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10605" name="Text Box 10"/>
          <p:cNvSpPr txBox="1">
            <a:spLocks noChangeArrowheads="1"/>
          </p:cNvSpPr>
          <p:nvPr/>
        </p:nvSpPr>
        <p:spPr bwMode="auto">
          <a:xfrm>
            <a:off x="3259138" y="2819400"/>
            <a:ext cx="35464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equal bandwidth share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10606" name="Text Box 11"/>
          <p:cNvSpPr txBox="1">
            <a:spLocks noChangeArrowheads="1"/>
          </p:cNvSpPr>
          <p:nvPr/>
        </p:nvSpPr>
        <p:spPr bwMode="auto">
          <a:xfrm>
            <a:off x="1839913" y="5857875"/>
            <a:ext cx="35464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Connection 1 throughput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110607" name="Text Box 12"/>
          <p:cNvSpPr txBox="1">
            <a:spLocks noChangeArrowheads="1"/>
          </p:cNvSpPr>
          <p:nvPr/>
        </p:nvSpPr>
        <p:spPr bwMode="auto">
          <a:xfrm rot="-5396642">
            <a:off x="424656" y="4396581"/>
            <a:ext cx="35464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Connection 2 throughput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15053" name="Line 13"/>
          <p:cNvSpPr>
            <a:spLocks noChangeShapeType="1"/>
          </p:cNvSpPr>
          <p:nvPr/>
        </p:nvSpPr>
        <p:spPr bwMode="auto">
          <a:xfrm rot="-2938105" flipH="1" flipV="1">
            <a:off x="3503613" y="5105400"/>
            <a:ext cx="1293813" cy="4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4173538" y="4676775"/>
            <a:ext cx="45370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15055" name="Line 15"/>
          <p:cNvSpPr>
            <a:spLocks noChangeShapeType="1"/>
          </p:cNvSpPr>
          <p:nvPr/>
        </p:nvSpPr>
        <p:spPr bwMode="auto">
          <a:xfrm flipH="1">
            <a:off x="3390900" y="4638675"/>
            <a:ext cx="1171575" cy="631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56" name="Text Box 16"/>
          <p:cNvSpPr txBox="1">
            <a:spLocks noChangeArrowheads="1"/>
          </p:cNvSpPr>
          <p:nvPr/>
        </p:nvSpPr>
        <p:spPr bwMode="auto">
          <a:xfrm>
            <a:off x="4705350" y="4432300"/>
            <a:ext cx="34607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15057" name="Line 17"/>
          <p:cNvSpPr>
            <a:spLocks noChangeShapeType="1"/>
          </p:cNvSpPr>
          <p:nvPr/>
        </p:nvSpPr>
        <p:spPr bwMode="auto">
          <a:xfrm rot="-2938105" flipH="1" flipV="1">
            <a:off x="3182938" y="4778375"/>
            <a:ext cx="1303338" cy="238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58" name="Text Box 18"/>
          <p:cNvSpPr txBox="1">
            <a:spLocks noChangeArrowheads="1"/>
          </p:cNvSpPr>
          <p:nvPr/>
        </p:nvSpPr>
        <p:spPr bwMode="auto">
          <a:xfrm>
            <a:off x="3887788" y="4191000"/>
            <a:ext cx="45370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15059" name="Line 19"/>
          <p:cNvSpPr>
            <a:spLocks noChangeShapeType="1"/>
          </p:cNvSpPr>
          <p:nvPr/>
        </p:nvSpPr>
        <p:spPr bwMode="auto">
          <a:xfrm flipH="1">
            <a:off x="3248025" y="4352925"/>
            <a:ext cx="981075" cy="765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60" name="Text Box 20"/>
          <p:cNvSpPr txBox="1">
            <a:spLocks noChangeArrowheads="1"/>
          </p:cNvSpPr>
          <p:nvPr/>
        </p:nvSpPr>
        <p:spPr bwMode="auto">
          <a:xfrm>
            <a:off x="4305300" y="3984625"/>
            <a:ext cx="34607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+mn-cs"/>
            </a:endParaRPr>
          </a:p>
        </p:txBody>
      </p:sp>
      <p:sp>
        <p:nvSpPr>
          <p:cNvPr id="215061" name="Line 21"/>
          <p:cNvSpPr>
            <a:spLocks noChangeShapeType="1"/>
          </p:cNvSpPr>
          <p:nvPr/>
        </p:nvSpPr>
        <p:spPr bwMode="auto">
          <a:xfrm rot="-2938105" flipH="1" flipV="1">
            <a:off x="3039269" y="4631531"/>
            <a:ext cx="1279525" cy="14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62" name="Line 22"/>
          <p:cNvSpPr>
            <a:spLocks noChangeShapeType="1"/>
          </p:cNvSpPr>
          <p:nvPr/>
        </p:nvSpPr>
        <p:spPr bwMode="auto">
          <a:xfrm flipH="1">
            <a:off x="3181350" y="4171950"/>
            <a:ext cx="911225" cy="889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215063" name="Line 23"/>
          <p:cNvSpPr>
            <a:spLocks noChangeShapeType="1"/>
          </p:cNvSpPr>
          <p:nvPr/>
        </p:nvSpPr>
        <p:spPr bwMode="auto">
          <a:xfrm rot="-2938105" flipH="1" flipV="1">
            <a:off x="2959894" y="4568031"/>
            <a:ext cx="1279525" cy="1428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1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4" grpId="0"/>
      <p:bldP spid="215056" grpId="0"/>
      <p:bldP spid="215058" grpId="0"/>
      <p:bldP spid="21506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1619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25955" name="Picture 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614363" y="822325"/>
            <a:ext cx="3656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Fairness (more)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11622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9900" y="1219200"/>
            <a:ext cx="38100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Fairness and UDP</a:t>
            </a:r>
            <a:endParaRPr kumimoji="0" lang="en-US" sz="2800" b="0" i="1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multimedia apps often do not use TCP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do not want rate throttled by congestion control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instead use UDP: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send audio/video at constant rate, tolerate packet loss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11623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587875" y="1223963"/>
            <a:ext cx="402907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Fairness, parallel TCP connections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application can open multiple parallel connections between two hosts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web browsers do this 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e.g., link of rate R with 9 existing connections: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new app asks for 1 TCP, gets rate R/10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new app asks for 11 TCPs, gets R/2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09571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9575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544513" y="1309688"/>
            <a:ext cx="7620000" cy="2190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charset="0"/>
              <a:buNone/>
              <a:defRPr/>
            </a:pP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network-assisted congestion control:</a:t>
            </a:r>
            <a:endParaRPr kumimoji="0" lang="en-US" sz="2800" b="0" i="1" u="none" strike="noStrike" kern="0" cap="none" spc="0" normalizeH="0" baseline="0" noProof="0" dirty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two bits in IP header 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ToS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field) marked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by network router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 to indicate congestion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congestion indication carried to receiving host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receiver (seeing congestion indication in IP datagram) ) sets ECE bit on receiver-to-sender ACK segment to notify sender of congestion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</p:txBody>
      </p:sp>
      <p:sp>
        <p:nvSpPr>
          <p:cNvPr id="109584" name="Rectangle 43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139113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Explicit Congestion Notification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(ECN)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pic>
        <p:nvPicPr>
          <p:cNvPr id="126981" name="Picture 45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87375" y="969963"/>
            <a:ext cx="6731000" cy="182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2" name="Text Box 8"/>
          <p:cNvSpPr txBox="1"/>
          <p:nvPr/>
        </p:nvSpPr>
        <p:spPr>
          <a:xfrm>
            <a:off x="1393825" y="4090988"/>
            <a:ext cx="7112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000099"/>
                </a:solidFill>
                <a:latin typeface="Arial" panose="020B0604020202090204" pitchFamily="34" charset="0"/>
              </a:rPr>
              <a:t>source</a:t>
            </a:r>
            <a:endParaRPr lang="en-US" altLang="zh-CN" sz="2000" i="1" dirty="0">
              <a:solidFill>
                <a:srgbClr val="000099"/>
              </a:solidFill>
              <a:latin typeface="Arial" panose="020B0604020202090204" pitchFamily="34" charset="0"/>
            </a:endParaRPr>
          </a:p>
        </p:txBody>
      </p:sp>
      <p:sp>
        <p:nvSpPr>
          <p:cNvPr id="126983" name="Freeform 10"/>
          <p:cNvSpPr/>
          <p:nvPr/>
        </p:nvSpPr>
        <p:spPr>
          <a:xfrm flipH="1">
            <a:off x="855663" y="4383088"/>
            <a:ext cx="369887" cy="136842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0" y="0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alpha val="100000"/>
                </a:schemeClr>
              </a:gs>
              <a:gs pos="100000">
                <a:schemeClr val="bg1">
                  <a:alpha val="10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6984" name="Rectangle 23"/>
          <p:cNvSpPr/>
          <p:nvPr/>
        </p:nvSpPr>
        <p:spPr>
          <a:xfrm>
            <a:off x="1228725" y="4381500"/>
            <a:ext cx="1076325" cy="1349375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p>
            <a:endParaRPr dirty="0">
              <a:latin typeface="Tahoma" panose="020B0604030504040204" charset="0"/>
            </a:endParaRPr>
          </a:p>
        </p:txBody>
      </p:sp>
      <p:sp>
        <p:nvSpPr>
          <p:cNvPr id="126985" name="Rectangle 24"/>
          <p:cNvSpPr/>
          <p:nvPr/>
        </p:nvSpPr>
        <p:spPr>
          <a:xfrm>
            <a:off x="1189038" y="4446588"/>
            <a:ext cx="1066800" cy="12319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dirty="0">
              <a:latin typeface="Tahoma" panose="020B0604030504040204" charset="0"/>
            </a:endParaRPr>
          </a:p>
        </p:txBody>
      </p:sp>
      <p:sp>
        <p:nvSpPr>
          <p:cNvPr id="126986" name="Line 25"/>
          <p:cNvSpPr/>
          <p:nvPr/>
        </p:nvSpPr>
        <p:spPr>
          <a:xfrm>
            <a:off x="1189038" y="4724400"/>
            <a:ext cx="105886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" name="Text Box 26"/>
          <p:cNvSpPr txBox="1">
            <a:spLocks noChangeArrowheads="1"/>
          </p:cNvSpPr>
          <p:nvPr/>
        </p:nvSpPr>
        <p:spPr bwMode="auto">
          <a:xfrm>
            <a:off x="1152525" y="4414838"/>
            <a:ext cx="1104900" cy="1274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MS PGothic" charset="0"/>
              </a:rPr>
              <a:t>application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MS PGothic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MS PGothic" charset="0"/>
              </a:rPr>
              <a:t>transport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MS PGothic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MS PGothic" charset="0"/>
              </a:rPr>
              <a:t>network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MS PGothic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MS PGothic" charset="0"/>
              </a:rPr>
              <a:t>link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MS PGothic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S PGothic" charset="0"/>
                <a:cs typeface="MS PGothic" charset="0"/>
              </a:rPr>
              <a:t>physical</a:t>
            </a:r>
            <a:endParaRPr kumimoji="0" 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S PGothic" charset="0"/>
              <a:cs typeface="MS PGothic" charset="0"/>
            </a:endParaRPr>
          </a:p>
        </p:txBody>
      </p:sp>
      <p:grpSp>
        <p:nvGrpSpPr>
          <p:cNvPr id="126988" name="Group 190"/>
          <p:cNvGrpSpPr/>
          <p:nvPr/>
        </p:nvGrpSpPr>
        <p:grpSpPr>
          <a:xfrm flipH="1">
            <a:off x="525463" y="4921250"/>
            <a:ext cx="673100" cy="701675"/>
            <a:chOff x="-44" y="1473"/>
            <a:chExt cx="981" cy="1105"/>
          </a:xfrm>
        </p:grpSpPr>
        <p:pic>
          <p:nvPicPr>
            <p:cNvPr id="127133" name="Picture 191" descr="desktop_computer_stylized_medium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7134" name="Freeform 19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43382" y="3172"/>
                </a:cxn>
                <a:cxn ang="0">
                  <a:pos x="51464" y="66095"/>
                </a:cxn>
                <a:cxn ang="0">
                  <a:pos x="11342" y="82660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26989" name="Line 25"/>
          <p:cNvSpPr/>
          <p:nvPr/>
        </p:nvSpPr>
        <p:spPr>
          <a:xfrm>
            <a:off x="1193800" y="4953000"/>
            <a:ext cx="1058863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6990" name="Line 25"/>
          <p:cNvSpPr/>
          <p:nvPr/>
        </p:nvSpPr>
        <p:spPr>
          <a:xfrm>
            <a:off x="1198563" y="5181600"/>
            <a:ext cx="105886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6991" name="Line 25"/>
          <p:cNvSpPr/>
          <p:nvPr/>
        </p:nvSpPr>
        <p:spPr>
          <a:xfrm>
            <a:off x="1201738" y="5421313"/>
            <a:ext cx="1060450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6992" name="Group 3"/>
          <p:cNvGrpSpPr/>
          <p:nvPr/>
        </p:nvGrpSpPr>
        <p:grpSpPr>
          <a:xfrm>
            <a:off x="6169025" y="4102100"/>
            <a:ext cx="2047875" cy="1657350"/>
            <a:chOff x="4882752" y="4007261"/>
            <a:chExt cx="2046816" cy="1656589"/>
          </a:xfrm>
        </p:grpSpPr>
        <p:sp>
          <p:nvSpPr>
            <p:cNvPr id="127120" name="Text Box 54"/>
            <p:cNvSpPr txBox="1"/>
            <p:nvPr/>
          </p:nvSpPr>
          <p:spPr>
            <a:xfrm>
              <a:off x="4882752" y="4007261"/>
              <a:ext cx="1226089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i="1" dirty="0">
                  <a:solidFill>
                    <a:srgbClr val="000099"/>
                  </a:solidFill>
                  <a:latin typeface="Arial" panose="020B0604020202090204" pitchFamily="34" charset="0"/>
                </a:rPr>
                <a:t>destination</a:t>
              </a:r>
              <a:endParaRPr lang="en-US" altLang="zh-CN" sz="2000" i="1" dirty="0">
                <a:solidFill>
                  <a:srgbClr val="000099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127121" name="Group 2"/>
            <p:cNvGrpSpPr/>
            <p:nvPr/>
          </p:nvGrpSpPr>
          <p:grpSpPr>
            <a:xfrm>
              <a:off x="4926877" y="4293078"/>
              <a:ext cx="2002691" cy="1370772"/>
              <a:chOff x="1305321" y="4687783"/>
              <a:chExt cx="2002691" cy="1370772"/>
            </a:xfrm>
          </p:grpSpPr>
          <p:sp>
            <p:nvSpPr>
              <p:cNvPr id="127122" name="Freeform 10"/>
              <p:cNvSpPr/>
              <p:nvPr/>
            </p:nvSpPr>
            <p:spPr>
              <a:xfrm>
                <a:off x="2432639" y="4689320"/>
                <a:ext cx="302067" cy="1369235"/>
              </a:xfrm>
              <a:custGeom>
                <a:avLst/>
                <a:gdLst>
                  <a:gd name="txL" fmla="*/ 0 w 267"/>
                  <a:gd name="txT" fmla="*/ 0 h 1186"/>
                  <a:gd name="txR" fmla="*/ 267 w 267"/>
                  <a:gd name="txB" fmla="*/ 1186 h 1186"/>
                </a:gdLst>
                <a:ahLst/>
                <a:cxnLst>
                  <a:cxn ang="0">
                    <a:pos x="2147483647" y="2147483647"/>
                  </a:cxn>
                  <a:cxn ang="0">
                    <a:pos x="0" y="0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123" name="Rectangle 23"/>
              <p:cNvSpPr/>
              <p:nvPr/>
            </p:nvSpPr>
            <p:spPr>
              <a:xfrm>
                <a:off x="1381170" y="4687783"/>
                <a:ext cx="1076676" cy="1350371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</a:ln>
            </p:spPr>
            <p:txBody>
              <a:bodyPr wrap="none" anchor="ctr" anchorCtr="0"/>
              <a:p>
                <a:endParaRPr dirty="0">
                  <a:latin typeface="Tahoma" panose="020B0604030504040204" charset="0"/>
                </a:endParaRPr>
              </a:p>
            </p:txBody>
          </p:sp>
          <p:sp>
            <p:nvSpPr>
              <p:cNvPr id="127124" name="Rectangle 24"/>
              <p:cNvSpPr/>
              <p:nvPr/>
            </p:nvSpPr>
            <p:spPr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dirty="0">
                  <a:latin typeface="Tahoma" panose="020B0604030504040204" charset="0"/>
                </a:endParaRPr>
              </a:p>
            </p:txBody>
          </p:sp>
          <p:sp>
            <p:nvSpPr>
              <p:cNvPr id="127125" name="Line 25"/>
              <p:cNvSpPr/>
              <p:nvPr/>
            </p:nvSpPr>
            <p:spPr>
              <a:xfrm>
                <a:off x="1341249" y="5031313"/>
                <a:ext cx="1059231" cy="28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" name="Text Box 26"/>
              <p:cNvSpPr txBox="1">
                <a:spLocks noChangeArrowheads="1"/>
              </p:cNvSpPr>
              <p:nvPr/>
            </p:nvSpPr>
            <p:spPr bwMode="auto">
              <a:xfrm>
                <a:off x="1305623" y="4722494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  <a:cs typeface="MS PGothic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MS PGothic" charset="0"/>
                  </a:rPr>
                  <a:t>application</a:t>
                </a:r>
                <a:endPara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MS PGothic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MS PGothic" charset="0"/>
                  </a:rPr>
                  <a:t>transport</a:t>
                </a:r>
                <a:endPara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MS PGothic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MS PGothic" charset="0"/>
                  </a:rPr>
                  <a:t>network</a:t>
                </a:r>
                <a:endPara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MS PGothic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MS PGothic" charset="0"/>
                  </a:rPr>
                  <a:t>link</a:t>
                </a:r>
                <a:endPara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MS PGothic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>
                        <a:lumMod val="75000"/>
                      </a:schemeClr>
                    </a:solidFill>
                    <a:effectLst/>
                    <a:uLnTx/>
                    <a:uFillTx/>
                    <a:latin typeface="Arial" panose="020B0604020202090204" pitchFamily="34" charset="0"/>
                    <a:ea typeface="MS PGothic" charset="0"/>
                    <a:cs typeface="MS PGothic" charset="0"/>
                  </a:rPr>
                  <a:t>physical</a:t>
                </a:r>
                <a:endPara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Arial" panose="020B0604020202090204" pitchFamily="34" charset="0"/>
                  <a:ea typeface="MS PGothic" charset="0"/>
                  <a:cs typeface="MS PGothic" charset="0"/>
                </a:endParaRPr>
              </a:p>
            </p:txBody>
          </p:sp>
          <p:grpSp>
            <p:nvGrpSpPr>
              <p:cNvPr id="127127" name="Group 190"/>
              <p:cNvGrpSpPr/>
              <p:nvPr/>
            </p:nvGrpSpPr>
            <p:grpSpPr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27131" name="Picture 191" descr="desktop_computer_stylized_medium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27132" name="Freeform 19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>
                    <a:gd name="txL" fmla="*/ 0 w 356"/>
                    <a:gd name="txT" fmla="*/ 0 h 368"/>
                    <a:gd name="txR" fmla="*/ 356 w 356"/>
                    <a:gd name="txB" fmla="*/ 368 h 368"/>
                  </a:gdLst>
                  <a:ahLst/>
                  <a:cxnLst>
                    <a:cxn ang="0">
                      <a:pos x="0" y="0"/>
                    </a:cxn>
                    <a:cxn ang="0">
                      <a:pos x="43382" y="3172"/>
                    </a:cxn>
                    <a:cxn ang="0">
                      <a:pos x="51464" y="66095"/>
                    </a:cxn>
                    <a:cxn ang="0">
                      <a:pos x="11342" y="8266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>
                        <a:alpha val="100000"/>
                      </a:srgbClr>
                    </a:gs>
                    <a:gs pos="100000">
                      <a:schemeClr val="bg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27128" name="Line 25"/>
              <p:cNvSpPr/>
              <p:nvPr/>
            </p:nvSpPr>
            <p:spPr>
              <a:xfrm>
                <a:off x="1345720" y="5260213"/>
                <a:ext cx="1059231" cy="28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29" name="Line 25"/>
              <p:cNvSpPr/>
              <p:nvPr/>
            </p:nvSpPr>
            <p:spPr>
              <a:xfrm>
                <a:off x="1350191" y="5489113"/>
                <a:ext cx="1059231" cy="28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30" name="Line 25"/>
              <p:cNvSpPr/>
              <p:nvPr/>
            </p:nvSpPr>
            <p:spPr>
              <a:xfrm>
                <a:off x="1354662" y="5728213"/>
                <a:ext cx="1059231" cy="28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6993" name="Freeform 2"/>
          <p:cNvSpPr/>
          <p:nvPr/>
        </p:nvSpPr>
        <p:spPr>
          <a:xfrm>
            <a:off x="2730500" y="5227638"/>
            <a:ext cx="2849563" cy="1481137"/>
          </a:xfrm>
          <a:custGeom>
            <a:avLst/>
            <a:gdLst>
              <a:gd name="txL" fmla="*/ 0 w 1794"/>
              <a:gd name="txT" fmla="*/ 0 h 933"/>
              <a:gd name="txR" fmla="*/ 1794 w 1794"/>
              <a:gd name="txB" fmla="*/ 933 h 933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26994" name="Freeform 6"/>
          <p:cNvSpPr/>
          <p:nvPr/>
        </p:nvSpPr>
        <p:spPr>
          <a:xfrm>
            <a:off x="3368675" y="5530850"/>
            <a:ext cx="542925" cy="295275"/>
          </a:xfrm>
          <a:custGeom>
            <a:avLst/>
            <a:gdLst>
              <a:gd name="txL" fmla="*/ 0 w 342"/>
              <a:gd name="txT" fmla="*/ 0 h 186"/>
              <a:gd name="txR" fmla="*/ 342 w 342"/>
              <a:gd name="txB" fmla="*/ 186 h 186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26995" name="Group 7"/>
          <p:cNvGrpSpPr/>
          <p:nvPr/>
        </p:nvGrpSpPr>
        <p:grpSpPr>
          <a:xfrm>
            <a:off x="2874963" y="5705475"/>
            <a:ext cx="501650" cy="233363"/>
            <a:chOff x="3600" y="219"/>
            <a:chExt cx="360" cy="175"/>
          </a:xfrm>
        </p:grpSpPr>
        <p:sp>
          <p:nvSpPr>
            <p:cNvPr id="127107" name="Oval 8"/>
            <p:cNvSpPr/>
            <p:nvPr/>
          </p:nvSpPr>
          <p:spPr>
            <a:xfrm>
              <a:off x="3605" y="298"/>
              <a:ext cx="355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108" name="Line 9"/>
            <p:cNvSpPr/>
            <p:nvPr/>
          </p:nvSpPr>
          <p:spPr>
            <a:xfrm>
              <a:off x="3605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109" name="Line 1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110" name="Rectangle 11"/>
            <p:cNvSpPr/>
            <p:nvPr/>
          </p:nvSpPr>
          <p:spPr>
            <a:xfrm>
              <a:off x="3605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111" name="Oval 12"/>
            <p:cNvSpPr/>
            <p:nvPr/>
          </p:nvSpPr>
          <p:spPr>
            <a:xfrm>
              <a:off x="3603" y="219"/>
              <a:ext cx="354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112" name="Group 1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117" name="Line 1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18" name="Line 15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19" name="Line 16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113" name="Group 1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114" name="Line 18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15" name="Line 1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16" name="Line 20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6996" name="Group 21"/>
          <p:cNvGrpSpPr/>
          <p:nvPr/>
        </p:nvGrpSpPr>
        <p:grpSpPr>
          <a:xfrm>
            <a:off x="3227388" y="6343650"/>
            <a:ext cx="501650" cy="233363"/>
            <a:chOff x="3600" y="219"/>
            <a:chExt cx="360" cy="175"/>
          </a:xfrm>
        </p:grpSpPr>
        <p:sp>
          <p:nvSpPr>
            <p:cNvPr id="127094" name="Oval 22"/>
            <p:cNvSpPr/>
            <p:nvPr/>
          </p:nvSpPr>
          <p:spPr>
            <a:xfrm>
              <a:off x="3605" y="298"/>
              <a:ext cx="355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095" name="Line 23"/>
            <p:cNvSpPr/>
            <p:nvPr/>
          </p:nvSpPr>
          <p:spPr>
            <a:xfrm>
              <a:off x="3605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96" name="Line 24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97" name="Rectangle 25"/>
            <p:cNvSpPr/>
            <p:nvPr/>
          </p:nvSpPr>
          <p:spPr>
            <a:xfrm>
              <a:off x="3605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098" name="Oval 26"/>
            <p:cNvSpPr/>
            <p:nvPr/>
          </p:nvSpPr>
          <p:spPr>
            <a:xfrm>
              <a:off x="3600" y="219"/>
              <a:ext cx="355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099" name="Group 27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104" name="Line 2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05" name="Line 29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06" name="Line 30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100" name="Group 31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101" name="Line 32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02" name="Line 3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103" name="Line 34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6997" name="Group 35"/>
          <p:cNvGrpSpPr/>
          <p:nvPr/>
        </p:nvGrpSpPr>
        <p:grpSpPr>
          <a:xfrm>
            <a:off x="3902075" y="5400675"/>
            <a:ext cx="501650" cy="233363"/>
            <a:chOff x="3600" y="219"/>
            <a:chExt cx="360" cy="175"/>
          </a:xfrm>
        </p:grpSpPr>
        <p:sp>
          <p:nvSpPr>
            <p:cNvPr id="127081" name="Oval 36"/>
            <p:cNvSpPr/>
            <p:nvPr/>
          </p:nvSpPr>
          <p:spPr>
            <a:xfrm>
              <a:off x="3605" y="298"/>
              <a:ext cx="355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082" name="Line 37"/>
            <p:cNvSpPr/>
            <p:nvPr/>
          </p:nvSpPr>
          <p:spPr>
            <a:xfrm>
              <a:off x="3605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83" name="Line 3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84" name="Rectangle 39"/>
            <p:cNvSpPr/>
            <p:nvPr/>
          </p:nvSpPr>
          <p:spPr>
            <a:xfrm>
              <a:off x="3605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085" name="Oval 40"/>
            <p:cNvSpPr/>
            <p:nvPr/>
          </p:nvSpPr>
          <p:spPr>
            <a:xfrm>
              <a:off x="3600" y="219"/>
              <a:ext cx="355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086" name="Group 4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091" name="Line 4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92" name="Line 43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93" name="Line 44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087" name="Group 4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088" name="Line 46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89" name="Line 4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90" name="Line 48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6998" name="Group 18"/>
          <p:cNvGrpSpPr/>
          <p:nvPr/>
        </p:nvGrpSpPr>
        <p:grpSpPr>
          <a:xfrm>
            <a:off x="3813175" y="6065838"/>
            <a:ext cx="500063" cy="233362"/>
            <a:chOff x="2269009" y="6392060"/>
            <a:chExt cx="500221" cy="233326"/>
          </a:xfrm>
        </p:grpSpPr>
        <p:sp>
          <p:nvSpPr>
            <p:cNvPr id="127068" name="Oval 50"/>
            <p:cNvSpPr/>
            <p:nvPr/>
          </p:nvSpPr>
          <p:spPr>
            <a:xfrm>
              <a:off x="2275957" y="6497390"/>
              <a:ext cx="493273" cy="127996"/>
            </a:xfrm>
            <a:prstGeom prst="ellipse">
              <a:avLst/>
            </a:prstGeom>
            <a:solidFill>
              <a:srgbClr val="CC00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069" name="Line 51"/>
            <p:cNvSpPr/>
            <p:nvPr/>
          </p:nvSpPr>
          <p:spPr>
            <a:xfrm>
              <a:off x="2275957" y="6485390"/>
              <a:ext cx="0" cy="799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70" name="Line 52"/>
            <p:cNvSpPr/>
            <p:nvPr/>
          </p:nvSpPr>
          <p:spPr>
            <a:xfrm>
              <a:off x="2769229" y="6485390"/>
              <a:ext cx="0" cy="799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71" name="Rectangle 53"/>
            <p:cNvSpPr/>
            <p:nvPr/>
          </p:nvSpPr>
          <p:spPr>
            <a:xfrm>
              <a:off x="2275957" y="6485390"/>
              <a:ext cx="489104" cy="77331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072" name="Oval 54"/>
            <p:cNvSpPr/>
            <p:nvPr/>
          </p:nvSpPr>
          <p:spPr>
            <a:xfrm>
              <a:off x="2269009" y="6392060"/>
              <a:ext cx="494662" cy="150662"/>
            </a:xfrm>
            <a:prstGeom prst="ellipse">
              <a:avLst/>
            </a:prstGeom>
            <a:solidFill>
              <a:srgbClr val="CC0000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073" name="Group 55"/>
            <p:cNvGrpSpPr/>
            <p:nvPr/>
          </p:nvGrpSpPr>
          <p:grpSpPr>
            <a:xfrm>
              <a:off x="2388506" y="6425391"/>
              <a:ext cx="245942" cy="86201"/>
              <a:chOff x="2848" y="848"/>
              <a:chExt cx="140" cy="96"/>
            </a:xfrm>
          </p:grpSpPr>
          <p:sp>
            <p:nvSpPr>
              <p:cNvPr id="127078" name="Line 5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79" name="Line 57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80" name="Line 58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074" name="Group 59"/>
            <p:cNvGrpSpPr/>
            <p:nvPr/>
          </p:nvGrpSpPr>
          <p:grpSpPr>
            <a:xfrm flipV="1">
              <a:off x="2388506" y="6424059"/>
              <a:ext cx="245942" cy="87997"/>
              <a:chOff x="2848" y="848"/>
              <a:chExt cx="140" cy="98"/>
            </a:xfrm>
          </p:grpSpPr>
          <p:sp>
            <p:nvSpPr>
              <p:cNvPr id="127075" name="Line 60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76" name="Line 6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77" name="Line 62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6999" name="Group 63"/>
          <p:cNvGrpSpPr/>
          <p:nvPr/>
        </p:nvGrpSpPr>
        <p:grpSpPr>
          <a:xfrm>
            <a:off x="4459288" y="6362700"/>
            <a:ext cx="503237" cy="233363"/>
            <a:chOff x="3600" y="219"/>
            <a:chExt cx="360" cy="175"/>
          </a:xfrm>
        </p:grpSpPr>
        <p:sp>
          <p:nvSpPr>
            <p:cNvPr id="127055" name="Oval 64"/>
            <p:cNvSpPr/>
            <p:nvPr/>
          </p:nvSpPr>
          <p:spPr>
            <a:xfrm>
              <a:off x="3605" y="298"/>
              <a:ext cx="355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056" name="Line 65"/>
            <p:cNvSpPr/>
            <p:nvPr/>
          </p:nvSpPr>
          <p:spPr>
            <a:xfrm>
              <a:off x="3605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57" name="Line 66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58" name="Rectangle 67"/>
            <p:cNvSpPr/>
            <p:nvPr/>
          </p:nvSpPr>
          <p:spPr>
            <a:xfrm>
              <a:off x="3605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059" name="Oval 68"/>
            <p:cNvSpPr/>
            <p:nvPr/>
          </p:nvSpPr>
          <p:spPr>
            <a:xfrm>
              <a:off x="3600" y="219"/>
              <a:ext cx="355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060" name="Group 69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065" name="Line 7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66" name="Line 71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67" name="Line 72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061" name="Group 73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062" name="Line 74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63" name="Line 7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64" name="Line 76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7000" name="Group 77"/>
          <p:cNvGrpSpPr/>
          <p:nvPr/>
        </p:nvGrpSpPr>
        <p:grpSpPr>
          <a:xfrm>
            <a:off x="4905375" y="5707063"/>
            <a:ext cx="501650" cy="233362"/>
            <a:chOff x="3600" y="219"/>
            <a:chExt cx="360" cy="175"/>
          </a:xfrm>
        </p:grpSpPr>
        <p:sp>
          <p:nvSpPr>
            <p:cNvPr id="127042" name="Oval 78"/>
            <p:cNvSpPr/>
            <p:nvPr/>
          </p:nvSpPr>
          <p:spPr>
            <a:xfrm>
              <a:off x="3605" y="298"/>
              <a:ext cx="355" cy="96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127043" name="Line 79"/>
            <p:cNvSpPr/>
            <p:nvPr/>
          </p:nvSpPr>
          <p:spPr>
            <a:xfrm>
              <a:off x="3605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44" name="Line 8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45" name="Rectangle 81"/>
            <p:cNvSpPr/>
            <p:nvPr/>
          </p:nvSpPr>
          <p:spPr>
            <a:xfrm>
              <a:off x="3605" y="289"/>
              <a:ext cx="352" cy="58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endParaRPr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27046" name="Oval 82"/>
            <p:cNvSpPr/>
            <p:nvPr/>
          </p:nvSpPr>
          <p:spPr>
            <a:xfrm>
              <a:off x="3600" y="219"/>
              <a:ext cx="355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sz="1800" dirty="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127047" name="Group 8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052" name="Line 8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3" name="Line 85"/>
              <p:cNvSpPr/>
              <p:nvPr/>
            </p:nvSpPr>
            <p:spPr>
              <a:xfrm>
                <a:off x="2944" y="942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4" name="Line 86"/>
              <p:cNvSpPr/>
              <p:nvPr/>
            </p:nvSpPr>
            <p:spPr>
              <a:xfrm>
                <a:off x="2894" y="850"/>
                <a:ext cx="52" cy="9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7048" name="Group 8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049" name="Line 88"/>
              <p:cNvSpPr/>
              <p:nvPr/>
            </p:nvSpPr>
            <p:spPr>
              <a:xfrm flipV="1">
                <a:off x="2848" y="846"/>
                <a:ext cx="50" cy="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0" name="Line 8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51" name="Line 90"/>
              <p:cNvSpPr/>
              <p:nvPr/>
            </p:nvSpPr>
            <p:spPr>
              <a:xfrm>
                <a:off x="2894" y="849"/>
                <a:ext cx="52" cy="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27001" name="Freeform 91"/>
          <p:cNvSpPr/>
          <p:nvPr/>
        </p:nvSpPr>
        <p:spPr>
          <a:xfrm>
            <a:off x="4410075" y="5524500"/>
            <a:ext cx="506413" cy="307975"/>
          </a:xfrm>
          <a:custGeom>
            <a:avLst/>
            <a:gdLst>
              <a:gd name="txL" fmla="*/ 0 w 318"/>
              <a:gd name="txT" fmla="*/ 0 h 194"/>
              <a:gd name="txR" fmla="*/ 318 w 318"/>
              <a:gd name="txB" fmla="*/ 194 h 19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</a:cxnLst>
            <a:rect l="txL" t="txT" r="txR" b="tx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2" name="Freeform 92"/>
          <p:cNvSpPr/>
          <p:nvPr/>
        </p:nvSpPr>
        <p:spPr>
          <a:xfrm>
            <a:off x="3344863" y="5916613"/>
            <a:ext cx="481012" cy="238125"/>
          </a:xfrm>
          <a:custGeom>
            <a:avLst/>
            <a:gdLst>
              <a:gd name="txL" fmla="*/ 0 w 294"/>
              <a:gd name="txT" fmla="*/ 0 h 174"/>
              <a:gd name="txR" fmla="*/ 294 w 294"/>
              <a:gd name="txB" fmla="*/ 174 h 17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</a:cxnLst>
            <a:rect l="txL" t="txT" r="txR" b="txB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3" name="Freeform 93"/>
          <p:cNvSpPr/>
          <p:nvPr/>
        </p:nvSpPr>
        <p:spPr>
          <a:xfrm>
            <a:off x="4292600" y="5892800"/>
            <a:ext cx="630238" cy="247650"/>
          </a:xfrm>
          <a:custGeom>
            <a:avLst/>
            <a:gdLst>
              <a:gd name="txL" fmla="*/ 0 w 378"/>
              <a:gd name="txT" fmla="*/ 0 h 174"/>
              <a:gd name="txR" fmla="*/ 378 w 378"/>
              <a:gd name="txB" fmla="*/ 174 h 174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4" name="Freeform 94"/>
          <p:cNvSpPr/>
          <p:nvPr/>
        </p:nvSpPr>
        <p:spPr>
          <a:xfrm>
            <a:off x="4960938" y="5946775"/>
            <a:ext cx="206375" cy="508000"/>
          </a:xfrm>
          <a:custGeom>
            <a:avLst/>
            <a:gdLst>
              <a:gd name="txL" fmla="*/ 0 w 118"/>
              <a:gd name="txT" fmla="*/ 0 h 500"/>
              <a:gd name="txR" fmla="*/ 118 w 118"/>
              <a:gd name="txB" fmla="*/ 500 h 500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</a:cxnLst>
            <a:rect l="txL" t="txT" r="txR" b="txB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5" name="Freeform 95"/>
          <p:cNvSpPr/>
          <p:nvPr/>
        </p:nvSpPr>
        <p:spPr>
          <a:xfrm>
            <a:off x="3724275" y="6480175"/>
            <a:ext cx="736600" cy="74613"/>
          </a:xfrm>
          <a:custGeom>
            <a:avLst/>
            <a:gdLst>
              <a:gd name="txL" fmla="*/ 0 w 370"/>
              <a:gd name="txT" fmla="*/ 0 h 32"/>
              <a:gd name="txR" fmla="*/ 370 w 370"/>
              <a:gd name="txB" fmla="*/ 32 h 32"/>
            </a:gdLst>
            <a:ahLst/>
            <a:cxnLst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6" name="Freeform 96"/>
          <p:cNvSpPr/>
          <p:nvPr/>
        </p:nvSpPr>
        <p:spPr>
          <a:xfrm>
            <a:off x="3187700" y="5940425"/>
            <a:ext cx="193675" cy="425450"/>
          </a:xfrm>
          <a:custGeom>
            <a:avLst/>
            <a:gdLst>
              <a:gd name="txL" fmla="*/ 0 w 176"/>
              <a:gd name="txT" fmla="*/ 0 h 412"/>
              <a:gd name="txR" fmla="*/ 176 w 176"/>
              <a:gd name="txB" fmla="*/ 412 h 412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7" name="Freeform 7"/>
          <p:cNvSpPr/>
          <p:nvPr/>
        </p:nvSpPr>
        <p:spPr>
          <a:xfrm>
            <a:off x="2076450" y="4598988"/>
            <a:ext cx="5156200" cy="1509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61" y="1168047"/>
              </a:cxn>
              <a:cxn ang="0">
                <a:pos x="1131015" y="1170389"/>
              </a:cxn>
              <a:cxn ang="0">
                <a:pos x="1755021" y="1490285"/>
              </a:cxn>
              <a:cxn ang="0">
                <a:pos x="2207298" y="1510706"/>
              </a:cxn>
              <a:cxn ang="0">
                <a:pos x="2988945" y="1198737"/>
              </a:cxn>
              <a:cxn ang="0">
                <a:pos x="3391674" y="1210330"/>
              </a:cxn>
              <a:cxn ang="0">
                <a:pos x="5156412" y="1199641"/>
              </a:cxn>
              <a:cxn ang="0">
                <a:pos x="5126696" y="64147"/>
              </a:cxn>
            </a:cxnLst>
            <a:pathLst>
              <a:path w="5156094" h="1509215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754913" y="1488814"/>
                </a:lnTo>
                <a:lnTo>
                  <a:pt x="2207163" y="1509215"/>
                </a:lnTo>
                <a:lnTo>
                  <a:pt x="2988762" y="1197554"/>
                </a:lnTo>
                <a:lnTo>
                  <a:pt x="3391464" y="1209136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 cap="flat" cmpd="sng">
            <a:solidFill>
              <a:srgbClr val="00009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7008" name="TextBox 10"/>
          <p:cNvSpPr txBox="1"/>
          <p:nvPr/>
        </p:nvSpPr>
        <p:spPr>
          <a:xfrm>
            <a:off x="-1639887" y="4827588"/>
            <a:ext cx="46037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ahoma" panose="020B0604030504040204" charset="0"/>
              </a:rPr>
              <a:t>ECN=11</a:t>
            </a:r>
            <a:endParaRPr lang="en-US" altLang="zh-CN" dirty="0">
              <a:latin typeface="Tahoma" panose="020B060403050404020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501775" y="5843588"/>
            <a:ext cx="1493838" cy="307975"/>
            <a:chOff x="1502428" y="5844331"/>
            <a:chExt cx="1493249" cy="307777"/>
          </a:xfrm>
        </p:grpSpPr>
        <p:grpSp>
          <p:nvGrpSpPr>
            <p:cNvPr id="127034" name="Group 274"/>
            <p:cNvGrpSpPr/>
            <p:nvPr/>
          </p:nvGrpSpPr>
          <p:grpSpPr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127036" name="Group 275"/>
              <p:cNvGrpSpPr/>
              <p:nvPr/>
            </p:nvGrpSpPr>
            <p:grpSpPr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78" name="Rectangle 277"/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chemeClr val="accent1">
                      <a:lumMod val="50000"/>
                    </a:scheme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279" name="Rectangle 278"/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chemeClr val="accent1">
                      <a:lumMod val="50000"/>
                    </a:scheme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280" name="Freeform 279"/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-1" fmla="*/ 0 w 1223105"/>
                    <a:gd name="connsiteY0-2" fmla="*/ 89042 h 103102"/>
                    <a:gd name="connsiteX1-3" fmla="*/ 70293 w 1223105"/>
                    <a:gd name="connsiteY1-4" fmla="*/ 0 h 103102"/>
                    <a:gd name="connsiteX2-5" fmla="*/ 1223105 w 1223105"/>
                    <a:gd name="connsiteY2-6" fmla="*/ 4687 h 103102"/>
                    <a:gd name="connsiteX3-7" fmla="*/ 1148126 w 1223105"/>
                    <a:gd name="connsiteY3-8" fmla="*/ 103102 h 103102"/>
                    <a:gd name="connsiteX4-9" fmla="*/ 0 w 1223105"/>
                    <a:gd name="connsiteY4-10" fmla="*/ 89042 h 103102"/>
                    <a:gd name="connsiteX0-11" fmla="*/ 0 w 1223105"/>
                    <a:gd name="connsiteY0-12" fmla="*/ 89042 h 93730"/>
                    <a:gd name="connsiteX1-13" fmla="*/ 70293 w 1223105"/>
                    <a:gd name="connsiteY1-14" fmla="*/ 0 h 93730"/>
                    <a:gd name="connsiteX2-15" fmla="*/ 1223105 w 1223105"/>
                    <a:gd name="connsiteY2-16" fmla="*/ 4687 h 93730"/>
                    <a:gd name="connsiteX3-17" fmla="*/ 1143439 w 1223105"/>
                    <a:gd name="connsiteY3-18" fmla="*/ 93730 h 93730"/>
                    <a:gd name="connsiteX4-19" fmla="*/ 0 w 1223105"/>
                    <a:gd name="connsiteY4-20" fmla="*/ 89042 h 9373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281" name="Freeform 280"/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-1" fmla="*/ 0 w 1223105"/>
                    <a:gd name="connsiteY0-2" fmla="*/ 89042 h 103102"/>
                    <a:gd name="connsiteX1-3" fmla="*/ 70293 w 1223105"/>
                    <a:gd name="connsiteY1-4" fmla="*/ 0 h 103102"/>
                    <a:gd name="connsiteX2-5" fmla="*/ 1223105 w 1223105"/>
                    <a:gd name="connsiteY2-6" fmla="*/ 4687 h 103102"/>
                    <a:gd name="connsiteX3-7" fmla="*/ 1148126 w 1223105"/>
                    <a:gd name="connsiteY3-8" fmla="*/ 103102 h 103102"/>
                    <a:gd name="connsiteX4-9" fmla="*/ 0 w 1223105"/>
                    <a:gd name="connsiteY4-10" fmla="*/ 89042 h 103102"/>
                    <a:gd name="connsiteX0-11" fmla="*/ 0 w 1223105"/>
                    <a:gd name="connsiteY0-12" fmla="*/ 89042 h 93730"/>
                    <a:gd name="connsiteX1-13" fmla="*/ 70293 w 1223105"/>
                    <a:gd name="connsiteY1-14" fmla="*/ 0 h 93730"/>
                    <a:gd name="connsiteX2-15" fmla="*/ 1223105 w 1223105"/>
                    <a:gd name="connsiteY2-16" fmla="*/ 4687 h 93730"/>
                    <a:gd name="connsiteX3-17" fmla="*/ 1143439 w 1223105"/>
                    <a:gd name="connsiteY3-18" fmla="*/ 93730 h 93730"/>
                    <a:gd name="connsiteX4-19" fmla="*/ 0 w 1223105"/>
                    <a:gd name="connsiteY4-20" fmla="*/ 89042 h 93730"/>
                    <a:gd name="connsiteX0-21" fmla="*/ 0 w 1143439"/>
                    <a:gd name="connsiteY0-22" fmla="*/ 604462 h 609150"/>
                    <a:gd name="connsiteX1-23" fmla="*/ 70293 w 1143439"/>
                    <a:gd name="connsiteY1-24" fmla="*/ 515420 h 609150"/>
                    <a:gd name="connsiteX2-25" fmla="*/ 1048102 w 1143439"/>
                    <a:gd name="connsiteY2-26" fmla="*/ 0 h 609150"/>
                    <a:gd name="connsiteX3-27" fmla="*/ 1143439 w 1143439"/>
                    <a:gd name="connsiteY3-28" fmla="*/ 609150 h 609150"/>
                    <a:gd name="connsiteX4-29" fmla="*/ 0 w 1143439"/>
                    <a:gd name="connsiteY4-30" fmla="*/ 604462 h 609150"/>
                    <a:gd name="connsiteX0-31" fmla="*/ 0 w 1143439"/>
                    <a:gd name="connsiteY0-32" fmla="*/ 750108 h 754796"/>
                    <a:gd name="connsiteX1-33" fmla="*/ 958091 w 1143439"/>
                    <a:gd name="connsiteY1-34" fmla="*/ 0 h 754796"/>
                    <a:gd name="connsiteX2-35" fmla="*/ 1048102 w 1143439"/>
                    <a:gd name="connsiteY2-36" fmla="*/ 145646 h 754796"/>
                    <a:gd name="connsiteX3-37" fmla="*/ 1143439 w 1143439"/>
                    <a:gd name="connsiteY3-38" fmla="*/ 754796 h 754796"/>
                    <a:gd name="connsiteX4-39" fmla="*/ 0 w 1143439"/>
                    <a:gd name="connsiteY4-40" fmla="*/ 750108 h 754796"/>
                    <a:gd name="connsiteX0-41" fmla="*/ 28193 w 185348"/>
                    <a:gd name="connsiteY0-42" fmla="*/ 675301 h 754796"/>
                    <a:gd name="connsiteX1-43" fmla="*/ 0 w 185348"/>
                    <a:gd name="connsiteY1-44" fmla="*/ 0 h 754796"/>
                    <a:gd name="connsiteX2-45" fmla="*/ 90011 w 185348"/>
                    <a:gd name="connsiteY2-46" fmla="*/ 145646 h 754796"/>
                    <a:gd name="connsiteX3-47" fmla="*/ 185348 w 185348"/>
                    <a:gd name="connsiteY3-48" fmla="*/ 754796 h 754796"/>
                    <a:gd name="connsiteX4-49" fmla="*/ 28193 w 185348"/>
                    <a:gd name="connsiteY4-50" fmla="*/ 675301 h 754796"/>
                    <a:gd name="connsiteX0-51" fmla="*/ 28193 w 133700"/>
                    <a:gd name="connsiteY0-52" fmla="*/ 675301 h 844174"/>
                    <a:gd name="connsiteX1-53" fmla="*/ 0 w 133700"/>
                    <a:gd name="connsiteY1-54" fmla="*/ 0 h 844174"/>
                    <a:gd name="connsiteX2-55" fmla="*/ 90011 w 133700"/>
                    <a:gd name="connsiteY2-56" fmla="*/ 145646 h 844174"/>
                    <a:gd name="connsiteX3-57" fmla="*/ 133700 w 133700"/>
                    <a:gd name="connsiteY3-58" fmla="*/ 844173 h 844174"/>
                    <a:gd name="connsiteX4-59" fmla="*/ 28193 w 133700"/>
                    <a:gd name="connsiteY4-60" fmla="*/ 675301 h 844174"/>
                    <a:gd name="connsiteX0-61" fmla="*/ 33377 w 133700"/>
                    <a:gd name="connsiteY0-62" fmla="*/ 683762 h 844174"/>
                    <a:gd name="connsiteX1-63" fmla="*/ 0 w 133700"/>
                    <a:gd name="connsiteY1-64" fmla="*/ 0 h 844174"/>
                    <a:gd name="connsiteX2-65" fmla="*/ 90011 w 133700"/>
                    <a:gd name="connsiteY2-66" fmla="*/ 145646 h 844174"/>
                    <a:gd name="connsiteX3-67" fmla="*/ 133700 w 133700"/>
                    <a:gd name="connsiteY3-68" fmla="*/ 844173 h 844174"/>
                    <a:gd name="connsiteX4-69" fmla="*/ 33377 w 133700"/>
                    <a:gd name="connsiteY4-70" fmla="*/ 683762 h 844174"/>
                    <a:gd name="connsiteX0-71" fmla="*/ 87868 w 188191"/>
                    <a:gd name="connsiteY0-72" fmla="*/ 816127 h 976539"/>
                    <a:gd name="connsiteX1-73" fmla="*/ 0 w 188191"/>
                    <a:gd name="connsiteY1-74" fmla="*/ 0 h 976539"/>
                    <a:gd name="connsiteX2-75" fmla="*/ 144502 w 188191"/>
                    <a:gd name="connsiteY2-76" fmla="*/ 278011 h 976539"/>
                    <a:gd name="connsiteX3-77" fmla="*/ 188191 w 188191"/>
                    <a:gd name="connsiteY3-78" fmla="*/ 976538 h 976539"/>
                    <a:gd name="connsiteX4-79" fmla="*/ 87868 w 188191"/>
                    <a:gd name="connsiteY4-80" fmla="*/ 816127 h 976539"/>
                    <a:gd name="connsiteX0-81" fmla="*/ 32848 w 133171"/>
                    <a:gd name="connsiteY0-82" fmla="*/ 674219 h 834631"/>
                    <a:gd name="connsiteX1-83" fmla="*/ 0 w 133171"/>
                    <a:gd name="connsiteY1-84" fmla="*/ 1 h 834631"/>
                    <a:gd name="connsiteX2-85" fmla="*/ 89482 w 133171"/>
                    <a:gd name="connsiteY2-86" fmla="*/ 136103 h 834631"/>
                    <a:gd name="connsiteX3-87" fmla="*/ 133171 w 133171"/>
                    <a:gd name="connsiteY3-88" fmla="*/ 834630 h 834631"/>
                    <a:gd name="connsiteX4-89" fmla="*/ 32848 w 133171"/>
                    <a:gd name="connsiteY4-90" fmla="*/ 674219 h 834631"/>
                    <a:gd name="connsiteX0-91" fmla="*/ 32848 w 133171"/>
                    <a:gd name="connsiteY0-92" fmla="*/ 674219 h 834631"/>
                    <a:gd name="connsiteX1-93" fmla="*/ 0 w 133171"/>
                    <a:gd name="connsiteY1-94" fmla="*/ 1 h 834631"/>
                    <a:gd name="connsiteX2-95" fmla="*/ 97738 w 133171"/>
                    <a:gd name="connsiteY2-96" fmla="*/ 114843 h 834631"/>
                    <a:gd name="connsiteX3-97" fmla="*/ 133171 w 133171"/>
                    <a:gd name="connsiteY3-98" fmla="*/ 834630 h 834631"/>
                    <a:gd name="connsiteX4-99" fmla="*/ 32848 w 133171"/>
                    <a:gd name="connsiteY4-100" fmla="*/ 674219 h 834631"/>
                    <a:gd name="connsiteX0-101" fmla="*/ 36019 w 136342"/>
                    <a:gd name="connsiteY0-102" fmla="*/ 731496 h 891908"/>
                    <a:gd name="connsiteX1-103" fmla="*/ 0 w 136342"/>
                    <a:gd name="connsiteY1-104" fmla="*/ 1 h 891908"/>
                    <a:gd name="connsiteX2-105" fmla="*/ 100909 w 136342"/>
                    <a:gd name="connsiteY2-106" fmla="*/ 172120 h 891908"/>
                    <a:gd name="connsiteX3-107" fmla="*/ 136342 w 136342"/>
                    <a:gd name="connsiteY3-108" fmla="*/ 891907 h 891908"/>
                    <a:gd name="connsiteX4-109" fmla="*/ 36019 w 136342"/>
                    <a:gd name="connsiteY4-110" fmla="*/ 731496 h 89190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</p:grpSp>
          <p:sp>
            <p:nvSpPr>
              <p:cNvPr id="127037" name="TextBox 276"/>
              <p:cNvSpPr txBox="1"/>
              <p:nvPr/>
            </p:nvSpPr>
            <p:spPr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400" dirty="0">
                    <a:solidFill>
                      <a:schemeClr val="bg1"/>
                    </a:solidFill>
                    <a:latin typeface="Tahoma" panose="020B0604030504040204" charset="0"/>
                  </a:rPr>
                  <a:t>ECN=</a:t>
                </a:r>
                <a:r>
                  <a:rPr lang="en-US" altLang="zh-CN" sz="1400" dirty="0">
                    <a:solidFill>
                      <a:srgbClr val="FFFFFF"/>
                    </a:solidFill>
                    <a:latin typeface="Tahoma" panose="020B0604030504040204" charset="0"/>
                  </a:rPr>
                  <a:t>00</a:t>
                </a:r>
                <a:endParaRPr lang="en-US" altLang="zh-CN" sz="1400" dirty="0">
                  <a:solidFill>
                    <a:srgbClr val="FFFFFF"/>
                  </a:solidFill>
                  <a:latin typeface="Tahoma" panose="020B0604030504040204" charset="0"/>
                </a:endParaRPr>
              </a:p>
            </p:txBody>
          </p:sp>
        </p:grpSp>
        <p:cxnSp>
          <p:nvCxnSpPr>
            <p:cNvPr id="127035" name="Straight Arrow Connector 15"/>
            <p:cNvCxnSpPr/>
            <p:nvPr/>
          </p:nvCxnSpPr>
          <p:spPr>
            <a:xfrm flipV="1">
              <a:off x="2150568" y="6133267"/>
              <a:ext cx="612066" cy="1"/>
            </a:xfrm>
            <a:prstGeom prst="straightConnector1">
              <a:avLst/>
            </a:prstGeom>
            <a:ln w="9525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23" name="Group 22"/>
          <p:cNvGrpSpPr/>
          <p:nvPr/>
        </p:nvGrpSpPr>
        <p:grpSpPr>
          <a:xfrm>
            <a:off x="3621088" y="5775325"/>
            <a:ext cx="1493837" cy="358775"/>
            <a:chOff x="3621632" y="5775938"/>
            <a:chExt cx="1493249" cy="357723"/>
          </a:xfrm>
        </p:grpSpPr>
        <p:grpSp>
          <p:nvGrpSpPr>
            <p:cNvPr id="127026" name="Group 13"/>
            <p:cNvGrpSpPr/>
            <p:nvPr/>
          </p:nvGrpSpPr>
          <p:grpSpPr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127028" name="Group 11"/>
              <p:cNvGrpSpPr/>
              <p:nvPr/>
            </p:nvGrpSpPr>
            <p:grpSpPr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68" name="Rectangle 267"/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chemeClr val="accent1">
                      <a:lumMod val="50000"/>
                    </a:scheme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chemeClr val="accent1">
                      <a:lumMod val="50000"/>
                    </a:scheme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10" name="Freeform 9"/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-1" fmla="*/ 0 w 1223105"/>
                    <a:gd name="connsiteY0-2" fmla="*/ 89042 h 103102"/>
                    <a:gd name="connsiteX1-3" fmla="*/ 70293 w 1223105"/>
                    <a:gd name="connsiteY1-4" fmla="*/ 0 h 103102"/>
                    <a:gd name="connsiteX2-5" fmla="*/ 1223105 w 1223105"/>
                    <a:gd name="connsiteY2-6" fmla="*/ 4687 h 103102"/>
                    <a:gd name="connsiteX3-7" fmla="*/ 1148126 w 1223105"/>
                    <a:gd name="connsiteY3-8" fmla="*/ 103102 h 103102"/>
                    <a:gd name="connsiteX4-9" fmla="*/ 0 w 1223105"/>
                    <a:gd name="connsiteY4-10" fmla="*/ 89042 h 103102"/>
                    <a:gd name="connsiteX0-11" fmla="*/ 0 w 1223105"/>
                    <a:gd name="connsiteY0-12" fmla="*/ 89042 h 93730"/>
                    <a:gd name="connsiteX1-13" fmla="*/ 70293 w 1223105"/>
                    <a:gd name="connsiteY1-14" fmla="*/ 0 h 93730"/>
                    <a:gd name="connsiteX2-15" fmla="*/ 1223105 w 1223105"/>
                    <a:gd name="connsiteY2-16" fmla="*/ 4687 h 93730"/>
                    <a:gd name="connsiteX3-17" fmla="*/ 1143439 w 1223105"/>
                    <a:gd name="connsiteY3-18" fmla="*/ 93730 h 93730"/>
                    <a:gd name="connsiteX4-19" fmla="*/ 0 w 1223105"/>
                    <a:gd name="connsiteY4-20" fmla="*/ 89042 h 9373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  <p:sp>
              <p:nvSpPr>
                <p:cNvPr id="270" name="Freeform 269"/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-1" fmla="*/ 0 w 1223105"/>
                    <a:gd name="connsiteY0-2" fmla="*/ 89042 h 103102"/>
                    <a:gd name="connsiteX1-3" fmla="*/ 70293 w 1223105"/>
                    <a:gd name="connsiteY1-4" fmla="*/ 0 h 103102"/>
                    <a:gd name="connsiteX2-5" fmla="*/ 1223105 w 1223105"/>
                    <a:gd name="connsiteY2-6" fmla="*/ 4687 h 103102"/>
                    <a:gd name="connsiteX3-7" fmla="*/ 1148126 w 1223105"/>
                    <a:gd name="connsiteY3-8" fmla="*/ 103102 h 103102"/>
                    <a:gd name="connsiteX4-9" fmla="*/ 0 w 1223105"/>
                    <a:gd name="connsiteY4-10" fmla="*/ 89042 h 103102"/>
                    <a:gd name="connsiteX0-11" fmla="*/ 0 w 1223105"/>
                    <a:gd name="connsiteY0-12" fmla="*/ 89042 h 93730"/>
                    <a:gd name="connsiteX1-13" fmla="*/ 70293 w 1223105"/>
                    <a:gd name="connsiteY1-14" fmla="*/ 0 h 93730"/>
                    <a:gd name="connsiteX2-15" fmla="*/ 1223105 w 1223105"/>
                    <a:gd name="connsiteY2-16" fmla="*/ 4687 h 93730"/>
                    <a:gd name="connsiteX3-17" fmla="*/ 1143439 w 1223105"/>
                    <a:gd name="connsiteY3-18" fmla="*/ 93730 h 93730"/>
                    <a:gd name="connsiteX4-19" fmla="*/ 0 w 1223105"/>
                    <a:gd name="connsiteY4-20" fmla="*/ 89042 h 93730"/>
                    <a:gd name="connsiteX0-21" fmla="*/ 0 w 1143439"/>
                    <a:gd name="connsiteY0-22" fmla="*/ 604462 h 609150"/>
                    <a:gd name="connsiteX1-23" fmla="*/ 70293 w 1143439"/>
                    <a:gd name="connsiteY1-24" fmla="*/ 515420 h 609150"/>
                    <a:gd name="connsiteX2-25" fmla="*/ 1048102 w 1143439"/>
                    <a:gd name="connsiteY2-26" fmla="*/ 0 h 609150"/>
                    <a:gd name="connsiteX3-27" fmla="*/ 1143439 w 1143439"/>
                    <a:gd name="connsiteY3-28" fmla="*/ 609150 h 609150"/>
                    <a:gd name="connsiteX4-29" fmla="*/ 0 w 1143439"/>
                    <a:gd name="connsiteY4-30" fmla="*/ 604462 h 609150"/>
                    <a:gd name="connsiteX0-31" fmla="*/ 0 w 1143439"/>
                    <a:gd name="connsiteY0-32" fmla="*/ 750108 h 754796"/>
                    <a:gd name="connsiteX1-33" fmla="*/ 958091 w 1143439"/>
                    <a:gd name="connsiteY1-34" fmla="*/ 0 h 754796"/>
                    <a:gd name="connsiteX2-35" fmla="*/ 1048102 w 1143439"/>
                    <a:gd name="connsiteY2-36" fmla="*/ 145646 h 754796"/>
                    <a:gd name="connsiteX3-37" fmla="*/ 1143439 w 1143439"/>
                    <a:gd name="connsiteY3-38" fmla="*/ 754796 h 754796"/>
                    <a:gd name="connsiteX4-39" fmla="*/ 0 w 1143439"/>
                    <a:gd name="connsiteY4-40" fmla="*/ 750108 h 754796"/>
                    <a:gd name="connsiteX0-41" fmla="*/ 28193 w 185348"/>
                    <a:gd name="connsiteY0-42" fmla="*/ 675301 h 754796"/>
                    <a:gd name="connsiteX1-43" fmla="*/ 0 w 185348"/>
                    <a:gd name="connsiteY1-44" fmla="*/ 0 h 754796"/>
                    <a:gd name="connsiteX2-45" fmla="*/ 90011 w 185348"/>
                    <a:gd name="connsiteY2-46" fmla="*/ 145646 h 754796"/>
                    <a:gd name="connsiteX3-47" fmla="*/ 185348 w 185348"/>
                    <a:gd name="connsiteY3-48" fmla="*/ 754796 h 754796"/>
                    <a:gd name="connsiteX4-49" fmla="*/ 28193 w 185348"/>
                    <a:gd name="connsiteY4-50" fmla="*/ 675301 h 754796"/>
                    <a:gd name="connsiteX0-51" fmla="*/ 28193 w 133700"/>
                    <a:gd name="connsiteY0-52" fmla="*/ 675301 h 844174"/>
                    <a:gd name="connsiteX1-53" fmla="*/ 0 w 133700"/>
                    <a:gd name="connsiteY1-54" fmla="*/ 0 h 844174"/>
                    <a:gd name="connsiteX2-55" fmla="*/ 90011 w 133700"/>
                    <a:gd name="connsiteY2-56" fmla="*/ 145646 h 844174"/>
                    <a:gd name="connsiteX3-57" fmla="*/ 133700 w 133700"/>
                    <a:gd name="connsiteY3-58" fmla="*/ 844173 h 844174"/>
                    <a:gd name="connsiteX4-59" fmla="*/ 28193 w 133700"/>
                    <a:gd name="connsiteY4-60" fmla="*/ 675301 h 844174"/>
                    <a:gd name="connsiteX0-61" fmla="*/ 33377 w 133700"/>
                    <a:gd name="connsiteY0-62" fmla="*/ 683762 h 844174"/>
                    <a:gd name="connsiteX1-63" fmla="*/ 0 w 133700"/>
                    <a:gd name="connsiteY1-64" fmla="*/ 0 h 844174"/>
                    <a:gd name="connsiteX2-65" fmla="*/ 90011 w 133700"/>
                    <a:gd name="connsiteY2-66" fmla="*/ 145646 h 844174"/>
                    <a:gd name="connsiteX3-67" fmla="*/ 133700 w 133700"/>
                    <a:gd name="connsiteY3-68" fmla="*/ 844173 h 844174"/>
                    <a:gd name="connsiteX4-69" fmla="*/ 33377 w 133700"/>
                    <a:gd name="connsiteY4-70" fmla="*/ 683762 h 844174"/>
                    <a:gd name="connsiteX0-71" fmla="*/ 87868 w 188191"/>
                    <a:gd name="connsiteY0-72" fmla="*/ 816127 h 976539"/>
                    <a:gd name="connsiteX1-73" fmla="*/ 0 w 188191"/>
                    <a:gd name="connsiteY1-74" fmla="*/ 0 h 976539"/>
                    <a:gd name="connsiteX2-75" fmla="*/ 144502 w 188191"/>
                    <a:gd name="connsiteY2-76" fmla="*/ 278011 h 976539"/>
                    <a:gd name="connsiteX3-77" fmla="*/ 188191 w 188191"/>
                    <a:gd name="connsiteY3-78" fmla="*/ 976538 h 976539"/>
                    <a:gd name="connsiteX4-79" fmla="*/ 87868 w 188191"/>
                    <a:gd name="connsiteY4-80" fmla="*/ 816127 h 976539"/>
                    <a:gd name="connsiteX0-81" fmla="*/ 32848 w 133171"/>
                    <a:gd name="connsiteY0-82" fmla="*/ 674219 h 834631"/>
                    <a:gd name="connsiteX1-83" fmla="*/ 0 w 133171"/>
                    <a:gd name="connsiteY1-84" fmla="*/ 1 h 834631"/>
                    <a:gd name="connsiteX2-85" fmla="*/ 89482 w 133171"/>
                    <a:gd name="connsiteY2-86" fmla="*/ 136103 h 834631"/>
                    <a:gd name="connsiteX3-87" fmla="*/ 133171 w 133171"/>
                    <a:gd name="connsiteY3-88" fmla="*/ 834630 h 834631"/>
                    <a:gd name="connsiteX4-89" fmla="*/ 32848 w 133171"/>
                    <a:gd name="connsiteY4-90" fmla="*/ 674219 h 834631"/>
                    <a:gd name="connsiteX0-91" fmla="*/ 32848 w 133171"/>
                    <a:gd name="connsiteY0-92" fmla="*/ 674219 h 834631"/>
                    <a:gd name="connsiteX1-93" fmla="*/ 0 w 133171"/>
                    <a:gd name="connsiteY1-94" fmla="*/ 1 h 834631"/>
                    <a:gd name="connsiteX2-95" fmla="*/ 97738 w 133171"/>
                    <a:gd name="connsiteY2-96" fmla="*/ 114843 h 834631"/>
                    <a:gd name="connsiteX3-97" fmla="*/ 133171 w 133171"/>
                    <a:gd name="connsiteY3-98" fmla="*/ 834630 h 834631"/>
                    <a:gd name="connsiteX4-99" fmla="*/ 32848 w 133171"/>
                    <a:gd name="connsiteY4-100" fmla="*/ 674219 h 834631"/>
                    <a:gd name="connsiteX0-101" fmla="*/ 36019 w 136342"/>
                    <a:gd name="connsiteY0-102" fmla="*/ 731496 h 891908"/>
                    <a:gd name="connsiteX1-103" fmla="*/ 0 w 136342"/>
                    <a:gd name="connsiteY1-104" fmla="*/ 1 h 891908"/>
                    <a:gd name="connsiteX2-105" fmla="*/ 100909 w 136342"/>
                    <a:gd name="connsiteY2-106" fmla="*/ 172120 h 891908"/>
                    <a:gd name="connsiteX3-107" fmla="*/ 136342 w 136342"/>
                    <a:gd name="connsiteY3-108" fmla="*/ 891907 h 891908"/>
                    <a:gd name="connsiteX4-109" fmla="*/ 36019 w 136342"/>
                    <a:gd name="connsiteY4-110" fmla="*/ 731496 h 89190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MS PGothic" charset="0"/>
                    <a:cs typeface="MS PGothic" charset="0"/>
                  </a:endParaRPr>
                </a:p>
              </p:txBody>
            </p:sp>
          </p:grpSp>
          <p:sp>
            <p:nvSpPr>
              <p:cNvPr id="127029" name="TextBox 12"/>
              <p:cNvSpPr txBox="1"/>
              <p:nvPr/>
            </p:nvSpPr>
            <p:spPr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400" dirty="0">
                    <a:solidFill>
                      <a:schemeClr val="bg1"/>
                    </a:solidFill>
                    <a:latin typeface="Tahoma" panose="020B0604030504040204" charset="0"/>
                  </a:rPr>
                  <a:t>ECN=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ahoma" panose="020B0604030504040204" charset="0"/>
                  </a:rPr>
                  <a:t>11</a:t>
                </a:r>
                <a:endParaRPr lang="en-US" altLang="zh-CN" sz="1400" dirty="0">
                  <a:solidFill>
                    <a:srgbClr val="FF0000"/>
                  </a:solidFill>
                  <a:latin typeface="Tahoma" panose="020B0604030504040204" charset="0"/>
                </a:endParaRPr>
              </a:p>
            </p:txBody>
          </p:sp>
        </p:grpSp>
        <p:cxnSp>
          <p:nvCxnSpPr>
            <p:cNvPr id="127027" name="Straight Arrow Connector 286"/>
            <p:cNvCxnSpPr/>
            <p:nvPr/>
          </p:nvCxnSpPr>
          <p:spPr>
            <a:xfrm flipV="1">
              <a:off x="4483694" y="5949896"/>
              <a:ext cx="457353" cy="183765"/>
            </a:xfrm>
            <a:prstGeom prst="straightConnector1">
              <a:avLst/>
            </a:prstGeom>
            <a:ln w="9525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29" name="Group 28"/>
          <p:cNvGrpSpPr/>
          <p:nvPr/>
        </p:nvGrpSpPr>
        <p:grpSpPr>
          <a:xfrm>
            <a:off x="2333625" y="4533900"/>
            <a:ext cx="3983038" cy="379413"/>
            <a:chOff x="2334273" y="4534486"/>
            <a:chExt cx="3981995" cy="378689"/>
          </a:xfrm>
        </p:grpSpPr>
        <p:grpSp>
          <p:nvGrpSpPr>
            <p:cNvPr id="127018" name="Group 27"/>
            <p:cNvGrpSpPr/>
            <p:nvPr/>
          </p:nvGrpSpPr>
          <p:grpSpPr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298" name="Rectangle 297"/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MS PGothic" charset="0"/>
                  <a:cs typeface="MS PGothic" charset="0"/>
                </a:endParaRPr>
              </a:p>
            </p:txBody>
          </p:sp>
          <p:sp>
            <p:nvSpPr>
              <p:cNvPr id="127022" name="Rectangle 298"/>
              <p:cNvSpPr/>
              <p:nvPr/>
            </p:nvSpPr>
            <p:spPr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 cap="flat" cmpd="sng">
                <a:solidFill>
                  <a:srgbClr val="00009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/>
              <a:p>
                <a:endParaRPr dirty="0">
                  <a:latin typeface="Tahoma" panose="020B0604030504040204" charset="0"/>
                </a:endParaRPr>
              </a:p>
            </p:txBody>
          </p:sp>
          <p:sp>
            <p:nvSpPr>
              <p:cNvPr id="127023" name="Freeform 299"/>
              <p:cNvSpPr/>
              <p:nvPr/>
            </p:nvSpPr>
            <p:spPr>
              <a:xfrm>
                <a:off x="3859775" y="4425511"/>
                <a:ext cx="783947" cy="53534"/>
              </a:xfrm>
              <a:custGeom>
                <a:avLst/>
                <a:gdLst/>
                <a:ahLst/>
                <a:cxnLst>
                  <a:cxn ang="0">
                    <a:pos x="0" y="9475"/>
                  </a:cxn>
                  <a:cxn ang="0">
                    <a:pos x="11863" y="0"/>
                  </a:cxn>
                  <a:cxn ang="0">
                    <a:pos x="206422" y="499"/>
                  </a:cxn>
                  <a:cxn ang="0">
                    <a:pos x="192977" y="9975"/>
                  </a:cxn>
                  <a:cxn ang="0">
                    <a:pos x="0" y="9475"/>
                  </a:cxn>
                </a:cxnLst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>
                  <a:alpha val="100000"/>
                </a:srgbClr>
              </a:solidFill>
              <a:ln w="9525" cap="flat" cmpd="sng">
                <a:solidFill>
                  <a:srgbClr val="00009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024" name="Freeform 300"/>
              <p:cNvSpPr/>
              <p:nvPr/>
            </p:nvSpPr>
            <p:spPr>
              <a:xfrm rot="-388553" flipV="1">
                <a:off x="4579084" y="4434448"/>
                <a:ext cx="87388" cy="248479"/>
              </a:xfrm>
              <a:custGeom>
                <a:avLst/>
                <a:gdLst/>
                <a:ahLst/>
                <a:cxnLst>
                  <a:cxn ang="0">
                    <a:pos x="6079" y="4406"/>
                  </a:cxn>
                  <a:cxn ang="0">
                    <a:pos x="0" y="0"/>
                  </a:cxn>
                  <a:cxn ang="0">
                    <a:pos x="17030" y="1037"/>
                  </a:cxn>
                  <a:cxn ang="0">
                    <a:pos x="23010" y="5373"/>
                  </a:cxn>
                  <a:cxn ang="0">
                    <a:pos x="6079" y="4406"/>
                  </a:cxn>
                </a:cxnLst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>
                  <a:alpha val="100000"/>
                </a:srgbClr>
              </a:solidFill>
              <a:ln w="9525" cap="flat" cmpd="sng">
                <a:solidFill>
                  <a:srgbClr val="00009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7025" name="TextBox 296"/>
              <p:cNvSpPr txBox="1"/>
              <p:nvPr/>
            </p:nvSpPr>
            <p:spPr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400" dirty="0">
                    <a:solidFill>
                      <a:schemeClr val="bg1"/>
                    </a:solidFill>
                    <a:latin typeface="Tahoma" panose="020B0604030504040204" charset="0"/>
                  </a:rPr>
                  <a:t>ECE=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ahoma" panose="020B0604030504040204" charset="0"/>
                  </a:rPr>
                  <a:t>1</a:t>
                </a:r>
                <a:endParaRPr lang="en-US" altLang="zh-CN" sz="1400" dirty="0">
                  <a:solidFill>
                    <a:srgbClr val="FF0000"/>
                  </a:solidFill>
                  <a:latin typeface="Tahoma" panose="020B0604030504040204" charset="0"/>
                </a:endParaRPr>
              </a:p>
            </p:txBody>
          </p:sp>
        </p:grpSp>
        <p:cxnSp>
          <p:nvCxnSpPr>
            <p:cNvPr id="127019" name="Straight Arrow Connector 294"/>
            <p:cNvCxnSpPr/>
            <p:nvPr/>
          </p:nvCxnSpPr>
          <p:spPr>
            <a:xfrm flipH="1" flipV="1">
              <a:off x="3801047" y="4905427"/>
              <a:ext cx="697737" cy="7748"/>
            </a:xfrm>
            <a:prstGeom prst="straightConnector1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27020" name="Straight Arrow Connector 25"/>
            <p:cNvCxnSpPr/>
            <p:nvPr/>
          </p:nvCxnSpPr>
          <p:spPr>
            <a:xfrm flipH="1">
              <a:off x="2334273" y="4839428"/>
              <a:ext cx="3981995" cy="0"/>
            </a:xfrm>
            <a:prstGeom prst="straightConnector1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33" name="Group 32"/>
          <p:cNvGrpSpPr/>
          <p:nvPr/>
        </p:nvGrpSpPr>
        <p:grpSpPr>
          <a:xfrm>
            <a:off x="901700" y="6161088"/>
            <a:ext cx="1160463" cy="461962"/>
            <a:chOff x="902416" y="6160831"/>
            <a:chExt cx="1160369" cy="462226"/>
          </a:xfrm>
        </p:grpSpPr>
        <p:sp>
          <p:nvSpPr>
            <p:cNvPr id="127016" name="TextBox 29"/>
            <p:cNvSpPr txBox="1"/>
            <p:nvPr/>
          </p:nvSpPr>
          <p:spPr>
            <a:xfrm>
              <a:off x="902416" y="6315280"/>
              <a:ext cx="1160369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dirty="0">
                  <a:latin typeface="Tahoma" panose="020B0604030504040204" charset="0"/>
                </a:rPr>
                <a:t>IP datagram</a:t>
              </a:r>
              <a:endParaRPr lang="en-US" altLang="zh-CN" sz="1400" dirty="0">
                <a:latin typeface="Tahoma" panose="020B0604030504040204" charset="0"/>
              </a:endParaRPr>
            </a:p>
          </p:txBody>
        </p:sp>
        <p:cxnSp>
          <p:nvCxnSpPr>
            <p:cNvPr id="127017" name="Straight Connector 31"/>
            <p:cNvCxnSpPr/>
            <p:nvPr/>
          </p:nvCxnSpPr>
          <p:spPr>
            <a:xfrm flipH="1">
              <a:off x="1785033" y="6160831"/>
              <a:ext cx="274620" cy="2402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4" name="Group 33"/>
          <p:cNvGrpSpPr/>
          <p:nvPr/>
        </p:nvGrpSpPr>
        <p:grpSpPr>
          <a:xfrm>
            <a:off x="4532313" y="3995738"/>
            <a:ext cx="1620837" cy="515937"/>
            <a:chOff x="4531899" y="3996483"/>
            <a:chExt cx="1620957" cy="514832"/>
          </a:xfrm>
        </p:grpSpPr>
        <p:sp>
          <p:nvSpPr>
            <p:cNvPr id="127014" name="TextBox 312"/>
            <p:cNvSpPr txBox="1"/>
            <p:nvPr/>
          </p:nvSpPr>
          <p:spPr>
            <a:xfrm>
              <a:off x="4531899" y="3996483"/>
              <a:ext cx="1620957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dirty="0">
                  <a:latin typeface="Tahoma" panose="020B0604030504040204" charset="0"/>
                </a:rPr>
                <a:t>TCP ACK segment</a:t>
              </a:r>
              <a:endParaRPr lang="en-US" altLang="zh-CN" sz="1400" dirty="0">
                <a:latin typeface="Tahoma" panose="020B0604030504040204" charset="0"/>
              </a:endParaRPr>
            </a:p>
          </p:txBody>
        </p:sp>
        <p:cxnSp>
          <p:nvCxnSpPr>
            <p:cNvPr id="127015" name="Straight Connector 313"/>
            <p:cNvCxnSpPr/>
            <p:nvPr/>
          </p:nvCxnSpPr>
          <p:spPr>
            <a:xfrm flipH="1">
              <a:off x="4632144" y="4271060"/>
              <a:ext cx="274620" cy="2402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Footer Placeholder 5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Transport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MS PGothic" charset="0"/>
                <a:cs typeface="+mn-cs"/>
              </a:rPr>
              <a:t>Layer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MS PGothic" charset="0"/>
              <a:cs typeface="+mn-cs"/>
            </a:endParaRPr>
          </a:p>
        </p:txBody>
      </p:sp>
      <p:sp>
        <p:nvSpPr>
          <p:cNvPr id="112643" name="Slide Number Placeholder 6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</a:defRPr>
            </a:lvl1pPr>
            <a:lvl2pPr marL="45720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2pPr>
            <a:lvl3pPr marL="914400" lvl="2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3pPr>
            <a:lvl4pPr marL="1371600" lvl="3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4pPr>
            <a:lvl5pPr marL="1828800" lvl="4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charset="-128"/>
                <a:cs typeface="+mn-cs"/>
              </a:defRPr>
            </a:lvl5pPr>
          </a:lstStyle>
          <a:p>
            <a:pPr lvl="0" algn="l"/>
            <a:r>
              <a:rPr lang="en-US" altLang="zh-CN" sz="1200" dirty="0"/>
              <a:t>3-</a:t>
            </a:r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pic>
        <p:nvPicPr>
          <p:cNvPr id="128003" name="Picture 6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388938" y="904875"/>
            <a:ext cx="50276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188913"/>
            <a:ext cx="7772400" cy="981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charset="0"/>
                <a:ea typeface="MS PGothic" charset="0"/>
                <a:cs typeface="+mj-cs"/>
              </a:rPr>
              <a:t>Chapter 3: summary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Gill Sans MT" charset="0"/>
              <a:ea typeface="MS PGothic" charset="0"/>
              <a:cs typeface="+mj-cs"/>
            </a:endParaRPr>
          </a:p>
        </p:txBody>
      </p:sp>
      <p:sp>
        <p:nvSpPr>
          <p:cNvPr id="11264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3413" y="1360488"/>
            <a:ext cx="4398963" cy="3952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principles behind transport layer services: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multiplexing,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demultiplexing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reliable data transfer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flow control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congestion control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284480" marR="0" lvl="0" indent="-28448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  <a:cs typeface="+mn-cs"/>
              </a:rPr>
              <a:t>instantiation, implementation in the Internet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  <a:cs typeface="+mn-cs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UDP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  <a:p>
            <a:pPr marL="687705" marR="0" lvl="1" indent="-23050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90204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charset="0"/>
                <a:ea typeface="MS PGothic" charset="0"/>
              </a:rPr>
              <a:t>TCP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 MT" charset="0"/>
              <a:ea typeface="MS PGothic" charset="0"/>
            </a:endParaRPr>
          </a:p>
        </p:txBody>
      </p:sp>
      <p:sp>
        <p:nvSpPr>
          <p:cNvPr id="11264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478463" y="1839913"/>
            <a:ext cx="3333750" cy="4321175"/>
          </a:xfrm>
        </p:spPr>
        <p:txBody>
          <a:bodyPr vert="horz" wrap="square" lIns="91440" tIns="45720" rIns="91440" bIns="45720" numCol="1" anchor="t" anchorCtr="0" compatLnSpc="1"/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u="sng">
                <a:solidFill>
                  <a:srgbClr val="CC0000"/>
                </a:solidFill>
                <a:latin typeface="+mn-lt"/>
                <a:ea typeface="MS PGothic" charset="0"/>
                <a:cs typeface="MS PGothic" charset="0"/>
              </a:rPr>
              <a:t>next:</a:t>
            </a:r>
            <a:endParaRPr lang="en-US" altLang="zh-CN">
              <a:solidFill>
                <a:srgbClr val="CC0000"/>
              </a:solidFill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>
                <a:latin typeface="+mn-lt"/>
                <a:ea typeface="MS PGothic" charset="0"/>
                <a:cs typeface="MS PGothic" charset="0"/>
              </a:rPr>
              <a:t>leaving the network </a:t>
            </a:r>
            <a:r>
              <a:rPr lang="ja-JP" altLang="en-US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>
                <a:latin typeface="+mn-lt"/>
                <a:ea typeface="MS PGothic" charset="0"/>
                <a:cs typeface="MS PGothic" charset="0"/>
              </a:rPr>
              <a:t>edge</a:t>
            </a:r>
            <a:r>
              <a:rPr lang="ja-JP" altLang="en-US">
                <a:latin typeface="+mn-lt"/>
                <a:ea typeface="MS PGothic" charset="0"/>
                <a:cs typeface="MS PGothic" charset="0"/>
              </a:rPr>
              <a:t>”</a:t>
            </a:r>
            <a:r>
              <a:rPr lang="en-US" altLang="ja-JP">
                <a:latin typeface="+mn-lt"/>
                <a:ea typeface="MS PGothic" charset="0"/>
                <a:cs typeface="MS PGothic" charset="0"/>
              </a:rPr>
              <a:t> (application, transport layers)</a:t>
            </a:r>
            <a:endParaRPr lang="en-US" altLang="ja-JP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>
                <a:latin typeface="+mn-lt"/>
                <a:ea typeface="MS PGothic" charset="0"/>
                <a:cs typeface="MS PGothic" charset="0"/>
              </a:rPr>
              <a:t>into the network </a:t>
            </a:r>
            <a:r>
              <a:rPr lang="ja-JP" altLang="en-US">
                <a:latin typeface="+mn-lt"/>
                <a:ea typeface="MS PGothic" charset="0"/>
                <a:cs typeface="MS PGothic" charset="0"/>
              </a:rPr>
              <a:t>“</a:t>
            </a:r>
            <a:r>
              <a:rPr lang="en-US" altLang="ja-JP">
                <a:latin typeface="+mn-lt"/>
                <a:ea typeface="MS PGothic" charset="0"/>
                <a:cs typeface="MS PGothic" charset="0"/>
              </a:rPr>
              <a:t>core</a:t>
            </a:r>
            <a:r>
              <a:rPr lang="ja-JP" altLang="en-US">
                <a:latin typeface="+mn-lt"/>
                <a:ea typeface="MS PGothic" charset="0"/>
                <a:cs typeface="MS PGothic" charset="0"/>
              </a:rPr>
              <a:t>”</a:t>
            </a:r>
            <a:endParaRPr lang="en-US" altLang="ja-JP">
              <a:latin typeface="+mn-lt"/>
              <a:ea typeface="MS PGothic" charset="0"/>
              <a:cs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r>
              <a:rPr lang="en-US" altLang="zh-CN">
                <a:latin typeface="+mn-lt"/>
                <a:ea typeface="MS PGothic" charset="0"/>
                <a:cs typeface="MS PGothic" charset="0"/>
              </a:rPr>
              <a:t>two network layer chapters:</a:t>
            </a:r>
            <a:endParaRPr lang="en-US" altLang="zh-CN">
              <a:latin typeface="+mn-lt"/>
              <a:ea typeface="MS PGothic" charset="0"/>
              <a:cs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>
                <a:latin typeface="+mn-lt"/>
                <a:ea typeface="MS PGothic" charset="0"/>
              </a:rPr>
              <a:t>data plane</a:t>
            </a:r>
            <a:endParaRPr lang="en-US" altLang="zh-CN">
              <a:latin typeface="+mn-lt"/>
              <a:ea typeface="MS PGothic" charset="0"/>
            </a:endParaRPr>
          </a:p>
          <a:p>
            <a:pPr lvl="1">
              <a:buClr>
                <a:srgbClr val="000099"/>
              </a:buClr>
              <a:buSzTx/>
            </a:pPr>
            <a:r>
              <a:rPr lang="en-US" altLang="zh-CN">
                <a:latin typeface="+mn-lt"/>
                <a:ea typeface="MS PGothic" charset="0"/>
              </a:rPr>
              <a:t>control plane</a:t>
            </a:r>
            <a:endParaRPr lang="en-US" altLang="zh-CN">
              <a:latin typeface="+mn-lt"/>
              <a:ea typeface="MS PGothic" charset="0"/>
            </a:endParaRPr>
          </a:p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</a:pPr>
            <a:endParaRPr lang="en-US" altLang="zh-CN">
              <a:latin typeface="+mn-lt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AwYjZkZTI4YmUzYTVlZWNhMTYwY2JhMmY5YWJjYmU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solidFill>
            <a:schemeClr val="tx1"/>
          </a:solidFill>
        </a:ln>
      </a:spPr>
      <a:bodyPr vert="horz" wrap="none" lIns="91440" tIns="45720" rIns="91440" bIns="45720" numCol="1" rtlCol="0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40864</Words>
  <Application>WPS 演示</Application>
  <PresentationFormat>On-screen Show (4:3)</PresentationFormat>
  <Paragraphs>3341</Paragraphs>
  <Slides>97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97</vt:i4>
      </vt:variant>
    </vt:vector>
  </HeadingPairs>
  <TitlesOfParts>
    <vt:vector size="126" baseType="lpstr">
      <vt:lpstr>Arial</vt:lpstr>
      <vt:lpstr>宋体</vt:lpstr>
      <vt:lpstr>Wingdings</vt:lpstr>
      <vt:lpstr>Tahoma</vt:lpstr>
      <vt:lpstr>MS PGothic</vt:lpstr>
      <vt:lpstr>冬青黑体简体中文</vt:lpstr>
      <vt:lpstr>Times New Roman</vt:lpstr>
      <vt:lpstr>MS PGothic</vt:lpstr>
      <vt:lpstr>苹方-简</vt:lpstr>
      <vt:lpstr>Gill Sans MT</vt:lpstr>
      <vt:lpstr>Wingdings</vt:lpstr>
      <vt:lpstr>Arial</vt:lpstr>
      <vt:lpstr>Comic Sans MS</vt:lpstr>
      <vt:lpstr>Courier New</vt:lpstr>
      <vt:lpstr>微软雅黑</vt:lpstr>
      <vt:lpstr>宋体</vt:lpstr>
      <vt:lpstr>Arial Unicode MS</vt:lpstr>
      <vt:lpstr>Symbol</vt:lpstr>
      <vt:lpstr>Arial Narrow</vt:lpstr>
      <vt:lpstr>Symbol</vt:lpstr>
      <vt:lpstr>Wingdings 3</vt:lpstr>
      <vt:lpstr>MS Mincho</vt:lpstr>
      <vt:lpstr>Kingsoft Sign</vt:lpstr>
      <vt:lpstr>Hiragino Sans</vt:lpstr>
      <vt:lpstr>汉仪书宋二KW</vt:lpstr>
      <vt:lpstr>Default Design</vt:lpstr>
      <vt:lpstr>Word.Picture.8</vt:lpstr>
      <vt:lpstr>Word.Picture.8</vt:lpstr>
      <vt:lpstr>Word.Picture.8</vt:lpstr>
      <vt:lpstr>PowerPoint 演示文稿</vt:lpstr>
      <vt:lpstr>Chapter 3 outline</vt:lpstr>
      <vt:lpstr>Transport services and protocols</vt:lpstr>
      <vt:lpstr>Transport vs. network layer</vt:lpstr>
      <vt:lpstr>Internet transport-layer protocols</vt:lpstr>
      <vt:lpstr>Chapter 3 outline</vt:lpstr>
      <vt:lpstr>Multiplexing/demultiplexing</vt:lpstr>
      <vt:lpstr>How demultiplexing works</vt:lpstr>
      <vt:lpstr>Connectionless demultiplexing</vt:lpstr>
      <vt:lpstr>Connectionless demux: example</vt:lpstr>
      <vt:lpstr>Connection-oriented demux</vt:lpstr>
      <vt:lpstr>Connection-oriented demux: example</vt:lpstr>
      <vt:lpstr>Connection-oriented demux: example</vt:lpstr>
      <vt:lpstr>Chapter 3 outline</vt:lpstr>
      <vt:lpstr>UDP: User Datagram Protocol [RFC 768]</vt:lpstr>
      <vt:lpstr>UDP: segment header</vt:lpstr>
      <vt:lpstr>UDP checksum</vt:lpstr>
      <vt:lpstr>Internet checksum: example</vt:lpstr>
      <vt:lpstr>Chapter 3 outline</vt:lpstr>
      <vt:lpstr>Principles of reliable data transfer</vt:lpstr>
      <vt:lpstr>Principles of reliable data transfer</vt:lpstr>
      <vt:lpstr>Principles of reliable data transfer</vt:lpstr>
      <vt:lpstr>Reliable data transfer: getting started</vt:lpstr>
      <vt:lpstr>Reliable data transfer: getting started</vt:lpstr>
      <vt:lpstr>rdt1.0: reliable transfer over a reliable channel</vt:lpstr>
      <vt:lpstr>rdt2.0: channel with bit errors</vt:lpstr>
      <vt:lpstr>rdt2.0: channel with bit errors</vt:lpstr>
      <vt:lpstr>rdt2.0: FSM specification</vt:lpstr>
      <vt:lpstr>rdt2.0: operation with no errors</vt:lpstr>
      <vt:lpstr>rdt2.0: error scenario</vt:lpstr>
      <vt:lpstr>rdt2.0 has a fatal flaw!</vt:lpstr>
      <vt:lpstr>rdt2.1: sender, handles garbled ACK/NAKs</vt:lpstr>
      <vt:lpstr>rdt2.1: receiver, handles garbled ACK/NAKs</vt:lpstr>
      <vt:lpstr>rdt2.1: discussion</vt:lpstr>
      <vt:lpstr>rdt2.2: a NAK-free protocol</vt:lpstr>
      <vt:lpstr>rdt2.2: sender, receiver fragments</vt:lpstr>
      <vt:lpstr>rdt3.0: channels with errors and loss</vt:lpstr>
      <vt:lpstr>rdt3.0 sender</vt:lpstr>
      <vt:lpstr>rdt3.0 in action</vt:lpstr>
      <vt:lpstr>rdt3.0 in action</vt:lpstr>
      <vt:lpstr>Performance of rdt3.0</vt:lpstr>
      <vt:lpstr>rdt3.0: stop-and-wait operation</vt:lpstr>
      <vt:lpstr>Pipelined protocols</vt:lpstr>
      <vt:lpstr>Pipelining: increased utilization</vt:lpstr>
      <vt:lpstr>Pipelined protocols: overview</vt:lpstr>
      <vt:lpstr>Go-Back-N: sender</vt:lpstr>
      <vt:lpstr>GBN: sender extended FSM</vt:lpstr>
      <vt:lpstr>GBN: receiver extended FSM</vt:lpstr>
      <vt:lpstr>GBN in action</vt:lpstr>
      <vt:lpstr>Selective repeat</vt:lpstr>
      <vt:lpstr>Selective repeat: sender, receiver windows</vt:lpstr>
      <vt:lpstr>Selective repeat</vt:lpstr>
      <vt:lpstr>Selective repeat in action</vt:lpstr>
      <vt:lpstr>Selective repeat: dilemma</vt:lpstr>
      <vt:lpstr>Chapter 3 outline</vt:lpstr>
      <vt:lpstr>TCP: Overview  RFCs: 793,1122,1323, 2018, 2581</vt:lpstr>
      <vt:lpstr>TCP segment structure</vt:lpstr>
      <vt:lpstr>TCP seq. numbers, ACKs</vt:lpstr>
      <vt:lpstr>TCP seq. numbers, ACKs</vt:lpstr>
      <vt:lpstr>TCP round trip time, timeout</vt:lpstr>
      <vt:lpstr>TCP round trip time, timeout</vt:lpstr>
      <vt:lpstr>TCP round trip time, timeout</vt:lpstr>
      <vt:lpstr>Chapter 3 outline</vt:lpstr>
      <vt:lpstr>TCP reliable data transfer</vt:lpstr>
      <vt:lpstr>TCP sender events:</vt:lpstr>
      <vt:lpstr>TCP sender (simplified)</vt:lpstr>
      <vt:lpstr>TCP: retransmission scenarios</vt:lpstr>
      <vt:lpstr>TCP: retransmission scenarios</vt:lpstr>
      <vt:lpstr>TCP ACK generation [RFC 1122, RFC 2581]</vt:lpstr>
      <vt:lpstr>TCP fast retransmit</vt:lpstr>
      <vt:lpstr>TCP fast retransmit</vt:lpstr>
      <vt:lpstr>Chapter 3 outline</vt:lpstr>
      <vt:lpstr>TCP flow control</vt:lpstr>
      <vt:lpstr>TCP flow control</vt:lpstr>
      <vt:lpstr>Chapter 3 outline</vt:lpstr>
      <vt:lpstr>Connection Management</vt:lpstr>
      <vt:lpstr>Agreeing to establish a connection</vt:lpstr>
      <vt:lpstr>Agreeing to establish a connection</vt:lpstr>
      <vt:lpstr>TCP 3-way handshake</vt:lpstr>
      <vt:lpstr>TCP 3-way handshake: FSM</vt:lpstr>
      <vt:lpstr>TCP: closing a connection</vt:lpstr>
      <vt:lpstr>TCP: closing a connection</vt:lpstr>
      <vt:lpstr>Chapter 3 outline</vt:lpstr>
      <vt:lpstr>Principles of congestion control</vt:lpstr>
      <vt:lpstr>TCP congestion control: additive increase multiplicative decrease</vt:lpstr>
      <vt:lpstr>TCP Congestion Control: details</vt:lpstr>
      <vt:lpstr>TCP Slow Start </vt:lpstr>
      <vt:lpstr>TCP: detecting, reacting to loss</vt:lpstr>
      <vt:lpstr>TCP: switching from slow start to CA</vt:lpstr>
      <vt:lpstr>Summary: TCP Congestion Control</vt:lpstr>
      <vt:lpstr>TCP throughput</vt:lpstr>
      <vt:lpstr>TCP Futures: TCP over “long, fat pipes”</vt:lpstr>
      <vt:lpstr>TCP Fairness</vt:lpstr>
      <vt:lpstr>Why is TCP fair?</vt:lpstr>
      <vt:lpstr>Fairness (more)</vt:lpstr>
      <vt:lpstr>Explicit Congestion Notification (ECN)</vt:lpstr>
      <vt:lpstr>Chapter 3: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3</dc:title>
  <dc:creator>Jim Kurose &amp; Keith Ross</dc:creator>
  <cp:lastModifiedBy>土豆之王</cp:lastModifiedBy>
  <cp:revision>294</cp:revision>
  <cp:lastPrinted>2024-10-08T12:56:54Z</cp:lastPrinted>
  <dcterms:created xsi:type="dcterms:W3CDTF">2024-10-08T12:56:54Z</dcterms:created>
  <dcterms:modified xsi:type="dcterms:W3CDTF">2024-10-08T12:56:54Z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4DFA508AB2A58DA816A1F366847BD1BF_43</vt:lpwstr>
  </property>
  <property fmtid="{D5CDD505-2E9C-101B-9397-08002B2CF9AE}" pid="3" name="KSOProductBuildVer">
    <vt:lpwstr>2052-6.11.0.8885</vt:lpwstr>
  </property>
</Properties>
</file>