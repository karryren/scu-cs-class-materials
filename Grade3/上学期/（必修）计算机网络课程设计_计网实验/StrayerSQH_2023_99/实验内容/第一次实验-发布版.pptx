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1" r:id="rId7"/>
    <p:sldId id="260" r:id="rId8"/>
    <p:sldId id="263" r:id="rId9"/>
    <p:sldId id="264" r:id="rId10"/>
    <p:sldId id="266" r:id="rId11"/>
    <p:sldId id="276" r:id="rId12"/>
    <p:sldId id="277" r:id="rId13"/>
    <p:sldId id="267" r:id="rId14"/>
    <p:sldId id="270" r:id="rId15"/>
    <p:sldId id="272" r:id="rId16"/>
    <p:sldId id="273" r:id="rId17"/>
    <p:sldId id="274" r:id="rId18"/>
    <p:sldId id="278" r:id="rId19"/>
    <p:sldId id="279" r:id="rId20"/>
    <p:sldId id="280" r:id="rId21"/>
    <p:sldId id="286" r:id="rId22"/>
    <p:sldId id="281" r:id="rId23"/>
    <p:sldId id="284" r:id="rId24"/>
    <p:sldId id="285" r:id="rId25"/>
    <p:sldId id="283" r:id="rId26"/>
  </p:sldIdLst>
  <p:sldSz cx="18288000" cy="10287000"/>
  <p:notesSz cx="6858000" cy="9144000"/>
  <p:embeddedFontLst>
    <p:embeddedFont>
      <p:font typeface="微软雅黑" panose="020B0503020204020204" pitchFamily="34" charset="-12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33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43DE"/>
    <a:srgbClr val="5B70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 showGuides="1">
      <p:cViewPr varScale="1">
        <p:scale>
          <a:sx n="54" d="100"/>
          <a:sy n="54" d="100"/>
        </p:scale>
        <p:origin x="754" y="58"/>
      </p:cViewPr>
      <p:guideLst>
        <p:guide orient="horz" pos="533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0" Type="http://schemas.openxmlformats.org/officeDocument/2006/relationships/font" Target="fonts/font1.fntdata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33059" y="2135323"/>
            <a:ext cx="6016354" cy="601635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3A50FB">
                      <a:alpha val="435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152282" y="2323868"/>
            <a:ext cx="9633609" cy="178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940"/>
              </a:lnSpc>
            </a:pPr>
            <a:r>
              <a:rPr lang="zh-CN" altLang="en-US" sz="6000" b="1" dirty="0">
                <a:solidFill>
                  <a:srgbClr val="1E1E1E"/>
                </a:solidFill>
                <a:latin typeface="华文楷体" panose="02010600040101010101" charset="-122"/>
                <a:ea typeface="华文楷体" panose="02010600040101010101" charset="-122"/>
                <a:cs typeface="思源黑体 1 Bold"/>
                <a:sym typeface="思源黑体 1 Bold"/>
              </a:rPr>
              <a:t>计算机网络课程设计</a:t>
            </a:r>
            <a:endParaRPr lang="zh-CN" altLang="en-US" sz="6000" b="1" dirty="0">
              <a:solidFill>
                <a:srgbClr val="1E1E1E"/>
              </a:solidFill>
              <a:latin typeface="华文楷体" panose="02010600040101010101" charset="-122"/>
              <a:ea typeface="华文楷体" panose="02010600040101010101" charset="-122"/>
              <a:cs typeface="思源黑体 1 Bold"/>
              <a:sym typeface="思源黑体 1 Bold"/>
            </a:endParaRPr>
          </a:p>
        </p:txBody>
      </p:sp>
      <p:grpSp>
        <p:nvGrpSpPr>
          <p:cNvPr id="256" name="组合 255"/>
          <p:cNvGrpSpPr/>
          <p:nvPr/>
        </p:nvGrpSpPr>
        <p:grpSpPr>
          <a:xfrm>
            <a:off x="1219200" y="7116445"/>
            <a:ext cx="4126865" cy="743585"/>
            <a:chOff x="1920" y="10909"/>
            <a:chExt cx="6499" cy="1171"/>
          </a:xfrm>
        </p:grpSpPr>
        <p:grpSp>
          <p:nvGrpSpPr>
            <p:cNvPr id="5" name="Group 5"/>
            <p:cNvGrpSpPr/>
            <p:nvPr/>
          </p:nvGrpSpPr>
          <p:grpSpPr>
            <a:xfrm>
              <a:off x="1920" y="10909"/>
              <a:ext cx="6499" cy="1171"/>
              <a:chOff x="0" y="0"/>
              <a:chExt cx="812800" cy="1601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12800" cy="160125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160125">
                    <a:moveTo>
                      <a:pt x="0" y="0"/>
                    </a:moveTo>
                    <a:lnTo>
                      <a:pt x="812800" y="0"/>
                    </a:lnTo>
                    <a:lnTo>
                      <a:pt x="812800" y="160125"/>
                    </a:lnTo>
                    <a:lnTo>
                      <a:pt x="0" y="160125"/>
                    </a:lnTo>
                    <a:close/>
                  </a:path>
                </a:pathLst>
              </a:custGeom>
              <a:solidFill>
                <a:srgbClr val="1540DD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28575"/>
                <a:ext cx="812800" cy="188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9" name="TextBox 9"/>
            <p:cNvSpPr txBox="1"/>
            <p:nvPr/>
          </p:nvSpPr>
          <p:spPr>
            <a:xfrm>
              <a:off x="2268" y="11200"/>
              <a:ext cx="5822" cy="59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indent="0" algn="ctr" fontAlgn="auto">
                <a:lnSpc>
                  <a:spcPts val="2925"/>
                </a:lnSpc>
              </a:pPr>
              <a:r>
                <a:rPr lang="zh-CN" altLang="en-US" sz="2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2 Medium"/>
                  <a:sym typeface="思源黑体 2 Medium"/>
                </a:rPr>
                <a:t>主讲：朱敏</a:t>
              </a:r>
              <a:r>
                <a:rPr lang="en-US" altLang="zh-CN" sz="2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2 Medium"/>
                  <a:sym typeface="思源黑体 2 Medium"/>
                </a:rPr>
                <a:t>      </a:t>
              </a:r>
              <a:r>
                <a:rPr lang="zh-CN" altLang="en-US" sz="2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2 Medium"/>
                  <a:sym typeface="思源黑体 2 Medium"/>
                </a:rPr>
                <a:t>助教：</a:t>
              </a:r>
              <a:r>
                <a:rPr lang="zh-CN" altLang="en-US" sz="2400" b="1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思源黑体 2 Medium"/>
                  <a:sym typeface="思源黑体 2 Medium"/>
                </a:rPr>
                <a:t>杨阳</a:t>
              </a:r>
              <a:endParaRPr lang="zh-CN" altLang="en-US" sz="2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Medium"/>
                <a:sym typeface="思源黑体 2 Medium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 rot="-2481614">
            <a:off x="12216413" y="1101520"/>
            <a:ext cx="8083960" cy="808396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1540DD">
                      <a:alpha val="51500"/>
                    </a:srgbClr>
                  </a:gs>
                  <a:gs pos="100000">
                    <a:srgbClr val="3A50FB">
                      <a:alpha val="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553700" y="1936279"/>
            <a:ext cx="784548" cy="939130"/>
            <a:chOff x="0" y="0"/>
            <a:chExt cx="1046064" cy="1252173"/>
          </a:xfrm>
        </p:grpSpPr>
        <p:grpSp>
          <p:nvGrpSpPr>
            <p:cNvPr id="15" name="Group 15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5900698" y="7012627"/>
            <a:ext cx="2637875" cy="952282"/>
            <a:chOff x="0" y="0"/>
            <a:chExt cx="3517166" cy="1269709"/>
          </a:xfrm>
        </p:grpSpPr>
        <p:grpSp>
          <p:nvGrpSpPr>
            <p:cNvPr id="76" name="Group 76"/>
            <p:cNvGrpSpPr/>
            <p:nvPr/>
          </p:nvGrpSpPr>
          <p:grpSpPr>
            <a:xfrm>
              <a:off x="2779629" y="17536"/>
              <a:ext cx="120482" cy="120482"/>
              <a:chOff x="0" y="0"/>
              <a:chExt cx="812800" cy="812800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78" name="TextBox 7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2471102" y="17536"/>
              <a:ext cx="120482" cy="120482"/>
              <a:chOff x="0" y="0"/>
              <a:chExt cx="812800" cy="812800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2" name="Group 82"/>
            <p:cNvGrpSpPr/>
            <p:nvPr/>
          </p:nvGrpSpPr>
          <p:grpSpPr>
            <a:xfrm>
              <a:off x="3396684" y="17536"/>
              <a:ext cx="120482" cy="120482"/>
              <a:chOff x="0" y="0"/>
              <a:chExt cx="812800" cy="812800"/>
            </a:xfrm>
          </p:grpSpPr>
          <p:sp>
            <p:nvSpPr>
              <p:cNvPr id="83" name="Freeform 8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4" name="TextBox 8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5" name="Group 85"/>
            <p:cNvGrpSpPr/>
            <p:nvPr/>
          </p:nvGrpSpPr>
          <p:grpSpPr>
            <a:xfrm>
              <a:off x="3088157" y="17536"/>
              <a:ext cx="120482" cy="120482"/>
              <a:chOff x="0" y="0"/>
              <a:chExt cx="812800" cy="812800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8" name="Group 88"/>
            <p:cNvGrpSpPr/>
            <p:nvPr/>
          </p:nvGrpSpPr>
          <p:grpSpPr>
            <a:xfrm>
              <a:off x="2779629" y="300459"/>
              <a:ext cx="120482" cy="120482"/>
              <a:chOff x="0" y="0"/>
              <a:chExt cx="812800" cy="812800"/>
            </a:xfrm>
          </p:grpSpPr>
          <p:sp>
            <p:nvSpPr>
              <p:cNvPr id="89" name="Freeform 8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1" name="Group 91"/>
            <p:cNvGrpSpPr/>
            <p:nvPr/>
          </p:nvGrpSpPr>
          <p:grpSpPr>
            <a:xfrm>
              <a:off x="2471102" y="300459"/>
              <a:ext cx="120482" cy="120482"/>
              <a:chOff x="0" y="0"/>
              <a:chExt cx="812800" cy="812800"/>
            </a:xfrm>
          </p:grpSpPr>
          <p:sp>
            <p:nvSpPr>
              <p:cNvPr id="92" name="Freeform 9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3" name="TextBox 9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4" name="Group 94"/>
            <p:cNvGrpSpPr/>
            <p:nvPr/>
          </p:nvGrpSpPr>
          <p:grpSpPr>
            <a:xfrm>
              <a:off x="3396684" y="300459"/>
              <a:ext cx="120482" cy="120482"/>
              <a:chOff x="0" y="0"/>
              <a:chExt cx="812800" cy="812800"/>
            </a:xfrm>
          </p:grpSpPr>
          <p:sp>
            <p:nvSpPr>
              <p:cNvPr id="95" name="Freeform 9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3088157" y="300459"/>
              <a:ext cx="120482" cy="120482"/>
              <a:chOff x="0" y="0"/>
              <a:chExt cx="812800" cy="81280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2779629" y="583382"/>
              <a:ext cx="120482" cy="120482"/>
              <a:chOff x="0" y="0"/>
              <a:chExt cx="812800" cy="812800"/>
            </a:xfrm>
          </p:grpSpPr>
          <p:sp>
            <p:nvSpPr>
              <p:cNvPr id="101" name="Freeform 10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3" name="Group 103"/>
            <p:cNvGrpSpPr/>
            <p:nvPr/>
          </p:nvGrpSpPr>
          <p:grpSpPr>
            <a:xfrm>
              <a:off x="2471102" y="583382"/>
              <a:ext cx="120482" cy="120482"/>
              <a:chOff x="0" y="0"/>
              <a:chExt cx="812800" cy="812800"/>
            </a:xfrm>
          </p:grpSpPr>
          <p:sp>
            <p:nvSpPr>
              <p:cNvPr id="104" name="Freeform 10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6" name="Group 106"/>
            <p:cNvGrpSpPr/>
            <p:nvPr/>
          </p:nvGrpSpPr>
          <p:grpSpPr>
            <a:xfrm>
              <a:off x="3396684" y="583382"/>
              <a:ext cx="120482" cy="120482"/>
              <a:chOff x="0" y="0"/>
              <a:chExt cx="812800" cy="812800"/>
            </a:xfrm>
          </p:grpSpPr>
          <p:sp>
            <p:nvSpPr>
              <p:cNvPr id="107" name="Freeform 10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08" name="TextBox 10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9" name="Group 109"/>
            <p:cNvGrpSpPr/>
            <p:nvPr/>
          </p:nvGrpSpPr>
          <p:grpSpPr>
            <a:xfrm>
              <a:off x="3088157" y="583382"/>
              <a:ext cx="120482" cy="120482"/>
              <a:chOff x="0" y="0"/>
              <a:chExt cx="812800" cy="812800"/>
            </a:xfrm>
          </p:grpSpPr>
          <p:sp>
            <p:nvSpPr>
              <p:cNvPr id="110" name="Freeform 1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1" name="TextBox 11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Group 112"/>
            <p:cNvGrpSpPr/>
            <p:nvPr/>
          </p:nvGrpSpPr>
          <p:grpSpPr>
            <a:xfrm>
              <a:off x="2779629" y="866304"/>
              <a:ext cx="120482" cy="120482"/>
              <a:chOff x="0" y="0"/>
              <a:chExt cx="812800" cy="812800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4" name="TextBox 1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Group 115"/>
            <p:cNvGrpSpPr/>
            <p:nvPr/>
          </p:nvGrpSpPr>
          <p:grpSpPr>
            <a:xfrm>
              <a:off x="2471102" y="866304"/>
              <a:ext cx="120482" cy="120482"/>
              <a:chOff x="0" y="0"/>
              <a:chExt cx="812800" cy="812800"/>
            </a:xfrm>
          </p:grpSpPr>
          <p:sp>
            <p:nvSpPr>
              <p:cNvPr id="116" name="Freeform 1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17" name="TextBox 1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Group 118"/>
            <p:cNvGrpSpPr/>
            <p:nvPr/>
          </p:nvGrpSpPr>
          <p:grpSpPr>
            <a:xfrm>
              <a:off x="3396684" y="866304"/>
              <a:ext cx="120482" cy="120482"/>
              <a:chOff x="0" y="0"/>
              <a:chExt cx="812800" cy="812800"/>
            </a:xfrm>
          </p:grpSpPr>
          <p:sp>
            <p:nvSpPr>
              <p:cNvPr id="119" name="Freeform 1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Group 121"/>
            <p:cNvGrpSpPr/>
            <p:nvPr/>
          </p:nvGrpSpPr>
          <p:grpSpPr>
            <a:xfrm>
              <a:off x="3088157" y="866304"/>
              <a:ext cx="120482" cy="120482"/>
              <a:chOff x="0" y="0"/>
              <a:chExt cx="812800" cy="812800"/>
            </a:xfrm>
          </p:grpSpPr>
          <p:sp>
            <p:nvSpPr>
              <p:cNvPr id="122" name="Freeform 1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3" name="TextBox 1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>
              <a:off x="2779629" y="1149227"/>
              <a:ext cx="120482" cy="120482"/>
              <a:chOff x="0" y="0"/>
              <a:chExt cx="812800" cy="812800"/>
            </a:xfrm>
          </p:grpSpPr>
          <p:sp>
            <p:nvSpPr>
              <p:cNvPr id="125" name="Freeform 1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7" name="Group 127"/>
            <p:cNvGrpSpPr/>
            <p:nvPr/>
          </p:nvGrpSpPr>
          <p:grpSpPr>
            <a:xfrm>
              <a:off x="2471102" y="1149227"/>
              <a:ext cx="120482" cy="120482"/>
              <a:chOff x="0" y="0"/>
              <a:chExt cx="812800" cy="812800"/>
            </a:xfrm>
          </p:grpSpPr>
          <p:sp>
            <p:nvSpPr>
              <p:cNvPr id="128" name="Freeform 1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29" name="TextBox 1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0" name="Group 130"/>
            <p:cNvGrpSpPr/>
            <p:nvPr/>
          </p:nvGrpSpPr>
          <p:grpSpPr>
            <a:xfrm>
              <a:off x="3396684" y="1149227"/>
              <a:ext cx="120482" cy="120482"/>
              <a:chOff x="0" y="0"/>
              <a:chExt cx="812800" cy="812800"/>
            </a:xfrm>
          </p:grpSpPr>
          <p:sp>
            <p:nvSpPr>
              <p:cNvPr id="131" name="Freeform 1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2" name="TextBox 1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3" name="Group 133"/>
            <p:cNvGrpSpPr/>
            <p:nvPr/>
          </p:nvGrpSpPr>
          <p:grpSpPr>
            <a:xfrm>
              <a:off x="3088157" y="1149227"/>
              <a:ext cx="120482" cy="120482"/>
              <a:chOff x="0" y="0"/>
              <a:chExt cx="812800" cy="812800"/>
            </a:xfrm>
          </p:grpSpPr>
          <p:sp>
            <p:nvSpPr>
              <p:cNvPr id="134" name="Freeform 1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5" name="TextBox 1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6" name="Group 136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137" name="Freeform 1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140" name="Freeform 1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1" name="TextBox 1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2" name="Group 142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143" name="Freeform 1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5" name="Group 145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146" name="Freeform 1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47" name="TextBox 1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8" name="Group 148"/>
            <p:cNvGrpSpPr/>
            <p:nvPr/>
          </p:nvGrpSpPr>
          <p:grpSpPr>
            <a:xfrm>
              <a:off x="1542637" y="0"/>
              <a:ext cx="120482" cy="120482"/>
              <a:chOff x="0" y="0"/>
              <a:chExt cx="812800" cy="812800"/>
            </a:xfrm>
          </p:grpSpPr>
          <p:sp>
            <p:nvSpPr>
              <p:cNvPr id="149" name="Freeform 1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0" name="TextBox 1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1" name="Group 151"/>
            <p:cNvGrpSpPr/>
            <p:nvPr/>
          </p:nvGrpSpPr>
          <p:grpSpPr>
            <a:xfrm>
              <a:off x="1234109" y="0"/>
              <a:ext cx="120482" cy="120482"/>
              <a:chOff x="0" y="0"/>
              <a:chExt cx="812800" cy="812800"/>
            </a:xfrm>
          </p:grpSpPr>
          <p:sp>
            <p:nvSpPr>
              <p:cNvPr id="152" name="Freeform 1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3" name="TextBox 1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4" name="Group 154"/>
            <p:cNvGrpSpPr/>
            <p:nvPr/>
          </p:nvGrpSpPr>
          <p:grpSpPr>
            <a:xfrm>
              <a:off x="2159691" y="0"/>
              <a:ext cx="120482" cy="120482"/>
              <a:chOff x="0" y="0"/>
              <a:chExt cx="812800" cy="812800"/>
            </a:xfrm>
          </p:grpSpPr>
          <p:sp>
            <p:nvSpPr>
              <p:cNvPr id="155" name="Freeform 1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6" name="TextBox 1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7" name="Group 157"/>
            <p:cNvGrpSpPr/>
            <p:nvPr/>
          </p:nvGrpSpPr>
          <p:grpSpPr>
            <a:xfrm>
              <a:off x="1851164" y="0"/>
              <a:ext cx="120482" cy="120482"/>
              <a:chOff x="0" y="0"/>
              <a:chExt cx="812800" cy="812800"/>
            </a:xfrm>
          </p:grpSpPr>
          <p:sp>
            <p:nvSpPr>
              <p:cNvPr id="158" name="Freeform 1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59" name="TextBox 1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0" name="Group 160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161" name="Freeform 1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2" name="TextBox 1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3" name="Group 163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164" name="Freeform 1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5" name="TextBox 1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6" name="Group 166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167" name="Freeform 1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68" name="TextBox 1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9" name="Group 169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170" name="Freeform 1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1" name="TextBox 1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2" name="Group 172"/>
            <p:cNvGrpSpPr/>
            <p:nvPr/>
          </p:nvGrpSpPr>
          <p:grpSpPr>
            <a:xfrm>
              <a:off x="1542637" y="282923"/>
              <a:ext cx="120482" cy="120482"/>
              <a:chOff x="0" y="0"/>
              <a:chExt cx="812800" cy="812800"/>
            </a:xfrm>
          </p:grpSpPr>
          <p:sp>
            <p:nvSpPr>
              <p:cNvPr id="173" name="Freeform 1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4" name="TextBox 1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5" name="Group 175"/>
            <p:cNvGrpSpPr/>
            <p:nvPr/>
          </p:nvGrpSpPr>
          <p:grpSpPr>
            <a:xfrm>
              <a:off x="1234109" y="282923"/>
              <a:ext cx="120482" cy="120482"/>
              <a:chOff x="0" y="0"/>
              <a:chExt cx="812800" cy="812800"/>
            </a:xfrm>
          </p:grpSpPr>
          <p:sp>
            <p:nvSpPr>
              <p:cNvPr id="176" name="Freeform 17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77" name="TextBox 17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8" name="Group 178"/>
            <p:cNvGrpSpPr/>
            <p:nvPr/>
          </p:nvGrpSpPr>
          <p:grpSpPr>
            <a:xfrm>
              <a:off x="2159691" y="282923"/>
              <a:ext cx="120482" cy="120482"/>
              <a:chOff x="0" y="0"/>
              <a:chExt cx="812800" cy="812800"/>
            </a:xfrm>
          </p:grpSpPr>
          <p:sp>
            <p:nvSpPr>
              <p:cNvPr id="179" name="Freeform 17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0" name="TextBox 18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1" name="Group 181"/>
            <p:cNvGrpSpPr/>
            <p:nvPr/>
          </p:nvGrpSpPr>
          <p:grpSpPr>
            <a:xfrm>
              <a:off x="1851164" y="282923"/>
              <a:ext cx="120482" cy="120482"/>
              <a:chOff x="0" y="0"/>
              <a:chExt cx="812800" cy="812800"/>
            </a:xfrm>
          </p:grpSpPr>
          <p:sp>
            <p:nvSpPr>
              <p:cNvPr id="182" name="Freeform 18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3" name="TextBox 18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4" name="Group 184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185" name="Freeform 18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6" name="TextBox 18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7" name="Group 187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188" name="Freeform 1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89" name="TextBox 18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0" name="Group 190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191" name="Freeform 19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2" name="TextBox 19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3" name="Group 193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194" name="Freeform 19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5" name="TextBox 19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6" name="Group 196"/>
            <p:cNvGrpSpPr/>
            <p:nvPr/>
          </p:nvGrpSpPr>
          <p:grpSpPr>
            <a:xfrm>
              <a:off x="1542637" y="565845"/>
              <a:ext cx="120482" cy="120482"/>
              <a:chOff x="0" y="0"/>
              <a:chExt cx="812800" cy="812800"/>
            </a:xfrm>
          </p:grpSpPr>
          <p:sp>
            <p:nvSpPr>
              <p:cNvPr id="197" name="Freeform 19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198" name="TextBox 19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99" name="Group 199"/>
            <p:cNvGrpSpPr/>
            <p:nvPr/>
          </p:nvGrpSpPr>
          <p:grpSpPr>
            <a:xfrm>
              <a:off x="1234109" y="565845"/>
              <a:ext cx="120482" cy="120482"/>
              <a:chOff x="0" y="0"/>
              <a:chExt cx="812800" cy="812800"/>
            </a:xfrm>
          </p:grpSpPr>
          <p:sp>
            <p:nvSpPr>
              <p:cNvPr id="200" name="Freeform 2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1" name="TextBox 20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2" name="Group 202"/>
            <p:cNvGrpSpPr/>
            <p:nvPr/>
          </p:nvGrpSpPr>
          <p:grpSpPr>
            <a:xfrm>
              <a:off x="2159691" y="565845"/>
              <a:ext cx="120482" cy="120482"/>
              <a:chOff x="0" y="0"/>
              <a:chExt cx="812800" cy="812800"/>
            </a:xfrm>
          </p:grpSpPr>
          <p:sp>
            <p:nvSpPr>
              <p:cNvPr id="203" name="Freeform 20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4" name="TextBox 20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5" name="Group 205"/>
            <p:cNvGrpSpPr/>
            <p:nvPr/>
          </p:nvGrpSpPr>
          <p:grpSpPr>
            <a:xfrm>
              <a:off x="1851164" y="565845"/>
              <a:ext cx="120482" cy="120482"/>
              <a:chOff x="0" y="0"/>
              <a:chExt cx="812800" cy="812800"/>
            </a:xfrm>
          </p:grpSpPr>
          <p:sp>
            <p:nvSpPr>
              <p:cNvPr id="206" name="Freeform 20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07" name="TextBox 20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08" name="Group 208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209" name="Freeform 2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0" name="TextBox 21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1" name="Group 211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212" name="Freeform 2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3" name="TextBox 21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4" name="Group 214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215" name="Freeform 2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6" name="TextBox 21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7" name="Group 217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218" name="Freeform 2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19" name="TextBox 21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0" name="Group 220"/>
            <p:cNvGrpSpPr/>
            <p:nvPr/>
          </p:nvGrpSpPr>
          <p:grpSpPr>
            <a:xfrm>
              <a:off x="1542637" y="848768"/>
              <a:ext cx="120482" cy="120482"/>
              <a:chOff x="0" y="0"/>
              <a:chExt cx="812800" cy="812800"/>
            </a:xfrm>
          </p:grpSpPr>
          <p:sp>
            <p:nvSpPr>
              <p:cNvPr id="221" name="Freeform 2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2" name="TextBox 22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3" name="Group 223"/>
            <p:cNvGrpSpPr/>
            <p:nvPr/>
          </p:nvGrpSpPr>
          <p:grpSpPr>
            <a:xfrm>
              <a:off x="1234109" y="848768"/>
              <a:ext cx="120482" cy="120482"/>
              <a:chOff x="0" y="0"/>
              <a:chExt cx="812800" cy="812800"/>
            </a:xfrm>
          </p:grpSpPr>
          <p:sp>
            <p:nvSpPr>
              <p:cNvPr id="224" name="Freeform 2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5" name="TextBox 22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6" name="Group 226"/>
            <p:cNvGrpSpPr/>
            <p:nvPr/>
          </p:nvGrpSpPr>
          <p:grpSpPr>
            <a:xfrm>
              <a:off x="2159691" y="848768"/>
              <a:ext cx="120482" cy="120482"/>
              <a:chOff x="0" y="0"/>
              <a:chExt cx="812800" cy="812800"/>
            </a:xfrm>
          </p:grpSpPr>
          <p:sp>
            <p:nvSpPr>
              <p:cNvPr id="227" name="Freeform 2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28" name="TextBox 22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29" name="Group 229"/>
            <p:cNvGrpSpPr/>
            <p:nvPr/>
          </p:nvGrpSpPr>
          <p:grpSpPr>
            <a:xfrm>
              <a:off x="1851164" y="848768"/>
              <a:ext cx="120482" cy="120482"/>
              <a:chOff x="0" y="0"/>
              <a:chExt cx="812800" cy="812800"/>
            </a:xfrm>
          </p:grpSpPr>
          <p:sp>
            <p:nvSpPr>
              <p:cNvPr id="230" name="Freeform 2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1" name="TextBox 23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2" name="Group 232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233" name="Freeform 2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4" name="TextBox 23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5" name="Group 235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236" name="Freeform 2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37" name="TextBox 23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38" name="Group 238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239" name="Freeform 2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0" name="TextBox 24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1" name="Group 241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242" name="Freeform 2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3" name="TextBox 24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4" name="Group 244"/>
            <p:cNvGrpSpPr/>
            <p:nvPr/>
          </p:nvGrpSpPr>
          <p:grpSpPr>
            <a:xfrm>
              <a:off x="1542637" y="1131691"/>
              <a:ext cx="120482" cy="120482"/>
              <a:chOff x="0" y="0"/>
              <a:chExt cx="812800" cy="812800"/>
            </a:xfrm>
          </p:grpSpPr>
          <p:sp>
            <p:nvSpPr>
              <p:cNvPr id="245" name="Freeform 2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6" name="TextBox 24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7" name="Group 247"/>
            <p:cNvGrpSpPr/>
            <p:nvPr/>
          </p:nvGrpSpPr>
          <p:grpSpPr>
            <a:xfrm>
              <a:off x="1234109" y="1131691"/>
              <a:ext cx="120482" cy="120482"/>
              <a:chOff x="0" y="0"/>
              <a:chExt cx="812800" cy="812800"/>
            </a:xfrm>
          </p:grpSpPr>
          <p:sp>
            <p:nvSpPr>
              <p:cNvPr id="248" name="Freeform 2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49" name="TextBox 24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0" name="Group 250"/>
            <p:cNvGrpSpPr/>
            <p:nvPr/>
          </p:nvGrpSpPr>
          <p:grpSpPr>
            <a:xfrm>
              <a:off x="2159691" y="1131691"/>
              <a:ext cx="120482" cy="120482"/>
              <a:chOff x="0" y="0"/>
              <a:chExt cx="812800" cy="812800"/>
            </a:xfrm>
          </p:grpSpPr>
          <p:sp>
            <p:nvSpPr>
              <p:cNvPr id="251" name="Freeform 2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52" name="TextBox 25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53" name="Group 253"/>
            <p:cNvGrpSpPr/>
            <p:nvPr/>
          </p:nvGrpSpPr>
          <p:grpSpPr>
            <a:xfrm>
              <a:off x="1851164" y="1131691"/>
              <a:ext cx="120482" cy="120482"/>
              <a:chOff x="0" y="0"/>
              <a:chExt cx="812800" cy="812800"/>
            </a:xfrm>
          </p:grpSpPr>
          <p:sp>
            <p:nvSpPr>
              <p:cNvPr id="254" name="Freeform 2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1540DD"/>
              </a:solidFill>
            </p:spPr>
          </p:sp>
          <p:sp>
            <p:nvSpPr>
              <p:cNvPr id="255" name="TextBox 25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272" name="图片 27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7423" y="276956"/>
            <a:ext cx="1426177" cy="1426177"/>
          </a:xfrm>
          <a:prstGeom prst="rect">
            <a:avLst/>
          </a:prstGeom>
        </p:spPr>
      </p:pic>
      <p:sp>
        <p:nvSpPr>
          <p:cNvPr id="10" name="TextBox 8"/>
          <p:cNvSpPr txBox="1"/>
          <p:nvPr/>
        </p:nvSpPr>
        <p:spPr>
          <a:xfrm>
            <a:off x="1152282" y="3847868"/>
            <a:ext cx="9633609" cy="178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p>
            <a:pPr algn="l">
              <a:lnSpc>
                <a:spcPts val="13940"/>
              </a:lnSpc>
            </a:pPr>
            <a:r>
              <a:rPr lang="zh-CN" altLang="en-US" sz="66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课程简介暨第一次实验</a:t>
            </a:r>
            <a:endParaRPr lang="zh-CN" altLang="en-US" sz="66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 Bold"/>
              <a:sym typeface="思源黑体 1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-1209724" y="1413749"/>
            <a:ext cx="7459502" cy="7459502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3A50FB">
                      <a:alpha val="435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4097080" y="4535452"/>
            <a:ext cx="3704669" cy="862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80"/>
              </a:lnSpc>
            </a:pPr>
            <a:r>
              <a:rPr lang="en-US" sz="5900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"/>
                <a:sym typeface="Akzidenz-Grotesk"/>
              </a:rPr>
              <a:t>Contents</a:t>
            </a:r>
            <a:endParaRPr lang="en-US" sz="5900" dirty="0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"/>
              <a:sym typeface="Akzidenz-Grotesk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266825" y="4186166"/>
            <a:ext cx="2982655" cy="1485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640"/>
              </a:lnSpc>
            </a:pPr>
            <a:r>
              <a:rPr lang="en-US" sz="9700" b="1" dirty="0" err="1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目录</a:t>
            </a:r>
            <a:endParaRPr lang="en-US" sz="97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643216" y="1997358"/>
            <a:ext cx="3065662" cy="658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0"/>
              </a:lnSpc>
            </a:pPr>
            <a:r>
              <a:rPr lang="zh-CN" altLang="en-US" sz="441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基本介绍</a:t>
            </a:r>
            <a:endParaRPr lang="en-US" sz="441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299553" y="1873533"/>
            <a:ext cx="1510704" cy="887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sz="6080" b="1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01.</a:t>
            </a:r>
            <a:endParaRPr lang="en-US" sz="6080" b="1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 Bold"/>
              <a:sym typeface="Akzidenz-Grotesk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643216" y="2668791"/>
            <a:ext cx="4179515" cy="337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altLang="zh-CN" sz="2240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"/>
                <a:sym typeface="Akzidenz-Grotesk"/>
              </a:rPr>
              <a:t>Basic Introduction</a:t>
            </a:r>
            <a:endParaRPr lang="en-US" sz="2240" dirty="0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"/>
              <a:sym typeface="Akzidenz-Grotesk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9643216" y="3745318"/>
            <a:ext cx="3065662" cy="658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0"/>
              </a:lnSpc>
            </a:pPr>
            <a:r>
              <a:rPr lang="zh-CN" altLang="en-US" sz="441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课程要求</a:t>
            </a:r>
            <a:endParaRPr lang="en-US" sz="441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299553" y="3621493"/>
            <a:ext cx="1510704" cy="887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sz="6080" b="1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02.</a:t>
            </a:r>
            <a:endParaRPr lang="en-US" sz="6080" b="1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 Bold"/>
              <a:sym typeface="Akzidenz-Grotesk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643216" y="4416751"/>
            <a:ext cx="4179515" cy="337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altLang="zh-CN" sz="2240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"/>
                <a:sym typeface="Akzidenz-Grotesk"/>
              </a:rPr>
              <a:t>Course Requirement</a:t>
            </a:r>
            <a:endParaRPr lang="en-US" sz="2240" dirty="0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"/>
              <a:sym typeface="Akzidenz-Grotesk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9643216" y="5493278"/>
            <a:ext cx="3065662" cy="678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0"/>
              </a:lnSpc>
            </a:pPr>
            <a:r>
              <a:rPr lang="zh-CN" altLang="en-US" sz="441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报告要求</a:t>
            </a:r>
            <a:endParaRPr lang="en-US" sz="441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8299553" y="5369453"/>
            <a:ext cx="1510704" cy="887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sz="6080" b="1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03.</a:t>
            </a:r>
            <a:endParaRPr lang="en-US" sz="6080" b="1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 Bold"/>
              <a:sym typeface="Akzidenz-Grotesk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9643216" y="6164710"/>
            <a:ext cx="4179515" cy="337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altLang="zh-CN" sz="2240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"/>
                <a:sym typeface="Akzidenz-Grotesk"/>
              </a:rPr>
              <a:t>Homework Requirement</a:t>
            </a:r>
            <a:endParaRPr lang="en-US" sz="2240" dirty="0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"/>
              <a:sym typeface="Akzidenz-Grotesk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9643216" y="7241237"/>
            <a:ext cx="3065662" cy="6582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90"/>
              </a:lnSpc>
            </a:pPr>
            <a:r>
              <a:rPr lang="zh-CN" altLang="en-US" sz="441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第</a:t>
            </a:r>
            <a:r>
              <a:rPr lang="en-US" altLang="zh-CN" sz="441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1</a:t>
            </a:r>
            <a:r>
              <a:rPr lang="zh-CN" altLang="en-US" sz="441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次实验</a:t>
            </a:r>
            <a:endParaRPr lang="en-US" sz="441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8299553" y="7117412"/>
            <a:ext cx="1510704" cy="8876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95"/>
              </a:lnSpc>
            </a:pPr>
            <a:r>
              <a:rPr lang="en-US" sz="6080" b="1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04.</a:t>
            </a:r>
            <a:endParaRPr lang="en-US" sz="6080" b="1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 Bold"/>
              <a:sym typeface="Akzidenz-Grotesk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9643216" y="7912670"/>
            <a:ext cx="4179515" cy="337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85"/>
              </a:lnSpc>
            </a:pPr>
            <a:r>
              <a:rPr lang="en-US" sz="2240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"/>
                <a:sym typeface="Akzidenz-Grotesk"/>
              </a:rPr>
              <a:t>First </a:t>
            </a:r>
            <a:r>
              <a:rPr lang="en-US" altLang="zh-CN" sz="2240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"/>
                <a:sym typeface="Akzidenz-Grotesk"/>
              </a:rPr>
              <a:t>E</a:t>
            </a:r>
            <a:r>
              <a:rPr lang="en-US" sz="2240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"/>
                <a:sym typeface="Akzidenz-Grotesk"/>
              </a:rPr>
              <a:t>xperiment</a:t>
            </a:r>
            <a:endParaRPr lang="en-US" sz="2240" dirty="0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"/>
              <a:sym typeface="Akzidenz-Grotes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40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15816" y="1157379"/>
            <a:ext cx="6843484" cy="684348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1540DD">
                      <a:alpha val="435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9172879">
            <a:off x="-799729" y="7725012"/>
            <a:ext cx="3656858" cy="365685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28650" cap="sq">
              <a:gradFill>
                <a:gsLst>
                  <a:gs pos="0">
                    <a:srgbClr val="1540DD">
                      <a:alpha val="435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566661" y="2388639"/>
            <a:ext cx="3159614" cy="216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775"/>
              </a:lnSpc>
              <a:spcBef>
                <a:spcPct val="0"/>
              </a:spcBef>
            </a:pPr>
            <a:r>
              <a:rPr lang="en-US" sz="1481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01</a:t>
            </a:r>
            <a:endParaRPr lang="en-US" sz="1481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 Bold"/>
              <a:sym typeface="Akzidenz-Grotesk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566661" y="4684164"/>
            <a:ext cx="6682114" cy="1546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535"/>
              </a:lnSpc>
              <a:spcBef>
                <a:spcPct val="0"/>
              </a:spcBef>
            </a:pPr>
            <a:r>
              <a:rPr lang="zh-CN" altLang="en-US" sz="9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基本介绍</a:t>
            </a:r>
            <a:endParaRPr lang="en-US" sz="95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 Bold"/>
              <a:sym typeface="思源黑体 1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566661" y="6412368"/>
            <a:ext cx="4588625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altLang="zh-CN" sz="245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"/>
                <a:sym typeface="Akzidenz-Grotesk"/>
              </a:rPr>
              <a:t>Basic Introduction</a:t>
            </a:r>
            <a:endParaRPr lang="en-US" sz="245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"/>
              <a:sym typeface="Akzidenz-Grotesk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9505242" y="2322073"/>
            <a:ext cx="2637875" cy="952282"/>
            <a:chOff x="0" y="0"/>
            <a:chExt cx="3517166" cy="1269709"/>
          </a:xfrm>
        </p:grpSpPr>
        <p:grpSp>
          <p:nvGrpSpPr>
            <p:cNvPr id="12" name="Group 12"/>
            <p:cNvGrpSpPr/>
            <p:nvPr/>
          </p:nvGrpSpPr>
          <p:grpSpPr>
            <a:xfrm>
              <a:off x="2779629" y="17536"/>
              <a:ext cx="120482" cy="12048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471102" y="17536"/>
              <a:ext cx="120482" cy="12048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396684" y="17536"/>
              <a:ext cx="120482" cy="12048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088157" y="17536"/>
              <a:ext cx="120482" cy="12048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779629" y="300459"/>
              <a:ext cx="120482" cy="12048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471102" y="300459"/>
              <a:ext cx="120482" cy="120482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396684" y="300459"/>
              <a:ext cx="120482" cy="120482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088157" y="300459"/>
              <a:ext cx="120482" cy="120482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2779629" y="583382"/>
              <a:ext cx="120482" cy="120482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2471102" y="583382"/>
              <a:ext cx="120482" cy="120482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3396684" y="583382"/>
              <a:ext cx="120482" cy="120482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3088157" y="583382"/>
              <a:ext cx="120482" cy="120482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2779629" y="866304"/>
              <a:ext cx="120482" cy="120482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2471102" y="866304"/>
              <a:ext cx="120482" cy="120482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3396684" y="866304"/>
              <a:ext cx="120482" cy="120482"/>
              <a:chOff x="0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3088157" y="866304"/>
              <a:ext cx="120482" cy="120482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2779629" y="1149227"/>
              <a:ext cx="120482" cy="120482"/>
              <a:chOff x="0" y="0"/>
              <a:chExt cx="812800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2471102" y="1149227"/>
              <a:ext cx="120482" cy="120482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3396684" y="1149227"/>
              <a:ext cx="120482" cy="120482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3088157" y="1149227"/>
              <a:ext cx="120482" cy="120482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1542637" y="0"/>
              <a:ext cx="120482" cy="120482"/>
              <a:chOff x="0" y="0"/>
              <a:chExt cx="812800" cy="81280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1234109" y="0"/>
              <a:ext cx="120482" cy="120482"/>
              <a:chOff x="0" y="0"/>
              <a:chExt cx="812800" cy="8128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2159691" y="0"/>
              <a:ext cx="120482" cy="120482"/>
              <a:chOff x="0" y="0"/>
              <a:chExt cx="812800" cy="81280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1851164" y="0"/>
              <a:ext cx="120482" cy="120482"/>
              <a:chOff x="0" y="0"/>
              <a:chExt cx="812800" cy="81280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4" name="TextBox 10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7" name="TextBox 10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8" name="Group 108"/>
            <p:cNvGrpSpPr/>
            <p:nvPr/>
          </p:nvGrpSpPr>
          <p:grpSpPr>
            <a:xfrm>
              <a:off x="1542637" y="282923"/>
              <a:ext cx="120482" cy="120482"/>
              <a:chOff x="0" y="0"/>
              <a:chExt cx="812800" cy="812800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1234109" y="282923"/>
              <a:ext cx="120482" cy="120482"/>
              <a:chOff x="0" y="0"/>
              <a:chExt cx="812800" cy="81280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3" name="TextBox 11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4" name="Group 114"/>
            <p:cNvGrpSpPr/>
            <p:nvPr/>
          </p:nvGrpSpPr>
          <p:grpSpPr>
            <a:xfrm>
              <a:off x="2159691" y="282923"/>
              <a:ext cx="120482" cy="120482"/>
              <a:chOff x="0" y="0"/>
              <a:chExt cx="812800" cy="812800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6" name="TextBox 11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1851164" y="282923"/>
              <a:ext cx="120482" cy="120482"/>
              <a:chOff x="0" y="0"/>
              <a:chExt cx="812800" cy="812800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9" name="TextBox 11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0" name="Group 120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2" name="TextBox 12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3" name="Group 123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5" name="TextBox 12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127" name="Freeform 1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9" name="Group 129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1" name="TextBox 13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2" name="Group 132"/>
            <p:cNvGrpSpPr/>
            <p:nvPr/>
          </p:nvGrpSpPr>
          <p:grpSpPr>
            <a:xfrm>
              <a:off x="1542637" y="565845"/>
              <a:ext cx="120482" cy="120482"/>
              <a:chOff x="0" y="0"/>
              <a:chExt cx="812800" cy="812800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4" name="TextBox 13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5" name="Group 135"/>
            <p:cNvGrpSpPr/>
            <p:nvPr/>
          </p:nvGrpSpPr>
          <p:grpSpPr>
            <a:xfrm>
              <a:off x="1234109" y="565845"/>
              <a:ext cx="120482" cy="120482"/>
              <a:chOff x="0" y="0"/>
              <a:chExt cx="812800" cy="812800"/>
            </a:xfrm>
          </p:grpSpPr>
          <p:sp>
            <p:nvSpPr>
              <p:cNvPr id="136" name="Freeform 1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7" name="TextBox 13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8" name="Group 138"/>
            <p:cNvGrpSpPr/>
            <p:nvPr/>
          </p:nvGrpSpPr>
          <p:grpSpPr>
            <a:xfrm>
              <a:off x="2159691" y="565845"/>
              <a:ext cx="120482" cy="120482"/>
              <a:chOff x="0" y="0"/>
              <a:chExt cx="812800" cy="812800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0" name="TextBox 14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1" name="Group 141"/>
            <p:cNvGrpSpPr/>
            <p:nvPr/>
          </p:nvGrpSpPr>
          <p:grpSpPr>
            <a:xfrm>
              <a:off x="1851164" y="565845"/>
              <a:ext cx="120482" cy="120482"/>
              <a:chOff x="0" y="0"/>
              <a:chExt cx="812800" cy="812800"/>
            </a:xfrm>
          </p:grpSpPr>
          <p:sp>
            <p:nvSpPr>
              <p:cNvPr id="142" name="Freeform 1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3" name="TextBox 14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4" name="Group 144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6" name="TextBox 14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7" name="Group 147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9" name="TextBox 14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0" name="Group 150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151" name="Freeform 1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2" name="TextBox 15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3" name="Group 153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154" name="Freeform 1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5" name="TextBox 15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6" name="Group 156"/>
            <p:cNvGrpSpPr/>
            <p:nvPr/>
          </p:nvGrpSpPr>
          <p:grpSpPr>
            <a:xfrm>
              <a:off x="1542637" y="848768"/>
              <a:ext cx="120482" cy="120482"/>
              <a:chOff x="0" y="0"/>
              <a:chExt cx="812800" cy="812800"/>
            </a:xfrm>
          </p:grpSpPr>
          <p:sp>
            <p:nvSpPr>
              <p:cNvPr id="157" name="Freeform 1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8" name="TextBox 15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9" name="Group 159"/>
            <p:cNvGrpSpPr/>
            <p:nvPr/>
          </p:nvGrpSpPr>
          <p:grpSpPr>
            <a:xfrm>
              <a:off x="1234109" y="848768"/>
              <a:ext cx="120482" cy="120482"/>
              <a:chOff x="0" y="0"/>
              <a:chExt cx="812800" cy="812800"/>
            </a:xfrm>
          </p:grpSpPr>
          <p:sp>
            <p:nvSpPr>
              <p:cNvPr id="160" name="Freeform 1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1" name="TextBox 16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2" name="Group 162"/>
            <p:cNvGrpSpPr/>
            <p:nvPr/>
          </p:nvGrpSpPr>
          <p:grpSpPr>
            <a:xfrm>
              <a:off x="2159691" y="848768"/>
              <a:ext cx="120482" cy="120482"/>
              <a:chOff x="0" y="0"/>
              <a:chExt cx="812800" cy="812800"/>
            </a:xfrm>
          </p:grpSpPr>
          <p:sp>
            <p:nvSpPr>
              <p:cNvPr id="163" name="Freeform 1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4" name="TextBox 16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5" name="Group 165"/>
            <p:cNvGrpSpPr/>
            <p:nvPr/>
          </p:nvGrpSpPr>
          <p:grpSpPr>
            <a:xfrm>
              <a:off x="1851164" y="848768"/>
              <a:ext cx="120482" cy="120482"/>
              <a:chOff x="0" y="0"/>
              <a:chExt cx="812800" cy="812800"/>
            </a:xfrm>
          </p:grpSpPr>
          <p:sp>
            <p:nvSpPr>
              <p:cNvPr id="166" name="Freeform 1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7" name="TextBox 16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8" name="Group 168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169" name="Freeform 16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0" name="TextBox 17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1" name="Group 171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172" name="Freeform 17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3" name="TextBox 17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4" name="Group 174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175" name="Freeform 17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6" name="TextBox 17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7" name="Group 177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178" name="Freeform 17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9" name="TextBox 17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0" name="Group 180"/>
            <p:cNvGrpSpPr/>
            <p:nvPr/>
          </p:nvGrpSpPr>
          <p:grpSpPr>
            <a:xfrm>
              <a:off x="1542637" y="1131691"/>
              <a:ext cx="120482" cy="120482"/>
              <a:chOff x="0" y="0"/>
              <a:chExt cx="812800" cy="812800"/>
            </a:xfrm>
          </p:grpSpPr>
          <p:sp>
            <p:nvSpPr>
              <p:cNvPr id="181" name="Freeform 1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2" name="TextBox 18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3" name="Group 183"/>
            <p:cNvGrpSpPr/>
            <p:nvPr/>
          </p:nvGrpSpPr>
          <p:grpSpPr>
            <a:xfrm>
              <a:off x="1234109" y="1131691"/>
              <a:ext cx="120482" cy="120482"/>
              <a:chOff x="0" y="0"/>
              <a:chExt cx="812800" cy="812800"/>
            </a:xfrm>
          </p:grpSpPr>
          <p:sp>
            <p:nvSpPr>
              <p:cNvPr id="184" name="Freeform 1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5" name="TextBox 18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6" name="Group 186"/>
            <p:cNvGrpSpPr/>
            <p:nvPr/>
          </p:nvGrpSpPr>
          <p:grpSpPr>
            <a:xfrm>
              <a:off x="2159691" y="1131691"/>
              <a:ext cx="120482" cy="120482"/>
              <a:chOff x="0" y="0"/>
              <a:chExt cx="812800" cy="812800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8" name="TextBox 18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9" name="Group 189"/>
            <p:cNvGrpSpPr/>
            <p:nvPr/>
          </p:nvGrpSpPr>
          <p:grpSpPr>
            <a:xfrm>
              <a:off x="1851164" y="1131691"/>
              <a:ext cx="120482" cy="120482"/>
              <a:chOff x="0" y="0"/>
              <a:chExt cx="812800" cy="812800"/>
            </a:xfrm>
          </p:grpSpPr>
          <p:sp>
            <p:nvSpPr>
              <p:cNvPr id="190" name="Freeform 19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91" name="TextBox 19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965" y="867264"/>
            <a:ext cx="525870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助教信息</a:t>
            </a:r>
            <a:endParaRPr lang="en-US" sz="5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6868" y="376742"/>
            <a:ext cx="1800194" cy="18001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3A50FB">
                      <a:alpha val="70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667000" y="3429000"/>
            <a:ext cx="9986784" cy="18641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zh-CN" altLang="en-US" sz="32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姓名：杨阳</a:t>
            </a:r>
            <a:endParaRPr lang="en-US" altLang="zh-CN" sz="3200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algn="just">
              <a:lnSpc>
                <a:spcPts val="2855"/>
              </a:lnSpc>
            </a:pPr>
            <a:endParaRPr lang="en-US" altLang="zh-CN" sz="3200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algn="just">
              <a:lnSpc>
                <a:spcPts val="2855"/>
              </a:lnSpc>
            </a:pPr>
            <a:r>
              <a:rPr lang="zh-CN" altLang="en-US" sz="32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身份：</a:t>
            </a:r>
            <a:r>
              <a:rPr lang="en-US" altLang="zh-CN" sz="32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2025</a:t>
            </a:r>
            <a:r>
              <a:rPr lang="zh-CN" altLang="en-US" sz="32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级硕士研究生 </a:t>
            </a:r>
            <a:r>
              <a:rPr lang="en-US" altLang="zh-CN" sz="32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/ </a:t>
            </a:r>
            <a:r>
              <a:rPr lang="zh-CN" altLang="en-US" sz="32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理论课助教</a:t>
            </a:r>
            <a:endParaRPr lang="en-US" altLang="zh-CN" sz="3200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algn="just">
              <a:lnSpc>
                <a:spcPts val="2855"/>
              </a:lnSpc>
            </a:pPr>
            <a:endParaRPr lang="en-US" altLang="zh-CN" sz="3200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algn="just">
              <a:lnSpc>
                <a:spcPts val="2855"/>
              </a:lnSpc>
            </a:pPr>
            <a:r>
              <a:rPr lang="zh-CN" altLang="en-US" sz="32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本科：西南石油大学 软件工程</a:t>
            </a:r>
            <a:endParaRPr lang="en-US" sz="3200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005992" y="2498691"/>
            <a:ext cx="2600842" cy="52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zh-CN" altLang="en-US" sz="3200" b="1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个人简介</a:t>
            </a:r>
            <a:endParaRPr lang="en-US" sz="3200" b="1" dirty="0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14" name="TextBox 10"/>
          <p:cNvSpPr txBox="1"/>
          <p:nvPr/>
        </p:nvSpPr>
        <p:spPr>
          <a:xfrm>
            <a:off x="2108294" y="5967890"/>
            <a:ext cx="2600842" cy="521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zh-CN" altLang="en-US" sz="3200" b="1" dirty="0">
                <a:solidFill>
                  <a:srgbClr val="1540D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联系方式</a:t>
            </a:r>
            <a:endParaRPr lang="en-US" sz="3200" b="1" dirty="0">
              <a:solidFill>
                <a:srgbClr val="1540D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15" name="TextBox 9"/>
          <p:cNvSpPr txBox="1"/>
          <p:nvPr/>
        </p:nvSpPr>
        <p:spPr>
          <a:xfrm>
            <a:off x="2667000" y="6815057"/>
            <a:ext cx="7924800" cy="11203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altLang="zh-CN" sz="32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QQ</a:t>
            </a:r>
            <a:r>
              <a:rPr lang="zh-CN" altLang="en-US" sz="32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：</a:t>
            </a:r>
            <a:r>
              <a:rPr lang="en-US" altLang="zh-CN" sz="32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1660773960</a:t>
            </a:r>
            <a:endParaRPr lang="en-US" altLang="zh-CN" sz="3200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algn="just">
              <a:lnSpc>
                <a:spcPts val="2855"/>
              </a:lnSpc>
            </a:pPr>
            <a:endParaRPr lang="en-US" altLang="zh-CN" sz="3200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algn="just">
              <a:lnSpc>
                <a:spcPts val="2855"/>
              </a:lnSpc>
            </a:pPr>
            <a:r>
              <a:rPr lang="zh-CN" altLang="en-US" sz="32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邮箱：</a:t>
            </a:r>
            <a:r>
              <a:rPr lang="en-US" altLang="zh-CN" sz="32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1660773960@qq.com</a:t>
            </a:r>
            <a:endParaRPr lang="en-US" altLang="zh-CN" sz="3200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</p:txBody>
      </p:sp>
      <p:grpSp>
        <p:nvGrpSpPr>
          <p:cNvPr id="11" name="Group 2"/>
          <p:cNvGrpSpPr/>
          <p:nvPr/>
        </p:nvGrpSpPr>
        <p:grpSpPr>
          <a:xfrm rot="-10800000">
            <a:off x="12449955" y="-970508"/>
            <a:ext cx="7459502" cy="7459502"/>
            <a:chOff x="0" y="0"/>
            <a:chExt cx="812800" cy="812800"/>
          </a:xfrm>
        </p:grpSpPr>
        <p:sp>
          <p:nvSpPr>
            <p:cNvPr id="12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3A50FB">
                      <a:alpha val="435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3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965" y="867264"/>
            <a:ext cx="525870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课程简介</a:t>
            </a:r>
            <a:endParaRPr lang="en-US" sz="5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6868" y="376742"/>
            <a:ext cx="1800194" cy="18001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3A50FB">
                      <a:alpha val="70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457200" y="2667459"/>
            <a:ext cx="6477205" cy="647720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90AAF0">
                    <a:alpha val="0"/>
                  </a:srgbClr>
                </a:gs>
                <a:gs pos="50000">
                  <a:srgbClr val="4881E8">
                    <a:alpha val="0"/>
                  </a:srgbClr>
                </a:gs>
                <a:gs pos="100000">
                  <a:srgbClr val="4881E8">
                    <a:alpha val="0"/>
                  </a:srgbClr>
                </a:gs>
              </a:gsLst>
              <a:lin ang="5400000"/>
            </a:gradFill>
            <a:ln w="19050" cap="sq">
              <a:gradFill>
                <a:gsLst>
                  <a:gs pos="0">
                    <a:srgbClr val="90AAF0">
                      <a:alpha val="0"/>
                    </a:srgbClr>
                  </a:gs>
                  <a:gs pos="33333">
                    <a:srgbClr val="90AAF0">
                      <a:alpha val="0"/>
                    </a:srgbClr>
                  </a:gs>
                  <a:gs pos="66667">
                    <a:srgbClr val="1440DC">
                      <a:alpha val="100000"/>
                    </a:srgbClr>
                  </a:gs>
                  <a:gs pos="100000">
                    <a:srgbClr val="5B70EB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52280" y="3476939"/>
            <a:ext cx="4858246" cy="4858246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68000"/>
                  </a:srgbClr>
                </a:gs>
                <a:gs pos="100000">
                  <a:srgbClr val="3A50FB">
                    <a:alpha val="4760"/>
                  </a:srgbClr>
                </a:gs>
              </a:gsLst>
              <a:lin ang="0"/>
            </a:gradFill>
            <a:ln w="209550" cap="sq">
              <a:gradFill>
                <a:gsLst>
                  <a:gs pos="0">
                    <a:srgbClr val="1540DD">
                      <a:alpha val="68000"/>
                    </a:srgbClr>
                  </a:gs>
                  <a:gs pos="100000">
                    <a:srgbClr val="3A50FB">
                      <a:alpha val="476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863951" y="3988611"/>
            <a:ext cx="3834902" cy="3834902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89806" y="4214465"/>
            <a:ext cx="3383194" cy="3383194"/>
            <a:chOff x="0" y="0"/>
            <a:chExt cx="812800" cy="81280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7" name="TextBox 17"/>
            <p:cNvSpPr txBox="1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396555" y="2024573"/>
            <a:ext cx="441629" cy="441629"/>
            <a:chOff x="0" y="0"/>
            <a:chExt cx="812800" cy="8128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0" name="TextBox 20"/>
            <p:cNvSpPr txBox="1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355992" y="3759200"/>
            <a:ext cx="441629" cy="441629"/>
            <a:chOff x="0" y="0"/>
            <a:chExt cx="812800" cy="81280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9" name="TextBox 29"/>
            <p:cNvSpPr txBox="1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934200" y="1866900"/>
            <a:ext cx="10368919" cy="12922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课程定位：</a:t>
            </a:r>
            <a:r>
              <a:rPr lang="zh-CN" altLang="en-US" sz="2800" b="1" dirty="0">
                <a:solidFill>
                  <a:srgbClr val="100F0D"/>
                </a:solidFill>
                <a:latin typeface="华文楷体" panose="02010600040101010101" charset="-122"/>
                <a:ea typeface="华文楷体" panose="02010600040101010101" charset="-122"/>
                <a:cs typeface="思源黑体 2"/>
                <a:sym typeface="思源黑体 2"/>
              </a:rPr>
              <a:t>本课程是《计算机网络》理论课程的核心实践环节，旨在将知识与工程实践紧密结合。</a:t>
            </a:r>
            <a:endParaRPr lang="zh-CN" altLang="en-US" sz="2800" b="1" dirty="0">
              <a:solidFill>
                <a:srgbClr val="100F0D"/>
              </a:solidFill>
              <a:latin typeface="华文楷体" panose="02010600040101010101" charset="-122"/>
              <a:ea typeface="华文楷体" panose="02010600040101010101" charset="-122"/>
              <a:cs typeface="思源黑体 2"/>
              <a:sym typeface="思源黑体 2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6846995" y="3617118"/>
            <a:ext cx="10842004" cy="5172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教学目标：</a:t>
            </a:r>
            <a:endParaRPr lang="zh-CN" altLang="en-US" sz="28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ts val="3760"/>
              </a:lnSpc>
              <a:spcBef>
                <a:spcPts val="1500"/>
              </a:spcBef>
              <a:buFont typeface="Wingdings" panose="05000000000000000000" charset="0"/>
              <a:buChar char=""/>
            </a:pPr>
            <a:r>
              <a:rPr lang="zh-CN" altLang="en-US" sz="2800" b="1" dirty="0">
                <a:solidFill>
                  <a:srgbClr val="100F0D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以动手实践的方式，验证并深化学生在理论课上所学的网络协议原理，突破抽象概念的局限，通过</a:t>
            </a:r>
            <a:r>
              <a:rPr lang="zh-CN" altLang="en-US" sz="2800" b="1" dirty="0">
                <a:solidFill>
                  <a:srgbClr val="100F0D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实操配置和观察，直观地理解协议的工作流程；</a:t>
            </a:r>
            <a:endParaRPr lang="zh-CN" altLang="en-US" sz="2800" b="1" dirty="0">
              <a:solidFill>
                <a:srgbClr val="100F0D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457200" indent="-457200" fontAlgn="auto">
              <a:lnSpc>
                <a:spcPts val="3760"/>
              </a:lnSpc>
              <a:spcBef>
                <a:spcPts val="1500"/>
              </a:spcBef>
              <a:buFont typeface="Wingdings" panose="05000000000000000000" charset="0"/>
              <a:buChar char=""/>
            </a:pPr>
            <a:r>
              <a:rPr lang="zh-CN" altLang="en-US" sz="2800" b="1" dirty="0">
                <a:solidFill>
                  <a:srgbClr val="100F0D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培养学生在网络领域的网络服务搭建与管理、网络协议分析与排错等关键实践技能；</a:t>
            </a:r>
            <a:endParaRPr lang="zh-CN" altLang="en-US" sz="2800" b="1" dirty="0">
              <a:solidFill>
                <a:srgbClr val="100F0D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  <a:p>
            <a:pPr marL="457200" indent="-457200" fontAlgn="auto">
              <a:lnSpc>
                <a:spcPts val="3760"/>
              </a:lnSpc>
              <a:spcBef>
                <a:spcPts val="1500"/>
              </a:spcBef>
              <a:buFont typeface="Wingdings" panose="05000000000000000000" charset="0"/>
              <a:buChar char=""/>
            </a:pPr>
            <a:r>
              <a:rPr lang="zh-CN" altLang="en-US" sz="2800" b="1" dirty="0">
                <a:solidFill>
                  <a:srgbClr val="100F0D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通过对等网络搭建、</a:t>
            </a:r>
            <a:r>
              <a:rPr lang="en-US" altLang="zh-CN" sz="2800" b="1" dirty="0">
                <a:solidFill>
                  <a:srgbClr val="100F0D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VLAN </a:t>
            </a:r>
            <a:r>
              <a:rPr lang="zh-CN" altLang="en-US" sz="2800" b="1" dirty="0">
                <a:solidFill>
                  <a:srgbClr val="100F0D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</a:rPr>
              <a:t>配置等综合性实践项目，培养学生分析网络需求、设计解决方案、动手实施以及排查故障的初步工程能力。</a:t>
            </a:r>
            <a:endParaRPr lang="zh-CN" altLang="en-US" sz="2800" b="1" dirty="0">
              <a:solidFill>
                <a:srgbClr val="100F0D"/>
              </a:solidFill>
              <a:latin typeface="华文楷体" panose="02010600040101010101" charset="-122"/>
              <a:ea typeface="华文楷体" panose="02010600040101010101" charset="-122"/>
              <a:cs typeface="华文楷体" panose="0201060004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965" y="867264"/>
            <a:ext cx="525870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课程群</a:t>
            </a:r>
            <a:endParaRPr lang="en-US" sz="5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6868" y="376742"/>
            <a:ext cx="1800194" cy="18001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3A50FB">
                      <a:alpha val="70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12987195" y="5143500"/>
            <a:ext cx="41376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群号：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475324962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7397" y="0"/>
            <a:ext cx="5793205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40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15816" y="1157379"/>
            <a:ext cx="6843484" cy="684348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1540DD">
                      <a:alpha val="435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9172879">
            <a:off x="-799729" y="7725012"/>
            <a:ext cx="3656858" cy="365685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28650" cap="sq">
              <a:gradFill>
                <a:gsLst>
                  <a:gs pos="0">
                    <a:srgbClr val="1540DD">
                      <a:alpha val="435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566661" y="2388639"/>
            <a:ext cx="3159614" cy="216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775"/>
              </a:lnSpc>
              <a:spcBef>
                <a:spcPct val="0"/>
              </a:spcBef>
            </a:pPr>
            <a:r>
              <a:rPr lang="en-US" sz="1481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02</a:t>
            </a:r>
            <a:endParaRPr lang="en-US" sz="1481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 Bold"/>
              <a:sym typeface="Akzidenz-Grotesk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566661" y="4684164"/>
            <a:ext cx="6682114" cy="1546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535"/>
              </a:lnSpc>
              <a:spcBef>
                <a:spcPct val="0"/>
              </a:spcBef>
            </a:pPr>
            <a:r>
              <a:rPr lang="zh-CN" altLang="en-US" sz="9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课程要求</a:t>
            </a:r>
            <a:endParaRPr lang="en-US" sz="95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 Bold"/>
              <a:sym typeface="思源黑体 1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566661" y="6412368"/>
            <a:ext cx="4588625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altLang="zh-CN" sz="245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"/>
                <a:sym typeface="Akzidenz-Grotesk"/>
              </a:rPr>
              <a:t>Course Requirement</a:t>
            </a:r>
            <a:endParaRPr lang="en-US" sz="245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"/>
              <a:sym typeface="Akzidenz-Grotesk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9505242" y="2322073"/>
            <a:ext cx="2637875" cy="952282"/>
            <a:chOff x="0" y="0"/>
            <a:chExt cx="3517166" cy="1269709"/>
          </a:xfrm>
        </p:grpSpPr>
        <p:grpSp>
          <p:nvGrpSpPr>
            <p:cNvPr id="12" name="Group 12"/>
            <p:cNvGrpSpPr/>
            <p:nvPr/>
          </p:nvGrpSpPr>
          <p:grpSpPr>
            <a:xfrm>
              <a:off x="2779629" y="17536"/>
              <a:ext cx="120482" cy="12048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471102" y="17536"/>
              <a:ext cx="120482" cy="12048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396684" y="17536"/>
              <a:ext cx="120482" cy="12048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088157" y="17536"/>
              <a:ext cx="120482" cy="12048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779629" y="300459"/>
              <a:ext cx="120482" cy="12048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471102" y="300459"/>
              <a:ext cx="120482" cy="120482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396684" y="300459"/>
              <a:ext cx="120482" cy="120482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088157" y="300459"/>
              <a:ext cx="120482" cy="120482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2779629" y="583382"/>
              <a:ext cx="120482" cy="120482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2471102" y="583382"/>
              <a:ext cx="120482" cy="120482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3396684" y="583382"/>
              <a:ext cx="120482" cy="120482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3088157" y="583382"/>
              <a:ext cx="120482" cy="120482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2779629" y="866304"/>
              <a:ext cx="120482" cy="120482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2471102" y="866304"/>
              <a:ext cx="120482" cy="120482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3396684" y="866304"/>
              <a:ext cx="120482" cy="120482"/>
              <a:chOff x="0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3088157" y="866304"/>
              <a:ext cx="120482" cy="120482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2779629" y="1149227"/>
              <a:ext cx="120482" cy="120482"/>
              <a:chOff x="0" y="0"/>
              <a:chExt cx="812800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2471102" y="1149227"/>
              <a:ext cx="120482" cy="120482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3396684" y="1149227"/>
              <a:ext cx="120482" cy="120482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3088157" y="1149227"/>
              <a:ext cx="120482" cy="120482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1542637" y="0"/>
              <a:ext cx="120482" cy="120482"/>
              <a:chOff x="0" y="0"/>
              <a:chExt cx="812800" cy="81280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1234109" y="0"/>
              <a:ext cx="120482" cy="120482"/>
              <a:chOff x="0" y="0"/>
              <a:chExt cx="812800" cy="8128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2159691" y="0"/>
              <a:ext cx="120482" cy="120482"/>
              <a:chOff x="0" y="0"/>
              <a:chExt cx="812800" cy="81280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1851164" y="0"/>
              <a:ext cx="120482" cy="120482"/>
              <a:chOff x="0" y="0"/>
              <a:chExt cx="812800" cy="81280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4" name="TextBox 10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7" name="TextBox 10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8" name="Group 108"/>
            <p:cNvGrpSpPr/>
            <p:nvPr/>
          </p:nvGrpSpPr>
          <p:grpSpPr>
            <a:xfrm>
              <a:off x="1542637" y="282923"/>
              <a:ext cx="120482" cy="120482"/>
              <a:chOff x="0" y="0"/>
              <a:chExt cx="812800" cy="812800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1234109" y="282923"/>
              <a:ext cx="120482" cy="120482"/>
              <a:chOff x="0" y="0"/>
              <a:chExt cx="812800" cy="81280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3" name="TextBox 11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4" name="Group 114"/>
            <p:cNvGrpSpPr/>
            <p:nvPr/>
          </p:nvGrpSpPr>
          <p:grpSpPr>
            <a:xfrm>
              <a:off x="2159691" y="282923"/>
              <a:ext cx="120482" cy="120482"/>
              <a:chOff x="0" y="0"/>
              <a:chExt cx="812800" cy="812800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6" name="TextBox 11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1851164" y="282923"/>
              <a:ext cx="120482" cy="120482"/>
              <a:chOff x="0" y="0"/>
              <a:chExt cx="812800" cy="812800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9" name="TextBox 11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0" name="Group 120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2" name="TextBox 12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3" name="Group 123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5" name="TextBox 12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127" name="Freeform 1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9" name="Group 129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1" name="TextBox 13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2" name="Group 132"/>
            <p:cNvGrpSpPr/>
            <p:nvPr/>
          </p:nvGrpSpPr>
          <p:grpSpPr>
            <a:xfrm>
              <a:off x="1542637" y="565845"/>
              <a:ext cx="120482" cy="120482"/>
              <a:chOff x="0" y="0"/>
              <a:chExt cx="812800" cy="812800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4" name="TextBox 13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5" name="Group 135"/>
            <p:cNvGrpSpPr/>
            <p:nvPr/>
          </p:nvGrpSpPr>
          <p:grpSpPr>
            <a:xfrm>
              <a:off x="1234109" y="565845"/>
              <a:ext cx="120482" cy="120482"/>
              <a:chOff x="0" y="0"/>
              <a:chExt cx="812800" cy="812800"/>
            </a:xfrm>
          </p:grpSpPr>
          <p:sp>
            <p:nvSpPr>
              <p:cNvPr id="136" name="Freeform 1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7" name="TextBox 13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8" name="Group 138"/>
            <p:cNvGrpSpPr/>
            <p:nvPr/>
          </p:nvGrpSpPr>
          <p:grpSpPr>
            <a:xfrm>
              <a:off x="2159691" y="565845"/>
              <a:ext cx="120482" cy="120482"/>
              <a:chOff x="0" y="0"/>
              <a:chExt cx="812800" cy="812800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0" name="TextBox 14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1" name="Group 141"/>
            <p:cNvGrpSpPr/>
            <p:nvPr/>
          </p:nvGrpSpPr>
          <p:grpSpPr>
            <a:xfrm>
              <a:off x="1851164" y="565845"/>
              <a:ext cx="120482" cy="120482"/>
              <a:chOff x="0" y="0"/>
              <a:chExt cx="812800" cy="812800"/>
            </a:xfrm>
          </p:grpSpPr>
          <p:sp>
            <p:nvSpPr>
              <p:cNvPr id="142" name="Freeform 1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3" name="TextBox 14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4" name="Group 144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6" name="TextBox 14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7" name="Group 147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9" name="TextBox 14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0" name="Group 150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151" name="Freeform 1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2" name="TextBox 15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3" name="Group 153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154" name="Freeform 1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5" name="TextBox 15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6" name="Group 156"/>
            <p:cNvGrpSpPr/>
            <p:nvPr/>
          </p:nvGrpSpPr>
          <p:grpSpPr>
            <a:xfrm>
              <a:off x="1542637" y="848768"/>
              <a:ext cx="120482" cy="120482"/>
              <a:chOff x="0" y="0"/>
              <a:chExt cx="812800" cy="812800"/>
            </a:xfrm>
          </p:grpSpPr>
          <p:sp>
            <p:nvSpPr>
              <p:cNvPr id="157" name="Freeform 1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8" name="TextBox 15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9" name="Group 159"/>
            <p:cNvGrpSpPr/>
            <p:nvPr/>
          </p:nvGrpSpPr>
          <p:grpSpPr>
            <a:xfrm>
              <a:off x="1234109" y="848768"/>
              <a:ext cx="120482" cy="120482"/>
              <a:chOff x="0" y="0"/>
              <a:chExt cx="812800" cy="812800"/>
            </a:xfrm>
          </p:grpSpPr>
          <p:sp>
            <p:nvSpPr>
              <p:cNvPr id="160" name="Freeform 1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1" name="TextBox 16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2" name="Group 162"/>
            <p:cNvGrpSpPr/>
            <p:nvPr/>
          </p:nvGrpSpPr>
          <p:grpSpPr>
            <a:xfrm>
              <a:off x="2159691" y="848768"/>
              <a:ext cx="120482" cy="120482"/>
              <a:chOff x="0" y="0"/>
              <a:chExt cx="812800" cy="812800"/>
            </a:xfrm>
          </p:grpSpPr>
          <p:sp>
            <p:nvSpPr>
              <p:cNvPr id="163" name="Freeform 1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4" name="TextBox 16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5" name="Group 165"/>
            <p:cNvGrpSpPr/>
            <p:nvPr/>
          </p:nvGrpSpPr>
          <p:grpSpPr>
            <a:xfrm>
              <a:off x="1851164" y="848768"/>
              <a:ext cx="120482" cy="120482"/>
              <a:chOff x="0" y="0"/>
              <a:chExt cx="812800" cy="812800"/>
            </a:xfrm>
          </p:grpSpPr>
          <p:sp>
            <p:nvSpPr>
              <p:cNvPr id="166" name="Freeform 1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7" name="TextBox 16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8" name="Group 168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169" name="Freeform 16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0" name="TextBox 17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1" name="Group 171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172" name="Freeform 17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3" name="TextBox 17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4" name="Group 174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175" name="Freeform 17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6" name="TextBox 17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7" name="Group 177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178" name="Freeform 17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9" name="TextBox 17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0" name="Group 180"/>
            <p:cNvGrpSpPr/>
            <p:nvPr/>
          </p:nvGrpSpPr>
          <p:grpSpPr>
            <a:xfrm>
              <a:off x="1542637" y="1131691"/>
              <a:ext cx="120482" cy="120482"/>
              <a:chOff x="0" y="0"/>
              <a:chExt cx="812800" cy="812800"/>
            </a:xfrm>
          </p:grpSpPr>
          <p:sp>
            <p:nvSpPr>
              <p:cNvPr id="181" name="Freeform 1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2" name="TextBox 18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3" name="Group 183"/>
            <p:cNvGrpSpPr/>
            <p:nvPr/>
          </p:nvGrpSpPr>
          <p:grpSpPr>
            <a:xfrm>
              <a:off x="1234109" y="1131691"/>
              <a:ext cx="120482" cy="120482"/>
              <a:chOff x="0" y="0"/>
              <a:chExt cx="812800" cy="812800"/>
            </a:xfrm>
          </p:grpSpPr>
          <p:sp>
            <p:nvSpPr>
              <p:cNvPr id="184" name="Freeform 1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5" name="TextBox 18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6" name="Group 186"/>
            <p:cNvGrpSpPr/>
            <p:nvPr/>
          </p:nvGrpSpPr>
          <p:grpSpPr>
            <a:xfrm>
              <a:off x="2159691" y="1131691"/>
              <a:ext cx="120482" cy="120482"/>
              <a:chOff x="0" y="0"/>
              <a:chExt cx="812800" cy="812800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8" name="TextBox 18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9" name="Group 189"/>
            <p:cNvGrpSpPr/>
            <p:nvPr/>
          </p:nvGrpSpPr>
          <p:grpSpPr>
            <a:xfrm>
              <a:off x="1851164" y="1131691"/>
              <a:ext cx="120482" cy="120482"/>
              <a:chOff x="0" y="0"/>
              <a:chExt cx="812800" cy="812800"/>
            </a:xfrm>
          </p:grpSpPr>
          <p:sp>
            <p:nvSpPr>
              <p:cNvPr id="190" name="Freeform 19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91" name="TextBox 19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965" y="867264"/>
            <a:ext cx="525870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课程内容</a:t>
            </a:r>
            <a:endParaRPr lang="en-US" sz="5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6868" y="376742"/>
            <a:ext cx="1800194" cy="18001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3A50FB">
                      <a:alpha val="70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752600" y="-12951983"/>
            <a:ext cx="16701933" cy="22119380"/>
            <a:chOff x="0" y="-85725"/>
            <a:chExt cx="4221963" cy="5421714"/>
          </a:xfrm>
        </p:grpSpPr>
        <p:sp>
          <p:nvSpPr>
            <p:cNvPr id="7" name="Freeform 7"/>
            <p:cNvSpPr/>
            <p:nvPr/>
          </p:nvSpPr>
          <p:spPr>
            <a:xfrm>
              <a:off x="118123" y="3622547"/>
              <a:ext cx="3816147" cy="1713442"/>
            </a:xfrm>
            <a:custGeom>
              <a:avLst/>
              <a:gdLst/>
              <a:ahLst/>
              <a:cxnLst/>
              <a:rect l="l" t="t" r="r" b="b"/>
              <a:pathLst>
                <a:path w="4221963" h="1705947">
                  <a:moveTo>
                    <a:pt x="13040" y="0"/>
                  </a:moveTo>
                  <a:lnTo>
                    <a:pt x="4208923" y="0"/>
                  </a:lnTo>
                  <a:cubicBezTo>
                    <a:pt x="4212382" y="0"/>
                    <a:pt x="4215698" y="1374"/>
                    <a:pt x="4218144" y="3819"/>
                  </a:cubicBezTo>
                  <a:cubicBezTo>
                    <a:pt x="4220589" y="6265"/>
                    <a:pt x="4221963" y="9581"/>
                    <a:pt x="4221963" y="13040"/>
                  </a:cubicBezTo>
                  <a:lnTo>
                    <a:pt x="4221963" y="1692907"/>
                  </a:lnTo>
                  <a:cubicBezTo>
                    <a:pt x="4221963" y="1696365"/>
                    <a:pt x="4220589" y="1699682"/>
                    <a:pt x="4218144" y="1702127"/>
                  </a:cubicBezTo>
                  <a:cubicBezTo>
                    <a:pt x="4215698" y="1704573"/>
                    <a:pt x="4212382" y="1705947"/>
                    <a:pt x="4208923" y="1705947"/>
                  </a:cubicBezTo>
                  <a:lnTo>
                    <a:pt x="13040" y="1705947"/>
                  </a:lnTo>
                  <a:cubicBezTo>
                    <a:pt x="9581" y="1705947"/>
                    <a:pt x="6265" y="1704573"/>
                    <a:pt x="3819" y="1702127"/>
                  </a:cubicBezTo>
                  <a:cubicBezTo>
                    <a:pt x="1374" y="1699682"/>
                    <a:pt x="0" y="1696365"/>
                    <a:pt x="0" y="1692907"/>
                  </a:cubicBezTo>
                  <a:lnTo>
                    <a:pt x="0" y="13040"/>
                  </a:lnTo>
                  <a:cubicBezTo>
                    <a:pt x="0" y="9581"/>
                    <a:pt x="1374" y="6265"/>
                    <a:pt x="3819" y="3819"/>
                  </a:cubicBezTo>
                  <a:cubicBezTo>
                    <a:pt x="6265" y="1374"/>
                    <a:pt x="9581" y="0"/>
                    <a:pt x="1304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rnd">
              <a:gradFill>
                <a:gsLst>
                  <a:gs pos="0">
                    <a:srgbClr val="1540DD">
                      <a:alpha val="100000"/>
                    </a:srgbClr>
                  </a:gs>
                  <a:gs pos="100000">
                    <a:srgbClr val="5B70EB">
                      <a:alpha val="100000"/>
                    </a:srgbClr>
                  </a:gs>
                </a:gsLst>
                <a:lin ang="0"/>
              </a:gradFill>
              <a:prstDash val="solid"/>
              <a:round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85725"/>
              <a:ext cx="4221963" cy="1791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855"/>
                </a:lnSpc>
                <a:spcBef>
                  <a:spcPct val="0"/>
                </a:spcBef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矩形: 圆角 16"/>
          <p:cNvSpPr/>
          <p:nvPr/>
        </p:nvSpPr>
        <p:spPr>
          <a:xfrm>
            <a:off x="3962400" y="1708007"/>
            <a:ext cx="11277600" cy="8117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2000">
                <a:srgbClr val="1943DE"/>
              </a:gs>
              <a:gs pos="100000">
                <a:srgbClr val="5B70E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7499882" y="2000409"/>
            <a:ext cx="5911275" cy="390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八次实验   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+  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一次大作业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318439" y="2938028"/>
            <a:ext cx="8097319" cy="82994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</a:pPr>
            <a:r>
              <a:rPr lang="en-GB" altLang="zh-CN" sz="3200" b="1" spc="25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WEB</a:t>
            </a:r>
            <a:r>
              <a:rPr lang="zh-CN" altLang="en-US" sz="3200" b="1" spc="25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服务器的配置与</a:t>
            </a:r>
            <a:r>
              <a:rPr lang="en-US" altLang="zh-CN" sz="3200" b="1" spc="25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http</a:t>
            </a:r>
            <a:r>
              <a:rPr lang="zh-CN" altLang="en-US" sz="3200" b="1" spc="25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协议分析</a:t>
            </a:r>
            <a:endParaRPr lang="zh-CN" altLang="en-US" sz="3200" b="1" spc="250" dirty="0"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3233898" y="2974991"/>
            <a:ext cx="833463" cy="835279"/>
          </a:xfrm>
          <a:prstGeom prst="roundRect">
            <a:avLst/>
          </a:prstGeom>
          <a:solidFill>
            <a:srgbClr val="5B70E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/>
            <a:r>
              <a:rPr lang="en-GB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3385082" y="3778466"/>
            <a:ext cx="7490186" cy="67467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DNS</a:t>
            </a:r>
            <a:r>
              <a:rPr lang="zh-CN" altLang="en-US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服务器的配置与</a:t>
            </a:r>
            <a:r>
              <a:rPr lang="en-US" altLang="zh-CN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DNS</a:t>
            </a:r>
            <a:r>
              <a:rPr lang="zh-CN" altLang="en-US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协议分析</a:t>
            </a:r>
            <a:endParaRPr lang="en-GB" altLang="zh-CN" sz="2800" b="1" spc="2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3352148" y="4378967"/>
            <a:ext cx="9713209" cy="67467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en-US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TCP</a:t>
            </a:r>
            <a:r>
              <a:rPr lang="zh-CN" altLang="en-US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的连接管理分析（</a:t>
            </a:r>
            <a:r>
              <a:rPr lang="en-US" altLang="zh-CN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en-US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lang="en-US" altLang="zh-CN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UDP</a:t>
            </a:r>
            <a:r>
              <a:rPr lang="zh-CN" altLang="en-US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协议分析</a:t>
            </a:r>
            <a:endParaRPr lang="en-GB" altLang="zh-CN" sz="2800" b="1" spc="2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0" name="文本框 29"/>
          <p:cNvSpPr txBox="1"/>
          <p:nvPr/>
        </p:nvSpPr>
        <p:spPr>
          <a:xfrm>
            <a:off x="3357308" y="5044720"/>
            <a:ext cx="5582577" cy="67467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ICMP</a:t>
            </a:r>
            <a:r>
              <a:rPr lang="zh-CN" altLang="en-US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协议分析</a:t>
            </a:r>
            <a:endParaRPr lang="en-GB" altLang="zh-CN" sz="2800" b="1" spc="2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3367691" y="5777305"/>
            <a:ext cx="4267200" cy="67467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NAT</a:t>
            </a:r>
            <a:r>
              <a:rPr lang="zh-CN" altLang="en-US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地址转换</a:t>
            </a:r>
            <a:endParaRPr lang="en-GB" altLang="zh-CN" sz="2800" b="1" spc="2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352148" y="7125736"/>
            <a:ext cx="10646471" cy="67467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</a:t>
            </a:r>
            <a:r>
              <a:rPr lang="en-US" altLang="zh-CN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</a:t>
            </a:r>
            <a:r>
              <a:rPr lang="zh-CN" altLang="en-US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</a:t>
            </a:r>
            <a:r>
              <a:rPr lang="en-US" altLang="zh-CN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DHCP</a:t>
            </a:r>
            <a:r>
              <a:rPr lang="zh-CN" altLang="en-US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配置及协议分析（</a:t>
            </a:r>
            <a:r>
              <a:rPr lang="en-US" altLang="zh-CN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2</a:t>
            </a:r>
            <a:r>
              <a:rPr lang="zh-CN" altLang="en-US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）路由器的简单配置</a:t>
            </a:r>
            <a:endParaRPr lang="en-GB" altLang="zh-CN" sz="2800" b="1" spc="2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3352148" y="6495988"/>
            <a:ext cx="7239000" cy="67467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RIP</a:t>
            </a:r>
            <a:r>
              <a:rPr lang="zh-CN" altLang="en-US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、</a:t>
            </a:r>
            <a:r>
              <a:rPr lang="en-US" altLang="zh-CN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OSPF</a:t>
            </a:r>
            <a:r>
              <a:rPr lang="zh-CN" altLang="en-US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路由协议配置与分析</a:t>
            </a:r>
            <a:endParaRPr lang="en-GB" altLang="zh-CN" sz="2800" b="1" spc="2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347875" y="7800408"/>
            <a:ext cx="8097319" cy="67467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ARP</a:t>
            </a:r>
            <a:r>
              <a:rPr lang="zh-CN" altLang="en-US" sz="2800" b="1" spc="25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协议分析</a:t>
            </a:r>
            <a:endParaRPr lang="en-GB" altLang="zh-CN" sz="2800" b="1" spc="250" dirty="0">
              <a:solidFill>
                <a:schemeClr val="bg1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965" y="867264"/>
            <a:ext cx="525870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分组</a:t>
            </a:r>
            <a:endParaRPr lang="en-US" sz="5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6868" y="376742"/>
            <a:ext cx="1800194" cy="18001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3A50FB">
                      <a:alpha val="70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547051" y="4606236"/>
            <a:ext cx="3196097" cy="367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，演讲，报告等。大部分时间，它们都是在为观众服务。</a:t>
            </a:r>
            <a:endParaRPr lang="en-US" sz="17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166894" y="3094143"/>
            <a:ext cx="10993120" cy="34150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4~5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一个小组，每个小组选择</a:t>
            </a:r>
            <a:r>
              <a:rPr lang="zh-CN" altLang="en-US" sz="36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一名组长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请每个小组组员尽量</a:t>
            </a:r>
            <a:r>
              <a:rPr lang="zh-CN" altLang="en-US" sz="36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坐在一起便于讨论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实验报告</a:t>
            </a:r>
            <a:r>
              <a:rPr lang="zh-CN" altLang="en-US" sz="36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按时提交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，由</a:t>
            </a:r>
            <a:r>
              <a:rPr lang="zh-CN" altLang="en-US" sz="36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</a:rPr>
              <a:t>组长统一提交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到助教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QQ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>
              <a:lnSpc>
                <a:spcPct val="150000"/>
              </a:lnSpc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1660773960@qq.com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Group 2"/>
          <p:cNvGrpSpPr/>
          <p:nvPr/>
        </p:nvGrpSpPr>
        <p:grpSpPr>
          <a:xfrm rot="-10800000">
            <a:off x="-1143000" y="6989284"/>
            <a:ext cx="4259102" cy="4241134"/>
            <a:chOff x="0" y="0"/>
            <a:chExt cx="812800" cy="812800"/>
          </a:xfrm>
        </p:grpSpPr>
        <p:sp>
          <p:nvSpPr>
            <p:cNvPr id="7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3A50FB">
                      <a:alpha val="435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1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965" y="867264"/>
            <a:ext cx="525870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考核方式</a:t>
            </a:r>
            <a:endParaRPr lang="en-US" sz="5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6868" y="376742"/>
            <a:ext cx="1800194" cy="18001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3A50FB">
                      <a:alpha val="70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547051" y="4606236"/>
            <a:ext cx="3196097" cy="367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，演讲，报告等。大部分时间，它们都是在为观众服务。</a:t>
            </a:r>
            <a:endParaRPr lang="en-US" sz="17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221310" y="2894353"/>
            <a:ext cx="15923689" cy="2330688"/>
          </a:xfrm>
          <a:custGeom>
            <a:avLst/>
            <a:gdLst/>
            <a:ahLst/>
            <a:cxnLst/>
            <a:rect l="l" t="t" r="r" b="b"/>
            <a:pathLst>
              <a:path w="4221963" h="1705947">
                <a:moveTo>
                  <a:pt x="13040" y="0"/>
                </a:moveTo>
                <a:lnTo>
                  <a:pt x="4208923" y="0"/>
                </a:lnTo>
                <a:cubicBezTo>
                  <a:pt x="4212382" y="0"/>
                  <a:pt x="4215698" y="1374"/>
                  <a:pt x="4218144" y="3819"/>
                </a:cubicBezTo>
                <a:cubicBezTo>
                  <a:pt x="4220589" y="6265"/>
                  <a:pt x="4221963" y="9581"/>
                  <a:pt x="4221963" y="13040"/>
                </a:cubicBezTo>
                <a:lnTo>
                  <a:pt x="4221963" y="1692907"/>
                </a:lnTo>
                <a:cubicBezTo>
                  <a:pt x="4221963" y="1696365"/>
                  <a:pt x="4220589" y="1699682"/>
                  <a:pt x="4218144" y="1702127"/>
                </a:cubicBezTo>
                <a:cubicBezTo>
                  <a:pt x="4215698" y="1704573"/>
                  <a:pt x="4212382" y="1705947"/>
                  <a:pt x="4208923" y="1705947"/>
                </a:cubicBezTo>
                <a:lnTo>
                  <a:pt x="13040" y="1705947"/>
                </a:lnTo>
                <a:cubicBezTo>
                  <a:pt x="9581" y="1705947"/>
                  <a:pt x="6265" y="1704573"/>
                  <a:pt x="3819" y="1702127"/>
                </a:cubicBezTo>
                <a:cubicBezTo>
                  <a:pt x="1374" y="1699682"/>
                  <a:pt x="0" y="1696365"/>
                  <a:pt x="0" y="1692907"/>
                </a:cubicBezTo>
                <a:lnTo>
                  <a:pt x="0" y="13040"/>
                </a:lnTo>
                <a:cubicBezTo>
                  <a:pt x="0" y="9581"/>
                  <a:pt x="1374" y="6265"/>
                  <a:pt x="3819" y="3819"/>
                </a:cubicBezTo>
                <a:cubicBezTo>
                  <a:pt x="6265" y="1374"/>
                  <a:pt x="9581" y="0"/>
                  <a:pt x="1304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rnd">
            <a:gradFill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</p:sp>
      <p:sp>
        <p:nvSpPr>
          <p:cNvPr id="12" name="矩形: 圆角 11"/>
          <p:cNvSpPr/>
          <p:nvPr/>
        </p:nvSpPr>
        <p:spPr>
          <a:xfrm>
            <a:off x="1762508" y="2449571"/>
            <a:ext cx="4244802" cy="8117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2000">
                <a:srgbClr val="1943DE"/>
              </a:gs>
              <a:gs pos="100000">
                <a:srgbClr val="5B70E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4"/>
          <p:cNvSpPr txBox="1"/>
          <p:nvPr/>
        </p:nvSpPr>
        <p:spPr>
          <a:xfrm>
            <a:off x="2949911" y="2660247"/>
            <a:ext cx="1859299" cy="3904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日常考核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</p:txBody>
      </p:sp>
      <p:sp>
        <p:nvSpPr>
          <p:cNvPr id="14" name="Freeform 7"/>
          <p:cNvSpPr/>
          <p:nvPr/>
        </p:nvSpPr>
        <p:spPr>
          <a:xfrm>
            <a:off x="1221310" y="5921362"/>
            <a:ext cx="15923689" cy="3498374"/>
          </a:xfrm>
          <a:custGeom>
            <a:avLst/>
            <a:gdLst/>
            <a:ahLst/>
            <a:cxnLst/>
            <a:rect l="l" t="t" r="r" b="b"/>
            <a:pathLst>
              <a:path w="4221963" h="1705947">
                <a:moveTo>
                  <a:pt x="13040" y="0"/>
                </a:moveTo>
                <a:lnTo>
                  <a:pt x="4208923" y="0"/>
                </a:lnTo>
                <a:cubicBezTo>
                  <a:pt x="4212382" y="0"/>
                  <a:pt x="4215698" y="1374"/>
                  <a:pt x="4218144" y="3819"/>
                </a:cubicBezTo>
                <a:cubicBezTo>
                  <a:pt x="4220589" y="6265"/>
                  <a:pt x="4221963" y="9581"/>
                  <a:pt x="4221963" y="13040"/>
                </a:cubicBezTo>
                <a:lnTo>
                  <a:pt x="4221963" y="1692907"/>
                </a:lnTo>
                <a:cubicBezTo>
                  <a:pt x="4221963" y="1696365"/>
                  <a:pt x="4220589" y="1699682"/>
                  <a:pt x="4218144" y="1702127"/>
                </a:cubicBezTo>
                <a:cubicBezTo>
                  <a:pt x="4215698" y="1704573"/>
                  <a:pt x="4212382" y="1705947"/>
                  <a:pt x="4208923" y="1705947"/>
                </a:cubicBezTo>
                <a:lnTo>
                  <a:pt x="13040" y="1705947"/>
                </a:lnTo>
                <a:cubicBezTo>
                  <a:pt x="9581" y="1705947"/>
                  <a:pt x="6265" y="1704573"/>
                  <a:pt x="3819" y="1702127"/>
                </a:cubicBezTo>
                <a:cubicBezTo>
                  <a:pt x="1374" y="1699682"/>
                  <a:pt x="0" y="1696365"/>
                  <a:pt x="0" y="1692907"/>
                </a:cubicBezTo>
                <a:lnTo>
                  <a:pt x="0" y="13040"/>
                </a:lnTo>
                <a:cubicBezTo>
                  <a:pt x="0" y="9581"/>
                  <a:pt x="1374" y="6265"/>
                  <a:pt x="3819" y="3819"/>
                </a:cubicBezTo>
                <a:cubicBezTo>
                  <a:pt x="6265" y="1374"/>
                  <a:pt x="9581" y="0"/>
                  <a:pt x="1304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rnd">
            <a:gradFill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</p:sp>
      <p:sp>
        <p:nvSpPr>
          <p:cNvPr id="18" name="文本框 17"/>
          <p:cNvSpPr txBox="1"/>
          <p:nvPr/>
        </p:nvSpPr>
        <p:spPr>
          <a:xfrm>
            <a:off x="1676400" y="3375353"/>
            <a:ext cx="9076738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实验课总成绩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0.9*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课题报告分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+0.1*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平时分</a:t>
            </a:r>
            <a:endParaRPr lang="zh-CN" altLang="en-US" sz="32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/>
          <p:cNvSpPr/>
          <p:nvPr/>
        </p:nvSpPr>
        <p:spPr>
          <a:xfrm>
            <a:off x="1791154" y="5524465"/>
            <a:ext cx="4254772" cy="8117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2000">
                <a:srgbClr val="1943DE"/>
              </a:gs>
              <a:gs pos="100000">
                <a:srgbClr val="5B70E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4"/>
          <p:cNvSpPr txBox="1"/>
          <p:nvPr/>
        </p:nvSpPr>
        <p:spPr>
          <a:xfrm>
            <a:off x="2623140" y="5735140"/>
            <a:ext cx="2590800" cy="365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55"/>
              </a:lnSpc>
            </a:pP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报告提交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-1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676400" y="4209213"/>
            <a:ext cx="12835069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平时分：课堂考勤（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缺勤一次扣10分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群内</a:t>
            </a: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交流提问及解答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676400" y="6695886"/>
            <a:ext cx="9076738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报告包括实验报告和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课程大作业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1676400" y="7485853"/>
            <a:ext cx="1502033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每次报告采取百分制评分，期末加权平均（无提交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分，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抄袭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分，缓交酌情扣分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charset="0"/>
              <a:buChar char=""/>
            </a:pPr>
            <a:r>
              <a:rPr lang="en-US" altLang="zh-CN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实验报告提交时间：每周六24:00前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965" y="867264"/>
            <a:ext cx="525870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考核方式</a:t>
            </a:r>
            <a:endParaRPr lang="en-US" sz="5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6868" y="376742"/>
            <a:ext cx="1800194" cy="18001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3A50FB">
                      <a:alpha val="70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7547051" y="4606236"/>
            <a:ext cx="3196097" cy="36778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演示文稿是一种实用的工具，可以是演示，演讲，报告等。大部分时间，它们都是在为观众服务。演示文稿是一种实用的工具，可以是演示，演讲，报告等。大部分时间，它们都是在为观众服务。演示文稿是一种实用的工具，可以是演示，演讲，报告等。大部分时间，它们都是在为观众服务。</a:t>
            </a:r>
            <a:endParaRPr lang="en-US" sz="1700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</p:txBody>
      </p:sp>
      <p:sp>
        <p:nvSpPr>
          <p:cNvPr id="14" name="Freeform 7"/>
          <p:cNvSpPr/>
          <p:nvPr/>
        </p:nvSpPr>
        <p:spPr>
          <a:xfrm>
            <a:off x="1221310" y="2834167"/>
            <a:ext cx="15923689" cy="6585569"/>
          </a:xfrm>
          <a:custGeom>
            <a:avLst/>
            <a:gdLst/>
            <a:ahLst/>
            <a:cxnLst/>
            <a:rect l="l" t="t" r="r" b="b"/>
            <a:pathLst>
              <a:path w="4221963" h="1705947">
                <a:moveTo>
                  <a:pt x="13040" y="0"/>
                </a:moveTo>
                <a:lnTo>
                  <a:pt x="4208923" y="0"/>
                </a:lnTo>
                <a:cubicBezTo>
                  <a:pt x="4212382" y="0"/>
                  <a:pt x="4215698" y="1374"/>
                  <a:pt x="4218144" y="3819"/>
                </a:cubicBezTo>
                <a:cubicBezTo>
                  <a:pt x="4220589" y="6265"/>
                  <a:pt x="4221963" y="9581"/>
                  <a:pt x="4221963" y="13040"/>
                </a:cubicBezTo>
                <a:lnTo>
                  <a:pt x="4221963" y="1692907"/>
                </a:lnTo>
                <a:cubicBezTo>
                  <a:pt x="4221963" y="1696365"/>
                  <a:pt x="4220589" y="1699682"/>
                  <a:pt x="4218144" y="1702127"/>
                </a:cubicBezTo>
                <a:cubicBezTo>
                  <a:pt x="4215698" y="1704573"/>
                  <a:pt x="4212382" y="1705947"/>
                  <a:pt x="4208923" y="1705947"/>
                </a:cubicBezTo>
                <a:lnTo>
                  <a:pt x="13040" y="1705947"/>
                </a:lnTo>
                <a:cubicBezTo>
                  <a:pt x="9581" y="1705947"/>
                  <a:pt x="6265" y="1704573"/>
                  <a:pt x="3819" y="1702127"/>
                </a:cubicBezTo>
                <a:cubicBezTo>
                  <a:pt x="1374" y="1699682"/>
                  <a:pt x="0" y="1696365"/>
                  <a:pt x="0" y="1692907"/>
                </a:cubicBezTo>
                <a:lnTo>
                  <a:pt x="0" y="13040"/>
                </a:lnTo>
                <a:cubicBezTo>
                  <a:pt x="0" y="9581"/>
                  <a:pt x="1374" y="6265"/>
                  <a:pt x="3819" y="3819"/>
                </a:cubicBezTo>
                <a:cubicBezTo>
                  <a:pt x="6265" y="1374"/>
                  <a:pt x="9581" y="0"/>
                  <a:pt x="13040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38100" cap="rnd">
            <a:gradFill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  <a:prstDash val="solid"/>
            <a:round/>
          </a:ln>
        </p:spPr>
      </p:sp>
      <p:sp>
        <p:nvSpPr>
          <p:cNvPr id="15" name="矩形: 圆角 14"/>
          <p:cNvSpPr/>
          <p:nvPr/>
        </p:nvSpPr>
        <p:spPr>
          <a:xfrm>
            <a:off x="1878932" y="2468582"/>
            <a:ext cx="4254772" cy="811779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12000">
                <a:srgbClr val="1943DE"/>
              </a:gs>
              <a:gs pos="100000">
                <a:srgbClr val="5B70E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TextBox 14"/>
          <p:cNvSpPr txBox="1"/>
          <p:nvPr/>
        </p:nvSpPr>
        <p:spPr>
          <a:xfrm>
            <a:off x="2710918" y="2685328"/>
            <a:ext cx="2590800" cy="36576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55"/>
              </a:lnSpc>
            </a:pP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 </a:t>
            </a:r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报告提交</a:t>
            </a:r>
            <a:r>
              <a:rPr lang="en-US" altLang="zh-CN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-2</a:t>
            </a:r>
            <a:endParaRPr lang="en-US" altLang="zh-CN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-914400" y="3439789"/>
            <a:ext cx="9076738" cy="840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b="1" dirty="0">
                <a:solidFill>
                  <a:srgbClr val="1943D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课程大作业</a:t>
            </a:r>
            <a:endParaRPr lang="zh-CN" altLang="en-US" sz="3600" b="1" dirty="0">
              <a:solidFill>
                <a:srgbClr val="1943D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2362200" y="4338608"/>
            <a:ext cx="15020338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大作业二选一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发布时间：第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十二周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周三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截止时间：第</a:t>
            </a:r>
            <a:r>
              <a:rPr lang="zh-CN" altLang="en-US" sz="3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十五周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周六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24:00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Group 27"/>
          <p:cNvGrpSpPr/>
          <p:nvPr/>
        </p:nvGrpSpPr>
        <p:grpSpPr>
          <a:xfrm>
            <a:off x="1666665" y="3695681"/>
            <a:ext cx="441629" cy="441629"/>
            <a:chOff x="0" y="0"/>
            <a:chExt cx="812800" cy="812800"/>
          </a:xfrm>
        </p:grpSpPr>
        <p:sp>
          <p:nvSpPr>
            <p:cNvPr id="8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29"/>
            <p:cNvSpPr txBox="1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-914400" y="6102736"/>
            <a:ext cx="9076738" cy="840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3600" b="1" dirty="0">
                <a:solidFill>
                  <a:srgbClr val="1943D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报告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提交格式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Group 27"/>
          <p:cNvGrpSpPr/>
          <p:nvPr/>
        </p:nvGrpSpPr>
        <p:grpSpPr>
          <a:xfrm>
            <a:off x="1666665" y="6358628"/>
            <a:ext cx="441629" cy="441629"/>
            <a:chOff x="0" y="0"/>
            <a:chExt cx="812800" cy="812800"/>
          </a:xfrm>
        </p:grpSpPr>
        <p:sp>
          <p:nvSpPr>
            <p:cNvPr id="20" name="Freeform 2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1" name="TextBox 29"/>
            <p:cNvSpPr txBox="1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4" name="文本框 23"/>
          <p:cNvSpPr txBox="1"/>
          <p:nvPr/>
        </p:nvSpPr>
        <p:spPr>
          <a:xfrm>
            <a:off x="2392680" y="7057483"/>
            <a:ext cx="15020338" cy="14965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个人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提交给组长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：计网实验报告第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_2023141460001_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张三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组长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提交给助教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：计网实验报告第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_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40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15816" y="1157379"/>
            <a:ext cx="6843484" cy="684348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1540DD">
                      <a:alpha val="435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9172879">
            <a:off x="-799729" y="7725012"/>
            <a:ext cx="3656858" cy="365685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28650" cap="sq">
              <a:gradFill>
                <a:gsLst>
                  <a:gs pos="0">
                    <a:srgbClr val="1540DD">
                      <a:alpha val="435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566661" y="2388639"/>
            <a:ext cx="3159614" cy="216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775"/>
              </a:lnSpc>
              <a:spcBef>
                <a:spcPct val="0"/>
              </a:spcBef>
            </a:pPr>
            <a:r>
              <a:rPr lang="en-US" sz="1481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03</a:t>
            </a:r>
            <a:endParaRPr lang="en-US" sz="1481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 Bold"/>
              <a:sym typeface="Akzidenz-Grotesk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566661" y="4684164"/>
            <a:ext cx="6682114" cy="1607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535"/>
              </a:lnSpc>
              <a:spcBef>
                <a:spcPct val="0"/>
              </a:spcBef>
            </a:pPr>
            <a:r>
              <a:rPr lang="zh-CN" altLang="en-US" sz="95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报告要求</a:t>
            </a:r>
            <a:endParaRPr lang="en-US" sz="95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 Bold"/>
              <a:sym typeface="思源黑体 1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566661" y="6412368"/>
            <a:ext cx="4588625" cy="377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altLang="zh-CN" sz="245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"/>
                <a:sym typeface="Akzidenz-Grotesk"/>
              </a:rPr>
              <a:t>Report Requirement</a:t>
            </a:r>
            <a:endParaRPr lang="en-US" sz="245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"/>
              <a:sym typeface="Akzidenz-Grotesk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9505242" y="2322073"/>
            <a:ext cx="2637875" cy="952282"/>
            <a:chOff x="0" y="0"/>
            <a:chExt cx="3517166" cy="1269709"/>
          </a:xfrm>
        </p:grpSpPr>
        <p:grpSp>
          <p:nvGrpSpPr>
            <p:cNvPr id="12" name="Group 12"/>
            <p:cNvGrpSpPr/>
            <p:nvPr/>
          </p:nvGrpSpPr>
          <p:grpSpPr>
            <a:xfrm>
              <a:off x="2779629" y="17536"/>
              <a:ext cx="120482" cy="12048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471102" y="17536"/>
              <a:ext cx="120482" cy="12048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396684" y="17536"/>
              <a:ext cx="120482" cy="12048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088157" y="17536"/>
              <a:ext cx="120482" cy="12048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779629" y="300459"/>
              <a:ext cx="120482" cy="12048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471102" y="300459"/>
              <a:ext cx="120482" cy="120482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396684" y="300459"/>
              <a:ext cx="120482" cy="120482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088157" y="300459"/>
              <a:ext cx="120482" cy="120482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2779629" y="583382"/>
              <a:ext cx="120482" cy="120482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2471102" y="583382"/>
              <a:ext cx="120482" cy="120482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3396684" y="583382"/>
              <a:ext cx="120482" cy="120482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3088157" y="583382"/>
              <a:ext cx="120482" cy="120482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2779629" y="866304"/>
              <a:ext cx="120482" cy="120482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2471102" y="866304"/>
              <a:ext cx="120482" cy="120482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3396684" y="866304"/>
              <a:ext cx="120482" cy="120482"/>
              <a:chOff x="0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3088157" y="866304"/>
              <a:ext cx="120482" cy="120482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2779629" y="1149227"/>
              <a:ext cx="120482" cy="120482"/>
              <a:chOff x="0" y="0"/>
              <a:chExt cx="812800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2471102" y="1149227"/>
              <a:ext cx="120482" cy="120482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3396684" y="1149227"/>
              <a:ext cx="120482" cy="120482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3088157" y="1149227"/>
              <a:ext cx="120482" cy="120482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1542637" y="0"/>
              <a:ext cx="120482" cy="120482"/>
              <a:chOff x="0" y="0"/>
              <a:chExt cx="812800" cy="81280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1234109" y="0"/>
              <a:ext cx="120482" cy="120482"/>
              <a:chOff x="0" y="0"/>
              <a:chExt cx="812800" cy="8128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2159691" y="0"/>
              <a:ext cx="120482" cy="120482"/>
              <a:chOff x="0" y="0"/>
              <a:chExt cx="812800" cy="81280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1851164" y="0"/>
              <a:ext cx="120482" cy="120482"/>
              <a:chOff x="0" y="0"/>
              <a:chExt cx="812800" cy="81280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4" name="TextBox 10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7" name="TextBox 10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8" name="Group 108"/>
            <p:cNvGrpSpPr/>
            <p:nvPr/>
          </p:nvGrpSpPr>
          <p:grpSpPr>
            <a:xfrm>
              <a:off x="1542637" y="282923"/>
              <a:ext cx="120482" cy="120482"/>
              <a:chOff x="0" y="0"/>
              <a:chExt cx="812800" cy="812800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1234109" y="282923"/>
              <a:ext cx="120482" cy="120482"/>
              <a:chOff x="0" y="0"/>
              <a:chExt cx="812800" cy="81280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3" name="TextBox 11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4" name="Group 114"/>
            <p:cNvGrpSpPr/>
            <p:nvPr/>
          </p:nvGrpSpPr>
          <p:grpSpPr>
            <a:xfrm>
              <a:off x="2159691" y="282923"/>
              <a:ext cx="120482" cy="120482"/>
              <a:chOff x="0" y="0"/>
              <a:chExt cx="812800" cy="812800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6" name="TextBox 11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1851164" y="282923"/>
              <a:ext cx="120482" cy="120482"/>
              <a:chOff x="0" y="0"/>
              <a:chExt cx="812800" cy="812800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9" name="TextBox 11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0" name="Group 120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2" name="TextBox 12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3" name="Group 123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5" name="TextBox 12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127" name="Freeform 1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9" name="Group 129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1" name="TextBox 13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2" name="Group 132"/>
            <p:cNvGrpSpPr/>
            <p:nvPr/>
          </p:nvGrpSpPr>
          <p:grpSpPr>
            <a:xfrm>
              <a:off x="1542637" y="565845"/>
              <a:ext cx="120482" cy="120482"/>
              <a:chOff x="0" y="0"/>
              <a:chExt cx="812800" cy="812800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4" name="TextBox 13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5" name="Group 135"/>
            <p:cNvGrpSpPr/>
            <p:nvPr/>
          </p:nvGrpSpPr>
          <p:grpSpPr>
            <a:xfrm>
              <a:off x="1234109" y="565845"/>
              <a:ext cx="120482" cy="120482"/>
              <a:chOff x="0" y="0"/>
              <a:chExt cx="812800" cy="812800"/>
            </a:xfrm>
          </p:grpSpPr>
          <p:sp>
            <p:nvSpPr>
              <p:cNvPr id="136" name="Freeform 1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7" name="TextBox 13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8" name="Group 138"/>
            <p:cNvGrpSpPr/>
            <p:nvPr/>
          </p:nvGrpSpPr>
          <p:grpSpPr>
            <a:xfrm>
              <a:off x="2159691" y="565845"/>
              <a:ext cx="120482" cy="120482"/>
              <a:chOff x="0" y="0"/>
              <a:chExt cx="812800" cy="812800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0" name="TextBox 14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1" name="Group 141"/>
            <p:cNvGrpSpPr/>
            <p:nvPr/>
          </p:nvGrpSpPr>
          <p:grpSpPr>
            <a:xfrm>
              <a:off x="1851164" y="565845"/>
              <a:ext cx="120482" cy="120482"/>
              <a:chOff x="0" y="0"/>
              <a:chExt cx="812800" cy="812800"/>
            </a:xfrm>
          </p:grpSpPr>
          <p:sp>
            <p:nvSpPr>
              <p:cNvPr id="142" name="Freeform 1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3" name="TextBox 14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4" name="Group 144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6" name="TextBox 14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7" name="Group 147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9" name="TextBox 14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0" name="Group 150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151" name="Freeform 1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2" name="TextBox 15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3" name="Group 153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154" name="Freeform 1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5" name="TextBox 15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6" name="Group 156"/>
            <p:cNvGrpSpPr/>
            <p:nvPr/>
          </p:nvGrpSpPr>
          <p:grpSpPr>
            <a:xfrm>
              <a:off x="1542637" y="848768"/>
              <a:ext cx="120482" cy="120482"/>
              <a:chOff x="0" y="0"/>
              <a:chExt cx="812800" cy="812800"/>
            </a:xfrm>
          </p:grpSpPr>
          <p:sp>
            <p:nvSpPr>
              <p:cNvPr id="157" name="Freeform 1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8" name="TextBox 15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9" name="Group 159"/>
            <p:cNvGrpSpPr/>
            <p:nvPr/>
          </p:nvGrpSpPr>
          <p:grpSpPr>
            <a:xfrm>
              <a:off x="1234109" y="848768"/>
              <a:ext cx="120482" cy="120482"/>
              <a:chOff x="0" y="0"/>
              <a:chExt cx="812800" cy="812800"/>
            </a:xfrm>
          </p:grpSpPr>
          <p:sp>
            <p:nvSpPr>
              <p:cNvPr id="160" name="Freeform 1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1" name="TextBox 16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2" name="Group 162"/>
            <p:cNvGrpSpPr/>
            <p:nvPr/>
          </p:nvGrpSpPr>
          <p:grpSpPr>
            <a:xfrm>
              <a:off x="2159691" y="848768"/>
              <a:ext cx="120482" cy="120482"/>
              <a:chOff x="0" y="0"/>
              <a:chExt cx="812800" cy="812800"/>
            </a:xfrm>
          </p:grpSpPr>
          <p:sp>
            <p:nvSpPr>
              <p:cNvPr id="163" name="Freeform 1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4" name="TextBox 16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5" name="Group 165"/>
            <p:cNvGrpSpPr/>
            <p:nvPr/>
          </p:nvGrpSpPr>
          <p:grpSpPr>
            <a:xfrm>
              <a:off x="1851164" y="848768"/>
              <a:ext cx="120482" cy="120482"/>
              <a:chOff x="0" y="0"/>
              <a:chExt cx="812800" cy="812800"/>
            </a:xfrm>
          </p:grpSpPr>
          <p:sp>
            <p:nvSpPr>
              <p:cNvPr id="166" name="Freeform 1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7" name="TextBox 16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8" name="Group 168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169" name="Freeform 16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0" name="TextBox 17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1" name="Group 171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172" name="Freeform 17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3" name="TextBox 17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4" name="Group 174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175" name="Freeform 17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6" name="TextBox 17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7" name="Group 177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178" name="Freeform 17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9" name="TextBox 17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0" name="Group 180"/>
            <p:cNvGrpSpPr/>
            <p:nvPr/>
          </p:nvGrpSpPr>
          <p:grpSpPr>
            <a:xfrm>
              <a:off x="1542637" y="1131691"/>
              <a:ext cx="120482" cy="120482"/>
              <a:chOff x="0" y="0"/>
              <a:chExt cx="812800" cy="812800"/>
            </a:xfrm>
          </p:grpSpPr>
          <p:sp>
            <p:nvSpPr>
              <p:cNvPr id="181" name="Freeform 1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2" name="TextBox 18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3" name="Group 183"/>
            <p:cNvGrpSpPr/>
            <p:nvPr/>
          </p:nvGrpSpPr>
          <p:grpSpPr>
            <a:xfrm>
              <a:off x="1234109" y="1131691"/>
              <a:ext cx="120482" cy="120482"/>
              <a:chOff x="0" y="0"/>
              <a:chExt cx="812800" cy="812800"/>
            </a:xfrm>
          </p:grpSpPr>
          <p:sp>
            <p:nvSpPr>
              <p:cNvPr id="184" name="Freeform 1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5" name="TextBox 18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6" name="Group 186"/>
            <p:cNvGrpSpPr/>
            <p:nvPr/>
          </p:nvGrpSpPr>
          <p:grpSpPr>
            <a:xfrm>
              <a:off x="2159691" y="1131691"/>
              <a:ext cx="120482" cy="120482"/>
              <a:chOff x="0" y="0"/>
              <a:chExt cx="812800" cy="812800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8" name="TextBox 18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9" name="Group 189"/>
            <p:cNvGrpSpPr/>
            <p:nvPr/>
          </p:nvGrpSpPr>
          <p:grpSpPr>
            <a:xfrm>
              <a:off x="1851164" y="1131691"/>
              <a:ext cx="120482" cy="120482"/>
              <a:chOff x="0" y="0"/>
              <a:chExt cx="812800" cy="812800"/>
            </a:xfrm>
          </p:grpSpPr>
          <p:sp>
            <p:nvSpPr>
              <p:cNvPr id="190" name="Freeform 19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91" name="TextBox 19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965" y="867264"/>
            <a:ext cx="5258706" cy="8305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报告要求</a:t>
            </a:r>
            <a:r>
              <a:rPr lang="en-US" altLang="zh-CN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-</a:t>
            </a: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内容</a:t>
            </a:r>
            <a:endParaRPr lang="zh-CN" altLang="en-US" sz="5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6868" y="376742"/>
            <a:ext cx="1800194" cy="18001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3A50FB">
                      <a:alpha val="70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143000" y="3086100"/>
            <a:ext cx="16486505" cy="475234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实验过程描述</a:t>
            </a:r>
            <a:r>
              <a:rPr lang="zh-CN" altLang="en-US" sz="2800" b="1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：</a:t>
            </a:r>
            <a:r>
              <a:rPr lang="zh-CN" altLang="en-US" sz="28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实验过程的详细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2"/>
                <a:sym typeface="思源黑体 2"/>
              </a:rPr>
              <a:t>文字描述</a:t>
            </a:r>
            <a:r>
              <a:rPr lang="zh-CN" altLang="en-US" sz="28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，并附上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2"/>
                <a:sym typeface="思源黑体 2"/>
              </a:rPr>
              <a:t>关键步骤</a:t>
            </a:r>
            <a:r>
              <a:rPr lang="zh-CN" altLang="en-US" sz="28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以及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2"/>
                <a:sym typeface="思源黑体 2"/>
              </a:rPr>
              <a:t>实验结果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2"/>
                <a:sym typeface="思源黑体 2"/>
              </a:rPr>
              <a:t>截图</a:t>
            </a:r>
            <a:r>
              <a:rPr lang="zh-CN" altLang="en-US" sz="28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。</a:t>
            </a:r>
            <a:endParaRPr lang="en-US" altLang="zh-CN" sz="2800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marL="228600" indent="-228600" algn="l">
              <a:lnSpc>
                <a:spcPct val="150000"/>
              </a:lnSpc>
              <a:buFont typeface="+mj-lt"/>
              <a:buAutoNum type="arabicPeriod"/>
            </a:pPr>
            <a:endParaRPr lang="zh-CN" altLang="en-US" sz="1050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实验问题分析</a:t>
            </a:r>
            <a:r>
              <a:rPr lang="zh-CN" altLang="en-US" sz="2800" b="1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：</a:t>
            </a:r>
            <a:r>
              <a:rPr lang="zh-CN" altLang="en-US" sz="28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针对每个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2"/>
                <a:sym typeface="思源黑体 2"/>
              </a:rPr>
              <a:t>实验提出的问题进行分析</a:t>
            </a:r>
            <a:r>
              <a:rPr lang="zh-CN" altLang="en-US" sz="28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，展示自己的思考过程以及对于问题的解答，附上相应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2"/>
                <a:sym typeface="思源黑体 2"/>
              </a:rPr>
              <a:t>验证过程的截图</a:t>
            </a:r>
            <a:r>
              <a:rPr lang="zh-CN" altLang="en-US" sz="28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以及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2"/>
                <a:sym typeface="思源黑体 2"/>
              </a:rPr>
              <a:t>结果的截图</a:t>
            </a:r>
            <a:r>
              <a:rPr lang="zh-CN" altLang="en-US" sz="28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。</a:t>
            </a:r>
            <a:endParaRPr lang="en-US" altLang="zh-CN" sz="2800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marL="228600" indent="-228600" algn="l">
              <a:lnSpc>
                <a:spcPct val="150000"/>
              </a:lnSpc>
              <a:buFont typeface="+mj-lt"/>
              <a:buAutoNum type="arabicPeriod"/>
            </a:pPr>
            <a:endParaRPr lang="zh-CN" altLang="en-US" sz="1050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心得与收获</a:t>
            </a:r>
            <a:r>
              <a:rPr lang="zh-CN" altLang="en-US" sz="2800" b="1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：</a:t>
            </a:r>
            <a:r>
              <a:rPr lang="zh-CN" altLang="en-US" sz="28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对于实验的一些思考与完成实验的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2"/>
                <a:sym typeface="思源黑体 2"/>
              </a:rPr>
              <a:t>收获</a:t>
            </a:r>
            <a:r>
              <a:rPr lang="zh-CN" altLang="en-US" sz="28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，同时展示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2"/>
                <a:sym typeface="思源黑体 2"/>
              </a:rPr>
              <a:t>自己遇到的问题</a:t>
            </a:r>
            <a:r>
              <a:rPr lang="zh-CN" altLang="en-US" sz="28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以及对应的</a:t>
            </a:r>
            <a:r>
              <a:rPr lang="zh-CN" altLang="en-US" sz="2800" b="1" dirty="0">
                <a:solidFill>
                  <a:srgbClr val="C00000"/>
                </a:solidFill>
                <a:latin typeface="华文楷体" panose="02010600040101010101" charset="-122"/>
                <a:ea typeface="华文楷体" panose="02010600040101010101" charset="-122"/>
                <a:cs typeface="思源黑体 2"/>
                <a:sym typeface="思源黑体 2"/>
              </a:rPr>
              <a:t>解决方法</a:t>
            </a:r>
            <a:r>
              <a:rPr lang="zh-CN" altLang="en-US" sz="28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。</a:t>
            </a:r>
            <a:endParaRPr lang="en-US" altLang="zh-CN" sz="2800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marL="228600" indent="-228600" algn="l">
              <a:lnSpc>
                <a:spcPct val="150000"/>
              </a:lnSpc>
              <a:buFont typeface="+mj-lt"/>
              <a:buAutoNum type="arabicPeriod"/>
            </a:pPr>
            <a:endParaRPr lang="zh-CN" altLang="en-US" sz="1050" dirty="0">
              <a:solidFill>
                <a:srgbClr val="100F0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  <a:p>
            <a:pPr marL="514350" indent="-514350" algn="l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8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实验报告总分为 </a:t>
            </a:r>
            <a:r>
              <a:rPr lang="en-US" altLang="zh-CN" sz="28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100 </a:t>
            </a:r>
            <a:r>
              <a:rPr lang="zh-CN" altLang="en-US" sz="2800" dirty="0">
                <a:solidFill>
                  <a:srgbClr val="100F0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分，按照给定格式作答。</a:t>
            </a:r>
            <a:r>
              <a:rPr lang="zh-CN" altLang="en-US" sz="28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杜绝抄袭，一旦发现，以 0 分处理。</a:t>
            </a:r>
            <a:endParaRPr lang="zh-CN" altLang="en-US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540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415816" y="1157379"/>
            <a:ext cx="6843484" cy="6843484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1540DD">
                      <a:alpha val="435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" name="Group 5"/>
          <p:cNvGrpSpPr/>
          <p:nvPr/>
        </p:nvGrpSpPr>
        <p:grpSpPr>
          <a:xfrm rot="-9172879">
            <a:off x="-799729" y="7725012"/>
            <a:ext cx="3656858" cy="3656858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28650" cap="sq">
              <a:gradFill>
                <a:gsLst>
                  <a:gs pos="0">
                    <a:srgbClr val="1540DD">
                      <a:alpha val="43500"/>
                    </a:srgbClr>
                  </a:gs>
                  <a:gs pos="100000">
                    <a:srgbClr val="FFFFFF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566661" y="2388639"/>
            <a:ext cx="3159614" cy="2163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7775"/>
              </a:lnSpc>
              <a:spcBef>
                <a:spcPct val="0"/>
              </a:spcBef>
            </a:pPr>
            <a:r>
              <a:rPr lang="en-US" sz="1481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 Bold"/>
                <a:sym typeface="Akzidenz-Grotesk Bold"/>
              </a:rPr>
              <a:t>04</a:t>
            </a:r>
            <a:endParaRPr lang="en-US" sz="1481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 Bold"/>
              <a:sym typeface="Akzidenz-Grotesk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566660" y="4684164"/>
            <a:ext cx="15187939" cy="14219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2535"/>
              </a:lnSpc>
              <a:spcBef>
                <a:spcPct val="0"/>
              </a:spcBef>
            </a:pPr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第</a:t>
            </a:r>
            <a:r>
              <a:rPr lang="en-US" altLang="zh-CN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1</a:t>
            </a:r>
            <a:r>
              <a:rPr lang="zh-CN" altLang="en-US" sz="54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次实验</a:t>
            </a:r>
            <a:r>
              <a:rPr lang="zh-CN" alt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（</a:t>
            </a:r>
            <a:r>
              <a:rPr lang="en-US" altLang="zh-CN" sz="6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Web</a:t>
            </a:r>
            <a:r>
              <a:rPr lang="zh-CN" altLang="en-US" sz="6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服务器的配置与分析</a:t>
            </a:r>
            <a:r>
              <a:rPr lang="zh-CN" altLang="en-US" sz="4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1 Bold"/>
                <a:sym typeface="思源黑体 1 Bold"/>
              </a:rPr>
              <a:t>）</a:t>
            </a:r>
            <a:endParaRPr lang="en-US" sz="4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1 Bold"/>
              <a:sym typeface="思源黑体 1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566661" y="6412368"/>
            <a:ext cx="4588625" cy="3718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altLang="zh-CN" sz="2455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kzidenz-Grotesk"/>
                <a:sym typeface="Akzidenz-Grotesk"/>
              </a:rPr>
              <a:t>First Experiment</a:t>
            </a:r>
            <a:endParaRPr lang="en-US" sz="2455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kzidenz-Grotesk"/>
              <a:sym typeface="Akzidenz-Grotesk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9505242" y="2322073"/>
            <a:ext cx="2637875" cy="952282"/>
            <a:chOff x="0" y="0"/>
            <a:chExt cx="3517166" cy="1269709"/>
          </a:xfrm>
        </p:grpSpPr>
        <p:grpSp>
          <p:nvGrpSpPr>
            <p:cNvPr id="12" name="Group 12"/>
            <p:cNvGrpSpPr/>
            <p:nvPr/>
          </p:nvGrpSpPr>
          <p:grpSpPr>
            <a:xfrm>
              <a:off x="2779629" y="17536"/>
              <a:ext cx="120482" cy="12048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2471102" y="17536"/>
              <a:ext cx="120482" cy="120482"/>
              <a:chOff x="0" y="0"/>
              <a:chExt cx="812800" cy="8128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3396684" y="17536"/>
              <a:ext cx="120482" cy="120482"/>
              <a:chOff x="0" y="0"/>
              <a:chExt cx="812800" cy="812800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3088157" y="17536"/>
              <a:ext cx="120482" cy="120482"/>
              <a:chOff x="0" y="0"/>
              <a:chExt cx="812800" cy="8128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2779629" y="300459"/>
              <a:ext cx="120482" cy="120482"/>
              <a:chOff x="0" y="0"/>
              <a:chExt cx="812800" cy="81280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2471102" y="300459"/>
              <a:ext cx="120482" cy="120482"/>
              <a:chOff x="0" y="0"/>
              <a:chExt cx="812800" cy="812800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396684" y="300459"/>
              <a:ext cx="120482" cy="120482"/>
              <a:chOff x="0" y="0"/>
              <a:chExt cx="812800" cy="812800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3" name="Group 33"/>
            <p:cNvGrpSpPr/>
            <p:nvPr/>
          </p:nvGrpSpPr>
          <p:grpSpPr>
            <a:xfrm>
              <a:off x="3088157" y="300459"/>
              <a:ext cx="120482" cy="120482"/>
              <a:chOff x="0" y="0"/>
              <a:chExt cx="812800" cy="8128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2779629" y="583382"/>
              <a:ext cx="120482" cy="120482"/>
              <a:chOff x="0" y="0"/>
              <a:chExt cx="812800" cy="81280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39" name="Group 39"/>
            <p:cNvGrpSpPr/>
            <p:nvPr/>
          </p:nvGrpSpPr>
          <p:grpSpPr>
            <a:xfrm>
              <a:off x="2471102" y="583382"/>
              <a:ext cx="120482" cy="120482"/>
              <a:chOff x="0" y="0"/>
              <a:chExt cx="812800" cy="812800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3396684" y="583382"/>
              <a:ext cx="120482" cy="120482"/>
              <a:chOff x="0" y="0"/>
              <a:chExt cx="812800" cy="812800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3088157" y="583382"/>
              <a:ext cx="120482" cy="120482"/>
              <a:chOff x="0" y="0"/>
              <a:chExt cx="812800" cy="8128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7" name="TextBox 4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48" name="Group 48"/>
            <p:cNvGrpSpPr/>
            <p:nvPr/>
          </p:nvGrpSpPr>
          <p:grpSpPr>
            <a:xfrm>
              <a:off x="2779629" y="866304"/>
              <a:ext cx="120482" cy="120482"/>
              <a:chOff x="0" y="0"/>
              <a:chExt cx="812800" cy="812800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1" name="Group 51"/>
            <p:cNvGrpSpPr/>
            <p:nvPr/>
          </p:nvGrpSpPr>
          <p:grpSpPr>
            <a:xfrm>
              <a:off x="2471102" y="866304"/>
              <a:ext cx="120482" cy="120482"/>
              <a:chOff x="0" y="0"/>
              <a:chExt cx="812800" cy="812800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4" name="Group 54"/>
            <p:cNvGrpSpPr/>
            <p:nvPr/>
          </p:nvGrpSpPr>
          <p:grpSpPr>
            <a:xfrm>
              <a:off x="3396684" y="866304"/>
              <a:ext cx="120482" cy="120482"/>
              <a:chOff x="0" y="0"/>
              <a:chExt cx="812800" cy="81280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6" name="TextBox 5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57" name="Group 57"/>
            <p:cNvGrpSpPr/>
            <p:nvPr/>
          </p:nvGrpSpPr>
          <p:grpSpPr>
            <a:xfrm>
              <a:off x="3088157" y="866304"/>
              <a:ext cx="120482" cy="120482"/>
              <a:chOff x="0" y="0"/>
              <a:chExt cx="812800" cy="812800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0" name="Group 60"/>
            <p:cNvGrpSpPr/>
            <p:nvPr/>
          </p:nvGrpSpPr>
          <p:grpSpPr>
            <a:xfrm>
              <a:off x="2779629" y="1149227"/>
              <a:ext cx="120482" cy="120482"/>
              <a:chOff x="0" y="0"/>
              <a:chExt cx="812800" cy="81280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3" name="Group 63"/>
            <p:cNvGrpSpPr/>
            <p:nvPr/>
          </p:nvGrpSpPr>
          <p:grpSpPr>
            <a:xfrm>
              <a:off x="2471102" y="1149227"/>
              <a:ext cx="120482" cy="120482"/>
              <a:chOff x="0" y="0"/>
              <a:chExt cx="812800" cy="812800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3396684" y="1149227"/>
              <a:ext cx="120482" cy="120482"/>
              <a:chOff x="0" y="0"/>
              <a:chExt cx="812800" cy="8128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68" name="TextBox 6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69" name="Group 69"/>
            <p:cNvGrpSpPr/>
            <p:nvPr/>
          </p:nvGrpSpPr>
          <p:grpSpPr>
            <a:xfrm>
              <a:off x="3088157" y="1149227"/>
              <a:ext cx="120482" cy="120482"/>
              <a:chOff x="0" y="0"/>
              <a:chExt cx="812800" cy="81280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308527" y="0"/>
              <a:ext cx="120482" cy="120482"/>
              <a:chOff x="0" y="0"/>
              <a:chExt cx="812800" cy="8128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5" name="Group 75"/>
            <p:cNvGrpSpPr/>
            <p:nvPr/>
          </p:nvGrpSpPr>
          <p:grpSpPr>
            <a:xfrm>
              <a:off x="0" y="0"/>
              <a:ext cx="120482" cy="120482"/>
              <a:chOff x="0" y="0"/>
              <a:chExt cx="812800" cy="812800"/>
            </a:xfrm>
          </p:grpSpPr>
          <p:sp>
            <p:nvSpPr>
              <p:cNvPr id="76" name="Freeform 7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78" name="Group 78"/>
            <p:cNvGrpSpPr/>
            <p:nvPr/>
          </p:nvGrpSpPr>
          <p:grpSpPr>
            <a:xfrm>
              <a:off x="925582" y="0"/>
              <a:ext cx="120482" cy="120482"/>
              <a:chOff x="0" y="0"/>
              <a:chExt cx="812800" cy="812800"/>
            </a:xfrm>
          </p:grpSpPr>
          <p:sp>
            <p:nvSpPr>
              <p:cNvPr id="79" name="Freeform 7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0" name="TextBox 8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1" name="Group 81"/>
            <p:cNvGrpSpPr/>
            <p:nvPr/>
          </p:nvGrpSpPr>
          <p:grpSpPr>
            <a:xfrm>
              <a:off x="617055" y="0"/>
              <a:ext cx="120482" cy="120482"/>
              <a:chOff x="0" y="0"/>
              <a:chExt cx="812800" cy="812800"/>
            </a:xfrm>
          </p:grpSpPr>
          <p:sp>
            <p:nvSpPr>
              <p:cNvPr id="82" name="Freeform 8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4" name="Group 84"/>
            <p:cNvGrpSpPr/>
            <p:nvPr/>
          </p:nvGrpSpPr>
          <p:grpSpPr>
            <a:xfrm>
              <a:off x="1542637" y="0"/>
              <a:ext cx="120482" cy="120482"/>
              <a:chOff x="0" y="0"/>
              <a:chExt cx="812800" cy="812800"/>
            </a:xfrm>
          </p:grpSpPr>
          <p:sp>
            <p:nvSpPr>
              <p:cNvPr id="85" name="Freeform 8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1234109" y="0"/>
              <a:ext cx="120482" cy="120482"/>
              <a:chOff x="0" y="0"/>
              <a:chExt cx="812800" cy="812800"/>
            </a:xfrm>
          </p:grpSpPr>
          <p:sp>
            <p:nvSpPr>
              <p:cNvPr id="88" name="Freeform 8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89" name="TextBox 8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2159691" y="0"/>
              <a:ext cx="120482" cy="120482"/>
              <a:chOff x="0" y="0"/>
              <a:chExt cx="812800" cy="81280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3" name="Group 93"/>
            <p:cNvGrpSpPr/>
            <p:nvPr/>
          </p:nvGrpSpPr>
          <p:grpSpPr>
            <a:xfrm>
              <a:off x="1851164" y="0"/>
              <a:ext cx="120482" cy="120482"/>
              <a:chOff x="0" y="0"/>
              <a:chExt cx="812800" cy="812800"/>
            </a:xfrm>
          </p:grpSpPr>
          <p:sp>
            <p:nvSpPr>
              <p:cNvPr id="94" name="Freeform 9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5" name="TextBox 9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6" name="Group 96"/>
            <p:cNvGrpSpPr/>
            <p:nvPr/>
          </p:nvGrpSpPr>
          <p:grpSpPr>
            <a:xfrm>
              <a:off x="308527" y="282923"/>
              <a:ext cx="120482" cy="120482"/>
              <a:chOff x="0" y="0"/>
              <a:chExt cx="812800" cy="812800"/>
            </a:xfrm>
          </p:grpSpPr>
          <p:sp>
            <p:nvSpPr>
              <p:cNvPr id="97" name="Freeform 9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98" name="TextBox 9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99" name="Group 99"/>
            <p:cNvGrpSpPr/>
            <p:nvPr/>
          </p:nvGrpSpPr>
          <p:grpSpPr>
            <a:xfrm>
              <a:off x="0" y="282923"/>
              <a:ext cx="120482" cy="120482"/>
              <a:chOff x="0" y="0"/>
              <a:chExt cx="812800" cy="812800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1" name="TextBox 10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2" name="Group 102"/>
            <p:cNvGrpSpPr/>
            <p:nvPr/>
          </p:nvGrpSpPr>
          <p:grpSpPr>
            <a:xfrm>
              <a:off x="925582" y="282923"/>
              <a:ext cx="120482" cy="120482"/>
              <a:chOff x="0" y="0"/>
              <a:chExt cx="812800" cy="812800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4" name="TextBox 10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617055" y="282923"/>
              <a:ext cx="120482" cy="120482"/>
              <a:chOff x="0" y="0"/>
              <a:chExt cx="812800" cy="812800"/>
            </a:xfrm>
          </p:grpSpPr>
          <p:sp>
            <p:nvSpPr>
              <p:cNvPr id="106" name="Freeform 10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7" name="TextBox 10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08" name="Group 108"/>
            <p:cNvGrpSpPr/>
            <p:nvPr/>
          </p:nvGrpSpPr>
          <p:grpSpPr>
            <a:xfrm>
              <a:off x="1542637" y="282923"/>
              <a:ext cx="120482" cy="120482"/>
              <a:chOff x="0" y="0"/>
              <a:chExt cx="812800" cy="812800"/>
            </a:xfrm>
          </p:grpSpPr>
          <p:sp>
            <p:nvSpPr>
              <p:cNvPr id="109" name="Freeform 10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0" name="TextBox 11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1" name="Group 111"/>
            <p:cNvGrpSpPr/>
            <p:nvPr/>
          </p:nvGrpSpPr>
          <p:grpSpPr>
            <a:xfrm>
              <a:off x="1234109" y="282923"/>
              <a:ext cx="120482" cy="120482"/>
              <a:chOff x="0" y="0"/>
              <a:chExt cx="812800" cy="812800"/>
            </a:xfrm>
          </p:grpSpPr>
          <p:sp>
            <p:nvSpPr>
              <p:cNvPr id="112" name="Freeform 1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3" name="TextBox 11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4" name="Group 114"/>
            <p:cNvGrpSpPr/>
            <p:nvPr/>
          </p:nvGrpSpPr>
          <p:grpSpPr>
            <a:xfrm>
              <a:off x="2159691" y="282923"/>
              <a:ext cx="120482" cy="120482"/>
              <a:chOff x="0" y="0"/>
              <a:chExt cx="812800" cy="812800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6" name="TextBox 11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17" name="Group 117"/>
            <p:cNvGrpSpPr/>
            <p:nvPr/>
          </p:nvGrpSpPr>
          <p:grpSpPr>
            <a:xfrm>
              <a:off x="1851164" y="282923"/>
              <a:ext cx="120482" cy="120482"/>
              <a:chOff x="0" y="0"/>
              <a:chExt cx="812800" cy="812800"/>
            </a:xfrm>
          </p:grpSpPr>
          <p:sp>
            <p:nvSpPr>
              <p:cNvPr id="118" name="Freeform 1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19" name="TextBox 11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0" name="Group 120"/>
            <p:cNvGrpSpPr/>
            <p:nvPr/>
          </p:nvGrpSpPr>
          <p:grpSpPr>
            <a:xfrm>
              <a:off x="308527" y="565845"/>
              <a:ext cx="120482" cy="120482"/>
              <a:chOff x="0" y="0"/>
              <a:chExt cx="812800" cy="812800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2" name="TextBox 12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3" name="Group 123"/>
            <p:cNvGrpSpPr/>
            <p:nvPr/>
          </p:nvGrpSpPr>
          <p:grpSpPr>
            <a:xfrm>
              <a:off x="0" y="565845"/>
              <a:ext cx="120482" cy="120482"/>
              <a:chOff x="0" y="0"/>
              <a:chExt cx="812800" cy="812800"/>
            </a:xfrm>
          </p:grpSpPr>
          <p:sp>
            <p:nvSpPr>
              <p:cNvPr id="124" name="Freeform 1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5" name="TextBox 12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6" name="Group 126"/>
            <p:cNvGrpSpPr/>
            <p:nvPr/>
          </p:nvGrpSpPr>
          <p:grpSpPr>
            <a:xfrm>
              <a:off x="925582" y="565845"/>
              <a:ext cx="120482" cy="120482"/>
              <a:chOff x="0" y="0"/>
              <a:chExt cx="812800" cy="812800"/>
            </a:xfrm>
          </p:grpSpPr>
          <p:sp>
            <p:nvSpPr>
              <p:cNvPr id="127" name="Freeform 1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29" name="Group 129"/>
            <p:cNvGrpSpPr/>
            <p:nvPr/>
          </p:nvGrpSpPr>
          <p:grpSpPr>
            <a:xfrm>
              <a:off x="617055" y="565845"/>
              <a:ext cx="120482" cy="120482"/>
              <a:chOff x="0" y="0"/>
              <a:chExt cx="812800" cy="812800"/>
            </a:xfrm>
          </p:grpSpPr>
          <p:sp>
            <p:nvSpPr>
              <p:cNvPr id="130" name="Freeform 1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1" name="TextBox 13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2" name="Group 132"/>
            <p:cNvGrpSpPr/>
            <p:nvPr/>
          </p:nvGrpSpPr>
          <p:grpSpPr>
            <a:xfrm>
              <a:off x="1542637" y="565845"/>
              <a:ext cx="120482" cy="120482"/>
              <a:chOff x="0" y="0"/>
              <a:chExt cx="812800" cy="812800"/>
            </a:xfrm>
          </p:grpSpPr>
          <p:sp>
            <p:nvSpPr>
              <p:cNvPr id="133" name="Freeform 13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4" name="TextBox 13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5" name="Group 135"/>
            <p:cNvGrpSpPr/>
            <p:nvPr/>
          </p:nvGrpSpPr>
          <p:grpSpPr>
            <a:xfrm>
              <a:off x="1234109" y="565845"/>
              <a:ext cx="120482" cy="120482"/>
              <a:chOff x="0" y="0"/>
              <a:chExt cx="812800" cy="812800"/>
            </a:xfrm>
          </p:grpSpPr>
          <p:sp>
            <p:nvSpPr>
              <p:cNvPr id="136" name="Freeform 1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7" name="TextBox 13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38" name="Group 138"/>
            <p:cNvGrpSpPr/>
            <p:nvPr/>
          </p:nvGrpSpPr>
          <p:grpSpPr>
            <a:xfrm>
              <a:off x="2159691" y="565845"/>
              <a:ext cx="120482" cy="120482"/>
              <a:chOff x="0" y="0"/>
              <a:chExt cx="812800" cy="812800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0" name="TextBox 14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1" name="Group 141"/>
            <p:cNvGrpSpPr/>
            <p:nvPr/>
          </p:nvGrpSpPr>
          <p:grpSpPr>
            <a:xfrm>
              <a:off x="1851164" y="565845"/>
              <a:ext cx="120482" cy="120482"/>
              <a:chOff x="0" y="0"/>
              <a:chExt cx="812800" cy="812800"/>
            </a:xfrm>
          </p:grpSpPr>
          <p:sp>
            <p:nvSpPr>
              <p:cNvPr id="142" name="Freeform 14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3" name="TextBox 14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4" name="Group 144"/>
            <p:cNvGrpSpPr/>
            <p:nvPr/>
          </p:nvGrpSpPr>
          <p:grpSpPr>
            <a:xfrm>
              <a:off x="308527" y="848768"/>
              <a:ext cx="120482" cy="120482"/>
              <a:chOff x="0" y="0"/>
              <a:chExt cx="812800" cy="812800"/>
            </a:xfrm>
          </p:grpSpPr>
          <p:sp>
            <p:nvSpPr>
              <p:cNvPr id="145" name="Freeform 14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6" name="TextBox 14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47" name="Group 147"/>
            <p:cNvGrpSpPr/>
            <p:nvPr/>
          </p:nvGrpSpPr>
          <p:grpSpPr>
            <a:xfrm>
              <a:off x="0" y="848768"/>
              <a:ext cx="120482" cy="120482"/>
              <a:chOff x="0" y="0"/>
              <a:chExt cx="812800" cy="812800"/>
            </a:xfrm>
          </p:grpSpPr>
          <p:sp>
            <p:nvSpPr>
              <p:cNvPr id="148" name="Freeform 14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49" name="TextBox 14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0" name="Group 150"/>
            <p:cNvGrpSpPr/>
            <p:nvPr/>
          </p:nvGrpSpPr>
          <p:grpSpPr>
            <a:xfrm>
              <a:off x="925582" y="848768"/>
              <a:ext cx="120482" cy="120482"/>
              <a:chOff x="0" y="0"/>
              <a:chExt cx="812800" cy="812800"/>
            </a:xfrm>
          </p:grpSpPr>
          <p:sp>
            <p:nvSpPr>
              <p:cNvPr id="151" name="Freeform 15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2" name="TextBox 15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3" name="Group 153"/>
            <p:cNvGrpSpPr/>
            <p:nvPr/>
          </p:nvGrpSpPr>
          <p:grpSpPr>
            <a:xfrm>
              <a:off x="617055" y="848768"/>
              <a:ext cx="120482" cy="120482"/>
              <a:chOff x="0" y="0"/>
              <a:chExt cx="812800" cy="812800"/>
            </a:xfrm>
          </p:grpSpPr>
          <p:sp>
            <p:nvSpPr>
              <p:cNvPr id="154" name="Freeform 15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5" name="TextBox 15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6" name="Group 156"/>
            <p:cNvGrpSpPr/>
            <p:nvPr/>
          </p:nvGrpSpPr>
          <p:grpSpPr>
            <a:xfrm>
              <a:off x="1542637" y="848768"/>
              <a:ext cx="120482" cy="120482"/>
              <a:chOff x="0" y="0"/>
              <a:chExt cx="812800" cy="812800"/>
            </a:xfrm>
          </p:grpSpPr>
          <p:sp>
            <p:nvSpPr>
              <p:cNvPr id="157" name="Freeform 15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58" name="TextBox 15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59" name="Group 159"/>
            <p:cNvGrpSpPr/>
            <p:nvPr/>
          </p:nvGrpSpPr>
          <p:grpSpPr>
            <a:xfrm>
              <a:off x="1234109" y="848768"/>
              <a:ext cx="120482" cy="120482"/>
              <a:chOff x="0" y="0"/>
              <a:chExt cx="812800" cy="812800"/>
            </a:xfrm>
          </p:grpSpPr>
          <p:sp>
            <p:nvSpPr>
              <p:cNvPr id="160" name="Freeform 16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1" name="TextBox 16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2" name="Group 162"/>
            <p:cNvGrpSpPr/>
            <p:nvPr/>
          </p:nvGrpSpPr>
          <p:grpSpPr>
            <a:xfrm>
              <a:off x="2159691" y="848768"/>
              <a:ext cx="120482" cy="120482"/>
              <a:chOff x="0" y="0"/>
              <a:chExt cx="812800" cy="812800"/>
            </a:xfrm>
          </p:grpSpPr>
          <p:sp>
            <p:nvSpPr>
              <p:cNvPr id="163" name="Freeform 16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4" name="TextBox 164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5" name="Group 165"/>
            <p:cNvGrpSpPr/>
            <p:nvPr/>
          </p:nvGrpSpPr>
          <p:grpSpPr>
            <a:xfrm>
              <a:off x="1851164" y="848768"/>
              <a:ext cx="120482" cy="120482"/>
              <a:chOff x="0" y="0"/>
              <a:chExt cx="812800" cy="812800"/>
            </a:xfrm>
          </p:grpSpPr>
          <p:sp>
            <p:nvSpPr>
              <p:cNvPr id="166" name="Freeform 16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67" name="TextBox 167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68" name="Group 168"/>
            <p:cNvGrpSpPr/>
            <p:nvPr/>
          </p:nvGrpSpPr>
          <p:grpSpPr>
            <a:xfrm>
              <a:off x="308527" y="1131691"/>
              <a:ext cx="120482" cy="120482"/>
              <a:chOff x="0" y="0"/>
              <a:chExt cx="812800" cy="812800"/>
            </a:xfrm>
          </p:grpSpPr>
          <p:sp>
            <p:nvSpPr>
              <p:cNvPr id="169" name="Freeform 16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0" name="TextBox 170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1" name="Group 171"/>
            <p:cNvGrpSpPr/>
            <p:nvPr/>
          </p:nvGrpSpPr>
          <p:grpSpPr>
            <a:xfrm>
              <a:off x="0" y="1131691"/>
              <a:ext cx="120482" cy="120482"/>
              <a:chOff x="0" y="0"/>
              <a:chExt cx="812800" cy="812800"/>
            </a:xfrm>
          </p:grpSpPr>
          <p:sp>
            <p:nvSpPr>
              <p:cNvPr id="172" name="Freeform 17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3" name="TextBox 173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4" name="Group 174"/>
            <p:cNvGrpSpPr/>
            <p:nvPr/>
          </p:nvGrpSpPr>
          <p:grpSpPr>
            <a:xfrm>
              <a:off x="925582" y="1131691"/>
              <a:ext cx="120482" cy="120482"/>
              <a:chOff x="0" y="0"/>
              <a:chExt cx="812800" cy="812800"/>
            </a:xfrm>
          </p:grpSpPr>
          <p:sp>
            <p:nvSpPr>
              <p:cNvPr id="175" name="Freeform 17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6" name="TextBox 176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77" name="Group 177"/>
            <p:cNvGrpSpPr/>
            <p:nvPr/>
          </p:nvGrpSpPr>
          <p:grpSpPr>
            <a:xfrm>
              <a:off x="617055" y="1131691"/>
              <a:ext cx="120482" cy="120482"/>
              <a:chOff x="0" y="0"/>
              <a:chExt cx="812800" cy="812800"/>
            </a:xfrm>
          </p:grpSpPr>
          <p:sp>
            <p:nvSpPr>
              <p:cNvPr id="178" name="Freeform 17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79" name="TextBox 179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0" name="Group 180"/>
            <p:cNvGrpSpPr/>
            <p:nvPr/>
          </p:nvGrpSpPr>
          <p:grpSpPr>
            <a:xfrm>
              <a:off x="1542637" y="1131691"/>
              <a:ext cx="120482" cy="120482"/>
              <a:chOff x="0" y="0"/>
              <a:chExt cx="812800" cy="812800"/>
            </a:xfrm>
          </p:grpSpPr>
          <p:sp>
            <p:nvSpPr>
              <p:cNvPr id="181" name="Freeform 181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2" name="TextBox 182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3" name="Group 183"/>
            <p:cNvGrpSpPr/>
            <p:nvPr/>
          </p:nvGrpSpPr>
          <p:grpSpPr>
            <a:xfrm>
              <a:off x="1234109" y="1131691"/>
              <a:ext cx="120482" cy="120482"/>
              <a:chOff x="0" y="0"/>
              <a:chExt cx="812800" cy="812800"/>
            </a:xfrm>
          </p:grpSpPr>
          <p:sp>
            <p:nvSpPr>
              <p:cNvPr id="184" name="Freeform 18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5" name="TextBox 185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6" name="Group 186"/>
            <p:cNvGrpSpPr/>
            <p:nvPr/>
          </p:nvGrpSpPr>
          <p:grpSpPr>
            <a:xfrm>
              <a:off x="2159691" y="1131691"/>
              <a:ext cx="120482" cy="120482"/>
              <a:chOff x="0" y="0"/>
              <a:chExt cx="812800" cy="812800"/>
            </a:xfrm>
          </p:grpSpPr>
          <p:sp>
            <p:nvSpPr>
              <p:cNvPr id="187" name="Freeform 18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88" name="TextBox 188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189" name="Group 189"/>
            <p:cNvGrpSpPr/>
            <p:nvPr/>
          </p:nvGrpSpPr>
          <p:grpSpPr>
            <a:xfrm>
              <a:off x="1851164" y="1131691"/>
              <a:ext cx="120482" cy="120482"/>
              <a:chOff x="0" y="0"/>
              <a:chExt cx="812800" cy="812800"/>
            </a:xfrm>
          </p:grpSpPr>
          <p:sp>
            <p:nvSpPr>
              <p:cNvPr id="190" name="Freeform 19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91" name="TextBox 191"/>
              <p:cNvSpPr txBox="1"/>
              <p:nvPr/>
            </p:nvSpPr>
            <p:spPr>
              <a:xfrm>
                <a:off x="76200" y="76200"/>
                <a:ext cx="660400" cy="660400"/>
              </a:xfrm>
              <a:prstGeom prst="rect">
                <a:avLst/>
              </a:prstGeom>
            </p:spPr>
            <p:txBody>
              <a:bodyPr lIns="27857" tIns="27857" rIns="27857" bIns="27857" rtlCol="0" anchor="ctr"/>
              <a:lstStyle/>
              <a:p>
                <a:pPr algn="ctr">
                  <a:lnSpc>
                    <a:spcPts val="3000"/>
                  </a:lnSpc>
                </a:pPr>
                <a:endParaRPr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965" y="867264"/>
            <a:ext cx="525870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实验目标</a:t>
            </a:r>
            <a:endParaRPr lang="en-US" sz="5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6868" y="376742"/>
            <a:ext cx="1800194" cy="18001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3A50FB">
                      <a:alpha val="70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0" y="5295900"/>
            <a:ext cx="18288000" cy="4991100"/>
            <a:chOff x="0" y="0"/>
            <a:chExt cx="4421303" cy="80486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421303" cy="804865"/>
            </a:xfrm>
            <a:custGeom>
              <a:avLst/>
              <a:gdLst/>
              <a:ahLst/>
              <a:cxnLst/>
              <a:rect l="l" t="t" r="r" b="b"/>
              <a:pathLst>
                <a:path w="4421303" h="804865">
                  <a:moveTo>
                    <a:pt x="0" y="0"/>
                  </a:moveTo>
                  <a:lnTo>
                    <a:pt x="4421303" y="0"/>
                  </a:lnTo>
                  <a:lnTo>
                    <a:pt x="4421303" y="804865"/>
                  </a:lnTo>
                  <a:lnTo>
                    <a:pt x="0" y="804865"/>
                  </a:ln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9000"/>
                  </a:srgbClr>
                </a:gs>
                <a:gs pos="100000">
                  <a:srgbClr val="5B70EB">
                    <a:alpha val="9000"/>
                  </a:srgbClr>
                </a:gs>
              </a:gsLst>
              <a:lin ang="0"/>
            </a:gra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0"/>
              <a:ext cx="4421303" cy="804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1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6" name="文本框 15"/>
          <p:cNvSpPr txBox="1"/>
          <p:nvPr/>
        </p:nvSpPr>
        <p:spPr>
          <a:xfrm>
            <a:off x="1066800" y="2787102"/>
            <a:ext cx="15844236" cy="58669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本实验通过在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Windows Server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下分别配置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IIS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和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Apache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服务， 完成对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HTTP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协议及相关技术的掌握。实验过程中，需要完成对以下知识点的掌握：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>
              <a:lnSpc>
                <a:spcPct val="200000"/>
              </a:lnSpc>
            </a:pP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>
              <a:lnSpc>
                <a:spcPct val="20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掌握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IIS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组件的安装及在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IIS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下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Web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服务器的搭建；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>
              <a:lnSpc>
                <a:spcPct val="20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掌握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Apache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的安装及在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Apache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下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Web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服务器的搭建；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lvl="1">
              <a:lnSpc>
                <a:spcPct val="200000"/>
              </a:lnSpc>
            </a:pP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扩展实验：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HTTP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协议分析。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17" name="Group 18"/>
          <p:cNvGrpSpPr/>
          <p:nvPr/>
        </p:nvGrpSpPr>
        <p:grpSpPr>
          <a:xfrm>
            <a:off x="1066800" y="6134100"/>
            <a:ext cx="441629" cy="441629"/>
            <a:chOff x="0" y="0"/>
            <a:chExt cx="812800" cy="812800"/>
          </a:xfrm>
        </p:grpSpPr>
        <p:sp>
          <p:nvSpPr>
            <p:cNvPr id="18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20"/>
            <p:cNvSpPr txBox="1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Group 18"/>
          <p:cNvGrpSpPr/>
          <p:nvPr/>
        </p:nvGrpSpPr>
        <p:grpSpPr>
          <a:xfrm>
            <a:off x="1048145" y="7054873"/>
            <a:ext cx="441629" cy="441629"/>
            <a:chOff x="0" y="0"/>
            <a:chExt cx="812800" cy="812800"/>
          </a:xfrm>
        </p:grpSpPr>
        <p:sp>
          <p:nvSpPr>
            <p:cNvPr id="21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2" name="TextBox 20"/>
            <p:cNvSpPr txBox="1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Group 18"/>
          <p:cNvGrpSpPr/>
          <p:nvPr/>
        </p:nvGrpSpPr>
        <p:grpSpPr>
          <a:xfrm>
            <a:off x="1048144" y="8043542"/>
            <a:ext cx="441629" cy="441629"/>
            <a:chOff x="0" y="0"/>
            <a:chExt cx="812800" cy="812800"/>
          </a:xfrm>
        </p:grpSpPr>
        <p:sp>
          <p:nvSpPr>
            <p:cNvPr id="24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5" name="TextBox 20"/>
            <p:cNvSpPr txBox="1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965" y="867264"/>
            <a:ext cx="525870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实验介绍</a:t>
            </a:r>
            <a:endParaRPr lang="en-US" sz="5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6868" y="376742"/>
            <a:ext cx="1800194" cy="18001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3A50FB">
                      <a:alpha val="70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828014" y="3255321"/>
            <a:ext cx="381950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未来工作计划</a:t>
            </a:r>
            <a:endParaRPr 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828014" y="3876660"/>
            <a:ext cx="4438440" cy="4049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演示文稿是一种实用的工具，可以是演示，演讲，报告等。大部分时间，它们都是在为观众服务。演示文稿是一种实用的工具，可以是演示，演讲，报告等。演示文稿是一种实用的工具，可以是演示，演讲，报告等。大部分时间，它们都是在为观众服务演示文稿是一种实用的工具，可以是演示，演讲，报告等。演示文稿是一种实用的工具，可以是演示，演讲，报告等。大部分时间，它们都是在为观众服务演示文稿是一种实用的工具，可以是演示，演讲，报告等。</a:t>
            </a:r>
            <a:endParaRPr lang="en-US" sz="17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445830" y="1686414"/>
            <a:ext cx="13375140" cy="75558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6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Web</a:t>
            </a:r>
            <a:r>
              <a:rPr lang="zh-CN" altLang="zh-CN" sz="6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服务器</a:t>
            </a:r>
            <a:r>
              <a:rPr lang="en-US" altLang="zh-CN" sz="6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 </a:t>
            </a:r>
            <a:r>
              <a:rPr lang="zh-CN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一般指网站服务器，是指驻留于因特网上某种类型计算机的程序，可以处理浏览器等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Web</a:t>
            </a:r>
            <a:r>
              <a:rPr lang="zh-CN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客户端的请求并返回相应响应，也可以放置网站文件，让全世界浏览；可以放置数据文件，让全世界下载。目前最主流的三个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Web</a:t>
            </a:r>
            <a:r>
              <a:rPr lang="zh-CN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服务器是</a:t>
            </a:r>
            <a:r>
              <a:rPr lang="en-US" altLang="zh-CN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IIS </a:t>
            </a:r>
            <a:r>
              <a:rPr lang="zh-CN" altLang="en-US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Apache</a:t>
            </a:r>
            <a:r>
              <a:rPr lang="zh-CN" altLang="zh-CN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3200" b="1" kern="1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 Nginx </a:t>
            </a:r>
            <a:r>
              <a:rPr lang="zh-CN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。</a:t>
            </a:r>
            <a:endParaRPr lang="en-US" altLang="zh-CN" sz="3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algn="just">
              <a:lnSpc>
                <a:spcPct val="150000"/>
              </a:lnSpc>
            </a:pPr>
            <a:endParaRPr lang="en-US" altLang="zh-CN" sz="105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IIS(Internet Information Services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Internet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信息服务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)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：一种可扩展的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Web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服务组件，支持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HTTP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FTP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、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SMTP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等服务，可用于网页浏览、文件传输、邮件传送等方面。</a:t>
            </a:r>
            <a:endParaRPr lang="en-US" altLang="zh-CN" sz="3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Apache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：开源的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Web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服务器软件，常见于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Linux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系统，具有支持平台广、扩展性强、相对稳定和安全等特点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pSp>
        <p:nvGrpSpPr>
          <p:cNvPr id="17" name="Group 18"/>
          <p:cNvGrpSpPr/>
          <p:nvPr/>
        </p:nvGrpSpPr>
        <p:grpSpPr>
          <a:xfrm>
            <a:off x="2349288" y="5600700"/>
            <a:ext cx="441629" cy="441629"/>
            <a:chOff x="0" y="0"/>
            <a:chExt cx="812800" cy="812800"/>
          </a:xfrm>
        </p:grpSpPr>
        <p:sp>
          <p:nvSpPr>
            <p:cNvPr id="18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20"/>
            <p:cNvSpPr txBox="1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Group 18"/>
          <p:cNvGrpSpPr/>
          <p:nvPr/>
        </p:nvGrpSpPr>
        <p:grpSpPr>
          <a:xfrm>
            <a:off x="2320980" y="7824552"/>
            <a:ext cx="441629" cy="441629"/>
            <a:chOff x="0" y="0"/>
            <a:chExt cx="812800" cy="812800"/>
          </a:xfrm>
        </p:grpSpPr>
        <p:sp>
          <p:nvSpPr>
            <p:cNvPr id="24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5" name="TextBox 20"/>
            <p:cNvSpPr txBox="1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965" y="867264"/>
            <a:ext cx="525870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实验介绍</a:t>
            </a:r>
            <a:endParaRPr lang="en-US" sz="5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6868" y="376742"/>
            <a:ext cx="1800194" cy="18001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3A50FB">
                      <a:alpha val="70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828014" y="3255321"/>
            <a:ext cx="381950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未来工作计划</a:t>
            </a:r>
            <a:endParaRPr 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90600" y="2387802"/>
            <a:ext cx="16535400" cy="2881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altLang="zh-CN" sz="6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HTTP</a:t>
            </a:r>
            <a:r>
              <a:rPr lang="zh-CN" altLang="en-US" sz="6000" b="1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协议 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超文本传输协议（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Hyper Text Transfer Protocol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，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HTTP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）是一个简单的请求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-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响应协议，定义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Web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客户端如何从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Web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服务器请求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Web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页面，以及服务器如何把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Web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页面传送给客户端。</a:t>
            </a: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376965" y="5806325"/>
            <a:ext cx="13182600" cy="248138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lvl="1" algn="just">
              <a:lnSpc>
                <a:spcPct val="200000"/>
              </a:lnSpc>
            </a:pPr>
            <a:r>
              <a:rPr 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什么是</a:t>
            </a:r>
            <a:r>
              <a:rPr lang="en-US" alt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HTTP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协议？                                      </a:t>
            </a:r>
            <a:r>
              <a:rPr lang="en-US" sz="32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HTTP</a:t>
            </a:r>
            <a:r>
              <a:rPr sz="32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和</a:t>
            </a:r>
            <a:r>
              <a:rPr lang="en-US" sz="32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HTTPS</a:t>
            </a:r>
            <a:r>
              <a:rPr sz="32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的区别</a:t>
            </a:r>
            <a:r>
              <a:rPr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？</a:t>
            </a:r>
            <a:endParaRPr sz="3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HTTP</a:t>
            </a:r>
            <a:r>
              <a:rPr lang="zh-CN" alt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中，</a:t>
            </a:r>
            <a:r>
              <a:rPr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GET 和 POST </a:t>
            </a:r>
            <a:r>
              <a:rPr sz="32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的区别</a:t>
            </a:r>
            <a:r>
              <a:rPr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？</a:t>
            </a:r>
            <a:r>
              <a:rPr lang="en-US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           </a:t>
            </a:r>
            <a:r>
              <a:rPr sz="32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常见的</a:t>
            </a:r>
            <a:r>
              <a:rPr lang="en-US" sz="32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HTTP</a:t>
            </a:r>
            <a:r>
              <a:rPr sz="32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返回码有哪些</a:t>
            </a:r>
            <a:r>
              <a:rPr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？</a:t>
            </a:r>
            <a:endParaRPr sz="3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  <a:p>
            <a:pPr lvl="1" algn="just">
              <a:lnSpc>
                <a:spcPct val="150000"/>
              </a:lnSpc>
            </a:pPr>
            <a:r>
              <a:rPr sz="3200" kern="100" dirty="0" err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TCP对应的协议</a:t>
            </a:r>
            <a:r>
              <a:rPr lang="zh-CN" sz="3200" kern="1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</a:rPr>
              <a:t>有哪些？</a:t>
            </a:r>
            <a:endParaRPr lang="zh-CN" sz="3200" kern="1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</a:endParaRPr>
          </a:p>
        </p:txBody>
      </p:sp>
      <p:grpSp>
        <p:nvGrpSpPr>
          <p:cNvPr id="11" name="Group 18"/>
          <p:cNvGrpSpPr/>
          <p:nvPr/>
        </p:nvGrpSpPr>
        <p:grpSpPr>
          <a:xfrm>
            <a:off x="1195134" y="6193592"/>
            <a:ext cx="441629" cy="441629"/>
            <a:chOff x="0" y="0"/>
            <a:chExt cx="812800" cy="812800"/>
          </a:xfrm>
        </p:grpSpPr>
        <p:sp>
          <p:nvSpPr>
            <p:cNvPr id="12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3" name="TextBox 20"/>
            <p:cNvSpPr txBox="1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7" name="Group 18"/>
          <p:cNvGrpSpPr/>
          <p:nvPr/>
        </p:nvGrpSpPr>
        <p:grpSpPr>
          <a:xfrm>
            <a:off x="1182061" y="6951435"/>
            <a:ext cx="441629" cy="441629"/>
            <a:chOff x="0" y="0"/>
            <a:chExt cx="812800" cy="812800"/>
          </a:xfrm>
        </p:grpSpPr>
        <p:sp>
          <p:nvSpPr>
            <p:cNvPr id="18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9" name="TextBox 20"/>
            <p:cNvSpPr txBox="1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0" name="Group 18"/>
          <p:cNvGrpSpPr/>
          <p:nvPr/>
        </p:nvGrpSpPr>
        <p:grpSpPr>
          <a:xfrm>
            <a:off x="1182060" y="7762803"/>
            <a:ext cx="441629" cy="441629"/>
            <a:chOff x="0" y="0"/>
            <a:chExt cx="812800" cy="812800"/>
          </a:xfrm>
        </p:grpSpPr>
        <p:sp>
          <p:nvSpPr>
            <p:cNvPr id="21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2" name="TextBox 20"/>
            <p:cNvSpPr txBox="1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3" name="Group 18"/>
          <p:cNvGrpSpPr/>
          <p:nvPr/>
        </p:nvGrpSpPr>
        <p:grpSpPr>
          <a:xfrm>
            <a:off x="8064179" y="6276650"/>
            <a:ext cx="441629" cy="441629"/>
            <a:chOff x="0" y="0"/>
            <a:chExt cx="812800" cy="812800"/>
          </a:xfrm>
        </p:grpSpPr>
        <p:sp>
          <p:nvSpPr>
            <p:cNvPr id="24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5" name="TextBox 20"/>
            <p:cNvSpPr txBox="1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6" name="Group 18"/>
          <p:cNvGrpSpPr/>
          <p:nvPr/>
        </p:nvGrpSpPr>
        <p:grpSpPr>
          <a:xfrm>
            <a:off x="8064179" y="6967789"/>
            <a:ext cx="441629" cy="441629"/>
            <a:chOff x="0" y="0"/>
            <a:chExt cx="812800" cy="812800"/>
          </a:xfrm>
        </p:grpSpPr>
        <p:sp>
          <p:nvSpPr>
            <p:cNvPr id="27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8" name="TextBox 20"/>
            <p:cNvSpPr txBox="1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965" y="867264"/>
            <a:ext cx="525870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实验步骤</a:t>
            </a:r>
            <a:endParaRPr lang="en-US" sz="5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6868" y="376742"/>
            <a:ext cx="1800194" cy="18001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3A50FB">
                      <a:alpha val="70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985730" y="1866900"/>
            <a:ext cx="9601200" cy="7739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IIS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服务器的安装和配置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971550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IIS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服务器安装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971550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IIS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服务器配置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971550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网站管理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Apache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服务器的安装和配置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971550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Apache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服务器安装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971550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Apache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服务器配置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971550" lvl="1" indent="-514350">
              <a:lnSpc>
                <a:spcPct val="150000"/>
              </a:lnSpc>
              <a:buFont typeface="+mj-ea"/>
              <a:buAutoNum type="circleNumDbPlain"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网站管理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romanUcPeriod"/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扩展实验：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HTTP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协议分析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0" name="Group 2"/>
          <p:cNvGrpSpPr/>
          <p:nvPr/>
        </p:nvGrpSpPr>
        <p:grpSpPr>
          <a:xfrm rot="-10800000">
            <a:off x="15163800" y="1371771"/>
            <a:ext cx="7459502" cy="7459502"/>
            <a:chOff x="0" y="0"/>
            <a:chExt cx="812800" cy="812800"/>
          </a:xfrm>
        </p:grpSpPr>
        <p:sp>
          <p:nvSpPr>
            <p:cNvPr id="11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3A50FB">
                      <a:alpha val="435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12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965" y="867264"/>
            <a:ext cx="525870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实验要求</a:t>
            </a:r>
            <a:endParaRPr lang="en-US" sz="5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6868" y="376742"/>
            <a:ext cx="1800194" cy="18001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3A50FB">
                      <a:alpha val="70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828014" y="3255321"/>
            <a:ext cx="381950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未来工作计划</a:t>
            </a:r>
            <a:endParaRPr 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828014" y="3876660"/>
            <a:ext cx="4438440" cy="4049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演示文稿是一种实用的工具，可以是演示，演讲，报告等。大部分时间，它们都是在为观众服务。演示文稿是一种实用的工具，可以是演示，演讲，报告等。演示文稿是一种实用的工具，可以是演示，演讲，报告等。大部分时间，它们都是在为观众服务演示文稿是一种实用的工具，可以是演示，演讲，报告等。演示文稿是一种实用的工具，可以是演示，演讲，报告等。大部分时间，它们都是在为观众服务演示文稿是一种实用的工具，可以是演示，演讲，报告等。</a:t>
            </a:r>
            <a:endParaRPr lang="en-US" sz="17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828800" y="2667459"/>
            <a:ext cx="14100085" cy="5908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lnSpc>
                <a:spcPct val="150000"/>
              </a:lnSpc>
              <a:spcAft>
                <a:spcPts val="1800"/>
              </a:spcAft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基础分（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80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分）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>
              <a:lnSpc>
                <a:spcPct val="150000"/>
              </a:lnSpc>
              <a:spcBef>
                <a:spcPts val="200"/>
              </a:spcBef>
              <a:spcAft>
                <a:spcPts val="1800"/>
              </a:spcAft>
              <a:tabLst>
                <a:tab pos="1609725" algn="l"/>
                <a:tab pos="1609725" algn="l"/>
              </a:tabLst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完成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IIS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Apache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的正确配置，实现静态网页的访问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1">
              <a:lnSpc>
                <a:spcPct val="150000"/>
              </a:lnSpc>
              <a:spcBef>
                <a:spcPts val="200"/>
              </a:spcBef>
              <a:spcAft>
                <a:spcPts val="1800"/>
              </a:spcAft>
              <a:tabLst>
                <a:tab pos="1609725" algn="l"/>
                <a:tab pos="1609725" algn="l"/>
              </a:tabLst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扩展加分（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80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分以上）</a:t>
            </a:r>
            <a:endParaRPr lang="zh-CN" altLang="en-US" sz="4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lvl="2">
              <a:lnSpc>
                <a:spcPct val="150000"/>
              </a:lnSpc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（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 在实验报告中对比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IIS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和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Apache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的优缺点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（分点说明）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lvl="2">
              <a:lnSpc>
                <a:spcPct val="150000"/>
              </a:lnSpc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（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Apache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下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服务器的安装和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WEB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服务的配置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lvl="2">
              <a:lnSpc>
                <a:spcPct val="150000"/>
              </a:lnSpc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endParaRPr lang="zh-CN" altLang="en-US" sz="44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grpSp>
        <p:nvGrpSpPr>
          <p:cNvPr id="10" name="Group 18"/>
          <p:cNvGrpSpPr/>
          <p:nvPr/>
        </p:nvGrpSpPr>
        <p:grpSpPr>
          <a:xfrm>
            <a:off x="2277062" y="7048500"/>
            <a:ext cx="441629" cy="441629"/>
            <a:chOff x="0" y="0"/>
            <a:chExt cx="812800" cy="812800"/>
          </a:xfrm>
        </p:grpSpPr>
        <p:sp>
          <p:nvSpPr>
            <p:cNvPr id="11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20"/>
            <p:cNvSpPr txBox="1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3" name="Group 18"/>
          <p:cNvGrpSpPr/>
          <p:nvPr/>
        </p:nvGrpSpPr>
        <p:grpSpPr>
          <a:xfrm>
            <a:off x="2277062" y="4006878"/>
            <a:ext cx="441629" cy="441629"/>
            <a:chOff x="0" y="0"/>
            <a:chExt cx="812800" cy="812800"/>
          </a:xfrm>
        </p:grpSpPr>
        <p:sp>
          <p:nvSpPr>
            <p:cNvPr id="17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8" name="TextBox 20"/>
            <p:cNvSpPr txBox="1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2289266" y="6244834"/>
            <a:ext cx="441629" cy="441629"/>
            <a:chOff x="0" y="0"/>
            <a:chExt cx="812800" cy="812800"/>
          </a:xfrm>
        </p:grpSpPr>
        <p:sp>
          <p:nvSpPr>
            <p:cNvPr id="20" name="Freeform 1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gradFill rotWithShape="1">
              <a:gsLst>
                <a:gs pos="0">
                  <a:srgbClr val="1540DD">
                    <a:alpha val="100000"/>
                  </a:srgbClr>
                </a:gs>
                <a:gs pos="100000">
                  <a:srgbClr val="5B70EB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21" name="TextBox 20"/>
            <p:cNvSpPr txBox="1"/>
            <p:nvPr/>
          </p:nvSpPr>
          <p:spPr>
            <a:xfrm>
              <a:off x="139700" y="111125"/>
              <a:ext cx="533400" cy="5619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60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6" name="Group 2"/>
          <p:cNvGrpSpPr/>
          <p:nvPr/>
        </p:nvGrpSpPr>
        <p:grpSpPr>
          <a:xfrm rot="-10800000">
            <a:off x="13683802" y="7926423"/>
            <a:ext cx="7459502" cy="7459502"/>
            <a:chOff x="0" y="0"/>
            <a:chExt cx="812800" cy="812800"/>
          </a:xfrm>
        </p:grpSpPr>
        <p:sp>
          <p:nvSpPr>
            <p:cNvPr id="22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3A50FB">
                      <a:alpha val="435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23" name="TextBox 4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964" y="867264"/>
            <a:ext cx="16434169" cy="7904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实验扩展一：</a:t>
            </a:r>
            <a:endParaRPr lang="zh-CN" altLang="en-US" sz="5400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6868" y="376742"/>
            <a:ext cx="1800194" cy="18001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3A50FB">
                      <a:alpha val="70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 rot="1004173">
            <a:off x="14658697" y="-2086419"/>
            <a:ext cx="3797065" cy="3797065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00" cap="sq">
              <a:gradFill>
                <a:gsLst>
                  <a:gs pos="0">
                    <a:srgbClr val="3A50FB">
                      <a:alpha val="435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5400000"/>
              </a:gra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838200" y="2324100"/>
            <a:ext cx="16576040" cy="62979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获取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HTTP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协议请求报文（以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GET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命令为例）及应答报文并进行分析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安装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Wireshark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，并熟悉使用流程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;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0640" lvl="1">
              <a:lnSpc>
                <a:spcPct val="150000"/>
              </a:lnSpc>
              <a:spcBef>
                <a:spcPts val="1000"/>
              </a:spcBef>
              <a:tabLst>
                <a:tab pos="1609725" algn="l"/>
                <a:tab pos="1609725" algn="l"/>
              </a:tabLst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实验步骤：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25780" lvl="2" indent="-51308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打开浏览器，清空浏览器缓存。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25780" lvl="2" indent="-51308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打开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Wireshark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，启动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Wireshark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的分组捕获器。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25780" lvl="2" indent="-513080"/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在浏览器地址栏中输入如下网址： 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25780" lvl="2" indent="457200"/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http://gaia.cs.umass.edu/wireshark-labs/HTTP-wireshark-file1.html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27050" lvl="2" indent="-514350" algn="l" fontAlgn="auto">
              <a:lnSpc>
                <a:spcPct val="100000"/>
              </a:lnSpc>
              <a:spcBef>
                <a:spcPts val="1800"/>
              </a:spcBef>
              <a:buClrTx/>
              <a:buSzTx/>
              <a:buFont typeface="+mj-lt"/>
              <a:buAutoNum type="arabicPeriod" startAt="3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停止分组捕获。在过滤筛选栏中输入“http”，分组列表子窗口将只显示所捕获到的 HTTP 报文。 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965" y="867264"/>
            <a:ext cx="525870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实验扩展一：</a:t>
            </a:r>
            <a:endParaRPr lang="en-US" sz="5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6868" y="376742"/>
            <a:ext cx="1800194" cy="18001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3A50FB">
                      <a:alpha val="70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828014" y="3255321"/>
            <a:ext cx="381950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未来工作计划</a:t>
            </a:r>
            <a:endParaRPr 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828014" y="3876660"/>
            <a:ext cx="4438440" cy="4049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演示文稿是一种实用的工具，可以是演示，演讲，报告等。大部分时间，它们都是在为观众服务。演示文稿是一种实用的工具，可以是演示，演讲，报告等。演示文稿是一种实用的工具，可以是演示，演讲，报告等。大部分时间，它们都是在为观众服务演示文稿是一种实用的工具，可以是演示，演讲，报告等。演示文稿是一种实用的工具，可以是演示，演讲，报告等。大部分时间，它们都是在为观众服务演示文稿是一种实用的工具，可以是演示，演讲，报告等。</a:t>
            </a:r>
            <a:endParaRPr lang="en-US" sz="17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447610" y="1866900"/>
            <a:ext cx="15544800" cy="795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实验完成后在实验报告中回答下面问题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indent="0" fontAlgn="auto">
              <a:lnSpc>
                <a:spcPct val="120000"/>
              </a:lnSpc>
              <a:spcBef>
                <a:spcPts val="0"/>
              </a:spcBef>
            </a:pP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3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每个问题都需要在截获数据报中找到，粘贴回答依据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42545" lvl="1" indent="-2540" fontAlgn="auto">
              <a:lnSpc>
                <a:spcPct val="140000"/>
              </a:lnSpc>
              <a:buFont typeface="+mj-lt"/>
              <a:buAutoNum type="arabicPeriod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浏览器和服务器所运行的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HTTP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版本号是多少？</a:t>
            </a:r>
            <a:endParaRPr lang="zh-CN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2545" lvl="1" indent="-2540" fontAlgn="auto">
              <a:lnSpc>
                <a:spcPct val="140000"/>
              </a:lnSpc>
              <a:buFont typeface="+mj-lt"/>
              <a:buAutoNum type="arabicPeriod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当前收到数据包的浏览器所支持的语言类型是什么？</a:t>
            </a:r>
            <a:endParaRPr lang="zh-CN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2545" lvl="1" indent="-2540" fontAlgn="auto">
              <a:lnSpc>
                <a:spcPct val="140000"/>
              </a:lnSpc>
              <a:buFont typeface="+mj-lt"/>
              <a:buAutoNum type="arabicPeriod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客户端和服务器的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地址分别是多少？</a:t>
            </a:r>
            <a:endParaRPr lang="zh-CN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2545" lvl="1" indent="-2540" fontAlgn="auto">
              <a:lnSpc>
                <a:spcPct val="140000"/>
              </a:lnSpc>
              <a:buFont typeface="+mj-lt"/>
              <a:buAutoNum type="arabicPeriod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当前截获的数据包的浏览器所支持的压缩方式是什么？</a:t>
            </a:r>
            <a:endParaRPr lang="zh-CN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2545" lvl="1" indent="-2540" fontAlgn="auto">
              <a:lnSpc>
                <a:spcPct val="140000"/>
              </a:lnSpc>
              <a:buFont typeface="+mj-lt"/>
              <a:buAutoNum type="arabicPeriod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浏览器支持的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MIME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的类型是什么？</a:t>
            </a:r>
            <a:endParaRPr lang="zh-CN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2545" lvl="1" indent="-2540" fontAlgn="auto">
              <a:lnSpc>
                <a:spcPct val="140000"/>
              </a:lnSpc>
              <a:buFont typeface="+mj-lt"/>
              <a:buAutoNum type="arabicPeriod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服务器返回对象最后修改的时间是多少？服务器返回给浏览器的内容共多少字节？</a:t>
            </a:r>
            <a:endParaRPr lang="zh-CN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2545" lvl="1" indent="-2540" fontAlgn="auto">
              <a:lnSpc>
                <a:spcPct val="140000"/>
              </a:lnSpc>
              <a:buFont typeface="+mj-lt"/>
              <a:buAutoNum type="arabicPeriod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通过什么信息可以判断服务器是否成功返回客户端所需要的信息？ </a:t>
            </a:r>
            <a:endParaRPr lang="zh-CN" altLang="zh-CN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2545" lvl="1" indent="-2540" fontAlgn="auto">
              <a:lnSpc>
                <a:spcPct val="140000"/>
              </a:lnSpc>
              <a:buFont typeface="+mj-lt"/>
              <a:buAutoNum type="arabicPeriod"/>
            </a:pP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浏览器和服务器之间采用持久连接还是非持久连接的方式工作？如何从截获的数据包中进行判断？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3851" y="2933703"/>
            <a:ext cx="14362965" cy="33185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965" y="867264"/>
            <a:ext cx="525870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实验扩展二：</a:t>
            </a:r>
            <a:endParaRPr lang="en-US" sz="5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6868" y="376742"/>
            <a:ext cx="1800194" cy="18001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3A50FB">
                      <a:alpha val="70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1066800" y="2247900"/>
            <a:ext cx="15812770" cy="7052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使用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Wireshark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抓包分析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HTTP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协议 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 HTTP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的条件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GET/response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交互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6355" lvl="1">
              <a:lnSpc>
                <a:spcPct val="150000"/>
              </a:lnSpc>
              <a:spcBef>
                <a:spcPts val="1000"/>
              </a:spcBef>
              <a:tabLst>
                <a:tab pos="1609725" algn="l"/>
                <a:tab pos="1609725" algn="l"/>
              </a:tabLst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实验步骤：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60705" lvl="2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打开浏览器，清空浏览器缓存。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60705" lvl="2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打开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Wireshark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，启动分组捕获器。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60705" lvl="2" indent="-51435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在浏览器地址栏中输入如下网址： 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03555" lvl="3" indent="457200">
              <a:lnSpc>
                <a:spcPct val="150000"/>
              </a:lnSpc>
              <a:buFont typeface="+mj-lt"/>
              <a:buNone/>
            </a:pPr>
            <a:r>
              <a:rPr lang="en-US" altLang="zh-CN" sz="3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gaia.cs.umass.edu/</a:t>
            </a:r>
            <a:r>
              <a:rPr lang="en-US" altLang="zh-CN" sz="3200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wireshark</a:t>
            </a:r>
            <a:r>
              <a:rPr lang="en-US" altLang="zh-CN" sz="3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-labs/HTTP-wireshark-file2.html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。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60705" lvl="2" indent="-514350" algn="l">
              <a:lnSpc>
                <a:spcPct val="150000"/>
              </a:lnSpc>
              <a:buClrTx/>
              <a:buSzTx/>
              <a:buFont typeface="+mj-lt"/>
              <a:buAutoNum type="arabicPeriod" startAt="4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在浏览器地址栏中重新输入相同的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URL 或单击浏览器中的“刷新” 按钮。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560705" lvl="2" indent="-514350" algn="l">
              <a:lnSpc>
                <a:spcPct val="150000"/>
              </a:lnSpc>
              <a:buClrTx/>
              <a:buSzTx/>
              <a:buFont typeface="+mj-lt"/>
              <a:buAutoNum type="arabicPeriod" startAt="4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停止分组捕获。在过滤筛选栏中输入“http”，分组列表子窗口将只显示所捕获到的 HTTP 报文。 </a:t>
            </a:r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965" y="867264"/>
            <a:ext cx="525870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实验扩展二：</a:t>
            </a:r>
            <a:endParaRPr lang="en-US" sz="5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6868" y="376742"/>
            <a:ext cx="1800194" cy="18001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3A50FB">
                      <a:alpha val="70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828014" y="3255321"/>
            <a:ext cx="381950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未来工作计划</a:t>
            </a:r>
            <a:endParaRPr 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828014" y="3876660"/>
            <a:ext cx="4438440" cy="4049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演示文稿是一种实用的工具，可以是演示，演讲，报告等。大部分时间，它们都是在为观众服务。演示文稿是一种实用的工具，可以是演示，演讲，报告等。演示文稿是一种实用的工具，可以是演示，演讲，报告等。大部分时间，它们都是在为观众服务演示文稿是一种实用的工具，可以是演示，演讲，报告等。演示文稿是一种实用的工具，可以是演示，演讲，报告等。大部分时间，它们都是在为观众服务演示文稿是一种实用的工具，可以是演示，演讲，报告等。</a:t>
            </a:r>
            <a:endParaRPr lang="en-US" sz="17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752600" y="1943100"/>
            <a:ext cx="14931390" cy="64839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实验完成后在实验报告中回答下面问题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</a:t>
            </a:r>
            <a:r>
              <a:rPr lang="zh-CN" altLang="en-US" sz="36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每个问题都需要在截获数据报中找到，粘贴回答依据</a:t>
            </a:r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zh-CN" altLang="en-US" sz="4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indent="-457200" fontAlgn="auto">
              <a:lnSpc>
                <a:spcPct val="14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分析浏览器向服务器发出的第一个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HTTP GET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请求的内容，在该请求报文中，是否有一行是：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If-Modified-Since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?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503050405090304" pitchFamily="18" charset="0"/>
                <a:sym typeface="+mn-ea"/>
              </a:rPr>
              <a:t>为什么？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503050405090304" pitchFamily="18" charset="0"/>
              <a:sym typeface="+mn-ea"/>
            </a:endParaRPr>
          </a:p>
          <a:p>
            <a:pPr marL="457200" indent="-457200" fontAlgn="auto">
              <a:lnSpc>
                <a:spcPct val="14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分析浏览器第二次向服务器发出的相同请求的报文，在该请求报文中是否有一行是：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If-Modified-Since?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如果有，在该首部行后面跟着的信息是什么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?</a:t>
            </a:r>
            <a:endParaRPr lang="en-US" altLang="zh-CN" sz="32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457200" indent="-457200" fontAlgn="auto">
              <a:lnSpc>
                <a:spcPct val="140000"/>
              </a:lnSpc>
              <a:spcBef>
                <a:spcPts val="1000"/>
              </a:spcBef>
              <a:buFont typeface="+mj-lt"/>
              <a:buAutoNum type="arabicPeriod"/>
            </a:pP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服务器对第二次相同的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HTTP GET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请求的响应报文中的 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HTTP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状态码是多少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?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服务器是否明确返回了文件的内容</a:t>
            </a:r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? </a:t>
            </a:r>
            <a:r>
              <a:rPr lang="zh-CN" altLang="en-US" sz="32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请解释。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76965" y="867264"/>
            <a:ext cx="5258706" cy="819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0"/>
              </a:lnSpc>
            </a:pPr>
            <a:r>
              <a:rPr lang="zh-CN" altLang="en-US" sz="5400" b="1" dirty="0">
                <a:solidFill>
                  <a:srgbClr val="1E1E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提交要求</a:t>
            </a:r>
            <a:endParaRPr lang="en-US" sz="5400" b="1" dirty="0">
              <a:solidFill>
                <a:srgbClr val="1E1E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476868" y="376742"/>
            <a:ext cx="1800194" cy="1800194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23850" cap="sq">
              <a:gradFill>
                <a:gsLst>
                  <a:gs pos="0">
                    <a:srgbClr val="3A50FB">
                      <a:alpha val="7000"/>
                    </a:srgbClr>
                  </a:gs>
                  <a:gs pos="100000">
                    <a:srgbClr val="1540DD">
                      <a:alpha val="100000"/>
                    </a:srgbClr>
                  </a:gs>
                </a:gsLst>
                <a:lin ang="0"/>
              </a:gra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76200" y="-9525"/>
              <a:ext cx="660400" cy="7461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75"/>
                </a:lnSpc>
              </a:pPr>
              <a:endParaRPr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828014" y="3255321"/>
            <a:ext cx="3819502" cy="5101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0"/>
              </a:lnSpc>
            </a:pPr>
            <a:r>
              <a:rPr lang="en-US" sz="280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 Bold"/>
                <a:sym typeface="思源黑体 2 Bold"/>
              </a:rPr>
              <a:t>未来工作计划</a:t>
            </a:r>
            <a:endParaRPr lang="en-US" sz="280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 Bold"/>
              <a:sym typeface="思源黑体 2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9828014" y="3876660"/>
            <a:ext cx="4438440" cy="40497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855"/>
              </a:lnSpc>
            </a:pPr>
            <a:r>
              <a:rPr lang="en-US" sz="17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思源黑体 2"/>
                <a:sym typeface="思源黑体 2"/>
              </a:rPr>
              <a:t>演示文稿是一种实用的工具，可以是演示，演讲，报告等。大部分时间，它们都是在为观众服务。演示文稿是一种实用的工具，可以是演示，演讲，报告等。演示文稿是一种实用的工具，可以是演示，演讲，报告等。大部分时间，它们都是在为观众服务演示文稿是一种实用的工具，可以是演示，演讲，报告等。演示文稿是一种实用的工具，可以是演示，演讲，报告等。大部分时间，它们都是在为观众服务演示文稿是一种实用的工具，可以是演示，演讲，报告等。</a:t>
            </a:r>
            <a:endParaRPr lang="en-US" sz="17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思源黑体 2"/>
              <a:sym typeface="思源黑体 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410200" y="1104900"/>
            <a:ext cx="11774244" cy="7959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spcBef>
                <a:spcPts val="200"/>
              </a:spcBef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提交时间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indent="0" fontAlgn="auto">
              <a:lnSpc>
                <a:spcPct val="135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altLang="zh-CN" sz="40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本周六晚</a:t>
            </a:r>
            <a:r>
              <a:rPr lang="en-US" altLang="zh-CN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24:00</a:t>
            </a:r>
            <a:r>
              <a:rPr lang="zh-CN" altLang="en-US" sz="3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前截止</a:t>
            </a:r>
            <a:endParaRPr lang="zh-CN" altLang="en-US" sz="3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ts val="200"/>
              </a:spcBef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提交邮箱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>
              <a:lnSpc>
                <a:spcPct val="150000"/>
              </a:lnSpc>
              <a:spcBef>
                <a:spcPts val="200"/>
              </a:spcBef>
            </a:pP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1660773960@qq.om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（由组长提交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压缩包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）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ts val="200"/>
              </a:spcBef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压缩包命名格式</a:t>
            </a:r>
            <a:r>
              <a:rPr lang="zh-CN" altLang="en-US" sz="4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endParaRPr lang="en-US" altLang="zh-CN" sz="4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indent="0" fontAlgn="auto">
              <a:lnSpc>
                <a:spcPct val="130000"/>
              </a:lnSpc>
              <a:spcBef>
                <a:spcPts val="0"/>
              </a:spcBef>
            </a:pPr>
            <a:r>
              <a:rPr lang="en-US" altLang="zh-CN" sz="40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计网实验报告第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次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已收齐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indent="0" fontAlgn="auto">
              <a:lnSpc>
                <a:spcPct val="130000"/>
              </a:lnSpc>
              <a:spcBef>
                <a:spcPts val="0"/>
              </a:spcBef>
            </a:pP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计网实验报告第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次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组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_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未交同学名字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0">
              <a:lnSpc>
                <a:spcPct val="150000"/>
              </a:lnSpc>
              <a:spcBef>
                <a:spcPts val="200"/>
              </a:spcBef>
            </a:pP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个人作业命名格式：</a:t>
            </a:r>
            <a:endParaRPr lang="en-US" altLang="zh-CN" sz="4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lvl="0" algn="l">
              <a:lnSpc>
                <a:spcPct val="13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	计网实验报告第1次_2023141460001_张三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9"/>
          <p:cNvSpPr/>
          <p:nvPr/>
        </p:nvSpPr>
        <p:spPr>
          <a:xfrm>
            <a:off x="8153400" y="3162300"/>
            <a:ext cx="5716905" cy="774700"/>
          </a:xfrm>
          <a:prstGeom prst="roundRect">
            <a:avLst/>
          </a:prstGeom>
          <a:solidFill>
            <a:srgbClr val="1943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次实验仅提交电子版</a:t>
            </a:r>
            <a:endParaRPr lang="zh-CN" altLang="en-US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2278.0325459317582,&quot;width&quot;:2278.032545931758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4745</Words>
  <Application>WPS 演示</Application>
  <PresentationFormat>自定义</PresentationFormat>
  <Paragraphs>284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54" baseType="lpstr">
      <vt:lpstr>Arial</vt:lpstr>
      <vt:lpstr>宋体</vt:lpstr>
      <vt:lpstr>Wingdings</vt:lpstr>
      <vt:lpstr>微软雅黑</vt:lpstr>
      <vt:lpstr>思源黑体 1 Bold</vt:lpstr>
      <vt:lpstr>汉仪中黑KW</vt:lpstr>
      <vt:lpstr>思源黑体 2 Medium</vt:lpstr>
      <vt:lpstr>Akzidenz-Grotesk</vt:lpstr>
      <vt:lpstr>Thonburi</vt:lpstr>
      <vt:lpstr>思源黑体 2 Bold</vt:lpstr>
      <vt:lpstr>Akzidenz-Grotesk Bold</vt:lpstr>
      <vt:lpstr>思源黑体 2</vt:lpstr>
      <vt:lpstr>宋体</vt:lpstr>
      <vt:lpstr>Arial Unicode MS</vt:lpstr>
      <vt:lpstr>Calibri</vt:lpstr>
      <vt:lpstr>Helvetica Neue</vt:lpstr>
      <vt:lpstr>汉仪书宋二KW</vt:lpstr>
      <vt:lpstr>Times New Roman</vt:lpstr>
      <vt:lpstr>Akzidenz-Grotesk</vt:lpstr>
      <vt:lpstr>Akzidenz-Grotesk Bold</vt:lpstr>
      <vt:lpstr>Wingdings</vt:lpstr>
      <vt:lpstr>思源黑体 1 Bold</vt:lpstr>
      <vt:lpstr>思源黑体 2</vt:lpstr>
      <vt:lpstr>思源黑体 2 Bold</vt:lpstr>
      <vt:lpstr>思源黑体 2 Medium</vt:lpstr>
      <vt:lpstr>苹方-简</vt:lpstr>
      <vt:lpstr>仿宋_GB2312</vt:lpstr>
      <vt:lpstr>方正楷体_GB2312</vt:lpstr>
      <vt:lpstr>华文楷体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WYM</dc:creator>
  <cp:lastModifiedBy>朱敏</cp:lastModifiedBy>
  <cp:revision>91</cp:revision>
  <dcterms:created xsi:type="dcterms:W3CDTF">2025-10-20T07:22:54Z</dcterms:created>
  <dcterms:modified xsi:type="dcterms:W3CDTF">2025-10-20T07:22:54Z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4A5AEDB7ADDA15438CD6F56814C45721_42</vt:lpwstr>
  </property>
  <property fmtid="{D5CDD505-2E9C-101B-9397-08002B2CF9AE}" pid="3" name="KSOProductBuildVer">
    <vt:lpwstr>2052-12.1.21861.21861</vt:lpwstr>
  </property>
</Properties>
</file>