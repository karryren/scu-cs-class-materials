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25" r:id="rId2"/>
    <p:sldId id="259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23" r:id="rId11"/>
    <p:sldId id="326" r:id="rId12"/>
    <p:sldId id="327" r:id="rId13"/>
    <p:sldId id="318" r:id="rId14"/>
    <p:sldId id="319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5" d="100"/>
          <a:sy n="85" d="100"/>
        </p:scale>
        <p:origin x="413" y="53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 b="1"/>
            </a:lvl1pPr>
            <a:lvl2pPr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20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7008" y="3898563"/>
            <a:ext cx="4936351" cy="532555"/>
            <a:chOff x="0" y="0"/>
            <a:chExt cx="812800" cy="160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60125"/>
            </a:xfrm>
            <a:custGeom>
              <a:avLst/>
              <a:gdLst/>
              <a:ahLst/>
              <a:cxnLst/>
              <a:rect l="l" t="t" r="r" b="b"/>
              <a:pathLst>
                <a:path w="812800" h="160125">
                  <a:moveTo>
                    <a:pt x="0" y="0"/>
                  </a:moveTo>
                  <a:lnTo>
                    <a:pt x="812800" y="0"/>
                  </a:lnTo>
                  <a:lnTo>
                    <a:pt x="812800" y="160125"/>
                  </a:lnTo>
                  <a:lnTo>
                    <a:pt x="0" y="160125"/>
                  </a:lnTo>
                  <a:close/>
                </a:path>
              </a:pathLst>
            </a:custGeom>
            <a:solidFill>
              <a:srgbClr val="1540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1887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8518" y="2547308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第</a:t>
            </a:r>
            <a:r>
              <a:rPr lang="en-US" altLang="zh-CN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4</a:t>
            </a: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次实验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13" y="4060435"/>
            <a:ext cx="48971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6"/>
              </a:lnSpc>
            </a:pP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ICMP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协议分析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71" name="TextBox 271"/>
          <p:cNvSpPr txBox="1"/>
          <p:nvPr/>
        </p:nvSpPr>
        <p:spPr>
          <a:xfrm>
            <a:off x="868518" y="6076351"/>
            <a:ext cx="1911722" cy="42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任课教师：朱敏老师</a:t>
            </a:r>
            <a:endParaRPr lang="en-US" altLang="zh-CN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实验助教：杨阳</a:t>
            </a:r>
            <a:endParaRPr lang="en-US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</p:txBody>
      </p: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: 空心 7">
            <a:extLst>
              <a:ext uri="{FF2B5EF4-FFF2-40B4-BE49-F238E27FC236}">
                <a16:creationId xmlns:a16="http://schemas.microsoft.com/office/drawing/2014/main" id="{EB2D9353-5849-7C78-5BCF-39812AB6BD15}"/>
              </a:ext>
            </a:extLst>
          </p:cNvPr>
          <p:cNvSpPr/>
          <p:nvPr/>
        </p:nvSpPr>
        <p:spPr>
          <a:xfrm rot="12130393">
            <a:off x="332943" y="178447"/>
            <a:ext cx="1249544" cy="1242471"/>
          </a:xfrm>
          <a:prstGeom prst="donut">
            <a:avLst>
              <a:gd name="adj" fmla="val 17585"/>
            </a:avLst>
          </a:prstGeom>
          <a:gradFill>
            <a:gsLst>
              <a:gs pos="0">
                <a:srgbClr val="D2D8FD"/>
              </a:gs>
              <a:gs pos="100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917977" y="578176"/>
            <a:ext cx="5076423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上次实验的情况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CA23E8-923E-BB02-DA81-391FBEE254EF}"/>
              </a:ext>
            </a:extLst>
          </p:cNvPr>
          <p:cNvSpPr txBox="1"/>
          <p:nvPr/>
        </p:nvSpPr>
        <p:spPr>
          <a:xfrm>
            <a:off x="1213053" y="1733495"/>
            <a:ext cx="429636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进步较大，大部分同学都做到了：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2C1C8-CD43-FC7B-9C60-1463998FD1FC}"/>
              </a:ext>
            </a:extLst>
          </p:cNvPr>
          <p:cNvSpPr txBox="1"/>
          <p:nvPr/>
        </p:nvSpPr>
        <p:spPr>
          <a:xfrm>
            <a:off x="1260950" y="2200351"/>
            <a:ext cx="4521285" cy="2403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实验内容全部完成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图文并茂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图中关键信息标注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标题分级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步骤序号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EBEF-1B81-7ABE-BFF7-A513454F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: 空心 5">
            <a:extLst>
              <a:ext uri="{FF2B5EF4-FFF2-40B4-BE49-F238E27FC236}">
                <a16:creationId xmlns:a16="http://schemas.microsoft.com/office/drawing/2014/main" id="{6D2C9547-7A45-6247-2236-ABBDD99CB5A1}"/>
              </a:ext>
            </a:extLst>
          </p:cNvPr>
          <p:cNvSpPr/>
          <p:nvPr/>
        </p:nvSpPr>
        <p:spPr>
          <a:xfrm rot="12130393">
            <a:off x="305864" y="140057"/>
            <a:ext cx="1366249" cy="1358515"/>
          </a:xfrm>
          <a:prstGeom prst="donut">
            <a:avLst>
              <a:gd name="adj" fmla="val 13847"/>
            </a:avLst>
          </a:prstGeom>
          <a:gradFill>
            <a:gsLst>
              <a:gs pos="0">
                <a:srgbClr val="D2D8FD"/>
              </a:gs>
              <a:gs pos="94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71C8FC2-790D-B4FE-912C-A30263B49F4F}"/>
              </a:ext>
            </a:extLst>
          </p:cNvPr>
          <p:cNvSpPr txBox="1"/>
          <p:nvPr/>
        </p:nvSpPr>
        <p:spPr>
          <a:xfrm>
            <a:off x="917977" y="578176"/>
            <a:ext cx="3505804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实验背景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5ADEBB0-F7B1-DD89-ECCC-8E90272523F4}"/>
              </a:ext>
            </a:extLst>
          </p:cNvPr>
          <p:cNvSpPr txBox="1">
            <a:spLocks/>
          </p:cNvSpPr>
          <p:nvPr/>
        </p:nvSpPr>
        <p:spPr>
          <a:xfrm>
            <a:off x="304800" y="1905000"/>
            <a:ext cx="11277600" cy="2641600"/>
          </a:xfr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815" lvl="1" indent="0">
              <a:lnSpc>
                <a:spcPct val="20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ICMP(Internet Control Message Protocol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，网际控制协议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用于在</a:t>
            </a:r>
            <a:r>
              <a:rPr lang="en-US" altLang="zh-CN" sz="2400" b="1" u="sng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400" b="1" u="sng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主机，路由器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之间传递控制信息。由于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是无连接、不可靠的传输协议，所以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的目的是帮助主机和路由器了解数据报在传送过程中出现故障的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具体原因及位置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允许主机或路由器报告差错信息和提供有关异常的报告，因此，其在网络的应用非常广泛。例如，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网络测试工具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Traceroute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的重要应用。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6407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0DED8-C9BE-21FC-6273-C24491A3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: 空心 5">
            <a:extLst>
              <a:ext uri="{FF2B5EF4-FFF2-40B4-BE49-F238E27FC236}">
                <a16:creationId xmlns:a16="http://schemas.microsoft.com/office/drawing/2014/main" id="{DBF13D17-AB98-2DF8-E400-80BB926F064F}"/>
              </a:ext>
            </a:extLst>
          </p:cNvPr>
          <p:cNvSpPr/>
          <p:nvPr/>
        </p:nvSpPr>
        <p:spPr>
          <a:xfrm rot="12130393">
            <a:off x="305864" y="140057"/>
            <a:ext cx="1366249" cy="1358515"/>
          </a:xfrm>
          <a:prstGeom prst="donut">
            <a:avLst>
              <a:gd name="adj" fmla="val 13847"/>
            </a:avLst>
          </a:prstGeom>
          <a:gradFill>
            <a:gsLst>
              <a:gs pos="0">
                <a:srgbClr val="D2D8FD"/>
              </a:gs>
              <a:gs pos="94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66F4FA2D-1AF2-0478-22FA-0BA2FC5188F6}"/>
              </a:ext>
            </a:extLst>
          </p:cNvPr>
          <p:cNvSpPr txBox="1"/>
          <p:nvPr/>
        </p:nvSpPr>
        <p:spPr>
          <a:xfrm>
            <a:off x="917977" y="578176"/>
            <a:ext cx="3505804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实验背景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57AC26-3CF8-5DAB-AF6D-A8B7C367B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81" y="1534191"/>
            <a:ext cx="7772400" cy="44196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386BECC-4CF3-8FCC-1448-A65AA3172A1F}"/>
              </a:ext>
            </a:extLst>
          </p:cNvPr>
          <p:cNvSpPr txBox="1"/>
          <p:nvPr/>
        </p:nvSpPr>
        <p:spPr>
          <a:xfrm>
            <a:off x="1676400" y="62230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ICMP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通信平稳运行的辅助协议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8775BB-C96D-6923-D1C0-984E03B7A727}"/>
              </a:ext>
            </a:extLst>
          </p:cNvPr>
          <p:cNvSpPr txBox="1"/>
          <p:nvPr/>
        </p:nvSpPr>
        <p:spPr>
          <a:xfrm>
            <a:off x="8382000" y="2322863"/>
            <a:ext cx="3348830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ICMP 协议是为了辅助IP 协议，交换各种各样的控制信息而被制造出来的。</a:t>
            </a:r>
          </a:p>
        </p:txBody>
      </p:sp>
    </p:spTree>
    <p:extLst>
      <p:ext uri="{BB962C8B-B14F-4D97-AF65-F5344CB8AC3E}">
        <p14:creationId xmlns:p14="http://schemas.microsoft.com/office/powerpoint/2010/main" val="167130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08813-6BEB-8A29-8720-F24DFB69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: 空心 5">
            <a:extLst>
              <a:ext uri="{FF2B5EF4-FFF2-40B4-BE49-F238E27FC236}">
                <a16:creationId xmlns:a16="http://schemas.microsoft.com/office/drawing/2014/main" id="{C2B1D7D3-7552-CE59-AE6F-B629A2B8A773}"/>
              </a:ext>
            </a:extLst>
          </p:cNvPr>
          <p:cNvSpPr/>
          <p:nvPr/>
        </p:nvSpPr>
        <p:spPr>
          <a:xfrm rot="12130393">
            <a:off x="305864" y="140057"/>
            <a:ext cx="1366249" cy="1358515"/>
          </a:xfrm>
          <a:prstGeom prst="donut">
            <a:avLst>
              <a:gd name="adj" fmla="val 13847"/>
            </a:avLst>
          </a:prstGeom>
          <a:gradFill>
            <a:gsLst>
              <a:gs pos="0">
                <a:srgbClr val="D2D8FD"/>
              </a:gs>
              <a:gs pos="94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AEF6166-8EDB-71AA-975D-64D81AB67E39}"/>
              </a:ext>
            </a:extLst>
          </p:cNvPr>
          <p:cNvSpPr txBox="1"/>
          <p:nvPr/>
        </p:nvSpPr>
        <p:spPr>
          <a:xfrm>
            <a:off x="917977" y="578176"/>
            <a:ext cx="3505804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实验背景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BE86318-29D6-B784-87FD-94F01E93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60270" y="5685499"/>
            <a:ext cx="1774299" cy="143933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6AFB3F-00B1-FC7A-6456-8A8F3F380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209939"/>
            <a:ext cx="6400800" cy="39363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C5585D3-A614-576A-48BE-EF87B62300D9}"/>
              </a:ext>
            </a:extLst>
          </p:cNvPr>
          <p:cNvSpPr txBox="1"/>
          <p:nvPr/>
        </p:nvSpPr>
        <p:spPr>
          <a:xfrm>
            <a:off x="609247" y="2966852"/>
            <a:ext cx="4011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ICMP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大致两种利用模式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9F7641-B087-E468-E6F8-FDB75DB4436A}"/>
              </a:ext>
            </a:extLst>
          </p:cNvPr>
          <p:cNvSpPr txBox="1"/>
          <p:nvPr/>
        </p:nvSpPr>
        <p:spPr>
          <a:xfrm>
            <a:off x="355600" y="3891148"/>
            <a:ext cx="11836400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 大致分成两种功能：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差错通知和信息查询</a:t>
            </a:r>
          </a:p>
          <a:p>
            <a:pPr marL="381019" indent="-381019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：给送信者的错误通知。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数据包被对方计算机处理的过程中，发生了什么错误时被使用。不仅传送发生了错误这个事实，也传送错误原因等消息。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19" indent="-381019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：送信者的信息查询。送信方的计算机向对方计算机询问信息时被使用。被询问的种类十分丰富。例如：有目标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地址的机器是否存在这种基本确认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208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959B-6FF5-1B98-797B-34F03565D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: 空心 5">
            <a:extLst>
              <a:ext uri="{FF2B5EF4-FFF2-40B4-BE49-F238E27FC236}">
                <a16:creationId xmlns:a16="http://schemas.microsoft.com/office/drawing/2014/main" id="{86A6EFC8-A793-BE64-80AB-619E34578781}"/>
              </a:ext>
            </a:extLst>
          </p:cNvPr>
          <p:cNvSpPr/>
          <p:nvPr/>
        </p:nvSpPr>
        <p:spPr>
          <a:xfrm rot="12130393">
            <a:off x="305864" y="140057"/>
            <a:ext cx="1366249" cy="1358515"/>
          </a:xfrm>
          <a:prstGeom prst="donut">
            <a:avLst>
              <a:gd name="adj" fmla="val 13847"/>
            </a:avLst>
          </a:prstGeom>
          <a:gradFill>
            <a:gsLst>
              <a:gs pos="0">
                <a:srgbClr val="D2D8FD"/>
              </a:gs>
              <a:gs pos="94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FB655B2-B21F-DD40-C9A3-05AE381F71C4}"/>
              </a:ext>
            </a:extLst>
          </p:cNvPr>
          <p:cNvSpPr txBox="1"/>
          <p:nvPr/>
        </p:nvSpPr>
        <p:spPr>
          <a:xfrm>
            <a:off x="917977" y="578176"/>
            <a:ext cx="3505804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实验原理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3CA4854-60BC-1FF1-C3AD-C9EB0D8150CE}"/>
              </a:ext>
            </a:extLst>
          </p:cNvPr>
          <p:cNvSpPr txBox="1">
            <a:spLocks/>
          </p:cNvSpPr>
          <p:nvPr/>
        </p:nvSpPr>
        <p:spPr>
          <a:xfrm>
            <a:off x="762000" y="1706156"/>
            <a:ext cx="10312400" cy="328689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933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(Packet Internet Groper)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，是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的一个重要应用，用来</a:t>
            </a:r>
            <a:r>
              <a:rPr lang="zh-CN" altLang="en-US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测试两个主机之间的连通性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的原理是向目标主机发送一个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类型数据包，并等待接收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回应数据包。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报文用来判断目的地是否可达。对于可达的目的端，再根据发送报文的个数、接收到的响应报文的个数来判断链路质量，根据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报文的往返时间来判断源端与目的端之间的“距离”。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的对象可以有很多：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 127.0.0.1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127.0.0.1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为回送地址，用于检查本地的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TCP/IP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本机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地址，用于检查本机的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地址设置和网卡安装配置是否有误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默认网关或本网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地址，用于检本查机与本地网络的连接是否正常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ping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域名，用于检查域名服务器能否正常工作，以及远程主机是否可以到达 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807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3B85-31E3-D6AD-266D-D9D5E9AC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: 空心 5">
            <a:extLst>
              <a:ext uri="{FF2B5EF4-FFF2-40B4-BE49-F238E27FC236}">
                <a16:creationId xmlns:a16="http://schemas.microsoft.com/office/drawing/2014/main" id="{1DBCA820-278C-03F9-3C48-2F62F597CD8F}"/>
              </a:ext>
            </a:extLst>
          </p:cNvPr>
          <p:cNvSpPr/>
          <p:nvPr/>
        </p:nvSpPr>
        <p:spPr>
          <a:xfrm rot="12130393">
            <a:off x="305864" y="140057"/>
            <a:ext cx="1366249" cy="1358515"/>
          </a:xfrm>
          <a:prstGeom prst="donut">
            <a:avLst>
              <a:gd name="adj" fmla="val 13847"/>
            </a:avLst>
          </a:prstGeom>
          <a:gradFill>
            <a:gsLst>
              <a:gs pos="0">
                <a:srgbClr val="D2D8FD"/>
              </a:gs>
              <a:gs pos="94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657C6A01-F0CF-77CF-A341-FA7AC0B89011}"/>
              </a:ext>
            </a:extLst>
          </p:cNvPr>
          <p:cNvSpPr txBox="1"/>
          <p:nvPr/>
        </p:nvSpPr>
        <p:spPr>
          <a:xfrm>
            <a:off x="917977" y="578176"/>
            <a:ext cx="3505804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实验原理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8EBE54-DC6A-A304-7C04-A73715739F44}"/>
              </a:ext>
            </a:extLst>
          </p:cNvPr>
          <p:cNvSpPr txBox="1"/>
          <p:nvPr/>
        </p:nvSpPr>
        <p:spPr>
          <a:xfrm>
            <a:off x="406400" y="1706156"/>
            <a:ext cx="11531600" cy="5142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sz="2933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Traceroute</a:t>
            </a:r>
            <a:r>
              <a:rPr lang="zh-CN" altLang="en-US" sz="29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系统中被称为 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tracepath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Windows 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系统中称为 </a:t>
            </a:r>
            <a:r>
              <a:rPr lang="en-US" altLang="zh-CN" sz="2133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tracert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，它可以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反映从源主机到目的主机所经过的路径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 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Traceroute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通过发送小的数据包到达目的地，并且返回，测量经过设备的名称、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地址和每次测试需要的时间。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Traceroute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的原理是通过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数据报的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TTL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(Time to Live)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来实现的。它首先从源主机发送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TTL=1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的数据包，经过路径上的第一个路由器后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TTL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减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，于是第一个路由器就会丢弃此数据包并向源主机发送一个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超时的差错报告报文。源主机从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报文中即可提取出数据包所经过的第一个路由器的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地址。然后，源主机又发出一个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TTL=2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的数据包，可以获得第二个路由器的地址；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TTL</a:t>
            </a:r>
            <a:r>
              <a:rPr lang="zh-CN" altLang="en-US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依次增加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，便获取了沿途所有路由器地址。但出于安全考虑，大多数路由器会禁用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ICMP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报文，所以</a:t>
            </a:r>
            <a:r>
              <a:rPr lang="en-US" altLang="zh-CN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Traceroute</a:t>
            </a:r>
            <a:r>
              <a:rPr lang="zh-CN" altLang="en-US" sz="2133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并不一定能获取路径上所有路由信息。</a:t>
            </a: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1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901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>
              <a:buNone/>
            </a:pPr>
            <a:r>
              <a:rPr lang="zh-CN" altLang="zh-CN" dirty="0"/>
              <a:t>本实验的目的是使用</a:t>
            </a:r>
            <a:r>
              <a:rPr lang="en-US" altLang="zh-CN" dirty="0"/>
              <a:t>Wireshark</a:t>
            </a:r>
            <a:r>
              <a:rPr lang="zh-CN" altLang="zh-CN" dirty="0"/>
              <a:t>软件捕获</a:t>
            </a:r>
            <a:r>
              <a:rPr lang="en-US" altLang="zh-CN" dirty="0"/>
              <a:t>Ping</a:t>
            </a:r>
            <a:r>
              <a:rPr lang="zh-CN" altLang="zh-CN" dirty="0"/>
              <a:t>和</a:t>
            </a:r>
            <a:r>
              <a:rPr lang="en-US" altLang="zh-CN" dirty="0"/>
              <a:t>Traceroute</a:t>
            </a:r>
            <a:r>
              <a:rPr lang="zh-CN" altLang="zh-CN" dirty="0"/>
              <a:t>命令会话过程中的数据包，并通过分析数据包来了解</a:t>
            </a:r>
            <a:r>
              <a:rPr lang="en-US" altLang="zh-CN" dirty="0"/>
              <a:t>ICMP</a:t>
            </a:r>
            <a:r>
              <a:rPr lang="zh-CN" altLang="zh-CN" dirty="0"/>
              <a:t>协议的原理和应用，以及</a:t>
            </a:r>
            <a:r>
              <a:rPr lang="en-US" altLang="zh-CN" dirty="0"/>
              <a:t>Ping</a:t>
            </a:r>
            <a:r>
              <a:rPr lang="zh-CN" altLang="zh-CN" dirty="0"/>
              <a:t>和</a:t>
            </a:r>
            <a:r>
              <a:rPr lang="en-US" altLang="zh-CN" dirty="0"/>
              <a:t>Traceroute</a:t>
            </a:r>
            <a:r>
              <a:rPr lang="zh-CN" altLang="zh-CN" dirty="0"/>
              <a:t>的设计原理。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Windows 11</a:t>
            </a:r>
            <a:r>
              <a:rPr lang="zh-CN" altLang="zh-CN" dirty="0"/>
              <a:t>（任何平台均可以完成）；</a:t>
            </a:r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Wireshark</a:t>
            </a:r>
            <a:r>
              <a:rPr lang="zh-CN" altLang="zh-CN" dirty="0"/>
              <a:t>；</a:t>
            </a:r>
          </a:p>
          <a:p>
            <a:pPr lvl="1"/>
            <a:endParaRPr lang="zh-CN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</a:t>
            </a:r>
            <a:r>
              <a:rPr lang="zh-CN" altLang="en-US" dirty="0"/>
              <a:t>实验步骤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第一步：</a:t>
            </a:r>
            <a:r>
              <a:rPr lang="en-US" altLang="zh-CN" dirty="0"/>
              <a:t>Ping</a:t>
            </a:r>
            <a:r>
              <a:rPr lang="zh-CN" altLang="zh-CN" dirty="0"/>
              <a:t>数据包捕获及原理分析；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zh-CN" dirty="0"/>
              <a:t>）打开</a:t>
            </a:r>
            <a:r>
              <a:rPr lang="en-US" altLang="zh-CN" dirty="0"/>
              <a:t>Wireshark</a:t>
            </a:r>
            <a:r>
              <a:rPr lang="zh-CN" altLang="zh-CN" dirty="0"/>
              <a:t>软件，启动分组捕获器； 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zh-CN" dirty="0"/>
              <a:t>）在命令行中输入</a:t>
            </a:r>
            <a:r>
              <a:rPr lang="en-US" altLang="zh-CN" dirty="0"/>
              <a:t>“ping –n 5 www.scu.edu.cn”</a:t>
            </a:r>
            <a:r>
              <a:rPr lang="zh-CN" altLang="zh-CN" dirty="0"/>
              <a:t>（如果想了解</a:t>
            </a:r>
            <a:r>
              <a:rPr lang="en-US" altLang="zh-CN" dirty="0"/>
              <a:t>ping</a:t>
            </a:r>
            <a:r>
              <a:rPr lang="zh-CN" altLang="zh-CN" dirty="0"/>
              <a:t>命令的参数说明，可以在命令行中输入“</a:t>
            </a:r>
            <a:r>
              <a:rPr lang="en-US" altLang="zh-CN" dirty="0"/>
              <a:t>ping /?</a:t>
            </a:r>
            <a:r>
              <a:rPr lang="zh-CN" altLang="zh-CN" dirty="0"/>
              <a:t>”，其中，</a:t>
            </a:r>
            <a:r>
              <a:rPr lang="en-US" altLang="zh-CN" dirty="0"/>
              <a:t>-n </a:t>
            </a:r>
            <a:r>
              <a:rPr lang="zh-CN" altLang="zh-CN" dirty="0"/>
              <a:t>参数是用来指定要发送的回显请求数）后回车； 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zh-CN" dirty="0"/>
              <a:t>）停止分组捕获； 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zh-CN" dirty="0"/>
              <a:t>）在过滤器中输入</a:t>
            </a:r>
            <a:r>
              <a:rPr lang="en-US" altLang="zh-CN" dirty="0"/>
              <a:t>“</a:t>
            </a:r>
            <a:r>
              <a:rPr lang="en-US" altLang="zh-CN" dirty="0" err="1"/>
              <a:t>icmp</a:t>
            </a:r>
            <a:r>
              <a:rPr lang="en-US" altLang="zh-CN" dirty="0"/>
              <a:t>”</a:t>
            </a:r>
            <a:r>
              <a:rPr lang="zh-CN" altLang="zh-CN" dirty="0"/>
              <a:t>，只显示与</a:t>
            </a:r>
            <a:r>
              <a:rPr lang="en-US" altLang="zh-CN" dirty="0"/>
              <a:t>ICMP</a:t>
            </a:r>
            <a:r>
              <a:rPr lang="zh-CN" altLang="zh-CN" dirty="0"/>
              <a:t>相关的数据包。实验中设置了</a:t>
            </a:r>
            <a:r>
              <a:rPr lang="en-US" altLang="zh-CN" dirty="0"/>
              <a:t>ping</a:t>
            </a:r>
            <a:r>
              <a:rPr lang="zh-CN" altLang="zh-CN" dirty="0"/>
              <a:t>程序发送</a:t>
            </a:r>
            <a:r>
              <a:rPr lang="en-US" altLang="zh-CN" dirty="0"/>
              <a:t>5</a:t>
            </a:r>
            <a:r>
              <a:rPr lang="zh-CN" altLang="zh-CN" dirty="0"/>
              <a:t>次请求，每次请求都会收到一个</a:t>
            </a:r>
            <a:r>
              <a:rPr lang="en-US" altLang="zh-CN" dirty="0"/>
              <a:t>ICMP</a:t>
            </a:r>
            <a:r>
              <a:rPr lang="zh-CN" altLang="zh-CN" dirty="0"/>
              <a:t>应答数据包，所以总共有</a:t>
            </a:r>
            <a:r>
              <a:rPr lang="en-US" altLang="zh-CN" dirty="0"/>
              <a:t>10</a:t>
            </a:r>
            <a:r>
              <a:rPr lang="zh-CN" altLang="zh-CN" dirty="0"/>
              <a:t>个数据包。在</a:t>
            </a:r>
            <a:r>
              <a:rPr lang="en-US" altLang="zh-CN" dirty="0"/>
              <a:t>Info</a:t>
            </a:r>
            <a:r>
              <a:rPr lang="zh-CN" altLang="zh-CN" dirty="0"/>
              <a:t>域中，可以区分哪些是请求包，哪些是应答包。</a:t>
            </a:r>
          </a:p>
          <a:p>
            <a:pPr lvl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4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Ping</a:t>
            </a:r>
            <a:r>
              <a:rPr lang="zh-CN" altLang="zh-CN" dirty="0"/>
              <a:t>命令利用了</a:t>
            </a:r>
            <a:r>
              <a:rPr lang="en-US" altLang="zh-CN" dirty="0"/>
              <a:t>ICMP</a:t>
            </a:r>
            <a:r>
              <a:rPr lang="zh-CN" altLang="zh-CN" dirty="0"/>
              <a:t>的哪种类型报文，从哪里可以看出来？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Ping</a:t>
            </a:r>
            <a:r>
              <a:rPr lang="zh-CN" altLang="zh-CN" dirty="0"/>
              <a:t>包发送的</a:t>
            </a:r>
            <a:r>
              <a:rPr lang="en-US" altLang="zh-CN" dirty="0"/>
              <a:t>ICMP</a:t>
            </a:r>
            <a:r>
              <a:rPr lang="zh-CN" altLang="zh-CN" dirty="0"/>
              <a:t>报文的数据部分内容是什么？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zh-CN" dirty="0"/>
              <a:t>）第一个</a:t>
            </a:r>
            <a:r>
              <a:rPr lang="en-US" altLang="zh-CN" dirty="0"/>
              <a:t>Ping</a:t>
            </a:r>
            <a:r>
              <a:rPr lang="zh-CN" altLang="en-US" dirty="0"/>
              <a:t>包</a:t>
            </a:r>
            <a:r>
              <a:rPr lang="zh-CN" altLang="zh-CN" dirty="0"/>
              <a:t>返回的准确时间是多少？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zh-CN" dirty="0"/>
              <a:t>）</a:t>
            </a:r>
            <a:r>
              <a:rPr lang="en-US" altLang="zh-CN" dirty="0"/>
              <a:t>IP</a:t>
            </a:r>
            <a:r>
              <a:rPr lang="zh-CN" altLang="zh-CN" dirty="0"/>
              <a:t>数据报头部已经有</a:t>
            </a:r>
            <a:r>
              <a:rPr lang="en-US" altLang="zh-CN" dirty="0"/>
              <a:t>checksum</a:t>
            </a:r>
            <a:r>
              <a:rPr lang="zh-CN" altLang="zh-CN" dirty="0"/>
              <a:t>字段，为什么</a:t>
            </a:r>
            <a:r>
              <a:rPr lang="en-US" altLang="zh-CN" dirty="0"/>
              <a:t>ICMP</a:t>
            </a:r>
            <a:r>
              <a:rPr lang="zh-CN" altLang="zh-CN" dirty="0"/>
              <a:t>还有</a:t>
            </a:r>
            <a:r>
              <a:rPr lang="en-US" altLang="zh-CN" dirty="0"/>
              <a:t>checksum</a:t>
            </a:r>
            <a:r>
              <a:rPr lang="zh-CN" altLang="zh-CN" dirty="0"/>
              <a:t>字段？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5</a:t>
            </a:r>
            <a:r>
              <a:rPr lang="zh-CN" altLang="en-US" dirty="0"/>
              <a:t>）观察</a:t>
            </a:r>
            <a:r>
              <a:rPr lang="en-US" altLang="zh-CN" dirty="0"/>
              <a:t>Ping</a:t>
            </a:r>
            <a:r>
              <a:rPr lang="zh-CN" altLang="en-US" dirty="0"/>
              <a:t>请求和应答报文中的</a:t>
            </a:r>
            <a:r>
              <a:rPr lang="en-US" altLang="zh-CN" dirty="0"/>
              <a:t>Identifier (</a:t>
            </a:r>
            <a:r>
              <a:rPr lang="zh-CN" altLang="en-US" dirty="0"/>
              <a:t>标识符</a:t>
            </a:r>
            <a:r>
              <a:rPr lang="en-US" altLang="zh-CN" dirty="0"/>
              <a:t>) </a:t>
            </a:r>
            <a:r>
              <a:rPr lang="zh-CN" altLang="en-US" dirty="0"/>
              <a:t>和</a:t>
            </a:r>
            <a:r>
              <a:rPr lang="en-US" altLang="zh-CN" dirty="0"/>
              <a:t> Sequence Number (</a:t>
            </a:r>
            <a:r>
              <a:rPr lang="zh-CN" altLang="en-US" dirty="0"/>
              <a:t>序列号</a:t>
            </a:r>
            <a:r>
              <a:rPr lang="en-US" altLang="zh-CN" dirty="0"/>
              <a:t>) </a:t>
            </a:r>
            <a:r>
              <a:rPr lang="zh-CN" altLang="en-US" dirty="0"/>
              <a:t>字段，它们的作用是什么？这</a:t>
            </a:r>
            <a:r>
              <a:rPr lang="en-US" altLang="zh-CN" dirty="0"/>
              <a:t>5</a:t>
            </a:r>
            <a:r>
              <a:rPr lang="zh-CN" altLang="en-US" dirty="0"/>
              <a:t>组请求和应答之间，这两个字段的值是如何变化的？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实验步骤</a:t>
            </a:r>
            <a:r>
              <a:rPr lang="en-US" altLang="zh-CN">
                <a:sym typeface="+mn-ea"/>
              </a:rPr>
              <a:t> - Ping</a:t>
            </a:r>
            <a:r>
              <a:rPr lang="zh-CN" altLang="en-US">
                <a:sym typeface="+mn-ea"/>
              </a:rPr>
              <a:t>高级探索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第二步：探索</a:t>
            </a:r>
            <a:r>
              <a:rPr lang="en-US" altLang="zh-CN"/>
              <a:t>Ping</a:t>
            </a:r>
            <a:r>
              <a:rPr lang="zh-CN" altLang="en-US"/>
              <a:t>命令的可选参数</a:t>
            </a:r>
          </a:p>
          <a:p>
            <a:pPr lvl="1"/>
            <a:r>
              <a:rPr lang="zh-CN" altLang="en-US"/>
              <a:t>改变数据包大小：</a:t>
            </a:r>
          </a:p>
          <a:p>
            <a:pPr lvl="2"/>
            <a:r>
              <a:rPr lang="zh-CN" altLang="en-US"/>
              <a:t>重新开始捕获，执行命令</a:t>
            </a:r>
            <a:r>
              <a:rPr lang="en-US" altLang="zh-CN"/>
              <a:t> ping -l 2500 www.scu.edu.cn</a:t>
            </a:r>
            <a:r>
              <a:rPr lang="zh-CN" altLang="en-US"/>
              <a:t>。</a:t>
            </a:r>
          </a:p>
          <a:p>
            <a:pPr lvl="2"/>
            <a:r>
              <a:rPr lang="en-US" altLang="zh-CN"/>
              <a:t>-l </a:t>
            </a:r>
            <a:r>
              <a:rPr lang="zh-CN" altLang="en-US"/>
              <a:t>参数用于指定数据字段的长度。</a:t>
            </a:r>
          </a:p>
          <a:p>
            <a:pPr lvl="1"/>
            <a:r>
              <a:rPr lang="zh-CN" altLang="en-US"/>
              <a:t>重新开始捕获，执行命令</a:t>
            </a:r>
            <a:r>
              <a:rPr lang="en-US" altLang="zh-CN"/>
              <a:t> ping -i 2 www.scu.edu.cn</a:t>
            </a:r>
            <a:r>
              <a:rPr lang="zh-CN" altLang="en-US"/>
              <a:t>。</a:t>
            </a:r>
          </a:p>
          <a:p>
            <a:pPr lvl="2"/>
            <a:r>
              <a:rPr lang="en-US" altLang="zh-CN"/>
              <a:t>-i </a:t>
            </a:r>
            <a:r>
              <a:rPr lang="zh-CN" altLang="en-US"/>
              <a:t>参数用于设置生存时间（</a:t>
            </a:r>
            <a:r>
              <a:rPr lang="en-US" altLang="zh-CN"/>
              <a:t>Time To Live</a:t>
            </a:r>
            <a:r>
              <a:rPr lang="zh-CN" altLang="en-US"/>
              <a:t>）。</a:t>
            </a:r>
          </a:p>
          <a:p>
            <a:pPr lvl="2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问题与思考（</a:t>
            </a:r>
            <a:r>
              <a:rPr lang="en-US" altLang="zh-CN">
                <a:sym typeface="+mn-ea"/>
              </a:rPr>
              <a:t>Ping</a:t>
            </a:r>
            <a:r>
              <a:rPr lang="zh-CN" altLang="en-US">
                <a:sym typeface="+mn-ea"/>
              </a:rPr>
              <a:t>高级）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根据捕获的数据报回答问题：</a:t>
            </a:r>
          </a:p>
          <a:p>
            <a:pPr marL="914400" lvl="1" indent="-457200">
              <a:buAutoNum type="arabicPeriod"/>
            </a:pPr>
            <a:r>
              <a:rPr lang="zh-CN" altLang="en-US"/>
              <a:t>执行</a:t>
            </a:r>
            <a:r>
              <a:rPr lang="en-US" altLang="zh-CN"/>
              <a:t>ping -l 2500</a:t>
            </a:r>
            <a:r>
              <a:rPr lang="zh-CN" altLang="en-US"/>
              <a:t>时，捕获的</a:t>
            </a:r>
            <a:r>
              <a:rPr lang="en-US" altLang="zh-CN"/>
              <a:t>IP</a:t>
            </a:r>
            <a:r>
              <a:rPr lang="zh-CN" altLang="en-US"/>
              <a:t>数据包是否被分片？你是如何判断的？</a:t>
            </a:r>
          </a:p>
          <a:p>
            <a:pPr marL="914400" lvl="1" indent="-457200">
              <a:buAutoNum type="arabicPeriod"/>
            </a:pPr>
            <a:r>
              <a:rPr lang="zh-CN" altLang="en-US"/>
              <a:t>执行</a:t>
            </a:r>
            <a:r>
              <a:rPr lang="en-US" altLang="zh-CN"/>
              <a:t>ping -i 2</a:t>
            </a:r>
            <a:r>
              <a:rPr lang="zh-CN" altLang="en-US"/>
              <a:t>时，返回的</a:t>
            </a:r>
            <a:r>
              <a:rPr lang="en-US" altLang="zh-CN"/>
              <a:t>ICMP</a:t>
            </a:r>
            <a:r>
              <a:rPr lang="zh-CN" altLang="en-US"/>
              <a:t>报文类型是什么？这个报文是谁发的？这个报文的数据部分有什么特殊信息？其代码（</a:t>
            </a:r>
            <a:r>
              <a:rPr lang="en-US" altLang="zh-CN"/>
              <a:t>Code</a:t>
            </a:r>
            <a:r>
              <a:rPr lang="zh-CN" altLang="en-US"/>
              <a:t>）字段有何含义？</a:t>
            </a:r>
            <a:r>
              <a:rPr lang="en-US" altLang="zh-CN"/>
              <a:t>-i</a:t>
            </a:r>
            <a:r>
              <a:rPr lang="zh-CN" altLang="en-US"/>
              <a:t>后面为多少数字才不会出现差错报告？</a:t>
            </a:r>
          </a:p>
          <a:p>
            <a:pPr marL="914400" lvl="1" indent="-457200">
              <a:buAutoNum type="arabicPeriod"/>
            </a:pPr>
            <a:r>
              <a:rPr lang="zh-CN" altLang="en-US"/>
              <a:t>（安全思考）</a:t>
            </a:r>
            <a:r>
              <a:rPr lang="en-US" altLang="zh-CN"/>
              <a:t> Ping</a:t>
            </a:r>
            <a:r>
              <a:rPr lang="zh-CN" altLang="en-US"/>
              <a:t>命令在历史上曾被用于哪些类型的网络攻击？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</a:t>
            </a:r>
            <a:r>
              <a:rPr lang="zh-CN" altLang="en-US" dirty="0"/>
              <a:t>实验步骤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第二步：</a:t>
            </a:r>
            <a:r>
              <a:rPr lang="en-US" altLang="zh-CN" dirty="0"/>
              <a:t>Traceroute</a:t>
            </a:r>
            <a:r>
              <a:rPr lang="zh-CN" altLang="zh-CN" dirty="0"/>
              <a:t>数据包捕获及原理分析。</a:t>
            </a:r>
            <a:endParaRPr lang="en-US" altLang="zh-CN" dirty="0"/>
          </a:p>
          <a:p>
            <a:pPr lvl="2"/>
            <a:r>
              <a:rPr lang="en-US" altLang="zh-CN" dirty="0"/>
              <a:t>1</a:t>
            </a:r>
            <a:r>
              <a:rPr lang="zh-CN" altLang="zh-CN" dirty="0"/>
              <a:t>）打开</a:t>
            </a:r>
            <a:r>
              <a:rPr lang="en-US" altLang="zh-CN" dirty="0"/>
              <a:t>Wireshark</a:t>
            </a:r>
            <a:r>
              <a:rPr lang="zh-CN" altLang="zh-CN" dirty="0"/>
              <a:t>，启动</a:t>
            </a:r>
            <a:r>
              <a:rPr lang="en-US" altLang="zh-CN" dirty="0"/>
              <a:t>Wireshark</a:t>
            </a:r>
            <a:r>
              <a:rPr lang="zh-CN" altLang="zh-CN" dirty="0"/>
              <a:t>分组俘获器；</a:t>
            </a:r>
          </a:p>
          <a:p>
            <a:pPr lvl="2"/>
            <a:r>
              <a:rPr lang="en-US" altLang="zh-CN" dirty="0"/>
              <a:t>2</a:t>
            </a:r>
            <a:r>
              <a:rPr lang="zh-CN" altLang="zh-CN" dirty="0"/>
              <a:t>）在命令行中输入</a:t>
            </a:r>
            <a:r>
              <a:rPr lang="en-US" altLang="zh-CN" dirty="0"/>
              <a:t>“tracert /d www.scu.edu.cn”</a:t>
            </a:r>
            <a:r>
              <a:rPr lang="zh-CN" altLang="zh-CN" dirty="0"/>
              <a:t>，回车。</a:t>
            </a:r>
          </a:p>
          <a:p>
            <a:pPr lvl="2"/>
            <a:r>
              <a:rPr lang="en-US" altLang="zh-CN" dirty="0"/>
              <a:t>3</a:t>
            </a:r>
            <a:r>
              <a:rPr lang="zh-CN" altLang="zh-CN" dirty="0"/>
              <a:t>）停止分组俘获；</a:t>
            </a:r>
          </a:p>
          <a:p>
            <a:pPr lvl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1</a:t>
            </a:r>
            <a:r>
              <a:rPr lang="zh-CN" altLang="zh-CN" dirty="0"/>
              <a:t>）</a:t>
            </a:r>
            <a:r>
              <a:rPr lang="en-US" altLang="zh-CN" dirty="0"/>
              <a:t>Traceroute</a:t>
            </a:r>
            <a:r>
              <a:rPr lang="zh-CN" altLang="zh-CN" dirty="0"/>
              <a:t>应用发送的是</a:t>
            </a:r>
            <a:r>
              <a:rPr lang="en-US" altLang="zh-CN" dirty="0"/>
              <a:t>ICMP</a:t>
            </a:r>
            <a:r>
              <a:rPr lang="zh-CN" altLang="zh-CN" dirty="0"/>
              <a:t>的什么类型数据报？</a:t>
            </a:r>
          </a:p>
          <a:p>
            <a:pPr marL="457200" lvl="1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Traceroute</a:t>
            </a:r>
            <a:r>
              <a:rPr lang="zh-CN" altLang="zh-CN" dirty="0"/>
              <a:t>发送的回显请求数据包和</a:t>
            </a:r>
            <a:r>
              <a:rPr lang="en-US" altLang="zh-CN" dirty="0"/>
              <a:t>ping</a:t>
            </a:r>
            <a:r>
              <a:rPr lang="zh-CN" altLang="zh-CN" dirty="0"/>
              <a:t>发送的数据包数据部分有什么差异？</a:t>
            </a:r>
          </a:p>
          <a:p>
            <a:pPr marL="457200" lvl="1" indent="0">
              <a:buNone/>
            </a:pPr>
            <a:r>
              <a:rPr lang="zh-CN" altLang="zh-CN" dirty="0"/>
              <a:t>3）发送的报文，出现了什么错误，错误原因是什么？</a:t>
            </a:r>
          </a:p>
          <a:p>
            <a:pPr marL="457200" lvl="1" indent="0">
              <a:buNone/>
            </a:pPr>
            <a:r>
              <a:rPr lang="zh-CN" altLang="zh-CN" dirty="0"/>
              <a:t>4）第一个TTL超时报文时由谁发出的？</a:t>
            </a:r>
          </a:p>
          <a:p>
            <a:pPr marL="457200" lvl="1" indent="0">
              <a:buNone/>
            </a:pPr>
            <a:r>
              <a:rPr lang="zh-CN" altLang="zh-CN" dirty="0"/>
              <a:t>5）在Traceroute的过程中，发送方一共发送了多少个不同TTL的报文，相同的TTL算一个？</a:t>
            </a:r>
          </a:p>
          <a:p>
            <a:pPr marL="457200" lvl="1" indent="0">
              <a:buNone/>
            </a:pPr>
            <a:r>
              <a:rPr lang="en-US" altLang="zh-CN" dirty="0"/>
              <a:t>6</a:t>
            </a:r>
            <a:r>
              <a:rPr lang="zh-CN" altLang="zh-CN" dirty="0"/>
              <a:t>）这五种不同</a:t>
            </a:r>
            <a:r>
              <a:rPr lang="en-US" altLang="zh-CN" dirty="0"/>
              <a:t>TTL</a:t>
            </a:r>
            <a:r>
              <a:rPr lang="zh-CN" altLang="zh-CN" dirty="0"/>
              <a:t>的数据包</a:t>
            </a:r>
            <a:r>
              <a:rPr lang="en-US" altLang="zh-CN" dirty="0"/>
              <a:t>TTL</a:t>
            </a:r>
            <a:r>
              <a:rPr lang="zh-CN" altLang="zh-CN" dirty="0"/>
              <a:t>字段的特点是什么？</a:t>
            </a:r>
          </a:p>
          <a:p>
            <a:pPr marL="457200" lvl="1" indent="0">
              <a:buNone/>
            </a:pPr>
            <a:r>
              <a:rPr lang="en-US" altLang="zh-CN" dirty="0"/>
              <a:t>7</a:t>
            </a:r>
            <a:r>
              <a:rPr lang="zh-CN" altLang="zh-CN" dirty="0"/>
              <a:t>）</a:t>
            </a:r>
            <a:r>
              <a:rPr lang="en-US" altLang="zh-CN" dirty="0"/>
              <a:t>Traceroute</a:t>
            </a:r>
            <a:r>
              <a:rPr lang="zh-CN" altLang="zh-CN" dirty="0"/>
              <a:t>到达目的地的判断方法是什么？</a:t>
            </a:r>
          </a:p>
          <a:p>
            <a:pPr marL="457200" lvl="1" indent="0">
              <a:buNone/>
            </a:pPr>
            <a:r>
              <a:rPr lang="en-US" altLang="zh-CN" dirty="0"/>
              <a:t>8</a:t>
            </a:r>
            <a:r>
              <a:rPr lang="zh-CN" altLang="zh-CN" dirty="0"/>
              <a:t>）从捕获的数据包中分析，源主机收到了哪些不同</a:t>
            </a:r>
            <a:r>
              <a:rPr lang="en-US" altLang="zh-CN" dirty="0"/>
              <a:t>IP</a:t>
            </a:r>
            <a:r>
              <a:rPr lang="zh-CN" altLang="zh-CN" dirty="0"/>
              <a:t>发送的</a:t>
            </a:r>
            <a:r>
              <a:rPr lang="en-US" altLang="zh-CN" dirty="0"/>
              <a:t>ICMP</a:t>
            </a:r>
            <a:r>
              <a:rPr lang="zh-CN" altLang="zh-CN" dirty="0"/>
              <a:t>报文？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20</TotalTime>
  <Words>1431</Words>
  <Application>Microsoft Office PowerPoint</Application>
  <PresentationFormat>宽屏</PresentationFormat>
  <Paragraphs>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Arial</vt:lpstr>
      <vt:lpstr>Comic Sans MS</vt:lpstr>
      <vt:lpstr>Wingdings</vt:lpstr>
      <vt:lpstr>等线</vt:lpstr>
      <vt:lpstr>微软雅黑</vt:lpstr>
      <vt:lpstr>Designed by iSlide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实验4： ICMP协议分析</vt:lpstr>
      <vt:lpstr>实验4： ICMP协议分析</vt:lpstr>
      <vt:lpstr>实验4： ICMP协议分析</vt:lpstr>
      <vt:lpstr>实验步骤 - Ping高级探索</vt:lpstr>
      <vt:lpstr>问题与思考（Ping高级）</vt:lpstr>
      <vt:lpstr>实验4： ICMP协议分析</vt:lpstr>
      <vt:lpstr>实验4： ICMP协议分析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阳 杨</cp:lastModifiedBy>
  <cp:revision>84</cp:revision>
  <cp:lastPrinted>2023-11-06T16:00:00Z</cp:lastPrinted>
  <dcterms:created xsi:type="dcterms:W3CDTF">2023-11-06T16:00:00Z</dcterms:created>
  <dcterms:modified xsi:type="dcterms:W3CDTF">2025-11-12T03:33:23Z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4605F776039446EDAE7B86BE4CD67F88_12</vt:lpwstr>
  </property>
  <property fmtid="{D5CDD505-2E9C-101B-9397-08002B2CF9AE}" pid="4" name="KSOProductBuildVer">
    <vt:lpwstr>2052-12.1.0.23542</vt:lpwstr>
  </property>
</Properties>
</file>