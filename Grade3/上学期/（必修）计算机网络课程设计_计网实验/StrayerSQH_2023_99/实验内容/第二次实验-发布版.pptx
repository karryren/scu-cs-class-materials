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325" r:id="rId2"/>
    <p:sldId id="257" r:id="rId3"/>
    <p:sldId id="259" r:id="rId4"/>
    <p:sldId id="308" r:id="rId5"/>
    <p:sldId id="309" r:id="rId6"/>
    <p:sldId id="316" r:id="rId7"/>
    <p:sldId id="317" r:id="rId8"/>
    <p:sldId id="318" r:id="rId9"/>
    <p:sldId id="319" r:id="rId10"/>
    <p:sldId id="320" r:id="rId11"/>
    <p:sldId id="321" r:id="rId12"/>
    <p:sldId id="322" r:id="rId13"/>
    <p:sldId id="324" r:id="rId14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644D0AC-7255-4615-90A0-2A12C8C1C545}" styleName="表样式 1 12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 varScale="1">
        <p:scale>
          <a:sx n="85" d="100"/>
          <a:sy n="85" d="100"/>
        </p:scale>
        <p:origin x="874" y="53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6D87CE-937E-4877-97DA-2BF1350D1510}" type="datetimeFigureOut">
              <a:rPr lang="zh-CN" altLang="en-US" smtClean="0"/>
              <a:t>2025/10/28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6A40CE-04EA-494B-8E87-9DA217FB48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0" y="-1"/>
            <a:ext cx="12204700" cy="6858001"/>
            <a:chOff x="0" y="-1"/>
            <a:chExt cx="12204700" cy="6858001"/>
          </a:xfrm>
        </p:grpSpPr>
        <p:sp>
          <p:nvSpPr>
            <p:cNvPr id="7" name="矩形 6"/>
            <p:cNvSpPr/>
            <p:nvPr/>
          </p:nvSpPr>
          <p:spPr>
            <a:xfrm>
              <a:off x="0" y="4232801"/>
              <a:ext cx="12204700" cy="2625199"/>
            </a:xfrm>
            <a:prstGeom prst="rect">
              <a:avLst/>
            </a:pr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 flipH="1" flipV="1">
              <a:off x="0" y="-1"/>
              <a:ext cx="2832100" cy="783585"/>
            </a:xfrm>
            <a:custGeom>
              <a:avLst/>
              <a:gdLst>
                <a:gd name="connsiteX0" fmla="*/ 3808324 w 3808324"/>
                <a:gd name="connsiteY0" fmla="*/ 1777999 h 1777999"/>
                <a:gd name="connsiteX1" fmla="*/ 0 w 3808324"/>
                <a:gd name="connsiteY1" fmla="*/ 1777999 h 1777999"/>
                <a:gd name="connsiteX2" fmla="*/ 0 w 3808324"/>
                <a:gd name="connsiteY2" fmla="*/ 0 h 1777999"/>
                <a:gd name="connsiteX3" fmla="*/ 3808324 w 3808324"/>
                <a:gd name="connsiteY3" fmla="*/ 0 h 177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8324" h="1777999">
                  <a:moveTo>
                    <a:pt x="3808324" y="1777999"/>
                  </a:moveTo>
                  <a:lnTo>
                    <a:pt x="0" y="1777999"/>
                  </a:lnTo>
                  <a:lnTo>
                    <a:pt x="0" y="0"/>
                  </a:lnTo>
                  <a:lnTo>
                    <a:pt x="3808324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 flipV="1">
              <a:off x="7442200" y="-1"/>
              <a:ext cx="4749800" cy="1314174"/>
            </a:xfrm>
            <a:custGeom>
              <a:avLst/>
              <a:gdLst>
                <a:gd name="connsiteX0" fmla="*/ 3808324 w 3808324"/>
                <a:gd name="connsiteY0" fmla="*/ 1777999 h 1777999"/>
                <a:gd name="connsiteX1" fmla="*/ 0 w 3808324"/>
                <a:gd name="connsiteY1" fmla="*/ 1777999 h 1777999"/>
                <a:gd name="connsiteX2" fmla="*/ 0 w 3808324"/>
                <a:gd name="connsiteY2" fmla="*/ 0 h 1777999"/>
                <a:gd name="connsiteX3" fmla="*/ 3808324 w 3808324"/>
                <a:gd name="connsiteY3" fmla="*/ 0 h 177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8324" h="1777999">
                  <a:moveTo>
                    <a:pt x="3808324" y="1777999"/>
                  </a:moveTo>
                  <a:lnTo>
                    <a:pt x="0" y="1777999"/>
                  </a:lnTo>
                  <a:lnTo>
                    <a:pt x="0" y="0"/>
                  </a:lnTo>
                  <a:lnTo>
                    <a:pt x="3808324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6" name="任意多边形: 形状 5"/>
          <p:cNvSpPr/>
          <p:nvPr/>
        </p:nvSpPr>
        <p:spPr bwMode="auto">
          <a:xfrm>
            <a:off x="-1588" y="4826208"/>
            <a:ext cx="12206288" cy="2449512"/>
          </a:xfrm>
          <a:custGeom>
            <a:avLst/>
            <a:gdLst>
              <a:gd name="T0" fmla="*/ 7689 w 7689"/>
              <a:gd name="T1" fmla="*/ 1543 h 1543"/>
              <a:gd name="T2" fmla="*/ 7689 w 7689"/>
              <a:gd name="T3" fmla="*/ 1485 h 1543"/>
              <a:gd name="T4" fmla="*/ 4821 w 7689"/>
              <a:gd name="T5" fmla="*/ 568 h 1543"/>
              <a:gd name="T6" fmla="*/ 3065 w 7689"/>
              <a:gd name="T7" fmla="*/ 0 h 1543"/>
              <a:gd name="T8" fmla="*/ 582 w 7689"/>
              <a:gd name="T9" fmla="*/ 597 h 1543"/>
              <a:gd name="T10" fmla="*/ 0 w 7689"/>
              <a:gd name="T11" fmla="*/ 717 h 1543"/>
              <a:gd name="T12" fmla="*/ 0 w 7689"/>
              <a:gd name="T13" fmla="*/ 1543 h 1543"/>
              <a:gd name="T14" fmla="*/ 7689 w 7689"/>
              <a:gd name="T15" fmla="*/ 1543 h 15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689" h="1543">
                <a:moveTo>
                  <a:pt x="7689" y="1543"/>
                </a:moveTo>
                <a:lnTo>
                  <a:pt x="7689" y="1485"/>
                </a:lnTo>
                <a:lnTo>
                  <a:pt x="4821" y="568"/>
                </a:lnTo>
                <a:lnTo>
                  <a:pt x="3065" y="0"/>
                </a:lnTo>
                <a:lnTo>
                  <a:pt x="582" y="597"/>
                </a:lnTo>
                <a:lnTo>
                  <a:pt x="0" y="717"/>
                </a:lnTo>
                <a:lnTo>
                  <a:pt x="0" y="1543"/>
                </a:lnTo>
                <a:lnTo>
                  <a:pt x="7689" y="1543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0400" y="1130300"/>
            <a:ext cx="10858500" cy="1371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0400" y="2501900"/>
            <a:ext cx="10858500" cy="75925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3599180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3873500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www.islide.cc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2800" b="1"/>
            </a:lvl1pPr>
            <a:lvl2pPr>
              <a:defRPr sz="2400" b="1">
                <a:solidFill>
                  <a:schemeClr val="accent6">
                    <a:lumMod val="50000"/>
                  </a:schemeClr>
                </a:solidFill>
              </a:defRPr>
            </a:lvl2pPr>
            <a:lvl3pPr>
              <a:defRPr sz="2000" b="1"/>
            </a:lvl3pPr>
            <a:lvl4pPr>
              <a:defRPr sz="1800" b="1"/>
            </a:lvl4pPr>
            <a:lvl5pPr>
              <a:defRPr sz="18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任意多边形: 形状 7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 flipV="1">
            <a:off x="-1588" y="-429260"/>
            <a:ext cx="12206288" cy="3042919"/>
            <a:chOff x="-1588" y="4232801"/>
            <a:chExt cx="12206288" cy="3042919"/>
          </a:xfrm>
        </p:grpSpPr>
        <p:sp>
          <p:nvSpPr>
            <p:cNvPr id="8" name="任意多边形: 形状 7"/>
            <p:cNvSpPr/>
            <p:nvPr/>
          </p:nvSpPr>
          <p:spPr bwMode="auto">
            <a:xfrm>
              <a:off x="-1588" y="4826208"/>
              <a:ext cx="12206288" cy="2449512"/>
            </a:xfrm>
            <a:custGeom>
              <a:avLst/>
              <a:gdLst>
                <a:gd name="T0" fmla="*/ 7689 w 7689"/>
                <a:gd name="T1" fmla="*/ 1543 h 1543"/>
                <a:gd name="T2" fmla="*/ 7689 w 7689"/>
                <a:gd name="T3" fmla="*/ 1485 h 1543"/>
                <a:gd name="T4" fmla="*/ 4821 w 7689"/>
                <a:gd name="T5" fmla="*/ 568 h 1543"/>
                <a:gd name="T6" fmla="*/ 3065 w 7689"/>
                <a:gd name="T7" fmla="*/ 0 h 1543"/>
                <a:gd name="T8" fmla="*/ 582 w 7689"/>
                <a:gd name="T9" fmla="*/ 597 h 1543"/>
                <a:gd name="T10" fmla="*/ 0 w 7689"/>
                <a:gd name="T11" fmla="*/ 717 h 1543"/>
                <a:gd name="T12" fmla="*/ 0 w 7689"/>
                <a:gd name="T13" fmla="*/ 1543 h 1543"/>
                <a:gd name="T14" fmla="*/ 7689 w 7689"/>
                <a:gd name="T15" fmla="*/ 1543 h 1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89" h="1543">
                  <a:moveTo>
                    <a:pt x="7689" y="1543"/>
                  </a:moveTo>
                  <a:lnTo>
                    <a:pt x="7689" y="1485"/>
                  </a:lnTo>
                  <a:lnTo>
                    <a:pt x="4821" y="568"/>
                  </a:lnTo>
                  <a:lnTo>
                    <a:pt x="3065" y="0"/>
                  </a:lnTo>
                  <a:lnTo>
                    <a:pt x="582" y="597"/>
                  </a:lnTo>
                  <a:lnTo>
                    <a:pt x="0" y="717"/>
                  </a:lnTo>
                  <a:lnTo>
                    <a:pt x="0" y="1543"/>
                  </a:lnTo>
                  <a:lnTo>
                    <a:pt x="7689" y="15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0" y="4232801"/>
              <a:ext cx="12204700" cy="2625199"/>
            </a:xfrm>
            <a:prstGeom prst="rect">
              <a:avLst/>
            </a:pr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71850" y="2967879"/>
            <a:ext cx="5435600" cy="137160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371850" y="4344984"/>
            <a:ext cx="5435600" cy="1371600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588" y="4232801"/>
            <a:ext cx="12206288" cy="3042919"/>
            <a:chOff x="-1588" y="4232801"/>
            <a:chExt cx="12206288" cy="3042919"/>
          </a:xfrm>
        </p:grpSpPr>
        <p:sp>
          <p:nvSpPr>
            <p:cNvPr id="6" name="任意多边形: 形状 5"/>
            <p:cNvSpPr/>
            <p:nvPr/>
          </p:nvSpPr>
          <p:spPr bwMode="auto">
            <a:xfrm>
              <a:off x="-1588" y="4826208"/>
              <a:ext cx="12206288" cy="2449512"/>
            </a:xfrm>
            <a:custGeom>
              <a:avLst/>
              <a:gdLst>
                <a:gd name="T0" fmla="*/ 7689 w 7689"/>
                <a:gd name="T1" fmla="*/ 1543 h 1543"/>
                <a:gd name="T2" fmla="*/ 7689 w 7689"/>
                <a:gd name="T3" fmla="*/ 1485 h 1543"/>
                <a:gd name="T4" fmla="*/ 4821 w 7689"/>
                <a:gd name="T5" fmla="*/ 568 h 1543"/>
                <a:gd name="T6" fmla="*/ 3065 w 7689"/>
                <a:gd name="T7" fmla="*/ 0 h 1543"/>
                <a:gd name="T8" fmla="*/ 582 w 7689"/>
                <a:gd name="T9" fmla="*/ 597 h 1543"/>
                <a:gd name="T10" fmla="*/ 0 w 7689"/>
                <a:gd name="T11" fmla="*/ 717 h 1543"/>
                <a:gd name="T12" fmla="*/ 0 w 7689"/>
                <a:gd name="T13" fmla="*/ 1543 h 1543"/>
                <a:gd name="T14" fmla="*/ 7689 w 7689"/>
                <a:gd name="T15" fmla="*/ 1543 h 1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89" h="1543">
                  <a:moveTo>
                    <a:pt x="7689" y="1543"/>
                  </a:moveTo>
                  <a:lnTo>
                    <a:pt x="7689" y="1485"/>
                  </a:lnTo>
                  <a:lnTo>
                    <a:pt x="4821" y="568"/>
                  </a:lnTo>
                  <a:lnTo>
                    <a:pt x="3065" y="0"/>
                  </a:lnTo>
                  <a:lnTo>
                    <a:pt x="582" y="597"/>
                  </a:lnTo>
                  <a:lnTo>
                    <a:pt x="0" y="717"/>
                  </a:lnTo>
                  <a:lnTo>
                    <a:pt x="0" y="1543"/>
                  </a:lnTo>
                  <a:lnTo>
                    <a:pt x="7689" y="15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0" y="4232801"/>
              <a:ext cx="12204700" cy="2625199"/>
            </a:xfrm>
            <a:prstGeom prst="rect">
              <a:avLst/>
            </a:pr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803400"/>
            <a:ext cx="10858500" cy="1371600"/>
          </a:xfrm>
        </p:spPr>
        <p:txBody>
          <a:bodyPr anchor="ctr">
            <a:no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3540761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3815081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www.islide.cc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csdn.net/m0_63636799/article/details/133313817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圆: 空心 256">
            <a:extLst>
              <a:ext uri="{FF2B5EF4-FFF2-40B4-BE49-F238E27FC236}">
                <a16:creationId xmlns:a16="http://schemas.microsoft.com/office/drawing/2014/main" id="{74A9E843-1667-3DA3-FF77-05C5A4A9EE8A}"/>
              </a:ext>
            </a:extLst>
          </p:cNvPr>
          <p:cNvSpPr/>
          <p:nvPr/>
        </p:nvSpPr>
        <p:spPr>
          <a:xfrm>
            <a:off x="7588207" y="374493"/>
            <a:ext cx="5951891" cy="5918200"/>
          </a:xfrm>
          <a:prstGeom prst="donut">
            <a:avLst>
              <a:gd name="adj" fmla="val 11200"/>
            </a:avLst>
          </a:prstGeom>
          <a:solidFill>
            <a:srgbClr val="D2D8F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3" name="圆: 空心 2">
            <a:extLst>
              <a:ext uri="{FF2B5EF4-FFF2-40B4-BE49-F238E27FC236}">
                <a16:creationId xmlns:a16="http://schemas.microsoft.com/office/drawing/2014/main" id="{0F5BF4D0-817A-B522-6BAB-3AF06799CE62}"/>
              </a:ext>
            </a:extLst>
          </p:cNvPr>
          <p:cNvSpPr/>
          <p:nvPr/>
        </p:nvSpPr>
        <p:spPr>
          <a:xfrm rot="20337877">
            <a:off x="6421793" y="939499"/>
            <a:ext cx="4841467" cy="4814061"/>
          </a:xfrm>
          <a:prstGeom prst="donut">
            <a:avLst>
              <a:gd name="adj" fmla="val 13078"/>
            </a:avLst>
          </a:prstGeom>
          <a:gradFill>
            <a:gsLst>
              <a:gs pos="0">
                <a:srgbClr val="D2D8FD"/>
              </a:gs>
              <a:gs pos="81000">
                <a:srgbClr val="1540DD">
                  <a:alpha val="10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68518" y="2685049"/>
            <a:ext cx="6422406" cy="10572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292"/>
              </a:lnSpc>
            </a:pPr>
            <a:r>
              <a:rPr lang="zh-CN" altLang="en-US" sz="5334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 Bold"/>
                <a:sym typeface="思源黑体 1 Bold"/>
              </a:rPr>
              <a:t>计算机网络课程设计</a:t>
            </a:r>
            <a:endParaRPr lang="en-US" sz="5334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1 Bold"/>
              <a:sym typeface="思源黑体 1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03995" y="4181001"/>
            <a:ext cx="6246807" cy="2367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6"/>
              </a:lnSpc>
            </a:pPr>
            <a:r>
              <a:rPr lang="zh-CN" altLang="en-US" sz="2000" dirty="0">
                <a:latin typeface="+mn-ea"/>
                <a:cs typeface="+mn-ea"/>
                <a:sym typeface="思源黑体 2 Medium"/>
              </a:rPr>
              <a:t>第</a:t>
            </a:r>
            <a:r>
              <a:rPr lang="en-US" altLang="zh-CN" sz="2000" dirty="0">
                <a:latin typeface="+mn-ea"/>
                <a:cs typeface="+mn-ea"/>
                <a:sym typeface="思源黑体 2 Medium"/>
              </a:rPr>
              <a:t>2</a:t>
            </a:r>
            <a:r>
              <a:rPr lang="zh-CN" altLang="en-US" sz="2000" dirty="0">
                <a:latin typeface="+mn-ea"/>
                <a:cs typeface="+mn-ea"/>
                <a:sym typeface="思源黑体 2 Medium"/>
              </a:rPr>
              <a:t>次实验</a:t>
            </a:r>
            <a:r>
              <a:rPr lang="zh-CN" altLang="en-US" sz="2000" dirty="0">
                <a:latin typeface="+mn-ea"/>
                <a:cs typeface="+mn-ea"/>
                <a:sym typeface="+mn-lt"/>
              </a:rPr>
              <a:t>：</a:t>
            </a:r>
            <a:r>
              <a:rPr lang="en-US" altLang="zh-CN" sz="2000" dirty="0">
                <a:latin typeface="+mn-ea"/>
                <a:cs typeface="+mn-ea"/>
              </a:rPr>
              <a:t> </a:t>
            </a:r>
            <a:r>
              <a:rPr lang="en-US" altLang="zh-CN" sz="2000" dirty="0">
                <a:latin typeface="+mn-ea"/>
                <a:cs typeface="+mn-ea"/>
                <a:sym typeface="+mn-lt"/>
              </a:rPr>
              <a:t>DNS </a:t>
            </a:r>
            <a:r>
              <a:rPr lang="zh-CN" altLang="en-US" sz="2000" dirty="0">
                <a:latin typeface="+mn-ea"/>
                <a:cs typeface="+mn-ea"/>
                <a:sym typeface="+mn-lt"/>
              </a:rPr>
              <a:t>与</a:t>
            </a:r>
            <a:r>
              <a:rPr lang="en-US" altLang="zh-CN" sz="2000" dirty="0">
                <a:latin typeface="+mn-ea"/>
                <a:cs typeface="+mn-ea"/>
                <a:sym typeface="+mn-lt"/>
              </a:rPr>
              <a:t> Web </a:t>
            </a:r>
            <a:r>
              <a:rPr lang="zh-CN" altLang="en-US" sz="2000" dirty="0">
                <a:latin typeface="+mn-ea"/>
                <a:cs typeface="+mn-ea"/>
                <a:sym typeface="+mn-lt"/>
              </a:rPr>
              <a:t>服务器的配置及协议分析</a:t>
            </a:r>
            <a:endParaRPr lang="zh-CN" altLang="en-US" sz="2000" dirty="0">
              <a:latin typeface="+mn-ea"/>
              <a:cs typeface="+mn-ea"/>
              <a:sym typeface="思源黑体 2 Medium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7035800" y="1290853"/>
            <a:ext cx="523032" cy="626087"/>
            <a:chOff x="0" y="0"/>
            <a:chExt cx="1046064" cy="1252173"/>
          </a:xfrm>
        </p:grpSpPr>
        <p:grpSp>
          <p:nvGrpSpPr>
            <p:cNvPr id="15" name="Group 15"/>
            <p:cNvGrpSpPr/>
            <p:nvPr/>
          </p:nvGrpSpPr>
          <p:grpSpPr>
            <a:xfrm>
              <a:off x="308527" y="0"/>
              <a:ext cx="120482" cy="120482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0" y="0"/>
              <a:ext cx="120482" cy="120482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925582" y="0"/>
              <a:ext cx="120482" cy="120482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17055" y="0"/>
              <a:ext cx="120482" cy="120482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308527" y="282923"/>
              <a:ext cx="120482" cy="120482"/>
              <a:chOff x="0" y="0"/>
              <a:chExt cx="812800" cy="812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0" y="282923"/>
              <a:ext cx="120482" cy="120482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925582" y="282923"/>
              <a:ext cx="120482" cy="120482"/>
              <a:chOff x="0" y="0"/>
              <a:chExt cx="812800" cy="8128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617055" y="282923"/>
              <a:ext cx="120482" cy="120482"/>
              <a:chOff x="0" y="0"/>
              <a:chExt cx="812800" cy="812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308527" y="565845"/>
              <a:ext cx="120482" cy="120482"/>
              <a:chOff x="0" y="0"/>
              <a:chExt cx="812800" cy="812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0" y="565845"/>
              <a:ext cx="120482" cy="120482"/>
              <a:chOff x="0" y="0"/>
              <a:chExt cx="812800" cy="8128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925582" y="565845"/>
              <a:ext cx="120482" cy="120482"/>
              <a:chOff x="0" y="0"/>
              <a:chExt cx="812800" cy="8128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617055" y="565845"/>
              <a:ext cx="120482" cy="120482"/>
              <a:chOff x="0" y="0"/>
              <a:chExt cx="812800" cy="8128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308527" y="848768"/>
              <a:ext cx="120482" cy="120482"/>
              <a:chOff x="0" y="0"/>
              <a:chExt cx="812800" cy="8128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0" y="848768"/>
              <a:ext cx="120482" cy="120482"/>
              <a:chOff x="0" y="0"/>
              <a:chExt cx="812800" cy="81280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925582" y="848768"/>
              <a:ext cx="120482" cy="120482"/>
              <a:chOff x="0" y="0"/>
              <a:chExt cx="812800" cy="8128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617055" y="848768"/>
              <a:ext cx="120482" cy="120482"/>
              <a:chOff x="0" y="0"/>
              <a:chExt cx="812800" cy="81280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308527" y="1131691"/>
              <a:ext cx="120482" cy="120482"/>
              <a:chOff x="0" y="0"/>
              <a:chExt cx="812800" cy="8128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0" y="1131691"/>
              <a:ext cx="120482" cy="120482"/>
              <a:chOff x="0" y="0"/>
              <a:chExt cx="812800" cy="81280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925582" y="1131691"/>
              <a:ext cx="120482" cy="120482"/>
              <a:chOff x="0" y="0"/>
              <a:chExt cx="812800" cy="81280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617055" y="1131691"/>
              <a:ext cx="120482" cy="120482"/>
              <a:chOff x="0" y="0"/>
              <a:chExt cx="812800" cy="812800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75" name="Group 75"/>
          <p:cNvGrpSpPr/>
          <p:nvPr/>
        </p:nvGrpSpPr>
        <p:grpSpPr>
          <a:xfrm>
            <a:off x="3933799" y="4675085"/>
            <a:ext cx="1758583" cy="634855"/>
            <a:chOff x="0" y="0"/>
            <a:chExt cx="3517166" cy="1269709"/>
          </a:xfrm>
        </p:grpSpPr>
        <p:grpSp>
          <p:nvGrpSpPr>
            <p:cNvPr id="76" name="Group 76"/>
            <p:cNvGrpSpPr/>
            <p:nvPr/>
          </p:nvGrpSpPr>
          <p:grpSpPr>
            <a:xfrm>
              <a:off x="2779629" y="17536"/>
              <a:ext cx="120482" cy="120482"/>
              <a:chOff x="0" y="0"/>
              <a:chExt cx="812800" cy="81280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78" name="TextBox 7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9" name="Group 79"/>
            <p:cNvGrpSpPr/>
            <p:nvPr/>
          </p:nvGrpSpPr>
          <p:grpSpPr>
            <a:xfrm>
              <a:off x="2471102" y="17536"/>
              <a:ext cx="120482" cy="120482"/>
              <a:chOff x="0" y="0"/>
              <a:chExt cx="812800" cy="812800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3396684" y="17536"/>
              <a:ext cx="120482" cy="120482"/>
              <a:chOff x="0" y="0"/>
              <a:chExt cx="812800" cy="812800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84" name="TextBox 8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3088157" y="17536"/>
              <a:ext cx="120482" cy="120482"/>
              <a:chOff x="0" y="0"/>
              <a:chExt cx="812800" cy="812800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8" name="Group 88"/>
            <p:cNvGrpSpPr/>
            <p:nvPr/>
          </p:nvGrpSpPr>
          <p:grpSpPr>
            <a:xfrm>
              <a:off x="2779629" y="300459"/>
              <a:ext cx="120482" cy="120482"/>
              <a:chOff x="0" y="0"/>
              <a:chExt cx="812800" cy="812800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90" name="TextBox 9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1" name="Group 91"/>
            <p:cNvGrpSpPr/>
            <p:nvPr/>
          </p:nvGrpSpPr>
          <p:grpSpPr>
            <a:xfrm>
              <a:off x="2471102" y="300459"/>
              <a:ext cx="120482" cy="120482"/>
              <a:chOff x="0" y="0"/>
              <a:chExt cx="812800" cy="812800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93" name="TextBox 9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4" name="Group 94"/>
            <p:cNvGrpSpPr/>
            <p:nvPr/>
          </p:nvGrpSpPr>
          <p:grpSpPr>
            <a:xfrm>
              <a:off x="3396684" y="300459"/>
              <a:ext cx="120482" cy="120482"/>
              <a:chOff x="0" y="0"/>
              <a:chExt cx="812800" cy="812800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96" name="TextBox 9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7" name="Group 97"/>
            <p:cNvGrpSpPr/>
            <p:nvPr/>
          </p:nvGrpSpPr>
          <p:grpSpPr>
            <a:xfrm>
              <a:off x="3088157" y="300459"/>
              <a:ext cx="120482" cy="120482"/>
              <a:chOff x="0" y="0"/>
              <a:chExt cx="812800" cy="812800"/>
            </a:xfrm>
          </p:grpSpPr>
          <p:sp>
            <p:nvSpPr>
              <p:cNvPr id="98" name="Freeform 9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99" name="TextBox 9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0" name="Group 100"/>
            <p:cNvGrpSpPr/>
            <p:nvPr/>
          </p:nvGrpSpPr>
          <p:grpSpPr>
            <a:xfrm>
              <a:off x="2779629" y="583382"/>
              <a:ext cx="120482" cy="120482"/>
              <a:chOff x="0" y="0"/>
              <a:chExt cx="812800" cy="812800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02" name="TextBox 10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3" name="Group 103"/>
            <p:cNvGrpSpPr/>
            <p:nvPr/>
          </p:nvGrpSpPr>
          <p:grpSpPr>
            <a:xfrm>
              <a:off x="2471102" y="583382"/>
              <a:ext cx="120482" cy="120482"/>
              <a:chOff x="0" y="0"/>
              <a:chExt cx="812800" cy="812800"/>
            </a:xfrm>
          </p:grpSpPr>
          <p:sp>
            <p:nvSpPr>
              <p:cNvPr id="104" name="Freeform 10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05" name="TextBox 10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6" name="Group 106"/>
            <p:cNvGrpSpPr/>
            <p:nvPr/>
          </p:nvGrpSpPr>
          <p:grpSpPr>
            <a:xfrm>
              <a:off x="3396684" y="583382"/>
              <a:ext cx="120482" cy="120482"/>
              <a:chOff x="0" y="0"/>
              <a:chExt cx="812800" cy="812800"/>
            </a:xfrm>
          </p:grpSpPr>
          <p:sp>
            <p:nvSpPr>
              <p:cNvPr id="107" name="Freeform 10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08" name="TextBox 10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9" name="Group 109"/>
            <p:cNvGrpSpPr/>
            <p:nvPr/>
          </p:nvGrpSpPr>
          <p:grpSpPr>
            <a:xfrm>
              <a:off x="3088157" y="583382"/>
              <a:ext cx="120482" cy="120482"/>
              <a:chOff x="0" y="0"/>
              <a:chExt cx="812800" cy="812800"/>
            </a:xfrm>
          </p:grpSpPr>
          <p:sp>
            <p:nvSpPr>
              <p:cNvPr id="110" name="Freeform 1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11" name="TextBox 11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Group 112"/>
            <p:cNvGrpSpPr/>
            <p:nvPr/>
          </p:nvGrpSpPr>
          <p:grpSpPr>
            <a:xfrm>
              <a:off x="2779629" y="866304"/>
              <a:ext cx="120482" cy="120482"/>
              <a:chOff x="0" y="0"/>
              <a:chExt cx="812800" cy="812800"/>
            </a:xfrm>
          </p:grpSpPr>
          <p:sp>
            <p:nvSpPr>
              <p:cNvPr id="113" name="Freeform 1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14" name="TextBox 11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Group 115"/>
            <p:cNvGrpSpPr/>
            <p:nvPr/>
          </p:nvGrpSpPr>
          <p:grpSpPr>
            <a:xfrm>
              <a:off x="2471102" y="866304"/>
              <a:ext cx="120482" cy="120482"/>
              <a:chOff x="0" y="0"/>
              <a:chExt cx="812800" cy="812800"/>
            </a:xfrm>
          </p:grpSpPr>
          <p:sp>
            <p:nvSpPr>
              <p:cNvPr id="116" name="Freeform 1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17" name="TextBox 11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Group 118"/>
            <p:cNvGrpSpPr/>
            <p:nvPr/>
          </p:nvGrpSpPr>
          <p:grpSpPr>
            <a:xfrm>
              <a:off x="3396684" y="866304"/>
              <a:ext cx="120482" cy="120482"/>
              <a:chOff x="0" y="0"/>
              <a:chExt cx="812800" cy="812800"/>
            </a:xfrm>
          </p:grpSpPr>
          <p:sp>
            <p:nvSpPr>
              <p:cNvPr id="119" name="Freeform 1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20" name="TextBox 12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Group 121"/>
            <p:cNvGrpSpPr/>
            <p:nvPr/>
          </p:nvGrpSpPr>
          <p:grpSpPr>
            <a:xfrm>
              <a:off x="3088157" y="866304"/>
              <a:ext cx="120482" cy="120482"/>
              <a:chOff x="0" y="0"/>
              <a:chExt cx="812800" cy="812800"/>
            </a:xfrm>
          </p:grpSpPr>
          <p:sp>
            <p:nvSpPr>
              <p:cNvPr id="122" name="Freeform 1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23" name="TextBox 12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4" name="Group 124"/>
            <p:cNvGrpSpPr/>
            <p:nvPr/>
          </p:nvGrpSpPr>
          <p:grpSpPr>
            <a:xfrm>
              <a:off x="2779629" y="1149227"/>
              <a:ext cx="120482" cy="120482"/>
              <a:chOff x="0" y="0"/>
              <a:chExt cx="812800" cy="812800"/>
            </a:xfrm>
          </p:grpSpPr>
          <p:sp>
            <p:nvSpPr>
              <p:cNvPr id="125" name="Freeform 1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26" name="TextBox 12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7" name="Group 127"/>
            <p:cNvGrpSpPr/>
            <p:nvPr/>
          </p:nvGrpSpPr>
          <p:grpSpPr>
            <a:xfrm>
              <a:off x="2471102" y="1149227"/>
              <a:ext cx="120482" cy="120482"/>
              <a:chOff x="0" y="0"/>
              <a:chExt cx="812800" cy="812800"/>
            </a:xfrm>
          </p:grpSpPr>
          <p:sp>
            <p:nvSpPr>
              <p:cNvPr id="128" name="Freeform 1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29" name="TextBox 12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0" name="Group 130"/>
            <p:cNvGrpSpPr/>
            <p:nvPr/>
          </p:nvGrpSpPr>
          <p:grpSpPr>
            <a:xfrm>
              <a:off x="3396684" y="1149227"/>
              <a:ext cx="120482" cy="120482"/>
              <a:chOff x="0" y="0"/>
              <a:chExt cx="812800" cy="812800"/>
            </a:xfrm>
          </p:grpSpPr>
          <p:sp>
            <p:nvSpPr>
              <p:cNvPr id="131" name="Freeform 1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32" name="TextBox 13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3" name="Group 133"/>
            <p:cNvGrpSpPr/>
            <p:nvPr/>
          </p:nvGrpSpPr>
          <p:grpSpPr>
            <a:xfrm>
              <a:off x="3088157" y="1149227"/>
              <a:ext cx="120482" cy="120482"/>
              <a:chOff x="0" y="0"/>
              <a:chExt cx="812800" cy="812800"/>
            </a:xfrm>
          </p:grpSpPr>
          <p:sp>
            <p:nvSpPr>
              <p:cNvPr id="134" name="Freeform 1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35" name="TextBox 13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6" name="Group 136"/>
            <p:cNvGrpSpPr/>
            <p:nvPr/>
          </p:nvGrpSpPr>
          <p:grpSpPr>
            <a:xfrm>
              <a:off x="308527" y="0"/>
              <a:ext cx="120482" cy="120482"/>
              <a:chOff x="0" y="0"/>
              <a:chExt cx="812800" cy="812800"/>
            </a:xfrm>
          </p:grpSpPr>
          <p:sp>
            <p:nvSpPr>
              <p:cNvPr id="137" name="Freeform 1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38" name="TextBox 13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9" name="Group 139"/>
            <p:cNvGrpSpPr/>
            <p:nvPr/>
          </p:nvGrpSpPr>
          <p:grpSpPr>
            <a:xfrm>
              <a:off x="0" y="0"/>
              <a:ext cx="120482" cy="120482"/>
              <a:chOff x="0" y="0"/>
              <a:chExt cx="812800" cy="812800"/>
            </a:xfrm>
          </p:grpSpPr>
          <p:sp>
            <p:nvSpPr>
              <p:cNvPr id="140" name="Freeform 1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41" name="TextBox 14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2" name="Group 142"/>
            <p:cNvGrpSpPr/>
            <p:nvPr/>
          </p:nvGrpSpPr>
          <p:grpSpPr>
            <a:xfrm>
              <a:off x="925582" y="0"/>
              <a:ext cx="120482" cy="120482"/>
              <a:chOff x="0" y="0"/>
              <a:chExt cx="812800" cy="812800"/>
            </a:xfrm>
          </p:grpSpPr>
          <p:sp>
            <p:nvSpPr>
              <p:cNvPr id="143" name="Freeform 1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44" name="TextBox 14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5" name="Group 145"/>
            <p:cNvGrpSpPr/>
            <p:nvPr/>
          </p:nvGrpSpPr>
          <p:grpSpPr>
            <a:xfrm>
              <a:off x="617055" y="0"/>
              <a:ext cx="120482" cy="120482"/>
              <a:chOff x="0" y="0"/>
              <a:chExt cx="812800" cy="812800"/>
            </a:xfrm>
          </p:grpSpPr>
          <p:sp>
            <p:nvSpPr>
              <p:cNvPr id="146" name="Freeform 1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47" name="TextBox 14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8" name="Group 148"/>
            <p:cNvGrpSpPr/>
            <p:nvPr/>
          </p:nvGrpSpPr>
          <p:grpSpPr>
            <a:xfrm>
              <a:off x="1542637" y="0"/>
              <a:ext cx="120482" cy="120482"/>
              <a:chOff x="0" y="0"/>
              <a:chExt cx="812800" cy="812800"/>
            </a:xfrm>
          </p:grpSpPr>
          <p:sp>
            <p:nvSpPr>
              <p:cNvPr id="149" name="Freeform 1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50" name="TextBox 15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1" name="Group 151"/>
            <p:cNvGrpSpPr/>
            <p:nvPr/>
          </p:nvGrpSpPr>
          <p:grpSpPr>
            <a:xfrm>
              <a:off x="1234109" y="0"/>
              <a:ext cx="120482" cy="120482"/>
              <a:chOff x="0" y="0"/>
              <a:chExt cx="812800" cy="812800"/>
            </a:xfrm>
          </p:grpSpPr>
          <p:sp>
            <p:nvSpPr>
              <p:cNvPr id="152" name="Freeform 15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53" name="TextBox 15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4" name="Group 154"/>
            <p:cNvGrpSpPr/>
            <p:nvPr/>
          </p:nvGrpSpPr>
          <p:grpSpPr>
            <a:xfrm>
              <a:off x="2159691" y="0"/>
              <a:ext cx="120482" cy="120482"/>
              <a:chOff x="0" y="0"/>
              <a:chExt cx="812800" cy="812800"/>
            </a:xfrm>
          </p:grpSpPr>
          <p:sp>
            <p:nvSpPr>
              <p:cNvPr id="155" name="Freeform 15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56" name="TextBox 15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7" name="Group 157"/>
            <p:cNvGrpSpPr/>
            <p:nvPr/>
          </p:nvGrpSpPr>
          <p:grpSpPr>
            <a:xfrm>
              <a:off x="1851164" y="0"/>
              <a:ext cx="120482" cy="120482"/>
              <a:chOff x="0" y="0"/>
              <a:chExt cx="812800" cy="812800"/>
            </a:xfrm>
          </p:grpSpPr>
          <p:sp>
            <p:nvSpPr>
              <p:cNvPr id="158" name="Freeform 15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59" name="TextBox 15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0" name="Group 160"/>
            <p:cNvGrpSpPr/>
            <p:nvPr/>
          </p:nvGrpSpPr>
          <p:grpSpPr>
            <a:xfrm>
              <a:off x="308527" y="282923"/>
              <a:ext cx="120482" cy="120482"/>
              <a:chOff x="0" y="0"/>
              <a:chExt cx="812800" cy="812800"/>
            </a:xfrm>
          </p:grpSpPr>
          <p:sp>
            <p:nvSpPr>
              <p:cNvPr id="161" name="Freeform 16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62" name="TextBox 16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3" name="Group 163"/>
            <p:cNvGrpSpPr/>
            <p:nvPr/>
          </p:nvGrpSpPr>
          <p:grpSpPr>
            <a:xfrm>
              <a:off x="0" y="282923"/>
              <a:ext cx="120482" cy="120482"/>
              <a:chOff x="0" y="0"/>
              <a:chExt cx="812800" cy="812800"/>
            </a:xfrm>
          </p:grpSpPr>
          <p:sp>
            <p:nvSpPr>
              <p:cNvPr id="164" name="Freeform 16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65" name="TextBox 16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6" name="Group 166"/>
            <p:cNvGrpSpPr/>
            <p:nvPr/>
          </p:nvGrpSpPr>
          <p:grpSpPr>
            <a:xfrm>
              <a:off x="925582" y="282923"/>
              <a:ext cx="120482" cy="120482"/>
              <a:chOff x="0" y="0"/>
              <a:chExt cx="812800" cy="812800"/>
            </a:xfrm>
          </p:grpSpPr>
          <p:sp>
            <p:nvSpPr>
              <p:cNvPr id="167" name="Freeform 16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68" name="TextBox 16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9" name="Group 169"/>
            <p:cNvGrpSpPr/>
            <p:nvPr/>
          </p:nvGrpSpPr>
          <p:grpSpPr>
            <a:xfrm>
              <a:off x="617055" y="282923"/>
              <a:ext cx="120482" cy="120482"/>
              <a:chOff x="0" y="0"/>
              <a:chExt cx="812800" cy="812800"/>
            </a:xfrm>
          </p:grpSpPr>
          <p:sp>
            <p:nvSpPr>
              <p:cNvPr id="170" name="Freeform 17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71" name="TextBox 17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2" name="Group 172"/>
            <p:cNvGrpSpPr/>
            <p:nvPr/>
          </p:nvGrpSpPr>
          <p:grpSpPr>
            <a:xfrm>
              <a:off x="1542637" y="282923"/>
              <a:ext cx="120482" cy="120482"/>
              <a:chOff x="0" y="0"/>
              <a:chExt cx="812800" cy="812800"/>
            </a:xfrm>
          </p:grpSpPr>
          <p:sp>
            <p:nvSpPr>
              <p:cNvPr id="173" name="Freeform 17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74" name="TextBox 17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5" name="Group 175"/>
            <p:cNvGrpSpPr/>
            <p:nvPr/>
          </p:nvGrpSpPr>
          <p:grpSpPr>
            <a:xfrm>
              <a:off x="1234109" y="282923"/>
              <a:ext cx="120482" cy="120482"/>
              <a:chOff x="0" y="0"/>
              <a:chExt cx="812800" cy="812800"/>
            </a:xfrm>
          </p:grpSpPr>
          <p:sp>
            <p:nvSpPr>
              <p:cNvPr id="176" name="Freeform 17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77" name="TextBox 17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8" name="Group 178"/>
            <p:cNvGrpSpPr/>
            <p:nvPr/>
          </p:nvGrpSpPr>
          <p:grpSpPr>
            <a:xfrm>
              <a:off x="2159691" y="282923"/>
              <a:ext cx="120482" cy="120482"/>
              <a:chOff x="0" y="0"/>
              <a:chExt cx="812800" cy="812800"/>
            </a:xfrm>
          </p:grpSpPr>
          <p:sp>
            <p:nvSpPr>
              <p:cNvPr id="179" name="Freeform 17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80" name="TextBox 18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1" name="Group 181"/>
            <p:cNvGrpSpPr/>
            <p:nvPr/>
          </p:nvGrpSpPr>
          <p:grpSpPr>
            <a:xfrm>
              <a:off x="1851164" y="282923"/>
              <a:ext cx="120482" cy="120482"/>
              <a:chOff x="0" y="0"/>
              <a:chExt cx="812800" cy="812800"/>
            </a:xfrm>
          </p:grpSpPr>
          <p:sp>
            <p:nvSpPr>
              <p:cNvPr id="182" name="Freeform 18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83" name="TextBox 18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4" name="Group 184"/>
            <p:cNvGrpSpPr/>
            <p:nvPr/>
          </p:nvGrpSpPr>
          <p:grpSpPr>
            <a:xfrm>
              <a:off x="308527" y="565845"/>
              <a:ext cx="120482" cy="120482"/>
              <a:chOff x="0" y="0"/>
              <a:chExt cx="812800" cy="812800"/>
            </a:xfrm>
          </p:grpSpPr>
          <p:sp>
            <p:nvSpPr>
              <p:cNvPr id="185" name="Freeform 18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86" name="TextBox 18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7" name="Group 187"/>
            <p:cNvGrpSpPr/>
            <p:nvPr/>
          </p:nvGrpSpPr>
          <p:grpSpPr>
            <a:xfrm>
              <a:off x="0" y="565845"/>
              <a:ext cx="120482" cy="120482"/>
              <a:chOff x="0" y="0"/>
              <a:chExt cx="812800" cy="812800"/>
            </a:xfrm>
          </p:grpSpPr>
          <p:sp>
            <p:nvSpPr>
              <p:cNvPr id="188" name="Freeform 18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89" name="TextBox 18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90" name="Group 190"/>
            <p:cNvGrpSpPr/>
            <p:nvPr/>
          </p:nvGrpSpPr>
          <p:grpSpPr>
            <a:xfrm>
              <a:off x="925582" y="565845"/>
              <a:ext cx="120482" cy="120482"/>
              <a:chOff x="0" y="0"/>
              <a:chExt cx="812800" cy="812800"/>
            </a:xfrm>
          </p:grpSpPr>
          <p:sp>
            <p:nvSpPr>
              <p:cNvPr id="191" name="Freeform 19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92" name="TextBox 19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93" name="Group 193"/>
            <p:cNvGrpSpPr/>
            <p:nvPr/>
          </p:nvGrpSpPr>
          <p:grpSpPr>
            <a:xfrm>
              <a:off x="617055" y="565845"/>
              <a:ext cx="120482" cy="120482"/>
              <a:chOff x="0" y="0"/>
              <a:chExt cx="812800" cy="812800"/>
            </a:xfrm>
          </p:grpSpPr>
          <p:sp>
            <p:nvSpPr>
              <p:cNvPr id="194" name="Freeform 19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95" name="TextBox 19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96" name="Group 196"/>
            <p:cNvGrpSpPr/>
            <p:nvPr/>
          </p:nvGrpSpPr>
          <p:grpSpPr>
            <a:xfrm>
              <a:off x="1542637" y="565845"/>
              <a:ext cx="120482" cy="120482"/>
              <a:chOff x="0" y="0"/>
              <a:chExt cx="812800" cy="812800"/>
            </a:xfrm>
          </p:grpSpPr>
          <p:sp>
            <p:nvSpPr>
              <p:cNvPr id="197" name="Freeform 19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98" name="TextBox 19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99" name="Group 199"/>
            <p:cNvGrpSpPr/>
            <p:nvPr/>
          </p:nvGrpSpPr>
          <p:grpSpPr>
            <a:xfrm>
              <a:off x="1234109" y="565845"/>
              <a:ext cx="120482" cy="120482"/>
              <a:chOff x="0" y="0"/>
              <a:chExt cx="812800" cy="812800"/>
            </a:xfrm>
          </p:grpSpPr>
          <p:sp>
            <p:nvSpPr>
              <p:cNvPr id="200" name="Freeform 20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01" name="TextBox 20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02" name="Group 202"/>
            <p:cNvGrpSpPr/>
            <p:nvPr/>
          </p:nvGrpSpPr>
          <p:grpSpPr>
            <a:xfrm>
              <a:off x="2159691" y="565845"/>
              <a:ext cx="120482" cy="120482"/>
              <a:chOff x="0" y="0"/>
              <a:chExt cx="812800" cy="812800"/>
            </a:xfrm>
          </p:grpSpPr>
          <p:sp>
            <p:nvSpPr>
              <p:cNvPr id="203" name="Freeform 20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04" name="TextBox 20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05" name="Group 205"/>
            <p:cNvGrpSpPr/>
            <p:nvPr/>
          </p:nvGrpSpPr>
          <p:grpSpPr>
            <a:xfrm>
              <a:off x="1851164" y="565845"/>
              <a:ext cx="120482" cy="120482"/>
              <a:chOff x="0" y="0"/>
              <a:chExt cx="812800" cy="812800"/>
            </a:xfrm>
          </p:grpSpPr>
          <p:sp>
            <p:nvSpPr>
              <p:cNvPr id="206" name="Freeform 20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07" name="TextBox 20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08" name="Group 208"/>
            <p:cNvGrpSpPr/>
            <p:nvPr/>
          </p:nvGrpSpPr>
          <p:grpSpPr>
            <a:xfrm>
              <a:off x="308527" y="848768"/>
              <a:ext cx="120482" cy="120482"/>
              <a:chOff x="0" y="0"/>
              <a:chExt cx="812800" cy="812800"/>
            </a:xfrm>
          </p:grpSpPr>
          <p:sp>
            <p:nvSpPr>
              <p:cNvPr id="209" name="Freeform 20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10" name="TextBox 21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1" name="Group 211"/>
            <p:cNvGrpSpPr/>
            <p:nvPr/>
          </p:nvGrpSpPr>
          <p:grpSpPr>
            <a:xfrm>
              <a:off x="0" y="848768"/>
              <a:ext cx="120482" cy="120482"/>
              <a:chOff x="0" y="0"/>
              <a:chExt cx="812800" cy="812800"/>
            </a:xfrm>
          </p:grpSpPr>
          <p:sp>
            <p:nvSpPr>
              <p:cNvPr id="212" name="Freeform 2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13" name="TextBox 21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4" name="Group 214"/>
            <p:cNvGrpSpPr/>
            <p:nvPr/>
          </p:nvGrpSpPr>
          <p:grpSpPr>
            <a:xfrm>
              <a:off x="925582" y="848768"/>
              <a:ext cx="120482" cy="120482"/>
              <a:chOff x="0" y="0"/>
              <a:chExt cx="812800" cy="812800"/>
            </a:xfrm>
          </p:grpSpPr>
          <p:sp>
            <p:nvSpPr>
              <p:cNvPr id="215" name="Freeform 2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16" name="TextBox 21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7" name="Group 217"/>
            <p:cNvGrpSpPr/>
            <p:nvPr/>
          </p:nvGrpSpPr>
          <p:grpSpPr>
            <a:xfrm>
              <a:off x="617055" y="848768"/>
              <a:ext cx="120482" cy="120482"/>
              <a:chOff x="0" y="0"/>
              <a:chExt cx="812800" cy="812800"/>
            </a:xfrm>
          </p:grpSpPr>
          <p:sp>
            <p:nvSpPr>
              <p:cNvPr id="218" name="Freeform 2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19" name="TextBox 21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0" name="Group 220"/>
            <p:cNvGrpSpPr/>
            <p:nvPr/>
          </p:nvGrpSpPr>
          <p:grpSpPr>
            <a:xfrm>
              <a:off x="1542637" y="848768"/>
              <a:ext cx="120482" cy="120482"/>
              <a:chOff x="0" y="0"/>
              <a:chExt cx="812800" cy="812800"/>
            </a:xfrm>
          </p:grpSpPr>
          <p:sp>
            <p:nvSpPr>
              <p:cNvPr id="221" name="Freeform 2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22" name="TextBox 22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3" name="Group 223"/>
            <p:cNvGrpSpPr/>
            <p:nvPr/>
          </p:nvGrpSpPr>
          <p:grpSpPr>
            <a:xfrm>
              <a:off x="1234109" y="848768"/>
              <a:ext cx="120482" cy="120482"/>
              <a:chOff x="0" y="0"/>
              <a:chExt cx="812800" cy="812800"/>
            </a:xfrm>
          </p:grpSpPr>
          <p:sp>
            <p:nvSpPr>
              <p:cNvPr id="224" name="Freeform 2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25" name="TextBox 22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6" name="Group 226"/>
            <p:cNvGrpSpPr/>
            <p:nvPr/>
          </p:nvGrpSpPr>
          <p:grpSpPr>
            <a:xfrm>
              <a:off x="2159691" y="848768"/>
              <a:ext cx="120482" cy="120482"/>
              <a:chOff x="0" y="0"/>
              <a:chExt cx="812800" cy="812800"/>
            </a:xfrm>
          </p:grpSpPr>
          <p:sp>
            <p:nvSpPr>
              <p:cNvPr id="227" name="Freeform 2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28" name="TextBox 22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9" name="Group 229"/>
            <p:cNvGrpSpPr/>
            <p:nvPr/>
          </p:nvGrpSpPr>
          <p:grpSpPr>
            <a:xfrm>
              <a:off x="1851164" y="848768"/>
              <a:ext cx="120482" cy="120482"/>
              <a:chOff x="0" y="0"/>
              <a:chExt cx="812800" cy="812800"/>
            </a:xfrm>
          </p:grpSpPr>
          <p:sp>
            <p:nvSpPr>
              <p:cNvPr id="230" name="Freeform 2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31" name="TextBox 23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32" name="Group 232"/>
            <p:cNvGrpSpPr/>
            <p:nvPr/>
          </p:nvGrpSpPr>
          <p:grpSpPr>
            <a:xfrm>
              <a:off x="308527" y="1131691"/>
              <a:ext cx="120482" cy="120482"/>
              <a:chOff x="0" y="0"/>
              <a:chExt cx="812800" cy="812800"/>
            </a:xfrm>
          </p:grpSpPr>
          <p:sp>
            <p:nvSpPr>
              <p:cNvPr id="233" name="Freeform 2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34" name="TextBox 23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35" name="Group 235"/>
            <p:cNvGrpSpPr/>
            <p:nvPr/>
          </p:nvGrpSpPr>
          <p:grpSpPr>
            <a:xfrm>
              <a:off x="0" y="1131691"/>
              <a:ext cx="120482" cy="120482"/>
              <a:chOff x="0" y="0"/>
              <a:chExt cx="812800" cy="812800"/>
            </a:xfrm>
          </p:grpSpPr>
          <p:sp>
            <p:nvSpPr>
              <p:cNvPr id="236" name="Freeform 23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37" name="TextBox 23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38" name="Group 238"/>
            <p:cNvGrpSpPr/>
            <p:nvPr/>
          </p:nvGrpSpPr>
          <p:grpSpPr>
            <a:xfrm>
              <a:off x="925582" y="1131691"/>
              <a:ext cx="120482" cy="120482"/>
              <a:chOff x="0" y="0"/>
              <a:chExt cx="812800" cy="812800"/>
            </a:xfrm>
          </p:grpSpPr>
          <p:sp>
            <p:nvSpPr>
              <p:cNvPr id="239" name="Freeform 2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40" name="TextBox 24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1" name="Group 241"/>
            <p:cNvGrpSpPr/>
            <p:nvPr/>
          </p:nvGrpSpPr>
          <p:grpSpPr>
            <a:xfrm>
              <a:off x="617055" y="1131691"/>
              <a:ext cx="120482" cy="120482"/>
              <a:chOff x="0" y="0"/>
              <a:chExt cx="812800" cy="812800"/>
            </a:xfrm>
          </p:grpSpPr>
          <p:sp>
            <p:nvSpPr>
              <p:cNvPr id="242" name="Freeform 24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43" name="TextBox 24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4" name="Group 244"/>
            <p:cNvGrpSpPr/>
            <p:nvPr/>
          </p:nvGrpSpPr>
          <p:grpSpPr>
            <a:xfrm>
              <a:off x="1542637" y="1131691"/>
              <a:ext cx="120482" cy="120482"/>
              <a:chOff x="0" y="0"/>
              <a:chExt cx="812800" cy="812800"/>
            </a:xfrm>
          </p:grpSpPr>
          <p:sp>
            <p:nvSpPr>
              <p:cNvPr id="245" name="Freeform 24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46" name="TextBox 24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7" name="Group 247"/>
            <p:cNvGrpSpPr/>
            <p:nvPr/>
          </p:nvGrpSpPr>
          <p:grpSpPr>
            <a:xfrm>
              <a:off x="1234109" y="1131691"/>
              <a:ext cx="120482" cy="120482"/>
              <a:chOff x="0" y="0"/>
              <a:chExt cx="812800" cy="812800"/>
            </a:xfrm>
          </p:grpSpPr>
          <p:sp>
            <p:nvSpPr>
              <p:cNvPr id="248" name="Freeform 24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49" name="TextBox 24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50" name="Group 250"/>
            <p:cNvGrpSpPr/>
            <p:nvPr/>
          </p:nvGrpSpPr>
          <p:grpSpPr>
            <a:xfrm>
              <a:off x="2159691" y="1131691"/>
              <a:ext cx="120482" cy="120482"/>
              <a:chOff x="0" y="0"/>
              <a:chExt cx="812800" cy="812800"/>
            </a:xfrm>
          </p:grpSpPr>
          <p:sp>
            <p:nvSpPr>
              <p:cNvPr id="251" name="Freeform 25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52" name="TextBox 25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53" name="Group 253"/>
            <p:cNvGrpSpPr/>
            <p:nvPr/>
          </p:nvGrpSpPr>
          <p:grpSpPr>
            <a:xfrm>
              <a:off x="1851164" y="1131691"/>
              <a:ext cx="120482" cy="120482"/>
              <a:chOff x="0" y="0"/>
              <a:chExt cx="812800" cy="812800"/>
            </a:xfrm>
          </p:grpSpPr>
          <p:sp>
            <p:nvSpPr>
              <p:cNvPr id="254" name="Freeform 25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55" name="TextBox 25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271" name="TextBox 271"/>
          <p:cNvSpPr txBox="1"/>
          <p:nvPr/>
        </p:nvSpPr>
        <p:spPr>
          <a:xfrm>
            <a:off x="868518" y="6076351"/>
            <a:ext cx="1911722" cy="420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72"/>
              </a:lnSpc>
            </a:pPr>
            <a:r>
              <a:rPr lang="zh-CN" altLang="en-US" sz="1267" spc="124" dirty="0">
                <a:solidFill>
                  <a:srgbClr val="1540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"/>
                <a:sym typeface="思源黑体 1"/>
              </a:rPr>
              <a:t>任课教师：朱敏老师</a:t>
            </a:r>
            <a:endParaRPr lang="en-US" altLang="zh-CN" sz="1267" spc="124" dirty="0">
              <a:solidFill>
                <a:srgbClr val="1540D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1"/>
              <a:sym typeface="思源黑体 1"/>
            </a:endParaRPr>
          </a:p>
          <a:p>
            <a:pPr algn="just">
              <a:lnSpc>
                <a:spcPts val="1672"/>
              </a:lnSpc>
            </a:pPr>
            <a:r>
              <a:rPr lang="zh-CN" altLang="en-US" sz="1267" spc="124" dirty="0">
                <a:solidFill>
                  <a:srgbClr val="1540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"/>
                <a:sym typeface="思源黑体 1"/>
              </a:rPr>
              <a:t>实验助教：杨阳</a:t>
            </a:r>
            <a:endParaRPr lang="en-US" sz="1267" spc="124" dirty="0">
              <a:solidFill>
                <a:srgbClr val="1540D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1"/>
              <a:sym typeface="思源黑体 1"/>
            </a:endParaRPr>
          </a:p>
        </p:txBody>
      </p:sp>
      <p:pic>
        <p:nvPicPr>
          <p:cNvPr id="272" name="图片 271">
            <a:extLst>
              <a:ext uri="{FF2B5EF4-FFF2-40B4-BE49-F238E27FC236}">
                <a16:creationId xmlns:a16="http://schemas.microsoft.com/office/drawing/2014/main" id="{343C0833-3841-D914-BAA5-4879BD10E93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616" y="184638"/>
            <a:ext cx="950785" cy="950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: 空心 2">
            <a:extLst>
              <a:ext uri="{FF2B5EF4-FFF2-40B4-BE49-F238E27FC236}">
                <a16:creationId xmlns:a16="http://schemas.microsoft.com/office/drawing/2014/main" id="{CBFF6C6C-8647-D902-63C9-FC4512FE6963}"/>
              </a:ext>
            </a:extLst>
          </p:cNvPr>
          <p:cNvSpPr/>
          <p:nvPr/>
        </p:nvSpPr>
        <p:spPr>
          <a:xfrm rot="10111117">
            <a:off x="-1537022" y="762575"/>
            <a:ext cx="4841467" cy="4814061"/>
          </a:xfrm>
          <a:prstGeom prst="donut">
            <a:avLst>
              <a:gd name="adj" fmla="val 13078"/>
            </a:avLst>
          </a:prstGeom>
          <a:gradFill>
            <a:gsLst>
              <a:gs pos="0">
                <a:srgbClr val="D2D8FD"/>
              </a:gs>
              <a:gs pos="81000">
                <a:srgbClr val="1540DD">
                  <a:alpha val="10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731387" y="3023635"/>
            <a:ext cx="2469779" cy="602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20"/>
              </a:lnSpc>
            </a:pPr>
            <a:r>
              <a:rPr lang="en-US" sz="3933" dirty="0">
                <a:solidFill>
                  <a:srgbClr val="1540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kzidenz-Grotesk"/>
                <a:sym typeface="Akzidenz-Grotesk"/>
              </a:rPr>
              <a:t>Contents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4550" y="2790778"/>
            <a:ext cx="1988437" cy="947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760"/>
              </a:lnSpc>
            </a:pPr>
            <a:r>
              <a:rPr lang="en-US" sz="6466" b="1" dirty="0" err="1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目录</a:t>
            </a:r>
            <a:endParaRPr lang="en-US" sz="6466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350000" y="2496879"/>
            <a:ext cx="2997200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28"/>
              </a:lnSpc>
            </a:pPr>
            <a:r>
              <a:rPr lang="zh-CN" altLang="en-US" sz="2939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作业问题</a:t>
            </a:r>
            <a:endParaRPr lang="en-US" sz="2939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533035" y="2414329"/>
            <a:ext cx="1007136" cy="594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64"/>
              </a:lnSpc>
            </a:pPr>
            <a:r>
              <a:rPr lang="en-US" sz="4054" b="1" dirty="0">
                <a:solidFill>
                  <a:srgbClr val="1540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kzidenz-Grotesk Bold"/>
                <a:sym typeface="Akzidenz-Grotesk Bold"/>
              </a:rPr>
              <a:t>01.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28811" y="2944501"/>
            <a:ext cx="3731189" cy="218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90"/>
              </a:lnSpc>
            </a:pPr>
            <a:r>
              <a:rPr lang="en-US" altLang="zh-CN" sz="1492" dirty="0">
                <a:solidFill>
                  <a:srgbClr val="1540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kzidenz-Grotesk"/>
                <a:sym typeface="Akzidenz-Grotesk"/>
              </a:rPr>
              <a:t>Assignment questions + marks</a:t>
            </a:r>
            <a:endParaRPr lang="en-US" sz="1492" dirty="0">
              <a:solidFill>
                <a:srgbClr val="1540D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kzidenz-Grotesk"/>
              <a:sym typeface="Akzidenz-Grotesk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428811" y="3598921"/>
            <a:ext cx="2043775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28"/>
              </a:lnSpc>
            </a:pPr>
            <a:r>
              <a:rPr lang="zh-CN" altLang="en-US" sz="2939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第二次实验</a:t>
            </a:r>
            <a:endParaRPr lang="en-US" sz="2939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5533035" y="3516371"/>
            <a:ext cx="1007136" cy="594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64"/>
              </a:lnSpc>
            </a:pPr>
            <a:r>
              <a:rPr lang="en-US" sz="4054" b="1" dirty="0">
                <a:solidFill>
                  <a:srgbClr val="1540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kzidenz-Grotesk Bold"/>
                <a:sym typeface="Akzidenz-Grotesk Bold"/>
              </a:rPr>
              <a:t>02.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428811" y="4046543"/>
            <a:ext cx="2786343" cy="21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90"/>
              </a:lnSpc>
            </a:pPr>
            <a:r>
              <a:rPr lang="en-US" altLang="zh-CN" sz="1492" dirty="0">
                <a:solidFill>
                  <a:srgbClr val="1540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kzidenz-Grotesk"/>
                <a:sym typeface="Akzidenz-Grotesk"/>
              </a:rPr>
              <a:t>Second</a:t>
            </a:r>
            <a:r>
              <a:rPr lang="en-US" sz="1492" dirty="0">
                <a:solidFill>
                  <a:srgbClr val="1540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kzidenz-Grotesk"/>
                <a:sym typeface="Akzidenz-Grotesk"/>
              </a:rPr>
              <a:t> </a:t>
            </a:r>
            <a:r>
              <a:rPr lang="en-US" altLang="zh-CN" sz="1492" dirty="0">
                <a:solidFill>
                  <a:srgbClr val="1540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kzidenz-Grotesk"/>
                <a:sym typeface="Akzidenz-Grotesk"/>
              </a:rPr>
              <a:t>E</a:t>
            </a:r>
            <a:r>
              <a:rPr lang="en-US" sz="1492" dirty="0">
                <a:solidFill>
                  <a:srgbClr val="1540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kzidenz-Grotesk"/>
                <a:sym typeface="Akzidenz-Grotesk"/>
              </a:rPr>
              <a:t>xperiment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: 空心 7">
            <a:extLst>
              <a:ext uri="{FF2B5EF4-FFF2-40B4-BE49-F238E27FC236}">
                <a16:creationId xmlns:a16="http://schemas.microsoft.com/office/drawing/2014/main" id="{EB2D9353-5849-7C78-5BCF-39812AB6BD15}"/>
              </a:ext>
            </a:extLst>
          </p:cNvPr>
          <p:cNvSpPr/>
          <p:nvPr/>
        </p:nvSpPr>
        <p:spPr>
          <a:xfrm rot="12130393">
            <a:off x="332943" y="178447"/>
            <a:ext cx="1249544" cy="1242471"/>
          </a:xfrm>
          <a:prstGeom prst="donut">
            <a:avLst>
              <a:gd name="adj" fmla="val 17585"/>
            </a:avLst>
          </a:prstGeom>
          <a:gradFill>
            <a:gsLst>
              <a:gs pos="0">
                <a:srgbClr val="D2D8FD"/>
              </a:gs>
              <a:gs pos="100000">
                <a:srgbClr val="1540DD">
                  <a:alpha val="10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" name="TextBox 2"/>
          <p:cNvSpPr txBox="1"/>
          <p:nvPr/>
        </p:nvSpPr>
        <p:spPr>
          <a:xfrm>
            <a:off x="917977" y="578176"/>
            <a:ext cx="5076423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zh-CN" altLang="en-US" sz="36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上次实验存在的问题</a:t>
            </a:r>
            <a:endParaRPr lang="en-US" sz="3600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60401" y="2489063"/>
            <a:ext cx="7721599" cy="14191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17" indent="-342917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133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步骤描述简略（无文字描述、无过程截图），</a:t>
            </a:r>
            <a:r>
              <a:rPr lang="zh-CN" altLang="en-US" sz="2133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建议图文并茂</a:t>
            </a:r>
            <a:endParaRPr lang="en-US" altLang="zh-CN" sz="2133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"/>
              <a:sym typeface="思源黑体 2"/>
            </a:endParaRPr>
          </a:p>
          <a:p>
            <a:pPr marL="342917" indent="-342917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133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实验总结简略，</a:t>
            </a:r>
            <a:r>
              <a:rPr lang="zh-CN" altLang="en-US" sz="2133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建议记录问题</a:t>
            </a:r>
            <a:r>
              <a:rPr lang="en-US" altLang="zh-CN" sz="2133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+</a:t>
            </a:r>
            <a:r>
              <a:rPr lang="zh-CN" altLang="en-US" sz="2133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解决办法</a:t>
            </a:r>
            <a:endParaRPr lang="en-US" altLang="zh-CN" sz="2133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"/>
              <a:sym typeface="思源黑体 2"/>
            </a:endParaRPr>
          </a:p>
          <a:p>
            <a:pPr marL="342917" indent="-342917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2133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有的报告格式乱，</a:t>
            </a:r>
            <a:r>
              <a:rPr lang="zh-CN" altLang="en-US" sz="2133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建议提交</a:t>
            </a:r>
            <a:r>
              <a:rPr lang="en-US" altLang="zh-CN" sz="2133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PDF</a:t>
            </a:r>
            <a:endParaRPr lang="zh-CN" altLang="en-US" sz="2133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"/>
              <a:sym typeface="思源黑体 2"/>
            </a:endParaRPr>
          </a:p>
        </p:txBody>
      </p:sp>
      <p:sp>
        <p:nvSpPr>
          <p:cNvPr id="3" name="圆: 空心 2">
            <a:extLst>
              <a:ext uri="{FF2B5EF4-FFF2-40B4-BE49-F238E27FC236}">
                <a16:creationId xmlns:a16="http://schemas.microsoft.com/office/drawing/2014/main" id="{CB5DEB33-0EFC-53D8-1B52-D9A023DF693A}"/>
              </a:ext>
            </a:extLst>
          </p:cNvPr>
          <p:cNvSpPr/>
          <p:nvPr/>
        </p:nvSpPr>
        <p:spPr>
          <a:xfrm rot="10549820">
            <a:off x="8550609" y="-1684994"/>
            <a:ext cx="4841467" cy="4814061"/>
          </a:xfrm>
          <a:prstGeom prst="donut">
            <a:avLst>
              <a:gd name="adj" fmla="val 13078"/>
            </a:avLst>
          </a:prstGeom>
          <a:gradFill>
            <a:gsLst>
              <a:gs pos="0">
                <a:srgbClr val="D2D8FD"/>
              </a:gs>
              <a:gs pos="81000">
                <a:srgbClr val="1540DD">
                  <a:alpha val="10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11A1C2C-029E-8D16-D56F-6B4C1605869E}"/>
              </a:ext>
            </a:extLst>
          </p:cNvPr>
          <p:cNvSpPr txBox="1"/>
          <p:nvPr/>
        </p:nvSpPr>
        <p:spPr>
          <a:xfrm>
            <a:off x="663303" y="2068418"/>
            <a:ext cx="2925801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133" b="1" dirty="0">
                <a:solidFill>
                  <a:srgbClr val="1943D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实验报告存在的问题：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51EC2-55F3-6AA9-F636-88CD61303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: 空心 7">
            <a:extLst>
              <a:ext uri="{FF2B5EF4-FFF2-40B4-BE49-F238E27FC236}">
                <a16:creationId xmlns:a16="http://schemas.microsoft.com/office/drawing/2014/main" id="{68760EA6-F260-D9D8-B112-A8980EEC5C8F}"/>
              </a:ext>
            </a:extLst>
          </p:cNvPr>
          <p:cNvSpPr/>
          <p:nvPr/>
        </p:nvSpPr>
        <p:spPr>
          <a:xfrm rot="12130393">
            <a:off x="332943" y="178447"/>
            <a:ext cx="1249544" cy="1242471"/>
          </a:xfrm>
          <a:prstGeom prst="donut">
            <a:avLst>
              <a:gd name="adj" fmla="val 17585"/>
            </a:avLst>
          </a:prstGeom>
          <a:gradFill>
            <a:gsLst>
              <a:gs pos="0">
                <a:srgbClr val="D2D8FD"/>
              </a:gs>
              <a:gs pos="100000">
                <a:srgbClr val="1540DD">
                  <a:alpha val="10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3" name="圆: 空心 2">
            <a:extLst>
              <a:ext uri="{FF2B5EF4-FFF2-40B4-BE49-F238E27FC236}">
                <a16:creationId xmlns:a16="http://schemas.microsoft.com/office/drawing/2014/main" id="{1B70F798-9686-029C-5A08-D5CCA0082545}"/>
              </a:ext>
            </a:extLst>
          </p:cNvPr>
          <p:cNvSpPr/>
          <p:nvPr/>
        </p:nvSpPr>
        <p:spPr>
          <a:xfrm rot="10549820">
            <a:off x="8550609" y="-1684994"/>
            <a:ext cx="4841467" cy="4814061"/>
          </a:xfrm>
          <a:prstGeom prst="donut">
            <a:avLst>
              <a:gd name="adj" fmla="val 13078"/>
            </a:avLst>
          </a:prstGeom>
          <a:gradFill>
            <a:gsLst>
              <a:gs pos="0">
                <a:srgbClr val="D2D8FD"/>
              </a:gs>
              <a:gs pos="81000">
                <a:srgbClr val="1540DD">
                  <a:alpha val="10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3B2AD8A7-2946-8F94-A3C2-6EFDBDA589CA}"/>
              </a:ext>
            </a:extLst>
          </p:cNvPr>
          <p:cNvSpPr txBox="1"/>
          <p:nvPr/>
        </p:nvSpPr>
        <p:spPr>
          <a:xfrm>
            <a:off x="917977" y="578176"/>
            <a:ext cx="5076423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zh-CN" altLang="en-US" sz="36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如何学这门课程</a:t>
            </a:r>
            <a:endParaRPr lang="en-US" sz="3600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38779298-8C08-6155-C29B-E00015E9503F}"/>
              </a:ext>
            </a:extLst>
          </p:cNvPr>
          <p:cNvSpPr txBox="1"/>
          <p:nvPr/>
        </p:nvSpPr>
        <p:spPr>
          <a:xfrm>
            <a:off x="1117601" y="1985163"/>
            <a:ext cx="7721599" cy="12422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17" indent="-342917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作为理论课的辅助，帮助</a:t>
            </a:r>
            <a:r>
              <a:rPr lang="zh-CN" altLang="en-US" sz="1867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理解理论课的知识</a:t>
            </a:r>
            <a:endParaRPr lang="en-US" altLang="zh-CN" sz="1867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"/>
              <a:sym typeface="思源黑体 2"/>
            </a:endParaRPr>
          </a:p>
          <a:p>
            <a:pPr marL="342917" indent="-342917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提升</a:t>
            </a:r>
            <a:r>
              <a:rPr lang="zh-CN" altLang="en-US" sz="1867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2"/>
              </a:rPr>
              <a:t>动手实践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的能力</a:t>
            </a: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  <a:cs typeface="思源黑体 2"/>
              <a:sym typeface="思源黑体 2"/>
            </a:endParaRPr>
          </a:p>
          <a:p>
            <a:pPr marL="342917" indent="-342917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培养</a:t>
            </a:r>
            <a:r>
              <a:rPr lang="zh-CN" altLang="en-US" sz="1867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2"/>
              </a:rPr>
              <a:t>解决问题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的能力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76A9330-B71D-D9CD-2C43-80D70D2F4ADE}"/>
              </a:ext>
            </a:extLst>
          </p:cNvPr>
          <p:cNvSpPr txBox="1"/>
          <p:nvPr/>
        </p:nvSpPr>
        <p:spPr>
          <a:xfrm>
            <a:off x="1069703" y="1579509"/>
            <a:ext cx="1555234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133" b="1" dirty="0">
                <a:solidFill>
                  <a:srgbClr val="1943D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课程的目的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F329D77-01A7-FB66-3871-83F0E2143478}"/>
              </a:ext>
            </a:extLst>
          </p:cNvPr>
          <p:cNvSpPr txBox="1"/>
          <p:nvPr/>
        </p:nvSpPr>
        <p:spPr>
          <a:xfrm>
            <a:off x="1069703" y="3990107"/>
            <a:ext cx="4670697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33" b="1" dirty="0">
                <a:solidFill>
                  <a:srgbClr val="1943D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如何学好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7C98EA0C-7838-D92E-B6DF-148692EFC570}"/>
              </a:ext>
            </a:extLst>
          </p:cNvPr>
          <p:cNvSpPr txBox="1"/>
          <p:nvPr/>
        </p:nvSpPr>
        <p:spPr>
          <a:xfrm>
            <a:off x="1117600" y="4451581"/>
            <a:ext cx="9296400" cy="8112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17" indent="-342917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实验不是简单的复刻步骤，要</a:t>
            </a:r>
            <a:r>
              <a:rPr lang="zh-CN" altLang="en-US" sz="1867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先懂实验目标、原理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再动手，多回忆理论课的知识</a:t>
            </a: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  <a:cs typeface="思源黑体 2"/>
              <a:sym typeface="思源黑体 2"/>
            </a:endParaRPr>
          </a:p>
          <a:p>
            <a:pPr marL="342917" indent="-342917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用好</a:t>
            </a:r>
            <a:r>
              <a:rPr lang="zh-CN" altLang="en-US" sz="1867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网站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（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CSDN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、博客园）和</a:t>
            </a:r>
            <a:r>
              <a:rPr lang="en-US" altLang="zh-CN" sz="1867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AI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（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DeepSeek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、豆包、通义千问</a:t>
            </a:r>
            <a:r>
              <a:rPr lang="en-US" altLang="zh-CN" sz="1867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……</a:t>
            </a: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899709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BF672-F84B-B185-BA56-9248F47A4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: 空心 7">
            <a:extLst>
              <a:ext uri="{FF2B5EF4-FFF2-40B4-BE49-F238E27FC236}">
                <a16:creationId xmlns:a16="http://schemas.microsoft.com/office/drawing/2014/main" id="{B079A04A-8F24-4043-121A-C75A9526D376}"/>
              </a:ext>
            </a:extLst>
          </p:cNvPr>
          <p:cNvSpPr/>
          <p:nvPr/>
        </p:nvSpPr>
        <p:spPr>
          <a:xfrm rot="12130393">
            <a:off x="332943" y="178447"/>
            <a:ext cx="1249544" cy="1242471"/>
          </a:xfrm>
          <a:prstGeom prst="donut">
            <a:avLst>
              <a:gd name="adj" fmla="val 17585"/>
            </a:avLst>
          </a:prstGeom>
          <a:gradFill>
            <a:gsLst>
              <a:gs pos="0">
                <a:srgbClr val="D2D8FD"/>
              </a:gs>
              <a:gs pos="100000">
                <a:srgbClr val="1540DD">
                  <a:alpha val="10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3" name="圆: 空心 2">
            <a:extLst>
              <a:ext uri="{FF2B5EF4-FFF2-40B4-BE49-F238E27FC236}">
                <a16:creationId xmlns:a16="http://schemas.microsoft.com/office/drawing/2014/main" id="{B0D16B80-80A1-1B6D-3601-4FF96B2804B0}"/>
              </a:ext>
            </a:extLst>
          </p:cNvPr>
          <p:cNvSpPr/>
          <p:nvPr/>
        </p:nvSpPr>
        <p:spPr>
          <a:xfrm rot="10549820">
            <a:off x="8550609" y="-1684994"/>
            <a:ext cx="4841467" cy="4814061"/>
          </a:xfrm>
          <a:prstGeom prst="donut">
            <a:avLst>
              <a:gd name="adj" fmla="val 13078"/>
            </a:avLst>
          </a:prstGeom>
          <a:gradFill>
            <a:gsLst>
              <a:gs pos="0">
                <a:srgbClr val="D2D8FD"/>
              </a:gs>
              <a:gs pos="81000">
                <a:srgbClr val="1540DD">
                  <a:alpha val="10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11A7871B-BF9A-4A8B-C151-2F6F4AE0CA7B}"/>
              </a:ext>
            </a:extLst>
          </p:cNvPr>
          <p:cNvSpPr txBox="1"/>
          <p:nvPr/>
        </p:nvSpPr>
        <p:spPr>
          <a:xfrm>
            <a:off x="917977" y="578176"/>
            <a:ext cx="5076423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zh-CN" altLang="en-US" sz="36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如何学这门课程</a:t>
            </a:r>
            <a:endParaRPr lang="en-US" sz="3600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sp>
        <p:nvSpPr>
          <p:cNvPr id="6" name="TextBox 9">
            <a:extLst>
              <a:ext uri="{FF2B5EF4-FFF2-40B4-BE49-F238E27FC236}">
                <a16:creationId xmlns:a16="http://schemas.microsoft.com/office/drawing/2014/main" id="{48693B07-1AD6-5A41-D360-E64AECEAABD8}"/>
              </a:ext>
            </a:extLst>
          </p:cNvPr>
          <p:cNvSpPr txBox="1"/>
          <p:nvPr/>
        </p:nvSpPr>
        <p:spPr>
          <a:xfrm>
            <a:off x="1005950" y="1863755"/>
            <a:ext cx="5801140" cy="44463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17" indent="-342917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有好的排版</a:t>
            </a: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  <a:cs typeface="思源黑体 2"/>
              <a:sym typeface="思源黑体 2"/>
            </a:endParaRPr>
          </a:p>
          <a:p>
            <a:pPr marL="647732" lvl="1" indent="-342917" algn="just">
              <a:lnSpc>
                <a:spcPct val="150000"/>
              </a:lnSpc>
              <a:buFont typeface="+mj-lt"/>
              <a:buAutoNum type="alphaLcParenR"/>
            </a:pPr>
            <a:r>
              <a:rPr lang="zh-CN" altLang="en-US" sz="1733" dirty="0">
                <a:latin typeface="微软雅黑" panose="020B0503020204020204" pitchFamily="34" charset="-122"/>
                <a:ea typeface="微软雅黑" panose="020B0503020204020204" pitchFamily="34" charset="-122"/>
                <a:sym typeface="思源黑体 2"/>
              </a:rPr>
              <a:t>图片、字体</a:t>
            </a:r>
            <a:r>
              <a:rPr lang="zh-CN" altLang="en-US" sz="1733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2"/>
              </a:rPr>
              <a:t>大小合适</a:t>
            </a:r>
            <a:endParaRPr lang="en-US" altLang="zh-CN" sz="1733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 2"/>
            </a:endParaRPr>
          </a:p>
          <a:p>
            <a:pPr marL="647732" lvl="1" indent="-342917" algn="just">
              <a:lnSpc>
                <a:spcPct val="150000"/>
              </a:lnSpc>
              <a:buFont typeface="+mj-lt"/>
              <a:buAutoNum type="alphaLcParenR"/>
            </a:pPr>
            <a:r>
              <a:rPr lang="zh-CN" altLang="en-US" sz="1733" dirty="0">
                <a:latin typeface="微软雅黑" panose="020B0503020204020204" pitchFamily="34" charset="-122"/>
                <a:ea typeface="微软雅黑" panose="020B0503020204020204" pitchFamily="34" charset="-122"/>
                <a:sym typeface="思源黑体 2"/>
              </a:rPr>
              <a:t>有</a:t>
            </a:r>
            <a:r>
              <a:rPr lang="zh-CN" altLang="en-US" sz="1733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2"/>
              </a:rPr>
              <a:t>导航标签</a:t>
            </a:r>
            <a:r>
              <a:rPr lang="zh-CN" altLang="en-US" sz="1733" dirty="0">
                <a:latin typeface="微软雅黑" panose="020B0503020204020204" pitchFamily="34" charset="-122"/>
                <a:ea typeface="微软雅黑" panose="020B0503020204020204" pitchFamily="34" charset="-122"/>
                <a:sym typeface="思源黑体 2"/>
              </a:rPr>
              <a:t>（小标题）</a:t>
            </a:r>
            <a:endParaRPr lang="en-US" altLang="zh-CN" sz="1733" dirty="0">
              <a:latin typeface="微软雅黑" panose="020B0503020204020204" pitchFamily="34" charset="-122"/>
              <a:ea typeface="微软雅黑" panose="020B0503020204020204" pitchFamily="34" charset="-122"/>
              <a:sym typeface="思源黑体 2"/>
            </a:endParaRPr>
          </a:p>
          <a:p>
            <a:pPr marL="647732" lvl="1" indent="-342917" algn="just">
              <a:lnSpc>
                <a:spcPct val="150000"/>
              </a:lnSpc>
              <a:buFont typeface="+mj-lt"/>
              <a:buAutoNum type="alphaLcParenR"/>
            </a:pPr>
            <a:r>
              <a:rPr lang="zh-CN" altLang="en-US" sz="1733" dirty="0">
                <a:latin typeface="微软雅黑" panose="020B0503020204020204" pitchFamily="34" charset="-122"/>
                <a:ea typeface="微软雅黑" panose="020B0503020204020204" pitchFamily="34" charset="-122"/>
                <a:sym typeface="思源黑体 2"/>
              </a:rPr>
              <a:t>每个步骤有</a:t>
            </a:r>
            <a:r>
              <a:rPr lang="zh-CN" altLang="en-US" sz="1733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2"/>
              </a:rPr>
              <a:t>序号</a:t>
            </a:r>
            <a:endParaRPr lang="en-US" altLang="zh-CN" sz="1733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 2"/>
            </a:endParaRPr>
          </a:p>
          <a:p>
            <a:pPr marL="647732" lvl="1" indent="-342917" algn="just">
              <a:lnSpc>
                <a:spcPct val="150000"/>
              </a:lnSpc>
              <a:buFont typeface="+mj-lt"/>
              <a:buAutoNum type="alphaLcParenR"/>
            </a:pPr>
            <a:r>
              <a:rPr lang="zh-CN" altLang="en-US" sz="1733" dirty="0">
                <a:latin typeface="微软雅黑" panose="020B0503020204020204" pitchFamily="34" charset="-122"/>
                <a:ea typeface="微软雅黑" panose="020B0503020204020204" pitchFamily="34" charset="-122"/>
                <a:sym typeface="思源黑体 2"/>
              </a:rPr>
              <a:t>提交</a:t>
            </a:r>
            <a:r>
              <a:rPr lang="en-US" altLang="zh-CN" sz="1733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2"/>
              </a:rPr>
              <a:t>PDF</a:t>
            </a:r>
            <a:r>
              <a:rPr lang="zh-CN" altLang="en-US" sz="1733" dirty="0">
                <a:latin typeface="微软雅黑" panose="020B0503020204020204" pitchFamily="34" charset="-122"/>
                <a:ea typeface="微软雅黑" panose="020B0503020204020204" pitchFamily="34" charset="-122"/>
                <a:sym typeface="思源黑体 2"/>
              </a:rPr>
              <a:t>（防止显示出错）</a:t>
            </a:r>
            <a:endParaRPr lang="en-US" altLang="zh-CN" sz="1733" dirty="0">
              <a:latin typeface="微软雅黑" panose="020B0503020204020204" pitchFamily="34" charset="-122"/>
              <a:ea typeface="微软雅黑" panose="020B0503020204020204" pitchFamily="34" charset="-122"/>
              <a:sym typeface="思源黑体 2"/>
            </a:endParaRPr>
          </a:p>
          <a:p>
            <a:pPr marL="647732" lvl="1" indent="-342917" algn="just">
              <a:lnSpc>
                <a:spcPct val="150000"/>
              </a:lnSpc>
              <a:buFont typeface="+mj-lt"/>
              <a:buAutoNum type="alphaLcParenR"/>
            </a:pPr>
            <a:r>
              <a:rPr lang="zh-CN" altLang="en-US" sz="1733" dirty="0">
                <a:latin typeface="微软雅黑" panose="020B0503020204020204" pitchFamily="34" charset="-122"/>
                <a:ea typeface="微软雅黑" panose="020B0503020204020204" pitchFamily="34" charset="-122"/>
                <a:sym typeface="思源黑体 2"/>
              </a:rPr>
              <a:t>图片</a:t>
            </a:r>
            <a:r>
              <a:rPr lang="zh-CN" altLang="en-US" sz="1733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2"/>
              </a:rPr>
              <a:t>交叉引用</a:t>
            </a:r>
            <a:endParaRPr lang="en-US" altLang="zh-CN" sz="1733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 2"/>
            </a:endParaRPr>
          </a:p>
          <a:p>
            <a:pPr marL="342917" indent="-342917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体现认真</a:t>
            </a: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  <a:cs typeface="思源黑体 2"/>
              <a:sym typeface="思源黑体 2"/>
            </a:endParaRPr>
          </a:p>
          <a:p>
            <a:pPr marL="647732" lvl="1" indent="-342917" algn="just">
              <a:lnSpc>
                <a:spcPct val="150000"/>
              </a:lnSpc>
              <a:buFont typeface="+mj-lt"/>
              <a:buAutoNum type="alphaLcParenR"/>
            </a:pPr>
            <a:r>
              <a:rPr lang="zh-CN" altLang="en-US" sz="1733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2"/>
              </a:rPr>
              <a:t>每个步骤</a:t>
            </a:r>
            <a:r>
              <a:rPr lang="zh-CN" altLang="en-US" sz="1733" dirty="0">
                <a:latin typeface="微软雅黑" panose="020B0503020204020204" pitchFamily="34" charset="-122"/>
                <a:ea typeface="微软雅黑" panose="020B0503020204020204" pitchFamily="34" charset="-122"/>
                <a:sym typeface="思源黑体 2"/>
              </a:rPr>
              <a:t>都有截图，都有详细的文字描述</a:t>
            </a:r>
            <a:endParaRPr lang="en-US" altLang="zh-CN" sz="1733" dirty="0">
              <a:latin typeface="微软雅黑" panose="020B0503020204020204" pitchFamily="34" charset="-122"/>
              <a:ea typeface="微软雅黑" panose="020B0503020204020204" pitchFamily="34" charset="-122"/>
              <a:sym typeface="思源黑体 2"/>
            </a:endParaRPr>
          </a:p>
          <a:p>
            <a:pPr marL="647732" lvl="1" indent="-342917" algn="just">
              <a:lnSpc>
                <a:spcPct val="150000"/>
              </a:lnSpc>
              <a:buFont typeface="+mj-lt"/>
              <a:buAutoNum type="alphaLcParenR"/>
            </a:pPr>
            <a:r>
              <a:rPr lang="zh-CN" altLang="en-US" sz="1733" dirty="0">
                <a:latin typeface="微软雅黑" panose="020B0503020204020204" pitchFamily="34" charset="-122"/>
                <a:ea typeface="微软雅黑" panose="020B0503020204020204" pitchFamily="34" charset="-122"/>
                <a:sym typeface="思源黑体 2"/>
              </a:rPr>
              <a:t>截图中的重要区域用</a:t>
            </a:r>
            <a:r>
              <a:rPr lang="zh-CN" altLang="en-US" sz="1733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思源黑体 2"/>
              </a:rPr>
              <a:t>红框标注</a:t>
            </a:r>
            <a:endParaRPr lang="en-US" altLang="zh-CN" sz="1733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思源黑体 2"/>
            </a:endParaRPr>
          </a:p>
          <a:p>
            <a:pPr marL="342917" indent="-342917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67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体现思考</a:t>
            </a:r>
            <a:endParaRPr lang="en-US" altLang="zh-CN" sz="1867" dirty="0">
              <a:latin typeface="微软雅黑" panose="020B0503020204020204" pitchFamily="34" charset="-122"/>
              <a:ea typeface="微软雅黑" panose="020B0503020204020204" pitchFamily="34" charset="-122"/>
              <a:cs typeface="思源黑体 2"/>
              <a:sym typeface="思源黑体 2"/>
            </a:endParaRPr>
          </a:p>
          <a:p>
            <a:pPr marL="647732" lvl="1" indent="-342917" algn="just">
              <a:lnSpc>
                <a:spcPct val="150000"/>
              </a:lnSpc>
              <a:buFont typeface="+mj-lt"/>
              <a:buAutoNum type="alphaLcParenR"/>
            </a:pPr>
            <a:r>
              <a:rPr lang="zh-CN" altLang="en-US" sz="1733" dirty="0">
                <a:latin typeface="微软雅黑" panose="020B0503020204020204" pitchFamily="34" charset="-122"/>
                <a:ea typeface="微软雅黑" panose="020B0503020204020204" pitchFamily="34" charset="-122"/>
                <a:sym typeface="思源黑体 2"/>
              </a:rPr>
              <a:t>在小结中，记录遇到的问题（如有），以及解决方法</a:t>
            </a:r>
            <a:endParaRPr lang="en-US" altLang="zh-CN" sz="1733" dirty="0">
              <a:latin typeface="微软雅黑" panose="020B0503020204020204" pitchFamily="34" charset="-122"/>
              <a:ea typeface="微软雅黑" panose="020B0503020204020204" pitchFamily="34" charset="-122"/>
              <a:sym typeface="思源黑体 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F5BA6DE-06B4-75B6-F79A-1269B1F65259}"/>
              </a:ext>
            </a:extLst>
          </p:cNvPr>
          <p:cNvSpPr txBox="1"/>
          <p:nvPr/>
        </p:nvSpPr>
        <p:spPr>
          <a:xfrm>
            <a:off x="958052" y="1466167"/>
            <a:ext cx="5918608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133" b="1" dirty="0">
                <a:solidFill>
                  <a:srgbClr val="1943D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如何你想取得高分，那么建议你的实验报告</a:t>
            </a:r>
            <a:r>
              <a:rPr lang="en-US" altLang="zh-CN" sz="2133" b="1" dirty="0">
                <a:solidFill>
                  <a:srgbClr val="1943D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2133" b="1" dirty="0">
              <a:solidFill>
                <a:srgbClr val="1943D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2767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2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DNS 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与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 Web 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服务器的配置及协议分析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zh-CN" dirty="0"/>
              <a:t>实验目标</a:t>
            </a:r>
          </a:p>
          <a:p>
            <a:pPr marL="457200" lvl="1" indent="0">
              <a:buNone/>
            </a:pPr>
            <a:r>
              <a:rPr lang="zh-CN" altLang="en-US" dirty="0"/>
              <a:t>本实验的目的是让学生在</a:t>
            </a:r>
            <a:r>
              <a:rPr lang="en-US" altLang="zh-CN" dirty="0"/>
              <a:t> Cisco Packet Tracer </a:t>
            </a:r>
            <a:r>
              <a:rPr lang="zh-CN" altLang="en-US" dirty="0"/>
              <a:t>环境下，搭建并配置局域网内部的</a:t>
            </a:r>
            <a:r>
              <a:rPr lang="en-US" altLang="zh-CN" dirty="0"/>
              <a:t> DNS </a:t>
            </a:r>
            <a:r>
              <a:rPr lang="zh-CN" altLang="en-US" dirty="0"/>
              <a:t>服务器和</a:t>
            </a:r>
            <a:r>
              <a:rPr lang="en-US" altLang="zh-CN" dirty="0"/>
              <a:t> Web </a:t>
            </a:r>
            <a:r>
              <a:rPr lang="zh-CN" altLang="en-US" dirty="0"/>
              <a:t>服务器。并通过对</a:t>
            </a:r>
            <a:r>
              <a:rPr lang="en-US" altLang="zh-CN" dirty="0"/>
              <a:t> DNS </a:t>
            </a:r>
            <a:r>
              <a:rPr lang="zh-CN" altLang="en-US" dirty="0"/>
              <a:t>和</a:t>
            </a:r>
            <a:r>
              <a:rPr lang="en-US" altLang="zh-CN" dirty="0"/>
              <a:t> HTTP </a:t>
            </a:r>
            <a:r>
              <a:rPr lang="zh-CN" altLang="en-US" dirty="0"/>
              <a:t>报文的捕获和分析，掌握域名解析和网页请求的完整工作过程。</a:t>
            </a:r>
          </a:p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zh-CN" dirty="0"/>
              <a:t>实验平台</a:t>
            </a:r>
          </a:p>
          <a:p>
            <a:pPr lvl="1"/>
            <a:r>
              <a:rPr lang="en-US" altLang="zh-CN" dirty="0"/>
              <a:t>Cisco Packet Tracer</a:t>
            </a:r>
            <a:r>
              <a:rPr lang="zh-CN" altLang="en-US" dirty="0"/>
              <a:t>（安装：</a:t>
            </a:r>
            <a:r>
              <a:rPr lang="en-US" altLang="zh-CN" dirty="0">
                <a:hlinkClick r:id="rId2"/>
              </a:rPr>
              <a:t>Cisco Packet Tracer</a:t>
            </a:r>
            <a:r>
              <a:rPr lang="zh-CN" altLang="en-US" dirty="0">
                <a:hlinkClick r:id="rId2"/>
              </a:rPr>
              <a:t>的下载与安装</a:t>
            </a:r>
            <a:r>
              <a:rPr lang="en-US" altLang="zh-CN" dirty="0">
                <a:hlinkClick r:id="rId2"/>
              </a:rPr>
              <a:t>+</a:t>
            </a:r>
            <a:r>
              <a:rPr lang="zh-CN" altLang="en-US" dirty="0">
                <a:hlinkClick r:id="rId2"/>
              </a:rPr>
              <a:t>中文</a:t>
            </a:r>
            <a:r>
              <a:rPr lang="zh-CN" altLang="en-US" dirty="0"/>
              <a:t>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3.</a:t>
            </a:r>
            <a:r>
              <a:rPr lang="zh-CN" altLang="zh-CN" dirty="0"/>
              <a:t>实验工具</a:t>
            </a:r>
          </a:p>
          <a:p>
            <a:pPr lvl="1"/>
            <a:r>
              <a:rPr lang="en-US" altLang="zh-CN" dirty="0"/>
              <a:t>Packet Tracer </a:t>
            </a:r>
            <a:r>
              <a:rPr lang="zh-CN" altLang="en-US" dirty="0"/>
              <a:t>内置的</a:t>
            </a:r>
            <a:r>
              <a:rPr lang="en-US" altLang="zh-CN" dirty="0"/>
              <a:t> “</a:t>
            </a:r>
            <a:r>
              <a:rPr lang="zh-CN" altLang="en-US" dirty="0"/>
              <a:t>仿真模式</a:t>
            </a:r>
            <a:r>
              <a:rPr lang="en-US" altLang="zh-CN" dirty="0"/>
              <a:t> (Simulation Mode)”</a:t>
            </a:r>
            <a:r>
              <a:rPr lang="zh-CN" altLang="zh-CN" dirty="0"/>
              <a:t>；</a:t>
            </a:r>
          </a:p>
          <a:p>
            <a:pPr lvl="1"/>
            <a:endParaRPr lang="zh-CN" altLang="zh-C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2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DNS</a:t>
            </a:r>
            <a:r>
              <a:rPr lang="zh-CN" altLang="zh-CN" dirty="0"/>
              <a:t>服务器的配置与</a:t>
            </a:r>
            <a:r>
              <a:rPr lang="en-US" altLang="zh-CN" dirty="0"/>
              <a:t>DNS</a:t>
            </a:r>
            <a:r>
              <a:rPr lang="zh-CN" altLang="zh-CN" dirty="0"/>
              <a:t>协议分析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60400" y="1130300"/>
            <a:ext cx="10858500" cy="5003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4. </a:t>
            </a:r>
            <a:r>
              <a:rPr lang="zh-CN" altLang="en-US" dirty="0"/>
              <a:t>实验拓扑结构</a:t>
            </a:r>
            <a:endParaRPr lang="en-US" altLang="zh-CN" dirty="0"/>
          </a:p>
          <a:p>
            <a:pPr lvl="1"/>
            <a:r>
              <a:rPr lang="zh-CN" altLang="en-US" sz="2000" dirty="0"/>
              <a:t>在</a:t>
            </a:r>
            <a:r>
              <a:rPr lang="en-US" altLang="zh-CN" sz="2000" dirty="0"/>
              <a:t> Packet Tracer </a:t>
            </a:r>
            <a:r>
              <a:rPr lang="zh-CN" altLang="en-US" sz="2000" dirty="0"/>
              <a:t>工作区中，拖出以下设备并连接：</a:t>
            </a:r>
          </a:p>
          <a:p>
            <a:pPr lvl="1"/>
            <a:r>
              <a:rPr lang="en-US" altLang="zh-CN" sz="2000" dirty="0"/>
              <a:t>1 </a:t>
            </a:r>
            <a:r>
              <a:rPr lang="zh-CN" altLang="en-US" sz="2000" dirty="0"/>
              <a:t>台</a:t>
            </a:r>
            <a:r>
              <a:rPr lang="en-US" altLang="zh-CN" sz="2000" dirty="0"/>
              <a:t> PC (PC-PT) </a:t>
            </a:r>
            <a:r>
              <a:rPr lang="zh-CN" altLang="en-US" sz="2000" dirty="0"/>
              <a:t>作为客户端主机</a:t>
            </a:r>
          </a:p>
          <a:p>
            <a:pPr lvl="1"/>
            <a:r>
              <a:rPr lang="en-US" altLang="zh-CN" sz="2000" dirty="0"/>
              <a:t>2 </a:t>
            </a:r>
            <a:r>
              <a:rPr lang="zh-CN" altLang="en-US" sz="2000" dirty="0"/>
              <a:t>台</a:t>
            </a:r>
            <a:r>
              <a:rPr lang="en-US" altLang="zh-CN" sz="2000" dirty="0"/>
              <a:t> </a:t>
            </a:r>
            <a:r>
              <a:rPr lang="zh-CN" altLang="en-US" sz="2000" dirty="0"/>
              <a:t>服务器</a:t>
            </a:r>
            <a:r>
              <a:rPr lang="en-US" altLang="zh-CN" sz="2000" dirty="0"/>
              <a:t> (Server-PT) (</a:t>
            </a:r>
            <a:r>
              <a:rPr lang="zh-CN" altLang="en-US" sz="2000" dirty="0"/>
              <a:t>一台作为</a:t>
            </a:r>
            <a:r>
              <a:rPr lang="en-US" altLang="zh-CN" sz="2000" dirty="0"/>
              <a:t> DNS </a:t>
            </a:r>
            <a:r>
              <a:rPr lang="zh-CN" altLang="en-US" sz="2000" dirty="0"/>
              <a:t>服务器，一台作为</a:t>
            </a:r>
            <a:r>
              <a:rPr lang="en-US" altLang="zh-CN" sz="2000" dirty="0"/>
              <a:t> Web </a:t>
            </a:r>
            <a:r>
              <a:rPr lang="zh-CN" altLang="en-US" sz="2000" dirty="0"/>
              <a:t>服务器</a:t>
            </a:r>
            <a:r>
              <a:rPr lang="en-US" altLang="zh-CN" sz="2000" dirty="0"/>
              <a:t>)</a:t>
            </a:r>
          </a:p>
          <a:p>
            <a:pPr lvl="1"/>
            <a:r>
              <a:rPr lang="en-US" altLang="zh-CN" sz="2000" dirty="0"/>
              <a:t>1 </a:t>
            </a:r>
            <a:r>
              <a:rPr lang="zh-CN" altLang="en-US" sz="2000" dirty="0"/>
              <a:t>台</a:t>
            </a:r>
            <a:r>
              <a:rPr lang="en-US" altLang="zh-CN" sz="2000" dirty="0"/>
              <a:t> </a:t>
            </a:r>
            <a:r>
              <a:rPr lang="zh-CN" altLang="en-US" sz="2000" dirty="0"/>
              <a:t>交换机</a:t>
            </a:r>
            <a:r>
              <a:rPr lang="en-US" altLang="zh-CN" sz="2000" dirty="0"/>
              <a:t> (Switch-PT)</a:t>
            </a:r>
          </a:p>
          <a:p>
            <a:pPr lvl="1"/>
            <a:r>
              <a:rPr lang="zh-CN" altLang="en-US" sz="2000" dirty="0"/>
              <a:t>使用</a:t>
            </a:r>
            <a:r>
              <a:rPr lang="en-US" altLang="zh-CN" sz="2000" dirty="0"/>
              <a:t> </a:t>
            </a:r>
            <a:r>
              <a:rPr lang="zh-CN" altLang="en-US" sz="2000" dirty="0">
                <a:solidFill>
                  <a:srgbClr val="FF0000"/>
                </a:solidFill>
              </a:rPr>
              <a:t>直通线</a:t>
            </a:r>
            <a:r>
              <a:rPr lang="en-US" altLang="zh-CN" sz="2000" dirty="0"/>
              <a:t> </a:t>
            </a:r>
            <a:r>
              <a:rPr lang="zh-CN" altLang="en-US" sz="2000" dirty="0"/>
              <a:t>将</a:t>
            </a:r>
            <a:r>
              <a:rPr lang="en-US" altLang="zh-CN" sz="2000" dirty="0"/>
              <a:t>PC</a:t>
            </a:r>
            <a:r>
              <a:rPr lang="zh-CN" altLang="en-US" sz="2000" dirty="0"/>
              <a:t>和两台服务器都连接到交换机。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表格 9"/>
          <p:cNvGraphicFramePr/>
          <p:nvPr>
            <p:custDataLst>
              <p:tags r:id="rId1"/>
            </p:custDataLst>
          </p:nvPr>
        </p:nvGraphicFramePr>
        <p:xfrm>
          <a:off x="767080" y="4131310"/>
          <a:ext cx="10858500" cy="2002790"/>
        </p:xfrm>
        <a:graphic>
          <a:graphicData uri="http://schemas.openxmlformats.org/drawingml/2006/table">
            <a:tbl>
              <a:tblPr firstRow="1">
                <a:tableStyleId>{5644D0AC-7255-4615-90A0-2A12C8C1C545}</a:tableStyleId>
              </a:tblPr>
              <a:tblGrid>
                <a:gridCol w="217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9440">
                <a:tc>
                  <a:txBody>
                    <a:bodyPr/>
                    <a:lstStyle/>
                    <a:p>
                      <a:pPr>
                        <a:lnSpc>
                          <a:spcPts val="855"/>
                        </a:lnSpc>
                      </a:pPr>
                      <a:endParaRPr lang="zh-CN" altLang="en-US" sz="1600"/>
                    </a:p>
                  </a:txBody>
                  <a:tcPr marL="65631" marR="65631" marT="32974" marB="329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855"/>
                        </a:lnSpc>
                      </a:pPr>
                      <a:r>
                        <a:rPr lang="en-US" altLang="zh-CN" sz="1600"/>
                        <a:t>IP </a:t>
                      </a:r>
                      <a:r>
                        <a:rPr lang="zh-CN" altLang="en-US" sz="1600"/>
                        <a:t>地址</a:t>
                      </a:r>
                    </a:p>
                  </a:txBody>
                  <a:tcPr marL="65631" marR="65631" marT="32974" marB="329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855"/>
                        </a:lnSpc>
                      </a:pPr>
                      <a:r>
                        <a:rPr lang="zh-CN" altLang="en-US" sz="1600"/>
                        <a:t>子网掩码</a:t>
                      </a:r>
                    </a:p>
                  </a:txBody>
                  <a:tcPr marL="65631" marR="65631" marT="32974" marB="329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855"/>
                        </a:lnSpc>
                      </a:pPr>
                      <a:r>
                        <a:rPr lang="zh-CN" altLang="en-US" sz="1600"/>
                        <a:t>默认网关</a:t>
                      </a:r>
                    </a:p>
                  </a:txBody>
                  <a:tcPr marL="65631" marR="65631" marT="32974" marB="329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855"/>
                        </a:lnSpc>
                      </a:pPr>
                      <a:r>
                        <a:rPr lang="en-US" altLang="zh-CN" sz="1600"/>
                        <a:t>DNS </a:t>
                      </a:r>
                      <a:r>
                        <a:rPr lang="zh-CN" altLang="en-US" sz="1600"/>
                        <a:t>服务器地址</a:t>
                      </a:r>
                    </a:p>
                  </a:txBody>
                  <a:tcPr marL="65631" marR="65631" marT="32974" marB="3297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>
                        <a:lnSpc>
                          <a:spcPts val="855"/>
                        </a:lnSpc>
                      </a:pPr>
                      <a:r>
                        <a:rPr lang="en-US" altLang="zh-CN" sz="1600"/>
                        <a:t>DNS </a:t>
                      </a:r>
                      <a:r>
                        <a:rPr lang="zh-CN" altLang="en-US" sz="1600"/>
                        <a:t>服务器</a:t>
                      </a:r>
                    </a:p>
                  </a:txBody>
                  <a:tcPr marL="65631" marR="65631" marT="32974" marB="329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855"/>
                        </a:lnSpc>
                      </a:pPr>
                      <a:r>
                        <a:rPr lang="en-US" altLang="zh-CN" sz="1600"/>
                        <a:t>192.168.1.199</a:t>
                      </a:r>
                    </a:p>
                  </a:txBody>
                  <a:tcPr marL="65631" marR="65631" marT="32974" marB="329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855"/>
                        </a:lnSpc>
                      </a:pPr>
                      <a:r>
                        <a:rPr lang="en-US" altLang="zh-CN" sz="1600"/>
                        <a:t>255.255.255.0</a:t>
                      </a:r>
                    </a:p>
                  </a:txBody>
                  <a:tcPr marL="65631" marR="65631" marT="32974" marB="329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855"/>
                        </a:lnSpc>
                      </a:pPr>
                      <a:r>
                        <a:rPr lang="en-US" altLang="zh-CN" sz="1600"/>
                        <a:t>N/A</a:t>
                      </a:r>
                    </a:p>
                  </a:txBody>
                  <a:tcPr marL="65631" marR="65631" marT="32974" marB="329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855"/>
                        </a:lnSpc>
                      </a:pPr>
                      <a:r>
                        <a:rPr lang="en-US" altLang="zh-CN" sz="1600"/>
                        <a:t>127.0.0.1 (</a:t>
                      </a:r>
                      <a:r>
                        <a:rPr lang="zh-CN" altLang="en-US" sz="1600"/>
                        <a:t>或自身</a:t>
                      </a:r>
                      <a:r>
                        <a:rPr lang="en-US" altLang="zh-CN" sz="1600"/>
                        <a:t>IP)</a:t>
                      </a:r>
                    </a:p>
                  </a:txBody>
                  <a:tcPr marL="65631" marR="65631" marT="32974" marB="3297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>
                        <a:lnSpc>
                          <a:spcPts val="855"/>
                        </a:lnSpc>
                      </a:pPr>
                      <a:r>
                        <a:rPr lang="en-US" altLang="zh-CN" sz="1600"/>
                        <a:t>Web </a:t>
                      </a:r>
                      <a:r>
                        <a:rPr lang="zh-CN" altLang="en-US" sz="1600"/>
                        <a:t>服务器</a:t>
                      </a:r>
                    </a:p>
                  </a:txBody>
                  <a:tcPr marL="65631" marR="65631" marT="32974" marB="329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855"/>
                        </a:lnSpc>
                      </a:pPr>
                      <a:r>
                        <a:rPr lang="en-US" altLang="zh-CN" sz="1600"/>
                        <a:t>192.168.1.200</a:t>
                      </a:r>
                    </a:p>
                  </a:txBody>
                  <a:tcPr marL="65631" marR="65631" marT="32974" marB="329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855"/>
                        </a:lnSpc>
                      </a:pPr>
                      <a:r>
                        <a:rPr lang="en-US" altLang="zh-CN" sz="1600"/>
                        <a:t>255.255.255.0</a:t>
                      </a:r>
                    </a:p>
                  </a:txBody>
                  <a:tcPr marL="65631" marR="65631" marT="32974" marB="329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855"/>
                        </a:lnSpc>
                      </a:pPr>
                      <a:r>
                        <a:rPr lang="en-US" altLang="zh-CN" sz="1600"/>
                        <a:t>N/A</a:t>
                      </a:r>
                    </a:p>
                  </a:txBody>
                  <a:tcPr marL="65631" marR="65631" marT="32974" marB="329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855"/>
                        </a:lnSpc>
                      </a:pPr>
                      <a:r>
                        <a:rPr lang="en-US" altLang="zh-CN" sz="1600"/>
                        <a:t>192.168.1.199</a:t>
                      </a:r>
                    </a:p>
                  </a:txBody>
                  <a:tcPr marL="65631" marR="65631" marT="32974" marB="32974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>
                        <a:lnSpc>
                          <a:spcPts val="855"/>
                        </a:lnSpc>
                      </a:pPr>
                      <a:r>
                        <a:rPr lang="zh-CN" altLang="en-US" sz="1600"/>
                        <a:t>客户端主机</a:t>
                      </a:r>
                    </a:p>
                  </a:txBody>
                  <a:tcPr marL="65631" marR="65631" marT="32974" marB="329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855"/>
                        </a:lnSpc>
                      </a:pPr>
                      <a:r>
                        <a:rPr lang="en-US" altLang="zh-CN" sz="1600"/>
                        <a:t>192.168.1.155</a:t>
                      </a:r>
                    </a:p>
                  </a:txBody>
                  <a:tcPr marL="65631" marR="65631" marT="32974" marB="329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855"/>
                        </a:lnSpc>
                      </a:pPr>
                      <a:r>
                        <a:rPr lang="en-US" altLang="zh-CN" sz="1600"/>
                        <a:t>255.255.255.0</a:t>
                      </a:r>
                    </a:p>
                  </a:txBody>
                  <a:tcPr marL="65631" marR="65631" marT="32974" marB="329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855"/>
                        </a:lnSpc>
                      </a:pPr>
                      <a:r>
                        <a:rPr lang="en-US" altLang="zh-CN" sz="1600"/>
                        <a:t>N/A</a:t>
                      </a:r>
                    </a:p>
                  </a:txBody>
                  <a:tcPr marL="65631" marR="65631" marT="32974" marB="329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855"/>
                        </a:lnSpc>
                      </a:pPr>
                      <a:r>
                        <a:rPr lang="en-US" altLang="zh-CN" sz="1600"/>
                        <a:t>192.168.1.199</a:t>
                      </a:r>
                    </a:p>
                  </a:txBody>
                  <a:tcPr marL="65631" marR="65631" marT="32974" marB="32974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>
                        <a:lnSpc>
                          <a:spcPts val="855"/>
                        </a:lnSpc>
                      </a:pPr>
                      <a:endParaRPr lang="zh-CN" altLang="en-US" sz="1600"/>
                    </a:p>
                  </a:txBody>
                  <a:tcPr marL="65631" marR="65631" marT="32974" marB="329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855"/>
                        </a:lnSpc>
                      </a:pPr>
                      <a:endParaRPr lang="en-US" altLang="zh-CN" sz="1600"/>
                    </a:p>
                  </a:txBody>
                  <a:tcPr marL="65631" marR="65631" marT="32974" marB="329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855"/>
                        </a:lnSpc>
                      </a:pPr>
                      <a:endParaRPr lang="en-US" altLang="zh-CN" sz="1600"/>
                    </a:p>
                  </a:txBody>
                  <a:tcPr marL="65631" marR="65631" marT="32974" marB="329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855"/>
                        </a:lnSpc>
                      </a:pPr>
                      <a:endParaRPr lang="en-US" altLang="zh-CN" sz="1600"/>
                    </a:p>
                  </a:txBody>
                  <a:tcPr marL="65631" marR="65631" marT="32974" marB="32974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855"/>
                        </a:lnSpc>
                      </a:pPr>
                      <a:endParaRPr lang="en-US" altLang="zh-CN" sz="1600"/>
                    </a:p>
                  </a:txBody>
                  <a:tcPr marL="65631" marR="65631" marT="32974" marB="32974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2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DNS</a:t>
            </a:r>
            <a:r>
              <a:rPr lang="zh-CN" altLang="zh-CN" dirty="0"/>
              <a:t>服务器的配置与</a:t>
            </a:r>
            <a:r>
              <a:rPr lang="en-US" altLang="zh-CN" dirty="0"/>
              <a:t>DNS</a:t>
            </a:r>
            <a:r>
              <a:rPr lang="zh-CN" altLang="zh-CN" dirty="0"/>
              <a:t>协议分析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7500"/>
          </a:bodyPr>
          <a:lstStyle/>
          <a:p>
            <a:pPr marL="0" indent="0">
              <a:buNone/>
            </a:pPr>
            <a:r>
              <a:rPr lang="en-US" altLang="zh-CN" dirty="0"/>
              <a:t>5. </a:t>
            </a:r>
            <a:r>
              <a:rPr lang="zh-CN" altLang="en-US" dirty="0"/>
              <a:t>实验步骤</a:t>
            </a:r>
          </a:p>
          <a:p>
            <a:pPr marL="0" indent="0">
              <a:buNone/>
            </a:pPr>
            <a:r>
              <a:rPr lang="zh-CN" altLang="en-US" dirty="0"/>
              <a:t>本实验主要分为三个部分：</a:t>
            </a:r>
          </a:p>
          <a:p>
            <a:pPr lvl="1"/>
            <a:r>
              <a:rPr lang="zh-CN" altLang="en-US" dirty="0"/>
              <a:t>配置独立的</a:t>
            </a:r>
            <a:r>
              <a:rPr lang="en-US" altLang="zh-CN" dirty="0"/>
              <a:t> Web </a:t>
            </a:r>
            <a:r>
              <a:rPr lang="zh-CN" altLang="en-US" dirty="0"/>
              <a:t>服务器</a:t>
            </a:r>
            <a:r>
              <a:rPr lang="en-US" altLang="zh-CN" dirty="0"/>
              <a:t> </a:t>
            </a:r>
            <a:r>
              <a:rPr lang="zh-CN" altLang="en-US" dirty="0"/>
              <a:t>并启动</a:t>
            </a:r>
            <a:r>
              <a:rPr lang="en-US" altLang="zh-CN" dirty="0"/>
              <a:t> HTTP </a:t>
            </a:r>
            <a:r>
              <a:rPr lang="zh-CN" altLang="en-US" dirty="0"/>
              <a:t>服务。</a:t>
            </a:r>
          </a:p>
          <a:p>
            <a:pPr lvl="1"/>
            <a:r>
              <a:rPr lang="zh-CN" altLang="en-US" dirty="0"/>
              <a:t>配置</a:t>
            </a:r>
            <a:r>
              <a:rPr lang="en-US" altLang="zh-CN" dirty="0"/>
              <a:t> DNS </a:t>
            </a:r>
            <a:r>
              <a:rPr lang="zh-CN" altLang="en-US" dirty="0"/>
              <a:t>服务器，创建指向</a:t>
            </a:r>
            <a:r>
              <a:rPr lang="en-US" altLang="zh-CN" dirty="0"/>
              <a:t> Web </a:t>
            </a:r>
            <a:r>
              <a:rPr lang="zh-CN" altLang="en-US" dirty="0"/>
              <a:t>服务器的域名记录。</a:t>
            </a:r>
          </a:p>
          <a:p>
            <a:pPr lvl="1"/>
            <a:r>
              <a:rPr lang="zh-CN" altLang="en-US" dirty="0"/>
              <a:t>利用</a:t>
            </a:r>
            <a:r>
              <a:rPr lang="en-US" altLang="zh-CN" dirty="0"/>
              <a:t> Packet Tracer </a:t>
            </a:r>
            <a:r>
              <a:rPr lang="zh-CN" altLang="en-US" dirty="0"/>
              <a:t>仿真模式</a:t>
            </a:r>
            <a:r>
              <a:rPr lang="en-US" altLang="zh-CN" dirty="0"/>
              <a:t> </a:t>
            </a:r>
            <a:r>
              <a:rPr lang="zh-CN" altLang="en-US" dirty="0"/>
              <a:t>抓取并分析从域名解析到网页请求的完整数据包流程。</a:t>
            </a:r>
          </a:p>
          <a:p>
            <a:pPr marL="0" indent="0">
              <a:buNone/>
            </a:pPr>
            <a:r>
              <a:rPr lang="zh-CN" altLang="en-US" dirty="0"/>
              <a:t>操作流程：</a:t>
            </a:r>
          </a:p>
          <a:p>
            <a:pPr lvl="1"/>
            <a:r>
              <a:rPr lang="zh-CN" altLang="en-US" dirty="0"/>
              <a:t>配置各设备</a:t>
            </a:r>
            <a:r>
              <a:rPr lang="en-US" altLang="zh-CN" dirty="0"/>
              <a:t> IP </a:t>
            </a:r>
            <a:r>
              <a:rPr lang="zh-CN" altLang="en-US" dirty="0"/>
              <a:t>地址</a:t>
            </a:r>
          </a:p>
          <a:p>
            <a:pPr lvl="1"/>
            <a:r>
              <a:rPr lang="zh-CN" altLang="en-US" dirty="0"/>
              <a:t>配置</a:t>
            </a:r>
            <a:r>
              <a:rPr lang="en-US" altLang="zh-CN" dirty="0"/>
              <a:t> Web </a:t>
            </a:r>
            <a:r>
              <a:rPr lang="zh-CN" altLang="en-US" dirty="0"/>
              <a:t>服务器的</a:t>
            </a:r>
            <a:r>
              <a:rPr lang="en-US" altLang="zh-CN" dirty="0"/>
              <a:t> HTTP </a:t>
            </a:r>
            <a:r>
              <a:rPr lang="zh-CN" altLang="en-US" dirty="0"/>
              <a:t>服务</a:t>
            </a:r>
          </a:p>
          <a:p>
            <a:pPr lvl="1"/>
            <a:r>
              <a:rPr lang="zh-CN" altLang="en-US" dirty="0"/>
              <a:t>配置</a:t>
            </a:r>
            <a:r>
              <a:rPr lang="en-US" altLang="zh-CN" dirty="0"/>
              <a:t> DNS </a:t>
            </a:r>
            <a:r>
              <a:rPr lang="zh-CN" altLang="en-US" dirty="0"/>
              <a:t>服务器的</a:t>
            </a:r>
            <a:r>
              <a:rPr lang="en-US" altLang="zh-CN" dirty="0"/>
              <a:t> DNS </a:t>
            </a:r>
            <a:r>
              <a:rPr lang="zh-CN" altLang="en-US" dirty="0"/>
              <a:t>服务</a:t>
            </a:r>
          </a:p>
          <a:p>
            <a:pPr lvl="1"/>
            <a:r>
              <a:rPr lang="zh-CN" altLang="en-US" dirty="0"/>
              <a:t>在客户端进行域名解析与网页访问测试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2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DNS</a:t>
            </a:r>
            <a:r>
              <a:rPr lang="zh-CN" altLang="zh-CN" dirty="0"/>
              <a:t>服务器的配置与</a:t>
            </a:r>
            <a:r>
              <a:rPr lang="en-US" altLang="zh-CN" dirty="0"/>
              <a:t>DNS</a:t>
            </a:r>
            <a:r>
              <a:rPr lang="zh-CN" altLang="zh-CN" dirty="0"/>
              <a:t>协议分析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0370" y="1319530"/>
            <a:ext cx="11156315" cy="52152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900" dirty="0"/>
              <a:t>Web </a:t>
            </a:r>
            <a:r>
              <a:rPr lang="zh-CN" altLang="en-US" sz="2900" dirty="0"/>
              <a:t>服务器配置</a:t>
            </a:r>
            <a:r>
              <a:rPr lang="en-US" altLang="zh-CN" sz="2900" dirty="0"/>
              <a:t> (IP: 192.168.1.200)</a:t>
            </a:r>
          </a:p>
          <a:p>
            <a:pPr lvl="1"/>
            <a:r>
              <a:rPr lang="zh-CN" altLang="en-US" sz="1710" dirty="0"/>
              <a:t>步骤</a:t>
            </a:r>
            <a:r>
              <a:rPr lang="en-US" altLang="zh-CN" sz="1710" dirty="0"/>
              <a:t> 1</a:t>
            </a:r>
            <a:r>
              <a:rPr lang="zh-CN" altLang="en-US" sz="1710" dirty="0"/>
              <a:t>：配置</a:t>
            </a:r>
            <a:r>
              <a:rPr lang="en-US" altLang="zh-CN" sz="1710" dirty="0"/>
              <a:t> Web </a:t>
            </a:r>
            <a:r>
              <a:rPr lang="zh-CN" altLang="en-US" sz="1710" dirty="0"/>
              <a:t>服务器</a:t>
            </a:r>
            <a:r>
              <a:rPr lang="en-US" altLang="zh-CN" sz="1710" dirty="0"/>
              <a:t> IP </a:t>
            </a:r>
            <a:r>
              <a:rPr lang="zh-CN" altLang="en-US" sz="1710" dirty="0"/>
              <a:t>地址</a:t>
            </a:r>
          </a:p>
          <a:p>
            <a:pPr lvl="2"/>
            <a:r>
              <a:rPr lang="zh-CN" altLang="en-US" sz="1425" dirty="0"/>
              <a:t>单击</a:t>
            </a:r>
            <a:r>
              <a:rPr lang="en-US" altLang="zh-CN" sz="1425" dirty="0"/>
              <a:t> Web </a:t>
            </a:r>
            <a:r>
              <a:rPr lang="zh-CN" altLang="en-US" sz="1425" dirty="0"/>
              <a:t>服务器</a:t>
            </a:r>
            <a:r>
              <a:rPr lang="en-US" altLang="zh-CN" sz="1425" dirty="0"/>
              <a:t> </a:t>
            </a:r>
            <a:r>
              <a:rPr lang="zh-CN" altLang="en-US" sz="1425" dirty="0"/>
              <a:t>设备，选择</a:t>
            </a:r>
            <a:r>
              <a:rPr lang="en-US" altLang="zh-CN" sz="1425" dirty="0"/>
              <a:t> </a:t>
            </a:r>
            <a:r>
              <a:rPr lang="zh-CN" altLang="en-US" sz="1425" dirty="0"/>
              <a:t>桌面</a:t>
            </a:r>
            <a:r>
              <a:rPr lang="en-US" altLang="zh-CN" sz="1425" dirty="0"/>
              <a:t> (Desktop) -&gt; IP </a:t>
            </a:r>
            <a:r>
              <a:rPr lang="zh-CN" altLang="en-US" sz="1425" dirty="0"/>
              <a:t>配置</a:t>
            </a:r>
            <a:r>
              <a:rPr lang="en-US" altLang="zh-CN" sz="1425" dirty="0"/>
              <a:t> (IP Configuration)</a:t>
            </a:r>
            <a:r>
              <a:rPr lang="zh-CN" altLang="en-US" sz="1425" dirty="0"/>
              <a:t>。</a:t>
            </a:r>
          </a:p>
          <a:p>
            <a:pPr lvl="2"/>
            <a:r>
              <a:rPr lang="zh-CN" altLang="en-US" sz="1425" dirty="0"/>
              <a:t>输入配置：</a:t>
            </a:r>
          </a:p>
          <a:p>
            <a:pPr lvl="2"/>
            <a:r>
              <a:rPr lang="en-US" altLang="zh-CN" sz="1425" dirty="0"/>
              <a:t>IP </a:t>
            </a:r>
            <a:r>
              <a:rPr lang="zh-CN" altLang="en-US" sz="1425" dirty="0"/>
              <a:t>地址</a:t>
            </a:r>
            <a:r>
              <a:rPr lang="en-US" altLang="zh-CN" sz="1425" dirty="0"/>
              <a:t>: 192.168.1.200</a:t>
            </a:r>
          </a:p>
          <a:p>
            <a:pPr lvl="2"/>
            <a:r>
              <a:rPr lang="zh-CN" altLang="en-US" sz="1425" dirty="0"/>
              <a:t>子网掩码</a:t>
            </a:r>
            <a:r>
              <a:rPr lang="en-US" altLang="zh-CN" sz="1425" dirty="0"/>
              <a:t>: 255.255.255.0</a:t>
            </a:r>
          </a:p>
          <a:p>
            <a:pPr lvl="2"/>
            <a:r>
              <a:rPr lang="en-US" altLang="zh-CN" sz="1425" dirty="0"/>
              <a:t>DNS </a:t>
            </a:r>
            <a:r>
              <a:rPr lang="zh-CN" altLang="en-US" sz="1425" dirty="0"/>
              <a:t>服务器</a:t>
            </a:r>
            <a:r>
              <a:rPr lang="en-US" altLang="zh-CN" sz="1425" dirty="0"/>
              <a:t>: 192.168.1.199 (</a:t>
            </a:r>
            <a:r>
              <a:rPr lang="zh-CN" altLang="en-US" sz="1425" dirty="0"/>
              <a:t>让</a:t>
            </a:r>
            <a:r>
              <a:rPr lang="en-US" altLang="zh-CN" sz="1425" dirty="0"/>
              <a:t> Web </a:t>
            </a:r>
            <a:r>
              <a:rPr lang="zh-CN" altLang="en-US" sz="1425" dirty="0"/>
              <a:t>服务器也能使用</a:t>
            </a:r>
            <a:r>
              <a:rPr lang="en-US" altLang="zh-CN" sz="1425" dirty="0"/>
              <a:t> DNS </a:t>
            </a:r>
            <a:r>
              <a:rPr lang="zh-CN" altLang="en-US" sz="1425" dirty="0"/>
              <a:t>服务</a:t>
            </a:r>
            <a:r>
              <a:rPr lang="en-US" altLang="zh-CN" sz="1425" dirty="0"/>
              <a:t>)</a:t>
            </a:r>
          </a:p>
          <a:p>
            <a:pPr lvl="1"/>
            <a:r>
              <a:rPr lang="zh-CN" altLang="en-US" sz="1710" dirty="0"/>
              <a:t>步骤</a:t>
            </a:r>
            <a:r>
              <a:rPr lang="en-US" altLang="zh-CN" sz="1710" dirty="0"/>
              <a:t> 2</a:t>
            </a:r>
            <a:r>
              <a:rPr lang="zh-CN" altLang="en-US" sz="1710" dirty="0"/>
              <a:t>：配置</a:t>
            </a:r>
            <a:r>
              <a:rPr lang="en-US" altLang="zh-CN" sz="1710" dirty="0"/>
              <a:t> HTTP </a:t>
            </a:r>
            <a:r>
              <a:rPr lang="zh-CN" altLang="en-US" sz="1710" dirty="0"/>
              <a:t>服务</a:t>
            </a:r>
          </a:p>
          <a:p>
            <a:pPr lvl="2"/>
            <a:r>
              <a:rPr lang="zh-CN" altLang="en-US" sz="1425" dirty="0"/>
              <a:t>在</a:t>
            </a:r>
            <a:r>
              <a:rPr lang="en-US" altLang="zh-CN" sz="1425" dirty="0"/>
              <a:t> Web </a:t>
            </a:r>
            <a:r>
              <a:rPr lang="zh-CN" altLang="en-US" sz="1425" dirty="0"/>
              <a:t>服务器配置窗口，选择</a:t>
            </a:r>
            <a:r>
              <a:rPr lang="en-US" altLang="zh-CN" sz="1425" dirty="0"/>
              <a:t> </a:t>
            </a:r>
            <a:r>
              <a:rPr lang="zh-CN" altLang="en-US" sz="1425" dirty="0"/>
              <a:t>服务</a:t>
            </a:r>
            <a:r>
              <a:rPr lang="en-US" altLang="zh-CN" sz="1425" dirty="0"/>
              <a:t> (Services) -&gt; HTTP</a:t>
            </a:r>
            <a:r>
              <a:rPr lang="zh-CN" altLang="en-US" sz="1425" dirty="0"/>
              <a:t>。</a:t>
            </a:r>
          </a:p>
          <a:p>
            <a:pPr lvl="2"/>
            <a:r>
              <a:rPr lang="zh-CN" altLang="en-US" sz="1425" dirty="0"/>
              <a:t>确认</a:t>
            </a:r>
            <a:r>
              <a:rPr lang="en-US" altLang="zh-CN" sz="1425" dirty="0"/>
              <a:t> HTTP  </a:t>
            </a:r>
            <a:r>
              <a:rPr lang="zh-CN" altLang="en-US" sz="1425" dirty="0"/>
              <a:t>服务状态为</a:t>
            </a:r>
            <a:r>
              <a:rPr lang="en-US" altLang="zh-CN" sz="1425" dirty="0"/>
              <a:t> On (</a:t>
            </a:r>
            <a:r>
              <a:rPr lang="zh-CN" altLang="en-US" sz="1425" dirty="0"/>
              <a:t>开启</a:t>
            </a:r>
            <a:r>
              <a:rPr lang="en-US" altLang="zh-CN" sz="1425" dirty="0"/>
              <a:t>)</a:t>
            </a:r>
            <a:r>
              <a:rPr lang="zh-CN" altLang="en-US" sz="1425" dirty="0"/>
              <a:t>。</a:t>
            </a:r>
          </a:p>
          <a:p>
            <a:pPr lvl="2"/>
            <a:r>
              <a:rPr lang="zh-CN" altLang="en-US" sz="1425" dirty="0"/>
              <a:t>点击</a:t>
            </a:r>
            <a:r>
              <a:rPr lang="en-US" altLang="zh-CN" sz="1425" dirty="0"/>
              <a:t> index.html </a:t>
            </a:r>
            <a:r>
              <a:rPr lang="zh-CN" altLang="en-US" sz="1425" dirty="0"/>
              <a:t>文件旁的</a:t>
            </a:r>
            <a:r>
              <a:rPr lang="en-US" altLang="zh-CN" sz="1425" dirty="0"/>
              <a:t> </a:t>
            </a:r>
            <a:r>
              <a:rPr lang="zh-CN" altLang="en-US" sz="1425" dirty="0"/>
              <a:t>编辑</a:t>
            </a:r>
            <a:r>
              <a:rPr lang="en-US" altLang="zh-CN" sz="1425" dirty="0"/>
              <a:t> (Edit) </a:t>
            </a:r>
            <a:r>
              <a:rPr lang="zh-CN" altLang="en-US" sz="1425" dirty="0"/>
              <a:t>按钮，修改内容为你自己的欢迎语，例如：</a:t>
            </a:r>
            <a:r>
              <a:rPr lang="en-US" altLang="zh-CN" sz="1425" dirty="0"/>
              <a:t>&lt;h1&gt;Welcome to www.test.com! My IP is </a:t>
            </a:r>
            <a:r>
              <a:rPr lang="zh-CN" altLang="en-US" sz="1425" dirty="0"/>
              <a:t>各自的学号和姓名</a:t>
            </a:r>
            <a:r>
              <a:rPr lang="en-US" altLang="zh-CN" sz="1425" dirty="0"/>
              <a:t>.&lt;/h1&gt;</a:t>
            </a:r>
            <a:r>
              <a:rPr lang="zh-CN" altLang="en-US" sz="1425" dirty="0"/>
              <a:t>。这可以明确证明你访问的是正确的服务器。保存文件。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2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DNS</a:t>
            </a:r>
            <a:r>
              <a:rPr lang="zh-CN" altLang="zh-CN" dirty="0"/>
              <a:t>服务器的配置与</a:t>
            </a:r>
            <a:r>
              <a:rPr lang="en-US" altLang="zh-CN" dirty="0"/>
              <a:t>DNS</a:t>
            </a:r>
            <a:r>
              <a:rPr lang="zh-CN" altLang="zh-CN" dirty="0"/>
              <a:t>协议分析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130300"/>
            <a:ext cx="10909300" cy="5728335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DNS </a:t>
            </a:r>
            <a:r>
              <a:rPr lang="zh-CN" altLang="en-US" sz="2000" dirty="0"/>
              <a:t>服务器配置</a:t>
            </a:r>
            <a:r>
              <a:rPr lang="en-US" altLang="zh-CN" sz="2000" dirty="0"/>
              <a:t> (IP: 192.168.1.199)</a:t>
            </a:r>
          </a:p>
          <a:p>
            <a:pPr lvl="1"/>
            <a:r>
              <a:rPr lang="zh-CN" altLang="en-US" sz="1710" dirty="0"/>
              <a:t>步骤</a:t>
            </a:r>
            <a:r>
              <a:rPr lang="en-US" altLang="zh-CN" sz="1710" dirty="0"/>
              <a:t> 1</a:t>
            </a:r>
            <a:r>
              <a:rPr lang="zh-CN" altLang="en-US" sz="1710" dirty="0"/>
              <a:t>：配置</a:t>
            </a:r>
            <a:r>
              <a:rPr lang="en-US" altLang="zh-CN" sz="1710" dirty="0"/>
              <a:t> DNS </a:t>
            </a:r>
            <a:r>
              <a:rPr lang="zh-CN" altLang="en-US" sz="1710" dirty="0"/>
              <a:t>服务器</a:t>
            </a:r>
            <a:r>
              <a:rPr lang="en-US" altLang="zh-CN" sz="1710" dirty="0"/>
              <a:t> IP </a:t>
            </a:r>
            <a:r>
              <a:rPr lang="zh-CN" altLang="en-US" sz="1710" dirty="0"/>
              <a:t>地址</a:t>
            </a:r>
          </a:p>
          <a:p>
            <a:pPr lvl="2"/>
            <a:r>
              <a:rPr lang="zh-CN" altLang="en-US" sz="1425" dirty="0"/>
              <a:t>单击</a:t>
            </a:r>
            <a:r>
              <a:rPr lang="en-US" altLang="zh-CN" sz="1425" dirty="0"/>
              <a:t> DNS </a:t>
            </a:r>
            <a:r>
              <a:rPr lang="zh-CN" altLang="en-US" sz="1425" dirty="0"/>
              <a:t>服务器</a:t>
            </a:r>
            <a:r>
              <a:rPr lang="en-US" altLang="zh-CN" sz="1425" dirty="0"/>
              <a:t> </a:t>
            </a:r>
            <a:r>
              <a:rPr lang="zh-CN" altLang="en-US" sz="1425" dirty="0"/>
              <a:t>设备，选择</a:t>
            </a:r>
            <a:r>
              <a:rPr lang="en-US" altLang="zh-CN" sz="1425" dirty="0"/>
              <a:t> </a:t>
            </a:r>
            <a:r>
              <a:rPr lang="zh-CN" altLang="en-US" sz="1425" dirty="0"/>
              <a:t>桌面</a:t>
            </a:r>
            <a:r>
              <a:rPr lang="en-US" altLang="zh-CN" sz="1425" dirty="0"/>
              <a:t> (Desktop) -&gt; IP </a:t>
            </a:r>
            <a:r>
              <a:rPr lang="zh-CN" altLang="en-US" sz="1425" dirty="0"/>
              <a:t>配置</a:t>
            </a:r>
            <a:r>
              <a:rPr lang="en-US" altLang="zh-CN" sz="1425" dirty="0"/>
              <a:t> (IP Configuration)</a:t>
            </a:r>
            <a:r>
              <a:rPr lang="zh-CN" altLang="en-US" sz="1425" dirty="0"/>
              <a:t>。</a:t>
            </a:r>
          </a:p>
          <a:p>
            <a:pPr lvl="2"/>
            <a:r>
              <a:rPr lang="zh-CN" altLang="en-US" sz="1425" dirty="0"/>
              <a:t>输入</a:t>
            </a:r>
            <a:r>
              <a:rPr lang="en-US" altLang="zh-CN" sz="1425" dirty="0"/>
              <a:t> IP </a:t>
            </a:r>
            <a:r>
              <a:rPr lang="zh-CN" altLang="en-US" sz="1425" dirty="0"/>
              <a:t>地址</a:t>
            </a:r>
            <a:r>
              <a:rPr lang="en-US" altLang="zh-CN" sz="1425" dirty="0"/>
              <a:t>: 192.168.1.199</a:t>
            </a:r>
            <a:r>
              <a:rPr lang="zh-CN" altLang="en-US" sz="1425" dirty="0"/>
              <a:t>，子网掩码</a:t>
            </a:r>
            <a:r>
              <a:rPr lang="en-US" altLang="zh-CN" sz="1425" dirty="0"/>
              <a:t>: 255.255.255.0</a:t>
            </a:r>
            <a:r>
              <a:rPr lang="zh-CN" altLang="en-US" sz="1425" dirty="0"/>
              <a:t>。</a:t>
            </a:r>
          </a:p>
          <a:p>
            <a:pPr lvl="1"/>
            <a:r>
              <a:rPr lang="zh-CN" altLang="en-US" sz="1710" dirty="0"/>
              <a:t>步骤</a:t>
            </a:r>
            <a:r>
              <a:rPr lang="en-US" altLang="zh-CN" sz="1710" dirty="0"/>
              <a:t> 2</a:t>
            </a:r>
            <a:r>
              <a:rPr lang="zh-CN" altLang="en-US" sz="1710" dirty="0"/>
              <a:t>：配置</a:t>
            </a:r>
            <a:r>
              <a:rPr lang="en-US" altLang="zh-CN" sz="1710" dirty="0"/>
              <a:t> DNS </a:t>
            </a:r>
            <a:r>
              <a:rPr lang="zh-CN" altLang="en-US" sz="1710" dirty="0"/>
              <a:t>服务记录</a:t>
            </a:r>
            <a:endParaRPr lang="en-US" altLang="zh-CN" sz="1710" dirty="0"/>
          </a:p>
          <a:p>
            <a:pPr lvl="2"/>
            <a:r>
              <a:rPr lang="zh-CN" altLang="en-US" sz="1425" dirty="0"/>
              <a:t>在</a:t>
            </a:r>
            <a:r>
              <a:rPr lang="en-US" altLang="zh-CN" sz="1425" dirty="0"/>
              <a:t> DNS </a:t>
            </a:r>
            <a:r>
              <a:rPr lang="zh-CN" altLang="en-US" sz="1425" dirty="0"/>
              <a:t>服务器配置窗口，选择</a:t>
            </a:r>
            <a:r>
              <a:rPr lang="en-US" altLang="zh-CN" sz="1425" dirty="0"/>
              <a:t> </a:t>
            </a:r>
            <a:r>
              <a:rPr lang="zh-CN" altLang="en-US" sz="1425" dirty="0"/>
              <a:t>服务</a:t>
            </a:r>
            <a:r>
              <a:rPr lang="en-US" altLang="zh-CN" sz="1425" dirty="0"/>
              <a:t> (Services) -&gt; DNS</a:t>
            </a:r>
            <a:r>
              <a:rPr lang="zh-CN" altLang="en-US" sz="1425" dirty="0"/>
              <a:t>，</a:t>
            </a:r>
            <a:r>
              <a:rPr lang="zh-CN" altLang="en-US" sz="1425" dirty="0">
                <a:sym typeface="+mn-ea"/>
              </a:rPr>
              <a:t>确保服务状态为</a:t>
            </a:r>
            <a:r>
              <a:rPr lang="en-US" altLang="zh-CN" sz="1425" dirty="0">
                <a:sym typeface="+mn-ea"/>
              </a:rPr>
              <a:t> On (</a:t>
            </a:r>
            <a:r>
              <a:rPr lang="zh-CN" altLang="en-US" sz="1425" dirty="0">
                <a:sym typeface="+mn-ea"/>
              </a:rPr>
              <a:t>开启</a:t>
            </a:r>
            <a:r>
              <a:rPr lang="en-US" altLang="zh-CN" sz="1425" dirty="0">
                <a:sym typeface="+mn-ea"/>
              </a:rPr>
              <a:t>)</a:t>
            </a:r>
            <a:r>
              <a:rPr lang="zh-CN" altLang="en-US" sz="1425" dirty="0"/>
              <a:t>。</a:t>
            </a:r>
          </a:p>
          <a:p>
            <a:pPr lvl="2"/>
            <a:r>
              <a:rPr lang="zh-CN" altLang="en-US" sz="1425" dirty="0">
                <a:sym typeface="+mn-ea"/>
              </a:rPr>
              <a:t>修改</a:t>
            </a:r>
            <a:r>
              <a:rPr lang="en-US" altLang="zh-CN" sz="1425" dirty="0">
                <a:sym typeface="+mn-ea"/>
              </a:rPr>
              <a:t> A </a:t>
            </a:r>
            <a:r>
              <a:rPr lang="zh-CN" altLang="en-US" sz="1425" dirty="0">
                <a:sym typeface="+mn-ea"/>
              </a:rPr>
              <a:t>记录</a:t>
            </a:r>
            <a:r>
              <a:rPr lang="zh-CN" altLang="en-US" sz="1425" dirty="0"/>
              <a:t>。</a:t>
            </a:r>
            <a:endParaRPr lang="zh-CN" altLang="en-US" sz="1280" dirty="0"/>
          </a:p>
          <a:p>
            <a:pPr lvl="3"/>
            <a:r>
              <a:rPr lang="zh-CN" altLang="en-US" sz="1280" dirty="0"/>
              <a:t>名称</a:t>
            </a:r>
            <a:r>
              <a:rPr lang="en-US" altLang="zh-CN" sz="1280" dirty="0"/>
              <a:t>: www.test.com</a:t>
            </a:r>
          </a:p>
          <a:p>
            <a:pPr lvl="3"/>
            <a:r>
              <a:rPr lang="zh-CN" altLang="en-US" sz="1280" dirty="0"/>
              <a:t>类型</a:t>
            </a:r>
            <a:r>
              <a:rPr lang="en-US" altLang="zh-CN" sz="1280" dirty="0"/>
              <a:t>: A Record</a:t>
            </a:r>
          </a:p>
          <a:p>
            <a:pPr lvl="3"/>
            <a:r>
              <a:rPr lang="zh-CN" altLang="en-US" sz="1280" dirty="0"/>
              <a:t>地址</a:t>
            </a:r>
            <a:r>
              <a:rPr lang="en-US" altLang="zh-CN" sz="1280" dirty="0"/>
              <a:t>: 192.168.1.200 (</a:t>
            </a:r>
            <a:r>
              <a:rPr lang="zh-CN" altLang="en-US" sz="1280" dirty="0"/>
              <a:t>指向</a:t>
            </a:r>
            <a:r>
              <a:rPr lang="en-US" altLang="zh-CN" sz="1280" dirty="0"/>
              <a:t> Web </a:t>
            </a:r>
            <a:r>
              <a:rPr lang="zh-CN" altLang="en-US" sz="1280" dirty="0"/>
              <a:t>服务器的</a:t>
            </a:r>
            <a:r>
              <a:rPr lang="en-US" altLang="zh-CN" sz="1280" dirty="0"/>
              <a:t> IP)</a:t>
            </a:r>
          </a:p>
          <a:p>
            <a:pPr lvl="3"/>
            <a:r>
              <a:rPr lang="zh-CN" altLang="en-US" sz="1280" dirty="0"/>
              <a:t>点击</a:t>
            </a:r>
            <a:r>
              <a:rPr lang="en-US" altLang="zh-CN" sz="1280" dirty="0"/>
              <a:t> </a:t>
            </a:r>
            <a:r>
              <a:rPr lang="zh-CN" altLang="en-US" sz="1280" dirty="0"/>
              <a:t>添加</a:t>
            </a:r>
            <a:r>
              <a:rPr lang="en-US" altLang="zh-CN" sz="1280" dirty="0"/>
              <a:t> (Add) </a:t>
            </a:r>
            <a:endParaRPr lang="zh-CN" altLang="en-US" sz="1280" dirty="0"/>
          </a:p>
          <a:p>
            <a:pPr lvl="2"/>
            <a:r>
              <a:rPr lang="zh-CN" altLang="en-US" sz="1425" dirty="0"/>
              <a:t>配置</a:t>
            </a:r>
            <a:r>
              <a:rPr lang="en-US" altLang="zh-CN" sz="1425" dirty="0"/>
              <a:t> CNAME </a:t>
            </a:r>
            <a:r>
              <a:rPr lang="zh-CN" altLang="en-US" sz="1425" dirty="0"/>
              <a:t>记录</a:t>
            </a:r>
            <a:r>
              <a:rPr lang="en-US" altLang="zh-CN" sz="1425" dirty="0"/>
              <a:t>:</a:t>
            </a:r>
          </a:p>
          <a:p>
            <a:pPr lvl="3"/>
            <a:r>
              <a:rPr lang="zh-CN" altLang="en-US" sz="1280" dirty="0"/>
              <a:t>名称</a:t>
            </a:r>
            <a:r>
              <a:rPr lang="en-US" altLang="zh-CN" sz="1280" dirty="0"/>
              <a:t>: www1.test.com</a:t>
            </a:r>
          </a:p>
          <a:p>
            <a:pPr lvl="3"/>
            <a:r>
              <a:rPr lang="zh-CN" altLang="en-US" sz="1280" dirty="0"/>
              <a:t>类型</a:t>
            </a:r>
            <a:r>
              <a:rPr lang="en-US" altLang="zh-CN" sz="1280" dirty="0"/>
              <a:t>: CNAME Record</a:t>
            </a:r>
          </a:p>
          <a:p>
            <a:pPr lvl="3"/>
            <a:r>
              <a:rPr lang="zh-CN" altLang="en-US" sz="1280" dirty="0"/>
              <a:t>主机名</a:t>
            </a:r>
            <a:r>
              <a:rPr lang="en-US" altLang="zh-CN" sz="1280" dirty="0"/>
              <a:t>: www.test.com</a:t>
            </a:r>
          </a:p>
          <a:p>
            <a:pPr lvl="3"/>
            <a:r>
              <a:rPr lang="zh-CN" altLang="en-US" sz="1280" dirty="0"/>
              <a:t>点击</a:t>
            </a:r>
            <a:r>
              <a:rPr lang="en-US" altLang="zh-CN" sz="1280" dirty="0"/>
              <a:t> </a:t>
            </a:r>
            <a:r>
              <a:rPr lang="zh-CN" altLang="en-US" sz="1280" dirty="0"/>
              <a:t>添加</a:t>
            </a:r>
            <a:r>
              <a:rPr lang="en-US" altLang="zh-CN" sz="1280" dirty="0"/>
              <a:t> (Add)</a:t>
            </a:r>
            <a:r>
              <a:rPr lang="zh-CN" altLang="en-US" sz="1280" dirty="0"/>
              <a:t>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2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DNS</a:t>
            </a:r>
            <a:r>
              <a:rPr lang="zh-CN" altLang="zh-CN" dirty="0"/>
              <a:t>服务器的配置与</a:t>
            </a:r>
            <a:r>
              <a:rPr lang="en-US" altLang="zh-CN" dirty="0"/>
              <a:t>DNS</a:t>
            </a:r>
            <a:r>
              <a:rPr lang="zh-CN" altLang="zh-CN" dirty="0"/>
              <a:t>协议分析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7500" lnSpcReduction="10000"/>
          </a:bodyPr>
          <a:lstStyle/>
          <a:p>
            <a:r>
              <a:rPr lang="en-US" altLang="zh-CN" dirty="0"/>
              <a:t>DNS </a:t>
            </a:r>
            <a:r>
              <a:rPr lang="zh-CN" altLang="en-US" dirty="0"/>
              <a:t>客户端配置</a:t>
            </a:r>
          </a:p>
          <a:p>
            <a:pPr marL="800100" lvl="1" indent="-342900">
              <a:buAutoNum type="arabicPeriod"/>
            </a:pPr>
            <a:r>
              <a:rPr lang="zh-CN" altLang="en-US" dirty="0"/>
              <a:t>单击</a:t>
            </a:r>
            <a:r>
              <a:rPr lang="en-US" altLang="zh-CN" dirty="0"/>
              <a:t> PC </a:t>
            </a:r>
            <a:r>
              <a:rPr lang="zh-CN" altLang="en-US" dirty="0"/>
              <a:t>设备，进入</a:t>
            </a:r>
            <a:r>
              <a:rPr lang="en-US" altLang="zh-CN" dirty="0"/>
              <a:t> </a:t>
            </a:r>
            <a:r>
              <a:rPr lang="zh-CN" altLang="en-US" dirty="0"/>
              <a:t>桌面</a:t>
            </a:r>
            <a:r>
              <a:rPr lang="en-US" altLang="zh-CN" dirty="0"/>
              <a:t> (Desktop) -&gt; IP </a:t>
            </a:r>
            <a:r>
              <a:rPr lang="zh-CN" altLang="en-US" dirty="0"/>
              <a:t>配置</a:t>
            </a:r>
            <a:r>
              <a:rPr lang="en-US" altLang="zh-CN" dirty="0"/>
              <a:t> (IP Configuration)</a:t>
            </a:r>
            <a:r>
              <a:rPr lang="zh-CN" altLang="en-US" dirty="0"/>
              <a:t>。</a:t>
            </a:r>
          </a:p>
          <a:p>
            <a:pPr marL="800100" lvl="1" indent="-342900">
              <a:buAutoNum type="arabicPeriod"/>
            </a:pPr>
            <a:r>
              <a:rPr lang="zh-CN" altLang="en-US" dirty="0"/>
              <a:t>输入</a:t>
            </a:r>
            <a:r>
              <a:rPr lang="en-US" altLang="zh-CN" dirty="0"/>
              <a:t> IP: 192.168.1.155</a:t>
            </a:r>
            <a:r>
              <a:rPr lang="zh-CN" altLang="en-US" dirty="0"/>
              <a:t>，子网掩码</a:t>
            </a:r>
            <a:r>
              <a:rPr lang="en-US" altLang="zh-CN" dirty="0"/>
              <a:t>: 255.255.255.0</a:t>
            </a:r>
            <a:r>
              <a:rPr lang="zh-CN" altLang="en-US" dirty="0"/>
              <a:t>。</a:t>
            </a:r>
          </a:p>
          <a:p>
            <a:pPr marL="800100" lvl="1" indent="-342900">
              <a:buAutoNum type="arabicPeriod"/>
            </a:pPr>
            <a:r>
              <a:rPr lang="en-US" altLang="zh-CN" dirty="0"/>
              <a:t>DNS </a:t>
            </a:r>
            <a:r>
              <a:rPr lang="zh-CN" altLang="en-US" dirty="0"/>
              <a:t>服务器</a:t>
            </a:r>
            <a:r>
              <a:rPr lang="en-US" altLang="zh-CN" dirty="0"/>
              <a:t> </a:t>
            </a:r>
            <a:r>
              <a:rPr lang="zh-CN" altLang="en-US" dirty="0"/>
              <a:t>字段输入</a:t>
            </a:r>
            <a:r>
              <a:rPr lang="en-US" altLang="zh-CN" dirty="0"/>
              <a:t>: 192.168.1.199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综合功能测试</a:t>
            </a:r>
          </a:p>
          <a:p>
            <a:pPr marL="800100" lvl="1" indent="-342900">
              <a:buAutoNum type="arabicPeriod"/>
            </a:pPr>
            <a:r>
              <a:rPr lang="zh-CN" altLang="en-US" dirty="0"/>
              <a:t>在</a:t>
            </a:r>
            <a:r>
              <a:rPr lang="en-US" altLang="zh-CN" dirty="0"/>
              <a:t> PC </a:t>
            </a:r>
            <a:r>
              <a:rPr lang="zh-CN" altLang="en-US" dirty="0"/>
              <a:t>上打开</a:t>
            </a:r>
            <a:r>
              <a:rPr lang="en-US" altLang="zh-CN" dirty="0"/>
              <a:t> </a:t>
            </a:r>
            <a:r>
              <a:rPr lang="zh-CN" altLang="en-US" dirty="0"/>
              <a:t>命令提示符</a:t>
            </a:r>
            <a:r>
              <a:rPr lang="en-US" altLang="zh-CN" dirty="0"/>
              <a:t> (Command Prompt)</a:t>
            </a:r>
            <a:r>
              <a:rPr lang="zh-CN" altLang="en-US" dirty="0"/>
              <a:t>。</a:t>
            </a:r>
          </a:p>
          <a:p>
            <a:pPr marL="800100" lvl="1" indent="-342900">
              <a:buAutoNum type="arabicPeriod"/>
            </a:pPr>
            <a:r>
              <a:rPr lang="zh-CN" altLang="en-US" dirty="0"/>
              <a:t>输入</a:t>
            </a:r>
            <a:r>
              <a:rPr lang="en-US" altLang="zh-CN" dirty="0"/>
              <a:t> ping www.test.com</a:t>
            </a:r>
            <a:r>
              <a:rPr lang="zh-CN" altLang="en-US" dirty="0"/>
              <a:t>。此时应该会收到来自</a:t>
            </a:r>
            <a:r>
              <a:rPr lang="en-US" altLang="zh-CN" dirty="0"/>
              <a:t> 192.168.1.200 </a:t>
            </a:r>
            <a:r>
              <a:rPr lang="zh-CN" altLang="en-US" dirty="0"/>
              <a:t>的回复。</a:t>
            </a:r>
          </a:p>
          <a:p>
            <a:pPr marL="800100" lvl="1" indent="-342900">
              <a:buAutoNum type="arabicPeriod"/>
            </a:pPr>
            <a:r>
              <a:rPr lang="zh-CN" altLang="en-US" dirty="0"/>
              <a:t>输入</a:t>
            </a:r>
            <a:r>
              <a:rPr lang="en-US" altLang="zh-CN" dirty="0"/>
              <a:t> nslookup www.test.com</a:t>
            </a:r>
            <a:r>
              <a:rPr lang="zh-CN" altLang="en-US" dirty="0"/>
              <a:t>。应答的地址应为</a:t>
            </a:r>
            <a:r>
              <a:rPr lang="en-US" altLang="zh-CN" dirty="0"/>
              <a:t> 192.168.1.200</a:t>
            </a:r>
            <a:r>
              <a:rPr lang="zh-CN" altLang="en-US" dirty="0"/>
              <a:t>。</a:t>
            </a:r>
          </a:p>
          <a:p>
            <a:pPr marL="800100" lvl="1" indent="-342900">
              <a:buAutoNum type="arabicPeriod"/>
            </a:pPr>
            <a:r>
              <a:rPr lang="zh-CN" altLang="en-US" dirty="0"/>
              <a:t>新增关键测试：</a:t>
            </a:r>
            <a:r>
              <a:rPr lang="en-US" altLang="zh-CN" dirty="0"/>
              <a:t> </a:t>
            </a:r>
            <a:r>
              <a:rPr lang="zh-CN" altLang="en-US" dirty="0"/>
              <a:t>在</a:t>
            </a:r>
            <a:r>
              <a:rPr lang="en-US" altLang="zh-CN" dirty="0"/>
              <a:t> PC </a:t>
            </a:r>
            <a:r>
              <a:rPr lang="zh-CN" altLang="en-US" dirty="0"/>
              <a:t>上打开</a:t>
            </a:r>
            <a:r>
              <a:rPr lang="en-US" altLang="zh-CN" dirty="0"/>
              <a:t> Web </a:t>
            </a:r>
            <a:r>
              <a:rPr lang="zh-CN" altLang="en-US" dirty="0"/>
              <a:t>浏览器</a:t>
            </a:r>
            <a:r>
              <a:rPr lang="en-US" altLang="zh-CN" dirty="0"/>
              <a:t> (Web Browser)</a:t>
            </a:r>
            <a:r>
              <a:rPr lang="zh-CN" altLang="en-US" dirty="0"/>
              <a:t>。</a:t>
            </a:r>
          </a:p>
          <a:p>
            <a:pPr marL="800100" lvl="1" indent="-342900">
              <a:buAutoNum type="arabicPeriod"/>
            </a:pPr>
            <a:r>
              <a:rPr lang="zh-CN" altLang="en-US" dirty="0"/>
              <a:t>在地址栏输入</a:t>
            </a:r>
            <a:r>
              <a:rPr lang="en-US" altLang="zh-CN" dirty="0"/>
              <a:t> http://www.test.com </a:t>
            </a:r>
            <a:r>
              <a:rPr lang="zh-CN" altLang="en-US" dirty="0"/>
              <a:t>并点击</a:t>
            </a:r>
            <a:r>
              <a:rPr lang="en-US" altLang="zh-CN" dirty="0"/>
              <a:t> Go</a:t>
            </a:r>
            <a:r>
              <a:rPr lang="zh-CN" altLang="en-US" dirty="0"/>
              <a:t>。</a:t>
            </a:r>
          </a:p>
          <a:p>
            <a:pPr marL="800100" lvl="1" indent="-342900">
              <a:buAutoNum type="arabicPeriod"/>
            </a:pPr>
            <a:r>
              <a:rPr lang="zh-CN" altLang="en-US" dirty="0"/>
              <a:t>你应该能看到你在</a:t>
            </a:r>
            <a:r>
              <a:rPr lang="en-US" altLang="zh-CN" dirty="0"/>
              <a:t> Web </a:t>
            </a:r>
            <a:r>
              <a:rPr lang="zh-CN" altLang="en-US" dirty="0"/>
              <a:t>服务器上编辑的欢迎页面。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2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DNS</a:t>
            </a:r>
            <a:r>
              <a:rPr lang="zh-CN" altLang="zh-CN" dirty="0"/>
              <a:t>服务器的配置与</a:t>
            </a:r>
            <a:r>
              <a:rPr lang="en-US" altLang="zh-CN" dirty="0"/>
              <a:t>DNS</a:t>
            </a:r>
            <a:r>
              <a:rPr lang="zh-CN" altLang="zh-CN" dirty="0"/>
              <a:t>协议分析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0" y="1130300"/>
            <a:ext cx="10858500" cy="5727700"/>
          </a:xfrm>
        </p:spPr>
        <p:txBody>
          <a:bodyPr>
            <a:normAutofit fontScale="67500" lnSpcReduction="10000"/>
          </a:bodyPr>
          <a:lstStyle/>
          <a:p>
            <a:r>
              <a:rPr lang="zh-CN" altLang="en-US" dirty="0"/>
              <a:t>协议分析：捕获</a:t>
            </a:r>
            <a:r>
              <a:rPr lang="en-US" altLang="zh-CN" dirty="0"/>
              <a:t> DNS </a:t>
            </a:r>
            <a:r>
              <a:rPr lang="zh-CN" altLang="en-US" dirty="0"/>
              <a:t>和</a:t>
            </a:r>
            <a:r>
              <a:rPr lang="en-US" altLang="zh-CN" dirty="0"/>
              <a:t> HTTP </a:t>
            </a:r>
            <a:r>
              <a:rPr lang="zh-CN" altLang="en-US" dirty="0"/>
              <a:t>报文</a:t>
            </a:r>
          </a:p>
          <a:p>
            <a:pPr marL="342900" indent="-342900">
              <a:buAutoNum type="arabicPeriod"/>
            </a:pPr>
            <a:r>
              <a:rPr lang="zh-CN" altLang="en-US" dirty="0"/>
              <a:t>在</a:t>
            </a:r>
            <a:r>
              <a:rPr lang="en-US" altLang="zh-CN" dirty="0"/>
              <a:t> Packet Tracer </a:t>
            </a:r>
            <a:r>
              <a:rPr lang="zh-CN" altLang="en-US" dirty="0"/>
              <a:t>右下角，切换到</a:t>
            </a:r>
            <a:r>
              <a:rPr lang="en-US" altLang="zh-CN" dirty="0"/>
              <a:t> “</a:t>
            </a:r>
            <a:r>
              <a:rPr lang="zh-CN" altLang="en-US" dirty="0"/>
              <a:t>仿真</a:t>
            </a:r>
            <a:r>
              <a:rPr lang="en-US" altLang="zh-CN" dirty="0"/>
              <a:t> (Simulation)” </a:t>
            </a:r>
            <a:r>
              <a:rPr lang="zh-CN" altLang="en-US" dirty="0"/>
              <a:t>模式。</a:t>
            </a:r>
          </a:p>
          <a:p>
            <a:pPr marL="342900" indent="-342900">
              <a:buAutoNum type="arabicPeriod"/>
            </a:pPr>
            <a:r>
              <a:rPr lang="zh-CN" altLang="en-US" dirty="0"/>
              <a:t>点击</a:t>
            </a:r>
            <a:r>
              <a:rPr lang="en-US" altLang="zh-CN" dirty="0"/>
              <a:t> “</a:t>
            </a:r>
            <a:r>
              <a:rPr lang="zh-CN" altLang="en-US" dirty="0"/>
              <a:t>编辑过滤器</a:t>
            </a:r>
            <a:r>
              <a:rPr lang="en-US" altLang="zh-CN" dirty="0"/>
              <a:t> (Edit Filters)”</a:t>
            </a:r>
            <a:r>
              <a:rPr lang="zh-CN" altLang="en-US" dirty="0"/>
              <a:t>。</a:t>
            </a:r>
          </a:p>
          <a:p>
            <a:pPr marL="342900" indent="-342900">
              <a:buAutoNum type="arabicPeriod"/>
            </a:pPr>
            <a:r>
              <a:rPr lang="zh-CN" altLang="en-US" dirty="0"/>
              <a:t>在弹出的窗口中，只勾选</a:t>
            </a:r>
            <a:r>
              <a:rPr lang="en-US" altLang="zh-CN" dirty="0"/>
              <a:t> DNS </a:t>
            </a:r>
            <a:r>
              <a:rPr lang="zh-CN" altLang="en-US" dirty="0"/>
              <a:t>和</a:t>
            </a:r>
            <a:r>
              <a:rPr lang="en-US" altLang="zh-CN" dirty="0"/>
              <a:t> HTTP </a:t>
            </a:r>
            <a:r>
              <a:rPr lang="zh-CN" altLang="en-US" dirty="0"/>
              <a:t>两种协议。</a:t>
            </a:r>
          </a:p>
          <a:p>
            <a:pPr marL="342900" indent="-342900">
              <a:buAutoNum type="arabicPeriod"/>
            </a:pPr>
            <a:r>
              <a:rPr lang="zh-CN" altLang="en-US" dirty="0"/>
              <a:t>在客户端</a:t>
            </a:r>
            <a:r>
              <a:rPr lang="en-US" altLang="zh-CN" dirty="0"/>
              <a:t> PC </a:t>
            </a:r>
            <a:r>
              <a:rPr lang="zh-CN" altLang="en-US" dirty="0"/>
              <a:t>的</a:t>
            </a:r>
            <a:r>
              <a:rPr lang="en-US" altLang="zh-CN" dirty="0"/>
              <a:t> Web </a:t>
            </a:r>
            <a:r>
              <a:rPr lang="zh-CN" altLang="en-US" dirty="0"/>
              <a:t>浏览器</a:t>
            </a:r>
            <a:r>
              <a:rPr lang="en-US" altLang="zh-CN" dirty="0"/>
              <a:t> </a:t>
            </a:r>
            <a:r>
              <a:rPr lang="zh-CN" altLang="en-US" dirty="0"/>
              <a:t>中，输入</a:t>
            </a:r>
            <a:r>
              <a:rPr lang="en-US" altLang="zh-CN" dirty="0"/>
              <a:t> http://www.test.com </a:t>
            </a:r>
            <a:r>
              <a:rPr lang="zh-CN" altLang="en-US" dirty="0"/>
              <a:t>并点击</a:t>
            </a:r>
            <a:r>
              <a:rPr lang="en-US" altLang="zh-CN" dirty="0"/>
              <a:t> Go</a:t>
            </a:r>
            <a:r>
              <a:rPr lang="zh-CN" altLang="en-US" dirty="0"/>
              <a:t>。</a:t>
            </a:r>
          </a:p>
          <a:p>
            <a:pPr marL="342900" indent="-342900">
              <a:buAutoNum type="arabicPeriod"/>
            </a:pPr>
            <a:r>
              <a:rPr lang="zh-CN" altLang="en-US" dirty="0">
                <a:sym typeface="+mn-ea"/>
              </a:rPr>
              <a:t>在客户端</a:t>
            </a:r>
            <a:r>
              <a:rPr lang="en-US" altLang="zh-CN" dirty="0">
                <a:sym typeface="+mn-ea"/>
              </a:rPr>
              <a:t> PC </a:t>
            </a:r>
            <a:r>
              <a:rPr lang="zh-CN" altLang="en-US" dirty="0">
                <a:sym typeface="+mn-ea"/>
              </a:rPr>
              <a:t>的</a:t>
            </a:r>
            <a:r>
              <a:rPr lang="en-US" altLang="zh-CN" dirty="0">
                <a:sym typeface="+mn-ea"/>
              </a:rPr>
              <a:t> Web </a:t>
            </a:r>
            <a:r>
              <a:rPr lang="zh-CN" altLang="en-US" dirty="0">
                <a:sym typeface="+mn-ea"/>
              </a:rPr>
              <a:t>浏览器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中，输入</a:t>
            </a:r>
            <a:r>
              <a:rPr lang="en-US" altLang="zh-CN" dirty="0">
                <a:sym typeface="+mn-ea"/>
              </a:rPr>
              <a:t> http://www.test1.com </a:t>
            </a:r>
            <a:r>
              <a:rPr lang="zh-CN" altLang="en-US" dirty="0">
                <a:sym typeface="+mn-ea"/>
              </a:rPr>
              <a:t>并点击</a:t>
            </a:r>
            <a:r>
              <a:rPr lang="en-US" altLang="zh-CN" dirty="0">
                <a:sym typeface="+mn-ea"/>
              </a:rPr>
              <a:t> Go</a:t>
            </a:r>
            <a:r>
              <a:rPr lang="zh-CN" altLang="en-US" dirty="0">
                <a:sym typeface="+mn-ea"/>
              </a:rPr>
              <a:t>。</a:t>
            </a:r>
            <a:endParaRPr lang="zh-CN" altLang="en-US" dirty="0"/>
          </a:p>
          <a:p>
            <a:pPr marL="342900" indent="-342900">
              <a:buAutoNum type="arabicPeriod"/>
            </a:pPr>
            <a:r>
              <a:rPr lang="zh-CN" altLang="en-US" dirty="0"/>
              <a:t>观察仿真面板的事件列表，你将看到一个清晰的流程：</a:t>
            </a:r>
          </a:p>
          <a:p>
            <a:pPr lvl="1"/>
            <a:r>
              <a:rPr lang="zh-CN" altLang="en-US" dirty="0"/>
              <a:t>第一步：</a:t>
            </a:r>
            <a:r>
              <a:rPr lang="en-US" altLang="zh-CN" dirty="0"/>
              <a:t>DNS </a:t>
            </a:r>
            <a:r>
              <a:rPr lang="zh-CN" altLang="en-US" dirty="0"/>
              <a:t>解析</a:t>
            </a:r>
          </a:p>
          <a:p>
            <a:pPr lvl="2"/>
            <a:r>
              <a:rPr lang="en-US" altLang="zh-CN" dirty="0"/>
              <a:t>PC </a:t>
            </a:r>
            <a:r>
              <a:rPr lang="zh-CN" altLang="en-US" dirty="0"/>
              <a:t>发出一个</a:t>
            </a:r>
            <a:r>
              <a:rPr lang="en-US" altLang="zh-CN" dirty="0"/>
              <a:t> DNS </a:t>
            </a:r>
            <a:r>
              <a:rPr lang="zh-CN" altLang="en-US" dirty="0"/>
              <a:t>查询报文给</a:t>
            </a:r>
            <a:r>
              <a:rPr lang="en-US" altLang="zh-CN" dirty="0"/>
              <a:t> DNS </a:t>
            </a:r>
            <a:r>
              <a:rPr lang="zh-CN" altLang="en-US" dirty="0"/>
              <a:t>服务器</a:t>
            </a:r>
            <a:r>
              <a:rPr lang="en-US" altLang="zh-CN" dirty="0"/>
              <a:t> (192.168.1.199)</a:t>
            </a:r>
            <a:r>
              <a:rPr lang="zh-CN" altLang="en-US" dirty="0"/>
              <a:t>。</a:t>
            </a:r>
          </a:p>
          <a:p>
            <a:pPr lvl="2"/>
            <a:r>
              <a:rPr lang="en-US" altLang="zh-CN" dirty="0"/>
              <a:t>DNS </a:t>
            </a:r>
            <a:r>
              <a:rPr lang="zh-CN" altLang="en-US" dirty="0"/>
              <a:t>服务器返回一个</a:t>
            </a:r>
            <a:r>
              <a:rPr lang="en-US" altLang="zh-CN" dirty="0"/>
              <a:t> DNS </a:t>
            </a:r>
            <a:r>
              <a:rPr lang="zh-CN" altLang="en-US" dirty="0"/>
              <a:t>响应报文给</a:t>
            </a:r>
            <a:r>
              <a:rPr lang="en-US" altLang="zh-CN" dirty="0"/>
              <a:t> PC</a:t>
            </a:r>
            <a:r>
              <a:rPr lang="zh-CN" altLang="en-US" dirty="0"/>
              <a:t>，内容包含</a:t>
            </a:r>
            <a:r>
              <a:rPr lang="en-US" altLang="zh-CN" dirty="0"/>
              <a:t> www.test.com </a:t>
            </a:r>
            <a:r>
              <a:rPr lang="zh-CN" altLang="en-US" dirty="0"/>
              <a:t>对应的</a:t>
            </a:r>
            <a:r>
              <a:rPr lang="en-US" altLang="zh-CN" dirty="0"/>
              <a:t> IP </a:t>
            </a:r>
            <a:r>
              <a:rPr lang="zh-CN" altLang="en-US" dirty="0"/>
              <a:t>是</a:t>
            </a:r>
            <a:r>
              <a:rPr lang="en-US" altLang="zh-CN" dirty="0"/>
              <a:t> 192.168.1.200</a:t>
            </a:r>
            <a:r>
              <a:rPr lang="zh-CN" altLang="en-US" dirty="0"/>
              <a:t>。</a:t>
            </a:r>
          </a:p>
          <a:p>
            <a:pPr lvl="2"/>
            <a:r>
              <a:rPr lang="en-US" altLang="zh-CN" dirty="0">
                <a:sym typeface="+mn-ea"/>
              </a:rPr>
              <a:t>DNS </a:t>
            </a:r>
            <a:r>
              <a:rPr lang="zh-CN" altLang="en-US" dirty="0">
                <a:sym typeface="+mn-ea"/>
              </a:rPr>
              <a:t>服务器返回一个</a:t>
            </a:r>
            <a:r>
              <a:rPr lang="en-US" altLang="zh-CN" dirty="0">
                <a:sym typeface="+mn-ea"/>
              </a:rPr>
              <a:t> DNS </a:t>
            </a:r>
            <a:r>
              <a:rPr lang="zh-CN" altLang="en-US" dirty="0">
                <a:sym typeface="+mn-ea"/>
              </a:rPr>
              <a:t>响应报文给</a:t>
            </a:r>
            <a:r>
              <a:rPr lang="en-US" altLang="zh-CN" dirty="0">
                <a:sym typeface="+mn-ea"/>
              </a:rPr>
              <a:t> PC</a:t>
            </a:r>
            <a:r>
              <a:rPr lang="zh-CN" altLang="en-US" dirty="0">
                <a:sym typeface="+mn-ea"/>
              </a:rPr>
              <a:t>，内容包含</a:t>
            </a:r>
            <a:r>
              <a:rPr lang="en-US" altLang="zh-CN" dirty="0">
                <a:sym typeface="+mn-ea"/>
              </a:rPr>
              <a:t> www.test1.com </a:t>
            </a:r>
            <a:r>
              <a:rPr lang="zh-CN" altLang="en-US" dirty="0">
                <a:sym typeface="+mn-ea"/>
              </a:rPr>
              <a:t>对应的</a:t>
            </a:r>
            <a:r>
              <a:rPr lang="en-US" altLang="zh-CN" dirty="0">
                <a:sym typeface="+mn-ea"/>
              </a:rPr>
              <a:t> IP </a:t>
            </a:r>
            <a:r>
              <a:rPr lang="zh-CN" altLang="en-US" dirty="0">
                <a:sym typeface="+mn-ea"/>
              </a:rPr>
              <a:t>是</a:t>
            </a:r>
            <a:r>
              <a:rPr lang="en-US" altLang="zh-CN" dirty="0">
                <a:sym typeface="+mn-ea"/>
              </a:rPr>
              <a:t> 192.168.1.200</a:t>
            </a:r>
            <a:endParaRPr lang="zh-CN" altLang="en-US" dirty="0"/>
          </a:p>
          <a:p>
            <a:pPr lvl="1"/>
            <a:r>
              <a:rPr lang="zh-CN" altLang="en-US" dirty="0"/>
              <a:t>第二步：</a:t>
            </a:r>
            <a:r>
              <a:rPr lang="en-US" altLang="zh-CN" dirty="0"/>
              <a:t>HTTP </a:t>
            </a:r>
            <a:r>
              <a:rPr lang="zh-CN" altLang="en-US" dirty="0"/>
              <a:t>请求</a:t>
            </a:r>
          </a:p>
          <a:p>
            <a:pPr lvl="2"/>
            <a:r>
              <a:rPr lang="en-US" altLang="zh-CN" dirty="0"/>
              <a:t>PC</a:t>
            </a:r>
            <a:r>
              <a:rPr lang="zh-CN" altLang="en-US" dirty="0"/>
              <a:t>向</a:t>
            </a:r>
            <a:r>
              <a:rPr lang="en-US" altLang="zh-CN" dirty="0"/>
              <a:t> Web </a:t>
            </a:r>
            <a:r>
              <a:rPr lang="zh-CN" altLang="en-US" dirty="0"/>
              <a:t>服务器</a:t>
            </a:r>
            <a:r>
              <a:rPr lang="en-US" altLang="zh-CN" dirty="0"/>
              <a:t> (192.168.1.200) </a:t>
            </a:r>
            <a:r>
              <a:rPr lang="zh-CN" altLang="en-US" dirty="0"/>
              <a:t>发出一个</a:t>
            </a:r>
            <a:r>
              <a:rPr lang="en-US" altLang="zh-CN" dirty="0"/>
              <a:t> HTTP GET </a:t>
            </a:r>
            <a:r>
              <a:rPr lang="zh-CN" altLang="en-US" dirty="0"/>
              <a:t>请求报文。</a:t>
            </a:r>
          </a:p>
          <a:p>
            <a:pPr lvl="2"/>
            <a:r>
              <a:rPr lang="en-US" altLang="zh-CN" dirty="0"/>
              <a:t>Web </a:t>
            </a:r>
            <a:r>
              <a:rPr lang="zh-CN" altLang="en-US" dirty="0"/>
              <a:t>服务器返回一个</a:t>
            </a:r>
            <a:r>
              <a:rPr lang="en-US" altLang="zh-CN" dirty="0"/>
              <a:t> HTTP </a:t>
            </a:r>
            <a:r>
              <a:rPr lang="zh-CN" altLang="en-US" dirty="0"/>
              <a:t>响应报文给</a:t>
            </a:r>
            <a:r>
              <a:rPr lang="en-US" altLang="zh-CN" dirty="0"/>
              <a:t> PC</a:t>
            </a:r>
            <a:r>
              <a:rPr lang="zh-CN" altLang="en-US" dirty="0"/>
              <a:t>，其中包含了网页内容。</a:t>
            </a:r>
          </a:p>
          <a:p>
            <a:pPr lvl="2"/>
            <a:r>
              <a:rPr lang="zh-CN" altLang="en-US" dirty="0"/>
              <a:t>点击每个数据包，在</a:t>
            </a:r>
            <a:r>
              <a:rPr lang="en-US" altLang="zh-CN" dirty="0"/>
              <a:t> “PDU </a:t>
            </a:r>
            <a:r>
              <a:rPr lang="zh-CN" altLang="en-US" dirty="0"/>
              <a:t>信息</a:t>
            </a:r>
            <a:r>
              <a:rPr lang="en-US" altLang="zh-CN" dirty="0"/>
              <a:t>” </a:t>
            </a:r>
            <a:r>
              <a:rPr lang="zh-CN" altLang="en-US" dirty="0"/>
              <a:t>窗口中详细检查其内容。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2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DNS</a:t>
            </a:r>
            <a:r>
              <a:rPr lang="zh-CN" altLang="zh-CN" dirty="0"/>
              <a:t>服务器的配置与</a:t>
            </a:r>
            <a:r>
              <a:rPr lang="en-US" altLang="zh-CN" dirty="0"/>
              <a:t>DNS</a:t>
            </a:r>
            <a:r>
              <a:rPr lang="zh-CN" altLang="zh-CN"/>
              <a:t>协议分析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2400" dirty="0"/>
              <a:t>回答问题：</a:t>
            </a:r>
            <a:endParaRPr lang="en-US" altLang="zh-CN" sz="2400" dirty="0"/>
          </a:p>
          <a:p>
            <a:pPr marL="457200" lvl="1" indent="0">
              <a:buNone/>
            </a:pPr>
            <a:r>
              <a:rPr lang="en-US" altLang="zh-CN" sz="2000" dirty="0"/>
              <a:t>1</a:t>
            </a:r>
            <a:r>
              <a:rPr lang="zh-CN" altLang="zh-CN" sz="2000" dirty="0"/>
              <a:t>）在捕获</a:t>
            </a:r>
            <a:r>
              <a:rPr lang="en-US" altLang="zh-CN" sz="2000" dirty="0"/>
              <a:t>ping</a:t>
            </a:r>
            <a:r>
              <a:rPr lang="zh-CN" altLang="zh-CN" sz="2000" dirty="0"/>
              <a:t>命令的</a:t>
            </a:r>
            <a:r>
              <a:rPr lang="en-US" altLang="zh-CN" sz="2000" dirty="0"/>
              <a:t>ICMP</a:t>
            </a:r>
            <a:r>
              <a:rPr lang="zh-CN" altLang="zh-CN" sz="2000" dirty="0"/>
              <a:t>报文之前，从客户端主机发送了什么类型的应用层报文？</a:t>
            </a:r>
          </a:p>
          <a:p>
            <a:pPr marL="457200" lvl="1" indent="0">
              <a:buNone/>
            </a:pPr>
            <a:r>
              <a:rPr lang="en-US" altLang="zh-CN" sz="2000" dirty="0"/>
              <a:t>2</a:t>
            </a:r>
            <a:r>
              <a:rPr lang="zh-CN" altLang="zh-CN" sz="2000" dirty="0"/>
              <a:t>）</a:t>
            </a:r>
            <a:r>
              <a:rPr lang="en-US" altLang="zh-CN" sz="2000" dirty="0"/>
              <a:t>DNS</a:t>
            </a:r>
            <a:r>
              <a:rPr lang="zh-CN" altLang="zh-CN" sz="2000" dirty="0"/>
              <a:t>报文是封装在</a:t>
            </a:r>
            <a:r>
              <a:rPr lang="en-US" altLang="zh-CN" sz="2000" dirty="0"/>
              <a:t>UDP</a:t>
            </a:r>
            <a:r>
              <a:rPr lang="zh-CN" altLang="zh-CN" sz="2000" dirty="0"/>
              <a:t>报文，还是封装在</a:t>
            </a:r>
            <a:r>
              <a:rPr lang="en-US" altLang="zh-CN" sz="2000" dirty="0"/>
              <a:t>TCP</a:t>
            </a:r>
            <a:r>
              <a:rPr lang="zh-CN" altLang="zh-CN" sz="2000" dirty="0"/>
              <a:t>的报文中？</a:t>
            </a:r>
          </a:p>
          <a:p>
            <a:pPr marL="457200" lvl="1" indent="0">
              <a:buNone/>
            </a:pPr>
            <a:r>
              <a:rPr lang="en-US" altLang="zh-CN" sz="2000" dirty="0"/>
              <a:t>3</a:t>
            </a:r>
            <a:r>
              <a:rPr lang="zh-CN" altLang="zh-CN" sz="2000" dirty="0"/>
              <a:t>）在解析</a:t>
            </a:r>
            <a:r>
              <a:rPr lang="en-US" altLang="zh-CN" sz="2000" dirty="0"/>
              <a:t>www.test.com</a:t>
            </a:r>
            <a:r>
              <a:rPr lang="zh-CN" altLang="zh-CN" sz="2000" dirty="0"/>
              <a:t>域名时，服务器用什么类型的资源记录作为应答报文返回给客户端？</a:t>
            </a:r>
          </a:p>
          <a:p>
            <a:pPr marL="457200" lvl="1" indent="0">
              <a:buNone/>
            </a:pPr>
            <a:r>
              <a:rPr lang="en-US" altLang="zh-CN" sz="2000" dirty="0"/>
              <a:t>4</a:t>
            </a:r>
            <a:r>
              <a:rPr lang="zh-CN" altLang="zh-CN" sz="2000" dirty="0"/>
              <a:t>）在进行别名</a:t>
            </a:r>
            <a:r>
              <a:rPr lang="en-US" altLang="zh-CN" sz="2000" dirty="0"/>
              <a:t>www1.test.com</a:t>
            </a:r>
            <a:r>
              <a:rPr lang="zh-CN" altLang="zh-CN" sz="2000" dirty="0"/>
              <a:t>域名解析时，服务器返回什么类型的资源记录？</a:t>
            </a:r>
          </a:p>
          <a:p>
            <a:pPr marL="457200" lvl="1" indent="0">
              <a:buNone/>
            </a:pPr>
            <a:r>
              <a:rPr lang="en-US" altLang="zh-CN" sz="2000" dirty="0"/>
              <a:t>5</a:t>
            </a:r>
            <a:r>
              <a:rPr lang="zh-CN" altLang="en-US" sz="2000" dirty="0"/>
              <a:t>）观察一个</a:t>
            </a:r>
            <a:r>
              <a:rPr lang="en-US" altLang="zh-CN" sz="2000" dirty="0"/>
              <a:t>DNS</a:t>
            </a:r>
            <a:r>
              <a:rPr lang="zh-CN" altLang="en-US" sz="2000" dirty="0"/>
              <a:t>查询请求（</a:t>
            </a:r>
            <a:r>
              <a:rPr lang="en-US" altLang="zh-CN" sz="2000" dirty="0"/>
              <a:t>Query</a:t>
            </a:r>
            <a:r>
              <a:rPr lang="zh-CN" altLang="en-US" sz="2000" dirty="0"/>
              <a:t>）和它对应的响应（</a:t>
            </a:r>
            <a:r>
              <a:rPr lang="en-US" altLang="zh-CN" sz="2000" dirty="0"/>
              <a:t>Response</a:t>
            </a:r>
            <a:r>
              <a:rPr lang="zh-CN" altLang="en-US" sz="2000" dirty="0"/>
              <a:t>），它们的</a:t>
            </a:r>
            <a:r>
              <a:rPr lang="en-US" altLang="zh-CN" sz="2000" dirty="0"/>
              <a:t>“</a:t>
            </a:r>
            <a:r>
              <a:rPr lang="zh-CN" altLang="en-US" sz="2000" dirty="0"/>
              <a:t>事务</a:t>
            </a:r>
            <a:r>
              <a:rPr lang="en-US" altLang="zh-CN" sz="2000" dirty="0"/>
              <a:t>ID”</a:t>
            </a:r>
            <a:r>
              <a:rPr lang="zh-CN" altLang="en-US" sz="2000" dirty="0"/>
              <a:t>是多少？是否相同？这个</a:t>
            </a:r>
            <a:r>
              <a:rPr lang="en-US" altLang="zh-CN" sz="2000" dirty="0"/>
              <a:t>ID</a:t>
            </a:r>
            <a:r>
              <a:rPr lang="zh-CN" altLang="en-US" sz="2000" dirty="0"/>
              <a:t>在</a:t>
            </a:r>
            <a:r>
              <a:rPr lang="en-US" altLang="zh-CN" sz="2000" dirty="0"/>
              <a:t>DNS</a:t>
            </a:r>
            <a:r>
              <a:rPr lang="zh-CN" altLang="en-US" sz="2000" dirty="0"/>
              <a:t>通信中起什么作用？</a:t>
            </a:r>
          </a:p>
          <a:p>
            <a:pPr marL="457200" lvl="1" indent="0">
              <a:buNone/>
            </a:pPr>
            <a:r>
              <a:rPr lang="en-US" altLang="zh-CN" sz="2000" dirty="0"/>
              <a:t>6</a:t>
            </a:r>
            <a:r>
              <a:rPr lang="zh-CN" altLang="en-US" sz="2000" dirty="0"/>
              <a:t>）在您的</a:t>
            </a:r>
            <a:r>
              <a:rPr lang="en-US" altLang="zh-CN" sz="2000" dirty="0"/>
              <a:t>DNS</a:t>
            </a:r>
            <a:r>
              <a:rPr lang="zh-CN" altLang="en-US" sz="2000" dirty="0"/>
              <a:t>服务器返回的响应报文中，</a:t>
            </a:r>
            <a:r>
              <a:rPr lang="en-US" altLang="zh-CN" sz="2000" dirty="0"/>
              <a:t>“Flags”</a:t>
            </a:r>
            <a:r>
              <a:rPr lang="zh-CN" altLang="en-US" sz="2000" dirty="0"/>
              <a:t>字段里的</a:t>
            </a:r>
            <a:r>
              <a:rPr lang="en-US" altLang="zh-CN" sz="2000" dirty="0"/>
              <a:t>“Authoritative (AA)”</a:t>
            </a:r>
            <a:r>
              <a:rPr lang="zh-CN" altLang="en-US" sz="2000" dirty="0"/>
              <a:t>标志位是否被设置？设置为多少？这说明了什么？</a:t>
            </a:r>
          </a:p>
          <a:p>
            <a:pPr marL="457200" lvl="1" indent="0">
              <a:buNone/>
            </a:pPr>
            <a:r>
              <a:rPr lang="en-US" altLang="zh-CN" sz="2000" dirty="0"/>
              <a:t>7</a:t>
            </a:r>
            <a:r>
              <a:rPr lang="zh-CN" altLang="en-US" sz="2000" dirty="0"/>
              <a:t>）当客户端查询</a:t>
            </a:r>
            <a:r>
              <a:rPr lang="en-US" altLang="zh-CN" sz="2000" dirty="0"/>
              <a:t> “www.test.com” </a:t>
            </a:r>
            <a:r>
              <a:rPr lang="zh-CN" altLang="en-US" sz="2000" dirty="0"/>
              <a:t>时，</a:t>
            </a:r>
            <a:r>
              <a:rPr lang="en-US" altLang="zh-CN" sz="2000" dirty="0"/>
              <a:t>DNS</a:t>
            </a:r>
            <a:r>
              <a:rPr lang="zh-CN" altLang="en-US" sz="2000" dirty="0"/>
              <a:t>查询报文</a:t>
            </a:r>
            <a:r>
              <a:rPr lang="en-US" altLang="zh-CN" sz="2000" dirty="0"/>
              <a:t>“Question”</a:t>
            </a:r>
            <a:r>
              <a:rPr lang="zh-CN" altLang="en-US" sz="2000" dirty="0"/>
              <a:t>部分指定的查询类型</a:t>
            </a:r>
            <a:r>
              <a:rPr lang="en-US" altLang="zh-CN" sz="2000" dirty="0"/>
              <a:t> (Type) </a:t>
            </a:r>
            <a:r>
              <a:rPr lang="zh-CN" altLang="en-US" sz="2000" dirty="0"/>
              <a:t>是什么？</a:t>
            </a:r>
          </a:p>
          <a:p>
            <a:pPr marL="457200" lvl="1" indent="0">
              <a:buNone/>
            </a:pPr>
            <a:r>
              <a:rPr lang="en-US" altLang="zh-CN" sz="2000" dirty="0"/>
              <a:t>8</a:t>
            </a:r>
            <a:r>
              <a:rPr lang="zh-CN" altLang="en-US" sz="2000" dirty="0"/>
              <a:t>）在服务器对</a:t>
            </a:r>
            <a:r>
              <a:rPr lang="en-US" altLang="zh-CN" sz="2000" dirty="0"/>
              <a:t>“www.test.com”</a:t>
            </a:r>
            <a:r>
              <a:rPr lang="zh-CN" altLang="en-US" sz="2000" dirty="0"/>
              <a:t>的应答中，</a:t>
            </a:r>
            <a:r>
              <a:rPr lang="en-US" altLang="zh-CN" sz="2000" dirty="0"/>
              <a:t>A</a:t>
            </a:r>
            <a:r>
              <a:rPr lang="zh-CN" altLang="en-US" sz="2000" dirty="0"/>
              <a:t>记录的</a:t>
            </a:r>
            <a:r>
              <a:rPr lang="en-US" altLang="zh-CN" sz="2000" dirty="0"/>
              <a:t>“Time-to-Live (TTL)”</a:t>
            </a:r>
            <a:r>
              <a:rPr lang="zh-CN" altLang="en-US" sz="2000" dirty="0"/>
              <a:t>值是多少？这个值对客户端的</a:t>
            </a:r>
            <a:r>
              <a:rPr lang="en-US" altLang="zh-CN" sz="2000" dirty="0"/>
              <a:t>DNS</a:t>
            </a:r>
            <a:r>
              <a:rPr lang="zh-CN" altLang="en-US" sz="2000" dirty="0"/>
              <a:t>缓存有什么影响？</a:t>
            </a:r>
          </a:p>
          <a:p>
            <a:pPr marL="457200" lvl="1" indent="0">
              <a:buNone/>
            </a:pPr>
            <a:endParaRPr lang="zh-CN" altLang="en-US" sz="20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  <p:tag name="RESOURCE_RECORD_KEY" val="{&quot;29&quot;:[50000049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278.0325459317582,&quot;width&quot;:2278.0325459317582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54*157"/>
  <p:tag name="TABLE_ENDDRAG_RECT" val="60*325*854*157"/>
</p:tagLst>
</file>

<file path=ppt/theme/theme1.xml><?xml version="1.0" encoding="utf-8"?>
<a:theme xmlns:a="http://schemas.openxmlformats.org/drawingml/2006/main" name="Designed by iSlide">
  <a:themeElements>
    <a:clrScheme name="5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53078"/>
      </a:accent1>
      <a:accent2>
        <a:srgbClr val="704495"/>
      </a:accent2>
      <a:accent3>
        <a:srgbClr val="6B57A0"/>
      </a:accent3>
      <a:accent4>
        <a:srgbClr val="7580BC"/>
      </a:accent4>
      <a:accent5>
        <a:srgbClr val="7179A9"/>
      </a:accent5>
      <a:accent6>
        <a:srgbClr val="67AAD6"/>
      </a:accent6>
      <a:hlink>
        <a:srgbClr val="0563C1"/>
      </a:hlink>
      <a:folHlink>
        <a:srgbClr val="954F72"/>
      </a:folHlink>
    </a:clrScheme>
    <a:fontScheme name="820aae30-1c87-473b-9be3-a6f0a432e1fb">
      <a:majorFont>
        <a:latin typeface="Comic Sans MS"/>
        <a:ea typeface="微软雅黑"/>
        <a:cs typeface=""/>
      </a:majorFont>
      <a:minorFont>
        <a:latin typeface="Comic Sans MS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11</TotalTime>
  <Words>1488</Words>
  <Application>Microsoft Office PowerPoint</Application>
  <PresentationFormat>宽屏</PresentationFormat>
  <Paragraphs>151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等线</vt:lpstr>
      <vt:lpstr>微软雅黑</vt:lpstr>
      <vt:lpstr>Arial</vt:lpstr>
      <vt:lpstr>Comic Sans MS</vt:lpstr>
      <vt:lpstr>Designed by iSlide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实验2： DNS 与 Web 服务器的配置及协议分析</vt:lpstr>
      <vt:lpstr>实验2： DNS服务器的配置与DNS协议分析</vt:lpstr>
      <vt:lpstr>实验2： DNS服务器的配置与DNS协议分析</vt:lpstr>
      <vt:lpstr>实验2： DNS服务器的配置与DNS协议分析</vt:lpstr>
      <vt:lpstr>实验2： DNS服务器的配置与DNS协议分析</vt:lpstr>
      <vt:lpstr>实验2： DNS服务器的配置与DNS协议分析</vt:lpstr>
      <vt:lpstr>实验2： DNS服务器的配置与DNS协议分析</vt:lpstr>
      <vt:lpstr>实验2： DNS服务器的配置与DNS协议分析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计算机网络课程设计</dc:title>
  <dc:creator>iSlide</dc:creator>
  <cp:lastModifiedBy>阳 杨</cp:lastModifiedBy>
  <cp:revision>48</cp:revision>
  <cp:lastPrinted>2025-10-26T11:45:51Z</cp:lastPrinted>
  <dcterms:created xsi:type="dcterms:W3CDTF">2025-10-26T11:45:51Z</dcterms:created>
  <dcterms:modified xsi:type="dcterms:W3CDTF">2025-10-28T04:21:48Z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07c23b4b-f23e-44c3-a9ad-b24173362479</vt:lpwstr>
  </property>
  <property fmtid="{D5CDD505-2E9C-101B-9397-08002B2CF9AE}" pid="3" name="ICV">
    <vt:lpwstr>338D79738F60562EE201FE68D15C4A7A_43</vt:lpwstr>
  </property>
  <property fmtid="{D5CDD505-2E9C-101B-9397-08002B2CF9AE}" pid="4" name="KSOProductBuildVer">
    <vt:lpwstr>2052-12.1.23141.23141</vt:lpwstr>
  </property>
</Properties>
</file>