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25" r:id="rId2"/>
    <p:sldId id="316" r:id="rId3"/>
    <p:sldId id="320" r:id="rId4"/>
    <p:sldId id="327" r:id="rId5"/>
    <p:sldId id="321" r:id="rId6"/>
    <p:sldId id="328" r:id="rId7"/>
    <p:sldId id="329" r:id="rId8"/>
    <p:sldId id="330" r:id="rId9"/>
    <p:sldId id="331" r:id="rId10"/>
    <p:sldId id="332" r:id="rId11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87" d="100"/>
          <a:sy n="87" d="100"/>
        </p:scale>
        <p:origin x="269" y="62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 b="1"/>
            </a:lvl1pPr>
            <a:lvl2pPr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2000" b="1"/>
            </a:lvl3pPr>
            <a:lvl4pPr>
              <a:defRPr sz="1800" b="1"/>
            </a:lvl4pPr>
            <a:lvl5pPr>
              <a:defRPr sz="18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圆: 空心 256">
            <a:extLst>
              <a:ext uri="{FF2B5EF4-FFF2-40B4-BE49-F238E27FC236}">
                <a16:creationId xmlns:a16="http://schemas.microsoft.com/office/drawing/2014/main" id="{74A9E843-1667-3DA3-FF77-05C5A4A9EE8A}"/>
              </a:ext>
            </a:extLst>
          </p:cNvPr>
          <p:cNvSpPr/>
          <p:nvPr/>
        </p:nvSpPr>
        <p:spPr>
          <a:xfrm>
            <a:off x="7588207" y="374493"/>
            <a:ext cx="5951891" cy="5918200"/>
          </a:xfrm>
          <a:prstGeom prst="donut">
            <a:avLst>
              <a:gd name="adj" fmla="val 11200"/>
            </a:avLst>
          </a:prstGeom>
          <a:solidFill>
            <a:srgbClr val="D2D8F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0F5BF4D0-817A-B522-6BAB-3AF06799CE62}"/>
              </a:ext>
            </a:extLst>
          </p:cNvPr>
          <p:cNvSpPr/>
          <p:nvPr/>
        </p:nvSpPr>
        <p:spPr>
          <a:xfrm rot="20337877">
            <a:off x="6421793" y="939499"/>
            <a:ext cx="4841467" cy="4814061"/>
          </a:xfrm>
          <a:prstGeom prst="donut">
            <a:avLst>
              <a:gd name="adj" fmla="val 13078"/>
            </a:avLst>
          </a:prstGeom>
          <a:gradFill>
            <a:gsLst>
              <a:gs pos="0">
                <a:srgbClr val="D2D8FD"/>
              </a:gs>
              <a:gs pos="81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47008" y="3898563"/>
            <a:ext cx="4936351" cy="532555"/>
            <a:chOff x="0" y="0"/>
            <a:chExt cx="812800" cy="160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60125"/>
            </a:xfrm>
            <a:custGeom>
              <a:avLst/>
              <a:gdLst/>
              <a:ahLst/>
              <a:cxnLst/>
              <a:rect l="l" t="t" r="r" b="b"/>
              <a:pathLst>
                <a:path w="812800" h="160125">
                  <a:moveTo>
                    <a:pt x="0" y="0"/>
                  </a:moveTo>
                  <a:lnTo>
                    <a:pt x="812800" y="0"/>
                  </a:lnTo>
                  <a:lnTo>
                    <a:pt x="812800" y="160125"/>
                  </a:lnTo>
                  <a:lnTo>
                    <a:pt x="0" y="160125"/>
                  </a:lnTo>
                  <a:close/>
                </a:path>
              </a:pathLst>
            </a:custGeom>
            <a:solidFill>
              <a:srgbClr val="1540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1887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68518" y="2547308"/>
            <a:ext cx="6422406" cy="1057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92"/>
              </a:lnSpc>
            </a:pPr>
            <a:r>
              <a:rPr lang="zh-CN" altLang="en-US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第</a:t>
            </a:r>
            <a:r>
              <a:rPr lang="en-US" altLang="zh-CN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5</a:t>
            </a:r>
            <a:r>
              <a:rPr lang="zh-CN" altLang="en-US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次实验</a:t>
            </a:r>
            <a:endParaRPr lang="en-US" sz="5334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9513" y="4060435"/>
            <a:ext cx="4897199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6"/>
              </a:lnSpc>
            </a:pP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路由器配置实验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035800" y="1290853"/>
            <a:ext cx="523032" cy="626087"/>
            <a:chOff x="0" y="0"/>
            <a:chExt cx="1046064" cy="1252173"/>
          </a:xfrm>
        </p:grpSpPr>
        <p:grpSp>
          <p:nvGrpSpPr>
            <p:cNvPr id="15" name="Group 15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3933799" y="4675085"/>
            <a:ext cx="1758583" cy="634855"/>
            <a:chOff x="0" y="0"/>
            <a:chExt cx="3517166" cy="1269709"/>
          </a:xfrm>
        </p:grpSpPr>
        <p:grpSp>
          <p:nvGrpSpPr>
            <p:cNvPr id="76" name="Group 76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7" name="Group 157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9" name="Group 169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2" name="Group 172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5" name="Group 175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76" name="Freeform 1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7" name="TextBox 1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82" name="Freeform 1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3" name="TextBox 1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4" name="Group 184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7" name="Group 187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88" name="Freeform 1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9" name="TextBox 1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0" name="Group 190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91" name="Freeform 1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2" name="TextBox 1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3" name="Group 193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94" name="Freeform 1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5" name="TextBox 1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6" name="Group 196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8" name="TextBox 1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200" name="Freeform 2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1" name="TextBox 2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2" name="Group 202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4" name="TextBox 2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5" name="Group 205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206" name="Freeform 2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0" name="TextBox 2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1" name="Group 211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212" name="Freeform 2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3" name="TextBox 2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4" name="Group 214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215" name="Freeform 2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6" name="TextBox 2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7" name="Group 217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218" name="Freeform 2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9" name="TextBox 2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0" name="Group 220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221" name="Freeform 2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2" name="TextBox 2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3" name="Group 223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224" name="Freeform 2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5" name="TextBox 2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6" name="Group 226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227" name="Freeform 2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8" name="TextBox 2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9" name="Group 229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230" name="Freeform 2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1" name="TextBox 2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2" name="Group 232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233" name="Freeform 2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4" name="TextBox 2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5" name="Group 235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236" name="Freeform 2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7" name="TextBox 2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8" name="Group 238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239" name="Freeform 2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0" name="TextBox 2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1" name="Group 241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242" name="Freeform 2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3" name="TextBox 2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4" name="Group 244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245" name="Freeform 2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6" name="TextBox 2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7" name="Group 247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248" name="Freeform 2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9" name="TextBox 2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0" name="Group 250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251" name="Freeform 2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2" name="TextBox 2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3" name="Group 253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254" name="Freeform 2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5" name="TextBox 2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71" name="TextBox 271"/>
          <p:cNvSpPr txBox="1"/>
          <p:nvPr/>
        </p:nvSpPr>
        <p:spPr>
          <a:xfrm>
            <a:off x="868518" y="6076351"/>
            <a:ext cx="1911722" cy="42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2"/>
              </a:lnSpc>
            </a:pPr>
            <a:r>
              <a:rPr lang="zh-CN" altLang="en-US" sz="1267" spc="124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任课教师：朱敏老师</a:t>
            </a:r>
            <a:endParaRPr lang="en-US" altLang="zh-CN" sz="1267" spc="124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"/>
              <a:sym typeface="思源黑体 1"/>
            </a:endParaRPr>
          </a:p>
          <a:p>
            <a:pPr algn="just">
              <a:lnSpc>
                <a:spcPts val="1672"/>
              </a:lnSpc>
            </a:pPr>
            <a:r>
              <a:rPr lang="zh-CN" altLang="en-US" sz="1267" spc="124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实验助教：杨阳</a:t>
            </a:r>
            <a:endParaRPr lang="en-US" sz="1267" spc="124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"/>
              <a:sym typeface="思源黑体 1"/>
            </a:endParaRPr>
          </a:p>
        </p:txBody>
      </p:sp>
      <p:pic>
        <p:nvPicPr>
          <p:cNvPr id="272" name="图片 271">
            <a:extLst>
              <a:ext uri="{FF2B5EF4-FFF2-40B4-BE49-F238E27FC236}">
                <a16:creationId xmlns:a16="http://schemas.microsoft.com/office/drawing/2014/main" id="{343C0833-3841-D914-BAA5-4879BD10E9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16" y="184638"/>
            <a:ext cx="950785" cy="950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</a:p>
          <a:p>
            <a:pPr marL="457200" lvl="1" indent="0" latinLnBrk="1">
              <a:buNone/>
            </a:pPr>
            <a:r>
              <a:rPr lang="zh-CN" altLang="en-US" dirty="0"/>
              <a:t>本次实验需在思科模拟器中搭建网络拓扑，通过 </a:t>
            </a:r>
            <a:r>
              <a:rPr lang="en-US" altLang="zh-CN" dirty="0"/>
              <a:t>Console </a:t>
            </a:r>
            <a:r>
              <a:rPr lang="zh-CN" altLang="en-US" dirty="0"/>
              <a:t>口完成路由器 </a:t>
            </a:r>
            <a:r>
              <a:rPr lang="en-US" altLang="zh-CN" dirty="0"/>
              <a:t>IP </a:t>
            </a:r>
            <a:r>
              <a:rPr lang="zh-CN" altLang="en-US" dirty="0"/>
              <a:t>配置与 </a:t>
            </a:r>
            <a:r>
              <a:rPr lang="en-US" altLang="zh-CN" dirty="0"/>
              <a:t>Telnet </a:t>
            </a:r>
            <a:r>
              <a:rPr lang="zh-CN" altLang="en-US" dirty="0"/>
              <a:t>远程登录设置，并验证主机与路由器的网络连通性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</a:p>
          <a:p>
            <a:pPr marL="457200" lvl="1" indent="0">
              <a:buNone/>
            </a:pPr>
            <a:r>
              <a:rPr lang="en-US" altLang="zh-CN" dirty="0"/>
              <a:t>Packet Tracer</a:t>
            </a:r>
            <a:r>
              <a:rPr lang="zh-CN" altLang="zh-CN" dirty="0"/>
              <a:t>环境配置：</a:t>
            </a:r>
            <a:r>
              <a:rPr lang="en-US" altLang="zh-CN" dirty="0"/>
              <a:t>Windows 11</a:t>
            </a:r>
            <a:r>
              <a:rPr lang="zh-CN" altLang="zh-CN" dirty="0"/>
              <a:t>（任何可以安装</a:t>
            </a:r>
            <a:r>
              <a:rPr lang="en-US" altLang="zh-CN" dirty="0"/>
              <a:t>Cisco Packet Tracer</a:t>
            </a:r>
            <a:r>
              <a:rPr lang="zh-CN" altLang="zh-CN" dirty="0"/>
              <a:t>的平台均可以完成）。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</a:p>
          <a:p>
            <a:pPr marL="457200" lvl="1" indent="0">
              <a:buNone/>
            </a:pPr>
            <a:r>
              <a:rPr lang="en-US" altLang="zh-CN" dirty="0"/>
              <a:t>Cisco Packet Tracer 8.2.1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实验原理</a:t>
            </a:r>
            <a:r>
              <a:rPr lang="en-US" altLang="zh-CN" dirty="0"/>
              <a:t>(</a:t>
            </a:r>
            <a:r>
              <a:rPr lang="zh-CN" altLang="zh-CN" dirty="0"/>
              <a:t>路由器的四种工作模式</a:t>
            </a:r>
            <a:r>
              <a:rPr lang="en-US" altLang="zh-CN" dirty="0"/>
              <a:t>)</a:t>
            </a:r>
          </a:p>
          <a:p>
            <a:pPr marL="457200" lvl="1" indent="0">
              <a:buNone/>
            </a:pPr>
            <a:r>
              <a:rPr lang="zh-CN" altLang="zh-CN" dirty="0"/>
              <a:t>在连接并登录路由器后，进入可操作的状态。路由器在可操作状态下有四种模式，分别为用户模式、特权模式、全局模式和接口模式。不同的模式下，路由器允许执行的命令是不同的，也就是说，每个模式都有自己的命令范围。一般来说，用户模式的命令范围最小，特权模式的命令范围最大，全局模式和接口模式的命令范围介于二者之间。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42" y="4632100"/>
            <a:ext cx="11743763" cy="1688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4471" y="1130300"/>
            <a:ext cx="7028329" cy="500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5.</a:t>
            </a:r>
            <a:r>
              <a:rPr lang="zh-CN" altLang="zh-CN" sz="2400" dirty="0"/>
              <a:t>实验</a:t>
            </a:r>
            <a:r>
              <a:rPr lang="zh-CN" altLang="en-US" sz="2400" dirty="0"/>
              <a:t>步骤</a:t>
            </a:r>
            <a:endParaRPr lang="zh-CN" altLang="zh-CN" sz="2400" dirty="0"/>
          </a:p>
          <a:p>
            <a:pPr marL="457200" lvl="1" indent="0">
              <a:buNone/>
            </a:pPr>
            <a:r>
              <a:rPr lang="zh-CN" altLang="zh-CN" sz="1800" dirty="0"/>
              <a:t>（</a:t>
            </a:r>
            <a:r>
              <a:rPr lang="en-US" altLang="zh-CN" sz="1800" dirty="0"/>
              <a:t>1</a:t>
            </a:r>
            <a:r>
              <a:rPr lang="zh-CN" altLang="zh-CN" sz="1800" dirty="0"/>
              <a:t>）构建网络拓扑结构</a:t>
            </a:r>
          </a:p>
          <a:p>
            <a:pPr marL="914400" lvl="2" indent="0">
              <a:buNone/>
            </a:pPr>
            <a:r>
              <a:rPr lang="zh-CN" altLang="zh-CN" sz="1600" dirty="0"/>
              <a:t>启动思科模拟器，从左下角的设备框中拖动</a:t>
            </a:r>
            <a:r>
              <a:rPr lang="en-US" altLang="zh-CN" sz="1600" dirty="0"/>
              <a:t>1</a:t>
            </a:r>
            <a:r>
              <a:rPr lang="zh-CN" altLang="zh-CN" sz="1600" dirty="0"/>
              <a:t>台</a:t>
            </a:r>
            <a:r>
              <a:rPr lang="en-US" altLang="zh-CN" sz="1600" dirty="0"/>
              <a:t>1841</a:t>
            </a:r>
            <a:r>
              <a:rPr lang="zh-CN" altLang="zh-CN" sz="1600" dirty="0"/>
              <a:t>路由器、</a:t>
            </a:r>
            <a:r>
              <a:rPr lang="en-US" altLang="zh-CN" sz="1600" dirty="0"/>
              <a:t>1</a:t>
            </a:r>
            <a:r>
              <a:rPr lang="zh-CN" altLang="zh-CN" sz="1600" dirty="0"/>
              <a:t>台</a:t>
            </a:r>
            <a:r>
              <a:rPr lang="en-US" altLang="zh-CN" sz="1600" dirty="0"/>
              <a:t>2950-24</a:t>
            </a:r>
            <a:r>
              <a:rPr lang="zh-CN" altLang="zh-CN" sz="1600" dirty="0"/>
              <a:t>交换机和</a:t>
            </a:r>
            <a:r>
              <a:rPr lang="en-US" altLang="zh-CN" sz="1600" dirty="0"/>
              <a:t>2</a:t>
            </a:r>
            <a:r>
              <a:rPr lang="zh-CN" altLang="zh-CN" sz="1600" dirty="0"/>
              <a:t>台主机到工作区。使用配置线将路由器的</a:t>
            </a:r>
            <a:r>
              <a:rPr lang="en-US" altLang="zh-CN" sz="1600" dirty="0"/>
              <a:t>Console</a:t>
            </a:r>
            <a:r>
              <a:rPr lang="zh-CN" altLang="zh-CN" sz="1600" dirty="0"/>
              <a:t>口与主机</a:t>
            </a:r>
            <a:r>
              <a:rPr lang="en-US" altLang="zh-CN" sz="1600" dirty="0"/>
              <a:t>PC0</a:t>
            </a:r>
            <a:r>
              <a:rPr lang="zh-CN" altLang="zh-CN" sz="1600" dirty="0"/>
              <a:t>的</a:t>
            </a:r>
            <a:r>
              <a:rPr lang="en-US" altLang="zh-CN" sz="1600" dirty="0"/>
              <a:t>RS 232</a:t>
            </a:r>
            <a:r>
              <a:rPr lang="zh-CN" altLang="zh-CN" sz="1600" dirty="0"/>
              <a:t>口相连，使用直通线将其他设备的以太网口相连，构建实验拓扑结构。配置线的连接方式需要特别注意，否则无法进行路由器的配置操作。</a:t>
            </a:r>
          </a:p>
          <a:p>
            <a:pPr marL="457200" lvl="1" indent="0">
              <a:buNone/>
            </a:pPr>
            <a:r>
              <a:rPr lang="zh-CN" altLang="zh-CN" sz="1800" dirty="0"/>
              <a:t>（</a:t>
            </a:r>
            <a:r>
              <a:rPr lang="en-US" altLang="zh-CN" sz="1800" dirty="0"/>
              <a:t>2</a:t>
            </a:r>
            <a:r>
              <a:rPr lang="zh-CN" altLang="zh-CN" sz="1800" dirty="0"/>
              <a:t>）配置主机的</a:t>
            </a:r>
            <a:r>
              <a:rPr lang="en-US" altLang="zh-CN" sz="1800" dirty="0"/>
              <a:t>IP</a:t>
            </a:r>
            <a:r>
              <a:rPr lang="zh-CN" altLang="zh-CN" sz="1800" dirty="0"/>
              <a:t>信息</a:t>
            </a:r>
          </a:p>
          <a:p>
            <a:pPr marL="914400" lvl="2" indent="0">
              <a:buNone/>
            </a:pPr>
            <a:r>
              <a:rPr lang="zh-CN" altLang="zh-CN" sz="1600" dirty="0"/>
              <a:t>在工作区中，双击</a:t>
            </a:r>
            <a:r>
              <a:rPr lang="en-US" altLang="zh-CN" sz="1600" dirty="0"/>
              <a:t>PC1</a:t>
            </a:r>
            <a:r>
              <a:rPr lang="zh-CN" altLang="zh-CN" sz="1600" dirty="0"/>
              <a:t>主机图标打开配置窗口，切换到</a:t>
            </a:r>
            <a:r>
              <a:rPr lang="en-US" altLang="zh-CN" sz="1600" dirty="0"/>
              <a:t>“Desktop”</a:t>
            </a:r>
            <a:r>
              <a:rPr lang="zh-CN" altLang="zh-CN" sz="1600" dirty="0"/>
              <a:t>选项卡，点击</a:t>
            </a:r>
            <a:r>
              <a:rPr lang="en-US" altLang="zh-CN" sz="1600" dirty="0"/>
              <a:t>“IP Configuration”</a:t>
            </a:r>
            <a:r>
              <a:rPr lang="zh-CN" altLang="zh-CN" sz="1600" dirty="0"/>
              <a:t>按钮，即可看到</a:t>
            </a:r>
            <a:r>
              <a:rPr lang="en-US" altLang="zh-CN" sz="1600" dirty="0"/>
              <a:t>PC1</a:t>
            </a:r>
            <a:r>
              <a:rPr lang="zh-CN" altLang="zh-CN" sz="1600" dirty="0"/>
              <a:t>的</a:t>
            </a:r>
            <a:r>
              <a:rPr lang="en-US" altLang="zh-CN" sz="1600" dirty="0"/>
              <a:t>IP</a:t>
            </a:r>
            <a:r>
              <a:rPr lang="zh-CN" altLang="zh-CN" sz="1600" dirty="0"/>
              <a:t>配置界面。依次为</a:t>
            </a:r>
            <a:r>
              <a:rPr lang="en-US" altLang="zh-CN" sz="1600" dirty="0"/>
              <a:t>PC1</a:t>
            </a:r>
            <a:r>
              <a:rPr lang="zh-CN" altLang="zh-CN" sz="1600" dirty="0"/>
              <a:t>主机设置</a:t>
            </a:r>
            <a:r>
              <a:rPr lang="en-US" altLang="zh-CN" sz="1600" dirty="0"/>
              <a:t>IP</a:t>
            </a:r>
            <a:r>
              <a:rPr lang="zh-CN" altLang="zh-CN" sz="1600" dirty="0"/>
              <a:t>地址、子网掩码和网关。</a:t>
            </a:r>
            <a:r>
              <a:rPr lang="en-US" altLang="zh-CN" sz="1600" dirty="0"/>
              <a:t>PC0</a:t>
            </a:r>
            <a:r>
              <a:rPr lang="zh-CN" altLang="zh-CN" sz="1600" dirty="0"/>
              <a:t>主机使用配置线与路由器的</a:t>
            </a:r>
            <a:r>
              <a:rPr lang="en-US" altLang="zh-CN" sz="1600" dirty="0"/>
              <a:t>Console</a:t>
            </a:r>
            <a:r>
              <a:rPr lang="zh-CN" altLang="zh-CN" sz="1600" dirty="0"/>
              <a:t>口相连，因此不需要设置</a:t>
            </a:r>
            <a:r>
              <a:rPr lang="en-US" altLang="zh-CN" sz="1600" dirty="0"/>
              <a:t>IP</a:t>
            </a:r>
            <a:r>
              <a:rPr lang="zh-CN" altLang="zh-CN" sz="1600" dirty="0"/>
              <a:t>地址、子网掩码和网关。</a:t>
            </a:r>
          </a:p>
          <a:p>
            <a:pPr marL="914400" lvl="2" indent="0">
              <a:buNone/>
            </a:pPr>
            <a:endParaRPr lang="zh-CN" altLang="zh-CN" sz="1600" dirty="0"/>
          </a:p>
          <a:p>
            <a:pPr marL="457200" lvl="1" indent="0">
              <a:buNone/>
            </a:pPr>
            <a:endParaRPr lang="zh-CN" altLang="zh-CN" sz="1800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259" y="366432"/>
            <a:ext cx="4673600" cy="7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403" y="1450974"/>
            <a:ext cx="4342279" cy="36533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592557" y="5484615"/>
          <a:ext cx="5381302" cy="838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4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7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7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9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设备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接口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IP</a:t>
                      </a:r>
                      <a:r>
                        <a:rPr lang="zh-CN" sz="1400" kern="100">
                          <a:effectLst/>
                        </a:rPr>
                        <a:t>地址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子网掩码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默认网关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4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PC0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RS 232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4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PC1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Fa0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192.168.1.2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255.255.225.0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192.168.1.1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6502400" cy="500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zh-CN" dirty="0"/>
              <a:t>实验</a:t>
            </a:r>
            <a:r>
              <a:rPr lang="zh-CN" altLang="en-US" dirty="0"/>
              <a:t>步骤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）路由器</a:t>
            </a:r>
            <a:r>
              <a:rPr lang="en-US" altLang="zh-CN" dirty="0"/>
              <a:t>Console</a:t>
            </a:r>
            <a:r>
              <a:rPr lang="zh-CN" altLang="zh-CN" dirty="0"/>
              <a:t>口配置</a:t>
            </a:r>
          </a:p>
          <a:p>
            <a:pPr marL="914400" lvl="2" indent="0">
              <a:buNone/>
            </a:pPr>
            <a:r>
              <a:rPr lang="en-US" altLang="zh-CN" dirty="0"/>
              <a:t>PC0</a:t>
            </a:r>
            <a:r>
              <a:rPr lang="zh-CN" altLang="zh-CN" dirty="0"/>
              <a:t>主机使用配置线将其</a:t>
            </a:r>
            <a:r>
              <a:rPr lang="en-US" altLang="zh-CN" dirty="0"/>
              <a:t>RS 232</a:t>
            </a:r>
            <a:r>
              <a:rPr lang="zh-CN" altLang="zh-CN" dirty="0"/>
              <a:t>口与路由器的</a:t>
            </a:r>
            <a:r>
              <a:rPr lang="en-US" altLang="zh-CN" dirty="0"/>
              <a:t>Console</a:t>
            </a:r>
            <a:r>
              <a:rPr lang="zh-CN" altLang="zh-CN" dirty="0"/>
              <a:t>接口相连，并根据表</a:t>
            </a:r>
            <a:r>
              <a:rPr lang="en-US" altLang="zh-CN" dirty="0"/>
              <a:t>7-4</a:t>
            </a:r>
            <a:r>
              <a:rPr lang="zh-CN" altLang="zh-CN" dirty="0"/>
              <a:t>的内容为其设置</a:t>
            </a:r>
            <a:r>
              <a:rPr lang="en-US" altLang="zh-CN" dirty="0"/>
              <a:t>IP</a:t>
            </a:r>
            <a:r>
              <a:rPr lang="zh-CN" altLang="zh-CN" dirty="0"/>
              <a:t>信息。</a:t>
            </a:r>
            <a:endParaRPr lang="en-US" altLang="zh-CN" dirty="0"/>
          </a:p>
          <a:p>
            <a:pPr marL="914400" lvl="2" indent="0">
              <a:buNone/>
            </a:pPr>
            <a:r>
              <a:rPr lang="zh-CN" altLang="zh-CN" dirty="0"/>
              <a:t>在工作区中，单击</a:t>
            </a:r>
            <a:r>
              <a:rPr lang="en-US" altLang="zh-CN" dirty="0"/>
              <a:t>PC0</a:t>
            </a:r>
            <a:r>
              <a:rPr lang="zh-CN" altLang="zh-CN" dirty="0"/>
              <a:t>图标打开配置窗口，切换到</a:t>
            </a:r>
            <a:r>
              <a:rPr lang="en-US" altLang="zh-CN" dirty="0"/>
              <a:t>“Desktop”</a:t>
            </a:r>
            <a:r>
              <a:rPr lang="zh-CN" altLang="zh-CN" dirty="0"/>
              <a:t>选项卡，点击</a:t>
            </a:r>
            <a:r>
              <a:rPr lang="en-US" altLang="zh-CN" dirty="0"/>
              <a:t>“</a:t>
            </a:r>
            <a:r>
              <a:rPr lang="zh-CN" altLang="zh-CN" dirty="0"/>
              <a:t>终端</a:t>
            </a:r>
            <a:r>
              <a:rPr lang="en-US" altLang="zh-CN" dirty="0"/>
              <a:t>”</a:t>
            </a:r>
            <a:r>
              <a:rPr lang="zh-CN" altLang="zh-CN" dirty="0"/>
              <a:t>按钮，就可以看到</a:t>
            </a:r>
            <a:r>
              <a:rPr lang="en-US" altLang="zh-CN" dirty="0"/>
              <a:t>PC0</a:t>
            </a:r>
            <a:r>
              <a:rPr lang="zh-CN" altLang="zh-CN" dirty="0"/>
              <a:t>的终端配置界面</a:t>
            </a:r>
          </a:p>
          <a:p>
            <a:pPr marL="457200" lvl="1" indent="0">
              <a:buNone/>
            </a:pPr>
            <a:endParaRPr lang="zh-CN" altLang="zh-CN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914026" y="1737286"/>
          <a:ext cx="6228666" cy="6831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5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7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6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3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95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设备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接口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IP</a:t>
                      </a:r>
                      <a:r>
                        <a:rPr lang="zh-CN" sz="1600" kern="100">
                          <a:effectLst/>
                        </a:rPr>
                        <a:t>地址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子网掩码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默认网关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38">
                <a:tc>
                  <a:txBody>
                    <a:bodyPr/>
                    <a:lstStyle/>
                    <a:p>
                      <a:pPr marR="133350" algn="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R0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N/A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263" y="2587064"/>
            <a:ext cx="4416795" cy="3863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4866341" cy="500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zh-CN" dirty="0"/>
              <a:t>实验</a:t>
            </a:r>
            <a:r>
              <a:rPr lang="zh-CN" altLang="en-US" dirty="0"/>
              <a:t>步骤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）路由器</a:t>
            </a:r>
            <a:r>
              <a:rPr lang="en-US" altLang="zh-CN" dirty="0"/>
              <a:t>Console</a:t>
            </a:r>
            <a:r>
              <a:rPr lang="zh-CN" altLang="zh-CN" dirty="0"/>
              <a:t>口配置</a:t>
            </a:r>
          </a:p>
          <a:p>
            <a:pPr marL="457200" lvl="1" indent="0">
              <a:buNone/>
            </a:pPr>
            <a:endParaRPr lang="zh-CN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641" y="0"/>
            <a:ext cx="68773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4866341" cy="500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zh-CN" dirty="0"/>
              <a:t>实验</a:t>
            </a:r>
            <a:r>
              <a:rPr lang="zh-CN" altLang="en-US" dirty="0"/>
              <a:t>步骤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）路由器连通性测试</a:t>
            </a:r>
          </a:p>
          <a:p>
            <a:pPr marL="914400" lvl="2" indent="0">
              <a:buNone/>
            </a:pPr>
            <a:r>
              <a:rPr lang="zh-CN" altLang="zh-CN" dirty="0"/>
              <a:t>为了检验</a:t>
            </a:r>
            <a:r>
              <a:rPr lang="en-US" altLang="zh-CN" dirty="0"/>
              <a:t>PC1</a:t>
            </a:r>
            <a:r>
              <a:rPr lang="zh-CN" altLang="zh-CN" dirty="0"/>
              <a:t>主机与</a:t>
            </a:r>
            <a:r>
              <a:rPr lang="en-US" altLang="zh-CN" dirty="0"/>
              <a:t>Router0</a:t>
            </a:r>
            <a:r>
              <a:rPr lang="zh-CN" altLang="zh-CN" dirty="0"/>
              <a:t>之间的网络连通性，我们可以在</a:t>
            </a:r>
            <a:r>
              <a:rPr lang="en-US" altLang="zh-CN" dirty="0"/>
              <a:t>PC1</a:t>
            </a:r>
            <a:r>
              <a:rPr lang="zh-CN" altLang="zh-CN" dirty="0"/>
              <a:t>主机上执行</a:t>
            </a:r>
            <a:r>
              <a:rPr lang="en-US" altLang="zh-CN" dirty="0"/>
              <a:t>ping</a:t>
            </a:r>
            <a:r>
              <a:rPr lang="zh-CN" altLang="zh-CN" dirty="0"/>
              <a:t>命令。首先，用鼠标左键单击</a:t>
            </a:r>
            <a:r>
              <a:rPr lang="en-US" altLang="zh-CN" dirty="0"/>
              <a:t>PC1</a:t>
            </a:r>
            <a:r>
              <a:rPr lang="zh-CN" altLang="zh-CN" dirty="0"/>
              <a:t>主机的图标，打开其配置界面。然后，选择</a:t>
            </a:r>
            <a:r>
              <a:rPr lang="en-US" altLang="zh-CN" dirty="0"/>
              <a:t>“Desktop”</a:t>
            </a:r>
            <a:r>
              <a:rPr lang="zh-CN" altLang="zh-CN" dirty="0"/>
              <a:t>选项卡下的</a:t>
            </a:r>
            <a:r>
              <a:rPr lang="en-US" altLang="zh-CN" dirty="0"/>
              <a:t>“Command Prompt”</a:t>
            </a:r>
            <a:r>
              <a:rPr lang="zh-CN" altLang="zh-CN" dirty="0"/>
              <a:t>按钮，进入命令行模式。接着，在命令行中输入</a:t>
            </a:r>
            <a:r>
              <a:rPr lang="en-US" altLang="zh-CN" dirty="0"/>
              <a:t>“ping 192.168.1.1”</a:t>
            </a:r>
            <a:r>
              <a:rPr lang="zh-CN" altLang="zh-CN" dirty="0"/>
              <a:t>并按回车键。</a:t>
            </a:r>
          </a:p>
          <a:p>
            <a:pPr marL="457200" lvl="1" indent="0">
              <a:buNone/>
            </a:pPr>
            <a:endParaRPr lang="zh-CN" altLang="zh-CN" dirty="0"/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175" y="578643"/>
            <a:ext cx="4907990" cy="2621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4866341" cy="50038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altLang="zh-CN" dirty="0"/>
              <a:t>5.</a:t>
            </a:r>
            <a:r>
              <a:rPr lang="zh-CN" altLang="zh-CN" dirty="0"/>
              <a:t>实验</a:t>
            </a:r>
            <a:r>
              <a:rPr lang="zh-CN" altLang="en-US" dirty="0"/>
              <a:t>步骤</a:t>
            </a:r>
            <a:endParaRPr lang="zh-CN" altLang="zh-CN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zh-CN" altLang="zh-CN" dirty="0"/>
              <a:t>（</a:t>
            </a:r>
            <a:r>
              <a:rPr lang="en-US" altLang="zh-CN" dirty="0"/>
              <a:t>5</a:t>
            </a:r>
            <a:r>
              <a:rPr lang="zh-CN" altLang="zh-CN" dirty="0"/>
              <a:t>）</a:t>
            </a:r>
            <a:r>
              <a:rPr lang="en-US" altLang="zh-CN" dirty="0"/>
              <a:t>telnet</a:t>
            </a:r>
            <a:r>
              <a:rPr lang="zh-CN" altLang="zh-CN" dirty="0"/>
              <a:t>登陆配置</a:t>
            </a:r>
          </a:p>
          <a:p>
            <a:pPr marL="914400" lvl="2" indent="0">
              <a:lnSpc>
                <a:spcPct val="160000"/>
              </a:lnSpc>
              <a:buNone/>
            </a:pPr>
            <a:r>
              <a:rPr lang="zh-CN" altLang="zh-CN" dirty="0"/>
              <a:t>为了使用</a:t>
            </a:r>
            <a:r>
              <a:rPr lang="en-US" altLang="zh-CN" dirty="0"/>
              <a:t>Telnet</a:t>
            </a:r>
            <a:r>
              <a:rPr lang="zh-CN" altLang="zh-CN" dirty="0"/>
              <a:t>协议远程登录路由器，需要在路由器上创建一个</a:t>
            </a:r>
            <a:r>
              <a:rPr lang="en-US" altLang="zh-CN" dirty="0"/>
              <a:t>admin</a:t>
            </a:r>
            <a:r>
              <a:rPr lang="zh-CN" altLang="zh-CN" dirty="0"/>
              <a:t>账户，并为其分配一个特权级别。在</a:t>
            </a:r>
            <a:r>
              <a:rPr lang="en-US" altLang="zh-CN" dirty="0"/>
              <a:t>Packet Tracer</a:t>
            </a:r>
            <a:r>
              <a:rPr lang="zh-CN" altLang="zh-CN" dirty="0"/>
              <a:t>中，路由器支持</a:t>
            </a:r>
            <a:r>
              <a:rPr lang="en-US" altLang="zh-CN" dirty="0"/>
              <a:t>16</a:t>
            </a:r>
            <a:r>
              <a:rPr lang="zh-CN" altLang="zh-CN" dirty="0"/>
              <a:t>个不同的特权级别，从</a:t>
            </a:r>
            <a:r>
              <a:rPr lang="en-US" altLang="zh-CN" dirty="0"/>
              <a:t>0</a:t>
            </a:r>
            <a:r>
              <a:rPr lang="zh-CN" altLang="zh-CN" dirty="0"/>
              <a:t>到</a:t>
            </a:r>
            <a:r>
              <a:rPr lang="en-US" altLang="zh-CN" dirty="0"/>
              <a:t>15</a:t>
            </a:r>
            <a:r>
              <a:rPr lang="zh-CN" altLang="zh-CN" dirty="0"/>
              <a:t>，每个级别对应不同的命令权限。在</a:t>
            </a:r>
            <a:r>
              <a:rPr lang="en-US" altLang="zh-CN" dirty="0"/>
              <a:t>PC0</a:t>
            </a:r>
            <a:r>
              <a:rPr lang="zh-CN" altLang="zh-CN" dirty="0"/>
              <a:t>的终端窗口中输入以下命令：</a:t>
            </a:r>
          </a:p>
          <a:p>
            <a:pPr marL="457200" lvl="1" indent="0">
              <a:lnSpc>
                <a:spcPct val="160000"/>
              </a:lnSpc>
              <a:buNone/>
            </a:pPr>
            <a:endParaRPr lang="zh-CN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741" y="977154"/>
            <a:ext cx="6499412" cy="25860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5726953" cy="50038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dirty="0"/>
              <a:t>5.</a:t>
            </a:r>
            <a:r>
              <a:rPr lang="zh-CN" altLang="zh-CN" dirty="0"/>
              <a:t>实验</a:t>
            </a:r>
            <a:r>
              <a:rPr lang="zh-CN" altLang="en-US" dirty="0"/>
              <a:t>步骤</a:t>
            </a:r>
            <a:endParaRPr lang="zh-CN" altLang="zh-CN" dirty="0"/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zh-CN" dirty="0"/>
              <a:t>（</a:t>
            </a:r>
            <a:r>
              <a:rPr lang="en-US" altLang="zh-CN" dirty="0"/>
              <a:t>6</a:t>
            </a:r>
            <a:r>
              <a:rPr lang="zh-CN" altLang="zh-CN" dirty="0"/>
              <a:t>）</a:t>
            </a:r>
            <a:r>
              <a:rPr lang="en-US" altLang="zh-CN" dirty="0"/>
              <a:t>Telnet</a:t>
            </a:r>
            <a:r>
              <a:rPr lang="zh-CN" altLang="zh-CN" dirty="0"/>
              <a:t>登录测试</a:t>
            </a:r>
          </a:p>
          <a:p>
            <a:pPr marL="914400" lvl="2" indent="0">
              <a:lnSpc>
                <a:spcPct val="170000"/>
              </a:lnSpc>
              <a:buNone/>
            </a:pPr>
            <a:r>
              <a:rPr lang="zh-CN" altLang="zh-CN" dirty="0"/>
              <a:t>在</a:t>
            </a:r>
            <a:r>
              <a:rPr lang="en-US" altLang="zh-CN" dirty="0"/>
              <a:t>PC1</a:t>
            </a:r>
            <a:r>
              <a:rPr lang="zh-CN" altLang="zh-CN" dirty="0"/>
              <a:t>的</a:t>
            </a:r>
            <a:r>
              <a:rPr lang="en-US" altLang="zh-CN" dirty="0"/>
              <a:t>“Command Prompt”</a:t>
            </a:r>
            <a:r>
              <a:rPr lang="zh-CN" altLang="zh-CN" dirty="0"/>
              <a:t>窗口中使用</a:t>
            </a:r>
            <a:r>
              <a:rPr lang="en-US" altLang="zh-CN" dirty="0"/>
              <a:t>Telnet</a:t>
            </a:r>
            <a:r>
              <a:rPr lang="zh-CN" altLang="zh-CN" dirty="0"/>
              <a:t>命令来远程登录</a:t>
            </a:r>
            <a:r>
              <a:rPr lang="en-US" altLang="zh-CN" dirty="0"/>
              <a:t>Router0</a:t>
            </a:r>
            <a:r>
              <a:rPr lang="zh-CN" altLang="zh-CN" dirty="0"/>
              <a:t>。输入</a:t>
            </a:r>
            <a:r>
              <a:rPr lang="en-US" altLang="zh-CN" dirty="0"/>
              <a:t>“Telnet 192.168.1.1”</a:t>
            </a:r>
            <a:r>
              <a:rPr lang="zh-CN" altLang="zh-CN" dirty="0"/>
              <a:t>后，按照提示输入用户名</a:t>
            </a:r>
            <a:r>
              <a:rPr lang="en-US" altLang="zh-CN" dirty="0"/>
              <a:t>admin</a:t>
            </a:r>
            <a:r>
              <a:rPr lang="zh-CN" altLang="zh-CN" dirty="0"/>
              <a:t>和密码</a:t>
            </a:r>
            <a:r>
              <a:rPr lang="en-US" altLang="zh-CN" dirty="0"/>
              <a:t>456</a:t>
            </a:r>
            <a:r>
              <a:rPr lang="zh-CN" altLang="zh-CN" dirty="0"/>
              <a:t>。图展示了</a:t>
            </a:r>
            <a:r>
              <a:rPr lang="en-US" altLang="zh-CN" dirty="0"/>
              <a:t>PC1</a:t>
            </a:r>
            <a:r>
              <a:rPr lang="zh-CN" altLang="zh-CN" dirty="0"/>
              <a:t>主机成功地通过</a:t>
            </a:r>
            <a:r>
              <a:rPr lang="en-US" altLang="zh-CN" dirty="0"/>
              <a:t>Telnet</a:t>
            </a:r>
            <a:r>
              <a:rPr lang="zh-CN" altLang="zh-CN" dirty="0"/>
              <a:t>连接到</a:t>
            </a:r>
            <a:r>
              <a:rPr lang="en-US" altLang="zh-CN" dirty="0"/>
              <a:t>Router0</a:t>
            </a:r>
            <a:r>
              <a:rPr lang="zh-CN" altLang="zh-CN" dirty="0"/>
              <a:t>的过程。为了进入特权模式，还需要输入另一个密码</a:t>
            </a:r>
            <a:r>
              <a:rPr lang="en-US" altLang="zh-CN" dirty="0"/>
              <a:t>123</a:t>
            </a:r>
            <a:r>
              <a:rPr lang="zh-CN" altLang="zh-CN" dirty="0"/>
              <a:t>。一旦登录到路由器，就可以像使用</a:t>
            </a:r>
            <a:r>
              <a:rPr lang="en-US" altLang="zh-CN" dirty="0"/>
              <a:t>Console</a:t>
            </a:r>
            <a:r>
              <a:rPr lang="zh-CN" altLang="zh-CN" dirty="0"/>
              <a:t>口一样对路由器进行各种配置操作。</a:t>
            </a:r>
          </a:p>
          <a:p>
            <a:pPr marL="457200" lvl="1" indent="0">
              <a:lnSpc>
                <a:spcPct val="170000"/>
              </a:lnSpc>
              <a:buNone/>
            </a:pPr>
            <a:endParaRPr lang="zh-CN" altLang="zh-CN" dirty="0"/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261" y="1663644"/>
            <a:ext cx="4598892" cy="2280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72642-9D30-4577-B640-8AE28A1E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回答问题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C8F604-4F9F-4A88-A7E6-EA1734E33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130300"/>
            <a:ext cx="10259646" cy="50038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在本实验中，</a:t>
            </a:r>
            <a:r>
              <a:rPr lang="en-US" altLang="zh-CN" sz="2000" dirty="0"/>
              <a:t>PC1</a:t>
            </a:r>
            <a:r>
              <a:rPr lang="zh-CN" altLang="en-US" sz="2000" dirty="0"/>
              <a:t>主机与</a:t>
            </a:r>
            <a:r>
              <a:rPr lang="en-US" altLang="zh-CN" sz="2000" dirty="0"/>
              <a:t>Router0</a:t>
            </a:r>
            <a:r>
              <a:rPr lang="zh-CN" altLang="en-US" sz="2000" dirty="0"/>
              <a:t>接口</a:t>
            </a:r>
            <a:r>
              <a:rPr lang="en-US" altLang="zh-CN" sz="2000" dirty="0"/>
              <a:t>(Fa0/0)</a:t>
            </a:r>
            <a:r>
              <a:rPr lang="zh-CN" altLang="en-US" sz="2000" dirty="0"/>
              <a:t>之间通信所使用的核心协议是什么？（提示：用于连通性测试的命令） 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路由器接口</a:t>
            </a:r>
            <a:r>
              <a:rPr lang="en-US" altLang="zh-CN" sz="2000" dirty="0"/>
              <a:t>Fa0/0</a:t>
            </a:r>
            <a:r>
              <a:rPr lang="zh-CN" altLang="en-US" sz="2000" dirty="0"/>
              <a:t>上配置的 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</a:t>
            </a:r>
            <a:r>
              <a:rPr lang="zh-CN" altLang="en-US" sz="2000" dirty="0"/>
              <a:t> 和 </a:t>
            </a:r>
            <a:r>
              <a:rPr lang="zh-CN" altLang="en-US" sz="2000" b="1" dirty="0"/>
              <a:t>子网掩码</a:t>
            </a:r>
            <a:r>
              <a:rPr lang="zh-CN" altLang="en-US" sz="2000" dirty="0"/>
              <a:t> 的作用是什么？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在</a:t>
            </a:r>
            <a:r>
              <a:rPr lang="en-US" altLang="zh-CN" sz="2000" dirty="0"/>
              <a:t>PC1</a:t>
            </a:r>
            <a:r>
              <a:rPr lang="zh-CN" altLang="en-US" sz="2000" dirty="0"/>
              <a:t>主机上配置的 </a:t>
            </a:r>
            <a:r>
              <a:rPr lang="zh-CN" altLang="en-US" sz="2000" b="1" dirty="0"/>
              <a:t>默认网关</a:t>
            </a:r>
            <a:r>
              <a:rPr lang="zh-CN" altLang="en-US" sz="2000" dirty="0"/>
              <a:t> </a:t>
            </a:r>
            <a:r>
              <a:rPr lang="en-US" altLang="zh-CN" sz="2000" dirty="0"/>
              <a:t>(Default Gateway) </a:t>
            </a:r>
            <a:r>
              <a:rPr lang="zh-CN" altLang="en-US" sz="2000" dirty="0"/>
              <a:t>地址必须设置为哪个设备的哪个接口的</a:t>
            </a:r>
            <a:r>
              <a:rPr lang="en-US" altLang="zh-CN" sz="2000" dirty="0"/>
              <a:t>IP</a:t>
            </a:r>
            <a:r>
              <a:rPr lang="zh-CN" altLang="en-US" sz="2000" dirty="0"/>
              <a:t>地址？ 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如果要在</a:t>
            </a:r>
            <a:r>
              <a:rPr lang="en-US" altLang="zh-CN" sz="2000" dirty="0"/>
              <a:t>Router0</a:t>
            </a:r>
            <a:r>
              <a:rPr lang="zh-CN" altLang="en-US" sz="2000" dirty="0"/>
              <a:t>上配置另一条路径（例如连接到另一个网络），需要在路由器的哪种工作模式下进行操作？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本实验中，</a:t>
            </a:r>
            <a:r>
              <a:rPr lang="en-US" altLang="zh-CN" sz="2000" dirty="0"/>
              <a:t>Telnet</a:t>
            </a:r>
            <a:r>
              <a:rPr lang="zh-CN" altLang="en-US" sz="2000" dirty="0"/>
              <a:t>远程登录使用的是</a:t>
            </a:r>
            <a:r>
              <a:rPr lang="en-US" altLang="zh-CN" sz="2000" dirty="0"/>
              <a:t>Router0</a:t>
            </a:r>
            <a:r>
              <a:rPr lang="zh-CN" altLang="en-US" sz="2000" dirty="0"/>
              <a:t>的</a:t>
            </a:r>
            <a:r>
              <a:rPr lang="en-US" altLang="zh-CN" sz="2000" dirty="0"/>
              <a:t>IP</a:t>
            </a:r>
            <a:r>
              <a:rPr lang="zh-CN" altLang="en-US" sz="2000" dirty="0"/>
              <a:t>地址（</a:t>
            </a:r>
            <a:r>
              <a:rPr lang="en-US" altLang="zh-CN" sz="2000" dirty="0"/>
              <a:t>192.168.1.1</a:t>
            </a:r>
            <a:r>
              <a:rPr lang="zh-CN" altLang="en-US" sz="2000" dirty="0"/>
              <a:t>），请问为什么不能直接通过</a:t>
            </a:r>
            <a:r>
              <a:rPr lang="en-US" altLang="zh-CN" sz="2000" dirty="0"/>
              <a:t>Console</a:t>
            </a:r>
            <a:r>
              <a:rPr lang="zh-CN" altLang="en-US" sz="2000" dirty="0"/>
              <a:t>口（</a:t>
            </a:r>
            <a:r>
              <a:rPr lang="en-US" altLang="zh-CN" sz="2000" dirty="0"/>
              <a:t>PC0</a:t>
            </a:r>
            <a:r>
              <a:rPr lang="zh-CN" altLang="en-US" sz="2000" dirty="0"/>
              <a:t>）使用这个</a:t>
            </a:r>
            <a:r>
              <a:rPr lang="en-US" altLang="zh-CN" sz="2000" dirty="0"/>
              <a:t>IP</a:t>
            </a:r>
            <a:r>
              <a:rPr lang="zh-CN" altLang="en-US" sz="2000" dirty="0"/>
              <a:t>地址来配置路由器？  </a:t>
            </a:r>
          </a:p>
        </p:txBody>
      </p:sp>
    </p:spTree>
    <p:extLst>
      <p:ext uri="{BB962C8B-B14F-4D97-AF65-F5344CB8AC3E}">
        <p14:creationId xmlns:p14="http://schemas.microsoft.com/office/powerpoint/2010/main" val="38031368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78.0325459317582,&quot;width&quot;:2278.0325459317582}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33</TotalTime>
  <Words>910</Words>
  <Application>Microsoft Office PowerPoint</Application>
  <PresentationFormat>宽屏</PresentationFormat>
  <Paragraphs>71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微软雅黑</vt:lpstr>
      <vt:lpstr>Arial</vt:lpstr>
      <vt:lpstr>Calibri</vt:lpstr>
      <vt:lpstr>Comic Sans MS</vt:lpstr>
      <vt:lpstr>Designed by iSlide</vt:lpstr>
      <vt:lpstr>PowerPoint 演示文稿</vt:lpstr>
      <vt:lpstr>实验5： 路由器配置实验</vt:lpstr>
      <vt:lpstr>实验5： 路由器配置实验</vt:lpstr>
      <vt:lpstr>实验5： 路由器配置实验</vt:lpstr>
      <vt:lpstr>实验5： 路由器配置实验</vt:lpstr>
      <vt:lpstr>实验5： 路由器配置实验</vt:lpstr>
      <vt:lpstr>实验5： 路由器配置实验</vt:lpstr>
      <vt:lpstr>实验5： 路由器配置实验</vt:lpstr>
      <vt:lpstr>实验5： 路由器配置实验</vt:lpstr>
      <vt:lpstr>回答问题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阳 杨</cp:lastModifiedBy>
  <cp:revision>101</cp:revision>
  <cp:lastPrinted>2023-11-06T16:00:00Z</cp:lastPrinted>
  <dcterms:created xsi:type="dcterms:W3CDTF">2023-11-06T16:00:00Z</dcterms:created>
  <dcterms:modified xsi:type="dcterms:W3CDTF">2025-11-19T05:48:09Z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4605F776039446EDAE7B86BE4CD67F88_12</vt:lpwstr>
  </property>
  <property fmtid="{D5CDD505-2E9C-101B-9397-08002B2CF9AE}" pid="4" name="KSOProductBuildVer">
    <vt:lpwstr>2052-12.1.0.23542</vt:lpwstr>
  </property>
</Properties>
</file>