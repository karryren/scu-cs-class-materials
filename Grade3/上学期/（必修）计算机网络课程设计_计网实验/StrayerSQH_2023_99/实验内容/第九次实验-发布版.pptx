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38" r:id="rId2"/>
    <p:sldId id="316" r:id="rId3"/>
    <p:sldId id="321" r:id="rId4"/>
    <p:sldId id="322" r:id="rId5"/>
    <p:sldId id="323" r:id="rId6"/>
    <p:sldId id="324" r:id="rId7"/>
    <p:sldId id="325" r:id="rId8"/>
    <p:sldId id="326" r:id="rId9"/>
    <p:sldId id="327" r:id="rId10"/>
    <p:sldId id="330" r:id="rId11"/>
    <p:sldId id="331" r:id="rId12"/>
    <p:sldId id="339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87" d="100"/>
          <a:sy n="87" d="100"/>
        </p:scale>
        <p:origin x="528" y="77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圆: 空心 256">
            <a:extLst>
              <a:ext uri="{FF2B5EF4-FFF2-40B4-BE49-F238E27FC236}">
                <a16:creationId xmlns:a16="http://schemas.microsoft.com/office/drawing/2014/main" id="{74A9E843-1667-3DA3-FF77-05C5A4A9EE8A}"/>
              </a:ext>
            </a:extLst>
          </p:cNvPr>
          <p:cNvSpPr/>
          <p:nvPr/>
        </p:nvSpPr>
        <p:spPr>
          <a:xfrm>
            <a:off x="7588207" y="374493"/>
            <a:ext cx="5951891" cy="5918200"/>
          </a:xfrm>
          <a:prstGeom prst="donut">
            <a:avLst>
              <a:gd name="adj" fmla="val 11200"/>
            </a:avLst>
          </a:prstGeom>
          <a:solidFill>
            <a:srgbClr val="D2D8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0F5BF4D0-817A-B522-6BAB-3AF06799CE62}"/>
              </a:ext>
            </a:extLst>
          </p:cNvPr>
          <p:cNvSpPr/>
          <p:nvPr/>
        </p:nvSpPr>
        <p:spPr>
          <a:xfrm rot="20337877">
            <a:off x="6421793" y="939499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47008" y="3549595"/>
            <a:ext cx="4936351" cy="532555"/>
            <a:chOff x="0" y="0"/>
            <a:chExt cx="812800" cy="160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60125"/>
            </a:xfrm>
            <a:custGeom>
              <a:avLst/>
              <a:gdLst/>
              <a:ahLst/>
              <a:cxnLst/>
              <a:rect l="l" t="t" r="r" b="b"/>
              <a:pathLst>
                <a:path w="812800" h="160125">
                  <a:moveTo>
                    <a:pt x="0" y="0"/>
                  </a:moveTo>
                  <a:lnTo>
                    <a:pt x="812800" y="0"/>
                  </a:lnTo>
                  <a:lnTo>
                    <a:pt x="812800" y="160125"/>
                  </a:lnTo>
                  <a:lnTo>
                    <a:pt x="0" y="160125"/>
                  </a:lnTo>
                  <a:close/>
                </a:path>
              </a:pathLst>
            </a:custGeom>
            <a:solidFill>
              <a:srgbClr val="1540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1887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8518" y="2336081"/>
            <a:ext cx="6422406" cy="105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92"/>
              </a:lnSpc>
            </a:pP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计算机网络课程设计</a:t>
            </a:r>
            <a:endParaRPr lang="en-US" sz="5334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13" y="3711467"/>
            <a:ext cx="489719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6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实验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9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：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OSPF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路由协议分析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035800" y="1290853"/>
            <a:ext cx="523032" cy="626087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933799" y="4675085"/>
            <a:ext cx="1758583" cy="634855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72" name="图片 271">
            <a:extLst>
              <a:ext uri="{FF2B5EF4-FFF2-40B4-BE49-F238E27FC236}">
                <a16:creationId xmlns:a16="http://schemas.microsoft.com/office/drawing/2014/main" id="{343C0833-3841-D914-BAA5-4879BD10E9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16" y="184638"/>
            <a:ext cx="950785" cy="950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9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0" lvl="1" indent="457200">
              <a:buNone/>
            </a:pPr>
            <a:r>
              <a:rPr lang="zh-CN" altLang="zh-CN" dirty="0">
                <a:sym typeface="+mn-ea"/>
              </a:rPr>
              <a:t>本实验的目的是让学生了解和掌握</a:t>
            </a:r>
            <a:r>
              <a:rPr lang="en-US" altLang="zh-CN" dirty="0">
                <a:sym typeface="+mn-ea"/>
              </a:rPr>
              <a:t>OSPF</a:t>
            </a:r>
            <a:r>
              <a:rPr lang="zh-CN" altLang="zh-CN" dirty="0">
                <a:sym typeface="+mn-ea"/>
              </a:rPr>
              <a:t>路由的概念和配置方法。本实验使用</a:t>
            </a:r>
            <a:r>
              <a:rPr lang="en-US" altLang="zh-CN" dirty="0">
                <a:sym typeface="+mn-ea"/>
              </a:rPr>
              <a:t>Cisco Packet Tracer</a:t>
            </a:r>
            <a:r>
              <a:rPr lang="zh-CN" altLang="zh-CN" dirty="0">
                <a:sym typeface="+mn-ea"/>
              </a:rPr>
              <a:t>软件作为实验平台，模拟在一个局域网中的网关路由器上配置</a:t>
            </a:r>
            <a:r>
              <a:rPr lang="en-US" altLang="zh-CN" dirty="0">
                <a:sym typeface="+mn-ea"/>
              </a:rPr>
              <a:t>NAT</a:t>
            </a:r>
            <a:r>
              <a:rPr lang="zh-CN" altLang="zh-CN" dirty="0">
                <a:sym typeface="+mn-ea"/>
              </a:rPr>
              <a:t>的过程。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zh-CN" dirty="0"/>
              <a:t>环境配置：</a:t>
            </a:r>
            <a:r>
              <a:rPr lang="en-US" altLang="zh-CN" dirty="0"/>
              <a:t>Windows 11</a:t>
            </a:r>
            <a:r>
              <a:rPr lang="zh-CN" altLang="zh-CN" dirty="0"/>
              <a:t>（任何可以安装</a:t>
            </a:r>
            <a:r>
              <a:rPr lang="en-US" altLang="zh-CN" dirty="0"/>
              <a:t>Cisco Packet Tracer</a:t>
            </a:r>
            <a:r>
              <a:rPr lang="zh-CN" altLang="zh-CN" dirty="0"/>
              <a:t>的平台均可以完成）。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Cisco Packet Tracer 8.2.1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299"/>
            <a:ext cx="10858500" cy="5479047"/>
          </a:xfrm>
        </p:spPr>
        <p:txBody>
          <a:bodyPr>
            <a:normAutofit/>
          </a:bodyPr>
          <a:lstStyle/>
          <a:p>
            <a:r>
              <a:rPr lang="en-US" altLang="zh-CN" dirty="0"/>
              <a:t>4.</a:t>
            </a:r>
            <a:r>
              <a:rPr lang="zh-CN" altLang="zh-CN" dirty="0"/>
              <a:t>本实验主要任务为</a:t>
            </a:r>
            <a:r>
              <a:rPr lang="en-US" altLang="zh-CN" dirty="0"/>
              <a:t>OSPF</a:t>
            </a:r>
            <a:r>
              <a:rPr lang="zh-CN" altLang="zh-CN" dirty="0"/>
              <a:t>路由协议的配置。实验步骤如下：</a:t>
            </a:r>
          </a:p>
          <a:p>
            <a:pPr lvl="2"/>
            <a:r>
              <a:rPr lang="zh-CN" altLang="zh-CN" dirty="0"/>
              <a:t>构建网络拓扑结构</a:t>
            </a:r>
          </a:p>
          <a:p>
            <a:pPr lvl="2"/>
            <a:r>
              <a:rPr lang="zh-CN" altLang="zh-CN" dirty="0"/>
              <a:t>配置主机的</a:t>
            </a:r>
            <a:r>
              <a:rPr lang="en-US" altLang="zh-CN" dirty="0"/>
              <a:t>IP</a:t>
            </a:r>
            <a:r>
              <a:rPr lang="zh-CN" altLang="zh-CN" dirty="0"/>
              <a:t>地址和网关</a:t>
            </a:r>
          </a:p>
          <a:p>
            <a:pPr lvl="2"/>
            <a:r>
              <a:rPr lang="zh-CN" altLang="zh-CN" dirty="0"/>
              <a:t>路由器端口配置</a:t>
            </a:r>
          </a:p>
          <a:p>
            <a:pPr lvl="2"/>
            <a:r>
              <a:rPr lang="zh-CN" altLang="zh-CN" dirty="0"/>
              <a:t>配置动态路由</a:t>
            </a:r>
            <a:r>
              <a:rPr lang="en-US" altLang="zh-CN" dirty="0"/>
              <a:t>OSPF</a:t>
            </a:r>
            <a:endParaRPr lang="zh-CN" altLang="zh-CN" dirty="0"/>
          </a:p>
          <a:p>
            <a:pPr lvl="2"/>
            <a:endParaRPr lang="zh-CN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299"/>
            <a:ext cx="10858500" cy="5479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1.OSPF</a:t>
            </a:r>
            <a:r>
              <a:rPr lang="zh-CN" altLang="zh-CN" dirty="0"/>
              <a:t>路由协议配置</a:t>
            </a:r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）构建网络拓扑</a:t>
            </a:r>
          </a:p>
          <a:p>
            <a:pPr marL="914400" lvl="2" indent="0">
              <a:buNone/>
            </a:pPr>
            <a:r>
              <a:rPr lang="zh-CN" altLang="zh-CN" sz="1800" dirty="0"/>
              <a:t>在思科模拟器的左下角，有一个设备框，里面列出了各种可用的网络设备。我们从中选择</a:t>
            </a:r>
            <a:r>
              <a:rPr lang="en-US" altLang="zh-CN" sz="1800" dirty="0"/>
              <a:t>3</a:t>
            </a:r>
            <a:r>
              <a:rPr lang="zh-CN" altLang="zh-CN" sz="1800" dirty="0"/>
              <a:t>台</a:t>
            </a:r>
            <a:r>
              <a:rPr lang="en-US" altLang="zh-CN" sz="1800" dirty="0"/>
              <a:t>1841</a:t>
            </a:r>
            <a:r>
              <a:rPr lang="zh-CN" altLang="zh-CN" sz="1800" dirty="0"/>
              <a:t>型号的路由器，</a:t>
            </a:r>
            <a:r>
              <a:rPr lang="en-US" altLang="zh-CN" sz="1800" dirty="0"/>
              <a:t>2</a:t>
            </a:r>
            <a:r>
              <a:rPr lang="zh-CN" altLang="zh-CN" sz="1800" dirty="0"/>
              <a:t>台</a:t>
            </a:r>
            <a:r>
              <a:rPr lang="en-US" altLang="zh-CN" sz="1800" dirty="0"/>
              <a:t>2950-24</a:t>
            </a:r>
            <a:r>
              <a:rPr lang="zh-CN" altLang="zh-CN" sz="1800" dirty="0"/>
              <a:t>型号的交换机以及</a:t>
            </a:r>
            <a:r>
              <a:rPr lang="en-US" altLang="zh-CN" sz="1800" dirty="0"/>
              <a:t>4</a:t>
            </a:r>
            <a:r>
              <a:rPr lang="zh-CN" altLang="zh-CN" sz="1800" dirty="0"/>
              <a:t>台主机。用鼠标拖动这些设备到工作区，并用线缆连接它们。注意，路由器之间要用交叉线，其他设备之间要用直通线。连接好后，就得到了实验的拓扑结构</a:t>
            </a:r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3957469" y="3783931"/>
            <a:ext cx="7090194" cy="27665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8274" y="1130299"/>
            <a:ext cx="4817979" cy="5479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1.OSPF</a:t>
            </a:r>
            <a:r>
              <a:rPr lang="zh-CN" altLang="zh-CN" dirty="0"/>
              <a:t>路由协议配置</a:t>
            </a:r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）配置主机的</a:t>
            </a:r>
            <a:r>
              <a:rPr lang="en-US" altLang="zh-CN" dirty="0"/>
              <a:t>IP</a:t>
            </a:r>
            <a:r>
              <a:rPr lang="zh-CN" altLang="zh-CN" dirty="0"/>
              <a:t>地址和网关</a:t>
            </a:r>
          </a:p>
          <a:p>
            <a:pPr marL="914400" lvl="2" indent="0">
              <a:buNone/>
            </a:pPr>
            <a:r>
              <a:rPr lang="zh-CN" altLang="zh-CN" dirty="0"/>
              <a:t>在拓扑结构图上单击</a:t>
            </a:r>
            <a:r>
              <a:rPr lang="en-US" altLang="zh-CN" dirty="0"/>
              <a:t>PC1</a:t>
            </a:r>
            <a:r>
              <a:rPr lang="zh-CN" altLang="zh-CN" dirty="0"/>
              <a:t>主机的图标，进入其配置页面。在页面中，选择</a:t>
            </a:r>
            <a:r>
              <a:rPr lang="en-US" altLang="zh-CN" dirty="0"/>
              <a:t>“Desktop”</a:t>
            </a:r>
            <a:r>
              <a:rPr lang="zh-CN" altLang="zh-CN" dirty="0"/>
              <a:t>选项卡下的</a:t>
            </a:r>
            <a:r>
              <a:rPr lang="en-US" altLang="zh-CN" dirty="0"/>
              <a:t>“IP Configuration”</a:t>
            </a:r>
            <a:r>
              <a:rPr lang="zh-CN" altLang="zh-CN" dirty="0"/>
              <a:t>按钮，就可以看到</a:t>
            </a:r>
            <a:r>
              <a:rPr lang="en-US" altLang="zh-CN" dirty="0"/>
              <a:t>PC1</a:t>
            </a:r>
            <a:r>
              <a:rPr lang="zh-CN" altLang="zh-CN" dirty="0"/>
              <a:t>的</a:t>
            </a:r>
            <a:r>
              <a:rPr lang="en-US" altLang="zh-CN" dirty="0"/>
              <a:t>IP</a:t>
            </a:r>
            <a:r>
              <a:rPr lang="zh-CN" altLang="zh-CN" dirty="0"/>
              <a:t>配置界面</a:t>
            </a:r>
            <a:r>
              <a:rPr lang="zh-CN" altLang="en-US" dirty="0"/>
              <a:t>。</a:t>
            </a:r>
            <a:r>
              <a:rPr lang="zh-CN" altLang="zh-CN" dirty="0"/>
              <a:t>按照表中所示，逐项配置各主机的</a:t>
            </a:r>
            <a:r>
              <a:rPr lang="en-US" altLang="zh-CN" dirty="0"/>
              <a:t>IP</a:t>
            </a:r>
            <a:r>
              <a:rPr lang="zh-CN" altLang="zh-CN" dirty="0"/>
              <a:t>地址、子网掩码和网关。</a:t>
            </a:r>
          </a:p>
          <a:p>
            <a:pPr marL="914400" lvl="2" indent="0">
              <a:buNone/>
            </a:pPr>
            <a:endParaRPr lang="zh-CN" altLang="zh-CN" sz="4000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707" y="1028700"/>
            <a:ext cx="3891546" cy="31636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5342021" y="4604952"/>
          <a:ext cx="6700250" cy="16307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2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2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1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00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接口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IP</a:t>
                      </a:r>
                      <a:r>
                        <a:rPr lang="zh-CN" sz="1600" kern="100">
                          <a:effectLst/>
                        </a:rPr>
                        <a:t>地址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子网掩码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默认网关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PC0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PC1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192.168.1.3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PC2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192.168.4.2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192.168.4.1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7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PC3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192.168.4.3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192.168.4.1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44677" marR="44677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9: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8274" y="1130299"/>
            <a:ext cx="4817979" cy="54790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1.OSPF</a:t>
            </a:r>
            <a:r>
              <a:rPr lang="zh-CN" altLang="zh-CN" dirty="0"/>
              <a:t>路由协议配置</a:t>
            </a:r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zh-CN" dirty="0"/>
              <a:t>路由器的端口配置</a:t>
            </a:r>
          </a:p>
          <a:p>
            <a:pPr marL="914400" lvl="2" indent="0">
              <a:buNone/>
            </a:pPr>
            <a:r>
              <a:rPr lang="zh-CN" altLang="zh-CN" dirty="0"/>
              <a:t>接下来需要配置路由器各个接口的</a:t>
            </a:r>
            <a:r>
              <a:rPr lang="en-US" altLang="zh-CN" dirty="0"/>
              <a:t>IP</a:t>
            </a:r>
            <a:r>
              <a:rPr lang="zh-CN" altLang="zh-CN" dirty="0"/>
              <a:t>地址，</a:t>
            </a:r>
            <a:r>
              <a:rPr lang="en-US" altLang="zh-CN" dirty="0"/>
              <a:t>R0</a:t>
            </a:r>
            <a:r>
              <a:rPr lang="zh-CN" altLang="zh-CN" dirty="0"/>
              <a:t>，</a:t>
            </a:r>
            <a:r>
              <a:rPr lang="en-US" altLang="zh-CN" dirty="0"/>
              <a:t>R1</a:t>
            </a:r>
            <a:r>
              <a:rPr lang="zh-CN" altLang="zh-CN" dirty="0"/>
              <a:t>和</a:t>
            </a:r>
            <a:r>
              <a:rPr lang="en-US" altLang="zh-CN" dirty="0"/>
              <a:t>R2</a:t>
            </a:r>
            <a:r>
              <a:rPr lang="zh-CN" altLang="zh-CN" dirty="0"/>
              <a:t>的各接口</a:t>
            </a:r>
            <a:r>
              <a:rPr lang="en-US" altLang="zh-CN" dirty="0"/>
              <a:t>IP</a:t>
            </a:r>
            <a:r>
              <a:rPr lang="zh-CN" altLang="zh-CN" dirty="0"/>
              <a:t>地址配置信息</a:t>
            </a:r>
            <a:r>
              <a:rPr lang="zh-CN" altLang="en-US" dirty="0"/>
              <a:t>。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zh-CN" dirty="0"/>
              <a:t>在拓扑结构图上单击路由器</a:t>
            </a:r>
            <a:r>
              <a:rPr lang="en-US" altLang="zh-CN" dirty="0"/>
              <a:t>R0</a:t>
            </a:r>
            <a:r>
              <a:rPr lang="zh-CN" altLang="zh-CN" dirty="0"/>
              <a:t>的图标，打开其配置页面。在页面中，选择</a:t>
            </a:r>
            <a:r>
              <a:rPr lang="en-US" altLang="zh-CN" dirty="0"/>
              <a:t>CLI</a:t>
            </a:r>
            <a:r>
              <a:rPr lang="zh-CN" altLang="zh-CN" dirty="0"/>
              <a:t>选项卡，进入命令行界面。接下来，需要切换到全局配置模式，然后为路由器的每个接口分配</a:t>
            </a:r>
            <a:r>
              <a:rPr lang="en-US" altLang="zh-CN" dirty="0"/>
              <a:t>IP</a:t>
            </a:r>
            <a:r>
              <a:rPr lang="zh-CN" altLang="zh-CN" dirty="0"/>
              <a:t>地址。</a:t>
            </a:r>
            <a:endParaRPr lang="zh-CN" altLang="zh-CN" sz="8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176252" y="1130301"/>
          <a:ext cx="6791157" cy="1706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4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63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设备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接口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indent="133985"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IP</a:t>
                      </a:r>
                      <a:r>
                        <a:rPr lang="zh-CN" sz="1600" kern="100">
                          <a:effectLst/>
                        </a:rPr>
                        <a:t>地址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indent="133985"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子网掩码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indent="133985" algn="ctr"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默认网关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9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192.168.1.1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255.255.225.0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9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9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192.168.2.2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9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192.168.3.1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9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R2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192.168.3.2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N/A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99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Fa0/1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192.168.4.1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effectLst/>
                        </a:rPr>
                        <a:t>255.255.255.0</a:t>
                      </a:r>
                      <a:endParaRPr lang="zh-CN" sz="1600" kern="10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N/A</a:t>
                      </a:r>
                      <a:endParaRPr lang="zh-CN" sz="1600" kern="100" dirty="0">
                        <a:effectLst/>
                        <a:latin typeface="Calibri" panose="020F0502020204030204" pitchFamily="34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33508" marR="33508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450" y="979235"/>
            <a:ext cx="6438233" cy="57120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0300"/>
            <a:ext cx="5764630" cy="51925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744" y="1079471"/>
            <a:ext cx="5021287" cy="50546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9: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路由器各个接口配置完成以后，各连接线显示绿灯表示所连端口已连通，点击</a:t>
            </a:r>
            <a:r>
              <a:rPr lang="en-US" altLang="zh-CN" dirty="0"/>
              <a:t>PC0</a:t>
            </a:r>
            <a:r>
              <a:rPr lang="zh-CN" altLang="zh-CN" dirty="0"/>
              <a:t>的主机图标，在弹出窗口的</a:t>
            </a:r>
            <a:r>
              <a:rPr lang="en-US" altLang="zh-CN" dirty="0"/>
              <a:t>“Desktop”</a:t>
            </a:r>
            <a:r>
              <a:rPr lang="zh-CN" altLang="zh-CN" dirty="0"/>
              <a:t>选项卡中选择</a:t>
            </a:r>
            <a:r>
              <a:rPr lang="en-US" altLang="zh-CN" dirty="0"/>
              <a:t>“Command Prompt”</a:t>
            </a:r>
            <a:r>
              <a:rPr lang="zh-CN" altLang="zh-CN" dirty="0"/>
              <a:t>按钮，在命令行中完成</a:t>
            </a:r>
            <a:r>
              <a:rPr lang="en-US" altLang="zh-CN" dirty="0"/>
              <a:t>PC0</a:t>
            </a:r>
            <a:r>
              <a:rPr lang="zh-CN" altLang="zh-CN" dirty="0"/>
              <a:t>对</a:t>
            </a:r>
            <a:r>
              <a:rPr lang="en-US" altLang="zh-CN" dirty="0"/>
              <a:t>PC1</a:t>
            </a:r>
            <a:r>
              <a:rPr lang="zh-CN" altLang="zh-CN" dirty="0"/>
              <a:t>的连通测试，</a:t>
            </a:r>
            <a:r>
              <a:rPr lang="en-US" altLang="zh-CN" dirty="0"/>
              <a:t>PC0</a:t>
            </a:r>
            <a:r>
              <a:rPr lang="zh-CN" altLang="zh-CN" dirty="0"/>
              <a:t>对</a:t>
            </a:r>
            <a:r>
              <a:rPr lang="en-US" altLang="zh-CN" dirty="0"/>
              <a:t>PC2</a:t>
            </a:r>
            <a:r>
              <a:rPr lang="zh-CN" altLang="zh-CN" dirty="0"/>
              <a:t>的连通测试。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400" dirty="0"/>
              <a:t>（</a:t>
            </a:r>
            <a:r>
              <a:rPr lang="en-US" altLang="zh-CN" sz="2400" dirty="0"/>
              <a:t>4</a:t>
            </a:r>
            <a:r>
              <a:rPr lang="zh-CN" altLang="zh-CN" sz="2400" dirty="0"/>
              <a:t>）配置动态路由</a:t>
            </a:r>
            <a:r>
              <a:rPr lang="en-US" altLang="zh-CN" sz="2400" dirty="0"/>
              <a:t>OSPF</a:t>
            </a:r>
            <a:endParaRPr lang="zh-CN" altLang="zh-CN" sz="2400" dirty="0"/>
          </a:p>
          <a:p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9" y="3025223"/>
            <a:ext cx="6257174" cy="342671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32" y="3062750"/>
            <a:ext cx="5855368" cy="31950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9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OSPF</a:t>
            </a:r>
            <a:r>
              <a:rPr lang="zh-CN" altLang="zh-CN" dirty="0"/>
              <a:t>路由协议分析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5521158" cy="54202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（</a:t>
            </a:r>
            <a:r>
              <a:rPr lang="en-US" altLang="zh-CN" sz="2400" dirty="0"/>
              <a:t>4</a:t>
            </a:r>
            <a:r>
              <a:rPr lang="zh-CN" altLang="zh-CN" sz="2400" dirty="0"/>
              <a:t>）配置动态路由</a:t>
            </a:r>
            <a:r>
              <a:rPr lang="en-US" altLang="zh-CN" sz="2400" dirty="0"/>
              <a:t>OSPF</a:t>
            </a:r>
            <a:endParaRPr lang="zh-CN" altLang="zh-CN" sz="2400" dirty="0"/>
          </a:p>
          <a:p>
            <a:pPr marL="914400" lvl="2" indent="0">
              <a:buNone/>
            </a:pPr>
            <a:r>
              <a:rPr lang="zh-CN" altLang="zh-CN" dirty="0"/>
              <a:t>路由器的各个接口配置完毕后，连接线上的绿灯亮起，表示相应的端口已经连通。点击</a:t>
            </a:r>
            <a:r>
              <a:rPr lang="en-US" altLang="zh-CN" dirty="0"/>
              <a:t>PC0</a:t>
            </a:r>
            <a:r>
              <a:rPr lang="zh-CN" altLang="zh-CN" dirty="0"/>
              <a:t>的图标，弹出窗口中选择</a:t>
            </a:r>
            <a:r>
              <a:rPr lang="en-US" altLang="zh-CN" dirty="0"/>
              <a:t>“Desktop”</a:t>
            </a:r>
            <a:r>
              <a:rPr lang="zh-CN" altLang="zh-CN" dirty="0"/>
              <a:t>选项卡，再点击</a:t>
            </a:r>
            <a:r>
              <a:rPr lang="en-US" altLang="zh-CN" dirty="0"/>
              <a:t>“Command Prompt”</a:t>
            </a:r>
            <a:r>
              <a:rPr lang="zh-CN" altLang="zh-CN" dirty="0"/>
              <a:t>按钮，进入命令行界面。在命令行中，分别执行</a:t>
            </a:r>
            <a:r>
              <a:rPr lang="en-US" altLang="zh-CN" dirty="0"/>
              <a:t>PC0</a:t>
            </a:r>
            <a:r>
              <a:rPr lang="zh-CN" altLang="zh-CN" dirty="0"/>
              <a:t>到</a:t>
            </a:r>
            <a:r>
              <a:rPr lang="en-US" altLang="zh-CN" dirty="0"/>
              <a:t>PC2</a:t>
            </a:r>
            <a:r>
              <a:rPr lang="zh-CN" altLang="zh-CN" dirty="0"/>
              <a:t>和</a:t>
            </a:r>
            <a:r>
              <a:rPr lang="en-US" altLang="zh-CN" dirty="0"/>
              <a:t>PC0</a:t>
            </a:r>
            <a:r>
              <a:rPr lang="zh-CN" altLang="zh-CN" dirty="0"/>
              <a:t>到</a:t>
            </a:r>
            <a:r>
              <a:rPr lang="en-US" altLang="zh-CN" dirty="0"/>
              <a:t>PC3</a:t>
            </a:r>
            <a:r>
              <a:rPr lang="zh-CN" altLang="zh-CN" dirty="0"/>
              <a:t>的连通性测试。</a:t>
            </a:r>
          </a:p>
          <a:p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30300"/>
            <a:ext cx="6936707" cy="3352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回答问题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4700" y="1130300"/>
            <a:ext cx="10092592" cy="5003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1800" b="0" dirty="0"/>
              <a:t>在本实验中，为什么需要在所有路由器上配置相同的 </a:t>
            </a:r>
            <a:r>
              <a:rPr lang="en-US" altLang="zh-CN" sz="1800" b="0" dirty="0"/>
              <a:t>OSPF </a:t>
            </a:r>
            <a:r>
              <a:rPr lang="zh-CN" altLang="en-US" sz="1800" b="0" dirty="0"/>
              <a:t>进程号（如 </a:t>
            </a:r>
            <a:r>
              <a:rPr lang="en-US" altLang="zh-CN" sz="1800" b="0" dirty="0"/>
              <a:t>router </a:t>
            </a:r>
            <a:r>
              <a:rPr lang="en-US" altLang="zh-CN" sz="1800" b="0" dirty="0" err="1"/>
              <a:t>ospf</a:t>
            </a:r>
            <a:r>
              <a:rPr lang="en-US" altLang="zh-CN" sz="1800" b="0" dirty="0"/>
              <a:t> 1</a:t>
            </a:r>
            <a:r>
              <a:rPr lang="zh-CN" altLang="en-US" sz="1800" b="0" dirty="0"/>
              <a:t>）？如果不同路由器使用了不同的进程号，会对网络连通性产生什么影响？</a:t>
            </a:r>
            <a:endParaRPr lang="en-US" altLang="zh-CN" sz="1800" b="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800" b="0" dirty="0"/>
              <a:t>实验中 </a:t>
            </a:r>
            <a:r>
              <a:rPr lang="en-US" altLang="zh-CN" sz="1800" b="0" dirty="0"/>
              <a:t>PC0</a:t>
            </a:r>
            <a:r>
              <a:rPr lang="zh-CN" altLang="en-US" sz="1800" b="0" dirty="0"/>
              <a:t>（</a:t>
            </a:r>
            <a:r>
              <a:rPr lang="en-US" altLang="zh-CN" sz="1800" b="0" dirty="0"/>
              <a:t>192.168.1.2</a:t>
            </a:r>
            <a:r>
              <a:rPr lang="zh-CN" altLang="en-US" sz="1800" b="0" dirty="0"/>
              <a:t>）无法直接 </a:t>
            </a:r>
            <a:r>
              <a:rPr lang="en-US" altLang="zh-CN" sz="1800" b="0" dirty="0"/>
              <a:t>ping </a:t>
            </a:r>
            <a:r>
              <a:rPr lang="zh-CN" altLang="en-US" sz="1800" b="0" dirty="0"/>
              <a:t>通 </a:t>
            </a:r>
            <a:r>
              <a:rPr lang="en-US" altLang="zh-CN" sz="1800" b="0" dirty="0"/>
              <a:t>PC2</a:t>
            </a:r>
            <a:r>
              <a:rPr lang="zh-CN" altLang="en-US" sz="1800" b="0" dirty="0"/>
              <a:t>（</a:t>
            </a:r>
            <a:r>
              <a:rPr lang="en-US" altLang="zh-CN" sz="1800" b="0" dirty="0"/>
              <a:t>192.168.4.2</a:t>
            </a:r>
            <a:r>
              <a:rPr lang="zh-CN" altLang="en-US" sz="1800" b="0" dirty="0"/>
              <a:t>），但在配置 </a:t>
            </a:r>
            <a:r>
              <a:rPr lang="en-US" altLang="zh-CN" sz="1800" b="0" dirty="0"/>
              <a:t>OSPF </a:t>
            </a:r>
            <a:r>
              <a:rPr lang="zh-CN" altLang="en-US" sz="1800" b="0" dirty="0"/>
              <a:t>动态路由后就可以通信了。请结合 </a:t>
            </a:r>
            <a:r>
              <a:rPr lang="en-US" altLang="zh-CN" sz="1800" b="0" dirty="0"/>
              <a:t>OSPF </a:t>
            </a:r>
            <a:r>
              <a:rPr lang="zh-CN" altLang="en-US" sz="1800" b="0" dirty="0"/>
              <a:t>的工作原理，简要说明动态路由是如何帮助不同子网之间实现通信的。</a:t>
            </a:r>
            <a:endParaRPr lang="en-US" altLang="zh-CN" sz="1800" b="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1800" b="0" dirty="0"/>
              <a:t>在配置 </a:t>
            </a:r>
            <a:r>
              <a:rPr lang="en-US" altLang="zh-CN" sz="1800" b="0" dirty="0"/>
              <a:t>OSPF </a:t>
            </a:r>
            <a:r>
              <a:rPr lang="zh-CN" altLang="en-US" sz="1800" b="0" dirty="0"/>
              <a:t>时，我们使用了 </a:t>
            </a:r>
            <a:r>
              <a:rPr lang="en-US" altLang="zh-CN" sz="1800" b="0" dirty="0"/>
              <a:t>network </a:t>
            </a:r>
            <a:r>
              <a:rPr lang="zh-CN" altLang="en-US" sz="1800" b="0" dirty="0"/>
              <a:t>命令并指定了通配符掩码（</a:t>
            </a:r>
            <a:r>
              <a:rPr lang="en-US" altLang="zh-CN" sz="1800" b="0" dirty="0"/>
              <a:t>wildcard mask</a:t>
            </a:r>
            <a:r>
              <a:rPr lang="zh-CN" altLang="en-US" sz="1800" b="0" dirty="0"/>
              <a:t>）。请以 </a:t>
            </a:r>
            <a:r>
              <a:rPr lang="en-US" altLang="zh-CN" sz="1800" b="0" dirty="0"/>
              <a:t>R0 </a:t>
            </a:r>
            <a:r>
              <a:rPr lang="zh-CN" altLang="en-US" sz="1800" b="0" dirty="0"/>
              <a:t>为例，写出其配置 </a:t>
            </a:r>
            <a:r>
              <a:rPr lang="en-US" altLang="zh-CN" sz="1800" b="0" dirty="0"/>
              <a:t>OSPF </a:t>
            </a:r>
            <a:r>
              <a:rPr lang="zh-CN" altLang="en-US" sz="1800" b="0" dirty="0"/>
              <a:t>时所用的 </a:t>
            </a:r>
            <a:r>
              <a:rPr lang="en-US" altLang="zh-CN" sz="1800" b="0" dirty="0"/>
              <a:t>network </a:t>
            </a:r>
            <a:r>
              <a:rPr lang="zh-CN" altLang="en-US" sz="1800" b="0" dirty="0"/>
              <a:t>命令，并解释通配符掩码 </a:t>
            </a:r>
            <a:r>
              <a:rPr lang="en-US" altLang="zh-CN" sz="1800" b="0" dirty="0"/>
              <a:t>0.0.0.255 </a:t>
            </a:r>
            <a:r>
              <a:rPr lang="zh-CN" altLang="en-US" sz="1800" b="0" dirty="0"/>
              <a:t>与子网掩码 </a:t>
            </a:r>
            <a:r>
              <a:rPr lang="en-US" altLang="zh-CN" sz="1800" b="0" dirty="0"/>
              <a:t>255.255.255.0 </a:t>
            </a:r>
            <a:r>
              <a:rPr lang="zh-CN" altLang="en-US" sz="1800" b="0" dirty="0"/>
              <a:t>之间的关系。</a:t>
            </a:r>
            <a:endParaRPr lang="zh-CN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33326762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8.0325459317582,&quot;width&quot;:2278.0325459317582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3</TotalTime>
  <Words>806</Words>
  <Application>Microsoft Office PowerPoint</Application>
  <PresentationFormat>宽屏</PresentationFormat>
  <Paragraphs>98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等线</vt:lpstr>
      <vt:lpstr>微软雅黑</vt:lpstr>
      <vt:lpstr>Arial</vt:lpstr>
      <vt:lpstr>Calibri</vt:lpstr>
      <vt:lpstr>Comic Sans MS</vt:lpstr>
      <vt:lpstr>Designed by iSlide</vt:lpstr>
      <vt:lpstr>PowerPoint 演示文稿</vt:lpstr>
      <vt:lpstr>实验9： OSPF路由协议分析</vt:lpstr>
      <vt:lpstr>实验9： OSPF路由协议分析</vt:lpstr>
      <vt:lpstr>实验9： OSPF路由协议分析</vt:lpstr>
      <vt:lpstr>实验9： OSPF路由协议分析</vt:lpstr>
      <vt:lpstr>实验9: OSPF路由协议分析</vt:lpstr>
      <vt:lpstr>实验9： OSPF路由协议分析</vt:lpstr>
      <vt:lpstr>实验9： OSPF路由协议分析</vt:lpstr>
      <vt:lpstr>实验9: OSPF路由协议分析</vt:lpstr>
      <vt:lpstr>实验9： OSPF路由协议分析</vt:lpstr>
      <vt:lpstr>实验9： OSPF路由协议分析</vt:lpstr>
      <vt:lpstr>回答问题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阳 杨</cp:lastModifiedBy>
  <cp:revision>54</cp:revision>
  <cp:lastPrinted>2023-11-06T16:00:00Z</cp:lastPrinted>
  <dcterms:created xsi:type="dcterms:W3CDTF">2023-11-06T16:00:00Z</dcterms:created>
  <dcterms:modified xsi:type="dcterms:W3CDTF">2025-12-17T05:50:10Z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9DEB3C3FBFF744F9B1B296AF1C858E6A_12</vt:lpwstr>
  </property>
  <property fmtid="{D5CDD505-2E9C-101B-9397-08002B2CF9AE}" pid="4" name="KSOProductBuildVer">
    <vt:lpwstr>2052-12.1.0.23542</vt:lpwstr>
  </property>
</Properties>
</file>