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8" r:id="rId2"/>
    <p:sldId id="316" r:id="rId3"/>
    <p:sldId id="336" r:id="rId4"/>
    <p:sldId id="337" r:id="rId5"/>
    <p:sldId id="317" r:id="rId6"/>
    <p:sldId id="335" r:id="rId7"/>
    <p:sldId id="325" r:id="rId8"/>
    <p:sldId id="326" r:id="rId9"/>
    <p:sldId id="327" r:id="rId10"/>
    <p:sldId id="328" r:id="rId11"/>
    <p:sldId id="329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93" d="100"/>
          <a:sy n="93" d="100"/>
        </p:scale>
        <p:origin x="54" y="87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549595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336081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计算机网络课程设计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3711467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第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6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次实验：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DHCP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配置与协议分析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DHCP</a:t>
            </a:r>
            <a:r>
              <a:rPr lang="zh-CN" altLang="zh-CN" dirty="0"/>
              <a:t>配置与协议分析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 latinLnBrk="1">
              <a:buNone/>
            </a:pPr>
            <a:r>
              <a:rPr lang="zh-CN" altLang="en-US" dirty="0"/>
              <a:t>本实验以</a:t>
            </a:r>
            <a:r>
              <a:rPr lang="en-US" altLang="zh-CN" dirty="0"/>
              <a:t> Cisco Packet Tracer </a:t>
            </a:r>
            <a:r>
              <a:rPr lang="zh-CN" altLang="en-US" dirty="0"/>
              <a:t>为模拟环境，旨在通过</a:t>
            </a:r>
            <a:r>
              <a:rPr lang="en-US" altLang="zh-CN" dirty="0"/>
              <a:t>DHCP</a:t>
            </a:r>
            <a:r>
              <a:rPr lang="zh-CN" altLang="en-US" dirty="0"/>
              <a:t>的配置和模拟环境下数据包的分析，了解</a:t>
            </a:r>
            <a:r>
              <a:rPr lang="en-US" altLang="zh-CN" dirty="0"/>
              <a:t>DHCP</a:t>
            </a:r>
            <a:r>
              <a:rPr lang="zh-CN" altLang="en-US" dirty="0"/>
              <a:t>协议的工作原理。在实验中，你需要掌握以下知识点</a:t>
            </a:r>
            <a:r>
              <a:rPr lang="en-US" altLang="zh-CN" dirty="0"/>
              <a:t>:</a:t>
            </a:r>
          </a:p>
          <a:p>
            <a:pPr marL="457200" lvl="1" indent="0" latinLnBrk="1">
              <a:buNone/>
            </a:pPr>
            <a:r>
              <a:rPr lang="en-US" altLang="zh-CN" dirty="0"/>
              <a:t>1</a:t>
            </a:r>
            <a:r>
              <a:rPr lang="zh-CN" altLang="zh-CN" dirty="0"/>
              <a:t>）如何在</a:t>
            </a:r>
            <a:r>
              <a:rPr lang="en-US" altLang="zh-CN" dirty="0">
                <a:sym typeface="+mn-ea"/>
              </a:rPr>
              <a:t> Packet Tracer </a:t>
            </a:r>
            <a:r>
              <a:rPr lang="zh-CN" altLang="zh-CN" dirty="0"/>
              <a:t>下安装和配置</a:t>
            </a:r>
            <a:r>
              <a:rPr lang="en-US" altLang="zh-CN" dirty="0"/>
              <a:t>DHCP</a:t>
            </a:r>
            <a:r>
              <a:rPr lang="zh-CN" altLang="zh-CN" dirty="0"/>
              <a:t>服务； </a:t>
            </a:r>
          </a:p>
          <a:p>
            <a:pPr marL="457200" lvl="1" indent="0" latinLnBrk="1">
              <a:buNone/>
            </a:pPr>
            <a:r>
              <a:rPr lang="en-US" altLang="zh-CN" dirty="0"/>
              <a:t>2</a:t>
            </a:r>
            <a:r>
              <a:rPr lang="zh-CN" altLang="zh-CN" dirty="0"/>
              <a:t>）</a:t>
            </a:r>
            <a:r>
              <a:rPr lang="en-US" altLang="zh-CN" dirty="0"/>
              <a:t>DHCP</a:t>
            </a:r>
            <a:r>
              <a:rPr lang="zh-CN" altLang="zh-CN" dirty="0"/>
              <a:t>协议的四次握手过程； </a:t>
            </a:r>
          </a:p>
          <a:p>
            <a:pPr marL="457200" lvl="1" indent="0" latinLnBrk="1">
              <a:buNone/>
            </a:pPr>
            <a:r>
              <a:rPr lang="en-US" altLang="zh-CN" dirty="0"/>
              <a:t>3</a:t>
            </a:r>
            <a:r>
              <a:rPr lang="zh-CN" altLang="zh-CN" dirty="0"/>
              <a:t>）</a:t>
            </a:r>
            <a:r>
              <a:rPr lang="en-US" altLang="zh-CN" dirty="0"/>
              <a:t>DHCP</a:t>
            </a:r>
            <a:r>
              <a:rPr lang="zh-CN" altLang="zh-CN" dirty="0"/>
              <a:t>协议的地址续借过程； </a:t>
            </a:r>
          </a:p>
          <a:p>
            <a:pPr marL="457200" lvl="1" indent="0" latinLnBrk="1">
              <a:buNone/>
            </a:pPr>
            <a:r>
              <a:rPr lang="en-US" altLang="zh-CN" dirty="0"/>
              <a:t>4</a:t>
            </a:r>
            <a:r>
              <a:rPr lang="zh-CN" altLang="zh-CN" dirty="0"/>
              <a:t>）</a:t>
            </a:r>
            <a:r>
              <a:rPr lang="en-US" altLang="zh-CN" dirty="0"/>
              <a:t>DHCP</a:t>
            </a:r>
            <a:r>
              <a:rPr lang="zh-CN" altLang="zh-CN" dirty="0"/>
              <a:t>协议如何利用特殊</a:t>
            </a:r>
            <a:r>
              <a:rPr lang="en-US" altLang="zh-CN" dirty="0"/>
              <a:t>IP</a:t>
            </a:r>
            <a:r>
              <a:rPr lang="zh-CN" altLang="zh-CN" dirty="0"/>
              <a:t>地址进行握手。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Cisco Packet Tracer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en-US" dirty="0"/>
              <a:t>的</a:t>
            </a:r>
            <a:r>
              <a:rPr lang="en-US" altLang="zh-CN" dirty="0"/>
              <a:t> Simulation Mode (</a:t>
            </a:r>
            <a:r>
              <a:rPr lang="zh-CN" altLang="en-US" dirty="0"/>
              <a:t>模拟模式</a:t>
            </a:r>
            <a:r>
              <a:rPr lang="en-US" altLang="zh-CN" dirty="0"/>
              <a:t>) </a:t>
            </a:r>
            <a:r>
              <a:rPr lang="zh-CN" altLang="en-US" dirty="0"/>
              <a:t>，</a:t>
            </a:r>
            <a:r>
              <a:rPr lang="en-US" altLang="zh-CN" dirty="0"/>
              <a:t>Wireshark</a:t>
            </a:r>
            <a:r>
              <a:rPr lang="zh-CN" altLang="zh-CN" dirty="0"/>
              <a:t>；</a:t>
            </a:r>
          </a:p>
          <a:p>
            <a:pPr lvl="1"/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3715" y="1130300"/>
            <a:ext cx="11555730" cy="5003800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zh-CN" altLang="en-US" sz="2100" dirty="0"/>
              <a:t>任务</a:t>
            </a:r>
            <a:r>
              <a:rPr lang="en-US" altLang="zh-CN" sz="2100" dirty="0"/>
              <a:t>1</a:t>
            </a:r>
            <a:r>
              <a:rPr lang="zh-CN" altLang="en-US" sz="2100" dirty="0"/>
              <a:t>：真实网络环境下的</a:t>
            </a:r>
            <a:r>
              <a:rPr lang="en-US" altLang="zh-CN" sz="2100" dirty="0"/>
              <a:t>DHCP</a:t>
            </a:r>
            <a:r>
              <a:rPr lang="zh-CN" altLang="en-US" sz="2100" dirty="0"/>
              <a:t>包的捕捉</a:t>
            </a:r>
            <a:r>
              <a:rPr lang="en-US" altLang="zh-CN" sz="1800" dirty="0"/>
              <a:t>		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</a:rPr>
              <a:t>（从第一步开始，整个过程</a:t>
            </a:r>
            <a:r>
              <a:rPr lang="en-US" altLang="zh-CN" sz="1800" dirty="0" err="1">
                <a:solidFill>
                  <a:schemeClr val="accent6">
                    <a:lumMod val="50000"/>
                  </a:schemeClr>
                </a:solidFill>
              </a:rPr>
              <a:t>wireshark</a:t>
            </a:r>
            <a:r>
              <a:rPr lang="zh-CN" altLang="en-US" sz="1800" dirty="0">
                <a:solidFill>
                  <a:schemeClr val="accent6">
                    <a:lumMod val="50000"/>
                  </a:schemeClr>
                </a:solidFill>
              </a:rPr>
              <a:t>不能停止）</a:t>
            </a:r>
          </a:p>
          <a:p>
            <a:pPr marL="457200" lvl="1" indent="0">
              <a:buNone/>
            </a:pPr>
            <a:r>
              <a:rPr lang="en-US" altLang="zh-CN" sz="1800" dirty="0"/>
              <a:t>1.</a:t>
            </a:r>
            <a:r>
              <a:rPr lang="zh-CN" altLang="zh-CN" sz="1800" dirty="0">
                <a:sym typeface="+mn-ea"/>
              </a:rPr>
              <a:t>打开</a:t>
            </a:r>
            <a:r>
              <a:rPr lang="en-US" altLang="zh-CN" sz="1800" dirty="0">
                <a:sym typeface="+mn-ea"/>
              </a:rPr>
              <a:t>Wireshark</a:t>
            </a:r>
            <a:r>
              <a:rPr lang="zh-CN" altLang="zh-CN" sz="1800" dirty="0">
                <a:sym typeface="+mn-ea"/>
              </a:rPr>
              <a:t>，启动</a:t>
            </a:r>
            <a:r>
              <a:rPr lang="en-US" altLang="zh-CN" sz="1800" dirty="0">
                <a:sym typeface="+mn-ea"/>
              </a:rPr>
              <a:t>Wireshark</a:t>
            </a:r>
            <a:r>
              <a:rPr lang="zh-CN" altLang="zh-CN" sz="1800" dirty="0">
                <a:sym typeface="+mn-ea"/>
              </a:rPr>
              <a:t>分组俘获器；再命令行执行下面的命令</a:t>
            </a:r>
          </a:p>
          <a:p>
            <a:pPr marL="457200" lvl="1" indent="0">
              <a:buNone/>
            </a:pPr>
            <a:r>
              <a:rPr lang="en-US" altLang="zh-CN" sz="1800" dirty="0">
                <a:sym typeface="+mn-ea"/>
              </a:rPr>
              <a:t>1</a:t>
            </a:r>
            <a:r>
              <a:rPr lang="zh-CN" altLang="en-US" sz="1800" dirty="0">
                <a:sym typeface="+mn-ea"/>
              </a:rPr>
              <a:t>）</a:t>
            </a:r>
            <a:r>
              <a:rPr lang="zh-CN" altLang="zh-CN" sz="1800" dirty="0">
                <a:sym typeface="+mn-ea"/>
              </a:rPr>
              <a:t>首先在命令行通过使用</a:t>
            </a:r>
            <a:r>
              <a:rPr lang="en-US" altLang="zh-CN" sz="1800" dirty="0">
                <a:sym typeface="+mn-ea"/>
              </a:rPr>
              <a:t>ipconfig /release</a:t>
            </a:r>
            <a:r>
              <a:rPr lang="zh-CN" altLang="zh-CN" sz="1800" dirty="0">
                <a:sym typeface="+mn-ea"/>
              </a:rPr>
              <a:t>命令释放客户端主机原有</a:t>
            </a:r>
            <a:r>
              <a:rPr lang="en-US" altLang="zh-CN" sz="1800" dirty="0">
                <a:sym typeface="+mn-ea"/>
              </a:rPr>
              <a:t>IP</a:t>
            </a:r>
            <a:r>
              <a:rPr lang="zh-CN" altLang="zh-CN" sz="1800" dirty="0">
                <a:sym typeface="+mn-ea"/>
              </a:rPr>
              <a:t>配置信息；</a:t>
            </a:r>
            <a:endParaRPr lang="zh-CN" altLang="zh-CN" sz="1800" dirty="0"/>
          </a:p>
          <a:p>
            <a:pPr marL="457200" lvl="1" indent="0">
              <a:buNone/>
            </a:pPr>
            <a:r>
              <a:rPr lang="en-US" altLang="zh-CN" sz="1800" dirty="0">
                <a:sym typeface="+mn-ea"/>
              </a:rPr>
              <a:t>3</a:t>
            </a:r>
            <a:r>
              <a:rPr lang="zh-CN" altLang="zh-CN" sz="1800" dirty="0">
                <a:sym typeface="+mn-ea"/>
              </a:rPr>
              <a:t>）通过</a:t>
            </a:r>
            <a:r>
              <a:rPr lang="en-US" altLang="zh-CN" sz="1800" dirty="0">
                <a:sym typeface="+mn-ea"/>
              </a:rPr>
              <a:t>ipconfig/renew</a:t>
            </a:r>
            <a:r>
              <a:rPr lang="zh-CN" altLang="zh-CN" sz="1800" dirty="0">
                <a:sym typeface="+mn-ea"/>
              </a:rPr>
              <a:t>命令，重新获取</a:t>
            </a:r>
            <a:r>
              <a:rPr lang="en-US" altLang="zh-CN" sz="1800" dirty="0">
                <a:sym typeface="+mn-ea"/>
              </a:rPr>
              <a:t>IP</a:t>
            </a:r>
            <a:r>
              <a:rPr lang="zh-CN" altLang="zh-CN" sz="1800" dirty="0">
                <a:sym typeface="+mn-ea"/>
              </a:rPr>
              <a:t>配置信息；</a:t>
            </a:r>
            <a:endParaRPr lang="zh-CN" altLang="zh-CN" sz="1800" dirty="0"/>
          </a:p>
          <a:p>
            <a:pPr marL="457200" lvl="1" indent="0">
              <a:buNone/>
            </a:pPr>
            <a:r>
              <a:rPr lang="en-US" altLang="zh-CN" sz="1800" dirty="0">
                <a:sym typeface="+mn-ea"/>
              </a:rPr>
              <a:t>4</a:t>
            </a:r>
            <a:r>
              <a:rPr lang="zh-CN" altLang="zh-CN" sz="1800" dirty="0">
                <a:sym typeface="+mn-ea"/>
              </a:rPr>
              <a:t>）在过滤器中输入</a:t>
            </a:r>
            <a:r>
              <a:rPr lang="en-US" altLang="zh-CN" sz="1800" dirty="0">
                <a:sym typeface="+mn-ea"/>
              </a:rPr>
              <a:t>“</a:t>
            </a:r>
            <a:r>
              <a:rPr lang="en-US" altLang="zh-CN" sz="1800" dirty="0" err="1">
                <a:sym typeface="+mn-ea"/>
              </a:rPr>
              <a:t>dhcp</a:t>
            </a:r>
            <a:r>
              <a:rPr lang="en-US" altLang="zh-CN" sz="1800" dirty="0">
                <a:sym typeface="+mn-ea"/>
              </a:rPr>
              <a:t>”</a:t>
            </a:r>
            <a:r>
              <a:rPr lang="zh-CN" altLang="zh-CN" sz="1800" dirty="0">
                <a:sym typeface="+mn-ea"/>
              </a:rPr>
              <a:t>。</a:t>
            </a:r>
          </a:p>
          <a:p>
            <a:pPr marL="457200" lvl="1" indent="0">
              <a:buNone/>
            </a:pPr>
            <a:r>
              <a:rPr lang="en-US" altLang="zh-CN" sz="1800" dirty="0">
                <a:sym typeface="+mn-ea"/>
              </a:rPr>
              <a:t>5</a:t>
            </a:r>
            <a:r>
              <a:rPr lang="zh-CN" altLang="en-US" sz="1800" dirty="0">
                <a:sym typeface="+mn-ea"/>
              </a:rPr>
              <a:t>）一直处于等待状态（这个时间很长，</a:t>
            </a:r>
            <a:r>
              <a:rPr lang="en-US" altLang="zh-CN" sz="1800" dirty="0">
                <a:sym typeface="+mn-ea"/>
              </a:rPr>
              <a:t>10-20</a:t>
            </a:r>
            <a:r>
              <a:rPr lang="zh-CN" altLang="en-US" sz="1800" dirty="0">
                <a:sym typeface="+mn-ea"/>
              </a:rPr>
              <a:t>多分钟）</a:t>
            </a:r>
            <a:r>
              <a:rPr lang="en-US" altLang="zh-CN" sz="1800" dirty="0">
                <a:sym typeface="+mn-ea"/>
              </a:rPr>
              <a:t> </a:t>
            </a:r>
            <a:r>
              <a:rPr lang="zh-CN" altLang="en-US" sz="1800" dirty="0">
                <a:sym typeface="+mn-ea"/>
              </a:rPr>
              <a:t>，一定打开</a:t>
            </a:r>
            <a:r>
              <a:rPr lang="en-US" altLang="zh-CN" sz="1800" dirty="0" err="1">
                <a:sym typeface="+mn-ea"/>
              </a:rPr>
              <a:t>wireshak</a:t>
            </a:r>
            <a:r>
              <a:rPr lang="zh-CN" altLang="en-US" sz="1800" dirty="0">
                <a:sym typeface="+mn-ea"/>
              </a:rPr>
              <a:t>。去完成后续</a:t>
            </a:r>
            <a:r>
              <a:rPr lang="en-US" altLang="zh-CN" sz="1800" dirty="0" err="1">
                <a:sym typeface="+mn-ea"/>
              </a:rPr>
              <a:t>packettracer</a:t>
            </a:r>
            <a:r>
              <a:rPr lang="zh-CN" altLang="en-US" sz="1800" dirty="0">
                <a:sym typeface="+mn-ea"/>
              </a:rPr>
              <a:t>的配置和数据包的分析实验</a:t>
            </a:r>
          </a:p>
          <a:p>
            <a:pPr marL="457200" lvl="1" indent="0">
              <a:buNone/>
            </a:pPr>
            <a:r>
              <a:rPr lang="en-US" altLang="zh-CN" sz="1800" dirty="0">
                <a:sym typeface="+mn-ea"/>
              </a:rPr>
              <a:t>6</a:t>
            </a:r>
            <a:r>
              <a:rPr lang="zh-CN" altLang="en-US" sz="1800" dirty="0">
                <a:sym typeface="+mn-ea"/>
              </a:rPr>
              <a:t>）捕获到续借数据包以后，把无线网卡，断开，再重新接入。</a:t>
            </a:r>
          </a:p>
          <a:p>
            <a:pPr marL="457200" lvl="1" indent="0">
              <a:buNone/>
            </a:pPr>
            <a:r>
              <a:rPr lang="zh-CN" altLang="en-US" sz="1800" dirty="0">
                <a:sym typeface="+mn-ea"/>
              </a:rPr>
              <a:t>正常情况下，捕获的数据包要包括下面的数据信息，但是可能有其他的</a:t>
            </a:r>
            <a:r>
              <a:rPr lang="en-US" altLang="zh-CN" sz="1800" dirty="0">
                <a:sym typeface="+mn-ea"/>
              </a:rPr>
              <a:t> DHCP</a:t>
            </a:r>
            <a:r>
              <a:rPr lang="zh-CN" altLang="en-US" sz="1800" dirty="0">
                <a:sym typeface="+mn-ea"/>
              </a:rPr>
              <a:t>数据包。截图仅供参考。</a:t>
            </a:r>
            <a:endParaRPr lang="zh-CN" altLang="zh-CN" sz="1800" dirty="0"/>
          </a:p>
          <a:p>
            <a:pPr marL="457200" lvl="1" indent="0">
              <a:buNone/>
            </a:pPr>
            <a:endParaRPr lang="en-US" altLang="zh-CN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516" y="5305468"/>
            <a:ext cx="6922086" cy="15525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根据捕获的</a:t>
            </a:r>
            <a:r>
              <a:rPr lang="en-US" altLang="zh-CN"/>
              <a:t>DHCP</a:t>
            </a:r>
            <a:r>
              <a:rPr lang="zh-CN" altLang="en-US"/>
              <a:t>数据包回答问题：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530850"/>
          </a:xfrm>
        </p:spPr>
        <p:txBody>
          <a:bodyPr>
            <a:normAutofit fontScale="75000" lnSpcReduction="1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哪几个数据包共同构成了</a:t>
            </a:r>
            <a:r>
              <a:rPr lang="en-US" altLang="zh-CN" dirty="0"/>
              <a:t> ipconfig /renew </a:t>
            </a:r>
            <a:r>
              <a:rPr lang="zh-CN" altLang="en-US" dirty="0"/>
              <a:t>的完整过程？</a:t>
            </a:r>
          </a:p>
          <a:p>
            <a:r>
              <a:rPr lang="en-US" altLang="zh-CN" dirty="0"/>
              <a:t>2.DHCP </a:t>
            </a:r>
            <a:r>
              <a:rPr lang="zh-CN" altLang="en-US" dirty="0"/>
              <a:t>是应用层协议，它是基于传输层的哪个协议工作的？客户端和服务器分别监听哪两个端口？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请解释</a:t>
            </a:r>
            <a:r>
              <a:rPr lang="en-US" altLang="zh-CN" dirty="0"/>
              <a:t>Transaction ID </a:t>
            </a:r>
            <a:r>
              <a:rPr lang="zh-CN" altLang="en-US" dirty="0"/>
              <a:t>的作用是什么？如果网络中有多个</a:t>
            </a:r>
            <a:r>
              <a:rPr lang="en-US" altLang="zh-CN" dirty="0"/>
              <a:t> DHCP </a:t>
            </a:r>
            <a:r>
              <a:rPr lang="zh-CN" altLang="en-US" dirty="0"/>
              <a:t>客户端同时请求</a:t>
            </a:r>
            <a:r>
              <a:rPr lang="en-US" altLang="zh-CN" dirty="0"/>
              <a:t> IP</a:t>
            </a:r>
            <a:r>
              <a:rPr lang="zh-CN" altLang="en-US" dirty="0"/>
              <a:t>，这个</a:t>
            </a:r>
            <a:r>
              <a:rPr lang="en-US" altLang="zh-CN" dirty="0"/>
              <a:t> ID </a:t>
            </a:r>
            <a:r>
              <a:rPr lang="zh-CN" altLang="en-US" dirty="0"/>
              <a:t>如何帮助客户端识别属于自己的包？</a:t>
            </a:r>
          </a:p>
          <a:p>
            <a:r>
              <a:rPr lang="en-US" altLang="zh-CN" dirty="0"/>
              <a:t>4.</a:t>
            </a:r>
            <a:r>
              <a:rPr lang="zh-CN" altLang="en-US" dirty="0"/>
              <a:t>经过长时间等待后客户端自动发送的那个</a:t>
            </a:r>
            <a:r>
              <a:rPr lang="en-US" altLang="zh-CN" dirty="0"/>
              <a:t> DHCP Request </a:t>
            </a:r>
            <a:r>
              <a:rPr lang="zh-CN" altLang="en-US" dirty="0"/>
              <a:t>报文。计算它与前一次成功的</a:t>
            </a:r>
            <a:r>
              <a:rPr lang="en-US" altLang="zh-CN" dirty="0"/>
              <a:t> DHCP ACK </a:t>
            </a:r>
            <a:r>
              <a:rPr lang="zh-CN" altLang="en-US" dirty="0"/>
              <a:t>报文之间的时间间隔大概是多少？请检查前一次的</a:t>
            </a:r>
            <a:r>
              <a:rPr lang="en-US" altLang="zh-CN" dirty="0"/>
              <a:t> DHCP ACK </a:t>
            </a:r>
            <a:r>
              <a:rPr lang="zh-CN" altLang="en-US" dirty="0"/>
              <a:t>报文内部细节，是哪一个</a:t>
            </a:r>
            <a:r>
              <a:rPr lang="en-US" altLang="zh-CN" dirty="0"/>
              <a:t> Option </a:t>
            </a:r>
            <a:r>
              <a:rPr lang="zh-CN" altLang="en-US" dirty="0"/>
              <a:t>字段规定了这个具体的时间数值？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zh-CN" altLang="en-US" dirty="0"/>
              <a:t>对比实验步骤</a:t>
            </a:r>
            <a:r>
              <a:rPr lang="en-US" altLang="zh-CN" dirty="0"/>
              <a:t>(5)</a:t>
            </a:r>
            <a:r>
              <a:rPr lang="zh-CN" altLang="en-US" dirty="0"/>
              <a:t>生成的</a:t>
            </a:r>
            <a:r>
              <a:rPr lang="en-US" altLang="zh-CN" dirty="0"/>
              <a:t> DHCP Request </a:t>
            </a:r>
            <a:r>
              <a:rPr lang="zh-CN" altLang="en-US" dirty="0"/>
              <a:t>报文和实验步骤</a:t>
            </a:r>
            <a:r>
              <a:rPr lang="en-US" altLang="zh-CN" dirty="0"/>
              <a:t>(6)</a:t>
            </a:r>
            <a:r>
              <a:rPr lang="zh-CN" altLang="en-US" dirty="0"/>
              <a:t>生成的</a:t>
            </a:r>
            <a:r>
              <a:rPr lang="en-US" altLang="zh-CN" dirty="0"/>
              <a:t> DHCP Request </a:t>
            </a:r>
            <a:r>
              <a:rPr lang="zh-CN" altLang="en-US" dirty="0"/>
              <a:t>报文：两者虽然都旨在获取或保持</a:t>
            </a:r>
            <a:r>
              <a:rPr lang="en-US" altLang="zh-CN" dirty="0"/>
              <a:t> IP </a:t>
            </a:r>
            <a:r>
              <a:rPr lang="zh-CN" altLang="en-US" dirty="0"/>
              <a:t>地址，但为什么步骤</a:t>
            </a:r>
            <a:r>
              <a:rPr lang="en-US" altLang="zh-CN" dirty="0"/>
              <a:t>(5)</a:t>
            </a:r>
            <a:r>
              <a:rPr lang="zh-CN" altLang="en-US" dirty="0"/>
              <a:t>中的</a:t>
            </a:r>
            <a:r>
              <a:rPr lang="en-US" altLang="zh-CN" dirty="0"/>
              <a:t> Request </a:t>
            </a:r>
            <a:r>
              <a:rPr lang="zh-CN" altLang="en-US" dirty="0"/>
              <a:t>报文源</a:t>
            </a:r>
            <a:r>
              <a:rPr lang="en-US" altLang="zh-CN" dirty="0"/>
              <a:t> IP </a:t>
            </a:r>
            <a:r>
              <a:rPr lang="zh-CN" altLang="en-US" dirty="0"/>
              <a:t>是具体的</a:t>
            </a:r>
            <a:r>
              <a:rPr lang="en-US" altLang="zh-CN" dirty="0"/>
              <a:t> IP </a:t>
            </a:r>
            <a:r>
              <a:rPr lang="zh-CN" altLang="en-US" dirty="0"/>
              <a:t>地址，而步骤</a:t>
            </a:r>
            <a:r>
              <a:rPr lang="en-US" altLang="zh-CN" dirty="0"/>
              <a:t>(6)</a:t>
            </a:r>
            <a:r>
              <a:rPr lang="zh-CN" altLang="en-US" dirty="0"/>
              <a:t>中的</a:t>
            </a:r>
            <a:r>
              <a:rPr lang="en-US" altLang="zh-CN" dirty="0"/>
              <a:t> Request </a:t>
            </a:r>
            <a:r>
              <a:rPr lang="zh-CN" altLang="en-US" dirty="0"/>
              <a:t>报文源</a:t>
            </a:r>
            <a:r>
              <a:rPr lang="en-US" altLang="zh-CN" dirty="0"/>
              <a:t> IP </a:t>
            </a:r>
            <a:r>
              <a:rPr lang="zh-CN" altLang="en-US" dirty="0"/>
              <a:t>却是</a:t>
            </a:r>
            <a:r>
              <a:rPr lang="en-US" altLang="zh-CN" dirty="0"/>
              <a:t> 0.0.0.0</a:t>
            </a:r>
            <a:r>
              <a:rPr lang="zh-CN" altLang="en-US" dirty="0"/>
              <a:t>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配置</a:t>
            </a:r>
            <a:endParaRPr lang="zh-CN" altLang="zh-CN" dirty="0"/>
          </a:p>
          <a:p>
            <a:pPr marL="457200" lvl="1" indent="0">
              <a:buNone/>
            </a:pPr>
            <a:r>
              <a:rPr lang="zh-CN" altLang="en-US" dirty="0"/>
              <a:t>本实验旨在让学生掌握两个技能：一是在</a:t>
            </a:r>
            <a:r>
              <a:rPr lang="en-US" altLang="zh-CN" dirty="0"/>
              <a:t> Packet Tracer </a:t>
            </a:r>
            <a:r>
              <a:rPr lang="zh-CN" altLang="en-US" dirty="0"/>
              <a:t>环境下搭建</a:t>
            </a:r>
            <a:r>
              <a:rPr lang="en-US" altLang="zh-CN" dirty="0"/>
              <a:t>DHCP</a:t>
            </a:r>
            <a:r>
              <a:rPr lang="zh-CN" altLang="en-US" dirty="0"/>
              <a:t>服务器，二是利用</a:t>
            </a:r>
            <a:r>
              <a:rPr lang="en-US" altLang="zh-CN" dirty="0"/>
              <a:t> Packet Tracer</a:t>
            </a:r>
            <a:r>
              <a:rPr lang="zh-CN" altLang="en-US" dirty="0"/>
              <a:t>的模拟模式</a:t>
            </a:r>
            <a:r>
              <a:rPr lang="en-US" altLang="zh-CN" dirty="0"/>
              <a:t> </a:t>
            </a:r>
            <a:r>
              <a:rPr lang="zh-CN" altLang="en-US" dirty="0"/>
              <a:t>截获和分析</a:t>
            </a:r>
            <a:r>
              <a:rPr lang="en-US" altLang="zh-CN" dirty="0"/>
              <a:t>DHCP</a:t>
            </a:r>
            <a:r>
              <a:rPr lang="zh-CN" altLang="en-US" dirty="0"/>
              <a:t>数据包，从而深入理解</a:t>
            </a:r>
            <a:r>
              <a:rPr lang="en-US" altLang="zh-CN" dirty="0"/>
              <a:t>DHCP</a:t>
            </a:r>
            <a:r>
              <a:rPr lang="zh-CN" altLang="en-US" dirty="0"/>
              <a:t>协议的工作原理和机制。实验步骤如下：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en-US" dirty="0"/>
              <a:t>下</a:t>
            </a:r>
            <a:r>
              <a:rPr lang="en-US" altLang="zh-CN" dirty="0"/>
              <a:t>DHCP</a:t>
            </a:r>
            <a:r>
              <a:rPr lang="zh-CN" altLang="en-US" dirty="0"/>
              <a:t>服务器的搭建与配置</a:t>
            </a:r>
          </a:p>
          <a:p>
            <a:pPr marL="457200" lvl="1" indent="0">
              <a:buNone/>
            </a:pPr>
            <a:r>
              <a:rPr lang="en-US" altLang="en-US" dirty="0"/>
              <a:t>①</a:t>
            </a:r>
            <a:r>
              <a:rPr lang="en-US" altLang="zh-CN" dirty="0"/>
              <a:t> </a:t>
            </a:r>
            <a:r>
              <a:rPr lang="zh-CN" altLang="en-US" dirty="0"/>
              <a:t>搭建网络拓扑；</a:t>
            </a:r>
          </a:p>
          <a:p>
            <a:pPr marL="457200" lvl="1" indent="0">
              <a:buNone/>
            </a:pPr>
            <a:r>
              <a:rPr lang="en-US" altLang="en-US" dirty="0"/>
              <a:t>②</a:t>
            </a:r>
            <a:r>
              <a:rPr lang="en-US" altLang="zh-CN" dirty="0"/>
              <a:t> </a:t>
            </a:r>
            <a:r>
              <a:rPr lang="zh-CN" altLang="en-US" dirty="0"/>
              <a:t>配置</a:t>
            </a:r>
            <a:r>
              <a:rPr lang="en-US" altLang="zh-CN" dirty="0"/>
              <a:t>DHCP</a:t>
            </a:r>
            <a:r>
              <a:rPr lang="zh-CN" altLang="en-US" dirty="0"/>
              <a:t>服务器（使用</a:t>
            </a:r>
            <a:r>
              <a:rPr lang="en-US" altLang="zh-CN" dirty="0"/>
              <a:t>Server</a:t>
            </a:r>
            <a:r>
              <a:rPr lang="zh-CN" altLang="en-US" dirty="0"/>
              <a:t>设备）；</a:t>
            </a:r>
          </a:p>
          <a:p>
            <a:pPr marL="457200" lvl="1" indent="0">
              <a:buNone/>
            </a:pPr>
            <a:r>
              <a:rPr lang="en-US" altLang="en-US" dirty="0"/>
              <a:t>③</a:t>
            </a:r>
            <a:r>
              <a:rPr lang="en-US" altLang="zh-CN" dirty="0"/>
              <a:t> </a:t>
            </a:r>
            <a:r>
              <a:rPr lang="zh-CN" altLang="en-US" dirty="0"/>
              <a:t>配置</a:t>
            </a:r>
            <a:r>
              <a:rPr lang="en-US" altLang="zh-CN" dirty="0"/>
              <a:t>DHCP</a:t>
            </a:r>
            <a:r>
              <a:rPr lang="zh-CN" altLang="en-US" dirty="0"/>
              <a:t>客户端（使用</a:t>
            </a:r>
            <a:r>
              <a:rPr lang="en-US" altLang="zh-CN" dirty="0"/>
              <a:t>PC</a:t>
            </a:r>
            <a:r>
              <a:rPr lang="zh-CN" altLang="en-US" dirty="0"/>
              <a:t>设备）。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800" dirty="0">
                <a:sym typeface="+mn-ea"/>
              </a:rPr>
              <a:t>搭建网络拓扑</a:t>
            </a:r>
            <a:endParaRPr lang="zh-CN" altLang="en-US" sz="2800" dirty="0"/>
          </a:p>
          <a:p>
            <a:pPr marL="0" indent="0">
              <a:buNone/>
            </a:pPr>
            <a:r>
              <a:rPr lang="zh-CN" altLang="en-US" sz="2800" dirty="0">
                <a:sym typeface="+mn-ea"/>
              </a:rPr>
              <a:t>在</a:t>
            </a:r>
            <a:r>
              <a:rPr lang="en-US" altLang="zh-CN" sz="2800" dirty="0">
                <a:sym typeface="+mn-ea"/>
              </a:rPr>
              <a:t>Packet Tracer</a:t>
            </a:r>
            <a:r>
              <a:rPr lang="zh-CN" altLang="en-US" sz="2800" dirty="0">
                <a:sym typeface="+mn-ea"/>
              </a:rPr>
              <a:t>工作区中，构建如下网络拓扑：</a:t>
            </a:r>
            <a:endParaRPr lang="zh-CN" altLang="en-US" sz="2800" dirty="0"/>
          </a:p>
          <a:p>
            <a:pPr lvl="1"/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台</a:t>
            </a:r>
            <a:r>
              <a:rPr lang="en-US" altLang="zh-CN" sz="2800" dirty="0">
                <a:sym typeface="+mn-ea"/>
              </a:rPr>
              <a:t> Server (</a:t>
            </a:r>
            <a:r>
              <a:rPr lang="zh-CN" altLang="en-US" sz="2800" dirty="0">
                <a:sym typeface="+mn-ea"/>
              </a:rPr>
              <a:t>服务器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lvl="1"/>
            <a:r>
              <a:rPr lang="en-US" altLang="zh-CN" sz="2800" dirty="0">
                <a:sym typeface="+mn-ea"/>
              </a:rPr>
              <a:t>1</a:t>
            </a:r>
            <a:r>
              <a:rPr lang="zh-CN" altLang="en-US" sz="2800" dirty="0">
                <a:sym typeface="+mn-ea"/>
              </a:rPr>
              <a:t>台</a:t>
            </a:r>
            <a:r>
              <a:rPr lang="en-US" altLang="zh-CN" sz="2800" dirty="0">
                <a:sym typeface="+mn-ea"/>
              </a:rPr>
              <a:t> Switch (2960</a:t>
            </a:r>
            <a:r>
              <a:rPr lang="zh-CN" altLang="en-US" sz="2800" dirty="0">
                <a:sym typeface="+mn-ea"/>
              </a:rPr>
              <a:t>交换机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lvl="1"/>
            <a:r>
              <a:rPr lang="en-US" altLang="zh-CN" sz="2800" dirty="0">
                <a:sym typeface="+mn-ea"/>
              </a:rPr>
              <a:t>2</a:t>
            </a:r>
            <a:r>
              <a:rPr lang="zh-CN" altLang="en-US" sz="2800" dirty="0">
                <a:sym typeface="+mn-ea"/>
              </a:rPr>
              <a:t>台</a:t>
            </a:r>
            <a:r>
              <a:rPr lang="en-US" altLang="zh-CN" sz="2800" dirty="0">
                <a:sym typeface="+mn-ea"/>
              </a:rPr>
              <a:t> PC (</a:t>
            </a:r>
            <a:r>
              <a:rPr lang="zh-CN" altLang="en-US" sz="2800" dirty="0">
                <a:sym typeface="+mn-ea"/>
              </a:rPr>
              <a:t>终端</a:t>
            </a:r>
            <a:r>
              <a:rPr lang="en-US" altLang="zh-CN" sz="2800" dirty="0">
                <a:sym typeface="+mn-ea"/>
              </a:rPr>
              <a:t>)</a:t>
            </a:r>
            <a:endParaRPr lang="en-US" altLang="zh-CN" sz="2800" dirty="0"/>
          </a:p>
          <a:p>
            <a:pPr lvl="1"/>
            <a:r>
              <a:rPr lang="zh-CN" altLang="en-US" sz="2800" dirty="0">
                <a:sym typeface="+mn-ea"/>
              </a:rPr>
              <a:t>使用直通线将</a:t>
            </a:r>
            <a:r>
              <a:rPr lang="en-US" altLang="zh-CN" sz="2800" dirty="0">
                <a:sym typeface="+mn-ea"/>
              </a:rPr>
              <a:t>PC</a:t>
            </a:r>
            <a:r>
              <a:rPr lang="zh-CN" altLang="en-US" sz="2800" dirty="0">
                <a:sym typeface="+mn-ea"/>
              </a:rPr>
              <a:t>和服务器连接到交换机上。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为服务器配置静态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  <a:p>
            <a:r>
              <a:rPr lang="en-US" altLang="zh-CN" dirty="0"/>
              <a:t>DHCP</a:t>
            </a:r>
            <a:r>
              <a:rPr lang="zh-CN" altLang="en-US" dirty="0"/>
              <a:t>服务器本身必须拥有一个固定的静态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</a:p>
          <a:p>
            <a:r>
              <a:rPr lang="zh-CN" altLang="en-US" dirty="0"/>
              <a:t>配置（下面的所有配置自己设置</a:t>
            </a:r>
            <a:r>
              <a:rPr lang="en-US" altLang="zh-CN" dirty="0"/>
              <a:t>ip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IP Address:  </a:t>
            </a:r>
          </a:p>
          <a:p>
            <a:r>
              <a:rPr lang="en-US" altLang="zh-CN" dirty="0"/>
              <a:t>Subnet Mask:  </a:t>
            </a:r>
          </a:p>
          <a:p>
            <a:r>
              <a:rPr lang="en-US" altLang="zh-CN" dirty="0"/>
              <a:t>Default Gateway:  </a:t>
            </a:r>
          </a:p>
          <a:p>
            <a:r>
              <a:rPr lang="en-US" altLang="zh-CN" dirty="0"/>
              <a:t>DNS Server</a:t>
            </a:r>
            <a:r>
              <a:rPr lang="zh-CN" altLang="en-US" dirty="0"/>
              <a:t>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altLang="zh-CN" sz="1800" dirty="0"/>
              <a:t>2. </a:t>
            </a:r>
            <a:r>
              <a:rPr lang="zh-CN" altLang="en-US" sz="1800" dirty="0"/>
              <a:t>开启并配置</a:t>
            </a:r>
            <a:r>
              <a:rPr lang="en-US" altLang="zh-CN" sz="1800" dirty="0"/>
              <a:t>DHCP</a:t>
            </a:r>
            <a:r>
              <a:rPr lang="zh-CN" altLang="en-US" sz="1800" dirty="0"/>
              <a:t>服务</a:t>
            </a:r>
          </a:p>
          <a:p>
            <a:pPr marL="0" indent="0">
              <a:buNone/>
            </a:pPr>
            <a:r>
              <a:rPr lang="zh-CN" altLang="en-US" sz="1800" dirty="0"/>
              <a:t>在服务器窗口中，选择</a:t>
            </a:r>
            <a:r>
              <a:rPr lang="en-US" altLang="zh-CN" sz="1800" dirty="0"/>
              <a:t> Services </a:t>
            </a:r>
            <a:r>
              <a:rPr lang="zh-CN" altLang="en-US" sz="1800" dirty="0"/>
              <a:t>选项卡，点击左侧的</a:t>
            </a:r>
            <a:r>
              <a:rPr lang="en-US" altLang="zh-CN" sz="1800" dirty="0"/>
              <a:t> DHCP</a:t>
            </a:r>
            <a:r>
              <a:rPr lang="zh-CN" altLang="en-US" sz="1800" dirty="0"/>
              <a:t>。</a:t>
            </a:r>
          </a:p>
          <a:p>
            <a:pPr marL="0" indent="0">
              <a:buNone/>
            </a:pPr>
            <a:r>
              <a:rPr lang="zh-CN" altLang="en-US" sz="1800" dirty="0"/>
              <a:t>配置</a:t>
            </a:r>
            <a:r>
              <a:rPr lang="en-US" altLang="zh-CN" sz="1800" dirty="0"/>
              <a:t>DHCP</a:t>
            </a:r>
            <a:r>
              <a:rPr lang="zh-CN" altLang="en-US" sz="1800" dirty="0"/>
              <a:t>服务池（</a:t>
            </a:r>
            <a:r>
              <a:rPr lang="en-US" altLang="zh-CN" sz="1800" dirty="0"/>
              <a:t>Pool</a:t>
            </a:r>
            <a:r>
              <a:rPr lang="zh-CN" altLang="en-US" sz="1800" dirty="0"/>
              <a:t>）：（下面的相关数据请同学们自行设置）</a:t>
            </a:r>
          </a:p>
          <a:p>
            <a:pPr marL="0" indent="0">
              <a:buNone/>
            </a:pPr>
            <a:r>
              <a:rPr lang="en-US" altLang="zh-CN" sz="1800" dirty="0"/>
              <a:t>Service: </a:t>
            </a:r>
            <a:r>
              <a:rPr lang="zh-CN" altLang="en-US" sz="1800" dirty="0"/>
              <a:t>选择</a:t>
            </a:r>
            <a:r>
              <a:rPr lang="en-US" altLang="zh-CN" sz="1800" dirty="0"/>
              <a:t> On </a:t>
            </a:r>
            <a:r>
              <a:rPr lang="zh-CN" altLang="en-US" sz="1800" dirty="0"/>
              <a:t>以开启服务。</a:t>
            </a:r>
          </a:p>
          <a:p>
            <a:pPr marL="0" indent="0">
              <a:buNone/>
            </a:pPr>
            <a:r>
              <a:rPr lang="en-US" altLang="zh-CN" sz="1800" dirty="0"/>
              <a:t>Pool Name:  </a:t>
            </a:r>
          </a:p>
          <a:p>
            <a:pPr marL="0" indent="0">
              <a:buNone/>
            </a:pPr>
            <a:r>
              <a:rPr lang="en-US" altLang="zh-CN" sz="1800" dirty="0"/>
              <a:t>Default Gateway:              (</a:t>
            </a:r>
            <a:r>
              <a:rPr lang="zh-CN" altLang="en-US" sz="1800" dirty="0"/>
              <a:t>必须提供给客户端的网关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/>
              <a:t>DNS Server:           (</a:t>
            </a:r>
            <a:r>
              <a:rPr lang="zh-CN" altLang="en-US" sz="1800" dirty="0"/>
              <a:t>必须提供给客户端的</a:t>
            </a:r>
            <a:r>
              <a:rPr lang="en-US" altLang="zh-CN" sz="1800" dirty="0"/>
              <a:t>DNS)</a:t>
            </a:r>
          </a:p>
          <a:p>
            <a:pPr marL="0" indent="0">
              <a:buNone/>
            </a:pPr>
            <a:r>
              <a:rPr lang="en-US" altLang="zh-CN" sz="1800" dirty="0"/>
              <a:t>Start IP Address:             (</a:t>
            </a:r>
            <a:r>
              <a:rPr lang="zh-CN" altLang="en-US" sz="1800" dirty="0"/>
              <a:t>地址池的起始地址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/>
              <a:t>Subnet Mask:  </a:t>
            </a:r>
          </a:p>
          <a:p>
            <a:pPr marL="0" indent="0">
              <a:buNone/>
            </a:pPr>
            <a:r>
              <a:rPr lang="en-US" altLang="zh-CN" sz="1800" dirty="0"/>
              <a:t>Maximum Number of Users:      (</a:t>
            </a:r>
            <a:r>
              <a:rPr lang="zh-CN" altLang="en-US" sz="1800" dirty="0"/>
              <a:t>地址池的大小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zh-CN" altLang="en-US" sz="1800" dirty="0"/>
              <a:t>点击</a:t>
            </a:r>
            <a:r>
              <a:rPr lang="en-US" altLang="zh-CN" sz="1800" dirty="0"/>
              <a:t> Save </a:t>
            </a:r>
            <a:r>
              <a:rPr lang="zh-CN" altLang="en-US" sz="1800" dirty="0"/>
              <a:t>按钮保存配置。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  <a:sym typeface="+mn-ea"/>
              </a:rPr>
              <a:t> </a:t>
            </a:r>
            <a:r>
              <a:rPr lang="en-US" altLang="zh-CN" dirty="0">
                <a:sym typeface="+mn-ea"/>
              </a:rPr>
              <a:t>DHCP</a:t>
            </a:r>
            <a:r>
              <a:rPr lang="zh-CN" altLang="zh-CN" dirty="0">
                <a:sym typeface="+mn-ea"/>
              </a:rPr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l" latinLnBrk="0">
              <a:spcAft>
                <a:spcPts val="0"/>
              </a:spcAft>
              <a:buNone/>
            </a:pPr>
            <a:r>
              <a:rPr lang="zh-CN" altLang="en-US" sz="2400" dirty="0"/>
              <a:t>配置</a:t>
            </a:r>
            <a:r>
              <a:rPr lang="en-US" altLang="zh-CN" sz="2400" dirty="0"/>
              <a:t>DHCP</a:t>
            </a:r>
            <a:r>
              <a:rPr lang="zh-CN" altLang="en-US" sz="2400" dirty="0"/>
              <a:t>客户端</a:t>
            </a:r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服务器端完成配置以后，现在配置</a:t>
            </a:r>
            <a:r>
              <a:rPr lang="en-US" altLang="zh-CN" sz="2400" dirty="0"/>
              <a:t>PC</a:t>
            </a:r>
            <a:r>
              <a:rPr lang="zh-CN" altLang="en-US" sz="2400" dirty="0"/>
              <a:t>客户端以自动获取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</a:t>
            </a:r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单击一台</a:t>
            </a:r>
            <a:r>
              <a:rPr lang="en-US" altLang="zh-CN" sz="2400" dirty="0"/>
              <a:t>PC</a:t>
            </a:r>
            <a:r>
              <a:rPr lang="zh-CN" altLang="en-US" sz="2400" dirty="0"/>
              <a:t>，选择</a:t>
            </a:r>
            <a:r>
              <a:rPr lang="en-US" altLang="zh-CN" sz="2400" dirty="0"/>
              <a:t> Desktop </a:t>
            </a:r>
            <a:r>
              <a:rPr lang="zh-CN" altLang="en-US" sz="2400" dirty="0"/>
              <a:t>选项卡，点击</a:t>
            </a:r>
            <a:r>
              <a:rPr lang="en-US" altLang="zh-CN" sz="2400" dirty="0"/>
              <a:t> IP Configuration</a:t>
            </a:r>
            <a:r>
              <a:rPr lang="zh-CN" altLang="en-US" sz="2400" dirty="0"/>
              <a:t>。</a:t>
            </a:r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在</a:t>
            </a:r>
            <a:r>
              <a:rPr lang="en-US" altLang="zh-CN" sz="2400" dirty="0"/>
              <a:t>IP Configuration</a:t>
            </a:r>
            <a:r>
              <a:rPr lang="zh-CN" altLang="en-US" sz="2400" dirty="0"/>
              <a:t>窗口中，选择</a:t>
            </a:r>
            <a:r>
              <a:rPr lang="en-US" altLang="zh-CN" sz="2400" dirty="0"/>
              <a:t> DHCP </a:t>
            </a:r>
            <a:r>
              <a:rPr lang="zh-CN" altLang="en-US" sz="2400" dirty="0"/>
              <a:t>选项。</a:t>
            </a:r>
          </a:p>
          <a:p>
            <a:pPr marL="571500" indent="-342900" algn="l" latinLnBrk="0">
              <a:spcAft>
                <a:spcPts val="0"/>
              </a:spcAft>
            </a:pPr>
            <a:r>
              <a:rPr lang="zh-CN" altLang="en-US" sz="2400" dirty="0"/>
              <a:t>稍等片刻，</a:t>
            </a:r>
            <a:r>
              <a:rPr lang="en-US" altLang="zh-CN" sz="2400" dirty="0"/>
              <a:t>PC</a:t>
            </a:r>
            <a:r>
              <a:rPr lang="zh-CN" altLang="en-US" sz="2400" dirty="0"/>
              <a:t>会自动发送</a:t>
            </a:r>
            <a:r>
              <a:rPr lang="en-US" altLang="zh-CN" sz="2400" dirty="0"/>
              <a:t>DHCP</a:t>
            </a:r>
            <a:r>
              <a:rPr lang="zh-CN" altLang="en-US" sz="2400" dirty="0"/>
              <a:t>请求，并从服务器获取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地址。如果成功，你会看到</a:t>
            </a:r>
            <a:r>
              <a:rPr lang="en-US" altLang="zh-CN" sz="2400" dirty="0"/>
              <a:t> "DHCP request successful" </a:t>
            </a:r>
            <a:r>
              <a:rPr lang="zh-CN" altLang="en-US" sz="2400" dirty="0"/>
              <a:t>的提示，并且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地址、子网掩码、默认网关和</a:t>
            </a:r>
            <a:r>
              <a:rPr lang="en-US" altLang="zh-CN" sz="2400" dirty="0"/>
              <a:t>DNS</a:t>
            </a:r>
            <a:r>
              <a:rPr lang="zh-CN" altLang="en-US" sz="2400" dirty="0"/>
              <a:t>服务器字段会被自动填充。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6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DHCP</a:t>
            </a:r>
            <a:r>
              <a:rPr lang="zh-CN" altLang="zh-CN" dirty="0"/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530215"/>
          </a:xfrm>
        </p:spPr>
        <p:txBody>
          <a:bodyPr>
            <a:noAutofit/>
          </a:bodyPr>
          <a:lstStyle/>
          <a:p>
            <a:r>
              <a:rPr lang="zh-CN" altLang="en-US" dirty="0"/>
              <a:t>任务</a:t>
            </a:r>
            <a:r>
              <a:rPr lang="en-US" altLang="zh-CN" dirty="0"/>
              <a:t>3: DHCP</a:t>
            </a:r>
            <a:r>
              <a:rPr lang="zh-CN" altLang="en-US" dirty="0"/>
              <a:t>协议分析</a:t>
            </a:r>
          </a:p>
          <a:p>
            <a:r>
              <a:rPr lang="en-US" altLang="zh-CN" dirty="0"/>
              <a:t>(1) DHCP</a:t>
            </a:r>
            <a:r>
              <a:rPr lang="zh-CN" altLang="en-US" dirty="0"/>
              <a:t>获取新</a:t>
            </a:r>
            <a:r>
              <a:rPr lang="en-US" altLang="zh-CN" dirty="0"/>
              <a:t>IP</a:t>
            </a:r>
            <a:r>
              <a:rPr lang="zh-CN" altLang="en-US" dirty="0"/>
              <a:t>配置信息过程分析</a:t>
            </a:r>
          </a:p>
          <a:p>
            <a:pPr lvl="1"/>
            <a:r>
              <a:rPr lang="zh-CN" altLang="en-US" sz="2000" dirty="0"/>
              <a:t>准备客户端：将</a:t>
            </a:r>
            <a:r>
              <a:rPr lang="en-US" altLang="zh-CN" sz="2000" dirty="0"/>
              <a:t>PC</a:t>
            </a:r>
            <a:r>
              <a:rPr lang="zh-CN" altLang="en-US" sz="2000" dirty="0"/>
              <a:t>的</a:t>
            </a:r>
            <a:r>
              <a:rPr lang="en-US" altLang="zh-CN" sz="2000" dirty="0"/>
              <a:t>IP</a:t>
            </a:r>
            <a:r>
              <a:rPr lang="zh-CN" altLang="en-US" sz="2000" dirty="0"/>
              <a:t>配置从</a:t>
            </a:r>
            <a:r>
              <a:rPr lang="en-US" altLang="zh-CN" sz="2000" dirty="0"/>
              <a:t>“DHCP”</a:t>
            </a:r>
            <a:r>
              <a:rPr lang="zh-CN" altLang="en-US" sz="2000" dirty="0"/>
              <a:t>切换到</a:t>
            </a:r>
            <a:r>
              <a:rPr lang="en-US" altLang="zh-CN" sz="2000" dirty="0"/>
              <a:t>“Static”</a:t>
            </a:r>
            <a:r>
              <a:rPr lang="zh-CN" altLang="en-US" sz="2000" dirty="0"/>
              <a:t>，使其丢失动态获取的地址。</a:t>
            </a:r>
          </a:p>
          <a:p>
            <a:pPr lvl="1"/>
            <a:r>
              <a:rPr lang="zh-CN" altLang="en-US" sz="2000" dirty="0"/>
              <a:t>启动模拟模式：点击</a:t>
            </a:r>
            <a:r>
              <a:rPr lang="en-US" altLang="zh-CN" sz="2000" dirty="0"/>
              <a:t>Packet Tracer</a:t>
            </a:r>
            <a:r>
              <a:rPr lang="zh-CN" altLang="en-US" sz="2000" dirty="0"/>
              <a:t>右下角的</a:t>
            </a:r>
            <a:r>
              <a:rPr lang="en-US" altLang="zh-CN" sz="2000" dirty="0"/>
              <a:t> Simulation </a:t>
            </a:r>
            <a:r>
              <a:rPr lang="zh-CN" altLang="en-US" sz="2000" dirty="0"/>
              <a:t>按钮，进入模拟模式。</a:t>
            </a:r>
          </a:p>
          <a:p>
            <a:pPr lvl="1"/>
            <a:r>
              <a:rPr lang="zh-CN" altLang="en-US" sz="2000" dirty="0"/>
              <a:t>编辑过滤器：在模拟面板（</a:t>
            </a:r>
            <a:r>
              <a:rPr lang="en-US" altLang="zh-CN" sz="2000" dirty="0"/>
              <a:t>Simulation Panel</a:t>
            </a:r>
            <a:r>
              <a:rPr lang="zh-CN" altLang="en-US" sz="2000" dirty="0"/>
              <a:t>）中，点击</a:t>
            </a:r>
            <a:r>
              <a:rPr lang="en-US" altLang="zh-CN" sz="2000" dirty="0"/>
              <a:t> Edit Filters</a:t>
            </a:r>
            <a:r>
              <a:rPr lang="zh-CN" altLang="en-US" sz="2000" dirty="0"/>
              <a:t>，选择</a:t>
            </a:r>
            <a:r>
              <a:rPr lang="en-US" altLang="zh-CN" sz="2000" dirty="0"/>
              <a:t> Show All/None </a:t>
            </a:r>
            <a:r>
              <a:rPr lang="zh-CN" altLang="en-US" sz="2000" dirty="0"/>
              <a:t>清除所有过滤器，然后只勾选</a:t>
            </a:r>
            <a:r>
              <a:rPr lang="en-US" altLang="zh-CN" sz="2000" dirty="0"/>
              <a:t> DHCP</a:t>
            </a:r>
            <a:r>
              <a:rPr lang="zh-CN" altLang="en-US" sz="2000" dirty="0"/>
              <a:t>。</a:t>
            </a:r>
          </a:p>
          <a:p>
            <a:pPr lvl="1"/>
            <a:r>
              <a:rPr lang="zh-CN" altLang="en-US" sz="2000" dirty="0"/>
              <a:t>触发</a:t>
            </a:r>
            <a:r>
              <a:rPr lang="en-US" altLang="zh-CN" sz="2000" dirty="0"/>
              <a:t>DHCP</a:t>
            </a:r>
            <a:r>
              <a:rPr lang="zh-CN" altLang="en-US" sz="2000" dirty="0"/>
              <a:t>过程：回到</a:t>
            </a:r>
            <a:r>
              <a:rPr lang="en-US" altLang="zh-CN" sz="2000" dirty="0"/>
              <a:t>PC</a:t>
            </a:r>
            <a:r>
              <a:rPr lang="zh-CN" altLang="en-US" sz="2000" dirty="0"/>
              <a:t>的</a:t>
            </a:r>
            <a:r>
              <a:rPr lang="en-US" altLang="zh-CN" sz="2000" dirty="0"/>
              <a:t>IP Configuration</a:t>
            </a:r>
            <a:r>
              <a:rPr lang="zh-CN" altLang="en-US" sz="2000" dirty="0"/>
              <a:t>窗口，将配置从</a:t>
            </a:r>
            <a:r>
              <a:rPr lang="en-US" altLang="zh-CN" sz="2000" dirty="0"/>
              <a:t>“Static”</a:t>
            </a:r>
            <a:r>
              <a:rPr lang="zh-CN" altLang="en-US" sz="2000" dirty="0"/>
              <a:t>重新切换回</a:t>
            </a:r>
            <a:r>
              <a:rPr lang="en-US" altLang="zh-CN" sz="2000" dirty="0"/>
              <a:t> DHCP</a:t>
            </a:r>
            <a:r>
              <a:rPr lang="zh-CN" altLang="en-US" sz="2000" dirty="0"/>
              <a:t>。</a:t>
            </a:r>
          </a:p>
          <a:p>
            <a:pPr lvl="1"/>
            <a:r>
              <a:rPr lang="zh-CN" altLang="en-US" sz="2000" dirty="0"/>
              <a:t>分析数据包：点击模拟面板中的</a:t>
            </a:r>
            <a:r>
              <a:rPr lang="en-US" altLang="zh-CN" sz="2000" dirty="0"/>
              <a:t> Capture / Forward </a:t>
            </a:r>
            <a:r>
              <a:rPr lang="zh-CN" altLang="en-US" sz="2000" dirty="0"/>
              <a:t>按钮，一步一步地观察</a:t>
            </a:r>
            <a:r>
              <a:rPr lang="en-US" altLang="zh-CN" sz="2000" dirty="0"/>
              <a:t>DHCP Discover, Offer, Request, ACK </a:t>
            </a:r>
            <a:r>
              <a:rPr lang="zh-CN" altLang="en-US" sz="2000" dirty="0"/>
              <a:t>四个数据包的产生和传递过程。点击每个数据包信封可以查看其详细的分层信息。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6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DHCP</a:t>
            </a:r>
            <a:r>
              <a:rPr lang="zh-CN" altLang="zh-CN" dirty="0"/>
              <a:t>配置与协议分析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7805" y="892810"/>
            <a:ext cx="11301095" cy="52412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2000" dirty="0"/>
              <a:t>根据捕获的数据报回答问题，实验报告中必须附抓包的截图：</a:t>
            </a:r>
          </a:p>
          <a:p>
            <a:pPr marL="342900" indent="-342900">
              <a:buAutoNum type="arabicPeriod"/>
            </a:pPr>
            <a:r>
              <a:rPr lang="zh-CN" altLang="en-US" sz="2000" dirty="0"/>
              <a:t>客户端主机在获取一个新的</a:t>
            </a:r>
            <a:r>
              <a:rPr lang="en-US" altLang="zh-CN" sz="2000" dirty="0"/>
              <a:t>IP</a:t>
            </a:r>
            <a:r>
              <a:rPr lang="zh-CN" altLang="en-US" sz="2000" dirty="0"/>
              <a:t>配置信息时需要通过几次握手来完成？</a:t>
            </a:r>
          </a:p>
          <a:p>
            <a:pPr marL="342900" indent="-342900">
              <a:buAutoNum type="arabicPeriod"/>
            </a:pPr>
            <a:r>
              <a:rPr lang="en-US" altLang="zh-CN" sz="2000" dirty="0"/>
              <a:t>DHCP</a:t>
            </a:r>
            <a:r>
              <a:rPr lang="zh-CN" altLang="en-US" sz="2000" dirty="0"/>
              <a:t>服务器从地址池中选择哪个</a:t>
            </a:r>
            <a:r>
              <a:rPr lang="en-US" altLang="zh-CN" sz="2000" dirty="0"/>
              <a:t>IP</a:t>
            </a:r>
            <a:r>
              <a:rPr lang="zh-CN" altLang="en-US" sz="2000" dirty="0"/>
              <a:t>地址分配给客户端？</a:t>
            </a:r>
          </a:p>
          <a:p>
            <a:pPr marL="342900" indent="-342900">
              <a:buAutoNum type="arabicPeriod"/>
            </a:pPr>
            <a:r>
              <a:rPr lang="en-US" altLang="zh-CN" sz="2000" dirty="0"/>
              <a:t>DHCP</a:t>
            </a:r>
            <a:r>
              <a:rPr lang="zh-CN" altLang="en-US" sz="2000" dirty="0"/>
              <a:t>分配的子网掩码，</a:t>
            </a:r>
            <a:r>
              <a:rPr lang="en-US" altLang="zh-CN" sz="2000" dirty="0"/>
              <a:t>DNS</a:t>
            </a:r>
            <a:r>
              <a:rPr lang="zh-CN" altLang="en-US" sz="2000" dirty="0"/>
              <a:t>域名服务器分别为什么？</a:t>
            </a:r>
          </a:p>
          <a:p>
            <a:pPr marL="342900" indent="-342900">
              <a:buAutoNum type="arabicPeriod"/>
            </a:pPr>
            <a:r>
              <a:rPr lang="en-US" altLang="zh-CN" sz="2000" dirty="0"/>
              <a:t>DHCP</a:t>
            </a:r>
            <a:r>
              <a:rPr lang="zh-CN" altLang="en-US" sz="2000" dirty="0"/>
              <a:t>的客户端在没有分配</a:t>
            </a:r>
            <a:r>
              <a:rPr lang="en-US" altLang="zh-CN" sz="2000" dirty="0"/>
              <a:t>IP</a:t>
            </a:r>
            <a:r>
              <a:rPr lang="zh-CN" altLang="en-US" sz="2000" dirty="0"/>
              <a:t>地址之前采用什么</a:t>
            </a:r>
            <a:r>
              <a:rPr lang="en-US" altLang="zh-CN" sz="2000" dirty="0"/>
              <a:t>IP</a:t>
            </a:r>
            <a:r>
              <a:rPr lang="zh-CN" altLang="en-US" sz="2000" dirty="0"/>
              <a:t>地址和服务器通信？服务器采用什么</a:t>
            </a:r>
            <a:r>
              <a:rPr lang="en-US" altLang="zh-CN" sz="2000" dirty="0"/>
              <a:t>IP</a:t>
            </a:r>
            <a:r>
              <a:rPr lang="zh-CN" altLang="en-US" sz="2000" dirty="0"/>
              <a:t>地址来保证客户端收到服务器的配置信息？</a:t>
            </a:r>
          </a:p>
          <a:p>
            <a:pPr marL="342900" indent="-342900">
              <a:buAutoNum type="arabicPeriod"/>
            </a:pPr>
            <a:r>
              <a:rPr lang="zh-CN" altLang="en-US" sz="2000" dirty="0"/>
              <a:t>在</a:t>
            </a:r>
            <a:r>
              <a:rPr lang="en-US" altLang="zh-CN" sz="2000" dirty="0"/>
              <a:t> DHCP Discover </a:t>
            </a:r>
            <a:r>
              <a:rPr lang="zh-CN" altLang="en-US" sz="2000" dirty="0"/>
              <a:t>阶段，目标</a:t>
            </a:r>
            <a:r>
              <a:rPr lang="en-US" altLang="zh-CN" sz="2000" dirty="0"/>
              <a:t> MAC </a:t>
            </a:r>
            <a:r>
              <a:rPr lang="zh-CN" altLang="en-US" sz="2000" dirty="0"/>
              <a:t>地址是什么？这个是一个什么地址，为什么这样设置？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86</TotalTime>
  <Words>1221</Words>
  <Application>Microsoft Office PowerPoint</Application>
  <PresentationFormat>宽屏</PresentationFormat>
  <Paragraphs>83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微软雅黑</vt:lpstr>
      <vt:lpstr>Arial</vt:lpstr>
      <vt:lpstr>Comic Sans MS</vt:lpstr>
      <vt:lpstr>Designed by iSlide</vt:lpstr>
      <vt:lpstr>PowerPoint 演示文稿</vt:lpstr>
      <vt:lpstr>实验6： DHCP配置与协议分析</vt:lpstr>
      <vt:lpstr>实验6： DHCP配置与协议分析</vt:lpstr>
      <vt:lpstr>根据捕获的DHCP数据包回答问题：</vt:lpstr>
      <vt:lpstr>实验6： DHCP配置与协议分析</vt:lpstr>
      <vt:lpstr>实验6： DHCP配置与协议分析</vt:lpstr>
      <vt:lpstr>实验6： DHCP配置与协议分析</vt:lpstr>
      <vt:lpstr>实验6： DHCP配置与协议分析</vt:lpstr>
      <vt:lpstr>实验6： DHCP配置与协议分析</vt:lpstr>
      <vt:lpstr>实验6： DHCP配置与协议分析</vt:lpstr>
      <vt:lpstr>实验6： DHCP配置与协议分析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Qianhao Sun</cp:lastModifiedBy>
  <cp:revision>55</cp:revision>
  <cp:lastPrinted>2023-11-06T16:00:00Z</cp:lastPrinted>
  <dcterms:created xsi:type="dcterms:W3CDTF">2023-11-06T16:00:00Z</dcterms:created>
  <dcterms:modified xsi:type="dcterms:W3CDTF">2025-11-26T10:13:37Z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CB581F08364B484494D6677D378DC60A_13</vt:lpwstr>
  </property>
  <property fmtid="{D5CDD505-2E9C-101B-9397-08002B2CF9AE}" pid="4" name="KSOProductBuildVer">
    <vt:lpwstr>2052-12.1.0.23542</vt:lpwstr>
  </property>
</Properties>
</file>