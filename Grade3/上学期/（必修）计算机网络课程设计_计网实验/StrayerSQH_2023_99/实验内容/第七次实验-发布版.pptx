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338" r:id="rId2"/>
    <p:sldId id="316" r:id="rId3"/>
    <p:sldId id="320" r:id="rId4"/>
    <p:sldId id="321" r:id="rId5"/>
    <p:sldId id="323" r:id="rId6"/>
    <p:sldId id="322" r:id="rId7"/>
    <p:sldId id="324" r:id="rId8"/>
    <p:sldId id="325" r:id="rId9"/>
    <p:sldId id="326" r:id="rId10"/>
    <p:sldId id="327" r:id="rId11"/>
    <p:sldId id="339" r:id="rId12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 varScale="1">
        <p:scale>
          <a:sx n="87" d="100"/>
          <a:sy n="87" d="100"/>
        </p:scale>
        <p:origin x="528" y="62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6D87CE-937E-4877-97DA-2BF1350D1510}" type="datetimeFigureOut">
              <a:rPr lang="zh-CN" altLang="en-US" smtClean="0"/>
              <a:t>2025/12/3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6A40CE-04EA-494B-8E87-9DA217FB484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0" y="-1"/>
            <a:ext cx="12204700" cy="6858001"/>
            <a:chOff x="0" y="-1"/>
            <a:chExt cx="12204700" cy="6858001"/>
          </a:xfrm>
        </p:grpSpPr>
        <p:sp>
          <p:nvSpPr>
            <p:cNvPr id="7" name="矩形 6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 flipH="1" flipV="1">
              <a:off x="0" y="-1"/>
              <a:ext cx="2832100" cy="783585"/>
            </a:xfrm>
            <a:custGeom>
              <a:avLst/>
              <a:gdLst>
                <a:gd name="connsiteX0" fmla="*/ 3808324 w 3808324"/>
                <a:gd name="connsiteY0" fmla="*/ 1777999 h 1777999"/>
                <a:gd name="connsiteX1" fmla="*/ 0 w 3808324"/>
                <a:gd name="connsiteY1" fmla="*/ 1777999 h 1777999"/>
                <a:gd name="connsiteX2" fmla="*/ 0 w 3808324"/>
                <a:gd name="connsiteY2" fmla="*/ 0 h 1777999"/>
                <a:gd name="connsiteX3" fmla="*/ 3808324 w 3808324"/>
                <a:gd name="connsiteY3" fmla="*/ 0 h 177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8324" h="1777999">
                  <a:moveTo>
                    <a:pt x="3808324" y="1777999"/>
                  </a:moveTo>
                  <a:lnTo>
                    <a:pt x="0" y="1777999"/>
                  </a:lnTo>
                  <a:lnTo>
                    <a:pt x="0" y="0"/>
                  </a:lnTo>
                  <a:lnTo>
                    <a:pt x="3808324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 flipV="1">
              <a:off x="7442200" y="-1"/>
              <a:ext cx="4749800" cy="1314174"/>
            </a:xfrm>
            <a:custGeom>
              <a:avLst/>
              <a:gdLst>
                <a:gd name="connsiteX0" fmla="*/ 3808324 w 3808324"/>
                <a:gd name="connsiteY0" fmla="*/ 1777999 h 1777999"/>
                <a:gd name="connsiteX1" fmla="*/ 0 w 3808324"/>
                <a:gd name="connsiteY1" fmla="*/ 1777999 h 1777999"/>
                <a:gd name="connsiteX2" fmla="*/ 0 w 3808324"/>
                <a:gd name="connsiteY2" fmla="*/ 0 h 1777999"/>
                <a:gd name="connsiteX3" fmla="*/ 3808324 w 3808324"/>
                <a:gd name="connsiteY3" fmla="*/ 0 h 177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08324" h="1777999">
                  <a:moveTo>
                    <a:pt x="3808324" y="1777999"/>
                  </a:moveTo>
                  <a:lnTo>
                    <a:pt x="0" y="1777999"/>
                  </a:lnTo>
                  <a:lnTo>
                    <a:pt x="0" y="0"/>
                  </a:lnTo>
                  <a:lnTo>
                    <a:pt x="3808324" y="0"/>
                  </a:lnTo>
                  <a:close/>
                </a:path>
              </a:pathLst>
            </a:cu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6" name="任意多边形: 形状 5"/>
          <p:cNvSpPr/>
          <p:nvPr/>
        </p:nvSpPr>
        <p:spPr bwMode="auto">
          <a:xfrm>
            <a:off x="-1588" y="4826208"/>
            <a:ext cx="12206288" cy="2449512"/>
          </a:xfrm>
          <a:custGeom>
            <a:avLst/>
            <a:gdLst>
              <a:gd name="T0" fmla="*/ 7689 w 7689"/>
              <a:gd name="T1" fmla="*/ 1543 h 1543"/>
              <a:gd name="T2" fmla="*/ 7689 w 7689"/>
              <a:gd name="T3" fmla="*/ 1485 h 1543"/>
              <a:gd name="T4" fmla="*/ 4821 w 7689"/>
              <a:gd name="T5" fmla="*/ 568 h 1543"/>
              <a:gd name="T6" fmla="*/ 3065 w 7689"/>
              <a:gd name="T7" fmla="*/ 0 h 1543"/>
              <a:gd name="T8" fmla="*/ 582 w 7689"/>
              <a:gd name="T9" fmla="*/ 597 h 1543"/>
              <a:gd name="T10" fmla="*/ 0 w 7689"/>
              <a:gd name="T11" fmla="*/ 717 h 1543"/>
              <a:gd name="T12" fmla="*/ 0 w 7689"/>
              <a:gd name="T13" fmla="*/ 1543 h 1543"/>
              <a:gd name="T14" fmla="*/ 7689 w 7689"/>
              <a:gd name="T15" fmla="*/ 1543 h 15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689" h="1543">
                <a:moveTo>
                  <a:pt x="7689" y="1543"/>
                </a:moveTo>
                <a:lnTo>
                  <a:pt x="7689" y="1485"/>
                </a:lnTo>
                <a:lnTo>
                  <a:pt x="4821" y="568"/>
                </a:lnTo>
                <a:lnTo>
                  <a:pt x="3065" y="0"/>
                </a:lnTo>
                <a:lnTo>
                  <a:pt x="582" y="597"/>
                </a:lnTo>
                <a:lnTo>
                  <a:pt x="0" y="717"/>
                </a:lnTo>
                <a:lnTo>
                  <a:pt x="0" y="1543"/>
                </a:lnTo>
                <a:lnTo>
                  <a:pt x="7689" y="1543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prstClr val="black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0400" y="1130300"/>
            <a:ext cx="10858500" cy="1371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0400" y="2501900"/>
            <a:ext cx="10858500" cy="75925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359918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3873500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www.islide.cc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3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lnSpc>
                <a:spcPct val="150000"/>
              </a:lnSpc>
              <a:defRPr sz="2800" b="1"/>
            </a:lvl1pPr>
            <a:lvl2pPr>
              <a:lnSpc>
                <a:spcPct val="150000"/>
              </a:lnSpc>
              <a:defRPr sz="2400" b="1">
                <a:solidFill>
                  <a:schemeClr val="accent6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defRPr sz="2000" b="1"/>
            </a:lvl3pPr>
            <a:lvl4pPr>
              <a:lnSpc>
                <a:spcPct val="150000"/>
              </a:lnSpc>
              <a:defRPr sz="1800" b="1"/>
            </a:lvl4pPr>
            <a:lvl5pPr>
              <a:lnSpc>
                <a:spcPct val="150000"/>
              </a:lnSpc>
              <a:defRPr sz="18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任意多边形: 形状 7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 flipV="1">
            <a:off x="-1588" y="-429260"/>
            <a:ext cx="12206288" cy="3042919"/>
            <a:chOff x="-1588" y="4232801"/>
            <a:chExt cx="12206288" cy="3042919"/>
          </a:xfrm>
        </p:grpSpPr>
        <p:sp>
          <p:nvSpPr>
            <p:cNvPr id="8" name="任意多边形: 形状 7"/>
            <p:cNvSpPr/>
            <p:nvPr/>
          </p:nvSpPr>
          <p:spPr bwMode="auto">
            <a:xfrm>
              <a:off x="-1588" y="4826208"/>
              <a:ext cx="12206288" cy="2449512"/>
            </a:xfrm>
            <a:custGeom>
              <a:avLst/>
              <a:gdLst>
                <a:gd name="T0" fmla="*/ 7689 w 7689"/>
                <a:gd name="T1" fmla="*/ 1543 h 1543"/>
                <a:gd name="T2" fmla="*/ 7689 w 7689"/>
                <a:gd name="T3" fmla="*/ 1485 h 1543"/>
                <a:gd name="T4" fmla="*/ 4821 w 7689"/>
                <a:gd name="T5" fmla="*/ 568 h 1543"/>
                <a:gd name="T6" fmla="*/ 3065 w 7689"/>
                <a:gd name="T7" fmla="*/ 0 h 1543"/>
                <a:gd name="T8" fmla="*/ 582 w 7689"/>
                <a:gd name="T9" fmla="*/ 597 h 1543"/>
                <a:gd name="T10" fmla="*/ 0 w 7689"/>
                <a:gd name="T11" fmla="*/ 717 h 1543"/>
                <a:gd name="T12" fmla="*/ 0 w 7689"/>
                <a:gd name="T13" fmla="*/ 1543 h 1543"/>
                <a:gd name="T14" fmla="*/ 7689 w 7689"/>
                <a:gd name="T15" fmla="*/ 1543 h 1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89" h="1543">
                  <a:moveTo>
                    <a:pt x="7689" y="1543"/>
                  </a:moveTo>
                  <a:lnTo>
                    <a:pt x="7689" y="1485"/>
                  </a:lnTo>
                  <a:lnTo>
                    <a:pt x="4821" y="568"/>
                  </a:lnTo>
                  <a:lnTo>
                    <a:pt x="3065" y="0"/>
                  </a:lnTo>
                  <a:lnTo>
                    <a:pt x="582" y="597"/>
                  </a:lnTo>
                  <a:lnTo>
                    <a:pt x="0" y="717"/>
                  </a:lnTo>
                  <a:lnTo>
                    <a:pt x="0" y="1543"/>
                  </a:lnTo>
                  <a:lnTo>
                    <a:pt x="7689" y="15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371850" y="2967879"/>
            <a:ext cx="5435600" cy="13716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3371850" y="4344984"/>
            <a:ext cx="5435600" cy="1371600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1588" y="4232801"/>
            <a:ext cx="12206288" cy="3042919"/>
            <a:chOff x="-1588" y="4232801"/>
            <a:chExt cx="12206288" cy="3042919"/>
          </a:xfrm>
        </p:grpSpPr>
        <p:sp>
          <p:nvSpPr>
            <p:cNvPr id="6" name="任意多边形: 形状 5"/>
            <p:cNvSpPr/>
            <p:nvPr/>
          </p:nvSpPr>
          <p:spPr bwMode="auto">
            <a:xfrm>
              <a:off x="-1588" y="4826208"/>
              <a:ext cx="12206288" cy="2449512"/>
            </a:xfrm>
            <a:custGeom>
              <a:avLst/>
              <a:gdLst>
                <a:gd name="T0" fmla="*/ 7689 w 7689"/>
                <a:gd name="T1" fmla="*/ 1543 h 1543"/>
                <a:gd name="T2" fmla="*/ 7689 w 7689"/>
                <a:gd name="T3" fmla="*/ 1485 h 1543"/>
                <a:gd name="T4" fmla="*/ 4821 w 7689"/>
                <a:gd name="T5" fmla="*/ 568 h 1543"/>
                <a:gd name="T6" fmla="*/ 3065 w 7689"/>
                <a:gd name="T7" fmla="*/ 0 h 1543"/>
                <a:gd name="T8" fmla="*/ 582 w 7689"/>
                <a:gd name="T9" fmla="*/ 597 h 1543"/>
                <a:gd name="T10" fmla="*/ 0 w 7689"/>
                <a:gd name="T11" fmla="*/ 717 h 1543"/>
                <a:gd name="T12" fmla="*/ 0 w 7689"/>
                <a:gd name="T13" fmla="*/ 1543 h 1543"/>
                <a:gd name="T14" fmla="*/ 7689 w 7689"/>
                <a:gd name="T15" fmla="*/ 1543 h 1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689" h="1543">
                  <a:moveTo>
                    <a:pt x="7689" y="1543"/>
                  </a:moveTo>
                  <a:lnTo>
                    <a:pt x="7689" y="1485"/>
                  </a:lnTo>
                  <a:lnTo>
                    <a:pt x="4821" y="568"/>
                  </a:lnTo>
                  <a:lnTo>
                    <a:pt x="3065" y="0"/>
                  </a:lnTo>
                  <a:lnTo>
                    <a:pt x="582" y="597"/>
                  </a:lnTo>
                  <a:lnTo>
                    <a:pt x="0" y="717"/>
                  </a:lnTo>
                  <a:lnTo>
                    <a:pt x="0" y="1543"/>
                  </a:lnTo>
                  <a:lnTo>
                    <a:pt x="7689" y="1543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solidFill>
                  <a:prstClr val="black"/>
                </a:solidFill>
                <a:latin typeface="等线" panose="02010600030101010101" charset="-122"/>
                <a:ea typeface="等线" panose="02010600030101010101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0" y="4232801"/>
              <a:ext cx="12204700" cy="2625199"/>
            </a:xfrm>
            <a:prstGeom prst="rect">
              <a:avLst/>
            </a:prstGeom>
            <a:blipFill>
              <a:blip r:embed="rId2"/>
              <a:srcRect/>
              <a:stretch>
                <a:fillRect t="4769" b="-49543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803400"/>
            <a:ext cx="10858500" cy="1371600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660400" y="3540761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3815081"/>
            <a:ext cx="10858500" cy="274320"/>
          </a:xfrm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www.islide.cc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圆: 空心 256">
            <a:extLst>
              <a:ext uri="{FF2B5EF4-FFF2-40B4-BE49-F238E27FC236}">
                <a16:creationId xmlns:a16="http://schemas.microsoft.com/office/drawing/2014/main" id="{74A9E843-1667-3DA3-FF77-05C5A4A9EE8A}"/>
              </a:ext>
            </a:extLst>
          </p:cNvPr>
          <p:cNvSpPr/>
          <p:nvPr/>
        </p:nvSpPr>
        <p:spPr>
          <a:xfrm>
            <a:off x="7588207" y="374493"/>
            <a:ext cx="5951891" cy="5918200"/>
          </a:xfrm>
          <a:prstGeom prst="donut">
            <a:avLst>
              <a:gd name="adj" fmla="val 11200"/>
            </a:avLst>
          </a:prstGeom>
          <a:solidFill>
            <a:srgbClr val="D2D8F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3" name="圆: 空心 2">
            <a:extLst>
              <a:ext uri="{FF2B5EF4-FFF2-40B4-BE49-F238E27FC236}">
                <a16:creationId xmlns:a16="http://schemas.microsoft.com/office/drawing/2014/main" id="{0F5BF4D0-817A-B522-6BAB-3AF06799CE62}"/>
              </a:ext>
            </a:extLst>
          </p:cNvPr>
          <p:cNvSpPr/>
          <p:nvPr/>
        </p:nvSpPr>
        <p:spPr>
          <a:xfrm rot="20337877">
            <a:off x="6421793" y="939499"/>
            <a:ext cx="4841467" cy="4814061"/>
          </a:xfrm>
          <a:prstGeom prst="donut">
            <a:avLst>
              <a:gd name="adj" fmla="val 13078"/>
            </a:avLst>
          </a:prstGeom>
          <a:gradFill>
            <a:gsLst>
              <a:gs pos="0">
                <a:srgbClr val="D2D8FD"/>
              </a:gs>
              <a:gs pos="81000">
                <a:srgbClr val="1540DD">
                  <a:alpha val="10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947008" y="3549595"/>
            <a:ext cx="4936351" cy="532555"/>
            <a:chOff x="0" y="0"/>
            <a:chExt cx="812800" cy="16012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160125"/>
            </a:xfrm>
            <a:custGeom>
              <a:avLst/>
              <a:gdLst/>
              <a:ahLst/>
              <a:cxnLst/>
              <a:rect l="l" t="t" r="r" b="b"/>
              <a:pathLst>
                <a:path w="812800" h="160125">
                  <a:moveTo>
                    <a:pt x="0" y="0"/>
                  </a:moveTo>
                  <a:lnTo>
                    <a:pt x="812800" y="0"/>
                  </a:lnTo>
                  <a:lnTo>
                    <a:pt x="812800" y="160125"/>
                  </a:lnTo>
                  <a:lnTo>
                    <a:pt x="0" y="160125"/>
                  </a:lnTo>
                  <a:close/>
                </a:path>
              </a:pathLst>
            </a:custGeom>
            <a:solidFill>
              <a:srgbClr val="1540DD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812800" cy="1887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68518" y="2336081"/>
            <a:ext cx="6422406" cy="10572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292"/>
              </a:lnSpc>
            </a:pPr>
            <a:r>
              <a:rPr lang="zh-CN" altLang="en-US" sz="5334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 Bold"/>
                <a:sym typeface="思源黑体 1 Bold"/>
              </a:rPr>
              <a:t>计算机网络课程设计</a:t>
            </a:r>
            <a:endParaRPr lang="en-US" sz="5334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1 Bold"/>
              <a:sym typeface="思源黑体 1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59513" y="3711467"/>
            <a:ext cx="4897199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16"/>
              </a:lnSpc>
            </a:pPr>
            <a:r>
              <a:rPr lang="zh-CN" altLang="en-US" sz="1867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第</a:t>
            </a:r>
            <a:r>
              <a:rPr lang="en-US" altLang="zh-CN" sz="1867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7</a:t>
            </a:r>
            <a:r>
              <a:rPr lang="zh-CN" altLang="en-US" sz="1867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次实验</a:t>
            </a:r>
            <a:r>
              <a:rPr lang="en-US" altLang="zh-CN" sz="1867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-NAT</a:t>
            </a:r>
            <a:r>
              <a:rPr lang="zh-CN" altLang="en-US" sz="1867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rPr>
              <a:t>地址转换实验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7035800" y="1290853"/>
            <a:ext cx="523032" cy="626087"/>
            <a:chOff x="0" y="0"/>
            <a:chExt cx="1046064" cy="1252173"/>
          </a:xfrm>
        </p:grpSpPr>
        <p:grpSp>
          <p:nvGrpSpPr>
            <p:cNvPr id="15" name="Group 15"/>
            <p:cNvGrpSpPr/>
            <p:nvPr/>
          </p:nvGrpSpPr>
          <p:grpSpPr>
            <a:xfrm>
              <a:off x="308527" y="0"/>
              <a:ext cx="120482" cy="120482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0" y="0"/>
              <a:ext cx="120482" cy="120482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925582" y="0"/>
              <a:ext cx="120482" cy="120482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17055" y="0"/>
              <a:ext cx="120482" cy="120482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308527" y="282923"/>
              <a:ext cx="120482" cy="120482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0" y="282923"/>
              <a:ext cx="120482" cy="120482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925582" y="282923"/>
              <a:ext cx="120482" cy="120482"/>
              <a:chOff x="0" y="0"/>
              <a:chExt cx="81280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17055" y="282923"/>
              <a:ext cx="120482" cy="120482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308527" y="565845"/>
              <a:ext cx="120482" cy="120482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0" y="565845"/>
              <a:ext cx="120482" cy="120482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925582" y="565845"/>
              <a:ext cx="120482" cy="120482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17055" y="565845"/>
              <a:ext cx="120482" cy="120482"/>
              <a:chOff x="0" y="0"/>
              <a:chExt cx="812800" cy="812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308527" y="848768"/>
              <a:ext cx="120482" cy="120482"/>
              <a:chOff x="0" y="0"/>
              <a:chExt cx="812800" cy="8128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0" y="848768"/>
              <a:ext cx="120482" cy="120482"/>
              <a:chOff x="0" y="0"/>
              <a:chExt cx="812800" cy="8128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925582" y="848768"/>
              <a:ext cx="120482" cy="120482"/>
              <a:chOff x="0" y="0"/>
              <a:chExt cx="812800" cy="8128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617055" y="848768"/>
              <a:ext cx="120482" cy="120482"/>
              <a:chOff x="0" y="0"/>
              <a:chExt cx="812800" cy="81280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308527" y="1131691"/>
              <a:ext cx="120482" cy="120482"/>
              <a:chOff x="0" y="0"/>
              <a:chExt cx="812800" cy="8128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0" y="1131691"/>
              <a:ext cx="120482" cy="120482"/>
              <a:chOff x="0" y="0"/>
              <a:chExt cx="812800" cy="81280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925582" y="1131691"/>
              <a:ext cx="120482" cy="120482"/>
              <a:chOff x="0" y="0"/>
              <a:chExt cx="812800" cy="81280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617055" y="1131691"/>
              <a:ext cx="120482" cy="120482"/>
              <a:chOff x="0" y="0"/>
              <a:chExt cx="812800" cy="81280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75" name="Group 75"/>
          <p:cNvGrpSpPr/>
          <p:nvPr/>
        </p:nvGrpSpPr>
        <p:grpSpPr>
          <a:xfrm>
            <a:off x="3933799" y="4675085"/>
            <a:ext cx="1758583" cy="634855"/>
            <a:chOff x="0" y="0"/>
            <a:chExt cx="3517166" cy="1269709"/>
          </a:xfrm>
        </p:grpSpPr>
        <p:grpSp>
          <p:nvGrpSpPr>
            <p:cNvPr id="76" name="Group 76"/>
            <p:cNvGrpSpPr/>
            <p:nvPr/>
          </p:nvGrpSpPr>
          <p:grpSpPr>
            <a:xfrm>
              <a:off x="2779629" y="17536"/>
              <a:ext cx="120482" cy="120482"/>
              <a:chOff x="0" y="0"/>
              <a:chExt cx="812800" cy="81280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78" name="TextBox 7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2471102" y="17536"/>
              <a:ext cx="120482" cy="120482"/>
              <a:chOff x="0" y="0"/>
              <a:chExt cx="812800" cy="812800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3396684" y="17536"/>
              <a:ext cx="120482" cy="120482"/>
              <a:chOff x="0" y="0"/>
              <a:chExt cx="812800" cy="812800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3088157" y="17536"/>
              <a:ext cx="120482" cy="120482"/>
              <a:chOff x="0" y="0"/>
              <a:chExt cx="812800" cy="812800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8" name="Group 88"/>
            <p:cNvGrpSpPr/>
            <p:nvPr/>
          </p:nvGrpSpPr>
          <p:grpSpPr>
            <a:xfrm>
              <a:off x="2779629" y="300459"/>
              <a:ext cx="120482" cy="120482"/>
              <a:chOff x="0" y="0"/>
              <a:chExt cx="812800" cy="812800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90" name="TextBox 9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1" name="Group 91"/>
            <p:cNvGrpSpPr/>
            <p:nvPr/>
          </p:nvGrpSpPr>
          <p:grpSpPr>
            <a:xfrm>
              <a:off x="2471102" y="300459"/>
              <a:ext cx="120482" cy="120482"/>
              <a:chOff x="0" y="0"/>
              <a:chExt cx="812800" cy="812800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93" name="TextBox 9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4" name="Group 94"/>
            <p:cNvGrpSpPr/>
            <p:nvPr/>
          </p:nvGrpSpPr>
          <p:grpSpPr>
            <a:xfrm>
              <a:off x="3396684" y="300459"/>
              <a:ext cx="120482" cy="120482"/>
              <a:chOff x="0" y="0"/>
              <a:chExt cx="812800" cy="812800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96" name="TextBox 9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7" name="Group 97"/>
            <p:cNvGrpSpPr/>
            <p:nvPr/>
          </p:nvGrpSpPr>
          <p:grpSpPr>
            <a:xfrm>
              <a:off x="3088157" y="300459"/>
              <a:ext cx="120482" cy="120482"/>
              <a:chOff x="0" y="0"/>
              <a:chExt cx="812800" cy="812800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99" name="TextBox 9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0" name="Group 100"/>
            <p:cNvGrpSpPr/>
            <p:nvPr/>
          </p:nvGrpSpPr>
          <p:grpSpPr>
            <a:xfrm>
              <a:off x="2779629" y="583382"/>
              <a:ext cx="120482" cy="120482"/>
              <a:chOff x="0" y="0"/>
              <a:chExt cx="812800" cy="812800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3" name="Group 103"/>
            <p:cNvGrpSpPr/>
            <p:nvPr/>
          </p:nvGrpSpPr>
          <p:grpSpPr>
            <a:xfrm>
              <a:off x="2471102" y="583382"/>
              <a:ext cx="120482" cy="120482"/>
              <a:chOff x="0" y="0"/>
              <a:chExt cx="812800" cy="812800"/>
            </a:xfrm>
          </p:grpSpPr>
          <p:sp>
            <p:nvSpPr>
              <p:cNvPr id="104" name="Freeform 10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05" name="TextBox 10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6" name="Group 106"/>
            <p:cNvGrpSpPr/>
            <p:nvPr/>
          </p:nvGrpSpPr>
          <p:grpSpPr>
            <a:xfrm>
              <a:off x="3396684" y="583382"/>
              <a:ext cx="120482" cy="120482"/>
              <a:chOff x="0" y="0"/>
              <a:chExt cx="812800" cy="812800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08" name="TextBox 10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9" name="Group 109"/>
            <p:cNvGrpSpPr/>
            <p:nvPr/>
          </p:nvGrpSpPr>
          <p:grpSpPr>
            <a:xfrm>
              <a:off x="3088157" y="583382"/>
              <a:ext cx="120482" cy="120482"/>
              <a:chOff x="0" y="0"/>
              <a:chExt cx="812800" cy="812800"/>
            </a:xfrm>
          </p:grpSpPr>
          <p:sp>
            <p:nvSpPr>
              <p:cNvPr id="110" name="Freeform 1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11" name="TextBox 11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Group 112"/>
            <p:cNvGrpSpPr/>
            <p:nvPr/>
          </p:nvGrpSpPr>
          <p:grpSpPr>
            <a:xfrm>
              <a:off x="2779629" y="866304"/>
              <a:ext cx="120482" cy="120482"/>
              <a:chOff x="0" y="0"/>
              <a:chExt cx="812800" cy="812800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14" name="TextBox 11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Group 115"/>
            <p:cNvGrpSpPr/>
            <p:nvPr/>
          </p:nvGrpSpPr>
          <p:grpSpPr>
            <a:xfrm>
              <a:off x="2471102" y="866304"/>
              <a:ext cx="120482" cy="120482"/>
              <a:chOff x="0" y="0"/>
              <a:chExt cx="812800" cy="812800"/>
            </a:xfrm>
          </p:grpSpPr>
          <p:sp>
            <p:nvSpPr>
              <p:cNvPr id="116" name="Freeform 1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17" name="TextBox 11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Group 118"/>
            <p:cNvGrpSpPr/>
            <p:nvPr/>
          </p:nvGrpSpPr>
          <p:grpSpPr>
            <a:xfrm>
              <a:off x="3396684" y="866304"/>
              <a:ext cx="120482" cy="120482"/>
              <a:chOff x="0" y="0"/>
              <a:chExt cx="812800" cy="812800"/>
            </a:xfrm>
          </p:grpSpPr>
          <p:sp>
            <p:nvSpPr>
              <p:cNvPr id="119" name="Freeform 1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20" name="TextBox 12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Group 121"/>
            <p:cNvGrpSpPr/>
            <p:nvPr/>
          </p:nvGrpSpPr>
          <p:grpSpPr>
            <a:xfrm>
              <a:off x="3088157" y="866304"/>
              <a:ext cx="120482" cy="120482"/>
              <a:chOff x="0" y="0"/>
              <a:chExt cx="812800" cy="812800"/>
            </a:xfrm>
          </p:grpSpPr>
          <p:sp>
            <p:nvSpPr>
              <p:cNvPr id="122" name="Freeform 1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23" name="TextBox 12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4" name="Group 124"/>
            <p:cNvGrpSpPr/>
            <p:nvPr/>
          </p:nvGrpSpPr>
          <p:grpSpPr>
            <a:xfrm>
              <a:off x="2779629" y="1149227"/>
              <a:ext cx="120482" cy="120482"/>
              <a:chOff x="0" y="0"/>
              <a:chExt cx="812800" cy="812800"/>
            </a:xfrm>
          </p:grpSpPr>
          <p:sp>
            <p:nvSpPr>
              <p:cNvPr id="125" name="Freeform 1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26" name="TextBox 12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7" name="Group 127"/>
            <p:cNvGrpSpPr/>
            <p:nvPr/>
          </p:nvGrpSpPr>
          <p:grpSpPr>
            <a:xfrm>
              <a:off x="2471102" y="1149227"/>
              <a:ext cx="120482" cy="120482"/>
              <a:chOff x="0" y="0"/>
              <a:chExt cx="812800" cy="812800"/>
            </a:xfrm>
          </p:grpSpPr>
          <p:sp>
            <p:nvSpPr>
              <p:cNvPr id="128" name="Freeform 1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29" name="TextBox 12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0" name="Group 130"/>
            <p:cNvGrpSpPr/>
            <p:nvPr/>
          </p:nvGrpSpPr>
          <p:grpSpPr>
            <a:xfrm>
              <a:off x="3396684" y="1149227"/>
              <a:ext cx="120482" cy="120482"/>
              <a:chOff x="0" y="0"/>
              <a:chExt cx="812800" cy="812800"/>
            </a:xfrm>
          </p:grpSpPr>
          <p:sp>
            <p:nvSpPr>
              <p:cNvPr id="131" name="Freeform 1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32" name="TextBox 13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3" name="Group 133"/>
            <p:cNvGrpSpPr/>
            <p:nvPr/>
          </p:nvGrpSpPr>
          <p:grpSpPr>
            <a:xfrm>
              <a:off x="3088157" y="1149227"/>
              <a:ext cx="120482" cy="120482"/>
              <a:chOff x="0" y="0"/>
              <a:chExt cx="812800" cy="812800"/>
            </a:xfrm>
          </p:grpSpPr>
          <p:sp>
            <p:nvSpPr>
              <p:cNvPr id="134" name="Freeform 1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35" name="TextBox 13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6" name="Group 136"/>
            <p:cNvGrpSpPr/>
            <p:nvPr/>
          </p:nvGrpSpPr>
          <p:grpSpPr>
            <a:xfrm>
              <a:off x="308527" y="0"/>
              <a:ext cx="120482" cy="120482"/>
              <a:chOff x="0" y="0"/>
              <a:chExt cx="812800" cy="812800"/>
            </a:xfrm>
          </p:grpSpPr>
          <p:sp>
            <p:nvSpPr>
              <p:cNvPr id="137" name="Freeform 1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38" name="TextBox 13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9" name="Group 139"/>
            <p:cNvGrpSpPr/>
            <p:nvPr/>
          </p:nvGrpSpPr>
          <p:grpSpPr>
            <a:xfrm>
              <a:off x="0" y="0"/>
              <a:ext cx="120482" cy="120482"/>
              <a:chOff x="0" y="0"/>
              <a:chExt cx="812800" cy="812800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41" name="TextBox 14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2" name="Group 142"/>
            <p:cNvGrpSpPr/>
            <p:nvPr/>
          </p:nvGrpSpPr>
          <p:grpSpPr>
            <a:xfrm>
              <a:off x="925582" y="0"/>
              <a:ext cx="120482" cy="120482"/>
              <a:chOff x="0" y="0"/>
              <a:chExt cx="812800" cy="812800"/>
            </a:xfrm>
          </p:grpSpPr>
          <p:sp>
            <p:nvSpPr>
              <p:cNvPr id="143" name="Freeform 1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44" name="TextBox 14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5" name="Group 145"/>
            <p:cNvGrpSpPr/>
            <p:nvPr/>
          </p:nvGrpSpPr>
          <p:grpSpPr>
            <a:xfrm>
              <a:off x="617055" y="0"/>
              <a:ext cx="120482" cy="120482"/>
              <a:chOff x="0" y="0"/>
              <a:chExt cx="812800" cy="812800"/>
            </a:xfrm>
          </p:grpSpPr>
          <p:sp>
            <p:nvSpPr>
              <p:cNvPr id="146" name="Freeform 1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47" name="TextBox 14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8" name="Group 148"/>
            <p:cNvGrpSpPr/>
            <p:nvPr/>
          </p:nvGrpSpPr>
          <p:grpSpPr>
            <a:xfrm>
              <a:off x="1542637" y="0"/>
              <a:ext cx="120482" cy="120482"/>
              <a:chOff x="0" y="0"/>
              <a:chExt cx="812800" cy="812800"/>
            </a:xfrm>
          </p:grpSpPr>
          <p:sp>
            <p:nvSpPr>
              <p:cNvPr id="149" name="Freeform 1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50" name="TextBox 15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1" name="Group 151"/>
            <p:cNvGrpSpPr/>
            <p:nvPr/>
          </p:nvGrpSpPr>
          <p:grpSpPr>
            <a:xfrm>
              <a:off x="1234109" y="0"/>
              <a:ext cx="120482" cy="120482"/>
              <a:chOff x="0" y="0"/>
              <a:chExt cx="812800" cy="812800"/>
            </a:xfrm>
          </p:grpSpPr>
          <p:sp>
            <p:nvSpPr>
              <p:cNvPr id="152" name="Freeform 1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53" name="TextBox 15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4" name="Group 154"/>
            <p:cNvGrpSpPr/>
            <p:nvPr/>
          </p:nvGrpSpPr>
          <p:grpSpPr>
            <a:xfrm>
              <a:off x="2159691" y="0"/>
              <a:ext cx="120482" cy="120482"/>
              <a:chOff x="0" y="0"/>
              <a:chExt cx="812800" cy="812800"/>
            </a:xfrm>
          </p:grpSpPr>
          <p:sp>
            <p:nvSpPr>
              <p:cNvPr id="155" name="Freeform 15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56" name="TextBox 15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7" name="Group 157"/>
            <p:cNvGrpSpPr/>
            <p:nvPr/>
          </p:nvGrpSpPr>
          <p:grpSpPr>
            <a:xfrm>
              <a:off x="1851164" y="0"/>
              <a:ext cx="120482" cy="120482"/>
              <a:chOff x="0" y="0"/>
              <a:chExt cx="812800" cy="812800"/>
            </a:xfrm>
          </p:grpSpPr>
          <p:sp>
            <p:nvSpPr>
              <p:cNvPr id="158" name="Freeform 1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59" name="TextBox 15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0" name="Group 160"/>
            <p:cNvGrpSpPr/>
            <p:nvPr/>
          </p:nvGrpSpPr>
          <p:grpSpPr>
            <a:xfrm>
              <a:off x="308527" y="282923"/>
              <a:ext cx="120482" cy="120482"/>
              <a:chOff x="0" y="0"/>
              <a:chExt cx="812800" cy="812800"/>
            </a:xfrm>
          </p:grpSpPr>
          <p:sp>
            <p:nvSpPr>
              <p:cNvPr id="161" name="Freeform 16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62" name="TextBox 16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3" name="Group 163"/>
            <p:cNvGrpSpPr/>
            <p:nvPr/>
          </p:nvGrpSpPr>
          <p:grpSpPr>
            <a:xfrm>
              <a:off x="0" y="282923"/>
              <a:ext cx="120482" cy="120482"/>
              <a:chOff x="0" y="0"/>
              <a:chExt cx="812800" cy="812800"/>
            </a:xfrm>
          </p:grpSpPr>
          <p:sp>
            <p:nvSpPr>
              <p:cNvPr id="164" name="Freeform 16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65" name="TextBox 16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6" name="Group 166"/>
            <p:cNvGrpSpPr/>
            <p:nvPr/>
          </p:nvGrpSpPr>
          <p:grpSpPr>
            <a:xfrm>
              <a:off x="925582" y="282923"/>
              <a:ext cx="120482" cy="120482"/>
              <a:chOff x="0" y="0"/>
              <a:chExt cx="812800" cy="812800"/>
            </a:xfrm>
          </p:grpSpPr>
          <p:sp>
            <p:nvSpPr>
              <p:cNvPr id="167" name="Freeform 16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68" name="TextBox 16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9" name="Group 169"/>
            <p:cNvGrpSpPr/>
            <p:nvPr/>
          </p:nvGrpSpPr>
          <p:grpSpPr>
            <a:xfrm>
              <a:off x="617055" y="282923"/>
              <a:ext cx="120482" cy="120482"/>
              <a:chOff x="0" y="0"/>
              <a:chExt cx="812800" cy="812800"/>
            </a:xfrm>
          </p:grpSpPr>
          <p:sp>
            <p:nvSpPr>
              <p:cNvPr id="170" name="Freeform 17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71" name="TextBox 17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2" name="Group 172"/>
            <p:cNvGrpSpPr/>
            <p:nvPr/>
          </p:nvGrpSpPr>
          <p:grpSpPr>
            <a:xfrm>
              <a:off x="1542637" y="282923"/>
              <a:ext cx="120482" cy="120482"/>
              <a:chOff x="0" y="0"/>
              <a:chExt cx="812800" cy="812800"/>
            </a:xfrm>
          </p:grpSpPr>
          <p:sp>
            <p:nvSpPr>
              <p:cNvPr id="173" name="Freeform 17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74" name="TextBox 17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5" name="Group 175"/>
            <p:cNvGrpSpPr/>
            <p:nvPr/>
          </p:nvGrpSpPr>
          <p:grpSpPr>
            <a:xfrm>
              <a:off x="1234109" y="282923"/>
              <a:ext cx="120482" cy="120482"/>
              <a:chOff x="0" y="0"/>
              <a:chExt cx="812800" cy="812800"/>
            </a:xfrm>
          </p:grpSpPr>
          <p:sp>
            <p:nvSpPr>
              <p:cNvPr id="176" name="Freeform 17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77" name="TextBox 17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8" name="Group 178"/>
            <p:cNvGrpSpPr/>
            <p:nvPr/>
          </p:nvGrpSpPr>
          <p:grpSpPr>
            <a:xfrm>
              <a:off x="2159691" y="282923"/>
              <a:ext cx="120482" cy="120482"/>
              <a:chOff x="0" y="0"/>
              <a:chExt cx="812800" cy="812800"/>
            </a:xfrm>
          </p:grpSpPr>
          <p:sp>
            <p:nvSpPr>
              <p:cNvPr id="179" name="Freeform 17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80" name="TextBox 18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1" name="Group 181"/>
            <p:cNvGrpSpPr/>
            <p:nvPr/>
          </p:nvGrpSpPr>
          <p:grpSpPr>
            <a:xfrm>
              <a:off x="1851164" y="282923"/>
              <a:ext cx="120482" cy="120482"/>
              <a:chOff x="0" y="0"/>
              <a:chExt cx="812800" cy="812800"/>
            </a:xfrm>
          </p:grpSpPr>
          <p:sp>
            <p:nvSpPr>
              <p:cNvPr id="182" name="Freeform 18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83" name="TextBox 18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4" name="Group 184"/>
            <p:cNvGrpSpPr/>
            <p:nvPr/>
          </p:nvGrpSpPr>
          <p:grpSpPr>
            <a:xfrm>
              <a:off x="308527" y="565845"/>
              <a:ext cx="120482" cy="120482"/>
              <a:chOff x="0" y="0"/>
              <a:chExt cx="812800" cy="812800"/>
            </a:xfrm>
          </p:grpSpPr>
          <p:sp>
            <p:nvSpPr>
              <p:cNvPr id="185" name="Freeform 18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86" name="TextBox 18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7" name="Group 187"/>
            <p:cNvGrpSpPr/>
            <p:nvPr/>
          </p:nvGrpSpPr>
          <p:grpSpPr>
            <a:xfrm>
              <a:off x="0" y="565845"/>
              <a:ext cx="120482" cy="120482"/>
              <a:chOff x="0" y="0"/>
              <a:chExt cx="812800" cy="812800"/>
            </a:xfrm>
          </p:grpSpPr>
          <p:sp>
            <p:nvSpPr>
              <p:cNvPr id="188" name="Freeform 18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89" name="TextBox 18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0" name="Group 190"/>
            <p:cNvGrpSpPr/>
            <p:nvPr/>
          </p:nvGrpSpPr>
          <p:grpSpPr>
            <a:xfrm>
              <a:off x="925582" y="565845"/>
              <a:ext cx="120482" cy="120482"/>
              <a:chOff x="0" y="0"/>
              <a:chExt cx="812800" cy="812800"/>
            </a:xfrm>
          </p:grpSpPr>
          <p:sp>
            <p:nvSpPr>
              <p:cNvPr id="191" name="Freeform 19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92" name="TextBox 19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3" name="Group 193"/>
            <p:cNvGrpSpPr/>
            <p:nvPr/>
          </p:nvGrpSpPr>
          <p:grpSpPr>
            <a:xfrm>
              <a:off x="617055" y="565845"/>
              <a:ext cx="120482" cy="120482"/>
              <a:chOff x="0" y="0"/>
              <a:chExt cx="812800" cy="812800"/>
            </a:xfrm>
          </p:grpSpPr>
          <p:sp>
            <p:nvSpPr>
              <p:cNvPr id="194" name="Freeform 19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95" name="TextBox 19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6" name="Group 196"/>
            <p:cNvGrpSpPr/>
            <p:nvPr/>
          </p:nvGrpSpPr>
          <p:grpSpPr>
            <a:xfrm>
              <a:off x="1542637" y="565845"/>
              <a:ext cx="120482" cy="120482"/>
              <a:chOff x="0" y="0"/>
              <a:chExt cx="812800" cy="812800"/>
            </a:xfrm>
          </p:grpSpPr>
          <p:sp>
            <p:nvSpPr>
              <p:cNvPr id="197" name="Freeform 19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98" name="TextBox 19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9" name="Group 199"/>
            <p:cNvGrpSpPr/>
            <p:nvPr/>
          </p:nvGrpSpPr>
          <p:grpSpPr>
            <a:xfrm>
              <a:off x="1234109" y="565845"/>
              <a:ext cx="120482" cy="120482"/>
              <a:chOff x="0" y="0"/>
              <a:chExt cx="812800" cy="812800"/>
            </a:xfrm>
          </p:grpSpPr>
          <p:sp>
            <p:nvSpPr>
              <p:cNvPr id="200" name="Freeform 20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01" name="TextBox 20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2" name="Group 202"/>
            <p:cNvGrpSpPr/>
            <p:nvPr/>
          </p:nvGrpSpPr>
          <p:grpSpPr>
            <a:xfrm>
              <a:off x="2159691" y="565845"/>
              <a:ext cx="120482" cy="120482"/>
              <a:chOff x="0" y="0"/>
              <a:chExt cx="812800" cy="812800"/>
            </a:xfrm>
          </p:grpSpPr>
          <p:sp>
            <p:nvSpPr>
              <p:cNvPr id="203" name="Freeform 20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04" name="TextBox 20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5" name="Group 205"/>
            <p:cNvGrpSpPr/>
            <p:nvPr/>
          </p:nvGrpSpPr>
          <p:grpSpPr>
            <a:xfrm>
              <a:off x="1851164" y="565845"/>
              <a:ext cx="120482" cy="120482"/>
              <a:chOff x="0" y="0"/>
              <a:chExt cx="812800" cy="812800"/>
            </a:xfrm>
          </p:grpSpPr>
          <p:sp>
            <p:nvSpPr>
              <p:cNvPr id="206" name="Freeform 20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07" name="TextBox 20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8" name="Group 208"/>
            <p:cNvGrpSpPr/>
            <p:nvPr/>
          </p:nvGrpSpPr>
          <p:grpSpPr>
            <a:xfrm>
              <a:off x="308527" y="848768"/>
              <a:ext cx="120482" cy="120482"/>
              <a:chOff x="0" y="0"/>
              <a:chExt cx="812800" cy="812800"/>
            </a:xfrm>
          </p:grpSpPr>
          <p:sp>
            <p:nvSpPr>
              <p:cNvPr id="209" name="Freeform 20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10" name="TextBox 21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1" name="Group 211"/>
            <p:cNvGrpSpPr/>
            <p:nvPr/>
          </p:nvGrpSpPr>
          <p:grpSpPr>
            <a:xfrm>
              <a:off x="0" y="848768"/>
              <a:ext cx="120482" cy="120482"/>
              <a:chOff x="0" y="0"/>
              <a:chExt cx="812800" cy="812800"/>
            </a:xfrm>
          </p:grpSpPr>
          <p:sp>
            <p:nvSpPr>
              <p:cNvPr id="212" name="Freeform 2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13" name="TextBox 21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4" name="Group 214"/>
            <p:cNvGrpSpPr/>
            <p:nvPr/>
          </p:nvGrpSpPr>
          <p:grpSpPr>
            <a:xfrm>
              <a:off x="925582" y="848768"/>
              <a:ext cx="120482" cy="120482"/>
              <a:chOff x="0" y="0"/>
              <a:chExt cx="812800" cy="812800"/>
            </a:xfrm>
          </p:grpSpPr>
          <p:sp>
            <p:nvSpPr>
              <p:cNvPr id="215" name="Freeform 2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16" name="TextBox 21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7" name="Group 217"/>
            <p:cNvGrpSpPr/>
            <p:nvPr/>
          </p:nvGrpSpPr>
          <p:grpSpPr>
            <a:xfrm>
              <a:off x="617055" y="848768"/>
              <a:ext cx="120482" cy="120482"/>
              <a:chOff x="0" y="0"/>
              <a:chExt cx="812800" cy="812800"/>
            </a:xfrm>
          </p:grpSpPr>
          <p:sp>
            <p:nvSpPr>
              <p:cNvPr id="218" name="Freeform 2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19" name="TextBox 21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0" name="Group 220"/>
            <p:cNvGrpSpPr/>
            <p:nvPr/>
          </p:nvGrpSpPr>
          <p:grpSpPr>
            <a:xfrm>
              <a:off x="1542637" y="848768"/>
              <a:ext cx="120482" cy="120482"/>
              <a:chOff x="0" y="0"/>
              <a:chExt cx="812800" cy="812800"/>
            </a:xfrm>
          </p:grpSpPr>
          <p:sp>
            <p:nvSpPr>
              <p:cNvPr id="221" name="Freeform 2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22" name="TextBox 22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3" name="Group 223"/>
            <p:cNvGrpSpPr/>
            <p:nvPr/>
          </p:nvGrpSpPr>
          <p:grpSpPr>
            <a:xfrm>
              <a:off x="1234109" y="848768"/>
              <a:ext cx="120482" cy="120482"/>
              <a:chOff x="0" y="0"/>
              <a:chExt cx="812800" cy="812800"/>
            </a:xfrm>
          </p:grpSpPr>
          <p:sp>
            <p:nvSpPr>
              <p:cNvPr id="224" name="Freeform 2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25" name="TextBox 22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6" name="Group 226"/>
            <p:cNvGrpSpPr/>
            <p:nvPr/>
          </p:nvGrpSpPr>
          <p:grpSpPr>
            <a:xfrm>
              <a:off x="2159691" y="848768"/>
              <a:ext cx="120482" cy="120482"/>
              <a:chOff x="0" y="0"/>
              <a:chExt cx="812800" cy="812800"/>
            </a:xfrm>
          </p:grpSpPr>
          <p:sp>
            <p:nvSpPr>
              <p:cNvPr id="227" name="Freeform 2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28" name="TextBox 22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9" name="Group 229"/>
            <p:cNvGrpSpPr/>
            <p:nvPr/>
          </p:nvGrpSpPr>
          <p:grpSpPr>
            <a:xfrm>
              <a:off x="1851164" y="848768"/>
              <a:ext cx="120482" cy="120482"/>
              <a:chOff x="0" y="0"/>
              <a:chExt cx="812800" cy="812800"/>
            </a:xfrm>
          </p:grpSpPr>
          <p:sp>
            <p:nvSpPr>
              <p:cNvPr id="230" name="Freeform 2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31" name="TextBox 23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2" name="Group 232"/>
            <p:cNvGrpSpPr/>
            <p:nvPr/>
          </p:nvGrpSpPr>
          <p:grpSpPr>
            <a:xfrm>
              <a:off x="308527" y="1131691"/>
              <a:ext cx="120482" cy="120482"/>
              <a:chOff x="0" y="0"/>
              <a:chExt cx="812800" cy="812800"/>
            </a:xfrm>
          </p:grpSpPr>
          <p:sp>
            <p:nvSpPr>
              <p:cNvPr id="233" name="Freeform 2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34" name="TextBox 23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5" name="Group 235"/>
            <p:cNvGrpSpPr/>
            <p:nvPr/>
          </p:nvGrpSpPr>
          <p:grpSpPr>
            <a:xfrm>
              <a:off x="0" y="1131691"/>
              <a:ext cx="120482" cy="120482"/>
              <a:chOff x="0" y="0"/>
              <a:chExt cx="812800" cy="812800"/>
            </a:xfrm>
          </p:grpSpPr>
          <p:sp>
            <p:nvSpPr>
              <p:cNvPr id="236" name="Freeform 2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37" name="TextBox 23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8" name="Group 238"/>
            <p:cNvGrpSpPr/>
            <p:nvPr/>
          </p:nvGrpSpPr>
          <p:grpSpPr>
            <a:xfrm>
              <a:off x="925582" y="1131691"/>
              <a:ext cx="120482" cy="120482"/>
              <a:chOff x="0" y="0"/>
              <a:chExt cx="812800" cy="812800"/>
            </a:xfrm>
          </p:grpSpPr>
          <p:sp>
            <p:nvSpPr>
              <p:cNvPr id="239" name="Freeform 2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40" name="TextBox 24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1" name="Group 241"/>
            <p:cNvGrpSpPr/>
            <p:nvPr/>
          </p:nvGrpSpPr>
          <p:grpSpPr>
            <a:xfrm>
              <a:off x="617055" y="1131691"/>
              <a:ext cx="120482" cy="120482"/>
              <a:chOff x="0" y="0"/>
              <a:chExt cx="812800" cy="812800"/>
            </a:xfrm>
          </p:grpSpPr>
          <p:sp>
            <p:nvSpPr>
              <p:cNvPr id="242" name="Freeform 24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43" name="TextBox 24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4" name="Group 244"/>
            <p:cNvGrpSpPr/>
            <p:nvPr/>
          </p:nvGrpSpPr>
          <p:grpSpPr>
            <a:xfrm>
              <a:off x="1542637" y="1131691"/>
              <a:ext cx="120482" cy="120482"/>
              <a:chOff x="0" y="0"/>
              <a:chExt cx="812800" cy="812800"/>
            </a:xfrm>
          </p:grpSpPr>
          <p:sp>
            <p:nvSpPr>
              <p:cNvPr id="245" name="Freeform 24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46" name="TextBox 24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7" name="Group 247"/>
            <p:cNvGrpSpPr/>
            <p:nvPr/>
          </p:nvGrpSpPr>
          <p:grpSpPr>
            <a:xfrm>
              <a:off x="1234109" y="1131691"/>
              <a:ext cx="120482" cy="120482"/>
              <a:chOff x="0" y="0"/>
              <a:chExt cx="812800" cy="812800"/>
            </a:xfrm>
          </p:grpSpPr>
          <p:sp>
            <p:nvSpPr>
              <p:cNvPr id="248" name="Freeform 24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49" name="TextBox 24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50" name="Group 250"/>
            <p:cNvGrpSpPr/>
            <p:nvPr/>
          </p:nvGrpSpPr>
          <p:grpSpPr>
            <a:xfrm>
              <a:off x="2159691" y="1131691"/>
              <a:ext cx="120482" cy="120482"/>
              <a:chOff x="0" y="0"/>
              <a:chExt cx="812800" cy="812800"/>
            </a:xfrm>
          </p:grpSpPr>
          <p:sp>
            <p:nvSpPr>
              <p:cNvPr id="251" name="Freeform 25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52" name="TextBox 25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53" name="Group 253"/>
            <p:cNvGrpSpPr/>
            <p:nvPr/>
          </p:nvGrpSpPr>
          <p:grpSpPr>
            <a:xfrm>
              <a:off x="1851164" y="1131691"/>
              <a:ext cx="120482" cy="120482"/>
              <a:chOff x="0" y="0"/>
              <a:chExt cx="812800" cy="812800"/>
            </a:xfrm>
          </p:grpSpPr>
          <p:sp>
            <p:nvSpPr>
              <p:cNvPr id="254" name="Freeform 25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55" name="TextBox 25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18571" tIns="18571" rIns="18571" bIns="18571" rtlCol="0" anchor="ctr"/>
              <a:lstStyle/>
              <a:p>
                <a:pPr algn="ctr">
                  <a:lnSpc>
                    <a:spcPts val="1999"/>
                  </a:lnSpc>
                </a:pPr>
                <a:endParaRPr sz="1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pic>
        <p:nvPicPr>
          <p:cNvPr id="272" name="图片 271">
            <a:extLst>
              <a:ext uri="{FF2B5EF4-FFF2-40B4-BE49-F238E27FC236}">
                <a16:creationId xmlns:a16="http://schemas.microsoft.com/office/drawing/2014/main" id="{343C0833-3841-D914-BAA5-4879BD10E93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1616" y="184638"/>
            <a:ext cx="950785" cy="950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实验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7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NAT</a:t>
            </a:r>
            <a:r>
              <a:rPr lang="zh-CN" altLang="zh-CN" dirty="0"/>
              <a:t>地址转换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zh-CN" dirty="0"/>
              <a:t>实验目标</a:t>
            </a:r>
          </a:p>
          <a:p>
            <a:pPr marL="457200" lvl="1" indent="0" latinLnBrk="1">
              <a:buNone/>
            </a:pPr>
            <a:r>
              <a:rPr lang="zh-CN" altLang="zh-CN" dirty="0"/>
              <a:t>本实验的目的是让学生了解和掌握</a:t>
            </a:r>
            <a:r>
              <a:rPr lang="en-US" altLang="zh-CN" dirty="0"/>
              <a:t>NAT</a:t>
            </a:r>
            <a:r>
              <a:rPr lang="zh-CN" altLang="zh-CN" dirty="0"/>
              <a:t>的概念和配置方法。本实验使用</a:t>
            </a:r>
            <a:r>
              <a:rPr lang="en-US" altLang="zh-CN" dirty="0"/>
              <a:t>Cisco Packet Tracer</a:t>
            </a:r>
            <a:r>
              <a:rPr lang="zh-CN" altLang="zh-CN" dirty="0"/>
              <a:t>软件作为实验平台，模拟在一个局域网中的网关路由器上配置</a:t>
            </a:r>
            <a:r>
              <a:rPr lang="en-US" altLang="zh-CN" dirty="0"/>
              <a:t>NAT</a:t>
            </a:r>
            <a:r>
              <a:rPr lang="zh-CN" altLang="zh-CN" dirty="0"/>
              <a:t>的过程。</a:t>
            </a:r>
          </a:p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zh-CN" dirty="0"/>
              <a:t>实验平台</a:t>
            </a:r>
          </a:p>
          <a:p>
            <a:pPr marL="457200" lvl="1" indent="0">
              <a:buNone/>
            </a:pPr>
            <a:r>
              <a:rPr lang="en-US" altLang="zh-CN" dirty="0"/>
              <a:t>Packet Tracer</a:t>
            </a:r>
            <a:r>
              <a:rPr lang="zh-CN" altLang="zh-CN" dirty="0"/>
              <a:t>环境配置：</a:t>
            </a:r>
            <a:r>
              <a:rPr lang="en-US" altLang="zh-CN" dirty="0"/>
              <a:t>Windows 11</a:t>
            </a:r>
            <a:r>
              <a:rPr lang="zh-CN" altLang="zh-CN" dirty="0"/>
              <a:t>（任何可以安装</a:t>
            </a:r>
            <a:r>
              <a:rPr lang="en-US" altLang="zh-CN" dirty="0"/>
              <a:t>Cisco Packet Tracer</a:t>
            </a:r>
            <a:r>
              <a:rPr lang="zh-CN" altLang="zh-CN" dirty="0"/>
              <a:t>的平台均可以完成）。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3.</a:t>
            </a:r>
            <a:r>
              <a:rPr lang="zh-CN" altLang="zh-CN" dirty="0"/>
              <a:t>实验工具</a:t>
            </a:r>
          </a:p>
          <a:p>
            <a:pPr marL="457200" lvl="1" indent="0">
              <a:buNone/>
            </a:pPr>
            <a:r>
              <a:rPr lang="en-US" altLang="zh-CN" dirty="0"/>
              <a:t>Cisco Packet Tracer 8.2.1</a:t>
            </a:r>
            <a:endParaRPr lang="zh-CN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7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NAT</a:t>
            </a:r>
            <a:r>
              <a:rPr lang="zh-CN" altLang="zh-CN" dirty="0"/>
              <a:t>地址转换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4.</a:t>
            </a:r>
            <a:r>
              <a:rPr lang="zh-CN" altLang="zh-CN" dirty="0"/>
              <a:t>本实验通过在</a:t>
            </a:r>
            <a:r>
              <a:rPr lang="en-US" altLang="zh-CN" dirty="0"/>
              <a:t>Packet Tracer</a:t>
            </a:r>
            <a:r>
              <a:rPr lang="zh-CN" altLang="zh-CN" dirty="0"/>
              <a:t>中模拟配置</a:t>
            </a:r>
            <a:r>
              <a:rPr lang="en-US" altLang="zh-CN" dirty="0"/>
              <a:t>NAT</a:t>
            </a:r>
            <a:r>
              <a:rPr lang="zh-CN" altLang="zh-CN" dirty="0"/>
              <a:t>三种不同的方式，了解</a:t>
            </a:r>
            <a:r>
              <a:rPr lang="en-US" altLang="zh-CN" dirty="0"/>
              <a:t>NAT</a:t>
            </a:r>
            <a:r>
              <a:rPr lang="zh-CN" altLang="zh-CN" dirty="0"/>
              <a:t>的工作原理。实验步骤如下：</a:t>
            </a:r>
          </a:p>
          <a:p>
            <a:pPr marL="457200" lvl="1" indent="0">
              <a:buNone/>
            </a:pPr>
            <a:r>
              <a:rPr lang="zh-CN" altLang="zh-CN" dirty="0"/>
              <a:t>第一步：实验环境搭建；</a:t>
            </a:r>
          </a:p>
          <a:p>
            <a:pPr marL="457200" lvl="1" indent="0">
              <a:buNone/>
            </a:pPr>
            <a:r>
              <a:rPr lang="zh-CN" altLang="zh-CN" dirty="0"/>
              <a:t>第二步：</a:t>
            </a:r>
            <a:r>
              <a:rPr lang="en-US" altLang="zh-CN" dirty="0"/>
              <a:t>NAT</a:t>
            </a:r>
            <a:r>
              <a:rPr lang="zh-CN" altLang="zh-CN" dirty="0"/>
              <a:t>配置</a:t>
            </a:r>
          </a:p>
          <a:p>
            <a:pPr lvl="2"/>
            <a:r>
              <a:rPr lang="zh-CN" altLang="zh-CN" dirty="0"/>
              <a:t>静态NAT配置；</a:t>
            </a:r>
          </a:p>
          <a:p>
            <a:pPr lvl="2"/>
            <a:r>
              <a:rPr lang="zh-CN" altLang="zh-CN" dirty="0"/>
              <a:t>动态NAT配置；</a:t>
            </a:r>
          </a:p>
          <a:p>
            <a:pPr lvl="2"/>
            <a:r>
              <a:rPr lang="zh-CN" altLang="zh-CN" dirty="0"/>
              <a:t>PAT的配置。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7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NAT</a:t>
            </a:r>
            <a:r>
              <a:rPr lang="zh-CN" altLang="zh-CN" dirty="0"/>
              <a:t>地址转换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dirty="0"/>
              <a:t>1．实验环境搭建</a:t>
            </a:r>
          </a:p>
          <a:p>
            <a:pPr lvl="1"/>
            <a:r>
              <a:rPr lang="zh-CN" altLang="zh-CN" dirty="0"/>
              <a:t>启动</a:t>
            </a:r>
            <a:r>
              <a:rPr lang="en-US" altLang="zh-CN" dirty="0"/>
              <a:t>Packet Tracer</a:t>
            </a:r>
            <a:r>
              <a:rPr lang="zh-CN" altLang="zh-CN" dirty="0"/>
              <a:t>软件，从左下角的设备框中，拖拽</a:t>
            </a:r>
            <a:r>
              <a:rPr lang="en-US" altLang="zh-CN" dirty="0"/>
              <a:t>2</a:t>
            </a:r>
            <a:r>
              <a:rPr lang="zh-CN" altLang="zh-CN" dirty="0"/>
              <a:t>台</a:t>
            </a:r>
            <a:r>
              <a:rPr lang="en-US" altLang="zh-CN" dirty="0"/>
              <a:t>Router-PT</a:t>
            </a:r>
            <a:r>
              <a:rPr lang="zh-CN" altLang="zh-CN" dirty="0"/>
              <a:t>路由器、</a:t>
            </a:r>
            <a:r>
              <a:rPr lang="en-US" altLang="zh-CN" dirty="0"/>
              <a:t>2</a:t>
            </a:r>
            <a:r>
              <a:rPr lang="zh-CN" altLang="zh-CN" dirty="0"/>
              <a:t>台</a:t>
            </a:r>
            <a:r>
              <a:rPr lang="en-US" altLang="zh-CN" dirty="0"/>
              <a:t>2960-24TT</a:t>
            </a:r>
            <a:r>
              <a:rPr lang="zh-CN" altLang="zh-CN" dirty="0"/>
              <a:t>交换机和</a:t>
            </a:r>
            <a:r>
              <a:rPr lang="en-US" altLang="zh-CN" dirty="0"/>
              <a:t>3</a:t>
            </a:r>
            <a:r>
              <a:rPr lang="zh-CN" altLang="zh-CN" dirty="0"/>
              <a:t>台主机到工作区，路由器之间用</a:t>
            </a:r>
            <a:r>
              <a:rPr lang="en-US" altLang="zh-CN" dirty="0"/>
              <a:t>DEC</a:t>
            </a:r>
            <a:r>
              <a:rPr lang="zh-CN" altLang="zh-CN" dirty="0"/>
              <a:t>型串行线连接，主机与交换机、交换机与路由器之间用直连线连接，</a:t>
            </a:r>
            <a:r>
              <a:rPr lang="en-US" altLang="zh-CN" dirty="0"/>
              <a:t>PC2</a:t>
            </a:r>
            <a:r>
              <a:rPr lang="zh-CN" altLang="zh-CN" dirty="0"/>
              <a:t>与</a:t>
            </a:r>
            <a:r>
              <a:rPr lang="en-US" altLang="zh-CN" dirty="0"/>
              <a:t>Router1</a:t>
            </a:r>
            <a:r>
              <a:rPr lang="zh-CN" altLang="zh-CN" dirty="0"/>
              <a:t>之间用交叉线连接</a:t>
            </a:r>
          </a:p>
        </p:txBody>
      </p:sp>
      <p:pic>
        <p:nvPicPr>
          <p:cNvPr id="4" name="图片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7914" y="4082528"/>
            <a:ext cx="6763497" cy="2340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7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NAT</a:t>
            </a:r>
            <a:r>
              <a:rPr lang="zh-CN" altLang="zh-CN" dirty="0"/>
              <a:t>地址转换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dirty="0"/>
              <a:t>1．实验环境搭建</a:t>
            </a:r>
          </a:p>
          <a:p>
            <a:pPr lvl="1"/>
            <a:r>
              <a:rPr lang="zh-CN" altLang="zh-CN" dirty="0"/>
              <a:t>在拓扑结构图中，双击</a:t>
            </a:r>
            <a:r>
              <a:rPr lang="en-US" altLang="zh-CN" dirty="0"/>
              <a:t>PC0</a:t>
            </a:r>
            <a:r>
              <a:rPr lang="zh-CN" altLang="zh-CN" dirty="0"/>
              <a:t>主机图标，进入其配置页面，选择</a:t>
            </a:r>
            <a:r>
              <a:rPr lang="en-US" altLang="zh-CN" dirty="0"/>
              <a:t>“</a:t>
            </a:r>
            <a:r>
              <a:rPr lang="zh-CN" altLang="zh-CN" dirty="0"/>
              <a:t>桌面</a:t>
            </a:r>
            <a:r>
              <a:rPr lang="en-US" altLang="zh-CN" dirty="0"/>
              <a:t>”</a:t>
            </a:r>
            <a:r>
              <a:rPr lang="zh-CN" altLang="zh-CN" dirty="0"/>
              <a:t>选项卡下的</a:t>
            </a:r>
            <a:r>
              <a:rPr lang="en-US" altLang="zh-CN" dirty="0"/>
              <a:t>“IP</a:t>
            </a:r>
            <a:r>
              <a:rPr lang="zh-CN" altLang="zh-CN" dirty="0"/>
              <a:t>配置</a:t>
            </a:r>
            <a:r>
              <a:rPr lang="en-US" altLang="zh-CN" dirty="0"/>
              <a:t>”</a:t>
            </a:r>
            <a:r>
              <a:rPr lang="zh-CN" altLang="zh-CN" dirty="0"/>
              <a:t>按钮，即可为</a:t>
            </a:r>
            <a:r>
              <a:rPr lang="en-US" altLang="zh-CN" dirty="0"/>
              <a:t>PC0</a:t>
            </a:r>
            <a:r>
              <a:rPr lang="zh-CN" altLang="zh-CN" dirty="0"/>
              <a:t>主机设置</a:t>
            </a:r>
            <a:r>
              <a:rPr lang="en-US" altLang="zh-CN" dirty="0"/>
              <a:t>IP</a:t>
            </a:r>
            <a:r>
              <a:rPr lang="zh-CN" altLang="zh-CN" dirty="0"/>
              <a:t>地址。双击</a:t>
            </a:r>
            <a:r>
              <a:rPr lang="en-US" altLang="zh-CN" dirty="0"/>
              <a:t>Router</a:t>
            </a:r>
            <a:r>
              <a:rPr lang="zh-CN" altLang="zh-CN" dirty="0"/>
              <a:t>路由器图标，进入其配置页面，选择</a:t>
            </a:r>
            <a:r>
              <a:rPr lang="en-US" altLang="zh-CN" dirty="0"/>
              <a:t>“</a:t>
            </a:r>
            <a:r>
              <a:rPr lang="zh-CN" altLang="zh-CN" dirty="0"/>
              <a:t>配置</a:t>
            </a:r>
            <a:r>
              <a:rPr lang="en-US" altLang="zh-CN" dirty="0"/>
              <a:t>”</a:t>
            </a:r>
            <a:r>
              <a:rPr lang="zh-CN" altLang="zh-CN" dirty="0"/>
              <a:t>选项卡，对</a:t>
            </a:r>
            <a:r>
              <a:rPr lang="en-US" altLang="zh-CN" dirty="0"/>
              <a:t>FastEthernet0/0</a:t>
            </a:r>
            <a:r>
              <a:rPr lang="zh-CN" altLang="zh-CN" dirty="0"/>
              <a:t>接口进行</a:t>
            </a:r>
            <a:r>
              <a:rPr lang="en-US" altLang="zh-CN" dirty="0"/>
              <a:t>IP</a:t>
            </a:r>
            <a:r>
              <a:rPr lang="zh-CN" altLang="zh-CN" dirty="0"/>
              <a:t>地址配置，同时确保该接口的端口状态为</a:t>
            </a:r>
            <a:r>
              <a:rPr lang="en-US" altLang="zh-CN" dirty="0"/>
              <a:t>“</a:t>
            </a:r>
            <a:r>
              <a:rPr lang="zh-CN" altLang="zh-CN" dirty="0"/>
              <a:t>开启</a:t>
            </a:r>
            <a:r>
              <a:rPr lang="en-US" altLang="zh-CN" dirty="0"/>
              <a:t>”</a:t>
            </a:r>
            <a:r>
              <a:rPr lang="zh-CN" altLang="zh-CN" dirty="0"/>
              <a:t>。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259543" y="4120029"/>
          <a:ext cx="9959785" cy="22910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95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9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997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0312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</a:rPr>
                        <a:t>设备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</a:rPr>
                        <a:t>接口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IP</a:t>
                      </a:r>
                      <a:r>
                        <a:rPr lang="zh-CN" sz="1400" kern="100">
                          <a:effectLst/>
                        </a:rPr>
                        <a:t>地址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</a:rPr>
                        <a:t>子网掩码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</a:rPr>
                        <a:t>默认网关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0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PC0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Fa0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192.168.1.2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255.255.255.0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192.168.1.1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0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PC1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Fa0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192.168.1.3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255.255.255.0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192.168.1.1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09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PC2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Fa0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211.211.211.2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255.255.255.0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211.211.211.1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094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Router0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Fa0/0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192.168.1.1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255.255.255.0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N/A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09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Se2/0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200.1.1.1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255.255.255.0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N/A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094">
                <a:tc row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Router1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Fa0/0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211.211.211.1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255.255.255.0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N/A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09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Se2/0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200.1.1.2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</a:rPr>
                        <a:t>255.255.255.0</a:t>
                      </a:r>
                      <a:endParaRPr lang="zh-CN" sz="1400" kern="10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</a:rPr>
                        <a:t>N/A</a:t>
                      </a:r>
                      <a:endParaRPr lang="zh-CN" sz="1400" kern="100" dirty="0"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22574" marR="22574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7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NAT</a:t>
            </a:r>
            <a:r>
              <a:rPr lang="zh-CN" altLang="zh-CN" dirty="0"/>
              <a:t>地址转换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dirty="0"/>
              <a:t>1．实验环境搭建</a:t>
            </a:r>
          </a:p>
          <a:p>
            <a:pPr lvl="1"/>
            <a:r>
              <a:rPr lang="zh-CN" altLang="zh-CN" dirty="0"/>
              <a:t>广域网路由器之间要用</a:t>
            </a:r>
            <a:r>
              <a:rPr lang="en-US" altLang="zh-CN" dirty="0"/>
              <a:t>DTE</a:t>
            </a:r>
            <a:r>
              <a:rPr lang="zh-CN" altLang="zh-CN" dirty="0"/>
              <a:t>型串行线连接串行口（如果路由器没有串行口，需要安装</a:t>
            </a:r>
            <a:r>
              <a:rPr lang="en-US" altLang="zh-CN" dirty="0"/>
              <a:t>NM-4A/S</a:t>
            </a:r>
            <a:r>
              <a:rPr lang="zh-CN" altLang="zh-CN" dirty="0"/>
              <a:t>模块才能使用）。连接接口的选择可以灵活变化，但是要注意记录各设备之间的端口对应关系，在后续的配置中要根据实际的接口号进行修改。</a:t>
            </a:r>
          </a:p>
        </p:txBody>
      </p:sp>
      <p:pic>
        <p:nvPicPr>
          <p:cNvPr id="5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9375" y="3632200"/>
            <a:ext cx="4427071" cy="2714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7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NAT</a:t>
            </a:r>
            <a:r>
              <a:rPr lang="zh-CN" altLang="zh-CN" dirty="0"/>
              <a:t>地址转换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30300"/>
            <a:ext cx="5435600" cy="50038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zh-CN" dirty="0"/>
              <a:t>. NAT配置</a:t>
            </a:r>
          </a:p>
          <a:p>
            <a:pPr marL="0" indent="0">
              <a:buNone/>
            </a:pPr>
            <a:r>
              <a:rPr lang="zh-CN" altLang="zh-CN" dirty="0"/>
              <a:t>（1）配置静态NAT</a:t>
            </a:r>
          </a:p>
          <a:p>
            <a:pPr marL="457200" lvl="1" indent="0">
              <a:buNone/>
            </a:pPr>
            <a:r>
              <a:rPr lang="zh-CN" altLang="zh-CN" dirty="0"/>
              <a:t>点击</a:t>
            </a:r>
            <a:r>
              <a:rPr lang="en-US" altLang="zh-CN" dirty="0"/>
              <a:t>Router0</a:t>
            </a:r>
            <a:r>
              <a:rPr lang="zh-CN" altLang="zh-CN" dirty="0"/>
              <a:t>图标，进入其配置页面。然后选择</a:t>
            </a:r>
            <a:r>
              <a:rPr lang="en-US" altLang="zh-CN" dirty="0"/>
              <a:t>CLI</a:t>
            </a:r>
            <a:r>
              <a:rPr lang="zh-CN" altLang="zh-CN" dirty="0"/>
              <a:t>面板，切换到全局配置模式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zh-CN" dirty="0"/>
              <a:t>在完成静态</a:t>
            </a:r>
            <a:r>
              <a:rPr lang="en-US" altLang="zh-CN" dirty="0"/>
              <a:t>NAT</a:t>
            </a:r>
            <a:r>
              <a:rPr lang="zh-CN" altLang="zh-CN" dirty="0"/>
              <a:t>的配置后，需要打开</a:t>
            </a:r>
            <a:r>
              <a:rPr lang="en-US" altLang="zh-CN" dirty="0"/>
              <a:t>PC0</a:t>
            </a:r>
            <a:r>
              <a:rPr lang="zh-CN" altLang="zh-CN" dirty="0"/>
              <a:t>的</a:t>
            </a:r>
            <a:r>
              <a:rPr lang="en-US" altLang="zh-CN" dirty="0"/>
              <a:t>Command Prompt</a:t>
            </a:r>
            <a:r>
              <a:rPr lang="zh-CN" altLang="zh-CN" dirty="0"/>
              <a:t>模拟界面，使用</a:t>
            </a:r>
            <a:r>
              <a:rPr lang="en-US" altLang="zh-CN" dirty="0"/>
              <a:t>ping</a:t>
            </a:r>
            <a:r>
              <a:rPr lang="zh-CN" altLang="zh-CN" dirty="0"/>
              <a:t>命令测试与</a:t>
            </a:r>
            <a:r>
              <a:rPr lang="en-US" altLang="zh-CN" dirty="0"/>
              <a:t>211.211.211.2</a:t>
            </a:r>
            <a:r>
              <a:rPr lang="zh-CN" altLang="zh-CN" dirty="0"/>
              <a:t>地址的网络连通性。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094" y="324301"/>
            <a:ext cx="5654481" cy="4016216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632" y="4459566"/>
            <a:ext cx="5512603" cy="21743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7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NAT</a:t>
            </a:r>
            <a:r>
              <a:rPr lang="zh-CN" altLang="zh-CN" dirty="0"/>
              <a:t>地址转换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30300"/>
            <a:ext cx="11455400" cy="5003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/>
              <a:t>2</a:t>
            </a:r>
            <a:r>
              <a:rPr lang="zh-CN" altLang="zh-CN" sz="2400" dirty="0"/>
              <a:t>. NAT配置</a:t>
            </a:r>
          </a:p>
          <a:p>
            <a:pPr marL="0" indent="0">
              <a:buNone/>
            </a:pPr>
            <a:r>
              <a:rPr lang="zh-CN" altLang="zh-CN" sz="2400" dirty="0"/>
              <a:t>（1）配置静态NAT</a:t>
            </a:r>
          </a:p>
          <a:p>
            <a:pPr marL="457200" lvl="1" indent="0">
              <a:buNone/>
            </a:pPr>
            <a:r>
              <a:rPr lang="zh-CN" altLang="zh-CN" sz="2000" dirty="0"/>
              <a:t>点击</a:t>
            </a:r>
            <a:r>
              <a:rPr lang="en-US" altLang="zh-CN" sz="2000" dirty="0"/>
              <a:t>Router0</a:t>
            </a:r>
            <a:r>
              <a:rPr lang="zh-CN" altLang="zh-CN" sz="2000" dirty="0"/>
              <a:t>图标，进入其配置页面。然后选择</a:t>
            </a:r>
            <a:r>
              <a:rPr lang="en-US" altLang="zh-CN" sz="2000" dirty="0"/>
              <a:t>CLI</a:t>
            </a:r>
            <a:r>
              <a:rPr lang="zh-CN" altLang="zh-CN" sz="2000" dirty="0"/>
              <a:t>面板，切换到全局配置模式。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057" y="3087781"/>
            <a:ext cx="8618071" cy="32221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7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NAT</a:t>
            </a:r>
            <a:r>
              <a:rPr lang="zh-CN" altLang="zh-CN" dirty="0"/>
              <a:t>地址转换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1" y="1130300"/>
            <a:ext cx="4682564" cy="50038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altLang="zh-CN" sz="3400" dirty="0"/>
              <a:t>2</a:t>
            </a:r>
            <a:r>
              <a:rPr lang="zh-CN" altLang="zh-CN" sz="3400" dirty="0"/>
              <a:t>. NAT配置</a:t>
            </a:r>
          </a:p>
          <a:p>
            <a:pPr marL="0" indent="0">
              <a:buNone/>
            </a:pPr>
            <a:r>
              <a:rPr lang="zh-CN" altLang="zh-CN" dirty="0"/>
              <a:t>（2）配置动态NAT</a:t>
            </a:r>
          </a:p>
          <a:p>
            <a:pPr lvl="1"/>
            <a:r>
              <a:rPr lang="zh-CN" altLang="zh-CN" dirty="0"/>
              <a:t>为了进行动态</a:t>
            </a:r>
            <a:r>
              <a:rPr lang="en-US" altLang="zh-CN" dirty="0"/>
              <a:t>NAT</a:t>
            </a:r>
            <a:r>
              <a:rPr lang="zh-CN" altLang="zh-CN" dirty="0"/>
              <a:t>配置，首先需要点击</a:t>
            </a:r>
            <a:r>
              <a:rPr lang="en-US" altLang="zh-CN" dirty="0"/>
              <a:t>Router0</a:t>
            </a:r>
            <a:r>
              <a:rPr lang="zh-CN" altLang="zh-CN" dirty="0"/>
              <a:t>图标，进入其配置页面。然后选择</a:t>
            </a:r>
            <a:r>
              <a:rPr lang="en-US" altLang="zh-CN" dirty="0"/>
              <a:t>CLI</a:t>
            </a:r>
            <a:r>
              <a:rPr lang="zh-CN" altLang="zh-CN" dirty="0"/>
              <a:t>面板，切换到全局配置模式。在完成动态</a:t>
            </a:r>
            <a:r>
              <a:rPr lang="en-US" altLang="zh-CN" dirty="0"/>
              <a:t>NAT</a:t>
            </a:r>
            <a:r>
              <a:rPr lang="zh-CN" altLang="zh-CN" dirty="0"/>
              <a:t>的配置后，需要打开</a:t>
            </a:r>
            <a:r>
              <a:rPr lang="en-US" altLang="zh-CN" dirty="0"/>
              <a:t>PC0</a:t>
            </a:r>
            <a:r>
              <a:rPr lang="zh-CN" altLang="zh-CN" dirty="0"/>
              <a:t>的</a:t>
            </a:r>
            <a:r>
              <a:rPr lang="en-US" altLang="zh-CN" dirty="0" err="1"/>
              <a:t>cmd</a:t>
            </a:r>
            <a:r>
              <a:rPr lang="zh-CN" altLang="zh-CN" dirty="0"/>
              <a:t>模拟界面，使用</a:t>
            </a:r>
            <a:r>
              <a:rPr lang="en-US" altLang="zh-CN" dirty="0"/>
              <a:t>ping</a:t>
            </a:r>
            <a:r>
              <a:rPr lang="zh-CN" altLang="zh-CN" dirty="0"/>
              <a:t>命令测试与</a:t>
            </a:r>
            <a:r>
              <a:rPr lang="en-US" altLang="zh-CN" dirty="0"/>
              <a:t>211.211.211.2</a:t>
            </a:r>
            <a:r>
              <a:rPr lang="zh-CN" altLang="zh-CN" dirty="0"/>
              <a:t>地址的网络连通性。同时，也可以在</a:t>
            </a:r>
            <a:r>
              <a:rPr lang="en-US" altLang="zh-CN" dirty="0"/>
              <a:t>PC1</a:t>
            </a:r>
            <a:r>
              <a:rPr lang="zh-CN" altLang="zh-CN" dirty="0"/>
              <a:t>的</a:t>
            </a:r>
            <a:r>
              <a:rPr lang="en-US" altLang="zh-CN" dirty="0" err="1"/>
              <a:t>cmd</a:t>
            </a:r>
            <a:r>
              <a:rPr lang="zh-CN" altLang="zh-CN" dirty="0"/>
              <a:t>模拟界面，使用相同的</a:t>
            </a:r>
            <a:r>
              <a:rPr lang="en-US" altLang="zh-CN" dirty="0"/>
              <a:t>ping</a:t>
            </a:r>
            <a:r>
              <a:rPr lang="zh-CN" altLang="zh-CN" dirty="0"/>
              <a:t>命令，观察网络连接的情况。</a:t>
            </a:r>
            <a:endParaRPr lang="en-US" altLang="zh-CN" dirty="0"/>
          </a:p>
          <a:p>
            <a:pPr lvl="1"/>
            <a:endParaRPr lang="zh-CN" altLang="zh-CN" sz="16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1234" y="1933751"/>
            <a:ext cx="6849036" cy="29904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cs typeface="+mn-ea"/>
                <a:sym typeface="+mn-lt"/>
              </a:rPr>
              <a:t>实验</a:t>
            </a:r>
            <a:r>
              <a:rPr lang="en-US" altLang="zh-CN" dirty="0">
                <a:cs typeface="+mn-ea"/>
                <a:sym typeface="+mn-lt"/>
              </a:rPr>
              <a:t>7</a:t>
            </a:r>
            <a:r>
              <a:rPr lang="zh-CN" altLang="en-US" dirty="0">
                <a:cs typeface="+mn-ea"/>
                <a:sym typeface="+mn-lt"/>
              </a:rPr>
              <a:t>：</a:t>
            </a:r>
            <a:r>
              <a:rPr lang="en-US" altLang="zh-CN" dirty="0">
                <a:latin typeface="+mj-ea"/>
              </a:rPr>
              <a:t> </a:t>
            </a:r>
            <a:r>
              <a:rPr lang="en-US" altLang="zh-CN" dirty="0"/>
              <a:t>NAT</a:t>
            </a:r>
            <a:r>
              <a:rPr lang="zh-CN" altLang="zh-CN" dirty="0"/>
              <a:t>地址转换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4129" y="1130300"/>
            <a:ext cx="6593541" cy="57814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zh-CN" dirty="0"/>
              <a:t>. NAT配置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zh-CN" dirty="0"/>
              <a:t>（</a:t>
            </a:r>
            <a:r>
              <a:rPr lang="en-US" altLang="zh-CN" dirty="0"/>
              <a:t>3</a:t>
            </a:r>
            <a:r>
              <a:rPr lang="zh-CN" altLang="zh-CN" dirty="0"/>
              <a:t>）配置</a:t>
            </a:r>
            <a:r>
              <a:rPr lang="en-US" altLang="zh-CN" dirty="0"/>
              <a:t>PAT</a:t>
            </a:r>
            <a:endParaRPr lang="zh-CN" altLang="zh-CN" dirty="0"/>
          </a:p>
          <a:p>
            <a:pPr lvl="2"/>
            <a:r>
              <a:rPr lang="zh-CN" altLang="zh-CN" dirty="0"/>
              <a:t>为了进行</a:t>
            </a:r>
            <a:r>
              <a:rPr lang="en-US" altLang="zh-CN" dirty="0"/>
              <a:t>PAT</a:t>
            </a:r>
            <a:r>
              <a:rPr lang="zh-CN" altLang="zh-CN" dirty="0"/>
              <a:t>配置，首先需要在动态</a:t>
            </a:r>
            <a:r>
              <a:rPr lang="en-US" altLang="zh-CN" dirty="0"/>
              <a:t>NAT</a:t>
            </a:r>
            <a:r>
              <a:rPr lang="zh-CN" altLang="zh-CN" dirty="0"/>
              <a:t>配置的基础上，点击</a:t>
            </a:r>
            <a:r>
              <a:rPr lang="en-US" altLang="zh-CN" dirty="0"/>
              <a:t>Router0</a:t>
            </a:r>
            <a:r>
              <a:rPr lang="zh-CN" altLang="zh-CN" dirty="0"/>
              <a:t>图标，进入其配置页面。然后选择</a:t>
            </a:r>
            <a:r>
              <a:rPr lang="en-US" altLang="zh-CN" dirty="0"/>
              <a:t>CLI</a:t>
            </a:r>
            <a:r>
              <a:rPr lang="zh-CN" altLang="zh-CN" dirty="0"/>
              <a:t>面板，切换到全局配置模式。</a:t>
            </a:r>
            <a:endParaRPr lang="en-US" altLang="zh-CN" dirty="0"/>
          </a:p>
          <a:p>
            <a:pPr lvl="2"/>
            <a:r>
              <a:rPr lang="zh-CN" altLang="zh-CN" dirty="0"/>
              <a:t>在完成</a:t>
            </a:r>
            <a:r>
              <a:rPr lang="en-US" altLang="zh-CN" dirty="0"/>
              <a:t>PAT</a:t>
            </a:r>
            <a:r>
              <a:rPr lang="zh-CN" altLang="zh-CN" dirty="0"/>
              <a:t>的配置后，需要打开</a:t>
            </a:r>
            <a:r>
              <a:rPr lang="en-US" altLang="zh-CN" dirty="0"/>
              <a:t>PC0</a:t>
            </a:r>
            <a:r>
              <a:rPr lang="zh-CN" altLang="zh-CN" dirty="0"/>
              <a:t>的</a:t>
            </a:r>
            <a:r>
              <a:rPr lang="en-US" altLang="zh-CN" dirty="0"/>
              <a:t>Command Prompt</a:t>
            </a:r>
            <a:r>
              <a:rPr lang="zh-CN" altLang="zh-CN" dirty="0"/>
              <a:t>模拟界面，使用</a:t>
            </a:r>
            <a:r>
              <a:rPr lang="en-US" altLang="zh-CN" dirty="0"/>
              <a:t>ping</a:t>
            </a:r>
            <a:r>
              <a:rPr lang="zh-CN" altLang="zh-CN" dirty="0"/>
              <a:t>命令测试与</a:t>
            </a:r>
            <a:r>
              <a:rPr lang="en-US" altLang="zh-CN" dirty="0"/>
              <a:t>211.211.211.2</a:t>
            </a:r>
            <a:r>
              <a:rPr lang="zh-CN" altLang="zh-CN" dirty="0"/>
              <a:t>地址的网络连通性。同时，也可以在</a:t>
            </a:r>
            <a:r>
              <a:rPr lang="en-US" altLang="zh-CN" dirty="0"/>
              <a:t>PC1</a:t>
            </a:r>
            <a:r>
              <a:rPr lang="zh-CN" altLang="zh-CN" dirty="0"/>
              <a:t>的</a:t>
            </a:r>
            <a:r>
              <a:rPr lang="en-US" altLang="zh-CN" dirty="0"/>
              <a:t>Command Prompt</a:t>
            </a:r>
            <a:r>
              <a:rPr lang="zh-CN" altLang="zh-CN" dirty="0"/>
              <a:t>模拟界面，使用相同的</a:t>
            </a:r>
            <a:r>
              <a:rPr lang="en-US" altLang="zh-CN" dirty="0"/>
              <a:t>ping</a:t>
            </a:r>
            <a:r>
              <a:rPr lang="zh-CN" altLang="zh-CN" dirty="0"/>
              <a:t>命令，观察网络连接的情况。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543" y="1082489"/>
            <a:ext cx="5388069" cy="15864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回答问题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74700" y="1130300"/>
            <a:ext cx="10092592" cy="50038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sz="1800" b="0" dirty="0"/>
              <a:t>结合本次实验的静态 </a:t>
            </a:r>
            <a:r>
              <a:rPr lang="en-US" altLang="zh-CN" sz="1800" b="0" dirty="0"/>
              <a:t>NAT </a:t>
            </a:r>
            <a:r>
              <a:rPr lang="zh-CN" altLang="en-US" sz="1800" b="0" dirty="0"/>
              <a:t>配置步骤，说明配置静态 </a:t>
            </a:r>
            <a:r>
              <a:rPr lang="en-US" altLang="zh-CN" sz="1800" b="0" dirty="0"/>
              <a:t>NAT </a:t>
            </a:r>
            <a:r>
              <a:rPr lang="zh-CN" altLang="en-US" sz="1800" b="0" dirty="0"/>
              <a:t>时必须完成的两个核心操作（接口配置与地址映射），并简要说明静态 </a:t>
            </a:r>
            <a:r>
              <a:rPr lang="en-US" altLang="zh-CN" sz="1800" b="0" dirty="0"/>
              <a:t>NAT </a:t>
            </a:r>
            <a:r>
              <a:rPr lang="zh-CN" altLang="en-US" sz="1800" b="0" dirty="0"/>
              <a:t>适合用于什么场景？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sz="1800" b="0" dirty="0"/>
              <a:t>对比实验中静态 </a:t>
            </a:r>
            <a:r>
              <a:rPr lang="en-US" altLang="zh-CN" sz="1800" b="0" dirty="0"/>
              <a:t>NAT </a:t>
            </a:r>
            <a:r>
              <a:rPr lang="zh-CN" altLang="en-US" sz="1800" b="0" dirty="0"/>
              <a:t>与动态 </a:t>
            </a:r>
            <a:r>
              <a:rPr lang="en-US" altLang="zh-CN" sz="1800" b="0" dirty="0"/>
              <a:t>NAT </a:t>
            </a:r>
            <a:r>
              <a:rPr lang="zh-CN" altLang="en-US" sz="1800" b="0" dirty="0"/>
              <a:t>的配置过程（如是否使用 </a:t>
            </a:r>
            <a:r>
              <a:rPr lang="en-US" altLang="zh-CN" sz="1800" b="0" dirty="0"/>
              <a:t>ACL</a:t>
            </a:r>
            <a:r>
              <a:rPr lang="zh-CN" altLang="en-US" sz="1800" b="0" dirty="0"/>
              <a:t>、地址池），指出两者在 </a:t>
            </a:r>
            <a:r>
              <a:rPr lang="en-US" altLang="zh-CN" sz="1800" b="0" dirty="0"/>
              <a:t>IP </a:t>
            </a:r>
            <a:r>
              <a:rPr lang="zh-CN" altLang="en-US" sz="1800" b="0" dirty="0"/>
              <a:t>地址分配方式上的核心区别，并说明动态 </a:t>
            </a:r>
            <a:r>
              <a:rPr lang="en-US" altLang="zh-CN" sz="1800" b="0" dirty="0"/>
              <a:t>NAT </a:t>
            </a:r>
            <a:r>
              <a:rPr lang="zh-CN" altLang="en-US" sz="1800" b="0" dirty="0"/>
              <a:t>的地址池在实验中是如何定义的？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en-US" sz="1800" b="0" dirty="0"/>
              <a:t>结合本次实验的网络拓扑（局域网通过 </a:t>
            </a:r>
            <a:r>
              <a:rPr lang="en-US" altLang="zh-CN" sz="1800" b="0" dirty="0"/>
              <a:t>Router0 </a:t>
            </a:r>
            <a:r>
              <a:rPr lang="zh-CN" altLang="en-US" sz="1800" b="0" dirty="0"/>
              <a:t>访问外部 </a:t>
            </a:r>
            <a:r>
              <a:rPr lang="en-US" altLang="zh-CN" sz="1800" b="0" dirty="0"/>
              <a:t>PC2</a:t>
            </a:r>
            <a:r>
              <a:rPr lang="zh-CN" altLang="en-US" sz="1800" b="0" dirty="0"/>
              <a:t>），说明 </a:t>
            </a:r>
            <a:r>
              <a:rPr lang="en-US" altLang="zh-CN" sz="1800" b="0" dirty="0"/>
              <a:t>NAT </a:t>
            </a:r>
            <a:r>
              <a:rPr lang="zh-CN" altLang="en-US" sz="1800" b="0" dirty="0"/>
              <a:t>技术的核心功能是什么？实验中通过 </a:t>
            </a:r>
            <a:r>
              <a:rPr lang="en-US" altLang="zh-CN" sz="1800" b="0" dirty="0"/>
              <a:t>NAT </a:t>
            </a:r>
            <a:r>
              <a:rPr lang="zh-CN" altLang="en-US" sz="1800" b="0" dirty="0"/>
              <a:t>转换，解决了局域网内私有 </a:t>
            </a:r>
            <a:r>
              <a:rPr lang="en-US" altLang="zh-CN" sz="1800" b="0" dirty="0"/>
              <a:t>IP</a:t>
            </a:r>
            <a:r>
              <a:rPr lang="zh-CN" altLang="en-US" sz="1800" b="0" dirty="0"/>
              <a:t>（</a:t>
            </a:r>
            <a:r>
              <a:rPr lang="en-US" altLang="zh-CN" sz="1800" b="0" dirty="0"/>
              <a:t>192.168.1.0 </a:t>
            </a:r>
            <a:r>
              <a:rPr lang="zh-CN" altLang="en-US" sz="1800" b="0" dirty="0"/>
              <a:t>网段）无法直接访问公网的什么问题？</a:t>
            </a:r>
            <a:endParaRPr lang="zh-CN" altLang="zh-CN" sz="1800" b="0" dirty="0"/>
          </a:p>
        </p:txBody>
      </p:sp>
    </p:spTree>
    <p:extLst>
      <p:ext uri="{BB962C8B-B14F-4D97-AF65-F5344CB8AC3E}">
        <p14:creationId xmlns:p14="http://schemas.microsoft.com/office/powerpoint/2010/main" val="33326762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2278.0325459317582,&quot;width&quot;:2278.0325459317582}"/>
</p:tagLst>
</file>

<file path=ppt/theme/theme1.xml><?xml version="1.0" encoding="utf-8"?>
<a:theme xmlns:a="http://schemas.openxmlformats.org/drawingml/2006/main" name="Designed by iSlide">
  <a:themeElements>
    <a:clrScheme name="5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A53078"/>
      </a:accent1>
      <a:accent2>
        <a:srgbClr val="704495"/>
      </a:accent2>
      <a:accent3>
        <a:srgbClr val="6B57A0"/>
      </a:accent3>
      <a:accent4>
        <a:srgbClr val="7580BC"/>
      </a:accent4>
      <a:accent5>
        <a:srgbClr val="7179A9"/>
      </a:accent5>
      <a:accent6>
        <a:srgbClr val="67AAD6"/>
      </a:accent6>
      <a:hlink>
        <a:srgbClr val="0563C1"/>
      </a:hlink>
      <a:folHlink>
        <a:srgbClr val="954F72"/>
      </a:folHlink>
    </a:clrScheme>
    <a:fontScheme name="820aae30-1c87-473b-9be3-a6f0a432e1fb">
      <a:majorFont>
        <a:latin typeface="Comic Sans MS"/>
        <a:ea typeface="微软雅黑"/>
        <a:cs typeface=""/>
      </a:majorFont>
      <a:minorFont>
        <a:latin typeface="Comic Sans MS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2</TotalTime>
  <Words>855</Words>
  <Application>Microsoft Office PowerPoint</Application>
  <PresentationFormat>宽屏</PresentationFormat>
  <Paragraphs>85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等线</vt:lpstr>
      <vt:lpstr>微软雅黑</vt:lpstr>
      <vt:lpstr>Arial</vt:lpstr>
      <vt:lpstr>Calibri</vt:lpstr>
      <vt:lpstr>Comic Sans MS</vt:lpstr>
      <vt:lpstr>Designed by iSlide</vt:lpstr>
      <vt:lpstr>PowerPoint 演示文稿</vt:lpstr>
      <vt:lpstr>实验7： NAT地址转换</vt:lpstr>
      <vt:lpstr>实验7： NAT地址转换</vt:lpstr>
      <vt:lpstr>实验7： NAT地址转换</vt:lpstr>
      <vt:lpstr>实验7： NAT地址转换</vt:lpstr>
      <vt:lpstr>实验7： NAT地址转换</vt:lpstr>
      <vt:lpstr>实验7： NAT地址转换</vt:lpstr>
      <vt:lpstr>实验7： NAT地址转换</vt:lpstr>
      <vt:lpstr>实验7： NAT地址转换</vt:lpstr>
      <vt:lpstr>实验7： NAT地址转换</vt:lpstr>
      <vt:lpstr>回答问题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计算机网络课程设计</dc:title>
  <dc:creator>iSlide</dc:creator>
  <cp:lastModifiedBy>阳 杨</cp:lastModifiedBy>
  <cp:revision>45</cp:revision>
  <cp:lastPrinted>2023-11-06T16:00:00Z</cp:lastPrinted>
  <dcterms:created xsi:type="dcterms:W3CDTF">2023-11-06T16:00:00Z</dcterms:created>
  <dcterms:modified xsi:type="dcterms:W3CDTF">2025-12-03T07:36:55Z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07c23b4b-f23e-44c3-a9ad-b24173362479</vt:lpwstr>
  </property>
  <property fmtid="{D5CDD505-2E9C-101B-9397-08002B2CF9AE}" pid="3" name="ICV">
    <vt:lpwstr>9DEB3C3FBFF744F9B1B296AF1C858E6A_12</vt:lpwstr>
  </property>
  <property fmtid="{D5CDD505-2E9C-101B-9397-08002B2CF9AE}" pid="4" name="KSOProductBuildVer">
    <vt:lpwstr>2052-12.1.0.23542</vt:lpwstr>
  </property>
</Properties>
</file>