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25" r:id="rId2"/>
    <p:sldId id="259" r:id="rId3"/>
    <p:sldId id="316" r:id="rId4"/>
    <p:sldId id="317" r:id="rId5"/>
    <p:sldId id="318" r:id="rId6"/>
    <p:sldId id="323" r:id="rId7"/>
    <p:sldId id="322" r:id="rId8"/>
    <p:sldId id="319" r:id="rId9"/>
    <p:sldId id="320" r:id="rId10"/>
    <p:sldId id="321" r:id="rId11"/>
    <p:sldId id="324" r:id="rId12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85" d="100"/>
          <a:sy n="85" d="100"/>
        </p:scale>
        <p:origin x="590" y="53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D87CE-937E-4877-97DA-2BF1350D1510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A40CE-04EA-494B-8E87-9DA217FB48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-1"/>
            <a:ext cx="12204700" cy="6858001"/>
            <a:chOff x="0" y="-1"/>
            <a:chExt cx="12204700" cy="6858001"/>
          </a:xfrm>
        </p:grpSpPr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flipH="1" flipV="1">
              <a:off x="0" y="-1"/>
              <a:ext cx="2832100" cy="783585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V="1">
              <a:off x="7442200" y="-1"/>
              <a:ext cx="4749800" cy="1314174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任意多边形: 形状 5"/>
          <p:cNvSpPr/>
          <p:nvPr/>
        </p:nvSpPr>
        <p:spPr bwMode="auto">
          <a:xfrm>
            <a:off x="-1588" y="4826208"/>
            <a:ext cx="12206288" cy="2449512"/>
          </a:xfrm>
          <a:custGeom>
            <a:avLst/>
            <a:gdLst>
              <a:gd name="T0" fmla="*/ 7689 w 7689"/>
              <a:gd name="T1" fmla="*/ 1543 h 1543"/>
              <a:gd name="T2" fmla="*/ 7689 w 7689"/>
              <a:gd name="T3" fmla="*/ 1485 h 1543"/>
              <a:gd name="T4" fmla="*/ 4821 w 7689"/>
              <a:gd name="T5" fmla="*/ 568 h 1543"/>
              <a:gd name="T6" fmla="*/ 3065 w 7689"/>
              <a:gd name="T7" fmla="*/ 0 h 1543"/>
              <a:gd name="T8" fmla="*/ 582 w 7689"/>
              <a:gd name="T9" fmla="*/ 597 h 1543"/>
              <a:gd name="T10" fmla="*/ 0 w 7689"/>
              <a:gd name="T11" fmla="*/ 717 h 1543"/>
              <a:gd name="T12" fmla="*/ 0 w 7689"/>
              <a:gd name="T13" fmla="*/ 1543 h 1543"/>
              <a:gd name="T14" fmla="*/ 7689 w 7689"/>
              <a:gd name="T15" fmla="*/ 1543 h 1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689" h="1543">
                <a:moveTo>
                  <a:pt x="7689" y="1543"/>
                </a:moveTo>
                <a:lnTo>
                  <a:pt x="7689" y="1485"/>
                </a:lnTo>
                <a:lnTo>
                  <a:pt x="4821" y="568"/>
                </a:lnTo>
                <a:lnTo>
                  <a:pt x="3065" y="0"/>
                </a:lnTo>
                <a:lnTo>
                  <a:pt x="582" y="597"/>
                </a:lnTo>
                <a:lnTo>
                  <a:pt x="0" y="717"/>
                </a:lnTo>
                <a:lnTo>
                  <a:pt x="0" y="1543"/>
                </a:lnTo>
                <a:lnTo>
                  <a:pt x="7689" y="154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10858500" cy="1371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2501900"/>
            <a:ext cx="10858500" cy="75925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9918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7350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 b="1"/>
            </a:lvl1pPr>
            <a:lvl2pPr>
              <a:defRPr sz="2400" b="1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2000" b="1"/>
            </a:lvl3pPr>
            <a:lvl4pPr>
              <a:defRPr sz="1800" b="1"/>
            </a:lvl4pPr>
            <a:lvl5pPr>
              <a:defRPr sz="18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flipV="1">
            <a:off x="-1588" y="-429260"/>
            <a:ext cx="12206288" cy="3042919"/>
            <a:chOff x="-1588" y="4232801"/>
            <a:chExt cx="12206288" cy="3042919"/>
          </a:xfrm>
        </p:grpSpPr>
        <p:sp>
          <p:nvSpPr>
            <p:cNvPr id="8" name="任意多边形: 形状 7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71850" y="2967879"/>
            <a:ext cx="54356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371850" y="4344984"/>
            <a:ext cx="54356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588" y="4232801"/>
            <a:ext cx="12206288" cy="3042919"/>
            <a:chOff x="-1588" y="4232801"/>
            <a:chExt cx="12206288" cy="3042919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803400"/>
            <a:ext cx="10858500" cy="13716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4076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1508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圆: 空心 256">
            <a:extLst>
              <a:ext uri="{FF2B5EF4-FFF2-40B4-BE49-F238E27FC236}">
                <a16:creationId xmlns:a16="http://schemas.microsoft.com/office/drawing/2014/main" id="{74A9E843-1667-3DA3-FF77-05C5A4A9EE8A}"/>
              </a:ext>
            </a:extLst>
          </p:cNvPr>
          <p:cNvSpPr/>
          <p:nvPr/>
        </p:nvSpPr>
        <p:spPr>
          <a:xfrm>
            <a:off x="7588207" y="374493"/>
            <a:ext cx="5951891" cy="5918200"/>
          </a:xfrm>
          <a:prstGeom prst="donut">
            <a:avLst>
              <a:gd name="adj" fmla="val 11200"/>
            </a:avLst>
          </a:prstGeom>
          <a:solidFill>
            <a:srgbClr val="D2D8F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0F5BF4D0-817A-B522-6BAB-3AF06799CE62}"/>
              </a:ext>
            </a:extLst>
          </p:cNvPr>
          <p:cNvSpPr/>
          <p:nvPr/>
        </p:nvSpPr>
        <p:spPr>
          <a:xfrm rot="20337877">
            <a:off x="6421793" y="939499"/>
            <a:ext cx="4841467" cy="4814061"/>
          </a:xfrm>
          <a:prstGeom prst="donut">
            <a:avLst>
              <a:gd name="adj" fmla="val 13078"/>
            </a:avLst>
          </a:prstGeom>
          <a:gradFill>
            <a:gsLst>
              <a:gs pos="0">
                <a:srgbClr val="D2D8FD"/>
              </a:gs>
              <a:gs pos="81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947008" y="3898563"/>
            <a:ext cx="4936351" cy="532555"/>
            <a:chOff x="0" y="0"/>
            <a:chExt cx="812800" cy="160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60125"/>
            </a:xfrm>
            <a:custGeom>
              <a:avLst/>
              <a:gdLst/>
              <a:ahLst/>
              <a:cxnLst/>
              <a:rect l="l" t="t" r="r" b="b"/>
              <a:pathLst>
                <a:path w="812800" h="160125">
                  <a:moveTo>
                    <a:pt x="0" y="0"/>
                  </a:moveTo>
                  <a:lnTo>
                    <a:pt x="812800" y="0"/>
                  </a:lnTo>
                  <a:lnTo>
                    <a:pt x="812800" y="160125"/>
                  </a:lnTo>
                  <a:lnTo>
                    <a:pt x="0" y="160125"/>
                  </a:lnTo>
                  <a:close/>
                </a:path>
              </a:pathLst>
            </a:custGeom>
            <a:solidFill>
              <a:srgbClr val="1540D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1887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68518" y="2547308"/>
            <a:ext cx="6422406" cy="1057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292"/>
              </a:lnSpc>
            </a:pPr>
            <a:r>
              <a:rPr lang="zh-CN" altLang="en-US" sz="5334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第</a:t>
            </a:r>
            <a:r>
              <a:rPr lang="en-US" altLang="zh-CN" sz="5334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3</a:t>
            </a:r>
            <a:r>
              <a:rPr lang="zh-CN" altLang="en-US" sz="5334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次实验</a:t>
            </a:r>
            <a:endParaRPr lang="en-US" sz="5334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 Bold"/>
              <a:sym typeface="思源黑体 1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59513" y="4060435"/>
            <a:ext cx="4897199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16"/>
              </a:lnSpc>
            </a:pPr>
            <a:r>
              <a:rPr lang="en-US" altLang="zh-CN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UDP</a:t>
            </a:r>
            <a:r>
              <a:rPr lang="zh-CN" altLang="en-US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协议分析和</a:t>
            </a:r>
            <a:r>
              <a:rPr lang="en-US" altLang="zh-CN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TCP</a:t>
            </a:r>
            <a:r>
              <a:rPr lang="zh-CN" altLang="en-US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连接管理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035800" y="1290853"/>
            <a:ext cx="523032" cy="626087"/>
            <a:chOff x="0" y="0"/>
            <a:chExt cx="1046064" cy="1252173"/>
          </a:xfrm>
        </p:grpSpPr>
        <p:grpSp>
          <p:nvGrpSpPr>
            <p:cNvPr id="15" name="Group 15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3933799" y="4675085"/>
            <a:ext cx="1758583" cy="634855"/>
            <a:chOff x="0" y="0"/>
            <a:chExt cx="3517166" cy="1269709"/>
          </a:xfrm>
        </p:grpSpPr>
        <p:grpSp>
          <p:nvGrpSpPr>
            <p:cNvPr id="76" name="Group 76"/>
            <p:cNvGrpSpPr/>
            <p:nvPr/>
          </p:nvGrpSpPr>
          <p:grpSpPr>
            <a:xfrm>
              <a:off x="2779629" y="17536"/>
              <a:ext cx="120482" cy="120482"/>
              <a:chOff x="0" y="0"/>
              <a:chExt cx="812800" cy="8128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2471102" y="17536"/>
              <a:ext cx="120482" cy="120482"/>
              <a:chOff x="0" y="0"/>
              <a:chExt cx="812800" cy="812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3396684" y="17536"/>
              <a:ext cx="120482" cy="120482"/>
              <a:chOff x="0" y="0"/>
              <a:chExt cx="812800" cy="8128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3088157" y="17536"/>
              <a:ext cx="120482" cy="120482"/>
              <a:chOff x="0" y="0"/>
              <a:chExt cx="812800" cy="8128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2779629" y="300459"/>
              <a:ext cx="120482" cy="120482"/>
              <a:chOff x="0" y="0"/>
              <a:chExt cx="812800" cy="8128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2471102" y="300459"/>
              <a:ext cx="120482" cy="120482"/>
              <a:chOff x="0" y="0"/>
              <a:chExt cx="812800" cy="8128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3396684" y="300459"/>
              <a:ext cx="120482" cy="120482"/>
              <a:chOff x="0" y="0"/>
              <a:chExt cx="812800" cy="8128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3088157" y="300459"/>
              <a:ext cx="120482" cy="120482"/>
              <a:chOff x="0" y="0"/>
              <a:chExt cx="812800" cy="81280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2779629" y="583382"/>
              <a:ext cx="120482" cy="120482"/>
              <a:chOff x="0" y="0"/>
              <a:chExt cx="812800" cy="81280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2471102" y="583382"/>
              <a:ext cx="120482" cy="120482"/>
              <a:chOff x="0" y="0"/>
              <a:chExt cx="812800" cy="81280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3396684" y="583382"/>
              <a:ext cx="120482" cy="120482"/>
              <a:chOff x="0" y="0"/>
              <a:chExt cx="812800" cy="81280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3088157" y="583382"/>
              <a:ext cx="120482" cy="120482"/>
              <a:chOff x="0" y="0"/>
              <a:chExt cx="812800" cy="812800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1" name="TextBox 11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2779629" y="866304"/>
              <a:ext cx="120482" cy="120482"/>
              <a:chOff x="0" y="0"/>
              <a:chExt cx="812800" cy="81280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2471102" y="866304"/>
              <a:ext cx="120482" cy="120482"/>
              <a:chOff x="0" y="0"/>
              <a:chExt cx="812800" cy="81280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7" name="TextBox 1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3396684" y="866304"/>
              <a:ext cx="120482" cy="120482"/>
              <a:chOff x="0" y="0"/>
              <a:chExt cx="812800" cy="81280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3088157" y="866304"/>
              <a:ext cx="120482" cy="120482"/>
              <a:chOff x="0" y="0"/>
              <a:chExt cx="812800" cy="812800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>
              <a:off x="2779629" y="1149227"/>
              <a:ext cx="120482" cy="120482"/>
              <a:chOff x="0" y="0"/>
              <a:chExt cx="812800" cy="81280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2471102" y="1149227"/>
              <a:ext cx="120482" cy="120482"/>
              <a:chOff x="0" y="0"/>
              <a:chExt cx="812800" cy="81280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0" name="Group 130"/>
            <p:cNvGrpSpPr/>
            <p:nvPr/>
          </p:nvGrpSpPr>
          <p:grpSpPr>
            <a:xfrm>
              <a:off x="3396684" y="1149227"/>
              <a:ext cx="120482" cy="120482"/>
              <a:chOff x="0" y="0"/>
              <a:chExt cx="812800" cy="812800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2" name="TextBox 1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3" name="Group 133"/>
            <p:cNvGrpSpPr/>
            <p:nvPr/>
          </p:nvGrpSpPr>
          <p:grpSpPr>
            <a:xfrm>
              <a:off x="3088157" y="1149227"/>
              <a:ext cx="120482" cy="120482"/>
              <a:chOff x="0" y="0"/>
              <a:chExt cx="812800" cy="812800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5" name="TextBox 1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7" name="TextBox 1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8" name="Group 148"/>
            <p:cNvGrpSpPr/>
            <p:nvPr/>
          </p:nvGrpSpPr>
          <p:grpSpPr>
            <a:xfrm>
              <a:off x="1542637" y="0"/>
              <a:ext cx="120482" cy="120482"/>
              <a:chOff x="0" y="0"/>
              <a:chExt cx="812800" cy="812800"/>
            </a:xfrm>
          </p:grpSpPr>
          <p:sp>
            <p:nvSpPr>
              <p:cNvPr id="149" name="Freeform 1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0" name="TextBox 1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1234109" y="0"/>
              <a:ext cx="120482" cy="120482"/>
              <a:chOff x="0" y="0"/>
              <a:chExt cx="812800" cy="812800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3" name="TextBox 1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2159691" y="0"/>
              <a:ext cx="120482" cy="120482"/>
              <a:chOff x="0" y="0"/>
              <a:chExt cx="812800" cy="812800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6" name="TextBox 1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7" name="Group 157"/>
            <p:cNvGrpSpPr/>
            <p:nvPr/>
          </p:nvGrpSpPr>
          <p:grpSpPr>
            <a:xfrm>
              <a:off x="1851164" y="0"/>
              <a:ext cx="120482" cy="120482"/>
              <a:chOff x="0" y="0"/>
              <a:chExt cx="812800" cy="812800"/>
            </a:xfrm>
          </p:grpSpPr>
          <p:sp>
            <p:nvSpPr>
              <p:cNvPr id="158" name="Freeform 1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9" name="TextBox 1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0" name="Group 160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161" name="Freeform 1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2" name="TextBox 1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3" name="Group 163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164" name="Freeform 1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5" name="TextBox 1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6" name="Group 166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167" name="Freeform 1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8" name="TextBox 1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9" name="Group 169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170" name="Freeform 1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1" name="TextBox 1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2" name="Group 172"/>
            <p:cNvGrpSpPr/>
            <p:nvPr/>
          </p:nvGrpSpPr>
          <p:grpSpPr>
            <a:xfrm>
              <a:off x="1542637" y="282923"/>
              <a:ext cx="120482" cy="120482"/>
              <a:chOff x="0" y="0"/>
              <a:chExt cx="812800" cy="812800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4" name="TextBox 1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5" name="Group 175"/>
            <p:cNvGrpSpPr/>
            <p:nvPr/>
          </p:nvGrpSpPr>
          <p:grpSpPr>
            <a:xfrm>
              <a:off x="1234109" y="282923"/>
              <a:ext cx="120482" cy="120482"/>
              <a:chOff x="0" y="0"/>
              <a:chExt cx="812800" cy="812800"/>
            </a:xfrm>
          </p:grpSpPr>
          <p:sp>
            <p:nvSpPr>
              <p:cNvPr id="176" name="Freeform 17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7" name="TextBox 17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8" name="Group 178"/>
            <p:cNvGrpSpPr/>
            <p:nvPr/>
          </p:nvGrpSpPr>
          <p:grpSpPr>
            <a:xfrm>
              <a:off x="2159691" y="282923"/>
              <a:ext cx="120482" cy="120482"/>
              <a:chOff x="0" y="0"/>
              <a:chExt cx="812800" cy="812800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0" name="TextBox 18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1" name="Group 181"/>
            <p:cNvGrpSpPr/>
            <p:nvPr/>
          </p:nvGrpSpPr>
          <p:grpSpPr>
            <a:xfrm>
              <a:off x="1851164" y="282923"/>
              <a:ext cx="120482" cy="120482"/>
              <a:chOff x="0" y="0"/>
              <a:chExt cx="812800" cy="812800"/>
            </a:xfrm>
          </p:grpSpPr>
          <p:sp>
            <p:nvSpPr>
              <p:cNvPr id="182" name="Freeform 18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3" name="TextBox 18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4" name="Group 184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185" name="Freeform 18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6" name="TextBox 18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7" name="Group 187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188" name="Freeform 1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9" name="TextBox 18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0" name="Group 190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191" name="Freeform 19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2" name="TextBox 19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3" name="Group 193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194" name="Freeform 19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5" name="TextBox 19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6" name="Group 196"/>
            <p:cNvGrpSpPr/>
            <p:nvPr/>
          </p:nvGrpSpPr>
          <p:grpSpPr>
            <a:xfrm>
              <a:off x="1542637" y="565845"/>
              <a:ext cx="120482" cy="120482"/>
              <a:chOff x="0" y="0"/>
              <a:chExt cx="812800" cy="812800"/>
            </a:xfrm>
          </p:grpSpPr>
          <p:sp>
            <p:nvSpPr>
              <p:cNvPr id="197" name="Freeform 19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8" name="TextBox 19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9" name="Group 199"/>
            <p:cNvGrpSpPr/>
            <p:nvPr/>
          </p:nvGrpSpPr>
          <p:grpSpPr>
            <a:xfrm>
              <a:off x="1234109" y="565845"/>
              <a:ext cx="120482" cy="120482"/>
              <a:chOff x="0" y="0"/>
              <a:chExt cx="812800" cy="812800"/>
            </a:xfrm>
          </p:grpSpPr>
          <p:sp>
            <p:nvSpPr>
              <p:cNvPr id="200" name="Freeform 2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1" name="TextBox 20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2" name="Group 202"/>
            <p:cNvGrpSpPr/>
            <p:nvPr/>
          </p:nvGrpSpPr>
          <p:grpSpPr>
            <a:xfrm>
              <a:off x="2159691" y="565845"/>
              <a:ext cx="120482" cy="120482"/>
              <a:chOff x="0" y="0"/>
              <a:chExt cx="812800" cy="812800"/>
            </a:xfrm>
          </p:grpSpPr>
          <p:sp>
            <p:nvSpPr>
              <p:cNvPr id="203" name="Freeform 20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4" name="TextBox 20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5" name="Group 205"/>
            <p:cNvGrpSpPr/>
            <p:nvPr/>
          </p:nvGrpSpPr>
          <p:grpSpPr>
            <a:xfrm>
              <a:off x="1851164" y="565845"/>
              <a:ext cx="120482" cy="120482"/>
              <a:chOff x="0" y="0"/>
              <a:chExt cx="812800" cy="812800"/>
            </a:xfrm>
          </p:grpSpPr>
          <p:sp>
            <p:nvSpPr>
              <p:cNvPr id="206" name="Freeform 20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7" name="TextBox 20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8" name="Group 208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209" name="Freeform 2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0" name="TextBox 21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1" name="Group 211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212" name="Freeform 2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3" name="TextBox 21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4" name="Group 214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215" name="Freeform 2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6" name="TextBox 21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7" name="Group 217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218" name="Freeform 2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9" name="TextBox 21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0" name="Group 220"/>
            <p:cNvGrpSpPr/>
            <p:nvPr/>
          </p:nvGrpSpPr>
          <p:grpSpPr>
            <a:xfrm>
              <a:off x="1542637" y="848768"/>
              <a:ext cx="120482" cy="120482"/>
              <a:chOff x="0" y="0"/>
              <a:chExt cx="812800" cy="812800"/>
            </a:xfrm>
          </p:grpSpPr>
          <p:sp>
            <p:nvSpPr>
              <p:cNvPr id="221" name="Freeform 2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2" name="TextBox 22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3" name="Group 223"/>
            <p:cNvGrpSpPr/>
            <p:nvPr/>
          </p:nvGrpSpPr>
          <p:grpSpPr>
            <a:xfrm>
              <a:off x="1234109" y="848768"/>
              <a:ext cx="120482" cy="120482"/>
              <a:chOff x="0" y="0"/>
              <a:chExt cx="812800" cy="812800"/>
            </a:xfrm>
          </p:grpSpPr>
          <p:sp>
            <p:nvSpPr>
              <p:cNvPr id="224" name="Freeform 2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5" name="TextBox 22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6" name="Group 226"/>
            <p:cNvGrpSpPr/>
            <p:nvPr/>
          </p:nvGrpSpPr>
          <p:grpSpPr>
            <a:xfrm>
              <a:off x="2159691" y="848768"/>
              <a:ext cx="120482" cy="120482"/>
              <a:chOff x="0" y="0"/>
              <a:chExt cx="812800" cy="812800"/>
            </a:xfrm>
          </p:grpSpPr>
          <p:sp>
            <p:nvSpPr>
              <p:cNvPr id="227" name="Freeform 2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8" name="TextBox 22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9" name="Group 229"/>
            <p:cNvGrpSpPr/>
            <p:nvPr/>
          </p:nvGrpSpPr>
          <p:grpSpPr>
            <a:xfrm>
              <a:off x="1851164" y="848768"/>
              <a:ext cx="120482" cy="120482"/>
              <a:chOff x="0" y="0"/>
              <a:chExt cx="812800" cy="812800"/>
            </a:xfrm>
          </p:grpSpPr>
          <p:sp>
            <p:nvSpPr>
              <p:cNvPr id="230" name="Freeform 2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1" name="TextBox 23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2" name="Group 232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233" name="Freeform 2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4" name="TextBox 23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5" name="Group 235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236" name="Freeform 2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7" name="TextBox 23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8" name="Group 238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239" name="Freeform 2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0" name="TextBox 24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1" name="Group 241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242" name="Freeform 2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3" name="TextBox 24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4" name="Group 244"/>
            <p:cNvGrpSpPr/>
            <p:nvPr/>
          </p:nvGrpSpPr>
          <p:grpSpPr>
            <a:xfrm>
              <a:off x="1542637" y="1131691"/>
              <a:ext cx="120482" cy="120482"/>
              <a:chOff x="0" y="0"/>
              <a:chExt cx="812800" cy="812800"/>
            </a:xfrm>
          </p:grpSpPr>
          <p:sp>
            <p:nvSpPr>
              <p:cNvPr id="245" name="Freeform 2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6" name="TextBox 24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7" name="Group 247"/>
            <p:cNvGrpSpPr/>
            <p:nvPr/>
          </p:nvGrpSpPr>
          <p:grpSpPr>
            <a:xfrm>
              <a:off x="1234109" y="1131691"/>
              <a:ext cx="120482" cy="120482"/>
              <a:chOff x="0" y="0"/>
              <a:chExt cx="812800" cy="812800"/>
            </a:xfrm>
          </p:grpSpPr>
          <p:sp>
            <p:nvSpPr>
              <p:cNvPr id="248" name="Freeform 2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9" name="TextBox 24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0" name="Group 250"/>
            <p:cNvGrpSpPr/>
            <p:nvPr/>
          </p:nvGrpSpPr>
          <p:grpSpPr>
            <a:xfrm>
              <a:off x="2159691" y="1131691"/>
              <a:ext cx="120482" cy="120482"/>
              <a:chOff x="0" y="0"/>
              <a:chExt cx="812800" cy="812800"/>
            </a:xfrm>
          </p:grpSpPr>
          <p:sp>
            <p:nvSpPr>
              <p:cNvPr id="251" name="Freeform 2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52" name="TextBox 25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3" name="Group 253"/>
            <p:cNvGrpSpPr/>
            <p:nvPr/>
          </p:nvGrpSpPr>
          <p:grpSpPr>
            <a:xfrm>
              <a:off x="1851164" y="1131691"/>
              <a:ext cx="120482" cy="120482"/>
              <a:chOff x="0" y="0"/>
              <a:chExt cx="812800" cy="812800"/>
            </a:xfrm>
          </p:grpSpPr>
          <p:sp>
            <p:nvSpPr>
              <p:cNvPr id="254" name="Freeform 2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55" name="TextBox 25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71" name="TextBox 271"/>
          <p:cNvSpPr txBox="1"/>
          <p:nvPr/>
        </p:nvSpPr>
        <p:spPr>
          <a:xfrm>
            <a:off x="868518" y="6076351"/>
            <a:ext cx="1911722" cy="42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2"/>
              </a:lnSpc>
            </a:pPr>
            <a:r>
              <a:rPr lang="zh-CN" altLang="en-US" sz="1267" spc="124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任课教师：朱敏老师</a:t>
            </a:r>
            <a:endParaRPr lang="en-US" altLang="zh-CN" sz="1267" spc="124" dirty="0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"/>
              <a:sym typeface="思源黑体 1"/>
            </a:endParaRPr>
          </a:p>
          <a:p>
            <a:pPr algn="just">
              <a:lnSpc>
                <a:spcPts val="1672"/>
              </a:lnSpc>
            </a:pPr>
            <a:r>
              <a:rPr lang="zh-CN" altLang="en-US" sz="1267" spc="124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实验助教：杨阳</a:t>
            </a:r>
            <a:endParaRPr lang="en-US" sz="1267" spc="124" dirty="0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"/>
              <a:sym typeface="思源黑体 1"/>
            </a:endParaRPr>
          </a:p>
        </p:txBody>
      </p:sp>
      <p:pic>
        <p:nvPicPr>
          <p:cNvPr id="272" name="图片 271">
            <a:extLst>
              <a:ext uri="{FF2B5EF4-FFF2-40B4-BE49-F238E27FC236}">
                <a16:creationId xmlns:a16="http://schemas.microsoft.com/office/drawing/2014/main" id="{343C0833-3841-D914-BAA5-4879BD10E9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16" y="184638"/>
            <a:ext cx="950785" cy="950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: 空心 7">
            <a:extLst>
              <a:ext uri="{FF2B5EF4-FFF2-40B4-BE49-F238E27FC236}">
                <a16:creationId xmlns:a16="http://schemas.microsoft.com/office/drawing/2014/main" id="{EB2D9353-5849-7C78-5BCF-39812AB6BD15}"/>
              </a:ext>
            </a:extLst>
          </p:cNvPr>
          <p:cNvSpPr/>
          <p:nvPr/>
        </p:nvSpPr>
        <p:spPr>
          <a:xfrm rot="12130393">
            <a:off x="332943" y="178447"/>
            <a:ext cx="1249544" cy="1242471"/>
          </a:xfrm>
          <a:prstGeom prst="donut">
            <a:avLst>
              <a:gd name="adj" fmla="val 17585"/>
            </a:avLst>
          </a:prstGeom>
          <a:gradFill>
            <a:gsLst>
              <a:gs pos="0">
                <a:srgbClr val="D2D8FD"/>
              </a:gs>
              <a:gs pos="100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917977" y="578176"/>
            <a:ext cx="5076423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zh-CN" altLang="en-US" sz="36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上次实验的情况</a:t>
            </a:r>
            <a:endParaRPr lang="en-US" sz="36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43144" y="2068691"/>
            <a:ext cx="9447577" cy="1419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17" indent="-342917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133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部分同学仍然出现严重格式错误</a:t>
            </a:r>
          </a:p>
          <a:p>
            <a:pPr marL="342917" indent="-342917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133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部分同学仍然缺少 过程截图</a:t>
            </a:r>
            <a:r>
              <a:rPr lang="en-US" altLang="zh-CN" sz="2133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/</a:t>
            </a:r>
            <a:r>
              <a:rPr lang="zh-CN" altLang="en-US" sz="2133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文字描述</a:t>
            </a:r>
            <a:endParaRPr lang="en-US" altLang="zh-CN" sz="2133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marL="342917" indent="-342917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133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建议提交</a:t>
            </a:r>
            <a:r>
              <a:rPr lang="en-US" altLang="zh-CN" sz="2133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PDF</a:t>
            </a:r>
            <a:endParaRPr lang="zh-CN" altLang="en-US" sz="2133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1A1C2C-029E-8D16-D56F-6B4C1605869E}"/>
              </a:ext>
            </a:extLst>
          </p:cNvPr>
          <p:cNvSpPr txBox="1"/>
          <p:nvPr/>
        </p:nvSpPr>
        <p:spPr>
          <a:xfrm>
            <a:off x="1260950" y="1545301"/>
            <a:ext cx="1829347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133" b="1" dirty="0">
                <a:solidFill>
                  <a:srgbClr val="1943D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存在的问题：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CA23E8-923E-BB02-DA81-391FBEE254EF}"/>
              </a:ext>
            </a:extLst>
          </p:cNvPr>
          <p:cNvSpPr txBox="1"/>
          <p:nvPr/>
        </p:nvSpPr>
        <p:spPr>
          <a:xfrm>
            <a:off x="1213053" y="4006040"/>
            <a:ext cx="3199915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133" b="1" dirty="0">
                <a:solidFill>
                  <a:srgbClr val="1943D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较第一次实验报告进步：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22C1C8-CD43-FC7B-9C60-1463998FD1FC}"/>
              </a:ext>
            </a:extLst>
          </p:cNvPr>
          <p:cNvSpPr txBox="1"/>
          <p:nvPr/>
        </p:nvSpPr>
        <p:spPr>
          <a:xfrm>
            <a:off x="1260950" y="4472896"/>
            <a:ext cx="9447577" cy="1419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17" indent="-342917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133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认真写实验总结</a:t>
            </a:r>
            <a:endParaRPr lang="en-US" altLang="zh-CN" sz="2133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marL="342917" indent="-342917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133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实验内容基本都完成</a:t>
            </a:r>
            <a:endParaRPr lang="en-US" altLang="zh-CN" sz="2133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marL="342917" indent="-342917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133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格式更规范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3-1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UDP</a:t>
            </a:r>
            <a:r>
              <a:rPr lang="zh-CN" altLang="en-US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200" dirty="0"/>
              <a:t>1.</a:t>
            </a:r>
            <a:r>
              <a:rPr lang="zh-CN" altLang="zh-CN" sz="3200" dirty="0"/>
              <a:t>实验目标</a:t>
            </a:r>
          </a:p>
          <a:p>
            <a:pPr marL="457200" lvl="1" indent="0">
              <a:buNone/>
            </a:pPr>
            <a:r>
              <a:rPr lang="zh-CN" altLang="zh-CN" sz="2800" dirty="0"/>
              <a:t>本实验的目的是通过捕获</a:t>
            </a:r>
            <a:r>
              <a:rPr lang="en-US" altLang="zh-CN" sz="2800" dirty="0"/>
              <a:t>UDP</a:t>
            </a:r>
            <a:r>
              <a:rPr lang="zh-CN" altLang="zh-CN" sz="2800" dirty="0"/>
              <a:t>数据包，分析</a:t>
            </a:r>
            <a:r>
              <a:rPr lang="en-US" altLang="zh-CN" sz="2800" dirty="0"/>
              <a:t>UDP</a:t>
            </a:r>
            <a:r>
              <a:rPr lang="zh-CN" altLang="zh-CN" sz="2800" dirty="0"/>
              <a:t>协议的特点和原理。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3200" dirty="0"/>
              <a:t>2.</a:t>
            </a:r>
            <a:r>
              <a:rPr lang="zh-CN" altLang="zh-CN" sz="3200" dirty="0"/>
              <a:t>实验平台</a:t>
            </a:r>
          </a:p>
          <a:p>
            <a:pPr marL="457200" lvl="1" indent="0">
              <a:buNone/>
            </a:pPr>
            <a:r>
              <a:rPr lang="en-US" altLang="zh-CN" sz="2800" dirty="0"/>
              <a:t>Windows</a:t>
            </a:r>
            <a:endParaRPr lang="zh-CN" altLang="zh-CN" sz="2800" dirty="0"/>
          </a:p>
          <a:p>
            <a:pPr marL="0" indent="0">
              <a:buNone/>
            </a:pPr>
            <a:r>
              <a:rPr lang="en-US" altLang="zh-CN" sz="3200" dirty="0"/>
              <a:t>3.</a:t>
            </a:r>
            <a:r>
              <a:rPr lang="zh-CN" altLang="zh-CN" sz="3200" dirty="0"/>
              <a:t>实验工具</a:t>
            </a:r>
          </a:p>
          <a:p>
            <a:pPr marL="457200" lvl="1" indent="0">
              <a:buNone/>
            </a:pPr>
            <a:r>
              <a:rPr lang="en-US" altLang="zh-CN" sz="2800" dirty="0"/>
              <a:t>Wireshark</a:t>
            </a:r>
            <a:r>
              <a:rPr lang="zh-CN" altLang="zh-CN" sz="2800" dirty="0"/>
              <a:t>；</a:t>
            </a:r>
          </a:p>
          <a:p>
            <a:pPr lvl="1"/>
            <a:endParaRPr lang="zh-CN" altLang="zh-C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3-1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UDP</a:t>
            </a:r>
            <a:r>
              <a:rPr lang="zh-CN" altLang="en-US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19505"/>
            <a:ext cx="10858500" cy="501459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3. </a:t>
            </a:r>
            <a:r>
              <a:rPr lang="zh-CN" altLang="zh-CN" dirty="0"/>
              <a:t>实验步骤</a:t>
            </a:r>
            <a:endParaRPr lang="zh-CN" altLang="zh-CN" sz="32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本实验分为两个任务：通过</a:t>
            </a:r>
            <a:r>
              <a:rPr lang="en-US" altLang="zh-CN" dirty="0"/>
              <a:t>DNS</a:t>
            </a:r>
            <a:r>
              <a:rPr lang="zh-CN" altLang="zh-CN" dirty="0"/>
              <a:t>域名解析捕获</a:t>
            </a:r>
            <a:r>
              <a:rPr lang="en-US" altLang="zh-CN" dirty="0"/>
              <a:t>UDP</a:t>
            </a:r>
            <a:r>
              <a:rPr lang="zh-CN" altLang="zh-CN" dirty="0"/>
              <a:t>数据包，然后分析</a:t>
            </a:r>
            <a:r>
              <a:rPr lang="en-US" altLang="zh-CN" dirty="0"/>
              <a:t>UDP</a:t>
            </a:r>
            <a:r>
              <a:rPr lang="zh-CN" altLang="zh-CN" dirty="0"/>
              <a:t>数据包。实验步骤如下：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第一步：</a:t>
            </a:r>
            <a:r>
              <a:rPr lang="en-US" altLang="zh-CN" dirty="0"/>
              <a:t>UDP</a:t>
            </a:r>
            <a:r>
              <a:rPr lang="zh-CN" altLang="zh-CN" dirty="0"/>
              <a:t>数据包的捕获；</a:t>
            </a:r>
            <a:endParaRPr lang="en-US" altLang="zh-CN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在</a:t>
            </a:r>
            <a:r>
              <a:rPr lang="en-US" altLang="zh-CN" dirty="0"/>
              <a:t>Windows</a:t>
            </a:r>
            <a:r>
              <a:rPr lang="zh-CN" altLang="zh-CN" dirty="0"/>
              <a:t>系统下，可以在命令提示符中输入</a:t>
            </a:r>
            <a:r>
              <a:rPr lang="en-US" altLang="zh-CN" dirty="0"/>
              <a:t>ipconfig/</a:t>
            </a:r>
            <a:r>
              <a:rPr lang="en-US" altLang="zh-CN" dirty="0" err="1"/>
              <a:t>flushdns</a:t>
            </a:r>
            <a:r>
              <a:rPr lang="zh-CN" altLang="zh-CN" dirty="0"/>
              <a:t>命令来清空</a:t>
            </a:r>
            <a:r>
              <a:rPr lang="en-US" altLang="zh-CN" dirty="0"/>
              <a:t>DNS</a:t>
            </a:r>
            <a:r>
              <a:rPr lang="zh-CN" altLang="zh-CN" dirty="0"/>
              <a:t>缓存。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/>
              <a:t>1</a:t>
            </a:r>
            <a:r>
              <a:rPr lang="zh-CN" altLang="zh-CN" dirty="0"/>
              <a:t>）打开</a:t>
            </a:r>
            <a:r>
              <a:rPr lang="en-US" altLang="zh-CN" dirty="0"/>
              <a:t>Wireshark</a:t>
            </a:r>
            <a:r>
              <a:rPr lang="zh-CN" altLang="zh-CN" dirty="0"/>
              <a:t>，启动分组捕获器；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/>
              <a:t>2</a:t>
            </a:r>
            <a:r>
              <a:rPr lang="zh-CN" altLang="zh-CN" dirty="0"/>
              <a:t>）在命令行中输入：</a:t>
            </a:r>
            <a:r>
              <a:rPr lang="en-US" altLang="zh-CN" dirty="0">
                <a:hlinkClick r:id="rId2"/>
              </a:rPr>
              <a:t>ping </a:t>
            </a:r>
            <a:r>
              <a:rPr lang="en-US" altLang="zh-CN" dirty="0"/>
              <a:t>www.baidu.com</a:t>
            </a:r>
            <a:r>
              <a:rPr lang="zh-CN" altLang="zh-CN" dirty="0"/>
              <a:t>，并回车；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/>
              <a:t>3</a:t>
            </a:r>
            <a:r>
              <a:rPr lang="zh-CN" altLang="zh-CN" dirty="0"/>
              <a:t>）停止分组捕获；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/>
              <a:t>4</a:t>
            </a:r>
            <a:r>
              <a:rPr lang="zh-CN" altLang="zh-CN" dirty="0"/>
              <a:t>）并在过滤器中输入</a:t>
            </a:r>
            <a:r>
              <a:rPr lang="en-US" altLang="zh-CN" dirty="0"/>
              <a:t>“UDP and </a:t>
            </a:r>
            <a:r>
              <a:rPr lang="en-US" altLang="zh-CN" dirty="0" err="1"/>
              <a:t>dns</a:t>
            </a:r>
            <a:r>
              <a:rPr lang="en-US" altLang="zh-CN" dirty="0"/>
              <a:t>” </a:t>
            </a:r>
            <a:endParaRPr lang="zh-CN" altLang="zh-CN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第二步：</a:t>
            </a:r>
            <a:r>
              <a:rPr lang="en-US" altLang="zh-CN" dirty="0"/>
              <a:t>UDP</a:t>
            </a:r>
            <a:r>
              <a:rPr lang="zh-CN" altLang="zh-CN" dirty="0"/>
              <a:t>数据包的分析。</a:t>
            </a:r>
          </a:p>
          <a:p>
            <a:pPr lvl="1">
              <a:lnSpc>
                <a:spcPct val="150000"/>
              </a:lnSpc>
            </a:pPr>
            <a:endParaRPr lang="zh-CN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3-1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UDP</a:t>
            </a:r>
            <a:r>
              <a:rPr lang="zh-CN" altLang="en-US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回答下面的问题：</a:t>
            </a:r>
            <a:endParaRPr lang="en-US" altLang="zh-CN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1</a:t>
            </a:r>
            <a:r>
              <a:rPr lang="zh-CN" altLang="zh-CN" dirty="0"/>
              <a:t>）从</a:t>
            </a:r>
            <a:r>
              <a:rPr lang="zh-CN" altLang="en-US" dirty="0"/>
              <a:t>截获的数据包中找一个</a:t>
            </a:r>
            <a:r>
              <a:rPr lang="en-US" altLang="zh-CN" dirty="0"/>
              <a:t>UDP</a:t>
            </a:r>
            <a:r>
              <a:rPr lang="zh-CN" altLang="en-US" dirty="0"/>
              <a:t>数据报进行分析。从中</a:t>
            </a:r>
            <a:r>
              <a:rPr lang="zh-CN" altLang="zh-CN" dirty="0"/>
              <a:t>可以看出：</a:t>
            </a:r>
            <a:r>
              <a:rPr lang="en-US" altLang="zh-CN" dirty="0"/>
              <a:t>UDP</a:t>
            </a:r>
            <a:r>
              <a:rPr lang="zh-CN" altLang="zh-CN" dirty="0"/>
              <a:t>协议的头部包含几个字段？分别是什么？头部总共多少字节？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2</a:t>
            </a:r>
            <a:r>
              <a:rPr lang="zh-CN" altLang="zh-CN" dirty="0"/>
              <a:t>）</a:t>
            </a:r>
            <a:r>
              <a:rPr lang="en-US" altLang="zh-CN" dirty="0"/>
              <a:t>UDP</a:t>
            </a:r>
            <a:r>
              <a:rPr lang="zh-CN" altLang="zh-CN" dirty="0"/>
              <a:t>协议头部中的</a:t>
            </a:r>
            <a:r>
              <a:rPr lang="en-US" altLang="zh-CN" dirty="0"/>
              <a:t>Length</a:t>
            </a:r>
            <a:r>
              <a:rPr lang="zh-CN" altLang="zh-CN" dirty="0"/>
              <a:t>字段的含义是什么？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3</a:t>
            </a:r>
            <a:r>
              <a:rPr lang="zh-CN" altLang="zh-CN" dirty="0"/>
              <a:t>）从</a:t>
            </a:r>
            <a:r>
              <a:rPr lang="en-US" altLang="zh-CN" dirty="0"/>
              <a:t>Wireshark</a:t>
            </a:r>
            <a:r>
              <a:rPr lang="zh-CN" altLang="zh-CN" dirty="0"/>
              <a:t>的数据区域，</a:t>
            </a:r>
            <a:r>
              <a:rPr lang="en-US" altLang="zh-CN" dirty="0"/>
              <a:t>UDP</a:t>
            </a:r>
            <a:r>
              <a:rPr lang="zh-CN" altLang="zh-CN" dirty="0"/>
              <a:t>头部各个字段对应的</a:t>
            </a:r>
            <a:r>
              <a:rPr lang="en-US" altLang="zh-CN" dirty="0"/>
              <a:t>16</a:t>
            </a:r>
            <a:r>
              <a:rPr lang="zh-CN" altLang="zh-CN" dirty="0"/>
              <a:t>进制的编码分别是什么？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4</a:t>
            </a:r>
            <a:r>
              <a:rPr lang="zh-CN" altLang="zh-CN" dirty="0"/>
              <a:t>）还可以通过什么方式获取</a:t>
            </a:r>
            <a:r>
              <a:rPr lang="en-US" altLang="zh-CN" dirty="0"/>
              <a:t>UDP</a:t>
            </a:r>
            <a:r>
              <a:rPr lang="zh-CN" altLang="zh-CN" dirty="0"/>
              <a:t>协议的数据包？</a:t>
            </a:r>
          </a:p>
          <a:p>
            <a:pPr lvl="1">
              <a:lnSpc>
                <a:spcPct val="150000"/>
              </a:lnSpc>
            </a:pPr>
            <a:endParaRPr lang="zh-CN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3-1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  <a:sym typeface="+mn-ea"/>
              </a:rPr>
              <a:t> </a:t>
            </a:r>
            <a:r>
              <a:rPr lang="en-US" altLang="zh-CN" dirty="0">
                <a:sym typeface="+mn-ea"/>
              </a:rPr>
              <a:t>UDP</a:t>
            </a:r>
            <a:r>
              <a:rPr lang="zh-CN" altLang="en-US" dirty="0">
                <a:sym typeface="+mn-ea"/>
              </a:rPr>
              <a:t>协议分析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7500"/>
          </a:bodyPr>
          <a:lstStyle/>
          <a:p>
            <a:r>
              <a:rPr lang="zh-CN" altLang="en-US" dirty="0">
                <a:sym typeface="+mn-ea"/>
              </a:rPr>
              <a:t>回答下面的问题：</a:t>
            </a:r>
            <a:endParaRPr lang="en-US" altLang="zh-CN" dirty="0"/>
          </a:p>
          <a:p>
            <a:pPr marL="457200" lvl="1" indent="0" algn="l">
              <a:lnSpc>
                <a:spcPct val="150000"/>
              </a:lnSpc>
              <a:buNone/>
            </a:pPr>
            <a:r>
              <a:rPr lang="en-US" altLang="zh-CN"/>
              <a:t>5</a:t>
            </a:r>
            <a:r>
              <a:rPr lang="zh-CN" altLang="en-US"/>
              <a:t>）找到</a:t>
            </a:r>
            <a:r>
              <a:rPr lang="en-US" altLang="zh-CN"/>
              <a:t>UDP</a:t>
            </a:r>
            <a:r>
              <a:rPr lang="zh-CN" altLang="en-US"/>
              <a:t>头部的校验和字段。它的值是多少？它的作用是什么？如果一个</a:t>
            </a:r>
            <a:r>
              <a:rPr lang="en-US" altLang="zh-CN"/>
              <a:t>UDP</a:t>
            </a:r>
            <a:r>
              <a:rPr lang="zh-CN" altLang="en-US"/>
              <a:t>数据包在传输过程中发生了比特错误，但恰好校验和计算结果依然正确，这种情况可能发生吗？为什么？</a:t>
            </a:r>
            <a:r>
              <a:rPr lang="en-US" altLang="zh-CN"/>
              <a:t>UDP</a:t>
            </a:r>
            <a:r>
              <a:rPr lang="zh-CN" altLang="en-US"/>
              <a:t>的校验和是强制性的吗？在什么情况下可以禁用它，禁用后有什么好处和风险？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/>
              <a:t>6</a:t>
            </a:r>
            <a:r>
              <a:rPr lang="zh-CN" altLang="en-US"/>
              <a:t>）</a:t>
            </a:r>
            <a:r>
              <a:rPr lang="zh-CN" altLang="en-US" dirty="0">
                <a:sym typeface="+mn-ea"/>
              </a:rPr>
              <a:t>试解释</a:t>
            </a:r>
            <a:r>
              <a:rPr lang="en-US" altLang="zh-CN" dirty="0">
                <a:sym typeface="+mn-ea"/>
              </a:rPr>
              <a:t> DNS </a:t>
            </a:r>
            <a:r>
              <a:rPr lang="zh-CN" altLang="en-US" dirty="0">
                <a:sym typeface="+mn-ea"/>
              </a:rPr>
              <a:t>请求中源端口为何通常为随机高位端口，而目标端口固定为</a:t>
            </a:r>
            <a:r>
              <a:rPr lang="en-US" altLang="zh-CN" dirty="0">
                <a:sym typeface="+mn-ea"/>
              </a:rPr>
              <a:t> 53?</a:t>
            </a:r>
            <a:endParaRPr lang="en-US" altLang="zh-CN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>
                <a:sym typeface="+mn-ea"/>
              </a:rPr>
              <a:t>7</a:t>
            </a:r>
            <a:r>
              <a:rPr lang="zh-CN" altLang="en-US" dirty="0">
                <a:sym typeface="+mn-ea"/>
              </a:rPr>
              <a:t>）实验中如果捕获不到</a:t>
            </a:r>
            <a:r>
              <a:rPr lang="en-US" altLang="zh-CN" dirty="0">
                <a:sym typeface="+mn-ea"/>
              </a:rPr>
              <a:t> UDP </a:t>
            </a:r>
            <a:r>
              <a:rPr lang="zh-CN" altLang="en-US" dirty="0">
                <a:sym typeface="+mn-ea"/>
              </a:rPr>
              <a:t>报文，可能的原因有哪些（列举至少两种可能的原因）？</a:t>
            </a:r>
            <a:endParaRPr lang="zh-CN" alt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>
                <a:sym typeface="+mn-ea"/>
              </a:rPr>
              <a:t>8) </a:t>
            </a:r>
            <a:r>
              <a:rPr lang="zh-CN" altLang="en-US" dirty="0">
                <a:sym typeface="+mn-ea"/>
              </a:rPr>
              <a:t>解释为什么在计算</a:t>
            </a:r>
            <a:r>
              <a:rPr lang="en-US" altLang="zh-CN" dirty="0">
                <a:sym typeface="+mn-ea"/>
              </a:rPr>
              <a:t> UDP </a:t>
            </a:r>
            <a:r>
              <a:rPr lang="zh-CN" altLang="en-US" dirty="0">
                <a:sym typeface="+mn-ea"/>
              </a:rPr>
              <a:t>校验和时，需要将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伪首部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（源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目的</a:t>
            </a:r>
            <a:r>
              <a:rPr lang="en-US" altLang="zh-CN" dirty="0">
                <a:sym typeface="+mn-ea"/>
              </a:rPr>
              <a:t> IP</a:t>
            </a:r>
            <a:r>
              <a:rPr lang="zh-CN" altLang="en-US" dirty="0">
                <a:sym typeface="+mn-ea"/>
              </a:rPr>
              <a:t>、协议号、</a:t>
            </a:r>
            <a:r>
              <a:rPr lang="en-US" altLang="zh-CN" dirty="0">
                <a:sym typeface="+mn-ea"/>
              </a:rPr>
              <a:t>UDP </a:t>
            </a:r>
            <a:r>
              <a:rPr lang="zh-CN" altLang="en-US" dirty="0">
                <a:sym typeface="+mn-ea"/>
              </a:rPr>
              <a:t>长度）与</a:t>
            </a:r>
            <a:r>
              <a:rPr lang="en-US" altLang="zh-CN" dirty="0">
                <a:sym typeface="+mn-ea"/>
              </a:rPr>
              <a:t> UDP </a:t>
            </a:r>
            <a:r>
              <a:rPr lang="zh-CN" altLang="en-US" dirty="0">
                <a:sym typeface="+mn-ea"/>
              </a:rPr>
              <a:t>头和数据一并参与计算（伪首部本身不随报文发送）。</a:t>
            </a:r>
            <a:endParaRPr lang="zh-CN" altLang="en-US" dirty="0"/>
          </a:p>
          <a:p>
            <a:pPr marL="457200" lvl="1" indent="0" algn="l">
              <a:lnSpc>
                <a:spcPct val="150000"/>
              </a:lnSpc>
              <a:buNone/>
            </a:pPr>
            <a:endParaRPr lang="zh-CN" altLang="en-US"/>
          </a:p>
          <a:p>
            <a:pPr lvl="1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关于</a:t>
            </a:r>
            <a:r>
              <a:rPr lang="en-US" altLang="zh-CN"/>
              <a:t>DNS</a:t>
            </a:r>
            <a:r>
              <a:rPr lang="zh-CN" altLang="en-US"/>
              <a:t>报文的问题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 lnSpcReduction="10000"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）观察一个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DNS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查询请求（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Query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）和它对应的响应（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Response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），它们的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事务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ID”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是多少？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）在您的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DNS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服务器返回的响应报文中，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“Flags”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字段里的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“Authoritative (A)”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标志位是否被设置？设置为多少？这说明了什么？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）当客户端查询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“www.baidu.com”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时，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DNS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查询报文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“Question”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部分指定的查询类型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(Type)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是什么？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在服务器对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“www.baidu.com”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的应答中，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记录的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“Time-to-Live (TTL)”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值是多少？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）返回了多少资源记录有哪些？如果有多个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记录，为什么会返回多个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3-2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TCP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的连接管理分析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1.实验目标</a:t>
            </a:r>
          </a:p>
          <a:p>
            <a:pPr lvl="1"/>
            <a:r>
              <a:rPr lang="zh-CN" altLang="zh-CN" dirty="0"/>
              <a:t>本实验旨在通过捕获</a:t>
            </a:r>
            <a:r>
              <a:rPr lang="en-US" altLang="zh-CN" dirty="0"/>
              <a:t>TCP</a:t>
            </a:r>
            <a:r>
              <a:rPr lang="zh-CN" altLang="zh-CN" dirty="0"/>
              <a:t>会话过程中的数据包，探究</a:t>
            </a:r>
            <a:r>
              <a:rPr lang="en-US" altLang="zh-CN" dirty="0"/>
              <a:t>TCP</a:t>
            </a:r>
            <a:r>
              <a:rPr lang="zh-CN" altLang="zh-CN" dirty="0"/>
              <a:t>的连接建立和释放的机制。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zh-CN" dirty="0"/>
              <a:t>.实验平台</a:t>
            </a:r>
          </a:p>
          <a:p>
            <a:pPr lvl="1"/>
            <a:r>
              <a:rPr lang="en-US" altLang="zh-CN" dirty="0"/>
              <a:t>Windows</a:t>
            </a:r>
            <a:endParaRPr lang="zh-CN" altLang="zh-CN" dirty="0"/>
          </a:p>
          <a:p>
            <a:r>
              <a:rPr lang="en-US" altLang="zh-CN" dirty="0"/>
              <a:t>3</a:t>
            </a:r>
            <a:r>
              <a:rPr lang="zh-CN" altLang="zh-CN" dirty="0"/>
              <a:t>.实验工具</a:t>
            </a:r>
          </a:p>
          <a:p>
            <a:pPr lvl="1"/>
            <a:r>
              <a:rPr lang="en-US" altLang="zh-CN" dirty="0"/>
              <a:t>Wireshark</a:t>
            </a:r>
            <a:r>
              <a:rPr lang="zh-CN" altLang="zh-CN" dirty="0"/>
              <a:t>；</a:t>
            </a:r>
          </a:p>
          <a:p>
            <a:endParaRPr lang="zh-CN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3-2: TCP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的连接管理分析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4.</a:t>
            </a:r>
            <a:r>
              <a:rPr lang="zh-CN" altLang="en-US" dirty="0"/>
              <a:t>实验步骤：</a:t>
            </a:r>
            <a:endParaRPr lang="en-US" altLang="zh-CN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800" dirty="0"/>
              <a:t>1. TCP</a:t>
            </a:r>
            <a:r>
              <a:rPr lang="zh-CN" altLang="zh-CN" sz="2800" dirty="0"/>
              <a:t>会话过程数据包的捕获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dirty="0"/>
              <a:t>1</a:t>
            </a:r>
            <a:r>
              <a:rPr lang="zh-CN" altLang="zh-CN" sz="2400" dirty="0"/>
              <a:t>）打开</a:t>
            </a:r>
            <a:r>
              <a:rPr lang="en-US" altLang="zh-CN" sz="2400" dirty="0"/>
              <a:t>Wireshark</a:t>
            </a:r>
            <a:r>
              <a:rPr lang="zh-CN" altLang="zh-CN" sz="2400" dirty="0"/>
              <a:t>，启动</a:t>
            </a:r>
            <a:r>
              <a:rPr lang="en-US" altLang="zh-CN" sz="2400" dirty="0"/>
              <a:t>Wireshark</a:t>
            </a:r>
            <a:r>
              <a:rPr lang="zh-CN" altLang="zh-CN" sz="2400" dirty="0"/>
              <a:t>分组俘获器；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dirty="0"/>
              <a:t>2</a:t>
            </a:r>
            <a:r>
              <a:rPr lang="zh-CN" altLang="zh-CN" sz="2400" dirty="0"/>
              <a:t>）在</a:t>
            </a:r>
            <a:r>
              <a:rPr lang="en-US" altLang="zh-CN" sz="2400" dirty="0"/>
              <a:t>WEB</a:t>
            </a:r>
            <a:r>
              <a:rPr lang="zh-CN" altLang="zh-CN" sz="2400" dirty="0"/>
              <a:t>浏览器地址栏中输入：</a:t>
            </a:r>
            <a:r>
              <a:rPr lang="en-US" altLang="zh-CN" sz="2400" dirty="0"/>
              <a:t>http://gaia.cs.umass.edu/wireshark-labs/TCP-wireshark-file1.html</a:t>
            </a:r>
            <a:r>
              <a:rPr lang="zh-CN" altLang="zh-CN" sz="2400" dirty="0"/>
              <a:t>后回车；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dirty="0"/>
              <a:t>3</a:t>
            </a:r>
            <a:r>
              <a:rPr lang="zh-CN" altLang="zh-CN" sz="2400" dirty="0"/>
              <a:t>）待获取完整页面以后，停止分组</a:t>
            </a:r>
            <a:r>
              <a:rPr lang="zh-CN" altLang="zh-CN" sz="2400"/>
              <a:t>捕获；</a:t>
            </a:r>
            <a:endParaRPr lang="zh-CN" altLang="zh-CN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3-2: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TCP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的连接管理分析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10858500" cy="5450840"/>
          </a:xfrm>
        </p:spPr>
        <p:txBody>
          <a:bodyPr>
            <a:normAutofit fontScale="7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zh-CN" altLang="en-US" dirty="0"/>
              <a:t>根据捕获的数据包回答下面的问题：</a:t>
            </a:r>
            <a:endParaRPr lang="en-US" altLang="zh-CN" dirty="0"/>
          </a:p>
          <a:p>
            <a:pPr marL="457200" lvl="1" indent="0">
              <a:lnSpc>
                <a:spcPct val="160000"/>
              </a:lnSpc>
              <a:buNone/>
            </a:pPr>
            <a:r>
              <a:rPr lang="en-US" altLang="zh-CN" dirty="0"/>
              <a:t>1</a:t>
            </a:r>
            <a:r>
              <a:rPr lang="zh-CN" altLang="zh-CN" dirty="0"/>
              <a:t>）从捕获的数据包中，找出三次握手建立连接的数据包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altLang="zh-CN" dirty="0"/>
              <a:t>2</a:t>
            </a:r>
            <a:r>
              <a:rPr lang="zh-CN" altLang="zh-CN" dirty="0"/>
              <a:t>）从找到的三次握手数据包中观察，客户端协商的</a:t>
            </a:r>
            <a:r>
              <a:rPr lang="en-US" altLang="zh-CN" dirty="0"/>
              <a:t>MSS</a:t>
            </a:r>
            <a:r>
              <a:rPr lang="zh-CN" altLang="zh-CN" dirty="0"/>
              <a:t>为多少？客户端接收窗口大小？ 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altLang="zh-CN" dirty="0"/>
              <a:t>3</a:t>
            </a:r>
            <a:r>
              <a:rPr lang="zh-CN" altLang="zh-CN" dirty="0"/>
              <a:t>）服务器协商的</a:t>
            </a:r>
            <a:r>
              <a:rPr lang="en-US" altLang="zh-CN" dirty="0"/>
              <a:t>MSS</a:t>
            </a:r>
            <a:r>
              <a:rPr lang="zh-CN" altLang="zh-CN" dirty="0"/>
              <a:t>为多少？服务器端接收窗口大小为多少？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altLang="zh-CN" dirty="0"/>
              <a:t>4) </a:t>
            </a:r>
            <a:r>
              <a:rPr lang="zh-CN" altLang="en-US" dirty="0"/>
              <a:t>你已经记录了客户端和服务器各自</a:t>
            </a:r>
            <a:r>
              <a:rPr lang="en-US" altLang="zh-CN" dirty="0"/>
              <a:t>“</a:t>
            </a:r>
            <a:r>
              <a:rPr lang="zh-CN" altLang="en-US" dirty="0"/>
              <a:t>提议</a:t>
            </a:r>
            <a:r>
              <a:rPr lang="en-US" altLang="zh-CN" dirty="0"/>
              <a:t>”</a:t>
            </a:r>
            <a:r>
              <a:rPr lang="zh-CN" altLang="en-US" dirty="0"/>
              <a:t>的</a:t>
            </a:r>
            <a:r>
              <a:rPr lang="en-US" altLang="zh-CN" dirty="0"/>
              <a:t>MSS</a:t>
            </a:r>
            <a:r>
              <a:rPr lang="zh-CN" altLang="en-US" dirty="0"/>
              <a:t>值。请问，在后续真实的数据传输中，最终使用的</a:t>
            </a:r>
            <a:r>
              <a:rPr lang="en-US" altLang="zh-CN" dirty="0"/>
              <a:t>MSS</a:t>
            </a:r>
            <a:r>
              <a:rPr lang="zh-CN" altLang="en-US" dirty="0"/>
              <a:t>值是多少？这个值是等于客户端提议的、服务器提议的，还是等于两者中的某个特定值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zh-CN" altLang="zh-CN" dirty="0"/>
              <a:t>5）说明在三次握手过程中，数据包的序号，确认号，SYN标志位，ACK标志位的变化？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altLang="zh-CN" dirty="0"/>
              <a:t>6</a:t>
            </a:r>
            <a:r>
              <a:rPr lang="zh-CN" altLang="zh-CN" dirty="0"/>
              <a:t>）当客户端发送了</a:t>
            </a:r>
            <a:r>
              <a:rPr lang="en-US" altLang="zh-CN" dirty="0"/>
              <a:t>HTTP</a:t>
            </a:r>
            <a:r>
              <a:rPr lang="zh-CN" altLang="zh-CN" dirty="0"/>
              <a:t>请求报文以后，客户端收到服务器的</a:t>
            </a:r>
            <a:r>
              <a:rPr lang="en-US" altLang="zh-CN" dirty="0"/>
              <a:t>ACK</a:t>
            </a:r>
            <a:r>
              <a:rPr lang="zh-CN" altLang="zh-CN" dirty="0"/>
              <a:t>为多少？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altLang="zh-CN" dirty="0"/>
              <a:t>7</a:t>
            </a:r>
            <a:r>
              <a:rPr lang="zh-CN" altLang="zh-CN" dirty="0"/>
              <a:t>）在捕获的数据包中是否有窗口更新报文，如果有，请问在什么情况下会产生窗口更新报文？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altLang="zh-CN" dirty="0"/>
              <a:t>8</a:t>
            </a:r>
            <a:r>
              <a:rPr lang="zh-CN" altLang="zh-CN" dirty="0"/>
              <a:t>）从捕获的数据包中，找到挥手释放连接的数据包。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altLang="zh-CN" dirty="0"/>
              <a:t>9</a:t>
            </a:r>
            <a:r>
              <a:rPr lang="zh-CN" altLang="zh-CN" dirty="0"/>
              <a:t>）在这个TCP的会话过程中，服务器一共给客户端传送了多少应用层数据？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altLang="zh-CN" dirty="0"/>
              <a:t>10</a:t>
            </a:r>
            <a:r>
              <a:rPr lang="zh-CN" altLang="en-US" dirty="0"/>
              <a:t>）为什么</a:t>
            </a:r>
            <a:r>
              <a:rPr lang="en-US" altLang="zh-CN" dirty="0"/>
              <a:t>TCP</a:t>
            </a:r>
            <a:r>
              <a:rPr lang="zh-CN" altLang="en-US" dirty="0"/>
              <a:t>连接的初始序列号通常是一个看似随机的大数值，而不是从</a:t>
            </a:r>
            <a:r>
              <a:rPr lang="en-US" altLang="zh-CN" dirty="0"/>
              <a:t>0</a:t>
            </a:r>
            <a:r>
              <a:rPr lang="zh-CN" altLang="en-US" dirty="0"/>
              <a:t>开始？</a:t>
            </a:r>
          </a:p>
          <a:p>
            <a:pPr>
              <a:lnSpc>
                <a:spcPct val="160000"/>
              </a:lnSpc>
            </a:pPr>
            <a:endParaRPr lang="zh-CN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3-2: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TCP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的连接管理分析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10858500" cy="5450840"/>
          </a:xfrm>
        </p:spPr>
        <p:txBody>
          <a:bodyPr>
            <a:normAutofit fontScale="87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zh-CN" altLang="en-US" dirty="0"/>
              <a:t>根据捕获的数据包回答下面的问题：</a:t>
            </a:r>
            <a:endParaRPr lang="en-US" altLang="zh-CN" dirty="0"/>
          </a:p>
          <a:p>
            <a:pPr marL="457200" lvl="1" indent="0">
              <a:lnSpc>
                <a:spcPct val="160000"/>
              </a:lnSpc>
              <a:buNone/>
            </a:pPr>
            <a:r>
              <a:rPr lang="en-US" altLang="zh-CN" dirty="0"/>
              <a:t>11</a:t>
            </a:r>
            <a:r>
              <a:rPr lang="zh-CN" altLang="zh-CN" dirty="0"/>
              <a:t>）</a:t>
            </a:r>
            <a:r>
              <a:rPr lang="zh-CN" altLang="en-US" dirty="0"/>
              <a:t>在数据传输阶段，请从服务器发送给客户端的数据包中，任意选取一个。记下它的序列号（</a:t>
            </a:r>
            <a:r>
              <a:rPr lang="en-US" altLang="zh-CN" dirty="0"/>
              <a:t>Seq</a:t>
            </a:r>
            <a:r>
              <a:rPr lang="zh-CN" altLang="en-US" dirty="0"/>
              <a:t>）和</a:t>
            </a:r>
            <a:r>
              <a:rPr lang="en-US" altLang="zh-CN" dirty="0"/>
              <a:t>TCP</a:t>
            </a:r>
            <a:r>
              <a:rPr lang="zh-CN" altLang="en-US" dirty="0"/>
              <a:t>段长度（</a:t>
            </a:r>
            <a:r>
              <a:rPr lang="en-US" altLang="zh-CN" dirty="0"/>
              <a:t>TCP Segment Len</a:t>
            </a:r>
            <a:r>
              <a:rPr lang="zh-CN" altLang="en-US" dirty="0"/>
              <a:t>）。然后，找到客户端对这个数据包的确认（</a:t>
            </a:r>
            <a:r>
              <a:rPr lang="en-US" altLang="zh-CN" dirty="0"/>
              <a:t>ACK</a:t>
            </a:r>
            <a:r>
              <a:rPr lang="zh-CN" altLang="en-US" dirty="0"/>
              <a:t>）包。请问这个</a:t>
            </a:r>
            <a:r>
              <a:rPr lang="en-US" altLang="zh-CN" dirty="0"/>
              <a:t>ACK</a:t>
            </a:r>
            <a:r>
              <a:rPr lang="zh-CN" altLang="en-US" dirty="0"/>
              <a:t>包中的确认号（</a:t>
            </a:r>
            <a:r>
              <a:rPr lang="en-US" altLang="zh-CN" dirty="0"/>
              <a:t>Ack</a:t>
            </a:r>
            <a:r>
              <a:rPr lang="zh-CN" altLang="en-US" dirty="0"/>
              <a:t>）是多少？这三个数值（</a:t>
            </a:r>
            <a:r>
              <a:rPr lang="en-US" altLang="zh-CN" dirty="0"/>
              <a:t>Seq, Len, Ack</a:t>
            </a:r>
            <a:r>
              <a:rPr lang="zh-CN" altLang="en-US" dirty="0"/>
              <a:t>）之间存在着怎样精确的数学关系？这个关系如何体现</a:t>
            </a:r>
            <a:r>
              <a:rPr lang="en-US" altLang="zh-CN" dirty="0"/>
              <a:t>TCP</a:t>
            </a:r>
            <a:r>
              <a:rPr lang="zh-CN" altLang="en-US" dirty="0"/>
              <a:t>作为</a:t>
            </a:r>
            <a:r>
              <a:rPr lang="en-US" altLang="zh-CN" dirty="0"/>
              <a:t>“</a:t>
            </a:r>
            <a:r>
              <a:rPr lang="zh-CN" altLang="en-US" dirty="0"/>
              <a:t>面向字节流</a:t>
            </a:r>
            <a:r>
              <a:rPr lang="en-US" altLang="zh-CN" dirty="0"/>
              <a:t>”</a:t>
            </a:r>
            <a:r>
              <a:rPr lang="zh-CN" altLang="en-US" dirty="0"/>
              <a:t>协议的特性？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altLang="zh-CN" dirty="0"/>
              <a:t>12</a:t>
            </a:r>
            <a:r>
              <a:rPr lang="zh-CN" altLang="en-US" dirty="0"/>
              <a:t>）在捕获的数据包中，找到</a:t>
            </a:r>
            <a:r>
              <a:rPr lang="en-US" altLang="zh-CN" dirty="0"/>
              <a:t>PSH</a:t>
            </a:r>
            <a:r>
              <a:rPr lang="zh-CN" altLang="en-US" dirty="0"/>
              <a:t>（</a:t>
            </a:r>
            <a:r>
              <a:rPr lang="en-US" altLang="zh-CN" dirty="0"/>
              <a:t>Push</a:t>
            </a:r>
            <a:r>
              <a:rPr lang="zh-CN" altLang="en-US" dirty="0"/>
              <a:t>）标志位被设置为</a:t>
            </a:r>
            <a:r>
              <a:rPr lang="en-US" altLang="zh-CN" dirty="0"/>
              <a:t>1</a:t>
            </a:r>
            <a:r>
              <a:rPr lang="zh-CN" altLang="en-US" dirty="0"/>
              <a:t>的数据包。通常在哪些数据包中会看到这个标志位？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altLang="zh-CN" dirty="0"/>
              <a:t>13</a:t>
            </a:r>
            <a:r>
              <a:rPr lang="zh-CN" altLang="en-US" dirty="0"/>
              <a:t>）观察服务器在收到客户端的</a:t>
            </a:r>
            <a:r>
              <a:rPr lang="en-US" altLang="zh-CN" dirty="0"/>
              <a:t>FIN</a:t>
            </a:r>
            <a:r>
              <a:rPr lang="zh-CN" altLang="en-US" dirty="0"/>
              <a:t>包后，是立即回复自己的</a:t>
            </a:r>
            <a:r>
              <a:rPr lang="en-US" altLang="zh-CN" dirty="0"/>
              <a:t>FIN</a:t>
            </a:r>
            <a:r>
              <a:rPr lang="zh-CN" altLang="en-US" dirty="0"/>
              <a:t>包，还是先回复一个</a:t>
            </a:r>
            <a:r>
              <a:rPr lang="en-US" altLang="zh-CN" dirty="0"/>
              <a:t>ACK</a:t>
            </a:r>
            <a:r>
              <a:rPr lang="zh-CN" altLang="en-US" dirty="0"/>
              <a:t>，过了一小段时间后再发送</a:t>
            </a:r>
            <a:r>
              <a:rPr lang="en-US" altLang="zh-CN" dirty="0"/>
              <a:t>FIN</a:t>
            </a:r>
            <a:r>
              <a:rPr lang="zh-CN" altLang="en-US" dirty="0"/>
              <a:t>？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altLang="zh-CN" dirty="0"/>
              <a:t> 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78.0325459317582,&quot;width&quot;:2278.0325459317582}"/>
</p:tagLst>
</file>

<file path=ppt/theme/theme1.xml><?xml version="1.0" encoding="utf-8"?>
<a:theme xmlns:a="http://schemas.openxmlformats.org/drawingml/2006/main" name="Designed by iSlide">
  <a:themeElements>
    <a:clrScheme name="5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53078"/>
      </a:accent1>
      <a:accent2>
        <a:srgbClr val="704495"/>
      </a:accent2>
      <a:accent3>
        <a:srgbClr val="6B57A0"/>
      </a:accent3>
      <a:accent4>
        <a:srgbClr val="7580BC"/>
      </a:accent4>
      <a:accent5>
        <a:srgbClr val="7179A9"/>
      </a:accent5>
      <a:accent6>
        <a:srgbClr val="67AAD6"/>
      </a:accent6>
      <a:hlink>
        <a:srgbClr val="0563C1"/>
      </a:hlink>
      <a:folHlink>
        <a:srgbClr val="954F72"/>
      </a:folHlink>
    </a:clrScheme>
    <a:fontScheme name="820aae30-1c87-473b-9be3-a6f0a432e1fb">
      <a:majorFont>
        <a:latin typeface="Comic Sans MS"/>
        <a:ea typeface="微软雅黑"/>
        <a:cs typeface=""/>
      </a:majorFont>
      <a:minorFont>
        <a:latin typeface="Comic Sans MS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10</TotalTime>
  <Words>1223</Words>
  <Application>Microsoft Office PowerPoint</Application>
  <PresentationFormat>宽屏</PresentationFormat>
  <Paragraphs>79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微软雅黑</vt:lpstr>
      <vt:lpstr>Arial</vt:lpstr>
      <vt:lpstr>Comic Sans MS</vt:lpstr>
      <vt:lpstr>Designed by iSlide</vt:lpstr>
      <vt:lpstr>PowerPoint 演示文稿</vt:lpstr>
      <vt:lpstr>PowerPoint 演示文稿</vt:lpstr>
      <vt:lpstr>实验3-1： UDP协议分析</vt:lpstr>
      <vt:lpstr>实验3-1： UDP协议分析</vt:lpstr>
      <vt:lpstr>实验3-1： UDP协议分析</vt:lpstr>
      <vt:lpstr>实验3-1： UDP协议分析</vt:lpstr>
      <vt:lpstr>关于DNS报文的问题</vt:lpstr>
      <vt:lpstr>实验3-2： TCP的连接管理分析</vt:lpstr>
      <vt:lpstr>实验3-2: TCP的连接管理分析</vt:lpstr>
      <vt:lpstr>实验3-2: TCP的连接管理分析</vt:lpstr>
      <vt:lpstr>实验3-2: TCP的连接管理分析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计算机网络课程设计</dc:title>
  <dc:creator>iSlide</dc:creator>
  <cp:lastModifiedBy>阳 杨</cp:lastModifiedBy>
  <cp:revision>53</cp:revision>
  <cp:lastPrinted>2023-11-06T16:00:00Z</cp:lastPrinted>
  <dcterms:created xsi:type="dcterms:W3CDTF">2023-11-06T16:00:00Z</dcterms:created>
  <dcterms:modified xsi:type="dcterms:W3CDTF">2025-11-05T01:07:49Z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07c23b4b-f23e-44c3-a9ad-b24173362479</vt:lpwstr>
  </property>
  <property fmtid="{D5CDD505-2E9C-101B-9397-08002B2CF9AE}" pid="3" name="ICV">
    <vt:lpwstr>4605F776039446EDAE7B86BE4CD67F88_12</vt:lpwstr>
  </property>
  <property fmtid="{D5CDD505-2E9C-101B-9397-08002B2CF9AE}" pid="4" name="KSOProductBuildVer">
    <vt:lpwstr>2052-12.1.0.23542</vt:lpwstr>
  </property>
</Properties>
</file>