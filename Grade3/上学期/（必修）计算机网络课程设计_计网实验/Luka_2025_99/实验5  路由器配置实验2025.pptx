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316" r:id="rId4"/>
    <p:sldId id="320" r:id="rId5"/>
    <p:sldId id="327" r:id="rId6"/>
    <p:sldId id="321" r:id="rId7"/>
    <p:sldId id="328" r:id="rId8"/>
    <p:sldId id="329" r:id="rId9"/>
    <p:sldId id="330" r:id="rId10"/>
    <p:sldId id="331" r:id="rId11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61" d="100"/>
          <a:sy n="61" d="100"/>
        </p:scale>
        <p:origin x="134" y="31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800" b="1"/>
            </a:lvl1pPr>
            <a:lvl2pPr>
              <a:lnSpc>
                <a:spcPct val="150000"/>
              </a:lnSpc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defRPr sz="2000" b="1"/>
            </a:lvl3pPr>
            <a:lvl4pPr>
              <a:lnSpc>
                <a:spcPct val="150000"/>
              </a:lnSpc>
              <a:defRPr sz="1800" b="1"/>
            </a:lvl4pPr>
            <a:lvl5pPr>
              <a:lnSpc>
                <a:spcPct val="150000"/>
              </a:lnSpc>
              <a:defRPr sz="1800" b="1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317" y="1703113"/>
            <a:ext cx="10858500" cy="1371600"/>
          </a:xfrm>
        </p:spPr>
        <p:txBody>
          <a:bodyPr>
            <a:normAutofit/>
          </a:bodyPr>
          <a:lstStyle/>
          <a:p>
            <a:r>
              <a:rPr lang="zh-CN" altLang="en-US" sz="6600" dirty="0">
                <a:latin typeface="+mn-lt"/>
                <a:ea typeface="+mn-ea"/>
                <a:cs typeface="+mn-ea"/>
                <a:sym typeface="+mn-lt"/>
              </a:rPr>
              <a:t>计算机网络课程设计</a:t>
            </a:r>
            <a:endParaRPr lang="en-US" sz="6600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zh-CN" dirty="0"/>
              <a:t>实验目标</a:t>
            </a:r>
            <a:endParaRPr lang="zh-CN" altLang="zh-CN" dirty="0"/>
          </a:p>
          <a:p>
            <a:pPr marL="457200" lvl="1" indent="0" latinLnBrk="1">
              <a:buNone/>
            </a:pPr>
            <a:r>
              <a:rPr lang="zh-CN" altLang="zh-CN" dirty="0"/>
              <a:t>本实验的目的是了解如何通过</a:t>
            </a:r>
            <a:r>
              <a:rPr lang="en-US" altLang="zh-CN" dirty="0"/>
              <a:t>Console</a:t>
            </a:r>
            <a:r>
              <a:rPr lang="zh-CN" altLang="zh-CN" dirty="0"/>
              <a:t>口对路由器进行初始配置，例如</a:t>
            </a:r>
            <a:r>
              <a:rPr lang="en-US" altLang="zh-CN" dirty="0"/>
              <a:t>IP</a:t>
            </a:r>
            <a:r>
              <a:rPr lang="zh-CN" altLang="zh-CN" dirty="0"/>
              <a:t>信息、权限和账户等。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zh-CN" dirty="0"/>
              <a:t>实验平台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Packet Tracer</a:t>
            </a:r>
            <a:r>
              <a:rPr lang="zh-CN" altLang="zh-CN" dirty="0"/>
              <a:t>环境配置：</a:t>
            </a:r>
            <a:r>
              <a:rPr lang="en-US" altLang="zh-CN" dirty="0"/>
              <a:t>Windows 11</a:t>
            </a:r>
            <a:r>
              <a:rPr lang="zh-CN" altLang="zh-CN" dirty="0"/>
              <a:t>（任何可以安装</a:t>
            </a:r>
            <a:r>
              <a:rPr lang="en-US" altLang="zh-CN" dirty="0"/>
              <a:t>Cisco Packet Tracer</a:t>
            </a:r>
            <a:r>
              <a:rPr lang="zh-CN" altLang="zh-CN" dirty="0"/>
              <a:t>的平台均可以完成）。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zh-CN" dirty="0"/>
              <a:t>实验工具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Cisco Packet Tracer 8.2.1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实验原理</a:t>
            </a:r>
            <a:r>
              <a:rPr lang="en-US" altLang="zh-CN" dirty="0"/>
              <a:t>(</a:t>
            </a:r>
            <a:r>
              <a:rPr lang="zh-CN" altLang="zh-CN" dirty="0"/>
              <a:t>路由器的四种工作模式</a:t>
            </a:r>
            <a:r>
              <a:rPr lang="en-US" altLang="zh-CN" dirty="0"/>
              <a:t>)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在连接并登录路由器后，进入可操作的状态。路由器在可操作状态下有四种模式，分别为用户模式、特权模式、全局模式和接口模式。不同的模式下，路由器允许执行的命令是不同的，也就是说，每个模式都有自己的命令范围。一般来说，用户模式的命令范围最小，特权模式的命令范围最大，全局模式和接口模式的命令范围介于二者之间。</a:t>
            </a:r>
            <a:endParaRPr lang="zh-CN" altLang="zh-CN" dirty="0"/>
          </a:p>
        </p:txBody>
      </p:sp>
      <p:pic>
        <p:nvPicPr>
          <p:cNvPr id="4" name="图片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42" y="4632100"/>
            <a:ext cx="11743763" cy="1688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5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4471" y="1130300"/>
            <a:ext cx="7028329" cy="50038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sz="2400" dirty="0"/>
              <a:t>5.</a:t>
            </a:r>
            <a:r>
              <a:rPr lang="zh-CN" altLang="zh-CN" sz="2400" dirty="0"/>
              <a:t>实验</a:t>
            </a:r>
            <a:r>
              <a:rPr lang="zh-CN" altLang="en-US" sz="2400" dirty="0"/>
              <a:t>步骤</a:t>
            </a:r>
            <a:endParaRPr lang="zh-CN" altLang="zh-CN" sz="2400" dirty="0"/>
          </a:p>
          <a:p>
            <a:pPr marL="457200" lvl="1" indent="0">
              <a:buNone/>
            </a:pPr>
            <a:r>
              <a:rPr lang="zh-CN" altLang="zh-CN" sz="1800" dirty="0"/>
              <a:t>（</a:t>
            </a:r>
            <a:r>
              <a:rPr lang="en-US" altLang="zh-CN" sz="1800" dirty="0"/>
              <a:t>1</a:t>
            </a:r>
            <a:r>
              <a:rPr lang="zh-CN" altLang="zh-CN" sz="1800" dirty="0"/>
              <a:t>）构建网络拓扑结构</a:t>
            </a:r>
            <a:endParaRPr lang="zh-CN" altLang="zh-CN" sz="1800" dirty="0"/>
          </a:p>
          <a:p>
            <a:pPr marL="914400" lvl="2" indent="0">
              <a:buNone/>
            </a:pPr>
            <a:r>
              <a:rPr lang="zh-CN" altLang="zh-CN" sz="1600" dirty="0"/>
              <a:t>启动思科模拟器，从左下角的设备框中拖动</a:t>
            </a:r>
            <a:r>
              <a:rPr lang="en-US" altLang="zh-CN" sz="1600" dirty="0"/>
              <a:t>1</a:t>
            </a:r>
            <a:r>
              <a:rPr lang="zh-CN" altLang="zh-CN" sz="1600" dirty="0"/>
              <a:t>台</a:t>
            </a:r>
            <a:r>
              <a:rPr lang="en-US" altLang="zh-CN" sz="1600" dirty="0"/>
              <a:t>1841</a:t>
            </a:r>
            <a:r>
              <a:rPr lang="zh-CN" altLang="zh-CN" sz="1600" dirty="0"/>
              <a:t>路由器、</a:t>
            </a:r>
            <a:r>
              <a:rPr lang="en-US" altLang="zh-CN" sz="1600" dirty="0"/>
              <a:t>1</a:t>
            </a:r>
            <a:r>
              <a:rPr lang="zh-CN" altLang="zh-CN" sz="1600" dirty="0"/>
              <a:t>台</a:t>
            </a:r>
            <a:r>
              <a:rPr lang="en-US" altLang="zh-CN" sz="1600" dirty="0"/>
              <a:t>2950-24</a:t>
            </a:r>
            <a:r>
              <a:rPr lang="zh-CN" altLang="zh-CN" sz="1600" dirty="0"/>
              <a:t>交换机和</a:t>
            </a:r>
            <a:r>
              <a:rPr lang="en-US" altLang="zh-CN" sz="1600" dirty="0"/>
              <a:t>2</a:t>
            </a:r>
            <a:r>
              <a:rPr lang="zh-CN" altLang="zh-CN" sz="1600" dirty="0"/>
              <a:t>台主机到工作区。使用配置线将路由器的</a:t>
            </a:r>
            <a:r>
              <a:rPr lang="en-US" altLang="zh-CN" sz="1600" dirty="0"/>
              <a:t>Console</a:t>
            </a:r>
            <a:r>
              <a:rPr lang="zh-CN" altLang="zh-CN" sz="1600" dirty="0"/>
              <a:t>口与主机</a:t>
            </a:r>
            <a:r>
              <a:rPr lang="en-US" altLang="zh-CN" sz="1600" dirty="0"/>
              <a:t>PC0</a:t>
            </a:r>
            <a:r>
              <a:rPr lang="zh-CN" altLang="zh-CN" sz="1600" dirty="0"/>
              <a:t>的</a:t>
            </a:r>
            <a:r>
              <a:rPr lang="en-US" altLang="zh-CN" sz="1600" dirty="0"/>
              <a:t>RS 232</a:t>
            </a:r>
            <a:r>
              <a:rPr lang="zh-CN" altLang="zh-CN" sz="1600" dirty="0"/>
              <a:t>口相连，使用直通线将其他设备的以太网口相连，构建实验拓扑结构。配置线的连接方式需要特别注意，否则无法进行路由器的配置操作。</a:t>
            </a:r>
            <a:endParaRPr lang="zh-CN" altLang="zh-CN" sz="1600" dirty="0"/>
          </a:p>
          <a:p>
            <a:pPr marL="457200" lvl="1" indent="0">
              <a:buNone/>
            </a:pPr>
            <a:r>
              <a:rPr lang="zh-CN" altLang="zh-CN" sz="1800" dirty="0"/>
              <a:t>（</a:t>
            </a:r>
            <a:r>
              <a:rPr lang="en-US" altLang="zh-CN" sz="1800" dirty="0"/>
              <a:t>2</a:t>
            </a:r>
            <a:r>
              <a:rPr lang="zh-CN" altLang="zh-CN" sz="1800" dirty="0"/>
              <a:t>）配置主机的</a:t>
            </a:r>
            <a:r>
              <a:rPr lang="en-US" altLang="zh-CN" sz="1800" dirty="0"/>
              <a:t>IP</a:t>
            </a:r>
            <a:r>
              <a:rPr lang="zh-CN" altLang="zh-CN" sz="1800" dirty="0"/>
              <a:t>信息</a:t>
            </a:r>
            <a:endParaRPr lang="zh-CN" altLang="zh-CN" sz="1800" dirty="0"/>
          </a:p>
          <a:p>
            <a:pPr marL="914400" lvl="2" indent="0">
              <a:buNone/>
            </a:pPr>
            <a:r>
              <a:rPr lang="zh-CN" altLang="zh-CN" sz="1600" dirty="0"/>
              <a:t>在工作区中，双击</a:t>
            </a:r>
            <a:r>
              <a:rPr lang="en-US" altLang="zh-CN" sz="1600" dirty="0"/>
              <a:t>PC1</a:t>
            </a:r>
            <a:r>
              <a:rPr lang="zh-CN" altLang="zh-CN" sz="1600" dirty="0"/>
              <a:t>主机图标打开配置窗口，切换到</a:t>
            </a:r>
            <a:r>
              <a:rPr lang="en-US" altLang="zh-CN" sz="1600" dirty="0"/>
              <a:t>“Desktop”</a:t>
            </a:r>
            <a:r>
              <a:rPr lang="zh-CN" altLang="zh-CN" sz="1600" dirty="0"/>
              <a:t>选项卡，点击</a:t>
            </a:r>
            <a:r>
              <a:rPr lang="en-US" altLang="zh-CN" sz="1600" dirty="0"/>
              <a:t>“IP Configuration”</a:t>
            </a:r>
            <a:r>
              <a:rPr lang="zh-CN" altLang="zh-CN" sz="1600" dirty="0"/>
              <a:t>按钮，即可看到</a:t>
            </a:r>
            <a:r>
              <a:rPr lang="en-US" altLang="zh-CN" sz="1600" dirty="0"/>
              <a:t>PC1</a:t>
            </a:r>
            <a:r>
              <a:rPr lang="zh-CN" altLang="zh-CN" sz="1600" dirty="0"/>
              <a:t>的</a:t>
            </a:r>
            <a:r>
              <a:rPr lang="en-US" altLang="zh-CN" sz="1600" dirty="0"/>
              <a:t>IP</a:t>
            </a:r>
            <a:r>
              <a:rPr lang="zh-CN" altLang="zh-CN" sz="1600" dirty="0"/>
              <a:t>配置界面。依次为</a:t>
            </a:r>
            <a:r>
              <a:rPr lang="en-US" altLang="zh-CN" sz="1600" dirty="0"/>
              <a:t>PC1</a:t>
            </a:r>
            <a:r>
              <a:rPr lang="zh-CN" altLang="zh-CN" sz="1600" dirty="0"/>
              <a:t>主机设置</a:t>
            </a:r>
            <a:r>
              <a:rPr lang="en-US" altLang="zh-CN" sz="1600" dirty="0"/>
              <a:t>IP</a:t>
            </a:r>
            <a:r>
              <a:rPr lang="zh-CN" altLang="zh-CN" sz="1600" dirty="0"/>
              <a:t>地址、子网掩码和网关。</a:t>
            </a:r>
            <a:r>
              <a:rPr lang="en-US" altLang="zh-CN" sz="1600" dirty="0"/>
              <a:t>PC0</a:t>
            </a:r>
            <a:r>
              <a:rPr lang="zh-CN" altLang="zh-CN" sz="1600" dirty="0"/>
              <a:t>主机使用配置线与路由器的</a:t>
            </a:r>
            <a:r>
              <a:rPr lang="en-US" altLang="zh-CN" sz="1600" dirty="0"/>
              <a:t>Console</a:t>
            </a:r>
            <a:r>
              <a:rPr lang="zh-CN" altLang="zh-CN" sz="1600" dirty="0"/>
              <a:t>口相连，因此不需要设置</a:t>
            </a:r>
            <a:r>
              <a:rPr lang="en-US" altLang="zh-CN" sz="1600" dirty="0"/>
              <a:t>IP</a:t>
            </a:r>
            <a:r>
              <a:rPr lang="zh-CN" altLang="zh-CN" sz="1600" dirty="0"/>
              <a:t>地址、子网掩码和网关。</a:t>
            </a:r>
            <a:endParaRPr lang="zh-CN" altLang="zh-CN" sz="1600" dirty="0"/>
          </a:p>
          <a:p>
            <a:pPr marL="914400" lvl="2" indent="0">
              <a:buNone/>
            </a:pPr>
            <a:endParaRPr lang="zh-CN" altLang="zh-CN" sz="1600" dirty="0"/>
          </a:p>
          <a:p>
            <a:pPr marL="457200" lvl="1" indent="0">
              <a:buNone/>
            </a:pPr>
            <a:endParaRPr lang="zh-CN" altLang="zh-CN" sz="1800" dirty="0"/>
          </a:p>
        </p:txBody>
      </p:sp>
      <p:pic>
        <p:nvPicPr>
          <p:cNvPr id="4" name="图片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259" y="366432"/>
            <a:ext cx="4673600" cy="7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403" y="1450974"/>
            <a:ext cx="4342279" cy="36533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592557" y="5484615"/>
          <a:ext cx="5381302" cy="8387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4953"/>
                <a:gridCol w="854953"/>
                <a:gridCol w="1157079"/>
                <a:gridCol w="1357238"/>
                <a:gridCol w="1157079"/>
              </a:tblGrid>
              <a:tr h="3299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设备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接口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IP</a:t>
                      </a:r>
                      <a:r>
                        <a:rPr lang="zh-CN" sz="1400" kern="100">
                          <a:effectLst/>
                        </a:rPr>
                        <a:t>地址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子网掩码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默认网关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544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PC0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RS 232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544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PC1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Fa0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192.168.1.2</a:t>
                      </a:r>
                      <a:endParaRPr lang="zh-CN" sz="1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255.255.225.0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192.168.1.1</a:t>
                      </a:r>
                      <a:endParaRPr lang="zh-CN" sz="1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5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6502400" cy="500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zh-CN" dirty="0"/>
              <a:t>实验</a:t>
            </a:r>
            <a:r>
              <a:rPr lang="zh-CN" altLang="en-US" dirty="0"/>
              <a:t>步骤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）路由器</a:t>
            </a:r>
            <a:r>
              <a:rPr lang="en-US" altLang="zh-CN" dirty="0"/>
              <a:t>Console</a:t>
            </a:r>
            <a:r>
              <a:rPr lang="zh-CN" altLang="zh-CN" dirty="0"/>
              <a:t>口配置</a:t>
            </a:r>
            <a:endParaRPr lang="zh-CN" altLang="zh-CN" dirty="0"/>
          </a:p>
          <a:p>
            <a:pPr marL="914400" lvl="2" indent="0">
              <a:buNone/>
            </a:pPr>
            <a:r>
              <a:rPr lang="en-US" altLang="zh-CN" dirty="0"/>
              <a:t>PC0</a:t>
            </a:r>
            <a:r>
              <a:rPr lang="zh-CN" altLang="zh-CN" dirty="0"/>
              <a:t>主机使用配置线将其</a:t>
            </a:r>
            <a:r>
              <a:rPr lang="en-US" altLang="zh-CN" dirty="0"/>
              <a:t>RS 232</a:t>
            </a:r>
            <a:r>
              <a:rPr lang="zh-CN" altLang="zh-CN" dirty="0"/>
              <a:t>口与路由器的</a:t>
            </a:r>
            <a:r>
              <a:rPr lang="en-US" altLang="zh-CN" dirty="0"/>
              <a:t>Console</a:t>
            </a:r>
            <a:r>
              <a:rPr lang="zh-CN" altLang="zh-CN" dirty="0"/>
              <a:t>接口相连，并根据表</a:t>
            </a:r>
            <a:r>
              <a:rPr lang="en-US" altLang="zh-CN" dirty="0"/>
              <a:t>7-4</a:t>
            </a:r>
            <a:r>
              <a:rPr lang="zh-CN" altLang="zh-CN" dirty="0"/>
              <a:t>的内容为其设置</a:t>
            </a:r>
            <a:r>
              <a:rPr lang="en-US" altLang="zh-CN" dirty="0"/>
              <a:t>IP</a:t>
            </a:r>
            <a:r>
              <a:rPr lang="zh-CN" altLang="zh-CN" dirty="0"/>
              <a:t>信息。</a:t>
            </a:r>
            <a:endParaRPr lang="en-US" altLang="zh-CN" dirty="0"/>
          </a:p>
          <a:p>
            <a:pPr marL="914400" lvl="2" indent="0">
              <a:buNone/>
            </a:pPr>
            <a:r>
              <a:rPr lang="zh-CN" altLang="zh-CN" dirty="0"/>
              <a:t>在工作区中，单击</a:t>
            </a:r>
            <a:r>
              <a:rPr lang="en-US" altLang="zh-CN" dirty="0"/>
              <a:t>PC0</a:t>
            </a:r>
            <a:r>
              <a:rPr lang="zh-CN" altLang="zh-CN" dirty="0"/>
              <a:t>图标打开配置窗口，切换到</a:t>
            </a:r>
            <a:r>
              <a:rPr lang="en-US" altLang="zh-CN" dirty="0"/>
              <a:t>“Desktop”</a:t>
            </a:r>
            <a:r>
              <a:rPr lang="zh-CN" altLang="zh-CN" dirty="0"/>
              <a:t>选项卡，点击</a:t>
            </a:r>
            <a:r>
              <a:rPr lang="en-US" altLang="zh-CN" dirty="0"/>
              <a:t>“</a:t>
            </a:r>
            <a:r>
              <a:rPr lang="zh-CN" altLang="zh-CN" dirty="0"/>
              <a:t>终端</a:t>
            </a:r>
            <a:r>
              <a:rPr lang="en-US" altLang="zh-CN" dirty="0"/>
              <a:t>”</a:t>
            </a:r>
            <a:r>
              <a:rPr lang="zh-CN" altLang="zh-CN" dirty="0"/>
              <a:t>按钮，就可以看到</a:t>
            </a:r>
            <a:r>
              <a:rPr lang="en-US" altLang="zh-CN" dirty="0"/>
              <a:t>PC0</a:t>
            </a:r>
            <a:r>
              <a:rPr lang="zh-CN" altLang="zh-CN" dirty="0"/>
              <a:t>的终端配置界面</a:t>
            </a:r>
            <a:endParaRPr lang="zh-CN" altLang="zh-CN" dirty="0"/>
          </a:p>
          <a:p>
            <a:pPr marL="457200" lvl="1" indent="0">
              <a:buNone/>
            </a:pPr>
            <a:endParaRPr lang="zh-CN" altLang="zh-CN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914026" y="1737286"/>
          <a:ext cx="6228666" cy="6831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5879"/>
                <a:gridCol w="1015879"/>
                <a:gridCol w="1377786"/>
                <a:gridCol w="1616115"/>
                <a:gridCol w="1203007"/>
              </a:tblGrid>
              <a:tr h="3795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设备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接口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IP</a:t>
                      </a:r>
                      <a:r>
                        <a:rPr lang="zh-CN" sz="1600" kern="100">
                          <a:effectLst/>
                        </a:rPr>
                        <a:t>地址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子网掩码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默认网关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3638">
                <a:tc>
                  <a:txBody>
                    <a:bodyPr/>
                    <a:lstStyle/>
                    <a:p>
                      <a:pPr marR="133350" algn="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R0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N/A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7" name="图片 6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263" y="2587064"/>
            <a:ext cx="4416795" cy="3863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5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4866341" cy="500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zh-CN" dirty="0"/>
              <a:t>实验</a:t>
            </a:r>
            <a:r>
              <a:rPr lang="zh-CN" altLang="en-US" dirty="0"/>
              <a:t>步骤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）路由器</a:t>
            </a:r>
            <a:r>
              <a:rPr lang="en-US" altLang="zh-CN" dirty="0"/>
              <a:t>Console</a:t>
            </a:r>
            <a:r>
              <a:rPr lang="zh-CN" altLang="zh-CN" dirty="0"/>
              <a:t>口配置</a:t>
            </a:r>
            <a:endParaRPr lang="zh-CN" altLang="zh-CN" dirty="0"/>
          </a:p>
          <a:p>
            <a:pPr marL="457200" lvl="1" indent="0">
              <a:buNone/>
            </a:pPr>
            <a:endParaRPr lang="zh-CN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4641" y="0"/>
            <a:ext cx="68773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5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4866341" cy="5003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zh-CN" dirty="0"/>
              <a:t>实验</a:t>
            </a:r>
            <a:r>
              <a:rPr lang="zh-CN" altLang="en-US" dirty="0"/>
              <a:t>步骤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）路由器连通性测试</a:t>
            </a:r>
            <a:endParaRPr lang="zh-CN" altLang="zh-CN" dirty="0"/>
          </a:p>
          <a:p>
            <a:pPr marL="914400" lvl="2" indent="0">
              <a:buNone/>
            </a:pPr>
            <a:r>
              <a:rPr lang="zh-CN" altLang="zh-CN" dirty="0"/>
              <a:t>为了检验</a:t>
            </a:r>
            <a:r>
              <a:rPr lang="en-US" altLang="zh-CN" dirty="0"/>
              <a:t>PC1</a:t>
            </a:r>
            <a:r>
              <a:rPr lang="zh-CN" altLang="zh-CN" dirty="0"/>
              <a:t>主机与</a:t>
            </a:r>
            <a:r>
              <a:rPr lang="en-US" altLang="zh-CN" dirty="0"/>
              <a:t>Router0</a:t>
            </a:r>
            <a:r>
              <a:rPr lang="zh-CN" altLang="zh-CN" dirty="0"/>
              <a:t>之间的网络连通性，我们可以在</a:t>
            </a:r>
            <a:r>
              <a:rPr lang="en-US" altLang="zh-CN" dirty="0"/>
              <a:t>PC1</a:t>
            </a:r>
            <a:r>
              <a:rPr lang="zh-CN" altLang="zh-CN" dirty="0"/>
              <a:t>主机上执行</a:t>
            </a:r>
            <a:r>
              <a:rPr lang="en-US" altLang="zh-CN" dirty="0"/>
              <a:t>ping</a:t>
            </a:r>
            <a:r>
              <a:rPr lang="zh-CN" altLang="zh-CN" dirty="0"/>
              <a:t>命令。首先，用鼠标左键单击</a:t>
            </a:r>
            <a:r>
              <a:rPr lang="en-US" altLang="zh-CN" dirty="0"/>
              <a:t>PC1</a:t>
            </a:r>
            <a:r>
              <a:rPr lang="zh-CN" altLang="zh-CN" dirty="0"/>
              <a:t>主机的图标，打开其配置界面。然后，选择</a:t>
            </a:r>
            <a:r>
              <a:rPr lang="en-US" altLang="zh-CN" dirty="0"/>
              <a:t>“Desktop”</a:t>
            </a:r>
            <a:r>
              <a:rPr lang="zh-CN" altLang="zh-CN" dirty="0"/>
              <a:t>选项卡下的</a:t>
            </a:r>
            <a:r>
              <a:rPr lang="en-US" altLang="zh-CN" dirty="0"/>
              <a:t>“Command Prompt”</a:t>
            </a:r>
            <a:r>
              <a:rPr lang="zh-CN" altLang="zh-CN" dirty="0"/>
              <a:t>按钮，进入命令行模式。接着，在命令行中输入</a:t>
            </a:r>
            <a:r>
              <a:rPr lang="en-US" altLang="zh-CN" dirty="0"/>
              <a:t>“ping 192.168.1.1”</a:t>
            </a:r>
            <a:r>
              <a:rPr lang="zh-CN" altLang="zh-CN" dirty="0"/>
              <a:t>并按回车键。</a:t>
            </a:r>
            <a:endParaRPr lang="zh-CN" altLang="zh-CN" dirty="0"/>
          </a:p>
          <a:p>
            <a:pPr marL="457200" lvl="1" indent="0">
              <a:buNone/>
            </a:pPr>
            <a:endParaRPr lang="zh-CN" altLang="zh-CN" dirty="0"/>
          </a:p>
        </p:txBody>
      </p:sp>
      <p:pic>
        <p:nvPicPr>
          <p:cNvPr id="5" name="图片 4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175" y="578643"/>
            <a:ext cx="4907990" cy="2621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5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4866341" cy="50038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altLang="zh-CN" dirty="0"/>
              <a:t>5.</a:t>
            </a:r>
            <a:r>
              <a:rPr lang="zh-CN" altLang="zh-CN" dirty="0"/>
              <a:t>实验</a:t>
            </a:r>
            <a:r>
              <a:rPr lang="zh-CN" altLang="en-US" dirty="0"/>
              <a:t>步骤</a:t>
            </a:r>
            <a:endParaRPr lang="zh-CN" altLang="zh-CN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zh-CN" altLang="zh-CN" dirty="0"/>
              <a:t>（</a:t>
            </a:r>
            <a:r>
              <a:rPr lang="en-US" altLang="zh-CN" dirty="0"/>
              <a:t>5</a:t>
            </a:r>
            <a:r>
              <a:rPr lang="zh-CN" altLang="zh-CN" dirty="0"/>
              <a:t>）</a:t>
            </a:r>
            <a:r>
              <a:rPr lang="en-US" altLang="zh-CN" dirty="0"/>
              <a:t>telnet</a:t>
            </a:r>
            <a:r>
              <a:rPr lang="zh-CN" altLang="zh-CN" dirty="0"/>
              <a:t>登陆配置</a:t>
            </a:r>
            <a:endParaRPr lang="zh-CN" altLang="zh-CN" dirty="0"/>
          </a:p>
          <a:p>
            <a:pPr marL="914400" lvl="2" indent="0">
              <a:lnSpc>
                <a:spcPct val="160000"/>
              </a:lnSpc>
              <a:buNone/>
            </a:pPr>
            <a:r>
              <a:rPr lang="zh-CN" altLang="zh-CN" dirty="0"/>
              <a:t>为了使用</a:t>
            </a:r>
            <a:r>
              <a:rPr lang="en-US" altLang="zh-CN" dirty="0"/>
              <a:t>Telnet</a:t>
            </a:r>
            <a:r>
              <a:rPr lang="zh-CN" altLang="zh-CN" dirty="0"/>
              <a:t>协议远程登录路由器，需要在路由器上创建一个</a:t>
            </a:r>
            <a:r>
              <a:rPr lang="en-US" altLang="zh-CN" dirty="0"/>
              <a:t>admin</a:t>
            </a:r>
            <a:r>
              <a:rPr lang="zh-CN" altLang="zh-CN" dirty="0"/>
              <a:t>账户，并为其分配一个特权级别。在</a:t>
            </a:r>
            <a:r>
              <a:rPr lang="en-US" altLang="zh-CN" dirty="0"/>
              <a:t>Packet Tracer</a:t>
            </a:r>
            <a:r>
              <a:rPr lang="zh-CN" altLang="zh-CN" dirty="0"/>
              <a:t>中，路由器支持</a:t>
            </a:r>
            <a:r>
              <a:rPr lang="en-US" altLang="zh-CN" dirty="0"/>
              <a:t>16</a:t>
            </a:r>
            <a:r>
              <a:rPr lang="zh-CN" altLang="zh-CN" dirty="0"/>
              <a:t>个不同的特权级别，从</a:t>
            </a:r>
            <a:r>
              <a:rPr lang="en-US" altLang="zh-CN" dirty="0"/>
              <a:t>0</a:t>
            </a:r>
            <a:r>
              <a:rPr lang="zh-CN" altLang="zh-CN" dirty="0"/>
              <a:t>到</a:t>
            </a:r>
            <a:r>
              <a:rPr lang="en-US" altLang="zh-CN" dirty="0"/>
              <a:t>15</a:t>
            </a:r>
            <a:r>
              <a:rPr lang="zh-CN" altLang="zh-CN" dirty="0"/>
              <a:t>，每个级别对应不同的命令权限。在</a:t>
            </a:r>
            <a:r>
              <a:rPr lang="en-US" altLang="zh-CN" dirty="0"/>
              <a:t>PC0</a:t>
            </a:r>
            <a:r>
              <a:rPr lang="zh-CN" altLang="zh-CN" dirty="0"/>
              <a:t>的终端窗口中输入以下命令：</a:t>
            </a:r>
            <a:endParaRPr lang="zh-CN" altLang="zh-CN" dirty="0"/>
          </a:p>
          <a:p>
            <a:pPr marL="457200" lvl="1" indent="0">
              <a:lnSpc>
                <a:spcPct val="160000"/>
              </a:lnSpc>
              <a:buNone/>
            </a:pPr>
            <a:endParaRPr lang="zh-CN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6741" y="977154"/>
            <a:ext cx="6499412" cy="25860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5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/>
              <a:t>路由器配置实验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5726953" cy="5003800"/>
          </a:xfrm>
        </p:spPr>
        <p:txBody>
          <a:bodyPr>
            <a:normAutofit fontScale="85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dirty="0"/>
              <a:t>5.</a:t>
            </a:r>
            <a:r>
              <a:rPr lang="zh-CN" altLang="zh-CN" dirty="0"/>
              <a:t>实验</a:t>
            </a:r>
            <a:r>
              <a:rPr lang="zh-CN" altLang="en-US" dirty="0"/>
              <a:t>步骤</a:t>
            </a:r>
            <a:endParaRPr lang="zh-CN" altLang="zh-CN" dirty="0"/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zh-CN" dirty="0"/>
              <a:t>（</a:t>
            </a:r>
            <a:r>
              <a:rPr lang="en-US" altLang="zh-CN" dirty="0"/>
              <a:t>6</a:t>
            </a:r>
            <a:r>
              <a:rPr lang="zh-CN" altLang="zh-CN" dirty="0"/>
              <a:t>）</a:t>
            </a:r>
            <a:r>
              <a:rPr lang="en-US" altLang="zh-CN" dirty="0"/>
              <a:t>Telnet</a:t>
            </a:r>
            <a:r>
              <a:rPr lang="zh-CN" altLang="zh-CN" dirty="0"/>
              <a:t>登录测试</a:t>
            </a:r>
            <a:endParaRPr lang="zh-CN" altLang="zh-CN" dirty="0"/>
          </a:p>
          <a:p>
            <a:pPr marL="914400" lvl="2" indent="0">
              <a:lnSpc>
                <a:spcPct val="170000"/>
              </a:lnSpc>
              <a:buNone/>
            </a:pPr>
            <a:r>
              <a:rPr lang="zh-CN" altLang="zh-CN" dirty="0"/>
              <a:t>在</a:t>
            </a:r>
            <a:r>
              <a:rPr lang="en-US" altLang="zh-CN" dirty="0"/>
              <a:t>PC1</a:t>
            </a:r>
            <a:r>
              <a:rPr lang="zh-CN" altLang="zh-CN" dirty="0"/>
              <a:t>的</a:t>
            </a:r>
            <a:r>
              <a:rPr lang="en-US" altLang="zh-CN" dirty="0"/>
              <a:t>“Command Prompt”</a:t>
            </a:r>
            <a:r>
              <a:rPr lang="zh-CN" altLang="zh-CN" dirty="0"/>
              <a:t>窗口中使用</a:t>
            </a:r>
            <a:r>
              <a:rPr lang="en-US" altLang="zh-CN" dirty="0"/>
              <a:t>Telnet</a:t>
            </a:r>
            <a:r>
              <a:rPr lang="zh-CN" altLang="zh-CN" dirty="0"/>
              <a:t>命令来远程登录</a:t>
            </a:r>
            <a:r>
              <a:rPr lang="en-US" altLang="zh-CN" dirty="0"/>
              <a:t>Router0</a:t>
            </a:r>
            <a:r>
              <a:rPr lang="zh-CN" altLang="zh-CN" dirty="0"/>
              <a:t>。输入</a:t>
            </a:r>
            <a:r>
              <a:rPr lang="en-US" altLang="zh-CN" dirty="0"/>
              <a:t>“Telnet 192.168.1.1”</a:t>
            </a:r>
            <a:r>
              <a:rPr lang="zh-CN" altLang="zh-CN" dirty="0"/>
              <a:t>后，按照提示输入用户名</a:t>
            </a:r>
            <a:r>
              <a:rPr lang="en-US" altLang="zh-CN" dirty="0"/>
              <a:t>admin</a:t>
            </a:r>
            <a:r>
              <a:rPr lang="zh-CN" altLang="zh-CN" dirty="0"/>
              <a:t>和密码</a:t>
            </a:r>
            <a:r>
              <a:rPr lang="en-US" altLang="zh-CN" dirty="0"/>
              <a:t>456</a:t>
            </a:r>
            <a:r>
              <a:rPr lang="zh-CN" altLang="zh-CN" dirty="0"/>
              <a:t>。图展示了</a:t>
            </a:r>
            <a:r>
              <a:rPr lang="en-US" altLang="zh-CN" dirty="0"/>
              <a:t>PC1</a:t>
            </a:r>
            <a:r>
              <a:rPr lang="zh-CN" altLang="zh-CN" dirty="0"/>
              <a:t>主机成功地通过</a:t>
            </a:r>
            <a:r>
              <a:rPr lang="en-US" altLang="zh-CN" dirty="0"/>
              <a:t>Telnet</a:t>
            </a:r>
            <a:r>
              <a:rPr lang="zh-CN" altLang="zh-CN" dirty="0"/>
              <a:t>连接到</a:t>
            </a:r>
            <a:r>
              <a:rPr lang="en-US" altLang="zh-CN" dirty="0"/>
              <a:t>Router0</a:t>
            </a:r>
            <a:r>
              <a:rPr lang="zh-CN" altLang="zh-CN" dirty="0"/>
              <a:t>的过程。为了进入特权模式，还需要输入另一个密码</a:t>
            </a:r>
            <a:r>
              <a:rPr lang="en-US" altLang="zh-CN" dirty="0"/>
              <a:t>123</a:t>
            </a:r>
            <a:r>
              <a:rPr lang="zh-CN" altLang="zh-CN" dirty="0"/>
              <a:t>。一旦登录到路由器，就可以像使用</a:t>
            </a:r>
            <a:r>
              <a:rPr lang="en-US" altLang="zh-CN" dirty="0"/>
              <a:t>Console</a:t>
            </a:r>
            <a:r>
              <a:rPr lang="zh-CN" altLang="zh-CN" dirty="0"/>
              <a:t>口一样对路由器进行各种配置操作。</a:t>
            </a:r>
            <a:endParaRPr lang="zh-CN" altLang="zh-CN" dirty="0"/>
          </a:p>
          <a:p>
            <a:pPr marL="457200" lvl="1" indent="0">
              <a:lnSpc>
                <a:spcPct val="170000"/>
              </a:lnSpc>
              <a:buNone/>
            </a:pPr>
            <a:endParaRPr lang="zh-CN" altLang="zh-CN" dirty="0"/>
          </a:p>
        </p:txBody>
      </p:sp>
      <p:pic>
        <p:nvPicPr>
          <p:cNvPr id="5" name="图片 4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261" y="1663644"/>
            <a:ext cx="4598892" cy="2280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commondata" val="eyJoZGlkIjoiYjAwYjZkZTI4YmUzYTVlZWNhMTYwY2JhMmY5YWJjYmUifQ==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1542</Words>
  <Application>WPS 演示</Application>
  <PresentationFormat>宽屏</PresentationFormat>
  <Paragraphs>111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等线</vt:lpstr>
      <vt:lpstr>Calibri</vt:lpstr>
      <vt:lpstr>Times New Roman</vt:lpstr>
      <vt:lpstr>微软雅黑</vt:lpstr>
      <vt:lpstr>Comic Sans MS</vt:lpstr>
      <vt:lpstr>Arial Unicode MS</vt:lpstr>
      <vt:lpstr>Designed by iSlide</vt:lpstr>
      <vt:lpstr>计算机网络课程设计</vt:lpstr>
      <vt:lpstr>实验4： 路由器配置实验</vt:lpstr>
      <vt:lpstr>实验4： 路由器配置实验</vt:lpstr>
      <vt:lpstr>实验4： 路由器配置实验</vt:lpstr>
      <vt:lpstr>实验4： 路由器配置实验</vt:lpstr>
      <vt:lpstr>实验4： 路由器配置实验</vt:lpstr>
      <vt:lpstr>实验4： 路由器配置实验</vt:lpstr>
      <vt:lpstr>实验4： 路由器配置实验</vt:lpstr>
      <vt:lpstr>实验4： 路由器配置实验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SCU</cp:lastModifiedBy>
  <cp:revision>31</cp:revision>
  <cp:lastPrinted>2024-11-18T02:15:00Z</cp:lastPrinted>
  <dcterms:created xsi:type="dcterms:W3CDTF">2024-11-18T02:15:00Z</dcterms:created>
  <dcterms:modified xsi:type="dcterms:W3CDTF">2025-11-15T07:46:52Z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B261C1F769C2407594EA2DF57CE445CB_13</vt:lpwstr>
  </property>
  <property fmtid="{D5CDD505-2E9C-101B-9397-08002B2CF9AE}" pid="4" name="KSOProductBuildVer">
    <vt:lpwstr>2052-12.1.0.23542</vt:lpwstr>
  </property>
</Properties>
</file>