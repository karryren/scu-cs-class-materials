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316" r:id="rId3"/>
    <p:sldId id="317" r:id="rId4"/>
    <p:sldId id="323" r:id="rId5"/>
    <p:sldId id="325" r:id="rId6"/>
    <p:sldId id="326" r:id="rId7"/>
    <p:sldId id="318" r:id="rId8"/>
    <p:sldId id="319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1" d="100"/>
          <a:sy n="61" d="100"/>
        </p:scale>
        <p:origin x="571" y="58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800" b="1"/>
            </a:lvl1pPr>
            <a:lvl2pPr>
              <a:lnSpc>
                <a:spcPct val="150000"/>
              </a:lnSpc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defRPr sz="2000" b="1"/>
            </a:lvl3pPr>
            <a:lvl4pPr>
              <a:lnSpc>
                <a:spcPct val="150000"/>
              </a:lnSpc>
              <a:defRPr sz="1800" b="1"/>
            </a:lvl4pPr>
            <a:lvl5pPr>
              <a:lnSpc>
                <a:spcPct val="150000"/>
              </a:lnSpc>
              <a:defRPr sz="18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317" y="1703113"/>
            <a:ext cx="10858500" cy="1371600"/>
          </a:xfrm>
        </p:spPr>
        <p:txBody>
          <a:bodyPr>
            <a:normAutofit/>
          </a:bodyPr>
          <a:lstStyle/>
          <a:p>
            <a:r>
              <a:rPr lang="zh-CN" altLang="en-US" sz="6600" dirty="0">
                <a:latin typeface="+mn-lt"/>
                <a:ea typeface="+mn-ea"/>
                <a:cs typeface="+mn-ea"/>
                <a:sym typeface="+mn-lt"/>
              </a:rPr>
              <a:t>计算机网络课程设计</a:t>
            </a:r>
            <a:endParaRPr lang="en-US" sz="66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ICMP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</a:p>
          <a:p>
            <a:pPr marL="457200" lvl="1" indent="0">
              <a:buNone/>
            </a:pPr>
            <a:r>
              <a:rPr lang="zh-CN" altLang="zh-CN" dirty="0"/>
              <a:t>本实验的目的是使用</a:t>
            </a:r>
            <a:r>
              <a:rPr lang="en-US" altLang="zh-CN" dirty="0"/>
              <a:t>Wireshark</a:t>
            </a:r>
            <a:r>
              <a:rPr lang="zh-CN" altLang="zh-CN" dirty="0"/>
              <a:t>软件捕获</a:t>
            </a:r>
            <a:r>
              <a:rPr lang="en-US" altLang="zh-CN" dirty="0"/>
              <a:t>Ping</a:t>
            </a:r>
            <a:r>
              <a:rPr lang="zh-CN" altLang="zh-CN" dirty="0"/>
              <a:t>和</a:t>
            </a:r>
            <a:r>
              <a:rPr lang="en-US" altLang="zh-CN" dirty="0"/>
              <a:t>Traceroute</a:t>
            </a:r>
            <a:r>
              <a:rPr lang="zh-CN" altLang="zh-CN" dirty="0"/>
              <a:t>命令会话过程中的数据包，并通过分析数据包来了解</a:t>
            </a:r>
            <a:r>
              <a:rPr lang="en-US" altLang="zh-CN" dirty="0"/>
              <a:t>ICMP</a:t>
            </a:r>
            <a:r>
              <a:rPr lang="zh-CN" altLang="zh-CN" dirty="0"/>
              <a:t>协议的原理和应用，以及</a:t>
            </a:r>
            <a:r>
              <a:rPr lang="en-US" altLang="zh-CN" dirty="0"/>
              <a:t>Ping</a:t>
            </a:r>
            <a:r>
              <a:rPr lang="zh-CN" altLang="zh-CN" dirty="0"/>
              <a:t>和</a:t>
            </a:r>
            <a:r>
              <a:rPr lang="en-US" altLang="zh-CN" dirty="0"/>
              <a:t>Traceroute</a:t>
            </a:r>
            <a:r>
              <a:rPr lang="zh-CN" altLang="zh-CN" dirty="0"/>
              <a:t>的设计原理。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</a:p>
          <a:p>
            <a:pPr marL="457200" lvl="1" indent="0">
              <a:buNone/>
            </a:pPr>
            <a:r>
              <a:rPr lang="en-US" altLang="zh-CN" dirty="0"/>
              <a:t>Windows 11</a:t>
            </a:r>
            <a:r>
              <a:rPr lang="zh-CN" altLang="zh-CN" dirty="0"/>
              <a:t>（任何平台均可以完成）；</a:t>
            </a:r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</a:p>
          <a:p>
            <a:pPr marL="457200" lvl="1" indent="0">
              <a:buNone/>
            </a:pPr>
            <a:r>
              <a:rPr lang="en-US" altLang="zh-CN" dirty="0"/>
              <a:t>Wireshark</a:t>
            </a:r>
            <a:r>
              <a:rPr lang="zh-CN" altLang="zh-CN" dirty="0"/>
              <a:t>；</a:t>
            </a:r>
          </a:p>
          <a:p>
            <a:pPr lvl="1"/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ICMP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</a:t>
            </a:r>
            <a:r>
              <a:rPr lang="zh-CN" altLang="en-US" dirty="0"/>
              <a:t>实验步骤</a:t>
            </a:r>
            <a:endParaRPr lang="zh-CN" altLang="zh-CN" dirty="0"/>
          </a:p>
          <a:p>
            <a:pPr lvl="1">
              <a:lnSpc>
                <a:spcPct val="150000"/>
              </a:lnSpc>
            </a:pPr>
            <a:r>
              <a:rPr lang="zh-CN" altLang="zh-CN" dirty="0"/>
              <a:t>第一步：</a:t>
            </a:r>
            <a:r>
              <a:rPr lang="en-US" altLang="zh-CN" dirty="0"/>
              <a:t>Ping</a:t>
            </a:r>
            <a:r>
              <a:rPr lang="zh-CN" altLang="zh-CN" dirty="0"/>
              <a:t>数据包捕获及原理分析；</a:t>
            </a:r>
          </a:p>
          <a:p>
            <a:pPr lvl="2"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zh-CN" dirty="0"/>
              <a:t>）打开</a:t>
            </a:r>
            <a:r>
              <a:rPr lang="en-US" altLang="zh-CN" dirty="0"/>
              <a:t>Wireshark</a:t>
            </a:r>
            <a:r>
              <a:rPr lang="zh-CN" altLang="zh-CN" dirty="0"/>
              <a:t>软件，启动分组捕获器； </a:t>
            </a:r>
          </a:p>
          <a:p>
            <a:pPr lvl="2"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zh-CN" dirty="0"/>
              <a:t>）在命令行中输入</a:t>
            </a:r>
            <a:r>
              <a:rPr lang="en-US" altLang="zh-CN" dirty="0"/>
              <a:t>“ping –n 5 www.scu.edu.cn”</a:t>
            </a:r>
            <a:r>
              <a:rPr lang="zh-CN" altLang="zh-CN" dirty="0"/>
              <a:t>（如果想了解</a:t>
            </a:r>
            <a:r>
              <a:rPr lang="en-US" altLang="zh-CN" dirty="0"/>
              <a:t>ping</a:t>
            </a:r>
            <a:r>
              <a:rPr lang="zh-CN" altLang="zh-CN" dirty="0"/>
              <a:t>命令的参数说明，可以在命令行中输入“</a:t>
            </a:r>
            <a:r>
              <a:rPr lang="en-US" altLang="zh-CN" dirty="0"/>
              <a:t>ping /?</a:t>
            </a:r>
            <a:r>
              <a:rPr lang="zh-CN" altLang="zh-CN" dirty="0"/>
              <a:t>”，其中，</a:t>
            </a:r>
            <a:r>
              <a:rPr lang="en-US" altLang="zh-CN" dirty="0"/>
              <a:t>-n </a:t>
            </a:r>
            <a:r>
              <a:rPr lang="zh-CN" altLang="zh-CN" dirty="0"/>
              <a:t>参数是用来指定要发送的回显请求数）后回车； </a:t>
            </a:r>
          </a:p>
          <a:p>
            <a:pPr lvl="2"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zh-CN" dirty="0"/>
              <a:t>）停止分组捕获； </a:t>
            </a:r>
          </a:p>
          <a:p>
            <a:pPr lvl="2">
              <a:lnSpc>
                <a:spcPct val="150000"/>
              </a:lnSpc>
            </a:pPr>
            <a:r>
              <a:rPr lang="en-US" altLang="zh-CN" dirty="0"/>
              <a:t>4</a:t>
            </a:r>
            <a:r>
              <a:rPr lang="zh-CN" altLang="zh-CN" dirty="0"/>
              <a:t>）在过滤器中输入</a:t>
            </a:r>
            <a:r>
              <a:rPr lang="en-US" altLang="zh-CN" dirty="0"/>
              <a:t>“</a:t>
            </a:r>
            <a:r>
              <a:rPr lang="en-US" altLang="zh-CN" dirty="0" err="1"/>
              <a:t>icmp</a:t>
            </a:r>
            <a:r>
              <a:rPr lang="en-US" altLang="zh-CN" dirty="0"/>
              <a:t>”</a:t>
            </a:r>
            <a:r>
              <a:rPr lang="zh-CN" altLang="zh-CN" dirty="0"/>
              <a:t>，只显示与</a:t>
            </a:r>
            <a:r>
              <a:rPr lang="en-US" altLang="zh-CN" dirty="0"/>
              <a:t>ICMP</a:t>
            </a:r>
            <a:r>
              <a:rPr lang="zh-CN" altLang="zh-CN" dirty="0"/>
              <a:t>相关的数据包。实验中设置了</a:t>
            </a:r>
            <a:r>
              <a:rPr lang="en-US" altLang="zh-CN" dirty="0"/>
              <a:t>ping</a:t>
            </a:r>
            <a:r>
              <a:rPr lang="zh-CN" altLang="zh-CN" dirty="0"/>
              <a:t>程序发送</a:t>
            </a:r>
            <a:r>
              <a:rPr lang="en-US" altLang="zh-CN" dirty="0"/>
              <a:t>5</a:t>
            </a:r>
            <a:r>
              <a:rPr lang="zh-CN" altLang="zh-CN" dirty="0"/>
              <a:t>次请求，每次请求都会收到一个</a:t>
            </a:r>
            <a:r>
              <a:rPr lang="en-US" altLang="zh-CN" dirty="0"/>
              <a:t>ICMP</a:t>
            </a:r>
            <a:r>
              <a:rPr lang="zh-CN" altLang="zh-CN" dirty="0"/>
              <a:t>应答数据包，所以总共有</a:t>
            </a:r>
            <a:r>
              <a:rPr lang="en-US" altLang="zh-CN" dirty="0"/>
              <a:t>10</a:t>
            </a:r>
            <a:r>
              <a:rPr lang="zh-CN" altLang="zh-CN" dirty="0"/>
              <a:t>个数据包。在</a:t>
            </a:r>
            <a:r>
              <a:rPr lang="en-US" altLang="zh-CN" dirty="0"/>
              <a:t>Info</a:t>
            </a:r>
            <a:r>
              <a:rPr lang="zh-CN" altLang="zh-CN" dirty="0"/>
              <a:t>域中，可以区分哪些是请求包，哪些是应答包。</a:t>
            </a:r>
          </a:p>
          <a:p>
            <a:pPr lvl="1">
              <a:lnSpc>
                <a:spcPct val="150000"/>
              </a:lnSpc>
            </a:pPr>
            <a:endParaRPr lang="zh-CN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4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ICMP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根据捕获的数据报回答问题，实验报告中必须附抓包的截图：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/>
              <a:t>Ping</a:t>
            </a:r>
            <a:r>
              <a:rPr lang="zh-CN" altLang="zh-CN" dirty="0"/>
              <a:t>命令利用了</a:t>
            </a:r>
            <a:r>
              <a:rPr lang="en-US" altLang="zh-CN" dirty="0"/>
              <a:t>ICMP</a:t>
            </a:r>
            <a:r>
              <a:rPr lang="zh-CN" altLang="zh-CN" dirty="0"/>
              <a:t>的哪种类型报文，从哪里可以看出来？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/>
              <a:t>Ping</a:t>
            </a:r>
            <a:r>
              <a:rPr lang="zh-CN" altLang="zh-CN" dirty="0"/>
              <a:t>包发送的</a:t>
            </a:r>
            <a:r>
              <a:rPr lang="en-US" altLang="zh-CN" dirty="0"/>
              <a:t>ICMP</a:t>
            </a:r>
            <a:r>
              <a:rPr lang="zh-CN" altLang="zh-CN" dirty="0"/>
              <a:t>报文的数据部分内容是什么？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zh-CN" dirty="0"/>
              <a:t>）第一个</a:t>
            </a:r>
            <a:r>
              <a:rPr lang="en-US" altLang="zh-CN" dirty="0"/>
              <a:t>Ping</a:t>
            </a:r>
            <a:r>
              <a:rPr lang="zh-CN" altLang="en-US" dirty="0"/>
              <a:t>包</a:t>
            </a:r>
            <a:r>
              <a:rPr lang="zh-CN" altLang="zh-CN" dirty="0"/>
              <a:t>返回的准确时间是多少？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4</a:t>
            </a:r>
            <a:r>
              <a:rPr lang="zh-CN" altLang="zh-CN" dirty="0"/>
              <a:t>）</a:t>
            </a:r>
            <a:r>
              <a:rPr lang="en-US" altLang="zh-CN" dirty="0"/>
              <a:t>IP</a:t>
            </a:r>
            <a:r>
              <a:rPr lang="zh-CN" altLang="zh-CN" dirty="0"/>
              <a:t>数据报头部已经有</a:t>
            </a:r>
            <a:r>
              <a:rPr lang="en-US" altLang="zh-CN" dirty="0"/>
              <a:t>checksum</a:t>
            </a:r>
            <a:r>
              <a:rPr lang="zh-CN" altLang="zh-CN" dirty="0"/>
              <a:t>字段，为什么</a:t>
            </a:r>
            <a:r>
              <a:rPr lang="en-US" altLang="zh-CN" dirty="0"/>
              <a:t>ICMP</a:t>
            </a:r>
            <a:r>
              <a:rPr lang="zh-CN" altLang="zh-CN" dirty="0"/>
              <a:t>还有</a:t>
            </a:r>
            <a:r>
              <a:rPr lang="en-US" altLang="zh-CN" dirty="0"/>
              <a:t>checksum</a:t>
            </a:r>
            <a:r>
              <a:rPr lang="zh-CN" altLang="zh-CN" dirty="0"/>
              <a:t>字段？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5</a:t>
            </a:r>
            <a:r>
              <a:rPr lang="zh-CN" altLang="en-US" dirty="0"/>
              <a:t>）观察</a:t>
            </a:r>
            <a:r>
              <a:rPr lang="en-US" altLang="zh-CN" dirty="0"/>
              <a:t>Ping</a:t>
            </a:r>
            <a:r>
              <a:rPr lang="zh-CN" altLang="en-US" dirty="0"/>
              <a:t>请求和应答报文中的</a:t>
            </a:r>
            <a:r>
              <a:rPr lang="en-US" altLang="zh-CN" dirty="0"/>
              <a:t>Identifier (</a:t>
            </a:r>
            <a:r>
              <a:rPr lang="zh-CN" altLang="en-US" dirty="0"/>
              <a:t>标识符</a:t>
            </a:r>
            <a:r>
              <a:rPr lang="en-US" altLang="zh-CN" dirty="0"/>
              <a:t>) </a:t>
            </a:r>
            <a:r>
              <a:rPr lang="zh-CN" altLang="en-US" dirty="0"/>
              <a:t>和</a:t>
            </a:r>
            <a:r>
              <a:rPr lang="en-US" altLang="zh-CN" dirty="0"/>
              <a:t> Sequence Number (</a:t>
            </a:r>
            <a:r>
              <a:rPr lang="zh-CN" altLang="en-US" dirty="0"/>
              <a:t>序列号</a:t>
            </a:r>
            <a:r>
              <a:rPr lang="en-US" altLang="zh-CN" dirty="0"/>
              <a:t>) </a:t>
            </a:r>
            <a:r>
              <a:rPr lang="zh-CN" altLang="en-US" dirty="0"/>
              <a:t>字段，它们的作用是什么？这</a:t>
            </a:r>
            <a:r>
              <a:rPr lang="en-US" altLang="zh-CN" dirty="0"/>
              <a:t>5</a:t>
            </a:r>
            <a:r>
              <a:rPr lang="zh-CN" altLang="en-US" dirty="0"/>
              <a:t>组请求和应答之间，这两个字段的值是如何变化的？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实验步骤</a:t>
            </a:r>
            <a:r>
              <a:rPr lang="en-US" altLang="zh-CN">
                <a:sym typeface="+mn-ea"/>
              </a:rPr>
              <a:t> - Ping</a:t>
            </a:r>
            <a:r>
              <a:rPr lang="zh-CN" altLang="en-US">
                <a:sym typeface="+mn-ea"/>
              </a:rPr>
              <a:t>高级探索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第二步：探索</a:t>
            </a:r>
            <a:r>
              <a:rPr lang="en-US" altLang="zh-CN"/>
              <a:t>Ping</a:t>
            </a:r>
            <a:r>
              <a:rPr lang="zh-CN" altLang="en-US"/>
              <a:t>命令的可选参数</a:t>
            </a:r>
          </a:p>
          <a:p>
            <a:pPr lvl="1"/>
            <a:r>
              <a:rPr lang="zh-CN" altLang="en-US"/>
              <a:t>改变数据包大小：</a:t>
            </a:r>
          </a:p>
          <a:p>
            <a:pPr lvl="2"/>
            <a:r>
              <a:rPr lang="zh-CN" altLang="en-US"/>
              <a:t>重新开始捕获，执行命令</a:t>
            </a:r>
            <a:r>
              <a:rPr lang="en-US" altLang="zh-CN"/>
              <a:t> ping -l 2500 www.scu.edu.cn</a:t>
            </a:r>
            <a:r>
              <a:rPr lang="zh-CN" altLang="en-US"/>
              <a:t>。</a:t>
            </a:r>
          </a:p>
          <a:p>
            <a:pPr lvl="2"/>
            <a:r>
              <a:rPr lang="en-US" altLang="zh-CN"/>
              <a:t>-l </a:t>
            </a:r>
            <a:r>
              <a:rPr lang="zh-CN" altLang="en-US"/>
              <a:t>参数用于指定数据字段的长度。</a:t>
            </a:r>
          </a:p>
          <a:p>
            <a:pPr lvl="1"/>
            <a:r>
              <a:rPr lang="zh-CN" altLang="en-US"/>
              <a:t>重新开始捕获，执行命令</a:t>
            </a:r>
            <a:r>
              <a:rPr lang="en-US" altLang="zh-CN"/>
              <a:t> ping -i 2 www.scu.edu.cn</a:t>
            </a:r>
            <a:r>
              <a:rPr lang="zh-CN" altLang="en-US"/>
              <a:t>。</a:t>
            </a:r>
          </a:p>
          <a:p>
            <a:pPr lvl="2"/>
            <a:r>
              <a:rPr lang="en-US" altLang="zh-CN"/>
              <a:t>-i </a:t>
            </a:r>
            <a:r>
              <a:rPr lang="zh-CN" altLang="en-US"/>
              <a:t>参数用于设置生存时间（</a:t>
            </a:r>
            <a:r>
              <a:rPr lang="en-US" altLang="zh-CN"/>
              <a:t>Time To Live</a:t>
            </a:r>
            <a:r>
              <a:rPr lang="zh-CN" altLang="en-US"/>
              <a:t>）。</a:t>
            </a:r>
          </a:p>
          <a:p>
            <a:pPr lvl="2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问题与思考（</a:t>
            </a:r>
            <a:r>
              <a:rPr lang="en-US" altLang="zh-CN">
                <a:sym typeface="+mn-ea"/>
              </a:rPr>
              <a:t>Ping</a:t>
            </a:r>
            <a:r>
              <a:rPr lang="zh-CN" altLang="en-US">
                <a:sym typeface="+mn-ea"/>
              </a:rPr>
              <a:t>高级）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根据捕获的数据报回答问题：</a:t>
            </a:r>
          </a:p>
          <a:p>
            <a:pPr marL="914400" lvl="1" indent="-457200">
              <a:buAutoNum type="arabicPeriod"/>
            </a:pPr>
            <a:r>
              <a:rPr lang="zh-CN" altLang="en-US"/>
              <a:t>执行</a:t>
            </a:r>
            <a:r>
              <a:rPr lang="en-US" altLang="zh-CN"/>
              <a:t>ping -l 2500</a:t>
            </a:r>
            <a:r>
              <a:rPr lang="zh-CN" altLang="en-US"/>
              <a:t>时，捕获的</a:t>
            </a:r>
            <a:r>
              <a:rPr lang="en-US" altLang="zh-CN"/>
              <a:t>IP</a:t>
            </a:r>
            <a:r>
              <a:rPr lang="zh-CN" altLang="en-US"/>
              <a:t>数据包是否被分片？你是如何判断的？</a:t>
            </a:r>
          </a:p>
          <a:p>
            <a:pPr marL="914400" lvl="1" indent="-457200">
              <a:buAutoNum type="arabicPeriod"/>
            </a:pPr>
            <a:r>
              <a:rPr lang="zh-CN" altLang="en-US"/>
              <a:t>执行</a:t>
            </a:r>
            <a:r>
              <a:rPr lang="en-US" altLang="zh-CN"/>
              <a:t>ping -i 2</a:t>
            </a:r>
            <a:r>
              <a:rPr lang="zh-CN" altLang="en-US"/>
              <a:t>时，返回的</a:t>
            </a:r>
            <a:r>
              <a:rPr lang="en-US" altLang="zh-CN"/>
              <a:t>ICMP</a:t>
            </a:r>
            <a:r>
              <a:rPr lang="zh-CN" altLang="en-US"/>
              <a:t>报文类型是什么？这个报文是谁发的？这个报文的数据部分有什么特殊信息？其代码（</a:t>
            </a:r>
            <a:r>
              <a:rPr lang="en-US" altLang="zh-CN"/>
              <a:t>Code</a:t>
            </a:r>
            <a:r>
              <a:rPr lang="zh-CN" altLang="en-US"/>
              <a:t>）字段有何含义？</a:t>
            </a:r>
            <a:r>
              <a:rPr lang="en-US" altLang="zh-CN"/>
              <a:t>-i</a:t>
            </a:r>
            <a:r>
              <a:rPr lang="zh-CN" altLang="en-US"/>
              <a:t>后面为多少数字才不会出现差错报告？</a:t>
            </a:r>
          </a:p>
          <a:p>
            <a:pPr marL="914400" lvl="1" indent="-457200">
              <a:buAutoNum type="arabicPeriod"/>
            </a:pPr>
            <a:r>
              <a:rPr lang="zh-CN" altLang="en-US"/>
              <a:t>（安全思考）</a:t>
            </a:r>
            <a:r>
              <a:rPr lang="en-US" altLang="zh-CN"/>
              <a:t> Ping</a:t>
            </a:r>
            <a:r>
              <a:rPr lang="zh-CN" altLang="en-US"/>
              <a:t>命令在历史上曾被用于哪些类型的网络攻击？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ICMP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4.</a:t>
            </a:r>
            <a:r>
              <a:rPr lang="zh-CN" altLang="en-US" dirty="0"/>
              <a:t>实验步骤</a:t>
            </a:r>
            <a:endParaRPr lang="zh-CN" altLang="zh-CN" dirty="0"/>
          </a:p>
          <a:p>
            <a:pPr lvl="1">
              <a:lnSpc>
                <a:spcPct val="150000"/>
              </a:lnSpc>
            </a:pPr>
            <a:r>
              <a:rPr lang="zh-CN" altLang="zh-CN" dirty="0"/>
              <a:t>第二步：</a:t>
            </a:r>
            <a:r>
              <a:rPr lang="en-US" altLang="zh-CN" dirty="0"/>
              <a:t>Traceroute</a:t>
            </a:r>
            <a:r>
              <a:rPr lang="zh-CN" altLang="zh-CN" dirty="0"/>
              <a:t>数据包捕获及原理分析。</a:t>
            </a:r>
            <a:endParaRPr lang="en-US" altLang="zh-CN" dirty="0"/>
          </a:p>
          <a:p>
            <a:pPr lvl="2"/>
            <a:r>
              <a:rPr lang="en-US" altLang="zh-CN" dirty="0"/>
              <a:t>1</a:t>
            </a:r>
            <a:r>
              <a:rPr lang="zh-CN" altLang="zh-CN" dirty="0"/>
              <a:t>）打开</a:t>
            </a:r>
            <a:r>
              <a:rPr lang="en-US" altLang="zh-CN" dirty="0"/>
              <a:t>Wireshark</a:t>
            </a:r>
            <a:r>
              <a:rPr lang="zh-CN" altLang="zh-CN" dirty="0"/>
              <a:t>，启动</a:t>
            </a:r>
            <a:r>
              <a:rPr lang="en-US" altLang="zh-CN" dirty="0"/>
              <a:t>Wireshark</a:t>
            </a:r>
            <a:r>
              <a:rPr lang="zh-CN" altLang="zh-CN" dirty="0"/>
              <a:t>分组俘获器；</a:t>
            </a:r>
          </a:p>
          <a:p>
            <a:pPr lvl="2"/>
            <a:r>
              <a:rPr lang="en-US" altLang="zh-CN" dirty="0"/>
              <a:t>2</a:t>
            </a:r>
            <a:r>
              <a:rPr lang="zh-CN" altLang="zh-CN" dirty="0"/>
              <a:t>）在命令行中输入</a:t>
            </a:r>
            <a:r>
              <a:rPr lang="en-US" altLang="zh-CN" dirty="0"/>
              <a:t>“tracert /d www.scu.edu.cn”</a:t>
            </a:r>
            <a:r>
              <a:rPr lang="zh-CN" altLang="zh-CN" dirty="0"/>
              <a:t>，回车。</a:t>
            </a:r>
          </a:p>
          <a:p>
            <a:pPr lvl="2"/>
            <a:r>
              <a:rPr lang="en-US" altLang="zh-CN" dirty="0"/>
              <a:t>3</a:t>
            </a:r>
            <a:r>
              <a:rPr lang="zh-CN" altLang="zh-CN" dirty="0"/>
              <a:t>）停止分组俘获；</a:t>
            </a:r>
          </a:p>
          <a:p>
            <a:pPr lvl="1">
              <a:lnSpc>
                <a:spcPct val="150000"/>
              </a:lnSpc>
            </a:pPr>
            <a:endParaRPr lang="zh-CN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ICMP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根据捕获的数据报回答问题，实验报告中必须附抓包的截图：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/>
              <a:t>1</a:t>
            </a:r>
            <a:r>
              <a:rPr lang="zh-CN" altLang="zh-CN" dirty="0"/>
              <a:t>）</a:t>
            </a:r>
            <a:r>
              <a:rPr lang="en-US" altLang="zh-CN" dirty="0"/>
              <a:t>Traceroute</a:t>
            </a:r>
            <a:r>
              <a:rPr lang="zh-CN" altLang="zh-CN" dirty="0"/>
              <a:t>应用发送的是</a:t>
            </a:r>
            <a:r>
              <a:rPr lang="en-US" altLang="zh-CN" dirty="0"/>
              <a:t>ICMP</a:t>
            </a:r>
            <a:r>
              <a:rPr lang="zh-CN" altLang="zh-CN" dirty="0"/>
              <a:t>的什么类型数据报？</a:t>
            </a:r>
          </a:p>
          <a:p>
            <a:pPr marL="457200" lvl="1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/>
              <a:t>Traceroute</a:t>
            </a:r>
            <a:r>
              <a:rPr lang="zh-CN" altLang="zh-CN" dirty="0"/>
              <a:t>发送的回显请求数据包和</a:t>
            </a:r>
            <a:r>
              <a:rPr lang="en-US" altLang="zh-CN" dirty="0"/>
              <a:t>ping</a:t>
            </a:r>
            <a:r>
              <a:rPr lang="zh-CN" altLang="zh-CN" dirty="0"/>
              <a:t>发送的数据包数据部分有什么差异？</a:t>
            </a:r>
          </a:p>
          <a:p>
            <a:pPr marL="457200" lvl="1" indent="0">
              <a:buNone/>
            </a:pPr>
            <a:r>
              <a:rPr lang="zh-CN" altLang="zh-CN" dirty="0"/>
              <a:t>3）发送的报文，出现了什么错误，错误原因是什么？</a:t>
            </a:r>
          </a:p>
          <a:p>
            <a:pPr marL="457200" lvl="1" indent="0">
              <a:buNone/>
            </a:pPr>
            <a:r>
              <a:rPr lang="zh-CN" altLang="zh-CN" dirty="0"/>
              <a:t>4）第一个TTL超时报文时由谁发出的？</a:t>
            </a:r>
          </a:p>
          <a:p>
            <a:pPr marL="457200" lvl="1" indent="0">
              <a:buNone/>
            </a:pPr>
            <a:r>
              <a:rPr lang="zh-CN" altLang="zh-CN" dirty="0"/>
              <a:t>5）在Traceroute的过程中，发送方一共发送了多少个不同TTL的报文，相同的TTL算一个？</a:t>
            </a:r>
          </a:p>
          <a:p>
            <a:pPr marL="457200" lvl="1" indent="0">
              <a:buNone/>
            </a:pPr>
            <a:r>
              <a:rPr lang="en-US" altLang="zh-CN" dirty="0"/>
              <a:t>6</a:t>
            </a:r>
            <a:r>
              <a:rPr lang="zh-CN" altLang="zh-CN" dirty="0"/>
              <a:t>）这五种不同</a:t>
            </a:r>
            <a:r>
              <a:rPr lang="en-US" altLang="zh-CN" dirty="0"/>
              <a:t>TTL</a:t>
            </a:r>
            <a:r>
              <a:rPr lang="zh-CN" altLang="zh-CN" dirty="0"/>
              <a:t>的数据包</a:t>
            </a:r>
            <a:r>
              <a:rPr lang="en-US" altLang="zh-CN" dirty="0"/>
              <a:t>TTL</a:t>
            </a:r>
            <a:r>
              <a:rPr lang="zh-CN" altLang="zh-CN" dirty="0"/>
              <a:t>字段的特点是什么？</a:t>
            </a:r>
          </a:p>
          <a:p>
            <a:pPr marL="457200" lvl="1" indent="0">
              <a:buNone/>
            </a:pPr>
            <a:r>
              <a:rPr lang="en-US" altLang="zh-CN" dirty="0"/>
              <a:t>7</a:t>
            </a:r>
            <a:r>
              <a:rPr lang="zh-CN" altLang="zh-CN" dirty="0"/>
              <a:t>）</a:t>
            </a:r>
            <a:r>
              <a:rPr lang="en-US" altLang="zh-CN" dirty="0"/>
              <a:t>Traceroute</a:t>
            </a:r>
            <a:r>
              <a:rPr lang="zh-CN" altLang="zh-CN" dirty="0"/>
              <a:t>到达目的地的判断方法是什么？</a:t>
            </a:r>
          </a:p>
          <a:p>
            <a:pPr marL="457200" lvl="1" indent="0">
              <a:buNone/>
            </a:pPr>
            <a:r>
              <a:rPr lang="en-US" altLang="zh-CN" dirty="0"/>
              <a:t>8</a:t>
            </a:r>
            <a:r>
              <a:rPr lang="zh-CN" altLang="zh-CN" dirty="0"/>
              <a:t>）从捕获的数据包中分析，源主机收到了哪些不同</a:t>
            </a:r>
            <a:r>
              <a:rPr lang="en-US" altLang="zh-CN" dirty="0"/>
              <a:t>IP</a:t>
            </a:r>
            <a:r>
              <a:rPr lang="zh-CN" altLang="zh-CN" dirty="0"/>
              <a:t>发送的</a:t>
            </a:r>
            <a:r>
              <a:rPr lang="en-US" altLang="zh-CN" dirty="0"/>
              <a:t>ICMP</a:t>
            </a:r>
            <a:r>
              <a:rPr lang="zh-CN" altLang="zh-CN" dirty="0"/>
              <a:t>报文？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103</TotalTime>
  <Words>764</Words>
  <Application>Microsoft Office PowerPoint</Application>
  <PresentationFormat>宽屏</PresentationFormat>
  <Paragraphs>50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Arial</vt:lpstr>
      <vt:lpstr>Calibri</vt:lpstr>
      <vt:lpstr>Comic Sans MS</vt:lpstr>
      <vt:lpstr>Designed by iSlide</vt:lpstr>
      <vt:lpstr>计算机网络课程设计</vt:lpstr>
      <vt:lpstr>实验4： ICMP协议分析</vt:lpstr>
      <vt:lpstr>实验4： ICMP协议分析</vt:lpstr>
      <vt:lpstr>实验4： ICMP协议分析</vt:lpstr>
      <vt:lpstr>实验步骤 - Ping高级探索</vt:lpstr>
      <vt:lpstr>问题与思考（Ping高级）</vt:lpstr>
      <vt:lpstr>实验4： ICMP协议分析</vt:lpstr>
      <vt:lpstr>实验4： ICMP协议分析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Teresa L</cp:lastModifiedBy>
  <cp:revision>27</cp:revision>
  <cp:lastPrinted>2025-11-07T12:49:00Z</cp:lastPrinted>
  <dcterms:created xsi:type="dcterms:W3CDTF">2025-11-07T12:49:00Z</dcterms:created>
  <dcterms:modified xsi:type="dcterms:W3CDTF">2025-11-12T16:04:04Z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29395AF20DFE4180B2353FB9A0D48F66_13</vt:lpwstr>
  </property>
  <property fmtid="{D5CDD505-2E9C-101B-9397-08002B2CF9AE}" pid="4" name="KSOProductBuildVer">
    <vt:lpwstr>2052-12.1.0.23542</vt:lpwstr>
  </property>
</Properties>
</file>