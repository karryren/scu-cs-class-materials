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2" autoAdjust="0"/>
    <p:restoredTop sz="84988" autoAdjust="0"/>
  </p:normalViewPr>
  <p:slideViewPr>
    <p:cSldViewPr snapToGrid="0" showGuides="1">
      <p:cViewPr varScale="1">
        <p:scale>
          <a:sx n="100" d="100"/>
          <a:sy n="100" d="100"/>
        </p:scale>
        <p:origin x="132" y="4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6A40CE-04EA-494B-8E87-9DA217FB48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088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317" y="1703113"/>
            <a:ext cx="10858500" cy="1371600"/>
          </a:xfrm>
        </p:spPr>
        <p:txBody>
          <a:bodyPr>
            <a:normAutofit/>
          </a:bodyPr>
          <a:lstStyle/>
          <a:p>
            <a:r>
              <a:rPr lang="zh-CN" altLang="en-US" sz="6600" dirty="0">
                <a:latin typeface="+mn-lt"/>
                <a:ea typeface="+mn-ea"/>
                <a:cs typeface="+mn-ea"/>
                <a:sym typeface="+mn-lt"/>
              </a:rPr>
              <a:t>计算机网络课程设计</a:t>
            </a:r>
            <a:endParaRPr lang="en-US" sz="66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457200" lvl="1" indent="0" latinLnBrk="1">
              <a:buNone/>
            </a:pPr>
            <a:r>
              <a:rPr lang="zh-CN" altLang="zh-CN" dirty="0"/>
              <a:t>本实验使用</a:t>
            </a:r>
            <a:r>
              <a:rPr lang="en-US" altLang="zh-CN" dirty="0"/>
              <a:t>Cisco Packet Tracer</a:t>
            </a:r>
            <a:r>
              <a:rPr lang="zh-CN" altLang="zh-CN" dirty="0"/>
              <a:t>作为实验平台，模拟</a:t>
            </a:r>
            <a:r>
              <a:rPr lang="en-US" altLang="zh-CN" dirty="0"/>
              <a:t>ARP</a:t>
            </a:r>
            <a:r>
              <a:rPr lang="zh-CN" altLang="zh-CN" dirty="0"/>
              <a:t>协议在网络中的工作过程和分组的转发情况。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zh-CN" dirty="0"/>
              <a:t>环境配置：</a:t>
            </a:r>
            <a:r>
              <a:rPr lang="en-US" altLang="zh-CN" dirty="0"/>
              <a:t>Windows 11</a:t>
            </a:r>
            <a:r>
              <a:rPr lang="zh-CN" altLang="zh-CN" dirty="0"/>
              <a:t>（任何可以安装</a:t>
            </a:r>
            <a:r>
              <a:rPr lang="en-US" altLang="zh-CN" dirty="0"/>
              <a:t>Cisco Packet Tracer</a:t>
            </a:r>
            <a:r>
              <a:rPr lang="zh-CN" altLang="zh-CN" dirty="0"/>
              <a:t>的平台均可以完成）。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marL="457200" lvl="1" indent="0">
              <a:buNone/>
            </a:pPr>
            <a:r>
              <a:rPr lang="en-US" altLang="zh-CN" dirty="0"/>
              <a:t>Cisco Packet Tracer 8.2.1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zh-CN" dirty="0"/>
              <a:t>实验步骤</a:t>
            </a:r>
          </a:p>
          <a:p>
            <a:pPr marL="457200" lvl="1" indent="0">
              <a:buNone/>
            </a:pPr>
            <a:r>
              <a:rPr lang="zh-CN" altLang="zh-CN" dirty="0"/>
              <a:t>实验旨在通过在模拟器中构建网络，让学生掌握</a:t>
            </a:r>
            <a:r>
              <a:rPr lang="en-US" altLang="zh-CN" dirty="0"/>
              <a:t>ARP</a:t>
            </a:r>
            <a:r>
              <a:rPr lang="zh-CN" altLang="zh-CN" dirty="0"/>
              <a:t>协议在同一网络和不同网络中的工作原理和过程。实验步骤如下：</a:t>
            </a:r>
          </a:p>
          <a:p>
            <a:pPr marL="457200" lvl="1" indent="0">
              <a:buNone/>
            </a:pPr>
            <a:r>
              <a:rPr lang="zh-CN" altLang="zh-CN" dirty="0"/>
              <a:t>第一步：网络拓扑结构的构建；</a:t>
            </a:r>
          </a:p>
          <a:p>
            <a:pPr marL="457200" lvl="1" indent="0">
              <a:buNone/>
            </a:pPr>
            <a:r>
              <a:rPr lang="zh-CN" altLang="zh-CN" dirty="0"/>
              <a:t>第二步：在同一局域网内部</a:t>
            </a:r>
            <a:r>
              <a:rPr lang="en-US" altLang="zh-CN" dirty="0"/>
              <a:t>ARP</a:t>
            </a:r>
            <a:r>
              <a:rPr lang="zh-CN" altLang="zh-CN" dirty="0"/>
              <a:t>的工作情况；</a:t>
            </a:r>
          </a:p>
          <a:p>
            <a:pPr lvl="2"/>
            <a:r>
              <a:rPr lang="zh-CN" altLang="zh-CN" dirty="0"/>
              <a:t>发送数据包之前查看各设备的</a:t>
            </a:r>
            <a:r>
              <a:rPr lang="en-US" altLang="zh-CN" dirty="0"/>
              <a:t>ARP</a:t>
            </a:r>
            <a:r>
              <a:rPr lang="zh-CN" altLang="zh-CN" dirty="0"/>
              <a:t>表</a:t>
            </a:r>
          </a:p>
          <a:p>
            <a:pPr lvl="2"/>
            <a:r>
              <a:rPr lang="zh-CN" altLang="zh-CN" dirty="0"/>
              <a:t>发送数据包后，查看各设备的</a:t>
            </a:r>
            <a:r>
              <a:rPr lang="en-US" altLang="zh-CN" dirty="0"/>
              <a:t>ARP</a:t>
            </a:r>
            <a:r>
              <a:rPr lang="zh-CN" altLang="zh-CN" dirty="0"/>
              <a:t>表</a:t>
            </a:r>
          </a:p>
          <a:p>
            <a:pPr lvl="2"/>
            <a:r>
              <a:rPr lang="zh-CN" altLang="zh-CN" dirty="0"/>
              <a:t>再次发送数据包，观看数据包的捕获情况</a:t>
            </a:r>
          </a:p>
          <a:p>
            <a:pPr marL="457200" lvl="1" indent="0">
              <a:buNone/>
            </a:pPr>
            <a:r>
              <a:rPr lang="zh-CN" altLang="zh-CN" dirty="0"/>
              <a:t>第三步：在不同局域网</a:t>
            </a:r>
            <a:r>
              <a:rPr lang="en-US" altLang="zh-CN" dirty="0"/>
              <a:t>ARP</a:t>
            </a:r>
            <a:r>
              <a:rPr lang="zh-CN" altLang="zh-CN" dirty="0"/>
              <a:t>的工作情况。</a:t>
            </a:r>
          </a:p>
          <a:p>
            <a:pPr marL="0" indent="0">
              <a:buNone/>
            </a:pPr>
            <a:endParaRPr lang="zh-CN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1．网络拓扑的搭建</a:t>
            </a:r>
          </a:p>
          <a:p>
            <a:pPr marL="457200" lvl="1" indent="0">
              <a:buNone/>
            </a:pPr>
            <a:r>
              <a:rPr lang="zh-CN" altLang="zh-CN" dirty="0"/>
              <a:t>启动思科模拟器，从设备栏的左下角，拖动</a:t>
            </a:r>
            <a:r>
              <a:rPr lang="en-US" altLang="zh-CN" dirty="0"/>
              <a:t>1</a:t>
            </a:r>
            <a:r>
              <a:rPr lang="zh-CN" altLang="zh-CN" dirty="0"/>
              <a:t>台</a:t>
            </a:r>
            <a:r>
              <a:rPr lang="en-US" altLang="zh-CN" dirty="0"/>
              <a:t>1841</a:t>
            </a:r>
            <a:r>
              <a:rPr lang="zh-CN" altLang="zh-CN" dirty="0"/>
              <a:t>路由器、</a:t>
            </a:r>
            <a:r>
              <a:rPr lang="en-US" altLang="zh-CN" dirty="0"/>
              <a:t>2</a:t>
            </a:r>
            <a:r>
              <a:rPr lang="zh-CN" altLang="zh-CN" dirty="0"/>
              <a:t>台</a:t>
            </a:r>
            <a:r>
              <a:rPr lang="en-US" altLang="zh-CN" dirty="0"/>
              <a:t>2950-24</a:t>
            </a:r>
            <a:r>
              <a:rPr lang="zh-CN" altLang="zh-CN" dirty="0"/>
              <a:t>交换机和</a:t>
            </a:r>
            <a:r>
              <a:rPr lang="en-US" altLang="zh-CN" dirty="0"/>
              <a:t>3</a:t>
            </a:r>
            <a:r>
              <a:rPr lang="zh-CN" altLang="zh-CN" dirty="0"/>
              <a:t>台</a:t>
            </a:r>
            <a:r>
              <a:rPr lang="en-US" altLang="zh-CN" dirty="0"/>
              <a:t>PC-PT</a:t>
            </a:r>
            <a:r>
              <a:rPr lang="zh-CN" altLang="zh-CN" dirty="0"/>
              <a:t>主机到工作区，用直连线工具将它们连接起来，按照图的网络拓扑图进行配置。</a:t>
            </a:r>
          </a:p>
          <a:p>
            <a:pPr marL="0" indent="0">
              <a:buNone/>
            </a:pPr>
            <a:endParaRPr lang="zh-CN" altLang="zh-CN" dirty="0"/>
          </a:p>
        </p:txBody>
      </p:sp>
      <p:pic>
        <p:nvPicPr>
          <p:cNvPr id="4" name="图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0" b="10520"/>
          <a:stretch>
            <a:fillRect/>
          </a:stretch>
        </p:blipFill>
        <p:spPr bwMode="auto">
          <a:xfrm>
            <a:off x="4699117" y="3064108"/>
            <a:ext cx="5883326" cy="332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1．网络拓扑的搭建</a:t>
            </a:r>
          </a:p>
          <a:p>
            <a:pPr marL="457200" lvl="1" indent="0">
              <a:buNone/>
            </a:pPr>
            <a:r>
              <a:rPr lang="zh-CN" altLang="zh-CN" dirty="0"/>
              <a:t>在网络拓扑图中，双击</a:t>
            </a:r>
            <a:r>
              <a:rPr lang="en-US" altLang="zh-CN" dirty="0"/>
              <a:t>PC0</a:t>
            </a:r>
            <a:r>
              <a:rPr lang="zh-CN" altLang="zh-CN" dirty="0"/>
              <a:t>主机的图标，打开其配置界面，选择“桌面”选项卡中的“</a:t>
            </a:r>
            <a:r>
              <a:rPr lang="en-US" altLang="zh-CN" dirty="0"/>
              <a:t>IP</a:t>
            </a:r>
            <a:r>
              <a:rPr lang="zh-CN" altLang="zh-CN" dirty="0"/>
              <a:t>配置”按钮，就可以进入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/>
              <a:t>IP</a:t>
            </a:r>
            <a:r>
              <a:rPr lang="zh-CN" altLang="zh-CN" dirty="0"/>
              <a:t>地址设置页面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pic>
        <p:nvPicPr>
          <p:cNvPr id="5" name="图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87" y="3108759"/>
            <a:ext cx="3857792" cy="38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4983962" y="3108759"/>
            <a:ext cx="60564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chemeClr val="accent6">
                    <a:lumMod val="50000"/>
                  </a:schemeClr>
                </a:solidFill>
              </a:rPr>
              <a:t>逐项配置各主机的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IP</a:t>
            </a:r>
            <a:r>
              <a:rPr lang="zh-CN" altLang="zh-CN" sz="2400" b="1" dirty="0">
                <a:solidFill>
                  <a:schemeClr val="accent6">
                    <a:lumMod val="50000"/>
                  </a:schemeClr>
                </a:solidFill>
              </a:rPr>
              <a:t>地址、子网掩码和网关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67397"/>
              </p:ext>
            </p:extLst>
          </p:nvPr>
        </p:nvGraphicFramePr>
        <p:xfrm>
          <a:off x="4553287" y="3979780"/>
          <a:ext cx="7312524" cy="17186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9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8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3539">
                <a:tc>
                  <a:txBody>
                    <a:bodyPr/>
                    <a:lstStyle/>
                    <a:p>
                      <a:pPr indent="20066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indent="200660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接口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indent="133985" algn="just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IP</a:t>
                      </a:r>
                      <a:r>
                        <a:rPr lang="zh-CN" sz="1600" kern="100">
                          <a:effectLst/>
                        </a:rPr>
                        <a:t>地址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indent="133985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子网掩码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indent="133985"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默认网关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主机</a:t>
                      </a:r>
                      <a:r>
                        <a:rPr lang="en-US" sz="1600" kern="100">
                          <a:effectLst/>
                        </a:rPr>
                        <a:t>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192.168.1.254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主机</a:t>
                      </a:r>
                      <a:r>
                        <a:rPr lang="en-US" sz="1600" kern="100">
                          <a:effectLst/>
                        </a:rPr>
                        <a:t>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192.168.1.254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9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主机</a:t>
                      </a:r>
                      <a:r>
                        <a:rPr lang="en-US" sz="1600" kern="100">
                          <a:effectLst/>
                        </a:rPr>
                        <a:t>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192.168.2.254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95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路由器</a:t>
                      </a:r>
                      <a:r>
                        <a:rPr lang="en-US" sz="1600" kern="100">
                          <a:effectLst/>
                        </a:rPr>
                        <a:t>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192.168.1.254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192.168.2.254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N/A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9713" marR="3971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5653405" cy="5452110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dirty="0"/>
              <a:t>2. 在同一局域网内部ARP的工作情况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（1）发送数据包之前查看各设备的ARP表</a:t>
            </a:r>
            <a:endParaRPr lang="en-US" altLang="zh-CN" dirty="0"/>
          </a:p>
          <a:p>
            <a:pPr lvl="2" algn="just">
              <a:lnSpc>
                <a:spcPct val="150000"/>
              </a:lnSpc>
            </a:pPr>
            <a:r>
              <a:rPr lang="zh-CN" altLang="zh-CN" dirty="0"/>
              <a:t>为了观察</a:t>
            </a:r>
            <a:r>
              <a:rPr lang="en-US" altLang="zh-CN" dirty="0"/>
              <a:t>ARP</a:t>
            </a:r>
            <a:r>
              <a:rPr lang="zh-CN" altLang="zh-CN" dirty="0"/>
              <a:t>协议的工作过程，我们首先要查看主机的</a:t>
            </a:r>
            <a:r>
              <a:rPr lang="en-US" altLang="zh-CN" dirty="0"/>
              <a:t>mac </a:t>
            </a:r>
            <a:r>
              <a:rPr lang="zh-CN" altLang="en-US" dirty="0"/>
              <a:t>地址表</a:t>
            </a:r>
            <a:r>
              <a:rPr lang="zh-CN" altLang="zh-CN" dirty="0"/>
              <a:t>，它保存了</a:t>
            </a:r>
            <a:r>
              <a:rPr lang="en-US" altLang="zh-CN" dirty="0"/>
              <a:t>IP</a:t>
            </a:r>
            <a:r>
              <a:rPr lang="zh-CN" altLang="zh-CN" dirty="0"/>
              <a:t>地址和</a:t>
            </a:r>
            <a:r>
              <a:rPr lang="en-US" altLang="zh-CN" dirty="0"/>
              <a:t>MAC</a:t>
            </a:r>
            <a:r>
              <a:rPr lang="zh-CN" altLang="zh-CN" dirty="0"/>
              <a:t>地址的映射关系。在网络拓扑图中，双击</a:t>
            </a:r>
            <a:r>
              <a:rPr lang="en-US" altLang="zh-CN" dirty="0"/>
              <a:t>PC0</a:t>
            </a:r>
            <a:r>
              <a:rPr lang="zh-CN" altLang="zh-CN" dirty="0"/>
              <a:t>的主机图标，进入其配置界面，点击“桌面”选项卡中的</a:t>
            </a:r>
            <a:r>
              <a:rPr lang="en-US" altLang="zh-CN" dirty="0"/>
              <a:t>“</a:t>
            </a:r>
            <a:r>
              <a:rPr lang="zh-CN" altLang="zh-CN" dirty="0"/>
              <a:t>命令提示符</a:t>
            </a:r>
            <a:r>
              <a:rPr lang="en-US" altLang="zh-CN" dirty="0"/>
              <a:t>”</a:t>
            </a:r>
            <a:r>
              <a:rPr lang="zh-CN" altLang="zh-CN" dirty="0"/>
              <a:t>按钮，弹出命令行窗口，在其中键入“</a:t>
            </a:r>
            <a:r>
              <a:rPr lang="en-US" altLang="zh-CN" dirty="0" err="1"/>
              <a:t>arp</a:t>
            </a:r>
            <a:r>
              <a:rPr lang="en-US" altLang="zh-CN" dirty="0"/>
              <a:t> -a</a:t>
            </a:r>
            <a:r>
              <a:rPr lang="zh-CN" altLang="zh-CN" dirty="0"/>
              <a:t>”命令，就可以显示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/>
              <a:t>mac </a:t>
            </a:r>
            <a:r>
              <a:rPr lang="zh-CN" altLang="en-US" dirty="0"/>
              <a:t>地址表</a:t>
            </a:r>
            <a:endParaRPr lang="zh-CN" altLang="zh-CN" dirty="0"/>
          </a:p>
        </p:txBody>
      </p:sp>
      <p:pic>
        <p:nvPicPr>
          <p:cNvPr id="8" name="图片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485" y="956143"/>
            <a:ext cx="5204093" cy="198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6247765" cy="5003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zh-CN" dirty="0"/>
              <a:t>2. 在同一局域网内部ARP的工作情况</a:t>
            </a:r>
          </a:p>
          <a:p>
            <a:pPr marL="457200" lvl="1" indent="0">
              <a:buNone/>
            </a:pPr>
            <a:r>
              <a:rPr lang="zh-CN" altLang="zh-CN" dirty="0"/>
              <a:t>（1）发送数据包之前查看各设备的ARP表</a:t>
            </a:r>
            <a:endParaRPr lang="en-US" altLang="zh-CN" dirty="0"/>
          </a:p>
          <a:p>
            <a:pPr lvl="2"/>
            <a:r>
              <a:rPr lang="zh-CN" altLang="en-US" dirty="0"/>
              <a:t>我们要观察交换机的</a:t>
            </a:r>
            <a:r>
              <a:rPr lang="en-US" altLang="zh-CN" dirty="0"/>
              <a:t>mac </a:t>
            </a:r>
            <a:r>
              <a:rPr lang="zh-CN" altLang="en-US" dirty="0"/>
              <a:t>地址表，它记录了交换机端口和</a:t>
            </a:r>
            <a:r>
              <a:rPr lang="en-US" altLang="zh-CN" dirty="0"/>
              <a:t>MAC</a:t>
            </a:r>
            <a:r>
              <a:rPr lang="zh-CN" altLang="en-US" dirty="0"/>
              <a:t>地址的对应关系。鼠标左键点击模拟器主界面右端的“ ”</a:t>
            </a:r>
            <a:r>
              <a:rPr lang="en-US" altLang="zh-CN" dirty="0"/>
              <a:t>inspect</a:t>
            </a:r>
            <a:r>
              <a:rPr lang="zh-CN" altLang="en-US" dirty="0"/>
              <a:t>图标，然后再用鼠标左键点击</a:t>
            </a:r>
            <a:r>
              <a:rPr lang="en-US" altLang="zh-CN" dirty="0"/>
              <a:t>Switch0</a:t>
            </a:r>
            <a:r>
              <a:rPr lang="zh-CN" altLang="en-US" dirty="0"/>
              <a:t>的交换机图标，在弹出的窗口中，选择“</a:t>
            </a:r>
            <a:r>
              <a:rPr lang="en-US" altLang="zh-CN" dirty="0"/>
              <a:t>ARP</a:t>
            </a:r>
            <a:r>
              <a:rPr lang="zh-CN" altLang="en-US" dirty="0"/>
              <a:t>表”选项，就可以看到</a:t>
            </a:r>
            <a:r>
              <a:rPr lang="en-US" altLang="zh-CN" dirty="0"/>
              <a:t>Switch0</a:t>
            </a:r>
            <a:r>
              <a:rPr lang="zh-CN" altLang="en-US" dirty="0"/>
              <a:t>的</a:t>
            </a:r>
            <a:r>
              <a:rPr lang="en-US" altLang="zh-CN" dirty="0"/>
              <a:t>mac </a:t>
            </a:r>
            <a:r>
              <a:rPr lang="zh-CN" altLang="en-US" dirty="0"/>
              <a:t>地址表</a:t>
            </a:r>
            <a:endParaRPr lang="zh-CN" altLang="zh-CN" dirty="0"/>
          </a:p>
        </p:txBody>
      </p:sp>
      <p:pic>
        <p:nvPicPr>
          <p:cNvPr id="409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945" y="3902776"/>
            <a:ext cx="366912" cy="29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399" y="2181726"/>
            <a:ext cx="5005137" cy="2630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6350000" cy="50038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zh-CN" dirty="0"/>
              <a:t>2. 在同一局域网内部ARP的工作情况</a:t>
            </a:r>
          </a:p>
          <a:p>
            <a:pPr marL="457200" lvl="1" indent="0">
              <a:buNone/>
            </a:pPr>
            <a:r>
              <a:rPr lang="zh-CN" altLang="zh-CN" dirty="0"/>
              <a:t>（1）发送数据包之前查看各设备的ARP表</a:t>
            </a:r>
            <a:endParaRPr lang="en-US" altLang="zh-CN" dirty="0"/>
          </a:p>
          <a:p>
            <a:pPr lvl="2"/>
            <a:r>
              <a:rPr lang="zh-CN" altLang="en-US" dirty="0"/>
              <a:t>我们要观察交换机的</a:t>
            </a:r>
            <a:r>
              <a:rPr lang="en-US" altLang="zh-CN" dirty="0"/>
              <a:t>mac </a:t>
            </a:r>
            <a:r>
              <a:rPr lang="zh-CN" altLang="en-US" dirty="0"/>
              <a:t>地址表，它记录了交换机端口和</a:t>
            </a:r>
            <a:r>
              <a:rPr lang="en-US" altLang="zh-CN" dirty="0"/>
              <a:t>MAC</a:t>
            </a:r>
            <a:r>
              <a:rPr lang="zh-CN" altLang="en-US" dirty="0"/>
              <a:t>地址的对应关系。鼠标左键点击模拟器主界面右端的“ ”</a:t>
            </a:r>
            <a:r>
              <a:rPr lang="en-US" altLang="zh-CN" dirty="0"/>
              <a:t>inspect</a:t>
            </a:r>
            <a:r>
              <a:rPr lang="zh-CN" altLang="en-US" dirty="0"/>
              <a:t>图标，然后再用鼠标左键点击</a:t>
            </a:r>
            <a:r>
              <a:rPr lang="en-US" altLang="zh-CN" dirty="0"/>
              <a:t>Switch0</a:t>
            </a:r>
            <a:r>
              <a:rPr lang="zh-CN" altLang="en-US" dirty="0"/>
              <a:t>的交换机图标，在弹出的窗口中，选择“</a:t>
            </a:r>
            <a:r>
              <a:rPr lang="en-US" altLang="zh-CN" dirty="0"/>
              <a:t>ARP</a:t>
            </a:r>
            <a:r>
              <a:rPr lang="zh-CN" altLang="en-US" dirty="0"/>
              <a:t>表”选项，就可以看到</a:t>
            </a:r>
            <a:r>
              <a:rPr lang="en-US" altLang="zh-CN" dirty="0"/>
              <a:t>Switch0</a:t>
            </a:r>
            <a:r>
              <a:rPr lang="zh-CN" altLang="en-US" dirty="0"/>
              <a:t>的</a:t>
            </a:r>
            <a:r>
              <a:rPr lang="en-US" altLang="zh-CN" dirty="0"/>
              <a:t>mac </a:t>
            </a:r>
            <a:r>
              <a:rPr lang="zh-CN" altLang="en-US" dirty="0"/>
              <a:t>地址表</a:t>
            </a:r>
            <a:r>
              <a:rPr lang="zh-CN" altLang="zh-CN" dirty="0"/>
              <a:t>最后，我们要查看路由器的</a:t>
            </a:r>
            <a:r>
              <a:rPr lang="en-US" altLang="zh-CN" dirty="0"/>
              <a:t>ARP</a:t>
            </a:r>
            <a:r>
              <a:rPr lang="zh-CN" altLang="zh-CN" dirty="0"/>
              <a:t>高速缓存表，它保存了路由器接口和</a:t>
            </a:r>
            <a:r>
              <a:rPr lang="en-US" altLang="zh-CN" dirty="0"/>
              <a:t>MAC</a:t>
            </a:r>
            <a:r>
              <a:rPr lang="zh-CN" altLang="zh-CN" dirty="0"/>
              <a:t>地址的映射关系。在网络拓扑图中，双击</a:t>
            </a:r>
            <a:r>
              <a:rPr lang="en-US" altLang="zh-CN" dirty="0"/>
              <a:t>Router0</a:t>
            </a:r>
            <a:r>
              <a:rPr lang="zh-CN" altLang="zh-CN" dirty="0"/>
              <a:t>的路由器图标，进入其命令行界面，键入</a:t>
            </a:r>
            <a:r>
              <a:rPr lang="en-US" altLang="zh-CN" dirty="0"/>
              <a:t>“enable”</a:t>
            </a:r>
            <a:r>
              <a:rPr lang="zh-CN" altLang="zh-CN" dirty="0"/>
              <a:t>命令，切换到特权模式，再键入</a:t>
            </a:r>
            <a:r>
              <a:rPr lang="en-US" altLang="zh-CN" dirty="0"/>
              <a:t>“show </a:t>
            </a:r>
            <a:r>
              <a:rPr lang="en-US" altLang="zh-CN" dirty="0" err="1"/>
              <a:t>arp</a:t>
            </a:r>
            <a:r>
              <a:rPr lang="en-US" altLang="zh-CN" dirty="0"/>
              <a:t>”</a:t>
            </a:r>
            <a:r>
              <a:rPr lang="zh-CN" altLang="zh-CN" dirty="0"/>
              <a:t>命令，就可以显示</a:t>
            </a:r>
            <a:r>
              <a:rPr lang="en-US" altLang="zh-CN" dirty="0"/>
              <a:t>Router0</a:t>
            </a:r>
            <a:r>
              <a:rPr lang="zh-CN" altLang="zh-CN" dirty="0"/>
              <a:t>的</a:t>
            </a:r>
            <a:r>
              <a:rPr lang="en-US" altLang="zh-CN" dirty="0"/>
              <a:t>ARP</a:t>
            </a:r>
            <a:r>
              <a:rPr lang="zh-CN" altLang="zh-CN" dirty="0"/>
              <a:t>高速缓存表</a:t>
            </a:r>
          </a:p>
        </p:txBody>
      </p:sp>
      <p:pic>
        <p:nvPicPr>
          <p:cNvPr id="409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997" y="2954677"/>
            <a:ext cx="366912" cy="29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177088"/>
            <a:ext cx="5005137" cy="2630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393404" y="4141370"/>
            <a:ext cx="4328027" cy="1093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6350000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2. 在同一局域网内部ARP的工作情况</a:t>
            </a:r>
          </a:p>
          <a:p>
            <a:pPr marL="457200" lvl="1" indent="0">
              <a:buNone/>
            </a:pPr>
            <a:r>
              <a:rPr lang="en-US" altLang="zh-CN" dirty="0"/>
              <a:t>(</a:t>
            </a:r>
            <a:r>
              <a:rPr lang="zh-CN" altLang="zh-CN" dirty="0"/>
              <a:t>2）发送数据包后，查看各设备的ARP表</a:t>
            </a:r>
            <a:endParaRPr lang="en-US" altLang="zh-CN" dirty="0"/>
          </a:p>
          <a:p>
            <a:pPr lvl="2" algn="just"/>
            <a:r>
              <a:rPr lang="zh-CN" altLang="en-US" dirty="0"/>
              <a:t>首先找到模拟器主界面右下角的“实时</a:t>
            </a:r>
            <a:r>
              <a:rPr lang="en-US" altLang="zh-CN" dirty="0"/>
              <a:t>/</a:t>
            </a:r>
            <a:r>
              <a:rPr lang="zh-CN" altLang="en-US" dirty="0"/>
              <a:t>模拟”                ，点击“实时”图标旁边的“模拟”图标从而让网络拓扑进入模拟状态（此时网络拓扑为静止状态）。</a:t>
            </a:r>
            <a:endParaRPr lang="en-US" altLang="zh-CN" dirty="0"/>
          </a:p>
          <a:p>
            <a:pPr lvl="2"/>
            <a:r>
              <a:rPr lang="zh-CN" altLang="en-US" dirty="0"/>
              <a:t>点击模拟界面中的“编辑过滤器”             按钮，只勾选</a:t>
            </a:r>
            <a:r>
              <a:rPr lang="en-US" altLang="zh-CN" dirty="0"/>
              <a:t>ARP</a:t>
            </a:r>
            <a:r>
              <a:rPr lang="zh-CN" altLang="en-US" dirty="0"/>
              <a:t>，</a:t>
            </a:r>
            <a:r>
              <a:rPr lang="en-US" altLang="zh-CN" dirty="0"/>
              <a:t>ICMP</a:t>
            </a:r>
            <a:r>
              <a:rPr lang="zh-CN" altLang="en-US" dirty="0"/>
              <a:t>选项，</a:t>
            </a:r>
            <a:endParaRPr lang="zh-CN" altLang="zh-CN" dirty="0"/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2335129" y="3123198"/>
            <a:ext cx="1644650" cy="21590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5636929" y="4551413"/>
            <a:ext cx="1046480" cy="18288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259772"/>
            <a:ext cx="3425658" cy="1718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为了测试网络的连通性，我们可以在</a:t>
            </a:r>
            <a:r>
              <a:rPr lang="en-US" altLang="zh-CN" dirty="0"/>
              <a:t>PC0</a:t>
            </a:r>
            <a:r>
              <a:rPr lang="zh-CN" altLang="en-US" dirty="0"/>
              <a:t>的命令行模式下，使用</a:t>
            </a:r>
            <a:r>
              <a:rPr lang="en-US" altLang="zh-CN" dirty="0"/>
              <a:t>ping 192.168.1.2</a:t>
            </a:r>
            <a:r>
              <a:rPr lang="zh-CN" altLang="en-US" dirty="0"/>
              <a:t>命令，向</a:t>
            </a:r>
            <a:r>
              <a:rPr lang="en-US" altLang="zh-CN" dirty="0"/>
              <a:t>PC2</a:t>
            </a:r>
            <a:r>
              <a:rPr lang="zh-CN" altLang="en-US" dirty="0"/>
              <a:t>发送</a:t>
            </a:r>
            <a:r>
              <a:rPr lang="en-US" altLang="zh-CN" dirty="0"/>
              <a:t>ICMP</a:t>
            </a:r>
            <a:r>
              <a:rPr lang="zh-CN" altLang="en-US" dirty="0"/>
              <a:t>请求报文。在模拟器的工作区，我们可以观察并查看数据包的传输过程和细节（点击数据包图标即可查看数据包的内容；点击“捕获</a:t>
            </a:r>
            <a:r>
              <a:rPr lang="en-US" altLang="zh-CN" dirty="0"/>
              <a:t>/</a:t>
            </a:r>
            <a:r>
              <a:rPr lang="zh-CN" altLang="en-US" dirty="0"/>
              <a:t>转发”    按钮，数据包会按照步骤进行传送）。图展示了数据包从</a:t>
            </a:r>
            <a:r>
              <a:rPr lang="en-US" altLang="zh-CN" dirty="0"/>
              <a:t>PC0</a:t>
            </a:r>
            <a:r>
              <a:rPr lang="zh-CN" altLang="en-US" dirty="0"/>
              <a:t>经过交换机到达</a:t>
            </a:r>
            <a:r>
              <a:rPr lang="en-US" altLang="zh-CN" dirty="0"/>
              <a:t>PC2</a:t>
            </a:r>
            <a:r>
              <a:rPr lang="zh-CN" altLang="en-US" dirty="0"/>
              <a:t>的情况。</a:t>
            </a:r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8906159" y="3242460"/>
            <a:ext cx="510556" cy="373079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381" y="4382770"/>
            <a:ext cx="5859713" cy="2258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1）在没有进行任何网络通信之前，PC0的ARP高速缓存表是空的吗？为什么会这样？ </a:t>
            </a:r>
          </a:p>
          <a:p>
            <a:pPr marL="457200" lvl="1" indent="0">
              <a:buNone/>
            </a:pPr>
            <a:r>
              <a:rPr lang="zh-CN" altLang="zh-CN" dirty="0"/>
              <a:t>2）在没有进行任何网络通信之前，Switch0的MAC地址表中有哪些条目？ </a:t>
            </a:r>
          </a:p>
          <a:p>
            <a:pPr marL="457200" lvl="1" indent="0">
              <a:buNone/>
            </a:pPr>
            <a:r>
              <a:rPr lang="zh-CN" altLang="zh-CN" dirty="0"/>
              <a:t>3）当PC0发送ping命令后，它需要等待一段时间才能收到回应，这期间它发送了哪些协议的数据包？这些数据包的目的是什么？这些数据包中的MAC地址信息分别是什么？这些数据包是PC0发送的还是接收的？ </a:t>
            </a:r>
          </a:p>
          <a:p>
            <a:pPr marL="457200" lvl="1" indent="0">
              <a:buNone/>
            </a:pPr>
            <a:r>
              <a:rPr lang="zh-CN" altLang="zh-CN" dirty="0"/>
              <a:t>4）当PC0发送的第一个ICMP请求报文到达Switch0时，Switch0的MAC地址表发生了什么变化？ </a:t>
            </a:r>
          </a:p>
          <a:p>
            <a:pPr marL="457200" lvl="1" indent="0">
              <a:buNone/>
            </a:pPr>
            <a:r>
              <a:rPr lang="zh-CN" altLang="zh-CN" dirty="0"/>
              <a:t>5）当Switch0将PC0发送的第一个ICMP请求报文广播到PC1和Router0时，PC1和Router0的ARP高速缓存表发生了什么变化？PC1收到的数据包中的MAC地址信息有什么不同？ 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10: </a:t>
            </a:r>
            <a:r>
              <a:rPr lang="en-US" altLang="zh-CN" dirty="0"/>
              <a:t>ARP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（3）再次发送ping命令，查看各设备的ARP表</a:t>
            </a:r>
          </a:p>
          <a:p>
            <a:pPr marL="0" indent="0">
              <a:buNone/>
            </a:pPr>
            <a:r>
              <a:rPr lang="zh-CN" altLang="zh-CN" dirty="0"/>
              <a:t>执行完成</a:t>
            </a:r>
            <a:r>
              <a:rPr lang="en-US" altLang="zh-CN" dirty="0"/>
              <a:t>Ping</a:t>
            </a:r>
            <a:r>
              <a:rPr lang="zh-CN" altLang="zh-CN" dirty="0"/>
              <a:t>命令以后，再次打开模拟界面，重复上述步骤，观察事件列表中的事件信息。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lvl="1"/>
            <a:r>
              <a:rPr lang="zh-CN" altLang="zh-CN" dirty="0"/>
              <a:t>在事件列表中，第一次捕获的事件和第二次捕获的事件有什么差异？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>
                <a:cs typeface="+mn-ea"/>
                <a:sym typeface="+mn-lt"/>
              </a:rPr>
              <a:t>10: </a:t>
            </a:r>
            <a:r>
              <a:rPr lang="en-US" altLang="zh-CN"/>
              <a:t>ARP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2. 在不同局域网</a:t>
            </a:r>
            <a:r>
              <a:rPr lang="en-US" altLang="zh-CN" sz="2400" dirty="0"/>
              <a:t>ARP</a:t>
            </a:r>
            <a:r>
              <a:rPr lang="zh-CN" altLang="zh-CN" sz="2400" dirty="0"/>
              <a:t>的工作情况</a:t>
            </a:r>
          </a:p>
          <a:p>
            <a:pPr marL="457200" lvl="1" indent="0">
              <a:buNone/>
            </a:pPr>
            <a:r>
              <a:rPr lang="zh-CN" altLang="zh-CN" sz="2000" dirty="0">
                <a:solidFill>
                  <a:schemeClr val="tx1"/>
                </a:solidFill>
              </a:rPr>
              <a:t>为了检验不同网络之间的连通性，我们可以在</a:t>
            </a:r>
            <a:r>
              <a:rPr lang="en-US" altLang="zh-CN" sz="2000" dirty="0">
                <a:solidFill>
                  <a:schemeClr val="tx1"/>
                </a:solidFill>
              </a:rPr>
              <a:t>PC0</a:t>
            </a:r>
            <a:r>
              <a:rPr lang="zh-CN" altLang="zh-CN" sz="2000" dirty="0">
                <a:solidFill>
                  <a:schemeClr val="tx1"/>
                </a:solidFill>
              </a:rPr>
              <a:t>的命令行窗口下，使用</a:t>
            </a:r>
            <a:r>
              <a:rPr lang="en-US" altLang="zh-CN" sz="2000" dirty="0">
                <a:solidFill>
                  <a:schemeClr val="tx1"/>
                </a:solidFill>
              </a:rPr>
              <a:t>ping 192.168.2.1</a:t>
            </a:r>
            <a:r>
              <a:rPr lang="zh-CN" altLang="zh-CN" sz="2000" dirty="0">
                <a:solidFill>
                  <a:schemeClr val="tx1"/>
                </a:solidFill>
              </a:rPr>
              <a:t>命令，向</a:t>
            </a:r>
            <a:r>
              <a:rPr lang="en-US" altLang="zh-CN" sz="2000" dirty="0">
                <a:solidFill>
                  <a:schemeClr val="tx1"/>
                </a:solidFill>
              </a:rPr>
              <a:t>Router0</a:t>
            </a:r>
            <a:r>
              <a:rPr lang="zh-CN" altLang="zh-CN" sz="2000" dirty="0">
                <a:solidFill>
                  <a:schemeClr val="tx1"/>
                </a:solidFill>
              </a:rPr>
              <a:t>的另一个接口发送</a:t>
            </a:r>
            <a:r>
              <a:rPr lang="en-US" altLang="zh-CN" sz="2000" dirty="0">
                <a:solidFill>
                  <a:schemeClr val="tx1"/>
                </a:solidFill>
              </a:rPr>
              <a:t>ICMP</a:t>
            </a:r>
            <a:r>
              <a:rPr lang="zh-CN" altLang="zh-CN" sz="2000" dirty="0">
                <a:solidFill>
                  <a:schemeClr val="tx1"/>
                </a:solidFill>
              </a:rPr>
              <a:t>请求报文。在模拟器的工作区，我们可以观察并查看数据包的传输过程和细节，以及</a:t>
            </a:r>
            <a:r>
              <a:rPr lang="en-US" altLang="zh-CN" sz="2000" dirty="0">
                <a:solidFill>
                  <a:schemeClr val="tx1"/>
                </a:solidFill>
              </a:rPr>
              <a:t>ARP</a:t>
            </a:r>
            <a:r>
              <a:rPr lang="zh-CN" altLang="zh-CN" sz="2000" dirty="0">
                <a:solidFill>
                  <a:schemeClr val="tx1"/>
                </a:solidFill>
              </a:rPr>
              <a:t>协议的报文格式和内容。同时，我们也可以注意到</a:t>
            </a:r>
            <a:r>
              <a:rPr lang="en-US" altLang="zh-CN" sz="2000" dirty="0">
                <a:solidFill>
                  <a:schemeClr val="tx1"/>
                </a:solidFill>
              </a:rPr>
              <a:t>PC0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Switch0</a:t>
            </a:r>
            <a:r>
              <a:rPr lang="zh-CN" altLang="zh-CN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Switch1</a:t>
            </a:r>
            <a:r>
              <a:rPr lang="zh-CN" altLang="zh-CN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</a:rPr>
              <a:t>Router0</a:t>
            </a:r>
            <a:r>
              <a:rPr lang="zh-CN" altLang="zh-CN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ARP</a:t>
            </a:r>
            <a:r>
              <a:rPr lang="zh-CN" altLang="zh-CN" sz="2000" dirty="0">
                <a:solidFill>
                  <a:schemeClr val="tx1"/>
                </a:solidFill>
              </a:rPr>
              <a:t>高速缓存表和</a:t>
            </a:r>
            <a:r>
              <a:rPr lang="en-US" altLang="zh-CN" sz="2000" dirty="0">
                <a:solidFill>
                  <a:schemeClr val="tx1"/>
                </a:solidFill>
              </a:rPr>
              <a:t>MAC</a:t>
            </a:r>
            <a:r>
              <a:rPr lang="zh-CN" altLang="zh-CN" sz="2000" dirty="0">
                <a:solidFill>
                  <a:schemeClr val="tx1"/>
                </a:solidFill>
              </a:rPr>
              <a:t>地址表的变化情况（注意在没有进行任何网络通信之前，</a:t>
            </a:r>
            <a:r>
              <a:rPr lang="en-US" altLang="zh-CN" sz="2000" dirty="0">
                <a:solidFill>
                  <a:schemeClr val="tx1"/>
                </a:solidFill>
              </a:rPr>
              <a:t>PC0</a:t>
            </a:r>
            <a:r>
              <a:rPr lang="zh-CN" altLang="zh-CN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ARP</a:t>
            </a:r>
            <a:r>
              <a:rPr lang="zh-CN" altLang="zh-CN" sz="2000" dirty="0">
                <a:solidFill>
                  <a:schemeClr val="tx1"/>
                </a:solidFill>
              </a:rPr>
              <a:t>高速缓存表是空的）。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根据捕获的数据报回答问题，实验报告中必须附抓包的截图：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 </a:t>
            </a:r>
            <a:r>
              <a:rPr lang="zh-CN" altLang="en-US" dirty="0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 dirty="0"/>
              <a:t>ping</a:t>
            </a:r>
            <a:r>
              <a:rPr lang="zh-CN" altLang="zh-CN" dirty="0"/>
              <a:t>命令的执行情况有何变化？</a:t>
            </a:r>
          </a:p>
          <a:p>
            <a:pPr marL="457200" lvl="1" indent="0">
              <a:buNone/>
            </a:pPr>
            <a:endParaRPr lang="zh-CN" altLang="zh-CN" sz="20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9</TotalTime>
  <Words>1306</Words>
  <Application>Microsoft Office PowerPoint</Application>
  <PresentationFormat>宽屏</PresentationFormat>
  <Paragraphs>90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Arial</vt:lpstr>
      <vt:lpstr>Calibri</vt:lpstr>
      <vt:lpstr>Comic Sans MS</vt:lpstr>
      <vt:lpstr>Designed by iSlide</vt:lpstr>
      <vt:lpstr>计算机网络课程设计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  <vt:lpstr>实验10: ARP协议分析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思蕊 周</cp:lastModifiedBy>
  <cp:revision>55</cp:revision>
  <cp:lastPrinted>2023-11-06T16:00:00Z</cp:lastPrinted>
  <dcterms:created xsi:type="dcterms:W3CDTF">2023-11-06T16:00:00Z</dcterms:created>
  <dcterms:modified xsi:type="dcterms:W3CDTF">2025-12-19T13:57:33Z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36C003C7549046D7904AC3C959C475E9_13</vt:lpwstr>
  </property>
  <property fmtid="{D5CDD505-2E9C-101B-9397-08002B2CF9AE}" pid="4" name="KSOProductBuildVer">
    <vt:lpwstr>2052-12.1.0.23542</vt:lpwstr>
  </property>
</Properties>
</file>