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258" r:id="rId2"/>
    <p:sldId id="497" r:id="rId3"/>
    <p:sldId id="445" r:id="rId4"/>
    <p:sldId id="423" r:id="rId5"/>
    <p:sldId id="424" r:id="rId6"/>
    <p:sldId id="496" r:id="rId7"/>
    <p:sldId id="425" r:id="rId8"/>
    <p:sldId id="426" r:id="rId9"/>
    <p:sldId id="427" r:id="rId10"/>
    <p:sldId id="428" r:id="rId11"/>
    <p:sldId id="429" r:id="rId12"/>
    <p:sldId id="431" r:id="rId13"/>
    <p:sldId id="432" r:id="rId14"/>
    <p:sldId id="433" r:id="rId15"/>
    <p:sldId id="435" r:id="rId16"/>
    <p:sldId id="436" r:id="rId17"/>
    <p:sldId id="437" r:id="rId18"/>
    <p:sldId id="438" r:id="rId19"/>
    <p:sldId id="507" r:id="rId20"/>
    <p:sldId id="499" r:id="rId21"/>
    <p:sldId id="500" r:id="rId22"/>
    <p:sldId id="501" r:id="rId23"/>
    <p:sldId id="502" r:id="rId24"/>
    <p:sldId id="503" r:id="rId25"/>
    <p:sldId id="504" r:id="rId26"/>
    <p:sldId id="505" r:id="rId27"/>
    <p:sldId id="506" r:id="rId28"/>
    <p:sldId id="260" r:id="rId2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Jixiang" initials="G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800080"/>
    <a:srgbClr val="660066"/>
    <a:srgbClr val="FFC9C9"/>
    <a:srgbClr val="8B5A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2964" autoAdjust="0"/>
  </p:normalViewPr>
  <p:slideViewPr>
    <p:cSldViewPr>
      <p:cViewPr varScale="1">
        <p:scale>
          <a:sx n="130" d="100"/>
          <a:sy n="130" d="100"/>
        </p:scale>
        <p:origin x="86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0794"/>
    </p:cViewPr>
  </p:sorterViewPr>
  <p:notesViewPr>
    <p:cSldViewPr>
      <p:cViewPr varScale="1">
        <p:scale>
          <a:sx n="63" d="100"/>
          <a:sy n="63" d="100"/>
        </p:scale>
        <p:origin x="-2650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842CA-DF83-4882-8FFF-BA3A85D16D38}" type="datetimeFigureOut">
              <a:rPr lang="zh-CN" altLang="en-US" smtClean="0"/>
              <a:pPr/>
              <a:t>2025/10/29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E344F-D534-46E9-8FE3-CD92B79C735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391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F53C07F-DE34-475F-A416-CA73C1AAA93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86838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7764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4763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818A53-AC32-4118-9097-FEA31EC93795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845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818A53-AC32-4118-9097-FEA31EC93795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845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818A53-AC32-4118-9097-FEA31EC93795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845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6152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7"/>
          <p:cNvGraphicFramePr>
            <a:graphicFrameLocks/>
          </p:cNvGraphicFramePr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7143" imgH="48963" progId="">
                  <p:embed/>
                </p:oleObj>
              </mc:Choice>
              <mc:Fallback>
                <p:oleObj name="Clip" r:id="rId2" imgW="6857143" imgH="48963" progId="">
                  <p:embed/>
                  <p:pic>
                    <p:nvPicPr>
                      <p:cNvPr id="0" name="Picture 75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CC62278-6CCC-4E64-B581-D4B40622947E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3BF4510-0278-40CF-B611-0F02EF94E9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43073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D40FB5-EEAA-4281-A463-D3F51834DB41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288174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850FEB-3E4D-4690-B6C5-C856083218ED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5701D-4886-4FC7-8299-13B5AF2EC3E5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54987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CD4644-5CAE-4B61-A33D-E387A17D33C5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FB5AF-00C3-4229-80FB-3644303542FA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608160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FB362-A8FC-4871-9D54-584A07427BF7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CD1AB-7B24-4427-9E56-5032E9315002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03565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9BB75-FC9B-4A99-BFBC-026657A68101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9F6470-30F0-46F2-A9B4-347B3C250B99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40637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505B0-C487-4B9B-B0C3-BF8562D4705C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3156E-B8C2-412F-AFBE-30E4CB8151DB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85680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6BE1E-F9BB-42C5-8379-55724A883B89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AF686-1E1A-4212-AE78-EDF5D1EE7E58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569471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4E337-8EB1-4A5F-AC39-A04D3D54F69B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7E72A-BB86-4279-8871-E07E727D6110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961976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A70047-D7EB-4757-9BEE-72B00D357759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8BAEB-9568-4D00-923C-5E9A8E058C22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945593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8F1A6-8146-4985-9B38-9265724FE030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D7009-6F38-40C2-BE5D-B577DDD75D7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3397682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A7070-9E09-4D0C-836C-AD6C119CFFCF}" type="datetime1">
              <a:rPr lang="zh-CN" altLang="en-US" smtClean="0"/>
              <a:t>2025/10/29</a:t>
            </a:fld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B95F93-1FA0-4470-9C7E-0F02488CAEB5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578636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400" smtClean="0">
                <a:cs typeface="Arial" pitchFamily="34" charset="0"/>
              </a:defRPr>
            </a:lvl1pPr>
          </a:lstStyle>
          <a:p>
            <a:pPr>
              <a:defRPr/>
            </a:pPr>
            <a:fld id="{871EFD4D-A73D-435F-BB9E-045E14AC515A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 smtClean="0">
                <a:cs typeface="Arial" pitchFamily="34" charset="0"/>
              </a:defRPr>
            </a:lvl1pPr>
          </a:lstStyle>
          <a:p>
            <a:pPr>
              <a:defRPr/>
            </a:pPr>
            <a:fld id="{1D652F23-F222-4961-A4BB-131A6C79ADB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/219</a:t>
            </a:r>
            <a:endParaRPr lang="zh-CN" altLang="en-US" dirty="0"/>
          </a:p>
        </p:txBody>
      </p:sp>
      <p:pic>
        <p:nvPicPr>
          <p:cNvPr id="1031" name="Picture 7" descr="redBar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>
    <p:fade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Times New Roman" pitchFamily="18" charset="0"/>
              </a:rPr>
              <a:t>数据库系统原理</a:t>
            </a:r>
            <a:br>
              <a:rPr lang="zh-CN" altLang="en-US" sz="4000">
                <a:latin typeface="Times New Roman" pitchFamily="18" charset="0"/>
              </a:rPr>
            </a:br>
            <a:br>
              <a:rPr lang="zh-CN" altLang="en-US" sz="900">
                <a:latin typeface="Times New Roman" pitchFamily="18" charset="0"/>
              </a:rPr>
            </a:br>
            <a:r>
              <a:rPr lang="en-US" altLang="zh-CN" sz="2800">
                <a:latin typeface="Times New Roman" pitchFamily="18" charset="0"/>
              </a:rPr>
              <a:t>Database System Principles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四川大学计算机学院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郭际香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guojixiang@scu.edu.cn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</a:rPr>
              <a:t>2025.10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838200"/>
            <a:ext cx="7772400" cy="1462088"/>
          </a:xfrm>
        </p:spPr>
        <p:txBody>
          <a:bodyPr/>
          <a:lstStyle/>
          <a:p>
            <a:pPr eaLnBrk="1" hangingPunct="1"/>
            <a:r>
              <a:rPr lang="zh-CN" altLang="zh-CN" dirty="0"/>
              <a:t>第</a:t>
            </a:r>
            <a:r>
              <a:rPr lang="en-US" altLang="zh-CN" b="0" dirty="0"/>
              <a:t>5</a:t>
            </a:r>
            <a:r>
              <a:rPr lang="zh-CN" altLang="zh-CN" dirty="0"/>
              <a:t>章 </a:t>
            </a:r>
            <a:r>
              <a:rPr lang="zh-CN" altLang="en-US" dirty="0"/>
              <a:t>高级</a:t>
            </a:r>
            <a:r>
              <a:rPr lang="zh-CN" altLang="zh-CN" dirty="0"/>
              <a:t>SQL</a:t>
            </a:r>
            <a:endParaRPr lang="en-US" altLang="zh-CN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505200"/>
            <a:ext cx="8001000" cy="16002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lnSpc>
                <a:spcPct val="120000"/>
              </a:lnSpc>
              <a:spcAft>
                <a:spcPts val="600"/>
              </a:spcAft>
              <a:buChar char="n"/>
            </a:pPr>
            <a:r>
              <a:rPr lang="en-US" altLang="zh-CN" sz="2800" dirty="0"/>
              <a:t> </a:t>
            </a:r>
            <a:r>
              <a:rPr lang="zh-CN" altLang="en-US" sz="2800" dirty="0"/>
              <a:t>与高级程序语言配合使用</a:t>
            </a:r>
            <a:endParaRPr lang="en-US" altLang="zh-CN" sz="2800" dirty="0"/>
          </a:p>
          <a:p>
            <a:pPr algn="l" eaLnBrk="1" hangingPunct="1">
              <a:lnSpc>
                <a:spcPct val="120000"/>
              </a:lnSpc>
              <a:buChar char="n"/>
            </a:pPr>
            <a:r>
              <a:rPr lang="zh-CN" altLang="en-US" sz="2800" dirty="0"/>
              <a:t> 本章主要大家自学，与课程设计选择的高级语言配套深入了解</a:t>
            </a:r>
          </a:p>
        </p:txBody>
      </p:sp>
    </p:spTree>
    <p:extLst>
      <p:ext uri="{BB962C8B-B14F-4D97-AF65-F5344CB8AC3E}">
        <p14:creationId xmlns:p14="http://schemas.microsoft.com/office/powerpoint/2010/main" val="32425990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EA25FD-75C9-4D66-A231-7ECFF7BCAA00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853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85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1853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使用高级程序语言访问</a:t>
            </a:r>
            <a:r>
              <a:rPr lang="en-US" altLang="zh-CN" dirty="0"/>
              <a:t>SQL</a:t>
            </a:r>
            <a:endParaRPr lang="zh-CN" altLang="en-US" dirty="0"/>
          </a:p>
          <a:p>
            <a:pPr eaLnBrk="1" hangingPunct="1"/>
            <a:r>
              <a:rPr lang="en-US" altLang="zh-CN" dirty="0"/>
              <a:t>5.2 </a:t>
            </a:r>
            <a:r>
              <a:rPr lang="zh-CN" altLang="en-US" dirty="0"/>
              <a:t>触发器</a:t>
            </a:r>
          </a:p>
        </p:txBody>
      </p:sp>
      <p:sp>
        <p:nvSpPr>
          <p:cNvPr id="201732" name="AutoShape 4"/>
          <p:cNvSpPr>
            <a:spLocks noChangeArrowheads="1"/>
          </p:cNvSpPr>
          <p:nvPr/>
        </p:nvSpPr>
        <p:spPr bwMode="auto">
          <a:xfrm>
            <a:off x="914400" y="1752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99FAD9-1386-4112-A8B4-025171785D90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863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86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使用高级程序语言访问</a:t>
            </a:r>
            <a:r>
              <a:rPr lang="en-US" altLang="zh-CN" dirty="0"/>
              <a:t>SQL</a:t>
            </a:r>
          </a:p>
        </p:txBody>
      </p:sp>
      <p:sp>
        <p:nvSpPr>
          <p:cNvPr id="1863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029200"/>
          </a:xfrm>
        </p:spPr>
        <p:txBody>
          <a:bodyPr/>
          <a:lstStyle/>
          <a:p>
            <a:pPr eaLnBrk="1" hangingPunct="1"/>
            <a:r>
              <a:rPr lang="en-US" altLang="zh-CN" dirty="0"/>
              <a:t>SQL</a:t>
            </a:r>
            <a:r>
              <a:rPr lang="zh-CN" altLang="en-US" dirty="0"/>
              <a:t>语言提供了两种不同的使用方式。</a:t>
            </a:r>
          </a:p>
          <a:p>
            <a:pPr lvl="1" eaLnBrk="1" hangingPunct="1"/>
            <a:r>
              <a:rPr lang="zh-CN" altLang="en-US" dirty="0"/>
              <a:t>一种是在</a:t>
            </a:r>
            <a:r>
              <a:rPr lang="zh-CN" altLang="en-US" dirty="0">
                <a:solidFill>
                  <a:srgbClr val="0000FF"/>
                </a:solidFill>
              </a:rPr>
              <a:t>终端</a:t>
            </a:r>
            <a:r>
              <a:rPr lang="zh-CN" altLang="en-US" dirty="0"/>
              <a:t>交互式方式下使用，我们前面介绍的就是做为</a:t>
            </a:r>
            <a:r>
              <a:rPr lang="zh-CN" altLang="en-US" dirty="0">
                <a:solidFill>
                  <a:srgbClr val="0000FF"/>
                </a:solidFill>
              </a:rPr>
              <a:t>独立语言</a:t>
            </a:r>
            <a:r>
              <a:rPr lang="zh-CN" altLang="en-US" dirty="0"/>
              <a:t>由用户在</a:t>
            </a:r>
            <a:r>
              <a:rPr lang="zh-CN" altLang="en-US" dirty="0">
                <a:solidFill>
                  <a:srgbClr val="C00000"/>
                </a:solidFill>
              </a:rPr>
              <a:t>交互环境</a:t>
            </a:r>
            <a:r>
              <a:rPr lang="zh-CN" altLang="en-US" dirty="0"/>
              <a:t>下使用的</a:t>
            </a:r>
            <a:r>
              <a:rPr lang="en-US" altLang="zh-CN" dirty="0"/>
              <a:t>SQL</a:t>
            </a:r>
            <a:r>
              <a:rPr lang="zh-CN" altLang="en-US" dirty="0"/>
              <a:t>语言。</a:t>
            </a:r>
          </a:p>
          <a:p>
            <a:pPr lvl="1" eaLnBrk="1" hangingPunct="1"/>
            <a:r>
              <a:rPr lang="zh-CN" altLang="en-US" dirty="0"/>
              <a:t>另一种是将</a:t>
            </a:r>
            <a:r>
              <a:rPr lang="en-US" altLang="zh-CN" dirty="0">
                <a:solidFill>
                  <a:srgbClr val="0000FF"/>
                </a:solidFill>
              </a:rPr>
              <a:t>SQL</a:t>
            </a:r>
            <a:r>
              <a:rPr lang="zh-CN" altLang="en-US" dirty="0">
                <a:solidFill>
                  <a:srgbClr val="0000FF"/>
                </a:solidFill>
              </a:rPr>
              <a:t>语言嵌入到某种高级语言</a:t>
            </a:r>
            <a:r>
              <a:rPr lang="zh-CN" altLang="en-US" dirty="0"/>
              <a:t>如</a:t>
            </a:r>
            <a:r>
              <a:rPr lang="en-US" altLang="zh-CN" dirty="0"/>
              <a:t>Pascal</a:t>
            </a:r>
            <a:r>
              <a:rPr lang="zh-CN" altLang="en-US" dirty="0"/>
              <a:t>、</a:t>
            </a:r>
            <a:r>
              <a:rPr lang="en-US" altLang="zh-CN" dirty="0"/>
              <a:t>COBOL</a:t>
            </a:r>
            <a:r>
              <a:rPr lang="zh-CN" altLang="en-US" dirty="0"/>
              <a:t>、</a:t>
            </a:r>
            <a:r>
              <a:rPr lang="en-US" altLang="zh-CN" dirty="0"/>
              <a:t>FORTRAN</a:t>
            </a:r>
            <a:r>
              <a:rPr lang="zh-CN" altLang="en-US" dirty="0"/>
              <a:t>、</a:t>
            </a:r>
            <a:r>
              <a:rPr lang="en-US" altLang="zh-CN" dirty="0"/>
              <a:t>C/C++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中使用，利用</a:t>
            </a:r>
            <a:r>
              <a:rPr lang="zh-CN" altLang="en-US" dirty="0">
                <a:solidFill>
                  <a:srgbClr val="0000FF"/>
                </a:solidFill>
              </a:rPr>
              <a:t>高级语言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过程性结构</a:t>
            </a:r>
            <a:r>
              <a:rPr lang="zh-CN" altLang="en-US" dirty="0">
                <a:solidFill>
                  <a:srgbClr val="C00000"/>
                </a:solidFill>
              </a:rPr>
              <a:t>来弥补</a:t>
            </a:r>
            <a:r>
              <a:rPr lang="en-US" altLang="zh-CN" dirty="0">
                <a:solidFill>
                  <a:srgbClr val="0000FF"/>
                </a:solidFill>
              </a:rPr>
              <a:t>SQL</a:t>
            </a:r>
            <a:r>
              <a:rPr lang="zh-CN" altLang="en-US" dirty="0">
                <a:solidFill>
                  <a:srgbClr val="0000FF"/>
                </a:solidFill>
              </a:rPr>
              <a:t>语言在实现复杂应用方面的不足</a:t>
            </a:r>
            <a:r>
              <a:rPr lang="zh-CN" altLang="en-US" dirty="0"/>
              <a:t>，这种方式下使用的</a:t>
            </a:r>
            <a:r>
              <a:rPr lang="en-US" altLang="zh-CN" dirty="0"/>
              <a:t>SQL</a:t>
            </a:r>
            <a:r>
              <a:rPr lang="zh-CN" altLang="en-US" dirty="0"/>
              <a:t>语言称为</a:t>
            </a:r>
            <a:r>
              <a:rPr lang="zh-CN" altLang="en-US" dirty="0">
                <a:solidFill>
                  <a:srgbClr val="C00000"/>
                </a:solidFill>
              </a:rPr>
              <a:t>嵌入式</a:t>
            </a:r>
            <a:r>
              <a:rPr lang="en-US" altLang="zh-CN" dirty="0">
                <a:solidFill>
                  <a:srgbClr val="C00000"/>
                </a:solidFill>
              </a:rPr>
              <a:t>SQL</a:t>
            </a:r>
            <a:r>
              <a:rPr lang="zh-CN" altLang="en-US" dirty="0"/>
              <a:t>（</a:t>
            </a:r>
            <a:r>
              <a:rPr lang="en-US" altLang="zh-CN" dirty="0"/>
              <a:t>Embedded SQL</a:t>
            </a:r>
            <a:r>
              <a:rPr lang="zh-CN" altLang="en-US" dirty="0"/>
              <a:t>），而嵌入</a:t>
            </a:r>
            <a:r>
              <a:rPr lang="en-US" altLang="zh-CN" dirty="0"/>
              <a:t>SQL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高级语言</a:t>
            </a:r>
            <a:r>
              <a:rPr lang="zh-CN" altLang="en-US" dirty="0"/>
              <a:t>称</a:t>
            </a:r>
            <a:r>
              <a:rPr lang="zh-CN" altLang="en-US" dirty="0">
                <a:solidFill>
                  <a:srgbClr val="C00000"/>
                </a:solidFill>
              </a:rPr>
              <a:t>为</a:t>
            </a:r>
            <a:r>
              <a:rPr lang="zh-CN" altLang="en-US" dirty="0">
                <a:solidFill>
                  <a:srgbClr val="0000FF"/>
                </a:solidFill>
              </a:rPr>
              <a:t>主语言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宿主语言</a:t>
            </a:r>
            <a:r>
              <a:rPr lang="zh-CN" altLang="en-US" dirty="0"/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A5736DF-84BD-4A83-AE7B-BCE53195179A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873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87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使用高级程序语言访问</a:t>
            </a:r>
            <a:r>
              <a:rPr lang="en-US" altLang="zh-CN" dirty="0"/>
              <a:t>SQL</a:t>
            </a:r>
            <a:endParaRPr lang="zh-CN" altLang="en-US" dirty="0"/>
          </a:p>
        </p:txBody>
      </p:sp>
      <p:sp>
        <p:nvSpPr>
          <p:cNvPr id="1873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1656" y="1411287"/>
            <a:ext cx="8345488" cy="4684713"/>
          </a:xfrm>
        </p:spPr>
        <p:txBody>
          <a:bodyPr/>
          <a:lstStyle/>
          <a:p>
            <a:pPr marL="0" indent="0" eaLnBrk="1" hangingPunct="1">
              <a:buFontTx/>
              <a:buAutoNum type="arabicPeriod"/>
            </a:pPr>
            <a:r>
              <a:rPr lang="zh-CN" altLang="en-US" dirty="0"/>
              <a:t>语句级接口 如</a:t>
            </a:r>
            <a:r>
              <a:rPr lang="en-US" altLang="zh-CN" dirty="0"/>
              <a:t>PB Script</a:t>
            </a:r>
            <a:r>
              <a:rPr lang="zh-CN" altLang="en-US" dirty="0"/>
              <a:t>。</a:t>
            </a:r>
          </a:p>
          <a:p>
            <a:pPr marL="0" indent="0" eaLnBrk="1" hangingPunct="1">
              <a:buFontTx/>
              <a:buAutoNum type="arabicPeriod"/>
            </a:pPr>
            <a:r>
              <a:rPr lang="zh-CN" altLang="en-US" dirty="0"/>
              <a:t>调用层接口</a:t>
            </a:r>
            <a:r>
              <a:rPr lang="en-US" altLang="zh-CN" dirty="0"/>
              <a:t>(Call Level Interface, CLI)</a:t>
            </a:r>
            <a:r>
              <a:rPr lang="zh-CN" altLang="en-US" dirty="0"/>
              <a:t> 如</a:t>
            </a:r>
            <a:r>
              <a:rPr lang="en-US" altLang="zh-CN" dirty="0">
                <a:solidFill>
                  <a:srgbClr val="0000FF"/>
                </a:solidFill>
              </a:rPr>
              <a:t>JDBC</a:t>
            </a:r>
            <a:r>
              <a:rPr lang="en-US" altLang="zh-CN" dirty="0"/>
              <a:t>/</a:t>
            </a:r>
            <a:r>
              <a:rPr lang="en-US" altLang="zh-CN" dirty="0">
                <a:solidFill>
                  <a:srgbClr val="0000FF"/>
                </a:solidFill>
              </a:rPr>
              <a:t>ODBC</a:t>
            </a:r>
            <a:r>
              <a:rPr lang="en-US" altLang="zh-CN" dirty="0"/>
              <a:t>(Microsoft)</a:t>
            </a:r>
            <a:r>
              <a:rPr lang="zh-CN" altLang="en-US" dirty="0"/>
              <a:t>。</a:t>
            </a:r>
          </a:p>
          <a:p>
            <a:pPr marL="0" indent="0" eaLnBrk="1" hangingPunct="1">
              <a:buFontTx/>
              <a:buAutoNum type="arabicPeriod"/>
            </a:pPr>
            <a:endParaRPr lang="zh-CN" altLang="en-US" sz="800" dirty="0"/>
          </a:p>
          <a:p>
            <a:pPr marL="0" indent="0" eaLnBrk="1" hangingPunct="1">
              <a:buFontTx/>
              <a:buNone/>
            </a:pPr>
            <a:r>
              <a:rPr lang="zh-CN" altLang="en-US" dirty="0"/>
              <a:t>在有的嵌入式</a:t>
            </a:r>
            <a:r>
              <a:rPr lang="en-US" altLang="zh-CN" dirty="0"/>
              <a:t>SQL</a:t>
            </a:r>
            <a:r>
              <a:rPr lang="zh-CN" altLang="en-US" dirty="0"/>
              <a:t>中，为了能够</a:t>
            </a:r>
            <a:r>
              <a:rPr lang="zh-CN" altLang="en-US" dirty="0">
                <a:solidFill>
                  <a:srgbClr val="0000FF"/>
                </a:solidFill>
              </a:rPr>
              <a:t>区分</a:t>
            </a:r>
            <a:r>
              <a:rPr lang="en-US" altLang="zh-CN" dirty="0">
                <a:solidFill>
                  <a:srgbClr val="0000FF"/>
                </a:solidFill>
              </a:rPr>
              <a:t>SQL</a:t>
            </a:r>
            <a:r>
              <a:rPr lang="zh-CN" altLang="en-US" dirty="0">
                <a:solidFill>
                  <a:srgbClr val="0000FF"/>
                </a:solidFill>
              </a:rPr>
              <a:t>语句与主语言语句</a:t>
            </a:r>
            <a:r>
              <a:rPr lang="zh-CN" altLang="en-US" dirty="0"/>
              <a:t>，所有</a:t>
            </a:r>
            <a:r>
              <a:rPr lang="en-US" altLang="zh-CN" dirty="0"/>
              <a:t>SQL</a:t>
            </a:r>
            <a:r>
              <a:rPr lang="zh-CN" altLang="en-US" dirty="0"/>
              <a:t>语句都必须加</a:t>
            </a:r>
            <a:r>
              <a:rPr lang="zh-CN" altLang="en-US" b="1" dirty="0">
                <a:solidFill>
                  <a:srgbClr val="C00000"/>
                </a:solidFill>
              </a:rPr>
              <a:t>前缀</a:t>
            </a:r>
            <a:r>
              <a:rPr lang="en-US" altLang="zh-CN" dirty="0">
                <a:solidFill>
                  <a:srgbClr val="C00000"/>
                </a:solidFill>
              </a:rPr>
              <a:t>EXEC SQL </a:t>
            </a:r>
            <a:r>
              <a:rPr lang="en-US" altLang="zh-CN" dirty="0">
                <a:solidFill>
                  <a:srgbClr val="0000FF"/>
                </a:solidFill>
              </a:rPr>
              <a:t>&lt;SQL</a:t>
            </a:r>
            <a:r>
              <a:rPr lang="zh-CN" altLang="en-US" dirty="0">
                <a:solidFill>
                  <a:srgbClr val="0000FF"/>
                </a:solidFill>
              </a:rPr>
              <a:t>语句</a:t>
            </a:r>
            <a:r>
              <a:rPr lang="en-US" altLang="zh-CN" dirty="0">
                <a:solidFill>
                  <a:srgbClr val="0000FF"/>
                </a:solidFill>
              </a:rPr>
              <a:t>&gt;</a:t>
            </a:r>
          </a:p>
          <a:p>
            <a:pPr marL="0" indent="0" eaLnBrk="1" hangingPunct="1">
              <a:buFontTx/>
              <a:buNone/>
            </a:pPr>
            <a:r>
              <a:rPr lang="zh-CN" altLang="en-US" dirty="0"/>
              <a:t>如：</a:t>
            </a:r>
            <a:r>
              <a:rPr lang="en-US" altLang="zh-CN" dirty="0"/>
              <a:t>C</a:t>
            </a:r>
            <a:r>
              <a:rPr lang="zh-CN" altLang="en-US" dirty="0"/>
              <a:t>中嵌入可能形式</a:t>
            </a:r>
          </a:p>
          <a:p>
            <a:pPr marL="0" indent="0" eaLnBrk="1" hangingPunct="1">
              <a:buFontTx/>
              <a:buNone/>
            </a:pPr>
            <a:r>
              <a:rPr lang="en-US" altLang="zh-CN" dirty="0">
                <a:solidFill>
                  <a:srgbClr val="0000FF"/>
                </a:solidFill>
              </a:rPr>
              <a:t>EXEC SQL </a:t>
            </a:r>
            <a:r>
              <a:rPr lang="en-US" altLang="zh-CN" dirty="0">
                <a:solidFill>
                  <a:srgbClr val="000080"/>
                </a:solidFill>
              </a:rPr>
              <a:t>DROP TABLE Student</a:t>
            </a:r>
            <a:r>
              <a:rPr lang="en-US" altLang="zh-CN" dirty="0">
                <a:solidFill>
                  <a:srgbClr val="C00000"/>
                </a:solidFill>
              </a:rPr>
              <a:t>;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7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7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7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7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FBE2D28-18B8-4B42-8A95-37EB7BF91F31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884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88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嵌入式</a:t>
            </a:r>
            <a:r>
              <a:rPr lang="en-US" altLang="zh-CN" dirty="0"/>
              <a:t>SQL</a:t>
            </a:r>
            <a:r>
              <a:rPr lang="zh-CN" altLang="en-US" dirty="0"/>
              <a:t>与主语言间的通信</a:t>
            </a:r>
          </a:p>
        </p:txBody>
      </p:sp>
      <p:sp>
        <p:nvSpPr>
          <p:cNvPr id="1884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  <a:tabLst>
                <a:tab pos="85725" algn="l"/>
              </a:tabLst>
            </a:pPr>
            <a:r>
              <a:rPr lang="zh-CN" altLang="en-US" dirty="0">
                <a:solidFill>
                  <a:srgbClr val="000080"/>
                </a:solidFill>
              </a:rPr>
              <a:t>将</a:t>
            </a:r>
            <a:r>
              <a:rPr lang="en-US" altLang="zh-CN" dirty="0">
                <a:solidFill>
                  <a:srgbClr val="000080"/>
                </a:solidFill>
              </a:rPr>
              <a:t>SQL</a:t>
            </a:r>
            <a:r>
              <a:rPr lang="zh-CN" altLang="en-US" dirty="0"/>
              <a:t>嵌入到</a:t>
            </a:r>
            <a:r>
              <a:rPr lang="zh-CN" altLang="en-US" dirty="0">
                <a:solidFill>
                  <a:srgbClr val="000080"/>
                </a:solidFill>
              </a:rPr>
              <a:t>高级语言中</a:t>
            </a:r>
            <a:r>
              <a:rPr lang="zh-CN" altLang="en-US" dirty="0"/>
              <a:t>混合编程</a:t>
            </a:r>
            <a:r>
              <a:rPr lang="zh-CN" altLang="en-US" dirty="0">
                <a:solidFill>
                  <a:srgbClr val="000080"/>
                </a:solidFill>
              </a:rPr>
              <a:t>，</a:t>
            </a:r>
            <a:r>
              <a:rPr lang="en-US" altLang="zh-CN" dirty="0">
                <a:solidFill>
                  <a:srgbClr val="000080"/>
                </a:solidFill>
              </a:rPr>
              <a:t>SQL</a:t>
            </a:r>
            <a:r>
              <a:rPr lang="zh-CN" altLang="en-US" dirty="0">
                <a:solidFill>
                  <a:srgbClr val="000080"/>
                </a:solidFill>
              </a:rPr>
              <a:t>语句</a:t>
            </a:r>
            <a:r>
              <a:rPr lang="zh-CN" altLang="en-US" dirty="0"/>
              <a:t>负责</a:t>
            </a:r>
            <a:r>
              <a:rPr lang="zh-CN" altLang="en-US" dirty="0">
                <a:solidFill>
                  <a:srgbClr val="000080"/>
                </a:solidFill>
              </a:rPr>
              <a:t>操纵数据库，高级语言语句</a:t>
            </a:r>
            <a:r>
              <a:rPr lang="zh-CN" altLang="en-US" dirty="0"/>
              <a:t>负责</a:t>
            </a:r>
            <a:r>
              <a:rPr lang="zh-CN" altLang="en-US" dirty="0">
                <a:solidFill>
                  <a:srgbClr val="000080"/>
                </a:solidFill>
              </a:rPr>
              <a:t>控制程序流程。</a:t>
            </a:r>
          </a:p>
          <a:p>
            <a:pPr marL="609600" indent="-609600" eaLnBrk="1" hangingPunct="1">
              <a:buFont typeface="Wingdings" pitchFamily="2" charset="2"/>
              <a:buNone/>
              <a:tabLst>
                <a:tab pos="85725" algn="l"/>
              </a:tabLst>
            </a:pPr>
            <a:r>
              <a:rPr lang="zh-CN" altLang="en-US" dirty="0"/>
              <a:t>最重要的是</a:t>
            </a:r>
            <a:r>
              <a:rPr lang="zh-CN" altLang="en-US" dirty="0">
                <a:solidFill>
                  <a:srgbClr val="0000FF"/>
                </a:solidFill>
              </a:rPr>
              <a:t>两者</a:t>
            </a:r>
            <a:r>
              <a:rPr lang="zh-CN" altLang="en-US" dirty="0"/>
              <a:t>之间的</a:t>
            </a:r>
            <a:r>
              <a:rPr lang="zh-CN" altLang="en-US" b="1" dirty="0">
                <a:solidFill>
                  <a:srgbClr val="0000FF"/>
                </a:solidFill>
              </a:rPr>
              <a:t>通信</a:t>
            </a:r>
            <a:r>
              <a:rPr lang="zh-CN" altLang="en-US" dirty="0">
                <a:solidFill>
                  <a:srgbClr val="0000FF"/>
                </a:solidFill>
              </a:rPr>
              <a:t>问题</a:t>
            </a:r>
            <a:r>
              <a:rPr lang="zh-CN" altLang="en-US" dirty="0"/>
              <a:t>：</a:t>
            </a:r>
          </a:p>
          <a:p>
            <a:pPr marL="609600" indent="-609600" eaLnBrk="1" hangingPunct="1">
              <a:buFontTx/>
              <a:buAutoNum type="arabicPeriod"/>
              <a:tabLst>
                <a:tab pos="85725" algn="l"/>
              </a:tabLst>
            </a:pPr>
            <a:r>
              <a:rPr lang="zh-CN" altLang="en-US" dirty="0">
                <a:solidFill>
                  <a:srgbClr val="0000FF"/>
                </a:solidFill>
              </a:rPr>
              <a:t>向</a:t>
            </a:r>
            <a:r>
              <a:rPr lang="zh-CN" altLang="en-US" dirty="0"/>
              <a:t>主语言传递</a:t>
            </a:r>
            <a:r>
              <a:rPr lang="en-US" altLang="zh-CN" dirty="0"/>
              <a:t>SQL</a:t>
            </a:r>
            <a:r>
              <a:rPr lang="zh-CN" altLang="en-US" dirty="0"/>
              <a:t>语句的</a:t>
            </a:r>
            <a:r>
              <a:rPr lang="zh-CN" altLang="en-US" dirty="0">
                <a:solidFill>
                  <a:srgbClr val="0000FF"/>
                </a:solidFill>
              </a:rPr>
              <a:t>执行状态</a:t>
            </a:r>
            <a:r>
              <a:rPr lang="zh-CN" altLang="en-US" dirty="0"/>
              <a:t>；</a:t>
            </a:r>
          </a:p>
          <a:p>
            <a:pPr marL="609600" indent="-609600" eaLnBrk="1" hangingPunct="1">
              <a:buFontTx/>
              <a:buAutoNum type="arabicPeriod"/>
              <a:tabLst>
                <a:tab pos="85725" algn="l"/>
              </a:tabLst>
            </a:pPr>
            <a:r>
              <a:rPr lang="zh-CN" altLang="en-US" dirty="0"/>
              <a:t>主语言向</a:t>
            </a:r>
            <a:r>
              <a:rPr lang="en-US" altLang="zh-CN" dirty="0"/>
              <a:t>SQL</a:t>
            </a:r>
            <a:r>
              <a:rPr lang="zh-CN" altLang="en-US" dirty="0">
                <a:solidFill>
                  <a:srgbClr val="0000FF"/>
                </a:solidFill>
              </a:rPr>
              <a:t>提供参数</a:t>
            </a:r>
            <a:r>
              <a:rPr lang="en-US" altLang="zh-CN" dirty="0"/>
              <a:t>(</a:t>
            </a:r>
            <a:r>
              <a:rPr lang="zh-CN" altLang="en-US" dirty="0"/>
              <a:t>主变量实现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pPr marL="609600" indent="-609600" eaLnBrk="1" hangingPunct="1">
              <a:buFontTx/>
              <a:buAutoNum type="arabicPeriod"/>
              <a:tabLst>
                <a:tab pos="85725" algn="l"/>
              </a:tabLst>
            </a:pPr>
            <a:r>
              <a:rPr lang="en-US" altLang="zh-CN" dirty="0"/>
              <a:t>SQL</a:t>
            </a:r>
            <a:r>
              <a:rPr lang="zh-CN" altLang="en-US" dirty="0">
                <a:solidFill>
                  <a:srgbClr val="0000FF"/>
                </a:solidFill>
              </a:rPr>
              <a:t>查询结果</a:t>
            </a:r>
            <a:r>
              <a:rPr lang="zh-CN" altLang="en-US" dirty="0"/>
              <a:t>交还主语言处理。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35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8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8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8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8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84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84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FBE2D28-18B8-4B42-8A95-37EB7BF91F31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884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88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000" dirty="0"/>
              <a:t>5.1 </a:t>
            </a:r>
            <a:r>
              <a:rPr lang="zh-CN" altLang="en-US" sz="3000" dirty="0"/>
              <a:t>嵌入式</a:t>
            </a:r>
            <a:r>
              <a:rPr lang="en-US" altLang="zh-CN" sz="3000" dirty="0"/>
              <a:t>SQL</a:t>
            </a:r>
            <a:r>
              <a:rPr lang="zh-CN" altLang="en-US" sz="3000" dirty="0"/>
              <a:t>与主语言间的通信</a:t>
            </a:r>
            <a:r>
              <a:rPr lang="en-US" altLang="zh-CN" sz="3000" dirty="0"/>
              <a:t>(</a:t>
            </a:r>
            <a:r>
              <a:rPr lang="zh-CN" altLang="en-US" sz="3000" dirty="0"/>
              <a:t>以</a:t>
            </a:r>
            <a:r>
              <a:rPr lang="en-US" altLang="zh-CN" sz="3000" dirty="0"/>
              <a:t>JDBC</a:t>
            </a:r>
            <a:r>
              <a:rPr lang="zh-CN" altLang="en-US" sz="3000" dirty="0"/>
              <a:t>为例</a:t>
            </a:r>
            <a:r>
              <a:rPr lang="en-US" altLang="zh-CN" sz="3000" dirty="0"/>
              <a:t>)</a:t>
            </a:r>
            <a:endParaRPr lang="zh-CN" altLang="en-US" sz="30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</a:t>
            </a:fld>
            <a:r>
              <a:rPr lang="en-US" altLang="zh-CN"/>
              <a:t>/225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96C8EFA-63CC-43AA-A135-F74794432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/>
              <a:t>Connection </a:t>
            </a:r>
            <a:r>
              <a:rPr lang="en-US" altLang="zh-CN" sz="2400" dirty="0">
                <a:solidFill>
                  <a:srgbClr val="006600"/>
                </a:solidFill>
              </a:rPr>
              <a:t>con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DriverManager.</a:t>
            </a:r>
            <a:r>
              <a:rPr lang="en-US" altLang="zh-CN" sz="2400" dirty="0" err="1">
                <a:solidFill>
                  <a:srgbClr val="0000FF"/>
                </a:solidFill>
              </a:rPr>
              <a:t>getConnection</a:t>
            </a:r>
            <a:r>
              <a:rPr lang="en-US" altLang="zh-CN" sz="2400" dirty="0"/>
              <a:t>("</a:t>
            </a:r>
            <a:r>
              <a:rPr lang="en-US" altLang="zh-CN" sz="2400" dirty="0" err="1">
                <a:solidFill>
                  <a:srgbClr val="FF0000"/>
                </a:solidFill>
              </a:rPr>
              <a:t>jdbc</a:t>
            </a:r>
            <a:r>
              <a:rPr lang="en-US" altLang="zh-CN" sz="2400" dirty="0" err="1"/>
              <a:t>:odbc:wombat</a:t>
            </a:r>
            <a:r>
              <a:rPr lang="en-US" altLang="zh-CN" sz="2400" dirty="0"/>
              <a:t>","login",</a:t>
            </a:r>
          </a:p>
          <a:p>
            <a:pPr marL="0" indent="0">
              <a:buNone/>
            </a:pPr>
            <a:r>
              <a:rPr lang="en-US" altLang="zh-CN" sz="2400" dirty="0"/>
              <a:t>“password”);//</a:t>
            </a:r>
            <a:r>
              <a:rPr lang="zh-CN" altLang="en-US" sz="2400" dirty="0"/>
              <a:t>打开与数据库的链接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Statement </a:t>
            </a:r>
            <a:r>
              <a:rPr lang="en-US" altLang="zh-CN" sz="2400" dirty="0" err="1"/>
              <a:t>stmt</a:t>
            </a:r>
            <a:r>
              <a:rPr lang="en-US" altLang="zh-CN" sz="2400" dirty="0"/>
              <a:t> = </a:t>
            </a:r>
            <a:r>
              <a:rPr lang="en-US" altLang="zh-CN" sz="2400" dirty="0" err="1">
                <a:solidFill>
                  <a:srgbClr val="006600"/>
                </a:solidFill>
              </a:rPr>
              <a:t>con</a:t>
            </a:r>
            <a:r>
              <a:rPr lang="en-US" altLang="zh-CN" sz="2400" dirty="0" err="1"/>
              <a:t>.createStatement</a:t>
            </a:r>
            <a:r>
              <a:rPr lang="en-US" altLang="zh-CN" sz="2400" dirty="0"/>
              <a:t>();</a:t>
            </a:r>
          </a:p>
          <a:p>
            <a:pPr marL="0" indent="0">
              <a:buNone/>
            </a:pPr>
            <a:r>
              <a:rPr lang="en-US" altLang="zh-CN" sz="2400" dirty="0" err="1"/>
              <a:t>ResultSet</a:t>
            </a: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rs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stmt.</a:t>
            </a:r>
            <a:r>
              <a:rPr lang="en-US" altLang="zh-CN" sz="2400" dirty="0" err="1">
                <a:solidFill>
                  <a:srgbClr val="0000FF"/>
                </a:solidFill>
              </a:rPr>
              <a:t>executeQuery</a:t>
            </a:r>
            <a:r>
              <a:rPr lang="en-US" altLang="zh-CN" sz="2400" dirty="0"/>
              <a:t>(“SELECT a, b, c FROM Table1”); //</a:t>
            </a:r>
            <a:r>
              <a:rPr lang="zh-CN" altLang="en-US" sz="2400" dirty="0"/>
              <a:t>向数据库传递</a:t>
            </a:r>
            <a:r>
              <a:rPr lang="en-US" altLang="zh-CN" sz="2400" dirty="0"/>
              <a:t>SQL</a:t>
            </a:r>
            <a:r>
              <a:rPr lang="zh-CN" altLang="en-US" sz="2400" dirty="0"/>
              <a:t>语句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while (</a:t>
            </a:r>
            <a:r>
              <a:rPr lang="en-US" altLang="zh-CN" sz="2400" dirty="0" err="1">
                <a:solidFill>
                  <a:srgbClr val="FF0000"/>
                </a:solidFill>
              </a:rPr>
              <a:t>rs</a:t>
            </a:r>
            <a:r>
              <a:rPr lang="en-US" altLang="zh-CN" sz="2400" dirty="0" err="1"/>
              <a:t>.next</a:t>
            </a:r>
            <a:r>
              <a:rPr lang="en-US" altLang="zh-CN" sz="2400" dirty="0"/>
              <a:t>()) {</a:t>
            </a:r>
          </a:p>
          <a:p>
            <a:pPr marL="0" indent="0">
              <a:buNone/>
            </a:pPr>
            <a:r>
              <a:rPr lang="en-US" altLang="zh-CN" sz="2400" dirty="0"/>
              <a:t>     int x = </a:t>
            </a:r>
            <a:r>
              <a:rPr lang="en-US" altLang="zh-CN" sz="2400" dirty="0" err="1"/>
              <a:t>rs.getInt</a:t>
            </a:r>
            <a:r>
              <a:rPr lang="en-US" altLang="zh-CN" sz="2400" dirty="0"/>
              <a:t>("a");</a:t>
            </a:r>
          </a:p>
          <a:p>
            <a:pPr marL="0" indent="0">
              <a:buNone/>
            </a:pPr>
            <a:r>
              <a:rPr lang="en-US" altLang="zh-CN" sz="2400" dirty="0"/>
              <a:t>     String s = </a:t>
            </a:r>
            <a:r>
              <a:rPr lang="en-US" altLang="zh-CN" sz="2400" dirty="0" err="1"/>
              <a:t>rs.getString</a:t>
            </a:r>
            <a:r>
              <a:rPr lang="en-US" altLang="zh-CN" sz="2400" dirty="0"/>
              <a:t>("b");</a:t>
            </a:r>
          </a:p>
          <a:p>
            <a:pPr marL="0" indent="0">
              <a:buNone/>
            </a:pPr>
            <a:r>
              <a:rPr lang="en-US" altLang="zh-CN" sz="2400" dirty="0"/>
              <a:t>     float f = </a:t>
            </a:r>
            <a:r>
              <a:rPr lang="en-US" altLang="zh-CN" sz="2400" dirty="0" err="1"/>
              <a:t>rs.getFloat</a:t>
            </a:r>
            <a:r>
              <a:rPr lang="en-US" altLang="zh-CN" sz="2400" dirty="0"/>
              <a:t>("c");</a:t>
            </a:r>
          </a:p>
          <a:p>
            <a:pPr marL="0" indent="0">
              <a:buNone/>
            </a:pPr>
            <a:r>
              <a:rPr lang="en-US" altLang="zh-CN" sz="2400" dirty="0"/>
              <a:t>} //</a:t>
            </a:r>
            <a:r>
              <a:rPr lang="zh-CN" altLang="en-US" sz="2400" dirty="0"/>
              <a:t>获得查询结果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C23EF50-53F0-47EF-BF4D-ABA22CC7434A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894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89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嵌入式</a:t>
            </a:r>
            <a:r>
              <a:rPr lang="en-US" altLang="zh-CN" dirty="0"/>
              <a:t>SQL</a:t>
            </a:r>
            <a:r>
              <a:rPr lang="zh-CN" altLang="en-US" dirty="0"/>
              <a:t>与主语言间的通信</a:t>
            </a:r>
          </a:p>
        </p:txBody>
      </p:sp>
      <p:sp>
        <p:nvSpPr>
          <p:cNvPr id="1894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一、</a:t>
            </a:r>
            <a:r>
              <a:rPr lang="en-US" altLang="zh-CN" dirty="0"/>
              <a:t>SQL</a:t>
            </a:r>
            <a:r>
              <a:rPr lang="zh-CN" altLang="en-US" dirty="0"/>
              <a:t>通信区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80"/>
                </a:solidFill>
              </a:rPr>
              <a:t>SQL</a:t>
            </a:r>
            <a:r>
              <a:rPr lang="zh-CN" altLang="en-US" dirty="0">
                <a:solidFill>
                  <a:srgbClr val="000080"/>
                </a:solidFill>
              </a:rPr>
              <a:t>语句执行后，</a:t>
            </a:r>
            <a:r>
              <a:rPr lang="zh-CN" altLang="en-US" dirty="0"/>
              <a:t>系统要</a:t>
            </a:r>
            <a:r>
              <a:rPr lang="zh-CN" altLang="en-US" dirty="0">
                <a:solidFill>
                  <a:srgbClr val="0000FF"/>
                </a:solidFill>
              </a:rPr>
              <a:t>反馈给应用程序</a:t>
            </a:r>
            <a:r>
              <a:rPr lang="zh-CN" altLang="en-US" dirty="0"/>
              <a:t>若干信息，</a:t>
            </a:r>
            <a:r>
              <a:rPr lang="zh-CN" altLang="en-US" b="1" dirty="0">
                <a:solidFill>
                  <a:srgbClr val="000080"/>
                </a:solidFill>
              </a:rPr>
              <a:t>主要包括</a:t>
            </a:r>
            <a:r>
              <a:rPr lang="zh-CN" altLang="en-US" dirty="0"/>
              <a:t>描述系统当前工作状态和运行环境的各种数据</a:t>
            </a:r>
            <a:r>
              <a:rPr lang="zh-CN" altLang="en-US" dirty="0">
                <a:solidFill>
                  <a:srgbClr val="000080"/>
                </a:solidFill>
              </a:rPr>
              <a:t>，这些信息将</a:t>
            </a:r>
            <a:r>
              <a:rPr lang="zh-CN" altLang="en-US" dirty="0"/>
              <a:t>送到</a:t>
            </a:r>
            <a:r>
              <a:rPr lang="en-US" altLang="zh-CN" dirty="0">
                <a:solidFill>
                  <a:srgbClr val="000080"/>
                </a:solidFill>
              </a:rPr>
              <a:t>SQL</a:t>
            </a:r>
            <a:r>
              <a:rPr lang="zh-CN" altLang="en-US" dirty="0">
                <a:solidFill>
                  <a:srgbClr val="000080"/>
                </a:solidFill>
              </a:rPr>
              <a:t>通信区</a:t>
            </a:r>
            <a:r>
              <a:rPr lang="en-US" altLang="zh-CN" dirty="0">
                <a:solidFill>
                  <a:srgbClr val="C00000"/>
                </a:solidFill>
              </a:rPr>
              <a:t>SQLCA</a:t>
            </a:r>
            <a:r>
              <a:rPr lang="zh-CN" altLang="en-US" dirty="0"/>
              <a:t>中。</a:t>
            </a:r>
            <a:r>
              <a:rPr lang="zh-CN" altLang="en-US" dirty="0">
                <a:solidFill>
                  <a:srgbClr val="000080"/>
                </a:solidFill>
              </a:rPr>
              <a:t>应用程序</a:t>
            </a:r>
            <a:r>
              <a:rPr lang="zh-CN" altLang="en-US" dirty="0"/>
              <a:t>从</a:t>
            </a:r>
            <a:r>
              <a:rPr lang="en-US" altLang="zh-CN" dirty="0">
                <a:solidFill>
                  <a:srgbClr val="C00000"/>
                </a:solidFill>
              </a:rPr>
              <a:t>SQLCA</a:t>
            </a:r>
            <a:r>
              <a:rPr lang="zh-CN" altLang="en-US" dirty="0"/>
              <a:t>中取出这些状态信息</a:t>
            </a:r>
            <a:r>
              <a:rPr lang="zh-CN" altLang="en-US" dirty="0">
                <a:solidFill>
                  <a:srgbClr val="000080"/>
                </a:solidFill>
              </a:rPr>
              <a:t>，据此决定接下来执行的语句。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solidFill>
                <a:srgbClr val="00008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如下所示的</a:t>
            </a:r>
            <a:r>
              <a:rPr lang="en-US" altLang="zh-CN" dirty="0"/>
              <a:t>SQLCA</a:t>
            </a:r>
            <a:r>
              <a:rPr lang="zh-CN" altLang="en-US" dirty="0"/>
              <a:t>数据连接字</a:t>
            </a:r>
            <a:r>
              <a:rPr lang="zh-CN" altLang="en-US" dirty="0">
                <a:solidFill>
                  <a:srgbClr val="000080"/>
                </a:solidFill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AE44E2A-4247-4E18-8594-F7D4E01CB325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904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904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嵌入式</a:t>
            </a:r>
            <a:r>
              <a:rPr lang="en-US" altLang="zh-CN" dirty="0"/>
              <a:t>SQL</a:t>
            </a:r>
            <a:r>
              <a:rPr lang="zh-CN" altLang="en-US" dirty="0"/>
              <a:t>与主语言间的通信</a:t>
            </a:r>
          </a:p>
        </p:txBody>
      </p:sp>
      <p:sp>
        <p:nvSpPr>
          <p:cNvPr id="1904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SQLCA.DBMS = "MSS"</a:t>
            </a:r>
          </a:p>
          <a:p>
            <a:pPr eaLnBrk="1" hangingPunct="1"/>
            <a:endParaRPr lang="en-US" altLang="zh-CN" sz="9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err="1"/>
              <a:t>SQLCA.Database</a:t>
            </a:r>
            <a:r>
              <a:rPr lang="en-US" altLang="zh-CN" sz="2800" dirty="0"/>
              <a:t> = </a:t>
            </a:r>
            <a:r>
              <a:rPr lang="en-US" altLang="zh-CN" sz="2800" dirty="0">
                <a:latin typeface="Arial" charset="0"/>
              </a:rPr>
              <a:t>“</a:t>
            </a:r>
            <a:r>
              <a:rPr lang="en-US" altLang="zh-CN" sz="2800" dirty="0"/>
              <a:t>Student"</a:t>
            </a:r>
          </a:p>
          <a:p>
            <a:pPr eaLnBrk="1" hangingPunct="1"/>
            <a:endParaRPr lang="en-US" altLang="zh-CN" sz="9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err="1"/>
              <a:t>SQLCA.LogId</a:t>
            </a:r>
            <a:r>
              <a:rPr lang="en-US" altLang="zh-CN" sz="2800" dirty="0"/>
              <a:t> = "</a:t>
            </a:r>
            <a:r>
              <a:rPr lang="en-US" altLang="zh-CN" sz="2800" dirty="0" err="1"/>
              <a:t>sa</a:t>
            </a:r>
            <a:r>
              <a:rPr lang="en-US" altLang="zh-CN" sz="2800" dirty="0"/>
              <a:t>"</a:t>
            </a:r>
          </a:p>
          <a:p>
            <a:pPr eaLnBrk="1" hangingPunct="1"/>
            <a:endParaRPr lang="en-US" altLang="zh-CN" sz="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err="1"/>
              <a:t>SQLCA.LogPass</a:t>
            </a:r>
            <a:r>
              <a:rPr lang="en-US" altLang="zh-CN" sz="2800" dirty="0"/>
              <a:t> = ""</a:t>
            </a:r>
          </a:p>
          <a:p>
            <a:pPr eaLnBrk="1" hangingPunct="1"/>
            <a:endParaRPr lang="en-US" altLang="zh-CN" sz="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err="1"/>
              <a:t>SQLCA.ServerName</a:t>
            </a:r>
            <a:r>
              <a:rPr lang="en-US" altLang="zh-CN" sz="2800" dirty="0"/>
              <a:t> ="ZTQ\ZTQ_TEST"</a:t>
            </a:r>
          </a:p>
          <a:p>
            <a:pPr eaLnBrk="1" hangingPunct="1"/>
            <a:endParaRPr lang="en-US" altLang="zh-CN" sz="7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CONNECT USING SQLCA;</a:t>
            </a:r>
            <a:endParaRPr lang="zh-CN" alt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51222D6-8603-40C1-8968-50EA48AF51D2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914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91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嵌入式</a:t>
            </a:r>
            <a:r>
              <a:rPr lang="en-US" altLang="zh-CN" dirty="0"/>
              <a:t>SQL</a:t>
            </a:r>
            <a:r>
              <a:rPr lang="zh-CN" altLang="en-US" dirty="0"/>
              <a:t>与主语言间的通信</a:t>
            </a:r>
          </a:p>
        </p:txBody>
      </p:sp>
      <p:sp>
        <p:nvSpPr>
          <p:cNvPr id="1914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二、主变量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SQL</a:t>
            </a:r>
            <a:r>
              <a:rPr lang="zh-CN" altLang="en-US" sz="2800" dirty="0"/>
              <a:t>语句中可以使用</a:t>
            </a:r>
            <a:r>
              <a:rPr lang="zh-CN" altLang="en-US" sz="2800" b="1" dirty="0">
                <a:solidFill>
                  <a:srgbClr val="0000FF"/>
                </a:solidFill>
              </a:rPr>
              <a:t>主语言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变量（主变量）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输入主变量</a:t>
            </a:r>
            <a:r>
              <a:rPr lang="zh-CN" altLang="en-US" sz="2800" dirty="0"/>
              <a:t>：</a:t>
            </a:r>
            <a:r>
              <a:rPr lang="zh-CN" altLang="en-US" sz="2800" u="sng" dirty="0"/>
              <a:t>应用程序赋值，</a:t>
            </a:r>
            <a:r>
              <a:rPr lang="en-US" altLang="zh-CN" sz="2800" u="sng" dirty="0"/>
              <a:t>SQL</a:t>
            </a:r>
            <a:r>
              <a:rPr lang="zh-CN" altLang="en-US" sz="2800" u="sng" dirty="0"/>
              <a:t>使用</a:t>
            </a:r>
            <a:r>
              <a:rPr lang="zh-CN" altLang="en-US" sz="2800" dirty="0"/>
              <a:t>。实际上</a:t>
            </a:r>
            <a:r>
              <a:rPr lang="en-US" altLang="zh-CN" sz="2800" dirty="0"/>
              <a:t>SQL</a:t>
            </a:r>
            <a:r>
              <a:rPr lang="zh-CN" altLang="en-US" sz="2800" dirty="0"/>
              <a:t>把它当常量处理。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输出主变量</a:t>
            </a:r>
            <a:r>
              <a:rPr lang="zh-CN" altLang="en-US" sz="2800" dirty="0"/>
              <a:t>：由</a:t>
            </a:r>
            <a:r>
              <a:rPr lang="en-US" altLang="zh-CN" sz="2800" dirty="0"/>
              <a:t>SQL</a:t>
            </a:r>
            <a:r>
              <a:rPr lang="zh-CN" altLang="en-US" sz="2800" dirty="0"/>
              <a:t>语句对其赋值或设置状态信息，      </a:t>
            </a:r>
            <a:r>
              <a:rPr lang="zh-CN" altLang="en-US" sz="2800" u="sng" dirty="0"/>
              <a:t>返回应用程序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指示变量</a:t>
            </a:r>
            <a:r>
              <a:rPr lang="zh-CN" altLang="en-US" sz="2800" dirty="0"/>
              <a:t>：附加在主变量上，指示所指主变量的值</a:t>
            </a:r>
            <a:r>
              <a:rPr lang="en-US" altLang="zh-CN" sz="2800" dirty="0"/>
              <a:t>(</a:t>
            </a:r>
            <a:r>
              <a:rPr lang="zh-CN" altLang="en-US" sz="2800" dirty="0"/>
              <a:t>空值</a:t>
            </a:r>
            <a:r>
              <a:rPr lang="en-US" altLang="zh-CN" sz="2800" dirty="0"/>
              <a:t>)</a:t>
            </a:r>
            <a:r>
              <a:rPr lang="zh-CN" altLang="en-US" sz="2800" dirty="0"/>
              <a:t>或条件。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/>
              <a:t>SQL</a:t>
            </a:r>
            <a:r>
              <a:rPr lang="zh-CN" altLang="en-US" sz="2800" dirty="0"/>
              <a:t>语句中</a:t>
            </a:r>
            <a:r>
              <a:rPr lang="zh-CN" altLang="en-US" sz="2800" dirty="0">
                <a:solidFill>
                  <a:srgbClr val="C00000"/>
                </a:solidFill>
              </a:rPr>
              <a:t>主变量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C00000"/>
                </a:solidFill>
              </a:rPr>
              <a:t>指示变量前加冒号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4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4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1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1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14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14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14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14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F87A65-D2A5-42BA-851C-4E980985CDE5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925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92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嵌入式</a:t>
            </a:r>
            <a:r>
              <a:rPr lang="en-US" altLang="zh-CN" dirty="0"/>
              <a:t>SQL</a:t>
            </a:r>
            <a:r>
              <a:rPr lang="zh-CN" altLang="en-US" dirty="0"/>
              <a:t>与主语言间的通信</a:t>
            </a:r>
          </a:p>
        </p:txBody>
      </p:sp>
      <p:sp>
        <p:nvSpPr>
          <p:cNvPr id="1925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zh-CN" altLang="en-US" dirty="0"/>
              <a:t>三、游标，为</a:t>
            </a:r>
            <a:r>
              <a:rPr lang="zh-CN" altLang="en-US" dirty="0">
                <a:solidFill>
                  <a:srgbClr val="0000FF"/>
                </a:solidFill>
              </a:rPr>
              <a:t>处理集合结果</a:t>
            </a:r>
            <a:r>
              <a:rPr lang="zh-CN" altLang="en-US" dirty="0"/>
              <a:t>而引入。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SQL</a:t>
            </a:r>
            <a:r>
              <a:rPr lang="zh-CN" altLang="en-US" dirty="0"/>
              <a:t>：面向集合；主语言：面向记录。</a:t>
            </a:r>
          </a:p>
          <a:p>
            <a:pPr eaLnBrk="1" hangingPunct="1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游标</a:t>
            </a:r>
            <a:r>
              <a:rPr lang="zh-CN" altLang="en-US" sz="2400" dirty="0"/>
              <a:t>是系统为用户开设的一个</a:t>
            </a:r>
            <a:r>
              <a:rPr lang="zh-CN" altLang="en-US" sz="2400" dirty="0">
                <a:solidFill>
                  <a:srgbClr val="0000FF"/>
                </a:solidFill>
              </a:rPr>
              <a:t>数据缓冲区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存放</a:t>
            </a:r>
            <a:r>
              <a:rPr lang="en-US" altLang="zh-CN" sz="2400" dirty="0"/>
              <a:t>SQL</a:t>
            </a:r>
            <a:r>
              <a:rPr lang="zh-CN" altLang="en-US" sz="2400" dirty="0"/>
              <a:t>语句的</a:t>
            </a:r>
            <a:r>
              <a:rPr lang="zh-CN" altLang="en-US" sz="2400" dirty="0">
                <a:solidFill>
                  <a:srgbClr val="0000FF"/>
                </a:solidFill>
              </a:rPr>
              <a:t>执行结果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>
              <a:buNone/>
            </a:pPr>
            <a:r>
              <a:rPr lang="zh-CN" altLang="en-US" sz="2400" dirty="0"/>
              <a:t>每个游标区都有一个名字。</a:t>
            </a:r>
            <a:endParaRPr lang="en-US" altLang="zh-CN" sz="2400" dirty="0"/>
          </a:p>
          <a:p>
            <a:pPr eaLnBrk="1" hangingPunct="1">
              <a:buNone/>
            </a:pPr>
            <a:r>
              <a:rPr lang="zh-CN" altLang="en-US" sz="2400" dirty="0"/>
              <a:t>用户可以用</a:t>
            </a:r>
            <a:r>
              <a:rPr lang="en-US" altLang="zh-CN" sz="2400" dirty="0"/>
              <a:t>SQL</a:t>
            </a:r>
            <a:r>
              <a:rPr lang="zh-CN" altLang="en-US" sz="2400" dirty="0"/>
              <a:t>语句逐一从游标中获取记录，并赋给主变量，交由主语言进一步处理。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四、程序实例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注意：定义游标后的</a:t>
            </a:r>
            <a:r>
              <a:rPr lang="en-US" altLang="zh-CN" sz="2800" dirty="0"/>
              <a:t>Select </a:t>
            </a:r>
            <a:r>
              <a:rPr lang="zh-CN" altLang="en-US" sz="2800" dirty="0"/>
              <a:t>目标列是</a:t>
            </a:r>
            <a:r>
              <a:rPr lang="zh-CN" altLang="en-US" sz="2800" dirty="0">
                <a:solidFill>
                  <a:srgbClr val="0000FF"/>
                </a:solidFill>
              </a:rPr>
              <a:t>表属性名</a:t>
            </a:r>
            <a:r>
              <a:rPr lang="zh-CN" altLang="en-US" sz="2800" dirty="0"/>
              <a:t>，不是主变量。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2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2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2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2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25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25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25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25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16A0B9A-B18B-4938-9AC1-60DA84DBBF71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945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945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使用游标的</a:t>
            </a:r>
            <a:r>
              <a:rPr lang="en-US" altLang="zh-CN" dirty="0"/>
              <a:t>SQL</a:t>
            </a:r>
            <a:r>
              <a:rPr lang="zh-CN" altLang="en-US" dirty="0"/>
              <a:t>语句</a:t>
            </a:r>
          </a:p>
        </p:txBody>
      </p:sp>
      <p:sp>
        <p:nvSpPr>
          <p:cNvPr id="1945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一、查询结果为</a:t>
            </a:r>
            <a:r>
              <a:rPr lang="zh-CN" altLang="en-US" sz="2800" dirty="0">
                <a:solidFill>
                  <a:srgbClr val="C00000"/>
                </a:solidFill>
              </a:rPr>
              <a:t>多条记录</a:t>
            </a:r>
            <a:r>
              <a:rPr lang="zh-CN" altLang="en-US" sz="2800" dirty="0"/>
              <a:t>的</a:t>
            </a:r>
            <a:r>
              <a:rPr lang="en-US" altLang="zh-CN" sz="2800" dirty="0"/>
              <a:t>SELECT</a:t>
            </a:r>
            <a:r>
              <a:rPr lang="zh-CN" altLang="en-US" sz="2800" dirty="0"/>
              <a:t>语句。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要查询</a:t>
            </a:r>
            <a:r>
              <a:rPr lang="en-US" altLang="zh-CN" sz="2800" dirty="0" err="1"/>
              <a:t>deptname</a:t>
            </a:r>
            <a:r>
              <a:rPr lang="zh-CN" altLang="en-US" sz="2800" dirty="0"/>
              <a:t>系的所有学生的</a:t>
            </a:r>
            <a:r>
              <a:rPr lang="zh-CN" altLang="en-US" sz="2800" dirty="0">
                <a:solidFill>
                  <a:srgbClr val="000080"/>
                </a:solidFill>
              </a:rPr>
              <a:t>学号、姓名、性别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000080"/>
                </a:solidFill>
              </a:rPr>
              <a:t>年龄。</a:t>
            </a:r>
            <a:endParaRPr lang="en-US" altLang="zh-CN" sz="2800" dirty="0">
              <a:solidFill>
                <a:srgbClr val="00008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首先定义游标</a:t>
            </a:r>
            <a:r>
              <a:rPr lang="en-US" altLang="zh-CN" sz="2800" dirty="0">
                <a:solidFill>
                  <a:srgbClr val="C00000"/>
                </a:solidFill>
              </a:rPr>
              <a:t>SX</a:t>
            </a:r>
            <a:r>
              <a:rPr lang="zh-CN" altLang="en-US" sz="2800" dirty="0">
                <a:solidFill>
                  <a:srgbClr val="000080"/>
                </a:solidFill>
              </a:rPr>
              <a:t>，</a:t>
            </a:r>
            <a:r>
              <a:rPr lang="zh-CN" altLang="en-US" sz="2800" dirty="0"/>
              <a:t>将其与查询结果集（即</a:t>
            </a:r>
            <a:r>
              <a:rPr lang="en-US" altLang="zh-CN" sz="2800" dirty="0" err="1"/>
              <a:t>deptname</a:t>
            </a:r>
            <a:r>
              <a:rPr lang="zh-CN" altLang="en-US" sz="2800" dirty="0"/>
              <a:t>系的所有学生的学号、姓名、性别和年龄）相联系（步骤①）</a:t>
            </a:r>
            <a:r>
              <a:rPr lang="zh-CN" altLang="en-US" sz="2800" dirty="0">
                <a:solidFill>
                  <a:srgbClr val="000080"/>
                </a:solidFill>
              </a:rPr>
              <a:t>。</a:t>
            </a:r>
            <a:r>
              <a:rPr lang="zh-CN" altLang="en-US" sz="2800" dirty="0">
                <a:solidFill>
                  <a:srgbClr val="0000FF"/>
                </a:solidFill>
              </a:rPr>
              <a:t>这时相应的</a:t>
            </a:r>
            <a:r>
              <a:rPr lang="en-US" altLang="zh-CN" sz="2800" dirty="0">
                <a:solidFill>
                  <a:srgbClr val="0000FF"/>
                </a:solidFill>
              </a:rPr>
              <a:t>SELECT</a:t>
            </a:r>
            <a:r>
              <a:rPr lang="zh-CN" altLang="en-US" sz="2800" dirty="0">
                <a:solidFill>
                  <a:srgbClr val="0000FF"/>
                </a:solidFill>
              </a:rPr>
              <a:t>语句并没有真正执行</a:t>
            </a:r>
            <a:r>
              <a:rPr lang="zh-CN" altLang="en-US" sz="2800" dirty="0">
                <a:solidFill>
                  <a:srgbClr val="000080"/>
                </a:solidFill>
              </a:rPr>
              <a:t>。</a:t>
            </a:r>
            <a:endParaRPr lang="en-US" altLang="zh-CN" sz="2800" dirty="0">
              <a:solidFill>
                <a:srgbClr val="00008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然后打开游标</a:t>
            </a:r>
            <a:r>
              <a:rPr lang="en-US" altLang="zh-CN" sz="2800" dirty="0">
                <a:solidFill>
                  <a:srgbClr val="C00000"/>
                </a:solidFill>
              </a:rPr>
              <a:t>SX</a:t>
            </a:r>
            <a:r>
              <a:rPr lang="zh-CN" altLang="en-US" sz="2800" dirty="0">
                <a:solidFill>
                  <a:srgbClr val="000080"/>
                </a:solidFill>
              </a:rPr>
              <a:t>，这时</a:t>
            </a:r>
            <a:r>
              <a:rPr lang="en-US" altLang="zh-CN" sz="2800" dirty="0">
                <a:solidFill>
                  <a:srgbClr val="000080"/>
                </a:solidFill>
              </a:rPr>
              <a:t>DBMS</a:t>
            </a:r>
            <a:r>
              <a:rPr lang="zh-CN" altLang="en-US" sz="2800" dirty="0">
                <a:solidFill>
                  <a:srgbClr val="000080"/>
                </a:solidFill>
              </a:rPr>
              <a:t>执行与</a:t>
            </a:r>
            <a:r>
              <a:rPr lang="en-US" altLang="zh-CN" sz="2800" dirty="0">
                <a:solidFill>
                  <a:srgbClr val="000080"/>
                </a:solidFill>
              </a:rPr>
              <a:t>SX</a:t>
            </a:r>
            <a:r>
              <a:rPr lang="zh-CN" altLang="en-US" sz="2800" dirty="0">
                <a:solidFill>
                  <a:srgbClr val="000080"/>
                </a:solidFill>
              </a:rPr>
              <a:t>与相联系的</a:t>
            </a:r>
            <a:r>
              <a:rPr lang="en-US" altLang="zh-CN" sz="2800" dirty="0">
                <a:solidFill>
                  <a:srgbClr val="000080"/>
                </a:solidFill>
              </a:rPr>
              <a:t>SELECT</a:t>
            </a:r>
            <a:r>
              <a:rPr lang="zh-CN" altLang="en-US" sz="2800" dirty="0">
                <a:solidFill>
                  <a:srgbClr val="000080"/>
                </a:solidFill>
              </a:rPr>
              <a:t>语句，</a:t>
            </a:r>
            <a:r>
              <a:rPr lang="zh-CN" altLang="en-US" sz="2800" dirty="0"/>
              <a:t>即查询</a:t>
            </a:r>
            <a:r>
              <a:rPr lang="en-US" altLang="zh-CN" sz="2800" dirty="0" err="1"/>
              <a:t>deptname</a:t>
            </a:r>
            <a:r>
              <a:rPr lang="zh-CN" altLang="en-US" sz="2800" dirty="0"/>
              <a:t>系的所有学生的学号、姓名、性别和年龄（步骤②），</a:t>
            </a:r>
            <a:r>
              <a:rPr lang="zh-CN" altLang="en-US" sz="2800" dirty="0">
                <a:solidFill>
                  <a:srgbClr val="000080"/>
                </a:solidFill>
              </a:rPr>
              <a:t>之后</a:t>
            </a:r>
            <a:r>
              <a:rPr lang="en-US" altLang="zh-CN" sz="2800" dirty="0">
                <a:solidFill>
                  <a:srgbClr val="000080"/>
                </a:solidFill>
              </a:rPr>
              <a:t>SX</a:t>
            </a:r>
            <a:r>
              <a:rPr lang="zh-CN" altLang="en-US" sz="2800" dirty="0">
                <a:solidFill>
                  <a:srgbClr val="000080"/>
                </a:solidFill>
              </a:rPr>
              <a:t>处于活动状态。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F2C1AAD-6748-4D35-852D-0CE05F28239A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955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955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使用游标的</a:t>
            </a:r>
            <a:r>
              <a:rPr lang="en-US" altLang="zh-CN" dirty="0"/>
              <a:t>SQL</a:t>
            </a:r>
            <a:r>
              <a:rPr lang="zh-CN" altLang="en-US" dirty="0"/>
              <a:t>语句</a:t>
            </a:r>
          </a:p>
        </p:txBody>
      </p:sp>
      <p:sp>
        <p:nvSpPr>
          <p:cNvPr id="1955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接下来在一个</a:t>
            </a:r>
            <a:r>
              <a:rPr lang="zh-CN" altLang="en-US" sz="2800" dirty="0">
                <a:solidFill>
                  <a:srgbClr val="C00000"/>
                </a:solidFill>
              </a:rPr>
              <a:t>循环结构中逐行取结果集中的数据</a:t>
            </a:r>
            <a:r>
              <a:rPr lang="zh-CN" altLang="en-US" sz="2800" dirty="0">
                <a:solidFill>
                  <a:srgbClr val="000080"/>
                </a:solidFill>
              </a:rPr>
              <a:t>，</a:t>
            </a:r>
            <a:r>
              <a:rPr lang="zh-CN" altLang="en-US" sz="2800" dirty="0"/>
              <a:t>分别将学号</a:t>
            </a:r>
            <a:r>
              <a:rPr lang="en-US" altLang="zh-CN" sz="2800" dirty="0" err="1"/>
              <a:t>Sno</a:t>
            </a:r>
            <a:r>
              <a:rPr lang="zh-CN" altLang="en-US" sz="2800" dirty="0"/>
              <a:t>、姓名</a:t>
            </a:r>
            <a:r>
              <a:rPr lang="en-US" altLang="zh-CN" sz="2800" dirty="0" err="1"/>
              <a:t>Sname</a:t>
            </a:r>
            <a:r>
              <a:rPr lang="zh-CN" altLang="en-US" sz="2800" dirty="0"/>
              <a:t>、性别</a:t>
            </a:r>
            <a:r>
              <a:rPr lang="en-US" altLang="zh-CN" sz="2800" dirty="0" err="1"/>
              <a:t>Ssex</a:t>
            </a:r>
            <a:r>
              <a:rPr lang="zh-CN" altLang="en-US" sz="2800" dirty="0"/>
              <a:t>和年龄</a:t>
            </a:r>
            <a:r>
              <a:rPr lang="en-US" altLang="zh-CN" sz="2800" dirty="0"/>
              <a:t>Sage</a:t>
            </a:r>
            <a:r>
              <a:rPr lang="zh-CN" altLang="en-US" sz="2800" dirty="0"/>
              <a:t>送至主变量</a:t>
            </a:r>
            <a:r>
              <a:rPr lang="en-US" altLang="zh-CN" sz="2800" dirty="0" err="1"/>
              <a:t>HSno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HSname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HSsex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HSage</a:t>
            </a:r>
            <a:r>
              <a:rPr lang="zh-CN" altLang="en-US" sz="2800" dirty="0"/>
              <a:t>中（步骤③）</a:t>
            </a:r>
            <a:r>
              <a:rPr lang="zh-CN" altLang="en-US" sz="2800" dirty="0">
                <a:solidFill>
                  <a:srgbClr val="000080"/>
                </a:solidFill>
              </a:rPr>
              <a:t>。</a:t>
            </a:r>
            <a:r>
              <a:rPr lang="zh-CN" altLang="en-US" sz="2800" dirty="0">
                <a:solidFill>
                  <a:srgbClr val="0000FF"/>
                </a:solidFill>
              </a:rPr>
              <a:t>主语言语句将对这些主变量做进一步处理。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rgbClr val="C00000"/>
                </a:solidFill>
              </a:rPr>
              <a:t>最后关闭游标</a:t>
            </a:r>
            <a:r>
              <a:rPr lang="en-US" altLang="zh-CN" sz="2800" dirty="0">
                <a:solidFill>
                  <a:srgbClr val="C00000"/>
                </a:solidFill>
              </a:rPr>
              <a:t>SX</a:t>
            </a:r>
            <a:r>
              <a:rPr lang="zh-CN" altLang="en-US" sz="2800" dirty="0">
                <a:solidFill>
                  <a:srgbClr val="000080"/>
                </a:solidFill>
              </a:rPr>
              <a:t>（步骤④）。这时</a:t>
            </a:r>
            <a:r>
              <a:rPr lang="en-US" altLang="zh-CN" sz="2800" dirty="0">
                <a:solidFill>
                  <a:srgbClr val="000080"/>
                </a:solidFill>
              </a:rPr>
              <a:t>SX</a:t>
            </a:r>
            <a:r>
              <a:rPr lang="zh-CN" altLang="en-US" sz="2800" dirty="0">
                <a:solidFill>
                  <a:srgbClr val="000080"/>
                </a:solidFill>
              </a:rPr>
              <a:t>不再与</a:t>
            </a:r>
            <a:r>
              <a:rPr lang="en-US" altLang="zh-CN" sz="2800" dirty="0" err="1">
                <a:solidFill>
                  <a:srgbClr val="000080"/>
                </a:solidFill>
              </a:rPr>
              <a:t>deptname</a:t>
            </a:r>
            <a:r>
              <a:rPr lang="zh-CN" altLang="en-US" sz="2800" dirty="0">
                <a:solidFill>
                  <a:srgbClr val="000080"/>
                </a:solidFill>
              </a:rPr>
              <a:t>系的学生数据相联系。</a:t>
            </a:r>
            <a:endParaRPr lang="en-US" altLang="zh-CN" sz="2800" dirty="0">
              <a:solidFill>
                <a:srgbClr val="00008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被关闭的游标</a:t>
            </a:r>
            <a:r>
              <a:rPr lang="en-US" altLang="zh-CN" sz="2800" dirty="0"/>
              <a:t>SX</a:t>
            </a:r>
            <a:r>
              <a:rPr lang="zh-CN" altLang="en-US" sz="2800" dirty="0"/>
              <a:t>实际上可以再次被打开，与新的查询结果相联系。例如，可以在例</a:t>
            </a:r>
            <a:r>
              <a:rPr lang="en-US" altLang="zh-CN" sz="2800" dirty="0"/>
              <a:t>1</a:t>
            </a:r>
            <a:r>
              <a:rPr lang="zh-CN" altLang="en-US" sz="2800" dirty="0"/>
              <a:t>中再加上一层外循环，每次对</a:t>
            </a:r>
            <a:r>
              <a:rPr lang="en-US" altLang="zh-CN" sz="2800" dirty="0" err="1"/>
              <a:t>deptname</a:t>
            </a:r>
            <a:r>
              <a:rPr lang="zh-CN" altLang="en-US" sz="2800" dirty="0"/>
              <a:t>赋新的值，这样</a:t>
            </a:r>
            <a:r>
              <a:rPr lang="en-US" altLang="zh-CN" sz="2800" dirty="0"/>
              <a:t>SX</a:t>
            </a:r>
            <a:r>
              <a:rPr lang="zh-CN" altLang="en-US" sz="2800" dirty="0"/>
              <a:t>就每次和不同的系的学生集合相联系。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5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5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F7B5EC8-F726-4674-9F7C-6709E7FAAA0C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966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96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使用游标的</a:t>
            </a:r>
            <a:r>
              <a:rPr lang="en-US" altLang="zh-CN" dirty="0"/>
              <a:t>SQL</a:t>
            </a:r>
            <a:r>
              <a:rPr lang="zh-CN" altLang="en-US" dirty="0"/>
              <a:t>语句</a:t>
            </a:r>
          </a:p>
        </p:txBody>
      </p:sp>
      <p:sp>
        <p:nvSpPr>
          <p:cNvPr id="1966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String </a:t>
            </a:r>
            <a:r>
              <a:rPr lang="en-US" altLang="zh-CN" sz="2400" dirty="0" err="1"/>
              <a:t>cname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DECLARE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CX</a:t>
            </a:r>
            <a:r>
              <a:rPr lang="en-US" altLang="zh-CN" sz="2400" dirty="0"/>
              <a:t> CURSOR </a:t>
            </a:r>
            <a:r>
              <a:rPr lang="en-US" altLang="zh-CN" sz="2400" dirty="0">
                <a:solidFill>
                  <a:srgbClr val="C00000"/>
                </a:solidFill>
              </a:rPr>
              <a:t>FOR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	SELECT </a:t>
            </a:r>
            <a:r>
              <a:rPr lang="en-US" altLang="zh-CN" sz="2400" dirty="0" err="1">
                <a:solidFill>
                  <a:srgbClr val="0000FF"/>
                </a:solidFill>
              </a:rPr>
              <a:t>Cname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		FROM course;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OPEN CX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FETCH CX INTO </a:t>
            </a:r>
            <a:r>
              <a:rPr lang="en-US" altLang="zh-CN" sz="2400" dirty="0"/>
              <a:t>: </a:t>
            </a:r>
            <a:r>
              <a:rPr lang="en-US" altLang="zh-CN" sz="2400" dirty="0" err="1">
                <a:solidFill>
                  <a:srgbClr val="0000FF"/>
                </a:solidFill>
              </a:rPr>
              <a:t>cname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do while </a:t>
            </a:r>
            <a:r>
              <a:rPr lang="en-US" altLang="zh-CN" sz="2400" dirty="0"/>
              <a:t>SQLCA.SQLCODE = 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	lb_1.AddItem(</a:t>
            </a:r>
            <a:r>
              <a:rPr lang="en-US" altLang="zh-CN" sz="2400" dirty="0" err="1">
                <a:solidFill>
                  <a:srgbClr val="0000FF"/>
                </a:solidFill>
              </a:rPr>
              <a:t>cname</a:t>
            </a:r>
            <a:r>
              <a:rPr lang="en-US" altLang="zh-CN" sz="2400" dirty="0"/>
              <a:t>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C00000"/>
                </a:solidFill>
              </a:rPr>
              <a:t>FETCH CX INTO</a:t>
            </a:r>
            <a:r>
              <a:rPr lang="en-US" altLang="zh-CN" sz="2400" dirty="0"/>
              <a:t> :</a:t>
            </a:r>
            <a:r>
              <a:rPr lang="en-US" altLang="zh-CN" sz="2400" dirty="0" err="1">
                <a:solidFill>
                  <a:srgbClr val="0000FF"/>
                </a:solidFill>
              </a:rPr>
              <a:t>cname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loop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close CX</a:t>
            </a:r>
            <a:r>
              <a:rPr lang="en-US" altLang="zh-CN" sz="2400" dirty="0"/>
              <a:t>;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133600"/>
            <a:ext cx="2819400" cy="311658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6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6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6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6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6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6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6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6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6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6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6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6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6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6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6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6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66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66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66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66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E7E0E49-AB0F-4A2B-994D-DEDF397A2C96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986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98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动态</a:t>
            </a:r>
            <a:r>
              <a:rPr lang="en-US" altLang="zh-CN" dirty="0"/>
              <a:t>SQL</a:t>
            </a:r>
            <a:endParaRPr lang="zh-CN" altLang="en-US" dirty="0"/>
          </a:p>
        </p:txBody>
      </p:sp>
      <p:sp>
        <p:nvSpPr>
          <p:cNvPr id="1986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查询对象、查询条件、要查询的属性列</a:t>
            </a:r>
            <a:r>
              <a:rPr lang="zh-CN" altLang="en-US" dirty="0">
                <a:solidFill>
                  <a:srgbClr val="0000FF"/>
                </a:solidFill>
              </a:rPr>
              <a:t>不确定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/>
              <a:t>特点：在查询执行时临时组装。</a:t>
            </a:r>
          </a:p>
          <a:p>
            <a:pPr eaLnBrk="1" hangingPunct="1"/>
            <a:r>
              <a:rPr lang="zh-CN" altLang="en-US" dirty="0"/>
              <a:t>实现技术：实际不是</a:t>
            </a:r>
            <a:r>
              <a:rPr lang="en-US" altLang="zh-CN" dirty="0"/>
              <a:t>SQL</a:t>
            </a:r>
            <a:r>
              <a:rPr lang="zh-CN" altLang="en-US" dirty="0"/>
              <a:t>技术，是程序设计技术。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CDBF7F3-528B-4584-B0A0-33D9381412A1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996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996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动态</a:t>
            </a:r>
            <a:r>
              <a:rPr lang="en-US" altLang="zh-CN" dirty="0"/>
              <a:t>SQL</a:t>
            </a:r>
            <a:endParaRPr lang="zh-CN" altLang="en-US" dirty="0"/>
          </a:p>
        </p:txBody>
      </p:sp>
      <p:sp>
        <p:nvSpPr>
          <p:cNvPr id="1996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Power Builder</a:t>
            </a:r>
            <a:r>
              <a:rPr lang="zh-CN" altLang="en-US" dirty="0"/>
              <a:t>的四种动态</a:t>
            </a:r>
            <a:r>
              <a:rPr lang="en-US" altLang="zh-CN" dirty="0"/>
              <a:t>SQL</a:t>
            </a:r>
            <a:r>
              <a:rPr lang="zh-CN" altLang="en-US" dirty="0"/>
              <a:t>格式</a:t>
            </a:r>
          </a:p>
          <a:p>
            <a:pPr lvl="1" eaLnBrk="1" hangingPunct="1"/>
            <a:r>
              <a:rPr lang="zh-CN" altLang="en-US" sz="3600" dirty="0">
                <a:solidFill>
                  <a:srgbClr val="0000FF"/>
                </a:solidFill>
              </a:rPr>
              <a:t>无参数、无返回结果</a:t>
            </a:r>
            <a:r>
              <a:rPr lang="zh-CN" altLang="en-US" sz="3600" dirty="0"/>
              <a:t>的</a:t>
            </a:r>
            <a:r>
              <a:rPr lang="en-US" altLang="zh-CN" sz="3600" dirty="0"/>
              <a:t>SQL</a:t>
            </a:r>
            <a:r>
              <a:rPr lang="zh-CN" altLang="en-US" sz="3600" dirty="0"/>
              <a:t>语句。如建表、插入元组值等场合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String</a:t>
            </a:r>
            <a:r>
              <a:rPr lang="en-US" altLang="zh-CN" sz="3200" dirty="0"/>
              <a:t> </a:t>
            </a:r>
            <a:r>
              <a:rPr lang="en-US" altLang="zh-CN" sz="3200" dirty="0" err="1"/>
              <a:t>Mysql</a:t>
            </a:r>
            <a:endParaRPr lang="en-US" altLang="zh-CN" sz="3200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dirty="0" err="1">
                <a:solidFill>
                  <a:srgbClr val="0000FF"/>
                </a:solidFill>
              </a:rPr>
              <a:t>Mysql</a:t>
            </a:r>
            <a:r>
              <a:rPr lang="en-US" altLang="zh-CN" sz="3200" dirty="0"/>
              <a:t>=</a:t>
            </a:r>
            <a:r>
              <a:rPr lang="en-US" altLang="zh-CN" sz="3200" dirty="0">
                <a:latin typeface="Courier New" pitchFamily="49" charset="0"/>
              </a:rPr>
              <a:t>”</a:t>
            </a:r>
            <a:r>
              <a:rPr lang="en-US" altLang="zh-CN" sz="3200" dirty="0">
                <a:latin typeface="Times New Roman" pitchFamily="18" charset="0"/>
              </a:rPr>
              <a:t>INSERT INTO Course</a:t>
            </a:r>
            <a:r>
              <a:rPr lang="en-US" altLang="zh-CN" sz="3200" dirty="0">
                <a:latin typeface="Courier New" pitchFamily="49" charset="0"/>
              </a:rPr>
              <a:t>”</a:t>
            </a:r>
            <a:r>
              <a:rPr lang="en-US" altLang="zh-CN" sz="3200" dirty="0">
                <a:latin typeface="Times New Roman" pitchFamily="18" charset="0"/>
              </a:rPr>
              <a:t>&amp;    			+</a:t>
            </a:r>
            <a:r>
              <a:rPr lang="en-US" altLang="zh-CN" sz="3200" dirty="0">
                <a:latin typeface="Courier New" pitchFamily="49" charset="0"/>
              </a:rPr>
              <a:t>”</a:t>
            </a:r>
            <a:r>
              <a:rPr lang="en-US" altLang="zh-CN" sz="3200" dirty="0">
                <a:latin typeface="Times New Roman" pitchFamily="18" charset="0"/>
              </a:rPr>
              <a:t>VALUES(</a:t>
            </a:r>
            <a:r>
              <a:rPr lang="en-US" altLang="zh-CN" sz="3200" dirty="0">
                <a:latin typeface="Courier New" pitchFamily="49" charset="0"/>
              </a:rPr>
              <a:t>‘</a:t>
            </a:r>
            <a:r>
              <a:rPr lang="en-US" altLang="zh-CN" sz="3200" dirty="0">
                <a:latin typeface="Times New Roman" pitchFamily="18" charset="0"/>
              </a:rPr>
              <a:t>5</a:t>
            </a:r>
            <a:r>
              <a:rPr lang="en-US" altLang="zh-CN" sz="3200" dirty="0">
                <a:latin typeface="Courier New" pitchFamily="49" charset="0"/>
              </a:rPr>
              <a:t>’,’</a:t>
            </a:r>
            <a:r>
              <a:rPr lang="en-US" altLang="zh-CN" sz="3200" dirty="0">
                <a:latin typeface="Times New Roman" pitchFamily="18" charset="0"/>
              </a:rPr>
              <a:t>JAVA</a:t>
            </a:r>
            <a:r>
              <a:rPr lang="en-US" altLang="zh-CN" sz="3200" dirty="0">
                <a:latin typeface="Courier New" pitchFamily="49" charset="0"/>
              </a:rPr>
              <a:t>’</a:t>
            </a:r>
            <a:r>
              <a:rPr lang="en-US" altLang="zh-CN" sz="3200" dirty="0">
                <a:latin typeface="Times New Roman" pitchFamily="18" charset="0"/>
              </a:rPr>
              <a:t> )</a:t>
            </a:r>
            <a:r>
              <a:rPr lang="en-US" altLang="zh-CN" sz="3200" dirty="0">
                <a:latin typeface="Courier New" pitchFamily="49" charset="0"/>
              </a:rPr>
              <a:t>”;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dirty="0">
                <a:solidFill>
                  <a:srgbClr val="C00000"/>
                </a:solidFill>
              </a:rPr>
              <a:t>EXECUTE IMMEDIATE </a:t>
            </a:r>
            <a:r>
              <a:rPr lang="en-US" altLang="zh-CN" sz="3200" dirty="0"/>
              <a:t>: </a:t>
            </a:r>
            <a:r>
              <a:rPr lang="en-US" altLang="zh-CN" sz="3200" dirty="0" err="1">
                <a:solidFill>
                  <a:srgbClr val="0000FF"/>
                </a:solidFill>
              </a:rPr>
              <a:t>Mysql</a:t>
            </a:r>
            <a:r>
              <a:rPr lang="en-US" altLang="zh-CN" sz="3200" dirty="0"/>
              <a:t>;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B995FEA-81A7-4D2E-B5C4-784EF8AF5150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2007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007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动态</a:t>
            </a:r>
            <a:r>
              <a:rPr lang="en-US" altLang="zh-CN" dirty="0"/>
              <a:t>SQL</a:t>
            </a:r>
            <a:endParaRPr lang="zh-CN" altLang="en-US" dirty="0"/>
          </a:p>
        </p:txBody>
      </p:sp>
      <p:sp>
        <p:nvSpPr>
          <p:cNvPr id="2007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3600" dirty="0">
                <a:solidFill>
                  <a:srgbClr val="0000FF"/>
                </a:solidFill>
              </a:rPr>
              <a:t>需要参数，无返回值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INT  </a:t>
            </a:r>
            <a:r>
              <a:rPr lang="en-US" altLang="zh-CN" dirty="0" err="1">
                <a:solidFill>
                  <a:srgbClr val="800080"/>
                </a:solidFill>
              </a:rPr>
              <a:t>Emp_id_var</a:t>
            </a: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en-US" altLang="zh-CN" dirty="0"/>
              <a:t>= 56</a:t>
            </a:r>
          </a:p>
          <a:p>
            <a:pPr eaLnBrk="1" hangingPunct="1"/>
            <a:endParaRPr lang="en-US" altLang="zh-CN" sz="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</a:rPr>
              <a:t>PREPARE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SQLSA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FROM</a:t>
            </a:r>
            <a:r>
              <a:rPr lang="en-US" altLang="zh-CN" dirty="0"/>
              <a:t> "DELETE FROM employee WHERE </a:t>
            </a:r>
            <a:r>
              <a:rPr lang="en-US" altLang="zh-CN" dirty="0" err="1"/>
              <a:t>emp_id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C00000"/>
                </a:solidFill>
              </a:rPr>
              <a:t>?</a:t>
            </a:r>
            <a:r>
              <a:rPr lang="en-US" altLang="zh-CN" dirty="0"/>
              <a:t>" 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</a:rPr>
              <a:t>EXECUTE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SQLSA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USING</a:t>
            </a:r>
            <a:r>
              <a:rPr lang="en-US" altLang="zh-CN" dirty="0"/>
              <a:t> : </a:t>
            </a:r>
            <a:r>
              <a:rPr lang="en-US" altLang="zh-CN" dirty="0" err="1">
                <a:solidFill>
                  <a:srgbClr val="0000FF"/>
                </a:solidFill>
              </a:rPr>
              <a:t>Emp_id_var</a:t>
            </a: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5334000" y="2057400"/>
            <a:ext cx="3810000" cy="468313"/>
          </a:xfrm>
          <a:prstGeom prst="wedgeRectCallout">
            <a:avLst>
              <a:gd name="adj1" fmla="val -105869"/>
              <a:gd name="adj2" fmla="val 1717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2000" dirty="0"/>
              <a:t>语句名，用于标识</a:t>
            </a:r>
            <a:r>
              <a:rPr lang="en-US" altLang="zh-CN" sz="2000" dirty="0"/>
              <a:t>SQL</a:t>
            </a:r>
            <a:r>
              <a:rPr lang="zh-CN" altLang="en-US" sz="2000" dirty="0"/>
              <a:t>语句内容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7467600" y="3505200"/>
            <a:ext cx="1219200" cy="468313"/>
          </a:xfrm>
          <a:prstGeom prst="wedgeRectCallout">
            <a:avLst>
              <a:gd name="adj1" fmla="val -160333"/>
              <a:gd name="adj2" fmla="val 90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2000" dirty="0"/>
              <a:t>动态参数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17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98212C7-DE76-4FD6-AD7A-2655538FCBB8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2017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017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动态</a:t>
            </a:r>
            <a:r>
              <a:rPr lang="en-US" altLang="zh-CN" dirty="0"/>
              <a:t>SQL</a:t>
            </a:r>
            <a:endParaRPr lang="zh-CN" altLang="en-US" dirty="0"/>
          </a:p>
        </p:txBody>
      </p:sp>
      <p:sp>
        <p:nvSpPr>
          <p:cNvPr id="2017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3600" dirty="0"/>
              <a:t>有参数，有返回值的</a:t>
            </a:r>
          </a:p>
          <a:p>
            <a:pPr lvl="2" eaLnBrk="1" hangingPunct="1"/>
            <a:r>
              <a:rPr lang="zh-CN" altLang="en-US" sz="3200" dirty="0"/>
              <a:t>编译时能确定参数个数和返回结果字段</a:t>
            </a:r>
          </a:p>
          <a:p>
            <a:pPr lvl="1" eaLnBrk="1" hangingPunct="1"/>
            <a:endParaRPr lang="zh-CN" altLang="en-US" sz="800" dirty="0"/>
          </a:p>
          <a:p>
            <a:pPr lvl="1" eaLnBrk="1" hangingPunct="1"/>
            <a:r>
              <a:rPr lang="zh-CN" altLang="en-US" sz="3600" dirty="0"/>
              <a:t>不确定返回值</a:t>
            </a:r>
            <a:r>
              <a:rPr lang="en-US" altLang="zh-CN" sz="3600" dirty="0"/>
              <a:t>/</a:t>
            </a:r>
            <a:r>
              <a:rPr lang="zh-CN" altLang="en-US" sz="3600" dirty="0"/>
              <a:t>参数的</a:t>
            </a:r>
          </a:p>
          <a:p>
            <a:pPr lvl="2" eaLnBrk="1" hangingPunct="1"/>
            <a:r>
              <a:rPr lang="zh-CN" altLang="en-US" sz="3200" dirty="0"/>
              <a:t>编译时可能无法确定参数个数和返回结果字段</a:t>
            </a:r>
          </a:p>
          <a:p>
            <a:pPr lvl="1" eaLnBrk="1" hangingPunct="1"/>
            <a:endParaRPr lang="zh-CN" altLang="en-US" sz="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18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EA25FD-75C9-4D66-A231-7ECFF7BCAA00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1853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85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1853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5.1 </a:t>
            </a:r>
            <a:r>
              <a:rPr lang="zh-CN" altLang="en-US" dirty="0"/>
              <a:t>使用高级程序语言访问</a:t>
            </a:r>
            <a:r>
              <a:rPr lang="en-US" altLang="zh-CN" dirty="0"/>
              <a:t>SQL</a:t>
            </a:r>
            <a:endParaRPr lang="zh-CN" altLang="en-US" dirty="0"/>
          </a:p>
          <a:p>
            <a:pPr eaLnBrk="1" hangingPunct="1"/>
            <a:r>
              <a:rPr lang="en-US" altLang="zh-CN" dirty="0"/>
              <a:t>5.3 </a:t>
            </a:r>
            <a:r>
              <a:rPr lang="zh-CN" altLang="en-US" dirty="0"/>
              <a:t>触发器</a:t>
            </a:r>
          </a:p>
        </p:txBody>
      </p:sp>
      <p:sp>
        <p:nvSpPr>
          <p:cNvPr id="201732" name="AutoShape 4"/>
          <p:cNvSpPr>
            <a:spLocks noChangeArrowheads="1"/>
          </p:cNvSpPr>
          <p:nvPr/>
        </p:nvSpPr>
        <p:spPr bwMode="auto">
          <a:xfrm>
            <a:off x="900953" y="22860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19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54933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触发器    </a:t>
            </a:r>
            <a:r>
              <a:rPr lang="en-US" altLang="zh-CN" dirty="0"/>
              <a:t>SQL</a:t>
            </a:r>
            <a:r>
              <a:rPr lang="zh-CN" altLang="en-US" dirty="0"/>
              <a:t>：</a:t>
            </a:r>
            <a:r>
              <a:rPr lang="en-US" altLang="zh-CN" dirty="0"/>
              <a:t>1999</a:t>
            </a:r>
            <a:r>
              <a:rPr lang="zh-CN" altLang="en-US" dirty="0"/>
              <a:t>引入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85860"/>
            <a:ext cx="8345488" cy="5167476"/>
          </a:xfrm>
        </p:spPr>
        <p:txBody>
          <a:bodyPr/>
          <a:lstStyle/>
          <a:p>
            <a:r>
              <a:rPr lang="zh-CN" altLang="en-US" dirty="0"/>
              <a:t>用户定义在</a:t>
            </a:r>
            <a:r>
              <a:rPr lang="zh-CN" altLang="en-US" dirty="0">
                <a:solidFill>
                  <a:srgbClr val="0000FF"/>
                </a:solidFill>
              </a:rPr>
              <a:t>关系表</a:t>
            </a:r>
            <a:r>
              <a:rPr lang="zh-CN" altLang="en-US" dirty="0"/>
              <a:t>上的一类</a:t>
            </a:r>
            <a:r>
              <a:rPr lang="zh-CN" altLang="en-US" dirty="0">
                <a:solidFill>
                  <a:srgbClr val="0000CC"/>
                </a:solidFill>
              </a:rPr>
              <a:t>由事件驱动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CC"/>
                </a:solidFill>
              </a:rPr>
              <a:t>特殊过程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触发器</a:t>
            </a:r>
            <a:r>
              <a:rPr lang="zh-CN" altLang="en-US" dirty="0">
                <a:solidFill>
                  <a:srgbClr val="0000FF"/>
                </a:solidFill>
              </a:rPr>
              <a:t>保存</a:t>
            </a:r>
            <a:r>
              <a:rPr lang="zh-CN" altLang="en-US" dirty="0"/>
              <a:t>在</a:t>
            </a:r>
            <a:r>
              <a:rPr lang="zh-CN" altLang="en-US" dirty="0">
                <a:solidFill>
                  <a:srgbClr val="0000FF"/>
                </a:solidFill>
              </a:rPr>
              <a:t>数据库服务器</a:t>
            </a:r>
            <a:r>
              <a:rPr lang="zh-CN" altLang="en-US" dirty="0"/>
              <a:t>中</a:t>
            </a:r>
          </a:p>
          <a:p>
            <a:pPr lvl="1"/>
            <a:r>
              <a:rPr lang="zh-CN" altLang="en-US" dirty="0"/>
              <a:t>任何用户对表的</a:t>
            </a:r>
            <a:r>
              <a:rPr lang="zh-CN" altLang="en-US" dirty="0">
                <a:solidFill>
                  <a:srgbClr val="0000FF"/>
                </a:solidFill>
              </a:rPr>
              <a:t>增、删、改操作</a:t>
            </a:r>
            <a:r>
              <a:rPr lang="zh-CN" altLang="en-US" dirty="0"/>
              <a:t>均由</a:t>
            </a:r>
            <a:r>
              <a:rPr lang="zh-CN" altLang="en-US" dirty="0">
                <a:solidFill>
                  <a:srgbClr val="C00000"/>
                </a:solidFill>
              </a:rPr>
              <a:t>服务器</a:t>
            </a:r>
            <a:r>
              <a:rPr lang="zh-CN" altLang="en-US" dirty="0">
                <a:solidFill>
                  <a:srgbClr val="0000FF"/>
                </a:solidFill>
              </a:rPr>
              <a:t>自动激活</a:t>
            </a:r>
            <a:r>
              <a:rPr lang="zh-CN" altLang="en-US" dirty="0">
                <a:solidFill>
                  <a:srgbClr val="C00000"/>
                </a:solidFill>
              </a:rPr>
              <a:t>相应的触发器</a:t>
            </a:r>
          </a:p>
          <a:p>
            <a:pPr lvl="1"/>
            <a:r>
              <a:rPr lang="zh-CN" altLang="en-US" dirty="0"/>
              <a:t>触发器可以</a:t>
            </a:r>
            <a:r>
              <a:rPr lang="zh-CN" altLang="en-US" b="1" u="sng" dirty="0"/>
              <a:t>实施</a:t>
            </a:r>
            <a:r>
              <a:rPr lang="zh-CN" altLang="en-US" dirty="0">
                <a:solidFill>
                  <a:srgbClr val="0000FF"/>
                </a:solidFill>
              </a:rPr>
              <a:t>更为复杂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检查和操作</a:t>
            </a:r>
            <a:r>
              <a:rPr lang="zh-CN" altLang="en-US" dirty="0"/>
              <a:t>，具有</a:t>
            </a:r>
            <a:r>
              <a:rPr lang="zh-CN" altLang="en-US" dirty="0">
                <a:solidFill>
                  <a:srgbClr val="0000FF"/>
                </a:solidFill>
              </a:rPr>
              <a:t>更精细和更强大的数据控制能力</a:t>
            </a:r>
          </a:p>
          <a:p>
            <a:pPr lvl="2"/>
            <a:r>
              <a:rPr lang="zh-CN" altLang="en-US" dirty="0">
                <a:solidFill>
                  <a:srgbClr val="F40000"/>
                </a:solidFill>
              </a:rPr>
              <a:t>事件 </a:t>
            </a:r>
            <a:r>
              <a:rPr lang="zh-CN" altLang="en-US" dirty="0"/>
              <a:t> 对表的</a:t>
            </a:r>
            <a:r>
              <a:rPr lang="zh-CN" altLang="en-US" u="sng" dirty="0">
                <a:solidFill>
                  <a:srgbClr val="C00000"/>
                </a:solidFill>
              </a:rPr>
              <a:t>插入、删除、修改</a:t>
            </a:r>
          </a:p>
          <a:p>
            <a:pPr lvl="2"/>
            <a:r>
              <a:rPr lang="zh-CN" altLang="en-US" dirty="0">
                <a:solidFill>
                  <a:srgbClr val="F40000"/>
                </a:solidFill>
              </a:rPr>
              <a:t>时机</a:t>
            </a:r>
            <a:r>
              <a:rPr lang="zh-CN" altLang="en-US" dirty="0"/>
              <a:t>  在对表的</a:t>
            </a:r>
            <a:r>
              <a:rPr lang="zh-CN" altLang="en-US" u="sng" dirty="0"/>
              <a:t>插入、删除、修改</a:t>
            </a:r>
            <a:r>
              <a:rPr lang="zh-CN" altLang="en-US" b="1" dirty="0">
                <a:solidFill>
                  <a:srgbClr val="0000FF"/>
                </a:solidFill>
              </a:rPr>
              <a:t>前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rgbClr val="0000FF"/>
                </a:solidFill>
              </a:rPr>
              <a:t>后</a:t>
            </a:r>
          </a:p>
          <a:p>
            <a:pPr lvl="2"/>
            <a:r>
              <a:rPr lang="zh-CN" altLang="en-US" dirty="0">
                <a:solidFill>
                  <a:srgbClr val="F40000"/>
                </a:solidFill>
              </a:rPr>
              <a:t>条件</a:t>
            </a:r>
            <a:r>
              <a:rPr lang="zh-CN" altLang="en-US" dirty="0"/>
              <a:t>  只有当</a:t>
            </a:r>
            <a:r>
              <a:rPr lang="zh-CN" altLang="en-US" dirty="0">
                <a:solidFill>
                  <a:srgbClr val="0000FF"/>
                </a:solidFill>
              </a:rPr>
              <a:t>触发条件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00CC"/>
                </a:solidFill>
              </a:rPr>
              <a:t>真</a:t>
            </a:r>
            <a:r>
              <a:rPr lang="zh-CN" altLang="en-US" dirty="0"/>
              <a:t>时才执行</a:t>
            </a:r>
          </a:p>
          <a:p>
            <a:pPr lvl="2"/>
            <a:r>
              <a:rPr lang="zh-CN" altLang="en-US" dirty="0">
                <a:solidFill>
                  <a:srgbClr val="F40000"/>
                </a:solidFill>
              </a:rPr>
              <a:t>类型</a:t>
            </a:r>
            <a:r>
              <a:rPr lang="zh-CN" altLang="en-US" dirty="0"/>
              <a:t>  </a:t>
            </a:r>
            <a:r>
              <a:rPr lang="zh-CN" altLang="en-US" dirty="0">
                <a:solidFill>
                  <a:srgbClr val="0000FF"/>
                </a:solidFill>
              </a:rPr>
              <a:t>行级触发器  语句级触发器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E38F-1205-412E-B17B-D108402AD290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第5章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4A5B-E5EC-4502-AF9C-897177995C78}" type="slidenum">
              <a:rPr lang="en-US" altLang="zh-CN" smtClean="0"/>
              <a:pPr/>
              <a:t>20</a:t>
            </a:fld>
            <a:r>
              <a:rPr lang="en-US" altLang="zh-CN"/>
              <a:t>/51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81519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9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9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9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9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9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9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触发器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3716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40000"/>
              </a:lnSpc>
            </a:pPr>
            <a:r>
              <a:rPr kumimoji="0" lang="en-US" altLang="zh-CN" kern="0" dirty="0">
                <a:ea typeface="宋体" charset="-122"/>
              </a:rPr>
              <a:t>CREATE TRIGGER</a:t>
            </a:r>
            <a:r>
              <a:rPr kumimoji="0" lang="zh-CN" altLang="en-US" kern="0" dirty="0">
                <a:ea typeface="宋体" charset="-122"/>
              </a:rPr>
              <a:t>语法格式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1000" kern="0" dirty="0">
                <a:ea typeface="宋体" charset="-122"/>
              </a:rPr>
              <a:t>	   </a:t>
            </a:r>
            <a:r>
              <a:rPr kumimoji="0" lang="zh-CN" altLang="en-US" sz="2400" kern="0" dirty="0">
                <a:ea typeface="宋体" charset="-122"/>
              </a:rPr>
              <a:t>  </a:t>
            </a:r>
            <a:r>
              <a:rPr kumimoji="0" lang="en-US" altLang="zh-CN" sz="2800" kern="0" dirty="0">
                <a:solidFill>
                  <a:srgbClr val="C00000"/>
                </a:solidFill>
                <a:ea typeface="宋体" charset="-122"/>
              </a:rPr>
              <a:t>CREATE</a:t>
            </a:r>
            <a:r>
              <a:rPr kumimoji="0" lang="en-US" altLang="zh-CN" sz="2800" kern="0" dirty="0">
                <a:solidFill>
                  <a:srgbClr val="0000CC"/>
                </a:solidFill>
                <a:ea typeface="宋体" charset="-122"/>
              </a:rPr>
              <a:t> TRIGGER </a:t>
            </a:r>
            <a:r>
              <a:rPr kumimoji="0" lang="en-US" altLang="zh-CN" sz="2800" kern="0" dirty="0">
                <a:ea typeface="宋体" charset="-122"/>
              </a:rPr>
              <a:t>&lt;</a:t>
            </a:r>
            <a:r>
              <a:rPr kumimoji="0" lang="zh-CN" altLang="en-US" sz="2800" kern="0" dirty="0">
                <a:ea typeface="宋体" charset="-122"/>
              </a:rPr>
              <a:t>触发器名</a:t>
            </a:r>
            <a:r>
              <a:rPr kumimoji="0" lang="en-US" altLang="zh-CN" sz="2800" kern="0" dirty="0">
                <a:ea typeface="宋体" charset="-122"/>
              </a:rPr>
              <a:t>&gt;  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800" kern="0" dirty="0">
                <a:ea typeface="宋体" charset="-122"/>
              </a:rPr>
              <a:t>       {</a:t>
            </a:r>
            <a:r>
              <a:rPr kumimoji="0" lang="en-US" altLang="zh-CN" sz="2800" kern="0" dirty="0">
                <a:solidFill>
                  <a:srgbClr val="0000CC"/>
                </a:solidFill>
                <a:ea typeface="宋体" charset="-122"/>
              </a:rPr>
              <a:t>BEFORE | AFTER</a:t>
            </a:r>
            <a:r>
              <a:rPr kumimoji="0" lang="en-US" altLang="zh-CN" sz="2800" kern="0" dirty="0">
                <a:ea typeface="宋体" charset="-122"/>
              </a:rPr>
              <a:t>} &lt;</a:t>
            </a:r>
            <a:r>
              <a:rPr kumimoji="0" lang="zh-CN" altLang="en-US" sz="2800" kern="0" dirty="0">
                <a:solidFill>
                  <a:srgbClr val="C00000"/>
                </a:solidFill>
                <a:ea typeface="宋体" charset="-122"/>
              </a:rPr>
              <a:t>触发事件</a:t>
            </a:r>
            <a:r>
              <a:rPr kumimoji="0" lang="en-US" altLang="zh-CN" sz="2800" kern="0" dirty="0">
                <a:ea typeface="宋体" charset="-122"/>
              </a:rPr>
              <a:t>&gt; </a:t>
            </a:r>
            <a:r>
              <a:rPr kumimoji="0" lang="en-US" altLang="zh-CN" sz="2800" kern="0" dirty="0">
                <a:solidFill>
                  <a:srgbClr val="C00000"/>
                </a:solidFill>
                <a:ea typeface="宋体" charset="-122"/>
              </a:rPr>
              <a:t>ON</a:t>
            </a:r>
            <a:r>
              <a:rPr kumimoji="0" lang="en-US" altLang="zh-CN" sz="2800" kern="0" dirty="0">
                <a:ea typeface="宋体" charset="-122"/>
              </a:rPr>
              <a:t> &lt;</a:t>
            </a:r>
            <a:r>
              <a:rPr kumimoji="0" lang="zh-CN" altLang="en-US" sz="2800" kern="0" dirty="0">
                <a:solidFill>
                  <a:srgbClr val="C00000"/>
                </a:solidFill>
                <a:ea typeface="宋体" charset="-122"/>
              </a:rPr>
              <a:t>表名</a:t>
            </a:r>
            <a:r>
              <a:rPr kumimoji="0" lang="en-US" altLang="zh-CN" sz="2800" kern="0" dirty="0">
                <a:ea typeface="宋体" charset="-122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800" kern="0" dirty="0">
                <a:ea typeface="宋体" charset="-122"/>
              </a:rPr>
              <a:t>       </a:t>
            </a:r>
            <a:r>
              <a:rPr kumimoji="0" lang="en-US" altLang="zh-CN" sz="2800" kern="0" dirty="0">
                <a:solidFill>
                  <a:srgbClr val="FF0000"/>
                </a:solidFill>
                <a:ea typeface="宋体" charset="-122"/>
              </a:rPr>
              <a:t>REFERENCING NEW|OLD ROW AS</a:t>
            </a:r>
            <a:r>
              <a:rPr kumimoji="0" lang="en-US" altLang="zh-CN" sz="2800" kern="0" dirty="0">
                <a:ea typeface="宋体" charset="-122"/>
              </a:rPr>
              <a:t>&lt;</a:t>
            </a:r>
            <a:r>
              <a:rPr kumimoji="0" lang="zh-CN" altLang="en-US" sz="2800" kern="0" dirty="0">
                <a:ea typeface="宋体" charset="-122"/>
              </a:rPr>
              <a:t>变量</a:t>
            </a:r>
            <a:r>
              <a:rPr kumimoji="0" lang="en-US" altLang="zh-CN" sz="2800" kern="0" dirty="0">
                <a:ea typeface="宋体" charset="-122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800" kern="0" dirty="0">
                <a:ea typeface="宋体" charset="-122"/>
              </a:rPr>
              <a:t>        </a:t>
            </a:r>
            <a:r>
              <a:rPr kumimoji="0" lang="en-US" altLang="zh-CN" sz="2800" kern="0" dirty="0">
                <a:solidFill>
                  <a:srgbClr val="0000CC"/>
                </a:solidFill>
                <a:ea typeface="宋体" charset="-122"/>
              </a:rPr>
              <a:t>FOR EACH  </a:t>
            </a:r>
            <a:r>
              <a:rPr kumimoji="0" lang="en-US" altLang="zh-CN" sz="2800" kern="0" dirty="0">
                <a:ea typeface="宋体" charset="-122"/>
              </a:rPr>
              <a:t>{</a:t>
            </a:r>
            <a:r>
              <a:rPr kumimoji="0" lang="en-US" altLang="zh-CN" sz="2800" kern="0" dirty="0">
                <a:solidFill>
                  <a:srgbClr val="0000CC"/>
                </a:solidFill>
                <a:ea typeface="宋体" charset="-122"/>
              </a:rPr>
              <a:t>ROW | STATEMENT</a:t>
            </a:r>
            <a:r>
              <a:rPr kumimoji="0" lang="en-US" altLang="zh-CN" sz="2800" kern="0" dirty="0">
                <a:ea typeface="宋体" charset="-122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800" kern="0" dirty="0">
                <a:ea typeface="宋体" charset="-122"/>
              </a:rPr>
              <a:t>      </a:t>
            </a:r>
            <a:r>
              <a:rPr kumimoji="0" lang="zh-CN" altLang="en-US" sz="2800" kern="0" dirty="0">
                <a:ea typeface="宋体" charset="-122"/>
              </a:rPr>
              <a:t>［</a:t>
            </a:r>
            <a:r>
              <a:rPr kumimoji="0" lang="en-US" altLang="zh-CN" sz="2800" kern="0" dirty="0">
                <a:solidFill>
                  <a:srgbClr val="0000CC"/>
                </a:solidFill>
                <a:ea typeface="宋体" charset="-122"/>
              </a:rPr>
              <a:t>WHEN</a:t>
            </a:r>
            <a:r>
              <a:rPr kumimoji="0" lang="en-US" altLang="zh-CN" sz="2800" kern="0" dirty="0">
                <a:ea typeface="宋体" charset="-122"/>
              </a:rPr>
              <a:t> &lt;</a:t>
            </a:r>
            <a:r>
              <a:rPr kumimoji="0" lang="zh-CN" altLang="en-US" sz="2800" kern="0" dirty="0">
                <a:ea typeface="宋体" charset="-122"/>
              </a:rPr>
              <a:t>触发条件</a:t>
            </a:r>
            <a:r>
              <a:rPr kumimoji="0" lang="en-US" altLang="zh-CN" sz="2800" kern="0" dirty="0">
                <a:ea typeface="宋体" charset="-122"/>
              </a:rPr>
              <a:t>&gt;</a:t>
            </a:r>
            <a:r>
              <a:rPr kumimoji="0" lang="zh-CN" altLang="en-US" sz="2800" kern="0" dirty="0">
                <a:ea typeface="宋体" charset="-122"/>
              </a:rPr>
              <a:t>］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2800" kern="0" dirty="0">
                <a:ea typeface="宋体" charset="-122"/>
              </a:rPr>
              <a:t>        </a:t>
            </a:r>
            <a:r>
              <a:rPr kumimoji="0" lang="en-US" altLang="zh-CN" sz="2800" kern="0" dirty="0">
                <a:ea typeface="宋体" charset="-122"/>
              </a:rPr>
              <a:t>&lt;</a:t>
            </a:r>
            <a:r>
              <a:rPr kumimoji="0" lang="zh-CN" altLang="en-US" sz="2800" b="1" kern="0" dirty="0">
                <a:solidFill>
                  <a:srgbClr val="800080"/>
                </a:solidFill>
                <a:ea typeface="宋体" charset="-122"/>
              </a:rPr>
              <a:t>触发动作体</a:t>
            </a:r>
            <a:r>
              <a:rPr kumimoji="0" lang="en-US" altLang="zh-CN" sz="2800" kern="0" dirty="0">
                <a:ea typeface="宋体" charset="-122"/>
              </a:rPr>
              <a:t>&gt;</a:t>
            </a:r>
            <a:endParaRPr kumimoji="0" lang="en-US" altLang="zh-CN" sz="2400" kern="0" dirty="0">
              <a:ea typeface="宋体" charset="-122"/>
            </a:endParaRPr>
          </a:p>
          <a:p>
            <a:pPr>
              <a:lnSpc>
                <a:spcPct val="140000"/>
              </a:lnSpc>
            </a:pPr>
            <a:r>
              <a:rPr kumimoji="0" lang="en-US" altLang="zh-CN" kern="0" dirty="0">
                <a:ea typeface="宋体" charset="-122"/>
              </a:rPr>
              <a:t>DROP</a:t>
            </a:r>
            <a:r>
              <a:rPr kumimoji="0" lang="en-US" altLang="zh-CN" sz="2400" kern="0" dirty="0">
                <a:solidFill>
                  <a:srgbClr val="0000CC"/>
                </a:solidFill>
                <a:ea typeface="宋体" charset="-122"/>
              </a:rPr>
              <a:t> </a:t>
            </a:r>
            <a:r>
              <a:rPr kumimoji="0" lang="en-US" altLang="zh-CN" kern="0" dirty="0">
                <a:solidFill>
                  <a:srgbClr val="0000CC"/>
                </a:solidFill>
                <a:ea typeface="宋体" charset="-122"/>
              </a:rPr>
              <a:t>TRIGGER </a:t>
            </a:r>
            <a:r>
              <a:rPr kumimoji="0" lang="en-US" altLang="zh-CN" kern="0" dirty="0">
                <a:ea typeface="宋体" charset="-122"/>
              </a:rPr>
              <a:t>&lt;</a:t>
            </a:r>
            <a:r>
              <a:rPr kumimoji="0" lang="zh-CN" altLang="en-US" kern="0" dirty="0">
                <a:ea typeface="宋体" charset="-122"/>
              </a:rPr>
              <a:t>触发器名</a:t>
            </a:r>
            <a:r>
              <a:rPr kumimoji="0" lang="en-US" altLang="zh-CN" kern="0" dirty="0">
                <a:ea typeface="宋体" charset="-122"/>
              </a:rPr>
              <a:t>&gt; </a:t>
            </a:r>
            <a:r>
              <a:rPr kumimoji="0" lang="en-US" altLang="zh-CN" kern="0" dirty="0">
                <a:solidFill>
                  <a:srgbClr val="C00000"/>
                </a:solidFill>
                <a:ea typeface="宋体" charset="-122"/>
              </a:rPr>
              <a:t>ON</a:t>
            </a:r>
            <a:r>
              <a:rPr kumimoji="0" lang="en-US" altLang="zh-CN" kern="0" dirty="0">
                <a:ea typeface="宋体" charset="-122"/>
              </a:rPr>
              <a:t> &lt;</a:t>
            </a:r>
            <a:r>
              <a:rPr kumimoji="0" lang="zh-CN" altLang="en-US" kern="0" dirty="0">
                <a:ea typeface="宋体" charset="-122"/>
              </a:rPr>
              <a:t>表名</a:t>
            </a:r>
            <a:r>
              <a:rPr kumimoji="0" lang="en-US" altLang="zh-CN" kern="0" dirty="0">
                <a:ea typeface="宋体" charset="-122"/>
              </a:rPr>
              <a:t>&gt;;</a:t>
            </a: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260E1-6EB3-4393-9CD3-12CD017FAD6C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第5章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4A5B-E5EC-4502-AF9C-897177995C78}" type="slidenum">
              <a:rPr lang="en-US" altLang="zh-CN" smtClean="0"/>
              <a:pPr/>
              <a:t>21</a:t>
            </a:fld>
            <a:r>
              <a:rPr lang="en-US" altLang="zh-CN"/>
              <a:t>/51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52670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触发器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447800"/>
            <a:ext cx="8458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400" kern="0" dirty="0">
                <a:ea typeface="宋体" charset="-122"/>
              </a:rPr>
              <a:t>例</a:t>
            </a:r>
            <a:r>
              <a:rPr kumimoji="0" lang="en-US" altLang="zh-CN" sz="2400" kern="0" dirty="0">
                <a:ea typeface="宋体" charset="-122"/>
              </a:rPr>
              <a:t>:</a:t>
            </a:r>
            <a:r>
              <a:rPr kumimoji="0" lang="zh-CN" altLang="en-US" sz="2400" kern="0" dirty="0">
                <a:ea typeface="宋体" charset="-122"/>
              </a:rPr>
              <a:t> 当对表</a:t>
            </a:r>
            <a:r>
              <a:rPr kumimoji="0" lang="en-US" altLang="zh-CN" sz="2400" kern="0" dirty="0">
                <a:ea typeface="宋体" charset="-122"/>
              </a:rPr>
              <a:t>SC</a:t>
            </a:r>
            <a:r>
              <a:rPr kumimoji="0" lang="zh-CN" altLang="en-US" sz="2400" kern="0" dirty="0">
                <a:ea typeface="宋体" charset="-122"/>
              </a:rPr>
              <a:t>的</a:t>
            </a:r>
            <a:r>
              <a:rPr kumimoji="0" lang="en-US" altLang="zh-CN" sz="2400" u="sng" kern="0" dirty="0">
                <a:ea typeface="宋体" charset="-122"/>
              </a:rPr>
              <a:t>Grade</a:t>
            </a:r>
            <a:r>
              <a:rPr kumimoji="0" lang="zh-CN" altLang="en-US" sz="2400" u="sng" kern="0" dirty="0">
                <a:ea typeface="宋体" charset="-122"/>
              </a:rPr>
              <a:t>属性</a:t>
            </a:r>
            <a:r>
              <a:rPr kumimoji="0" lang="zh-CN" altLang="en-US" sz="2400" kern="0" dirty="0">
                <a:ea typeface="宋体" charset="-122"/>
              </a:rPr>
              <a:t>进行</a:t>
            </a:r>
            <a:r>
              <a:rPr kumimoji="0" lang="zh-CN" altLang="en-US" sz="2400" u="sng" kern="0" dirty="0">
                <a:ea typeface="宋体" charset="-122"/>
              </a:rPr>
              <a:t>修改</a:t>
            </a:r>
            <a:r>
              <a:rPr kumimoji="0" lang="zh-CN" altLang="en-US" sz="2400" kern="0" dirty="0">
                <a:ea typeface="宋体" charset="-122"/>
              </a:rPr>
              <a:t>时，若分数增加了</a:t>
            </a:r>
            <a:r>
              <a:rPr kumimoji="0" lang="en-US" altLang="zh-CN" sz="2400" kern="0" dirty="0">
                <a:ea typeface="宋体" charset="-122"/>
              </a:rPr>
              <a:t>10%</a:t>
            </a:r>
            <a:r>
              <a:rPr kumimoji="0" lang="zh-CN" altLang="en-US" sz="2400" kern="0" dirty="0">
                <a:ea typeface="宋体" charset="-122"/>
              </a:rPr>
              <a:t>则将此次操作记录到下面表中：</a:t>
            </a:r>
          </a:p>
          <a:p>
            <a:pPr marL="0" indent="0">
              <a:buNone/>
            </a:pPr>
            <a:r>
              <a:rPr kumimoji="0" lang="en-US" altLang="zh-CN" sz="2400" kern="0" dirty="0">
                <a:ea typeface="宋体" charset="-122"/>
              </a:rPr>
              <a:t>               SC_U(</a:t>
            </a:r>
            <a:r>
              <a:rPr kumimoji="0" lang="en-US" altLang="zh-CN" sz="2400" kern="0" dirty="0" err="1">
                <a:ea typeface="宋体" charset="-122"/>
              </a:rPr>
              <a:t>Sno,Cno,Oldgrade,Newgrade</a:t>
            </a:r>
            <a:r>
              <a:rPr kumimoji="0" lang="en-US" altLang="zh-CN" sz="2400" kern="0" dirty="0">
                <a:ea typeface="宋体" charset="-122"/>
              </a:rPr>
              <a:t>)</a:t>
            </a:r>
            <a:endParaRPr kumimoji="0" lang="zh-CN" altLang="en-US" sz="2400" kern="0" dirty="0">
              <a:ea typeface="宋体" charset="-122"/>
            </a:endParaRPr>
          </a:p>
          <a:p>
            <a:pPr marL="0" indent="0">
              <a:buNone/>
            </a:pPr>
            <a:r>
              <a:rPr kumimoji="0" lang="zh-CN" altLang="en-US" sz="2400" kern="0" dirty="0">
                <a:ea typeface="宋体" charset="-122"/>
              </a:rPr>
              <a:t>其中</a:t>
            </a:r>
            <a:r>
              <a:rPr kumimoji="0" lang="en-US" altLang="zh-CN" sz="2400" kern="0" dirty="0" err="1">
                <a:solidFill>
                  <a:srgbClr val="0000CC"/>
                </a:solidFill>
                <a:ea typeface="宋体" charset="-122"/>
              </a:rPr>
              <a:t>Oldgrade</a:t>
            </a:r>
            <a:r>
              <a:rPr kumimoji="0" lang="zh-CN" altLang="en-US" sz="2400" kern="0" dirty="0">
                <a:solidFill>
                  <a:srgbClr val="0000CC"/>
                </a:solidFill>
                <a:ea typeface="宋体" charset="-122"/>
              </a:rPr>
              <a:t>是修改前的分数</a:t>
            </a:r>
            <a:r>
              <a:rPr kumimoji="0" lang="zh-CN" altLang="en-US" sz="2400" kern="0" dirty="0">
                <a:ea typeface="宋体" charset="-122"/>
              </a:rPr>
              <a:t>，</a:t>
            </a:r>
            <a:r>
              <a:rPr kumimoji="0" lang="en-US" altLang="zh-CN" sz="2400" kern="0" dirty="0" err="1">
                <a:solidFill>
                  <a:srgbClr val="0000CC"/>
                </a:solidFill>
                <a:ea typeface="宋体" charset="-122"/>
              </a:rPr>
              <a:t>Newgrade</a:t>
            </a:r>
            <a:r>
              <a:rPr kumimoji="0" lang="zh-CN" altLang="en-US" sz="2400" kern="0" dirty="0">
                <a:solidFill>
                  <a:srgbClr val="0000CC"/>
                </a:solidFill>
                <a:ea typeface="宋体" charset="-122"/>
              </a:rPr>
              <a:t>是修改后的分数</a:t>
            </a:r>
            <a:r>
              <a:rPr kumimoji="0" lang="zh-CN" altLang="en-US" sz="2400" kern="0" dirty="0">
                <a:ea typeface="宋体" charset="-122"/>
              </a:rPr>
              <a:t>。</a:t>
            </a:r>
          </a:p>
          <a:p>
            <a:pPr marL="400050" lvl="1" indent="0">
              <a:buNone/>
            </a:pPr>
            <a:endParaRPr kumimoji="0" lang="en-US" altLang="zh-CN" sz="2000" kern="0" dirty="0">
              <a:ea typeface="宋体" charset="-122"/>
            </a:endParaRPr>
          </a:p>
          <a:p>
            <a:pPr marL="400050" lvl="1" indent="0">
              <a:buNone/>
            </a:pPr>
            <a:r>
              <a:rPr kumimoji="0" lang="en-US" altLang="zh-CN" sz="2000" kern="0" dirty="0">
                <a:ea typeface="宋体" charset="-122"/>
              </a:rPr>
              <a:t>CREATE </a:t>
            </a:r>
            <a:r>
              <a:rPr kumimoji="0" lang="en-US" altLang="zh-CN" sz="2000" kern="0" dirty="0">
                <a:solidFill>
                  <a:srgbClr val="00B050"/>
                </a:solidFill>
                <a:ea typeface="宋体" charset="-122"/>
              </a:rPr>
              <a:t>TRIGGER</a:t>
            </a:r>
            <a:r>
              <a:rPr kumimoji="0" lang="en-US" altLang="zh-CN" sz="2000" kern="0" dirty="0">
                <a:ea typeface="宋体" charset="-122"/>
              </a:rPr>
              <a:t> SC_T </a:t>
            </a:r>
            <a:r>
              <a:rPr kumimoji="0" lang="en-US" altLang="zh-CN" sz="2000" kern="0" dirty="0">
                <a:solidFill>
                  <a:srgbClr val="C00000"/>
                </a:solidFill>
                <a:ea typeface="宋体" charset="-122"/>
              </a:rPr>
              <a:t>AFTER </a:t>
            </a:r>
            <a:r>
              <a:rPr kumimoji="0" lang="en-US" altLang="zh-CN" sz="2000" u="sng" kern="0" dirty="0">
                <a:solidFill>
                  <a:srgbClr val="0000CC"/>
                </a:solidFill>
                <a:ea typeface="宋体" charset="-122"/>
              </a:rPr>
              <a:t>UPDATE OF Grade </a:t>
            </a:r>
            <a:r>
              <a:rPr kumimoji="0" lang="en-US" altLang="zh-CN" sz="2000" kern="0" dirty="0">
                <a:solidFill>
                  <a:srgbClr val="C00000"/>
                </a:solidFill>
                <a:ea typeface="宋体" charset="-122"/>
              </a:rPr>
              <a:t>ON</a:t>
            </a:r>
            <a:r>
              <a:rPr kumimoji="0" lang="en-US" altLang="zh-CN" sz="2000" kern="0" dirty="0">
                <a:ea typeface="宋体" charset="-122"/>
              </a:rPr>
              <a:t> SC</a:t>
            </a:r>
          </a:p>
          <a:p>
            <a:pPr marL="400050" lvl="1" indent="0">
              <a:buNone/>
            </a:pPr>
            <a:r>
              <a:rPr kumimoji="0" lang="en-US" altLang="zh-CN" sz="2000" kern="0" dirty="0">
                <a:solidFill>
                  <a:srgbClr val="C00000"/>
                </a:solidFill>
                <a:ea typeface="宋体" charset="-122"/>
              </a:rPr>
              <a:t>REFERENCING</a:t>
            </a:r>
            <a:r>
              <a:rPr kumimoji="0" lang="en-US" altLang="zh-CN" sz="2000" kern="0" dirty="0">
                <a:ea typeface="宋体" charset="-122"/>
              </a:rPr>
              <a:t> </a:t>
            </a:r>
            <a:r>
              <a:rPr kumimoji="0" lang="en-US" altLang="zh-CN" sz="2000" kern="0" dirty="0">
                <a:solidFill>
                  <a:srgbClr val="0000CC"/>
                </a:solidFill>
                <a:ea typeface="宋体" charset="-122"/>
              </a:rPr>
              <a:t>OLD ROW </a:t>
            </a:r>
            <a:r>
              <a:rPr kumimoji="0" lang="en-US" altLang="zh-CN" sz="2000" kern="0" dirty="0">
                <a:ea typeface="宋体" charset="-122"/>
              </a:rPr>
              <a:t>AS </a:t>
            </a:r>
            <a:r>
              <a:rPr kumimoji="0" lang="en-US" altLang="zh-CN" sz="2000" kern="0" dirty="0" err="1">
                <a:ea typeface="宋体" charset="-122"/>
              </a:rPr>
              <a:t>OldTuple</a:t>
            </a:r>
            <a:r>
              <a:rPr kumimoji="0" lang="en-US" altLang="zh-CN" sz="2000" kern="0" dirty="0">
                <a:ea typeface="宋体" charset="-122"/>
              </a:rPr>
              <a:t>, </a:t>
            </a:r>
            <a:r>
              <a:rPr kumimoji="0" lang="en-US" altLang="zh-CN" sz="2000" kern="0" dirty="0">
                <a:solidFill>
                  <a:srgbClr val="0000CC"/>
                </a:solidFill>
                <a:ea typeface="宋体" charset="-122"/>
              </a:rPr>
              <a:t>NEW ROW </a:t>
            </a:r>
            <a:r>
              <a:rPr kumimoji="0" lang="en-US" altLang="zh-CN" sz="2000" kern="0" dirty="0">
                <a:ea typeface="宋体" charset="-122"/>
              </a:rPr>
              <a:t>AS </a:t>
            </a:r>
            <a:r>
              <a:rPr kumimoji="0" lang="en-US" altLang="zh-CN" sz="2000" kern="0" dirty="0" err="1">
                <a:ea typeface="宋体" charset="-122"/>
              </a:rPr>
              <a:t>NewTuple</a:t>
            </a:r>
            <a:endParaRPr kumimoji="0" lang="en-US" altLang="zh-CN" sz="2000" kern="0" dirty="0">
              <a:ea typeface="宋体" charset="-122"/>
            </a:endParaRPr>
          </a:p>
          <a:p>
            <a:pPr marL="400050" lvl="1" indent="0">
              <a:buNone/>
            </a:pPr>
            <a:r>
              <a:rPr kumimoji="0" lang="en-US" altLang="zh-CN" sz="2000" kern="0" dirty="0">
                <a:solidFill>
                  <a:srgbClr val="C00000"/>
                </a:solidFill>
                <a:ea typeface="宋体" charset="-122"/>
              </a:rPr>
              <a:t>FOR EACH ROW</a:t>
            </a:r>
          </a:p>
          <a:p>
            <a:pPr marL="400050" lvl="1" indent="0">
              <a:buNone/>
            </a:pPr>
            <a:r>
              <a:rPr kumimoji="0" lang="en-US" altLang="zh-CN" sz="2000" kern="0" dirty="0">
                <a:solidFill>
                  <a:srgbClr val="C00000"/>
                </a:solidFill>
                <a:ea typeface="宋体" charset="-122"/>
              </a:rPr>
              <a:t>WHEN</a:t>
            </a:r>
            <a:r>
              <a:rPr kumimoji="0" lang="en-US" altLang="zh-CN" sz="2000" kern="0" dirty="0">
                <a:ea typeface="宋体" charset="-122"/>
              </a:rPr>
              <a:t> (</a:t>
            </a:r>
            <a:r>
              <a:rPr kumimoji="0" lang="en-US" altLang="zh-CN" sz="2000" kern="0" dirty="0" err="1">
                <a:ea typeface="宋体" charset="-122"/>
              </a:rPr>
              <a:t>NewTuple.Grade</a:t>
            </a:r>
            <a:r>
              <a:rPr kumimoji="0" lang="en-US" altLang="zh-CN" sz="2000" kern="0" dirty="0">
                <a:ea typeface="宋体" charset="-122"/>
              </a:rPr>
              <a:t> &gt;= 1.1*</a:t>
            </a:r>
            <a:r>
              <a:rPr kumimoji="0" lang="en-US" altLang="zh-CN" sz="2000" kern="0" dirty="0" err="1">
                <a:ea typeface="宋体" charset="-122"/>
              </a:rPr>
              <a:t>OldTuple.Grade</a:t>
            </a:r>
            <a:r>
              <a:rPr kumimoji="0" lang="en-US" altLang="zh-CN" sz="2000" kern="0" dirty="0">
                <a:ea typeface="宋体" charset="-122"/>
              </a:rPr>
              <a:t>)</a:t>
            </a:r>
          </a:p>
          <a:p>
            <a:pPr marL="400050" lvl="1" indent="0">
              <a:buNone/>
            </a:pPr>
            <a:r>
              <a:rPr kumimoji="0" lang="en-US" altLang="zh-CN" sz="2000" kern="0" dirty="0">
                <a:ea typeface="宋体" charset="-122"/>
              </a:rPr>
              <a:t>  INSERT INTO SC_U(</a:t>
            </a:r>
            <a:r>
              <a:rPr kumimoji="0" lang="en-US" altLang="zh-CN" sz="2000" kern="0" dirty="0" err="1">
                <a:ea typeface="宋体" charset="-122"/>
              </a:rPr>
              <a:t>Sno,Cno,OldGrade,NewGrade</a:t>
            </a:r>
            <a:r>
              <a:rPr kumimoji="0" lang="en-US" altLang="zh-CN" sz="2000" kern="0" dirty="0">
                <a:ea typeface="宋体" charset="-122"/>
              </a:rPr>
              <a:t>)          </a:t>
            </a:r>
          </a:p>
          <a:p>
            <a:pPr marL="400050" lvl="1" indent="0">
              <a:buNone/>
            </a:pPr>
            <a:r>
              <a:rPr kumimoji="0" lang="en-US" altLang="zh-CN" sz="2000" kern="0" dirty="0">
                <a:ea typeface="宋体" charset="-122"/>
              </a:rPr>
              <a:t>  VALUES(</a:t>
            </a:r>
            <a:r>
              <a:rPr kumimoji="0" lang="en-US" altLang="zh-CN" sz="2000" kern="0" dirty="0" err="1">
                <a:ea typeface="宋体" charset="-122"/>
              </a:rPr>
              <a:t>OldTuple.Sno,OldTuple.Cno,</a:t>
            </a:r>
            <a:r>
              <a:rPr kumimoji="0" lang="en-US" altLang="zh-CN" sz="2000" kern="0" dirty="0" err="1">
                <a:solidFill>
                  <a:srgbClr val="00B050"/>
                </a:solidFill>
                <a:ea typeface="宋体" charset="-122"/>
              </a:rPr>
              <a:t>OldTuple</a:t>
            </a:r>
            <a:r>
              <a:rPr kumimoji="0" lang="en-US" altLang="zh-CN" sz="2000" kern="0" dirty="0" err="1">
                <a:ea typeface="宋体" charset="-122"/>
              </a:rPr>
              <a:t>.Grade</a:t>
            </a:r>
            <a:r>
              <a:rPr kumimoji="0" lang="en-US" altLang="zh-CN" sz="2000" kern="0" dirty="0">
                <a:ea typeface="宋体" charset="-122"/>
              </a:rPr>
              <a:t>,</a:t>
            </a:r>
          </a:p>
          <a:p>
            <a:pPr marL="400050" lvl="1" indent="0">
              <a:buNone/>
            </a:pPr>
            <a:r>
              <a:rPr kumimoji="0" lang="en-US" altLang="zh-CN" sz="2000" kern="0" dirty="0">
                <a:solidFill>
                  <a:srgbClr val="00B050"/>
                </a:solidFill>
                <a:ea typeface="宋体" charset="-122"/>
              </a:rPr>
              <a:t>               </a:t>
            </a:r>
            <a:r>
              <a:rPr kumimoji="0" lang="en-US" altLang="zh-CN" sz="2000" kern="0" dirty="0" err="1">
                <a:solidFill>
                  <a:srgbClr val="00B050"/>
                </a:solidFill>
                <a:ea typeface="宋体" charset="-122"/>
              </a:rPr>
              <a:t>NewTuple</a:t>
            </a:r>
            <a:r>
              <a:rPr kumimoji="0" lang="en-US" altLang="zh-CN" sz="2000" kern="0" dirty="0" err="1">
                <a:ea typeface="宋体" charset="-122"/>
              </a:rPr>
              <a:t>.Grade</a:t>
            </a:r>
            <a:r>
              <a:rPr kumimoji="0" lang="en-US" altLang="zh-CN" sz="2000" kern="0" dirty="0">
                <a:ea typeface="宋体" charset="-122"/>
              </a:rPr>
              <a:t>)</a:t>
            </a:r>
          </a:p>
        </p:txBody>
      </p:sp>
      <p:sp>
        <p:nvSpPr>
          <p:cNvPr id="2" name="矩形 1"/>
          <p:cNvSpPr/>
          <p:nvPr/>
        </p:nvSpPr>
        <p:spPr>
          <a:xfrm>
            <a:off x="5638800" y="5781973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本例完成类似审计功能</a:t>
            </a: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C6AC-12D2-44F7-A2D5-791C13E9757C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第5章</a:t>
            </a: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4A5B-E5EC-4502-AF9C-897177995C78}" type="slidenum">
              <a:rPr lang="en-US" altLang="zh-CN" smtClean="0"/>
              <a:pPr/>
              <a:t>22</a:t>
            </a:fld>
            <a:r>
              <a:rPr lang="en-US" altLang="zh-CN" dirty="0"/>
              <a:t>/51</a:t>
            </a:r>
          </a:p>
        </p:txBody>
      </p:sp>
    </p:spTree>
    <p:extLst>
      <p:ext uri="{BB962C8B-B14F-4D97-AF65-F5344CB8AC3E}">
        <p14:creationId xmlns:p14="http://schemas.microsoft.com/office/powerpoint/2010/main" val="40027101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触发器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B4C5-68E8-46E1-97AE-F2133E83879D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第5章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4A5B-E5EC-4502-AF9C-897177995C78}" type="slidenum">
              <a:rPr lang="en-US" altLang="zh-CN" smtClean="0"/>
              <a:pPr/>
              <a:t>23</a:t>
            </a:fld>
            <a:r>
              <a:rPr lang="en-US" altLang="zh-CN"/>
              <a:t>/51</a:t>
            </a:r>
            <a:endParaRPr lang="en-US" altLang="zh-CN" dirty="0"/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05800" cy="529356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例：为教师表</a:t>
            </a:r>
            <a:r>
              <a:rPr lang="en-US" altLang="zh-CN" sz="2800" dirty="0"/>
              <a:t>Teacher</a:t>
            </a:r>
            <a:r>
              <a:rPr lang="zh-CN" altLang="en-US" sz="2800" dirty="0"/>
              <a:t>定义一个完整性规则触发器，规定</a:t>
            </a:r>
            <a:r>
              <a:rPr lang="zh-CN" altLang="en-US" sz="2800" dirty="0">
                <a:latin typeface="Arial"/>
              </a:rPr>
              <a:t>“</a:t>
            </a:r>
            <a:r>
              <a:rPr lang="zh-CN" altLang="en-US" sz="2800" dirty="0"/>
              <a:t>教授的工资不得低于</a:t>
            </a:r>
            <a:r>
              <a:rPr lang="en-US" altLang="zh-CN" sz="2800" dirty="0"/>
              <a:t>4000</a:t>
            </a:r>
            <a:r>
              <a:rPr lang="zh-CN" altLang="en-US" sz="2800" dirty="0"/>
              <a:t>元，如果低于</a:t>
            </a:r>
            <a:r>
              <a:rPr lang="en-US" altLang="zh-CN" sz="2800" dirty="0"/>
              <a:t>4000</a:t>
            </a:r>
            <a:r>
              <a:rPr lang="zh-CN" altLang="en-US" sz="2800" dirty="0"/>
              <a:t>元，自动改为</a:t>
            </a:r>
            <a:r>
              <a:rPr lang="en-US" altLang="zh-CN" sz="2800" dirty="0"/>
              <a:t>4000</a:t>
            </a:r>
            <a:r>
              <a:rPr lang="zh-CN" altLang="en-US" sz="2800" dirty="0"/>
              <a:t>元</a:t>
            </a:r>
            <a:r>
              <a:rPr lang="zh-CN" altLang="en-US" sz="2800" dirty="0">
                <a:latin typeface="Arial"/>
              </a:rPr>
              <a:t>”</a:t>
            </a:r>
            <a:r>
              <a:rPr lang="zh-CN" altLang="en-US" sz="2800" dirty="0"/>
              <a:t> </a:t>
            </a:r>
            <a:r>
              <a:rPr lang="zh-CN" altLang="en-US" sz="2400" dirty="0"/>
              <a:t>。</a:t>
            </a:r>
            <a:endParaRPr lang="zh-CN" altLang="en-US" sz="2800" dirty="0"/>
          </a:p>
          <a:p>
            <a:r>
              <a:rPr lang="en-US" altLang="zh-CN" sz="2400" dirty="0">
                <a:solidFill>
                  <a:srgbClr val="FF3300"/>
                </a:solidFill>
              </a:rPr>
              <a:t>create trigger</a:t>
            </a:r>
            <a:r>
              <a:rPr lang="en-US" altLang="zh-CN" sz="2400" dirty="0"/>
              <a:t> </a:t>
            </a:r>
            <a:r>
              <a:rPr lang="en-US" altLang="zh-CN" sz="2400" i="1" dirty="0" err="1">
                <a:solidFill>
                  <a:srgbClr val="0000CC"/>
                </a:solidFill>
              </a:rPr>
              <a:t>I_U_Sal</a:t>
            </a:r>
            <a:r>
              <a:rPr lang="en-US" altLang="zh-CN" sz="2400" i="1" dirty="0"/>
              <a:t>  </a:t>
            </a:r>
            <a:r>
              <a:rPr lang="en-US" altLang="zh-CN" sz="2400" dirty="0">
                <a:solidFill>
                  <a:srgbClr val="C00000"/>
                </a:solidFill>
              </a:rPr>
              <a:t>after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chemeClr val="accent5">
                    <a:lumMod val="25000"/>
                  </a:schemeClr>
                </a:solidFill>
              </a:rPr>
              <a:t>insert or update </a:t>
            </a:r>
            <a:r>
              <a:rPr lang="en-US" altLang="zh-CN" sz="2400" dirty="0">
                <a:solidFill>
                  <a:srgbClr val="FF3300"/>
                </a:solidFill>
              </a:rPr>
              <a:t>on</a:t>
            </a:r>
            <a:r>
              <a:rPr lang="en-US" altLang="zh-CN" sz="2400" dirty="0"/>
              <a:t> </a:t>
            </a:r>
            <a:r>
              <a:rPr lang="en-US" altLang="zh-CN" sz="2400" i="1" dirty="0">
                <a:solidFill>
                  <a:srgbClr val="0000CC"/>
                </a:solidFill>
              </a:rPr>
              <a:t>Teacher</a:t>
            </a:r>
            <a:r>
              <a:rPr lang="en-US" altLang="zh-CN" sz="2400" i="1" dirty="0"/>
              <a:t> </a:t>
            </a:r>
            <a:br>
              <a:rPr lang="en-US" altLang="zh-CN" sz="2400" i="1" dirty="0"/>
            </a:br>
            <a:r>
              <a:rPr lang="en-US" altLang="zh-CN" sz="2400" dirty="0"/>
              <a:t>referencing </a:t>
            </a:r>
            <a:r>
              <a:rPr lang="en-US" altLang="zh-CN" sz="2400" dirty="0">
                <a:solidFill>
                  <a:srgbClr val="C00000"/>
                </a:solidFill>
              </a:rPr>
              <a:t>new </a:t>
            </a:r>
            <a:r>
              <a:rPr lang="en-US" altLang="zh-CN" sz="2400" dirty="0"/>
              <a:t>row </a:t>
            </a:r>
            <a:r>
              <a:rPr lang="en-US" altLang="zh-CN" sz="2400" dirty="0">
                <a:solidFill>
                  <a:srgbClr val="C00000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FF00FF"/>
                </a:solidFill>
              </a:rPr>
              <a:t>nrow</a:t>
            </a:r>
            <a:r>
              <a:rPr lang="en-US" altLang="zh-CN" sz="2400" i="1" dirty="0"/>
              <a:t>    </a:t>
            </a:r>
            <a:r>
              <a:rPr lang="en-US" altLang="zh-CN" sz="2400" i="1" dirty="0">
                <a:solidFill>
                  <a:srgbClr val="FF00FF"/>
                </a:solidFill>
              </a:rPr>
              <a:t>//</a:t>
            </a:r>
            <a:r>
              <a:rPr lang="en-US" altLang="zh-CN" sz="2400" i="1" dirty="0" err="1">
                <a:solidFill>
                  <a:srgbClr val="FF00FF"/>
                </a:solidFill>
              </a:rPr>
              <a:t>nrow</a:t>
            </a:r>
            <a:r>
              <a:rPr lang="zh-CN" altLang="en-US" sz="2400" i="1" dirty="0">
                <a:solidFill>
                  <a:srgbClr val="FF00FF"/>
                </a:solidFill>
              </a:rPr>
              <a:t>引用新值</a:t>
            </a:r>
            <a:r>
              <a:rPr lang="zh-CN" altLang="en-US" sz="2400" i="1" dirty="0"/>
              <a:t>                                                               </a:t>
            </a:r>
            <a:r>
              <a:rPr lang="en-US" altLang="zh-CN" sz="2400" dirty="0">
                <a:solidFill>
                  <a:srgbClr val="FF3300"/>
                </a:solidFill>
              </a:rPr>
              <a:t>for each row  </a:t>
            </a:r>
            <a:r>
              <a:rPr lang="en-US" altLang="zh-CN" sz="2400" dirty="0"/>
              <a:t>//</a:t>
            </a:r>
            <a:r>
              <a:rPr lang="zh-CN" altLang="en-US" sz="2400" dirty="0">
                <a:solidFill>
                  <a:srgbClr val="FF3300"/>
                </a:solidFill>
              </a:rPr>
              <a:t>行级</a:t>
            </a:r>
            <a:br>
              <a:rPr lang="zh-CN" altLang="en-US" sz="2400" dirty="0"/>
            </a:br>
            <a:r>
              <a:rPr lang="en-US" altLang="zh-CN" sz="2400" dirty="0">
                <a:solidFill>
                  <a:srgbClr val="FF3300"/>
                </a:solidFill>
              </a:rPr>
              <a:t>when</a:t>
            </a:r>
            <a:r>
              <a:rPr lang="en-US" altLang="zh-CN" sz="2400" dirty="0"/>
              <a:t> (</a:t>
            </a:r>
            <a:r>
              <a:rPr lang="en-US" altLang="zh-CN" sz="2400" i="1" dirty="0" err="1"/>
              <a:t>nrow.Job</a:t>
            </a:r>
            <a:r>
              <a:rPr lang="en-US" altLang="zh-CN" sz="2400" i="1" dirty="0"/>
              <a:t>=‘</a:t>
            </a:r>
            <a:r>
              <a:rPr lang="zh-CN" altLang="en-US" sz="2400" i="1" dirty="0"/>
              <a:t>教授 </a:t>
            </a:r>
            <a:r>
              <a:rPr lang="en-US" altLang="zh-CN" sz="2400" i="1" dirty="0"/>
              <a:t>‘and </a:t>
            </a:r>
            <a:r>
              <a:rPr lang="en-US" altLang="zh-CN" sz="2400" i="1" dirty="0" err="1"/>
              <a:t>nrow.Sal</a:t>
            </a:r>
            <a:r>
              <a:rPr lang="en-US" altLang="zh-CN" sz="2400" i="1" dirty="0"/>
              <a:t> </a:t>
            </a:r>
            <a:r>
              <a:rPr lang="en-US" altLang="zh-CN" sz="2400" dirty="0"/>
              <a:t>&lt; 4000) </a:t>
            </a:r>
            <a:r>
              <a:rPr lang="en-US" altLang="zh-CN" sz="2400" dirty="0">
                <a:solidFill>
                  <a:srgbClr val="FF3300"/>
                </a:solidFill>
              </a:rPr>
              <a:t>//</a:t>
            </a:r>
            <a:r>
              <a:rPr lang="zh-CN" altLang="en-US" sz="2400" dirty="0">
                <a:solidFill>
                  <a:srgbClr val="FF3300"/>
                </a:solidFill>
              </a:rPr>
              <a:t>条件</a:t>
            </a:r>
            <a:br>
              <a:rPr lang="zh-CN" altLang="en-US" sz="2400" dirty="0">
                <a:solidFill>
                  <a:srgbClr val="FF3300"/>
                </a:solidFill>
              </a:rPr>
            </a:br>
            <a:r>
              <a:rPr lang="en-US" altLang="zh-CN" sz="2400" dirty="0">
                <a:solidFill>
                  <a:srgbClr val="800080"/>
                </a:solidFill>
              </a:rPr>
              <a:t>begin </a:t>
            </a:r>
            <a:br>
              <a:rPr lang="en-US" altLang="zh-CN" sz="2400" dirty="0">
                <a:solidFill>
                  <a:srgbClr val="800080"/>
                </a:solidFill>
              </a:rPr>
            </a:br>
            <a:r>
              <a:rPr lang="en-US" altLang="zh-CN" sz="2000" dirty="0">
                <a:solidFill>
                  <a:srgbClr val="800080"/>
                </a:solidFill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  <a:cs typeface="+mn-cs"/>
              </a:rPr>
              <a:t>update</a:t>
            </a:r>
            <a:r>
              <a:rPr lang="en-US" altLang="zh-CN" sz="2400" dirty="0">
                <a:cs typeface="+mn-cs"/>
              </a:rPr>
              <a:t> </a:t>
            </a:r>
            <a:r>
              <a:rPr lang="en-US" altLang="zh-CN" sz="2000" dirty="0"/>
              <a:t>Teacher </a:t>
            </a:r>
          </a:p>
          <a:p>
            <a:pPr marL="400050" lvl="1" indent="0">
              <a:buNone/>
            </a:pPr>
            <a:r>
              <a:rPr lang="en-US" altLang="zh-CN" sz="2000" dirty="0">
                <a:cs typeface="+mn-cs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cs typeface="+mn-cs"/>
              </a:rPr>
              <a:t>set</a:t>
            </a:r>
            <a:r>
              <a:rPr lang="en-US" altLang="zh-CN" sz="2400" dirty="0">
                <a:cs typeface="+mn-cs"/>
              </a:rPr>
              <a:t> </a:t>
            </a:r>
            <a:r>
              <a:rPr lang="en-US" altLang="zh-CN" sz="2000" dirty="0" err="1"/>
              <a:t>sal</a:t>
            </a:r>
            <a:r>
              <a:rPr lang="en-US" altLang="zh-CN" sz="2000" dirty="0"/>
              <a:t> = 4000 </a:t>
            </a:r>
          </a:p>
          <a:p>
            <a:pPr marL="400050" lvl="1" indent="0">
              <a:buNone/>
            </a:pPr>
            <a:r>
              <a:rPr lang="en-US" altLang="zh-CN" sz="2400" dirty="0">
                <a:cs typeface="+mn-cs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cs typeface="+mn-cs"/>
              </a:rPr>
              <a:t>where</a:t>
            </a:r>
            <a:r>
              <a:rPr lang="en-US" altLang="zh-CN" sz="2000" dirty="0"/>
              <a:t> </a:t>
            </a:r>
            <a:r>
              <a:rPr lang="en-US" altLang="zh-CN" sz="2000" dirty="0" err="1"/>
              <a:t>Tno</a:t>
            </a:r>
            <a:r>
              <a:rPr lang="en-US" altLang="zh-CN" sz="2000" dirty="0"/>
              <a:t>=</a:t>
            </a:r>
            <a:r>
              <a:rPr lang="en-US" altLang="zh-CN" sz="2000" dirty="0" err="1"/>
              <a:t>nrow.Tno</a:t>
            </a:r>
            <a:r>
              <a:rPr lang="en-US" altLang="zh-CN" sz="2000" dirty="0"/>
              <a:t>;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>
                <a:solidFill>
                  <a:srgbClr val="800080"/>
                </a:solidFill>
              </a:rPr>
              <a:t>   end</a:t>
            </a:r>
          </a:p>
        </p:txBody>
      </p:sp>
    </p:spTree>
    <p:extLst>
      <p:ext uri="{BB962C8B-B14F-4D97-AF65-F5344CB8AC3E}">
        <p14:creationId xmlns:p14="http://schemas.microsoft.com/office/powerpoint/2010/main" val="30655300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触发器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33400" y="1419225"/>
            <a:ext cx="8229600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0" lang="zh-CN" altLang="en-US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触发事件包括</a:t>
            </a:r>
            <a:r>
              <a:rPr kumimoji="0" lang="en-US" altLang="zh-CN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insert</a:t>
            </a:r>
            <a:r>
              <a:rPr kumimoji="0" lang="en-US" altLang="zh-CN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delete</a:t>
            </a:r>
            <a:r>
              <a:rPr kumimoji="0" lang="en-US" altLang="zh-CN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或</a:t>
            </a:r>
            <a:r>
              <a:rPr kumimoji="0" lang="en-US" altLang="zh-CN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update</a:t>
            </a:r>
          </a:p>
          <a:p>
            <a:r>
              <a:rPr kumimoji="0" lang="zh-CN" altLang="en-US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针对</a:t>
            </a:r>
            <a:r>
              <a:rPr kumimoji="0" lang="en-US" altLang="zh-CN" sz="28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update</a:t>
            </a:r>
            <a:r>
              <a:rPr kumimoji="0" lang="zh-CN" altLang="en-US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的触发器可以</a:t>
            </a:r>
            <a:r>
              <a:rPr kumimoji="0" lang="zh-CN" altLang="en-US" sz="2800" kern="0" dirty="0">
                <a:solidFill>
                  <a:srgbClr val="0000CC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指定具体修改的属性</a:t>
            </a:r>
            <a:endParaRPr kumimoji="0" lang="en-US" altLang="zh-CN" sz="2800" kern="0" dirty="0">
              <a:solidFill>
                <a:srgbClr val="0000CC"/>
              </a:solidFill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  <a:p>
            <a:pPr lvl="1"/>
            <a:r>
              <a:rPr kumimoji="0" lang="en-US" altLang="zh-CN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create trigger </a:t>
            </a:r>
            <a:r>
              <a:rPr kumimoji="0" lang="en-US" altLang="zh-CN" sz="2400" i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overdraft-trigger 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after update of </a:t>
            </a:r>
            <a:r>
              <a:rPr kumimoji="0" lang="en-US" altLang="zh-CN" sz="2400" i="1" kern="0" dirty="0">
                <a:solidFill>
                  <a:srgbClr val="0000CC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balance</a:t>
            </a:r>
            <a:r>
              <a:rPr kumimoji="0" lang="en-US" altLang="zh-CN" sz="2400" i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on</a:t>
            </a:r>
            <a:r>
              <a:rPr kumimoji="0" lang="en-US" altLang="zh-CN" sz="2400" i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account</a:t>
            </a:r>
          </a:p>
          <a:p>
            <a:r>
              <a:rPr kumimoji="0" lang="zh-CN" altLang="en-US" sz="2800" kern="0" dirty="0">
                <a:solidFill>
                  <a:srgbClr val="0000CC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更新前后</a:t>
            </a:r>
            <a:r>
              <a:rPr kumimoji="0" lang="zh-CN" altLang="en-US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的属性值可通过下列方法被</a:t>
            </a:r>
            <a:r>
              <a:rPr kumimoji="0" lang="zh-CN" altLang="en-US" sz="2800" u="sng" kern="0" dirty="0">
                <a:solidFill>
                  <a:srgbClr val="0000CC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引用</a:t>
            </a:r>
            <a:endParaRPr kumimoji="0" lang="en-US" altLang="zh-CN" sz="2800" u="sng" kern="0" dirty="0">
              <a:solidFill>
                <a:srgbClr val="0000CC"/>
              </a:solidFill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  <a:p>
            <a:pPr lvl="1"/>
            <a:r>
              <a:rPr kumimoji="0" lang="en-US" altLang="zh-CN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referencing </a:t>
            </a:r>
            <a:r>
              <a:rPr kumimoji="0" lang="en-US" altLang="zh-CN" sz="2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old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row as</a:t>
            </a:r>
            <a:r>
              <a:rPr kumimoji="0" lang="en-US" altLang="zh-CN" sz="24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: </a:t>
            </a:r>
            <a:r>
              <a:rPr kumimoji="0" lang="zh-CN" altLang="en-US" sz="24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创建一个变量，存储一个已更新或删除的行，</a:t>
            </a:r>
            <a:r>
              <a:rPr kumimoji="0" lang="zh-CN" altLang="en-US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对</a:t>
            </a:r>
            <a:r>
              <a:rPr kumimoji="0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删除和修改</a:t>
            </a:r>
            <a:r>
              <a:rPr kumimoji="0" lang="zh-CN" altLang="en-US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有效</a:t>
            </a:r>
            <a:endParaRPr kumimoji="0" lang="en-US" altLang="zh-CN" sz="2400" b="1" kern="0" dirty="0"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  <a:p>
            <a:pPr lvl="1"/>
            <a:r>
              <a:rPr kumimoji="0" lang="en-US" altLang="zh-CN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referencing </a:t>
            </a:r>
            <a:r>
              <a:rPr kumimoji="0" lang="en-US" altLang="zh-CN" sz="2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new</a:t>
            </a:r>
            <a:r>
              <a:rPr kumimoji="0" lang="en-US" altLang="zh-CN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row as </a:t>
            </a:r>
            <a:r>
              <a:rPr kumimoji="0" lang="en-US" altLang="zh-CN" sz="24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: </a:t>
            </a:r>
            <a:r>
              <a:rPr kumimoji="0" lang="zh-CN" altLang="en-US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对</a:t>
            </a:r>
            <a:r>
              <a:rPr kumimoji="0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插入和修改</a:t>
            </a:r>
            <a:r>
              <a:rPr kumimoji="0" lang="zh-CN" altLang="en-US" sz="2400" b="1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有效</a:t>
            </a:r>
            <a:endParaRPr kumimoji="0" lang="en-US" altLang="zh-CN" sz="2400" b="1" kern="0" dirty="0"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</a:pPr>
            <a:endParaRPr kumimoji="0" lang="en-US" altLang="zh-CN" sz="2800" kern="0" dirty="0"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kumimoji="0" lang="zh-CN" altLang="en-US" sz="2800" b="1" kern="0" dirty="0"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0FC6B-B9D6-4A7E-B496-A072453D6802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第5章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4A5B-E5EC-4502-AF9C-897177995C78}" type="slidenum">
              <a:rPr lang="en-US" altLang="zh-CN" smtClean="0"/>
              <a:pPr/>
              <a:t>24</a:t>
            </a:fld>
            <a:r>
              <a:rPr lang="en-US" altLang="zh-CN"/>
              <a:t>/51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309255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触发器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610600" cy="4684713"/>
          </a:xfrm>
        </p:spPr>
        <p:txBody>
          <a:bodyPr/>
          <a:lstStyle/>
          <a:p>
            <a:r>
              <a:rPr lang="zh-CN" altLang="en-US" sz="2800" dirty="0"/>
              <a:t>补充例：</a:t>
            </a:r>
            <a:r>
              <a:rPr lang="en-US" altLang="zh-CN" sz="2800" dirty="0"/>
              <a:t>warehouse </a:t>
            </a:r>
            <a:r>
              <a:rPr lang="zh-CN" altLang="en-US" sz="2800" dirty="0"/>
              <a:t>中</a:t>
            </a:r>
            <a:r>
              <a:rPr lang="en-US" altLang="zh-CN" sz="2800" dirty="0"/>
              <a:t>4</a:t>
            </a:r>
            <a:r>
              <a:rPr lang="zh-CN" altLang="en-US" sz="2800" dirty="0"/>
              <a:t>张表</a:t>
            </a:r>
          </a:p>
          <a:p>
            <a:pPr lvl="1"/>
            <a:r>
              <a:rPr lang="en-US" altLang="zh-CN" dirty="0"/>
              <a:t>inventory(item, level):  </a:t>
            </a:r>
            <a:r>
              <a:rPr lang="zh-CN" altLang="en-US" dirty="0"/>
              <a:t>仓库中每种物品的</a:t>
            </a:r>
            <a:r>
              <a:rPr lang="zh-CN" altLang="en-US" u="sng" dirty="0">
                <a:solidFill>
                  <a:srgbClr val="0000FF"/>
                </a:solidFill>
              </a:rPr>
              <a:t>库存量</a:t>
            </a:r>
          </a:p>
          <a:p>
            <a:pPr lvl="1"/>
            <a:r>
              <a:rPr lang="en-US" altLang="zh-CN" dirty="0" err="1"/>
              <a:t>minlevel</a:t>
            </a:r>
            <a:r>
              <a:rPr lang="en-US" altLang="zh-CN" dirty="0"/>
              <a:t>(item, level) :  </a:t>
            </a:r>
            <a:r>
              <a:rPr lang="zh-CN" altLang="en-US" dirty="0"/>
              <a:t>每种物品的</a:t>
            </a:r>
            <a:r>
              <a:rPr lang="zh-CN" altLang="en-US" u="sng" dirty="0">
                <a:solidFill>
                  <a:srgbClr val="0000FF"/>
                </a:solidFill>
              </a:rPr>
              <a:t>最小库存量</a:t>
            </a:r>
          </a:p>
          <a:p>
            <a:pPr lvl="1"/>
            <a:r>
              <a:rPr lang="en-US" altLang="zh-CN" dirty="0"/>
              <a:t>reorder(item, amount):  </a:t>
            </a:r>
            <a:r>
              <a:rPr lang="zh-CN" altLang="en-US" dirty="0"/>
              <a:t>每种物品一次</a:t>
            </a:r>
            <a:r>
              <a:rPr lang="zh-CN" altLang="en-US" dirty="0">
                <a:solidFill>
                  <a:srgbClr val="0000FF"/>
                </a:solidFill>
              </a:rPr>
              <a:t>订购</a:t>
            </a:r>
            <a:r>
              <a:rPr lang="zh-CN" altLang="en-US" u="sng" dirty="0"/>
              <a:t>多少</a:t>
            </a:r>
            <a:r>
              <a:rPr lang="zh-CN" altLang="en-US" dirty="0"/>
              <a:t>（重新订货量）</a:t>
            </a:r>
          </a:p>
          <a:p>
            <a:pPr lvl="1"/>
            <a:r>
              <a:rPr lang="en-US" altLang="zh-CN" dirty="0"/>
              <a:t>orders(item, amount)</a:t>
            </a:r>
            <a:r>
              <a:rPr lang="zh-CN" altLang="en-US" dirty="0"/>
              <a:t>：所下订单</a:t>
            </a:r>
          </a:p>
          <a:p>
            <a:pPr lvl="1"/>
            <a:r>
              <a:rPr lang="zh-CN" altLang="en-US" dirty="0"/>
              <a:t>当</a:t>
            </a:r>
            <a:r>
              <a:rPr lang="zh-CN" altLang="en-US" u="sng" dirty="0"/>
              <a:t>库存量</a:t>
            </a:r>
            <a:r>
              <a:rPr lang="zh-CN" altLang="en-US" u="sng" dirty="0">
                <a:solidFill>
                  <a:srgbClr val="0000CC"/>
                </a:solidFill>
              </a:rPr>
              <a:t>下降到低于</a:t>
            </a:r>
            <a:r>
              <a:rPr lang="zh-CN" altLang="en-US" u="sng" dirty="0"/>
              <a:t>最小库存量</a:t>
            </a:r>
            <a:r>
              <a:rPr lang="zh-CN" altLang="en-US" dirty="0"/>
              <a:t>后，自动按照</a:t>
            </a:r>
            <a:r>
              <a:rPr lang="zh-CN" altLang="en-US" dirty="0">
                <a:solidFill>
                  <a:srgbClr val="0000CC"/>
                </a:solidFill>
              </a:rPr>
              <a:t>重新订货量</a:t>
            </a:r>
            <a:r>
              <a:rPr lang="zh-CN" altLang="en-US" dirty="0"/>
              <a:t>订货。</a:t>
            </a:r>
            <a:endParaRPr lang="zh-CN" altLang="en-US" sz="2400" dirty="0"/>
          </a:p>
          <a:p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8097-7D41-45AC-82CA-75FB412936C0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第5章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4A5B-E5EC-4502-AF9C-897177995C78}" type="slidenum">
              <a:rPr lang="en-US" altLang="zh-CN" smtClean="0"/>
              <a:pPr/>
              <a:t>25</a:t>
            </a:fld>
            <a:r>
              <a:rPr lang="en-US" altLang="zh-CN"/>
              <a:t>/51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6202490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触发器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FF3300"/>
                </a:solidFill>
              </a:rPr>
              <a:t>create</a:t>
            </a:r>
            <a:r>
              <a:rPr lang="en-US" altLang="zh-CN" sz="2000" b="1" dirty="0">
                <a:solidFill>
                  <a:srgbClr val="0000FF"/>
                </a:solidFill>
              </a:rPr>
              <a:t> trigger </a:t>
            </a:r>
            <a:r>
              <a:rPr lang="en-US" altLang="zh-CN" sz="2000" i="1" dirty="0"/>
              <a:t>reorder-trigger</a:t>
            </a:r>
            <a:r>
              <a:rPr lang="en-US" altLang="zh-CN" sz="2000" i="1" dirty="0">
                <a:solidFill>
                  <a:srgbClr val="0000FF"/>
                </a:solidFill>
              </a:rPr>
              <a:t> </a:t>
            </a:r>
            <a:r>
              <a:rPr lang="en-US" altLang="zh-CN" sz="2000" b="1" dirty="0">
                <a:solidFill>
                  <a:srgbClr val="FF3300"/>
                </a:solidFill>
              </a:rPr>
              <a:t>after update</a:t>
            </a:r>
            <a:r>
              <a:rPr lang="en-US" altLang="zh-CN" sz="2000" b="1" dirty="0">
                <a:solidFill>
                  <a:srgbClr val="0000FF"/>
                </a:solidFill>
              </a:rPr>
              <a:t> of </a:t>
            </a:r>
            <a:r>
              <a:rPr lang="en-US" altLang="zh-CN" sz="2000" i="1" dirty="0">
                <a:solidFill>
                  <a:srgbClr val="0000FF"/>
                </a:solidFill>
              </a:rPr>
              <a:t>level </a:t>
            </a:r>
            <a:r>
              <a:rPr lang="en-US" altLang="zh-CN" sz="2000" b="1" dirty="0">
                <a:solidFill>
                  <a:srgbClr val="0000FF"/>
                </a:solidFill>
              </a:rPr>
              <a:t>on </a:t>
            </a:r>
            <a:r>
              <a:rPr lang="en-US" altLang="zh-CN" sz="2000" i="1" dirty="0">
                <a:solidFill>
                  <a:srgbClr val="C00000"/>
                </a:solidFill>
              </a:rPr>
              <a:t>inventory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referencing </a:t>
            </a:r>
            <a:r>
              <a:rPr lang="en-US" altLang="zh-CN" sz="2000" b="1" dirty="0">
                <a:solidFill>
                  <a:srgbClr val="C00000"/>
                </a:solidFill>
              </a:rPr>
              <a:t>old</a:t>
            </a:r>
            <a:r>
              <a:rPr lang="en-US" altLang="zh-CN" sz="2000" b="1" dirty="0">
                <a:solidFill>
                  <a:srgbClr val="0000FF"/>
                </a:solidFill>
              </a:rPr>
              <a:t> row as </a:t>
            </a:r>
            <a:r>
              <a:rPr lang="en-US" altLang="zh-CN" sz="2000" i="1" dirty="0" err="1">
                <a:solidFill>
                  <a:srgbClr val="0000FF"/>
                </a:solidFill>
              </a:rPr>
              <a:t>orow</a:t>
            </a:r>
            <a:r>
              <a:rPr lang="en-US" altLang="zh-CN" sz="2000" dirty="0">
                <a:solidFill>
                  <a:srgbClr val="0000FF"/>
                </a:solidFill>
              </a:rPr>
              <a:t>, </a:t>
            </a:r>
            <a:r>
              <a:rPr lang="en-US" altLang="zh-CN" sz="2000" b="1" dirty="0">
                <a:solidFill>
                  <a:srgbClr val="C00000"/>
                </a:solidFill>
              </a:rPr>
              <a:t>new</a:t>
            </a:r>
            <a:r>
              <a:rPr lang="en-US" altLang="zh-CN" sz="2000" b="1" dirty="0">
                <a:solidFill>
                  <a:srgbClr val="0000FF"/>
                </a:solidFill>
              </a:rPr>
              <a:t> row as </a:t>
            </a:r>
            <a:r>
              <a:rPr lang="en-US" altLang="zh-CN" sz="2000" i="1" dirty="0" err="1">
                <a:solidFill>
                  <a:srgbClr val="0000FF"/>
                </a:solidFill>
              </a:rPr>
              <a:t>nrow</a:t>
            </a:r>
            <a:endParaRPr lang="en-US" altLang="zh-CN" sz="2000" i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for each row 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    when </a:t>
            </a:r>
            <a:r>
              <a:rPr lang="en-US" altLang="zh-CN" sz="2000" i="1" dirty="0" err="1">
                <a:solidFill>
                  <a:srgbClr val="0000FF"/>
                </a:solidFill>
              </a:rPr>
              <a:t>nrow.level</a:t>
            </a:r>
            <a:r>
              <a:rPr lang="en-US" altLang="zh-CN" sz="2000" i="1" dirty="0">
                <a:solidFill>
                  <a:srgbClr val="0000FF"/>
                </a:solidFill>
              </a:rPr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&lt; = </a:t>
            </a:r>
            <a:r>
              <a:rPr lang="en-US" altLang="zh-CN" sz="2000" dirty="0"/>
              <a:t>(</a:t>
            </a:r>
            <a:r>
              <a:rPr lang="en-US" altLang="zh-CN" sz="2000" b="1" dirty="0"/>
              <a:t>select </a:t>
            </a:r>
            <a:r>
              <a:rPr lang="en-US" altLang="zh-CN" sz="2000" i="1" dirty="0"/>
              <a:t>level  </a:t>
            </a:r>
            <a:r>
              <a:rPr lang="en-US" altLang="zh-CN" sz="2000" dirty="0">
                <a:solidFill>
                  <a:srgbClr val="FF3300"/>
                </a:solidFill>
              </a:rPr>
              <a:t>//</a:t>
            </a:r>
            <a:r>
              <a:rPr lang="zh-CN" altLang="en-US" sz="2000" dirty="0">
                <a:solidFill>
                  <a:srgbClr val="FF3300"/>
                </a:solidFill>
              </a:rPr>
              <a:t>新库存少于报警值</a:t>
            </a:r>
            <a:endParaRPr lang="en-US" altLang="zh-CN" sz="2000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i="1" dirty="0"/>
              <a:t>			                  </a:t>
            </a:r>
            <a:r>
              <a:rPr lang="en-US" altLang="zh-CN" sz="2000" b="1" dirty="0"/>
              <a:t>from </a:t>
            </a:r>
            <a:r>
              <a:rPr lang="en-US" altLang="zh-CN" sz="2000" i="1" dirty="0" err="1"/>
              <a:t>minlevel</a:t>
            </a:r>
            <a:endParaRPr lang="en-US" altLang="zh-CN" sz="2000" i="1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i="1" dirty="0"/>
              <a:t>			                  </a:t>
            </a:r>
            <a:r>
              <a:rPr lang="en-US" altLang="zh-CN" sz="2000" b="1" dirty="0"/>
              <a:t>where </a:t>
            </a:r>
            <a:r>
              <a:rPr lang="en-US" altLang="zh-CN" sz="2000" i="1" dirty="0" err="1">
                <a:solidFill>
                  <a:schemeClr val="accent1">
                    <a:lumMod val="50000"/>
                  </a:schemeClr>
                </a:solidFill>
              </a:rPr>
              <a:t>minlevel.item</a:t>
            </a:r>
            <a:r>
              <a:rPr lang="en-US" altLang="zh-CN" sz="2000" i="1" dirty="0">
                <a:solidFill>
                  <a:schemeClr val="accent1">
                    <a:lumMod val="50000"/>
                  </a:schemeClr>
                </a:solidFill>
              </a:rPr>
              <a:t> = </a:t>
            </a:r>
            <a:r>
              <a:rPr lang="en-US" altLang="zh-CN" sz="2000" i="1" dirty="0" err="1">
                <a:solidFill>
                  <a:schemeClr val="accent1">
                    <a:lumMod val="50000"/>
                  </a:schemeClr>
                </a:solidFill>
              </a:rPr>
              <a:t>orow.item</a:t>
            </a:r>
            <a:r>
              <a:rPr lang="en-US" altLang="zh-CN" sz="2000" dirty="0"/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                and </a:t>
            </a:r>
            <a:r>
              <a:rPr lang="en-US" altLang="zh-CN" sz="2000" i="1" dirty="0" err="1">
                <a:solidFill>
                  <a:srgbClr val="0000FF"/>
                </a:solidFill>
              </a:rPr>
              <a:t>orow.level</a:t>
            </a:r>
            <a:r>
              <a:rPr lang="en-US" altLang="zh-CN" sz="2000" i="1" dirty="0">
                <a:solidFill>
                  <a:srgbClr val="0000FF"/>
                </a:solidFill>
              </a:rPr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&gt; </a:t>
            </a:r>
            <a:r>
              <a:rPr lang="en-US" altLang="zh-CN" sz="2000" dirty="0"/>
              <a:t>(</a:t>
            </a:r>
            <a:r>
              <a:rPr lang="en-US" altLang="zh-CN" sz="2000" b="1" dirty="0"/>
              <a:t>select </a:t>
            </a:r>
            <a:r>
              <a:rPr lang="en-US" altLang="zh-CN" sz="2000" dirty="0"/>
              <a:t>level </a:t>
            </a:r>
            <a:r>
              <a:rPr lang="en-US" altLang="zh-CN" sz="2000" dirty="0">
                <a:solidFill>
                  <a:srgbClr val="FF00FF"/>
                </a:solidFill>
              </a:rPr>
              <a:t>//</a:t>
            </a:r>
            <a:r>
              <a:rPr lang="zh-CN" altLang="en-US" sz="2000" dirty="0">
                <a:solidFill>
                  <a:srgbClr val="FF00FF"/>
                </a:solidFill>
              </a:rPr>
              <a:t>原库存大于报警值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000" i="1" dirty="0"/>
              <a:t>			                       </a:t>
            </a:r>
            <a:r>
              <a:rPr lang="en-US" altLang="zh-CN" sz="2000" b="1" dirty="0"/>
              <a:t>from </a:t>
            </a:r>
            <a:r>
              <a:rPr lang="en-US" altLang="zh-CN" sz="2000" i="1" dirty="0" err="1"/>
              <a:t>minlevel</a:t>
            </a:r>
            <a:endParaRPr lang="en-US" altLang="zh-CN" sz="2000" i="1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i="1" dirty="0"/>
              <a:t>		                                    </a:t>
            </a:r>
            <a:r>
              <a:rPr lang="en-US" altLang="zh-CN" sz="2000" b="1" dirty="0"/>
              <a:t>where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sz="2000" i="1" dirty="0" err="1">
                <a:solidFill>
                  <a:schemeClr val="accent1">
                    <a:lumMod val="50000"/>
                  </a:schemeClr>
                </a:solidFill>
              </a:rPr>
              <a:t>minlevel.item</a:t>
            </a:r>
            <a:r>
              <a:rPr lang="en-US" altLang="zh-CN" sz="2000" i="1" dirty="0">
                <a:solidFill>
                  <a:schemeClr val="accent1">
                    <a:lumMod val="50000"/>
                  </a:schemeClr>
                </a:solidFill>
              </a:rPr>
              <a:t> = </a:t>
            </a:r>
            <a:r>
              <a:rPr lang="en-US" altLang="zh-CN" sz="2000" i="1" dirty="0" err="1">
                <a:solidFill>
                  <a:schemeClr val="accent1">
                    <a:lumMod val="50000"/>
                  </a:schemeClr>
                </a:solidFill>
              </a:rPr>
              <a:t>orow.item</a:t>
            </a:r>
            <a:r>
              <a:rPr lang="en-US" altLang="zh-CN" sz="2000" dirty="0"/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begin </a:t>
            </a:r>
            <a:r>
              <a:rPr lang="en-US" altLang="zh-CN" sz="2000" b="1" dirty="0">
                <a:solidFill>
                  <a:srgbClr val="FF3300"/>
                </a:solidFill>
              </a:rPr>
              <a:t>//</a:t>
            </a:r>
            <a:r>
              <a:rPr lang="zh-CN" altLang="en-US" sz="2000" b="1" dirty="0">
                <a:solidFill>
                  <a:srgbClr val="FF3300"/>
                </a:solidFill>
              </a:rPr>
              <a:t>触发器动作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000" i="1" dirty="0">
                <a:solidFill>
                  <a:srgbClr val="FF3300"/>
                </a:solidFill>
              </a:rPr>
              <a:t>	</a:t>
            </a:r>
            <a:r>
              <a:rPr lang="zh-CN" altLang="en-US" sz="2000" i="1" dirty="0">
                <a:solidFill>
                  <a:srgbClr val="0000FF"/>
                </a:solidFill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</a:rPr>
              <a:t>insert into </a:t>
            </a:r>
            <a:r>
              <a:rPr lang="en-US" altLang="zh-CN" sz="2000" i="1" dirty="0">
                <a:solidFill>
                  <a:srgbClr val="800080"/>
                </a:solidFill>
              </a:rPr>
              <a:t>orders</a:t>
            </a:r>
            <a:r>
              <a:rPr lang="en-US" altLang="zh-CN" sz="2000" i="1" dirty="0">
                <a:solidFill>
                  <a:srgbClr val="0000FF"/>
                </a:solidFill>
              </a:rPr>
              <a:t>      </a:t>
            </a:r>
            <a:r>
              <a:rPr lang="en-US" altLang="zh-CN" sz="2000" dirty="0">
                <a:solidFill>
                  <a:srgbClr val="FF3300"/>
                </a:solidFill>
              </a:rPr>
              <a:t>//</a:t>
            </a:r>
            <a:r>
              <a:rPr lang="zh-CN" altLang="en-US" sz="2000" dirty="0">
                <a:solidFill>
                  <a:srgbClr val="FF3300"/>
                </a:solidFill>
              </a:rPr>
              <a:t>在</a:t>
            </a:r>
            <a:r>
              <a:rPr lang="zh-CN" altLang="en-US" sz="2000" u="sng" dirty="0">
                <a:solidFill>
                  <a:srgbClr val="FF3300"/>
                </a:solidFill>
              </a:rPr>
              <a:t>订购单</a:t>
            </a:r>
            <a:r>
              <a:rPr lang="zh-CN" altLang="en-US" sz="2000" dirty="0">
                <a:solidFill>
                  <a:srgbClr val="FF3300"/>
                </a:solidFill>
              </a:rPr>
              <a:t>中写入要新购的 项目 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3300"/>
                </a:solidFill>
              </a:rPr>
              <a:t> 数量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000" i="1" dirty="0">
                <a:solidFill>
                  <a:srgbClr val="0000FF"/>
                </a:solidFill>
              </a:rPr>
              <a:t>		        </a:t>
            </a:r>
            <a:r>
              <a:rPr lang="en-US" altLang="zh-CN" sz="2000" dirty="0">
                <a:solidFill>
                  <a:srgbClr val="0000FF"/>
                </a:solidFill>
              </a:rPr>
              <a:t>(</a:t>
            </a:r>
            <a:r>
              <a:rPr lang="en-US" altLang="zh-CN" sz="2000" b="1" dirty="0"/>
              <a:t>select </a:t>
            </a:r>
            <a:r>
              <a:rPr lang="en-US" altLang="zh-CN" sz="2000" i="1" dirty="0"/>
              <a:t>item, amount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dirty="0"/>
              <a:t>		          </a:t>
            </a:r>
            <a:r>
              <a:rPr lang="en-US" altLang="zh-CN" sz="2000" b="1" dirty="0"/>
              <a:t>from </a:t>
            </a:r>
            <a:r>
              <a:rPr lang="en-US" altLang="zh-CN" sz="2000" i="1" dirty="0"/>
              <a:t>reorder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dirty="0"/>
              <a:t>		          </a:t>
            </a:r>
            <a:r>
              <a:rPr lang="en-US" altLang="zh-CN" sz="2000" b="1" dirty="0"/>
              <a:t>where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sz="2000" i="1" dirty="0" err="1">
                <a:solidFill>
                  <a:schemeClr val="accent1">
                    <a:lumMod val="50000"/>
                  </a:schemeClr>
                </a:solidFill>
              </a:rPr>
              <a:t>reorder.item</a:t>
            </a:r>
            <a:r>
              <a:rPr lang="en-US" altLang="zh-CN" sz="2000" i="1" dirty="0">
                <a:solidFill>
                  <a:schemeClr val="accent1">
                    <a:lumMod val="50000"/>
                  </a:schemeClr>
                </a:solidFill>
              </a:rPr>
              <a:t> =</a:t>
            </a:r>
            <a:r>
              <a:rPr lang="en-US" altLang="zh-CN" sz="2000" i="1" dirty="0"/>
              <a:t> </a:t>
            </a:r>
            <a:r>
              <a:rPr lang="en-US" altLang="zh-CN" sz="2000" i="1" dirty="0" err="1">
                <a:solidFill>
                  <a:srgbClr val="C00000"/>
                </a:solidFill>
              </a:rPr>
              <a:t>orow.item</a:t>
            </a:r>
            <a:r>
              <a:rPr lang="en-US" altLang="zh-CN" sz="2000" dirty="0">
                <a:solidFill>
                  <a:srgbClr val="0000FF"/>
                </a:solidFill>
              </a:rPr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end</a:t>
            </a:r>
            <a:endParaRPr lang="zh-CN" altLang="en-US" sz="2000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3EFB-B5F7-49F7-B889-6AEF6DA99F6F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第5章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4A5B-E5EC-4502-AF9C-897177995C78}" type="slidenum">
              <a:rPr lang="en-US" altLang="zh-CN" smtClean="0"/>
              <a:pPr/>
              <a:t>26</a:t>
            </a:fld>
            <a:r>
              <a:rPr lang="en-US" altLang="zh-CN"/>
              <a:t>/51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974159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触发器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33400" y="1343025"/>
            <a:ext cx="8382000" cy="536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0" lang="zh-CN" altLang="en-US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触发器可在某事件发生之前激活</a:t>
            </a:r>
            <a:r>
              <a:rPr kumimoji="0" lang="en-US" altLang="zh-CN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这相当于约束</a:t>
            </a:r>
            <a:r>
              <a:rPr kumimoji="0" lang="en-US" altLang="zh-CN" sz="28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kumimoji="0" lang="zh-CN" altLang="en-US" sz="24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例如，如果新插入数据的电话号码为空格，则将</a:t>
            </a:r>
            <a:r>
              <a:rPr kumimoji="0" lang="zh-CN" altLang="en-US" sz="2400" kern="0" dirty="0">
                <a:solidFill>
                  <a:srgbClr val="0000CC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空格</a:t>
            </a:r>
            <a:r>
              <a:rPr kumimoji="0" lang="zh-CN" altLang="en-US" sz="24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改成</a:t>
            </a:r>
            <a:r>
              <a:rPr kumimoji="0" lang="en-US" altLang="zh-CN" sz="2400" kern="0" dirty="0">
                <a:solidFill>
                  <a:srgbClr val="0000CC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null</a:t>
            </a:r>
            <a:r>
              <a:rPr kumimoji="0" lang="en-US" altLang="zh-CN" sz="2400" kern="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.</a:t>
            </a:r>
          </a:p>
          <a:p>
            <a:pPr lvl="1"/>
            <a:endParaRPr kumimoji="0" lang="en-US" altLang="zh-CN" sz="2800" b="1" kern="0" dirty="0"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kumimoji="0" lang="en-US" altLang="zh-CN" sz="2800" kern="0" dirty="0">
                <a:ea typeface="宋体" charset="-122"/>
                <a:cs typeface="Times New Roman" panose="02020603050405020304" pitchFamily="18" charset="0"/>
              </a:rPr>
              <a:t>   create trigger </a:t>
            </a:r>
            <a:r>
              <a:rPr kumimoji="0" lang="en-US" altLang="zh-CN" sz="2800" i="1" kern="0" dirty="0" err="1">
                <a:ea typeface="宋体" charset="-122"/>
                <a:cs typeface="Times New Roman" panose="02020603050405020304" pitchFamily="18" charset="0"/>
              </a:rPr>
              <a:t>setnull</a:t>
            </a:r>
            <a:r>
              <a:rPr kumimoji="0" lang="en-US" altLang="zh-CN" sz="2800" i="1" kern="0" dirty="0">
                <a:ea typeface="宋体" charset="-122"/>
                <a:cs typeface="Times New Roman" panose="02020603050405020304" pitchFamily="18" charset="0"/>
              </a:rPr>
              <a:t>-trigger </a:t>
            </a:r>
            <a:r>
              <a:rPr kumimoji="0" lang="en-US" altLang="zh-CN" sz="2800" kern="0" dirty="0">
                <a:solidFill>
                  <a:srgbClr val="C00000"/>
                </a:solidFill>
                <a:ea typeface="宋体" charset="-122"/>
                <a:cs typeface="Times New Roman" panose="02020603050405020304" pitchFamily="18" charset="0"/>
              </a:rPr>
              <a:t>before</a:t>
            </a:r>
            <a:r>
              <a:rPr kumimoji="0" lang="en-US" altLang="zh-CN" sz="2800" kern="0" dirty="0">
                <a:ea typeface="宋体" charset="-122"/>
                <a:cs typeface="Times New Roman" panose="02020603050405020304" pitchFamily="18" charset="0"/>
              </a:rPr>
              <a:t> update on r referencing </a:t>
            </a:r>
            <a:r>
              <a:rPr kumimoji="0" lang="en-US" altLang="zh-CN" sz="2800" kern="0" dirty="0">
                <a:solidFill>
                  <a:srgbClr val="0000FF"/>
                </a:solidFill>
                <a:ea typeface="宋体" charset="-122"/>
                <a:cs typeface="Times New Roman" panose="02020603050405020304" pitchFamily="18" charset="0"/>
              </a:rPr>
              <a:t>new row </a:t>
            </a:r>
            <a:r>
              <a:rPr kumimoji="0" lang="en-US" altLang="zh-CN" sz="2800" kern="0" dirty="0">
                <a:ea typeface="宋体" charset="-122"/>
                <a:cs typeface="Times New Roman" panose="02020603050405020304" pitchFamily="18" charset="0"/>
              </a:rPr>
              <a:t>as </a:t>
            </a:r>
            <a:r>
              <a:rPr kumimoji="0" lang="en-US" altLang="zh-CN" sz="2800" i="1" kern="0" dirty="0" err="1">
                <a:ea typeface="宋体" charset="-122"/>
                <a:cs typeface="Times New Roman" panose="02020603050405020304" pitchFamily="18" charset="0"/>
              </a:rPr>
              <a:t>nrow</a:t>
            </a:r>
            <a:r>
              <a:rPr kumimoji="0" lang="en-US" altLang="zh-CN" sz="2800" i="1" kern="0" dirty="0">
                <a:ea typeface="宋体" charset="-122"/>
                <a:cs typeface="Times New Roman" panose="02020603050405020304" pitchFamily="18" charset="0"/>
              </a:rPr>
              <a:t> </a:t>
            </a:r>
            <a:br>
              <a:rPr kumimoji="0" lang="en-US" altLang="zh-CN" sz="2800" i="1" kern="0" dirty="0">
                <a:ea typeface="宋体" charset="-122"/>
                <a:cs typeface="Times New Roman" panose="02020603050405020304" pitchFamily="18" charset="0"/>
              </a:rPr>
            </a:br>
            <a:r>
              <a:rPr kumimoji="0" lang="en-US" altLang="zh-CN" sz="2800" kern="0" dirty="0">
                <a:ea typeface="宋体" charset="-122"/>
                <a:cs typeface="Times New Roman" panose="02020603050405020304" pitchFamily="18" charset="0"/>
              </a:rPr>
              <a:t>for each row</a:t>
            </a:r>
            <a:br>
              <a:rPr kumimoji="0" lang="en-US" altLang="zh-CN" sz="2800" kern="0" dirty="0">
                <a:ea typeface="宋体" charset="-122"/>
                <a:cs typeface="Times New Roman" panose="02020603050405020304" pitchFamily="18" charset="0"/>
              </a:rPr>
            </a:br>
            <a:r>
              <a:rPr kumimoji="0" lang="en-US" altLang="zh-CN" sz="2800" kern="0" dirty="0">
                <a:ea typeface="宋体" charset="-122"/>
                <a:cs typeface="Times New Roman" panose="02020603050405020304" pitchFamily="18" charset="0"/>
              </a:rPr>
              <a:t>when </a:t>
            </a:r>
            <a:r>
              <a:rPr kumimoji="0" lang="en-US" altLang="zh-CN" sz="2800" i="1" kern="0" dirty="0" err="1">
                <a:ea typeface="宋体" charset="-122"/>
                <a:cs typeface="Times New Roman" panose="02020603050405020304" pitchFamily="18" charset="0"/>
              </a:rPr>
              <a:t>nrow.phone</a:t>
            </a:r>
            <a:r>
              <a:rPr kumimoji="0" lang="en-US" altLang="zh-CN" sz="2800" i="1" kern="0" dirty="0">
                <a:ea typeface="宋体" charset="-122"/>
                <a:cs typeface="Times New Roman" panose="02020603050405020304" pitchFamily="18" charset="0"/>
              </a:rPr>
              <a:t>-number = ‘ ‘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kumimoji="0" lang="en-US" altLang="zh-CN" sz="2800" kern="0" dirty="0">
                <a:ea typeface="宋体" charset="-122"/>
                <a:cs typeface="Times New Roman" panose="02020603050405020304" pitchFamily="18" charset="0"/>
              </a:rPr>
              <a:t>   begin</a:t>
            </a:r>
            <a:br>
              <a:rPr kumimoji="0" lang="en-US" altLang="zh-CN" sz="2800" i="1" kern="0" dirty="0">
                <a:ea typeface="宋体" charset="-122"/>
                <a:cs typeface="Times New Roman" panose="02020603050405020304" pitchFamily="18" charset="0"/>
              </a:rPr>
            </a:br>
            <a:r>
              <a:rPr kumimoji="0" lang="en-US" altLang="zh-CN" sz="2800" kern="0" dirty="0">
                <a:ea typeface="宋体" charset="-122"/>
                <a:cs typeface="Times New Roman" panose="02020603050405020304" pitchFamily="18" charset="0"/>
              </a:rPr>
              <a:t>   set </a:t>
            </a:r>
            <a:r>
              <a:rPr kumimoji="0" lang="en-US" altLang="zh-CN" sz="2800" i="1" kern="0" dirty="0" err="1">
                <a:ea typeface="宋体" charset="-122"/>
                <a:cs typeface="Times New Roman" panose="02020603050405020304" pitchFamily="18" charset="0"/>
              </a:rPr>
              <a:t>nrow.phone</a:t>
            </a:r>
            <a:r>
              <a:rPr kumimoji="0" lang="en-US" altLang="zh-CN" sz="2800" i="1" kern="0" dirty="0">
                <a:ea typeface="宋体" charset="-122"/>
                <a:cs typeface="Times New Roman" panose="02020603050405020304" pitchFamily="18" charset="0"/>
              </a:rPr>
              <a:t>-number </a:t>
            </a:r>
            <a:r>
              <a:rPr kumimoji="0" lang="en-US" altLang="zh-CN" sz="2800" kern="0" dirty="0">
                <a:ea typeface="宋体" charset="-122"/>
                <a:cs typeface="Times New Roman" panose="02020603050405020304" pitchFamily="18" charset="0"/>
              </a:rPr>
              <a:t>= null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zh-CN" sz="2800" kern="0" dirty="0">
                <a:ea typeface="宋体" charset="-122"/>
                <a:cs typeface="Times New Roman" panose="02020603050405020304" pitchFamily="18" charset="0"/>
              </a:rPr>
              <a:t>   end;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kumimoji="0" lang="zh-CN" altLang="en-US" sz="2800" b="1" kern="0" dirty="0"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A4AD1-1ACB-4DDB-B473-09A4F8F4B10F}" type="datetime1">
              <a:rPr lang="zh-CN" altLang="en-US" smtClean="0"/>
              <a:t>2025/10/29</a:t>
            </a:fld>
            <a:endParaRPr lang="en-US" altLang="zh-CN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第5章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34A5B-E5EC-4502-AF9C-897177995C78}" type="slidenum">
              <a:rPr lang="en-US" altLang="zh-CN" smtClean="0"/>
              <a:pPr/>
              <a:t>27</a:t>
            </a:fld>
            <a:r>
              <a:rPr lang="en-US" altLang="zh-CN"/>
              <a:t>/51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9691657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9A87D29-FEF1-44F0-84AA-F0A2253EAEAC}" type="datetime1">
              <a:rPr kumimoji="0" lang="zh-CN" altLang="en-US" sz="1400" smtClean="0"/>
              <a:t>2025/10/29</a:t>
            </a:fld>
            <a:endParaRPr kumimoji="0" lang="en-US" altLang="zh-CN" sz="1400"/>
          </a:p>
        </p:txBody>
      </p:sp>
      <p:sp>
        <p:nvSpPr>
          <p:cNvPr id="2048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048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Comic Sans MS" pitchFamily="66" charset="0"/>
              </a:rPr>
              <a:t>Any Question?</a:t>
            </a:r>
          </a:p>
        </p:txBody>
      </p:sp>
      <p:sp>
        <p:nvSpPr>
          <p:cNvPr id="204806" name="Text Box 3"/>
          <p:cNvSpPr txBox="1">
            <a:spLocks noChangeArrowheads="1"/>
          </p:cNvSpPr>
          <p:nvPr/>
        </p:nvSpPr>
        <p:spPr bwMode="auto">
          <a:xfrm>
            <a:off x="4140200" y="2781300"/>
            <a:ext cx="3302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en-US" altLang="zh-CN" sz="4800" b="1" i="1">
                <a:solidFill>
                  <a:schemeClr val="hlink"/>
                </a:solidFill>
                <a:latin typeface="Times New Roman" pitchFamily="18" charset="0"/>
              </a:rPr>
              <a:t>Thank you !</a:t>
            </a:r>
          </a:p>
        </p:txBody>
      </p:sp>
      <p:pic>
        <p:nvPicPr>
          <p:cNvPr id="204807" name="Picture 4" descr="sm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2209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28</a:t>
            </a:fld>
            <a:r>
              <a:rPr lang="en-US" altLang="zh-CN"/>
              <a:t>/225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11279</TotalTime>
  <Words>2246</Words>
  <Application>Microsoft Office PowerPoint</Application>
  <PresentationFormat>全屏显示(4:3)</PresentationFormat>
  <Paragraphs>283</Paragraphs>
  <Slides>28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Monotype Sorts</vt:lpstr>
      <vt:lpstr>楷体_GB2312</vt:lpstr>
      <vt:lpstr>宋体</vt:lpstr>
      <vt:lpstr>Arial</vt:lpstr>
      <vt:lpstr>Comic Sans MS</vt:lpstr>
      <vt:lpstr>Courier New</vt:lpstr>
      <vt:lpstr>Tahoma</vt:lpstr>
      <vt:lpstr>Times New Roman</vt:lpstr>
      <vt:lpstr>Wingdings</vt:lpstr>
      <vt:lpstr>Blends</vt:lpstr>
      <vt:lpstr>Clip</vt:lpstr>
      <vt:lpstr>数据库系统原理  Database System Principles</vt:lpstr>
      <vt:lpstr>第5章 高级SQL</vt:lpstr>
      <vt:lpstr>本章目录</vt:lpstr>
      <vt:lpstr>5.1 使用高级程序语言访问SQL</vt:lpstr>
      <vt:lpstr>5.1 使用高级程序语言访问SQL</vt:lpstr>
      <vt:lpstr>5.1 嵌入式SQL与主语言间的通信</vt:lpstr>
      <vt:lpstr>5.1 嵌入式SQL与主语言间的通信(以JDBC为例)</vt:lpstr>
      <vt:lpstr>5.1 嵌入式SQL与主语言间的通信</vt:lpstr>
      <vt:lpstr>5.1 嵌入式SQL与主语言间的通信</vt:lpstr>
      <vt:lpstr>5.1 嵌入式SQL与主语言间的通信</vt:lpstr>
      <vt:lpstr>5.1 嵌入式SQL与主语言间的通信</vt:lpstr>
      <vt:lpstr>5.1 使用游标的SQL语句</vt:lpstr>
      <vt:lpstr>5.1 使用游标的SQL语句</vt:lpstr>
      <vt:lpstr>5.1 使用游标的SQL语句</vt:lpstr>
      <vt:lpstr>5.1 动态SQL</vt:lpstr>
      <vt:lpstr>5.1 动态SQL</vt:lpstr>
      <vt:lpstr>5.1 动态SQL</vt:lpstr>
      <vt:lpstr>5.1 动态SQL</vt:lpstr>
      <vt:lpstr>本章目录</vt:lpstr>
      <vt:lpstr>5.3 触发器    SQL：1999引入</vt:lpstr>
      <vt:lpstr>5.3 触发器</vt:lpstr>
      <vt:lpstr>5.3 触发器</vt:lpstr>
      <vt:lpstr>5.3 触发器</vt:lpstr>
      <vt:lpstr>5.3 触发器</vt:lpstr>
      <vt:lpstr>5.3 触发器</vt:lpstr>
      <vt:lpstr>5.3 触发器</vt:lpstr>
      <vt:lpstr>5.3 触发器</vt:lpstr>
      <vt:lpstr>Any Question?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Administrator</cp:lastModifiedBy>
  <cp:revision>1286</cp:revision>
  <dcterms:created xsi:type="dcterms:W3CDTF">2009-08-07T14:32:50Z</dcterms:created>
  <dcterms:modified xsi:type="dcterms:W3CDTF">2025-10-29T09:10:33Z</dcterms:modified>
</cp:coreProperties>
</file>